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3.xml" ContentType="application/vnd.openxmlformats-officedocument.theme+xml"/>
  <Override PartName="/ppt/tags/tag2.xml" ContentType="application/vnd.openxmlformats-officedocument.presentationml.tags+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4.xml" ContentType="application/vnd.openxmlformats-officedocument.theme+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5.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6.xml" ContentType="application/vnd.openxmlformats-officedocument.theme+xml"/>
  <Override PartName="/ppt/tags/tag8.xml" ContentType="application/vnd.openxmlformats-officedocument.presentationml.tags+xml"/>
  <Override PartName="/ppt/tags/tag9.xml" ContentType="application/vnd.openxmlformats-officedocument.presentationml.tags+xml"/>
  <Override PartName="/ppt/slideLayouts/slideLayout134.xml" ContentType="application/vnd.openxmlformats-officedocument.presentationml.slideLayout+xml"/>
  <Override PartName="/ppt/theme/theme7.xml" ContentType="application/vnd.openxmlformats-officedocument.theme+xml"/>
  <Override PartName="/ppt/slideLayouts/slideLayout135.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omments/modernComment_7FFFFE0C_AB8F38D8.xml" ContentType="application/vnd.ms-powerpoint.comments+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comments/modernComment_7FFFFE0D_A5181625.xml" ContentType="application/vnd.ms-powerpoint.comments+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2.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comments/modernComment_7FFFFDFF_67083434.xml" ContentType="application/vnd.ms-powerpoint.comments+xml"/>
  <Override PartName="/ppt/notesSlides/notesSlide2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27.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28.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omments/modernComment_7FFFED6E_63A45AD2.xml" ContentType="application/vnd.ms-powerpoint.comments+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35.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36.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5"/>
    <p:sldMasterId id="2147483716" r:id="rId6"/>
    <p:sldMasterId id="2147483737" r:id="rId7"/>
    <p:sldMasterId id="2147483770" r:id="rId8"/>
    <p:sldMasterId id="2147483778" r:id="rId9"/>
    <p:sldMasterId id="2147483799" r:id="rId10"/>
    <p:sldMasterId id="2147483819" r:id="rId11"/>
    <p:sldMasterId id="2147483821" r:id="rId12"/>
  </p:sldMasterIdLst>
  <p:notesMasterIdLst>
    <p:notesMasterId r:id="rId90"/>
  </p:notesMasterIdLst>
  <p:sldIdLst>
    <p:sldId id="256" r:id="rId13"/>
    <p:sldId id="2147481480" r:id="rId14"/>
    <p:sldId id="2147483139" r:id="rId15"/>
    <p:sldId id="2147478884" r:id="rId16"/>
    <p:sldId id="2147483141" r:id="rId17"/>
    <p:sldId id="2147483061" r:id="rId18"/>
    <p:sldId id="2147483077" r:id="rId19"/>
    <p:sldId id="2147483078" r:id="rId20"/>
    <p:sldId id="2147483079" r:id="rId21"/>
    <p:sldId id="2147483111" r:id="rId22"/>
    <p:sldId id="2147483112" r:id="rId23"/>
    <p:sldId id="2147483113" r:id="rId24"/>
    <p:sldId id="2080107428" r:id="rId25"/>
    <p:sldId id="2147483114" r:id="rId26"/>
    <p:sldId id="2147483058" r:id="rId27"/>
    <p:sldId id="2147483116" r:id="rId28"/>
    <p:sldId id="2147483115" r:id="rId29"/>
    <p:sldId id="2147483089" r:id="rId30"/>
    <p:sldId id="2147483143" r:id="rId31"/>
    <p:sldId id="350" r:id="rId32"/>
    <p:sldId id="2147483071" r:id="rId33"/>
    <p:sldId id="2147483062" r:id="rId34"/>
    <p:sldId id="2147483070" r:id="rId35"/>
    <p:sldId id="2147478889" r:id="rId36"/>
    <p:sldId id="2147483130" r:id="rId37"/>
    <p:sldId id="2147478891" r:id="rId38"/>
    <p:sldId id="2147478896" r:id="rId39"/>
    <p:sldId id="2147478923" r:id="rId40"/>
    <p:sldId id="2147478926" r:id="rId41"/>
    <p:sldId id="2147483142" r:id="rId42"/>
    <p:sldId id="2147483148" r:id="rId43"/>
    <p:sldId id="2147483149" r:id="rId44"/>
    <p:sldId id="2147483097" r:id="rId45"/>
    <p:sldId id="2147483101" r:id="rId46"/>
    <p:sldId id="2147483087" r:id="rId47"/>
    <p:sldId id="2147483135" r:id="rId48"/>
    <p:sldId id="2147483118" r:id="rId49"/>
    <p:sldId id="2147483150" r:id="rId50"/>
    <p:sldId id="2147483085" r:id="rId51"/>
    <p:sldId id="2147483144" r:id="rId52"/>
    <p:sldId id="2147483081" r:id="rId53"/>
    <p:sldId id="2147483083" r:id="rId54"/>
    <p:sldId id="2147483094" r:id="rId55"/>
    <p:sldId id="2147483119" r:id="rId56"/>
    <p:sldId id="2147483120" r:id="rId57"/>
    <p:sldId id="2147483121" r:id="rId58"/>
    <p:sldId id="2147483122" r:id="rId59"/>
    <p:sldId id="2147483123" r:id="rId60"/>
    <p:sldId id="2147483124" r:id="rId61"/>
    <p:sldId id="2147483125" r:id="rId62"/>
    <p:sldId id="2147483126" r:id="rId63"/>
    <p:sldId id="2147483127" r:id="rId64"/>
    <p:sldId id="2147483128" r:id="rId65"/>
    <p:sldId id="2147483129" r:id="rId66"/>
    <p:sldId id="2147483098" r:id="rId67"/>
    <p:sldId id="2147483100" r:id="rId68"/>
    <p:sldId id="2147483145" r:id="rId69"/>
    <p:sldId id="2147483132" r:id="rId70"/>
    <p:sldId id="2147483146" r:id="rId71"/>
    <p:sldId id="2147478894" r:id="rId72"/>
    <p:sldId id="2147478924" r:id="rId73"/>
    <p:sldId id="2147478892" r:id="rId74"/>
    <p:sldId id="2147483092" r:id="rId75"/>
    <p:sldId id="2147478893" r:id="rId76"/>
    <p:sldId id="2147483075" r:id="rId77"/>
    <p:sldId id="2147483060" r:id="rId78"/>
    <p:sldId id="2147483147" r:id="rId79"/>
    <p:sldId id="2147483084" r:id="rId80"/>
    <p:sldId id="2147483073" r:id="rId81"/>
    <p:sldId id="2147483074" r:id="rId82"/>
    <p:sldId id="2147483068" r:id="rId83"/>
    <p:sldId id="2147483066" r:id="rId84"/>
    <p:sldId id="2147483067" r:id="rId85"/>
    <p:sldId id="2147483069" r:id="rId86"/>
    <p:sldId id="2147483093" r:id="rId87"/>
    <p:sldId id="2147483131" r:id="rId88"/>
    <p:sldId id="2147483117" r:id="rId8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Title" id="{6FFD07C9-56BA-43F8-9477-27C37B23AB80}">
          <p14:sldIdLst>
            <p14:sldId id="256"/>
            <p14:sldId id="2147481480"/>
          </p14:sldIdLst>
        </p14:section>
        <p14:section name="Master Data &amp; Governance" id="{E910AE14-B152-41E9-A178-C1C0BCFAA1A2}">
          <p14:sldIdLst>
            <p14:sldId id="2147483139"/>
            <p14:sldId id="2147478884"/>
          </p14:sldIdLst>
        </p14:section>
        <p14:section name="Close Preparation" id="{95E3F053-1314-4C44-BBE7-8BF303F9AB24}">
          <p14:sldIdLst>
            <p14:sldId id="2147483141"/>
            <p14:sldId id="2147483061"/>
            <p14:sldId id="2147483077"/>
            <p14:sldId id="2147483078"/>
            <p14:sldId id="2147483079"/>
            <p14:sldId id="2147483111"/>
            <p14:sldId id="2147483112"/>
            <p14:sldId id="2147483113"/>
            <p14:sldId id="2080107428"/>
            <p14:sldId id="2147483114"/>
            <p14:sldId id="2147483058"/>
            <p14:sldId id="2147483116"/>
            <p14:sldId id="2147483115"/>
            <p14:sldId id="2147483089"/>
          </p14:sldIdLst>
        </p14:section>
        <p14:section name="General Accounting" id="{108D727A-0ACA-4FC6-8730-F21B92A80632}">
          <p14:sldIdLst>
            <p14:sldId id="2147483143"/>
            <p14:sldId id="350"/>
            <p14:sldId id="2147483071"/>
            <p14:sldId id="2147483062"/>
            <p14:sldId id="2147483070"/>
            <p14:sldId id="2147478889"/>
            <p14:sldId id="2147483130"/>
            <p14:sldId id="2147478891"/>
            <p14:sldId id="2147478896"/>
            <p14:sldId id="2147478923"/>
            <p14:sldId id="2147478926"/>
          </p14:sldIdLst>
        </p14:section>
        <p14:section name="Fixed Assets Accounting" id="{F0A4A829-8C3B-40E8-B2B4-C099A0A7A9B6}">
          <p14:sldIdLst>
            <p14:sldId id="2147483142"/>
            <p14:sldId id="2147483148"/>
            <p14:sldId id="2147483149"/>
            <p14:sldId id="2147483097"/>
            <p14:sldId id="2147483101"/>
            <p14:sldId id="2147483087"/>
            <p14:sldId id="2147483135"/>
            <p14:sldId id="2147483118"/>
            <p14:sldId id="2147483150"/>
            <p14:sldId id="2147483085"/>
          </p14:sldIdLst>
        </p14:section>
        <p14:section name="Intercompany Accounting" id="{2B433DE0-8F42-441A-A9DF-233E8950FE48}">
          <p14:sldIdLst>
            <p14:sldId id="2147483144"/>
            <p14:sldId id="2147483081"/>
            <p14:sldId id="2147483083"/>
            <p14:sldId id="2147483094"/>
            <p14:sldId id="2147483119"/>
            <p14:sldId id="2147483120"/>
            <p14:sldId id="2147483121"/>
            <p14:sldId id="2147483122"/>
            <p14:sldId id="2147483123"/>
            <p14:sldId id="2147483124"/>
            <p14:sldId id="2147483125"/>
            <p14:sldId id="2147483126"/>
            <p14:sldId id="2147483127"/>
            <p14:sldId id="2147483128"/>
            <p14:sldId id="2147483129"/>
            <p14:sldId id="2147483098"/>
            <p14:sldId id="2147483100"/>
          </p14:sldIdLst>
        </p14:section>
        <p14:section name="Transfer Pricing" id="{B9981580-2764-4B8D-B94C-13027A86677A}">
          <p14:sldIdLst>
            <p14:sldId id="2147483145"/>
            <p14:sldId id="2147483132"/>
          </p14:sldIdLst>
        </p14:section>
        <p14:section name="Balance Sheet Reconciliation" id="{4DA94A88-A732-492D-8D9D-B39E40CA19A0}">
          <p14:sldIdLst>
            <p14:sldId id="2147483146"/>
            <p14:sldId id="2147478894"/>
            <p14:sldId id="2147478924"/>
            <p14:sldId id="2147478892"/>
            <p14:sldId id="2147483092"/>
            <p14:sldId id="2147478893"/>
            <p14:sldId id="2147483075"/>
            <p14:sldId id="2147483060"/>
          </p14:sldIdLst>
        </p14:section>
        <p14:section name="Compliance" id="{C9F63F3C-0E54-4A61-82CB-9B7D01945AA7}">
          <p14:sldIdLst>
            <p14:sldId id="2147483147"/>
            <p14:sldId id="2147483084"/>
            <p14:sldId id="2147483073"/>
            <p14:sldId id="2147483074"/>
            <p14:sldId id="2147483068"/>
            <p14:sldId id="2147483066"/>
            <p14:sldId id="2147483067"/>
            <p14:sldId id="2147483069"/>
            <p14:sldId id="2147483093"/>
            <p14:sldId id="2147483131"/>
            <p14:sldId id="2147483117"/>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D07A0A03-601D-0E1F-79CC-8A34111E3895}" name="Neha Mishra" initials="NM" userId="S::Neha.Mishra@gds.ey.com::0a3876b2-662f-4044-9654-e68f7de176c9" providerId="AD"/>
  <p188:author id="{B0D9E575-3B42-362E-7AC7-C004036DC9EE}" name="Aaditya Dhanraj Dubey" initials="AD" userId="S::Aaditya.Dhanraj.Dubey@gds.ey.com::259ab5b3-4fff-4019-a1fe-b92ac240f232" providerId="AD"/>
  <p188:author id="{BDC9F1B6-1D34-F16F-C153-AB7FF34457F2}" name="Yogesh Krishna Jadhav" initials="YK" userId="S::Yogesh.Krishna.Jadhav@gds.ey.com::e6c9eafe-9f1c-4f8d-a13e-539dff72d4b6"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FFE600"/>
    <a:srgbClr val="FFFF00"/>
    <a:srgbClr val="1A77A1"/>
    <a:srgbClr val="747480"/>
    <a:srgbClr val="D9D9D9"/>
    <a:srgbClr val="FF3300"/>
    <a:srgbClr val="2E2E38"/>
    <a:srgbClr val="9BE600"/>
    <a:srgbClr val="99FF6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660B408-B3CF-4A94-85FC-2B1E0A45F4A2}" styleName="Dark Style 2 - Accent 1/Accent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1">
              <a:tint val="20000"/>
            </a:schemeClr>
          </a:solidFill>
        </a:fill>
      </a:tcStyle>
    </a:lastRow>
    <a:firstRow>
      <a:tcTxStyle b="on">
        <a:fontRef idx="minor">
          <a:scrgbClr r="0" g="0" b="0"/>
        </a:fontRef>
        <a:schemeClr val="lt1"/>
      </a:tcTxStyle>
      <a:tcStyle>
        <a:tcBdr/>
        <a:fill>
          <a:solidFill>
            <a:schemeClr val="accent2"/>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46F890A9-2807-4EBB-B81D-B2AA78EC7F39}" styleName="Dark Style 2 - Accent 5/Accent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D7AC3CCA-C797-4891-BE02-D94E43425B78}" styleName="Medium Style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 styleId="{5202B0CA-FC54-4496-8BCA-5EF66A818D29}" styleName="Dark Style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dk1">
              <a:tint val="20000"/>
            </a:schemeClr>
          </a:solidFill>
        </a:fill>
      </a:tcStyle>
    </a:lastRow>
    <a:firstRow>
      <a:tcTxStyle b="on">
        <a:fontRef idx="minor">
          <a:scrgbClr r="0" g="0" b="0"/>
        </a:fontRef>
        <a:schemeClr val="lt1"/>
      </a:tcTxStyle>
      <a:tcStyle>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0" d="100"/>
          <a:sy n="70" d="100"/>
        </p:scale>
        <p:origin x="512" y="5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4.xml"/><Relationship Id="rId21" Type="http://schemas.openxmlformats.org/officeDocument/2006/relationships/slide" Target="slides/slide9.xml"/><Relationship Id="rId42" Type="http://schemas.openxmlformats.org/officeDocument/2006/relationships/slide" Target="slides/slide30.xml"/><Relationship Id="rId47" Type="http://schemas.openxmlformats.org/officeDocument/2006/relationships/slide" Target="slides/slide35.xml"/><Relationship Id="rId63" Type="http://schemas.openxmlformats.org/officeDocument/2006/relationships/slide" Target="slides/slide51.xml"/><Relationship Id="rId68" Type="http://schemas.openxmlformats.org/officeDocument/2006/relationships/slide" Target="slides/slide56.xml"/><Relationship Id="rId84" Type="http://schemas.openxmlformats.org/officeDocument/2006/relationships/slide" Target="slides/slide72.xml"/><Relationship Id="rId89" Type="http://schemas.openxmlformats.org/officeDocument/2006/relationships/slide" Target="slides/slide77.xml"/><Relationship Id="rId16" Type="http://schemas.openxmlformats.org/officeDocument/2006/relationships/slide" Target="slides/slide4.xml"/><Relationship Id="rId11" Type="http://schemas.openxmlformats.org/officeDocument/2006/relationships/slideMaster" Target="slideMasters/slideMaster7.xml"/><Relationship Id="rId32" Type="http://schemas.openxmlformats.org/officeDocument/2006/relationships/slide" Target="slides/slide20.xml"/><Relationship Id="rId37" Type="http://schemas.openxmlformats.org/officeDocument/2006/relationships/slide" Target="slides/slide25.xml"/><Relationship Id="rId53" Type="http://schemas.openxmlformats.org/officeDocument/2006/relationships/slide" Target="slides/slide41.xml"/><Relationship Id="rId58" Type="http://schemas.openxmlformats.org/officeDocument/2006/relationships/slide" Target="slides/slide46.xml"/><Relationship Id="rId74" Type="http://schemas.openxmlformats.org/officeDocument/2006/relationships/slide" Target="slides/slide62.xml"/><Relationship Id="rId79" Type="http://schemas.openxmlformats.org/officeDocument/2006/relationships/slide" Target="slides/slide67.xml"/><Relationship Id="rId5" Type="http://schemas.openxmlformats.org/officeDocument/2006/relationships/slideMaster" Target="slideMasters/slideMaster1.xml"/><Relationship Id="rId90" Type="http://schemas.openxmlformats.org/officeDocument/2006/relationships/notesMaster" Target="notesMasters/notesMaster1.xml"/><Relationship Id="rId95" Type="http://schemas.microsoft.com/office/2016/11/relationships/changesInfo" Target="changesInfos/changesInfo1.xml"/><Relationship Id="rId22" Type="http://schemas.openxmlformats.org/officeDocument/2006/relationships/slide" Target="slides/slide10.xml"/><Relationship Id="rId27" Type="http://schemas.openxmlformats.org/officeDocument/2006/relationships/slide" Target="slides/slide15.xml"/><Relationship Id="rId43" Type="http://schemas.openxmlformats.org/officeDocument/2006/relationships/slide" Target="slides/slide31.xml"/><Relationship Id="rId48" Type="http://schemas.openxmlformats.org/officeDocument/2006/relationships/slide" Target="slides/slide36.xml"/><Relationship Id="rId64" Type="http://schemas.openxmlformats.org/officeDocument/2006/relationships/slide" Target="slides/slide52.xml"/><Relationship Id="rId69" Type="http://schemas.openxmlformats.org/officeDocument/2006/relationships/slide" Target="slides/slide57.xml"/><Relationship Id="rId8" Type="http://schemas.openxmlformats.org/officeDocument/2006/relationships/slideMaster" Target="slideMasters/slideMaster4.xml"/><Relationship Id="rId51" Type="http://schemas.openxmlformats.org/officeDocument/2006/relationships/slide" Target="slides/slide39.xml"/><Relationship Id="rId72" Type="http://schemas.openxmlformats.org/officeDocument/2006/relationships/slide" Target="slides/slide60.xml"/><Relationship Id="rId80" Type="http://schemas.openxmlformats.org/officeDocument/2006/relationships/slide" Target="slides/slide68.xml"/><Relationship Id="rId85" Type="http://schemas.openxmlformats.org/officeDocument/2006/relationships/slide" Target="slides/slide73.xml"/><Relationship Id="rId93"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Master" Target="slideMasters/slideMaster8.xml"/><Relationship Id="rId17" Type="http://schemas.openxmlformats.org/officeDocument/2006/relationships/slide" Target="slides/slide5.xml"/><Relationship Id="rId25" Type="http://schemas.openxmlformats.org/officeDocument/2006/relationships/slide" Target="slides/slide13.xml"/><Relationship Id="rId33" Type="http://schemas.openxmlformats.org/officeDocument/2006/relationships/slide" Target="slides/slide21.xml"/><Relationship Id="rId38" Type="http://schemas.openxmlformats.org/officeDocument/2006/relationships/slide" Target="slides/slide26.xml"/><Relationship Id="rId46" Type="http://schemas.openxmlformats.org/officeDocument/2006/relationships/slide" Target="slides/slide34.xml"/><Relationship Id="rId59" Type="http://schemas.openxmlformats.org/officeDocument/2006/relationships/slide" Target="slides/slide47.xml"/><Relationship Id="rId67" Type="http://schemas.openxmlformats.org/officeDocument/2006/relationships/slide" Target="slides/slide55.xml"/><Relationship Id="rId20" Type="http://schemas.openxmlformats.org/officeDocument/2006/relationships/slide" Target="slides/slide8.xml"/><Relationship Id="rId41" Type="http://schemas.openxmlformats.org/officeDocument/2006/relationships/slide" Target="slides/slide29.xml"/><Relationship Id="rId54" Type="http://schemas.openxmlformats.org/officeDocument/2006/relationships/slide" Target="slides/slide42.xml"/><Relationship Id="rId62" Type="http://schemas.openxmlformats.org/officeDocument/2006/relationships/slide" Target="slides/slide50.xml"/><Relationship Id="rId70" Type="http://schemas.openxmlformats.org/officeDocument/2006/relationships/slide" Target="slides/slide58.xml"/><Relationship Id="rId75" Type="http://schemas.openxmlformats.org/officeDocument/2006/relationships/slide" Target="slides/slide63.xml"/><Relationship Id="rId83" Type="http://schemas.openxmlformats.org/officeDocument/2006/relationships/slide" Target="slides/slide71.xml"/><Relationship Id="rId88" Type="http://schemas.openxmlformats.org/officeDocument/2006/relationships/slide" Target="slides/slide76.xml"/><Relationship Id="rId91" Type="http://schemas.openxmlformats.org/officeDocument/2006/relationships/presProps" Target="presProps.xml"/><Relationship Id="rId96"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2.xml"/><Relationship Id="rId15" Type="http://schemas.openxmlformats.org/officeDocument/2006/relationships/slide" Target="slides/slide3.xml"/><Relationship Id="rId23" Type="http://schemas.openxmlformats.org/officeDocument/2006/relationships/slide" Target="slides/slide11.xml"/><Relationship Id="rId28" Type="http://schemas.openxmlformats.org/officeDocument/2006/relationships/slide" Target="slides/slide16.xml"/><Relationship Id="rId36" Type="http://schemas.openxmlformats.org/officeDocument/2006/relationships/slide" Target="slides/slide24.xml"/><Relationship Id="rId49" Type="http://schemas.openxmlformats.org/officeDocument/2006/relationships/slide" Target="slides/slide37.xml"/><Relationship Id="rId57" Type="http://schemas.openxmlformats.org/officeDocument/2006/relationships/slide" Target="slides/slide45.xml"/><Relationship Id="rId10" Type="http://schemas.openxmlformats.org/officeDocument/2006/relationships/slideMaster" Target="slideMasters/slideMaster6.xml"/><Relationship Id="rId31" Type="http://schemas.openxmlformats.org/officeDocument/2006/relationships/slide" Target="slides/slide19.xml"/><Relationship Id="rId44" Type="http://schemas.openxmlformats.org/officeDocument/2006/relationships/slide" Target="slides/slide32.xml"/><Relationship Id="rId52" Type="http://schemas.openxmlformats.org/officeDocument/2006/relationships/slide" Target="slides/slide40.xml"/><Relationship Id="rId60" Type="http://schemas.openxmlformats.org/officeDocument/2006/relationships/slide" Target="slides/slide48.xml"/><Relationship Id="rId65" Type="http://schemas.openxmlformats.org/officeDocument/2006/relationships/slide" Target="slides/slide53.xml"/><Relationship Id="rId73" Type="http://schemas.openxmlformats.org/officeDocument/2006/relationships/slide" Target="slides/slide61.xml"/><Relationship Id="rId78" Type="http://schemas.openxmlformats.org/officeDocument/2006/relationships/slide" Target="slides/slide66.xml"/><Relationship Id="rId81" Type="http://schemas.openxmlformats.org/officeDocument/2006/relationships/slide" Target="slides/slide69.xml"/><Relationship Id="rId86" Type="http://schemas.openxmlformats.org/officeDocument/2006/relationships/slide" Target="slides/slide74.xml"/><Relationship Id="rId94" Type="http://schemas.openxmlformats.org/officeDocument/2006/relationships/tableStyles" Target="tableStyles.xml"/><Relationship Id="rId4" Type="http://schemas.openxmlformats.org/officeDocument/2006/relationships/customXml" Target="../customXml/item4.xml"/><Relationship Id="rId9" Type="http://schemas.openxmlformats.org/officeDocument/2006/relationships/slideMaster" Target="slideMasters/slideMaster5.xml"/><Relationship Id="rId13" Type="http://schemas.openxmlformats.org/officeDocument/2006/relationships/slide" Target="slides/slide1.xml"/><Relationship Id="rId18" Type="http://schemas.openxmlformats.org/officeDocument/2006/relationships/slide" Target="slides/slide6.xml"/><Relationship Id="rId39" Type="http://schemas.openxmlformats.org/officeDocument/2006/relationships/slide" Target="slides/slide27.xml"/><Relationship Id="rId34" Type="http://schemas.openxmlformats.org/officeDocument/2006/relationships/slide" Target="slides/slide22.xml"/><Relationship Id="rId50" Type="http://schemas.openxmlformats.org/officeDocument/2006/relationships/slide" Target="slides/slide38.xml"/><Relationship Id="rId55" Type="http://schemas.openxmlformats.org/officeDocument/2006/relationships/slide" Target="slides/slide43.xml"/><Relationship Id="rId76" Type="http://schemas.openxmlformats.org/officeDocument/2006/relationships/slide" Target="slides/slide64.xml"/><Relationship Id="rId7" Type="http://schemas.openxmlformats.org/officeDocument/2006/relationships/slideMaster" Target="slideMasters/slideMaster3.xml"/><Relationship Id="rId71" Type="http://schemas.openxmlformats.org/officeDocument/2006/relationships/slide" Target="slides/slide59.xml"/><Relationship Id="rId92" Type="http://schemas.openxmlformats.org/officeDocument/2006/relationships/viewProps" Target="viewProps.xml"/><Relationship Id="rId2" Type="http://schemas.openxmlformats.org/officeDocument/2006/relationships/customXml" Target="../customXml/item2.xml"/><Relationship Id="rId29" Type="http://schemas.openxmlformats.org/officeDocument/2006/relationships/slide" Target="slides/slide17.xml"/><Relationship Id="rId24" Type="http://schemas.openxmlformats.org/officeDocument/2006/relationships/slide" Target="slides/slide12.xml"/><Relationship Id="rId40" Type="http://schemas.openxmlformats.org/officeDocument/2006/relationships/slide" Target="slides/slide28.xml"/><Relationship Id="rId45" Type="http://schemas.openxmlformats.org/officeDocument/2006/relationships/slide" Target="slides/slide33.xml"/><Relationship Id="rId66" Type="http://schemas.openxmlformats.org/officeDocument/2006/relationships/slide" Target="slides/slide54.xml"/><Relationship Id="rId87" Type="http://schemas.openxmlformats.org/officeDocument/2006/relationships/slide" Target="slides/slide75.xml"/><Relationship Id="rId61" Type="http://schemas.openxmlformats.org/officeDocument/2006/relationships/slide" Target="slides/slide49.xml"/><Relationship Id="rId82" Type="http://schemas.openxmlformats.org/officeDocument/2006/relationships/slide" Target="slides/slide70.xml"/><Relationship Id="rId19" Type="http://schemas.openxmlformats.org/officeDocument/2006/relationships/slide" Target="slides/slide7.xml"/><Relationship Id="rId14" Type="http://schemas.openxmlformats.org/officeDocument/2006/relationships/slide" Target="slides/slide2.xml"/><Relationship Id="rId30" Type="http://schemas.openxmlformats.org/officeDocument/2006/relationships/slide" Target="slides/slide18.xml"/><Relationship Id="rId35" Type="http://schemas.openxmlformats.org/officeDocument/2006/relationships/slide" Target="slides/slide23.xml"/><Relationship Id="rId56" Type="http://schemas.openxmlformats.org/officeDocument/2006/relationships/slide" Target="slides/slide44.xml"/><Relationship Id="rId77" Type="http://schemas.openxmlformats.org/officeDocument/2006/relationships/slide" Target="slides/slide65.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uddeti Krishna Moorthy Kesava" userId="S::muddeti.krishna.moorthy.kesava@gds.ey.com::7330c46c-1260-4b8f-85e1-54a8027fcce8" providerId="AD" clId="Web-{33701385-9AFF-C357-5565-FF7E7325029A}"/>
    <pc:docChg chg="addSld delSld modSection">
      <pc:chgData name="Muddeti Krishna Moorthy Kesava" userId="S::muddeti.krishna.moorthy.kesava@gds.ey.com::7330c46c-1260-4b8f-85e1-54a8027fcce8" providerId="AD" clId="Web-{33701385-9AFF-C357-5565-FF7E7325029A}" dt="2025-11-20T09:47:33.113" v="1"/>
      <pc:docMkLst>
        <pc:docMk/>
      </pc:docMkLst>
    </pc:docChg>
  </pc:docChgLst>
</pc:chgInfo>
</file>

<file path=ppt/comments/modernComment_7FFFED6E_63A45AD2.xml><?xml version="1.0" encoding="utf-8"?>
<p188:cmLst xmlns:a="http://schemas.openxmlformats.org/drawingml/2006/main" xmlns:r="http://schemas.openxmlformats.org/officeDocument/2006/relationships" xmlns:p188="http://schemas.microsoft.com/office/powerpoint/2018/8/main">
  <p188:cm id="{173E1326-F254-4252-8B1B-8C254F740B25}" authorId="{D07A0A03-601D-0E1F-79CC-8A34111E3895}" status="resolved" created="2025-09-10T09:43:28.936" complete="100000">
    <pc:sldMkLst xmlns:pc="http://schemas.microsoft.com/office/powerpoint/2013/main/command">
      <pc:docMk/>
      <pc:sldMk cId="1671715538" sldId="2147478894"/>
    </pc:sldMkLst>
    <p188:txBody>
      <a:bodyPr/>
      <a:lstStyle/>
      <a:p>
        <a:r>
          <a:rPr lang="en-IN"/>
          <a:t>Lets try to add one slide on the Tool comparison around AR [@Aaditya Dhanraj Dubey] / [@Yogesh Krishna Jadhav] </a:t>
        </a:r>
      </a:p>
    </p188:txBody>
  </p188:cm>
</p188:cmLst>
</file>

<file path=ppt/comments/modernComment_7FFFFDFF_67083434.xml><?xml version="1.0" encoding="utf-8"?>
<p188:cmLst xmlns:a="http://schemas.openxmlformats.org/drawingml/2006/main" xmlns:r="http://schemas.openxmlformats.org/officeDocument/2006/relationships" xmlns:p188="http://schemas.microsoft.com/office/powerpoint/2018/8/main">
  <p188:cm id="{B3F47995-D718-4FB5-9DA9-5690B6FC9957}" authorId="{D07A0A03-601D-0E1F-79CC-8A34111E3895}" status="resolved" created="2025-10-01T14:24:02.855" complete="100000">
    <ac:txMkLst xmlns:ac="http://schemas.microsoft.com/office/drawing/2013/main/command">
      <pc:docMk xmlns:pc="http://schemas.microsoft.com/office/powerpoint/2013/main/command"/>
      <pc:sldMk xmlns:pc="http://schemas.microsoft.com/office/powerpoint/2013/main/command" cId="1728590900" sldId="2147483135"/>
      <ac:graphicFrameMk id="31" creationId="{8E3754F8-A92F-CF83-94A8-7C4ADEC32CA2}"/>
      <ac:tblMk/>
      <ac:tcMk rowId="2382676418" colId="4079983410"/>
      <ac:txMk cp="0" len="45">
        <ac:context len="46" hash="3666827384"/>
      </ac:txMk>
    </ac:txMkLst>
    <p188:pos x="4111256" y="5207732"/>
    <p188:txBody>
      <a:bodyPr/>
      <a:lstStyle/>
      <a:p>
        <a:r>
          <a:rPr lang="en-IN"/>
          <a:t>Should be after strategic approach [@Aaditya Dhanraj Dubey] /[@Yogesh Krishna Jadhav] </a:t>
        </a:r>
      </a:p>
    </p188:txBody>
    <p188:extLst>
      <p:ext xmlns:p="http://schemas.openxmlformats.org/presentationml/2006/main" uri="{57CB4572-C831-44C2-8A1C-0ADB6CCDFE69}">
        <p223:reactions xmlns:p223="http://schemas.microsoft.com/office/powerpoint/2022/03/main">
          <p223:rxn type="👍">
            <p223:instance time="2025-10-03T06:15:30.367" authorId="{B0D9E575-3B42-362E-7AC7-C004036DC9EE}"/>
          </p223:rxn>
        </p223:reactions>
      </p:ext>
    </p188:extLst>
  </p188:cm>
</p188:cmLst>
</file>

<file path=ppt/comments/modernComment_7FFFFE0C_AB8F38D8.xml><?xml version="1.0" encoding="utf-8"?>
<p188:cmLst xmlns:a="http://schemas.openxmlformats.org/drawingml/2006/main" xmlns:r="http://schemas.openxmlformats.org/officeDocument/2006/relationships" xmlns:p188="http://schemas.microsoft.com/office/powerpoint/2018/8/main">
  <p188:cm id="{41F5718B-041C-4BD3-954B-093F0A1700E7}" authorId="{B0D9E575-3B42-362E-7AC7-C004036DC9EE}" status="resolved" created="2025-10-06T10:32:25.448" complete="100000">
    <ac:txMkLst xmlns:ac="http://schemas.microsoft.com/office/drawing/2013/main/command">
      <pc:docMk xmlns:pc="http://schemas.microsoft.com/office/powerpoint/2013/main/command"/>
      <pc:sldMk xmlns:pc="http://schemas.microsoft.com/office/powerpoint/2013/main/command" cId="2878290136" sldId="2147483148"/>
      <ac:spMk id="5" creationId="{5CF0DD89-0D16-FEC6-078C-9B221D434B02}"/>
      <ac:txMk cp="0" len="37">
        <ac:context len="38" hash="1525515029"/>
      </ac:txMk>
    </ac:txMkLst>
    <p188:pos x="3545314" y="166399"/>
    <p188:txBody>
      <a:bodyPr/>
      <a:lstStyle/>
      <a:p>
        <a:r>
          <a:rPr lang="en-IN"/>
          <a:t>[@Neha Mishra] I’ve added the challenges</a:t>
        </a:r>
      </a:p>
    </p188:txBody>
  </p188:cm>
</p188:cmLst>
</file>

<file path=ppt/comments/modernComment_7FFFFE0D_A5181625.xml><?xml version="1.0" encoding="utf-8"?>
<p188:cmLst xmlns:a="http://schemas.openxmlformats.org/drawingml/2006/main" xmlns:r="http://schemas.openxmlformats.org/officeDocument/2006/relationships" xmlns:p188="http://schemas.microsoft.com/office/powerpoint/2018/8/main">
  <p188:cm id="{02688E07-855A-4B19-98E4-A50CDB1D20E2}" authorId="{B0D9E575-3B42-362E-7AC7-C004036DC9EE}" created="2025-10-06T11:08:10.116">
    <pc:sldMkLst xmlns:pc="http://schemas.microsoft.com/office/powerpoint/2013/main/command">
      <pc:docMk/>
      <pc:sldMk cId="2769819173" sldId="2147483149"/>
    </pc:sldMkLst>
    <p188:txBody>
      <a:bodyPr/>
      <a:lstStyle/>
      <a:p>
        <a:r>
          <a:rPr lang="en-IN"/>
          <a:t>[@Neha Mishra] Best Practices are done</a:t>
        </a:r>
      </a:p>
    </p188:txBody>
  </p188:cm>
</p188:cmLst>
</file>

<file path=ppt/diagrams/_rels/data8.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svg"/><Relationship Id="rId1" Type="http://schemas.openxmlformats.org/officeDocument/2006/relationships/image" Target="../media/image72.png"/><Relationship Id="rId6" Type="http://schemas.openxmlformats.org/officeDocument/2006/relationships/image" Target="../media/image77.svg"/><Relationship Id="rId5" Type="http://schemas.openxmlformats.org/officeDocument/2006/relationships/image" Target="../media/image76.png"/><Relationship Id="rId4" Type="http://schemas.openxmlformats.org/officeDocument/2006/relationships/image" Target="../media/image75.svg"/></Relationships>
</file>

<file path=ppt/diagrams/_rels/data20.xml.rels><?xml version="1.0" encoding="UTF-8" standalone="yes"?>
<Relationships xmlns="http://schemas.openxmlformats.org/package/2006/relationships"><Relationship Id="rId2" Type="http://schemas.openxmlformats.org/officeDocument/2006/relationships/image" Target="../media/image111.svg"/><Relationship Id="rId1" Type="http://schemas.openxmlformats.org/officeDocument/2006/relationships/image" Target="../media/image110.png"/></Relationships>
</file>

<file path=ppt/diagrams/_rels/data21.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svg"/><Relationship Id="rId1" Type="http://schemas.openxmlformats.org/officeDocument/2006/relationships/image" Target="../media/image112.png"/><Relationship Id="rId6" Type="http://schemas.openxmlformats.org/officeDocument/2006/relationships/image" Target="../media/image117.svg"/><Relationship Id="rId5" Type="http://schemas.openxmlformats.org/officeDocument/2006/relationships/image" Target="../media/image116.png"/><Relationship Id="rId4" Type="http://schemas.openxmlformats.org/officeDocument/2006/relationships/image" Target="../media/image115.svg"/></Relationships>
</file>

<file path=ppt/diagrams/_rels/data22.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9.svg"/><Relationship Id="rId1" Type="http://schemas.openxmlformats.org/officeDocument/2006/relationships/image" Target="../media/image118.png"/><Relationship Id="rId6" Type="http://schemas.openxmlformats.org/officeDocument/2006/relationships/image" Target="../media/image123.svg"/><Relationship Id="rId5" Type="http://schemas.openxmlformats.org/officeDocument/2006/relationships/image" Target="../media/image122.png"/><Relationship Id="rId4" Type="http://schemas.openxmlformats.org/officeDocument/2006/relationships/image" Target="../media/image121.svg"/></Relationships>
</file>

<file path=ppt/diagrams/_rels/data23.xml.rels><?xml version="1.0" encoding="UTF-8" standalone="yes"?>
<Relationships xmlns="http://schemas.openxmlformats.org/package/2006/relationships"><Relationship Id="rId8" Type="http://schemas.openxmlformats.org/officeDocument/2006/relationships/image" Target="../media/image133.svg"/><Relationship Id="rId3" Type="http://schemas.openxmlformats.org/officeDocument/2006/relationships/image" Target="../media/image128.png"/><Relationship Id="rId7" Type="http://schemas.openxmlformats.org/officeDocument/2006/relationships/image" Target="../media/image132.png"/><Relationship Id="rId2" Type="http://schemas.openxmlformats.org/officeDocument/2006/relationships/image" Target="../media/image127.svg"/><Relationship Id="rId1" Type="http://schemas.openxmlformats.org/officeDocument/2006/relationships/image" Target="../media/image126.png"/><Relationship Id="rId6" Type="http://schemas.openxmlformats.org/officeDocument/2006/relationships/image" Target="../media/image131.svg"/><Relationship Id="rId5" Type="http://schemas.openxmlformats.org/officeDocument/2006/relationships/image" Target="../media/image130.png"/><Relationship Id="rId4" Type="http://schemas.openxmlformats.org/officeDocument/2006/relationships/image" Target="../media/image129.svg"/></Relationships>
</file>

<file path=ppt/diagrams/_rels/data24.xml.rels><?xml version="1.0" encoding="UTF-8" standalone="yes"?>
<Relationships xmlns="http://schemas.openxmlformats.org/package/2006/relationships"><Relationship Id="rId8" Type="http://schemas.openxmlformats.org/officeDocument/2006/relationships/image" Target="../media/image141.svg"/><Relationship Id="rId3" Type="http://schemas.openxmlformats.org/officeDocument/2006/relationships/image" Target="../media/image136.png"/><Relationship Id="rId7" Type="http://schemas.openxmlformats.org/officeDocument/2006/relationships/image" Target="../media/image140.png"/><Relationship Id="rId2" Type="http://schemas.openxmlformats.org/officeDocument/2006/relationships/image" Target="../media/image135.svg"/><Relationship Id="rId1" Type="http://schemas.openxmlformats.org/officeDocument/2006/relationships/image" Target="../media/image134.png"/><Relationship Id="rId6" Type="http://schemas.openxmlformats.org/officeDocument/2006/relationships/image" Target="../media/image139.svg"/><Relationship Id="rId5" Type="http://schemas.openxmlformats.org/officeDocument/2006/relationships/image" Target="../media/image138.png"/><Relationship Id="rId4" Type="http://schemas.openxmlformats.org/officeDocument/2006/relationships/image" Target="../media/image137.svg"/></Relationships>
</file>

<file path=ppt/diagrams/_rels/data27.xml.rels><?xml version="1.0" encoding="UTF-8" standalone="yes"?>
<Relationships xmlns="http://schemas.openxmlformats.org/package/2006/relationships"><Relationship Id="rId8" Type="http://schemas.openxmlformats.org/officeDocument/2006/relationships/image" Target="../media/image150.svg"/><Relationship Id="rId13" Type="http://schemas.openxmlformats.org/officeDocument/2006/relationships/image" Target="../media/image155.png"/><Relationship Id="rId3" Type="http://schemas.openxmlformats.org/officeDocument/2006/relationships/image" Target="../media/image145.png"/><Relationship Id="rId7" Type="http://schemas.openxmlformats.org/officeDocument/2006/relationships/image" Target="../media/image149.png"/><Relationship Id="rId12" Type="http://schemas.openxmlformats.org/officeDocument/2006/relationships/image" Target="../media/image154.svg"/><Relationship Id="rId2" Type="http://schemas.openxmlformats.org/officeDocument/2006/relationships/image" Target="../media/image144.svg"/><Relationship Id="rId1" Type="http://schemas.openxmlformats.org/officeDocument/2006/relationships/image" Target="../media/image143.png"/><Relationship Id="rId6" Type="http://schemas.openxmlformats.org/officeDocument/2006/relationships/image" Target="../media/image148.svg"/><Relationship Id="rId11" Type="http://schemas.openxmlformats.org/officeDocument/2006/relationships/image" Target="../media/image153.png"/><Relationship Id="rId5" Type="http://schemas.openxmlformats.org/officeDocument/2006/relationships/image" Target="../media/image147.png"/><Relationship Id="rId10" Type="http://schemas.openxmlformats.org/officeDocument/2006/relationships/image" Target="../media/image152.svg"/><Relationship Id="rId4" Type="http://schemas.openxmlformats.org/officeDocument/2006/relationships/image" Target="../media/image146.svg"/><Relationship Id="rId9" Type="http://schemas.openxmlformats.org/officeDocument/2006/relationships/image" Target="../media/image151.png"/><Relationship Id="rId14" Type="http://schemas.openxmlformats.org/officeDocument/2006/relationships/image" Target="../media/image156.svg"/></Relationships>
</file>

<file path=ppt/diagrams/_rels/drawing8.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svg"/><Relationship Id="rId1" Type="http://schemas.openxmlformats.org/officeDocument/2006/relationships/image" Target="../media/image72.png"/><Relationship Id="rId6" Type="http://schemas.openxmlformats.org/officeDocument/2006/relationships/image" Target="../media/image77.svg"/><Relationship Id="rId5" Type="http://schemas.openxmlformats.org/officeDocument/2006/relationships/image" Target="../media/image76.png"/><Relationship Id="rId4" Type="http://schemas.openxmlformats.org/officeDocument/2006/relationships/image" Target="../media/image75.svg"/></Relationships>
</file>

<file path=ppt/diagrams/_rels/drawing20.xml.rels><?xml version="1.0" encoding="UTF-8" standalone="yes"?>
<Relationships xmlns="http://schemas.openxmlformats.org/package/2006/relationships"><Relationship Id="rId2" Type="http://schemas.openxmlformats.org/officeDocument/2006/relationships/image" Target="../media/image111.svg"/><Relationship Id="rId1" Type="http://schemas.openxmlformats.org/officeDocument/2006/relationships/image" Target="../media/image110.png"/></Relationships>
</file>

<file path=ppt/diagrams/_rels/drawing21.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svg"/><Relationship Id="rId1" Type="http://schemas.openxmlformats.org/officeDocument/2006/relationships/image" Target="../media/image112.png"/><Relationship Id="rId6" Type="http://schemas.openxmlformats.org/officeDocument/2006/relationships/image" Target="../media/image117.svg"/><Relationship Id="rId5" Type="http://schemas.openxmlformats.org/officeDocument/2006/relationships/image" Target="../media/image116.png"/><Relationship Id="rId4" Type="http://schemas.openxmlformats.org/officeDocument/2006/relationships/image" Target="../media/image115.svg"/></Relationships>
</file>

<file path=ppt/diagrams/_rels/drawing22.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9.svg"/><Relationship Id="rId1" Type="http://schemas.openxmlformats.org/officeDocument/2006/relationships/image" Target="../media/image118.png"/><Relationship Id="rId6" Type="http://schemas.openxmlformats.org/officeDocument/2006/relationships/image" Target="../media/image123.svg"/><Relationship Id="rId5" Type="http://schemas.openxmlformats.org/officeDocument/2006/relationships/image" Target="../media/image122.png"/><Relationship Id="rId4" Type="http://schemas.openxmlformats.org/officeDocument/2006/relationships/image" Target="../media/image121.svg"/></Relationships>
</file>

<file path=ppt/diagrams/_rels/drawing23.xml.rels><?xml version="1.0" encoding="UTF-8" standalone="yes"?>
<Relationships xmlns="http://schemas.openxmlformats.org/package/2006/relationships"><Relationship Id="rId8" Type="http://schemas.openxmlformats.org/officeDocument/2006/relationships/image" Target="../media/image133.svg"/><Relationship Id="rId3" Type="http://schemas.openxmlformats.org/officeDocument/2006/relationships/image" Target="../media/image128.png"/><Relationship Id="rId7" Type="http://schemas.openxmlformats.org/officeDocument/2006/relationships/image" Target="../media/image132.png"/><Relationship Id="rId2" Type="http://schemas.openxmlformats.org/officeDocument/2006/relationships/image" Target="../media/image127.svg"/><Relationship Id="rId1" Type="http://schemas.openxmlformats.org/officeDocument/2006/relationships/image" Target="../media/image126.png"/><Relationship Id="rId6" Type="http://schemas.openxmlformats.org/officeDocument/2006/relationships/image" Target="../media/image131.svg"/><Relationship Id="rId5" Type="http://schemas.openxmlformats.org/officeDocument/2006/relationships/image" Target="../media/image130.png"/><Relationship Id="rId4" Type="http://schemas.openxmlformats.org/officeDocument/2006/relationships/image" Target="../media/image129.svg"/></Relationships>
</file>

<file path=ppt/diagrams/_rels/drawing24.xml.rels><?xml version="1.0" encoding="UTF-8" standalone="yes"?>
<Relationships xmlns="http://schemas.openxmlformats.org/package/2006/relationships"><Relationship Id="rId8" Type="http://schemas.openxmlformats.org/officeDocument/2006/relationships/image" Target="../media/image141.svg"/><Relationship Id="rId3" Type="http://schemas.openxmlformats.org/officeDocument/2006/relationships/image" Target="../media/image136.png"/><Relationship Id="rId7" Type="http://schemas.openxmlformats.org/officeDocument/2006/relationships/image" Target="../media/image140.png"/><Relationship Id="rId2" Type="http://schemas.openxmlformats.org/officeDocument/2006/relationships/image" Target="../media/image135.svg"/><Relationship Id="rId1" Type="http://schemas.openxmlformats.org/officeDocument/2006/relationships/image" Target="../media/image134.png"/><Relationship Id="rId6" Type="http://schemas.openxmlformats.org/officeDocument/2006/relationships/image" Target="../media/image139.svg"/><Relationship Id="rId5" Type="http://schemas.openxmlformats.org/officeDocument/2006/relationships/image" Target="../media/image138.png"/><Relationship Id="rId4" Type="http://schemas.openxmlformats.org/officeDocument/2006/relationships/image" Target="../media/image137.svg"/></Relationships>
</file>

<file path=ppt/diagrams/_rels/drawing27.xml.rels><?xml version="1.0" encoding="UTF-8" standalone="yes"?>
<Relationships xmlns="http://schemas.openxmlformats.org/package/2006/relationships"><Relationship Id="rId8" Type="http://schemas.openxmlformats.org/officeDocument/2006/relationships/image" Target="../media/image150.svg"/><Relationship Id="rId13" Type="http://schemas.openxmlformats.org/officeDocument/2006/relationships/image" Target="../media/image155.png"/><Relationship Id="rId3" Type="http://schemas.openxmlformats.org/officeDocument/2006/relationships/image" Target="../media/image145.png"/><Relationship Id="rId7" Type="http://schemas.openxmlformats.org/officeDocument/2006/relationships/image" Target="../media/image149.png"/><Relationship Id="rId12" Type="http://schemas.openxmlformats.org/officeDocument/2006/relationships/image" Target="../media/image154.svg"/><Relationship Id="rId2" Type="http://schemas.openxmlformats.org/officeDocument/2006/relationships/image" Target="../media/image144.svg"/><Relationship Id="rId1" Type="http://schemas.openxmlformats.org/officeDocument/2006/relationships/image" Target="../media/image143.png"/><Relationship Id="rId6" Type="http://schemas.openxmlformats.org/officeDocument/2006/relationships/image" Target="../media/image148.svg"/><Relationship Id="rId11" Type="http://schemas.openxmlformats.org/officeDocument/2006/relationships/image" Target="../media/image153.png"/><Relationship Id="rId5" Type="http://schemas.openxmlformats.org/officeDocument/2006/relationships/image" Target="../media/image147.png"/><Relationship Id="rId10" Type="http://schemas.openxmlformats.org/officeDocument/2006/relationships/image" Target="../media/image152.svg"/><Relationship Id="rId4" Type="http://schemas.openxmlformats.org/officeDocument/2006/relationships/image" Target="../media/image146.svg"/><Relationship Id="rId9" Type="http://schemas.openxmlformats.org/officeDocument/2006/relationships/image" Target="../media/image151.png"/><Relationship Id="rId14" Type="http://schemas.openxmlformats.org/officeDocument/2006/relationships/image" Target="../media/image156.svg"/></Relationships>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8F29645-219C-44FA-9EEC-DAD3BC7485B0}" type="doc">
      <dgm:prSet loTypeId="urn:microsoft.com/office/officeart/2005/8/layout/process1" loCatId="process" qsTypeId="urn:microsoft.com/office/officeart/2005/8/quickstyle/simple1" qsCatId="simple" csTypeId="urn:microsoft.com/office/officeart/2005/8/colors/accent0_3" csCatId="mainScheme" phldr="1"/>
      <dgm:spPr/>
    </dgm:pt>
    <dgm:pt modelId="{D81913C6-9E6B-4DCF-9301-034179931F37}">
      <dgm:prSet phldrT="[Text]" custT="1"/>
      <dgm:spPr>
        <a:solidFill>
          <a:srgbClr val="D9D9D9"/>
        </a:solidFill>
        <a:ln>
          <a:solidFill>
            <a:srgbClr val="FFE600"/>
          </a:solidFill>
        </a:ln>
      </dgm:spPr>
      <dgm:t>
        <a:bodyPr/>
        <a:lstStyle/>
        <a:p>
          <a:pPr algn="l">
            <a:buFont typeface="Arial" panose="020B0604020202020204" pitchFamily="34" charset="0"/>
            <a:buChar char="•"/>
          </a:pPr>
          <a:r>
            <a:rPr lang="en-IN" sz="1800" b="1" i="0">
              <a:solidFill>
                <a:schemeClr val="bg2"/>
              </a:solidFill>
              <a:latin typeface="EYInterstate" panose="02000503020000020004" pitchFamily="2" charset="0"/>
            </a:rPr>
            <a:t>KPI Framework &amp; Benchmarks</a:t>
          </a:r>
        </a:p>
      </dgm:t>
    </dgm:pt>
    <dgm:pt modelId="{F518D06A-DEE8-4566-97F7-DC0A65B8C07D}" type="parTrans" cxnId="{149DBAA0-FD60-4ADF-A738-90F22D89000D}">
      <dgm:prSet/>
      <dgm:spPr/>
      <dgm:t>
        <a:bodyPr/>
        <a:lstStyle/>
        <a:p>
          <a:endParaRPr lang="en-IN"/>
        </a:p>
      </dgm:t>
    </dgm:pt>
    <dgm:pt modelId="{83735C87-1ED5-4BB1-881A-C240DF9BF8C0}" type="sibTrans" cxnId="{149DBAA0-FD60-4ADF-A738-90F22D89000D}">
      <dgm:prSet/>
      <dgm:spPr>
        <a:solidFill>
          <a:srgbClr val="FFE600"/>
        </a:solidFill>
      </dgm:spPr>
      <dgm:t>
        <a:bodyPr/>
        <a:lstStyle/>
        <a:p>
          <a:endParaRPr lang="en-IN"/>
        </a:p>
      </dgm:t>
    </dgm:pt>
    <dgm:pt modelId="{AB7EC3CD-80EC-4E82-A99E-FB1A04EF13D2}">
      <dgm:prSet phldrT="[Text]" custT="1"/>
      <dgm:spPr>
        <a:solidFill>
          <a:srgbClr val="D9D9D9"/>
        </a:solidFill>
        <a:ln>
          <a:solidFill>
            <a:srgbClr val="FFE600"/>
          </a:solidFill>
        </a:ln>
      </dgm:spPr>
      <dgm:t>
        <a:bodyPr/>
        <a:lstStyle/>
        <a:p>
          <a:pPr>
            <a:buFont typeface="Arial" panose="020B0604020202020204" pitchFamily="34" charset="0"/>
            <a:buChar char="•"/>
          </a:pPr>
          <a:r>
            <a:rPr lang="en-IN" sz="1800" b="1" i="0" kern="1200">
              <a:solidFill>
                <a:srgbClr val="000000"/>
              </a:solidFill>
              <a:latin typeface="EYInterstate" panose="02000503020000020004" pitchFamily="2" charset="0"/>
              <a:ea typeface="+mn-ea"/>
              <a:cs typeface="+mn-cs"/>
            </a:rPr>
            <a:t>Operating</a:t>
          </a:r>
          <a:r>
            <a:rPr lang="en-IN" sz="1800" b="1" i="0" kern="1200"/>
            <a:t> </a:t>
          </a:r>
          <a:r>
            <a:rPr lang="en-IN" sz="1800" b="1" i="0" kern="1200">
              <a:solidFill>
                <a:srgbClr val="000000"/>
              </a:solidFill>
              <a:latin typeface="EYInterstate" panose="02000503020000020004" pitchFamily="2" charset="0"/>
              <a:ea typeface="+mn-ea"/>
              <a:cs typeface="+mn-cs"/>
            </a:rPr>
            <a:t>Rhythm &amp; Communication</a:t>
          </a:r>
        </a:p>
      </dgm:t>
    </dgm:pt>
    <dgm:pt modelId="{4820EC92-1300-467A-9C6A-FF30A3774AFC}" type="parTrans" cxnId="{E5E8AD66-F401-4970-B575-255934763C34}">
      <dgm:prSet/>
      <dgm:spPr/>
      <dgm:t>
        <a:bodyPr/>
        <a:lstStyle/>
        <a:p>
          <a:endParaRPr lang="en-IN"/>
        </a:p>
      </dgm:t>
    </dgm:pt>
    <dgm:pt modelId="{238646FD-8EFA-4EF3-A5F7-E96A8329E527}" type="sibTrans" cxnId="{E5E8AD66-F401-4970-B575-255934763C34}">
      <dgm:prSet/>
      <dgm:spPr>
        <a:solidFill>
          <a:srgbClr val="FFE600"/>
        </a:solidFill>
      </dgm:spPr>
      <dgm:t>
        <a:bodyPr/>
        <a:lstStyle/>
        <a:p>
          <a:endParaRPr lang="en-IN"/>
        </a:p>
      </dgm:t>
    </dgm:pt>
    <dgm:pt modelId="{214D016E-1AEA-49F6-885A-A5722DF7FCB7}">
      <dgm:prSet phldrT="[Text]" custT="1"/>
      <dgm:spPr>
        <a:solidFill>
          <a:srgbClr val="D9D9D9"/>
        </a:solidFill>
        <a:ln>
          <a:solidFill>
            <a:srgbClr val="FFE600"/>
          </a:solidFill>
        </a:ln>
      </dgm:spPr>
      <dgm:t>
        <a:bodyPr/>
        <a:lstStyle/>
        <a:p>
          <a:pPr>
            <a:buFont typeface="Arial" panose="020B0604020202020204" pitchFamily="34" charset="0"/>
            <a:buChar char="•"/>
          </a:pPr>
          <a:r>
            <a:rPr lang="en-IN" sz="1800" b="1" i="0">
              <a:solidFill>
                <a:schemeClr val="bg2"/>
              </a:solidFill>
              <a:latin typeface="EYInterstate" panose="02000503020000020004" pitchFamily="2" charset="0"/>
            </a:rPr>
            <a:t>Talent, Training &amp; Capacity</a:t>
          </a:r>
        </a:p>
      </dgm:t>
    </dgm:pt>
    <dgm:pt modelId="{969DCD05-8709-4031-BCE9-05BE2E386000}" type="parTrans" cxnId="{1D7A3163-A04D-4939-8EF2-E17410A4CC8A}">
      <dgm:prSet/>
      <dgm:spPr/>
      <dgm:t>
        <a:bodyPr/>
        <a:lstStyle/>
        <a:p>
          <a:endParaRPr lang="en-IN"/>
        </a:p>
      </dgm:t>
    </dgm:pt>
    <dgm:pt modelId="{4B848BB5-A43B-4F36-A367-7C1EE5178FAD}" type="sibTrans" cxnId="{1D7A3163-A04D-4939-8EF2-E17410A4CC8A}">
      <dgm:prSet/>
      <dgm:spPr/>
      <dgm:t>
        <a:bodyPr/>
        <a:lstStyle/>
        <a:p>
          <a:endParaRPr lang="en-IN"/>
        </a:p>
      </dgm:t>
    </dgm:pt>
    <dgm:pt modelId="{D88ED731-D607-4AF7-B40B-A9BD6023B1B6}" type="pres">
      <dgm:prSet presAssocID="{C8F29645-219C-44FA-9EEC-DAD3BC7485B0}" presName="Name0" presStyleCnt="0">
        <dgm:presLayoutVars>
          <dgm:dir/>
          <dgm:resizeHandles val="exact"/>
        </dgm:presLayoutVars>
      </dgm:prSet>
      <dgm:spPr/>
    </dgm:pt>
    <dgm:pt modelId="{C3FB59DF-B96D-4020-BD30-A275E61BC999}" type="pres">
      <dgm:prSet presAssocID="{D81913C6-9E6B-4DCF-9301-034179931F37}" presName="node" presStyleLbl="node1" presStyleIdx="0" presStyleCnt="3" custScaleX="94744" custScaleY="67449" custLinFactNeighborX="790" custLinFactNeighborY="168">
        <dgm:presLayoutVars>
          <dgm:bulletEnabled val="1"/>
        </dgm:presLayoutVars>
      </dgm:prSet>
      <dgm:spPr/>
    </dgm:pt>
    <dgm:pt modelId="{BF9FC7AE-E5A4-4869-AACA-3A7FF4E6C91D}" type="pres">
      <dgm:prSet presAssocID="{83735C87-1ED5-4BB1-881A-C240DF9BF8C0}" presName="sibTrans" presStyleLbl="sibTrans2D1" presStyleIdx="0" presStyleCnt="2"/>
      <dgm:spPr/>
    </dgm:pt>
    <dgm:pt modelId="{74BF8BFD-7C4D-4A14-82D2-3C0E5AF7DC2B}" type="pres">
      <dgm:prSet presAssocID="{83735C87-1ED5-4BB1-881A-C240DF9BF8C0}" presName="connectorText" presStyleLbl="sibTrans2D1" presStyleIdx="0" presStyleCnt="2"/>
      <dgm:spPr/>
    </dgm:pt>
    <dgm:pt modelId="{DEEC20AE-20AD-4E57-B2FE-D9AA3CB371CE}" type="pres">
      <dgm:prSet presAssocID="{AB7EC3CD-80EC-4E82-A99E-FB1A04EF13D2}" presName="node" presStyleLbl="node1" presStyleIdx="1" presStyleCnt="3" custScaleY="69451">
        <dgm:presLayoutVars>
          <dgm:bulletEnabled val="1"/>
        </dgm:presLayoutVars>
      </dgm:prSet>
      <dgm:spPr/>
    </dgm:pt>
    <dgm:pt modelId="{DD066902-4FC0-4D16-B1F8-72224260B13E}" type="pres">
      <dgm:prSet presAssocID="{238646FD-8EFA-4EF3-A5F7-E96A8329E527}" presName="sibTrans" presStyleLbl="sibTrans2D1" presStyleIdx="1" presStyleCnt="2"/>
      <dgm:spPr/>
    </dgm:pt>
    <dgm:pt modelId="{D8ABA485-EEC0-4D03-9A56-4523F0026D07}" type="pres">
      <dgm:prSet presAssocID="{238646FD-8EFA-4EF3-A5F7-E96A8329E527}" presName="connectorText" presStyleLbl="sibTrans2D1" presStyleIdx="1" presStyleCnt="2"/>
      <dgm:spPr/>
    </dgm:pt>
    <dgm:pt modelId="{539B28FB-216C-4107-B859-53C96E87189A}" type="pres">
      <dgm:prSet presAssocID="{214D016E-1AEA-49F6-885A-A5722DF7FCB7}" presName="node" presStyleLbl="node1" presStyleIdx="2" presStyleCnt="3" custScaleY="69451">
        <dgm:presLayoutVars>
          <dgm:bulletEnabled val="1"/>
        </dgm:presLayoutVars>
      </dgm:prSet>
      <dgm:spPr/>
    </dgm:pt>
  </dgm:ptLst>
  <dgm:cxnLst>
    <dgm:cxn modelId="{EB32410F-25F2-45DD-BBF4-33A5F560DE07}" type="presOf" srcId="{AB7EC3CD-80EC-4E82-A99E-FB1A04EF13D2}" destId="{DEEC20AE-20AD-4E57-B2FE-D9AA3CB371CE}" srcOrd="0" destOrd="0" presId="urn:microsoft.com/office/officeart/2005/8/layout/process1"/>
    <dgm:cxn modelId="{2A3B5519-02CE-4806-B4DB-4277A6E4B9E3}" type="presOf" srcId="{214D016E-1AEA-49F6-885A-A5722DF7FCB7}" destId="{539B28FB-216C-4107-B859-53C96E87189A}" srcOrd="0" destOrd="0" presId="urn:microsoft.com/office/officeart/2005/8/layout/process1"/>
    <dgm:cxn modelId="{AB57963D-032D-4701-9384-E20419AF5057}" type="presOf" srcId="{D81913C6-9E6B-4DCF-9301-034179931F37}" destId="{C3FB59DF-B96D-4020-BD30-A275E61BC999}" srcOrd="0" destOrd="0" presId="urn:microsoft.com/office/officeart/2005/8/layout/process1"/>
    <dgm:cxn modelId="{FC58B55E-4CE2-46D0-B6A3-DBD0AF4A0778}" type="presOf" srcId="{83735C87-1ED5-4BB1-881A-C240DF9BF8C0}" destId="{74BF8BFD-7C4D-4A14-82D2-3C0E5AF7DC2B}" srcOrd="1" destOrd="0" presId="urn:microsoft.com/office/officeart/2005/8/layout/process1"/>
    <dgm:cxn modelId="{1D7A3163-A04D-4939-8EF2-E17410A4CC8A}" srcId="{C8F29645-219C-44FA-9EEC-DAD3BC7485B0}" destId="{214D016E-1AEA-49F6-885A-A5722DF7FCB7}" srcOrd="2" destOrd="0" parTransId="{969DCD05-8709-4031-BCE9-05BE2E386000}" sibTransId="{4B848BB5-A43B-4F36-A367-7C1EE5178FAD}"/>
    <dgm:cxn modelId="{E5E8AD66-F401-4970-B575-255934763C34}" srcId="{C8F29645-219C-44FA-9EEC-DAD3BC7485B0}" destId="{AB7EC3CD-80EC-4E82-A99E-FB1A04EF13D2}" srcOrd="1" destOrd="0" parTransId="{4820EC92-1300-467A-9C6A-FF30A3774AFC}" sibTransId="{238646FD-8EFA-4EF3-A5F7-E96A8329E527}"/>
    <dgm:cxn modelId="{BA4F5955-BB19-479F-BFF1-722F105505A5}" type="presOf" srcId="{238646FD-8EFA-4EF3-A5F7-E96A8329E527}" destId="{DD066902-4FC0-4D16-B1F8-72224260B13E}" srcOrd="0" destOrd="0" presId="urn:microsoft.com/office/officeart/2005/8/layout/process1"/>
    <dgm:cxn modelId="{D6A96D99-D288-4A41-903A-35C96DA3D4B5}" type="presOf" srcId="{83735C87-1ED5-4BB1-881A-C240DF9BF8C0}" destId="{BF9FC7AE-E5A4-4869-AACA-3A7FF4E6C91D}" srcOrd="0" destOrd="0" presId="urn:microsoft.com/office/officeart/2005/8/layout/process1"/>
    <dgm:cxn modelId="{149DBAA0-FD60-4ADF-A738-90F22D89000D}" srcId="{C8F29645-219C-44FA-9EEC-DAD3BC7485B0}" destId="{D81913C6-9E6B-4DCF-9301-034179931F37}" srcOrd="0" destOrd="0" parTransId="{F518D06A-DEE8-4566-97F7-DC0A65B8C07D}" sibTransId="{83735C87-1ED5-4BB1-881A-C240DF9BF8C0}"/>
    <dgm:cxn modelId="{F46283AF-8A6F-4DE2-80AD-1FA999083017}" type="presOf" srcId="{C8F29645-219C-44FA-9EEC-DAD3BC7485B0}" destId="{D88ED731-D607-4AF7-B40B-A9BD6023B1B6}" srcOrd="0" destOrd="0" presId="urn:microsoft.com/office/officeart/2005/8/layout/process1"/>
    <dgm:cxn modelId="{D8A053D2-DB56-4446-BA94-8FE1224D960B}" type="presOf" srcId="{238646FD-8EFA-4EF3-A5F7-E96A8329E527}" destId="{D8ABA485-EEC0-4D03-9A56-4523F0026D07}" srcOrd="1" destOrd="0" presId="urn:microsoft.com/office/officeart/2005/8/layout/process1"/>
    <dgm:cxn modelId="{EC87382B-F2A2-410D-92EB-8DC631DEB31C}" type="presParOf" srcId="{D88ED731-D607-4AF7-B40B-A9BD6023B1B6}" destId="{C3FB59DF-B96D-4020-BD30-A275E61BC999}" srcOrd="0" destOrd="0" presId="urn:microsoft.com/office/officeart/2005/8/layout/process1"/>
    <dgm:cxn modelId="{136F7E37-D3C6-4CA9-8FB4-A36C4CA9B6FC}" type="presParOf" srcId="{D88ED731-D607-4AF7-B40B-A9BD6023B1B6}" destId="{BF9FC7AE-E5A4-4869-AACA-3A7FF4E6C91D}" srcOrd="1" destOrd="0" presId="urn:microsoft.com/office/officeart/2005/8/layout/process1"/>
    <dgm:cxn modelId="{5A0DE09F-97BB-48AE-9CFB-2E4706FDC581}" type="presParOf" srcId="{BF9FC7AE-E5A4-4869-AACA-3A7FF4E6C91D}" destId="{74BF8BFD-7C4D-4A14-82D2-3C0E5AF7DC2B}" srcOrd="0" destOrd="0" presId="urn:microsoft.com/office/officeart/2005/8/layout/process1"/>
    <dgm:cxn modelId="{042F7538-B97C-43E6-B7F0-42C8B2F9CC7C}" type="presParOf" srcId="{D88ED731-D607-4AF7-B40B-A9BD6023B1B6}" destId="{DEEC20AE-20AD-4E57-B2FE-D9AA3CB371CE}" srcOrd="2" destOrd="0" presId="urn:microsoft.com/office/officeart/2005/8/layout/process1"/>
    <dgm:cxn modelId="{52B316B9-31D2-433A-8D8C-04A77FDE81FF}" type="presParOf" srcId="{D88ED731-D607-4AF7-B40B-A9BD6023B1B6}" destId="{DD066902-4FC0-4D16-B1F8-72224260B13E}" srcOrd="3" destOrd="0" presId="urn:microsoft.com/office/officeart/2005/8/layout/process1"/>
    <dgm:cxn modelId="{9F759771-EF39-4CA8-B968-67D5F25D2600}" type="presParOf" srcId="{DD066902-4FC0-4D16-B1F8-72224260B13E}" destId="{D8ABA485-EEC0-4D03-9A56-4523F0026D07}" srcOrd="0" destOrd="0" presId="urn:microsoft.com/office/officeart/2005/8/layout/process1"/>
    <dgm:cxn modelId="{8E0D6078-F63E-43A8-9BF5-E58E6BF88E05}" type="presParOf" srcId="{D88ED731-D607-4AF7-B40B-A9BD6023B1B6}" destId="{539B28FB-216C-4107-B859-53C96E87189A}" srcOrd="4" destOrd="0" presId="urn:microsoft.com/office/officeart/2005/8/layout/process1"/>
  </dgm:cxnLst>
  <dgm:bg/>
  <dgm:whole/>
  <dgm:extLst>
    <a:ext uri="http://schemas.microsoft.com/office/drawing/2008/diagram">
      <dsp:dataModelExt xmlns:dsp="http://schemas.microsoft.com/office/drawing/2008/diagram" relId="rId1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E73C464-91CD-42C5-B16E-E0C830C941A7}" type="doc">
      <dgm:prSet loTypeId="urn:microsoft.com/office/officeart/2005/8/layout/chevronAccent+Icon" loCatId="process" qsTypeId="urn:microsoft.com/office/officeart/2005/8/quickstyle/simple1" qsCatId="simple" csTypeId="urn:microsoft.com/office/officeart/2005/8/colors/accent1_2" csCatId="accent1" phldr="1"/>
      <dgm:spPr/>
    </dgm:pt>
    <dgm:pt modelId="{968BD12B-F10D-450E-87F5-3D8E4B669E55}">
      <dgm:prSet phldrT="[Text]" custT="1"/>
      <dgm:spPr>
        <a:xfrm>
          <a:off x="387872" y="329843"/>
          <a:ext cx="1105962" cy="505541"/>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lgn="ctr">
            <a:buNone/>
          </a:pPr>
          <a:endParaRPr lang="pl-PL" sz="700">
            <a:solidFill>
              <a:srgbClr val="333333"/>
            </a:solidFill>
            <a:latin typeface="Arial"/>
            <a:ea typeface="+mn-ea"/>
            <a:cs typeface="+mn-cs"/>
          </a:endParaRPr>
        </a:p>
        <a:p>
          <a:pPr algn="ctr">
            <a:buNone/>
          </a:pPr>
          <a:r>
            <a:rPr lang="pl-PL" sz="1000">
              <a:solidFill>
                <a:srgbClr val="333333"/>
              </a:solidFill>
              <a:latin typeface="Arial"/>
              <a:ea typeface="+mn-ea"/>
              <a:cs typeface="+mn-cs"/>
            </a:rPr>
            <a:t>Legal entity</a:t>
          </a:r>
        </a:p>
        <a:p>
          <a:pPr algn="ctr">
            <a:buNone/>
          </a:pPr>
          <a:endParaRPr lang="pl-PL" sz="700">
            <a:solidFill>
              <a:srgbClr val="333333"/>
            </a:solidFill>
            <a:latin typeface="Arial"/>
            <a:ea typeface="+mn-ea"/>
            <a:cs typeface="+mn-cs"/>
          </a:endParaRPr>
        </a:p>
      </dgm:t>
    </dgm:pt>
    <dgm:pt modelId="{EE40EF1A-AC16-4468-8CFD-700856FA5B4B}" type="parTrans" cxnId="{0A9C3184-9318-4A2C-A363-12129D3B77FC}">
      <dgm:prSet/>
      <dgm:spPr/>
      <dgm:t>
        <a:bodyPr/>
        <a:lstStyle/>
        <a:p>
          <a:endParaRPr lang="pl-PL"/>
        </a:p>
      </dgm:t>
    </dgm:pt>
    <dgm:pt modelId="{1806E99C-42C4-4107-91FA-5B7EB76D96BA}" type="sibTrans" cxnId="{0A9C3184-9318-4A2C-A363-12129D3B77FC}">
      <dgm:prSet/>
      <dgm:spPr/>
      <dgm:t>
        <a:bodyPr/>
        <a:lstStyle/>
        <a:p>
          <a:endParaRPr lang="pl-PL"/>
        </a:p>
      </dgm:t>
    </dgm:pt>
    <dgm:pt modelId="{0D173E01-97D9-4A8E-8147-8360AB01DF7D}">
      <dgm:prSet phldrT="[Text]" custT="1"/>
      <dgm:spPr>
        <a:xfrm>
          <a:off x="1845731" y="335884"/>
          <a:ext cx="1105962" cy="505541"/>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buNone/>
          </a:pPr>
          <a:r>
            <a:rPr lang="pl-PL" sz="1000">
              <a:solidFill>
                <a:srgbClr val="333333"/>
              </a:solidFill>
              <a:latin typeface="Arial"/>
              <a:ea typeface="+mn-ea"/>
              <a:cs typeface="+mn-cs"/>
            </a:rPr>
            <a:t>Line of Business</a:t>
          </a:r>
        </a:p>
      </dgm:t>
    </dgm:pt>
    <dgm:pt modelId="{2C64ADBD-AAD3-4770-9E75-BB5023543F30}" type="parTrans" cxnId="{CC73AD00-4880-4D11-80B1-40B3BA86EDB1}">
      <dgm:prSet/>
      <dgm:spPr/>
      <dgm:t>
        <a:bodyPr/>
        <a:lstStyle/>
        <a:p>
          <a:endParaRPr lang="pl-PL"/>
        </a:p>
      </dgm:t>
    </dgm:pt>
    <dgm:pt modelId="{0971F33F-F61E-4BD7-B1FC-89AEA1385CFC}" type="sibTrans" cxnId="{CC73AD00-4880-4D11-80B1-40B3BA86EDB1}">
      <dgm:prSet/>
      <dgm:spPr/>
      <dgm:t>
        <a:bodyPr/>
        <a:lstStyle/>
        <a:p>
          <a:endParaRPr lang="pl-PL"/>
        </a:p>
      </dgm:t>
    </dgm:pt>
    <dgm:pt modelId="{7A9F061E-8717-4714-A79E-021AAFE87835}">
      <dgm:prSet phldrT="[Text]" custT="1"/>
      <dgm:spPr>
        <a:xfrm>
          <a:off x="3341691" y="335884"/>
          <a:ext cx="1105962" cy="505541"/>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buNone/>
          </a:pPr>
          <a:r>
            <a:rPr lang="pl-PL" sz="1000">
              <a:solidFill>
                <a:srgbClr val="333333"/>
              </a:solidFill>
              <a:latin typeface="Arial"/>
              <a:ea typeface="+mn-ea"/>
              <a:cs typeface="+mn-cs"/>
            </a:rPr>
            <a:t>Cost Center</a:t>
          </a:r>
        </a:p>
      </dgm:t>
    </dgm:pt>
    <dgm:pt modelId="{EFFFEB00-6013-4447-B7CD-EDB8770CD34B}" type="parTrans" cxnId="{7F3B4747-7510-47C4-8862-40B2D05F68A4}">
      <dgm:prSet/>
      <dgm:spPr/>
      <dgm:t>
        <a:bodyPr/>
        <a:lstStyle/>
        <a:p>
          <a:endParaRPr lang="pl-PL"/>
        </a:p>
      </dgm:t>
    </dgm:pt>
    <dgm:pt modelId="{6AD3EAB3-5966-4632-A6C6-FFADFE2A4A71}" type="sibTrans" cxnId="{7F3B4747-7510-47C4-8862-40B2D05F68A4}">
      <dgm:prSet/>
      <dgm:spPr/>
      <dgm:t>
        <a:bodyPr/>
        <a:lstStyle/>
        <a:p>
          <a:endParaRPr lang="pl-PL"/>
        </a:p>
      </dgm:t>
    </dgm:pt>
    <dgm:pt modelId="{628A3A0A-8066-488B-B6DD-79BE059B0AC0}" type="pres">
      <dgm:prSet presAssocID="{0E73C464-91CD-42C5-B16E-E0C830C941A7}" presName="Name0" presStyleCnt="0">
        <dgm:presLayoutVars>
          <dgm:dir/>
          <dgm:resizeHandles val="exact"/>
        </dgm:presLayoutVars>
      </dgm:prSet>
      <dgm:spPr/>
    </dgm:pt>
    <dgm:pt modelId="{DD83F70A-9E23-4743-A081-77B8BFF8B17E}" type="pres">
      <dgm:prSet presAssocID="{968BD12B-F10D-450E-87F5-3D8E4B669E55}" presName="composite" presStyleCnt="0"/>
      <dgm:spPr/>
    </dgm:pt>
    <dgm:pt modelId="{FA43E614-775C-42BB-BC4A-B60D484F71E5}" type="pres">
      <dgm:prSet presAssocID="{968BD12B-F10D-450E-87F5-3D8E4B669E55}" presName="bgChev" presStyleLbl="node1" presStyleIdx="0" presStyleCnt="3"/>
      <dgm:spPr>
        <a:xfrm>
          <a:off x="521" y="209499"/>
          <a:ext cx="1309692" cy="505541"/>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96A1F5E0-D7D0-4E50-88B4-BC49D6E09CCC}" type="pres">
      <dgm:prSet presAssocID="{968BD12B-F10D-450E-87F5-3D8E4B669E55}" presName="txNode" presStyleLbl="fgAcc1" presStyleIdx="0" presStyleCnt="3" custLinFactNeighborX="3445" custLinFactNeighborY="-1195">
        <dgm:presLayoutVars>
          <dgm:bulletEnabled val="1"/>
        </dgm:presLayoutVars>
      </dgm:prSet>
      <dgm:spPr/>
    </dgm:pt>
    <dgm:pt modelId="{72211A7F-64A1-4D76-8A9E-8EBF92E8A60C}" type="pres">
      <dgm:prSet presAssocID="{1806E99C-42C4-4107-91FA-5B7EB76D96BA}" presName="compositeSpace" presStyleCnt="0"/>
      <dgm:spPr/>
    </dgm:pt>
    <dgm:pt modelId="{0380F9F6-3E52-49F3-9E93-BBB669844A39}" type="pres">
      <dgm:prSet presAssocID="{0D173E01-97D9-4A8E-8147-8360AB01DF7D}" presName="composite" presStyleCnt="0"/>
      <dgm:spPr/>
    </dgm:pt>
    <dgm:pt modelId="{B99469C6-785D-4CD5-9EEA-3B09D2168DAE}" type="pres">
      <dgm:prSet presAssocID="{0D173E01-97D9-4A8E-8147-8360AB01DF7D}" presName="bgChev" presStyleLbl="node1" presStyleIdx="1" presStyleCnt="3"/>
      <dgm:spPr>
        <a:xfrm>
          <a:off x="1496480" y="209499"/>
          <a:ext cx="1309692" cy="505541"/>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04EE617F-4241-43C7-A5B7-18E82010D544}" type="pres">
      <dgm:prSet presAssocID="{0D173E01-97D9-4A8E-8147-8360AB01DF7D}" presName="txNode" presStyleLbl="fgAcc1" presStyleIdx="1" presStyleCnt="3">
        <dgm:presLayoutVars>
          <dgm:bulletEnabled val="1"/>
        </dgm:presLayoutVars>
      </dgm:prSet>
      <dgm:spPr/>
    </dgm:pt>
    <dgm:pt modelId="{746D1ED6-DFE0-455A-AB10-7F300D7064DE}" type="pres">
      <dgm:prSet presAssocID="{0971F33F-F61E-4BD7-B1FC-89AEA1385CFC}" presName="compositeSpace" presStyleCnt="0"/>
      <dgm:spPr/>
    </dgm:pt>
    <dgm:pt modelId="{CC128E8B-870E-4786-8B66-EF72F467699F}" type="pres">
      <dgm:prSet presAssocID="{7A9F061E-8717-4714-A79E-021AAFE87835}" presName="composite" presStyleCnt="0"/>
      <dgm:spPr/>
    </dgm:pt>
    <dgm:pt modelId="{AE5374A8-90A6-430D-8476-1899C4AA9D7F}" type="pres">
      <dgm:prSet presAssocID="{7A9F061E-8717-4714-A79E-021AAFE87835}" presName="bgChev" presStyleLbl="node1" presStyleIdx="2" presStyleCnt="3"/>
      <dgm:spPr>
        <a:xfrm>
          <a:off x="2992440" y="209499"/>
          <a:ext cx="1309692" cy="505541"/>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B4C21D39-2C35-440A-AC96-AABE8E020E81}" type="pres">
      <dgm:prSet presAssocID="{7A9F061E-8717-4714-A79E-021AAFE87835}" presName="txNode" presStyleLbl="fgAcc1" presStyleIdx="2" presStyleCnt="3">
        <dgm:presLayoutVars>
          <dgm:bulletEnabled val="1"/>
        </dgm:presLayoutVars>
      </dgm:prSet>
      <dgm:spPr/>
    </dgm:pt>
  </dgm:ptLst>
  <dgm:cxnLst>
    <dgm:cxn modelId="{CC73AD00-4880-4D11-80B1-40B3BA86EDB1}" srcId="{0E73C464-91CD-42C5-B16E-E0C830C941A7}" destId="{0D173E01-97D9-4A8E-8147-8360AB01DF7D}" srcOrd="1" destOrd="0" parTransId="{2C64ADBD-AAD3-4770-9E75-BB5023543F30}" sibTransId="{0971F33F-F61E-4BD7-B1FC-89AEA1385CFC}"/>
    <dgm:cxn modelId="{0648A726-9BAD-4847-8486-C743D2FDB144}" type="presOf" srcId="{0D173E01-97D9-4A8E-8147-8360AB01DF7D}" destId="{04EE617F-4241-43C7-A5B7-18E82010D544}" srcOrd="0" destOrd="0" presId="urn:microsoft.com/office/officeart/2005/8/layout/chevronAccent+Icon"/>
    <dgm:cxn modelId="{0F59EA5B-E3AC-4594-BED0-F2CD5CB1D166}" type="presOf" srcId="{7A9F061E-8717-4714-A79E-021AAFE87835}" destId="{B4C21D39-2C35-440A-AC96-AABE8E020E81}" srcOrd="0" destOrd="0" presId="urn:microsoft.com/office/officeart/2005/8/layout/chevronAccent+Icon"/>
    <dgm:cxn modelId="{F2A90D43-951B-4282-BACB-BB2CA5F20CD3}" type="presOf" srcId="{968BD12B-F10D-450E-87F5-3D8E4B669E55}" destId="{96A1F5E0-D7D0-4E50-88B4-BC49D6E09CCC}" srcOrd="0" destOrd="0" presId="urn:microsoft.com/office/officeart/2005/8/layout/chevronAccent+Icon"/>
    <dgm:cxn modelId="{7F3B4747-7510-47C4-8862-40B2D05F68A4}" srcId="{0E73C464-91CD-42C5-B16E-E0C830C941A7}" destId="{7A9F061E-8717-4714-A79E-021AAFE87835}" srcOrd="2" destOrd="0" parTransId="{EFFFEB00-6013-4447-B7CD-EDB8770CD34B}" sibTransId="{6AD3EAB3-5966-4632-A6C6-FFADFE2A4A71}"/>
    <dgm:cxn modelId="{4808DB81-0071-46FE-9895-070CDB31A0A0}" type="presOf" srcId="{0E73C464-91CD-42C5-B16E-E0C830C941A7}" destId="{628A3A0A-8066-488B-B6DD-79BE059B0AC0}" srcOrd="0" destOrd="0" presId="urn:microsoft.com/office/officeart/2005/8/layout/chevronAccent+Icon"/>
    <dgm:cxn modelId="{0A9C3184-9318-4A2C-A363-12129D3B77FC}" srcId="{0E73C464-91CD-42C5-B16E-E0C830C941A7}" destId="{968BD12B-F10D-450E-87F5-3D8E4B669E55}" srcOrd="0" destOrd="0" parTransId="{EE40EF1A-AC16-4468-8CFD-700856FA5B4B}" sibTransId="{1806E99C-42C4-4107-91FA-5B7EB76D96BA}"/>
    <dgm:cxn modelId="{03202061-429F-4AB4-BC76-B77CF49F769C}" type="presParOf" srcId="{628A3A0A-8066-488B-B6DD-79BE059B0AC0}" destId="{DD83F70A-9E23-4743-A081-77B8BFF8B17E}" srcOrd="0" destOrd="0" presId="urn:microsoft.com/office/officeart/2005/8/layout/chevronAccent+Icon"/>
    <dgm:cxn modelId="{E6712761-067F-4EB1-BBC4-2898F25DEAA9}" type="presParOf" srcId="{DD83F70A-9E23-4743-A081-77B8BFF8B17E}" destId="{FA43E614-775C-42BB-BC4A-B60D484F71E5}" srcOrd="0" destOrd="0" presId="urn:microsoft.com/office/officeart/2005/8/layout/chevronAccent+Icon"/>
    <dgm:cxn modelId="{07873AC0-1BDF-4700-A514-56D5EF8FF8EC}" type="presParOf" srcId="{DD83F70A-9E23-4743-A081-77B8BFF8B17E}" destId="{96A1F5E0-D7D0-4E50-88B4-BC49D6E09CCC}" srcOrd="1" destOrd="0" presId="urn:microsoft.com/office/officeart/2005/8/layout/chevronAccent+Icon"/>
    <dgm:cxn modelId="{85639604-A13C-45A8-A38E-4B31F85A544A}" type="presParOf" srcId="{628A3A0A-8066-488B-B6DD-79BE059B0AC0}" destId="{72211A7F-64A1-4D76-8A9E-8EBF92E8A60C}" srcOrd="1" destOrd="0" presId="urn:microsoft.com/office/officeart/2005/8/layout/chevronAccent+Icon"/>
    <dgm:cxn modelId="{8A0959AE-E922-417A-9095-FD7757954880}" type="presParOf" srcId="{628A3A0A-8066-488B-B6DD-79BE059B0AC0}" destId="{0380F9F6-3E52-49F3-9E93-BBB669844A39}" srcOrd="2" destOrd="0" presId="urn:microsoft.com/office/officeart/2005/8/layout/chevronAccent+Icon"/>
    <dgm:cxn modelId="{663A72A3-7CA0-46DE-92DD-CE90D2348546}" type="presParOf" srcId="{0380F9F6-3E52-49F3-9E93-BBB669844A39}" destId="{B99469C6-785D-4CD5-9EEA-3B09D2168DAE}" srcOrd="0" destOrd="0" presId="urn:microsoft.com/office/officeart/2005/8/layout/chevronAccent+Icon"/>
    <dgm:cxn modelId="{8D5165FD-7B53-4264-BBBD-BA7D77251FD3}" type="presParOf" srcId="{0380F9F6-3E52-49F3-9E93-BBB669844A39}" destId="{04EE617F-4241-43C7-A5B7-18E82010D544}" srcOrd="1" destOrd="0" presId="urn:microsoft.com/office/officeart/2005/8/layout/chevronAccent+Icon"/>
    <dgm:cxn modelId="{4B9D7518-6CD4-472A-8E02-1CE6F603997F}" type="presParOf" srcId="{628A3A0A-8066-488B-B6DD-79BE059B0AC0}" destId="{746D1ED6-DFE0-455A-AB10-7F300D7064DE}" srcOrd="3" destOrd="0" presId="urn:microsoft.com/office/officeart/2005/8/layout/chevronAccent+Icon"/>
    <dgm:cxn modelId="{B627C51A-938A-4753-AF96-AC79048F9F2A}" type="presParOf" srcId="{628A3A0A-8066-488B-B6DD-79BE059B0AC0}" destId="{CC128E8B-870E-4786-8B66-EF72F467699F}" srcOrd="4" destOrd="0" presId="urn:microsoft.com/office/officeart/2005/8/layout/chevronAccent+Icon"/>
    <dgm:cxn modelId="{1BD1B201-6BAD-4820-B5ED-5DCEE1F750F2}" type="presParOf" srcId="{CC128E8B-870E-4786-8B66-EF72F467699F}" destId="{AE5374A8-90A6-430D-8476-1899C4AA9D7F}" srcOrd="0" destOrd="0" presId="urn:microsoft.com/office/officeart/2005/8/layout/chevronAccent+Icon"/>
    <dgm:cxn modelId="{6A88CECA-829D-4067-A76F-006FD7B5969C}" type="presParOf" srcId="{CC128E8B-870E-4786-8B66-EF72F467699F}" destId="{B4C21D39-2C35-440A-AC96-AABE8E020E81}" srcOrd="1" destOrd="0" presId="urn:microsoft.com/office/officeart/2005/8/layout/chevronAccent+Icon"/>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E73C464-91CD-42C5-B16E-E0C830C941A7}" type="doc">
      <dgm:prSet loTypeId="urn:microsoft.com/office/officeart/2005/8/layout/chevronAccent+Icon" loCatId="process" qsTypeId="urn:microsoft.com/office/officeart/2005/8/quickstyle/simple1" qsCatId="simple" csTypeId="urn:microsoft.com/office/officeart/2005/8/colors/accent1_2" csCatId="accent1" phldr="1"/>
      <dgm:spPr/>
    </dgm:pt>
    <dgm:pt modelId="{968BD12B-F10D-450E-87F5-3D8E4B669E55}">
      <dgm:prSet phldrT="[Text]"/>
      <dgm:spPr>
        <a:xfrm>
          <a:off x="322060" y="464171"/>
          <a:ext cx="1018337" cy="46548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buNone/>
          </a:pPr>
          <a:r>
            <a:rPr lang="pl-PL">
              <a:solidFill>
                <a:srgbClr val="333333"/>
              </a:solidFill>
              <a:latin typeface="Arial"/>
              <a:ea typeface="+mn-ea"/>
              <a:cs typeface="+mn-cs"/>
            </a:rPr>
            <a:t>Natural Account</a:t>
          </a:r>
        </a:p>
      </dgm:t>
    </dgm:pt>
    <dgm:pt modelId="{EE40EF1A-AC16-4468-8CFD-700856FA5B4B}" type="parTrans" cxnId="{0A9C3184-9318-4A2C-A363-12129D3B77FC}">
      <dgm:prSet/>
      <dgm:spPr/>
      <dgm:t>
        <a:bodyPr/>
        <a:lstStyle/>
        <a:p>
          <a:endParaRPr lang="pl-PL"/>
        </a:p>
      </dgm:t>
    </dgm:pt>
    <dgm:pt modelId="{1806E99C-42C4-4107-91FA-5B7EB76D96BA}" type="sibTrans" cxnId="{0A9C3184-9318-4A2C-A363-12129D3B77FC}">
      <dgm:prSet/>
      <dgm:spPr/>
      <dgm:t>
        <a:bodyPr/>
        <a:lstStyle/>
        <a:p>
          <a:endParaRPr lang="pl-PL"/>
        </a:p>
      </dgm:t>
    </dgm:pt>
    <dgm:pt modelId="{0D173E01-97D9-4A8E-8147-8360AB01DF7D}">
      <dgm:prSet phldrT="[Text]"/>
      <dgm:spPr>
        <a:xfrm>
          <a:off x="1699496" y="465204"/>
          <a:ext cx="1018337" cy="46548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buNone/>
          </a:pPr>
          <a:r>
            <a:rPr lang="pl-PL">
              <a:solidFill>
                <a:srgbClr val="333333"/>
              </a:solidFill>
              <a:latin typeface="Arial"/>
              <a:ea typeface="+mn-ea"/>
              <a:cs typeface="+mn-cs"/>
            </a:rPr>
            <a:t>Product</a:t>
          </a:r>
        </a:p>
      </dgm:t>
    </dgm:pt>
    <dgm:pt modelId="{2C64ADBD-AAD3-4770-9E75-BB5023543F30}" type="parTrans" cxnId="{CC73AD00-4880-4D11-80B1-40B3BA86EDB1}">
      <dgm:prSet/>
      <dgm:spPr/>
      <dgm:t>
        <a:bodyPr/>
        <a:lstStyle/>
        <a:p>
          <a:endParaRPr lang="pl-PL"/>
        </a:p>
      </dgm:t>
    </dgm:pt>
    <dgm:pt modelId="{0971F33F-F61E-4BD7-B1FC-89AEA1385CFC}" type="sibTrans" cxnId="{CC73AD00-4880-4D11-80B1-40B3BA86EDB1}">
      <dgm:prSet/>
      <dgm:spPr/>
      <dgm:t>
        <a:bodyPr/>
        <a:lstStyle/>
        <a:p>
          <a:endParaRPr lang="pl-PL"/>
        </a:p>
      </dgm:t>
    </dgm:pt>
    <dgm:pt modelId="{7A9F061E-8717-4714-A79E-021AAFE87835}">
      <dgm:prSet phldrT="[Text]"/>
      <dgm:spPr>
        <a:xfrm>
          <a:off x="3076932" y="465204"/>
          <a:ext cx="1018337" cy="46548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buNone/>
          </a:pPr>
          <a:r>
            <a:rPr lang="pl-PL">
              <a:solidFill>
                <a:srgbClr val="333333"/>
              </a:solidFill>
              <a:latin typeface="Arial"/>
              <a:ea typeface="+mn-ea"/>
              <a:cs typeface="+mn-cs"/>
            </a:rPr>
            <a:t>Location</a:t>
          </a:r>
        </a:p>
      </dgm:t>
    </dgm:pt>
    <dgm:pt modelId="{EFFFEB00-6013-4447-B7CD-EDB8770CD34B}" type="parTrans" cxnId="{7F3B4747-7510-47C4-8862-40B2D05F68A4}">
      <dgm:prSet/>
      <dgm:spPr/>
      <dgm:t>
        <a:bodyPr/>
        <a:lstStyle/>
        <a:p>
          <a:endParaRPr lang="pl-PL"/>
        </a:p>
      </dgm:t>
    </dgm:pt>
    <dgm:pt modelId="{6AD3EAB3-5966-4632-A6C6-FFADFE2A4A71}" type="sibTrans" cxnId="{7F3B4747-7510-47C4-8862-40B2D05F68A4}">
      <dgm:prSet/>
      <dgm:spPr/>
      <dgm:t>
        <a:bodyPr/>
        <a:lstStyle/>
        <a:p>
          <a:endParaRPr lang="pl-PL"/>
        </a:p>
      </dgm:t>
    </dgm:pt>
    <dgm:pt modelId="{628A3A0A-8066-488B-B6DD-79BE059B0AC0}" type="pres">
      <dgm:prSet presAssocID="{0E73C464-91CD-42C5-B16E-E0C830C941A7}" presName="Name0" presStyleCnt="0">
        <dgm:presLayoutVars>
          <dgm:dir/>
          <dgm:resizeHandles val="exact"/>
        </dgm:presLayoutVars>
      </dgm:prSet>
      <dgm:spPr/>
    </dgm:pt>
    <dgm:pt modelId="{DD83F70A-9E23-4743-A081-77B8BFF8B17E}" type="pres">
      <dgm:prSet presAssocID="{968BD12B-F10D-450E-87F5-3D8E4B669E55}" presName="composite" presStyleCnt="0"/>
      <dgm:spPr/>
    </dgm:pt>
    <dgm:pt modelId="{FA43E614-775C-42BB-BC4A-B60D484F71E5}" type="pres">
      <dgm:prSet presAssocID="{968BD12B-F10D-450E-87F5-3D8E4B669E55}" presName="bgChev" presStyleLbl="node1" presStyleIdx="0" presStyleCnt="3"/>
      <dgm:spPr>
        <a:xfrm>
          <a:off x="479" y="348832"/>
          <a:ext cx="1205926" cy="46548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96A1F5E0-D7D0-4E50-88B4-BC49D6E09CCC}" type="pres">
      <dgm:prSet presAssocID="{968BD12B-F10D-450E-87F5-3D8E4B669E55}" presName="txNode" presStyleLbl="fgAcc1" presStyleIdx="0" presStyleCnt="3" custLinFactNeighborY="-222">
        <dgm:presLayoutVars>
          <dgm:bulletEnabled val="1"/>
        </dgm:presLayoutVars>
      </dgm:prSet>
      <dgm:spPr/>
    </dgm:pt>
    <dgm:pt modelId="{72211A7F-64A1-4D76-8A9E-8EBF92E8A60C}" type="pres">
      <dgm:prSet presAssocID="{1806E99C-42C4-4107-91FA-5B7EB76D96BA}" presName="compositeSpace" presStyleCnt="0"/>
      <dgm:spPr/>
    </dgm:pt>
    <dgm:pt modelId="{0380F9F6-3E52-49F3-9E93-BBB669844A39}" type="pres">
      <dgm:prSet presAssocID="{0D173E01-97D9-4A8E-8147-8360AB01DF7D}" presName="composite" presStyleCnt="0"/>
      <dgm:spPr/>
    </dgm:pt>
    <dgm:pt modelId="{B99469C6-785D-4CD5-9EEA-3B09D2168DAE}" type="pres">
      <dgm:prSet presAssocID="{0D173E01-97D9-4A8E-8147-8360AB01DF7D}" presName="bgChev" presStyleLbl="node1" presStyleIdx="1" presStyleCnt="3"/>
      <dgm:spPr>
        <a:xfrm>
          <a:off x="1377915" y="348832"/>
          <a:ext cx="1205926" cy="46548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04EE617F-4241-43C7-A5B7-18E82010D544}" type="pres">
      <dgm:prSet presAssocID="{0D173E01-97D9-4A8E-8147-8360AB01DF7D}" presName="txNode" presStyleLbl="fgAcc1" presStyleIdx="1" presStyleCnt="3">
        <dgm:presLayoutVars>
          <dgm:bulletEnabled val="1"/>
        </dgm:presLayoutVars>
      </dgm:prSet>
      <dgm:spPr/>
    </dgm:pt>
    <dgm:pt modelId="{746D1ED6-DFE0-455A-AB10-7F300D7064DE}" type="pres">
      <dgm:prSet presAssocID="{0971F33F-F61E-4BD7-B1FC-89AEA1385CFC}" presName="compositeSpace" presStyleCnt="0"/>
      <dgm:spPr/>
    </dgm:pt>
    <dgm:pt modelId="{CC128E8B-870E-4786-8B66-EF72F467699F}" type="pres">
      <dgm:prSet presAssocID="{7A9F061E-8717-4714-A79E-021AAFE87835}" presName="composite" presStyleCnt="0"/>
      <dgm:spPr/>
    </dgm:pt>
    <dgm:pt modelId="{AE5374A8-90A6-430D-8476-1899C4AA9D7F}" type="pres">
      <dgm:prSet presAssocID="{7A9F061E-8717-4714-A79E-021AAFE87835}" presName="bgChev" presStyleLbl="node1" presStyleIdx="2" presStyleCnt="3"/>
      <dgm:spPr>
        <a:xfrm>
          <a:off x="2755351" y="348832"/>
          <a:ext cx="1205926" cy="46548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B4C21D39-2C35-440A-AC96-AABE8E020E81}" type="pres">
      <dgm:prSet presAssocID="{7A9F061E-8717-4714-A79E-021AAFE87835}" presName="txNode" presStyleLbl="fgAcc1" presStyleIdx="2" presStyleCnt="3">
        <dgm:presLayoutVars>
          <dgm:bulletEnabled val="1"/>
        </dgm:presLayoutVars>
      </dgm:prSet>
      <dgm:spPr/>
    </dgm:pt>
  </dgm:ptLst>
  <dgm:cxnLst>
    <dgm:cxn modelId="{CC73AD00-4880-4D11-80B1-40B3BA86EDB1}" srcId="{0E73C464-91CD-42C5-B16E-E0C830C941A7}" destId="{0D173E01-97D9-4A8E-8147-8360AB01DF7D}" srcOrd="1" destOrd="0" parTransId="{2C64ADBD-AAD3-4770-9E75-BB5023543F30}" sibTransId="{0971F33F-F61E-4BD7-B1FC-89AEA1385CFC}"/>
    <dgm:cxn modelId="{0648A726-9BAD-4847-8486-C743D2FDB144}" type="presOf" srcId="{0D173E01-97D9-4A8E-8147-8360AB01DF7D}" destId="{04EE617F-4241-43C7-A5B7-18E82010D544}" srcOrd="0" destOrd="0" presId="urn:microsoft.com/office/officeart/2005/8/layout/chevronAccent+Icon"/>
    <dgm:cxn modelId="{0F59EA5B-E3AC-4594-BED0-F2CD5CB1D166}" type="presOf" srcId="{7A9F061E-8717-4714-A79E-021AAFE87835}" destId="{B4C21D39-2C35-440A-AC96-AABE8E020E81}" srcOrd="0" destOrd="0" presId="urn:microsoft.com/office/officeart/2005/8/layout/chevronAccent+Icon"/>
    <dgm:cxn modelId="{F2A90D43-951B-4282-BACB-BB2CA5F20CD3}" type="presOf" srcId="{968BD12B-F10D-450E-87F5-3D8E4B669E55}" destId="{96A1F5E0-D7D0-4E50-88B4-BC49D6E09CCC}" srcOrd="0" destOrd="0" presId="urn:microsoft.com/office/officeart/2005/8/layout/chevronAccent+Icon"/>
    <dgm:cxn modelId="{7F3B4747-7510-47C4-8862-40B2D05F68A4}" srcId="{0E73C464-91CD-42C5-B16E-E0C830C941A7}" destId="{7A9F061E-8717-4714-A79E-021AAFE87835}" srcOrd="2" destOrd="0" parTransId="{EFFFEB00-6013-4447-B7CD-EDB8770CD34B}" sibTransId="{6AD3EAB3-5966-4632-A6C6-FFADFE2A4A71}"/>
    <dgm:cxn modelId="{4808DB81-0071-46FE-9895-070CDB31A0A0}" type="presOf" srcId="{0E73C464-91CD-42C5-B16E-E0C830C941A7}" destId="{628A3A0A-8066-488B-B6DD-79BE059B0AC0}" srcOrd="0" destOrd="0" presId="urn:microsoft.com/office/officeart/2005/8/layout/chevronAccent+Icon"/>
    <dgm:cxn modelId="{0A9C3184-9318-4A2C-A363-12129D3B77FC}" srcId="{0E73C464-91CD-42C5-B16E-E0C830C941A7}" destId="{968BD12B-F10D-450E-87F5-3D8E4B669E55}" srcOrd="0" destOrd="0" parTransId="{EE40EF1A-AC16-4468-8CFD-700856FA5B4B}" sibTransId="{1806E99C-42C4-4107-91FA-5B7EB76D96BA}"/>
    <dgm:cxn modelId="{03202061-429F-4AB4-BC76-B77CF49F769C}" type="presParOf" srcId="{628A3A0A-8066-488B-B6DD-79BE059B0AC0}" destId="{DD83F70A-9E23-4743-A081-77B8BFF8B17E}" srcOrd="0" destOrd="0" presId="urn:microsoft.com/office/officeart/2005/8/layout/chevronAccent+Icon"/>
    <dgm:cxn modelId="{E6712761-067F-4EB1-BBC4-2898F25DEAA9}" type="presParOf" srcId="{DD83F70A-9E23-4743-A081-77B8BFF8B17E}" destId="{FA43E614-775C-42BB-BC4A-B60D484F71E5}" srcOrd="0" destOrd="0" presId="urn:microsoft.com/office/officeart/2005/8/layout/chevronAccent+Icon"/>
    <dgm:cxn modelId="{07873AC0-1BDF-4700-A514-56D5EF8FF8EC}" type="presParOf" srcId="{DD83F70A-9E23-4743-A081-77B8BFF8B17E}" destId="{96A1F5E0-D7D0-4E50-88B4-BC49D6E09CCC}" srcOrd="1" destOrd="0" presId="urn:microsoft.com/office/officeart/2005/8/layout/chevronAccent+Icon"/>
    <dgm:cxn modelId="{85639604-A13C-45A8-A38E-4B31F85A544A}" type="presParOf" srcId="{628A3A0A-8066-488B-B6DD-79BE059B0AC0}" destId="{72211A7F-64A1-4D76-8A9E-8EBF92E8A60C}" srcOrd="1" destOrd="0" presId="urn:microsoft.com/office/officeart/2005/8/layout/chevronAccent+Icon"/>
    <dgm:cxn modelId="{8A0959AE-E922-417A-9095-FD7757954880}" type="presParOf" srcId="{628A3A0A-8066-488B-B6DD-79BE059B0AC0}" destId="{0380F9F6-3E52-49F3-9E93-BBB669844A39}" srcOrd="2" destOrd="0" presId="urn:microsoft.com/office/officeart/2005/8/layout/chevronAccent+Icon"/>
    <dgm:cxn modelId="{663A72A3-7CA0-46DE-92DD-CE90D2348546}" type="presParOf" srcId="{0380F9F6-3E52-49F3-9E93-BBB669844A39}" destId="{B99469C6-785D-4CD5-9EEA-3B09D2168DAE}" srcOrd="0" destOrd="0" presId="urn:microsoft.com/office/officeart/2005/8/layout/chevronAccent+Icon"/>
    <dgm:cxn modelId="{8D5165FD-7B53-4264-BBBD-BA7D77251FD3}" type="presParOf" srcId="{0380F9F6-3E52-49F3-9E93-BBB669844A39}" destId="{04EE617F-4241-43C7-A5B7-18E82010D544}" srcOrd="1" destOrd="0" presId="urn:microsoft.com/office/officeart/2005/8/layout/chevronAccent+Icon"/>
    <dgm:cxn modelId="{4B9D7518-6CD4-472A-8E02-1CE6F603997F}" type="presParOf" srcId="{628A3A0A-8066-488B-B6DD-79BE059B0AC0}" destId="{746D1ED6-DFE0-455A-AB10-7F300D7064DE}" srcOrd="3" destOrd="0" presId="urn:microsoft.com/office/officeart/2005/8/layout/chevronAccent+Icon"/>
    <dgm:cxn modelId="{B627C51A-938A-4753-AF96-AC79048F9F2A}" type="presParOf" srcId="{628A3A0A-8066-488B-B6DD-79BE059B0AC0}" destId="{CC128E8B-870E-4786-8B66-EF72F467699F}" srcOrd="4" destOrd="0" presId="urn:microsoft.com/office/officeart/2005/8/layout/chevronAccent+Icon"/>
    <dgm:cxn modelId="{1BD1B201-6BAD-4820-B5ED-5DCEE1F750F2}" type="presParOf" srcId="{CC128E8B-870E-4786-8B66-EF72F467699F}" destId="{AE5374A8-90A6-430D-8476-1899C4AA9D7F}" srcOrd="0" destOrd="0" presId="urn:microsoft.com/office/officeart/2005/8/layout/chevronAccent+Icon"/>
    <dgm:cxn modelId="{6A88CECA-829D-4067-A76F-006FD7B5969C}" type="presParOf" srcId="{CC128E8B-870E-4786-8B66-EF72F467699F}" destId="{B4C21D39-2C35-440A-AC96-AABE8E020E81}" srcOrd="1" destOrd="0" presId="urn:microsoft.com/office/officeart/2005/8/layout/chevronAccent+Icon"/>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E73C464-91CD-42C5-B16E-E0C830C941A7}" type="doc">
      <dgm:prSet loTypeId="urn:microsoft.com/office/officeart/2005/8/layout/chevronAccent+Icon" loCatId="process" qsTypeId="urn:microsoft.com/office/officeart/2005/8/quickstyle/simple1" qsCatId="simple" csTypeId="urn:microsoft.com/office/officeart/2005/8/colors/accent1_2" csCatId="accent1" phldr="1"/>
      <dgm:spPr/>
    </dgm:pt>
    <dgm:pt modelId="{968BD12B-F10D-450E-87F5-3D8E4B669E55}">
      <dgm:prSet phldrT="[Text]"/>
      <dgm:spPr>
        <a:xfrm>
          <a:off x="366891" y="112699"/>
          <a:ext cx="1157108" cy="45079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ln>
        <a:effectLst/>
      </dgm:spPr>
      <dgm:t>
        <a:bodyPr/>
        <a:lstStyle/>
        <a:p>
          <a:pPr>
            <a:buNone/>
          </a:pPr>
          <a:r>
            <a:rPr lang="pl-PL">
              <a:solidFill>
                <a:srgbClr val="333333"/>
              </a:solidFill>
              <a:latin typeface="Arial"/>
              <a:ea typeface="+mn-ea"/>
              <a:cs typeface="+mn-cs"/>
            </a:rPr>
            <a:t>Intercompany Type</a:t>
          </a:r>
        </a:p>
      </dgm:t>
    </dgm:pt>
    <dgm:pt modelId="{EE40EF1A-AC16-4468-8CFD-700856FA5B4B}" type="parTrans" cxnId="{0A9C3184-9318-4A2C-A363-12129D3B77FC}">
      <dgm:prSet/>
      <dgm:spPr/>
      <dgm:t>
        <a:bodyPr/>
        <a:lstStyle/>
        <a:p>
          <a:endParaRPr lang="pl-PL"/>
        </a:p>
      </dgm:t>
    </dgm:pt>
    <dgm:pt modelId="{1806E99C-42C4-4107-91FA-5B7EB76D96BA}" type="sibTrans" cxnId="{0A9C3184-9318-4A2C-A363-12129D3B77FC}">
      <dgm:prSet/>
      <dgm:spPr/>
      <dgm:t>
        <a:bodyPr/>
        <a:lstStyle/>
        <a:p>
          <a:endParaRPr lang="pl-PL"/>
        </a:p>
      </dgm:t>
    </dgm:pt>
    <dgm:pt modelId="{628A3A0A-8066-488B-B6DD-79BE059B0AC0}" type="pres">
      <dgm:prSet presAssocID="{0E73C464-91CD-42C5-B16E-E0C830C941A7}" presName="Name0" presStyleCnt="0">
        <dgm:presLayoutVars>
          <dgm:dir/>
          <dgm:resizeHandles val="exact"/>
        </dgm:presLayoutVars>
      </dgm:prSet>
      <dgm:spPr/>
    </dgm:pt>
    <dgm:pt modelId="{DD83F70A-9E23-4743-A081-77B8BFF8B17E}" type="pres">
      <dgm:prSet presAssocID="{968BD12B-F10D-450E-87F5-3D8E4B669E55}" presName="composite" presStyleCnt="0"/>
      <dgm:spPr/>
    </dgm:pt>
    <dgm:pt modelId="{FA43E614-775C-42BB-BC4A-B60D484F71E5}" type="pres">
      <dgm:prSet presAssocID="{968BD12B-F10D-450E-87F5-3D8E4B669E55}" presName="bgChev" presStyleLbl="node1" presStyleIdx="0" presStyleCnt="1"/>
      <dgm:spPr>
        <a:xfrm>
          <a:off x="744" y="0"/>
          <a:ext cx="1370260" cy="45079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ln>
        <a:effectLst/>
      </dgm:spPr>
    </dgm:pt>
    <dgm:pt modelId="{96A1F5E0-D7D0-4E50-88B4-BC49D6E09CCC}" type="pres">
      <dgm:prSet presAssocID="{968BD12B-F10D-450E-87F5-3D8E4B669E55}" presName="txNode" presStyleLbl="fgAcc1" presStyleIdx="0" presStyleCnt="1" custLinFactNeighborX="823" custLinFactNeighborY="44388">
        <dgm:presLayoutVars>
          <dgm:bulletEnabled val="1"/>
        </dgm:presLayoutVars>
      </dgm:prSet>
      <dgm:spPr/>
    </dgm:pt>
  </dgm:ptLst>
  <dgm:cxnLst>
    <dgm:cxn modelId="{F2A90D43-951B-4282-BACB-BB2CA5F20CD3}" type="presOf" srcId="{968BD12B-F10D-450E-87F5-3D8E4B669E55}" destId="{96A1F5E0-D7D0-4E50-88B4-BC49D6E09CCC}" srcOrd="0" destOrd="0" presId="urn:microsoft.com/office/officeart/2005/8/layout/chevronAccent+Icon"/>
    <dgm:cxn modelId="{4808DB81-0071-46FE-9895-070CDB31A0A0}" type="presOf" srcId="{0E73C464-91CD-42C5-B16E-E0C830C941A7}" destId="{628A3A0A-8066-488B-B6DD-79BE059B0AC0}" srcOrd="0" destOrd="0" presId="urn:microsoft.com/office/officeart/2005/8/layout/chevronAccent+Icon"/>
    <dgm:cxn modelId="{0A9C3184-9318-4A2C-A363-12129D3B77FC}" srcId="{0E73C464-91CD-42C5-B16E-E0C830C941A7}" destId="{968BD12B-F10D-450E-87F5-3D8E4B669E55}" srcOrd="0" destOrd="0" parTransId="{EE40EF1A-AC16-4468-8CFD-700856FA5B4B}" sibTransId="{1806E99C-42C4-4107-91FA-5B7EB76D96BA}"/>
    <dgm:cxn modelId="{03202061-429F-4AB4-BC76-B77CF49F769C}" type="presParOf" srcId="{628A3A0A-8066-488B-B6DD-79BE059B0AC0}" destId="{DD83F70A-9E23-4743-A081-77B8BFF8B17E}" srcOrd="0" destOrd="0" presId="urn:microsoft.com/office/officeart/2005/8/layout/chevronAccent+Icon"/>
    <dgm:cxn modelId="{E6712761-067F-4EB1-BBC4-2898F25DEAA9}" type="presParOf" srcId="{DD83F70A-9E23-4743-A081-77B8BFF8B17E}" destId="{FA43E614-775C-42BB-BC4A-B60D484F71E5}" srcOrd="0" destOrd="0" presId="urn:microsoft.com/office/officeart/2005/8/layout/chevronAccent+Icon"/>
    <dgm:cxn modelId="{07873AC0-1BDF-4700-A514-56D5EF8FF8EC}" type="presParOf" srcId="{DD83F70A-9E23-4743-A081-77B8BFF8B17E}" destId="{96A1F5E0-D7D0-4E50-88B4-BC49D6E09CCC}" srcOrd="1" destOrd="0" presId="urn:microsoft.com/office/officeart/2005/8/layout/chevronAccent+Icon"/>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27C642DB-31E9-4675-81B0-C59BA8B004E0}" type="doc">
      <dgm:prSet loTypeId="urn:microsoft.com/office/officeart/2005/8/layout/pyramid3" loCatId="pyramid" qsTypeId="urn:microsoft.com/office/officeart/2005/8/quickstyle/simple2" qsCatId="simple" csTypeId="urn:microsoft.com/office/officeart/2005/8/colors/accent1_2" csCatId="accent1" phldr="1"/>
      <dgm:spPr/>
    </dgm:pt>
    <dgm:pt modelId="{025669E8-D34A-42E9-AF62-0B7C4EAC9DFC}">
      <dgm:prSet phldrT="[Text]" custT="1"/>
      <dgm:spPr>
        <a:solidFill>
          <a:srgbClr val="FFE600"/>
        </a:solidFill>
        <a:ln>
          <a:solidFill>
            <a:schemeClr val="tx1"/>
          </a:solidFill>
        </a:ln>
      </dgm:spPr>
      <dgm:t>
        <a:bodyPr/>
        <a:lstStyle/>
        <a:p>
          <a:r>
            <a:rPr lang="en-IN" sz="2400" b="1">
              <a:latin typeface="EY interstate"/>
            </a:rPr>
            <a:t>Chart of Accounts</a:t>
          </a:r>
        </a:p>
      </dgm:t>
    </dgm:pt>
    <dgm:pt modelId="{40BF4361-ECA5-449F-BDCD-2F516BD58FF1}" type="parTrans" cxnId="{22F2CA58-948E-4B03-BE6B-2DFC70FADF7C}">
      <dgm:prSet/>
      <dgm:spPr/>
      <dgm:t>
        <a:bodyPr/>
        <a:lstStyle/>
        <a:p>
          <a:endParaRPr lang="en-IN"/>
        </a:p>
      </dgm:t>
    </dgm:pt>
    <dgm:pt modelId="{C17EAA0E-03CB-4118-B0B2-7A552F2FD4CD}" type="sibTrans" cxnId="{22F2CA58-948E-4B03-BE6B-2DFC70FADF7C}">
      <dgm:prSet/>
      <dgm:spPr/>
      <dgm:t>
        <a:bodyPr/>
        <a:lstStyle/>
        <a:p>
          <a:endParaRPr lang="en-IN"/>
        </a:p>
      </dgm:t>
    </dgm:pt>
    <dgm:pt modelId="{3EEDF0CE-9F41-4691-81A9-B91296ED9227}">
      <dgm:prSet phldrT="[Text]" custT="1"/>
      <dgm:spPr>
        <a:solidFill>
          <a:srgbClr val="FFE600"/>
        </a:solidFill>
        <a:ln>
          <a:solidFill>
            <a:schemeClr val="tx1"/>
          </a:solidFill>
        </a:ln>
      </dgm:spPr>
      <dgm:t>
        <a:bodyPr/>
        <a:lstStyle/>
        <a:p>
          <a:pPr algn="ctr"/>
          <a:r>
            <a:rPr lang="en-IN" sz="1400" b="1">
              <a:latin typeface="EY interstate"/>
            </a:rPr>
            <a:t>Policies</a:t>
          </a:r>
        </a:p>
      </dgm:t>
    </dgm:pt>
    <dgm:pt modelId="{8A819FBB-D85C-4C43-BB07-C9B32FED5F5C}" type="parTrans" cxnId="{871CF21A-D214-463E-AE63-AD15B0DE933A}">
      <dgm:prSet/>
      <dgm:spPr/>
      <dgm:t>
        <a:bodyPr/>
        <a:lstStyle/>
        <a:p>
          <a:endParaRPr lang="en-IN"/>
        </a:p>
      </dgm:t>
    </dgm:pt>
    <dgm:pt modelId="{B12DD409-58DB-4B65-A426-F1DD0E91F1A4}" type="sibTrans" cxnId="{871CF21A-D214-463E-AE63-AD15B0DE933A}">
      <dgm:prSet/>
      <dgm:spPr/>
      <dgm:t>
        <a:bodyPr/>
        <a:lstStyle/>
        <a:p>
          <a:endParaRPr lang="en-IN"/>
        </a:p>
      </dgm:t>
    </dgm:pt>
    <dgm:pt modelId="{9ABC4E97-906B-4EFE-855F-9CF59E5731C5}">
      <dgm:prSet phldrT="[Text]" custT="1"/>
      <dgm:spPr>
        <a:solidFill>
          <a:srgbClr val="FFE600"/>
        </a:solidFill>
        <a:ln>
          <a:solidFill>
            <a:schemeClr val="tx1"/>
          </a:solidFill>
        </a:ln>
      </dgm:spPr>
      <dgm:t>
        <a:bodyPr/>
        <a:lstStyle/>
        <a:p>
          <a:r>
            <a:rPr lang="en-IN" sz="2000" b="1">
              <a:latin typeface="EY interstate"/>
            </a:rPr>
            <a:t>R2R</a:t>
          </a:r>
        </a:p>
      </dgm:t>
    </dgm:pt>
    <dgm:pt modelId="{4C57727B-EA1E-4084-9D0F-BD9B79F78393}" type="parTrans" cxnId="{FC96869C-E50C-4ABC-8E8A-EED3B8F8E2FD}">
      <dgm:prSet/>
      <dgm:spPr/>
      <dgm:t>
        <a:bodyPr/>
        <a:lstStyle/>
        <a:p>
          <a:endParaRPr lang="en-IN"/>
        </a:p>
      </dgm:t>
    </dgm:pt>
    <dgm:pt modelId="{FDC29584-BE94-4BDB-A1D8-C9C66E0530C1}" type="sibTrans" cxnId="{FC96869C-E50C-4ABC-8E8A-EED3B8F8E2FD}">
      <dgm:prSet/>
      <dgm:spPr/>
      <dgm:t>
        <a:bodyPr/>
        <a:lstStyle/>
        <a:p>
          <a:endParaRPr lang="en-IN"/>
        </a:p>
      </dgm:t>
    </dgm:pt>
    <dgm:pt modelId="{12B6DEC7-A06B-4A6E-9C5C-9627EF577267}" type="pres">
      <dgm:prSet presAssocID="{27C642DB-31E9-4675-81B0-C59BA8B004E0}" presName="Name0" presStyleCnt="0">
        <dgm:presLayoutVars>
          <dgm:dir/>
          <dgm:animLvl val="lvl"/>
          <dgm:resizeHandles val="exact"/>
        </dgm:presLayoutVars>
      </dgm:prSet>
      <dgm:spPr/>
    </dgm:pt>
    <dgm:pt modelId="{11399A0D-9102-44C2-BB55-A00958D839C3}" type="pres">
      <dgm:prSet presAssocID="{025669E8-D34A-42E9-AF62-0B7C4EAC9DFC}" presName="Name8" presStyleCnt="0"/>
      <dgm:spPr/>
    </dgm:pt>
    <dgm:pt modelId="{AF62A5AC-7BC0-4007-877C-EB5187CA0466}" type="pres">
      <dgm:prSet presAssocID="{025669E8-D34A-42E9-AF62-0B7C4EAC9DFC}" presName="level" presStyleLbl="node1" presStyleIdx="0" presStyleCnt="3" custLinFactNeighborX="-821" custLinFactNeighborY="-3822">
        <dgm:presLayoutVars>
          <dgm:chMax val="1"/>
          <dgm:bulletEnabled val="1"/>
        </dgm:presLayoutVars>
      </dgm:prSet>
      <dgm:spPr/>
    </dgm:pt>
    <dgm:pt modelId="{82C90CCD-F225-444B-8835-CDDFE7292933}" type="pres">
      <dgm:prSet presAssocID="{025669E8-D34A-42E9-AF62-0B7C4EAC9DFC}" presName="levelTx" presStyleLbl="revTx" presStyleIdx="0" presStyleCnt="0">
        <dgm:presLayoutVars>
          <dgm:chMax val="1"/>
          <dgm:bulletEnabled val="1"/>
        </dgm:presLayoutVars>
      </dgm:prSet>
      <dgm:spPr/>
    </dgm:pt>
    <dgm:pt modelId="{7D835880-961A-4ED9-9D24-27CF8973AD93}" type="pres">
      <dgm:prSet presAssocID="{9ABC4E97-906B-4EFE-855F-9CF59E5731C5}" presName="Name8" presStyleCnt="0"/>
      <dgm:spPr/>
    </dgm:pt>
    <dgm:pt modelId="{781207FF-5AA1-42B8-A785-6AB61AB9FBC3}" type="pres">
      <dgm:prSet presAssocID="{9ABC4E97-906B-4EFE-855F-9CF59E5731C5}" presName="level" presStyleLbl="node1" presStyleIdx="1" presStyleCnt="3">
        <dgm:presLayoutVars>
          <dgm:chMax val="1"/>
          <dgm:bulletEnabled val="1"/>
        </dgm:presLayoutVars>
      </dgm:prSet>
      <dgm:spPr/>
    </dgm:pt>
    <dgm:pt modelId="{7D0F9858-C5F1-478D-8CEF-21D30022E6DE}" type="pres">
      <dgm:prSet presAssocID="{9ABC4E97-906B-4EFE-855F-9CF59E5731C5}" presName="levelTx" presStyleLbl="revTx" presStyleIdx="0" presStyleCnt="0">
        <dgm:presLayoutVars>
          <dgm:chMax val="1"/>
          <dgm:bulletEnabled val="1"/>
        </dgm:presLayoutVars>
      </dgm:prSet>
      <dgm:spPr/>
    </dgm:pt>
    <dgm:pt modelId="{0D4D2331-D611-438B-BA37-7E9328024AC3}" type="pres">
      <dgm:prSet presAssocID="{3EEDF0CE-9F41-4691-81A9-B91296ED9227}" presName="Name8" presStyleCnt="0"/>
      <dgm:spPr/>
    </dgm:pt>
    <dgm:pt modelId="{65A2552A-8DD6-4E57-91C2-AEBF2ECE11D0}" type="pres">
      <dgm:prSet presAssocID="{3EEDF0CE-9F41-4691-81A9-B91296ED9227}" presName="level" presStyleLbl="node1" presStyleIdx="2" presStyleCnt="3">
        <dgm:presLayoutVars>
          <dgm:chMax val="1"/>
          <dgm:bulletEnabled val="1"/>
        </dgm:presLayoutVars>
      </dgm:prSet>
      <dgm:spPr/>
    </dgm:pt>
    <dgm:pt modelId="{0BE65E72-8ABB-4C66-97C1-FD309842B96A}" type="pres">
      <dgm:prSet presAssocID="{3EEDF0CE-9F41-4691-81A9-B91296ED9227}" presName="levelTx" presStyleLbl="revTx" presStyleIdx="0" presStyleCnt="0">
        <dgm:presLayoutVars>
          <dgm:chMax val="1"/>
          <dgm:bulletEnabled val="1"/>
        </dgm:presLayoutVars>
      </dgm:prSet>
      <dgm:spPr/>
    </dgm:pt>
  </dgm:ptLst>
  <dgm:cxnLst>
    <dgm:cxn modelId="{871CF21A-D214-463E-AE63-AD15B0DE933A}" srcId="{27C642DB-31E9-4675-81B0-C59BA8B004E0}" destId="{3EEDF0CE-9F41-4691-81A9-B91296ED9227}" srcOrd="2" destOrd="0" parTransId="{8A819FBB-D85C-4C43-BB07-C9B32FED5F5C}" sibTransId="{B12DD409-58DB-4B65-A426-F1DD0E91F1A4}"/>
    <dgm:cxn modelId="{EA10D521-9709-48E7-9F09-38FC6CC86059}" type="presOf" srcId="{025669E8-D34A-42E9-AF62-0B7C4EAC9DFC}" destId="{82C90CCD-F225-444B-8835-CDDFE7292933}" srcOrd="1" destOrd="0" presId="urn:microsoft.com/office/officeart/2005/8/layout/pyramid3"/>
    <dgm:cxn modelId="{25F07E68-F446-4F4F-8450-F31EADB97BF1}" type="presOf" srcId="{025669E8-D34A-42E9-AF62-0B7C4EAC9DFC}" destId="{AF62A5AC-7BC0-4007-877C-EB5187CA0466}" srcOrd="0" destOrd="0" presId="urn:microsoft.com/office/officeart/2005/8/layout/pyramid3"/>
    <dgm:cxn modelId="{8CC9AB4B-3236-493E-9772-B855C7AEA20B}" type="presOf" srcId="{3EEDF0CE-9F41-4691-81A9-B91296ED9227}" destId="{65A2552A-8DD6-4E57-91C2-AEBF2ECE11D0}" srcOrd="0" destOrd="0" presId="urn:microsoft.com/office/officeart/2005/8/layout/pyramid3"/>
    <dgm:cxn modelId="{3112C350-91D2-4548-BB2F-34C6CEC4DA03}" type="presOf" srcId="{9ABC4E97-906B-4EFE-855F-9CF59E5731C5}" destId="{7D0F9858-C5F1-478D-8CEF-21D30022E6DE}" srcOrd="1" destOrd="0" presId="urn:microsoft.com/office/officeart/2005/8/layout/pyramid3"/>
    <dgm:cxn modelId="{22F2CA58-948E-4B03-BE6B-2DFC70FADF7C}" srcId="{27C642DB-31E9-4675-81B0-C59BA8B004E0}" destId="{025669E8-D34A-42E9-AF62-0B7C4EAC9DFC}" srcOrd="0" destOrd="0" parTransId="{40BF4361-ECA5-449F-BDCD-2F516BD58FF1}" sibTransId="{C17EAA0E-03CB-4118-B0B2-7A552F2FD4CD}"/>
    <dgm:cxn modelId="{FC96869C-E50C-4ABC-8E8A-EED3B8F8E2FD}" srcId="{27C642DB-31E9-4675-81B0-C59BA8B004E0}" destId="{9ABC4E97-906B-4EFE-855F-9CF59E5731C5}" srcOrd="1" destOrd="0" parTransId="{4C57727B-EA1E-4084-9D0F-BD9B79F78393}" sibTransId="{FDC29584-BE94-4BDB-A1D8-C9C66E0530C1}"/>
    <dgm:cxn modelId="{0F5A959C-3824-4290-9EE2-FB48F5FBF184}" type="presOf" srcId="{9ABC4E97-906B-4EFE-855F-9CF59E5731C5}" destId="{781207FF-5AA1-42B8-A785-6AB61AB9FBC3}" srcOrd="0" destOrd="0" presId="urn:microsoft.com/office/officeart/2005/8/layout/pyramid3"/>
    <dgm:cxn modelId="{B9B206C7-3C92-47B1-B546-DF7E2C28BCFA}" type="presOf" srcId="{27C642DB-31E9-4675-81B0-C59BA8B004E0}" destId="{12B6DEC7-A06B-4A6E-9C5C-9627EF577267}" srcOrd="0" destOrd="0" presId="urn:microsoft.com/office/officeart/2005/8/layout/pyramid3"/>
    <dgm:cxn modelId="{1F5221C9-EC75-4350-A3DC-D9EB186CEBE8}" type="presOf" srcId="{3EEDF0CE-9F41-4691-81A9-B91296ED9227}" destId="{0BE65E72-8ABB-4C66-97C1-FD309842B96A}" srcOrd="1" destOrd="0" presId="urn:microsoft.com/office/officeart/2005/8/layout/pyramid3"/>
    <dgm:cxn modelId="{61E908F1-D7FA-4C36-A1C3-451E743FC061}" type="presParOf" srcId="{12B6DEC7-A06B-4A6E-9C5C-9627EF577267}" destId="{11399A0D-9102-44C2-BB55-A00958D839C3}" srcOrd="0" destOrd="0" presId="urn:microsoft.com/office/officeart/2005/8/layout/pyramid3"/>
    <dgm:cxn modelId="{5282EC05-2200-47CF-9BF9-A5D1241E729C}" type="presParOf" srcId="{11399A0D-9102-44C2-BB55-A00958D839C3}" destId="{AF62A5AC-7BC0-4007-877C-EB5187CA0466}" srcOrd="0" destOrd="0" presId="urn:microsoft.com/office/officeart/2005/8/layout/pyramid3"/>
    <dgm:cxn modelId="{B2BB43E7-C2D9-4A81-B6F9-FFBFC88E9973}" type="presParOf" srcId="{11399A0D-9102-44C2-BB55-A00958D839C3}" destId="{82C90CCD-F225-444B-8835-CDDFE7292933}" srcOrd="1" destOrd="0" presId="urn:microsoft.com/office/officeart/2005/8/layout/pyramid3"/>
    <dgm:cxn modelId="{AAC02FFF-1405-4702-BB5E-E7A262EF0D36}" type="presParOf" srcId="{12B6DEC7-A06B-4A6E-9C5C-9627EF577267}" destId="{7D835880-961A-4ED9-9D24-27CF8973AD93}" srcOrd="1" destOrd="0" presId="urn:microsoft.com/office/officeart/2005/8/layout/pyramid3"/>
    <dgm:cxn modelId="{D264CDF7-4D08-4242-901A-F21716E38678}" type="presParOf" srcId="{7D835880-961A-4ED9-9D24-27CF8973AD93}" destId="{781207FF-5AA1-42B8-A785-6AB61AB9FBC3}" srcOrd="0" destOrd="0" presId="urn:microsoft.com/office/officeart/2005/8/layout/pyramid3"/>
    <dgm:cxn modelId="{D8C4495C-4782-4857-B763-C5A10CF458A4}" type="presParOf" srcId="{7D835880-961A-4ED9-9D24-27CF8973AD93}" destId="{7D0F9858-C5F1-478D-8CEF-21D30022E6DE}" srcOrd="1" destOrd="0" presId="urn:microsoft.com/office/officeart/2005/8/layout/pyramid3"/>
    <dgm:cxn modelId="{C7FDAAC7-5380-41C6-9D77-42EFC22A47ED}" type="presParOf" srcId="{12B6DEC7-A06B-4A6E-9C5C-9627EF577267}" destId="{0D4D2331-D611-438B-BA37-7E9328024AC3}" srcOrd="2" destOrd="0" presId="urn:microsoft.com/office/officeart/2005/8/layout/pyramid3"/>
    <dgm:cxn modelId="{27946AD2-CCEC-447B-85A8-CF29A485DA86}" type="presParOf" srcId="{0D4D2331-D611-438B-BA37-7E9328024AC3}" destId="{65A2552A-8DD6-4E57-91C2-AEBF2ECE11D0}" srcOrd="0" destOrd="0" presId="urn:microsoft.com/office/officeart/2005/8/layout/pyramid3"/>
    <dgm:cxn modelId="{951FB861-F813-4E61-9112-A6EE0ACA6EF8}" type="presParOf" srcId="{0D4D2331-D611-438B-BA37-7E9328024AC3}" destId="{0BE65E72-8ABB-4C66-97C1-FD309842B96A}" srcOrd="1" destOrd="0" presId="urn:microsoft.com/office/officeart/2005/8/layout/pyramid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280AE85F-5FA4-4C73-9C44-3B759646DB9C}" type="doc">
      <dgm:prSet loTypeId="urn:microsoft.com/office/officeart/2005/8/layout/StepDownProcess" loCatId="process" qsTypeId="urn:microsoft.com/office/officeart/2005/8/quickstyle/simple1" qsCatId="simple" csTypeId="urn:microsoft.com/office/officeart/2005/8/colors/accent1_2" csCatId="accent1" phldr="1"/>
      <dgm:spPr/>
      <dgm:t>
        <a:bodyPr/>
        <a:lstStyle/>
        <a:p>
          <a:endParaRPr lang="en-IN"/>
        </a:p>
      </dgm:t>
    </dgm:pt>
    <dgm:pt modelId="{9450D49D-FE22-41B6-96F9-4E5E164ED8B4}">
      <dgm:prSet phldrT="[Text]" custT="1"/>
      <dgm:spPr>
        <a:noFill/>
        <a:ln>
          <a:solidFill>
            <a:srgbClr val="FFFF00"/>
          </a:solidFill>
        </a:ln>
      </dgm:spPr>
      <dgm:t>
        <a:bodyPr/>
        <a:lstStyle/>
        <a:p>
          <a:r>
            <a:rPr lang="en-IN" sz="800" dirty="0">
              <a:solidFill>
                <a:schemeClr val="bg1"/>
              </a:solidFill>
              <a:latin typeface="EYInterstate" panose="02000503020000020004" pitchFamily="2" charset="0"/>
            </a:rPr>
            <a:t>Initial Recognition</a:t>
          </a:r>
          <a:endParaRPr lang="en-IN" sz="800" dirty="0"/>
        </a:p>
      </dgm:t>
    </dgm:pt>
    <dgm:pt modelId="{75F4A612-D76A-4B8A-AC23-EB34E2E5130A}" type="parTrans" cxnId="{48BB84F8-D997-48D3-A02E-1386A6366C01}">
      <dgm:prSet/>
      <dgm:spPr/>
      <dgm:t>
        <a:bodyPr/>
        <a:lstStyle/>
        <a:p>
          <a:endParaRPr lang="en-IN"/>
        </a:p>
      </dgm:t>
    </dgm:pt>
    <dgm:pt modelId="{A243C94D-7B26-4D57-A569-79D17C452565}" type="sibTrans" cxnId="{48BB84F8-D997-48D3-A02E-1386A6366C01}">
      <dgm:prSet/>
      <dgm:spPr/>
      <dgm:t>
        <a:bodyPr/>
        <a:lstStyle/>
        <a:p>
          <a:endParaRPr lang="en-IN"/>
        </a:p>
      </dgm:t>
    </dgm:pt>
    <dgm:pt modelId="{A5E1D733-424D-4640-9274-0ED09A090F6A}">
      <dgm:prSet phldrT="[Text]" custT="1"/>
      <dgm:spPr>
        <a:noFill/>
        <a:ln>
          <a:solidFill>
            <a:srgbClr val="FFFF00"/>
          </a:solidFill>
        </a:ln>
      </dgm:spPr>
      <dgm:t>
        <a:bodyPr/>
        <a:lstStyle/>
        <a:p>
          <a:r>
            <a:rPr lang="en-IN" sz="800">
              <a:solidFill>
                <a:schemeClr val="bg1"/>
              </a:solidFill>
              <a:latin typeface="EYInterstate" panose="02000503020000020004" pitchFamily="2" charset="0"/>
            </a:rPr>
            <a:t>Depreciation</a:t>
          </a:r>
          <a:endParaRPr lang="en-IN" sz="800"/>
        </a:p>
      </dgm:t>
    </dgm:pt>
    <dgm:pt modelId="{D64017A9-FEF8-467F-AD44-C866E981C808}" type="parTrans" cxnId="{7AE88A19-A813-485E-8EEE-BCE13649DF78}">
      <dgm:prSet/>
      <dgm:spPr/>
      <dgm:t>
        <a:bodyPr/>
        <a:lstStyle/>
        <a:p>
          <a:endParaRPr lang="en-IN"/>
        </a:p>
      </dgm:t>
    </dgm:pt>
    <dgm:pt modelId="{9C910F1D-19A6-4B68-A110-C56E2556EF2D}" type="sibTrans" cxnId="{7AE88A19-A813-485E-8EEE-BCE13649DF78}">
      <dgm:prSet/>
      <dgm:spPr/>
      <dgm:t>
        <a:bodyPr/>
        <a:lstStyle/>
        <a:p>
          <a:endParaRPr lang="en-IN"/>
        </a:p>
      </dgm:t>
    </dgm:pt>
    <dgm:pt modelId="{6569F40F-04EB-4F2D-A996-8CEE944BE932}">
      <dgm:prSet phldrT="[Text]" custT="1"/>
      <dgm:spPr/>
      <dgm:t>
        <a:bodyPr/>
        <a:lstStyle/>
        <a:p>
          <a:endParaRPr lang="en-IN" sz="800"/>
        </a:p>
      </dgm:t>
    </dgm:pt>
    <dgm:pt modelId="{11D43999-0AB2-437A-B02E-ADE1A3BBFE31}" type="parTrans" cxnId="{732C03B9-63F1-4A38-B124-D08EA2EAEF70}">
      <dgm:prSet/>
      <dgm:spPr/>
      <dgm:t>
        <a:bodyPr/>
        <a:lstStyle/>
        <a:p>
          <a:endParaRPr lang="en-IN"/>
        </a:p>
      </dgm:t>
    </dgm:pt>
    <dgm:pt modelId="{744F578E-A479-4844-8040-C4421E0610DD}" type="sibTrans" cxnId="{732C03B9-63F1-4A38-B124-D08EA2EAEF70}">
      <dgm:prSet/>
      <dgm:spPr/>
      <dgm:t>
        <a:bodyPr/>
        <a:lstStyle/>
        <a:p>
          <a:endParaRPr lang="en-IN"/>
        </a:p>
      </dgm:t>
    </dgm:pt>
    <dgm:pt modelId="{0C81B2E7-5EF7-459A-A61B-02CDC743E341}">
      <dgm:prSet phldrT="[Text]" custT="1"/>
      <dgm:spPr>
        <a:noFill/>
        <a:ln>
          <a:solidFill>
            <a:srgbClr val="FFFF00"/>
          </a:solidFill>
        </a:ln>
      </dgm:spPr>
      <dgm:t>
        <a:bodyPr/>
        <a:lstStyle/>
        <a:p>
          <a:r>
            <a:rPr lang="en-IN" sz="800">
              <a:solidFill>
                <a:schemeClr val="bg1"/>
              </a:solidFill>
              <a:latin typeface="EYInterstate" panose="02000503020000020004" pitchFamily="2" charset="0"/>
            </a:rPr>
            <a:t>Impairment</a:t>
          </a:r>
          <a:endParaRPr lang="en-IN" sz="800"/>
        </a:p>
      </dgm:t>
    </dgm:pt>
    <dgm:pt modelId="{AD965E57-102B-4A18-868A-9F572A2D68CE}" type="parTrans" cxnId="{DE1AA23B-538B-472B-B0CF-A9354628131A}">
      <dgm:prSet/>
      <dgm:spPr/>
      <dgm:t>
        <a:bodyPr/>
        <a:lstStyle/>
        <a:p>
          <a:endParaRPr lang="en-IN"/>
        </a:p>
      </dgm:t>
    </dgm:pt>
    <dgm:pt modelId="{6C849746-6224-432B-A493-FC846222F2D9}" type="sibTrans" cxnId="{DE1AA23B-538B-472B-B0CF-A9354628131A}">
      <dgm:prSet/>
      <dgm:spPr/>
      <dgm:t>
        <a:bodyPr/>
        <a:lstStyle/>
        <a:p>
          <a:endParaRPr lang="en-IN"/>
        </a:p>
      </dgm:t>
    </dgm:pt>
    <dgm:pt modelId="{5A393A82-2956-4AC3-865C-C64013F6231B}">
      <dgm:prSet phldrT="[Text]" custT="1"/>
      <dgm:spPr>
        <a:noFill/>
        <a:ln>
          <a:solidFill>
            <a:srgbClr val="FFFF00"/>
          </a:solidFill>
        </a:ln>
      </dgm:spPr>
      <dgm:t>
        <a:bodyPr/>
        <a:lstStyle/>
        <a:p>
          <a:r>
            <a:rPr lang="en-IN" sz="800">
              <a:latin typeface="EYInterstate" panose="02000503020000020004" pitchFamily="2" charset="0"/>
            </a:rPr>
            <a:t>Disposal</a:t>
          </a:r>
          <a:endParaRPr lang="en-IN" sz="400">
            <a:latin typeface="EYInterstate" panose="02000503020000020004" pitchFamily="2" charset="0"/>
          </a:endParaRPr>
        </a:p>
      </dgm:t>
    </dgm:pt>
    <dgm:pt modelId="{401F157B-A579-4702-AC92-698D8803A8FF}" type="parTrans" cxnId="{5EDE0C86-CC31-46D2-A625-CC351DD3B0EA}">
      <dgm:prSet/>
      <dgm:spPr/>
      <dgm:t>
        <a:bodyPr/>
        <a:lstStyle/>
        <a:p>
          <a:endParaRPr lang="en-IN"/>
        </a:p>
      </dgm:t>
    </dgm:pt>
    <dgm:pt modelId="{0AF828F6-CF26-4602-B84E-D2A8F125A9FC}" type="sibTrans" cxnId="{5EDE0C86-CC31-46D2-A625-CC351DD3B0EA}">
      <dgm:prSet/>
      <dgm:spPr/>
      <dgm:t>
        <a:bodyPr/>
        <a:lstStyle/>
        <a:p>
          <a:endParaRPr lang="en-IN"/>
        </a:p>
      </dgm:t>
    </dgm:pt>
    <dgm:pt modelId="{502408D6-AF3F-4171-B7A7-8B238332DA4E}" type="pres">
      <dgm:prSet presAssocID="{280AE85F-5FA4-4C73-9C44-3B759646DB9C}" presName="rootnode" presStyleCnt="0">
        <dgm:presLayoutVars>
          <dgm:chMax/>
          <dgm:chPref/>
          <dgm:dir/>
          <dgm:animLvl val="lvl"/>
        </dgm:presLayoutVars>
      </dgm:prSet>
      <dgm:spPr/>
    </dgm:pt>
    <dgm:pt modelId="{47D26FBB-4E58-4775-AC13-1F068F7763D5}" type="pres">
      <dgm:prSet presAssocID="{9450D49D-FE22-41B6-96F9-4E5E164ED8B4}" presName="composite" presStyleCnt="0"/>
      <dgm:spPr/>
    </dgm:pt>
    <dgm:pt modelId="{1BCB8DAF-348E-4E93-A7EE-4BCF092BC602}" type="pres">
      <dgm:prSet presAssocID="{9450D49D-FE22-41B6-96F9-4E5E164ED8B4}" presName="bentUpArrow1" presStyleLbl="alignImgPlace1" presStyleIdx="0" presStyleCnt="3"/>
      <dgm:spPr>
        <a:solidFill>
          <a:srgbClr val="FFFF00"/>
        </a:solidFill>
        <a:ln>
          <a:solidFill>
            <a:srgbClr val="FFFF00"/>
          </a:solidFill>
        </a:ln>
      </dgm:spPr>
    </dgm:pt>
    <dgm:pt modelId="{5FBD7F25-4647-4618-9B58-4E925CF52B79}" type="pres">
      <dgm:prSet presAssocID="{9450D49D-FE22-41B6-96F9-4E5E164ED8B4}" presName="ParentText" presStyleLbl="node1" presStyleIdx="0" presStyleCnt="4">
        <dgm:presLayoutVars>
          <dgm:chMax val="1"/>
          <dgm:chPref val="1"/>
          <dgm:bulletEnabled val="1"/>
        </dgm:presLayoutVars>
      </dgm:prSet>
      <dgm:spPr/>
    </dgm:pt>
    <dgm:pt modelId="{073784EE-8B6E-47AD-8997-ED224EE27C2C}" type="pres">
      <dgm:prSet presAssocID="{9450D49D-FE22-41B6-96F9-4E5E164ED8B4}" presName="ChildText" presStyleLbl="revTx" presStyleIdx="0" presStyleCnt="3">
        <dgm:presLayoutVars>
          <dgm:chMax val="0"/>
          <dgm:chPref val="0"/>
          <dgm:bulletEnabled val="1"/>
        </dgm:presLayoutVars>
      </dgm:prSet>
      <dgm:spPr/>
    </dgm:pt>
    <dgm:pt modelId="{DBB4CC4E-C369-4133-A098-84AAFBCF4A93}" type="pres">
      <dgm:prSet presAssocID="{A243C94D-7B26-4D57-A569-79D17C452565}" presName="sibTrans" presStyleCnt="0"/>
      <dgm:spPr/>
    </dgm:pt>
    <dgm:pt modelId="{4A4AB0DE-CCFA-4404-A226-E4C0ABF53E30}" type="pres">
      <dgm:prSet presAssocID="{A5E1D733-424D-4640-9274-0ED09A090F6A}" presName="composite" presStyleCnt="0"/>
      <dgm:spPr/>
    </dgm:pt>
    <dgm:pt modelId="{43A81998-46A3-4002-BA8F-ACC48B06B925}" type="pres">
      <dgm:prSet presAssocID="{A5E1D733-424D-4640-9274-0ED09A090F6A}" presName="bentUpArrow1" presStyleLbl="alignImgPlace1" presStyleIdx="1" presStyleCnt="3"/>
      <dgm:spPr>
        <a:solidFill>
          <a:srgbClr val="FFFF00"/>
        </a:solidFill>
        <a:ln>
          <a:solidFill>
            <a:srgbClr val="FFFF00"/>
          </a:solidFill>
        </a:ln>
      </dgm:spPr>
    </dgm:pt>
    <dgm:pt modelId="{3F842CA1-7DEC-42C6-84B7-AE4B91848E93}" type="pres">
      <dgm:prSet presAssocID="{A5E1D733-424D-4640-9274-0ED09A090F6A}" presName="ParentText" presStyleLbl="node1" presStyleIdx="1" presStyleCnt="4">
        <dgm:presLayoutVars>
          <dgm:chMax val="1"/>
          <dgm:chPref val="1"/>
          <dgm:bulletEnabled val="1"/>
        </dgm:presLayoutVars>
      </dgm:prSet>
      <dgm:spPr/>
    </dgm:pt>
    <dgm:pt modelId="{19E17E06-7536-438A-8FA4-07CC6F8E96FF}" type="pres">
      <dgm:prSet presAssocID="{A5E1D733-424D-4640-9274-0ED09A090F6A}" presName="ChildText" presStyleLbl="revTx" presStyleIdx="1" presStyleCnt="3">
        <dgm:presLayoutVars>
          <dgm:chMax val="0"/>
          <dgm:chPref val="0"/>
          <dgm:bulletEnabled val="1"/>
        </dgm:presLayoutVars>
      </dgm:prSet>
      <dgm:spPr/>
    </dgm:pt>
    <dgm:pt modelId="{5680A4CC-8815-44F7-9749-092CAB2B311C}" type="pres">
      <dgm:prSet presAssocID="{9C910F1D-19A6-4B68-A110-C56E2556EF2D}" presName="sibTrans" presStyleCnt="0"/>
      <dgm:spPr/>
    </dgm:pt>
    <dgm:pt modelId="{FC39A0CF-3B97-47C0-A613-3FBF9614BD7B}" type="pres">
      <dgm:prSet presAssocID="{0C81B2E7-5EF7-459A-A61B-02CDC743E341}" presName="composite" presStyleCnt="0"/>
      <dgm:spPr/>
    </dgm:pt>
    <dgm:pt modelId="{C17C57FB-CAB7-4C47-BDA9-52F240637DBC}" type="pres">
      <dgm:prSet presAssocID="{0C81B2E7-5EF7-459A-A61B-02CDC743E341}" presName="bentUpArrow1" presStyleLbl="alignImgPlace1" presStyleIdx="2" presStyleCnt="3"/>
      <dgm:spPr>
        <a:solidFill>
          <a:srgbClr val="FFFF00"/>
        </a:solidFill>
        <a:ln>
          <a:solidFill>
            <a:srgbClr val="FFFF00"/>
          </a:solidFill>
        </a:ln>
      </dgm:spPr>
    </dgm:pt>
    <dgm:pt modelId="{D95C442F-A56B-4908-BB8F-8CCFBAB6466F}" type="pres">
      <dgm:prSet presAssocID="{0C81B2E7-5EF7-459A-A61B-02CDC743E341}" presName="ParentText" presStyleLbl="node1" presStyleIdx="2" presStyleCnt="4">
        <dgm:presLayoutVars>
          <dgm:chMax val="1"/>
          <dgm:chPref val="1"/>
          <dgm:bulletEnabled val="1"/>
        </dgm:presLayoutVars>
      </dgm:prSet>
      <dgm:spPr/>
    </dgm:pt>
    <dgm:pt modelId="{23EECB38-53F5-4ADE-AA80-AF0002892AFB}" type="pres">
      <dgm:prSet presAssocID="{0C81B2E7-5EF7-459A-A61B-02CDC743E341}" presName="ChildText" presStyleLbl="revTx" presStyleIdx="2" presStyleCnt="3">
        <dgm:presLayoutVars>
          <dgm:chMax val="0"/>
          <dgm:chPref val="0"/>
          <dgm:bulletEnabled val="1"/>
        </dgm:presLayoutVars>
      </dgm:prSet>
      <dgm:spPr/>
    </dgm:pt>
    <dgm:pt modelId="{6F82716B-9C58-43AF-8C54-5E828145A0C0}" type="pres">
      <dgm:prSet presAssocID="{6C849746-6224-432B-A493-FC846222F2D9}" presName="sibTrans" presStyleCnt="0"/>
      <dgm:spPr/>
    </dgm:pt>
    <dgm:pt modelId="{C90BDD96-E7F3-41DE-9A9F-B1D03C157E40}" type="pres">
      <dgm:prSet presAssocID="{5A393A82-2956-4AC3-865C-C64013F6231B}" presName="composite" presStyleCnt="0"/>
      <dgm:spPr/>
    </dgm:pt>
    <dgm:pt modelId="{58BB0B8F-EA99-4189-858C-07B9412D71D5}" type="pres">
      <dgm:prSet presAssocID="{5A393A82-2956-4AC3-865C-C64013F6231B}" presName="ParentText" presStyleLbl="node1" presStyleIdx="3" presStyleCnt="4">
        <dgm:presLayoutVars>
          <dgm:chMax val="1"/>
          <dgm:chPref val="1"/>
          <dgm:bulletEnabled val="1"/>
        </dgm:presLayoutVars>
      </dgm:prSet>
      <dgm:spPr/>
    </dgm:pt>
  </dgm:ptLst>
  <dgm:cxnLst>
    <dgm:cxn modelId="{8EBD0215-AAED-46DD-BDC0-047D8B2938D4}" type="presOf" srcId="{0C81B2E7-5EF7-459A-A61B-02CDC743E341}" destId="{D95C442F-A56B-4908-BB8F-8CCFBAB6466F}" srcOrd="0" destOrd="0" presId="urn:microsoft.com/office/officeart/2005/8/layout/StepDownProcess"/>
    <dgm:cxn modelId="{7AE88A19-A813-485E-8EEE-BCE13649DF78}" srcId="{280AE85F-5FA4-4C73-9C44-3B759646DB9C}" destId="{A5E1D733-424D-4640-9274-0ED09A090F6A}" srcOrd="1" destOrd="0" parTransId="{D64017A9-FEF8-467F-AD44-C866E981C808}" sibTransId="{9C910F1D-19A6-4B68-A110-C56E2556EF2D}"/>
    <dgm:cxn modelId="{52ED2727-5E55-43DD-B22A-5CFF12925C16}" type="presOf" srcId="{280AE85F-5FA4-4C73-9C44-3B759646DB9C}" destId="{502408D6-AF3F-4171-B7A7-8B238332DA4E}" srcOrd="0" destOrd="0" presId="urn:microsoft.com/office/officeart/2005/8/layout/StepDownProcess"/>
    <dgm:cxn modelId="{DE1AA23B-538B-472B-B0CF-A9354628131A}" srcId="{280AE85F-5FA4-4C73-9C44-3B759646DB9C}" destId="{0C81B2E7-5EF7-459A-A61B-02CDC743E341}" srcOrd="2" destOrd="0" parTransId="{AD965E57-102B-4A18-868A-9F572A2D68CE}" sibTransId="{6C849746-6224-432B-A493-FC846222F2D9}"/>
    <dgm:cxn modelId="{CCDFDF4D-CB85-4154-9485-1A652D4D8123}" type="presOf" srcId="{6569F40F-04EB-4F2D-A996-8CEE944BE932}" destId="{19E17E06-7536-438A-8FA4-07CC6F8E96FF}" srcOrd="0" destOrd="0" presId="urn:microsoft.com/office/officeart/2005/8/layout/StepDownProcess"/>
    <dgm:cxn modelId="{5EDE0C86-CC31-46D2-A625-CC351DD3B0EA}" srcId="{280AE85F-5FA4-4C73-9C44-3B759646DB9C}" destId="{5A393A82-2956-4AC3-865C-C64013F6231B}" srcOrd="3" destOrd="0" parTransId="{401F157B-A579-4702-AC92-698D8803A8FF}" sibTransId="{0AF828F6-CF26-4602-B84E-D2A8F125A9FC}"/>
    <dgm:cxn modelId="{732C03B9-63F1-4A38-B124-D08EA2EAEF70}" srcId="{A5E1D733-424D-4640-9274-0ED09A090F6A}" destId="{6569F40F-04EB-4F2D-A996-8CEE944BE932}" srcOrd="0" destOrd="0" parTransId="{11D43999-0AB2-437A-B02E-ADE1A3BBFE31}" sibTransId="{744F578E-A479-4844-8040-C4421E0610DD}"/>
    <dgm:cxn modelId="{04E382C1-7A6D-438F-B0B9-999372DE493D}" type="presOf" srcId="{A5E1D733-424D-4640-9274-0ED09A090F6A}" destId="{3F842CA1-7DEC-42C6-84B7-AE4B91848E93}" srcOrd="0" destOrd="0" presId="urn:microsoft.com/office/officeart/2005/8/layout/StepDownProcess"/>
    <dgm:cxn modelId="{36A168E9-B304-46DB-BAFD-1066971DB20F}" type="presOf" srcId="{5A393A82-2956-4AC3-865C-C64013F6231B}" destId="{58BB0B8F-EA99-4189-858C-07B9412D71D5}" srcOrd="0" destOrd="0" presId="urn:microsoft.com/office/officeart/2005/8/layout/StepDownProcess"/>
    <dgm:cxn modelId="{AD9899EE-C6A7-4D69-93C0-4F96EBE07BD7}" type="presOf" srcId="{9450D49D-FE22-41B6-96F9-4E5E164ED8B4}" destId="{5FBD7F25-4647-4618-9B58-4E925CF52B79}" srcOrd="0" destOrd="0" presId="urn:microsoft.com/office/officeart/2005/8/layout/StepDownProcess"/>
    <dgm:cxn modelId="{48BB84F8-D997-48D3-A02E-1386A6366C01}" srcId="{280AE85F-5FA4-4C73-9C44-3B759646DB9C}" destId="{9450D49D-FE22-41B6-96F9-4E5E164ED8B4}" srcOrd="0" destOrd="0" parTransId="{75F4A612-D76A-4B8A-AC23-EB34E2E5130A}" sibTransId="{A243C94D-7B26-4D57-A569-79D17C452565}"/>
    <dgm:cxn modelId="{B79F4F49-585B-46C7-9548-3F6686084B67}" type="presParOf" srcId="{502408D6-AF3F-4171-B7A7-8B238332DA4E}" destId="{47D26FBB-4E58-4775-AC13-1F068F7763D5}" srcOrd="0" destOrd="0" presId="urn:microsoft.com/office/officeart/2005/8/layout/StepDownProcess"/>
    <dgm:cxn modelId="{7BC7CBB1-DD97-4170-B230-1C3572C09D93}" type="presParOf" srcId="{47D26FBB-4E58-4775-AC13-1F068F7763D5}" destId="{1BCB8DAF-348E-4E93-A7EE-4BCF092BC602}" srcOrd="0" destOrd="0" presId="urn:microsoft.com/office/officeart/2005/8/layout/StepDownProcess"/>
    <dgm:cxn modelId="{97124757-9BEE-4176-B922-06DD77EBD6D6}" type="presParOf" srcId="{47D26FBB-4E58-4775-AC13-1F068F7763D5}" destId="{5FBD7F25-4647-4618-9B58-4E925CF52B79}" srcOrd="1" destOrd="0" presId="urn:microsoft.com/office/officeart/2005/8/layout/StepDownProcess"/>
    <dgm:cxn modelId="{D54EB69F-3DBC-4E46-8D21-1B31EA6983B3}" type="presParOf" srcId="{47D26FBB-4E58-4775-AC13-1F068F7763D5}" destId="{073784EE-8B6E-47AD-8997-ED224EE27C2C}" srcOrd="2" destOrd="0" presId="urn:microsoft.com/office/officeart/2005/8/layout/StepDownProcess"/>
    <dgm:cxn modelId="{02376F29-1C0D-42D0-BA00-23DDB8A82D14}" type="presParOf" srcId="{502408D6-AF3F-4171-B7A7-8B238332DA4E}" destId="{DBB4CC4E-C369-4133-A098-84AAFBCF4A93}" srcOrd="1" destOrd="0" presId="urn:microsoft.com/office/officeart/2005/8/layout/StepDownProcess"/>
    <dgm:cxn modelId="{8C6D9D0C-E769-49D7-85B0-B6D8BF8933F6}" type="presParOf" srcId="{502408D6-AF3F-4171-B7A7-8B238332DA4E}" destId="{4A4AB0DE-CCFA-4404-A226-E4C0ABF53E30}" srcOrd="2" destOrd="0" presId="urn:microsoft.com/office/officeart/2005/8/layout/StepDownProcess"/>
    <dgm:cxn modelId="{C1732D3A-EBDF-4549-BA02-22BBAF33D384}" type="presParOf" srcId="{4A4AB0DE-CCFA-4404-A226-E4C0ABF53E30}" destId="{43A81998-46A3-4002-BA8F-ACC48B06B925}" srcOrd="0" destOrd="0" presId="urn:microsoft.com/office/officeart/2005/8/layout/StepDownProcess"/>
    <dgm:cxn modelId="{C41B54E6-C8C5-423C-AAB6-C4E9C7ADC7A6}" type="presParOf" srcId="{4A4AB0DE-CCFA-4404-A226-E4C0ABF53E30}" destId="{3F842CA1-7DEC-42C6-84B7-AE4B91848E93}" srcOrd="1" destOrd="0" presId="urn:microsoft.com/office/officeart/2005/8/layout/StepDownProcess"/>
    <dgm:cxn modelId="{E6FA2803-4BBC-4671-990C-10C728311EDC}" type="presParOf" srcId="{4A4AB0DE-CCFA-4404-A226-E4C0ABF53E30}" destId="{19E17E06-7536-438A-8FA4-07CC6F8E96FF}" srcOrd="2" destOrd="0" presId="urn:microsoft.com/office/officeart/2005/8/layout/StepDownProcess"/>
    <dgm:cxn modelId="{ABE8F45E-D6F9-4244-BFD0-C946EC1BE8C9}" type="presParOf" srcId="{502408D6-AF3F-4171-B7A7-8B238332DA4E}" destId="{5680A4CC-8815-44F7-9749-092CAB2B311C}" srcOrd="3" destOrd="0" presId="urn:microsoft.com/office/officeart/2005/8/layout/StepDownProcess"/>
    <dgm:cxn modelId="{D4261A1E-D5A0-4A6B-969C-FF9F00F51A9D}" type="presParOf" srcId="{502408D6-AF3F-4171-B7A7-8B238332DA4E}" destId="{FC39A0CF-3B97-47C0-A613-3FBF9614BD7B}" srcOrd="4" destOrd="0" presId="urn:microsoft.com/office/officeart/2005/8/layout/StepDownProcess"/>
    <dgm:cxn modelId="{A5325B24-C8E4-491F-9065-0AC9729CCFE2}" type="presParOf" srcId="{FC39A0CF-3B97-47C0-A613-3FBF9614BD7B}" destId="{C17C57FB-CAB7-4C47-BDA9-52F240637DBC}" srcOrd="0" destOrd="0" presId="urn:microsoft.com/office/officeart/2005/8/layout/StepDownProcess"/>
    <dgm:cxn modelId="{7E2E506B-1961-4074-87EE-810DB0589039}" type="presParOf" srcId="{FC39A0CF-3B97-47C0-A613-3FBF9614BD7B}" destId="{D95C442F-A56B-4908-BB8F-8CCFBAB6466F}" srcOrd="1" destOrd="0" presId="urn:microsoft.com/office/officeart/2005/8/layout/StepDownProcess"/>
    <dgm:cxn modelId="{B2609B06-7D99-4124-AD56-D4B80AB5A5B2}" type="presParOf" srcId="{FC39A0CF-3B97-47C0-A613-3FBF9614BD7B}" destId="{23EECB38-53F5-4ADE-AA80-AF0002892AFB}" srcOrd="2" destOrd="0" presId="urn:microsoft.com/office/officeart/2005/8/layout/StepDownProcess"/>
    <dgm:cxn modelId="{30166965-1F70-46B8-980C-54CAF9F1A39E}" type="presParOf" srcId="{502408D6-AF3F-4171-B7A7-8B238332DA4E}" destId="{6F82716B-9C58-43AF-8C54-5E828145A0C0}" srcOrd="5" destOrd="0" presId="urn:microsoft.com/office/officeart/2005/8/layout/StepDownProcess"/>
    <dgm:cxn modelId="{BFFE91EF-2E9E-4117-84A0-BA5185CFB733}" type="presParOf" srcId="{502408D6-AF3F-4171-B7A7-8B238332DA4E}" destId="{C90BDD96-E7F3-41DE-9A9F-B1D03C157E40}" srcOrd="6" destOrd="0" presId="urn:microsoft.com/office/officeart/2005/8/layout/StepDownProcess"/>
    <dgm:cxn modelId="{C803B9F9-0056-4017-BE30-C57A9B7499C4}" type="presParOf" srcId="{C90BDD96-E7F3-41DE-9A9F-B1D03C157E40}" destId="{58BB0B8F-EA99-4189-858C-07B9412D71D5}" srcOrd="0" destOrd="0" presId="urn:microsoft.com/office/officeart/2005/8/layout/StepDownProcess"/>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D2E871D0-04B6-4615-B04C-D325AF0E7AB8}" type="doc">
      <dgm:prSet loTypeId="urn:microsoft.com/office/officeart/2005/8/layout/hChevron3" loCatId="process" qsTypeId="urn:microsoft.com/office/officeart/2005/8/quickstyle/simple1" qsCatId="simple" csTypeId="urn:microsoft.com/office/officeart/2005/8/colors/accent1_2" csCatId="accent1" phldr="1"/>
      <dgm:spPr/>
    </dgm:pt>
    <dgm:pt modelId="{85294826-7D14-40DD-9EE0-09B18B4AF1B6}">
      <dgm:prSet phldrT="[Text]" custT="1"/>
      <dgm:spPr>
        <a:noFill/>
        <a:ln>
          <a:solidFill>
            <a:schemeClr val="bg1"/>
          </a:solidFill>
        </a:ln>
      </dgm:spPr>
      <dgm:t>
        <a:bodyPr/>
        <a:lstStyle/>
        <a:p>
          <a:pPr>
            <a:buNone/>
          </a:pPr>
          <a:r>
            <a:rPr lang="en-IN" sz="1100" b="1">
              <a:solidFill>
                <a:srgbClr val="FFFF00"/>
              </a:solidFill>
              <a:latin typeface="EYInterstate Light" panose="02000506000000020004" pitchFamily="2" charset="0"/>
            </a:rPr>
            <a:t>Policy &amp; Governance</a:t>
          </a:r>
        </a:p>
      </dgm:t>
    </dgm:pt>
    <dgm:pt modelId="{37E7B4B4-715D-41E5-A84F-193E0AF0B081}" type="parTrans" cxnId="{26CA1E72-2196-4449-B552-9C0B719A8E26}">
      <dgm:prSet/>
      <dgm:spPr/>
      <dgm:t>
        <a:bodyPr/>
        <a:lstStyle/>
        <a:p>
          <a:endParaRPr lang="en-IN" sz="1200">
            <a:latin typeface="EYInterstate Light" panose="02000506000000020004" pitchFamily="2" charset="0"/>
          </a:endParaRPr>
        </a:p>
      </dgm:t>
    </dgm:pt>
    <dgm:pt modelId="{CED4FC2B-3B4E-4F98-8225-5E4D70CB0706}" type="sibTrans" cxnId="{26CA1E72-2196-4449-B552-9C0B719A8E26}">
      <dgm:prSet/>
      <dgm:spPr/>
      <dgm:t>
        <a:bodyPr/>
        <a:lstStyle/>
        <a:p>
          <a:endParaRPr lang="en-IN" sz="1200">
            <a:latin typeface="EYInterstate Light" panose="02000506000000020004" pitchFamily="2" charset="0"/>
          </a:endParaRPr>
        </a:p>
      </dgm:t>
    </dgm:pt>
    <dgm:pt modelId="{DC9EA0F3-79ED-4428-9E90-AA9DF44A434B}">
      <dgm:prSet phldrT="[Text]" custT="1"/>
      <dgm:spPr>
        <a:noFill/>
        <a:ln>
          <a:solidFill>
            <a:schemeClr val="bg1"/>
          </a:solidFill>
        </a:ln>
      </dgm:spPr>
      <dgm:t>
        <a:bodyPr/>
        <a:lstStyle/>
        <a:p>
          <a:pPr>
            <a:buNone/>
          </a:pPr>
          <a:r>
            <a:rPr lang="en-IN" sz="1100" b="1">
              <a:solidFill>
                <a:srgbClr val="FFFF00"/>
              </a:solidFill>
              <a:latin typeface="EYInterstate Light" panose="02000506000000020004" pitchFamily="2" charset="0"/>
            </a:rPr>
            <a:t>Process &amp; Controls</a:t>
          </a:r>
        </a:p>
      </dgm:t>
    </dgm:pt>
    <dgm:pt modelId="{3280AC7C-D6E4-49AC-9744-6795FF8C686D}" type="parTrans" cxnId="{174B6206-828A-4848-8392-5E54CC2F759E}">
      <dgm:prSet/>
      <dgm:spPr/>
      <dgm:t>
        <a:bodyPr/>
        <a:lstStyle/>
        <a:p>
          <a:endParaRPr lang="en-IN" sz="1200">
            <a:latin typeface="EYInterstate Light" panose="02000506000000020004" pitchFamily="2" charset="0"/>
          </a:endParaRPr>
        </a:p>
      </dgm:t>
    </dgm:pt>
    <dgm:pt modelId="{E64D38C7-ED56-486E-A9E6-117E058B49D4}" type="sibTrans" cxnId="{174B6206-828A-4848-8392-5E54CC2F759E}">
      <dgm:prSet/>
      <dgm:spPr/>
      <dgm:t>
        <a:bodyPr/>
        <a:lstStyle/>
        <a:p>
          <a:endParaRPr lang="en-IN" sz="1200">
            <a:latin typeface="EYInterstate Light" panose="02000506000000020004" pitchFamily="2" charset="0"/>
          </a:endParaRPr>
        </a:p>
      </dgm:t>
    </dgm:pt>
    <dgm:pt modelId="{83866CB9-BE8D-4477-A6A0-E21CB077C6DD}">
      <dgm:prSet phldrT="[Text]" custT="1"/>
      <dgm:spPr>
        <a:noFill/>
        <a:ln>
          <a:solidFill>
            <a:schemeClr val="bg1"/>
          </a:solidFill>
        </a:ln>
      </dgm:spPr>
      <dgm:t>
        <a:bodyPr/>
        <a:lstStyle/>
        <a:p>
          <a:pPr>
            <a:buNone/>
          </a:pPr>
          <a:r>
            <a:rPr lang="en-IN" sz="1100" b="1">
              <a:solidFill>
                <a:srgbClr val="FFFF00"/>
              </a:solidFill>
              <a:latin typeface="EYInterstate Light" panose="02000506000000020004" pitchFamily="2" charset="0"/>
            </a:rPr>
            <a:t>Data &amp; Systems</a:t>
          </a:r>
        </a:p>
      </dgm:t>
    </dgm:pt>
    <dgm:pt modelId="{B1D820D0-346D-437E-B26A-FA2C8C6ABBF8}" type="parTrans" cxnId="{68341334-AC18-4D4A-8D5E-B140191A58BE}">
      <dgm:prSet/>
      <dgm:spPr/>
      <dgm:t>
        <a:bodyPr/>
        <a:lstStyle/>
        <a:p>
          <a:endParaRPr lang="en-IN" sz="1200">
            <a:latin typeface="EYInterstate Light" panose="02000506000000020004" pitchFamily="2" charset="0"/>
          </a:endParaRPr>
        </a:p>
      </dgm:t>
    </dgm:pt>
    <dgm:pt modelId="{2B6B2CDA-52CA-4DCC-BE13-E45917587A52}" type="sibTrans" cxnId="{68341334-AC18-4D4A-8D5E-B140191A58BE}">
      <dgm:prSet/>
      <dgm:spPr/>
      <dgm:t>
        <a:bodyPr/>
        <a:lstStyle/>
        <a:p>
          <a:endParaRPr lang="en-IN" sz="1200">
            <a:latin typeface="EYInterstate Light" panose="02000506000000020004" pitchFamily="2" charset="0"/>
          </a:endParaRPr>
        </a:p>
      </dgm:t>
    </dgm:pt>
    <dgm:pt modelId="{2EA7BDDA-0B61-4D8F-9BEC-9F4AE42593EF}">
      <dgm:prSet phldrT="[Text]" custT="1"/>
      <dgm:spPr>
        <a:noFill/>
        <a:ln>
          <a:solidFill>
            <a:schemeClr val="bg1"/>
          </a:solidFill>
        </a:ln>
      </dgm:spPr>
      <dgm:t>
        <a:bodyPr/>
        <a:lstStyle/>
        <a:p>
          <a:pPr>
            <a:buFont typeface="EYInterstate Light" pitchFamily="2"/>
            <a:buNone/>
          </a:pPr>
          <a:r>
            <a:rPr lang="en-IN" sz="1100" b="1">
              <a:solidFill>
                <a:srgbClr val="FFFF00"/>
              </a:solidFill>
              <a:latin typeface="EYInterstate Light" panose="02000506000000020004" pitchFamily="2" charset="0"/>
            </a:rPr>
            <a:t>Accounting &amp; </a:t>
          </a:r>
          <a:br>
            <a:rPr lang="en-IN" sz="1100" b="1">
              <a:solidFill>
                <a:srgbClr val="FFFF00"/>
              </a:solidFill>
              <a:latin typeface="EYInterstate Light" panose="02000506000000020004" pitchFamily="2" charset="0"/>
            </a:rPr>
          </a:br>
          <a:r>
            <a:rPr lang="en-IN" sz="1100" b="1">
              <a:solidFill>
                <a:srgbClr val="FFFF00"/>
              </a:solidFill>
              <a:latin typeface="EYInterstate Light" panose="02000506000000020004" pitchFamily="2" charset="0"/>
            </a:rPr>
            <a:t>Reporting</a:t>
          </a:r>
        </a:p>
      </dgm:t>
    </dgm:pt>
    <dgm:pt modelId="{02087EE2-E3CC-469F-BC78-25B2579170D8}" type="parTrans" cxnId="{06F81443-1685-4526-BB91-61458DA63A7F}">
      <dgm:prSet/>
      <dgm:spPr/>
      <dgm:t>
        <a:bodyPr/>
        <a:lstStyle/>
        <a:p>
          <a:endParaRPr lang="en-IN" sz="1200">
            <a:latin typeface="EYInterstate Light" panose="02000506000000020004" pitchFamily="2" charset="0"/>
          </a:endParaRPr>
        </a:p>
      </dgm:t>
    </dgm:pt>
    <dgm:pt modelId="{02E08A85-AEAC-4C63-A847-75A6EF7EDE47}" type="sibTrans" cxnId="{06F81443-1685-4526-BB91-61458DA63A7F}">
      <dgm:prSet/>
      <dgm:spPr/>
      <dgm:t>
        <a:bodyPr/>
        <a:lstStyle/>
        <a:p>
          <a:endParaRPr lang="en-IN" sz="1200">
            <a:latin typeface="EYInterstate Light" panose="02000506000000020004" pitchFamily="2" charset="0"/>
          </a:endParaRPr>
        </a:p>
      </dgm:t>
    </dgm:pt>
    <dgm:pt modelId="{0A35405A-BC58-4F48-A0EC-56970DD0FFE6}">
      <dgm:prSet phldrT="[Text]" custT="1"/>
      <dgm:spPr>
        <a:noFill/>
        <a:ln>
          <a:solidFill>
            <a:schemeClr val="bg1"/>
          </a:solidFill>
        </a:ln>
      </dgm:spPr>
      <dgm:t>
        <a:bodyPr/>
        <a:lstStyle/>
        <a:p>
          <a:pPr>
            <a:buFont typeface="EYInterstate Light" pitchFamily="2"/>
            <a:buNone/>
          </a:pPr>
          <a:r>
            <a:rPr lang="en-IN" sz="1100" b="1">
              <a:solidFill>
                <a:srgbClr val="FFFF00"/>
              </a:solidFill>
              <a:latin typeface="EYInterstate Light" panose="02000506000000020004" pitchFamily="2" charset="0"/>
            </a:rPr>
            <a:t>Monitoring &amp; </a:t>
          </a:r>
          <a:br>
            <a:rPr lang="en-IN" sz="1200" b="1">
              <a:solidFill>
                <a:srgbClr val="FFFF00"/>
              </a:solidFill>
              <a:latin typeface="EYInterstate Light" panose="02000506000000020004" pitchFamily="2" charset="0"/>
            </a:rPr>
          </a:br>
          <a:r>
            <a:rPr lang="en-IN" sz="1100" b="1">
              <a:solidFill>
                <a:srgbClr val="FFFF00"/>
              </a:solidFill>
              <a:latin typeface="EYInterstate Light" panose="02000506000000020004" pitchFamily="2" charset="0"/>
            </a:rPr>
            <a:t>Compliance</a:t>
          </a:r>
        </a:p>
      </dgm:t>
    </dgm:pt>
    <dgm:pt modelId="{3740ADED-61CC-475C-9F21-82F9317DEA04}" type="parTrans" cxnId="{067D6784-A3D6-4CE1-9653-CEFB23B667B9}">
      <dgm:prSet/>
      <dgm:spPr/>
      <dgm:t>
        <a:bodyPr/>
        <a:lstStyle/>
        <a:p>
          <a:endParaRPr lang="en-IN" sz="1200">
            <a:latin typeface="EYInterstate Light" panose="02000506000000020004" pitchFamily="2" charset="0"/>
          </a:endParaRPr>
        </a:p>
      </dgm:t>
    </dgm:pt>
    <dgm:pt modelId="{9221BA13-F31A-460F-9B45-19D6C8827A4F}" type="sibTrans" cxnId="{067D6784-A3D6-4CE1-9653-CEFB23B667B9}">
      <dgm:prSet/>
      <dgm:spPr/>
      <dgm:t>
        <a:bodyPr/>
        <a:lstStyle/>
        <a:p>
          <a:endParaRPr lang="en-IN" sz="1200">
            <a:latin typeface="EYInterstate Light" panose="02000506000000020004" pitchFamily="2" charset="0"/>
          </a:endParaRPr>
        </a:p>
      </dgm:t>
    </dgm:pt>
    <dgm:pt modelId="{B1B6E41F-DD8A-4C3E-990B-6B85741A9A3D}">
      <dgm:prSet phldrT="[Text]" custT="1"/>
      <dgm:spPr>
        <a:noFill/>
        <a:ln>
          <a:solidFill>
            <a:schemeClr val="bg1"/>
          </a:solidFill>
        </a:ln>
      </dgm:spPr>
      <dgm:t>
        <a:bodyPr/>
        <a:lstStyle/>
        <a:p>
          <a:pPr>
            <a:buFont typeface="EYInterstate Light" pitchFamily="2"/>
            <a:buNone/>
          </a:pPr>
          <a:r>
            <a:rPr lang="en-IN" sz="1100" b="1">
              <a:solidFill>
                <a:srgbClr val="FFFF00"/>
              </a:solidFill>
              <a:latin typeface="EYInterstate Light" panose="02000506000000020004" pitchFamily="2" charset="0"/>
            </a:rPr>
            <a:t>Special Scenarios</a:t>
          </a:r>
        </a:p>
      </dgm:t>
    </dgm:pt>
    <dgm:pt modelId="{F3B7A68F-DB4D-41E6-83BC-EEB1C5EE5822}" type="sibTrans" cxnId="{61C27651-3C84-43F7-8ADB-AC62595438BC}">
      <dgm:prSet/>
      <dgm:spPr/>
      <dgm:t>
        <a:bodyPr/>
        <a:lstStyle/>
        <a:p>
          <a:endParaRPr lang="en-IN" sz="1200">
            <a:latin typeface="EYInterstate Light" panose="02000506000000020004" pitchFamily="2" charset="0"/>
          </a:endParaRPr>
        </a:p>
      </dgm:t>
    </dgm:pt>
    <dgm:pt modelId="{04CEEE4A-537C-4645-82C0-ABD5285C493D}" type="parTrans" cxnId="{61C27651-3C84-43F7-8ADB-AC62595438BC}">
      <dgm:prSet/>
      <dgm:spPr/>
      <dgm:t>
        <a:bodyPr/>
        <a:lstStyle/>
        <a:p>
          <a:endParaRPr lang="en-IN" sz="1200">
            <a:latin typeface="EYInterstate Light" panose="02000506000000020004" pitchFamily="2" charset="0"/>
          </a:endParaRPr>
        </a:p>
      </dgm:t>
    </dgm:pt>
    <dgm:pt modelId="{9339CD2E-E008-43D1-85C2-9626C0844835}" type="pres">
      <dgm:prSet presAssocID="{D2E871D0-04B6-4615-B04C-D325AF0E7AB8}" presName="Name0" presStyleCnt="0">
        <dgm:presLayoutVars>
          <dgm:dir/>
          <dgm:resizeHandles val="exact"/>
        </dgm:presLayoutVars>
      </dgm:prSet>
      <dgm:spPr/>
    </dgm:pt>
    <dgm:pt modelId="{7F7C7B73-A279-4049-BC8A-872F7E6AE87A}" type="pres">
      <dgm:prSet presAssocID="{85294826-7D14-40DD-9EE0-09B18B4AF1B6}" presName="parTxOnly" presStyleLbl="node1" presStyleIdx="0" presStyleCnt="6">
        <dgm:presLayoutVars>
          <dgm:bulletEnabled val="1"/>
        </dgm:presLayoutVars>
      </dgm:prSet>
      <dgm:spPr/>
    </dgm:pt>
    <dgm:pt modelId="{24503AFE-D659-4E76-B5A0-B59C4125963F}" type="pres">
      <dgm:prSet presAssocID="{CED4FC2B-3B4E-4F98-8225-5E4D70CB0706}" presName="parSpace" presStyleCnt="0"/>
      <dgm:spPr/>
    </dgm:pt>
    <dgm:pt modelId="{7350C35C-BCCD-4D8F-AD93-6BB4026C502C}" type="pres">
      <dgm:prSet presAssocID="{DC9EA0F3-79ED-4428-9E90-AA9DF44A434B}" presName="parTxOnly" presStyleLbl="node1" presStyleIdx="1" presStyleCnt="6" custScaleX="112563">
        <dgm:presLayoutVars>
          <dgm:bulletEnabled val="1"/>
        </dgm:presLayoutVars>
      </dgm:prSet>
      <dgm:spPr/>
    </dgm:pt>
    <dgm:pt modelId="{C961A552-872E-46F3-B36A-C0E69010B1BF}" type="pres">
      <dgm:prSet presAssocID="{E64D38C7-ED56-486E-A9E6-117E058B49D4}" presName="parSpace" presStyleCnt="0"/>
      <dgm:spPr/>
    </dgm:pt>
    <dgm:pt modelId="{5EC1D898-2415-439B-BC54-E902A3EF2FF6}" type="pres">
      <dgm:prSet presAssocID="{83866CB9-BE8D-4477-A6A0-E21CB077C6DD}" presName="parTxOnly" presStyleLbl="node1" presStyleIdx="2" presStyleCnt="6">
        <dgm:presLayoutVars>
          <dgm:bulletEnabled val="1"/>
        </dgm:presLayoutVars>
      </dgm:prSet>
      <dgm:spPr/>
    </dgm:pt>
    <dgm:pt modelId="{6F60488B-CE72-4452-80CD-D5E348C39005}" type="pres">
      <dgm:prSet presAssocID="{2B6B2CDA-52CA-4DCC-BE13-E45917587A52}" presName="parSpace" presStyleCnt="0"/>
      <dgm:spPr/>
    </dgm:pt>
    <dgm:pt modelId="{AA29524E-7650-4126-AC14-98151608EC74}" type="pres">
      <dgm:prSet presAssocID="{2EA7BDDA-0B61-4D8F-9BEC-9F4AE42593EF}" presName="parTxOnly" presStyleLbl="node1" presStyleIdx="3" presStyleCnt="6">
        <dgm:presLayoutVars>
          <dgm:bulletEnabled val="1"/>
        </dgm:presLayoutVars>
      </dgm:prSet>
      <dgm:spPr/>
    </dgm:pt>
    <dgm:pt modelId="{CBF032FE-C40C-4DEE-912C-0531F5BF2F70}" type="pres">
      <dgm:prSet presAssocID="{02E08A85-AEAC-4C63-A847-75A6EF7EDE47}" presName="parSpace" presStyleCnt="0"/>
      <dgm:spPr/>
    </dgm:pt>
    <dgm:pt modelId="{4DA17925-EF01-418F-A4EF-043C58E5D173}" type="pres">
      <dgm:prSet presAssocID="{0A35405A-BC58-4F48-A0EC-56970DD0FFE6}" presName="parTxOnly" presStyleLbl="node1" presStyleIdx="4" presStyleCnt="6">
        <dgm:presLayoutVars>
          <dgm:bulletEnabled val="1"/>
        </dgm:presLayoutVars>
      </dgm:prSet>
      <dgm:spPr/>
    </dgm:pt>
    <dgm:pt modelId="{98DB0A54-ABF8-4A75-AA05-205D76F33088}" type="pres">
      <dgm:prSet presAssocID="{9221BA13-F31A-460F-9B45-19D6C8827A4F}" presName="parSpace" presStyleCnt="0"/>
      <dgm:spPr/>
    </dgm:pt>
    <dgm:pt modelId="{F749D8D7-A88C-4940-8AE9-8B6106CD2759}" type="pres">
      <dgm:prSet presAssocID="{B1B6E41F-DD8A-4C3E-990B-6B85741A9A3D}" presName="parTxOnly" presStyleLbl="node1" presStyleIdx="5" presStyleCnt="6">
        <dgm:presLayoutVars>
          <dgm:bulletEnabled val="1"/>
        </dgm:presLayoutVars>
      </dgm:prSet>
      <dgm:spPr/>
    </dgm:pt>
  </dgm:ptLst>
  <dgm:cxnLst>
    <dgm:cxn modelId="{174B6206-828A-4848-8392-5E54CC2F759E}" srcId="{D2E871D0-04B6-4615-B04C-D325AF0E7AB8}" destId="{DC9EA0F3-79ED-4428-9E90-AA9DF44A434B}" srcOrd="1" destOrd="0" parTransId="{3280AC7C-D6E4-49AC-9744-6795FF8C686D}" sibTransId="{E64D38C7-ED56-486E-A9E6-117E058B49D4}"/>
    <dgm:cxn modelId="{B49CC60E-383D-4D4D-872B-4DC3D2FBB0A9}" type="presOf" srcId="{DC9EA0F3-79ED-4428-9E90-AA9DF44A434B}" destId="{7350C35C-BCCD-4D8F-AD93-6BB4026C502C}" srcOrd="0" destOrd="0" presId="urn:microsoft.com/office/officeart/2005/8/layout/hChevron3"/>
    <dgm:cxn modelId="{01C44616-BB3B-4FD7-A316-497B40293350}" type="presOf" srcId="{85294826-7D14-40DD-9EE0-09B18B4AF1B6}" destId="{7F7C7B73-A279-4049-BC8A-872F7E6AE87A}" srcOrd="0" destOrd="0" presId="urn:microsoft.com/office/officeart/2005/8/layout/hChevron3"/>
    <dgm:cxn modelId="{D4C72E32-0945-4D34-BA99-7425AC043D41}" type="presOf" srcId="{2EA7BDDA-0B61-4D8F-9BEC-9F4AE42593EF}" destId="{AA29524E-7650-4126-AC14-98151608EC74}" srcOrd="0" destOrd="0" presId="urn:microsoft.com/office/officeart/2005/8/layout/hChevron3"/>
    <dgm:cxn modelId="{68341334-AC18-4D4A-8D5E-B140191A58BE}" srcId="{D2E871D0-04B6-4615-B04C-D325AF0E7AB8}" destId="{83866CB9-BE8D-4477-A6A0-E21CB077C6DD}" srcOrd="2" destOrd="0" parTransId="{B1D820D0-346D-437E-B26A-FA2C8C6ABBF8}" sibTransId="{2B6B2CDA-52CA-4DCC-BE13-E45917587A52}"/>
    <dgm:cxn modelId="{06F81443-1685-4526-BB91-61458DA63A7F}" srcId="{D2E871D0-04B6-4615-B04C-D325AF0E7AB8}" destId="{2EA7BDDA-0B61-4D8F-9BEC-9F4AE42593EF}" srcOrd="3" destOrd="0" parTransId="{02087EE2-E3CC-469F-BC78-25B2579170D8}" sibTransId="{02E08A85-AEAC-4C63-A847-75A6EF7EDE47}"/>
    <dgm:cxn modelId="{403AA04A-2286-40AF-A472-3505DB99DEEE}" type="presOf" srcId="{D2E871D0-04B6-4615-B04C-D325AF0E7AB8}" destId="{9339CD2E-E008-43D1-85C2-9626C0844835}" srcOrd="0" destOrd="0" presId="urn:microsoft.com/office/officeart/2005/8/layout/hChevron3"/>
    <dgm:cxn modelId="{61C27651-3C84-43F7-8ADB-AC62595438BC}" srcId="{D2E871D0-04B6-4615-B04C-D325AF0E7AB8}" destId="{B1B6E41F-DD8A-4C3E-990B-6B85741A9A3D}" srcOrd="5" destOrd="0" parTransId="{04CEEE4A-537C-4645-82C0-ABD5285C493D}" sibTransId="{F3B7A68F-DB4D-41E6-83BC-EEB1C5EE5822}"/>
    <dgm:cxn modelId="{26CA1E72-2196-4449-B552-9C0B719A8E26}" srcId="{D2E871D0-04B6-4615-B04C-D325AF0E7AB8}" destId="{85294826-7D14-40DD-9EE0-09B18B4AF1B6}" srcOrd="0" destOrd="0" parTransId="{37E7B4B4-715D-41E5-A84F-193E0AF0B081}" sibTransId="{CED4FC2B-3B4E-4F98-8225-5E4D70CB0706}"/>
    <dgm:cxn modelId="{34163857-499A-45FE-9961-7CBD9D9230C9}" type="presOf" srcId="{B1B6E41F-DD8A-4C3E-990B-6B85741A9A3D}" destId="{F749D8D7-A88C-4940-8AE9-8B6106CD2759}" srcOrd="0" destOrd="0" presId="urn:microsoft.com/office/officeart/2005/8/layout/hChevron3"/>
    <dgm:cxn modelId="{FA8B6159-BA7F-4FFE-957F-57FC2CAA34F5}" type="presOf" srcId="{0A35405A-BC58-4F48-A0EC-56970DD0FFE6}" destId="{4DA17925-EF01-418F-A4EF-043C58E5D173}" srcOrd="0" destOrd="0" presId="urn:microsoft.com/office/officeart/2005/8/layout/hChevron3"/>
    <dgm:cxn modelId="{067D6784-A3D6-4CE1-9653-CEFB23B667B9}" srcId="{D2E871D0-04B6-4615-B04C-D325AF0E7AB8}" destId="{0A35405A-BC58-4F48-A0EC-56970DD0FFE6}" srcOrd="4" destOrd="0" parTransId="{3740ADED-61CC-475C-9F21-82F9317DEA04}" sibTransId="{9221BA13-F31A-460F-9B45-19D6C8827A4F}"/>
    <dgm:cxn modelId="{B9EB5DBF-4026-4893-90E9-C9383C8E5903}" type="presOf" srcId="{83866CB9-BE8D-4477-A6A0-E21CB077C6DD}" destId="{5EC1D898-2415-439B-BC54-E902A3EF2FF6}" srcOrd="0" destOrd="0" presId="urn:microsoft.com/office/officeart/2005/8/layout/hChevron3"/>
    <dgm:cxn modelId="{22DA4DE4-042A-47A6-8A09-18109CAF15B8}" type="presParOf" srcId="{9339CD2E-E008-43D1-85C2-9626C0844835}" destId="{7F7C7B73-A279-4049-BC8A-872F7E6AE87A}" srcOrd="0" destOrd="0" presId="urn:microsoft.com/office/officeart/2005/8/layout/hChevron3"/>
    <dgm:cxn modelId="{B6C93788-4E58-4A52-95ED-A1D9A203F9B8}" type="presParOf" srcId="{9339CD2E-E008-43D1-85C2-9626C0844835}" destId="{24503AFE-D659-4E76-B5A0-B59C4125963F}" srcOrd="1" destOrd="0" presId="urn:microsoft.com/office/officeart/2005/8/layout/hChevron3"/>
    <dgm:cxn modelId="{118732DD-927D-4882-A869-8BE956E9A361}" type="presParOf" srcId="{9339CD2E-E008-43D1-85C2-9626C0844835}" destId="{7350C35C-BCCD-4D8F-AD93-6BB4026C502C}" srcOrd="2" destOrd="0" presId="urn:microsoft.com/office/officeart/2005/8/layout/hChevron3"/>
    <dgm:cxn modelId="{D37E029F-5CD9-4939-A030-A7E73E5205D8}" type="presParOf" srcId="{9339CD2E-E008-43D1-85C2-9626C0844835}" destId="{C961A552-872E-46F3-B36A-C0E69010B1BF}" srcOrd="3" destOrd="0" presId="urn:microsoft.com/office/officeart/2005/8/layout/hChevron3"/>
    <dgm:cxn modelId="{75D7BB58-593D-43FD-8DF3-43E00C4EA8FD}" type="presParOf" srcId="{9339CD2E-E008-43D1-85C2-9626C0844835}" destId="{5EC1D898-2415-439B-BC54-E902A3EF2FF6}" srcOrd="4" destOrd="0" presId="urn:microsoft.com/office/officeart/2005/8/layout/hChevron3"/>
    <dgm:cxn modelId="{E4F3307B-D862-4961-A566-8E403B167D48}" type="presParOf" srcId="{9339CD2E-E008-43D1-85C2-9626C0844835}" destId="{6F60488B-CE72-4452-80CD-D5E348C39005}" srcOrd="5" destOrd="0" presId="urn:microsoft.com/office/officeart/2005/8/layout/hChevron3"/>
    <dgm:cxn modelId="{38CCDB0A-23BE-40A5-B83B-7A45267CD5C0}" type="presParOf" srcId="{9339CD2E-E008-43D1-85C2-9626C0844835}" destId="{AA29524E-7650-4126-AC14-98151608EC74}" srcOrd="6" destOrd="0" presId="urn:microsoft.com/office/officeart/2005/8/layout/hChevron3"/>
    <dgm:cxn modelId="{6A5F2411-1345-4D3B-882D-048F39787C45}" type="presParOf" srcId="{9339CD2E-E008-43D1-85C2-9626C0844835}" destId="{CBF032FE-C40C-4DEE-912C-0531F5BF2F70}" srcOrd="7" destOrd="0" presId="urn:microsoft.com/office/officeart/2005/8/layout/hChevron3"/>
    <dgm:cxn modelId="{EAF8F14D-9BD6-4407-896F-D905FBA6ED69}" type="presParOf" srcId="{9339CD2E-E008-43D1-85C2-9626C0844835}" destId="{4DA17925-EF01-418F-A4EF-043C58E5D173}" srcOrd="8" destOrd="0" presId="urn:microsoft.com/office/officeart/2005/8/layout/hChevron3"/>
    <dgm:cxn modelId="{2518B059-787B-4F4A-8667-A26AEAE64F49}" type="presParOf" srcId="{9339CD2E-E008-43D1-85C2-9626C0844835}" destId="{98DB0A54-ABF8-4A75-AA05-205D76F33088}" srcOrd="9" destOrd="0" presId="urn:microsoft.com/office/officeart/2005/8/layout/hChevron3"/>
    <dgm:cxn modelId="{DD0C053C-73D1-46B1-B2DC-24C8B7614A53}" type="presParOf" srcId="{9339CD2E-E008-43D1-85C2-9626C0844835}" destId="{F749D8D7-A88C-4940-8AE9-8B6106CD2759}" srcOrd="10" destOrd="0" presId="urn:microsoft.com/office/officeart/2005/8/layout/hChevron3"/>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3A7589CC-6E0B-4CA0-861F-A5A1B093933D}" type="doc">
      <dgm:prSet loTypeId="urn:microsoft.com/office/officeart/2005/8/layout/bList2" loCatId="list" qsTypeId="urn:microsoft.com/office/officeart/2005/8/quickstyle/simple5" qsCatId="simple" csTypeId="urn:microsoft.com/office/officeart/2005/8/colors/accent1_2" csCatId="accent1" phldr="1"/>
      <dgm:spPr/>
    </dgm:pt>
    <dgm:pt modelId="{F24DA097-0CBE-4A23-ABFB-A740A77B828E}">
      <dgm:prSet phldrT="[Text]" custT="1"/>
      <dgm:spPr>
        <a:solidFill>
          <a:srgbClr val="FFE600"/>
        </a:solidFill>
        <a:ln>
          <a:solidFill>
            <a:schemeClr val="tx1"/>
          </a:solidFill>
        </a:ln>
      </dgm:spPr>
      <dgm:t>
        <a:bodyPr/>
        <a:lstStyle/>
        <a:p>
          <a:r>
            <a:rPr kumimoji="0" lang="en-US" altLang="en-US" sz="1100" b="1" i="0" u="none" strike="noStrike" cap="none" normalizeH="0" baseline="0">
              <a:ln/>
              <a:solidFill>
                <a:schemeClr val="tx1"/>
              </a:solidFill>
              <a:effectLst/>
              <a:latin typeface="EYInterstate" panose="02000503020000020004" pitchFamily="2" charset="0"/>
            </a:rPr>
            <a:t>Right‑first‑time depreciation</a:t>
          </a:r>
          <a:endParaRPr lang="en-IN" sz="1100">
            <a:solidFill>
              <a:schemeClr val="tx1"/>
            </a:solidFill>
            <a:latin typeface="EYInterstate" panose="02000503020000020004" pitchFamily="2" charset="0"/>
          </a:endParaRPr>
        </a:p>
      </dgm:t>
    </dgm:pt>
    <dgm:pt modelId="{612E82E0-1555-4E55-B217-5645C6D1C051}" type="parTrans" cxnId="{03844092-528D-4FC8-AB75-B59FC3600425}">
      <dgm:prSet/>
      <dgm:spPr/>
      <dgm:t>
        <a:bodyPr/>
        <a:lstStyle/>
        <a:p>
          <a:endParaRPr lang="en-IN"/>
        </a:p>
      </dgm:t>
    </dgm:pt>
    <dgm:pt modelId="{49E9B5B6-DBAC-434A-B9AF-6D90C6F921D0}" type="sibTrans" cxnId="{03844092-528D-4FC8-AB75-B59FC3600425}">
      <dgm:prSet/>
      <dgm:spPr/>
      <dgm:t>
        <a:bodyPr/>
        <a:lstStyle/>
        <a:p>
          <a:endParaRPr lang="en-IN"/>
        </a:p>
      </dgm:t>
    </dgm:pt>
    <dgm:pt modelId="{E78ECA07-D4D7-4E08-BE18-32936CF454C8}">
      <dgm:prSet phldrT="[Text]" custT="1"/>
      <dgm:spPr>
        <a:solidFill>
          <a:srgbClr val="FFE600"/>
        </a:solidFill>
        <a:ln>
          <a:solidFill>
            <a:schemeClr val="tx1"/>
          </a:solidFill>
        </a:ln>
      </dgm:spPr>
      <dgm:t>
        <a:bodyPr/>
        <a:lstStyle/>
        <a:p>
          <a:r>
            <a:rPr kumimoji="0" lang="en-US" altLang="en-US" sz="1100" b="1" i="0" u="none" strike="noStrike" cap="none" normalizeH="0" baseline="0">
              <a:ln/>
              <a:solidFill>
                <a:schemeClr val="tx1"/>
              </a:solidFill>
              <a:effectLst/>
              <a:latin typeface="EYInterstate" panose="02000503020000020004" pitchFamily="2" charset="0"/>
            </a:rPr>
            <a:t>Cycle time</a:t>
          </a:r>
          <a:endParaRPr lang="en-IN" sz="1100">
            <a:solidFill>
              <a:schemeClr val="tx1"/>
            </a:solidFill>
            <a:latin typeface="EYInterstate" panose="02000503020000020004" pitchFamily="2" charset="0"/>
          </a:endParaRPr>
        </a:p>
      </dgm:t>
    </dgm:pt>
    <dgm:pt modelId="{8ADF3B9F-D3CE-4618-BDF1-50EDB9809FB7}" type="parTrans" cxnId="{6827CC05-3483-4B06-A553-B44A3DF5446E}">
      <dgm:prSet/>
      <dgm:spPr/>
      <dgm:t>
        <a:bodyPr/>
        <a:lstStyle/>
        <a:p>
          <a:endParaRPr lang="en-IN"/>
        </a:p>
      </dgm:t>
    </dgm:pt>
    <dgm:pt modelId="{96D2487B-67AF-469C-9775-F0A62B440CB7}" type="sibTrans" cxnId="{6827CC05-3483-4B06-A553-B44A3DF5446E}">
      <dgm:prSet/>
      <dgm:spPr/>
      <dgm:t>
        <a:bodyPr/>
        <a:lstStyle/>
        <a:p>
          <a:endParaRPr lang="en-IN"/>
        </a:p>
      </dgm:t>
    </dgm:pt>
    <dgm:pt modelId="{4CBE64F9-932F-436E-84EC-37B9FDDF250B}">
      <dgm:prSet phldrT="[Text]" custT="1"/>
      <dgm:spPr>
        <a:solidFill>
          <a:srgbClr val="FFE600"/>
        </a:solidFill>
        <a:ln>
          <a:noFill/>
        </a:ln>
      </dgm:spPr>
      <dgm:t>
        <a:bodyPr/>
        <a:lstStyle/>
        <a:p>
          <a:r>
            <a:rPr kumimoji="0" lang="en-US" altLang="en-US" sz="1100" b="1" i="0" u="none" strike="noStrike" cap="none" normalizeH="0" baseline="0">
              <a:ln/>
              <a:solidFill>
                <a:schemeClr val="tx1"/>
              </a:solidFill>
              <a:effectLst/>
              <a:latin typeface="EYInterstate" panose="02000503020000020004" pitchFamily="2" charset="0"/>
            </a:rPr>
            <a:t>Variance analytics</a:t>
          </a:r>
          <a:endParaRPr lang="en-IN" sz="1100">
            <a:solidFill>
              <a:schemeClr val="tx1"/>
            </a:solidFill>
            <a:latin typeface="EYInterstate" panose="02000503020000020004" pitchFamily="2" charset="0"/>
          </a:endParaRPr>
        </a:p>
      </dgm:t>
    </dgm:pt>
    <dgm:pt modelId="{90D52E14-4D62-4EE0-95F1-975A085FF0D3}" type="parTrans" cxnId="{796ACD51-5919-4B33-AAE7-AEAC6506B2D4}">
      <dgm:prSet/>
      <dgm:spPr/>
      <dgm:t>
        <a:bodyPr/>
        <a:lstStyle/>
        <a:p>
          <a:endParaRPr lang="en-IN"/>
        </a:p>
      </dgm:t>
    </dgm:pt>
    <dgm:pt modelId="{E498C819-0095-4D80-8FF2-B90EA1B5E26F}" type="sibTrans" cxnId="{796ACD51-5919-4B33-AAE7-AEAC6506B2D4}">
      <dgm:prSet/>
      <dgm:spPr/>
      <dgm:t>
        <a:bodyPr/>
        <a:lstStyle/>
        <a:p>
          <a:endParaRPr lang="en-IN"/>
        </a:p>
      </dgm:t>
    </dgm:pt>
    <dgm:pt modelId="{F119CE83-2B19-4C80-B46B-FD9A2AD7A36F}" type="pres">
      <dgm:prSet presAssocID="{3A7589CC-6E0B-4CA0-861F-A5A1B093933D}" presName="diagram" presStyleCnt="0">
        <dgm:presLayoutVars>
          <dgm:dir/>
          <dgm:animLvl val="lvl"/>
          <dgm:resizeHandles val="exact"/>
        </dgm:presLayoutVars>
      </dgm:prSet>
      <dgm:spPr/>
    </dgm:pt>
    <dgm:pt modelId="{3B9C255B-365F-4ACE-88AD-06F049371AF8}" type="pres">
      <dgm:prSet presAssocID="{F24DA097-0CBE-4A23-ABFB-A740A77B828E}" presName="compNode" presStyleCnt="0"/>
      <dgm:spPr/>
    </dgm:pt>
    <dgm:pt modelId="{B57E6C6C-DC51-490B-92BF-A21575B9CAF5}" type="pres">
      <dgm:prSet presAssocID="{F24DA097-0CBE-4A23-ABFB-A740A77B828E}" presName="childRect" presStyleLbl="bgAcc1" presStyleIdx="0" presStyleCnt="3" custLinFactNeighborX="1307" custLinFactNeighborY="-321">
        <dgm:presLayoutVars>
          <dgm:bulletEnabled val="1"/>
        </dgm:presLayoutVars>
      </dgm:prSet>
      <dgm:spPr>
        <a:solidFill>
          <a:schemeClr val="bg2">
            <a:lumMod val="50000"/>
            <a:alpha val="90000"/>
          </a:schemeClr>
        </a:solidFill>
        <a:ln>
          <a:solidFill>
            <a:schemeClr val="tx1">
              <a:lumMod val="95000"/>
              <a:lumOff val="5000"/>
            </a:schemeClr>
          </a:solidFill>
        </a:ln>
      </dgm:spPr>
    </dgm:pt>
    <dgm:pt modelId="{BCBCBB37-60E1-48DE-BE37-D97D3EB3B523}" type="pres">
      <dgm:prSet presAssocID="{F24DA097-0CBE-4A23-ABFB-A740A77B828E}" presName="parentText" presStyleLbl="node1" presStyleIdx="0" presStyleCnt="0">
        <dgm:presLayoutVars>
          <dgm:chMax val="0"/>
          <dgm:bulletEnabled val="1"/>
        </dgm:presLayoutVars>
      </dgm:prSet>
      <dgm:spPr/>
    </dgm:pt>
    <dgm:pt modelId="{ABA46F2B-47C8-4BC1-B861-7049B2DDF3A0}" type="pres">
      <dgm:prSet presAssocID="{F24DA097-0CBE-4A23-ABFB-A740A77B828E}" presName="parentRect" presStyleLbl="alignNode1" presStyleIdx="0" presStyleCnt="3"/>
      <dgm:spPr/>
    </dgm:pt>
    <dgm:pt modelId="{D0969329-C8CA-475F-914D-1A58ECC17DAC}" type="pres">
      <dgm:prSet presAssocID="{F24DA097-0CBE-4A23-ABFB-A740A77B828E}" presName="adorn" presStyleLbl="fgAccFollowNode1" presStyleIdx="0" presStyleCnt="3" custScaleX="116630" custLinFactNeighborX="-19255" custLinFactNeighborY="-3593"/>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a:noFill/>
        </a:ln>
      </dgm:spPr>
      <dgm:extLst>
        <a:ext uri="{E40237B7-FDA0-4F09-8148-C483321AD2D9}">
          <dgm14:cNvPr xmlns:dgm14="http://schemas.microsoft.com/office/drawing/2010/diagram" id="0" name="" descr="Bulldozer with solid fill"/>
        </a:ext>
      </dgm:extLst>
    </dgm:pt>
    <dgm:pt modelId="{7FF03888-2F40-444A-A9CA-E9E84410DEC6}" type="pres">
      <dgm:prSet presAssocID="{49E9B5B6-DBAC-434A-B9AF-6D90C6F921D0}" presName="sibTrans" presStyleLbl="sibTrans2D1" presStyleIdx="0" presStyleCnt="0"/>
      <dgm:spPr/>
    </dgm:pt>
    <dgm:pt modelId="{2B79EB9C-BE6D-4E2C-8A34-B6A16D060BFB}" type="pres">
      <dgm:prSet presAssocID="{E78ECA07-D4D7-4E08-BE18-32936CF454C8}" presName="compNode" presStyleCnt="0"/>
      <dgm:spPr/>
    </dgm:pt>
    <dgm:pt modelId="{AE927A31-DF4C-428D-91B6-316AFA12BBA1}" type="pres">
      <dgm:prSet presAssocID="{E78ECA07-D4D7-4E08-BE18-32936CF454C8}" presName="childRect" presStyleLbl="bgAcc1" presStyleIdx="1" presStyleCnt="3">
        <dgm:presLayoutVars>
          <dgm:bulletEnabled val="1"/>
        </dgm:presLayoutVars>
      </dgm:prSet>
      <dgm:spPr>
        <a:solidFill>
          <a:schemeClr val="bg2">
            <a:lumMod val="50000"/>
            <a:alpha val="90000"/>
          </a:schemeClr>
        </a:solidFill>
        <a:ln>
          <a:solidFill>
            <a:schemeClr val="tx1"/>
          </a:solidFill>
        </a:ln>
      </dgm:spPr>
    </dgm:pt>
    <dgm:pt modelId="{163EA97B-6B20-426A-B242-263989C658A3}" type="pres">
      <dgm:prSet presAssocID="{E78ECA07-D4D7-4E08-BE18-32936CF454C8}" presName="parentText" presStyleLbl="node1" presStyleIdx="0" presStyleCnt="0">
        <dgm:presLayoutVars>
          <dgm:chMax val="0"/>
          <dgm:bulletEnabled val="1"/>
        </dgm:presLayoutVars>
      </dgm:prSet>
      <dgm:spPr/>
    </dgm:pt>
    <dgm:pt modelId="{66B92175-CF0A-41E2-B452-B8CE017012CE}" type="pres">
      <dgm:prSet presAssocID="{E78ECA07-D4D7-4E08-BE18-32936CF454C8}" presName="parentRect" presStyleLbl="alignNode1" presStyleIdx="1" presStyleCnt="3"/>
      <dgm:spPr/>
    </dgm:pt>
    <dgm:pt modelId="{715E0911-231E-44BE-A05D-58552F80446C}" type="pres">
      <dgm:prSet presAssocID="{E78ECA07-D4D7-4E08-BE18-32936CF454C8}" presName="adorn" presStyleLbl="fgAccFollowNode1" presStyleIdx="1" presStyleCnt="3" custLinFactNeighborX="-27115" custLinFactNeighborY="-17593"/>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Hourglass"/>
        </a:ext>
      </dgm:extLst>
    </dgm:pt>
    <dgm:pt modelId="{42F17865-A929-4EAC-86BD-F9F9A1979046}" type="pres">
      <dgm:prSet presAssocID="{96D2487B-67AF-469C-9775-F0A62B440CB7}" presName="sibTrans" presStyleLbl="sibTrans2D1" presStyleIdx="0" presStyleCnt="0"/>
      <dgm:spPr/>
    </dgm:pt>
    <dgm:pt modelId="{8BB8792E-53B9-42C0-9789-4B72143C2467}" type="pres">
      <dgm:prSet presAssocID="{4CBE64F9-932F-436E-84EC-37B9FDDF250B}" presName="compNode" presStyleCnt="0"/>
      <dgm:spPr/>
    </dgm:pt>
    <dgm:pt modelId="{8FDEAE45-2B5B-4523-B855-2005F685C6F9}" type="pres">
      <dgm:prSet presAssocID="{4CBE64F9-932F-436E-84EC-37B9FDDF250B}" presName="childRect" presStyleLbl="bgAcc1" presStyleIdx="2" presStyleCnt="3">
        <dgm:presLayoutVars>
          <dgm:bulletEnabled val="1"/>
        </dgm:presLayoutVars>
      </dgm:prSet>
      <dgm:spPr>
        <a:solidFill>
          <a:schemeClr val="bg2">
            <a:lumMod val="50000"/>
            <a:alpha val="90000"/>
          </a:schemeClr>
        </a:solidFill>
        <a:ln>
          <a:solidFill>
            <a:schemeClr val="tx1"/>
          </a:solidFill>
        </a:ln>
      </dgm:spPr>
    </dgm:pt>
    <dgm:pt modelId="{A32B2D19-9861-4A7D-9921-4E7F0B34EF4B}" type="pres">
      <dgm:prSet presAssocID="{4CBE64F9-932F-436E-84EC-37B9FDDF250B}" presName="parentText" presStyleLbl="node1" presStyleIdx="0" presStyleCnt="0">
        <dgm:presLayoutVars>
          <dgm:chMax val="0"/>
          <dgm:bulletEnabled val="1"/>
        </dgm:presLayoutVars>
      </dgm:prSet>
      <dgm:spPr/>
    </dgm:pt>
    <dgm:pt modelId="{93928B9C-9DD4-4D23-838A-EFFAF6D80417}" type="pres">
      <dgm:prSet presAssocID="{4CBE64F9-932F-436E-84EC-37B9FDDF250B}" presName="parentRect" presStyleLbl="alignNode1" presStyleIdx="2" presStyleCnt="3"/>
      <dgm:spPr/>
    </dgm:pt>
    <dgm:pt modelId="{16AB668E-AA80-4936-BE49-F859DE0AA78E}" type="pres">
      <dgm:prSet presAssocID="{4CBE64F9-932F-436E-84EC-37B9FDDF250B}" presName="adorn" presStyleLbl="fgAccFollowNode1" presStyleIdx="2" presStyleCnt="3" custScaleX="117773" custScaleY="92008" custLinFactNeighborX="-49856" custLinFactNeighborY="-14493"/>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a:noFill/>
        </a:ln>
      </dgm:spPr>
      <dgm:extLst>
        <a:ext uri="{E40237B7-FDA0-4F09-8148-C483321AD2D9}">
          <dgm14:cNvPr xmlns:dgm14="http://schemas.microsoft.com/office/drawing/2010/diagram" id="0" name="" descr="Research outline"/>
        </a:ext>
      </dgm:extLst>
    </dgm:pt>
  </dgm:ptLst>
  <dgm:cxnLst>
    <dgm:cxn modelId="{6827CC05-3483-4B06-A553-B44A3DF5446E}" srcId="{3A7589CC-6E0B-4CA0-861F-A5A1B093933D}" destId="{E78ECA07-D4D7-4E08-BE18-32936CF454C8}" srcOrd="1" destOrd="0" parTransId="{8ADF3B9F-D3CE-4618-BDF1-50EDB9809FB7}" sibTransId="{96D2487B-67AF-469C-9775-F0A62B440CB7}"/>
    <dgm:cxn modelId="{63B2DE1E-8C44-494F-B210-7426759A0CF5}" type="presOf" srcId="{E78ECA07-D4D7-4E08-BE18-32936CF454C8}" destId="{66B92175-CF0A-41E2-B452-B8CE017012CE}" srcOrd="1" destOrd="0" presId="urn:microsoft.com/office/officeart/2005/8/layout/bList2"/>
    <dgm:cxn modelId="{FCA08839-204D-445B-B1DB-73CB4D4CEE47}" type="presOf" srcId="{49E9B5B6-DBAC-434A-B9AF-6D90C6F921D0}" destId="{7FF03888-2F40-444A-A9CA-E9E84410DEC6}" srcOrd="0" destOrd="0" presId="urn:microsoft.com/office/officeart/2005/8/layout/bList2"/>
    <dgm:cxn modelId="{796ACD51-5919-4B33-AAE7-AEAC6506B2D4}" srcId="{3A7589CC-6E0B-4CA0-861F-A5A1B093933D}" destId="{4CBE64F9-932F-436E-84EC-37B9FDDF250B}" srcOrd="2" destOrd="0" parTransId="{90D52E14-4D62-4EE0-95F1-975A085FF0D3}" sibTransId="{E498C819-0095-4D80-8FF2-B90EA1B5E26F}"/>
    <dgm:cxn modelId="{03844092-528D-4FC8-AB75-B59FC3600425}" srcId="{3A7589CC-6E0B-4CA0-861F-A5A1B093933D}" destId="{F24DA097-0CBE-4A23-ABFB-A740A77B828E}" srcOrd="0" destOrd="0" parTransId="{612E82E0-1555-4E55-B217-5645C6D1C051}" sibTransId="{49E9B5B6-DBAC-434A-B9AF-6D90C6F921D0}"/>
    <dgm:cxn modelId="{13436393-DC7F-42CD-873D-BD7917FBDA75}" type="presOf" srcId="{96D2487B-67AF-469C-9775-F0A62B440CB7}" destId="{42F17865-A929-4EAC-86BD-F9F9A1979046}" srcOrd="0" destOrd="0" presId="urn:microsoft.com/office/officeart/2005/8/layout/bList2"/>
    <dgm:cxn modelId="{8BA71194-62B3-4C1D-A6A8-6BD526787A28}" type="presOf" srcId="{F24DA097-0CBE-4A23-ABFB-A740A77B828E}" destId="{BCBCBB37-60E1-48DE-BE37-D97D3EB3B523}" srcOrd="0" destOrd="0" presId="urn:microsoft.com/office/officeart/2005/8/layout/bList2"/>
    <dgm:cxn modelId="{1F6BB59F-AE13-4508-BBB1-9651E6BD7B02}" type="presOf" srcId="{4CBE64F9-932F-436E-84EC-37B9FDDF250B}" destId="{93928B9C-9DD4-4D23-838A-EFFAF6D80417}" srcOrd="1" destOrd="0" presId="urn:microsoft.com/office/officeart/2005/8/layout/bList2"/>
    <dgm:cxn modelId="{DE0240AA-9DF3-4F71-B682-AFC72B1EAFE7}" type="presOf" srcId="{E78ECA07-D4D7-4E08-BE18-32936CF454C8}" destId="{163EA97B-6B20-426A-B242-263989C658A3}" srcOrd="0" destOrd="0" presId="urn:microsoft.com/office/officeart/2005/8/layout/bList2"/>
    <dgm:cxn modelId="{9271ACB7-0640-4A2F-B27A-F10CBB627B0E}" type="presOf" srcId="{3A7589CC-6E0B-4CA0-861F-A5A1B093933D}" destId="{F119CE83-2B19-4C80-B46B-FD9A2AD7A36F}" srcOrd="0" destOrd="0" presId="urn:microsoft.com/office/officeart/2005/8/layout/bList2"/>
    <dgm:cxn modelId="{CB6D27B9-0BA4-4962-8F8F-59101A65ED18}" type="presOf" srcId="{4CBE64F9-932F-436E-84EC-37B9FDDF250B}" destId="{A32B2D19-9861-4A7D-9921-4E7F0B34EF4B}" srcOrd="0" destOrd="0" presId="urn:microsoft.com/office/officeart/2005/8/layout/bList2"/>
    <dgm:cxn modelId="{42E657E7-C775-4D55-BC94-1A541483D491}" type="presOf" srcId="{F24DA097-0CBE-4A23-ABFB-A740A77B828E}" destId="{ABA46F2B-47C8-4BC1-B861-7049B2DDF3A0}" srcOrd="1" destOrd="0" presId="urn:microsoft.com/office/officeart/2005/8/layout/bList2"/>
    <dgm:cxn modelId="{1E4C15EC-3AD9-4C09-B1D5-B6451DCDEC8A}" type="presParOf" srcId="{F119CE83-2B19-4C80-B46B-FD9A2AD7A36F}" destId="{3B9C255B-365F-4ACE-88AD-06F049371AF8}" srcOrd="0" destOrd="0" presId="urn:microsoft.com/office/officeart/2005/8/layout/bList2"/>
    <dgm:cxn modelId="{79E8FE58-9C81-45A9-9A1C-619F31E73CCB}" type="presParOf" srcId="{3B9C255B-365F-4ACE-88AD-06F049371AF8}" destId="{B57E6C6C-DC51-490B-92BF-A21575B9CAF5}" srcOrd="0" destOrd="0" presId="urn:microsoft.com/office/officeart/2005/8/layout/bList2"/>
    <dgm:cxn modelId="{7733B39F-06F6-44BA-9DA4-B8C339FB9DA3}" type="presParOf" srcId="{3B9C255B-365F-4ACE-88AD-06F049371AF8}" destId="{BCBCBB37-60E1-48DE-BE37-D97D3EB3B523}" srcOrd="1" destOrd="0" presId="urn:microsoft.com/office/officeart/2005/8/layout/bList2"/>
    <dgm:cxn modelId="{6377B967-EFA5-48A5-8977-B81A416C1E11}" type="presParOf" srcId="{3B9C255B-365F-4ACE-88AD-06F049371AF8}" destId="{ABA46F2B-47C8-4BC1-B861-7049B2DDF3A0}" srcOrd="2" destOrd="0" presId="urn:microsoft.com/office/officeart/2005/8/layout/bList2"/>
    <dgm:cxn modelId="{4C883E7B-E2A4-4148-8DB6-7E7426792D63}" type="presParOf" srcId="{3B9C255B-365F-4ACE-88AD-06F049371AF8}" destId="{D0969329-C8CA-475F-914D-1A58ECC17DAC}" srcOrd="3" destOrd="0" presId="urn:microsoft.com/office/officeart/2005/8/layout/bList2"/>
    <dgm:cxn modelId="{8972509C-94EE-4D2B-830A-9222E8A9A47F}" type="presParOf" srcId="{F119CE83-2B19-4C80-B46B-FD9A2AD7A36F}" destId="{7FF03888-2F40-444A-A9CA-E9E84410DEC6}" srcOrd="1" destOrd="0" presId="urn:microsoft.com/office/officeart/2005/8/layout/bList2"/>
    <dgm:cxn modelId="{6F2C8172-880A-4DF0-843B-36E9D304A6B6}" type="presParOf" srcId="{F119CE83-2B19-4C80-B46B-FD9A2AD7A36F}" destId="{2B79EB9C-BE6D-4E2C-8A34-B6A16D060BFB}" srcOrd="2" destOrd="0" presId="urn:microsoft.com/office/officeart/2005/8/layout/bList2"/>
    <dgm:cxn modelId="{5D515C28-9D04-4A90-A54A-5F9F41F70FDB}" type="presParOf" srcId="{2B79EB9C-BE6D-4E2C-8A34-B6A16D060BFB}" destId="{AE927A31-DF4C-428D-91B6-316AFA12BBA1}" srcOrd="0" destOrd="0" presId="urn:microsoft.com/office/officeart/2005/8/layout/bList2"/>
    <dgm:cxn modelId="{1E70D67B-54C9-49B4-9723-4701150E0B81}" type="presParOf" srcId="{2B79EB9C-BE6D-4E2C-8A34-B6A16D060BFB}" destId="{163EA97B-6B20-426A-B242-263989C658A3}" srcOrd="1" destOrd="0" presId="urn:microsoft.com/office/officeart/2005/8/layout/bList2"/>
    <dgm:cxn modelId="{A462D35D-3DFC-49E3-8062-D5CA823A0B7E}" type="presParOf" srcId="{2B79EB9C-BE6D-4E2C-8A34-B6A16D060BFB}" destId="{66B92175-CF0A-41E2-B452-B8CE017012CE}" srcOrd="2" destOrd="0" presId="urn:microsoft.com/office/officeart/2005/8/layout/bList2"/>
    <dgm:cxn modelId="{85151356-0985-42C6-9E4C-6DD7E9EDC07D}" type="presParOf" srcId="{2B79EB9C-BE6D-4E2C-8A34-B6A16D060BFB}" destId="{715E0911-231E-44BE-A05D-58552F80446C}" srcOrd="3" destOrd="0" presId="urn:microsoft.com/office/officeart/2005/8/layout/bList2"/>
    <dgm:cxn modelId="{E9C2FEFD-CF51-4689-AE29-D1A2A089E38D}" type="presParOf" srcId="{F119CE83-2B19-4C80-B46B-FD9A2AD7A36F}" destId="{42F17865-A929-4EAC-86BD-F9F9A1979046}" srcOrd="3" destOrd="0" presId="urn:microsoft.com/office/officeart/2005/8/layout/bList2"/>
    <dgm:cxn modelId="{217A7F73-79D7-4C1E-9EE7-32673E7742CD}" type="presParOf" srcId="{F119CE83-2B19-4C80-B46B-FD9A2AD7A36F}" destId="{8BB8792E-53B9-42C0-9789-4B72143C2467}" srcOrd="4" destOrd="0" presId="urn:microsoft.com/office/officeart/2005/8/layout/bList2"/>
    <dgm:cxn modelId="{04580000-785F-4EE2-A848-267F421A1CD5}" type="presParOf" srcId="{8BB8792E-53B9-42C0-9789-4B72143C2467}" destId="{8FDEAE45-2B5B-4523-B855-2005F685C6F9}" srcOrd="0" destOrd="0" presId="urn:microsoft.com/office/officeart/2005/8/layout/bList2"/>
    <dgm:cxn modelId="{454E3970-A7AC-4289-9511-FF623BDE74B7}" type="presParOf" srcId="{8BB8792E-53B9-42C0-9789-4B72143C2467}" destId="{A32B2D19-9861-4A7D-9921-4E7F0B34EF4B}" srcOrd="1" destOrd="0" presId="urn:microsoft.com/office/officeart/2005/8/layout/bList2"/>
    <dgm:cxn modelId="{59210659-64E8-4868-8A72-3C2CC194F8BC}" type="presParOf" srcId="{8BB8792E-53B9-42C0-9789-4B72143C2467}" destId="{93928B9C-9DD4-4D23-838A-EFFAF6D80417}" srcOrd="2" destOrd="0" presId="urn:microsoft.com/office/officeart/2005/8/layout/bList2"/>
    <dgm:cxn modelId="{EEC82084-C1D7-4146-AC29-09CD68B88300}" type="presParOf" srcId="{8BB8792E-53B9-42C0-9789-4B72143C2467}" destId="{16AB668E-AA80-4936-BE49-F859DE0AA78E}" srcOrd="3" destOrd="0" presId="urn:microsoft.com/office/officeart/2005/8/layout/bList2"/>
  </dgm:cxnLst>
  <dgm:bg>
    <a:noFill/>
  </dgm:bg>
  <dgm:whole>
    <a:ln>
      <a:noFill/>
    </a:ln>
  </dgm:whole>
  <dgm:extLst>
    <a:ext uri="http://schemas.microsoft.com/office/drawing/2008/diagram">
      <dsp:dataModelExt xmlns:dsp="http://schemas.microsoft.com/office/drawing/2008/diagram" relId="rId7" minVer="http://schemas.openxmlformats.org/drawingml/2006/diagram"/>
    </a:ext>
    <a:ext uri="{C62137D5-CB1D-491B-B009-E17868A290BF}">
      <dgm14:recolorImg xmlns:dgm14="http://schemas.microsoft.com/office/drawing/2010/diagram" val="1"/>
    </a:ext>
  </dgm:extLst>
</dgm:dataModel>
</file>

<file path=ppt/diagrams/data9.xml><?xml version="1.0" encoding="utf-8"?>
<dgm:dataModel xmlns:dgm="http://schemas.openxmlformats.org/drawingml/2006/diagram" xmlns:a="http://schemas.openxmlformats.org/drawingml/2006/main">
  <dgm:ptLst>
    <dgm:pt modelId="{D79CAC97-9801-4A69-A8AB-3479A32A0C47}" type="doc">
      <dgm:prSet loTypeId="urn:microsoft.com/office/officeart/2005/8/layout/lProcess3" loCatId="process" qsTypeId="urn:microsoft.com/office/officeart/2005/8/quickstyle/simple1" qsCatId="simple" csTypeId="urn:microsoft.com/office/officeart/2005/8/colors/accent1_2" csCatId="accent1" phldr="1"/>
      <dgm:spPr/>
      <dgm:t>
        <a:bodyPr/>
        <a:lstStyle/>
        <a:p>
          <a:endParaRPr lang="en-IN"/>
        </a:p>
      </dgm:t>
    </dgm:pt>
    <dgm:pt modelId="{7D8B010E-193D-4044-97A6-932BE5076882}">
      <dgm:prSet phldrT="[Text]" custT="1"/>
      <dgm:spPr>
        <a:noFill/>
        <a:ln>
          <a:solidFill>
            <a:srgbClr val="FFFF00"/>
          </a:solidFill>
        </a:ln>
      </dgm:spPr>
      <dgm:t>
        <a:bodyPr/>
        <a:lstStyle/>
        <a:p>
          <a:r>
            <a:rPr lang="en-IN" sz="1800" b="1" dirty="0">
              <a:solidFill>
                <a:srgbClr val="FFE600"/>
              </a:solidFill>
              <a:latin typeface="EY interstate"/>
            </a:rPr>
            <a:t>Revaluation</a:t>
          </a:r>
        </a:p>
      </dgm:t>
    </dgm:pt>
    <dgm:pt modelId="{211BB2A3-8B14-4955-A779-D8DD79E4D7C4}" type="parTrans" cxnId="{C3AAB9AD-3716-447A-87BF-B6B330C433D4}">
      <dgm:prSet/>
      <dgm:spPr/>
      <dgm:t>
        <a:bodyPr/>
        <a:lstStyle/>
        <a:p>
          <a:endParaRPr lang="en-IN"/>
        </a:p>
      </dgm:t>
    </dgm:pt>
    <dgm:pt modelId="{C5B3166A-0D79-4BDF-92D6-6EF46B1D195C}" type="sibTrans" cxnId="{C3AAB9AD-3716-447A-87BF-B6B330C433D4}">
      <dgm:prSet/>
      <dgm:spPr/>
      <dgm:t>
        <a:bodyPr/>
        <a:lstStyle/>
        <a:p>
          <a:endParaRPr lang="en-IN"/>
        </a:p>
      </dgm:t>
    </dgm:pt>
    <dgm:pt modelId="{0436A4BE-00D9-4327-A798-8B9C9B135272}">
      <dgm:prSet phldrT="[Text]" custT="1"/>
      <dgm:spPr>
        <a:noFill/>
      </dgm:spPr>
      <dgm:t>
        <a:bodyPr/>
        <a:lstStyle/>
        <a:p>
          <a:r>
            <a:rPr lang="en-IN" sz="1400" b="1">
              <a:solidFill>
                <a:srgbClr val="FFE600"/>
              </a:solidFill>
              <a:latin typeface="EY interstate"/>
            </a:rPr>
            <a:t>Trigger Identification</a:t>
          </a:r>
        </a:p>
      </dgm:t>
    </dgm:pt>
    <dgm:pt modelId="{FD62D04D-7701-4C31-AFEF-89BBDFE94DB6}" type="parTrans" cxnId="{9A29A5B2-DDDB-4AF9-891F-32D4081674CB}">
      <dgm:prSet/>
      <dgm:spPr/>
      <dgm:t>
        <a:bodyPr/>
        <a:lstStyle/>
        <a:p>
          <a:endParaRPr lang="en-IN"/>
        </a:p>
      </dgm:t>
    </dgm:pt>
    <dgm:pt modelId="{C3A2B4DD-70DD-46D4-B47D-6B0937112602}" type="sibTrans" cxnId="{9A29A5B2-DDDB-4AF9-891F-32D4081674CB}">
      <dgm:prSet/>
      <dgm:spPr/>
      <dgm:t>
        <a:bodyPr/>
        <a:lstStyle/>
        <a:p>
          <a:endParaRPr lang="en-IN"/>
        </a:p>
      </dgm:t>
    </dgm:pt>
    <dgm:pt modelId="{E40D0DEF-F65E-4ACE-9E47-4B8483E94EBB}">
      <dgm:prSet phldrT="[Text]" custT="1"/>
      <dgm:spPr>
        <a:noFill/>
        <a:ln>
          <a:solidFill>
            <a:srgbClr val="FFFF00"/>
          </a:solidFill>
        </a:ln>
      </dgm:spPr>
      <dgm:t>
        <a:bodyPr/>
        <a:lstStyle/>
        <a:p>
          <a:r>
            <a:rPr lang="en-IN" sz="1800" b="1" dirty="0">
              <a:solidFill>
                <a:srgbClr val="FFE600"/>
              </a:solidFill>
              <a:latin typeface="EY interstate"/>
            </a:rPr>
            <a:t>Impairment</a:t>
          </a:r>
        </a:p>
      </dgm:t>
    </dgm:pt>
    <dgm:pt modelId="{78EFDAA3-FB60-46BC-9C39-C37EDDEFDBE7}" type="parTrans" cxnId="{D7B740AB-3750-4DF6-9917-6D04CC9E58EF}">
      <dgm:prSet/>
      <dgm:spPr/>
      <dgm:t>
        <a:bodyPr/>
        <a:lstStyle/>
        <a:p>
          <a:endParaRPr lang="en-IN"/>
        </a:p>
      </dgm:t>
    </dgm:pt>
    <dgm:pt modelId="{A4A17E02-0D11-4A15-93C0-5A8CF9338B55}" type="sibTrans" cxnId="{D7B740AB-3750-4DF6-9917-6D04CC9E58EF}">
      <dgm:prSet/>
      <dgm:spPr/>
      <dgm:t>
        <a:bodyPr/>
        <a:lstStyle/>
        <a:p>
          <a:endParaRPr lang="en-IN"/>
        </a:p>
      </dgm:t>
    </dgm:pt>
    <dgm:pt modelId="{5F4CFFCE-285E-4526-8465-39A33BAA21A9}">
      <dgm:prSet phldrT="[Text]" custT="1"/>
      <dgm:spPr>
        <a:noFill/>
      </dgm:spPr>
      <dgm:t>
        <a:bodyPr/>
        <a:lstStyle/>
        <a:p>
          <a:r>
            <a:rPr lang="en-IN" sz="1400" b="1">
              <a:solidFill>
                <a:srgbClr val="FFE600"/>
              </a:solidFill>
              <a:latin typeface="EY interstate"/>
            </a:rPr>
            <a:t>Trigger Identification</a:t>
          </a:r>
        </a:p>
      </dgm:t>
    </dgm:pt>
    <dgm:pt modelId="{CAAC494C-8E42-4E17-9B90-3271DEA4B2D7}" type="parTrans" cxnId="{B3D36C5F-2D5B-4229-9F91-B3CAF58AA316}">
      <dgm:prSet/>
      <dgm:spPr/>
      <dgm:t>
        <a:bodyPr/>
        <a:lstStyle/>
        <a:p>
          <a:endParaRPr lang="en-IN"/>
        </a:p>
      </dgm:t>
    </dgm:pt>
    <dgm:pt modelId="{F9CCE020-2C53-429F-8C09-3F09CA8B2DD1}" type="sibTrans" cxnId="{B3D36C5F-2D5B-4229-9F91-B3CAF58AA316}">
      <dgm:prSet/>
      <dgm:spPr/>
      <dgm:t>
        <a:bodyPr/>
        <a:lstStyle/>
        <a:p>
          <a:endParaRPr lang="en-IN"/>
        </a:p>
      </dgm:t>
    </dgm:pt>
    <dgm:pt modelId="{22FF1DFA-F54D-4FD7-8B10-7833E9253F32}">
      <dgm:prSet phldrT="[Text]" custT="1"/>
      <dgm:spPr>
        <a:noFill/>
      </dgm:spPr>
      <dgm:t>
        <a:bodyPr/>
        <a:lstStyle/>
        <a:p>
          <a:r>
            <a:rPr lang="en-IN" sz="1400" b="1">
              <a:solidFill>
                <a:srgbClr val="FFE600"/>
              </a:solidFill>
              <a:latin typeface="EY interstate"/>
            </a:rPr>
            <a:t>Fair Value Input</a:t>
          </a:r>
        </a:p>
      </dgm:t>
    </dgm:pt>
    <dgm:pt modelId="{CA43CFB2-9D90-4857-836E-CD7F5B51925B}" type="parTrans" cxnId="{749C6691-1681-4F6D-A41F-6C37B78E6021}">
      <dgm:prSet/>
      <dgm:spPr/>
      <dgm:t>
        <a:bodyPr/>
        <a:lstStyle/>
        <a:p>
          <a:endParaRPr lang="en-IN"/>
        </a:p>
      </dgm:t>
    </dgm:pt>
    <dgm:pt modelId="{6063C3AB-3FCB-4F12-AC8E-5B71B7A2D09B}" type="sibTrans" cxnId="{749C6691-1681-4F6D-A41F-6C37B78E6021}">
      <dgm:prSet/>
      <dgm:spPr/>
      <dgm:t>
        <a:bodyPr/>
        <a:lstStyle/>
        <a:p>
          <a:endParaRPr lang="en-IN"/>
        </a:p>
      </dgm:t>
    </dgm:pt>
    <dgm:pt modelId="{D3349835-29C2-457A-8A08-CE78E2B581F2}">
      <dgm:prSet phldrT="[Text]" custT="1"/>
      <dgm:spPr>
        <a:noFill/>
      </dgm:spPr>
      <dgm:t>
        <a:bodyPr/>
        <a:lstStyle/>
        <a:p>
          <a:r>
            <a:rPr lang="en-IN" sz="1400" b="1">
              <a:solidFill>
                <a:srgbClr val="FFE600"/>
              </a:solidFill>
              <a:latin typeface="EY interstate"/>
            </a:rPr>
            <a:t>Revaluation Calculation</a:t>
          </a:r>
        </a:p>
      </dgm:t>
    </dgm:pt>
    <dgm:pt modelId="{F5BAA0B5-79DC-443D-AD6C-D8196519A649}" type="parTrans" cxnId="{9BE920C2-7AAB-4933-A4A4-8F23B1EE8C39}">
      <dgm:prSet/>
      <dgm:spPr/>
      <dgm:t>
        <a:bodyPr/>
        <a:lstStyle/>
        <a:p>
          <a:endParaRPr lang="en-IN"/>
        </a:p>
      </dgm:t>
    </dgm:pt>
    <dgm:pt modelId="{A6F31FE8-62A7-4EEE-8E44-FC1DD2BC6455}" type="sibTrans" cxnId="{9BE920C2-7AAB-4933-A4A4-8F23B1EE8C39}">
      <dgm:prSet/>
      <dgm:spPr/>
      <dgm:t>
        <a:bodyPr/>
        <a:lstStyle/>
        <a:p>
          <a:endParaRPr lang="en-IN"/>
        </a:p>
      </dgm:t>
    </dgm:pt>
    <dgm:pt modelId="{879CABF4-E3F7-4A14-B098-6CB4EA1D8105}">
      <dgm:prSet phldrT="[Text]" custT="1"/>
      <dgm:spPr>
        <a:noFill/>
      </dgm:spPr>
      <dgm:t>
        <a:bodyPr/>
        <a:lstStyle/>
        <a:p>
          <a:r>
            <a:rPr lang="en-IN" sz="1400" b="1">
              <a:solidFill>
                <a:srgbClr val="FFE600"/>
              </a:solidFill>
              <a:latin typeface="EY interstate"/>
            </a:rPr>
            <a:t>Accounting Entries</a:t>
          </a:r>
        </a:p>
      </dgm:t>
    </dgm:pt>
    <dgm:pt modelId="{4A40CD0C-AAEA-4CE2-BFC9-889A2D9DC79F}" type="parTrans" cxnId="{2F54EE53-A3CF-4FD8-BC60-7D43775711A3}">
      <dgm:prSet/>
      <dgm:spPr/>
      <dgm:t>
        <a:bodyPr/>
        <a:lstStyle/>
        <a:p>
          <a:endParaRPr lang="en-IN"/>
        </a:p>
      </dgm:t>
    </dgm:pt>
    <dgm:pt modelId="{6A4FB47C-CC2B-49F7-B033-C90AE4B07B30}" type="sibTrans" cxnId="{2F54EE53-A3CF-4FD8-BC60-7D43775711A3}">
      <dgm:prSet/>
      <dgm:spPr/>
      <dgm:t>
        <a:bodyPr/>
        <a:lstStyle/>
        <a:p>
          <a:endParaRPr lang="en-IN"/>
        </a:p>
      </dgm:t>
    </dgm:pt>
    <dgm:pt modelId="{7264B83B-AC34-46FE-AD83-52A76F280EA8}">
      <dgm:prSet phldrT="[Text]" custT="1"/>
      <dgm:spPr>
        <a:noFill/>
      </dgm:spPr>
      <dgm:t>
        <a:bodyPr/>
        <a:lstStyle/>
        <a:p>
          <a:r>
            <a:rPr lang="en-IN" sz="1400" b="1">
              <a:solidFill>
                <a:srgbClr val="FFE600"/>
              </a:solidFill>
              <a:latin typeface="EY interstate"/>
            </a:rPr>
            <a:t>Audit Trail &amp; Reporting</a:t>
          </a:r>
        </a:p>
      </dgm:t>
    </dgm:pt>
    <dgm:pt modelId="{5BAB4CB4-1647-4FAA-904F-D14014D6309E}" type="parTrans" cxnId="{7217AB28-4F09-41FC-BD03-EBB9148FBEB5}">
      <dgm:prSet/>
      <dgm:spPr/>
      <dgm:t>
        <a:bodyPr/>
        <a:lstStyle/>
        <a:p>
          <a:endParaRPr lang="en-IN"/>
        </a:p>
      </dgm:t>
    </dgm:pt>
    <dgm:pt modelId="{E2EF25E5-E1D4-4449-97E3-B827B8D9586C}" type="sibTrans" cxnId="{7217AB28-4F09-41FC-BD03-EBB9148FBEB5}">
      <dgm:prSet/>
      <dgm:spPr/>
      <dgm:t>
        <a:bodyPr/>
        <a:lstStyle/>
        <a:p>
          <a:endParaRPr lang="en-IN"/>
        </a:p>
      </dgm:t>
    </dgm:pt>
    <dgm:pt modelId="{9A4C659B-D965-43B5-B0BF-CF7B24D1B1F5}">
      <dgm:prSet phldrT="[Text]" custT="1"/>
      <dgm:spPr>
        <a:noFill/>
      </dgm:spPr>
      <dgm:t>
        <a:bodyPr/>
        <a:lstStyle/>
        <a:p>
          <a:r>
            <a:rPr lang="en-IN" sz="1400" b="1">
              <a:solidFill>
                <a:srgbClr val="FFE600"/>
              </a:solidFill>
              <a:latin typeface="EY interstate"/>
            </a:rPr>
            <a:t>Recoverable Amount Calculation</a:t>
          </a:r>
        </a:p>
      </dgm:t>
    </dgm:pt>
    <dgm:pt modelId="{77D59274-DF5C-4932-8ECC-DC1D3CDF13BF}" type="parTrans" cxnId="{04CB424C-1A33-4320-960C-9E946AB0FC7A}">
      <dgm:prSet/>
      <dgm:spPr/>
      <dgm:t>
        <a:bodyPr/>
        <a:lstStyle/>
        <a:p>
          <a:endParaRPr lang="en-IN"/>
        </a:p>
      </dgm:t>
    </dgm:pt>
    <dgm:pt modelId="{502BD7A8-1C5E-4386-AB87-91F7AA0F5C9D}" type="sibTrans" cxnId="{04CB424C-1A33-4320-960C-9E946AB0FC7A}">
      <dgm:prSet/>
      <dgm:spPr/>
      <dgm:t>
        <a:bodyPr/>
        <a:lstStyle/>
        <a:p>
          <a:endParaRPr lang="en-IN"/>
        </a:p>
      </dgm:t>
    </dgm:pt>
    <dgm:pt modelId="{668A3B6E-FAA0-40EB-8833-E75F585A71B4}">
      <dgm:prSet phldrT="[Text]" custT="1"/>
      <dgm:spPr>
        <a:noFill/>
      </dgm:spPr>
      <dgm:t>
        <a:bodyPr/>
        <a:lstStyle/>
        <a:p>
          <a:r>
            <a:rPr lang="en-IN" sz="1400" b="1">
              <a:solidFill>
                <a:srgbClr val="FFE600"/>
              </a:solidFill>
              <a:latin typeface="EY interstate"/>
            </a:rPr>
            <a:t>Impairment Test</a:t>
          </a:r>
        </a:p>
      </dgm:t>
    </dgm:pt>
    <dgm:pt modelId="{15D09783-98DE-40DA-A2EC-1F41A3FFF564}" type="parTrans" cxnId="{8C6CD46C-3C23-4FCF-A0A1-496EE56809BC}">
      <dgm:prSet/>
      <dgm:spPr/>
      <dgm:t>
        <a:bodyPr/>
        <a:lstStyle/>
        <a:p>
          <a:endParaRPr lang="en-IN"/>
        </a:p>
      </dgm:t>
    </dgm:pt>
    <dgm:pt modelId="{4AD26A8D-8528-4118-B5A1-BF0C9A8AB8D8}" type="sibTrans" cxnId="{8C6CD46C-3C23-4FCF-A0A1-496EE56809BC}">
      <dgm:prSet/>
      <dgm:spPr/>
      <dgm:t>
        <a:bodyPr/>
        <a:lstStyle/>
        <a:p>
          <a:endParaRPr lang="en-IN"/>
        </a:p>
      </dgm:t>
    </dgm:pt>
    <dgm:pt modelId="{D94DAC1F-AA46-4211-B773-DCC03EA5D761}">
      <dgm:prSet phldrT="[Text]" custT="1"/>
      <dgm:spPr>
        <a:noFill/>
      </dgm:spPr>
      <dgm:t>
        <a:bodyPr/>
        <a:lstStyle/>
        <a:p>
          <a:r>
            <a:rPr lang="en-IN" sz="1400" b="1">
              <a:solidFill>
                <a:srgbClr val="FFE600"/>
              </a:solidFill>
              <a:latin typeface="EY interstate"/>
            </a:rPr>
            <a:t>Accounting Entries</a:t>
          </a:r>
        </a:p>
      </dgm:t>
    </dgm:pt>
    <dgm:pt modelId="{E2304411-2045-415A-BD35-E2A71D0E0003}" type="parTrans" cxnId="{184CFC15-FE7D-4D97-804D-8199886EDE99}">
      <dgm:prSet/>
      <dgm:spPr/>
      <dgm:t>
        <a:bodyPr/>
        <a:lstStyle/>
        <a:p>
          <a:endParaRPr lang="en-IN"/>
        </a:p>
      </dgm:t>
    </dgm:pt>
    <dgm:pt modelId="{06330855-17B7-4B13-947B-E062F698AE6F}" type="sibTrans" cxnId="{184CFC15-FE7D-4D97-804D-8199886EDE99}">
      <dgm:prSet/>
      <dgm:spPr/>
      <dgm:t>
        <a:bodyPr/>
        <a:lstStyle/>
        <a:p>
          <a:endParaRPr lang="en-IN"/>
        </a:p>
      </dgm:t>
    </dgm:pt>
    <dgm:pt modelId="{903F68E9-7A88-4D92-99DF-972554D7DE73}">
      <dgm:prSet phldrT="[Text]" custT="1"/>
      <dgm:spPr>
        <a:noFill/>
      </dgm:spPr>
      <dgm:t>
        <a:bodyPr/>
        <a:lstStyle/>
        <a:p>
          <a:r>
            <a:rPr lang="en-IN" sz="1400" b="1">
              <a:solidFill>
                <a:srgbClr val="FFE600"/>
              </a:solidFill>
              <a:latin typeface="EY interstate"/>
            </a:rPr>
            <a:t>Reversal Logic</a:t>
          </a:r>
        </a:p>
      </dgm:t>
    </dgm:pt>
    <dgm:pt modelId="{4D11C3BE-836E-481F-A6F8-C831849DBB46}" type="parTrans" cxnId="{29104B9F-49E8-4BF3-A401-F98C65A01079}">
      <dgm:prSet/>
      <dgm:spPr/>
      <dgm:t>
        <a:bodyPr/>
        <a:lstStyle/>
        <a:p>
          <a:endParaRPr lang="en-IN"/>
        </a:p>
      </dgm:t>
    </dgm:pt>
    <dgm:pt modelId="{A21AB905-BB38-4B7D-8E9F-4F386D844484}" type="sibTrans" cxnId="{29104B9F-49E8-4BF3-A401-F98C65A01079}">
      <dgm:prSet/>
      <dgm:spPr/>
      <dgm:t>
        <a:bodyPr/>
        <a:lstStyle/>
        <a:p>
          <a:endParaRPr lang="en-IN"/>
        </a:p>
      </dgm:t>
    </dgm:pt>
    <dgm:pt modelId="{B1C0FAD6-170B-422B-B865-0425752D322D}">
      <dgm:prSet phldrT="[Text]" custT="1"/>
      <dgm:spPr>
        <a:noFill/>
      </dgm:spPr>
      <dgm:t>
        <a:bodyPr/>
        <a:lstStyle/>
        <a:p>
          <a:r>
            <a:rPr lang="en-IN" sz="1400" b="1">
              <a:solidFill>
                <a:srgbClr val="FFE600"/>
              </a:solidFill>
              <a:latin typeface="EY interstate"/>
            </a:rPr>
            <a:t>Audit Trail &amp; Compliance</a:t>
          </a:r>
        </a:p>
      </dgm:t>
    </dgm:pt>
    <dgm:pt modelId="{BA70427D-F069-49B9-90BA-068944BF740D}" type="parTrans" cxnId="{5F8B9A0E-F276-4571-BFF6-4B0EA84FCE71}">
      <dgm:prSet/>
      <dgm:spPr/>
      <dgm:t>
        <a:bodyPr/>
        <a:lstStyle/>
        <a:p>
          <a:endParaRPr lang="en-IN"/>
        </a:p>
      </dgm:t>
    </dgm:pt>
    <dgm:pt modelId="{E1339BEA-F577-422E-8762-C0096FFC234B}" type="sibTrans" cxnId="{5F8B9A0E-F276-4571-BFF6-4B0EA84FCE71}">
      <dgm:prSet/>
      <dgm:spPr/>
      <dgm:t>
        <a:bodyPr/>
        <a:lstStyle/>
        <a:p>
          <a:endParaRPr lang="en-IN"/>
        </a:p>
      </dgm:t>
    </dgm:pt>
    <dgm:pt modelId="{53A3CD41-F8D6-4B72-8B9D-3A15F2C8BCCA}" type="pres">
      <dgm:prSet presAssocID="{D79CAC97-9801-4A69-A8AB-3479A32A0C47}" presName="Name0" presStyleCnt="0">
        <dgm:presLayoutVars>
          <dgm:chPref val="3"/>
          <dgm:dir/>
          <dgm:animLvl val="lvl"/>
          <dgm:resizeHandles/>
        </dgm:presLayoutVars>
      </dgm:prSet>
      <dgm:spPr/>
    </dgm:pt>
    <dgm:pt modelId="{2BEECDC7-F7DE-4CF3-ADF7-B18BEE96C51F}" type="pres">
      <dgm:prSet presAssocID="{7D8B010E-193D-4044-97A6-932BE5076882}" presName="horFlow" presStyleCnt="0"/>
      <dgm:spPr/>
    </dgm:pt>
    <dgm:pt modelId="{0926CF48-2621-44F2-9845-C0CAF6971A29}" type="pres">
      <dgm:prSet presAssocID="{7D8B010E-193D-4044-97A6-932BE5076882}" presName="bigChev" presStyleLbl="node1" presStyleIdx="0" presStyleCnt="2" custLinFactY="-8954" custLinFactNeighborX="375" custLinFactNeighborY="-100000"/>
      <dgm:spPr/>
    </dgm:pt>
    <dgm:pt modelId="{D0F942A4-4745-43E6-8D7B-C6264155B1F2}" type="pres">
      <dgm:prSet presAssocID="{FD62D04D-7701-4C31-AFEF-89BBDFE94DB6}" presName="parTrans" presStyleCnt="0"/>
      <dgm:spPr/>
    </dgm:pt>
    <dgm:pt modelId="{06DAB5EE-E90C-48A3-AA76-BE6932423A51}" type="pres">
      <dgm:prSet presAssocID="{0436A4BE-00D9-4327-A798-8B9C9B135272}" presName="node" presStyleLbl="alignAccFollowNode1" presStyleIdx="0" presStyleCnt="11" custLinFactY="-31270" custLinFactNeighborX="419" custLinFactNeighborY="-100000">
        <dgm:presLayoutVars>
          <dgm:bulletEnabled val="1"/>
        </dgm:presLayoutVars>
      </dgm:prSet>
      <dgm:spPr/>
    </dgm:pt>
    <dgm:pt modelId="{5418C4C8-4F82-42A3-AB2A-105F0ED0824F}" type="pres">
      <dgm:prSet presAssocID="{C3A2B4DD-70DD-46D4-B47D-6B0937112602}" presName="sibTrans" presStyleCnt="0"/>
      <dgm:spPr/>
    </dgm:pt>
    <dgm:pt modelId="{E422D08A-C637-4396-94D0-55342A8426F4}" type="pres">
      <dgm:prSet presAssocID="{22FF1DFA-F54D-4FD7-8B10-7833E9253F32}" presName="node" presStyleLbl="alignAccFollowNode1" presStyleIdx="1" presStyleCnt="11" custLinFactY="-31270" custLinFactNeighborX="419" custLinFactNeighborY="-100000">
        <dgm:presLayoutVars>
          <dgm:bulletEnabled val="1"/>
        </dgm:presLayoutVars>
      </dgm:prSet>
      <dgm:spPr/>
    </dgm:pt>
    <dgm:pt modelId="{30E7E6BC-87BD-44BB-B22E-289B7B194207}" type="pres">
      <dgm:prSet presAssocID="{6063C3AB-3FCB-4F12-AC8E-5B71B7A2D09B}" presName="sibTrans" presStyleCnt="0"/>
      <dgm:spPr/>
    </dgm:pt>
    <dgm:pt modelId="{18FAF3FF-B47D-4AFA-A0B3-4AF314420619}" type="pres">
      <dgm:prSet presAssocID="{D3349835-29C2-457A-8A08-CE78E2B581F2}" presName="node" presStyleLbl="alignAccFollowNode1" presStyleIdx="2" presStyleCnt="11" custLinFactY="-31270" custLinFactNeighborX="419" custLinFactNeighborY="-100000">
        <dgm:presLayoutVars>
          <dgm:bulletEnabled val="1"/>
        </dgm:presLayoutVars>
      </dgm:prSet>
      <dgm:spPr/>
    </dgm:pt>
    <dgm:pt modelId="{A1F0EB46-1AB3-489B-8F17-9BEFAE570192}" type="pres">
      <dgm:prSet presAssocID="{A6F31FE8-62A7-4EEE-8E44-FC1DD2BC6455}" presName="sibTrans" presStyleCnt="0"/>
      <dgm:spPr/>
    </dgm:pt>
    <dgm:pt modelId="{1AD6DE83-171B-4DBA-9D29-0F60C3382ECE}" type="pres">
      <dgm:prSet presAssocID="{879CABF4-E3F7-4A14-B098-6CB4EA1D8105}" presName="node" presStyleLbl="alignAccFollowNode1" presStyleIdx="3" presStyleCnt="11" custLinFactY="-31270" custLinFactNeighborX="419" custLinFactNeighborY="-100000">
        <dgm:presLayoutVars>
          <dgm:bulletEnabled val="1"/>
        </dgm:presLayoutVars>
      </dgm:prSet>
      <dgm:spPr/>
    </dgm:pt>
    <dgm:pt modelId="{1B967119-9E32-465F-B782-FF9BB654667D}" type="pres">
      <dgm:prSet presAssocID="{6A4FB47C-CC2B-49F7-B033-C90AE4B07B30}" presName="sibTrans" presStyleCnt="0"/>
      <dgm:spPr/>
    </dgm:pt>
    <dgm:pt modelId="{B8450E18-E85E-4095-A56C-2035260D45F5}" type="pres">
      <dgm:prSet presAssocID="{7264B83B-AC34-46FE-AD83-52A76F280EA8}" presName="node" presStyleLbl="alignAccFollowNode1" presStyleIdx="4" presStyleCnt="11" custLinFactY="-31270" custLinFactNeighborX="419" custLinFactNeighborY="-100000">
        <dgm:presLayoutVars>
          <dgm:bulletEnabled val="1"/>
        </dgm:presLayoutVars>
      </dgm:prSet>
      <dgm:spPr/>
    </dgm:pt>
    <dgm:pt modelId="{58A38AE1-7AF9-4287-BE13-DA197776A38F}" type="pres">
      <dgm:prSet presAssocID="{7D8B010E-193D-4044-97A6-932BE5076882}" presName="vSp" presStyleCnt="0"/>
      <dgm:spPr/>
    </dgm:pt>
    <dgm:pt modelId="{31A44AA6-5970-4A3F-B95B-24F2D214224C}" type="pres">
      <dgm:prSet presAssocID="{E40D0DEF-F65E-4ACE-9E47-4B8483E94EBB}" presName="horFlow" presStyleCnt="0"/>
      <dgm:spPr/>
    </dgm:pt>
    <dgm:pt modelId="{610D89AB-8F2E-4048-8978-ED0F285E1A63}" type="pres">
      <dgm:prSet presAssocID="{E40D0DEF-F65E-4ACE-9E47-4B8483E94EBB}" presName="bigChev" presStyleLbl="node1" presStyleIdx="1" presStyleCnt="2" custLinFactNeighborX="15313" custLinFactNeighborY="29480"/>
      <dgm:spPr/>
    </dgm:pt>
    <dgm:pt modelId="{CDB329F0-6951-4EC4-9165-974969720103}" type="pres">
      <dgm:prSet presAssocID="{CAAC494C-8E42-4E17-9B90-3271DEA4B2D7}" presName="parTrans" presStyleCnt="0"/>
      <dgm:spPr/>
    </dgm:pt>
    <dgm:pt modelId="{1B850A2B-2557-49C4-980D-26F86D3CD37D}" type="pres">
      <dgm:prSet presAssocID="{5F4CFFCE-285E-4526-8465-39A33BAA21A9}" presName="node" presStyleLbl="alignAccFollowNode1" presStyleIdx="5" presStyleCnt="11" custLinFactNeighborX="14549" custLinFactNeighborY="35519">
        <dgm:presLayoutVars>
          <dgm:bulletEnabled val="1"/>
        </dgm:presLayoutVars>
      </dgm:prSet>
      <dgm:spPr/>
    </dgm:pt>
    <dgm:pt modelId="{54D58210-F089-47FC-9CCD-6BAE454364E8}" type="pres">
      <dgm:prSet presAssocID="{F9CCE020-2C53-429F-8C09-3F09CA8B2DD1}" presName="sibTrans" presStyleCnt="0"/>
      <dgm:spPr/>
    </dgm:pt>
    <dgm:pt modelId="{7326CFEE-A32B-4D5E-94CC-260FB269AD1E}" type="pres">
      <dgm:prSet presAssocID="{9A4C659B-D965-43B5-B0BF-CF7B24D1B1F5}" presName="node" presStyleLbl="alignAccFollowNode1" presStyleIdx="6" presStyleCnt="11" custLinFactNeighborX="14550" custLinFactNeighborY="34655">
        <dgm:presLayoutVars>
          <dgm:bulletEnabled val="1"/>
        </dgm:presLayoutVars>
      </dgm:prSet>
      <dgm:spPr/>
    </dgm:pt>
    <dgm:pt modelId="{983A48F0-FAF5-4299-A78F-9540ABE25975}" type="pres">
      <dgm:prSet presAssocID="{502BD7A8-1C5E-4386-AB87-91F7AA0F5C9D}" presName="sibTrans" presStyleCnt="0"/>
      <dgm:spPr/>
    </dgm:pt>
    <dgm:pt modelId="{97728D86-884B-4113-B2D2-B36D2F5F75DF}" type="pres">
      <dgm:prSet presAssocID="{668A3B6E-FAA0-40EB-8833-E75F585A71B4}" presName="node" presStyleLbl="alignAccFollowNode1" presStyleIdx="7" presStyleCnt="11" custLinFactNeighborX="14988" custLinFactNeighborY="35004">
        <dgm:presLayoutVars>
          <dgm:bulletEnabled val="1"/>
        </dgm:presLayoutVars>
      </dgm:prSet>
      <dgm:spPr/>
    </dgm:pt>
    <dgm:pt modelId="{B6D7AD8D-A48F-41CF-8047-F314D016EEB5}" type="pres">
      <dgm:prSet presAssocID="{4AD26A8D-8528-4118-B5A1-BF0C9A8AB8D8}" presName="sibTrans" presStyleCnt="0"/>
      <dgm:spPr/>
    </dgm:pt>
    <dgm:pt modelId="{531E0984-6DDD-4499-90E4-5D317399FF27}" type="pres">
      <dgm:prSet presAssocID="{D94DAC1F-AA46-4211-B773-DCC03EA5D761}" presName="node" presStyleLbl="alignAccFollowNode1" presStyleIdx="8" presStyleCnt="11" custLinFactNeighborX="14988" custLinFactNeighborY="35004">
        <dgm:presLayoutVars>
          <dgm:bulletEnabled val="1"/>
        </dgm:presLayoutVars>
      </dgm:prSet>
      <dgm:spPr/>
    </dgm:pt>
    <dgm:pt modelId="{7A00D05A-52F5-4BCF-9524-CE4CDD19065D}" type="pres">
      <dgm:prSet presAssocID="{06330855-17B7-4B13-947B-E062F698AE6F}" presName="sibTrans" presStyleCnt="0"/>
      <dgm:spPr/>
    </dgm:pt>
    <dgm:pt modelId="{16206522-551A-49BE-BB0C-F6EC58C1883A}" type="pres">
      <dgm:prSet presAssocID="{903F68E9-7A88-4D92-99DF-972554D7DE73}" presName="node" presStyleLbl="alignAccFollowNode1" presStyleIdx="9" presStyleCnt="11" custLinFactNeighborX="14988" custLinFactNeighborY="35004">
        <dgm:presLayoutVars>
          <dgm:bulletEnabled val="1"/>
        </dgm:presLayoutVars>
      </dgm:prSet>
      <dgm:spPr/>
    </dgm:pt>
    <dgm:pt modelId="{99667B66-45A2-47E2-B917-B3C27BFC6BBF}" type="pres">
      <dgm:prSet presAssocID="{A21AB905-BB38-4B7D-8E9F-4F386D844484}" presName="sibTrans" presStyleCnt="0"/>
      <dgm:spPr/>
    </dgm:pt>
    <dgm:pt modelId="{1D68735F-D983-48AA-8BA0-368EBA2992CA}" type="pres">
      <dgm:prSet presAssocID="{B1C0FAD6-170B-422B-B865-0425752D322D}" presName="node" presStyleLbl="alignAccFollowNode1" presStyleIdx="10" presStyleCnt="11" custLinFactNeighborX="28873" custLinFactNeighborY="35004">
        <dgm:presLayoutVars>
          <dgm:bulletEnabled val="1"/>
        </dgm:presLayoutVars>
      </dgm:prSet>
      <dgm:spPr/>
    </dgm:pt>
  </dgm:ptLst>
  <dgm:cxnLst>
    <dgm:cxn modelId="{5F8B9A0E-F276-4571-BFF6-4B0EA84FCE71}" srcId="{E40D0DEF-F65E-4ACE-9E47-4B8483E94EBB}" destId="{B1C0FAD6-170B-422B-B865-0425752D322D}" srcOrd="5" destOrd="0" parTransId="{BA70427D-F069-49B9-90BA-068944BF740D}" sibTransId="{E1339BEA-F577-422E-8762-C0096FFC234B}"/>
    <dgm:cxn modelId="{184CFC15-FE7D-4D97-804D-8199886EDE99}" srcId="{E40D0DEF-F65E-4ACE-9E47-4B8483E94EBB}" destId="{D94DAC1F-AA46-4211-B773-DCC03EA5D761}" srcOrd="3" destOrd="0" parTransId="{E2304411-2045-415A-BD35-E2A71D0E0003}" sibTransId="{06330855-17B7-4B13-947B-E062F698AE6F}"/>
    <dgm:cxn modelId="{7217AB28-4F09-41FC-BD03-EBB9148FBEB5}" srcId="{7D8B010E-193D-4044-97A6-932BE5076882}" destId="{7264B83B-AC34-46FE-AD83-52A76F280EA8}" srcOrd="4" destOrd="0" parTransId="{5BAB4CB4-1647-4FAA-904F-D14014D6309E}" sibTransId="{E2EF25E5-E1D4-4449-97E3-B827B8D9586C}"/>
    <dgm:cxn modelId="{CDB3AB28-8623-4182-8A28-C169B3BF48C9}" type="presOf" srcId="{5F4CFFCE-285E-4526-8465-39A33BAA21A9}" destId="{1B850A2B-2557-49C4-980D-26F86D3CD37D}" srcOrd="0" destOrd="0" presId="urn:microsoft.com/office/officeart/2005/8/layout/lProcess3"/>
    <dgm:cxn modelId="{B3D36C5F-2D5B-4229-9F91-B3CAF58AA316}" srcId="{E40D0DEF-F65E-4ACE-9E47-4B8483E94EBB}" destId="{5F4CFFCE-285E-4526-8465-39A33BAA21A9}" srcOrd="0" destOrd="0" parTransId="{CAAC494C-8E42-4E17-9B90-3271DEA4B2D7}" sibTransId="{F9CCE020-2C53-429F-8C09-3F09CA8B2DD1}"/>
    <dgm:cxn modelId="{9C718544-F387-4369-939B-90C8BE41DFCF}" type="presOf" srcId="{22FF1DFA-F54D-4FD7-8B10-7833E9253F32}" destId="{E422D08A-C637-4396-94D0-55342A8426F4}" srcOrd="0" destOrd="0" presId="urn:microsoft.com/office/officeart/2005/8/layout/lProcess3"/>
    <dgm:cxn modelId="{0DFFD664-6C97-40FF-8C44-266D695B3799}" type="presOf" srcId="{7D8B010E-193D-4044-97A6-932BE5076882}" destId="{0926CF48-2621-44F2-9845-C0CAF6971A29}" srcOrd="0" destOrd="0" presId="urn:microsoft.com/office/officeart/2005/8/layout/lProcess3"/>
    <dgm:cxn modelId="{04CB424C-1A33-4320-960C-9E946AB0FC7A}" srcId="{E40D0DEF-F65E-4ACE-9E47-4B8483E94EBB}" destId="{9A4C659B-D965-43B5-B0BF-CF7B24D1B1F5}" srcOrd="1" destOrd="0" parTransId="{77D59274-DF5C-4932-8ECC-DC1D3CDF13BF}" sibTransId="{502BD7A8-1C5E-4386-AB87-91F7AA0F5C9D}"/>
    <dgm:cxn modelId="{8C6CD46C-3C23-4FCF-A0A1-496EE56809BC}" srcId="{E40D0DEF-F65E-4ACE-9E47-4B8483E94EBB}" destId="{668A3B6E-FAA0-40EB-8833-E75F585A71B4}" srcOrd="2" destOrd="0" parTransId="{15D09783-98DE-40DA-A2EC-1F41A3FFF564}" sibTransId="{4AD26A8D-8528-4118-B5A1-BF0C9A8AB8D8}"/>
    <dgm:cxn modelId="{DB68706D-B967-4188-84E5-4C7F039A45B6}" type="presOf" srcId="{B1C0FAD6-170B-422B-B865-0425752D322D}" destId="{1D68735F-D983-48AA-8BA0-368EBA2992CA}" srcOrd="0" destOrd="0" presId="urn:microsoft.com/office/officeart/2005/8/layout/lProcess3"/>
    <dgm:cxn modelId="{3F9ABB53-ABB5-413C-BA42-77E4DF9D0AFF}" type="presOf" srcId="{D3349835-29C2-457A-8A08-CE78E2B581F2}" destId="{18FAF3FF-B47D-4AFA-A0B3-4AF314420619}" srcOrd="0" destOrd="0" presId="urn:microsoft.com/office/officeart/2005/8/layout/lProcess3"/>
    <dgm:cxn modelId="{2F54EE53-A3CF-4FD8-BC60-7D43775711A3}" srcId="{7D8B010E-193D-4044-97A6-932BE5076882}" destId="{879CABF4-E3F7-4A14-B098-6CB4EA1D8105}" srcOrd="3" destOrd="0" parTransId="{4A40CD0C-AAEA-4CE2-BFC9-889A2D9DC79F}" sibTransId="{6A4FB47C-CC2B-49F7-B033-C90AE4B07B30}"/>
    <dgm:cxn modelId="{A11D617D-71F1-4D86-B044-1E5C352FF065}" type="presOf" srcId="{E40D0DEF-F65E-4ACE-9E47-4B8483E94EBB}" destId="{610D89AB-8F2E-4048-8978-ED0F285E1A63}" srcOrd="0" destOrd="0" presId="urn:microsoft.com/office/officeart/2005/8/layout/lProcess3"/>
    <dgm:cxn modelId="{014B9090-BC0C-4387-BE4A-B815D74D52E2}" type="presOf" srcId="{668A3B6E-FAA0-40EB-8833-E75F585A71B4}" destId="{97728D86-884B-4113-B2D2-B36D2F5F75DF}" srcOrd="0" destOrd="0" presId="urn:microsoft.com/office/officeart/2005/8/layout/lProcess3"/>
    <dgm:cxn modelId="{749C6691-1681-4F6D-A41F-6C37B78E6021}" srcId="{7D8B010E-193D-4044-97A6-932BE5076882}" destId="{22FF1DFA-F54D-4FD7-8B10-7833E9253F32}" srcOrd="1" destOrd="0" parTransId="{CA43CFB2-9D90-4857-836E-CD7F5B51925B}" sibTransId="{6063C3AB-3FCB-4F12-AC8E-5B71B7A2D09B}"/>
    <dgm:cxn modelId="{29104B9F-49E8-4BF3-A401-F98C65A01079}" srcId="{E40D0DEF-F65E-4ACE-9E47-4B8483E94EBB}" destId="{903F68E9-7A88-4D92-99DF-972554D7DE73}" srcOrd="4" destOrd="0" parTransId="{4D11C3BE-836E-481F-A6F8-C831849DBB46}" sibTransId="{A21AB905-BB38-4B7D-8E9F-4F386D844484}"/>
    <dgm:cxn modelId="{0BDE9AA3-3B88-4169-8D57-646EEBF52275}" type="presOf" srcId="{879CABF4-E3F7-4A14-B098-6CB4EA1D8105}" destId="{1AD6DE83-171B-4DBA-9D29-0F60C3382ECE}" srcOrd="0" destOrd="0" presId="urn:microsoft.com/office/officeart/2005/8/layout/lProcess3"/>
    <dgm:cxn modelId="{D7B740AB-3750-4DF6-9917-6D04CC9E58EF}" srcId="{D79CAC97-9801-4A69-A8AB-3479A32A0C47}" destId="{E40D0DEF-F65E-4ACE-9E47-4B8483E94EBB}" srcOrd="1" destOrd="0" parTransId="{78EFDAA3-FB60-46BC-9C39-C37EDDEFDBE7}" sibTransId="{A4A17E02-0D11-4A15-93C0-5A8CF9338B55}"/>
    <dgm:cxn modelId="{4AD197AD-B1FF-40B3-A9F1-CB99FBA09B97}" type="presOf" srcId="{D94DAC1F-AA46-4211-B773-DCC03EA5D761}" destId="{531E0984-6DDD-4499-90E4-5D317399FF27}" srcOrd="0" destOrd="0" presId="urn:microsoft.com/office/officeart/2005/8/layout/lProcess3"/>
    <dgm:cxn modelId="{C3AAB9AD-3716-447A-87BF-B6B330C433D4}" srcId="{D79CAC97-9801-4A69-A8AB-3479A32A0C47}" destId="{7D8B010E-193D-4044-97A6-932BE5076882}" srcOrd="0" destOrd="0" parTransId="{211BB2A3-8B14-4955-A779-D8DD79E4D7C4}" sibTransId="{C5B3166A-0D79-4BDF-92D6-6EF46B1D195C}"/>
    <dgm:cxn modelId="{9A29A5B2-DDDB-4AF9-891F-32D4081674CB}" srcId="{7D8B010E-193D-4044-97A6-932BE5076882}" destId="{0436A4BE-00D9-4327-A798-8B9C9B135272}" srcOrd="0" destOrd="0" parTransId="{FD62D04D-7701-4C31-AFEF-89BBDFE94DB6}" sibTransId="{C3A2B4DD-70DD-46D4-B47D-6B0937112602}"/>
    <dgm:cxn modelId="{4ED13EC0-C1CA-4174-AE0D-ADA24779FFF2}" type="presOf" srcId="{D79CAC97-9801-4A69-A8AB-3479A32A0C47}" destId="{53A3CD41-F8D6-4B72-8B9D-3A15F2C8BCCA}" srcOrd="0" destOrd="0" presId="urn:microsoft.com/office/officeart/2005/8/layout/lProcess3"/>
    <dgm:cxn modelId="{9BE920C2-7AAB-4933-A4A4-8F23B1EE8C39}" srcId="{7D8B010E-193D-4044-97A6-932BE5076882}" destId="{D3349835-29C2-457A-8A08-CE78E2B581F2}" srcOrd="2" destOrd="0" parTransId="{F5BAA0B5-79DC-443D-AD6C-D8196519A649}" sibTransId="{A6F31FE8-62A7-4EEE-8E44-FC1DD2BC6455}"/>
    <dgm:cxn modelId="{89A8F5C8-1471-4498-802F-74326B72D164}" type="presOf" srcId="{903F68E9-7A88-4D92-99DF-972554D7DE73}" destId="{16206522-551A-49BE-BB0C-F6EC58C1883A}" srcOrd="0" destOrd="0" presId="urn:microsoft.com/office/officeart/2005/8/layout/lProcess3"/>
    <dgm:cxn modelId="{2CA552D0-17F0-409A-A7F0-F50CDB5DD807}" type="presOf" srcId="{9A4C659B-D965-43B5-B0BF-CF7B24D1B1F5}" destId="{7326CFEE-A32B-4D5E-94CC-260FB269AD1E}" srcOrd="0" destOrd="0" presId="urn:microsoft.com/office/officeart/2005/8/layout/lProcess3"/>
    <dgm:cxn modelId="{DED6F8E1-F94B-4306-AFE8-4FD58A9E7E84}" type="presOf" srcId="{0436A4BE-00D9-4327-A798-8B9C9B135272}" destId="{06DAB5EE-E90C-48A3-AA76-BE6932423A51}" srcOrd="0" destOrd="0" presId="urn:microsoft.com/office/officeart/2005/8/layout/lProcess3"/>
    <dgm:cxn modelId="{917428F8-C8C4-4986-9170-FC24F4389D17}" type="presOf" srcId="{7264B83B-AC34-46FE-AD83-52A76F280EA8}" destId="{B8450E18-E85E-4095-A56C-2035260D45F5}" srcOrd="0" destOrd="0" presId="urn:microsoft.com/office/officeart/2005/8/layout/lProcess3"/>
    <dgm:cxn modelId="{59385D58-13D9-4751-B080-E3212F04138C}" type="presParOf" srcId="{53A3CD41-F8D6-4B72-8B9D-3A15F2C8BCCA}" destId="{2BEECDC7-F7DE-4CF3-ADF7-B18BEE96C51F}" srcOrd="0" destOrd="0" presId="urn:microsoft.com/office/officeart/2005/8/layout/lProcess3"/>
    <dgm:cxn modelId="{DEDF9F4A-2112-45E4-88EF-FEB0EE131828}" type="presParOf" srcId="{2BEECDC7-F7DE-4CF3-ADF7-B18BEE96C51F}" destId="{0926CF48-2621-44F2-9845-C0CAF6971A29}" srcOrd="0" destOrd="0" presId="urn:microsoft.com/office/officeart/2005/8/layout/lProcess3"/>
    <dgm:cxn modelId="{42ED322E-F528-4D64-B222-A42B7894F178}" type="presParOf" srcId="{2BEECDC7-F7DE-4CF3-ADF7-B18BEE96C51F}" destId="{D0F942A4-4745-43E6-8D7B-C6264155B1F2}" srcOrd="1" destOrd="0" presId="urn:microsoft.com/office/officeart/2005/8/layout/lProcess3"/>
    <dgm:cxn modelId="{914DE93E-158E-41C3-ABC1-562EB2DC6272}" type="presParOf" srcId="{2BEECDC7-F7DE-4CF3-ADF7-B18BEE96C51F}" destId="{06DAB5EE-E90C-48A3-AA76-BE6932423A51}" srcOrd="2" destOrd="0" presId="urn:microsoft.com/office/officeart/2005/8/layout/lProcess3"/>
    <dgm:cxn modelId="{1C3FA6FB-A019-4F79-925A-01E70FDDDA05}" type="presParOf" srcId="{2BEECDC7-F7DE-4CF3-ADF7-B18BEE96C51F}" destId="{5418C4C8-4F82-42A3-AB2A-105F0ED0824F}" srcOrd="3" destOrd="0" presId="urn:microsoft.com/office/officeart/2005/8/layout/lProcess3"/>
    <dgm:cxn modelId="{EFB91C2F-D73F-47D7-B667-3C87BC6C1E19}" type="presParOf" srcId="{2BEECDC7-F7DE-4CF3-ADF7-B18BEE96C51F}" destId="{E422D08A-C637-4396-94D0-55342A8426F4}" srcOrd="4" destOrd="0" presId="urn:microsoft.com/office/officeart/2005/8/layout/lProcess3"/>
    <dgm:cxn modelId="{684EA5CB-62AC-499B-B7AE-47B30CFEF5FA}" type="presParOf" srcId="{2BEECDC7-F7DE-4CF3-ADF7-B18BEE96C51F}" destId="{30E7E6BC-87BD-44BB-B22E-289B7B194207}" srcOrd="5" destOrd="0" presId="urn:microsoft.com/office/officeart/2005/8/layout/lProcess3"/>
    <dgm:cxn modelId="{BA70BF44-28E9-45B7-B180-E3766F4F4CE1}" type="presParOf" srcId="{2BEECDC7-F7DE-4CF3-ADF7-B18BEE96C51F}" destId="{18FAF3FF-B47D-4AFA-A0B3-4AF314420619}" srcOrd="6" destOrd="0" presId="urn:microsoft.com/office/officeart/2005/8/layout/lProcess3"/>
    <dgm:cxn modelId="{171E2891-7DB9-479B-A42E-E22643792467}" type="presParOf" srcId="{2BEECDC7-F7DE-4CF3-ADF7-B18BEE96C51F}" destId="{A1F0EB46-1AB3-489B-8F17-9BEFAE570192}" srcOrd="7" destOrd="0" presId="urn:microsoft.com/office/officeart/2005/8/layout/lProcess3"/>
    <dgm:cxn modelId="{C7E1050D-F30F-4B37-96CC-B5DB8CCAD1A8}" type="presParOf" srcId="{2BEECDC7-F7DE-4CF3-ADF7-B18BEE96C51F}" destId="{1AD6DE83-171B-4DBA-9D29-0F60C3382ECE}" srcOrd="8" destOrd="0" presId="urn:microsoft.com/office/officeart/2005/8/layout/lProcess3"/>
    <dgm:cxn modelId="{C1EE9DC5-FF85-4B67-97AD-348C49938216}" type="presParOf" srcId="{2BEECDC7-F7DE-4CF3-ADF7-B18BEE96C51F}" destId="{1B967119-9E32-465F-B782-FF9BB654667D}" srcOrd="9" destOrd="0" presId="urn:microsoft.com/office/officeart/2005/8/layout/lProcess3"/>
    <dgm:cxn modelId="{3C205C3A-6A5C-49CC-8E33-539FD4448333}" type="presParOf" srcId="{2BEECDC7-F7DE-4CF3-ADF7-B18BEE96C51F}" destId="{B8450E18-E85E-4095-A56C-2035260D45F5}" srcOrd="10" destOrd="0" presId="urn:microsoft.com/office/officeart/2005/8/layout/lProcess3"/>
    <dgm:cxn modelId="{5302248A-985B-4AE9-9878-AD821DE0A0C9}" type="presParOf" srcId="{53A3CD41-F8D6-4B72-8B9D-3A15F2C8BCCA}" destId="{58A38AE1-7AF9-4287-BE13-DA197776A38F}" srcOrd="1" destOrd="0" presId="urn:microsoft.com/office/officeart/2005/8/layout/lProcess3"/>
    <dgm:cxn modelId="{283AAE96-E351-47FC-9435-2EDF3B064B5E}" type="presParOf" srcId="{53A3CD41-F8D6-4B72-8B9D-3A15F2C8BCCA}" destId="{31A44AA6-5970-4A3F-B95B-24F2D214224C}" srcOrd="2" destOrd="0" presId="urn:microsoft.com/office/officeart/2005/8/layout/lProcess3"/>
    <dgm:cxn modelId="{BF5E726E-38D2-40F9-8797-F252CD15BF19}" type="presParOf" srcId="{31A44AA6-5970-4A3F-B95B-24F2D214224C}" destId="{610D89AB-8F2E-4048-8978-ED0F285E1A63}" srcOrd="0" destOrd="0" presId="urn:microsoft.com/office/officeart/2005/8/layout/lProcess3"/>
    <dgm:cxn modelId="{3747D3A5-1B48-4D6D-A411-22E8AA31B033}" type="presParOf" srcId="{31A44AA6-5970-4A3F-B95B-24F2D214224C}" destId="{CDB329F0-6951-4EC4-9165-974969720103}" srcOrd="1" destOrd="0" presId="urn:microsoft.com/office/officeart/2005/8/layout/lProcess3"/>
    <dgm:cxn modelId="{36DF5552-42D1-4511-BE36-603A22C81226}" type="presParOf" srcId="{31A44AA6-5970-4A3F-B95B-24F2D214224C}" destId="{1B850A2B-2557-49C4-980D-26F86D3CD37D}" srcOrd="2" destOrd="0" presId="urn:microsoft.com/office/officeart/2005/8/layout/lProcess3"/>
    <dgm:cxn modelId="{66ECAA01-2EAA-42DD-BCB8-FDDF223D250C}" type="presParOf" srcId="{31A44AA6-5970-4A3F-B95B-24F2D214224C}" destId="{54D58210-F089-47FC-9CCD-6BAE454364E8}" srcOrd="3" destOrd="0" presId="urn:microsoft.com/office/officeart/2005/8/layout/lProcess3"/>
    <dgm:cxn modelId="{0C05557D-6870-4043-9740-50EB776DB361}" type="presParOf" srcId="{31A44AA6-5970-4A3F-B95B-24F2D214224C}" destId="{7326CFEE-A32B-4D5E-94CC-260FB269AD1E}" srcOrd="4" destOrd="0" presId="urn:microsoft.com/office/officeart/2005/8/layout/lProcess3"/>
    <dgm:cxn modelId="{B8D9529B-FAAD-40E0-82E6-F3ED8A688781}" type="presParOf" srcId="{31A44AA6-5970-4A3F-B95B-24F2D214224C}" destId="{983A48F0-FAF5-4299-A78F-9540ABE25975}" srcOrd="5" destOrd="0" presId="urn:microsoft.com/office/officeart/2005/8/layout/lProcess3"/>
    <dgm:cxn modelId="{88524D54-F0AF-4340-9910-17128424D5C8}" type="presParOf" srcId="{31A44AA6-5970-4A3F-B95B-24F2D214224C}" destId="{97728D86-884B-4113-B2D2-B36D2F5F75DF}" srcOrd="6" destOrd="0" presId="urn:microsoft.com/office/officeart/2005/8/layout/lProcess3"/>
    <dgm:cxn modelId="{175E7A64-147D-4B57-AE3C-555FA977A20A}" type="presParOf" srcId="{31A44AA6-5970-4A3F-B95B-24F2D214224C}" destId="{B6D7AD8D-A48F-41CF-8047-F314D016EEB5}" srcOrd="7" destOrd="0" presId="urn:microsoft.com/office/officeart/2005/8/layout/lProcess3"/>
    <dgm:cxn modelId="{CDCC1ED9-710E-4987-8F5F-CCE2601C258A}" type="presParOf" srcId="{31A44AA6-5970-4A3F-B95B-24F2D214224C}" destId="{531E0984-6DDD-4499-90E4-5D317399FF27}" srcOrd="8" destOrd="0" presId="urn:microsoft.com/office/officeart/2005/8/layout/lProcess3"/>
    <dgm:cxn modelId="{4D8F4991-BF2A-4A36-90DC-FEC6B77913BA}" type="presParOf" srcId="{31A44AA6-5970-4A3F-B95B-24F2D214224C}" destId="{7A00D05A-52F5-4BCF-9524-CE4CDD19065D}" srcOrd="9" destOrd="0" presId="urn:microsoft.com/office/officeart/2005/8/layout/lProcess3"/>
    <dgm:cxn modelId="{23C06EE2-EF27-45F2-B92C-36E303300C4C}" type="presParOf" srcId="{31A44AA6-5970-4A3F-B95B-24F2D214224C}" destId="{16206522-551A-49BE-BB0C-F6EC58C1883A}" srcOrd="10" destOrd="0" presId="urn:microsoft.com/office/officeart/2005/8/layout/lProcess3"/>
    <dgm:cxn modelId="{5237AC6F-52C8-40F9-9BDA-D09E803ED615}" type="presParOf" srcId="{31A44AA6-5970-4A3F-B95B-24F2D214224C}" destId="{99667B66-45A2-47E2-B917-B3C27BFC6BBF}" srcOrd="11" destOrd="0" presId="urn:microsoft.com/office/officeart/2005/8/layout/lProcess3"/>
    <dgm:cxn modelId="{711B5D16-2635-4AF9-9E10-E09B361CEAB3}" type="presParOf" srcId="{31A44AA6-5970-4A3F-B95B-24F2D214224C}" destId="{1D68735F-D983-48AA-8BA0-368EBA2992CA}" srcOrd="12"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D79CAC97-9801-4A69-A8AB-3479A32A0C47}" type="doc">
      <dgm:prSet loTypeId="urn:microsoft.com/office/officeart/2005/8/layout/lProcess3" loCatId="process" qsTypeId="urn:microsoft.com/office/officeart/2005/8/quickstyle/simple1" qsCatId="simple" csTypeId="urn:microsoft.com/office/officeart/2005/8/colors/accent1_2" csCatId="accent1" phldr="1"/>
      <dgm:spPr/>
      <dgm:t>
        <a:bodyPr/>
        <a:lstStyle/>
        <a:p>
          <a:endParaRPr lang="en-IN"/>
        </a:p>
      </dgm:t>
    </dgm:pt>
    <dgm:pt modelId="{7D8B010E-193D-4044-97A6-932BE5076882}">
      <dgm:prSet phldrT="[Text]" custT="1"/>
      <dgm:spPr>
        <a:noFill/>
        <a:ln>
          <a:solidFill>
            <a:srgbClr val="FFFF00"/>
          </a:solidFill>
        </a:ln>
      </dgm:spPr>
      <dgm:t>
        <a:bodyPr/>
        <a:lstStyle/>
        <a:p>
          <a:r>
            <a:rPr lang="en-IN" sz="1800" b="1" dirty="0">
              <a:solidFill>
                <a:srgbClr val="FFE600"/>
              </a:solidFill>
              <a:latin typeface="EY interstate"/>
            </a:rPr>
            <a:t>Depreciation</a:t>
          </a:r>
          <a:endParaRPr lang="en-IN" dirty="0">
            <a:solidFill>
              <a:srgbClr val="FFE600"/>
            </a:solidFill>
          </a:endParaRPr>
        </a:p>
      </dgm:t>
    </dgm:pt>
    <dgm:pt modelId="{211BB2A3-8B14-4955-A779-D8DD79E4D7C4}" type="parTrans" cxnId="{C3AAB9AD-3716-447A-87BF-B6B330C433D4}">
      <dgm:prSet/>
      <dgm:spPr/>
      <dgm:t>
        <a:bodyPr/>
        <a:lstStyle/>
        <a:p>
          <a:endParaRPr lang="en-IN"/>
        </a:p>
      </dgm:t>
    </dgm:pt>
    <dgm:pt modelId="{C5B3166A-0D79-4BDF-92D6-6EF46B1D195C}" type="sibTrans" cxnId="{C3AAB9AD-3716-447A-87BF-B6B330C433D4}">
      <dgm:prSet/>
      <dgm:spPr/>
      <dgm:t>
        <a:bodyPr/>
        <a:lstStyle/>
        <a:p>
          <a:endParaRPr lang="en-IN"/>
        </a:p>
      </dgm:t>
    </dgm:pt>
    <dgm:pt modelId="{0436A4BE-00D9-4327-A798-8B9C9B135272}">
      <dgm:prSet phldrT="[Text]" custT="1"/>
      <dgm:spPr>
        <a:noFill/>
      </dgm:spPr>
      <dgm:t>
        <a:bodyPr/>
        <a:lstStyle/>
        <a:p>
          <a:r>
            <a:rPr lang="en-IN" sz="1400" b="1" dirty="0">
              <a:solidFill>
                <a:srgbClr val="FFE600"/>
              </a:solidFill>
              <a:latin typeface="EY interstate"/>
            </a:rPr>
            <a:t>Validate Asset Master Data</a:t>
          </a:r>
        </a:p>
      </dgm:t>
    </dgm:pt>
    <dgm:pt modelId="{FD62D04D-7701-4C31-AFEF-89BBDFE94DB6}" type="parTrans" cxnId="{9A29A5B2-DDDB-4AF9-891F-32D4081674CB}">
      <dgm:prSet/>
      <dgm:spPr/>
      <dgm:t>
        <a:bodyPr/>
        <a:lstStyle/>
        <a:p>
          <a:endParaRPr lang="en-IN"/>
        </a:p>
      </dgm:t>
    </dgm:pt>
    <dgm:pt modelId="{C3A2B4DD-70DD-46D4-B47D-6B0937112602}" type="sibTrans" cxnId="{9A29A5B2-DDDB-4AF9-891F-32D4081674CB}">
      <dgm:prSet/>
      <dgm:spPr/>
      <dgm:t>
        <a:bodyPr/>
        <a:lstStyle/>
        <a:p>
          <a:endParaRPr lang="en-IN"/>
        </a:p>
      </dgm:t>
    </dgm:pt>
    <dgm:pt modelId="{E40D0DEF-F65E-4ACE-9E47-4B8483E94EBB}">
      <dgm:prSet phldrT="[Text]" custT="1"/>
      <dgm:spPr>
        <a:noFill/>
        <a:ln>
          <a:solidFill>
            <a:srgbClr val="FFFF00"/>
          </a:solidFill>
        </a:ln>
      </dgm:spPr>
      <dgm:t>
        <a:bodyPr/>
        <a:lstStyle/>
        <a:p>
          <a:r>
            <a:rPr lang="en-IN" sz="1800" b="1" dirty="0">
              <a:solidFill>
                <a:srgbClr val="FFE600"/>
              </a:solidFill>
              <a:latin typeface="EY interstate"/>
            </a:rPr>
            <a:t>Amortization</a:t>
          </a:r>
        </a:p>
      </dgm:t>
    </dgm:pt>
    <dgm:pt modelId="{78EFDAA3-FB60-46BC-9C39-C37EDDEFDBE7}" type="parTrans" cxnId="{D7B740AB-3750-4DF6-9917-6D04CC9E58EF}">
      <dgm:prSet/>
      <dgm:spPr/>
      <dgm:t>
        <a:bodyPr/>
        <a:lstStyle/>
        <a:p>
          <a:endParaRPr lang="en-IN"/>
        </a:p>
      </dgm:t>
    </dgm:pt>
    <dgm:pt modelId="{A4A17E02-0D11-4A15-93C0-5A8CF9338B55}" type="sibTrans" cxnId="{D7B740AB-3750-4DF6-9917-6D04CC9E58EF}">
      <dgm:prSet/>
      <dgm:spPr/>
      <dgm:t>
        <a:bodyPr/>
        <a:lstStyle/>
        <a:p>
          <a:endParaRPr lang="en-IN"/>
        </a:p>
      </dgm:t>
    </dgm:pt>
    <dgm:pt modelId="{5F4CFFCE-285E-4526-8465-39A33BAA21A9}">
      <dgm:prSet phldrT="[Text]" custT="1"/>
      <dgm:spPr>
        <a:noFill/>
      </dgm:spPr>
      <dgm:t>
        <a:bodyPr/>
        <a:lstStyle/>
        <a:p>
          <a:r>
            <a:rPr lang="en-IN" sz="1400" b="1" dirty="0">
              <a:solidFill>
                <a:srgbClr val="FFE600"/>
              </a:solidFill>
              <a:latin typeface="EY interstate"/>
            </a:rPr>
            <a:t>Identify and Classify</a:t>
          </a:r>
        </a:p>
      </dgm:t>
    </dgm:pt>
    <dgm:pt modelId="{CAAC494C-8E42-4E17-9B90-3271DEA4B2D7}" type="parTrans" cxnId="{B3D36C5F-2D5B-4229-9F91-B3CAF58AA316}">
      <dgm:prSet/>
      <dgm:spPr/>
      <dgm:t>
        <a:bodyPr/>
        <a:lstStyle/>
        <a:p>
          <a:endParaRPr lang="en-IN"/>
        </a:p>
      </dgm:t>
    </dgm:pt>
    <dgm:pt modelId="{F9CCE020-2C53-429F-8C09-3F09CA8B2DD1}" type="sibTrans" cxnId="{B3D36C5F-2D5B-4229-9F91-B3CAF58AA316}">
      <dgm:prSet/>
      <dgm:spPr/>
      <dgm:t>
        <a:bodyPr/>
        <a:lstStyle/>
        <a:p>
          <a:endParaRPr lang="en-IN"/>
        </a:p>
      </dgm:t>
    </dgm:pt>
    <dgm:pt modelId="{22FF1DFA-F54D-4FD7-8B10-7833E9253F32}">
      <dgm:prSet phldrT="[Text]" custT="1"/>
      <dgm:spPr>
        <a:noFill/>
      </dgm:spPr>
      <dgm:t>
        <a:bodyPr/>
        <a:lstStyle/>
        <a:p>
          <a:r>
            <a:rPr lang="en-IN" sz="1400" b="1">
              <a:solidFill>
                <a:srgbClr val="FFE600"/>
              </a:solidFill>
              <a:latin typeface="EY interstate"/>
            </a:rPr>
            <a:t>Configure Depreciation Rules</a:t>
          </a:r>
        </a:p>
      </dgm:t>
    </dgm:pt>
    <dgm:pt modelId="{CA43CFB2-9D90-4857-836E-CD7F5B51925B}" type="parTrans" cxnId="{749C6691-1681-4F6D-A41F-6C37B78E6021}">
      <dgm:prSet/>
      <dgm:spPr/>
      <dgm:t>
        <a:bodyPr/>
        <a:lstStyle/>
        <a:p>
          <a:endParaRPr lang="en-IN"/>
        </a:p>
      </dgm:t>
    </dgm:pt>
    <dgm:pt modelId="{6063C3AB-3FCB-4F12-AC8E-5B71B7A2D09B}" type="sibTrans" cxnId="{749C6691-1681-4F6D-A41F-6C37B78E6021}">
      <dgm:prSet/>
      <dgm:spPr/>
      <dgm:t>
        <a:bodyPr/>
        <a:lstStyle/>
        <a:p>
          <a:endParaRPr lang="en-IN"/>
        </a:p>
      </dgm:t>
    </dgm:pt>
    <dgm:pt modelId="{D3349835-29C2-457A-8A08-CE78E2B581F2}">
      <dgm:prSet phldrT="[Text]" custT="1"/>
      <dgm:spPr>
        <a:noFill/>
      </dgm:spPr>
      <dgm:t>
        <a:bodyPr/>
        <a:lstStyle/>
        <a:p>
          <a:r>
            <a:rPr lang="en-IN" sz="1400" b="1" dirty="0">
              <a:solidFill>
                <a:srgbClr val="FFE600"/>
              </a:solidFill>
              <a:latin typeface="EY interstate"/>
            </a:rPr>
            <a:t>Automate Data Extraction</a:t>
          </a:r>
        </a:p>
      </dgm:t>
    </dgm:pt>
    <dgm:pt modelId="{F5BAA0B5-79DC-443D-AD6C-D8196519A649}" type="parTrans" cxnId="{9BE920C2-7AAB-4933-A4A4-8F23B1EE8C39}">
      <dgm:prSet/>
      <dgm:spPr/>
      <dgm:t>
        <a:bodyPr/>
        <a:lstStyle/>
        <a:p>
          <a:endParaRPr lang="en-IN"/>
        </a:p>
      </dgm:t>
    </dgm:pt>
    <dgm:pt modelId="{A6F31FE8-62A7-4EEE-8E44-FC1DD2BC6455}" type="sibTrans" cxnId="{9BE920C2-7AAB-4933-A4A4-8F23B1EE8C39}">
      <dgm:prSet/>
      <dgm:spPr/>
      <dgm:t>
        <a:bodyPr/>
        <a:lstStyle/>
        <a:p>
          <a:endParaRPr lang="en-IN"/>
        </a:p>
      </dgm:t>
    </dgm:pt>
    <dgm:pt modelId="{879CABF4-E3F7-4A14-B098-6CB4EA1D8105}">
      <dgm:prSet phldrT="[Text]" custT="1"/>
      <dgm:spPr>
        <a:noFill/>
      </dgm:spPr>
      <dgm:t>
        <a:bodyPr/>
        <a:lstStyle/>
        <a:p>
          <a:r>
            <a:rPr lang="en-IN" sz="1400" b="1" dirty="0">
              <a:solidFill>
                <a:srgbClr val="FFE600"/>
              </a:solidFill>
              <a:latin typeface="EY interstate"/>
            </a:rPr>
            <a:t>Depreciation Calculation Engine</a:t>
          </a:r>
        </a:p>
      </dgm:t>
    </dgm:pt>
    <dgm:pt modelId="{4A40CD0C-AAEA-4CE2-BFC9-889A2D9DC79F}" type="parTrans" cxnId="{2F54EE53-A3CF-4FD8-BC60-7D43775711A3}">
      <dgm:prSet/>
      <dgm:spPr/>
      <dgm:t>
        <a:bodyPr/>
        <a:lstStyle/>
        <a:p>
          <a:endParaRPr lang="en-IN"/>
        </a:p>
      </dgm:t>
    </dgm:pt>
    <dgm:pt modelId="{6A4FB47C-CC2B-49F7-B033-C90AE4B07B30}" type="sibTrans" cxnId="{2F54EE53-A3CF-4FD8-BC60-7D43775711A3}">
      <dgm:prSet/>
      <dgm:spPr/>
      <dgm:t>
        <a:bodyPr/>
        <a:lstStyle/>
        <a:p>
          <a:endParaRPr lang="en-IN"/>
        </a:p>
      </dgm:t>
    </dgm:pt>
    <dgm:pt modelId="{7264B83B-AC34-46FE-AD83-52A76F280EA8}">
      <dgm:prSet phldrT="[Text]" custT="1"/>
      <dgm:spPr>
        <a:noFill/>
      </dgm:spPr>
      <dgm:t>
        <a:bodyPr/>
        <a:lstStyle/>
        <a:p>
          <a:r>
            <a:rPr lang="en-IN" sz="1400" b="1" dirty="0">
              <a:solidFill>
                <a:srgbClr val="FFE600"/>
              </a:solidFill>
              <a:latin typeface="EY interstate"/>
            </a:rPr>
            <a:t>Journal Entry Posting</a:t>
          </a:r>
        </a:p>
      </dgm:t>
    </dgm:pt>
    <dgm:pt modelId="{5BAB4CB4-1647-4FAA-904F-D14014D6309E}" type="parTrans" cxnId="{7217AB28-4F09-41FC-BD03-EBB9148FBEB5}">
      <dgm:prSet/>
      <dgm:spPr/>
      <dgm:t>
        <a:bodyPr/>
        <a:lstStyle/>
        <a:p>
          <a:endParaRPr lang="en-IN"/>
        </a:p>
      </dgm:t>
    </dgm:pt>
    <dgm:pt modelId="{E2EF25E5-E1D4-4449-97E3-B827B8D9586C}" type="sibTrans" cxnId="{7217AB28-4F09-41FC-BD03-EBB9148FBEB5}">
      <dgm:prSet/>
      <dgm:spPr/>
      <dgm:t>
        <a:bodyPr/>
        <a:lstStyle/>
        <a:p>
          <a:endParaRPr lang="en-IN"/>
        </a:p>
      </dgm:t>
    </dgm:pt>
    <dgm:pt modelId="{9A4C659B-D965-43B5-B0BF-CF7B24D1B1F5}">
      <dgm:prSet phldrT="[Text]" custT="1"/>
      <dgm:spPr>
        <a:noFill/>
      </dgm:spPr>
      <dgm:t>
        <a:bodyPr/>
        <a:lstStyle/>
        <a:p>
          <a:r>
            <a:rPr lang="en-IN" sz="1400" b="1" dirty="0">
              <a:solidFill>
                <a:srgbClr val="FFE600"/>
              </a:solidFill>
              <a:latin typeface="EY interstate"/>
            </a:rPr>
            <a:t>Define Amortization Policy</a:t>
          </a:r>
        </a:p>
      </dgm:t>
    </dgm:pt>
    <dgm:pt modelId="{77D59274-DF5C-4932-8ECC-DC1D3CDF13BF}" type="parTrans" cxnId="{04CB424C-1A33-4320-960C-9E946AB0FC7A}">
      <dgm:prSet/>
      <dgm:spPr/>
      <dgm:t>
        <a:bodyPr/>
        <a:lstStyle/>
        <a:p>
          <a:endParaRPr lang="en-IN"/>
        </a:p>
      </dgm:t>
    </dgm:pt>
    <dgm:pt modelId="{502BD7A8-1C5E-4386-AB87-91F7AA0F5C9D}" type="sibTrans" cxnId="{04CB424C-1A33-4320-960C-9E946AB0FC7A}">
      <dgm:prSet/>
      <dgm:spPr/>
      <dgm:t>
        <a:bodyPr/>
        <a:lstStyle/>
        <a:p>
          <a:endParaRPr lang="en-IN"/>
        </a:p>
      </dgm:t>
    </dgm:pt>
    <dgm:pt modelId="{668A3B6E-FAA0-40EB-8833-E75F585A71B4}">
      <dgm:prSet phldrT="[Text]" custT="1"/>
      <dgm:spPr>
        <a:noFill/>
      </dgm:spPr>
      <dgm:t>
        <a:bodyPr/>
        <a:lstStyle/>
        <a:p>
          <a:r>
            <a:rPr lang="en-IN" sz="1400" b="1" dirty="0">
              <a:solidFill>
                <a:srgbClr val="FFE600"/>
              </a:solidFill>
              <a:latin typeface="EY interstate"/>
            </a:rPr>
            <a:t>Configure ERP/Automation Rules</a:t>
          </a:r>
        </a:p>
      </dgm:t>
    </dgm:pt>
    <dgm:pt modelId="{15D09783-98DE-40DA-A2EC-1F41A3FFF564}" type="parTrans" cxnId="{8C6CD46C-3C23-4FCF-A0A1-496EE56809BC}">
      <dgm:prSet/>
      <dgm:spPr/>
      <dgm:t>
        <a:bodyPr/>
        <a:lstStyle/>
        <a:p>
          <a:endParaRPr lang="en-IN"/>
        </a:p>
      </dgm:t>
    </dgm:pt>
    <dgm:pt modelId="{4AD26A8D-8528-4118-B5A1-BF0C9A8AB8D8}" type="sibTrans" cxnId="{8C6CD46C-3C23-4FCF-A0A1-496EE56809BC}">
      <dgm:prSet/>
      <dgm:spPr/>
      <dgm:t>
        <a:bodyPr/>
        <a:lstStyle/>
        <a:p>
          <a:endParaRPr lang="en-IN"/>
        </a:p>
      </dgm:t>
    </dgm:pt>
    <dgm:pt modelId="{D94DAC1F-AA46-4211-B773-DCC03EA5D761}">
      <dgm:prSet phldrT="[Text]" custT="1"/>
      <dgm:spPr>
        <a:noFill/>
      </dgm:spPr>
      <dgm:t>
        <a:bodyPr/>
        <a:lstStyle/>
        <a:p>
          <a:r>
            <a:rPr lang="en-IN" sz="1400" b="1" dirty="0">
              <a:solidFill>
                <a:srgbClr val="FFE600"/>
              </a:solidFill>
              <a:latin typeface="EY interstate"/>
            </a:rPr>
            <a:t>Automate Data Integration</a:t>
          </a:r>
        </a:p>
      </dgm:t>
    </dgm:pt>
    <dgm:pt modelId="{E2304411-2045-415A-BD35-E2A71D0E0003}" type="parTrans" cxnId="{184CFC15-FE7D-4D97-804D-8199886EDE99}">
      <dgm:prSet/>
      <dgm:spPr/>
      <dgm:t>
        <a:bodyPr/>
        <a:lstStyle/>
        <a:p>
          <a:endParaRPr lang="en-IN"/>
        </a:p>
      </dgm:t>
    </dgm:pt>
    <dgm:pt modelId="{06330855-17B7-4B13-947B-E062F698AE6F}" type="sibTrans" cxnId="{184CFC15-FE7D-4D97-804D-8199886EDE99}">
      <dgm:prSet/>
      <dgm:spPr/>
      <dgm:t>
        <a:bodyPr/>
        <a:lstStyle/>
        <a:p>
          <a:endParaRPr lang="en-IN"/>
        </a:p>
      </dgm:t>
    </dgm:pt>
    <dgm:pt modelId="{903F68E9-7A88-4D92-99DF-972554D7DE73}">
      <dgm:prSet phldrT="[Text]" custT="1"/>
      <dgm:spPr>
        <a:noFill/>
      </dgm:spPr>
      <dgm:t>
        <a:bodyPr/>
        <a:lstStyle/>
        <a:p>
          <a:r>
            <a:rPr lang="en-IN" sz="1400" b="1" dirty="0">
              <a:solidFill>
                <a:srgbClr val="FFE600"/>
              </a:solidFill>
              <a:latin typeface="EY interstate"/>
            </a:rPr>
            <a:t>Amortization Calculation &amp; Posting</a:t>
          </a:r>
        </a:p>
      </dgm:t>
    </dgm:pt>
    <dgm:pt modelId="{4D11C3BE-836E-481F-A6F8-C831849DBB46}" type="parTrans" cxnId="{29104B9F-49E8-4BF3-A401-F98C65A01079}">
      <dgm:prSet/>
      <dgm:spPr/>
      <dgm:t>
        <a:bodyPr/>
        <a:lstStyle/>
        <a:p>
          <a:endParaRPr lang="en-IN"/>
        </a:p>
      </dgm:t>
    </dgm:pt>
    <dgm:pt modelId="{A21AB905-BB38-4B7D-8E9F-4F386D844484}" type="sibTrans" cxnId="{29104B9F-49E8-4BF3-A401-F98C65A01079}">
      <dgm:prSet/>
      <dgm:spPr/>
      <dgm:t>
        <a:bodyPr/>
        <a:lstStyle/>
        <a:p>
          <a:endParaRPr lang="en-IN"/>
        </a:p>
      </dgm:t>
    </dgm:pt>
    <dgm:pt modelId="{B1C0FAD6-170B-422B-B865-0425752D322D}">
      <dgm:prSet phldrT="[Text]" custT="1"/>
      <dgm:spPr>
        <a:noFill/>
      </dgm:spPr>
      <dgm:t>
        <a:bodyPr/>
        <a:lstStyle/>
        <a:p>
          <a:r>
            <a:rPr lang="en-IN" sz="1400" b="1" dirty="0">
              <a:solidFill>
                <a:srgbClr val="FFE600"/>
              </a:solidFill>
              <a:latin typeface="EY interstate"/>
            </a:rPr>
            <a:t>Monitoring, Reporting &amp; Compliance</a:t>
          </a:r>
        </a:p>
      </dgm:t>
    </dgm:pt>
    <dgm:pt modelId="{BA70427D-F069-49B9-90BA-068944BF740D}" type="parTrans" cxnId="{5F8B9A0E-F276-4571-BFF6-4B0EA84FCE71}">
      <dgm:prSet/>
      <dgm:spPr/>
      <dgm:t>
        <a:bodyPr/>
        <a:lstStyle/>
        <a:p>
          <a:endParaRPr lang="en-IN"/>
        </a:p>
      </dgm:t>
    </dgm:pt>
    <dgm:pt modelId="{E1339BEA-F577-422E-8762-C0096FFC234B}" type="sibTrans" cxnId="{5F8B9A0E-F276-4571-BFF6-4B0EA84FCE71}">
      <dgm:prSet/>
      <dgm:spPr/>
      <dgm:t>
        <a:bodyPr/>
        <a:lstStyle/>
        <a:p>
          <a:endParaRPr lang="en-IN"/>
        </a:p>
      </dgm:t>
    </dgm:pt>
    <dgm:pt modelId="{47AA00A5-E3F3-4FCB-BB88-2E806FFD0156}">
      <dgm:prSet phldrT="[Text]" custT="1"/>
      <dgm:spPr>
        <a:noFill/>
      </dgm:spPr>
      <dgm:t>
        <a:bodyPr/>
        <a:lstStyle/>
        <a:p>
          <a:r>
            <a:rPr lang="en-IN" sz="1400" b="1" dirty="0">
              <a:solidFill>
                <a:srgbClr val="FFE600"/>
              </a:solidFill>
              <a:latin typeface="EY interstate"/>
            </a:rPr>
            <a:t>Reporting &amp; Controls</a:t>
          </a:r>
        </a:p>
      </dgm:t>
    </dgm:pt>
    <dgm:pt modelId="{319E4EB2-0D2F-4153-BBAF-E90F7983BE11}" type="parTrans" cxnId="{A64ED07F-B133-4FCC-B74B-232A4CF89ECB}">
      <dgm:prSet/>
      <dgm:spPr/>
      <dgm:t>
        <a:bodyPr/>
        <a:lstStyle/>
        <a:p>
          <a:endParaRPr lang="en-IN"/>
        </a:p>
      </dgm:t>
    </dgm:pt>
    <dgm:pt modelId="{84B8ADC2-ABC1-4D4D-A726-BB545E0DD37F}" type="sibTrans" cxnId="{A64ED07F-B133-4FCC-B74B-232A4CF89ECB}">
      <dgm:prSet/>
      <dgm:spPr/>
      <dgm:t>
        <a:bodyPr/>
        <a:lstStyle/>
        <a:p>
          <a:endParaRPr lang="en-IN"/>
        </a:p>
      </dgm:t>
    </dgm:pt>
    <dgm:pt modelId="{53A3CD41-F8D6-4B72-8B9D-3A15F2C8BCCA}" type="pres">
      <dgm:prSet presAssocID="{D79CAC97-9801-4A69-A8AB-3479A32A0C47}" presName="Name0" presStyleCnt="0">
        <dgm:presLayoutVars>
          <dgm:chPref val="3"/>
          <dgm:dir/>
          <dgm:animLvl val="lvl"/>
          <dgm:resizeHandles/>
        </dgm:presLayoutVars>
      </dgm:prSet>
      <dgm:spPr/>
    </dgm:pt>
    <dgm:pt modelId="{2BEECDC7-F7DE-4CF3-ADF7-B18BEE96C51F}" type="pres">
      <dgm:prSet presAssocID="{7D8B010E-193D-4044-97A6-932BE5076882}" presName="horFlow" presStyleCnt="0"/>
      <dgm:spPr/>
    </dgm:pt>
    <dgm:pt modelId="{0926CF48-2621-44F2-9845-C0CAF6971A29}" type="pres">
      <dgm:prSet presAssocID="{7D8B010E-193D-4044-97A6-932BE5076882}" presName="bigChev" presStyleLbl="node1" presStyleIdx="0" presStyleCnt="2" custLinFactY="-8954" custLinFactNeighborX="375" custLinFactNeighborY="-100000"/>
      <dgm:spPr/>
    </dgm:pt>
    <dgm:pt modelId="{D0F942A4-4745-43E6-8D7B-C6264155B1F2}" type="pres">
      <dgm:prSet presAssocID="{FD62D04D-7701-4C31-AFEF-89BBDFE94DB6}" presName="parTrans" presStyleCnt="0"/>
      <dgm:spPr/>
    </dgm:pt>
    <dgm:pt modelId="{06DAB5EE-E90C-48A3-AA76-BE6932423A51}" type="pres">
      <dgm:prSet presAssocID="{0436A4BE-00D9-4327-A798-8B9C9B135272}" presName="node" presStyleLbl="alignAccFollowNode1" presStyleIdx="0" presStyleCnt="12" custLinFactY="-31270" custLinFactNeighborX="419" custLinFactNeighborY="-100000">
        <dgm:presLayoutVars>
          <dgm:bulletEnabled val="1"/>
        </dgm:presLayoutVars>
      </dgm:prSet>
      <dgm:spPr/>
    </dgm:pt>
    <dgm:pt modelId="{5418C4C8-4F82-42A3-AB2A-105F0ED0824F}" type="pres">
      <dgm:prSet presAssocID="{C3A2B4DD-70DD-46D4-B47D-6B0937112602}" presName="sibTrans" presStyleCnt="0"/>
      <dgm:spPr/>
    </dgm:pt>
    <dgm:pt modelId="{E422D08A-C637-4396-94D0-55342A8426F4}" type="pres">
      <dgm:prSet presAssocID="{22FF1DFA-F54D-4FD7-8B10-7833E9253F32}" presName="node" presStyleLbl="alignAccFollowNode1" presStyleIdx="1" presStyleCnt="12" custLinFactY="-31270" custLinFactNeighborX="419" custLinFactNeighborY="-100000">
        <dgm:presLayoutVars>
          <dgm:bulletEnabled val="1"/>
        </dgm:presLayoutVars>
      </dgm:prSet>
      <dgm:spPr/>
    </dgm:pt>
    <dgm:pt modelId="{30E7E6BC-87BD-44BB-B22E-289B7B194207}" type="pres">
      <dgm:prSet presAssocID="{6063C3AB-3FCB-4F12-AC8E-5B71B7A2D09B}" presName="sibTrans" presStyleCnt="0"/>
      <dgm:spPr/>
    </dgm:pt>
    <dgm:pt modelId="{18FAF3FF-B47D-4AFA-A0B3-4AF314420619}" type="pres">
      <dgm:prSet presAssocID="{D3349835-29C2-457A-8A08-CE78E2B581F2}" presName="node" presStyleLbl="alignAccFollowNode1" presStyleIdx="2" presStyleCnt="12" custLinFactY="-31270" custLinFactNeighborX="419" custLinFactNeighborY="-100000">
        <dgm:presLayoutVars>
          <dgm:bulletEnabled val="1"/>
        </dgm:presLayoutVars>
      </dgm:prSet>
      <dgm:spPr/>
    </dgm:pt>
    <dgm:pt modelId="{A1F0EB46-1AB3-489B-8F17-9BEFAE570192}" type="pres">
      <dgm:prSet presAssocID="{A6F31FE8-62A7-4EEE-8E44-FC1DD2BC6455}" presName="sibTrans" presStyleCnt="0"/>
      <dgm:spPr/>
    </dgm:pt>
    <dgm:pt modelId="{1AD6DE83-171B-4DBA-9D29-0F60C3382ECE}" type="pres">
      <dgm:prSet presAssocID="{879CABF4-E3F7-4A14-B098-6CB4EA1D8105}" presName="node" presStyleLbl="alignAccFollowNode1" presStyleIdx="3" presStyleCnt="12" custLinFactY="-31270" custLinFactNeighborX="419" custLinFactNeighborY="-100000">
        <dgm:presLayoutVars>
          <dgm:bulletEnabled val="1"/>
        </dgm:presLayoutVars>
      </dgm:prSet>
      <dgm:spPr/>
    </dgm:pt>
    <dgm:pt modelId="{1B967119-9E32-465F-B782-FF9BB654667D}" type="pres">
      <dgm:prSet presAssocID="{6A4FB47C-CC2B-49F7-B033-C90AE4B07B30}" presName="sibTrans" presStyleCnt="0"/>
      <dgm:spPr/>
    </dgm:pt>
    <dgm:pt modelId="{B8450E18-E85E-4095-A56C-2035260D45F5}" type="pres">
      <dgm:prSet presAssocID="{7264B83B-AC34-46FE-AD83-52A76F280EA8}" presName="node" presStyleLbl="alignAccFollowNode1" presStyleIdx="4" presStyleCnt="12" custLinFactY="-31270" custLinFactNeighborX="419" custLinFactNeighborY="-100000">
        <dgm:presLayoutVars>
          <dgm:bulletEnabled val="1"/>
        </dgm:presLayoutVars>
      </dgm:prSet>
      <dgm:spPr/>
    </dgm:pt>
    <dgm:pt modelId="{D35EB72D-F311-4FC7-9872-BD21C4C6674C}" type="pres">
      <dgm:prSet presAssocID="{E2EF25E5-E1D4-4449-97E3-B827B8D9586C}" presName="sibTrans" presStyleCnt="0"/>
      <dgm:spPr/>
    </dgm:pt>
    <dgm:pt modelId="{8468E6E3-FB77-4EE4-8C03-4150E0DB747E}" type="pres">
      <dgm:prSet presAssocID="{47AA00A5-E3F3-4FCB-BB88-2E806FFD0156}" presName="node" presStyleLbl="alignAccFollowNode1" presStyleIdx="5" presStyleCnt="12" custLinFactY="-31464" custLinFactNeighborX="-30195" custLinFactNeighborY="-100000">
        <dgm:presLayoutVars>
          <dgm:bulletEnabled val="1"/>
        </dgm:presLayoutVars>
      </dgm:prSet>
      <dgm:spPr/>
    </dgm:pt>
    <dgm:pt modelId="{58A38AE1-7AF9-4287-BE13-DA197776A38F}" type="pres">
      <dgm:prSet presAssocID="{7D8B010E-193D-4044-97A6-932BE5076882}" presName="vSp" presStyleCnt="0"/>
      <dgm:spPr/>
    </dgm:pt>
    <dgm:pt modelId="{31A44AA6-5970-4A3F-B95B-24F2D214224C}" type="pres">
      <dgm:prSet presAssocID="{E40D0DEF-F65E-4ACE-9E47-4B8483E94EBB}" presName="horFlow" presStyleCnt="0"/>
      <dgm:spPr/>
    </dgm:pt>
    <dgm:pt modelId="{610D89AB-8F2E-4048-8978-ED0F285E1A63}" type="pres">
      <dgm:prSet presAssocID="{E40D0DEF-F65E-4ACE-9E47-4B8483E94EBB}" presName="bigChev" presStyleLbl="node1" presStyleIdx="1" presStyleCnt="2" custLinFactNeighborX="15313" custLinFactNeighborY="29480"/>
      <dgm:spPr/>
    </dgm:pt>
    <dgm:pt modelId="{CDB329F0-6951-4EC4-9165-974969720103}" type="pres">
      <dgm:prSet presAssocID="{CAAC494C-8E42-4E17-9B90-3271DEA4B2D7}" presName="parTrans" presStyleCnt="0"/>
      <dgm:spPr/>
    </dgm:pt>
    <dgm:pt modelId="{1B850A2B-2557-49C4-980D-26F86D3CD37D}" type="pres">
      <dgm:prSet presAssocID="{5F4CFFCE-285E-4526-8465-39A33BAA21A9}" presName="node" presStyleLbl="alignAccFollowNode1" presStyleIdx="6" presStyleCnt="12" custLinFactNeighborX="14549" custLinFactNeighborY="35519">
        <dgm:presLayoutVars>
          <dgm:bulletEnabled val="1"/>
        </dgm:presLayoutVars>
      </dgm:prSet>
      <dgm:spPr/>
    </dgm:pt>
    <dgm:pt modelId="{54D58210-F089-47FC-9CCD-6BAE454364E8}" type="pres">
      <dgm:prSet presAssocID="{F9CCE020-2C53-429F-8C09-3F09CA8B2DD1}" presName="sibTrans" presStyleCnt="0"/>
      <dgm:spPr/>
    </dgm:pt>
    <dgm:pt modelId="{7326CFEE-A32B-4D5E-94CC-260FB269AD1E}" type="pres">
      <dgm:prSet presAssocID="{9A4C659B-D965-43B5-B0BF-CF7B24D1B1F5}" presName="node" presStyleLbl="alignAccFollowNode1" presStyleIdx="7" presStyleCnt="12" custLinFactNeighborX="14550" custLinFactNeighborY="34655">
        <dgm:presLayoutVars>
          <dgm:bulletEnabled val="1"/>
        </dgm:presLayoutVars>
      </dgm:prSet>
      <dgm:spPr/>
    </dgm:pt>
    <dgm:pt modelId="{983A48F0-FAF5-4299-A78F-9540ABE25975}" type="pres">
      <dgm:prSet presAssocID="{502BD7A8-1C5E-4386-AB87-91F7AA0F5C9D}" presName="sibTrans" presStyleCnt="0"/>
      <dgm:spPr/>
    </dgm:pt>
    <dgm:pt modelId="{97728D86-884B-4113-B2D2-B36D2F5F75DF}" type="pres">
      <dgm:prSet presAssocID="{668A3B6E-FAA0-40EB-8833-E75F585A71B4}" presName="node" presStyleLbl="alignAccFollowNode1" presStyleIdx="8" presStyleCnt="12" custLinFactNeighborX="14988" custLinFactNeighborY="35004">
        <dgm:presLayoutVars>
          <dgm:bulletEnabled val="1"/>
        </dgm:presLayoutVars>
      </dgm:prSet>
      <dgm:spPr/>
    </dgm:pt>
    <dgm:pt modelId="{B6D7AD8D-A48F-41CF-8047-F314D016EEB5}" type="pres">
      <dgm:prSet presAssocID="{4AD26A8D-8528-4118-B5A1-BF0C9A8AB8D8}" presName="sibTrans" presStyleCnt="0"/>
      <dgm:spPr/>
    </dgm:pt>
    <dgm:pt modelId="{531E0984-6DDD-4499-90E4-5D317399FF27}" type="pres">
      <dgm:prSet presAssocID="{D94DAC1F-AA46-4211-B773-DCC03EA5D761}" presName="node" presStyleLbl="alignAccFollowNode1" presStyleIdx="9" presStyleCnt="12" custLinFactNeighborX="14988" custLinFactNeighborY="35004">
        <dgm:presLayoutVars>
          <dgm:bulletEnabled val="1"/>
        </dgm:presLayoutVars>
      </dgm:prSet>
      <dgm:spPr/>
    </dgm:pt>
    <dgm:pt modelId="{7A00D05A-52F5-4BCF-9524-CE4CDD19065D}" type="pres">
      <dgm:prSet presAssocID="{06330855-17B7-4B13-947B-E062F698AE6F}" presName="sibTrans" presStyleCnt="0"/>
      <dgm:spPr/>
    </dgm:pt>
    <dgm:pt modelId="{16206522-551A-49BE-BB0C-F6EC58C1883A}" type="pres">
      <dgm:prSet presAssocID="{903F68E9-7A88-4D92-99DF-972554D7DE73}" presName="node" presStyleLbl="alignAccFollowNode1" presStyleIdx="10" presStyleCnt="12" custLinFactNeighborX="14988" custLinFactNeighborY="35004">
        <dgm:presLayoutVars>
          <dgm:bulletEnabled val="1"/>
        </dgm:presLayoutVars>
      </dgm:prSet>
      <dgm:spPr/>
    </dgm:pt>
    <dgm:pt modelId="{99667B66-45A2-47E2-B917-B3C27BFC6BBF}" type="pres">
      <dgm:prSet presAssocID="{A21AB905-BB38-4B7D-8E9F-4F386D844484}" presName="sibTrans" presStyleCnt="0"/>
      <dgm:spPr/>
    </dgm:pt>
    <dgm:pt modelId="{1D68735F-D983-48AA-8BA0-368EBA2992CA}" type="pres">
      <dgm:prSet presAssocID="{B1C0FAD6-170B-422B-B865-0425752D322D}" presName="node" presStyleLbl="alignAccFollowNode1" presStyleIdx="11" presStyleCnt="12" custLinFactNeighborX="28873" custLinFactNeighborY="35004">
        <dgm:presLayoutVars>
          <dgm:bulletEnabled val="1"/>
        </dgm:presLayoutVars>
      </dgm:prSet>
      <dgm:spPr/>
    </dgm:pt>
  </dgm:ptLst>
  <dgm:cxnLst>
    <dgm:cxn modelId="{5F8B9A0E-F276-4571-BFF6-4B0EA84FCE71}" srcId="{E40D0DEF-F65E-4ACE-9E47-4B8483E94EBB}" destId="{B1C0FAD6-170B-422B-B865-0425752D322D}" srcOrd="5" destOrd="0" parTransId="{BA70427D-F069-49B9-90BA-068944BF740D}" sibTransId="{E1339BEA-F577-422E-8762-C0096FFC234B}"/>
    <dgm:cxn modelId="{184CFC15-FE7D-4D97-804D-8199886EDE99}" srcId="{E40D0DEF-F65E-4ACE-9E47-4B8483E94EBB}" destId="{D94DAC1F-AA46-4211-B773-DCC03EA5D761}" srcOrd="3" destOrd="0" parTransId="{E2304411-2045-415A-BD35-E2A71D0E0003}" sibTransId="{06330855-17B7-4B13-947B-E062F698AE6F}"/>
    <dgm:cxn modelId="{7217AB28-4F09-41FC-BD03-EBB9148FBEB5}" srcId="{7D8B010E-193D-4044-97A6-932BE5076882}" destId="{7264B83B-AC34-46FE-AD83-52A76F280EA8}" srcOrd="4" destOrd="0" parTransId="{5BAB4CB4-1647-4FAA-904F-D14014D6309E}" sibTransId="{E2EF25E5-E1D4-4449-97E3-B827B8D9586C}"/>
    <dgm:cxn modelId="{CDB3AB28-8623-4182-8A28-C169B3BF48C9}" type="presOf" srcId="{5F4CFFCE-285E-4526-8465-39A33BAA21A9}" destId="{1B850A2B-2557-49C4-980D-26F86D3CD37D}" srcOrd="0" destOrd="0" presId="urn:microsoft.com/office/officeart/2005/8/layout/lProcess3"/>
    <dgm:cxn modelId="{B3D36C5F-2D5B-4229-9F91-B3CAF58AA316}" srcId="{E40D0DEF-F65E-4ACE-9E47-4B8483E94EBB}" destId="{5F4CFFCE-285E-4526-8465-39A33BAA21A9}" srcOrd="0" destOrd="0" parTransId="{CAAC494C-8E42-4E17-9B90-3271DEA4B2D7}" sibTransId="{F9CCE020-2C53-429F-8C09-3F09CA8B2DD1}"/>
    <dgm:cxn modelId="{9C718544-F387-4369-939B-90C8BE41DFCF}" type="presOf" srcId="{22FF1DFA-F54D-4FD7-8B10-7833E9253F32}" destId="{E422D08A-C637-4396-94D0-55342A8426F4}" srcOrd="0" destOrd="0" presId="urn:microsoft.com/office/officeart/2005/8/layout/lProcess3"/>
    <dgm:cxn modelId="{0DFFD664-6C97-40FF-8C44-266D695B3799}" type="presOf" srcId="{7D8B010E-193D-4044-97A6-932BE5076882}" destId="{0926CF48-2621-44F2-9845-C0CAF6971A29}" srcOrd="0" destOrd="0" presId="urn:microsoft.com/office/officeart/2005/8/layout/lProcess3"/>
    <dgm:cxn modelId="{04CB424C-1A33-4320-960C-9E946AB0FC7A}" srcId="{E40D0DEF-F65E-4ACE-9E47-4B8483E94EBB}" destId="{9A4C659B-D965-43B5-B0BF-CF7B24D1B1F5}" srcOrd="1" destOrd="0" parTransId="{77D59274-DF5C-4932-8ECC-DC1D3CDF13BF}" sibTransId="{502BD7A8-1C5E-4386-AB87-91F7AA0F5C9D}"/>
    <dgm:cxn modelId="{8C6CD46C-3C23-4FCF-A0A1-496EE56809BC}" srcId="{E40D0DEF-F65E-4ACE-9E47-4B8483E94EBB}" destId="{668A3B6E-FAA0-40EB-8833-E75F585A71B4}" srcOrd="2" destOrd="0" parTransId="{15D09783-98DE-40DA-A2EC-1F41A3FFF564}" sibTransId="{4AD26A8D-8528-4118-B5A1-BF0C9A8AB8D8}"/>
    <dgm:cxn modelId="{DB68706D-B967-4188-84E5-4C7F039A45B6}" type="presOf" srcId="{B1C0FAD6-170B-422B-B865-0425752D322D}" destId="{1D68735F-D983-48AA-8BA0-368EBA2992CA}" srcOrd="0" destOrd="0" presId="urn:microsoft.com/office/officeart/2005/8/layout/lProcess3"/>
    <dgm:cxn modelId="{3F9ABB53-ABB5-413C-BA42-77E4DF9D0AFF}" type="presOf" srcId="{D3349835-29C2-457A-8A08-CE78E2B581F2}" destId="{18FAF3FF-B47D-4AFA-A0B3-4AF314420619}" srcOrd="0" destOrd="0" presId="urn:microsoft.com/office/officeart/2005/8/layout/lProcess3"/>
    <dgm:cxn modelId="{2F54EE53-A3CF-4FD8-BC60-7D43775711A3}" srcId="{7D8B010E-193D-4044-97A6-932BE5076882}" destId="{879CABF4-E3F7-4A14-B098-6CB4EA1D8105}" srcOrd="3" destOrd="0" parTransId="{4A40CD0C-AAEA-4CE2-BFC9-889A2D9DC79F}" sibTransId="{6A4FB47C-CC2B-49F7-B033-C90AE4B07B30}"/>
    <dgm:cxn modelId="{A11D617D-71F1-4D86-B044-1E5C352FF065}" type="presOf" srcId="{E40D0DEF-F65E-4ACE-9E47-4B8483E94EBB}" destId="{610D89AB-8F2E-4048-8978-ED0F285E1A63}" srcOrd="0" destOrd="0" presId="urn:microsoft.com/office/officeart/2005/8/layout/lProcess3"/>
    <dgm:cxn modelId="{A64ED07F-B133-4FCC-B74B-232A4CF89ECB}" srcId="{7D8B010E-193D-4044-97A6-932BE5076882}" destId="{47AA00A5-E3F3-4FCB-BB88-2E806FFD0156}" srcOrd="5" destOrd="0" parTransId="{319E4EB2-0D2F-4153-BBAF-E90F7983BE11}" sibTransId="{84B8ADC2-ABC1-4D4D-A726-BB545E0DD37F}"/>
    <dgm:cxn modelId="{014B9090-BC0C-4387-BE4A-B815D74D52E2}" type="presOf" srcId="{668A3B6E-FAA0-40EB-8833-E75F585A71B4}" destId="{97728D86-884B-4113-B2D2-B36D2F5F75DF}" srcOrd="0" destOrd="0" presId="urn:microsoft.com/office/officeart/2005/8/layout/lProcess3"/>
    <dgm:cxn modelId="{749C6691-1681-4F6D-A41F-6C37B78E6021}" srcId="{7D8B010E-193D-4044-97A6-932BE5076882}" destId="{22FF1DFA-F54D-4FD7-8B10-7833E9253F32}" srcOrd="1" destOrd="0" parTransId="{CA43CFB2-9D90-4857-836E-CD7F5B51925B}" sibTransId="{6063C3AB-3FCB-4F12-AC8E-5B71B7A2D09B}"/>
    <dgm:cxn modelId="{29104B9F-49E8-4BF3-A401-F98C65A01079}" srcId="{E40D0DEF-F65E-4ACE-9E47-4B8483E94EBB}" destId="{903F68E9-7A88-4D92-99DF-972554D7DE73}" srcOrd="4" destOrd="0" parTransId="{4D11C3BE-836E-481F-A6F8-C831849DBB46}" sibTransId="{A21AB905-BB38-4B7D-8E9F-4F386D844484}"/>
    <dgm:cxn modelId="{0BDE9AA3-3B88-4169-8D57-646EEBF52275}" type="presOf" srcId="{879CABF4-E3F7-4A14-B098-6CB4EA1D8105}" destId="{1AD6DE83-171B-4DBA-9D29-0F60C3382ECE}" srcOrd="0" destOrd="0" presId="urn:microsoft.com/office/officeart/2005/8/layout/lProcess3"/>
    <dgm:cxn modelId="{D7B740AB-3750-4DF6-9917-6D04CC9E58EF}" srcId="{D79CAC97-9801-4A69-A8AB-3479A32A0C47}" destId="{E40D0DEF-F65E-4ACE-9E47-4B8483E94EBB}" srcOrd="1" destOrd="0" parTransId="{78EFDAA3-FB60-46BC-9C39-C37EDDEFDBE7}" sibTransId="{A4A17E02-0D11-4A15-93C0-5A8CF9338B55}"/>
    <dgm:cxn modelId="{4AD197AD-B1FF-40B3-A9F1-CB99FBA09B97}" type="presOf" srcId="{D94DAC1F-AA46-4211-B773-DCC03EA5D761}" destId="{531E0984-6DDD-4499-90E4-5D317399FF27}" srcOrd="0" destOrd="0" presId="urn:microsoft.com/office/officeart/2005/8/layout/lProcess3"/>
    <dgm:cxn modelId="{C3AAB9AD-3716-447A-87BF-B6B330C433D4}" srcId="{D79CAC97-9801-4A69-A8AB-3479A32A0C47}" destId="{7D8B010E-193D-4044-97A6-932BE5076882}" srcOrd="0" destOrd="0" parTransId="{211BB2A3-8B14-4955-A779-D8DD79E4D7C4}" sibTransId="{C5B3166A-0D79-4BDF-92D6-6EF46B1D195C}"/>
    <dgm:cxn modelId="{9A29A5B2-DDDB-4AF9-891F-32D4081674CB}" srcId="{7D8B010E-193D-4044-97A6-932BE5076882}" destId="{0436A4BE-00D9-4327-A798-8B9C9B135272}" srcOrd="0" destOrd="0" parTransId="{FD62D04D-7701-4C31-AFEF-89BBDFE94DB6}" sibTransId="{C3A2B4DD-70DD-46D4-B47D-6B0937112602}"/>
    <dgm:cxn modelId="{622132BE-B706-4142-934D-BDDD5AE8137E}" type="presOf" srcId="{47AA00A5-E3F3-4FCB-BB88-2E806FFD0156}" destId="{8468E6E3-FB77-4EE4-8C03-4150E0DB747E}" srcOrd="0" destOrd="0" presId="urn:microsoft.com/office/officeart/2005/8/layout/lProcess3"/>
    <dgm:cxn modelId="{4ED13EC0-C1CA-4174-AE0D-ADA24779FFF2}" type="presOf" srcId="{D79CAC97-9801-4A69-A8AB-3479A32A0C47}" destId="{53A3CD41-F8D6-4B72-8B9D-3A15F2C8BCCA}" srcOrd="0" destOrd="0" presId="urn:microsoft.com/office/officeart/2005/8/layout/lProcess3"/>
    <dgm:cxn modelId="{9BE920C2-7AAB-4933-A4A4-8F23B1EE8C39}" srcId="{7D8B010E-193D-4044-97A6-932BE5076882}" destId="{D3349835-29C2-457A-8A08-CE78E2B581F2}" srcOrd="2" destOrd="0" parTransId="{F5BAA0B5-79DC-443D-AD6C-D8196519A649}" sibTransId="{A6F31FE8-62A7-4EEE-8E44-FC1DD2BC6455}"/>
    <dgm:cxn modelId="{89A8F5C8-1471-4498-802F-74326B72D164}" type="presOf" srcId="{903F68E9-7A88-4D92-99DF-972554D7DE73}" destId="{16206522-551A-49BE-BB0C-F6EC58C1883A}" srcOrd="0" destOrd="0" presId="urn:microsoft.com/office/officeart/2005/8/layout/lProcess3"/>
    <dgm:cxn modelId="{2CA552D0-17F0-409A-A7F0-F50CDB5DD807}" type="presOf" srcId="{9A4C659B-D965-43B5-B0BF-CF7B24D1B1F5}" destId="{7326CFEE-A32B-4D5E-94CC-260FB269AD1E}" srcOrd="0" destOrd="0" presId="urn:microsoft.com/office/officeart/2005/8/layout/lProcess3"/>
    <dgm:cxn modelId="{DED6F8E1-F94B-4306-AFE8-4FD58A9E7E84}" type="presOf" srcId="{0436A4BE-00D9-4327-A798-8B9C9B135272}" destId="{06DAB5EE-E90C-48A3-AA76-BE6932423A51}" srcOrd="0" destOrd="0" presId="urn:microsoft.com/office/officeart/2005/8/layout/lProcess3"/>
    <dgm:cxn modelId="{917428F8-C8C4-4986-9170-FC24F4389D17}" type="presOf" srcId="{7264B83B-AC34-46FE-AD83-52A76F280EA8}" destId="{B8450E18-E85E-4095-A56C-2035260D45F5}" srcOrd="0" destOrd="0" presId="urn:microsoft.com/office/officeart/2005/8/layout/lProcess3"/>
    <dgm:cxn modelId="{59385D58-13D9-4751-B080-E3212F04138C}" type="presParOf" srcId="{53A3CD41-F8D6-4B72-8B9D-3A15F2C8BCCA}" destId="{2BEECDC7-F7DE-4CF3-ADF7-B18BEE96C51F}" srcOrd="0" destOrd="0" presId="urn:microsoft.com/office/officeart/2005/8/layout/lProcess3"/>
    <dgm:cxn modelId="{DEDF9F4A-2112-45E4-88EF-FEB0EE131828}" type="presParOf" srcId="{2BEECDC7-F7DE-4CF3-ADF7-B18BEE96C51F}" destId="{0926CF48-2621-44F2-9845-C0CAF6971A29}" srcOrd="0" destOrd="0" presId="urn:microsoft.com/office/officeart/2005/8/layout/lProcess3"/>
    <dgm:cxn modelId="{42ED322E-F528-4D64-B222-A42B7894F178}" type="presParOf" srcId="{2BEECDC7-F7DE-4CF3-ADF7-B18BEE96C51F}" destId="{D0F942A4-4745-43E6-8D7B-C6264155B1F2}" srcOrd="1" destOrd="0" presId="urn:microsoft.com/office/officeart/2005/8/layout/lProcess3"/>
    <dgm:cxn modelId="{914DE93E-158E-41C3-ABC1-562EB2DC6272}" type="presParOf" srcId="{2BEECDC7-F7DE-4CF3-ADF7-B18BEE96C51F}" destId="{06DAB5EE-E90C-48A3-AA76-BE6932423A51}" srcOrd="2" destOrd="0" presId="urn:microsoft.com/office/officeart/2005/8/layout/lProcess3"/>
    <dgm:cxn modelId="{1C3FA6FB-A019-4F79-925A-01E70FDDDA05}" type="presParOf" srcId="{2BEECDC7-F7DE-4CF3-ADF7-B18BEE96C51F}" destId="{5418C4C8-4F82-42A3-AB2A-105F0ED0824F}" srcOrd="3" destOrd="0" presId="urn:microsoft.com/office/officeart/2005/8/layout/lProcess3"/>
    <dgm:cxn modelId="{EFB91C2F-D73F-47D7-B667-3C87BC6C1E19}" type="presParOf" srcId="{2BEECDC7-F7DE-4CF3-ADF7-B18BEE96C51F}" destId="{E422D08A-C637-4396-94D0-55342A8426F4}" srcOrd="4" destOrd="0" presId="urn:microsoft.com/office/officeart/2005/8/layout/lProcess3"/>
    <dgm:cxn modelId="{684EA5CB-62AC-499B-B7AE-47B30CFEF5FA}" type="presParOf" srcId="{2BEECDC7-F7DE-4CF3-ADF7-B18BEE96C51F}" destId="{30E7E6BC-87BD-44BB-B22E-289B7B194207}" srcOrd="5" destOrd="0" presId="urn:microsoft.com/office/officeart/2005/8/layout/lProcess3"/>
    <dgm:cxn modelId="{BA70BF44-28E9-45B7-B180-E3766F4F4CE1}" type="presParOf" srcId="{2BEECDC7-F7DE-4CF3-ADF7-B18BEE96C51F}" destId="{18FAF3FF-B47D-4AFA-A0B3-4AF314420619}" srcOrd="6" destOrd="0" presId="urn:microsoft.com/office/officeart/2005/8/layout/lProcess3"/>
    <dgm:cxn modelId="{171E2891-7DB9-479B-A42E-E22643792467}" type="presParOf" srcId="{2BEECDC7-F7DE-4CF3-ADF7-B18BEE96C51F}" destId="{A1F0EB46-1AB3-489B-8F17-9BEFAE570192}" srcOrd="7" destOrd="0" presId="urn:microsoft.com/office/officeart/2005/8/layout/lProcess3"/>
    <dgm:cxn modelId="{C7E1050D-F30F-4B37-96CC-B5DB8CCAD1A8}" type="presParOf" srcId="{2BEECDC7-F7DE-4CF3-ADF7-B18BEE96C51F}" destId="{1AD6DE83-171B-4DBA-9D29-0F60C3382ECE}" srcOrd="8" destOrd="0" presId="urn:microsoft.com/office/officeart/2005/8/layout/lProcess3"/>
    <dgm:cxn modelId="{C1EE9DC5-FF85-4B67-97AD-348C49938216}" type="presParOf" srcId="{2BEECDC7-F7DE-4CF3-ADF7-B18BEE96C51F}" destId="{1B967119-9E32-465F-B782-FF9BB654667D}" srcOrd="9" destOrd="0" presId="urn:microsoft.com/office/officeart/2005/8/layout/lProcess3"/>
    <dgm:cxn modelId="{3C205C3A-6A5C-49CC-8E33-539FD4448333}" type="presParOf" srcId="{2BEECDC7-F7DE-4CF3-ADF7-B18BEE96C51F}" destId="{B8450E18-E85E-4095-A56C-2035260D45F5}" srcOrd="10" destOrd="0" presId="urn:microsoft.com/office/officeart/2005/8/layout/lProcess3"/>
    <dgm:cxn modelId="{B4F23069-261E-40BF-886C-54F48DFE79EE}" type="presParOf" srcId="{2BEECDC7-F7DE-4CF3-ADF7-B18BEE96C51F}" destId="{D35EB72D-F311-4FC7-9872-BD21C4C6674C}" srcOrd="11" destOrd="0" presId="urn:microsoft.com/office/officeart/2005/8/layout/lProcess3"/>
    <dgm:cxn modelId="{F71B67C5-B8B7-4D58-8D57-84C23D254C63}" type="presParOf" srcId="{2BEECDC7-F7DE-4CF3-ADF7-B18BEE96C51F}" destId="{8468E6E3-FB77-4EE4-8C03-4150E0DB747E}" srcOrd="12" destOrd="0" presId="urn:microsoft.com/office/officeart/2005/8/layout/lProcess3"/>
    <dgm:cxn modelId="{5302248A-985B-4AE9-9878-AD821DE0A0C9}" type="presParOf" srcId="{53A3CD41-F8D6-4B72-8B9D-3A15F2C8BCCA}" destId="{58A38AE1-7AF9-4287-BE13-DA197776A38F}" srcOrd="1" destOrd="0" presId="urn:microsoft.com/office/officeart/2005/8/layout/lProcess3"/>
    <dgm:cxn modelId="{283AAE96-E351-47FC-9435-2EDF3B064B5E}" type="presParOf" srcId="{53A3CD41-F8D6-4B72-8B9D-3A15F2C8BCCA}" destId="{31A44AA6-5970-4A3F-B95B-24F2D214224C}" srcOrd="2" destOrd="0" presId="urn:microsoft.com/office/officeart/2005/8/layout/lProcess3"/>
    <dgm:cxn modelId="{BF5E726E-38D2-40F9-8797-F252CD15BF19}" type="presParOf" srcId="{31A44AA6-5970-4A3F-B95B-24F2D214224C}" destId="{610D89AB-8F2E-4048-8978-ED0F285E1A63}" srcOrd="0" destOrd="0" presId="urn:microsoft.com/office/officeart/2005/8/layout/lProcess3"/>
    <dgm:cxn modelId="{3747D3A5-1B48-4D6D-A411-22E8AA31B033}" type="presParOf" srcId="{31A44AA6-5970-4A3F-B95B-24F2D214224C}" destId="{CDB329F0-6951-4EC4-9165-974969720103}" srcOrd="1" destOrd="0" presId="urn:microsoft.com/office/officeart/2005/8/layout/lProcess3"/>
    <dgm:cxn modelId="{36DF5552-42D1-4511-BE36-603A22C81226}" type="presParOf" srcId="{31A44AA6-5970-4A3F-B95B-24F2D214224C}" destId="{1B850A2B-2557-49C4-980D-26F86D3CD37D}" srcOrd="2" destOrd="0" presId="urn:microsoft.com/office/officeart/2005/8/layout/lProcess3"/>
    <dgm:cxn modelId="{66ECAA01-2EAA-42DD-BCB8-FDDF223D250C}" type="presParOf" srcId="{31A44AA6-5970-4A3F-B95B-24F2D214224C}" destId="{54D58210-F089-47FC-9CCD-6BAE454364E8}" srcOrd="3" destOrd="0" presId="urn:microsoft.com/office/officeart/2005/8/layout/lProcess3"/>
    <dgm:cxn modelId="{0C05557D-6870-4043-9740-50EB776DB361}" type="presParOf" srcId="{31A44AA6-5970-4A3F-B95B-24F2D214224C}" destId="{7326CFEE-A32B-4D5E-94CC-260FB269AD1E}" srcOrd="4" destOrd="0" presId="urn:microsoft.com/office/officeart/2005/8/layout/lProcess3"/>
    <dgm:cxn modelId="{B8D9529B-FAAD-40E0-82E6-F3ED8A688781}" type="presParOf" srcId="{31A44AA6-5970-4A3F-B95B-24F2D214224C}" destId="{983A48F0-FAF5-4299-A78F-9540ABE25975}" srcOrd="5" destOrd="0" presId="urn:microsoft.com/office/officeart/2005/8/layout/lProcess3"/>
    <dgm:cxn modelId="{88524D54-F0AF-4340-9910-17128424D5C8}" type="presParOf" srcId="{31A44AA6-5970-4A3F-B95B-24F2D214224C}" destId="{97728D86-884B-4113-B2D2-B36D2F5F75DF}" srcOrd="6" destOrd="0" presId="urn:microsoft.com/office/officeart/2005/8/layout/lProcess3"/>
    <dgm:cxn modelId="{175E7A64-147D-4B57-AE3C-555FA977A20A}" type="presParOf" srcId="{31A44AA6-5970-4A3F-B95B-24F2D214224C}" destId="{B6D7AD8D-A48F-41CF-8047-F314D016EEB5}" srcOrd="7" destOrd="0" presId="urn:microsoft.com/office/officeart/2005/8/layout/lProcess3"/>
    <dgm:cxn modelId="{CDCC1ED9-710E-4987-8F5F-CCE2601C258A}" type="presParOf" srcId="{31A44AA6-5970-4A3F-B95B-24F2D214224C}" destId="{531E0984-6DDD-4499-90E4-5D317399FF27}" srcOrd="8" destOrd="0" presId="urn:microsoft.com/office/officeart/2005/8/layout/lProcess3"/>
    <dgm:cxn modelId="{4D8F4991-BF2A-4A36-90DC-FEC6B77913BA}" type="presParOf" srcId="{31A44AA6-5970-4A3F-B95B-24F2D214224C}" destId="{7A00D05A-52F5-4BCF-9524-CE4CDD19065D}" srcOrd="9" destOrd="0" presId="urn:microsoft.com/office/officeart/2005/8/layout/lProcess3"/>
    <dgm:cxn modelId="{23C06EE2-EF27-45F2-B92C-36E303300C4C}" type="presParOf" srcId="{31A44AA6-5970-4A3F-B95B-24F2D214224C}" destId="{16206522-551A-49BE-BB0C-F6EC58C1883A}" srcOrd="10" destOrd="0" presId="urn:microsoft.com/office/officeart/2005/8/layout/lProcess3"/>
    <dgm:cxn modelId="{5237AC6F-52C8-40F9-9BDA-D09E803ED615}" type="presParOf" srcId="{31A44AA6-5970-4A3F-B95B-24F2D214224C}" destId="{99667B66-45A2-47E2-B917-B3C27BFC6BBF}" srcOrd="11" destOrd="0" presId="urn:microsoft.com/office/officeart/2005/8/layout/lProcess3"/>
    <dgm:cxn modelId="{711B5D16-2635-4AF9-9E10-E09B361CEAB3}" type="presParOf" srcId="{31A44AA6-5970-4A3F-B95B-24F2D214224C}" destId="{1D68735F-D983-48AA-8BA0-368EBA2992CA}" srcOrd="12"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4E60FF14-157B-4771-B1A2-81C78C947BA1}"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IN"/>
        </a:p>
      </dgm:t>
    </dgm:pt>
    <dgm:pt modelId="{4D599EED-FD27-48BB-BC67-0239F2B20363}">
      <dgm:prSet phldrT="[Text]" custT="1"/>
      <dgm:spPr>
        <a:noFill/>
        <a:ln>
          <a:solidFill>
            <a:srgbClr val="FFFF00"/>
          </a:solidFill>
        </a:ln>
      </dgm:spPr>
      <dgm:t>
        <a:bodyPr/>
        <a:lstStyle/>
        <a:p>
          <a:pPr algn="ctr"/>
          <a:r>
            <a:rPr lang="en-IN" sz="1050" b="1">
              <a:solidFill>
                <a:schemeClr val="bg1"/>
              </a:solidFill>
              <a:latin typeface="EY interstate"/>
            </a:rPr>
            <a:t>IFRS 16</a:t>
          </a:r>
        </a:p>
      </dgm:t>
    </dgm:pt>
    <dgm:pt modelId="{8325B6DE-38F9-4FBA-8164-A65C1CF97825}" type="parTrans" cxnId="{88713E27-AEEF-4307-BD0D-E52001DF25F8}">
      <dgm:prSet/>
      <dgm:spPr/>
      <dgm:t>
        <a:bodyPr/>
        <a:lstStyle/>
        <a:p>
          <a:endParaRPr lang="en-IN"/>
        </a:p>
      </dgm:t>
    </dgm:pt>
    <dgm:pt modelId="{96828963-82DF-4AFF-8558-7A0C47B791C0}" type="sibTrans" cxnId="{88713E27-AEEF-4307-BD0D-E52001DF25F8}">
      <dgm:prSet/>
      <dgm:spPr/>
      <dgm:t>
        <a:bodyPr/>
        <a:lstStyle/>
        <a:p>
          <a:endParaRPr lang="en-IN"/>
        </a:p>
      </dgm:t>
    </dgm:pt>
    <dgm:pt modelId="{B8AA23F3-B5A3-4671-A036-C8E0DC14A616}">
      <dgm:prSet phldrT="[Text]" custT="1"/>
      <dgm:spPr>
        <a:noFill/>
        <a:ln>
          <a:solidFill>
            <a:srgbClr val="FFFF00"/>
          </a:solidFill>
        </a:ln>
      </dgm:spPr>
      <dgm:t>
        <a:bodyPr/>
        <a:lstStyle/>
        <a:p>
          <a:pPr algn="l"/>
          <a:r>
            <a:rPr lang="en-IN" sz="1000">
              <a:solidFill>
                <a:schemeClr val="bg1"/>
              </a:solidFill>
              <a:latin typeface="EY interstate"/>
            </a:rPr>
            <a:t>Leases: Applies if the asset is leased post-transfer or involves right-of-use assets.</a:t>
          </a:r>
        </a:p>
      </dgm:t>
    </dgm:pt>
    <dgm:pt modelId="{72CD10A8-27AD-49F5-92D9-C3CD4E981F8C}" type="parTrans" cxnId="{E9E68FB9-7580-4A22-8AFC-E5DF2459A339}">
      <dgm:prSet/>
      <dgm:spPr/>
      <dgm:t>
        <a:bodyPr/>
        <a:lstStyle/>
        <a:p>
          <a:endParaRPr lang="en-IN"/>
        </a:p>
      </dgm:t>
    </dgm:pt>
    <dgm:pt modelId="{49FF7BA0-B6EC-4DE7-AD41-BA33284D3D15}" type="sibTrans" cxnId="{E9E68FB9-7580-4A22-8AFC-E5DF2459A339}">
      <dgm:prSet/>
      <dgm:spPr/>
      <dgm:t>
        <a:bodyPr/>
        <a:lstStyle/>
        <a:p>
          <a:endParaRPr lang="en-IN"/>
        </a:p>
      </dgm:t>
    </dgm:pt>
    <dgm:pt modelId="{4531FD46-B7B3-4098-82E0-DE1B24179348}">
      <dgm:prSet phldrT="[Text]" custT="1"/>
      <dgm:spPr>
        <a:noFill/>
        <a:ln>
          <a:solidFill>
            <a:srgbClr val="FFFF00"/>
          </a:solidFill>
        </a:ln>
      </dgm:spPr>
      <dgm:t>
        <a:bodyPr/>
        <a:lstStyle/>
        <a:p>
          <a:pPr algn="ctr">
            <a:buNone/>
          </a:pPr>
          <a:r>
            <a:rPr lang="en-IN" sz="1050" b="1">
              <a:solidFill>
                <a:schemeClr val="bg1"/>
              </a:solidFill>
              <a:latin typeface="EY interstate"/>
            </a:rPr>
            <a:t>IAS 16</a:t>
          </a:r>
        </a:p>
      </dgm:t>
    </dgm:pt>
    <dgm:pt modelId="{1EF75BB2-59C2-4319-B1A2-518A27E169A6}" type="parTrans" cxnId="{90FCD67B-39B3-455E-9646-0D5BAD3138F9}">
      <dgm:prSet/>
      <dgm:spPr/>
      <dgm:t>
        <a:bodyPr/>
        <a:lstStyle/>
        <a:p>
          <a:endParaRPr lang="en-IN"/>
        </a:p>
      </dgm:t>
    </dgm:pt>
    <dgm:pt modelId="{8DB14D99-DCD5-4EED-8FA2-250E0D2F1AAD}" type="sibTrans" cxnId="{90FCD67B-39B3-455E-9646-0D5BAD3138F9}">
      <dgm:prSet/>
      <dgm:spPr/>
      <dgm:t>
        <a:bodyPr/>
        <a:lstStyle/>
        <a:p>
          <a:endParaRPr lang="en-IN"/>
        </a:p>
      </dgm:t>
    </dgm:pt>
    <dgm:pt modelId="{090231AC-3C7F-486D-9414-E59912C195A7}">
      <dgm:prSet phldrT="[Text]" custT="1"/>
      <dgm:spPr>
        <a:noFill/>
        <a:ln>
          <a:solidFill>
            <a:srgbClr val="FFFF00"/>
          </a:solidFill>
        </a:ln>
      </dgm:spPr>
      <dgm:t>
        <a:bodyPr/>
        <a:lstStyle/>
        <a:p>
          <a:pPr algn="l">
            <a:buFont typeface="Arial" panose="020B0604020202020204" pitchFamily="34" charset="0"/>
            <a:buNone/>
          </a:pPr>
          <a:endParaRPr lang="en-IN" sz="1000">
            <a:solidFill>
              <a:schemeClr val="bg1"/>
            </a:solidFill>
            <a:latin typeface="EY interstate"/>
          </a:endParaRPr>
        </a:p>
      </dgm:t>
    </dgm:pt>
    <dgm:pt modelId="{3021DF7F-BC55-43B1-9480-A05F579ED6F7}" type="parTrans" cxnId="{EFFEC6BC-E4FB-4457-9283-FA5C98F10D89}">
      <dgm:prSet/>
      <dgm:spPr/>
      <dgm:t>
        <a:bodyPr/>
        <a:lstStyle/>
        <a:p>
          <a:endParaRPr lang="en-IN"/>
        </a:p>
      </dgm:t>
    </dgm:pt>
    <dgm:pt modelId="{262C3186-C816-43AA-B685-DD5E37BA2028}" type="sibTrans" cxnId="{EFFEC6BC-E4FB-4457-9283-FA5C98F10D89}">
      <dgm:prSet/>
      <dgm:spPr/>
      <dgm:t>
        <a:bodyPr/>
        <a:lstStyle/>
        <a:p>
          <a:endParaRPr lang="en-IN"/>
        </a:p>
      </dgm:t>
    </dgm:pt>
    <dgm:pt modelId="{29D050CC-5B46-4AAC-B4FB-04463F2DA13C}">
      <dgm:prSet phldrT="[Text]" custT="1"/>
      <dgm:spPr>
        <a:noFill/>
        <a:ln>
          <a:solidFill>
            <a:srgbClr val="FFFF00"/>
          </a:solidFill>
        </a:ln>
      </dgm:spPr>
      <dgm:t>
        <a:bodyPr/>
        <a:lstStyle/>
        <a:p>
          <a:pPr algn="l"/>
          <a:r>
            <a:rPr lang="en-IN" sz="1000">
              <a:solidFill>
                <a:schemeClr val="bg1"/>
              </a:solidFill>
              <a:latin typeface="EY interstate"/>
            </a:rPr>
            <a:t>IFRS 16 sets out principles for the recognition, measurement, presentation, and disclosure of leases. It aims to bring transparency by requiring lessees to recognize most leases on the balance sheet.</a:t>
          </a:r>
        </a:p>
      </dgm:t>
    </dgm:pt>
    <dgm:pt modelId="{1220885C-6A3A-4E1C-A8FB-E5F43B7E0B60}" type="parTrans" cxnId="{FF0996A2-3CF8-4978-B371-2ED8846A92A7}">
      <dgm:prSet/>
      <dgm:spPr/>
      <dgm:t>
        <a:bodyPr/>
        <a:lstStyle/>
        <a:p>
          <a:endParaRPr lang="en-IN"/>
        </a:p>
      </dgm:t>
    </dgm:pt>
    <dgm:pt modelId="{602898E1-8BE7-4B6E-A265-257A14962821}" type="sibTrans" cxnId="{FF0996A2-3CF8-4978-B371-2ED8846A92A7}">
      <dgm:prSet/>
      <dgm:spPr/>
      <dgm:t>
        <a:bodyPr/>
        <a:lstStyle/>
        <a:p>
          <a:endParaRPr lang="en-IN"/>
        </a:p>
      </dgm:t>
    </dgm:pt>
    <dgm:pt modelId="{A788DAE9-B755-4819-A99F-C2EFAB8FBFC8}">
      <dgm:prSet phldrT="[Text]" custT="1"/>
      <dgm:spPr>
        <a:noFill/>
        <a:ln>
          <a:solidFill>
            <a:srgbClr val="FFFF00"/>
          </a:solidFill>
        </a:ln>
      </dgm:spPr>
      <dgm:t>
        <a:bodyPr/>
        <a:lstStyle/>
        <a:p>
          <a:pPr algn="l"/>
          <a:r>
            <a:rPr lang="en-IN" sz="1000" i="1">
              <a:solidFill>
                <a:schemeClr val="bg1"/>
              </a:solidFill>
              <a:latin typeface="EY interstate"/>
            </a:rPr>
            <a:t>Property, Plant and Equipment: Governs recognition, measurement, and depreciation of fixed assets.</a:t>
          </a:r>
          <a:endParaRPr lang="en-IN" sz="1000">
            <a:solidFill>
              <a:schemeClr val="bg1"/>
            </a:solidFill>
            <a:latin typeface="EY interstate"/>
          </a:endParaRPr>
        </a:p>
      </dgm:t>
    </dgm:pt>
    <dgm:pt modelId="{2E93415E-F876-47EF-9452-62B3586A8904}" type="sibTrans" cxnId="{CE6905E6-E1CC-4822-93F3-21976AB998DD}">
      <dgm:prSet/>
      <dgm:spPr/>
      <dgm:t>
        <a:bodyPr/>
        <a:lstStyle/>
        <a:p>
          <a:endParaRPr lang="en-IN"/>
        </a:p>
      </dgm:t>
    </dgm:pt>
    <dgm:pt modelId="{57F2EB26-8DE4-4311-9708-EA6D8F463435}" type="parTrans" cxnId="{CE6905E6-E1CC-4822-93F3-21976AB998DD}">
      <dgm:prSet/>
      <dgm:spPr/>
      <dgm:t>
        <a:bodyPr/>
        <a:lstStyle/>
        <a:p>
          <a:endParaRPr lang="en-IN"/>
        </a:p>
      </dgm:t>
    </dgm:pt>
    <dgm:pt modelId="{25F7C135-7EB7-401B-A039-1663583D7BD0}">
      <dgm:prSet phldrT="[Text]" custT="1"/>
      <dgm:spPr>
        <a:noFill/>
        <a:ln>
          <a:solidFill>
            <a:srgbClr val="FFFF00"/>
          </a:solidFill>
        </a:ln>
      </dgm:spPr>
      <dgm:t>
        <a:bodyPr/>
        <a:lstStyle/>
        <a:p>
          <a:pPr algn="l">
            <a:buFont typeface="Arial" panose="020B0604020202020204" pitchFamily="34" charset="0"/>
            <a:buChar char="•"/>
          </a:pPr>
          <a:r>
            <a:rPr lang="en-IN" sz="1000">
              <a:solidFill>
                <a:schemeClr val="bg1"/>
              </a:solidFill>
              <a:latin typeface="EY interstate"/>
            </a:rPr>
            <a:t>AS 16 governs the accounting treatment for tangible fixed assets (e.g., buildings, machinery, vehicles) that are held for use in production, supply of goods/services, rental, or administrative purposes.</a:t>
          </a:r>
        </a:p>
      </dgm:t>
    </dgm:pt>
    <dgm:pt modelId="{BE91D02D-493E-48A6-AA2A-D21032EF62FA}" type="parTrans" cxnId="{E9634242-9E19-4FB6-BF90-79FAB7B90D55}">
      <dgm:prSet/>
      <dgm:spPr/>
      <dgm:t>
        <a:bodyPr/>
        <a:lstStyle/>
        <a:p>
          <a:endParaRPr lang="en-IN"/>
        </a:p>
      </dgm:t>
    </dgm:pt>
    <dgm:pt modelId="{D7CFE12D-AEEE-47CE-9F2F-9190599F9B5C}" type="sibTrans" cxnId="{E9634242-9E19-4FB6-BF90-79FAB7B90D55}">
      <dgm:prSet/>
      <dgm:spPr/>
      <dgm:t>
        <a:bodyPr/>
        <a:lstStyle/>
        <a:p>
          <a:endParaRPr lang="en-IN"/>
        </a:p>
      </dgm:t>
    </dgm:pt>
    <dgm:pt modelId="{E0615E60-1D87-4D60-B7B8-22CDD472BF14}">
      <dgm:prSet phldrT="[Text]" custT="1"/>
      <dgm:spPr>
        <a:noFill/>
        <a:ln>
          <a:solidFill>
            <a:srgbClr val="FFFF00"/>
          </a:solidFill>
        </a:ln>
      </dgm:spPr>
      <dgm:t>
        <a:bodyPr/>
        <a:lstStyle/>
        <a:p>
          <a:pPr algn="l"/>
          <a:endParaRPr lang="en-IN" sz="800">
            <a:solidFill>
              <a:schemeClr val="bg1"/>
            </a:solidFill>
            <a:latin typeface="EY interstate"/>
          </a:endParaRPr>
        </a:p>
      </dgm:t>
    </dgm:pt>
    <dgm:pt modelId="{EFE7264B-E7AA-4DE5-A020-28EA58B322A3}" type="parTrans" cxnId="{16DE2E4B-34FA-4095-9E0E-27B38ED1635A}">
      <dgm:prSet/>
      <dgm:spPr/>
      <dgm:t>
        <a:bodyPr/>
        <a:lstStyle/>
        <a:p>
          <a:endParaRPr lang="en-IN"/>
        </a:p>
      </dgm:t>
    </dgm:pt>
    <dgm:pt modelId="{B63B24A3-105B-404B-8F6B-F7844F2E1321}" type="sibTrans" cxnId="{16DE2E4B-34FA-4095-9E0E-27B38ED1635A}">
      <dgm:prSet/>
      <dgm:spPr/>
      <dgm:t>
        <a:bodyPr/>
        <a:lstStyle/>
        <a:p>
          <a:endParaRPr lang="en-IN"/>
        </a:p>
      </dgm:t>
    </dgm:pt>
    <dgm:pt modelId="{76605EEB-E8C6-4F47-92E2-20474F531A30}" type="pres">
      <dgm:prSet presAssocID="{4E60FF14-157B-4771-B1A2-81C78C947BA1}" presName="Name0" presStyleCnt="0">
        <dgm:presLayoutVars>
          <dgm:chMax val="2"/>
          <dgm:chPref val="2"/>
          <dgm:animLvl val="lvl"/>
        </dgm:presLayoutVars>
      </dgm:prSet>
      <dgm:spPr/>
    </dgm:pt>
    <dgm:pt modelId="{2CD8A7EA-F002-4026-B23A-0919CFCF927A}" type="pres">
      <dgm:prSet presAssocID="{4E60FF14-157B-4771-B1A2-81C78C947BA1}" presName="LeftText" presStyleLbl="revTx" presStyleIdx="0" presStyleCnt="0">
        <dgm:presLayoutVars>
          <dgm:bulletEnabled val="1"/>
        </dgm:presLayoutVars>
      </dgm:prSet>
      <dgm:spPr/>
    </dgm:pt>
    <dgm:pt modelId="{5A262DC9-BBBA-46F6-A9A4-110D78EE49B0}" type="pres">
      <dgm:prSet presAssocID="{4E60FF14-157B-4771-B1A2-81C78C947BA1}" presName="LeftNode" presStyleLbl="bgImgPlace1" presStyleIdx="0" presStyleCnt="2">
        <dgm:presLayoutVars>
          <dgm:chMax val="2"/>
          <dgm:chPref val="2"/>
        </dgm:presLayoutVars>
      </dgm:prSet>
      <dgm:spPr/>
    </dgm:pt>
    <dgm:pt modelId="{977CCDE6-52FF-4E9D-B8E5-3BF542B44D1B}" type="pres">
      <dgm:prSet presAssocID="{4E60FF14-157B-4771-B1A2-81C78C947BA1}" presName="RightText" presStyleLbl="revTx" presStyleIdx="0" presStyleCnt="0">
        <dgm:presLayoutVars>
          <dgm:bulletEnabled val="1"/>
        </dgm:presLayoutVars>
      </dgm:prSet>
      <dgm:spPr/>
    </dgm:pt>
    <dgm:pt modelId="{2EA358FF-33D2-4B02-B1E7-4BDDBD03C3BA}" type="pres">
      <dgm:prSet presAssocID="{4E60FF14-157B-4771-B1A2-81C78C947BA1}" presName="RightNode" presStyleLbl="bgImgPlace1" presStyleIdx="1" presStyleCnt="2">
        <dgm:presLayoutVars>
          <dgm:chMax val="0"/>
          <dgm:chPref val="0"/>
        </dgm:presLayoutVars>
      </dgm:prSet>
      <dgm:spPr/>
    </dgm:pt>
    <dgm:pt modelId="{B37D45D6-6F86-4B9B-B990-EE5A0B52794B}" type="pres">
      <dgm:prSet presAssocID="{4E60FF14-157B-4771-B1A2-81C78C947BA1}" presName="TopArrow" presStyleLbl="node1" presStyleIdx="0" presStyleCnt="2" custLinFactNeighborX="1416" custLinFactNeighborY="-4063"/>
      <dgm:spPr>
        <a:solidFill>
          <a:srgbClr val="FFFF00"/>
        </a:solidFill>
        <a:ln>
          <a:solidFill>
            <a:srgbClr val="FFFF00"/>
          </a:solidFill>
        </a:ln>
      </dgm:spPr>
    </dgm:pt>
    <dgm:pt modelId="{3F8FBE4B-999D-4C34-B54E-8F43FE09136B}" type="pres">
      <dgm:prSet presAssocID="{4E60FF14-157B-4771-B1A2-81C78C947BA1}" presName="BottomArrow" presStyleLbl="node1" presStyleIdx="1" presStyleCnt="2"/>
      <dgm:spPr>
        <a:solidFill>
          <a:srgbClr val="FFFF00"/>
        </a:solidFill>
        <a:ln>
          <a:solidFill>
            <a:srgbClr val="FFFF00"/>
          </a:solidFill>
        </a:ln>
      </dgm:spPr>
    </dgm:pt>
  </dgm:ptLst>
  <dgm:cxnLst>
    <dgm:cxn modelId="{29C7940C-807B-4DFC-B078-A7D6DD6C6EC8}" type="presOf" srcId="{A788DAE9-B755-4819-A99F-C2EFAB8FBFC8}" destId="{5A262DC9-BBBA-46F6-A9A4-110D78EE49B0}" srcOrd="1" destOrd="3" presId="urn:microsoft.com/office/officeart/2009/layout/ReverseList"/>
    <dgm:cxn modelId="{88713E27-AEEF-4307-BD0D-E52001DF25F8}" srcId="{4E60FF14-157B-4771-B1A2-81C78C947BA1}" destId="{4D599EED-FD27-48BB-BC67-0239F2B20363}" srcOrd="1" destOrd="0" parTransId="{8325B6DE-38F9-4FBA-8164-A65C1CF97825}" sibTransId="{96828963-82DF-4AFF-8558-7A0C47B791C0}"/>
    <dgm:cxn modelId="{F5436433-93BE-4D68-8475-15E84BAC8E34}" type="presOf" srcId="{4D599EED-FD27-48BB-BC67-0239F2B20363}" destId="{977CCDE6-52FF-4E9D-B8E5-3BF542B44D1B}" srcOrd="0" destOrd="0" presId="urn:microsoft.com/office/officeart/2009/layout/ReverseList"/>
    <dgm:cxn modelId="{4E8F7E34-550E-47AD-BD63-2497C73A412D}" type="presOf" srcId="{25F7C135-7EB7-401B-A039-1663583D7BD0}" destId="{2CD8A7EA-F002-4026-B23A-0919CFCF927A}" srcOrd="0" destOrd="2" presId="urn:microsoft.com/office/officeart/2009/layout/ReverseList"/>
    <dgm:cxn modelId="{E9634242-9E19-4FB6-BF90-79FAB7B90D55}" srcId="{4531FD46-B7B3-4098-82E0-DE1B24179348}" destId="{25F7C135-7EB7-401B-A039-1663583D7BD0}" srcOrd="1" destOrd="0" parTransId="{BE91D02D-493E-48A6-AA2A-D21032EF62FA}" sibTransId="{D7CFE12D-AEEE-47CE-9F2F-9190599F9B5C}"/>
    <dgm:cxn modelId="{D7DC6563-56ED-428B-A0EE-1A5447E8311E}" type="presOf" srcId="{E0615E60-1D87-4D60-B7B8-22CDD472BF14}" destId="{977CCDE6-52FF-4E9D-B8E5-3BF542B44D1B}" srcOrd="0" destOrd="1" presId="urn:microsoft.com/office/officeart/2009/layout/ReverseList"/>
    <dgm:cxn modelId="{16DE2E4B-34FA-4095-9E0E-27B38ED1635A}" srcId="{4D599EED-FD27-48BB-BC67-0239F2B20363}" destId="{E0615E60-1D87-4D60-B7B8-22CDD472BF14}" srcOrd="0" destOrd="0" parTransId="{EFE7264B-E7AA-4DE5-A020-28EA58B322A3}" sibTransId="{B63B24A3-105B-404B-8F6B-F7844F2E1321}"/>
    <dgm:cxn modelId="{33CF246E-0E16-4DF6-8007-13A9E40FEA91}" type="presOf" srcId="{29D050CC-5B46-4AAC-B4FB-04463F2DA13C}" destId="{977CCDE6-52FF-4E9D-B8E5-3BF542B44D1B}" srcOrd="0" destOrd="2" presId="urn:microsoft.com/office/officeart/2009/layout/ReverseList"/>
    <dgm:cxn modelId="{FE604E72-9A4A-4181-BA5D-F85CF45E6771}" type="presOf" srcId="{B8AA23F3-B5A3-4671-A036-C8E0DC14A616}" destId="{2EA358FF-33D2-4B02-B1E7-4BDDBD03C3BA}" srcOrd="1" destOrd="3" presId="urn:microsoft.com/office/officeart/2009/layout/ReverseList"/>
    <dgm:cxn modelId="{90FCD67B-39B3-455E-9646-0D5BAD3138F9}" srcId="{4E60FF14-157B-4771-B1A2-81C78C947BA1}" destId="{4531FD46-B7B3-4098-82E0-DE1B24179348}" srcOrd="0" destOrd="0" parTransId="{1EF75BB2-59C2-4319-B1A2-518A27E169A6}" sibTransId="{8DB14D99-DCD5-4EED-8FA2-250E0D2F1AAD}"/>
    <dgm:cxn modelId="{6B605880-C5DA-4AC9-AF43-CEE153B4F9BD}" type="presOf" srcId="{B8AA23F3-B5A3-4671-A036-C8E0DC14A616}" destId="{977CCDE6-52FF-4E9D-B8E5-3BF542B44D1B}" srcOrd="0" destOrd="3" presId="urn:microsoft.com/office/officeart/2009/layout/ReverseList"/>
    <dgm:cxn modelId="{EEC1308F-A093-4BC6-8343-C63FA01C4F87}" type="presOf" srcId="{4531FD46-B7B3-4098-82E0-DE1B24179348}" destId="{2CD8A7EA-F002-4026-B23A-0919CFCF927A}" srcOrd="0" destOrd="0" presId="urn:microsoft.com/office/officeart/2009/layout/ReverseList"/>
    <dgm:cxn modelId="{645A3590-DAAA-4E4B-AF51-592F0EBE807D}" type="presOf" srcId="{A788DAE9-B755-4819-A99F-C2EFAB8FBFC8}" destId="{2CD8A7EA-F002-4026-B23A-0919CFCF927A}" srcOrd="0" destOrd="3" presId="urn:microsoft.com/office/officeart/2009/layout/ReverseList"/>
    <dgm:cxn modelId="{FF0996A2-3CF8-4978-B371-2ED8846A92A7}" srcId="{4D599EED-FD27-48BB-BC67-0239F2B20363}" destId="{29D050CC-5B46-4AAC-B4FB-04463F2DA13C}" srcOrd="1" destOrd="0" parTransId="{1220885C-6A3A-4E1C-A8FB-E5F43B7E0B60}" sibTransId="{602898E1-8BE7-4B6E-A265-257A14962821}"/>
    <dgm:cxn modelId="{656984AC-0408-423F-998D-D63577D8795A}" type="presOf" srcId="{4E60FF14-157B-4771-B1A2-81C78C947BA1}" destId="{76605EEB-E8C6-4F47-92E2-20474F531A30}" srcOrd="0" destOrd="0" presId="urn:microsoft.com/office/officeart/2009/layout/ReverseList"/>
    <dgm:cxn modelId="{78655EB2-F504-44F0-9058-A02F550BC39E}" type="presOf" srcId="{4D599EED-FD27-48BB-BC67-0239F2B20363}" destId="{2EA358FF-33D2-4B02-B1E7-4BDDBD03C3BA}" srcOrd="1" destOrd="0" presId="urn:microsoft.com/office/officeart/2009/layout/ReverseList"/>
    <dgm:cxn modelId="{E9E68FB9-7580-4A22-8AFC-E5DF2459A339}" srcId="{4D599EED-FD27-48BB-BC67-0239F2B20363}" destId="{B8AA23F3-B5A3-4671-A036-C8E0DC14A616}" srcOrd="2" destOrd="0" parTransId="{72CD10A8-27AD-49F5-92D9-C3CD4E981F8C}" sibTransId="{49FF7BA0-B6EC-4DE7-AD41-BA33284D3D15}"/>
    <dgm:cxn modelId="{EFFEC6BC-E4FB-4457-9283-FA5C98F10D89}" srcId="{4531FD46-B7B3-4098-82E0-DE1B24179348}" destId="{090231AC-3C7F-486D-9414-E59912C195A7}" srcOrd="0" destOrd="0" parTransId="{3021DF7F-BC55-43B1-9480-A05F579ED6F7}" sibTransId="{262C3186-C816-43AA-B685-DD5E37BA2028}"/>
    <dgm:cxn modelId="{067582C5-45A1-4E04-A7EA-D99EFEF69FB6}" type="presOf" srcId="{090231AC-3C7F-486D-9414-E59912C195A7}" destId="{2CD8A7EA-F002-4026-B23A-0919CFCF927A}" srcOrd="0" destOrd="1" presId="urn:microsoft.com/office/officeart/2009/layout/ReverseList"/>
    <dgm:cxn modelId="{046B40DD-24F1-4476-9005-35C37625456A}" type="presOf" srcId="{090231AC-3C7F-486D-9414-E59912C195A7}" destId="{5A262DC9-BBBA-46F6-A9A4-110D78EE49B0}" srcOrd="1" destOrd="1" presId="urn:microsoft.com/office/officeart/2009/layout/ReverseList"/>
    <dgm:cxn modelId="{BEAD25E0-349C-4397-BC58-DC2C99B8F4D4}" type="presOf" srcId="{29D050CC-5B46-4AAC-B4FB-04463F2DA13C}" destId="{2EA358FF-33D2-4B02-B1E7-4BDDBD03C3BA}" srcOrd="1" destOrd="2" presId="urn:microsoft.com/office/officeart/2009/layout/ReverseList"/>
    <dgm:cxn modelId="{CE6905E6-E1CC-4822-93F3-21976AB998DD}" srcId="{4531FD46-B7B3-4098-82E0-DE1B24179348}" destId="{A788DAE9-B755-4819-A99F-C2EFAB8FBFC8}" srcOrd="2" destOrd="0" parTransId="{57F2EB26-8DE4-4311-9708-EA6D8F463435}" sibTransId="{2E93415E-F876-47EF-9452-62B3586A8904}"/>
    <dgm:cxn modelId="{2C0ADAE6-EFEA-4658-BFB1-EB0A14AACF84}" type="presOf" srcId="{25F7C135-7EB7-401B-A039-1663583D7BD0}" destId="{5A262DC9-BBBA-46F6-A9A4-110D78EE49B0}" srcOrd="1" destOrd="2" presId="urn:microsoft.com/office/officeart/2009/layout/ReverseList"/>
    <dgm:cxn modelId="{0D6D50EC-4E47-4A16-8916-E6EC9B4D2CB3}" type="presOf" srcId="{4531FD46-B7B3-4098-82E0-DE1B24179348}" destId="{5A262DC9-BBBA-46F6-A9A4-110D78EE49B0}" srcOrd="1" destOrd="0" presId="urn:microsoft.com/office/officeart/2009/layout/ReverseList"/>
    <dgm:cxn modelId="{873D78EC-4245-44F9-802C-17D9F18B70F1}" type="presOf" srcId="{E0615E60-1D87-4D60-B7B8-22CDD472BF14}" destId="{2EA358FF-33D2-4B02-B1E7-4BDDBD03C3BA}" srcOrd="1" destOrd="1" presId="urn:microsoft.com/office/officeart/2009/layout/ReverseList"/>
    <dgm:cxn modelId="{F1445894-CAD6-4E1A-BE19-04C8516AF146}" type="presParOf" srcId="{76605EEB-E8C6-4F47-92E2-20474F531A30}" destId="{2CD8A7EA-F002-4026-B23A-0919CFCF927A}" srcOrd="0" destOrd="0" presId="urn:microsoft.com/office/officeart/2009/layout/ReverseList"/>
    <dgm:cxn modelId="{1BACF31B-081B-4A4E-8F5C-87A905905919}" type="presParOf" srcId="{76605EEB-E8C6-4F47-92E2-20474F531A30}" destId="{5A262DC9-BBBA-46F6-A9A4-110D78EE49B0}" srcOrd="1" destOrd="0" presId="urn:microsoft.com/office/officeart/2009/layout/ReverseList"/>
    <dgm:cxn modelId="{55439725-7690-4655-A992-5AC5EB7D2D72}" type="presParOf" srcId="{76605EEB-E8C6-4F47-92E2-20474F531A30}" destId="{977CCDE6-52FF-4E9D-B8E5-3BF542B44D1B}" srcOrd="2" destOrd="0" presId="urn:microsoft.com/office/officeart/2009/layout/ReverseList"/>
    <dgm:cxn modelId="{9F81863C-F77E-4C97-B3B9-E4AAFDFA8030}" type="presParOf" srcId="{76605EEB-E8C6-4F47-92E2-20474F531A30}" destId="{2EA358FF-33D2-4B02-B1E7-4BDDBD03C3BA}" srcOrd="3" destOrd="0" presId="urn:microsoft.com/office/officeart/2009/layout/ReverseList"/>
    <dgm:cxn modelId="{03276889-CC79-4148-8B25-4CDAA3331B9C}" type="presParOf" srcId="{76605EEB-E8C6-4F47-92E2-20474F531A30}" destId="{B37D45D6-6F86-4B9B-B990-EE5A0B52794B}" srcOrd="4" destOrd="0" presId="urn:microsoft.com/office/officeart/2009/layout/ReverseList"/>
    <dgm:cxn modelId="{6EABA6E1-7F00-4DEA-BB39-48D4131D3694}" type="presParOf" srcId="{76605EEB-E8C6-4F47-92E2-20474F531A30}" destId="{3F8FBE4B-999D-4C34-B54E-8F43FE09136B}" srcOrd="5" destOrd="0" presId="urn:microsoft.com/office/officeart/2009/layout/Revers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C2A96192-C1D8-47EB-988A-4575893CBEE2}" type="doc">
      <dgm:prSet loTypeId="urn:microsoft.com/office/officeart/2005/8/layout/process1" loCatId="process" qsTypeId="urn:microsoft.com/office/officeart/2005/8/quickstyle/simple1" qsCatId="simple" csTypeId="urn:microsoft.com/office/officeart/2005/8/colors/accent1_2" csCatId="accent1" phldr="1"/>
      <dgm:spPr/>
    </dgm:pt>
    <dgm:pt modelId="{8E48A3F3-8E8B-4A90-8141-ECBC234500AA}">
      <dgm:prSet phldrT="[Text]" custT="1"/>
      <dgm:spPr>
        <a:noFill/>
        <a:ln>
          <a:solidFill>
            <a:srgbClr val="FFFF00"/>
          </a:solidFill>
        </a:ln>
      </dgm:spPr>
      <dgm:t>
        <a:bodyPr/>
        <a:lstStyle/>
        <a:p>
          <a:r>
            <a:rPr lang="en-IN" sz="800" b="1">
              <a:solidFill>
                <a:schemeClr val="bg1"/>
              </a:solidFill>
              <a:latin typeface="EY interstate"/>
            </a:rPr>
            <a:t>Depreciation Continuity</a:t>
          </a:r>
          <a:endParaRPr lang="en-IN" sz="800" b="1">
            <a:latin typeface="EY interstate"/>
          </a:endParaRPr>
        </a:p>
      </dgm:t>
    </dgm:pt>
    <dgm:pt modelId="{67DF41FD-C560-4FCE-8885-B99C506C528E}" type="parTrans" cxnId="{DA88A591-F012-447C-80D5-410F6A7E563A}">
      <dgm:prSet/>
      <dgm:spPr/>
      <dgm:t>
        <a:bodyPr/>
        <a:lstStyle/>
        <a:p>
          <a:endParaRPr lang="en-IN"/>
        </a:p>
      </dgm:t>
    </dgm:pt>
    <dgm:pt modelId="{C2CC1704-FD17-4D2A-93A5-A6027520BB34}" type="sibTrans" cxnId="{DA88A591-F012-447C-80D5-410F6A7E563A}">
      <dgm:prSet/>
      <dgm:spPr>
        <a:solidFill>
          <a:srgbClr val="FFFF00"/>
        </a:solidFill>
        <a:ln>
          <a:solidFill>
            <a:srgbClr val="FFFF00"/>
          </a:solidFill>
        </a:ln>
      </dgm:spPr>
      <dgm:t>
        <a:bodyPr/>
        <a:lstStyle/>
        <a:p>
          <a:endParaRPr lang="en-IN"/>
        </a:p>
      </dgm:t>
    </dgm:pt>
    <dgm:pt modelId="{1317CE4A-272D-41D0-8E65-7997E112DE64}">
      <dgm:prSet phldrT="[Text]" custT="1"/>
      <dgm:spPr>
        <a:noFill/>
        <a:ln>
          <a:solidFill>
            <a:srgbClr val="FFFF00"/>
          </a:solidFill>
        </a:ln>
      </dgm:spPr>
      <dgm:t>
        <a:bodyPr/>
        <a:lstStyle/>
        <a:p>
          <a:r>
            <a:rPr lang="en-IN" sz="800" b="1">
              <a:solidFill>
                <a:schemeClr val="bg1"/>
              </a:solidFill>
              <a:latin typeface="EY interstate"/>
            </a:rPr>
            <a:t>Fair Value Reassessment</a:t>
          </a:r>
          <a:endParaRPr lang="en-IN" sz="800" b="1">
            <a:latin typeface="EY interstate"/>
          </a:endParaRPr>
        </a:p>
      </dgm:t>
    </dgm:pt>
    <dgm:pt modelId="{E3A6262A-BD75-4F91-A335-D86905FC8102}" type="parTrans" cxnId="{A5A4CD35-8243-4B20-A616-07B6F6E9FAD5}">
      <dgm:prSet/>
      <dgm:spPr/>
      <dgm:t>
        <a:bodyPr/>
        <a:lstStyle/>
        <a:p>
          <a:endParaRPr lang="en-IN"/>
        </a:p>
      </dgm:t>
    </dgm:pt>
    <dgm:pt modelId="{9212EF93-B96F-4B1E-A20F-BFD9443F978E}" type="sibTrans" cxnId="{A5A4CD35-8243-4B20-A616-07B6F6E9FAD5}">
      <dgm:prSet/>
      <dgm:spPr>
        <a:solidFill>
          <a:srgbClr val="FFFF00"/>
        </a:solidFill>
        <a:ln>
          <a:solidFill>
            <a:srgbClr val="FFFF00"/>
          </a:solidFill>
        </a:ln>
      </dgm:spPr>
      <dgm:t>
        <a:bodyPr/>
        <a:lstStyle/>
        <a:p>
          <a:endParaRPr lang="en-IN"/>
        </a:p>
      </dgm:t>
    </dgm:pt>
    <dgm:pt modelId="{1601FE30-5EF2-424F-AA1B-317A438C57DB}">
      <dgm:prSet phldrT="[Text]" custT="1"/>
      <dgm:spPr>
        <a:noFill/>
        <a:ln>
          <a:solidFill>
            <a:srgbClr val="FFFF00"/>
          </a:solidFill>
        </a:ln>
      </dgm:spPr>
      <dgm:t>
        <a:bodyPr/>
        <a:lstStyle/>
        <a:p>
          <a:r>
            <a:rPr lang="en-IN" sz="800" b="1">
              <a:solidFill>
                <a:schemeClr val="bg1"/>
              </a:solidFill>
              <a:latin typeface="EY interstate"/>
            </a:rPr>
            <a:t>Lease Reclassification (IFRS 16)</a:t>
          </a:r>
        </a:p>
      </dgm:t>
    </dgm:pt>
    <dgm:pt modelId="{656FFD2B-BE24-478B-8D03-FC928A3B083F}" type="parTrans" cxnId="{9F0DBB7A-4CC6-4167-AA2C-E22B36E8997C}">
      <dgm:prSet/>
      <dgm:spPr/>
      <dgm:t>
        <a:bodyPr/>
        <a:lstStyle/>
        <a:p>
          <a:endParaRPr lang="en-IN"/>
        </a:p>
      </dgm:t>
    </dgm:pt>
    <dgm:pt modelId="{A2D99EE6-BC72-4C95-8E78-AA1C581CB546}" type="sibTrans" cxnId="{9F0DBB7A-4CC6-4167-AA2C-E22B36E8997C}">
      <dgm:prSet/>
      <dgm:spPr>
        <a:solidFill>
          <a:srgbClr val="FFFF00"/>
        </a:solidFill>
        <a:ln>
          <a:solidFill>
            <a:srgbClr val="FFFF00"/>
          </a:solidFill>
        </a:ln>
      </dgm:spPr>
      <dgm:t>
        <a:bodyPr/>
        <a:lstStyle/>
        <a:p>
          <a:endParaRPr lang="en-IN"/>
        </a:p>
      </dgm:t>
    </dgm:pt>
    <dgm:pt modelId="{283E6420-CC66-4F81-9BB5-2E05EBE64557}">
      <dgm:prSet phldrT="[Text]" custT="1"/>
      <dgm:spPr>
        <a:noFill/>
        <a:ln>
          <a:solidFill>
            <a:srgbClr val="FFFF00"/>
          </a:solidFill>
        </a:ln>
      </dgm:spPr>
      <dgm:t>
        <a:bodyPr/>
        <a:lstStyle/>
        <a:p>
          <a:r>
            <a:rPr lang="en-IN" sz="800" b="1">
              <a:solidFill>
                <a:schemeClr val="bg1"/>
              </a:solidFill>
              <a:latin typeface="EY interstate"/>
            </a:rPr>
            <a:t>Transfer Documentation</a:t>
          </a:r>
        </a:p>
      </dgm:t>
    </dgm:pt>
    <dgm:pt modelId="{095A2AF7-DCB4-4286-ACD4-F0ADD7DC9B7D}" type="parTrans" cxnId="{6129BF11-DCDB-48A4-9AC1-158737B68711}">
      <dgm:prSet/>
      <dgm:spPr/>
      <dgm:t>
        <a:bodyPr/>
        <a:lstStyle/>
        <a:p>
          <a:endParaRPr lang="en-IN"/>
        </a:p>
      </dgm:t>
    </dgm:pt>
    <dgm:pt modelId="{032432EA-E8AA-4062-811D-3E2340DFE01C}" type="sibTrans" cxnId="{6129BF11-DCDB-48A4-9AC1-158737B68711}">
      <dgm:prSet/>
      <dgm:spPr>
        <a:solidFill>
          <a:srgbClr val="FFFF00"/>
        </a:solidFill>
        <a:ln>
          <a:solidFill>
            <a:srgbClr val="FFFF00"/>
          </a:solidFill>
        </a:ln>
      </dgm:spPr>
      <dgm:t>
        <a:bodyPr/>
        <a:lstStyle/>
        <a:p>
          <a:endParaRPr lang="en-IN"/>
        </a:p>
      </dgm:t>
    </dgm:pt>
    <dgm:pt modelId="{E28007E9-5431-400F-BF02-D8E8796365D8}">
      <dgm:prSet phldrT="[Text]" custT="1"/>
      <dgm:spPr>
        <a:noFill/>
        <a:ln>
          <a:solidFill>
            <a:srgbClr val="FFFF00"/>
          </a:solidFill>
        </a:ln>
      </dgm:spPr>
      <dgm:t>
        <a:bodyPr/>
        <a:lstStyle/>
        <a:p>
          <a:r>
            <a:rPr lang="en-IN" sz="800" b="1">
              <a:solidFill>
                <a:schemeClr val="bg1"/>
              </a:solidFill>
              <a:latin typeface="EY interstate"/>
            </a:rPr>
            <a:t>Elimination in Consolidation</a:t>
          </a:r>
        </a:p>
      </dgm:t>
    </dgm:pt>
    <dgm:pt modelId="{0A803ABC-2427-4B87-8B52-2302E981E8CC}" type="parTrans" cxnId="{62DC2C50-A974-4264-B026-E23CA38AF8DF}">
      <dgm:prSet/>
      <dgm:spPr/>
      <dgm:t>
        <a:bodyPr/>
        <a:lstStyle/>
        <a:p>
          <a:endParaRPr lang="en-IN"/>
        </a:p>
      </dgm:t>
    </dgm:pt>
    <dgm:pt modelId="{E7610EC7-AEAB-43D6-BAE2-1BE9EE0053BD}" type="sibTrans" cxnId="{62DC2C50-A974-4264-B026-E23CA38AF8DF}">
      <dgm:prSet/>
      <dgm:spPr>
        <a:solidFill>
          <a:srgbClr val="FFFF00"/>
        </a:solidFill>
        <a:ln>
          <a:solidFill>
            <a:srgbClr val="FFFF00"/>
          </a:solidFill>
        </a:ln>
      </dgm:spPr>
      <dgm:t>
        <a:bodyPr/>
        <a:lstStyle/>
        <a:p>
          <a:endParaRPr lang="en-IN"/>
        </a:p>
      </dgm:t>
    </dgm:pt>
    <dgm:pt modelId="{3D516D0D-3A25-483A-9F90-2C4C78EF61E1}">
      <dgm:prSet phldrT="[Text]" custT="1"/>
      <dgm:spPr>
        <a:noFill/>
        <a:ln>
          <a:solidFill>
            <a:srgbClr val="FFFF00"/>
          </a:solidFill>
        </a:ln>
      </dgm:spPr>
      <dgm:t>
        <a:bodyPr/>
        <a:lstStyle/>
        <a:p>
          <a:r>
            <a:rPr lang="en-IN" sz="800" b="1">
              <a:solidFill>
                <a:schemeClr val="bg1"/>
              </a:solidFill>
              <a:latin typeface="EY interstate"/>
            </a:rPr>
            <a:t>Tax and Regulatory Compliance</a:t>
          </a:r>
        </a:p>
      </dgm:t>
    </dgm:pt>
    <dgm:pt modelId="{8F0971CD-71FB-4982-9FC5-D64253DC132A}" type="parTrans" cxnId="{30CD1FFB-9E45-417A-925C-D19B4A1CBEC4}">
      <dgm:prSet/>
      <dgm:spPr/>
      <dgm:t>
        <a:bodyPr/>
        <a:lstStyle/>
        <a:p>
          <a:endParaRPr lang="en-IN"/>
        </a:p>
      </dgm:t>
    </dgm:pt>
    <dgm:pt modelId="{475DF0A7-25A1-4DFD-9090-219A631B195F}" type="sibTrans" cxnId="{30CD1FFB-9E45-417A-925C-D19B4A1CBEC4}">
      <dgm:prSet/>
      <dgm:spPr/>
      <dgm:t>
        <a:bodyPr/>
        <a:lstStyle/>
        <a:p>
          <a:endParaRPr lang="en-IN"/>
        </a:p>
      </dgm:t>
    </dgm:pt>
    <dgm:pt modelId="{E524C91D-465B-4AE7-BD84-608F0DBE3CC2}" type="pres">
      <dgm:prSet presAssocID="{C2A96192-C1D8-47EB-988A-4575893CBEE2}" presName="Name0" presStyleCnt="0">
        <dgm:presLayoutVars>
          <dgm:dir/>
          <dgm:resizeHandles val="exact"/>
        </dgm:presLayoutVars>
      </dgm:prSet>
      <dgm:spPr/>
    </dgm:pt>
    <dgm:pt modelId="{38BE2E77-7328-4FCD-85A7-FA0791B80C0E}" type="pres">
      <dgm:prSet presAssocID="{8E48A3F3-8E8B-4A90-8141-ECBC234500AA}" presName="node" presStyleLbl="node1" presStyleIdx="0" presStyleCnt="6">
        <dgm:presLayoutVars>
          <dgm:bulletEnabled val="1"/>
        </dgm:presLayoutVars>
      </dgm:prSet>
      <dgm:spPr/>
    </dgm:pt>
    <dgm:pt modelId="{A627DADF-6DAC-4D8F-86FD-8D8A8BB1085C}" type="pres">
      <dgm:prSet presAssocID="{C2CC1704-FD17-4D2A-93A5-A6027520BB34}" presName="sibTrans" presStyleLbl="sibTrans2D1" presStyleIdx="0" presStyleCnt="5"/>
      <dgm:spPr/>
    </dgm:pt>
    <dgm:pt modelId="{609DE06A-504A-4123-91E1-1280E411A935}" type="pres">
      <dgm:prSet presAssocID="{C2CC1704-FD17-4D2A-93A5-A6027520BB34}" presName="connectorText" presStyleLbl="sibTrans2D1" presStyleIdx="0" presStyleCnt="5"/>
      <dgm:spPr/>
    </dgm:pt>
    <dgm:pt modelId="{59698703-D0BC-466B-8FD2-3A090CC974FC}" type="pres">
      <dgm:prSet presAssocID="{1317CE4A-272D-41D0-8E65-7997E112DE64}" presName="node" presStyleLbl="node1" presStyleIdx="1" presStyleCnt="6">
        <dgm:presLayoutVars>
          <dgm:bulletEnabled val="1"/>
        </dgm:presLayoutVars>
      </dgm:prSet>
      <dgm:spPr/>
    </dgm:pt>
    <dgm:pt modelId="{0C9608A6-391C-44C9-B661-A0D27E202049}" type="pres">
      <dgm:prSet presAssocID="{9212EF93-B96F-4B1E-A20F-BFD9443F978E}" presName="sibTrans" presStyleLbl="sibTrans2D1" presStyleIdx="1" presStyleCnt="5"/>
      <dgm:spPr/>
    </dgm:pt>
    <dgm:pt modelId="{2114C860-8539-4633-934A-CA606525E944}" type="pres">
      <dgm:prSet presAssocID="{9212EF93-B96F-4B1E-A20F-BFD9443F978E}" presName="connectorText" presStyleLbl="sibTrans2D1" presStyleIdx="1" presStyleCnt="5"/>
      <dgm:spPr/>
    </dgm:pt>
    <dgm:pt modelId="{791A9745-7D5D-4ABD-8018-A021BE48BD17}" type="pres">
      <dgm:prSet presAssocID="{1601FE30-5EF2-424F-AA1B-317A438C57DB}" presName="node" presStyleLbl="node1" presStyleIdx="2" presStyleCnt="6">
        <dgm:presLayoutVars>
          <dgm:bulletEnabled val="1"/>
        </dgm:presLayoutVars>
      </dgm:prSet>
      <dgm:spPr/>
    </dgm:pt>
    <dgm:pt modelId="{0195A604-FC4B-407E-BAC9-06A8EFA447B0}" type="pres">
      <dgm:prSet presAssocID="{A2D99EE6-BC72-4C95-8E78-AA1C581CB546}" presName="sibTrans" presStyleLbl="sibTrans2D1" presStyleIdx="2" presStyleCnt="5"/>
      <dgm:spPr/>
    </dgm:pt>
    <dgm:pt modelId="{84DE9532-1992-4260-AE7A-D21E313F54D7}" type="pres">
      <dgm:prSet presAssocID="{A2D99EE6-BC72-4C95-8E78-AA1C581CB546}" presName="connectorText" presStyleLbl="sibTrans2D1" presStyleIdx="2" presStyleCnt="5"/>
      <dgm:spPr/>
    </dgm:pt>
    <dgm:pt modelId="{1448431B-1BB3-46ED-AA5A-F6EA2EC79AFC}" type="pres">
      <dgm:prSet presAssocID="{283E6420-CC66-4F81-9BB5-2E05EBE64557}" presName="node" presStyleLbl="node1" presStyleIdx="3" presStyleCnt="6">
        <dgm:presLayoutVars>
          <dgm:bulletEnabled val="1"/>
        </dgm:presLayoutVars>
      </dgm:prSet>
      <dgm:spPr/>
    </dgm:pt>
    <dgm:pt modelId="{984002BD-4607-496C-9EE9-626AC68427A6}" type="pres">
      <dgm:prSet presAssocID="{032432EA-E8AA-4062-811D-3E2340DFE01C}" presName="sibTrans" presStyleLbl="sibTrans2D1" presStyleIdx="3" presStyleCnt="5"/>
      <dgm:spPr/>
    </dgm:pt>
    <dgm:pt modelId="{A7B642B4-ABAB-4B87-8916-CD7079E48C05}" type="pres">
      <dgm:prSet presAssocID="{032432EA-E8AA-4062-811D-3E2340DFE01C}" presName="connectorText" presStyleLbl="sibTrans2D1" presStyleIdx="3" presStyleCnt="5"/>
      <dgm:spPr/>
    </dgm:pt>
    <dgm:pt modelId="{8C4E328B-43DF-4DF5-9A31-95CB51BEB011}" type="pres">
      <dgm:prSet presAssocID="{E28007E9-5431-400F-BF02-D8E8796365D8}" presName="node" presStyleLbl="node1" presStyleIdx="4" presStyleCnt="6">
        <dgm:presLayoutVars>
          <dgm:bulletEnabled val="1"/>
        </dgm:presLayoutVars>
      </dgm:prSet>
      <dgm:spPr/>
    </dgm:pt>
    <dgm:pt modelId="{BA10F1F8-9AD8-4ECF-9543-3043B2BCDAA5}" type="pres">
      <dgm:prSet presAssocID="{E7610EC7-AEAB-43D6-BAE2-1BE9EE0053BD}" presName="sibTrans" presStyleLbl="sibTrans2D1" presStyleIdx="4" presStyleCnt="5"/>
      <dgm:spPr/>
    </dgm:pt>
    <dgm:pt modelId="{85A1F0F2-21AD-460B-A229-4CDA1B176A93}" type="pres">
      <dgm:prSet presAssocID="{E7610EC7-AEAB-43D6-BAE2-1BE9EE0053BD}" presName="connectorText" presStyleLbl="sibTrans2D1" presStyleIdx="4" presStyleCnt="5"/>
      <dgm:spPr/>
    </dgm:pt>
    <dgm:pt modelId="{B10C2DA9-D577-4010-87F9-E0B9953E2F07}" type="pres">
      <dgm:prSet presAssocID="{3D516D0D-3A25-483A-9F90-2C4C78EF61E1}" presName="node" presStyleLbl="node1" presStyleIdx="5" presStyleCnt="6">
        <dgm:presLayoutVars>
          <dgm:bulletEnabled val="1"/>
        </dgm:presLayoutVars>
      </dgm:prSet>
      <dgm:spPr/>
    </dgm:pt>
  </dgm:ptLst>
  <dgm:cxnLst>
    <dgm:cxn modelId="{D5E48104-15AD-4F5B-8907-7C17D1378541}" type="presOf" srcId="{C2A96192-C1D8-47EB-988A-4575893CBEE2}" destId="{E524C91D-465B-4AE7-BD84-608F0DBE3CC2}" srcOrd="0" destOrd="0" presId="urn:microsoft.com/office/officeart/2005/8/layout/process1"/>
    <dgm:cxn modelId="{0D7D800F-3AA4-4C8F-A44D-A12F241ABA58}" type="presOf" srcId="{3D516D0D-3A25-483A-9F90-2C4C78EF61E1}" destId="{B10C2DA9-D577-4010-87F9-E0B9953E2F07}" srcOrd="0" destOrd="0" presId="urn:microsoft.com/office/officeart/2005/8/layout/process1"/>
    <dgm:cxn modelId="{6129BF11-DCDB-48A4-9AC1-158737B68711}" srcId="{C2A96192-C1D8-47EB-988A-4575893CBEE2}" destId="{283E6420-CC66-4F81-9BB5-2E05EBE64557}" srcOrd="3" destOrd="0" parTransId="{095A2AF7-DCB4-4286-ACD4-F0ADD7DC9B7D}" sibTransId="{032432EA-E8AA-4062-811D-3E2340DFE01C}"/>
    <dgm:cxn modelId="{E004D21A-5C25-4BBE-94FF-81CA8C704A42}" type="presOf" srcId="{1601FE30-5EF2-424F-AA1B-317A438C57DB}" destId="{791A9745-7D5D-4ABD-8018-A021BE48BD17}" srcOrd="0" destOrd="0" presId="urn:microsoft.com/office/officeart/2005/8/layout/process1"/>
    <dgm:cxn modelId="{E245571C-6337-4788-85E7-59C0BF593BD2}" type="presOf" srcId="{1317CE4A-272D-41D0-8E65-7997E112DE64}" destId="{59698703-D0BC-466B-8FD2-3A090CC974FC}" srcOrd="0" destOrd="0" presId="urn:microsoft.com/office/officeart/2005/8/layout/process1"/>
    <dgm:cxn modelId="{CF0CC721-1147-4AB1-8C65-C4C8DB9616C8}" type="presOf" srcId="{E7610EC7-AEAB-43D6-BAE2-1BE9EE0053BD}" destId="{85A1F0F2-21AD-460B-A229-4CDA1B176A93}" srcOrd="1" destOrd="0" presId="urn:microsoft.com/office/officeart/2005/8/layout/process1"/>
    <dgm:cxn modelId="{ED4DAE23-2825-4684-8FF4-ED1E50FEEA11}" type="presOf" srcId="{C2CC1704-FD17-4D2A-93A5-A6027520BB34}" destId="{A627DADF-6DAC-4D8F-86FD-8D8A8BB1085C}" srcOrd="0" destOrd="0" presId="urn:microsoft.com/office/officeart/2005/8/layout/process1"/>
    <dgm:cxn modelId="{1326C432-268D-47B4-BA58-E17B96716E0D}" type="presOf" srcId="{C2CC1704-FD17-4D2A-93A5-A6027520BB34}" destId="{609DE06A-504A-4123-91E1-1280E411A935}" srcOrd="1" destOrd="0" presId="urn:microsoft.com/office/officeart/2005/8/layout/process1"/>
    <dgm:cxn modelId="{D3134A33-75D7-4351-AD52-86BAEC0196B4}" type="presOf" srcId="{032432EA-E8AA-4062-811D-3E2340DFE01C}" destId="{A7B642B4-ABAB-4B87-8916-CD7079E48C05}" srcOrd="1" destOrd="0" presId="urn:microsoft.com/office/officeart/2005/8/layout/process1"/>
    <dgm:cxn modelId="{A5A4CD35-8243-4B20-A616-07B6F6E9FAD5}" srcId="{C2A96192-C1D8-47EB-988A-4575893CBEE2}" destId="{1317CE4A-272D-41D0-8E65-7997E112DE64}" srcOrd="1" destOrd="0" parTransId="{E3A6262A-BD75-4F91-A335-D86905FC8102}" sibTransId="{9212EF93-B96F-4B1E-A20F-BFD9443F978E}"/>
    <dgm:cxn modelId="{B150CC46-430A-4400-9C25-B97F179DE265}" type="presOf" srcId="{A2D99EE6-BC72-4C95-8E78-AA1C581CB546}" destId="{84DE9532-1992-4260-AE7A-D21E313F54D7}" srcOrd="1" destOrd="0" presId="urn:microsoft.com/office/officeart/2005/8/layout/process1"/>
    <dgm:cxn modelId="{1F921069-F313-4C35-9EFF-EAAED47AE4F0}" type="presOf" srcId="{9212EF93-B96F-4B1E-A20F-BFD9443F978E}" destId="{2114C860-8539-4633-934A-CA606525E944}" srcOrd="1" destOrd="0" presId="urn:microsoft.com/office/officeart/2005/8/layout/process1"/>
    <dgm:cxn modelId="{C121A569-B8E1-497A-AE1E-64E1E70FBA96}" type="presOf" srcId="{E7610EC7-AEAB-43D6-BAE2-1BE9EE0053BD}" destId="{BA10F1F8-9AD8-4ECF-9543-3043B2BCDAA5}" srcOrd="0" destOrd="0" presId="urn:microsoft.com/office/officeart/2005/8/layout/process1"/>
    <dgm:cxn modelId="{62DC2C50-A974-4264-B026-E23CA38AF8DF}" srcId="{C2A96192-C1D8-47EB-988A-4575893CBEE2}" destId="{E28007E9-5431-400F-BF02-D8E8796365D8}" srcOrd="4" destOrd="0" parTransId="{0A803ABC-2427-4B87-8B52-2302E981E8CC}" sibTransId="{E7610EC7-AEAB-43D6-BAE2-1BE9EE0053BD}"/>
    <dgm:cxn modelId="{75948475-AEE3-4D64-8925-6CF87216C2B6}" type="presOf" srcId="{8E48A3F3-8E8B-4A90-8141-ECBC234500AA}" destId="{38BE2E77-7328-4FCD-85A7-FA0791B80C0E}" srcOrd="0" destOrd="0" presId="urn:microsoft.com/office/officeart/2005/8/layout/process1"/>
    <dgm:cxn modelId="{9F0DBB7A-4CC6-4167-AA2C-E22B36E8997C}" srcId="{C2A96192-C1D8-47EB-988A-4575893CBEE2}" destId="{1601FE30-5EF2-424F-AA1B-317A438C57DB}" srcOrd="2" destOrd="0" parTransId="{656FFD2B-BE24-478B-8D03-FC928A3B083F}" sibTransId="{A2D99EE6-BC72-4C95-8E78-AA1C581CB546}"/>
    <dgm:cxn modelId="{DA88A591-F012-447C-80D5-410F6A7E563A}" srcId="{C2A96192-C1D8-47EB-988A-4575893CBEE2}" destId="{8E48A3F3-8E8B-4A90-8141-ECBC234500AA}" srcOrd="0" destOrd="0" parTransId="{67DF41FD-C560-4FCE-8885-B99C506C528E}" sibTransId="{C2CC1704-FD17-4D2A-93A5-A6027520BB34}"/>
    <dgm:cxn modelId="{8B8C3998-63B9-46D2-95EC-3009E107A29F}" type="presOf" srcId="{A2D99EE6-BC72-4C95-8E78-AA1C581CB546}" destId="{0195A604-FC4B-407E-BAC9-06A8EFA447B0}" srcOrd="0" destOrd="0" presId="urn:microsoft.com/office/officeart/2005/8/layout/process1"/>
    <dgm:cxn modelId="{EED3C3B9-76AB-44E6-B70F-28685A5EF40D}" type="presOf" srcId="{E28007E9-5431-400F-BF02-D8E8796365D8}" destId="{8C4E328B-43DF-4DF5-9A31-95CB51BEB011}" srcOrd="0" destOrd="0" presId="urn:microsoft.com/office/officeart/2005/8/layout/process1"/>
    <dgm:cxn modelId="{4F2570BD-276C-433B-9F34-C600EAE5A881}" type="presOf" srcId="{032432EA-E8AA-4062-811D-3E2340DFE01C}" destId="{984002BD-4607-496C-9EE9-626AC68427A6}" srcOrd="0" destOrd="0" presId="urn:microsoft.com/office/officeart/2005/8/layout/process1"/>
    <dgm:cxn modelId="{6D94B0BF-4078-4FDB-8601-804CCEAFD792}" type="presOf" srcId="{283E6420-CC66-4F81-9BB5-2E05EBE64557}" destId="{1448431B-1BB3-46ED-AA5A-F6EA2EC79AFC}" srcOrd="0" destOrd="0" presId="urn:microsoft.com/office/officeart/2005/8/layout/process1"/>
    <dgm:cxn modelId="{FDE273D0-A15A-47B1-BADA-F9F8DED78D08}" type="presOf" srcId="{9212EF93-B96F-4B1E-A20F-BFD9443F978E}" destId="{0C9608A6-391C-44C9-B661-A0D27E202049}" srcOrd="0" destOrd="0" presId="urn:microsoft.com/office/officeart/2005/8/layout/process1"/>
    <dgm:cxn modelId="{30CD1FFB-9E45-417A-925C-D19B4A1CBEC4}" srcId="{C2A96192-C1D8-47EB-988A-4575893CBEE2}" destId="{3D516D0D-3A25-483A-9F90-2C4C78EF61E1}" srcOrd="5" destOrd="0" parTransId="{8F0971CD-71FB-4982-9FC5-D64253DC132A}" sibTransId="{475DF0A7-25A1-4DFD-9090-219A631B195F}"/>
    <dgm:cxn modelId="{12D64318-BE63-4424-926A-97003BF8C4E9}" type="presParOf" srcId="{E524C91D-465B-4AE7-BD84-608F0DBE3CC2}" destId="{38BE2E77-7328-4FCD-85A7-FA0791B80C0E}" srcOrd="0" destOrd="0" presId="urn:microsoft.com/office/officeart/2005/8/layout/process1"/>
    <dgm:cxn modelId="{A07A8C97-3890-4984-822D-548CD099287E}" type="presParOf" srcId="{E524C91D-465B-4AE7-BD84-608F0DBE3CC2}" destId="{A627DADF-6DAC-4D8F-86FD-8D8A8BB1085C}" srcOrd="1" destOrd="0" presId="urn:microsoft.com/office/officeart/2005/8/layout/process1"/>
    <dgm:cxn modelId="{57DCEC11-8C13-4C11-A720-0275FCC23E64}" type="presParOf" srcId="{A627DADF-6DAC-4D8F-86FD-8D8A8BB1085C}" destId="{609DE06A-504A-4123-91E1-1280E411A935}" srcOrd="0" destOrd="0" presId="urn:microsoft.com/office/officeart/2005/8/layout/process1"/>
    <dgm:cxn modelId="{CD2D2CD0-940D-4889-A7D6-F813C91FE376}" type="presParOf" srcId="{E524C91D-465B-4AE7-BD84-608F0DBE3CC2}" destId="{59698703-D0BC-466B-8FD2-3A090CC974FC}" srcOrd="2" destOrd="0" presId="urn:microsoft.com/office/officeart/2005/8/layout/process1"/>
    <dgm:cxn modelId="{FF73F22D-BDAD-46C3-8426-4F18ED7D7EAA}" type="presParOf" srcId="{E524C91D-465B-4AE7-BD84-608F0DBE3CC2}" destId="{0C9608A6-391C-44C9-B661-A0D27E202049}" srcOrd="3" destOrd="0" presId="urn:microsoft.com/office/officeart/2005/8/layout/process1"/>
    <dgm:cxn modelId="{3D2B251A-74F3-4249-848B-15BDB98ACE33}" type="presParOf" srcId="{0C9608A6-391C-44C9-B661-A0D27E202049}" destId="{2114C860-8539-4633-934A-CA606525E944}" srcOrd="0" destOrd="0" presId="urn:microsoft.com/office/officeart/2005/8/layout/process1"/>
    <dgm:cxn modelId="{2964D625-B67C-43C7-8D92-6ADA4EB843CB}" type="presParOf" srcId="{E524C91D-465B-4AE7-BD84-608F0DBE3CC2}" destId="{791A9745-7D5D-4ABD-8018-A021BE48BD17}" srcOrd="4" destOrd="0" presId="urn:microsoft.com/office/officeart/2005/8/layout/process1"/>
    <dgm:cxn modelId="{27C287C4-4610-4361-8B38-85D4899C5E32}" type="presParOf" srcId="{E524C91D-465B-4AE7-BD84-608F0DBE3CC2}" destId="{0195A604-FC4B-407E-BAC9-06A8EFA447B0}" srcOrd="5" destOrd="0" presId="urn:microsoft.com/office/officeart/2005/8/layout/process1"/>
    <dgm:cxn modelId="{B1E01759-FC2E-4069-8727-9628ED6DB764}" type="presParOf" srcId="{0195A604-FC4B-407E-BAC9-06A8EFA447B0}" destId="{84DE9532-1992-4260-AE7A-D21E313F54D7}" srcOrd="0" destOrd="0" presId="urn:microsoft.com/office/officeart/2005/8/layout/process1"/>
    <dgm:cxn modelId="{38BBC035-A16D-4014-9EE6-6890DA349625}" type="presParOf" srcId="{E524C91D-465B-4AE7-BD84-608F0DBE3CC2}" destId="{1448431B-1BB3-46ED-AA5A-F6EA2EC79AFC}" srcOrd="6" destOrd="0" presId="urn:microsoft.com/office/officeart/2005/8/layout/process1"/>
    <dgm:cxn modelId="{E9BA414C-B6CD-4F06-AFDA-3FA65CD98043}" type="presParOf" srcId="{E524C91D-465B-4AE7-BD84-608F0DBE3CC2}" destId="{984002BD-4607-496C-9EE9-626AC68427A6}" srcOrd="7" destOrd="0" presId="urn:microsoft.com/office/officeart/2005/8/layout/process1"/>
    <dgm:cxn modelId="{592F5346-8DF8-45E1-A4D5-8C69AD807225}" type="presParOf" srcId="{984002BD-4607-496C-9EE9-626AC68427A6}" destId="{A7B642B4-ABAB-4B87-8916-CD7079E48C05}" srcOrd="0" destOrd="0" presId="urn:microsoft.com/office/officeart/2005/8/layout/process1"/>
    <dgm:cxn modelId="{A2B3277E-9676-417D-982D-B529D6EA0177}" type="presParOf" srcId="{E524C91D-465B-4AE7-BD84-608F0DBE3CC2}" destId="{8C4E328B-43DF-4DF5-9A31-95CB51BEB011}" srcOrd="8" destOrd="0" presId="urn:microsoft.com/office/officeart/2005/8/layout/process1"/>
    <dgm:cxn modelId="{8FF82F97-2668-472C-A536-5655F361C6EC}" type="presParOf" srcId="{E524C91D-465B-4AE7-BD84-608F0DBE3CC2}" destId="{BA10F1F8-9AD8-4ECF-9543-3043B2BCDAA5}" srcOrd="9" destOrd="0" presId="urn:microsoft.com/office/officeart/2005/8/layout/process1"/>
    <dgm:cxn modelId="{D77F4A39-0930-4984-B4E2-4AA7654711F4}" type="presParOf" srcId="{BA10F1F8-9AD8-4ECF-9543-3043B2BCDAA5}" destId="{85A1F0F2-21AD-460B-A229-4CDA1B176A93}" srcOrd="0" destOrd="0" presId="urn:microsoft.com/office/officeart/2005/8/layout/process1"/>
    <dgm:cxn modelId="{CE5CF80D-A673-44E3-885A-4DCDE3672B79}" type="presParOf" srcId="{E524C91D-465B-4AE7-BD84-608F0DBE3CC2}" destId="{B10C2DA9-D577-4010-87F9-E0B9953E2F07}" srcOrd="10" destOrd="0" presId="urn:microsoft.com/office/officeart/2005/8/layout/process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F6199DA6-0265-4B87-B450-8D5C266CD270}" type="doc">
      <dgm:prSet loTypeId="urn:microsoft.com/office/officeart/2005/8/layout/chevron2" loCatId="list" qsTypeId="urn:microsoft.com/office/officeart/2005/8/quickstyle/simple1" qsCatId="simple" csTypeId="urn:microsoft.com/office/officeart/2005/8/colors/accent1_2" csCatId="accent1" phldr="1"/>
      <dgm:spPr/>
      <dgm:t>
        <a:bodyPr/>
        <a:lstStyle/>
        <a:p>
          <a:endParaRPr lang="en-IN"/>
        </a:p>
      </dgm:t>
    </dgm:pt>
    <dgm:pt modelId="{B6E73687-51A2-4CBF-852D-BE2F25A9D12E}">
      <dgm:prSet phldrT="[Text]" custT="1"/>
      <dgm:spPr>
        <a:noFill/>
        <a:ln>
          <a:solidFill>
            <a:srgbClr val="FFFF00"/>
          </a:solidFill>
        </a:ln>
      </dgm:spPr>
      <dgm:t>
        <a:bodyPr/>
        <a:lstStyle/>
        <a:p>
          <a:r>
            <a:rPr lang="en-IN" sz="700" b="1">
              <a:latin typeface="EY interstate"/>
            </a:rPr>
            <a:t>Initiation</a:t>
          </a:r>
        </a:p>
      </dgm:t>
    </dgm:pt>
    <dgm:pt modelId="{D1D6C82D-4D76-41B6-A12D-ABB60FFAB2C4}" type="parTrans" cxnId="{D4D4D4ED-64AD-4399-8B9D-0C4F2B5025CD}">
      <dgm:prSet/>
      <dgm:spPr/>
      <dgm:t>
        <a:bodyPr/>
        <a:lstStyle/>
        <a:p>
          <a:endParaRPr lang="en-IN"/>
        </a:p>
      </dgm:t>
    </dgm:pt>
    <dgm:pt modelId="{1E30B87C-71EB-4AE4-8533-278FAB0F68F0}" type="sibTrans" cxnId="{D4D4D4ED-64AD-4399-8B9D-0C4F2B5025CD}">
      <dgm:prSet/>
      <dgm:spPr/>
      <dgm:t>
        <a:bodyPr/>
        <a:lstStyle/>
        <a:p>
          <a:endParaRPr lang="en-IN"/>
        </a:p>
      </dgm:t>
    </dgm:pt>
    <dgm:pt modelId="{F21041BF-734C-4B65-9632-C9B998C62158}">
      <dgm:prSet phldrT="[Text]" custT="1"/>
      <dgm:spPr>
        <a:noFill/>
        <a:ln>
          <a:noFill/>
        </a:ln>
      </dgm:spPr>
      <dgm:t>
        <a:bodyPr/>
        <a:lstStyle/>
        <a:p>
          <a:r>
            <a:rPr lang="en-IN" sz="800">
              <a:solidFill>
                <a:schemeClr val="bg1"/>
              </a:solidFill>
              <a:latin typeface="EY interstate"/>
            </a:rPr>
            <a:t>Entities Involved: Two or more legal entities within the same corporate group (e.g., Entity A and Entity B).
Nature: Sale or purchase of goods/services between these entities.</a:t>
          </a:r>
        </a:p>
      </dgm:t>
    </dgm:pt>
    <dgm:pt modelId="{E298798E-B5D3-4BCD-B1F2-92C14AF05CDD}" type="parTrans" cxnId="{EC6D6259-21A8-416D-97E0-EB98525A4CAD}">
      <dgm:prSet/>
      <dgm:spPr/>
      <dgm:t>
        <a:bodyPr/>
        <a:lstStyle/>
        <a:p>
          <a:endParaRPr lang="en-IN"/>
        </a:p>
      </dgm:t>
    </dgm:pt>
    <dgm:pt modelId="{262C1EB2-83CB-4060-9FEB-2EE52DFFF41D}" type="sibTrans" cxnId="{EC6D6259-21A8-416D-97E0-EB98525A4CAD}">
      <dgm:prSet/>
      <dgm:spPr/>
      <dgm:t>
        <a:bodyPr/>
        <a:lstStyle/>
        <a:p>
          <a:endParaRPr lang="en-IN"/>
        </a:p>
      </dgm:t>
    </dgm:pt>
    <dgm:pt modelId="{797316F2-BBCA-47EE-944C-C653FF42E557}">
      <dgm:prSet phldrT="[Text]" custT="1"/>
      <dgm:spPr>
        <a:noFill/>
        <a:ln>
          <a:solidFill>
            <a:srgbClr val="FFFF00"/>
          </a:solidFill>
        </a:ln>
      </dgm:spPr>
      <dgm:t>
        <a:bodyPr/>
        <a:lstStyle/>
        <a:p>
          <a:r>
            <a:rPr lang="en-IN" sz="700" b="1">
              <a:latin typeface="EY interstate"/>
            </a:rPr>
            <a:t>Order &amp; </a:t>
          </a:r>
          <a:br>
            <a:rPr lang="en-IN" sz="700" b="1">
              <a:latin typeface="EY interstate"/>
            </a:rPr>
          </a:br>
          <a:r>
            <a:rPr lang="en-IN" sz="700" b="1">
              <a:latin typeface="EY interstate"/>
            </a:rPr>
            <a:t>Delivery</a:t>
          </a:r>
        </a:p>
      </dgm:t>
    </dgm:pt>
    <dgm:pt modelId="{6DAEE7D9-3C3A-4BBE-BBFC-3D6037FB75E5}" type="parTrans" cxnId="{1980BFDB-EE3C-45A0-AFEE-C95EC27A35D6}">
      <dgm:prSet/>
      <dgm:spPr/>
      <dgm:t>
        <a:bodyPr/>
        <a:lstStyle/>
        <a:p>
          <a:endParaRPr lang="en-IN"/>
        </a:p>
      </dgm:t>
    </dgm:pt>
    <dgm:pt modelId="{95A5DBD8-AC79-4D71-9269-5AA43AB1704B}" type="sibTrans" cxnId="{1980BFDB-EE3C-45A0-AFEE-C95EC27A35D6}">
      <dgm:prSet/>
      <dgm:spPr/>
      <dgm:t>
        <a:bodyPr/>
        <a:lstStyle/>
        <a:p>
          <a:endParaRPr lang="en-IN"/>
        </a:p>
      </dgm:t>
    </dgm:pt>
    <dgm:pt modelId="{28768ABE-ABD4-403C-91C1-3B196FBE1263}">
      <dgm:prSet phldrT="[Text]" custT="1"/>
      <dgm:spPr>
        <a:noFill/>
        <a:ln>
          <a:noFill/>
        </a:ln>
      </dgm:spPr>
      <dgm:t>
        <a:bodyPr/>
        <a:lstStyle/>
        <a:p>
          <a:r>
            <a:rPr lang="en-IN" sz="800">
              <a:solidFill>
                <a:schemeClr val="bg1"/>
              </a:solidFill>
              <a:latin typeface="EY interstate"/>
            </a:rPr>
            <a:t>Entity A (Seller) receives a purchase order from Entity B (Buyer).
Goods or services are delivered from Entity A to Entity B.</a:t>
          </a:r>
        </a:p>
      </dgm:t>
    </dgm:pt>
    <dgm:pt modelId="{D0871F90-68A0-46EE-8E2B-BAA037AAE9AC}" type="parTrans" cxnId="{3E2E5680-BD4F-4453-BA50-617AB12618E7}">
      <dgm:prSet/>
      <dgm:spPr/>
      <dgm:t>
        <a:bodyPr/>
        <a:lstStyle/>
        <a:p>
          <a:endParaRPr lang="en-IN"/>
        </a:p>
      </dgm:t>
    </dgm:pt>
    <dgm:pt modelId="{7B82EF6E-E2D3-4DEF-9314-D6E4F416B0E3}" type="sibTrans" cxnId="{3E2E5680-BD4F-4453-BA50-617AB12618E7}">
      <dgm:prSet/>
      <dgm:spPr/>
      <dgm:t>
        <a:bodyPr/>
        <a:lstStyle/>
        <a:p>
          <a:endParaRPr lang="en-IN"/>
        </a:p>
      </dgm:t>
    </dgm:pt>
    <dgm:pt modelId="{6BCBC474-2DE6-4437-BFE7-0965C6882207}">
      <dgm:prSet phldrT="[Text]" custT="1"/>
      <dgm:spPr>
        <a:noFill/>
        <a:ln>
          <a:solidFill>
            <a:srgbClr val="FFFF00"/>
          </a:solidFill>
        </a:ln>
      </dgm:spPr>
      <dgm:t>
        <a:bodyPr/>
        <a:lstStyle/>
        <a:p>
          <a:r>
            <a:rPr lang="en-IN" sz="700" b="1">
              <a:latin typeface="EY interstate"/>
            </a:rPr>
            <a:t>Invoicing</a:t>
          </a:r>
        </a:p>
      </dgm:t>
    </dgm:pt>
    <dgm:pt modelId="{2A195CDD-448C-41E7-BD45-DEDA37A1A2E4}" type="parTrans" cxnId="{6419B5C6-C56B-4675-A23C-555D25BD39AD}">
      <dgm:prSet/>
      <dgm:spPr/>
      <dgm:t>
        <a:bodyPr/>
        <a:lstStyle/>
        <a:p>
          <a:endParaRPr lang="en-IN"/>
        </a:p>
      </dgm:t>
    </dgm:pt>
    <dgm:pt modelId="{CEB00538-F476-4793-A56B-0A52F591E857}" type="sibTrans" cxnId="{6419B5C6-C56B-4675-A23C-555D25BD39AD}">
      <dgm:prSet/>
      <dgm:spPr/>
      <dgm:t>
        <a:bodyPr/>
        <a:lstStyle/>
        <a:p>
          <a:endParaRPr lang="en-IN"/>
        </a:p>
      </dgm:t>
    </dgm:pt>
    <dgm:pt modelId="{F67AE347-E368-43F5-9901-DCBFFC2B137D}">
      <dgm:prSet phldrT="[Text]" custT="1"/>
      <dgm:spPr>
        <a:noFill/>
        <a:ln>
          <a:noFill/>
        </a:ln>
      </dgm:spPr>
      <dgm:t>
        <a:bodyPr/>
        <a:lstStyle/>
        <a:p>
          <a:r>
            <a:rPr lang="en-IN" sz="800">
              <a:solidFill>
                <a:schemeClr val="bg1"/>
              </a:solidFill>
              <a:latin typeface="EY interstate"/>
            </a:rPr>
            <a:t>Entity A raises an intercompany invoice to Entity B for the goods/services provided.
The invoice includes details like quantity, price, and applicable taxes (if any).</a:t>
          </a:r>
        </a:p>
      </dgm:t>
    </dgm:pt>
    <dgm:pt modelId="{E9D8F571-80D0-48E9-A1B4-12FFD37B41C4}" type="parTrans" cxnId="{2B34BD7E-B296-4108-AD74-8DFD79DE007C}">
      <dgm:prSet/>
      <dgm:spPr/>
      <dgm:t>
        <a:bodyPr/>
        <a:lstStyle/>
        <a:p>
          <a:endParaRPr lang="en-IN"/>
        </a:p>
      </dgm:t>
    </dgm:pt>
    <dgm:pt modelId="{4BBD4D6C-5D77-45A7-A2F9-03A80F44D045}" type="sibTrans" cxnId="{2B34BD7E-B296-4108-AD74-8DFD79DE007C}">
      <dgm:prSet/>
      <dgm:spPr/>
      <dgm:t>
        <a:bodyPr/>
        <a:lstStyle/>
        <a:p>
          <a:endParaRPr lang="en-IN"/>
        </a:p>
      </dgm:t>
    </dgm:pt>
    <dgm:pt modelId="{28DB289B-ECCE-435A-9088-AC346014FA4D}">
      <dgm:prSet phldrT="[Text]" custT="1"/>
      <dgm:spPr>
        <a:noFill/>
        <a:ln>
          <a:solidFill>
            <a:srgbClr val="FFFF00"/>
          </a:solidFill>
        </a:ln>
      </dgm:spPr>
      <dgm:t>
        <a:bodyPr/>
        <a:lstStyle/>
        <a:p>
          <a:r>
            <a:rPr lang="en-IN" sz="700" b="1">
              <a:latin typeface="EY interstate"/>
            </a:rPr>
            <a:t>Accounting Entries</a:t>
          </a:r>
        </a:p>
      </dgm:t>
    </dgm:pt>
    <dgm:pt modelId="{70280566-8F3A-4313-BFB1-C6E21FFA758B}" type="parTrans" cxnId="{0ED9BB01-A475-4922-AA0D-E711F12305CE}">
      <dgm:prSet/>
      <dgm:spPr/>
      <dgm:t>
        <a:bodyPr/>
        <a:lstStyle/>
        <a:p>
          <a:endParaRPr lang="en-IN"/>
        </a:p>
      </dgm:t>
    </dgm:pt>
    <dgm:pt modelId="{41D8F684-411D-4605-BA3A-6BE962D7BEB4}" type="sibTrans" cxnId="{0ED9BB01-A475-4922-AA0D-E711F12305CE}">
      <dgm:prSet/>
      <dgm:spPr/>
      <dgm:t>
        <a:bodyPr/>
        <a:lstStyle/>
        <a:p>
          <a:endParaRPr lang="en-IN"/>
        </a:p>
      </dgm:t>
    </dgm:pt>
    <dgm:pt modelId="{CD7C0F1D-CCA1-4541-A0C6-A02141097691}">
      <dgm:prSet phldrT="[Text]" custT="1"/>
      <dgm:spPr>
        <a:noFill/>
        <a:ln>
          <a:solidFill>
            <a:srgbClr val="FFFF00"/>
          </a:solidFill>
        </a:ln>
      </dgm:spPr>
      <dgm:t>
        <a:bodyPr/>
        <a:lstStyle/>
        <a:p>
          <a:r>
            <a:rPr lang="en-IN" sz="700" b="1">
              <a:latin typeface="EY interstate"/>
            </a:rPr>
            <a:t>Settlement</a:t>
          </a:r>
        </a:p>
      </dgm:t>
    </dgm:pt>
    <dgm:pt modelId="{3D144043-AE6B-463F-98CD-E7AC0AACAE39}" type="parTrans" cxnId="{F2694DC8-5E6D-4DC4-BF30-4C614131FA50}">
      <dgm:prSet/>
      <dgm:spPr/>
      <dgm:t>
        <a:bodyPr/>
        <a:lstStyle/>
        <a:p>
          <a:endParaRPr lang="en-IN"/>
        </a:p>
      </dgm:t>
    </dgm:pt>
    <dgm:pt modelId="{024D4412-B21F-4D67-8729-DC4086F1B382}" type="sibTrans" cxnId="{F2694DC8-5E6D-4DC4-BF30-4C614131FA50}">
      <dgm:prSet/>
      <dgm:spPr/>
      <dgm:t>
        <a:bodyPr/>
        <a:lstStyle/>
        <a:p>
          <a:endParaRPr lang="en-IN"/>
        </a:p>
      </dgm:t>
    </dgm:pt>
    <dgm:pt modelId="{0F169719-B007-4D19-ABA2-9A83142C3FF1}">
      <dgm:prSet phldrT="[Text]" custT="1"/>
      <dgm:spPr>
        <a:noFill/>
        <a:ln>
          <a:noFill/>
        </a:ln>
      </dgm:spPr>
      <dgm:t>
        <a:bodyPr/>
        <a:lstStyle/>
        <a:p>
          <a:r>
            <a:rPr lang="en-IN" sz="700">
              <a:solidFill>
                <a:schemeClr val="bg1"/>
              </a:solidFill>
              <a:latin typeface="EY interstate"/>
            </a:rPr>
            <a:t>Entity A (Seller): Debit Intercompany Receivable (amount due from Entity B) Credit: Revenue (for the sale) Credit: Inventory (if goods are sold)
Entity B (Buyer):Debit: Inventory or Expense (for goods/services received)</a:t>
          </a:r>
          <a:br>
            <a:rPr lang="en-IN" sz="700">
              <a:solidFill>
                <a:schemeClr val="bg1"/>
              </a:solidFill>
              <a:latin typeface="EY interstate"/>
            </a:rPr>
          </a:br>
          <a:r>
            <a:rPr lang="en-IN" sz="700">
              <a:solidFill>
                <a:schemeClr val="bg1"/>
              </a:solidFill>
              <a:latin typeface="EY interstate"/>
            </a:rPr>
            <a:t>Credit: Intercompany Payable (amount owed to Entity A)</a:t>
          </a:r>
        </a:p>
      </dgm:t>
    </dgm:pt>
    <dgm:pt modelId="{50BA9781-8A3E-46F9-8200-41BF6A0EC9D3}" type="parTrans" cxnId="{370E72AF-0796-4F5D-BA13-75FF6352F03A}">
      <dgm:prSet/>
      <dgm:spPr/>
      <dgm:t>
        <a:bodyPr/>
        <a:lstStyle/>
        <a:p>
          <a:endParaRPr lang="en-IN"/>
        </a:p>
      </dgm:t>
    </dgm:pt>
    <dgm:pt modelId="{73112DD1-E962-4161-9E84-07D27957CD7D}" type="sibTrans" cxnId="{370E72AF-0796-4F5D-BA13-75FF6352F03A}">
      <dgm:prSet/>
      <dgm:spPr/>
      <dgm:t>
        <a:bodyPr/>
        <a:lstStyle/>
        <a:p>
          <a:endParaRPr lang="en-IN"/>
        </a:p>
      </dgm:t>
    </dgm:pt>
    <dgm:pt modelId="{70C61D2D-D431-47AD-8AD3-E571224FE86B}">
      <dgm:prSet phldrT="[Text]" custT="1"/>
      <dgm:spPr>
        <a:noFill/>
        <a:ln>
          <a:solidFill>
            <a:srgbClr val="FFFF00"/>
          </a:solidFill>
        </a:ln>
      </dgm:spPr>
      <dgm:t>
        <a:bodyPr/>
        <a:lstStyle/>
        <a:p>
          <a:r>
            <a:rPr lang="en-IN" sz="700" b="1">
              <a:latin typeface="EY interstate"/>
            </a:rPr>
            <a:t>Month end Reconciliation</a:t>
          </a:r>
        </a:p>
      </dgm:t>
    </dgm:pt>
    <dgm:pt modelId="{B42EF70F-4DDA-42FF-A0B2-FFED1A3CEE9C}" type="parTrans" cxnId="{1BFE3823-5549-4A7F-BC8C-3B49F0F44B2C}">
      <dgm:prSet/>
      <dgm:spPr/>
      <dgm:t>
        <a:bodyPr/>
        <a:lstStyle/>
        <a:p>
          <a:endParaRPr lang="en-IN"/>
        </a:p>
      </dgm:t>
    </dgm:pt>
    <dgm:pt modelId="{D745EF3A-6054-4956-8F8D-94988F761C70}" type="sibTrans" cxnId="{1BFE3823-5549-4A7F-BC8C-3B49F0F44B2C}">
      <dgm:prSet/>
      <dgm:spPr/>
      <dgm:t>
        <a:bodyPr/>
        <a:lstStyle/>
        <a:p>
          <a:endParaRPr lang="en-IN"/>
        </a:p>
      </dgm:t>
    </dgm:pt>
    <dgm:pt modelId="{D196AB3A-900E-4001-90D5-E06B718727AC}">
      <dgm:prSet phldrT="[Text]" custT="1"/>
      <dgm:spPr>
        <a:noFill/>
        <a:ln>
          <a:solidFill>
            <a:srgbClr val="FFFF00"/>
          </a:solidFill>
        </a:ln>
      </dgm:spPr>
      <dgm:t>
        <a:bodyPr/>
        <a:lstStyle/>
        <a:p>
          <a:r>
            <a:rPr lang="en-IN" sz="700" b="1">
              <a:latin typeface="EY interstate"/>
            </a:rPr>
            <a:t>Consolidation &amp; Elimination</a:t>
          </a:r>
        </a:p>
      </dgm:t>
    </dgm:pt>
    <dgm:pt modelId="{C0FC3527-9891-44A7-AFCA-47EB2A11F55C}" type="parTrans" cxnId="{72A8DDAB-D689-4875-A50C-A79CEC55EA30}">
      <dgm:prSet/>
      <dgm:spPr/>
      <dgm:t>
        <a:bodyPr/>
        <a:lstStyle/>
        <a:p>
          <a:endParaRPr lang="en-IN"/>
        </a:p>
      </dgm:t>
    </dgm:pt>
    <dgm:pt modelId="{E7912027-BB63-41F3-B070-12383BC7B894}" type="sibTrans" cxnId="{72A8DDAB-D689-4875-A50C-A79CEC55EA30}">
      <dgm:prSet/>
      <dgm:spPr/>
      <dgm:t>
        <a:bodyPr/>
        <a:lstStyle/>
        <a:p>
          <a:endParaRPr lang="en-IN"/>
        </a:p>
      </dgm:t>
    </dgm:pt>
    <dgm:pt modelId="{626C0D11-46E0-46A3-BE83-C43029D0756F}">
      <dgm:prSet phldrT="[Text]" custT="1"/>
      <dgm:spPr>
        <a:noFill/>
        <a:ln>
          <a:noFill/>
        </a:ln>
      </dgm:spPr>
      <dgm:t>
        <a:bodyPr/>
        <a:lstStyle/>
        <a:p>
          <a:r>
            <a:rPr lang="en-IN" sz="800">
              <a:solidFill>
                <a:schemeClr val="bg1"/>
              </a:solidFill>
              <a:latin typeface="EY interstate"/>
            </a:rPr>
            <a:t>Entity B settles the invoice by making a payment to Entity A.
Both entities update their books to reflect the payment.</a:t>
          </a:r>
        </a:p>
      </dgm:t>
    </dgm:pt>
    <dgm:pt modelId="{6D7897F2-6F50-47C8-B5FE-04A8F5338CB8}" type="parTrans" cxnId="{7EB8F2F6-D3F4-4A82-83A9-6EF7231283A7}">
      <dgm:prSet/>
      <dgm:spPr/>
      <dgm:t>
        <a:bodyPr/>
        <a:lstStyle/>
        <a:p>
          <a:endParaRPr lang="en-IN"/>
        </a:p>
      </dgm:t>
    </dgm:pt>
    <dgm:pt modelId="{3A2F696D-6E93-4519-A0AB-40B7F284EEA2}" type="sibTrans" cxnId="{7EB8F2F6-D3F4-4A82-83A9-6EF7231283A7}">
      <dgm:prSet/>
      <dgm:spPr/>
      <dgm:t>
        <a:bodyPr/>
        <a:lstStyle/>
        <a:p>
          <a:endParaRPr lang="en-IN"/>
        </a:p>
      </dgm:t>
    </dgm:pt>
    <dgm:pt modelId="{D0B69129-BC4E-4516-86F2-99AEFA854594}">
      <dgm:prSet phldrT="[Text]" custT="1"/>
      <dgm:spPr>
        <a:noFill/>
        <a:ln>
          <a:noFill/>
        </a:ln>
      </dgm:spPr>
      <dgm:t>
        <a:bodyPr/>
        <a:lstStyle/>
        <a:p>
          <a:r>
            <a:rPr lang="en-IN" sz="800">
              <a:solidFill>
                <a:schemeClr val="bg1"/>
              </a:solidFill>
              <a:latin typeface="EY interstate"/>
            </a:rPr>
            <a:t>Both entities reconcile intercompany balances to ensure amounts match.
Any discrepancies are investigated and resolved.</a:t>
          </a:r>
        </a:p>
      </dgm:t>
    </dgm:pt>
    <dgm:pt modelId="{A979C215-956A-43ED-B4CA-0F73F7FE2665}" type="parTrans" cxnId="{835F948D-CFF0-4A8D-8D19-603EFDEFA8D0}">
      <dgm:prSet/>
      <dgm:spPr/>
      <dgm:t>
        <a:bodyPr/>
        <a:lstStyle/>
        <a:p>
          <a:endParaRPr lang="en-IN"/>
        </a:p>
      </dgm:t>
    </dgm:pt>
    <dgm:pt modelId="{1C4F70CA-CAB6-4849-96D1-A73CB481A858}" type="sibTrans" cxnId="{835F948D-CFF0-4A8D-8D19-603EFDEFA8D0}">
      <dgm:prSet/>
      <dgm:spPr/>
      <dgm:t>
        <a:bodyPr/>
        <a:lstStyle/>
        <a:p>
          <a:endParaRPr lang="en-IN"/>
        </a:p>
      </dgm:t>
    </dgm:pt>
    <dgm:pt modelId="{34BB78B6-8B63-4CC8-ABC4-415F331FEF7C}">
      <dgm:prSet phldrT="[Text]" custT="1"/>
      <dgm:spPr>
        <a:noFill/>
        <a:ln>
          <a:noFill/>
        </a:ln>
      </dgm:spPr>
      <dgm:t>
        <a:bodyPr/>
        <a:lstStyle/>
        <a:p>
          <a:r>
            <a:rPr lang="en-IN" sz="800">
              <a:solidFill>
                <a:schemeClr val="bg1"/>
              </a:solidFill>
              <a:latin typeface="EY interstate"/>
            </a:rPr>
            <a:t>During group financial consolidation, these intercompany sales and purchases are eliminated to avoid double-counting revenue and expenses at the group level.</a:t>
          </a:r>
        </a:p>
      </dgm:t>
    </dgm:pt>
    <dgm:pt modelId="{5D3CAB5D-5669-42DD-A0D3-53AF4B04CC21}" type="parTrans" cxnId="{C697AAD0-6036-4C59-9852-9D7ED5266346}">
      <dgm:prSet/>
      <dgm:spPr/>
      <dgm:t>
        <a:bodyPr/>
        <a:lstStyle/>
        <a:p>
          <a:endParaRPr lang="en-IN"/>
        </a:p>
      </dgm:t>
    </dgm:pt>
    <dgm:pt modelId="{03B31898-D5F9-4E49-AC84-BF4BD7CD6C88}" type="sibTrans" cxnId="{C697AAD0-6036-4C59-9852-9D7ED5266346}">
      <dgm:prSet/>
      <dgm:spPr/>
      <dgm:t>
        <a:bodyPr/>
        <a:lstStyle/>
        <a:p>
          <a:endParaRPr lang="en-IN"/>
        </a:p>
      </dgm:t>
    </dgm:pt>
    <dgm:pt modelId="{739A06E2-1405-4051-B8AB-134ED58B18E8}" type="pres">
      <dgm:prSet presAssocID="{F6199DA6-0265-4B87-B450-8D5C266CD270}" presName="linearFlow" presStyleCnt="0">
        <dgm:presLayoutVars>
          <dgm:dir/>
          <dgm:animLvl val="lvl"/>
          <dgm:resizeHandles val="exact"/>
        </dgm:presLayoutVars>
      </dgm:prSet>
      <dgm:spPr/>
    </dgm:pt>
    <dgm:pt modelId="{B0B391E8-B066-4C7B-ACEB-9821A6A74261}" type="pres">
      <dgm:prSet presAssocID="{B6E73687-51A2-4CBF-852D-BE2F25A9D12E}" presName="composite" presStyleCnt="0"/>
      <dgm:spPr/>
    </dgm:pt>
    <dgm:pt modelId="{7B2E78B0-9569-4906-B749-211419AC0081}" type="pres">
      <dgm:prSet presAssocID="{B6E73687-51A2-4CBF-852D-BE2F25A9D12E}" presName="parentText" presStyleLbl="alignNode1" presStyleIdx="0" presStyleCnt="7">
        <dgm:presLayoutVars>
          <dgm:chMax val="1"/>
          <dgm:bulletEnabled val="1"/>
        </dgm:presLayoutVars>
      </dgm:prSet>
      <dgm:spPr/>
    </dgm:pt>
    <dgm:pt modelId="{23925B1A-E05F-46E2-A15F-20E3409D698A}" type="pres">
      <dgm:prSet presAssocID="{B6E73687-51A2-4CBF-852D-BE2F25A9D12E}" presName="descendantText" presStyleLbl="alignAcc1" presStyleIdx="0" presStyleCnt="7">
        <dgm:presLayoutVars>
          <dgm:bulletEnabled val="1"/>
        </dgm:presLayoutVars>
      </dgm:prSet>
      <dgm:spPr/>
    </dgm:pt>
    <dgm:pt modelId="{E43C1393-207E-446A-84D7-54387EB8F89C}" type="pres">
      <dgm:prSet presAssocID="{1E30B87C-71EB-4AE4-8533-278FAB0F68F0}" presName="sp" presStyleCnt="0"/>
      <dgm:spPr/>
    </dgm:pt>
    <dgm:pt modelId="{0084E11B-335A-4DFF-93C9-DC684632AE97}" type="pres">
      <dgm:prSet presAssocID="{797316F2-BBCA-47EE-944C-C653FF42E557}" presName="composite" presStyleCnt="0"/>
      <dgm:spPr/>
    </dgm:pt>
    <dgm:pt modelId="{AA002702-39AD-4380-9E55-5993C13C4EBA}" type="pres">
      <dgm:prSet presAssocID="{797316F2-BBCA-47EE-944C-C653FF42E557}" presName="parentText" presStyleLbl="alignNode1" presStyleIdx="1" presStyleCnt="7">
        <dgm:presLayoutVars>
          <dgm:chMax val="1"/>
          <dgm:bulletEnabled val="1"/>
        </dgm:presLayoutVars>
      </dgm:prSet>
      <dgm:spPr/>
    </dgm:pt>
    <dgm:pt modelId="{BE672BC0-985B-478F-8DEF-84E40E131D19}" type="pres">
      <dgm:prSet presAssocID="{797316F2-BBCA-47EE-944C-C653FF42E557}" presName="descendantText" presStyleLbl="alignAcc1" presStyleIdx="1" presStyleCnt="7">
        <dgm:presLayoutVars>
          <dgm:bulletEnabled val="1"/>
        </dgm:presLayoutVars>
      </dgm:prSet>
      <dgm:spPr/>
    </dgm:pt>
    <dgm:pt modelId="{4913E9B5-8333-4E54-8ED9-1836F6D525FD}" type="pres">
      <dgm:prSet presAssocID="{95A5DBD8-AC79-4D71-9269-5AA43AB1704B}" presName="sp" presStyleCnt="0"/>
      <dgm:spPr/>
    </dgm:pt>
    <dgm:pt modelId="{92666E46-96C1-4C76-9970-A678D1CBEC64}" type="pres">
      <dgm:prSet presAssocID="{6BCBC474-2DE6-4437-BFE7-0965C6882207}" presName="composite" presStyleCnt="0"/>
      <dgm:spPr/>
    </dgm:pt>
    <dgm:pt modelId="{A772B94F-77CB-44E2-AF9B-5D9A5ACDCEDF}" type="pres">
      <dgm:prSet presAssocID="{6BCBC474-2DE6-4437-BFE7-0965C6882207}" presName="parentText" presStyleLbl="alignNode1" presStyleIdx="2" presStyleCnt="7">
        <dgm:presLayoutVars>
          <dgm:chMax val="1"/>
          <dgm:bulletEnabled val="1"/>
        </dgm:presLayoutVars>
      </dgm:prSet>
      <dgm:spPr/>
    </dgm:pt>
    <dgm:pt modelId="{ADFA3A44-C1E2-4229-B2AE-F17ADF854ADF}" type="pres">
      <dgm:prSet presAssocID="{6BCBC474-2DE6-4437-BFE7-0965C6882207}" presName="descendantText" presStyleLbl="alignAcc1" presStyleIdx="2" presStyleCnt="7">
        <dgm:presLayoutVars>
          <dgm:bulletEnabled val="1"/>
        </dgm:presLayoutVars>
      </dgm:prSet>
      <dgm:spPr/>
    </dgm:pt>
    <dgm:pt modelId="{3071434E-27C2-4ED3-B11A-B3DB2F10DF93}" type="pres">
      <dgm:prSet presAssocID="{CEB00538-F476-4793-A56B-0A52F591E857}" presName="sp" presStyleCnt="0"/>
      <dgm:spPr/>
    </dgm:pt>
    <dgm:pt modelId="{534019E5-DF33-418D-B7B0-12277802A814}" type="pres">
      <dgm:prSet presAssocID="{28DB289B-ECCE-435A-9088-AC346014FA4D}" presName="composite" presStyleCnt="0"/>
      <dgm:spPr/>
    </dgm:pt>
    <dgm:pt modelId="{85E34C10-5AC6-4A50-AD93-9FF4E441CC32}" type="pres">
      <dgm:prSet presAssocID="{28DB289B-ECCE-435A-9088-AC346014FA4D}" presName="parentText" presStyleLbl="alignNode1" presStyleIdx="3" presStyleCnt="7">
        <dgm:presLayoutVars>
          <dgm:chMax val="1"/>
          <dgm:bulletEnabled val="1"/>
        </dgm:presLayoutVars>
      </dgm:prSet>
      <dgm:spPr/>
    </dgm:pt>
    <dgm:pt modelId="{D503D8F5-6A20-46D8-8A60-CA628AE6D56D}" type="pres">
      <dgm:prSet presAssocID="{28DB289B-ECCE-435A-9088-AC346014FA4D}" presName="descendantText" presStyleLbl="alignAcc1" presStyleIdx="3" presStyleCnt="7">
        <dgm:presLayoutVars>
          <dgm:bulletEnabled val="1"/>
        </dgm:presLayoutVars>
      </dgm:prSet>
      <dgm:spPr/>
    </dgm:pt>
    <dgm:pt modelId="{B55B2C6A-0166-4419-9A7E-610DDE999696}" type="pres">
      <dgm:prSet presAssocID="{41D8F684-411D-4605-BA3A-6BE962D7BEB4}" presName="sp" presStyleCnt="0"/>
      <dgm:spPr/>
    </dgm:pt>
    <dgm:pt modelId="{AF80DF30-C140-4DF8-AAC9-210BCBB3B11F}" type="pres">
      <dgm:prSet presAssocID="{CD7C0F1D-CCA1-4541-A0C6-A02141097691}" presName="composite" presStyleCnt="0"/>
      <dgm:spPr/>
    </dgm:pt>
    <dgm:pt modelId="{BC649774-84A9-489F-AA91-45099C00F217}" type="pres">
      <dgm:prSet presAssocID="{CD7C0F1D-CCA1-4541-A0C6-A02141097691}" presName="parentText" presStyleLbl="alignNode1" presStyleIdx="4" presStyleCnt="7">
        <dgm:presLayoutVars>
          <dgm:chMax val="1"/>
          <dgm:bulletEnabled val="1"/>
        </dgm:presLayoutVars>
      </dgm:prSet>
      <dgm:spPr/>
    </dgm:pt>
    <dgm:pt modelId="{4192D254-2AD5-4E39-B8A0-FD28FE56D945}" type="pres">
      <dgm:prSet presAssocID="{CD7C0F1D-CCA1-4541-A0C6-A02141097691}" presName="descendantText" presStyleLbl="alignAcc1" presStyleIdx="4" presStyleCnt="7">
        <dgm:presLayoutVars>
          <dgm:bulletEnabled val="1"/>
        </dgm:presLayoutVars>
      </dgm:prSet>
      <dgm:spPr/>
    </dgm:pt>
    <dgm:pt modelId="{DA41947F-B275-4239-952D-BAF185D4E99F}" type="pres">
      <dgm:prSet presAssocID="{024D4412-B21F-4D67-8729-DC4086F1B382}" presName="sp" presStyleCnt="0"/>
      <dgm:spPr/>
    </dgm:pt>
    <dgm:pt modelId="{D89C51D4-9D2A-4297-B3A9-7D5325F7A73B}" type="pres">
      <dgm:prSet presAssocID="{70C61D2D-D431-47AD-8AD3-E571224FE86B}" presName="composite" presStyleCnt="0"/>
      <dgm:spPr/>
    </dgm:pt>
    <dgm:pt modelId="{B13629B8-CF71-4109-8C1B-B3BCC9DC8E5E}" type="pres">
      <dgm:prSet presAssocID="{70C61D2D-D431-47AD-8AD3-E571224FE86B}" presName="parentText" presStyleLbl="alignNode1" presStyleIdx="5" presStyleCnt="7">
        <dgm:presLayoutVars>
          <dgm:chMax val="1"/>
          <dgm:bulletEnabled val="1"/>
        </dgm:presLayoutVars>
      </dgm:prSet>
      <dgm:spPr/>
    </dgm:pt>
    <dgm:pt modelId="{993A4C76-AFC3-475E-8A56-A9EC292ABAB4}" type="pres">
      <dgm:prSet presAssocID="{70C61D2D-D431-47AD-8AD3-E571224FE86B}" presName="descendantText" presStyleLbl="alignAcc1" presStyleIdx="5" presStyleCnt="7">
        <dgm:presLayoutVars>
          <dgm:bulletEnabled val="1"/>
        </dgm:presLayoutVars>
      </dgm:prSet>
      <dgm:spPr/>
    </dgm:pt>
    <dgm:pt modelId="{E7E989A1-D4A4-4E4B-9143-369F4AC17430}" type="pres">
      <dgm:prSet presAssocID="{D745EF3A-6054-4956-8F8D-94988F761C70}" presName="sp" presStyleCnt="0"/>
      <dgm:spPr/>
    </dgm:pt>
    <dgm:pt modelId="{48C1058E-242E-4E74-8749-27140556FA6D}" type="pres">
      <dgm:prSet presAssocID="{D196AB3A-900E-4001-90D5-E06B718727AC}" presName="composite" presStyleCnt="0"/>
      <dgm:spPr/>
    </dgm:pt>
    <dgm:pt modelId="{F4B9DCDB-2AD3-45F4-932A-ABFC12849B18}" type="pres">
      <dgm:prSet presAssocID="{D196AB3A-900E-4001-90D5-E06B718727AC}" presName="parentText" presStyleLbl="alignNode1" presStyleIdx="6" presStyleCnt="7">
        <dgm:presLayoutVars>
          <dgm:chMax val="1"/>
          <dgm:bulletEnabled val="1"/>
        </dgm:presLayoutVars>
      </dgm:prSet>
      <dgm:spPr/>
    </dgm:pt>
    <dgm:pt modelId="{92BD618D-6730-4548-A3AC-8EAAF985506F}" type="pres">
      <dgm:prSet presAssocID="{D196AB3A-900E-4001-90D5-E06B718727AC}" presName="descendantText" presStyleLbl="alignAcc1" presStyleIdx="6" presStyleCnt="7">
        <dgm:presLayoutVars>
          <dgm:bulletEnabled val="1"/>
        </dgm:presLayoutVars>
      </dgm:prSet>
      <dgm:spPr/>
    </dgm:pt>
  </dgm:ptLst>
  <dgm:cxnLst>
    <dgm:cxn modelId="{0ED9BB01-A475-4922-AA0D-E711F12305CE}" srcId="{F6199DA6-0265-4B87-B450-8D5C266CD270}" destId="{28DB289B-ECCE-435A-9088-AC346014FA4D}" srcOrd="3" destOrd="0" parTransId="{70280566-8F3A-4313-BFB1-C6E21FFA758B}" sibTransId="{41D8F684-411D-4605-BA3A-6BE962D7BEB4}"/>
    <dgm:cxn modelId="{D0507704-73BE-43B4-B196-AED67FEF9748}" type="presOf" srcId="{F67AE347-E368-43F5-9901-DCBFFC2B137D}" destId="{ADFA3A44-C1E2-4229-B2AE-F17ADF854ADF}" srcOrd="0" destOrd="0" presId="urn:microsoft.com/office/officeart/2005/8/layout/chevron2"/>
    <dgm:cxn modelId="{B5A4BF11-2F97-4844-AD67-7576EF9F0D10}" type="presOf" srcId="{797316F2-BBCA-47EE-944C-C653FF42E557}" destId="{AA002702-39AD-4380-9E55-5993C13C4EBA}" srcOrd="0" destOrd="0" presId="urn:microsoft.com/office/officeart/2005/8/layout/chevron2"/>
    <dgm:cxn modelId="{2747DB11-8E12-4E43-9E9E-0AC7F764B1B2}" type="presOf" srcId="{28DB289B-ECCE-435A-9088-AC346014FA4D}" destId="{85E34C10-5AC6-4A50-AD93-9FF4E441CC32}" srcOrd="0" destOrd="0" presId="urn:microsoft.com/office/officeart/2005/8/layout/chevron2"/>
    <dgm:cxn modelId="{1BFE3823-5549-4A7F-BC8C-3B49F0F44B2C}" srcId="{F6199DA6-0265-4B87-B450-8D5C266CD270}" destId="{70C61D2D-D431-47AD-8AD3-E571224FE86B}" srcOrd="5" destOrd="0" parTransId="{B42EF70F-4DDA-42FF-A0B2-FFED1A3CEE9C}" sibTransId="{D745EF3A-6054-4956-8F8D-94988F761C70}"/>
    <dgm:cxn modelId="{9759DB27-E8BB-4C21-B887-D2A8A0134FFC}" type="presOf" srcId="{D196AB3A-900E-4001-90D5-E06B718727AC}" destId="{F4B9DCDB-2AD3-45F4-932A-ABFC12849B18}" srcOrd="0" destOrd="0" presId="urn:microsoft.com/office/officeart/2005/8/layout/chevron2"/>
    <dgm:cxn modelId="{3C356431-C5A7-40BD-B229-913F3053DDA2}" type="presOf" srcId="{F6199DA6-0265-4B87-B450-8D5C266CD270}" destId="{739A06E2-1405-4051-B8AB-134ED58B18E8}" srcOrd="0" destOrd="0" presId="urn:microsoft.com/office/officeart/2005/8/layout/chevron2"/>
    <dgm:cxn modelId="{D6360D41-26D3-495E-86CB-AF027ADD435E}" type="presOf" srcId="{0F169719-B007-4D19-ABA2-9A83142C3FF1}" destId="{D503D8F5-6A20-46D8-8A60-CA628AE6D56D}" srcOrd="0" destOrd="0" presId="urn:microsoft.com/office/officeart/2005/8/layout/chevron2"/>
    <dgm:cxn modelId="{33CE504E-4B5F-42F1-8DBB-BBA1CBBEAA5D}" type="presOf" srcId="{34BB78B6-8B63-4CC8-ABC4-415F331FEF7C}" destId="{92BD618D-6730-4548-A3AC-8EAAF985506F}" srcOrd="0" destOrd="0" presId="urn:microsoft.com/office/officeart/2005/8/layout/chevron2"/>
    <dgm:cxn modelId="{4C49A756-A89B-4679-B91A-92127A2EC0DB}" type="presOf" srcId="{626C0D11-46E0-46A3-BE83-C43029D0756F}" destId="{4192D254-2AD5-4E39-B8A0-FD28FE56D945}" srcOrd="0" destOrd="0" presId="urn:microsoft.com/office/officeart/2005/8/layout/chevron2"/>
    <dgm:cxn modelId="{EC6D6259-21A8-416D-97E0-EB98525A4CAD}" srcId="{B6E73687-51A2-4CBF-852D-BE2F25A9D12E}" destId="{F21041BF-734C-4B65-9632-C9B998C62158}" srcOrd="0" destOrd="0" parTransId="{E298798E-B5D3-4BCD-B1F2-92C14AF05CDD}" sibTransId="{262C1EB2-83CB-4060-9FEB-2EE52DFFF41D}"/>
    <dgm:cxn modelId="{1B736A7B-A0EC-4952-A071-D127F337E529}" type="presOf" srcId="{F21041BF-734C-4B65-9632-C9B998C62158}" destId="{23925B1A-E05F-46E2-A15F-20E3409D698A}" srcOrd="0" destOrd="0" presId="urn:microsoft.com/office/officeart/2005/8/layout/chevron2"/>
    <dgm:cxn modelId="{1A53A67C-4265-478D-ACD1-CA188D0497B2}" type="presOf" srcId="{CD7C0F1D-CCA1-4541-A0C6-A02141097691}" destId="{BC649774-84A9-489F-AA91-45099C00F217}" srcOrd="0" destOrd="0" presId="urn:microsoft.com/office/officeart/2005/8/layout/chevron2"/>
    <dgm:cxn modelId="{2B34BD7E-B296-4108-AD74-8DFD79DE007C}" srcId="{6BCBC474-2DE6-4437-BFE7-0965C6882207}" destId="{F67AE347-E368-43F5-9901-DCBFFC2B137D}" srcOrd="0" destOrd="0" parTransId="{E9D8F571-80D0-48E9-A1B4-12FFD37B41C4}" sibTransId="{4BBD4D6C-5D77-45A7-A2F9-03A80F44D045}"/>
    <dgm:cxn modelId="{3E2E5680-BD4F-4453-BA50-617AB12618E7}" srcId="{797316F2-BBCA-47EE-944C-C653FF42E557}" destId="{28768ABE-ABD4-403C-91C1-3B196FBE1263}" srcOrd="0" destOrd="0" parTransId="{D0871F90-68A0-46EE-8E2B-BAA037AAE9AC}" sibTransId="{7B82EF6E-E2D3-4DEF-9314-D6E4F416B0E3}"/>
    <dgm:cxn modelId="{F696078A-32FB-44B5-B07C-90B84110098E}" type="presOf" srcId="{70C61D2D-D431-47AD-8AD3-E571224FE86B}" destId="{B13629B8-CF71-4109-8C1B-B3BCC9DC8E5E}" srcOrd="0" destOrd="0" presId="urn:microsoft.com/office/officeart/2005/8/layout/chevron2"/>
    <dgm:cxn modelId="{835F948D-CFF0-4A8D-8D19-603EFDEFA8D0}" srcId="{70C61D2D-D431-47AD-8AD3-E571224FE86B}" destId="{D0B69129-BC4E-4516-86F2-99AEFA854594}" srcOrd="0" destOrd="0" parTransId="{A979C215-956A-43ED-B4CA-0F73F7FE2665}" sibTransId="{1C4F70CA-CAB6-4849-96D1-A73CB481A858}"/>
    <dgm:cxn modelId="{0DBD0B9D-811F-4787-B914-9010853A0693}" type="presOf" srcId="{6BCBC474-2DE6-4437-BFE7-0965C6882207}" destId="{A772B94F-77CB-44E2-AF9B-5D9A5ACDCEDF}" srcOrd="0" destOrd="0" presId="urn:microsoft.com/office/officeart/2005/8/layout/chevron2"/>
    <dgm:cxn modelId="{72A8DDAB-D689-4875-A50C-A79CEC55EA30}" srcId="{F6199DA6-0265-4B87-B450-8D5C266CD270}" destId="{D196AB3A-900E-4001-90D5-E06B718727AC}" srcOrd="6" destOrd="0" parTransId="{C0FC3527-9891-44A7-AFCA-47EB2A11F55C}" sibTransId="{E7912027-BB63-41F3-B070-12383BC7B894}"/>
    <dgm:cxn modelId="{370E72AF-0796-4F5D-BA13-75FF6352F03A}" srcId="{28DB289B-ECCE-435A-9088-AC346014FA4D}" destId="{0F169719-B007-4D19-ABA2-9A83142C3FF1}" srcOrd="0" destOrd="0" parTransId="{50BA9781-8A3E-46F9-8200-41BF6A0EC9D3}" sibTransId="{73112DD1-E962-4161-9E84-07D27957CD7D}"/>
    <dgm:cxn modelId="{71FB7DB1-862D-49CC-BB22-0B03CA6C3278}" type="presOf" srcId="{28768ABE-ABD4-403C-91C1-3B196FBE1263}" destId="{BE672BC0-985B-478F-8DEF-84E40E131D19}" srcOrd="0" destOrd="0" presId="urn:microsoft.com/office/officeart/2005/8/layout/chevron2"/>
    <dgm:cxn modelId="{CAF6F3B1-62BC-4CBC-897E-CE11FE06E1C2}" type="presOf" srcId="{D0B69129-BC4E-4516-86F2-99AEFA854594}" destId="{993A4C76-AFC3-475E-8A56-A9EC292ABAB4}" srcOrd="0" destOrd="0" presId="urn:microsoft.com/office/officeart/2005/8/layout/chevron2"/>
    <dgm:cxn modelId="{6419B5C6-C56B-4675-A23C-555D25BD39AD}" srcId="{F6199DA6-0265-4B87-B450-8D5C266CD270}" destId="{6BCBC474-2DE6-4437-BFE7-0965C6882207}" srcOrd="2" destOrd="0" parTransId="{2A195CDD-448C-41E7-BD45-DEDA37A1A2E4}" sibTransId="{CEB00538-F476-4793-A56B-0A52F591E857}"/>
    <dgm:cxn modelId="{F2694DC8-5E6D-4DC4-BF30-4C614131FA50}" srcId="{F6199DA6-0265-4B87-B450-8D5C266CD270}" destId="{CD7C0F1D-CCA1-4541-A0C6-A02141097691}" srcOrd="4" destOrd="0" parTransId="{3D144043-AE6B-463F-98CD-E7AC0AACAE39}" sibTransId="{024D4412-B21F-4D67-8729-DC4086F1B382}"/>
    <dgm:cxn modelId="{C697AAD0-6036-4C59-9852-9D7ED5266346}" srcId="{D196AB3A-900E-4001-90D5-E06B718727AC}" destId="{34BB78B6-8B63-4CC8-ABC4-415F331FEF7C}" srcOrd="0" destOrd="0" parTransId="{5D3CAB5D-5669-42DD-A0D3-53AF4B04CC21}" sibTransId="{03B31898-D5F9-4E49-AC84-BF4BD7CD6C88}"/>
    <dgm:cxn modelId="{50CFFAD6-46AD-4E2C-9C51-E74887DF4182}" type="presOf" srcId="{B6E73687-51A2-4CBF-852D-BE2F25A9D12E}" destId="{7B2E78B0-9569-4906-B749-211419AC0081}" srcOrd="0" destOrd="0" presId="urn:microsoft.com/office/officeart/2005/8/layout/chevron2"/>
    <dgm:cxn modelId="{1980BFDB-EE3C-45A0-AFEE-C95EC27A35D6}" srcId="{F6199DA6-0265-4B87-B450-8D5C266CD270}" destId="{797316F2-BBCA-47EE-944C-C653FF42E557}" srcOrd="1" destOrd="0" parTransId="{6DAEE7D9-3C3A-4BBE-BBFC-3D6037FB75E5}" sibTransId="{95A5DBD8-AC79-4D71-9269-5AA43AB1704B}"/>
    <dgm:cxn modelId="{D4D4D4ED-64AD-4399-8B9D-0C4F2B5025CD}" srcId="{F6199DA6-0265-4B87-B450-8D5C266CD270}" destId="{B6E73687-51A2-4CBF-852D-BE2F25A9D12E}" srcOrd="0" destOrd="0" parTransId="{D1D6C82D-4D76-41B6-A12D-ABB60FFAB2C4}" sibTransId="{1E30B87C-71EB-4AE4-8533-278FAB0F68F0}"/>
    <dgm:cxn modelId="{7EB8F2F6-D3F4-4A82-83A9-6EF7231283A7}" srcId="{CD7C0F1D-CCA1-4541-A0C6-A02141097691}" destId="{626C0D11-46E0-46A3-BE83-C43029D0756F}" srcOrd="0" destOrd="0" parTransId="{6D7897F2-6F50-47C8-B5FE-04A8F5338CB8}" sibTransId="{3A2F696D-6E93-4519-A0AB-40B7F284EEA2}"/>
    <dgm:cxn modelId="{9E6909C0-F44C-4B8D-A3C6-70711971229E}" type="presParOf" srcId="{739A06E2-1405-4051-B8AB-134ED58B18E8}" destId="{B0B391E8-B066-4C7B-ACEB-9821A6A74261}" srcOrd="0" destOrd="0" presId="urn:microsoft.com/office/officeart/2005/8/layout/chevron2"/>
    <dgm:cxn modelId="{CC145E01-37EA-465D-A153-C4EF7050747E}" type="presParOf" srcId="{B0B391E8-B066-4C7B-ACEB-9821A6A74261}" destId="{7B2E78B0-9569-4906-B749-211419AC0081}" srcOrd="0" destOrd="0" presId="urn:microsoft.com/office/officeart/2005/8/layout/chevron2"/>
    <dgm:cxn modelId="{6DEA6EF8-D9BB-4F84-917C-B32BEF93F400}" type="presParOf" srcId="{B0B391E8-B066-4C7B-ACEB-9821A6A74261}" destId="{23925B1A-E05F-46E2-A15F-20E3409D698A}" srcOrd="1" destOrd="0" presId="urn:microsoft.com/office/officeart/2005/8/layout/chevron2"/>
    <dgm:cxn modelId="{70387A86-163A-4210-BCE0-9206705538C8}" type="presParOf" srcId="{739A06E2-1405-4051-B8AB-134ED58B18E8}" destId="{E43C1393-207E-446A-84D7-54387EB8F89C}" srcOrd="1" destOrd="0" presId="urn:microsoft.com/office/officeart/2005/8/layout/chevron2"/>
    <dgm:cxn modelId="{A691FC68-EEF0-45D3-A90A-1C4ED7D85031}" type="presParOf" srcId="{739A06E2-1405-4051-B8AB-134ED58B18E8}" destId="{0084E11B-335A-4DFF-93C9-DC684632AE97}" srcOrd="2" destOrd="0" presId="urn:microsoft.com/office/officeart/2005/8/layout/chevron2"/>
    <dgm:cxn modelId="{ED019E43-79D5-43BC-B04B-F240369DB420}" type="presParOf" srcId="{0084E11B-335A-4DFF-93C9-DC684632AE97}" destId="{AA002702-39AD-4380-9E55-5993C13C4EBA}" srcOrd="0" destOrd="0" presId="urn:microsoft.com/office/officeart/2005/8/layout/chevron2"/>
    <dgm:cxn modelId="{BB2F1E47-E344-4704-8971-4679D2076097}" type="presParOf" srcId="{0084E11B-335A-4DFF-93C9-DC684632AE97}" destId="{BE672BC0-985B-478F-8DEF-84E40E131D19}" srcOrd="1" destOrd="0" presId="urn:microsoft.com/office/officeart/2005/8/layout/chevron2"/>
    <dgm:cxn modelId="{56E82B77-A0C1-4BE9-AA7C-05DF82218A9D}" type="presParOf" srcId="{739A06E2-1405-4051-B8AB-134ED58B18E8}" destId="{4913E9B5-8333-4E54-8ED9-1836F6D525FD}" srcOrd="3" destOrd="0" presId="urn:microsoft.com/office/officeart/2005/8/layout/chevron2"/>
    <dgm:cxn modelId="{BD619D38-1083-4A1F-A050-0DE00B37BA33}" type="presParOf" srcId="{739A06E2-1405-4051-B8AB-134ED58B18E8}" destId="{92666E46-96C1-4C76-9970-A678D1CBEC64}" srcOrd="4" destOrd="0" presId="urn:microsoft.com/office/officeart/2005/8/layout/chevron2"/>
    <dgm:cxn modelId="{B8D83583-D902-4D85-A225-01D775E28FE7}" type="presParOf" srcId="{92666E46-96C1-4C76-9970-A678D1CBEC64}" destId="{A772B94F-77CB-44E2-AF9B-5D9A5ACDCEDF}" srcOrd="0" destOrd="0" presId="urn:microsoft.com/office/officeart/2005/8/layout/chevron2"/>
    <dgm:cxn modelId="{521EA494-7E15-4C28-A83A-1A80D4CBF1A8}" type="presParOf" srcId="{92666E46-96C1-4C76-9970-A678D1CBEC64}" destId="{ADFA3A44-C1E2-4229-B2AE-F17ADF854ADF}" srcOrd="1" destOrd="0" presId="urn:microsoft.com/office/officeart/2005/8/layout/chevron2"/>
    <dgm:cxn modelId="{E184007A-BDCC-4981-8786-437ABFD8B3FC}" type="presParOf" srcId="{739A06E2-1405-4051-B8AB-134ED58B18E8}" destId="{3071434E-27C2-4ED3-B11A-B3DB2F10DF93}" srcOrd="5" destOrd="0" presId="urn:microsoft.com/office/officeart/2005/8/layout/chevron2"/>
    <dgm:cxn modelId="{1E718F7E-1C0E-4C76-B3E1-67B3C6609F59}" type="presParOf" srcId="{739A06E2-1405-4051-B8AB-134ED58B18E8}" destId="{534019E5-DF33-418D-B7B0-12277802A814}" srcOrd="6" destOrd="0" presId="urn:microsoft.com/office/officeart/2005/8/layout/chevron2"/>
    <dgm:cxn modelId="{79444EC3-BC67-4688-85B8-7A9F2E8AA1E3}" type="presParOf" srcId="{534019E5-DF33-418D-B7B0-12277802A814}" destId="{85E34C10-5AC6-4A50-AD93-9FF4E441CC32}" srcOrd="0" destOrd="0" presId="urn:microsoft.com/office/officeart/2005/8/layout/chevron2"/>
    <dgm:cxn modelId="{7D982ED6-8B56-41A2-8685-777079A39CD6}" type="presParOf" srcId="{534019E5-DF33-418D-B7B0-12277802A814}" destId="{D503D8F5-6A20-46D8-8A60-CA628AE6D56D}" srcOrd="1" destOrd="0" presId="urn:microsoft.com/office/officeart/2005/8/layout/chevron2"/>
    <dgm:cxn modelId="{98B516C8-215A-40C3-83BD-98B2A7DDB292}" type="presParOf" srcId="{739A06E2-1405-4051-B8AB-134ED58B18E8}" destId="{B55B2C6A-0166-4419-9A7E-610DDE999696}" srcOrd="7" destOrd="0" presId="urn:microsoft.com/office/officeart/2005/8/layout/chevron2"/>
    <dgm:cxn modelId="{84BEB1A4-BD5F-47EB-AA40-CC4B6B460C7F}" type="presParOf" srcId="{739A06E2-1405-4051-B8AB-134ED58B18E8}" destId="{AF80DF30-C140-4DF8-AAC9-210BCBB3B11F}" srcOrd="8" destOrd="0" presId="urn:microsoft.com/office/officeart/2005/8/layout/chevron2"/>
    <dgm:cxn modelId="{3CAE0D8D-EE6A-4A43-9309-C07D6994BB79}" type="presParOf" srcId="{AF80DF30-C140-4DF8-AAC9-210BCBB3B11F}" destId="{BC649774-84A9-489F-AA91-45099C00F217}" srcOrd="0" destOrd="0" presId="urn:microsoft.com/office/officeart/2005/8/layout/chevron2"/>
    <dgm:cxn modelId="{9651CCC0-77A8-45CB-AC0B-49D3A8A7F326}" type="presParOf" srcId="{AF80DF30-C140-4DF8-AAC9-210BCBB3B11F}" destId="{4192D254-2AD5-4E39-B8A0-FD28FE56D945}" srcOrd="1" destOrd="0" presId="urn:microsoft.com/office/officeart/2005/8/layout/chevron2"/>
    <dgm:cxn modelId="{D180BF6E-78E1-46AA-BCE1-BB7FEE7332AE}" type="presParOf" srcId="{739A06E2-1405-4051-B8AB-134ED58B18E8}" destId="{DA41947F-B275-4239-952D-BAF185D4E99F}" srcOrd="9" destOrd="0" presId="urn:microsoft.com/office/officeart/2005/8/layout/chevron2"/>
    <dgm:cxn modelId="{0460F496-9ADA-4102-870A-20C2FBCD8ADA}" type="presParOf" srcId="{739A06E2-1405-4051-B8AB-134ED58B18E8}" destId="{D89C51D4-9D2A-4297-B3A9-7D5325F7A73B}" srcOrd="10" destOrd="0" presId="urn:microsoft.com/office/officeart/2005/8/layout/chevron2"/>
    <dgm:cxn modelId="{2051A399-34A0-4A04-AE24-F219836EAC2F}" type="presParOf" srcId="{D89C51D4-9D2A-4297-B3A9-7D5325F7A73B}" destId="{B13629B8-CF71-4109-8C1B-B3BCC9DC8E5E}" srcOrd="0" destOrd="0" presId="urn:microsoft.com/office/officeart/2005/8/layout/chevron2"/>
    <dgm:cxn modelId="{EE642513-7480-41C3-A4F6-7BAB03DFD1F0}" type="presParOf" srcId="{D89C51D4-9D2A-4297-B3A9-7D5325F7A73B}" destId="{993A4C76-AFC3-475E-8A56-A9EC292ABAB4}" srcOrd="1" destOrd="0" presId="urn:microsoft.com/office/officeart/2005/8/layout/chevron2"/>
    <dgm:cxn modelId="{3C15321E-3282-4204-AEDB-E37941C6EB30}" type="presParOf" srcId="{739A06E2-1405-4051-B8AB-134ED58B18E8}" destId="{E7E989A1-D4A4-4E4B-9143-369F4AC17430}" srcOrd="11" destOrd="0" presId="urn:microsoft.com/office/officeart/2005/8/layout/chevron2"/>
    <dgm:cxn modelId="{C42A6995-E259-43A5-89CA-F7BFF9D2C613}" type="presParOf" srcId="{739A06E2-1405-4051-B8AB-134ED58B18E8}" destId="{48C1058E-242E-4E74-8749-27140556FA6D}" srcOrd="12" destOrd="0" presId="urn:microsoft.com/office/officeart/2005/8/layout/chevron2"/>
    <dgm:cxn modelId="{1182D370-CABF-4060-985C-49D7A08A3FFA}" type="presParOf" srcId="{48C1058E-242E-4E74-8749-27140556FA6D}" destId="{F4B9DCDB-2AD3-45F4-932A-ABFC12849B18}" srcOrd="0" destOrd="0" presId="urn:microsoft.com/office/officeart/2005/8/layout/chevron2"/>
    <dgm:cxn modelId="{5121A5CF-C1EB-4CEA-9849-76055E8B1AA1}" type="presParOf" srcId="{48C1058E-242E-4E74-8749-27140556FA6D}" destId="{92BD618D-6730-4548-A3AC-8EAAF985506F}"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F6199DA6-0265-4B87-B450-8D5C266CD270}" type="doc">
      <dgm:prSet loTypeId="urn:microsoft.com/office/officeart/2005/8/layout/chevron2" loCatId="list" qsTypeId="urn:microsoft.com/office/officeart/2005/8/quickstyle/simple1" qsCatId="simple" csTypeId="urn:microsoft.com/office/officeart/2005/8/colors/accent1_2" csCatId="accent1" phldr="1"/>
      <dgm:spPr/>
      <dgm:t>
        <a:bodyPr/>
        <a:lstStyle/>
        <a:p>
          <a:endParaRPr lang="en-IN"/>
        </a:p>
      </dgm:t>
    </dgm:pt>
    <dgm:pt modelId="{B6E73687-51A2-4CBF-852D-BE2F25A9D12E}">
      <dgm:prSet phldrT="[Text]" custT="1"/>
      <dgm:spPr>
        <a:noFill/>
        <a:ln>
          <a:solidFill>
            <a:srgbClr val="FFFF00"/>
          </a:solidFill>
        </a:ln>
      </dgm:spPr>
      <dgm:t>
        <a:bodyPr/>
        <a:lstStyle/>
        <a:p>
          <a:r>
            <a:rPr lang="en-IN" sz="800" b="1">
              <a:solidFill>
                <a:schemeClr val="bg1"/>
              </a:solidFill>
              <a:latin typeface="EY interstate"/>
            </a:rPr>
            <a:t>Cost Incurred</a:t>
          </a:r>
        </a:p>
      </dgm:t>
    </dgm:pt>
    <dgm:pt modelId="{D1D6C82D-4D76-41B6-A12D-ABB60FFAB2C4}" type="parTrans" cxnId="{D4D4D4ED-64AD-4399-8B9D-0C4F2B5025CD}">
      <dgm:prSet/>
      <dgm:spPr/>
      <dgm:t>
        <a:bodyPr/>
        <a:lstStyle/>
        <a:p>
          <a:endParaRPr lang="en-IN" sz="800">
            <a:solidFill>
              <a:schemeClr val="bg1"/>
            </a:solidFill>
            <a:latin typeface="EY interstate"/>
          </a:endParaRPr>
        </a:p>
      </dgm:t>
    </dgm:pt>
    <dgm:pt modelId="{1E30B87C-71EB-4AE4-8533-278FAB0F68F0}" type="sibTrans" cxnId="{D4D4D4ED-64AD-4399-8B9D-0C4F2B5025CD}">
      <dgm:prSet/>
      <dgm:spPr/>
      <dgm:t>
        <a:bodyPr/>
        <a:lstStyle/>
        <a:p>
          <a:endParaRPr lang="en-IN" sz="800">
            <a:solidFill>
              <a:schemeClr val="bg1"/>
            </a:solidFill>
            <a:latin typeface="EY interstate"/>
          </a:endParaRPr>
        </a:p>
      </dgm:t>
    </dgm:pt>
    <dgm:pt modelId="{F21041BF-734C-4B65-9632-C9B998C62158}">
      <dgm:prSet phldrT="[Text]" custT="1"/>
      <dgm:spPr>
        <a:noFill/>
        <a:ln>
          <a:noFill/>
        </a:ln>
      </dgm:spPr>
      <dgm:t>
        <a:bodyPr/>
        <a:lstStyle/>
        <a:p>
          <a:r>
            <a:rPr lang="en-IN" sz="800">
              <a:solidFill>
                <a:schemeClr val="bg1"/>
              </a:solidFill>
              <a:latin typeface="EY interstate"/>
            </a:rPr>
            <a:t>Entity A incurs a cost on behalf of Entity B (e.g., software license, travel expense, shared service).
The cost is initially recorded in Entity A’s books.</a:t>
          </a:r>
        </a:p>
      </dgm:t>
    </dgm:pt>
    <dgm:pt modelId="{E298798E-B5D3-4BCD-B1F2-92C14AF05CDD}" type="parTrans" cxnId="{EC6D6259-21A8-416D-97E0-EB98525A4CAD}">
      <dgm:prSet/>
      <dgm:spPr/>
      <dgm:t>
        <a:bodyPr/>
        <a:lstStyle/>
        <a:p>
          <a:endParaRPr lang="en-IN" sz="800">
            <a:solidFill>
              <a:schemeClr val="bg1"/>
            </a:solidFill>
            <a:latin typeface="EY interstate"/>
          </a:endParaRPr>
        </a:p>
      </dgm:t>
    </dgm:pt>
    <dgm:pt modelId="{262C1EB2-83CB-4060-9FEB-2EE52DFFF41D}" type="sibTrans" cxnId="{EC6D6259-21A8-416D-97E0-EB98525A4CAD}">
      <dgm:prSet/>
      <dgm:spPr/>
      <dgm:t>
        <a:bodyPr/>
        <a:lstStyle/>
        <a:p>
          <a:endParaRPr lang="en-IN" sz="800">
            <a:solidFill>
              <a:schemeClr val="bg1"/>
            </a:solidFill>
            <a:latin typeface="EY interstate"/>
          </a:endParaRPr>
        </a:p>
      </dgm:t>
    </dgm:pt>
    <dgm:pt modelId="{797316F2-BBCA-47EE-944C-C653FF42E557}">
      <dgm:prSet phldrT="[Text]" custT="1"/>
      <dgm:spPr>
        <a:noFill/>
        <a:ln>
          <a:solidFill>
            <a:srgbClr val="FFFF00"/>
          </a:solidFill>
        </a:ln>
      </dgm:spPr>
      <dgm:t>
        <a:bodyPr/>
        <a:lstStyle/>
        <a:p>
          <a:r>
            <a:rPr lang="en-IN" sz="800" b="1">
              <a:solidFill>
                <a:schemeClr val="bg1"/>
              </a:solidFill>
              <a:latin typeface="EY interstate"/>
            </a:rPr>
            <a:t>Recharge Decision</a:t>
          </a:r>
        </a:p>
      </dgm:t>
    </dgm:pt>
    <dgm:pt modelId="{6DAEE7D9-3C3A-4BBE-BBFC-3D6037FB75E5}" type="parTrans" cxnId="{1980BFDB-EE3C-45A0-AFEE-C95EC27A35D6}">
      <dgm:prSet/>
      <dgm:spPr/>
      <dgm:t>
        <a:bodyPr/>
        <a:lstStyle/>
        <a:p>
          <a:endParaRPr lang="en-IN" sz="800">
            <a:solidFill>
              <a:schemeClr val="bg1"/>
            </a:solidFill>
            <a:latin typeface="EY interstate"/>
          </a:endParaRPr>
        </a:p>
      </dgm:t>
    </dgm:pt>
    <dgm:pt modelId="{95A5DBD8-AC79-4D71-9269-5AA43AB1704B}" type="sibTrans" cxnId="{1980BFDB-EE3C-45A0-AFEE-C95EC27A35D6}">
      <dgm:prSet/>
      <dgm:spPr/>
      <dgm:t>
        <a:bodyPr/>
        <a:lstStyle/>
        <a:p>
          <a:endParaRPr lang="en-IN" sz="800">
            <a:solidFill>
              <a:schemeClr val="bg1"/>
            </a:solidFill>
            <a:latin typeface="EY interstate"/>
          </a:endParaRPr>
        </a:p>
      </dgm:t>
    </dgm:pt>
    <dgm:pt modelId="{28768ABE-ABD4-403C-91C1-3B196FBE1263}">
      <dgm:prSet phldrT="[Text]" custT="1"/>
      <dgm:spPr>
        <a:noFill/>
        <a:ln>
          <a:noFill/>
        </a:ln>
      </dgm:spPr>
      <dgm:t>
        <a:bodyPr/>
        <a:lstStyle/>
        <a:p>
          <a:r>
            <a:rPr lang="en-IN" sz="800">
              <a:solidFill>
                <a:schemeClr val="bg1"/>
              </a:solidFill>
              <a:latin typeface="EY interstate"/>
            </a:rPr>
            <a:t>Entity A determines that the cost (fully or partially) should be recharged to Entity B.
The basis for recharge is usually actual cost, with no profit margin (unlike trade transactions).</a:t>
          </a:r>
        </a:p>
      </dgm:t>
    </dgm:pt>
    <dgm:pt modelId="{D0871F90-68A0-46EE-8E2B-BAA037AAE9AC}" type="parTrans" cxnId="{3E2E5680-BD4F-4453-BA50-617AB12618E7}">
      <dgm:prSet/>
      <dgm:spPr/>
      <dgm:t>
        <a:bodyPr/>
        <a:lstStyle/>
        <a:p>
          <a:endParaRPr lang="en-IN" sz="800">
            <a:solidFill>
              <a:schemeClr val="bg1"/>
            </a:solidFill>
            <a:latin typeface="EY interstate"/>
          </a:endParaRPr>
        </a:p>
      </dgm:t>
    </dgm:pt>
    <dgm:pt modelId="{7B82EF6E-E2D3-4DEF-9314-D6E4F416B0E3}" type="sibTrans" cxnId="{3E2E5680-BD4F-4453-BA50-617AB12618E7}">
      <dgm:prSet/>
      <dgm:spPr/>
      <dgm:t>
        <a:bodyPr/>
        <a:lstStyle/>
        <a:p>
          <a:endParaRPr lang="en-IN" sz="800">
            <a:solidFill>
              <a:schemeClr val="bg1"/>
            </a:solidFill>
            <a:latin typeface="EY interstate"/>
          </a:endParaRPr>
        </a:p>
      </dgm:t>
    </dgm:pt>
    <dgm:pt modelId="{6BCBC474-2DE6-4437-BFE7-0965C6882207}">
      <dgm:prSet phldrT="[Text]" custT="1"/>
      <dgm:spPr>
        <a:noFill/>
        <a:ln>
          <a:solidFill>
            <a:srgbClr val="FFFF00"/>
          </a:solidFill>
        </a:ln>
      </dgm:spPr>
      <dgm:t>
        <a:bodyPr/>
        <a:lstStyle/>
        <a:p>
          <a:r>
            <a:rPr lang="en-IN" sz="800" b="1">
              <a:solidFill>
                <a:schemeClr val="bg1"/>
              </a:solidFill>
              <a:latin typeface="EY interstate"/>
            </a:rPr>
            <a:t>Raising the Recharge Invoice</a:t>
          </a:r>
        </a:p>
      </dgm:t>
    </dgm:pt>
    <dgm:pt modelId="{2A195CDD-448C-41E7-BD45-DEDA37A1A2E4}" type="parTrans" cxnId="{6419B5C6-C56B-4675-A23C-555D25BD39AD}">
      <dgm:prSet/>
      <dgm:spPr/>
      <dgm:t>
        <a:bodyPr/>
        <a:lstStyle/>
        <a:p>
          <a:endParaRPr lang="en-IN" sz="800">
            <a:solidFill>
              <a:schemeClr val="bg1"/>
            </a:solidFill>
            <a:latin typeface="EY interstate"/>
          </a:endParaRPr>
        </a:p>
      </dgm:t>
    </dgm:pt>
    <dgm:pt modelId="{CEB00538-F476-4793-A56B-0A52F591E857}" type="sibTrans" cxnId="{6419B5C6-C56B-4675-A23C-555D25BD39AD}">
      <dgm:prSet/>
      <dgm:spPr/>
      <dgm:t>
        <a:bodyPr/>
        <a:lstStyle/>
        <a:p>
          <a:endParaRPr lang="en-IN" sz="800">
            <a:solidFill>
              <a:schemeClr val="bg1"/>
            </a:solidFill>
            <a:latin typeface="EY interstate"/>
          </a:endParaRPr>
        </a:p>
      </dgm:t>
    </dgm:pt>
    <dgm:pt modelId="{F67AE347-E368-43F5-9901-DCBFFC2B137D}">
      <dgm:prSet phldrT="[Text]" custT="1"/>
      <dgm:spPr>
        <a:noFill/>
        <a:ln>
          <a:noFill/>
        </a:ln>
      </dgm:spPr>
      <dgm:t>
        <a:bodyPr/>
        <a:lstStyle/>
        <a:p>
          <a:r>
            <a:rPr lang="en-IN" sz="800">
              <a:solidFill>
                <a:schemeClr val="bg1"/>
              </a:solidFill>
              <a:latin typeface="EY interstate"/>
            </a:rPr>
            <a:t>Entity A raises an intercompany invoice to Entity B for the amount to be recharged.
The invoice includes supporting documentation (e.g., vendor invoice, allocation basis).</a:t>
          </a:r>
        </a:p>
      </dgm:t>
    </dgm:pt>
    <dgm:pt modelId="{E9D8F571-80D0-48E9-A1B4-12FFD37B41C4}" type="parTrans" cxnId="{2B34BD7E-B296-4108-AD74-8DFD79DE007C}">
      <dgm:prSet/>
      <dgm:spPr/>
      <dgm:t>
        <a:bodyPr/>
        <a:lstStyle/>
        <a:p>
          <a:endParaRPr lang="en-IN" sz="800">
            <a:solidFill>
              <a:schemeClr val="bg1"/>
            </a:solidFill>
            <a:latin typeface="EY interstate"/>
          </a:endParaRPr>
        </a:p>
      </dgm:t>
    </dgm:pt>
    <dgm:pt modelId="{4BBD4D6C-5D77-45A7-A2F9-03A80F44D045}" type="sibTrans" cxnId="{2B34BD7E-B296-4108-AD74-8DFD79DE007C}">
      <dgm:prSet/>
      <dgm:spPr/>
      <dgm:t>
        <a:bodyPr/>
        <a:lstStyle/>
        <a:p>
          <a:endParaRPr lang="en-IN" sz="800">
            <a:solidFill>
              <a:schemeClr val="bg1"/>
            </a:solidFill>
            <a:latin typeface="EY interstate"/>
          </a:endParaRPr>
        </a:p>
      </dgm:t>
    </dgm:pt>
    <dgm:pt modelId="{28DB289B-ECCE-435A-9088-AC346014FA4D}">
      <dgm:prSet phldrT="[Text]" custT="1"/>
      <dgm:spPr>
        <a:noFill/>
        <a:ln>
          <a:solidFill>
            <a:srgbClr val="FFFF00"/>
          </a:solidFill>
        </a:ln>
      </dgm:spPr>
      <dgm:t>
        <a:bodyPr/>
        <a:lstStyle/>
        <a:p>
          <a:r>
            <a:rPr lang="en-IN" sz="800" b="1">
              <a:solidFill>
                <a:schemeClr val="bg1"/>
              </a:solidFill>
              <a:latin typeface="EY interstate"/>
            </a:rPr>
            <a:t>Accounting Entries</a:t>
          </a:r>
        </a:p>
      </dgm:t>
    </dgm:pt>
    <dgm:pt modelId="{70280566-8F3A-4313-BFB1-C6E21FFA758B}" type="parTrans" cxnId="{0ED9BB01-A475-4922-AA0D-E711F12305CE}">
      <dgm:prSet/>
      <dgm:spPr/>
      <dgm:t>
        <a:bodyPr/>
        <a:lstStyle/>
        <a:p>
          <a:endParaRPr lang="en-IN" sz="800">
            <a:solidFill>
              <a:schemeClr val="bg1"/>
            </a:solidFill>
            <a:latin typeface="EY interstate"/>
          </a:endParaRPr>
        </a:p>
      </dgm:t>
    </dgm:pt>
    <dgm:pt modelId="{41D8F684-411D-4605-BA3A-6BE962D7BEB4}" type="sibTrans" cxnId="{0ED9BB01-A475-4922-AA0D-E711F12305CE}">
      <dgm:prSet/>
      <dgm:spPr/>
      <dgm:t>
        <a:bodyPr/>
        <a:lstStyle/>
        <a:p>
          <a:endParaRPr lang="en-IN" sz="800">
            <a:solidFill>
              <a:schemeClr val="bg1"/>
            </a:solidFill>
            <a:latin typeface="EY interstate"/>
          </a:endParaRPr>
        </a:p>
      </dgm:t>
    </dgm:pt>
    <dgm:pt modelId="{CD7C0F1D-CCA1-4541-A0C6-A02141097691}">
      <dgm:prSet phldrT="[Text]" custT="1"/>
      <dgm:spPr>
        <a:noFill/>
        <a:ln>
          <a:solidFill>
            <a:srgbClr val="FFFF00"/>
          </a:solidFill>
        </a:ln>
      </dgm:spPr>
      <dgm:t>
        <a:bodyPr/>
        <a:lstStyle/>
        <a:p>
          <a:r>
            <a:rPr lang="en-IN" sz="800" b="1">
              <a:solidFill>
                <a:schemeClr val="bg1"/>
              </a:solidFill>
              <a:latin typeface="EY interstate"/>
            </a:rPr>
            <a:t>Settlement</a:t>
          </a:r>
        </a:p>
      </dgm:t>
    </dgm:pt>
    <dgm:pt modelId="{3D144043-AE6B-463F-98CD-E7AC0AACAE39}" type="parTrans" cxnId="{F2694DC8-5E6D-4DC4-BF30-4C614131FA50}">
      <dgm:prSet/>
      <dgm:spPr/>
      <dgm:t>
        <a:bodyPr/>
        <a:lstStyle/>
        <a:p>
          <a:endParaRPr lang="en-IN" sz="800">
            <a:solidFill>
              <a:schemeClr val="bg1"/>
            </a:solidFill>
            <a:latin typeface="EY interstate"/>
          </a:endParaRPr>
        </a:p>
      </dgm:t>
    </dgm:pt>
    <dgm:pt modelId="{024D4412-B21F-4D67-8729-DC4086F1B382}" type="sibTrans" cxnId="{F2694DC8-5E6D-4DC4-BF30-4C614131FA50}">
      <dgm:prSet/>
      <dgm:spPr/>
      <dgm:t>
        <a:bodyPr/>
        <a:lstStyle/>
        <a:p>
          <a:endParaRPr lang="en-IN" sz="800">
            <a:solidFill>
              <a:schemeClr val="bg1"/>
            </a:solidFill>
            <a:latin typeface="EY interstate"/>
          </a:endParaRPr>
        </a:p>
      </dgm:t>
    </dgm:pt>
    <dgm:pt modelId="{0F169719-B007-4D19-ABA2-9A83142C3FF1}">
      <dgm:prSet phldrT="[Text]" custT="1"/>
      <dgm:spPr>
        <a:noFill/>
        <a:ln>
          <a:noFill/>
        </a:ln>
      </dgm:spPr>
      <dgm:t>
        <a:bodyPr/>
        <a:lstStyle/>
        <a:p>
          <a:r>
            <a:rPr lang="en-IN" sz="800">
              <a:solidFill>
                <a:schemeClr val="bg1"/>
              </a:solidFill>
              <a:latin typeface="EY interstate"/>
            </a:rPr>
            <a:t>Entity A (Recharging Entity):Debit: Intercompany Receivable (amount due from Entity B)Credit: Expense (to remove the cost from its own books) or Intercompany Revenue (if required by policy)
Entity B (Receiving Entity):Debit: Expense (to record the cost in its books)Credit: Intercompany Payable (amount owed to Entity A)</a:t>
          </a:r>
        </a:p>
      </dgm:t>
    </dgm:pt>
    <dgm:pt modelId="{50BA9781-8A3E-46F9-8200-41BF6A0EC9D3}" type="parTrans" cxnId="{370E72AF-0796-4F5D-BA13-75FF6352F03A}">
      <dgm:prSet/>
      <dgm:spPr/>
      <dgm:t>
        <a:bodyPr/>
        <a:lstStyle/>
        <a:p>
          <a:endParaRPr lang="en-IN" sz="800">
            <a:solidFill>
              <a:schemeClr val="bg1"/>
            </a:solidFill>
            <a:latin typeface="EY interstate"/>
          </a:endParaRPr>
        </a:p>
      </dgm:t>
    </dgm:pt>
    <dgm:pt modelId="{73112DD1-E962-4161-9E84-07D27957CD7D}" type="sibTrans" cxnId="{370E72AF-0796-4F5D-BA13-75FF6352F03A}">
      <dgm:prSet/>
      <dgm:spPr/>
      <dgm:t>
        <a:bodyPr/>
        <a:lstStyle/>
        <a:p>
          <a:endParaRPr lang="en-IN" sz="800">
            <a:solidFill>
              <a:schemeClr val="bg1"/>
            </a:solidFill>
            <a:latin typeface="EY interstate"/>
          </a:endParaRPr>
        </a:p>
      </dgm:t>
    </dgm:pt>
    <dgm:pt modelId="{70C61D2D-D431-47AD-8AD3-E571224FE86B}">
      <dgm:prSet phldrT="[Text]" custT="1"/>
      <dgm:spPr>
        <a:noFill/>
        <a:ln>
          <a:solidFill>
            <a:srgbClr val="FFFF00"/>
          </a:solidFill>
        </a:ln>
      </dgm:spPr>
      <dgm:t>
        <a:bodyPr/>
        <a:lstStyle/>
        <a:p>
          <a:r>
            <a:rPr lang="en-IN" sz="800" b="1">
              <a:solidFill>
                <a:schemeClr val="bg1"/>
              </a:solidFill>
              <a:latin typeface="EY interstate"/>
            </a:rPr>
            <a:t>Reconciliation</a:t>
          </a:r>
        </a:p>
      </dgm:t>
    </dgm:pt>
    <dgm:pt modelId="{B42EF70F-4DDA-42FF-A0B2-FFED1A3CEE9C}" type="parTrans" cxnId="{1BFE3823-5549-4A7F-BC8C-3B49F0F44B2C}">
      <dgm:prSet/>
      <dgm:spPr/>
      <dgm:t>
        <a:bodyPr/>
        <a:lstStyle/>
        <a:p>
          <a:endParaRPr lang="en-IN" sz="800">
            <a:solidFill>
              <a:schemeClr val="bg1"/>
            </a:solidFill>
            <a:latin typeface="EY interstate"/>
          </a:endParaRPr>
        </a:p>
      </dgm:t>
    </dgm:pt>
    <dgm:pt modelId="{D745EF3A-6054-4956-8F8D-94988F761C70}" type="sibTrans" cxnId="{1BFE3823-5549-4A7F-BC8C-3B49F0F44B2C}">
      <dgm:prSet/>
      <dgm:spPr/>
      <dgm:t>
        <a:bodyPr/>
        <a:lstStyle/>
        <a:p>
          <a:endParaRPr lang="en-IN" sz="800">
            <a:solidFill>
              <a:schemeClr val="bg1"/>
            </a:solidFill>
            <a:latin typeface="EY interstate"/>
          </a:endParaRPr>
        </a:p>
      </dgm:t>
    </dgm:pt>
    <dgm:pt modelId="{626C0D11-46E0-46A3-BE83-C43029D0756F}">
      <dgm:prSet phldrT="[Text]" custT="1"/>
      <dgm:spPr>
        <a:noFill/>
        <a:ln>
          <a:noFill/>
        </a:ln>
      </dgm:spPr>
      <dgm:t>
        <a:bodyPr/>
        <a:lstStyle/>
        <a:p>
          <a:r>
            <a:rPr lang="en-IN" sz="800">
              <a:solidFill>
                <a:schemeClr val="bg1"/>
              </a:solidFill>
              <a:latin typeface="EY interstate"/>
            </a:rPr>
            <a:t>Entity B settles the invoice by making a payment to Entity A.
Both entities update their books to reflect the payment.</a:t>
          </a:r>
        </a:p>
      </dgm:t>
    </dgm:pt>
    <dgm:pt modelId="{6D7897F2-6F50-47C8-B5FE-04A8F5338CB8}" type="parTrans" cxnId="{7EB8F2F6-D3F4-4A82-83A9-6EF7231283A7}">
      <dgm:prSet/>
      <dgm:spPr/>
      <dgm:t>
        <a:bodyPr/>
        <a:lstStyle/>
        <a:p>
          <a:endParaRPr lang="en-IN" sz="800">
            <a:solidFill>
              <a:schemeClr val="bg1"/>
            </a:solidFill>
            <a:latin typeface="EY interstate"/>
          </a:endParaRPr>
        </a:p>
      </dgm:t>
    </dgm:pt>
    <dgm:pt modelId="{3A2F696D-6E93-4519-A0AB-40B7F284EEA2}" type="sibTrans" cxnId="{7EB8F2F6-D3F4-4A82-83A9-6EF7231283A7}">
      <dgm:prSet/>
      <dgm:spPr/>
      <dgm:t>
        <a:bodyPr/>
        <a:lstStyle/>
        <a:p>
          <a:endParaRPr lang="en-IN" sz="800">
            <a:solidFill>
              <a:schemeClr val="bg1"/>
            </a:solidFill>
            <a:latin typeface="EY interstate"/>
          </a:endParaRPr>
        </a:p>
      </dgm:t>
    </dgm:pt>
    <dgm:pt modelId="{D0B69129-BC4E-4516-86F2-99AEFA854594}">
      <dgm:prSet phldrT="[Text]" custT="1"/>
      <dgm:spPr>
        <a:noFill/>
        <a:ln>
          <a:noFill/>
        </a:ln>
      </dgm:spPr>
      <dgm:t>
        <a:bodyPr/>
        <a:lstStyle/>
        <a:p>
          <a:r>
            <a:rPr lang="en-IN" sz="800">
              <a:solidFill>
                <a:schemeClr val="bg1"/>
              </a:solidFill>
              <a:latin typeface="EY interstate"/>
            </a:rPr>
            <a:t>Both entities reconcile intercompany balances to ensure the recharge is matched and settled.
Any discrepancies are investigated and resolved.</a:t>
          </a:r>
        </a:p>
      </dgm:t>
    </dgm:pt>
    <dgm:pt modelId="{A979C215-956A-43ED-B4CA-0F73F7FE2665}" type="parTrans" cxnId="{835F948D-CFF0-4A8D-8D19-603EFDEFA8D0}">
      <dgm:prSet/>
      <dgm:spPr/>
      <dgm:t>
        <a:bodyPr/>
        <a:lstStyle/>
        <a:p>
          <a:endParaRPr lang="en-IN" sz="800">
            <a:solidFill>
              <a:schemeClr val="bg1"/>
            </a:solidFill>
            <a:latin typeface="EY interstate"/>
          </a:endParaRPr>
        </a:p>
      </dgm:t>
    </dgm:pt>
    <dgm:pt modelId="{1C4F70CA-CAB6-4849-96D1-A73CB481A858}" type="sibTrans" cxnId="{835F948D-CFF0-4A8D-8D19-603EFDEFA8D0}">
      <dgm:prSet/>
      <dgm:spPr/>
      <dgm:t>
        <a:bodyPr/>
        <a:lstStyle/>
        <a:p>
          <a:endParaRPr lang="en-IN" sz="800">
            <a:solidFill>
              <a:schemeClr val="bg1"/>
            </a:solidFill>
            <a:latin typeface="EY interstate"/>
          </a:endParaRPr>
        </a:p>
      </dgm:t>
    </dgm:pt>
    <dgm:pt modelId="{739A06E2-1405-4051-B8AB-134ED58B18E8}" type="pres">
      <dgm:prSet presAssocID="{F6199DA6-0265-4B87-B450-8D5C266CD270}" presName="linearFlow" presStyleCnt="0">
        <dgm:presLayoutVars>
          <dgm:dir/>
          <dgm:animLvl val="lvl"/>
          <dgm:resizeHandles val="exact"/>
        </dgm:presLayoutVars>
      </dgm:prSet>
      <dgm:spPr/>
    </dgm:pt>
    <dgm:pt modelId="{B0B391E8-B066-4C7B-ACEB-9821A6A74261}" type="pres">
      <dgm:prSet presAssocID="{B6E73687-51A2-4CBF-852D-BE2F25A9D12E}" presName="composite" presStyleCnt="0"/>
      <dgm:spPr/>
    </dgm:pt>
    <dgm:pt modelId="{7B2E78B0-9569-4906-B749-211419AC0081}" type="pres">
      <dgm:prSet presAssocID="{B6E73687-51A2-4CBF-852D-BE2F25A9D12E}" presName="parentText" presStyleLbl="alignNode1" presStyleIdx="0" presStyleCnt="6">
        <dgm:presLayoutVars>
          <dgm:chMax val="1"/>
          <dgm:bulletEnabled val="1"/>
        </dgm:presLayoutVars>
      </dgm:prSet>
      <dgm:spPr/>
    </dgm:pt>
    <dgm:pt modelId="{23925B1A-E05F-46E2-A15F-20E3409D698A}" type="pres">
      <dgm:prSet presAssocID="{B6E73687-51A2-4CBF-852D-BE2F25A9D12E}" presName="descendantText" presStyleLbl="alignAcc1" presStyleIdx="0" presStyleCnt="6">
        <dgm:presLayoutVars>
          <dgm:bulletEnabled val="1"/>
        </dgm:presLayoutVars>
      </dgm:prSet>
      <dgm:spPr/>
    </dgm:pt>
    <dgm:pt modelId="{E43C1393-207E-446A-84D7-54387EB8F89C}" type="pres">
      <dgm:prSet presAssocID="{1E30B87C-71EB-4AE4-8533-278FAB0F68F0}" presName="sp" presStyleCnt="0"/>
      <dgm:spPr/>
    </dgm:pt>
    <dgm:pt modelId="{0084E11B-335A-4DFF-93C9-DC684632AE97}" type="pres">
      <dgm:prSet presAssocID="{797316F2-BBCA-47EE-944C-C653FF42E557}" presName="composite" presStyleCnt="0"/>
      <dgm:spPr/>
    </dgm:pt>
    <dgm:pt modelId="{AA002702-39AD-4380-9E55-5993C13C4EBA}" type="pres">
      <dgm:prSet presAssocID="{797316F2-BBCA-47EE-944C-C653FF42E557}" presName="parentText" presStyleLbl="alignNode1" presStyleIdx="1" presStyleCnt="6">
        <dgm:presLayoutVars>
          <dgm:chMax val="1"/>
          <dgm:bulletEnabled val="1"/>
        </dgm:presLayoutVars>
      </dgm:prSet>
      <dgm:spPr/>
    </dgm:pt>
    <dgm:pt modelId="{BE672BC0-985B-478F-8DEF-84E40E131D19}" type="pres">
      <dgm:prSet presAssocID="{797316F2-BBCA-47EE-944C-C653FF42E557}" presName="descendantText" presStyleLbl="alignAcc1" presStyleIdx="1" presStyleCnt="6">
        <dgm:presLayoutVars>
          <dgm:bulletEnabled val="1"/>
        </dgm:presLayoutVars>
      </dgm:prSet>
      <dgm:spPr/>
    </dgm:pt>
    <dgm:pt modelId="{4913E9B5-8333-4E54-8ED9-1836F6D525FD}" type="pres">
      <dgm:prSet presAssocID="{95A5DBD8-AC79-4D71-9269-5AA43AB1704B}" presName="sp" presStyleCnt="0"/>
      <dgm:spPr/>
    </dgm:pt>
    <dgm:pt modelId="{92666E46-96C1-4C76-9970-A678D1CBEC64}" type="pres">
      <dgm:prSet presAssocID="{6BCBC474-2DE6-4437-BFE7-0965C6882207}" presName="composite" presStyleCnt="0"/>
      <dgm:spPr/>
    </dgm:pt>
    <dgm:pt modelId="{A772B94F-77CB-44E2-AF9B-5D9A5ACDCEDF}" type="pres">
      <dgm:prSet presAssocID="{6BCBC474-2DE6-4437-BFE7-0965C6882207}" presName="parentText" presStyleLbl="alignNode1" presStyleIdx="2" presStyleCnt="6">
        <dgm:presLayoutVars>
          <dgm:chMax val="1"/>
          <dgm:bulletEnabled val="1"/>
        </dgm:presLayoutVars>
      </dgm:prSet>
      <dgm:spPr/>
    </dgm:pt>
    <dgm:pt modelId="{ADFA3A44-C1E2-4229-B2AE-F17ADF854ADF}" type="pres">
      <dgm:prSet presAssocID="{6BCBC474-2DE6-4437-BFE7-0965C6882207}" presName="descendantText" presStyleLbl="alignAcc1" presStyleIdx="2" presStyleCnt="6">
        <dgm:presLayoutVars>
          <dgm:bulletEnabled val="1"/>
        </dgm:presLayoutVars>
      </dgm:prSet>
      <dgm:spPr/>
    </dgm:pt>
    <dgm:pt modelId="{3071434E-27C2-4ED3-B11A-B3DB2F10DF93}" type="pres">
      <dgm:prSet presAssocID="{CEB00538-F476-4793-A56B-0A52F591E857}" presName="sp" presStyleCnt="0"/>
      <dgm:spPr/>
    </dgm:pt>
    <dgm:pt modelId="{534019E5-DF33-418D-B7B0-12277802A814}" type="pres">
      <dgm:prSet presAssocID="{28DB289B-ECCE-435A-9088-AC346014FA4D}" presName="composite" presStyleCnt="0"/>
      <dgm:spPr/>
    </dgm:pt>
    <dgm:pt modelId="{85E34C10-5AC6-4A50-AD93-9FF4E441CC32}" type="pres">
      <dgm:prSet presAssocID="{28DB289B-ECCE-435A-9088-AC346014FA4D}" presName="parentText" presStyleLbl="alignNode1" presStyleIdx="3" presStyleCnt="6">
        <dgm:presLayoutVars>
          <dgm:chMax val="1"/>
          <dgm:bulletEnabled val="1"/>
        </dgm:presLayoutVars>
      </dgm:prSet>
      <dgm:spPr/>
    </dgm:pt>
    <dgm:pt modelId="{D503D8F5-6A20-46D8-8A60-CA628AE6D56D}" type="pres">
      <dgm:prSet presAssocID="{28DB289B-ECCE-435A-9088-AC346014FA4D}" presName="descendantText" presStyleLbl="alignAcc1" presStyleIdx="3" presStyleCnt="6">
        <dgm:presLayoutVars>
          <dgm:bulletEnabled val="1"/>
        </dgm:presLayoutVars>
      </dgm:prSet>
      <dgm:spPr/>
    </dgm:pt>
    <dgm:pt modelId="{B55B2C6A-0166-4419-9A7E-610DDE999696}" type="pres">
      <dgm:prSet presAssocID="{41D8F684-411D-4605-BA3A-6BE962D7BEB4}" presName="sp" presStyleCnt="0"/>
      <dgm:spPr/>
    </dgm:pt>
    <dgm:pt modelId="{AF80DF30-C140-4DF8-AAC9-210BCBB3B11F}" type="pres">
      <dgm:prSet presAssocID="{CD7C0F1D-CCA1-4541-A0C6-A02141097691}" presName="composite" presStyleCnt="0"/>
      <dgm:spPr/>
    </dgm:pt>
    <dgm:pt modelId="{BC649774-84A9-489F-AA91-45099C00F217}" type="pres">
      <dgm:prSet presAssocID="{CD7C0F1D-CCA1-4541-A0C6-A02141097691}" presName="parentText" presStyleLbl="alignNode1" presStyleIdx="4" presStyleCnt="6">
        <dgm:presLayoutVars>
          <dgm:chMax val="1"/>
          <dgm:bulletEnabled val="1"/>
        </dgm:presLayoutVars>
      </dgm:prSet>
      <dgm:spPr/>
    </dgm:pt>
    <dgm:pt modelId="{4192D254-2AD5-4E39-B8A0-FD28FE56D945}" type="pres">
      <dgm:prSet presAssocID="{CD7C0F1D-CCA1-4541-A0C6-A02141097691}" presName="descendantText" presStyleLbl="alignAcc1" presStyleIdx="4" presStyleCnt="6">
        <dgm:presLayoutVars>
          <dgm:bulletEnabled val="1"/>
        </dgm:presLayoutVars>
      </dgm:prSet>
      <dgm:spPr/>
    </dgm:pt>
    <dgm:pt modelId="{DA41947F-B275-4239-952D-BAF185D4E99F}" type="pres">
      <dgm:prSet presAssocID="{024D4412-B21F-4D67-8729-DC4086F1B382}" presName="sp" presStyleCnt="0"/>
      <dgm:spPr/>
    </dgm:pt>
    <dgm:pt modelId="{D89C51D4-9D2A-4297-B3A9-7D5325F7A73B}" type="pres">
      <dgm:prSet presAssocID="{70C61D2D-D431-47AD-8AD3-E571224FE86B}" presName="composite" presStyleCnt="0"/>
      <dgm:spPr/>
    </dgm:pt>
    <dgm:pt modelId="{B13629B8-CF71-4109-8C1B-B3BCC9DC8E5E}" type="pres">
      <dgm:prSet presAssocID="{70C61D2D-D431-47AD-8AD3-E571224FE86B}" presName="parentText" presStyleLbl="alignNode1" presStyleIdx="5" presStyleCnt="6">
        <dgm:presLayoutVars>
          <dgm:chMax val="1"/>
          <dgm:bulletEnabled val="1"/>
        </dgm:presLayoutVars>
      </dgm:prSet>
      <dgm:spPr/>
    </dgm:pt>
    <dgm:pt modelId="{993A4C76-AFC3-475E-8A56-A9EC292ABAB4}" type="pres">
      <dgm:prSet presAssocID="{70C61D2D-D431-47AD-8AD3-E571224FE86B}" presName="descendantText" presStyleLbl="alignAcc1" presStyleIdx="5" presStyleCnt="6">
        <dgm:presLayoutVars>
          <dgm:bulletEnabled val="1"/>
        </dgm:presLayoutVars>
      </dgm:prSet>
      <dgm:spPr/>
    </dgm:pt>
  </dgm:ptLst>
  <dgm:cxnLst>
    <dgm:cxn modelId="{0ED9BB01-A475-4922-AA0D-E711F12305CE}" srcId="{F6199DA6-0265-4B87-B450-8D5C266CD270}" destId="{28DB289B-ECCE-435A-9088-AC346014FA4D}" srcOrd="3" destOrd="0" parTransId="{70280566-8F3A-4313-BFB1-C6E21FFA758B}" sibTransId="{41D8F684-411D-4605-BA3A-6BE962D7BEB4}"/>
    <dgm:cxn modelId="{9EB4A205-D2B1-48F3-B481-1DC62EC1A2B2}" type="presOf" srcId="{CD7C0F1D-CCA1-4541-A0C6-A02141097691}" destId="{BC649774-84A9-489F-AA91-45099C00F217}" srcOrd="0" destOrd="0" presId="urn:microsoft.com/office/officeart/2005/8/layout/chevron2"/>
    <dgm:cxn modelId="{C7A89A16-7120-4A31-A20B-F4ACC154A028}" type="presOf" srcId="{0F169719-B007-4D19-ABA2-9A83142C3FF1}" destId="{D503D8F5-6A20-46D8-8A60-CA628AE6D56D}" srcOrd="0" destOrd="0" presId="urn:microsoft.com/office/officeart/2005/8/layout/chevron2"/>
    <dgm:cxn modelId="{C6A2E21E-37E6-4700-9D40-466AA1D54AD9}" type="presOf" srcId="{797316F2-BBCA-47EE-944C-C653FF42E557}" destId="{AA002702-39AD-4380-9E55-5993C13C4EBA}" srcOrd="0" destOrd="0" presId="urn:microsoft.com/office/officeart/2005/8/layout/chevron2"/>
    <dgm:cxn modelId="{1BFE3823-5549-4A7F-BC8C-3B49F0F44B2C}" srcId="{F6199DA6-0265-4B87-B450-8D5C266CD270}" destId="{70C61D2D-D431-47AD-8AD3-E571224FE86B}" srcOrd="5" destOrd="0" parTransId="{B42EF70F-4DDA-42FF-A0B2-FFED1A3CEE9C}" sibTransId="{D745EF3A-6054-4956-8F8D-94988F761C70}"/>
    <dgm:cxn modelId="{3C356431-C5A7-40BD-B229-913F3053DDA2}" type="presOf" srcId="{F6199DA6-0265-4B87-B450-8D5C266CD270}" destId="{739A06E2-1405-4051-B8AB-134ED58B18E8}" srcOrd="0" destOrd="0" presId="urn:microsoft.com/office/officeart/2005/8/layout/chevron2"/>
    <dgm:cxn modelId="{EC6D6259-21A8-416D-97E0-EB98525A4CAD}" srcId="{B6E73687-51A2-4CBF-852D-BE2F25A9D12E}" destId="{F21041BF-734C-4B65-9632-C9B998C62158}" srcOrd="0" destOrd="0" parTransId="{E298798E-B5D3-4BCD-B1F2-92C14AF05CDD}" sibTransId="{262C1EB2-83CB-4060-9FEB-2EE52DFFF41D}"/>
    <dgm:cxn modelId="{B2B47A59-E1C4-4DBA-BB8C-AFF5651EB8AE}" type="presOf" srcId="{F67AE347-E368-43F5-9901-DCBFFC2B137D}" destId="{ADFA3A44-C1E2-4229-B2AE-F17ADF854ADF}" srcOrd="0" destOrd="0" presId="urn:microsoft.com/office/officeart/2005/8/layout/chevron2"/>
    <dgm:cxn modelId="{61470D7D-F8A1-4486-85B3-BF68B7B3BACF}" type="presOf" srcId="{28768ABE-ABD4-403C-91C1-3B196FBE1263}" destId="{BE672BC0-985B-478F-8DEF-84E40E131D19}" srcOrd="0" destOrd="0" presId="urn:microsoft.com/office/officeart/2005/8/layout/chevron2"/>
    <dgm:cxn modelId="{2B34BD7E-B296-4108-AD74-8DFD79DE007C}" srcId="{6BCBC474-2DE6-4437-BFE7-0965C6882207}" destId="{F67AE347-E368-43F5-9901-DCBFFC2B137D}" srcOrd="0" destOrd="0" parTransId="{E9D8F571-80D0-48E9-A1B4-12FFD37B41C4}" sibTransId="{4BBD4D6C-5D77-45A7-A2F9-03A80F44D045}"/>
    <dgm:cxn modelId="{3E2E5680-BD4F-4453-BA50-617AB12618E7}" srcId="{797316F2-BBCA-47EE-944C-C653FF42E557}" destId="{28768ABE-ABD4-403C-91C1-3B196FBE1263}" srcOrd="0" destOrd="0" parTransId="{D0871F90-68A0-46EE-8E2B-BAA037AAE9AC}" sibTransId="{7B82EF6E-E2D3-4DEF-9314-D6E4F416B0E3}"/>
    <dgm:cxn modelId="{12581085-515F-4A15-A6BA-2350CC5E74C5}" type="presOf" srcId="{D0B69129-BC4E-4516-86F2-99AEFA854594}" destId="{993A4C76-AFC3-475E-8A56-A9EC292ABAB4}" srcOrd="0" destOrd="0" presId="urn:microsoft.com/office/officeart/2005/8/layout/chevron2"/>
    <dgm:cxn modelId="{835F948D-CFF0-4A8D-8D19-603EFDEFA8D0}" srcId="{70C61D2D-D431-47AD-8AD3-E571224FE86B}" destId="{D0B69129-BC4E-4516-86F2-99AEFA854594}" srcOrd="0" destOrd="0" parTransId="{A979C215-956A-43ED-B4CA-0F73F7FE2665}" sibTransId="{1C4F70CA-CAB6-4849-96D1-A73CB481A858}"/>
    <dgm:cxn modelId="{F85A0697-FFDF-46B3-8ECF-3956FEF420ED}" type="presOf" srcId="{70C61D2D-D431-47AD-8AD3-E571224FE86B}" destId="{B13629B8-CF71-4109-8C1B-B3BCC9DC8E5E}" srcOrd="0" destOrd="0" presId="urn:microsoft.com/office/officeart/2005/8/layout/chevron2"/>
    <dgm:cxn modelId="{987FF69C-CFAC-4792-A380-94C7B5DB9A35}" type="presOf" srcId="{B6E73687-51A2-4CBF-852D-BE2F25A9D12E}" destId="{7B2E78B0-9569-4906-B749-211419AC0081}" srcOrd="0" destOrd="0" presId="urn:microsoft.com/office/officeart/2005/8/layout/chevron2"/>
    <dgm:cxn modelId="{6B4717AD-8C80-4A95-B727-128ECECA5A2E}" type="presOf" srcId="{6BCBC474-2DE6-4437-BFE7-0965C6882207}" destId="{A772B94F-77CB-44E2-AF9B-5D9A5ACDCEDF}" srcOrd="0" destOrd="0" presId="urn:microsoft.com/office/officeart/2005/8/layout/chevron2"/>
    <dgm:cxn modelId="{370E72AF-0796-4F5D-BA13-75FF6352F03A}" srcId="{28DB289B-ECCE-435A-9088-AC346014FA4D}" destId="{0F169719-B007-4D19-ABA2-9A83142C3FF1}" srcOrd="0" destOrd="0" parTransId="{50BA9781-8A3E-46F9-8200-41BF6A0EC9D3}" sibTransId="{73112DD1-E962-4161-9E84-07D27957CD7D}"/>
    <dgm:cxn modelId="{6419B5C6-C56B-4675-A23C-555D25BD39AD}" srcId="{F6199DA6-0265-4B87-B450-8D5C266CD270}" destId="{6BCBC474-2DE6-4437-BFE7-0965C6882207}" srcOrd="2" destOrd="0" parTransId="{2A195CDD-448C-41E7-BD45-DEDA37A1A2E4}" sibTransId="{CEB00538-F476-4793-A56B-0A52F591E857}"/>
    <dgm:cxn modelId="{F2694DC8-5E6D-4DC4-BF30-4C614131FA50}" srcId="{F6199DA6-0265-4B87-B450-8D5C266CD270}" destId="{CD7C0F1D-CCA1-4541-A0C6-A02141097691}" srcOrd="4" destOrd="0" parTransId="{3D144043-AE6B-463F-98CD-E7AC0AACAE39}" sibTransId="{024D4412-B21F-4D67-8729-DC4086F1B382}"/>
    <dgm:cxn modelId="{1980BFDB-EE3C-45A0-AFEE-C95EC27A35D6}" srcId="{F6199DA6-0265-4B87-B450-8D5C266CD270}" destId="{797316F2-BBCA-47EE-944C-C653FF42E557}" srcOrd="1" destOrd="0" parTransId="{6DAEE7D9-3C3A-4BBE-BBFC-3D6037FB75E5}" sibTransId="{95A5DBD8-AC79-4D71-9269-5AA43AB1704B}"/>
    <dgm:cxn modelId="{D4D4D4ED-64AD-4399-8B9D-0C4F2B5025CD}" srcId="{F6199DA6-0265-4B87-B450-8D5C266CD270}" destId="{B6E73687-51A2-4CBF-852D-BE2F25A9D12E}" srcOrd="0" destOrd="0" parTransId="{D1D6C82D-4D76-41B6-A12D-ABB60FFAB2C4}" sibTransId="{1E30B87C-71EB-4AE4-8533-278FAB0F68F0}"/>
    <dgm:cxn modelId="{6A2D71F0-FB22-44B0-A38F-BD03C67A34F3}" type="presOf" srcId="{28DB289B-ECCE-435A-9088-AC346014FA4D}" destId="{85E34C10-5AC6-4A50-AD93-9FF4E441CC32}" srcOrd="0" destOrd="0" presId="urn:microsoft.com/office/officeart/2005/8/layout/chevron2"/>
    <dgm:cxn modelId="{7EB8F2F6-D3F4-4A82-83A9-6EF7231283A7}" srcId="{CD7C0F1D-CCA1-4541-A0C6-A02141097691}" destId="{626C0D11-46E0-46A3-BE83-C43029D0756F}" srcOrd="0" destOrd="0" parTransId="{6D7897F2-6F50-47C8-B5FE-04A8F5338CB8}" sibTransId="{3A2F696D-6E93-4519-A0AB-40B7F284EEA2}"/>
    <dgm:cxn modelId="{E4DE25F8-FDA4-408D-923B-DE31502EB3F4}" type="presOf" srcId="{626C0D11-46E0-46A3-BE83-C43029D0756F}" destId="{4192D254-2AD5-4E39-B8A0-FD28FE56D945}" srcOrd="0" destOrd="0" presId="urn:microsoft.com/office/officeart/2005/8/layout/chevron2"/>
    <dgm:cxn modelId="{CF5764F8-70DC-4598-B1A2-B29CF74BA1EC}" type="presOf" srcId="{F21041BF-734C-4B65-9632-C9B998C62158}" destId="{23925B1A-E05F-46E2-A15F-20E3409D698A}" srcOrd="0" destOrd="0" presId="urn:microsoft.com/office/officeart/2005/8/layout/chevron2"/>
    <dgm:cxn modelId="{85EC4E30-54ED-4720-81E5-AEB54D8609CC}" type="presParOf" srcId="{739A06E2-1405-4051-B8AB-134ED58B18E8}" destId="{B0B391E8-B066-4C7B-ACEB-9821A6A74261}" srcOrd="0" destOrd="0" presId="urn:microsoft.com/office/officeart/2005/8/layout/chevron2"/>
    <dgm:cxn modelId="{7B091756-2401-487D-831F-4A124D07B2F4}" type="presParOf" srcId="{B0B391E8-B066-4C7B-ACEB-9821A6A74261}" destId="{7B2E78B0-9569-4906-B749-211419AC0081}" srcOrd="0" destOrd="0" presId="urn:microsoft.com/office/officeart/2005/8/layout/chevron2"/>
    <dgm:cxn modelId="{AC38B267-D5E4-49F4-AFE0-D251691D9F15}" type="presParOf" srcId="{B0B391E8-B066-4C7B-ACEB-9821A6A74261}" destId="{23925B1A-E05F-46E2-A15F-20E3409D698A}" srcOrd="1" destOrd="0" presId="urn:microsoft.com/office/officeart/2005/8/layout/chevron2"/>
    <dgm:cxn modelId="{43F6BC3D-4B83-4AF8-8CB8-6EB751CDA3B1}" type="presParOf" srcId="{739A06E2-1405-4051-B8AB-134ED58B18E8}" destId="{E43C1393-207E-446A-84D7-54387EB8F89C}" srcOrd="1" destOrd="0" presId="urn:microsoft.com/office/officeart/2005/8/layout/chevron2"/>
    <dgm:cxn modelId="{CA95530D-768B-4BCE-A4D6-CB99067A7BA8}" type="presParOf" srcId="{739A06E2-1405-4051-B8AB-134ED58B18E8}" destId="{0084E11B-335A-4DFF-93C9-DC684632AE97}" srcOrd="2" destOrd="0" presId="urn:microsoft.com/office/officeart/2005/8/layout/chevron2"/>
    <dgm:cxn modelId="{81045287-A519-4969-899B-18B1B4193DF7}" type="presParOf" srcId="{0084E11B-335A-4DFF-93C9-DC684632AE97}" destId="{AA002702-39AD-4380-9E55-5993C13C4EBA}" srcOrd="0" destOrd="0" presId="urn:microsoft.com/office/officeart/2005/8/layout/chevron2"/>
    <dgm:cxn modelId="{DF6AE13D-584C-46B0-8859-9F2746CC7590}" type="presParOf" srcId="{0084E11B-335A-4DFF-93C9-DC684632AE97}" destId="{BE672BC0-985B-478F-8DEF-84E40E131D19}" srcOrd="1" destOrd="0" presId="urn:microsoft.com/office/officeart/2005/8/layout/chevron2"/>
    <dgm:cxn modelId="{28693021-A721-450C-A152-470B94741988}" type="presParOf" srcId="{739A06E2-1405-4051-B8AB-134ED58B18E8}" destId="{4913E9B5-8333-4E54-8ED9-1836F6D525FD}" srcOrd="3" destOrd="0" presId="urn:microsoft.com/office/officeart/2005/8/layout/chevron2"/>
    <dgm:cxn modelId="{C7D3F0DE-C02D-4236-95F3-FB86774966F7}" type="presParOf" srcId="{739A06E2-1405-4051-B8AB-134ED58B18E8}" destId="{92666E46-96C1-4C76-9970-A678D1CBEC64}" srcOrd="4" destOrd="0" presId="urn:microsoft.com/office/officeart/2005/8/layout/chevron2"/>
    <dgm:cxn modelId="{8F7EB201-3B25-4230-BDBA-E3146D3F87A9}" type="presParOf" srcId="{92666E46-96C1-4C76-9970-A678D1CBEC64}" destId="{A772B94F-77CB-44E2-AF9B-5D9A5ACDCEDF}" srcOrd="0" destOrd="0" presId="urn:microsoft.com/office/officeart/2005/8/layout/chevron2"/>
    <dgm:cxn modelId="{86BDE7DE-769D-4B77-903D-294585C61904}" type="presParOf" srcId="{92666E46-96C1-4C76-9970-A678D1CBEC64}" destId="{ADFA3A44-C1E2-4229-B2AE-F17ADF854ADF}" srcOrd="1" destOrd="0" presId="urn:microsoft.com/office/officeart/2005/8/layout/chevron2"/>
    <dgm:cxn modelId="{FB2EB51E-CB26-4529-9553-87BC76F2DAFB}" type="presParOf" srcId="{739A06E2-1405-4051-B8AB-134ED58B18E8}" destId="{3071434E-27C2-4ED3-B11A-B3DB2F10DF93}" srcOrd="5" destOrd="0" presId="urn:microsoft.com/office/officeart/2005/8/layout/chevron2"/>
    <dgm:cxn modelId="{5CF9C861-7341-4C49-8881-E93F37752D58}" type="presParOf" srcId="{739A06E2-1405-4051-B8AB-134ED58B18E8}" destId="{534019E5-DF33-418D-B7B0-12277802A814}" srcOrd="6" destOrd="0" presId="urn:microsoft.com/office/officeart/2005/8/layout/chevron2"/>
    <dgm:cxn modelId="{A3DE0C38-0D59-4765-927C-06FE8B0A1BC1}" type="presParOf" srcId="{534019E5-DF33-418D-B7B0-12277802A814}" destId="{85E34C10-5AC6-4A50-AD93-9FF4E441CC32}" srcOrd="0" destOrd="0" presId="urn:microsoft.com/office/officeart/2005/8/layout/chevron2"/>
    <dgm:cxn modelId="{E8A53323-E252-40AC-A920-3482504DB36B}" type="presParOf" srcId="{534019E5-DF33-418D-B7B0-12277802A814}" destId="{D503D8F5-6A20-46D8-8A60-CA628AE6D56D}" srcOrd="1" destOrd="0" presId="urn:microsoft.com/office/officeart/2005/8/layout/chevron2"/>
    <dgm:cxn modelId="{53CDE3D3-7D19-467D-BFD6-1F329C1C2723}" type="presParOf" srcId="{739A06E2-1405-4051-B8AB-134ED58B18E8}" destId="{B55B2C6A-0166-4419-9A7E-610DDE999696}" srcOrd="7" destOrd="0" presId="urn:microsoft.com/office/officeart/2005/8/layout/chevron2"/>
    <dgm:cxn modelId="{9CB6617C-257A-4983-B779-C7A2BC0E4861}" type="presParOf" srcId="{739A06E2-1405-4051-B8AB-134ED58B18E8}" destId="{AF80DF30-C140-4DF8-AAC9-210BCBB3B11F}" srcOrd="8" destOrd="0" presId="urn:microsoft.com/office/officeart/2005/8/layout/chevron2"/>
    <dgm:cxn modelId="{EDCF9F3B-2FDB-41ED-A867-E80D72F6B0C4}" type="presParOf" srcId="{AF80DF30-C140-4DF8-AAC9-210BCBB3B11F}" destId="{BC649774-84A9-489F-AA91-45099C00F217}" srcOrd="0" destOrd="0" presId="urn:microsoft.com/office/officeart/2005/8/layout/chevron2"/>
    <dgm:cxn modelId="{F117D145-F4B5-40E2-993B-FA4C78A0C1DD}" type="presParOf" srcId="{AF80DF30-C140-4DF8-AAC9-210BCBB3B11F}" destId="{4192D254-2AD5-4E39-B8A0-FD28FE56D945}" srcOrd="1" destOrd="0" presId="urn:microsoft.com/office/officeart/2005/8/layout/chevron2"/>
    <dgm:cxn modelId="{4EF7D2ED-1C0B-4827-A111-4AE9727C2A3F}" type="presParOf" srcId="{739A06E2-1405-4051-B8AB-134ED58B18E8}" destId="{DA41947F-B275-4239-952D-BAF185D4E99F}" srcOrd="9" destOrd="0" presId="urn:microsoft.com/office/officeart/2005/8/layout/chevron2"/>
    <dgm:cxn modelId="{E8FB75C8-A74E-4AFC-9793-CF692B7A58FB}" type="presParOf" srcId="{739A06E2-1405-4051-B8AB-134ED58B18E8}" destId="{D89C51D4-9D2A-4297-B3A9-7D5325F7A73B}" srcOrd="10" destOrd="0" presId="urn:microsoft.com/office/officeart/2005/8/layout/chevron2"/>
    <dgm:cxn modelId="{430290EF-AB86-4CC8-B48F-EAD29AA5FC5C}" type="presParOf" srcId="{D89C51D4-9D2A-4297-B3A9-7D5325F7A73B}" destId="{B13629B8-CF71-4109-8C1B-B3BCC9DC8E5E}" srcOrd="0" destOrd="0" presId="urn:microsoft.com/office/officeart/2005/8/layout/chevron2"/>
    <dgm:cxn modelId="{D140236B-ACF7-440E-AD16-166377DBBB3F}" type="presParOf" srcId="{D89C51D4-9D2A-4297-B3A9-7D5325F7A73B}" destId="{993A4C76-AFC3-475E-8A56-A9EC292ABAB4}" srcOrd="1" destOrd="0" presId="urn:microsoft.com/office/officeart/2005/8/layout/chevron2"/>
  </dgm:cxnLst>
  <dgm:bg>
    <a:noFill/>
  </dgm:bg>
  <dgm:whole/>
  <dgm:extLst>
    <a:ext uri="http://schemas.microsoft.com/office/drawing/2008/diagram">
      <dsp:dataModelExt xmlns:dsp="http://schemas.microsoft.com/office/drawing/2008/diagram" relId="rId12"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F6199DA6-0265-4B87-B450-8D5C266CD270}" type="doc">
      <dgm:prSet loTypeId="urn:microsoft.com/office/officeart/2005/8/layout/chevron2" loCatId="list" qsTypeId="urn:microsoft.com/office/officeart/2005/8/quickstyle/simple1" qsCatId="simple" csTypeId="urn:microsoft.com/office/officeart/2005/8/colors/accent1_2" csCatId="accent1" phldr="1"/>
      <dgm:spPr/>
      <dgm:t>
        <a:bodyPr/>
        <a:lstStyle/>
        <a:p>
          <a:endParaRPr lang="en-IN"/>
        </a:p>
      </dgm:t>
    </dgm:pt>
    <dgm:pt modelId="{B6E73687-51A2-4CBF-852D-BE2F25A9D12E}">
      <dgm:prSet phldrT="[Text]" custT="1"/>
      <dgm:spPr>
        <a:noFill/>
        <a:ln>
          <a:solidFill>
            <a:srgbClr val="FFFF00"/>
          </a:solidFill>
        </a:ln>
      </dgm:spPr>
      <dgm:t>
        <a:bodyPr/>
        <a:lstStyle/>
        <a:p>
          <a:r>
            <a:rPr lang="en-IN" sz="800" b="1">
              <a:solidFill>
                <a:schemeClr val="bg1"/>
              </a:solidFill>
              <a:latin typeface="EY interstate"/>
            </a:rPr>
            <a:t>Order Placement</a:t>
          </a:r>
        </a:p>
      </dgm:t>
    </dgm:pt>
    <dgm:pt modelId="{D1D6C82D-4D76-41B6-A12D-ABB60FFAB2C4}" type="parTrans" cxnId="{D4D4D4ED-64AD-4399-8B9D-0C4F2B5025CD}">
      <dgm:prSet/>
      <dgm:spPr/>
      <dgm:t>
        <a:bodyPr/>
        <a:lstStyle/>
        <a:p>
          <a:endParaRPr lang="en-IN" sz="800">
            <a:solidFill>
              <a:schemeClr val="bg1"/>
            </a:solidFill>
            <a:latin typeface="EY interstate"/>
          </a:endParaRPr>
        </a:p>
      </dgm:t>
    </dgm:pt>
    <dgm:pt modelId="{1E30B87C-71EB-4AE4-8533-278FAB0F68F0}" type="sibTrans" cxnId="{D4D4D4ED-64AD-4399-8B9D-0C4F2B5025CD}">
      <dgm:prSet/>
      <dgm:spPr/>
      <dgm:t>
        <a:bodyPr/>
        <a:lstStyle/>
        <a:p>
          <a:endParaRPr lang="en-IN" sz="800">
            <a:solidFill>
              <a:schemeClr val="bg1"/>
            </a:solidFill>
            <a:latin typeface="EY interstate"/>
          </a:endParaRPr>
        </a:p>
      </dgm:t>
    </dgm:pt>
    <dgm:pt modelId="{F21041BF-734C-4B65-9632-C9B998C62158}">
      <dgm:prSet phldrT="[Text]" custT="1"/>
      <dgm:spPr>
        <a:noFill/>
        <a:ln>
          <a:noFill/>
        </a:ln>
      </dgm:spPr>
      <dgm:t>
        <a:bodyPr/>
        <a:lstStyle/>
        <a:p>
          <a:r>
            <a:rPr lang="en-IN" sz="800">
              <a:solidFill>
                <a:schemeClr val="bg1"/>
              </a:solidFill>
              <a:latin typeface="EY interstate"/>
            </a:rPr>
            <a:t>Entity B (Buyer) places a purchase order for goods/services with Entity A (Seller), both part of the same corporate group.</a:t>
          </a:r>
        </a:p>
      </dgm:t>
    </dgm:pt>
    <dgm:pt modelId="{E298798E-B5D3-4BCD-B1F2-92C14AF05CDD}" type="parTrans" cxnId="{EC6D6259-21A8-416D-97E0-EB98525A4CAD}">
      <dgm:prSet/>
      <dgm:spPr/>
      <dgm:t>
        <a:bodyPr/>
        <a:lstStyle/>
        <a:p>
          <a:endParaRPr lang="en-IN" sz="800">
            <a:solidFill>
              <a:schemeClr val="bg1"/>
            </a:solidFill>
            <a:latin typeface="EY interstate"/>
          </a:endParaRPr>
        </a:p>
      </dgm:t>
    </dgm:pt>
    <dgm:pt modelId="{262C1EB2-83CB-4060-9FEB-2EE52DFFF41D}" type="sibTrans" cxnId="{EC6D6259-21A8-416D-97E0-EB98525A4CAD}">
      <dgm:prSet/>
      <dgm:spPr/>
      <dgm:t>
        <a:bodyPr/>
        <a:lstStyle/>
        <a:p>
          <a:endParaRPr lang="en-IN" sz="800">
            <a:solidFill>
              <a:schemeClr val="bg1"/>
            </a:solidFill>
            <a:latin typeface="EY interstate"/>
          </a:endParaRPr>
        </a:p>
      </dgm:t>
    </dgm:pt>
    <dgm:pt modelId="{797316F2-BBCA-47EE-944C-C653FF42E557}">
      <dgm:prSet phldrT="[Text]" custT="1"/>
      <dgm:spPr>
        <a:noFill/>
        <a:ln>
          <a:solidFill>
            <a:srgbClr val="FFFF00"/>
          </a:solidFill>
        </a:ln>
      </dgm:spPr>
      <dgm:t>
        <a:bodyPr/>
        <a:lstStyle/>
        <a:p>
          <a:r>
            <a:rPr lang="en-IN" sz="800" b="1">
              <a:solidFill>
                <a:schemeClr val="bg1"/>
              </a:solidFill>
              <a:latin typeface="EY interstate"/>
            </a:rPr>
            <a:t>Goods/Services Delivery</a:t>
          </a:r>
        </a:p>
      </dgm:t>
    </dgm:pt>
    <dgm:pt modelId="{6DAEE7D9-3C3A-4BBE-BBFC-3D6037FB75E5}" type="parTrans" cxnId="{1980BFDB-EE3C-45A0-AFEE-C95EC27A35D6}">
      <dgm:prSet/>
      <dgm:spPr/>
      <dgm:t>
        <a:bodyPr/>
        <a:lstStyle/>
        <a:p>
          <a:endParaRPr lang="en-IN" sz="800">
            <a:solidFill>
              <a:schemeClr val="bg1"/>
            </a:solidFill>
            <a:latin typeface="EY interstate"/>
          </a:endParaRPr>
        </a:p>
      </dgm:t>
    </dgm:pt>
    <dgm:pt modelId="{95A5DBD8-AC79-4D71-9269-5AA43AB1704B}" type="sibTrans" cxnId="{1980BFDB-EE3C-45A0-AFEE-C95EC27A35D6}">
      <dgm:prSet/>
      <dgm:spPr/>
      <dgm:t>
        <a:bodyPr/>
        <a:lstStyle/>
        <a:p>
          <a:endParaRPr lang="en-IN" sz="800">
            <a:solidFill>
              <a:schemeClr val="bg1"/>
            </a:solidFill>
            <a:latin typeface="EY interstate"/>
          </a:endParaRPr>
        </a:p>
      </dgm:t>
    </dgm:pt>
    <dgm:pt modelId="{28768ABE-ABD4-403C-91C1-3B196FBE1263}">
      <dgm:prSet phldrT="[Text]" custT="1"/>
      <dgm:spPr>
        <a:noFill/>
        <a:ln>
          <a:noFill/>
        </a:ln>
      </dgm:spPr>
      <dgm:t>
        <a:bodyPr/>
        <a:lstStyle/>
        <a:p>
          <a:r>
            <a:rPr lang="en-IN" sz="800">
              <a:solidFill>
                <a:schemeClr val="bg1"/>
              </a:solidFill>
              <a:latin typeface="EY interstate"/>
            </a:rPr>
            <a:t>Entity A delivers the goods or services to Entity B.
A delivery note or service completion confirmation is generated.</a:t>
          </a:r>
        </a:p>
      </dgm:t>
    </dgm:pt>
    <dgm:pt modelId="{D0871F90-68A0-46EE-8E2B-BAA037AAE9AC}" type="parTrans" cxnId="{3E2E5680-BD4F-4453-BA50-617AB12618E7}">
      <dgm:prSet/>
      <dgm:spPr/>
      <dgm:t>
        <a:bodyPr/>
        <a:lstStyle/>
        <a:p>
          <a:endParaRPr lang="en-IN" sz="800">
            <a:solidFill>
              <a:schemeClr val="bg1"/>
            </a:solidFill>
            <a:latin typeface="EY interstate"/>
          </a:endParaRPr>
        </a:p>
      </dgm:t>
    </dgm:pt>
    <dgm:pt modelId="{7B82EF6E-E2D3-4DEF-9314-D6E4F416B0E3}" type="sibTrans" cxnId="{3E2E5680-BD4F-4453-BA50-617AB12618E7}">
      <dgm:prSet/>
      <dgm:spPr/>
      <dgm:t>
        <a:bodyPr/>
        <a:lstStyle/>
        <a:p>
          <a:endParaRPr lang="en-IN" sz="800">
            <a:solidFill>
              <a:schemeClr val="bg1"/>
            </a:solidFill>
            <a:latin typeface="EY interstate"/>
          </a:endParaRPr>
        </a:p>
      </dgm:t>
    </dgm:pt>
    <dgm:pt modelId="{6BCBC474-2DE6-4437-BFE7-0965C6882207}">
      <dgm:prSet phldrT="[Text]" custT="1"/>
      <dgm:spPr>
        <a:noFill/>
        <a:ln>
          <a:solidFill>
            <a:srgbClr val="FFFF00"/>
          </a:solidFill>
        </a:ln>
      </dgm:spPr>
      <dgm:t>
        <a:bodyPr/>
        <a:lstStyle/>
        <a:p>
          <a:r>
            <a:rPr lang="en-IN" sz="800" b="1">
              <a:solidFill>
                <a:schemeClr val="bg1"/>
              </a:solidFill>
              <a:latin typeface="EY interstate"/>
            </a:rPr>
            <a:t>Invoicing</a:t>
          </a:r>
        </a:p>
      </dgm:t>
    </dgm:pt>
    <dgm:pt modelId="{2A195CDD-448C-41E7-BD45-DEDA37A1A2E4}" type="parTrans" cxnId="{6419B5C6-C56B-4675-A23C-555D25BD39AD}">
      <dgm:prSet/>
      <dgm:spPr/>
      <dgm:t>
        <a:bodyPr/>
        <a:lstStyle/>
        <a:p>
          <a:endParaRPr lang="en-IN" sz="800">
            <a:solidFill>
              <a:schemeClr val="bg1"/>
            </a:solidFill>
            <a:latin typeface="EY interstate"/>
          </a:endParaRPr>
        </a:p>
      </dgm:t>
    </dgm:pt>
    <dgm:pt modelId="{CEB00538-F476-4793-A56B-0A52F591E857}" type="sibTrans" cxnId="{6419B5C6-C56B-4675-A23C-555D25BD39AD}">
      <dgm:prSet/>
      <dgm:spPr/>
      <dgm:t>
        <a:bodyPr/>
        <a:lstStyle/>
        <a:p>
          <a:endParaRPr lang="en-IN" sz="800">
            <a:solidFill>
              <a:schemeClr val="bg1"/>
            </a:solidFill>
            <a:latin typeface="EY interstate"/>
          </a:endParaRPr>
        </a:p>
      </dgm:t>
    </dgm:pt>
    <dgm:pt modelId="{F67AE347-E368-43F5-9901-DCBFFC2B137D}">
      <dgm:prSet phldrT="[Text]" custT="1"/>
      <dgm:spPr>
        <a:noFill/>
        <a:ln>
          <a:noFill/>
        </a:ln>
      </dgm:spPr>
      <dgm:t>
        <a:bodyPr/>
        <a:lstStyle/>
        <a:p>
          <a:r>
            <a:rPr lang="en-IN" sz="800">
              <a:solidFill>
                <a:schemeClr val="bg1"/>
              </a:solidFill>
              <a:latin typeface="EY interstate"/>
            </a:rPr>
            <a:t>Entity A issues an intercompany invoice to Entity B for the goods/services provided.
The invoice includes details such as quantity, price, and any applicable taxes.</a:t>
          </a:r>
        </a:p>
      </dgm:t>
    </dgm:pt>
    <dgm:pt modelId="{E9D8F571-80D0-48E9-A1B4-12FFD37B41C4}" type="parTrans" cxnId="{2B34BD7E-B296-4108-AD74-8DFD79DE007C}">
      <dgm:prSet/>
      <dgm:spPr/>
      <dgm:t>
        <a:bodyPr/>
        <a:lstStyle/>
        <a:p>
          <a:endParaRPr lang="en-IN" sz="800">
            <a:solidFill>
              <a:schemeClr val="bg1"/>
            </a:solidFill>
            <a:latin typeface="EY interstate"/>
          </a:endParaRPr>
        </a:p>
      </dgm:t>
    </dgm:pt>
    <dgm:pt modelId="{4BBD4D6C-5D77-45A7-A2F9-03A80F44D045}" type="sibTrans" cxnId="{2B34BD7E-B296-4108-AD74-8DFD79DE007C}">
      <dgm:prSet/>
      <dgm:spPr/>
      <dgm:t>
        <a:bodyPr/>
        <a:lstStyle/>
        <a:p>
          <a:endParaRPr lang="en-IN" sz="800">
            <a:solidFill>
              <a:schemeClr val="bg1"/>
            </a:solidFill>
            <a:latin typeface="EY interstate"/>
          </a:endParaRPr>
        </a:p>
      </dgm:t>
    </dgm:pt>
    <dgm:pt modelId="{28DB289B-ECCE-435A-9088-AC346014FA4D}">
      <dgm:prSet phldrT="[Text]" custT="1"/>
      <dgm:spPr>
        <a:noFill/>
        <a:ln>
          <a:solidFill>
            <a:srgbClr val="FFFF00"/>
          </a:solidFill>
        </a:ln>
      </dgm:spPr>
      <dgm:t>
        <a:bodyPr/>
        <a:lstStyle/>
        <a:p>
          <a:r>
            <a:rPr lang="en-IN" sz="800" b="1">
              <a:solidFill>
                <a:schemeClr val="bg1"/>
              </a:solidFill>
              <a:latin typeface="EY interstate"/>
            </a:rPr>
            <a:t>Accounting Entries</a:t>
          </a:r>
        </a:p>
      </dgm:t>
    </dgm:pt>
    <dgm:pt modelId="{70280566-8F3A-4313-BFB1-C6E21FFA758B}" type="parTrans" cxnId="{0ED9BB01-A475-4922-AA0D-E711F12305CE}">
      <dgm:prSet/>
      <dgm:spPr/>
      <dgm:t>
        <a:bodyPr/>
        <a:lstStyle/>
        <a:p>
          <a:endParaRPr lang="en-IN" sz="800">
            <a:solidFill>
              <a:schemeClr val="bg1"/>
            </a:solidFill>
            <a:latin typeface="EY interstate"/>
          </a:endParaRPr>
        </a:p>
      </dgm:t>
    </dgm:pt>
    <dgm:pt modelId="{41D8F684-411D-4605-BA3A-6BE962D7BEB4}" type="sibTrans" cxnId="{0ED9BB01-A475-4922-AA0D-E711F12305CE}">
      <dgm:prSet/>
      <dgm:spPr/>
      <dgm:t>
        <a:bodyPr/>
        <a:lstStyle/>
        <a:p>
          <a:endParaRPr lang="en-IN" sz="800">
            <a:solidFill>
              <a:schemeClr val="bg1"/>
            </a:solidFill>
            <a:latin typeface="EY interstate"/>
          </a:endParaRPr>
        </a:p>
      </dgm:t>
    </dgm:pt>
    <dgm:pt modelId="{CD7C0F1D-CCA1-4541-A0C6-A02141097691}">
      <dgm:prSet phldrT="[Text]" custT="1"/>
      <dgm:spPr>
        <a:noFill/>
        <a:ln>
          <a:solidFill>
            <a:srgbClr val="FFFF00"/>
          </a:solidFill>
        </a:ln>
      </dgm:spPr>
      <dgm:t>
        <a:bodyPr/>
        <a:lstStyle/>
        <a:p>
          <a:r>
            <a:rPr lang="en-IN" sz="800" b="1">
              <a:solidFill>
                <a:schemeClr val="bg1"/>
              </a:solidFill>
              <a:latin typeface="EY interstate"/>
            </a:rPr>
            <a:t>Payment &amp; Settlement</a:t>
          </a:r>
        </a:p>
      </dgm:t>
    </dgm:pt>
    <dgm:pt modelId="{3D144043-AE6B-463F-98CD-E7AC0AACAE39}" type="parTrans" cxnId="{F2694DC8-5E6D-4DC4-BF30-4C614131FA50}">
      <dgm:prSet/>
      <dgm:spPr/>
      <dgm:t>
        <a:bodyPr/>
        <a:lstStyle/>
        <a:p>
          <a:endParaRPr lang="en-IN" sz="800">
            <a:solidFill>
              <a:schemeClr val="bg1"/>
            </a:solidFill>
            <a:latin typeface="EY interstate"/>
          </a:endParaRPr>
        </a:p>
      </dgm:t>
    </dgm:pt>
    <dgm:pt modelId="{024D4412-B21F-4D67-8729-DC4086F1B382}" type="sibTrans" cxnId="{F2694DC8-5E6D-4DC4-BF30-4C614131FA50}">
      <dgm:prSet/>
      <dgm:spPr/>
      <dgm:t>
        <a:bodyPr/>
        <a:lstStyle/>
        <a:p>
          <a:endParaRPr lang="en-IN" sz="800">
            <a:solidFill>
              <a:schemeClr val="bg1"/>
            </a:solidFill>
            <a:latin typeface="EY interstate"/>
          </a:endParaRPr>
        </a:p>
      </dgm:t>
    </dgm:pt>
    <dgm:pt modelId="{0F169719-B007-4D19-ABA2-9A83142C3FF1}">
      <dgm:prSet phldrT="[Text]" custT="1"/>
      <dgm:spPr>
        <a:noFill/>
        <a:ln>
          <a:noFill/>
        </a:ln>
      </dgm:spPr>
      <dgm:t>
        <a:bodyPr/>
        <a:lstStyle/>
        <a:p>
          <a:r>
            <a:rPr lang="en-IN" sz="800">
              <a:solidFill>
                <a:schemeClr val="bg1"/>
              </a:solidFill>
              <a:latin typeface="EY interstate"/>
            </a:rPr>
            <a:t>Entity A (Seller):Debit: Intercompany Receivable (amount due from Entity B)Credit: Revenue (for the sale)Credit: Inventory (if goods are sold)
Entity B (Buyer):Debit: Inventory or Expense (for goods/services received)Credit: Intercompany Payable (amount owed to Entity A)</a:t>
          </a:r>
        </a:p>
      </dgm:t>
    </dgm:pt>
    <dgm:pt modelId="{50BA9781-8A3E-46F9-8200-41BF6A0EC9D3}" type="parTrans" cxnId="{370E72AF-0796-4F5D-BA13-75FF6352F03A}">
      <dgm:prSet/>
      <dgm:spPr/>
      <dgm:t>
        <a:bodyPr/>
        <a:lstStyle/>
        <a:p>
          <a:endParaRPr lang="en-IN" sz="800">
            <a:solidFill>
              <a:schemeClr val="bg1"/>
            </a:solidFill>
            <a:latin typeface="EY interstate"/>
          </a:endParaRPr>
        </a:p>
      </dgm:t>
    </dgm:pt>
    <dgm:pt modelId="{73112DD1-E962-4161-9E84-07D27957CD7D}" type="sibTrans" cxnId="{370E72AF-0796-4F5D-BA13-75FF6352F03A}">
      <dgm:prSet/>
      <dgm:spPr/>
      <dgm:t>
        <a:bodyPr/>
        <a:lstStyle/>
        <a:p>
          <a:endParaRPr lang="en-IN" sz="800">
            <a:solidFill>
              <a:schemeClr val="bg1"/>
            </a:solidFill>
            <a:latin typeface="EY interstate"/>
          </a:endParaRPr>
        </a:p>
      </dgm:t>
    </dgm:pt>
    <dgm:pt modelId="{70C61D2D-D431-47AD-8AD3-E571224FE86B}">
      <dgm:prSet phldrT="[Text]" custT="1"/>
      <dgm:spPr>
        <a:noFill/>
        <a:ln>
          <a:solidFill>
            <a:srgbClr val="FFFF00"/>
          </a:solidFill>
        </a:ln>
      </dgm:spPr>
      <dgm:t>
        <a:bodyPr/>
        <a:lstStyle/>
        <a:p>
          <a:r>
            <a:rPr lang="en-IN" sz="700" b="1">
              <a:solidFill>
                <a:schemeClr val="bg1"/>
              </a:solidFill>
              <a:latin typeface="EY interstate"/>
            </a:rPr>
            <a:t>Month end Reconciliation</a:t>
          </a:r>
        </a:p>
      </dgm:t>
    </dgm:pt>
    <dgm:pt modelId="{B42EF70F-4DDA-42FF-A0B2-FFED1A3CEE9C}" type="parTrans" cxnId="{1BFE3823-5549-4A7F-BC8C-3B49F0F44B2C}">
      <dgm:prSet/>
      <dgm:spPr/>
      <dgm:t>
        <a:bodyPr/>
        <a:lstStyle/>
        <a:p>
          <a:endParaRPr lang="en-IN" sz="800">
            <a:solidFill>
              <a:schemeClr val="bg1"/>
            </a:solidFill>
            <a:latin typeface="EY interstate"/>
          </a:endParaRPr>
        </a:p>
      </dgm:t>
    </dgm:pt>
    <dgm:pt modelId="{D745EF3A-6054-4956-8F8D-94988F761C70}" type="sibTrans" cxnId="{1BFE3823-5549-4A7F-BC8C-3B49F0F44B2C}">
      <dgm:prSet/>
      <dgm:spPr/>
      <dgm:t>
        <a:bodyPr/>
        <a:lstStyle/>
        <a:p>
          <a:endParaRPr lang="en-IN" sz="800">
            <a:solidFill>
              <a:schemeClr val="bg1"/>
            </a:solidFill>
            <a:latin typeface="EY interstate"/>
          </a:endParaRPr>
        </a:p>
      </dgm:t>
    </dgm:pt>
    <dgm:pt modelId="{D196AB3A-900E-4001-90D5-E06B718727AC}">
      <dgm:prSet phldrT="[Text]" custT="1"/>
      <dgm:spPr>
        <a:noFill/>
        <a:ln>
          <a:solidFill>
            <a:srgbClr val="FFFF00"/>
          </a:solidFill>
        </a:ln>
      </dgm:spPr>
      <dgm:t>
        <a:bodyPr/>
        <a:lstStyle/>
        <a:p>
          <a:r>
            <a:rPr lang="en-IN" sz="700" b="1">
              <a:solidFill>
                <a:schemeClr val="bg1"/>
              </a:solidFill>
              <a:latin typeface="EY interstate"/>
            </a:rPr>
            <a:t>Consolidation &amp; Elimination</a:t>
          </a:r>
        </a:p>
      </dgm:t>
    </dgm:pt>
    <dgm:pt modelId="{C0FC3527-9891-44A7-AFCA-47EB2A11F55C}" type="parTrans" cxnId="{72A8DDAB-D689-4875-A50C-A79CEC55EA30}">
      <dgm:prSet/>
      <dgm:spPr/>
      <dgm:t>
        <a:bodyPr/>
        <a:lstStyle/>
        <a:p>
          <a:endParaRPr lang="en-IN" sz="800">
            <a:solidFill>
              <a:schemeClr val="bg1"/>
            </a:solidFill>
            <a:latin typeface="EY interstate"/>
          </a:endParaRPr>
        </a:p>
      </dgm:t>
    </dgm:pt>
    <dgm:pt modelId="{E7912027-BB63-41F3-B070-12383BC7B894}" type="sibTrans" cxnId="{72A8DDAB-D689-4875-A50C-A79CEC55EA30}">
      <dgm:prSet/>
      <dgm:spPr/>
      <dgm:t>
        <a:bodyPr/>
        <a:lstStyle/>
        <a:p>
          <a:endParaRPr lang="en-IN" sz="800">
            <a:solidFill>
              <a:schemeClr val="bg1"/>
            </a:solidFill>
            <a:latin typeface="EY interstate"/>
          </a:endParaRPr>
        </a:p>
      </dgm:t>
    </dgm:pt>
    <dgm:pt modelId="{626C0D11-46E0-46A3-BE83-C43029D0756F}">
      <dgm:prSet phldrT="[Text]" custT="1"/>
      <dgm:spPr>
        <a:noFill/>
        <a:ln>
          <a:noFill/>
        </a:ln>
      </dgm:spPr>
      <dgm:t>
        <a:bodyPr/>
        <a:lstStyle/>
        <a:p>
          <a:r>
            <a:rPr lang="en-IN" sz="800">
              <a:solidFill>
                <a:schemeClr val="bg1"/>
              </a:solidFill>
              <a:latin typeface="EY interstate"/>
            </a:rPr>
            <a:t>Entity B settles the invoice by making a payment to Entity A.
Both entities update their books to reflect the payment.</a:t>
          </a:r>
        </a:p>
      </dgm:t>
    </dgm:pt>
    <dgm:pt modelId="{6D7897F2-6F50-47C8-B5FE-04A8F5338CB8}" type="parTrans" cxnId="{7EB8F2F6-D3F4-4A82-83A9-6EF7231283A7}">
      <dgm:prSet/>
      <dgm:spPr/>
      <dgm:t>
        <a:bodyPr/>
        <a:lstStyle/>
        <a:p>
          <a:endParaRPr lang="en-IN" sz="800">
            <a:solidFill>
              <a:schemeClr val="bg1"/>
            </a:solidFill>
            <a:latin typeface="EY interstate"/>
          </a:endParaRPr>
        </a:p>
      </dgm:t>
    </dgm:pt>
    <dgm:pt modelId="{3A2F696D-6E93-4519-A0AB-40B7F284EEA2}" type="sibTrans" cxnId="{7EB8F2F6-D3F4-4A82-83A9-6EF7231283A7}">
      <dgm:prSet/>
      <dgm:spPr/>
      <dgm:t>
        <a:bodyPr/>
        <a:lstStyle/>
        <a:p>
          <a:endParaRPr lang="en-IN" sz="800">
            <a:solidFill>
              <a:schemeClr val="bg1"/>
            </a:solidFill>
            <a:latin typeface="EY interstate"/>
          </a:endParaRPr>
        </a:p>
      </dgm:t>
    </dgm:pt>
    <dgm:pt modelId="{D0B69129-BC4E-4516-86F2-99AEFA854594}">
      <dgm:prSet phldrT="[Text]" custT="1"/>
      <dgm:spPr>
        <a:noFill/>
        <a:ln>
          <a:noFill/>
        </a:ln>
      </dgm:spPr>
      <dgm:t>
        <a:bodyPr/>
        <a:lstStyle/>
        <a:p>
          <a:r>
            <a:rPr lang="en-IN" sz="800">
              <a:solidFill>
                <a:schemeClr val="bg1"/>
              </a:solidFill>
              <a:latin typeface="EY interstate"/>
            </a:rPr>
            <a:t>Both entities reconcile intercompany balances to ensure amounts match.
Any discrepancies are investigated and resolved.</a:t>
          </a:r>
        </a:p>
      </dgm:t>
    </dgm:pt>
    <dgm:pt modelId="{A979C215-956A-43ED-B4CA-0F73F7FE2665}" type="parTrans" cxnId="{835F948D-CFF0-4A8D-8D19-603EFDEFA8D0}">
      <dgm:prSet/>
      <dgm:spPr/>
      <dgm:t>
        <a:bodyPr/>
        <a:lstStyle/>
        <a:p>
          <a:endParaRPr lang="en-IN" sz="800">
            <a:solidFill>
              <a:schemeClr val="bg1"/>
            </a:solidFill>
            <a:latin typeface="EY interstate"/>
          </a:endParaRPr>
        </a:p>
      </dgm:t>
    </dgm:pt>
    <dgm:pt modelId="{1C4F70CA-CAB6-4849-96D1-A73CB481A858}" type="sibTrans" cxnId="{835F948D-CFF0-4A8D-8D19-603EFDEFA8D0}">
      <dgm:prSet/>
      <dgm:spPr/>
      <dgm:t>
        <a:bodyPr/>
        <a:lstStyle/>
        <a:p>
          <a:endParaRPr lang="en-IN" sz="800">
            <a:solidFill>
              <a:schemeClr val="bg1"/>
            </a:solidFill>
            <a:latin typeface="EY interstate"/>
          </a:endParaRPr>
        </a:p>
      </dgm:t>
    </dgm:pt>
    <dgm:pt modelId="{34BB78B6-8B63-4CC8-ABC4-415F331FEF7C}">
      <dgm:prSet phldrT="[Text]" custT="1"/>
      <dgm:spPr>
        <a:noFill/>
        <a:ln>
          <a:noFill/>
        </a:ln>
      </dgm:spPr>
      <dgm:t>
        <a:bodyPr/>
        <a:lstStyle/>
        <a:p>
          <a:r>
            <a:rPr lang="en-IN" sz="800">
              <a:solidFill>
                <a:schemeClr val="bg1"/>
              </a:solidFill>
              <a:latin typeface="EY interstate"/>
            </a:rPr>
            <a:t>During group financial consolidation, these intercompany sales and purchases are eliminated to avoid double-counting revenue and expenses at the group level.</a:t>
          </a:r>
        </a:p>
      </dgm:t>
    </dgm:pt>
    <dgm:pt modelId="{5D3CAB5D-5669-42DD-A0D3-53AF4B04CC21}" type="parTrans" cxnId="{C697AAD0-6036-4C59-9852-9D7ED5266346}">
      <dgm:prSet/>
      <dgm:spPr/>
      <dgm:t>
        <a:bodyPr/>
        <a:lstStyle/>
        <a:p>
          <a:endParaRPr lang="en-IN" sz="800">
            <a:solidFill>
              <a:schemeClr val="bg1"/>
            </a:solidFill>
            <a:latin typeface="EY interstate"/>
          </a:endParaRPr>
        </a:p>
      </dgm:t>
    </dgm:pt>
    <dgm:pt modelId="{03B31898-D5F9-4E49-AC84-BF4BD7CD6C88}" type="sibTrans" cxnId="{C697AAD0-6036-4C59-9852-9D7ED5266346}">
      <dgm:prSet/>
      <dgm:spPr/>
      <dgm:t>
        <a:bodyPr/>
        <a:lstStyle/>
        <a:p>
          <a:endParaRPr lang="en-IN" sz="800">
            <a:solidFill>
              <a:schemeClr val="bg1"/>
            </a:solidFill>
            <a:latin typeface="EY interstate"/>
          </a:endParaRPr>
        </a:p>
      </dgm:t>
    </dgm:pt>
    <dgm:pt modelId="{739A06E2-1405-4051-B8AB-134ED58B18E8}" type="pres">
      <dgm:prSet presAssocID="{F6199DA6-0265-4B87-B450-8D5C266CD270}" presName="linearFlow" presStyleCnt="0">
        <dgm:presLayoutVars>
          <dgm:dir/>
          <dgm:animLvl val="lvl"/>
          <dgm:resizeHandles val="exact"/>
        </dgm:presLayoutVars>
      </dgm:prSet>
      <dgm:spPr/>
    </dgm:pt>
    <dgm:pt modelId="{B0B391E8-B066-4C7B-ACEB-9821A6A74261}" type="pres">
      <dgm:prSet presAssocID="{B6E73687-51A2-4CBF-852D-BE2F25A9D12E}" presName="composite" presStyleCnt="0"/>
      <dgm:spPr/>
    </dgm:pt>
    <dgm:pt modelId="{7B2E78B0-9569-4906-B749-211419AC0081}" type="pres">
      <dgm:prSet presAssocID="{B6E73687-51A2-4CBF-852D-BE2F25A9D12E}" presName="parentText" presStyleLbl="alignNode1" presStyleIdx="0" presStyleCnt="7">
        <dgm:presLayoutVars>
          <dgm:chMax val="1"/>
          <dgm:bulletEnabled val="1"/>
        </dgm:presLayoutVars>
      </dgm:prSet>
      <dgm:spPr/>
    </dgm:pt>
    <dgm:pt modelId="{23925B1A-E05F-46E2-A15F-20E3409D698A}" type="pres">
      <dgm:prSet presAssocID="{B6E73687-51A2-4CBF-852D-BE2F25A9D12E}" presName="descendantText" presStyleLbl="alignAcc1" presStyleIdx="0" presStyleCnt="7">
        <dgm:presLayoutVars>
          <dgm:bulletEnabled val="1"/>
        </dgm:presLayoutVars>
      </dgm:prSet>
      <dgm:spPr/>
    </dgm:pt>
    <dgm:pt modelId="{E43C1393-207E-446A-84D7-54387EB8F89C}" type="pres">
      <dgm:prSet presAssocID="{1E30B87C-71EB-4AE4-8533-278FAB0F68F0}" presName="sp" presStyleCnt="0"/>
      <dgm:spPr/>
    </dgm:pt>
    <dgm:pt modelId="{0084E11B-335A-4DFF-93C9-DC684632AE97}" type="pres">
      <dgm:prSet presAssocID="{797316F2-BBCA-47EE-944C-C653FF42E557}" presName="composite" presStyleCnt="0"/>
      <dgm:spPr/>
    </dgm:pt>
    <dgm:pt modelId="{AA002702-39AD-4380-9E55-5993C13C4EBA}" type="pres">
      <dgm:prSet presAssocID="{797316F2-BBCA-47EE-944C-C653FF42E557}" presName="parentText" presStyleLbl="alignNode1" presStyleIdx="1" presStyleCnt="7">
        <dgm:presLayoutVars>
          <dgm:chMax val="1"/>
          <dgm:bulletEnabled val="1"/>
        </dgm:presLayoutVars>
      </dgm:prSet>
      <dgm:spPr/>
    </dgm:pt>
    <dgm:pt modelId="{BE672BC0-985B-478F-8DEF-84E40E131D19}" type="pres">
      <dgm:prSet presAssocID="{797316F2-BBCA-47EE-944C-C653FF42E557}" presName="descendantText" presStyleLbl="alignAcc1" presStyleIdx="1" presStyleCnt="7">
        <dgm:presLayoutVars>
          <dgm:bulletEnabled val="1"/>
        </dgm:presLayoutVars>
      </dgm:prSet>
      <dgm:spPr/>
    </dgm:pt>
    <dgm:pt modelId="{4913E9B5-8333-4E54-8ED9-1836F6D525FD}" type="pres">
      <dgm:prSet presAssocID="{95A5DBD8-AC79-4D71-9269-5AA43AB1704B}" presName="sp" presStyleCnt="0"/>
      <dgm:spPr/>
    </dgm:pt>
    <dgm:pt modelId="{92666E46-96C1-4C76-9970-A678D1CBEC64}" type="pres">
      <dgm:prSet presAssocID="{6BCBC474-2DE6-4437-BFE7-0965C6882207}" presName="composite" presStyleCnt="0"/>
      <dgm:spPr/>
    </dgm:pt>
    <dgm:pt modelId="{A772B94F-77CB-44E2-AF9B-5D9A5ACDCEDF}" type="pres">
      <dgm:prSet presAssocID="{6BCBC474-2DE6-4437-BFE7-0965C6882207}" presName="parentText" presStyleLbl="alignNode1" presStyleIdx="2" presStyleCnt="7">
        <dgm:presLayoutVars>
          <dgm:chMax val="1"/>
          <dgm:bulletEnabled val="1"/>
        </dgm:presLayoutVars>
      </dgm:prSet>
      <dgm:spPr/>
    </dgm:pt>
    <dgm:pt modelId="{ADFA3A44-C1E2-4229-B2AE-F17ADF854ADF}" type="pres">
      <dgm:prSet presAssocID="{6BCBC474-2DE6-4437-BFE7-0965C6882207}" presName="descendantText" presStyleLbl="alignAcc1" presStyleIdx="2" presStyleCnt="7">
        <dgm:presLayoutVars>
          <dgm:bulletEnabled val="1"/>
        </dgm:presLayoutVars>
      </dgm:prSet>
      <dgm:spPr/>
    </dgm:pt>
    <dgm:pt modelId="{3071434E-27C2-4ED3-B11A-B3DB2F10DF93}" type="pres">
      <dgm:prSet presAssocID="{CEB00538-F476-4793-A56B-0A52F591E857}" presName="sp" presStyleCnt="0"/>
      <dgm:spPr/>
    </dgm:pt>
    <dgm:pt modelId="{534019E5-DF33-418D-B7B0-12277802A814}" type="pres">
      <dgm:prSet presAssocID="{28DB289B-ECCE-435A-9088-AC346014FA4D}" presName="composite" presStyleCnt="0"/>
      <dgm:spPr/>
    </dgm:pt>
    <dgm:pt modelId="{85E34C10-5AC6-4A50-AD93-9FF4E441CC32}" type="pres">
      <dgm:prSet presAssocID="{28DB289B-ECCE-435A-9088-AC346014FA4D}" presName="parentText" presStyleLbl="alignNode1" presStyleIdx="3" presStyleCnt="7">
        <dgm:presLayoutVars>
          <dgm:chMax val="1"/>
          <dgm:bulletEnabled val="1"/>
        </dgm:presLayoutVars>
      </dgm:prSet>
      <dgm:spPr/>
    </dgm:pt>
    <dgm:pt modelId="{D503D8F5-6A20-46D8-8A60-CA628AE6D56D}" type="pres">
      <dgm:prSet presAssocID="{28DB289B-ECCE-435A-9088-AC346014FA4D}" presName="descendantText" presStyleLbl="alignAcc1" presStyleIdx="3" presStyleCnt="7">
        <dgm:presLayoutVars>
          <dgm:bulletEnabled val="1"/>
        </dgm:presLayoutVars>
      </dgm:prSet>
      <dgm:spPr/>
    </dgm:pt>
    <dgm:pt modelId="{B55B2C6A-0166-4419-9A7E-610DDE999696}" type="pres">
      <dgm:prSet presAssocID="{41D8F684-411D-4605-BA3A-6BE962D7BEB4}" presName="sp" presStyleCnt="0"/>
      <dgm:spPr/>
    </dgm:pt>
    <dgm:pt modelId="{AF80DF30-C140-4DF8-AAC9-210BCBB3B11F}" type="pres">
      <dgm:prSet presAssocID="{CD7C0F1D-CCA1-4541-A0C6-A02141097691}" presName="composite" presStyleCnt="0"/>
      <dgm:spPr/>
    </dgm:pt>
    <dgm:pt modelId="{BC649774-84A9-489F-AA91-45099C00F217}" type="pres">
      <dgm:prSet presAssocID="{CD7C0F1D-CCA1-4541-A0C6-A02141097691}" presName="parentText" presStyleLbl="alignNode1" presStyleIdx="4" presStyleCnt="7">
        <dgm:presLayoutVars>
          <dgm:chMax val="1"/>
          <dgm:bulletEnabled val="1"/>
        </dgm:presLayoutVars>
      </dgm:prSet>
      <dgm:spPr/>
    </dgm:pt>
    <dgm:pt modelId="{4192D254-2AD5-4E39-B8A0-FD28FE56D945}" type="pres">
      <dgm:prSet presAssocID="{CD7C0F1D-CCA1-4541-A0C6-A02141097691}" presName="descendantText" presStyleLbl="alignAcc1" presStyleIdx="4" presStyleCnt="7">
        <dgm:presLayoutVars>
          <dgm:bulletEnabled val="1"/>
        </dgm:presLayoutVars>
      </dgm:prSet>
      <dgm:spPr/>
    </dgm:pt>
    <dgm:pt modelId="{DA41947F-B275-4239-952D-BAF185D4E99F}" type="pres">
      <dgm:prSet presAssocID="{024D4412-B21F-4D67-8729-DC4086F1B382}" presName="sp" presStyleCnt="0"/>
      <dgm:spPr/>
    </dgm:pt>
    <dgm:pt modelId="{D89C51D4-9D2A-4297-B3A9-7D5325F7A73B}" type="pres">
      <dgm:prSet presAssocID="{70C61D2D-D431-47AD-8AD3-E571224FE86B}" presName="composite" presStyleCnt="0"/>
      <dgm:spPr/>
    </dgm:pt>
    <dgm:pt modelId="{B13629B8-CF71-4109-8C1B-B3BCC9DC8E5E}" type="pres">
      <dgm:prSet presAssocID="{70C61D2D-D431-47AD-8AD3-E571224FE86B}" presName="parentText" presStyleLbl="alignNode1" presStyleIdx="5" presStyleCnt="7">
        <dgm:presLayoutVars>
          <dgm:chMax val="1"/>
          <dgm:bulletEnabled val="1"/>
        </dgm:presLayoutVars>
      </dgm:prSet>
      <dgm:spPr/>
    </dgm:pt>
    <dgm:pt modelId="{993A4C76-AFC3-475E-8A56-A9EC292ABAB4}" type="pres">
      <dgm:prSet presAssocID="{70C61D2D-D431-47AD-8AD3-E571224FE86B}" presName="descendantText" presStyleLbl="alignAcc1" presStyleIdx="5" presStyleCnt="7">
        <dgm:presLayoutVars>
          <dgm:bulletEnabled val="1"/>
        </dgm:presLayoutVars>
      </dgm:prSet>
      <dgm:spPr/>
    </dgm:pt>
    <dgm:pt modelId="{E7E989A1-D4A4-4E4B-9143-369F4AC17430}" type="pres">
      <dgm:prSet presAssocID="{D745EF3A-6054-4956-8F8D-94988F761C70}" presName="sp" presStyleCnt="0"/>
      <dgm:spPr/>
    </dgm:pt>
    <dgm:pt modelId="{48C1058E-242E-4E74-8749-27140556FA6D}" type="pres">
      <dgm:prSet presAssocID="{D196AB3A-900E-4001-90D5-E06B718727AC}" presName="composite" presStyleCnt="0"/>
      <dgm:spPr/>
    </dgm:pt>
    <dgm:pt modelId="{F4B9DCDB-2AD3-45F4-932A-ABFC12849B18}" type="pres">
      <dgm:prSet presAssocID="{D196AB3A-900E-4001-90D5-E06B718727AC}" presName="parentText" presStyleLbl="alignNode1" presStyleIdx="6" presStyleCnt="7">
        <dgm:presLayoutVars>
          <dgm:chMax val="1"/>
          <dgm:bulletEnabled val="1"/>
        </dgm:presLayoutVars>
      </dgm:prSet>
      <dgm:spPr/>
    </dgm:pt>
    <dgm:pt modelId="{92BD618D-6730-4548-A3AC-8EAAF985506F}" type="pres">
      <dgm:prSet presAssocID="{D196AB3A-900E-4001-90D5-E06B718727AC}" presName="descendantText" presStyleLbl="alignAcc1" presStyleIdx="6" presStyleCnt="7">
        <dgm:presLayoutVars>
          <dgm:bulletEnabled val="1"/>
        </dgm:presLayoutVars>
      </dgm:prSet>
      <dgm:spPr/>
    </dgm:pt>
  </dgm:ptLst>
  <dgm:cxnLst>
    <dgm:cxn modelId="{0ED9BB01-A475-4922-AA0D-E711F12305CE}" srcId="{F6199DA6-0265-4B87-B450-8D5C266CD270}" destId="{28DB289B-ECCE-435A-9088-AC346014FA4D}" srcOrd="3" destOrd="0" parTransId="{70280566-8F3A-4313-BFB1-C6E21FFA758B}" sibTransId="{41D8F684-411D-4605-BA3A-6BE962D7BEB4}"/>
    <dgm:cxn modelId="{D0507704-73BE-43B4-B196-AED67FEF9748}" type="presOf" srcId="{F67AE347-E368-43F5-9901-DCBFFC2B137D}" destId="{ADFA3A44-C1E2-4229-B2AE-F17ADF854ADF}" srcOrd="0" destOrd="0" presId="urn:microsoft.com/office/officeart/2005/8/layout/chevron2"/>
    <dgm:cxn modelId="{B5A4BF11-2F97-4844-AD67-7576EF9F0D10}" type="presOf" srcId="{797316F2-BBCA-47EE-944C-C653FF42E557}" destId="{AA002702-39AD-4380-9E55-5993C13C4EBA}" srcOrd="0" destOrd="0" presId="urn:microsoft.com/office/officeart/2005/8/layout/chevron2"/>
    <dgm:cxn modelId="{2747DB11-8E12-4E43-9E9E-0AC7F764B1B2}" type="presOf" srcId="{28DB289B-ECCE-435A-9088-AC346014FA4D}" destId="{85E34C10-5AC6-4A50-AD93-9FF4E441CC32}" srcOrd="0" destOrd="0" presId="urn:microsoft.com/office/officeart/2005/8/layout/chevron2"/>
    <dgm:cxn modelId="{1BFE3823-5549-4A7F-BC8C-3B49F0F44B2C}" srcId="{F6199DA6-0265-4B87-B450-8D5C266CD270}" destId="{70C61D2D-D431-47AD-8AD3-E571224FE86B}" srcOrd="5" destOrd="0" parTransId="{B42EF70F-4DDA-42FF-A0B2-FFED1A3CEE9C}" sibTransId="{D745EF3A-6054-4956-8F8D-94988F761C70}"/>
    <dgm:cxn modelId="{9759DB27-E8BB-4C21-B887-D2A8A0134FFC}" type="presOf" srcId="{D196AB3A-900E-4001-90D5-E06B718727AC}" destId="{F4B9DCDB-2AD3-45F4-932A-ABFC12849B18}" srcOrd="0" destOrd="0" presId="urn:microsoft.com/office/officeart/2005/8/layout/chevron2"/>
    <dgm:cxn modelId="{3C356431-C5A7-40BD-B229-913F3053DDA2}" type="presOf" srcId="{F6199DA6-0265-4B87-B450-8D5C266CD270}" destId="{739A06E2-1405-4051-B8AB-134ED58B18E8}" srcOrd="0" destOrd="0" presId="urn:microsoft.com/office/officeart/2005/8/layout/chevron2"/>
    <dgm:cxn modelId="{D6360D41-26D3-495E-86CB-AF027ADD435E}" type="presOf" srcId="{0F169719-B007-4D19-ABA2-9A83142C3FF1}" destId="{D503D8F5-6A20-46D8-8A60-CA628AE6D56D}" srcOrd="0" destOrd="0" presId="urn:microsoft.com/office/officeart/2005/8/layout/chevron2"/>
    <dgm:cxn modelId="{33CE504E-4B5F-42F1-8DBB-BBA1CBBEAA5D}" type="presOf" srcId="{34BB78B6-8B63-4CC8-ABC4-415F331FEF7C}" destId="{92BD618D-6730-4548-A3AC-8EAAF985506F}" srcOrd="0" destOrd="0" presId="urn:microsoft.com/office/officeart/2005/8/layout/chevron2"/>
    <dgm:cxn modelId="{4C49A756-A89B-4679-B91A-92127A2EC0DB}" type="presOf" srcId="{626C0D11-46E0-46A3-BE83-C43029D0756F}" destId="{4192D254-2AD5-4E39-B8A0-FD28FE56D945}" srcOrd="0" destOrd="0" presId="urn:microsoft.com/office/officeart/2005/8/layout/chevron2"/>
    <dgm:cxn modelId="{EC6D6259-21A8-416D-97E0-EB98525A4CAD}" srcId="{B6E73687-51A2-4CBF-852D-BE2F25A9D12E}" destId="{F21041BF-734C-4B65-9632-C9B998C62158}" srcOrd="0" destOrd="0" parTransId="{E298798E-B5D3-4BCD-B1F2-92C14AF05CDD}" sibTransId="{262C1EB2-83CB-4060-9FEB-2EE52DFFF41D}"/>
    <dgm:cxn modelId="{1B736A7B-A0EC-4952-A071-D127F337E529}" type="presOf" srcId="{F21041BF-734C-4B65-9632-C9B998C62158}" destId="{23925B1A-E05F-46E2-A15F-20E3409D698A}" srcOrd="0" destOrd="0" presId="urn:microsoft.com/office/officeart/2005/8/layout/chevron2"/>
    <dgm:cxn modelId="{1A53A67C-4265-478D-ACD1-CA188D0497B2}" type="presOf" srcId="{CD7C0F1D-CCA1-4541-A0C6-A02141097691}" destId="{BC649774-84A9-489F-AA91-45099C00F217}" srcOrd="0" destOrd="0" presId="urn:microsoft.com/office/officeart/2005/8/layout/chevron2"/>
    <dgm:cxn modelId="{2B34BD7E-B296-4108-AD74-8DFD79DE007C}" srcId="{6BCBC474-2DE6-4437-BFE7-0965C6882207}" destId="{F67AE347-E368-43F5-9901-DCBFFC2B137D}" srcOrd="0" destOrd="0" parTransId="{E9D8F571-80D0-48E9-A1B4-12FFD37B41C4}" sibTransId="{4BBD4D6C-5D77-45A7-A2F9-03A80F44D045}"/>
    <dgm:cxn modelId="{3E2E5680-BD4F-4453-BA50-617AB12618E7}" srcId="{797316F2-BBCA-47EE-944C-C653FF42E557}" destId="{28768ABE-ABD4-403C-91C1-3B196FBE1263}" srcOrd="0" destOrd="0" parTransId="{D0871F90-68A0-46EE-8E2B-BAA037AAE9AC}" sibTransId="{7B82EF6E-E2D3-4DEF-9314-D6E4F416B0E3}"/>
    <dgm:cxn modelId="{F696078A-32FB-44B5-B07C-90B84110098E}" type="presOf" srcId="{70C61D2D-D431-47AD-8AD3-E571224FE86B}" destId="{B13629B8-CF71-4109-8C1B-B3BCC9DC8E5E}" srcOrd="0" destOrd="0" presId="urn:microsoft.com/office/officeart/2005/8/layout/chevron2"/>
    <dgm:cxn modelId="{835F948D-CFF0-4A8D-8D19-603EFDEFA8D0}" srcId="{70C61D2D-D431-47AD-8AD3-E571224FE86B}" destId="{D0B69129-BC4E-4516-86F2-99AEFA854594}" srcOrd="0" destOrd="0" parTransId="{A979C215-956A-43ED-B4CA-0F73F7FE2665}" sibTransId="{1C4F70CA-CAB6-4849-96D1-A73CB481A858}"/>
    <dgm:cxn modelId="{0DBD0B9D-811F-4787-B914-9010853A0693}" type="presOf" srcId="{6BCBC474-2DE6-4437-BFE7-0965C6882207}" destId="{A772B94F-77CB-44E2-AF9B-5D9A5ACDCEDF}" srcOrd="0" destOrd="0" presId="urn:microsoft.com/office/officeart/2005/8/layout/chevron2"/>
    <dgm:cxn modelId="{72A8DDAB-D689-4875-A50C-A79CEC55EA30}" srcId="{F6199DA6-0265-4B87-B450-8D5C266CD270}" destId="{D196AB3A-900E-4001-90D5-E06B718727AC}" srcOrd="6" destOrd="0" parTransId="{C0FC3527-9891-44A7-AFCA-47EB2A11F55C}" sibTransId="{E7912027-BB63-41F3-B070-12383BC7B894}"/>
    <dgm:cxn modelId="{370E72AF-0796-4F5D-BA13-75FF6352F03A}" srcId="{28DB289B-ECCE-435A-9088-AC346014FA4D}" destId="{0F169719-B007-4D19-ABA2-9A83142C3FF1}" srcOrd="0" destOrd="0" parTransId="{50BA9781-8A3E-46F9-8200-41BF6A0EC9D3}" sibTransId="{73112DD1-E962-4161-9E84-07D27957CD7D}"/>
    <dgm:cxn modelId="{71FB7DB1-862D-49CC-BB22-0B03CA6C3278}" type="presOf" srcId="{28768ABE-ABD4-403C-91C1-3B196FBE1263}" destId="{BE672BC0-985B-478F-8DEF-84E40E131D19}" srcOrd="0" destOrd="0" presId="urn:microsoft.com/office/officeart/2005/8/layout/chevron2"/>
    <dgm:cxn modelId="{CAF6F3B1-62BC-4CBC-897E-CE11FE06E1C2}" type="presOf" srcId="{D0B69129-BC4E-4516-86F2-99AEFA854594}" destId="{993A4C76-AFC3-475E-8A56-A9EC292ABAB4}" srcOrd="0" destOrd="0" presId="urn:microsoft.com/office/officeart/2005/8/layout/chevron2"/>
    <dgm:cxn modelId="{6419B5C6-C56B-4675-A23C-555D25BD39AD}" srcId="{F6199DA6-0265-4B87-B450-8D5C266CD270}" destId="{6BCBC474-2DE6-4437-BFE7-0965C6882207}" srcOrd="2" destOrd="0" parTransId="{2A195CDD-448C-41E7-BD45-DEDA37A1A2E4}" sibTransId="{CEB00538-F476-4793-A56B-0A52F591E857}"/>
    <dgm:cxn modelId="{F2694DC8-5E6D-4DC4-BF30-4C614131FA50}" srcId="{F6199DA6-0265-4B87-B450-8D5C266CD270}" destId="{CD7C0F1D-CCA1-4541-A0C6-A02141097691}" srcOrd="4" destOrd="0" parTransId="{3D144043-AE6B-463F-98CD-E7AC0AACAE39}" sibTransId="{024D4412-B21F-4D67-8729-DC4086F1B382}"/>
    <dgm:cxn modelId="{C697AAD0-6036-4C59-9852-9D7ED5266346}" srcId="{D196AB3A-900E-4001-90D5-E06B718727AC}" destId="{34BB78B6-8B63-4CC8-ABC4-415F331FEF7C}" srcOrd="0" destOrd="0" parTransId="{5D3CAB5D-5669-42DD-A0D3-53AF4B04CC21}" sibTransId="{03B31898-D5F9-4E49-AC84-BF4BD7CD6C88}"/>
    <dgm:cxn modelId="{50CFFAD6-46AD-4E2C-9C51-E74887DF4182}" type="presOf" srcId="{B6E73687-51A2-4CBF-852D-BE2F25A9D12E}" destId="{7B2E78B0-9569-4906-B749-211419AC0081}" srcOrd="0" destOrd="0" presId="urn:microsoft.com/office/officeart/2005/8/layout/chevron2"/>
    <dgm:cxn modelId="{1980BFDB-EE3C-45A0-AFEE-C95EC27A35D6}" srcId="{F6199DA6-0265-4B87-B450-8D5C266CD270}" destId="{797316F2-BBCA-47EE-944C-C653FF42E557}" srcOrd="1" destOrd="0" parTransId="{6DAEE7D9-3C3A-4BBE-BBFC-3D6037FB75E5}" sibTransId="{95A5DBD8-AC79-4D71-9269-5AA43AB1704B}"/>
    <dgm:cxn modelId="{D4D4D4ED-64AD-4399-8B9D-0C4F2B5025CD}" srcId="{F6199DA6-0265-4B87-B450-8D5C266CD270}" destId="{B6E73687-51A2-4CBF-852D-BE2F25A9D12E}" srcOrd="0" destOrd="0" parTransId="{D1D6C82D-4D76-41B6-A12D-ABB60FFAB2C4}" sibTransId="{1E30B87C-71EB-4AE4-8533-278FAB0F68F0}"/>
    <dgm:cxn modelId="{7EB8F2F6-D3F4-4A82-83A9-6EF7231283A7}" srcId="{CD7C0F1D-CCA1-4541-A0C6-A02141097691}" destId="{626C0D11-46E0-46A3-BE83-C43029D0756F}" srcOrd="0" destOrd="0" parTransId="{6D7897F2-6F50-47C8-B5FE-04A8F5338CB8}" sibTransId="{3A2F696D-6E93-4519-A0AB-40B7F284EEA2}"/>
    <dgm:cxn modelId="{9E6909C0-F44C-4B8D-A3C6-70711971229E}" type="presParOf" srcId="{739A06E2-1405-4051-B8AB-134ED58B18E8}" destId="{B0B391E8-B066-4C7B-ACEB-9821A6A74261}" srcOrd="0" destOrd="0" presId="urn:microsoft.com/office/officeart/2005/8/layout/chevron2"/>
    <dgm:cxn modelId="{CC145E01-37EA-465D-A153-C4EF7050747E}" type="presParOf" srcId="{B0B391E8-B066-4C7B-ACEB-9821A6A74261}" destId="{7B2E78B0-9569-4906-B749-211419AC0081}" srcOrd="0" destOrd="0" presId="urn:microsoft.com/office/officeart/2005/8/layout/chevron2"/>
    <dgm:cxn modelId="{6DEA6EF8-D9BB-4F84-917C-B32BEF93F400}" type="presParOf" srcId="{B0B391E8-B066-4C7B-ACEB-9821A6A74261}" destId="{23925B1A-E05F-46E2-A15F-20E3409D698A}" srcOrd="1" destOrd="0" presId="urn:microsoft.com/office/officeart/2005/8/layout/chevron2"/>
    <dgm:cxn modelId="{70387A86-163A-4210-BCE0-9206705538C8}" type="presParOf" srcId="{739A06E2-1405-4051-B8AB-134ED58B18E8}" destId="{E43C1393-207E-446A-84D7-54387EB8F89C}" srcOrd="1" destOrd="0" presId="urn:microsoft.com/office/officeart/2005/8/layout/chevron2"/>
    <dgm:cxn modelId="{A691FC68-EEF0-45D3-A90A-1C4ED7D85031}" type="presParOf" srcId="{739A06E2-1405-4051-B8AB-134ED58B18E8}" destId="{0084E11B-335A-4DFF-93C9-DC684632AE97}" srcOrd="2" destOrd="0" presId="urn:microsoft.com/office/officeart/2005/8/layout/chevron2"/>
    <dgm:cxn modelId="{ED019E43-79D5-43BC-B04B-F240369DB420}" type="presParOf" srcId="{0084E11B-335A-4DFF-93C9-DC684632AE97}" destId="{AA002702-39AD-4380-9E55-5993C13C4EBA}" srcOrd="0" destOrd="0" presId="urn:microsoft.com/office/officeart/2005/8/layout/chevron2"/>
    <dgm:cxn modelId="{BB2F1E47-E344-4704-8971-4679D2076097}" type="presParOf" srcId="{0084E11B-335A-4DFF-93C9-DC684632AE97}" destId="{BE672BC0-985B-478F-8DEF-84E40E131D19}" srcOrd="1" destOrd="0" presId="urn:microsoft.com/office/officeart/2005/8/layout/chevron2"/>
    <dgm:cxn modelId="{56E82B77-A0C1-4BE9-AA7C-05DF82218A9D}" type="presParOf" srcId="{739A06E2-1405-4051-B8AB-134ED58B18E8}" destId="{4913E9B5-8333-4E54-8ED9-1836F6D525FD}" srcOrd="3" destOrd="0" presId="urn:microsoft.com/office/officeart/2005/8/layout/chevron2"/>
    <dgm:cxn modelId="{BD619D38-1083-4A1F-A050-0DE00B37BA33}" type="presParOf" srcId="{739A06E2-1405-4051-B8AB-134ED58B18E8}" destId="{92666E46-96C1-4C76-9970-A678D1CBEC64}" srcOrd="4" destOrd="0" presId="urn:microsoft.com/office/officeart/2005/8/layout/chevron2"/>
    <dgm:cxn modelId="{B8D83583-D902-4D85-A225-01D775E28FE7}" type="presParOf" srcId="{92666E46-96C1-4C76-9970-A678D1CBEC64}" destId="{A772B94F-77CB-44E2-AF9B-5D9A5ACDCEDF}" srcOrd="0" destOrd="0" presId="urn:microsoft.com/office/officeart/2005/8/layout/chevron2"/>
    <dgm:cxn modelId="{521EA494-7E15-4C28-A83A-1A80D4CBF1A8}" type="presParOf" srcId="{92666E46-96C1-4C76-9970-A678D1CBEC64}" destId="{ADFA3A44-C1E2-4229-B2AE-F17ADF854ADF}" srcOrd="1" destOrd="0" presId="urn:microsoft.com/office/officeart/2005/8/layout/chevron2"/>
    <dgm:cxn modelId="{E184007A-BDCC-4981-8786-437ABFD8B3FC}" type="presParOf" srcId="{739A06E2-1405-4051-B8AB-134ED58B18E8}" destId="{3071434E-27C2-4ED3-B11A-B3DB2F10DF93}" srcOrd="5" destOrd="0" presId="urn:microsoft.com/office/officeart/2005/8/layout/chevron2"/>
    <dgm:cxn modelId="{1E718F7E-1C0E-4C76-B3E1-67B3C6609F59}" type="presParOf" srcId="{739A06E2-1405-4051-B8AB-134ED58B18E8}" destId="{534019E5-DF33-418D-B7B0-12277802A814}" srcOrd="6" destOrd="0" presId="urn:microsoft.com/office/officeart/2005/8/layout/chevron2"/>
    <dgm:cxn modelId="{79444EC3-BC67-4688-85B8-7A9F2E8AA1E3}" type="presParOf" srcId="{534019E5-DF33-418D-B7B0-12277802A814}" destId="{85E34C10-5AC6-4A50-AD93-9FF4E441CC32}" srcOrd="0" destOrd="0" presId="urn:microsoft.com/office/officeart/2005/8/layout/chevron2"/>
    <dgm:cxn modelId="{7D982ED6-8B56-41A2-8685-777079A39CD6}" type="presParOf" srcId="{534019E5-DF33-418D-B7B0-12277802A814}" destId="{D503D8F5-6A20-46D8-8A60-CA628AE6D56D}" srcOrd="1" destOrd="0" presId="urn:microsoft.com/office/officeart/2005/8/layout/chevron2"/>
    <dgm:cxn modelId="{98B516C8-215A-40C3-83BD-98B2A7DDB292}" type="presParOf" srcId="{739A06E2-1405-4051-B8AB-134ED58B18E8}" destId="{B55B2C6A-0166-4419-9A7E-610DDE999696}" srcOrd="7" destOrd="0" presId="urn:microsoft.com/office/officeart/2005/8/layout/chevron2"/>
    <dgm:cxn modelId="{84BEB1A4-BD5F-47EB-AA40-CC4B6B460C7F}" type="presParOf" srcId="{739A06E2-1405-4051-B8AB-134ED58B18E8}" destId="{AF80DF30-C140-4DF8-AAC9-210BCBB3B11F}" srcOrd="8" destOrd="0" presId="urn:microsoft.com/office/officeart/2005/8/layout/chevron2"/>
    <dgm:cxn modelId="{3CAE0D8D-EE6A-4A43-9309-C07D6994BB79}" type="presParOf" srcId="{AF80DF30-C140-4DF8-AAC9-210BCBB3B11F}" destId="{BC649774-84A9-489F-AA91-45099C00F217}" srcOrd="0" destOrd="0" presId="urn:microsoft.com/office/officeart/2005/8/layout/chevron2"/>
    <dgm:cxn modelId="{9651CCC0-77A8-45CB-AC0B-49D3A8A7F326}" type="presParOf" srcId="{AF80DF30-C140-4DF8-AAC9-210BCBB3B11F}" destId="{4192D254-2AD5-4E39-B8A0-FD28FE56D945}" srcOrd="1" destOrd="0" presId="urn:microsoft.com/office/officeart/2005/8/layout/chevron2"/>
    <dgm:cxn modelId="{D180BF6E-78E1-46AA-BCE1-BB7FEE7332AE}" type="presParOf" srcId="{739A06E2-1405-4051-B8AB-134ED58B18E8}" destId="{DA41947F-B275-4239-952D-BAF185D4E99F}" srcOrd="9" destOrd="0" presId="urn:microsoft.com/office/officeart/2005/8/layout/chevron2"/>
    <dgm:cxn modelId="{0460F496-9ADA-4102-870A-20C2FBCD8ADA}" type="presParOf" srcId="{739A06E2-1405-4051-B8AB-134ED58B18E8}" destId="{D89C51D4-9D2A-4297-B3A9-7D5325F7A73B}" srcOrd="10" destOrd="0" presId="urn:microsoft.com/office/officeart/2005/8/layout/chevron2"/>
    <dgm:cxn modelId="{2051A399-34A0-4A04-AE24-F219836EAC2F}" type="presParOf" srcId="{D89C51D4-9D2A-4297-B3A9-7D5325F7A73B}" destId="{B13629B8-CF71-4109-8C1B-B3BCC9DC8E5E}" srcOrd="0" destOrd="0" presId="urn:microsoft.com/office/officeart/2005/8/layout/chevron2"/>
    <dgm:cxn modelId="{EE642513-7480-41C3-A4F6-7BAB03DFD1F0}" type="presParOf" srcId="{D89C51D4-9D2A-4297-B3A9-7D5325F7A73B}" destId="{993A4C76-AFC3-475E-8A56-A9EC292ABAB4}" srcOrd="1" destOrd="0" presId="urn:microsoft.com/office/officeart/2005/8/layout/chevron2"/>
    <dgm:cxn modelId="{3C15321E-3282-4204-AEDB-E37941C6EB30}" type="presParOf" srcId="{739A06E2-1405-4051-B8AB-134ED58B18E8}" destId="{E7E989A1-D4A4-4E4B-9143-369F4AC17430}" srcOrd="11" destOrd="0" presId="urn:microsoft.com/office/officeart/2005/8/layout/chevron2"/>
    <dgm:cxn modelId="{C42A6995-E259-43A5-89CA-F7BFF9D2C613}" type="presParOf" srcId="{739A06E2-1405-4051-B8AB-134ED58B18E8}" destId="{48C1058E-242E-4E74-8749-27140556FA6D}" srcOrd="12" destOrd="0" presId="urn:microsoft.com/office/officeart/2005/8/layout/chevron2"/>
    <dgm:cxn modelId="{1182D370-CABF-4060-985C-49D7A08A3FFA}" type="presParOf" srcId="{48C1058E-242E-4E74-8749-27140556FA6D}" destId="{F4B9DCDB-2AD3-45F4-932A-ABFC12849B18}" srcOrd="0" destOrd="0" presId="urn:microsoft.com/office/officeart/2005/8/layout/chevron2"/>
    <dgm:cxn modelId="{5121A5CF-C1EB-4CEA-9849-76055E8B1AA1}" type="presParOf" srcId="{48C1058E-242E-4E74-8749-27140556FA6D}" destId="{92BD618D-6730-4548-A3AC-8EAAF985506F}" srcOrd="1" destOrd="0" presId="urn:microsoft.com/office/officeart/2005/8/layout/chevron2"/>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C8F29645-219C-44FA-9EEC-DAD3BC7485B0}" type="doc">
      <dgm:prSet loTypeId="urn:microsoft.com/office/officeart/2005/8/layout/process1" loCatId="process" qsTypeId="urn:microsoft.com/office/officeart/2005/8/quickstyle/simple1" qsCatId="simple" csTypeId="urn:microsoft.com/office/officeart/2005/8/colors/accent0_3" csCatId="mainScheme" phldr="1"/>
      <dgm:spPr/>
    </dgm:pt>
    <dgm:pt modelId="{D88ED731-D607-4AF7-B40B-A9BD6023B1B6}" type="pres">
      <dgm:prSet presAssocID="{C8F29645-219C-44FA-9EEC-DAD3BC7485B0}" presName="Name0" presStyleCnt="0">
        <dgm:presLayoutVars>
          <dgm:dir/>
          <dgm:resizeHandles val="exact"/>
        </dgm:presLayoutVars>
      </dgm:prSet>
      <dgm:spPr/>
    </dgm:pt>
  </dgm:ptLst>
  <dgm:cxnLst>
    <dgm:cxn modelId="{F46283AF-8A6F-4DE2-80AD-1FA999083017}" type="presOf" srcId="{C8F29645-219C-44FA-9EEC-DAD3BC7485B0}" destId="{D88ED731-D607-4AF7-B40B-A9BD6023B1B6}" srcOrd="0"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9AEDFF44-9DC0-4E96-8310-2AA5D6543CEE}" type="doc">
      <dgm:prSet loTypeId="urn:microsoft.com/office/officeart/2011/layout/HexagonRadial" loCatId="cycle" qsTypeId="urn:microsoft.com/office/officeart/2005/8/quickstyle/3d2" qsCatId="3D" csTypeId="urn:microsoft.com/office/officeart/2005/8/colors/accent0_3" csCatId="mainScheme" phldr="1"/>
      <dgm:spPr/>
      <dgm:t>
        <a:bodyPr/>
        <a:lstStyle/>
        <a:p>
          <a:endParaRPr lang="de-CH"/>
        </a:p>
      </dgm:t>
    </dgm:pt>
    <dgm:pt modelId="{3E33D2A2-D2CF-49BC-973F-28866512959B}">
      <dgm:prSet phldrT="[Text]" custT="1"/>
      <dgm:spPr>
        <a:noFill/>
        <a:ln>
          <a:solidFill>
            <a:srgbClr val="FFFF00"/>
          </a:solidFill>
        </a:ln>
      </dgm:spPr>
      <dgm:t>
        <a:bodyPr/>
        <a:lstStyle/>
        <a:p>
          <a:endParaRPr lang="en-IN" sz="1200" b="0">
            <a:solidFill>
              <a:schemeClr val="bg2"/>
            </a:solidFill>
            <a:latin typeface="EY interstate"/>
          </a:endParaRPr>
        </a:p>
        <a:p>
          <a:r>
            <a:rPr lang="en-IN" sz="1400" b="1">
              <a:solidFill>
                <a:schemeClr val="bg1"/>
              </a:solidFill>
              <a:latin typeface="EY interstate"/>
            </a:rPr>
            <a:t>IC Journal Logic</a:t>
          </a:r>
          <a:endParaRPr lang="de-CH" sz="1400" b="1">
            <a:solidFill>
              <a:schemeClr val="bg1"/>
            </a:solidFill>
            <a:latin typeface="EY interstate"/>
          </a:endParaRPr>
        </a:p>
      </dgm:t>
    </dgm:pt>
    <dgm:pt modelId="{E864D731-ECB2-4BCD-A726-111D549B7E77}" type="parTrans" cxnId="{A53E06FB-F0AE-468A-851B-963923ECB52A}">
      <dgm:prSet/>
      <dgm:spPr/>
      <dgm:t>
        <a:bodyPr/>
        <a:lstStyle/>
        <a:p>
          <a:endParaRPr lang="de-CH"/>
        </a:p>
      </dgm:t>
    </dgm:pt>
    <dgm:pt modelId="{09BD9E0C-4CFC-4B8E-857A-1A1A53454D13}" type="sibTrans" cxnId="{A53E06FB-F0AE-468A-851B-963923ECB52A}">
      <dgm:prSet/>
      <dgm:spPr/>
      <dgm:t>
        <a:bodyPr/>
        <a:lstStyle/>
        <a:p>
          <a:endParaRPr lang="de-CH"/>
        </a:p>
      </dgm:t>
    </dgm:pt>
    <dgm:pt modelId="{57E1B9EC-9073-4FCA-8584-502C415491B0}">
      <dgm:prSet phldrT="[Text]" custT="1"/>
      <dgm:spPr>
        <a:solidFill>
          <a:srgbClr val="FFFF00"/>
        </a:solidFill>
        <a:ln>
          <a:solidFill>
            <a:schemeClr val="bg2"/>
          </a:solidFill>
        </a:ln>
      </dgm:spPr>
      <dgm:t>
        <a:bodyPr/>
        <a:lstStyle/>
        <a:p>
          <a:r>
            <a:rPr lang="en-US" sz="1200" b="1" noProof="0">
              <a:solidFill>
                <a:schemeClr val="bg2"/>
              </a:solidFill>
              <a:latin typeface="EY interstate"/>
            </a:rPr>
            <a:t>Trigger/Event</a:t>
          </a:r>
        </a:p>
      </dgm:t>
    </dgm:pt>
    <dgm:pt modelId="{63437EC5-C67F-4037-B863-F1F2B65D12DD}" type="parTrans" cxnId="{43267089-85B7-4CCF-BEBF-13964FCB76D8}">
      <dgm:prSet/>
      <dgm:spPr/>
      <dgm:t>
        <a:bodyPr/>
        <a:lstStyle/>
        <a:p>
          <a:endParaRPr lang="de-CH"/>
        </a:p>
      </dgm:t>
    </dgm:pt>
    <dgm:pt modelId="{4EF8EFC0-EBA3-449A-8E52-173EB70D1F42}" type="sibTrans" cxnId="{43267089-85B7-4CCF-BEBF-13964FCB76D8}">
      <dgm:prSet/>
      <dgm:spPr/>
      <dgm:t>
        <a:bodyPr/>
        <a:lstStyle/>
        <a:p>
          <a:endParaRPr lang="de-CH"/>
        </a:p>
      </dgm:t>
    </dgm:pt>
    <dgm:pt modelId="{935CB945-B5A1-4503-9B0F-B310FE0A2246}">
      <dgm:prSet phldrT="[Text]" custT="1"/>
      <dgm:spPr>
        <a:solidFill>
          <a:srgbClr val="FFFF00"/>
        </a:solidFill>
        <a:ln>
          <a:solidFill>
            <a:schemeClr val="bg2"/>
          </a:solidFill>
        </a:ln>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US" sz="1200" b="1" kern="1200" noProof="0">
              <a:solidFill>
                <a:schemeClr val="bg2"/>
              </a:solidFill>
              <a:latin typeface="EY interstate"/>
              <a:ea typeface="+mn-ea"/>
              <a:cs typeface="+mn-cs"/>
            </a:rPr>
            <a:t>Transaction type</a:t>
          </a:r>
        </a:p>
      </dgm:t>
    </dgm:pt>
    <dgm:pt modelId="{5EEF8973-B7B1-4454-8C03-A3A37ABBC907}" type="parTrans" cxnId="{5BA585CE-1ACB-417C-BD93-A22BA631B73F}">
      <dgm:prSet/>
      <dgm:spPr/>
      <dgm:t>
        <a:bodyPr/>
        <a:lstStyle/>
        <a:p>
          <a:endParaRPr lang="de-CH"/>
        </a:p>
      </dgm:t>
    </dgm:pt>
    <dgm:pt modelId="{F49386FF-3F80-4723-B115-2513CC808B57}" type="sibTrans" cxnId="{5BA585CE-1ACB-417C-BD93-A22BA631B73F}">
      <dgm:prSet/>
      <dgm:spPr/>
      <dgm:t>
        <a:bodyPr/>
        <a:lstStyle/>
        <a:p>
          <a:endParaRPr lang="de-CH"/>
        </a:p>
      </dgm:t>
    </dgm:pt>
    <dgm:pt modelId="{5D009C94-21DB-49FE-8CEA-8FBCF7656CC0}">
      <dgm:prSet phldrT="[Text]" custT="1"/>
      <dgm:spPr>
        <a:solidFill>
          <a:srgbClr val="FFFF00"/>
        </a:solidFill>
        <a:ln>
          <a:solidFill>
            <a:schemeClr val="bg2"/>
          </a:solidFill>
        </a:ln>
      </dgm:spPr>
      <dgm:t>
        <a:bodyPr spcFirstLastPara="0" vert="horz" wrap="square" lIns="19050" tIns="19050" rIns="19050" bIns="19050" numCol="1" spcCol="1270" anchor="ctr" anchorCtr="0"/>
        <a:lstStyle/>
        <a:p>
          <a:r>
            <a:rPr lang="en-US" sz="1200" b="1" kern="1200" noProof="0">
              <a:solidFill>
                <a:schemeClr val="bg2"/>
              </a:solidFill>
              <a:latin typeface="EY interstate"/>
              <a:ea typeface="+mn-ea"/>
              <a:cs typeface="+mn-cs"/>
            </a:rPr>
            <a:t>Source Entity &amp; Counterparty</a:t>
          </a:r>
        </a:p>
      </dgm:t>
    </dgm:pt>
    <dgm:pt modelId="{B2CC0DEE-A892-4285-AF2F-657B34716910}" type="parTrans" cxnId="{1A789E17-5E1C-459C-81BA-5097DA69A5E4}">
      <dgm:prSet/>
      <dgm:spPr/>
      <dgm:t>
        <a:bodyPr/>
        <a:lstStyle/>
        <a:p>
          <a:endParaRPr lang="de-CH"/>
        </a:p>
      </dgm:t>
    </dgm:pt>
    <dgm:pt modelId="{2A0C8698-0203-4E77-807E-10BDDB0C5AA3}" type="sibTrans" cxnId="{1A789E17-5E1C-459C-81BA-5097DA69A5E4}">
      <dgm:prSet/>
      <dgm:spPr/>
      <dgm:t>
        <a:bodyPr/>
        <a:lstStyle/>
        <a:p>
          <a:endParaRPr lang="de-CH"/>
        </a:p>
      </dgm:t>
    </dgm:pt>
    <dgm:pt modelId="{B7D910AA-F331-4C17-82CC-D9558A884F9A}">
      <dgm:prSet phldrT="[Text]" custT="1"/>
      <dgm:spPr>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IN" sz="1200" b="1" kern="1200" noProof="0">
              <a:solidFill>
                <a:schemeClr val="bg2"/>
              </a:solidFill>
              <a:latin typeface="EY interstate"/>
              <a:ea typeface="+mn-ea"/>
              <a:cs typeface="+mn-cs"/>
            </a:rPr>
            <a:t>Account Mapping</a:t>
          </a:r>
          <a:endParaRPr lang="en-US" sz="1200" b="1" kern="1200" noProof="0">
            <a:solidFill>
              <a:schemeClr val="bg2"/>
            </a:solidFill>
            <a:latin typeface="EY interstate"/>
            <a:ea typeface="+mn-ea"/>
            <a:cs typeface="+mn-cs"/>
          </a:endParaRPr>
        </a:p>
      </dgm:t>
    </dgm:pt>
    <dgm:pt modelId="{ECFA820E-A2C9-4D97-86DE-604938411510}" type="parTrans" cxnId="{29A82BBA-27F4-4C8B-9EB6-C989376D2F92}">
      <dgm:prSet/>
      <dgm:spPr/>
      <dgm:t>
        <a:bodyPr/>
        <a:lstStyle/>
        <a:p>
          <a:endParaRPr lang="de-CH"/>
        </a:p>
      </dgm:t>
    </dgm:pt>
    <dgm:pt modelId="{FCEA129A-0170-4E36-9D2D-CA5E800751C1}" type="sibTrans" cxnId="{29A82BBA-27F4-4C8B-9EB6-C989376D2F92}">
      <dgm:prSet/>
      <dgm:spPr/>
      <dgm:t>
        <a:bodyPr/>
        <a:lstStyle/>
        <a:p>
          <a:endParaRPr lang="de-CH"/>
        </a:p>
      </dgm:t>
    </dgm:pt>
    <dgm:pt modelId="{CA1E5151-CC35-42EC-963A-967138E8D76B}">
      <dgm:prSet phldrT="[Text]" custT="1"/>
      <dgm:spPr>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US" sz="1200" b="1" kern="1200" noProof="0">
              <a:solidFill>
                <a:schemeClr val="bg2"/>
              </a:solidFill>
              <a:latin typeface="EY interstate"/>
              <a:ea typeface="+mn-ea"/>
              <a:cs typeface="+mn-cs"/>
            </a:rPr>
            <a:t>Amount &amp; Currency Logic</a:t>
          </a:r>
        </a:p>
      </dgm:t>
    </dgm:pt>
    <dgm:pt modelId="{8024E010-FB5A-44A8-9B39-ED1195B170A3}" type="parTrans" cxnId="{44020ACD-AC7C-4EF5-9863-706FA573B1F7}">
      <dgm:prSet/>
      <dgm:spPr/>
      <dgm:t>
        <a:bodyPr/>
        <a:lstStyle/>
        <a:p>
          <a:endParaRPr lang="de-CH"/>
        </a:p>
      </dgm:t>
    </dgm:pt>
    <dgm:pt modelId="{72A2999A-6F46-41EE-9E0A-7BE1F40C54F7}" type="sibTrans" cxnId="{44020ACD-AC7C-4EF5-9863-706FA573B1F7}">
      <dgm:prSet/>
      <dgm:spPr/>
      <dgm:t>
        <a:bodyPr/>
        <a:lstStyle/>
        <a:p>
          <a:endParaRPr lang="de-CH"/>
        </a:p>
      </dgm:t>
    </dgm:pt>
    <dgm:pt modelId="{0C6E5648-3F80-4405-AF0D-0602531FA4B4}">
      <dgm:prSet phldrT="[Text]" custT="1"/>
      <dgm:spPr>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US" sz="1200" b="1" kern="1200" noProof="0">
              <a:solidFill>
                <a:schemeClr val="bg2"/>
              </a:solidFill>
              <a:latin typeface="EY interstate"/>
              <a:ea typeface="+mn-ea"/>
              <a:cs typeface="+mn-cs"/>
            </a:rPr>
            <a:t>Validation &amp; Approval</a:t>
          </a:r>
        </a:p>
        <a:p>
          <a:pPr marL="0" lvl="0" indent="0" algn="ctr" defTabSz="666750">
            <a:lnSpc>
              <a:spcPct val="90000"/>
            </a:lnSpc>
            <a:spcBef>
              <a:spcPct val="0"/>
            </a:spcBef>
            <a:spcAft>
              <a:spcPct val="35000"/>
            </a:spcAft>
            <a:buNone/>
          </a:pPr>
          <a:endParaRPr lang="en-US" sz="1200" b="1" kern="1200" noProof="0">
            <a:solidFill>
              <a:schemeClr val="bg2"/>
            </a:solidFill>
            <a:latin typeface="EY interstate"/>
            <a:ea typeface="+mn-ea"/>
            <a:cs typeface="+mn-cs"/>
          </a:endParaRPr>
        </a:p>
      </dgm:t>
    </dgm:pt>
    <dgm:pt modelId="{3FAE77AC-9036-4CC5-9839-49FBB79D2E79}" type="parTrans" cxnId="{77752647-2657-4371-AD88-0EFE8E5ACAD6}">
      <dgm:prSet/>
      <dgm:spPr/>
      <dgm:t>
        <a:bodyPr/>
        <a:lstStyle/>
        <a:p>
          <a:endParaRPr lang="de-CH"/>
        </a:p>
      </dgm:t>
    </dgm:pt>
    <dgm:pt modelId="{1F3DF00F-4879-44E7-9C3D-14F407DC58FB}" type="sibTrans" cxnId="{77752647-2657-4371-AD88-0EFE8E5ACAD6}">
      <dgm:prSet/>
      <dgm:spPr/>
      <dgm:t>
        <a:bodyPr/>
        <a:lstStyle/>
        <a:p>
          <a:endParaRPr lang="de-CH"/>
        </a:p>
      </dgm:t>
    </dgm:pt>
    <dgm:pt modelId="{D419F87E-9812-4AE7-8445-C8D945854420}" type="pres">
      <dgm:prSet presAssocID="{9AEDFF44-9DC0-4E96-8310-2AA5D6543CEE}" presName="Name0" presStyleCnt="0">
        <dgm:presLayoutVars>
          <dgm:chMax val="1"/>
          <dgm:chPref val="1"/>
          <dgm:dir/>
          <dgm:animOne val="branch"/>
          <dgm:animLvl val="lvl"/>
        </dgm:presLayoutVars>
      </dgm:prSet>
      <dgm:spPr/>
    </dgm:pt>
    <dgm:pt modelId="{BF562C0E-CB97-4B5A-9145-235B96EBFBA6}" type="pres">
      <dgm:prSet presAssocID="{3E33D2A2-D2CF-49BC-973F-28866512959B}" presName="Parent" presStyleLbl="node0" presStyleIdx="0" presStyleCnt="1">
        <dgm:presLayoutVars>
          <dgm:chMax val="6"/>
          <dgm:chPref val="6"/>
        </dgm:presLayoutVars>
      </dgm:prSet>
      <dgm:spPr/>
    </dgm:pt>
    <dgm:pt modelId="{D904D307-709F-4D25-92F8-03EA1B0B3D52}" type="pres">
      <dgm:prSet presAssocID="{57E1B9EC-9073-4FCA-8584-502C415491B0}" presName="Accent1" presStyleCnt="0"/>
      <dgm:spPr/>
    </dgm:pt>
    <dgm:pt modelId="{A2DB611A-F7D6-45E1-9C1B-09627628951F}" type="pres">
      <dgm:prSet presAssocID="{57E1B9EC-9073-4FCA-8584-502C415491B0}" presName="Accent" presStyleLbl="bgShp" presStyleIdx="0" presStyleCnt="6"/>
      <dgm:spPr/>
    </dgm:pt>
    <dgm:pt modelId="{0272B16A-CA34-4D82-B445-CC9E5A5275D3}" type="pres">
      <dgm:prSet presAssocID="{57E1B9EC-9073-4FCA-8584-502C415491B0}" presName="Child1" presStyleLbl="node1" presStyleIdx="0" presStyleCnt="6">
        <dgm:presLayoutVars>
          <dgm:chMax val="0"/>
          <dgm:chPref val="0"/>
          <dgm:bulletEnabled val="1"/>
        </dgm:presLayoutVars>
      </dgm:prSet>
      <dgm:spPr/>
    </dgm:pt>
    <dgm:pt modelId="{B72603FC-725C-4995-9707-19DA9B5CC859}" type="pres">
      <dgm:prSet presAssocID="{935CB945-B5A1-4503-9B0F-B310FE0A2246}" presName="Accent2" presStyleCnt="0"/>
      <dgm:spPr/>
    </dgm:pt>
    <dgm:pt modelId="{BE608403-349E-4081-B2CB-596E47F9DD3B}" type="pres">
      <dgm:prSet presAssocID="{935CB945-B5A1-4503-9B0F-B310FE0A2246}" presName="Accent" presStyleLbl="bgShp" presStyleIdx="1" presStyleCnt="6"/>
      <dgm:spPr>
        <a:solidFill>
          <a:schemeClr val="bg1"/>
        </a:solidFill>
      </dgm:spPr>
    </dgm:pt>
    <dgm:pt modelId="{D9C2CAEE-1229-46A1-9DEB-E20178AFB1D3}" type="pres">
      <dgm:prSet presAssocID="{935CB945-B5A1-4503-9B0F-B310FE0A2246}" presName="Child2" presStyleLbl="node1" presStyleIdx="1" presStyleCnt="6">
        <dgm:presLayoutVars>
          <dgm:chMax val="0"/>
          <dgm:chPref val="0"/>
          <dgm:bulletEnabled val="1"/>
        </dgm:presLayoutVars>
      </dgm:prSet>
      <dgm:spPr/>
    </dgm:pt>
    <dgm:pt modelId="{8D9D1EBA-7013-4FEA-8B16-4DBFED69CF99}" type="pres">
      <dgm:prSet presAssocID="{5D009C94-21DB-49FE-8CEA-8FBCF7656CC0}" presName="Accent3" presStyleCnt="0"/>
      <dgm:spPr/>
    </dgm:pt>
    <dgm:pt modelId="{75B44EE0-2A5A-42C7-9613-919B89661AD7}" type="pres">
      <dgm:prSet presAssocID="{5D009C94-21DB-49FE-8CEA-8FBCF7656CC0}" presName="Accent" presStyleLbl="bgShp" presStyleIdx="2" presStyleCnt="6"/>
      <dgm:spPr>
        <a:solidFill>
          <a:schemeClr val="bg1"/>
        </a:solidFill>
      </dgm:spPr>
    </dgm:pt>
    <dgm:pt modelId="{58CD54DA-2D05-47C1-947B-9D7546AE75B8}" type="pres">
      <dgm:prSet presAssocID="{5D009C94-21DB-49FE-8CEA-8FBCF7656CC0}" presName="Child3" presStyleLbl="node1" presStyleIdx="2" presStyleCnt="6">
        <dgm:presLayoutVars>
          <dgm:chMax val="0"/>
          <dgm:chPref val="0"/>
          <dgm:bulletEnabled val="1"/>
        </dgm:presLayoutVars>
      </dgm:prSet>
      <dgm:spPr/>
    </dgm:pt>
    <dgm:pt modelId="{0015BC9C-693F-4FD6-9FD6-710CBE7F200F}" type="pres">
      <dgm:prSet presAssocID="{B7D910AA-F331-4C17-82CC-D9558A884F9A}" presName="Accent4" presStyleCnt="0"/>
      <dgm:spPr/>
    </dgm:pt>
    <dgm:pt modelId="{D93CA90B-8799-4557-A169-20B16C6D6A0A}" type="pres">
      <dgm:prSet presAssocID="{B7D910AA-F331-4C17-82CC-D9558A884F9A}" presName="Accent" presStyleLbl="bgShp" presStyleIdx="3" presStyleCnt="6"/>
      <dgm:spPr>
        <a:solidFill>
          <a:schemeClr val="bg1"/>
        </a:solidFill>
      </dgm:spPr>
    </dgm:pt>
    <dgm:pt modelId="{52307477-28CC-4C05-8703-13472FCD2A40}" type="pres">
      <dgm:prSet presAssocID="{B7D910AA-F331-4C17-82CC-D9558A884F9A}" presName="Child4" presStyleLbl="node1" presStyleIdx="3" presStyleCnt="6">
        <dgm:presLayoutVars>
          <dgm:chMax val="0"/>
          <dgm:chPref val="0"/>
          <dgm:bulletEnabled val="1"/>
        </dgm:presLayoutVars>
      </dgm:prSet>
      <dgm:spPr/>
    </dgm:pt>
    <dgm:pt modelId="{2CAFB8D3-2B51-4ADA-B8FA-83392645FEDF}" type="pres">
      <dgm:prSet presAssocID="{CA1E5151-CC35-42EC-963A-967138E8D76B}" presName="Accent5" presStyleCnt="0"/>
      <dgm:spPr/>
    </dgm:pt>
    <dgm:pt modelId="{F5CB83EC-AEAA-4407-9EF0-F9B82362B524}" type="pres">
      <dgm:prSet presAssocID="{CA1E5151-CC35-42EC-963A-967138E8D76B}" presName="Accent" presStyleLbl="bgShp" presStyleIdx="4" presStyleCnt="6"/>
      <dgm:spPr>
        <a:solidFill>
          <a:schemeClr val="bg1"/>
        </a:solidFill>
      </dgm:spPr>
    </dgm:pt>
    <dgm:pt modelId="{6613787C-368B-4826-82EA-733180353BE6}" type="pres">
      <dgm:prSet presAssocID="{CA1E5151-CC35-42EC-963A-967138E8D76B}" presName="Child5" presStyleLbl="node1" presStyleIdx="4" presStyleCnt="6">
        <dgm:presLayoutVars>
          <dgm:chMax val="0"/>
          <dgm:chPref val="0"/>
          <dgm:bulletEnabled val="1"/>
        </dgm:presLayoutVars>
      </dgm:prSet>
      <dgm:spPr/>
    </dgm:pt>
    <dgm:pt modelId="{09C44E4B-761D-4C10-ACFE-F611D222082D}" type="pres">
      <dgm:prSet presAssocID="{0C6E5648-3F80-4405-AF0D-0602531FA4B4}" presName="Accent6" presStyleCnt="0"/>
      <dgm:spPr/>
    </dgm:pt>
    <dgm:pt modelId="{1288880B-EFC7-4D90-9A12-D1B2B054A1ED}" type="pres">
      <dgm:prSet presAssocID="{0C6E5648-3F80-4405-AF0D-0602531FA4B4}" presName="Accent" presStyleLbl="bgShp" presStyleIdx="5" presStyleCnt="6"/>
      <dgm:spPr>
        <a:solidFill>
          <a:schemeClr val="bg1"/>
        </a:solidFill>
      </dgm:spPr>
    </dgm:pt>
    <dgm:pt modelId="{4C849009-6CB6-4F0D-A56F-54F82BA6B8EE}" type="pres">
      <dgm:prSet presAssocID="{0C6E5648-3F80-4405-AF0D-0602531FA4B4}" presName="Child6" presStyleLbl="node1" presStyleIdx="5" presStyleCnt="6">
        <dgm:presLayoutVars>
          <dgm:chMax val="0"/>
          <dgm:chPref val="0"/>
          <dgm:bulletEnabled val="1"/>
        </dgm:presLayoutVars>
      </dgm:prSet>
      <dgm:spPr/>
    </dgm:pt>
  </dgm:ptLst>
  <dgm:cxnLst>
    <dgm:cxn modelId="{1A789E17-5E1C-459C-81BA-5097DA69A5E4}" srcId="{3E33D2A2-D2CF-49BC-973F-28866512959B}" destId="{5D009C94-21DB-49FE-8CEA-8FBCF7656CC0}" srcOrd="2" destOrd="0" parTransId="{B2CC0DEE-A892-4285-AF2F-657B34716910}" sibTransId="{2A0C8698-0203-4E77-807E-10BDDB0C5AA3}"/>
    <dgm:cxn modelId="{77752647-2657-4371-AD88-0EFE8E5ACAD6}" srcId="{3E33D2A2-D2CF-49BC-973F-28866512959B}" destId="{0C6E5648-3F80-4405-AF0D-0602531FA4B4}" srcOrd="5" destOrd="0" parTransId="{3FAE77AC-9036-4CC5-9839-49FBB79D2E79}" sibTransId="{1F3DF00F-4879-44E7-9C3D-14F407DC58FB}"/>
    <dgm:cxn modelId="{0FCEC353-5A14-43EA-BDB4-667C2F839BF2}" type="presOf" srcId="{0C6E5648-3F80-4405-AF0D-0602531FA4B4}" destId="{4C849009-6CB6-4F0D-A56F-54F82BA6B8EE}" srcOrd="0" destOrd="0" presId="urn:microsoft.com/office/officeart/2011/layout/HexagonRadial"/>
    <dgm:cxn modelId="{9219AD7B-CEF0-47BD-967A-0C7CDBF8515C}" type="presOf" srcId="{B7D910AA-F331-4C17-82CC-D9558A884F9A}" destId="{52307477-28CC-4C05-8703-13472FCD2A40}" srcOrd="0" destOrd="0" presId="urn:microsoft.com/office/officeart/2011/layout/HexagonRadial"/>
    <dgm:cxn modelId="{4DBCCC7D-0981-4B97-9E59-24A6ECADE06E}" type="presOf" srcId="{CA1E5151-CC35-42EC-963A-967138E8D76B}" destId="{6613787C-368B-4826-82EA-733180353BE6}" srcOrd="0" destOrd="0" presId="urn:microsoft.com/office/officeart/2011/layout/HexagonRadial"/>
    <dgm:cxn modelId="{43267089-85B7-4CCF-BEBF-13964FCB76D8}" srcId="{3E33D2A2-D2CF-49BC-973F-28866512959B}" destId="{57E1B9EC-9073-4FCA-8584-502C415491B0}" srcOrd="0" destOrd="0" parTransId="{63437EC5-C67F-4037-B863-F1F2B65D12DD}" sibTransId="{4EF8EFC0-EBA3-449A-8E52-173EB70D1F42}"/>
    <dgm:cxn modelId="{C4561DA2-61FB-49EA-B2EB-29A1A0910AE6}" type="presOf" srcId="{935CB945-B5A1-4503-9B0F-B310FE0A2246}" destId="{D9C2CAEE-1229-46A1-9DEB-E20178AFB1D3}" srcOrd="0" destOrd="0" presId="urn:microsoft.com/office/officeart/2011/layout/HexagonRadial"/>
    <dgm:cxn modelId="{964117B0-8ACE-4BB0-B4CA-1D2F6C89C509}" type="presOf" srcId="{3E33D2A2-D2CF-49BC-973F-28866512959B}" destId="{BF562C0E-CB97-4B5A-9145-235B96EBFBA6}" srcOrd="0" destOrd="0" presId="urn:microsoft.com/office/officeart/2011/layout/HexagonRadial"/>
    <dgm:cxn modelId="{814432B9-6F0E-41F3-8621-0D6098FA1857}" type="presOf" srcId="{57E1B9EC-9073-4FCA-8584-502C415491B0}" destId="{0272B16A-CA34-4D82-B445-CC9E5A5275D3}" srcOrd="0" destOrd="0" presId="urn:microsoft.com/office/officeart/2011/layout/HexagonRadial"/>
    <dgm:cxn modelId="{29A82BBA-27F4-4C8B-9EB6-C989376D2F92}" srcId="{3E33D2A2-D2CF-49BC-973F-28866512959B}" destId="{B7D910AA-F331-4C17-82CC-D9558A884F9A}" srcOrd="3" destOrd="0" parTransId="{ECFA820E-A2C9-4D97-86DE-604938411510}" sibTransId="{FCEA129A-0170-4E36-9D2D-CA5E800751C1}"/>
    <dgm:cxn modelId="{356B4FCB-09FD-4720-B3D7-20E7DEB7253B}" type="presOf" srcId="{9AEDFF44-9DC0-4E96-8310-2AA5D6543CEE}" destId="{D419F87E-9812-4AE7-8445-C8D945854420}" srcOrd="0" destOrd="0" presId="urn:microsoft.com/office/officeart/2011/layout/HexagonRadial"/>
    <dgm:cxn modelId="{44020ACD-AC7C-4EF5-9863-706FA573B1F7}" srcId="{3E33D2A2-D2CF-49BC-973F-28866512959B}" destId="{CA1E5151-CC35-42EC-963A-967138E8D76B}" srcOrd="4" destOrd="0" parTransId="{8024E010-FB5A-44A8-9B39-ED1195B170A3}" sibTransId="{72A2999A-6F46-41EE-9E0A-7BE1F40C54F7}"/>
    <dgm:cxn modelId="{5BA585CE-1ACB-417C-BD93-A22BA631B73F}" srcId="{3E33D2A2-D2CF-49BC-973F-28866512959B}" destId="{935CB945-B5A1-4503-9B0F-B310FE0A2246}" srcOrd="1" destOrd="0" parTransId="{5EEF8973-B7B1-4454-8C03-A3A37ABBC907}" sibTransId="{F49386FF-3F80-4723-B115-2513CC808B57}"/>
    <dgm:cxn modelId="{E1A6DCF7-4A3A-4A01-A67E-40A1E1AFA01C}" type="presOf" srcId="{5D009C94-21DB-49FE-8CEA-8FBCF7656CC0}" destId="{58CD54DA-2D05-47C1-947B-9D7546AE75B8}" srcOrd="0" destOrd="0" presId="urn:microsoft.com/office/officeart/2011/layout/HexagonRadial"/>
    <dgm:cxn modelId="{A53E06FB-F0AE-468A-851B-963923ECB52A}" srcId="{9AEDFF44-9DC0-4E96-8310-2AA5D6543CEE}" destId="{3E33D2A2-D2CF-49BC-973F-28866512959B}" srcOrd="0" destOrd="0" parTransId="{E864D731-ECB2-4BCD-A726-111D549B7E77}" sibTransId="{09BD9E0C-4CFC-4B8E-857A-1A1A53454D13}"/>
    <dgm:cxn modelId="{ABA69197-F7E5-4F49-A6C9-BC7287562CF6}" type="presParOf" srcId="{D419F87E-9812-4AE7-8445-C8D945854420}" destId="{BF562C0E-CB97-4B5A-9145-235B96EBFBA6}" srcOrd="0" destOrd="0" presId="urn:microsoft.com/office/officeart/2011/layout/HexagonRadial"/>
    <dgm:cxn modelId="{B0FB1746-E143-484C-B576-1C50A1CCF6EE}" type="presParOf" srcId="{D419F87E-9812-4AE7-8445-C8D945854420}" destId="{D904D307-709F-4D25-92F8-03EA1B0B3D52}" srcOrd="1" destOrd="0" presId="urn:microsoft.com/office/officeart/2011/layout/HexagonRadial"/>
    <dgm:cxn modelId="{CE03911B-4A00-4C75-8545-E4BD48707E1E}" type="presParOf" srcId="{D904D307-709F-4D25-92F8-03EA1B0B3D52}" destId="{A2DB611A-F7D6-45E1-9C1B-09627628951F}" srcOrd="0" destOrd="0" presId="urn:microsoft.com/office/officeart/2011/layout/HexagonRadial"/>
    <dgm:cxn modelId="{3E8997B8-78A4-435C-9116-DEB9EAC9371D}" type="presParOf" srcId="{D419F87E-9812-4AE7-8445-C8D945854420}" destId="{0272B16A-CA34-4D82-B445-CC9E5A5275D3}" srcOrd="2" destOrd="0" presId="urn:microsoft.com/office/officeart/2011/layout/HexagonRadial"/>
    <dgm:cxn modelId="{B1A9C3A4-55FD-49C0-A793-79EFC9DCE046}" type="presParOf" srcId="{D419F87E-9812-4AE7-8445-C8D945854420}" destId="{B72603FC-725C-4995-9707-19DA9B5CC859}" srcOrd="3" destOrd="0" presId="urn:microsoft.com/office/officeart/2011/layout/HexagonRadial"/>
    <dgm:cxn modelId="{CE127429-820C-43B8-9B86-13E0764C9C84}" type="presParOf" srcId="{B72603FC-725C-4995-9707-19DA9B5CC859}" destId="{BE608403-349E-4081-B2CB-596E47F9DD3B}" srcOrd="0" destOrd="0" presId="urn:microsoft.com/office/officeart/2011/layout/HexagonRadial"/>
    <dgm:cxn modelId="{28236DB9-3D09-4094-B092-337FA4F71C2A}" type="presParOf" srcId="{D419F87E-9812-4AE7-8445-C8D945854420}" destId="{D9C2CAEE-1229-46A1-9DEB-E20178AFB1D3}" srcOrd="4" destOrd="0" presId="urn:microsoft.com/office/officeart/2011/layout/HexagonRadial"/>
    <dgm:cxn modelId="{DF960DA5-B5E6-4AB1-9DF8-7A753B73DAE6}" type="presParOf" srcId="{D419F87E-9812-4AE7-8445-C8D945854420}" destId="{8D9D1EBA-7013-4FEA-8B16-4DBFED69CF99}" srcOrd="5" destOrd="0" presId="urn:microsoft.com/office/officeart/2011/layout/HexagonRadial"/>
    <dgm:cxn modelId="{29EC6E55-1435-4B68-86E1-A4F4EC7E0F6F}" type="presParOf" srcId="{8D9D1EBA-7013-4FEA-8B16-4DBFED69CF99}" destId="{75B44EE0-2A5A-42C7-9613-919B89661AD7}" srcOrd="0" destOrd="0" presId="urn:microsoft.com/office/officeart/2011/layout/HexagonRadial"/>
    <dgm:cxn modelId="{E812D5DD-4000-43D0-B49F-B005F811BCAE}" type="presParOf" srcId="{D419F87E-9812-4AE7-8445-C8D945854420}" destId="{58CD54DA-2D05-47C1-947B-9D7546AE75B8}" srcOrd="6" destOrd="0" presId="urn:microsoft.com/office/officeart/2011/layout/HexagonRadial"/>
    <dgm:cxn modelId="{6DB2FB59-B492-4A12-9BC8-CB091076CEC2}" type="presParOf" srcId="{D419F87E-9812-4AE7-8445-C8D945854420}" destId="{0015BC9C-693F-4FD6-9FD6-710CBE7F200F}" srcOrd="7" destOrd="0" presId="urn:microsoft.com/office/officeart/2011/layout/HexagonRadial"/>
    <dgm:cxn modelId="{A6F7DE47-FD3E-4A8B-9E92-2E28146A0C43}" type="presParOf" srcId="{0015BC9C-693F-4FD6-9FD6-710CBE7F200F}" destId="{D93CA90B-8799-4557-A169-20B16C6D6A0A}" srcOrd="0" destOrd="0" presId="urn:microsoft.com/office/officeart/2011/layout/HexagonRadial"/>
    <dgm:cxn modelId="{EB1F64D9-CFC3-46FD-B20F-967A2739F11F}" type="presParOf" srcId="{D419F87E-9812-4AE7-8445-C8D945854420}" destId="{52307477-28CC-4C05-8703-13472FCD2A40}" srcOrd="8" destOrd="0" presId="urn:microsoft.com/office/officeart/2011/layout/HexagonRadial"/>
    <dgm:cxn modelId="{4F6C8E63-BA1E-4DC9-B4D7-8D38F11C3F42}" type="presParOf" srcId="{D419F87E-9812-4AE7-8445-C8D945854420}" destId="{2CAFB8D3-2B51-4ADA-B8FA-83392645FEDF}" srcOrd="9" destOrd="0" presId="urn:microsoft.com/office/officeart/2011/layout/HexagonRadial"/>
    <dgm:cxn modelId="{E763DC2D-BEEB-468A-B9A1-A9A5D6124012}" type="presParOf" srcId="{2CAFB8D3-2B51-4ADA-B8FA-83392645FEDF}" destId="{F5CB83EC-AEAA-4407-9EF0-F9B82362B524}" srcOrd="0" destOrd="0" presId="urn:microsoft.com/office/officeart/2011/layout/HexagonRadial"/>
    <dgm:cxn modelId="{37C626D9-3D91-4F62-A298-BE86917369FA}" type="presParOf" srcId="{D419F87E-9812-4AE7-8445-C8D945854420}" destId="{6613787C-368B-4826-82EA-733180353BE6}" srcOrd="10" destOrd="0" presId="urn:microsoft.com/office/officeart/2011/layout/HexagonRadial"/>
    <dgm:cxn modelId="{3D101DA5-B189-43F4-8A4B-478F345D0DD0}" type="presParOf" srcId="{D419F87E-9812-4AE7-8445-C8D945854420}" destId="{09C44E4B-761D-4C10-ACFE-F611D222082D}" srcOrd="11" destOrd="0" presId="urn:microsoft.com/office/officeart/2011/layout/HexagonRadial"/>
    <dgm:cxn modelId="{D8C06F89-4BAF-4D7A-B3AD-061235635D02}" type="presParOf" srcId="{09C44E4B-761D-4C10-ACFE-F611D222082D}" destId="{1288880B-EFC7-4D90-9A12-D1B2B054A1ED}" srcOrd="0" destOrd="0" presId="urn:microsoft.com/office/officeart/2011/layout/HexagonRadial"/>
    <dgm:cxn modelId="{8526DAD3-D998-4B83-8723-89821F9BDB56}" type="presParOf" srcId="{D419F87E-9812-4AE7-8445-C8D945854420}" destId="{4C849009-6CB6-4F0D-A56F-54F82BA6B8EE}" srcOrd="12" destOrd="0" presId="urn:microsoft.com/office/officeart/2011/layout/HexagonRadial"/>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A58D7735-382A-4E7E-A0F8-87A53CE1EAA2}" type="doc">
      <dgm:prSet loTypeId="urn:microsoft.com/office/officeart/2005/8/layout/radial5" loCatId="cycle" qsTypeId="urn:microsoft.com/office/officeart/2005/8/quickstyle/simple5" qsCatId="simple" csTypeId="urn:microsoft.com/office/officeart/2005/8/colors/accent1_2" csCatId="accent1" phldr="1"/>
      <dgm:spPr/>
      <dgm:t>
        <a:bodyPr/>
        <a:lstStyle/>
        <a:p>
          <a:endParaRPr lang="en-IN"/>
        </a:p>
      </dgm:t>
    </dgm:pt>
    <dgm:pt modelId="{9002AC34-D92C-4D2F-B8D4-6BC2CB78638B}">
      <dgm:prSet phldrT="[Text]" custT="1"/>
      <dgm:spPr>
        <a:solidFill>
          <a:srgbClr val="FFE600"/>
        </a:solidFill>
      </dgm:spPr>
      <dgm:t>
        <a:bodyPr/>
        <a:lstStyle/>
        <a:p>
          <a:endParaRPr lang="en-IN" sz="800"/>
        </a:p>
      </dgm:t>
    </dgm:pt>
    <dgm:pt modelId="{B5E772D5-C266-4E7D-8086-13A8FC1345FB}" type="parTrans" cxnId="{C1884615-7584-4F64-8291-0DECF69DCB17}">
      <dgm:prSet/>
      <dgm:spPr/>
      <dgm:t>
        <a:bodyPr/>
        <a:lstStyle/>
        <a:p>
          <a:endParaRPr lang="en-IN" sz="800"/>
        </a:p>
      </dgm:t>
    </dgm:pt>
    <dgm:pt modelId="{A2AC813F-6A23-4574-8C39-86952622E09C}" type="sibTrans" cxnId="{C1884615-7584-4F64-8291-0DECF69DCB17}">
      <dgm:prSet/>
      <dgm:spPr/>
      <dgm:t>
        <a:bodyPr/>
        <a:lstStyle/>
        <a:p>
          <a:endParaRPr lang="en-IN" sz="800"/>
        </a:p>
      </dgm:t>
    </dgm:pt>
    <dgm:pt modelId="{52A5ACB3-9368-4ACD-94E2-7DCB9D42F789}">
      <dgm:prSet phldrT="[Text]" custT="1"/>
      <dgm:spPr>
        <a:solidFill>
          <a:srgbClr val="FFE600"/>
        </a:solidFill>
      </dgm:spPr>
      <dgm:t>
        <a:bodyPr/>
        <a:lstStyle/>
        <a:p>
          <a:pPr>
            <a:buFont typeface="EYInterstate" panose="02000503020000020004" pitchFamily="2" charset="0"/>
            <a:buChar char="•"/>
          </a:pPr>
          <a:r>
            <a:rPr lang="en-US" sz="900">
              <a:solidFill>
                <a:schemeClr val="tx1"/>
              </a:solidFill>
              <a:latin typeface="EY interstate"/>
            </a:rPr>
            <a:t>All items are properly classified as List Component, Timing Item or Required Adjustment</a:t>
          </a:r>
          <a:endParaRPr lang="en-IN" sz="900">
            <a:solidFill>
              <a:schemeClr val="tx1"/>
            </a:solidFill>
            <a:latin typeface="EY interstate"/>
          </a:endParaRPr>
        </a:p>
      </dgm:t>
    </dgm:pt>
    <dgm:pt modelId="{20863567-1A3E-473B-A82E-F3BCACDD1465}" type="parTrans" cxnId="{A4C4D290-DEE6-4DC3-B82F-A329448CF474}">
      <dgm:prSet custT="1"/>
      <dgm:spPr/>
      <dgm:t>
        <a:bodyPr/>
        <a:lstStyle/>
        <a:p>
          <a:endParaRPr lang="en-IN" sz="800"/>
        </a:p>
      </dgm:t>
    </dgm:pt>
    <dgm:pt modelId="{53004C31-E2FD-41FE-8383-68F8569F9140}" type="sibTrans" cxnId="{A4C4D290-DEE6-4DC3-B82F-A329448CF474}">
      <dgm:prSet/>
      <dgm:spPr/>
      <dgm:t>
        <a:bodyPr/>
        <a:lstStyle/>
        <a:p>
          <a:endParaRPr lang="en-IN" sz="800"/>
        </a:p>
      </dgm:t>
    </dgm:pt>
    <dgm:pt modelId="{BB594B38-D908-4AE5-819C-2EE3A01AFE41}">
      <dgm:prSet phldrT="[Text]" custT="1"/>
      <dgm:spPr>
        <a:solidFill>
          <a:srgbClr val="FFE600"/>
        </a:solidFill>
        <a:ln>
          <a:noFill/>
        </a:ln>
        <a:effectLst>
          <a:outerShdw blurRad="57150" dist="19050" dir="5400000" algn="ctr" rotWithShape="0">
            <a:srgbClr val="000000">
              <a:alpha val="63000"/>
            </a:srgbClr>
          </a:outerShdw>
        </a:effectLst>
      </dgm:spPr>
      <dgm:t>
        <a:bodyPr spcFirstLastPara="0" vert="horz" wrap="square" lIns="8890" tIns="8890" rIns="8890" bIns="8890" numCol="1" spcCol="1270" anchor="ctr" anchorCtr="0"/>
        <a:lstStyle/>
        <a:p>
          <a:pPr marL="0" lvl="0" indent="0" algn="ctr" defTabSz="311150">
            <a:lnSpc>
              <a:spcPct val="90000"/>
            </a:lnSpc>
            <a:spcBef>
              <a:spcPct val="0"/>
            </a:spcBef>
            <a:spcAft>
              <a:spcPct val="35000"/>
            </a:spcAft>
            <a:buFont typeface="EYInterstate" panose="02000503020000020004" pitchFamily="2" charset="0"/>
            <a:buNone/>
          </a:pPr>
          <a:r>
            <a:rPr lang="en-US" sz="800" kern="1200">
              <a:solidFill>
                <a:prstClr val="black"/>
              </a:solidFill>
              <a:latin typeface="EY interstate"/>
              <a:ea typeface="+mn-ea"/>
              <a:cs typeface="+mn-cs"/>
            </a:rPr>
            <a:t>Any unidentified difference that cannot be substantiated has been appropriately marked as a Required Adjustment</a:t>
          </a:r>
          <a:endParaRPr lang="en-IN" sz="800" kern="1200">
            <a:solidFill>
              <a:prstClr val="black"/>
            </a:solidFill>
            <a:latin typeface="EY interstate"/>
            <a:ea typeface="+mn-ea"/>
            <a:cs typeface="+mn-cs"/>
          </a:endParaRPr>
        </a:p>
      </dgm:t>
    </dgm:pt>
    <dgm:pt modelId="{18D93331-8750-4B51-AA1E-53E4AD1B2613}" type="parTrans" cxnId="{7B103755-082F-4191-B975-5D4B68F0F872}">
      <dgm:prSet custT="1"/>
      <dgm:spPr/>
      <dgm:t>
        <a:bodyPr/>
        <a:lstStyle/>
        <a:p>
          <a:endParaRPr lang="en-IN" sz="800"/>
        </a:p>
      </dgm:t>
    </dgm:pt>
    <dgm:pt modelId="{86E20D59-8283-42B8-9001-B7BA78F6C47F}" type="sibTrans" cxnId="{7B103755-082F-4191-B975-5D4B68F0F872}">
      <dgm:prSet/>
      <dgm:spPr/>
      <dgm:t>
        <a:bodyPr/>
        <a:lstStyle/>
        <a:p>
          <a:endParaRPr lang="en-IN" sz="800"/>
        </a:p>
      </dgm:t>
    </dgm:pt>
    <dgm:pt modelId="{13D23FCD-0CE5-406C-AA4C-3FBC5BAA1E99}">
      <dgm:prSet phldrT="[Text]" custT="1"/>
      <dgm:spPr>
        <a:solidFill>
          <a:srgbClr val="FFE600"/>
        </a:solidFill>
        <a:ln>
          <a:noFill/>
        </a:ln>
        <a:effectLst>
          <a:outerShdw blurRad="57150" dist="19050" dir="5400000" algn="ctr" rotWithShape="0">
            <a:srgbClr val="000000">
              <a:alpha val="63000"/>
            </a:srgbClr>
          </a:outerShdw>
        </a:effectLst>
      </dgm:spPr>
      <dgm:t>
        <a:bodyPr spcFirstLastPara="0" vert="horz" wrap="square" lIns="8890" tIns="8890" rIns="8890" bIns="8890" numCol="1" spcCol="1270" anchor="ctr" anchorCtr="0"/>
        <a:lstStyle/>
        <a:p>
          <a:pPr marL="0" lvl="0" indent="0" algn="ctr" defTabSz="311150">
            <a:lnSpc>
              <a:spcPct val="90000"/>
            </a:lnSpc>
            <a:spcBef>
              <a:spcPct val="0"/>
            </a:spcBef>
            <a:spcAft>
              <a:spcPct val="35000"/>
            </a:spcAft>
            <a:buFont typeface="EYInterstate" panose="02000503020000020004" pitchFamily="2" charset="0"/>
            <a:buNone/>
          </a:pPr>
          <a:r>
            <a:rPr lang="en-US" sz="700" kern="1200">
              <a:solidFill>
                <a:prstClr val="black"/>
              </a:solidFill>
              <a:latin typeface="EY interstate"/>
              <a:ea typeface="+mn-ea"/>
              <a:cs typeface="+mn-cs"/>
            </a:rPr>
            <a:t>All reported items have attached proper documentation and third-party documentation, if available, which supports the balances</a:t>
          </a:r>
          <a:endParaRPr lang="en-IN" sz="700" kern="1200">
            <a:solidFill>
              <a:prstClr val="black"/>
            </a:solidFill>
            <a:latin typeface="EY interstate"/>
            <a:ea typeface="+mn-ea"/>
            <a:cs typeface="+mn-cs"/>
          </a:endParaRPr>
        </a:p>
      </dgm:t>
    </dgm:pt>
    <dgm:pt modelId="{E2BCDEE1-C5DD-4A7D-9A90-DE2AD2408E3C}" type="parTrans" cxnId="{8D21038D-0690-46C0-8891-C15668F5EF3B}">
      <dgm:prSet custT="1"/>
      <dgm:spPr/>
      <dgm:t>
        <a:bodyPr/>
        <a:lstStyle/>
        <a:p>
          <a:endParaRPr lang="en-IN" sz="800"/>
        </a:p>
      </dgm:t>
    </dgm:pt>
    <dgm:pt modelId="{40A86F9E-B49F-46AF-96F1-41F428437AAE}" type="sibTrans" cxnId="{8D21038D-0690-46C0-8891-C15668F5EF3B}">
      <dgm:prSet/>
      <dgm:spPr/>
      <dgm:t>
        <a:bodyPr/>
        <a:lstStyle/>
        <a:p>
          <a:endParaRPr lang="en-IN" sz="800"/>
        </a:p>
      </dgm:t>
    </dgm:pt>
    <dgm:pt modelId="{79BAE75F-DDAF-402B-A499-108FA85FF36B}">
      <dgm:prSet phldrT="[Text]" custT="1"/>
      <dgm:spPr>
        <a:solidFill>
          <a:srgbClr val="FFE600"/>
        </a:solidFill>
        <a:ln>
          <a:noFill/>
        </a:ln>
        <a:effectLst>
          <a:outerShdw blurRad="57150" dist="19050" dir="5400000" algn="ctr" rotWithShape="0">
            <a:srgbClr val="000000">
              <a:alpha val="63000"/>
            </a:srgbClr>
          </a:outerShdw>
        </a:effectLst>
      </dgm:spPr>
      <dgm:t>
        <a:bodyPr spcFirstLastPara="0" vert="horz" wrap="square" lIns="8890" tIns="8890" rIns="8890" bIns="8890" numCol="1" spcCol="1270" anchor="ctr" anchorCtr="0"/>
        <a:lstStyle/>
        <a:p>
          <a:pPr marL="0" lvl="0" indent="0" algn="ctr" defTabSz="311150">
            <a:lnSpc>
              <a:spcPct val="90000"/>
            </a:lnSpc>
            <a:spcBef>
              <a:spcPct val="0"/>
            </a:spcBef>
            <a:spcAft>
              <a:spcPct val="35000"/>
            </a:spcAft>
            <a:buFont typeface="EYInterstate" panose="02000503020000020004" pitchFamily="2" charset="0"/>
            <a:buNone/>
          </a:pPr>
          <a:r>
            <a:rPr lang="en-US" sz="900" kern="1200">
              <a:solidFill>
                <a:prstClr val="black"/>
              </a:solidFill>
              <a:latin typeface="EY interstate"/>
              <a:ea typeface="+mn-ea"/>
              <a:cs typeface="+mn-cs"/>
            </a:rPr>
            <a:t>Aged Required Adjustments and Timing Items are resolved timely per policy</a:t>
          </a:r>
          <a:endParaRPr lang="en-IN" sz="900" kern="1200">
            <a:solidFill>
              <a:prstClr val="black"/>
            </a:solidFill>
            <a:latin typeface="EY interstate"/>
            <a:ea typeface="+mn-ea"/>
            <a:cs typeface="+mn-cs"/>
          </a:endParaRPr>
        </a:p>
      </dgm:t>
    </dgm:pt>
    <dgm:pt modelId="{0DF2CCDE-08B6-4A10-9980-7D1DB3BA061E}" type="parTrans" cxnId="{1C42D0C3-35D4-4B73-8EAE-49AA06B1E3E9}">
      <dgm:prSet custT="1"/>
      <dgm:spPr/>
      <dgm:t>
        <a:bodyPr/>
        <a:lstStyle/>
        <a:p>
          <a:endParaRPr lang="en-IN" sz="800"/>
        </a:p>
      </dgm:t>
    </dgm:pt>
    <dgm:pt modelId="{C82643AB-1D84-4DAD-8172-AE946AF32386}" type="sibTrans" cxnId="{1C42D0C3-35D4-4B73-8EAE-49AA06B1E3E9}">
      <dgm:prSet/>
      <dgm:spPr/>
      <dgm:t>
        <a:bodyPr/>
        <a:lstStyle/>
        <a:p>
          <a:endParaRPr lang="en-IN" sz="800"/>
        </a:p>
      </dgm:t>
    </dgm:pt>
    <dgm:pt modelId="{AB30EE99-323A-4EAF-BCEF-8DB10EDEBEFF}">
      <dgm:prSet phldrT="[Text]" custT="1"/>
      <dgm:spPr>
        <a:solidFill>
          <a:srgbClr val="FFE600"/>
        </a:solidFill>
        <a:ln>
          <a:noFill/>
        </a:ln>
        <a:effectLst>
          <a:outerShdw blurRad="57150" dist="19050" dir="5400000" algn="ctr" rotWithShape="0">
            <a:srgbClr val="000000">
              <a:alpha val="63000"/>
            </a:srgbClr>
          </a:outerShdw>
        </a:effectLst>
      </dgm:spPr>
      <dgm:t>
        <a:bodyPr spcFirstLastPara="0" vert="horz" wrap="square" lIns="8890" tIns="8890" rIns="8890" bIns="8890" numCol="1" spcCol="1270" anchor="ctr" anchorCtr="0"/>
        <a:lstStyle/>
        <a:p>
          <a:pPr marL="0" lvl="0" indent="0" algn="ctr" defTabSz="311150">
            <a:lnSpc>
              <a:spcPct val="90000"/>
            </a:lnSpc>
            <a:spcBef>
              <a:spcPct val="0"/>
            </a:spcBef>
            <a:spcAft>
              <a:spcPct val="35000"/>
            </a:spcAft>
            <a:buFont typeface="EYInterstate" panose="02000503020000020004" pitchFamily="2" charset="0"/>
            <a:buNone/>
          </a:pPr>
          <a:r>
            <a:rPr lang="en-US" sz="800" kern="1200">
              <a:solidFill>
                <a:prstClr val="black"/>
              </a:solidFill>
              <a:latin typeface="EY interstate"/>
              <a:ea typeface="+mn-ea"/>
              <a:cs typeface="+mn-cs"/>
            </a:rPr>
            <a:t>Required Adjustments have a proper impact type identified and Action Plan defined for resolution</a:t>
          </a:r>
          <a:endParaRPr lang="en-IN" sz="800" kern="1200">
            <a:solidFill>
              <a:prstClr val="black"/>
            </a:solidFill>
            <a:latin typeface="EY interstate"/>
            <a:ea typeface="+mn-ea"/>
            <a:cs typeface="+mn-cs"/>
          </a:endParaRPr>
        </a:p>
      </dgm:t>
    </dgm:pt>
    <dgm:pt modelId="{33863A8A-1975-47E4-B58E-20D93CD412C6}" type="parTrans" cxnId="{B3E52EFF-E341-4D52-946E-94B93CAD6E95}">
      <dgm:prSet custT="1"/>
      <dgm:spPr/>
      <dgm:t>
        <a:bodyPr/>
        <a:lstStyle/>
        <a:p>
          <a:endParaRPr lang="en-IN" sz="800"/>
        </a:p>
      </dgm:t>
    </dgm:pt>
    <dgm:pt modelId="{E5237FED-A5C2-46B3-B4CF-33643866809E}" type="sibTrans" cxnId="{B3E52EFF-E341-4D52-946E-94B93CAD6E95}">
      <dgm:prSet/>
      <dgm:spPr/>
      <dgm:t>
        <a:bodyPr/>
        <a:lstStyle/>
        <a:p>
          <a:endParaRPr lang="en-IN" sz="800"/>
        </a:p>
      </dgm:t>
    </dgm:pt>
    <dgm:pt modelId="{4C157D38-DE60-428E-9C89-3777554CFD62}">
      <dgm:prSet phldrT="[Text]" custT="1"/>
      <dgm:spPr>
        <a:solidFill>
          <a:srgbClr val="FFE600"/>
        </a:solidFill>
        <a:ln>
          <a:noFill/>
        </a:ln>
        <a:effectLst>
          <a:outerShdw blurRad="57150" dist="19050" dir="5400000" algn="ctr" rotWithShape="0">
            <a:srgbClr val="000000">
              <a:alpha val="63000"/>
            </a:srgbClr>
          </a:outerShdw>
        </a:effectLst>
      </dgm:spPr>
      <dgm:t>
        <a:bodyPr spcFirstLastPara="0" vert="horz" wrap="square" lIns="8890" tIns="8890" rIns="8890" bIns="8890" numCol="1" spcCol="1270" anchor="ctr" anchorCtr="0"/>
        <a:lstStyle/>
        <a:p>
          <a:pPr marL="0" lvl="0" indent="0" algn="ctr" defTabSz="311150">
            <a:lnSpc>
              <a:spcPct val="90000"/>
            </a:lnSpc>
            <a:spcBef>
              <a:spcPct val="0"/>
            </a:spcBef>
            <a:spcAft>
              <a:spcPct val="35000"/>
            </a:spcAft>
            <a:buFont typeface="EYInterstate" panose="02000503020000020004" pitchFamily="2" charset="0"/>
            <a:buNone/>
          </a:pPr>
          <a:r>
            <a:rPr lang="en-US" sz="900" kern="1200">
              <a:solidFill>
                <a:prstClr val="black"/>
              </a:solidFill>
              <a:latin typeface="EY interstate"/>
              <a:ea typeface="+mn-ea"/>
              <a:cs typeface="+mn-cs"/>
            </a:rPr>
            <a:t>Purpose &amp; procedures were reviewed and properly updated</a:t>
          </a:r>
          <a:endParaRPr lang="en-IN" sz="900" kern="1200">
            <a:solidFill>
              <a:prstClr val="black"/>
            </a:solidFill>
            <a:latin typeface="EY interstate"/>
            <a:ea typeface="+mn-ea"/>
            <a:cs typeface="+mn-cs"/>
          </a:endParaRPr>
        </a:p>
      </dgm:t>
    </dgm:pt>
    <dgm:pt modelId="{4D854336-9ABC-4316-A02A-2861023BF3A6}" type="parTrans" cxnId="{38A553B3-EF62-4D96-80F5-756C4BFA4390}">
      <dgm:prSet custT="1"/>
      <dgm:spPr/>
      <dgm:t>
        <a:bodyPr/>
        <a:lstStyle/>
        <a:p>
          <a:endParaRPr lang="en-IN" sz="800"/>
        </a:p>
      </dgm:t>
    </dgm:pt>
    <dgm:pt modelId="{A7E55B6B-56AC-4363-BFE9-23DCD04E0DD0}" type="sibTrans" cxnId="{38A553B3-EF62-4D96-80F5-756C4BFA4390}">
      <dgm:prSet/>
      <dgm:spPr/>
      <dgm:t>
        <a:bodyPr/>
        <a:lstStyle/>
        <a:p>
          <a:endParaRPr lang="en-IN" sz="800"/>
        </a:p>
      </dgm:t>
    </dgm:pt>
    <dgm:pt modelId="{E2C797B2-B893-4424-B587-27CA9689658A}" type="pres">
      <dgm:prSet presAssocID="{A58D7735-382A-4E7E-A0F8-87A53CE1EAA2}" presName="Name0" presStyleCnt="0">
        <dgm:presLayoutVars>
          <dgm:chMax val="1"/>
          <dgm:dir/>
          <dgm:animLvl val="ctr"/>
          <dgm:resizeHandles val="exact"/>
        </dgm:presLayoutVars>
      </dgm:prSet>
      <dgm:spPr/>
    </dgm:pt>
    <dgm:pt modelId="{4B9F2C79-D9CF-4995-879C-3F0E9B6182A9}" type="pres">
      <dgm:prSet presAssocID="{9002AC34-D92C-4D2F-B8D4-6BC2CB78638B}" presName="centerShape" presStyleLbl="node0" presStyleIdx="0" presStyleCnt="1"/>
      <dgm:spPr/>
    </dgm:pt>
    <dgm:pt modelId="{88042501-B274-4D06-A757-A63B88FD365B}" type="pres">
      <dgm:prSet presAssocID="{20863567-1A3E-473B-A82E-F3BCACDD1465}" presName="parTrans" presStyleLbl="sibTrans2D1" presStyleIdx="0" presStyleCnt="6"/>
      <dgm:spPr/>
    </dgm:pt>
    <dgm:pt modelId="{5B3951A4-2F59-41CB-B15F-221A70BFF3F9}" type="pres">
      <dgm:prSet presAssocID="{20863567-1A3E-473B-A82E-F3BCACDD1465}" presName="connectorText" presStyleLbl="sibTrans2D1" presStyleIdx="0" presStyleCnt="6"/>
      <dgm:spPr/>
    </dgm:pt>
    <dgm:pt modelId="{3FF86B0F-2CDA-44D5-8542-68CB051323F4}" type="pres">
      <dgm:prSet presAssocID="{52A5ACB3-9368-4ACD-94E2-7DCB9D42F789}" presName="node" presStyleLbl="node1" presStyleIdx="0" presStyleCnt="6">
        <dgm:presLayoutVars>
          <dgm:bulletEnabled val="1"/>
        </dgm:presLayoutVars>
      </dgm:prSet>
      <dgm:spPr/>
    </dgm:pt>
    <dgm:pt modelId="{060981EA-58E2-4916-8DD5-6CD583FDCBE1}" type="pres">
      <dgm:prSet presAssocID="{18D93331-8750-4B51-AA1E-53E4AD1B2613}" presName="parTrans" presStyleLbl="sibTrans2D1" presStyleIdx="1" presStyleCnt="6"/>
      <dgm:spPr/>
    </dgm:pt>
    <dgm:pt modelId="{489C1C49-1AF3-48F0-8B74-6FC7770F2194}" type="pres">
      <dgm:prSet presAssocID="{18D93331-8750-4B51-AA1E-53E4AD1B2613}" presName="connectorText" presStyleLbl="sibTrans2D1" presStyleIdx="1" presStyleCnt="6"/>
      <dgm:spPr/>
    </dgm:pt>
    <dgm:pt modelId="{32981C4D-9474-40B1-B57D-3D707359DA86}" type="pres">
      <dgm:prSet presAssocID="{BB594B38-D908-4AE5-819C-2EE3A01AFE41}" presName="node" presStyleLbl="node1" presStyleIdx="1" presStyleCnt="6">
        <dgm:presLayoutVars>
          <dgm:bulletEnabled val="1"/>
        </dgm:presLayoutVars>
      </dgm:prSet>
      <dgm:spPr>
        <a:xfrm>
          <a:off x="4002689" y="811404"/>
          <a:ext cx="1311861" cy="1311861"/>
        </a:xfrm>
        <a:prstGeom prst="ellipse">
          <a:avLst/>
        </a:prstGeom>
      </dgm:spPr>
    </dgm:pt>
    <dgm:pt modelId="{C3F9A135-F379-45F1-96A1-DE814B1EED9B}" type="pres">
      <dgm:prSet presAssocID="{E2BCDEE1-C5DD-4A7D-9A90-DE2AD2408E3C}" presName="parTrans" presStyleLbl="sibTrans2D1" presStyleIdx="2" presStyleCnt="6"/>
      <dgm:spPr/>
    </dgm:pt>
    <dgm:pt modelId="{654C2959-AA60-484E-9427-7AB76D15A530}" type="pres">
      <dgm:prSet presAssocID="{E2BCDEE1-C5DD-4A7D-9A90-DE2AD2408E3C}" presName="connectorText" presStyleLbl="sibTrans2D1" presStyleIdx="2" presStyleCnt="6"/>
      <dgm:spPr/>
    </dgm:pt>
    <dgm:pt modelId="{B7D08AFF-93BD-4AE7-8DEF-FAF7EA330098}" type="pres">
      <dgm:prSet presAssocID="{13D23FCD-0CE5-406C-AA4C-3FBC5BAA1E99}" presName="node" presStyleLbl="node1" presStyleIdx="2" presStyleCnt="6">
        <dgm:presLayoutVars>
          <dgm:bulletEnabled val="1"/>
        </dgm:presLayoutVars>
      </dgm:prSet>
      <dgm:spPr>
        <a:xfrm>
          <a:off x="3999177" y="2417628"/>
          <a:ext cx="1319646" cy="1319646"/>
        </a:xfrm>
        <a:prstGeom prst="ellipse">
          <a:avLst/>
        </a:prstGeom>
      </dgm:spPr>
    </dgm:pt>
    <dgm:pt modelId="{C82FD7C2-DA11-4910-AA7B-3623E6B14B2F}" type="pres">
      <dgm:prSet presAssocID="{0DF2CCDE-08B6-4A10-9980-7D1DB3BA061E}" presName="parTrans" presStyleLbl="sibTrans2D1" presStyleIdx="3" presStyleCnt="6"/>
      <dgm:spPr/>
    </dgm:pt>
    <dgm:pt modelId="{AE08332E-C211-4D16-86DF-05F7194ACBB9}" type="pres">
      <dgm:prSet presAssocID="{0DF2CCDE-08B6-4A10-9980-7D1DB3BA061E}" presName="connectorText" presStyleLbl="sibTrans2D1" presStyleIdx="3" presStyleCnt="6"/>
      <dgm:spPr/>
    </dgm:pt>
    <dgm:pt modelId="{A7B3ECA3-0D37-4BD8-AD1D-5469B06F0E65}" type="pres">
      <dgm:prSet presAssocID="{79BAE75F-DDAF-402B-A499-108FA85FF36B}" presName="node" presStyleLbl="node1" presStyleIdx="3" presStyleCnt="6">
        <dgm:presLayoutVars>
          <dgm:bulletEnabled val="1"/>
        </dgm:presLayoutVars>
      </dgm:prSet>
      <dgm:spPr>
        <a:xfrm>
          <a:off x="2604584" y="3222797"/>
          <a:ext cx="1319646" cy="1319646"/>
        </a:xfrm>
        <a:prstGeom prst="ellipse">
          <a:avLst/>
        </a:prstGeom>
      </dgm:spPr>
    </dgm:pt>
    <dgm:pt modelId="{DA2141C4-C2B5-4633-9B38-C0D1884EFA34}" type="pres">
      <dgm:prSet presAssocID="{33863A8A-1975-47E4-B58E-20D93CD412C6}" presName="parTrans" presStyleLbl="sibTrans2D1" presStyleIdx="4" presStyleCnt="6"/>
      <dgm:spPr/>
    </dgm:pt>
    <dgm:pt modelId="{B56AF3AA-7549-4F30-BFDF-81063FD50784}" type="pres">
      <dgm:prSet presAssocID="{33863A8A-1975-47E4-B58E-20D93CD412C6}" presName="connectorText" presStyleLbl="sibTrans2D1" presStyleIdx="4" presStyleCnt="6"/>
      <dgm:spPr/>
    </dgm:pt>
    <dgm:pt modelId="{FF59338D-A006-43DF-AD63-258F6D43A0B0}" type="pres">
      <dgm:prSet presAssocID="{AB30EE99-323A-4EAF-BCEF-8DB10EDEBEFF}" presName="node" presStyleLbl="node1" presStyleIdx="4" presStyleCnt="6">
        <dgm:presLayoutVars>
          <dgm:bulletEnabled val="1"/>
        </dgm:presLayoutVars>
      </dgm:prSet>
      <dgm:spPr>
        <a:xfrm>
          <a:off x="1209992" y="2417628"/>
          <a:ext cx="1319646" cy="1319646"/>
        </a:xfrm>
        <a:prstGeom prst="ellipse">
          <a:avLst/>
        </a:prstGeom>
      </dgm:spPr>
    </dgm:pt>
    <dgm:pt modelId="{9350472C-F2F4-488C-B77B-83CE2F6E2DFB}" type="pres">
      <dgm:prSet presAssocID="{4D854336-9ABC-4316-A02A-2861023BF3A6}" presName="parTrans" presStyleLbl="sibTrans2D1" presStyleIdx="5" presStyleCnt="6"/>
      <dgm:spPr/>
    </dgm:pt>
    <dgm:pt modelId="{79F6E3B3-5803-4EEB-90D7-E0E331745210}" type="pres">
      <dgm:prSet presAssocID="{4D854336-9ABC-4316-A02A-2861023BF3A6}" presName="connectorText" presStyleLbl="sibTrans2D1" presStyleIdx="5" presStyleCnt="6"/>
      <dgm:spPr/>
    </dgm:pt>
    <dgm:pt modelId="{41393439-9043-4979-ACB0-D093F49D4BB1}" type="pres">
      <dgm:prSet presAssocID="{4C157D38-DE60-428E-9C89-3777554CFD62}" presName="node" presStyleLbl="node1" presStyleIdx="5" presStyleCnt="6">
        <dgm:presLayoutVars>
          <dgm:bulletEnabled val="1"/>
        </dgm:presLayoutVars>
      </dgm:prSet>
      <dgm:spPr>
        <a:xfrm>
          <a:off x="1209992" y="807292"/>
          <a:ext cx="1319646" cy="1319646"/>
        </a:xfrm>
        <a:prstGeom prst="ellipse">
          <a:avLst/>
        </a:prstGeom>
      </dgm:spPr>
    </dgm:pt>
  </dgm:ptLst>
  <dgm:cxnLst>
    <dgm:cxn modelId="{7D2E8600-AB02-48E1-B66D-939B7672E39C}" type="presOf" srcId="{18D93331-8750-4B51-AA1E-53E4AD1B2613}" destId="{060981EA-58E2-4916-8DD5-6CD583FDCBE1}" srcOrd="0" destOrd="0" presId="urn:microsoft.com/office/officeart/2005/8/layout/radial5"/>
    <dgm:cxn modelId="{70D18606-1E48-47BA-98E2-543F3219905A}" type="presOf" srcId="{4D854336-9ABC-4316-A02A-2861023BF3A6}" destId="{79F6E3B3-5803-4EEB-90D7-E0E331745210}" srcOrd="1" destOrd="0" presId="urn:microsoft.com/office/officeart/2005/8/layout/radial5"/>
    <dgm:cxn modelId="{E3AB0008-C197-46E4-88DE-8526455A2CCB}" type="presOf" srcId="{AB30EE99-323A-4EAF-BCEF-8DB10EDEBEFF}" destId="{FF59338D-A006-43DF-AD63-258F6D43A0B0}" srcOrd="0" destOrd="0" presId="urn:microsoft.com/office/officeart/2005/8/layout/radial5"/>
    <dgm:cxn modelId="{C1884615-7584-4F64-8291-0DECF69DCB17}" srcId="{A58D7735-382A-4E7E-A0F8-87A53CE1EAA2}" destId="{9002AC34-D92C-4D2F-B8D4-6BC2CB78638B}" srcOrd="0" destOrd="0" parTransId="{B5E772D5-C266-4E7D-8086-13A8FC1345FB}" sibTransId="{A2AC813F-6A23-4574-8C39-86952622E09C}"/>
    <dgm:cxn modelId="{28937016-0418-4853-8CFD-60C7D6C3CA38}" type="presOf" srcId="{52A5ACB3-9368-4ACD-94E2-7DCB9D42F789}" destId="{3FF86B0F-2CDA-44D5-8542-68CB051323F4}" srcOrd="0" destOrd="0" presId="urn:microsoft.com/office/officeart/2005/8/layout/radial5"/>
    <dgm:cxn modelId="{28E8342D-9B19-4C69-97C0-D6B97A0A4CA6}" type="presOf" srcId="{0DF2CCDE-08B6-4A10-9980-7D1DB3BA061E}" destId="{C82FD7C2-DA11-4910-AA7B-3623E6B14B2F}" srcOrd="0" destOrd="0" presId="urn:microsoft.com/office/officeart/2005/8/layout/radial5"/>
    <dgm:cxn modelId="{0D9F3F33-31E2-411F-982C-00C7F49AE98E}" type="presOf" srcId="{BB594B38-D908-4AE5-819C-2EE3A01AFE41}" destId="{32981C4D-9474-40B1-B57D-3D707359DA86}" srcOrd="0" destOrd="0" presId="urn:microsoft.com/office/officeart/2005/8/layout/radial5"/>
    <dgm:cxn modelId="{38626D3A-C121-4EA6-A94A-CA3EE8B2CEFE}" type="presOf" srcId="{9002AC34-D92C-4D2F-B8D4-6BC2CB78638B}" destId="{4B9F2C79-D9CF-4995-879C-3F0E9B6182A9}" srcOrd="0" destOrd="0" presId="urn:microsoft.com/office/officeart/2005/8/layout/radial5"/>
    <dgm:cxn modelId="{647A6F63-CF53-490D-B862-517B04FAA0A8}" type="presOf" srcId="{20863567-1A3E-473B-A82E-F3BCACDD1465}" destId="{5B3951A4-2F59-41CB-B15F-221A70BFF3F9}" srcOrd="1" destOrd="0" presId="urn:microsoft.com/office/officeart/2005/8/layout/radial5"/>
    <dgm:cxn modelId="{BF6E374F-1029-4C32-B94D-315A98A1BBC8}" type="presOf" srcId="{33863A8A-1975-47E4-B58E-20D93CD412C6}" destId="{B56AF3AA-7549-4F30-BFDF-81063FD50784}" srcOrd="1" destOrd="0" presId="urn:microsoft.com/office/officeart/2005/8/layout/radial5"/>
    <dgm:cxn modelId="{7B103755-082F-4191-B975-5D4B68F0F872}" srcId="{9002AC34-D92C-4D2F-B8D4-6BC2CB78638B}" destId="{BB594B38-D908-4AE5-819C-2EE3A01AFE41}" srcOrd="1" destOrd="0" parTransId="{18D93331-8750-4B51-AA1E-53E4AD1B2613}" sibTransId="{86E20D59-8283-42B8-9001-B7BA78F6C47F}"/>
    <dgm:cxn modelId="{E6B6C655-463D-4709-B1F6-2D095CCB826C}" type="presOf" srcId="{0DF2CCDE-08B6-4A10-9980-7D1DB3BA061E}" destId="{AE08332E-C211-4D16-86DF-05F7194ACBB9}" srcOrd="1" destOrd="0" presId="urn:microsoft.com/office/officeart/2005/8/layout/radial5"/>
    <dgm:cxn modelId="{B060A986-6440-45A6-B671-81E6E2E85738}" type="presOf" srcId="{20863567-1A3E-473B-A82E-F3BCACDD1465}" destId="{88042501-B274-4D06-A757-A63B88FD365B}" srcOrd="0" destOrd="0" presId="urn:microsoft.com/office/officeart/2005/8/layout/radial5"/>
    <dgm:cxn modelId="{9515B387-1093-4EC9-9409-F0023CB1B2CC}" type="presOf" srcId="{13D23FCD-0CE5-406C-AA4C-3FBC5BAA1E99}" destId="{B7D08AFF-93BD-4AE7-8DEF-FAF7EA330098}" srcOrd="0" destOrd="0" presId="urn:microsoft.com/office/officeart/2005/8/layout/radial5"/>
    <dgm:cxn modelId="{A6868889-2ADB-4F2F-B4D2-29CD494D84E7}" type="presOf" srcId="{18D93331-8750-4B51-AA1E-53E4AD1B2613}" destId="{489C1C49-1AF3-48F0-8B74-6FC7770F2194}" srcOrd="1" destOrd="0" presId="urn:microsoft.com/office/officeart/2005/8/layout/radial5"/>
    <dgm:cxn modelId="{8D21038D-0690-46C0-8891-C15668F5EF3B}" srcId="{9002AC34-D92C-4D2F-B8D4-6BC2CB78638B}" destId="{13D23FCD-0CE5-406C-AA4C-3FBC5BAA1E99}" srcOrd="2" destOrd="0" parTransId="{E2BCDEE1-C5DD-4A7D-9A90-DE2AD2408E3C}" sibTransId="{40A86F9E-B49F-46AF-96F1-41F428437AAE}"/>
    <dgm:cxn modelId="{A4C4D290-DEE6-4DC3-B82F-A329448CF474}" srcId="{9002AC34-D92C-4D2F-B8D4-6BC2CB78638B}" destId="{52A5ACB3-9368-4ACD-94E2-7DCB9D42F789}" srcOrd="0" destOrd="0" parTransId="{20863567-1A3E-473B-A82E-F3BCACDD1465}" sibTransId="{53004C31-E2FD-41FE-8383-68F8569F9140}"/>
    <dgm:cxn modelId="{DE02859D-CC67-4A77-96E5-44354B3947C4}" type="presOf" srcId="{E2BCDEE1-C5DD-4A7D-9A90-DE2AD2408E3C}" destId="{C3F9A135-F379-45F1-96A1-DE814B1EED9B}" srcOrd="0" destOrd="0" presId="urn:microsoft.com/office/officeart/2005/8/layout/radial5"/>
    <dgm:cxn modelId="{563B76A8-F36A-4866-B60D-0892C1CCD9CF}" type="presOf" srcId="{A58D7735-382A-4E7E-A0F8-87A53CE1EAA2}" destId="{E2C797B2-B893-4424-B587-27CA9689658A}" srcOrd="0" destOrd="0" presId="urn:microsoft.com/office/officeart/2005/8/layout/radial5"/>
    <dgm:cxn modelId="{2B5965AF-5529-4F6D-BF25-7779A49D81C6}" type="presOf" srcId="{79BAE75F-DDAF-402B-A499-108FA85FF36B}" destId="{A7B3ECA3-0D37-4BD8-AD1D-5469B06F0E65}" srcOrd="0" destOrd="0" presId="urn:microsoft.com/office/officeart/2005/8/layout/radial5"/>
    <dgm:cxn modelId="{38A553B3-EF62-4D96-80F5-756C4BFA4390}" srcId="{9002AC34-D92C-4D2F-B8D4-6BC2CB78638B}" destId="{4C157D38-DE60-428E-9C89-3777554CFD62}" srcOrd="5" destOrd="0" parTransId="{4D854336-9ABC-4316-A02A-2861023BF3A6}" sibTransId="{A7E55B6B-56AC-4363-BFE9-23DCD04E0DD0}"/>
    <dgm:cxn modelId="{622054C3-D165-46E3-BA45-244077B2A891}" type="presOf" srcId="{4D854336-9ABC-4316-A02A-2861023BF3A6}" destId="{9350472C-F2F4-488C-B77B-83CE2F6E2DFB}" srcOrd="0" destOrd="0" presId="urn:microsoft.com/office/officeart/2005/8/layout/radial5"/>
    <dgm:cxn modelId="{1C42D0C3-35D4-4B73-8EAE-49AA06B1E3E9}" srcId="{9002AC34-D92C-4D2F-B8D4-6BC2CB78638B}" destId="{79BAE75F-DDAF-402B-A499-108FA85FF36B}" srcOrd="3" destOrd="0" parTransId="{0DF2CCDE-08B6-4A10-9980-7D1DB3BA061E}" sibTransId="{C82643AB-1D84-4DAD-8172-AE946AF32386}"/>
    <dgm:cxn modelId="{E0D804D2-74A6-4426-8B48-73156AB7A247}" type="presOf" srcId="{4C157D38-DE60-428E-9C89-3777554CFD62}" destId="{41393439-9043-4979-ACB0-D093F49D4BB1}" srcOrd="0" destOrd="0" presId="urn:microsoft.com/office/officeart/2005/8/layout/radial5"/>
    <dgm:cxn modelId="{F2D892DD-AA57-405A-89BA-0F17B1A80D9A}" type="presOf" srcId="{E2BCDEE1-C5DD-4A7D-9A90-DE2AD2408E3C}" destId="{654C2959-AA60-484E-9427-7AB76D15A530}" srcOrd="1" destOrd="0" presId="urn:microsoft.com/office/officeart/2005/8/layout/radial5"/>
    <dgm:cxn modelId="{B7B5A6EF-0E49-49F4-9F92-125FCE9A6FB3}" type="presOf" srcId="{33863A8A-1975-47E4-B58E-20D93CD412C6}" destId="{DA2141C4-C2B5-4633-9B38-C0D1884EFA34}" srcOrd="0" destOrd="0" presId="urn:microsoft.com/office/officeart/2005/8/layout/radial5"/>
    <dgm:cxn modelId="{B3E52EFF-E341-4D52-946E-94B93CAD6E95}" srcId="{9002AC34-D92C-4D2F-B8D4-6BC2CB78638B}" destId="{AB30EE99-323A-4EAF-BCEF-8DB10EDEBEFF}" srcOrd="4" destOrd="0" parTransId="{33863A8A-1975-47E4-B58E-20D93CD412C6}" sibTransId="{E5237FED-A5C2-46B3-B4CF-33643866809E}"/>
    <dgm:cxn modelId="{C1DE7696-CA03-474A-B2BB-B1A09985BBF2}" type="presParOf" srcId="{E2C797B2-B893-4424-B587-27CA9689658A}" destId="{4B9F2C79-D9CF-4995-879C-3F0E9B6182A9}" srcOrd="0" destOrd="0" presId="urn:microsoft.com/office/officeart/2005/8/layout/radial5"/>
    <dgm:cxn modelId="{FEA5BA97-85BF-41DB-91F3-0595E74D8301}" type="presParOf" srcId="{E2C797B2-B893-4424-B587-27CA9689658A}" destId="{88042501-B274-4D06-A757-A63B88FD365B}" srcOrd="1" destOrd="0" presId="urn:microsoft.com/office/officeart/2005/8/layout/radial5"/>
    <dgm:cxn modelId="{64562873-8770-442D-9B75-67326EF3A646}" type="presParOf" srcId="{88042501-B274-4D06-A757-A63B88FD365B}" destId="{5B3951A4-2F59-41CB-B15F-221A70BFF3F9}" srcOrd="0" destOrd="0" presId="urn:microsoft.com/office/officeart/2005/8/layout/radial5"/>
    <dgm:cxn modelId="{56EFFE3D-16D9-45E5-B287-158F29766DF1}" type="presParOf" srcId="{E2C797B2-B893-4424-B587-27CA9689658A}" destId="{3FF86B0F-2CDA-44D5-8542-68CB051323F4}" srcOrd="2" destOrd="0" presId="urn:microsoft.com/office/officeart/2005/8/layout/radial5"/>
    <dgm:cxn modelId="{2B4C55C8-CA42-4274-88FB-E6AE2E8344B2}" type="presParOf" srcId="{E2C797B2-B893-4424-B587-27CA9689658A}" destId="{060981EA-58E2-4916-8DD5-6CD583FDCBE1}" srcOrd="3" destOrd="0" presId="urn:microsoft.com/office/officeart/2005/8/layout/radial5"/>
    <dgm:cxn modelId="{2EA64E5F-EB87-4369-934D-965D495D30B9}" type="presParOf" srcId="{060981EA-58E2-4916-8DD5-6CD583FDCBE1}" destId="{489C1C49-1AF3-48F0-8B74-6FC7770F2194}" srcOrd="0" destOrd="0" presId="urn:microsoft.com/office/officeart/2005/8/layout/radial5"/>
    <dgm:cxn modelId="{87306A2E-B943-4298-A618-E23D4C51F415}" type="presParOf" srcId="{E2C797B2-B893-4424-B587-27CA9689658A}" destId="{32981C4D-9474-40B1-B57D-3D707359DA86}" srcOrd="4" destOrd="0" presId="urn:microsoft.com/office/officeart/2005/8/layout/radial5"/>
    <dgm:cxn modelId="{CEE06CC2-EDB3-4F75-B5CE-A1BFA34CDDB0}" type="presParOf" srcId="{E2C797B2-B893-4424-B587-27CA9689658A}" destId="{C3F9A135-F379-45F1-96A1-DE814B1EED9B}" srcOrd="5" destOrd="0" presId="urn:microsoft.com/office/officeart/2005/8/layout/radial5"/>
    <dgm:cxn modelId="{2841F7B8-3FB6-4505-8742-77D60A9A8756}" type="presParOf" srcId="{C3F9A135-F379-45F1-96A1-DE814B1EED9B}" destId="{654C2959-AA60-484E-9427-7AB76D15A530}" srcOrd="0" destOrd="0" presId="urn:microsoft.com/office/officeart/2005/8/layout/radial5"/>
    <dgm:cxn modelId="{4D823B00-5690-4E96-B4F9-D49765F3AB2F}" type="presParOf" srcId="{E2C797B2-B893-4424-B587-27CA9689658A}" destId="{B7D08AFF-93BD-4AE7-8DEF-FAF7EA330098}" srcOrd="6" destOrd="0" presId="urn:microsoft.com/office/officeart/2005/8/layout/radial5"/>
    <dgm:cxn modelId="{8008CA6C-A7CC-461F-A2E3-8FECE03B6E9C}" type="presParOf" srcId="{E2C797B2-B893-4424-B587-27CA9689658A}" destId="{C82FD7C2-DA11-4910-AA7B-3623E6B14B2F}" srcOrd="7" destOrd="0" presId="urn:microsoft.com/office/officeart/2005/8/layout/radial5"/>
    <dgm:cxn modelId="{5F147BC7-90AF-4694-9C96-1B908D6DE751}" type="presParOf" srcId="{C82FD7C2-DA11-4910-AA7B-3623E6B14B2F}" destId="{AE08332E-C211-4D16-86DF-05F7194ACBB9}" srcOrd="0" destOrd="0" presId="urn:microsoft.com/office/officeart/2005/8/layout/radial5"/>
    <dgm:cxn modelId="{A45FBB57-9C4C-41A3-B762-A365693F30B8}" type="presParOf" srcId="{E2C797B2-B893-4424-B587-27CA9689658A}" destId="{A7B3ECA3-0D37-4BD8-AD1D-5469B06F0E65}" srcOrd="8" destOrd="0" presId="urn:microsoft.com/office/officeart/2005/8/layout/radial5"/>
    <dgm:cxn modelId="{4C2137BD-12AF-4242-B5E1-87C0088D8A5F}" type="presParOf" srcId="{E2C797B2-B893-4424-B587-27CA9689658A}" destId="{DA2141C4-C2B5-4633-9B38-C0D1884EFA34}" srcOrd="9" destOrd="0" presId="urn:microsoft.com/office/officeart/2005/8/layout/radial5"/>
    <dgm:cxn modelId="{4B9BB014-63C0-4ED1-B4A5-45E883450A10}" type="presParOf" srcId="{DA2141C4-C2B5-4633-9B38-C0D1884EFA34}" destId="{B56AF3AA-7549-4F30-BFDF-81063FD50784}" srcOrd="0" destOrd="0" presId="urn:microsoft.com/office/officeart/2005/8/layout/radial5"/>
    <dgm:cxn modelId="{84DC0A5B-64B0-4139-99D5-405FA05287E6}" type="presParOf" srcId="{E2C797B2-B893-4424-B587-27CA9689658A}" destId="{FF59338D-A006-43DF-AD63-258F6D43A0B0}" srcOrd="10" destOrd="0" presId="urn:microsoft.com/office/officeart/2005/8/layout/radial5"/>
    <dgm:cxn modelId="{68AF6A26-FC58-4D05-B2BD-5C5B6B5EBD59}" type="presParOf" srcId="{E2C797B2-B893-4424-B587-27CA9689658A}" destId="{9350472C-F2F4-488C-B77B-83CE2F6E2DFB}" srcOrd="11" destOrd="0" presId="urn:microsoft.com/office/officeart/2005/8/layout/radial5"/>
    <dgm:cxn modelId="{AAEDC8F5-F8C9-4E7E-96AE-31BFD95C8284}" type="presParOf" srcId="{9350472C-F2F4-488C-B77B-83CE2F6E2DFB}" destId="{79F6E3B3-5803-4EEB-90D7-E0E331745210}" srcOrd="0" destOrd="0" presId="urn:microsoft.com/office/officeart/2005/8/layout/radial5"/>
    <dgm:cxn modelId="{98200C42-C375-48EA-AE50-C39FEF1DE4FA}" type="presParOf" srcId="{E2C797B2-B893-4424-B587-27CA9689658A}" destId="{41393439-9043-4979-ACB0-D093F49D4BB1}" srcOrd="12" destOrd="0" presId="urn:microsoft.com/office/officeart/2005/8/layout/radial5"/>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7B3CFCF8-15CB-41AE-B623-698F517E2E5D}" type="doc">
      <dgm:prSet loTypeId="urn:microsoft.com/office/officeart/2005/8/layout/vList6" loCatId="list" qsTypeId="urn:microsoft.com/office/officeart/2005/8/quickstyle/simple1" qsCatId="simple" csTypeId="urn:microsoft.com/office/officeart/2005/8/colors/accent1_2" csCatId="accent1" phldr="1"/>
      <dgm:spPr/>
      <dgm:t>
        <a:bodyPr/>
        <a:lstStyle/>
        <a:p>
          <a:endParaRPr lang="en-IN"/>
        </a:p>
      </dgm:t>
    </dgm:pt>
    <dgm:pt modelId="{EA1E75A2-BCDA-4123-A2EF-EF91BD60BD5E}">
      <dgm:prSet phldrT="[Text]" custT="1"/>
      <dgm:spPr>
        <a:noFill/>
        <a:ln>
          <a:solidFill>
            <a:srgbClr val="FFFF00"/>
          </a:solidFill>
        </a:ln>
      </dgm:spPr>
      <dgm:t>
        <a:bodyPr/>
        <a:lstStyle/>
        <a:p>
          <a:pPr>
            <a:buNone/>
          </a:pPr>
          <a:r>
            <a:rPr lang="en-IN" sz="1600" b="1">
              <a:latin typeface="EY interstate"/>
            </a:rPr>
            <a:t>	</a:t>
          </a:r>
        </a:p>
      </dgm:t>
    </dgm:pt>
    <dgm:pt modelId="{25D7DEB5-2CE9-4B91-8F5B-FE1916214205}" type="parTrans" cxnId="{C1D04C17-E78F-4B8C-9CF9-C9EAAFD6309F}">
      <dgm:prSet/>
      <dgm:spPr/>
      <dgm:t>
        <a:bodyPr/>
        <a:lstStyle/>
        <a:p>
          <a:endParaRPr lang="en-IN"/>
        </a:p>
      </dgm:t>
    </dgm:pt>
    <dgm:pt modelId="{8221B218-D3B6-4913-9E71-4D7541615516}" type="sibTrans" cxnId="{C1D04C17-E78F-4B8C-9CF9-C9EAAFD6309F}">
      <dgm:prSet/>
      <dgm:spPr/>
      <dgm:t>
        <a:bodyPr/>
        <a:lstStyle/>
        <a:p>
          <a:endParaRPr lang="en-IN"/>
        </a:p>
      </dgm:t>
    </dgm:pt>
    <dgm:pt modelId="{5923C8FA-335B-411C-8FF7-55DCBFC46B71}">
      <dgm:prSet phldrT="[Text]" custT="1"/>
      <dgm:spPr>
        <a:noFill/>
        <a:ln>
          <a:solidFill>
            <a:srgbClr val="FFFF00">
              <a:alpha val="90000"/>
            </a:srgbClr>
          </a:solidFill>
        </a:ln>
      </dgm:spPr>
      <dgm:t>
        <a:bodyPr/>
        <a:lstStyle/>
        <a:p>
          <a:pPr>
            <a:buFont typeface="Arial" panose="020B0604020202020204" pitchFamily="34" charset="0"/>
            <a:buChar char="•"/>
          </a:pPr>
          <a:r>
            <a:rPr lang="en-IN" sz="1600" b="0">
              <a:solidFill>
                <a:schemeClr val="bg1"/>
              </a:solidFill>
              <a:latin typeface="EY interstate"/>
            </a:rPr>
            <a:t>Segment reconciliations by legal entity or business unit, Unique identifiers</a:t>
          </a:r>
        </a:p>
      </dgm:t>
    </dgm:pt>
    <dgm:pt modelId="{468AF6D5-6168-4E0A-8B68-E1BAF9022BB6}" type="parTrans" cxnId="{7CD608A9-856F-4D45-8D57-B77849B73B87}">
      <dgm:prSet/>
      <dgm:spPr/>
      <dgm:t>
        <a:bodyPr/>
        <a:lstStyle/>
        <a:p>
          <a:endParaRPr lang="en-IN"/>
        </a:p>
      </dgm:t>
    </dgm:pt>
    <dgm:pt modelId="{BC92B9A5-AC3B-4C6C-9B44-6A63B26AEE91}" type="sibTrans" cxnId="{7CD608A9-856F-4D45-8D57-B77849B73B87}">
      <dgm:prSet/>
      <dgm:spPr/>
      <dgm:t>
        <a:bodyPr/>
        <a:lstStyle/>
        <a:p>
          <a:endParaRPr lang="en-IN"/>
        </a:p>
      </dgm:t>
    </dgm:pt>
    <dgm:pt modelId="{B03DD74E-CC21-46D1-B756-4CED850C411F}">
      <dgm:prSet phldrT="[Text]" custT="1"/>
      <dgm:spPr>
        <a:noFill/>
        <a:ln>
          <a:solidFill>
            <a:srgbClr val="FFFF00"/>
          </a:solidFill>
        </a:ln>
      </dgm:spPr>
      <dgm:t>
        <a:bodyPr/>
        <a:lstStyle/>
        <a:p>
          <a:pPr>
            <a:buNone/>
          </a:pPr>
          <a:endParaRPr lang="en-IN" sz="1600" b="1">
            <a:latin typeface="EY interstate"/>
          </a:endParaRPr>
        </a:p>
      </dgm:t>
    </dgm:pt>
    <dgm:pt modelId="{8016CA96-AE39-4D47-BAA6-205651242D8F}" type="parTrans" cxnId="{275834AE-0DAC-44CB-8776-4511710AA159}">
      <dgm:prSet/>
      <dgm:spPr/>
      <dgm:t>
        <a:bodyPr/>
        <a:lstStyle/>
        <a:p>
          <a:endParaRPr lang="en-IN"/>
        </a:p>
      </dgm:t>
    </dgm:pt>
    <dgm:pt modelId="{A2A6C3B2-6C8D-45AE-B65E-CD7577472F90}" type="sibTrans" cxnId="{275834AE-0DAC-44CB-8776-4511710AA159}">
      <dgm:prSet/>
      <dgm:spPr/>
      <dgm:t>
        <a:bodyPr/>
        <a:lstStyle/>
        <a:p>
          <a:endParaRPr lang="en-IN"/>
        </a:p>
      </dgm:t>
    </dgm:pt>
    <dgm:pt modelId="{F403EDDD-97D4-4ECD-8F89-106E36F31BA1}">
      <dgm:prSet phldrT="[Text]" custT="1"/>
      <dgm:spPr>
        <a:noFill/>
        <a:ln>
          <a:solidFill>
            <a:srgbClr val="FFFF00">
              <a:alpha val="90000"/>
            </a:srgbClr>
          </a:solidFill>
        </a:ln>
      </dgm:spPr>
      <dgm:t>
        <a:bodyPr/>
        <a:lstStyle/>
        <a:p>
          <a:pPr>
            <a:buFont typeface="Arial" panose="020B0604020202020204" pitchFamily="34" charset="0"/>
            <a:buChar char="•"/>
          </a:pPr>
          <a:r>
            <a:rPr lang="en-IN" sz="1600" b="0">
              <a:solidFill>
                <a:schemeClr val="bg1"/>
              </a:solidFill>
              <a:latin typeface="EY interstate"/>
            </a:rPr>
            <a:t>Tag accounts or reconciliations with region or geography codes (e.g., APAC, EMEA, NA).
Align reconciliation calendars with regional close cycles.
Use regional filters in dashboards and reports.</a:t>
          </a:r>
        </a:p>
      </dgm:t>
    </dgm:pt>
    <dgm:pt modelId="{E41437FF-B3FF-4B01-9CDF-95A3B9660FD1}" type="parTrans" cxnId="{7E30F3FE-7EFB-4AFF-A07F-554D406BC565}">
      <dgm:prSet/>
      <dgm:spPr/>
      <dgm:t>
        <a:bodyPr/>
        <a:lstStyle/>
        <a:p>
          <a:endParaRPr lang="en-IN"/>
        </a:p>
      </dgm:t>
    </dgm:pt>
    <dgm:pt modelId="{ECFB7707-0EC2-42DD-8251-1E625DBD8029}" type="sibTrans" cxnId="{7E30F3FE-7EFB-4AFF-A07F-554D406BC565}">
      <dgm:prSet/>
      <dgm:spPr/>
      <dgm:t>
        <a:bodyPr/>
        <a:lstStyle/>
        <a:p>
          <a:endParaRPr lang="en-IN"/>
        </a:p>
      </dgm:t>
    </dgm:pt>
    <dgm:pt modelId="{300B41F9-6D3E-48C0-824D-E2EAE412A791}">
      <dgm:prSet phldrT="[Text]" custT="1"/>
      <dgm:spPr>
        <a:noFill/>
        <a:ln>
          <a:solidFill>
            <a:srgbClr val="FFFF00">
              <a:alpha val="90000"/>
            </a:srgbClr>
          </a:solidFill>
        </a:ln>
      </dgm:spPr>
      <dgm:t>
        <a:bodyPr/>
        <a:lstStyle/>
        <a:p>
          <a:pPr>
            <a:buFont typeface="Arial" panose="020B0604020202020204" pitchFamily="34" charset="0"/>
            <a:buChar char="•"/>
          </a:pPr>
          <a:r>
            <a:rPr lang="en-IN" sz="1600" b="0">
              <a:solidFill>
                <a:schemeClr val="bg1"/>
              </a:solidFill>
              <a:latin typeface="EY interstate"/>
            </a:rPr>
            <a:t>Implement entity-level dashboards Reconciliation status, Exception volume, SLA compliance</a:t>
          </a:r>
        </a:p>
      </dgm:t>
    </dgm:pt>
    <dgm:pt modelId="{748DE4FA-5E68-462C-93DE-7F4D5DD51EBB}" type="parTrans" cxnId="{2D617615-FB2B-4AF3-8AA3-4B8DC3B8E376}">
      <dgm:prSet/>
      <dgm:spPr/>
      <dgm:t>
        <a:bodyPr/>
        <a:lstStyle/>
        <a:p>
          <a:endParaRPr lang="en-IN"/>
        </a:p>
      </dgm:t>
    </dgm:pt>
    <dgm:pt modelId="{665741AE-76DF-4132-BA4A-05AA86A47260}" type="sibTrans" cxnId="{2D617615-FB2B-4AF3-8AA3-4B8DC3B8E376}">
      <dgm:prSet/>
      <dgm:spPr/>
      <dgm:t>
        <a:bodyPr/>
        <a:lstStyle/>
        <a:p>
          <a:endParaRPr lang="en-IN"/>
        </a:p>
      </dgm:t>
    </dgm:pt>
    <dgm:pt modelId="{54BD78DB-850D-443B-9562-0A3CD76A7C96}" type="pres">
      <dgm:prSet presAssocID="{7B3CFCF8-15CB-41AE-B623-698F517E2E5D}" presName="Name0" presStyleCnt="0">
        <dgm:presLayoutVars>
          <dgm:dir/>
          <dgm:animLvl val="lvl"/>
          <dgm:resizeHandles/>
        </dgm:presLayoutVars>
      </dgm:prSet>
      <dgm:spPr/>
    </dgm:pt>
    <dgm:pt modelId="{E0142EF0-ABD3-42DB-9936-325739C63A00}" type="pres">
      <dgm:prSet presAssocID="{EA1E75A2-BCDA-4123-A2EF-EF91BD60BD5E}" presName="linNode" presStyleCnt="0"/>
      <dgm:spPr/>
    </dgm:pt>
    <dgm:pt modelId="{DC16F201-7BCB-4E41-B14B-9A974049A63A}" type="pres">
      <dgm:prSet presAssocID="{EA1E75A2-BCDA-4123-A2EF-EF91BD60BD5E}" presName="parentShp" presStyleLbl="node1" presStyleIdx="0" presStyleCnt="2">
        <dgm:presLayoutVars>
          <dgm:bulletEnabled val="1"/>
        </dgm:presLayoutVars>
      </dgm:prSet>
      <dgm:spPr/>
    </dgm:pt>
    <dgm:pt modelId="{11975A99-4637-4EDF-A240-6664CDFCDDD2}" type="pres">
      <dgm:prSet presAssocID="{EA1E75A2-BCDA-4123-A2EF-EF91BD60BD5E}" presName="childShp" presStyleLbl="bgAccFollowNode1" presStyleIdx="0" presStyleCnt="2">
        <dgm:presLayoutVars>
          <dgm:bulletEnabled val="1"/>
        </dgm:presLayoutVars>
      </dgm:prSet>
      <dgm:spPr/>
    </dgm:pt>
    <dgm:pt modelId="{E0C37FE4-9E6C-471A-8DAC-848B139CB597}" type="pres">
      <dgm:prSet presAssocID="{8221B218-D3B6-4913-9E71-4D7541615516}" presName="spacing" presStyleCnt="0"/>
      <dgm:spPr/>
    </dgm:pt>
    <dgm:pt modelId="{B41B18FE-2916-4181-BD4D-76549664D253}" type="pres">
      <dgm:prSet presAssocID="{B03DD74E-CC21-46D1-B756-4CED850C411F}" presName="linNode" presStyleCnt="0"/>
      <dgm:spPr/>
    </dgm:pt>
    <dgm:pt modelId="{CEB72115-A3E3-4BB6-B585-1D9EA51D9826}" type="pres">
      <dgm:prSet presAssocID="{B03DD74E-CC21-46D1-B756-4CED850C411F}" presName="parentShp" presStyleLbl="node1" presStyleIdx="1" presStyleCnt="2">
        <dgm:presLayoutVars>
          <dgm:bulletEnabled val="1"/>
        </dgm:presLayoutVars>
      </dgm:prSet>
      <dgm:spPr/>
    </dgm:pt>
    <dgm:pt modelId="{2A5C3D8F-1DD8-47ED-AE1D-BAC3F209CDB9}" type="pres">
      <dgm:prSet presAssocID="{B03DD74E-CC21-46D1-B756-4CED850C411F}" presName="childShp" presStyleLbl="bgAccFollowNode1" presStyleIdx="1" presStyleCnt="2">
        <dgm:presLayoutVars>
          <dgm:bulletEnabled val="1"/>
        </dgm:presLayoutVars>
      </dgm:prSet>
      <dgm:spPr/>
    </dgm:pt>
  </dgm:ptLst>
  <dgm:cxnLst>
    <dgm:cxn modelId="{2D617615-FB2B-4AF3-8AA3-4B8DC3B8E376}" srcId="{EA1E75A2-BCDA-4123-A2EF-EF91BD60BD5E}" destId="{300B41F9-6D3E-48C0-824D-E2EAE412A791}" srcOrd="1" destOrd="0" parTransId="{748DE4FA-5E68-462C-93DE-7F4D5DD51EBB}" sibTransId="{665741AE-76DF-4132-BA4A-05AA86A47260}"/>
    <dgm:cxn modelId="{C1D04C17-E78F-4B8C-9CF9-C9EAAFD6309F}" srcId="{7B3CFCF8-15CB-41AE-B623-698F517E2E5D}" destId="{EA1E75A2-BCDA-4123-A2EF-EF91BD60BD5E}" srcOrd="0" destOrd="0" parTransId="{25D7DEB5-2CE9-4B91-8F5B-FE1916214205}" sibTransId="{8221B218-D3B6-4913-9E71-4D7541615516}"/>
    <dgm:cxn modelId="{7A34FB2E-8CCF-4C0E-AEF7-4956B2C2D3CB}" type="presOf" srcId="{B03DD74E-CC21-46D1-B756-4CED850C411F}" destId="{CEB72115-A3E3-4BB6-B585-1D9EA51D9826}" srcOrd="0" destOrd="0" presId="urn:microsoft.com/office/officeart/2005/8/layout/vList6"/>
    <dgm:cxn modelId="{4D59CB46-CDCE-44A6-82AF-13988088F4F4}" type="presOf" srcId="{5923C8FA-335B-411C-8FF7-55DCBFC46B71}" destId="{11975A99-4637-4EDF-A240-6664CDFCDDD2}" srcOrd="0" destOrd="0" presId="urn:microsoft.com/office/officeart/2005/8/layout/vList6"/>
    <dgm:cxn modelId="{9EBA8C57-F79C-4C96-9AB7-29DF9C6FEDB6}" type="presOf" srcId="{300B41F9-6D3E-48C0-824D-E2EAE412A791}" destId="{11975A99-4637-4EDF-A240-6664CDFCDDD2}" srcOrd="0" destOrd="1" presId="urn:microsoft.com/office/officeart/2005/8/layout/vList6"/>
    <dgm:cxn modelId="{7CD608A9-856F-4D45-8D57-B77849B73B87}" srcId="{EA1E75A2-BCDA-4123-A2EF-EF91BD60BD5E}" destId="{5923C8FA-335B-411C-8FF7-55DCBFC46B71}" srcOrd="0" destOrd="0" parTransId="{468AF6D5-6168-4E0A-8B68-E1BAF9022BB6}" sibTransId="{BC92B9A5-AC3B-4C6C-9B44-6A63B26AEE91}"/>
    <dgm:cxn modelId="{275834AE-0DAC-44CB-8776-4511710AA159}" srcId="{7B3CFCF8-15CB-41AE-B623-698F517E2E5D}" destId="{B03DD74E-CC21-46D1-B756-4CED850C411F}" srcOrd="1" destOrd="0" parTransId="{8016CA96-AE39-4D47-BAA6-205651242D8F}" sibTransId="{A2A6C3B2-6C8D-45AE-B65E-CD7577472F90}"/>
    <dgm:cxn modelId="{3B7FFBC0-3C40-42B3-AFF6-C8839970900F}" type="presOf" srcId="{7B3CFCF8-15CB-41AE-B623-698F517E2E5D}" destId="{54BD78DB-850D-443B-9562-0A3CD76A7C96}" srcOrd="0" destOrd="0" presId="urn:microsoft.com/office/officeart/2005/8/layout/vList6"/>
    <dgm:cxn modelId="{C86B91C9-676A-4656-9FA5-99F8B0D7A562}" type="presOf" srcId="{EA1E75A2-BCDA-4123-A2EF-EF91BD60BD5E}" destId="{DC16F201-7BCB-4E41-B14B-9A974049A63A}" srcOrd="0" destOrd="0" presId="urn:microsoft.com/office/officeart/2005/8/layout/vList6"/>
    <dgm:cxn modelId="{F2202CF5-5042-4E6A-B164-DF0900F78D85}" type="presOf" srcId="{F403EDDD-97D4-4ECD-8F89-106E36F31BA1}" destId="{2A5C3D8F-1DD8-47ED-AE1D-BAC3F209CDB9}" srcOrd="0" destOrd="0" presId="urn:microsoft.com/office/officeart/2005/8/layout/vList6"/>
    <dgm:cxn modelId="{7E30F3FE-7EFB-4AFF-A07F-554D406BC565}" srcId="{B03DD74E-CC21-46D1-B756-4CED850C411F}" destId="{F403EDDD-97D4-4ECD-8F89-106E36F31BA1}" srcOrd="0" destOrd="0" parTransId="{E41437FF-B3FF-4B01-9CDF-95A3B9660FD1}" sibTransId="{ECFB7707-0EC2-42DD-8251-1E625DBD8029}"/>
    <dgm:cxn modelId="{D15B7C76-0A0C-4466-8C48-4797AD31D1DF}" type="presParOf" srcId="{54BD78DB-850D-443B-9562-0A3CD76A7C96}" destId="{E0142EF0-ABD3-42DB-9936-325739C63A00}" srcOrd="0" destOrd="0" presId="urn:microsoft.com/office/officeart/2005/8/layout/vList6"/>
    <dgm:cxn modelId="{2791901E-73BB-40DA-9AE3-C719C6EDA6E9}" type="presParOf" srcId="{E0142EF0-ABD3-42DB-9936-325739C63A00}" destId="{DC16F201-7BCB-4E41-B14B-9A974049A63A}" srcOrd="0" destOrd="0" presId="urn:microsoft.com/office/officeart/2005/8/layout/vList6"/>
    <dgm:cxn modelId="{45A3C034-BC52-4437-86C6-4AC7E0F5BF90}" type="presParOf" srcId="{E0142EF0-ABD3-42DB-9936-325739C63A00}" destId="{11975A99-4637-4EDF-A240-6664CDFCDDD2}" srcOrd="1" destOrd="0" presId="urn:microsoft.com/office/officeart/2005/8/layout/vList6"/>
    <dgm:cxn modelId="{10BE03F1-F914-4FEE-83FC-2768FE48306D}" type="presParOf" srcId="{54BD78DB-850D-443B-9562-0A3CD76A7C96}" destId="{E0C37FE4-9E6C-471A-8DAC-848B139CB597}" srcOrd="1" destOrd="0" presId="urn:microsoft.com/office/officeart/2005/8/layout/vList6"/>
    <dgm:cxn modelId="{09C5B971-9674-4793-BB59-B041368689FF}" type="presParOf" srcId="{54BD78DB-850D-443B-9562-0A3CD76A7C96}" destId="{B41B18FE-2916-4181-BD4D-76549664D253}" srcOrd="2" destOrd="0" presId="urn:microsoft.com/office/officeart/2005/8/layout/vList6"/>
    <dgm:cxn modelId="{BC6CF24F-60A6-4DF3-8BE9-371CADFA3A4F}" type="presParOf" srcId="{B41B18FE-2916-4181-BD4D-76549664D253}" destId="{CEB72115-A3E3-4BB6-B585-1D9EA51D9826}" srcOrd="0" destOrd="0" presId="urn:microsoft.com/office/officeart/2005/8/layout/vList6"/>
    <dgm:cxn modelId="{9382DB9D-AC41-48B5-BA43-956840A99097}" type="presParOf" srcId="{B41B18FE-2916-4181-BD4D-76549664D253}" destId="{2A5C3D8F-1DD8-47ED-AE1D-BAC3F209CDB9}" srcOrd="1" destOrd="0" presId="urn:microsoft.com/office/officeart/2005/8/layout/vList6"/>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77104DEB-59F3-4B8F-AD32-BC6775B8BD9C}" type="doc">
      <dgm:prSet loTypeId="urn:microsoft.com/office/officeart/2005/8/layout/vList4" loCatId="list" qsTypeId="urn:microsoft.com/office/officeart/2005/8/quickstyle/simple1" qsCatId="simple" csTypeId="urn:microsoft.com/office/officeart/2005/8/colors/accent1_2" csCatId="accent1" phldr="1"/>
      <dgm:spPr/>
      <dgm:t>
        <a:bodyPr/>
        <a:lstStyle/>
        <a:p>
          <a:endParaRPr lang="en-IN"/>
        </a:p>
      </dgm:t>
    </dgm:pt>
    <dgm:pt modelId="{A383B5F7-00E4-469F-980F-EA2CF6414555}">
      <dgm:prSet phldrT="[Text]" custT="1"/>
      <dgm:spPr>
        <a:noFill/>
        <a:ln>
          <a:solidFill>
            <a:srgbClr val="FFFF00"/>
          </a:solidFill>
        </a:ln>
      </dgm:spPr>
      <dgm:t>
        <a:bodyPr/>
        <a:lstStyle/>
        <a:p>
          <a:pPr>
            <a:buNone/>
          </a:pPr>
          <a:r>
            <a:rPr lang="en-IN" sz="1600" b="0">
              <a:solidFill>
                <a:schemeClr val="bg1"/>
              </a:solidFill>
              <a:latin typeface="EY interstate"/>
            </a:rPr>
            <a:t>Track aging of unreconciled items (e.g., 0–30, 31–90, 91–180, 180+ days)</a:t>
          </a:r>
        </a:p>
      </dgm:t>
    </dgm:pt>
    <dgm:pt modelId="{9C84DC0A-AE40-4184-A463-B5B82C98D8D1}" type="parTrans" cxnId="{4E6B8092-35CB-4AC6-A2D2-0BB198F9A80F}">
      <dgm:prSet/>
      <dgm:spPr>
        <a:ln>
          <a:solidFill>
            <a:srgbClr val="FFFF00"/>
          </a:solidFill>
        </a:ln>
      </dgm:spPr>
      <dgm:t>
        <a:bodyPr/>
        <a:lstStyle/>
        <a:p>
          <a:endParaRPr lang="en-IN"/>
        </a:p>
      </dgm:t>
    </dgm:pt>
    <dgm:pt modelId="{A16C38CC-0AAD-4A81-82AC-86B89FFC6898}" type="sibTrans" cxnId="{4E6B8092-35CB-4AC6-A2D2-0BB198F9A80F}">
      <dgm:prSet/>
      <dgm:spPr/>
      <dgm:t>
        <a:bodyPr/>
        <a:lstStyle/>
        <a:p>
          <a:endParaRPr lang="en-IN"/>
        </a:p>
      </dgm:t>
    </dgm:pt>
    <dgm:pt modelId="{2D298F66-77E8-4772-8860-9C20F7533AB3}">
      <dgm:prSet custT="1"/>
      <dgm:spPr>
        <a:noFill/>
        <a:ln>
          <a:solidFill>
            <a:srgbClr val="FFFF00"/>
          </a:solidFill>
        </a:ln>
      </dgm:spPr>
      <dgm:t>
        <a:bodyPr/>
        <a:lstStyle/>
        <a:p>
          <a:r>
            <a:rPr lang="en-IN" sz="1600">
              <a:solidFill>
                <a:schemeClr val="bg1"/>
              </a:solidFill>
              <a:latin typeface="EY interstate"/>
            </a:rPr>
            <a:t>Use aging buckets in exception logs and dashboards.</a:t>
          </a:r>
        </a:p>
      </dgm:t>
    </dgm:pt>
    <dgm:pt modelId="{0D60815C-E7DD-450C-A17C-86C0FC46F188}" type="parTrans" cxnId="{955C85F3-671B-4A58-90D6-1A12BE7454B2}">
      <dgm:prSet/>
      <dgm:spPr>
        <a:ln>
          <a:solidFill>
            <a:srgbClr val="FFFF00"/>
          </a:solidFill>
        </a:ln>
      </dgm:spPr>
      <dgm:t>
        <a:bodyPr/>
        <a:lstStyle/>
        <a:p>
          <a:endParaRPr lang="en-IN"/>
        </a:p>
      </dgm:t>
    </dgm:pt>
    <dgm:pt modelId="{0CFACBA4-448F-47B3-BF41-371947CDCE8D}" type="sibTrans" cxnId="{955C85F3-671B-4A58-90D6-1A12BE7454B2}">
      <dgm:prSet/>
      <dgm:spPr/>
      <dgm:t>
        <a:bodyPr/>
        <a:lstStyle/>
        <a:p>
          <a:endParaRPr lang="en-IN"/>
        </a:p>
      </dgm:t>
    </dgm:pt>
    <dgm:pt modelId="{A0B752EE-8DD3-4BE9-A573-C6E9E23023BF}">
      <dgm:prSet custT="1"/>
      <dgm:spPr>
        <a:noFill/>
        <a:ln>
          <a:solidFill>
            <a:srgbClr val="FFFF00"/>
          </a:solidFill>
        </a:ln>
      </dgm:spPr>
      <dgm:t>
        <a:bodyPr/>
        <a:lstStyle/>
        <a:p>
          <a:r>
            <a:rPr lang="en-IN" sz="1600">
              <a:solidFill>
                <a:schemeClr val="bg1"/>
              </a:solidFill>
              <a:latin typeface="EY interstate"/>
            </a:rPr>
            <a:t>Set escalation rules for aging thresholds (e.g., &gt;60 days triggers manager review).</a:t>
          </a:r>
        </a:p>
      </dgm:t>
    </dgm:pt>
    <dgm:pt modelId="{C9290ECF-5EDC-4552-A618-B036B6108544}" type="parTrans" cxnId="{9D526C21-827B-48C1-BBEB-FA1638121153}">
      <dgm:prSet/>
      <dgm:spPr>
        <a:ln>
          <a:solidFill>
            <a:srgbClr val="FFFF00"/>
          </a:solidFill>
        </a:ln>
      </dgm:spPr>
      <dgm:t>
        <a:bodyPr/>
        <a:lstStyle/>
        <a:p>
          <a:endParaRPr lang="en-IN"/>
        </a:p>
      </dgm:t>
    </dgm:pt>
    <dgm:pt modelId="{D2F73E06-2A17-415A-9333-7565C2E89164}" type="sibTrans" cxnId="{9D526C21-827B-48C1-BBEB-FA1638121153}">
      <dgm:prSet/>
      <dgm:spPr/>
      <dgm:t>
        <a:bodyPr/>
        <a:lstStyle/>
        <a:p>
          <a:endParaRPr lang="en-IN"/>
        </a:p>
      </dgm:t>
    </dgm:pt>
    <dgm:pt modelId="{92FBEF51-343C-44C0-82CA-65C6CCE4D441}" type="pres">
      <dgm:prSet presAssocID="{77104DEB-59F3-4B8F-AD32-BC6775B8BD9C}" presName="linear" presStyleCnt="0">
        <dgm:presLayoutVars>
          <dgm:dir/>
          <dgm:resizeHandles val="exact"/>
        </dgm:presLayoutVars>
      </dgm:prSet>
      <dgm:spPr/>
    </dgm:pt>
    <dgm:pt modelId="{B97F702B-EA94-4685-920D-561E29649EED}" type="pres">
      <dgm:prSet presAssocID="{A383B5F7-00E4-469F-980F-EA2CF6414555}" presName="comp" presStyleCnt="0"/>
      <dgm:spPr/>
    </dgm:pt>
    <dgm:pt modelId="{39D440EA-0D37-4BD3-B174-A1A186215AAF}" type="pres">
      <dgm:prSet presAssocID="{A383B5F7-00E4-469F-980F-EA2CF6414555}" presName="box" presStyleLbl="node1" presStyleIdx="0" presStyleCnt="3" custLinFactNeighborX="-18672" custLinFactNeighborY="-21650"/>
      <dgm:spPr/>
    </dgm:pt>
    <dgm:pt modelId="{A9513086-C17A-4E12-9091-1CE2FDD88695}" type="pres">
      <dgm:prSet presAssocID="{A383B5F7-00E4-469F-980F-EA2CF6414555}" presName="img" presStyleLbl="fgImgPlace1" presStyleIdx="0" presStyleCnt="3" custScaleX="39852" custScaleY="75982"/>
      <dgm:spPr>
        <a:blipFill>
          <a:blip xmlns:r="http://schemas.openxmlformats.org/officeDocument/2006/relationships" r:embed="rId1">
            <a:extLst>
              <a:ext uri="{96DAC541-7B7A-43D3-8B79-37D633B846F1}">
                <asvg:svgBlip xmlns:asvg="http://schemas.microsoft.com/office/drawing/2016/SVG/main" r:embed="rId2"/>
              </a:ext>
            </a:extLst>
          </a:blip>
          <a:srcRect/>
          <a:stretch>
            <a:fillRect l="-3000" r="-3000"/>
          </a:stretch>
        </a:blipFill>
      </dgm:spPr>
      <dgm:extLst>
        <a:ext uri="{E40237B7-FDA0-4F09-8148-C483321AD2D9}">
          <dgm14:cNvPr xmlns:dgm14="http://schemas.microsoft.com/office/drawing/2010/diagram" id="0" name="" descr="Direction with solid fill"/>
        </a:ext>
      </dgm:extLst>
    </dgm:pt>
    <dgm:pt modelId="{5802D1F7-BFDD-42D3-B3CD-DD8032741E81}" type="pres">
      <dgm:prSet presAssocID="{A383B5F7-00E4-469F-980F-EA2CF6414555}" presName="text" presStyleLbl="node1" presStyleIdx="0" presStyleCnt="3">
        <dgm:presLayoutVars>
          <dgm:bulletEnabled val="1"/>
        </dgm:presLayoutVars>
      </dgm:prSet>
      <dgm:spPr/>
    </dgm:pt>
    <dgm:pt modelId="{54B1005C-2448-4E22-8A48-92B3B1A7D93D}" type="pres">
      <dgm:prSet presAssocID="{A16C38CC-0AAD-4A81-82AC-86B89FFC6898}" presName="spacer" presStyleCnt="0"/>
      <dgm:spPr/>
    </dgm:pt>
    <dgm:pt modelId="{49E4A657-7C3E-4138-82EE-E963F45A090B}" type="pres">
      <dgm:prSet presAssocID="{2D298F66-77E8-4772-8860-9C20F7533AB3}" presName="comp" presStyleCnt="0"/>
      <dgm:spPr/>
    </dgm:pt>
    <dgm:pt modelId="{0482D5A3-5F2D-4F1D-8139-1B2C00158A90}" type="pres">
      <dgm:prSet presAssocID="{2D298F66-77E8-4772-8860-9C20F7533AB3}" presName="box" presStyleLbl="node1" presStyleIdx="1" presStyleCnt="3"/>
      <dgm:spPr/>
    </dgm:pt>
    <dgm:pt modelId="{7060082C-A879-49F8-A564-2484BB771B17}" type="pres">
      <dgm:prSet presAssocID="{2D298F66-77E8-4772-8860-9C20F7533AB3}" presName="img" presStyleLbl="fgImgPlace1" presStyleIdx="1" presStyleCnt="3" custScaleX="39852" custScaleY="65139"/>
      <dgm:spPr>
        <a:blipFill rotWithShape="1">
          <a:blip xmlns:r="http://schemas.openxmlformats.org/officeDocument/2006/relationships" r:embed="rId1">
            <a:extLst>
              <a:ext uri="{96DAC541-7B7A-43D3-8B79-37D633B846F1}">
                <asvg:svgBlip xmlns:asvg="http://schemas.microsoft.com/office/drawing/2016/SVG/main" r:embed="rId2"/>
              </a:ext>
            </a:extLst>
          </a:blip>
          <a:srcRect/>
          <a:stretch>
            <a:fillRect t="-5000" b="-5000"/>
          </a:stretch>
        </a:blipFill>
      </dgm:spPr>
    </dgm:pt>
    <dgm:pt modelId="{55DC15C7-CA2B-4550-9CB9-E406A369E114}" type="pres">
      <dgm:prSet presAssocID="{2D298F66-77E8-4772-8860-9C20F7533AB3}" presName="text" presStyleLbl="node1" presStyleIdx="1" presStyleCnt="3">
        <dgm:presLayoutVars>
          <dgm:bulletEnabled val="1"/>
        </dgm:presLayoutVars>
      </dgm:prSet>
      <dgm:spPr/>
    </dgm:pt>
    <dgm:pt modelId="{5D619B8B-C775-4730-BDEE-62A5CBACA412}" type="pres">
      <dgm:prSet presAssocID="{0CFACBA4-448F-47B3-BF41-371947CDCE8D}" presName="spacer" presStyleCnt="0"/>
      <dgm:spPr/>
    </dgm:pt>
    <dgm:pt modelId="{F11BA9A7-BFB2-4A4B-9B82-5F0ABF1A9EF0}" type="pres">
      <dgm:prSet presAssocID="{A0B752EE-8DD3-4BE9-A573-C6E9E23023BF}" presName="comp" presStyleCnt="0"/>
      <dgm:spPr/>
    </dgm:pt>
    <dgm:pt modelId="{56971811-7C31-4E6F-B449-2AE04E265F96}" type="pres">
      <dgm:prSet presAssocID="{A0B752EE-8DD3-4BE9-A573-C6E9E23023BF}" presName="box" presStyleLbl="node1" presStyleIdx="2" presStyleCnt="3"/>
      <dgm:spPr/>
    </dgm:pt>
    <dgm:pt modelId="{470303EB-C4F3-4D3E-B3F0-F935D0192FCC}" type="pres">
      <dgm:prSet presAssocID="{A0B752EE-8DD3-4BE9-A573-C6E9E23023BF}" presName="img" presStyleLbl="fgImgPlace1" presStyleIdx="2" presStyleCnt="3" custScaleX="41893" custScaleY="77336"/>
      <dgm:spPr>
        <a:blipFill rotWithShape="1">
          <a:blip xmlns:r="http://schemas.openxmlformats.org/officeDocument/2006/relationships" r:embed="rId1">
            <a:extLst>
              <a:ext uri="{96DAC541-7B7A-43D3-8B79-37D633B846F1}">
                <asvg:svgBlip xmlns:asvg="http://schemas.microsoft.com/office/drawing/2016/SVG/main" r:embed="rId2"/>
              </a:ext>
            </a:extLst>
          </a:blip>
          <a:srcRect/>
          <a:stretch>
            <a:fillRect l="-1000" r="-1000"/>
          </a:stretch>
        </a:blipFill>
      </dgm:spPr>
    </dgm:pt>
    <dgm:pt modelId="{4ED007CE-6A2B-42AD-8ABF-B287D945BCB0}" type="pres">
      <dgm:prSet presAssocID="{A0B752EE-8DD3-4BE9-A573-C6E9E23023BF}" presName="text" presStyleLbl="node1" presStyleIdx="2" presStyleCnt="3">
        <dgm:presLayoutVars>
          <dgm:bulletEnabled val="1"/>
        </dgm:presLayoutVars>
      </dgm:prSet>
      <dgm:spPr/>
    </dgm:pt>
  </dgm:ptLst>
  <dgm:cxnLst>
    <dgm:cxn modelId="{87F1DA04-CB80-4086-B5EE-9C794DA88F9F}" type="presOf" srcId="{A383B5F7-00E4-469F-980F-EA2CF6414555}" destId="{5802D1F7-BFDD-42D3-B3CD-DD8032741E81}" srcOrd="1" destOrd="0" presId="urn:microsoft.com/office/officeart/2005/8/layout/vList4"/>
    <dgm:cxn modelId="{9D526C21-827B-48C1-BBEB-FA1638121153}" srcId="{77104DEB-59F3-4B8F-AD32-BC6775B8BD9C}" destId="{A0B752EE-8DD3-4BE9-A573-C6E9E23023BF}" srcOrd="2" destOrd="0" parTransId="{C9290ECF-5EDC-4552-A618-B036B6108544}" sibTransId="{D2F73E06-2A17-415A-9333-7565C2E89164}"/>
    <dgm:cxn modelId="{B11BF632-4285-4E96-84E1-FD838E80F51C}" type="presOf" srcId="{2D298F66-77E8-4772-8860-9C20F7533AB3}" destId="{0482D5A3-5F2D-4F1D-8139-1B2C00158A90}" srcOrd="0" destOrd="0" presId="urn:microsoft.com/office/officeart/2005/8/layout/vList4"/>
    <dgm:cxn modelId="{6E76E33D-894B-4A98-A4A4-0FE4F28BBF25}" type="presOf" srcId="{A0B752EE-8DD3-4BE9-A573-C6E9E23023BF}" destId="{4ED007CE-6A2B-42AD-8ABF-B287D945BCB0}" srcOrd="1" destOrd="0" presId="urn:microsoft.com/office/officeart/2005/8/layout/vList4"/>
    <dgm:cxn modelId="{8609E95D-1C42-4107-9F74-DBF986B4EAB5}" type="presOf" srcId="{2D298F66-77E8-4772-8860-9C20F7533AB3}" destId="{55DC15C7-CA2B-4550-9CB9-E406A369E114}" srcOrd="1" destOrd="0" presId="urn:microsoft.com/office/officeart/2005/8/layout/vList4"/>
    <dgm:cxn modelId="{E6027261-24DC-47B6-B4F2-21DA720D3F71}" type="presOf" srcId="{A0B752EE-8DD3-4BE9-A573-C6E9E23023BF}" destId="{56971811-7C31-4E6F-B449-2AE04E265F96}" srcOrd="0" destOrd="0" presId="urn:microsoft.com/office/officeart/2005/8/layout/vList4"/>
    <dgm:cxn modelId="{9B75CC56-C196-48A3-90E4-EE5DC90BDC02}" type="presOf" srcId="{77104DEB-59F3-4B8F-AD32-BC6775B8BD9C}" destId="{92FBEF51-343C-44C0-82CA-65C6CCE4D441}" srcOrd="0" destOrd="0" presId="urn:microsoft.com/office/officeart/2005/8/layout/vList4"/>
    <dgm:cxn modelId="{4E6B8092-35CB-4AC6-A2D2-0BB198F9A80F}" srcId="{77104DEB-59F3-4B8F-AD32-BC6775B8BD9C}" destId="{A383B5F7-00E4-469F-980F-EA2CF6414555}" srcOrd="0" destOrd="0" parTransId="{9C84DC0A-AE40-4184-A463-B5B82C98D8D1}" sibTransId="{A16C38CC-0AAD-4A81-82AC-86B89FFC6898}"/>
    <dgm:cxn modelId="{9A2112D0-BEC7-42DD-9D48-581EA5DB2082}" type="presOf" srcId="{A383B5F7-00E4-469F-980F-EA2CF6414555}" destId="{39D440EA-0D37-4BD3-B174-A1A186215AAF}" srcOrd="0" destOrd="0" presId="urn:microsoft.com/office/officeart/2005/8/layout/vList4"/>
    <dgm:cxn modelId="{955C85F3-671B-4A58-90D6-1A12BE7454B2}" srcId="{77104DEB-59F3-4B8F-AD32-BC6775B8BD9C}" destId="{2D298F66-77E8-4772-8860-9C20F7533AB3}" srcOrd="1" destOrd="0" parTransId="{0D60815C-E7DD-450C-A17C-86C0FC46F188}" sibTransId="{0CFACBA4-448F-47B3-BF41-371947CDCE8D}"/>
    <dgm:cxn modelId="{A0BA4433-9470-43C9-898E-F8BA0C0D1B13}" type="presParOf" srcId="{92FBEF51-343C-44C0-82CA-65C6CCE4D441}" destId="{B97F702B-EA94-4685-920D-561E29649EED}" srcOrd="0" destOrd="0" presId="urn:microsoft.com/office/officeart/2005/8/layout/vList4"/>
    <dgm:cxn modelId="{8762432C-6722-4672-B56F-7C29DA0F57FB}" type="presParOf" srcId="{B97F702B-EA94-4685-920D-561E29649EED}" destId="{39D440EA-0D37-4BD3-B174-A1A186215AAF}" srcOrd="0" destOrd="0" presId="urn:microsoft.com/office/officeart/2005/8/layout/vList4"/>
    <dgm:cxn modelId="{AA9454BA-7A27-4C2B-A0FB-2ADEF3606BB6}" type="presParOf" srcId="{B97F702B-EA94-4685-920D-561E29649EED}" destId="{A9513086-C17A-4E12-9091-1CE2FDD88695}" srcOrd="1" destOrd="0" presId="urn:microsoft.com/office/officeart/2005/8/layout/vList4"/>
    <dgm:cxn modelId="{11C4E90B-2A63-476E-9A8B-7E627684BEF2}" type="presParOf" srcId="{B97F702B-EA94-4685-920D-561E29649EED}" destId="{5802D1F7-BFDD-42D3-B3CD-DD8032741E81}" srcOrd="2" destOrd="0" presId="urn:microsoft.com/office/officeart/2005/8/layout/vList4"/>
    <dgm:cxn modelId="{E64C64DB-A41C-4723-8BCE-6313405EBABE}" type="presParOf" srcId="{92FBEF51-343C-44C0-82CA-65C6CCE4D441}" destId="{54B1005C-2448-4E22-8A48-92B3B1A7D93D}" srcOrd="1" destOrd="0" presId="urn:microsoft.com/office/officeart/2005/8/layout/vList4"/>
    <dgm:cxn modelId="{464AA10A-89FD-4D62-9D7C-356AE483BA4D}" type="presParOf" srcId="{92FBEF51-343C-44C0-82CA-65C6CCE4D441}" destId="{49E4A657-7C3E-4138-82EE-E963F45A090B}" srcOrd="2" destOrd="0" presId="urn:microsoft.com/office/officeart/2005/8/layout/vList4"/>
    <dgm:cxn modelId="{2DD6A320-966B-4BFF-96F2-E5D9B26C43DC}" type="presParOf" srcId="{49E4A657-7C3E-4138-82EE-E963F45A090B}" destId="{0482D5A3-5F2D-4F1D-8139-1B2C00158A90}" srcOrd="0" destOrd="0" presId="urn:microsoft.com/office/officeart/2005/8/layout/vList4"/>
    <dgm:cxn modelId="{BEF7B24F-E1FB-45BD-AA78-D3DC6E3B0623}" type="presParOf" srcId="{49E4A657-7C3E-4138-82EE-E963F45A090B}" destId="{7060082C-A879-49F8-A564-2484BB771B17}" srcOrd="1" destOrd="0" presId="urn:microsoft.com/office/officeart/2005/8/layout/vList4"/>
    <dgm:cxn modelId="{AD6E9490-6450-4965-955F-D1DE8B0C6D7E}" type="presParOf" srcId="{49E4A657-7C3E-4138-82EE-E963F45A090B}" destId="{55DC15C7-CA2B-4550-9CB9-E406A369E114}" srcOrd="2" destOrd="0" presId="urn:microsoft.com/office/officeart/2005/8/layout/vList4"/>
    <dgm:cxn modelId="{72D2110A-330C-4A62-B6C0-3321EE213F87}" type="presParOf" srcId="{92FBEF51-343C-44C0-82CA-65C6CCE4D441}" destId="{5D619B8B-C775-4730-BDEE-62A5CBACA412}" srcOrd="3" destOrd="0" presId="urn:microsoft.com/office/officeart/2005/8/layout/vList4"/>
    <dgm:cxn modelId="{C107B1AE-9E8C-47F0-83FD-98B2111C6B15}" type="presParOf" srcId="{92FBEF51-343C-44C0-82CA-65C6CCE4D441}" destId="{F11BA9A7-BFB2-4A4B-9B82-5F0ABF1A9EF0}" srcOrd="4" destOrd="0" presId="urn:microsoft.com/office/officeart/2005/8/layout/vList4"/>
    <dgm:cxn modelId="{A7D6042C-0620-43D7-B565-228FE8522C0B}" type="presParOf" srcId="{F11BA9A7-BFB2-4A4B-9B82-5F0ABF1A9EF0}" destId="{56971811-7C31-4E6F-B449-2AE04E265F96}" srcOrd="0" destOrd="0" presId="urn:microsoft.com/office/officeart/2005/8/layout/vList4"/>
    <dgm:cxn modelId="{AF0A654A-D14D-45E1-8451-C22B15E85392}" type="presParOf" srcId="{F11BA9A7-BFB2-4A4B-9B82-5F0ABF1A9EF0}" destId="{470303EB-C4F3-4D3E-B3F0-F935D0192FCC}" srcOrd="1" destOrd="0" presId="urn:microsoft.com/office/officeart/2005/8/layout/vList4"/>
    <dgm:cxn modelId="{D89072C5-1AB5-4457-963E-703ADC9DA2D3}" type="presParOf" srcId="{F11BA9A7-BFB2-4A4B-9B82-5F0ABF1A9EF0}" destId="{4ED007CE-6A2B-42AD-8ABF-B287D945BCB0}" srcOrd="2" destOrd="0" presId="urn:microsoft.com/office/officeart/2005/8/layout/vList4"/>
  </dgm:cxnLst>
  <dgm:bg>
    <a:noFill/>
  </dgm:bg>
  <dgm:whole/>
  <dgm:extLst>
    <a:ext uri="http://schemas.microsoft.com/office/drawing/2008/diagram">
      <dsp:dataModelExt xmlns:dsp="http://schemas.microsoft.com/office/drawing/2008/diagram" relId="rId12"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E55FF980-2028-443F-88E9-AB8EE6751073}" type="doc">
      <dgm:prSet loTypeId="urn:microsoft.com/office/officeart/2011/layout/RadialPictureList" loCatId="picture" qsTypeId="urn:microsoft.com/office/officeart/2005/8/quickstyle/simple1" qsCatId="simple" csTypeId="urn:microsoft.com/office/officeart/2005/8/colors/accent1_2" csCatId="accent1" phldr="1"/>
      <dgm:spPr/>
      <dgm:t>
        <a:bodyPr/>
        <a:lstStyle/>
        <a:p>
          <a:endParaRPr lang="en-IN"/>
        </a:p>
      </dgm:t>
    </dgm:pt>
    <dgm:pt modelId="{32FA7261-82DD-44AF-A447-DD13EE2CFF94}">
      <dgm:prSet phldrT="[Text]" custT="1"/>
      <dgm:spPr>
        <a:solidFill>
          <a:srgbClr val="FFFF00"/>
        </a:solidFill>
      </dgm:spPr>
      <dgm:t>
        <a:bodyPr/>
        <a:lstStyle/>
        <a:p>
          <a:r>
            <a:rPr lang="en-IN" sz="1600" b="1">
              <a:solidFill>
                <a:schemeClr val="tx1"/>
              </a:solidFill>
              <a:latin typeface="EY interstate"/>
            </a:rPr>
            <a:t>Entity Wise</a:t>
          </a:r>
        </a:p>
      </dgm:t>
    </dgm:pt>
    <dgm:pt modelId="{FBAF2759-F91D-48B7-A6E3-E4639E2A85A9}" type="parTrans" cxnId="{5B90D107-B335-40C1-BD01-7A1A80AC4F92}">
      <dgm:prSet/>
      <dgm:spPr/>
      <dgm:t>
        <a:bodyPr/>
        <a:lstStyle/>
        <a:p>
          <a:endParaRPr lang="en-IN"/>
        </a:p>
      </dgm:t>
    </dgm:pt>
    <dgm:pt modelId="{1C81DB26-DA6F-46DC-8CA4-15206ECE242F}" type="sibTrans" cxnId="{5B90D107-B335-40C1-BD01-7A1A80AC4F92}">
      <dgm:prSet/>
      <dgm:spPr/>
      <dgm:t>
        <a:bodyPr/>
        <a:lstStyle/>
        <a:p>
          <a:endParaRPr lang="en-IN"/>
        </a:p>
      </dgm:t>
    </dgm:pt>
    <dgm:pt modelId="{ECD791E4-07C5-4884-913B-01310D936EF7}">
      <dgm:prSet phldrT="[Text]" custT="1"/>
      <dgm:spPr/>
      <dgm:t>
        <a:bodyPr/>
        <a:lstStyle/>
        <a:p>
          <a:r>
            <a:rPr lang="en-IN" sz="900">
              <a:solidFill>
                <a:schemeClr val="bg1"/>
              </a:solidFill>
              <a:latin typeface="EY interstate"/>
            </a:rPr>
            <a:t>% of Reconciliation on time per entity</a:t>
          </a:r>
        </a:p>
      </dgm:t>
    </dgm:pt>
    <dgm:pt modelId="{7145DB53-6398-4B02-968D-85F7BFFF8241}" type="parTrans" cxnId="{D9E87058-0A7D-4845-8828-1C73CCE45478}">
      <dgm:prSet/>
      <dgm:spPr/>
      <dgm:t>
        <a:bodyPr/>
        <a:lstStyle/>
        <a:p>
          <a:endParaRPr lang="en-IN"/>
        </a:p>
      </dgm:t>
    </dgm:pt>
    <dgm:pt modelId="{026983F0-F2EC-4E5C-B4C4-442D8F47EE1F}" type="sibTrans" cxnId="{D9E87058-0A7D-4845-8828-1C73CCE45478}">
      <dgm:prSet/>
      <dgm:spPr/>
      <dgm:t>
        <a:bodyPr/>
        <a:lstStyle/>
        <a:p>
          <a:endParaRPr lang="en-IN"/>
        </a:p>
      </dgm:t>
    </dgm:pt>
    <dgm:pt modelId="{81B6A984-A8D3-4085-8976-E71E2CC1272E}">
      <dgm:prSet phldrT="[Text]"/>
      <dgm:spPr/>
      <dgm:t>
        <a:bodyPr/>
        <a:lstStyle/>
        <a:p>
          <a:r>
            <a:rPr lang="en-IN">
              <a:solidFill>
                <a:schemeClr val="bg1"/>
              </a:solidFill>
              <a:latin typeface="EY interstate"/>
            </a:rPr>
            <a:t>% of exceptions per entity</a:t>
          </a:r>
        </a:p>
      </dgm:t>
    </dgm:pt>
    <dgm:pt modelId="{7BAF5DE5-98A1-4D9A-BBE0-3BC2E7537F24}" type="parTrans" cxnId="{8BFC56D8-13C2-4459-A278-B99100985D27}">
      <dgm:prSet/>
      <dgm:spPr/>
      <dgm:t>
        <a:bodyPr/>
        <a:lstStyle/>
        <a:p>
          <a:endParaRPr lang="en-IN"/>
        </a:p>
      </dgm:t>
    </dgm:pt>
    <dgm:pt modelId="{4FE53CF4-E6BD-4FFE-BC32-302BD3E789F4}" type="sibTrans" cxnId="{8BFC56D8-13C2-4459-A278-B99100985D27}">
      <dgm:prSet/>
      <dgm:spPr/>
      <dgm:t>
        <a:bodyPr/>
        <a:lstStyle/>
        <a:p>
          <a:endParaRPr lang="en-IN"/>
        </a:p>
      </dgm:t>
    </dgm:pt>
    <dgm:pt modelId="{C68F12F8-AE9E-488A-8E31-6D05529A82F7}">
      <dgm:prSet phldrT="[Text]"/>
      <dgm:spPr/>
      <dgm:t>
        <a:bodyPr/>
        <a:lstStyle/>
        <a:p>
          <a:endParaRPr lang="en-IN">
            <a:solidFill>
              <a:srgbClr val="FFFF00"/>
            </a:solidFill>
          </a:endParaRPr>
        </a:p>
      </dgm:t>
    </dgm:pt>
    <dgm:pt modelId="{134E6A3E-F1FB-4F4C-99BC-7DCDFA6E9159}" type="parTrans" cxnId="{D7216534-3FDF-4AD9-822C-C484003DF673}">
      <dgm:prSet/>
      <dgm:spPr/>
      <dgm:t>
        <a:bodyPr/>
        <a:lstStyle/>
        <a:p>
          <a:endParaRPr lang="en-IN"/>
        </a:p>
      </dgm:t>
    </dgm:pt>
    <dgm:pt modelId="{B5503415-6508-4013-A90C-FC1C7A2EFDB0}" type="sibTrans" cxnId="{D7216534-3FDF-4AD9-822C-C484003DF673}">
      <dgm:prSet/>
      <dgm:spPr/>
      <dgm:t>
        <a:bodyPr/>
        <a:lstStyle/>
        <a:p>
          <a:endParaRPr lang="en-IN"/>
        </a:p>
      </dgm:t>
    </dgm:pt>
    <dgm:pt modelId="{E6438F2E-11B9-4541-8B2F-A49018AABE17}">
      <dgm:prSet phldrT="[Text]" phldr="1"/>
      <dgm:spPr/>
      <dgm:t>
        <a:bodyPr/>
        <a:lstStyle/>
        <a:p>
          <a:endParaRPr lang="en-IN"/>
        </a:p>
      </dgm:t>
    </dgm:pt>
    <dgm:pt modelId="{DE701CAD-4499-4BCA-AA5E-DDF803458B00}" type="parTrans" cxnId="{017185EE-64A6-4194-A3FE-AB4EF8F85E2A}">
      <dgm:prSet/>
      <dgm:spPr/>
      <dgm:t>
        <a:bodyPr/>
        <a:lstStyle/>
        <a:p>
          <a:endParaRPr lang="en-IN"/>
        </a:p>
      </dgm:t>
    </dgm:pt>
    <dgm:pt modelId="{F52C2211-7F69-4C27-BFC9-36AFC87219AC}" type="sibTrans" cxnId="{017185EE-64A6-4194-A3FE-AB4EF8F85E2A}">
      <dgm:prSet/>
      <dgm:spPr/>
      <dgm:t>
        <a:bodyPr/>
        <a:lstStyle/>
        <a:p>
          <a:endParaRPr lang="en-IN"/>
        </a:p>
      </dgm:t>
    </dgm:pt>
    <dgm:pt modelId="{F31D5682-5788-4340-85E4-5AE5ACDBC7E0}">
      <dgm:prSet phldrT="[Text]"/>
      <dgm:spPr/>
      <dgm:t>
        <a:bodyPr/>
        <a:lstStyle/>
        <a:p>
          <a:r>
            <a:rPr lang="en-IN">
              <a:solidFill>
                <a:schemeClr val="bg1"/>
              </a:solidFill>
              <a:latin typeface="EY interstate"/>
            </a:rPr>
            <a:t>Average time to resolve exceptions</a:t>
          </a:r>
        </a:p>
      </dgm:t>
    </dgm:pt>
    <dgm:pt modelId="{8834D7C8-C3A2-465E-A184-E5AD94B8FB18}" type="parTrans" cxnId="{439BA5E6-0E35-42B9-A4F8-A94F252423A8}">
      <dgm:prSet/>
      <dgm:spPr/>
      <dgm:t>
        <a:bodyPr/>
        <a:lstStyle/>
        <a:p>
          <a:endParaRPr lang="en-IN"/>
        </a:p>
      </dgm:t>
    </dgm:pt>
    <dgm:pt modelId="{12E4CD37-6705-413A-BA27-3AA889469353}" type="sibTrans" cxnId="{439BA5E6-0E35-42B9-A4F8-A94F252423A8}">
      <dgm:prSet/>
      <dgm:spPr/>
      <dgm:t>
        <a:bodyPr/>
        <a:lstStyle/>
        <a:p>
          <a:endParaRPr lang="en-IN"/>
        </a:p>
      </dgm:t>
    </dgm:pt>
    <dgm:pt modelId="{CC4B8756-F38B-49DD-8560-620A913CAB04}" type="pres">
      <dgm:prSet presAssocID="{E55FF980-2028-443F-88E9-AB8EE6751073}" presName="Name0" presStyleCnt="0">
        <dgm:presLayoutVars>
          <dgm:chMax val="1"/>
          <dgm:chPref val="1"/>
          <dgm:dir/>
          <dgm:resizeHandles/>
        </dgm:presLayoutVars>
      </dgm:prSet>
      <dgm:spPr/>
    </dgm:pt>
    <dgm:pt modelId="{9F1F6C87-4943-4BEC-8681-06A2C53BC7F4}" type="pres">
      <dgm:prSet presAssocID="{32FA7261-82DD-44AF-A447-DD13EE2CFF94}" presName="Parent" presStyleLbl="node1" presStyleIdx="0" presStyleCnt="2">
        <dgm:presLayoutVars>
          <dgm:chMax val="4"/>
          <dgm:chPref val="3"/>
        </dgm:presLayoutVars>
      </dgm:prSet>
      <dgm:spPr/>
    </dgm:pt>
    <dgm:pt modelId="{2CE02A66-3512-440C-8320-69B332884552}" type="pres">
      <dgm:prSet presAssocID="{ECD791E4-07C5-4884-913B-01310D936EF7}" presName="Accent" presStyleLbl="node1" presStyleIdx="1" presStyleCnt="2"/>
      <dgm:spPr>
        <a:noFill/>
        <a:ln>
          <a:noFill/>
        </a:ln>
      </dgm:spPr>
    </dgm:pt>
    <dgm:pt modelId="{EB1E2232-B4DE-4796-A2CE-C33D6CDA8A8B}" type="pres">
      <dgm:prSet presAssocID="{ECD791E4-07C5-4884-913B-01310D936EF7}" presName="Image1" presStyleLbl="fgImgPlace1" presStyleIdx="0" presStyleCnt="3"/>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dgm:spPr>
      <dgm:extLst>
        <a:ext uri="{E40237B7-FDA0-4F09-8148-C483321AD2D9}">
          <dgm14:cNvPr xmlns:dgm14="http://schemas.microsoft.com/office/drawing/2010/diagram" id="0" name="" descr="Bar chart outline"/>
        </a:ext>
      </dgm:extLst>
    </dgm:pt>
    <dgm:pt modelId="{2803BABA-4BEC-41D6-95DB-DA0CA13E801B}" type="pres">
      <dgm:prSet presAssocID="{ECD791E4-07C5-4884-913B-01310D936EF7}" presName="Child1" presStyleLbl="revTx" presStyleIdx="0" presStyleCnt="3">
        <dgm:presLayoutVars>
          <dgm:chMax val="0"/>
          <dgm:chPref val="0"/>
          <dgm:bulletEnabled val="1"/>
        </dgm:presLayoutVars>
      </dgm:prSet>
      <dgm:spPr/>
    </dgm:pt>
    <dgm:pt modelId="{43221261-8396-4CAE-A1AB-7B6F3087A84C}" type="pres">
      <dgm:prSet presAssocID="{81B6A984-A8D3-4085-8976-E71E2CC1272E}" presName="Image2" presStyleCnt="0"/>
      <dgm:spPr/>
    </dgm:pt>
    <dgm:pt modelId="{CEA88086-C236-469A-BFC1-27D83B9DF1FC}" type="pres">
      <dgm:prSet presAssocID="{81B6A984-A8D3-4085-8976-E71E2CC1272E}" presName="Image" presStyleLbl="fgImgPlace1" presStyleIdx="1" presStyleCnt="3"/>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Mathematics with solid fill"/>
        </a:ext>
      </dgm:extLst>
    </dgm:pt>
    <dgm:pt modelId="{7CA97D4C-7482-43A8-B5AB-A32737D12FE0}" type="pres">
      <dgm:prSet presAssocID="{81B6A984-A8D3-4085-8976-E71E2CC1272E}" presName="Child2" presStyleLbl="revTx" presStyleIdx="1" presStyleCnt="3">
        <dgm:presLayoutVars>
          <dgm:chMax val="0"/>
          <dgm:chPref val="0"/>
          <dgm:bulletEnabled val="1"/>
        </dgm:presLayoutVars>
      </dgm:prSet>
      <dgm:spPr/>
    </dgm:pt>
    <dgm:pt modelId="{703D3CE4-CA7A-4277-85E7-48583955D8B3}" type="pres">
      <dgm:prSet presAssocID="{F31D5682-5788-4340-85E4-5AE5ACDBC7E0}" presName="Image3" presStyleCnt="0"/>
      <dgm:spPr/>
    </dgm:pt>
    <dgm:pt modelId="{DB483061-977D-4DEF-A7EB-A345850D4F09}" type="pres">
      <dgm:prSet presAssocID="{F31D5682-5788-4340-85E4-5AE5ACDBC7E0}" presName="Image" presStyleLbl="fgImgPlace1" presStyleIdx="2" presStyleCnt="3"/>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dgm:spPr>
      <dgm:extLst>
        <a:ext uri="{E40237B7-FDA0-4F09-8148-C483321AD2D9}">
          <dgm14:cNvPr xmlns:dgm14="http://schemas.microsoft.com/office/drawing/2010/diagram" id="0" name="" descr="Hourglass Finished with solid fill"/>
        </a:ext>
      </dgm:extLst>
    </dgm:pt>
    <dgm:pt modelId="{5173988B-930D-4447-BAA0-CA36B92C1361}" type="pres">
      <dgm:prSet presAssocID="{F31D5682-5788-4340-85E4-5AE5ACDBC7E0}" presName="Child3" presStyleLbl="revTx" presStyleIdx="2" presStyleCnt="3">
        <dgm:presLayoutVars>
          <dgm:chMax val="0"/>
          <dgm:chPref val="0"/>
          <dgm:bulletEnabled val="1"/>
        </dgm:presLayoutVars>
      </dgm:prSet>
      <dgm:spPr/>
    </dgm:pt>
  </dgm:ptLst>
  <dgm:cxnLst>
    <dgm:cxn modelId="{3C42FC00-83F4-4008-82C7-B1F251DADA21}" type="presOf" srcId="{32FA7261-82DD-44AF-A447-DD13EE2CFF94}" destId="{9F1F6C87-4943-4BEC-8681-06A2C53BC7F4}" srcOrd="0" destOrd="0" presId="urn:microsoft.com/office/officeart/2011/layout/RadialPictureList"/>
    <dgm:cxn modelId="{8C1CCC05-861F-4663-9D5D-5FE59786F29F}" type="presOf" srcId="{E55FF980-2028-443F-88E9-AB8EE6751073}" destId="{CC4B8756-F38B-49DD-8560-620A913CAB04}" srcOrd="0" destOrd="0" presId="urn:microsoft.com/office/officeart/2011/layout/RadialPictureList"/>
    <dgm:cxn modelId="{5B90D107-B335-40C1-BD01-7A1A80AC4F92}" srcId="{E55FF980-2028-443F-88E9-AB8EE6751073}" destId="{32FA7261-82DD-44AF-A447-DD13EE2CFF94}" srcOrd="0" destOrd="0" parTransId="{FBAF2759-F91D-48B7-A6E3-E4639E2A85A9}" sibTransId="{1C81DB26-DA6F-46DC-8CA4-15206ECE242F}"/>
    <dgm:cxn modelId="{282D5E18-F775-4279-A1D3-66383359B155}" type="presOf" srcId="{F31D5682-5788-4340-85E4-5AE5ACDBC7E0}" destId="{5173988B-930D-4447-BAA0-CA36B92C1361}" srcOrd="0" destOrd="0" presId="urn:microsoft.com/office/officeart/2011/layout/RadialPictureList"/>
    <dgm:cxn modelId="{D7216534-3FDF-4AD9-822C-C484003DF673}" srcId="{F31D5682-5788-4340-85E4-5AE5ACDBC7E0}" destId="{C68F12F8-AE9E-488A-8E31-6D05529A82F7}" srcOrd="0" destOrd="0" parTransId="{134E6A3E-F1FB-4F4C-99BC-7DCDFA6E9159}" sibTransId="{B5503415-6508-4013-A90C-FC1C7A2EFDB0}"/>
    <dgm:cxn modelId="{C8C5273B-2B9C-482A-8AD6-72B8F9E71566}" type="presOf" srcId="{C68F12F8-AE9E-488A-8E31-6D05529A82F7}" destId="{5173988B-930D-4447-BAA0-CA36B92C1361}" srcOrd="0" destOrd="1" presId="urn:microsoft.com/office/officeart/2011/layout/RadialPictureList"/>
    <dgm:cxn modelId="{D9E87058-0A7D-4845-8828-1C73CCE45478}" srcId="{32FA7261-82DD-44AF-A447-DD13EE2CFF94}" destId="{ECD791E4-07C5-4884-913B-01310D936EF7}" srcOrd="0" destOrd="0" parTransId="{7145DB53-6398-4B02-968D-85F7BFFF8241}" sibTransId="{026983F0-F2EC-4E5C-B4C4-442D8F47EE1F}"/>
    <dgm:cxn modelId="{E18CC3B2-66AA-4FC4-8434-11D7AC58CE85}" type="presOf" srcId="{ECD791E4-07C5-4884-913B-01310D936EF7}" destId="{2803BABA-4BEC-41D6-95DB-DA0CA13E801B}" srcOrd="0" destOrd="0" presId="urn:microsoft.com/office/officeart/2011/layout/RadialPictureList"/>
    <dgm:cxn modelId="{8BFC56D8-13C2-4459-A278-B99100985D27}" srcId="{32FA7261-82DD-44AF-A447-DD13EE2CFF94}" destId="{81B6A984-A8D3-4085-8976-E71E2CC1272E}" srcOrd="1" destOrd="0" parTransId="{7BAF5DE5-98A1-4D9A-BBE0-3BC2E7537F24}" sibTransId="{4FE53CF4-E6BD-4FFE-BC32-302BD3E789F4}"/>
    <dgm:cxn modelId="{439BA5E6-0E35-42B9-A4F8-A94F252423A8}" srcId="{32FA7261-82DD-44AF-A447-DD13EE2CFF94}" destId="{F31D5682-5788-4340-85E4-5AE5ACDBC7E0}" srcOrd="2" destOrd="0" parTransId="{8834D7C8-C3A2-465E-A184-E5AD94B8FB18}" sibTransId="{12E4CD37-6705-413A-BA27-3AA889469353}"/>
    <dgm:cxn modelId="{0525B5E6-A4B3-480D-A974-6DC8610A97AA}" type="presOf" srcId="{81B6A984-A8D3-4085-8976-E71E2CC1272E}" destId="{7CA97D4C-7482-43A8-B5AB-A32737D12FE0}" srcOrd="0" destOrd="0" presId="urn:microsoft.com/office/officeart/2011/layout/RadialPictureList"/>
    <dgm:cxn modelId="{017185EE-64A6-4194-A3FE-AB4EF8F85E2A}" srcId="{E55FF980-2028-443F-88E9-AB8EE6751073}" destId="{E6438F2E-11B9-4541-8B2F-A49018AABE17}" srcOrd="1" destOrd="0" parTransId="{DE701CAD-4499-4BCA-AA5E-DDF803458B00}" sibTransId="{F52C2211-7F69-4C27-BFC9-36AFC87219AC}"/>
    <dgm:cxn modelId="{2C21F2DF-84F9-451F-9363-496D45C78CE8}" type="presParOf" srcId="{CC4B8756-F38B-49DD-8560-620A913CAB04}" destId="{9F1F6C87-4943-4BEC-8681-06A2C53BC7F4}" srcOrd="0" destOrd="0" presId="urn:microsoft.com/office/officeart/2011/layout/RadialPictureList"/>
    <dgm:cxn modelId="{3FE61EFF-F69C-4EC2-A93D-6433682F3DCA}" type="presParOf" srcId="{CC4B8756-F38B-49DD-8560-620A913CAB04}" destId="{2CE02A66-3512-440C-8320-69B332884552}" srcOrd="1" destOrd="0" presId="urn:microsoft.com/office/officeart/2011/layout/RadialPictureList"/>
    <dgm:cxn modelId="{EB9F43B6-E2CE-4F30-B9D5-236A9D6AEA02}" type="presParOf" srcId="{CC4B8756-F38B-49DD-8560-620A913CAB04}" destId="{EB1E2232-B4DE-4796-A2CE-C33D6CDA8A8B}" srcOrd="2" destOrd="0" presId="urn:microsoft.com/office/officeart/2011/layout/RadialPictureList"/>
    <dgm:cxn modelId="{E5ED16A5-5C49-43AB-8E5F-333A61741318}" type="presParOf" srcId="{CC4B8756-F38B-49DD-8560-620A913CAB04}" destId="{2803BABA-4BEC-41D6-95DB-DA0CA13E801B}" srcOrd="3" destOrd="0" presId="urn:microsoft.com/office/officeart/2011/layout/RadialPictureList"/>
    <dgm:cxn modelId="{E6FF418A-3B95-4C73-AA34-BA1993F914F9}" type="presParOf" srcId="{CC4B8756-F38B-49DD-8560-620A913CAB04}" destId="{43221261-8396-4CAE-A1AB-7B6F3087A84C}" srcOrd="4" destOrd="0" presId="urn:microsoft.com/office/officeart/2011/layout/RadialPictureList"/>
    <dgm:cxn modelId="{7A6AF1A2-61B4-44C9-9463-093F0A821428}" type="presParOf" srcId="{43221261-8396-4CAE-A1AB-7B6F3087A84C}" destId="{CEA88086-C236-469A-BFC1-27D83B9DF1FC}" srcOrd="0" destOrd="0" presId="urn:microsoft.com/office/officeart/2011/layout/RadialPictureList"/>
    <dgm:cxn modelId="{BBDA5181-5189-4143-AAD1-D8A7C99694AF}" type="presParOf" srcId="{CC4B8756-F38B-49DD-8560-620A913CAB04}" destId="{7CA97D4C-7482-43A8-B5AB-A32737D12FE0}" srcOrd="5" destOrd="0" presId="urn:microsoft.com/office/officeart/2011/layout/RadialPictureList"/>
    <dgm:cxn modelId="{7655D306-CF3D-4EC2-97CF-FD67FF6063BA}" type="presParOf" srcId="{CC4B8756-F38B-49DD-8560-620A913CAB04}" destId="{703D3CE4-CA7A-4277-85E7-48583955D8B3}" srcOrd="6" destOrd="0" presId="urn:microsoft.com/office/officeart/2011/layout/RadialPictureList"/>
    <dgm:cxn modelId="{1CB536A2-B3F4-4565-8403-370BA491E16E}" type="presParOf" srcId="{703D3CE4-CA7A-4277-85E7-48583955D8B3}" destId="{DB483061-977D-4DEF-A7EB-A345850D4F09}" srcOrd="0" destOrd="0" presId="urn:microsoft.com/office/officeart/2011/layout/RadialPictureList"/>
    <dgm:cxn modelId="{0484EA54-3C61-4B34-8B3A-6D397D8EF3B6}" type="presParOf" srcId="{CC4B8756-F38B-49DD-8560-620A913CAB04}" destId="{5173988B-930D-4447-BAA0-CA36B92C1361}" srcOrd="7" destOrd="0" presId="urn:microsoft.com/office/officeart/2011/layout/RadialPictureList"/>
  </dgm:cxnLst>
  <dgm:bg>
    <a:noFill/>
  </dgm:bg>
  <dgm:whole/>
  <dgm:extLst>
    <a:ext uri="http://schemas.microsoft.com/office/drawing/2008/diagram">
      <dsp:dataModelExt xmlns:dsp="http://schemas.microsoft.com/office/drawing/2008/diagram" relId="rId17"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E55FF980-2028-443F-88E9-AB8EE6751073}" type="doc">
      <dgm:prSet loTypeId="urn:microsoft.com/office/officeart/2011/layout/RadialPictureList" loCatId="picture" qsTypeId="urn:microsoft.com/office/officeart/2005/8/quickstyle/simple1" qsCatId="simple" csTypeId="urn:microsoft.com/office/officeart/2005/8/colors/accent1_2" csCatId="accent1" phldr="1"/>
      <dgm:spPr/>
      <dgm:t>
        <a:bodyPr/>
        <a:lstStyle/>
        <a:p>
          <a:endParaRPr lang="en-IN"/>
        </a:p>
      </dgm:t>
    </dgm:pt>
    <dgm:pt modelId="{32FA7261-82DD-44AF-A447-DD13EE2CFF94}">
      <dgm:prSet phldrT="[Text]" custT="1"/>
      <dgm:spPr>
        <a:solidFill>
          <a:srgbClr val="FFFF00"/>
        </a:solidFill>
      </dgm:spPr>
      <dgm:t>
        <a:bodyPr/>
        <a:lstStyle/>
        <a:p>
          <a:r>
            <a:rPr lang="en-IN" sz="1600" b="1">
              <a:solidFill>
                <a:schemeClr val="tx1"/>
              </a:solidFill>
              <a:latin typeface="EY interstate"/>
            </a:rPr>
            <a:t>Region Wise</a:t>
          </a:r>
        </a:p>
      </dgm:t>
    </dgm:pt>
    <dgm:pt modelId="{FBAF2759-F91D-48B7-A6E3-E4639E2A85A9}" type="parTrans" cxnId="{5B90D107-B335-40C1-BD01-7A1A80AC4F92}">
      <dgm:prSet/>
      <dgm:spPr/>
      <dgm:t>
        <a:bodyPr/>
        <a:lstStyle/>
        <a:p>
          <a:endParaRPr lang="en-IN"/>
        </a:p>
      </dgm:t>
    </dgm:pt>
    <dgm:pt modelId="{1C81DB26-DA6F-46DC-8CA4-15206ECE242F}" type="sibTrans" cxnId="{5B90D107-B335-40C1-BD01-7A1A80AC4F92}">
      <dgm:prSet/>
      <dgm:spPr/>
      <dgm:t>
        <a:bodyPr/>
        <a:lstStyle/>
        <a:p>
          <a:endParaRPr lang="en-IN"/>
        </a:p>
      </dgm:t>
    </dgm:pt>
    <dgm:pt modelId="{ECD791E4-07C5-4884-913B-01310D936EF7}">
      <dgm:prSet phldrT="[Text]"/>
      <dgm:spPr/>
      <dgm:t>
        <a:bodyPr/>
        <a:lstStyle/>
        <a:p>
          <a:r>
            <a:rPr lang="en-IN">
              <a:solidFill>
                <a:schemeClr val="bg1"/>
              </a:solidFill>
              <a:latin typeface="EY interstate"/>
            </a:rPr>
            <a:t>Regional reconciliation completion rates</a:t>
          </a:r>
        </a:p>
      </dgm:t>
    </dgm:pt>
    <dgm:pt modelId="{7145DB53-6398-4B02-968D-85F7BFFF8241}" type="parTrans" cxnId="{D9E87058-0A7D-4845-8828-1C73CCE45478}">
      <dgm:prSet/>
      <dgm:spPr/>
      <dgm:t>
        <a:bodyPr/>
        <a:lstStyle/>
        <a:p>
          <a:endParaRPr lang="en-IN"/>
        </a:p>
      </dgm:t>
    </dgm:pt>
    <dgm:pt modelId="{026983F0-F2EC-4E5C-B4C4-442D8F47EE1F}" type="sibTrans" cxnId="{D9E87058-0A7D-4845-8828-1C73CCE45478}">
      <dgm:prSet/>
      <dgm:spPr/>
      <dgm:t>
        <a:bodyPr/>
        <a:lstStyle/>
        <a:p>
          <a:endParaRPr lang="en-IN"/>
        </a:p>
      </dgm:t>
    </dgm:pt>
    <dgm:pt modelId="{81B6A984-A8D3-4085-8976-E71E2CC1272E}">
      <dgm:prSet phldrT="[Text]"/>
      <dgm:spPr/>
      <dgm:t>
        <a:bodyPr/>
        <a:lstStyle/>
        <a:p>
          <a:r>
            <a:rPr lang="en-IN">
              <a:solidFill>
                <a:schemeClr val="bg1"/>
              </a:solidFill>
              <a:latin typeface="EY interstate"/>
            </a:rPr>
            <a:t>Exception trends by region
</a:t>
          </a:r>
        </a:p>
      </dgm:t>
    </dgm:pt>
    <dgm:pt modelId="{7BAF5DE5-98A1-4D9A-BBE0-3BC2E7537F24}" type="parTrans" cxnId="{8BFC56D8-13C2-4459-A278-B99100985D27}">
      <dgm:prSet/>
      <dgm:spPr/>
      <dgm:t>
        <a:bodyPr/>
        <a:lstStyle/>
        <a:p>
          <a:endParaRPr lang="en-IN"/>
        </a:p>
      </dgm:t>
    </dgm:pt>
    <dgm:pt modelId="{4FE53CF4-E6BD-4FFE-BC32-302BD3E789F4}" type="sibTrans" cxnId="{8BFC56D8-13C2-4459-A278-B99100985D27}">
      <dgm:prSet/>
      <dgm:spPr/>
      <dgm:t>
        <a:bodyPr/>
        <a:lstStyle/>
        <a:p>
          <a:endParaRPr lang="en-IN"/>
        </a:p>
      </dgm:t>
    </dgm:pt>
    <dgm:pt modelId="{C68F12F8-AE9E-488A-8E31-6D05529A82F7}">
      <dgm:prSet phldrT="[Text]"/>
      <dgm:spPr/>
      <dgm:t>
        <a:bodyPr/>
        <a:lstStyle/>
        <a:p>
          <a:pPr>
            <a:buFont typeface="Arial" panose="020B0604020202020204" pitchFamily="34" charset="0"/>
            <a:buChar char="•"/>
          </a:pPr>
          <a:r>
            <a:rPr lang="en-IN">
              <a:solidFill>
                <a:schemeClr val="bg1"/>
              </a:solidFill>
              <a:latin typeface="EY interstate"/>
            </a:rPr>
            <a:t>Regional compliance with global policies</a:t>
          </a:r>
        </a:p>
      </dgm:t>
    </dgm:pt>
    <dgm:pt modelId="{134E6A3E-F1FB-4F4C-99BC-7DCDFA6E9159}" type="parTrans" cxnId="{D7216534-3FDF-4AD9-822C-C484003DF673}">
      <dgm:prSet/>
      <dgm:spPr/>
      <dgm:t>
        <a:bodyPr/>
        <a:lstStyle/>
        <a:p>
          <a:endParaRPr lang="en-IN"/>
        </a:p>
      </dgm:t>
    </dgm:pt>
    <dgm:pt modelId="{B5503415-6508-4013-A90C-FC1C7A2EFDB0}" type="sibTrans" cxnId="{D7216534-3FDF-4AD9-822C-C484003DF673}">
      <dgm:prSet/>
      <dgm:spPr/>
      <dgm:t>
        <a:bodyPr/>
        <a:lstStyle/>
        <a:p>
          <a:endParaRPr lang="en-IN"/>
        </a:p>
      </dgm:t>
    </dgm:pt>
    <dgm:pt modelId="{E6438F2E-11B9-4541-8B2F-A49018AABE17}">
      <dgm:prSet phldrT="[Text]" phldr="1"/>
      <dgm:spPr/>
      <dgm:t>
        <a:bodyPr/>
        <a:lstStyle/>
        <a:p>
          <a:endParaRPr lang="en-IN"/>
        </a:p>
      </dgm:t>
    </dgm:pt>
    <dgm:pt modelId="{DE701CAD-4499-4BCA-AA5E-DDF803458B00}" type="parTrans" cxnId="{017185EE-64A6-4194-A3FE-AB4EF8F85E2A}">
      <dgm:prSet/>
      <dgm:spPr/>
      <dgm:t>
        <a:bodyPr/>
        <a:lstStyle/>
        <a:p>
          <a:endParaRPr lang="en-IN"/>
        </a:p>
      </dgm:t>
    </dgm:pt>
    <dgm:pt modelId="{F52C2211-7F69-4C27-BFC9-36AFC87219AC}" type="sibTrans" cxnId="{017185EE-64A6-4194-A3FE-AB4EF8F85E2A}">
      <dgm:prSet/>
      <dgm:spPr/>
      <dgm:t>
        <a:bodyPr/>
        <a:lstStyle/>
        <a:p>
          <a:endParaRPr lang="en-IN"/>
        </a:p>
      </dgm:t>
    </dgm:pt>
    <dgm:pt modelId="{021ACC64-2810-4A94-A8F3-0649784063E5}">
      <dgm:prSet/>
      <dgm:spPr/>
      <dgm:t>
        <a:bodyPr/>
        <a:lstStyle/>
        <a:p>
          <a:endParaRPr lang="en-IN"/>
        </a:p>
      </dgm:t>
    </dgm:pt>
    <dgm:pt modelId="{E262627E-FAEF-473B-85CB-D42A55879126}" type="parTrans" cxnId="{76FC20C2-EC37-495B-B0FA-AB623A42BF60}">
      <dgm:prSet/>
      <dgm:spPr/>
      <dgm:t>
        <a:bodyPr/>
        <a:lstStyle/>
        <a:p>
          <a:endParaRPr lang="en-IN"/>
        </a:p>
      </dgm:t>
    </dgm:pt>
    <dgm:pt modelId="{D7FB70B5-D1EF-4172-BCCC-F0D265E378AE}" type="sibTrans" cxnId="{76FC20C2-EC37-495B-B0FA-AB623A42BF60}">
      <dgm:prSet/>
      <dgm:spPr/>
      <dgm:t>
        <a:bodyPr/>
        <a:lstStyle/>
        <a:p>
          <a:endParaRPr lang="en-IN"/>
        </a:p>
      </dgm:t>
    </dgm:pt>
    <dgm:pt modelId="{D54D7EC8-2553-403F-9D8E-476009F3FC4E}">
      <dgm:prSet/>
      <dgm:spPr/>
      <dgm:t>
        <a:bodyPr/>
        <a:lstStyle/>
        <a:p>
          <a:endParaRPr lang="en-IN"/>
        </a:p>
      </dgm:t>
    </dgm:pt>
    <dgm:pt modelId="{F1C9AED4-24FF-489F-9E4A-55E6ADB846BE}" type="parTrans" cxnId="{FFD34D6F-CD6B-417D-8F01-4BC29432151C}">
      <dgm:prSet/>
      <dgm:spPr/>
      <dgm:t>
        <a:bodyPr/>
        <a:lstStyle/>
        <a:p>
          <a:endParaRPr lang="en-IN"/>
        </a:p>
      </dgm:t>
    </dgm:pt>
    <dgm:pt modelId="{BF0EBA60-D818-4C2E-A90D-1D2400490DB6}" type="sibTrans" cxnId="{FFD34D6F-CD6B-417D-8F01-4BC29432151C}">
      <dgm:prSet/>
      <dgm:spPr/>
      <dgm:t>
        <a:bodyPr/>
        <a:lstStyle/>
        <a:p>
          <a:endParaRPr lang="en-IN"/>
        </a:p>
      </dgm:t>
    </dgm:pt>
    <dgm:pt modelId="{CC4B8756-F38B-49DD-8560-620A913CAB04}" type="pres">
      <dgm:prSet presAssocID="{E55FF980-2028-443F-88E9-AB8EE6751073}" presName="Name0" presStyleCnt="0">
        <dgm:presLayoutVars>
          <dgm:chMax val="1"/>
          <dgm:chPref val="1"/>
          <dgm:dir/>
          <dgm:resizeHandles/>
        </dgm:presLayoutVars>
      </dgm:prSet>
      <dgm:spPr/>
    </dgm:pt>
    <dgm:pt modelId="{9F1F6C87-4943-4BEC-8681-06A2C53BC7F4}" type="pres">
      <dgm:prSet presAssocID="{32FA7261-82DD-44AF-A447-DD13EE2CFF94}" presName="Parent" presStyleLbl="node1" presStyleIdx="0" presStyleCnt="2">
        <dgm:presLayoutVars>
          <dgm:chMax val="4"/>
          <dgm:chPref val="3"/>
        </dgm:presLayoutVars>
      </dgm:prSet>
      <dgm:spPr/>
    </dgm:pt>
    <dgm:pt modelId="{2CE02A66-3512-440C-8320-69B332884552}" type="pres">
      <dgm:prSet presAssocID="{ECD791E4-07C5-4884-913B-01310D936EF7}" presName="Accent" presStyleLbl="node1" presStyleIdx="1" presStyleCnt="2"/>
      <dgm:spPr>
        <a:noFill/>
        <a:ln>
          <a:noFill/>
        </a:ln>
      </dgm:spPr>
    </dgm:pt>
    <dgm:pt modelId="{EB1E2232-B4DE-4796-A2CE-C33D6CDA8A8B}" type="pres">
      <dgm:prSet presAssocID="{ECD791E4-07C5-4884-913B-01310D936EF7}" presName="Image1" presStyleLbl="fgImgPlace1" presStyleIdx="0" presStyleCnt="3"/>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dgm:spPr>
      <dgm:extLst>
        <a:ext uri="{E40237B7-FDA0-4F09-8148-C483321AD2D9}">
          <dgm14:cNvPr xmlns:dgm14="http://schemas.microsoft.com/office/drawing/2010/diagram" id="0" name="" descr="Race Flag with solid fill"/>
        </a:ext>
      </dgm:extLst>
    </dgm:pt>
    <dgm:pt modelId="{2803BABA-4BEC-41D6-95DB-DA0CA13E801B}" type="pres">
      <dgm:prSet presAssocID="{ECD791E4-07C5-4884-913B-01310D936EF7}" presName="Child1" presStyleLbl="revTx" presStyleIdx="0" presStyleCnt="3">
        <dgm:presLayoutVars>
          <dgm:chMax val="0"/>
          <dgm:chPref val="0"/>
          <dgm:bulletEnabled val="1"/>
        </dgm:presLayoutVars>
      </dgm:prSet>
      <dgm:spPr/>
    </dgm:pt>
    <dgm:pt modelId="{43221261-8396-4CAE-A1AB-7B6F3087A84C}" type="pres">
      <dgm:prSet presAssocID="{81B6A984-A8D3-4085-8976-E71E2CC1272E}" presName="Image2" presStyleCnt="0"/>
      <dgm:spPr/>
    </dgm:pt>
    <dgm:pt modelId="{CEA88086-C236-469A-BFC1-27D83B9DF1FC}" type="pres">
      <dgm:prSet presAssocID="{81B6A984-A8D3-4085-8976-E71E2CC1272E}" presName="Image" presStyleLbl="fgImgPlace1" presStyleIdx="1" presStyleCnt="3"/>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Upward trend with solid fill"/>
        </a:ext>
      </dgm:extLst>
    </dgm:pt>
    <dgm:pt modelId="{7CA97D4C-7482-43A8-B5AB-A32737D12FE0}" type="pres">
      <dgm:prSet presAssocID="{81B6A984-A8D3-4085-8976-E71E2CC1272E}" presName="Child2" presStyleLbl="revTx" presStyleIdx="1" presStyleCnt="3">
        <dgm:presLayoutVars>
          <dgm:chMax val="0"/>
          <dgm:chPref val="0"/>
          <dgm:bulletEnabled val="1"/>
        </dgm:presLayoutVars>
      </dgm:prSet>
      <dgm:spPr/>
    </dgm:pt>
    <dgm:pt modelId="{6A0B8B87-07B7-450A-A04C-B93F52707CC4}" type="pres">
      <dgm:prSet presAssocID="{C68F12F8-AE9E-488A-8E31-6D05529A82F7}" presName="Image3" presStyleCnt="0"/>
      <dgm:spPr/>
    </dgm:pt>
    <dgm:pt modelId="{BC29A3CA-BBB0-48F3-9614-E4EFF6C3C181}" type="pres">
      <dgm:prSet presAssocID="{C68F12F8-AE9E-488A-8E31-6D05529A82F7}" presName="Image" presStyleLbl="fgImgPlace1" presStyleIdx="2" presStyleCnt="3"/>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dgm:spPr>
      <dgm:extLst>
        <a:ext uri="{E40237B7-FDA0-4F09-8148-C483321AD2D9}">
          <dgm14:cNvPr xmlns:dgm14="http://schemas.microsoft.com/office/drawing/2010/diagram" id="0" name="" descr="Globe outline"/>
        </a:ext>
      </dgm:extLst>
    </dgm:pt>
    <dgm:pt modelId="{F2B859DE-2C09-4BF1-8BF2-026CB87FFBA1}" type="pres">
      <dgm:prSet presAssocID="{C68F12F8-AE9E-488A-8E31-6D05529A82F7}" presName="Child3" presStyleLbl="revTx" presStyleIdx="2" presStyleCnt="3">
        <dgm:presLayoutVars>
          <dgm:chMax val="0"/>
          <dgm:chPref val="0"/>
          <dgm:bulletEnabled val="1"/>
        </dgm:presLayoutVars>
      </dgm:prSet>
      <dgm:spPr/>
    </dgm:pt>
  </dgm:ptLst>
  <dgm:cxnLst>
    <dgm:cxn modelId="{3C42FC00-83F4-4008-82C7-B1F251DADA21}" type="presOf" srcId="{32FA7261-82DD-44AF-A447-DD13EE2CFF94}" destId="{9F1F6C87-4943-4BEC-8681-06A2C53BC7F4}" srcOrd="0" destOrd="0" presId="urn:microsoft.com/office/officeart/2011/layout/RadialPictureList"/>
    <dgm:cxn modelId="{8C1CCC05-861F-4663-9D5D-5FE59786F29F}" type="presOf" srcId="{E55FF980-2028-443F-88E9-AB8EE6751073}" destId="{CC4B8756-F38B-49DD-8560-620A913CAB04}" srcOrd="0" destOrd="0" presId="urn:microsoft.com/office/officeart/2011/layout/RadialPictureList"/>
    <dgm:cxn modelId="{5B90D107-B335-40C1-BD01-7A1A80AC4F92}" srcId="{E55FF980-2028-443F-88E9-AB8EE6751073}" destId="{32FA7261-82DD-44AF-A447-DD13EE2CFF94}" srcOrd="0" destOrd="0" parTransId="{FBAF2759-F91D-48B7-A6E3-E4639E2A85A9}" sibTransId="{1C81DB26-DA6F-46DC-8CA4-15206ECE242F}"/>
    <dgm:cxn modelId="{D7216534-3FDF-4AD9-822C-C484003DF673}" srcId="{32FA7261-82DD-44AF-A447-DD13EE2CFF94}" destId="{C68F12F8-AE9E-488A-8E31-6D05529A82F7}" srcOrd="2" destOrd="0" parTransId="{134E6A3E-F1FB-4F4C-99BC-7DCDFA6E9159}" sibTransId="{B5503415-6508-4013-A90C-FC1C7A2EFDB0}"/>
    <dgm:cxn modelId="{FFD34D6F-CD6B-417D-8F01-4BC29432151C}" srcId="{E55FF980-2028-443F-88E9-AB8EE6751073}" destId="{D54D7EC8-2553-403F-9D8E-476009F3FC4E}" srcOrd="3" destOrd="0" parTransId="{F1C9AED4-24FF-489F-9E4A-55E6ADB846BE}" sibTransId="{BF0EBA60-D818-4C2E-A90D-1D2400490DB6}"/>
    <dgm:cxn modelId="{D9E87058-0A7D-4845-8828-1C73CCE45478}" srcId="{32FA7261-82DD-44AF-A447-DD13EE2CFF94}" destId="{ECD791E4-07C5-4884-913B-01310D936EF7}" srcOrd="0" destOrd="0" parTransId="{7145DB53-6398-4B02-968D-85F7BFFF8241}" sibTransId="{026983F0-F2EC-4E5C-B4C4-442D8F47EE1F}"/>
    <dgm:cxn modelId="{E18CC3B2-66AA-4FC4-8434-11D7AC58CE85}" type="presOf" srcId="{ECD791E4-07C5-4884-913B-01310D936EF7}" destId="{2803BABA-4BEC-41D6-95DB-DA0CA13E801B}" srcOrd="0" destOrd="0" presId="urn:microsoft.com/office/officeart/2011/layout/RadialPictureList"/>
    <dgm:cxn modelId="{76FC20C2-EC37-495B-B0FA-AB623A42BF60}" srcId="{E55FF980-2028-443F-88E9-AB8EE6751073}" destId="{021ACC64-2810-4A94-A8F3-0649784063E5}" srcOrd="2" destOrd="0" parTransId="{E262627E-FAEF-473B-85CB-D42A55879126}" sibTransId="{D7FB70B5-D1EF-4172-BCCC-F0D265E378AE}"/>
    <dgm:cxn modelId="{68DD57D0-669A-44BC-AEF7-42FBCA950C06}" type="presOf" srcId="{C68F12F8-AE9E-488A-8E31-6D05529A82F7}" destId="{F2B859DE-2C09-4BF1-8BF2-026CB87FFBA1}" srcOrd="0" destOrd="0" presId="urn:microsoft.com/office/officeart/2011/layout/RadialPictureList"/>
    <dgm:cxn modelId="{8BFC56D8-13C2-4459-A278-B99100985D27}" srcId="{32FA7261-82DD-44AF-A447-DD13EE2CFF94}" destId="{81B6A984-A8D3-4085-8976-E71E2CC1272E}" srcOrd="1" destOrd="0" parTransId="{7BAF5DE5-98A1-4D9A-BBE0-3BC2E7537F24}" sibTransId="{4FE53CF4-E6BD-4FFE-BC32-302BD3E789F4}"/>
    <dgm:cxn modelId="{0525B5E6-A4B3-480D-A974-6DC8610A97AA}" type="presOf" srcId="{81B6A984-A8D3-4085-8976-E71E2CC1272E}" destId="{7CA97D4C-7482-43A8-B5AB-A32737D12FE0}" srcOrd="0" destOrd="0" presId="urn:microsoft.com/office/officeart/2011/layout/RadialPictureList"/>
    <dgm:cxn modelId="{017185EE-64A6-4194-A3FE-AB4EF8F85E2A}" srcId="{E55FF980-2028-443F-88E9-AB8EE6751073}" destId="{E6438F2E-11B9-4541-8B2F-A49018AABE17}" srcOrd="1" destOrd="0" parTransId="{DE701CAD-4499-4BCA-AA5E-DDF803458B00}" sibTransId="{F52C2211-7F69-4C27-BFC9-36AFC87219AC}"/>
    <dgm:cxn modelId="{2C21F2DF-84F9-451F-9363-496D45C78CE8}" type="presParOf" srcId="{CC4B8756-F38B-49DD-8560-620A913CAB04}" destId="{9F1F6C87-4943-4BEC-8681-06A2C53BC7F4}" srcOrd="0" destOrd="0" presId="urn:microsoft.com/office/officeart/2011/layout/RadialPictureList"/>
    <dgm:cxn modelId="{3FE61EFF-F69C-4EC2-A93D-6433682F3DCA}" type="presParOf" srcId="{CC4B8756-F38B-49DD-8560-620A913CAB04}" destId="{2CE02A66-3512-440C-8320-69B332884552}" srcOrd="1" destOrd="0" presId="urn:microsoft.com/office/officeart/2011/layout/RadialPictureList"/>
    <dgm:cxn modelId="{EB9F43B6-E2CE-4F30-B9D5-236A9D6AEA02}" type="presParOf" srcId="{CC4B8756-F38B-49DD-8560-620A913CAB04}" destId="{EB1E2232-B4DE-4796-A2CE-C33D6CDA8A8B}" srcOrd="2" destOrd="0" presId="urn:microsoft.com/office/officeart/2011/layout/RadialPictureList"/>
    <dgm:cxn modelId="{E5ED16A5-5C49-43AB-8E5F-333A61741318}" type="presParOf" srcId="{CC4B8756-F38B-49DD-8560-620A913CAB04}" destId="{2803BABA-4BEC-41D6-95DB-DA0CA13E801B}" srcOrd="3" destOrd="0" presId="urn:microsoft.com/office/officeart/2011/layout/RadialPictureList"/>
    <dgm:cxn modelId="{E6FF418A-3B95-4C73-AA34-BA1993F914F9}" type="presParOf" srcId="{CC4B8756-F38B-49DD-8560-620A913CAB04}" destId="{43221261-8396-4CAE-A1AB-7B6F3087A84C}" srcOrd="4" destOrd="0" presId="urn:microsoft.com/office/officeart/2011/layout/RadialPictureList"/>
    <dgm:cxn modelId="{7A6AF1A2-61B4-44C9-9463-093F0A821428}" type="presParOf" srcId="{43221261-8396-4CAE-A1AB-7B6F3087A84C}" destId="{CEA88086-C236-469A-BFC1-27D83B9DF1FC}" srcOrd="0" destOrd="0" presId="urn:microsoft.com/office/officeart/2011/layout/RadialPictureList"/>
    <dgm:cxn modelId="{BBDA5181-5189-4143-AAD1-D8A7C99694AF}" type="presParOf" srcId="{CC4B8756-F38B-49DD-8560-620A913CAB04}" destId="{7CA97D4C-7482-43A8-B5AB-A32737D12FE0}" srcOrd="5" destOrd="0" presId="urn:microsoft.com/office/officeart/2011/layout/RadialPictureList"/>
    <dgm:cxn modelId="{36FA3060-9FF7-4721-A57F-77182696D8B6}" type="presParOf" srcId="{CC4B8756-F38B-49DD-8560-620A913CAB04}" destId="{6A0B8B87-07B7-450A-A04C-B93F52707CC4}" srcOrd="6" destOrd="0" presId="urn:microsoft.com/office/officeart/2011/layout/RadialPictureList"/>
    <dgm:cxn modelId="{CC632312-3878-421C-BCD2-61DACD466877}" type="presParOf" srcId="{6A0B8B87-07B7-450A-A04C-B93F52707CC4}" destId="{BC29A3CA-BBB0-48F3-9614-E4EFF6C3C181}" srcOrd="0" destOrd="0" presId="urn:microsoft.com/office/officeart/2011/layout/RadialPictureList"/>
    <dgm:cxn modelId="{69D64E4D-B2F4-4DC8-B311-972B291800A9}" type="presParOf" srcId="{CC4B8756-F38B-49DD-8560-620A913CAB04}" destId="{F2B859DE-2C09-4BF1-8BF2-026CB87FFBA1}" srcOrd="7" destOrd="0" presId="urn:microsoft.com/office/officeart/2011/layout/RadialPictureList"/>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A47440E0-01E7-423B-A3B9-E211AE9DED93}" type="doc">
      <dgm:prSet loTypeId="urn:microsoft.com/office/officeart/2005/8/layout/vList3" loCatId="list" qsTypeId="urn:microsoft.com/office/officeart/2005/8/quickstyle/simple1" qsCatId="simple" csTypeId="urn:microsoft.com/office/officeart/2005/8/colors/accent1_2" csCatId="accent1" phldr="1"/>
      <dgm:spPr/>
    </dgm:pt>
    <dgm:pt modelId="{109627F0-81C0-4382-B526-CBCBB0A0B037}">
      <dgm:prSet custT="1"/>
      <dgm:spPr>
        <a:noFill/>
        <a:ln>
          <a:solidFill>
            <a:srgbClr val="FFFF00"/>
          </a:solidFill>
        </a:ln>
      </dgm:spPr>
      <dgm:t>
        <a:bodyPr/>
        <a:lstStyle/>
        <a:p>
          <a:r>
            <a:rPr lang="en-IN" sz="800">
              <a:solidFill>
                <a:srgbClr val="FFFF00"/>
              </a:solidFill>
              <a:latin typeface="EY interstate"/>
            </a:rPr>
            <a:t>BlackLine offers best-practice-based templates </a:t>
          </a:r>
          <a:r>
            <a:rPr lang="en-IN" sz="800">
              <a:latin typeface="EY interstate"/>
            </a:rPr>
            <a:t>for different account types (e.g., prepaid expenses, accruals). These templates ensure consistency, reduce manual effort, and improve auditability. [How to Per...BlackLine] Templates can be customized and reused across periods, with automatic roll-forward of balances.</a:t>
          </a:r>
        </a:p>
      </dgm:t>
    </dgm:pt>
    <dgm:pt modelId="{DDEF5D19-963A-4B51-8E21-5AC4433238B7}" type="parTrans" cxnId="{72005DC2-86DE-41F9-9A70-767E153FE821}">
      <dgm:prSet/>
      <dgm:spPr/>
      <dgm:t>
        <a:bodyPr/>
        <a:lstStyle/>
        <a:p>
          <a:endParaRPr lang="en-IN"/>
        </a:p>
      </dgm:t>
    </dgm:pt>
    <dgm:pt modelId="{0B4DD26C-D902-40BA-B178-6C8CF1DB5FC9}" type="sibTrans" cxnId="{72005DC2-86DE-41F9-9A70-767E153FE821}">
      <dgm:prSet/>
      <dgm:spPr/>
      <dgm:t>
        <a:bodyPr/>
        <a:lstStyle/>
        <a:p>
          <a:endParaRPr lang="en-IN"/>
        </a:p>
      </dgm:t>
    </dgm:pt>
    <dgm:pt modelId="{461A4AF8-3672-452E-8A10-FAF2CA9F2001}">
      <dgm:prSet custT="1"/>
      <dgm:spPr>
        <a:noFill/>
        <a:ln>
          <a:solidFill>
            <a:srgbClr val="FFFF00"/>
          </a:solidFill>
        </a:ln>
      </dgm:spPr>
      <dgm:t>
        <a:bodyPr/>
        <a:lstStyle/>
        <a:p>
          <a:r>
            <a:rPr lang="en-IN" sz="800">
              <a:latin typeface="EY interstate"/>
            </a:rPr>
            <a:t>Use </a:t>
          </a:r>
          <a:r>
            <a:rPr lang="en-IN" sz="800" err="1">
              <a:solidFill>
                <a:srgbClr val="FFFF00"/>
              </a:solidFill>
              <a:latin typeface="EY interstate"/>
            </a:rPr>
            <a:t>BlackLine’s</a:t>
          </a:r>
          <a:r>
            <a:rPr lang="en-IN" sz="800">
              <a:solidFill>
                <a:srgbClr val="FFFF00"/>
              </a:solidFill>
              <a:latin typeface="EY interstate"/>
            </a:rPr>
            <a:t> Journal Entry module to automate recurring entries like amortizations. </a:t>
          </a:r>
          <a:r>
            <a:rPr lang="en-IN" sz="800">
              <a:latin typeface="EY interstate"/>
            </a:rPr>
            <a:t>Reconciliations can be auto-certified when balances match the GL within a defined threshold. Set up scheduled GL balance feeds (e.g., every 10 minutes or hourly) to keep reconciliations current.</a:t>
          </a:r>
        </a:p>
      </dgm:t>
    </dgm:pt>
    <dgm:pt modelId="{956CD3FD-72F1-43D2-8B58-70BB1DBC183E}" type="parTrans" cxnId="{57D80375-3AEB-486C-AA80-7CBDF8F1A529}">
      <dgm:prSet/>
      <dgm:spPr/>
      <dgm:t>
        <a:bodyPr/>
        <a:lstStyle/>
        <a:p>
          <a:endParaRPr lang="en-IN"/>
        </a:p>
      </dgm:t>
    </dgm:pt>
    <dgm:pt modelId="{3D7C909F-987F-4085-95D6-225C73CB711E}" type="sibTrans" cxnId="{57D80375-3AEB-486C-AA80-7CBDF8F1A529}">
      <dgm:prSet/>
      <dgm:spPr/>
      <dgm:t>
        <a:bodyPr/>
        <a:lstStyle/>
        <a:p>
          <a:endParaRPr lang="en-IN"/>
        </a:p>
      </dgm:t>
    </dgm:pt>
    <dgm:pt modelId="{852057E7-51F9-4644-AA4C-E5F4B08792F9}">
      <dgm:prSet custT="1"/>
      <dgm:spPr>
        <a:noFill/>
        <a:ln>
          <a:solidFill>
            <a:srgbClr val="FFFF00"/>
          </a:solidFill>
        </a:ln>
      </dgm:spPr>
      <dgm:t>
        <a:bodyPr/>
        <a:lstStyle/>
        <a:p>
          <a:r>
            <a:rPr lang="en-IN" sz="800" err="1">
              <a:solidFill>
                <a:srgbClr val="FFFF00"/>
              </a:solidFill>
              <a:latin typeface="EY interstate"/>
            </a:rPr>
            <a:t>BlackLine</a:t>
          </a:r>
          <a:r>
            <a:rPr lang="en-IN" sz="800">
              <a:solidFill>
                <a:srgbClr val="FFFF00"/>
              </a:solidFill>
              <a:latin typeface="EY interstate"/>
            </a:rPr>
            <a:t> supports Excel imports for GL detail reports. </a:t>
          </a:r>
          <a:r>
            <a:rPr lang="en-IN" sz="800">
              <a:latin typeface="EY interstate"/>
            </a:rPr>
            <a:t>The system can parse and map fields automatically, remembering previous mappings for faster future imports. 
Spot-check imported data to ensure accuracy before certification.</a:t>
          </a:r>
        </a:p>
      </dgm:t>
    </dgm:pt>
    <dgm:pt modelId="{20A4EB17-1881-4405-82DC-FA82D6DDB69E}" type="parTrans" cxnId="{33A975FF-47B8-48EB-A990-F23599C54C50}">
      <dgm:prSet/>
      <dgm:spPr/>
      <dgm:t>
        <a:bodyPr/>
        <a:lstStyle/>
        <a:p>
          <a:endParaRPr lang="en-IN"/>
        </a:p>
      </dgm:t>
    </dgm:pt>
    <dgm:pt modelId="{CE65C0B4-E351-4C57-A0D4-B43C8564FF1B}" type="sibTrans" cxnId="{33A975FF-47B8-48EB-A990-F23599C54C50}">
      <dgm:prSet/>
      <dgm:spPr/>
      <dgm:t>
        <a:bodyPr/>
        <a:lstStyle/>
        <a:p>
          <a:endParaRPr lang="en-IN"/>
        </a:p>
      </dgm:t>
    </dgm:pt>
    <dgm:pt modelId="{9924B972-7C54-4643-8330-3FECFF38D6CE}">
      <dgm:prSet custT="1"/>
      <dgm:spPr>
        <a:noFill/>
        <a:ln>
          <a:solidFill>
            <a:srgbClr val="FFFF00"/>
          </a:solidFill>
        </a:ln>
      </dgm:spPr>
      <dgm:t>
        <a:bodyPr/>
        <a:lstStyle/>
        <a:p>
          <a:r>
            <a:rPr lang="en-IN" sz="900">
              <a:solidFill>
                <a:srgbClr val="FFFF00"/>
              </a:solidFill>
              <a:latin typeface="EY interstate"/>
            </a:rPr>
            <a:t>Define thresholds </a:t>
          </a:r>
          <a:r>
            <a:rPr lang="en-IN" sz="900">
              <a:latin typeface="EY interstate"/>
            </a:rPr>
            <a:t>(e.g., ₹0, ₹500, ₹1,000) for acceptable variances.
Reconciliations outside these limits are flagged and cannot be certified, adding a layer of control.</a:t>
          </a:r>
        </a:p>
      </dgm:t>
    </dgm:pt>
    <dgm:pt modelId="{0E6290BC-FB1E-4938-8732-828065D4CFD9}" type="parTrans" cxnId="{C5AF627D-8D17-4984-B30D-012611453DE7}">
      <dgm:prSet/>
      <dgm:spPr/>
      <dgm:t>
        <a:bodyPr/>
        <a:lstStyle/>
        <a:p>
          <a:endParaRPr lang="en-IN"/>
        </a:p>
      </dgm:t>
    </dgm:pt>
    <dgm:pt modelId="{F273B642-5159-45F6-964F-DEF106883D3F}" type="sibTrans" cxnId="{C5AF627D-8D17-4984-B30D-012611453DE7}">
      <dgm:prSet/>
      <dgm:spPr/>
      <dgm:t>
        <a:bodyPr/>
        <a:lstStyle/>
        <a:p>
          <a:endParaRPr lang="en-IN"/>
        </a:p>
      </dgm:t>
    </dgm:pt>
    <dgm:pt modelId="{31FBCE84-2809-4AE3-A5F3-B2254826C8CD}" type="pres">
      <dgm:prSet presAssocID="{A47440E0-01E7-423B-A3B9-E211AE9DED93}" presName="linearFlow" presStyleCnt="0">
        <dgm:presLayoutVars>
          <dgm:dir/>
          <dgm:resizeHandles val="exact"/>
        </dgm:presLayoutVars>
      </dgm:prSet>
      <dgm:spPr/>
    </dgm:pt>
    <dgm:pt modelId="{8323D955-8553-41C7-97E4-693D67A8D57D}" type="pres">
      <dgm:prSet presAssocID="{109627F0-81C0-4382-B526-CBCBB0A0B037}" presName="composite" presStyleCnt="0"/>
      <dgm:spPr/>
    </dgm:pt>
    <dgm:pt modelId="{CB6ECFEC-DA4C-4FEE-AD77-4D2496704FC2}" type="pres">
      <dgm:prSet presAssocID="{109627F0-81C0-4382-B526-CBCBB0A0B037}" presName="imgShp" presStyleLbl="fgImgPlace1" presStyleIdx="0" presStyleCnt="4" custScaleX="60136" custScaleY="61761" custLinFactNeighborX="-59422" custLinFactNeighborY="876"/>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a:solidFill>
            <a:srgbClr val="FFFF00"/>
          </a:solidFill>
        </a:ln>
      </dgm:spPr>
      <dgm:extLst>
        <a:ext uri="{E40237B7-FDA0-4F09-8148-C483321AD2D9}">
          <dgm14:cNvPr xmlns:dgm14="http://schemas.microsoft.com/office/drawing/2010/diagram" id="0" name="" descr="Document outline"/>
        </a:ext>
      </dgm:extLst>
    </dgm:pt>
    <dgm:pt modelId="{B4FA0406-6CF6-44FA-9000-ADA83BA6872E}" type="pres">
      <dgm:prSet presAssocID="{109627F0-81C0-4382-B526-CBCBB0A0B037}" presName="txShp" presStyleLbl="node1" presStyleIdx="0" presStyleCnt="4">
        <dgm:presLayoutVars>
          <dgm:bulletEnabled val="1"/>
        </dgm:presLayoutVars>
      </dgm:prSet>
      <dgm:spPr/>
    </dgm:pt>
    <dgm:pt modelId="{845C296E-423C-478C-ABCD-B80CE02D895A}" type="pres">
      <dgm:prSet presAssocID="{0B4DD26C-D902-40BA-B178-6C8CF1DB5FC9}" presName="spacing" presStyleCnt="0"/>
      <dgm:spPr/>
    </dgm:pt>
    <dgm:pt modelId="{EB5E9BE2-FECA-4E4F-9B89-9A4064255ADA}" type="pres">
      <dgm:prSet presAssocID="{461A4AF8-3672-452E-8A10-FAF2CA9F2001}" presName="composite" presStyleCnt="0"/>
      <dgm:spPr/>
    </dgm:pt>
    <dgm:pt modelId="{C3019975-D818-42BE-843E-55BDBCAE4A1A}" type="pres">
      <dgm:prSet presAssocID="{461A4AF8-3672-452E-8A10-FAF2CA9F2001}" presName="imgShp" presStyleLbl="fgImgPlace1" presStyleIdx="1" presStyleCnt="4" custScaleX="61054" custScaleY="62481" custLinFactNeighborX="-59422" custLinFactNeighborY="-3505"/>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a:solidFill>
            <a:srgbClr val="FFFF00"/>
          </a:solidFill>
        </a:ln>
      </dgm:spPr>
      <dgm:extLst>
        <a:ext uri="{E40237B7-FDA0-4F09-8148-C483321AD2D9}">
          <dgm14:cNvPr xmlns:dgm14="http://schemas.microsoft.com/office/drawing/2010/diagram" id="0" name="" descr="Robot outline"/>
        </a:ext>
      </dgm:extLst>
    </dgm:pt>
    <dgm:pt modelId="{B5739EFC-8E30-4397-90FC-7DD3EF1E14CA}" type="pres">
      <dgm:prSet presAssocID="{461A4AF8-3672-452E-8A10-FAF2CA9F2001}" presName="txShp" presStyleLbl="node1" presStyleIdx="1" presStyleCnt="4">
        <dgm:presLayoutVars>
          <dgm:bulletEnabled val="1"/>
        </dgm:presLayoutVars>
      </dgm:prSet>
      <dgm:spPr/>
    </dgm:pt>
    <dgm:pt modelId="{40A6A8AF-C0A2-4886-B2EF-A81C91A59318}" type="pres">
      <dgm:prSet presAssocID="{3D7C909F-987F-4085-95D6-225C73CB711E}" presName="spacing" presStyleCnt="0"/>
      <dgm:spPr/>
    </dgm:pt>
    <dgm:pt modelId="{595464B4-DE2A-4877-8C36-9284F0120CDA}" type="pres">
      <dgm:prSet presAssocID="{852057E7-51F9-4644-AA4C-E5F4B08792F9}" presName="composite" presStyleCnt="0"/>
      <dgm:spPr/>
    </dgm:pt>
    <dgm:pt modelId="{4210E11C-C01B-49B3-B16A-C2EA6E80B75A}" type="pres">
      <dgm:prSet presAssocID="{852057E7-51F9-4644-AA4C-E5F4B08792F9}" presName="imgShp" presStyleLbl="fgImgPlace1" presStyleIdx="2" presStyleCnt="4" custScaleX="58037" custScaleY="61872" custLinFactNeighborX="-59422" custLinFactNeighborY="-2629"/>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a:solidFill>
            <a:srgbClr val="FFFF00"/>
          </a:solidFill>
        </a:ln>
      </dgm:spPr>
      <dgm:extLst>
        <a:ext uri="{E40237B7-FDA0-4F09-8148-C483321AD2D9}">
          <dgm14:cNvPr xmlns:dgm14="http://schemas.microsoft.com/office/drawing/2010/diagram" id="0" name="" descr="Usb Stick with solid fill"/>
        </a:ext>
      </dgm:extLst>
    </dgm:pt>
    <dgm:pt modelId="{9B51D09D-196B-4136-B614-10702EC3B4A4}" type="pres">
      <dgm:prSet presAssocID="{852057E7-51F9-4644-AA4C-E5F4B08792F9}" presName="txShp" presStyleLbl="node1" presStyleIdx="2" presStyleCnt="4">
        <dgm:presLayoutVars>
          <dgm:bulletEnabled val="1"/>
        </dgm:presLayoutVars>
      </dgm:prSet>
      <dgm:spPr/>
    </dgm:pt>
    <dgm:pt modelId="{83B9BDDE-525B-4B5E-B4CD-F8FF59A90869}" type="pres">
      <dgm:prSet presAssocID="{CE65C0B4-E351-4C57-A0D4-B43C8564FF1B}" presName="spacing" presStyleCnt="0"/>
      <dgm:spPr/>
    </dgm:pt>
    <dgm:pt modelId="{27D404E0-C2CD-4829-B3E3-5C552AAB29A6}" type="pres">
      <dgm:prSet presAssocID="{9924B972-7C54-4643-8330-3FECFF38D6CE}" presName="composite" presStyleCnt="0"/>
      <dgm:spPr/>
    </dgm:pt>
    <dgm:pt modelId="{BB40714A-9ECF-456D-8A85-11A11161FD90}" type="pres">
      <dgm:prSet presAssocID="{9924B972-7C54-4643-8330-3FECFF38D6CE}" presName="imgShp" presStyleLbl="fgImgPlace1" presStyleIdx="3" presStyleCnt="4" custScaleX="56972" custScaleY="59349" custLinFactNeighborX="-59859" custLinFactNeighborY="122"/>
      <dgm:spPr>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a:solidFill>
            <a:srgbClr val="FFFF00"/>
          </a:solidFill>
        </a:ln>
      </dgm:spPr>
      <dgm:extLst>
        <a:ext uri="{E40237B7-FDA0-4F09-8148-C483321AD2D9}">
          <dgm14:cNvPr xmlns:dgm14="http://schemas.microsoft.com/office/drawing/2010/diagram" id="0" name="" descr="Infinity with solid fill"/>
        </a:ext>
      </dgm:extLst>
    </dgm:pt>
    <dgm:pt modelId="{903178EC-30AA-44F3-B79C-1BD1B09C4D2A}" type="pres">
      <dgm:prSet presAssocID="{9924B972-7C54-4643-8330-3FECFF38D6CE}" presName="txShp" presStyleLbl="node1" presStyleIdx="3" presStyleCnt="4">
        <dgm:presLayoutVars>
          <dgm:bulletEnabled val="1"/>
        </dgm:presLayoutVars>
      </dgm:prSet>
      <dgm:spPr/>
    </dgm:pt>
  </dgm:ptLst>
  <dgm:cxnLst>
    <dgm:cxn modelId="{9EE79A09-CE59-4DDF-9BA7-B66C8339D751}" type="presOf" srcId="{A47440E0-01E7-423B-A3B9-E211AE9DED93}" destId="{31FBCE84-2809-4AE3-A5F3-B2254826C8CD}" srcOrd="0" destOrd="0" presId="urn:microsoft.com/office/officeart/2005/8/layout/vList3"/>
    <dgm:cxn modelId="{0F81DC46-3B89-423D-B0B4-79D5BE574660}" type="presOf" srcId="{852057E7-51F9-4644-AA4C-E5F4B08792F9}" destId="{9B51D09D-196B-4136-B614-10702EC3B4A4}" srcOrd="0" destOrd="0" presId="urn:microsoft.com/office/officeart/2005/8/layout/vList3"/>
    <dgm:cxn modelId="{57D80375-3AEB-486C-AA80-7CBDF8F1A529}" srcId="{A47440E0-01E7-423B-A3B9-E211AE9DED93}" destId="{461A4AF8-3672-452E-8A10-FAF2CA9F2001}" srcOrd="1" destOrd="0" parTransId="{956CD3FD-72F1-43D2-8B58-70BB1DBC183E}" sibTransId="{3D7C909F-987F-4085-95D6-225C73CB711E}"/>
    <dgm:cxn modelId="{1C014258-C620-402D-B791-68EDB0407F67}" type="presOf" srcId="{461A4AF8-3672-452E-8A10-FAF2CA9F2001}" destId="{B5739EFC-8E30-4397-90FC-7DD3EF1E14CA}" srcOrd="0" destOrd="0" presId="urn:microsoft.com/office/officeart/2005/8/layout/vList3"/>
    <dgm:cxn modelId="{C5AF627D-8D17-4984-B30D-012611453DE7}" srcId="{A47440E0-01E7-423B-A3B9-E211AE9DED93}" destId="{9924B972-7C54-4643-8330-3FECFF38D6CE}" srcOrd="3" destOrd="0" parTransId="{0E6290BC-FB1E-4938-8732-828065D4CFD9}" sibTransId="{F273B642-5159-45F6-964F-DEF106883D3F}"/>
    <dgm:cxn modelId="{72005DC2-86DE-41F9-9A70-767E153FE821}" srcId="{A47440E0-01E7-423B-A3B9-E211AE9DED93}" destId="{109627F0-81C0-4382-B526-CBCBB0A0B037}" srcOrd="0" destOrd="0" parTransId="{DDEF5D19-963A-4B51-8E21-5AC4433238B7}" sibTransId="{0B4DD26C-D902-40BA-B178-6C8CF1DB5FC9}"/>
    <dgm:cxn modelId="{34F4EAE9-3897-4C2A-91C5-E527D53E5654}" type="presOf" srcId="{9924B972-7C54-4643-8330-3FECFF38D6CE}" destId="{903178EC-30AA-44F3-B79C-1BD1B09C4D2A}" srcOrd="0" destOrd="0" presId="urn:microsoft.com/office/officeart/2005/8/layout/vList3"/>
    <dgm:cxn modelId="{DD1AF7EA-E045-4ADB-84AC-8E717A0CF4C5}" type="presOf" srcId="{109627F0-81C0-4382-B526-CBCBB0A0B037}" destId="{B4FA0406-6CF6-44FA-9000-ADA83BA6872E}" srcOrd="0" destOrd="0" presId="urn:microsoft.com/office/officeart/2005/8/layout/vList3"/>
    <dgm:cxn modelId="{33A975FF-47B8-48EB-A990-F23599C54C50}" srcId="{A47440E0-01E7-423B-A3B9-E211AE9DED93}" destId="{852057E7-51F9-4644-AA4C-E5F4B08792F9}" srcOrd="2" destOrd="0" parTransId="{20A4EB17-1881-4405-82DC-FA82D6DDB69E}" sibTransId="{CE65C0B4-E351-4C57-A0D4-B43C8564FF1B}"/>
    <dgm:cxn modelId="{58B9AB28-F8B9-42CA-8688-FDA43189633C}" type="presParOf" srcId="{31FBCE84-2809-4AE3-A5F3-B2254826C8CD}" destId="{8323D955-8553-41C7-97E4-693D67A8D57D}" srcOrd="0" destOrd="0" presId="urn:microsoft.com/office/officeart/2005/8/layout/vList3"/>
    <dgm:cxn modelId="{6BA3AD5C-D85A-4DF8-A9EC-5599FB6E7346}" type="presParOf" srcId="{8323D955-8553-41C7-97E4-693D67A8D57D}" destId="{CB6ECFEC-DA4C-4FEE-AD77-4D2496704FC2}" srcOrd="0" destOrd="0" presId="urn:microsoft.com/office/officeart/2005/8/layout/vList3"/>
    <dgm:cxn modelId="{DE137349-0B0C-4DC4-B2E1-A56291248FF0}" type="presParOf" srcId="{8323D955-8553-41C7-97E4-693D67A8D57D}" destId="{B4FA0406-6CF6-44FA-9000-ADA83BA6872E}" srcOrd="1" destOrd="0" presId="urn:microsoft.com/office/officeart/2005/8/layout/vList3"/>
    <dgm:cxn modelId="{54B3A107-8D46-47EB-8233-666D13E1A590}" type="presParOf" srcId="{31FBCE84-2809-4AE3-A5F3-B2254826C8CD}" destId="{845C296E-423C-478C-ABCD-B80CE02D895A}" srcOrd="1" destOrd="0" presId="urn:microsoft.com/office/officeart/2005/8/layout/vList3"/>
    <dgm:cxn modelId="{DF083FB5-69BF-461B-A769-7CA807282154}" type="presParOf" srcId="{31FBCE84-2809-4AE3-A5F3-B2254826C8CD}" destId="{EB5E9BE2-FECA-4E4F-9B89-9A4064255ADA}" srcOrd="2" destOrd="0" presId="urn:microsoft.com/office/officeart/2005/8/layout/vList3"/>
    <dgm:cxn modelId="{2AC6E1FB-569C-41BB-89A7-4837623AED43}" type="presParOf" srcId="{EB5E9BE2-FECA-4E4F-9B89-9A4064255ADA}" destId="{C3019975-D818-42BE-843E-55BDBCAE4A1A}" srcOrd="0" destOrd="0" presId="urn:microsoft.com/office/officeart/2005/8/layout/vList3"/>
    <dgm:cxn modelId="{931A4A2E-61AF-47BF-B06A-C8891A5988C9}" type="presParOf" srcId="{EB5E9BE2-FECA-4E4F-9B89-9A4064255ADA}" destId="{B5739EFC-8E30-4397-90FC-7DD3EF1E14CA}" srcOrd="1" destOrd="0" presId="urn:microsoft.com/office/officeart/2005/8/layout/vList3"/>
    <dgm:cxn modelId="{AA0186F1-84A3-4FAF-8CCD-C4241C9630FD}" type="presParOf" srcId="{31FBCE84-2809-4AE3-A5F3-B2254826C8CD}" destId="{40A6A8AF-C0A2-4886-B2EF-A81C91A59318}" srcOrd="3" destOrd="0" presId="urn:microsoft.com/office/officeart/2005/8/layout/vList3"/>
    <dgm:cxn modelId="{49620DEC-7F57-4144-8147-E3A468448C73}" type="presParOf" srcId="{31FBCE84-2809-4AE3-A5F3-B2254826C8CD}" destId="{595464B4-DE2A-4877-8C36-9284F0120CDA}" srcOrd="4" destOrd="0" presId="urn:microsoft.com/office/officeart/2005/8/layout/vList3"/>
    <dgm:cxn modelId="{61623367-C8F9-424C-9E21-7A5BFE8D525B}" type="presParOf" srcId="{595464B4-DE2A-4877-8C36-9284F0120CDA}" destId="{4210E11C-C01B-49B3-B16A-C2EA6E80B75A}" srcOrd="0" destOrd="0" presId="urn:microsoft.com/office/officeart/2005/8/layout/vList3"/>
    <dgm:cxn modelId="{4776F674-6736-47AE-966E-7935D41B9C36}" type="presParOf" srcId="{595464B4-DE2A-4877-8C36-9284F0120CDA}" destId="{9B51D09D-196B-4136-B614-10702EC3B4A4}" srcOrd="1" destOrd="0" presId="urn:microsoft.com/office/officeart/2005/8/layout/vList3"/>
    <dgm:cxn modelId="{1BD12F68-8E7F-4A19-8450-8607C81B0303}" type="presParOf" srcId="{31FBCE84-2809-4AE3-A5F3-B2254826C8CD}" destId="{83B9BDDE-525B-4B5E-B4CD-F8FF59A90869}" srcOrd="5" destOrd="0" presId="urn:microsoft.com/office/officeart/2005/8/layout/vList3"/>
    <dgm:cxn modelId="{D56AC0E5-6A7E-47C7-86F0-AA1084BD4AC9}" type="presParOf" srcId="{31FBCE84-2809-4AE3-A5F3-B2254826C8CD}" destId="{27D404E0-C2CD-4829-B3E3-5C552AAB29A6}" srcOrd="6" destOrd="0" presId="urn:microsoft.com/office/officeart/2005/8/layout/vList3"/>
    <dgm:cxn modelId="{EB061409-BC0F-4EC8-A94D-42F8B9A3610B}" type="presParOf" srcId="{27D404E0-C2CD-4829-B3E3-5C552AAB29A6}" destId="{BB40714A-9ECF-456D-8A85-11A11161FD90}" srcOrd="0" destOrd="0" presId="urn:microsoft.com/office/officeart/2005/8/layout/vList3"/>
    <dgm:cxn modelId="{D275CA0D-9A9E-497C-B676-6139EC658B23}" type="presParOf" srcId="{27D404E0-C2CD-4829-B3E3-5C552AAB29A6}" destId="{903178EC-30AA-44F3-B79C-1BD1B09C4D2A}" srcOrd="1" destOrd="0" presId="urn:microsoft.com/office/officeart/2005/8/layout/vList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A47440E0-01E7-423B-A3B9-E211AE9DED93}" type="doc">
      <dgm:prSet loTypeId="urn:microsoft.com/office/officeart/2005/8/layout/vList3" loCatId="list" qsTypeId="urn:microsoft.com/office/officeart/2005/8/quickstyle/simple1" qsCatId="simple" csTypeId="urn:microsoft.com/office/officeart/2005/8/colors/accent1_2" csCatId="accent1" phldr="1"/>
      <dgm:spPr/>
    </dgm:pt>
    <dgm:pt modelId="{109627F0-81C0-4382-B526-CBCBB0A0B037}">
      <dgm:prSet custT="1"/>
      <dgm:spPr>
        <a:noFill/>
        <a:ln>
          <a:solidFill>
            <a:srgbClr val="FFFF00"/>
          </a:solidFill>
        </a:ln>
      </dgm:spPr>
      <dgm:t>
        <a:bodyPr/>
        <a:lstStyle/>
        <a:p>
          <a:pPr>
            <a:buFont typeface="Arial" panose="020B0604020202020204" pitchFamily="34" charset="0"/>
          </a:pPr>
          <a:r>
            <a:rPr lang="en-IN" sz="800" b="1">
              <a:solidFill>
                <a:srgbClr val="FFFF00"/>
              </a:solidFill>
              <a:latin typeface="EY interstate"/>
            </a:rPr>
            <a:t>Reconciliation Status Dashboard</a:t>
          </a:r>
        </a:p>
        <a:p>
          <a:pPr>
            <a:buFont typeface="Arial" panose="020B0604020202020204" pitchFamily="34" charset="0"/>
          </a:pPr>
          <a:r>
            <a:rPr lang="en-IN" sz="800">
              <a:latin typeface="EY interstate"/>
            </a:rPr>
            <a:t>Display color-coded status (e.g., green/yellow/red) based on defined tolerances. Shows </a:t>
          </a:r>
          <a:r>
            <a:rPr lang="en-IN" sz="800" b="1">
              <a:latin typeface="EY interstate"/>
            </a:rPr>
            <a:t>Leading Unit vs. Partner Unit</a:t>
          </a:r>
          <a:r>
            <a:rPr lang="en-IN" sz="800">
              <a:latin typeface="EY interstate"/>
            </a:rPr>
            <a:t> balances.</a:t>
          </a:r>
        </a:p>
        <a:p>
          <a:pPr>
            <a:buFont typeface="Arial" panose="020B0604020202020204" pitchFamily="34" charset="0"/>
          </a:pPr>
          <a:r>
            <a:rPr lang="en-IN" sz="800">
              <a:latin typeface="EY interstate"/>
            </a:rPr>
            <a:t>Highlights discrepancies and their impact.</a:t>
          </a:r>
        </a:p>
      </dgm:t>
    </dgm:pt>
    <dgm:pt modelId="{DDEF5D19-963A-4B51-8E21-5AC4433238B7}" type="parTrans" cxnId="{72005DC2-86DE-41F9-9A70-767E153FE821}">
      <dgm:prSet/>
      <dgm:spPr/>
      <dgm:t>
        <a:bodyPr/>
        <a:lstStyle/>
        <a:p>
          <a:endParaRPr lang="en-IN"/>
        </a:p>
      </dgm:t>
    </dgm:pt>
    <dgm:pt modelId="{0B4DD26C-D902-40BA-B178-6C8CF1DB5FC9}" type="sibTrans" cxnId="{72005DC2-86DE-41F9-9A70-767E153FE821}">
      <dgm:prSet/>
      <dgm:spPr/>
      <dgm:t>
        <a:bodyPr/>
        <a:lstStyle/>
        <a:p>
          <a:endParaRPr lang="en-IN"/>
        </a:p>
      </dgm:t>
    </dgm:pt>
    <dgm:pt modelId="{461A4AF8-3672-452E-8A10-FAF2CA9F2001}">
      <dgm:prSet custT="1"/>
      <dgm:spPr>
        <a:noFill/>
        <a:ln>
          <a:solidFill>
            <a:srgbClr val="FFFF00"/>
          </a:solidFill>
        </a:ln>
      </dgm:spPr>
      <dgm:t>
        <a:bodyPr/>
        <a:lstStyle/>
        <a:p>
          <a:pPr>
            <a:buFont typeface="Arial" panose="020B0604020202020204" pitchFamily="34" charset="0"/>
            <a:buChar char="•"/>
          </a:pPr>
          <a:r>
            <a:rPr lang="en-IN" sz="800" b="1">
              <a:solidFill>
                <a:srgbClr val="FFFF00"/>
              </a:solidFill>
              <a:latin typeface="EY interstate"/>
            </a:rPr>
            <a:t>Operations View KPIs &amp; Metrics</a:t>
          </a:r>
          <a:r>
            <a:rPr lang="en-IN" sz="800">
              <a:solidFill>
                <a:srgbClr val="FFFF00"/>
              </a:solidFill>
              <a:latin typeface="EY interstate"/>
            </a:rPr>
            <a:t>:</a:t>
          </a:r>
        </a:p>
        <a:p>
          <a:pPr>
            <a:buFont typeface="Arial" panose="020B0604020202020204" pitchFamily="34" charset="0"/>
            <a:buChar char="•"/>
          </a:pPr>
          <a:r>
            <a:rPr lang="en-IN" sz="800">
              <a:latin typeface="EY interstate"/>
            </a:rPr>
            <a:t>KPIs are calculated using weighted metrics. </a:t>
          </a:r>
          <a:r>
            <a:rPr lang="en-IN" sz="800" b="1">
              <a:latin typeface="EY interstate"/>
            </a:rPr>
            <a:t>Performance KPI</a:t>
          </a:r>
          <a:r>
            <a:rPr lang="en-IN" sz="800">
              <a:latin typeface="EY interstate"/>
            </a:rPr>
            <a:t>: Combines average and max response </a:t>
          </a:r>
          <a:r>
            <a:rPr lang="en-IN" sz="800" err="1">
              <a:latin typeface="EY interstate"/>
            </a:rPr>
            <a:t>times.KPIs</a:t>
          </a:r>
          <a:r>
            <a:rPr lang="en-IN" sz="800">
              <a:latin typeface="EY interstate"/>
            </a:rPr>
            <a:t> are color-coded: </a:t>
          </a:r>
          <a:r>
            <a:rPr lang="en-IN" sz="800" b="1">
              <a:latin typeface="EY interstate"/>
            </a:rPr>
            <a:t>Green</a:t>
          </a:r>
          <a:r>
            <a:rPr lang="en-IN" sz="800">
              <a:latin typeface="EY interstate"/>
            </a:rPr>
            <a:t>: &gt;85% </a:t>
          </a:r>
          <a:r>
            <a:rPr lang="en-IN" sz="800" b="1">
              <a:latin typeface="EY interstate"/>
            </a:rPr>
            <a:t>Orange</a:t>
          </a:r>
          <a:r>
            <a:rPr lang="en-IN" sz="800">
              <a:latin typeface="EY interstate"/>
            </a:rPr>
            <a:t>: 70–85% </a:t>
          </a:r>
          <a:r>
            <a:rPr lang="en-IN" sz="800" b="1">
              <a:latin typeface="EY interstate"/>
            </a:rPr>
            <a:t>Red</a:t>
          </a:r>
          <a:r>
            <a:rPr lang="en-IN" sz="800">
              <a:latin typeface="EY interstate"/>
            </a:rPr>
            <a:t>: &lt;70%</a:t>
          </a:r>
        </a:p>
      </dgm:t>
    </dgm:pt>
    <dgm:pt modelId="{956CD3FD-72F1-43D2-8B58-70BB1DBC183E}" type="parTrans" cxnId="{57D80375-3AEB-486C-AA80-7CBDF8F1A529}">
      <dgm:prSet/>
      <dgm:spPr/>
      <dgm:t>
        <a:bodyPr/>
        <a:lstStyle/>
        <a:p>
          <a:endParaRPr lang="en-IN"/>
        </a:p>
      </dgm:t>
    </dgm:pt>
    <dgm:pt modelId="{3D7C909F-987F-4085-95D6-225C73CB711E}" type="sibTrans" cxnId="{57D80375-3AEB-486C-AA80-7CBDF8F1A529}">
      <dgm:prSet/>
      <dgm:spPr/>
      <dgm:t>
        <a:bodyPr/>
        <a:lstStyle/>
        <a:p>
          <a:endParaRPr lang="en-IN"/>
        </a:p>
      </dgm:t>
    </dgm:pt>
    <dgm:pt modelId="{852057E7-51F9-4644-AA4C-E5F4B08792F9}">
      <dgm:prSet custT="1"/>
      <dgm:spPr>
        <a:noFill/>
        <a:ln>
          <a:solidFill>
            <a:srgbClr val="FFFF00"/>
          </a:solidFill>
        </a:ln>
      </dgm:spPr>
      <dgm:t>
        <a:bodyPr/>
        <a:lstStyle/>
        <a:p>
          <a:r>
            <a:rPr lang="en-IN" sz="800" b="1">
              <a:solidFill>
                <a:srgbClr val="FFFF00"/>
              </a:solidFill>
              <a:latin typeface="EY interstate"/>
            </a:rPr>
            <a:t>Automate Account Determination</a:t>
          </a:r>
          <a:r>
            <a:rPr lang="en-IN" sz="800">
              <a:solidFill>
                <a:srgbClr val="FFFF00"/>
              </a:solidFill>
              <a:latin typeface="EY interstate"/>
            </a:rPr>
            <a:t>:</a:t>
          </a:r>
        </a:p>
        <a:p>
          <a:pPr>
            <a:buFont typeface="Arial" panose="020B0604020202020204" pitchFamily="34" charset="0"/>
          </a:pPr>
          <a:r>
            <a:rPr lang="en-IN" sz="800">
              <a:latin typeface="EY interstate"/>
            </a:rPr>
            <a:t>Configure automatic account determination for processes like MM, SD, and FI to reduce manual errors.</a:t>
          </a:r>
        </a:p>
        <a:p>
          <a:pPr>
            <a:buFont typeface="Arial" panose="020B0604020202020204" pitchFamily="34" charset="0"/>
          </a:pPr>
          <a:r>
            <a:rPr lang="en-IN" sz="800">
              <a:latin typeface="EY interstate"/>
            </a:rPr>
            <a:t>Use SAP’s configuration paths to set up rules that map transactions to correct G/L accounts.</a:t>
          </a:r>
        </a:p>
      </dgm:t>
    </dgm:pt>
    <dgm:pt modelId="{20A4EB17-1881-4405-82DC-FA82D6DDB69E}" type="parTrans" cxnId="{33A975FF-47B8-48EB-A990-F23599C54C50}">
      <dgm:prSet/>
      <dgm:spPr/>
      <dgm:t>
        <a:bodyPr/>
        <a:lstStyle/>
        <a:p>
          <a:endParaRPr lang="en-IN"/>
        </a:p>
      </dgm:t>
    </dgm:pt>
    <dgm:pt modelId="{CE65C0B4-E351-4C57-A0D4-B43C8564FF1B}" type="sibTrans" cxnId="{33A975FF-47B8-48EB-A990-F23599C54C50}">
      <dgm:prSet/>
      <dgm:spPr/>
      <dgm:t>
        <a:bodyPr/>
        <a:lstStyle/>
        <a:p>
          <a:endParaRPr lang="en-IN"/>
        </a:p>
      </dgm:t>
    </dgm:pt>
    <dgm:pt modelId="{9924B972-7C54-4643-8330-3FECFF38D6CE}">
      <dgm:prSet custT="1"/>
      <dgm:spPr>
        <a:noFill/>
        <a:ln>
          <a:solidFill>
            <a:srgbClr val="FFFF00"/>
          </a:solidFill>
        </a:ln>
      </dgm:spPr>
      <dgm:t>
        <a:bodyPr/>
        <a:lstStyle/>
        <a:p>
          <a:r>
            <a:rPr lang="en-IN" sz="800" b="1">
              <a:solidFill>
                <a:srgbClr val="FFFF00"/>
              </a:solidFill>
              <a:latin typeface="EY interstate"/>
            </a:rPr>
            <a:t>Integration Methods:</a:t>
          </a:r>
        </a:p>
        <a:p>
          <a:pPr>
            <a:buFont typeface="Arial" panose="020B0604020202020204" pitchFamily="34" charset="0"/>
          </a:pPr>
          <a:r>
            <a:rPr lang="en-IN" sz="800" b="1">
              <a:latin typeface="EY interstate"/>
            </a:rPr>
            <a:t>File-Based Integration</a:t>
          </a:r>
          <a:r>
            <a:rPr lang="en-IN" sz="800">
              <a:latin typeface="EY interstate"/>
            </a:rPr>
            <a:t>: Use structured formats (CSV/XML) via SFTP. Best for batch processing but lacks real-time capabilities. </a:t>
          </a:r>
          <a:r>
            <a:rPr lang="en-IN" sz="800" b="1">
              <a:latin typeface="EY interstate"/>
            </a:rPr>
            <a:t>SAP-Certified Connector: </a:t>
          </a:r>
          <a:r>
            <a:rPr lang="en-IN" sz="800" b="0">
              <a:latin typeface="EY interstate"/>
            </a:rPr>
            <a:t>Supports</a:t>
          </a:r>
          <a:r>
            <a:rPr lang="en-IN" sz="800">
              <a:latin typeface="EY interstate"/>
            </a:rPr>
            <a:t> real-time and scheduled syncs with minimal manual effort.</a:t>
          </a:r>
        </a:p>
      </dgm:t>
    </dgm:pt>
    <dgm:pt modelId="{0E6290BC-FB1E-4938-8732-828065D4CFD9}" type="parTrans" cxnId="{C5AF627D-8D17-4984-B30D-012611453DE7}">
      <dgm:prSet/>
      <dgm:spPr/>
      <dgm:t>
        <a:bodyPr/>
        <a:lstStyle/>
        <a:p>
          <a:endParaRPr lang="en-IN"/>
        </a:p>
      </dgm:t>
    </dgm:pt>
    <dgm:pt modelId="{F273B642-5159-45F6-964F-DEF106883D3F}" type="sibTrans" cxnId="{C5AF627D-8D17-4984-B30D-012611453DE7}">
      <dgm:prSet/>
      <dgm:spPr/>
      <dgm:t>
        <a:bodyPr/>
        <a:lstStyle/>
        <a:p>
          <a:endParaRPr lang="en-IN"/>
        </a:p>
      </dgm:t>
    </dgm:pt>
    <dgm:pt modelId="{31FBCE84-2809-4AE3-A5F3-B2254826C8CD}" type="pres">
      <dgm:prSet presAssocID="{A47440E0-01E7-423B-A3B9-E211AE9DED93}" presName="linearFlow" presStyleCnt="0">
        <dgm:presLayoutVars>
          <dgm:dir/>
          <dgm:resizeHandles val="exact"/>
        </dgm:presLayoutVars>
      </dgm:prSet>
      <dgm:spPr/>
    </dgm:pt>
    <dgm:pt modelId="{8323D955-8553-41C7-97E4-693D67A8D57D}" type="pres">
      <dgm:prSet presAssocID="{109627F0-81C0-4382-B526-CBCBB0A0B037}" presName="composite" presStyleCnt="0"/>
      <dgm:spPr/>
    </dgm:pt>
    <dgm:pt modelId="{CB6ECFEC-DA4C-4FEE-AD77-4D2496704FC2}" type="pres">
      <dgm:prSet presAssocID="{109627F0-81C0-4382-B526-CBCBB0A0B037}" presName="imgShp" presStyleLbl="fgImgPlace1" presStyleIdx="0" presStyleCnt="4" custScaleX="60136" custScaleY="61761" custLinFactNeighborX="-59422" custLinFactNeighborY="876"/>
      <dgm:spPr>
        <a:blipFill>
          <a:blip xmlns:r="http://schemas.openxmlformats.org/officeDocument/2006/relationships" r:embed="rId1">
            <a:extLst>
              <a:ext uri="{96DAC541-7B7A-43D3-8B79-37D633B846F1}">
                <asvg:svgBlip xmlns:asvg="http://schemas.microsoft.com/office/drawing/2016/SVG/main" r:embed="rId2"/>
              </a:ext>
            </a:extLst>
          </a:blip>
          <a:srcRect/>
          <a:stretch>
            <a:fillRect l="-1000" r="-1000"/>
          </a:stretch>
        </a:blipFill>
        <a:ln>
          <a:solidFill>
            <a:srgbClr val="FFFF00"/>
          </a:solidFill>
        </a:ln>
      </dgm:spPr>
      <dgm:extLst>
        <a:ext uri="{E40237B7-FDA0-4F09-8148-C483321AD2D9}">
          <dgm14:cNvPr xmlns:dgm14="http://schemas.microsoft.com/office/drawing/2010/diagram" id="0" name="" descr="Gauge outline"/>
        </a:ext>
      </dgm:extLst>
    </dgm:pt>
    <dgm:pt modelId="{B4FA0406-6CF6-44FA-9000-ADA83BA6872E}" type="pres">
      <dgm:prSet presAssocID="{109627F0-81C0-4382-B526-CBCBB0A0B037}" presName="txShp" presStyleLbl="node1" presStyleIdx="0" presStyleCnt="4">
        <dgm:presLayoutVars>
          <dgm:bulletEnabled val="1"/>
        </dgm:presLayoutVars>
      </dgm:prSet>
      <dgm:spPr/>
    </dgm:pt>
    <dgm:pt modelId="{845C296E-423C-478C-ABCD-B80CE02D895A}" type="pres">
      <dgm:prSet presAssocID="{0B4DD26C-D902-40BA-B178-6C8CF1DB5FC9}" presName="spacing" presStyleCnt="0"/>
      <dgm:spPr/>
    </dgm:pt>
    <dgm:pt modelId="{EB5E9BE2-FECA-4E4F-9B89-9A4064255ADA}" type="pres">
      <dgm:prSet presAssocID="{461A4AF8-3672-452E-8A10-FAF2CA9F2001}" presName="composite" presStyleCnt="0"/>
      <dgm:spPr/>
    </dgm:pt>
    <dgm:pt modelId="{C3019975-D818-42BE-843E-55BDBCAE4A1A}" type="pres">
      <dgm:prSet presAssocID="{461A4AF8-3672-452E-8A10-FAF2CA9F2001}" presName="imgShp" presStyleLbl="fgImgPlace1" presStyleIdx="1" presStyleCnt="4" custScaleX="61054" custScaleY="62481" custLinFactNeighborX="-59422" custLinFactNeighborY="-3505"/>
      <dgm:spPr>
        <a:blipFill>
          <a:blip xmlns:r="http://schemas.openxmlformats.org/officeDocument/2006/relationships" r:embed="rId3">
            <a:extLst>
              <a:ext uri="{96DAC541-7B7A-43D3-8B79-37D633B846F1}">
                <asvg:svgBlip xmlns:asvg="http://schemas.microsoft.com/office/drawing/2016/SVG/main" r:embed="rId4"/>
              </a:ext>
            </a:extLst>
          </a:blip>
          <a:srcRect/>
          <a:stretch>
            <a:fillRect l="-1000" r="-1000"/>
          </a:stretch>
        </a:blipFill>
        <a:ln>
          <a:solidFill>
            <a:srgbClr val="FFFF00"/>
          </a:solidFill>
        </a:ln>
      </dgm:spPr>
      <dgm:extLst>
        <a:ext uri="{E40237B7-FDA0-4F09-8148-C483321AD2D9}">
          <dgm14:cNvPr xmlns:dgm14="http://schemas.microsoft.com/office/drawing/2010/diagram" id="0" name="" descr="Presentation with pie chart outline"/>
        </a:ext>
      </dgm:extLst>
    </dgm:pt>
    <dgm:pt modelId="{B5739EFC-8E30-4397-90FC-7DD3EF1E14CA}" type="pres">
      <dgm:prSet presAssocID="{461A4AF8-3672-452E-8A10-FAF2CA9F2001}" presName="txShp" presStyleLbl="node1" presStyleIdx="1" presStyleCnt="4">
        <dgm:presLayoutVars>
          <dgm:bulletEnabled val="1"/>
        </dgm:presLayoutVars>
      </dgm:prSet>
      <dgm:spPr/>
    </dgm:pt>
    <dgm:pt modelId="{40A6A8AF-C0A2-4886-B2EF-A81C91A59318}" type="pres">
      <dgm:prSet presAssocID="{3D7C909F-987F-4085-95D6-225C73CB711E}" presName="spacing" presStyleCnt="0"/>
      <dgm:spPr/>
    </dgm:pt>
    <dgm:pt modelId="{595464B4-DE2A-4877-8C36-9284F0120CDA}" type="pres">
      <dgm:prSet presAssocID="{852057E7-51F9-4644-AA4C-E5F4B08792F9}" presName="composite" presStyleCnt="0"/>
      <dgm:spPr/>
    </dgm:pt>
    <dgm:pt modelId="{4210E11C-C01B-49B3-B16A-C2EA6E80B75A}" type="pres">
      <dgm:prSet presAssocID="{852057E7-51F9-4644-AA4C-E5F4B08792F9}" presName="imgShp" presStyleLbl="fgImgPlace1" presStyleIdx="2" presStyleCnt="4" custScaleX="58037" custScaleY="61872" custLinFactNeighborX="-59422" custLinFactNeighborY="-2629"/>
      <dgm:spPr>
        <a:blipFill>
          <a:blip xmlns:r="http://schemas.openxmlformats.org/officeDocument/2006/relationships" r:embed="rId5">
            <a:extLst>
              <a:ext uri="{96DAC541-7B7A-43D3-8B79-37D633B846F1}">
                <asvg:svgBlip xmlns:asvg="http://schemas.microsoft.com/office/drawing/2016/SVG/main" r:embed="rId6"/>
              </a:ext>
            </a:extLst>
          </a:blip>
          <a:srcRect/>
          <a:stretch>
            <a:fillRect l="-3000" r="-3000"/>
          </a:stretch>
        </a:blipFill>
        <a:ln>
          <a:solidFill>
            <a:srgbClr val="FFFF00"/>
          </a:solidFill>
        </a:ln>
      </dgm:spPr>
      <dgm:extLst>
        <a:ext uri="{E40237B7-FDA0-4F09-8148-C483321AD2D9}">
          <dgm14:cNvPr xmlns:dgm14="http://schemas.microsoft.com/office/drawing/2010/diagram" id="0" name="" descr="Robot Hand outline"/>
        </a:ext>
      </dgm:extLst>
    </dgm:pt>
    <dgm:pt modelId="{9B51D09D-196B-4136-B614-10702EC3B4A4}" type="pres">
      <dgm:prSet presAssocID="{852057E7-51F9-4644-AA4C-E5F4B08792F9}" presName="txShp" presStyleLbl="node1" presStyleIdx="2" presStyleCnt="4">
        <dgm:presLayoutVars>
          <dgm:bulletEnabled val="1"/>
        </dgm:presLayoutVars>
      </dgm:prSet>
      <dgm:spPr/>
    </dgm:pt>
    <dgm:pt modelId="{83B9BDDE-525B-4B5E-B4CD-F8FF59A90869}" type="pres">
      <dgm:prSet presAssocID="{CE65C0B4-E351-4C57-A0D4-B43C8564FF1B}" presName="spacing" presStyleCnt="0"/>
      <dgm:spPr/>
    </dgm:pt>
    <dgm:pt modelId="{27D404E0-C2CD-4829-B3E3-5C552AAB29A6}" type="pres">
      <dgm:prSet presAssocID="{9924B972-7C54-4643-8330-3FECFF38D6CE}" presName="composite" presStyleCnt="0"/>
      <dgm:spPr/>
    </dgm:pt>
    <dgm:pt modelId="{BB40714A-9ECF-456D-8A85-11A11161FD90}" type="pres">
      <dgm:prSet presAssocID="{9924B972-7C54-4643-8330-3FECFF38D6CE}" presName="imgShp" presStyleLbl="fgImgPlace1" presStyleIdx="3" presStyleCnt="4" custScaleX="56972" custScaleY="59349" custLinFactNeighborX="-59859" custLinFactNeighborY="122"/>
      <dgm:spPr>
        <a:blipFill>
          <a:blip xmlns:r="http://schemas.openxmlformats.org/officeDocument/2006/relationships" r:embed="rId7">
            <a:extLst>
              <a:ext uri="{96DAC541-7B7A-43D3-8B79-37D633B846F1}">
                <asvg:svgBlip xmlns:asvg="http://schemas.microsoft.com/office/drawing/2016/SVG/main" r:embed="rId8"/>
              </a:ext>
            </a:extLst>
          </a:blip>
          <a:srcRect/>
          <a:stretch>
            <a:fillRect l="-2000" r="-2000"/>
          </a:stretch>
        </a:blipFill>
        <a:ln>
          <a:solidFill>
            <a:srgbClr val="FFFF00"/>
          </a:solidFill>
        </a:ln>
      </dgm:spPr>
      <dgm:extLst>
        <a:ext uri="{E40237B7-FDA0-4F09-8148-C483321AD2D9}">
          <dgm14:cNvPr xmlns:dgm14="http://schemas.microsoft.com/office/drawing/2010/diagram" id="0" name="" descr="Link with solid fill"/>
        </a:ext>
      </dgm:extLst>
    </dgm:pt>
    <dgm:pt modelId="{903178EC-30AA-44F3-B79C-1BD1B09C4D2A}" type="pres">
      <dgm:prSet presAssocID="{9924B972-7C54-4643-8330-3FECFF38D6CE}" presName="txShp" presStyleLbl="node1" presStyleIdx="3" presStyleCnt="4">
        <dgm:presLayoutVars>
          <dgm:bulletEnabled val="1"/>
        </dgm:presLayoutVars>
      </dgm:prSet>
      <dgm:spPr/>
    </dgm:pt>
  </dgm:ptLst>
  <dgm:cxnLst>
    <dgm:cxn modelId="{9EE79A09-CE59-4DDF-9BA7-B66C8339D751}" type="presOf" srcId="{A47440E0-01E7-423B-A3B9-E211AE9DED93}" destId="{31FBCE84-2809-4AE3-A5F3-B2254826C8CD}" srcOrd="0" destOrd="0" presId="urn:microsoft.com/office/officeart/2005/8/layout/vList3"/>
    <dgm:cxn modelId="{0F81DC46-3B89-423D-B0B4-79D5BE574660}" type="presOf" srcId="{852057E7-51F9-4644-AA4C-E5F4B08792F9}" destId="{9B51D09D-196B-4136-B614-10702EC3B4A4}" srcOrd="0" destOrd="0" presId="urn:microsoft.com/office/officeart/2005/8/layout/vList3"/>
    <dgm:cxn modelId="{57D80375-3AEB-486C-AA80-7CBDF8F1A529}" srcId="{A47440E0-01E7-423B-A3B9-E211AE9DED93}" destId="{461A4AF8-3672-452E-8A10-FAF2CA9F2001}" srcOrd="1" destOrd="0" parTransId="{956CD3FD-72F1-43D2-8B58-70BB1DBC183E}" sibTransId="{3D7C909F-987F-4085-95D6-225C73CB711E}"/>
    <dgm:cxn modelId="{1C014258-C620-402D-B791-68EDB0407F67}" type="presOf" srcId="{461A4AF8-3672-452E-8A10-FAF2CA9F2001}" destId="{B5739EFC-8E30-4397-90FC-7DD3EF1E14CA}" srcOrd="0" destOrd="0" presId="urn:microsoft.com/office/officeart/2005/8/layout/vList3"/>
    <dgm:cxn modelId="{C5AF627D-8D17-4984-B30D-012611453DE7}" srcId="{A47440E0-01E7-423B-A3B9-E211AE9DED93}" destId="{9924B972-7C54-4643-8330-3FECFF38D6CE}" srcOrd="3" destOrd="0" parTransId="{0E6290BC-FB1E-4938-8732-828065D4CFD9}" sibTransId="{F273B642-5159-45F6-964F-DEF106883D3F}"/>
    <dgm:cxn modelId="{72005DC2-86DE-41F9-9A70-767E153FE821}" srcId="{A47440E0-01E7-423B-A3B9-E211AE9DED93}" destId="{109627F0-81C0-4382-B526-CBCBB0A0B037}" srcOrd="0" destOrd="0" parTransId="{DDEF5D19-963A-4B51-8E21-5AC4433238B7}" sibTransId="{0B4DD26C-D902-40BA-B178-6C8CF1DB5FC9}"/>
    <dgm:cxn modelId="{34F4EAE9-3897-4C2A-91C5-E527D53E5654}" type="presOf" srcId="{9924B972-7C54-4643-8330-3FECFF38D6CE}" destId="{903178EC-30AA-44F3-B79C-1BD1B09C4D2A}" srcOrd="0" destOrd="0" presId="urn:microsoft.com/office/officeart/2005/8/layout/vList3"/>
    <dgm:cxn modelId="{DD1AF7EA-E045-4ADB-84AC-8E717A0CF4C5}" type="presOf" srcId="{109627F0-81C0-4382-B526-CBCBB0A0B037}" destId="{B4FA0406-6CF6-44FA-9000-ADA83BA6872E}" srcOrd="0" destOrd="0" presId="urn:microsoft.com/office/officeart/2005/8/layout/vList3"/>
    <dgm:cxn modelId="{33A975FF-47B8-48EB-A990-F23599C54C50}" srcId="{A47440E0-01E7-423B-A3B9-E211AE9DED93}" destId="{852057E7-51F9-4644-AA4C-E5F4B08792F9}" srcOrd="2" destOrd="0" parTransId="{20A4EB17-1881-4405-82DC-FA82D6DDB69E}" sibTransId="{CE65C0B4-E351-4C57-A0D4-B43C8564FF1B}"/>
    <dgm:cxn modelId="{58B9AB28-F8B9-42CA-8688-FDA43189633C}" type="presParOf" srcId="{31FBCE84-2809-4AE3-A5F3-B2254826C8CD}" destId="{8323D955-8553-41C7-97E4-693D67A8D57D}" srcOrd="0" destOrd="0" presId="urn:microsoft.com/office/officeart/2005/8/layout/vList3"/>
    <dgm:cxn modelId="{6BA3AD5C-D85A-4DF8-A9EC-5599FB6E7346}" type="presParOf" srcId="{8323D955-8553-41C7-97E4-693D67A8D57D}" destId="{CB6ECFEC-DA4C-4FEE-AD77-4D2496704FC2}" srcOrd="0" destOrd="0" presId="urn:microsoft.com/office/officeart/2005/8/layout/vList3"/>
    <dgm:cxn modelId="{DE137349-0B0C-4DC4-B2E1-A56291248FF0}" type="presParOf" srcId="{8323D955-8553-41C7-97E4-693D67A8D57D}" destId="{B4FA0406-6CF6-44FA-9000-ADA83BA6872E}" srcOrd="1" destOrd="0" presId="urn:microsoft.com/office/officeart/2005/8/layout/vList3"/>
    <dgm:cxn modelId="{54B3A107-8D46-47EB-8233-666D13E1A590}" type="presParOf" srcId="{31FBCE84-2809-4AE3-A5F3-B2254826C8CD}" destId="{845C296E-423C-478C-ABCD-B80CE02D895A}" srcOrd="1" destOrd="0" presId="urn:microsoft.com/office/officeart/2005/8/layout/vList3"/>
    <dgm:cxn modelId="{DF083FB5-69BF-461B-A769-7CA807282154}" type="presParOf" srcId="{31FBCE84-2809-4AE3-A5F3-B2254826C8CD}" destId="{EB5E9BE2-FECA-4E4F-9B89-9A4064255ADA}" srcOrd="2" destOrd="0" presId="urn:microsoft.com/office/officeart/2005/8/layout/vList3"/>
    <dgm:cxn modelId="{2AC6E1FB-569C-41BB-89A7-4837623AED43}" type="presParOf" srcId="{EB5E9BE2-FECA-4E4F-9B89-9A4064255ADA}" destId="{C3019975-D818-42BE-843E-55BDBCAE4A1A}" srcOrd="0" destOrd="0" presId="urn:microsoft.com/office/officeart/2005/8/layout/vList3"/>
    <dgm:cxn modelId="{931A4A2E-61AF-47BF-B06A-C8891A5988C9}" type="presParOf" srcId="{EB5E9BE2-FECA-4E4F-9B89-9A4064255ADA}" destId="{B5739EFC-8E30-4397-90FC-7DD3EF1E14CA}" srcOrd="1" destOrd="0" presId="urn:microsoft.com/office/officeart/2005/8/layout/vList3"/>
    <dgm:cxn modelId="{AA0186F1-84A3-4FAF-8CCD-C4241C9630FD}" type="presParOf" srcId="{31FBCE84-2809-4AE3-A5F3-B2254826C8CD}" destId="{40A6A8AF-C0A2-4886-B2EF-A81C91A59318}" srcOrd="3" destOrd="0" presId="urn:microsoft.com/office/officeart/2005/8/layout/vList3"/>
    <dgm:cxn modelId="{49620DEC-7F57-4144-8147-E3A468448C73}" type="presParOf" srcId="{31FBCE84-2809-4AE3-A5F3-B2254826C8CD}" destId="{595464B4-DE2A-4877-8C36-9284F0120CDA}" srcOrd="4" destOrd="0" presId="urn:microsoft.com/office/officeart/2005/8/layout/vList3"/>
    <dgm:cxn modelId="{61623367-C8F9-424C-9E21-7A5BFE8D525B}" type="presParOf" srcId="{595464B4-DE2A-4877-8C36-9284F0120CDA}" destId="{4210E11C-C01B-49B3-B16A-C2EA6E80B75A}" srcOrd="0" destOrd="0" presId="urn:microsoft.com/office/officeart/2005/8/layout/vList3"/>
    <dgm:cxn modelId="{4776F674-6736-47AE-966E-7935D41B9C36}" type="presParOf" srcId="{595464B4-DE2A-4877-8C36-9284F0120CDA}" destId="{9B51D09D-196B-4136-B614-10702EC3B4A4}" srcOrd="1" destOrd="0" presId="urn:microsoft.com/office/officeart/2005/8/layout/vList3"/>
    <dgm:cxn modelId="{1BD12F68-8E7F-4A19-8450-8607C81B0303}" type="presParOf" srcId="{31FBCE84-2809-4AE3-A5F3-B2254826C8CD}" destId="{83B9BDDE-525B-4B5E-B4CD-F8FF59A90869}" srcOrd="5" destOrd="0" presId="urn:microsoft.com/office/officeart/2005/8/layout/vList3"/>
    <dgm:cxn modelId="{D56AC0E5-6A7E-47C7-86F0-AA1084BD4AC9}" type="presParOf" srcId="{31FBCE84-2809-4AE3-A5F3-B2254826C8CD}" destId="{27D404E0-C2CD-4829-B3E3-5C552AAB29A6}" srcOrd="6" destOrd="0" presId="urn:microsoft.com/office/officeart/2005/8/layout/vList3"/>
    <dgm:cxn modelId="{EB061409-BC0F-4EC8-A94D-42F8B9A3610B}" type="presParOf" srcId="{27D404E0-C2CD-4829-B3E3-5C552AAB29A6}" destId="{BB40714A-9ECF-456D-8A85-11A11161FD90}" srcOrd="0" destOrd="0" presId="urn:microsoft.com/office/officeart/2005/8/layout/vList3"/>
    <dgm:cxn modelId="{D275CA0D-9A9E-497C-B676-6139EC658B23}" type="presParOf" srcId="{27D404E0-C2CD-4829-B3E3-5C552AAB29A6}" destId="{903178EC-30AA-44F3-B79C-1BD1B09C4D2A}" srcOrd="1" destOrd="0" presId="urn:microsoft.com/office/officeart/2005/8/layout/vList3"/>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7A968841-6990-4061-865A-9B1FBD0C2C59}" type="doc">
      <dgm:prSet loTypeId="urn:microsoft.com/office/officeart/2005/8/layout/vList3" loCatId="list" qsTypeId="urn:microsoft.com/office/officeart/2005/8/quickstyle/simple1" qsCatId="simple" csTypeId="urn:microsoft.com/office/officeart/2005/8/colors/accent1_2" csCatId="accent1" phldr="1"/>
      <dgm:spPr/>
    </dgm:pt>
    <dgm:pt modelId="{4D257592-0DD3-46B8-9EF9-2CA7C0897EB4}">
      <dgm:prSet phldrT="[Text]" custT="1"/>
      <dgm:spPr>
        <a:noFill/>
        <a:ln>
          <a:solidFill>
            <a:srgbClr val="FFFF00"/>
          </a:solidFill>
        </a:ln>
      </dgm:spPr>
      <dgm:t>
        <a:bodyPr/>
        <a:lstStyle/>
        <a:p>
          <a:pPr algn="l">
            <a:buFont typeface="Arial" panose="020B0604020202020204" pitchFamily="34" charset="0"/>
            <a:buChar char="•"/>
          </a:pPr>
          <a:r>
            <a:rPr lang="en-IN" sz="900" b="1">
              <a:solidFill>
                <a:srgbClr val="FFFF00"/>
              </a:solidFill>
              <a:latin typeface="EY interstate"/>
            </a:rPr>
            <a:t>Standardize Reconciliation Templates</a:t>
          </a:r>
        </a:p>
        <a:p>
          <a:pPr algn="l">
            <a:buFont typeface="Arial" panose="020B0604020202020204" pitchFamily="34" charset="0"/>
            <a:buChar char="•"/>
          </a:pPr>
          <a:r>
            <a:rPr lang="en-IN" sz="800">
              <a:latin typeface="EY interstate"/>
            </a:rPr>
            <a:t>Use consistent formats for all accounts. Include fields for account number, description, balance, supporting documentation, and preparer/reviewer notes.</a:t>
          </a:r>
        </a:p>
      </dgm:t>
    </dgm:pt>
    <dgm:pt modelId="{B708F3F9-7393-439E-823F-FFC6CAA826D7}" type="parTrans" cxnId="{95CB1BA6-8E90-475B-9A6A-4B866CDFDFBE}">
      <dgm:prSet/>
      <dgm:spPr/>
      <dgm:t>
        <a:bodyPr/>
        <a:lstStyle/>
        <a:p>
          <a:endParaRPr lang="en-IN"/>
        </a:p>
      </dgm:t>
    </dgm:pt>
    <dgm:pt modelId="{D3F2B2C9-546C-46B1-8E12-CE6A8BD9DCEF}" type="sibTrans" cxnId="{95CB1BA6-8E90-475B-9A6A-4B866CDFDFBE}">
      <dgm:prSet/>
      <dgm:spPr/>
      <dgm:t>
        <a:bodyPr/>
        <a:lstStyle/>
        <a:p>
          <a:endParaRPr lang="en-IN"/>
        </a:p>
      </dgm:t>
    </dgm:pt>
    <dgm:pt modelId="{543433AB-D85B-408D-8CD6-46D41C89F1CE}">
      <dgm:prSet phldrT="[Text]" custT="1"/>
      <dgm:spPr>
        <a:noFill/>
        <a:ln>
          <a:solidFill>
            <a:srgbClr val="FFFF00"/>
          </a:solidFill>
        </a:ln>
      </dgm:spPr>
      <dgm:t>
        <a:bodyPr/>
        <a:lstStyle/>
        <a:p>
          <a:pPr algn="l">
            <a:buFont typeface="Arial" panose="020B0604020202020204" pitchFamily="34" charset="0"/>
            <a:buChar char="•"/>
          </a:pPr>
          <a:r>
            <a:rPr lang="en-IN" sz="900" b="1">
              <a:solidFill>
                <a:srgbClr val="FFFF00"/>
              </a:solidFill>
              <a:latin typeface="EY interstate"/>
            </a:rPr>
            <a:t>Set Materiality Thresholds</a:t>
          </a:r>
        </a:p>
        <a:p>
          <a:pPr algn="l">
            <a:buFont typeface="Arial" panose="020B0604020202020204" pitchFamily="34" charset="0"/>
            <a:buChar char="•"/>
          </a:pPr>
          <a:r>
            <a:rPr lang="en-IN" sz="800">
              <a:latin typeface="EY interstate"/>
            </a:rPr>
            <a:t>Define thresholds for acceptable variances (e.g., ₹500 or ₹1,000). Focus efforts on high-risk or high-value accounts. Avoid wasting time reconciling immaterial differences.</a:t>
          </a:r>
        </a:p>
      </dgm:t>
    </dgm:pt>
    <dgm:pt modelId="{FE28FA4C-4F60-4866-8E38-EABFB67ACF53}" type="parTrans" cxnId="{150969D1-F1BD-4C27-A9DC-BBEEFB74B4D4}">
      <dgm:prSet/>
      <dgm:spPr/>
      <dgm:t>
        <a:bodyPr/>
        <a:lstStyle/>
        <a:p>
          <a:endParaRPr lang="en-IN"/>
        </a:p>
      </dgm:t>
    </dgm:pt>
    <dgm:pt modelId="{4E486617-F848-4E54-9B55-E71D726F802B}" type="sibTrans" cxnId="{150969D1-F1BD-4C27-A9DC-BBEEFB74B4D4}">
      <dgm:prSet/>
      <dgm:spPr/>
      <dgm:t>
        <a:bodyPr/>
        <a:lstStyle/>
        <a:p>
          <a:endParaRPr lang="en-IN"/>
        </a:p>
      </dgm:t>
    </dgm:pt>
    <dgm:pt modelId="{CFEE0238-81EA-4D9B-8030-F834D1FB5FD4}">
      <dgm:prSet phldrT="[Text]" custT="1"/>
      <dgm:spPr>
        <a:noFill/>
        <a:ln>
          <a:solidFill>
            <a:srgbClr val="FFFF00"/>
          </a:solidFill>
        </a:ln>
      </dgm:spPr>
      <dgm:t>
        <a:bodyPr/>
        <a:lstStyle/>
        <a:p>
          <a:pPr algn="l">
            <a:buFont typeface="Arial" panose="020B0604020202020204" pitchFamily="34" charset="0"/>
            <a:buChar char="•"/>
          </a:pPr>
          <a:r>
            <a:rPr lang="en-IN" sz="900" b="1">
              <a:solidFill>
                <a:srgbClr val="FFFF00"/>
              </a:solidFill>
              <a:latin typeface="EY interstate"/>
            </a:rPr>
            <a:t>Maintain Supporting Documentation</a:t>
          </a:r>
        </a:p>
        <a:p>
          <a:pPr algn="l">
            <a:buFont typeface="Arial" panose="020B0604020202020204" pitchFamily="34" charset="0"/>
            <a:buChar char="•"/>
          </a:pPr>
          <a:r>
            <a:rPr lang="en-IN" sz="800">
              <a:latin typeface="EY interstate"/>
            </a:rPr>
            <a:t>Attach backup files (invoices, bank statements, journal entries). Ensure documentation is accessible and audit-ready. Use cloud storage or centralized repositories.</a:t>
          </a:r>
        </a:p>
      </dgm:t>
    </dgm:pt>
    <dgm:pt modelId="{BAD1313F-79FC-426D-BF20-3C29C9D5A076}" type="parTrans" cxnId="{521CF2E1-9F75-4EC6-9D29-B5971ADB2096}">
      <dgm:prSet/>
      <dgm:spPr/>
      <dgm:t>
        <a:bodyPr/>
        <a:lstStyle/>
        <a:p>
          <a:endParaRPr lang="en-IN"/>
        </a:p>
      </dgm:t>
    </dgm:pt>
    <dgm:pt modelId="{C87919A6-4C83-4CA0-AC71-C6133B4A47A2}" type="sibTrans" cxnId="{521CF2E1-9F75-4EC6-9D29-B5971ADB2096}">
      <dgm:prSet/>
      <dgm:spPr/>
      <dgm:t>
        <a:bodyPr/>
        <a:lstStyle/>
        <a:p>
          <a:endParaRPr lang="en-IN"/>
        </a:p>
      </dgm:t>
    </dgm:pt>
    <dgm:pt modelId="{164C6F4E-1AEB-4D5D-90EA-E2E15A59B982}">
      <dgm:prSet phldrT="[Text]" custT="1"/>
      <dgm:spPr>
        <a:noFill/>
        <a:ln>
          <a:solidFill>
            <a:srgbClr val="FFFF00"/>
          </a:solidFill>
        </a:ln>
      </dgm:spPr>
      <dgm:t>
        <a:bodyPr/>
        <a:lstStyle/>
        <a:p>
          <a:pPr algn="l">
            <a:buFont typeface="Arial" panose="020B0604020202020204" pitchFamily="34" charset="0"/>
            <a:buChar char="•"/>
          </a:pPr>
          <a:r>
            <a:rPr lang="en-IN" sz="900" b="1">
              <a:solidFill>
                <a:srgbClr val="FFFF00"/>
              </a:solidFill>
              <a:latin typeface="EY interstate"/>
            </a:rPr>
            <a:t>Track Exceptions Separately</a:t>
          </a:r>
        </a:p>
        <a:p>
          <a:pPr algn="l">
            <a:buFont typeface="Arial" panose="020B0604020202020204" pitchFamily="34" charset="0"/>
            <a:buChar char="•"/>
          </a:pPr>
          <a:r>
            <a:rPr lang="en-IN" sz="800">
              <a:latin typeface="EY interstate"/>
            </a:rPr>
            <a:t>Maintain a log of unreconciled items with reason codes. Monitor aging of exceptions and escalate overdue items. Use dashboards or trackers to visualize exception trends.</a:t>
          </a:r>
        </a:p>
      </dgm:t>
    </dgm:pt>
    <dgm:pt modelId="{E6F025DD-A161-4270-B13A-FF9343694FAE}" type="parTrans" cxnId="{5E37AA64-4243-4B8C-90E5-77BFB698DCD1}">
      <dgm:prSet/>
      <dgm:spPr/>
      <dgm:t>
        <a:bodyPr/>
        <a:lstStyle/>
        <a:p>
          <a:endParaRPr lang="en-IN"/>
        </a:p>
      </dgm:t>
    </dgm:pt>
    <dgm:pt modelId="{FCEF4E69-A6CD-4CCE-BD0C-AD4806E84D1E}" type="sibTrans" cxnId="{5E37AA64-4243-4B8C-90E5-77BFB698DCD1}">
      <dgm:prSet/>
      <dgm:spPr/>
      <dgm:t>
        <a:bodyPr/>
        <a:lstStyle/>
        <a:p>
          <a:endParaRPr lang="en-IN"/>
        </a:p>
      </dgm:t>
    </dgm:pt>
    <dgm:pt modelId="{51B26C1D-20E4-45A6-A53A-32FF268F621D}">
      <dgm:prSet phldrT="[Text]" custT="1"/>
      <dgm:spPr>
        <a:noFill/>
        <a:ln>
          <a:solidFill>
            <a:srgbClr val="FFFF00"/>
          </a:solidFill>
        </a:ln>
      </dgm:spPr>
      <dgm:t>
        <a:bodyPr/>
        <a:lstStyle/>
        <a:p>
          <a:pPr algn="l">
            <a:buFont typeface="Arial" panose="020B0604020202020204" pitchFamily="34" charset="0"/>
            <a:buChar char="•"/>
          </a:pPr>
          <a:r>
            <a:rPr lang="en-IN" sz="800" b="1">
              <a:solidFill>
                <a:srgbClr val="FFFF00"/>
              </a:solidFill>
              <a:latin typeface="EY interstate"/>
            </a:rPr>
            <a:t>Ensure Audit Trail &amp; Compliance</a:t>
          </a:r>
        </a:p>
        <a:p>
          <a:pPr algn="l">
            <a:buFont typeface="Arial" panose="020B0604020202020204" pitchFamily="34" charset="0"/>
            <a:buChar char="•"/>
          </a:pPr>
          <a:r>
            <a:rPr lang="en-IN" sz="800">
              <a:latin typeface="EY interstate"/>
            </a:rPr>
            <a:t>Log all actions with timestamps and user IDs. Maintain version history of reconciliations. Align with standards like SOX, GAAP, or IFRS.</a:t>
          </a:r>
        </a:p>
      </dgm:t>
    </dgm:pt>
    <dgm:pt modelId="{FC755B40-2443-4C6D-BC71-82D24AEC0FFB}" type="parTrans" cxnId="{D851CA1E-93D9-4602-A0CB-9BCE9B3364A1}">
      <dgm:prSet/>
      <dgm:spPr/>
      <dgm:t>
        <a:bodyPr/>
        <a:lstStyle/>
        <a:p>
          <a:endParaRPr lang="en-IN"/>
        </a:p>
      </dgm:t>
    </dgm:pt>
    <dgm:pt modelId="{CF57C6FD-D2AB-4B8E-A479-7950004FDA46}" type="sibTrans" cxnId="{D851CA1E-93D9-4602-A0CB-9BCE9B3364A1}">
      <dgm:prSet/>
      <dgm:spPr/>
      <dgm:t>
        <a:bodyPr/>
        <a:lstStyle/>
        <a:p>
          <a:endParaRPr lang="en-IN"/>
        </a:p>
      </dgm:t>
    </dgm:pt>
    <dgm:pt modelId="{7E7EF2BC-1CD7-46F0-B94E-FA079945D1D0}">
      <dgm:prSet phldrT="[Text]" custT="1"/>
      <dgm:spPr>
        <a:noFill/>
        <a:ln>
          <a:solidFill>
            <a:srgbClr val="FFFF00"/>
          </a:solidFill>
        </a:ln>
      </dgm:spPr>
      <dgm:t>
        <a:bodyPr/>
        <a:lstStyle/>
        <a:p>
          <a:pPr algn="l">
            <a:buFont typeface="Arial" panose="020B0604020202020204" pitchFamily="34" charset="0"/>
            <a:buChar char="•"/>
          </a:pPr>
          <a:r>
            <a:rPr lang="en-IN" sz="800" b="1">
              <a:solidFill>
                <a:srgbClr val="FFFF00"/>
              </a:solidFill>
              <a:latin typeface="EY interstate"/>
            </a:rPr>
            <a:t>Review &amp; Improve Regularly</a:t>
          </a:r>
        </a:p>
        <a:p>
          <a:pPr algn="l">
            <a:buFont typeface="Arial" panose="020B0604020202020204" pitchFamily="34" charset="0"/>
            <a:buChar char="•"/>
          </a:pPr>
          <a:r>
            <a:rPr lang="en-IN" sz="800">
              <a:latin typeface="EY interstate"/>
            </a:rPr>
            <a:t>Conduct periodic reviews of reconciliation processes. Solicit feedback from users. Update templates, rules, and workflows based on learnings.</a:t>
          </a:r>
        </a:p>
      </dgm:t>
    </dgm:pt>
    <dgm:pt modelId="{D9FE1523-804D-486B-899F-B9655133796C}" type="parTrans" cxnId="{2EB20B48-E015-4185-8A0C-77ECE5697DDA}">
      <dgm:prSet/>
      <dgm:spPr/>
      <dgm:t>
        <a:bodyPr/>
        <a:lstStyle/>
        <a:p>
          <a:endParaRPr lang="en-IN"/>
        </a:p>
      </dgm:t>
    </dgm:pt>
    <dgm:pt modelId="{20F80B43-DBCA-48B2-945B-43DDF5E118B5}" type="sibTrans" cxnId="{2EB20B48-E015-4185-8A0C-77ECE5697DDA}">
      <dgm:prSet/>
      <dgm:spPr/>
      <dgm:t>
        <a:bodyPr/>
        <a:lstStyle/>
        <a:p>
          <a:endParaRPr lang="en-IN"/>
        </a:p>
      </dgm:t>
    </dgm:pt>
    <dgm:pt modelId="{F28CE1F2-F660-487A-9543-4371E90527EC}" type="pres">
      <dgm:prSet presAssocID="{7A968841-6990-4061-865A-9B1FBD0C2C59}" presName="linearFlow" presStyleCnt="0">
        <dgm:presLayoutVars>
          <dgm:dir/>
          <dgm:resizeHandles val="exact"/>
        </dgm:presLayoutVars>
      </dgm:prSet>
      <dgm:spPr/>
    </dgm:pt>
    <dgm:pt modelId="{82B7C279-A52B-4FD0-A6BA-02E99A04FC2A}" type="pres">
      <dgm:prSet presAssocID="{4D257592-0DD3-46B8-9EF9-2CA7C0897EB4}" presName="composite" presStyleCnt="0"/>
      <dgm:spPr/>
    </dgm:pt>
    <dgm:pt modelId="{881979B0-DAC0-43F4-91AC-D9ECA72ED404}" type="pres">
      <dgm:prSet presAssocID="{4D257592-0DD3-46B8-9EF9-2CA7C0897EB4}" presName="imgShp" presStyleLbl="fgImgPlace1" presStyleIdx="0" presStyleCnt="6" custScaleX="56502" custScaleY="48877"/>
      <dgm:spPr>
        <a:solidFill>
          <a:srgbClr val="FFFF00"/>
        </a:solidFill>
      </dgm:spPr>
      <dgm:extLst>
        <a:ext uri="{E40237B7-FDA0-4F09-8148-C483321AD2D9}">
          <dgm14:cNvPr xmlns:dgm14="http://schemas.microsoft.com/office/drawing/2010/diagram" id="0" name="" descr="Play outline"/>
        </a:ext>
      </dgm:extLst>
    </dgm:pt>
    <dgm:pt modelId="{E69EEBFA-0D21-4071-804D-FD5F57707666}" type="pres">
      <dgm:prSet presAssocID="{4D257592-0DD3-46B8-9EF9-2CA7C0897EB4}" presName="txShp" presStyleLbl="node1" presStyleIdx="0" presStyleCnt="6">
        <dgm:presLayoutVars>
          <dgm:bulletEnabled val="1"/>
        </dgm:presLayoutVars>
      </dgm:prSet>
      <dgm:spPr/>
    </dgm:pt>
    <dgm:pt modelId="{83CEAFF1-D7EF-4037-8931-B95550EB141A}" type="pres">
      <dgm:prSet presAssocID="{D3F2B2C9-546C-46B1-8E12-CE6A8BD9DCEF}" presName="spacing" presStyleCnt="0"/>
      <dgm:spPr/>
    </dgm:pt>
    <dgm:pt modelId="{AE5181CB-0426-4D10-8B84-296D6E615FF8}" type="pres">
      <dgm:prSet presAssocID="{543433AB-D85B-408D-8CD6-46D41C89F1CE}" presName="composite" presStyleCnt="0"/>
      <dgm:spPr/>
    </dgm:pt>
    <dgm:pt modelId="{FA3E0610-0778-4719-8DEC-88042F700797}" type="pres">
      <dgm:prSet presAssocID="{543433AB-D85B-408D-8CD6-46D41C89F1CE}" presName="imgShp" presStyleLbl="fgImgPlace1" presStyleIdx="1" presStyleCnt="6" custScaleX="56502" custScaleY="48877"/>
      <dgm:spPr>
        <a:solidFill>
          <a:srgbClr val="FFFF00"/>
        </a:solidFill>
      </dgm:spPr>
    </dgm:pt>
    <dgm:pt modelId="{B57751E9-698F-41FC-BB14-D42165880853}" type="pres">
      <dgm:prSet presAssocID="{543433AB-D85B-408D-8CD6-46D41C89F1CE}" presName="txShp" presStyleLbl="node1" presStyleIdx="1" presStyleCnt="6">
        <dgm:presLayoutVars>
          <dgm:bulletEnabled val="1"/>
        </dgm:presLayoutVars>
      </dgm:prSet>
      <dgm:spPr/>
    </dgm:pt>
    <dgm:pt modelId="{9B16AC09-EB7D-4D65-8A81-8375739CB10E}" type="pres">
      <dgm:prSet presAssocID="{4E486617-F848-4E54-9B55-E71D726F802B}" presName="spacing" presStyleCnt="0"/>
      <dgm:spPr/>
    </dgm:pt>
    <dgm:pt modelId="{819774EB-5226-4FC4-8451-E546C54A0FF2}" type="pres">
      <dgm:prSet presAssocID="{CFEE0238-81EA-4D9B-8030-F834D1FB5FD4}" presName="composite" presStyleCnt="0"/>
      <dgm:spPr/>
    </dgm:pt>
    <dgm:pt modelId="{5FA97151-BC1E-42A8-896C-82C54B4E0B3A}" type="pres">
      <dgm:prSet presAssocID="{CFEE0238-81EA-4D9B-8030-F834D1FB5FD4}" presName="imgShp" presStyleLbl="fgImgPlace1" presStyleIdx="2" presStyleCnt="6" custScaleX="56502" custScaleY="48877"/>
      <dgm:spPr>
        <a:solidFill>
          <a:srgbClr val="FFFF00"/>
        </a:solidFill>
      </dgm:spPr>
    </dgm:pt>
    <dgm:pt modelId="{0139F97F-9B5B-40D7-81D0-84248CA5B69A}" type="pres">
      <dgm:prSet presAssocID="{CFEE0238-81EA-4D9B-8030-F834D1FB5FD4}" presName="txShp" presStyleLbl="node1" presStyleIdx="2" presStyleCnt="6">
        <dgm:presLayoutVars>
          <dgm:bulletEnabled val="1"/>
        </dgm:presLayoutVars>
      </dgm:prSet>
      <dgm:spPr/>
    </dgm:pt>
    <dgm:pt modelId="{9D0ECB85-3B88-49D5-AE90-132584800A27}" type="pres">
      <dgm:prSet presAssocID="{C87919A6-4C83-4CA0-AC71-C6133B4A47A2}" presName="spacing" presStyleCnt="0"/>
      <dgm:spPr/>
    </dgm:pt>
    <dgm:pt modelId="{91F01BD1-EDAE-4D80-AED1-146455AC4DC9}" type="pres">
      <dgm:prSet presAssocID="{164C6F4E-1AEB-4D5D-90EA-E2E15A59B982}" presName="composite" presStyleCnt="0"/>
      <dgm:spPr/>
    </dgm:pt>
    <dgm:pt modelId="{C264B0C6-5DC5-4C3A-971F-419120DCFC9C}" type="pres">
      <dgm:prSet presAssocID="{164C6F4E-1AEB-4D5D-90EA-E2E15A59B982}" presName="imgShp" presStyleLbl="fgImgPlace1" presStyleIdx="3" presStyleCnt="6" custScaleX="56502" custScaleY="48877"/>
      <dgm:spPr>
        <a:solidFill>
          <a:srgbClr val="FFFF00"/>
        </a:solidFill>
      </dgm:spPr>
    </dgm:pt>
    <dgm:pt modelId="{E0243B7D-6E81-4D0E-BE9D-E58E77C840AF}" type="pres">
      <dgm:prSet presAssocID="{164C6F4E-1AEB-4D5D-90EA-E2E15A59B982}" presName="txShp" presStyleLbl="node1" presStyleIdx="3" presStyleCnt="6">
        <dgm:presLayoutVars>
          <dgm:bulletEnabled val="1"/>
        </dgm:presLayoutVars>
      </dgm:prSet>
      <dgm:spPr/>
    </dgm:pt>
    <dgm:pt modelId="{BC6A047E-B155-440C-A71A-53854249E73E}" type="pres">
      <dgm:prSet presAssocID="{FCEF4E69-A6CD-4CCE-BD0C-AD4806E84D1E}" presName="spacing" presStyleCnt="0"/>
      <dgm:spPr/>
    </dgm:pt>
    <dgm:pt modelId="{9FFA4190-6F69-4D30-B8B6-2A3206A0198D}" type="pres">
      <dgm:prSet presAssocID="{51B26C1D-20E4-45A6-A53A-32FF268F621D}" presName="composite" presStyleCnt="0"/>
      <dgm:spPr/>
    </dgm:pt>
    <dgm:pt modelId="{F70381F8-21E5-48D3-A202-35CB93FD4E98}" type="pres">
      <dgm:prSet presAssocID="{51B26C1D-20E4-45A6-A53A-32FF268F621D}" presName="imgShp" presStyleLbl="fgImgPlace1" presStyleIdx="4" presStyleCnt="6" custScaleX="56502" custScaleY="48877"/>
      <dgm:spPr>
        <a:solidFill>
          <a:srgbClr val="FFFF00"/>
        </a:solidFill>
      </dgm:spPr>
    </dgm:pt>
    <dgm:pt modelId="{74BFC0FF-CB87-47D2-9AF5-0CBC6CCAB0FA}" type="pres">
      <dgm:prSet presAssocID="{51B26C1D-20E4-45A6-A53A-32FF268F621D}" presName="txShp" presStyleLbl="node1" presStyleIdx="4" presStyleCnt="6">
        <dgm:presLayoutVars>
          <dgm:bulletEnabled val="1"/>
        </dgm:presLayoutVars>
      </dgm:prSet>
      <dgm:spPr/>
    </dgm:pt>
    <dgm:pt modelId="{B4D1B8E6-F704-4A85-92EB-19B7CBE74767}" type="pres">
      <dgm:prSet presAssocID="{CF57C6FD-D2AB-4B8E-A479-7950004FDA46}" presName="spacing" presStyleCnt="0"/>
      <dgm:spPr/>
    </dgm:pt>
    <dgm:pt modelId="{FD3A136F-D4AE-4D7B-8203-08297AA79313}" type="pres">
      <dgm:prSet presAssocID="{7E7EF2BC-1CD7-46F0-B94E-FA079945D1D0}" presName="composite" presStyleCnt="0"/>
      <dgm:spPr/>
    </dgm:pt>
    <dgm:pt modelId="{ADD729B7-2448-4C4C-8F15-3F0996337453}" type="pres">
      <dgm:prSet presAssocID="{7E7EF2BC-1CD7-46F0-B94E-FA079945D1D0}" presName="imgShp" presStyleLbl="fgImgPlace1" presStyleIdx="5" presStyleCnt="6" custScaleX="56502" custScaleY="48877"/>
      <dgm:spPr>
        <a:solidFill>
          <a:srgbClr val="FFFF00"/>
        </a:solidFill>
      </dgm:spPr>
    </dgm:pt>
    <dgm:pt modelId="{56C482B2-E094-42FF-BE20-101F532DC62A}" type="pres">
      <dgm:prSet presAssocID="{7E7EF2BC-1CD7-46F0-B94E-FA079945D1D0}" presName="txShp" presStyleLbl="node1" presStyleIdx="5" presStyleCnt="6">
        <dgm:presLayoutVars>
          <dgm:bulletEnabled val="1"/>
        </dgm:presLayoutVars>
      </dgm:prSet>
      <dgm:spPr/>
    </dgm:pt>
  </dgm:ptLst>
  <dgm:cxnLst>
    <dgm:cxn modelId="{71B5FB06-A732-4B2F-97FE-44D2A8690FD0}" type="presOf" srcId="{4D257592-0DD3-46B8-9EF9-2CA7C0897EB4}" destId="{E69EEBFA-0D21-4071-804D-FD5F57707666}" srcOrd="0" destOrd="0" presId="urn:microsoft.com/office/officeart/2005/8/layout/vList3"/>
    <dgm:cxn modelId="{D851CA1E-93D9-4602-A0CB-9BCE9B3364A1}" srcId="{7A968841-6990-4061-865A-9B1FBD0C2C59}" destId="{51B26C1D-20E4-45A6-A53A-32FF268F621D}" srcOrd="4" destOrd="0" parTransId="{FC755B40-2443-4C6D-BC71-82D24AEC0FFB}" sibTransId="{CF57C6FD-D2AB-4B8E-A479-7950004FDA46}"/>
    <dgm:cxn modelId="{7AB6E52C-7CC1-4485-A8A2-8D9C20598669}" type="presOf" srcId="{7E7EF2BC-1CD7-46F0-B94E-FA079945D1D0}" destId="{56C482B2-E094-42FF-BE20-101F532DC62A}" srcOrd="0" destOrd="0" presId="urn:microsoft.com/office/officeart/2005/8/layout/vList3"/>
    <dgm:cxn modelId="{156B3543-1AA9-4670-BC5F-B784647943A4}" type="presOf" srcId="{7A968841-6990-4061-865A-9B1FBD0C2C59}" destId="{F28CE1F2-F660-487A-9543-4371E90527EC}" srcOrd="0" destOrd="0" presId="urn:microsoft.com/office/officeart/2005/8/layout/vList3"/>
    <dgm:cxn modelId="{E51BBF43-6F47-4981-AA15-C53F9E142061}" type="presOf" srcId="{CFEE0238-81EA-4D9B-8030-F834D1FB5FD4}" destId="{0139F97F-9B5B-40D7-81D0-84248CA5B69A}" srcOrd="0" destOrd="0" presId="urn:microsoft.com/office/officeart/2005/8/layout/vList3"/>
    <dgm:cxn modelId="{5E37AA64-4243-4B8C-90E5-77BFB698DCD1}" srcId="{7A968841-6990-4061-865A-9B1FBD0C2C59}" destId="{164C6F4E-1AEB-4D5D-90EA-E2E15A59B982}" srcOrd="3" destOrd="0" parTransId="{E6F025DD-A161-4270-B13A-FF9343694FAE}" sibTransId="{FCEF4E69-A6CD-4CCE-BD0C-AD4806E84D1E}"/>
    <dgm:cxn modelId="{2EB20B48-E015-4185-8A0C-77ECE5697DDA}" srcId="{7A968841-6990-4061-865A-9B1FBD0C2C59}" destId="{7E7EF2BC-1CD7-46F0-B94E-FA079945D1D0}" srcOrd="5" destOrd="0" parTransId="{D9FE1523-804D-486B-899F-B9655133796C}" sibTransId="{20F80B43-DBCA-48B2-945B-43DDF5E118B5}"/>
    <dgm:cxn modelId="{E0C1C558-17C6-4757-8512-8E878E050991}" type="presOf" srcId="{51B26C1D-20E4-45A6-A53A-32FF268F621D}" destId="{74BFC0FF-CB87-47D2-9AF5-0CBC6CCAB0FA}" srcOrd="0" destOrd="0" presId="urn:microsoft.com/office/officeart/2005/8/layout/vList3"/>
    <dgm:cxn modelId="{495C885A-43E0-45CC-B73F-EDB977878B8C}" type="presOf" srcId="{164C6F4E-1AEB-4D5D-90EA-E2E15A59B982}" destId="{E0243B7D-6E81-4D0E-BE9D-E58E77C840AF}" srcOrd="0" destOrd="0" presId="urn:microsoft.com/office/officeart/2005/8/layout/vList3"/>
    <dgm:cxn modelId="{E4178481-22EF-455D-973C-390124B130E2}" type="presOf" srcId="{543433AB-D85B-408D-8CD6-46D41C89F1CE}" destId="{B57751E9-698F-41FC-BB14-D42165880853}" srcOrd="0" destOrd="0" presId="urn:microsoft.com/office/officeart/2005/8/layout/vList3"/>
    <dgm:cxn modelId="{95CB1BA6-8E90-475B-9A6A-4B866CDFDFBE}" srcId="{7A968841-6990-4061-865A-9B1FBD0C2C59}" destId="{4D257592-0DD3-46B8-9EF9-2CA7C0897EB4}" srcOrd="0" destOrd="0" parTransId="{B708F3F9-7393-439E-823F-FFC6CAA826D7}" sibTransId="{D3F2B2C9-546C-46B1-8E12-CE6A8BD9DCEF}"/>
    <dgm:cxn modelId="{150969D1-F1BD-4C27-A9DC-BBEEFB74B4D4}" srcId="{7A968841-6990-4061-865A-9B1FBD0C2C59}" destId="{543433AB-D85B-408D-8CD6-46D41C89F1CE}" srcOrd="1" destOrd="0" parTransId="{FE28FA4C-4F60-4866-8E38-EABFB67ACF53}" sibTransId="{4E486617-F848-4E54-9B55-E71D726F802B}"/>
    <dgm:cxn modelId="{521CF2E1-9F75-4EC6-9D29-B5971ADB2096}" srcId="{7A968841-6990-4061-865A-9B1FBD0C2C59}" destId="{CFEE0238-81EA-4D9B-8030-F834D1FB5FD4}" srcOrd="2" destOrd="0" parTransId="{BAD1313F-79FC-426D-BF20-3C29C9D5A076}" sibTransId="{C87919A6-4C83-4CA0-AC71-C6133B4A47A2}"/>
    <dgm:cxn modelId="{9301A43C-6C42-4E5E-9B1B-8435F6AD3F68}" type="presParOf" srcId="{F28CE1F2-F660-487A-9543-4371E90527EC}" destId="{82B7C279-A52B-4FD0-A6BA-02E99A04FC2A}" srcOrd="0" destOrd="0" presId="urn:microsoft.com/office/officeart/2005/8/layout/vList3"/>
    <dgm:cxn modelId="{1D66D1A5-803B-4CE6-9975-DE65AE284C19}" type="presParOf" srcId="{82B7C279-A52B-4FD0-A6BA-02E99A04FC2A}" destId="{881979B0-DAC0-43F4-91AC-D9ECA72ED404}" srcOrd="0" destOrd="0" presId="urn:microsoft.com/office/officeart/2005/8/layout/vList3"/>
    <dgm:cxn modelId="{DA14E6A1-E955-4937-A471-50DC16557A59}" type="presParOf" srcId="{82B7C279-A52B-4FD0-A6BA-02E99A04FC2A}" destId="{E69EEBFA-0D21-4071-804D-FD5F57707666}" srcOrd="1" destOrd="0" presId="urn:microsoft.com/office/officeart/2005/8/layout/vList3"/>
    <dgm:cxn modelId="{3F4C084E-71F0-4659-B2CA-8F27465E6EE0}" type="presParOf" srcId="{F28CE1F2-F660-487A-9543-4371E90527EC}" destId="{83CEAFF1-D7EF-4037-8931-B95550EB141A}" srcOrd="1" destOrd="0" presId="urn:microsoft.com/office/officeart/2005/8/layout/vList3"/>
    <dgm:cxn modelId="{DBCAFE47-3A8A-4A5A-8C47-83164AFA96E0}" type="presParOf" srcId="{F28CE1F2-F660-487A-9543-4371E90527EC}" destId="{AE5181CB-0426-4D10-8B84-296D6E615FF8}" srcOrd="2" destOrd="0" presId="urn:microsoft.com/office/officeart/2005/8/layout/vList3"/>
    <dgm:cxn modelId="{BA92D8C0-726F-439E-AF29-7D68FD67D11C}" type="presParOf" srcId="{AE5181CB-0426-4D10-8B84-296D6E615FF8}" destId="{FA3E0610-0778-4719-8DEC-88042F700797}" srcOrd="0" destOrd="0" presId="urn:microsoft.com/office/officeart/2005/8/layout/vList3"/>
    <dgm:cxn modelId="{758AC8A4-C20E-45CB-80E5-EC3C5976C29C}" type="presParOf" srcId="{AE5181CB-0426-4D10-8B84-296D6E615FF8}" destId="{B57751E9-698F-41FC-BB14-D42165880853}" srcOrd="1" destOrd="0" presId="urn:microsoft.com/office/officeart/2005/8/layout/vList3"/>
    <dgm:cxn modelId="{22D2C5AA-1378-474F-9648-17AA447C775D}" type="presParOf" srcId="{F28CE1F2-F660-487A-9543-4371E90527EC}" destId="{9B16AC09-EB7D-4D65-8A81-8375739CB10E}" srcOrd="3" destOrd="0" presId="urn:microsoft.com/office/officeart/2005/8/layout/vList3"/>
    <dgm:cxn modelId="{BDACB98E-555E-41B5-9763-E905E572E52D}" type="presParOf" srcId="{F28CE1F2-F660-487A-9543-4371E90527EC}" destId="{819774EB-5226-4FC4-8451-E546C54A0FF2}" srcOrd="4" destOrd="0" presId="urn:microsoft.com/office/officeart/2005/8/layout/vList3"/>
    <dgm:cxn modelId="{B92167C4-B6F7-418D-BEA8-16153B5BB2FE}" type="presParOf" srcId="{819774EB-5226-4FC4-8451-E546C54A0FF2}" destId="{5FA97151-BC1E-42A8-896C-82C54B4E0B3A}" srcOrd="0" destOrd="0" presId="urn:microsoft.com/office/officeart/2005/8/layout/vList3"/>
    <dgm:cxn modelId="{CEB92BBE-4EF4-450E-B8CA-DC508211AC9D}" type="presParOf" srcId="{819774EB-5226-4FC4-8451-E546C54A0FF2}" destId="{0139F97F-9B5B-40D7-81D0-84248CA5B69A}" srcOrd="1" destOrd="0" presId="urn:microsoft.com/office/officeart/2005/8/layout/vList3"/>
    <dgm:cxn modelId="{8AE71B75-739D-456E-BE1C-FCF118C5B740}" type="presParOf" srcId="{F28CE1F2-F660-487A-9543-4371E90527EC}" destId="{9D0ECB85-3B88-49D5-AE90-132584800A27}" srcOrd="5" destOrd="0" presId="urn:microsoft.com/office/officeart/2005/8/layout/vList3"/>
    <dgm:cxn modelId="{2DA4373B-0BDB-4D59-95FA-18D2A23156A5}" type="presParOf" srcId="{F28CE1F2-F660-487A-9543-4371E90527EC}" destId="{91F01BD1-EDAE-4D80-AED1-146455AC4DC9}" srcOrd="6" destOrd="0" presId="urn:microsoft.com/office/officeart/2005/8/layout/vList3"/>
    <dgm:cxn modelId="{47CAAE44-A8A6-4017-AE7A-F78E80C3193D}" type="presParOf" srcId="{91F01BD1-EDAE-4D80-AED1-146455AC4DC9}" destId="{C264B0C6-5DC5-4C3A-971F-419120DCFC9C}" srcOrd="0" destOrd="0" presId="urn:microsoft.com/office/officeart/2005/8/layout/vList3"/>
    <dgm:cxn modelId="{BB12BDA4-1B21-4622-86CE-203A05235A34}" type="presParOf" srcId="{91F01BD1-EDAE-4D80-AED1-146455AC4DC9}" destId="{E0243B7D-6E81-4D0E-BE9D-E58E77C840AF}" srcOrd="1" destOrd="0" presId="urn:microsoft.com/office/officeart/2005/8/layout/vList3"/>
    <dgm:cxn modelId="{D5C0ACCB-FFE4-47D5-915B-9E10C41B4CEB}" type="presParOf" srcId="{F28CE1F2-F660-487A-9543-4371E90527EC}" destId="{BC6A047E-B155-440C-A71A-53854249E73E}" srcOrd="7" destOrd="0" presId="urn:microsoft.com/office/officeart/2005/8/layout/vList3"/>
    <dgm:cxn modelId="{912F323F-33A4-456D-B7B5-8C26198BBCCC}" type="presParOf" srcId="{F28CE1F2-F660-487A-9543-4371E90527EC}" destId="{9FFA4190-6F69-4D30-B8B6-2A3206A0198D}" srcOrd="8" destOrd="0" presId="urn:microsoft.com/office/officeart/2005/8/layout/vList3"/>
    <dgm:cxn modelId="{801913D6-A328-4888-81F2-83148BDFD653}" type="presParOf" srcId="{9FFA4190-6F69-4D30-B8B6-2A3206A0198D}" destId="{F70381F8-21E5-48D3-A202-35CB93FD4E98}" srcOrd="0" destOrd="0" presId="urn:microsoft.com/office/officeart/2005/8/layout/vList3"/>
    <dgm:cxn modelId="{546246BF-7655-48EC-965B-0355397919CE}" type="presParOf" srcId="{9FFA4190-6F69-4D30-B8B6-2A3206A0198D}" destId="{74BFC0FF-CB87-47D2-9AF5-0CBC6CCAB0FA}" srcOrd="1" destOrd="0" presId="urn:microsoft.com/office/officeart/2005/8/layout/vList3"/>
    <dgm:cxn modelId="{3840561A-E306-42FE-97A0-9CFE00F38B06}" type="presParOf" srcId="{F28CE1F2-F660-487A-9543-4371E90527EC}" destId="{B4D1B8E6-F704-4A85-92EB-19B7CBE74767}" srcOrd="9" destOrd="0" presId="urn:microsoft.com/office/officeart/2005/8/layout/vList3"/>
    <dgm:cxn modelId="{39405177-C1F9-4ADD-8602-0DB61D77801F}" type="presParOf" srcId="{F28CE1F2-F660-487A-9543-4371E90527EC}" destId="{FD3A136F-D4AE-4D7B-8203-08297AA79313}" srcOrd="10" destOrd="0" presId="urn:microsoft.com/office/officeart/2005/8/layout/vList3"/>
    <dgm:cxn modelId="{8EB5FC86-D98B-4015-9448-6D92AC6D82FD}" type="presParOf" srcId="{FD3A136F-D4AE-4D7B-8203-08297AA79313}" destId="{ADD729B7-2448-4C4C-8F15-3F0996337453}" srcOrd="0" destOrd="0" presId="urn:microsoft.com/office/officeart/2005/8/layout/vList3"/>
    <dgm:cxn modelId="{8E8C7863-1D05-4E63-9AFA-CDA0807988D4}" type="presParOf" srcId="{FD3A136F-D4AE-4D7B-8203-08297AA79313}" destId="{56C482B2-E094-42FF-BE20-101F532DC62A}" srcOrd="1" destOrd="0" presId="urn:microsoft.com/office/officeart/2005/8/layout/vList3"/>
  </dgm:cxnLst>
  <dgm:bg/>
  <dgm:whole/>
  <dgm:extLst>
    <a:ext uri="http://schemas.microsoft.com/office/drawing/2008/diagram">
      <dsp:dataModelExt xmlns:dsp="http://schemas.microsoft.com/office/drawing/2008/diagram" relId="rId19"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AB6D894D-FE11-4DBC-AAFB-042A144E2B71}" type="doc">
      <dgm:prSet loTypeId="urn:microsoft.com/office/officeart/2005/8/layout/hProcess4" loCatId="process" qsTypeId="urn:microsoft.com/office/officeart/2005/8/quickstyle/simple1" qsCatId="simple" csTypeId="urn:microsoft.com/office/officeart/2005/8/colors/accent1_2" csCatId="accent1" phldr="1"/>
      <dgm:spPr/>
      <dgm:t>
        <a:bodyPr/>
        <a:lstStyle/>
        <a:p>
          <a:endParaRPr lang="en-IN"/>
        </a:p>
      </dgm:t>
    </dgm:pt>
    <dgm:pt modelId="{4F48606A-6893-46FA-B3B4-4EE6556F2516}">
      <dgm:prSet phldrT="[Text]" custT="1"/>
      <dgm:spPr>
        <a:noFill/>
        <a:ln>
          <a:solidFill>
            <a:srgbClr val="FFFF00"/>
          </a:solidFill>
        </a:ln>
      </dgm:spPr>
      <dgm:t>
        <a:bodyPr/>
        <a:lstStyle/>
        <a:p>
          <a:r>
            <a:rPr lang="en-IN" sz="700">
              <a:solidFill>
                <a:schemeClr val="bg1"/>
              </a:solidFill>
              <a:latin typeface="EY interstate"/>
            </a:rPr>
            <a:t>Auto-clearing logic (e.g., tolerance rules, recurring patterns</a:t>
          </a:r>
          <a:r>
            <a:rPr lang="en-IN" sz="900">
              <a:solidFill>
                <a:schemeClr val="bg1"/>
              </a:solidFill>
              <a:latin typeface="EY interstate"/>
            </a:rPr>
            <a:t>)</a:t>
          </a:r>
        </a:p>
      </dgm:t>
    </dgm:pt>
    <dgm:pt modelId="{A6557E83-A76D-4C01-8193-21B10FF76E21}" type="parTrans" cxnId="{CDCDA98E-07C9-44FE-946E-4237BF119912}">
      <dgm:prSet/>
      <dgm:spPr/>
      <dgm:t>
        <a:bodyPr/>
        <a:lstStyle/>
        <a:p>
          <a:endParaRPr lang="en-IN"/>
        </a:p>
      </dgm:t>
    </dgm:pt>
    <dgm:pt modelId="{BA1FA3A8-D8E2-4D83-9264-24AFF46B613F}" type="sibTrans" cxnId="{CDCDA98E-07C9-44FE-946E-4237BF119912}">
      <dgm:prSet/>
      <dgm:spPr/>
      <dgm:t>
        <a:bodyPr/>
        <a:lstStyle/>
        <a:p>
          <a:endParaRPr lang="en-IN"/>
        </a:p>
      </dgm:t>
    </dgm:pt>
    <dgm:pt modelId="{64D3E6BF-C135-417D-869F-CAB290E09EA1}">
      <dgm:prSet phldrT="[Text]" custT="1"/>
      <dgm:spPr>
        <a:solidFill>
          <a:srgbClr val="FFFF00"/>
        </a:solidFill>
        <a:ln>
          <a:solidFill>
            <a:srgbClr val="FFFF00"/>
          </a:solidFill>
        </a:ln>
      </dgm:spPr>
      <dgm:t>
        <a:bodyPr/>
        <a:lstStyle/>
        <a:p>
          <a:r>
            <a:rPr lang="en-IN" sz="1100" b="1">
              <a:solidFill>
                <a:schemeClr val="tx1"/>
              </a:solidFill>
              <a:latin typeface="EY interstate"/>
            </a:rPr>
            <a:t>Exception Categorization</a:t>
          </a:r>
        </a:p>
      </dgm:t>
    </dgm:pt>
    <dgm:pt modelId="{BB24D4EF-7332-424D-8F5F-2548C94D5586}" type="parTrans" cxnId="{42599984-66FC-4FF7-90F2-C1298EF64A3F}">
      <dgm:prSet/>
      <dgm:spPr/>
      <dgm:t>
        <a:bodyPr/>
        <a:lstStyle/>
        <a:p>
          <a:endParaRPr lang="en-IN"/>
        </a:p>
      </dgm:t>
    </dgm:pt>
    <dgm:pt modelId="{3E13F1C4-C4B8-4C40-934B-59F3C84283AE}" type="sibTrans" cxnId="{42599984-66FC-4FF7-90F2-C1298EF64A3F}">
      <dgm:prSet/>
      <dgm:spPr>
        <a:solidFill>
          <a:srgbClr val="FFFF00"/>
        </a:solidFill>
        <a:ln>
          <a:solidFill>
            <a:srgbClr val="FFFF00"/>
          </a:solidFill>
        </a:ln>
      </dgm:spPr>
      <dgm:t>
        <a:bodyPr/>
        <a:lstStyle/>
        <a:p>
          <a:endParaRPr lang="en-IN">
            <a:solidFill>
              <a:schemeClr val="bg1"/>
            </a:solidFill>
          </a:endParaRPr>
        </a:p>
      </dgm:t>
    </dgm:pt>
    <dgm:pt modelId="{0F78E975-987C-4AD1-9E0F-0F977268DF27}">
      <dgm:prSet phldrT="[Text]" custT="1"/>
      <dgm:spPr>
        <a:noFill/>
        <a:ln>
          <a:solidFill>
            <a:srgbClr val="FFFF00"/>
          </a:solidFill>
        </a:ln>
      </dgm:spPr>
      <dgm:t>
        <a:bodyPr/>
        <a:lstStyle/>
        <a:p>
          <a:r>
            <a:rPr lang="en-IN" sz="800">
              <a:solidFill>
                <a:schemeClr val="bg1"/>
              </a:solidFill>
              <a:latin typeface="EY interstate"/>
            </a:rPr>
            <a:t>By type (timing, amount mismatch, missing data)</a:t>
          </a:r>
        </a:p>
      </dgm:t>
    </dgm:pt>
    <dgm:pt modelId="{A59342F2-4A20-4620-8222-AF7BBD93087A}" type="parTrans" cxnId="{EAE4EA92-5413-4A2B-9A0E-BC33AE388ECF}">
      <dgm:prSet/>
      <dgm:spPr/>
      <dgm:t>
        <a:bodyPr/>
        <a:lstStyle/>
        <a:p>
          <a:endParaRPr lang="en-IN"/>
        </a:p>
      </dgm:t>
    </dgm:pt>
    <dgm:pt modelId="{88FC8D23-4A0C-4C7B-8B0D-9D9D23451710}" type="sibTrans" cxnId="{EAE4EA92-5413-4A2B-9A0E-BC33AE388ECF}">
      <dgm:prSet/>
      <dgm:spPr/>
      <dgm:t>
        <a:bodyPr/>
        <a:lstStyle/>
        <a:p>
          <a:endParaRPr lang="en-IN"/>
        </a:p>
      </dgm:t>
    </dgm:pt>
    <dgm:pt modelId="{7756EBC4-8184-4227-B1D9-A2DE67AD9336}">
      <dgm:prSet phldrT="[Text]" custT="1"/>
      <dgm:spPr>
        <a:solidFill>
          <a:srgbClr val="FFFF00"/>
        </a:solidFill>
        <a:ln>
          <a:solidFill>
            <a:srgbClr val="FFFF00"/>
          </a:solidFill>
        </a:ln>
      </dgm:spPr>
      <dgm:t>
        <a:bodyPr/>
        <a:lstStyle/>
        <a:p>
          <a:r>
            <a:rPr lang="en-IN" sz="1100" b="1">
              <a:solidFill>
                <a:schemeClr val="tx1"/>
              </a:solidFill>
              <a:latin typeface="EY interstate"/>
            </a:rPr>
            <a:t>Assignment &amp; Workflow</a:t>
          </a:r>
        </a:p>
      </dgm:t>
    </dgm:pt>
    <dgm:pt modelId="{FE5E2818-7819-4500-BA7E-8D7341A76117}" type="parTrans" cxnId="{3968F6CE-3C34-4E91-9E5E-03D8E5272BCF}">
      <dgm:prSet/>
      <dgm:spPr/>
      <dgm:t>
        <a:bodyPr/>
        <a:lstStyle/>
        <a:p>
          <a:endParaRPr lang="en-IN"/>
        </a:p>
      </dgm:t>
    </dgm:pt>
    <dgm:pt modelId="{F9E6E11E-3422-46C1-AE5A-40BD1BB26C7B}" type="sibTrans" cxnId="{3968F6CE-3C34-4E91-9E5E-03D8E5272BCF}">
      <dgm:prSet/>
      <dgm:spPr>
        <a:solidFill>
          <a:srgbClr val="FFFF00"/>
        </a:solidFill>
        <a:ln>
          <a:solidFill>
            <a:srgbClr val="FFFF00"/>
          </a:solidFill>
        </a:ln>
      </dgm:spPr>
      <dgm:t>
        <a:bodyPr/>
        <a:lstStyle/>
        <a:p>
          <a:endParaRPr lang="en-IN">
            <a:solidFill>
              <a:schemeClr val="bg1"/>
            </a:solidFill>
          </a:endParaRPr>
        </a:p>
      </dgm:t>
    </dgm:pt>
    <dgm:pt modelId="{484719AD-085C-4238-BAE2-6B9E56302C18}">
      <dgm:prSet custT="1"/>
      <dgm:spPr>
        <a:solidFill>
          <a:srgbClr val="FFFF00"/>
        </a:solidFill>
        <a:ln>
          <a:solidFill>
            <a:srgbClr val="FFFF00"/>
          </a:solidFill>
        </a:ln>
      </dgm:spPr>
      <dgm:t>
        <a:bodyPr/>
        <a:lstStyle/>
        <a:p>
          <a:r>
            <a:rPr lang="en-IN" sz="1100" b="1">
              <a:solidFill>
                <a:schemeClr val="tx1"/>
              </a:solidFill>
              <a:latin typeface="EY interstate"/>
            </a:rPr>
            <a:t>Exception Identification</a:t>
          </a:r>
        </a:p>
      </dgm:t>
    </dgm:pt>
    <dgm:pt modelId="{528E65FF-9633-4773-8BE8-8C76CEE8D348}" type="parTrans" cxnId="{936E7841-9733-464D-8953-7784C0E063D1}">
      <dgm:prSet/>
      <dgm:spPr/>
      <dgm:t>
        <a:bodyPr/>
        <a:lstStyle/>
        <a:p>
          <a:endParaRPr lang="en-IN"/>
        </a:p>
      </dgm:t>
    </dgm:pt>
    <dgm:pt modelId="{702CF63C-2590-4FEF-9875-0B11CC970AA0}" type="sibTrans" cxnId="{936E7841-9733-464D-8953-7784C0E063D1}">
      <dgm:prSet/>
      <dgm:spPr>
        <a:solidFill>
          <a:srgbClr val="FFFF00"/>
        </a:solidFill>
        <a:ln>
          <a:solidFill>
            <a:srgbClr val="FFFF00"/>
          </a:solidFill>
        </a:ln>
      </dgm:spPr>
      <dgm:t>
        <a:bodyPr/>
        <a:lstStyle/>
        <a:p>
          <a:endParaRPr lang="en-IN">
            <a:solidFill>
              <a:schemeClr val="bg1"/>
            </a:solidFill>
          </a:endParaRPr>
        </a:p>
      </dgm:t>
    </dgm:pt>
    <dgm:pt modelId="{87401465-EDA2-4C23-A686-8FB1F80FAB05}">
      <dgm:prSet phldrT="[Text]" custT="1"/>
      <dgm:spPr>
        <a:solidFill>
          <a:srgbClr val="FFFF00"/>
        </a:solidFill>
        <a:ln>
          <a:solidFill>
            <a:srgbClr val="FFFF00"/>
          </a:solidFill>
        </a:ln>
      </dgm:spPr>
      <dgm:t>
        <a:bodyPr/>
        <a:lstStyle/>
        <a:p>
          <a:r>
            <a:rPr lang="en-IN" sz="1100" b="1">
              <a:solidFill>
                <a:schemeClr val="tx1"/>
              </a:solidFill>
              <a:latin typeface="EY interstate"/>
            </a:rPr>
            <a:t>Data Ingestion</a:t>
          </a:r>
        </a:p>
      </dgm:t>
    </dgm:pt>
    <dgm:pt modelId="{BB348A7A-0A2F-4A98-9AD5-9C91E1E43283}" type="sibTrans" cxnId="{7D9EB684-2AE3-47AF-87D7-4A58A676E023}">
      <dgm:prSet/>
      <dgm:spPr>
        <a:solidFill>
          <a:srgbClr val="FFFF00"/>
        </a:solidFill>
        <a:ln>
          <a:solidFill>
            <a:srgbClr val="FFFF00"/>
          </a:solidFill>
        </a:ln>
      </dgm:spPr>
      <dgm:t>
        <a:bodyPr/>
        <a:lstStyle/>
        <a:p>
          <a:endParaRPr lang="en-IN">
            <a:solidFill>
              <a:schemeClr val="bg1"/>
            </a:solidFill>
          </a:endParaRPr>
        </a:p>
      </dgm:t>
    </dgm:pt>
    <dgm:pt modelId="{A15D9AE1-132F-4E6A-A720-D2177A58998C}" type="parTrans" cxnId="{7D9EB684-2AE3-47AF-87D7-4A58A676E023}">
      <dgm:prSet/>
      <dgm:spPr/>
      <dgm:t>
        <a:bodyPr/>
        <a:lstStyle/>
        <a:p>
          <a:endParaRPr lang="en-IN"/>
        </a:p>
      </dgm:t>
    </dgm:pt>
    <dgm:pt modelId="{FF8A5CD7-F9EC-4AC8-AAC9-6419C51426D5}">
      <dgm:prSet phldrT="[Text]" custT="1"/>
      <dgm:spPr>
        <a:solidFill>
          <a:srgbClr val="FFFF00"/>
        </a:solidFill>
        <a:ln>
          <a:solidFill>
            <a:srgbClr val="FFFF00"/>
          </a:solidFill>
        </a:ln>
      </dgm:spPr>
      <dgm:t>
        <a:bodyPr/>
        <a:lstStyle/>
        <a:p>
          <a:r>
            <a:rPr lang="en-IN" sz="1100" b="1">
              <a:solidFill>
                <a:schemeClr val="tx1"/>
              </a:solidFill>
              <a:latin typeface="EY interstate"/>
            </a:rPr>
            <a:t>Rules Based Clearing</a:t>
          </a:r>
        </a:p>
      </dgm:t>
    </dgm:pt>
    <dgm:pt modelId="{13C87C85-8FA1-46C2-BBCE-5D67A3B08C2B}" type="sibTrans" cxnId="{77B73420-C196-4134-87DF-F6D47D9178AF}">
      <dgm:prSet/>
      <dgm:spPr>
        <a:solidFill>
          <a:srgbClr val="FFFF00"/>
        </a:solidFill>
        <a:ln>
          <a:solidFill>
            <a:srgbClr val="FFFF00"/>
          </a:solidFill>
        </a:ln>
      </dgm:spPr>
      <dgm:t>
        <a:bodyPr/>
        <a:lstStyle/>
        <a:p>
          <a:endParaRPr lang="en-IN">
            <a:solidFill>
              <a:schemeClr val="bg1"/>
            </a:solidFill>
          </a:endParaRPr>
        </a:p>
      </dgm:t>
    </dgm:pt>
    <dgm:pt modelId="{55FC3B13-5A74-45AE-90BA-BF37A0D1B3F1}" type="parTrans" cxnId="{77B73420-C196-4134-87DF-F6D47D9178AF}">
      <dgm:prSet/>
      <dgm:spPr/>
      <dgm:t>
        <a:bodyPr/>
        <a:lstStyle/>
        <a:p>
          <a:endParaRPr lang="en-IN"/>
        </a:p>
      </dgm:t>
    </dgm:pt>
    <dgm:pt modelId="{D169874D-A0A1-4295-9F30-EB60E7B412F0}">
      <dgm:prSet custT="1"/>
      <dgm:spPr>
        <a:noFill/>
        <a:ln>
          <a:solidFill>
            <a:srgbClr val="FFFF00"/>
          </a:solidFill>
        </a:ln>
      </dgm:spPr>
      <dgm:t>
        <a:bodyPr/>
        <a:lstStyle/>
        <a:p>
          <a:r>
            <a:rPr lang="en-IN" sz="900">
              <a:solidFill>
                <a:schemeClr val="bg1"/>
              </a:solidFill>
              <a:latin typeface="EY interstate"/>
            </a:rPr>
            <a:t>Matching engine flags unmatched transactions</a:t>
          </a:r>
        </a:p>
      </dgm:t>
    </dgm:pt>
    <dgm:pt modelId="{952E94C8-722F-4A44-A028-9B8D7E40C2AD}" type="parTrans" cxnId="{D7C17033-3A5C-4040-B4FC-94D071CCC3A1}">
      <dgm:prSet/>
      <dgm:spPr/>
      <dgm:t>
        <a:bodyPr/>
        <a:lstStyle/>
        <a:p>
          <a:endParaRPr lang="en-IN"/>
        </a:p>
      </dgm:t>
    </dgm:pt>
    <dgm:pt modelId="{2A7A2B95-BA2F-447C-B612-B2C22B4BC583}" type="sibTrans" cxnId="{D7C17033-3A5C-4040-B4FC-94D071CCC3A1}">
      <dgm:prSet/>
      <dgm:spPr/>
      <dgm:t>
        <a:bodyPr/>
        <a:lstStyle/>
        <a:p>
          <a:endParaRPr lang="en-IN"/>
        </a:p>
      </dgm:t>
    </dgm:pt>
    <dgm:pt modelId="{286D0745-98BE-498E-87A8-0BD4FEC1FC77}">
      <dgm:prSet phldrT="[Text]" custT="1"/>
      <dgm:spPr>
        <a:noFill/>
        <a:ln>
          <a:solidFill>
            <a:srgbClr val="FFFF00"/>
          </a:solidFill>
        </a:ln>
      </dgm:spPr>
      <dgm:t>
        <a:bodyPr/>
        <a:lstStyle/>
        <a:p>
          <a:r>
            <a:rPr lang="en-IN" sz="900">
              <a:solidFill>
                <a:schemeClr val="bg1"/>
              </a:solidFill>
              <a:latin typeface="EY interstate"/>
            </a:rPr>
            <a:t>Manual resolution or auto-clear post-validation</a:t>
          </a:r>
        </a:p>
      </dgm:t>
    </dgm:pt>
    <dgm:pt modelId="{0CD0CEA0-8F3B-4F0D-8AF6-15DB161ECCA3}" type="parTrans" cxnId="{23E71A43-4D18-4C1E-A8D6-224DB15F151A}">
      <dgm:prSet/>
      <dgm:spPr/>
      <dgm:t>
        <a:bodyPr/>
        <a:lstStyle/>
        <a:p>
          <a:endParaRPr lang="en-IN"/>
        </a:p>
      </dgm:t>
    </dgm:pt>
    <dgm:pt modelId="{80ED87FC-0751-49E2-86C0-B7195019F17B}" type="sibTrans" cxnId="{23E71A43-4D18-4C1E-A8D6-224DB15F151A}">
      <dgm:prSet/>
      <dgm:spPr/>
      <dgm:t>
        <a:bodyPr/>
        <a:lstStyle/>
        <a:p>
          <a:endParaRPr lang="en-IN"/>
        </a:p>
      </dgm:t>
    </dgm:pt>
    <dgm:pt modelId="{22498C2A-9389-4B08-8BB1-D708E8B1B8E7}">
      <dgm:prSet phldrT="[Text]" custT="1"/>
      <dgm:spPr>
        <a:noFill/>
        <a:ln>
          <a:solidFill>
            <a:srgbClr val="FFFF00"/>
          </a:solidFill>
        </a:ln>
      </dgm:spPr>
      <dgm:t>
        <a:bodyPr/>
        <a:lstStyle/>
        <a:p>
          <a:r>
            <a:rPr lang="en-IN" sz="900">
              <a:solidFill>
                <a:schemeClr val="bg1"/>
              </a:solidFill>
              <a:latin typeface="EY interstate"/>
            </a:rPr>
            <a:t>Routed to responsible teams/entities</a:t>
          </a:r>
        </a:p>
      </dgm:t>
    </dgm:pt>
    <dgm:pt modelId="{8341CB69-B9F2-45D4-B21A-3BEC361A8106}" type="parTrans" cxnId="{FFE9F37B-7163-4184-B4BC-2DC783EABA58}">
      <dgm:prSet/>
      <dgm:spPr/>
      <dgm:t>
        <a:bodyPr/>
        <a:lstStyle/>
        <a:p>
          <a:endParaRPr lang="en-IN"/>
        </a:p>
      </dgm:t>
    </dgm:pt>
    <dgm:pt modelId="{1422F1BA-1E17-43A4-AA52-2BB9F9908CBA}" type="sibTrans" cxnId="{FFE9F37B-7163-4184-B4BC-2DC783EABA58}">
      <dgm:prSet/>
      <dgm:spPr/>
      <dgm:t>
        <a:bodyPr/>
        <a:lstStyle/>
        <a:p>
          <a:endParaRPr lang="en-IN"/>
        </a:p>
      </dgm:t>
    </dgm:pt>
    <dgm:pt modelId="{A1B085F2-A7D0-4D22-A6C9-96D50599EC67}">
      <dgm:prSet phldrT="[Text]" custT="1"/>
      <dgm:spPr>
        <a:solidFill>
          <a:srgbClr val="FFFF00"/>
        </a:solidFill>
        <a:ln>
          <a:solidFill>
            <a:srgbClr val="FFFF00"/>
          </a:solidFill>
        </a:ln>
      </dgm:spPr>
      <dgm:t>
        <a:bodyPr/>
        <a:lstStyle/>
        <a:p>
          <a:r>
            <a:rPr lang="en-IN" sz="1100" b="1">
              <a:solidFill>
                <a:schemeClr val="tx1"/>
              </a:solidFill>
              <a:latin typeface="EY interstate"/>
            </a:rPr>
            <a:t>Resolution &amp; Resolute</a:t>
          </a:r>
        </a:p>
      </dgm:t>
    </dgm:pt>
    <dgm:pt modelId="{85B39CB4-AB36-4899-9A8A-341D0AB6EDAA}" type="parTrans" cxnId="{63DDC8D1-3F38-4FF5-86FE-4070AE0569CB}">
      <dgm:prSet/>
      <dgm:spPr/>
      <dgm:t>
        <a:bodyPr/>
        <a:lstStyle/>
        <a:p>
          <a:endParaRPr lang="en-IN"/>
        </a:p>
      </dgm:t>
    </dgm:pt>
    <dgm:pt modelId="{3CCCDB93-0374-4898-A7CD-FBAA63BAA17B}" type="sibTrans" cxnId="{63DDC8D1-3F38-4FF5-86FE-4070AE0569CB}">
      <dgm:prSet/>
      <dgm:spPr>
        <a:solidFill>
          <a:srgbClr val="FFFF00"/>
        </a:solidFill>
        <a:ln>
          <a:solidFill>
            <a:srgbClr val="FFFF00"/>
          </a:solidFill>
        </a:ln>
      </dgm:spPr>
      <dgm:t>
        <a:bodyPr/>
        <a:lstStyle/>
        <a:p>
          <a:endParaRPr lang="en-IN">
            <a:solidFill>
              <a:schemeClr val="bg1"/>
            </a:solidFill>
          </a:endParaRPr>
        </a:p>
      </dgm:t>
    </dgm:pt>
    <dgm:pt modelId="{85CC0DC9-F038-4F47-80AA-F4959938A37F}">
      <dgm:prSet phldrT="[Text]" custT="1"/>
      <dgm:spPr>
        <a:solidFill>
          <a:srgbClr val="FFFF00"/>
        </a:solidFill>
        <a:ln>
          <a:solidFill>
            <a:srgbClr val="FFFF00"/>
          </a:solidFill>
        </a:ln>
      </dgm:spPr>
      <dgm:t>
        <a:bodyPr/>
        <a:lstStyle/>
        <a:p>
          <a:r>
            <a:rPr lang="en-IN" sz="1100" b="1">
              <a:solidFill>
                <a:schemeClr val="tx1"/>
              </a:solidFill>
              <a:latin typeface="EY interstate"/>
            </a:rPr>
            <a:t>Audit trail &amp; Reporting</a:t>
          </a:r>
        </a:p>
      </dgm:t>
    </dgm:pt>
    <dgm:pt modelId="{9CA74C22-9096-4ABE-99ED-9153342D1500}" type="parTrans" cxnId="{A2DA7D78-6230-4F14-B0F7-C38851AD1BB8}">
      <dgm:prSet/>
      <dgm:spPr/>
      <dgm:t>
        <a:bodyPr/>
        <a:lstStyle/>
        <a:p>
          <a:endParaRPr lang="en-IN"/>
        </a:p>
      </dgm:t>
    </dgm:pt>
    <dgm:pt modelId="{E57E35EE-F20E-482B-890F-7322CEB0C564}" type="sibTrans" cxnId="{A2DA7D78-6230-4F14-B0F7-C38851AD1BB8}">
      <dgm:prSet/>
      <dgm:spPr/>
      <dgm:t>
        <a:bodyPr/>
        <a:lstStyle/>
        <a:p>
          <a:endParaRPr lang="en-IN"/>
        </a:p>
      </dgm:t>
    </dgm:pt>
    <dgm:pt modelId="{D39F604B-410C-4465-AC00-E9B3797CDBDA}">
      <dgm:prSet phldrT="[Text]" custT="1"/>
      <dgm:spPr>
        <a:noFill/>
        <a:ln>
          <a:solidFill>
            <a:srgbClr val="FFFF00"/>
          </a:solidFill>
        </a:ln>
      </dgm:spPr>
      <dgm:t>
        <a:bodyPr/>
        <a:lstStyle/>
        <a:p>
          <a:r>
            <a:rPr lang="en-IN" sz="900">
              <a:solidFill>
                <a:schemeClr val="bg1"/>
              </a:solidFill>
              <a:latin typeface="EY interstate"/>
            </a:rPr>
            <a:t>Logged for compliance and analytics</a:t>
          </a:r>
        </a:p>
      </dgm:t>
    </dgm:pt>
    <dgm:pt modelId="{564F1C06-ACA2-49C5-B4F5-306A83390B72}" type="parTrans" cxnId="{49EB6E21-8CC7-4FC2-8855-F9F47799BA1F}">
      <dgm:prSet/>
      <dgm:spPr/>
      <dgm:t>
        <a:bodyPr/>
        <a:lstStyle/>
        <a:p>
          <a:endParaRPr lang="en-IN"/>
        </a:p>
      </dgm:t>
    </dgm:pt>
    <dgm:pt modelId="{3D7E84F7-208B-4689-A08E-E579133440BF}" type="sibTrans" cxnId="{49EB6E21-8CC7-4FC2-8855-F9F47799BA1F}">
      <dgm:prSet/>
      <dgm:spPr/>
      <dgm:t>
        <a:bodyPr/>
        <a:lstStyle/>
        <a:p>
          <a:endParaRPr lang="en-IN"/>
        </a:p>
      </dgm:t>
    </dgm:pt>
    <dgm:pt modelId="{A48745FF-786C-4ABF-87F1-788A93B23DF7}">
      <dgm:prSet phldrT="[Text]" custT="1"/>
      <dgm:spPr>
        <a:noFill/>
        <a:ln>
          <a:solidFill>
            <a:srgbClr val="FFFF00"/>
          </a:solidFill>
        </a:ln>
      </dgm:spPr>
      <dgm:t>
        <a:bodyPr/>
        <a:lstStyle/>
        <a:p>
          <a:r>
            <a:rPr lang="en-IN" sz="900">
              <a:solidFill>
                <a:schemeClr val="bg1"/>
              </a:solidFill>
              <a:latin typeface="EY interstate"/>
            </a:rPr>
            <a:t>Source systems (ERP, bank feeds, subledgers</a:t>
          </a:r>
        </a:p>
      </dgm:t>
    </dgm:pt>
    <dgm:pt modelId="{AAAD70A4-6E46-42D3-9832-5E15EA6E3DD5}" type="parTrans" cxnId="{E5D22378-1C07-40B4-9864-48D2B375F6A8}">
      <dgm:prSet/>
      <dgm:spPr/>
      <dgm:t>
        <a:bodyPr/>
        <a:lstStyle/>
        <a:p>
          <a:endParaRPr lang="en-IN"/>
        </a:p>
      </dgm:t>
    </dgm:pt>
    <dgm:pt modelId="{DE7C6E71-0A35-46C2-8DBD-0BD6A4E0E1C8}" type="sibTrans" cxnId="{E5D22378-1C07-40B4-9864-48D2B375F6A8}">
      <dgm:prSet/>
      <dgm:spPr/>
      <dgm:t>
        <a:bodyPr/>
        <a:lstStyle/>
        <a:p>
          <a:endParaRPr lang="en-IN"/>
        </a:p>
      </dgm:t>
    </dgm:pt>
    <dgm:pt modelId="{BE7CFFE3-94F5-484A-80A7-922C3D06C001}" type="pres">
      <dgm:prSet presAssocID="{AB6D894D-FE11-4DBC-AAFB-042A144E2B71}" presName="Name0" presStyleCnt="0">
        <dgm:presLayoutVars>
          <dgm:dir/>
          <dgm:animLvl val="lvl"/>
          <dgm:resizeHandles val="exact"/>
        </dgm:presLayoutVars>
      </dgm:prSet>
      <dgm:spPr/>
    </dgm:pt>
    <dgm:pt modelId="{4BDDB5E0-638F-4D85-874B-019BD926E7D9}" type="pres">
      <dgm:prSet presAssocID="{AB6D894D-FE11-4DBC-AAFB-042A144E2B71}" presName="tSp" presStyleCnt="0"/>
      <dgm:spPr/>
    </dgm:pt>
    <dgm:pt modelId="{5809F8E5-A93E-4CD3-9B00-C9330986B3BB}" type="pres">
      <dgm:prSet presAssocID="{AB6D894D-FE11-4DBC-AAFB-042A144E2B71}" presName="bSp" presStyleCnt="0"/>
      <dgm:spPr/>
    </dgm:pt>
    <dgm:pt modelId="{F36037D3-0013-4854-9816-7CABA6D6C494}" type="pres">
      <dgm:prSet presAssocID="{AB6D894D-FE11-4DBC-AAFB-042A144E2B71}" presName="process" presStyleCnt="0"/>
      <dgm:spPr/>
    </dgm:pt>
    <dgm:pt modelId="{40087392-8DAB-4008-A338-3C200CCC9BAF}" type="pres">
      <dgm:prSet presAssocID="{87401465-EDA2-4C23-A686-8FB1F80FAB05}" presName="composite1" presStyleCnt="0"/>
      <dgm:spPr/>
    </dgm:pt>
    <dgm:pt modelId="{364788EF-FC0B-482C-9001-19289DACE68D}" type="pres">
      <dgm:prSet presAssocID="{87401465-EDA2-4C23-A686-8FB1F80FAB05}" presName="dummyNode1" presStyleLbl="node1" presStyleIdx="0" presStyleCnt="7"/>
      <dgm:spPr/>
    </dgm:pt>
    <dgm:pt modelId="{97D69311-104C-42DB-B08D-7A23564056A8}" type="pres">
      <dgm:prSet presAssocID="{87401465-EDA2-4C23-A686-8FB1F80FAB05}" presName="childNode1" presStyleLbl="bgAcc1" presStyleIdx="0" presStyleCnt="7">
        <dgm:presLayoutVars>
          <dgm:bulletEnabled val="1"/>
        </dgm:presLayoutVars>
      </dgm:prSet>
      <dgm:spPr/>
    </dgm:pt>
    <dgm:pt modelId="{FEBC22CE-B7BB-4B8D-9E2D-6D7870EF2D3C}" type="pres">
      <dgm:prSet presAssocID="{87401465-EDA2-4C23-A686-8FB1F80FAB05}" presName="childNode1tx" presStyleLbl="bgAcc1" presStyleIdx="0" presStyleCnt="7">
        <dgm:presLayoutVars>
          <dgm:bulletEnabled val="1"/>
        </dgm:presLayoutVars>
      </dgm:prSet>
      <dgm:spPr/>
    </dgm:pt>
    <dgm:pt modelId="{C1340A62-74C8-4875-AFB7-A11AD3AE510F}" type="pres">
      <dgm:prSet presAssocID="{87401465-EDA2-4C23-A686-8FB1F80FAB05}" presName="parentNode1" presStyleLbl="node1" presStyleIdx="0" presStyleCnt="7">
        <dgm:presLayoutVars>
          <dgm:chMax val="1"/>
          <dgm:bulletEnabled val="1"/>
        </dgm:presLayoutVars>
      </dgm:prSet>
      <dgm:spPr/>
    </dgm:pt>
    <dgm:pt modelId="{A93603BA-8545-40A8-B584-E5A15EA5A82D}" type="pres">
      <dgm:prSet presAssocID="{87401465-EDA2-4C23-A686-8FB1F80FAB05}" presName="connSite1" presStyleCnt="0"/>
      <dgm:spPr/>
    </dgm:pt>
    <dgm:pt modelId="{49493D6B-7BC1-4C64-BA38-C651FD5E7F9A}" type="pres">
      <dgm:prSet presAssocID="{BB348A7A-0A2F-4A98-9AD5-9C91E1E43283}" presName="Name9" presStyleLbl="sibTrans2D1" presStyleIdx="0" presStyleCnt="6" custLinFactNeighborX="2255"/>
      <dgm:spPr/>
    </dgm:pt>
    <dgm:pt modelId="{CD512D66-444B-4F36-91D7-21381EF59390}" type="pres">
      <dgm:prSet presAssocID="{484719AD-085C-4238-BAE2-6B9E56302C18}" presName="composite2" presStyleCnt="0"/>
      <dgm:spPr/>
    </dgm:pt>
    <dgm:pt modelId="{1CCA6186-5F15-4E2D-AE33-595D3663D95D}" type="pres">
      <dgm:prSet presAssocID="{484719AD-085C-4238-BAE2-6B9E56302C18}" presName="dummyNode2" presStyleLbl="node1" presStyleIdx="0" presStyleCnt="7"/>
      <dgm:spPr/>
    </dgm:pt>
    <dgm:pt modelId="{EDF721DA-696F-409C-9F54-4EA3F33BAEE6}" type="pres">
      <dgm:prSet presAssocID="{484719AD-085C-4238-BAE2-6B9E56302C18}" presName="childNode2" presStyleLbl="bgAcc1" presStyleIdx="1" presStyleCnt="7">
        <dgm:presLayoutVars>
          <dgm:bulletEnabled val="1"/>
        </dgm:presLayoutVars>
      </dgm:prSet>
      <dgm:spPr/>
    </dgm:pt>
    <dgm:pt modelId="{E6E1295E-B99C-4CA6-B096-E5072A8DDD41}" type="pres">
      <dgm:prSet presAssocID="{484719AD-085C-4238-BAE2-6B9E56302C18}" presName="childNode2tx" presStyleLbl="bgAcc1" presStyleIdx="1" presStyleCnt="7">
        <dgm:presLayoutVars>
          <dgm:bulletEnabled val="1"/>
        </dgm:presLayoutVars>
      </dgm:prSet>
      <dgm:spPr/>
    </dgm:pt>
    <dgm:pt modelId="{506F0664-FE94-44F3-B904-E9711ED58256}" type="pres">
      <dgm:prSet presAssocID="{484719AD-085C-4238-BAE2-6B9E56302C18}" presName="parentNode2" presStyleLbl="node1" presStyleIdx="1" presStyleCnt="7">
        <dgm:presLayoutVars>
          <dgm:chMax val="0"/>
          <dgm:bulletEnabled val="1"/>
        </dgm:presLayoutVars>
      </dgm:prSet>
      <dgm:spPr/>
    </dgm:pt>
    <dgm:pt modelId="{CAABA646-5B2F-4544-808E-BF9909FFC8F0}" type="pres">
      <dgm:prSet presAssocID="{484719AD-085C-4238-BAE2-6B9E56302C18}" presName="connSite2" presStyleCnt="0"/>
      <dgm:spPr/>
    </dgm:pt>
    <dgm:pt modelId="{36E855A2-9B76-4B84-BDAA-D7B71FB5FA26}" type="pres">
      <dgm:prSet presAssocID="{702CF63C-2590-4FEF-9875-0B11CC970AA0}" presName="Name18" presStyleLbl="sibTrans2D1" presStyleIdx="1" presStyleCnt="6"/>
      <dgm:spPr/>
    </dgm:pt>
    <dgm:pt modelId="{EF55B950-20F8-4AA6-B3E9-355099627C4C}" type="pres">
      <dgm:prSet presAssocID="{FF8A5CD7-F9EC-4AC8-AAC9-6419C51426D5}" presName="composite1" presStyleCnt="0"/>
      <dgm:spPr/>
    </dgm:pt>
    <dgm:pt modelId="{5D6204E0-6C10-4092-BC5E-EA4D43E3F26F}" type="pres">
      <dgm:prSet presAssocID="{FF8A5CD7-F9EC-4AC8-AAC9-6419C51426D5}" presName="dummyNode1" presStyleLbl="node1" presStyleIdx="1" presStyleCnt="7"/>
      <dgm:spPr/>
    </dgm:pt>
    <dgm:pt modelId="{A3ADB843-8104-4F54-863C-F8FE5F003065}" type="pres">
      <dgm:prSet presAssocID="{FF8A5CD7-F9EC-4AC8-AAC9-6419C51426D5}" presName="childNode1" presStyleLbl="bgAcc1" presStyleIdx="2" presStyleCnt="7">
        <dgm:presLayoutVars>
          <dgm:bulletEnabled val="1"/>
        </dgm:presLayoutVars>
      </dgm:prSet>
      <dgm:spPr/>
    </dgm:pt>
    <dgm:pt modelId="{462C830B-6B75-4044-9D7C-852D756C71AA}" type="pres">
      <dgm:prSet presAssocID="{FF8A5CD7-F9EC-4AC8-AAC9-6419C51426D5}" presName="childNode1tx" presStyleLbl="bgAcc1" presStyleIdx="2" presStyleCnt="7">
        <dgm:presLayoutVars>
          <dgm:bulletEnabled val="1"/>
        </dgm:presLayoutVars>
      </dgm:prSet>
      <dgm:spPr/>
    </dgm:pt>
    <dgm:pt modelId="{17129F95-E197-4B90-BE21-783F7390E09C}" type="pres">
      <dgm:prSet presAssocID="{FF8A5CD7-F9EC-4AC8-AAC9-6419C51426D5}" presName="parentNode1" presStyleLbl="node1" presStyleIdx="2" presStyleCnt="7">
        <dgm:presLayoutVars>
          <dgm:chMax val="1"/>
          <dgm:bulletEnabled val="1"/>
        </dgm:presLayoutVars>
      </dgm:prSet>
      <dgm:spPr/>
    </dgm:pt>
    <dgm:pt modelId="{E2681BB0-38D8-4913-B54A-EBE0713D8258}" type="pres">
      <dgm:prSet presAssocID="{FF8A5CD7-F9EC-4AC8-AAC9-6419C51426D5}" presName="connSite1" presStyleCnt="0"/>
      <dgm:spPr/>
    </dgm:pt>
    <dgm:pt modelId="{45CCB930-67BF-4D58-94A4-ED43C6D0CF17}" type="pres">
      <dgm:prSet presAssocID="{13C87C85-8FA1-46C2-BBCE-5D67A3B08C2B}" presName="Name9" presStyleLbl="sibTrans2D1" presStyleIdx="2" presStyleCnt="6"/>
      <dgm:spPr/>
    </dgm:pt>
    <dgm:pt modelId="{67820E6B-350D-4405-8DFD-F688C2299D42}" type="pres">
      <dgm:prSet presAssocID="{64D3E6BF-C135-417D-869F-CAB290E09EA1}" presName="composite2" presStyleCnt="0"/>
      <dgm:spPr/>
    </dgm:pt>
    <dgm:pt modelId="{B942041F-0F63-45EA-BBC7-62BC596C7CCD}" type="pres">
      <dgm:prSet presAssocID="{64D3E6BF-C135-417D-869F-CAB290E09EA1}" presName="dummyNode2" presStyleLbl="node1" presStyleIdx="2" presStyleCnt="7"/>
      <dgm:spPr/>
    </dgm:pt>
    <dgm:pt modelId="{6E5ADBC4-4169-4D50-9D69-603D67D4DCCC}" type="pres">
      <dgm:prSet presAssocID="{64D3E6BF-C135-417D-869F-CAB290E09EA1}" presName="childNode2" presStyleLbl="bgAcc1" presStyleIdx="3" presStyleCnt="7">
        <dgm:presLayoutVars>
          <dgm:bulletEnabled val="1"/>
        </dgm:presLayoutVars>
      </dgm:prSet>
      <dgm:spPr/>
    </dgm:pt>
    <dgm:pt modelId="{DF86448C-745A-47D1-AC4F-09B15EFDD284}" type="pres">
      <dgm:prSet presAssocID="{64D3E6BF-C135-417D-869F-CAB290E09EA1}" presName="childNode2tx" presStyleLbl="bgAcc1" presStyleIdx="3" presStyleCnt="7">
        <dgm:presLayoutVars>
          <dgm:bulletEnabled val="1"/>
        </dgm:presLayoutVars>
      </dgm:prSet>
      <dgm:spPr/>
    </dgm:pt>
    <dgm:pt modelId="{BB6092BF-95A4-4B9E-BCBB-2A5B98795F0B}" type="pres">
      <dgm:prSet presAssocID="{64D3E6BF-C135-417D-869F-CAB290E09EA1}" presName="parentNode2" presStyleLbl="node1" presStyleIdx="3" presStyleCnt="7">
        <dgm:presLayoutVars>
          <dgm:chMax val="0"/>
          <dgm:bulletEnabled val="1"/>
        </dgm:presLayoutVars>
      </dgm:prSet>
      <dgm:spPr/>
    </dgm:pt>
    <dgm:pt modelId="{D948E061-C9D4-4AAF-A821-E950887A1DA2}" type="pres">
      <dgm:prSet presAssocID="{64D3E6BF-C135-417D-869F-CAB290E09EA1}" presName="connSite2" presStyleCnt="0"/>
      <dgm:spPr/>
    </dgm:pt>
    <dgm:pt modelId="{5C181A2F-1FD9-44CA-9C06-20BD2B03AE54}" type="pres">
      <dgm:prSet presAssocID="{3E13F1C4-C4B8-4C40-934B-59F3C84283AE}" presName="Name18" presStyleLbl="sibTrans2D1" presStyleIdx="3" presStyleCnt="6"/>
      <dgm:spPr/>
    </dgm:pt>
    <dgm:pt modelId="{269889B8-91C7-4DDF-B76C-F69DD0B85528}" type="pres">
      <dgm:prSet presAssocID="{7756EBC4-8184-4227-B1D9-A2DE67AD9336}" presName="composite1" presStyleCnt="0"/>
      <dgm:spPr/>
    </dgm:pt>
    <dgm:pt modelId="{297B6BFB-BF30-4269-ACF2-E2E5E0DDCF58}" type="pres">
      <dgm:prSet presAssocID="{7756EBC4-8184-4227-B1D9-A2DE67AD9336}" presName="dummyNode1" presStyleLbl="node1" presStyleIdx="3" presStyleCnt="7"/>
      <dgm:spPr/>
    </dgm:pt>
    <dgm:pt modelId="{3644EBC6-99E1-457F-ACDA-AC0531DE5E62}" type="pres">
      <dgm:prSet presAssocID="{7756EBC4-8184-4227-B1D9-A2DE67AD9336}" presName="childNode1" presStyleLbl="bgAcc1" presStyleIdx="4" presStyleCnt="7">
        <dgm:presLayoutVars>
          <dgm:bulletEnabled val="1"/>
        </dgm:presLayoutVars>
      </dgm:prSet>
      <dgm:spPr/>
    </dgm:pt>
    <dgm:pt modelId="{890C958B-23A0-484F-AA59-F0196E88EF5A}" type="pres">
      <dgm:prSet presAssocID="{7756EBC4-8184-4227-B1D9-A2DE67AD9336}" presName="childNode1tx" presStyleLbl="bgAcc1" presStyleIdx="4" presStyleCnt="7">
        <dgm:presLayoutVars>
          <dgm:bulletEnabled val="1"/>
        </dgm:presLayoutVars>
      </dgm:prSet>
      <dgm:spPr/>
    </dgm:pt>
    <dgm:pt modelId="{603B0D29-6A5A-430D-8844-92ABD60918EF}" type="pres">
      <dgm:prSet presAssocID="{7756EBC4-8184-4227-B1D9-A2DE67AD9336}" presName="parentNode1" presStyleLbl="node1" presStyleIdx="4" presStyleCnt="7">
        <dgm:presLayoutVars>
          <dgm:chMax val="1"/>
          <dgm:bulletEnabled val="1"/>
        </dgm:presLayoutVars>
      </dgm:prSet>
      <dgm:spPr/>
    </dgm:pt>
    <dgm:pt modelId="{42DCF7E9-B87B-4C86-A08F-BA60B9A7D942}" type="pres">
      <dgm:prSet presAssocID="{7756EBC4-8184-4227-B1D9-A2DE67AD9336}" presName="connSite1" presStyleCnt="0"/>
      <dgm:spPr/>
    </dgm:pt>
    <dgm:pt modelId="{0415C2BA-B8DC-4776-B5D2-E6FDEE15B8CF}" type="pres">
      <dgm:prSet presAssocID="{F9E6E11E-3422-46C1-AE5A-40BD1BB26C7B}" presName="Name9" presStyleLbl="sibTrans2D1" presStyleIdx="4" presStyleCnt="6"/>
      <dgm:spPr/>
    </dgm:pt>
    <dgm:pt modelId="{303B000D-AD6F-478A-A8D6-EBDE6AD51DA0}" type="pres">
      <dgm:prSet presAssocID="{A1B085F2-A7D0-4D22-A6C9-96D50599EC67}" presName="composite2" presStyleCnt="0"/>
      <dgm:spPr/>
    </dgm:pt>
    <dgm:pt modelId="{C38D8E67-75EE-4B6F-9556-7D5157B2B51D}" type="pres">
      <dgm:prSet presAssocID="{A1B085F2-A7D0-4D22-A6C9-96D50599EC67}" presName="dummyNode2" presStyleLbl="node1" presStyleIdx="4" presStyleCnt="7"/>
      <dgm:spPr/>
    </dgm:pt>
    <dgm:pt modelId="{33424F61-AFC1-49F2-BD36-A9D9AAA88284}" type="pres">
      <dgm:prSet presAssocID="{A1B085F2-A7D0-4D22-A6C9-96D50599EC67}" presName="childNode2" presStyleLbl="bgAcc1" presStyleIdx="5" presStyleCnt="7">
        <dgm:presLayoutVars>
          <dgm:bulletEnabled val="1"/>
        </dgm:presLayoutVars>
      </dgm:prSet>
      <dgm:spPr/>
    </dgm:pt>
    <dgm:pt modelId="{9884C333-89E3-45E2-ACB5-AE28A3877359}" type="pres">
      <dgm:prSet presAssocID="{A1B085F2-A7D0-4D22-A6C9-96D50599EC67}" presName="childNode2tx" presStyleLbl="bgAcc1" presStyleIdx="5" presStyleCnt="7">
        <dgm:presLayoutVars>
          <dgm:bulletEnabled val="1"/>
        </dgm:presLayoutVars>
      </dgm:prSet>
      <dgm:spPr/>
    </dgm:pt>
    <dgm:pt modelId="{7AAE6B0C-7234-4AD7-8D6C-CD6BF33BAF42}" type="pres">
      <dgm:prSet presAssocID="{A1B085F2-A7D0-4D22-A6C9-96D50599EC67}" presName="parentNode2" presStyleLbl="node1" presStyleIdx="5" presStyleCnt="7">
        <dgm:presLayoutVars>
          <dgm:chMax val="0"/>
          <dgm:bulletEnabled val="1"/>
        </dgm:presLayoutVars>
      </dgm:prSet>
      <dgm:spPr/>
    </dgm:pt>
    <dgm:pt modelId="{08CD0D06-9FC0-4F90-8364-5BE185F808D4}" type="pres">
      <dgm:prSet presAssocID="{A1B085F2-A7D0-4D22-A6C9-96D50599EC67}" presName="connSite2" presStyleCnt="0"/>
      <dgm:spPr/>
    </dgm:pt>
    <dgm:pt modelId="{F6CA32EA-23CE-4550-BFD2-5BFE941D52C3}" type="pres">
      <dgm:prSet presAssocID="{3CCCDB93-0374-4898-A7CD-FBAA63BAA17B}" presName="Name18" presStyleLbl="sibTrans2D1" presStyleIdx="5" presStyleCnt="6"/>
      <dgm:spPr/>
    </dgm:pt>
    <dgm:pt modelId="{C05D2E61-B223-4E14-83FB-C4EC9D7564B9}" type="pres">
      <dgm:prSet presAssocID="{85CC0DC9-F038-4F47-80AA-F4959938A37F}" presName="composite1" presStyleCnt="0"/>
      <dgm:spPr/>
    </dgm:pt>
    <dgm:pt modelId="{1916EB30-1627-4EC2-BDBA-30B3B98CAC39}" type="pres">
      <dgm:prSet presAssocID="{85CC0DC9-F038-4F47-80AA-F4959938A37F}" presName="dummyNode1" presStyleLbl="node1" presStyleIdx="5" presStyleCnt="7"/>
      <dgm:spPr/>
    </dgm:pt>
    <dgm:pt modelId="{34061E26-424E-444E-8212-F6359ADAE701}" type="pres">
      <dgm:prSet presAssocID="{85CC0DC9-F038-4F47-80AA-F4959938A37F}" presName="childNode1" presStyleLbl="bgAcc1" presStyleIdx="6" presStyleCnt="7">
        <dgm:presLayoutVars>
          <dgm:bulletEnabled val="1"/>
        </dgm:presLayoutVars>
      </dgm:prSet>
      <dgm:spPr/>
    </dgm:pt>
    <dgm:pt modelId="{1451E767-D0D4-43F4-980E-16222B4BD7F9}" type="pres">
      <dgm:prSet presAssocID="{85CC0DC9-F038-4F47-80AA-F4959938A37F}" presName="childNode1tx" presStyleLbl="bgAcc1" presStyleIdx="6" presStyleCnt="7">
        <dgm:presLayoutVars>
          <dgm:bulletEnabled val="1"/>
        </dgm:presLayoutVars>
      </dgm:prSet>
      <dgm:spPr/>
    </dgm:pt>
    <dgm:pt modelId="{548D896F-70D2-4C85-9CA0-1EC61839115E}" type="pres">
      <dgm:prSet presAssocID="{85CC0DC9-F038-4F47-80AA-F4959938A37F}" presName="parentNode1" presStyleLbl="node1" presStyleIdx="6" presStyleCnt="7">
        <dgm:presLayoutVars>
          <dgm:chMax val="1"/>
          <dgm:bulletEnabled val="1"/>
        </dgm:presLayoutVars>
      </dgm:prSet>
      <dgm:spPr/>
    </dgm:pt>
    <dgm:pt modelId="{87287854-4268-4AE1-BF89-572091A5F350}" type="pres">
      <dgm:prSet presAssocID="{85CC0DC9-F038-4F47-80AA-F4959938A37F}" presName="connSite1" presStyleCnt="0"/>
      <dgm:spPr/>
    </dgm:pt>
  </dgm:ptLst>
  <dgm:cxnLst>
    <dgm:cxn modelId="{225D9501-BD27-4243-ADCF-9BFCA09A703F}" type="presOf" srcId="{702CF63C-2590-4FEF-9875-0B11CC970AA0}" destId="{36E855A2-9B76-4B84-BDAA-D7B71FB5FA26}" srcOrd="0" destOrd="0" presId="urn:microsoft.com/office/officeart/2005/8/layout/hProcess4"/>
    <dgm:cxn modelId="{C20F2007-99B6-450A-8520-EC7C72960008}" type="presOf" srcId="{D169874D-A0A1-4295-9F30-EB60E7B412F0}" destId="{EDF721DA-696F-409C-9F54-4EA3F33BAEE6}" srcOrd="0" destOrd="0" presId="urn:microsoft.com/office/officeart/2005/8/layout/hProcess4"/>
    <dgm:cxn modelId="{C17B7212-A263-47A1-B807-0CFF731BBC5B}" type="presOf" srcId="{A48745FF-786C-4ABF-87F1-788A93B23DF7}" destId="{97D69311-104C-42DB-B08D-7A23564056A8}" srcOrd="0" destOrd="0" presId="urn:microsoft.com/office/officeart/2005/8/layout/hProcess4"/>
    <dgm:cxn modelId="{7964D212-14B0-40D1-BB55-9B7E08E9D041}" type="presOf" srcId="{22498C2A-9389-4B08-8BB1-D708E8B1B8E7}" destId="{3644EBC6-99E1-457F-ACDA-AC0531DE5E62}" srcOrd="0" destOrd="0" presId="urn:microsoft.com/office/officeart/2005/8/layout/hProcess4"/>
    <dgm:cxn modelId="{77B73420-C196-4134-87DF-F6D47D9178AF}" srcId="{AB6D894D-FE11-4DBC-AAFB-042A144E2B71}" destId="{FF8A5CD7-F9EC-4AC8-AAC9-6419C51426D5}" srcOrd="2" destOrd="0" parTransId="{55FC3B13-5A74-45AE-90BA-BF37A0D1B3F1}" sibTransId="{13C87C85-8FA1-46C2-BBCE-5D67A3B08C2B}"/>
    <dgm:cxn modelId="{49EB6E21-8CC7-4FC2-8855-F9F47799BA1F}" srcId="{85CC0DC9-F038-4F47-80AA-F4959938A37F}" destId="{D39F604B-410C-4465-AC00-E9B3797CDBDA}" srcOrd="0" destOrd="0" parTransId="{564F1C06-ACA2-49C5-B4F5-306A83390B72}" sibTransId="{3D7E84F7-208B-4689-A08E-E579133440BF}"/>
    <dgm:cxn modelId="{134CE225-7B74-446D-9B3A-44B47BC5DB1E}" type="presOf" srcId="{4F48606A-6893-46FA-B3B4-4EE6556F2516}" destId="{A3ADB843-8104-4F54-863C-F8FE5F003065}" srcOrd="0" destOrd="0" presId="urn:microsoft.com/office/officeart/2005/8/layout/hProcess4"/>
    <dgm:cxn modelId="{27A82B2A-C724-4DA5-93B1-020983CBEC47}" type="presOf" srcId="{F9E6E11E-3422-46C1-AE5A-40BD1BB26C7B}" destId="{0415C2BA-B8DC-4776-B5D2-E6FDEE15B8CF}" srcOrd="0" destOrd="0" presId="urn:microsoft.com/office/officeart/2005/8/layout/hProcess4"/>
    <dgm:cxn modelId="{D7C17033-3A5C-4040-B4FC-94D071CCC3A1}" srcId="{484719AD-085C-4238-BAE2-6B9E56302C18}" destId="{D169874D-A0A1-4295-9F30-EB60E7B412F0}" srcOrd="0" destOrd="0" parTransId="{952E94C8-722F-4A44-A028-9B8D7E40C2AD}" sibTransId="{2A7A2B95-BA2F-447C-B612-B2C22B4BC583}"/>
    <dgm:cxn modelId="{936E7841-9733-464D-8953-7784C0E063D1}" srcId="{AB6D894D-FE11-4DBC-AAFB-042A144E2B71}" destId="{484719AD-085C-4238-BAE2-6B9E56302C18}" srcOrd="1" destOrd="0" parTransId="{528E65FF-9633-4773-8BE8-8C76CEE8D348}" sibTransId="{702CF63C-2590-4FEF-9875-0B11CC970AA0}"/>
    <dgm:cxn modelId="{23E71A43-4D18-4C1E-A8D6-224DB15F151A}" srcId="{A1B085F2-A7D0-4D22-A6C9-96D50599EC67}" destId="{286D0745-98BE-498E-87A8-0BD4FEC1FC77}" srcOrd="0" destOrd="0" parTransId="{0CD0CEA0-8F3B-4F0D-8AF6-15DB161ECCA3}" sibTransId="{80ED87FC-0751-49E2-86C0-B7195019F17B}"/>
    <dgm:cxn modelId="{7F685446-5D9A-4AD2-855F-4244331D8DC8}" type="presOf" srcId="{4F48606A-6893-46FA-B3B4-4EE6556F2516}" destId="{462C830B-6B75-4044-9D7C-852D756C71AA}" srcOrd="1" destOrd="0" presId="urn:microsoft.com/office/officeart/2005/8/layout/hProcess4"/>
    <dgm:cxn modelId="{F07B5A4A-05B3-4F3F-995C-A5F4E79DF743}" type="presOf" srcId="{7756EBC4-8184-4227-B1D9-A2DE67AD9336}" destId="{603B0D29-6A5A-430D-8844-92ABD60918EF}" srcOrd="0" destOrd="0" presId="urn:microsoft.com/office/officeart/2005/8/layout/hProcess4"/>
    <dgm:cxn modelId="{C5A8476B-AB96-40C9-806A-EE3D92E96928}" type="presOf" srcId="{D169874D-A0A1-4295-9F30-EB60E7B412F0}" destId="{E6E1295E-B99C-4CA6-B096-E5072A8DDD41}" srcOrd="1" destOrd="0" presId="urn:microsoft.com/office/officeart/2005/8/layout/hProcess4"/>
    <dgm:cxn modelId="{8B776D6B-C333-48C3-8EF8-BAAC7FC1552F}" type="presOf" srcId="{64D3E6BF-C135-417D-869F-CAB290E09EA1}" destId="{BB6092BF-95A4-4B9E-BCBB-2A5B98795F0B}" srcOrd="0" destOrd="0" presId="urn:microsoft.com/office/officeart/2005/8/layout/hProcess4"/>
    <dgm:cxn modelId="{B3EE856B-82F2-4017-B68E-03A5A3429AB7}" type="presOf" srcId="{D39F604B-410C-4465-AC00-E9B3797CDBDA}" destId="{34061E26-424E-444E-8212-F6359ADAE701}" srcOrd="0" destOrd="0" presId="urn:microsoft.com/office/officeart/2005/8/layout/hProcess4"/>
    <dgm:cxn modelId="{C7B06971-AED5-4A5D-9227-74C9899857EE}" type="presOf" srcId="{A1B085F2-A7D0-4D22-A6C9-96D50599EC67}" destId="{7AAE6B0C-7234-4AD7-8D6C-CD6BF33BAF42}" srcOrd="0" destOrd="0" presId="urn:microsoft.com/office/officeart/2005/8/layout/hProcess4"/>
    <dgm:cxn modelId="{E5D22378-1C07-40B4-9864-48D2B375F6A8}" srcId="{87401465-EDA2-4C23-A686-8FB1F80FAB05}" destId="{A48745FF-786C-4ABF-87F1-788A93B23DF7}" srcOrd="0" destOrd="0" parTransId="{AAAD70A4-6E46-42D3-9832-5E15EA6E3DD5}" sibTransId="{DE7C6E71-0A35-46C2-8DBD-0BD6A4E0E1C8}"/>
    <dgm:cxn modelId="{A2DA7D78-6230-4F14-B0F7-C38851AD1BB8}" srcId="{AB6D894D-FE11-4DBC-AAFB-042A144E2B71}" destId="{85CC0DC9-F038-4F47-80AA-F4959938A37F}" srcOrd="6" destOrd="0" parTransId="{9CA74C22-9096-4ABE-99ED-9153342D1500}" sibTransId="{E57E35EE-F20E-482B-890F-7322CEB0C564}"/>
    <dgm:cxn modelId="{8585C77B-E654-434F-BEFC-E957903837BD}" type="presOf" srcId="{0F78E975-987C-4AD1-9E0F-0F977268DF27}" destId="{6E5ADBC4-4169-4D50-9D69-603D67D4DCCC}" srcOrd="0" destOrd="0" presId="urn:microsoft.com/office/officeart/2005/8/layout/hProcess4"/>
    <dgm:cxn modelId="{FFE9F37B-7163-4184-B4BC-2DC783EABA58}" srcId="{7756EBC4-8184-4227-B1D9-A2DE67AD9336}" destId="{22498C2A-9389-4B08-8BB1-D708E8B1B8E7}" srcOrd="0" destOrd="0" parTransId="{8341CB69-B9F2-45D4-B21A-3BEC361A8106}" sibTransId="{1422F1BA-1E17-43A4-AA52-2BB9F9908CBA}"/>
    <dgm:cxn modelId="{42599984-66FC-4FF7-90F2-C1298EF64A3F}" srcId="{AB6D894D-FE11-4DBC-AAFB-042A144E2B71}" destId="{64D3E6BF-C135-417D-869F-CAB290E09EA1}" srcOrd="3" destOrd="0" parTransId="{BB24D4EF-7332-424D-8F5F-2548C94D5586}" sibTransId="{3E13F1C4-C4B8-4C40-934B-59F3C84283AE}"/>
    <dgm:cxn modelId="{7D9EB684-2AE3-47AF-87D7-4A58A676E023}" srcId="{AB6D894D-FE11-4DBC-AAFB-042A144E2B71}" destId="{87401465-EDA2-4C23-A686-8FB1F80FAB05}" srcOrd="0" destOrd="0" parTransId="{A15D9AE1-132F-4E6A-A720-D2177A58998C}" sibTransId="{BB348A7A-0A2F-4A98-9AD5-9C91E1E43283}"/>
    <dgm:cxn modelId="{5E561B8B-2A83-464F-BAE0-512C58F02D4C}" type="presOf" srcId="{3E13F1C4-C4B8-4C40-934B-59F3C84283AE}" destId="{5C181A2F-1FD9-44CA-9C06-20BD2B03AE54}" srcOrd="0" destOrd="0" presId="urn:microsoft.com/office/officeart/2005/8/layout/hProcess4"/>
    <dgm:cxn modelId="{CDCDA98E-07C9-44FE-946E-4237BF119912}" srcId="{FF8A5CD7-F9EC-4AC8-AAC9-6419C51426D5}" destId="{4F48606A-6893-46FA-B3B4-4EE6556F2516}" srcOrd="0" destOrd="0" parTransId="{A6557E83-A76D-4C01-8193-21B10FF76E21}" sibTransId="{BA1FA3A8-D8E2-4D83-9264-24AFF46B613F}"/>
    <dgm:cxn modelId="{EAE4EA92-5413-4A2B-9A0E-BC33AE388ECF}" srcId="{64D3E6BF-C135-417D-869F-CAB290E09EA1}" destId="{0F78E975-987C-4AD1-9E0F-0F977268DF27}" srcOrd="0" destOrd="0" parTransId="{A59342F2-4A20-4620-8222-AF7BBD93087A}" sibTransId="{88FC8D23-4A0C-4C7B-8B0D-9D9D23451710}"/>
    <dgm:cxn modelId="{14E94C9E-3954-4F67-A284-0C9DCB124473}" type="presOf" srcId="{BB348A7A-0A2F-4A98-9AD5-9C91E1E43283}" destId="{49493D6B-7BC1-4C64-BA38-C651FD5E7F9A}" srcOrd="0" destOrd="0" presId="urn:microsoft.com/office/officeart/2005/8/layout/hProcess4"/>
    <dgm:cxn modelId="{F9488EA7-9529-49FE-8113-B1B87A3600D9}" type="presOf" srcId="{FF8A5CD7-F9EC-4AC8-AAC9-6419C51426D5}" destId="{17129F95-E197-4B90-BE21-783F7390E09C}" srcOrd="0" destOrd="0" presId="urn:microsoft.com/office/officeart/2005/8/layout/hProcess4"/>
    <dgm:cxn modelId="{7BCBEEAF-CE01-4E0F-8686-E095F81F83FF}" type="presOf" srcId="{A48745FF-786C-4ABF-87F1-788A93B23DF7}" destId="{FEBC22CE-B7BB-4B8D-9E2D-6D7870EF2D3C}" srcOrd="1" destOrd="0" presId="urn:microsoft.com/office/officeart/2005/8/layout/hProcess4"/>
    <dgm:cxn modelId="{0220BEBA-C750-438B-A99F-A8D42466D4E4}" type="presOf" srcId="{0F78E975-987C-4AD1-9E0F-0F977268DF27}" destId="{DF86448C-745A-47D1-AC4F-09B15EFDD284}" srcOrd="1" destOrd="0" presId="urn:microsoft.com/office/officeart/2005/8/layout/hProcess4"/>
    <dgm:cxn modelId="{F61DA9BD-B88C-4304-83A8-D315CE60E514}" type="presOf" srcId="{22498C2A-9389-4B08-8BB1-D708E8B1B8E7}" destId="{890C958B-23A0-484F-AA59-F0196E88EF5A}" srcOrd="1" destOrd="0" presId="urn:microsoft.com/office/officeart/2005/8/layout/hProcess4"/>
    <dgm:cxn modelId="{9DB0F0C0-0688-419D-901C-5E929D8834E3}" type="presOf" srcId="{3CCCDB93-0374-4898-A7CD-FBAA63BAA17B}" destId="{F6CA32EA-23CE-4550-BFD2-5BFE941D52C3}" srcOrd="0" destOrd="0" presId="urn:microsoft.com/office/officeart/2005/8/layout/hProcess4"/>
    <dgm:cxn modelId="{3968F6CE-3C34-4E91-9E5E-03D8E5272BCF}" srcId="{AB6D894D-FE11-4DBC-AAFB-042A144E2B71}" destId="{7756EBC4-8184-4227-B1D9-A2DE67AD9336}" srcOrd="4" destOrd="0" parTransId="{FE5E2818-7819-4500-BA7E-8D7341A76117}" sibTransId="{F9E6E11E-3422-46C1-AE5A-40BD1BB26C7B}"/>
    <dgm:cxn modelId="{07CF67D1-F3E4-4235-BCDF-80F8B4AECB8F}" type="presOf" srcId="{286D0745-98BE-498E-87A8-0BD4FEC1FC77}" destId="{9884C333-89E3-45E2-ACB5-AE28A3877359}" srcOrd="1" destOrd="0" presId="urn:microsoft.com/office/officeart/2005/8/layout/hProcess4"/>
    <dgm:cxn modelId="{63DDC8D1-3F38-4FF5-86FE-4070AE0569CB}" srcId="{AB6D894D-FE11-4DBC-AAFB-042A144E2B71}" destId="{A1B085F2-A7D0-4D22-A6C9-96D50599EC67}" srcOrd="5" destOrd="0" parTransId="{85B39CB4-AB36-4899-9A8A-341D0AB6EDAA}" sibTransId="{3CCCDB93-0374-4898-A7CD-FBAA63BAA17B}"/>
    <dgm:cxn modelId="{C86D2FDD-F1B2-4C70-BDAE-EB26EBF8E6EF}" type="presOf" srcId="{85CC0DC9-F038-4F47-80AA-F4959938A37F}" destId="{548D896F-70D2-4C85-9CA0-1EC61839115E}" srcOrd="0" destOrd="0" presId="urn:microsoft.com/office/officeart/2005/8/layout/hProcess4"/>
    <dgm:cxn modelId="{635ACEDD-39C8-4C10-8D3B-EEF053D177F7}" type="presOf" srcId="{484719AD-085C-4238-BAE2-6B9E56302C18}" destId="{506F0664-FE94-44F3-B904-E9711ED58256}" srcOrd="0" destOrd="0" presId="urn:microsoft.com/office/officeart/2005/8/layout/hProcess4"/>
    <dgm:cxn modelId="{F003AFE6-5F05-4C85-9892-03DEE01A46AF}" type="presOf" srcId="{D39F604B-410C-4465-AC00-E9B3797CDBDA}" destId="{1451E767-D0D4-43F4-980E-16222B4BD7F9}" srcOrd="1" destOrd="0" presId="urn:microsoft.com/office/officeart/2005/8/layout/hProcess4"/>
    <dgm:cxn modelId="{0A9A3FED-3E74-4EDD-AEE8-73043D27A48C}" type="presOf" srcId="{87401465-EDA2-4C23-A686-8FB1F80FAB05}" destId="{C1340A62-74C8-4875-AFB7-A11AD3AE510F}" srcOrd="0" destOrd="0" presId="urn:microsoft.com/office/officeart/2005/8/layout/hProcess4"/>
    <dgm:cxn modelId="{C12B6CF3-A2E2-42F4-AD98-4B231E827EC6}" type="presOf" srcId="{13C87C85-8FA1-46C2-BBCE-5D67A3B08C2B}" destId="{45CCB930-67BF-4D58-94A4-ED43C6D0CF17}" srcOrd="0" destOrd="0" presId="urn:microsoft.com/office/officeart/2005/8/layout/hProcess4"/>
    <dgm:cxn modelId="{8F2148FD-736D-4C85-AE83-E92B2B2306B3}" type="presOf" srcId="{AB6D894D-FE11-4DBC-AAFB-042A144E2B71}" destId="{BE7CFFE3-94F5-484A-80A7-922C3D06C001}" srcOrd="0" destOrd="0" presId="urn:microsoft.com/office/officeart/2005/8/layout/hProcess4"/>
    <dgm:cxn modelId="{A22E86FF-0B57-4B23-8B08-C02A501E4099}" type="presOf" srcId="{286D0745-98BE-498E-87A8-0BD4FEC1FC77}" destId="{33424F61-AFC1-49F2-BD36-A9D9AAA88284}" srcOrd="0" destOrd="0" presId="urn:microsoft.com/office/officeart/2005/8/layout/hProcess4"/>
    <dgm:cxn modelId="{360079A9-F95F-45C0-825B-FF01BB86F039}" type="presParOf" srcId="{BE7CFFE3-94F5-484A-80A7-922C3D06C001}" destId="{4BDDB5E0-638F-4D85-874B-019BD926E7D9}" srcOrd="0" destOrd="0" presId="urn:microsoft.com/office/officeart/2005/8/layout/hProcess4"/>
    <dgm:cxn modelId="{B4F1F398-88F8-4A81-A336-6BE7FDEAF17B}" type="presParOf" srcId="{BE7CFFE3-94F5-484A-80A7-922C3D06C001}" destId="{5809F8E5-A93E-4CD3-9B00-C9330986B3BB}" srcOrd="1" destOrd="0" presId="urn:microsoft.com/office/officeart/2005/8/layout/hProcess4"/>
    <dgm:cxn modelId="{AD52AF39-AD09-4972-92AF-B556F97EE28A}" type="presParOf" srcId="{BE7CFFE3-94F5-484A-80A7-922C3D06C001}" destId="{F36037D3-0013-4854-9816-7CABA6D6C494}" srcOrd="2" destOrd="0" presId="urn:microsoft.com/office/officeart/2005/8/layout/hProcess4"/>
    <dgm:cxn modelId="{82302D68-47AA-4620-BEA1-1A6EDC536C09}" type="presParOf" srcId="{F36037D3-0013-4854-9816-7CABA6D6C494}" destId="{40087392-8DAB-4008-A338-3C200CCC9BAF}" srcOrd="0" destOrd="0" presId="urn:microsoft.com/office/officeart/2005/8/layout/hProcess4"/>
    <dgm:cxn modelId="{E5246E25-5275-436E-9CD4-B011896B3F45}" type="presParOf" srcId="{40087392-8DAB-4008-A338-3C200CCC9BAF}" destId="{364788EF-FC0B-482C-9001-19289DACE68D}" srcOrd="0" destOrd="0" presId="urn:microsoft.com/office/officeart/2005/8/layout/hProcess4"/>
    <dgm:cxn modelId="{C5C1AF2C-DF18-441E-9640-E5007C09B611}" type="presParOf" srcId="{40087392-8DAB-4008-A338-3C200CCC9BAF}" destId="{97D69311-104C-42DB-B08D-7A23564056A8}" srcOrd="1" destOrd="0" presId="urn:microsoft.com/office/officeart/2005/8/layout/hProcess4"/>
    <dgm:cxn modelId="{BF1A0314-1C23-48D7-967D-C37345513EF1}" type="presParOf" srcId="{40087392-8DAB-4008-A338-3C200CCC9BAF}" destId="{FEBC22CE-B7BB-4B8D-9E2D-6D7870EF2D3C}" srcOrd="2" destOrd="0" presId="urn:microsoft.com/office/officeart/2005/8/layout/hProcess4"/>
    <dgm:cxn modelId="{7C2F229D-1500-4391-8812-013358D7B198}" type="presParOf" srcId="{40087392-8DAB-4008-A338-3C200CCC9BAF}" destId="{C1340A62-74C8-4875-AFB7-A11AD3AE510F}" srcOrd="3" destOrd="0" presId="urn:microsoft.com/office/officeart/2005/8/layout/hProcess4"/>
    <dgm:cxn modelId="{50AE973A-9EAE-42A3-BF19-04617B548DAA}" type="presParOf" srcId="{40087392-8DAB-4008-A338-3C200CCC9BAF}" destId="{A93603BA-8545-40A8-B584-E5A15EA5A82D}" srcOrd="4" destOrd="0" presId="urn:microsoft.com/office/officeart/2005/8/layout/hProcess4"/>
    <dgm:cxn modelId="{C6D3C215-1A35-4F5E-A3D4-632F0CD8905F}" type="presParOf" srcId="{F36037D3-0013-4854-9816-7CABA6D6C494}" destId="{49493D6B-7BC1-4C64-BA38-C651FD5E7F9A}" srcOrd="1" destOrd="0" presId="urn:microsoft.com/office/officeart/2005/8/layout/hProcess4"/>
    <dgm:cxn modelId="{7E98A551-E676-424E-A8C0-0F0500DF739C}" type="presParOf" srcId="{F36037D3-0013-4854-9816-7CABA6D6C494}" destId="{CD512D66-444B-4F36-91D7-21381EF59390}" srcOrd="2" destOrd="0" presId="urn:microsoft.com/office/officeart/2005/8/layout/hProcess4"/>
    <dgm:cxn modelId="{667B5F12-F3E5-4415-B152-A42A92298D80}" type="presParOf" srcId="{CD512D66-444B-4F36-91D7-21381EF59390}" destId="{1CCA6186-5F15-4E2D-AE33-595D3663D95D}" srcOrd="0" destOrd="0" presId="urn:microsoft.com/office/officeart/2005/8/layout/hProcess4"/>
    <dgm:cxn modelId="{F65165D7-9EEF-43A9-B19A-10CEEA6D1539}" type="presParOf" srcId="{CD512D66-444B-4F36-91D7-21381EF59390}" destId="{EDF721DA-696F-409C-9F54-4EA3F33BAEE6}" srcOrd="1" destOrd="0" presId="urn:microsoft.com/office/officeart/2005/8/layout/hProcess4"/>
    <dgm:cxn modelId="{C498B41F-6C3A-418A-9E94-C5DEAB5488D1}" type="presParOf" srcId="{CD512D66-444B-4F36-91D7-21381EF59390}" destId="{E6E1295E-B99C-4CA6-B096-E5072A8DDD41}" srcOrd="2" destOrd="0" presId="urn:microsoft.com/office/officeart/2005/8/layout/hProcess4"/>
    <dgm:cxn modelId="{EDAF1767-C359-4E01-A2F9-875BB723FCB1}" type="presParOf" srcId="{CD512D66-444B-4F36-91D7-21381EF59390}" destId="{506F0664-FE94-44F3-B904-E9711ED58256}" srcOrd="3" destOrd="0" presId="urn:microsoft.com/office/officeart/2005/8/layout/hProcess4"/>
    <dgm:cxn modelId="{9FC99386-D6D4-4C77-851A-3FA4CEDB53D1}" type="presParOf" srcId="{CD512D66-444B-4F36-91D7-21381EF59390}" destId="{CAABA646-5B2F-4544-808E-BF9909FFC8F0}" srcOrd="4" destOrd="0" presId="urn:microsoft.com/office/officeart/2005/8/layout/hProcess4"/>
    <dgm:cxn modelId="{417F6C81-C06F-47A7-86D7-C837F54D692A}" type="presParOf" srcId="{F36037D3-0013-4854-9816-7CABA6D6C494}" destId="{36E855A2-9B76-4B84-BDAA-D7B71FB5FA26}" srcOrd="3" destOrd="0" presId="urn:microsoft.com/office/officeart/2005/8/layout/hProcess4"/>
    <dgm:cxn modelId="{6FB228F8-90C4-47D1-9B23-02FE66BFB232}" type="presParOf" srcId="{F36037D3-0013-4854-9816-7CABA6D6C494}" destId="{EF55B950-20F8-4AA6-B3E9-355099627C4C}" srcOrd="4" destOrd="0" presId="urn:microsoft.com/office/officeart/2005/8/layout/hProcess4"/>
    <dgm:cxn modelId="{FE9A5DFD-E3EE-4A2D-AD5C-5786F07C9D43}" type="presParOf" srcId="{EF55B950-20F8-4AA6-B3E9-355099627C4C}" destId="{5D6204E0-6C10-4092-BC5E-EA4D43E3F26F}" srcOrd="0" destOrd="0" presId="urn:microsoft.com/office/officeart/2005/8/layout/hProcess4"/>
    <dgm:cxn modelId="{7613B387-8540-4127-93B7-5C838DF76386}" type="presParOf" srcId="{EF55B950-20F8-4AA6-B3E9-355099627C4C}" destId="{A3ADB843-8104-4F54-863C-F8FE5F003065}" srcOrd="1" destOrd="0" presId="urn:microsoft.com/office/officeart/2005/8/layout/hProcess4"/>
    <dgm:cxn modelId="{0B4EB9B6-7346-4C80-8176-17ACFDF08F98}" type="presParOf" srcId="{EF55B950-20F8-4AA6-B3E9-355099627C4C}" destId="{462C830B-6B75-4044-9D7C-852D756C71AA}" srcOrd="2" destOrd="0" presId="urn:microsoft.com/office/officeart/2005/8/layout/hProcess4"/>
    <dgm:cxn modelId="{CA1E1BEE-25D3-46D6-8B78-1DBF1950806B}" type="presParOf" srcId="{EF55B950-20F8-4AA6-B3E9-355099627C4C}" destId="{17129F95-E197-4B90-BE21-783F7390E09C}" srcOrd="3" destOrd="0" presId="urn:microsoft.com/office/officeart/2005/8/layout/hProcess4"/>
    <dgm:cxn modelId="{A1EC8F1B-2109-4B2E-845B-7A7B39C06FDC}" type="presParOf" srcId="{EF55B950-20F8-4AA6-B3E9-355099627C4C}" destId="{E2681BB0-38D8-4913-B54A-EBE0713D8258}" srcOrd="4" destOrd="0" presId="urn:microsoft.com/office/officeart/2005/8/layout/hProcess4"/>
    <dgm:cxn modelId="{5447E89A-6530-4E91-9C67-664D0B1B1897}" type="presParOf" srcId="{F36037D3-0013-4854-9816-7CABA6D6C494}" destId="{45CCB930-67BF-4D58-94A4-ED43C6D0CF17}" srcOrd="5" destOrd="0" presId="urn:microsoft.com/office/officeart/2005/8/layout/hProcess4"/>
    <dgm:cxn modelId="{530B11D1-F451-4D75-A3A9-697815014D97}" type="presParOf" srcId="{F36037D3-0013-4854-9816-7CABA6D6C494}" destId="{67820E6B-350D-4405-8DFD-F688C2299D42}" srcOrd="6" destOrd="0" presId="urn:microsoft.com/office/officeart/2005/8/layout/hProcess4"/>
    <dgm:cxn modelId="{4121D14B-A583-4E26-91E2-360BE096CA3A}" type="presParOf" srcId="{67820E6B-350D-4405-8DFD-F688C2299D42}" destId="{B942041F-0F63-45EA-BBC7-62BC596C7CCD}" srcOrd="0" destOrd="0" presId="urn:microsoft.com/office/officeart/2005/8/layout/hProcess4"/>
    <dgm:cxn modelId="{F6CA4EAB-8D55-4288-9183-2E5DA245D9EA}" type="presParOf" srcId="{67820E6B-350D-4405-8DFD-F688C2299D42}" destId="{6E5ADBC4-4169-4D50-9D69-603D67D4DCCC}" srcOrd="1" destOrd="0" presId="urn:microsoft.com/office/officeart/2005/8/layout/hProcess4"/>
    <dgm:cxn modelId="{A981DB73-7B10-4BE6-A9DA-D02BD54945C4}" type="presParOf" srcId="{67820E6B-350D-4405-8DFD-F688C2299D42}" destId="{DF86448C-745A-47D1-AC4F-09B15EFDD284}" srcOrd="2" destOrd="0" presId="urn:microsoft.com/office/officeart/2005/8/layout/hProcess4"/>
    <dgm:cxn modelId="{13ADB186-BAF1-469C-9946-18DD73B0BB9B}" type="presParOf" srcId="{67820E6B-350D-4405-8DFD-F688C2299D42}" destId="{BB6092BF-95A4-4B9E-BCBB-2A5B98795F0B}" srcOrd="3" destOrd="0" presId="urn:microsoft.com/office/officeart/2005/8/layout/hProcess4"/>
    <dgm:cxn modelId="{38A2C91A-5586-4DFA-91AF-8D737FDE0F46}" type="presParOf" srcId="{67820E6B-350D-4405-8DFD-F688C2299D42}" destId="{D948E061-C9D4-4AAF-A821-E950887A1DA2}" srcOrd="4" destOrd="0" presId="urn:microsoft.com/office/officeart/2005/8/layout/hProcess4"/>
    <dgm:cxn modelId="{A93286BC-C9CE-482B-8621-DAC7A7DBA09F}" type="presParOf" srcId="{F36037D3-0013-4854-9816-7CABA6D6C494}" destId="{5C181A2F-1FD9-44CA-9C06-20BD2B03AE54}" srcOrd="7" destOrd="0" presId="urn:microsoft.com/office/officeart/2005/8/layout/hProcess4"/>
    <dgm:cxn modelId="{B1342267-3F4F-4E47-B082-4C8A48F9231F}" type="presParOf" srcId="{F36037D3-0013-4854-9816-7CABA6D6C494}" destId="{269889B8-91C7-4DDF-B76C-F69DD0B85528}" srcOrd="8" destOrd="0" presId="urn:microsoft.com/office/officeart/2005/8/layout/hProcess4"/>
    <dgm:cxn modelId="{BE93B245-4A9B-44D3-9BE0-2A0B1C36F3FD}" type="presParOf" srcId="{269889B8-91C7-4DDF-B76C-F69DD0B85528}" destId="{297B6BFB-BF30-4269-ACF2-E2E5E0DDCF58}" srcOrd="0" destOrd="0" presId="urn:microsoft.com/office/officeart/2005/8/layout/hProcess4"/>
    <dgm:cxn modelId="{965B898F-D953-405B-ADD6-56FCFCBEE0FE}" type="presParOf" srcId="{269889B8-91C7-4DDF-B76C-F69DD0B85528}" destId="{3644EBC6-99E1-457F-ACDA-AC0531DE5E62}" srcOrd="1" destOrd="0" presId="urn:microsoft.com/office/officeart/2005/8/layout/hProcess4"/>
    <dgm:cxn modelId="{0402C444-7EE0-47CD-8300-8BCA1FAEEA24}" type="presParOf" srcId="{269889B8-91C7-4DDF-B76C-F69DD0B85528}" destId="{890C958B-23A0-484F-AA59-F0196E88EF5A}" srcOrd="2" destOrd="0" presId="urn:microsoft.com/office/officeart/2005/8/layout/hProcess4"/>
    <dgm:cxn modelId="{A860ECCB-BEF7-4E90-A1C1-7B1F33D52F21}" type="presParOf" srcId="{269889B8-91C7-4DDF-B76C-F69DD0B85528}" destId="{603B0D29-6A5A-430D-8844-92ABD60918EF}" srcOrd="3" destOrd="0" presId="urn:microsoft.com/office/officeart/2005/8/layout/hProcess4"/>
    <dgm:cxn modelId="{479974E1-2103-491F-91FC-49786BC82983}" type="presParOf" srcId="{269889B8-91C7-4DDF-B76C-F69DD0B85528}" destId="{42DCF7E9-B87B-4C86-A08F-BA60B9A7D942}" srcOrd="4" destOrd="0" presId="urn:microsoft.com/office/officeart/2005/8/layout/hProcess4"/>
    <dgm:cxn modelId="{4868C39E-2133-44AB-84D3-0D1AD606D20E}" type="presParOf" srcId="{F36037D3-0013-4854-9816-7CABA6D6C494}" destId="{0415C2BA-B8DC-4776-B5D2-E6FDEE15B8CF}" srcOrd="9" destOrd="0" presId="urn:microsoft.com/office/officeart/2005/8/layout/hProcess4"/>
    <dgm:cxn modelId="{C6B96DFC-3DB8-4D71-8879-34FA19AFD7AE}" type="presParOf" srcId="{F36037D3-0013-4854-9816-7CABA6D6C494}" destId="{303B000D-AD6F-478A-A8D6-EBDE6AD51DA0}" srcOrd="10" destOrd="0" presId="urn:microsoft.com/office/officeart/2005/8/layout/hProcess4"/>
    <dgm:cxn modelId="{C3E9BF8A-604E-4F8D-BF62-36786DDD2C54}" type="presParOf" srcId="{303B000D-AD6F-478A-A8D6-EBDE6AD51DA0}" destId="{C38D8E67-75EE-4B6F-9556-7D5157B2B51D}" srcOrd="0" destOrd="0" presId="urn:microsoft.com/office/officeart/2005/8/layout/hProcess4"/>
    <dgm:cxn modelId="{059867B0-3660-4EC0-8E4D-29E10FFE520B}" type="presParOf" srcId="{303B000D-AD6F-478A-A8D6-EBDE6AD51DA0}" destId="{33424F61-AFC1-49F2-BD36-A9D9AAA88284}" srcOrd="1" destOrd="0" presId="urn:microsoft.com/office/officeart/2005/8/layout/hProcess4"/>
    <dgm:cxn modelId="{8B7B816C-401B-41FC-8126-3F1E994FAED7}" type="presParOf" srcId="{303B000D-AD6F-478A-A8D6-EBDE6AD51DA0}" destId="{9884C333-89E3-45E2-ACB5-AE28A3877359}" srcOrd="2" destOrd="0" presId="urn:microsoft.com/office/officeart/2005/8/layout/hProcess4"/>
    <dgm:cxn modelId="{79E6680A-647F-4961-9A10-BC5571499AAC}" type="presParOf" srcId="{303B000D-AD6F-478A-A8D6-EBDE6AD51DA0}" destId="{7AAE6B0C-7234-4AD7-8D6C-CD6BF33BAF42}" srcOrd="3" destOrd="0" presId="urn:microsoft.com/office/officeart/2005/8/layout/hProcess4"/>
    <dgm:cxn modelId="{1C643162-AAEC-44EB-A673-C46E024932F7}" type="presParOf" srcId="{303B000D-AD6F-478A-A8D6-EBDE6AD51DA0}" destId="{08CD0D06-9FC0-4F90-8364-5BE185F808D4}" srcOrd="4" destOrd="0" presId="urn:microsoft.com/office/officeart/2005/8/layout/hProcess4"/>
    <dgm:cxn modelId="{7B9A088E-F9B0-48B7-982A-474945A93473}" type="presParOf" srcId="{F36037D3-0013-4854-9816-7CABA6D6C494}" destId="{F6CA32EA-23CE-4550-BFD2-5BFE941D52C3}" srcOrd="11" destOrd="0" presId="urn:microsoft.com/office/officeart/2005/8/layout/hProcess4"/>
    <dgm:cxn modelId="{5EFFCB75-D84B-41B8-8076-62A78AE8AC35}" type="presParOf" srcId="{F36037D3-0013-4854-9816-7CABA6D6C494}" destId="{C05D2E61-B223-4E14-83FB-C4EC9D7564B9}" srcOrd="12" destOrd="0" presId="urn:microsoft.com/office/officeart/2005/8/layout/hProcess4"/>
    <dgm:cxn modelId="{BC36342B-E16F-4429-AC25-B5F2265893D4}" type="presParOf" srcId="{C05D2E61-B223-4E14-83FB-C4EC9D7564B9}" destId="{1916EB30-1627-4EC2-BDBA-30B3B98CAC39}" srcOrd="0" destOrd="0" presId="urn:microsoft.com/office/officeart/2005/8/layout/hProcess4"/>
    <dgm:cxn modelId="{86BF6DF7-6C01-4D33-9DB3-2307438CBC30}" type="presParOf" srcId="{C05D2E61-B223-4E14-83FB-C4EC9D7564B9}" destId="{34061E26-424E-444E-8212-F6359ADAE701}" srcOrd="1" destOrd="0" presId="urn:microsoft.com/office/officeart/2005/8/layout/hProcess4"/>
    <dgm:cxn modelId="{DD4A3B16-F1AD-4242-8BFC-99EEDFB964FD}" type="presParOf" srcId="{C05D2E61-B223-4E14-83FB-C4EC9D7564B9}" destId="{1451E767-D0D4-43F4-980E-16222B4BD7F9}" srcOrd="2" destOrd="0" presId="urn:microsoft.com/office/officeart/2005/8/layout/hProcess4"/>
    <dgm:cxn modelId="{6BFC2F7D-C30E-4488-A647-ACF2673F691C}" type="presParOf" srcId="{C05D2E61-B223-4E14-83FB-C4EC9D7564B9}" destId="{548D896F-70D2-4C85-9CA0-1EC61839115E}" srcOrd="3" destOrd="0" presId="urn:microsoft.com/office/officeart/2005/8/layout/hProcess4"/>
    <dgm:cxn modelId="{F79EC96F-CD53-4889-9B40-F96A9CB61959}" type="presParOf" srcId="{C05D2E61-B223-4E14-83FB-C4EC9D7564B9}" destId="{87287854-4268-4AE1-BF89-572091A5F350}" srcOrd="4" destOrd="0" presId="urn:microsoft.com/office/officeart/2005/8/layout/hProcess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8A39D2CF-9C1D-420B-8D85-312F91D7B59E}" type="doc">
      <dgm:prSet loTypeId="urn:microsoft.com/office/officeart/2005/8/layout/hList2" loCatId="list" qsTypeId="urn:microsoft.com/office/officeart/2005/8/quickstyle/simple1" qsCatId="simple" csTypeId="urn:microsoft.com/office/officeart/2005/8/colors/accent1_2" csCatId="accent1" phldr="1"/>
      <dgm:spPr/>
      <dgm:t>
        <a:bodyPr/>
        <a:lstStyle/>
        <a:p>
          <a:endParaRPr lang="en-IN"/>
        </a:p>
      </dgm:t>
    </dgm:pt>
    <dgm:pt modelId="{BFF32F28-34E4-4B51-99E7-591913FF4299}">
      <dgm:prSet phldrT="[Text]" custT="1"/>
      <dgm:spPr/>
      <dgm:t>
        <a:bodyPr/>
        <a:lstStyle/>
        <a:p>
          <a:r>
            <a:rPr lang="en-IN" sz="1200">
              <a:solidFill>
                <a:srgbClr val="FFFF00"/>
              </a:solidFill>
              <a:latin typeface="EY interstate"/>
            </a:rPr>
            <a:t>Data Ingestion</a:t>
          </a:r>
        </a:p>
      </dgm:t>
    </dgm:pt>
    <dgm:pt modelId="{5D62C33D-C4F4-46F1-8832-210C78AB2D7F}" type="parTrans" cxnId="{F198C5D1-AE3B-4BDF-A00A-4E259665F058}">
      <dgm:prSet/>
      <dgm:spPr/>
      <dgm:t>
        <a:bodyPr/>
        <a:lstStyle/>
        <a:p>
          <a:endParaRPr lang="en-IN"/>
        </a:p>
      </dgm:t>
    </dgm:pt>
    <dgm:pt modelId="{8ED82DC1-91DF-4E18-99AE-368EE2F7C253}" type="sibTrans" cxnId="{F198C5D1-AE3B-4BDF-A00A-4E259665F058}">
      <dgm:prSet/>
      <dgm:spPr/>
      <dgm:t>
        <a:bodyPr/>
        <a:lstStyle/>
        <a:p>
          <a:endParaRPr lang="en-IN"/>
        </a:p>
      </dgm:t>
    </dgm:pt>
    <dgm:pt modelId="{49A99FF2-CBF7-426A-9B52-2040A6E58247}">
      <dgm:prSet phldrT="[Text]" custT="1"/>
      <dgm:spPr>
        <a:noFill/>
        <a:ln>
          <a:solidFill>
            <a:srgbClr val="FFFF00"/>
          </a:solidFill>
        </a:ln>
      </dgm:spPr>
      <dgm:t>
        <a:bodyPr/>
        <a:lstStyle/>
        <a:p>
          <a:r>
            <a:rPr lang="en-IN" sz="950">
              <a:latin typeface="EY interstate"/>
            </a:rPr>
            <a:t>Financial data is pulled from various systems: ERP (SAP, Oracle), bank feeds, subledgers, etc.
This includes journal entries, payments, invoices, receipts, and other transactional records.</a:t>
          </a:r>
        </a:p>
      </dgm:t>
    </dgm:pt>
    <dgm:pt modelId="{8EC0CF78-AFE2-4C54-AD8A-518E889A2A0C}" type="parTrans" cxnId="{6D0204A3-3CD8-4C81-B1A5-9DF3363530D0}">
      <dgm:prSet/>
      <dgm:spPr/>
      <dgm:t>
        <a:bodyPr/>
        <a:lstStyle/>
        <a:p>
          <a:endParaRPr lang="en-IN"/>
        </a:p>
      </dgm:t>
    </dgm:pt>
    <dgm:pt modelId="{5C532E76-0523-4FE6-82BA-16760ED33DDF}" type="sibTrans" cxnId="{6D0204A3-3CD8-4C81-B1A5-9DF3363530D0}">
      <dgm:prSet/>
      <dgm:spPr/>
      <dgm:t>
        <a:bodyPr/>
        <a:lstStyle/>
        <a:p>
          <a:endParaRPr lang="en-IN"/>
        </a:p>
      </dgm:t>
    </dgm:pt>
    <dgm:pt modelId="{F6E551B8-88BD-4794-A121-79750035D102}">
      <dgm:prSet phldrT="[Text]" custT="1"/>
      <dgm:spPr/>
      <dgm:t>
        <a:bodyPr/>
        <a:lstStyle/>
        <a:p>
          <a:r>
            <a:rPr lang="en-IN" sz="1200" b="1">
              <a:solidFill>
                <a:srgbClr val="FFFF00"/>
              </a:solidFill>
              <a:latin typeface="EY interstate"/>
            </a:rPr>
            <a:t>Exception Identification</a:t>
          </a:r>
          <a:endParaRPr lang="en-IN" sz="1200">
            <a:solidFill>
              <a:srgbClr val="FFFF00"/>
            </a:solidFill>
            <a:latin typeface="EY interstate"/>
          </a:endParaRPr>
        </a:p>
      </dgm:t>
    </dgm:pt>
    <dgm:pt modelId="{BB55450E-A6F0-4D17-9C5D-227D9E01113E}" type="parTrans" cxnId="{F4D99CE7-AA7F-409B-8F8C-85D38C2966C3}">
      <dgm:prSet/>
      <dgm:spPr/>
      <dgm:t>
        <a:bodyPr/>
        <a:lstStyle/>
        <a:p>
          <a:endParaRPr lang="en-IN"/>
        </a:p>
      </dgm:t>
    </dgm:pt>
    <dgm:pt modelId="{ECA93493-996C-4E0E-A50D-AE571B0E716F}" type="sibTrans" cxnId="{F4D99CE7-AA7F-409B-8F8C-85D38C2966C3}">
      <dgm:prSet/>
      <dgm:spPr/>
      <dgm:t>
        <a:bodyPr/>
        <a:lstStyle/>
        <a:p>
          <a:endParaRPr lang="en-IN"/>
        </a:p>
      </dgm:t>
    </dgm:pt>
    <dgm:pt modelId="{3D506E01-20DB-4904-90DC-442B78593893}">
      <dgm:prSet phldrT="[Text]" custT="1"/>
      <dgm:spPr>
        <a:noFill/>
        <a:ln>
          <a:solidFill>
            <a:srgbClr val="FFFF00"/>
          </a:solidFill>
        </a:ln>
      </dgm:spPr>
      <dgm:t>
        <a:bodyPr/>
        <a:lstStyle/>
        <a:p>
          <a:r>
            <a:rPr lang="en-IN" sz="950">
              <a:latin typeface="EY interstate"/>
            </a:rPr>
            <a:t>The system compares transactions across sources (e.g., bank vs GL) and flags mismatches.
Exceptions are created when transactions don’t meet matching criteria.</a:t>
          </a:r>
        </a:p>
      </dgm:t>
    </dgm:pt>
    <dgm:pt modelId="{E757B6A5-4073-4C9A-A54A-5943F90C3476}" type="parTrans" cxnId="{5FA7DEE5-ED6D-42A2-A306-5DD3EEF56331}">
      <dgm:prSet/>
      <dgm:spPr/>
      <dgm:t>
        <a:bodyPr/>
        <a:lstStyle/>
        <a:p>
          <a:endParaRPr lang="en-IN"/>
        </a:p>
      </dgm:t>
    </dgm:pt>
    <dgm:pt modelId="{E8C4414A-B904-4A88-9A5D-02D1A535E8CF}" type="sibTrans" cxnId="{5FA7DEE5-ED6D-42A2-A306-5DD3EEF56331}">
      <dgm:prSet/>
      <dgm:spPr/>
      <dgm:t>
        <a:bodyPr/>
        <a:lstStyle/>
        <a:p>
          <a:endParaRPr lang="en-IN"/>
        </a:p>
      </dgm:t>
    </dgm:pt>
    <dgm:pt modelId="{D5929A5C-0B06-4121-826B-D1A55BDFF916}">
      <dgm:prSet phldrT="[Text]" custT="1"/>
      <dgm:spPr/>
      <dgm:t>
        <a:bodyPr/>
        <a:lstStyle/>
        <a:p>
          <a:r>
            <a:rPr lang="en-IN" sz="1200" b="1">
              <a:solidFill>
                <a:srgbClr val="FFFF00"/>
              </a:solidFill>
              <a:latin typeface="EY interstate"/>
            </a:rPr>
            <a:t>Rules Based Clearing</a:t>
          </a:r>
          <a:endParaRPr lang="en-IN" sz="1200">
            <a:solidFill>
              <a:srgbClr val="FFFF00"/>
            </a:solidFill>
            <a:latin typeface="EY interstate"/>
          </a:endParaRPr>
        </a:p>
      </dgm:t>
    </dgm:pt>
    <dgm:pt modelId="{763DC7F6-7C73-4F0E-A98B-9C8991747455}" type="parTrans" cxnId="{C6B24CCF-045B-404A-8D0F-1C20A58B392F}">
      <dgm:prSet/>
      <dgm:spPr/>
      <dgm:t>
        <a:bodyPr/>
        <a:lstStyle/>
        <a:p>
          <a:endParaRPr lang="en-IN"/>
        </a:p>
      </dgm:t>
    </dgm:pt>
    <dgm:pt modelId="{5C6FCC17-566D-4DF3-A1EB-E770495B09DB}" type="sibTrans" cxnId="{C6B24CCF-045B-404A-8D0F-1C20A58B392F}">
      <dgm:prSet/>
      <dgm:spPr/>
      <dgm:t>
        <a:bodyPr/>
        <a:lstStyle/>
        <a:p>
          <a:endParaRPr lang="en-IN"/>
        </a:p>
      </dgm:t>
    </dgm:pt>
    <dgm:pt modelId="{C8BA038F-2851-4455-9F5F-0A1FAA71ECF7}">
      <dgm:prSet phldrT="[Text]" custT="1"/>
      <dgm:spPr>
        <a:noFill/>
        <a:ln>
          <a:solidFill>
            <a:srgbClr val="FFFF00"/>
          </a:solidFill>
        </a:ln>
      </dgm:spPr>
      <dgm:t>
        <a:bodyPr/>
        <a:lstStyle/>
        <a:p>
          <a:r>
            <a:rPr lang="en-IN" sz="900">
              <a:latin typeface="EY interstate"/>
            </a:rPr>
            <a:t>Tolerance rules (e.g., clear if amount difference &lt; ₹100)
Recurring patterns (e.g., monthly rent payments)
Date proximity (e.g., within 3 days)
Reference matching (e.g., invoice number matches)</a:t>
          </a:r>
        </a:p>
      </dgm:t>
    </dgm:pt>
    <dgm:pt modelId="{00AC9BDE-82F6-4800-A6CA-48901150E610}" type="parTrans" cxnId="{5D1CC7FA-E182-47B4-A575-810B4A432F3B}">
      <dgm:prSet/>
      <dgm:spPr/>
      <dgm:t>
        <a:bodyPr/>
        <a:lstStyle/>
        <a:p>
          <a:endParaRPr lang="en-IN"/>
        </a:p>
      </dgm:t>
    </dgm:pt>
    <dgm:pt modelId="{AEDA54F3-1C34-4FDB-A9A2-57C913B8FB96}" type="sibTrans" cxnId="{5D1CC7FA-E182-47B4-A575-810B4A432F3B}">
      <dgm:prSet/>
      <dgm:spPr/>
      <dgm:t>
        <a:bodyPr/>
        <a:lstStyle/>
        <a:p>
          <a:endParaRPr lang="en-IN"/>
        </a:p>
      </dgm:t>
    </dgm:pt>
    <dgm:pt modelId="{25479199-6B55-4724-B9ED-DA89E6BE32BE}">
      <dgm:prSet phldrT="[Text]" custT="1"/>
      <dgm:spPr>
        <a:noFill/>
        <a:ln>
          <a:solidFill>
            <a:srgbClr val="FFFF00"/>
          </a:solidFill>
        </a:ln>
      </dgm:spPr>
      <dgm:t>
        <a:bodyPr/>
        <a:lstStyle/>
        <a:p>
          <a:r>
            <a:rPr lang="en-IN" sz="900">
              <a:latin typeface="EY interstate"/>
            </a:rPr>
            <a:t>Every action (auto-clear, manual resolution, reassignment) is logged.
Reports and dashboards show:
Exception aging
Auto-cleared vs manual resolutions
Entity-wise exception trends
SLA compliance</a:t>
          </a:r>
        </a:p>
      </dgm:t>
    </dgm:pt>
    <dgm:pt modelId="{BDFAAFEB-D45F-46E7-9144-7526C04EE8F1}" type="parTrans" cxnId="{26976DFA-DED6-46F1-95D7-95D0561FAC5B}">
      <dgm:prSet/>
      <dgm:spPr/>
      <dgm:t>
        <a:bodyPr/>
        <a:lstStyle/>
        <a:p>
          <a:endParaRPr lang="en-IN"/>
        </a:p>
      </dgm:t>
    </dgm:pt>
    <dgm:pt modelId="{0FB0AB40-7AE0-4E94-A3CA-BA004F448E36}" type="sibTrans" cxnId="{26976DFA-DED6-46F1-95D7-95D0561FAC5B}">
      <dgm:prSet/>
      <dgm:spPr/>
      <dgm:t>
        <a:bodyPr/>
        <a:lstStyle/>
        <a:p>
          <a:endParaRPr lang="en-IN"/>
        </a:p>
      </dgm:t>
    </dgm:pt>
    <dgm:pt modelId="{AA829CA1-A0E7-4529-A72F-DE5CF6237FD0}">
      <dgm:prSet phldrT="[Text]" custT="1"/>
      <dgm:spPr/>
      <dgm:t>
        <a:bodyPr/>
        <a:lstStyle/>
        <a:p>
          <a:r>
            <a:rPr lang="en-IN" sz="1200" b="1">
              <a:solidFill>
                <a:srgbClr val="FFFF00"/>
              </a:solidFill>
              <a:latin typeface="EY interstate"/>
            </a:rPr>
            <a:t>Assignment &amp; Workflow</a:t>
          </a:r>
          <a:endParaRPr lang="en-IN" sz="1200">
            <a:solidFill>
              <a:srgbClr val="FFFF00"/>
            </a:solidFill>
            <a:latin typeface="EY interstate"/>
          </a:endParaRPr>
        </a:p>
      </dgm:t>
    </dgm:pt>
    <dgm:pt modelId="{881EB1D5-D245-4E40-B424-5AD265A813EB}" type="parTrans" cxnId="{A643D7C0-3F23-43B7-93FB-8D5A5698EB92}">
      <dgm:prSet/>
      <dgm:spPr/>
      <dgm:t>
        <a:bodyPr/>
        <a:lstStyle/>
        <a:p>
          <a:endParaRPr lang="en-IN"/>
        </a:p>
      </dgm:t>
    </dgm:pt>
    <dgm:pt modelId="{396DD911-6B4D-4679-A866-B3C682A3E643}" type="sibTrans" cxnId="{A643D7C0-3F23-43B7-93FB-8D5A5698EB92}">
      <dgm:prSet/>
      <dgm:spPr/>
      <dgm:t>
        <a:bodyPr/>
        <a:lstStyle/>
        <a:p>
          <a:endParaRPr lang="en-IN"/>
        </a:p>
      </dgm:t>
    </dgm:pt>
    <dgm:pt modelId="{FE5DA37A-5121-4B4C-99AB-7C4B62218B42}">
      <dgm:prSet phldrT="[Text]" custT="1"/>
      <dgm:spPr/>
      <dgm:t>
        <a:bodyPr/>
        <a:lstStyle/>
        <a:p>
          <a:r>
            <a:rPr lang="en-IN" sz="1200" b="1">
              <a:solidFill>
                <a:srgbClr val="FFFF00"/>
              </a:solidFill>
              <a:latin typeface="EY interstate"/>
            </a:rPr>
            <a:t>Exception Categorization</a:t>
          </a:r>
          <a:endParaRPr lang="en-IN" sz="1200">
            <a:solidFill>
              <a:srgbClr val="FFFF00"/>
            </a:solidFill>
            <a:latin typeface="EY interstate"/>
          </a:endParaRPr>
        </a:p>
      </dgm:t>
    </dgm:pt>
    <dgm:pt modelId="{338688A6-B495-4F66-810D-5DC7C4737597}" type="parTrans" cxnId="{B5FB3FCF-350F-4AB6-9B4F-2EADE625E993}">
      <dgm:prSet/>
      <dgm:spPr/>
      <dgm:t>
        <a:bodyPr/>
        <a:lstStyle/>
        <a:p>
          <a:endParaRPr lang="en-IN"/>
        </a:p>
      </dgm:t>
    </dgm:pt>
    <dgm:pt modelId="{82044352-FCBA-444F-BD58-1921F52FDC1E}" type="sibTrans" cxnId="{B5FB3FCF-350F-4AB6-9B4F-2EADE625E993}">
      <dgm:prSet/>
      <dgm:spPr/>
      <dgm:t>
        <a:bodyPr/>
        <a:lstStyle/>
        <a:p>
          <a:endParaRPr lang="en-IN"/>
        </a:p>
      </dgm:t>
    </dgm:pt>
    <dgm:pt modelId="{4A66C394-9A61-408E-8EA3-99EFDC0B719D}">
      <dgm:prSet phldrT="[Text]" custT="1"/>
      <dgm:spPr>
        <a:noFill/>
        <a:ln>
          <a:solidFill>
            <a:srgbClr val="FFFF00"/>
          </a:solidFill>
        </a:ln>
      </dgm:spPr>
      <dgm:t>
        <a:bodyPr/>
        <a:lstStyle/>
        <a:p>
          <a:r>
            <a:rPr lang="en-IN" sz="950">
              <a:latin typeface="EY interstate"/>
            </a:rPr>
            <a:t>Exceptions are tagged based on their nature:
Timing differences
Amount mismatches
Missing data
Duplicate entries</a:t>
          </a:r>
        </a:p>
      </dgm:t>
    </dgm:pt>
    <dgm:pt modelId="{9F89A1D9-428A-4928-8FF6-111FD891E10B}" type="sibTrans" cxnId="{8F1032A6-220E-4CE0-BD37-2426FB40EB84}">
      <dgm:prSet/>
      <dgm:spPr/>
      <dgm:t>
        <a:bodyPr/>
        <a:lstStyle/>
        <a:p>
          <a:endParaRPr lang="en-IN"/>
        </a:p>
      </dgm:t>
    </dgm:pt>
    <dgm:pt modelId="{030A0FAC-53CD-44D6-BAB6-8B401B57A60E}" type="parTrans" cxnId="{8F1032A6-220E-4CE0-BD37-2426FB40EB84}">
      <dgm:prSet/>
      <dgm:spPr/>
      <dgm:t>
        <a:bodyPr/>
        <a:lstStyle/>
        <a:p>
          <a:endParaRPr lang="en-IN"/>
        </a:p>
      </dgm:t>
    </dgm:pt>
    <dgm:pt modelId="{E24E2154-6211-49AC-A89D-C392F853EEB3}">
      <dgm:prSet phldrT="[Text]" custT="1"/>
      <dgm:spPr>
        <a:noFill/>
        <a:ln>
          <a:solidFill>
            <a:srgbClr val="FFFF00"/>
          </a:solidFill>
        </a:ln>
      </dgm:spPr>
      <dgm:t>
        <a:bodyPr/>
        <a:lstStyle/>
        <a:p>
          <a:r>
            <a:rPr lang="en-IN" sz="950">
              <a:latin typeface="EY interstate"/>
            </a:rPr>
            <a:t>Exceptions are assigned based on:
Entity (e.g., business unit)
Region (e.g., APAC, EMEA)
Exception type</a:t>
          </a:r>
        </a:p>
      </dgm:t>
    </dgm:pt>
    <dgm:pt modelId="{AB240E0C-7516-4331-B5E7-752986AE5FFC}" type="parTrans" cxnId="{39F2A906-ADBB-4BA6-965A-0CC68B571789}">
      <dgm:prSet/>
      <dgm:spPr/>
      <dgm:t>
        <a:bodyPr/>
        <a:lstStyle/>
        <a:p>
          <a:endParaRPr lang="en-IN"/>
        </a:p>
      </dgm:t>
    </dgm:pt>
    <dgm:pt modelId="{27640A53-D4BB-4996-BA2B-559E8CEC2C95}" type="sibTrans" cxnId="{39F2A906-ADBB-4BA6-965A-0CC68B571789}">
      <dgm:prSet/>
      <dgm:spPr/>
      <dgm:t>
        <a:bodyPr/>
        <a:lstStyle/>
        <a:p>
          <a:endParaRPr lang="en-IN"/>
        </a:p>
      </dgm:t>
    </dgm:pt>
    <dgm:pt modelId="{A2008D8B-4616-47EF-A43F-4849E5CF2EFF}">
      <dgm:prSet phldrT="[Text]" custT="1"/>
      <dgm:spPr/>
      <dgm:t>
        <a:bodyPr/>
        <a:lstStyle/>
        <a:p>
          <a:r>
            <a:rPr lang="en-IN" sz="1200" b="1">
              <a:solidFill>
                <a:srgbClr val="FFFF00"/>
              </a:solidFill>
              <a:latin typeface="EY interstate"/>
            </a:rPr>
            <a:t>Resolution &amp; Resolute</a:t>
          </a:r>
        </a:p>
      </dgm:t>
    </dgm:pt>
    <dgm:pt modelId="{8C84F315-747B-4709-87B2-226E9E70B584}" type="parTrans" cxnId="{9A36E7B4-04B8-407B-A456-AF5BD8367A75}">
      <dgm:prSet/>
      <dgm:spPr/>
      <dgm:t>
        <a:bodyPr/>
        <a:lstStyle/>
        <a:p>
          <a:endParaRPr lang="en-IN"/>
        </a:p>
      </dgm:t>
    </dgm:pt>
    <dgm:pt modelId="{E338B22A-F443-470F-A1EE-865830A6DF9C}" type="sibTrans" cxnId="{9A36E7B4-04B8-407B-A456-AF5BD8367A75}">
      <dgm:prSet/>
      <dgm:spPr/>
      <dgm:t>
        <a:bodyPr/>
        <a:lstStyle/>
        <a:p>
          <a:endParaRPr lang="en-IN"/>
        </a:p>
      </dgm:t>
    </dgm:pt>
    <dgm:pt modelId="{1B2D7EAA-4C8F-4206-9DC3-6B2CAE3C53D8}">
      <dgm:prSet phldrT="[Text]" custT="1"/>
      <dgm:spPr>
        <a:noFill/>
        <a:ln>
          <a:solidFill>
            <a:srgbClr val="FFFF00"/>
          </a:solidFill>
        </a:ln>
      </dgm:spPr>
      <dgm:t>
        <a:bodyPr/>
        <a:lstStyle/>
        <a:p>
          <a:r>
            <a:rPr lang="en-IN" sz="900">
              <a:latin typeface="EY interstate"/>
            </a:rPr>
            <a:t>Users investigate and resolve exceptions that couldn’t be auto-cleared.
Once resolved, the status is updated to “Closed” or “Resolved”.
Some exceptions may be cleared after delayed matching or external validation.</a:t>
          </a:r>
        </a:p>
      </dgm:t>
    </dgm:pt>
    <dgm:pt modelId="{0245DB80-3E69-4B7D-B447-7651FC7DD4DD}" type="parTrans" cxnId="{B48954B5-74AD-406C-8E8A-AB0B3224714E}">
      <dgm:prSet/>
      <dgm:spPr/>
      <dgm:t>
        <a:bodyPr/>
        <a:lstStyle/>
        <a:p>
          <a:endParaRPr lang="en-IN"/>
        </a:p>
      </dgm:t>
    </dgm:pt>
    <dgm:pt modelId="{E02C1B87-A812-4E94-B2F7-B13C878CD0C7}" type="sibTrans" cxnId="{B48954B5-74AD-406C-8E8A-AB0B3224714E}">
      <dgm:prSet/>
      <dgm:spPr/>
      <dgm:t>
        <a:bodyPr/>
        <a:lstStyle/>
        <a:p>
          <a:endParaRPr lang="en-IN"/>
        </a:p>
      </dgm:t>
    </dgm:pt>
    <dgm:pt modelId="{DEA7078E-2CD9-4B1C-A186-A9065E68D1B8}">
      <dgm:prSet phldrT="[Text]" custT="1"/>
      <dgm:spPr/>
      <dgm:t>
        <a:bodyPr/>
        <a:lstStyle/>
        <a:p>
          <a:r>
            <a:rPr lang="en-IN" sz="1200" b="1">
              <a:solidFill>
                <a:srgbClr val="FFFF00"/>
              </a:solidFill>
              <a:latin typeface="EY interstate"/>
            </a:rPr>
            <a:t>Audit trail &amp; Reporting</a:t>
          </a:r>
        </a:p>
      </dgm:t>
    </dgm:pt>
    <dgm:pt modelId="{363BB43F-AD47-4A33-8A09-A149EFE6CD2E}" type="parTrans" cxnId="{40A88B3F-A637-462A-A3D1-037FA8F02421}">
      <dgm:prSet/>
      <dgm:spPr/>
      <dgm:t>
        <a:bodyPr/>
        <a:lstStyle/>
        <a:p>
          <a:endParaRPr lang="en-IN"/>
        </a:p>
      </dgm:t>
    </dgm:pt>
    <dgm:pt modelId="{EC5EFF4C-EFD8-4EB9-A3E3-2AB9E995C986}" type="sibTrans" cxnId="{40A88B3F-A637-462A-A3D1-037FA8F02421}">
      <dgm:prSet/>
      <dgm:spPr/>
      <dgm:t>
        <a:bodyPr/>
        <a:lstStyle/>
        <a:p>
          <a:endParaRPr lang="en-IN"/>
        </a:p>
      </dgm:t>
    </dgm:pt>
    <dgm:pt modelId="{C1475CB1-7AA5-44D2-91AE-F804DA91CD02}" type="pres">
      <dgm:prSet presAssocID="{8A39D2CF-9C1D-420B-8D85-312F91D7B59E}" presName="linearFlow" presStyleCnt="0">
        <dgm:presLayoutVars>
          <dgm:dir/>
          <dgm:animLvl val="lvl"/>
          <dgm:resizeHandles/>
        </dgm:presLayoutVars>
      </dgm:prSet>
      <dgm:spPr/>
    </dgm:pt>
    <dgm:pt modelId="{A7642A93-0DF3-4751-BB2D-AFB1FB72C19F}" type="pres">
      <dgm:prSet presAssocID="{BFF32F28-34E4-4B51-99E7-591913FF4299}" presName="compositeNode" presStyleCnt="0">
        <dgm:presLayoutVars>
          <dgm:bulletEnabled val="1"/>
        </dgm:presLayoutVars>
      </dgm:prSet>
      <dgm:spPr/>
    </dgm:pt>
    <dgm:pt modelId="{333C9212-7C7E-422C-83E4-EFFE926A1AAB}" type="pres">
      <dgm:prSet presAssocID="{BFF32F28-34E4-4B51-99E7-591913FF4299}" presName="image" presStyleLbl="fgImgPlace1" presStyleIdx="0" presStyleCnt="7"/>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a:noFill/>
        </a:ln>
      </dgm:spPr>
      <dgm:extLst>
        <a:ext uri="{E40237B7-FDA0-4F09-8148-C483321AD2D9}">
          <dgm14:cNvPr xmlns:dgm14="http://schemas.microsoft.com/office/drawing/2010/diagram" id="0" name="" descr="Folder Search with solid fill"/>
        </a:ext>
      </dgm:extLst>
    </dgm:pt>
    <dgm:pt modelId="{56AD7D1F-E279-4A35-B4E6-4FE58F41968C}" type="pres">
      <dgm:prSet presAssocID="{BFF32F28-34E4-4B51-99E7-591913FF4299}" presName="childNode" presStyleLbl="node1" presStyleIdx="0" presStyleCnt="7">
        <dgm:presLayoutVars>
          <dgm:bulletEnabled val="1"/>
        </dgm:presLayoutVars>
      </dgm:prSet>
      <dgm:spPr/>
    </dgm:pt>
    <dgm:pt modelId="{3DD5463E-4520-4143-B472-19E4D0A6683D}" type="pres">
      <dgm:prSet presAssocID="{BFF32F28-34E4-4B51-99E7-591913FF4299}" presName="parentNode" presStyleLbl="revTx" presStyleIdx="0" presStyleCnt="7">
        <dgm:presLayoutVars>
          <dgm:chMax val="0"/>
          <dgm:bulletEnabled val="1"/>
        </dgm:presLayoutVars>
      </dgm:prSet>
      <dgm:spPr/>
    </dgm:pt>
    <dgm:pt modelId="{739C4DEB-9A4C-40A4-A9F1-3D26E35680C7}" type="pres">
      <dgm:prSet presAssocID="{8ED82DC1-91DF-4E18-99AE-368EE2F7C253}" presName="sibTrans" presStyleCnt="0"/>
      <dgm:spPr/>
    </dgm:pt>
    <dgm:pt modelId="{770D681B-9E37-4346-83E3-44751B263161}" type="pres">
      <dgm:prSet presAssocID="{F6E551B8-88BD-4794-A121-79750035D102}" presName="compositeNode" presStyleCnt="0">
        <dgm:presLayoutVars>
          <dgm:bulletEnabled val="1"/>
        </dgm:presLayoutVars>
      </dgm:prSet>
      <dgm:spPr/>
    </dgm:pt>
    <dgm:pt modelId="{BB4C9664-905F-4A61-923C-6E2A493B4B54}" type="pres">
      <dgm:prSet presAssocID="{F6E551B8-88BD-4794-A121-79750035D102}" presName="image" presStyleLbl="fgImgPlace1" presStyleIdx="1" presStyleCnt="7"/>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a:noFill/>
        </a:ln>
      </dgm:spPr>
      <dgm:extLst>
        <a:ext uri="{E40237B7-FDA0-4F09-8148-C483321AD2D9}">
          <dgm14:cNvPr xmlns:dgm14="http://schemas.microsoft.com/office/drawing/2010/diagram" id="0" name="" descr="Stocking with solid fill"/>
        </a:ext>
      </dgm:extLst>
    </dgm:pt>
    <dgm:pt modelId="{4B14C329-06E2-4FE0-98B1-2857E6DDF7D5}" type="pres">
      <dgm:prSet presAssocID="{F6E551B8-88BD-4794-A121-79750035D102}" presName="childNode" presStyleLbl="node1" presStyleIdx="1" presStyleCnt="7">
        <dgm:presLayoutVars>
          <dgm:bulletEnabled val="1"/>
        </dgm:presLayoutVars>
      </dgm:prSet>
      <dgm:spPr/>
    </dgm:pt>
    <dgm:pt modelId="{F787F550-5114-4F42-87B1-5B742B452BD0}" type="pres">
      <dgm:prSet presAssocID="{F6E551B8-88BD-4794-A121-79750035D102}" presName="parentNode" presStyleLbl="revTx" presStyleIdx="1" presStyleCnt="7">
        <dgm:presLayoutVars>
          <dgm:chMax val="0"/>
          <dgm:bulletEnabled val="1"/>
        </dgm:presLayoutVars>
      </dgm:prSet>
      <dgm:spPr/>
    </dgm:pt>
    <dgm:pt modelId="{644B4DDB-1919-4D4E-8894-A92CE6A3917A}" type="pres">
      <dgm:prSet presAssocID="{ECA93493-996C-4E0E-A50D-AE571B0E716F}" presName="sibTrans" presStyleCnt="0"/>
      <dgm:spPr/>
    </dgm:pt>
    <dgm:pt modelId="{420CAB80-C248-44ED-A921-1966D7A67480}" type="pres">
      <dgm:prSet presAssocID="{D5929A5C-0B06-4121-826B-D1A55BDFF916}" presName="compositeNode" presStyleCnt="0">
        <dgm:presLayoutVars>
          <dgm:bulletEnabled val="1"/>
        </dgm:presLayoutVars>
      </dgm:prSet>
      <dgm:spPr/>
    </dgm:pt>
    <dgm:pt modelId="{6078EE03-2A35-4BBB-8702-4E928170B9B4}" type="pres">
      <dgm:prSet presAssocID="{D5929A5C-0B06-4121-826B-D1A55BDFF916}" presName="image" presStyleLbl="fgImgPlace1" presStyleIdx="2" presStyleCnt="7"/>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a:noFill/>
        </a:ln>
      </dgm:spPr>
      <dgm:extLst>
        <a:ext uri="{E40237B7-FDA0-4F09-8148-C483321AD2D9}">
          <dgm14:cNvPr xmlns:dgm14="http://schemas.microsoft.com/office/drawing/2010/diagram" id="0" name="" descr="Sort with solid fill"/>
        </a:ext>
      </dgm:extLst>
    </dgm:pt>
    <dgm:pt modelId="{59F9E58B-4522-4E7A-A89D-7FE8C71ED470}" type="pres">
      <dgm:prSet presAssocID="{D5929A5C-0B06-4121-826B-D1A55BDFF916}" presName="childNode" presStyleLbl="node1" presStyleIdx="2" presStyleCnt="7">
        <dgm:presLayoutVars>
          <dgm:bulletEnabled val="1"/>
        </dgm:presLayoutVars>
      </dgm:prSet>
      <dgm:spPr/>
    </dgm:pt>
    <dgm:pt modelId="{0770941C-48FC-4792-8314-E25B3329705D}" type="pres">
      <dgm:prSet presAssocID="{D5929A5C-0B06-4121-826B-D1A55BDFF916}" presName="parentNode" presStyleLbl="revTx" presStyleIdx="2" presStyleCnt="7">
        <dgm:presLayoutVars>
          <dgm:chMax val="0"/>
          <dgm:bulletEnabled val="1"/>
        </dgm:presLayoutVars>
      </dgm:prSet>
      <dgm:spPr/>
    </dgm:pt>
    <dgm:pt modelId="{4824468E-0382-4154-98E7-0B04FB697FB2}" type="pres">
      <dgm:prSet presAssocID="{5C6FCC17-566D-4DF3-A1EB-E770495B09DB}" presName="sibTrans" presStyleCnt="0"/>
      <dgm:spPr/>
    </dgm:pt>
    <dgm:pt modelId="{AB8A37AB-3134-4AC4-8EDC-BDAA581C92E5}" type="pres">
      <dgm:prSet presAssocID="{FE5DA37A-5121-4B4C-99AB-7C4B62218B42}" presName="compositeNode" presStyleCnt="0">
        <dgm:presLayoutVars>
          <dgm:bulletEnabled val="1"/>
        </dgm:presLayoutVars>
      </dgm:prSet>
      <dgm:spPr/>
    </dgm:pt>
    <dgm:pt modelId="{92B29377-8F08-48BC-A564-3A2328A805AA}" type="pres">
      <dgm:prSet presAssocID="{FE5DA37A-5121-4B4C-99AB-7C4B62218B42}" presName="image" presStyleLbl="fgImgPlace1" presStyleIdx="3" presStyleCnt="7"/>
      <dgm:spPr>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a:noFill/>
        </a:ln>
      </dgm:spPr>
      <dgm:extLst>
        <a:ext uri="{E40237B7-FDA0-4F09-8148-C483321AD2D9}">
          <dgm14:cNvPr xmlns:dgm14="http://schemas.microsoft.com/office/drawing/2010/diagram" id="0" name="" descr="Close with solid fill"/>
        </a:ext>
      </dgm:extLst>
    </dgm:pt>
    <dgm:pt modelId="{2B6035F8-A720-4A12-BF34-AFBBC680F24F}" type="pres">
      <dgm:prSet presAssocID="{FE5DA37A-5121-4B4C-99AB-7C4B62218B42}" presName="childNode" presStyleLbl="node1" presStyleIdx="3" presStyleCnt="7">
        <dgm:presLayoutVars>
          <dgm:bulletEnabled val="1"/>
        </dgm:presLayoutVars>
      </dgm:prSet>
      <dgm:spPr/>
    </dgm:pt>
    <dgm:pt modelId="{0418C485-D07A-4C0B-8B47-40ACCB0194B5}" type="pres">
      <dgm:prSet presAssocID="{FE5DA37A-5121-4B4C-99AB-7C4B62218B42}" presName="parentNode" presStyleLbl="revTx" presStyleIdx="3" presStyleCnt="7">
        <dgm:presLayoutVars>
          <dgm:chMax val="0"/>
          <dgm:bulletEnabled val="1"/>
        </dgm:presLayoutVars>
      </dgm:prSet>
      <dgm:spPr/>
    </dgm:pt>
    <dgm:pt modelId="{3FDF637A-8529-4CD1-8078-A6CE6C43EB79}" type="pres">
      <dgm:prSet presAssocID="{82044352-FCBA-444F-BD58-1921F52FDC1E}" presName="sibTrans" presStyleCnt="0"/>
      <dgm:spPr/>
    </dgm:pt>
    <dgm:pt modelId="{289DE995-F90A-4606-A5FC-0D6470D1CFE7}" type="pres">
      <dgm:prSet presAssocID="{AA829CA1-A0E7-4529-A72F-DE5CF6237FD0}" presName="compositeNode" presStyleCnt="0">
        <dgm:presLayoutVars>
          <dgm:bulletEnabled val="1"/>
        </dgm:presLayoutVars>
      </dgm:prSet>
      <dgm:spPr/>
    </dgm:pt>
    <dgm:pt modelId="{FDCD09C6-22AC-4D4A-A64E-2DBA37DC4639}" type="pres">
      <dgm:prSet presAssocID="{AA829CA1-A0E7-4529-A72F-DE5CF6237FD0}" presName="image" presStyleLbl="fgImgPlace1" presStyleIdx="4" presStyleCnt="7"/>
      <dgm:spPr>
        <a:blipFill>
          <a:blip xmlns:r="http://schemas.openxmlformats.org/officeDocument/2006/relationships" r:embed="rId9">
            <a:extLst>
              <a:ext uri="{96DAC541-7B7A-43D3-8B79-37D633B846F1}">
                <asvg:svgBlip xmlns:asvg="http://schemas.microsoft.com/office/drawing/2016/SVG/main" r:embed="rId10"/>
              </a:ext>
            </a:extLst>
          </a:blip>
          <a:srcRect/>
          <a:stretch>
            <a:fillRect/>
          </a:stretch>
        </a:blipFill>
        <a:ln>
          <a:noFill/>
        </a:ln>
      </dgm:spPr>
      <dgm:extLst>
        <a:ext uri="{E40237B7-FDA0-4F09-8148-C483321AD2D9}">
          <dgm14:cNvPr xmlns:dgm14="http://schemas.microsoft.com/office/drawing/2010/diagram" id="0" name="" descr="Brainstorm outline"/>
        </a:ext>
      </dgm:extLst>
    </dgm:pt>
    <dgm:pt modelId="{7D9B2519-B615-4B41-B561-B8F5F46C4E61}" type="pres">
      <dgm:prSet presAssocID="{AA829CA1-A0E7-4529-A72F-DE5CF6237FD0}" presName="childNode" presStyleLbl="node1" presStyleIdx="4" presStyleCnt="7">
        <dgm:presLayoutVars>
          <dgm:bulletEnabled val="1"/>
        </dgm:presLayoutVars>
      </dgm:prSet>
      <dgm:spPr/>
    </dgm:pt>
    <dgm:pt modelId="{3BCFB1FA-70B2-4751-8FE4-9C9887E8A61D}" type="pres">
      <dgm:prSet presAssocID="{AA829CA1-A0E7-4529-A72F-DE5CF6237FD0}" presName="parentNode" presStyleLbl="revTx" presStyleIdx="4" presStyleCnt="7">
        <dgm:presLayoutVars>
          <dgm:chMax val="0"/>
          <dgm:bulletEnabled val="1"/>
        </dgm:presLayoutVars>
      </dgm:prSet>
      <dgm:spPr/>
    </dgm:pt>
    <dgm:pt modelId="{15770813-605C-43FA-BE1D-C4D41BE9CD74}" type="pres">
      <dgm:prSet presAssocID="{396DD911-6B4D-4679-A866-B3C682A3E643}" presName="sibTrans" presStyleCnt="0"/>
      <dgm:spPr/>
    </dgm:pt>
    <dgm:pt modelId="{9E3FC9C5-6ADB-48B3-B121-43D5BCD289FA}" type="pres">
      <dgm:prSet presAssocID="{A2008D8B-4616-47EF-A43F-4849E5CF2EFF}" presName="compositeNode" presStyleCnt="0">
        <dgm:presLayoutVars>
          <dgm:bulletEnabled val="1"/>
        </dgm:presLayoutVars>
      </dgm:prSet>
      <dgm:spPr/>
    </dgm:pt>
    <dgm:pt modelId="{DABCB4F1-B835-435A-965A-7200C5031C8B}" type="pres">
      <dgm:prSet presAssocID="{A2008D8B-4616-47EF-A43F-4849E5CF2EFF}" presName="image" presStyleLbl="fgImgPlace1" presStyleIdx="5" presStyleCnt="7"/>
      <dgm:spPr>
        <a:blipFill>
          <a:blip xmlns:r="http://schemas.openxmlformats.org/officeDocument/2006/relationships" r:embed="rId11">
            <a:extLst>
              <a:ext uri="{96DAC541-7B7A-43D3-8B79-37D633B846F1}">
                <asvg:svgBlip xmlns:asvg="http://schemas.microsoft.com/office/drawing/2016/SVG/main" r:embed="rId12"/>
              </a:ext>
            </a:extLst>
          </a:blip>
          <a:srcRect/>
          <a:stretch>
            <a:fillRect/>
          </a:stretch>
        </a:blipFill>
        <a:ln>
          <a:noFill/>
        </a:ln>
      </dgm:spPr>
      <dgm:extLst>
        <a:ext uri="{E40237B7-FDA0-4F09-8148-C483321AD2D9}">
          <dgm14:cNvPr xmlns:dgm14="http://schemas.microsoft.com/office/drawing/2010/diagram" id="0" name="" descr="Presentation with pie chart with solid fill"/>
        </a:ext>
      </dgm:extLst>
    </dgm:pt>
    <dgm:pt modelId="{975B8EBF-D818-403B-AAC8-226561FA7257}" type="pres">
      <dgm:prSet presAssocID="{A2008D8B-4616-47EF-A43F-4849E5CF2EFF}" presName="childNode" presStyleLbl="node1" presStyleIdx="5" presStyleCnt="7">
        <dgm:presLayoutVars>
          <dgm:bulletEnabled val="1"/>
        </dgm:presLayoutVars>
      </dgm:prSet>
      <dgm:spPr/>
    </dgm:pt>
    <dgm:pt modelId="{38F3DAC1-3A6D-4DDE-B8B6-51782AFE8A95}" type="pres">
      <dgm:prSet presAssocID="{A2008D8B-4616-47EF-A43F-4849E5CF2EFF}" presName="parentNode" presStyleLbl="revTx" presStyleIdx="5" presStyleCnt="7">
        <dgm:presLayoutVars>
          <dgm:chMax val="0"/>
          <dgm:bulletEnabled val="1"/>
        </dgm:presLayoutVars>
      </dgm:prSet>
      <dgm:spPr/>
    </dgm:pt>
    <dgm:pt modelId="{D9C281F4-77FE-40BC-9B56-74BCE0F078C8}" type="pres">
      <dgm:prSet presAssocID="{E338B22A-F443-470F-A1EE-865830A6DF9C}" presName="sibTrans" presStyleCnt="0"/>
      <dgm:spPr/>
    </dgm:pt>
    <dgm:pt modelId="{D07CB3B1-10E8-44EA-AE60-3E9E40A92E84}" type="pres">
      <dgm:prSet presAssocID="{DEA7078E-2CD9-4B1C-A186-A9065E68D1B8}" presName="compositeNode" presStyleCnt="0">
        <dgm:presLayoutVars>
          <dgm:bulletEnabled val="1"/>
        </dgm:presLayoutVars>
      </dgm:prSet>
      <dgm:spPr/>
    </dgm:pt>
    <dgm:pt modelId="{8142DEDA-161F-4E56-AD1D-3B03272487D3}" type="pres">
      <dgm:prSet presAssocID="{DEA7078E-2CD9-4B1C-A186-A9065E68D1B8}" presName="image" presStyleLbl="fgImgPlace1" presStyleIdx="6" presStyleCnt="7"/>
      <dgm:spPr>
        <a:blipFill>
          <a:blip xmlns:r="http://schemas.openxmlformats.org/officeDocument/2006/relationships" r:embed="rId13">
            <a:extLst>
              <a:ext uri="{96DAC541-7B7A-43D3-8B79-37D633B846F1}">
                <asvg:svgBlip xmlns:asvg="http://schemas.microsoft.com/office/drawing/2016/SVG/main" r:embed="rId14"/>
              </a:ext>
            </a:extLst>
          </a:blip>
          <a:srcRect/>
          <a:stretch>
            <a:fillRect/>
          </a:stretch>
        </a:blipFill>
        <a:ln>
          <a:noFill/>
        </a:ln>
      </dgm:spPr>
      <dgm:extLst>
        <a:ext uri="{E40237B7-FDA0-4F09-8148-C483321AD2D9}">
          <dgm14:cNvPr xmlns:dgm14="http://schemas.microsoft.com/office/drawing/2010/diagram" id="0" name="" descr="Document with solid fill"/>
        </a:ext>
      </dgm:extLst>
    </dgm:pt>
    <dgm:pt modelId="{06ED7F87-6019-4AEF-8656-58391E7BB897}" type="pres">
      <dgm:prSet presAssocID="{DEA7078E-2CD9-4B1C-A186-A9065E68D1B8}" presName="childNode" presStyleLbl="node1" presStyleIdx="6" presStyleCnt="7">
        <dgm:presLayoutVars>
          <dgm:bulletEnabled val="1"/>
        </dgm:presLayoutVars>
      </dgm:prSet>
      <dgm:spPr/>
    </dgm:pt>
    <dgm:pt modelId="{545B2210-8334-4130-A02D-BB5D2FFDDF0B}" type="pres">
      <dgm:prSet presAssocID="{DEA7078E-2CD9-4B1C-A186-A9065E68D1B8}" presName="parentNode" presStyleLbl="revTx" presStyleIdx="6" presStyleCnt="7">
        <dgm:presLayoutVars>
          <dgm:chMax val="0"/>
          <dgm:bulletEnabled val="1"/>
        </dgm:presLayoutVars>
      </dgm:prSet>
      <dgm:spPr/>
    </dgm:pt>
  </dgm:ptLst>
  <dgm:cxnLst>
    <dgm:cxn modelId="{39F2A906-ADBB-4BA6-965A-0CC68B571789}" srcId="{AA829CA1-A0E7-4529-A72F-DE5CF6237FD0}" destId="{E24E2154-6211-49AC-A89D-C392F853EEB3}" srcOrd="0" destOrd="0" parTransId="{AB240E0C-7516-4331-B5E7-752986AE5FFC}" sibTransId="{27640A53-D4BB-4996-BA2B-559E8CEC2C95}"/>
    <dgm:cxn modelId="{D47F5D07-875B-491F-91B0-41D2F003C82F}" type="presOf" srcId="{F6E551B8-88BD-4794-A121-79750035D102}" destId="{F787F550-5114-4F42-87B1-5B742B452BD0}" srcOrd="0" destOrd="0" presId="urn:microsoft.com/office/officeart/2005/8/layout/hList2"/>
    <dgm:cxn modelId="{03E9FE22-DABC-4F04-BE82-2CE8C1E1735D}" type="presOf" srcId="{E24E2154-6211-49AC-A89D-C392F853EEB3}" destId="{7D9B2519-B615-4B41-B561-B8F5F46C4E61}" srcOrd="0" destOrd="0" presId="urn:microsoft.com/office/officeart/2005/8/layout/hList2"/>
    <dgm:cxn modelId="{40A88B3F-A637-462A-A3D1-037FA8F02421}" srcId="{8A39D2CF-9C1D-420B-8D85-312F91D7B59E}" destId="{DEA7078E-2CD9-4B1C-A186-A9065E68D1B8}" srcOrd="6" destOrd="0" parTransId="{363BB43F-AD47-4A33-8A09-A149EFE6CD2E}" sibTransId="{EC5EFF4C-EFD8-4EB9-A3E3-2AB9E995C986}"/>
    <dgm:cxn modelId="{D8317464-02A1-4C7B-AFEF-E3B9A377E94D}" type="presOf" srcId="{DEA7078E-2CD9-4B1C-A186-A9065E68D1B8}" destId="{545B2210-8334-4130-A02D-BB5D2FFDDF0B}" srcOrd="0" destOrd="0" presId="urn:microsoft.com/office/officeart/2005/8/layout/hList2"/>
    <dgm:cxn modelId="{7440A448-4669-499A-B2A1-B353434A74FD}" type="presOf" srcId="{BFF32F28-34E4-4B51-99E7-591913FF4299}" destId="{3DD5463E-4520-4143-B472-19E4D0A6683D}" srcOrd="0" destOrd="0" presId="urn:microsoft.com/office/officeart/2005/8/layout/hList2"/>
    <dgm:cxn modelId="{F694D76B-2ED4-45CC-8074-3EF9999A4015}" type="presOf" srcId="{AA829CA1-A0E7-4529-A72F-DE5CF6237FD0}" destId="{3BCFB1FA-70B2-4751-8FE4-9C9887E8A61D}" srcOrd="0" destOrd="0" presId="urn:microsoft.com/office/officeart/2005/8/layout/hList2"/>
    <dgm:cxn modelId="{5799B84D-B4A0-4EA7-8EC7-E112DE0C8B3E}" type="presOf" srcId="{25479199-6B55-4724-B9ED-DA89E6BE32BE}" destId="{06ED7F87-6019-4AEF-8656-58391E7BB897}" srcOrd="0" destOrd="0" presId="urn:microsoft.com/office/officeart/2005/8/layout/hList2"/>
    <dgm:cxn modelId="{4197867B-9B15-41CD-AA0B-9B737166F824}" type="presOf" srcId="{4A66C394-9A61-408E-8EA3-99EFDC0B719D}" destId="{2B6035F8-A720-4A12-BF34-AFBBC680F24F}" srcOrd="0" destOrd="0" presId="urn:microsoft.com/office/officeart/2005/8/layout/hList2"/>
    <dgm:cxn modelId="{0B6AC98E-F7E9-4E49-9A40-143C6FC14AE9}" type="presOf" srcId="{8A39D2CF-9C1D-420B-8D85-312F91D7B59E}" destId="{C1475CB1-7AA5-44D2-91AE-F804DA91CD02}" srcOrd="0" destOrd="0" presId="urn:microsoft.com/office/officeart/2005/8/layout/hList2"/>
    <dgm:cxn modelId="{8229569F-8268-42FA-83C9-01005740297E}" type="presOf" srcId="{C8BA038F-2851-4455-9F5F-0A1FAA71ECF7}" destId="{59F9E58B-4522-4E7A-A89D-7FE8C71ED470}" srcOrd="0" destOrd="0" presId="urn:microsoft.com/office/officeart/2005/8/layout/hList2"/>
    <dgm:cxn modelId="{DA8D44A1-110E-4B4A-816F-0E9BA296AD2E}" type="presOf" srcId="{3D506E01-20DB-4904-90DC-442B78593893}" destId="{4B14C329-06E2-4FE0-98B1-2857E6DDF7D5}" srcOrd="0" destOrd="0" presId="urn:microsoft.com/office/officeart/2005/8/layout/hList2"/>
    <dgm:cxn modelId="{1200EEA2-0D97-4DF0-9660-60583702ECFF}" type="presOf" srcId="{FE5DA37A-5121-4B4C-99AB-7C4B62218B42}" destId="{0418C485-D07A-4C0B-8B47-40ACCB0194B5}" srcOrd="0" destOrd="0" presId="urn:microsoft.com/office/officeart/2005/8/layout/hList2"/>
    <dgm:cxn modelId="{6D0204A3-3CD8-4C81-B1A5-9DF3363530D0}" srcId="{BFF32F28-34E4-4B51-99E7-591913FF4299}" destId="{49A99FF2-CBF7-426A-9B52-2040A6E58247}" srcOrd="0" destOrd="0" parTransId="{8EC0CF78-AFE2-4C54-AD8A-518E889A2A0C}" sibTransId="{5C532E76-0523-4FE6-82BA-16760ED33DDF}"/>
    <dgm:cxn modelId="{8F1032A6-220E-4CE0-BD37-2426FB40EB84}" srcId="{FE5DA37A-5121-4B4C-99AB-7C4B62218B42}" destId="{4A66C394-9A61-408E-8EA3-99EFDC0B719D}" srcOrd="0" destOrd="0" parTransId="{030A0FAC-53CD-44D6-BAB6-8B401B57A60E}" sibTransId="{9F89A1D9-428A-4928-8FF6-111FD891E10B}"/>
    <dgm:cxn modelId="{4F6F83AB-9413-4219-8BC7-F3FF1E6FE6B6}" type="presOf" srcId="{49A99FF2-CBF7-426A-9B52-2040A6E58247}" destId="{56AD7D1F-E279-4A35-B4E6-4FE58F41968C}" srcOrd="0" destOrd="0" presId="urn:microsoft.com/office/officeart/2005/8/layout/hList2"/>
    <dgm:cxn modelId="{E0A7FEAD-6FE6-44A6-9436-447CB5544A8B}" type="presOf" srcId="{A2008D8B-4616-47EF-A43F-4849E5CF2EFF}" destId="{38F3DAC1-3A6D-4DDE-B8B6-51782AFE8A95}" srcOrd="0" destOrd="0" presId="urn:microsoft.com/office/officeart/2005/8/layout/hList2"/>
    <dgm:cxn modelId="{9A36E7B4-04B8-407B-A456-AF5BD8367A75}" srcId="{8A39D2CF-9C1D-420B-8D85-312F91D7B59E}" destId="{A2008D8B-4616-47EF-A43F-4849E5CF2EFF}" srcOrd="5" destOrd="0" parTransId="{8C84F315-747B-4709-87B2-226E9E70B584}" sibTransId="{E338B22A-F443-470F-A1EE-865830A6DF9C}"/>
    <dgm:cxn modelId="{B48954B5-74AD-406C-8E8A-AB0B3224714E}" srcId="{A2008D8B-4616-47EF-A43F-4849E5CF2EFF}" destId="{1B2D7EAA-4C8F-4206-9DC3-6B2CAE3C53D8}" srcOrd="0" destOrd="0" parTransId="{0245DB80-3E69-4B7D-B447-7651FC7DD4DD}" sibTransId="{E02C1B87-A812-4E94-B2F7-B13C878CD0C7}"/>
    <dgm:cxn modelId="{72BCC5B9-7465-4039-A05F-A2B13D9F572A}" type="presOf" srcId="{D5929A5C-0B06-4121-826B-D1A55BDFF916}" destId="{0770941C-48FC-4792-8314-E25B3329705D}" srcOrd="0" destOrd="0" presId="urn:microsoft.com/office/officeart/2005/8/layout/hList2"/>
    <dgm:cxn modelId="{A643D7C0-3F23-43B7-93FB-8D5A5698EB92}" srcId="{8A39D2CF-9C1D-420B-8D85-312F91D7B59E}" destId="{AA829CA1-A0E7-4529-A72F-DE5CF6237FD0}" srcOrd="4" destOrd="0" parTransId="{881EB1D5-D245-4E40-B424-5AD265A813EB}" sibTransId="{396DD911-6B4D-4679-A866-B3C682A3E643}"/>
    <dgm:cxn modelId="{B5FB3FCF-350F-4AB6-9B4F-2EADE625E993}" srcId="{8A39D2CF-9C1D-420B-8D85-312F91D7B59E}" destId="{FE5DA37A-5121-4B4C-99AB-7C4B62218B42}" srcOrd="3" destOrd="0" parTransId="{338688A6-B495-4F66-810D-5DC7C4737597}" sibTransId="{82044352-FCBA-444F-BD58-1921F52FDC1E}"/>
    <dgm:cxn modelId="{C6B24CCF-045B-404A-8D0F-1C20A58B392F}" srcId="{8A39D2CF-9C1D-420B-8D85-312F91D7B59E}" destId="{D5929A5C-0B06-4121-826B-D1A55BDFF916}" srcOrd="2" destOrd="0" parTransId="{763DC7F6-7C73-4F0E-A98B-9C8991747455}" sibTransId="{5C6FCC17-566D-4DF3-A1EB-E770495B09DB}"/>
    <dgm:cxn modelId="{F198C5D1-AE3B-4BDF-A00A-4E259665F058}" srcId="{8A39D2CF-9C1D-420B-8D85-312F91D7B59E}" destId="{BFF32F28-34E4-4B51-99E7-591913FF4299}" srcOrd="0" destOrd="0" parTransId="{5D62C33D-C4F4-46F1-8832-210C78AB2D7F}" sibTransId="{8ED82DC1-91DF-4E18-99AE-368EE2F7C253}"/>
    <dgm:cxn modelId="{1F67FADD-E544-4687-BAC5-27B499F2CB1C}" type="presOf" srcId="{1B2D7EAA-4C8F-4206-9DC3-6B2CAE3C53D8}" destId="{975B8EBF-D818-403B-AAC8-226561FA7257}" srcOrd="0" destOrd="0" presId="urn:microsoft.com/office/officeart/2005/8/layout/hList2"/>
    <dgm:cxn modelId="{5FA7DEE5-ED6D-42A2-A306-5DD3EEF56331}" srcId="{F6E551B8-88BD-4794-A121-79750035D102}" destId="{3D506E01-20DB-4904-90DC-442B78593893}" srcOrd="0" destOrd="0" parTransId="{E757B6A5-4073-4C9A-A54A-5943F90C3476}" sibTransId="{E8C4414A-B904-4A88-9A5D-02D1A535E8CF}"/>
    <dgm:cxn modelId="{F4D99CE7-AA7F-409B-8F8C-85D38C2966C3}" srcId="{8A39D2CF-9C1D-420B-8D85-312F91D7B59E}" destId="{F6E551B8-88BD-4794-A121-79750035D102}" srcOrd="1" destOrd="0" parTransId="{BB55450E-A6F0-4D17-9C5D-227D9E01113E}" sibTransId="{ECA93493-996C-4E0E-A50D-AE571B0E716F}"/>
    <dgm:cxn modelId="{26976DFA-DED6-46F1-95D7-95D0561FAC5B}" srcId="{DEA7078E-2CD9-4B1C-A186-A9065E68D1B8}" destId="{25479199-6B55-4724-B9ED-DA89E6BE32BE}" srcOrd="0" destOrd="0" parTransId="{BDFAAFEB-D45F-46E7-9144-7526C04EE8F1}" sibTransId="{0FB0AB40-7AE0-4E94-A3CA-BA004F448E36}"/>
    <dgm:cxn modelId="{5D1CC7FA-E182-47B4-A575-810B4A432F3B}" srcId="{D5929A5C-0B06-4121-826B-D1A55BDFF916}" destId="{C8BA038F-2851-4455-9F5F-0A1FAA71ECF7}" srcOrd="0" destOrd="0" parTransId="{00AC9BDE-82F6-4800-A6CA-48901150E610}" sibTransId="{AEDA54F3-1C34-4FDB-A9A2-57C913B8FB96}"/>
    <dgm:cxn modelId="{C58A682C-A89D-4E30-A451-E53CB64C12AE}" type="presParOf" srcId="{C1475CB1-7AA5-44D2-91AE-F804DA91CD02}" destId="{A7642A93-0DF3-4751-BB2D-AFB1FB72C19F}" srcOrd="0" destOrd="0" presId="urn:microsoft.com/office/officeart/2005/8/layout/hList2"/>
    <dgm:cxn modelId="{0FFC6A7F-A9C4-4E9F-8026-5AB21C166D93}" type="presParOf" srcId="{A7642A93-0DF3-4751-BB2D-AFB1FB72C19F}" destId="{333C9212-7C7E-422C-83E4-EFFE926A1AAB}" srcOrd="0" destOrd="0" presId="urn:microsoft.com/office/officeart/2005/8/layout/hList2"/>
    <dgm:cxn modelId="{C7C960BD-BF23-4795-9CC0-D90F86D25DCA}" type="presParOf" srcId="{A7642A93-0DF3-4751-BB2D-AFB1FB72C19F}" destId="{56AD7D1F-E279-4A35-B4E6-4FE58F41968C}" srcOrd="1" destOrd="0" presId="urn:microsoft.com/office/officeart/2005/8/layout/hList2"/>
    <dgm:cxn modelId="{1C643A9F-32FC-40F1-BB30-CCAB7DD0C7D3}" type="presParOf" srcId="{A7642A93-0DF3-4751-BB2D-AFB1FB72C19F}" destId="{3DD5463E-4520-4143-B472-19E4D0A6683D}" srcOrd="2" destOrd="0" presId="urn:microsoft.com/office/officeart/2005/8/layout/hList2"/>
    <dgm:cxn modelId="{AE32EAC9-1F3B-4C68-9DCB-8AC7A7DAA6B6}" type="presParOf" srcId="{C1475CB1-7AA5-44D2-91AE-F804DA91CD02}" destId="{739C4DEB-9A4C-40A4-A9F1-3D26E35680C7}" srcOrd="1" destOrd="0" presId="urn:microsoft.com/office/officeart/2005/8/layout/hList2"/>
    <dgm:cxn modelId="{ACEB17A4-1BBC-41EC-92CD-03BF3EBC1C5D}" type="presParOf" srcId="{C1475CB1-7AA5-44D2-91AE-F804DA91CD02}" destId="{770D681B-9E37-4346-83E3-44751B263161}" srcOrd="2" destOrd="0" presId="urn:microsoft.com/office/officeart/2005/8/layout/hList2"/>
    <dgm:cxn modelId="{88BB13C0-D572-44CD-904E-E1278B064714}" type="presParOf" srcId="{770D681B-9E37-4346-83E3-44751B263161}" destId="{BB4C9664-905F-4A61-923C-6E2A493B4B54}" srcOrd="0" destOrd="0" presId="urn:microsoft.com/office/officeart/2005/8/layout/hList2"/>
    <dgm:cxn modelId="{773976B9-69CA-4454-9A9B-8985E24A3EC9}" type="presParOf" srcId="{770D681B-9E37-4346-83E3-44751B263161}" destId="{4B14C329-06E2-4FE0-98B1-2857E6DDF7D5}" srcOrd="1" destOrd="0" presId="urn:microsoft.com/office/officeart/2005/8/layout/hList2"/>
    <dgm:cxn modelId="{8C627EF2-3FA1-4A9E-AA98-546D93D68B77}" type="presParOf" srcId="{770D681B-9E37-4346-83E3-44751B263161}" destId="{F787F550-5114-4F42-87B1-5B742B452BD0}" srcOrd="2" destOrd="0" presId="urn:microsoft.com/office/officeart/2005/8/layout/hList2"/>
    <dgm:cxn modelId="{421AF840-E59D-4260-B952-2E01DD305B28}" type="presParOf" srcId="{C1475CB1-7AA5-44D2-91AE-F804DA91CD02}" destId="{644B4DDB-1919-4D4E-8894-A92CE6A3917A}" srcOrd="3" destOrd="0" presId="urn:microsoft.com/office/officeart/2005/8/layout/hList2"/>
    <dgm:cxn modelId="{CD60B50E-59D9-4984-92A3-564A775602F1}" type="presParOf" srcId="{C1475CB1-7AA5-44D2-91AE-F804DA91CD02}" destId="{420CAB80-C248-44ED-A921-1966D7A67480}" srcOrd="4" destOrd="0" presId="urn:microsoft.com/office/officeart/2005/8/layout/hList2"/>
    <dgm:cxn modelId="{928437E8-D61A-473D-8453-EF61C81D9E4C}" type="presParOf" srcId="{420CAB80-C248-44ED-A921-1966D7A67480}" destId="{6078EE03-2A35-4BBB-8702-4E928170B9B4}" srcOrd="0" destOrd="0" presId="urn:microsoft.com/office/officeart/2005/8/layout/hList2"/>
    <dgm:cxn modelId="{C38FD6BF-3C6C-4ED8-BCAB-F461A6B12C48}" type="presParOf" srcId="{420CAB80-C248-44ED-A921-1966D7A67480}" destId="{59F9E58B-4522-4E7A-A89D-7FE8C71ED470}" srcOrd="1" destOrd="0" presId="urn:microsoft.com/office/officeart/2005/8/layout/hList2"/>
    <dgm:cxn modelId="{977F9955-5D94-4EE9-92EA-D69D8EEFB37A}" type="presParOf" srcId="{420CAB80-C248-44ED-A921-1966D7A67480}" destId="{0770941C-48FC-4792-8314-E25B3329705D}" srcOrd="2" destOrd="0" presId="urn:microsoft.com/office/officeart/2005/8/layout/hList2"/>
    <dgm:cxn modelId="{1FE43E95-B508-4BA1-B163-4C0944BB0E27}" type="presParOf" srcId="{C1475CB1-7AA5-44D2-91AE-F804DA91CD02}" destId="{4824468E-0382-4154-98E7-0B04FB697FB2}" srcOrd="5" destOrd="0" presId="urn:microsoft.com/office/officeart/2005/8/layout/hList2"/>
    <dgm:cxn modelId="{4136C67B-D5F8-47A3-AABA-7244FCFE6550}" type="presParOf" srcId="{C1475CB1-7AA5-44D2-91AE-F804DA91CD02}" destId="{AB8A37AB-3134-4AC4-8EDC-BDAA581C92E5}" srcOrd="6" destOrd="0" presId="urn:microsoft.com/office/officeart/2005/8/layout/hList2"/>
    <dgm:cxn modelId="{96A7FCEE-A64A-44B2-B73E-3D133C7896A0}" type="presParOf" srcId="{AB8A37AB-3134-4AC4-8EDC-BDAA581C92E5}" destId="{92B29377-8F08-48BC-A564-3A2328A805AA}" srcOrd="0" destOrd="0" presId="urn:microsoft.com/office/officeart/2005/8/layout/hList2"/>
    <dgm:cxn modelId="{DC9D7CED-397B-4818-A9D4-E0E7959889BC}" type="presParOf" srcId="{AB8A37AB-3134-4AC4-8EDC-BDAA581C92E5}" destId="{2B6035F8-A720-4A12-BF34-AFBBC680F24F}" srcOrd="1" destOrd="0" presId="urn:microsoft.com/office/officeart/2005/8/layout/hList2"/>
    <dgm:cxn modelId="{66FA0A36-5369-4865-AA91-2A15D0BEA348}" type="presParOf" srcId="{AB8A37AB-3134-4AC4-8EDC-BDAA581C92E5}" destId="{0418C485-D07A-4C0B-8B47-40ACCB0194B5}" srcOrd="2" destOrd="0" presId="urn:microsoft.com/office/officeart/2005/8/layout/hList2"/>
    <dgm:cxn modelId="{DCCEF41D-0A2F-48C5-A5A4-58EAD8084C58}" type="presParOf" srcId="{C1475CB1-7AA5-44D2-91AE-F804DA91CD02}" destId="{3FDF637A-8529-4CD1-8078-A6CE6C43EB79}" srcOrd="7" destOrd="0" presId="urn:microsoft.com/office/officeart/2005/8/layout/hList2"/>
    <dgm:cxn modelId="{57CA7FB2-613E-4432-89FF-83C1A5C55866}" type="presParOf" srcId="{C1475CB1-7AA5-44D2-91AE-F804DA91CD02}" destId="{289DE995-F90A-4606-A5FC-0D6470D1CFE7}" srcOrd="8" destOrd="0" presId="urn:microsoft.com/office/officeart/2005/8/layout/hList2"/>
    <dgm:cxn modelId="{9AA486D3-35BB-45D2-AD33-4E296C58F7F6}" type="presParOf" srcId="{289DE995-F90A-4606-A5FC-0D6470D1CFE7}" destId="{FDCD09C6-22AC-4D4A-A64E-2DBA37DC4639}" srcOrd="0" destOrd="0" presId="urn:microsoft.com/office/officeart/2005/8/layout/hList2"/>
    <dgm:cxn modelId="{B4B78888-CAC2-4256-AEDA-CBE037BD8470}" type="presParOf" srcId="{289DE995-F90A-4606-A5FC-0D6470D1CFE7}" destId="{7D9B2519-B615-4B41-B561-B8F5F46C4E61}" srcOrd="1" destOrd="0" presId="urn:microsoft.com/office/officeart/2005/8/layout/hList2"/>
    <dgm:cxn modelId="{54B2E805-E225-4EE3-B2FD-940F2EAD8761}" type="presParOf" srcId="{289DE995-F90A-4606-A5FC-0D6470D1CFE7}" destId="{3BCFB1FA-70B2-4751-8FE4-9C9887E8A61D}" srcOrd="2" destOrd="0" presId="urn:microsoft.com/office/officeart/2005/8/layout/hList2"/>
    <dgm:cxn modelId="{637F8719-56C5-4CEB-9305-730A814E0E48}" type="presParOf" srcId="{C1475CB1-7AA5-44D2-91AE-F804DA91CD02}" destId="{15770813-605C-43FA-BE1D-C4D41BE9CD74}" srcOrd="9" destOrd="0" presId="urn:microsoft.com/office/officeart/2005/8/layout/hList2"/>
    <dgm:cxn modelId="{5FD19804-FD77-4F00-B34E-3E3DB80959F5}" type="presParOf" srcId="{C1475CB1-7AA5-44D2-91AE-F804DA91CD02}" destId="{9E3FC9C5-6ADB-48B3-B121-43D5BCD289FA}" srcOrd="10" destOrd="0" presId="urn:microsoft.com/office/officeart/2005/8/layout/hList2"/>
    <dgm:cxn modelId="{66EE4CC0-4D6C-46F0-BA31-6A7D5098E9F5}" type="presParOf" srcId="{9E3FC9C5-6ADB-48B3-B121-43D5BCD289FA}" destId="{DABCB4F1-B835-435A-965A-7200C5031C8B}" srcOrd="0" destOrd="0" presId="urn:microsoft.com/office/officeart/2005/8/layout/hList2"/>
    <dgm:cxn modelId="{C07B41C8-8955-4229-904B-A973609CB2E1}" type="presParOf" srcId="{9E3FC9C5-6ADB-48B3-B121-43D5BCD289FA}" destId="{975B8EBF-D818-403B-AAC8-226561FA7257}" srcOrd="1" destOrd="0" presId="urn:microsoft.com/office/officeart/2005/8/layout/hList2"/>
    <dgm:cxn modelId="{19EA286A-FDF3-40B3-A305-8389A353C118}" type="presParOf" srcId="{9E3FC9C5-6ADB-48B3-B121-43D5BCD289FA}" destId="{38F3DAC1-3A6D-4DDE-B8B6-51782AFE8A95}" srcOrd="2" destOrd="0" presId="urn:microsoft.com/office/officeart/2005/8/layout/hList2"/>
    <dgm:cxn modelId="{F67D5D9F-61D1-435E-B9B2-35BC216B6E31}" type="presParOf" srcId="{C1475CB1-7AA5-44D2-91AE-F804DA91CD02}" destId="{D9C281F4-77FE-40BC-9B56-74BCE0F078C8}" srcOrd="11" destOrd="0" presId="urn:microsoft.com/office/officeart/2005/8/layout/hList2"/>
    <dgm:cxn modelId="{D38F31E1-1C2E-4E85-BA91-AC6C4BB2671F}" type="presParOf" srcId="{C1475CB1-7AA5-44D2-91AE-F804DA91CD02}" destId="{D07CB3B1-10E8-44EA-AE60-3E9E40A92E84}" srcOrd="12" destOrd="0" presId="urn:microsoft.com/office/officeart/2005/8/layout/hList2"/>
    <dgm:cxn modelId="{CDAE3839-C9FD-4EA6-AE74-0EF9E82DD59C}" type="presParOf" srcId="{D07CB3B1-10E8-44EA-AE60-3E9E40A92E84}" destId="{8142DEDA-161F-4E56-AD1D-3B03272487D3}" srcOrd="0" destOrd="0" presId="urn:microsoft.com/office/officeart/2005/8/layout/hList2"/>
    <dgm:cxn modelId="{25B484E2-415B-4085-8BBE-F33353C88A58}" type="presParOf" srcId="{D07CB3B1-10E8-44EA-AE60-3E9E40A92E84}" destId="{06ED7F87-6019-4AEF-8656-58391E7BB897}" srcOrd="1" destOrd="0" presId="urn:microsoft.com/office/officeart/2005/8/layout/hList2"/>
    <dgm:cxn modelId="{6ED23024-8C46-45EE-AA39-7F13AA3B8857}" type="presParOf" srcId="{D07CB3B1-10E8-44EA-AE60-3E9E40A92E84}" destId="{545B2210-8334-4130-A02D-BB5D2FFDDF0B}" srcOrd="2" destOrd="0" presId="urn:microsoft.com/office/officeart/2005/8/layout/hList2"/>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999AA65E-6771-4ADF-9A6C-A05C8774C5B7}" type="doc">
      <dgm:prSet loTypeId="urn:microsoft.com/office/officeart/2009/3/layout/PlusandMinus" loCatId="relationship" qsTypeId="urn:microsoft.com/office/officeart/2005/8/quickstyle/simple1" qsCatId="simple" csTypeId="urn:microsoft.com/office/officeart/2005/8/colors/accent1_2" csCatId="accent1" phldr="1"/>
      <dgm:spPr/>
      <dgm:t>
        <a:bodyPr/>
        <a:lstStyle/>
        <a:p>
          <a:endParaRPr lang="en-IN"/>
        </a:p>
      </dgm:t>
    </dgm:pt>
    <dgm:pt modelId="{AC65DDE6-4C69-4B3B-ACD8-B72CFD499FD8}">
      <dgm:prSet phldrT="[Text]" custT="1"/>
      <dgm:spPr/>
      <dgm:t>
        <a:bodyPr/>
        <a:lstStyle/>
        <a:p>
          <a:r>
            <a:rPr lang="en-IN" sz="1800" b="1" u="sng">
              <a:solidFill>
                <a:schemeClr val="bg1"/>
              </a:solidFill>
              <a:latin typeface="EYInterstate" panose="02000503020000020004" pitchFamily="2" charset="0"/>
            </a:rPr>
            <a:t>Advantages</a:t>
          </a:r>
        </a:p>
        <a:p>
          <a:r>
            <a:rPr lang="en-IN" sz="1800" b="1">
              <a:solidFill>
                <a:schemeClr val="bg1"/>
              </a:solidFill>
              <a:latin typeface="EYInterstate" panose="02000503020000020004" pitchFamily="2" charset="0"/>
            </a:rPr>
            <a:t>Consistency</a:t>
          </a:r>
          <a:endParaRPr lang="en-IN" sz="1800">
            <a:solidFill>
              <a:schemeClr val="bg1"/>
            </a:solidFill>
            <a:latin typeface="EYInterstate" panose="02000503020000020004" pitchFamily="2" charset="0"/>
          </a:endParaRPr>
        </a:p>
        <a:p>
          <a:r>
            <a:rPr lang="en-IN" sz="1800" b="1">
              <a:solidFill>
                <a:schemeClr val="bg1"/>
              </a:solidFill>
              <a:latin typeface="EYInterstate" panose="02000503020000020004" pitchFamily="2" charset="0"/>
            </a:rPr>
            <a:t>Efficiency</a:t>
          </a:r>
          <a:endParaRPr lang="en-IN" sz="1800">
            <a:solidFill>
              <a:schemeClr val="bg1"/>
            </a:solidFill>
            <a:latin typeface="EYInterstate" panose="02000503020000020004" pitchFamily="2" charset="0"/>
          </a:endParaRPr>
        </a:p>
        <a:p>
          <a:r>
            <a:rPr lang="en-IN" sz="1800" b="1">
              <a:solidFill>
                <a:schemeClr val="bg1"/>
              </a:solidFill>
              <a:latin typeface="EYInterstate" panose="02000503020000020004" pitchFamily="2" charset="0"/>
            </a:rPr>
            <a:t>Compliance</a:t>
          </a:r>
          <a:endParaRPr lang="en-IN" sz="1800"/>
        </a:p>
      </dgm:t>
    </dgm:pt>
    <dgm:pt modelId="{742EBE8D-9B90-4D6A-B41D-FA57D07BBEDF}" type="parTrans" cxnId="{0E933D0C-D9AC-4782-BB36-5DD916710D0E}">
      <dgm:prSet/>
      <dgm:spPr/>
      <dgm:t>
        <a:bodyPr/>
        <a:lstStyle/>
        <a:p>
          <a:endParaRPr lang="en-IN"/>
        </a:p>
      </dgm:t>
    </dgm:pt>
    <dgm:pt modelId="{59AC12BE-5F56-4D06-BFFF-3903469BE088}" type="sibTrans" cxnId="{0E933D0C-D9AC-4782-BB36-5DD916710D0E}">
      <dgm:prSet/>
      <dgm:spPr/>
      <dgm:t>
        <a:bodyPr/>
        <a:lstStyle/>
        <a:p>
          <a:endParaRPr lang="en-IN"/>
        </a:p>
      </dgm:t>
    </dgm:pt>
    <dgm:pt modelId="{AEFDB9DF-D199-4DB0-BB37-0A15EC8C9A6B}">
      <dgm:prSet phldrT="[Text]" custT="1"/>
      <dgm:spPr/>
      <dgm:t>
        <a:bodyPr/>
        <a:lstStyle/>
        <a:p>
          <a:r>
            <a:rPr lang="en-IN" sz="1800" b="1" u="sng">
              <a:solidFill>
                <a:schemeClr val="bg1"/>
              </a:solidFill>
              <a:latin typeface="EYInterstate" panose="02000503020000020004" pitchFamily="2" charset="0"/>
            </a:rPr>
            <a:t>Challenges</a:t>
          </a:r>
        </a:p>
        <a:p>
          <a:r>
            <a:rPr lang="en-IN" sz="1800" b="1">
              <a:solidFill>
                <a:schemeClr val="bg1"/>
              </a:solidFill>
              <a:latin typeface="EYInterstate" panose="02000503020000020004" pitchFamily="2" charset="0"/>
            </a:rPr>
            <a:t>Lack of Flexibility</a:t>
          </a:r>
          <a:endParaRPr lang="en-IN" sz="1800">
            <a:solidFill>
              <a:schemeClr val="bg1"/>
            </a:solidFill>
            <a:latin typeface="EYInterstate" panose="02000503020000020004" pitchFamily="2" charset="0"/>
          </a:endParaRPr>
        </a:p>
        <a:p>
          <a:r>
            <a:rPr lang="en-IN" sz="1800" b="1">
              <a:solidFill>
                <a:schemeClr val="bg1"/>
              </a:solidFill>
              <a:latin typeface="EYInterstate" panose="02000503020000020004" pitchFamily="2" charset="0"/>
            </a:rPr>
            <a:t>Overburdened GPO</a:t>
          </a:r>
          <a:endParaRPr lang="en-IN" sz="1800"/>
        </a:p>
      </dgm:t>
    </dgm:pt>
    <dgm:pt modelId="{4A72413C-9233-4D23-9586-A833D65D2BDE}" type="parTrans" cxnId="{1862527B-92D7-43E4-958B-62D0C3C75031}">
      <dgm:prSet/>
      <dgm:spPr/>
      <dgm:t>
        <a:bodyPr/>
        <a:lstStyle/>
        <a:p>
          <a:endParaRPr lang="en-IN"/>
        </a:p>
      </dgm:t>
    </dgm:pt>
    <dgm:pt modelId="{3CEEE319-AC41-4322-87F4-D785B18DFBC6}" type="sibTrans" cxnId="{1862527B-92D7-43E4-958B-62D0C3C75031}">
      <dgm:prSet/>
      <dgm:spPr/>
      <dgm:t>
        <a:bodyPr/>
        <a:lstStyle/>
        <a:p>
          <a:endParaRPr lang="en-IN"/>
        </a:p>
      </dgm:t>
    </dgm:pt>
    <dgm:pt modelId="{D64066AD-9AD4-4C0D-B534-427B18B56782}" type="pres">
      <dgm:prSet presAssocID="{999AA65E-6771-4ADF-9A6C-A05C8774C5B7}" presName="Name0" presStyleCnt="0">
        <dgm:presLayoutVars>
          <dgm:chMax val="2"/>
          <dgm:chPref val="2"/>
          <dgm:dir/>
          <dgm:animOne/>
          <dgm:resizeHandles val="exact"/>
        </dgm:presLayoutVars>
      </dgm:prSet>
      <dgm:spPr/>
    </dgm:pt>
    <dgm:pt modelId="{95BAB643-E601-4096-B182-49215E7B8E3B}" type="pres">
      <dgm:prSet presAssocID="{999AA65E-6771-4ADF-9A6C-A05C8774C5B7}" presName="Background" presStyleLbl="bgImgPlace1" presStyleIdx="0" presStyleCnt="1" custLinFactNeighborX="-1431" custLinFactNeighborY="-1433"/>
      <dgm:spPr>
        <a:noFill/>
        <a:ln>
          <a:solidFill>
            <a:srgbClr val="FFE600"/>
          </a:solidFill>
        </a:ln>
      </dgm:spPr>
    </dgm:pt>
    <dgm:pt modelId="{85E459DB-EEED-49D8-9736-84EE16E49483}" type="pres">
      <dgm:prSet presAssocID="{999AA65E-6771-4ADF-9A6C-A05C8774C5B7}" presName="ParentText1" presStyleLbl="revTx" presStyleIdx="0" presStyleCnt="2">
        <dgm:presLayoutVars>
          <dgm:chMax val="0"/>
          <dgm:chPref val="0"/>
          <dgm:bulletEnabled val="1"/>
        </dgm:presLayoutVars>
      </dgm:prSet>
      <dgm:spPr/>
    </dgm:pt>
    <dgm:pt modelId="{9999BEE2-55BB-4BCF-8980-86CD1706B9C1}" type="pres">
      <dgm:prSet presAssocID="{999AA65E-6771-4ADF-9A6C-A05C8774C5B7}" presName="ParentText2" presStyleLbl="revTx" presStyleIdx="1" presStyleCnt="2">
        <dgm:presLayoutVars>
          <dgm:chMax val="0"/>
          <dgm:chPref val="0"/>
          <dgm:bulletEnabled val="1"/>
        </dgm:presLayoutVars>
      </dgm:prSet>
      <dgm:spPr/>
    </dgm:pt>
    <dgm:pt modelId="{E40088EE-ECE1-4C36-8161-82F1878DB3B3}" type="pres">
      <dgm:prSet presAssocID="{999AA65E-6771-4ADF-9A6C-A05C8774C5B7}" presName="Plus" presStyleLbl="alignNode1" presStyleIdx="0" presStyleCnt="2" custScaleX="63660" custScaleY="63634"/>
      <dgm:spPr>
        <a:solidFill>
          <a:srgbClr val="FFE600"/>
        </a:solidFill>
      </dgm:spPr>
    </dgm:pt>
    <dgm:pt modelId="{D6212E56-9A7F-43FB-B8FF-C5E6E5CB276F}" type="pres">
      <dgm:prSet presAssocID="{999AA65E-6771-4ADF-9A6C-A05C8774C5B7}" presName="Minus" presStyleLbl="alignNode1" presStyleIdx="1" presStyleCnt="2" custScaleX="49065" custScaleY="71897"/>
      <dgm:spPr>
        <a:solidFill>
          <a:srgbClr val="FFE600"/>
        </a:solidFill>
      </dgm:spPr>
    </dgm:pt>
    <dgm:pt modelId="{9854551D-883B-4623-943F-E8D847FFF544}" type="pres">
      <dgm:prSet presAssocID="{999AA65E-6771-4ADF-9A6C-A05C8774C5B7}" presName="Divider" presStyleLbl="parChTrans1D1" presStyleIdx="0" presStyleCnt="1" custLinFactX="-12800000" custLinFactNeighborX="-12832571" custLinFactNeighborY="-2674"/>
      <dgm:spPr>
        <a:ln>
          <a:solidFill>
            <a:srgbClr val="FFE600"/>
          </a:solidFill>
        </a:ln>
      </dgm:spPr>
    </dgm:pt>
  </dgm:ptLst>
  <dgm:cxnLst>
    <dgm:cxn modelId="{0E933D0C-D9AC-4782-BB36-5DD916710D0E}" srcId="{999AA65E-6771-4ADF-9A6C-A05C8774C5B7}" destId="{AC65DDE6-4C69-4B3B-ACD8-B72CFD499FD8}" srcOrd="0" destOrd="0" parTransId="{742EBE8D-9B90-4D6A-B41D-FA57D07BBEDF}" sibTransId="{59AC12BE-5F56-4D06-BFFF-3903469BE088}"/>
    <dgm:cxn modelId="{18AEC10E-987D-4C9A-AA86-6D3720F850DA}" type="presOf" srcId="{AEFDB9DF-D199-4DB0-BB37-0A15EC8C9A6B}" destId="{9999BEE2-55BB-4BCF-8980-86CD1706B9C1}" srcOrd="0" destOrd="0" presId="urn:microsoft.com/office/officeart/2009/3/layout/PlusandMinus"/>
    <dgm:cxn modelId="{1862527B-92D7-43E4-958B-62D0C3C75031}" srcId="{999AA65E-6771-4ADF-9A6C-A05C8774C5B7}" destId="{AEFDB9DF-D199-4DB0-BB37-0A15EC8C9A6B}" srcOrd="1" destOrd="0" parTransId="{4A72413C-9233-4D23-9586-A833D65D2BDE}" sibTransId="{3CEEE319-AC41-4322-87F4-D785B18DFBC6}"/>
    <dgm:cxn modelId="{D61166A2-F800-451D-80F8-FFC2FE136770}" type="presOf" srcId="{AC65DDE6-4C69-4B3B-ACD8-B72CFD499FD8}" destId="{85E459DB-EEED-49D8-9736-84EE16E49483}" srcOrd="0" destOrd="0" presId="urn:microsoft.com/office/officeart/2009/3/layout/PlusandMinus"/>
    <dgm:cxn modelId="{579D67DB-869D-4D44-8C45-E144E8A2EA50}" type="presOf" srcId="{999AA65E-6771-4ADF-9A6C-A05C8774C5B7}" destId="{D64066AD-9AD4-4C0D-B534-427B18B56782}" srcOrd="0" destOrd="0" presId="urn:microsoft.com/office/officeart/2009/3/layout/PlusandMinus"/>
    <dgm:cxn modelId="{79A12E87-07C6-46CA-96C5-F96B6A4DC1D5}" type="presParOf" srcId="{D64066AD-9AD4-4C0D-B534-427B18B56782}" destId="{95BAB643-E601-4096-B182-49215E7B8E3B}" srcOrd="0" destOrd="0" presId="urn:microsoft.com/office/officeart/2009/3/layout/PlusandMinus"/>
    <dgm:cxn modelId="{1A753A3B-D6DE-4A15-9B7B-A679D30FB639}" type="presParOf" srcId="{D64066AD-9AD4-4C0D-B534-427B18B56782}" destId="{85E459DB-EEED-49D8-9736-84EE16E49483}" srcOrd="1" destOrd="0" presId="urn:microsoft.com/office/officeart/2009/3/layout/PlusandMinus"/>
    <dgm:cxn modelId="{D352C2DE-E76F-4E2C-B058-ABDEF803E387}" type="presParOf" srcId="{D64066AD-9AD4-4C0D-B534-427B18B56782}" destId="{9999BEE2-55BB-4BCF-8980-86CD1706B9C1}" srcOrd="2" destOrd="0" presId="urn:microsoft.com/office/officeart/2009/3/layout/PlusandMinus"/>
    <dgm:cxn modelId="{3B0AB3B1-6CAE-4371-A077-42AA1128F939}" type="presParOf" srcId="{D64066AD-9AD4-4C0D-B534-427B18B56782}" destId="{E40088EE-ECE1-4C36-8161-82F1878DB3B3}" srcOrd="3" destOrd="0" presId="urn:microsoft.com/office/officeart/2009/3/layout/PlusandMinus"/>
    <dgm:cxn modelId="{A6B2782E-331E-4D73-8EB8-622DD2FFE59D}" type="presParOf" srcId="{D64066AD-9AD4-4C0D-B534-427B18B56782}" destId="{D6212E56-9A7F-43FB-B8FF-C5E6E5CB276F}" srcOrd="4" destOrd="0" presId="urn:microsoft.com/office/officeart/2009/3/layout/PlusandMinus"/>
    <dgm:cxn modelId="{88721C88-A417-4DB6-BAE7-FCDA406C50E3}" type="presParOf" srcId="{D64066AD-9AD4-4C0D-B534-427B18B56782}" destId="{9854551D-883B-4623-943F-E8D847FFF544}" srcOrd="5" destOrd="0" presId="urn:microsoft.com/office/officeart/2009/3/layout/PlusandMinu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999AA65E-6771-4ADF-9A6C-A05C8774C5B7}" type="doc">
      <dgm:prSet loTypeId="urn:microsoft.com/office/officeart/2009/3/layout/PlusandMinus" loCatId="relationship" qsTypeId="urn:microsoft.com/office/officeart/2005/8/quickstyle/simple1" qsCatId="simple" csTypeId="urn:microsoft.com/office/officeart/2005/8/colors/accent1_2" csCatId="accent1" phldr="1"/>
      <dgm:spPr/>
      <dgm:t>
        <a:bodyPr/>
        <a:lstStyle/>
        <a:p>
          <a:endParaRPr lang="en-IN"/>
        </a:p>
      </dgm:t>
    </dgm:pt>
    <dgm:pt modelId="{AC65DDE6-4C69-4B3B-ACD8-B72CFD499FD8}">
      <dgm:prSet phldrT="[Text]" custT="1"/>
      <dgm:spPr/>
      <dgm:t>
        <a:bodyPr/>
        <a:lstStyle/>
        <a:p>
          <a:r>
            <a:rPr lang="en-IN" sz="1800" b="1" u="sng">
              <a:solidFill>
                <a:schemeClr val="bg1"/>
              </a:solidFill>
              <a:latin typeface="EYInterstate" panose="02000503020000020004" pitchFamily="2" charset="0"/>
            </a:rPr>
            <a:t>Advantages</a:t>
          </a:r>
        </a:p>
        <a:p>
          <a:r>
            <a:rPr lang="en-IN" sz="1800" b="1">
              <a:solidFill>
                <a:schemeClr val="bg1"/>
              </a:solidFill>
              <a:latin typeface="EYInterstate" panose="02000503020000020004" pitchFamily="2" charset="0"/>
            </a:rPr>
            <a:t>Flexibility</a:t>
          </a:r>
          <a:endParaRPr lang="en-IN" sz="1800">
            <a:solidFill>
              <a:schemeClr val="bg1"/>
            </a:solidFill>
            <a:latin typeface="EYInterstate" panose="02000503020000020004" pitchFamily="2" charset="0"/>
          </a:endParaRPr>
        </a:p>
        <a:p>
          <a:pPr>
            <a:buFont typeface="+mj-lt"/>
            <a:buAutoNum type="arabicPeriod"/>
          </a:pPr>
          <a:r>
            <a:rPr lang="en-IN" sz="1800" b="1">
              <a:solidFill>
                <a:schemeClr val="bg1"/>
              </a:solidFill>
              <a:latin typeface="EYInterstate" panose="02000503020000020004" pitchFamily="2" charset="0"/>
            </a:rPr>
            <a:t>Empowerment</a:t>
          </a:r>
          <a:r>
            <a:rPr lang="en-IN" sz="1800">
              <a:solidFill>
                <a:schemeClr val="bg1"/>
              </a:solidFill>
              <a:latin typeface="EYInterstate" panose="02000503020000020004" pitchFamily="2" charset="0"/>
            </a:rPr>
            <a:t> </a:t>
          </a:r>
        </a:p>
        <a:p>
          <a:pPr>
            <a:buFont typeface="+mj-lt"/>
            <a:buAutoNum type="arabicPeriod"/>
          </a:pPr>
          <a:r>
            <a:rPr lang="en-IN" sz="1800" b="1">
              <a:solidFill>
                <a:schemeClr val="bg1"/>
              </a:solidFill>
              <a:latin typeface="EYInterstate" panose="02000503020000020004" pitchFamily="2" charset="0"/>
            </a:rPr>
            <a:t>Scalability</a:t>
          </a:r>
          <a:r>
            <a:rPr lang="en-IN" sz="1800"/>
            <a:t>: </a:t>
          </a:r>
        </a:p>
        <a:p>
          <a:pPr>
            <a:buFont typeface="+mj-lt"/>
            <a:buAutoNum type="arabicPeriod"/>
          </a:pPr>
          <a:endParaRPr lang="en-IN" sz="1800"/>
        </a:p>
      </dgm:t>
    </dgm:pt>
    <dgm:pt modelId="{742EBE8D-9B90-4D6A-B41D-FA57D07BBEDF}" type="parTrans" cxnId="{0E933D0C-D9AC-4782-BB36-5DD916710D0E}">
      <dgm:prSet/>
      <dgm:spPr/>
      <dgm:t>
        <a:bodyPr/>
        <a:lstStyle/>
        <a:p>
          <a:endParaRPr lang="en-IN"/>
        </a:p>
      </dgm:t>
    </dgm:pt>
    <dgm:pt modelId="{59AC12BE-5F56-4D06-BFFF-3903469BE088}" type="sibTrans" cxnId="{0E933D0C-D9AC-4782-BB36-5DD916710D0E}">
      <dgm:prSet/>
      <dgm:spPr/>
      <dgm:t>
        <a:bodyPr/>
        <a:lstStyle/>
        <a:p>
          <a:endParaRPr lang="en-IN"/>
        </a:p>
      </dgm:t>
    </dgm:pt>
    <dgm:pt modelId="{AEFDB9DF-D199-4DB0-BB37-0A15EC8C9A6B}">
      <dgm:prSet phldrT="[Text]" custT="1"/>
      <dgm:spPr/>
      <dgm:t>
        <a:bodyPr/>
        <a:lstStyle/>
        <a:p>
          <a:pPr algn="l"/>
          <a:r>
            <a:rPr lang="en-IN" sz="1800" b="1" u="sng">
              <a:solidFill>
                <a:schemeClr val="bg1"/>
              </a:solidFill>
              <a:latin typeface="EYInterstate" panose="02000503020000020004" pitchFamily="2" charset="0"/>
            </a:rPr>
            <a:t>Challenges</a:t>
          </a:r>
        </a:p>
        <a:p>
          <a:pPr algn="l"/>
          <a:r>
            <a:rPr lang="en-IN" sz="1800" b="1">
              <a:solidFill>
                <a:schemeClr val="bg1"/>
              </a:solidFill>
              <a:latin typeface="EYInterstate" panose="02000503020000020004" pitchFamily="2" charset="0"/>
            </a:rPr>
            <a:t>Inconsistency</a:t>
          </a:r>
          <a:endParaRPr lang="en-IN" sz="1800">
            <a:solidFill>
              <a:schemeClr val="bg1"/>
            </a:solidFill>
            <a:latin typeface="EYInterstate" panose="02000503020000020004" pitchFamily="2" charset="0"/>
          </a:endParaRPr>
        </a:p>
        <a:p>
          <a:pPr algn="l">
            <a:buFont typeface="+mj-lt"/>
            <a:buAutoNum type="arabicPeriod"/>
          </a:pPr>
          <a:r>
            <a:rPr lang="en-IN" sz="1800" b="1">
              <a:solidFill>
                <a:schemeClr val="bg1"/>
              </a:solidFill>
              <a:latin typeface="EYInterstate" panose="02000503020000020004" pitchFamily="2" charset="0"/>
            </a:rPr>
            <a:t>Complexity</a:t>
          </a:r>
          <a:endParaRPr lang="en-IN" sz="1800">
            <a:solidFill>
              <a:schemeClr val="bg1"/>
            </a:solidFill>
            <a:latin typeface="EYInterstate" panose="02000503020000020004" pitchFamily="2" charset="0"/>
          </a:endParaRPr>
        </a:p>
      </dgm:t>
    </dgm:pt>
    <dgm:pt modelId="{4A72413C-9233-4D23-9586-A833D65D2BDE}" type="parTrans" cxnId="{1862527B-92D7-43E4-958B-62D0C3C75031}">
      <dgm:prSet/>
      <dgm:spPr/>
      <dgm:t>
        <a:bodyPr/>
        <a:lstStyle/>
        <a:p>
          <a:endParaRPr lang="en-IN"/>
        </a:p>
      </dgm:t>
    </dgm:pt>
    <dgm:pt modelId="{3CEEE319-AC41-4322-87F4-D785B18DFBC6}" type="sibTrans" cxnId="{1862527B-92D7-43E4-958B-62D0C3C75031}">
      <dgm:prSet/>
      <dgm:spPr/>
      <dgm:t>
        <a:bodyPr/>
        <a:lstStyle/>
        <a:p>
          <a:endParaRPr lang="en-IN"/>
        </a:p>
      </dgm:t>
    </dgm:pt>
    <dgm:pt modelId="{D64066AD-9AD4-4C0D-B534-427B18B56782}" type="pres">
      <dgm:prSet presAssocID="{999AA65E-6771-4ADF-9A6C-A05C8774C5B7}" presName="Name0" presStyleCnt="0">
        <dgm:presLayoutVars>
          <dgm:chMax val="2"/>
          <dgm:chPref val="2"/>
          <dgm:dir/>
          <dgm:animOne/>
          <dgm:resizeHandles val="exact"/>
        </dgm:presLayoutVars>
      </dgm:prSet>
      <dgm:spPr/>
    </dgm:pt>
    <dgm:pt modelId="{95BAB643-E601-4096-B182-49215E7B8E3B}" type="pres">
      <dgm:prSet presAssocID="{999AA65E-6771-4ADF-9A6C-A05C8774C5B7}" presName="Background" presStyleLbl="bgImgPlace1" presStyleIdx="0" presStyleCnt="1" custLinFactNeighborX="-1431" custLinFactNeighborY="-1433"/>
      <dgm:spPr>
        <a:noFill/>
        <a:ln>
          <a:solidFill>
            <a:srgbClr val="FFE600"/>
          </a:solidFill>
        </a:ln>
      </dgm:spPr>
    </dgm:pt>
    <dgm:pt modelId="{85E459DB-EEED-49D8-9736-84EE16E49483}" type="pres">
      <dgm:prSet presAssocID="{999AA65E-6771-4ADF-9A6C-A05C8774C5B7}" presName="ParentText1" presStyleLbl="revTx" presStyleIdx="0" presStyleCnt="2">
        <dgm:presLayoutVars>
          <dgm:chMax val="0"/>
          <dgm:chPref val="0"/>
          <dgm:bulletEnabled val="1"/>
        </dgm:presLayoutVars>
      </dgm:prSet>
      <dgm:spPr/>
    </dgm:pt>
    <dgm:pt modelId="{9999BEE2-55BB-4BCF-8980-86CD1706B9C1}" type="pres">
      <dgm:prSet presAssocID="{999AA65E-6771-4ADF-9A6C-A05C8774C5B7}" presName="ParentText2" presStyleLbl="revTx" presStyleIdx="1" presStyleCnt="2">
        <dgm:presLayoutVars>
          <dgm:chMax val="0"/>
          <dgm:chPref val="0"/>
          <dgm:bulletEnabled val="1"/>
        </dgm:presLayoutVars>
      </dgm:prSet>
      <dgm:spPr/>
    </dgm:pt>
    <dgm:pt modelId="{E40088EE-ECE1-4C36-8161-82F1878DB3B3}" type="pres">
      <dgm:prSet presAssocID="{999AA65E-6771-4ADF-9A6C-A05C8774C5B7}" presName="Plus" presStyleLbl="alignNode1" presStyleIdx="0" presStyleCnt="2" custScaleX="63660" custScaleY="63634"/>
      <dgm:spPr>
        <a:solidFill>
          <a:srgbClr val="FFE600"/>
        </a:solidFill>
      </dgm:spPr>
    </dgm:pt>
    <dgm:pt modelId="{D6212E56-9A7F-43FB-B8FF-C5E6E5CB276F}" type="pres">
      <dgm:prSet presAssocID="{999AA65E-6771-4ADF-9A6C-A05C8774C5B7}" presName="Minus" presStyleLbl="alignNode1" presStyleIdx="1" presStyleCnt="2" custScaleX="49065" custScaleY="71897"/>
      <dgm:spPr>
        <a:solidFill>
          <a:srgbClr val="FFE600"/>
        </a:solidFill>
      </dgm:spPr>
    </dgm:pt>
    <dgm:pt modelId="{9854551D-883B-4623-943F-E8D847FFF544}" type="pres">
      <dgm:prSet presAssocID="{999AA65E-6771-4ADF-9A6C-A05C8774C5B7}" presName="Divider" presStyleLbl="parChTrans1D1" presStyleIdx="0" presStyleCnt="1" custLinFactX="-16778544" custLinFactNeighborX="-16800000" custLinFactNeighborY="-1866"/>
      <dgm:spPr>
        <a:ln>
          <a:solidFill>
            <a:srgbClr val="FFE600"/>
          </a:solidFill>
        </a:ln>
      </dgm:spPr>
    </dgm:pt>
  </dgm:ptLst>
  <dgm:cxnLst>
    <dgm:cxn modelId="{0E933D0C-D9AC-4782-BB36-5DD916710D0E}" srcId="{999AA65E-6771-4ADF-9A6C-A05C8774C5B7}" destId="{AC65DDE6-4C69-4B3B-ACD8-B72CFD499FD8}" srcOrd="0" destOrd="0" parTransId="{742EBE8D-9B90-4D6A-B41D-FA57D07BBEDF}" sibTransId="{59AC12BE-5F56-4D06-BFFF-3903469BE088}"/>
    <dgm:cxn modelId="{18AEC10E-987D-4C9A-AA86-6D3720F850DA}" type="presOf" srcId="{AEFDB9DF-D199-4DB0-BB37-0A15EC8C9A6B}" destId="{9999BEE2-55BB-4BCF-8980-86CD1706B9C1}" srcOrd="0" destOrd="0" presId="urn:microsoft.com/office/officeart/2009/3/layout/PlusandMinus"/>
    <dgm:cxn modelId="{1862527B-92D7-43E4-958B-62D0C3C75031}" srcId="{999AA65E-6771-4ADF-9A6C-A05C8774C5B7}" destId="{AEFDB9DF-D199-4DB0-BB37-0A15EC8C9A6B}" srcOrd="1" destOrd="0" parTransId="{4A72413C-9233-4D23-9586-A833D65D2BDE}" sibTransId="{3CEEE319-AC41-4322-87F4-D785B18DFBC6}"/>
    <dgm:cxn modelId="{D61166A2-F800-451D-80F8-FFC2FE136770}" type="presOf" srcId="{AC65DDE6-4C69-4B3B-ACD8-B72CFD499FD8}" destId="{85E459DB-EEED-49D8-9736-84EE16E49483}" srcOrd="0" destOrd="0" presId="urn:microsoft.com/office/officeart/2009/3/layout/PlusandMinus"/>
    <dgm:cxn modelId="{579D67DB-869D-4D44-8C45-E144E8A2EA50}" type="presOf" srcId="{999AA65E-6771-4ADF-9A6C-A05C8774C5B7}" destId="{D64066AD-9AD4-4C0D-B534-427B18B56782}" srcOrd="0" destOrd="0" presId="urn:microsoft.com/office/officeart/2009/3/layout/PlusandMinus"/>
    <dgm:cxn modelId="{79A12E87-07C6-46CA-96C5-F96B6A4DC1D5}" type="presParOf" srcId="{D64066AD-9AD4-4C0D-B534-427B18B56782}" destId="{95BAB643-E601-4096-B182-49215E7B8E3B}" srcOrd="0" destOrd="0" presId="urn:microsoft.com/office/officeart/2009/3/layout/PlusandMinus"/>
    <dgm:cxn modelId="{1A753A3B-D6DE-4A15-9B7B-A679D30FB639}" type="presParOf" srcId="{D64066AD-9AD4-4C0D-B534-427B18B56782}" destId="{85E459DB-EEED-49D8-9736-84EE16E49483}" srcOrd="1" destOrd="0" presId="urn:microsoft.com/office/officeart/2009/3/layout/PlusandMinus"/>
    <dgm:cxn modelId="{D352C2DE-E76F-4E2C-B058-ABDEF803E387}" type="presParOf" srcId="{D64066AD-9AD4-4C0D-B534-427B18B56782}" destId="{9999BEE2-55BB-4BCF-8980-86CD1706B9C1}" srcOrd="2" destOrd="0" presId="urn:microsoft.com/office/officeart/2009/3/layout/PlusandMinus"/>
    <dgm:cxn modelId="{3B0AB3B1-6CAE-4371-A077-42AA1128F939}" type="presParOf" srcId="{D64066AD-9AD4-4C0D-B534-427B18B56782}" destId="{E40088EE-ECE1-4C36-8161-82F1878DB3B3}" srcOrd="3" destOrd="0" presId="urn:microsoft.com/office/officeart/2009/3/layout/PlusandMinus"/>
    <dgm:cxn modelId="{A6B2782E-331E-4D73-8EB8-622DD2FFE59D}" type="presParOf" srcId="{D64066AD-9AD4-4C0D-B534-427B18B56782}" destId="{D6212E56-9A7F-43FB-B8FF-C5E6E5CB276F}" srcOrd="4" destOrd="0" presId="urn:microsoft.com/office/officeart/2009/3/layout/PlusandMinus"/>
    <dgm:cxn modelId="{88721C88-A417-4DB6-BAE7-FCDA406C50E3}" type="presParOf" srcId="{D64066AD-9AD4-4C0D-B534-427B18B56782}" destId="{9854551D-883B-4623-943F-E8D847FFF544}" srcOrd="5" destOrd="0" presId="urn:microsoft.com/office/officeart/2009/3/layout/PlusandMinus"/>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C8F29645-219C-44FA-9EEC-DAD3BC7485B0}" type="doc">
      <dgm:prSet loTypeId="urn:microsoft.com/office/officeart/2005/8/layout/process1" loCatId="process" qsTypeId="urn:microsoft.com/office/officeart/2005/8/quickstyle/simple1" qsCatId="simple" csTypeId="urn:microsoft.com/office/officeart/2005/8/colors/accent0_3" csCatId="mainScheme" phldr="1"/>
      <dgm:spPr/>
    </dgm:pt>
    <dgm:pt modelId="{D88ED731-D607-4AF7-B40B-A9BD6023B1B6}" type="pres">
      <dgm:prSet presAssocID="{C8F29645-219C-44FA-9EEC-DAD3BC7485B0}" presName="Name0" presStyleCnt="0">
        <dgm:presLayoutVars>
          <dgm:dir/>
          <dgm:resizeHandles val="exact"/>
        </dgm:presLayoutVars>
      </dgm:prSet>
      <dgm:spPr/>
    </dgm:pt>
  </dgm:ptLst>
  <dgm:cxnLst>
    <dgm:cxn modelId="{F46283AF-8A6F-4DE2-80AD-1FA999083017}" type="presOf" srcId="{C8F29645-219C-44FA-9EEC-DAD3BC7485B0}" destId="{D88ED731-D607-4AF7-B40B-A9BD6023B1B6}" srcOrd="0"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9AEDFF44-9DC0-4E96-8310-2AA5D6543CEE}" type="doc">
      <dgm:prSet loTypeId="urn:microsoft.com/office/officeart/2011/layout/HexagonRadial" loCatId="cycle" qsTypeId="urn:microsoft.com/office/officeart/2005/8/quickstyle/3d2" qsCatId="3D" csTypeId="urn:microsoft.com/office/officeart/2005/8/colors/accent0_3" csCatId="mainScheme" phldr="1"/>
      <dgm:spPr/>
      <dgm:t>
        <a:bodyPr/>
        <a:lstStyle/>
        <a:p>
          <a:endParaRPr lang="de-CH"/>
        </a:p>
      </dgm:t>
    </dgm:pt>
    <dgm:pt modelId="{3E33D2A2-D2CF-49BC-973F-28866512959B}">
      <dgm:prSet phldrT="[Text]" custT="1"/>
      <dgm:spPr>
        <a:solidFill>
          <a:srgbClr val="FFE600"/>
        </a:solidFill>
      </dgm:spPr>
      <dgm:t>
        <a:bodyPr/>
        <a:lstStyle/>
        <a:p>
          <a:r>
            <a:rPr lang="pl-PL" sz="1400" b="1">
              <a:solidFill>
                <a:schemeClr val="bg2"/>
              </a:solidFill>
            </a:rPr>
            <a:t>RECORD TO REPORT OPERATING MODEL</a:t>
          </a:r>
          <a:endParaRPr lang="de-CH" sz="1400" b="1">
            <a:solidFill>
              <a:schemeClr val="bg2"/>
            </a:solidFill>
          </a:endParaRPr>
        </a:p>
      </dgm:t>
    </dgm:pt>
    <dgm:pt modelId="{E864D731-ECB2-4BCD-A726-111D549B7E77}" type="parTrans" cxnId="{A53E06FB-F0AE-468A-851B-963923ECB52A}">
      <dgm:prSet/>
      <dgm:spPr/>
      <dgm:t>
        <a:bodyPr/>
        <a:lstStyle/>
        <a:p>
          <a:endParaRPr lang="de-CH"/>
        </a:p>
      </dgm:t>
    </dgm:pt>
    <dgm:pt modelId="{09BD9E0C-4CFC-4B8E-857A-1A1A53454D13}" type="sibTrans" cxnId="{A53E06FB-F0AE-468A-851B-963923ECB52A}">
      <dgm:prSet/>
      <dgm:spPr/>
      <dgm:t>
        <a:bodyPr/>
        <a:lstStyle/>
        <a:p>
          <a:endParaRPr lang="de-CH"/>
        </a:p>
      </dgm:t>
    </dgm:pt>
    <dgm:pt modelId="{57E1B9EC-9073-4FCA-8584-502C415491B0}">
      <dgm:prSet phldrT="[Text]" custT="1"/>
      <dgm:spPr>
        <a:solidFill>
          <a:schemeClr val="bg1">
            <a:lumMod val="95000"/>
          </a:schemeClr>
        </a:solidFill>
      </dgm:spPr>
      <dgm:t>
        <a:bodyPr/>
        <a:lstStyle/>
        <a:p>
          <a:r>
            <a:rPr lang="en-US" sz="1100" b="1" noProof="0">
              <a:solidFill>
                <a:schemeClr val="bg2">
                  <a:lumMod val="100000"/>
                </a:schemeClr>
              </a:solidFill>
            </a:rPr>
            <a:t>Organizational structure</a:t>
          </a:r>
        </a:p>
      </dgm:t>
    </dgm:pt>
    <dgm:pt modelId="{63437EC5-C67F-4037-B863-F1F2B65D12DD}" type="parTrans" cxnId="{43267089-85B7-4CCF-BEBF-13964FCB76D8}">
      <dgm:prSet/>
      <dgm:spPr/>
      <dgm:t>
        <a:bodyPr/>
        <a:lstStyle/>
        <a:p>
          <a:endParaRPr lang="de-CH"/>
        </a:p>
      </dgm:t>
    </dgm:pt>
    <dgm:pt modelId="{4EF8EFC0-EBA3-449A-8E52-173EB70D1F42}" type="sibTrans" cxnId="{43267089-85B7-4CCF-BEBF-13964FCB76D8}">
      <dgm:prSet/>
      <dgm:spPr/>
      <dgm:t>
        <a:bodyPr/>
        <a:lstStyle/>
        <a:p>
          <a:endParaRPr lang="de-CH"/>
        </a:p>
      </dgm:t>
    </dgm:pt>
    <dgm:pt modelId="{935CB945-B5A1-4503-9B0F-B310FE0A2246}">
      <dgm:prSet phldrT="[Text]" custT="1"/>
      <dgm:spPr>
        <a:solidFill>
          <a:schemeClr val="bg1">
            <a:lumMod val="95000"/>
          </a:schemeClr>
        </a:solidFill>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US" sz="1100" b="1" kern="1200" noProof="0">
              <a:solidFill>
                <a:schemeClr val="bg2">
                  <a:lumMod val="100000"/>
                </a:schemeClr>
              </a:solidFill>
              <a:latin typeface="EYInterstate Light"/>
              <a:ea typeface="+mn-ea"/>
              <a:cs typeface="+mn-cs"/>
            </a:rPr>
            <a:t>Process design</a:t>
          </a:r>
        </a:p>
      </dgm:t>
    </dgm:pt>
    <dgm:pt modelId="{5EEF8973-B7B1-4454-8C03-A3A37ABBC907}" type="parTrans" cxnId="{5BA585CE-1ACB-417C-BD93-A22BA631B73F}">
      <dgm:prSet/>
      <dgm:spPr/>
      <dgm:t>
        <a:bodyPr/>
        <a:lstStyle/>
        <a:p>
          <a:endParaRPr lang="de-CH"/>
        </a:p>
      </dgm:t>
    </dgm:pt>
    <dgm:pt modelId="{F49386FF-3F80-4723-B115-2513CC808B57}" type="sibTrans" cxnId="{5BA585CE-1ACB-417C-BD93-A22BA631B73F}">
      <dgm:prSet/>
      <dgm:spPr/>
      <dgm:t>
        <a:bodyPr/>
        <a:lstStyle/>
        <a:p>
          <a:endParaRPr lang="de-CH"/>
        </a:p>
      </dgm:t>
    </dgm:pt>
    <dgm:pt modelId="{5D009C94-21DB-49FE-8CEA-8FBCF7656CC0}">
      <dgm:prSet phldrT="[Text]" custT="1"/>
      <dgm:spPr>
        <a:solidFill>
          <a:schemeClr val="bg1">
            <a:lumMod val="95000"/>
          </a:schemeClr>
        </a:solidFill>
      </dgm:spPr>
      <dgm:t>
        <a:bodyPr spcFirstLastPara="0" vert="horz" wrap="square" lIns="19050" tIns="19050" rIns="19050" bIns="19050" numCol="1" spcCol="1270" anchor="ctr" anchorCtr="0"/>
        <a:lstStyle/>
        <a:p>
          <a:r>
            <a:rPr lang="en-US" sz="1100" b="1" kern="1200" noProof="0">
              <a:solidFill>
                <a:schemeClr val="bg2">
                  <a:lumMod val="100000"/>
                </a:schemeClr>
              </a:solidFill>
              <a:latin typeface="EYInterstate Light"/>
              <a:ea typeface="+mn-ea"/>
              <a:cs typeface="+mn-cs"/>
            </a:rPr>
            <a:t>Technology infrastructure</a:t>
          </a:r>
        </a:p>
      </dgm:t>
    </dgm:pt>
    <dgm:pt modelId="{B2CC0DEE-A892-4285-AF2F-657B34716910}" type="parTrans" cxnId="{1A789E17-5E1C-459C-81BA-5097DA69A5E4}">
      <dgm:prSet/>
      <dgm:spPr/>
      <dgm:t>
        <a:bodyPr/>
        <a:lstStyle/>
        <a:p>
          <a:endParaRPr lang="de-CH"/>
        </a:p>
      </dgm:t>
    </dgm:pt>
    <dgm:pt modelId="{2A0C8698-0203-4E77-807E-10BDDB0C5AA3}" type="sibTrans" cxnId="{1A789E17-5E1C-459C-81BA-5097DA69A5E4}">
      <dgm:prSet/>
      <dgm:spPr/>
      <dgm:t>
        <a:bodyPr/>
        <a:lstStyle/>
        <a:p>
          <a:endParaRPr lang="de-CH"/>
        </a:p>
      </dgm:t>
    </dgm:pt>
    <dgm:pt modelId="{B7D910AA-F331-4C17-82CC-D9558A884F9A}">
      <dgm:prSet phldrT="[Text]" custT="1"/>
      <dgm:spPr>
        <a:solidFill>
          <a:prstClr val="white">
            <a:lumMod val="95000"/>
          </a:prst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pl-PL" sz="1100" b="1" kern="1200" noProof="0">
              <a:solidFill>
                <a:srgbClr val="000000">
                  <a:lumMod val="100000"/>
                </a:srgbClr>
              </a:solidFill>
              <a:latin typeface="EYInterstate Light"/>
              <a:ea typeface="+mn-ea"/>
              <a:cs typeface="+mn-cs"/>
            </a:rPr>
            <a:t>Data management</a:t>
          </a:r>
          <a:endParaRPr lang="en-US" sz="1100" b="1" kern="1200" noProof="0">
            <a:solidFill>
              <a:srgbClr val="000000">
                <a:lumMod val="100000"/>
              </a:srgbClr>
            </a:solidFill>
            <a:latin typeface="EYInterstate Light"/>
            <a:ea typeface="+mn-ea"/>
            <a:cs typeface="+mn-cs"/>
          </a:endParaRPr>
        </a:p>
      </dgm:t>
    </dgm:pt>
    <dgm:pt modelId="{ECFA820E-A2C9-4D97-86DE-604938411510}" type="parTrans" cxnId="{29A82BBA-27F4-4C8B-9EB6-C989376D2F92}">
      <dgm:prSet/>
      <dgm:spPr/>
      <dgm:t>
        <a:bodyPr/>
        <a:lstStyle/>
        <a:p>
          <a:endParaRPr lang="de-CH"/>
        </a:p>
      </dgm:t>
    </dgm:pt>
    <dgm:pt modelId="{FCEA129A-0170-4E36-9D2D-CA5E800751C1}" type="sibTrans" cxnId="{29A82BBA-27F4-4C8B-9EB6-C989376D2F92}">
      <dgm:prSet/>
      <dgm:spPr/>
      <dgm:t>
        <a:bodyPr/>
        <a:lstStyle/>
        <a:p>
          <a:endParaRPr lang="de-CH"/>
        </a:p>
      </dgm:t>
    </dgm:pt>
    <dgm:pt modelId="{CA1E5151-CC35-42EC-963A-967138E8D76B}">
      <dgm:prSet phldrT="[Text]" custT="1"/>
      <dgm:spPr>
        <a:solidFill>
          <a:prstClr val="white">
            <a:lumMod val="95000"/>
          </a:prst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US" sz="1100" b="1" kern="1200" noProof="0">
              <a:solidFill>
                <a:srgbClr val="000000">
                  <a:lumMod val="100000"/>
                </a:srgbClr>
              </a:solidFill>
              <a:latin typeface="EYInterstate Light"/>
              <a:ea typeface="+mn-ea"/>
              <a:cs typeface="+mn-cs"/>
            </a:rPr>
            <a:t>Continuous improvement </a:t>
          </a:r>
        </a:p>
      </dgm:t>
    </dgm:pt>
    <dgm:pt modelId="{8024E010-FB5A-44A8-9B39-ED1195B170A3}" type="parTrans" cxnId="{44020ACD-AC7C-4EF5-9863-706FA573B1F7}">
      <dgm:prSet/>
      <dgm:spPr/>
      <dgm:t>
        <a:bodyPr/>
        <a:lstStyle/>
        <a:p>
          <a:endParaRPr lang="de-CH"/>
        </a:p>
      </dgm:t>
    </dgm:pt>
    <dgm:pt modelId="{72A2999A-6F46-41EE-9E0A-7BE1F40C54F7}" type="sibTrans" cxnId="{44020ACD-AC7C-4EF5-9863-706FA573B1F7}">
      <dgm:prSet/>
      <dgm:spPr/>
      <dgm:t>
        <a:bodyPr/>
        <a:lstStyle/>
        <a:p>
          <a:endParaRPr lang="de-CH"/>
        </a:p>
      </dgm:t>
    </dgm:pt>
    <dgm:pt modelId="{0C6E5648-3F80-4405-AF0D-0602531FA4B4}">
      <dgm:prSet phldrT="[Text]" custT="1"/>
      <dgm:spPr>
        <a:solidFill>
          <a:prstClr val="white">
            <a:lumMod val="95000"/>
          </a:prst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gm:spPr>
      <dgm:t>
        <a:bodyPr spcFirstLastPara="0" vert="horz" wrap="square" lIns="19050" tIns="19050" rIns="19050" bIns="19050" numCol="1" spcCol="1270" anchor="ctr" anchorCtr="0"/>
        <a:lstStyle/>
        <a:p>
          <a:pPr marL="0" lvl="0" indent="0" algn="ctr" defTabSz="666750">
            <a:lnSpc>
              <a:spcPct val="90000"/>
            </a:lnSpc>
            <a:spcBef>
              <a:spcPct val="0"/>
            </a:spcBef>
            <a:spcAft>
              <a:spcPct val="35000"/>
            </a:spcAft>
            <a:buNone/>
          </a:pPr>
          <a:r>
            <a:rPr lang="en-US" sz="1100" b="1" kern="1200" noProof="0">
              <a:solidFill>
                <a:srgbClr val="000000">
                  <a:lumMod val="100000"/>
                </a:srgbClr>
              </a:solidFill>
              <a:latin typeface="EYInterstate Light"/>
              <a:ea typeface="+mn-ea"/>
              <a:cs typeface="+mn-cs"/>
            </a:rPr>
            <a:t>Governance and control</a:t>
          </a:r>
        </a:p>
      </dgm:t>
    </dgm:pt>
    <dgm:pt modelId="{3FAE77AC-9036-4CC5-9839-49FBB79D2E79}" type="parTrans" cxnId="{77752647-2657-4371-AD88-0EFE8E5ACAD6}">
      <dgm:prSet/>
      <dgm:spPr/>
      <dgm:t>
        <a:bodyPr/>
        <a:lstStyle/>
        <a:p>
          <a:endParaRPr lang="de-CH"/>
        </a:p>
      </dgm:t>
    </dgm:pt>
    <dgm:pt modelId="{1F3DF00F-4879-44E7-9C3D-14F407DC58FB}" type="sibTrans" cxnId="{77752647-2657-4371-AD88-0EFE8E5ACAD6}">
      <dgm:prSet/>
      <dgm:spPr/>
      <dgm:t>
        <a:bodyPr/>
        <a:lstStyle/>
        <a:p>
          <a:endParaRPr lang="de-CH"/>
        </a:p>
      </dgm:t>
    </dgm:pt>
    <dgm:pt modelId="{D419F87E-9812-4AE7-8445-C8D945854420}" type="pres">
      <dgm:prSet presAssocID="{9AEDFF44-9DC0-4E96-8310-2AA5D6543CEE}" presName="Name0" presStyleCnt="0">
        <dgm:presLayoutVars>
          <dgm:chMax val="1"/>
          <dgm:chPref val="1"/>
          <dgm:dir/>
          <dgm:animOne val="branch"/>
          <dgm:animLvl val="lvl"/>
        </dgm:presLayoutVars>
      </dgm:prSet>
      <dgm:spPr/>
    </dgm:pt>
    <dgm:pt modelId="{BF562C0E-CB97-4B5A-9145-235B96EBFBA6}" type="pres">
      <dgm:prSet presAssocID="{3E33D2A2-D2CF-49BC-973F-28866512959B}" presName="Parent" presStyleLbl="node0" presStyleIdx="0" presStyleCnt="1">
        <dgm:presLayoutVars>
          <dgm:chMax val="6"/>
          <dgm:chPref val="6"/>
        </dgm:presLayoutVars>
      </dgm:prSet>
      <dgm:spPr/>
    </dgm:pt>
    <dgm:pt modelId="{D904D307-709F-4D25-92F8-03EA1B0B3D52}" type="pres">
      <dgm:prSet presAssocID="{57E1B9EC-9073-4FCA-8584-502C415491B0}" presName="Accent1" presStyleCnt="0"/>
      <dgm:spPr/>
    </dgm:pt>
    <dgm:pt modelId="{A2DB611A-F7D6-45E1-9C1B-09627628951F}" type="pres">
      <dgm:prSet presAssocID="{57E1B9EC-9073-4FCA-8584-502C415491B0}" presName="Accent" presStyleLbl="bgShp" presStyleIdx="0" presStyleCnt="6"/>
      <dgm:spPr/>
    </dgm:pt>
    <dgm:pt modelId="{0272B16A-CA34-4D82-B445-CC9E5A5275D3}" type="pres">
      <dgm:prSet presAssocID="{57E1B9EC-9073-4FCA-8584-502C415491B0}" presName="Child1" presStyleLbl="node1" presStyleIdx="0" presStyleCnt="6">
        <dgm:presLayoutVars>
          <dgm:chMax val="0"/>
          <dgm:chPref val="0"/>
          <dgm:bulletEnabled val="1"/>
        </dgm:presLayoutVars>
      </dgm:prSet>
      <dgm:spPr/>
    </dgm:pt>
    <dgm:pt modelId="{B72603FC-725C-4995-9707-19DA9B5CC859}" type="pres">
      <dgm:prSet presAssocID="{935CB945-B5A1-4503-9B0F-B310FE0A2246}" presName="Accent2" presStyleCnt="0"/>
      <dgm:spPr/>
    </dgm:pt>
    <dgm:pt modelId="{BE608403-349E-4081-B2CB-596E47F9DD3B}" type="pres">
      <dgm:prSet presAssocID="{935CB945-B5A1-4503-9B0F-B310FE0A2246}" presName="Accent" presStyleLbl="bgShp" presStyleIdx="1" presStyleCnt="6"/>
      <dgm:spPr>
        <a:solidFill>
          <a:srgbClr val="FFE600"/>
        </a:solidFill>
      </dgm:spPr>
    </dgm:pt>
    <dgm:pt modelId="{D9C2CAEE-1229-46A1-9DEB-E20178AFB1D3}" type="pres">
      <dgm:prSet presAssocID="{935CB945-B5A1-4503-9B0F-B310FE0A2246}" presName="Child2" presStyleLbl="node1" presStyleIdx="1" presStyleCnt="6">
        <dgm:presLayoutVars>
          <dgm:chMax val="0"/>
          <dgm:chPref val="0"/>
          <dgm:bulletEnabled val="1"/>
        </dgm:presLayoutVars>
      </dgm:prSet>
      <dgm:spPr/>
    </dgm:pt>
    <dgm:pt modelId="{8D9D1EBA-7013-4FEA-8B16-4DBFED69CF99}" type="pres">
      <dgm:prSet presAssocID="{5D009C94-21DB-49FE-8CEA-8FBCF7656CC0}" presName="Accent3" presStyleCnt="0"/>
      <dgm:spPr/>
    </dgm:pt>
    <dgm:pt modelId="{75B44EE0-2A5A-42C7-9613-919B89661AD7}" type="pres">
      <dgm:prSet presAssocID="{5D009C94-21DB-49FE-8CEA-8FBCF7656CC0}" presName="Accent" presStyleLbl="bgShp" presStyleIdx="2" presStyleCnt="6"/>
      <dgm:spPr>
        <a:solidFill>
          <a:srgbClr val="FFE600"/>
        </a:solidFill>
      </dgm:spPr>
    </dgm:pt>
    <dgm:pt modelId="{58CD54DA-2D05-47C1-947B-9D7546AE75B8}" type="pres">
      <dgm:prSet presAssocID="{5D009C94-21DB-49FE-8CEA-8FBCF7656CC0}" presName="Child3" presStyleLbl="node1" presStyleIdx="2" presStyleCnt="6">
        <dgm:presLayoutVars>
          <dgm:chMax val="0"/>
          <dgm:chPref val="0"/>
          <dgm:bulletEnabled val="1"/>
        </dgm:presLayoutVars>
      </dgm:prSet>
      <dgm:spPr/>
    </dgm:pt>
    <dgm:pt modelId="{0015BC9C-693F-4FD6-9FD6-710CBE7F200F}" type="pres">
      <dgm:prSet presAssocID="{B7D910AA-F331-4C17-82CC-D9558A884F9A}" presName="Accent4" presStyleCnt="0"/>
      <dgm:spPr/>
    </dgm:pt>
    <dgm:pt modelId="{D93CA90B-8799-4557-A169-20B16C6D6A0A}" type="pres">
      <dgm:prSet presAssocID="{B7D910AA-F331-4C17-82CC-D9558A884F9A}" presName="Accent" presStyleLbl="bgShp" presStyleIdx="3" presStyleCnt="6"/>
      <dgm:spPr>
        <a:solidFill>
          <a:srgbClr val="FFE600"/>
        </a:solidFill>
      </dgm:spPr>
    </dgm:pt>
    <dgm:pt modelId="{52307477-28CC-4C05-8703-13472FCD2A40}" type="pres">
      <dgm:prSet presAssocID="{B7D910AA-F331-4C17-82CC-D9558A884F9A}" presName="Child4" presStyleLbl="node1" presStyleIdx="3" presStyleCnt="6">
        <dgm:presLayoutVars>
          <dgm:chMax val="0"/>
          <dgm:chPref val="0"/>
          <dgm:bulletEnabled val="1"/>
        </dgm:presLayoutVars>
      </dgm:prSet>
      <dgm:spPr/>
    </dgm:pt>
    <dgm:pt modelId="{2CAFB8D3-2B51-4ADA-B8FA-83392645FEDF}" type="pres">
      <dgm:prSet presAssocID="{CA1E5151-CC35-42EC-963A-967138E8D76B}" presName="Accent5" presStyleCnt="0"/>
      <dgm:spPr/>
    </dgm:pt>
    <dgm:pt modelId="{F5CB83EC-AEAA-4407-9EF0-F9B82362B524}" type="pres">
      <dgm:prSet presAssocID="{CA1E5151-CC35-42EC-963A-967138E8D76B}" presName="Accent" presStyleLbl="bgShp" presStyleIdx="4" presStyleCnt="6"/>
      <dgm:spPr>
        <a:solidFill>
          <a:srgbClr val="FFE600"/>
        </a:solidFill>
      </dgm:spPr>
    </dgm:pt>
    <dgm:pt modelId="{6613787C-368B-4826-82EA-733180353BE6}" type="pres">
      <dgm:prSet presAssocID="{CA1E5151-CC35-42EC-963A-967138E8D76B}" presName="Child5" presStyleLbl="node1" presStyleIdx="4" presStyleCnt="6">
        <dgm:presLayoutVars>
          <dgm:chMax val="0"/>
          <dgm:chPref val="0"/>
          <dgm:bulletEnabled val="1"/>
        </dgm:presLayoutVars>
      </dgm:prSet>
      <dgm:spPr/>
    </dgm:pt>
    <dgm:pt modelId="{09C44E4B-761D-4C10-ACFE-F611D222082D}" type="pres">
      <dgm:prSet presAssocID="{0C6E5648-3F80-4405-AF0D-0602531FA4B4}" presName="Accent6" presStyleCnt="0"/>
      <dgm:spPr/>
    </dgm:pt>
    <dgm:pt modelId="{1288880B-EFC7-4D90-9A12-D1B2B054A1ED}" type="pres">
      <dgm:prSet presAssocID="{0C6E5648-3F80-4405-AF0D-0602531FA4B4}" presName="Accent" presStyleLbl="bgShp" presStyleIdx="5" presStyleCnt="6"/>
      <dgm:spPr>
        <a:solidFill>
          <a:srgbClr val="FFE600"/>
        </a:solidFill>
      </dgm:spPr>
    </dgm:pt>
    <dgm:pt modelId="{4C849009-6CB6-4F0D-A56F-54F82BA6B8EE}" type="pres">
      <dgm:prSet presAssocID="{0C6E5648-3F80-4405-AF0D-0602531FA4B4}" presName="Child6" presStyleLbl="node1" presStyleIdx="5" presStyleCnt="6">
        <dgm:presLayoutVars>
          <dgm:chMax val="0"/>
          <dgm:chPref val="0"/>
          <dgm:bulletEnabled val="1"/>
        </dgm:presLayoutVars>
      </dgm:prSet>
      <dgm:spPr/>
    </dgm:pt>
  </dgm:ptLst>
  <dgm:cxnLst>
    <dgm:cxn modelId="{1A789E17-5E1C-459C-81BA-5097DA69A5E4}" srcId="{3E33D2A2-D2CF-49BC-973F-28866512959B}" destId="{5D009C94-21DB-49FE-8CEA-8FBCF7656CC0}" srcOrd="2" destOrd="0" parTransId="{B2CC0DEE-A892-4285-AF2F-657B34716910}" sibTransId="{2A0C8698-0203-4E77-807E-10BDDB0C5AA3}"/>
    <dgm:cxn modelId="{77752647-2657-4371-AD88-0EFE8E5ACAD6}" srcId="{3E33D2A2-D2CF-49BC-973F-28866512959B}" destId="{0C6E5648-3F80-4405-AF0D-0602531FA4B4}" srcOrd="5" destOrd="0" parTransId="{3FAE77AC-9036-4CC5-9839-49FBB79D2E79}" sibTransId="{1F3DF00F-4879-44E7-9C3D-14F407DC58FB}"/>
    <dgm:cxn modelId="{0FCEC353-5A14-43EA-BDB4-667C2F839BF2}" type="presOf" srcId="{0C6E5648-3F80-4405-AF0D-0602531FA4B4}" destId="{4C849009-6CB6-4F0D-A56F-54F82BA6B8EE}" srcOrd="0" destOrd="0" presId="urn:microsoft.com/office/officeart/2011/layout/HexagonRadial"/>
    <dgm:cxn modelId="{9219AD7B-CEF0-47BD-967A-0C7CDBF8515C}" type="presOf" srcId="{B7D910AA-F331-4C17-82CC-D9558A884F9A}" destId="{52307477-28CC-4C05-8703-13472FCD2A40}" srcOrd="0" destOrd="0" presId="urn:microsoft.com/office/officeart/2011/layout/HexagonRadial"/>
    <dgm:cxn modelId="{4DBCCC7D-0981-4B97-9E59-24A6ECADE06E}" type="presOf" srcId="{CA1E5151-CC35-42EC-963A-967138E8D76B}" destId="{6613787C-368B-4826-82EA-733180353BE6}" srcOrd="0" destOrd="0" presId="urn:microsoft.com/office/officeart/2011/layout/HexagonRadial"/>
    <dgm:cxn modelId="{43267089-85B7-4CCF-BEBF-13964FCB76D8}" srcId="{3E33D2A2-D2CF-49BC-973F-28866512959B}" destId="{57E1B9EC-9073-4FCA-8584-502C415491B0}" srcOrd="0" destOrd="0" parTransId="{63437EC5-C67F-4037-B863-F1F2B65D12DD}" sibTransId="{4EF8EFC0-EBA3-449A-8E52-173EB70D1F42}"/>
    <dgm:cxn modelId="{C4561DA2-61FB-49EA-B2EB-29A1A0910AE6}" type="presOf" srcId="{935CB945-B5A1-4503-9B0F-B310FE0A2246}" destId="{D9C2CAEE-1229-46A1-9DEB-E20178AFB1D3}" srcOrd="0" destOrd="0" presId="urn:microsoft.com/office/officeart/2011/layout/HexagonRadial"/>
    <dgm:cxn modelId="{964117B0-8ACE-4BB0-B4CA-1D2F6C89C509}" type="presOf" srcId="{3E33D2A2-D2CF-49BC-973F-28866512959B}" destId="{BF562C0E-CB97-4B5A-9145-235B96EBFBA6}" srcOrd="0" destOrd="0" presId="urn:microsoft.com/office/officeart/2011/layout/HexagonRadial"/>
    <dgm:cxn modelId="{814432B9-6F0E-41F3-8621-0D6098FA1857}" type="presOf" srcId="{57E1B9EC-9073-4FCA-8584-502C415491B0}" destId="{0272B16A-CA34-4D82-B445-CC9E5A5275D3}" srcOrd="0" destOrd="0" presId="urn:microsoft.com/office/officeart/2011/layout/HexagonRadial"/>
    <dgm:cxn modelId="{29A82BBA-27F4-4C8B-9EB6-C989376D2F92}" srcId="{3E33D2A2-D2CF-49BC-973F-28866512959B}" destId="{B7D910AA-F331-4C17-82CC-D9558A884F9A}" srcOrd="3" destOrd="0" parTransId="{ECFA820E-A2C9-4D97-86DE-604938411510}" sibTransId="{FCEA129A-0170-4E36-9D2D-CA5E800751C1}"/>
    <dgm:cxn modelId="{356B4FCB-09FD-4720-B3D7-20E7DEB7253B}" type="presOf" srcId="{9AEDFF44-9DC0-4E96-8310-2AA5D6543CEE}" destId="{D419F87E-9812-4AE7-8445-C8D945854420}" srcOrd="0" destOrd="0" presId="urn:microsoft.com/office/officeart/2011/layout/HexagonRadial"/>
    <dgm:cxn modelId="{44020ACD-AC7C-4EF5-9863-706FA573B1F7}" srcId="{3E33D2A2-D2CF-49BC-973F-28866512959B}" destId="{CA1E5151-CC35-42EC-963A-967138E8D76B}" srcOrd="4" destOrd="0" parTransId="{8024E010-FB5A-44A8-9B39-ED1195B170A3}" sibTransId="{72A2999A-6F46-41EE-9E0A-7BE1F40C54F7}"/>
    <dgm:cxn modelId="{5BA585CE-1ACB-417C-BD93-A22BA631B73F}" srcId="{3E33D2A2-D2CF-49BC-973F-28866512959B}" destId="{935CB945-B5A1-4503-9B0F-B310FE0A2246}" srcOrd="1" destOrd="0" parTransId="{5EEF8973-B7B1-4454-8C03-A3A37ABBC907}" sibTransId="{F49386FF-3F80-4723-B115-2513CC808B57}"/>
    <dgm:cxn modelId="{E1A6DCF7-4A3A-4A01-A67E-40A1E1AFA01C}" type="presOf" srcId="{5D009C94-21DB-49FE-8CEA-8FBCF7656CC0}" destId="{58CD54DA-2D05-47C1-947B-9D7546AE75B8}" srcOrd="0" destOrd="0" presId="urn:microsoft.com/office/officeart/2011/layout/HexagonRadial"/>
    <dgm:cxn modelId="{A53E06FB-F0AE-468A-851B-963923ECB52A}" srcId="{9AEDFF44-9DC0-4E96-8310-2AA5D6543CEE}" destId="{3E33D2A2-D2CF-49BC-973F-28866512959B}" srcOrd="0" destOrd="0" parTransId="{E864D731-ECB2-4BCD-A726-111D549B7E77}" sibTransId="{09BD9E0C-4CFC-4B8E-857A-1A1A53454D13}"/>
    <dgm:cxn modelId="{ABA69197-F7E5-4F49-A6C9-BC7287562CF6}" type="presParOf" srcId="{D419F87E-9812-4AE7-8445-C8D945854420}" destId="{BF562C0E-CB97-4B5A-9145-235B96EBFBA6}" srcOrd="0" destOrd="0" presId="urn:microsoft.com/office/officeart/2011/layout/HexagonRadial"/>
    <dgm:cxn modelId="{B0FB1746-E143-484C-B576-1C50A1CCF6EE}" type="presParOf" srcId="{D419F87E-9812-4AE7-8445-C8D945854420}" destId="{D904D307-709F-4D25-92F8-03EA1B0B3D52}" srcOrd="1" destOrd="0" presId="urn:microsoft.com/office/officeart/2011/layout/HexagonRadial"/>
    <dgm:cxn modelId="{CE03911B-4A00-4C75-8545-E4BD48707E1E}" type="presParOf" srcId="{D904D307-709F-4D25-92F8-03EA1B0B3D52}" destId="{A2DB611A-F7D6-45E1-9C1B-09627628951F}" srcOrd="0" destOrd="0" presId="urn:microsoft.com/office/officeart/2011/layout/HexagonRadial"/>
    <dgm:cxn modelId="{3E8997B8-78A4-435C-9116-DEB9EAC9371D}" type="presParOf" srcId="{D419F87E-9812-4AE7-8445-C8D945854420}" destId="{0272B16A-CA34-4D82-B445-CC9E5A5275D3}" srcOrd="2" destOrd="0" presId="urn:microsoft.com/office/officeart/2011/layout/HexagonRadial"/>
    <dgm:cxn modelId="{B1A9C3A4-55FD-49C0-A793-79EFC9DCE046}" type="presParOf" srcId="{D419F87E-9812-4AE7-8445-C8D945854420}" destId="{B72603FC-725C-4995-9707-19DA9B5CC859}" srcOrd="3" destOrd="0" presId="urn:microsoft.com/office/officeart/2011/layout/HexagonRadial"/>
    <dgm:cxn modelId="{CE127429-820C-43B8-9B86-13E0764C9C84}" type="presParOf" srcId="{B72603FC-725C-4995-9707-19DA9B5CC859}" destId="{BE608403-349E-4081-B2CB-596E47F9DD3B}" srcOrd="0" destOrd="0" presId="urn:microsoft.com/office/officeart/2011/layout/HexagonRadial"/>
    <dgm:cxn modelId="{28236DB9-3D09-4094-B092-337FA4F71C2A}" type="presParOf" srcId="{D419F87E-9812-4AE7-8445-C8D945854420}" destId="{D9C2CAEE-1229-46A1-9DEB-E20178AFB1D3}" srcOrd="4" destOrd="0" presId="urn:microsoft.com/office/officeart/2011/layout/HexagonRadial"/>
    <dgm:cxn modelId="{DF960DA5-B5E6-4AB1-9DF8-7A753B73DAE6}" type="presParOf" srcId="{D419F87E-9812-4AE7-8445-C8D945854420}" destId="{8D9D1EBA-7013-4FEA-8B16-4DBFED69CF99}" srcOrd="5" destOrd="0" presId="urn:microsoft.com/office/officeart/2011/layout/HexagonRadial"/>
    <dgm:cxn modelId="{29EC6E55-1435-4B68-86E1-A4F4EC7E0F6F}" type="presParOf" srcId="{8D9D1EBA-7013-4FEA-8B16-4DBFED69CF99}" destId="{75B44EE0-2A5A-42C7-9613-919B89661AD7}" srcOrd="0" destOrd="0" presId="urn:microsoft.com/office/officeart/2011/layout/HexagonRadial"/>
    <dgm:cxn modelId="{E812D5DD-4000-43D0-B49F-B005F811BCAE}" type="presParOf" srcId="{D419F87E-9812-4AE7-8445-C8D945854420}" destId="{58CD54DA-2D05-47C1-947B-9D7546AE75B8}" srcOrd="6" destOrd="0" presId="urn:microsoft.com/office/officeart/2011/layout/HexagonRadial"/>
    <dgm:cxn modelId="{6DB2FB59-B492-4A12-9BC8-CB091076CEC2}" type="presParOf" srcId="{D419F87E-9812-4AE7-8445-C8D945854420}" destId="{0015BC9C-693F-4FD6-9FD6-710CBE7F200F}" srcOrd="7" destOrd="0" presId="urn:microsoft.com/office/officeart/2011/layout/HexagonRadial"/>
    <dgm:cxn modelId="{A6F7DE47-FD3E-4A8B-9E92-2E28146A0C43}" type="presParOf" srcId="{0015BC9C-693F-4FD6-9FD6-710CBE7F200F}" destId="{D93CA90B-8799-4557-A169-20B16C6D6A0A}" srcOrd="0" destOrd="0" presId="urn:microsoft.com/office/officeart/2011/layout/HexagonRadial"/>
    <dgm:cxn modelId="{EB1F64D9-CFC3-46FD-B20F-967A2739F11F}" type="presParOf" srcId="{D419F87E-9812-4AE7-8445-C8D945854420}" destId="{52307477-28CC-4C05-8703-13472FCD2A40}" srcOrd="8" destOrd="0" presId="urn:microsoft.com/office/officeart/2011/layout/HexagonRadial"/>
    <dgm:cxn modelId="{4F6C8E63-BA1E-4DC9-B4D7-8D38F11C3F42}" type="presParOf" srcId="{D419F87E-9812-4AE7-8445-C8D945854420}" destId="{2CAFB8D3-2B51-4ADA-B8FA-83392645FEDF}" srcOrd="9" destOrd="0" presId="urn:microsoft.com/office/officeart/2011/layout/HexagonRadial"/>
    <dgm:cxn modelId="{E763DC2D-BEEB-468A-B9A1-A9A5D6124012}" type="presParOf" srcId="{2CAFB8D3-2B51-4ADA-B8FA-83392645FEDF}" destId="{F5CB83EC-AEAA-4407-9EF0-F9B82362B524}" srcOrd="0" destOrd="0" presId="urn:microsoft.com/office/officeart/2011/layout/HexagonRadial"/>
    <dgm:cxn modelId="{37C626D9-3D91-4F62-A298-BE86917369FA}" type="presParOf" srcId="{D419F87E-9812-4AE7-8445-C8D945854420}" destId="{6613787C-368B-4826-82EA-733180353BE6}" srcOrd="10" destOrd="0" presId="urn:microsoft.com/office/officeart/2011/layout/HexagonRadial"/>
    <dgm:cxn modelId="{3D101DA5-B189-43F4-8A4B-478F345D0DD0}" type="presParOf" srcId="{D419F87E-9812-4AE7-8445-C8D945854420}" destId="{09C44E4B-761D-4C10-ACFE-F611D222082D}" srcOrd="11" destOrd="0" presId="urn:microsoft.com/office/officeart/2011/layout/HexagonRadial"/>
    <dgm:cxn modelId="{D8C06F89-4BAF-4D7A-B3AD-061235635D02}" type="presParOf" srcId="{09C44E4B-761D-4C10-ACFE-F611D222082D}" destId="{1288880B-EFC7-4D90-9A12-D1B2B054A1ED}" srcOrd="0" destOrd="0" presId="urn:microsoft.com/office/officeart/2011/layout/HexagonRadial"/>
    <dgm:cxn modelId="{8526DAD3-D998-4B83-8723-89821F9BDB56}" type="presParOf" srcId="{D419F87E-9812-4AE7-8445-C8D945854420}" destId="{4C849009-6CB6-4F0D-A56F-54F82BA6B8EE}" srcOrd="12" destOrd="0" presId="urn:microsoft.com/office/officeart/2011/layout/HexagonRadial"/>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C8F29645-219C-44FA-9EEC-DAD3BC7485B0}" type="doc">
      <dgm:prSet loTypeId="urn:microsoft.com/office/officeart/2005/8/layout/process1" loCatId="process" qsTypeId="urn:microsoft.com/office/officeart/2005/8/quickstyle/simple1" qsCatId="simple" csTypeId="urn:microsoft.com/office/officeart/2005/8/colors/accent0_3" csCatId="mainScheme" phldr="1"/>
      <dgm:spPr/>
    </dgm:pt>
    <dgm:pt modelId="{D88ED731-D607-4AF7-B40B-A9BD6023B1B6}" type="pres">
      <dgm:prSet presAssocID="{C8F29645-219C-44FA-9EEC-DAD3BC7485B0}" presName="Name0" presStyleCnt="0">
        <dgm:presLayoutVars>
          <dgm:dir/>
          <dgm:resizeHandles val="exact"/>
        </dgm:presLayoutVars>
      </dgm:prSet>
      <dgm:spPr/>
    </dgm:pt>
  </dgm:ptLst>
  <dgm:cxnLst>
    <dgm:cxn modelId="{F46283AF-8A6F-4DE2-80AD-1FA999083017}" type="presOf" srcId="{C8F29645-219C-44FA-9EEC-DAD3BC7485B0}" destId="{D88ED731-D607-4AF7-B40B-A9BD6023B1B6}" srcOrd="0"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C8F29645-219C-44FA-9EEC-DAD3BC7485B0}" type="doc">
      <dgm:prSet loTypeId="urn:microsoft.com/office/officeart/2005/8/layout/process1" loCatId="process" qsTypeId="urn:microsoft.com/office/officeart/2005/8/quickstyle/simple1" qsCatId="simple" csTypeId="urn:microsoft.com/office/officeart/2005/8/colors/accent0_3" csCatId="mainScheme" phldr="1"/>
      <dgm:spPr/>
    </dgm:pt>
    <dgm:pt modelId="{D88ED731-D607-4AF7-B40B-A9BD6023B1B6}" type="pres">
      <dgm:prSet presAssocID="{C8F29645-219C-44FA-9EEC-DAD3BC7485B0}" presName="Name0" presStyleCnt="0">
        <dgm:presLayoutVars>
          <dgm:dir/>
          <dgm:resizeHandles val="exact"/>
        </dgm:presLayoutVars>
      </dgm:prSet>
      <dgm:spPr/>
    </dgm:pt>
  </dgm:ptLst>
  <dgm:cxnLst>
    <dgm:cxn modelId="{F46283AF-8A6F-4DE2-80AD-1FA999083017}" type="presOf" srcId="{C8F29645-219C-44FA-9EEC-DAD3BC7485B0}" destId="{D88ED731-D607-4AF7-B40B-A9BD6023B1B6}" srcOrd="0"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3FB59DF-B96D-4020-BD30-A275E61BC999}">
      <dsp:nvSpPr>
        <dsp:cNvPr id="0" name=""/>
        <dsp:cNvSpPr/>
      </dsp:nvSpPr>
      <dsp:spPr>
        <a:xfrm>
          <a:off x="10705" y="108037"/>
          <a:ext cx="2070857" cy="884556"/>
        </a:xfrm>
        <a:prstGeom prst="roundRect">
          <a:avLst>
            <a:gd name="adj" fmla="val 10000"/>
          </a:avLst>
        </a:prstGeom>
        <a:solidFill>
          <a:srgbClr val="D9D9D9"/>
        </a:solidFill>
        <a:ln w="25400" cap="flat" cmpd="sng" algn="ctr">
          <a:solidFill>
            <a:srgbClr val="FFE6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Font typeface="Arial" panose="020B0604020202020204" pitchFamily="34" charset="0"/>
            <a:buNone/>
          </a:pPr>
          <a:r>
            <a:rPr lang="en-IN" sz="1800" b="1" i="0" kern="1200">
              <a:solidFill>
                <a:schemeClr val="bg2"/>
              </a:solidFill>
              <a:latin typeface="EYInterstate" panose="02000503020000020004" pitchFamily="2" charset="0"/>
            </a:rPr>
            <a:t>KPI Framework &amp; Benchmarks</a:t>
          </a:r>
        </a:p>
      </dsp:txBody>
      <dsp:txXfrm>
        <a:off x="36613" y="133945"/>
        <a:ext cx="2019041" cy="832740"/>
      </dsp:txXfrm>
    </dsp:sp>
    <dsp:sp modelId="{BF9FC7AE-E5A4-4869-AACA-3A7FF4E6C91D}">
      <dsp:nvSpPr>
        <dsp:cNvPr id="0" name=""/>
        <dsp:cNvSpPr/>
      </dsp:nvSpPr>
      <dsp:spPr>
        <a:xfrm rot="21597472">
          <a:off x="2298410" y="278193"/>
          <a:ext cx="459716" cy="542063"/>
        </a:xfrm>
        <a:prstGeom prst="rightArrow">
          <a:avLst>
            <a:gd name="adj1" fmla="val 60000"/>
            <a:gd name="adj2" fmla="val 50000"/>
          </a:avLst>
        </a:prstGeom>
        <a:solidFill>
          <a:srgbClr val="FFE60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022350">
            <a:lnSpc>
              <a:spcPct val="90000"/>
            </a:lnSpc>
            <a:spcBef>
              <a:spcPct val="0"/>
            </a:spcBef>
            <a:spcAft>
              <a:spcPct val="35000"/>
            </a:spcAft>
            <a:buNone/>
          </a:pPr>
          <a:endParaRPr lang="en-IN" sz="2300" kern="1200"/>
        </a:p>
      </dsp:txBody>
      <dsp:txXfrm>
        <a:off x="2298410" y="386657"/>
        <a:ext cx="321801" cy="325237"/>
      </dsp:txXfrm>
    </dsp:sp>
    <dsp:sp modelId="{DEEC20AE-20AD-4E57-B2FE-D9AA3CB371CE}">
      <dsp:nvSpPr>
        <dsp:cNvPr id="0" name=""/>
        <dsp:cNvSpPr/>
      </dsp:nvSpPr>
      <dsp:spPr>
        <a:xfrm>
          <a:off x="2948952" y="92706"/>
          <a:ext cx="2185740" cy="910811"/>
        </a:xfrm>
        <a:prstGeom prst="roundRect">
          <a:avLst>
            <a:gd name="adj" fmla="val 10000"/>
          </a:avLst>
        </a:prstGeom>
        <a:solidFill>
          <a:srgbClr val="D9D9D9"/>
        </a:solidFill>
        <a:ln w="25400" cap="flat" cmpd="sng" algn="ctr">
          <a:solidFill>
            <a:srgbClr val="FFE6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Font typeface="Arial" panose="020B0604020202020204" pitchFamily="34" charset="0"/>
            <a:buNone/>
          </a:pPr>
          <a:r>
            <a:rPr lang="en-IN" sz="1800" b="1" i="0" kern="1200">
              <a:solidFill>
                <a:srgbClr val="000000"/>
              </a:solidFill>
              <a:latin typeface="EYInterstate" panose="02000503020000020004" pitchFamily="2" charset="0"/>
              <a:ea typeface="+mn-ea"/>
              <a:cs typeface="+mn-cs"/>
            </a:rPr>
            <a:t>Operating</a:t>
          </a:r>
          <a:r>
            <a:rPr lang="en-IN" sz="1800" b="1" i="0" kern="1200"/>
            <a:t> </a:t>
          </a:r>
          <a:r>
            <a:rPr lang="en-IN" sz="1800" b="1" i="0" kern="1200">
              <a:solidFill>
                <a:srgbClr val="000000"/>
              </a:solidFill>
              <a:latin typeface="EYInterstate" panose="02000503020000020004" pitchFamily="2" charset="0"/>
              <a:ea typeface="+mn-ea"/>
              <a:cs typeface="+mn-cs"/>
            </a:rPr>
            <a:t>Rhythm &amp; Communication</a:t>
          </a:r>
        </a:p>
      </dsp:txBody>
      <dsp:txXfrm>
        <a:off x="2975629" y="119383"/>
        <a:ext cx="2132386" cy="857457"/>
      </dsp:txXfrm>
    </dsp:sp>
    <dsp:sp modelId="{DD066902-4FC0-4D16-B1F8-72224260B13E}">
      <dsp:nvSpPr>
        <dsp:cNvPr id="0" name=""/>
        <dsp:cNvSpPr/>
      </dsp:nvSpPr>
      <dsp:spPr>
        <a:xfrm>
          <a:off x="5353266" y="277080"/>
          <a:ext cx="463376" cy="542063"/>
        </a:xfrm>
        <a:prstGeom prst="rightArrow">
          <a:avLst>
            <a:gd name="adj1" fmla="val 60000"/>
            <a:gd name="adj2" fmla="val 50000"/>
          </a:avLst>
        </a:prstGeom>
        <a:solidFill>
          <a:srgbClr val="FFE60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022350">
            <a:lnSpc>
              <a:spcPct val="90000"/>
            </a:lnSpc>
            <a:spcBef>
              <a:spcPct val="0"/>
            </a:spcBef>
            <a:spcAft>
              <a:spcPct val="35000"/>
            </a:spcAft>
            <a:buNone/>
          </a:pPr>
          <a:endParaRPr lang="en-IN" sz="2300" kern="1200"/>
        </a:p>
      </dsp:txBody>
      <dsp:txXfrm>
        <a:off x="5353266" y="385493"/>
        <a:ext cx="324363" cy="325237"/>
      </dsp:txXfrm>
    </dsp:sp>
    <dsp:sp modelId="{539B28FB-216C-4107-B859-53C96E87189A}">
      <dsp:nvSpPr>
        <dsp:cNvPr id="0" name=""/>
        <dsp:cNvSpPr/>
      </dsp:nvSpPr>
      <dsp:spPr>
        <a:xfrm>
          <a:off x="6008989" y="92706"/>
          <a:ext cx="2185740" cy="910811"/>
        </a:xfrm>
        <a:prstGeom prst="roundRect">
          <a:avLst>
            <a:gd name="adj" fmla="val 10000"/>
          </a:avLst>
        </a:prstGeom>
        <a:solidFill>
          <a:srgbClr val="D9D9D9"/>
        </a:solidFill>
        <a:ln w="25400" cap="flat" cmpd="sng" algn="ctr">
          <a:solidFill>
            <a:srgbClr val="FFE6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Font typeface="Arial" panose="020B0604020202020204" pitchFamily="34" charset="0"/>
            <a:buNone/>
          </a:pPr>
          <a:r>
            <a:rPr lang="en-IN" sz="1800" b="1" i="0" kern="1200">
              <a:solidFill>
                <a:schemeClr val="bg2"/>
              </a:solidFill>
              <a:latin typeface="EYInterstate" panose="02000503020000020004" pitchFamily="2" charset="0"/>
            </a:rPr>
            <a:t>Talent, Training &amp; Capacity</a:t>
          </a:r>
        </a:p>
      </dsp:txBody>
      <dsp:txXfrm>
        <a:off x="6035666" y="119383"/>
        <a:ext cx="2132386" cy="85745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A43E614-775C-42BB-BC4A-B60D484F71E5}">
      <dsp:nvSpPr>
        <dsp:cNvPr id="0" name=""/>
        <dsp:cNvSpPr/>
      </dsp:nvSpPr>
      <dsp:spPr>
        <a:xfrm>
          <a:off x="521" y="209499"/>
          <a:ext cx="1309692" cy="505541"/>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6A1F5E0-D7D0-4E50-88B4-BC49D6E09CCC}">
      <dsp:nvSpPr>
        <dsp:cNvPr id="0" name=""/>
        <dsp:cNvSpPr/>
      </dsp:nvSpPr>
      <dsp:spPr>
        <a:xfrm>
          <a:off x="387872" y="329843"/>
          <a:ext cx="1105962" cy="505541"/>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9784" tIns="49784" rIns="49784" bIns="49784" numCol="1" spcCol="1270" anchor="ctr" anchorCtr="0">
          <a:noAutofit/>
        </a:bodyPr>
        <a:lstStyle/>
        <a:p>
          <a:pPr marL="0" lvl="0" indent="0" algn="ctr" defTabSz="311150">
            <a:lnSpc>
              <a:spcPct val="90000"/>
            </a:lnSpc>
            <a:spcBef>
              <a:spcPct val="0"/>
            </a:spcBef>
            <a:spcAft>
              <a:spcPct val="35000"/>
            </a:spcAft>
            <a:buNone/>
          </a:pPr>
          <a:endParaRPr lang="pl-PL" sz="700" kern="1200">
            <a:solidFill>
              <a:srgbClr val="333333"/>
            </a:solidFill>
            <a:latin typeface="Arial"/>
            <a:ea typeface="+mn-ea"/>
            <a:cs typeface="+mn-cs"/>
          </a:endParaRPr>
        </a:p>
        <a:p>
          <a:pPr marL="0" lvl="0" indent="0" algn="ctr" defTabSz="311150">
            <a:lnSpc>
              <a:spcPct val="90000"/>
            </a:lnSpc>
            <a:spcBef>
              <a:spcPct val="0"/>
            </a:spcBef>
            <a:spcAft>
              <a:spcPct val="35000"/>
            </a:spcAft>
            <a:buNone/>
          </a:pPr>
          <a:r>
            <a:rPr lang="pl-PL" sz="1000" kern="1200">
              <a:solidFill>
                <a:srgbClr val="333333"/>
              </a:solidFill>
              <a:latin typeface="Arial"/>
              <a:ea typeface="+mn-ea"/>
              <a:cs typeface="+mn-cs"/>
            </a:rPr>
            <a:t>Legal entity</a:t>
          </a:r>
        </a:p>
        <a:p>
          <a:pPr marL="0" lvl="0" indent="0" algn="ctr" defTabSz="311150">
            <a:lnSpc>
              <a:spcPct val="90000"/>
            </a:lnSpc>
            <a:spcBef>
              <a:spcPct val="0"/>
            </a:spcBef>
            <a:spcAft>
              <a:spcPct val="35000"/>
            </a:spcAft>
            <a:buNone/>
          </a:pPr>
          <a:endParaRPr lang="pl-PL" sz="700" kern="1200">
            <a:solidFill>
              <a:srgbClr val="333333"/>
            </a:solidFill>
            <a:latin typeface="Arial"/>
            <a:ea typeface="+mn-ea"/>
            <a:cs typeface="+mn-cs"/>
          </a:endParaRPr>
        </a:p>
      </dsp:txBody>
      <dsp:txXfrm>
        <a:off x="402679" y="344650"/>
        <a:ext cx="1076348" cy="475927"/>
      </dsp:txXfrm>
    </dsp:sp>
    <dsp:sp modelId="{B99469C6-785D-4CD5-9EEA-3B09D2168DAE}">
      <dsp:nvSpPr>
        <dsp:cNvPr id="0" name=""/>
        <dsp:cNvSpPr/>
      </dsp:nvSpPr>
      <dsp:spPr>
        <a:xfrm>
          <a:off x="1496480" y="209499"/>
          <a:ext cx="1309692" cy="505541"/>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4EE617F-4241-43C7-A5B7-18E82010D544}">
      <dsp:nvSpPr>
        <dsp:cNvPr id="0" name=""/>
        <dsp:cNvSpPr/>
      </dsp:nvSpPr>
      <dsp:spPr>
        <a:xfrm>
          <a:off x="1845731" y="335884"/>
          <a:ext cx="1105962" cy="505541"/>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1120" tIns="71120" rIns="71120" bIns="71120" numCol="1" spcCol="1270" anchor="ctr" anchorCtr="0">
          <a:noAutofit/>
        </a:bodyPr>
        <a:lstStyle/>
        <a:p>
          <a:pPr marL="0" lvl="0" indent="0" algn="ctr" defTabSz="444500">
            <a:lnSpc>
              <a:spcPct val="90000"/>
            </a:lnSpc>
            <a:spcBef>
              <a:spcPct val="0"/>
            </a:spcBef>
            <a:spcAft>
              <a:spcPct val="35000"/>
            </a:spcAft>
            <a:buNone/>
          </a:pPr>
          <a:r>
            <a:rPr lang="pl-PL" sz="1000" kern="1200">
              <a:solidFill>
                <a:srgbClr val="333333"/>
              </a:solidFill>
              <a:latin typeface="Arial"/>
              <a:ea typeface="+mn-ea"/>
              <a:cs typeface="+mn-cs"/>
            </a:rPr>
            <a:t>Line of Business</a:t>
          </a:r>
        </a:p>
      </dsp:txBody>
      <dsp:txXfrm>
        <a:off x="1860538" y="350691"/>
        <a:ext cx="1076348" cy="475927"/>
      </dsp:txXfrm>
    </dsp:sp>
    <dsp:sp modelId="{AE5374A8-90A6-430D-8476-1899C4AA9D7F}">
      <dsp:nvSpPr>
        <dsp:cNvPr id="0" name=""/>
        <dsp:cNvSpPr/>
      </dsp:nvSpPr>
      <dsp:spPr>
        <a:xfrm>
          <a:off x="2992440" y="209499"/>
          <a:ext cx="1309692" cy="505541"/>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4C21D39-2C35-440A-AC96-AABE8E020E81}">
      <dsp:nvSpPr>
        <dsp:cNvPr id="0" name=""/>
        <dsp:cNvSpPr/>
      </dsp:nvSpPr>
      <dsp:spPr>
        <a:xfrm>
          <a:off x="3341691" y="335884"/>
          <a:ext cx="1105962" cy="505541"/>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1120" tIns="71120" rIns="71120" bIns="71120" numCol="1" spcCol="1270" anchor="ctr" anchorCtr="0">
          <a:noAutofit/>
        </a:bodyPr>
        <a:lstStyle/>
        <a:p>
          <a:pPr marL="0" lvl="0" indent="0" algn="ctr" defTabSz="444500">
            <a:lnSpc>
              <a:spcPct val="90000"/>
            </a:lnSpc>
            <a:spcBef>
              <a:spcPct val="0"/>
            </a:spcBef>
            <a:spcAft>
              <a:spcPct val="35000"/>
            </a:spcAft>
            <a:buNone/>
          </a:pPr>
          <a:r>
            <a:rPr lang="pl-PL" sz="1000" kern="1200">
              <a:solidFill>
                <a:srgbClr val="333333"/>
              </a:solidFill>
              <a:latin typeface="Arial"/>
              <a:ea typeface="+mn-ea"/>
              <a:cs typeface="+mn-cs"/>
            </a:rPr>
            <a:t>Cost Center</a:t>
          </a:r>
        </a:p>
      </dsp:txBody>
      <dsp:txXfrm>
        <a:off x="3356498" y="350691"/>
        <a:ext cx="1076348" cy="47592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A43E614-775C-42BB-BC4A-B60D484F71E5}">
      <dsp:nvSpPr>
        <dsp:cNvPr id="0" name=""/>
        <dsp:cNvSpPr/>
      </dsp:nvSpPr>
      <dsp:spPr>
        <a:xfrm>
          <a:off x="479" y="348832"/>
          <a:ext cx="1205926" cy="46548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6A1F5E0-D7D0-4E50-88B4-BC49D6E09CCC}">
      <dsp:nvSpPr>
        <dsp:cNvPr id="0" name=""/>
        <dsp:cNvSpPr/>
      </dsp:nvSpPr>
      <dsp:spPr>
        <a:xfrm>
          <a:off x="322060" y="464171"/>
          <a:ext cx="1018337" cy="46548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1120" tIns="71120" rIns="71120" bIns="71120" numCol="1" spcCol="1270" anchor="ctr" anchorCtr="0">
          <a:noAutofit/>
        </a:bodyPr>
        <a:lstStyle/>
        <a:p>
          <a:pPr marL="0" lvl="0" indent="0" algn="ctr" defTabSz="444500">
            <a:lnSpc>
              <a:spcPct val="90000"/>
            </a:lnSpc>
            <a:spcBef>
              <a:spcPct val="0"/>
            </a:spcBef>
            <a:spcAft>
              <a:spcPct val="35000"/>
            </a:spcAft>
            <a:buNone/>
          </a:pPr>
          <a:r>
            <a:rPr lang="pl-PL" sz="1000" kern="1200">
              <a:solidFill>
                <a:srgbClr val="333333"/>
              </a:solidFill>
              <a:latin typeface="Arial"/>
              <a:ea typeface="+mn-ea"/>
              <a:cs typeface="+mn-cs"/>
            </a:rPr>
            <a:t>Natural Account</a:t>
          </a:r>
        </a:p>
      </dsp:txBody>
      <dsp:txXfrm>
        <a:off x="335694" y="477805"/>
        <a:ext cx="991069" cy="438219"/>
      </dsp:txXfrm>
    </dsp:sp>
    <dsp:sp modelId="{B99469C6-785D-4CD5-9EEA-3B09D2168DAE}">
      <dsp:nvSpPr>
        <dsp:cNvPr id="0" name=""/>
        <dsp:cNvSpPr/>
      </dsp:nvSpPr>
      <dsp:spPr>
        <a:xfrm>
          <a:off x="1377915" y="348832"/>
          <a:ext cx="1205926" cy="46548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4EE617F-4241-43C7-A5B7-18E82010D544}">
      <dsp:nvSpPr>
        <dsp:cNvPr id="0" name=""/>
        <dsp:cNvSpPr/>
      </dsp:nvSpPr>
      <dsp:spPr>
        <a:xfrm>
          <a:off x="1699496" y="465204"/>
          <a:ext cx="1018337" cy="46548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1120" tIns="71120" rIns="71120" bIns="71120" numCol="1" spcCol="1270" anchor="ctr" anchorCtr="0">
          <a:noAutofit/>
        </a:bodyPr>
        <a:lstStyle/>
        <a:p>
          <a:pPr marL="0" lvl="0" indent="0" algn="ctr" defTabSz="444500">
            <a:lnSpc>
              <a:spcPct val="90000"/>
            </a:lnSpc>
            <a:spcBef>
              <a:spcPct val="0"/>
            </a:spcBef>
            <a:spcAft>
              <a:spcPct val="35000"/>
            </a:spcAft>
            <a:buNone/>
          </a:pPr>
          <a:r>
            <a:rPr lang="pl-PL" sz="1000" kern="1200">
              <a:solidFill>
                <a:srgbClr val="333333"/>
              </a:solidFill>
              <a:latin typeface="Arial"/>
              <a:ea typeface="+mn-ea"/>
              <a:cs typeface="+mn-cs"/>
            </a:rPr>
            <a:t>Product</a:t>
          </a:r>
        </a:p>
      </dsp:txBody>
      <dsp:txXfrm>
        <a:off x="1713130" y="478838"/>
        <a:ext cx="991069" cy="438219"/>
      </dsp:txXfrm>
    </dsp:sp>
    <dsp:sp modelId="{AE5374A8-90A6-430D-8476-1899C4AA9D7F}">
      <dsp:nvSpPr>
        <dsp:cNvPr id="0" name=""/>
        <dsp:cNvSpPr/>
      </dsp:nvSpPr>
      <dsp:spPr>
        <a:xfrm>
          <a:off x="2755351" y="348832"/>
          <a:ext cx="1205926" cy="46548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4C21D39-2C35-440A-AC96-AABE8E020E81}">
      <dsp:nvSpPr>
        <dsp:cNvPr id="0" name=""/>
        <dsp:cNvSpPr/>
      </dsp:nvSpPr>
      <dsp:spPr>
        <a:xfrm>
          <a:off x="3076932" y="465204"/>
          <a:ext cx="1018337" cy="46548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1120" tIns="71120" rIns="71120" bIns="71120" numCol="1" spcCol="1270" anchor="ctr" anchorCtr="0">
          <a:noAutofit/>
        </a:bodyPr>
        <a:lstStyle/>
        <a:p>
          <a:pPr marL="0" lvl="0" indent="0" algn="ctr" defTabSz="444500">
            <a:lnSpc>
              <a:spcPct val="90000"/>
            </a:lnSpc>
            <a:spcBef>
              <a:spcPct val="0"/>
            </a:spcBef>
            <a:spcAft>
              <a:spcPct val="35000"/>
            </a:spcAft>
            <a:buNone/>
          </a:pPr>
          <a:r>
            <a:rPr lang="pl-PL" sz="1000" kern="1200">
              <a:solidFill>
                <a:srgbClr val="333333"/>
              </a:solidFill>
              <a:latin typeface="Arial"/>
              <a:ea typeface="+mn-ea"/>
              <a:cs typeface="+mn-cs"/>
            </a:rPr>
            <a:t>Location</a:t>
          </a:r>
        </a:p>
      </dsp:txBody>
      <dsp:txXfrm>
        <a:off x="3090566" y="478838"/>
        <a:ext cx="991069" cy="43821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A43E614-775C-42BB-BC4A-B60D484F71E5}">
      <dsp:nvSpPr>
        <dsp:cNvPr id="0" name=""/>
        <dsp:cNvSpPr/>
      </dsp:nvSpPr>
      <dsp:spPr>
        <a:xfrm>
          <a:off x="744" y="0"/>
          <a:ext cx="1370260" cy="450797"/>
        </a:xfrm>
        <a:prstGeom prst="chevron">
          <a:avLst>
            <a:gd name="adj" fmla="val 40000"/>
          </a:avLst>
        </a:prstGeom>
        <a:solidFill>
          <a:srgbClr val="808080">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6A1F5E0-D7D0-4E50-88B4-BC49D6E09CCC}">
      <dsp:nvSpPr>
        <dsp:cNvPr id="0" name=""/>
        <dsp:cNvSpPr/>
      </dsp:nvSpPr>
      <dsp:spPr>
        <a:xfrm>
          <a:off x="366891" y="112699"/>
          <a:ext cx="1157108" cy="450797"/>
        </a:xfrm>
        <a:prstGeom prst="roundRect">
          <a:avLst>
            <a:gd name="adj" fmla="val 10000"/>
          </a:avLst>
        </a:prstGeom>
        <a:solidFill>
          <a:srgbClr val="FFFFFF">
            <a:alpha val="90000"/>
            <a:hueOff val="0"/>
            <a:satOff val="0"/>
            <a:lumOff val="0"/>
            <a:alphaOff val="0"/>
          </a:srgbClr>
        </a:solidFill>
        <a:ln w="25400" cap="flat" cmpd="sng" algn="ctr">
          <a:solidFill>
            <a:srgbClr val="808080">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1120" tIns="71120" rIns="71120" bIns="71120" numCol="1" spcCol="1270" anchor="ctr" anchorCtr="0">
          <a:noAutofit/>
        </a:bodyPr>
        <a:lstStyle/>
        <a:p>
          <a:pPr marL="0" lvl="0" indent="0" algn="ctr" defTabSz="444500">
            <a:lnSpc>
              <a:spcPct val="90000"/>
            </a:lnSpc>
            <a:spcBef>
              <a:spcPct val="0"/>
            </a:spcBef>
            <a:spcAft>
              <a:spcPct val="35000"/>
            </a:spcAft>
            <a:buNone/>
          </a:pPr>
          <a:r>
            <a:rPr lang="pl-PL" sz="1000" kern="1200">
              <a:solidFill>
                <a:srgbClr val="333333"/>
              </a:solidFill>
              <a:latin typeface="Arial"/>
              <a:ea typeface="+mn-ea"/>
              <a:cs typeface="+mn-cs"/>
            </a:rPr>
            <a:t>Intercompany Type</a:t>
          </a:r>
        </a:p>
      </dsp:txBody>
      <dsp:txXfrm>
        <a:off x="380094" y="125902"/>
        <a:ext cx="1130702" cy="424391"/>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F62A5AC-7BC0-4007-877C-EB5187CA0466}">
      <dsp:nvSpPr>
        <dsp:cNvPr id="0" name=""/>
        <dsp:cNvSpPr/>
      </dsp:nvSpPr>
      <dsp:spPr>
        <a:xfrm rot="10800000">
          <a:off x="0" y="0"/>
          <a:ext cx="3498475" cy="848231"/>
        </a:xfrm>
        <a:prstGeom prst="trapezoid">
          <a:avLst>
            <a:gd name="adj" fmla="val 68741"/>
          </a:avLst>
        </a:prstGeom>
        <a:solidFill>
          <a:srgbClr val="FFE600"/>
        </a:solidFill>
        <a:ln w="25400" cap="flat" cmpd="sng" algn="ctr">
          <a:solidFill>
            <a:schemeClr val="tx1"/>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r>
            <a:rPr lang="en-IN" sz="2400" b="1" kern="1200">
              <a:latin typeface="EY interstate"/>
            </a:rPr>
            <a:t>Chart of Accounts</a:t>
          </a:r>
        </a:p>
      </dsp:txBody>
      <dsp:txXfrm rot="-10800000">
        <a:off x="612233" y="0"/>
        <a:ext cx="2274008" cy="848231"/>
      </dsp:txXfrm>
    </dsp:sp>
    <dsp:sp modelId="{781207FF-5AA1-42B8-A785-6AB61AB9FBC3}">
      <dsp:nvSpPr>
        <dsp:cNvPr id="0" name=""/>
        <dsp:cNvSpPr/>
      </dsp:nvSpPr>
      <dsp:spPr>
        <a:xfrm rot="10800000">
          <a:off x="583079" y="848231"/>
          <a:ext cx="2332316" cy="848231"/>
        </a:xfrm>
        <a:prstGeom prst="trapezoid">
          <a:avLst>
            <a:gd name="adj" fmla="val 68741"/>
          </a:avLst>
        </a:prstGeom>
        <a:solidFill>
          <a:srgbClr val="FFE600"/>
        </a:solidFill>
        <a:ln w="25400" cap="flat" cmpd="sng" algn="ctr">
          <a:solidFill>
            <a:schemeClr val="tx1"/>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en-IN" sz="2000" b="1" kern="1200">
              <a:latin typeface="EY interstate"/>
            </a:rPr>
            <a:t>R2R</a:t>
          </a:r>
        </a:p>
      </dsp:txBody>
      <dsp:txXfrm rot="-10800000">
        <a:off x="991234" y="848231"/>
        <a:ext cx="1516005" cy="848231"/>
      </dsp:txXfrm>
    </dsp:sp>
    <dsp:sp modelId="{65A2552A-8DD6-4E57-91C2-AEBF2ECE11D0}">
      <dsp:nvSpPr>
        <dsp:cNvPr id="0" name=""/>
        <dsp:cNvSpPr/>
      </dsp:nvSpPr>
      <dsp:spPr>
        <a:xfrm rot="10800000">
          <a:off x="1166158" y="1696462"/>
          <a:ext cx="1166158" cy="848231"/>
        </a:xfrm>
        <a:prstGeom prst="trapezoid">
          <a:avLst>
            <a:gd name="adj" fmla="val 68741"/>
          </a:avLst>
        </a:prstGeom>
        <a:solidFill>
          <a:srgbClr val="FFE600"/>
        </a:solidFill>
        <a:ln w="25400" cap="flat" cmpd="sng" algn="ctr">
          <a:solidFill>
            <a:schemeClr val="tx1"/>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en-IN" sz="1400" b="1" kern="1200">
              <a:latin typeface="EY interstate"/>
            </a:rPr>
            <a:t>Policies</a:t>
          </a:r>
        </a:p>
      </dsp:txBody>
      <dsp:txXfrm rot="-10800000">
        <a:off x="1166158" y="1696462"/>
        <a:ext cx="1166158" cy="848231"/>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BCB8DAF-348E-4E93-A7EE-4BCF092BC602}">
      <dsp:nvSpPr>
        <dsp:cNvPr id="0" name=""/>
        <dsp:cNvSpPr/>
      </dsp:nvSpPr>
      <dsp:spPr>
        <a:xfrm rot="5400000">
          <a:off x="874723" y="489590"/>
          <a:ext cx="429966" cy="489501"/>
        </a:xfrm>
        <a:prstGeom prst="bentUpArrow">
          <a:avLst>
            <a:gd name="adj1" fmla="val 32840"/>
            <a:gd name="adj2" fmla="val 25000"/>
            <a:gd name="adj3" fmla="val 3578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5FBD7F25-4647-4618-9B58-4E925CF52B79}">
      <dsp:nvSpPr>
        <dsp:cNvPr id="0" name=""/>
        <dsp:cNvSpPr/>
      </dsp:nvSpPr>
      <dsp:spPr>
        <a:xfrm>
          <a:off x="760808" y="12963"/>
          <a:ext cx="723810" cy="506644"/>
        </a:xfrm>
        <a:prstGeom prst="roundRect">
          <a:avLst>
            <a:gd name="adj" fmla="val 1667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kern="1200" dirty="0">
              <a:solidFill>
                <a:schemeClr val="bg1"/>
              </a:solidFill>
              <a:latin typeface="EYInterstate" panose="02000503020000020004" pitchFamily="2" charset="0"/>
            </a:rPr>
            <a:t>Initial Recognition</a:t>
          </a:r>
          <a:endParaRPr lang="en-IN" sz="800" kern="1200" dirty="0"/>
        </a:p>
      </dsp:txBody>
      <dsp:txXfrm>
        <a:off x="785545" y="37700"/>
        <a:ext cx="674336" cy="457170"/>
      </dsp:txXfrm>
    </dsp:sp>
    <dsp:sp modelId="{073784EE-8B6E-47AD-8997-ED224EE27C2C}">
      <dsp:nvSpPr>
        <dsp:cNvPr id="0" name=""/>
        <dsp:cNvSpPr/>
      </dsp:nvSpPr>
      <dsp:spPr>
        <a:xfrm>
          <a:off x="1484619" y="61283"/>
          <a:ext cx="526431" cy="409492"/>
        </a:xfrm>
        <a:prstGeom prst="rect">
          <a:avLst/>
        </a:prstGeom>
        <a:noFill/>
        <a:ln>
          <a:noFill/>
        </a:ln>
        <a:effectLst/>
      </dsp:spPr>
      <dsp:style>
        <a:lnRef idx="0">
          <a:scrgbClr r="0" g="0" b="0"/>
        </a:lnRef>
        <a:fillRef idx="0">
          <a:scrgbClr r="0" g="0" b="0"/>
        </a:fillRef>
        <a:effectRef idx="0">
          <a:scrgbClr r="0" g="0" b="0"/>
        </a:effectRef>
        <a:fontRef idx="minor"/>
      </dsp:style>
    </dsp:sp>
    <dsp:sp modelId="{43A81998-46A3-4002-BA8F-ACC48B06B925}">
      <dsp:nvSpPr>
        <dsp:cNvPr id="0" name=""/>
        <dsp:cNvSpPr/>
      </dsp:nvSpPr>
      <dsp:spPr>
        <a:xfrm rot="5400000">
          <a:off x="1474840" y="1058718"/>
          <a:ext cx="429966" cy="489501"/>
        </a:xfrm>
        <a:prstGeom prst="bentUpArrow">
          <a:avLst>
            <a:gd name="adj1" fmla="val 32840"/>
            <a:gd name="adj2" fmla="val 25000"/>
            <a:gd name="adj3" fmla="val 3578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3F842CA1-7DEC-42C6-84B7-AE4B91848E93}">
      <dsp:nvSpPr>
        <dsp:cNvPr id="0" name=""/>
        <dsp:cNvSpPr/>
      </dsp:nvSpPr>
      <dsp:spPr>
        <a:xfrm>
          <a:off x="1360924" y="582092"/>
          <a:ext cx="723810" cy="506644"/>
        </a:xfrm>
        <a:prstGeom prst="roundRect">
          <a:avLst>
            <a:gd name="adj" fmla="val 1667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kern="1200">
              <a:solidFill>
                <a:schemeClr val="bg1"/>
              </a:solidFill>
              <a:latin typeface="EYInterstate" panose="02000503020000020004" pitchFamily="2" charset="0"/>
            </a:rPr>
            <a:t>Depreciation</a:t>
          </a:r>
          <a:endParaRPr lang="en-IN" sz="800" kern="1200"/>
        </a:p>
      </dsp:txBody>
      <dsp:txXfrm>
        <a:off x="1385661" y="606829"/>
        <a:ext cx="674336" cy="457170"/>
      </dsp:txXfrm>
    </dsp:sp>
    <dsp:sp modelId="{19E17E06-7536-438A-8FA4-07CC6F8E96FF}">
      <dsp:nvSpPr>
        <dsp:cNvPr id="0" name=""/>
        <dsp:cNvSpPr/>
      </dsp:nvSpPr>
      <dsp:spPr>
        <a:xfrm>
          <a:off x="2084735" y="630412"/>
          <a:ext cx="526431" cy="40949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57150" lvl="1" indent="-57150" algn="l" defTabSz="355600">
            <a:lnSpc>
              <a:spcPct val="90000"/>
            </a:lnSpc>
            <a:spcBef>
              <a:spcPct val="0"/>
            </a:spcBef>
            <a:spcAft>
              <a:spcPct val="15000"/>
            </a:spcAft>
            <a:buChar char="•"/>
          </a:pPr>
          <a:endParaRPr lang="en-IN" sz="800" kern="1200"/>
        </a:p>
      </dsp:txBody>
      <dsp:txXfrm>
        <a:off x="2084735" y="630412"/>
        <a:ext cx="526431" cy="409492"/>
      </dsp:txXfrm>
    </dsp:sp>
    <dsp:sp modelId="{C17C57FB-CAB7-4C47-BDA9-52F240637DBC}">
      <dsp:nvSpPr>
        <dsp:cNvPr id="0" name=""/>
        <dsp:cNvSpPr/>
      </dsp:nvSpPr>
      <dsp:spPr>
        <a:xfrm rot="5400000">
          <a:off x="2074956" y="1627847"/>
          <a:ext cx="429966" cy="489501"/>
        </a:xfrm>
        <a:prstGeom prst="bentUpArrow">
          <a:avLst>
            <a:gd name="adj1" fmla="val 32840"/>
            <a:gd name="adj2" fmla="val 25000"/>
            <a:gd name="adj3" fmla="val 3578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D95C442F-A56B-4908-BB8F-8CCFBAB6466F}">
      <dsp:nvSpPr>
        <dsp:cNvPr id="0" name=""/>
        <dsp:cNvSpPr/>
      </dsp:nvSpPr>
      <dsp:spPr>
        <a:xfrm>
          <a:off x="1961041" y="1151220"/>
          <a:ext cx="723810" cy="506644"/>
        </a:xfrm>
        <a:prstGeom prst="roundRect">
          <a:avLst>
            <a:gd name="adj" fmla="val 1667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kern="1200">
              <a:solidFill>
                <a:schemeClr val="bg1"/>
              </a:solidFill>
              <a:latin typeface="EYInterstate" panose="02000503020000020004" pitchFamily="2" charset="0"/>
            </a:rPr>
            <a:t>Impairment</a:t>
          </a:r>
          <a:endParaRPr lang="en-IN" sz="800" kern="1200"/>
        </a:p>
      </dsp:txBody>
      <dsp:txXfrm>
        <a:off x="1985778" y="1175957"/>
        <a:ext cx="674336" cy="457170"/>
      </dsp:txXfrm>
    </dsp:sp>
    <dsp:sp modelId="{23EECB38-53F5-4ADE-AA80-AF0002892AFB}">
      <dsp:nvSpPr>
        <dsp:cNvPr id="0" name=""/>
        <dsp:cNvSpPr/>
      </dsp:nvSpPr>
      <dsp:spPr>
        <a:xfrm>
          <a:off x="2684852" y="1199540"/>
          <a:ext cx="526431" cy="409492"/>
        </a:xfrm>
        <a:prstGeom prst="rect">
          <a:avLst/>
        </a:prstGeom>
        <a:noFill/>
        <a:ln>
          <a:noFill/>
        </a:ln>
        <a:effectLst/>
      </dsp:spPr>
      <dsp:style>
        <a:lnRef idx="0">
          <a:scrgbClr r="0" g="0" b="0"/>
        </a:lnRef>
        <a:fillRef idx="0">
          <a:scrgbClr r="0" g="0" b="0"/>
        </a:fillRef>
        <a:effectRef idx="0">
          <a:scrgbClr r="0" g="0" b="0"/>
        </a:effectRef>
        <a:fontRef idx="minor"/>
      </dsp:style>
    </dsp:sp>
    <dsp:sp modelId="{58BB0B8F-EA99-4189-858C-07B9412D71D5}">
      <dsp:nvSpPr>
        <dsp:cNvPr id="0" name=""/>
        <dsp:cNvSpPr/>
      </dsp:nvSpPr>
      <dsp:spPr>
        <a:xfrm>
          <a:off x="2561157" y="1720349"/>
          <a:ext cx="723810" cy="506644"/>
        </a:xfrm>
        <a:prstGeom prst="roundRect">
          <a:avLst>
            <a:gd name="adj" fmla="val 1667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kern="1200">
              <a:latin typeface="EYInterstate" panose="02000503020000020004" pitchFamily="2" charset="0"/>
            </a:rPr>
            <a:t>Disposal</a:t>
          </a:r>
          <a:endParaRPr lang="en-IN" sz="400" kern="1200">
            <a:latin typeface="EYInterstate" panose="02000503020000020004" pitchFamily="2" charset="0"/>
          </a:endParaRPr>
        </a:p>
      </dsp:txBody>
      <dsp:txXfrm>
        <a:off x="2585894" y="1745086"/>
        <a:ext cx="674336" cy="457170"/>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F7C7B73-A279-4049-BC8A-872F7E6AE87A}">
      <dsp:nvSpPr>
        <dsp:cNvPr id="0" name=""/>
        <dsp:cNvSpPr/>
      </dsp:nvSpPr>
      <dsp:spPr>
        <a:xfrm>
          <a:off x="833" y="0"/>
          <a:ext cx="2141738" cy="513044"/>
        </a:xfrm>
        <a:prstGeom prst="homePlate">
          <a:avLst/>
        </a:prstGeom>
        <a:noFill/>
        <a:ln w="1905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8674" tIns="29337" rIns="14669" bIns="29337" numCol="1" spcCol="1270" anchor="ctr" anchorCtr="0">
          <a:noAutofit/>
        </a:bodyPr>
        <a:lstStyle/>
        <a:p>
          <a:pPr marL="0" lvl="0" indent="0" algn="ctr" defTabSz="488950">
            <a:lnSpc>
              <a:spcPct val="90000"/>
            </a:lnSpc>
            <a:spcBef>
              <a:spcPct val="0"/>
            </a:spcBef>
            <a:spcAft>
              <a:spcPct val="35000"/>
            </a:spcAft>
            <a:buNone/>
          </a:pPr>
          <a:r>
            <a:rPr lang="en-IN" sz="1100" b="1" kern="1200">
              <a:solidFill>
                <a:srgbClr val="FFFF00"/>
              </a:solidFill>
              <a:latin typeface="EYInterstate Light" panose="02000506000000020004" pitchFamily="2" charset="0"/>
            </a:rPr>
            <a:t>Policy &amp; Governance</a:t>
          </a:r>
        </a:p>
      </dsp:txBody>
      <dsp:txXfrm>
        <a:off x="833" y="0"/>
        <a:ext cx="2013477" cy="513044"/>
      </dsp:txXfrm>
    </dsp:sp>
    <dsp:sp modelId="{7350C35C-BCCD-4D8F-AD93-6BB4026C502C}">
      <dsp:nvSpPr>
        <dsp:cNvPr id="0" name=""/>
        <dsp:cNvSpPr/>
      </dsp:nvSpPr>
      <dsp:spPr>
        <a:xfrm>
          <a:off x="1714224" y="0"/>
          <a:ext cx="2410805" cy="513044"/>
        </a:xfrm>
        <a:prstGeom prst="chevron">
          <a:avLst/>
        </a:prstGeom>
        <a:noFill/>
        <a:ln w="1905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006" tIns="29337" rIns="14669" bIns="29337" numCol="1" spcCol="1270" anchor="ctr" anchorCtr="0">
          <a:noAutofit/>
        </a:bodyPr>
        <a:lstStyle/>
        <a:p>
          <a:pPr marL="0" lvl="0" indent="0" algn="ctr" defTabSz="488950">
            <a:lnSpc>
              <a:spcPct val="90000"/>
            </a:lnSpc>
            <a:spcBef>
              <a:spcPct val="0"/>
            </a:spcBef>
            <a:spcAft>
              <a:spcPct val="35000"/>
            </a:spcAft>
            <a:buNone/>
          </a:pPr>
          <a:r>
            <a:rPr lang="en-IN" sz="1100" b="1" kern="1200">
              <a:solidFill>
                <a:srgbClr val="FFFF00"/>
              </a:solidFill>
              <a:latin typeface="EYInterstate Light" panose="02000506000000020004" pitchFamily="2" charset="0"/>
            </a:rPr>
            <a:t>Process &amp; Controls</a:t>
          </a:r>
        </a:p>
      </dsp:txBody>
      <dsp:txXfrm>
        <a:off x="1970746" y="0"/>
        <a:ext cx="1897761" cy="513044"/>
      </dsp:txXfrm>
    </dsp:sp>
    <dsp:sp modelId="{5EC1D898-2415-439B-BC54-E902A3EF2FF6}">
      <dsp:nvSpPr>
        <dsp:cNvPr id="0" name=""/>
        <dsp:cNvSpPr/>
      </dsp:nvSpPr>
      <dsp:spPr>
        <a:xfrm>
          <a:off x="3696681" y="0"/>
          <a:ext cx="2141738" cy="513044"/>
        </a:xfrm>
        <a:prstGeom prst="chevron">
          <a:avLst/>
        </a:prstGeom>
        <a:noFill/>
        <a:ln w="1905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006" tIns="29337" rIns="14669" bIns="29337" numCol="1" spcCol="1270" anchor="ctr" anchorCtr="0">
          <a:noAutofit/>
        </a:bodyPr>
        <a:lstStyle/>
        <a:p>
          <a:pPr marL="0" lvl="0" indent="0" algn="ctr" defTabSz="488950">
            <a:lnSpc>
              <a:spcPct val="90000"/>
            </a:lnSpc>
            <a:spcBef>
              <a:spcPct val="0"/>
            </a:spcBef>
            <a:spcAft>
              <a:spcPct val="35000"/>
            </a:spcAft>
            <a:buNone/>
          </a:pPr>
          <a:r>
            <a:rPr lang="en-IN" sz="1100" b="1" kern="1200">
              <a:solidFill>
                <a:srgbClr val="FFFF00"/>
              </a:solidFill>
              <a:latin typeface="EYInterstate Light" panose="02000506000000020004" pitchFamily="2" charset="0"/>
            </a:rPr>
            <a:t>Data &amp; Systems</a:t>
          </a:r>
        </a:p>
      </dsp:txBody>
      <dsp:txXfrm>
        <a:off x="3953203" y="0"/>
        <a:ext cx="1628694" cy="513044"/>
      </dsp:txXfrm>
    </dsp:sp>
    <dsp:sp modelId="{AA29524E-7650-4126-AC14-98151608EC74}">
      <dsp:nvSpPr>
        <dsp:cNvPr id="0" name=""/>
        <dsp:cNvSpPr/>
      </dsp:nvSpPr>
      <dsp:spPr>
        <a:xfrm>
          <a:off x="5410072" y="0"/>
          <a:ext cx="2141738" cy="513044"/>
        </a:xfrm>
        <a:prstGeom prst="chevron">
          <a:avLst/>
        </a:prstGeom>
        <a:noFill/>
        <a:ln w="1905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006" tIns="29337" rIns="14669" bIns="29337" numCol="1" spcCol="1270" anchor="ctr" anchorCtr="0">
          <a:noAutofit/>
        </a:bodyPr>
        <a:lstStyle/>
        <a:p>
          <a:pPr marL="0" lvl="0" indent="0" algn="ctr" defTabSz="488950">
            <a:lnSpc>
              <a:spcPct val="90000"/>
            </a:lnSpc>
            <a:spcBef>
              <a:spcPct val="0"/>
            </a:spcBef>
            <a:spcAft>
              <a:spcPct val="35000"/>
            </a:spcAft>
            <a:buFont typeface="EYInterstate Light" pitchFamily="2"/>
            <a:buNone/>
          </a:pPr>
          <a:r>
            <a:rPr lang="en-IN" sz="1100" b="1" kern="1200">
              <a:solidFill>
                <a:srgbClr val="FFFF00"/>
              </a:solidFill>
              <a:latin typeface="EYInterstate Light" panose="02000506000000020004" pitchFamily="2" charset="0"/>
            </a:rPr>
            <a:t>Accounting &amp; </a:t>
          </a:r>
          <a:br>
            <a:rPr lang="en-IN" sz="1100" b="1" kern="1200">
              <a:solidFill>
                <a:srgbClr val="FFFF00"/>
              </a:solidFill>
              <a:latin typeface="EYInterstate Light" panose="02000506000000020004" pitchFamily="2" charset="0"/>
            </a:rPr>
          </a:br>
          <a:r>
            <a:rPr lang="en-IN" sz="1100" b="1" kern="1200">
              <a:solidFill>
                <a:srgbClr val="FFFF00"/>
              </a:solidFill>
              <a:latin typeface="EYInterstate Light" panose="02000506000000020004" pitchFamily="2" charset="0"/>
            </a:rPr>
            <a:t>Reporting</a:t>
          </a:r>
        </a:p>
      </dsp:txBody>
      <dsp:txXfrm>
        <a:off x="5666594" y="0"/>
        <a:ext cx="1628694" cy="513044"/>
      </dsp:txXfrm>
    </dsp:sp>
    <dsp:sp modelId="{4DA17925-EF01-418F-A4EF-043C58E5D173}">
      <dsp:nvSpPr>
        <dsp:cNvPr id="0" name=""/>
        <dsp:cNvSpPr/>
      </dsp:nvSpPr>
      <dsp:spPr>
        <a:xfrm>
          <a:off x="7123463" y="0"/>
          <a:ext cx="2141738" cy="513044"/>
        </a:xfrm>
        <a:prstGeom prst="chevron">
          <a:avLst/>
        </a:prstGeom>
        <a:noFill/>
        <a:ln w="1905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006" tIns="29337" rIns="14669" bIns="29337" numCol="1" spcCol="1270" anchor="ctr" anchorCtr="0">
          <a:noAutofit/>
        </a:bodyPr>
        <a:lstStyle/>
        <a:p>
          <a:pPr marL="0" lvl="0" indent="0" algn="ctr" defTabSz="488950">
            <a:lnSpc>
              <a:spcPct val="90000"/>
            </a:lnSpc>
            <a:spcBef>
              <a:spcPct val="0"/>
            </a:spcBef>
            <a:spcAft>
              <a:spcPct val="35000"/>
            </a:spcAft>
            <a:buFont typeface="EYInterstate Light" pitchFamily="2"/>
            <a:buNone/>
          </a:pPr>
          <a:r>
            <a:rPr lang="en-IN" sz="1100" b="1" kern="1200">
              <a:solidFill>
                <a:srgbClr val="FFFF00"/>
              </a:solidFill>
              <a:latin typeface="EYInterstate Light" panose="02000506000000020004" pitchFamily="2" charset="0"/>
            </a:rPr>
            <a:t>Monitoring &amp; </a:t>
          </a:r>
          <a:br>
            <a:rPr lang="en-IN" sz="1200" b="1" kern="1200">
              <a:solidFill>
                <a:srgbClr val="FFFF00"/>
              </a:solidFill>
              <a:latin typeface="EYInterstate Light" panose="02000506000000020004" pitchFamily="2" charset="0"/>
            </a:rPr>
          </a:br>
          <a:r>
            <a:rPr lang="en-IN" sz="1100" b="1" kern="1200">
              <a:solidFill>
                <a:srgbClr val="FFFF00"/>
              </a:solidFill>
              <a:latin typeface="EYInterstate Light" panose="02000506000000020004" pitchFamily="2" charset="0"/>
            </a:rPr>
            <a:t>Compliance</a:t>
          </a:r>
        </a:p>
      </dsp:txBody>
      <dsp:txXfrm>
        <a:off x="7379985" y="0"/>
        <a:ext cx="1628694" cy="513044"/>
      </dsp:txXfrm>
    </dsp:sp>
    <dsp:sp modelId="{F749D8D7-A88C-4940-8AE9-8B6106CD2759}">
      <dsp:nvSpPr>
        <dsp:cNvPr id="0" name=""/>
        <dsp:cNvSpPr/>
      </dsp:nvSpPr>
      <dsp:spPr>
        <a:xfrm>
          <a:off x="8836854" y="0"/>
          <a:ext cx="2141738" cy="513044"/>
        </a:xfrm>
        <a:prstGeom prst="chevron">
          <a:avLst/>
        </a:prstGeom>
        <a:noFill/>
        <a:ln w="1905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006" tIns="29337" rIns="14669" bIns="29337" numCol="1" spcCol="1270" anchor="ctr" anchorCtr="0">
          <a:noAutofit/>
        </a:bodyPr>
        <a:lstStyle/>
        <a:p>
          <a:pPr marL="0" lvl="0" indent="0" algn="ctr" defTabSz="488950">
            <a:lnSpc>
              <a:spcPct val="90000"/>
            </a:lnSpc>
            <a:spcBef>
              <a:spcPct val="0"/>
            </a:spcBef>
            <a:spcAft>
              <a:spcPct val="35000"/>
            </a:spcAft>
            <a:buFont typeface="EYInterstate Light" pitchFamily="2"/>
            <a:buNone/>
          </a:pPr>
          <a:r>
            <a:rPr lang="en-IN" sz="1100" b="1" kern="1200">
              <a:solidFill>
                <a:srgbClr val="FFFF00"/>
              </a:solidFill>
              <a:latin typeface="EYInterstate Light" panose="02000506000000020004" pitchFamily="2" charset="0"/>
            </a:rPr>
            <a:t>Special Scenarios</a:t>
          </a:r>
        </a:p>
      </dsp:txBody>
      <dsp:txXfrm>
        <a:off x="9093376" y="0"/>
        <a:ext cx="1628694" cy="513044"/>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57E6C6C-DC51-490B-92BF-A21575B9CAF5}">
      <dsp:nvSpPr>
        <dsp:cNvPr id="0" name=""/>
        <dsp:cNvSpPr/>
      </dsp:nvSpPr>
      <dsp:spPr>
        <a:xfrm>
          <a:off x="23896" y="483234"/>
          <a:ext cx="1608134" cy="1200438"/>
        </a:xfrm>
        <a:prstGeom prst="round2SameRect">
          <a:avLst>
            <a:gd name="adj1" fmla="val 8000"/>
            <a:gd name="adj2" fmla="val 0"/>
          </a:avLst>
        </a:prstGeom>
        <a:solidFill>
          <a:schemeClr val="bg2">
            <a:lumMod val="50000"/>
            <a:alpha val="90000"/>
          </a:schemeClr>
        </a:solidFill>
        <a:ln w="12700" cap="flat" cmpd="sng" algn="ctr">
          <a:solidFill>
            <a:schemeClr val="tx1">
              <a:lumMod val="95000"/>
              <a:lumOff val="5000"/>
            </a:schemeClr>
          </a:solidFill>
          <a:prstDash val="solid"/>
          <a:miter lim="800000"/>
        </a:ln>
        <a:effectLst/>
      </dsp:spPr>
      <dsp:style>
        <a:lnRef idx="1">
          <a:scrgbClr r="0" g="0" b="0"/>
        </a:lnRef>
        <a:fillRef idx="1">
          <a:scrgbClr r="0" g="0" b="0"/>
        </a:fillRef>
        <a:effectRef idx="2">
          <a:scrgbClr r="0" g="0" b="0"/>
        </a:effectRef>
        <a:fontRef idx="minor"/>
      </dsp:style>
    </dsp:sp>
    <dsp:sp modelId="{ABA46F2B-47C8-4BC1-B861-7049B2DDF3A0}">
      <dsp:nvSpPr>
        <dsp:cNvPr id="0" name=""/>
        <dsp:cNvSpPr/>
      </dsp:nvSpPr>
      <dsp:spPr>
        <a:xfrm>
          <a:off x="2878" y="1687526"/>
          <a:ext cx="1608134" cy="516188"/>
        </a:xfrm>
        <a:prstGeom prst="rect">
          <a:avLst/>
        </a:prstGeom>
        <a:solidFill>
          <a:srgbClr val="FFE600"/>
        </a:solidFill>
        <a:ln w="12700" cap="flat" cmpd="sng" algn="ctr">
          <a:solidFill>
            <a:schemeClr val="tx1"/>
          </a:solidFill>
          <a:prstDash val="solid"/>
          <a:miter lim="800000"/>
        </a:ln>
        <a:effectLst>
          <a:outerShdw blurRad="57150" dist="19050" dir="5400000" algn="ctr" rotWithShape="0">
            <a:srgbClr val="000000">
              <a:alpha val="63000"/>
            </a:srgbClr>
          </a:outerShdw>
        </a:effectLst>
      </dsp:spPr>
      <dsp:style>
        <a:lnRef idx="1">
          <a:scrgbClr r="0" g="0" b="0"/>
        </a:lnRef>
        <a:fillRef idx="3">
          <a:scrgbClr r="0" g="0" b="0"/>
        </a:fillRef>
        <a:effectRef idx="3">
          <a:scrgbClr r="0" g="0" b="0"/>
        </a:effectRef>
        <a:fontRef idx="minor">
          <a:schemeClr val="lt1"/>
        </a:fontRef>
      </dsp:style>
      <dsp:txBody>
        <a:bodyPr spcFirstLastPara="0" vert="horz" wrap="square" lIns="41910" tIns="0" rIns="13970" bIns="0" numCol="1" spcCol="1270" anchor="ctr" anchorCtr="0">
          <a:noAutofit/>
        </a:bodyPr>
        <a:lstStyle/>
        <a:p>
          <a:pPr marL="0" lvl="0" indent="0" algn="l" defTabSz="488950">
            <a:lnSpc>
              <a:spcPct val="90000"/>
            </a:lnSpc>
            <a:spcBef>
              <a:spcPct val="0"/>
            </a:spcBef>
            <a:spcAft>
              <a:spcPct val="35000"/>
            </a:spcAft>
            <a:buNone/>
          </a:pPr>
          <a:r>
            <a:rPr kumimoji="0" lang="en-US" altLang="en-US" sz="1100" b="1" i="0" u="none" strike="noStrike" kern="1200" cap="none" normalizeH="0" baseline="0">
              <a:ln/>
              <a:solidFill>
                <a:schemeClr val="tx1"/>
              </a:solidFill>
              <a:effectLst/>
              <a:latin typeface="EYInterstate" panose="02000503020000020004" pitchFamily="2" charset="0"/>
            </a:rPr>
            <a:t>Right‑first‑time depreciation</a:t>
          </a:r>
          <a:endParaRPr lang="en-IN" sz="1100" kern="1200">
            <a:solidFill>
              <a:schemeClr val="tx1"/>
            </a:solidFill>
            <a:latin typeface="EYInterstate" panose="02000503020000020004" pitchFamily="2" charset="0"/>
          </a:endParaRPr>
        </a:p>
      </dsp:txBody>
      <dsp:txXfrm>
        <a:off x="2878" y="1687526"/>
        <a:ext cx="1132489" cy="516188"/>
      </dsp:txXfrm>
    </dsp:sp>
    <dsp:sp modelId="{D0969329-C8CA-475F-914D-1A58ECC17DAC}">
      <dsp:nvSpPr>
        <dsp:cNvPr id="0" name=""/>
        <dsp:cNvSpPr/>
      </dsp:nvSpPr>
      <dsp:spPr>
        <a:xfrm>
          <a:off x="1025682" y="1749295"/>
          <a:ext cx="656448" cy="562847"/>
        </a:xfrm>
        <a:prstGeom prst="ellipse">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2700" cap="flat" cmpd="sng" algn="ctr">
          <a:noFill/>
          <a:prstDash val="solid"/>
          <a:miter lim="800000"/>
        </a:ln>
        <a:effectLst/>
      </dsp:spPr>
      <dsp:style>
        <a:lnRef idx="1">
          <a:scrgbClr r="0" g="0" b="0"/>
        </a:lnRef>
        <a:fillRef idx="1">
          <a:scrgbClr r="0" g="0" b="0"/>
        </a:fillRef>
        <a:effectRef idx="2">
          <a:scrgbClr r="0" g="0" b="0"/>
        </a:effectRef>
        <a:fontRef idx="minor"/>
      </dsp:style>
    </dsp:sp>
    <dsp:sp modelId="{AE927A31-DF4C-428D-91B6-316AFA12BBA1}">
      <dsp:nvSpPr>
        <dsp:cNvPr id="0" name=""/>
        <dsp:cNvSpPr/>
      </dsp:nvSpPr>
      <dsp:spPr>
        <a:xfrm>
          <a:off x="1929949" y="487088"/>
          <a:ext cx="1608134" cy="1200438"/>
        </a:xfrm>
        <a:prstGeom prst="round2SameRect">
          <a:avLst>
            <a:gd name="adj1" fmla="val 8000"/>
            <a:gd name="adj2" fmla="val 0"/>
          </a:avLst>
        </a:prstGeom>
        <a:solidFill>
          <a:schemeClr val="bg2">
            <a:lumMod val="50000"/>
            <a:alpha val="90000"/>
          </a:schemeClr>
        </a:solidFill>
        <a:ln w="12700" cap="flat" cmpd="sng" algn="ctr">
          <a:solidFill>
            <a:schemeClr val="tx1"/>
          </a:solidFill>
          <a:prstDash val="solid"/>
          <a:miter lim="800000"/>
        </a:ln>
        <a:effectLst/>
      </dsp:spPr>
      <dsp:style>
        <a:lnRef idx="1">
          <a:scrgbClr r="0" g="0" b="0"/>
        </a:lnRef>
        <a:fillRef idx="1">
          <a:scrgbClr r="0" g="0" b="0"/>
        </a:fillRef>
        <a:effectRef idx="2">
          <a:scrgbClr r="0" g="0" b="0"/>
        </a:effectRef>
        <a:fontRef idx="minor"/>
      </dsp:style>
    </dsp:sp>
    <dsp:sp modelId="{66B92175-CF0A-41E2-B452-B8CE017012CE}">
      <dsp:nvSpPr>
        <dsp:cNvPr id="0" name=""/>
        <dsp:cNvSpPr/>
      </dsp:nvSpPr>
      <dsp:spPr>
        <a:xfrm>
          <a:off x="1929949" y="1687526"/>
          <a:ext cx="1608134" cy="516188"/>
        </a:xfrm>
        <a:prstGeom prst="rect">
          <a:avLst/>
        </a:prstGeom>
        <a:solidFill>
          <a:srgbClr val="FFE600"/>
        </a:solidFill>
        <a:ln w="12700" cap="flat" cmpd="sng" algn="ctr">
          <a:solidFill>
            <a:schemeClr val="tx1"/>
          </a:solidFill>
          <a:prstDash val="solid"/>
          <a:miter lim="800000"/>
        </a:ln>
        <a:effectLst>
          <a:outerShdw blurRad="57150" dist="19050" dir="5400000" algn="ctr" rotWithShape="0">
            <a:srgbClr val="000000">
              <a:alpha val="63000"/>
            </a:srgbClr>
          </a:outerShdw>
        </a:effectLst>
      </dsp:spPr>
      <dsp:style>
        <a:lnRef idx="1">
          <a:scrgbClr r="0" g="0" b="0"/>
        </a:lnRef>
        <a:fillRef idx="3">
          <a:scrgbClr r="0" g="0" b="0"/>
        </a:fillRef>
        <a:effectRef idx="3">
          <a:scrgbClr r="0" g="0" b="0"/>
        </a:effectRef>
        <a:fontRef idx="minor">
          <a:schemeClr val="lt1"/>
        </a:fontRef>
      </dsp:style>
      <dsp:txBody>
        <a:bodyPr spcFirstLastPara="0" vert="horz" wrap="square" lIns="41910" tIns="0" rIns="13970" bIns="0" numCol="1" spcCol="1270" anchor="ctr" anchorCtr="0">
          <a:noAutofit/>
        </a:bodyPr>
        <a:lstStyle/>
        <a:p>
          <a:pPr marL="0" lvl="0" indent="0" algn="l" defTabSz="488950">
            <a:lnSpc>
              <a:spcPct val="90000"/>
            </a:lnSpc>
            <a:spcBef>
              <a:spcPct val="0"/>
            </a:spcBef>
            <a:spcAft>
              <a:spcPct val="35000"/>
            </a:spcAft>
            <a:buNone/>
          </a:pPr>
          <a:r>
            <a:rPr kumimoji="0" lang="en-US" altLang="en-US" sz="1100" b="1" i="0" u="none" strike="noStrike" kern="1200" cap="none" normalizeH="0" baseline="0">
              <a:ln/>
              <a:solidFill>
                <a:schemeClr val="tx1"/>
              </a:solidFill>
              <a:effectLst/>
              <a:latin typeface="EYInterstate" panose="02000503020000020004" pitchFamily="2" charset="0"/>
            </a:rPr>
            <a:t>Cycle time</a:t>
          </a:r>
          <a:endParaRPr lang="en-IN" sz="1100" kern="1200">
            <a:solidFill>
              <a:schemeClr val="tx1"/>
            </a:solidFill>
            <a:latin typeface="EYInterstate" panose="02000503020000020004" pitchFamily="2" charset="0"/>
          </a:endParaRPr>
        </a:p>
      </dsp:txBody>
      <dsp:txXfrm>
        <a:off x="1929949" y="1687526"/>
        <a:ext cx="1132489" cy="516188"/>
      </dsp:txXfrm>
    </dsp:sp>
    <dsp:sp modelId="{715E0911-231E-44BE-A05D-58552F80446C}">
      <dsp:nvSpPr>
        <dsp:cNvPr id="0" name=""/>
        <dsp:cNvSpPr/>
      </dsp:nvSpPr>
      <dsp:spPr>
        <a:xfrm>
          <a:off x="2955313" y="1670496"/>
          <a:ext cx="562847" cy="562847"/>
        </a:xfrm>
        <a:prstGeom prst="ellipse">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miter lim="800000"/>
        </a:ln>
        <a:effectLst/>
      </dsp:spPr>
      <dsp:style>
        <a:lnRef idx="1">
          <a:scrgbClr r="0" g="0" b="0"/>
        </a:lnRef>
        <a:fillRef idx="1">
          <a:scrgbClr r="0" g="0" b="0"/>
        </a:fillRef>
        <a:effectRef idx="2">
          <a:scrgbClr r="0" g="0" b="0"/>
        </a:effectRef>
        <a:fontRef idx="minor"/>
      </dsp:style>
    </dsp:sp>
    <dsp:sp modelId="{8FDEAE45-2B5B-4523-B855-2005F685C6F9}">
      <dsp:nvSpPr>
        <dsp:cNvPr id="0" name=""/>
        <dsp:cNvSpPr/>
      </dsp:nvSpPr>
      <dsp:spPr>
        <a:xfrm>
          <a:off x="3810219" y="498333"/>
          <a:ext cx="1608134" cy="1200438"/>
        </a:xfrm>
        <a:prstGeom prst="round2SameRect">
          <a:avLst>
            <a:gd name="adj1" fmla="val 8000"/>
            <a:gd name="adj2" fmla="val 0"/>
          </a:avLst>
        </a:prstGeom>
        <a:solidFill>
          <a:schemeClr val="bg2">
            <a:lumMod val="50000"/>
            <a:alpha val="90000"/>
          </a:schemeClr>
        </a:solidFill>
        <a:ln w="12700" cap="flat" cmpd="sng" algn="ctr">
          <a:solidFill>
            <a:schemeClr val="tx1"/>
          </a:solidFill>
          <a:prstDash val="solid"/>
          <a:miter lim="800000"/>
        </a:ln>
        <a:effectLst/>
      </dsp:spPr>
      <dsp:style>
        <a:lnRef idx="1">
          <a:scrgbClr r="0" g="0" b="0"/>
        </a:lnRef>
        <a:fillRef idx="1">
          <a:scrgbClr r="0" g="0" b="0"/>
        </a:fillRef>
        <a:effectRef idx="2">
          <a:scrgbClr r="0" g="0" b="0"/>
        </a:effectRef>
        <a:fontRef idx="minor"/>
      </dsp:style>
    </dsp:sp>
    <dsp:sp modelId="{93928B9C-9DD4-4D23-838A-EFFAF6D80417}">
      <dsp:nvSpPr>
        <dsp:cNvPr id="0" name=""/>
        <dsp:cNvSpPr/>
      </dsp:nvSpPr>
      <dsp:spPr>
        <a:xfrm>
          <a:off x="3810219" y="1698772"/>
          <a:ext cx="1608134" cy="516188"/>
        </a:xfrm>
        <a:prstGeom prst="rect">
          <a:avLst/>
        </a:prstGeom>
        <a:solidFill>
          <a:srgbClr val="FFE600"/>
        </a:solidFill>
        <a:ln w="12700" cap="flat" cmpd="sng" algn="ctr">
          <a:noFill/>
          <a:prstDash val="solid"/>
          <a:miter lim="800000"/>
        </a:ln>
        <a:effectLst>
          <a:outerShdw blurRad="57150" dist="19050" dir="5400000" algn="ctr" rotWithShape="0">
            <a:srgbClr val="000000">
              <a:alpha val="63000"/>
            </a:srgbClr>
          </a:outerShdw>
        </a:effectLst>
      </dsp:spPr>
      <dsp:style>
        <a:lnRef idx="1">
          <a:scrgbClr r="0" g="0" b="0"/>
        </a:lnRef>
        <a:fillRef idx="3">
          <a:scrgbClr r="0" g="0" b="0"/>
        </a:fillRef>
        <a:effectRef idx="3">
          <a:scrgbClr r="0" g="0" b="0"/>
        </a:effectRef>
        <a:fontRef idx="minor">
          <a:schemeClr val="lt1"/>
        </a:fontRef>
      </dsp:style>
      <dsp:txBody>
        <a:bodyPr spcFirstLastPara="0" vert="horz" wrap="square" lIns="41910" tIns="0" rIns="13970" bIns="0" numCol="1" spcCol="1270" anchor="ctr" anchorCtr="0">
          <a:noAutofit/>
        </a:bodyPr>
        <a:lstStyle/>
        <a:p>
          <a:pPr marL="0" lvl="0" indent="0" algn="l" defTabSz="488950">
            <a:lnSpc>
              <a:spcPct val="90000"/>
            </a:lnSpc>
            <a:spcBef>
              <a:spcPct val="0"/>
            </a:spcBef>
            <a:spcAft>
              <a:spcPct val="35000"/>
            </a:spcAft>
            <a:buNone/>
          </a:pPr>
          <a:r>
            <a:rPr kumimoji="0" lang="en-US" altLang="en-US" sz="1100" b="1" i="0" u="none" strike="noStrike" kern="1200" cap="none" normalizeH="0" baseline="0">
              <a:ln/>
              <a:solidFill>
                <a:schemeClr val="tx1"/>
              </a:solidFill>
              <a:effectLst/>
              <a:latin typeface="EYInterstate" panose="02000503020000020004" pitchFamily="2" charset="0"/>
            </a:rPr>
            <a:t>Variance analytics</a:t>
          </a:r>
          <a:endParaRPr lang="en-IN" sz="1100" kern="1200">
            <a:solidFill>
              <a:schemeClr val="tx1"/>
            </a:solidFill>
            <a:latin typeface="EYInterstate" panose="02000503020000020004" pitchFamily="2" charset="0"/>
          </a:endParaRPr>
        </a:p>
      </dsp:txBody>
      <dsp:txXfrm>
        <a:off x="3810219" y="1698772"/>
        <a:ext cx="1132489" cy="516188"/>
      </dsp:txXfrm>
    </dsp:sp>
    <dsp:sp modelId="{16AB668E-AA80-4936-BE49-F859DE0AA78E}">
      <dsp:nvSpPr>
        <dsp:cNvPr id="0" name=""/>
        <dsp:cNvSpPr/>
      </dsp:nvSpPr>
      <dsp:spPr>
        <a:xfrm>
          <a:off x="4657569" y="1721682"/>
          <a:ext cx="662882" cy="517864"/>
        </a:xfrm>
        <a:prstGeom prst="ellipse">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2700" cap="flat" cmpd="sng" algn="ctr">
          <a:noFill/>
          <a:prstDash val="solid"/>
          <a:miter lim="800000"/>
        </a:ln>
        <a:effectLst/>
      </dsp:spPr>
      <dsp:style>
        <a:lnRef idx="1">
          <a:scrgbClr r="0" g="0" b="0"/>
        </a:lnRef>
        <a:fillRef idx="1">
          <a:scrgbClr r="0" g="0" b="0"/>
        </a:fillRef>
        <a:effectRef idx="2">
          <a:scrgbClr r="0" g="0" b="0"/>
        </a:effectRef>
        <a:fontRef idx="minor"/>
      </dsp:style>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26CF48-2621-44F2-9845-C0CAF6971A29}">
      <dsp:nvSpPr>
        <dsp:cNvPr id="0" name=""/>
        <dsp:cNvSpPr/>
      </dsp:nvSpPr>
      <dsp:spPr>
        <a:xfrm>
          <a:off x="3706" y="777090"/>
          <a:ext cx="2098839" cy="839535"/>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1430" rIns="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solidFill>
                <a:srgbClr val="FFE600"/>
              </a:solidFill>
              <a:latin typeface="EY interstate"/>
            </a:rPr>
            <a:t>Revaluation</a:t>
          </a:r>
        </a:p>
      </dsp:txBody>
      <dsp:txXfrm>
        <a:off x="423474" y="777090"/>
        <a:ext cx="1259304" cy="839535"/>
      </dsp:txXfrm>
    </dsp:sp>
    <dsp:sp modelId="{06DAB5EE-E90C-48A3-AA76-BE6932423A51}">
      <dsp:nvSpPr>
        <dsp:cNvPr id="0" name=""/>
        <dsp:cNvSpPr/>
      </dsp:nvSpPr>
      <dsp:spPr>
        <a:xfrm>
          <a:off x="1829696" y="848450"/>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Trigger Identification</a:t>
          </a:r>
        </a:p>
      </dsp:txBody>
      <dsp:txXfrm>
        <a:off x="2178103" y="848450"/>
        <a:ext cx="1045223" cy="696814"/>
      </dsp:txXfrm>
    </dsp:sp>
    <dsp:sp modelId="{E422D08A-C637-4396-94D0-55342A8426F4}">
      <dsp:nvSpPr>
        <dsp:cNvPr id="0" name=""/>
        <dsp:cNvSpPr/>
      </dsp:nvSpPr>
      <dsp:spPr>
        <a:xfrm>
          <a:off x="3327847" y="848450"/>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Fair Value Input</a:t>
          </a:r>
        </a:p>
      </dsp:txBody>
      <dsp:txXfrm>
        <a:off x="3676254" y="848450"/>
        <a:ext cx="1045223" cy="696814"/>
      </dsp:txXfrm>
    </dsp:sp>
    <dsp:sp modelId="{18FAF3FF-B47D-4AFA-A0B3-4AF314420619}">
      <dsp:nvSpPr>
        <dsp:cNvPr id="0" name=""/>
        <dsp:cNvSpPr/>
      </dsp:nvSpPr>
      <dsp:spPr>
        <a:xfrm>
          <a:off x="4825999" y="848450"/>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Revaluation Calculation</a:t>
          </a:r>
        </a:p>
      </dsp:txBody>
      <dsp:txXfrm>
        <a:off x="5174406" y="848450"/>
        <a:ext cx="1045223" cy="696814"/>
      </dsp:txXfrm>
    </dsp:sp>
    <dsp:sp modelId="{1AD6DE83-171B-4DBA-9D29-0F60C3382ECE}">
      <dsp:nvSpPr>
        <dsp:cNvPr id="0" name=""/>
        <dsp:cNvSpPr/>
      </dsp:nvSpPr>
      <dsp:spPr>
        <a:xfrm>
          <a:off x="6324151" y="848450"/>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Accounting Entries</a:t>
          </a:r>
        </a:p>
      </dsp:txBody>
      <dsp:txXfrm>
        <a:off x="6672558" y="848450"/>
        <a:ext cx="1045223" cy="696814"/>
      </dsp:txXfrm>
    </dsp:sp>
    <dsp:sp modelId="{B8450E18-E85E-4095-A56C-2035260D45F5}">
      <dsp:nvSpPr>
        <dsp:cNvPr id="0" name=""/>
        <dsp:cNvSpPr/>
      </dsp:nvSpPr>
      <dsp:spPr>
        <a:xfrm>
          <a:off x="7822303" y="848450"/>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Audit Trail &amp; Reporting</a:t>
          </a:r>
        </a:p>
      </dsp:txBody>
      <dsp:txXfrm>
        <a:off x="8170710" y="848450"/>
        <a:ext cx="1045223" cy="696814"/>
      </dsp:txXfrm>
    </dsp:sp>
    <dsp:sp modelId="{610D89AB-8F2E-4048-8978-ED0F285E1A63}">
      <dsp:nvSpPr>
        <dsp:cNvPr id="0" name=""/>
        <dsp:cNvSpPr/>
      </dsp:nvSpPr>
      <dsp:spPr>
        <a:xfrm>
          <a:off x="44465" y="2896364"/>
          <a:ext cx="2098839" cy="839535"/>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1430" rIns="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solidFill>
                <a:srgbClr val="FFE600"/>
              </a:solidFill>
              <a:latin typeface="EY interstate"/>
            </a:rPr>
            <a:t>Impairment</a:t>
          </a:r>
        </a:p>
      </dsp:txBody>
      <dsp:txXfrm>
        <a:off x="464233" y="2896364"/>
        <a:ext cx="1259304" cy="839535"/>
      </dsp:txXfrm>
    </dsp:sp>
    <dsp:sp modelId="{1B850A2B-2557-49C4-980D-26F86D3CD37D}">
      <dsp:nvSpPr>
        <dsp:cNvPr id="0" name=""/>
        <dsp:cNvSpPr/>
      </dsp:nvSpPr>
      <dsp:spPr>
        <a:xfrm>
          <a:off x="1864157" y="2967731"/>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Trigger Identification</a:t>
          </a:r>
        </a:p>
      </dsp:txBody>
      <dsp:txXfrm>
        <a:off x="2212564" y="2967731"/>
        <a:ext cx="1045223" cy="696814"/>
      </dsp:txXfrm>
    </dsp:sp>
    <dsp:sp modelId="{7326CFEE-A32B-4D5E-94CC-260FB269AD1E}">
      <dsp:nvSpPr>
        <dsp:cNvPr id="0" name=""/>
        <dsp:cNvSpPr/>
      </dsp:nvSpPr>
      <dsp:spPr>
        <a:xfrm>
          <a:off x="3362311" y="2961711"/>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Recoverable Amount Calculation</a:t>
          </a:r>
        </a:p>
      </dsp:txBody>
      <dsp:txXfrm>
        <a:off x="3710718" y="2961711"/>
        <a:ext cx="1045223" cy="696814"/>
      </dsp:txXfrm>
    </dsp:sp>
    <dsp:sp modelId="{97728D86-884B-4113-B2D2-B36D2F5F75DF}">
      <dsp:nvSpPr>
        <dsp:cNvPr id="0" name=""/>
        <dsp:cNvSpPr/>
      </dsp:nvSpPr>
      <dsp:spPr>
        <a:xfrm>
          <a:off x="4861531" y="2964143"/>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Impairment Test</a:t>
          </a:r>
        </a:p>
      </dsp:txBody>
      <dsp:txXfrm>
        <a:off x="5209938" y="2964143"/>
        <a:ext cx="1045223" cy="696814"/>
      </dsp:txXfrm>
    </dsp:sp>
    <dsp:sp modelId="{531E0984-6DDD-4499-90E4-5D317399FF27}">
      <dsp:nvSpPr>
        <dsp:cNvPr id="0" name=""/>
        <dsp:cNvSpPr/>
      </dsp:nvSpPr>
      <dsp:spPr>
        <a:xfrm>
          <a:off x="6359683" y="2964143"/>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Accounting Entries</a:t>
          </a:r>
        </a:p>
      </dsp:txBody>
      <dsp:txXfrm>
        <a:off x="6708090" y="2964143"/>
        <a:ext cx="1045223" cy="696814"/>
      </dsp:txXfrm>
    </dsp:sp>
    <dsp:sp modelId="{16206522-551A-49BE-BB0C-F6EC58C1883A}">
      <dsp:nvSpPr>
        <dsp:cNvPr id="0" name=""/>
        <dsp:cNvSpPr/>
      </dsp:nvSpPr>
      <dsp:spPr>
        <a:xfrm>
          <a:off x="7857835" y="2964143"/>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Reversal Logic</a:t>
          </a:r>
        </a:p>
      </dsp:txBody>
      <dsp:txXfrm>
        <a:off x="8206242" y="2964143"/>
        <a:ext cx="1045223" cy="696814"/>
      </dsp:txXfrm>
    </dsp:sp>
    <dsp:sp modelId="{1D68735F-D983-48AA-8BA0-368EBA2992CA}">
      <dsp:nvSpPr>
        <dsp:cNvPr id="0" name=""/>
        <dsp:cNvSpPr/>
      </dsp:nvSpPr>
      <dsp:spPr>
        <a:xfrm>
          <a:off x="9322116" y="2964143"/>
          <a:ext cx="1742037" cy="696814"/>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Audit Trail &amp; Compliance</a:t>
          </a:r>
        </a:p>
      </dsp:txBody>
      <dsp:txXfrm>
        <a:off x="9670523" y="2964143"/>
        <a:ext cx="1045223" cy="696814"/>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26CF48-2621-44F2-9845-C0CAF6971A29}">
      <dsp:nvSpPr>
        <dsp:cNvPr id="0" name=""/>
        <dsp:cNvSpPr/>
      </dsp:nvSpPr>
      <dsp:spPr>
        <a:xfrm>
          <a:off x="3879" y="1384033"/>
          <a:ext cx="2196426" cy="878570"/>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1430" rIns="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solidFill>
                <a:srgbClr val="FFE600"/>
              </a:solidFill>
              <a:latin typeface="EY interstate"/>
            </a:rPr>
            <a:t>Depreciation</a:t>
          </a:r>
          <a:endParaRPr lang="en-IN" kern="1200" dirty="0">
            <a:solidFill>
              <a:srgbClr val="FFE600"/>
            </a:solidFill>
          </a:endParaRPr>
        </a:p>
      </dsp:txBody>
      <dsp:txXfrm>
        <a:off x="443164" y="1384033"/>
        <a:ext cx="1317856" cy="878570"/>
      </dsp:txXfrm>
    </dsp:sp>
    <dsp:sp modelId="{06DAB5EE-E90C-48A3-AA76-BE6932423A51}">
      <dsp:nvSpPr>
        <dsp:cNvPr id="0" name=""/>
        <dsp:cNvSpPr/>
      </dsp:nvSpPr>
      <dsp:spPr>
        <a:xfrm>
          <a:off x="1914768" y="1458711"/>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Validate Asset Master Data</a:t>
          </a:r>
        </a:p>
      </dsp:txBody>
      <dsp:txXfrm>
        <a:off x="2279375" y="1458711"/>
        <a:ext cx="1093820" cy="729213"/>
      </dsp:txXfrm>
    </dsp:sp>
    <dsp:sp modelId="{E422D08A-C637-4396-94D0-55342A8426F4}">
      <dsp:nvSpPr>
        <dsp:cNvPr id="0" name=""/>
        <dsp:cNvSpPr/>
      </dsp:nvSpPr>
      <dsp:spPr>
        <a:xfrm>
          <a:off x="3482578" y="1458711"/>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rgbClr val="FFE600"/>
              </a:solidFill>
              <a:latin typeface="EY interstate"/>
            </a:rPr>
            <a:t>Configure Depreciation Rules</a:t>
          </a:r>
        </a:p>
      </dsp:txBody>
      <dsp:txXfrm>
        <a:off x="3847185" y="1458711"/>
        <a:ext cx="1093820" cy="729213"/>
      </dsp:txXfrm>
    </dsp:sp>
    <dsp:sp modelId="{18FAF3FF-B47D-4AFA-A0B3-4AF314420619}">
      <dsp:nvSpPr>
        <dsp:cNvPr id="0" name=""/>
        <dsp:cNvSpPr/>
      </dsp:nvSpPr>
      <dsp:spPr>
        <a:xfrm>
          <a:off x="5050387" y="1458711"/>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Automate Data Extraction</a:t>
          </a:r>
        </a:p>
      </dsp:txBody>
      <dsp:txXfrm>
        <a:off x="5414994" y="1458711"/>
        <a:ext cx="1093820" cy="729213"/>
      </dsp:txXfrm>
    </dsp:sp>
    <dsp:sp modelId="{1AD6DE83-171B-4DBA-9D29-0F60C3382ECE}">
      <dsp:nvSpPr>
        <dsp:cNvPr id="0" name=""/>
        <dsp:cNvSpPr/>
      </dsp:nvSpPr>
      <dsp:spPr>
        <a:xfrm>
          <a:off x="6618196" y="1458711"/>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Depreciation Calculation Engine</a:t>
          </a:r>
        </a:p>
      </dsp:txBody>
      <dsp:txXfrm>
        <a:off x="6982803" y="1458711"/>
        <a:ext cx="1093820" cy="729213"/>
      </dsp:txXfrm>
    </dsp:sp>
    <dsp:sp modelId="{B8450E18-E85E-4095-A56C-2035260D45F5}">
      <dsp:nvSpPr>
        <dsp:cNvPr id="0" name=""/>
        <dsp:cNvSpPr/>
      </dsp:nvSpPr>
      <dsp:spPr>
        <a:xfrm>
          <a:off x="8186005" y="1458711"/>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Journal Entry Posting</a:t>
          </a:r>
        </a:p>
      </dsp:txBody>
      <dsp:txXfrm>
        <a:off x="8550612" y="1458711"/>
        <a:ext cx="1093820" cy="729213"/>
      </dsp:txXfrm>
    </dsp:sp>
    <dsp:sp modelId="{8468E6E3-FB77-4EE4-8C03-4150E0DB747E}">
      <dsp:nvSpPr>
        <dsp:cNvPr id="0" name=""/>
        <dsp:cNvSpPr/>
      </dsp:nvSpPr>
      <dsp:spPr>
        <a:xfrm>
          <a:off x="9675680" y="1457296"/>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Reporting &amp; Controls</a:t>
          </a:r>
        </a:p>
      </dsp:txBody>
      <dsp:txXfrm>
        <a:off x="10040287" y="1457296"/>
        <a:ext cx="1093820" cy="729213"/>
      </dsp:txXfrm>
    </dsp:sp>
    <dsp:sp modelId="{610D89AB-8F2E-4048-8978-ED0F285E1A63}">
      <dsp:nvSpPr>
        <dsp:cNvPr id="0" name=""/>
        <dsp:cNvSpPr/>
      </dsp:nvSpPr>
      <dsp:spPr>
        <a:xfrm>
          <a:off x="46532" y="3601844"/>
          <a:ext cx="2196426" cy="878570"/>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1430" rIns="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solidFill>
                <a:srgbClr val="FFE600"/>
              </a:solidFill>
              <a:latin typeface="EY interstate"/>
            </a:rPr>
            <a:t>Amortization</a:t>
          </a:r>
        </a:p>
      </dsp:txBody>
      <dsp:txXfrm>
        <a:off x="485817" y="3601844"/>
        <a:ext cx="1317856" cy="878570"/>
      </dsp:txXfrm>
    </dsp:sp>
    <dsp:sp modelId="{1B850A2B-2557-49C4-980D-26F86D3CD37D}">
      <dsp:nvSpPr>
        <dsp:cNvPr id="0" name=""/>
        <dsp:cNvSpPr/>
      </dsp:nvSpPr>
      <dsp:spPr>
        <a:xfrm>
          <a:off x="1950832" y="3676529"/>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Identify and Classify</a:t>
          </a:r>
        </a:p>
      </dsp:txBody>
      <dsp:txXfrm>
        <a:off x="2315439" y="3676529"/>
        <a:ext cx="1093820" cy="729213"/>
      </dsp:txXfrm>
    </dsp:sp>
    <dsp:sp modelId="{7326CFEE-A32B-4D5E-94CC-260FB269AD1E}">
      <dsp:nvSpPr>
        <dsp:cNvPr id="0" name=""/>
        <dsp:cNvSpPr/>
      </dsp:nvSpPr>
      <dsp:spPr>
        <a:xfrm>
          <a:off x="3518643" y="3670229"/>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Define Amortization Policy</a:t>
          </a:r>
        </a:p>
      </dsp:txBody>
      <dsp:txXfrm>
        <a:off x="3883250" y="3670229"/>
        <a:ext cx="1093820" cy="729213"/>
      </dsp:txXfrm>
    </dsp:sp>
    <dsp:sp modelId="{97728D86-884B-4113-B2D2-B36D2F5F75DF}">
      <dsp:nvSpPr>
        <dsp:cNvPr id="0" name=""/>
        <dsp:cNvSpPr/>
      </dsp:nvSpPr>
      <dsp:spPr>
        <a:xfrm>
          <a:off x="5087571" y="3672774"/>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Configure ERP/Automation Rules</a:t>
          </a:r>
        </a:p>
      </dsp:txBody>
      <dsp:txXfrm>
        <a:off x="5452178" y="3672774"/>
        <a:ext cx="1093820" cy="729213"/>
      </dsp:txXfrm>
    </dsp:sp>
    <dsp:sp modelId="{531E0984-6DDD-4499-90E4-5D317399FF27}">
      <dsp:nvSpPr>
        <dsp:cNvPr id="0" name=""/>
        <dsp:cNvSpPr/>
      </dsp:nvSpPr>
      <dsp:spPr>
        <a:xfrm>
          <a:off x="6655380" y="3672774"/>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Automate Data Integration</a:t>
          </a:r>
        </a:p>
      </dsp:txBody>
      <dsp:txXfrm>
        <a:off x="7019987" y="3672774"/>
        <a:ext cx="1093820" cy="729213"/>
      </dsp:txXfrm>
    </dsp:sp>
    <dsp:sp modelId="{16206522-551A-49BE-BB0C-F6EC58C1883A}">
      <dsp:nvSpPr>
        <dsp:cNvPr id="0" name=""/>
        <dsp:cNvSpPr/>
      </dsp:nvSpPr>
      <dsp:spPr>
        <a:xfrm>
          <a:off x="8223189" y="3672774"/>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Amortization Calculation &amp; Posting</a:t>
          </a:r>
        </a:p>
      </dsp:txBody>
      <dsp:txXfrm>
        <a:off x="8587796" y="3672774"/>
        <a:ext cx="1093820" cy="729213"/>
      </dsp:txXfrm>
    </dsp:sp>
    <dsp:sp modelId="{1D68735F-D983-48AA-8BA0-368EBA2992CA}">
      <dsp:nvSpPr>
        <dsp:cNvPr id="0" name=""/>
        <dsp:cNvSpPr/>
      </dsp:nvSpPr>
      <dsp:spPr>
        <a:xfrm>
          <a:off x="9755554" y="3672774"/>
          <a:ext cx="1823033" cy="729213"/>
        </a:xfrm>
        <a:prstGeom prst="chevron">
          <a:avLst/>
        </a:prstGeom>
        <a:no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8890" rIns="0" bIns="8890" numCol="1" spcCol="1270" anchor="ctr" anchorCtr="0">
          <a:noAutofit/>
        </a:bodyPr>
        <a:lstStyle/>
        <a:p>
          <a:pPr marL="0" lvl="0" indent="0" algn="ctr" defTabSz="622300">
            <a:lnSpc>
              <a:spcPct val="90000"/>
            </a:lnSpc>
            <a:spcBef>
              <a:spcPct val="0"/>
            </a:spcBef>
            <a:spcAft>
              <a:spcPct val="35000"/>
            </a:spcAft>
            <a:buNone/>
          </a:pPr>
          <a:r>
            <a:rPr lang="en-IN" sz="1400" b="1" kern="1200" dirty="0">
              <a:solidFill>
                <a:srgbClr val="FFE600"/>
              </a:solidFill>
              <a:latin typeface="EY interstate"/>
            </a:rPr>
            <a:t>Monitoring, Reporting &amp; Compliance</a:t>
          </a:r>
        </a:p>
      </dsp:txBody>
      <dsp:txXfrm>
        <a:off x="10120161" y="3672774"/>
        <a:ext cx="1093820" cy="729213"/>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A262DC9-BBBA-46F6-A9A4-110D78EE49B0}">
      <dsp:nvSpPr>
        <dsp:cNvPr id="0" name=""/>
        <dsp:cNvSpPr/>
      </dsp:nvSpPr>
      <dsp:spPr>
        <a:xfrm rot="16200000">
          <a:off x="-36937" y="1257627"/>
          <a:ext cx="2663051" cy="1627406"/>
        </a:xfrm>
        <a:prstGeom prst="round2SameRect">
          <a:avLst>
            <a:gd name="adj1" fmla="val 16670"/>
            <a:gd name="adj2" fmla="val 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1910" tIns="69850" rIns="62865" bIns="69850" numCol="1" spcCol="1270" anchor="t" anchorCtr="0">
          <a:noAutofit/>
        </a:bodyPr>
        <a:lstStyle/>
        <a:p>
          <a:pPr marL="0" lvl="0" indent="0" algn="ctr" defTabSz="466725">
            <a:lnSpc>
              <a:spcPct val="90000"/>
            </a:lnSpc>
            <a:spcBef>
              <a:spcPct val="0"/>
            </a:spcBef>
            <a:spcAft>
              <a:spcPct val="35000"/>
            </a:spcAft>
            <a:buNone/>
          </a:pPr>
          <a:r>
            <a:rPr lang="en-IN" sz="1050" b="1" kern="1200">
              <a:solidFill>
                <a:schemeClr val="bg1"/>
              </a:solidFill>
              <a:latin typeface="EY interstate"/>
            </a:rPr>
            <a:t>IAS 16</a:t>
          </a:r>
        </a:p>
        <a:p>
          <a:pPr marL="57150" lvl="1" indent="-57150" algn="l" defTabSz="444500">
            <a:lnSpc>
              <a:spcPct val="90000"/>
            </a:lnSpc>
            <a:spcBef>
              <a:spcPct val="0"/>
            </a:spcBef>
            <a:spcAft>
              <a:spcPct val="15000"/>
            </a:spcAft>
            <a:buFont typeface="Arial" panose="020B0604020202020204" pitchFamily="34" charset="0"/>
            <a:buNone/>
          </a:pPr>
          <a:endParaRPr lang="en-IN" sz="1000" kern="1200">
            <a:solidFill>
              <a:schemeClr val="bg1"/>
            </a:solidFill>
            <a:latin typeface="EY interstate"/>
          </a:endParaRPr>
        </a:p>
        <a:p>
          <a:pPr marL="57150" lvl="1" indent="-57150" algn="l" defTabSz="444500">
            <a:lnSpc>
              <a:spcPct val="90000"/>
            </a:lnSpc>
            <a:spcBef>
              <a:spcPct val="0"/>
            </a:spcBef>
            <a:spcAft>
              <a:spcPct val="15000"/>
            </a:spcAft>
            <a:buFont typeface="Arial" panose="020B0604020202020204" pitchFamily="34" charset="0"/>
            <a:buChar char="•"/>
          </a:pPr>
          <a:r>
            <a:rPr lang="en-IN" sz="1000" kern="1200">
              <a:solidFill>
                <a:schemeClr val="bg1"/>
              </a:solidFill>
              <a:latin typeface="EY interstate"/>
            </a:rPr>
            <a:t>AS 16 governs the accounting treatment for tangible fixed assets (e.g., buildings, machinery, vehicles) that are held for use in production, supply of goods/services, rental, or administrative purposes.</a:t>
          </a:r>
        </a:p>
        <a:p>
          <a:pPr marL="57150" lvl="1" indent="-57150" algn="l" defTabSz="444500">
            <a:lnSpc>
              <a:spcPct val="90000"/>
            </a:lnSpc>
            <a:spcBef>
              <a:spcPct val="0"/>
            </a:spcBef>
            <a:spcAft>
              <a:spcPct val="15000"/>
            </a:spcAft>
            <a:buChar char="•"/>
          </a:pPr>
          <a:r>
            <a:rPr lang="en-IN" sz="1000" i="1" kern="1200">
              <a:solidFill>
                <a:schemeClr val="bg1"/>
              </a:solidFill>
              <a:latin typeface="EY interstate"/>
            </a:rPr>
            <a:t>Property, Plant and Equipment: Governs recognition, measurement, and depreciation of fixed assets.</a:t>
          </a:r>
          <a:endParaRPr lang="en-IN" sz="1000" kern="1200">
            <a:solidFill>
              <a:schemeClr val="bg1"/>
            </a:solidFill>
            <a:latin typeface="EY interstate"/>
          </a:endParaRPr>
        </a:p>
      </dsp:txBody>
      <dsp:txXfrm rot="5400000">
        <a:off x="560343" y="819263"/>
        <a:ext cx="1547948" cy="2504135"/>
      </dsp:txXfrm>
    </dsp:sp>
    <dsp:sp modelId="{2EA358FF-33D2-4B02-B1E7-4BDDBD03C3BA}">
      <dsp:nvSpPr>
        <dsp:cNvPr id="0" name=""/>
        <dsp:cNvSpPr/>
      </dsp:nvSpPr>
      <dsp:spPr>
        <a:xfrm rot="5400000">
          <a:off x="1664366" y="1257627"/>
          <a:ext cx="2663051" cy="1627406"/>
        </a:xfrm>
        <a:prstGeom prst="round2SameRect">
          <a:avLst>
            <a:gd name="adj1" fmla="val 16670"/>
            <a:gd name="adj2" fmla="val 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2865" tIns="69850" rIns="41910" bIns="69850" numCol="1" spcCol="1270" anchor="t" anchorCtr="0">
          <a:noAutofit/>
        </a:bodyPr>
        <a:lstStyle/>
        <a:p>
          <a:pPr marL="0" lvl="0" indent="0" algn="ctr" defTabSz="466725">
            <a:lnSpc>
              <a:spcPct val="90000"/>
            </a:lnSpc>
            <a:spcBef>
              <a:spcPct val="0"/>
            </a:spcBef>
            <a:spcAft>
              <a:spcPct val="35000"/>
            </a:spcAft>
            <a:buNone/>
          </a:pPr>
          <a:r>
            <a:rPr lang="en-IN" sz="1050" b="1" kern="1200">
              <a:solidFill>
                <a:schemeClr val="bg1"/>
              </a:solidFill>
              <a:latin typeface="EY interstate"/>
            </a:rPr>
            <a:t>IFRS 16</a:t>
          </a:r>
        </a:p>
        <a:p>
          <a:pPr marL="57150" lvl="1" indent="-57150" algn="l" defTabSz="355600">
            <a:lnSpc>
              <a:spcPct val="90000"/>
            </a:lnSpc>
            <a:spcBef>
              <a:spcPct val="0"/>
            </a:spcBef>
            <a:spcAft>
              <a:spcPct val="15000"/>
            </a:spcAft>
            <a:buChar char="•"/>
          </a:pPr>
          <a:endParaRPr lang="en-IN" sz="800" kern="1200">
            <a:solidFill>
              <a:schemeClr val="bg1"/>
            </a:solidFill>
            <a:latin typeface="EY interstate"/>
          </a:endParaRPr>
        </a:p>
        <a:p>
          <a:pPr marL="57150" lvl="1" indent="-57150" algn="l" defTabSz="444500">
            <a:lnSpc>
              <a:spcPct val="90000"/>
            </a:lnSpc>
            <a:spcBef>
              <a:spcPct val="0"/>
            </a:spcBef>
            <a:spcAft>
              <a:spcPct val="15000"/>
            </a:spcAft>
            <a:buChar char="•"/>
          </a:pPr>
          <a:r>
            <a:rPr lang="en-IN" sz="1000" kern="1200">
              <a:solidFill>
                <a:schemeClr val="bg1"/>
              </a:solidFill>
              <a:latin typeface="EY interstate"/>
            </a:rPr>
            <a:t>IFRS 16 sets out principles for the recognition, measurement, presentation, and disclosure of leases. It aims to bring transparency by requiring lessees to recognize most leases on the balance sheet.</a:t>
          </a:r>
        </a:p>
        <a:p>
          <a:pPr marL="57150" lvl="1" indent="-57150" algn="l" defTabSz="444500">
            <a:lnSpc>
              <a:spcPct val="90000"/>
            </a:lnSpc>
            <a:spcBef>
              <a:spcPct val="0"/>
            </a:spcBef>
            <a:spcAft>
              <a:spcPct val="15000"/>
            </a:spcAft>
            <a:buChar char="•"/>
          </a:pPr>
          <a:r>
            <a:rPr lang="en-IN" sz="1000" kern="1200">
              <a:solidFill>
                <a:schemeClr val="bg1"/>
              </a:solidFill>
              <a:latin typeface="EY interstate"/>
            </a:rPr>
            <a:t>Leases: Applies if the asset is leased post-transfer or involves right-of-use assets.</a:t>
          </a:r>
        </a:p>
      </dsp:txBody>
      <dsp:txXfrm rot="-5400000">
        <a:off x="2182188" y="819263"/>
        <a:ext cx="1547948" cy="2504135"/>
      </dsp:txXfrm>
    </dsp:sp>
    <dsp:sp modelId="{B37D45D6-6F86-4B9B-B990-EE5A0B52794B}">
      <dsp:nvSpPr>
        <dsp:cNvPr id="0" name=""/>
        <dsp:cNvSpPr/>
      </dsp:nvSpPr>
      <dsp:spPr>
        <a:xfrm>
          <a:off x="1318512" y="-69120"/>
          <a:ext cx="1701303" cy="1701221"/>
        </a:xfrm>
        <a:prstGeom prst="circularArrow">
          <a:avLst>
            <a:gd name="adj1" fmla="val 12500"/>
            <a:gd name="adj2" fmla="val 1142322"/>
            <a:gd name="adj3" fmla="val 20457678"/>
            <a:gd name="adj4" fmla="val 10800000"/>
            <a:gd name="adj5" fmla="val 125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F8FBE4B-999D-4C34-B54E-8F43FE09136B}">
      <dsp:nvSpPr>
        <dsp:cNvPr id="0" name=""/>
        <dsp:cNvSpPr/>
      </dsp:nvSpPr>
      <dsp:spPr>
        <a:xfrm rot="10800000">
          <a:off x="1294422" y="2441026"/>
          <a:ext cx="1701303" cy="1701221"/>
        </a:xfrm>
        <a:prstGeom prst="circularArrow">
          <a:avLst>
            <a:gd name="adj1" fmla="val 12500"/>
            <a:gd name="adj2" fmla="val 1142322"/>
            <a:gd name="adj3" fmla="val 20457678"/>
            <a:gd name="adj4" fmla="val 10800000"/>
            <a:gd name="adj5" fmla="val 125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BE2E77-7328-4FCD-85A7-FA0791B80C0E}">
      <dsp:nvSpPr>
        <dsp:cNvPr id="0" name=""/>
        <dsp:cNvSpPr/>
      </dsp:nvSpPr>
      <dsp:spPr>
        <a:xfrm>
          <a:off x="0" y="743452"/>
          <a:ext cx="942975" cy="565785"/>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Depreciation Continuity</a:t>
          </a:r>
          <a:endParaRPr lang="en-IN" sz="800" b="1" kern="1200">
            <a:latin typeface="EY interstate"/>
          </a:endParaRPr>
        </a:p>
      </dsp:txBody>
      <dsp:txXfrm>
        <a:off x="16571" y="760023"/>
        <a:ext cx="909833" cy="532643"/>
      </dsp:txXfrm>
    </dsp:sp>
    <dsp:sp modelId="{A627DADF-6DAC-4D8F-86FD-8D8A8BB1085C}">
      <dsp:nvSpPr>
        <dsp:cNvPr id="0" name=""/>
        <dsp:cNvSpPr/>
      </dsp:nvSpPr>
      <dsp:spPr>
        <a:xfrm>
          <a:off x="1037272" y="909415"/>
          <a:ext cx="199910" cy="233857"/>
        </a:xfrm>
        <a:prstGeom prst="rightArrow">
          <a:avLst>
            <a:gd name="adj1" fmla="val 60000"/>
            <a:gd name="adj2" fmla="val 50000"/>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00050">
            <a:lnSpc>
              <a:spcPct val="90000"/>
            </a:lnSpc>
            <a:spcBef>
              <a:spcPct val="0"/>
            </a:spcBef>
            <a:spcAft>
              <a:spcPct val="35000"/>
            </a:spcAft>
            <a:buNone/>
          </a:pPr>
          <a:endParaRPr lang="en-IN" sz="900" kern="1200"/>
        </a:p>
      </dsp:txBody>
      <dsp:txXfrm>
        <a:off x="1037272" y="956186"/>
        <a:ext cx="139937" cy="140315"/>
      </dsp:txXfrm>
    </dsp:sp>
    <dsp:sp modelId="{59698703-D0BC-466B-8FD2-3A090CC974FC}">
      <dsp:nvSpPr>
        <dsp:cNvPr id="0" name=""/>
        <dsp:cNvSpPr/>
      </dsp:nvSpPr>
      <dsp:spPr>
        <a:xfrm>
          <a:off x="1320165" y="743452"/>
          <a:ext cx="942975" cy="565785"/>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Fair Value Reassessment</a:t>
          </a:r>
          <a:endParaRPr lang="en-IN" sz="800" b="1" kern="1200">
            <a:latin typeface="EY interstate"/>
          </a:endParaRPr>
        </a:p>
      </dsp:txBody>
      <dsp:txXfrm>
        <a:off x="1336736" y="760023"/>
        <a:ext cx="909833" cy="532643"/>
      </dsp:txXfrm>
    </dsp:sp>
    <dsp:sp modelId="{0C9608A6-391C-44C9-B661-A0D27E202049}">
      <dsp:nvSpPr>
        <dsp:cNvPr id="0" name=""/>
        <dsp:cNvSpPr/>
      </dsp:nvSpPr>
      <dsp:spPr>
        <a:xfrm>
          <a:off x="2357437" y="909415"/>
          <a:ext cx="199910" cy="233857"/>
        </a:xfrm>
        <a:prstGeom prst="rightArrow">
          <a:avLst>
            <a:gd name="adj1" fmla="val 60000"/>
            <a:gd name="adj2" fmla="val 50000"/>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00050">
            <a:lnSpc>
              <a:spcPct val="90000"/>
            </a:lnSpc>
            <a:spcBef>
              <a:spcPct val="0"/>
            </a:spcBef>
            <a:spcAft>
              <a:spcPct val="35000"/>
            </a:spcAft>
            <a:buNone/>
          </a:pPr>
          <a:endParaRPr lang="en-IN" sz="900" kern="1200"/>
        </a:p>
      </dsp:txBody>
      <dsp:txXfrm>
        <a:off x="2357437" y="956186"/>
        <a:ext cx="139937" cy="140315"/>
      </dsp:txXfrm>
    </dsp:sp>
    <dsp:sp modelId="{791A9745-7D5D-4ABD-8018-A021BE48BD17}">
      <dsp:nvSpPr>
        <dsp:cNvPr id="0" name=""/>
        <dsp:cNvSpPr/>
      </dsp:nvSpPr>
      <dsp:spPr>
        <a:xfrm>
          <a:off x="2640330" y="743452"/>
          <a:ext cx="942975" cy="565785"/>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Lease Reclassification (IFRS 16)</a:t>
          </a:r>
        </a:p>
      </dsp:txBody>
      <dsp:txXfrm>
        <a:off x="2656901" y="760023"/>
        <a:ext cx="909833" cy="532643"/>
      </dsp:txXfrm>
    </dsp:sp>
    <dsp:sp modelId="{0195A604-FC4B-407E-BAC9-06A8EFA447B0}">
      <dsp:nvSpPr>
        <dsp:cNvPr id="0" name=""/>
        <dsp:cNvSpPr/>
      </dsp:nvSpPr>
      <dsp:spPr>
        <a:xfrm>
          <a:off x="3677602" y="909415"/>
          <a:ext cx="199910" cy="233857"/>
        </a:xfrm>
        <a:prstGeom prst="rightArrow">
          <a:avLst>
            <a:gd name="adj1" fmla="val 60000"/>
            <a:gd name="adj2" fmla="val 50000"/>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00050">
            <a:lnSpc>
              <a:spcPct val="90000"/>
            </a:lnSpc>
            <a:spcBef>
              <a:spcPct val="0"/>
            </a:spcBef>
            <a:spcAft>
              <a:spcPct val="35000"/>
            </a:spcAft>
            <a:buNone/>
          </a:pPr>
          <a:endParaRPr lang="en-IN" sz="900" kern="1200"/>
        </a:p>
      </dsp:txBody>
      <dsp:txXfrm>
        <a:off x="3677602" y="956186"/>
        <a:ext cx="139937" cy="140315"/>
      </dsp:txXfrm>
    </dsp:sp>
    <dsp:sp modelId="{1448431B-1BB3-46ED-AA5A-F6EA2EC79AFC}">
      <dsp:nvSpPr>
        <dsp:cNvPr id="0" name=""/>
        <dsp:cNvSpPr/>
      </dsp:nvSpPr>
      <dsp:spPr>
        <a:xfrm>
          <a:off x="3960495" y="743452"/>
          <a:ext cx="942975" cy="565785"/>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Transfer Documentation</a:t>
          </a:r>
        </a:p>
      </dsp:txBody>
      <dsp:txXfrm>
        <a:off x="3977066" y="760023"/>
        <a:ext cx="909833" cy="532643"/>
      </dsp:txXfrm>
    </dsp:sp>
    <dsp:sp modelId="{984002BD-4607-496C-9EE9-626AC68427A6}">
      <dsp:nvSpPr>
        <dsp:cNvPr id="0" name=""/>
        <dsp:cNvSpPr/>
      </dsp:nvSpPr>
      <dsp:spPr>
        <a:xfrm>
          <a:off x="4997767" y="909415"/>
          <a:ext cx="199910" cy="233857"/>
        </a:xfrm>
        <a:prstGeom prst="rightArrow">
          <a:avLst>
            <a:gd name="adj1" fmla="val 60000"/>
            <a:gd name="adj2" fmla="val 50000"/>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00050">
            <a:lnSpc>
              <a:spcPct val="90000"/>
            </a:lnSpc>
            <a:spcBef>
              <a:spcPct val="0"/>
            </a:spcBef>
            <a:spcAft>
              <a:spcPct val="35000"/>
            </a:spcAft>
            <a:buNone/>
          </a:pPr>
          <a:endParaRPr lang="en-IN" sz="900" kern="1200"/>
        </a:p>
      </dsp:txBody>
      <dsp:txXfrm>
        <a:off x="4997767" y="956186"/>
        <a:ext cx="139937" cy="140315"/>
      </dsp:txXfrm>
    </dsp:sp>
    <dsp:sp modelId="{8C4E328B-43DF-4DF5-9A31-95CB51BEB011}">
      <dsp:nvSpPr>
        <dsp:cNvPr id="0" name=""/>
        <dsp:cNvSpPr/>
      </dsp:nvSpPr>
      <dsp:spPr>
        <a:xfrm>
          <a:off x="5280660" y="743452"/>
          <a:ext cx="942975" cy="565785"/>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Elimination in Consolidation</a:t>
          </a:r>
        </a:p>
      </dsp:txBody>
      <dsp:txXfrm>
        <a:off x="5297231" y="760023"/>
        <a:ext cx="909833" cy="532643"/>
      </dsp:txXfrm>
    </dsp:sp>
    <dsp:sp modelId="{BA10F1F8-9AD8-4ECF-9543-3043B2BCDAA5}">
      <dsp:nvSpPr>
        <dsp:cNvPr id="0" name=""/>
        <dsp:cNvSpPr/>
      </dsp:nvSpPr>
      <dsp:spPr>
        <a:xfrm>
          <a:off x="6317932" y="909415"/>
          <a:ext cx="199910" cy="233857"/>
        </a:xfrm>
        <a:prstGeom prst="rightArrow">
          <a:avLst>
            <a:gd name="adj1" fmla="val 60000"/>
            <a:gd name="adj2" fmla="val 50000"/>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00050">
            <a:lnSpc>
              <a:spcPct val="90000"/>
            </a:lnSpc>
            <a:spcBef>
              <a:spcPct val="0"/>
            </a:spcBef>
            <a:spcAft>
              <a:spcPct val="35000"/>
            </a:spcAft>
            <a:buNone/>
          </a:pPr>
          <a:endParaRPr lang="en-IN" sz="900" kern="1200"/>
        </a:p>
      </dsp:txBody>
      <dsp:txXfrm>
        <a:off x="6317932" y="956186"/>
        <a:ext cx="139937" cy="140315"/>
      </dsp:txXfrm>
    </dsp:sp>
    <dsp:sp modelId="{B10C2DA9-D577-4010-87F9-E0B9953E2F07}">
      <dsp:nvSpPr>
        <dsp:cNvPr id="0" name=""/>
        <dsp:cNvSpPr/>
      </dsp:nvSpPr>
      <dsp:spPr>
        <a:xfrm>
          <a:off x="6600824" y="743452"/>
          <a:ext cx="942975" cy="565785"/>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Tax and Regulatory Compliance</a:t>
          </a:r>
        </a:p>
      </dsp:txBody>
      <dsp:txXfrm>
        <a:off x="6617395" y="760023"/>
        <a:ext cx="909833" cy="532643"/>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B2E78B0-9569-4906-B749-211419AC0081}">
      <dsp:nvSpPr>
        <dsp:cNvPr id="0" name=""/>
        <dsp:cNvSpPr/>
      </dsp:nvSpPr>
      <dsp:spPr>
        <a:xfrm rot="5400000">
          <a:off x="-117220" y="122761"/>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Initiation</a:t>
          </a:r>
        </a:p>
      </dsp:txBody>
      <dsp:txXfrm rot="-5400000">
        <a:off x="1" y="279055"/>
        <a:ext cx="547027" cy="234440"/>
      </dsp:txXfrm>
    </dsp:sp>
    <dsp:sp modelId="{23925B1A-E05F-46E2-A15F-20E3409D698A}">
      <dsp:nvSpPr>
        <dsp:cNvPr id="0" name=""/>
        <dsp:cNvSpPr/>
      </dsp:nvSpPr>
      <dsp:spPr>
        <a:xfrm rot="5400000">
          <a:off x="1792456" y="-1239887"/>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Entities Involved: Two or more legal entities within the same corporate group (e.g., Entity A and Entity B).
Nature: Sale or purchase of goods/services between these entities.</a:t>
          </a:r>
        </a:p>
      </dsp:txBody>
      <dsp:txXfrm rot="-5400000">
        <a:off x="547027" y="30338"/>
        <a:ext cx="2974016" cy="458362"/>
      </dsp:txXfrm>
    </dsp:sp>
    <dsp:sp modelId="{AA002702-39AD-4380-9E55-5993C13C4EBA}">
      <dsp:nvSpPr>
        <dsp:cNvPr id="0" name=""/>
        <dsp:cNvSpPr/>
      </dsp:nvSpPr>
      <dsp:spPr>
        <a:xfrm rot="5400000">
          <a:off x="-117220" y="805847"/>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Order &amp; </a:t>
          </a:r>
          <a:br>
            <a:rPr lang="en-IN" sz="700" b="1" kern="1200">
              <a:latin typeface="EY interstate"/>
            </a:rPr>
          </a:br>
          <a:r>
            <a:rPr lang="en-IN" sz="700" b="1" kern="1200">
              <a:latin typeface="EY interstate"/>
            </a:rPr>
            <a:t>Delivery</a:t>
          </a:r>
        </a:p>
      </dsp:txBody>
      <dsp:txXfrm rot="-5400000">
        <a:off x="1" y="962141"/>
        <a:ext cx="547027" cy="234440"/>
      </dsp:txXfrm>
    </dsp:sp>
    <dsp:sp modelId="{BE672BC0-985B-478F-8DEF-84E40E131D19}">
      <dsp:nvSpPr>
        <dsp:cNvPr id="0" name=""/>
        <dsp:cNvSpPr/>
      </dsp:nvSpPr>
      <dsp:spPr>
        <a:xfrm rot="5400000">
          <a:off x="1792456" y="-556802"/>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(Seller) receives a purchase order from Entity B (Buyer).
Goods or services are delivered from Entity A to Entity B.</a:t>
          </a:r>
        </a:p>
      </dsp:txBody>
      <dsp:txXfrm rot="-5400000">
        <a:off x="547027" y="713423"/>
        <a:ext cx="2974016" cy="458362"/>
      </dsp:txXfrm>
    </dsp:sp>
    <dsp:sp modelId="{A772B94F-77CB-44E2-AF9B-5D9A5ACDCEDF}">
      <dsp:nvSpPr>
        <dsp:cNvPr id="0" name=""/>
        <dsp:cNvSpPr/>
      </dsp:nvSpPr>
      <dsp:spPr>
        <a:xfrm rot="5400000">
          <a:off x="-117220" y="1488933"/>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Invoicing</a:t>
          </a:r>
        </a:p>
      </dsp:txBody>
      <dsp:txXfrm rot="-5400000">
        <a:off x="1" y="1645227"/>
        <a:ext cx="547027" cy="234440"/>
      </dsp:txXfrm>
    </dsp:sp>
    <dsp:sp modelId="{ADFA3A44-C1E2-4229-B2AE-F17ADF854ADF}">
      <dsp:nvSpPr>
        <dsp:cNvPr id="0" name=""/>
        <dsp:cNvSpPr/>
      </dsp:nvSpPr>
      <dsp:spPr>
        <a:xfrm rot="5400000">
          <a:off x="1792456" y="126283"/>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raises an intercompany invoice to Entity B for the goods/services provided.
The invoice includes details like quantity, price, and applicable taxes (if any).</a:t>
          </a:r>
        </a:p>
      </dsp:txBody>
      <dsp:txXfrm rot="-5400000">
        <a:off x="547027" y="1396508"/>
        <a:ext cx="2974016" cy="458362"/>
      </dsp:txXfrm>
    </dsp:sp>
    <dsp:sp modelId="{85E34C10-5AC6-4A50-AD93-9FF4E441CC32}">
      <dsp:nvSpPr>
        <dsp:cNvPr id="0" name=""/>
        <dsp:cNvSpPr/>
      </dsp:nvSpPr>
      <dsp:spPr>
        <a:xfrm rot="5400000">
          <a:off x="-117220" y="2172018"/>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Accounting Entries</a:t>
          </a:r>
        </a:p>
      </dsp:txBody>
      <dsp:txXfrm rot="-5400000">
        <a:off x="1" y="2328312"/>
        <a:ext cx="547027" cy="234440"/>
      </dsp:txXfrm>
    </dsp:sp>
    <dsp:sp modelId="{D503D8F5-6A20-46D8-8A60-CA628AE6D56D}">
      <dsp:nvSpPr>
        <dsp:cNvPr id="0" name=""/>
        <dsp:cNvSpPr/>
      </dsp:nvSpPr>
      <dsp:spPr>
        <a:xfrm rot="5400000">
          <a:off x="1792456" y="809369"/>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9784" tIns="4445" rIns="4445" bIns="4445" numCol="1" spcCol="1270" anchor="ctr" anchorCtr="0">
          <a:noAutofit/>
        </a:bodyPr>
        <a:lstStyle/>
        <a:p>
          <a:pPr marL="57150" lvl="1" indent="-57150" algn="l" defTabSz="311150">
            <a:lnSpc>
              <a:spcPct val="90000"/>
            </a:lnSpc>
            <a:spcBef>
              <a:spcPct val="0"/>
            </a:spcBef>
            <a:spcAft>
              <a:spcPct val="15000"/>
            </a:spcAft>
            <a:buChar char="•"/>
          </a:pPr>
          <a:r>
            <a:rPr lang="en-IN" sz="700" kern="1200">
              <a:solidFill>
                <a:schemeClr val="bg1"/>
              </a:solidFill>
              <a:latin typeface="EY interstate"/>
            </a:rPr>
            <a:t>Entity A (Seller): Debit Intercompany Receivable (amount due from Entity B) Credit: Revenue (for the sale) Credit: Inventory (if goods are sold)
Entity B (Buyer):Debit: Inventory or Expense (for goods/services received)</a:t>
          </a:r>
          <a:br>
            <a:rPr lang="en-IN" sz="700" kern="1200">
              <a:solidFill>
                <a:schemeClr val="bg1"/>
              </a:solidFill>
              <a:latin typeface="EY interstate"/>
            </a:rPr>
          </a:br>
          <a:r>
            <a:rPr lang="en-IN" sz="700" kern="1200">
              <a:solidFill>
                <a:schemeClr val="bg1"/>
              </a:solidFill>
              <a:latin typeface="EY interstate"/>
            </a:rPr>
            <a:t>Credit: Intercompany Payable (amount owed to Entity A)</a:t>
          </a:r>
        </a:p>
      </dsp:txBody>
      <dsp:txXfrm rot="-5400000">
        <a:off x="547027" y="2079594"/>
        <a:ext cx="2974016" cy="458362"/>
      </dsp:txXfrm>
    </dsp:sp>
    <dsp:sp modelId="{BC649774-84A9-489F-AA91-45099C00F217}">
      <dsp:nvSpPr>
        <dsp:cNvPr id="0" name=""/>
        <dsp:cNvSpPr/>
      </dsp:nvSpPr>
      <dsp:spPr>
        <a:xfrm rot="5400000">
          <a:off x="-117220" y="2855104"/>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Settlement</a:t>
          </a:r>
        </a:p>
      </dsp:txBody>
      <dsp:txXfrm rot="-5400000">
        <a:off x="1" y="3011398"/>
        <a:ext cx="547027" cy="234440"/>
      </dsp:txXfrm>
    </dsp:sp>
    <dsp:sp modelId="{4192D254-2AD5-4E39-B8A0-FD28FE56D945}">
      <dsp:nvSpPr>
        <dsp:cNvPr id="0" name=""/>
        <dsp:cNvSpPr/>
      </dsp:nvSpPr>
      <dsp:spPr>
        <a:xfrm rot="5400000">
          <a:off x="1792456" y="1492455"/>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B settles the invoice by making a payment to Entity A.
Both entities update their books to reflect the payment.</a:t>
          </a:r>
        </a:p>
      </dsp:txBody>
      <dsp:txXfrm rot="-5400000">
        <a:off x="547027" y="2762680"/>
        <a:ext cx="2974016" cy="458362"/>
      </dsp:txXfrm>
    </dsp:sp>
    <dsp:sp modelId="{B13629B8-CF71-4109-8C1B-B3BCC9DC8E5E}">
      <dsp:nvSpPr>
        <dsp:cNvPr id="0" name=""/>
        <dsp:cNvSpPr/>
      </dsp:nvSpPr>
      <dsp:spPr>
        <a:xfrm rot="5400000">
          <a:off x="-117220" y="3538190"/>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Month end Reconciliation</a:t>
          </a:r>
        </a:p>
      </dsp:txBody>
      <dsp:txXfrm rot="-5400000">
        <a:off x="1" y="3694484"/>
        <a:ext cx="547027" cy="234440"/>
      </dsp:txXfrm>
    </dsp:sp>
    <dsp:sp modelId="{993A4C76-AFC3-475E-8A56-A9EC292ABAB4}">
      <dsp:nvSpPr>
        <dsp:cNvPr id="0" name=""/>
        <dsp:cNvSpPr/>
      </dsp:nvSpPr>
      <dsp:spPr>
        <a:xfrm rot="5400000">
          <a:off x="1792456" y="2175540"/>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Both entities reconcile intercompany balances to ensure amounts match.
Any discrepancies are investigated and resolved.</a:t>
          </a:r>
        </a:p>
      </dsp:txBody>
      <dsp:txXfrm rot="-5400000">
        <a:off x="547027" y="3445765"/>
        <a:ext cx="2974016" cy="458362"/>
      </dsp:txXfrm>
    </dsp:sp>
    <dsp:sp modelId="{F4B9DCDB-2AD3-45F4-932A-ABFC12849B18}">
      <dsp:nvSpPr>
        <dsp:cNvPr id="0" name=""/>
        <dsp:cNvSpPr/>
      </dsp:nvSpPr>
      <dsp:spPr>
        <a:xfrm rot="5400000">
          <a:off x="-117220" y="4221275"/>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latin typeface="EY interstate"/>
            </a:rPr>
            <a:t>Consolidation &amp; Elimination</a:t>
          </a:r>
        </a:p>
      </dsp:txBody>
      <dsp:txXfrm rot="-5400000">
        <a:off x="1" y="4377569"/>
        <a:ext cx="547027" cy="234440"/>
      </dsp:txXfrm>
    </dsp:sp>
    <dsp:sp modelId="{92BD618D-6730-4548-A3AC-8EAAF985506F}">
      <dsp:nvSpPr>
        <dsp:cNvPr id="0" name=""/>
        <dsp:cNvSpPr/>
      </dsp:nvSpPr>
      <dsp:spPr>
        <a:xfrm rot="5400000">
          <a:off x="1792456" y="2858626"/>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During group financial consolidation, these intercompany sales and purchases are eliminated to avoid double-counting revenue and expenses at the group level.</a:t>
          </a:r>
        </a:p>
      </dsp:txBody>
      <dsp:txXfrm rot="-5400000">
        <a:off x="547027" y="4128851"/>
        <a:ext cx="2974016" cy="458362"/>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B2E78B0-9569-4906-B749-211419AC0081}">
      <dsp:nvSpPr>
        <dsp:cNvPr id="0" name=""/>
        <dsp:cNvSpPr/>
      </dsp:nvSpPr>
      <dsp:spPr>
        <a:xfrm rot="5400000">
          <a:off x="-136367" y="140677"/>
          <a:ext cx="909117" cy="636382"/>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Cost Incurred</a:t>
          </a:r>
        </a:p>
      </dsp:txBody>
      <dsp:txXfrm rot="-5400000">
        <a:off x="1" y="322500"/>
        <a:ext cx="636382" cy="272735"/>
      </dsp:txXfrm>
    </dsp:sp>
    <dsp:sp modelId="{23925B1A-E05F-46E2-A15F-20E3409D698A}">
      <dsp:nvSpPr>
        <dsp:cNvPr id="0" name=""/>
        <dsp:cNvSpPr/>
      </dsp:nvSpPr>
      <dsp:spPr>
        <a:xfrm rot="5400000">
          <a:off x="1795647" y="-1154955"/>
          <a:ext cx="590926" cy="2909457"/>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incurs a cost on behalf of Entity B (e.g., software license, travel expense, shared service).
The cost is initially recorded in Entity A’s books.</a:t>
          </a:r>
        </a:p>
      </dsp:txBody>
      <dsp:txXfrm rot="-5400000">
        <a:off x="636382" y="33157"/>
        <a:ext cx="2880610" cy="533232"/>
      </dsp:txXfrm>
    </dsp:sp>
    <dsp:sp modelId="{AA002702-39AD-4380-9E55-5993C13C4EBA}">
      <dsp:nvSpPr>
        <dsp:cNvPr id="0" name=""/>
        <dsp:cNvSpPr/>
      </dsp:nvSpPr>
      <dsp:spPr>
        <a:xfrm rot="5400000">
          <a:off x="-136367" y="935343"/>
          <a:ext cx="909117" cy="636382"/>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Recharge Decision</a:t>
          </a:r>
        </a:p>
      </dsp:txBody>
      <dsp:txXfrm rot="-5400000">
        <a:off x="1" y="1117166"/>
        <a:ext cx="636382" cy="272735"/>
      </dsp:txXfrm>
    </dsp:sp>
    <dsp:sp modelId="{BE672BC0-985B-478F-8DEF-84E40E131D19}">
      <dsp:nvSpPr>
        <dsp:cNvPr id="0" name=""/>
        <dsp:cNvSpPr/>
      </dsp:nvSpPr>
      <dsp:spPr>
        <a:xfrm rot="5400000">
          <a:off x="1795647" y="-360289"/>
          <a:ext cx="590926" cy="2909457"/>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determines that the cost (fully or partially) should be recharged to Entity B.
The basis for recharge is usually actual cost, with no profit margin (unlike trade transactions).</a:t>
          </a:r>
        </a:p>
      </dsp:txBody>
      <dsp:txXfrm rot="-5400000">
        <a:off x="636382" y="827823"/>
        <a:ext cx="2880610" cy="533232"/>
      </dsp:txXfrm>
    </dsp:sp>
    <dsp:sp modelId="{A772B94F-77CB-44E2-AF9B-5D9A5ACDCEDF}">
      <dsp:nvSpPr>
        <dsp:cNvPr id="0" name=""/>
        <dsp:cNvSpPr/>
      </dsp:nvSpPr>
      <dsp:spPr>
        <a:xfrm rot="5400000">
          <a:off x="-136367" y="1730008"/>
          <a:ext cx="909117" cy="636382"/>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Raising the Recharge Invoice</a:t>
          </a:r>
        </a:p>
      </dsp:txBody>
      <dsp:txXfrm rot="-5400000">
        <a:off x="1" y="1911831"/>
        <a:ext cx="636382" cy="272735"/>
      </dsp:txXfrm>
    </dsp:sp>
    <dsp:sp modelId="{ADFA3A44-C1E2-4229-B2AE-F17ADF854ADF}">
      <dsp:nvSpPr>
        <dsp:cNvPr id="0" name=""/>
        <dsp:cNvSpPr/>
      </dsp:nvSpPr>
      <dsp:spPr>
        <a:xfrm rot="5400000">
          <a:off x="1795492" y="434530"/>
          <a:ext cx="591237" cy="2909457"/>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raises an intercompany invoice to Entity B for the amount to be recharged.
The invoice includes supporting documentation (e.g., vendor invoice, allocation basis).</a:t>
          </a:r>
        </a:p>
      </dsp:txBody>
      <dsp:txXfrm rot="-5400000">
        <a:off x="636382" y="1622502"/>
        <a:ext cx="2880595" cy="533513"/>
      </dsp:txXfrm>
    </dsp:sp>
    <dsp:sp modelId="{85E34C10-5AC6-4A50-AD93-9FF4E441CC32}">
      <dsp:nvSpPr>
        <dsp:cNvPr id="0" name=""/>
        <dsp:cNvSpPr/>
      </dsp:nvSpPr>
      <dsp:spPr>
        <a:xfrm rot="5400000">
          <a:off x="-136367" y="2524673"/>
          <a:ext cx="909117" cy="636382"/>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Accounting Entries</a:t>
          </a:r>
        </a:p>
      </dsp:txBody>
      <dsp:txXfrm rot="-5400000">
        <a:off x="1" y="2706496"/>
        <a:ext cx="636382" cy="272735"/>
      </dsp:txXfrm>
    </dsp:sp>
    <dsp:sp modelId="{D503D8F5-6A20-46D8-8A60-CA628AE6D56D}">
      <dsp:nvSpPr>
        <dsp:cNvPr id="0" name=""/>
        <dsp:cNvSpPr/>
      </dsp:nvSpPr>
      <dsp:spPr>
        <a:xfrm rot="5400000">
          <a:off x="1795647" y="1229040"/>
          <a:ext cx="590926" cy="2909457"/>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(Recharging Entity):Debit: Intercompany Receivable (amount due from Entity B)Credit: Expense (to remove the cost from its own books) or Intercompany Revenue (if required by policy)
Entity B (Receiving Entity):Debit: Expense (to record the cost in its books)Credit: Intercompany Payable (amount owed to Entity A)</a:t>
          </a:r>
        </a:p>
      </dsp:txBody>
      <dsp:txXfrm rot="-5400000">
        <a:off x="636382" y="2417153"/>
        <a:ext cx="2880610" cy="533232"/>
      </dsp:txXfrm>
    </dsp:sp>
    <dsp:sp modelId="{BC649774-84A9-489F-AA91-45099C00F217}">
      <dsp:nvSpPr>
        <dsp:cNvPr id="0" name=""/>
        <dsp:cNvSpPr/>
      </dsp:nvSpPr>
      <dsp:spPr>
        <a:xfrm rot="5400000">
          <a:off x="-136367" y="3319339"/>
          <a:ext cx="909117" cy="636382"/>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Settlement</a:t>
          </a:r>
        </a:p>
      </dsp:txBody>
      <dsp:txXfrm rot="-5400000">
        <a:off x="1" y="3501162"/>
        <a:ext cx="636382" cy="272735"/>
      </dsp:txXfrm>
    </dsp:sp>
    <dsp:sp modelId="{4192D254-2AD5-4E39-B8A0-FD28FE56D945}">
      <dsp:nvSpPr>
        <dsp:cNvPr id="0" name=""/>
        <dsp:cNvSpPr/>
      </dsp:nvSpPr>
      <dsp:spPr>
        <a:xfrm rot="5400000">
          <a:off x="1795647" y="2023706"/>
          <a:ext cx="590926" cy="2909457"/>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B settles the invoice by making a payment to Entity A.
Both entities update their books to reflect the payment.</a:t>
          </a:r>
        </a:p>
      </dsp:txBody>
      <dsp:txXfrm rot="-5400000">
        <a:off x="636382" y="3211819"/>
        <a:ext cx="2880610" cy="533232"/>
      </dsp:txXfrm>
    </dsp:sp>
    <dsp:sp modelId="{B13629B8-CF71-4109-8C1B-B3BCC9DC8E5E}">
      <dsp:nvSpPr>
        <dsp:cNvPr id="0" name=""/>
        <dsp:cNvSpPr/>
      </dsp:nvSpPr>
      <dsp:spPr>
        <a:xfrm rot="5400000">
          <a:off x="-136367" y="4114004"/>
          <a:ext cx="909117" cy="636382"/>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Reconciliation</a:t>
          </a:r>
        </a:p>
      </dsp:txBody>
      <dsp:txXfrm rot="-5400000">
        <a:off x="1" y="4295827"/>
        <a:ext cx="636382" cy="272735"/>
      </dsp:txXfrm>
    </dsp:sp>
    <dsp:sp modelId="{993A4C76-AFC3-475E-8A56-A9EC292ABAB4}">
      <dsp:nvSpPr>
        <dsp:cNvPr id="0" name=""/>
        <dsp:cNvSpPr/>
      </dsp:nvSpPr>
      <dsp:spPr>
        <a:xfrm rot="5400000">
          <a:off x="1795647" y="2818371"/>
          <a:ext cx="590926" cy="2909457"/>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Both entities reconcile intercompany balances to ensure the recharge is matched and settled.
Any discrepancies are investigated and resolved.</a:t>
          </a:r>
        </a:p>
      </dsp:txBody>
      <dsp:txXfrm rot="-5400000">
        <a:off x="636382" y="4006484"/>
        <a:ext cx="2880610" cy="533232"/>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B2E78B0-9569-4906-B749-211419AC0081}">
      <dsp:nvSpPr>
        <dsp:cNvPr id="0" name=""/>
        <dsp:cNvSpPr/>
      </dsp:nvSpPr>
      <dsp:spPr>
        <a:xfrm rot="5400000">
          <a:off x="-117220" y="122761"/>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Order Placement</a:t>
          </a:r>
        </a:p>
      </dsp:txBody>
      <dsp:txXfrm rot="-5400000">
        <a:off x="1" y="279055"/>
        <a:ext cx="547027" cy="234440"/>
      </dsp:txXfrm>
    </dsp:sp>
    <dsp:sp modelId="{23925B1A-E05F-46E2-A15F-20E3409D698A}">
      <dsp:nvSpPr>
        <dsp:cNvPr id="0" name=""/>
        <dsp:cNvSpPr/>
      </dsp:nvSpPr>
      <dsp:spPr>
        <a:xfrm rot="5400000">
          <a:off x="1792456" y="-1239887"/>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B (Buyer) places a purchase order for goods/services with Entity A (Seller), both part of the same corporate group.</a:t>
          </a:r>
        </a:p>
      </dsp:txBody>
      <dsp:txXfrm rot="-5400000">
        <a:off x="547027" y="30338"/>
        <a:ext cx="2974016" cy="458362"/>
      </dsp:txXfrm>
    </dsp:sp>
    <dsp:sp modelId="{AA002702-39AD-4380-9E55-5993C13C4EBA}">
      <dsp:nvSpPr>
        <dsp:cNvPr id="0" name=""/>
        <dsp:cNvSpPr/>
      </dsp:nvSpPr>
      <dsp:spPr>
        <a:xfrm rot="5400000">
          <a:off x="-117220" y="805847"/>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Goods/Services Delivery</a:t>
          </a:r>
        </a:p>
      </dsp:txBody>
      <dsp:txXfrm rot="-5400000">
        <a:off x="1" y="962141"/>
        <a:ext cx="547027" cy="234440"/>
      </dsp:txXfrm>
    </dsp:sp>
    <dsp:sp modelId="{BE672BC0-985B-478F-8DEF-84E40E131D19}">
      <dsp:nvSpPr>
        <dsp:cNvPr id="0" name=""/>
        <dsp:cNvSpPr/>
      </dsp:nvSpPr>
      <dsp:spPr>
        <a:xfrm rot="5400000">
          <a:off x="1792456" y="-556802"/>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delivers the goods or services to Entity B.
A delivery note or service completion confirmation is generated.</a:t>
          </a:r>
        </a:p>
      </dsp:txBody>
      <dsp:txXfrm rot="-5400000">
        <a:off x="547027" y="713423"/>
        <a:ext cx="2974016" cy="458362"/>
      </dsp:txXfrm>
    </dsp:sp>
    <dsp:sp modelId="{A772B94F-77CB-44E2-AF9B-5D9A5ACDCEDF}">
      <dsp:nvSpPr>
        <dsp:cNvPr id="0" name=""/>
        <dsp:cNvSpPr/>
      </dsp:nvSpPr>
      <dsp:spPr>
        <a:xfrm rot="5400000">
          <a:off x="-117220" y="1488933"/>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Invoicing</a:t>
          </a:r>
        </a:p>
      </dsp:txBody>
      <dsp:txXfrm rot="-5400000">
        <a:off x="1" y="1645227"/>
        <a:ext cx="547027" cy="234440"/>
      </dsp:txXfrm>
    </dsp:sp>
    <dsp:sp modelId="{ADFA3A44-C1E2-4229-B2AE-F17ADF854ADF}">
      <dsp:nvSpPr>
        <dsp:cNvPr id="0" name=""/>
        <dsp:cNvSpPr/>
      </dsp:nvSpPr>
      <dsp:spPr>
        <a:xfrm rot="5400000">
          <a:off x="1792456" y="126283"/>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issues an intercompany invoice to Entity B for the goods/services provided.
The invoice includes details such as quantity, price, and any applicable taxes.</a:t>
          </a:r>
        </a:p>
      </dsp:txBody>
      <dsp:txXfrm rot="-5400000">
        <a:off x="547027" y="1396508"/>
        <a:ext cx="2974016" cy="458362"/>
      </dsp:txXfrm>
    </dsp:sp>
    <dsp:sp modelId="{85E34C10-5AC6-4A50-AD93-9FF4E441CC32}">
      <dsp:nvSpPr>
        <dsp:cNvPr id="0" name=""/>
        <dsp:cNvSpPr/>
      </dsp:nvSpPr>
      <dsp:spPr>
        <a:xfrm rot="5400000">
          <a:off x="-117220" y="2172018"/>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Accounting Entries</a:t>
          </a:r>
        </a:p>
      </dsp:txBody>
      <dsp:txXfrm rot="-5400000">
        <a:off x="1" y="2328312"/>
        <a:ext cx="547027" cy="234440"/>
      </dsp:txXfrm>
    </dsp:sp>
    <dsp:sp modelId="{D503D8F5-6A20-46D8-8A60-CA628AE6D56D}">
      <dsp:nvSpPr>
        <dsp:cNvPr id="0" name=""/>
        <dsp:cNvSpPr/>
      </dsp:nvSpPr>
      <dsp:spPr>
        <a:xfrm rot="5400000">
          <a:off x="1792456" y="809369"/>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A (Seller):Debit: Intercompany Receivable (amount due from Entity B)Credit: Revenue (for the sale)Credit: Inventory (if goods are sold)
Entity B (Buyer):Debit: Inventory or Expense (for goods/services received)Credit: Intercompany Payable (amount owed to Entity A)</a:t>
          </a:r>
        </a:p>
      </dsp:txBody>
      <dsp:txXfrm rot="-5400000">
        <a:off x="547027" y="2079594"/>
        <a:ext cx="2974016" cy="458362"/>
      </dsp:txXfrm>
    </dsp:sp>
    <dsp:sp modelId="{BC649774-84A9-489F-AA91-45099C00F217}">
      <dsp:nvSpPr>
        <dsp:cNvPr id="0" name=""/>
        <dsp:cNvSpPr/>
      </dsp:nvSpPr>
      <dsp:spPr>
        <a:xfrm rot="5400000">
          <a:off x="-117220" y="2855104"/>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ct val="90000"/>
            </a:lnSpc>
            <a:spcBef>
              <a:spcPct val="0"/>
            </a:spcBef>
            <a:spcAft>
              <a:spcPct val="35000"/>
            </a:spcAft>
            <a:buNone/>
          </a:pPr>
          <a:r>
            <a:rPr lang="en-IN" sz="800" b="1" kern="1200">
              <a:solidFill>
                <a:schemeClr val="bg1"/>
              </a:solidFill>
              <a:latin typeface="EY interstate"/>
            </a:rPr>
            <a:t>Payment &amp; Settlement</a:t>
          </a:r>
        </a:p>
      </dsp:txBody>
      <dsp:txXfrm rot="-5400000">
        <a:off x="1" y="3011398"/>
        <a:ext cx="547027" cy="234440"/>
      </dsp:txXfrm>
    </dsp:sp>
    <dsp:sp modelId="{4192D254-2AD5-4E39-B8A0-FD28FE56D945}">
      <dsp:nvSpPr>
        <dsp:cNvPr id="0" name=""/>
        <dsp:cNvSpPr/>
      </dsp:nvSpPr>
      <dsp:spPr>
        <a:xfrm rot="5400000">
          <a:off x="1792456" y="1492455"/>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Entity B settles the invoice by making a payment to Entity A.
Both entities update their books to reflect the payment.</a:t>
          </a:r>
        </a:p>
      </dsp:txBody>
      <dsp:txXfrm rot="-5400000">
        <a:off x="547027" y="2762680"/>
        <a:ext cx="2974016" cy="458362"/>
      </dsp:txXfrm>
    </dsp:sp>
    <dsp:sp modelId="{B13629B8-CF71-4109-8C1B-B3BCC9DC8E5E}">
      <dsp:nvSpPr>
        <dsp:cNvPr id="0" name=""/>
        <dsp:cNvSpPr/>
      </dsp:nvSpPr>
      <dsp:spPr>
        <a:xfrm rot="5400000">
          <a:off x="-117220" y="3538190"/>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solidFill>
                <a:schemeClr val="bg1"/>
              </a:solidFill>
              <a:latin typeface="EY interstate"/>
            </a:rPr>
            <a:t>Month end Reconciliation</a:t>
          </a:r>
        </a:p>
      </dsp:txBody>
      <dsp:txXfrm rot="-5400000">
        <a:off x="1" y="3694484"/>
        <a:ext cx="547027" cy="234440"/>
      </dsp:txXfrm>
    </dsp:sp>
    <dsp:sp modelId="{993A4C76-AFC3-475E-8A56-A9EC292ABAB4}">
      <dsp:nvSpPr>
        <dsp:cNvPr id="0" name=""/>
        <dsp:cNvSpPr/>
      </dsp:nvSpPr>
      <dsp:spPr>
        <a:xfrm rot="5400000">
          <a:off x="1792456" y="2175540"/>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Both entities reconcile intercompany balances to ensure amounts match.
Any discrepancies are investigated and resolved.</a:t>
          </a:r>
        </a:p>
      </dsp:txBody>
      <dsp:txXfrm rot="-5400000">
        <a:off x="547027" y="3445765"/>
        <a:ext cx="2974016" cy="458362"/>
      </dsp:txXfrm>
    </dsp:sp>
    <dsp:sp modelId="{F4B9DCDB-2AD3-45F4-932A-ABFC12849B18}">
      <dsp:nvSpPr>
        <dsp:cNvPr id="0" name=""/>
        <dsp:cNvSpPr/>
      </dsp:nvSpPr>
      <dsp:spPr>
        <a:xfrm rot="5400000">
          <a:off x="-117220" y="4221275"/>
          <a:ext cx="781467" cy="547027"/>
        </a:xfrm>
        <a:prstGeom prst="chevron">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445" tIns="4445" rIns="4445" bIns="4445" numCol="1" spcCol="1270" anchor="ctr" anchorCtr="0">
          <a:noAutofit/>
        </a:bodyPr>
        <a:lstStyle/>
        <a:p>
          <a:pPr marL="0" lvl="0" indent="0" algn="ctr" defTabSz="311150">
            <a:lnSpc>
              <a:spcPct val="90000"/>
            </a:lnSpc>
            <a:spcBef>
              <a:spcPct val="0"/>
            </a:spcBef>
            <a:spcAft>
              <a:spcPct val="35000"/>
            </a:spcAft>
            <a:buNone/>
          </a:pPr>
          <a:r>
            <a:rPr lang="en-IN" sz="700" b="1" kern="1200">
              <a:solidFill>
                <a:schemeClr val="bg1"/>
              </a:solidFill>
              <a:latin typeface="EY interstate"/>
            </a:rPr>
            <a:t>Consolidation &amp; Elimination</a:t>
          </a:r>
        </a:p>
      </dsp:txBody>
      <dsp:txXfrm rot="-5400000">
        <a:off x="1" y="4377569"/>
        <a:ext cx="547027" cy="234440"/>
      </dsp:txXfrm>
    </dsp:sp>
    <dsp:sp modelId="{92BD618D-6730-4548-A3AC-8EAAF985506F}">
      <dsp:nvSpPr>
        <dsp:cNvPr id="0" name=""/>
        <dsp:cNvSpPr/>
      </dsp:nvSpPr>
      <dsp:spPr>
        <a:xfrm rot="5400000">
          <a:off x="1792456" y="2858626"/>
          <a:ext cx="507954" cy="2998812"/>
        </a:xfrm>
        <a:prstGeom prst="round2SameRect">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896" tIns="5080" rIns="5080" bIns="5080" numCol="1" spcCol="1270" anchor="ctr"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During group financial consolidation, these intercompany sales and purchases are eliminated to avoid double-counting revenue and expenses at the group level.</a:t>
          </a:r>
        </a:p>
      </dsp:txBody>
      <dsp:txXfrm rot="-5400000">
        <a:off x="547027" y="4128851"/>
        <a:ext cx="2974016" cy="458362"/>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F562C0E-CB97-4B5A-9145-235B96EBFBA6}">
      <dsp:nvSpPr>
        <dsp:cNvPr id="0" name=""/>
        <dsp:cNvSpPr/>
      </dsp:nvSpPr>
      <dsp:spPr>
        <a:xfrm>
          <a:off x="1251624" y="1437237"/>
          <a:ext cx="1826791" cy="1580248"/>
        </a:xfrm>
        <a:prstGeom prst="hexagon">
          <a:avLst>
            <a:gd name="adj" fmla="val 28570"/>
            <a:gd name="vf" fmla="val 115470"/>
          </a:avLst>
        </a:prstGeom>
        <a:noFill/>
        <a:ln>
          <a:solidFill>
            <a:srgbClr val="FFFF00"/>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IN" sz="1200" b="0" kern="1200">
            <a:solidFill>
              <a:schemeClr val="bg2"/>
            </a:solidFill>
            <a:latin typeface="EY interstate"/>
          </a:endParaRPr>
        </a:p>
        <a:p>
          <a:pPr marL="0" lvl="0" indent="0" algn="ctr" defTabSz="533400">
            <a:lnSpc>
              <a:spcPct val="90000"/>
            </a:lnSpc>
            <a:spcBef>
              <a:spcPct val="0"/>
            </a:spcBef>
            <a:spcAft>
              <a:spcPct val="35000"/>
            </a:spcAft>
            <a:buNone/>
          </a:pPr>
          <a:r>
            <a:rPr lang="en-IN" sz="1400" b="1" kern="1200">
              <a:solidFill>
                <a:schemeClr val="bg1"/>
              </a:solidFill>
              <a:latin typeface="EY interstate"/>
            </a:rPr>
            <a:t>IC Journal Logic</a:t>
          </a:r>
          <a:endParaRPr lang="de-CH" sz="1400" b="1" kern="1200">
            <a:solidFill>
              <a:schemeClr val="bg1"/>
            </a:solidFill>
            <a:latin typeface="EY interstate"/>
          </a:endParaRPr>
        </a:p>
      </dsp:txBody>
      <dsp:txXfrm>
        <a:off x="1554349" y="1699106"/>
        <a:ext cx="1221341" cy="1056510"/>
      </dsp:txXfrm>
    </dsp:sp>
    <dsp:sp modelId="{BE608403-349E-4081-B2CB-596E47F9DD3B}">
      <dsp:nvSpPr>
        <dsp:cNvPr id="0" name=""/>
        <dsp:cNvSpPr/>
      </dsp:nvSpPr>
      <dsp:spPr>
        <a:xfrm>
          <a:off x="2395546" y="681195"/>
          <a:ext cx="689243" cy="593874"/>
        </a:xfrm>
        <a:prstGeom prst="hexagon">
          <a:avLst>
            <a:gd name="adj" fmla="val 28900"/>
            <a:gd name="vf" fmla="val 115470"/>
          </a:avLst>
        </a:prstGeom>
        <a:solidFill>
          <a:schemeClr val="bg1"/>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0272B16A-CA34-4D82-B445-CC9E5A5275D3}">
      <dsp:nvSpPr>
        <dsp:cNvPr id="0" name=""/>
        <dsp:cNvSpPr/>
      </dsp:nvSpPr>
      <dsp:spPr>
        <a:xfrm>
          <a:off x="1419898" y="0"/>
          <a:ext cx="1497042" cy="1295117"/>
        </a:xfrm>
        <a:prstGeom prst="hexagon">
          <a:avLst>
            <a:gd name="adj" fmla="val 28570"/>
            <a:gd name="vf" fmla="val 115470"/>
          </a:avLst>
        </a:prstGeom>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r>
            <a:rPr lang="en-US" sz="1200" b="1" kern="1200" noProof="0">
              <a:solidFill>
                <a:schemeClr val="bg2"/>
              </a:solidFill>
              <a:latin typeface="EY interstate"/>
            </a:rPr>
            <a:t>Trigger/Event</a:t>
          </a:r>
        </a:p>
      </dsp:txBody>
      <dsp:txXfrm>
        <a:off x="1667990" y="214629"/>
        <a:ext cx="1000858" cy="865859"/>
      </dsp:txXfrm>
    </dsp:sp>
    <dsp:sp modelId="{75B44EE0-2A5A-42C7-9613-919B89661AD7}">
      <dsp:nvSpPr>
        <dsp:cNvPr id="0" name=""/>
        <dsp:cNvSpPr/>
      </dsp:nvSpPr>
      <dsp:spPr>
        <a:xfrm>
          <a:off x="3199947" y="1791423"/>
          <a:ext cx="689243" cy="593874"/>
        </a:xfrm>
        <a:prstGeom prst="hexagon">
          <a:avLst>
            <a:gd name="adj" fmla="val 28900"/>
            <a:gd name="vf" fmla="val 115470"/>
          </a:avLst>
        </a:prstGeom>
        <a:solidFill>
          <a:schemeClr val="bg1"/>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D9C2CAEE-1229-46A1-9DEB-E20178AFB1D3}">
      <dsp:nvSpPr>
        <dsp:cNvPr id="0" name=""/>
        <dsp:cNvSpPr/>
      </dsp:nvSpPr>
      <dsp:spPr>
        <a:xfrm>
          <a:off x="2792860" y="796584"/>
          <a:ext cx="1497042" cy="1295117"/>
        </a:xfrm>
        <a:prstGeom prst="hexagon">
          <a:avLst>
            <a:gd name="adj" fmla="val 28570"/>
            <a:gd name="vf" fmla="val 115470"/>
          </a:avLst>
        </a:prstGeom>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200" b="1" kern="1200" noProof="0">
              <a:solidFill>
                <a:schemeClr val="bg2"/>
              </a:solidFill>
              <a:latin typeface="EY interstate"/>
              <a:ea typeface="+mn-ea"/>
              <a:cs typeface="+mn-cs"/>
            </a:rPr>
            <a:t>Transaction type</a:t>
          </a:r>
        </a:p>
      </dsp:txBody>
      <dsp:txXfrm>
        <a:off x="3040952" y="1011213"/>
        <a:ext cx="1000858" cy="865859"/>
      </dsp:txXfrm>
    </dsp:sp>
    <dsp:sp modelId="{D93CA90B-8799-4557-A169-20B16C6D6A0A}">
      <dsp:nvSpPr>
        <dsp:cNvPr id="0" name=""/>
        <dsp:cNvSpPr/>
      </dsp:nvSpPr>
      <dsp:spPr>
        <a:xfrm>
          <a:off x="2641158" y="3044663"/>
          <a:ext cx="689243" cy="593874"/>
        </a:xfrm>
        <a:prstGeom prst="hexagon">
          <a:avLst>
            <a:gd name="adj" fmla="val 28900"/>
            <a:gd name="vf" fmla="val 115470"/>
          </a:avLst>
        </a:prstGeom>
        <a:solidFill>
          <a:schemeClr val="bg1"/>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58CD54DA-2D05-47C1-947B-9D7546AE75B8}">
      <dsp:nvSpPr>
        <dsp:cNvPr id="0" name=""/>
        <dsp:cNvSpPr/>
      </dsp:nvSpPr>
      <dsp:spPr>
        <a:xfrm>
          <a:off x="2792860" y="2362576"/>
          <a:ext cx="1497042" cy="1295117"/>
        </a:xfrm>
        <a:prstGeom prst="hexagon">
          <a:avLst>
            <a:gd name="adj" fmla="val 28570"/>
            <a:gd name="vf" fmla="val 115470"/>
          </a:avLst>
        </a:prstGeom>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533400">
            <a:lnSpc>
              <a:spcPct val="90000"/>
            </a:lnSpc>
            <a:spcBef>
              <a:spcPct val="0"/>
            </a:spcBef>
            <a:spcAft>
              <a:spcPct val="35000"/>
            </a:spcAft>
            <a:buNone/>
          </a:pPr>
          <a:r>
            <a:rPr lang="en-US" sz="1200" b="1" kern="1200" noProof="0">
              <a:solidFill>
                <a:schemeClr val="bg2"/>
              </a:solidFill>
              <a:latin typeface="EY interstate"/>
              <a:ea typeface="+mn-ea"/>
              <a:cs typeface="+mn-cs"/>
            </a:rPr>
            <a:t>Source Entity &amp; Counterparty</a:t>
          </a:r>
        </a:p>
      </dsp:txBody>
      <dsp:txXfrm>
        <a:off x="3040952" y="2577205"/>
        <a:ext cx="1000858" cy="865859"/>
      </dsp:txXfrm>
    </dsp:sp>
    <dsp:sp modelId="{F5CB83EC-AEAA-4407-9EF0-F9B82362B524}">
      <dsp:nvSpPr>
        <dsp:cNvPr id="0" name=""/>
        <dsp:cNvSpPr/>
      </dsp:nvSpPr>
      <dsp:spPr>
        <a:xfrm>
          <a:off x="1255023" y="3174754"/>
          <a:ext cx="689243" cy="593874"/>
        </a:xfrm>
        <a:prstGeom prst="hexagon">
          <a:avLst>
            <a:gd name="adj" fmla="val 28900"/>
            <a:gd name="vf" fmla="val 115470"/>
          </a:avLst>
        </a:prstGeom>
        <a:solidFill>
          <a:schemeClr val="bg1"/>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52307477-28CC-4C05-8703-13472FCD2A40}">
      <dsp:nvSpPr>
        <dsp:cNvPr id="0" name=""/>
        <dsp:cNvSpPr/>
      </dsp:nvSpPr>
      <dsp:spPr>
        <a:xfrm>
          <a:off x="1419898" y="3160052"/>
          <a:ext cx="1497042" cy="1295117"/>
        </a:xfrm>
        <a:prstGeom prst="hexagon">
          <a:avLst>
            <a:gd name="adj" fmla="val 28570"/>
            <a:gd name="vf" fmla="val 115470"/>
          </a:avLst>
        </a:prstGeom>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IN" sz="1200" b="1" kern="1200" noProof="0">
              <a:solidFill>
                <a:schemeClr val="bg2"/>
              </a:solidFill>
              <a:latin typeface="EY interstate"/>
              <a:ea typeface="+mn-ea"/>
              <a:cs typeface="+mn-cs"/>
            </a:rPr>
            <a:t>Account Mapping</a:t>
          </a:r>
          <a:endParaRPr lang="en-US" sz="1200" b="1" kern="1200" noProof="0">
            <a:solidFill>
              <a:schemeClr val="bg2"/>
            </a:solidFill>
            <a:latin typeface="EY interstate"/>
            <a:ea typeface="+mn-ea"/>
            <a:cs typeface="+mn-cs"/>
          </a:endParaRPr>
        </a:p>
      </dsp:txBody>
      <dsp:txXfrm>
        <a:off x="1667990" y="3374681"/>
        <a:ext cx="1000858" cy="865859"/>
      </dsp:txXfrm>
    </dsp:sp>
    <dsp:sp modelId="{1288880B-EFC7-4D90-9A12-D1B2B054A1ED}">
      <dsp:nvSpPr>
        <dsp:cNvPr id="0" name=""/>
        <dsp:cNvSpPr/>
      </dsp:nvSpPr>
      <dsp:spPr>
        <a:xfrm>
          <a:off x="437450" y="2064971"/>
          <a:ext cx="689243" cy="593874"/>
        </a:xfrm>
        <a:prstGeom prst="hexagon">
          <a:avLst>
            <a:gd name="adj" fmla="val 28900"/>
            <a:gd name="vf" fmla="val 115470"/>
          </a:avLst>
        </a:prstGeom>
        <a:solidFill>
          <a:schemeClr val="bg1"/>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6613787C-368B-4826-82EA-733180353BE6}">
      <dsp:nvSpPr>
        <dsp:cNvPr id="0" name=""/>
        <dsp:cNvSpPr/>
      </dsp:nvSpPr>
      <dsp:spPr>
        <a:xfrm>
          <a:off x="40561" y="2363467"/>
          <a:ext cx="1497042" cy="1295117"/>
        </a:xfrm>
        <a:prstGeom prst="hexagon">
          <a:avLst>
            <a:gd name="adj" fmla="val 28570"/>
            <a:gd name="vf" fmla="val 115470"/>
          </a:avLst>
        </a:prstGeom>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200" b="1" kern="1200" noProof="0">
              <a:solidFill>
                <a:schemeClr val="bg2"/>
              </a:solidFill>
              <a:latin typeface="EY interstate"/>
              <a:ea typeface="+mn-ea"/>
              <a:cs typeface="+mn-cs"/>
            </a:rPr>
            <a:t>Amount &amp; Currency Logic</a:t>
          </a:r>
        </a:p>
      </dsp:txBody>
      <dsp:txXfrm>
        <a:off x="288653" y="2578096"/>
        <a:ext cx="1000858" cy="865859"/>
      </dsp:txXfrm>
    </dsp:sp>
    <dsp:sp modelId="{4C849009-6CB6-4F0D-A56F-54F82BA6B8EE}">
      <dsp:nvSpPr>
        <dsp:cNvPr id="0" name=""/>
        <dsp:cNvSpPr/>
      </dsp:nvSpPr>
      <dsp:spPr>
        <a:xfrm>
          <a:off x="40561" y="794802"/>
          <a:ext cx="1497042" cy="1295117"/>
        </a:xfrm>
        <a:prstGeom prst="hexagon">
          <a:avLst>
            <a:gd name="adj" fmla="val 28570"/>
            <a:gd name="vf" fmla="val 115470"/>
          </a:avLst>
        </a:prstGeom>
        <a:solidFill>
          <a:srgbClr val="FFFF00"/>
        </a:solidFill>
        <a:ln>
          <a:solidFill>
            <a:schemeClr val="bg2"/>
          </a:solid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200" b="1" kern="1200" noProof="0">
              <a:solidFill>
                <a:schemeClr val="bg2"/>
              </a:solidFill>
              <a:latin typeface="EY interstate"/>
              <a:ea typeface="+mn-ea"/>
              <a:cs typeface="+mn-cs"/>
            </a:rPr>
            <a:t>Validation &amp; Approval</a:t>
          </a:r>
        </a:p>
        <a:p>
          <a:pPr marL="0" lvl="0" indent="0" algn="ctr" defTabSz="666750">
            <a:lnSpc>
              <a:spcPct val="90000"/>
            </a:lnSpc>
            <a:spcBef>
              <a:spcPct val="0"/>
            </a:spcBef>
            <a:spcAft>
              <a:spcPct val="35000"/>
            </a:spcAft>
            <a:buNone/>
          </a:pPr>
          <a:endParaRPr lang="en-US" sz="1200" b="1" kern="1200" noProof="0">
            <a:solidFill>
              <a:schemeClr val="bg2"/>
            </a:solidFill>
            <a:latin typeface="EY interstate"/>
            <a:ea typeface="+mn-ea"/>
            <a:cs typeface="+mn-cs"/>
          </a:endParaRPr>
        </a:p>
      </dsp:txBody>
      <dsp:txXfrm>
        <a:off x="288653" y="1009431"/>
        <a:ext cx="1000858" cy="865859"/>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9F2C79-D9CF-4995-879C-3F0E9B6182A9}">
      <dsp:nvSpPr>
        <dsp:cNvPr id="0" name=""/>
        <dsp:cNvSpPr/>
      </dsp:nvSpPr>
      <dsp:spPr>
        <a:xfrm>
          <a:off x="2666677" y="1674553"/>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a:off x="2841748" y="1849624"/>
        <a:ext cx="845319" cy="845319"/>
      </dsp:txXfrm>
    </dsp:sp>
    <dsp:sp modelId="{88042501-B274-4D06-A757-A63B88FD365B}">
      <dsp:nvSpPr>
        <dsp:cNvPr id="0" name=""/>
        <dsp:cNvSpPr/>
      </dsp:nvSpPr>
      <dsp:spPr>
        <a:xfrm rot="16200000">
          <a:off x="3138062" y="1240089"/>
          <a:ext cx="252690" cy="406457"/>
        </a:xfrm>
        <a:prstGeom prst="rightArrow">
          <a:avLst>
            <a:gd name="adj1" fmla="val 60000"/>
            <a:gd name="adj2" fmla="val 50000"/>
          </a:avLst>
        </a:prstGeom>
        <a:gradFill rotWithShape="0">
          <a:gsLst>
            <a:gs pos="0">
              <a:schemeClr val="accent1">
                <a:tint val="60000"/>
                <a:hueOff val="0"/>
                <a:satOff val="0"/>
                <a:lumOff val="0"/>
                <a:alphaOff val="0"/>
                <a:satMod val="103000"/>
                <a:lumMod val="102000"/>
                <a:tint val="94000"/>
              </a:schemeClr>
            </a:gs>
            <a:gs pos="50000">
              <a:schemeClr val="accent1">
                <a:tint val="60000"/>
                <a:hueOff val="0"/>
                <a:satOff val="0"/>
                <a:lumOff val="0"/>
                <a:alphaOff val="0"/>
                <a:satMod val="110000"/>
                <a:lumMod val="100000"/>
                <a:shade val="100000"/>
              </a:schemeClr>
            </a:gs>
            <a:gs pos="100000">
              <a:schemeClr val="accent1">
                <a:tint val="6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a:off x="3175966" y="1359284"/>
        <a:ext cx="176883" cy="243875"/>
      </dsp:txXfrm>
    </dsp:sp>
    <dsp:sp modelId="{3FF86B0F-2CDA-44D5-8542-68CB051323F4}">
      <dsp:nvSpPr>
        <dsp:cNvPr id="0" name=""/>
        <dsp:cNvSpPr/>
      </dsp:nvSpPr>
      <dsp:spPr>
        <a:xfrm>
          <a:off x="2666677" y="2317"/>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400050">
            <a:lnSpc>
              <a:spcPct val="90000"/>
            </a:lnSpc>
            <a:spcBef>
              <a:spcPct val="0"/>
            </a:spcBef>
            <a:spcAft>
              <a:spcPct val="35000"/>
            </a:spcAft>
            <a:buFont typeface="EYInterstate" panose="02000503020000020004" pitchFamily="2" charset="0"/>
            <a:buNone/>
          </a:pPr>
          <a:r>
            <a:rPr lang="en-US" sz="900" kern="1200">
              <a:solidFill>
                <a:schemeClr val="tx1"/>
              </a:solidFill>
              <a:latin typeface="EY interstate"/>
            </a:rPr>
            <a:t>All items are properly classified as List Component, Timing Item or Required Adjustment</a:t>
          </a:r>
          <a:endParaRPr lang="en-IN" sz="900" kern="1200">
            <a:solidFill>
              <a:schemeClr val="tx1"/>
            </a:solidFill>
            <a:latin typeface="EY interstate"/>
          </a:endParaRPr>
        </a:p>
      </dsp:txBody>
      <dsp:txXfrm>
        <a:off x="2841748" y="177388"/>
        <a:ext cx="845319" cy="845319"/>
      </dsp:txXfrm>
    </dsp:sp>
    <dsp:sp modelId="{060981EA-58E2-4916-8DD5-6CD583FDCBE1}">
      <dsp:nvSpPr>
        <dsp:cNvPr id="0" name=""/>
        <dsp:cNvSpPr/>
      </dsp:nvSpPr>
      <dsp:spPr>
        <a:xfrm rot="19800000">
          <a:off x="3855968" y="1654572"/>
          <a:ext cx="252690" cy="406457"/>
        </a:xfrm>
        <a:prstGeom prst="rightArrow">
          <a:avLst>
            <a:gd name="adj1" fmla="val 60000"/>
            <a:gd name="adj2" fmla="val 50000"/>
          </a:avLst>
        </a:prstGeom>
        <a:gradFill rotWithShape="0">
          <a:gsLst>
            <a:gs pos="0">
              <a:schemeClr val="accent1">
                <a:tint val="60000"/>
                <a:hueOff val="0"/>
                <a:satOff val="0"/>
                <a:lumOff val="0"/>
                <a:alphaOff val="0"/>
                <a:satMod val="103000"/>
                <a:lumMod val="102000"/>
                <a:tint val="94000"/>
              </a:schemeClr>
            </a:gs>
            <a:gs pos="50000">
              <a:schemeClr val="accent1">
                <a:tint val="60000"/>
                <a:hueOff val="0"/>
                <a:satOff val="0"/>
                <a:lumOff val="0"/>
                <a:alphaOff val="0"/>
                <a:satMod val="110000"/>
                <a:lumMod val="100000"/>
                <a:shade val="100000"/>
              </a:schemeClr>
            </a:gs>
            <a:gs pos="100000">
              <a:schemeClr val="accent1">
                <a:tint val="6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a:off x="3861046" y="1754815"/>
        <a:ext cx="176883" cy="243875"/>
      </dsp:txXfrm>
    </dsp:sp>
    <dsp:sp modelId="{32981C4D-9474-40B1-B57D-3D707359DA86}">
      <dsp:nvSpPr>
        <dsp:cNvPr id="0" name=""/>
        <dsp:cNvSpPr/>
      </dsp:nvSpPr>
      <dsp:spPr>
        <a:xfrm>
          <a:off x="4114875" y="838435"/>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311150">
            <a:lnSpc>
              <a:spcPct val="90000"/>
            </a:lnSpc>
            <a:spcBef>
              <a:spcPct val="0"/>
            </a:spcBef>
            <a:spcAft>
              <a:spcPct val="35000"/>
            </a:spcAft>
            <a:buFont typeface="EYInterstate" panose="02000503020000020004" pitchFamily="2" charset="0"/>
            <a:buNone/>
          </a:pPr>
          <a:r>
            <a:rPr lang="en-US" sz="800" kern="1200">
              <a:solidFill>
                <a:prstClr val="black"/>
              </a:solidFill>
              <a:latin typeface="EY interstate"/>
              <a:ea typeface="+mn-ea"/>
              <a:cs typeface="+mn-cs"/>
            </a:rPr>
            <a:t>Any unidentified difference that cannot be substantiated has been appropriately marked as a Required Adjustment</a:t>
          </a:r>
          <a:endParaRPr lang="en-IN" sz="800" kern="1200">
            <a:solidFill>
              <a:prstClr val="black"/>
            </a:solidFill>
            <a:latin typeface="EY interstate"/>
            <a:ea typeface="+mn-ea"/>
            <a:cs typeface="+mn-cs"/>
          </a:endParaRPr>
        </a:p>
      </dsp:txBody>
      <dsp:txXfrm>
        <a:off x="4289946" y="1013506"/>
        <a:ext cx="845319" cy="845319"/>
      </dsp:txXfrm>
    </dsp:sp>
    <dsp:sp modelId="{C3F9A135-F379-45F1-96A1-DE814B1EED9B}">
      <dsp:nvSpPr>
        <dsp:cNvPr id="0" name=""/>
        <dsp:cNvSpPr/>
      </dsp:nvSpPr>
      <dsp:spPr>
        <a:xfrm rot="1800000">
          <a:off x="3855968" y="2483538"/>
          <a:ext cx="252690" cy="406457"/>
        </a:xfrm>
        <a:prstGeom prst="rightArrow">
          <a:avLst>
            <a:gd name="adj1" fmla="val 60000"/>
            <a:gd name="adj2" fmla="val 50000"/>
          </a:avLst>
        </a:prstGeom>
        <a:gradFill rotWithShape="0">
          <a:gsLst>
            <a:gs pos="0">
              <a:schemeClr val="accent1">
                <a:tint val="60000"/>
                <a:hueOff val="0"/>
                <a:satOff val="0"/>
                <a:lumOff val="0"/>
                <a:alphaOff val="0"/>
                <a:satMod val="103000"/>
                <a:lumMod val="102000"/>
                <a:tint val="94000"/>
              </a:schemeClr>
            </a:gs>
            <a:gs pos="50000">
              <a:schemeClr val="accent1">
                <a:tint val="60000"/>
                <a:hueOff val="0"/>
                <a:satOff val="0"/>
                <a:lumOff val="0"/>
                <a:alphaOff val="0"/>
                <a:satMod val="110000"/>
                <a:lumMod val="100000"/>
                <a:shade val="100000"/>
              </a:schemeClr>
            </a:gs>
            <a:gs pos="100000">
              <a:schemeClr val="accent1">
                <a:tint val="6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a:off x="3861046" y="2545877"/>
        <a:ext cx="176883" cy="243875"/>
      </dsp:txXfrm>
    </dsp:sp>
    <dsp:sp modelId="{B7D08AFF-93BD-4AE7-8DEF-FAF7EA330098}">
      <dsp:nvSpPr>
        <dsp:cNvPr id="0" name=""/>
        <dsp:cNvSpPr/>
      </dsp:nvSpPr>
      <dsp:spPr>
        <a:xfrm>
          <a:off x="4114875" y="2510670"/>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311150">
            <a:lnSpc>
              <a:spcPct val="90000"/>
            </a:lnSpc>
            <a:spcBef>
              <a:spcPct val="0"/>
            </a:spcBef>
            <a:spcAft>
              <a:spcPct val="35000"/>
            </a:spcAft>
            <a:buFont typeface="EYInterstate" panose="02000503020000020004" pitchFamily="2" charset="0"/>
            <a:buNone/>
          </a:pPr>
          <a:r>
            <a:rPr lang="en-US" sz="700" kern="1200">
              <a:solidFill>
                <a:prstClr val="black"/>
              </a:solidFill>
              <a:latin typeface="EY interstate"/>
              <a:ea typeface="+mn-ea"/>
              <a:cs typeface="+mn-cs"/>
            </a:rPr>
            <a:t>All reported items have attached proper documentation and third-party documentation, if available, which supports the balances</a:t>
          </a:r>
          <a:endParaRPr lang="en-IN" sz="700" kern="1200">
            <a:solidFill>
              <a:prstClr val="black"/>
            </a:solidFill>
            <a:latin typeface="EY interstate"/>
            <a:ea typeface="+mn-ea"/>
            <a:cs typeface="+mn-cs"/>
          </a:endParaRPr>
        </a:p>
      </dsp:txBody>
      <dsp:txXfrm>
        <a:off x="4289946" y="2685741"/>
        <a:ext cx="845319" cy="845319"/>
      </dsp:txXfrm>
    </dsp:sp>
    <dsp:sp modelId="{C82FD7C2-DA11-4910-AA7B-3623E6B14B2F}">
      <dsp:nvSpPr>
        <dsp:cNvPr id="0" name=""/>
        <dsp:cNvSpPr/>
      </dsp:nvSpPr>
      <dsp:spPr>
        <a:xfrm rot="5400000">
          <a:off x="3138062" y="2898021"/>
          <a:ext cx="252690" cy="406457"/>
        </a:xfrm>
        <a:prstGeom prst="rightArrow">
          <a:avLst>
            <a:gd name="adj1" fmla="val 60000"/>
            <a:gd name="adj2" fmla="val 50000"/>
          </a:avLst>
        </a:prstGeom>
        <a:gradFill rotWithShape="0">
          <a:gsLst>
            <a:gs pos="0">
              <a:schemeClr val="accent1">
                <a:tint val="60000"/>
                <a:hueOff val="0"/>
                <a:satOff val="0"/>
                <a:lumOff val="0"/>
                <a:alphaOff val="0"/>
                <a:satMod val="103000"/>
                <a:lumMod val="102000"/>
                <a:tint val="94000"/>
              </a:schemeClr>
            </a:gs>
            <a:gs pos="50000">
              <a:schemeClr val="accent1">
                <a:tint val="60000"/>
                <a:hueOff val="0"/>
                <a:satOff val="0"/>
                <a:lumOff val="0"/>
                <a:alphaOff val="0"/>
                <a:satMod val="110000"/>
                <a:lumMod val="100000"/>
                <a:shade val="100000"/>
              </a:schemeClr>
            </a:gs>
            <a:gs pos="100000">
              <a:schemeClr val="accent1">
                <a:tint val="6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a:off x="3175966" y="2941409"/>
        <a:ext cx="176883" cy="243875"/>
      </dsp:txXfrm>
    </dsp:sp>
    <dsp:sp modelId="{A7B3ECA3-0D37-4BD8-AD1D-5469B06F0E65}">
      <dsp:nvSpPr>
        <dsp:cNvPr id="0" name=""/>
        <dsp:cNvSpPr/>
      </dsp:nvSpPr>
      <dsp:spPr>
        <a:xfrm>
          <a:off x="2666677" y="3346788"/>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311150">
            <a:lnSpc>
              <a:spcPct val="90000"/>
            </a:lnSpc>
            <a:spcBef>
              <a:spcPct val="0"/>
            </a:spcBef>
            <a:spcAft>
              <a:spcPct val="35000"/>
            </a:spcAft>
            <a:buFont typeface="EYInterstate" panose="02000503020000020004" pitchFamily="2" charset="0"/>
            <a:buNone/>
          </a:pPr>
          <a:r>
            <a:rPr lang="en-US" sz="900" kern="1200">
              <a:solidFill>
                <a:prstClr val="black"/>
              </a:solidFill>
              <a:latin typeface="EY interstate"/>
              <a:ea typeface="+mn-ea"/>
              <a:cs typeface="+mn-cs"/>
            </a:rPr>
            <a:t>Aged Required Adjustments and Timing Items are resolved timely per policy</a:t>
          </a:r>
          <a:endParaRPr lang="en-IN" sz="900" kern="1200">
            <a:solidFill>
              <a:prstClr val="black"/>
            </a:solidFill>
            <a:latin typeface="EY interstate"/>
            <a:ea typeface="+mn-ea"/>
            <a:cs typeface="+mn-cs"/>
          </a:endParaRPr>
        </a:p>
      </dsp:txBody>
      <dsp:txXfrm>
        <a:off x="2841748" y="3521859"/>
        <a:ext cx="845319" cy="845319"/>
      </dsp:txXfrm>
    </dsp:sp>
    <dsp:sp modelId="{DA2141C4-C2B5-4633-9B38-C0D1884EFA34}">
      <dsp:nvSpPr>
        <dsp:cNvPr id="0" name=""/>
        <dsp:cNvSpPr/>
      </dsp:nvSpPr>
      <dsp:spPr>
        <a:xfrm rot="9000000">
          <a:off x="2420157" y="2483538"/>
          <a:ext cx="252690" cy="406457"/>
        </a:xfrm>
        <a:prstGeom prst="rightArrow">
          <a:avLst>
            <a:gd name="adj1" fmla="val 60000"/>
            <a:gd name="adj2" fmla="val 50000"/>
          </a:avLst>
        </a:prstGeom>
        <a:gradFill rotWithShape="0">
          <a:gsLst>
            <a:gs pos="0">
              <a:schemeClr val="accent1">
                <a:tint val="60000"/>
                <a:hueOff val="0"/>
                <a:satOff val="0"/>
                <a:lumOff val="0"/>
                <a:alphaOff val="0"/>
                <a:satMod val="103000"/>
                <a:lumMod val="102000"/>
                <a:tint val="94000"/>
              </a:schemeClr>
            </a:gs>
            <a:gs pos="50000">
              <a:schemeClr val="accent1">
                <a:tint val="60000"/>
                <a:hueOff val="0"/>
                <a:satOff val="0"/>
                <a:lumOff val="0"/>
                <a:alphaOff val="0"/>
                <a:satMod val="110000"/>
                <a:lumMod val="100000"/>
                <a:shade val="100000"/>
              </a:schemeClr>
            </a:gs>
            <a:gs pos="100000">
              <a:schemeClr val="accent1">
                <a:tint val="6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rot="10800000">
        <a:off x="2490886" y="2545877"/>
        <a:ext cx="176883" cy="243875"/>
      </dsp:txXfrm>
    </dsp:sp>
    <dsp:sp modelId="{FF59338D-A006-43DF-AD63-258F6D43A0B0}">
      <dsp:nvSpPr>
        <dsp:cNvPr id="0" name=""/>
        <dsp:cNvSpPr/>
      </dsp:nvSpPr>
      <dsp:spPr>
        <a:xfrm>
          <a:off x="1218478" y="2510670"/>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311150">
            <a:lnSpc>
              <a:spcPct val="90000"/>
            </a:lnSpc>
            <a:spcBef>
              <a:spcPct val="0"/>
            </a:spcBef>
            <a:spcAft>
              <a:spcPct val="35000"/>
            </a:spcAft>
            <a:buFont typeface="EYInterstate" panose="02000503020000020004" pitchFamily="2" charset="0"/>
            <a:buNone/>
          </a:pPr>
          <a:r>
            <a:rPr lang="en-US" sz="800" kern="1200">
              <a:solidFill>
                <a:prstClr val="black"/>
              </a:solidFill>
              <a:latin typeface="EY interstate"/>
              <a:ea typeface="+mn-ea"/>
              <a:cs typeface="+mn-cs"/>
            </a:rPr>
            <a:t>Required Adjustments have a proper impact type identified and Action Plan defined for resolution</a:t>
          </a:r>
          <a:endParaRPr lang="en-IN" sz="800" kern="1200">
            <a:solidFill>
              <a:prstClr val="black"/>
            </a:solidFill>
            <a:latin typeface="EY interstate"/>
            <a:ea typeface="+mn-ea"/>
            <a:cs typeface="+mn-cs"/>
          </a:endParaRPr>
        </a:p>
      </dsp:txBody>
      <dsp:txXfrm>
        <a:off x="1393549" y="2685741"/>
        <a:ext cx="845319" cy="845319"/>
      </dsp:txXfrm>
    </dsp:sp>
    <dsp:sp modelId="{9350472C-F2F4-488C-B77B-83CE2F6E2DFB}">
      <dsp:nvSpPr>
        <dsp:cNvPr id="0" name=""/>
        <dsp:cNvSpPr/>
      </dsp:nvSpPr>
      <dsp:spPr>
        <a:xfrm rot="12600000">
          <a:off x="2420157" y="1654572"/>
          <a:ext cx="252690" cy="406457"/>
        </a:xfrm>
        <a:prstGeom prst="rightArrow">
          <a:avLst>
            <a:gd name="adj1" fmla="val 60000"/>
            <a:gd name="adj2" fmla="val 50000"/>
          </a:avLst>
        </a:prstGeom>
        <a:gradFill rotWithShape="0">
          <a:gsLst>
            <a:gs pos="0">
              <a:schemeClr val="accent1">
                <a:tint val="60000"/>
                <a:hueOff val="0"/>
                <a:satOff val="0"/>
                <a:lumOff val="0"/>
                <a:alphaOff val="0"/>
                <a:satMod val="103000"/>
                <a:lumMod val="102000"/>
                <a:tint val="94000"/>
              </a:schemeClr>
            </a:gs>
            <a:gs pos="50000">
              <a:schemeClr val="accent1">
                <a:tint val="60000"/>
                <a:hueOff val="0"/>
                <a:satOff val="0"/>
                <a:lumOff val="0"/>
                <a:alphaOff val="0"/>
                <a:satMod val="110000"/>
                <a:lumMod val="100000"/>
                <a:shade val="100000"/>
              </a:schemeClr>
            </a:gs>
            <a:gs pos="100000">
              <a:schemeClr val="accent1">
                <a:tint val="6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rot="10800000">
        <a:off x="2490886" y="1754815"/>
        <a:ext cx="176883" cy="243875"/>
      </dsp:txXfrm>
    </dsp:sp>
    <dsp:sp modelId="{41393439-9043-4979-ACB0-D093F49D4BB1}">
      <dsp:nvSpPr>
        <dsp:cNvPr id="0" name=""/>
        <dsp:cNvSpPr/>
      </dsp:nvSpPr>
      <dsp:spPr>
        <a:xfrm>
          <a:off x="1218478" y="838435"/>
          <a:ext cx="1195461" cy="1195461"/>
        </a:xfrm>
        <a:prstGeom prst="ellipse">
          <a:avLst/>
        </a:prstGeom>
        <a:solidFill>
          <a:srgbClr val="FFE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311150">
            <a:lnSpc>
              <a:spcPct val="90000"/>
            </a:lnSpc>
            <a:spcBef>
              <a:spcPct val="0"/>
            </a:spcBef>
            <a:spcAft>
              <a:spcPct val="35000"/>
            </a:spcAft>
            <a:buFont typeface="EYInterstate" panose="02000503020000020004" pitchFamily="2" charset="0"/>
            <a:buNone/>
          </a:pPr>
          <a:r>
            <a:rPr lang="en-US" sz="900" kern="1200">
              <a:solidFill>
                <a:prstClr val="black"/>
              </a:solidFill>
              <a:latin typeface="EY interstate"/>
              <a:ea typeface="+mn-ea"/>
              <a:cs typeface="+mn-cs"/>
            </a:rPr>
            <a:t>Purpose &amp; procedures were reviewed and properly updated</a:t>
          </a:r>
          <a:endParaRPr lang="en-IN" sz="900" kern="1200">
            <a:solidFill>
              <a:prstClr val="black"/>
            </a:solidFill>
            <a:latin typeface="EY interstate"/>
            <a:ea typeface="+mn-ea"/>
            <a:cs typeface="+mn-cs"/>
          </a:endParaRPr>
        </a:p>
      </dsp:txBody>
      <dsp:txXfrm>
        <a:off x="1393549" y="1013506"/>
        <a:ext cx="845319" cy="845319"/>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1975A99-4637-4EDF-A240-6664CDFCDDD2}">
      <dsp:nvSpPr>
        <dsp:cNvPr id="0" name=""/>
        <dsp:cNvSpPr/>
      </dsp:nvSpPr>
      <dsp:spPr>
        <a:xfrm>
          <a:off x="2559892" y="637"/>
          <a:ext cx="3839838" cy="2487040"/>
        </a:xfrm>
        <a:prstGeom prst="rightArrow">
          <a:avLst>
            <a:gd name="adj1" fmla="val 75000"/>
            <a:gd name="adj2" fmla="val 50000"/>
          </a:avLst>
        </a:prstGeom>
        <a:noFill/>
        <a:ln w="19050" cap="flat" cmpd="sng" algn="ctr">
          <a:solidFill>
            <a:srgbClr val="FFFF00">
              <a:alpha val="9000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Font typeface="Arial" panose="020B0604020202020204" pitchFamily="34" charset="0"/>
            <a:buChar char="•"/>
          </a:pPr>
          <a:r>
            <a:rPr lang="en-IN" sz="1600" b="0" kern="1200">
              <a:solidFill>
                <a:schemeClr val="bg1"/>
              </a:solidFill>
              <a:latin typeface="EY interstate"/>
            </a:rPr>
            <a:t>Segment reconciliations by legal entity or business unit, Unique identifiers</a:t>
          </a:r>
        </a:p>
        <a:p>
          <a:pPr marL="171450" lvl="1" indent="-171450" algn="l" defTabSz="711200">
            <a:lnSpc>
              <a:spcPct val="90000"/>
            </a:lnSpc>
            <a:spcBef>
              <a:spcPct val="0"/>
            </a:spcBef>
            <a:spcAft>
              <a:spcPct val="15000"/>
            </a:spcAft>
            <a:buFont typeface="Arial" panose="020B0604020202020204" pitchFamily="34" charset="0"/>
            <a:buChar char="•"/>
          </a:pPr>
          <a:r>
            <a:rPr lang="en-IN" sz="1600" b="0" kern="1200">
              <a:solidFill>
                <a:schemeClr val="bg1"/>
              </a:solidFill>
              <a:latin typeface="EY interstate"/>
            </a:rPr>
            <a:t>Implement entity-level dashboards Reconciliation status, Exception volume, SLA compliance</a:t>
          </a:r>
        </a:p>
      </dsp:txBody>
      <dsp:txXfrm>
        <a:off x="2559892" y="311517"/>
        <a:ext cx="2907198" cy="1865280"/>
      </dsp:txXfrm>
    </dsp:sp>
    <dsp:sp modelId="{DC16F201-7BCB-4E41-B14B-9A974049A63A}">
      <dsp:nvSpPr>
        <dsp:cNvPr id="0" name=""/>
        <dsp:cNvSpPr/>
      </dsp:nvSpPr>
      <dsp:spPr>
        <a:xfrm>
          <a:off x="0" y="637"/>
          <a:ext cx="2559892" cy="2487040"/>
        </a:xfrm>
        <a:prstGeom prst="round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IN" sz="1600" b="1" kern="1200">
              <a:latin typeface="EY interstate"/>
            </a:rPr>
            <a:t>	</a:t>
          </a:r>
        </a:p>
      </dsp:txBody>
      <dsp:txXfrm>
        <a:off x="121407" y="122044"/>
        <a:ext cx="2317078" cy="2244226"/>
      </dsp:txXfrm>
    </dsp:sp>
    <dsp:sp modelId="{2A5C3D8F-1DD8-47ED-AE1D-BAC3F209CDB9}">
      <dsp:nvSpPr>
        <dsp:cNvPr id="0" name=""/>
        <dsp:cNvSpPr/>
      </dsp:nvSpPr>
      <dsp:spPr>
        <a:xfrm>
          <a:off x="2559892" y="2736382"/>
          <a:ext cx="3839838" cy="2487040"/>
        </a:xfrm>
        <a:prstGeom prst="rightArrow">
          <a:avLst>
            <a:gd name="adj1" fmla="val 75000"/>
            <a:gd name="adj2" fmla="val 50000"/>
          </a:avLst>
        </a:prstGeom>
        <a:noFill/>
        <a:ln w="19050" cap="flat" cmpd="sng" algn="ctr">
          <a:solidFill>
            <a:srgbClr val="FFFF00">
              <a:alpha val="9000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Font typeface="Arial" panose="020B0604020202020204" pitchFamily="34" charset="0"/>
            <a:buChar char="•"/>
          </a:pPr>
          <a:r>
            <a:rPr lang="en-IN" sz="1600" b="0" kern="1200">
              <a:solidFill>
                <a:schemeClr val="bg1"/>
              </a:solidFill>
              <a:latin typeface="EY interstate"/>
            </a:rPr>
            <a:t>Tag accounts or reconciliations with region or geography codes (e.g., APAC, EMEA, NA).
Align reconciliation calendars with regional close cycles.
Use regional filters in dashboards and reports.</a:t>
          </a:r>
        </a:p>
      </dsp:txBody>
      <dsp:txXfrm>
        <a:off x="2559892" y="3047262"/>
        <a:ext cx="2907198" cy="1865280"/>
      </dsp:txXfrm>
    </dsp:sp>
    <dsp:sp modelId="{CEB72115-A3E3-4BB6-B585-1D9EA51D9826}">
      <dsp:nvSpPr>
        <dsp:cNvPr id="0" name=""/>
        <dsp:cNvSpPr/>
      </dsp:nvSpPr>
      <dsp:spPr>
        <a:xfrm>
          <a:off x="0" y="2736382"/>
          <a:ext cx="2559892" cy="2487040"/>
        </a:xfrm>
        <a:prstGeom prst="round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endParaRPr lang="en-IN" sz="1600" b="1" kern="1200">
            <a:latin typeface="EY interstate"/>
          </a:endParaRPr>
        </a:p>
      </dsp:txBody>
      <dsp:txXfrm>
        <a:off x="121407" y="2857789"/>
        <a:ext cx="2317078" cy="2244226"/>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D440EA-0D37-4BD3-B174-A1A186215AAF}">
      <dsp:nvSpPr>
        <dsp:cNvPr id="0" name=""/>
        <dsp:cNvSpPr/>
      </dsp:nvSpPr>
      <dsp:spPr>
        <a:xfrm>
          <a:off x="0" y="0"/>
          <a:ext cx="4480436" cy="531213"/>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IN" sz="1600" b="0" kern="1200">
              <a:solidFill>
                <a:schemeClr val="bg1"/>
              </a:solidFill>
              <a:latin typeface="EY interstate"/>
            </a:rPr>
            <a:t>Track aging of unreconciled items (e.g., 0–30, 31–90, 91–180, 180+ days)</a:t>
          </a:r>
        </a:p>
      </dsp:txBody>
      <dsp:txXfrm>
        <a:off x="949208" y="0"/>
        <a:ext cx="3531227" cy="531213"/>
      </dsp:txXfrm>
    </dsp:sp>
    <dsp:sp modelId="{A9513086-C17A-4E12-9091-1CE2FDD88695}">
      <dsp:nvSpPr>
        <dsp:cNvPr id="0" name=""/>
        <dsp:cNvSpPr/>
      </dsp:nvSpPr>
      <dsp:spPr>
        <a:xfrm>
          <a:off x="322610" y="104156"/>
          <a:ext cx="357108" cy="322901"/>
        </a:xfrm>
        <a:prstGeom prst="roundRect">
          <a:avLst>
            <a:gd name="adj" fmla="val 10000"/>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l="-3000" r="-3000"/>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0482D5A3-5F2D-4F1D-8139-1B2C00158A90}">
      <dsp:nvSpPr>
        <dsp:cNvPr id="0" name=""/>
        <dsp:cNvSpPr/>
      </dsp:nvSpPr>
      <dsp:spPr>
        <a:xfrm>
          <a:off x="0" y="584335"/>
          <a:ext cx="4480436" cy="531213"/>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IN" sz="1600" kern="1200">
              <a:solidFill>
                <a:schemeClr val="bg1"/>
              </a:solidFill>
              <a:latin typeface="EY interstate"/>
            </a:rPr>
            <a:t>Use aging buckets in exception logs and dashboards.</a:t>
          </a:r>
        </a:p>
      </dsp:txBody>
      <dsp:txXfrm>
        <a:off x="949208" y="584335"/>
        <a:ext cx="3531227" cy="531213"/>
      </dsp:txXfrm>
    </dsp:sp>
    <dsp:sp modelId="{7060082C-A879-49F8-A564-2484BB771B17}">
      <dsp:nvSpPr>
        <dsp:cNvPr id="0" name=""/>
        <dsp:cNvSpPr/>
      </dsp:nvSpPr>
      <dsp:spPr>
        <a:xfrm>
          <a:off x="322610" y="711531"/>
          <a:ext cx="357108" cy="276821"/>
        </a:xfrm>
        <a:prstGeom prst="roundRect">
          <a:avLst>
            <a:gd name="adj" fmla="val 10000"/>
          </a:avLst>
        </a:prstGeom>
        <a:blipFill rotWithShape="1">
          <a:blip xmlns:r="http://schemas.openxmlformats.org/officeDocument/2006/relationships" r:embed="rId1">
            <a:extLst>
              <a:ext uri="{96DAC541-7B7A-43D3-8B79-37D633B846F1}">
                <asvg:svgBlip xmlns:asvg="http://schemas.microsoft.com/office/drawing/2016/SVG/main" r:embed="rId2"/>
              </a:ext>
            </a:extLst>
          </a:blip>
          <a:srcRect/>
          <a:stretch>
            <a:fillRect t="-5000" b="-5000"/>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6971811-7C31-4E6F-B449-2AE04E265F96}">
      <dsp:nvSpPr>
        <dsp:cNvPr id="0" name=""/>
        <dsp:cNvSpPr/>
      </dsp:nvSpPr>
      <dsp:spPr>
        <a:xfrm>
          <a:off x="0" y="1168670"/>
          <a:ext cx="4480436" cy="531213"/>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IN" sz="1600" kern="1200">
              <a:solidFill>
                <a:schemeClr val="bg1"/>
              </a:solidFill>
              <a:latin typeface="EY interstate"/>
            </a:rPr>
            <a:t>Set escalation rules for aging thresholds (e.g., &gt;60 days triggers manager review).</a:t>
          </a:r>
        </a:p>
      </dsp:txBody>
      <dsp:txXfrm>
        <a:off x="949208" y="1168670"/>
        <a:ext cx="3531227" cy="531213"/>
      </dsp:txXfrm>
    </dsp:sp>
    <dsp:sp modelId="{470303EB-C4F3-4D3E-B3F0-F935D0192FCC}">
      <dsp:nvSpPr>
        <dsp:cNvPr id="0" name=""/>
        <dsp:cNvSpPr/>
      </dsp:nvSpPr>
      <dsp:spPr>
        <a:xfrm>
          <a:off x="313466" y="1269949"/>
          <a:ext cx="375397" cy="328655"/>
        </a:xfrm>
        <a:prstGeom prst="roundRect">
          <a:avLst>
            <a:gd name="adj" fmla="val 10000"/>
          </a:avLst>
        </a:prstGeom>
        <a:blipFill rotWithShape="1">
          <a:blip xmlns:r="http://schemas.openxmlformats.org/officeDocument/2006/relationships" r:embed="rId1">
            <a:extLst>
              <a:ext uri="{96DAC541-7B7A-43D3-8B79-37D633B846F1}">
                <asvg:svgBlip xmlns:asvg="http://schemas.microsoft.com/office/drawing/2016/SVG/main" r:embed="rId2"/>
              </a:ext>
            </a:extLst>
          </a:blip>
          <a:srcRect/>
          <a:stretch>
            <a:fillRect l="-1000" r="-1000"/>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F1F6C87-4943-4BEC-8681-06A2C53BC7F4}">
      <dsp:nvSpPr>
        <dsp:cNvPr id="0" name=""/>
        <dsp:cNvSpPr/>
      </dsp:nvSpPr>
      <dsp:spPr>
        <a:xfrm>
          <a:off x="497842" y="802608"/>
          <a:ext cx="965399" cy="965447"/>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n-IN" sz="1600" b="1" kern="1200">
              <a:solidFill>
                <a:schemeClr val="tx1"/>
              </a:solidFill>
              <a:latin typeface="EY interstate"/>
            </a:rPr>
            <a:t>Entity Wise</a:t>
          </a:r>
        </a:p>
      </dsp:txBody>
      <dsp:txXfrm>
        <a:off x="639221" y="943994"/>
        <a:ext cx="682641" cy="682675"/>
      </dsp:txXfrm>
    </dsp:sp>
    <dsp:sp modelId="{2CE02A66-3512-440C-8320-69B332884552}">
      <dsp:nvSpPr>
        <dsp:cNvPr id="0" name=""/>
        <dsp:cNvSpPr/>
      </dsp:nvSpPr>
      <dsp:spPr>
        <a:xfrm>
          <a:off x="0" y="265820"/>
          <a:ext cx="1946085" cy="2028676"/>
        </a:xfrm>
        <a:prstGeom prst="blockArc">
          <a:avLst>
            <a:gd name="adj1" fmla="val 17527788"/>
            <a:gd name="adj2" fmla="val 4119114"/>
            <a:gd name="adj3" fmla="val 5750"/>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B1E2232-B4DE-4796-A2CE-C33D6CDA8A8B}">
      <dsp:nvSpPr>
        <dsp:cNvPr id="0" name=""/>
        <dsp:cNvSpPr/>
      </dsp:nvSpPr>
      <dsp:spPr>
        <a:xfrm>
          <a:off x="1432956" y="436838"/>
          <a:ext cx="517167" cy="517312"/>
        </a:xfrm>
        <a:prstGeom prst="ellipse">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803BABA-4BEC-41D6-95DB-DA0CA13E801B}">
      <dsp:nvSpPr>
        <dsp:cNvPr id="0" name=""/>
        <dsp:cNvSpPr/>
      </dsp:nvSpPr>
      <dsp:spPr>
        <a:xfrm>
          <a:off x="1989351" y="445155"/>
          <a:ext cx="692249" cy="5006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 tIns="11430" rIns="11430" bIns="11430" numCol="1" spcCol="1270" anchor="ctr" anchorCtr="0">
          <a:noAutofit/>
        </a:bodyPr>
        <a:lstStyle/>
        <a:p>
          <a:pPr marL="0" lvl="0" indent="0" algn="l" defTabSz="400050">
            <a:lnSpc>
              <a:spcPct val="90000"/>
            </a:lnSpc>
            <a:spcBef>
              <a:spcPct val="0"/>
            </a:spcBef>
            <a:spcAft>
              <a:spcPct val="10000"/>
            </a:spcAft>
            <a:buNone/>
          </a:pPr>
          <a:r>
            <a:rPr lang="en-IN" sz="900" kern="1200">
              <a:solidFill>
                <a:schemeClr val="bg1"/>
              </a:solidFill>
              <a:latin typeface="EY interstate"/>
            </a:rPr>
            <a:t>% of Reconciliation on time per entity</a:t>
          </a:r>
        </a:p>
      </dsp:txBody>
      <dsp:txXfrm>
        <a:off x="1989351" y="445155"/>
        <a:ext cx="692249" cy="500677"/>
      </dsp:txXfrm>
    </dsp:sp>
    <dsp:sp modelId="{CEA88086-C236-469A-BFC1-27D83B9DF1FC}">
      <dsp:nvSpPr>
        <dsp:cNvPr id="0" name=""/>
        <dsp:cNvSpPr/>
      </dsp:nvSpPr>
      <dsp:spPr>
        <a:xfrm>
          <a:off x="1632842" y="1025357"/>
          <a:ext cx="517167" cy="517312"/>
        </a:xfrm>
        <a:prstGeom prst="ellipse">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CA97D4C-7482-43A8-B5AB-A32737D12FE0}">
      <dsp:nvSpPr>
        <dsp:cNvPr id="0" name=""/>
        <dsp:cNvSpPr/>
      </dsp:nvSpPr>
      <dsp:spPr>
        <a:xfrm>
          <a:off x="2192122" y="1032660"/>
          <a:ext cx="692249" cy="5006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ctr" anchorCtr="0">
          <a:noAutofit/>
        </a:bodyPr>
        <a:lstStyle/>
        <a:p>
          <a:pPr marL="0" lvl="0" indent="0" algn="l" defTabSz="355600">
            <a:lnSpc>
              <a:spcPct val="90000"/>
            </a:lnSpc>
            <a:spcBef>
              <a:spcPct val="0"/>
            </a:spcBef>
            <a:spcAft>
              <a:spcPct val="10000"/>
            </a:spcAft>
            <a:buNone/>
          </a:pPr>
          <a:r>
            <a:rPr lang="en-IN" sz="800" kern="1200">
              <a:solidFill>
                <a:schemeClr val="bg1"/>
              </a:solidFill>
              <a:latin typeface="EY interstate"/>
            </a:rPr>
            <a:t>% of exceptions per entity</a:t>
          </a:r>
        </a:p>
      </dsp:txBody>
      <dsp:txXfrm>
        <a:off x="2192122" y="1032660"/>
        <a:ext cx="692249" cy="500677"/>
      </dsp:txXfrm>
    </dsp:sp>
    <dsp:sp modelId="{DB483061-977D-4DEF-A7EB-A345850D4F09}">
      <dsp:nvSpPr>
        <dsp:cNvPr id="0" name=""/>
        <dsp:cNvSpPr/>
      </dsp:nvSpPr>
      <dsp:spPr>
        <a:xfrm>
          <a:off x="1432956" y="1622193"/>
          <a:ext cx="517167" cy="517312"/>
        </a:xfrm>
        <a:prstGeom prst="ellipse">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173988B-930D-4447-BAA0-CA36B92C1361}">
      <dsp:nvSpPr>
        <dsp:cNvPr id="0" name=""/>
        <dsp:cNvSpPr/>
      </dsp:nvSpPr>
      <dsp:spPr>
        <a:xfrm>
          <a:off x="1989351" y="1632742"/>
          <a:ext cx="692249" cy="5006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t" anchorCtr="0">
          <a:noAutofit/>
        </a:bodyPr>
        <a:lstStyle/>
        <a:p>
          <a:pPr marL="0" lvl="0" indent="0" algn="l" defTabSz="355600">
            <a:lnSpc>
              <a:spcPct val="90000"/>
            </a:lnSpc>
            <a:spcBef>
              <a:spcPct val="0"/>
            </a:spcBef>
            <a:spcAft>
              <a:spcPct val="10000"/>
            </a:spcAft>
            <a:buNone/>
          </a:pPr>
          <a:r>
            <a:rPr lang="en-IN" sz="800" kern="1200">
              <a:solidFill>
                <a:schemeClr val="bg1"/>
              </a:solidFill>
              <a:latin typeface="EY interstate"/>
            </a:rPr>
            <a:t>Average time to resolve exceptions</a:t>
          </a:r>
        </a:p>
        <a:p>
          <a:pPr marL="57150" lvl="1" indent="-57150" algn="l" defTabSz="266700">
            <a:lnSpc>
              <a:spcPct val="90000"/>
            </a:lnSpc>
            <a:spcBef>
              <a:spcPct val="0"/>
            </a:spcBef>
            <a:spcAft>
              <a:spcPct val="15000"/>
            </a:spcAft>
            <a:buChar char="•"/>
          </a:pPr>
          <a:endParaRPr lang="en-IN" sz="600" kern="1200">
            <a:solidFill>
              <a:srgbClr val="FFFF00"/>
            </a:solidFill>
          </a:endParaRPr>
        </a:p>
      </dsp:txBody>
      <dsp:txXfrm>
        <a:off x="1989351" y="1632742"/>
        <a:ext cx="692249" cy="500677"/>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F1F6C87-4943-4BEC-8681-06A2C53BC7F4}">
      <dsp:nvSpPr>
        <dsp:cNvPr id="0" name=""/>
        <dsp:cNvSpPr/>
      </dsp:nvSpPr>
      <dsp:spPr>
        <a:xfrm>
          <a:off x="497842" y="802608"/>
          <a:ext cx="965399" cy="965447"/>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n-IN" sz="1600" b="1" kern="1200">
              <a:solidFill>
                <a:schemeClr val="tx1"/>
              </a:solidFill>
              <a:latin typeface="EY interstate"/>
            </a:rPr>
            <a:t>Region Wise</a:t>
          </a:r>
        </a:p>
      </dsp:txBody>
      <dsp:txXfrm>
        <a:off x="639221" y="943994"/>
        <a:ext cx="682641" cy="682675"/>
      </dsp:txXfrm>
    </dsp:sp>
    <dsp:sp modelId="{2CE02A66-3512-440C-8320-69B332884552}">
      <dsp:nvSpPr>
        <dsp:cNvPr id="0" name=""/>
        <dsp:cNvSpPr/>
      </dsp:nvSpPr>
      <dsp:spPr>
        <a:xfrm>
          <a:off x="0" y="265820"/>
          <a:ext cx="1946085" cy="2028676"/>
        </a:xfrm>
        <a:prstGeom prst="blockArc">
          <a:avLst>
            <a:gd name="adj1" fmla="val 17527788"/>
            <a:gd name="adj2" fmla="val 4119114"/>
            <a:gd name="adj3" fmla="val 5750"/>
          </a:avLst>
        </a:prstGeom>
        <a:no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B1E2232-B4DE-4796-A2CE-C33D6CDA8A8B}">
      <dsp:nvSpPr>
        <dsp:cNvPr id="0" name=""/>
        <dsp:cNvSpPr/>
      </dsp:nvSpPr>
      <dsp:spPr>
        <a:xfrm>
          <a:off x="1432956" y="436838"/>
          <a:ext cx="517167" cy="517312"/>
        </a:xfrm>
        <a:prstGeom prst="ellipse">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803BABA-4BEC-41D6-95DB-DA0CA13E801B}">
      <dsp:nvSpPr>
        <dsp:cNvPr id="0" name=""/>
        <dsp:cNvSpPr/>
      </dsp:nvSpPr>
      <dsp:spPr>
        <a:xfrm>
          <a:off x="1989351" y="445155"/>
          <a:ext cx="692249" cy="5006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ctr" anchorCtr="0">
          <a:noAutofit/>
        </a:bodyPr>
        <a:lstStyle/>
        <a:p>
          <a:pPr marL="0" lvl="0" indent="0" algn="l" defTabSz="355600">
            <a:lnSpc>
              <a:spcPct val="90000"/>
            </a:lnSpc>
            <a:spcBef>
              <a:spcPct val="0"/>
            </a:spcBef>
            <a:spcAft>
              <a:spcPct val="10000"/>
            </a:spcAft>
            <a:buNone/>
          </a:pPr>
          <a:r>
            <a:rPr lang="en-IN" sz="800" kern="1200">
              <a:solidFill>
                <a:schemeClr val="bg1"/>
              </a:solidFill>
              <a:latin typeface="EY interstate"/>
            </a:rPr>
            <a:t>Regional reconciliation completion rates</a:t>
          </a:r>
        </a:p>
      </dsp:txBody>
      <dsp:txXfrm>
        <a:off x="1989351" y="445155"/>
        <a:ext cx="692249" cy="500677"/>
      </dsp:txXfrm>
    </dsp:sp>
    <dsp:sp modelId="{CEA88086-C236-469A-BFC1-27D83B9DF1FC}">
      <dsp:nvSpPr>
        <dsp:cNvPr id="0" name=""/>
        <dsp:cNvSpPr/>
      </dsp:nvSpPr>
      <dsp:spPr>
        <a:xfrm>
          <a:off x="1632842" y="1025357"/>
          <a:ext cx="517167" cy="517312"/>
        </a:xfrm>
        <a:prstGeom prst="ellipse">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CA97D4C-7482-43A8-B5AB-A32737D12FE0}">
      <dsp:nvSpPr>
        <dsp:cNvPr id="0" name=""/>
        <dsp:cNvSpPr/>
      </dsp:nvSpPr>
      <dsp:spPr>
        <a:xfrm>
          <a:off x="2192122" y="1032660"/>
          <a:ext cx="692249" cy="5006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ctr" anchorCtr="0">
          <a:noAutofit/>
        </a:bodyPr>
        <a:lstStyle/>
        <a:p>
          <a:pPr marL="0" lvl="0" indent="0" algn="l" defTabSz="355600">
            <a:lnSpc>
              <a:spcPct val="90000"/>
            </a:lnSpc>
            <a:spcBef>
              <a:spcPct val="0"/>
            </a:spcBef>
            <a:spcAft>
              <a:spcPct val="10000"/>
            </a:spcAft>
            <a:buNone/>
          </a:pPr>
          <a:r>
            <a:rPr lang="en-IN" sz="800" kern="1200">
              <a:solidFill>
                <a:schemeClr val="bg1"/>
              </a:solidFill>
              <a:latin typeface="EY interstate"/>
            </a:rPr>
            <a:t>Exception trends by region
</a:t>
          </a:r>
        </a:p>
      </dsp:txBody>
      <dsp:txXfrm>
        <a:off x="2192122" y="1032660"/>
        <a:ext cx="692249" cy="500677"/>
      </dsp:txXfrm>
    </dsp:sp>
    <dsp:sp modelId="{BC29A3CA-BBB0-48F3-9614-E4EFF6C3C181}">
      <dsp:nvSpPr>
        <dsp:cNvPr id="0" name=""/>
        <dsp:cNvSpPr/>
      </dsp:nvSpPr>
      <dsp:spPr>
        <a:xfrm>
          <a:off x="1432956" y="1622193"/>
          <a:ext cx="517167" cy="517312"/>
        </a:xfrm>
        <a:prstGeom prst="ellipse">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2B859DE-2C09-4BF1-8BF2-026CB87FFBA1}">
      <dsp:nvSpPr>
        <dsp:cNvPr id="0" name=""/>
        <dsp:cNvSpPr/>
      </dsp:nvSpPr>
      <dsp:spPr>
        <a:xfrm>
          <a:off x="1989351" y="1632742"/>
          <a:ext cx="692249" cy="5006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ctr" anchorCtr="0">
          <a:noAutofit/>
        </a:bodyPr>
        <a:lstStyle/>
        <a:p>
          <a:pPr marL="0" lvl="0" indent="0" algn="l" defTabSz="355600">
            <a:lnSpc>
              <a:spcPct val="90000"/>
            </a:lnSpc>
            <a:spcBef>
              <a:spcPct val="0"/>
            </a:spcBef>
            <a:spcAft>
              <a:spcPct val="10000"/>
            </a:spcAft>
            <a:buFont typeface="Arial" panose="020B0604020202020204" pitchFamily="34" charset="0"/>
            <a:buNone/>
          </a:pPr>
          <a:r>
            <a:rPr lang="en-IN" sz="800" kern="1200">
              <a:solidFill>
                <a:schemeClr val="bg1"/>
              </a:solidFill>
              <a:latin typeface="EY interstate"/>
            </a:rPr>
            <a:t>Regional compliance with global policies</a:t>
          </a:r>
        </a:p>
      </dsp:txBody>
      <dsp:txXfrm>
        <a:off x="1989351" y="1632742"/>
        <a:ext cx="692249" cy="500677"/>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4FA0406-6CF6-44FA-9000-ADA83BA6872E}">
      <dsp:nvSpPr>
        <dsp:cNvPr id="0" name=""/>
        <dsp:cNvSpPr/>
      </dsp:nvSpPr>
      <dsp:spPr>
        <a:xfrm rot="10800000">
          <a:off x="774446" y="2130"/>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None/>
          </a:pPr>
          <a:r>
            <a:rPr lang="en-IN" sz="800" kern="1200">
              <a:solidFill>
                <a:srgbClr val="FFFF00"/>
              </a:solidFill>
              <a:latin typeface="EY interstate"/>
            </a:rPr>
            <a:t>BlackLine offers best-practice-based templates </a:t>
          </a:r>
          <a:r>
            <a:rPr lang="en-IN" sz="800" kern="1200">
              <a:latin typeface="EY interstate"/>
            </a:rPr>
            <a:t>for different account types (e.g., prepaid expenses, accruals). These templates ensure consistency, reduce manual effort, and improve auditability. [How to Per...BlackLine] Templates can be customized and reused across periods, with automatic roll-forward of balances.</a:t>
          </a:r>
        </a:p>
      </dsp:txBody>
      <dsp:txXfrm rot="10800000">
        <a:off x="1023124" y="2130"/>
        <a:ext cx="2232270" cy="994714"/>
      </dsp:txXfrm>
    </dsp:sp>
    <dsp:sp modelId="{CB6ECFEC-DA4C-4FEE-AD77-4D2496704FC2}">
      <dsp:nvSpPr>
        <dsp:cNvPr id="0" name=""/>
        <dsp:cNvSpPr/>
      </dsp:nvSpPr>
      <dsp:spPr>
        <a:xfrm>
          <a:off x="0" y="201028"/>
          <a:ext cx="598181" cy="614345"/>
        </a:xfrm>
        <a:prstGeom prst="ellipse">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B5739EFC-8E30-4397-90FC-7DD3EF1E14CA}">
      <dsp:nvSpPr>
        <dsp:cNvPr id="0" name=""/>
        <dsp:cNvSpPr/>
      </dsp:nvSpPr>
      <dsp:spPr>
        <a:xfrm rot="10800000">
          <a:off x="776728" y="1293775"/>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None/>
          </a:pPr>
          <a:r>
            <a:rPr lang="en-IN" sz="800" kern="1200">
              <a:latin typeface="EY interstate"/>
            </a:rPr>
            <a:t>Use </a:t>
          </a:r>
          <a:r>
            <a:rPr lang="en-IN" sz="800" kern="1200" err="1">
              <a:solidFill>
                <a:srgbClr val="FFFF00"/>
              </a:solidFill>
              <a:latin typeface="EY interstate"/>
            </a:rPr>
            <a:t>BlackLine’s</a:t>
          </a:r>
          <a:r>
            <a:rPr lang="en-IN" sz="800" kern="1200">
              <a:solidFill>
                <a:srgbClr val="FFFF00"/>
              </a:solidFill>
              <a:latin typeface="EY interstate"/>
            </a:rPr>
            <a:t> Journal Entry module to automate recurring entries like amortizations. </a:t>
          </a:r>
          <a:r>
            <a:rPr lang="en-IN" sz="800" kern="1200">
              <a:latin typeface="EY interstate"/>
            </a:rPr>
            <a:t>Reconciliations can be auto-certified when balances match the GL within a defined threshold. Set up scheduled GL balance feeds (e.g., every 10 minutes or hourly) to keep reconciliations current.</a:t>
          </a:r>
        </a:p>
      </dsp:txBody>
      <dsp:txXfrm rot="10800000">
        <a:off x="1025406" y="1293775"/>
        <a:ext cx="2232270" cy="994714"/>
      </dsp:txXfrm>
    </dsp:sp>
    <dsp:sp modelId="{C3019975-D818-42BE-843E-55BDBCAE4A1A}">
      <dsp:nvSpPr>
        <dsp:cNvPr id="0" name=""/>
        <dsp:cNvSpPr/>
      </dsp:nvSpPr>
      <dsp:spPr>
        <a:xfrm>
          <a:off x="0" y="1445514"/>
          <a:ext cx="607313" cy="621507"/>
        </a:xfrm>
        <a:prstGeom prst="ellipse">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9B51D09D-196B-4136-B614-10702EC3B4A4}">
      <dsp:nvSpPr>
        <dsp:cNvPr id="0" name=""/>
        <dsp:cNvSpPr/>
      </dsp:nvSpPr>
      <dsp:spPr>
        <a:xfrm rot="10800000">
          <a:off x="769226" y="2585419"/>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None/>
          </a:pPr>
          <a:r>
            <a:rPr lang="en-IN" sz="800" kern="1200" err="1">
              <a:solidFill>
                <a:srgbClr val="FFFF00"/>
              </a:solidFill>
              <a:latin typeface="EY interstate"/>
            </a:rPr>
            <a:t>BlackLine</a:t>
          </a:r>
          <a:r>
            <a:rPr lang="en-IN" sz="800" kern="1200">
              <a:solidFill>
                <a:srgbClr val="FFFF00"/>
              </a:solidFill>
              <a:latin typeface="EY interstate"/>
            </a:rPr>
            <a:t> supports Excel imports for GL detail reports. </a:t>
          </a:r>
          <a:r>
            <a:rPr lang="en-IN" sz="800" kern="1200">
              <a:latin typeface="EY interstate"/>
            </a:rPr>
            <a:t>The system can parse and map fields automatically, remembering previous mappings for faster future imports. 
Spot-check imported data to ensure accuracy before certification.</a:t>
          </a:r>
        </a:p>
      </dsp:txBody>
      <dsp:txXfrm rot="10800000">
        <a:off x="1017904" y="2585419"/>
        <a:ext cx="2232270" cy="994714"/>
      </dsp:txXfrm>
    </dsp:sp>
    <dsp:sp modelId="{4210E11C-C01B-49B3-B16A-C2EA6E80B75A}">
      <dsp:nvSpPr>
        <dsp:cNvPr id="0" name=""/>
        <dsp:cNvSpPr/>
      </dsp:nvSpPr>
      <dsp:spPr>
        <a:xfrm>
          <a:off x="0" y="2748901"/>
          <a:ext cx="577302" cy="615449"/>
        </a:xfrm>
        <a:prstGeom prst="ellipse">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903178EC-30AA-44F3-B79C-1BD1B09C4D2A}">
      <dsp:nvSpPr>
        <dsp:cNvPr id="0" name=""/>
        <dsp:cNvSpPr/>
      </dsp:nvSpPr>
      <dsp:spPr>
        <a:xfrm rot="10800000">
          <a:off x="766577" y="3877064"/>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4290" rIns="64008" bIns="34290" numCol="1" spcCol="1270" anchor="ctr" anchorCtr="0">
          <a:noAutofit/>
        </a:bodyPr>
        <a:lstStyle/>
        <a:p>
          <a:pPr marL="0" lvl="0" indent="0" algn="ctr" defTabSz="400050">
            <a:lnSpc>
              <a:spcPct val="90000"/>
            </a:lnSpc>
            <a:spcBef>
              <a:spcPct val="0"/>
            </a:spcBef>
            <a:spcAft>
              <a:spcPct val="35000"/>
            </a:spcAft>
            <a:buNone/>
          </a:pPr>
          <a:r>
            <a:rPr lang="en-IN" sz="900" kern="1200">
              <a:solidFill>
                <a:srgbClr val="FFFF00"/>
              </a:solidFill>
              <a:latin typeface="EY interstate"/>
            </a:rPr>
            <a:t>Define thresholds </a:t>
          </a:r>
          <a:r>
            <a:rPr lang="en-IN" sz="900" kern="1200">
              <a:latin typeface="EY interstate"/>
            </a:rPr>
            <a:t>(e.g., ₹0, ₹500, ₹1,000) for acceptable variances.
Reconciliations outside these limits are flagged and cannot be certified, adding a layer of control.</a:t>
          </a:r>
        </a:p>
      </dsp:txBody>
      <dsp:txXfrm rot="10800000">
        <a:off x="1015255" y="3877064"/>
        <a:ext cx="2232270" cy="994714"/>
      </dsp:txXfrm>
    </dsp:sp>
    <dsp:sp modelId="{BB40714A-9ECF-456D-8A85-11A11161FD90}">
      <dsp:nvSpPr>
        <dsp:cNvPr id="0" name=""/>
        <dsp:cNvSpPr/>
      </dsp:nvSpPr>
      <dsp:spPr>
        <a:xfrm>
          <a:off x="0" y="4080458"/>
          <a:ext cx="566708" cy="590353"/>
        </a:xfrm>
        <a:prstGeom prst="ellipse">
          <a:avLst/>
        </a:prstGeom>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4FA0406-6CF6-44FA-9000-ADA83BA6872E}">
      <dsp:nvSpPr>
        <dsp:cNvPr id="0" name=""/>
        <dsp:cNvSpPr/>
      </dsp:nvSpPr>
      <dsp:spPr>
        <a:xfrm rot="10800000">
          <a:off x="774446" y="2130"/>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Font typeface="Arial" panose="020B0604020202020204" pitchFamily="34" charset="0"/>
            <a:buNone/>
          </a:pPr>
          <a:r>
            <a:rPr lang="en-IN" sz="800" b="1" kern="1200">
              <a:solidFill>
                <a:srgbClr val="FFFF00"/>
              </a:solidFill>
              <a:latin typeface="EY interstate"/>
            </a:rPr>
            <a:t>Reconciliation Status Dashboard</a:t>
          </a:r>
        </a:p>
        <a:p>
          <a:pPr marL="0" lvl="0" indent="0" algn="ctr" defTabSz="355600">
            <a:lnSpc>
              <a:spcPct val="90000"/>
            </a:lnSpc>
            <a:spcBef>
              <a:spcPct val="0"/>
            </a:spcBef>
            <a:spcAft>
              <a:spcPct val="35000"/>
            </a:spcAft>
            <a:buFont typeface="Arial" panose="020B0604020202020204" pitchFamily="34" charset="0"/>
            <a:buNone/>
          </a:pPr>
          <a:r>
            <a:rPr lang="en-IN" sz="800" kern="1200">
              <a:latin typeface="EY interstate"/>
            </a:rPr>
            <a:t>Display color-coded status (e.g., green/yellow/red) based on defined tolerances. Shows </a:t>
          </a:r>
          <a:r>
            <a:rPr lang="en-IN" sz="800" b="1" kern="1200">
              <a:latin typeface="EY interstate"/>
            </a:rPr>
            <a:t>Leading Unit vs. Partner Unit</a:t>
          </a:r>
          <a:r>
            <a:rPr lang="en-IN" sz="800" kern="1200">
              <a:latin typeface="EY interstate"/>
            </a:rPr>
            <a:t> balances.</a:t>
          </a:r>
        </a:p>
        <a:p>
          <a:pPr marL="0" lvl="0" indent="0" algn="ctr" defTabSz="355600">
            <a:lnSpc>
              <a:spcPct val="90000"/>
            </a:lnSpc>
            <a:spcBef>
              <a:spcPct val="0"/>
            </a:spcBef>
            <a:spcAft>
              <a:spcPct val="35000"/>
            </a:spcAft>
            <a:buFont typeface="Arial" panose="020B0604020202020204" pitchFamily="34" charset="0"/>
            <a:buNone/>
          </a:pPr>
          <a:r>
            <a:rPr lang="en-IN" sz="800" kern="1200">
              <a:latin typeface="EY interstate"/>
            </a:rPr>
            <a:t>Highlights discrepancies and their impact.</a:t>
          </a:r>
        </a:p>
      </dsp:txBody>
      <dsp:txXfrm rot="10800000">
        <a:off x="1023124" y="2130"/>
        <a:ext cx="2232270" cy="994714"/>
      </dsp:txXfrm>
    </dsp:sp>
    <dsp:sp modelId="{CB6ECFEC-DA4C-4FEE-AD77-4D2496704FC2}">
      <dsp:nvSpPr>
        <dsp:cNvPr id="0" name=""/>
        <dsp:cNvSpPr/>
      </dsp:nvSpPr>
      <dsp:spPr>
        <a:xfrm>
          <a:off x="0" y="201028"/>
          <a:ext cx="598181" cy="614345"/>
        </a:xfrm>
        <a:prstGeom prst="ellipse">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l="-1000" r="-1000"/>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B5739EFC-8E30-4397-90FC-7DD3EF1E14CA}">
      <dsp:nvSpPr>
        <dsp:cNvPr id="0" name=""/>
        <dsp:cNvSpPr/>
      </dsp:nvSpPr>
      <dsp:spPr>
        <a:xfrm rot="10800000">
          <a:off x="776728" y="1293775"/>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Font typeface="Arial" panose="020B0604020202020204" pitchFamily="34" charset="0"/>
            <a:buNone/>
          </a:pPr>
          <a:r>
            <a:rPr lang="en-IN" sz="800" b="1" kern="1200">
              <a:solidFill>
                <a:srgbClr val="FFFF00"/>
              </a:solidFill>
              <a:latin typeface="EY interstate"/>
            </a:rPr>
            <a:t>Operations View KPIs &amp; Metrics</a:t>
          </a:r>
          <a:r>
            <a:rPr lang="en-IN" sz="800" kern="1200">
              <a:solidFill>
                <a:srgbClr val="FFFF00"/>
              </a:solidFill>
              <a:latin typeface="EY interstate"/>
            </a:rPr>
            <a:t>:</a:t>
          </a:r>
        </a:p>
        <a:p>
          <a:pPr marL="0" lvl="0" indent="0" algn="ctr" defTabSz="355600">
            <a:lnSpc>
              <a:spcPct val="90000"/>
            </a:lnSpc>
            <a:spcBef>
              <a:spcPct val="0"/>
            </a:spcBef>
            <a:spcAft>
              <a:spcPct val="35000"/>
            </a:spcAft>
            <a:buFont typeface="Arial" panose="020B0604020202020204" pitchFamily="34" charset="0"/>
            <a:buNone/>
          </a:pPr>
          <a:r>
            <a:rPr lang="en-IN" sz="800" kern="1200">
              <a:latin typeface="EY interstate"/>
            </a:rPr>
            <a:t>KPIs are calculated using weighted metrics. </a:t>
          </a:r>
          <a:r>
            <a:rPr lang="en-IN" sz="800" b="1" kern="1200">
              <a:latin typeface="EY interstate"/>
            </a:rPr>
            <a:t>Performance KPI</a:t>
          </a:r>
          <a:r>
            <a:rPr lang="en-IN" sz="800" kern="1200">
              <a:latin typeface="EY interstate"/>
            </a:rPr>
            <a:t>: Combines average and max response </a:t>
          </a:r>
          <a:r>
            <a:rPr lang="en-IN" sz="800" kern="1200" err="1">
              <a:latin typeface="EY interstate"/>
            </a:rPr>
            <a:t>times.KPIs</a:t>
          </a:r>
          <a:r>
            <a:rPr lang="en-IN" sz="800" kern="1200">
              <a:latin typeface="EY interstate"/>
            </a:rPr>
            <a:t> are color-coded: </a:t>
          </a:r>
          <a:r>
            <a:rPr lang="en-IN" sz="800" b="1" kern="1200">
              <a:latin typeface="EY interstate"/>
            </a:rPr>
            <a:t>Green</a:t>
          </a:r>
          <a:r>
            <a:rPr lang="en-IN" sz="800" kern="1200">
              <a:latin typeface="EY interstate"/>
            </a:rPr>
            <a:t>: &gt;85% </a:t>
          </a:r>
          <a:r>
            <a:rPr lang="en-IN" sz="800" b="1" kern="1200">
              <a:latin typeface="EY interstate"/>
            </a:rPr>
            <a:t>Orange</a:t>
          </a:r>
          <a:r>
            <a:rPr lang="en-IN" sz="800" kern="1200">
              <a:latin typeface="EY interstate"/>
            </a:rPr>
            <a:t>: 70–85% </a:t>
          </a:r>
          <a:r>
            <a:rPr lang="en-IN" sz="800" b="1" kern="1200">
              <a:latin typeface="EY interstate"/>
            </a:rPr>
            <a:t>Red</a:t>
          </a:r>
          <a:r>
            <a:rPr lang="en-IN" sz="800" kern="1200">
              <a:latin typeface="EY interstate"/>
            </a:rPr>
            <a:t>: &lt;70%</a:t>
          </a:r>
        </a:p>
      </dsp:txBody>
      <dsp:txXfrm rot="10800000">
        <a:off x="1025406" y="1293775"/>
        <a:ext cx="2232270" cy="994714"/>
      </dsp:txXfrm>
    </dsp:sp>
    <dsp:sp modelId="{C3019975-D818-42BE-843E-55BDBCAE4A1A}">
      <dsp:nvSpPr>
        <dsp:cNvPr id="0" name=""/>
        <dsp:cNvSpPr/>
      </dsp:nvSpPr>
      <dsp:spPr>
        <a:xfrm>
          <a:off x="0" y="1445514"/>
          <a:ext cx="607313" cy="621507"/>
        </a:xfrm>
        <a:prstGeom prst="ellipse">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l="-1000" r="-1000"/>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9B51D09D-196B-4136-B614-10702EC3B4A4}">
      <dsp:nvSpPr>
        <dsp:cNvPr id="0" name=""/>
        <dsp:cNvSpPr/>
      </dsp:nvSpPr>
      <dsp:spPr>
        <a:xfrm rot="10800000">
          <a:off x="769226" y="2585419"/>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rgbClr val="FFFF00"/>
              </a:solidFill>
              <a:latin typeface="EY interstate"/>
            </a:rPr>
            <a:t>Automate Account Determination</a:t>
          </a:r>
          <a:r>
            <a:rPr lang="en-IN" sz="800" kern="1200">
              <a:solidFill>
                <a:srgbClr val="FFFF00"/>
              </a:solidFill>
              <a:latin typeface="EY interstate"/>
            </a:rPr>
            <a:t>:</a:t>
          </a:r>
        </a:p>
        <a:p>
          <a:pPr marL="0" lvl="0" indent="0" algn="ctr" defTabSz="355600">
            <a:lnSpc>
              <a:spcPct val="90000"/>
            </a:lnSpc>
            <a:spcBef>
              <a:spcPct val="0"/>
            </a:spcBef>
            <a:spcAft>
              <a:spcPct val="35000"/>
            </a:spcAft>
            <a:buFont typeface="Arial" panose="020B0604020202020204" pitchFamily="34" charset="0"/>
            <a:buNone/>
          </a:pPr>
          <a:r>
            <a:rPr lang="en-IN" sz="800" kern="1200">
              <a:latin typeface="EY interstate"/>
            </a:rPr>
            <a:t>Configure automatic account determination for processes like MM, SD, and FI to reduce manual errors.</a:t>
          </a:r>
        </a:p>
        <a:p>
          <a:pPr marL="0" lvl="0" indent="0" algn="ctr" defTabSz="355600">
            <a:lnSpc>
              <a:spcPct val="90000"/>
            </a:lnSpc>
            <a:spcBef>
              <a:spcPct val="0"/>
            </a:spcBef>
            <a:spcAft>
              <a:spcPct val="35000"/>
            </a:spcAft>
            <a:buFont typeface="Arial" panose="020B0604020202020204" pitchFamily="34" charset="0"/>
            <a:buNone/>
          </a:pPr>
          <a:r>
            <a:rPr lang="en-IN" sz="800" kern="1200">
              <a:latin typeface="EY interstate"/>
            </a:rPr>
            <a:t>Use SAP’s configuration paths to set up rules that map transactions to correct G/L accounts.</a:t>
          </a:r>
        </a:p>
      </dsp:txBody>
      <dsp:txXfrm rot="10800000">
        <a:off x="1017904" y="2585419"/>
        <a:ext cx="2232270" cy="994714"/>
      </dsp:txXfrm>
    </dsp:sp>
    <dsp:sp modelId="{4210E11C-C01B-49B3-B16A-C2EA6E80B75A}">
      <dsp:nvSpPr>
        <dsp:cNvPr id="0" name=""/>
        <dsp:cNvSpPr/>
      </dsp:nvSpPr>
      <dsp:spPr>
        <a:xfrm>
          <a:off x="0" y="2748901"/>
          <a:ext cx="577302" cy="615449"/>
        </a:xfrm>
        <a:prstGeom prst="ellipse">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l="-3000" r="-3000"/>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 modelId="{903178EC-30AA-44F3-B79C-1BD1B09C4D2A}">
      <dsp:nvSpPr>
        <dsp:cNvPr id="0" name=""/>
        <dsp:cNvSpPr/>
      </dsp:nvSpPr>
      <dsp:spPr>
        <a:xfrm rot="10800000">
          <a:off x="766577" y="3877064"/>
          <a:ext cx="2480948" cy="994714"/>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38642" tIns="30480" rIns="56896" bIns="30480" numCol="1" spcCol="1270" anchor="ctr" anchorCtr="0">
          <a:noAutofit/>
        </a:bodyPr>
        <a:lstStyle/>
        <a:p>
          <a:pPr marL="0" lvl="0" indent="0" algn="ctr" defTabSz="355600">
            <a:lnSpc>
              <a:spcPct val="90000"/>
            </a:lnSpc>
            <a:spcBef>
              <a:spcPct val="0"/>
            </a:spcBef>
            <a:spcAft>
              <a:spcPct val="35000"/>
            </a:spcAft>
            <a:buNone/>
          </a:pPr>
          <a:r>
            <a:rPr lang="en-IN" sz="800" b="1" kern="1200">
              <a:solidFill>
                <a:srgbClr val="FFFF00"/>
              </a:solidFill>
              <a:latin typeface="EY interstate"/>
            </a:rPr>
            <a:t>Integration Methods:</a:t>
          </a:r>
        </a:p>
        <a:p>
          <a:pPr marL="0" lvl="0" indent="0" algn="ctr" defTabSz="355600">
            <a:lnSpc>
              <a:spcPct val="90000"/>
            </a:lnSpc>
            <a:spcBef>
              <a:spcPct val="0"/>
            </a:spcBef>
            <a:spcAft>
              <a:spcPct val="35000"/>
            </a:spcAft>
            <a:buFont typeface="Arial" panose="020B0604020202020204" pitchFamily="34" charset="0"/>
            <a:buNone/>
          </a:pPr>
          <a:r>
            <a:rPr lang="en-IN" sz="800" b="1" kern="1200">
              <a:latin typeface="EY interstate"/>
            </a:rPr>
            <a:t>File-Based Integration</a:t>
          </a:r>
          <a:r>
            <a:rPr lang="en-IN" sz="800" kern="1200">
              <a:latin typeface="EY interstate"/>
            </a:rPr>
            <a:t>: Use structured formats (CSV/XML) via SFTP. Best for batch processing but lacks real-time capabilities. </a:t>
          </a:r>
          <a:r>
            <a:rPr lang="en-IN" sz="800" b="1" kern="1200">
              <a:latin typeface="EY interstate"/>
            </a:rPr>
            <a:t>SAP-Certified Connector: </a:t>
          </a:r>
          <a:r>
            <a:rPr lang="en-IN" sz="800" b="0" kern="1200">
              <a:latin typeface="EY interstate"/>
            </a:rPr>
            <a:t>Supports</a:t>
          </a:r>
          <a:r>
            <a:rPr lang="en-IN" sz="800" kern="1200">
              <a:latin typeface="EY interstate"/>
            </a:rPr>
            <a:t> real-time and scheduled syncs with minimal manual effort.</a:t>
          </a:r>
        </a:p>
      </dsp:txBody>
      <dsp:txXfrm rot="10800000">
        <a:off x="1015255" y="3877064"/>
        <a:ext cx="2232270" cy="994714"/>
      </dsp:txXfrm>
    </dsp:sp>
    <dsp:sp modelId="{BB40714A-9ECF-456D-8A85-11A11161FD90}">
      <dsp:nvSpPr>
        <dsp:cNvPr id="0" name=""/>
        <dsp:cNvSpPr/>
      </dsp:nvSpPr>
      <dsp:spPr>
        <a:xfrm>
          <a:off x="0" y="4080458"/>
          <a:ext cx="566708" cy="590353"/>
        </a:xfrm>
        <a:prstGeom prst="ellipse">
          <a:avLst/>
        </a:prstGeom>
        <a:blipFill>
          <a:blip xmlns:r="http://schemas.openxmlformats.org/officeDocument/2006/relationships" r:embed="rId7">
            <a:extLst>
              <a:ext uri="{96DAC541-7B7A-43D3-8B79-37D633B846F1}">
                <asvg:svgBlip xmlns:asvg="http://schemas.microsoft.com/office/drawing/2016/SVG/main" r:embed="rId8"/>
              </a:ext>
            </a:extLst>
          </a:blip>
          <a:srcRect/>
          <a:stretch>
            <a:fillRect l="-2000" r="-2000"/>
          </a:stretch>
        </a:blip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69EEBFA-0D21-4071-804D-FD5F57707666}">
      <dsp:nvSpPr>
        <dsp:cNvPr id="0" name=""/>
        <dsp:cNvSpPr/>
      </dsp:nvSpPr>
      <dsp:spPr>
        <a:xfrm rot="10800000">
          <a:off x="902019" y="1103"/>
          <a:ext cx="3224829" cy="635378"/>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0184" tIns="34290" rIns="64008" bIns="34290" numCol="1" spcCol="1270" anchor="ctr" anchorCtr="0">
          <a:noAutofit/>
        </a:bodyPr>
        <a:lstStyle/>
        <a:p>
          <a:pPr marL="0" lvl="0" indent="0" algn="l" defTabSz="400050">
            <a:lnSpc>
              <a:spcPct val="90000"/>
            </a:lnSpc>
            <a:spcBef>
              <a:spcPct val="0"/>
            </a:spcBef>
            <a:spcAft>
              <a:spcPct val="35000"/>
            </a:spcAft>
            <a:buFont typeface="Arial" panose="020B0604020202020204" pitchFamily="34" charset="0"/>
            <a:buNone/>
          </a:pPr>
          <a:r>
            <a:rPr lang="en-IN" sz="900" b="1" kern="1200">
              <a:solidFill>
                <a:srgbClr val="FFFF00"/>
              </a:solidFill>
              <a:latin typeface="EY interstate"/>
            </a:rPr>
            <a:t>Standardize Reconciliation Templates</a:t>
          </a:r>
        </a:p>
        <a:p>
          <a:pPr marL="0" lvl="0" indent="0" algn="l" defTabSz="400050">
            <a:lnSpc>
              <a:spcPct val="90000"/>
            </a:lnSpc>
            <a:spcBef>
              <a:spcPct val="0"/>
            </a:spcBef>
            <a:spcAft>
              <a:spcPct val="35000"/>
            </a:spcAft>
            <a:buFont typeface="Arial" panose="020B0604020202020204" pitchFamily="34" charset="0"/>
            <a:buNone/>
          </a:pPr>
          <a:r>
            <a:rPr lang="en-IN" sz="800" kern="1200">
              <a:latin typeface="EY interstate"/>
            </a:rPr>
            <a:t>Use consistent formats for all accounts. Include fields for account number, description, balance, supporting documentation, and preparer/reviewer notes.</a:t>
          </a:r>
        </a:p>
      </dsp:txBody>
      <dsp:txXfrm rot="10800000">
        <a:off x="1060863" y="1103"/>
        <a:ext cx="3065985" cy="635378"/>
      </dsp:txXfrm>
    </dsp:sp>
    <dsp:sp modelId="{881979B0-DAC0-43F4-91AC-D9ECA72ED404}">
      <dsp:nvSpPr>
        <dsp:cNvPr id="0" name=""/>
        <dsp:cNvSpPr/>
      </dsp:nvSpPr>
      <dsp:spPr>
        <a:xfrm>
          <a:off x="722518" y="163515"/>
          <a:ext cx="359001" cy="310553"/>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57751E9-698F-41FC-BB14-D42165880853}">
      <dsp:nvSpPr>
        <dsp:cNvPr id="0" name=""/>
        <dsp:cNvSpPr/>
      </dsp:nvSpPr>
      <dsp:spPr>
        <a:xfrm rot="10800000">
          <a:off x="902019" y="826147"/>
          <a:ext cx="3224829" cy="635378"/>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0184" tIns="34290" rIns="64008" bIns="34290" numCol="1" spcCol="1270" anchor="ctr" anchorCtr="0">
          <a:noAutofit/>
        </a:bodyPr>
        <a:lstStyle/>
        <a:p>
          <a:pPr marL="0" lvl="0" indent="0" algn="l" defTabSz="400050">
            <a:lnSpc>
              <a:spcPct val="90000"/>
            </a:lnSpc>
            <a:spcBef>
              <a:spcPct val="0"/>
            </a:spcBef>
            <a:spcAft>
              <a:spcPct val="35000"/>
            </a:spcAft>
            <a:buFont typeface="Arial" panose="020B0604020202020204" pitchFamily="34" charset="0"/>
            <a:buNone/>
          </a:pPr>
          <a:r>
            <a:rPr lang="en-IN" sz="900" b="1" kern="1200">
              <a:solidFill>
                <a:srgbClr val="FFFF00"/>
              </a:solidFill>
              <a:latin typeface="EY interstate"/>
            </a:rPr>
            <a:t>Set Materiality Thresholds</a:t>
          </a:r>
        </a:p>
        <a:p>
          <a:pPr marL="0" lvl="0" indent="0" algn="l" defTabSz="400050">
            <a:lnSpc>
              <a:spcPct val="90000"/>
            </a:lnSpc>
            <a:spcBef>
              <a:spcPct val="0"/>
            </a:spcBef>
            <a:spcAft>
              <a:spcPct val="35000"/>
            </a:spcAft>
            <a:buFont typeface="Arial" panose="020B0604020202020204" pitchFamily="34" charset="0"/>
            <a:buNone/>
          </a:pPr>
          <a:r>
            <a:rPr lang="en-IN" sz="800" kern="1200">
              <a:latin typeface="EY interstate"/>
            </a:rPr>
            <a:t>Define thresholds for acceptable variances (e.g., ₹500 or ₹1,000). Focus efforts on high-risk or high-value accounts. Avoid wasting time reconciling immaterial differences.</a:t>
          </a:r>
        </a:p>
      </dsp:txBody>
      <dsp:txXfrm rot="10800000">
        <a:off x="1060863" y="826147"/>
        <a:ext cx="3065985" cy="635378"/>
      </dsp:txXfrm>
    </dsp:sp>
    <dsp:sp modelId="{FA3E0610-0778-4719-8DEC-88042F700797}">
      <dsp:nvSpPr>
        <dsp:cNvPr id="0" name=""/>
        <dsp:cNvSpPr/>
      </dsp:nvSpPr>
      <dsp:spPr>
        <a:xfrm>
          <a:off x="722518" y="988559"/>
          <a:ext cx="359001" cy="310553"/>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0139F97F-9B5B-40D7-81D0-84248CA5B69A}">
      <dsp:nvSpPr>
        <dsp:cNvPr id="0" name=""/>
        <dsp:cNvSpPr/>
      </dsp:nvSpPr>
      <dsp:spPr>
        <a:xfrm rot="10800000">
          <a:off x="902019" y="1651190"/>
          <a:ext cx="3224829" cy="635378"/>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0184" tIns="34290" rIns="64008" bIns="34290" numCol="1" spcCol="1270" anchor="ctr" anchorCtr="0">
          <a:noAutofit/>
        </a:bodyPr>
        <a:lstStyle/>
        <a:p>
          <a:pPr marL="0" lvl="0" indent="0" algn="l" defTabSz="400050">
            <a:lnSpc>
              <a:spcPct val="90000"/>
            </a:lnSpc>
            <a:spcBef>
              <a:spcPct val="0"/>
            </a:spcBef>
            <a:spcAft>
              <a:spcPct val="35000"/>
            </a:spcAft>
            <a:buFont typeface="Arial" panose="020B0604020202020204" pitchFamily="34" charset="0"/>
            <a:buNone/>
          </a:pPr>
          <a:r>
            <a:rPr lang="en-IN" sz="900" b="1" kern="1200">
              <a:solidFill>
                <a:srgbClr val="FFFF00"/>
              </a:solidFill>
              <a:latin typeface="EY interstate"/>
            </a:rPr>
            <a:t>Maintain Supporting Documentation</a:t>
          </a:r>
        </a:p>
        <a:p>
          <a:pPr marL="0" lvl="0" indent="0" algn="l" defTabSz="400050">
            <a:lnSpc>
              <a:spcPct val="90000"/>
            </a:lnSpc>
            <a:spcBef>
              <a:spcPct val="0"/>
            </a:spcBef>
            <a:spcAft>
              <a:spcPct val="35000"/>
            </a:spcAft>
            <a:buFont typeface="Arial" panose="020B0604020202020204" pitchFamily="34" charset="0"/>
            <a:buNone/>
          </a:pPr>
          <a:r>
            <a:rPr lang="en-IN" sz="800" kern="1200">
              <a:latin typeface="EY interstate"/>
            </a:rPr>
            <a:t>Attach backup files (invoices, bank statements, journal entries). Ensure documentation is accessible and audit-ready. Use cloud storage or centralized repositories.</a:t>
          </a:r>
        </a:p>
      </dsp:txBody>
      <dsp:txXfrm rot="10800000">
        <a:off x="1060863" y="1651190"/>
        <a:ext cx="3065985" cy="635378"/>
      </dsp:txXfrm>
    </dsp:sp>
    <dsp:sp modelId="{5FA97151-BC1E-42A8-896C-82C54B4E0B3A}">
      <dsp:nvSpPr>
        <dsp:cNvPr id="0" name=""/>
        <dsp:cNvSpPr/>
      </dsp:nvSpPr>
      <dsp:spPr>
        <a:xfrm>
          <a:off x="722518" y="1813603"/>
          <a:ext cx="359001" cy="310553"/>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E0243B7D-6E81-4D0E-BE9D-E58E77C840AF}">
      <dsp:nvSpPr>
        <dsp:cNvPr id="0" name=""/>
        <dsp:cNvSpPr/>
      </dsp:nvSpPr>
      <dsp:spPr>
        <a:xfrm rot="10800000">
          <a:off x="902019" y="2476234"/>
          <a:ext cx="3224829" cy="635378"/>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0184" tIns="34290" rIns="64008" bIns="34290" numCol="1" spcCol="1270" anchor="ctr" anchorCtr="0">
          <a:noAutofit/>
        </a:bodyPr>
        <a:lstStyle/>
        <a:p>
          <a:pPr marL="0" lvl="0" indent="0" algn="l" defTabSz="400050">
            <a:lnSpc>
              <a:spcPct val="90000"/>
            </a:lnSpc>
            <a:spcBef>
              <a:spcPct val="0"/>
            </a:spcBef>
            <a:spcAft>
              <a:spcPct val="35000"/>
            </a:spcAft>
            <a:buFont typeface="Arial" panose="020B0604020202020204" pitchFamily="34" charset="0"/>
            <a:buNone/>
          </a:pPr>
          <a:r>
            <a:rPr lang="en-IN" sz="900" b="1" kern="1200">
              <a:solidFill>
                <a:srgbClr val="FFFF00"/>
              </a:solidFill>
              <a:latin typeface="EY interstate"/>
            </a:rPr>
            <a:t>Track Exceptions Separately</a:t>
          </a:r>
        </a:p>
        <a:p>
          <a:pPr marL="0" lvl="0" indent="0" algn="l" defTabSz="400050">
            <a:lnSpc>
              <a:spcPct val="90000"/>
            </a:lnSpc>
            <a:spcBef>
              <a:spcPct val="0"/>
            </a:spcBef>
            <a:spcAft>
              <a:spcPct val="35000"/>
            </a:spcAft>
            <a:buFont typeface="Arial" panose="020B0604020202020204" pitchFamily="34" charset="0"/>
            <a:buNone/>
          </a:pPr>
          <a:r>
            <a:rPr lang="en-IN" sz="800" kern="1200">
              <a:latin typeface="EY interstate"/>
            </a:rPr>
            <a:t>Maintain a log of unreconciled items with reason codes. Monitor aging of exceptions and escalate overdue items. Use dashboards or trackers to visualize exception trends.</a:t>
          </a:r>
        </a:p>
      </dsp:txBody>
      <dsp:txXfrm rot="10800000">
        <a:off x="1060863" y="2476234"/>
        <a:ext cx="3065985" cy="635378"/>
      </dsp:txXfrm>
    </dsp:sp>
    <dsp:sp modelId="{C264B0C6-5DC5-4C3A-971F-419120DCFC9C}">
      <dsp:nvSpPr>
        <dsp:cNvPr id="0" name=""/>
        <dsp:cNvSpPr/>
      </dsp:nvSpPr>
      <dsp:spPr>
        <a:xfrm>
          <a:off x="722518" y="2638646"/>
          <a:ext cx="359001" cy="310553"/>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4BFC0FF-CB87-47D2-9AF5-0CBC6CCAB0FA}">
      <dsp:nvSpPr>
        <dsp:cNvPr id="0" name=""/>
        <dsp:cNvSpPr/>
      </dsp:nvSpPr>
      <dsp:spPr>
        <a:xfrm rot="10800000">
          <a:off x="902019" y="3301278"/>
          <a:ext cx="3224829" cy="635378"/>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0184" tIns="30480" rIns="56896" bIns="30480" numCol="1" spcCol="1270" anchor="ctr" anchorCtr="0">
          <a:noAutofit/>
        </a:bodyPr>
        <a:lstStyle/>
        <a:p>
          <a:pPr marL="0" lvl="0" indent="0" algn="l" defTabSz="355600">
            <a:lnSpc>
              <a:spcPct val="90000"/>
            </a:lnSpc>
            <a:spcBef>
              <a:spcPct val="0"/>
            </a:spcBef>
            <a:spcAft>
              <a:spcPct val="35000"/>
            </a:spcAft>
            <a:buFont typeface="Arial" panose="020B0604020202020204" pitchFamily="34" charset="0"/>
            <a:buNone/>
          </a:pPr>
          <a:r>
            <a:rPr lang="en-IN" sz="800" b="1" kern="1200">
              <a:solidFill>
                <a:srgbClr val="FFFF00"/>
              </a:solidFill>
              <a:latin typeface="EY interstate"/>
            </a:rPr>
            <a:t>Ensure Audit Trail &amp; Compliance</a:t>
          </a:r>
        </a:p>
        <a:p>
          <a:pPr marL="0" lvl="0" indent="0" algn="l" defTabSz="355600">
            <a:lnSpc>
              <a:spcPct val="90000"/>
            </a:lnSpc>
            <a:spcBef>
              <a:spcPct val="0"/>
            </a:spcBef>
            <a:spcAft>
              <a:spcPct val="35000"/>
            </a:spcAft>
            <a:buFont typeface="Arial" panose="020B0604020202020204" pitchFamily="34" charset="0"/>
            <a:buNone/>
          </a:pPr>
          <a:r>
            <a:rPr lang="en-IN" sz="800" kern="1200">
              <a:latin typeface="EY interstate"/>
            </a:rPr>
            <a:t>Log all actions with timestamps and user IDs. Maintain version history of reconciliations. Align with standards like SOX, GAAP, or IFRS.</a:t>
          </a:r>
        </a:p>
      </dsp:txBody>
      <dsp:txXfrm rot="10800000">
        <a:off x="1060863" y="3301278"/>
        <a:ext cx="3065985" cy="635378"/>
      </dsp:txXfrm>
    </dsp:sp>
    <dsp:sp modelId="{F70381F8-21E5-48D3-A202-35CB93FD4E98}">
      <dsp:nvSpPr>
        <dsp:cNvPr id="0" name=""/>
        <dsp:cNvSpPr/>
      </dsp:nvSpPr>
      <dsp:spPr>
        <a:xfrm>
          <a:off x="722518" y="3463690"/>
          <a:ext cx="359001" cy="310553"/>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6C482B2-E094-42FF-BE20-101F532DC62A}">
      <dsp:nvSpPr>
        <dsp:cNvPr id="0" name=""/>
        <dsp:cNvSpPr/>
      </dsp:nvSpPr>
      <dsp:spPr>
        <a:xfrm rot="10800000">
          <a:off x="902019" y="4126322"/>
          <a:ext cx="3224829" cy="635378"/>
        </a:xfrm>
        <a:prstGeom prst="homePlate">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0184" tIns="30480" rIns="56896" bIns="30480" numCol="1" spcCol="1270" anchor="ctr" anchorCtr="0">
          <a:noAutofit/>
        </a:bodyPr>
        <a:lstStyle/>
        <a:p>
          <a:pPr marL="0" lvl="0" indent="0" algn="l" defTabSz="355600">
            <a:lnSpc>
              <a:spcPct val="90000"/>
            </a:lnSpc>
            <a:spcBef>
              <a:spcPct val="0"/>
            </a:spcBef>
            <a:spcAft>
              <a:spcPct val="35000"/>
            </a:spcAft>
            <a:buFont typeface="Arial" panose="020B0604020202020204" pitchFamily="34" charset="0"/>
            <a:buNone/>
          </a:pPr>
          <a:r>
            <a:rPr lang="en-IN" sz="800" b="1" kern="1200">
              <a:solidFill>
                <a:srgbClr val="FFFF00"/>
              </a:solidFill>
              <a:latin typeface="EY interstate"/>
            </a:rPr>
            <a:t>Review &amp; Improve Regularly</a:t>
          </a:r>
        </a:p>
        <a:p>
          <a:pPr marL="0" lvl="0" indent="0" algn="l" defTabSz="355600">
            <a:lnSpc>
              <a:spcPct val="90000"/>
            </a:lnSpc>
            <a:spcBef>
              <a:spcPct val="0"/>
            </a:spcBef>
            <a:spcAft>
              <a:spcPct val="35000"/>
            </a:spcAft>
            <a:buFont typeface="Arial" panose="020B0604020202020204" pitchFamily="34" charset="0"/>
            <a:buNone/>
          </a:pPr>
          <a:r>
            <a:rPr lang="en-IN" sz="800" kern="1200">
              <a:latin typeface="EY interstate"/>
            </a:rPr>
            <a:t>Conduct periodic reviews of reconciliation processes. Solicit feedback from users. Update templates, rules, and workflows based on learnings.</a:t>
          </a:r>
        </a:p>
      </dsp:txBody>
      <dsp:txXfrm rot="10800000">
        <a:off x="1060863" y="4126322"/>
        <a:ext cx="3065985" cy="635378"/>
      </dsp:txXfrm>
    </dsp:sp>
    <dsp:sp modelId="{ADD729B7-2448-4C4C-8F15-3F0996337453}">
      <dsp:nvSpPr>
        <dsp:cNvPr id="0" name=""/>
        <dsp:cNvSpPr/>
      </dsp:nvSpPr>
      <dsp:spPr>
        <a:xfrm>
          <a:off x="722518" y="4288734"/>
          <a:ext cx="359001" cy="310553"/>
        </a:xfrm>
        <a:prstGeom prst="ellipse">
          <a:avLst/>
        </a:prstGeom>
        <a:solidFill>
          <a:srgbClr val="FFFF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D69311-104C-42DB-B08D-7A23564056A8}">
      <dsp:nvSpPr>
        <dsp:cNvPr id="0" name=""/>
        <dsp:cNvSpPr/>
      </dsp:nvSpPr>
      <dsp:spPr>
        <a:xfrm>
          <a:off x="6962"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400050">
            <a:lnSpc>
              <a:spcPct val="90000"/>
            </a:lnSpc>
            <a:spcBef>
              <a:spcPct val="0"/>
            </a:spcBef>
            <a:spcAft>
              <a:spcPct val="15000"/>
            </a:spcAft>
            <a:buChar char="•"/>
          </a:pPr>
          <a:r>
            <a:rPr lang="en-IN" sz="900" kern="1200">
              <a:solidFill>
                <a:schemeClr val="bg1"/>
              </a:solidFill>
              <a:latin typeface="EY interstate"/>
            </a:rPr>
            <a:t>Source systems (ERP, bank feeds, subledgers</a:t>
          </a:r>
        </a:p>
      </dsp:txBody>
      <dsp:txXfrm>
        <a:off x="28117" y="791396"/>
        <a:ext cx="1072220" cy="679961"/>
      </dsp:txXfrm>
    </dsp:sp>
    <dsp:sp modelId="{49493D6B-7BC1-4C64-BA38-C651FD5E7F9A}">
      <dsp:nvSpPr>
        <dsp:cNvPr id="0" name=""/>
        <dsp:cNvSpPr/>
      </dsp:nvSpPr>
      <dsp:spPr>
        <a:xfrm>
          <a:off x="595846" y="723305"/>
          <a:ext cx="1621894" cy="1621894"/>
        </a:xfrm>
        <a:prstGeom prst="leftCircularArrow">
          <a:avLst>
            <a:gd name="adj1" fmla="val 5559"/>
            <a:gd name="adj2" fmla="val 725599"/>
            <a:gd name="adj3" fmla="val 2501110"/>
            <a:gd name="adj4" fmla="val 9024489"/>
            <a:gd name="adj5" fmla="val 6486"/>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sp>
    <dsp:sp modelId="{C1340A62-74C8-4875-AFB7-A11AD3AE510F}">
      <dsp:nvSpPr>
        <dsp:cNvPr id="0" name=""/>
        <dsp:cNvSpPr/>
      </dsp:nvSpPr>
      <dsp:spPr>
        <a:xfrm>
          <a:off x="254636" y="1492512"/>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Data Ingestion</a:t>
          </a:r>
        </a:p>
      </dsp:txBody>
      <dsp:txXfrm>
        <a:off x="266175" y="1504051"/>
        <a:ext cx="967615" cy="370888"/>
      </dsp:txXfrm>
    </dsp:sp>
    <dsp:sp modelId="{EDF721DA-696F-409C-9F54-4EA3F33BAEE6}">
      <dsp:nvSpPr>
        <dsp:cNvPr id="0" name=""/>
        <dsp:cNvSpPr/>
      </dsp:nvSpPr>
      <dsp:spPr>
        <a:xfrm>
          <a:off x="1674672"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400050">
            <a:lnSpc>
              <a:spcPct val="90000"/>
            </a:lnSpc>
            <a:spcBef>
              <a:spcPct val="0"/>
            </a:spcBef>
            <a:spcAft>
              <a:spcPct val="15000"/>
            </a:spcAft>
            <a:buChar char="•"/>
          </a:pPr>
          <a:r>
            <a:rPr lang="en-IN" sz="900" kern="1200">
              <a:solidFill>
                <a:schemeClr val="bg1"/>
              </a:solidFill>
              <a:latin typeface="EY interstate"/>
            </a:rPr>
            <a:t>Matching engine flags unmatched transactions</a:t>
          </a:r>
        </a:p>
      </dsp:txBody>
      <dsp:txXfrm>
        <a:off x="1695827" y="988379"/>
        <a:ext cx="1072220" cy="679961"/>
      </dsp:txXfrm>
    </dsp:sp>
    <dsp:sp modelId="{36E855A2-9B76-4B84-BDAA-D7B71FB5FA26}">
      <dsp:nvSpPr>
        <dsp:cNvPr id="0" name=""/>
        <dsp:cNvSpPr/>
      </dsp:nvSpPr>
      <dsp:spPr>
        <a:xfrm>
          <a:off x="2217694" y="78494"/>
          <a:ext cx="1764306" cy="1764306"/>
        </a:xfrm>
        <a:prstGeom prst="circularArrow">
          <a:avLst>
            <a:gd name="adj1" fmla="val 5110"/>
            <a:gd name="adj2" fmla="val 659525"/>
            <a:gd name="adj3" fmla="val 19164965"/>
            <a:gd name="adj4" fmla="val 12575511"/>
            <a:gd name="adj5" fmla="val 5962"/>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sp>
    <dsp:sp modelId="{506F0664-FE94-44F3-B904-E9711ED58256}">
      <dsp:nvSpPr>
        <dsp:cNvPr id="0" name=""/>
        <dsp:cNvSpPr/>
      </dsp:nvSpPr>
      <dsp:spPr>
        <a:xfrm>
          <a:off x="1922345" y="573258"/>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Exception Identification</a:t>
          </a:r>
        </a:p>
      </dsp:txBody>
      <dsp:txXfrm>
        <a:off x="1933884" y="584797"/>
        <a:ext cx="967615" cy="370888"/>
      </dsp:txXfrm>
    </dsp:sp>
    <dsp:sp modelId="{A3ADB843-8104-4F54-863C-F8FE5F003065}">
      <dsp:nvSpPr>
        <dsp:cNvPr id="0" name=""/>
        <dsp:cNvSpPr/>
      </dsp:nvSpPr>
      <dsp:spPr>
        <a:xfrm>
          <a:off x="3342381"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311150">
            <a:lnSpc>
              <a:spcPct val="90000"/>
            </a:lnSpc>
            <a:spcBef>
              <a:spcPct val="0"/>
            </a:spcBef>
            <a:spcAft>
              <a:spcPct val="15000"/>
            </a:spcAft>
            <a:buChar char="•"/>
          </a:pPr>
          <a:r>
            <a:rPr lang="en-IN" sz="700" kern="1200">
              <a:solidFill>
                <a:schemeClr val="bg1"/>
              </a:solidFill>
              <a:latin typeface="EY interstate"/>
            </a:rPr>
            <a:t>Auto-clearing logic (e.g., tolerance rules, recurring patterns</a:t>
          </a:r>
          <a:r>
            <a:rPr lang="en-IN" sz="900" kern="1200">
              <a:solidFill>
                <a:schemeClr val="bg1"/>
              </a:solidFill>
              <a:latin typeface="EY interstate"/>
            </a:rPr>
            <a:t>)</a:t>
          </a:r>
        </a:p>
      </dsp:txBody>
      <dsp:txXfrm>
        <a:off x="3363536" y="791396"/>
        <a:ext cx="1072220" cy="679961"/>
      </dsp:txXfrm>
    </dsp:sp>
    <dsp:sp modelId="{45CCB930-67BF-4D58-94A4-ED43C6D0CF17}">
      <dsp:nvSpPr>
        <dsp:cNvPr id="0" name=""/>
        <dsp:cNvSpPr/>
      </dsp:nvSpPr>
      <dsp:spPr>
        <a:xfrm>
          <a:off x="3894691" y="723305"/>
          <a:ext cx="1621894" cy="1621894"/>
        </a:xfrm>
        <a:prstGeom prst="leftCircularArrow">
          <a:avLst>
            <a:gd name="adj1" fmla="val 5559"/>
            <a:gd name="adj2" fmla="val 725599"/>
            <a:gd name="adj3" fmla="val 2501110"/>
            <a:gd name="adj4" fmla="val 9024489"/>
            <a:gd name="adj5" fmla="val 6486"/>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sp>
    <dsp:sp modelId="{17129F95-E197-4B90-BE21-783F7390E09C}">
      <dsp:nvSpPr>
        <dsp:cNvPr id="0" name=""/>
        <dsp:cNvSpPr/>
      </dsp:nvSpPr>
      <dsp:spPr>
        <a:xfrm>
          <a:off x="3590055" y="1492512"/>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Rules Based Clearing</a:t>
          </a:r>
        </a:p>
      </dsp:txBody>
      <dsp:txXfrm>
        <a:off x="3601594" y="1504051"/>
        <a:ext cx="967615" cy="370888"/>
      </dsp:txXfrm>
    </dsp:sp>
    <dsp:sp modelId="{6E5ADBC4-4169-4D50-9D69-603D67D4DCCC}">
      <dsp:nvSpPr>
        <dsp:cNvPr id="0" name=""/>
        <dsp:cNvSpPr/>
      </dsp:nvSpPr>
      <dsp:spPr>
        <a:xfrm>
          <a:off x="5010091"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355600">
            <a:lnSpc>
              <a:spcPct val="90000"/>
            </a:lnSpc>
            <a:spcBef>
              <a:spcPct val="0"/>
            </a:spcBef>
            <a:spcAft>
              <a:spcPct val="15000"/>
            </a:spcAft>
            <a:buChar char="•"/>
          </a:pPr>
          <a:r>
            <a:rPr lang="en-IN" sz="800" kern="1200">
              <a:solidFill>
                <a:schemeClr val="bg1"/>
              </a:solidFill>
              <a:latin typeface="EY interstate"/>
            </a:rPr>
            <a:t>By type (timing, amount mismatch, missing data)</a:t>
          </a:r>
        </a:p>
      </dsp:txBody>
      <dsp:txXfrm>
        <a:off x="5031246" y="988379"/>
        <a:ext cx="1072220" cy="679961"/>
      </dsp:txXfrm>
    </dsp:sp>
    <dsp:sp modelId="{5C181A2F-1FD9-44CA-9C06-20BD2B03AE54}">
      <dsp:nvSpPr>
        <dsp:cNvPr id="0" name=""/>
        <dsp:cNvSpPr/>
      </dsp:nvSpPr>
      <dsp:spPr>
        <a:xfrm>
          <a:off x="5553113" y="78494"/>
          <a:ext cx="1764306" cy="1764306"/>
        </a:xfrm>
        <a:prstGeom prst="circularArrow">
          <a:avLst>
            <a:gd name="adj1" fmla="val 5110"/>
            <a:gd name="adj2" fmla="val 659525"/>
            <a:gd name="adj3" fmla="val 19164965"/>
            <a:gd name="adj4" fmla="val 12575511"/>
            <a:gd name="adj5" fmla="val 5962"/>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sp>
    <dsp:sp modelId="{BB6092BF-95A4-4B9E-BCBB-2A5B98795F0B}">
      <dsp:nvSpPr>
        <dsp:cNvPr id="0" name=""/>
        <dsp:cNvSpPr/>
      </dsp:nvSpPr>
      <dsp:spPr>
        <a:xfrm>
          <a:off x="5257764" y="573258"/>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Exception Categorization</a:t>
          </a:r>
        </a:p>
      </dsp:txBody>
      <dsp:txXfrm>
        <a:off x="5269303" y="584797"/>
        <a:ext cx="967615" cy="370888"/>
      </dsp:txXfrm>
    </dsp:sp>
    <dsp:sp modelId="{3644EBC6-99E1-457F-ACDA-AC0531DE5E62}">
      <dsp:nvSpPr>
        <dsp:cNvPr id="0" name=""/>
        <dsp:cNvSpPr/>
      </dsp:nvSpPr>
      <dsp:spPr>
        <a:xfrm>
          <a:off x="6677800"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400050">
            <a:lnSpc>
              <a:spcPct val="90000"/>
            </a:lnSpc>
            <a:spcBef>
              <a:spcPct val="0"/>
            </a:spcBef>
            <a:spcAft>
              <a:spcPct val="15000"/>
            </a:spcAft>
            <a:buChar char="•"/>
          </a:pPr>
          <a:r>
            <a:rPr lang="en-IN" sz="900" kern="1200">
              <a:solidFill>
                <a:schemeClr val="bg1"/>
              </a:solidFill>
              <a:latin typeface="EY interstate"/>
            </a:rPr>
            <a:t>Routed to responsible teams/entities</a:t>
          </a:r>
        </a:p>
      </dsp:txBody>
      <dsp:txXfrm>
        <a:off x="6698955" y="791396"/>
        <a:ext cx="1072220" cy="679961"/>
      </dsp:txXfrm>
    </dsp:sp>
    <dsp:sp modelId="{0415C2BA-B8DC-4776-B5D2-E6FDEE15B8CF}">
      <dsp:nvSpPr>
        <dsp:cNvPr id="0" name=""/>
        <dsp:cNvSpPr/>
      </dsp:nvSpPr>
      <dsp:spPr>
        <a:xfrm>
          <a:off x="7230110" y="723305"/>
          <a:ext cx="1621894" cy="1621894"/>
        </a:xfrm>
        <a:prstGeom prst="leftCircularArrow">
          <a:avLst>
            <a:gd name="adj1" fmla="val 5559"/>
            <a:gd name="adj2" fmla="val 725599"/>
            <a:gd name="adj3" fmla="val 2501110"/>
            <a:gd name="adj4" fmla="val 9024489"/>
            <a:gd name="adj5" fmla="val 6486"/>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sp>
    <dsp:sp modelId="{603B0D29-6A5A-430D-8844-92ABD60918EF}">
      <dsp:nvSpPr>
        <dsp:cNvPr id="0" name=""/>
        <dsp:cNvSpPr/>
      </dsp:nvSpPr>
      <dsp:spPr>
        <a:xfrm>
          <a:off x="6925474" y="1492512"/>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Assignment &amp; Workflow</a:t>
          </a:r>
        </a:p>
      </dsp:txBody>
      <dsp:txXfrm>
        <a:off x="6937013" y="1504051"/>
        <a:ext cx="967615" cy="370888"/>
      </dsp:txXfrm>
    </dsp:sp>
    <dsp:sp modelId="{33424F61-AFC1-49F2-BD36-A9D9AAA88284}">
      <dsp:nvSpPr>
        <dsp:cNvPr id="0" name=""/>
        <dsp:cNvSpPr/>
      </dsp:nvSpPr>
      <dsp:spPr>
        <a:xfrm>
          <a:off x="8345510"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400050">
            <a:lnSpc>
              <a:spcPct val="90000"/>
            </a:lnSpc>
            <a:spcBef>
              <a:spcPct val="0"/>
            </a:spcBef>
            <a:spcAft>
              <a:spcPct val="15000"/>
            </a:spcAft>
            <a:buChar char="•"/>
          </a:pPr>
          <a:r>
            <a:rPr lang="en-IN" sz="900" kern="1200">
              <a:solidFill>
                <a:schemeClr val="bg1"/>
              </a:solidFill>
              <a:latin typeface="EY interstate"/>
            </a:rPr>
            <a:t>Manual resolution or auto-clear post-validation</a:t>
          </a:r>
        </a:p>
      </dsp:txBody>
      <dsp:txXfrm>
        <a:off x="8366665" y="988379"/>
        <a:ext cx="1072220" cy="679961"/>
      </dsp:txXfrm>
    </dsp:sp>
    <dsp:sp modelId="{F6CA32EA-23CE-4550-BFD2-5BFE941D52C3}">
      <dsp:nvSpPr>
        <dsp:cNvPr id="0" name=""/>
        <dsp:cNvSpPr/>
      </dsp:nvSpPr>
      <dsp:spPr>
        <a:xfrm>
          <a:off x="8888532" y="78494"/>
          <a:ext cx="1764306" cy="1764306"/>
        </a:xfrm>
        <a:prstGeom prst="circularArrow">
          <a:avLst>
            <a:gd name="adj1" fmla="val 5110"/>
            <a:gd name="adj2" fmla="val 659525"/>
            <a:gd name="adj3" fmla="val 19164965"/>
            <a:gd name="adj4" fmla="val 12575511"/>
            <a:gd name="adj5" fmla="val 5962"/>
          </a:avLst>
        </a:prstGeom>
        <a:solidFill>
          <a:srgbClr val="FFFF00"/>
        </a:solidFill>
        <a:ln>
          <a:solidFill>
            <a:srgbClr val="FFFF00"/>
          </a:solidFill>
        </a:ln>
        <a:effectLst/>
      </dsp:spPr>
      <dsp:style>
        <a:lnRef idx="0">
          <a:scrgbClr r="0" g="0" b="0"/>
        </a:lnRef>
        <a:fillRef idx="1">
          <a:scrgbClr r="0" g="0" b="0"/>
        </a:fillRef>
        <a:effectRef idx="0">
          <a:scrgbClr r="0" g="0" b="0"/>
        </a:effectRef>
        <a:fontRef idx="minor">
          <a:schemeClr val="lt1"/>
        </a:fontRef>
      </dsp:style>
    </dsp:sp>
    <dsp:sp modelId="{7AAE6B0C-7234-4AD7-8D6C-CD6BF33BAF42}">
      <dsp:nvSpPr>
        <dsp:cNvPr id="0" name=""/>
        <dsp:cNvSpPr/>
      </dsp:nvSpPr>
      <dsp:spPr>
        <a:xfrm>
          <a:off x="8593183" y="573258"/>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Resolution &amp; Resolute</a:t>
          </a:r>
        </a:p>
      </dsp:txBody>
      <dsp:txXfrm>
        <a:off x="8604722" y="584797"/>
        <a:ext cx="967615" cy="370888"/>
      </dsp:txXfrm>
    </dsp:sp>
    <dsp:sp modelId="{34061E26-424E-444E-8212-F6359ADAE701}">
      <dsp:nvSpPr>
        <dsp:cNvPr id="0" name=""/>
        <dsp:cNvSpPr/>
      </dsp:nvSpPr>
      <dsp:spPr>
        <a:xfrm>
          <a:off x="10013219" y="770241"/>
          <a:ext cx="1114530" cy="919254"/>
        </a:xfrm>
        <a:prstGeom prst="roundRect">
          <a:avLst>
            <a:gd name="adj" fmla="val 10000"/>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57150" lvl="1" indent="-57150" algn="l" defTabSz="400050">
            <a:lnSpc>
              <a:spcPct val="90000"/>
            </a:lnSpc>
            <a:spcBef>
              <a:spcPct val="0"/>
            </a:spcBef>
            <a:spcAft>
              <a:spcPct val="15000"/>
            </a:spcAft>
            <a:buChar char="•"/>
          </a:pPr>
          <a:r>
            <a:rPr lang="en-IN" sz="900" kern="1200">
              <a:solidFill>
                <a:schemeClr val="bg1"/>
              </a:solidFill>
              <a:latin typeface="EY interstate"/>
            </a:rPr>
            <a:t>Logged for compliance and analytics</a:t>
          </a:r>
        </a:p>
      </dsp:txBody>
      <dsp:txXfrm>
        <a:off x="10034374" y="791396"/>
        <a:ext cx="1072220" cy="679961"/>
      </dsp:txXfrm>
    </dsp:sp>
    <dsp:sp modelId="{548D896F-70D2-4C85-9CA0-1EC61839115E}">
      <dsp:nvSpPr>
        <dsp:cNvPr id="0" name=""/>
        <dsp:cNvSpPr/>
      </dsp:nvSpPr>
      <dsp:spPr>
        <a:xfrm>
          <a:off x="10260893" y="1492512"/>
          <a:ext cx="990693" cy="393966"/>
        </a:xfrm>
        <a:prstGeom prst="roundRect">
          <a:avLst>
            <a:gd name="adj" fmla="val 10000"/>
          </a:avLst>
        </a:prstGeom>
        <a:solidFill>
          <a:srgbClr val="FFFF00"/>
        </a:solid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 tIns="13970" rIns="20955" bIns="13970" numCol="1" spcCol="1270" anchor="ctr" anchorCtr="0">
          <a:noAutofit/>
        </a:bodyPr>
        <a:lstStyle/>
        <a:p>
          <a:pPr marL="0" lvl="0" indent="0" algn="ctr" defTabSz="488950">
            <a:lnSpc>
              <a:spcPct val="90000"/>
            </a:lnSpc>
            <a:spcBef>
              <a:spcPct val="0"/>
            </a:spcBef>
            <a:spcAft>
              <a:spcPct val="35000"/>
            </a:spcAft>
            <a:buNone/>
          </a:pPr>
          <a:r>
            <a:rPr lang="en-IN" sz="1100" b="1" kern="1200">
              <a:solidFill>
                <a:schemeClr val="tx1"/>
              </a:solidFill>
              <a:latin typeface="EY interstate"/>
            </a:rPr>
            <a:t>Audit trail &amp; Reporting</a:t>
          </a:r>
        </a:p>
      </dsp:txBody>
      <dsp:txXfrm>
        <a:off x="10272432" y="1504051"/>
        <a:ext cx="967615" cy="370888"/>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DD5463E-4520-4143-B472-19E4D0A6683D}">
      <dsp:nvSpPr>
        <dsp:cNvPr id="0" name=""/>
        <dsp:cNvSpPr/>
      </dsp:nvSpPr>
      <dsp:spPr>
        <a:xfrm rot="16200000">
          <a:off x="-859424"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kern="1200">
              <a:solidFill>
                <a:srgbClr val="FFFF00"/>
              </a:solidFill>
              <a:latin typeface="EY interstate"/>
            </a:rPr>
            <a:t>Data Ingestion</a:t>
          </a:r>
        </a:p>
      </dsp:txBody>
      <dsp:txXfrm>
        <a:off x="-859424" y="1375664"/>
        <a:ext cx="2089769" cy="225429"/>
      </dsp:txXfrm>
    </dsp:sp>
    <dsp:sp modelId="{56AD7D1F-E279-4A35-B4E6-4FE58F41968C}">
      <dsp:nvSpPr>
        <dsp:cNvPr id="0" name=""/>
        <dsp:cNvSpPr/>
      </dsp:nvSpPr>
      <dsp:spPr>
        <a:xfrm>
          <a:off x="29817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198816" rIns="71120" bIns="71120" numCol="1" spcCol="1270" anchor="t" anchorCtr="0">
          <a:noAutofit/>
        </a:bodyPr>
        <a:lstStyle/>
        <a:p>
          <a:pPr marL="57150" lvl="1" indent="-57150" algn="l" defTabSz="422275">
            <a:lnSpc>
              <a:spcPct val="90000"/>
            </a:lnSpc>
            <a:spcBef>
              <a:spcPct val="0"/>
            </a:spcBef>
            <a:spcAft>
              <a:spcPct val="15000"/>
            </a:spcAft>
            <a:buChar char="•"/>
          </a:pPr>
          <a:r>
            <a:rPr lang="en-IN" sz="950" kern="1200">
              <a:latin typeface="EY interstate"/>
            </a:rPr>
            <a:t>Financial data is pulled from various systems: ERP (SAP, Oracle), bank feeds, subledgers, etc.
This includes journal entries, payments, invoices, receipts, and other transactional records.</a:t>
          </a:r>
        </a:p>
      </dsp:txBody>
      <dsp:txXfrm>
        <a:off x="298174" y="443494"/>
        <a:ext cx="1122875" cy="2089769"/>
      </dsp:txXfrm>
    </dsp:sp>
    <dsp:sp modelId="{333C9212-7C7E-422C-83E4-EFFE926A1AAB}">
      <dsp:nvSpPr>
        <dsp:cNvPr id="0" name=""/>
        <dsp:cNvSpPr/>
      </dsp:nvSpPr>
      <dsp:spPr>
        <a:xfrm>
          <a:off x="72745" y="145927"/>
          <a:ext cx="450858" cy="450858"/>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 modelId="{F787F550-5114-4F42-87B1-5B742B452BD0}">
      <dsp:nvSpPr>
        <dsp:cNvPr id="0" name=""/>
        <dsp:cNvSpPr/>
      </dsp:nvSpPr>
      <dsp:spPr>
        <a:xfrm rot="16200000">
          <a:off x="796355"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b="1" kern="1200">
              <a:solidFill>
                <a:srgbClr val="FFFF00"/>
              </a:solidFill>
              <a:latin typeface="EY interstate"/>
            </a:rPr>
            <a:t>Exception Identification</a:t>
          </a:r>
          <a:endParaRPr lang="en-IN" sz="1200" kern="1200">
            <a:solidFill>
              <a:srgbClr val="FFFF00"/>
            </a:solidFill>
            <a:latin typeface="EY interstate"/>
          </a:endParaRPr>
        </a:p>
      </dsp:txBody>
      <dsp:txXfrm>
        <a:off x="796355" y="1375664"/>
        <a:ext cx="2089769" cy="225429"/>
      </dsp:txXfrm>
    </dsp:sp>
    <dsp:sp modelId="{4B14C329-06E2-4FE0-98B1-2857E6DDF7D5}">
      <dsp:nvSpPr>
        <dsp:cNvPr id="0" name=""/>
        <dsp:cNvSpPr/>
      </dsp:nvSpPr>
      <dsp:spPr>
        <a:xfrm>
          <a:off x="195395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198816" rIns="71120" bIns="71120" numCol="1" spcCol="1270" anchor="t" anchorCtr="0">
          <a:noAutofit/>
        </a:bodyPr>
        <a:lstStyle/>
        <a:p>
          <a:pPr marL="57150" lvl="1" indent="-57150" algn="l" defTabSz="422275">
            <a:lnSpc>
              <a:spcPct val="90000"/>
            </a:lnSpc>
            <a:spcBef>
              <a:spcPct val="0"/>
            </a:spcBef>
            <a:spcAft>
              <a:spcPct val="15000"/>
            </a:spcAft>
            <a:buChar char="•"/>
          </a:pPr>
          <a:r>
            <a:rPr lang="en-IN" sz="950" kern="1200">
              <a:latin typeface="EY interstate"/>
            </a:rPr>
            <a:t>The system compares transactions across sources (e.g., bank vs GL) and flags mismatches.
Exceptions are created when transactions don’t meet matching criteria.</a:t>
          </a:r>
        </a:p>
      </dsp:txBody>
      <dsp:txXfrm>
        <a:off x="1953954" y="443494"/>
        <a:ext cx="1122875" cy="2089769"/>
      </dsp:txXfrm>
    </dsp:sp>
    <dsp:sp modelId="{BB4C9664-905F-4A61-923C-6E2A493B4B54}">
      <dsp:nvSpPr>
        <dsp:cNvPr id="0" name=""/>
        <dsp:cNvSpPr/>
      </dsp:nvSpPr>
      <dsp:spPr>
        <a:xfrm>
          <a:off x="1728525" y="145927"/>
          <a:ext cx="450858" cy="450858"/>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 modelId="{0770941C-48FC-4792-8314-E25B3329705D}">
      <dsp:nvSpPr>
        <dsp:cNvPr id="0" name=""/>
        <dsp:cNvSpPr/>
      </dsp:nvSpPr>
      <dsp:spPr>
        <a:xfrm rot="16200000">
          <a:off x="2452135"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b="1" kern="1200">
              <a:solidFill>
                <a:srgbClr val="FFFF00"/>
              </a:solidFill>
              <a:latin typeface="EY interstate"/>
            </a:rPr>
            <a:t>Rules Based Clearing</a:t>
          </a:r>
          <a:endParaRPr lang="en-IN" sz="1200" kern="1200">
            <a:solidFill>
              <a:srgbClr val="FFFF00"/>
            </a:solidFill>
            <a:latin typeface="EY interstate"/>
          </a:endParaRPr>
        </a:p>
      </dsp:txBody>
      <dsp:txXfrm>
        <a:off x="2452135" y="1375664"/>
        <a:ext cx="2089769" cy="225429"/>
      </dsp:txXfrm>
    </dsp:sp>
    <dsp:sp modelId="{59F9E58B-4522-4E7A-A89D-7FE8C71ED470}">
      <dsp:nvSpPr>
        <dsp:cNvPr id="0" name=""/>
        <dsp:cNvSpPr/>
      </dsp:nvSpPr>
      <dsp:spPr>
        <a:xfrm>
          <a:off x="360973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198816" rIns="64008" bIns="64008" numCol="1" spcCol="1270" anchor="t" anchorCtr="0">
          <a:noAutofit/>
        </a:bodyPr>
        <a:lstStyle/>
        <a:p>
          <a:pPr marL="57150" lvl="1" indent="-57150" algn="l" defTabSz="400050">
            <a:lnSpc>
              <a:spcPct val="90000"/>
            </a:lnSpc>
            <a:spcBef>
              <a:spcPct val="0"/>
            </a:spcBef>
            <a:spcAft>
              <a:spcPct val="15000"/>
            </a:spcAft>
            <a:buChar char="•"/>
          </a:pPr>
          <a:r>
            <a:rPr lang="en-IN" sz="900" kern="1200">
              <a:latin typeface="EY interstate"/>
            </a:rPr>
            <a:t>Tolerance rules (e.g., clear if amount difference &lt; ₹100)
Recurring patterns (e.g., monthly rent payments)
Date proximity (e.g., within 3 days)
Reference matching (e.g., invoice number matches)</a:t>
          </a:r>
        </a:p>
      </dsp:txBody>
      <dsp:txXfrm>
        <a:off x="3609734" y="443494"/>
        <a:ext cx="1122875" cy="2089769"/>
      </dsp:txXfrm>
    </dsp:sp>
    <dsp:sp modelId="{6078EE03-2A35-4BBB-8702-4E928170B9B4}">
      <dsp:nvSpPr>
        <dsp:cNvPr id="0" name=""/>
        <dsp:cNvSpPr/>
      </dsp:nvSpPr>
      <dsp:spPr>
        <a:xfrm>
          <a:off x="3384305" y="145927"/>
          <a:ext cx="450858" cy="450858"/>
        </a:xfrm>
        <a:prstGeom prst="rect">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 modelId="{0418C485-D07A-4C0B-8B47-40ACCB0194B5}">
      <dsp:nvSpPr>
        <dsp:cNvPr id="0" name=""/>
        <dsp:cNvSpPr/>
      </dsp:nvSpPr>
      <dsp:spPr>
        <a:xfrm rot="16200000">
          <a:off x="4107915"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b="1" kern="1200">
              <a:solidFill>
                <a:srgbClr val="FFFF00"/>
              </a:solidFill>
              <a:latin typeface="EY interstate"/>
            </a:rPr>
            <a:t>Exception Categorization</a:t>
          </a:r>
          <a:endParaRPr lang="en-IN" sz="1200" kern="1200">
            <a:solidFill>
              <a:srgbClr val="FFFF00"/>
            </a:solidFill>
            <a:latin typeface="EY interstate"/>
          </a:endParaRPr>
        </a:p>
      </dsp:txBody>
      <dsp:txXfrm>
        <a:off x="4107915" y="1375664"/>
        <a:ext cx="2089769" cy="225429"/>
      </dsp:txXfrm>
    </dsp:sp>
    <dsp:sp modelId="{2B6035F8-A720-4A12-BF34-AFBBC680F24F}">
      <dsp:nvSpPr>
        <dsp:cNvPr id="0" name=""/>
        <dsp:cNvSpPr/>
      </dsp:nvSpPr>
      <dsp:spPr>
        <a:xfrm>
          <a:off x="526551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198816" rIns="71120" bIns="71120" numCol="1" spcCol="1270" anchor="t" anchorCtr="0">
          <a:noAutofit/>
        </a:bodyPr>
        <a:lstStyle/>
        <a:p>
          <a:pPr marL="57150" lvl="1" indent="-57150" algn="l" defTabSz="422275">
            <a:lnSpc>
              <a:spcPct val="90000"/>
            </a:lnSpc>
            <a:spcBef>
              <a:spcPct val="0"/>
            </a:spcBef>
            <a:spcAft>
              <a:spcPct val="15000"/>
            </a:spcAft>
            <a:buChar char="•"/>
          </a:pPr>
          <a:r>
            <a:rPr lang="en-IN" sz="950" kern="1200">
              <a:latin typeface="EY interstate"/>
            </a:rPr>
            <a:t>Exceptions are tagged based on their nature:
Timing differences
Amount mismatches
Missing data
Duplicate entries</a:t>
          </a:r>
        </a:p>
      </dsp:txBody>
      <dsp:txXfrm>
        <a:off x="5265514" y="443494"/>
        <a:ext cx="1122875" cy="2089769"/>
      </dsp:txXfrm>
    </dsp:sp>
    <dsp:sp modelId="{92B29377-8F08-48BC-A564-3A2328A805AA}">
      <dsp:nvSpPr>
        <dsp:cNvPr id="0" name=""/>
        <dsp:cNvSpPr/>
      </dsp:nvSpPr>
      <dsp:spPr>
        <a:xfrm>
          <a:off x="5040085" y="145927"/>
          <a:ext cx="450858" cy="450858"/>
        </a:xfrm>
        <a:prstGeom prst="rect">
          <a:avLst/>
        </a:prstGeom>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 modelId="{3BCFB1FA-70B2-4751-8FE4-9C9887E8A61D}">
      <dsp:nvSpPr>
        <dsp:cNvPr id="0" name=""/>
        <dsp:cNvSpPr/>
      </dsp:nvSpPr>
      <dsp:spPr>
        <a:xfrm rot="16200000">
          <a:off x="5763695"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b="1" kern="1200">
              <a:solidFill>
                <a:srgbClr val="FFFF00"/>
              </a:solidFill>
              <a:latin typeface="EY interstate"/>
            </a:rPr>
            <a:t>Assignment &amp; Workflow</a:t>
          </a:r>
          <a:endParaRPr lang="en-IN" sz="1200" kern="1200">
            <a:solidFill>
              <a:srgbClr val="FFFF00"/>
            </a:solidFill>
            <a:latin typeface="EY interstate"/>
          </a:endParaRPr>
        </a:p>
      </dsp:txBody>
      <dsp:txXfrm>
        <a:off x="5763695" y="1375664"/>
        <a:ext cx="2089769" cy="225429"/>
      </dsp:txXfrm>
    </dsp:sp>
    <dsp:sp modelId="{7D9B2519-B615-4B41-B561-B8F5F46C4E61}">
      <dsp:nvSpPr>
        <dsp:cNvPr id="0" name=""/>
        <dsp:cNvSpPr/>
      </dsp:nvSpPr>
      <dsp:spPr>
        <a:xfrm>
          <a:off x="692129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198816" rIns="71120" bIns="71120" numCol="1" spcCol="1270" anchor="t" anchorCtr="0">
          <a:noAutofit/>
        </a:bodyPr>
        <a:lstStyle/>
        <a:p>
          <a:pPr marL="57150" lvl="1" indent="-57150" algn="l" defTabSz="422275">
            <a:lnSpc>
              <a:spcPct val="90000"/>
            </a:lnSpc>
            <a:spcBef>
              <a:spcPct val="0"/>
            </a:spcBef>
            <a:spcAft>
              <a:spcPct val="15000"/>
            </a:spcAft>
            <a:buChar char="•"/>
          </a:pPr>
          <a:r>
            <a:rPr lang="en-IN" sz="950" kern="1200">
              <a:latin typeface="EY interstate"/>
            </a:rPr>
            <a:t>Exceptions are assigned based on:
Entity (e.g., business unit)
Region (e.g., APAC, EMEA)
Exception type</a:t>
          </a:r>
        </a:p>
      </dsp:txBody>
      <dsp:txXfrm>
        <a:off x="6921294" y="443494"/>
        <a:ext cx="1122875" cy="2089769"/>
      </dsp:txXfrm>
    </dsp:sp>
    <dsp:sp modelId="{FDCD09C6-22AC-4D4A-A64E-2DBA37DC4639}">
      <dsp:nvSpPr>
        <dsp:cNvPr id="0" name=""/>
        <dsp:cNvSpPr/>
      </dsp:nvSpPr>
      <dsp:spPr>
        <a:xfrm>
          <a:off x="6695865" y="145927"/>
          <a:ext cx="450858" cy="450858"/>
        </a:xfrm>
        <a:prstGeom prst="rect">
          <a:avLst/>
        </a:prstGeom>
        <a:blipFill>
          <a:blip xmlns:r="http://schemas.openxmlformats.org/officeDocument/2006/relationships" r:embed="rId9">
            <a:extLst>
              <a:ext uri="{96DAC541-7B7A-43D3-8B79-37D633B846F1}">
                <asvg:svgBlip xmlns:asvg="http://schemas.microsoft.com/office/drawing/2016/SVG/main" r:embed="rId10"/>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 modelId="{38F3DAC1-3A6D-4DDE-B8B6-51782AFE8A95}">
      <dsp:nvSpPr>
        <dsp:cNvPr id="0" name=""/>
        <dsp:cNvSpPr/>
      </dsp:nvSpPr>
      <dsp:spPr>
        <a:xfrm rot="16200000">
          <a:off x="7419475"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b="1" kern="1200">
              <a:solidFill>
                <a:srgbClr val="FFFF00"/>
              </a:solidFill>
              <a:latin typeface="EY interstate"/>
            </a:rPr>
            <a:t>Resolution &amp; Resolute</a:t>
          </a:r>
        </a:p>
      </dsp:txBody>
      <dsp:txXfrm>
        <a:off x="7419475" y="1375664"/>
        <a:ext cx="2089769" cy="225429"/>
      </dsp:txXfrm>
    </dsp:sp>
    <dsp:sp modelId="{975B8EBF-D818-403B-AAC8-226561FA7257}">
      <dsp:nvSpPr>
        <dsp:cNvPr id="0" name=""/>
        <dsp:cNvSpPr/>
      </dsp:nvSpPr>
      <dsp:spPr>
        <a:xfrm>
          <a:off x="857707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198816" rIns="64008" bIns="64008" numCol="1" spcCol="1270" anchor="t" anchorCtr="0">
          <a:noAutofit/>
        </a:bodyPr>
        <a:lstStyle/>
        <a:p>
          <a:pPr marL="57150" lvl="1" indent="-57150" algn="l" defTabSz="400050">
            <a:lnSpc>
              <a:spcPct val="90000"/>
            </a:lnSpc>
            <a:spcBef>
              <a:spcPct val="0"/>
            </a:spcBef>
            <a:spcAft>
              <a:spcPct val="15000"/>
            </a:spcAft>
            <a:buChar char="•"/>
          </a:pPr>
          <a:r>
            <a:rPr lang="en-IN" sz="900" kern="1200">
              <a:latin typeface="EY interstate"/>
            </a:rPr>
            <a:t>Users investigate and resolve exceptions that couldn’t be auto-cleared.
Once resolved, the status is updated to “Closed” or “Resolved”.
Some exceptions may be cleared after delayed matching or external validation.</a:t>
          </a:r>
        </a:p>
      </dsp:txBody>
      <dsp:txXfrm>
        <a:off x="8577074" y="443494"/>
        <a:ext cx="1122875" cy="2089769"/>
      </dsp:txXfrm>
    </dsp:sp>
    <dsp:sp modelId="{DABCB4F1-B835-435A-965A-7200C5031C8B}">
      <dsp:nvSpPr>
        <dsp:cNvPr id="0" name=""/>
        <dsp:cNvSpPr/>
      </dsp:nvSpPr>
      <dsp:spPr>
        <a:xfrm>
          <a:off x="8351645" y="145927"/>
          <a:ext cx="450858" cy="450858"/>
        </a:xfrm>
        <a:prstGeom prst="rect">
          <a:avLst/>
        </a:prstGeom>
        <a:blipFill>
          <a:blip xmlns:r="http://schemas.openxmlformats.org/officeDocument/2006/relationships" r:embed="rId11">
            <a:extLst>
              <a:ext uri="{96DAC541-7B7A-43D3-8B79-37D633B846F1}">
                <asvg:svgBlip xmlns:asvg="http://schemas.microsoft.com/office/drawing/2016/SVG/main" r:embed="rId12"/>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 modelId="{545B2210-8334-4130-A02D-BB5D2FFDDF0B}">
      <dsp:nvSpPr>
        <dsp:cNvPr id="0" name=""/>
        <dsp:cNvSpPr/>
      </dsp:nvSpPr>
      <dsp:spPr>
        <a:xfrm rot="16200000">
          <a:off x="9075255" y="1375664"/>
          <a:ext cx="2089769" cy="2254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98816" bIns="0" numCol="1" spcCol="1270" anchor="t" anchorCtr="0">
          <a:noAutofit/>
        </a:bodyPr>
        <a:lstStyle/>
        <a:p>
          <a:pPr marL="0" lvl="0" indent="0" algn="r" defTabSz="533400">
            <a:lnSpc>
              <a:spcPct val="90000"/>
            </a:lnSpc>
            <a:spcBef>
              <a:spcPct val="0"/>
            </a:spcBef>
            <a:spcAft>
              <a:spcPct val="35000"/>
            </a:spcAft>
            <a:buNone/>
          </a:pPr>
          <a:r>
            <a:rPr lang="en-IN" sz="1200" b="1" kern="1200">
              <a:solidFill>
                <a:srgbClr val="FFFF00"/>
              </a:solidFill>
              <a:latin typeface="EY interstate"/>
            </a:rPr>
            <a:t>Audit trail &amp; Reporting</a:t>
          </a:r>
        </a:p>
      </dsp:txBody>
      <dsp:txXfrm>
        <a:off x="9075255" y="1375664"/>
        <a:ext cx="2089769" cy="225429"/>
      </dsp:txXfrm>
    </dsp:sp>
    <dsp:sp modelId="{06ED7F87-6019-4AEF-8656-58391E7BB897}">
      <dsp:nvSpPr>
        <dsp:cNvPr id="0" name=""/>
        <dsp:cNvSpPr/>
      </dsp:nvSpPr>
      <dsp:spPr>
        <a:xfrm>
          <a:off x="10232854" y="443494"/>
          <a:ext cx="1122875" cy="2089769"/>
        </a:xfrm>
        <a:prstGeom prst="rect">
          <a:avLst/>
        </a:prstGeom>
        <a:noFill/>
        <a:ln w="19050" cap="flat" cmpd="sng" algn="ctr">
          <a:solidFill>
            <a:srgbClr val="FFFF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198816" rIns="64008" bIns="64008" numCol="1" spcCol="1270" anchor="t" anchorCtr="0">
          <a:noAutofit/>
        </a:bodyPr>
        <a:lstStyle/>
        <a:p>
          <a:pPr marL="57150" lvl="1" indent="-57150" algn="l" defTabSz="400050">
            <a:lnSpc>
              <a:spcPct val="90000"/>
            </a:lnSpc>
            <a:spcBef>
              <a:spcPct val="0"/>
            </a:spcBef>
            <a:spcAft>
              <a:spcPct val="15000"/>
            </a:spcAft>
            <a:buChar char="•"/>
          </a:pPr>
          <a:r>
            <a:rPr lang="en-IN" sz="900" kern="1200">
              <a:latin typeface="EY interstate"/>
            </a:rPr>
            <a:t>Every action (auto-clear, manual resolution, reassignment) is logged.
Reports and dashboards show:
Exception aging
Auto-cleared vs manual resolutions
Entity-wise exception trends
SLA compliance</a:t>
          </a:r>
        </a:p>
      </dsp:txBody>
      <dsp:txXfrm>
        <a:off x="10232854" y="443494"/>
        <a:ext cx="1122875" cy="2089769"/>
      </dsp:txXfrm>
    </dsp:sp>
    <dsp:sp modelId="{8142DEDA-161F-4E56-AD1D-3B03272487D3}">
      <dsp:nvSpPr>
        <dsp:cNvPr id="0" name=""/>
        <dsp:cNvSpPr/>
      </dsp:nvSpPr>
      <dsp:spPr>
        <a:xfrm>
          <a:off x="10007425" y="145927"/>
          <a:ext cx="450858" cy="450858"/>
        </a:xfrm>
        <a:prstGeom prst="rect">
          <a:avLst/>
        </a:prstGeom>
        <a:blipFill>
          <a:blip xmlns:r="http://schemas.openxmlformats.org/officeDocument/2006/relationships" r:embed="rId13">
            <a:extLst>
              <a:ext uri="{96DAC541-7B7A-43D3-8B79-37D633B846F1}">
                <asvg:svgBlip xmlns:asvg="http://schemas.microsoft.com/office/drawing/2016/SVG/main" r:embed="rId14"/>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BAB643-E601-4096-B182-49215E7B8E3B}">
      <dsp:nvSpPr>
        <dsp:cNvPr id="0" name=""/>
        <dsp:cNvSpPr/>
      </dsp:nvSpPr>
      <dsp:spPr>
        <a:xfrm>
          <a:off x="351590" y="470976"/>
          <a:ext cx="3725487" cy="1925309"/>
        </a:xfrm>
        <a:prstGeom prst="rect">
          <a:avLst/>
        </a:prstGeom>
        <a:noFill/>
        <a:ln w="19050" cap="flat" cmpd="sng" algn="ctr">
          <a:solidFill>
            <a:srgbClr val="FFE600"/>
          </a:solidFill>
          <a:prstDash val="solid"/>
          <a:miter lim="800000"/>
        </a:ln>
        <a:effectLst/>
      </dsp:spPr>
      <dsp:style>
        <a:lnRef idx="2">
          <a:scrgbClr r="0" g="0" b="0"/>
        </a:lnRef>
        <a:fillRef idx="1">
          <a:scrgbClr r="0" g="0" b="0"/>
        </a:fillRef>
        <a:effectRef idx="0">
          <a:scrgbClr r="0" g="0" b="0"/>
        </a:effectRef>
        <a:fontRef idx="minor"/>
      </dsp:style>
    </dsp:sp>
    <dsp:sp modelId="{85E459DB-EEED-49D8-9736-84EE16E49483}">
      <dsp:nvSpPr>
        <dsp:cNvPr id="0" name=""/>
        <dsp:cNvSpPr/>
      </dsp:nvSpPr>
      <dsp:spPr>
        <a:xfrm>
          <a:off x="516239" y="723733"/>
          <a:ext cx="1729996" cy="16470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n-IN" sz="1800" b="1" u="sng" kern="1200">
              <a:solidFill>
                <a:schemeClr val="bg1"/>
              </a:solidFill>
              <a:latin typeface="EYInterstate" panose="02000503020000020004" pitchFamily="2" charset="0"/>
            </a:rPr>
            <a:t>Advantages</a:t>
          </a: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Consistency</a:t>
          </a:r>
          <a:endParaRPr lang="en-IN" sz="1800" kern="1200">
            <a:solidFill>
              <a:schemeClr val="bg1"/>
            </a:solidFill>
            <a:latin typeface="EYInterstate" panose="02000503020000020004" pitchFamily="2" charset="0"/>
          </a:endParaRP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Efficiency</a:t>
          </a:r>
          <a:endParaRPr lang="en-IN" sz="1800" kern="1200">
            <a:solidFill>
              <a:schemeClr val="bg1"/>
            </a:solidFill>
            <a:latin typeface="EYInterstate" panose="02000503020000020004" pitchFamily="2" charset="0"/>
          </a:endParaRP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Compliance</a:t>
          </a:r>
          <a:endParaRPr lang="en-IN" sz="1800" kern="1200"/>
        </a:p>
      </dsp:txBody>
      <dsp:txXfrm>
        <a:off x="516239" y="723733"/>
        <a:ext cx="1729996" cy="1647078"/>
      </dsp:txXfrm>
    </dsp:sp>
    <dsp:sp modelId="{9999BEE2-55BB-4BCF-8980-86CD1706B9C1}">
      <dsp:nvSpPr>
        <dsp:cNvPr id="0" name=""/>
        <dsp:cNvSpPr/>
      </dsp:nvSpPr>
      <dsp:spPr>
        <a:xfrm>
          <a:off x="2284774" y="723733"/>
          <a:ext cx="1729996" cy="16470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n-IN" sz="1800" b="1" u="sng" kern="1200">
              <a:solidFill>
                <a:schemeClr val="bg1"/>
              </a:solidFill>
              <a:latin typeface="EYInterstate" panose="02000503020000020004" pitchFamily="2" charset="0"/>
            </a:rPr>
            <a:t>Challenges</a:t>
          </a: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Lack of Flexibility</a:t>
          </a:r>
          <a:endParaRPr lang="en-IN" sz="1800" kern="1200">
            <a:solidFill>
              <a:schemeClr val="bg1"/>
            </a:solidFill>
            <a:latin typeface="EYInterstate" panose="02000503020000020004" pitchFamily="2" charset="0"/>
          </a:endParaRP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Overburdened GPO</a:t>
          </a:r>
          <a:endParaRPr lang="en-IN" sz="1800" kern="1200"/>
        </a:p>
      </dsp:txBody>
      <dsp:txXfrm>
        <a:off x="2284774" y="723733"/>
        <a:ext cx="1729996" cy="1647078"/>
      </dsp:txXfrm>
    </dsp:sp>
    <dsp:sp modelId="{E40088EE-ECE1-4C36-8161-82F1878DB3B3}">
      <dsp:nvSpPr>
        <dsp:cNvPr id="0" name=""/>
        <dsp:cNvSpPr/>
      </dsp:nvSpPr>
      <dsp:spPr>
        <a:xfrm>
          <a:off x="151779" y="245635"/>
          <a:ext cx="463424" cy="463235"/>
        </a:xfrm>
        <a:prstGeom prst="plus">
          <a:avLst>
            <a:gd name="adj" fmla="val 32810"/>
          </a:avLst>
        </a:prstGeom>
        <a:solidFill>
          <a:srgbClr val="FFE600"/>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6212E56-9A7F-43FB-B8FF-C5E6E5CB276F}">
      <dsp:nvSpPr>
        <dsp:cNvPr id="0" name=""/>
        <dsp:cNvSpPr/>
      </dsp:nvSpPr>
      <dsp:spPr>
        <a:xfrm>
          <a:off x="3791019" y="408056"/>
          <a:ext cx="336167" cy="168809"/>
        </a:xfrm>
        <a:prstGeom prst="rect">
          <a:avLst/>
        </a:prstGeom>
        <a:solidFill>
          <a:srgbClr val="FFE600"/>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854551D-883B-4623-943F-E8D847FFF544}">
      <dsp:nvSpPr>
        <dsp:cNvPr id="0" name=""/>
        <dsp:cNvSpPr/>
      </dsp:nvSpPr>
      <dsp:spPr>
        <a:xfrm>
          <a:off x="2157883" y="685189"/>
          <a:ext cx="428" cy="1573118"/>
        </a:xfrm>
        <a:prstGeom prst="line">
          <a:avLst/>
        </a:prstGeom>
        <a:noFill/>
        <a:ln w="19050" cap="flat" cmpd="sng" algn="ctr">
          <a:solidFill>
            <a:srgbClr val="FFE600"/>
          </a:solidFill>
          <a:prstDash val="solid"/>
          <a:miter lim="800000"/>
        </a:ln>
        <a:effectLst/>
      </dsp:spPr>
      <dsp:style>
        <a:lnRef idx="2">
          <a:scrgbClr r="0" g="0" b="0"/>
        </a:lnRef>
        <a:fillRef idx="0">
          <a:scrgbClr r="0" g="0" b="0"/>
        </a:fillRef>
        <a:effectRef idx="0">
          <a:scrgbClr r="0" g="0" b="0"/>
        </a:effectRef>
        <a:fontRef idx="minor"/>
      </dsp:style>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BAB643-E601-4096-B182-49215E7B8E3B}">
      <dsp:nvSpPr>
        <dsp:cNvPr id="0" name=""/>
        <dsp:cNvSpPr/>
      </dsp:nvSpPr>
      <dsp:spPr>
        <a:xfrm>
          <a:off x="351590" y="470976"/>
          <a:ext cx="3725487" cy="1925309"/>
        </a:xfrm>
        <a:prstGeom prst="rect">
          <a:avLst/>
        </a:prstGeom>
        <a:noFill/>
        <a:ln w="19050" cap="flat" cmpd="sng" algn="ctr">
          <a:solidFill>
            <a:srgbClr val="FFE600"/>
          </a:solidFill>
          <a:prstDash val="solid"/>
          <a:miter lim="800000"/>
        </a:ln>
        <a:effectLst/>
      </dsp:spPr>
      <dsp:style>
        <a:lnRef idx="2">
          <a:scrgbClr r="0" g="0" b="0"/>
        </a:lnRef>
        <a:fillRef idx="1">
          <a:scrgbClr r="0" g="0" b="0"/>
        </a:fillRef>
        <a:effectRef idx="0">
          <a:scrgbClr r="0" g="0" b="0"/>
        </a:effectRef>
        <a:fontRef idx="minor"/>
      </dsp:style>
    </dsp:sp>
    <dsp:sp modelId="{85E459DB-EEED-49D8-9736-84EE16E49483}">
      <dsp:nvSpPr>
        <dsp:cNvPr id="0" name=""/>
        <dsp:cNvSpPr/>
      </dsp:nvSpPr>
      <dsp:spPr>
        <a:xfrm>
          <a:off x="516239" y="723733"/>
          <a:ext cx="1729996" cy="16470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n-IN" sz="1800" b="1" u="sng" kern="1200">
              <a:solidFill>
                <a:schemeClr val="bg1"/>
              </a:solidFill>
              <a:latin typeface="EYInterstate" panose="02000503020000020004" pitchFamily="2" charset="0"/>
            </a:rPr>
            <a:t>Advantages</a:t>
          </a: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Flexibility</a:t>
          </a:r>
          <a:endParaRPr lang="en-IN" sz="1800" kern="1200">
            <a:solidFill>
              <a:schemeClr val="bg1"/>
            </a:solidFill>
            <a:latin typeface="EYInterstate" panose="02000503020000020004" pitchFamily="2" charset="0"/>
          </a:endParaRPr>
        </a:p>
        <a:p>
          <a:pPr marL="0" lvl="0" indent="0" algn="l" defTabSz="800100">
            <a:lnSpc>
              <a:spcPct val="90000"/>
            </a:lnSpc>
            <a:spcBef>
              <a:spcPct val="0"/>
            </a:spcBef>
            <a:spcAft>
              <a:spcPct val="35000"/>
            </a:spcAft>
            <a:buFont typeface="+mj-lt"/>
            <a:buNone/>
          </a:pPr>
          <a:r>
            <a:rPr lang="en-IN" sz="1800" b="1" kern="1200">
              <a:solidFill>
                <a:schemeClr val="bg1"/>
              </a:solidFill>
              <a:latin typeface="EYInterstate" panose="02000503020000020004" pitchFamily="2" charset="0"/>
            </a:rPr>
            <a:t>Empowerment</a:t>
          </a:r>
          <a:r>
            <a:rPr lang="en-IN" sz="1800" kern="1200">
              <a:solidFill>
                <a:schemeClr val="bg1"/>
              </a:solidFill>
              <a:latin typeface="EYInterstate" panose="02000503020000020004" pitchFamily="2" charset="0"/>
            </a:rPr>
            <a:t> </a:t>
          </a:r>
        </a:p>
        <a:p>
          <a:pPr marL="0" lvl="0" indent="0" algn="l" defTabSz="800100">
            <a:lnSpc>
              <a:spcPct val="90000"/>
            </a:lnSpc>
            <a:spcBef>
              <a:spcPct val="0"/>
            </a:spcBef>
            <a:spcAft>
              <a:spcPct val="35000"/>
            </a:spcAft>
            <a:buFont typeface="+mj-lt"/>
            <a:buNone/>
          </a:pPr>
          <a:r>
            <a:rPr lang="en-IN" sz="1800" b="1" kern="1200">
              <a:solidFill>
                <a:schemeClr val="bg1"/>
              </a:solidFill>
              <a:latin typeface="EYInterstate" panose="02000503020000020004" pitchFamily="2" charset="0"/>
            </a:rPr>
            <a:t>Scalability</a:t>
          </a:r>
          <a:r>
            <a:rPr lang="en-IN" sz="1800" kern="1200"/>
            <a:t>: </a:t>
          </a:r>
        </a:p>
        <a:p>
          <a:pPr marL="0" lvl="0" indent="0" algn="l" defTabSz="800100">
            <a:lnSpc>
              <a:spcPct val="90000"/>
            </a:lnSpc>
            <a:spcBef>
              <a:spcPct val="0"/>
            </a:spcBef>
            <a:spcAft>
              <a:spcPct val="35000"/>
            </a:spcAft>
            <a:buFont typeface="+mj-lt"/>
            <a:buNone/>
          </a:pPr>
          <a:endParaRPr lang="en-IN" sz="1800" kern="1200"/>
        </a:p>
      </dsp:txBody>
      <dsp:txXfrm>
        <a:off x="516239" y="723733"/>
        <a:ext cx="1729996" cy="1647078"/>
      </dsp:txXfrm>
    </dsp:sp>
    <dsp:sp modelId="{9999BEE2-55BB-4BCF-8980-86CD1706B9C1}">
      <dsp:nvSpPr>
        <dsp:cNvPr id="0" name=""/>
        <dsp:cNvSpPr/>
      </dsp:nvSpPr>
      <dsp:spPr>
        <a:xfrm>
          <a:off x="2284774" y="723733"/>
          <a:ext cx="1729996" cy="16470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n-IN" sz="1800" b="1" u="sng" kern="1200">
              <a:solidFill>
                <a:schemeClr val="bg1"/>
              </a:solidFill>
              <a:latin typeface="EYInterstate" panose="02000503020000020004" pitchFamily="2" charset="0"/>
            </a:rPr>
            <a:t>Challenges</a:t>
          </a:r>
        </a:p>
        <a:p>
          <a:pPr marL="0" lvl="0" indent="0" algn="l" defTabSz="800100">
            <a:lnSpc>
              <a:spcPct val="90000"/>
            </a:lnSpc>
            <a:spcBef>
              <a:spcPct val="0"/>
            </a:spcBef>
            <a:spcAft>
              <a:spcPct val="35000"/>
            </a:spcAft>
            <a:buNone/>
          </a:pPr>
          <a:r>
            <a:rPr lang="en-IN" sz="1800" b="1" kern="1200">
              <a:solidFill>
                <a:schemeClr val="bg1"/>
              </a:solidFill>
              <a:latin typeface="EYInterstate" panose="02000503020000020004" pitchFamily="2" charset="0"/>
            </a:rPr>
            <a:t>Inconsistency</a:t>
          </a:r>
          <a:endParaRPr lang="en-IN" sz="1800" kern="1200">
            <a:solidFill>
              <a:schemeClr val="bg1"/>
            </a:solidFill>
            <a:latin typeface="EYInterstate" panose="02000503020000020004" pitchFamily="2" charset="0"/>
          </a:endParaRPr>
        </a:p>
        <a:p>
          <a:pPr marL="0" lvl="0" indent="0" algn="l" defTabSz="800100">
            <a:lnSpc>
              <a:spcPct val="90000"/>
            </a:lnSpc>
            <a:spcBef>
              <a:spcPct val="0"/>
            </a:spcBef>
            <a:spcAft>
              <a:spcPct val="35000"/>
            </a:spcAft>
            <a:buFont typeface="+mj-lt"/>
            <a:buNone/>
          </a:pPr>
          <a:r>
            <a:rPr lang="en-IN" sz="1800" b="1" kern="1200">
              <a:solidFill>
                <a:schemeClr val="bg1"/>
              </a:solidFill>
              <a:latin typeface="EYInterstate" panose="02000503020000020004" pitchFamily="2" charset="0"/>
            </a:rPr>
            <a:t>Complexity</a:t>
          </a:r>
          <a:endParaRPr lang="en-IN" sz="1800" kern="1200">
            <a:solidFill>
              <a:schemeClr val="bg1"/>
            </a:solidFill>
            <a:latin typeface="EYInterstate" panose="02000503020000020004" pitchFamily="2" charset="0"/>
          </a:endParaRPr>
        </a:p>
      </dsp:txBody>
      <dsp:txXfrm>
        <a:off x="2284774" y="723733"/>
        <a:ext cx="1729996" cy="1647078"/>
      </dsp:txXfrm>
    </dsp:sp>
    <dsp:sp modelId="{E40088EE-ECE1-4C36-8161-82F1878DB3B3}">
      <dsp:nvSpPr>
        <dsp:cNvPr id="0" name=""/>
        <dsp:cNvSpPr/>
      </dsp:nvSpPr>
      <dsp:spPr>
        <a:xfrm>
          <a:off x="151779" y="245635"/>
          <a:ext cx="463424" cy="463235"/>
        </a:xfrm>
        <a:prstGeom prst="plus">
          <a:avLst>
            <a:gd name="adj" fmla="val 32810"/>
          </a:avLst>
        </a:prstGeom>
        <a:solidFill>
          <a:srgbClr val="FFE600"/>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6212E56-9A7F-43FB-B8FF-C5E6E5CB276F}">
      <dsp:nvSpPr>
        <dsp:cNvPr id="0" name=""/>
        <dsp:cNvSpPr/>
      </dsp:nvSpPr>
      <dsp:spPr>
        <a:xfrm>
          <a:off x="3791019" y="408056"/>
          <a:ext cx="336167" cy="168809"/>
        </a:xfrm>
        <a:prstGeom prst="rect">
          <a:avLst/>
        </a:prstGeom>
        <a:solidFill>
          <a:srgbClr val="FFE600"/>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854551D-883B-4623-943F-E8D847FFF544}">
      <dsp:nvSpPr>
        <dsp:cNvPr id="0" name=""/>
        <dsp:cNvSpPr/>
      </dsp:nvSpPr>
      <dsp:spPr>
        <a:xfrm>
          <a:off x="2123857" y="697900"/>
          <a:ext cx="428" cy="1573118"/>
        </a:xfrm>
        <a:prstGeom prst="line">
          <a:avLst/>
        </a:prstGeom>
        <a:noFill/>
        <a:ln w="19050" cap="flat" cmpd="sng" algn="ctr">
          <a:solidFill>
            <a:srgbClr val="FFE600"/>
          </a:solidFill>
          <a:prstDash val="solid"/>
          <a:miter lim="800000"/>
        </a:ln>
        <a:effectLst/>
      </dsp:spPr>
      <dsp:style>
        <a:lnRef idx="2">
          <a:scrgbClr r="0" g="0" b="0"/>
        </a:lnRef>
        <a:fillRef idx="0">
          <a:scrgbClr r="0" g="0" b="0"/>
        </a:fillRef>
        <a:effectRef idx="0">
          <a:scrgbClr r="0" g="0" b="0"/>
        </a:effectRef>
        <a:fontRef idx="minor"/>
      </dsp:style>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F562C0E-CB97-4B5A-9145-235B96EBFBA6}">
      <dsp:nvSpPr>
        <dsp:cNvPr id="0" name=""/>
        <dsp:cNvSpPr/>
      </dsp:nvSpPr>
      <dsp:spPr>
        <a:xfrm>
          <a:off x="1251624" y="1437237"/>
          <a:ext cx="1826791" cy="1580248"/>
        </a:xfrm>
        <a:prstGeom prst="hexagon">
          <a:avLst>
            <a:gd name="adj" fmla="val 28570"/>
            <a:gd name="vf" fmla="val 115470"/>
          </a:avLst>
        </a:prstGeom>
        <a:solidFill>
          <a:srgbClr val="FFE60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pl-PL" sz="1400" b="1" kern="1200">
              <a:solidFill>
                <a:schemeClr val="bg2"/>
              </a:solidFill>
            </a:rPr>
            <a:t>RECORD TO REPORT OPERATING MODEL</a:t>
          </a:r>
          <a:endParaRPr lang="de-CH" sz="1400" b="1" kern="1200">
            <a:solidFill>
              <a:schemeClr val="bg2"/>
            </a:solidFill>
          </a:endParaRPr>
        </a:p>
      </dsp:txBody>
      <dsp:txXfrm>
        <a:off x="1554349" y="1699106"/>
        <a:ext cx="1221341" cy="1056510"/>
      </dsp:txXfrm>
    </dsp:sp>
    <dsp:sp modelId="{BE608403-349E-4081-B2CB-596E47F9DD3B}">
      <dsp:nvSpPr>
        <dsp:cNvPr id="0" name=""/>
        <dsp:cNvSpPr/>
      </dsp:nvSpPr>
      <dsp:spPr>
        <a:xfrm>
          <a:off x="2395546" y="681195"/>
          <a:ext cx="689243" cy="593874"/>
        </a:xfrm>
        <a:prstGeom prst="hexagon">
          <a:avLst>
            <a:gd name="adj" fmla="val 28900"/>
            <a:gd name="vf" fmla="val 115470"/>
          </a:avLst>
        </a:prstGeom>
        <a:solidFill>
          <a:srgbClr val="FFE600"/>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0272B16A-CA34-4D82-B445-CC9E5A5275D3}">
      <dsp:nvSpPr>
        <dsp:cNvPr id="0" name=""/>
        <dsp:cNvSpPr/>
      </dsp:nvSpPr>
      <dsp:spPr>
        <a:xfrm>
          <a:off x="1419898" y="0"/>
          <a:ext cx="1497042" cy="1295117"/>
        </a:xfrm>
        <a:prstGeom prst="hexagon">
          <a:avLst>
            <a:gd name="adj" fmla="val 28570"/>
            <a:gd name="vf" fmla="val 115470"/>
          </a:avLst>
        </a:prstGeom>
        <a:solidFill>
          <a:schemeClr val="bg1">
            <a:lumMod val="9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b="1" kern="1200" noProof="0">
              <a:solidFill>
                <a:schemeClr val="bg2">
                  <a:lumMod val="100000"/>
                </a:schemeClr>
              </a:solidFill>
            </a:rPr>
            <a:t>Organizational structure</a:t>
          </a:r>
        </a:p>
      </dsp:txBody>
      <dsp:txXfrm>
        <a:off x="1667990" y="214629"/>
        <a:ext cx="1000858" cy="865859"/>
      </dsp:txXfrm>
    </dsp:sp>
    <dsp:sp modelId="{75B44EE0-2A5A-42C7-9613-919B89661AD7}">
      <dsp:nvSpPr>
        <dsp:cNvPr id="0" name=""/>
        <dsp:cNvSpPr/>
      </dsp:nvSpPr>
      <dsp:spPr>
        <a:xfrm>
          <a:off x="3199947" y="1791423"/>
          <a:ext cx="689243" cy="593874"/>
        </a:xfrm>
        <a:prstGeom prst="hexagon">
          <a:avLst>
            <a:gd name="adj" fmla="val 28900"/>
            <a:gd name="vf" fmla="val 115470"/>
          </a:avLst>
        </a:prstGeom>
        <a:solidFill>
          <a:srgbClr val="FFE600"/>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D9C2CAEE-1229-46A1-9DEB-E20178AFB1D3}">
      <dsp:nvSpPr>
        <dsp:cNvPr id="0" name=""/>
        <dsp:cNvSpPr/>
      </dsp:nvSpPr>
      <dsp:spPr>
        <a:xfrm>
          <a:off x="2792860" y="796584"/>
          <a:ext cx="1497042" cy="1295117"/>
        </a:xfrm>
        <a:prstGeom prst="hexagon">
          <a:avLst>
            <a:gd name="adj" fmla="val 28570"/>
            <a:gd name="vf" fmla="val 115470"/>
          </a:avLst>
        </a:prstGeom>
        <a:solidFill>
          <a:schemeClr val="bg1">
            <a:lumMod val="9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100" b="1" kern="1200" noProof="0">
              <a:solidFill>
                <a:schemeClr val="bg2">
                  <a:lumMod val="100000"/>
                </a:schemeClr>
              </a:solidFill>
              <a:latin typeface="EYInterstate Light"/>
              <a:ea typeface="+mn-ea"/>
              <a:cs typeface="+mn-cs"/>
            </a:rPr>
            <a:t>Process design</a:t>
          </a:r>
        </a:p>
      </dsp:txBody>
      <dsp:txXfrm>
        <a:off x="3040952" y="1011213"/>
        <a:ext cx="1000858" cy="865859"/>
      </dsp:txXfrm>
    </dsp:sp>
    <dsp:sp modelId="{D93CA90B-8799-4557-A169-20B16C6D6A0A}">
      <dsp:nvSpPr>
        <dsp:cNvPr id="0" name=""/>
        <dsp:cNvSpPr/>
      </dsp:nvSpPr>
      <dsp:spPr>
        <a:xfrm>
          <a:off x="2641158" y="3044663"/>
          <a:ext cx="689243" cy="593874"/>
        </a:xfrm>
        <a:prstGeom prst="hexagon">
          <a:avLst>
            <a:gd name="adj" fmla="val 28900"/>
            <a:gd name="vf" fmla="val 115470"/>
          </a:avLst>
        </a:prstGeom>
        <a:solidFill>
          <a:srgbClr val="FFE600"/>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58CD54DA-2D05-47C1-947B-9D7546AE75B8}">
      <dsp:nvSpPr>
        <dsp:cNvPr id="0" name=""/>
        <dsp:cNvSpPr/>
      </dsp:nvSpPr>
      <dsp:spPr>
        <a:xfrm>
          <a:off x="2792860" y="2362576"/>
          <a:ext cx="1497042" cy="1295117"/>
        </a:xfrm>
        <a:prstGeom prst="hexagon">
          <a:avLst>
            <a:gd name="adj" fmla="val 28570"/>
            <a:gd name="vf" fmla="val 115470"/>
          </a:avLst>
        </a:prstGeom>
        <a:solidFill>
          <a:schemeClr val="bg1">
            <a:lumMod val="9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488950">
            <a:lnSpc>
              <a:spcPct val="90000"/>
            </a:lnSpc>
            <a:spcBef>
              <a:spcPct val="0"/>
            </a:spcBef>
            <a:spcAft>
              <a:spcPct val="35000"/>
            </a:spcAft>
            <a:buNone/>
          </a:pPr>
          <a:r>
            <a:rPr lang="en-US" sz="1100" b="1" kern="1200" noProof="0">
              <a:solidFill>
                <a:schemeClr val="bg2">
                  <a:lumMod val="100000"/>
                </a:schemeClr>
              </a:solidFill>
              <a:latin typeface="EYInterstate Light"/>
              <a:ea typeface="+mn-ea"/>
              <a:cs typeface="+mn-cs"/>
            </a:rPr>
            <a:t>Technology infrastructure</a:t>
          </a:r>
        </a:p>
      </dsp:txBody>
      <dsp:txXfrm>
        <a:off x="3040952" y="2577205"/>
        <a:ext cx="1000858" cy="865859"/>
      </dsp:txXfrm>
    </dsp:sp>
    <dsp:sp modelId="{F5CB83EC-AEAA-4407-9EF0-F9B82362B524}">
      <dsp:nvSpPr>
        <dsp:cNvPr id="0" name=""/>
        <dsp:cNvSpPr/>
      </dsp:nvSpPr>
      <dsp:spPr>
        <a:xfrm>
          <a:off x="1255023" y="3174754"/>
          <a:ext cx="689243" cy="593874"/>
        </a:xfrm>
        <a:prstGeom prst="hexagon">
          <a:avLst>
            <a:gd name="adj" fmla="val 28900"/>
            <a:gd name="vf" fmla="val 115470"/>
          </a:avLst>
        </a:prstGeom>
        <a:solidFill>
          <a:srgbClr val="FFE600"/>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52307477-28CC-4C05-8703-13472FCD2A40}">
      <dsp:nvSpPr>
        <dsp:cNvPr id="0" name=""/>
        <dsp:cNvSpPr/>
      </dsp:nvSpPr>
      <dsp:spPr>
        <a:xfrm>
          <a:off x="1419898" y="3160052"/>
          <a:ext cx="1497042" cy="1295117"/>
        </a:xfrm>
        <a:prstGeom prst="hexagon">
          <a:avLst>
            <a:gd name="adj" fmla="val 28570"/>
            <a:gd name="vf" fmla="val 115470"/>
          </a:avLst>
        </a:prstGeom>
        <a:solidFill>
          <a:prstClr val="white">
            <a:lumMod val="95000"/>
          </a:prst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pl-PL" sz="1100" b="1" kern="1200" noProof="0">
              <a:solidFill>
                <a:srgbClr val="000000">
                  <a:lumMod val="100000"/>
                </a:srgbClr>
              </a:solidFill>
              <a:latin typeface="EYInterstate Light"/>
              <a:ea typeface="+mn-ea"/>
              <a:cs typeface="+mn-cs"/>
            </a:rPr>
            <a:t>Data management</a:t>
          </a:r>
          <a:endParaRPr lang="en-US" sz="1100" b="1" kern="1200" noProof="0">
            <a:solidFill>
              <a:srgbClr val="000000">
                <a:lumMod val="100000"/>
              </a:srgbClr>
            </a:solidFill>
            <a:latin typeface="EYInterstate Light"/>
            <a:ea typeface="+mn-ea"/>
            <a:cs typeface="+mn-cs"/>
          </a:endParaRPr>
        </a:p>
      </dsp:txBody>
      <dsp:txXfrm>
        <a:off x="1667990" y="3374681"/>
        <a:ext cx="1000858" cy="865859"/>
      </dsp:txXfrm>
    </dsp:sp>
    <dsp:sp modelId="{1288880B-EFC7-4D90-9A12-D1B2B054A1ED}">
      <dsp:nvSpPr>
        <dsp:cNvPr id="0" name=""/>
        <dsp:cNvSpPr/>
      </dsp:nvSpPr>
      <dsp:spPr>
        <a:xfrm>
          <a:off x="437450" y="2064971"/>
          <a:ext cx="689243" cy="593874"/>
        </a:xfrm>
        <a:prstGeom prst="hexagon">
          <a:avLst>
            <a:gd name="adj" fmla="val 28900"/>
            <a:gd name="vf" fmla="val 115470"/>
          </a:avLst>
        </a:prstGeom>
        <a:solidFill>
          <a:srgbClr val="FFE600"/>
        </a:soli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6613787C-368B-4826-82EA-733180353BE6}">
      <dsp:nvSpPr>
        <dsp:cNvPr id="0" name=""/>
        <dsp:cNvSpPr/>
      </dsp:nvSpPr>
      <dsp:spPr>
        <a:xfrm>
          <a:off x="40561" y="2363467"/>
          <a:ext cx="1497042" cy="1295117"/>
        </a:xfrm>
        <a:prstGeom prst="hexagon">
          <a:avLst>
            <a:gd name="adj" fmla="val 28570"/>
            <a:gd name="vf" fmla="val 115470"/>
          </a:avLst>
        </a:prstGeom>
        <a:solidFill>
          <a:prstClr val="white">
            <a:lumMod val="95000"/>
          </a:prst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100" b="1" kern="1200" noProof="0">
              <a:solidFill>
                <a:srgbClr val="000000">
                  <a:lumMod val="100000"/>
                </a:srgbClr>
              </a:solidFill>
              <a:latin typeface="EYInterstate Light"/>
              <a:ea typeface="+mn-ea"/>
              <a:cs typeface="+mn-cs"/>
            </a:rPr>
            <a:t>Continuous improvement </a:t>
          </a:r>
        </a:p>
      </dsp:txBody>
      <dsp:txXfrm>
        <a:off x="288653" y="2578096"/>
        <a:ext cx="1000858" cy="865859"/>
      </dsp:txXfrm>
    </dsp:sp>
    <dsp:sp modelId="{4C849009-6CB6-4F0D-A56F-54F82BA6B8EE}">
      <dsp:nvSpPr>
        <dsp:cNvPr id="0" name=""/>
        <dsp:cNvSpPr/>
      </dsp:nvSpPr>
      <dsp:spPr>
        <a:xfrm>
          <a:off x="40561" y="794802"/>
          <a:ext cx="1497042" cy="1295117"/>
        </a:xfrm>
        <a:prstGeom prst="hexagon">
          <a:avLst>
            <a:gd name="adj" fmla="val 28570"/>
            <a:gd name="vf" fmla="val 115470"/>
          </a:avLst>
        </a:prstGeom>
        <a:solidFill>
          <a:prstClr val="white">
            <a:lumMod val="95000"/>
          </a:prst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100" b="1" kern="1200" noProof="0">
              <a:solidFill>
                <a:srgbClr val="000000">
                  <a:lumMod val="100000"/>
                </a:srgbClr>
              </a:solidFill>
              <a:latin typeface="EYInterstate Light"/>
              <a:ea typeface="+mn-ea"/>
              <a:cs typeface="+mn-cs"/>
            </a:rPr>
            <a:t>Governance and control</a:t>
          </a:r>
        </a:p>
      </dsp:txBody>
      <dsp:txXfrm>
        <a:off x="288653" y="1009431"/>
        <a:ext cx="1000858" cy="865859"/>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chevronAccent+Icon">
  <dgm:title val="Chevron Accent Process"/>
  <dgm:desc val="Use to show sequential steps in a task, process, or workflow, or to emphasize movement or direction. Works best with minimal Level 1 and Level 2 text."/>
  <dgm:catLst>
    <dgm:cat type="process" pri="9500"/>
    <dgm:cat type="officeonline" pri="2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primFontSz" for="des" forName="txNode" op="equ" val="65"/>
      <dgm:constr type="w" for="ch" forName="compositeSpace" refType="w" refFor="ch" refForName="composite" fact="0.02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bgChev"/>
              <dgm:constr type="w" for="ch" forName="bgChev" refType="w" fact="0.9"/>
              <dgm:constr type="t" for="ch" forName="bgChev"/>
              <dgm:constr type="h" for="ch" forName="bgChev" refType="w" refFor="ch" refForName="bgChev" fact="0.386"/>
              <dgm:constr type="l" for="ch" forName="txNode" refType="w" fact="0.24"/>
              <dgm:constr type="w" for="ch" forName="txNode" refType="w" fact="0.76"/>
              <dgm:constr type="t" for="ch" forName="txNode" refType="h" refFor="ch" refForName="bgChev" fact="0.25"/>
              <dgm:constr type="h" for="ch" forName="txNode" refType="h" refFor="ch" refForName="bgChev"/>
            </dgm:constrLst>
          </dgm:if>
          <dgm:else name="Name7">
            <dgm:constrLst>
              <dgm:constr type="l" for="ch" forName="bgChev" refType="w" fact="0.1"/>
              <dgm:constr type="w" for="ch" forName="bgChev" refType="w" fact="0.9"/>
              <dgm:constr type="t" for="ch" forName="bgChev"/>
              <dgm:constr type="h" for="ch" forName="bgChev" refType="w" refFor="ch" refForName="bgChev" fact="0.386"/>
              <dgm:constr type="l" for="ch" forName="txNode"/>
              <dgm:constr type="w" for="ch" forName="txNode" refType="w" fact="0.76"/>
              <dgm:constr type="t" for="ch" forName="txNode" refType="h" refFor="ch" refForName="bgChev" fact="0.25"/>
              <dgm:constr type="h" for="ch" forName="txNode" refType="h" refFor="ch" refForName="bgChev"/>
            </dgm:constrLst>
          </dgm:else>
        </dgm:choose>
        <dgm:ruleLst/>
        <dgm:layoutNode name="bgChev" styleLbl="node1">
          <dgm:alg type="sp"/>
          <dgm:choose name="Name8">
            <dgm:if name="Name9" func="var" arg="dir" op="equ" val="norm">
              <dgm:shape xmlns:r="http://schemas.openxmlformats.org/officeDocument/2006/relationships" type="chevron" r:blip="">
                <dgm:adjLst>
                  <dgm:adj idx="1" val="0.4"/>
                </dgm:adjLst>
              </dgm:shape>
            </dgm:if>
            <dgm:else name="Name10">
              <dgm:shape xmlns:r="http://schemas.openxmlformats.org/officeDocument/2006/relationships" rot="180" type="chevron" r:blip="">
                <dgm:adjLst>
                  <dgm:adj idx="1" val="0.4"/>
                </dgm:adjLst>
              </dgm:shape>
            </dgm:else>
          </dgm:choose>
          <dgm:presOf/>
          <dgm:constrLst/>
        </dgm:layoutNode>
        <dgm:layoutNode name="txNode" styleLbl="fgAcc1">
          <dgm:varLst>
            <dgm:bulletEnabled val="1"/>
          </dgm:varLst>
          <dgm:alg type="tx"/>
          <dgm:shape xmlns:r="http://schemas.openxmlformats.org/officeDocument/2006/relationships" type="roundRect" r:blip="">
            <dgm:adjLst>
              <dgm:adj idx="1" val="0.1"/>
            </dgm:adjLst>
          </dgm:shape>
          <dgm:presOf axis="desOrSelf" ptType="node"/>
          <dgm:ruleLst>
            <dgm:rule type="primFontSz" val="5" fact="NaN" max="NaN"/>
          </dgm:ruleLst>
        </dgm:layoutNode>
      </dgm:layoutNode>
      <dgm:forEach name="Name11" axis="followSib" ptType="sibTrans" cnt="1">
        <dgm:layoutNode name="compositeSpace">
          <dgm:alg type="sp"/>
          <dgm:shape xmlns:r="http://schemas.openxmlformats.org/officeDocument/2006/relationships" r:blip="">
            <dgm:adjLst/>
          </dgm:shape>
          <dgm:presOf axis="sel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chevronAccent+Icon">
  <dgm:title val="Chevron Accent Process"/>
  <dgm:desc val="Use to show sequential steps in a task, process, or workflow, or to emphasize movement or direction. Works best with minimal Level 1 and Level 2 text."/>
  <dgm:catLst>
    <dgm:cat type="process" pri="9500"/>
    <dgm:cat type="officeonline" pri="2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primFontSz" for="des" forName="txNode" op="equ" val="65"/>
      <dgm:constr type="w" for="ch" forName="compositeSpace" refType="w" refFor="ch" refForName="composite" fact="0.02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bgChev"/>
              <dgm:constr type="w" for="ch" forName="bgChev" refType="w" fact="0.9"/>
              <dgm:constr type="t" for="ch" forName="bgChev"/>
              <dgm:constr type="h" for="ch" forName="bgChev" refType="w" refFor="ch" refForName="bgChev" fact="0.386"/>
              <dgm:constr type="l" for="ch" forName="txNode" refType="w" fact="0.24"/>
              <dgm:constr type="w" for="ch" forName="txNode" refType="w" fact="0.76"/>
              <dgm:constr type="t" for="ch" forName="txNode" refType="h" refFor="ch" refForName="bgChev" fact="0.25"/>
              <dgm:constr type="h" for="ch" forName="txNode" refType="h" refFor="ch" refForName="bgChev"/>
            </dgm:constrLst>
          </dgm:if>
          <dgm:else name="Name7">
            <dgm:constrLst>
              <dgm:constr type="l" for="ch" forName="bgChev" refType="w" fact="0.1"/>
              <dgm:constr type="w" for="ch" forName="bgChev" refType="w" fact="0.9"/>
              <dgm:constr type="t" for="ch" forName="bgChev"/>
              <dgm:constr type="h" for="ch" forName="bgChev" refType="w" refFor="ch" refForName="bgChev" fact="0.386"/>
              <dgm:constr type="l" for="ch" forName="txNode"/>
              <dgm:constr type="w" for="ch" forName="txNode" refType="w" fact="0.76"/>
              <dgm:constr type="t" for="ch" forName="txNode" refType="h" refFor="ch" refForName="bgChev" fact="0.25"/>
              <dgm:constr type="h" for="ch" forName="txNode" refType="h" refFor="ch" refForName="bgChev"/>
            </dgm:constrLst>
          </dgm:else>
        </dgm:choose>
        <dgm:ruleLst/>
        <dgm:layoutNode name="bgChev" styleLbl="node1">
          <dgm:alg type="sp"/>
          <dgm:choose name="Name8">
            <dgm:if name="Name9" func="var" arg="dir" op="equ" val="norm">
              <dgm:shape xmlns:r="http://schemas.openxmlformats.org/officeDocument/2006/relationships" type="chevron" r:blip="">
                <dgm:adjLst>
                  <dgm:adj idx="1" val="0.4"/>
                </dgm:adjLst>
              </dgm:shape>
            </dgm:if>
            <dgm:else name="Name10">
              <dgm:shape xmlns:r="http://schemas.openxmlformats.org/officeDocument/2006/relationships" rot="180" type="chevron" r:blip="">
                <dgm:adjLst>
                  <dgm:adj idx="1" val="0.4"/>
                </dgm:adjLst>
              </dgm:shape>
            </dgm:else>
          </dgm:choose>
          <dgm:presOf/>
          <dgm:constrLst/>
        </dgm:layoutNode>
        <dgm:layoutNode name="txNode" styleLbl="fgAcc1">
          <dgm:varLst>
            <dgm:bulletEnabled val="1"/>
          </dgm:varLst>
          <dgm:alg type="tx"/>
          <dgm:shape xmlns:r="http://schemas.openxmlformats.org/officeDocument/2006/relationships" type="roundRect" r:blip="">
            <dgm:adjLst>
              <dgm:adj idx="1" val="0.1"/>
            </dgm:adjLst>
          </dgm:shape>
          <dgm:presOf axis="desOrSelf" ptType="node"/>
          <dgm:ruleLst>
            <dgm:rule type="primFontSz" val="5" fact="NaN" max="NaN"/>
          </dgm:ruleLst>
        </dgm:layoutNode>
      </dgm:layoutNode>
      <dgm:forEach name="Name11" axis="followSib" ptType="sibTrans" cnt="1">
        <dgm:layoutNode name="compositeSpace">
          <dgm:alg type="sp"/>
          <dgm:shape xmlns:r="http://schemas.openxmlformats.org/officeDocument/2006/relationships" r:blip="">
            <dgm:adjLst/>
          </dgm:shape>
          <dgm:presOf axis="sel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chevronAccent+Icon">
  <dgm:title val="Chevron Accent Process"/>
  <dgm:desc val="Use to show sequential steps in a task, process, or workflow, or to emphasize movement or direction. Works best with minimal Level 1 and Level 2 text."/>
  <dgm:catLst>
    <dgm:cat type="process" pri="9500"/>
    <dgm:cat type="officeonline" pri="2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primFontSz" for="des" forName="txNode" op="equ" val="65"/>
      <dgm:constr type="w" for="ch" forName="compositeSpace" refType="w" refFor="ch" refForName="composite" fact="0.02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bgChev"/>
              <dgm:constr type="w" for="ch" forName="bgChev" refType="w" fact="0.9"/>
              <dgm:constr type="t" for="ch" forName="bgChev"/>
              <dgm:constr type="h" for="ch" forName="bgChev" refType="w" refFor="ch" refForName="bgChev" fact="0.386"/>
              <dgm:constr type="l" for="ch" forName="txNode" refType="w" fact="0.24"/>
              <dgm:constr type="w" for="ch" forName="txNode" refType="w" fact="0.76"/>
              <dgm:constr type="t" for="ch" forName="txNode" refType="h" refFor="ch" refForName="bgChev" fact="0.25"/>
              <dgm:constr type="h" for="ch" forName="txNode" refType="h" refFor="ch" refForName="bgChev"/>
            </dgm:constrLst>
          </dgm:if>
          <dgm:else name="Name7">
            <dgm:constrLst>
              <dgm:constr type="l" for="ch" forName="bgChev" refType="w" fact="0.1"/>
              <dgm:constr type="w" for="ch" forName="bgChev" refType="w" fact="0.9"/>
              <dgm:constr type="t" for="ch" forName="bgChev"/>
              <dgm:constr type="h" for="ch" forName="bgChev" refType="w" refFor="ch" refForName="bgChev" fact="0.386"/>
              <dgm:constr type="l" for="ch" forName="txNode"/>
              <dgm:constr type="w" for="ch" forName="txNode" refType="w" fact="0.76"/>
              <dgm:constr type="t" for="ch" forName="txNode" refType="h" refFor="ch" refForName="bgChev" fact="0.25"/>
              <dgm:constr type="h" for="ch" forName="txNode" refType="h" refFor="ch" refForName="bgChev"/>
            </dgm:constrLst>
          </dgm:else>
        </dgm:choose>
        <dgm:ruleLst/>
        <dgm:layoutNode name="bgChev" styleLbl="node1">
          <dgm:alg type="sp"/>
          <dgm:choose name="Name8">
            <dgm:if name="Name9" func="var" arg="dir" op="equ" val="norm">
              <dgm:shape xmlns:r="http://schemas.openxmlformats.org/officeDocument/2006/relationships" type="chevron" r:blip="">
                <dgm:adjLst>
                  <dgm:adj idx="1" val="0.4"/>
                </dgm:adjLst>
              </dgm:shape>
            </dgm:if>
            <dgm:else name="Name10">
              <dgm:shape xmlns:r="http://schemas.openxmlformats.org/officeDocument/2006/relationships" rot="180" type="chevron" r:blip="">
                <dgm:adjLst>
                  <dgm:adj idx="1" val="0.4"/>
                </dgm:adjLst>
              </dgm:shape>
            </dgm:else>
          </dgm:choose>
          <dgm:presOf/>
          <dgm:constrLst/>
        </dgm:layoutNode>
        <dgm:layoutNode name="txNode" styleLbl="fgAcc1">
          <dgm:varLst>
            <dgm:bulletEnabled val="1"/>
          </dgm:varLst>
          <dgm:alg type="tx"/>
          <dgm:shape xmlns:r="http://schemas.openxmlformats.org/officeDocument/2006/relationships" type="roundRect" r:blip="">
            <dgm:adjLst>
              <dgm:adj idx="1" val="0.1"/>
            </dgm:adjLst>
          </dgm:shape>
          <dgm:presOf axis="desOrSelf" ptType="node"/>
          <dgm:ruleLst>
            <dgm:rule type="primFontSz" val="5" fact="NaN" max="NaN"/>
          </dgm:ruleLst>
        </dgm:layoutNode>
      </dgm:layoutNode>
      <dgm:forEach name="Name11" axis="followSib" ptType="sibTrans" cnt="1">
        <dgm:layoutNode name="compositeSpace">
          <dgm:alg type="sp"/>
          <dgm:shape xmlns:r="http://schemas.openxmlformats.org/officeDocument/2006/relationships" r:blip="">
            <dgm:adjLst/>
          </dgm:shape>
          <dgm:presOf axis="sel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pyramid3">
  <dgm:title val=""/>
  <dgm:desc val=""/>
  <dgm:catLst>
    <dgm:cat type="pyramid" pri="2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T"/>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T"/>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rev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t"/>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6.xml><?xml version="1.0" encoding="utf-8"?>
<dgm:layoutDef xmlns:dgm="http://schemas.openxmlformats.org/drawingml/2006/diagram" xmlns:a="http://schemas.openxmlformats.org/drawingml/2006/main" uniqueId="urn:microsoft.com/office/officeart/2005/8/layout/StepDownProcess">
  <dgm:title val=""/>
  <dgm:desc val=""/>
  <dgm:catLst>
    <dgm:cat type="process" pri="1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tL"/>
          <dgm:param type="flowDir" val="row"/>
          <dgm:param type="off" val="off"/>
          <dgm:param type="bkpt" val="fixed"/>
          <dgm:param type="bkPtFixedVal" val="1"/>
        </dgm:alg>
      </dgm:if>
      <dgm:else name="Name2">
        <dgm:alg type="snake">
          <dgm:param type="grDir" val="tR"/>
          <dgm:param type="flowDir" val="row"/>
          <dgm:param type="off" val="off"/>
          <dgm:param type="bkpt" val="fixed"/>
          <dgm:param type="bkPtFixedVal" val="1"/>
        </dgm:alg>
      </dgm:else>
    </dgm:choose>
    <dgm:shape xmlns:r="http://schemas.openxmlformats.org/officeDocument/2006/relationships" r:blip="">
      <dgm:adjLst/>
    </dgm:shape>
    <dgm:choose name="Name3">
      <dgm:if name="Name4" func="var" arg="dir" op="equ" val="norm">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if>
      <dgm:else name="Name5">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else>
    </dgm:choose>
    <dgm:forEach name="nodesForEach" axis="ch" ptType="node">
      <dgm:layoutNode name="composite">
        <dgm:alg type="composite">
          <dgm:param type="ar" val="1.2439"/>
        </dgm:alg>
        <dgm:shape xmlns:r="http://schemas.openxmlformats.org/officeDocument/2006/relationships" r:blip="">
          <dgm:adjLst/>
        </dgm:shape>
        <dgm:choose name="Name6">
          <dgm:if name="Name7" func="var" arg="dir" op="equ" val="norm">
            <dgm:constrLst>
              <dgm:constr type="l" for="ch" forName="bentUpArrow1" refType="w" fact="0.07"/>
              <dgm:constr type="t" for="ch" forName="bentUpArrow1" refType="h" fact="0.524"/>
              <dgm:constr type="w" for="ch" forName="bentUpArrow1" refType="w" fact="0.3844"/>
              <dgm:constr type="h" for="ch" forName="bentUpArrow1" refType="h" fact="0.42"/>
              <dgm:constr type="l" for="ch" forName="ParentText" refType="w" fact="0"/>
              <dgm:constr type="t" for="ch" forName="ParentText" refType="h" fact="0"/>
              <dgm:constr type="w" for="ch" forName="ParentText" refType="w" fact="0.5684"/>
              <dgm:constr type="h" for="ch" forName="ParentText" refType="h" fact="0.4949"/>
              <dgm:constr type="l" for="ch" forName="ChildText" refType="w" refFor="ch" refForName="ParentText"/>
              <dgm:constr type="t" for="ch" forName="ChildText" refType="h" fact="0.05"/>
              <dgm:constr type="w" for="ch" forName="ChildText" refType="w" fact="0.4134"/>
              <dgm:constr type="h" for="ch" forName="ChildText" refType="h" fact="0.4"/>
              <dgm:constr type="l" for="ch" forName="FinalChildText" refType="w" refFor="ch" refForName="ParentText"/>
              <dgm:constr type="t" for="ch" forName="FinalChildText" refType="h" fact="0.05"/>
              <dgm:constr type="w" for="ch" forName="FinalChildText" refType="w" fact="0.4134"/>
              <dgm:constr type="h" for="ch" forName="FinalChildText" refType="h" fact="0.4"/>
            </dgm:constrLst>
          </dgm:if>
          <dgm:else name="Name8">
            <dgm:constrLst>
              <dgm:constr type="r" for="ch" forName="bentUpArrow1" refType="w" fact="0.97"/>
              <dgm:constr type="t" for="ch" forName="bentUpArrow1" refType="h" fact="0.524"/>
              <dgm:constr type="w" for="ch" forName="bentUpArrow1" refType="w" fact="0.3844"/>
              <dgm:constr type="h" for="ch" forName="bentUpArrow1" refType="h" fact="0.42"/>
              <dgm:constr type="l" for="ch" forName="ParentText" refType="w" fact="0.4316"/>
              <dgm:constr type="t" for="ch" forName="ParentText" refType="h" fact="0"/>
              <dgm:constr type="w" for="ch" forName="ParentText" refType="w" fact="0.5684"/>
              <dgm:constr type="h" for="ch" forName="ParentText" refType="h" fact="0.4949"/>
              <dgm:constr type="l" for="ch" forName="ChildText" refType="w" fact="0"/>
              <dgm:constr type="t" for="ch" forName="ChildText" refType="h" fact="0.05"/>
              <dgm:constr type="w" for="ch" forName="ChildText" refType="w" fact="0.4134"/>
              <dgm:constr type="h" for="ch" forName="ChildText" refType="h" fact="0.4"/>
              <dgm:constr type="l" for="ch" forName="FinalChildText" refType="w" fact="0"/>
              <dgm:constr type="t" for="ch" forName="FinalChildText" refType="h" fact="0.05"/>
              <dgm:constr type="w" for="ch" forName="FinalChildText" refType="w" fact="0.4134"/>
              <dgm:constr type="h" for="ch" forName="FinalChildText" refType="h" fact="0.4"/>
            </dgm:constrLst>
          </dgm:else>
        </dgm:choose>
        <dgm:choose name="Name9">
          <dgm:if name="Name10" axis="followSib" ptType="node" func="cnt" op="gte" val="1">
            <dgm:layoutNode name="bentUpArrow1" styleLbl="alignImgPlace1">
              <dgm:alg type="sp"/>
              <dgm:choose name="Name11">
                <dgm:if name="Name12" func="var" arg="dir" op="equ" val="norm">
                  <dgm:shape xmlns:r="http://schemas.openxmlformats.org/officeDocument/2006/relationships" rot="90" type="bentUpArrow" r:blip="">
                    <dgm:adjLst>
                      <dgm:adj idx="1" val="0.3284"/>
                      <dgm:adj idx="2" val="0.25"/>
                      <dgm:adj idx="3" val="0.3578"/>
                    </dgm:adjLst>
                  </dgm:shape>
                </dgm:if>
                <dgm:else name="Name13">
                  <dgm:shape xmlns:r="http://schemas.openxmlformats.org/officeDocument/2006/relationships" rot="180" type="bentArrow" r:blip="">
                    <dgm:adjLst>
                      <dgm:adj idx="1" val="0.3284"/>
                      <dgm:adj idx="2" val="0.25"/>
                      <dgm:adj idx="3" val="0.3578"/>
                      <dgm:adj idx="4" val="0"/>
                    </dgm:adjLst>
                  </dgm:shape>
                </dgm:else>
              </dgm:choose>
              <dgm:presOf/>
            </dgm:layoutNode>
          </dgm:if>
          <dgm:else name="Name14"/>
        </dgm:choose>
        <dgm:layoutNode name="ParentText" styleLbl="node1">
          <dgm:varLst>
            <dgm:chMax val="1"/>
            <dgm:chPref val="1"/>
            <dgm:bulletEnabled val="1"/>
          </dgm:varLst>
          <dgm:alg type="tx"/>
          <dgm:shape xmlns:r="http://schemas.openxmlformats.org/officeDocument/2006/relationships" type="roundRect" r:blip="">
            <dgm:adjLst>
              <dgm:adj idx="1" val="0.166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15">
          <dgm:if name="Name16" axis="followSib" ptType="node" func="cnt" op="equ" val="0">
            <dgm:choose name="Name17">
              <dgm:if name="Name18" axis="ch" ptType="node" func="cnt" op="gte" val="1">
                <dgm:layoutNode name="Final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9"/>
            </dgm:choose>
          </dgm:if>
          <dgm:else name="Name20">
            <dgm:layoutNode name="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layout8.xml><?xml version="1.0" encoding="utf-8"?>
<dgm:layoutDef xmlns:dgm="http://schemas.openxmlformats.org/drawingml/2006/diagram" xmlns:a="http://schemas.openxmlformats.org/drawingml/2006/main" uniqueId="urn:microsoft.com/office/officeart/2005/8/layout/bList2">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10.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11.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2.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11/layout/HexagonRadial">
  <dgm:title val="Hexagon Radial"/>
  <dgm:desc val="Use to show a sequential process that relates to a central idea or theme. Limited to six Level 2 shapes. Works best with small amounts of text. Unused text does not appear, but remains available if you switch layouts."/>
  <dgm:catLst>
    <dgm:cat type="cycle" pri="8500"/>
    <dgm:cat type="officeonline" pri="9000"/>
  </dgm:catLst>
  <dgm:sampData>
    <dgm:dataModel>
      <dgm:ptLst>
        <dgm:pt modelId="0" type="doc"/>
        <dgm:pt modelId="10">
          <dgm:prSet phldr="1"/>
        </dgm:pt>
        <dgm:pt modelId="11">
          <dgm:prSet phldr="1"/>
        </dgm:pt>
        <dgm:pt modelId="12">
          <dgm:prSet phldr="1"/>
        </dgm:pt>
        <dgm:pt modelId="13">
          <dgm:prSet phldr="1"/>
        </dgm:pt>
        <dgm:pt modelId="14">
          <dgm:prSet phldr="1"/>
        </dgm:pt>
        <dgm:pt modelId="15">
          <dgm:prSet phldr="1"/>
        </dgm:pt>
        <dgm:pt modelId="16">
          <dgm:prSet phldr="1"/>
        </dgm:pt>
      </dgm:ptLst>
      <dgm:cxnLst>
        <dgm:cxn modelId="40" srcId="0" destId="10" srcOrd="0" destOrd="0"/>
        <dgm:cxn modelId="50" srcId="10" destId="11" srcOrd="0" destOrd="0"/>
        <dgm:cxn modelId="60" srcId="10" destId="12" srcOrd="0" destOrd="0"/>
        <dgm:cxn modelId="70" srcId="10" destId="13" srcOrd="0" destOrd="0"/>
        <dgm:cxn modelId="80" srcId="10" destId="14" srcOrd="0" destOrd="0"/>
        <dgm:cxn modelId="90" srcId="10" destId="15" srcOrd="0" destOrd="0"/>
        <dgm:cxn modelId="100" srcId="10" destId="16" srcOrd="0" destOrd="0"/>
      </dgm:cxnLst>
      <dgm:bg/>
      <dgm:whole/>
    </dgm:dataModel>
  </dgm:sampData>
  <dgm:styleData>
    <dgm:dataModel>
      <dgm:ptLst>
        <dgm:pt modelId="0" type="doc"/>
        <dgm:pt modelId="10">
          <dgm:prSet phldr="1"/>
        </dgm:pt>
        <dgm:pt modelId="11">
          <dgm:prSet phldr="1"/>
        </dgm:pt>
        <dgm:pt modelId="12">
          <dgm:prSet phldr="1"/>
        </dgm:pt>
        <dgm:pt modelId="13">
          <dgm:prSet phldr="1"/>
        </dgm:pt>
      </dgm:ptLst>
      <dgm:cxnLst>
        <dgm:cxn modelId="40" srcId="0" destId="10" srcOrd="0" destOrd="0"/>
        <dgm:cxn modelId="50" srcId="10" destId="11" srcOrd="0" destOrd="0"/>
        <dgm:cxn modelId="60" srcId="10" destId="12" srcOrd="0" destOrd="0"/>
        <dgm:cxn modelId="70" srcId="10" destId="13" srcOrd="0"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 modelId="15">
          <dgm:prSet phldr="1"/>
        </dgm:pt>
        <dgm:pt modelId="16">
          <dgm:prSet phldr="1"/>
        </dgm:pt>
      </dgm:ptLst>
      <dgm:cxnLst>
        <dgm:cxn modelId="40" srcId="0" destId="10" srcOrd="0" destOrd="0"/>
        <dgm:cxn modelId="50" srcId="10" destId="11" srcOrd="0" destOrd="0"/>
        <dgm:cxn modelId="60" srcId="10" destId="12" srcOrd="0" destOrd="0"/>
        <dgm:cxn modelId="70" srcId="10" destId="13" srcOrd="0" destOrd="0"/>
        <dgm:cxn modelId="80" srcId="10" destId="14" srcOrd="0" destOrd="0"/>
        <dgm:cxn modelId="90" srcId="10" destId="15" srcOrd="0" destOrd="0"/>
        <dgm:cxn modelId="100" srcId="10" destId="16" srcOrd="0" destOrd="0"/>
      </dgm:cxnLst>
      <dgm:bg/>
      <dgm:whole/>
    </dgm:dataModel>
  </dgm:clrData>
  <dgm:layoutNode name="Name0">
    <dgm:varLst>
      <dgm:chMax val="1"/>
      <dgm:chPref val="1"/>
      <dgm:dir/>
      <dgm:animOne val="branch"/>
      <dgm:animLvl val="lvl"/>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156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lte" val="1">
            <dgm:alg type="composite">
              <dgm:param type="ar" val="1.368"/>
            </dgm:alg>
            <dgm:constrLst>
              <dgm:constr type="primFontSz" for="des" forName="Parent" val="65"/>
              <dgm:constr type="primFontSz" for="des" forName="Child1" val="65"/>
              <dgm:constr type="primFontSz" for="des" forName="Child1" refType="primFontSz" refFor="des" refForName="Parent" op="lte"/>
              <dgm:constr type="l" for="ch" forName="Accent1" refType="w" fact="0.1685"/>
              <dgm:constr type="t" for="ch" forName="Accent1" refType="h" fact="0.2946"/>
              <dgm:constr type="w" for="ch" forName="Accent1" refType="w" fact="0.462"/>
              <dgm:constr type="h" for="ch" forName="Accent1" refType="h" fact="0.5472"/>
              <dgm:constr type="l" for="ch" forName="Parent" refType="w" fact="0"/>
              <dgm:constr type="t" for="ch" forName="Parent" refType="h" fact="0.2885"/>
              <dgm:constr type="w" for="ch" forName="Parent" refType="w" fact="0.6013"/>
              <dgm:constr type="h" for="ch" forName="Parent" refType="h" fact="0.7115"/>
              <dgm:constr type="l" for="ch" forName="Child1" refType="w" fact="0.5073"/>
              <dgm:constr type="t" for="ch" forName="Child1" refType="h" fact="0"/>
              <dgm:constr type="w" for="ch" forName="Child1" refType="w" fact="0.4927"/>
              <dgm:constr type="h" for="ch" forName="Child1" refType="h" fact="0.5831"/>
            </dgm:constrLst>
          </dgm:if>
          <dgm:if name="Name6" axis="ch ch" ptType="node node" st="1 1" cnt="1 0" func="cnt" op="equ" val="2">
            <dgm:alg type="composite">
              <dgm:param type="ar" val="1.0619"/>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2" refType="w" fact="0.6413"/>
              <dgm:constr type="t" for="ch" forName="Accent2" refType="h" fact="0.3477"/>
              <dgm:constr type="w" for="ch" forName="Accent2" refType="w" fact="0.2269"/>
              <dgm:constr type="h" for="ch" forName="Accent2" refType="h" fact="0.2076"/>
              <dgm:constr type="l" for="ch" forName="Accent1" refType="w" fact="0"/>
              <dgm:constr type="t" for="ch" forName="Accent1" refType="h" fact="0"/>
              <dgm:constr type="w" for="ch" forName="Accent1" refType="w" fact="0"/>
              <dgm:constr type="h" for="ch" forName="Accent1" refType="h" fact="0"/>
              <dgm:constr type="l" for="ch" forName="Parent" refType="w" fact="0"/>
              <dgm:constr type="t" for="ch" forName="Parent" refType="h" fact="0.2239"/>
              <dgm:constr type="w" for="ch" forName="Parent" refType="w" fact="0.6013"/>
              <dgm:constr type="h" for="ch" forName="Parent" refType="h" fact="0.5523"/>
              <dgm:constr type="l" for="ch" forName="Child1" refType="w" fact="0.5073"/>
              <dgm:constr type="t" for="ch" forName="Child1" refType="h" fact="0"/>
              <dgm:constr type="w" for="ch" forName="Child1" refType="w" fact="0.4927"/>
              <dgm:constr type="h" for="ch" forName="Child1" refType="h" fact="0.4527"/>
              <dgm:constr type="l" for="ch" forName="Child2" refType="w" fact="0.5073"/>
              <dgm:constr type="t" for="ch" forName="Child2" refType="h" fact="0.5473"/>
              <dgm:constr type="w" for="ch" forName="Child2" refType="w" fact="0.4927"/>
              <dgm:constr type="h" for="ch" forName="Child2" refType="h" fact="0.4527"/>
            </dgm:constrLst>
          </dgm:if>
          <dgm:if name="Name7" axis="ch ch" ptType="node node" st="1 1" cnt="1 0" func="cnt" op="equ" val="3">
            <dgm:alg type="composite">
              <dgm:param type="ar" val="0.8305"/>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3" refType="w" fact="0.4573"/>
              <dgm:constr type="t" for="ch" forName="Accent3" refType="h" fact="0.6145"/>
              <dgm:constr type="w" for="ch" forName="Accent3" refType="w" fact="0.2269"/>
              <dgm:constr type="h" for="ch" forName="Accent3" refType="h" fact="0.1623"/>
              <dgm:constr type="l" for="ch" forName="Accent2" refType="w" fact="0.6413"/>
              <dgm:constr type="t" for="ch" forName="Accent2" refType="h" fact="0.2719"/>
              <dgm:constr type="w" for="ch" forName="Accent2" refType="w" fact="0.2269"/>
              <dgm:constr type="h" for="ch" forName="Accent2" refType="h" fact="0.1623"/>
              <dgm:constr type="l" for="ch" forName="Accent1" refType="w" fact="0"/>
              <dgm:constr type="t" for="ch" forName="Accent1" refType="h" fact="0"/>
              <dgm:constr type="w" for="ch" forName="Accent1" refType="w" fact="0"/>
              <dgm:constr type="h" for="ch" forName="Accent1" refType="h" fact="0"/>
              <dgm:constr type="l" for="ch" forName="Child3" refType="w" fact="0.0554"/>
              <dgm:constr type="t" for="ch" forName="Child3" refType="h" fact="0.646"/>
              <dgm:constr type="w" for="ch" forName="Child3" refType="w" fact="0.4927"/>
              <dgm:constr type="h" for="ch" forName="Child3" refType="h" fact="0.354"/>
              <dgm:constr type="l" for="ch" forName="Parent" refType="w" fact="0"/>
              <dgm:constr type="t" for="ch" forName="Parent" refType="h" fact="0.1751"/>
              <dgm:constr type="w" for="ch" forName="Parent" refType="w" fact="0.6013"/>
              <dgm:constr type="h" for="ch" forName="Parent" refType="h" fact="0.4319"/>
              <dgm:constr type="l" for="ch" forName="Child1" refType="w" fact="0.5073"/>
              <dgm:constr type="t" for="ch" forName="Child1" refType="h" fact="0"/>
              <dgm:constr type="w" for="ch" forName="Child1" refType="w" fact="0.4927"/>
              <dgm:constr type="h" for="ch" forName="Child1" refType="h" fact="0.354"/>
              <dgm:constr type="l" for="ch" forName="Child2" refType="w" fact="0.5073"/>
              <dgm:constr type="t" for="ch" forName="Child2" refType="h" fact="0.428"/>
              <dgm:constr type="w" for="ch" forName="Child2" refType="w" fact="0.4927"/>
              <dgm:constr type="h" for="ch" forName="Child2" refType="h" fact="0.354"/>
            </dgm:constrLst>
          </dgm:if>
          <dgm:if name="Name8" axis="ch ch" ptType="node node" st="1 1" cnt="1 0" func="cnt" op="equ" val="4">
            <dgm:alg type="composite">
              <dgm:param type="ar" val="0.682"/>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4" refType="w" fact="0.4573"/>
              <dgm:constr type="t" for="ch" forName="Accent4" refType="h" fact="0.6834"/>
              <dgm:constr type="w" for="ch" forName="Accent4" refType="w" fact="0.2269"/>
              <dgm:constr type="h" for="ch" forName="Accent4" refType="h" fact="0.1333"/>
              <dgm:constr type="l" for="ch" forName="Accent3" refType="w" fact="0.6413"/>
              <dgm:constr type="t" for="ch" forName="Accent3" refType="h" fact="0.4021"/>
              <dgm:constr type="w" for="ch" forName="Accent3" refType="w" fact="0.2269"/>
              <dgm:constr type="h" for="ch" forName="Accent3" refType="h" fact="0.1333"/>
              <dgm:constr type="l" for="ch" forName="Accent2" refType="w" fact="0.3765"/>
              <dgm:constr type="t" for="ch" forName="Accent2" refType="h" fact="0.1529"/>
              <dgm:constr type="w" for="ch" forName="Accent2" refType="w" fact="0.2269"/>
              <dgm:constr type="h" for="ch" forName="Accent2" refType="h" fact="0.1333"/>
              <dgm:constr type="l" for="ch" forName="Accent1" refType="w" fact="0"/>
              <dgm:constr type="t" for="ch" forName="Accent1" refType="h" fact="0"/>
              <dgm:constr type="w" for="ch" forName="Accent1" refType="w" fact="0"/>
              <dgm:constr type="h" for="ch" forName="Accent1" refType="h" fact="0"/>
              <dgm:constr type="l" for="ch" forName="Child4" refType="w" fact="0.0554"/>
              <dgm:constr type="t" for="ch" forName="Child4" refType="h" fact="0.7093"/>
              <dgm:constr type="w" for="ch" forName="Child4" refType="w" fact="0.4927"/>
              <dgm:constr type="h" for="ch" forName="Child4" refType="h" fact="0.2907"/>
              <dgm:constr type="l" for="ch" forName="Parent" refType="w" fact="0"/>
              <dgm:constr type="t" for="ch" forName="Parent" refType="h" fact="0.3226"/>
              <dgm:constr type="w" for="ch" forName="Parent" refType="w" fact="0.6013"/>
              <dgm:constr type="h" for="ch" forName="Parent" refType="h" fact="0.3547"/>
              <dgm:constr type="l" for="ch" forName="Child2" refType="w" fact="0.5073"/>
              <dgm:constr type="t" for="ch" forName="Child2" refType="h" fact="0.1788"/>
              <dgm:constr type="w" for="ch" forName="Child2" refType="w" fact="0.4927"/>
              <dgm:constr type="h" for="ch" forName="Child2" refType="h" fact="0.2907"/>
              <dgm:constr type="l" for="ch" forName="Child3" refType="w" fact="0.5073"/>
              <dgm:constr type="t" for="ch" forName="Child3" refType="h" fact="0.5303"/>
              <dgm:constr type="w" for="ch" forName="Child3" refType="w" fact="0.4927"/>
              <dgm:constr type="h" for="ch" forName="Child3" refType="h" fact="0.2907"/>
              <dgm:constr type="l" for="ch" forName="Child1" refType="w" fact="0.0554"/>
              <dgm:constr type="t" for="ch" forName="Child1" refType="h" fact="0"/>
              <dgm:constr type="w" for="ch" forName="Child1" refType="w" fact="0.4927"/>
              <dgm:constr type="h" for="ch" forName="Child1" refType="h" fact="0.2907"/>
            </dgm:constrLst>
          </dgm:if>
          <dgm:if name="Name9" axis="ch ch" ptType="node node" st="1 1" cnt="1 0" func="cnt" op="equ" val="5">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5" refType="w" fact="0.2858"/>
              <dgm:constr type="t" for="ch" forName="Accent5" refType="h" fact="0.7126"/>
              <dgm:constr type="w" for="ch" forName="Accent5" refType="w" fact="0.1622"/>
              <dgm:constr type="h" for="ch" forName="Accent5" refType="h" fact="0.1333"/>
              <dgm:constr type="l" for="ch" forName="Accent4" refType="w" fact="0.612"/>
              <dgm:constr type="t" for="ch" forName="Accent4" refType="h" fact="0.6834"/>
              <dgm:constr type="w" for="ch" forName="Accent4" refType="w" fact="0.1622"/>
              <dgm:constr type="h" for="ch" forName="Accent4" refType="h" fact="0.1333"/>
              <dgm:constr type="l" for="ch" forName="Accent3" refType="w" fact="0.7435"/>
              <dgm:constr type="t" for="ch" forName="Accent3" refType="h" fact="0.4021"/>
              <dgm:constr type="w" for="ch" forName="Accent3" refType="w" fact="0.1622"/>
              <dgm:constr type="h" for="ch" forName="Accent3" refType="h" fact="0.1333"/>
              <dgm:constr type="l" for="ch" forName="Accent2" refType="w" fact="0.5542"/>
              <dgm:constr type="t" for="ch" forName="Accent2" refType="h" fact="0.1529"/>
              <dgm:constr type="w" for="ch" forName="Accent2" refType="w" fact="0.1622"/>
              <dgm:constr type="h" for="ch" forName="Accent2" refType="h" fact="0.1333"/>
              <dgm:constr type="l" for="ch" forName="Accent1" refType="w" fact="0"/>
              <dgm:constr type="t" for="ch" forName="Accent1" refType="h" fact="0"/>
              <dgm:constr type="w" for="ch" forName="Accent1" refType="w" fact="0"/>
              <dgm:constr type="h" for="ch" forName="Accent1" refType="h" fact="0"/>
              <dgm:constr type="l" for="ch" forName="Child4" refType="w" fact="0.3246"/>
              <dgm:constr type="t" for="ch" forName="Child4" refType="h" fact="0.7093"/>
              <dgm:constr type="w" for="ch" forName="Child4" refType="w" fact="0.3523"/>
              <dgm:constr type="h" for="ch" forName="Child4" refType="h" fact="0.2907"/>
              <dgm:constr type="l" for="ch" forName="Parent" refType="w" fact="0.285"/>
              <dgm:constr type="t" for="ch" forName="Parent" refType="h" fact="0.3226"/>
              <dgm:constr type="w" for="ch" forName="Parent" refType="w" fact="0.4299"/>
              <dgm:constr type="h" for="ch" forName="Parent" refType="h" fact="0.3547"/>
              <dgm:constr type="l" for="ch" forName="Child2" refType="w" fact="0.6477"/>
              <dgm:constr type="t" for="ch" forName="Child2" refType="h" fact="0.1788"/>
              <dgm:constr type="w" for="ch" forName="Child2" refType="w" fact="0.3523"/>
              <dgm:constr type="h" for="ch" forName="Child2" refType="h" fact="0.2907"/>
              <dgm:constr type="l" for="ch" forName="Child3" refType="w" fact="0.6477"/>
              <dgm:constr type="t" for="ch" forName="Child3" refType="h" fact="0.5303"/>
              <dgm:constr type="w" for="ch" forName="Child3" refType="w" fact="0.3523"/>
              <dgm:constr type="h" for="ch" forName="Child3" refType="h" fact="0.2907"/>
              <dgm:constr type="l" for="ch" forName="Child5" refType="w" fact="0"/>
              <dgm:constr type="t" for="ch" forName="Child5" refType="h" fact="0.5305"/>
              <dgm:constr type="w" for="ch" forName="Child5" refType="w" fact="0.3523"/>
              <dgm:constr type="h" for="ch" forName="Child5" refType="h" fact="0.2907"/>
              <dgm:constr type="l" for="ch" forName="Child1" refType="w" fact="0.3246"/>
              <dgm:constr type="t" for="ch" forName="Child1" refType="h" fact="0"/>
              <dgm:constr type="w" for="ch" forName="Child1" refType="w" fact="0.3523"/>
              <dgm:constr type="h" for="ch" forName="Child1" refType="h" fact="0.2907"/>
            </dgm:constrLst>
          </dgm:if>
          <dgm:else name="Name10">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6" refType="primFontSz" refFor="des" refForName="Parent" op="lte"/>
              <dgm:constr type="primFontSz" for="des" forName="Child7"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ptType="node" op="equ" val="65"/>
              <dgm:constr type="l" for="ch" forName="Accent6" refType="w" fact="0.0934"/>
              <dgm:constr type="t" for="ch" forName="Accent6" refType="h" fact="0.4635"/>
              <dgm:constr type="w" for="ch" forName="Accent6" refType="w" fact="0.1622"/>
              <dgm:constr type="h" for="ch" forName="Accent6" refType="h" fact="0.1333"/>
              <dgm:constr type="l" for="ch" forName="Accent5" refType="w" fact="0.2858"/>
              <dgm:constr type="t" for="ch" forName="Accent5" refType="h" fact="0.7126"/>
              <dgm:constr type="w" for="ch" forName="Accent5" refType="w" fact="0.1622"/>
              <dgm:constr type="h" for="ch" forName="Accent5" refType="h" fact="0.1333"/>
              <dgm:constr type="l" for="ch" forName="Accent4" refType="w" fact="0.612"/>
              <dgm:constr type="t" for="ch" forName="Accent4" refType="h" fact="0.6834"/>
              <dgm:constr type="w" for="ch" forName="Accent4" refType="w" fact="0.1622"/>
              <dgm:constr type="h" for="ch" forName="Accent4" refType="h" fact="0.1333"/>
              <dgm:constr type="l" for="ch" forName="Accent3" refType="w" fact="0.7435"/>
              <dgm:constr type="t" for="ch" forName="Accent3" refType="h" fact="0.4021"/>
              <dgm:constr type="w" for="ch" forName="Accent3" refType="w" fact="0.1622"/>
              <dgm:constr type="h" for="ch" forName="Accent3" refType="h" fact="0.1333"/>
              <dgm:constr type="l" for="ch" forName="Accent2" refType="w" fact="0.5542"/>
              <dgm:constr type="t" for="ch" forName="Accent2" refType="h" fact="0.1529"/>
              <dgm:constr type="w" for="ch" forName="Accent2" refType="w" fact="0.1622"/>
              <dgm:constr type="h" for="ch" forName="Accent2" refType="h" fact="0.1333"/>
              <dgm:constr type="l" for="ch" forName="Accent1" refType="w" fact="0"/>
              <dgm:constr type="t" for="ch" forName="Accent1" refType="h" fact="0"/>
              <dgm:constr type="w" for="ch" forName="Accent1" refType="w" fact="0"/>
              <dgm:constr type="h" for="ch" forName="Accent1" refType="h" fact="0"/>
              <dgm:constr type="l" for="ch" forName="Child4" refType="w" fact="0.3246"/>
              <dgm:constr type="t" for="ch" forName="Child4" refType="h" fact="0.7093"/>
              <dgm:constr type="w" for="ch" forName="Child4" refType="w" fact="0.3523"/>
              <dgm:constr type="h" for="ch" forName="Child4" refType="h" fact="0.2907"/>
              <dgm:constr type="l" for="ch" forName="Parent" refType="w" fact="0.285"/>
              <dgm:constr type="t" for="ch" forName="Parent" refType="h" fact="0.3226"/>
              <dgm:constr type="w" for="ch" forName="Parent" refType="w" fact="0.4299"/>
              <dgm:constr type="h" for="ch" forName="Parent" refType="h" fact="0.3547"/>
              <dgm:constr type="l" for="ch" forName="Child2" refType="w" fact="0.6477"/>
              <dgm:constr type="t" for="ch" forName="Child2" refType="h" fact="0.1788"/>
              <dgm:constr type="w" for="ch" forName="Child2" refType="w" fact="0.3523"/>
              <dgm:constr type="h" for="ch" forName="Child2" refType="h" fact="0.2907"/>
              <dgm:constr type="l" for="ch" forName="Child3" refType="w" fact="0.6477"/>
              <dgm:constr type="t" for="ch" forName="Child3" refType="h" fact="0.5303"/>
              <dgm:constr type="w" for="ch" forName="Child3" refType="w" fact="0.3523"/>
              <dgm:constr type="h" for="ch" forName="Child3" refType="h" fact="0.2907"/>
              <dgm:constr type="l" for="ch" forName="Child5" refType="w" fact="0"/>
              <dgm:constr type="t" for="ch" forName="Child5" refType="h" fact="0.5305"/>
              <dgm:constr type="w" for="ch" forName="Child5" refType="w" fact="0.3523"/>
              <dgm:constr type="h" for="ch" forName="Child5" refType="h" fact="0.2907"/>
              <dgm:constr type="l" for="ch" forName="Child6" refType="w" fact="0"/>
              <dgm:constr type="t" for="ch" forName="Child6" refType="h" fact="0.1784"/>
              <dgm:constr type="w" for="ch" forName="Child6" refType="w" fact="0.3523"/>
              <dgm:constr type="h" for="ch" forName="Child6" refType="h" fact="0.2907"/>
              <dgm:constr type="l" for="ch" forName="Child1" refType="w" fact="0.3246"/>
              <dgm:constr type="t" for="ch" forName="Child1" refType="h" fact="0"/>
              <dgm:constr type="w" for="ch" forName="Child1" refType="w" fact="0.3523"/>
              <dgm:constr type="h" for="ch" forName="Child1" refType="h" fact="0.2907"/>
            </dgm:constrLst>
          </dgm:else>
        </dgm:choose>
      </dgm:if>
      <dgm:else name="Name11">
        <dgm:choose name="Name12">
          <dgm:if name="Name13" axis="ch ch" ptType="node node" st="1 1" cnt="1 0" func="cnt" op="equ" val="0">
            <dgm:alg type="composite">
              <dgm:param type="ar" val="1.156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4" axis="ch ch" ptType="node node" st="1 1" cnt="1 0" func="cnt" op="lte" val="1">
            <dgm:alg type="composite">
              <dgm:param type="ar" val="1.368"/>
            </dgm:alg>
            <dgm:constrLst>
              <dgm:constr type="primFontSz" for="des" forName="Parent" val="65"/>
              <dgm:constr type="primFontSz" for="des" forName="Child1" val="65"/>
              <dgm:constr type="primFontSz" for="des" forName="Child1" refType="primFontSz" refFor="des" refForName="Parent" op="lte"/>
              <dgm:constr type="r" for="ch" forName="Accent1" refType="w" fact="0.8315"/>
              <dgm:constr type="t" for="ch" forName="Accent1" refType="h" fact="0.2946"/>
              <dgm:constr type="w" for="ch" forName="Accent1" refType="w" fact="0.462"/>
              <dgm:constr type="h" for="ch" forName="Accent1" refType="h" fact="0.5472"/>
              <dgm:constr type="r" for="ch" forName="Parent" refType="w"/>
              <dgm:constr type="t" for="ch" forName="Parent" refType="h" fact="0.2885"/>
              <dgm:constr type="w" for="ch" forName="Parent" refType="w" fact="0.6013"/>
              <dgm:constr type="h" for="ch" forName="Parent" refType="h" fact="0.7115"/>
              <dgm:constr type="r" for="ch" forName="Child1" refType="w" fact="0.4927"/>
              <dgm:constr type="t" for="ch" forName="Child1" refType="h" fact="0"/>
              <dgm:constr type="w" for="ch" forName="Child1" refType="w" fact="0.4927"/>
              <dgm:constr type="h" for="ch" forName="Child1" refType="h" fact="0.5831"/>
            </dgm:constrLst>
          </dgm:if>
          <dgm:if name="Name15" axis="ch ch" ptType="node node" st="1 1" cnt="1 0" func="cnt" op="equ" val="2">
            <dgm:alg type="composite">
              <dgm:param type="ar" val="1.0619"/>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2" refType="w" fact="0.3587"/>
              <dgm:constr type="t" for="ch" forName="Accent2" refType="h" fact="0.3477"/>
              <dgm:constr type="w" for="ch" forName="Accent2" refType="w" fact="0.2269"/>
              <dgm:constr type="h" for="ch" forName="Accent2" refType="h" fact="0.2076"/>
              <dgm:constr type="r" for="ch" forName="Accent1" refType="w" fact="0"/>
              <dgm:constr type="t" for="ch" forName="Accent1" refType="h" fact="0"/>
              <dgm:constr type="w" for="ch" forName="Accent1" refType="w" fact="0"/>
              <dgm:constr type="h" for="ch" forName="Accent1" refType="h" fact="0"/>
              <dgm:constr type="r" for="ch" forName="Parent" refType="w"/>
              <dgm:constr type="t" for="ch" forName="Parent" refType="h" fact="0.2239"/>
              <dgm:constr type="w" for="ch" forName="Parent" refType="w" fact="0.6013"/>
              <dgm:constr type="h" for="ch" forName="Parent" refType="h" fact="0.5523"/>
              <dgm:constr type="r" for="ch" forName="Child1" refType="w" fact="0.4927"/>
              <dgm:constr type="t" for="ch" forName="Child1" refType="h" fact="0"/>
              <dgm:constr type="w" for="ch" forName="Child1" refType="w" fact="0.4927"/>
              <dgm:constr type="h" for="ch" forName="Child1" refType="h" fact="0.4527"/>
              <dgm:constr type="r" for="ch" forName="Child2" refType="w" fact="0.5073"/>
              <dgm:constr type="t" for="ch" forName="Child2" refType="h" fact="0.5473"/>
              <dgm:constr type="w" for="ch" forName="Child2" refType="w" fact="0.4927"/>
              <dgm:constr type="h" for="ch" forName="Child2" refType="h" fact="0.4527"/>
            </dgm:constrLst>
          </dgm:if>
          <dgm:if name="Name16" axis="ch ch" ptType="node node" st="1 1" cnt="1 0" func="cnt" op="equ" val="3">
            <dgm:alg type="composite">
              <dgm:param type="ar" val="0.8305"/>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3" refType="w" fact="0.5427"/>
              <dgm:constr type="t" for="ch" forName="Accent3" refType="h" fact="0.6145"/>
              <dgm:constr type="w" for="ch" forName="Accent3" refType="w" fact="0.2269"/>
              <dgm:constr type="h" for="ch" forName="Accent3" refType="h" fact="0.1623"/>
              <dgm:constr type="r" for="ch" forName="Accent2" refType="w" fact="0.3587"/>
              <dgm:constr type="t" for="ch" forName="Accent2" refType="h" fact="0.2719"/>
              <dgm:constr type="w" for="ch" forName="Accent2" refType="w" fact="0.2269"/>
              <dgm:constr type="h" for="ch" forName="Accent2" refType="h" fact="0.1623"/>
              <dgm:constr type="r" for="ch" forName="Accent1" refType="w" fact="0"/>
              <dgm:constr type="t" for="ch" forName="Accent1" refType="h" fact="0"/>
              <dgm:constr type="w" for="ch" forName="Accent1" refType="w" fact="0"/>
              <dgm:constr type="h" for="ch" forName="Accent1" refType="h" fact="0"/>
              <dgm:constr type="r" for="ch" forName="Child3" refType="w" fact="0.9446"/>
              <dgm:constr type="t" for="ch" forName="Child3" refType="h" fact="0.646"/>
              <dgm:constr type="w" for="ch" forName="Child3" refType="w" fact="0.4927"/>
              <dgm:constr type="h" for="ch" forName="Child3" refType="h" fact="0.354"/>
              <dgm:constr type="r" for="ch" forName="Parent" refType="w"/>
              <dgm:constr type="t" for="ch" forName="Parent" refType="h" fact="0.1751"/>
              <dgm:constr type="w" for="ch" forName="Parent" refType="w" fact="0.6013"/>
              <dgm:constr type="h" for="ch" forName="Parent" refType="h" fact="0.4319"/>
              <dgm:constr type="r" for="ch" forName="Child1" refType="w" fact="0.4927"/>
              <dgm:constr type="t" for="ch" forName="Child1" refType="h" fact="0"/>
              <dgm:constr type="w" for="ch" forName="Child1" refType="w" fact="0.4927"/>
              <dgm:constr type="h" for="ch" forName="Child1" refType="h" fact="0.354"/>
              <dgm:constr type="r" for="ch" forName="Child2" refType="w" fact="0.4927"/>
              <dgm:constr type="t" for="ch" forName="Child2" refType="h" fact="0.428"/>
              <dgm:constr type="w" for="ch" forName="Child2" refType="w" fact="0.4927"/>
              <dgm:constr type="h" for="ch" forName="Child2" refType="h" fact="0.354"/>
            </dgm:constrLst>
          </dgm:if>
          <dgm:if name="Name17" axis="ch ch" ptType="node node" st="1 1" cnt="1 0" func="cnt" op="equ" val="4">
            <dgm:alg type="composite">
              <dgm:param type="ar" val="0.682"/>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4" refType="w" fact="0.5427"/>
              <dgm:constr type="t" for="ch" forName="Accent4" refType="h" fact="0.6834"/>
              <dgm:constr type="w" for="ch" forName="Accent4" refType="w" fact="0.2269"/>
              <dgm:constr type="h" for="ch" forName="Accent4" refType="h" fact="0.1333"/>
              <dgm:constr type="r" for="ch" forName="Accent3" refType="w" fact="0.3587"/>
              <dgm:constr type="t" for="ch" forName="Accent3" refType="h" fact="0.4021"/>
              <dgm:constr type="w" for="ch" forName="Accent3" refType="w" fact="0.2269"/>
              <dgm:constr type="h" for="ch" forName="Accent3" refType="h" fact="0.1333"/>
              <dgm:constr type="r" for="ch" forName="Accent2" refType="w" fact="0.6235"/>
              <dgm:constr type="t" for="ch" forName="Accent2" refType="h" fact="0.1529"/>
              <dgm:constr type="w" for="ch" forName="Accent2" refType="w" fact="0.2269"/>
              <dgm:constr type="h" for="ch" forName="Accent2" refType="h" fact="0.1333"/>
              <dgm:constr type="r" for="ch" forName="Accent1" refType="w" fact="0"/>
              <dgm:constr type="t" for="ch" forName="Accent1" refType="h" fact="0"/>
              <dgm:constr type="w" for="ch" forName="Accent1" refType="w" fact="0"/>
              <dgm:constr type="h" for="ch" forName="Accent1" refType="h" fact="0"/>
              <dgm:constr type="r" for="ch" forName="Child4" refType="w" fact="0.9446"/>
              <dgm:constr type="t" for="ch" forName="Child4" refType="h" fact="0.7093"/>
              <dgm:constr type="w" for="ch" forName="Child4" refType="w" fact="0.4927"/>
              <dgm:constr type="h" for="ch" forName="Child4" refType="h" fact="0.2907"/>
              <dgm:constr type="r" for="ch" forName="Parent" refType="w"/>
              <dgm:constr type="t" for="ch" forName="Parent" refType="h" fact="0.3226"/>
              <dgm:constr type="w" for="ch" forName="Parent" refType="w" fact="0.6013"/>
              <dgm:constr type="h" for="ch" forName="Parent" refType="h" fact="0.3547"/>
              <dgm:constr type="r" for="ch" forName="Child2" refType="w" fact="0.4927"/>
              <dgm:constr type="t" for="ch" forName="Child2" refType="h" fact="0.1788"/>
              <dgm:constr type="w" for="ch" forName="Child2" refType="w" fact="0.4927"/>
              <dgm:constr type="h" for="ch" forName="Child2" refType="h" fact="0.2907"/>
              <dgm:constr type="r" for="ch" forName="Child3" refType="w" fact="0.4927"/>
              <dgm:constr type="t" for="ch" forName="Child3" refType="h" fact="0.5303"/>
              <dgm:constr type="w" for="ch" forName="Child3" refType="w" fact="0.4927"/>
              <dgm:constr type="h" for="ch" forName="Child3" refType="h" fact="0.2907"/>
              <dgm:constr type="r" for="ch" forName="Child1" refType="w" fact="0.9446"/>
              <dgm:constr type="t" for="ch" forName="Child1" refType="h" fact="0"/>
              <dgm:constr type="w" for="ch" forName="Child1" refType="w" fact="0.4927"/>
              <dgm:constr type="h" for="ch" forName="Child1" refType="h" fact="0.2907"/>
            </dgm:constrLst>
          </dgm:if>
          <dgm:if name="Name18" axis="ch ch" ptType="node node" st="1 1" cnt="1 0" func="cnt" op="equ" val="5">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Accent5" refType="w" fact="0.7142"/>
              <dgm:constr type="t" for="ch" forName="Accent5" refType="h" fact="0.7126"/>
              <dgm:constr type="w" for="ch" forName="Accent5" refType="w" fact="0.1622"/>
              <dgm:constr type="h" for="ch" forName="Accent5" refType="h" fact="0.1333"/>
              <dgm:constr type="r" for="ch" forName="Accent4" refType="w" fact="0.388"/>
              <dgm:constr type="t" for="ch" forName="Accent4" refType="h" fact="0.6834"/>
              <dgm:constr type="w" for="ch" forName="Accent4" refType="w" fact="0.1622"/>
              <dgm:constr type="h" for="ch" forName="Accent4" refType="h" fact="0.1333"/>
              <dgm:constr type="r" for="ch" forName="Accent3" refType="w" fact="0.2565"/>
              <dgm:constr type="t" for="ch" forName="Accent3" refType="h" fact="0.4021"/>
              <dgm:constr type="w" for="ch" forName="Accent3" refType="w" fact="0.1622"/>
              <dgm:constr type="h" for="ch" forName="Accent3" refType="h" fact="0.1333"/>
              <dgm:constr type="r" for="ch" forName="Accent2" refType="w" fact="0.4458"/>
              <dgm:constr type="t" for="ch" forName="Accent2" refType="h" fact="0.1529"/>
              <dgm:constr type="w" for="ch" forName="Accent2" refType="w" fact="0.1622"/>
              <dgm:constr type="h" for="ch" forName="Accent2" refType="h" fact="0.1333"/>
              <dgm:constr type="r" for="ch" forName="Accent1" refType="w" fact="0"/>
              <dgm:constr type="t" for="ch" forName="Accent1" refType="h" fact="0"/>
              <dgm:constr type="w" for="ch" forName="Accent1" refType="w" fact="0"/>
              <dgm:constr type="h" for="ch" forName="Accent1" refType="h" fact="0"/>
              <dgm:constr type="r" for="ch" forName="Child4" refType="w" fact="0.6754"/>
              <dgm:constr type="t" for="ch" forName="Child4" refType="h" fact="0.7093"/>
              <dgm:constr type="w" for="ch" forName="Child4" refType="w" fact="0.3523"/>
              <dgm:constr type="h" for="ch" forName="Child4" refType="h" fact="0.2907"/>
              <dgm:constr type="r" for="ch" forName="Parent" refType="w" fact="0.715"/>
              <dgm:constr type="t" for="ch" forName="Parent" refType="h" fact="0.3226"/>
              <dgm:constr type="w" for="ch" forName="Parent" refType="w" fact="0.4299"/>
              <dgm:constr type="h" for="ch" forName="Parent" refType="h" fact="0.3547"/>
              <dgm:constr type="r" for="ch" forName="Child2" refType="w" fact="0.3523"/>
              <dgm:constr type="t" for="ch" forName="Child2" refType="h" fact="0.1788"/>
              <dgm:constr type="w" for="ch" forName="Child2" refType="w" fact="0.3523"/>
              <dgm:constr type="h" for="ch" forName="Child2" refType="h" fact="0.2907"/>
              <dgm:constr type="r" for="ch" forName="Child3" refType="w" fact="0.3523"/>
              <dgm:constr type="t" for="ch" forName="Child3" refType="h" fact="0.5303"/>
              <dgm:constr type="w" for="ch" forName="Child3" refType="w" fact="0.3523"/>
              <dgm:constr type="h" for="ch" forName="Child3" refType="h" fact="0.2907"/>
              <dgm:constr type="r" for="ch" forName="Child5" refType="w"/>
              <dgm:constr type="t" for="ch" forName="Child5" refType="h" fact="0.5305"/>
              <dgm:constr type="w" for="ch" forName="Child5" refType="w" fact="0.3523"/>
              <dgm:constr type="h" for="ch" forName="Child5" refType="h" fact="0.2907"/>
              <dgm:constr type="r" for="ch" forName="Child1" refType="w" fact="0.6754"/>
              <dgm:constr type="t" for="ch" forName="Child1" refType="h" fact="0"/>
              <dgm:constr type="w" for="ch" forName="Child1" refType="w" fact="0.3523"/>
              <dgm:constr type="h" for="ch" forName="Child1" refType="h" fact="0.2907"/>
            </dgm:constrLst>
          </dgm:if>
          <dgm:else name="Name19">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6" refType="primFontSz" refFor="des" refForName="Parent" op="lte"/>
              <dgm:constr type="primFontSz" for="des" forName="Child7"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ptType="node" op="equ" val="65"/>
              <dgm:constr type="r" for="ch" forName="Accent6" refType="w" fact="0.9066"/>
              <dgm:constr type="t" for="ch" forName="Accent6" refType="h" fact="0.4635"/>
              <dgm:constr type="w" for="ch" forName="Accent6" refType="w" fact="0.1622"/>
              <dgm:constr type="h" for="ch" forName="Accent6" refType="h" fact="0.1333"/>
              <dgm:constr type="r" for="ch" forName="Accent5" refType="w" fact="0.7142"/>
              <dgm:constr type="t" for="ch" forName="Accent5" refType="h" fact="0.7126"/>
              <dgm:constr type="w" for="ch" forName="Accent5" refType="w" fact="0.1622"/>
              <dgm:constr type="h" for="ch" forName="Accent5" refType="h" fact="0.1333"/>
              <dgm:constr type="r" for="ch" forName="Accent4" refType="w" fact="0.388"/>
              <dgm:constr type="t" for="ch" forName="Accent4" refType="h" fact="0.6834"/>
              <dgm:constr type="w" for="ch" forName="Accent4" refType="w" fact="0.1622"/>
              <dgm:constr type="h" for="ch" forName="Accent4" refType="h" fact="0.1333"/>
              <dgm:constr type="r" for="ch" forName="Accent3" refType="w" fact="0.2565"/>
              <dgm:constr type="t" for="ch" forName="Accent3" refType="h" fact="0.4021"/>
              <dgm:constr type="w" for="ch" forName="Accent3" refType="w" fact="0.1622"/>
              <dgm:constr type="h" for="ch" forName="Accent3" refType="h" fact="0.1333"/>
              <dgm:constr type="r" for="ch" forName="Accent2" refType="w" fact="0.4458"/>
              <dgm:constr type="t" for="ch" forName="Accent2" refType="h" fact="0.1529"/>
              <dgm:constr type="w" for="ch" forName="Accent2" refType="w" fact="0.1622"/>
              <dgm:constr type="h" for="ch" forName="Accent2" refType="h" fact="0.1333"/>
              <dgm:constr type="r" for="ch" forName="Accent1" refType="w" fact="0"/>
              <dgm:constr type="t" for="ch" forName="Accent1" refType="h" fact="0"/>
              <dgm:constr type="w" for="ch" forName="Accent1" refType="w" fact="0"/>
              <dgm:constr type="h" for="ch" forName="Accent1" refType="h" fact="0"/>
              <dgm:constr type="r" for="ch" forName="Child4" refType="w" fact="0.6754"/>
              <dgm:constr type="t" for="ch" forName="Child4" refType="h" fact="0.7093"/>
              <dgm:constr type="w" for="ch" forName="Child4" refType="w" fact="0.3523"/>
              <dgm:constr type="h" for="ch" forName="Child4" refType="h" fact="0.2907"/>
              <dgm:constr type="r" for="ch" forName="Parent" refType="w" fact="0.715"/>
              <dgm:constr type="t" for="ch" forName="Parent" refType="h" fact="0.3226"/>
              <dgm:constr type="w" for="ch" forName="Parent" refType="w" fact="0.4299"/>
              <dgm:constr type="h" for="ch" forName="Parent" refType="h" fact="0.3547"/>
              <dgm:constr type="r" for="ch" forName="Child2" refType="w" fact="0.3523"/>
              <dgm:constr type="t" for="ch" forName="Child2" refType="h" fact="0.1788"/>
              <dgm:constr type="w" for="ch" forName="Child2" refType="w" fact="0.3523"/>
              <dgm:constr type="h" for="ch" forName="Child2" refType="h" fact="0.2907"/>
              <dgm:constr type="r" for="ch" forName="Child3" refType="w" fact="0.3523"/>
              <dgm:constr type="t" for="ch" forName="Child3" refType="h" fact="0.5303"/>
              <dgm:constr type="w" for="ch" forName="Child3" refType="w" fact="0.3523"/>
              <dgm:constr type="h" for="ch" forName="Child3" refType="h" fact="0.2907"/>
              <dgm:constr type="r" for="ch" forName="Child5" refType="w"/>
              <dgm:constr type="t" for="ch" forName="Child5" refType="h" fact="0.5305"/>
              <dgm:constr type="w" for="ch" forName="Child5" refType="w" fact="0.3523"/>
              <dgm:constr type="h" for="ch" forName="Child5" refType="h" fact="0.2907"/>
              <dgm:constr type="r" for="ch" forName="Child6" refType="w"/>
              <dgm:constr type="t" for="ch" forName="Child6" refType="h" fact="0.1784"/>
              <dgm:constr type="w" for="ch" forName="Child6" refType="w" fact="0.3523"/>
              <dgm:constr type="h" for="ch" forName="Child6" refType="h" fact="0.2907"/>
              <dgm:constr type="r" for="ch" forName="Child1" refType="w" fact="0.6754"/>
              <dgm:constr type="t" for="ch" forName="Child1" refType="h" fact="0"/>
              <dgm:constr type="w" for="ch" forName="Child1" refType="w" fact="0.3523"/>
              <dgm:constr type="h" for="ch" forName="Child1" refType="h" fact="0.2907"/>
            </dgm:constrLst>
          </dgm:else>
        </dgm:choose>
      </dgm:else>
    </dgm:choose>
    <dgm:forEach name="wrapper" axis="self" ptType="parTrans">
      <dgm:forEach name="accentRepeat" axis="self">
        <dgm:layoutNode name="Accent" styleLbl="bgShp">
          <dgm:alg type="sp"/>
          <dgm:shape xmlns:r="http://schemas.openxmlformats.org/officeDocument/2006/relationships" type="hexagon" r:blip="" zOrderOff="-2">
            <dgm:adjLst>
              <dgm:adj idx="1" val="0.289"/>
              <dgm:adj idx="2" val="1.1547"/>
            </dgm:adjLst>
          </dgm:shape>
          <dgm:presOf/>
        </dgm:layoutNode>
      </dgm:forEach>
    </dgm:forEach>
    <dgm:forEach name="Name20" axis="ch" ptType="node" cnt="1">
      <dgm:layoutNode name="Parent" styleLbl="node0">
        <dgm:varLst>
          <dgm:chMax val="6"/>
          <dgm:chPref val="6"/>
        </dgm:varLst>
        <dgm:alg type="tx"/>
        <dgm:shape xmlns:r="http://schemas.openxmlformats.org/officeDocument/2006/relationships" type="hexagon" r:blip="">
          <dgm:adjLst>
            <dgm:adj idx="1" val="0.2857"/>
            <dgm:adj idx="2" val="1.1547"/>
          </dgm:adjLst>
        </dgm:shape>
        <dgm:presOf axis="self"/>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1" axis="ch ch" ptType="node node" st="1 1" cnt="1 1">
      <dgm:layoutNode name="Accent1">
        <dgm:alg type="sp"/>
        <dgm:shape xmlns:r="http://schemas.openxmlformats.org/officeDocument/2006/relationships" r:blip="" zOrderOff="-2">
          <dgm:adjLst/>
        </dgm:shape>
        <dgm:presOf/>
        <dgm:constrLst/>
        <dgm:forEach name="Name22" ref="accentRepeat"/>
      </dgm:layoutNode>
      <dgm:layoutNode name="Child1"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3" axis="ch ch" ptType="node node" st="1 2" cnt="1 1">
      <dgm:layoutNode name="Accent2">
        <dgm:alg type="sp"/>
        <dgm:shape xmlns:r="http://schemas.openxmlformats.org/officeDocument/2006/relationships" r:blip="" zOrderOff="-2">
          <dgm:adjLst/>
        </dgm:shape>
        <dgm:presOf/>
        <dgm:constrLst/>
        <dgm:forEach name="Name24" ref="accentRepeat"/>
      </dgm:layoutNode>
      <dgm:layoutNode name="Child2"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5" axis="ch ch" ptType="node node" st="1 3" cnt="1 1">
      <dgm:layoutNode name="Accent3">
        <dgm:alg type="sp"/>
        <dgm:shape xmlns:r="http://schemas.openxmlformats.org/officeDocument/2006/relationships" r:blip="" zOrderOff="-2">
          <dgm:adjLst/>
        </dgm:shape>
        <dgm:presOf/>
        <dgm:constrLst/>
        <dgm:forEach name="Name26" ref="accentRepeat"/>
      </dgm:layoutNode>
      <dgm:layoutNode name="Child3"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7" axis="ch ch" ptType="node node" st="1 4" cnt="1 1">
      <dgm:layoutNode name="Accent4">
        <dgm:alg type="sp"/>
        <dgm:shape xmlns:r="http://schemas.openxmlformats.org/officeDocument/2006/relationships" r:blip="">
          <dgm:adjLst/>
        </dgm:shape>
        <dgm:presOf/>
        <dgm:constrLst/>
        <dgm:forEach name="Name28" ref="accentRepeat"/>
      </dgm:layoutNode>
      <dgm:layoutNode name="Child4"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9" axis="ch ch" ptType="node node" st="1 5" cnt="1 1">
      <dgm:layoutNode name="Accent5">
        <dgm:alg type="sp"/>
        <dgm:shape xmlns:r="http://schemas.openxmlformats.org/officeDocument/2006/relationships" r:blip="">
          <dgm:adjLst/>
        </dgm:shape>
        <dgm:presOf/>
        <dgm:constrLst/>
        <dgm:forEach name="Name30" ref="accentRepeat"/>
      </dgm:layoutNode>
      <dgm:layoutNode name="Child5"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1" axis="ch ch" ptType="node node" st="1 6" cnt="1 1">
      <dgm:layoutNode name="Accent6">
        <dgm:alg type="sp"/>
        <dgm:shape xmlns:r="http://schemas.openxmlformats.org/officeDocument/2006/relationships" r:blip="">
          <dgm:adjLst/>
        </dgm:shape>
        <dgm:presOf/>
        <dgm:constrLst/>
        <dgm:forEach name="Name32" ref="accentRepeat"/>
      </dgm:layoutNode>
      <dgm:layoutNode name="Child6"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8.xml><?xml version="1.0" encoding="utf-8"?>
<dgm:layoutDef xmlns:dgm="http://schemas.openxmlformats.org/drawingml/2006/diagram" xmlns:a="http://schemas.openxmlformats.org/drawingml/2006/main" uniqueId="urn:microsoft.com/office/officeart/2005/8/layout/radial5">
  <dgm:title val=""/>
  <dgm:desc val=""/>
  <dgm:catLst>
    <dgm:cat type="relationship" pri="23000"/>
    <dgm:cat type="cycle" pri="1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alg type="cycle">
          <dgm:param type="stAng" val="0"/>
          <dgm:param type="spanAng" val="360"/>
          <dgm:param type="ctrShpMap" val="fNode"/>
        </dgm:alg>
      </dgm:if>
      <dgm:else name="Name3">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parTrans" refType="w" refFor="ch" refForName="centerShape" fact="0.4"/>
      <dgm:constr type="w" for="ch" forName="node" refType="w" refFor="ch" refForName="centerShape" op="equ" fact="1.25"/>
      <dgm:constr type="sp" refType="w" refFor="ch" refForName="centerShape" op="equ" fact="0.4"/>
      <dgm:constr type="sibSp" refType="w" refFor="ch" refForName="node" fact="0.3"/>
      <dgm:constr type="primFontSz" for="ch" forName="centerShape" val="65"/>
      <dgm:constr type="primFontSz" for="des" forName="node" op="equ" val="65"/>
      <dgm:constr type="primFontSz" for="des" forName="node" refType="primFontSz" refFor="ch" refForName="centerShape" op="lte"/>
      <dgm:constr type="primFontSz" for="des" forName="connectorText" op="equ" val="55"/>
      <dgm:constr type="primFontSz" for="des" forName="connectorText" refType="primFontSz" refFor="ch" refForName="centerShape" op="lte" fact="0.8"/>
      <dgm:constr type="primFontSz" for="des" forName="connectorText" refType="primFontSz" refFor="des" refForName="node" op="lte"/>
    </dgm:constrLst>
    <dgm:choose name="Name4">
      <dgm:if name="Name5" axis="ch ch" ptType="node node" st="1 1" cnt="1 0" func="cnt" op="lte" val="6">
        <dgm:ruleLst>
          <dgm:rule type="w" for="ch" forName="node" val="NaN" fact="1" max="NaN"/>
        </dgm:ruleLst>
      </dgm:if>
      <dgm:if name="Name6" axis="ch ch" ptType="node node" st="1 1" cnt="1 0" func="cnt" op="lte" val="8">
        <dgm:ruleLst>
          <dgm:rule type="w" for="ch" forName="node" val="NaN" fact="0.9" max="NaN"/>
        </dgm:ruleLst>
      </dgm:if>
      <dgm:if name="Name7" axis="ch ch" ptType="node node" st="1 1" cnt="1 0" func="cnt" op="lte" val="10">
        <dgm:ruleLst>
          <dgm:rule type="w" for="ch" forName="node" val="NaN" fact="0.8" max="NaN"/>
        </dgm:ruleLst>
      </dgm:if>
      <dgm:if name="Name8" axis="ch ch" ptType="node node" st="1 1" cnt="1 0" func="cnt" op="lte" val="12">
        <dgm:ruleLst>
          <dgm:rule type="w" for="ch" forName="node" val="NaN" fact="0.7" max="NaN"/>
        </dgm:ruleLst>
      </dgm:if>
      <dgm:if name="Name9" axis="ch ch" ptType="node node" st="1 1" cnt="1 0" func="cnt" op="lte" val="14">
        <dgm:ruleLst>
          <dgm:rule type="w" for="ch" forName="node" val="NaN" fact="0.6" max="NaN"/>
        </dgm:ruleLst>
      </dgm:if>
      <dgm:else name="Name10">
        <dgm:ruleLst>
          <dgm:rule type="w" for="ch" forName="node" val="NaN" fact="0.5" max="NaN"/>
        </dgm:ruleLst>
      </dgm:else>
    </dgm:choose>
    <dgm:forEach name="Name11"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2" axis="ch">
        <dgm:forEach name="Name13" axis="self" ptType="parTrans">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h" refType="w" fact="0.85"/>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name="Name14"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w" val="INF" fact="NaN" max="NaN"/>
              <dgm:rule type="primFontSz" val="5" fact="NaN" max="NaN"/>
            </dgm:ruleLst>
          </dgm:layoutNode>
        </dgm:forEach>
      </dgm:forEach>
    </dgm:forEach>
  </dgm:layoutNode>
</dgm:layoutDef>
</file>

<file path=ppt/diagrams/layout19.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5/8/layout/vList4">
  <dgm:title val=""/>
  <dgm:desc val=""/>
  <dgm:catLst>
    <dgm:cat type="list" pri="13000"/>
    <dgm:cat type="picture" pri="26000"/>
    <dgm:cat type="pictureconvert" pri="26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resizeHandles val="exact"/>
    </dgm:varLst>
    <dgm:alg type="lin">
      <dgm:param type="linDir" val="fromT"/>
      <dgm:param type="vertAlign" val="t"/>
    </dgm:alg>
    <dgm:shape xmlns:r="http://schemas.openxmlformats.org/officeDocument/2006/relationships" r:blip="">
      <dgm:adjLst/>
    </dgm:shape>
    <dgm:presOf/>
    <dgm:constrLst>
      <dgm:constr type="w" for="ch" forName="comp" refType="w"/>
      <dgm:constr type="h" for="ch" forName="comp" refType="h"/>
      <dgm:constr type="h" for="ch" forName="spacer" refType="h" refFor="ch" refForName="comp" op="equ" fact="0.1"/>
      <dgm:constr type="primFontSz" for="des" forName="text" op="equ" val="65"/>
    </dgm:constrLst>
    <dgm:ruleLst/>
    <dgm:forEach name="Name0" axis="ch" ptType="node">
      <dgm:layoutNode name="comp" styleLbl="node1">
        <dgm:alg type="composite"/>
        <dgm:shape xmlns:r="http://schemas.openxmlformats.org/officeDocument/2006/relationships" r:blip="">
          <dgm:adjLst/>
        </dgm:shape>
        <dgm:presOf/>
        <dgm:choose name="Name1">
          <dgm:if name="Name2" func="var" arg="dir" op="equ" val="norm">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l" for="ch" forName="img" refType="h" refFor="ch" refForName="box" fact="0.1"/>
              <dgm:constr type="h" for="ch" forName="text" refType="h"/>
              <dgm:constr type="l" for="ch" forName="text" refType="r" refFor="ch" refForName="img"/>
              <dgm:constr type="r" for="ch" forName="text" refType="w"/>
            </dgm:constrLst>
          </dgm:if>
          <dgm:else name="Name3">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r" for="ch" forName="img" refType="w" refFor="ch" refForName="box"/>
              <dgm:constr type="rOff" for="ch" forName="img" refType="h" refFor="ch" refForName="box" fact="-0.1"/>
              <dgm:constr type="h" for="ch" forName="text" refType="h"/>
              <dgm:constr type="r" for="ch" forName="text" refType="l" refFor="ch" refForName="img"/>
              <dgm:constr type="l" for="ch" forName="text"/>
            </dgm:constrLst>
          </dgm:else>
        </dgm:choose>
        <dgm:ruleLst/>
        <dgm:layoutNode name="box" styleLbl="node1">
          <dgm:alg type="sp"/>
          <dgm:shape xmlns:r="http://schemas.openxmlformats.org/officeDocument/2006/relationships" type="roundRect" r:blip="">
            <dgm:adjLst>
              <dgm:adj idx="1" val="0.1"/>
            </dgm:adjLst>
          </dgm:shape>
          <dgm:presOf axis="desOrSelf" ptType="node"/>
          <dgm:constrLst/>
          <dgm:ruleLst/>
        </dgm:layoutNode>
        <dgm:layoutNode name="img" styleLbl="fgImgPlace1">
          <dgm:alg type="sp"/>
          <dgm:shape xmlns:r="http://schemas.openxmlformats.org/officeDocument/2006/relationships" type="roundRect" r:blip="" blipPhldr="1">
            <dgm:adjLst>
              <dgm:adj idx="1" val="0.1"/>
            </dgm:adjLst>
          </dgm:shape>
          <dgm:presOf/>
          <dgm:constrLst/>
          <dgm:ruleLst/>
        </dgm:layoutNode>
        <dgm:layoutNode name="text">
          <dgm:varLst>
            <dgm:bulletEnabled val="1"/>
          </dgm:varLst>
          <dgm:alg type="tx">
            <dgm:param type="parTxLTRAlign" val="l"/>
            <dgm:param type="parTxRTLAlign" val="r"/>
          </dgm:alg>
          <dgm:shape xmlns:r="http://schemas.openxmlformats.org/officeDocument/2006/relationships" type="rect" r:blip="" hideGeom="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Name4" axis="followSib" ptType="sibTrans" cnt="1">
        <dgm:layoutNode name="spacer">
          <dgm:alg type="sp"/>
          <dgm:shape xmlns:r="http://schemas.openxmlformats.org/officeDocument/2006/relationships" r:blip="">
            <dgm:adjLst/>
          </dgm:shape>
          <dgm:presOf axis="self"/>
          <dgm:constrLst/>
          <dgm:ruleLst/>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2.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3.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24.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25.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26.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layout27.xml><?xml version="1.0" encoding="utf-8"?>
<dgm:layoutDef xmlns:dgm="http://schemas.openxmlformats.org/drawingml/2006/diagram" xmlns:a="http://schemas.openxmlformats.org/drawingml/2006/main" uniqueId="urn:microsoft.com/office/officeart/2005/8/layout/hList2">
  <dgm:title val=""/>
  <dgm:desc val=""/>
  <dgm:catLst>
    <dgm:cat type="list" pri="6000"/>
    <dgm:cat type="relationship" pri="16000"/>
    <dgm:cat type="picture" pri="29000"/>
    <dgm:cat type="pictureconvert" pri="29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dgm:varLst>
    <dgm:choose name="Name0">
      <dgm:if name="Name1" func="var" arg="dir" op="equ" val="norm">
        <dgm:alg type="lin">
          <dgm:param type="linDir" val="fromL"/>
          <dgm:param type="nodeVertAlign" val="t"/>
        </dgm:alg>
      </dgm:if>
      <dgm:else name="Name2">
        <dgm:alg type="lin">
          <dgm:param type="linDir" val="fromR"/>
          <dgm:param type="nodeVertAlign" val="t"/>
        </dgm:alg>
      </dgm:else>
    </dgm:choose>
    <dgm:shape xmlns:r="http://schemas.openxmlformats.org/officeDocument/2006/relationships" r:blip="">
      <dgm:adjLst/>
    </dgm:shape>
    <dgm:presOf/>
    <dgm:constrLst>
      <dgm:constr type="w" for="ch" forName="compositeNode" refType="w"/>
      <dgm:constr type="h" for="ch" forName="compositeNode" refType="h"/>
      <dgm:constr type="w" for="ch" forName="sibTrans" refType="w" refFor="ch" refForName="compositeNode" op="equ" fact="0.2"/>
      <dgm:constr type="h" for="des" forName="childNode" op="equ"/>
      <dgm:constr type="w" for="des" forName="childNode" op="equ"/>
      <dgm:constr type="w" for="des" forName="parentNode" op="equ"/>
      <dgm:constr type="h" for="des" forName="image" op="equ"/>
      <dgm:constr type="w" for="des" forName="image" op="equ"/>
      <dgm:constr type="primFontSz" for="des" forName="parentNode" op="equ" val="65"/>
      <dgm:constr type="primFontSz" for="des" forName="childNode" op="equ" val="65"/>
    </dgm:constrLst>
    <dgm:ruleLst/>
    <dgm:forEach name="Name3" axis="ch" ptType="node">
      <dgm:layoutNode name="compositeNode">
        <dgm:varLst>
          <dgm:bulletEnabled val="1"/>
        </dgm:varLst>
        <dgm:alg type="composite"/>
        <dgm:presOf/>
        <dgm:choose name="Name4">
          <dgm:if name="Name5" func="var" arg="dir" op="equ" val="norm">
            <dgm:constrLst>
              <dgm:constr type="w" for="ch" forName="image" refType="w"/>
              <dgm:constr type="h" for="ch" forName="image" refType="h"/>
              <dgm:constr type="h" for="ch" forName="image" refType="w" refFor="ch" refForName="image" op="lte"/>
              <dgm:constr type="w" for="ch" forName="image" refType="h" refFor="ch" refForName="image" op="lte"/>
              <dgm:constr type="w" for="ch" forName="image" refType="w" op="lte" fact="0.33"/>
              <dgm:constr type="h" for="ch" forName="image" refType="h" op="lte" fact="0.33"/>
              <dgm:constr type="t" for="ch" forName="image"/>
              <dgm:constr type="l" for="ch" forName="image"/>
              <dgm:constr type="w" for="ch" forName="childNode" refType="w" fact="0.85"/>
              <dgm:constr type="h" for="ch" forName="childNode" refType="h" fact="0.78"/>
              <dgm:constr type="t" for="ch" forName="childNode" refType="h" refFor="ch" refForName="image" fact="0.66"/>
              <dgm:constr type="l" for="ch" forName="childNode" refType="w" refFor="ch" refForName="image" fact="0.5"/>
              <dgm:constr type="tMarg" for="ch" forName="childNode" refType="w" refFor="ch" refForName="image" fact="1.25"/>
              <dgm:constr type="t" for="ch" forName="parentNode" refType="h" refFor="ch" refForName="image" fact="0.66"/>
              <dgm:constr type="b" for="ch" forName="parentNode" refType="b" refFor="ch" refForName="childNode"/>
              <dgm:constr type="l" for="ch" forName="parentNode"/>
              <dgm:constr type="r" for="ch" forName="parentNode" refType="l" refFor="ch" refForName="childNode"/>
              <dgm:constr type="rMarg" for="ch" forName="parentNode" refType="w" refFor="ch" refForName="image" fact="1.25"/>
            </dgm:constrLst>
          </dgm:if>
          <dgm:else name="Name6">
            <dgm:constrLst>
              <dgm:constr type="w" for="ch" forName="image" refType="w"/>
              <dgm:constr type="h" for="ch" forName="image" refType="h"/>
              <dgm:constr type="h" for="ch" forName="image" refType="w" refFor="ch" refForName="image" op="lte"/>
              <dgm:constr type="w" for="ch" forName="image" refType="h" refFor="ch" refForName="image" op="lte"/>
              <dgm:constr type="w" for="ch" forName="image" refType="w" op="lte" fact="0.33"/>
              <dgm:constr type="h" for="ch" forName="image" refType="h" op="lte" fact="0.33"/>
              <dgm:constr type="t" for="ch" forName="image"/>
              <dgm:constr type="r" for="ch" forName="image" refType="w"/>
              <dgm:constr type="w" for="ch" forName="childNode" refType="w" fact="0.85"/>
              <dgm:constr type="h" for="ch" forName="childNode" refType="h" fact="0.78"/>
              <dgm:constr type="t" for="ch" forName="childNode" refType="h" refFor="ch" refForName="image" fact="0.66"/>
              <dgm:constr type="r" for="ch" forName="childNode" refType="w"/>
              <dgm:constr type="rOff" for="ch" forName="childNode" refType="w" refFor="ch" refForName="image" fact="-0.5"/>
              <dgm:constr type="tMarg" for="ch" forName="childNode" refType="w" refFor="ch" refForName="image" fact="1.25"/>
              <dgm:constr type="t" for="ch" forName="parentNode" refType="h" refFor="ch" refForName="image" fact="0.66"/>
              <dgm:constr type="b" for="ch" forName="parentNode" refType="b" refFor="ch" refForName="childNode"/>
              <dgm:constr type="r" for="ch" forName="parentNode" refType="w"/>
              <dgm:constr type="l" for="ch" forName="parentNode" refType="r" refFor="ch" refForName="childNode"/>
              <dgm:constr type="lOff" for="ch" forName="parentNode" refType="rOff" refFor="ch" refForName="childNode"/>
              <dgm:constr type="lMarg" for="ch" forName="parentNode" refType="w" refFor="ch" refForName="image" fact="1.25"/>
            </dgm:constrLst>
          </dgm:else>
        </dgm:choose>
        <dgm:ruleLst>
          <dgm:rule type="w" for="ch" forName="childNode" val="NaN" fact="0.4" max="NaN"/>
          <dgm:rule type="h" for="ch" forName="childNode" val="NaN" fact="0.5" max="NaN"/>
        </dgm:ruleLst>
        <dgm:layoutNode name="image" styleLbl="fgImgPlace1">
          <dgm:alg type="sp"/>
          <dgm:shape xmlns:r="http://schemas.openxmlformats.org/officeDocument/2006/relationships" type="rect" r:blip="" zOrderOff="4" blipPhldr="1">
            <dgm:adjLst/>
          </dgm:shape>
          <dgm:presOf/>
          <dgm:constrLst/>
          <dgm:ruleLst/>
        </dgm:layoutNode>
        <dgm:layoutNode name="childNode" styleLbl="node1">
          <dgm:varLst>
            <dgm:bulletEnabled val="1"/>
          </dgm:varLst>
          <dgm:alg type="tx">
            <dgm:param type="stBulletLvl" val="1"/>
          </dgm:alg>
          <dgm:shape xmlns:r="http://schemas.openxmlformats.org/officeDocument/2006/relationships" type="rect" r:blip="" zOrderOff="2">
            <dgm:adjLst/>
          </dgm:shape>
          <dgm:presOf axis="des" ptType="node"/>
          <dgm:constrLst/>
          <dgm:ruleLst>
            <dgm:rule type="primFontSz" val="5" fact="NaN" max="NaN"/>
          </dgm:ruleLst>
        </dgm:layoutNode>
        <dgm:layoutNode name="parentNode" styleLbl="revTx">
          <dgm:varLst>
            <dgm:chMax val="0"/>
            <dgm:bulletEnabled val="1"/>
          </dgm:varLst>
          <dgm:choose name="Name7">
            <dgm:if name="Name8" func="var" arg="dir" op="equ" val="norm">
              <dgm:alg type="tx">
                <dgm:param type="autoTxRot" val="grav"/>
                <dgm:param type="txAnchorVert" val="t"/>
                <dgm:param type="parTxLTRAlign" val="r"/>
                <dgm:param type="parTxRTLAlign" val="r"/>
              </dgm:alg>
              <dgm:shape xmlns:r="http://schemas.openxmlformats.org/officeDocument/2006/relationships" rot="270" type="rect" r:blip="">
                <dgm:adjLst/>
              </dgm:shape>
              <dgm:presOf axis="self"/>
              <dgm:constrLst>
                <dgm:constr type="lMarg"/>
                <dgm:constr type="bMarg"/>
                <dgm:constr type="tMarg"/>
              </dgm:constrLst>
            </dgm:if>
            <dgm:else name="Name9">
              <dgm:alg type="tx">
                <dgm:param type="autoTxRot" val="grav"/>
                <dgm:param type="parTxLTRAlign" val="l"/>
                <dgm:param type="parTxRTLAlign" val="l"/>
              </dgm:alg>
              <dgm:shape xmlns:r="http://schemas.openxmlformats.org/officeDocument/2006/relationships" rot="90" type="rect" r:blip="">
                <dgm:adjLst/>
              </dgm:shape>
              <dgm:presOf axis="self"/>
              <dgm:constrLst>
                <dgm:constr type="rMarg"/>
                <dgm:constr type="bMarg"/>
                <dgm:constr type="tMarg"/>
              </dgm:constrLst>
            </dgm:else>
          </dgm:choose>
          <dgm:ruleLst>
            <dgm:rule type="primFontSz" val="5" fact="NaN" max="NaN"/>
          </dgm:ruleLst>
        </dgm:layoutNode>
      </dgm:layoutNode>
      <dgm:forEach name="Name10" axis="followSib" ptType="sibTrans" cnt="1">
        <dgm:layoutNode name="sibTrans">
          <dgm:alg type="sp"/>
          <dgm:shape xmlns:r="http://schemas.openxmlformats.org/officeDocument/2006/relationships" r:blip="">
            <dgm:adjLst/>
          </dgm:shape>
          <dgm:presOf axis="self"/>
          <dgm:constrLst/>
          <dgm:ruleLst/>
        </dgm:layoutNode>
      </dgm:forEach>
    </dgm:forEach>
  </dgm:layoutNode>
</dgm:layoutDef>
</file>

<file path=ppt/diagrams/layout28.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29.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30.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11/layout/HexagonRadial">
  <dgm:title val="Hexagon Radial"/>
  <dgm:desc val="Use to show a sequential process that relates to a central idea or theme. Limited to six Level 2 shapes. Works best with small amounts of text. Unused text does not appear, but remains available if you switch layouts."/>
  <dgm:catLst>
    <dgm:cat type="cycle" pri="8500"/>
    <dgm:cat type="officeonline" pri="9000"/>
  </dgm:catLst>
  <dgm:sampData>
    <dgm:dataModel>
      <dgm:ptLst>
        <dgm:pt modelId="0" type="doc"/>
        <dgm:pt modelId="10">
          <dgm:prSet phldr="1"/>
        </dgm:pt>
        <dgm:pt modelId="11">
          <dgm:prSet phldr="1"/>
        </dgm:pt>
        <dgm:pt modelId="12">
          <dgm:prSet phldr="1"/>
        </dgm:pt>
        <dgm:pt modelId="13">
          <dgm:prSet phldr="1"/>
        </dgm:pt>
        <dgm:pt modelId="14">
          <dgm:prSet phldr="1"/>
        </dgm:pt>
        <dgm:pt modelId="15">
          <dgm:prSet phldr="1"/>
        </dgm:pt>
        <dgm:pt modelId="16">
          <dgm:prSet phldr="1"/>
        </dgm:pt>
      </dgm:ptLst>
      <dgm:cxnLst>
        <dgm:cxn modelId="40" srcId="0" destId="10" srcOrd="0" destOrd="0"/>
        <dgm:cxn modelId="50" srcId="10" destId="11" srcOrd="0" destOrd="0"/>
        <dgm:cxn modelId="60" srcId="10" destId="12" srcOrd="0" destOrd="0"/>
        <dgm:cxn modelId="70" srcId="10" destId="13" srcOrd="0" destOrd="0"/>
        <dgm:cxn modelId="80" srcId="10" destId="14" srcOrd="0" destOrd="0"/>
        <dgm:cxn modelId="90" srcId="10" destId="15" srcOrd="0" destOrd="0"/>
        <dgm:cxn modelId="100" srcId="10" destId="16" srcOrd="0" destOrd="0"/>
      </dgm:cxnLst>
      <dgm:bg/>
      <dgm:whole/>
    </dgm:dataModel>
  </dgm:sampData>
  <dgm:styleData>
    <dgm:dataModel>
      <dgm:ptLst>
        <dgm:pt modelId="0" type="doc"/>
        <dgm:pt modelId="10">
          <dgm:prSet phldr="1"/>
        </dgm:pt>
        <dgm:pt modelId="11">
          <dgm:prSet phldr="1"/>
        </dgm:pt>
        <dgm:pt modelId="12">
          <dgm:prSet phldr="1"/>
        </dgm:pt>
        <dgm:pt modelId="13">
          <dgm:prSet phldr="1"/>
        </dgm:pt>
      </dgm:ptLst>
      <dgm:cxnLst>
        <dgm:cxn modelId="40" srcId="0" destId="10" srcOrd="0" destOrd="0"/>
        <dgm:cxn modelId="50" srcId="10" destId="11" srcOrd="0" destOrd="0"/>
        <dgm:cxn modelId="60" srcId="10" destId="12" srcOrd="0" destOrd="0"/>
        <dgm:cxn modelId="70" srcId="10" destId="13" srcOrd="0"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 modelId="15">
          <dgm:prSet phldr="1"/>
        </dgm:pt>
        <dgm:pt modelId="16">
          <dgm:prSet phldr="1"/>
        </dgm:pt>
      </dgm:ptLst>
      <dgm:cxnLst>
        <dgm:cxn modelId="40" srcId="0" destId="10" srcOrd="0" destOrd="0"/>
        <dgm:cxn modelId="50" srcId="10" destId="11" srcOrd="0" destOrd="0"/>
        <dgm:cxn modelId="60" srcId="10" destId="12" srcOrd="0" destOrd="0"/>
        <dgm:cxn modelId="70" srcId="10" destId="13" srcOrd="0" destOrd="0"/>
        <dgm:cxn modelId="80" srcId="10" destId="14" srcOrd="0" destOrd="0"/>
        <dgm:cxn modelId="90" srcId="10" destId="15" srcOrd="0" destOrd="0"/>
        <dgm:cxn modelId="100" srcId="10" destId="16" srcOrd="0" destOrd="0"/>
      </dgm:cxnLst>
      <dgm:bg/>
      <dgm:whole/>
    </dgm:dataModel>
  </dgm:clrData>
  <dgm:layoutNode name="Name0">
    <dgm:varLst>
      <dgm:chMax val="1"/>
      <dgm:chPref val="1"/>
      <dgm:dir/>
      <dgm:animOne val="branch"/>
      <dgm:animLvl val="lvl"/>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156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lte" val="1">
            <dgm:alg type="composite">
              <dgm:param type="ar" val="1.368"/>
            </dgm:alg>
            <dgm:constrLst>
              <dgm:constr type="primFontSz" for="des" forName="Parent" val="65"/>
              <dgm:constr type="primFontSz" for="des" forName="Child1" val="65"/>
              <dgm:constr type="primFontSz" for="des" forName="Child1" refType="primFontSz" refFor="des" refForName="Parent" op="lte"/>
              <dgm:constr type="l" for="ch" forName="Accent1" refType="w" fact="0.1685"/>
              <dgm:constr type="t" for="ch" forName="Accent1" refType="h" fact="0.2946"/>
              <dgm:constr type="w" for="ch" forName="Accent1" refType="w" fact="0.462"/>
              <dgm:constr type="h" for="ch" forName="Accent1" refType="h" fact="0.5472"/>
              <dgm:constr type="l" for="ch" forName="Parent" refType="w" fact="0"/>
              <dgm:constr type="t" for="ch" forName="Parent" refType="h" fact="0.2885"/>
              <dgm:constr type="w" for="ch" forName="Parent" refType="w" fact="0.6013"/>
              <dgm:constr type="h" for="ch" forName="Parent" refType="h" fact="0.7115"/>
              <dgm:constr type="l" for="ch" forName="Child1" refType="w" fact="0.5073"/>
              <dgm:constr type="t" for="ch" forName="Child1" refType="h" fact="0"/>
              <dgm:constr type="w" for="ch" forName="Child1" refType="w" fact="0.4927"/>
              <dgm:constr type="h" for="ch" forName="Child1" refType="h" fact="0.5831"/>
            </dgm:constrLst>
          </dgm:if>
          <dgm:if name="Name6" axis="ch ch" ptType="node node" st="1 1" cnt="1 0" func="cnt" op="equ" val="2">
            <dgm:alg type="composite">
              <dgm:param type="ar" val="1.0619"/>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2" refType="w" fact="0.6413"/>
              <dgm:constr type="t" for="ch" forName="Accent2" refType="h" fact="0.3477"/>
              <dgm:constr type="w" for="ch" forName="Accent2" refType="w" fact="0.2269"/>
              <dgm:constr type="h" for="ch" forName="Accent2" refType="h" fact="0.2076"/>
              <dgm:constr type="l" for="ch" forName="Accent1" refType="w" fact="0"/>
              <dgm:constr type="t" for="ch" forName="Accent1" refType="h" fact="0"/>
              <dgm:constr type="w" for="ch" forName="Accent1" refType="w" fact="0"/>
              <dgm:constr type="h" for="ch" forName="Accent1" refType="h" fact="0"/>
              <dgm:constr type="l" for="ch" forName="Parent" refType="w" fact="0"/>
              <dgm:constr type="t" for="ch" forName="Parent" refType="h" fact="0.2239"/>
              <dgm:constr type="w" for="ch" forName="Parent" refType="w" fact="0.6013"/>
              <dgm:constr type="h" for="ch" forName="Parent" refType="h" fact="0.5523"/>
              <dgm:constr type="l" for="ch" forName="Child1" refType="w" fact="0.5073"/>
              <dgm:constr type="t" for="ch" forName="Child1" refType="h" fact="0"/>
              <dgm:constr type="w" for="ch" forName="Child1" refType="w" fact="0.4927"/>
              <dgm:constr type="h" for="ch" forName="Child1" refType="h" fact="0.4527"/>
              <dgm:constr type="l" for="ch" forName="Child2" refType="w" fact="0.5073"/>
              <dgm:constr type="t" for="ch" forName="Child2" refType="h" fact="0.5473"/>
              <dgm:constr type="w" for="ch" forName="Child2" refType="w" fact="0.4927"/>
              <dgm:constr type="h" for="ch" forName="Child2" refType="h" fact="0.4527"/>
            </dgm:constrLst>
          </dgm:if>
          <dgm:if name="Name7" axis="ch ch" ptType="node node" st="1 1" cnt="1 0" func="cnt" op="equ" val="3">
            <dgm:alg type="composite">
              <dgm:param type="ar" val="0.8305"/>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3" refType="w" fact="0.4573"/>
              <dgm:constr type="t" for="ch" forName="Accent3" refType="h" fact="0.6145"/>
              <dgm:constr type="w" for="ch" forName="Accent3" refType="w" fact="0.2269"/>
              <dgm:constr type="h" for="ch" forName="Accent3" refType="h" fact="0.1623"/>
              <dgm:constr type="l" for="ch" forName="Accent2" refType="w" fact="0.6413"/>
              <dgm:constr type="t" for="ch" forName="Accent2" refType="h" fact="0.2719"/>
              <dgm:constr type="w" for="ch" forName="Accent2" refType="w" fact="0.2269"/>
              <dgm:constr type="h" for="ch" forName="Accent2" refType="h" fact="0.1623"/>
              <dgm:constr type="l" for="ch" forName="Accent1" refType="w" fact="0"/>
              <dgm:constr type="t" for="ch" forName="Accent1" refType="h" fact="0"/>
              <dgm:constr type="w" for="ch" forName="Accent1" refType="w" fact="0"/>
              <dgm:constr type="h" for="ch" forName="Accent1" refType="h" fact="0"/>
              <dgm:constr type="l" for="ch" forName="Child3" refType="w" fact="0.0554"/>
              <dgm:constr type="t" for="ch" forName="Child3" refType="h" fact="0.646"/>
              <dgm:constr type="w" for="ch" forName="Child3" refType="w" fact="0.4927"/>
              <dgm:constr type="h" for="ch" forName="Child3" refType="h" fact="0.354"/>
              <dgm:constr type="l" for="ch" forName="Parent" refType="w" fact="0"/>
              <dgm:constr type="t" for="ch" forName="Parent" refType="h" fact="0.1751"/>
              <dgm:constr type="w" for="ch" forName="Parent" refType="w" fact="0.6013"/>
              <dgm:constr type="h" for="ch" forName="Parent" refType="h" fact="0.4319"/>
              <dgm:constr type="l" for="ch" forName="Child1" refType="w" fact="0.5073"/>
              <dgm:constr type="t" for="ch" forName="Child1" refType="h" fact="0"/>
              <dgm:constr type="w" for="ch" forName="Child1" refType="w" fact="0.4927"/>
              <dgm:constr type="h" for="ch" forName="Child1" refType="h" fact="0.354"/>
              <dgm:constr type="l" for="ch" forName="Child2" refType="w" fact="0.5073"/>
              <dgm:constr type="t" for="ch" forName="Child2" refType="h" fact="0.428"/>
              <dgm:constr type="w" for="ch" forName="Child2" refType="w" fact="0.4927"/>
              <dgm:constr type="h" for="ch" forName="Child2" refType="h" fact="0.354"/>
            </dgm:constrLst>
          </dgm:if>
          <dgm:if name="Name8" axis="ch ch" ptType="node node" st="1 1" cnt="1 0" func="cnt" op="equ" val="4">
            <dgm:alg type="composite">
              <dgm:param type="ar" val="0.682"/>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4" refType="w" fact="0.4573"/>
              <dgm:constr type="t" for="ch" forName="Accent4" refType="h" fact="0.6834"/>
              <dgm:constr type="w" for="ch" forName="Accent4" refType="w" fact="0.2269"/>
              <dgm:constr type="h" for="ch" forName="Accent4" refType="h" fact="0.1333"/>
              <dgm:constr type="l" for="ch" forName="Accent3" refType="w" fact="0.6413"/>
              <dgm:constr type="t" for="ch" forName="Accent3" refType="h" fact="0.4021"/>
              <dgm:constr type="w" for="ch" forName="Accent3" refType="w" fact="0.2269"/>
              <dgm:constr type="h" for="ch" forName="Accent3" refType="h" fact="0.1333"/>
              <dgm:constr type="l" for="ch" forName="Accent2" refType="w" fact="0.3765"/>
              <dgm:constr type="t" for="ch" forName="Accent2" refType="h" fact="0.1529"/>
              <dgm:constr type="w" for="ch" forName="Accent2" refType="w" fact="0.2269"/>
              <dgm:constr type="h" for="ch" forName="Accent2" refType="h" fact="0.1333"/>
              <dgm:constr type="l" for="ch" forName="Accent1" refType="w" fact="0"/>
              <dgm:constr type="t" for="ch" forName="Accent1" refType="h" fact="0"/>
              <dgm:constr type="w" for="ch" forName="Accent1" refType="w" fact="0"/>
              <dgm:constr type="h" for="ch" forName="Accent1" refType="h" fact="0"/>
              <dgm:constr type="l" for="ch" forName="Child4" refType="w" fact="0.0554"/>
              <dgm:constr type="t" for="ch" forName="Child4" refType="h" fact="0.7093"/>
              <dgm:constr type="w" for="ch" forName="Child4" refType="w" fact="0.4927"/>
              <dgm:constr type="h" for="ch" forName="Child4" refType="h" fact="0.2907"/>
              <dgm:constr type="l" for="ch" forName="Parent" refType="w" fact="0"/>
              <dgm:constr type="t" for="ch" forName="Parent" refType="h" fact="0.3226"/>
              <dgm:constr type="w" for="ch" forName="Parent" refType="w" fact="0.6013"/>
              <dgm:constr type="h" for="ch" forName="Parent" refType="h" fact="0.3547"/>
              <dgm:constr type="l" for="ch" forName="Child2" refType="w" fact="0.5073"/>
              <dgm:constr type="t" for="ch" forName="Child2" refType="h" fact="0.1788"/>
              <dgm:constr type="w" for="ch" forName="Child2" refType="w" fact="0.4927"/>
              <dgm:constr type="h" for="ch" forName="Child2" refType="h" fact="0.2907"/>
              <dgm:constr type="l" for="ch" forName="Child3" refType="w" fact="0.5073"/>
              <dgm:constr type="t" for="ch" forName="Child3" refType="h" fact="0.5303"/>
              <dgm:constr type="w" for="ch" forName="Child3" refType="w" fact="0.4927"/>
              <dgm:constr type="h" for="ch" forName="Child3" refType="h" fact="0.2907"/>
              <dgm:constr type="l" for="ch" forName="Child1" refType="w" fact="0.0554"/>
              <dgm:constr type="t" for="ch" forName="Child1" refType="h" fact="0"/>
              <dgm:constr type="w" for="ch" forName="Child1" refType="w" fact="0.4927"/>
              <dgm:constr type="h" for="ch" forName="Child1" refType="h" fact="0.2907"/>
            </dgm:constrLst>
          </dgm:if>
          <dgm:if name="Name9" axis="ch ch" ptType="node node" st="1 1" cnt="1 0" func="cnt" op="equ" val="5">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5" refType="w" fact="0.2858"/>
              <dgm:constr type="t" for="ch" forName="Accent5" refType="h" fact="0.7126"/>
              <dgm:constr type="w" for="ch" forName="Accent5" refType="w" fact="0.1622"/>
              <dgm:constr type="h" for="ch" forName="Accent5" refType="h" fact="0.1333"/>
              <dgm:constr type="l" for="ch" forName="Accent4" refType="w" fact="0.612"/>
              <dgm:constr type="t" for="ch" forName="Accent4" refType="h" fact="0.6834"/>
              <dgm:constr type="w" for="ch" forName="Accent4" refType="w" fact="0.1622"/>
              <dgm:constr type="h" for="ch" forName="Accent4" refType="h" fact="0.1333"/>
              <dgm:constr type="l" for="ch" forName="Accent3" refType="w" fact="0.7435"/>
              <dgm:constr type="t" for="ch" forName="Accent3" refType="h" fact="0.4021"/>
              <dgm:constr type="w" for="ch" forName="Accent3" refType="w" fact="0.1622"/>
              <dgm:constr type="h" for="ch" forName="Accent3" refType="h" fact="0.1333"/>
              <dgm:constr type="l" for="ch" forName="Accent2" refType="w" fact="0.5542"/>
              <dgm:constr type="t" for="ch" forName="Accent2" refType="h" fact="0.1529"/>
              <dgm:constr type="w" for="ch" forName="Accent2" refType="w" fact="0.1622"/>
              <dgm:constr type="h" for="ch" forName="Accent2" refType="h" fact="0.1333"/>
              <dgm:constr type="l" for="ch" forName="Accent1" refType="w" fact="0"/>
              <dgm:constr type="t" for="ch" forName="Accent1" refType="h" fact="0"/>
              <dgm:constr type="w" for="ch" forName="Accent1" refType="w" fact="0"/>
              <dgm:constr type="h" for="ch" forName="Accent1" refType="h" fact="0"/>
              <dgm:constr type="l" for="ch" forName="Child4" refType="w" fact="0.3246"/>
              <dgm:constr type="t" for="ch" forName="Child4" refType="h" fact="0.7093"/>
              <dgm:constr type="w" for="ch" forName="Child4" refType="w" fact="0.3523"/>
              <dgm:constr type="h" for="ch" forName="Child4" refType="h" fact="0.2907"/>
              <dgm:constr type="l" for="ch" forName="Parent" refType="w" fact="0.285"/>
              <dgm:constr type="t" for="ch" forName="Parent" refType="h" fact="0.3226"/>
              <dgm:constr type="w" for="ch" forName="Parent" refType="w" fact="0.4299"/>
              <dgm:constr type="h" for="ch" forName="Parent" refType="h" fact="0.3547"/>
              <dgm:constr type="l" for="ch" forName="Child2" refType="w" fact="0.6477"/>
              <dgm:constr type="t" for="ch" forName="Child2" refType="h" fact="0.1788"/>
              <dgm:constr type="w" for="ch" forName="Child2" refType="w" fact="0.3523"/>
              <dgm:constr type="h" for="ch" forName="Child2" refType="h" fact="0.2907"/>
              <dgm:constr type="l" for="ch" forName="Child3" refType="w" fact="0.6477"/>
              <dgm:constr type="t" for="ch" forName="Child3" refType="h" fact="0.5303"/>
              <dgm:constr type="w" for="ch" forName="Child3" refType="w" fact="0.3523"/>
              <dgm:constr type="h" for="ch" forName="Child3" refType="h" fact="0.2907"/>
              <dgm:constr type="l" for="ch" forName="Child5" refType="w" fact="0"/>
              <dgm:constr type="t" for="ch" forName="Child5" refType="h" fact="0.5305"/>
              <dgm:constr type="w" for="ch" forName="Child5" refType="w" fact="0.3523"/>
              <dgm:constr type="h" for="ch" forName="Child5" refType="h" fact="0.2907"/>
              <dgm:constr type="l" for="ch" forName="Child1" refType="w" fact="0.3246"/>
              <dgm:constr type="t" for="ch" forName="Child1" refType="h" fact="0"/>
              <dgm:constr type="w" for="ch" forName="Child1" refType="w" fact="0.3523"/>
              <dgm:constr type="h" for="ch" forName="Child1" refType="h" fact="0.2907"/>
            </dgm:constrLst>
          </dgm:if>
          <dgm:else name="Name10">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6" refType="primFontSz" refFor="des" refForName="Parent" op="lte"/>
              <dgm:constr type="primFontSz" for="des" forName="Child7"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ptType="node" op="equ" val="65"/>
              <dgm:constr type="l" for="ch" forName="Accent6" refType="w" fact="0.0934"/>
              <dgm:constr type="t" for="ch" forName="Accent6" refType="h" fact="0.4635"/>
              <dgm:constr type="w" for="ch" forName="Accent6" refType="w" fact="0.1622"/>
              <dgm:constr type="h" for="ch" forName="Accent6" refType="h" fact="0.1333"/>
              <dgm:constr type="l" for="ch" forName="Accent5" refType="w" fact="0.2858"/>
              <dgm:constr type="t" for="ch" forName="Accent5" refType="h" fact="0.7126"/>
              <dgm:constr type="w" for="ch" forName="Accent5" refType="w" fact="0.1622"/>
              <dgm:constr type="h" for="ch" forName="Accent5" refType="h" fact="0.1333"/>
              <dgm:constr type="l" for="ch" forName="Accent4" refType="w" fact="0.612"/>
              <dgm:constr type="t" for="ch" forName="Accent4" refType="h" fact="0.6834"/>
              <dgm:constr type="w" for="ch" forName="Accent4" refType="w" fact="0.1622"/>
              <dgm:constr type="h" for="ch" forName="Accent4" refType="h" fact="0.1333"/>
              <dgm:constr type="l" for="ch" forName="Accent3" refType="w" fact="0.7435"/>
              <dgm:constr type="t" for="ch" forName="Accent3" refType="h" fact="0.4021"/>
              <dgm:constr type="w" for="ch" forName="Accent3" refType="w" fact="0.1622"/>
              <dgm:constr type="h" for="ch" forName="Accent3" refType="h" fact="0.1333"/>
              <dgm:constr type="l" for="ch" forName="Accent2" refType="w" fact="0.5542"/>
              <dgm:constr type="t" for="ch" forName="Accent2" refType="h" fact="0.1529"/>
              <dgm:constr type="w" for="ch" forName="Accent2" refType="w" fact="0.1622"/>
              <dgm:constr type="h" for="ch" forName="Accent2" refType="h" fact="0.1333"/>
              <dgm:constr type="l" for="ch" forName="Accent1" refType="w" fact="0"/>
              <dgm:constr type="t" for="ch" forName="Accent1" refType="h" fact="0"/>
              <dgm:constr type="w" for="ch" forName="Accent1" refType="w" fact="0"/>
              <dgm:constr type="h" for="ch" forName="Accent1" refType="h" fact="0"/>
              <dgm:constr type="l" for="ch" forName="Child4" refType="w" fact="0.3246"/>
              <dgm:constr type="t" for="ch" forName="Child4" refType="h" fact="0.7093"/>
              <dgm:constr type="w" for="ch" forName="Child4" refType="w" fact="0.3523"/>
              <dgm:constr type="h" for="ch" forName="Child4" refType="h" fact="0.2907"/>
              <dgm:constr type="l" for="ch" forName="Parent" refType="w" fact="0.285"/>
              <dgm:constr type="t" for="ch" forName="Parent" refType="h" fact="0.3226"/>
              <dgm:constr type="w" for="ch" forName="Parent" refType="w" fact="0.4299"/>
              <dgm:constr type="h" for="ch" forName="Parent" refType="h" fact="0.3547"/>
              <dgm:constr type="l" for="ch" forName="Child2" refType="w" fact="0.6477"/>
              <dgm:constr type="t" for="ch" forName="Child2" refType="h" fact="0.1788"/>
              <dgm:constr type="w" for="ch" forName="Child2" refType="w" fact="0.3523"/>
              <dgm:constr type="h" for="ch" forName="Child2" refType="h" fact="0.2907"/>
              <dgm:constr type="l" for="ch" forName="Child3" refType="w" fact="0.6477"/>
              <dgm:constr type="t" for="ch" forName="Child3" refType="h" fact="0.5303"/>
              <dgm:constr type="w" for="ch" forName="Child3" refType="w" fact="0.3523"/>
              <dgm:constr type="h" for="ch" forName="Child3" refType="h" fact="0.2907"/>
              <dgm:constr type="l" for="ch" forName="Child5" refType="w" fact="0"/>
              <dgm:constr type="t" for="ch" forName="Child5" refType="h" fact="0.5305"/>
              <dgm:constr type="w" for="ch" forName="Child5" refType="w" fact="0.3523"/>
              <dgm:constr type="h" for="ch" forName="Child5" refType="h" fact="0.2907"/>
              <dgm:constr type="l" for="ch" forName="Child6" refType="w" fact="0"/>
              <dgm:constr type="t" for="ch" forName="Child6" refType="h" fact="0.1784"/>
              <dgm:constr type="w" for="ch" forName="Child6" refType="w" fact="0.3523"/>
              <dgm:constr type="h" for="ch" forName="Child6" refType="h" fact="0.2907"/>
              <dgm:constr type="l" for="ch" forName="Child1" refType="w" fact="0.3246"/>
              <dgm:constr type="t" for="ch" forName="Child1" refType="h" fact="0"/>
              <dgm:constr type="w" for="ch" forName="Child1" refType="w" fact="0.3523"/>
              <dgm:constr type="h" for="ch" forName="Child1" refType="h" fact="0.2907"/>
            </dgm:constrLst>
          </dgm:else>
        </dgm:choose>
      </dgm:if>
      <dgm:else name="Name11">
        <dgm:choose name="Name12">
          <dgm:if name="Name13" axis="ch ch" ptType="node node" st="1 1" cnt="1 0" func="cnt" op="equ" val="0">
            <dgm:alg type="composite">
              <dgm:param type="ar" val="1.156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4" axis="ch ch" ptType="node node" st="1 1" cnt="1 0" func="cnt" op="lte" val="1">
            <dgm:alg type="composite">
              <dgm:param type="ar" val="1.368"/>
            </dgm:alg>
            <dgm:constrLst>
              <dgm:constr type="primFontSz" for="des" forName="Parent" val="65"/>
              <dgm:constr type="primFontSz" for="des" forName="Child1" val="65"/>
              <dgm:constr type="primFontSz" for="des" forName="Child1" refType="primFontSz" refFor="des" refForName="Parent" op="lte"/>
              <dgm:constr type="r" for="ch" forName="Accent1" refType="w" fact="0.8315"/>
              <dgm:constr type="t" for="ch" forName="Accent1" refType="h" fact="0.2946"/>
              <dgm:constr type="w" for="ch" forName="Accent1" refType="w" fact="0.462"/>
              <dgm:constr type="h" for="ch" forName="Accent1" refType="h" fact="0.5472"/>
              <dgm:constr type="r" for="ch" forName="Parent" refType="w"/>
              <dgm:constr type="t" for="ch" forName="Parent" refType="h" fact="0.2885"/>
              <dgm:constr type="w" for="ch" forName="Parent" refType="w" fact="0.6013"/>
              <dgm:constr type="h" for="ch" forName="Parent" refType="h" fact="0.7115"/>
              <dgm:constr type="r" for="ch" forName="Child1" refType="w" fact="0.4927"/>
              <dgm:constr type="t" for="ch" forName="Child1" refType="h" fact="0"/>
              <dgm:constr type="w" for="ch" forName="Child1" refType="w" fact="0.4927"/>
              <dgm:constr type="h" for="ch" forName="Child1" refType="h" fact="0.5831"/>
            </dgm:constrLst>
          </dgm:if>
          <dgm:if name="Name15" axis="ch ch" ptType="node node" st="1 1" cnt="1 0" func="cnt" op="equ" val="2">
            <dgm:alg type="composite">
              <dgm:param type="ar" val="1.0619"/>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2" refType="w" fact="0.3587"/>
              <dgm:constr type="t" for="ch" forName="Accent2" refType="h" fact="0.3477"/>
              <dgm:constr type="w" for="ch" forName="Accent2" refType="w" fact="0.2269"/>
              <dgm:constr type="h" for="ch" forName="Accent2" refType="h" fact="0.2076"/>
              <dgm:constr type="r" for="ch" forName="Accent1" refType="w" fact="0"/>
              <dgm:constr type="t" for="ch" forName="Accent1" refType="h" fact="0"/>
              <dgm:constr type="w" for="ch" forName="Accent1" refType="w" fact="0"/>
              <dgm:constr type="h" for="ch" forName="Accent1" refType="h" fact="0"/>
              <dgm:constr type="r" for="ch" forName="Parent" refType="w"/>
              <dgm:constr type="t" for="ch" forName="Parent" refType="h" fact="0.2239"/>
              <dgm:constr type="w" for="ch" forName="Parent" refType="w" fact="0.6013"/>
              <dgm:constr type="h" for="ch" forName="Parent" refType="h" fact="0.5523"/>
              <dgm:constr type="r" for="ch" forName="Child1" refType="w" fact="0.4927"/>
              <dgm:constr type="t" for="ch" forName="Child1" refType="h" fact="0"/>
              <dgm:constr type="w" for="ch" forName="Child1" refType="w" fact="0.4927"/>
              <dgm:constr type="h" for="ch" forName="Child1" refType="h" fact="0.4527"/>
              <dgm:constr type="r" for="ch" forName="Child2" refType="w" fact="0.5073"/>
              <dgm:constr type="t" for="ch" forName="Child2" refType="h" fact="0.5473"/>
              <dgm:constr type="w" for="ch" forName="Child2" refType="w" fact="0.4927"/>
              <dgm:constr type="h" for="ch" forName="Child2" refType="h" fact="0.4527"/>
            </dgm:constrLst>
          </dgm:if>
          <dgm:if name="Name16" axis="ch ch" ptType="node node" st="1 1" cnt="1 0" func="cnt" op="equ" val="3">
            <dgm:alg type="composite">
              <dgm:param type="ar" val="0.8305"/>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3" refType="w" fact="0.5427"/>
              <dgm:constr type="t" for="ch" forName="Accent3" refType="h" fact="0.6145"/>
              <dgm:constr type="w" for="ch" forName="Accent3" refType="w" fact="0.2269"/>
              <dgm:constr type="h" for="ch" forName="Accent3" refType="h" fact="0.1623"/>
              <dgm:constr type="r" for="ch" forName="Accent2" refType="w" fact="0.3587"/>
              <dgm:constr type="t" for="ch" forName="Accent2" refType="h" fact="0.2719"/>
              <dgm:constr type="w" for="ch" forName="Accent2" refType="w" fact="0.2269"/>
              <dgm:constr type="h" for="ch" forName="Accent2" refType="h" fact="0.1623"/>
              <dgm:constr type="r" for="ch" forName="Accent1" refType="w" fact="0"/>
              <dgm:constr type="t" for="ch" forName="Accent1" refType="h" fact="0"/>
              <dgm:constr type="w" for="ch" forName="Accent1" refType="w" fact="0"/>
              <dgm:constr type="h" for="ch" forName="Accent1" refType="h" fact="0"/>
              <dgm:constr type="r" for="ch" forName="Child3" refType="w" fact="0.9446"/>
              <dgm:constr type="t" for="ch" forName="Child3" refType="h" fact="0.646"/>
              <dgm:constr type="w" for="ch" forName="Child3" refType="w" fact="0.4927"/>
              <dgm:constr type="h" for="ch" forName="Child3" refType="h" fact="0.354"/>
              <dgm:constr type="r" for="ch" forName="Parent" refType="w"/>
              <dgm:constr type="t" for="ch" forName="Parent" refType="h" fact="0.1751"/>
              <dgm:constr type="w" for="ch" forName="Parent" refType="w" fact="0.6013"/>
              <dgm:constr type="h" for="ch" forName="Parent" refType="h" fact="0.4319"/>
              <dgm:constr type="r" for="ch" forName="Child1" refType="w" fact="0.4927"/>
              <dgm:constr type="t" for="ch" forName="Child1" refType="h" fact="0"/>
              <dgm:constr type="w" for="ch" forName="Child1" refType="w" fact="0.4927"/>
              <dgm:constr type="h" for="ch" forName="Child1" refType="h" fact="0.354"/>
              <dgm:constr type="r" for="ch" forName="Child2" refType="w" fact="0.4927"/>
              <dgm:constr type="t" for="ch" forName="Child2" refType="h" fact="0.428"/>
              <dgm:constr type="w" for="ch" forName="Child2" refType="w" fact="0.4927"/>
              <dgm:constr type="h" for="ch" forName="Child2" refType="h" fact="0.354"/>
            </dgm:constrLst>
          </dgm:if>
          <dgm:if name="Name17" axis="ch ch" ptType="node node" st="1 1" cnt="1 0" func="cnt" op="equ" val="4">
            <dgm:alg type="composite">
              <dgm:param type="ar" val="0.682"/>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4" refType="w" fact="0.5427"/>
              <dgm:constr type="t" for="ch" forName="Accent4" refType="h" fact="0.6834"/>
              <dgm:constr type="w" for="ch" forName="Accent4" refType="w" fact="0.2269"/>
              <dgm:constr type="h" for="ch" forName="Accent4" refType="h" fact="0.1333"/>
              <dgm:constr type="r" for="ch" forName="Accent3" refType="w" fact="0.3587"/>
              <dgm:constr type="t" for="ch" forName="Accent3" refType="h" fact="0.4021"/>
              <dgm:constr type="w" for="ch" forName="Accent3" refType="w" fact="0.2269"/>
              <dgm:constr type="h" for="ch" forName="Accent3" refType="h" fact="0.1333"/>
              <dgm:constr type="r" for="ch" forName="Accent2" refType="w" fact="0.6235"/>
              <dgm:constr type="t" for="ch" forName="Accent2" refType="h" fact="0.1529"/>
              <dgm:constr type="w" for="ch" forName="Accent2" refType="w" fact="0.2269"/>
              <dgm:constr type="h" for="ch" forName="Accent2" refType="h" fact="0.1333"/>
              <dgm:constr type="r" for="ch" forName="Accent1" refType="w" fact="0"/>
              <dgm:constr type="t" for="ch" forName="Accent1" refType="h" fact="0"/>
              <dgm:constr type="w" for="ch" forName="Accent1" refType="w" fact="0"/>
              <dgm:constr type="h" for="ch" forName="Accent1" refType="h" fact="0"/>
              <dgm:constr type="r" for="ch" forName="Child4" refType="w" fact="0.9446"/>
              <dgm:constr type="t" for="ch" forName="Child4" refType="h" fact="0.7093"/>
              <dgm:constr type="w" for="ch" forName="Child4" refType="w" fact="0.4927"/>
              <dgm:constr type="h" for="ch" forName="Child4" refType="h" fact="0.2907"/>
              <dgm:constr type="r" for="ch" forName="Parent" refType="w"/>
              <dgm:constr type="t" for="ch" forName="Parent" refType="h" fact="0.3226"/>
              <dgm:constr type="w" for="ch" forName="Parent" refType="w" fact="0.6013"/>
              <dgm:constr type="h" for="ch" forName="Parent" refType="h" fact="0.3547"/>
              <dgm:constr type="r" for="ch" forName="Child2" refType="w" fact="0.4927"/>
              <dgm:constr type="t" for="ch" forName="Child2" refType="h" fact="0.1788"/>
              <dgm:constr type="w" for="ch" forName="Child2" refType="w" fact="0.4927"/>
              <dgm:constr type="h" for="ch" forName="Child2" refType="h" fact="0.2907"/>
              <dgm:constr type="r" for="ch" forName="Child3" refType="w" fact="0.4927"/>
              <dgm:constr type="t" for="ch" forName="Child3" refType="h" fact="0.5303"/>
              <dgm:constr type="w" for="ch" forName="Child3" refType="w" fact="0.4927"/>
              <dgm:constr type="h" for="ch" forName="Child3" refType="h" fact="0.2907"/>
              <dgm:constr type="r" for="ch" forName="Child1" refType="w" fact="0.9446"/>
              <dgm:constr type="t" for="ch" forName="Child1" refType="h" fact="0"/>
              <dgm:constr type="w" for="ch" forName="Child1" refType="w" fact="0.4927"/>
              <dgm:constr type="h" for="ch" forName="Child1" refType="h" fact="0.2907"/>
            </dgm:constrLst>
          </dgm:if>
          <dgm:if name="Name18" axis="ch ch" ptType="node node" st="1 1" cnt="1 0" func="cnt" op="equ" val="5">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Accent5" refType="w" fact="0.7142"/>
              <dgm:constr type="t" for="ch" forName="Accent5" refType="h" fact="0.7126"/>
              <dgm:constr type="w" for="ch" forName="Accent5" refType="w" fact="0.1622"/>
              <dgm:constr type="h" for="ch" forName="Accent5" refType="h" fact="0.1333"/>
              <dgm:constr type="r" for="ch" forName="Accent4" refType="w" fact="0.388"/>
              <dgm:constr type="t" for="ch" forName="Accent4" refType="h" fact="0.6834"/>
              <dgm:constr type="w" for="ch" forName="Accent4" refType="w" fact="0.1622"/>
              <dgm:constr type="h" for="ch" forName="Accent4" refType="h" fact="0.1333"/>
              <dgm:constr type="r" for="ch" forName="Accent3" refType="w" fact="0.2565"/>
              <dgm:constr type="t" for="ch" forName="Accent3" refType="h" fact="0.4021"/>
              <dgm:constr type="w" for="ch" forName="Accent3" refType="w" fact="0.1622"/>
              <dgm:constr type="h" for="ch" forName="Accent3" refType="h" fact="0.1333"/>
              <dgm:constr type="r" for="ch" forName="Accent2" refType="w" fact="0.4458"/>
              <dgm:constr type="t" for="ch" forName="Accent2" refType="h" fact="0.1529"/>
              <dgm:constr type="w" for="ch" forName="Accent2" refType="w" fact="0.1622"/>
              <dgm:constr type="h" for="ch" forName="Accent2" refType="h" fact="0.1333"/>
              <dgm:constr type="r" for="ch" forName="Accent1" refType="w" fact="0"/>
              <dgm:constr type="t" for="ch" forName="Accent1" refType="h" fact="0"/>
              <dgm:constr type="w" for="ch" forName="Accent1" refType="w" fact="0"/>
              <dgm:constr type="h" for="ch" forName="Accent1" refType="h" fact="0"/>
              <dgm:constr type="r" for="ch" forName="Child4" refType="w" fact="0.6754"/>
              <dgm:constr type="t" for="ch" forName="Child4" refType="h" fact="0.7093"/>
              <dgm:constr type="w" for="ch" forName="Child4" refType="w" fact="0.3523"/>
              <dgm:constr type="h" for="ch" forName="Child4" refType="h" fact="0.2907"/>
              <dgm:constr type="r" for="ch" forName="Parent" refType="w" fact="0.715"/>
              <dgm:constr type="t" for="ch" forName="Parent" refType="h" fact="0.3226"/>
              <dgm:constr type="w" for="ch" forName="Parent" refType="w" fact="0.4299"/>
              <dgm:constr type="h" for="ch" forName="Parent" refType="h" fact="0.3547"/>
              <dgm:constr type="r" for="ch" forName="Child2" refType="w" fact="0.3523"/>
              <dgm:constr type="t" for="ch" forName="Child2" refType="h" fact="0.1788"/>
              <dgm:constr type="w" for="ch" forName="Child2" refType="w" fact="0.3523"/>
              <dgm:constr type="h" for="ch" forName="Child2" refType="h" fact="0.2907"/>
              <dgm:constr type="r" for="ch" forName="Child3" refType="w" fact="0.3523"/>
              <dgm:constr type="t" for="ch" forName="Child3" refType="h" fact="0.5303"/>
              <dgm:constr type="w" for="ch" forName="Child3" refType="w" fact="0.3523"/>
              <dgm:constr type="h" for="ch" forName="Child3" refType="h" fact="0.2907"/>
              <dgm:constr type="r" for="ch" forName="Child5" refType="w"/>
              <dgm:constr type="t" for="ch" forName="Child5" refType="h" fact="0.5305"/>
              <dgm:constr type="w" for="ch" forName="Child5" refType="w" fact="0.3523"/>
              <dgm:constr type="h" for="ch" forName="Child5" refType="h" fact="0.2907"/>
              <dgm:constr type="r" for="ch" forName="Child1" refType="w" fact="0.6754"/>
              <dgm:constr type="t" for="ch" forName="Child1" refType="h" fact="0"/>
              <dgm:constr type="w" for="ch" forName="Child1" refType="w" fact="0.3523"/>
              <dgm:constr type="h" for="ch" forName="Child1" refType="h" fact="0.2907"/>
            </dgm:constrLst>
          </dgm:if>
          <dgm:else name="Name19">
            <dgm:alg type="composite">
              <dgm:param type="ar" val="0.9538"/>
            </dgm:alg>
            <dgm:constrLst>
              <dgm:constr type="primFontSz" for="des" forName="Parent" val="65"/>
              <dgm:constr type="primFontSz" for="des" forName="Child1"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5" refType="primFontSz" refFor="des" refForName="Parent" op="lte"/>
              <dgm:constr type="primFontSz" for="des" forName="Child6" refType="primFontSz" refFor="des" refForName="Parent" op="lte"/>
              <dgm:constr type="primFontSz" for="des" forName="Child7"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ptType="node" op="equ" val="65"/>
              <dgm:constr type="r" for="ch" forName="Accent6" refType="w" fact="0.9066"/>
              <dgm:constr type="t" for="ch" forName="Accent6" refType="h" fact="0.4635"/>
              <dgm:constr type="w" for="ch" forName="Accent6" refType="w" fact="0.1622"/>
              <dgm:constr type="h" for="ch" forName="Accent6" refType="h" fact="0.1333"/>
              <dgm:constr type="r" for="ch" forName="Accent5" refType="w" fact="0.7142"/>
              <dgm:constr type="t" for="ch" forName="Accent5" refType="h" fact="0.7126"/>
              <dgm:constr type="w" for="ch" forName="Accent5" refType="w" fact="0.1622"/>
              <dgm:constr type="h" for="ch" forName="Accent5" refType="h" fact="0.1333"/>
              <dgm:constr type="r" for="ch" forName="Accent4" refType="w" fact="0.388"/>
              <dgm:constr type="t" for="ch" forName="Accent4" refType="h" fact="0.6834"/>
              <dgm:constr type="w" for="ch" forName="Accent4" refType="w" fact="0.1622"/>
              <dgm:constr type="h" for="ch" forName="Accent4" refType="h" fact="0.1333"/>
              <dgm:constr type="r" for="ch" forName="Accent3" refType="w" fact="0.2565"/>
              <dgm:constr type="t" for="ch" forName="Accent3" refType="h" fact="0.4021"/>
              <dgm:constr type="w" for="ch" forName="Accent3" refType="w" fact="0.1622"/>
              <dgm:constr type="h" for="ch" forName="Accent3" refType="h" fact="0.1333"/>
              <dgm:constr type="r" for="ch" forName="Accent2" refType="w" fact="0.4458"/>
              <dgm:constr type="t" for="ch" forName="Accent2" refType="h" fact="0.1529"/>
              <dgm:constr type="w" for="ch" forName="Accent2" refType="w" fact="0.1622"/>
              <dgm:constr type="h" for="ch" forName="Accent2" refType="h" fact="0.1333"/>
              <dgm:constr type="r" for="ch" forName="Accent1" refType="w" fact="0"/>
              <dgm:constr type="t" for="ch" forName="Accent1" refType="h" fact="0"/>
              <dgm:constr type="w" for="ch" forName="Accent1" refType="w" fact="0"/>
              <dgm:constr type="h" for="ch" forName="Accent1" refType="h" fact="0"/>
              <dgm:constr type="r" for="ch" forName="Child4" refType="w" fact="0.6754"/>
              <dgm:constr type="t" for="ch" forName="Child4" refType="h" fact="0.7093"/>
              <dgm:constr type="w" for="ch" forName="Child4" refType="w" fact="0.3523"/>
              <dgm:constr type="h" for="ch" forName="Child4" refType="h" fact="0.2907"/>
              <dgm:constr type="r" for="ch" forName="Parent" refType="w" fact="0.715"/>
              <dgm:constr type="t" for="ch" forName="Parent" refType="h" fact="0.3226"/>
              <dgm:constr type="w" for="ch" forName="Parent" refType="w" fact="0.4299"/>
              <dgm:constr type="h" for="ch" forName="Parent" refType="h" fact="0.3547"/>
              <dgm:constr type="r" for="ch" forName="Child2" refType="w" fact="0.3523"/>
              <dgm:constr type="t" for="ch" forName="Child2" refType="h" fact="0.1788"/>
              <dgm:constr type="w" for="ch" forName="Child2" refType="w" fact="0.3523"/>
              <dgm:constr type="h" for="ch" forName="Child2" refType="h" fact="0.2907"/>
              <dgm:constr type="r" for="ch" forName="Child3" refType="w" fact="0.3523"/>
              <dgm:constr type="t" for="ch" forName="Child3" refType="h" fact="0.5303"/>
              <dgm:constr type="w" for="ch" forName="Child3" refType="w" fact="0.3523"/>
              <dgm:constr type="h" for="ch" forName="Child3" refType="h" fact="0.2907"/>
              <dgm:constr type="r" for="ch" forName="Child5" refType="w"/>
              <dgm:constr type="t" for="ch" forName="Child5" refType="h" fact="0.5305"/>
              <dgm:constr type="w" for="ch" forName="Child5" refType="w" fact="0.3523"/>
              <dgm:constr type="h" for="ch" forName="Child5" refType="h" fact="0.2907"/>
              <dgm:constr type="r" for="ch" forName="Child6" refType="w"/>
              <dgm:constr type="t" for="ch" forName="Child6" refType="h" fact="0.1784"/>
              <dgm:constr type="w" for="ch" forName="Child6" refType="w" fact="0.3523"/>
              <dgm:constr type="h" for="ch" forName="Child6" refType="h" fact="0.2907"/>
              <dgm:constr type="r" for="ch" forName="Child1" refType="w" fact="0.6754"/>
              <dgm:constr type="t" for="ch" forName="Child1" refType="h" fact="0"/>
              <dgm:constr type="w" for="ch" forName="Child1" refType="w" fact="0.3523"/>
              <dgm:constr type="h" for="ch" forName="Child1" refType="h" fact="0.2907"/>
            </dgm:constrLst>
          </dgm:else>
        </dgm:choose>
      </dgm:else>
    </dgm:choose>
    <dgm:forEach name="wrapper" axis="self" ptType="parTrans">
      <dgm:forEach name="accentRepeat" axis="self">
        <dgm:layoutNode name="Accent" styleLbl="bgShp">
          <dgm:alg type="sp"/>
          <dgm:shape xmlns:r="http://schemas.openxmlformats.org/officeDocument/2006/relationships" type="hexagon" r:blip="" zOrderOff="-2">
            <dgm:adjLst>
              <dgm:adj idx="1" val="0.289"/>
              <dgm:adj idx="2" val="1.1547"/>
            </dgm:adjLst>
          </dgm:shape>
          <dgm:presOf/>
        </dgm:layoutNode>
      </dgm:forEach>
    </dgm:forEach>
    <dgm:forEach name="Name20" axis="ch" ptType="node" cnt="1">
      <dgm:layoutNode name="Parent" styleLbl="node0">
        <dgm:varLst>
          <dgm:chMax val="6"/>
          <dgm:chPref val="6"/>
        </dgm:varLst>
        <dgm:alg type="tx"/>
        <dgm:shape xmlns:r="http://schemas.openxmlformats.org/officeDocument/2006/relationships" type="hexagon" r:blip="">
          <dgm:adjLst>
            <dgm:adj idx="1" val="0.2857"/>
            <dgm:adj idx="2" val="1.1547"/>
          </dgm:adjLst>
        </dgm:shape>
        <dgm:presOf axis="self"/>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1" axis="ch ch" ptType="node node" st="1 1" cnt="1 1">
      <dgm:layoutNode name="Accent1">
        <dgm:alg type="sp"/>
        <dgm:shape xmlns:r="http://schemas.openxmlformats.org/officeDocument/2006/relationships" r:blip="" zOrderOff="-2">
          <dgm:adjLst/>
        </dgm:shape>
        <dgm:presOf/>
        <dgm:constrLst/>
        <dgm:forEach name="Name22" ref="accentRepeat"/>
      </dgm:layoutNode>
      <dgm:layoutNode name="Child1"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3" axis="ch ch" ptType="node node" st="1 2" cnt="1 1">
      <dgm:layoutNode name="Accent2">
        <dgm:alg type="sp"/>
        <dgm:shape xmlns:r="http://schemas.openxmlformats.org/officeDocument/2006/relationships" r:blip="" zOrderOff="-2">
          <dgm:adjLst/>
        </dgm:shape>
        <dgm:presOf/>
        <dgm:constrLst/>
        <dgm:forEach name="Name24" ref="accentRepeat"/>
      </dgm:layoutNode>
      <dgm:layoutNode name="Child2"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5" axis="ch ch" ptType="node node" st="1 3" cnt="1 1">
      <dgm:layoutNode name="Accent3">
        <dgm:alg type="sp"/>
        <dgm:shape xmlns:r="http://schemas.openxmlformats.org/officeDocument/2006/relationships" r:blip="" zOrderOff="-2">
          <dgm:adjLst/>
        </dgm:shape>
        <dgm:presOf/>
        <dgm:constrLst/>
        <dgm:forEach name="Name26" ref="accentRepeat"/>
      </dgm:layoutNode>
      <dgm:layoutNode name="Child3"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7" axis="ch ch" ptType="node node" st="1 4" cnt="1 1">
      <dgm:layoutNode name="Accent4">
        <dgm:alg type="sp"/>
        <dgm:shape xmlns:r="http://schemas.openxmlformats.org/officeDocument/2006/relationships" r:blip="">
          <dgm:adjLst/>
        </dgm:shape>
        <dgm:presOf/>
        <dgm:constrLst/>
        <dgm:forEach name="Name28" ref="accentRepeat"/>
      </dgm:layoutNode>
      <dgm:layoutNode name="Child4"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29" axis="ch ch" ptType="node node" st="1 5" cnt="1 1">
      <dgm:layoutNode name="Accent5">
        <dgm:alg type="sp"/>
        <dgm:shape xmlns:r="http://schemas.openxmlformats.org/officeDocument/2006/relationships" r:blip="">
          <dgm:adjLst/>
        </dgm:shape>
        <dgm:presOf/>
        <dgm:constrLst/>
        <dgm:forEach name="Name30" ref="accentRepeat"/>
      </dgm:layoutNode>
      <dgm:layoutNode name="Child5"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1" axis="ch ch" ptType="node node" st="1 6" cnt="1 1">
      <dgm:layoutNode name="Accent6">
        <dgm:alg type="sp"/>
        <dgm:shape xmlns:r="http://schemas.openxmlformats.org/officeDocument/2006/relationships" r:blip="">
          <dgm:adjLst/>
        </dgm:shape>
        <dgm:presOf/>
        <dgm:constrLst/>
        <dgm:forEach name="Name32" ref="accentRepeat"/>
      </dgm:layoutNode>
      <dgm:layoutNode name="Child6" styleLbl="node1">
        <dgm:varLst>
          <dgm:chMax val="0"/>
          <dgm:chPref val="0"/>
          <dgm:bulletEnabled val="1"/>
        </dgm:varLst>
        <dgm:alg type="tx">
          <dgm:param type="shpTxLTRAlignCh" val="ctr"/>
          <dgm:param type="txAnchorVertCh" val="mid"/>
        </dgm:alg>
        <dgm:shape xmlns:r="http://schemas.openxmlformats.org/officeDocument/2006/relationships" type="hexagon" r:blip="">
          <dgm:adjLst>
            <dgm:adj idx="1" val="0.2857"/>
            <dgm:adj idx="2" val="1.1547"/>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32.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3.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AEE8E91-4A8D-461A-B4FC-93929FDB8188}" type="datetimeFigureOut">
              <a:rPr lang="en-IN" smtClean="0"/>
              <a:t>27-11-2025</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6730AB2-DF84-4DAF-8A83-BA065C72BE88}" type="slidenum">
              <a:rPr lang="en-IN" smtClean="0"/>
              <a:t>‹#›</a:t>
            </a:fld>
            <a:endParaRPr lang="en-IN"/>
          </a:p>
        </p:txBody>
      </p:sp>
    </p:spTree>
    <p:extLst>
      <p:ext uri="{BB962C8B-B14F-4D97-AF65-F5344CB8AC3E}">
        <p14:creationId xmlns:p14="http://schemas.microsoft.com/office/powerpoint/2010/main" val="17915227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2</a:t>
            </a:fld>
            <a:endParaRPr lang="en-IN"/>
          </a:p>
        </p:txBody>
      </p:sp>
    </p:spTree>
    <p:extLst>
      <p:ext uri="{BB962C8B-B14F-4D97-AF65-F5344CB8AC3E}">
        <p14:creationId xmlns:p14="http://schemas.microsoft.com/office/powerpoint/2010/main" val="156674818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D41F3E-E4BB-FEB1-6A42-D27F81C35D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06D44B-477D-F134-1BBE-F84B2DA86C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DEF9EE2-7D35-E4FF-BC9D-BBD23A6E00EC}"/>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F8CE8D0F-3293-04FC-5551-1B518EC7B047}"/>
              </a:ext>
            </a:extLst>
          </p:cNvPr>
          <p:cNvSpPr>
            <a:spLocks noGrp="1"/>
          </p:cNvSpPr>
          <p:nvPr>
            <p:ph type="sldNum" sz="quarter" idx="5"/>
          </p:nvPr>
        </p:nvSpPr>
        <p:spPr/>
        <p:txBody>
          <a:bodyPr/>
          <a:lstStyle/>
          <a:p>
            <a:fld id="{C6730AB2-DF84-4DAF-8A83-BA065C72BE88}" type="slidenum">
              <a:rPr lang="en-IN" smtClean="0"/>
              <a:t>3</a:t>
            </a:fld>
            <a:endParaRPr lang="en-IN"/>
          </a:p>
        </p:txBody>
      </p:sp>
    </p:spTree>
    <p:extLst>
      <p:ext uri="{BB962C8B-B14F-4D97-AF65-F5344CB8AC3E}">
        <p14:creationId xmlns:p14="http://schemas.microsoft.com/office/powerpoint/2010/main" val="18251067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6A1B64-FC39-DEC6-60DB-F24442F654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8D6D89-E9F3-B0B5-0CFF-173893DC0A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A952401-D48D-994B-3061-A5334F38ACFD}"/>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0C1D0056-BF63-2E7F-13F7-E607575271A7}"/>
              </a:ext>
            </a:extLst>
          </p:cNvPr>
          <p:cNvSpPr>
            <a:spLocks noGrp="1"/>
          </p:cNvSpPr>
          <p:nvPr>
            <p:ph type="sldNum" sz="quarter" idx="5"/>
          </p:nvPr>
        </p:nvSpPr>
        <p:spPr/>
        <p:txBody>
          <a:bodyPr/>
          <a:lstStyle/>
          <a:p>
            <a:fld id="{C6730AB2-DF84-4DAF-8A83-BA065C72BE88}" type="slidenum">
              <a:rPr lang="en-IN" smtClean="0"/>
              <a:t>5</a:t>
            </a:fld>
            <a:endParaRPr lang="en-IN"/>
          </a:p>
        </p:txBody>
      </p:sp>
    </p:spTree>
    <p:extLst>
      <p:ext uri="{BB962C8B-B14F-4D97-AF65-F5344CB8AC3E}">
        <p14:creationId xmlns:p14="http://schemas.microsoft.com/office/powerpoint/2010/main" val="14512825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8</a:t>
            </a:fld>
            <a:endParaRPr lang="en-IN"/>
          </a:p>
        </p:txBody>
      </p:sp>
    </p:spTree>
    <p:extLst>
      <p:ext uri="{BB962C8B-B14F-4D97-AF65-F5344CB8AC3E}">
        <p14:creationId xmlns:p14="http://schemas.microsoft.com/office/powerpoint/2010/main" val="4628164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7EC7803B-FC7F-454C-94F9-2C5632066AA9}" type="slidenum">
              <a:rPr lang="en-IN" smtClean="0"/>
              <a:t>15</a:t>
            </a:fld>
            <a:endParaRPr lang="en-IN"/>
          </a:p>
        </p:txBody>
      </p:sp>
    </p:spTree>
    <p:extLst>
      <p:ext uri="{BB962C8B-B14F-4D97-AF65-F5344CB8AC3E}">
        <p14:creationId xmlns:p14="http://schemas.microsoft.com/office/powerpoint/2010/main" val="303676711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EC536E-947B-AE68-8474-7A43FD7BF5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9CF1AD9-14C6-C934-0B5E-09FB8579EB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3FA17A-C954-3FCE-55B1-2136FEDDB246}"/>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C8A5D28C-623D-07A9-6400-2541FAEC500D}"/>
              </a:ext>
            </a:extLst>
          </p:cNvPr>
          <p:cNvSpPr>
            <a:spLocks noGrp="1"/>
          </p:cNvSpPr>
          <p:nvPr>
            <p:ph type="sldNum" sz="quarter" idx="5"/>
          </p:nvPr>
        </p:nvSpPr>
        <p:spPr/>
        <p:txBody>
          <a:bodyPr/>
          <a:lstStyle/>
          <a:p>
            <a:fld id="{7EC7803B-FC7F-454C-94F9-2C5632066AA9}" type="slidenum">
              <a:rPr lang="en-IN" smtClean="0"/>
              <a:t>16</a:t>
            </a:fld>
            <a:endParaRPr lang="en-IN"/>
          </a:p>
        </p:txBody>
      </p:sp>
    </p:spTree>
    <p:extLst>
      <p:ext uri="{BB962C8B-B14F-4D97-AF65-F5344CB8AC3E}">
        <p14:creationId xmlns:p14="http://schemas.microsoft.com/office/powerpoint/2010/main" val="29313207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5C8D90-3C4C-4F4C-F5CA-90E40D59EF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1A60BF-0570-F39B-1F02-F0B0CA8FB00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7AD3B8-4779-019E-38C7-8AF8E8FB31EE}"/>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08A2F5F2-0120-9EB1-0D7F-6D15C507CC78}"/>
              </a:ext>
            </a:extLst>
          </p:cNvPr>
          <p:cNvSpPr>
            <a:spLocks noGrp="1"/>
          </p:cNvSpPr>
          <p:nvPr>
            <p:ph type="sldNum" sz="quarter" idx="5"/>
          </p:nvPr>
        </p:nvSpPr>
        <p:spPr/>
        <p:txBody>
          <a:bodyPr/>
          <a:lstStyle/>
          <a:p>
            <a:fld id="{7EC7803B-FC7F-454C-94F9-2C5632066AA9}" type="slidenum">
              <a:rPr lang="en-IN" smtClean="0"/>
              <a:t>17</a:t>
            </a:fld>
            <a:endParaRPr lang="en-IN"/>
          </a:p>
        </p:txBody>
      </p:sp>
    </p:spTree>
    <p:extLst>
      <p:ext uri="{BB962C8B-B14F-4D97-AF65-F5344CB8AC3E}">
        <p14:creationId xmlns:p14="http://schemas.microsoft.com/office/powerpoint/2010/main" val="38127075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701A39-6E4A-C760-909C-11E278A894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DF8363-BCAA-5914-29A8-931ABE54AD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27DFD8-7E98-B944-9D43-261C08DC88CB}"/>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1577875A-9A76-E642-DA9D-1B7D91F4BB2D}"/>
              </a:ext>
            </a:extLst>
          </p:cNvPr>
          <p:cNvSpPr>
            <a:spLocks noGrp="1"/>
          </p:cNvSpPr>
          <p:nvPr>
            <p:ph type="sldNum" sz="quarter" idx="5"/>
          </p:nvPr>
        </p:nvSpPr>
        <p:spPr/>
        <p:txBody>
          <a:bodyPr/>
          <a:lstStyle/>
          <a:p>
            <a:fld id="{7EC7803B-FC7F-454C-94F9-2C5632066AA9}" type="slidenum">
              <a:rPr lang="en-IN" smtClean="0"/>
              <a:t>18</a:t>
            </a:fld>
            <a:endParaRPr lang="en-IN"/>
          </a:p>
        </p:txBody>
      </p:sp>
    </p:spTree>
    <p:extLst>
      <p:ext uri="{BB962C8B-B14F-4D97-AF65-F5344CB8AC3E}">
        <p14:creationId xmlns:p14="http://schemas.microsoft.com/office/powerpoint/2010/main" val="21730672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527B88-46C4-9184-790E-8E2C462FE6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54BF45-55EB-7B31-2477-57DB7ED56C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0D8118-00C4-D883-9CAA-69B52839BB8B}"/>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3D357987-27A5-F1A3-4656-E1172BB47870}"/>
              </a:ext>
            </a:extLst>
          </p:cNvPr>
          <p:cNvSpPr>
            <a:spLocks noGrp="1"/>
          </p:cNvSpPr>
          <p:nvPr>
            <p:ph type="sldNum" sz="quarter" idx="5"/>
          </p:nvPr>
        </p:nvSpPr>
        <p:spPr/>
        <p:txBody>
          <a:bodyPr/>
          <a:lstStyle/>
          <a:p>
            <a:fld id="{C6730AB2-DF84-4DAF-8A83-BA065C72BE88}" type="slidenum">
              <a:rPr lang="en-IN" smtClean="0"/>
              <a:t>19</a:t>
            </a:fld>
            <a:endParaRPr lang="en-IN"/>
          </a:p>
        </p:txBody>
      </p:sp>
    </p:spTree>
    <p:extLst>
      <p:ext uri="{BB962C8B-B14F-4D97-AF65-F5344CB8AC3E}">
        <p14:creationId xmlns:p14="http://schemas.microsoft.com/office/powerpoint/2010/main" val="20955504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20</a:t>
            </a:fld>
            <a:endParaRPr lang="en-IN"/>
          </a:p>
        </p:txBody>
      </p:sp>
    </p:spTree>
    <p:extLst>
      <p:ext uri="{BB962C8B-B14F-4D97-AF65-F5344CB8AC3E}">
        <p14:creationId xmlns:p14="http://schemas.microsoft.com/office/powerpoint/2010/main" val="331558184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62828D-EAFE-F758-78B3-95CC5F3850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23EB2D-D805-B816-518F-0DE8B09FF93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CE7925-60B6-1762-ECAB-95E118E5274B}"/>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9DEF417C-6F65-5C34-5453-8DB54B69B602}"/>
              </a:ext>
            </a:extLst>
          </p:cNvPr>
          <p:cNvSpPr>
            <a:spLocks noGrp="1"/>
          </p:cNvSpPr>
          <p:nvPr>
            <p:ph type="sldNum" sz="quarter" idx="5"/>
          </p:nvPr>
        </p:nvSpPr>
        <p:spPr/>
        <p:txBody>
          <a:bodyPr/>
          <a:lstStyle/>
          <a:p>
            <a:fld id="{C6730AB2-DF84-4DAF-8A83-BA065C72BE88}" type="slidenum">
              <a:rPr lang="en-IN" smtClean="0"/>
              <a:t>21</a:t>
            </a:fld>
            <a:endParaRPr lang="en-IN"/>
          </a:p>
        </p:txBody>
      </p:sp>
    </p:spTree>
    <p:extLst>
      <p:ext uri="{BB962C8B-B14F-4D97-AF65-F5344CB8AC3E}">
        <p14:creationId xmlns:p14="http://schemas.microsoft.com/office/powerpoint/2010/main" val="12070608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20C610-6F16-46B7-54CC-23F9ACEC38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F10FCB-2D52-1792-BC75-B15E0B80572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B242F4A-F170-0391-6B70-DEA3CFAACB43}"/>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B6871C32-0EA6-7F28-E4C7-33F00ED31461}"/>
              </a:ext>
            </a:extLst>
          </p:cNvPr>
          <p:cNvSpPr>
            <a:spLocks noGrp="1"/>
          </p:cNvSpPr>
          <p:nvPr>
            <p:ph type="sldNum" sz="quarter" idx="5"/>
          </p:nvPr>
        </p:nvSpPr>
        <p:spPr/>
        <p:txBody>
          <a:bodyPr/>
          <a:lstStyle/>
          <a:p>
            <a:fld id="{C6730AB2-DF84-4DAF-8A83-BA065C72BE88}" type="slidenum">
              <a:rPr lang="en-IN" smtClean="0"/>
              <a:t>22</a:t>
            </a:fld>
            <a:endParaRPr lang="en-IN"/>
          </a:p>
        </p:txBody>
      </p:sp>
    </p:spTree>
    <p:extLst>
      <p:ext uri="{BB962C8B-B14F-4D97-AF65-F5344CB8AC3E}">
        <p14:creationId xmlns:p14="http://schemas.microsoft.com/office/powerpoint/2010/main" val="85360134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409455-A07D-1496-E943-D5DCB50524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B70BD5-24CE-CEA1-5DA8-646EFDA707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AAE691-4C1C-0D82-8EE2-C864B39A3A63}"/>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1DEA0E4F-6B4A-286E-1A78-C1F7A386E43C}"/>
              </a:ext>
            </a:extLst>
          </p:cNvPr>
          <p:cNvSpPr>
            <a:spLocks noGrp="1"/>
          </p:cNvSpPr>
          <p:nvPr>
            <p:ph type="sldNum" sz="quarter" idx="5"/>
          </p:nvPr>
        </p:nvSpPr>
        <p:spPr/>
        <p:txBody>
          <a:bodyPr/>
          <a:lstStyle/>
          <a:p>
            <a:fld id="{C6730AB2-DF84-4DAF-8A83-BA065C72BE88}" type="slidenum">
              <a:rPr lang="en-IN" smtClean="0"/>
              <a:t>23</a:t>
            </a:fld>
            <a:endParaRPr lang="en-IN"/>
          </a:p>
        </p:txBody>
      </p:sp>
    </p:spTree>
    <p:extLst>
      <p:ext uri="{BB962C8B-B14F-4D97-AF65-F5344CB8AC3E}">
        <p14:creationId xmlns:p14="http://schemas.microsoft.com/office/powerpoint/2010/main" val="275768910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78E235-0F7B-5943-DA1A-8B415EF82B8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83B6DA-0FAE-3F22-8402-266DA5D717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239C7E8-12FC-19B3-DC65-49E7DE103E51}"/>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7198148A-64CB-7E7D-9A6B-AFA95F0B813F}"/>
              </a:ext>
            </a:extLst>
          </p:cNvPr>
          <p:cNvSpPr>
            <a:spLocks noGrp="1"/>
          </p:cNvSpPr>
          <p:nvPr>
            <p:ph type="sldNum" sz="quarter" idx="5"/>
          </p:nvPr>
        </p:nvSpPr>
        <p:spPr/>
        <p:txBody>
          <a:bodyPr/>
          <a:lstStyle/>
          <a:p>
            <a:fld id="{C6730AB2-DF84-4DAF-8A83-BA065C72BE88}" type="slidenum">
              <a:rPr lang="en-IN" smtClean="0"/>
              <a:t>24</a:t>
            </a:fld>
            <a:endParaRPr lang="en-IN"/>
          </a:p>
        </p:txBody>
      </p:sp>
    </p:spTree>
    <p:extLst>
      <p:ext uri="{BB962C8B-B14F-4D97-AF65-F5344CB8AC3E}">
        <p14:creationId xmlns:p14="http://schemas.microsoft.com/office/powerpoint/2010/main" val="151914658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D60A38-C3CC-0B51-FC3C-A34654AB53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900810-5554-6ABF-266E-A9257AC71A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F4034DC-0B4B-801D-201E-B50077E0C01A}"/>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1D101BC-8592-B105-078A-EA4F4C4AAF02}"/>
              </a:ext>
            </a:extLst>
          </p:cNvPr>
          <p:cNvSpPr>
            <a:spLocks noGrp="1"/>
          </p:cNvSpPr>
          <p:nvPr>
            <p:ph type="sldNum" sz="quarter" idx="5"/>
          </p:nvPr>
        </p:nvSpPr>
        <p:spPr/>
        <p:txBody>
          <a:bodyPr/>
          <a:lstStyle/>
          <a:p>
            <a:fld id="{C6730AB2-DF84-4DAF-8A83-BA065C72BE88}" type="slidenum">
              <a:rPr lang="en-IN" smtClean="0"/>
              <a:t>25</a:t>
            </a:fld>
            <a:endParaRPr lang="en-IN"/>
          </a:p>
        </p:txBody>
      </p:sp>
    </p:spTree>
    <p:extLst>
      <p:ext uri="{BB962C8B-B14F-4D97-AF65-F5344CB8AC3E}">
        <p14:creationId xmlns:p14="http://schemas.microsoft.com/office/powerpoint/2010/main" val="279440218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F7639F-02F8-DE17-7B7B-232534A6E3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E327B9-149A-13A9-AD32-A1F7C9F618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254FC37-C201-A6CC-C8C8-888C06068289}"/>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F8A83E5B-3191-0703-8B89-5615E7B30634}"/>
              </a:ext>
            </a:extLst>
          </p:cNvPr>
          <p:cNvSpPr>
            <a:spLocks noGrp="1"/>
          </p:cNvSpPr>
          <p:nvPr>
            <p:ph type="sldNum" sz="quarter" idx="5"/>
          </p:nvPr>
        </p:nvSpPr>
        <p:spPr/>
        <p:txBody>
          <a:bodyPr/>
          <a:lstStyle/>
          <a:p>
            <a:fld id="{C6730AB2-DF84-4DAF-8A83-BA065C72BE88}" type="slidenum">
              <a:rPr lang="en-IN" smtClean="0"/>
              <a:t>26</a:t>
            </a:fld>
            <a:endParaRPr lang="en-IN"/>
          </a:p>
        </p:txBody>
      </p:sp>
    </p:spTree>
    <p:extLst>
      <p:ext uri="{BB962C8B-B14F-4D97-AF65-F5344CB8AC3E}">
        <p14:creationId xmlns:p14="http://schemas.microsoft.com/office/powerpoint/2010/main" val="139710744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27</a:t>
            </a:fld>
            <a:endParaRPr lang="en-IN"/>
          </a:p>
        </p:txBody>
      </p:sp>
    </p:spTree>
    <p:extLst>
      <p:ext uri="{BB962C8B-B14F-4D97-AF65-F5344CB8AC3E}">
        <p14:creationId xmlns:p14="http://schemas.microsoft.com/office/powerpoint/2010/main" val="16347899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6CB2C6-6BCC-2518-84EC-3128EEA5E8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81BF05D-BB7C-3B37-B0DB-3DC7742B53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DDDAAA-F84A-DCBD-AC83-1C3964D2A367}"/>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BBAB42E-FFD9-F0B9-DACB-32EC9EBA2907}"/>
              </a:ext>
            </a:extLst>
          </p:cNvPr>
          <p:cNvSpPr>
            <a:spLocks noGrp="1"/>
          </p:cNvSpPr>
          <p:nvPr>
            <p:ph type="sldNum" sz="quarter" idx="5"/>
          </p:nvPr>
        </p:nvSpPr>
        <p:spPr/>
        <p:txBody>
          <a:bodyPr/>
          <a:lstStyle/>
          <a:p>
            <a:fld id="{C6730AB2-DF84-4DAF-8A83-BA065C72BE88}" type="slidenum">
              <a:rPr lang="en-IN" smtClean="0"/>
              <a:t>28</a:t>
            </a:fld>
            <a:endParaRPr lang="en-IN"/>
          </a:p>
        </p:txBody>
      </p:sp>
    </p:spTree>
    <p:extLst>
      <p:ext uri="{BB962C8B-B14F-4D97-AF65-F5344CB8AC3E}">
        <p14:creationId xmlns:p14="http://schemas.microsoft.com/office/powerpoint/2010/main" val="116264036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83D70D-DC19-320C-E69A-C04E85237A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72C132-6EE6-4219-5CFF-BF320809FC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DF62DF8-67E9-E298-64F5-78B1C59A5EAE}"/>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5AC24532-CB14-36EF-5C11-5E63F4E5A080}"/>
              </a:ext>
            </a:extLst>
          </p:cNvPr>
          <p:cNvSpPr>
            <a:spLocks noGrp="1"/>
          </p:cNvSpPr>
          <p:nvPr>
            <p:ph type="sldNum" sz="quarter" idx="5"/>
          </p:nvPr>
        </p:nvSpPr>
        <p:spPr/>
        <p:txBody>
          <a:bodyPr/>
          <a:lstStyle/>
          <a:p>
            <a:fld id="{C6730AB2-DF84-4DAF-8A83-BA065C72BE88}" type="slidenum">
              <a:rPr lang="en-IN" smtClean="0"/>
              <a:t>29</a:t>
            </a:fld>
            <a:endParaRPr lang="en-IN"/>
          </a:p>
        </p:txBody>
      </p:sp>
    </p:spTree>
    <p:extLst>
      <p:ext uri="{BB962C8B-B14F-4D97-AF65-F5344CB8AC3E}">
        <p14:creationId xmlns:p14="http://schemas.microsoft.com/office/powerpoint/2010/main" val="351976257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84AF40-4191-D71E-D00C-10667E6DE2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99B5E2-56CA-6EB4-1BD1-77262E5859A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0112E4-8B7A-7CB9-6149-CAF9266C7E1F}"/>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929A20E0-EE7D-E2B9-916B-0240B7ABE75E}"/>
              </a:ext>
            </a:extLst>
          </p:cNvPr>
          <p:cNvSpPr>
            <a:spLocks noGrp="1"/>
          </p:cNvSpPr>
          <p:nvPr>
            <p:ph type="sldNum" sz="quarter" idx="5"/>
          </p:nvPr>
        </p:nvSpPr>
        <p:spPr/>
        <p:txBody>
          <a:bodyPr/>
          <a:lstStyle/>
          <a:p>
            <a:fld id="{C6730AB2-DF84-4DAF-8A83-BA065C72BE88}" type="slidenum">
              <a:rPr lang="en-IN" smtClean="0"/>
              <a:t>30</a:t>
            </a:fld>
            <a:endParaRPr lang="en-IN"/>
          </a:p>
        </p:txBody>
      </p:sp>
    </p:spTree>
    <p:extLst>
      <p:ext uri="{BB962C8B-B14F-4D97-AF65-F5344CB8AC3E}">
        <p14:creationId xmlns:p14="http://schemas.microsoft.com/office/powerpoint/2010/main" val="8131526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C6730AB2-DF84-4DAF-8A83-BA065C72BE88}" type="slidenum">
              <a:rPr lang="en-IN" smtClean="0"/>
              <a:t>31</a:t>
            </a:fld>
            <a:endParaRPr lang="en-IN"/>
          </a:p>
        </p:txBody>
      </p:sp>
    </p:spTree>
    <p:extLst>
      <p:ext uri="{BB962C8B-B14F-4D97-AF65-F5344CB8AC3E}">
        <p14:creationId xmlns:p14="http://schemas.microsoft.com/office/powerpoint/2010/main" val="4153490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2312E-BCD6-9B7A-F969-B4DF155FA4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803C56-F6D3-1F9C-7122-B11C319300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579C34B-FC51-3423-13EE-AFAE50753C16}"/>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8797A42-CD51-15E1-98E6-42740204B748}"/>
              </a:ext>
            </a:extLst>
          </p:cNvPr>
          <p:cNvSpPr>
            <a:spLocks noGrp="1"/>
          </p:cNvSpPr>
          <p:nvPr>
            <p:ph type="sldNum" sz="quarter" idx="5"/>
          </p:nvPr>
        </p:nvSpPr>
        <p:spPr/>
        <p:txBody>
          <a:bodyPr/>
          <a:lstStyle/>
          <a:p>
            <a:fld id="{C6730AB2-DF84-4DAF-8A83-BA065C72BE88}" type="slidenum">
              <a:rPr lang="en-IN" smtClean="0"/>
              <a:t>33</a:t>
            </a:fld>
            <a:endParaRPr lang="en-IN"/>
          </a:p>
        </p:txBody>
      </p:sp>
    </p:spTree>
    <p:extLst>
      <p:ext uri="{BB962C8B-B14F-4D97-AF65-F5344CB8AC3E}">
        <p14:creationId xmlns:p14="http://schemas.microsoft.com/office/powerpoint/2010/main" val="307163681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AB4974-2E96-1034-9779-279ECC22E4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9A2AB4-AF76-9872-12AF-C43B15CB26D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552899F-2926-92FD-BDEE-74BB0215A908}"/>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54F32E91-AB79-965E-C024-3C747B16EA38}"/>
              </a:ext>
            </a:extLst>
          </p:cNvPr>
          <p:cNvSpPr>
            <a:spLocks noGrp="1"/>
          </p:cNvSpPr>
          <p:nvPr>
            <p:ph type="sldNum" sz="quarter" idx="5"/>
          </p:nvPr>
        </p:nvSpPr>
        <p:spPr/>
        <p:txBody>
          <a:bodyPr/>
          <a:lstStyle/>
          <a:p>
            <a:fld id="{C6730AB2-DF84-4DAF-8A83-BA065C72BE88}" type="slidenum">
              <a:rPr lang="en-IN" smtClean="0"/>
              <a:t>34</a:t>
            </a:fld>
            <a:endParaRPr lang="en-IN"/>
          </a:p>
        </p:txBody>
      </p:sp>
    </p:spTree>
    <p:extLst>
      <p:ext uri="{BB962C8B-B14F-4D97-AF65-F5344CB8AC3E}">
        <p14:creationId xmlns:p14="http://schemas.microsoft.com/office/powerpoint/2010/main" val="251842843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6B21E1-C938-B010-EB8F-8A109870322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C7069E-44D7-6A24-9B2D-2871E21858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416360F-6E65-7616-96A5-88E0CC47D1C4}"/>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C1134625-66D1-4CDE-152D-84675FED4860}"/>
              </a:ext>
            </a:extLst>
          </p:cNvPr>
          <p:cNvSpPr>
            <a:spLocks noGrp="1"/>
          </p:cNvSpPr>
          <p:nvPr>
            <p:ph type="sldNum" sz="quarter" idx="5"/>
          </p:nvPr>
        </p:nvSpPr>
        <p:spPr/>
        <p:txBody>
          <a:bodyPr/>
          <a:lstStyle/>
          <a:p>
            <a:fld id="{C6730AB2-DF84-4DAF-8A83-BA065C72BE88}" type="slidenum">
              <a:rPr lang="en-IN" smtClean="0"/>
              <a:t>35</a:t>
            </a:fld>
            <a:endParaRPr lang="en-IN"/>
          </a:p>
        </p:txBody>
      </p:sp>
    </p:spTree>
    <p:extLst>
      <p:ext uri="{BB962C8B-B14F-4D97-AF65-F5344CB8AC3E}">
        <p14:creationId xmlns:p14="http://schemas.microsoft.com/office/powerpoint/2010/main" val="15071423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36</a:t>
            </a:fld>
            <a:endParaRPr lang="en-IN"/>
          </a:p>
        </p:txBody>
      </p:sp>
    </p:spTree>
    <p:extLst>
      <p:ext uri="{BB962C8B-B14F-4D97-AF65-F5344CB8AC3E}">
        <p14:creationId xmlns:p14="http://schemas.microsoft.com/office/powerpoint/2010/main" val="42372353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7C2770-AE44-652F-9800-CCD75E3366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55299E-0F35-A740-438C-E331E881185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0C8881A-CB76-387E-3B29-8B2026397AC0}"/>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E2F7521F-7E61-218F-0DDB-0E32CC1B76C0}"/>
              </a:ext>
            </a:extLst>
          </p:cNvPr>
          <p:cNvSpPr>
            <a:spLocks noGrp="1"/>
          </p:cNvSpPr>
          <p:nvPr>
            <p:ph type="sldNum" sz="quarter" idx="5"/>
          </p:nvPr>
        </p:nvSpPr>
        <p:spPr/>
        <p:txBody>
          <a:bodyPr/>
          <a:lstStyle/>
          <a:p>
            <a:fld id="{C6730AB2-DF84-4DAF-8A83-BA065C72BE88}" type="slidenum">
              <a:rPr lang="en-IN" smtClean="0"/>
              <a:t>37</a:t>
            </a:fld>
            <a:endParaRPr lang="en-IN"/>
          </a:p>
        </p:txBody>
      </p:sp>
    </p:spTree>
    <p:extLst>
      <p:ext uri="{BB962C8B-B14F-4D97-AF65-F5344CB8AC3E}">
        <p14:creationId xmlns:p14="http://schemas.microsoft.com/office/powerpoint/2010/main" val="167624856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473E7-638E-B426-5542-49ACB015B68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B37AF1-E600-2DBB-9501-81850FC0918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0E4162-91DE-BF76-DFF5-CDA3B2B0518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0B1FA29-689D-0E27-9D7E-A8109BD280A2}"/>
              </a:ext>
            </a:extLst>
          </p:cNvPr>
          <p:cNvSpPr>
            <a:spLocks noGrp="1"/>
          </p:cNvSpPr>
          <p:nvPr>
            <p:ph type="sldNum" sz="quarter" idx="5"/>
          </p:nvPr>
        </p:nvSpPr>
        <p:spPr/>
        <p:txBody>
          <a:bodyPr/>
          <a:lstStyle/>
          <a:p>
            <a:fld id="{C6730AB2-DF84-4DAF-8A83-BA065C72BE88}" type="slidenum">
              <a:rPr lang="en-IN" smtClean="0"/>
              <a:t>38</a:t>
            </a:fld>
            <a:endParaRPr lang="en-IN"/>
          </a:p>
        </p:txBody>
      </p:sp>
    </p:spTree>
    <p:extLst>
      <p:ext uri="{BB962C8B-B14F-4D97-AF65-F5344CB8AC3E}">
        <p14:creationId xmlns:p14="http://schemas.microsoft.com/office/powerpoint/2010/main" val="354534831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39</a:t>
            </a:fld>
            <a:endParaRPr lang="en-IN"/>
          </a:p>
        </p:txBody>
      </p:sp>
    </p:spTree>
    <p:extLst>
      <p:ext uri="{BB962C8B-B14F-4D97-AF65-F5344CB8AC3E}">
        <p14:creationId xmlns:p14="http://schemas.microsoft.com/office/powerpoint/2010/main" val="36301691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82C63-44C3-66C5-6222-21501791FA6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5CE952-9CE8-AEB5-3F62-FD40B581D4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2AF822A-AEEA-CAA5-310E-1404A4949978}"/>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B8594DF2-487F-1354-F941-9E7E19603055}"/>
              </a:ext>
            </a:extLst>
          </p:cNvPr>
          <p:cNvSpPr>
            <a:spLocks noGrp="1"/>
          </p:cNvSpPr>
          <p:nvPr>
            <p:ph type="sldNum" sz="quarter" idx="5"/>
          </p:nvPr>
        </p:nvSpPr>
        <p:spPr/>
        <p:txBody>
          <a:bodyPr/>
          <a:lstStyle/>
          <a:p>
            <a:fld id="{C6730AB2-DF84-4DAF-8A83-BA065C72BE88}" type="slidenum">
              <a:rPr lang="en-IN" smtClean="0"/>
              <a:t>40</a:t>
            </a:fld>
            <a:endParaRPr lang="en-IN"/>
          </a:p>
        </p:txBody>
      </p:sp>
    </p:spTree>
    <p:extLst>
      <p:ext uri="{BB962C8B-B14F-4D97-AF65-F5344CB8AC3E}">
        <p14:creationId xmlns:p14="http://schemas.microsoft.com/office/powerpoint/2010/main" val="147445334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55</a:t>
            </a:fld>
            <a:endParaRPr lang="en-IN"/>
          </a:p>
        </p:txBody>
      </p:sp>
    </p:spTree>
    <p:extLst>
      <p:ext uri="{BB962C8B-B14F-4D97-AF65-F5344CB8AC3E}">
        <p14:creationId xmlns:p14="http://schemas.microsoft.com/office/powerpoint/2010/main" val="315044787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463217-7F55-8FA3-433E-45975FA074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6206E5-4055-6213-80BA-A55848980D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884844-41A4-D443-4585-EF3919D33F3E}"/>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8BD67B3-AA75-5181-05B3-0EDC53AC411A}"/>
              </a:ext>
            </a:extLst>
          </p:cNvPr>
          <p:cNvSpPr>
            <a:spLocks noGrp="1"/>
          </p:cNvSpPr>
          <p:nvPr>
            <p:ph type="sldNum" sz="quarter" idx="5"/>
          </p:nvPr>
        </p:nvSpPr>
        <p:spPr/>
        <p:txBody>
          <a:bodyPr/>
          <a:lstStyle/>
          <a:p>
            <a:fld id="{C6730AB2-DF84-4DAF-8A83-BA065C72BE88}" type="slidenum">
              <a:rPr lang="en-IN" smtClean="0"/>
              <a:t>57</a:t>
            </a:fld>
            <a:endParaRPr lang="en-IN"/>
          </a:p>
        </p:txBody>
      </p:sp>
    </p:spTree>
    <p:extLst>
      <p:ext uri="{BB962C8B-B14F-4D97-AF65-F5344CB8AC3E}">
        <p14:creationId xmlns:p14="http://schemas.microsoft.com/office/powerpoint/2010/main" val="211494084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E7EE86-D2D0-6534-3487-C955F7A123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28F7F7-02CF-3A64-BBDB-CC871A9ABB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668E3D-0CCA-CAA2-C89A-FB19B9926C58}"/>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B61C52B2-EB05-984F-709E-D7E4E1116821}"/>
              </a:ext>
            </a:extLst>
          </p:cNvPr>
          <p:cNvSpPr>
            <a:spLocks noGrp="1"/>
          </p:cNvSpPr>
          <p:nvPr>
            <p:ph type="sldNum" sz="quarter" idx="5"/>
          </p:nvPr>
        </p:nvSpPr>
        <p:spPr/>
        <p:txBody>
          <a:bodyPr/>
          <a:lstStyle/>
          <a:p>
            <a:fld id="{C6730AB2-DF84-4DAF-8A83-BA065C72BE88}" type="slidenum">
              <a:rPr lang="en-IN" smtClean="0"/>
              <a:t>59</a:t>
            </a:fld>
            <a:endParaRPr lang="en-IN"/>
          </a:p>
        </p:txBody>
      </p:sp>
    </p:spTree>
    <p:extLst>
      <p:ext uri="{BB962C8B-B14F-4D97-AF65-F5344CB8AC3E}">
        <p14:creationId xmlns:p14="http://schemas.microsoft.com/office/powerpoint/2010/main" val="407932206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61</a:t>
            </a:fld>
            <a:endParaRPr lang="en-IN"/>
          </a:p>
        </p:txBody>
      </p:sp>
    </p:spTree>
    <p:extLst>
      <p:ext uri="{BB962C8B-B14F-4D97-AF65-F5344CB8AC3E}">
        <p14:creationId xmlns:p14="http://schemas.microsoft.com/office/powerpoint/2010/main" val="28802986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62</a:t>
            </a:fld>
            <a:endParaRPr lang="en-IN"/>
          </a:p>
        </p:txBody>
      </p:sp>
    </p:spTree>
    <p:extLst>
      <p:ext uri="{BB962C8B-B14F-4D97-AF65-F5344CB8AC3E}">
        <p14:creationId xmlns:p14="http://schemas.microsoft.com/office/powerpoint/2010/main" val="270057630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65</a:t>
            </a:fld>
            <a:endParaRPr lang="en-IN"/>
          </a:p>
        </p:txBody>
      </p:sp>
    </p:spTree>
    <p:extLst>
      <p:ext uri="{BB962C8B-B14F-4D97-AF65-F5344CB8AC3E}">
        <p14:creationId xmlns:p14="http://schemas.microsoft.com/office/powerpoint/2010/main" val="190569422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66</a:t>
            </a:fld>
            <a:endParaRPr lang="en-IN"/>
          </a:p>
        </p:txBody>
      </p:sp>
    </p:spTree>
    <p:extLst>
      <p:ext uri="{BB962C8B-B14F-4D97-AF65-F5344CB8AC3E}">
        <p14:creationId xmlns:p14="http://schemas.microsoft.com/office/powerpoint/2010/main" val="114480659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8FCB51-F246-0E97-40BE-234043B8A1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83A623C-2384-F6FF-4A6C-68ABF2C862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42761B-BB5C-7A5F-9D12-7167F22F2FB4}"/>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E801A58B-CCD6-E66F-1A13-8F360CD59939}"/>
              </a:ext>
            </a:extLst>
          </p:cNvPr>
          <p:cNvSpPr>
            <a:spLocks noGrp="1"/>
          </p:cNvSpPr>
          <p:nvPr>
            <p:ph type="sldNum" sz="quarter" idx="5"/>
          </p:nvPr>
        </p:nvSpPr>
        <p:spPr/>
        <p:txBody>
          <a:bodyPr/>
          <a:lstStyle/>
          <a:p>
            <a:fld id="{C6730AB2-DF84-4DAF-8A83-BA065C72BE88}" type="slidenum">
              <a:rPr lang="en-IN" smtClean="0"/>
              <a:t>67</a:t>
            </a:fld>
            <a:endParaRPr lang="en-IN"/>
          </a:p>
        </p:txBody>
      </p:sp>
    </p:spTree>
    <p:extLst>
      <p:ext uri="{BB962C8B-B14F-4D97-AF65-F5344CB8AC3E}">
        <p14:creationId xmlns:p14="http://schemas.microsoft.com/office/powerpoint/2010/main" val="51383723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68</a:t>
            </a:fld>
            <a:endParaRPr lang="en-IN"/>
          </a:p>
        </p:txBody>
      </p:sp>
    </p:spTree>
    <p:extLst>
      <p:ext uri="{BB962C8B-B14F-4D97-AF65-F5344CB8AC3E}">
        <p14:creationId xmlns:p14="http://schemas.microsoft.com/office/powerpoint/2010/main" val="331489885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C6730AB2-DF84-4DAF-8A83-BA065C72BE88}" type="slidenum">
              <a:rPr lang="en-IN" smtClean="0"/>
              <a:t>75</a:t>
            </a:fld>
            <a:endParaRPr lang="en-IN"/>
          </a:p>
        </p:txBody>
      </p:sp>
    </p:spTree>
    <p:extLst>
      <p:ext uri="{BB962C8B-B14F-4D97-AF65-F5344CB8AC3E}">
        <p14:creationId xmlns:p14="http://schemas.microsoft.com/office/powerpoint/2010/main" val="62199418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EBD3E-BF06-6EAF-2F8E-01E2B692D9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013935-4D70-8FAB-13D1-FBD2E4BD55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2813F3-E01B-A607-3A51-A42BCA24C8AE}"/>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D232CDE2-102A-EC03-5C80-643D407EC062}"/>
              </a:ext>
            </a:extLst>
          </p:cNvPr>
          <p:cNvSpPr>
            <a:spLocks noGrp="1"/>
          </p:cNvSpPr>
          <p:nvPr>
            <p:ph type="sldNum" sz="quarter" idx="5"/>
          </p:nvPr>
        </p:nvSpPr>
        <p:spPr/>
        <p:txBody>
          <a:bodyPr/>
          <a:lstStyle/>
          <a:p>
            <a:fld id="{C6730AB2-DF84-4DAF-8A83-BA065C72BE88}" type="slidenum">
              <a:rPr lang="en-IN" smtClean="0"/>
              <a:t>76</a:t>
            </a:fld>
            <a:endParaRPr lang="en-IN"/>
          </a:p>
        </p:txBody>
      </p:sp>
    </p:spTree>
    <p:extLst>
      <p:ext uri="{BB962C8B-B14F-4D97-AF65-F5344CB8AC3E}">
        <p14:creationId xmlns:p14="http://schemas.microsoft.com/office/powerpoint/2010/main" val="314774323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5BD440-0841-8BFD-6836-0C563B0F68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AD5A1E-3AE3-490D-2968-C84BE0FF75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49CDA3-6E4B-CC00-8456-CAF2EB70C398}"/>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04F81679-6214-B08E-C896-7D0AE7D1C5A3}"/>
              </a:ext>
            </a:extLst>
          </p:cNvPr>
          <p:cNvSpPr>
            <a:spLocks noGrp="1"/>
          </p:cNvSpPr>
          <p:nvPr>
            <p:ph type="sldNum" sz="quarter" idx="5"/>
          </p:nvPr>
        </p:nvSpPr>
        <p:spPr/>
        <p:txBody>
          <a:bodyPr/>
          <a:lstStyle/>
          <a:p>
            <a:fld id="{C6730AB2-DF84-4DAF-8A83-BA065C72BE88}" type="slidenum">
              <a:rPr lang="en-IN" smtClean="0"/>
              <a:t>77</a:t>
            </a:fld>
            <a:endParaRPr lang="en-IN"/>
          </a:p>
        </p:txBody>
      </p:sp>
    </p:spTree>
    <p:extLst>
      <p:ext uri="{BB962C8B-B14F-4D97-AF65-F5344CB8AC3E}">
        <p14:creationId xmlns:p14="http://schemas.microsoft.com/office/powerpoint/2010/main" val="174345816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1.xml"/><Relationship Id="rId4" Type="http://schemas.openxmlformats.org/officeDocument/2006/relationships/image" Target="../media/image4.sv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Master" Target="../slideMasters/slideMaster1.xml"/><Relationship Id="rId4" Type="http://schemas.openxmlformats.org/officeDocument/2006/relationships/image" Target="../media/image10.sv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2.xml"/><Relationship Id="rId4" Type="http://schemas.openxmlformats.org/officeDocument/2006/relationships/image" Target="../media/image12.sv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3.xml"/><Relationship Id="rId4" Type="http://schemas.openxmlformats.org/officeDocument/2006/relationships/image" Target="../media/image12.sv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6.xml"/><Relationship Id="rId1" Type="http://schemas.openxmlformats.org/officeDocument/2006/relationships/tags" Target="../tags/tag5.xml"/><Relationship Id="rId5" Type="http://schemas.openxmlformats.org/officeDocument/2006/relationships/image" Target="../media/image13.emf"/><Relationship Id="rId4" Type="http://schemas.openxmlformats.org/officeDocument/2006/relationships/oleObject" Target="../embeddings/oleObject3.bin"/></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4.xml"/><Relationship Id="rId1" Type="http://schemas.openxmlformats.org/officeDocument/2006/relationships/tags" Target="../tags/tag7.xml"/><Relationship Id="rId5" Type="http://schemas.openxmlformats.org/officeDocument/2006/relationships/image" Target="../media/image14.wmf"/><Relationship Id="rId4" Type="http://schemas.openxmlformats.org/officeDocument/2006/relationships/image" Target="../media/image15.emf"/></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2" Type="http://schemas.openxmlformats.org/officeDocument/2006/relationships/hyperlink" Target="http://brandingzone.ey.net/national/bzcontest.nsf/controldocview/BetterQuestions/$file/fullpage.html#firstPage" TargetMode="External"/><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3" Type="http://schemas.openxmlformats.org/officeDocument/2006/relationships/slideMaster" Target="../slideMasters/slideMaster6.xml"/><Relationship Id="rId2" Type="http://schemas.openxmlformats.org/officeDocument/2006/relationships/tags" Target="../tags/tag9.xml"/><Relationship Id="rId1" Type="http://schemas.openxmlformats.org/officeDocument/2006/relationships/tags" Target="../tags/tag8.xml"/><Relationship Id="rId6" Type="http://schemas.openxmlformats.org/officeDocument/2006/relationships/hyperlink" Target="http://brandingzone.ey.net/national/bzcontest.nsf/controldocview/BetterQuestions/$file/fullpage.html#firstPage" TargetMode="External"/><Relationship Id="rId5" Type="http://schemas.openxmlformats.org/officeDocument/2006/relationships/image" Target="../media/image20.emf"/><Relationship Id="rId4" Type="http://schemas.openxmlformats.org/officeDocument/2006/relationships/oleObject" Target="../embeddings/oleObject5.bin"/></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1_Cover">
    <p:spTree>
      <p:nvGrpSpPr>
        <p:cNvPr id="1" name=""/>
        <p:cNvGrpSpPr/>
        <p:nvPr/>
      </p:nvGrpSpPr>
      <p:grpSpPr>
        <a:xfrm>
          <a:off x="0" y="0"/>
          <a:ext cx="0" cy="0"/>
          <a:chOff x="0" y="0"/>
          <a:chExt cx="0" cy="0"/>
        </a:xfrm>
      </p:grpSpPr>
      <p:sp>
        <p:nvSpPr>
          <p:cNvPr id="2" name="Freeform 56">
            <a:extLst>
              <a:ext uri="{FF2B5EF4-FFF2-40B4-BE49-F238E27FC236}">
                <a16:creationId xmlns:a16="http://schemas.microsoft.com/office/drawing/2014/main" id="{8ECAA9AE-021C-6A56-1FF3-AEFB2C75D581}"/>
              </a:ext>
            </a:extLst>
          </p:cNvPr>
          <p:cNvSpPr/>
          <p:nvPr/>
        </p:nvSpPr>
        <p:spPr>
          <a:xfrm>
            <a:off x="497854" y="795665"/>
            <a:ext cx="4927847" cy="3581485"/>
          </a:xfrm>
          <a:custGeom>
            <a:avLst/>
            <a:gdLst>
              <a:gd name="f0" fmla="val 10800000"/>
              <a:gd name="f1" fmla="val 5400000"/>
              <a:gd name="f2" fmla="val 180"/>
              <a:gd name="f3" fmla="val w"/>
              <a:gd name="f4" fmla="val h"/>
              <a:gd name="f5" fmla="val 0"/>
              <a:gd name="f6" fmla="val 4257675"/>
              <a:gd name="f7" fmla="val 3092804"/>
              <a:gd name="f8" fmla="val 4238387"/>
              <a:gd name="f9" fmla="val 747342"/>
              <a:gd name="f10" fmla="+- 0 0 -90"/>
              <a:gd name="f11" fmla="*/ f3 1 4257675"/>
              <a:gd name="f12" fmla="*/ f4 1 3092804"/>
              <a:gd name="f13" fmla="+- f7 0 f5"/>
              <a:gd name="f14" fmla="+- f6 0 f5"/>
              <a:gd name="f15" fmla="*/ f10 f0 1"/>
              <a:gd name="f16" fmla="*/ f14 1 4257675"/>
              <a:gd name="f17" fmla="*/ f13 1 3092804"/>
              <a:gd name="f18" fmla="*/ 4238387 f14 1"/>
              <a:gd name="f19" fmla="*/ 0 f13 1"/>
              <a:gd name="f20" fmla="*/ 4257675 f14 1"/>
              <a:gd name="f21" fmla="*/ 3092804 f13 1"/>
              <a:gd name="f22" fmla="*/ 0 f14 1"/>
              <a:gd name="f23" fmla="*/ 747342 f13 1"/>
              <a:gd name="f24" fmla="*/ f15 1 f2"/>
              <a:gd name="f25" fmla="*/ f18 1 4257675"/>
              <a:gd name="f26" fmla="*/ f19 1 3092804"/>
              <a:gd name="f27" fmla="*/ f20 1 4257675"/>
              <a:gd name="f28" fmla="*/ f21 1 3092804"/>
              <a:gd name="f29" fmla="*/ f22 1 4257675"/>
              <a:gd name="f30" fmla="*/ f23 1 3092804"/>
              <a:gd name="f31" fmla="*/ f5 1 f16"/>
              <a:gd name="f32" fmla="*/ f6 1 f16"/>
              <a:gd name="f33" fmla="*/ f5 1 f17"/>
              <a:gd name="f34" fmla="*/ f7 1 f17"/>
              <a:gd name="f35" fmla="+- f24 0 f1"/>
              <a:gd name="f36" fmla="*/ f25 1 f16"/>
              <a:gd name="f37" fmla="*/ f26 1 f17"/>
              <a:gd name="f38" fmla="*/ f27 1 f16"/>
              <a:gd name="f39" fmla="*/ f28 1 f17"/>
              <a:gd name="f40" fmla="*/ f29 1 f16"/>
              <a:gd name="f41" fmla="*/ f30 1 f17"/>
              <a:gd name="f42" fmla="*/ f31 f11 1"/>
              <a:gd name="f43" fmla="*/ f32 f11 1"/>
              <a:gd name="f44" fmla="*/ f34 f12 1"/>
              <a:gd name="f45" fmla="*/ f33 f12 1"/>
              <a:gd name="f46" fmla="*/ f36 f11 1"/>
              <a:gd name="f47" fmla="*/ f37 f12 1"/>
              <a:gd name="f48" fmla="*/ f38 f11 1"/>
              <a:gd name="f49" fmla="*/ f39 f12 1"/>
              <a:gd name="f50" fmla="*/ f40 f11 1"/>
              <a:gd name="f51" fmla="*/ f41 f12 1"/>
            </a:gdLst>
            <a:ahLst/>
            <a:cxnLst>
              <a:cxn ang="3cd4">
                <a:pos x="hc" y="t"/>
              </a:cxn>
              <a:cxn ang="0">
                <a:pos x="r" y="vc"/>
              </a:cxn>
              <a:cxn ang="cd4">
                <a:pos x="hc" y="b"/>
              </a:cxn>
              <a:cxn ang="cd2">
                <a:pos x="l" y="vc"/>
              </a:cxn>
              <a:cxn ang="f35">
                <a:pos x="f46" y="f47"/>
              </a:cxn>
              <a:cxn ang="f35">
                <a:pos x="f48" y="f47"/>
              </a:cxn>
              <a:cxn ang="f35">
                <a:pos x="f48" y="f49"/>
              </a:cxn>
              <a:cxn ang="f35">
                <a:pos x="f50" y="f49"/>
              </a:cxn>
              <a:cxn ang="f35">
                <a:pos x="f50" y="f51"/>
              </a:cxn>
            </a:cxnLst>
            <a:rect l="f42" t="f45" r="f43" b="f44"/>
            <a:pathLst>
              <a:path w="4257675" h="3092804">
                <a:moveTo>
                  <a:pt x="f8" y="f5"/>
                </a:moveTo>
                <a:lnTo>
                  <a:pt x="f6" y="f5"/>
                </a:lnTo>
                <a:lnTo>
                  <a:pt x="f6" y="f7"/>
                </a:lnTo>
                <a:lnTo>
                  <a:pt x="f5" y="f7"/>
                </a:lnTo>
                <a:lnTo>
                  <a:pt x="f5" y="f9"/>
                </a:lnTo>
                <a:close/>
              </a:path>
            </a:pathLst>
          </a:custGeom>
          <a:solidFill>
            <a:srgbClr val="FFE6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Title 1">
            <a:extLst>
              <a:ext uri="{FF2B5EF4-FFF2-40B4-BE49-F238E27FC236}">
                <a16:creationId xmlns:a16="http://schemas.microsoft.com/office/drawing/2014/main" id="{6F481C41-6592-FC39-A678-3CEE79D0BD6C}"/>
              </a:ext>
            </a:extLst>
          </p:cNvPr>
          <p:cNvSpPr txBox="1">
            <a:spLocks noGrp="1"/>
          </p:cNvSpPr>
          <p:nvPr>
            <p:ph type="title"/>
          </p:nvPr>
        </p:nvSpPr>
        <p:spPr>
          <a:xfrm>
            <a:off x="775100" y="1954219"/>
            <a:ext cx="4326675" cy="979706"/>
          </a:xfrm>
        </p:spPr>
        <p:txBody>
          <a:bodyPr/>
          <a:lstStyle>
            <a:lvl1pPr>
              <a:defRPr sz="2999">
                <a:solidFill>
                  <a:srgbClr val="2E2E38"/>
                </a:solidFill>
              </a:defRPr>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857614E6-2743-BC76-8606-0AAF171578EA}"/>
              </a:ext>
            </a:extLst>
          </p:cNvPr>
          <p:cNvSpPr txBox="1">
            <a:spLocks noGrp="1"/>
          </p:cNvSpPr>
          <p:nvPr>
            <p:ph type="subTitle" idx="4294967295"/>
          </p:nvPr>
        </p:nvSpPr>
        <p:spPr>
          <a:xfrm>
            <a:off x="775100" y="3046159"/>
            <a:ext cx="4326675" cy="1046320"/>
          </a:xfrm>
        </p:spPr>
        <p:txBody>
          <a:bodyPr/>
          <a:lstStyle>
            <a:lvl1pPr marL="0" indent="0">
              <a:spcAft>
                <a:spcPts val="1200"/>
              </a:spcAft>
              <a:buNone/>
              <a:defRPr>
                <a:solidFill>
                  <a:srgbClr val="2E2E38"/>
                </a:solidFill>
                <a:latin typeface="EYInterstate Regular" pitchFamily="2"/>
                <a:cs typeface="Arial" pitchFamily="34"/>
              </a:defRPr>
            </a:lvl1pPr>
          </a:lstStyle>
          <a:p>
            <a:pPr lvl="0"/>
            <a:r>
              <a:rPr lang="en-US"/>
              <a:t>Click to edit Master subtitle style</a:t>
            </a:r>
            <a:endParaRPr lang="en-GB"/>
          </a:p>
        </p:txBody>
      </p:sp>
      <p:cxnSp>
        <p:nvCxnSpPr>
          <p:cNvPr id="5" name="Straight Connector 6">
            <a:extLst>
              <a:ext uri="{FF2B5EF4-FFF2-40B4-BE49-F238E27FC236}">
                <a16:creationId xmlns:a16="http://schemas.microsoft.com/office/drawing/2014/main" id="{8752FDD8-41F2-F47C-73A6-C4FB80057A13}"/>
              </a:ext>
            </a:extLst>
          </p:cNvPr>
          <p:cNvCxnSpPr/>
          <p:nvPr/>
        </p:nvCxnSpPr>
        <p:spPr>
          <a:xfrm>
            <a:off x="1332491" y="5709056"/>
            <a:ext cx="8117869" cy="0"/>
          </a:xfrm>
          <a:prstGeom prst="straightConnector1">
            <a:avLst/>
          </a:prstGeom>
          <a:noFill/>
          <a:ln w="9528" cap="flat">
            <a:solidFill>
              <a:srgbClr val="828290"/>
            </a:solidFill>
            <a:prstDash val="solid"/>
            <a:miter/>
          </a:ln>
        </p:spPr>
      </p:cxnSp>
      <p:sp>
        <p:nvSpPr>
          <p:cNvPr id="6" name="TextBox 8">
            <a:extLst>
              <a:ext uri="{FF2B5EF4-FFF2-40B4-BE49-F238E27FC236}">
                <a16:creationId xmlns:a16="http://schemas.microsoft.com/office/drawing/2014/main" id="{A961C985-60E4-7093-BBB1-DB7CB4E6BAB3}"/>
              </a:ext>
            </a:extLst>
          </p:cNvPr>
          <p:cNvSpPr txBox="1"/>
          <p:nvPr/>
        </p:nvSpPr>
        <p:spPr>
          <a:xfrm>
            <a:off x="461744" y="5605198"/>
            <a:ext cx="1044528" cy="197583"/>
          </a:xfrm>
          <a:prstGeom prst="rect">
            <a:avLst/>
          </a:prstGeom>
          <a:noFill/>
          <a:ln cap="flat">
            <a:noFill/>
          </a:ln>
        </p:spPr>
        <p:txBody>
          <a:bodyPr vert="horz" wrap="square" lIns="0" tIns="0" rIns="0" bIns="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99" b="0" i="0" u="none" strike="noStrike" kern="1200" cap="none" spc="0" baseline="0">
                <a:solidFill>
                  <a:srgbClr val="828290"/>
                </a:solidFill>
                <a:uFillTx/>
                <a:latin typeface="EYInterstate Light" pitchFamily="2"/>
              </a:rPr>
              <a:t>Written by</a:t>
            </a:r>
          </a:p>
        </p:txBody>
      </p:sp>
      <p:sp>
        <p:nvSpPr>
          <p:cNvPr id="7" name="Text Placeholder 16">
            <a:extLst>
              <a:ext uri="{FF2B5EF4-FFF2-40B4-BE49-F238E27FC236}">
                <a16:creationId xmlns:a16="http://schemas.microsoft.com/office/drawing/2014/main" id="{8A2E7CD6-541D-35BF-1986-396B51854411}"/>
              </a:ext>
            </a:extLst>
          </p:cNvPr>
          <p:cNvSpPr txBox="1">
            <a:spLocks noGrp="1"/>
          </p:cNvSpPr>
          <p:nvPr>
            <p:ph type="body" idx="4294967295"/>
          </p:nvPr>
        </p:nvSpPr>
        <p:spPr>
          <a:xfrm>
            <a:off x="1332491" y="6019193"/>
            <a:ext cx="3087663" cy="179999"/>
          </a:xfrm>
        </p:spPr>
        <p:txBody>
          <a:bodyPr/>
          <a:lstStyle>
            <a:lvl1pPr marL="0" indent="0">
              <a:spcBef>
                <a:spcPts val="300"/>
              </a:spcBef>
              <a:buNone/>
              <a:defRPr sz="1199">
                <a:solidFill>
                  <a:srgbClr val="FFE600"/>
                </a:solidFill>
              </a:defRPr>
            </a:lvl1pPr>
          </a:lstStyle>
          <a:p>
            <a:pPr lvl="0"/>
            <a:r>
              <a:rPr lang="en-US"/>
              <a:t>Name Surname</a:t>
            </a:r>
            <a:endParaRPr lang="en-GB"/>
          </a:p>
        </p:txBody>
      </p:sp>
      <p:sp>
        <p:nvSpPr>
          <p:cNvPr id="8" name="Text Placeholder 16">
            <a:extLst>
              <a:ext uri="{FF2B5EF4-FFF2-40B4-BE49-F238E27FC236}">
                <a16:creationId xmlns:a16="http://schemas.microsoft.com/office/drawing/2014/main" id="{08846980-A73B-010E-877B-ACC365FB3005}"/>
              </a:ext>
            </a:extLst>
          </p:cNvPr>
          <p:cNvSpPr txBox="1">
            <a:spLocks noGrp="1"/>
          </p:cNvSpPr>
          <p:nvPr>
            <p:ph type="body" idx="4294967295"/>
          </p:nvPr>
        </p:nvSpPr>
        <p:spPr>
          <a:xfrm>
            <a:off x="1332491" y="6216804"/>
            <a:ext cx="3087663" cy="179999"/>
          </a:xfrm>
        </p:spPr>
        <p:txBody>
          <a:bodyPr/>
          <a:lstStyle>
            <a:lvl1pPr marL="0" indent="0">
              <a:spcBef>
                <a:spcPts val="300"/>
              </a:spcBef>
              <a:buNone/>
              <a:defRPr sz="1199"/>
            </a:lvl1pPr>
          </a:lstStyle>
          <a:p>
            <a:pPr lvl="0"/>
            <a:r>
              <a:rPr lang="en-US"/>
              <a:t>Job Title</a:t>
            </a:r>
            <a:endParaRPr lang="en-GB"/>
          </a:p>
        </p:txBody>
      </p:sp>
      <p:sp>
        <p:nvSpPr>
          <p:cNvPr id="9" name="Picture Placeholder 19">
            <a:extLst>
              <a:ext uri="{FF2B5EF4-FFF2-40B4-BE49-F238E27FC236}">
                <a16:creationId xmlns:a16="http://schemas.microsoft.com/office/drawing/2014/main" id="{0CEBF3B6-5132-DA28-0EE4-706B513E6602}"/>
              </a:ext>
            </a:extLst>
          </p:cNvPr>
          <p:cNvSpPr txBox="1">
            <a:spLocks noGrp="1"/>
          </p:cNvSpPr>
          <p:nvPr>
            <p:ph type="pic" idx="4294967295"/>
          </p:nvPr>
        </p:nvSpPr>
        <p:spPr>
          <a:xfrm>
            <a:off x="461744" y="5914640"/>
            <a:ext cx="575697" cy="575998"/>
          </a:xfrm>
        </p:spPr>
        <p:txBody>
          <a:bodyPr anchor="ctr" anchorCtr="1"/>
          <a:lstStyle>
            <a:lvl1pPr marL="0" indent="0" algn="ctr">
              <a:spcBef>
                <a:spcPts val="200"/>
              </a:spcBef>
              <a:buNone/>
              <a:defRPr lang="en-GB" sz="900"/>
            </a:lvl1pPr>
          </a:lstStyle>
          <a:p>
            <a:pPr lvl="0"/>
            <a:endParaRPr lang="en-GB"/>
          </a:p>
        </p:txBody>
      </p:sp>
      <p:grpSp>
        <p:nvGrpSpPr>
          <p:cNvPr id="10" name="Group 4">
            <a:extLst>
              <a:ext uri="{FF2B5EF4-FFF2-40B4-BE49-F238E27FC236}">
                <a16:creationId xmlns:a16="http://schemas.microsoft.com/office/drawing/2014/main" id="{DC525D8B-CA87-52C1-8F13-4130C065A3B0}"/>
              </a:ext>
            </a:extLst>
          </p:cNvPr>
          <p:cNvGrpSpPr/>
          <p:nvPr/>
        </p:nvGrpSpPr>
        <p:grpSpPr>
          <a:xfrm>
            <a:off x="10359393" y="4960940"/>
            <a:ext cx="1224911" cy="1435105"/>
            <a:chOff x="10359393" y="4960940"/>
            <a:chExt cx="1224911" cy="1435105"/>
          </a:xfrm>
        </p:grpSpPr>
        <p:sp>
          <p:nvSpPr>
            <p:cNvPr id="11" name="Freeform 5">
              <a:extLst>
                <a:ext uri="{FF2B5EF4-FFF2-40B4-BE49-F238E27FC236}">
                  <a16:creationId xmlns:a16="http://schemas.microsoft.com/office/drawing/2014/main" id="{0A2E8D5B-7F99-DFD8-AECE-C926EC86A529}"/>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12" name="Freeform 6">
              <a:extLst>
                <a:ext uri="{FF2B5EF4-FFF2-40B4-BE49-F238E27FC236}">
                  <a16:creationId xmlns:a16="http://schemas.microsoft.com/office/drawing/2014/main" id="{20180508-9F5F-7C03-08C1-29D925BA6974}"/>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164602260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1_Cover alternate">
    <p:spTree>
      <p:nvGrpSpPr>
        <p:cNvPr id="1" name=""/>
        <p:cNvGrpSpPr/>
        <p:nvPr/>
      </p:nvGrpSpPr>
      <p:grpSpPr>
        <a:xfrm>
          <a:off x="0" y="0"/>
          <a:ext cx="0" cy="0"/>
          <a:chOff x="0" y="0"/>
          <a:chExt cx="0" cy="0"/>
        </a:xfrm>
      </p:grpSpPr>
      <p:pic>
        <p:nvPicPr>
          <p:cNvPr id="2" name="Picture 6">
            <a:extLst>
              <a:ext uri="{FF2B5EF4-FFF2-40B4-BE49-F238E27FC236}">
                <a16:creationId xmlns:a16="http://schemas.microsoft.com/office/drawing/2014/main" id="{0520970B-085B-ADDC-9231-0F2F529BC3E8}"/>
              </a:ext>
            </a:extLst>
          </p:cNvPr>
          <p:cNvPicPr>
            <a:picLocks noChangeAspect="1"/>
          </p:cNvPicPr>
          <p:nvPr/>
        </p:nvPicPr>
        <p:blipFill>
          <a:blip r:embed="rId2"/>
          <a:srcRect/>
          <a:stretch>
            <a:fillRect/>
          </a:stretch>
        </p:blipFill>
        <p:spPr>
          <a:xfrm>
            <a:off x="0" y="0"/>
            <a:ext cx="12191996" cy="6858000"/>
          </a:xfrm>
          <a:prstGeom prst="rect">
            <a:avLst/>
          </a:prstGeom>
          <a:noFill/>
          <a:ln cap="flat">
            <a:noFill/>
          </a:ln>
        </p:spPr>
      </p:pic>
      <p:sp>
        <p:nvSpPr>
          <p:cNvPr id="3" name="Freeform 56">
            <a:extLst>
              <a:ext uri="{FF2B5EF4-FFF2-40B4-BE49-F238E27FC236}">
                <a16:creationId xmlns:a16="http://schemas.microsoft.com/office/drawing/2014/main" id="{82167D26-19B3-3458-2D4A-CBAAD3D27AC6}"/>
              </a:ext>
            </a:extLst>
          </p:cNvPr>
          <p:cNvSpPr/>
          <p:nvPr/>
        </p:nvSpPr>
        <p:spPr>
          <a:xfrm>
            <a:off x="497854" y="795665"/>
            <a:ext cx="4927847" cy="3581485"/>
          </a:xfrm>
          <a:custGeom>
            <a:avLst/>
            <a:gdLst>
              <a:gd name="f0" fmla="val 10800000"/>
              <a:gd name="f1" fmla="val 5400000"/>
              <a:gd name="f2" fmla="val 180"/>
              <a:gd name="f3" fmla="val w"/>
              <a:gd name="f4" fmla="val h"/>
              <a:gd name="f5" fmla="val 0"/>
              <a:gd name="f6" fmla="val 4257675"/>
              <a:gd name="f7" fmla="val 3092804"/>
              <a:gd name="f8" fmla="val 4238387"/>
              <a:gd name="f9" fmla="val 747342"/>
              <a:gd name="f10" fmla="+- 0 0 -90"/>
              <a:gd name="f11" fmla="*/ f3 1 4257675"/>
              <a:gd name="f12" fmla="*/ f4 1 3092804"/>
              <a:gd name="f13" fmla="+- f7 0 f5"/>
              <a:gd name="f14" fmla="+- f6 0 f5"/>
              <a:gd name="f15" fmla="*/ f10 f0 1"/>
              <a:gd name="f16" fmla="*/ f14 1 4257675"/>
              <a:gd name="f17" fmla="*/ f13 1 3092804"/>
              <a:gd name="f18" fmla="*/ 4238387 f14 1"/>
              <a:gd name="f19" fmla="*/ 0 f13 1"/>
              <a:gd name="f20" fmla="*/ 4257675 f14 1"/>
              <a:gd name="f21" fmla="*/ 3092804 f13 1"/>
              <a:gd name="f22" fmla="*/ 0 f14 1"/>
              <a:gd name="f23" fmla="*/ 747342 f13 1"/>
              <a:gd name="f24" fmla="*/ f15 1 f2"/>
              <a:gd name="f25" fmla="*/ f18 1 4257675"/>
              <a:gd name="f26" fmla="*/ f19 1 3092804"/>
              <a:gd name="f27" fmla="*/ f20 1 4257675"/>
              <a:gd name="f28" fmla="*/ f21 1 3092804"/>
              <a:gd name="f29" fmla="*/ f22 1 4257675"/>
              <a:gd name="f30" fmla="*/ f23 1 3092804"/>
              <a:gd name="f31" fmla="*/ f5 1 f16"/>
              <a:gd name="f32" fmla="*/ f6 1 f16"/>
              <a:gd name="f33" fmla="*/ f5 1 f17"/>
              <a:gd name="f34" fmla="*/ f7 1 f17"/>
              <a:gd name="f35" fmla="+- f24 0 f1"/>
              <a:gd name="f36" fmla="*/ f25 1 f16"/>
              <a:gd name="f37" fmla="*/ f26 1 f17"/>
              <a:gd name="f38" fmla="*/ f27 1 f16"/>
              <a:gd name="f39" fmla="*/ f28 1 f17"/>
              <a:gd name="f40" fmla="*/ f29 1 f16"/>
              <a:gd name="f41" fmla="*/ f30 1 f17"/>
              <a:gd name="f42" fmla="*/ f31 f11 1"/>
              <a:gd name="f43" fmla="*/ f32 f11 1"/>
              <a:gd name="f44" fmla="*/ f34 f12 1"/>
              <a:gd name="f45" fmla="*/ f33 f12 1"/>
              <a:gd name="f46" fmla="*/ f36 f11 1"/>
              <a:gd name="f47" fmla="*/ f37 f12 1"/>
              <a:gd name="f48" fmla="*/ f38 f11 1"/>
              <a:gd name="f49" fmla="*/ f39 f12 1"/>
              <a:gd name="f50" fmla="*/ f40 f11 1"/>
              <a:gd name="f51" fmla="*/ f41 f12 1"/>
            </a:gdLst>
            <a:ahLst/>
            <a:cxnLst>
              <a:cxn ang="3cd4">
                <a:pos x="hc" y="t"/>
              </a:cxn>
              <a:cxn ang="0">
                <a:pos x="r" y="vc"/>
              </a:cxn>
              <a:cxn ang="cd4">
                <a:pos x="hc" y="b"/>
              </a:cxn>
              <a:cxn ang="cd2">
                <a:pos x="l" y="vc"/>
              </a:cxn>
              <a:cxn ang="f35">
                <a:pos x="f46" y="f47"/>
              </a:cxn>
              <a:cxn ang="f35">
                <a:pos x="f48" y="f47"/>
              </a:cxn>
              <a:cxn ang="f35">
                <a:pos x="f48" y="f49"/>
              </a:cxn>
              <a:cxn ang="f35">
                <a:pos x="f50" y="f49"/>
              </a:cxn>
              <a:cxn ang="f35">
                <a:pos x="f50" y="f51"/>
              </a:cxn>
            </a:cxnLst>
            <a:rect l="f42" t="f45" r="f43" b="f44"/>
            <a:pathLst>
              <a:path w="4257675" h="3092804">
                <a:moveTo>
                  <a:pt x="f8" y="f5"/>
                </a:moveTo>
                <a:lnTo>
                  <a:pt x="f6" y="f5"/>
                </a:lnTo>
                <a:lnTo>
                  <a:pt x="f6" y="f7"/>
                </a:lnTo>
                <a:lnTo>
                  <a:pt x="f5" y="f7"/>
                </a:lnTo>
                <a:lnTo>
                  <a:pt x="f5" y="f9"/>
                </a:lnTo>
                <a:close/>
              </a:path>
            </a:pathLst>
          </a:custGeom>
          <a:solidFill>
            <a:srgbClr val="FFE6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4" name="Title 1">
            <a:extLst>
              <a:ext uri="{FF2B5EF4-FFF2-40B4-BE49-F238E27FC236}">
                <a16:creationId xmlns:a16="http://schemas.microsoft.com/office/drawing/2014/main" id="{64296122-BD31-20AE-B8A4-400AD3EEE6A5}"/>
              </a:ext>
            </a:extLst>
          </p:cNvPr>
          <p:cNvSpPr txBox="1">
            <a:spLocks noGrp="1"/>
          </p:cNvSpPr>
          <p:nvPr>
            <p:ph type="title"/>
          </p:nvPr>
        </p:nvSpPr>
        <p:spPr>
          <a:xfrm>
            <a:off x="775100" y="1954219"/>
            <a:ext cx="4326675" cy="979706"/>
          </a:xfrm>
        </p:spPr>
        <p:txBody>
          <a:bodyPr/>
          <a:lstStyle>
            <a:lvl1pPr>
              <a:defRPr sz="2999">
                <a:solidFill>
                  <a:srgbClr val="2E2E38"/>
                </a:solidFill>
              </a:defRPr>
            </a:lvl1pPr>
          </a:lstStyle>
          <a:p>
            <a:pPr lvl="0"/>
            <a:r>
              <a:rPr lang="en-US"/>
              <a:t>Click to edit Master title style</a:t>
            </a:r>
            <a:endParaRPr lang="en-GB"/>
          </a:p>
        </p:txBody>
      </p:sp>
      <p:sp>
        <p:nvSpPr>
          <p:cNvPr id="5" name="Subtitle 2">
            <a:extLst>
              <a:ext uri="{FF2B5EF4-FFF2-40B4-BE49-F238E27FC236}">
                <a16:creationId xmlns:a16="http://schemas.microsoft.com/office/drawing/2014/main" id="{54395A87-3E23-E14B-4440-009C68E96CDD}"/>
              </a:ext>
            </a:extLst>
          </p:cNvPr>
          <p:cNvSpPr txBox="1">
            <a:spLocks noGrp="1"/>
          </p:cNvSpPr>
          <p:nvPr>
            <p:ph type="subTitle" idx="4294967295"/>
          </p:nvPr>
        </p:nvSpPr>
        <p:spPr>
          <a:xfrm>
            <a:off x="775100" y="3046159"/>
            <a:ext cx="4326675" cy="1046320"/>
          </a:xfrm>
        </p:spPr>
        <p:txBody>
          <a:bodyPr/>
          <a:lstStyle>
            <a:lvl1pPr marL="0" indent="0">
              <a:spcAft>
                <a:spcPts val="1200"/>
              </a:spcAft>
              <a:buNone/>
              <a:defRPr>
                <a:solidFill>
                  <a:srgbClr val="2E2E38"/>
                </a:solidFill>
                <a:latin typeface="EYInterstate Regular" pitchFamily="2"/>
                <a:cs typeface="Arial" pitchFamily="34"/>
              </a:defRPr>
            </a:lvl1pPr>
          </a:lstStyle>
          <a:p>
            <a:pPr lvl="0"/>
            <a:r>
              <a:rPr lang="en-US"/>
              <a:t>Click to edit Master subtitle style</a:t>
            </a:r>
            <a:endParaRPr lang="en-GB"/>
          </a:p>
        </p:txBody>
      </p:sp>
      <p:grpSp>
        <p:nvGrpSpPr>
          <p:cNvPr id="6" name="Group 4">
            <a:extLst>
              <a:ext uri="{FF2B5EF4-FFF2-40B4-BE49-F238E27FC236}">
                <a16:creationId xmlns:a16="http://schemas.microsoft.com/office/drawing/2014/main" id="{BF4B01C1-644B-2591-160C-7DFA95792AE5}"/>
              </a:ext>
            </a:extLst>
          </p:cNvPr>
          <p:cNvGrpSpPr/>
          <p:nvPr/>
        </p:nvGrpSpPr>
        <p:grpSpPr>
          <a:xfrm>
            <a:off x="10359393" y="4960940"/>
            <a:ext cx="1224911" cy="1435105"/>
            <a:chOff x="10359393" y="4960940"/>
            <a:chExt cx="1224911" cy="1435105"/>
          </a:xfrm>
        </p:grpSpPr>
        <p:sp>
          <p:nvSpPr>
            <p:cNvPr id="7" name="Freeform 5">
              <a:extLst>
                <a:ext uri="{FF2B5EF4-FFF2-40B4-BE49-F238E27FC236}">
                  <a16:creationId xmlns:a16="http://schemas.microsoft.com/office/drawing/2014/main" id="{6587CA75-7918-A111-3C75-2F9D5F9957B3}"/>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8" name="Freeform 6">
              <a:extLst>
                <a:ext uri="{FF2B5EF4-FFF2-40B4-BE49-F238E27FC236}">
                  <a16:creationId xmlns:a16="http://schemas.microsoft.com/office/drawing/2014/main" id="{D1B45FA1-A898-E2A5-43AE-6EFCAC59D948}"/>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11734441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Approved question wide">
    <p:spTree>
      <p:nvGrpSpPr>
        <p:cNvPr id="1" name=""/>
        <p:cNvGrpSpPr/>
        <p:nvPr/>
      </p:nvGrpSpPr>
      <p:grpSpPr>
        <a:xfrm>
          <a:off x="0" y="0"/>
          <a:ext cx="0" cy="0"/>
          <a:chOff x="0" y="0"/>
          <a:chExt cx="0" cy="0"/>
        </a:xfrm>
      </p:grpSpPr>
      <p:grpSp>
        <p:nvGrpSpPr>
          <p:cNvPr id="2" name="Group 234">
            <a:extLst>
              <a:ext uri="{FF2B5EF4-FFF2-40B4-BE49-F238E27FC236}">
                <a16:creationId xmlns:a16="http://schemas.microsoft.com/office/drawing/2014/main" id="{3DC336CC-6DCD-E170-DF5C-14CD079775AF}"/>
              </a:ext>
            </a:extLst>
          </p:cNvPr>
          <p:cNvGrpSpPr/>
          <p:nvPr/>
        </p:nvGrpSpPr>
        <p:grpSpPr>
          <a:xfrm>
            <a:off x="497854" y="5826611"/>
            <a:ext cx="3876004" cy="570201"/>
            <a:chOff x="497854" y="5826611"/>
            <a:chExt cx="3876004" cy="570201"/>
          </a:xfrm>
        </p:grpSpPr>
        <p:sp>
          <p:nvSpPr>
            <p:cNvPr id="3" name="Rectangle 167">
              <a:extLst>
                <a:ext uri="{FF2B5EF4-FFF2-40B4-BE49-F238E27FC236}">
                  <a16:creationId xmlns:a16="http://schemas.microsoft.com/office/drawing/2014/main" id="{39C312CC-47E4-5ACD-3A78-0575720A3828}"/>
                </a:ext>
              </a:extLst>
            </p:cNvPr>
            <p:cNvSpPr/>
            <p:nvPr/>
          </p:nvSpPr>
          <p:spPr>
            <a:xfrm>
              <a:off x="497854"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4" name="Rectangle 6">
              <a:extLst>
                <a:ext uri="{FF2B5EF4-FFF2-40B4-BE49-F238E27FC236}">
                  <a16:creationId xmlns:a16="http://schemas.microsoft.com/office/drawing/2014/main" id="{9CCCAEAB-0FDC-3AE3-B02B-C2723A96F62B}"/>
                </a:ext>
              </a:extLst>
            </p:cNvPr>
            <p:cNvSpPr/>
            <p:nvPr/>
          </p:nvSpPr>
          <p:spPr>
            <a:xfrm>
              <a:off x="693051"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5" name="Rectangle 7">
              <a:extLst>
                <a:ext uri="{FF2B5EF4-FFF2-40B4-BE49-F238E27FC236}">
                  <a16:creationId xmlns:a16="http://schemas.microsoft.com/office/drawing/2014/main" id="{EF6C1430-4FF0-752F-DEF7-3A8C58985700}"/>
                </a:ext>
              </a:extLst>
            </p:cNvPr>
            <p:cNvSpPr/>
            <p:nvPr/>
          </p:nvSpPr>
          <p:spPr>
            <a:xfrm>
              <a:off x="889985"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6" name="Freeform 8">
              <a:extLst>
                <a:ext uri="{FF2B5EF4-FFF2-40B4-BE49-F238E27FC236}">
                  <a16:creationId xmlns:a16="http://schemas.microsoft.com/office/drawing/2014/main" id="{842DDCEF-2FE0-6EE0-E873-8FEFF66A7AFF}"/>
                </a:ext>
              </a:extLst>
            </p:cNvPr>
            <p:cNvSpPr/>
            <p:nvPr/>
          </p:nvSpPr>
          <p:spPr>
            <a:xfrm>
              <a:off x="497854" y="6056784"/>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1"/>
                <a:gd name="f10" fmla="val 22"/>
                <a:gd name="f11" fmla="+- 0 0 -90"/>
                <a:gd name="f12" fmla="*/ f3 1 54"/>
                <a:gd name="f13" fmla="*/ f4 1 75"/>
                <a:gd name="f14" fmla="+- f7 0 f5"/>
                <a:gd name="f15" fmla="+- f6 0 f5"/>
                <a:gd name="f16" fmla="*/ f11 f0 1"/>
                <a:gd name="f17" fmla="*/ f15 1 54"/>
                <a:gd name="f18" fmla="*/ f14 1 75"/>
                <a:gd name="f19" fmla="*/ 32 f15 1"/>
                <a:gd name="f20" fmla="*/ 11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7" name="Freeform 9">
              <a:extLst>
                <a:ext uri="{FF2B5EF4-FFF2-40B4-BE49-F238E27FC236}">
                  <a16:creationId xmlns:a16="http://schemas.microsoft.com/office/drawing/2014/main" id="{1252F5F6-7263-B511-928E-278FA88E8D97}"/>
                </a:ext>
              </a:extLst>
            </p:cNvPr>
            <p:cNvSpPr/>
            <p:nvPr/>
          </p:nvSpPr>
          <p:spPr>
            <a:xfrm>
              <a:off x="609392" y="6049807"/>
              <a:ext cx="78428"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8" name="Freeform 10">
              <a:extLst>
                <a:ext uri="{FF2B5EF4-FFF2-40B4-BE49-F238E27FC236}">
                  <a16:creationId xmlns:a16="http://schemas.microsoft.com/office/drawing/2014/main" id="{AD74F233-5905-7541-D736-5C904752E1DA}"/>
                </a:ext>
              </a:extLst>
            </p:cNvPr>
            <p:cNvSpPr/>
            <p:nvPr/>
          </p:nvSpPr>
          <p:spPr>
            <a:xfrm>
              <a:off x="705249"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9" name="Freeform 11">
              <a:extLst>
                <a:ext uri="{FF2B5EF4-FFF2-40B4-BE49-F238E27FC236}">
                  <a16:creationId xmlns:a16="http://schemas.microsoft.com/office/drawing/2014/main" id="{FF3FA1D5-C36F-230B-6BB0-68B6038977D8}"/>
                </a:ext>
              </a:extLst>
            </p:cNvPr>
            <p:cNvSpPr/>
            <p:nvPr/>
          </p:nvSpPr>
          <p:spPr>
            <a:xfrm>
              <a:off x="856875" y="6049807"/>
              <a:ext cx="83658" cy="139500"/>
            </a:xfrm>
            <a:custGeom>
              <a:avLst/>
              <a:gdLst>
                <a:gd name="f0" fmla="val 10800000"/>
                <a:gd name="f1" fmla="val 5400000"/>
                <a:gd name="f2" fmla="val 180"/>
                <a:gd name="f3" fmla="val w"/>
                <a:gd name="f4" fmla="val h"/>
                <a:gd name="f5" fmla="val 0"/>
                <a:gd name="f6" fmla="val 33"/>
                <a:gd name="f7" fmla="val 55"/>
                <a:gd name="f8" fmla="val 35"/>
                <a:gd name="f9" fmla="val 38"/>
                <a:gd name="f10" fmla="val 32"/>
                <a:gd name="f11" fmla="val 41"/>
                <a:gd name="f12" fmla="val 31"/>
                <a:gd name="f13" fmla="val 44"/>
                <a:gd name="f14" fmla="val 30"/>
                <a:gd name="f15" fmla="val 46"/>
                <a:gd name="f16" fmla="val 29"/>
                <a:gd name="f17" fmla="val 48"/>
                <a:gd name="f18" fmla="val 28"/>
                <a:gd name="f19" fmla="val 50"/>
                <a:gd name="f20" fmla="val 27"/>
                <a:gd name="f21" fmla="val 51"/>
                <a:gd name="f22" fmla="val 25"/>
                <a:gd name="f23" fmla="val 53"/>
                <a:gd name="f24" fmla="val 23"/>
                <a:gd name="f25" fmla="val 21"/>
                <a:gd name="f26" fmla="val 54"/>
                <a:gd name="f27" fmla="val 19"/>
                <a:gd name="f28" fmla="val 17"/>
                <a:gd name="f29" fmla="val 16"/>
                <a:gd name="f30" fmla="val 14"/>
                <a:gd name="f31" fmla="val 12"/>
                <a:gd name="f32" fmla="val 10"/>
                <a:gd name="f33" fmla="val 52"/>
                <a:gd name="f34" fmla="val 9"/>
                <a:gd name="f35" fmla="val 8"/>
                <a:gd name="f36" fmla="val 4"/>
                <a:gd name="f37" fmla="val 18"/>
                <a:gd name="f38" fmla="val 11"/>
                <a:gd name="f39" fmla="val 13"/>
                <a:gd name="f40" fmla="val 15"/>
                <a:gd name="f41" fmla="val 20"/>
                <a:gd name="f42" fmla="val 22"/>
                <a:gd name="f43" fmla="val 24"/>
                <a:gd name="f44" fmla="val 26"/>
                <a:gd name="f45" fmla="val 43"/>
                <a:gd name="f46" fmla="val 45"/>
                <a:gd name="f47" fmla="val 47"/>
                <a:gd name="f48" fmla="val 39"/>
                <a:gd name="f49" fmla="+- 0 0 -90"/>
                <a:gd name="f50" fmla="*/ f3 1 33"/>
                <a:gd name="f51" fmla="*/ f4 1 55"/>
                <a:gd name="f52" fmla="+- f7 0 f5"/>
                <a:gd name="f53" fmla="+- f6 0 f5"/>
                <a:gd name="f54" fmla="*/ f49 f0 1"/>
                <a:gd name="f55" fmla="*/ f53 1 33"/>
                <a:gd name="f56" fmla="*/ f52 1 55"/>
                <a:gd name="f57" fmla="*/ 33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8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18 f53 1"/>
                <a:gd name="f80" fmla="*/ 24 f53 1"/>
                <a:gd name="f81" fmla="*/ 26 f52 1"/>
                <a:gd name="f82" fmla="*/ 25 f53 1"/>
                <a:gd name="f83" fmla="*/ 25 f52 1"/>
                <a:gd name="f84" fmla="*/ 16 f53 1"/>
                <a:gd name="f85" fmla="*/ 22 f52 1"/>
                <a:gd name="f86" fmla="*/ 11 f53 1"/>
                <a:gd name="f87" fmla="*/ 23 f52 1"/>
                <a:gd name="f88" fmla="*/ 9 f53 1"/>
                <a:gd name="f89" fmla="*/ 43 f52 1"/>
                <a:gd name="f90" fmla="*/ 46 f52 1"/>
                <a:gd name="f91" fmla="*/ 47 f52 1"/>
                <a:gd name="f92" fmla="*/ 48 f52 1"/>
                <a:gd name="f93" fmla="*/ 45 f52 1"/>
                <a:gd name="f94" fmla="*/ f54 1 f2"/>
                <a:gd name="f95" fmla="*/ f57 1 33"/>
                <a:gd name="f96" fmla="*/ f58 1 55"/>
                <a:gd name="f97" fmla="*/ f59 1 33"/>
                <a:gd name="f98" fmla="*/ f60 1 55"/>
                <a:gd name="f99" fmla="*/ f61 1 33"/>
                <a:gd name="f100" fmla="*/ f62 1 55"/>
                <a:gd name="f101" fmla="*/ f63 1 33"/>
                <a:gd name="f102" fmla="*/ f64 1 55"/>
                <a:gd name="f103" fmla="*/ f65 1 33"/>
                <a:gd name="f104" fmla="*/ f66 1 55"/>
                <a:gd name="f105" fmla="*/ f67 1 33"/>
                <a:gd name="f106" fmla="*/ f68 1 33"/>
                <a:gd name="f107" fmla="*/ f69 1 55"/>
                <a:gd name="f108" fmla="*/ f70 1 33"/>
                <a:gd name="f109" fmla="*/ f71 1 55"/>
                <a:gd name="f110" fmla="*/ f72 1 55"/>
                <a:gd name="f111" fmla="*/ f73 1 55"/>
                <a:gd name="f112" fmla="*/ f74 1 33"/>
                <a:gd name="f113" fmla="*/ f75 1 55"/>
                <a:gd name="f114" fmla="*/ f76 1 55"/>
                <a:gd name="f115" fmla="*/ f77 1 33"/>
                <a:gd name="f116" fmla="*/ f78 1 55"/>
                <a:gd name="f117" fmla="*/ f79 1 33"/>
                <a:gd name="f118" fmla="*/ f80 1 33"/>
                <a:gd name="f119" fmla="*/ f81 1 55"/>
                <a:gd name="f120" fmla="*/ f82 1 33"/>
                <a:gd name="f121" fmla="*/ f83 1 55"/>
                <a:gd name="f122" fmla="*/ f84 1 33"/>
                <a:gd name="f123" fmla="*/ f85 1 55"/>
                <a:gd name="f124" fmla="*/ f86 1 33"/>
                <a:gd name="f125" fmla="*/ f87 1 55"/>
                <a:gd name="f126" fmla="*/ f88 1 33"/>
                <a:gd name="f127" fmla="*/ f89 1 55"/>
                <a:gd name="f128" fmla="*/ f90 1 55"/>
                <a:gd name="f129" fmla="*/ f91 1 55"/>
                <a:gd name="f130" fmla="*/ f92 1 55"/>
                <a:gd name="f131" fmla="*/ f93 1 55"/>
                <a:gd name="f132" fmla="*/ 0 1 f55"/>
                <a:gd name="f133" fmla="*/ f6 1 f55"/>
                <a:gd name="f134" fmla="*/ 0 1 f56"/>
                <a:gd name="f135" fmla="*/ f7 1 f56"/>
                <a:gd name="f136" fmla="+- f94 0 f1"/>
                <a:gd name="f137" fmla="*/ f95 1 f55"/>
                <a:gd name="f138" fmla="*/ f96 1 f56"/>
                <a:gd name="f139" fmla="*/ f97 1 f55"/>
                <a:gd name="f140" fmla="*/ f98 1 f56"/>
                <a:gd name="f141" fmla="*/ f99 1 f55"/>
                <a:gd name="f142" fmla="*/ f100 1 f56"/>
                <a:gd name="f143" fmla="*/ f101 1 f55"/>
                <a:gd name="f144" fmla="*/ f102 1 f56"/>
                <a:gd name="f145" fmla="*/ f103 1 f55"/>
                <a:gd name="f146" fmla="*/ f104 1 f56"/>
                <a:gd name="f147" fmla="*/ f105 1 f55"/>
                <a:gd name="f148" fmla="*/ f106 1 f55"/>
                <a:gd name="f149" fmla="*/ f107 1 f56"/>
                <a:gd name="f150" fmla="*/ f108 1 f55"/>
                <a:gd name="f151" fmla="*/ f109 1 f56"/>
                <a:gd name="f152" fmla="*/ f110 1 f56"/>
                <a:gd name="f153" fmla="*/ f111 1 f56"/>
                <a:gd name="f154" fmla="*/ f112 1 f55"/>
                <a:gd name="f155" fmla="*/ f113 1 f56"/>
                <a:gd name="f156" fmla="*/ f114 1 f56"/>
                <a:gd name="f157" fmla="*/ f115 1 f55"/>
                <a:gd name="f158" fmla="*/ f116 1 f56"/>
                <a:gd name="f159" fmla="*/ f117 1 f55"/>
                <a:gd name="f160" fmla="*/ f118 1 f55"/>
                <a:gd name="f161" fmla="*/ f119 1 f56"/>
                <a:gd name="f162" fmla="*/ f120 1 f55"/>
                <a:gd name="f163" fmla="*/ f121 1 f56"/>
                <a:gd name="f164" fmla="*/ f122 1 f55"/>
                <a:gd name="f165" fmla="*/ f123 1 f56"/>
                <a:gd name="f166" fmla="*/ f124 1 f55"/>
                <a:gd name="f167" fmla="*/ f125 1 f56"/>
                <a:gd name="f168" fmla="*/ f126 1 f55"/>
                <a:gd name="f169" fmla="*/ f127 1 f56"/>
                <a:gd name="f170" fmla="*/ f128 1 f56"/>
                <a:gd name="f171" fmla="*/ f129 1 f56"/>
                <a:gd name="f172" fmla="*/ f130 1 f56"/>
                <a:gd name="f173" fmla="*/ f131 1 f56"/>
                <a:gd name="f174" fmla="*/ f132 f50 1"/>
                <a:gd name="f175" fmla="*/ f133 f50 1"/>
                <a:gd name="f176" fmla="*/ f135 f51 1"/>
                <a:gd name="f177" fmla="*/ f134 f51 1"/>
                <a:gd name="f178" fmla="*/ f137 f50 1"/>
                <a:gd name="f179" fmla="*/ f138 f51 1"/>
                <a:gd name="f180" fmla="*/ f139 f50 1"/>
                <a:gd name="f181" fmla="*/ f140 f51 1"/>
                <a:gd name="f182" fmla="*/ f141 f50 1"/>
                <a:gd name="f183" fmla="*/ f142 f51 1"/>
                <a:gd name="f184" fmla="*/ f143 f50 1"/>
                <a:gd name="f185" fmla="*/ f144 f51 1"/>
                <a:gd name="f186" fmla="*/ f145 f50 1"/>
                <a:gd name="f187" fmla="*/ f146 f51 1"/>
                <a:gd name="f188" fmla="*/ f147 f50 1"/>
                <a:gd name="f189" fmla="*/ f148 f50 1"/>
                <a:gd name="f190" fmla="*/ f149 f51 1"/>
                <a:gd name="f191" fmla="*/ f150 f50 1"/>
                <a:gd name="f192" fmla="*/ f151 f51 1"/>
                <a:gd name="f193" fmla="*/ f152 f51 1"/>
                <a:gd name="f194" fmla="*/ f153 f51 1"/>
                <a:gd name="f195" fmla="*/ f154 f50 1"/>
                <a:gd name="f196" fmla="*/ f155 f51 1"/>
                <a:gd name="f197" fmla="*/ f156 f51 1"/>
                <a:gd name="f198" fmla="*/ f157 f50 1"/>
                <a:gd name="f199" fmla="*/ f158 f51 1"/>
                <a:gd name="f200" fmla="*/ f159 f50 1"/>
                <a:gd name="f201" fmla="*/ f160 f50 1"/>
                <a:gd name="f202" fmla="*/ f161 f51 1"/>
                <a:gd name="f203" fmla="*/ f162 f50 1"/>
                <a:gd name="f204" fmla="*/ f163 f51 1"/>
                <a:gd name="f205" fmla="*/ f164 f50 1"/>
                <a:gd name="f206" fmla="*/ f165 f51 1"/>
                <a:gd name="f207" fmla="*/ f166 f50 1"/>
                <a:gd name="f208" fmla="*/ f167 f51 1"/>
                <a:gd name="f209" fmla="*/ f168 f50 1"/>
                <a:gd name="f210" fmla="*/ f169 f51 1"/>
                <a:gd name="f211" fmla="*/ f170 f51 1"/>
                <a:gd name="f212" fmla="*/ f171 f51 1"/>
                <a:gd name="f213" fmla="*/ f172 f51 1"/>
                <a:gd name="f214" fmla="*/ f173 f51 1"/>
              </a:gdLst>
              <a:ahLst/>
              <a:cxnLst>
                <a:cxn ang="3cd4">
                  <a:pos x="hc" y="t"/>
                </a:cxn>
                <a:cxn ang="0">
                  <a:pos x="r" y="vc"/>
                </a:cxn>
                <a:cxn ang="cd4">
                  <a:pos x="hc" y="b"/>
                </a:cxn>
                <a:cxn ang="cd2">
                  <a:pos x="l" y="vc"/>
                </a:cxn>
                <a:cxn ang="f136">
                  <a:pos x="f178" y="f179"/>
                </a:cxn>
                <a:cxn ang="f136">
                  <a:pos x="f180" y="f181"/>
                </a:cxn>
                <a:cxn ang="f136">
                  <a:pos x="f182" y="f183"/>
                </a:cxn>
                <a:cxn ang="f136">
                  <a:pos x="f184" y="f185"/>
                </a:cxn>
                <a:cxn ang="f136">
                  <a:pos x="f186" y="f187"/>
                </a:cxn>
                <a:cxn ang="f136">
                  <a:pos x="f188" y="f185"/>
                </a:cxn>
                <a:cxn ang="f136">
                  <a:pos x="f189" y="f183"/>
                </a:cxn>
                <a:cxn ang="f136">
                  <a:pos x="f189" y="f190"/>
                </a:cxn>
                <a:cxn ang="f136">
                  <a:pos x="f191" y="f190"/>
                </a:cxn>
                <a:cxn ang="f136">
                  <a:pos x="f191" y="f192"/>
                </a:cxn>
                <a:cxn ang="f136">
                  <a:pos x="f189" y="f193"/>
                </a:cxn>
                <a:cxn ang="f136">
                  <a:pos x="f189" y="f194"/>
                </a:cxn>
                <a:cxn ang="f136">
                  <a:pos x="f195" y="f196"/>
                </a:cxn>
                <a:cxn ang="f136">
                  <a:pos x="f188" y="f197"/>
                </a:cxn>
                <a:cxn ang="f136">
                  <a:pos x="f198" y="f199"/>
                </a:cxn>
                <a:cxn ang="f136">
                  <a:pos x="f200" y="f199"/>
                </a:cxn>
                <a:cxn ang="f136">
                  <a:pos x="f201" y="f197"/>
                </a:cxn>
                <a:cxn ang="f136">
                  <a:pos x="f182" y="f194"/>
                </a:cxn>
                <a:cxn ang="f136">
                  <a:pos x="f180" y="f202"/>
                </a:cxn>
                <a:cxn ang="f136">
                  <a:pos x="f178" y="f179"/>
                </a:cxn>
                <a:cxn ang="f136">
                  <a:pos x="f203" y="f179"/>
                </a:cxn>
                <a:cxn ang="f136">
                  <a:pos x="f184" y="f204"/>
                </a:cxn>
                <a:cxn ang="f136">
                  <a:pos x="f205" y="f206"/>
                </a:cxn>
                <a:cxn ang="f136">
                  <a:pos x="f198" y="f206"/>
                </a:cxn>
                <a:cxn ang="f136">
                  <a:pos x="f207" y="f208"/>
                </a:cxn>
                <a:cxn ang="f136">
                  <a:pos x="f209" y="f204"/>
                </a:cxn>
                <a:cxn ang="f136">
                  <a:pos x="f189" y="f202"/>
                </a:cxn>
                <a:cxn ang="f136">
                  <a:pos x="f189" y="f210"/>
                </a:cxn>
                <a:cxn ang="f136">
                  <a:pos x="f209" y="f181"/>
                </a:cxn>
                <a:cxn ang="f136">
                  <a:pos x="f207" y="f211"/>
                </a:cxn>
                <a:cxn ang="f136">
                  <a:pos x="f198" y="f212"/>
                </a:cxn>
                <a:cxn ang="f136">
                  <a:pos x="f186" y="f213"/>
                </a:cxn>
                <a:cxn ang="f136">
                  <a:pos x="f184" y="f214"/>
                </a:cxn>
                <a:cxn ang="f136">
                  <a:pos x="f203" y="f179"/>
                </a:cxn>
              </a:cxnLst>
              <a:rect l="f174" t="f177" r="f175" b="f176"/>
              <a:pathLst>
                <a:path w="33" h="55">
                  <a:moveTo>
                    <a:pt x="f6" y="f8"/>
                  </a:moveTo>
                  <a:cubicBezTo>
                    <a:pt x="f6" y="f9"/>
                    <a:pt x="f10" y="f11"/>
                    <a:pt x="f12" y="f13"/>
                  </a:cubicBezTo>
                  <a:cubicBezTo>
                    <a:pt x="f14" y="f15"/>
                    <a:pt x="f16" y="f17"/>
                    <a:pt x="f18" y="f19"/>
                  </a:cubicBezTo>
                  <a:cubicBezTo>
                    <a:pt x="f20" y="f21"/>
                    <a:pt x="f22" y="f23"/>
                    <a:pt x="f24" y="f23"/>
                  </a:cubicBezTo>
                  <a:cubicBezTo>
                    <a:pt x="f25" y="f26"/>
                    <a:pt x="f27" y="f7"/>
                    <a:pt x="f28" y="f7"/>
                  </a:cubicBezTo>
                  <a:cubicBezTo>
                    <a:pt x="f29" y="f7"/>
                    <a:pt x="f30" y="f26"/>
                    <a:pt x="f31" y="f23"/>
                  </a:cubicBezTo>
                  <a:cubicBezTo>
                    <a:pt x="f32" y="f33"/>
                    <a:pt x="f34" y="f21"/>
                    <a:pt x="f35" y="f19"/>
                  </a:cubicBezTo>
                  <a:cubicBezTo>
                    <a:pt x="f35" y="f26"/>
                    <a:pt x="f35" y="f26"/>
                    <a:pt x="f35" y="f26"/>
                  </a:cubicBezTo>
                  <a:cubicBezTo>
                    <a:pt x="f5" y="f26"/>
                    <a:pt x="f5" y="f26"/>
                    <a:pt x="f5" y="f26"/>
                  </a:cubicBezTo>
                  <a:cubicBezTo>
                    <a:pt x="f5" y="f36"/>
                    <a:pt x="f5" y="f36"/>
                    <a:pt x="f5" y="f36"/>
                  </a:cubicBezTo>
                  <a:cubicBezTo>
                    <a:pt x="f35" y="f5"/>
                    <a:pt x="f35" y="f5"/>
                    <a:pt x="f35" y="f5"/>
                  </a:cubicBezTo>
                  <a:cubicBezTo>
                    <a:pt x="f35" y="f27"/>
                    <a:pt x="f35" y="f27"/>
                    <a:pt x="f35" y="f27"/>
                  </a:cubicBezTo>
                  <a:cubicBezTo>
                    <a:pt x="f34" y="f37"/>
                    <a:pt x="f34" y="f37"/>
                    <a:pt x="f32" y="f28"/>
                  </a:cubicBezTo>
                  <a:cubicBezTo>
                    <a:pt x="f38" y="f28"/>
                    <a:pt x="f38" y="f29"/>
                    <a:pt x="f31" y="f29"/>
                  </a:cubicBezTo>
                  <a:cubicBezTo>
                    <a:pt x="f39" y="f29"/>
                    <a:pt x="f39" y="f40"/>
                    <a:pt x="f30" y="f40"/>
                  </a:cubicBezTo>
                  <a:cubicBezTo>
                    <a:pt x="f40" y="f40"/>
                    <a:pt x="f29" y="f40"/>
                    <a:pt x="f37" y="f40"/>
                  </a:cubicBezTo>
                  <a:cubicBezTo>
                    <a:pt x="f41" y="f40"/>
                    <a:pt x="f42" y="f40"/>
                    <a:pt x="f43" y="f29"/>
                  </a:cubicBezTo>
                  <a:cubicBezTo>
                    <a:pt x="f22" y="f29"/>
                    <a:pt x="f20" y="f37"/>
                    <a:pt x="f18" y="f27"/>
                  </a:cubicBezTo>
                  <a:cubicBezTo>
                    <a:pt x="f14" y="f25"/>
                    <a:pt x="f12" y="f24"/>
                    <a:pt x="f12" y="f44"/>
                  </a:cubicBezTo>
                  <a:cubicBezTo>
                    <a:pt x="f10" y="f18"/>
                    <a:pt x="f6" y="f10"/>
                    <a:pt x="f6" y="f8"/>
                  </a:cubicBezTo>
                  <a:close/>
                  <a:moveTo>
                    <a:pt x="f22" y="f8"/>
                  </a:moveTo>
                  <a:cubicBezTo>
                    <a:pt x="f22" y="f12"/>
                    <a:pt x="f43" y="f20"/>
                    <a:pt x="f24" y="f22"/>
                  </a:cubicBezTo>
                  <a:cubicBezTo>
                    <a:pt x="f25" y="f24"/>
                    <a:pt x="f27" y="f42"/>
                    <a:pt x="f29" y="f42"/>
                  </a:cubicBezTo>
                  <a:cubicBezTo>
                    <a:pt x="f40" y="f42"/>
                    <a:pt x="f40" y="f42"/>
                    <a:pt x="f30" y="f42"/>
                  </a:cubicBezTo>
                  <a:cubicBezTo>
                    <a:pt x="f39" y="f42"/>
                    <a:pt x="f31" y="f24"/>
                    <a:pt x="f38" y="f24"/>
                  </a:cubicBezTo>
                  <a:cubicBezTo>
                    <a:pt x="f38" y="f24"/>
                    <a:pt x="f32" y="f43"/>
                    <a:pt x="f34" y="f22"/>
                  </a:cubicBezTo>
                  <a:cubicBezTo>
                    <a:pt x="f34" y="f22"/>
                    <a:pt x="f35" y="f44"/>
                    <a:pt x="f35" y="f44"/>
                  </a:cubicBezTo>
                  <a:cubicBezTo>
                    <a:pt x="f35" y="f45"/>
                    <a:pt x="f35" y="f45"/>
                    <a:pt x="f35" y="f45"/>
                  </a:cubicBezTo>
                  <a:cubicBezTo>
                    <a:pt x="f35" y="f45"/>
                    <a:pt x="f34" y="f13"/>
                    <a:pt x="f34" y="f13"/>
                  </a:cubicBezTo>
                  <a:cubicBezTo>
                    <a:pt x="f32" y="f46"/>
                    <a:pt x="f38" y="f46"/>
                    <a:pt x="f38" y="f15"/>
                  </a:cubicBezTo>
                  <a:cubicBezTo>
                    <a:pt x="f31" y="f15"/>
                    <a:pt x="f39" y="f47"/>
                    <a:pt x="f30" y="f47"/>
                  </a:cubicBezTo>
                  <a:cubicBezTo>
                    <a:pt x="f40" y="f47"/>
                    <a:pt x="f29" y="f17"/>
                    <a:pt x="f28" y="f17"/>
                  </a:cubicBezTo>
                  <a:cubicBezTo>
                    <a:pt x="f27" y="f17"/>
                    <a:pt x="f25" y="f47"/>
                    <a:pt x="f24" y="f46"/>
                  </a:cubicBezTo>
                  <a:cubicBezTo>
                    <a:pt x="f43" y="f45"/>
                    <a:pt x="f22" y="f48"/>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0" name="Freeform 12">
              <a:extLst>
                <a:ext uri="{FF2B5EF4-FFF2-40B4-BE49-F238E27FC236}">
                  <a16:creationId xmlns:a16="http://schemas.microsoft.com/office/drawing/2014/main" id="{AC3D42C9-3191-B9CC-99E5-45807EA49835}"/>
                </a:ext>
              </a:extLst>
            </p:cNvPr>
            <p:cNvSpPr/>
            <p:nvPr/>
          </p:nvSpPr>
          <p:spPr>
            <a:xfrm>
              <a:off x="956215"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30 f50 1"/>
                <a:gd name="f74" fmla="*/ 35 f49 1"/>
                <a:gd name="f75" fmla="*/ 27 f50 1"/>
                <a:gd name="f76" fmla="*/ 37 f49 1"/>
                <a:gd name="f77" fmla="*/ 24 f50 1"/>
                <a:gd name="f78" fmla="*/ 38 f49 1"/>
                <a:gd name="f79" fmla="*/ 39 f49 1"/>
                <a:gd name="f80" fmla="*/ 16 f50 1"/>
                <a:gd name="f81" fmla="*/ 40 f49 1"/>
                <a:gd name="f82" fmla="*/ 12 f50 1"/>
                <a:gd name="f83" fmla="*/ 5 f50 1"/>
                <a:gd name="f84" fmla="*/ 34 f49 1"/>
                <a:gd name="f85" fmla="*/ 2 f50 1"/>
                <a:gd name="f86" fmla="*/ 0 f50 1"/>
                <a:gd name="f87" fmla="*/ 26 f49 1"/>
                <a:gd name="f88" fmla="*/ 20 f49 1"/>
                <a:gd name="f89" fmla="*/ 1 f50 1"/>
                <a:gd name="f90" fmla="*/ 11 f49 1"/>
                <a:gd name="f91" fmla="*/ 4 f50 1"/>
                <a:gd name="f92" fmla="*/ 5 f49 1"/>
                <a:gd name="f93" fmla="*/ 1 f49 1"/>
                <a:gd name="f94" fmla="*/ 0 f49 1"/>
                <a:gd name="f95" fmla="*/ 29 f50 1"/>
                <a:gd name="f96" fmla="*/ 16 f49 1"/>
                <a:gd name="f97" fmla="*/ 12 f49 1"/>
                <a:gd name="f98" fmla="*/ 9 f49 1"/>
                <a:gd name="f99" fmla="*/ 20 f50 1"/>
                <a:gd name="f100" fmla="*/ 7 f49 1"/>
                <a:gd name="f101" fmla="*/ 6 f49 1"/>
                <a:gd name="f102" fmla="*/ f51 1 f2"/>
                <a:gd name="f103" fmla="*/ f54 1 33"/>
                <a:gd name="f104" fmla="*/ f55 1 40"/>
                <a:gd name="f105" fmla="*/ f56 1 40"/>
                <a:gd name="f106" fmla="*/ f57 1 33"/>
                <a:gd name="f107" fmla="*/ f58 1 40"/>
                <a:gd name="f108" fmla="*/ f59 1 33"/>
                <a:gd name="f109" fmla="*/ f60 1 33"/>
                <a:gd name="f110" fmla="*/ f61 1 40"/>
                <a:gd name="f111" fmla="*/ f62 1 33"/>
                <a:gd name="f112" fmla="*/ f63 1 40"/>
                <a:gd name="f113" fmla="*/ f64 1 33"/>
                <a:gd name="f114" fmla="*/ f65 1 40"/>
                <a:gd name="f115" fmla="*/ f66 1 33"/>
                <a:gd name="f116" fmla="*/ f67 1 40"/>
                <a:gd name="f117" fmla="*/ f68 1 33"/>
                <a:gd name="f118" fmla="*/ f69 1 33"/>
                <a:gd name="f119" fmla="*/ f70 1 33"/>
                <a:gd name="f120" fmla="*/ f71 1 40"/>
                <a:gd name="f121" fmla="*/ f72 1 33"/>
                <a:gd name="f122" fmla="*/ f73 1 33"/>
                <a:gd name="f123" fmla="*/ f74 1 40"/>
                <a:gd name="f124" fmla="*/ f75 1 33"/>
                <a:gd name="f125" fmla="*/ f76 1 40"/>
                <a:gd name="f126" fmla="*/ f77 1 33"/>
                <a:gd name="f127" fmla="*/ f78 1 40"/>
                <a:gd name="f128" fmla="*/ f79 1 40"/>
                <a:gd name="f129" fmla="*/ f80 1 33"/>
                <a:gd name="f130" fmla="*/ f81 1 40"/>
                <a:gd name="f131" fmla="*/ f82 1 33"/>
                <a:gd name="f132" fmla="*/ f83 1 33"/>
                <a:gd name="f133" fmla="*/ f84 1 40"/>
                <a:gd name="f134" fmla="*/ f85 1 33"/>
                <a:gd name="f135" fmla="*/ f86 1 33"/>
                <a:gd name="f136" fmla="*/ f87 1 40"/>
                <a:gd name="f137" fmla="*/ f88 1 40"/>
                <a:gd name="f138" fmla="*/ f89 1 33"/>
                <a:gd name="f139" fmla="*/ f90 1 40"/>
                <a:gd name="f140" fmla="*/ f91 1 33"/>
                <a:gd name="f141" fmla="*/ f92 1 40"/>
                <a:gd name="f142" fmla="*/ f93 1 40"/>
                <a:gd name="f143" fmla="*/ f94 1 40"/>
                <a:gd name="f144" fmla="*/ f95 1 33"/>
                <a:gd name="f145" fmla="*/ f96 1 40"/>
                <a:gd name="f146" fmla="*/ f97 1 40"/>
                <a:gd name="f147" fmla="*/ f98 1 40"/>
                <a:gd name="f148" fmla="*/ f99 1 33"/>
                <a:gd name="f149" fmla="*/ f100 1 40"/>
                <a:gd name="f150" fmla="*/ f101 1 40"/>
                <a:gd name="f151" fmla="*/ 0 1 f52"/>
                <a:gd name="f152" fmla="*/ f6 1 f52"/>
                <a:gd name="f153" fmla="*/ 0 1 f53"/>
                <a:gd name="f154" fmla="*/ f7 1 f53"/>
                <a:gd name="f155" fmla="+- f102 0 f1"/>
                <a:gd name="f156" fmla="*/ f103 1 f52"/>
                <a:gd name="f157" fmla="*/ f104 1 f53"/>
                <a:gd name="f158" fmla="*/ f105 1 f53"/>
                <a:gd name="f159" fmla="*/ f106 1 f52"/>
                <a:gd name="f160" fmla="*/ f107 1 f53"/>
                <a:gd name="f161" fmla="*/ f108 1 f52"/>
                <a:gd name="f162" fmla="*/ f109 1 f52"/>
                <a:gd name="f163" fmla="*/ f110 1 f53"/>
                <a:gd name="f164" fmla="*/ f111 1 f52"/>
                <a:gd name="f165" fmla="*/ f112 1 f53"/>
                <a:gd name="f166" fmla="*/ f113 1 f52"/>
                <a:gd name="f167" fmla="*/ f114 1 f53"/>
                <a:gd name="f168" fmla="*/ f115 1 f52"/>
                <a:gd name="f169" fmla="*/ f116 1 f53"/>
                <a:gd name="f170" fmla="*/ f117 1 f52"/>
                <a:gd name="f171" fmla="*/ f118 1 f52"/>
                <a:gd name="f172" fmla="*/ f119 1 f52"/>
                <a:gd name="f173" fmla="*/ f120 1 f53"/>
                <a:gd name="f174" fmla="*/ f121 1 f52"/>
                <a:gd name="f175" fmla="*/ f122 1 f52"/>
                <a:gd name="f176" fmla="*/ f123 1 f53"/>
                <a:gd name="f177" fmla="*/ f124 1 f52"/>
                <a:gd name="f178" fmla="*/ f125 1 f53"/>
                <a:gd name="f179" fmla="*/ f126 1 f52"/>
                <a:gd name="f180" fmla="*/ f127 1 f53"/>
                <a:gd name="f181" fmla="*/ f128 1 f53"/>
                <a:gd name="f182" fmla="*/ f129 1 f52"/>
                <a:gd name="f183" fmla="*/ f130 1 f53"/>
                <a:gd name="f184" fmla="*/ f131 1 f52"/>
                <a:gd name="f185" fmla="*/ f132 1 f52"/>
                <a:gd name="f186" fmla="*/ f133 1 f53"/>
                <a:gd name="f187" fmla="*/ f134 1 f52"/>
                <a:gd name="f188" fmla="*/ f135 1 f52"/>
                <a:gd name="f189" fmla="*/ f136 1 f53"/>
                <a:gd name="f190" fmla="*/ f137 1 f53"/>
                <a:gd name="f191" fmla="*/ f138 1 f52"/>
                <a:gd name="f192" fmla="*/ f139 1 f53"/>
                <a:gd name="f193" fmla="*/ f140 1 f52"/>
                <a:gd name="f194" fmla="*/ f141 1 f53"/>
                <a:gd name="f195" fmla="*/ f142 1 f53"/>
                <a:gd name="f196" fmla="*/ f143 1 f53"/>
                <a:gd name="f197" fmla="*/ f144 1 f52"/>
                <a:gd name="f198" fmla="*/ f145 1 f53"/>
                <a:gd name="f199" fmla="*/ f146 1 f53"/>
                <a:gd name="f200" fmla="*/ f147 1 f53"/>
                <a:gd name="f201" fmla="*/ f148 1 f52"/>
                <a:gd name="f202" fmla="*/ f149 1 f53"/>
                <a:gd name="f203" fmla="*/ f150 1 f53"/>
                <a:gd name="f204" fmla="*/ f151 f47 1"/>
                <a:gd name="f205" fmla="*/ f152 f47 1"/>
                <a:gd name="f206" fmla="*/ f154 f48 1"/>
                <a:gd name="f207" fmla="*/ f153 f48 1"/>
                <a:gd name="f208" fmla="*/ f156 f47 1"/>
                <a:gd name="f209" fmla="*/ f157 f48 1"/>
                <a:gd name="f210" fmla="*/ f158 f48 1"/>
                <a:gd name="f211" fmla="*/ f159 f47 1"/>
                <a:gd name="f212" fmla="*/ f160 f48 1"/>
                <a:gd name="f213" fmla="*/ f161 f47 1"/>
                <a:gd name="f214" fmla="*/ f162 f47 1"/>
                <a:gd name="f215" fmla="*/ f163 f48 1"/>
                <a:gd name="f216" fmla="*/ f164 f47 1"/>
                <a:gd name="f217" fmla="*/ f165 f48 1"/>
                <a:gd name="f218" fmla="*/ f166 f47 1"/>
                <a:gd name="f219" fmla="*/ f167 f48 1"/>
                <a:gd name="f220" fmla="*/ f168 f47 1"/>
                <a:gd name="f221" fmla="*/ f169 f48 1"/>
                <a:gd name="f222" fmla="*/ f170 f47 1"/>
                <a:gd name="f223" fmla="*/ f171 f47 1"/>
                <a:gd name="f224" fmla="*/ f172 f47 1"/>
                <a:gd name="f225" fmla="*/ f173 f48 1"/>
                <a:gd name="f226" fmla="*/ f174 f47 1"/>
                <a:gd name="f227" fmla="*/ f175 f47 1"/>
                <a:gd name="f228" fmla="*/ f176 f48 1"/>
                <a:gd name="f229" fmla="*/ f177 f47 1"/>
                <a:gd name="f230" fmla="*/ f178 f48 1"/>
                <a:gd name="f231" fmla="*/ f179 f47 1"/>
                <a:gd name="f232" fmla="*/ f180 f48 1"/>
                <a:gd name="f233" fmla="*/ f181 f48 1"/>
                <a:gd name="f234" fmla="*/ f182 f47 1"/>
                <a:gd name="f235" fmla="*/ f183 f48 1"/>
                <a:gd name="f236" fmla="*/ f184 f47 1"/>
                <a:gd name="f237" fmla="*/ f185 f47 1"/>
                <a:gd name="f238" fmla="*/ f186 f48 1"/>
                <a:gd name="f239" fmla="*/ f187 f47 1"/>
                <a:gd name="f240" fmla="*/ f188 f47 1"/>
                <a:gd name="f241" fmla="*/ f189 f48 1"/>
                <a:gd name="f242" fmla="*/ f190 f48 1"/>
                <a:gd name="f243" fmla="*/ f191 f47 1"/>
                <a:gd name="f244" fmla="*/ f192 f48 1"/>
                <a:gd name="f245" fmla="*/ f193 f47 1"/>
                <a:gd name="f246" fmla="*/ f194 f48 1"/>
                <a:gd name="f247" fmla="*/ f195 f48 1"/>
                <a:gd name="f248" fmla="*/ f196 f48 1"/>
                <a:gd name="f249" fmla="*/ f197 f47 1"/>
                <a:gd name="f250" fmla="*/ f198 f48 1"/>
                <a:gd name="f251" fmla="*/ f199 f48 1"/>
                <a:gd name="f252" fmla="*/ f200 f48 1"/>
                <a:gd name="f253" fmla="*/ f201 f47 1"/>
                <a:gd name="f254" fmla="*/ f202 f48 1"/>
                <a:gd name="f255" fmla="*/ f203 f48 1"/>
              </a:gdLst>
              <a:ahLst/>
              <a:cxnLst>
                <a:cxn ang="3cd4">
                  <a:pos x="hc" y="t"/>
                </a:cxn>
                <a:cxn ang="0">
                  <a:pos x="r" y="vc"/>
                </a:cxn>
                <a:cxn ang="cd4">
                  <a:pos x="hc" y="b"/>
                </a:cxn>
                <a:cxn ang="cd2">
                  <a:pos x="l" y="vc"/>
                </a:cxn>
                <a:cxn ang="f155">
                  <a:pos x="f208" y="f209"/>
                </a:cxn>
                <a:cxn ang="f155">
                  <a:pos x="f208" y="f210"/>
                </a:cxn>
                <a:cxn ang="f155">
                  <a:pos x="f211" y="f212"/>
                </a:cxn>
                <a:cxn ang="f155">
                  <a:pos x="f213" y="f212"/>
                </a:cxn>
                <a:cxn ang="f155">
                  <a:pos x="f214" y="f215"/>
                </a:cxn>
                <a:cxn ang="f155">
                  <a:pos x="f216" y="f217"/>
                </a:cxn>
                <a:cxn ang="f155">
                  <a:pos x="f218" y="f219"/>
                </a:cxn>
                <a:cxn ang="f155">
                  <a:pos x="f220" y="f221"/>
                </a:cxn>
                <a:cxn ang="f155">
                  <a:pos x="f222" y="f221"/>
                </a:cxn>
                <a:cxn ang="f155">
                  <a:pos x="f223" y="f219"/>
                </a:cxn>
                <a:cxn ang="f155">
                  <a:pos x="f224" y="f225"/>
                </a:cxn>
                <a:cxn ang="f155">
                  <a:pos x="f226" y="f217"/>
                </a:cxn>
                <a:cxn ang="f155">
                  <a:pos x="f227" y="f228"/>
                </a:cxn>
                <a:cxn ang="f155">
                  <a:pos x="f229" y="f230"/>
                </a:cxn>
                <a:cxn ang="f155">
                  <a:pos x="f231" y="f232"/>
                </a:cxn>
                <a:cxn ang="f155">
                  <a:pos x="f223" y="f233"/>
                </a:cxn>
                <a:cxn ang="f155">
                  <a:pos x="f234" y="f235"/>
                </a:cxn>
                <a:cxn ang="f155">
                  <a:pos x="f236" y="f233"/>
                </a:cxn>
                <a:cxn ang="f155">
                  <a:pos x="f214" y="f230"/>
                </a:cxn>
                <a:cxn ang="f155">
                  <a:pos x="f237" y="f238"/>
                </a:cxn>
                <a:cxn ang="f155">
                  <a:pos x="f239" y="f225"/>
                </a:cxn>
                <a:cxn ang="f155">
                  <a:pos x="f240" y="f241"/>
                </a:cxn>
                <a:cxn ang="f155">
                  <a:pos x="f240" y="f242"/>
                </a:cxn>
                <a:cxn ang="f155">
                  <a:pos x="f243" y="f244"/>
                </a:cxn>
                <a:cxn ang="f155">
                  <a:pos x="f245" y="f246"/>
                </a:cxn>
                <a:cxn ang="f155">
                  <a:pos x="f216" y="f247"/>
                </a:cxn>
                <a:cxn ang="f155">
                  <a:pos x="f234" y="f248"/>
                </a:cxn>
                <a:cxn ang="f155">
                  <a:pos x="f231" y="f247"/>
                </a:cxn>
                <a:cxn ang="f155">
                  <a:pos x="f249" y="f246"/>
                </a:cxn>
                <a:cxn ang="f155">
                  <a:pos x="f211" y="f244"/>
                </a:cxn>
                <a:cxn ang="f155">
                  <a:pos x="f208" y="f209"/>
                </a:cxn>
                <a:cxn ang="f155">
                  <a:pos x="f226" y="f250"/>
                </a:cxn>
                <a:cxn ang="f155">
                  <a:pos x="f231" y="f251"/>
                </a:cxn>
                <a:cxn ang="f155">
                  <a:pos x="f224" y="f252"/>
                </a:cxn>
                <a:cxn ang="f155">
                  <a:pos x="f253" y="f254"/>
                </a:cxn>
                <a:cxn ang="f155">
                  <a:pos x="f234" y="f255"/>
                </a:cxn>
                <a:cxn ang="f155">
                  <a:pos x="f236" y="f254"/>
                </a:cxn>
                <a:cxn ang="f155">
                  <a:pos x="f216" y="f252"/>
                </a:cxn>
                <a:cxn ang="f155">
                  <a:pos x="f214" y="f251"/>
                </a:cxn>
                <a:cxn ang="f155">
                  <a:pos x="f213" y="f250"/>
                </a:cxn>
                <a:cxn ang="f155">
                  <a:pos x="f226" y="f250"/>
                </a:cxn>
              </a:cxnLst>
              <a:rect l="f204" t="f207" r="f205" b="f206"/>
              <a:pathLst>
                <a:path w="33" h="40">
                  <a:moveTo>
                    <a:pt x="f6" y="f8"/>
                  </a:moveTo>
                  <a:cubicBezTo>
                    <a:pt x="f6" y="f8"/>
                    <a:pt x="f6" y="f9"/>
                    <a:pt x="f6" y="f10"/>
                  </a:cubicBezTo>
                  <a:cubicBezTo>
                    <a:pt x="f6"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10" y="f11"/>
                    <a:pt x="f10" y="f11"/>
                  </a:cubicBezTo>
                  <a:cubicBezTo>
                    <a:pt x="f12" y="f11"/>
                    <a:pt x="f12" y="f24"/>
                    <a:pt x="f31" y="f24"/>
                  </a:cubicBezTo>
                  <a:cubicBezTo>
                    <a:pt x="f14" y="f24"/>
                    <a:pt x="f14" y="f22"/>
                    <a:pt x="f32" y="f22"/>
                  </a:cubicBezTo>
                  <a:cubicBezTo>
                    <a:pt x="f22" y="f33"/>
                    <a:pt x="f22" y="f33"/>
                    <a:pt x="f22" y="f33"/>
                  </a:cubicBezTo>
                  <a:cubicBezTo>
                    <a:pt x="f21" y="f33"/>
                    <a:pt x="f19" y="f34"/>
                    <a:pt x="f17" y="f35"/>
                  </a:cubicBezTo>
                  <a:cubicBezTo>
                    <a:pt x="f16" y="f35"/>
                    <a:pt x="f32" y="f36"/>
                    <a:pt x="f14" y="f36"/>
                  </a:cubicBezTo>
                  <a:cubicBezTo>
                    <a:pt x="f31" y="f37"/>
                    <a:pt x="f12" y="f37"/>
                    <a:pt x="f10"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30"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1" name="Freeform 13">
              <a:extLst>
                <a:ext uri="{FF2B5EF4-FFF2-40B4-BE49-F238E27FC236}">
                  <a16:creationId xmlns:a16="http://schemas.microsoft.com/office/drawing/2014/main" id="{15152A36-58C6-91CD-8C4B-9134256E1334}"/>
                </a:ext>
              </a:extLst>
            </p:cNvPr>
            <p:cNvSpPr/>
            <p:nvPr/>
          </p:nvSpPr>
          <p:spPr>
            <a:xfrm>
              <a:off x="1050325"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2"/>
                <a:gd name="f19" fmla="val 11"/>
                <a:gd name="f20" fmla="val 10"/>
                <a:gd name="f21" fmla="val 9"/>
                <a:gd name="f22" fmla="val 8"/>
                <a:gd name="f23" fmla="val 52"/>
                <a:gd name="f24" fmla="val 7"/>
                <a:gd name="f25" fmla="val 51"/>
                <a:gd name="f26" fmla="val 6"/>
                <a:gd name="f27" fmla="val 50"/>
                <a:gd name="f28" fmla="val 49"/>
                <a:gd name="f29" fmla="val 48"/>
                <a:gd name="f30" fmla="val 5"/>
                <a:gd name="f31" fmla="val 46"/>
                <a:gd name="f32" fmla="val 44"/>
                <a:gd name="f33" fmla="val 4"/>
                <a:gd name="f34" fmla="val 4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1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3 f42 1"/>
                <a:gd name="f64" fmla="*/ 0 f41 1"/>
                <a:gd name="f65" fmla="*/ 22 f42 1"/>
                <a:gd name="f66" fmla="*/ 43 f41 1"/>
                <a:gd name="f67" fmla="*/ 45 f41 1"/>
                <a:gd name="f68" fmla="*/ 47 f41 1"/>
                <a:gd name="f69" fmla="*/ 15 f42 1"/>
                <a:gd name="f70" fmla="*/ 17 f42 1"/>
                <a:gd name="f71" fmla="*/ 48 f41 1"/>
                <a:gd name="f72" fmla="*/ 20 f42 1"/>
                <a:gd name="f73" fmla="*/ 46 f41 1"/>
                <a:gd name="f74" fmla="*/ f43 1 f2"/>
                <a:gd name="f75" fmla="*/ f46 1 22"/>
                <a:gd name="f76" fmla="*/ f47 1 55"/>
                <a:gd name="f77" fmla="*/ f48 1 22"/>
                <a:gd name="f78" fmla="*/ f49 1 55"/>
                <a:gd name="f79" fmla="*/ f50 1 22"/>
                <a:gd name="f80" fmla="*/ f51 1 55"/>
                <a:gd name="f81" fmla="*/ f52 1 22"/>
                <a:gd name="f82" fmla="*/ f53 1 22"/>
                <a:gd name="f83" fmla="*/ f54 1 55"/>
                <a:gd name="f84" fmla="*/ f55 1 22"/>
                <a:gd name="f85" fmla="*/ f56 1 55"/>
                <a:gd name="f86" fmla="*/ f57 1 22"/>
                <a:gd name="f87" fmla="*/ f58 1 55"/>
                <a:gd name="f88" fmla="*/ f59 1 55"/>
                <a:gd name="f89" fmla="*/ f60 1 22"/>
                <a:gd name="f90" fmla="*/ f61 1 55"/>
                <a:gd name="f91" fmla="*/ f62 1 55"/>
                <a:gd name="f92" fmla="*/ f63 1 22"/>
                <a:gd name="f93" fmla="*/ f64 1 55"/>
                <a:gd name="f94" fmla="*/ f65 1 22"/>
                <a:gd name="f95" fmla="*/ f66 1 55"/>
                <a:gd name="f96" fmla="*/ f67 1 55"/>
                <a:gd name="f97" fmla="*/ f68 1 55"/>
                <a:gd name="f98" fmla="*/ f69 1 22"/>
                <a:gd name="f99" fmla="*/ f70 1 22"/>
                <a:gd name="f100" fmla="*/ f71 1 55"/>
                <a:gd name="f101" fmla="*/ f72 1 22"/>
                <a:gd name="f102" fmla="*/ f73 1 55"/>
                <a:gd name="f103" fmla="*/ 0 1 f44"/>
                <a:gd name="f104" fmla="*/ f6 1 f44"/>
                <a:gd name="f105" fmla="*/ 0 1 f45"/>
                <a:gd name="f106" fmla="*/ f7 1 f45"/>
                <a:gd name="f107" fmla="+- f74 0 f1"/>
                <a:gd name="f108" fmla="*/ f75 1 f44"/>
                <a:gd name="f109" fmla="*/ f76 1 f45"/>
                <a:gd name="f110" fmla="*/ f77 1 f44"/>
                <a:gd name="f111" fmla="*/ f78 1 f45"/>
                <a:gd name="f112" fmla="*/ f79 1 f44"/>
                <a:gd name="f113" fmla="*/ f80 1 f45"/>
                <a:gd name="f114" fmla="*/ f81 1 f44"/>
                <a:gd name="f115" fmla="*/ f82 1 f44"/>
                <a:gd name="f116" fmla="*/ f83 1 f45"/>
                <a:gd name="f117" fmla="*/ f84 1 f44"/>
                <a:gd name="f118" fmla="*/ f85 1 f45"/>
                <a:gd name="f119" fmla="*/ f86 1 f44"/>
                <a:gd name="f120" fmla="*/ f87 1 f45"/>
                <a:gd name="f121" fmla="*/ f88 1 f45"/>
                <a:gd name="f122" fmla="*/ f89 1 f44"/>
                <a:gd name="f123" fmla="*/ f90 1 f45"/>
                <a:gd name="f124" fmla="*/ f91 1 f45"/>
                <a:gd name="f125" fmla="*/ f92 1 f44"/>
                <a:gd name="f126" fmla="*/ f93 1 f45"/>
                <a:gd name="f127" fmla="*/ f94 1 f44"/>
                <a:gd name="f128" fmla="*/ f95 1 f45"/>
                <a:gd name="f129" fmla="*/ f96 1 f45"/>
                <a:gd name="f130" fmla="*/ f97 1 f45"/>
                <a:gd name="f131" fmla="*/ f98 1 f44"/>
                <a:gd name="f132" fmla="*/ f99 1 f44"/>
                <a:gd name="f133" fmla="*/ f100 1 f45"/>
                <a:gd name="f134" fmla="*/ f101 1 f44"/>
                <a:gd name="f135" fmla="*/ f102 1 f45"/>
                <a:gd name="f136" fmla="*/ f103 f39 1"/>
                <a:gd name="f137" fmla="*/ f104 f39 1"/>
                <a:gd name="f138" fmla="*/ f106 f40 1"/>
                <a:gd name="f139" fmla="*/ f105 f40 1"/>
                <a:gd name="f140" fmla="*/ f108 f39 1"/>
                <a:gd name="f141" fmla="*/ f109 f40 1"/>
                <a:gd name="f142" fmla="*/ f110 f39 1"/>
                <a:gd name="f143" fmla="*/ f111 f40 1"/>
                <a:gd name="f144" fmla="*/ f112 f39 1"/>
                <a:gd name="f145" fmla="*/ f113 f40 1"/>
                <a:gd name="f146" fmla="*/ f114 f39 1"/>
                <a:gd name="f147" fmla="*/ f115 f39 1"/>
                <a:gd name="f148" fmla="*/ f116 f40 1"/>
                <a:gd name="f149" fmla="*/ f117 f39 1"/>
                <a:gd name="f150" fmla="*/ f118 f40 1"/>
                <a:gd name="f151" fmla="*/ f119 f39 1"/>
                <a:gd name="f152" fmla="*/ f120 f40 1"/>
                <a:gd name="f153" fmla="*/ f121 f40 1"/>
                <a:gd name="f154" fmla="*/ f122 f39 1"/>
                <a:gd name="f155" fmla="*/ f123 f40 1"/>
                <a:gd name="f156" fmla="*/ f124 f40 1"/>
                <a:gd name="f157" fmla="*/ f125 f39 1"/>
                <a:gd name="f158" fmla="*/ f126 f40 1"/>
                <a:gd name="f159" fmla="*/ f127 f39 1"/>
                <a:gd name="f160" fmla="*/ f128 f40 1"/>
                <a:gd name="f161" fmla="*/ f129 f40 1"/>
                <a:gd name="f162" fmla="*/ f130 f40 1"/>
                <a:gd name="f163" fmla="*/ f131 f39 1"/>
                <a:gd name="f164" fmla="*/ f132 f39 1"/>
                <a:gd name="f165" fmla="*/ f133 f40 1"/>
                <a:gd name="f166" fmla="*/ f134 f39 1"/>
                <a:gd name="f167" fmla="*/ f135 f40 1"/>
              </a:gdLst>
              <a:ahLst/>
              <a:cxnLst>
                <a:cxn ang="3cd4">
                  <a:pos x="hc" y="t"/>
                </a:cxn>
                <a:cxn ang="0">
                  <a:pos x="r" y="vc"/>
                </a:cxn>
                <a:cxn ang="cd4">
                  <a:pos x="hc" y="b"/>
                </a:cxn>
                <a:cxn ang="cd2">
                  <a:pos x="l" y="vc"/>
                </a:cxn>
                <a:cxn ang="f107">
                  <a:pos x="f140" y="f141"/>
                </a:cxn>
                <a:cxn ang="f107">
                  <a:pos x="f142" y="f143"/>
                </a:cxn>
                <a:cxn ang="f107">
                  <a:pos x="f144" y="f145"/>
                </a:cxn>
                <a:cxn ang="f107">
                  <a:pos x="f146" y="f143"/>
                </a:cxn>
                <a:cxn ang="f107">
                  <a:pos x="f147" y="f148"/>
                </a:cxn>
                <a:cxn ang="f107">
                  <a:pos x="f149" y="f150"/>
                </a:cxn>
                <a:cxn ang="f107">
                  <a:pos x="f151" y="f152"/>
                </a:cxn>
                <a:cxn ang="f107">
                  <a:pos x="f151" y="f153"/>
                </a:cxn>
                <a:cxn ang="f107">
                  <a:pos x="f154" y="f153"/>
                </a:cxn>
                <a:cxn ang="f107">
                  <a:pos x="f154" y="f155"/>
                </a:cxn>
                <a:cxn ang="f107">
                  <a:pos x="f151" y="f155"/>
                </a:cxn>
                <a:cxn ang="f107">
                  <a:pos x="f151" y="f156"/>
                </a:cxn>
                <a:cxn ang="f107">
                  <a:pos x="f157" y="f158"/>
                </a:cxn>
                <a:cxn ang="f107">
                  <a:pos x="f157" y="f155"/>
                </a:cxn>
                <a:cxn ang="f107">
                  <a:pos x="f159" y="f155"/>
                </a:cxn>
                <a:cxn ang="f107">
                  <a:pos x="f159" y="f153"/>
                </a:cxn>
                <a:cxn ang="f107">
                  <a:pos x="f157" y="f153"/>
                </a:cxn>
                <a:cxn ang="f107">
                  <a:pos x="f157" y="f160"/>
                </a:cxn>
                <a:cxn ang="f107">
                  <a:pos x="f157" y="f161"/>
                </a:cxn>
                <a:cxn ang="f107">
                  <a:pos x="f144" y="f162"/>
                </a:cxn>
                <a:cxn ang="f107">
                  <a:pos x="f163" y="f162"/>
                </a:cxn>
                <a:cxn ang="f107">
                  <a:pos x="f164" y="f165"/>
                </a:cxn>
                <a:cxn ang="f107">
                  <a:pos x="f166" y="f162"/>
                </a:cxn>
                <a:cxn ang="f107">
                  <a:pos x="f159" y="f167"/>
                </a:cxn>
                <a:cxn ang="f107">
                  <a:pos x="f140" y="f141"/>
                </a:cxn>
              </a:cxnLst>
              <a:rect l="f136" t="f139" r="f137" b="f138"/>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4" y="f25"/>
                    <a:pt x="f26" y="f27"/>
                    <a:pt x="f26" y="f28"/>
                  </a:cubicBezTo>
                  <a:cubicBezTo>
                    <a:pt x="f26" y="f29"/>
                    <a:pt x="f30" y="f31"/>
                    <a:pt x="f30" y="f32"/>
                  </a:cubicBezTo>
                  <a:cubicBezTo>
                    <a:pt x="f30" y="f6"/>
                    <a:pt x="f30" y="f6"/>
                    <a:pt x="f30" y="f6"/>
                  </a:cubicBezTo>
                  <a:cubicBezTo>
                    <a:pt x="f5" y="f6"/>
                    <a:pt x="f5" y="f6"/>
                    <a:pt x="f5" y="f6"/>
                  </a:cubicBezTo>
                  <a:cubicBezTo>
                    <a:pt x="f5" y="f15"/>
                    <a:pt x="f5" y="f15"/>
                    <a:pt x="f5" y="f15"/>
                  </a:cubicBezTo>
                  <a:cubicBezTo>
                    <a:pt x="f30" y="f15"/>
                    <a:pt x="f30" y="f15"/>
                    <a:pt x="f30" y="f15"/>
                  </a:cubicBezTo>
                  <a:cubicBezTo>
                    <a:pt x="f30" y="f33"/>
                    <a:pt x="f30" y="f33"/>
                    <a:pt x="f30" y="f33"/>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4"/>
                    <a:pt x="f17" y="f34"/>
                    <a:pt x="f17" y="f34"/>
                  </a:cubicBezTo>
                  <a:cubicBezTo>
                    <a:pt x="f17" y="f32"/>
                    <a:pt x="f17" y="f35"/>
                    <a:pt x="f17" y="f35"/>
                  </a:cubicBezTo>
                  <a:cubicBezTo>
                    <a:pt x="f17" y="f31"/>
                    <a:pt x="f17" y="f31"/>
                    <a:pt x="f16" y="f36"/>
                  </a:cubicBezTo>
                  <a:cubicBezTo>
                    <a:pt x="f16" y="f36"/>
                    <a:pt x="f16" y="f36"/>
                    <a:pt x="f15" y="f36"/>
                  </a:cubicBezTo>
                  <a:cubicBezTo>
                    <a:pt x="f15" y="f29"/>
                    <a:pt x="f37" y="f29"/>
                    <a:pt x="f14" y="f29"/>
                  </a:cubicBezTo>
                  <a:cubicBezTo>
                    <a:pt x="f13" y="f29"/>
                    <a:pt x="f11" y="f29"/>
                    <a:pt x="f10" y="f36"/>
                  </a:cubicBezTo>
                  <a:cubicBezTo>
                    <a:pt x="f8" y="f36"/>
                    <a:pt x="f6" y="f36"/>
                    <a:pt x="f6" y="f31"/>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2" name="Freeform 14">
              <a:extLst>
                <a:ext uri="{FF2B5EF4-FFF2-40B4-BE49-F238E27FC236}">
                  <a16:creationId xmlns:a16="http://schemas.microsoft.com/office/drawing/2014/main" id="{7D77380E-C407-75E7-03B0-115AF11DBD9E}"/>
                </a:ext>
              </a:extLst>
            </p:cNvPr>
            <p:cNvSpPr/>
            <p:nvPr/>
          </p:nvSpPr>
          <p:spPr>
            <a:xfrm>
              <a:off x="111829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3" name="Freeform 15">
              <a:extLst>
                <a:ext uri="{FF2B5EF4-FFF2-40B4-BE49-F238E27FC236}">
                  <a16:creationId xmlns:a16="http://schemas.microsoft.com/office/drawing/2014/main" id="{86917A0E-EE53-F227-88AB-31E2666E941F}"/>
                </a:ext>
              </a:extLst>
            </p:cNvPr>
            <p:cNvSpPr/>
            <p:nvPr/>
          </p:nvSpPr>
          <p:spPr>
            <a:xfrm>
              <a:off x="1189753"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29 f50 1"/>
                <a:gd name="f74" fmla="*/ 35 f49 1"/>
                <a:gd name="f75" fmla="*/ 27 f50 1"/>
                <a:gd name="f76" fmla="*/ 37 f49 1"/>
                <a:gd name="f77" fmla="*/ 24 f50 1"/>
                <a:gd name="f78" fmla="*/ 38 f49 1"/>
                <a:gd name="f79" fmla="*/ 20 f50 1"/>
                <a:gd name="f80" fmla="*/ 39 f49 1"/>
                <a:gd name="f81" fmla="*/ 16 f50 1"/>
                <a:gd name="f82" fmla="*/ 40 f49 1"/>
                <a:gd name="f83" fmla="*/ 12 f50 1"/>
                <a:gd name="f84" fmla="*/ 5 f50 1"/>
                <a:gd name="f85" fmla="*/ 34 f49 1"/>
                <a:gd name="f86" fmla="*/ 2 f50 1"/>
                <a:gd name="f87" fmla="*/ 0 f50 1"/>
                <a:gd name="f88" fmla="*/ 26 f49 1"/>
                <a:gd name="f89" fmla="*/ 20 f49 1"/>
                <a:gd name="f90" fmla="*/ 1 f50 1"/>
                <a:gd name="f91" fmla="*/ 11 f49 1"/>
                <a:gd name="f92" fmla="*/ 4 f50 1"/>
                <a:gd name="f93" fmla="*/ 5 f49 1"/>
                <a:gd name="f94" fmla="*/ 1 f49 1"/>
                <a:gd name="f95" fmla="*/ 0 f49 1"/>
                <a:gd name="f96" fmla="*/ 16 f49 1"/>
                <a:gd name="f97" fmla="*/ 12 f49 1"/>
                <a:gd name="f98" fmla="*/ 9 f49 1"/>
                <a:gd name="f99" fmla="*/ 7 f49 1"/>
                <a:gd name="f100" fmla="*/ 6 f49 1"/>
                <a:gd name="f101" fmla="*/ f51 1 f2"/>
                <a:gd name="f102" fmla="*/ f54 1 33"/>
                <a:gd name="f103" fmla="*/ f55 1 40"/>
                <a:gd name="f104" fmla="*/ f56 1 40"/>
                <a:gd name="f105" fmla="*/ f57 1 33"/>
                <a:gd name="f106" fmla="*/ f58 1 40"/>
                <a:gd name="f107" fmla="*/ f59 1 33"/>
                <a:gd name="f108" fmla="*/ f60 1 33"/>
                <a:gd name="f109" fmla="*/ f61 1 40"/>
                <a:gd name="f110" fmla="*/ f62 1 33"/>
                <a:gd name="f111" fmla="*/ f63 1 40"/>
                <a:gd name="f112" fmla="*/ f64 1 33"/>
                <a:gd name="f113" fmla="*/ f65 1 40"/>
                <a:gd name="f114" fmla="*/ f66 1 33"/>
                <a:gd name="f115" fmla="*/ f67 1 40"/>
                <a:gd name="f116" fmla="*/ f68 1 33"/>
                <a:gd name="f117" fmla="*/ f69 1 33"/>
                <a:gd name="f118" fmla="*/ f70 1 33"/>
                <a:gd name="f119" fmla="*/ f71 1 40"/>
                <a:gd name="f120" fmla="*/ f72 1 33"/>
                <a:gd name="f121" fmla="*/ f73 1 33"/>
                <a:gd name="f122" fmla="*/ f74 1 40"/>
                <a:gd name="f123" fmla="*/ f75 1 33"/>
                <a:gd name="f124" fmla="*/ f76 1 40"/>
                <a:gd name="f125" fmla="*/ f77 1 33"/>
                <a:gd name="f126" fmla="*/ f78 1 40"/>
                <a:gd name="f127" fmla="*/ f79 1 33"/>
                <a:gd name="f128" fmla="*/ f80 1 40"/>
                <a:gd name="f129" fmla="*/ f81 1 33"/>
                <a:gd name="f130" fmla="*/ f82 1 40"/>
                <a:gd name="f131" fmla="*/ f83 1 33"/>
                <a:gd name="f132" fmla="*/ f84 1 33"/>
                <a:gd name="f133" fmla="*/ f85 1 40"/>
                <a:gd name="f134" fmla="*/ f86 1 33"/>
                <a:gd name="f135" fmla="*/ f87 1 33"/>
                <a:gd name="f136" fmla="*/ f88 1 40"/>
                <a:gd name="f137" fmla="*/ f89 1 40"/>
                <a:gd name="f138" fmla="*/ f90 1 33"/>
                <a:gd name="f139" fmla="*/ f91 1 40"/>
                <a:gd name="f140" fmla="*/ f92 1 33"/>
                <a:gd name="f141" fmla="*/ f93 1 40"/>
                <a:gd name="f142" fmla="*/ f94 1 40"/>
                <a:gd name="f143" fmla="*/ f95 1 40"/>
                <a:gd name="f144" fmla="*/ f96 1 40"/>
                <a:gd name="f145" fmla="*/ f97 1 40"/>
                <a:gd name="f146" fmla="*/ f98 1 40"/>
                <a:gd name="f147" fmla="*/ f99 1 40"/>
                <a:gd name="f148" fmla="*/ f100 1 40"/>
                <a:gd name="f149" fmla="*/ 0 1 f52"/>
                <a:gd name="f150" fmla="*/ f6 1 f52"/>
                <a:gd name="f151" fmla="*/ 0 1 f53"/>
                <a:gd name="f152" fmla="*/ f7 1 f53"/>
                <a:gd name="f153" fmla="+- f101 0 f1"/>
                <a:gd name="f154" fmla="*/ f102 1 f52"/>
                <a:gd name="f155" fmla="*/ f103 1 f53"/>
                <a:gd name="f156" fmla="*/ f104 1 f53"/>
                <a:gd name="f157" fmla="*/ f105 1 f52"/>
                <a:gd name="f158" fmla="*/ f106 1 f53"/>
                <a:gd name="f159" fmla="*/ f107 1 f52"/>
                <a:gd name="f160" fmla="*/ f108 1 f52"/>
                <a:gd name="f161" fmla="*/ f109 1 f53"/>
                <a:gd name="f162" fmla="*/ f110 1 f52"/>
                <a:gd name="f163" fmla="*/ f111 1 f53"/>
                <a:gd name="f164" fmla="*/ f112 1 f52"/>
                <a:gd name="f165" fmla="*/ f113 1 f53"/>
                <a:gd name="f166" fmla="*/ f114 1 f52"/>
                <a:gd name="f167" fmla="*/ f115 1 f53"/>
                <a:gd name="f168" fmla="*/ f116 1 f52"/>
                <a:gd name="f169" fmla="*/ f117 1 f52"/>
                <a:gd name="f170" fmla="*/ f118 1 f52"/>
                <a:gd name="f171" fmla="*/ f119 1 f53"/>
                <a:gd name="f172" fmla="*/ f120 1 f52"/>
                <a:gd name="f173" fmla="*/ f121 1 f52"/>
                <a:gd name="f174" fmla="*/ f122 1 f53"/>
                <a:gd name="f175" fmla="*/ f123 1 f52"/>
                <a:gd name="f176" fmla="*/ f124 1 f53"/>
                <a:gd name="f177" fmla="*/ f125 1 f52"/>
                <a:gd name="f178" fmla="*/ f126 1 f53"/>
                <a:gd name="f179" fmla="*/ f127 1 f52"/>
                <a:gd name="f180" fmla="*/ f128 1 f53"/>
                <a:gd name="f181" fmla="*/ f129 1 f52"/>
                <a:gd name="f182" fmla="*/ f130 1 f53"/>
                <a:gd name="f183" fmla="*/ f131 1 f52"/>
                <a:gd name="f184" fmla="*/ f132 1 f52"/>
                <a:gd name="f185" fmla="*/ f133 1 f53"/>
                <a:gd name="f186" fmla="*/ f134 1 f52"/>
                <a:gd name="f187" fmla="*/ f135 1 f52"/>
                <a:gd name="f188" fmla="*/ f136 1 f53"/>
                <a:gd name="f189" fmla="*/ f137 1 f53"/>
                <a:gd name="f190" fmla="*/ f138 1 f52"/>
                <a:gd name="f191" fmla="*/ f139 1 f53"/>
                <a:gd name="f192" fmla="*/ f140 1 f52"/>
                <a:gd name="f193" fmla="*/ f141 1 f53"/>
                <a:gd name="f194" fmla="*/ f142 1 f53"/>
                <a:gd name="f195" fmla="*/ f143 1 f53"/>
                <a:gd name="f196" fmla="*/ f144 1 f53"/>
                <a:gd name="f197" fmla="*/ f145 1 f53"/>
                <a:gd name="f198" fmla="*/ f146 1 f53"/>
                <a:gd name="f199" fmla="*/ f147 1 f53"/>
                <a:gd name="f200" fmla="*/ f148 1 f53"/>
                <a:gd name="f201" fmla="*/ f149 f47 1"/>
                <a:gd name="f202" fmla="*/ f150 f47 1"/>
                <a:gd name="f203" fmla="*/ f152 f48 1"/>
                <a:gd name="f204" fmla="*/ f151 f48 1"/>
                <a:gd name="f205" fmla="*/ f154 f47 1"/>
                <a:gd name="f206" fmla="*/ f155 f48 1"/>
                <a:gd name="f207" fmla="*/ f156 f48 1"/>
                <a:gd name="f208" fmla="*/ f157 f47 1"/>
                <a:gd name="f209" fmla="*/ f158 f48 1"/>
                <a:gd name="f210" fmla="*/ f159 f47 1"/>
                <a:gd name="f211" fmla="*/ f160 f47 1"/>
                <a:gd name="f212" fmla="*/ f161 f48 1"/>
                <a:gd name="f213" fmla="*/ f162 f47 1"/>
                <a:gd name="f214" fmla="*/ f163 f48 1"/>
                <a:gd name="f215" fmla="*/ f164 f47 1"/>
                <a:gd name="f216" fmla="*/ f165 f48 1"/>
                <a:gd name="f217" fmla="*/ f166 f47 1"/>
                <a:gd name="f218" fmla="*/ f167 f48 1"/>
                <a:gd name="f219" fmla="*/ f168 f47 1"/>
                <a:gd name="f220" fmla="*/ f169 f47 1"/>
                <a:gd name="f221" fmla="*/ f170 f47 1"/>
                <a:gd name="f222" fmla="*/ f171 f48 1"/>
                <a:gd name="f223" fmla="*/ f172 f47 1"/>
                <a:gd name="f224" fmla="*/ f173 f47 1"/>
                <a:gd name="f225" fmla="*/ f174 f48 1"/>
                <a:gd name="f226" fmla="*/ f175 f47 1"/>
                <a:gd name="f227" fmla="*/ f176 f48 1"/>
                <a:gd name="f228" fmla="*/ f177 f47 1"/>
                <a:gd name="f229" fmla="*/ f178 f48 1"/>
                <a:gd name="f230" fmla="*/ f179 f47 1"/>
                <a:gd name="f231" fmla="*/ f180 f48 1"/>
                <a:gd name="f232" fmla="*/ f181 f47 1"/>
                <a:gd name="f233" fmla="*/ f182 f48 1"/>
                <a:gd name="f234" fmla="*/ f183 f47 1"/>
                <a:gd name="f235" fmla="*/ f184 f47 1"/>
                <a:gd name="f236" fmla="*/ f185 f48 1"/>
                <a:gd name="f237" fmla="*/ f186 f47 1"/>
                <a:gd name="f238" fmla="*/ f187 f47 1"/>
                <a:gd name="f239" fmla="*/ f188 f48 1"/>
                <a:gd name="f240" fmla="*/ f189 f48 1"/>
                <a:gd name="f241" fmla="*/ f190 f47 1"/>
                <a:gd name="f242" fmla="*/ f191 f48 1"/>
                <a:gd name="f243" fmla="*/ f192 f47 1"/>
                <a:gd name="f244" fmla="*/ f193 f48 1"/>
                <a:gd name="f245" fmla="*/ f194 f48 1"/>
                <a:gd name="f246" fmla="*/ f195 f48 1"/>
                <a:gd name="f247" fmla="*/ f196 f48 1"/>
                <a:gd name="f248" fmla="*/ f197 f48 1"/>
                <a:gd name="f249" fmla="*/ f198 f48 1"/>
                <a:gd name="f250" fmla="*/ f199 f48 1"/>
                <a:gd name="f251" fmla="*/ f200 f48 1"/>
              </a:gdLst>
              <a:ahLst/>
              <a:cxnLst>
                <a:cxn ang="3cd4">
                  <a:pos x="hc" y="t"/>
                </a:cxn>
                <a:cxn ang="0">
                  <a:pos x="r" y="vc"/>
                </a:cxn>
                <a:cxn ang="cd4">
                  <a:pos x="hc" y="b"/>
                </a:cxn>
                <a:cxn ang="cd2">
                  <a:pos x="l" y="vc"/>
                </a:cxn>
                <a:cxn ang="f153">
                  <a:pos x="f205" y="f206"/>
                </a:cxn>
                <a:cxn ang="f153">
                  <a:pos x="f205" y="f207"/>
                </a:cxn>
                <a:cxn ang="f153">
                  <a:pos x="f208" y="f209"/>
                </a:cxn>
                <a:cxn ang="f153">
                  <a:pos x="f210" y="f209"/>
                </a:cxn>
                <a:cxn ang="f153">
                  <a:pos x="f211" y="f212"/>
                </a:cxn>
                <a:cxn ang="f153">
                  <a:pos x="f213" y="f214"/>
                </a:cxn>
                <a:cxn ang="f153">
                  <a:pos x="f215" y="f216"/>
                </a:cxn>
                <a:cxn ang="f153">
                  <a:pos x="f217" y="f218"/>
                </a:cxn>
                <a:cxn ang="f153">
                  <a:pos x="f219" y="f218"/>
                </a:cxn>
                <a:cxn ang="f153">
                  <a:pos x="f220" y="f216"/>
                </a:cxn>
                <a:cxn ang="f153">
                  <a:pos x="f221" y="f222"/>
                </a:cxn>
                <a:cxn ang="f153">
                  <a:pos x="f223" y="f214"/>
                </a:cxn>
                <a:cxn ang="f153">
                  <a:pos x="f224" y="f225"/>
                </a:cxn>
                <a:cxn ang="f153">
                  <a:pos x="f226" y="f227"/>
                </a:cxn>
                <a:cxn ang="f153">
                  <a:pos x="f228" y="f229"/>
                </a:cxn>
                <a:cxn ang="f153">
                  <a:pos x="f230" y="f231"/>
                </a:cxn>
                <a:cxn ang="f153">
                  <a:pos x="f232" y="f233"/>
                </a:cxn>
                <a:cxn ang="f153">
                  <a:pos x="f234" y="f231"/>
                </a:cxn>
                <a:cxn ang="f153">
                  <a:pos x="f211" y="f227"/>
                </a:cxn>
                <a:cxn ang="f153">
                  <a:pos x="f235" y="f236"/>
                </a:cxn>
                <a:cxn ang="f153">
                  <a:pos x="f237" y="f222"/>
                </a:cxn>
                <a:cxn ang="f153">
                  <a:pos x="f238" y="f239"/>
                </a:cxn>
                <a:cxn ang="f153">
                  <a:pos x="f238" y="f240"/>
                </a:cxn>
                <a:cxn ang="f153">
                  <a:pos x="f241" y="f242"/>
                </a:cxn>
                <a:cxn ang="f153">
                  <a:pos x="f243" y="f244"/>
                </a:cxn>
                <a:cxn ang="f153">
                  <a:pos x="f213" y="f245"/>
                </a:cxn>
                <a:cxn ang="f153">
                  <a:pos x="f232" y="f246"/>
                </a:cxn>
                <a:cxn ang="f153">
                  <a:pos x="f228" y="f245"/>
                </a:cxn>
                <a:cxn ang="f153">
                  <a:pos x="f224" y="f244"/>
                </a:cxn>
                <a:cxn ang="f153">
                  <a:pos x="f208" y="f242"/>
                </a:cxn>
                <a:cxn ang="f153">
                  <a:pos x="f205" y="f206"/>
                </a:cxn>
                <a:cxn ang="f153">
                  <a:pos x="f223" y="f247"/>
                </a:cxn>
                <a:cxn ang="f153">
                  <a:pos x="f228" y="f248"/>
                </a:cxn>
                <a:cxn ang="f153">
                  <a:pos x="f221" y="f249"/>
                </a:cxn>
                <a:cxn ang="f153">
                  <a:pos x="f230" y="f250"/>
                </a:cxn>
                <a:cxn ang="f153">
                  <a:pos x="f232" y="f251"/>
                </a:cxn>
                <a:cxn ang="f153">
                  <a:pos x="f234" y="f250"/>
                </a:cxn>
                <a:cxn ang="f153">
                  <a:pos x="f213" y="f249"/>
                </a:cxn>
                <a:cxn ang="f153">
                  <a:pos x="f211" y="f248"/>
                </a:cxn>
                <a:cxn ang="f153">
                  <a:pos x="f210" y="f247"/>
                </a:cxn>
                <a:cxn ang="f153">
                  <a:pos x="f223" y="f247"/>
                </a:cxn>
              </a:cxnLst>
              <a:rect l="f201" t="f204" r="f202" b="f203"/>
              <a:pathLst>
                <a:path w="33" h="40">
                  <a:moveTo>
                    <a:pt x="f6" y="f8"/>
                  </a:moveTo>
                  <a:cubicBezTo>
                    <a:pt x="f6" y="f8"/>
                    <a:pt x="f6" y="f9"/>
                    <a:pt x="f6" y="f10"/>
                  </a:cubicBezTo>
                  <a:cubicBezTo>
                    <a:pt x="f11"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9" y="f11"/>
                    <a:pt x="f10" y="f11"/>
                  </a:cubicBezTo>
                  <a:cubicBezTo>
                    <a:pt x="f12" y="f11"/>
                    <a:pt x="f12" y="f24"/>
                    <a:pt x="f31" y="f24"/>
                  </a:cubicBezTo>
                  <a:cubicBezTo>
                    <a:pt x="f31" y="f24"/>
                    <a:pt x="f14" y="f22"/>
                    <a:pt x="f32" y="f22"/>
                  </a:cubicBezTo>
                  <a:cubicBezTo>
                    <a:pt x="f21" y="f33"/>
                    <a:pt x="f21" y="f33"/>
                    <a:pt x="f21" y="f33"/>
                  </a:cubicBezTo>
                  <a:cubicBezTo>
                    <a:pt x="f21" y="f33"/>
                    <a:pt x="f19" y="f34"/>
                    <a:pt x="f17" y="f35"/>
                  </a:cubicBezTo>
                  <a:cubicBezTo>
                    <a:pt x="f16" y="f35"/>
                    <a:pt x="f32" y="f36"/>
                    <a:pt x="f14" y="f36"/>
                  </a:cubicBezTo>
                  <a:cubicBezTo>
                    <a:pt x="f31" y="f37"/>
                    <a:pt x="f12" y="f37"/>
                    <a:pt x="f9"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29"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4" name="Freeform 16">
              <a:extLst>
                <a:ext uri="{FF2B5EF4-FFF2-40B4-BE49-F238E27FC236}">
                  <a16:creationId xmlns:a16="http://schemas.microsoft.com/office/drawing/2014/main" id="{34A4036E-43D5-64EB-649B-BD0CA1A36003}"/>
                </a:ext>
              </a:extLst>
            </p:cNvPr>
            <p:cNvSpPr/>
            <p:nvPr/>
          </p:nvSpPr>
          <p:spPr>
            <a:xfrm>
              <a:off x="1294314" y="6088166"/>
              <a:ext cx="55769" cy="99395"/>
            </a:xfrm>
            <a:custGeom>
              <a:avLst/>
              <a:gdLst>
                <a:gd name="f0" fmla="val 10800000"/>
                <a:gd name="f1" fmla="val 5400000"/>
                <a:gd name="f2" fmla="val 180"/>
                <a:gd name="f3" fmla="val w"/>
                <a:gd name="f4" fmla="val h"/>
                <a:gd name="f5" fmla="val 0"/>
                <a:gd name="f6" fmla="val 22"/>
                <a:gd name="f7" fmla="val 39"/>
                <a:gd name="f8" fmla="val 20"/>
                <a:gd name="f9" fmla="val 8"/>
                <a:gd name="f10" fmla="val 19"/>
                <a:gd name="f11" fmla="val 18"/>
                <a:gd name="f12" fmla="val 7"/>
                <a:gd name="f13" fmla="val 17"/>
                <a:gd name="f14" fmla="val 16"/>
                <a:gd name="f15" fmla="val 15"/>
                <a:gd name="f16" fmla="val 12"/>
                <a:gd name="f17" fmla="val 10"/>
                <a:gd name="f18" fmla="val 9"/>
                <a:gd name="f19" fmla="val 11"/>
                <a:gd name="f20" fmla="val 14"/>
                <a:gd name="f21" fmla="val 4"/>
                <a:gd name="f22" fmla="val 3"/>
                <a:gd name="f23" fmla="val 2"/>
                <a:gd name="f24" fmla="val 1"/>
                <a:gd name="f25" fmla="val 13"/>
                <a:gd name="f26" fmla="val 21"/>
                <a:gd name="f27" fmla="+- 0 0 -90"/>
                <a:gd name="f28" fmla="*/ f3 1 22"/>
                <a:gd name="f29" fmla="*/ f4 1 39"/>
                <a:gd name="f30" fmla="+- f7 0 f5"/>
                <a:gd name="f31" fmla="+- f6 0 f5"/>
                <a:gd name="f32" fmla="*/ f27 f0 1"/>
                <a:gd name="f33" fmla="*/ f31 1 22"/>
                <a:gd name="f34" fmla="*/ f30 1 39"/>
                <a:gd name="f35" fmla="*/ 20 f31 1"/>
                <a:gd name="f36" fmla="*/ 8 f30 1"/>
                <a:gd name="f37" fmla="*/ 18 f31 1"/>
                <a:gd name="f38" fmla="*/ 7 f30 1"/>
                <a:gd name="f39" fmla="*/ 15 f31 1"/>
                <a:gd name="f40" fmla="*/ 9 f31 1"/>
                <a:gd name="f41" fmla="*/ 9 f30 1"/>
                <a:gd name="f42" fmla="*/ 7 f31 1"/>
                <a:gd name="f43" fmla="*/ 17 f30 1"/>
                <a:gd name="f44" fmla="*/ 39 f30 1"/>
                <a:gd name="f45" fmla="*/ 0 f31 1"/>
                <a:gd name="f46" fmla="*/ 0 f30 1"/>
                <a:gd name="f47" fmla="*/ 4 f30 1"/>
                <a:gd name="f48" fmla="*/ 2 f30 1"/>
                <a:gd name="f49" fmla="*/ 11 f31 1"/>
                <a:gd name="f50" fmla="*/ 1 f30 1"/>
                <a:gd name="f51" fmla="*/ 13 f31 1"/>
                <a:gd name="f52" fmla="*/ 16 f31 1"/>
                <a:gd name="f53" fmla="*/ 22 f31 1"/>
                <a:gd name="f54" fmla="*/ f32 1 f2"/>
                <a:gd name="f55" fmla="*/ f35 1 22"/>
                <a:gd name="f56" fmla="*/ f36 1 39"/>
                <a:gd name="f57" fmla="*/ f37 1 22"/>
                <a:gd name="f58" fmla="*/ f38 1 39"/>
                <a:gd name="f59" fmla="*/ f39 1 22"/>
                <a:gd name="f60" fmla="*/ f40 1 22"/>
                <a:gd name="f61" fmla="*/ f41 1 39"/>
                <a:gd name="f62" fmla="*/ f42 1 22"/>
                <a:gd name="f63" fmla="*/ f43 1 39"/>
                <a:gd name="f64" fmla="*/ f44 1 39"/>
                <a:gd name="f65" fmla="*/ f45 1 22"/>
                <a:gd name="f66" fmla="*/ f46 1 39"/>
                <a:gd name="f67" fmla="*/ f47 1 39"/>
                <a:gd name="f68" fmla="*/ f48 1 39"/>
                <a:gd name="f69" fmla="*/ f49 1 22"/>
                <a:gd name="f70" fmla="*/ f50 1 39"/>
                <a:gd name="f71" fmla="*/ f51 1 22"/>
                <a:gd name="f72" fmla="*/ f52 1 22"/>
                <a:gd name="f73" fmla="*/ f53 1 22"/>
                <a:gd name="f74" fmla="*/ 0 1 f33"/>
                <a:gd name="f75" fmla="*/ f6 1 f33"/>
                <a:gd name="f76" fmla="*/ 0 1 f34"/>
                <a:gd name="f77" fmla="*/ f7 1 f34"/>
                <a:gd name="f78" fmla="+- f54 0 f1"/>
                <a:gd name="f79" fmla="*/ f55 1 f33"/>
                <a:gd name="f80" fmla="*/ f56 1 f34"/>
                <a:gd name="f81" fmla="*/ f57 1 f33"/>
                <a:gd name="f82" fmla="*/ f58 1 f34"/>
                <a:gd name="f83" fmla="*/ f59 1 f33"/>
                <a:gd name="f84" fmla="*/ f60 1 f33"/>
                <a:gd name="f85" fmla="*/ f61 1 f34"/>
                <a:gd name="f86" fmla="*/ f62 1 f33"/>
                <a:gd name="f87" fmla="*/ f63 1 f34"/>
                <a:gd name="f88" fmla="*/ f64 1 f34"/>
                <a:gd name="f89" fmla="*/ f65 1 f33"/>
                <a:gd name="f90" fmla="*/ f66 1 f34"/>
                <a:gd name="f91" fmla="*/ f67 1 f34"/>
                <a:gd name="f92" fmla="*/ f68 1 f34"/>
                <a:gd name="f93" fmla="*/ f69 1 f33"/>
                <a:gd name="f94" fmla="*/ f70 1 f34"/>
                <a:gd name="f95" fmla="*/ f71 1 f33"/>
                <a:gd name="f96" fmla="*/ f72 1 f33"/>
                <a:gd name="f97" fmla="*/ f73 1 f33"/>
                <a:gd name="f98" fmla="*/ f74 f28 1"/>
                <a:gd name="f99" fmla="*/ f75 f28 1"/>
                <a:gd name="f100" fmla="*/ f77 f29 1"/>
                <a:gd name="f101" fmla="*/ f76 f29 1"/>
                <a:gd name="f102" fmla="*/ f79 f28 1"/>
                <a:gd name="f103" fmla="*/ f80 f29 1"/>
                <a:gd name="f104" fmla="*/ f81 f28 1"/>
                <a:gd name="f105" fmla="*/ f82 f29 1"/>
                <a:gd name="f106" fmla="*/ f83 f28 1"/>
                <a:gd name="f107" fmla="*/ f84 f28 1"/>
                <a:gd name="f108" fmla="*/ f85 f29 1"/>
                <a:gd name="f109" fmla="*/ f86 f28 1"/>
                <a:gd name="f110" fmla="*/ f87 f29 1"/>
                <a:gd name="f111" fmla="*/ f88 f29 1"/>
                <a:gd name="f112" fmla="*/ f89 f28 1"/>
                <a:gd name="f113" fmla="*/ f90 f29 1"/>
                <a:gd name="f114" fmla="*/ f91 f29 1"/>
                <a:gd name="f115" fmla="*/ f92 f29 1"/>
                <a:gd name="f116" fmla="*/ f93 f28 1"/>
                <a:gd name="f117" fmla="*/ f94 f29 1"/>
                <a:gd name="f118" fmla="*/ f95 f28 1"/>
                <a:gd name="f119" fmla="*/ f96 f28 1"/>
                <a:gd name="f120" fmla="*/ f97 f28 1"/>
              </a:gdLst>
              <a:ahLst/>
              <a:cxnLst>
                <a:cxn ang="3cd4">
                  <a:pos x="hc" y="t"/>
                </a:cxn>
                <a:cxn ang="0">
                  <a:pos x="r" y="vc"/>
                </a:cxn>
                <a:cxn ang="cd4">
                  <a:pos x="hc" y="b"/>
                </a:cxn>
                <a:cxn ang="cd2">
                  <a:pos x="l" y="vc"/>
                </a:cxn>
                <a:cxn ang="f78">
                  <a:pos x="f102" y="f103"/>
                </a:cxn>
                <a:cxn ang="f78">
                  <a:pos x="f104" y="f105"/>
                </a:cxn>
                <a:cxn ang="f78">
                  <a:pos x="f106" y="f105"/>
                </a:cxn>
                <a:cxn ang="f78">
                  <a:pos x="f107" y="f108"/>
                </a:cxn>
                <a:cxn ang="f78">
                  <a:pos x="f109" y="f110"/>
                </a:cxn>
                <a:cxn ang="f78">
                  <a:pos x="f109" y="f111"/>
                </a:cxn>
                <a:cxn ang="f78">
                  <a:pos x="f112" y="f111"/>
                </a:cxn>
                <a:cxn ang="f78">
                  <a:pos x="f112" y="f113"/>
                </a:cxn>
                <a:cxn ang="f78">
                  <a:pos x="f109" y="f113"/>
                </a:cxn>
                <a:cxn ang="f78">
                  <a:pos x="f109" y="f114"/>
                </a:cxn>
                <a:cxn ang="f78">
                  <a:pos x="f107" y="f115"/>
                </a:cxn>
                <a:cxn ang="f78">
                  <a:pos x="f116" y="f117"/>
                </a:cxn>
                <a:cxn ang="f78">
                  <a:pos x="f118" y="f113"/>
                </a:cxn>
                <a:cxn ang="f78">
                  <a:pos x="f119" y="f113"/>
                </a:cxn>
                <a:cxn ang="f78">
                  <a:pos x="f102" y="f113"/>
                </a:cxn>
                <a:cxn ang="f78">
                  <a:pos x="f120" y="f117"/>
                </a:cxn>
                <a:cxn ang="f78">
                  <a:pos x="f102" y="f103"/>
                </a:cxn>
              </a:cxnLst>
              <a:rect l="f98" t="f101" r="f99" b="f100"/>
              <a:pathLst>
                <a:path w="22" h="39">
                  <a:moveTo>
                    <a:pt x="f8" y="f9"/>
                  </a:moveTo>
                  <a:cubicBezTo>
                    <a:pt x="f8" y="f9"/>
                    <a:pt x="f10" y="f9"/>
                    <a:pt x="f11" y="f12"/>
                  </a:cubicBezTo>
                  <a:cubicBezTo>
                    <a:pt x="f13" y="f12"/>
                    <a:pt x="f14" y="f12"/>
                    <a:pt x="f15" y="f12"/>
                  </a:cubicBezTo>
                  <a:cubicBezTo>
                    <a:pt x="f16" y="f12"/>
                    <a:pt x="f17" y="f9"/>
                    <a:pt x="f18" y="f18"/>
                  </a:cubicBezTo>
                  <a:cubicBezTo>
                    <a:pt x="f9" y="f19"/>
                    <a:pt x="f12" y="f20"/>
                    <a:pt x="f12" y="f13"/>
                  </a:cubicBezTo>
                  <a:cubicBezTo>
                    <a:pt x="f12" y="f7"/>
                    <a:pt x="f12" y="f7"/>
                    <a:pt x="f12" y="f7"/>
                  </a:cubicBezTo>
                  <a:cubicBezTo>
                    <a:pt x="f5" y="f7"/>
                    <a:pt x="f5" y="f7"/>
                    <a:pt x="f5" y="f7"/>
                  </a:cubicBezTo>
                  <a:cubicBezTo>
                    <a:pt x="f5" y="f5"/>
                    <a:pt x="f5" y="f5"/>
                    <a:pt x="f5" y="f5"/>
                  </a:cubicBezTo>
                  <a:cubicBezTo>
                    <a:pt x="f12" y="f5"/>
                    <a:pt x="f12" y="f5"/>
                    <a:pt x="f12" y="f5"/>
                  </a:cubicBezTo>
                  <a:cubicBezTo>
                    <a:pt x="f12" y="f21"/>
                    <a:pt x="f12" y="f21"/>
                    <a:pt x="f12" y="f21"/>
                  </a:cubicBezTo>
                  <a:cubicBezTo>
                    <a:pt x="f9" y="f22"/>
                    <a:pt x="f9" y="f22"/>
                    <a:pt x="f18" y="f23"/>
                  </a:cubicBezTo>
                  <a:cubicBezTo>
                    <a:pt x="f18" y="f23"/>
                    <a:pt x="f17" y="f24"/>
                    <a:pt x="f19" y="f24"/>
                  </a:cubicBezTo>
                  <a:cubicBezTo>
                    <a:pt x="f19" y="f5"/>
                    <a:pt x="f16" y="f5"/>
                    <a:pt x="f25" y="f5"/>
                  </a:cubicBezTo>
                  <a:cubicBezTo>
                    <a:pt x="f20" y="f5"/>
                    <a:pt x="f15" y="f5"/>
                    <a:pt x="f14" y="f5"/>
                  </a:cubicBezTo>
                  <a:cubicBezTo>
                    <a:pt x="f13" y="f5"/>
                    <a:pt x="f10" y="f5"/>
                    <a:pt x="f8" y="f5"/>
                  </a:cubicBezTo>
                  <a:cubicBezTo>
                    <a:pt x="f26" y="f5"/>
                    <a:pt x="f6"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5" name="Freeform 17">
              <a:extLst>
                <a:ext uri="{FF2B5EF4-FFF2-40B4-BE49-F238E27FC236}">
                  <a16:creationId xmlns:a16="http://schemas.microsoft.com/office/drawing/2014/main" id="{2E4B23E4-814A-DB43-790D-A50C4ABE9759}"/>
                </a:ext>
              </a:extLst>
            </p:cNvPr>
            <p:cNvSpPr/>
            <p:nvPr/>
          </p:nvSpPr>
          <p:spPr>
            <a:xfrm>
              <a:off x="140586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6" name="Freeform 18">
              <a:extLst>
                <a:ext uri="{FF2B5EF4-FFF2-40B4-BE49-F238E27FC236}">
                  <a16:creationId xmlns:a16="http://schemas.microsoft.com/office/drawing/2014/main" id="{2F54B514-FCF7-36FD-4AD2-E8D931C57131}"/>
                </a:ext>
              </a:extLst>
            </p:cNvPr>
            <p:cNvSpPr/>
            <p:nvPr/>
          </p:nvSpPr>
          <p:spPr>
            <a:xfrm>
              <a:off x="1484281"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6"/>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10 f38 1"/>
                <a:gd name="f51" fmla="*/ 8 f38 1"/>
                <a:gd name="f52" fmla="*/ 27 f37 1"/>
                <a:gd name="f53" fmla="*/ 7 f38 1"/>
                <a:gd name="f54" fmla="*/ 31 f37 1"/>
                <a:gd name="f55" fmla="*/ 0 f38 1"/>
                <a:gd name="f56" fmla="*/ 4 f37 1"/>
                <a:gd name="f57" fmla="*/ 0 f37 1"/>
                <a:gd name="f58" fmla="*/ 19 f37 1"/>
                <a:gd name="f59" fmla="*/ 9 f38 1"/>
                <a:gd name="f60" fmla="*/ 17 f37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31"/>
                <a:gd name="f87" fmla="*/ f60 1 54"/>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0"/>
                <a:gd name="f118" fmla="*/ f87 1 f41"/>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5 1"/>
                <a:gd name="f148" fmla="*/ f118 f36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47" y="f148"/>
                </a:cxn>
                <a:cxn ang="f99">
                  <a:pos x="f137"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8" y="f11"/>
                    <a:pt x="f12" y="f13"/>
                  </a:cubicBezTo>
                  <a:cubicBezTo>
                    <a:pt x="f14" y="f15"/>
                    <a:pt x="f16" y="f15"/>
                    <a:pt x="f17" y="f15"/>
                  </a:cubicBezTo>
                  <a:cubicBezTo>
                    <a:pt x="f18" y="f15"/>
                    <a:pt x="f19" y="f15"/>
                    <a:pt x="f20" y="f15"/>
                  </a:cubicBezTo>
                  <a:cubicBezTo>
                    <a:pt x="f21" y="f15"/>
                    <a:pt x="f22" y="f8"/>
                    <a:pt x="f22" y="f13"/>
                  </a:cubicBezTo>
                  <a:cubicBezTo>
                    <a:pt x="f23" y="f24"/>
                    <a:pt x="f25" y="f11"/>
                    <a:pt x="f25" y="f26"/>
                  </a:cubicBezTo>
                  <a:cubicBezTo>
                    <a:pt x="f25"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3" y="f16"/>
                    <a:pt x="f23" y="f31"/>
                  </a:cubicBezTo>
                  <a:cubicBezTo>
                    <a:pt x="f22" y="f31"/>
                    <a:pt x="f21" y="f32"/>
                    <a:pt x="f20" y="f32"/>
                  </a:cubicBezTo>
                  <a:cubicBezTo>
                    <a:pt x="f20" y="f17"/>
                    <a:pt x="f19" y="f17"/>
                    <a:pt x="f18" y="f17"/>
                  </a:cubicBezTo>
                  <a:cubicBezTo>
                    <a:pt x="f17" y="f17"/>
                    <a:pt x="f32" y="f17"/>
                    <a:pt x="f31" y="f17"/>
                  </a:cubicBezTo>
                  <a:cubicBezTo>
                    <a:pt x="f30" y="f17"/>
                    <a:pt x="f12" y="f17"/>
                    <a:pt x="f8" y="f32"/>
                  </a:cubicBezTo>
                  <a:cubicBezTo>
                    <a:pt x="f24" y="f32"/>
                    <a:pt x="f11" y="f31"/>
                    <a:pt x="f26" y="f30"/>
                  </a:cubicBezTo>
                  <a:cubicBezTo>
                    <a:pt x="f33" y="f14"/>
                    <a:pt x="f33" y="f15"/>
                    <a:pt x="f28" y="f13"/>
                  </a:cubicBezTo>
                  <a:cubicBezTo>
                    <a:pt x="f6"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7" name="Freeform 19">
              <a:extLst>
                <a:ext uri="{FF2B5EF4-FFF2-40B4-BE49-F238E27FC236}">
                  <a16:creationId xmlns:a16="http://schemas.microsoft.com/office/drawing/2014/main" id="{44ECD825-40B0-1CFA-A1C2-B006FFBCA9E5}"/>
                </a:ext>
              </a:extLst>
            </p:cNvPr>
            <p:cNvSpPr/>
            <p:nvPr/>
          </p:nvSpPr>
          <p:spPr>
            <a:xfrm>
              <a:off x="1581884"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30" y="f7"/>
                    <a:pt x="f29" y="f7"/>
                  </a:cubicBezTo>
                  <a:cubicBezTo>
                    <a:pt x="f27" y="f7"/>
                    <a:pt x="f26" y="f37"/>
                    <a:pt x="f22" y="f37"/>
                  </a:cubicBezTo>
                  <a:cubicBezTo>
                    <a:pt x="f20" y="f36"/>
                    <a:pt x="f17" y="f36"/>
                    <a:pt x="f12" y="f35"/>
                  </a:cubicBezTo>
                  <a:cubicBezTo>
                    <a:pt x="f38" y="f34"/>
                    <a:pt x="f39" y="f33"/>
                    <a:pt x="f40" y="f41"/>
                  </a:cubicBezTo>
                  <a:cubicBezTo>
                    <a:pt x="f42"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8" name="Freeform 20">
              <a:extLst>
                <a:ext uri="{FF2B5EF4-FFF2-40B4-BE49-F238E27FC236}">
                  <a16:creationId xmlns:a16="http://schemas.microsoft.com/office/drawing/2014/main" id="{92120E46-A1EB-D533-8BE0-272C790AAD00}"/>
                </a:ext>
              </a:extLst>
            </p:cNvPr>
            <p:cNvSpPr/>
            <p:nvPr/>
          </p:nvSpPr>
          <p:spPr>
            <a:xfrm>
              <a:off x="1730017" y="6088166"/>
              <a:ext cx="80165" cy="134261"/>
            </a:xfrm>
            <a:custGeom>
              <a:avLst/>
              <a:gdLst>
                <a:gd name="f0" fmla="val 10800000"/>
                <a:gd name="f1" fmla="val 5400000"/>
                <a:gd name="f2" fmla="val 180"/>
                <a:gd name="f3" fmla="val w"/>
                <a:gd name="f4" fmla="val h"/>
                <a:gd name="f5" fmla="val 0"/>
                <a:gd name="f6" fmla="val 32"/>
                <a:gd name="f7" fmla="val 53"/>
                <a:gd name="f8" fmla="val 25"/>
                <a:gd name="f9" fmla="val 35"/>
                <a:gd name="f10" fmla="val 23"/>
                <a:gd name="f11" fmla="val 36"/>
                <a:gd name="f12" fmla="val 22"/>
                <a:gd name="f13" fmla="val 37"/>
                <a:gd name="f14" fmla="val 20"/>
                <a:gd name="f15" fmla="val 38"/>
                <a:gd name="f16" fmla="val 18"/>
                <a:gd name="f17" fmla="val 39"/>
                <a:gd name="f18" fmla="val 17"/>
                <a:gd name="f19" fmla="val 40"/>
                <a:gd name="f20" fmla="val 15"/>
                <a:gd name="f21" fmla="val 13"/>
                <a:gd name="f22" fmla="val 11"/>
                <a:gd name="f23" fmla="val 9"/>
                <a:gd name="f24" fmla="val 7"/>
                <a:gd name="f25" fmla="val 5"/>
                <a:gd name="f26" fmla="val 4"/>
                <a:gd name="f27" fmla="val 3"/>
                <a:gd name="f28" fmla="val 33"/>
                <a:gd name="f29" fmla="val 2"/>
                <a:gd name="f30" fmla="val 31"/>
                <a:gd name="f31" fmla="val 1"/>
                <a:gd name="f32" fmla="val 28"/>
                <a:gd name="f33" fmla="val 26"/>
                <a:gd name="f34" fmla="val 19"/>
                <a:gd name="f35" fmla="val 16"/>
                <a:gd name="f36" fmla="val 10"/>
                <a:gd name="f37" fmla="val 8"/>
                <a:gd name="f38" fmla="val 6"/>
                <a:gd name="f39" fmla="val 21"/>
                <a:gd name="f40" fmla="val 24"/>
                <a:gd name="f41" fmla="val 49"/>
                <a:gd name="f42" fmla="val 12"/>
                <a:gd name="f43" fmla="val 27"/>
                <a:gd name="f44" fmla="val 29"/>
                <a:gd name="f45" fmla="val 30"/>
                <a:gd name="f46" fmla="+- 0 0 -90"/>
                <a:gd name="f47" fmla="*/ f3 1 32"/>
                <a:gd name="f48" fmla="*/ f4 1 53"/>
                <a:gd name="f49" fmla="+- f7 0 f5"/>
                <a:gd name="f50" fmla="+- f6 0 f5"/>
                <a:gd name="f51" fmla="*/ f46 f0 1"/>
                <a:gd name="f52" fmla="*/ f50 1 32"/>
                <a:gd name="f53" fmla="*/ f49 1 53"/>
                <a:gd name="f54" fmla="*/ 25 f50 1"/>
                <a:gd name="f55" fmla="*/ 53 f49 1"/>
                <a:gd name="f56" fmla="*/ 35 f49 1"/>
                <a:gd name="f57" fmla="*/ 20 f50 1"/>
                <a:gd name="f58" fmla="*/ 38 f49 1"/>
                <a:gd name="f59" fmla="*/ 15 f50 1"/>
                <a:gd name="f60" fmla="*/ 40 f49 1"/>
                <a:gd name="f61" fmla="*/ 9 f50 1"/>
                <a:gd name="f62" fmla="*/ 4 f50 1"/>
                <a:gd name="f63" fmla="*/ 1 f50 1"/>
                <a:gd name="f64" fmla="*/ 28 f49 1"/>
                <a:gd name="f65" fmla="*/ 0 f50 1"/>
                <a:gd name="f66" fmla="*/ 19 f49 1"/>
                <a:gd name="f67" fmla="*/ 10 f49 1"/>
                <a:gd name="f68" fmla="*/ 4 f49 1"/>
                <a:gd name="f69" fmla="*/ 1 f49 1"/>
                <a:gd name="f70" fmla="*/ 0 f49 1"/>
                <a:gd name="f71" fmla="*/ 18 f50 1"/>
                <a:gd name="f72" fmla="*/ 23 f50 1"/>
                <a:gd name="f73" fmla="*/ 2 f49 1"/>
                <a:gd name="f74" fmla="*/ 32 f50 1"/>
                <a:gd name="f75" fmla="*/ 49 f49 1"/>
                <a:gd name="f76" fmla="*/ 12 f49 1"/>
                <a:gd name="f77" fmla="*/ 21 f50 1"/>
                <a:gd name="f78" fmla="*/ 8 f49 1"/>
                <a:gd name="f79" fmla="*/ 7 f49 1"/>
                <a:gd name="f80" fmla="*/ 16 f50 1"/>
                <a:gd name="f81" fmla="*/ 7 f50 1"/>
                <a:gd name="f82" fmla="*/ 10 f50 1"/>
                <a:gd name="f83" fmla="*/ 29 f49 1"/>
                <a:gd name="f84" fmla="*/ 33 f49 1"/>
                <a:gd name="f85" fmla="*/ 31 f49 1"/>
                <a:gd name="f86" fmla="*/ f51 1 f2"/>
                <a:gd name="f87" fmla="*/ f54 1 32"/>
                <a:gd name="f88" fmla="*/ f55 1 53"/>
                <a:gd name="f89" fmla="*/ f56 1 53"/>
                <a:gd name="f90" fmla="*/ f57 1 32"/>
                <a:gd name="f91" fmla="*/ f58 1 53"/>
                <a:gd name="f92" fmla="*/ f59 1 32"/>
                <a:gd name="f93" fmla="*/ f60 1 53"/>
                <a:gd name="f94" fmla="*/ f61 1 32"/>
                <a:gd name="f95" fmla="*/ f62 1 32"/>
                <a:gd name="f96" fmla="*/ f63 1 32"/>
                <a:gd name="f97" fmla="*/ f64 1 53"/>
                <a:gd name="f98" fmla="*/ f65 1 32"/>
                <a:gd name="f99" fmla="*/ f66 1 53"/>
                <a:gd name="f100" fmla="*/ f67 1 53"/>
                <a:gd name="f101" fmla="*/ f68 1 53"/>
                <a:gd name="f102" fmla="*/ f69 1 53"/>
                <a:gd name="f103" fmla="*/ f70 1 53"/>
                <a:gd name="f104" fmla="*/ f71 1 32"/>
                <a:gd name="f105" fmla="*/ f72 1 32"/>
                <a:gd name="f106" fmla="*/ f73 1 53"/>
                <a:gd name="f107" fmla="*/ f74 1 32"/>
                <a:gd name="f108" fmla="*/ f75 1 53"/>
                <a:gd name="f109" fmla="*/ f76 1 53"/>
                <a:gd name="f110" fmla="*/ f77 1 32"/>
                <a:gd name="f111" fmla="*/ f78 1 53"/>
                <a:gd name="f112" fmla="*/ f79 1 53"/>
                <a:gd name="f113" fmla="*/ f80 1 32"/>
                <a:gd name="f114" fmla="*/ f81 1 32"/>
                <a:gd name="f115" fmla="*/ f82 1 32"/>
                <a:gd name="f116" fmla="*/ f83 1 53"/>
                <a:gd name="f117" fmla="*/ f84 1 53"/>
                <a:gd name="f118" fmla="*/ f85 1 53"/>
                <a:gd name="f119" fmla="*/ 0 1 f52"/>
                <a:gd name="f120" fmla="*/ f6 1 f52"/>
                <a:gd name="f121" fmla="*/ 0 1 f53"/>
                <a:gd name="f122" fmla="*/ f7 1 f53"/>
                <a:gd name="f123" fmla="+- f86 0 f1"/>
                <a:gd name="f124" fmla="*/ f87 1 f52"/>
                <a:gd name="f125" fmla="*/ f88 1 f53"/>
                <a:gd name="f126" fmla="*/ f89 1 f53"/>
                <a:gd name="f127" fmla="*/ f90 1 f52"/>
                <a:gd name="f128" fmla="*/ f91 1 f53"/>
                <a:gd name="f129" fmla="*/ f92 1 f52"/>
                <a:gd name="f130" fmla="*/ f93 1 f53"/>
                <a:gd name="f131" fmla="*/ f94 1 f52"/>
                <a:gd name="f132" fmla="*/ f95 1 f52"/>
                <a:gd name="f133" fmla="*/ f96 1 f52"/>
                <a:gd name="f134" fmla="*/ f97 1 f53"/>
                <a:gd name="f135" fmla="*/ f98 1 f52"/>
                <a:gd name="f136" fmla="*/ f99 1 f53"/>
                <a:gd name="f137" fmla="*/ f100 1 f53"/>
                <a:gd name="f138" fmla="*/ f101 1 f53"/>
                <a:gd name="f139" fmla="*/ f102 1 f53"/>
                <a:gd name="f140" fmla="*/ f103 1 f53"/>
                <a:gd name="f141" fmla="*/ f104 1 f52"/>
                <a:gd name="f142" fmla="*/ f105 1 f52"/>
                <a:gd name="f143" fmla="*/ f106 1 f53"/>
                <a:gd name="f144" fmla="*/ f107 1 f52"/>
                <a:gd name="f145" fmla="*/ f108 1 f53"/>
                <a:gd name="f146" fmla="*/ f109 1 f53"/>
                <a:gd name="f147" fmla="*/ f110 1 f52"/>
                <a:gd name="f148" fmla="*/ f111 1 f53"/>
                <a:gd name="f149" fmla="*/ f112 1 f53"/>
                <a:gd name="f150" fmla="*/ f113 1 f52"/>
                <a:gd name="f151" fmla="*/ f114 1 f52"/>
                <a:gd name="f152" fmla="*/ f115 1 f52"/>
                <a:gd name="f153" fmla="*/ f116 1 f53"/>
                <a:gd name="f154" fmla="*/ f117 1 f53"/>
                <a:gd name="f155" fmla="*/ f118 1 f53"/>
                <a:gd name="f156" fmla="*/ f119 f47 1"/>
                <a:gd name="f157" fmla="*/ f120 f47 1"/>
                <a:gd name="f158" fmla="*/ f122 f48 1"/>
                <a:gd name="f159" fmla="*/ f121 f48 1"/>
                <a:gd name="f160" fmla="*/ f124 f47 1"/>
                <a:gd name="f161" fmla="*/ f125 f48 1"/>
                <a:gd name="f162" fmla="*/ f126 f48 1"/>
                <a:gd name="f163" fmla="*/ f127 f47 1"/>
                <a:gd name="f164" fmla="*/ f128 f48 1"/>
                <a:gd name="f165" fmla="*/ f129 f47 1"/>
                <a:gd name="f166" fmla="*/ f130 f48 1"/>
                <a:gd name="f167" fmla="*/ f131 f47 1"/>
                <a:gd name="f168" fmla="*/ f132 f47 1"/>
                <a:gd name="f169" fmla="*/ f133 f47 1"/>
                <a:gd name="f170" fmla="*/ f134 f48 1"/>
                <a:gd name="f171" fmla="*/ f135 f47 1"/>
                <a:gd name="f172" fmla="*/ f136 f48 1"/>
                <a:gd name="f173" fmla="*/ f137 f48 1"/>
                <a:gd name="f174" fmla="*/ f138 f48 1"/>
                <a:gd name="f175" fmla="*/ f139 f48 1"/>
                <a:gd name="f176" fmla="*/ f140 f48 1"/>
                <a:gd name="f177" fmla="*/ f141 f47 1"/>
                <a:gd name="f178" fmla="*/ f142 f47 1"/>
                <a:gd name="f179" fmla="*/ f143 f48 1"/>
                <a:gd name="f180" fmla="*/ f144 f47 1"/>
                <a:gd name="f181" fmla="*/ f145 f48 1"/>
                <a:gd name="f182" fmla="*/ f146 f48 1"/>
                <a:gd name="f183" fmla="*/ f147 f47 1"/>
                <a:gd name="f184" fmla="*/ f148 f48 1"/>
                <a:gd name="f185" fmla="*/ f149 f48 1"/>
                <a:gd name="f186" fmla="*/ f150 f47 1"/>
                <a:gd name="f187" fmla="*/ f151 f47 1"/>
                <a:gd name="f188" fmla="*/ f152 f47 1"/>
                <a:gd name="f189" fmla="*/ f153 f48 1"/>
                <a:gd name="f190" fmla="*/ f154 f48 1"/>
                <a:gd name="f191" fmla="*/ f155 f48 1"/>
              </a:gdLst>
              <a:ahLst/>
              <a:cxnLst>
                <a:cxn ang="3cd4">
                  <a:pos x="hc" y="t"/>
                </a:cxn>
                <a:cxn ang="0">
                  <a:pos x="r" y="vc"/>
                </a:cxn>
                <a:cxn ang="cd4">
                  <a:pos x="hc" y="b"/>
                </a:cxn>
                <a:cxn ang="cd2">
                  <a:pos x="l" y="vc"/>
                </a:cxn>
                <a:cxn ang="f123">
                  <a:pos x="f160" y="f161"/>
                </a:cxn>
                <a:cxn ang="f123">
                  <a:pos x="f160" y="f162"/>
                </a:cxn>
                <a:cxn ang="f123">
                  <a:pos x="f163" y="f164"/>
                </a:cxn>
                <a:cxn ang="f123">
                  <a:pos x="f165" y="f166"/>
                </a:cxn>
                <a:cxn ang="f123">
                  <a:pos x="f167" y="f164"/>
                </a:cxn>
                <a:cxn ang="f123">
                  <a:pos x="f168" y="f162"/>
                </a:cxn>
                <a:cxn ang="f123">
                  <a:pos x="f169" y="f170"/>
                </a:cxn>
                <a:cxn ang="f123">
                  <a:pos x="f171" y="f172"/>
                </a:cxn>
                <a:cxn ang="f123">
                  <a:pos x="f169" y="f173"/>
                </a:cxn>
                <a:cxn ang="f123">
                  <a:pos x="f168" y="f174"/>
                </a:cxn>
                <a:cxn ang="f123">
                  <a:pos x="f167" y="f175"/>
                </a:cxn>
                <a:cxn ang="f123">
                  <a:pos x="f165" y="f176"/>
                </a:cxn>
                <a:cxn ang="f123">
                  <a:pos x="f177" y="f176"/>
                </a:cxn>
                <a:cxn ang="f123">
                  <a:pos x="f163" y="f175"/>
                </a:cxn>
                <a:cxn ang="f123">
                  <a:pos x="f178" y="f179"/>
                </a:cxn>
                <a:cxn ang="f123">
                  <a:pos x="f160" y="f174"/>
                </a:cxn>
                <a:cxn ang="f123">
                  <a:pos x="f160" y="f176"/>
                </a:cxn>
                <a:cxn ang="f123">
                  <a:pos x="f180" y="f176"/>
                </a:cxn>
                <a:cxn ang="f123">
                  <a:pos x="f180" y="f181"/>
                </a:cxn>
                <a:cxn ang="f123">
                  <a:pos x="f160" y="f161"/>
                </a:cxn>
                <a:cxn ang="f123">
                  <a:pos x="f160" y="f182"/>
                </a:cxn>
                <a:cxn ang="f123">
                  <a:pos x="f178" y="f173"/>
                </a:cxn>
                <a:cxn ang="f123">
                  <a:pos x="f183" y="f184"/>
                </a:cxn>
                <a:cxn ang="f123">
                  <a:pos x="f177" y="f185"/>
                </a:cxn>
                <a:cxn ang="f123">
                  <a:pos x="f186" y="f185"/>
                </a:cxn>
                <a:cxn ang="f123">
                  <a:pos x="f167" y="f173"/>
                </a:cxn>
                <a:cxn ang="f123">
                  <a:pos x="f187" y="f172"/>
                </a:cxn>
                <a:cxn ang="f123">
                  <a:pos x="f188" y="f189"/>
                </a:cxn>
                <a:cxn ang="f123">
                  <a:pos x="f186" y="f190"/>
                </a:cxn>
                <a:cxn ang="f123">
                  <a:pos x="f183" y="f191"/>
                </a:cxn>
                <a:cxn ang="f123">
                  <a:pos x="f160" y="f170"/>
                </a:cxn>
                <a:cxn ang="f123">
                  <a:pos x="f160" y="f182"/>
                </a:cxn>
              </a:cxnLst>
              <a:rect l="f156" t="f159" r="f157" b="f158"/>
              <a:pathLst>
                <a:path w="32" h="53">
                  <a:moveTo>
                    <a:pt x="f8" y="f7"/>
                  </a:moveTo>
                  <a:cubicBezTo>
                    <a:pt x="f8" y="f9"/>
                    <a:pt x="f8" y="f9"/>
                    <a:pt x="f8" y="f9"/>
                  </a:cubicBezTo>
                  <a:cubicBezTo>
                    <a:pt x="f10" y="f11"/>
                    <a:pt x="f12" y="f13"/>
                    <a:pt x="f14" y="f15"/>
                  </a:cubicBezTo>
                  <a:cubicBezTo>
                    <a:pt x="f16" y="f17"/>
                    <a:pt x="f18" y="f19"/>
                    <a:pt x="f20" y="f19"/>
                  </a:cubicBezTo>
                  <a:cubicBezTo>
                    <a:pt x="f21" y="f19"/>
                    <a:pt x="f22" y="f17"/>
                    <a:pt x="f23" y="f15"/>
                  </a:cubicBezTo>
                  <a:cubicBezTo>
                    <a:pt x="f24" y="f15"/>
                    <a:pt x="f25" y="f11"/>
                    <a:pt x="f26" y="f9"/>
                  </a:cubicBezTo>
                  <a:cubicBezTo>
                    <a:pt x="f27" y="f28"/>
                    <a:pt x="f29" y="f30"/>
                    <a:pt x="f31" y="f32"/>
                  </a:cubicBezTo>
                  <a:cubicBezTo>
                    <a:pt x="f5" y="f33"/>
                    <a:pt x="f5" y="f10"/>
                    <a:pt x="f5" y="f34"/>
                  </a:cubicBezTo>
                  <a:cubicBezTo>
                    <a:pt x="f5" y="f35"/>
                    <a:pt x="f5" y="f21"/>
                    <a:pt x="f31" y="f36"/>
                  </a:cubicBezTo>
                  <a:cubicBezTo>
                    <a:pt x="f29" y="f37"/>
                    <a:pt x="f27" y="f38"/>
                    <a:pt x="f26" y="f26"/>
                  </a:cubicBezTo>
                  <a:cubicBezTo>
                    <a:pt x="f38" y="f27"/>
                    <a:pt x="f24" y="f29"/>
                    <a:pt x="f23" y="f31"/>
                  </a:cubicBezTo>
                  <a:cubicBezTo>
                    <a:pt x="f22" y="f5"/>
                    <a:pt x="f21" y="f5"/>
                    <a:pt x="f20" y="f5"/>
                  </a:cubicBezTo>
                  <a:cubicBezTo>
                    <a:pt x="f35" y="f5"/>
                    <a:pt x="f18" y="f5"/>
                    <a:pt x="f16" y="f5"/>
                  </a:cubicBezTo>
                  <a:cubicBezTo>
                    <a:pt x="f34" y="f5"/>
                    <a:pt x="f14" y="f5"/>
                    <a:pt x="f14" y="f31"/>
                  </a:cubicBezTo>
                  <a:cubicBezTo>
                    <a:pt x="f39" y="f31"/>
                    <a:pt x="f12" y="f29"/>
                    <a:pt x="f10" y="f29"/>
                  </a:cubicBezTo>
                  <a:cubicBezTo>
                    <a:pt x="f10" y="f27"/>
                    <a:pt x="f40" y="f27"/>
                    <a:pt x="f8" y="f26"/>
                  </a:cubicBezTo>
                  <a:cubicBezTo>
                    <a:pt x="f8" y="f5"/>
                    <a:pt x="f8" y="f5"/>
                    <a:pt x="f8" y="f5"/>
                  </a:cubicBezTo>
                  <a:cubicBezTo>
                    <a:pt x="f6" y="f5"/>
                    <a:pt x="f6" y="f5"/>
                    <a:pt x="f6" y="f5"/>
                  </a:cubicBezTo>
                  <a:cubicBezTo>
                    <a:pt x="f6" y="f41"/>
                    <a:pt x="f6" y="f41"/>
                    <a:pt x="f6" y="f41"/>
                  </a:cubicBezTo>
                  <a:lnTo>
                    <a:pt x="f8" y="f7"/>
                  </a:lnTo>
                  <a:close/>
                  <a:moveTo>
                    <a:pt x="f8" y="f42"/>
                  </a:moveTo>
                  <a:cubicBezTo>
                    <a:pt x="f40" y="f22"/>
                    <a:pt x="f40" y="f36"/>
                    <a:pt x="f10" y="f36"/>
                  </a:cubicBezTo>
                  <a:cubicBezTo>
                    <a:pt x="f10" y="f23"/>
                    <a:pt x="f12" y="f23"/>
                    <a:pt x="f39" y="f37"/>
                  </a:cubicBezTo>
                  <a:cubicBezTo>
                    <a:pt x="f14" y="f37"/>
                    <a:pt x="f34" y="f24"/>
                    <a:pt x="f16" y="f24"/>
                  </a:cubicBezTo>
                  <a:cubicBezTo>
                    <a:pt x="f16" y="f24"/>
                    <a:pt x="f18" y="f24"/>
                    <a:pt x="f35" y="f24"/>
                  </a:cubicBezTo>
                  <a:cubicBezTo>
                    <a:pt x="f21" y="f24"/>
                    <a:pt x="f22" y="f37"/>
                    <a:pt x="f23" y="f36"/>
                  </a:cubicBezTo>
                  <a:cubicBezTo>
                    <a:pt x="f37" y="f42"/>
                    <a:pt x="f24" y="f20"/>
                    <a:pt x="f24" y="f34"/>
                  </a:cubicBezTo>
                  <a:cubicBezTo>
                    <a:pt x="f24" y="f10"/>
                    <a:pt x="f37" y="f43"/>
                    <a:pt x="f36" y="f44"/>
                  </a:cubicBezTo>
                  <a:cubicBezTo>
                    <a:pt x="f22" y="f30"/>
                    <a:pt x="f21" y="f28"/>
                    <a:pt x="f35" y="f28"/>
                  </a:cubicBezTo>
                  <a:cubicBezTo>
                    <a:pt x="f16" y="f28"/>
                    <a:pt x="f34" y="f6"/>
                    <a:pt x="f39" y="f30"/>
                  </a:cubicBezTo>
                  <a:cubicBezTo>
                    <a:pt x="f12" y="f45"/>
                    <a:pt x="f40" y="f44"/>
                    <a:pt x="f8" y="f32"/>
                  </a:cubicBezTo>
                  <a:lnTo>
                    <a:pt x="f8" y="f42"/>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9" name="Freeform 21">
              <a:extLst>
                <a:ext uri="{FF2B5EF4-FFF2-40B4-BE49-F238E27FC236}">
                  <a16:creationId xmlns:a16="http://schemas.microsoft.com/office/drawing/2014/main" id="{0AF07F99-0C96-EDB0-3C64-BF35EA725695}"/>
                </a:ext>
              </a:extLst>
            </p:cNvPr>
            <p:cNvSpPr/>
            <p:nvPr/>
          </p:nvSpPr>
          <p:spPr>
            <a:xfrm>
              <a:off x="1834588" y="6088166"/>
              <a:ext cx="78428" cy="101132"/>
            </a:xfrm>
            <a:custGeom>
              <a:avLst/>
              <a:gdLst>
                <a:gd name="f0" fmla="val 10800000"/>
                <a:gd name="f1" fmla="val 5400000"/>
                <a:gd name="f2" fmla="val 180"/>
                <a:gd name="f3" fmla="val w"/>
                <a:gd name="f4" fmla="val h"/>
                <a:gd name="f5" fmla="val 0"/>
                <a:gd name="f6" fmla="val 31"/>
                <a:gd name="f7" fmla="val 40"/>
                <a:gd name="f8" fmla="val 24"/>
                <a:gd name="f9" fmla="val 39"/>
                <a:gd name="f10" fmla="val 35"/>
                <a:gd name="f11" fmla="val 23"/>
                <a:gd name="f12" fmla="val 36"/>
                <a:gd name="f13" fmla="val 22"/>
                <a:gd name="f14" fmla="val 38"/>
                <a:gd name="f15" fmla="val 20"/>
                <a:gd name="f16" fmla="val 18"/>
                <a:gd name="f17" fmla="val 16"/>
                <a:gd name="f18" fmla="val 14"/>
                <a:gd name="f19" fmla="val 10"/>
                <a:gd name="f20" fmla="val 6"/>
                <a:gd name="f21" fmla="val 4"/>
                <a:gd name="f22" fmla="val 2"/>
                <a:gd name="f23" fmla="val 32"/>
                <a:gd name="f24" fmla="val 28"/>
                <a:gd name="f25" fmla="val 8"/>
                <a:gd name="f26" fmla="val 26"/>
                <a:gd name="f27" fmla="val 9"/>
                <a:gd name="f28" fmla="val 30"/>
                <a:gd name="f29" fmla="val 11"/>
                <a:gd name="f30" fmla="val 13"/>
                <a:gd name="f31" fmla="val 33"/>
                <a:gd name="f32" fmla="+- 0 0 -90"/>
                <a:gd name="f33" fmla="*/ f3 1 31"/>
                <a:gd name="f34" fmla="*/ f4 1 40"/>
                <a:gd name="f35" fmla="+- f7 0 f5"/>
                <a:gd name="f36" fmla="+- f6 0 f5"/>
                <a:gd name="f37" fmla="*/ f32 f0 1"/>
                <a:gd name="f38" fmla="*/ f36 1 31"/>
                <a:gd name="f39" fmla="*/ f35 1 40"/>
                <a:gd name="f40" fmla="*/ 24 f36 1"/>
                <a:gd name="f41" fmla="*/ 39 f35 1"/>
                <a:gd name="f42" fmla="*/ 35 f35 1"/>
                <a:gd name="f43" fmla="*/ 20 f36 1"/>
                <a:gd name="f44" fmla="*/ 38 f35 1"/>
                <a:gd name="f45" fmla="*/ 14 f36 1"/>
                <a:gd name="f46" fmla="*/ 40 f35 1"/>
                <a:gd name="f47" fmla="*/ 4 f36 1"/>
                <a:gd name="f48" fmla="*/ 0 f36 1"/>
                <a:gd name="f49" fmla="*/ 22 f35 1"/>
                <a:gd name="f50" fmla="*/ 0 f35 1"/>
                <a:gd name="f51" fmla="*/ 8 f36 1"/>
                <a:gd name="f52" fmla="*/ 10 f36 1"/>
                <a:gd name="f53" fmla="*/ 30 f35 1"/>
                <a:gd name="f54" fmla="*/ 16 f36 1"/>
                <a:gd name="f55" fmla="*/ 33 f35 1"/>
                <a:gd name="f56" fmla="*/ 22 f36 1"/>
                <a:gd name="f57" fmla="*/ 23 f35 1"/>
                <a:gd name="f58" fmla="*/ 31 f36 1"/>
                <a:gd name="f59" fmla="*/ f37 1 f2"/>
                <a:gd name="f60" fmla="*/ f40 1 31"/>
                <a:gd name="f61" fmla="*/ f41 1 40"/>
                <a:gd name="f62" fmla="*/ f42 1 40"/>
                <a:gd name="f63" fmla="*/ f43 1 31"/>
                <a:gd name="f64" fmla="*/ f44 1 40"/>
                <a:gd name="f65" fmla="*/ f45 1 31"/>
                <a:gd name="f66" fmla="*/ f46 1 40"/>
                <a:gd name="f67" fmla="*/ f47 1 31"/>
                <a:gd name="f68" fmla="*/ f48 1 31"/>
                <a:gd name="f69" fmla="*/ f49 1 40"/>
                <a:gd name="f70" fmla="*/ f50 1 40"/>
                <a:gd name="f71" fmla="*/ f51 1 31"/>
                <a:gd name="f72" fmla="*/ f52 1 31"/>
                <a:gd name="f73" fmla="*/ f53 1 40"/>
                <a:gd name="f74" fmla="*/ f54 1 31"/>
                <a:gd name="f75" fmla="*/ f55 1 40"/>
                <a:gd name="f76" fmla="*/ f56 1 31"/>
                <a:gd name="f77" fmla="*/ f57 1 40"/>
                <a:gd name="f78" fmla="*/ f58 1 31"/>
                <a:gd name="f79" fmla="*/ 0 1 f38"/>
                <a:gd name="f80" fmla="*/ f6 1 f38"/>
                <a:gd name="f81" fmla="*/ 0 1 f39"/>
                <a:gd name="f82" fmla="*/ f7 1 f39"/>
                <a:gd name="f83" fmla="+- f59 0 f1"/>
                <a:gd name="f84" fmla="*/ f60 1 f38"/>
                <a:gd name="f85" fmla="*/ f61 1 f39"/>
                <a:gd name="f86" fmla="*/ f62 1 f39"/>
                <a:gd name="f87" fmla="*/ f63 1 f38"/>
                <a:gd name="f88" fmla="*/ f64 1 f39"/>
                <a:gd name="f89" fmla="*/ f65 1 f38"/>
                <a:gd name="f90" fmla="*/ f66 1 f39"/>
                <a:gd name="f91" fmla="*/ f67 1 f38"/>
                <a:gd name="f92" fmla="*/ f68 1 f38"/>
                <a:gd name="f93" fmla="*/ f69 1 f39"/>
                <a:gd name="f94" fmla="*/ f70 1 f39"/>
                <a:gd name="f95" fmla="*/ f71 1 f38"/>
                <a:gd name="f96" fmla="*/ f72 1 f38"/>
                <a:gd name="f97" fmla="*/ f73 1 f39"/>
                <a:gd name="f98" fmla="*/ f74 1 f38"/>
                <a:gd name="f99" fmla="*/ f75 1 f39"/>
                <a:gd name="f100" fmla="*/ f76 1 f38"/>
                <a:gd name="f101" fmla="*/ f77 1 f39"/>
                <a:gd name="f102" fmla="*/ f78 1 f38"/>
                <a:gd name="f103" fmla="*/ f79 f33 1"/>
                <a:gd name="f104" fmla="*/ f80 f33 1"/>
                <a:gd name="f105" fmla="*/ f82 f34 1"/>
                <a:gd name="f106" fmla="*/ f81 f34 1"/>
                <a:gd name="f107" fmla="*/ f84 f33 1"/>
                <a:gd name="f108" fmla="*/ f85 f34 1"/>
                <a:gd name="f109" fmla="*/ f86 f34 1"/>
                <a:gd name="f110" fmla="*/ f87 f33 1"/>
                <a:gd name="f111" fmla="*/ f88 f34 1"/>
                <a:gd name="f112" fmla="*/ f89 f33 1"/>
                <a:gd name="f113" fmla="*/ f90 f34 1"/>
                <a:gd name="f114" fmla="*/ f91 f33 1"/>
                <a:gd name="f115" fmla="*/ f92 f33 1"/>
                <a:gd name="f116" fmla="*/ f93 f34 1"/>
                <a:gd name="f117" fmla="*/ f94 f34 1"/>
                <a:gd name="f118" fmla="*/ f95 f33 1"/>
                <a:gd name="f119" fmla="*/ f96 f33 1"/>
                <a:gd name="f120" fmla="*/ f97 f34 1"/>
                <a:gd name="f121" fmla="*/ f98 f33 1"/>
                <a:gd name="f122" fmla="*/ f99 f34 1"/>
                <a:gd name="f123" fmla="*/ f100 f33 1"/>
                <a:gd name="f124" fmla="*/ f101 f34 1"/>
                <a:gd name="f125" fmla="*/ f102 f33 1"/>
              </a:gdLst>
              <a:ahLst/>
              <a:cxnLst>
                <a:cxn ang="3cd4">
                  <a:pos x="hc" y="t"/>
                </a:cxn>
                <a:cxn ang="0">
                  <a:pos x="r" y="vc"/>
                </a:cxn>
                <a:cxn ang="cd4">
                  <a:pos x="hc" y="b"/>
                </a:cxn>
                <a:cxn ang="cd2">
                  <a:pos x="l" y="vc"/>
                </a:cxn>
                <a:cxn ang="f83">
                  <a:pos x="f107" y="f108"/>
                </a:cxn>
                <a:cxn ang="f83">
                  <a:pos x="f107" y="f109"/>
                </a:cxn>
                <a:cxn ang="f83">
                  <a:pos x="f110" y="f111"/>
                </a:cxn>
                <a:cxn ang="f83">
                  <a:pos x="f112" y="f113"/>
                </a:cxn>
                <a:cxn ang="f83">
                  <a:pos x="f114" y="f109"/>
                </a:cxn>
                <a:cxn ang="f83">
                  <a:pos x="f115" y="f116"/>
                </a:cxn>
                <a:cxn ang="f83">
                  <a:pos x="f115" y="f117"/>
                </a:cxn>
                <a:cxn ang="f83">
                  <a:pos x="f118" y="f117"/>
                </a:cxn>
                <a:cxn ang="f83">
                  <a:pos x="f118" y="f116"/>
                </a:cxn>
                <a:cxn ang="f83">
                  <a:pos x="f119" y="f120"/>
                </a:cxn>
                <a:cxn ang="f83">
                  <a:pos x="f121" y="f122"/>
                </a:cxn>
                <a:cxn ang="f83">
                  <a:pos x="f123" y="f120"/>
                </a:cxn>
                <a:cxn ang="f83">
                  <a:pos x="f107" y="f124"/>
                </a:cxn>
                <a:cxn ang="f83">
                  <a:pos x="f107" y="f117"/>
                </a:cxn>
                <a:cxn ang="f83">
                  <a:pos x="f125" y="f117"/>
                </a:cxn>
                <a:cxn ang="f83">
                  <a:pos x="f125" y="f108"/>
                </a:cxn>
                <a:cxn ang="f83">
                  <a:pos x="f107" y="f108"/>
                </a:cxn>
              </a:cxnLst>
              <a:rect l="f103" t="f106" r="f104" b="f105"/>
              <a:pathLst>
                <a:path w="31" h="40">
                  <a:moveTo>
                    <a:pt x="f8" y="f9"/>
                  </a:moveTo>
                  <a:cubicBezTo>
                    <a:pt x="f8" y="f10"/>
                    <a:pt x="f8" y="f10"/>
                    <a:pt x="f8" y="f10"/>
                  </a:cubicBezTo>
                  <a:cubicBezTo>
                    <a:pt x="f11" y="f12"/>
                    <a:pt x="f13" y="f14"/>
                    <a:pt x="f15" y="f14"/>
                  </a:cubicBezTo>
                  <a:cubicBezTo>
                    <a:pt x="f16" y="f9"/>
                    <a:pt x="f17" y="f7"/>
                    <a:pt x="f18" y="f7"/>
                  </a:cubicBezTo>
                  <a:cubicBezTo>
                    <a:pt x="f19" y="f7"/>
                    <a:pt x="f20" y="f14"/>
                    <a:pt x="f21" y="f10"/>
                  </a:cubicBezTo>
                  <a:cubicBezTo>
                    <a:pt x="f22" y="f23"/>
                    <a:pt x="f5" y="f24"/>
                    <a:pt x="f5" y="f13"/>
                  </a:cubicBezTo>
                  <a:cubicBezTo>
                    <a:pt x="f5" y="f5"/>
                    <a:pt x="f5" y="f5"/>
                    <a:pt x="f5" y="f5"/>
                  </a:cubicBezTo>
                  <a:cubicBezTo>
                    <a:pt x="f25" y="f5"/>
                    <a:pt x="f25" y="f5"/>
                    <a:pt x="f25" y="f5"/>
                  </a:cubicBezTo>
                  <a:cubicBezTo>
                    <a:pt x="f25" y="f13"/>
                    <a:pt x="f25" y="f13"/>
                    <a:pt x="f25" y="f13"/>
                  </a:cubicBezTo>
                  <a:cubicBezTo>
                    <a:pt x="f25" y="f26"/>
                    <a:pt x="f27" y="f24"/>
                    <a:pt x="f19" y="f28"/>
                  </a:cubicBezTo>
                  <a:cubicBezTo>
                    <a:pt x="f29" y="f23"/>
                    <a:pt x="f30" y="f31"/>
                    <a:pt x="f17" y="f31"/>
                  </a:cubicBezTo>
                  <a:cubicBezTo>
                    <a:pt x="f16" y="f31"/>
                    <a:pt x="f15" y="f23"/>
                    <a:pt x="f13" y="f28"/>
                  </a:cubicBezTo>
                  <a:cubicBezTo>
                    <a:pt x="f11" y="f24"/>
                    <a:pt x="f8" y="f26"/>
                    <a:pt x="f8" y="f11"/>
                  </a:cubicBezTo>
                  <a:cubicBezTo>
                    <a:pt x="f8" y="f5"/>
                    <a:pt x="f8" y="f5"/>
                    <a:pt x="f8" y="f5"/>
                  </a:cubicBezTo>
                  <a:cubicBezTo>
                    <a:pt x="f6" y="f5"/>
                    <a:pt x="f6" y="f5"/>
                    <a:pt x="f6" y="f5"/>
                  </a:cubicBezTo>
                  <a:cubicBezTo>
                    <a:pt x="f6" y="f9"/>
                    <a:pt x="f6" y="f9"/>
                    <a:pt x="f6" y="f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0" name="Freeform 22">
              <a:extLst>
                <a:ext uri="{FF2B5EF4-FFF2-40B4-BE49-F238E27FC236}">
                  <a16:creationId xmlns:a16="http://schemas.microsoft.com/office/drawing/2014/main" id="{8D2D5AE2-307F-A524-014B-36F80E71B161}"/>
                </a:ext>
              </a:extLst>
            </p:cNvPr>
            <p:cNvSpPr/>
            <p:nvPr/>
          </p:nvSpPr>
          <p:spPr>
            <a:xfrm>
              <a:off x="1933928"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28"/>
                <a:gd name="f18" fmla="val 10"/>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6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11 f49 1"/>
                <a:gd name="f90" fmla="*/ 5 f49 1"/>
                <a:gd name="f91" fmla="*/ 10 f50 1"/>
                <a:gd name="f92" fmla="*/ 1 f49 1"/>
                <a:gd name="f93" fmla="*/ 0 f49 1"/>
                <a:gd name="f94" fmla="*/ 29 f50 1"/>
                <a:gd name="f95" fmla="*/ 32 f50 1"/>
                <a:gd name="f96" fmla="*/ 16 f49 1"/>
                <a:gd name="f97" fmla="*/ 25 f50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40"/>
                <a:gd name="f141" fmla="*/ f90 1 40"/>
                <a:gd name="f142" fmla="*/ f91 1 33"/>
                <a:gd name="f143" fmla="*/ f92 1 40"/>
                <a:gd name="f144" fmla="*/ f93 1 40"/>
                <a:gd name="f145" fmla="*/ f94 1 33"/>
                <a:gd name="f146" fmla="*/ f95 1 33"/>
                <a:gd name="f147" fmla="*/ f96 1 40"/>
                <a:gd name="f148" fmla="*/ f97 1 33"/>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3"/>
                <a:gd name="f196" fmla="*/ f141 1 f53"/>
                <a:gd name="f197" fmla="*/ f142 1 f52"/>
                <a:gd name="f198" fmla="*/ f143 1 f53"/>
                <a:gd name="f199" fmla="*/ f144 1 f53"/>
                <a:gd name="f200" fmla="*/ f145 1 f52"/>
                <a:gd name="f201" fmla="*/ f146 1 f52"/>
                <a:gd name="f202" fmla="*/ f147 1 f53"/>
                <a:gd name="f203" fmla="*/ f148 1 f52"/>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8 1"/>
                <a:gd name="f250" fmla="*/ f196 f48 1"/>
                <a:gd name="f251" fmla="*/ f197 f47 1"/>
                <a:gd name="f252" fmla="*/ f198 f48 1"/>
                <a:gd name="f253" fmla="*/ f199 f48 1"/>
                <a:gd name="f254" fmla="*/ f200 f47 1"/>
                <a:gd name="f255" fmla="*/ f201 f47 1"/>
                <a:gd name="f256" fmla="*/ f202 f48 1"/>
                <a:gd name="f257" fmla="*/ f203 f47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5" y="f249"/>
                </a:cxn>
                <a:cxn ang="f159">
                  <a:pos x="f242" y="f250"/>
                </a:cxn>
                <a:cxn ang="f159">
                  <a:pos x="f251" y="f252"/>
                </a:cxn>
                <a:cxn ang="f159">
                  <a:pos x="f225" y="f253"/>
                </a:cxn>
                <a:cxn ang="f159">
                  <a:pos x="f236" y="f252"/>
                </a:cxn>
                <a:cxn ang="f159">
                  <a:pos x="f254" y="f250"/>
                </a:cxn>
                <a:cxn ang="f159">
                  <a:pos x="f255" y="f249"/>
                </a:cxn>
                <a:cxn ang="f159">
                  <a:pos x="f214" y="f215"/>
                </a:cxn>
                <a:cxn ang="f159">
                  <a:pos x="f231" y="f256"/>
                </a:cxn>
                <a:cxn ang="f159">
                  <a:pos x="f257" y="f258"/>
                </a:cxn>
                <a:cxn ang="f159">
                  <a:pos x="f229" y="f259"/>
                </a:cxn>
                <a:cxn ang="f159">
                  <a:pos x="f227" y="f260"/>
                </a:cxn>
                <a:cxn ang="f159">
                  <a:pos x="f261" y="f262"/>
                </a:cxn>
                <a:cxn ang="f159">
                  <a:pos x="f263" y="f260"/>
                </a:cxn>
                <a:cxn ang="f159">
                  <a:pos x="f251" y="f259"/>
                </a:cxn>
                <a:cxn ang="f159">
                  <a:pos x="f219" y="f258"/>
                </a:cxn>
                <a:cxn ang="f159">
                  <a:pos x="f218" y="f256"/>
                </a:cxn>
                <a:cxn ang="f159">
                  <a:pos x="f231" y="f256"/>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5" y="f17"/>
                    <a:pt x="f18"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11" y="f25"/>
                    <a:pt x="f31" y="f23"/>
                    <a:pt x="f31" y="f23"/>
                  </a:cubicBezTo>
                  <a:cubicBezTo>
                    <a:pt x="f13" y="f23"/>
                    <a:pt x="f32" y="f21"/>
                    <a:pt x="f14" y="f21"/>
                  </a:cubicBezTo>
                  <a:cubicBezTo>
                    <a:pt x="f21" y="f33"/>
                    <a:pt x="f21" y="f33"/>
                    <a:pt x="f21" y="f33"/>
                  </a:cubicBezTo>
                  <a:cubicBezTo>
                    <a:pt x="f19" y="f33"/>
                    <a:pt x="f17" y="f34"/>
                    <a:pt x="f16" y="f35"/>
                  </a:cubicBezTo>
                  <a:cubicBezTo>
                    <a:pt x="f14" y="f35"/>
                    <a:pt x="f32" y="f36"/>
                    <a:pt x="f13" y="f36"/>
                  </a:cubicBezTo>
                  <a:cubicBezTo>
                    <a:pt x="f31" y="f37"/>
                    <a:pt x="f11" y="f37"/>
                    <a:pt x="f10" y="f37"/>
                  </a:cubicBezTo>
                  <a:cubicBezTo>
                    <a:pt x="f9" y="f37"/>
                    <a:pt x="f30" y="f7"/>
                    <a:pt x="f29" y="f7"/>
                  </a:cubicBezTo>
                  <a:cubicBezTo>
                    <a:pt x="f27" y="f7"/>
                    <a:pt x="f26" y="f37"/>
                    <a:pt x="f22" y="f37"/>
                  </a:cubicBezTo>
                  <a:cubicBezTo>
                    <a:pt x="f20" y="f36"/>
                    <a:pt x="f15" y="f36"/>
                    <a:pt x="f12" y="f35"/>
                  </a:cubicBezTo>
                  <a:cubicBezTo>
                    <a:pt x="f38" y="f34"/>
                    <a:pt x="f39" y="f33"/>
                    <a:pt x="f40" y="f41"/>
                  </a:cubicBezTo>
                  <a:cubicBezTo>
                    <a:pt x="f42" y="f41"/>
                    <a:pt x="f43" y="f25"/>
                    <a:pt x="f43" y="f23"/>
                  </a:cubicBezTo>
                  <a:cubicBezTo>
                    <a:pt x="f44" y="f19"/>
                    <a:pt x="f45" y="f17"/>
                    <a:pt x="f45" y="f14"/>
                  </a:cubicBezTo>
                  <a:cubicBezTo>
                    <a:pt x="f5" y="f13"/>
                    <a:pt x="f5" y="f11"/>
                    <a:pt x="f5" y="f9"/>
                  </a:cubicBezTo>
                  <a:cubicBezTo>
                    <a:pt x="f5" y="f28"/>
                    <a:pt x="f45" y="f24"/>
                    <a:pt x="f45" y="f20"/>
                  </a:cubicBezTo>
                  <a:cubicBezTo>
                    <a:pt x="f44" y="f12"/>
                    <a:pt x="f43" y="f39"/>
                    <a:pt x="f40" y="f40"/>
                  </a:cubicBezTo>
                  <a:cubicBezTo>
                    <a:pt x="f39" y="f43"/>
                    <a:pt x="f12" y="f44"/>
                    <a:pt x="f18" y="f45"/>
                  </a:cubicBezTo>
                  <a:cubicBezTo>
                    <a:pt x="f22" y="f5"/>
                    <a:pt x="f26" y="f5"/>
                    <a:pt x="f29" y="f5"/>
                  </a:cubicBezTo>
                  <a:cubicBezTo>
                    <a:pt x="f9" y="f5"/>
                    <a:pt x="f11" y="f5"/>
                    <a:pt x="f13" y="f45"/>
                  </a:cubicBezTo>
                  <a:cubicBezTo>
                    <a:pt x="f14" y="f44"/>
                    <a:pt x="f17" y="f42"/>
                    <a:pt x="f19" y="f40"/>
                  </a:cubicBezTo>
                  <a:cubicBezTo>
                    <a:pt x="f21" y="f38"/>
                    <a:pt x="f23" y="f15"/>
                    <a:pt x="f25" y="f20"/>
                  </a:cubicBezTo>
                  <a:cubicBezTo>
                    <a:pt x="f6" y="f26"/>
                    <a:pt x="f6" y="f28"/>
                    <a:pt x="f6" y="f8"/>
                  </a:cubicBezTo>
                  <a:close/>
                  <a:moveTo>
                    <a:pt x="f14" y="f28"/>
                  </a:moveTo>
                  <a:cubicBezTo>
                    <a:pt x="f32" y="f27"/>
                    <a:pt x="f32" y="f24"/>
                    <a:pt x="f32" y="f22"/>
                  </a:cubicBezTo>
                  <a:cubicBezTo>
                    <a:pt x="f13" y="f20"/>
                    <a:pt x="f13" y="f18"/>
                    <a:pt x="f31" y="f15"/>
                  </a:cubicBezTo>
                  <a:cubicBezTo>
                    <a:pt x="f11" y="f12"/>
                    <a:pt x="f11" y="f12"/>
                    <a:pt x="f9" y="f38"/>
                  </a:cubicBezTo>
                  <a:cubicBezTo>
                    <a:pt x="f8" y="f38"/>
                    <a:pt x="f30" y="f39"/>
                    <a:pt x="f28" y="f39"/>
                  </a:cubicBezTo>
                  <a:cubicBezTo>
                    <a:pt x="f27" y="f39"/>
                    <a:pt x="f26" y="f38"/>
                    <a:pt x="f24" y="f38"/>
                  </a:cubicBezTo>
                  <a:cubicBezTo>
                    <a:pt x="f22" y="f38"/>
                    <a:pt x="f20" y="f12"/>
                    <a:pt x="f18" y="f15"/>
                  </a:cubicBezTo>
                  <a:cubicBezTo>
                    <a:pt x="f18" y="f18"/>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1" name="Freeform 23">
              <a:extLst>
                <a:ext uri="{FF2B5EF4-FFF2-40B4-BE49-F238E27FC236}">
                  <a16:creationId xmlns:a16="http://schemas.microsoft.com/office/drawing/2014/main" id="{EA867D6C-2837-BD18-D674-8BF5BE0BEDEF}"/>
                </a:ext>
              </a:extLst>
            </p:cNvPr>
            <p:cNvSpPr/>
            <p:nvPr/>
          </p:nvSpPr>
          <p:spPr>
            <a:xfrm>
              <a:off x="2029785"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3"/>
                <a:gd name="f22" fmla="val 11"/>
                <a:gd name="f23" fmla="val 9"/>
                <a:gd name="f24" fmla="val 12"/>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5"/>
                <a:gd name="f42" fmla="val 31"/>
                <a:gd name="f43" fmla="val 33"/>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1 f50 1"/>
                <a:gd name="f66" fmla="*/ 12 f49 1"/>
                <a:gd name="f67" fmla="*/ 13 f50 1"/>
                <a:gd name="f68" fmla="*/ 14 f49 1"/>
                <a:gd name="f69" fmla="*/ 16 f50 1"/>
                <a:gd name="f70" fmla="*/ 15 f49 1"/>
                <a:gd name="f71" fmla="*/ 22 f50 1"/>
                <a:gd name="f72" fmla="*/ 18 f49 1"/>
                <a:gd name="f73" fmla="*/ 26 f50 1"/>
                <a:gd name="f74" fmla="*/ 20 f49 1"/>
                <a:gd name="f75" fmla="*/ 24 f49 1"/>
                <a:gd name="f76" fmla="*/ 29 f50 1"/>
                <a:gd name="f77" fmla="*/ 28 f49 1"/>
                <a:gd name="f78" fmla="*/ 34 f49 1"/>
                <a:gd name="f79" fmla="*/ 25 f50 1"/>
                <a:gd name="f80" fmla="*/ 37 f49 1"/>
                <a:gd name="f81" fmla="*/ 39 f49 1"/>
                <a:gd name="f82" fmla="*/ 15 f50 1"/>
                <a:gd name="f83" fmla="*/ 40 f49 1"/>
                <a:gd name="f84" fmla="*/ 7 f50 1"/>
                <a:gd name="f85" fmla="*/ 38 f49 1"/>
                <a:gd name="f86" fmla="*/ 0 f50 1"/>
                <a:gd name="f87" fmla="*/ 35 f49 1"/>
                <a:gd name="f88" fmla="*/ 4 f50 1"/>
                <a:gd name="f89" fmla="*/ 29 f49 1"/>
                <a:gd name="f90" fmla="*/ 32 f49 1"/>
                <a:gd name="f91" fmla="*/ 33 f49 1"/>
                <a:gd name="f92" fmla="*/ 21 f50 1"/>
                <a:gd name="f93" fmla="*/ 27 f49 1"/>
                <a:gd name="f94" fmla="*/ 19 f50 1"/>
                <a:gd name="f95" fmla="*/ 25 f49 1"/>
                <a:gd name="f96" fmla="*/ 17 f50 1"/>
                <a:gd name="f97" fmla="*/ 22 f49 1"/>
                <a:gd name="f98" fmla="*/ 8 f50 1"/>
                <a:gd name="f99" fmla="*/ 17 f49 1"/>
                <a:gd name="f100" fmla="*/ 2 f50 1"/>
                <a:gd name="f101" fmla="*/ 5 f49 1"/>
                <a:gd name="f102" fmla="*/ 5 f50 1"/>
                <a:gd name="f103" fmla="*/ 2 f49 1"/>
                <a:gd name="f104" fmla="*/ 0 f49 1"/>
                <a:gd name="f105" fmla="*/ 1 f49 1"/>
                <a:gd name="f106" fmla="*/ f51 1 f2"/>
                <a:gd name="f107" fmla="*/ f54 1 29"/>
                <a:gd name="f108" fmla="*/ f55 1 40"/>
                <a:gd name="f109" fmla="*/ f56 1 29"/>
                <a:gd name="f110" fmla="*/ f57 1 40"/>
                <a:gd name="f111" fmla="*/ f58 1 29"/>
                <a:gd name="f112" fmla="*/ f59 1 40"/>
                <a:gd name="f113" fmla="*/ f60 1 29"/>
                <a:gd name="f114" fmla="*/ f61 1 40"/>
                <a:gd name="f115" fmla="*/ f62 1 29"/>
                <a:gd name="f116" fmla="*/ f63 1 29"/>
                <a:gd name="f117" fmla="*/ f64 1 40"/>
                <a:gd name="f118" fmla="*/ f65 1 29"/>
                <a:gd name="f119" fmla="*/ f66 1 40"/>
                <a:gd name="f120" fmla="*/ f67 1 29"/>
                <a:gd name="f121" fmla="*/ f68 1 40"/>
                <a:gd name="f122" fmla="*/ f69 1 29"/>
                <a:gd name="f123" fmla="*/ f70 1 40"/>
                <a:gd name="f124" fmla="*/ f71 1 29"/>
                <a:gd name="f125" fmla="*/ f72 1 40"/>
                <a:gd name="f126" fmla="*/ f73 1 29"/>
                <a:gd name="f127" fmla="*/ f74 1 40"/>
                <a:gd name="f128" fmla="*/ f75 1 40"/>
                <a:gd name="f129" fmla="*/ f76 1 29"/>
                <a:gd name="f130" fmla="*/ f77 1 40"/>
                <a:gd name="f131" fmla="*/ f78 1 40"/>
                <a:gd name="f132" fmla="*/ f79 1 29"/>
                <a:gd name="f133" fmla="*/ f80 1 40"/>
                <a:gd name="f134" fmla="*/ f81 1 40"/>
                <a:gd name="f135" fmla="*/ f82 1 29"/>
                <a:gd name="f136" fmla="*/ f83 1 40"/>
                <a:gd name="f137" fmla="*/ f84 1 29"/>
                <a:gd name="f138" fmla="*/ f85 1 40"/>
                <a:gd name="f139" fmla="*/ f86 1 29"/>
                <a:gd name="f140" fmla="*/ f87 1 40"/>
                <a:gd name="f141" fmla="*/ f88 1 29"/>
                <a:gd name="f142" fmla="*/ f89 1 40"/>
                <a:gd name="f143" fmla="*/ f90 1 40"/>
                <a:gd name="f144" fmla="*/ f91 1 40"/>
                <a:gd name="f145" fmla="*/ f92 1 29"/>
                <a:gd name="f146" fmla="*/ f93 1 40"/>
                <a:gd name="f147" fmla="*/ f94 1 29"/>
                <a:gd name="f148" fmla="*/ f95 1 40"/>
                <a:gd name="f149" fmla="*/ f96 1 29"/>
                <a:gd name="f150" fmla="*/ f97 1 40"/>
                <a:gd name="f151" fmla="*/ f98 1 29"/>
                <a:gd name="f152" fmla="*/ f99 1 40"/>
                <a:gd name="f153" fmla="*/ f100 1 29"/>
                <a:gd name="f154" fmla="*/ f101 1 40"/>
                <a:gd name="f155" fmla="*/ f102 1 29"/>
                <a:gd name="f156" fmla="*/ f103 1 40"/>
                <a:gd name="f157" fmla="*/ f104 1 40"/>
                <a:gd name="f158" fmla="*/ f105 1 40"/>
                <a:gd name="f159" fmla="*/ 0 1 f52"/>
                <a:gd name="f160" fmla="*/ f6 1 f52"/>
                <a:gd name="f161" fmla="*/ 0 1 f53"/>
                <a:gd name="f162" fmla="*/ f7 1 f53"/>
                <a:gd name="f163" fmla="+- f106 0 f1"/>
                <a:gd name="f164" fmla="*/ f107 1 f52"/>
                <a:gd name="f165" fmla="*/ f108 1 f53"/>
                <a:gd name="f166" fmla="*/ f109 1 f52"/>
                <a:gd name="f167" fmla="*/ f110 1 f53"/>
                <a:gd name="f168" fmla="*/ f111 1 f52"/>
                <a:gd name="f169" fmla="*/ f112 1 f53"/>
                <a:gd name="f170" fmla="*/ f113 1 f52"/>
                <a:gd name="f171" fmla="*/ f114 1 f53"/>
                <a:gd name="f172" fmla="*/ f115 1 f52"/>
                <a:gd name="f173" fmla="*/ f116 1 f52"/>
                <a:gd name="f174" fmla="*/ f117 1 f53"/>
                <a:gd name="f175" fmla="*/ f118 1 f52"/>
                <a:gd name="f176" fmla="*/ f119 1 f53"/>
                <a:gd name="f177" fmla="*/ f120 1 f52"/>
                <a:gd name="f178" fmla="*/ f121 1 f53"/>
                <a:gd name="f179" fmla="*/ f122 1 f52"/>
                <a:gd name="f180" fmla="*/ f123 1 f53"/>
                <a:gd name="f181" fmla="*/ f124 1 f52"/>
                <a:gd name="f182" fmla="*/ f125 1 f53"/>
                <a:gd name="f183" fmla="*/ f126 1 f52"/>
                <a:gd name="f184" fmla="*/ f127 1 f53"/>
                <a:gd name="f185" fmla="*/ f128 1 f53"/>
                <a:gd name="f186" fmla="*/ f129 1 f52"/>
                <a:gd name="f187" fmla="*/ f130 1 f53"/>
                <a:gd name="f188" fmla="*/ f131 1 f53"/>
                <a:gd name="f189" fmla="*/ f132 1 f52"/>
                <a:gd name="f190" fmla="*/ f133 1 f53"/>
                <a:gd name="f191" fmla="*/ f134 1 f53"/>
                <a:gd name="f192" fmla="*/ f135 1 f52"/>
                <a:gd name="f193" fmla="*/ f136 1 f53"/>
                <a:gd name="f194" fmla="*/ f137 1 f52"/>
                <a:gd name="f195" fmla="*/ f138 1 f53"/>
                <a:gd name="f196" fmla="*/ f139 1 f52"/>
                <a:gd name="f197" fmla="*/ f140 1 f53"/>
                <a:gd name="f198" fmla="*/ f141 1 f52"/>
                <a:gd name="f199" fmla="*/ f142 1 f53"/>
                <a:gd name="f200" fmla="*/ f143 1 f53"/>
                <a:gd name="f201" fmla="*/ f144 1 f53"/>
                <a:gd name="f202" fmla="*/ f145 1 f52"/>
                <a:gd name="f203" fmla="*/ f146 1 f53"/>
                <a:gd name="f204" fmla="*/ f147 1 f52"/>
                <a:gd name="f205" fmla="*/ f148 1 f53"/>
                <a:gd name="f206" fmla="*/ f149 1 f52"/>
                <a:gd name="f207" fmla="*/ f150 1 f53"/>
                <a:gd name="f208" fmla="*/ f151 1 f52"/>
                <a:gd name="f209" fmla="*/ f152 1 f53"/>
                <a:gd name="f210" fmla="*/ f153 1 f52"/>
                <a:gd name="f211" fmla="*/ f154 1 f53"/>
                <a:gd name="f212" fmla="*/ f155 1 f52"/>
                <a:gd name="f213" fmla="*/ f156 1 f53"/>
                <a:gd name="f214" fmla="*/ f157 1 f53"/>
                <a:gd name="f215" fmla="*/ f158 1 f53"/>
                <a:gd name="f216" fmla="*/ f159 f47 1"/>
                <a:gd name="f217" fmla="*/ f160 f47 1"/>
                <a:gd name="f218" fmla="*/ f162 f48 1"/>
                <a:gd name="f219" fmla="*/ f161 f48 1"/>
                <a:gd name="f220" fmla="*/ f164 f47 1"/>
                <a:gd name="f221" fmla="*/ f165 f48 1"/>
                <a:gd name="f222" fmla="*/ f166 f47 1"/>
                <a:gd name="f223" fmla="*/ f167 f48 1"/>
                <a:gd name="f224" fmla="*/ f168 f47 1"/>
                <a:gd name="f225" fmla="*/ f169 f48 1"/>
                <a:gd name="f226" fmla="*/ f170 f47 1"/>
                <a:gd name="f227" fmla="*/ f171 f48 1"/>
                <a:gd name="f228" fmla="*/ f172 f47 1"/>
                <a:gd name="f229" fmla="*/ f173 f47 1"/>
                <a:gd name="f230" fmla="*/ f174 f48 1"/>
                <a:gd name="f231" fmla="*/ f175 f47 1"/>
                <a:gd name="f232" fmla="*/ f176 f48 1"/>
                <a:gd name="f233" fmla="*/ f177 f47 1"/>
                <a:gd name="f234" fmla="*/ f178 f48 1"/>
                <a:gd name="f235" fmla="*/ f179 f47 1"/>
                <a:gd name="f236" fmla="*/ f180 f48 1"/>
                <a:gd name="f237" fmla="*/ f181 f47 1"/>
                <a:gd name="f238" fmla="*/ f182 f48 1"/>
                <a:gd name="f239" fmla="*/ f183 f47 1"/>
                <a:gd name="f240" fmla="*/ f184 f48 1"/>
                <a:gd name="f241" fmla="*/ f185 f48 1"/>
                <a:gd name="f242" fmla="*/ f186 f47 1"/>
                <a:gd name="f243" fmla="*/ f187 f48 1"/>
                <a:gd name="f244" fmla="*/ f188 f48 1"/>
                <a:gd name="f245" fmla="*/ f189 f47 1"/>
                <a:gd name="f246" fmla="*/ f190 f48 1"/>
                <a:gd name="f247" fmla="*/ f191 f48 1"/>
                <a:gd name="f248" fmla="*/ f192 f47 1"/>
                <a:gd name="f249" fmla="*/ f193 f48 1"/>
                <a:gd name="f250" fmla="*/ f194 f47 1"/>
                <a:gd name="f251" fmla="*/ f195 f48 1"/>
                <a:gd name="f252" fmla="*/ f196 f47 1"/>
                <a:gd name="f253" fmla="*/ f197 f48 1"/>
                <a:gd name="f254" fmla="*/ f198 f47 1"/>
                <a:gd name="f255" fmla="*/ f199 f48 1"/>
                <a:gd name="f256" fmla="*/ f200 f48 1"/>
                <a:gd name="f257" fmla="*/ f201 f48 1"/>
                <a:gd name="f258" fmla="*/ f202 f47 1"/>
                <a:gd name="f259" fmla="*/ f203 f48 1"/>
                <a:gd name="f260" fmla="*/ f204 f47 1"/>
                <a:gd name="f261" fmla="*/ f205 f48 1"/>
                <a:gd name="f262" fmla="*/ f206 f47 1"/>
                <a:gd name="f263" fmla="*/ f207 f48 1"/>
                <a:gd name="f264" fmla="*/ f208 f47 1"/>
                <a:gd name="f265" fmla="*/ f209 f48 1"/>
                <a:gd name="f266" fmla="*/ f210 f47 1"/>
                <a:gd name="f267" fmla="*/ f211 f48 1"/>
                <a:gd name="f268" fmla="*/ f212 f47 1"/>
                <a:gd name="f269" fmla="*/ f213 f48 1"/>
                <a:gd name="f270" fmla="*/ f214 f48 1"/>
                <a:gd name="f271" fmla="*/ f215 f48 1"/>
              </a:gdLst>
              <a:ahLst/>
              <a:cxnLst>
                <a:cxn ang="3cd4">
                  <a:pos x="hc" y="t"/>
                </a:cxn>
                <a:cxn ang="0">
                  <a:pos x="r" y="vc"/>
                </a:cxn>
                <a:cxn ang="cd4">
                  <a:pos x="hc" y="b"/>
                </a:cxn>
                <a:cxn ang="cd2">
                  <a:pos x="l" y="vc"/>
                </a:cxn>
                <a:cxn ang="f163">
                  <a:pos x="f220" y="f221"/>
                </a:cxn>
                <a:cxn ang="f163">
                  <a:pos x="f222" y="f223"/>
                </a:cxn>
                <a:cxn ang="f163">
                  <a:pos x="f224" y="f225"/>
                </a:cxn>
                <a:cxn ang="f163">
                  <a:pos x="f226" y="f227"/>
                </a:cxn>
                <a:cxn ang="f163">
                  <a:pos x="f228" y="f225"/>
                </a:cxn>
                <a:cxn ang="f163">
                  <a:pos x="f229" y="f223"/>
                </a:cxn>
                <a:cxn ang="f163">
                  <a:pos x="f229" y="f230"/>
                </a:cxn>
                <a:cxn ang="f163">
                  <a:pos x="f231" y="f232"/>
                </a:cxn>
                <a:cxn ang="f163">
                  <a:pos x="f233" y="f234"/>
                </a:cxn>
                <a:cxn ang="f163">
                  <a:pos x="f235" y="f236"/>
                </a:cxn>
                <a:cxn ang="f163">
                  <a:pos x="f237" y="f238"/>
                </a:cxn>
                <a:cxn ang="f163">
                  <a:pos x="f239" y="f240"/>
                </a:cxn>
                <a:cxn ang="f163">
                  <a:pos x="f220" y="f241"/>
                </a:cxn>
                <a:cxn ang="f163">
                  <a:pos x="f242" y="f243"/>
                </a:cxn>
                <a:cxn ang="f163">
                  <a:pos x="f220" y="f244"/>
                </a:cxn>
                <a:cxn ang="f163">
                  <a:pos x="f245" y="f246"/>
                </a:cxn>
                <a:cxn ang="f163">
                  <a:pos x="f224" y="f247"/>
                </a:cxn>
                <a:cxn ang="f163">
                  <a:pos x="f248" y="f249"/>
                </a:cxn>
                <a:cxn ang="f163">
                  <a:pos x="f250" y="f251"/>
                </a:cxn>
                <a:cxn ang="f163">
                  <a:pos x="f252" y="f253"/>
                </a:cxn>
                <a:cxn ang="f163">
                  <a:pos x="f254" y="f255"/>
                </a:cxn>
                <a:cxn ang="f163">
                  <a:pos x="f229" y="f256"/>
                </a:cxn>
                <a:cxn ang="f163">
                  <a:pos x="f248" y="f257"/>
                </a:cxn>
                <a:cxn ang="f163">
                  <a:pos x="f224" y="f256"/>
                </a:cxn>
                <a:cxn ang="f163">
                  <a:pos x="f237" y="f255"/>
                </a:cxn>
                <a:cxn ang="f163">
                  <a:pos x="f258" y="f259"/>
                </a:cxn>
                <a:cxn ang="f163">
                  <a:pos x="f260" y="f261"/>
                </a:cxn>
                <a:cxn ang="f163">
                  <a:pos x="f262" y="f241"/>
                </a:cxn>
                <a:cxn ang="f163">
                  <a:pos x="f233" y="f263"/>
                </a:cxn>
                <a:cxn ang="f163">
                  <a:pos x="f264" y="f240"/>
                </a:cxn>
                <a:cxn ang="f163">
                  <a:pos x="f254" y="f265"/>
                </a:cxn>
                <a:cxn ang="f163">
                  <a:pos x="f266" y="f234"/>
                </a:cxn>
                <a:cxn ang="f163">
                  <a:pos x="f266" y="f223"/>
                </a:cxn>
                <a:cxn ang="f163">
                  <a:pos x="f266" y="f267"/>
                </a:cxn>
                <a:cxn ang="f163">
                  <a:pos x="f268" y="f269"/>
                </a:cxn>
                <a:cxn ang="f163">
                  <a:pos x="f229" y="f270"/>
                </a:cxn>
                <a:cxn ang="f163">
                  <a:pos x="f248" y="f270"/>
                </a:cxn>
                <a:cxn ang="f163">
                  <a:pos x="f237" y="f271"/>
                </a:cxn>
                <a:cxn ang="f163">
                  <a:pos x="f220" y="f221"/>
                </a:cxn>
              </a:cxnLst>
              <a:rect l="f216" t="f219" r="f217" b="f218"/>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11" y="f13"/>
                    <a:pt x="f23" y="f23"/>
                    <a:pt x="f23" y="f11"/>
                  </a:cubicBezTo>
                  <a:cubicBezTo>
                    <a:pt x="f23" y="f11"/>
                    <a:pt x="f23" y="f22"/>
                    <a:pt x="f23" y="f22"/>
                  </a:cubicBezTo>
                  <a:cubicBezTo>
                    <a:pt x="f11" y="f24"/>
                    <a:pt x="f11" y="f24"/>
                    <a:pt x="f22" y="f24"/>
                  </a:cubicBezTo>
                  <a:cubicBezTo>
                    <a:pt x="f22" y="f21"/>
                    <a:pt x="f24" y="f21"/>
                    <a:pt x="f21"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4" y="f7"/>
                    <a:pt x="f11" y="f39"/>
                    <a:pt x="f16" y="f38"/>
                  </a:cubicBezTo>
                  <a:cubicBezTo>
                    <a:pt x="f9" y="f37"/>
                    <a:pt x="f40" y="f36"/>
                    <a:pt x="f5" y="f35"/>
                  </a:cubicBezTo>
                  <a:cubicBezTo>
                    <a:pt x="f9" y="f6"/>
                    <a:pt x="f9" y="f6"/>
                    <a:pt x="f9" y="f6"/>
                  </a:cubicBezTo>
                  <a:cubicBezTo>
                    <a:pt x="f41" y="f32"/>
                    <a:pt x="f16" y="f42"/>
                    <a:pt x="f23" y="f33"/>
                  </a:cubicBezTo>
                  <a:cubicBezTo>
                    <a:pt x="f22" y="f33"/>
                    <a:pt x="f21" y="f43"/>
                    <a:pt x="f25" y="f43"/>
                  </a:cubicBezTo>
                  <a:cubicBezTo>
                    <a:pt x="f26" y="f43"/>
                    <a:pt x="f28" y="f33"/>
                    <a:pt x="f15" y="f33"/>
                  </a:cubicBezTo>
                  <a:cubicBezTo>
                    <a:pt x="f14" y="f42"/>
                    <a:pt x="f27" y="f32"/>
                    <a:pt x="f27" y="f6"/>
                  </a:cubicBezTo>
                  <a:cubicBezTo>
                    <a:pt x="f27" y="f8"/>
                    <a:pt x="f27" y="f31"/>
                    <a:pt x="f14" y="f31"/>
                  </a:cubicBezTo>
                  <a:cubicBezTo>
                    <a:pt x="f14" y="f30"/>
                    <a:pt x="f15" y="f29"/>
                    <a:pt x="f28" y="f29"/>
                  </a:cubicBezTo>
                  <a:cubicBezTo>
                    <a:pt x="f28" y="f29"/>
                    <a:pt x="f17" y="f10"/>
                    <a:pt x="f26" y="f10"/>
                  </a:cubicBezTo>
                  <a:cubicBezTo>
                    <a:pt x="f25" y="f12"/>
                    <a:pt x="f20" y="f12"/>
                    <a:pt x="f21" y="f27"/>
                  </a:cubicBezTo>
                  <a:cubicBezTo>
                    <a:pt x="f22" y="f14"/>
                    <a:pt x="f23" y="f15"/>
                    <a:pt x="f13" y="f15"/>
                  </a:cubicBezTo>
                  <a:cubicBezTo>
                    <a:pt x="f19" y="f28"/>
                    <a:pt x="f41" y="f17"/>
                    <a:pt x="f9" y="f26"/>
                  </a:cubicBezTo>
                  <a:cubicBezTo>
                    <a:pt x="f44" y="f18"/>
                    <a:pt x="f44" y="f25"/>
                    <a:pt x="f40" y="f20"/>
                  </a:cubicBezTo>
                  <a:cubicBezTo>
                    <a:pt x="f40" y="f21"/>
                    <a:pt x="f40" y="f24"/>
                    <a:pt x="f40" y="f11"/>
                  </a:cubicBezTo>
                  <a:cubicBezTo>
                    <a:pt x="f40" y="f13"/>
                    <a:pt x="f40" y="f16"/>
                    <a:pt x="f40" y="f41"/>
                  </a:cubicBezTo>
                  <a:cubicBezTo>
                    <a:pt x="f44" y="f9"/>
                    <a:pt x="f9" y="f44"/>
                    <a:pt x="f41" y="f40"/>
                  </a:cubicBezTo>
                  <a:cubicBezTo>
                    <a:pt x="f19" y="f45"/>
                    <a:pt x="f13" y="f45"/>
                    <a:pt x="f23" y="f5"/>
                  </a:cubicBezTo>
                  <a:cubicBezTo>
                    <a:pt x="f22" y="f5"/>
                    <a:pt x="f21" y="f5"/>
                    <a:pt x="f25" y="f5"/>
                  </a:cubicBezTo>
                  <a:cubicBezTo>
                    <a:pt x="f26" y="f5"/>
                    <a:pt x="f28" y="f5"/>
                    <a:pt x="f27" y="f45"/>
                  </a:cubicBezTo>
                  <a:cubicBezTo>
                    <a:pt x="f10" y="f40"/>
                    <a:pt x="f30"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2" name="Freeform 24">
              <a:extLst>
                <a:ext uri="{FF2B5EF4-FFF2-40B4-BE49-F238E27FC236}">
                  <a16:creationId xmlns:a16="http://schemas.microsoft.com/office/drawing/2014/main" id="{150BE833-8AC6-4AE3-8AA1-E2CC44AD22DA}"/>
                </a:ext>
              </a:extLst>
            </p:cNvPr>
            <p:cNvSpPr/>
            <p:nvPr/>
          </p:nvSpPr>
          <p:spPr>
            <a:xfrm>
              <a:off x="211692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3" name="Freeform 25">
              <a:extLst>
                <a:ext uri="{FF2B5EF4-FFF2-40B4-BE49-F238E27FC236}">
                  <a16:creationId xmlns:a16="http://schemas.microsoft.com/office/drawing/2014/main" id="{D37B006A-E4E4-3091-9976-4FE70B833807}"/>
                </a:ext>
              </a:extLst>
            </p:cNvPr>
            <p:cNvSpPr/>
            <p:nvPr/>
          </p:nvSpPr>
          <p:spPr>
            <a:xfrm>
              <a:off x="2193609" y="6051554"/>
              <a:ext cx="24396" cy="136007"/>
            </a:xfrm>
            <a:custGeom>
              <a:avLst/>
              <a:gdLst>
                <a:gd name="f0" fmla="val 10800000"/>
                <a:gd name="f1" fmla="val 5400000"/>
                <a:gd name="f2" fmla="val 180"/>
                <a:gd name="f3" fmla="val w"/>
                <a:gd name="f4" fmla="val h"/>
                <a:gd name="f5" fmla="val 0"/>
                <a:gd name="f6" fmla="val 10"/>
                <a:gd name="f7" fmla="val 53"/>
                <a:gd name="f8" fmla="val 5"/>
                <a:gd name="f9" fmla="val 6"/>
                <a:gd name="f10" fmla="val 9"/>
                <a:gd name="f11" fmla="val 7"/>
                <a:gd name="f12" fmla="val 8"/>
                <a:gd name="f13" fmla="val 4"/>
                <a:gd name="f14" fmla="val 3"/>
                <a:gd name="f15" fmla="val 2"/>
                <a:gd name="f16" fmla="val 1"/>
                <a:gd name="f17" fmla="val 14"/>
                <a:gd name="f18" fmla="+- 0 0 -90"/>
                <a:gd name="f19" fmla="*/ f3 1 10"/>
                <a:gd name="f20" fmla="*/ f4 1 53"/>
                <a:gd name="f21" fmla="+- f7 0 f5"/>
                <a:gd name="f22" fmla="+- f6 0 f5"/>
                <a:gd name="f23" fmla="*/ f18 f0 1"/>
                <a:gd name="f24" fmla="*/ f22 1 10"/>
                <a:gd name="f25" fmla="*/ f21 1 53"/>
                <a:gd name="f26" fmla="*/ 10 f22 1"/>
                <a:gd name="f27" fmla="*/ 5 f21 1"/>
                <a:gd name="f28" fmla="*/ 9 f22 1"/>
                <a:gd name="f29" fmla="*/ 6 f21 1"/>
                <a:gd name="f30" fmla="*/ 8 f22 1"/>
                <a:gd name="f31" fmla="*/ 8 f21 1"/>
                <a:gd name="f32" fmla="*/ 7 f22 1"/>
                <a:gd name="f33" fmla="*/ 9 f21 1"/>
                <a:gd name="f34" fmla="*/ 5 f22 1"/>
                <a:gd name="f35" fmla="*/ 3 f22 1"/>
                <a:gd name="f36" fmla="*/ 1 f22 1"/>
                <a:gd name="f37" fmla="*/ 0 f22 1"/>
                <a:gd name="f38" fmla="*/ 3 f21 1"/>
                <a:gd name="f39" fmla="*/ 1 f21 1"/>
                <a:gd name="f40" fmla="*/ 0 f21 1"/>
                <a:gd name="f41" fmla="*/ 53 f21 1"/>
                <a:gd name="f42" fmla="*/ 14 f21 1"/>
                <a:gd name="f43" fmla="*/ f23 1 f2"/>
                <a:gd name="f44" fmla="*/ f26 1 10"/>
                <a:gd name="f45" fmla="*/ f27 1 53"/>
                <a:gd name="f46" fmla="*/ f28 1 10"/>
                <a:gd name="f47" fmla="*/ f29 1 53"/>
                <a:gd name="f48" fmla="*/ f30 1 10"/>
                <a:gd name="f49" fmla="*/ f31 1 53"/>
                <a:gd name="f50" fmla="*/ f32 1 10"/>
                <a:gd name="f51" fmla="*/ f33 1 53"/>
                <a:gd name="f52" fmla="*/ f34 1 10"/>
                <a:gd name="f53" fmla="*/ f35 1 10"/>
                <a:gd name="f54" fmla="*/ f36 1 10"/>
                <a:gd name="f55" fmla="*/ f37 1 10"/>
                <a:gd name="f56" fmla="*/ f38 1 53"/>
                <a:gd name="f57" fmla="*/ f39 1 53"/>
                <a:gd name="f58" fmla="*/ f40 1 53"/>
                <a:gd name="f59" fmla="*/ f41 1 53"/>
                <a:gd name="f60" fmla="*/ f42 1 53"/>
                <a:gd name="f61" fmla="*/ 0 1 f24"/>
                <a:gd name="f62" fmla="*/ f6 1 f24"/>
                <a:gd name="f63" fmla="*/ 0 1 f25"/>
                <a:gd name="f64" fmla="*/ f7 1 f25"/>
                <a:gd name="f65" fmla="+- f43 0 f1"/>
                <a:gd name="f66" fmla="*/ f44 1 f24"/>
                <a:gd name="f67" fmla="*/ f45 1 f25"/>
                <a:gd name="f68" fmla="*/ f46 1 f24"/>
                <a:gd name="f69" fmla="*/ f47 1 f25"/>
                <a:gd name="f70" fmla="*/ f48 1 f24"/>
                <a:gd name="f71" fmla="*/ f49 1 f25"/>
                <a:gd name="f72" fmla="*/ f50 1 f24"/>
                <a:gd name="f73" fmla="*/ f51 1 f25"/>
                <a:gd name="f74" fmla="*/ f52 1 f24"/>
                <a:gd name="f75" fmla="*/ f53 1 f24"/>
                <a:gd name="f76" fmla="*/ f54 1 f24"/>
                <a:gd name="f77" fmla="*/ f55 1 f24"/>
                <a:gd name="f78" fmla="*/ f56 1 f25"/>
                <a:gd name="f79" fmla="*/ f57 1 f25"/>
                <a:gd name="f80" fmla="*/ f58 1 f25"/>
                <a:gd name="f81" fmla="*/ f59 1 f25"/>
                <a:gd name="f82" fmla="*/ f60 1 f25"/>
                <a:gd name="f83" fmla="*/ f61 f19 1"/>
                <a:gd name="f84" fmla="*/ f62 f19 1"/>
                <a:gd name="f85" fmla="*/ f64 f20 1"/>
                <a:gd name="f86" fmla="*/ f63 f20 1"/>
                <a:gd name="f87" fmla="*/ f66 f19 1"/>
                <a:gd name="f88" fmla="*/ f67 f20 1"/>
                <a:gd name="f89" fmla="*/ f68 f19 1"/>
                <a:gd name="f90" fmla="*/ f69 f20 1"/>
                <a:gd name="f91" fmla="*/ f70 f19 1"/>
                <a:gd name="f92" fmla="*/ f71 f20 1"/>
                <a:gd name="f93" fmla="*/ f72 f19 1"/>
                <a:gd name="f94" fmla="*/ f73 f20 1"/>
                <a:gd name="f95" fmla="*/ f74 f19 1"/>
                <a:gd name="f96" fmla="*/ f75 f19 1"/>
                <a:gd name="f97" fmla="*/ f76 f19 1"/>
                <a:gd name="f98" fmla="*/ f77 f19 1"/>
                <a:gd name="f99" fmla="*/ f78 f20 1"/>
                <a:gd name="f100" fmla="*/ f79 f20 1"/>
                <a:gd name="f101" fmla="*/ f80 f20 1"/>
                <a:gd name="f102" fmla="*/ f81 f20 1"/>
                <a:gd name="f103" fmla="*/ f82 f20 1"/>
              </a:gdLst>
              <a:ahLst/>
              <a:cxnLst>
                <a:cxn ang="3cd4">
                  <a:pos x="hc" y="t"/>
                </a:cxn>
                <a:cxn ang="0">
                  <a:pos x="r" y="vc"/>
                </a:cxn>
                <a:cxn ang="cd4">
                  <a:pos x="hc" y="b"/>
                </a:cxn>
                <a:cxn ang="cd2">
                  <a:pos x="l" y="vc"/>
                </a:cxn>
                <a:cxn ang="f65">
                  <a:pos x="f87" y="f88"/>
                </a:cxn>
                <a:cxn ang="f65">
                  <a:pos x="f89" y="f90"/>
                </a:cxn>
                <a:cxn ang="f65">
                  <a:pos x="f91" y="f92"/>
                </a:cxn>
                <a:cxn ang="f65">
                  <a:pos x="f93" y="f94"/>
                </a:cxn>
                <a:cxn ang="f65">
                  <a:pos x="f95" y="f94"/>
                </a:cxn>
                <a:cxn ang="f65">
                  <a:pos x="f96" y="f94"/>
                </a:cxn>
                <a:cxn ang="f65">
                  <a:pos x="f97" y="f92"/>
                </a:cxn>
                <a:cxn ang="f65">
                  <a:pos x="f98" y="f90"/>
                </a:cxn>
                <a:cxn ang="f65">
                  <a:pos x="f98" y="f88"/>
                </a:cxn>
                <a:cxn ang="f65">
                  <a:pos x="f98" y="f99"/>
                </a:cxn>
                <a:cxn ang="f65">
                  <a:pos x="f97" y="f100"/>
                </a:cxn>
                <a:cxn ang="f65">
                  <a:pos x="f96" y="f101"/>
                </a:cxn>
                <a:cxn ang="f65">
                  <a:pos x="f95" y="f101"/>
                </a:cxn>
                <a:cxn ang="f65">
                  <a:pos x="f93" y="f101"/>
                </a:cxn>
                <a:cxn ang="f65">
                  <a:pos x="f91" y="f100"/>
                </a:cxn>
                <a:cxn ang="f65">
                  <a:pos x="f89" y="f99"/>
                </a:cxn>
                <a:cxn ang="f65">
                  <a:pos x="f87" y="f88"/>
                </a:cxn>
                <a:cxn ang="f65">
                  <a:pos x="f97" y="f102"/>
                </a:cxn>
                <a:cxn ang="f65">
                  <a:pos x="f97" y="f103"/>
                </a:cxn>
                <a:cxn ang="f65">
                  <a:pos x="f89" y="f103"/>
                </a:cxn>
                <a:cxn ang="f65">
                  <a:pos x="f89" y="f102"/>
                </a:cxn>
                <a:cxn ang="f65">
                  <a:pos x="f97" y="f102"/>
                </a:cxn>
              </a:cxnLst>
              <a:rect l="f83" t="f86" r="f84" b="f85"/>
              <a:pathLst>
                <a:path w="10" h="53">
                  <a:moveTo>
                    <a:pt x="f6" y="f8"/>
                  </a:moveTo>
                  <a:cubicBezTo>
                    <a:pt x="f6" y="f8"/>
                    <a:pt x="f6" y="f9"/>
                    <a:pt x="f10" y="f9"/>
                  </a:cubicBezTo>
                  <a:cubicBezTo>
                    <a:pt x="f10" y="f11"/>
                    <a:pt x="f10" y="f12"/>
                    <a:pt x="f12" y="f12"/>
                  </a:cubicBezTo>
                  <a:cubicBezTo>
                    <a:pt x="f12" y="f12"/>
                    <a:pt x="f11" y="f10"/>
                    <a:pt x="f11" y="f10"/>
                  </a:cubicBezTo>
                  <a:cubicBezTo>
                    <a:pt x="f9" y="f10"/>
                    <a:pt x="f9" y="f10"/>
                    <a:pt x="f8" y="f10"/>
                  </a:cubicBezTo>
                  <a:cubicBezTo>
                    <a:pt x="f13" y="f10"/>
                    <a:pt x="f13" y="f10"/>
                    <a:pt x="f14" y="f10"/>
                  </a:cubicBezTo>
                  <a:cubicBezTo>
                    <a:pt x="f15" y="f10"/>
                    <a:pt x="f15" y="f12"/>
                    <a:pt x="f16" y="f12"/>
                  </a:cubicBezTo>
                  <a:cubicBezTo>
                    <a:pt x="f16" y="f12"/>
                    <a:pt x="f16" y="f11"/>
                    <a:pt x="f5" y="f9"/>
                  </a:cubicBezTo>
                  <a:cubicBezTo>
                    <a:pt x="f5" y="f9"/>
                    <a:pt x="f5" y="f8"/>
                    <a:pt x="f5" y="f8"/>
                  </a:cubicBezTo>
                  <a:cubicBezTo>
                    <a:pt x="f5" y="f13"/>
                    <a:pt x="f5" y="f14"/>
                    <a:pt x="f5" y="f14"/>
                  </a:cubicBezTo>
                  <a:cubicBezTo>
                    <a:pt x="f16" y="f15"/>
                    <a:pt x="f16" y="f15"/>
                    <a:pt x="f16" y="f16"/>
                  </a:cubicBezTo>
                  <a:cubicBezTo>
                    <a:pt x="f15" y="f16"/>
                    <a:pt x="f15" y="f5"/>
                    <a:pt x="f14" y="f5"/>
                  </a:cubicBezTo>
                  <a:cubicBezTo>
                    <a:pt x="f13" y="f5"/>
                    <a:pt x="f13" y="f5"/>
                    <a:pt x="f8" y="f5"/>
                  </a:cubicBezTo>
                  <a:cubicBezTo>
                    <a:pt x="f9" y="f5"/>
                    <a:pt x="f9" y="f5"/>
                    <a:pt x="f11" y="f5"/>
                  </a:cubicBezTo>
                  <a:cubicBezTo>
                    <a:pt x="f11" y="f5"/>
                    <a:pt x="f12" y="f16"/>
                    <a:pt x="f12" y="f16"/>
                  </a:cubicBezTo>
                  <a:cubicBezTo>
                    <a:pt x="f10" y="f15"/>
                    <a:pt x="f10" y="f15"/>
                    <a:pt x="f10" y="f14"/>
                  </a:cubicBezTo>
                  <a:cubicBezTo>
                    <a:pt x="f6" y="f14"/>
                    <a:pt x="f6" y="f13"/>
                    <a:pt x="f6" y="f8"/>
                  </a:cubicBezTo>
                  <a:close/>
                  <a:moveTo>
                    <a:pt x="f16" y="f7"/>
                  </a:moveTo>
                  <a:cubicBezTo>
                    <a:pt x="f16" y="f17"/>
                    <a:pt x="f16" y="f17"/>
                    <a:pt x="f16" y="f17"/>
                  </a:cubicBezTo>
                  <a:cubicBezTo>
                    <a:pt x="f10" y="f17"/>
                    <a:pt x="f10" y="f17"/>
                    <a:pt x="f10" y="f17"/>
                  </a:cubicBezTo>
                  <a:cubicBezTo>
                    <a:pt x="f10" y="f7"/>
                    <a:pt x="f10" y="f7"/>
                    <a:pt x="f10" y="f7"/>
                  </a:cubicBezTo>
                  <a:lnTo>
                    <a:pt x="f16"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4" name="Freeform 26">
              <a:extLst>
                <a:ext uri="{FF2B5EF4-FFF2-40B4-BE49-F238E27FC236}">
                  <a16:creationId xmlns:a16="http://schemas.microsoft.com/office/drawing/2014/main" id="{0E05B1AE-7F03-B59C-3B10-6216C32BEE07}"/>
                </a:ext>
              </a:extLst>
            </p:cNvPr>
            <p:cNvSpPr/>
            <p:nvPr/>
          </p:nvSpPr>
          <p:spPr>
            <a:xfrm>
              <a:off x="2235433" y="6088166"/>
              <a:ext cx="87142" cy="101132"/>
            </a:xfrm>
            <a:custGeom>
              <a:avLst/>
              <a:gdLst>
                <a:gd name="f0" fmla="val 10800000"/>
                <a:gd name="f1" fmla="val 5400000"/>
                <a:gd name="f2" fmla="val 180"/>
                <a:gd name="f3" fmla="val w"/>
                <a:gd name="f4" fmla="val h"/>
                <a:gd name="f5" fmla="val 0"/>
                <a:gd name="f6" fmla="val 34"/>
                <a:gd name="f7" fmla="val 40"/>
                <a:gd name="f8" fmla="val 19"/>
                <a:gd name="f9" fmla="val 23"/>
                <a:gd name="f10" fmla="val 25"/>
                <a:gd name="f11" fmla="val 33"/>
                <a:gd name="f12" fmla="val 28"/>
                <a:gd name="f13" fmla="val 32"/>
                <a:gd name="f14" fmla="val 30"/>
                <a:gd name="f15" fmla="val 31"/>
                <a:gd name="f16" fmla="val 29"/>
                <a:gd name="f17" fmla="val 36"/>
                <a:gd name="f18" fmla="val 26"/>
                <a:gd name="f19" fmla="val 37"/>
                <a:gd name="f20" fmla="val 24"/>
                <a:gd name="f21" fmla="val 38"/>
                <a:gd name="f22" fmla="val 21"/>
                <a:gd name="f23" fmla="val 39"/>
                <a:gd name="f24" fmla="val 17"/>
                <a:gd name="f25" fmla="val 14"/>
                <a:gd name="f26" fmla="val 12"/>
                <a:gd name="f27" fmla="val 10"/>
                <a:gd name="f28" fmla="val 8"/>
                <a:gd name="f29" fmla="val 6"/>
                <a:gd name="f30" fmla="val 5"/>
                <a:gd name="f31" fmla="val 3"/>
                <a:gd name="f32" fmla="val 2"/>
                <a:gd name="f33" fmla="val 1"/>
                <a:gd name="f34" fmla="val 20"/>
                <a:gd name="f35" fmla="val 16"/>
                <a:gd name="f36" fmla="val 11"/>
                <a:gd name="f37" fmla="val 9"/>
                <a:gd name="f38" fmla="val 7"/>
                <a:gd name="f39" fmla="val 22"/>
                <a:gd name="f40" fmla="val 18"/>
                <a:gd name="f41" fmla="val 13"/>
                <a:gd name="f42" fmla="val 15"/>
                <a:gd name="f43" fmla="val 27"/>
                <a:gd name="f44" fmla="+- 0 0 -90"/>
                <a:gd name="f45" fmla="*/ f3 1 34"/>
                <a:gd name="f46" fmla="*/ f4 1 40"/>
                <a:gd name="f47" fmla="+- f7 0 f5"/>
                <a:gd name="f48" fmla="+- f6 0 f5"/>
                <a:gd name="f49" fmla="*/ f44 f0 1"/>
                <a:gd name="f50" fmla="*/ f48 1 34"/>
                <a:gd name="f51" fmla="*/ f47 1 40"/>
                <a:gd name="f52" fmla="*/ 34 f48 1"/>
                <a:gd name="f53" fmla="*/ 19 f47 1"/>
                <a:gd name="f54" fmla="*/ 33 f48 1"/>
                <a:gd name="f55" fmla="*/ 28 f47 1"/>
                <a:gd name="f56" fmla="*/ 29 f48 1"/>
                <a:gd name="f57" fmla="*/ 34 f47 1"/>
                <a:gd name="f58" fmla="*/ 24 f48 1"/>
                <a:gd name="f59" fmla="*/ 38 f47 1"/>
                <a:gd name="f60" fmla="*/ 17 f48 1"/>
                <a:gd name="f61" fmla="*/ 40 f47 1"/>
                <a:gd name="f62" fmla="*/ 10 f48 1"/>
                <a:gd name="f63" fmla="*/ 5 f48 1"/>
                <a:gd name="f64" fmla="*/ 1 f48 1"/>
                <a:gd name="f65" fmla="*/ 0 f48 1"/>
                <a:gd name="f66" fmla="*/ 20 f47 1"/>
                <a:gd name="f67" fmla="*/ 11 f47 1"/>
                <a:gd name="f68" fmla="*/ 5 f47 1"/>
                <a:gd name="f69" fmla="*/ 1 f47 1"/>
                <a:gd name="f70" fmla="*/ 0 f47 1"/>
                <a:gd name="f71" fmla="*/ 26 f48 1"/>
                <a:gd name="f72" fmla="*/ 14 f47 1"/>
                <a:gd name="f73" fmla="*/ 10 f47 1"/>
                <a:gd name="f74" fmla="*/ 21 f48 1"/>
                <a:gd name="f75" fmla="*/ 8 f47 1"/>
                <a:gd name="f76" fmla="*/ 7 f47 1"/>
                <a:gd name="f77" fmla="*/ 13 f48 1"/>
                <a:gd name="f78" fmla="*/ 8 f48 1"/>
                <a:gd name="f79" fmla="*/ 7 f48 1"/>
                <a:gd name="f80" fmla="*/ 25 f47 1"/>
                <a:gd name="f81" fmla="*/ 29 f47 1"/>
                <a:gd name="f82" fmla="*/ 32 f47 1"/>
                <a:gd name="f83" fmla="*/ 31 f47 1"/>
                <a:gd name="f84" fmla="*/ f49 1 f2"/>
                <a:gd name="f85" fmla="*/ f52 1 34"/>
                <a:gd name="f86" fmla="*/ f53 1 40"/>
                <a:gd name="f87" fmla="*/ f54 1 34"/>
                <a:gd name="f88" fmla="*/ f55 1 40"/>
                <a:gd name="f89" fmla="*/ f56 1 34"/>
                <a:gd name="f90" fmla="*/ f57 1 40"/>
                <a:gd name="f91" fmla="*/ f58 1 34"/>
                <a:gd name="f92" fmla="*/ f59 1 40"/>
                <a:gd name="f93" fmla="*/ f60 1 34"/>
                <a:gd name="f94" fmla="*/ f61 1 40"/>
                <a:gd name="f95" fmla="*/ f62 1 34"/>
                <a:gd name="f96" fmla="*/ f63 1 34"/>
                <a:gd name="f97" fmla="*/ f64 1 34"/>
                <a:gd name="f98" fmla="*/ f65 1 34"/>
                <a:gd name="f99" fmla="*/ f66 1 40"/>
                <a:gd name="f100" fmla="*/ f67 1 40"/>
                <a:gd name="f101" fmla="*/ f68 1 40"/>
                <a:gd name="f102" fmla="*/ f69 1 40"/>
                <a:gd name="f103" fmla="*/ f70 1 40"/>
                <a:gd name="f104" fmla="*/ f71 1 34"/>
                <a:gd name="f105" fmla="*/ f72 1 40"/>
                <a:gd name="f106" fmla="*/ f73 1 40"/>
                <a:gd name="f107" fmla="*/ f74 1 34"/>
                <a:gd name="f108" fmla="*/ f75 1 40"/>
                <a:gd name="f109" fmla="*/ f76 1 40"/>
                <a:gd name="f110" fmla="*/ f77 1 34"/>
                <a:gd name="f111" fmla="*/ f78 1 34"/>
                <a:gd name="f112" fmla="*/ f79 1 34"/>
                <a:gd name="f113" fmla="*/ f80 1 40"/>
                <a:gd name="f114" fmla="*/ f81 1 40"/>
                <a:gd name="f115" fmla="*/ f82 1 40"/>
                <a:gd name="f116" fmla="*/ f83 1 40"/>
                <a:gd name="f117" fmla="*/ 0 1 f50"/>
                <a:gd name="f118" fmla="*/ f6 1 f50"/>
                <a:gd name="f119" fmla="*/ 0 1 f51"/>
                <a:gd name="f120" fmla="*/ f7 1 f51"/>
                <a:gd name="f121" fmla="+- f84 0 f1"/>
                <a:gd name="f122" fmla="*/ f85 1 f50"/>
                <a:gd name="f123" fmla="*/ f86 1 f51"/>
                <a:gd name="f124" fmla="*/ f87 1 f50"/>
                <a:gd name="f125" fmla="*/ f88 1 f51"/>
                <a:gd name="f126" fmla="*/ f89 1 f50"/>
                <a:gd name="f127" fmla="*/ f90 1 f51"/>
                <a:gd name="f128" fmla="*/ f91 1 f50"/>
                <a:gd name="f129" fmla="*/ f92 1 f51"/>
                <a:gd name="f130" fmla="*/ f93 1 f50"/>
                <a:gd name="f131" fmla="*/ f94 1 f51"/>
                <a:gd name="f132" fmla="*/ f95 1 f50"/>
                <a:gd name="f133" fmla="*/ f96 1 f50"/>
                <a:gd name="f134" fmla="*/ f97 1 f50"/>
                <a:gd name="f135" fmla="*/ f98 1 f50"/>
                <a:gd name="f136" fmla="*/ f99 1 f51"/>
                <a:gd name="f137" fmla="*/ f100 1 f51"/>
                <a:gd name="f138" fmla="*/ f101 1 f51"/>
                <a:gd name="f139" fmla="*/ f102 1 f51"/>
                <a:gd name="f140" fmla="*/ f103 1 f51"/>
                <a:gd name="f141" fmla="*/ f104 1 f50"/>
                <a:gd name="f142" fmla="*/ f105 1 f51"/>
                <a:gd name="f143" fmla="*/ f106 1 f51"/>
                <a:gd name="f144" fmla="*/ f107 1 f50"/>
                <a:gd name="f145" fmla="*/ f108 1 f51"/>
                <a:gd name="f146" fmla="*/ f109 1 f51"/>
                <a:gd name="f147" fmla="*/ f110 1 f50"/>
                <a:gd name="f148" fmla="*/ f111 1 f50"/>
                <a:gd name="f149" fmla="*/ f112 1 f50"/>
                <a:gd name="f150" fmla="*/ f113 1 f51"/>
                <a:gd name="f151" fmla="*/ f114 1 f51"/>
                <a:gd name="f152" fmla="*/ f115 1 f51"/>
                <a:gd name="f153" fmla="*/ f116 1 f51"/>
                <a:gd name="f154" fmla="*/ f117 f45 1"/>
                <a:gd name="f155" fmla="*/ f118 f45 1"/>
                <a:gd name="f156" fmla="*/ f120 f46 1"/>
                <a:gd name="f157" fmla="*/ f119 f46 1"/>
                <a:gd name="f158" fmla="*/ f122 f45 1"/>
                <a:gd name="f159" fmla="*/ f123 f46 1"/>
                <a:gd name="f160" fmla="*/ f124 f45 1"/>
                <a:gd name="f161" fmla="*/ f125 f46 1"/>
                <a:gd name="f162" fmla="*/ f126 f45 1"/>
                <a:gd name="f163" fmla="*/ f127 f46 1"/>
                <a:gd name="f164" fmla="*/ f128 f45 1"/>
                <a:gd name="f165" fmla="*/ f129 f46 1"/>
                <a:gd name="f166" fmla="*/ f130 f45 1"/>
                <a:gd name="f167" fmla="*/ f131 f46 1"/>
                <a:gd name="f168" fmla="*/ f132 f45 1"/>
                <a:gd name="f169" fmla="*/ f133 f45 1"/>
                <a:gd name="f170" fmla="*/ f134 f45 1"/>
                <a:gd name="f171" fmla="*/ f135 f45 1"/>
                <a:gd name="f172" fmla="*/ f136 f46 1"/>
                <a:gd name="f173" fmla="*/ f137 f46 1"/>
                <a:gd name="f174" fmla="*/ f138 f46 1"/>
                <a:gd name="f175" fmla="*/ f139 f46 1"/>
                <a:gd name="f176" fmla="*/ f140 f46 1"/>
                <a:gd name="f177" fmla="*/ f141 f45 1"/>
                <a:gd name="f178" fmla="*/ f142 f46 1"/>
                <a:gd name="f179" fmla="*/ f143 f46 1"/>
                <a:gd name="f180" fmla="*/ f144 f45 1"/>
                <a:gd name="f181" fmla="*/ f145 f46 1"/>
                <a:gd name="f182" fmla="*/ f146 f46 1"/>
                <a:gd name="f183" fmla="*/ f147 f45 1"/>
                <a:gd name="f184" fmla="*/ f148 f45 1"/>
                <a:gd name="f185" fmla="*/ f149 f45 1"/>
                <a:gd name="f186" fmla="*/ f150 f46 1"/>
                <a:gd name="f187" fmla="*/ f151 f46 1"/>
                <a:gd name="f188" fmla="*/ f152 f46 1"/>
                <a:gd name="f189" fmla="*/ f153 f46 1"/>
              </a:gdLst>
              <a:ahLst/>
              <a:cxnLst>
                <a:cxn ang="3cd4">
                  <a:pos x="hc" y="t"/>
                </a:cxn>
                <a:cxn ang="0">
                  <a:pos x="r" y="vc"/>
                </a:cxn>
                <a:cxn ang="cd4">
                  <a:pos x="hc" y="b"/>
                </a:cxn>
                <a:cxn ang="cd2">
                  <a:pos x="l" y="vc"/>
                </a:cxn>
                <a:cxn ang="f121">
                  <a:pos x="f158" y="f159"/>
                </a:cxn>
                <a:cxn ang="f121">
                  <a:pos x="f160" y="f161"/>
                </a:cxn>
                <a:cxn ang="f121">
                  <a:pos x="f162" y="f163"/>
                </a:cxn>
                <a:cxn ang="f121">
                  <a:pos x="f164" y="f165"/>
                </a:cxn>
                <a:cxn ang="f121">
                  <a:pos x="f166" y="f167"/>
                </a:cxn>
                <a:cxn ang="f121">
                  <a:pos x="f168" y="f165"/>
                </a:cxn>
                <a:cxn ang="f121">
                  <a:pos x="f169" y="f163"/>
                </a:cxn>
                <a:cxn ang="f121">
                  <a:pos x="f170" y="f161"/>
                </a:cxn>
                <a:cxn ang="f121">
                  <a:pos x="f171" y="f172"/>
                </a:cxn>
                <a:cxn ang="f121">
                  <a:pos x="f170" y="f173"/>
                </a:cxn>
                <a:cxn ang="f121">
                  <a:pos x="f169" y="f174"/>
                </a:cxn>
                <a:cxn ang="f121">
                  <a:pos x="f168" y="f175"/>
                </a:cxn>
                <a:cxn ang="f121">
                  <a:pos x="f166" y="f176"/>
                </a:cxn>
                <a:cxn ang="f121">
                  <a:pos x="f164" y="f175"/>
                </a:cxn>
                <a:cxn ang="f121">
                  <a:pos x="f162" y="f174"/>
                </a:cxn>
                <a:cxn ang="f121">
                  <a:pos x="f160" y="f173"/>
                </a:cxn>
                <a:cxn ang="f121">
                  <a:pos x="f158" y="f159"/>
                </a:cxn>
                <a:cxn ang="f121">
                  <a:pos x="f177" y="f172"/>
                </a:cxn>
                <a:cxn ang="f121">
                  <a:pos x="f177" y="f178"/>
                </a:cxn>
                <a:cxn ang="f121">
                  <a:pos x="f164" y="f179"/>
                </a:cxn>
                <a:cxn ang="f121">
                  <a:pos x="f180" y="f181"/>
                </a:cxn>
                <a:cxn ang="f121">
                  <a:pos x="f166" y="f182"/>
                </a:cxn>
                <a:cxn ang="f121">
                  <a:pos x="f183" y="f181"/>
                </a:cxn>
                <a:cxn ang="f121">
                  <a:pos x="f168" y="f179"/>
                </a:cxn>
                <a:cxn ang="f121">
                  <a:pos x="f184" y="f178"/>
                </a:cxn>
                <a:cxn ang="f121">
                  <a:pos x="f185" y="f159"/>
                </a:cxn>
                <a:cxn ang="f121">
                  <a:pos x="f184" y="f186"/>
                </a:cxn>
                <a:cxn ang="f121">
                  <a:pos x="f168" y="f187"/>
                </a:cxn>
                <a:cxn ang="f121">
                  <a:pos x="f183" y="f188"/>
                </a:cxn>
                <a:cxn ang="f121">
                  <a:pos x="f166" y="f188"/>
                </a:cxn>
                <a:cxn ang="f121">
                  <a:pos x="f180" y="f189"/>
                </a:cxn>
                <a:cxn ang="f121">
                  <a:pos x="f164" y="f187"/>
                </a:cxn>
                <a:cxn ang="f121">
                  <a:pos x="f177" y="f186"/>
                </a:cxn>
                <a:cxn ang="f121">
                  <a:pos x="f177" y="f172"/>
                </a:cxn>
              </a:cxnLst>
              <a:rect l="f154" t="f157" r="f155" b="f156"/>
              <a:pathLst>
                <a:path w="34" h="40">
                  <a:moveTo>
                    <a:pt x="f6" y="f8"/>
                  </a:moveTo>
                  <a:cubicBezTo>
                    <a:pt x="f6" y="f9"/>
                    <a:pt x="f6" y="f10"/>
                    <a:pt x="f11" y="f12"/>
                  </a:cubicBezTo>
                  <a:cubicBezTo>
                    <a:pt x="f13" y="f14"/>
                    <a:pt x="f15" y="f11"/>
                    <a:pt x="f16" y="f6"/>
                  </a:cubicBezTo>
                  <a:cubicBezTo>
                    <a:pt x="f12" y="f17"/>
                    <a:pt x="f18" y="f19"/>
                    <a:pt x="f20" y="f21"/>
                  </a:cubicBezTo>
                  <a:cubicBezTo>
                    <a:pt x="f22" y="f23"/>
                    <a:pt x="f8" y="f7"/>
                    <a:pt x="f24" y="f7"/>
                  </a:cubicBezTo>
                  <a:cubicBezTo>
                    <a:pt x="f25" y="f7"/>
                    <a:pt x="f26" y="f23"/>
                    <a:pt x="f27" y="f21"/>
                  </a:cubicBezTo>
                  <a:cubicBezTo>
                    <a:pt x="f28" y="f19"/>
                    <a:pt x="f29" y="f17"/>
                    <a:pt x="f30" y="f6"/>
                  </a:cubicBezTo>
                  <a:cubicBezTo>
                    <a:pt x="f31" y="f13"/>
                    <a:pt x="f32" y="f14"/>
                    <a:pt x="f33" y="f12"/>
                  </a:cubicBezTo>
                  <a:cubicBezTo>
                    <a:pt x="f5" y="f10"/>
                    <a:pt x="f5" y="f9"/>
                    <a:pt x="f5" y="f34"/>
                  </a:cubicBezTo>
                  <a:cubicBezTo>
                    <a:pt x="f5" y="f35"/>
                    <a:pt x="f5" y="f25"/>
                    <a:pt x="f33" y="f36"/>
                  </a:cubicBezTo>
                  <a:cubicBezTo>
                    <a:pt x="f32" y="f37"/>
                    <a:pt x="f31" y="f38"/>
                    <a:pt x="f30" y="f30"/>
                  </a:cubicBezTo>
                  <a:cubicBezTo>
                    <a:pt x="f29" y="f31"/>
                    <a:pt x="f28" y="f32"/>
                    <a:pt x="f27" y="f33"/>
                  </a:cubicBezTo>
                  <a:cubicBezTo>
                    <a:pt x="f26" y="f5"/>
                    <a:pt x="f25" y="f5"/>
                    <a:pt x="f24" y="f5"/>
                  </a:cubicBezTo>
                  <a:cubicBezTo>
                    <a:pt x="f8" y="f5"/>
                    <a:pt x="f39" y="f5"/>
                    <a:pt x="f20" y="f33"/>
                  </a:cubicBezTo>
                  <a:cubicBezTo>
                    <a:pt x="f18" y="f32"/>
                    <a:pt x="f12" y="f31"/>
                    <a:pt x="f16" y="f30"/>
                  </a:cubicBezTo>
                  <a:cubicBezTo>
                    <a:pt x="f15" y="f38"/>
                    <a:pt x="f13" y="f37"/>
                    <a:pt x="f11" y="f36"/>
                  </a:cubicBezTo>
                  <a:cubicBezTo>
                    <a:pt x="f6" y="f25"/>
                    <a:pt x="f6" y="f35"/>
                    <a:pt x="f6" y="f8"/>
                  </a:cubicBezTo>
                  <a:close/>
                  <a:moveTo>
                    <a:pt x="f18" y="f34"/>
                  </a:moveTo>
                  <a:cubicBezTo>
                    <a:pt x="f18" y="f40"/>
                    <a:pt x="f18" y="f35"/>
                    <a:pt x="f18" y="f25"/>
                  </a:cubicBezTo>
                  <a:cubicBezTo>
                    <a:pt x="f10" y="f41"/>
                    <a:pt x="f10" y="f36"/>
                    <a:pt x="f20" y="f27"/>
                  </a:cubicBezTo>
                  <a:cubicBezTo>
                    <a:pt x="f9" y="f37"/>
                    <a:pt x="f39" y="f28"/>
                    <a:pt x="f22" y="f28"/>
                  </a:cubicBezTo>
                  <a:cubicBezTo>
                    <a:pt x="f8" y="f38"/>
                    <a:pt x="f40" y="f38"/>
                    <a:pt x="f24" y="f38"/>
                  </a:cubicBezTo>
                  <a:cubicBezTo>
                    <a:pt x="f42" y="f38"/>
                    <a:pt x="f25" y="f38"/>
                    <a:pt x="f41" y="f28"/>
                  </a:cubicBezTo>
                  <a:cubicBezTo>
                    <a:pt x="f26" y="f28"/>
                    <a:pt x="f36" y="f37"/>
                    <a:pt x="f27" y="f27"/>
                  </a:cubicBezTo>
                  <a:cubicBezTo>
                    <a:pt x="f37" y="f36"/>
                    <a:pt x="f28" y="f41"/>
                    <a:pt x="f28" y="f25"/>
                  </a:cubicBezTo>
                  <a:cubicBezTo>
                    <a:pt x="f28" y="f35"/>
                    <a:pt x="f38" y="f24"/>
                    <a:pt x="f38" y="f8"/>
                  </a:cubicBezTo>
                  <a:cubicBezTo>
                    <a:pt x="f38" y="f22"/>
                    <a:pt x="f28" y="f9"/>
                    <a:pt x="f28" y="f10"/>
                  </a:cubicBezTo>
                  <a:cubicBezTo>
                    <a:pt x="f37" y="f43"/>
                    <a:pt x="f37" y="f12"/>
                    <a:pt x="f27" y="f16"/>
                  </a:cubicBezTo>
                  <a:cubicBezTo>
                    <a:pt x="f36" y="f14"/>
                    <a:pt x="f26" y="f15"/>
                    <a:pt x="f41" y="f13"/>
                  </a:cubicBezTo>
                  <a:cubicBezTo>
                    <a:pt x="f25" y="f13"/>
                    <a:pt x="f35" y="f13"/>
                    <a:pt x="f24" y="f13"/>
                  </a:cubicBezTo>
                  <a:cubicBezTo>
                    <a:pt x="f40" y="f13"/>
                    <a:pt x="f34" y="f13"/>
                    <a:pt x="f22" y="f15"/>
                  </a:cubicBezTo>
                  <a:cubicBezTo>
                    <a:pt x="f39" y="f15"/>
                    <a:pt x="f9" y="f14"/>
                    <a:pt x="f20" y="f16"/>
                  </a:cubicBezTo>
                  <a:cubicBezTo>
                    <a:pt x="f10" y="f43"/>
                    <a:pt x="f10" y="f18"/>
                    <a:pt x="f18" y="f10"/>
                  </a:cubicBezTo>
                  <a:cubicBezTo>
                    <a:pt x="f18" y="f9"/>
                    <a:pt x="f18" y="f22"/>
                    <a:pt x="f18" y="f34"/>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5" name="Freeform 27">
              <a:extLst>
                <a:ext uri="{FF2B5EF4-FFF2-40B4-BE49-F238E27FC236}">
                  <a16:creationId xmlns:a16="http://schemas.microsoft.com/office/drawing/2014/main" id="{17EFB59F-4E9D-93D8-4559-6080771110F5}"/>
                </a:ext>
              </a:extLst>
            </p:cNvPr>
            <p:cNvSpPr/>
            <p:nvPr/>
          </p:nvSpPr>
          <p:spPr>
            <a:xfrm>
              <a:off x="2343488"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1"/>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19"/>
                <a:gd name="f28" fmla="val 25"/>
                <a:gd name="f29" fmla="val 26"/>
                <a:gd name="f30" fmla="val 27"/>
                <a:gd name="f31" fmla="val 28"/>
                <a:gd name="f32" fmla="val 5"/>
                <a:gd name="f33" fmla="val 29"/>
                <a:gd name="f34" fmla="val 30"/>
                <a:gd name="f35" fmla="+- 0 0 -90"/>
                <a:gd name="f36" fmla="*/ f3 1 31"/>
                <a:gd name="f37" fmla="*/ f4 1 39"/>
                <a:gd name="f38" fmla="+- f7 0 f5"/>
                <a:gd name="f39" fmla="+- f6 0 f5"/>
                <a:gd name="f40" fmla="*/ f35 f0 1"/>
                <a:gd name="f41" fmla="*/ f39 1 31"/>
                <a:gd name="f42" fmla="*/ f38 1 39"/>
                <a:gd name="f43" fmla="*/ 23 f39 1"/>
                <a:gd name="f44" fmla="*/ 39 f38 1"/>
                <a:gd name="f45" fmla="*/ 17 f38 1"/>
                <a:gd name="f46" fmla="*/ 21 f39 1"/>
                <a:gd name="f47" fmla="*/ 9 f38 1"/>
                <a:gd name="f48" fmla="*/ 15 f39 1"/>
                <a:gd name="f49" fmla="*/ 7 f38 1"/>
                <a:gd name="f50" fmla="*/ 12 f39 1"/>
                <a:gd name="f51" fmla="*/ 9 f39 1"/>
                <a:gd name="f52" fmla="*/ 8 f39 1"/>
                <a:gd name="f53" fmla="*/ 12 f38 1"/>
                <a:gd name="f54" fmla="*/ 7 f39 1"/>
                <a:gd name="f55" fmla="*/ 16 f38 1"/>
                <a:gd name="f56" fmla="*/ 0 f39 1"/>
                <a:gd name="f57" fmla="*/ 0 f38 1"/>
                <a:gd name="f58" fmla="*/ 4 f38 1"/>
                <a:gd name="f59" fmla="*/ 2 f38 1"/>
                <a:gd name="f60" fmla="*/ 11 f39 1"/>
                <a:gd name="f61" fmla="*/ 1 f38 1"/>
                <a:gd name="f62" fmla="*/ 14 f39 1"/>
                <a:gd name="f63" fmla="*/ 17 f39 1"/>
                <a:gd name="f64" fmla="*/ 27 f39 1"/>
                <a:gd name="f65" fmla="*/ 30 f39 1"/>
                <a:gd name="f66" fmla="*/ 31 f39 1"/>
                <a:gd name="f67" fmla="*/ f40 1 f2"/>
                <a:gd name="f68" fmla="*/ f43 1 31"/>
                <a:gd name="f69" fmla="*/ f44 1 39"/>
                <a:gd name="f70" fmla="*/ f45 1 39"/>
                <a:gd name="f71" fmla="*/ f46 1 31"/>
                <a:gd name="f72" fmla="*/ f47 1 39"/>
                <a:gd name="f73" fmla="*/ f48 1 31"/>
                <a:gd name="f74" fmla="*/ f49 1 39"/>
                <a:gd name="f75" fmla="*/ f50 1 31"/>
                <a:gd name="f76" fmla="*/ f51 1 31"/>
                <a:gd name="f77" fmla="*/ f52 1 31"/>
                <a:gd name="f78" fmla="*/ f53 1 39"/>
                <a:gd name="f79" fmla="*/ f54 1 31"/>
                <a:gd name="f80" fmla="*/ f55 1 39"/>
                <a:gd name="f81" fmla="*/ f56 1 31"/>
                <a:gd name="f82" fmla="*/ f57 1 39"/>
                <a:gd name="f83" fmla="*/ f58 1 39"/>
                <a:gd name="f84" fmla="*/ f59 1 39"/>
                <a:gd name="f85" fmla="*/ f60 1 31"/>
                <a:gd name="f86" fmla="*/ f61 1 39"/>
                <a:gd name="f87" fmla="*/ f62 1 31"/>
                <a:gd name="f88" fmla="*/ f63 1 31"/>
                <a:gd name="f89" fmla="*/ f64 1 31"/>
                <a:gd name="f90" fmla="*/ f65 1 31"/>
                <a:gd name="f91" fmla="*/ f66 1 31"/>
                <a:gd name="f92" fmla="*/ 0 1 f41"/>
                <a:gd name="f93" fmla="*/ f6 1 f41"/>
                <a:gd name="f94" fmla="*/ 0 1 f42"/>
                <a:gd name="f95" fmla="*/ f7 1 f42"/>
                <a:gd name="f96" fmla="+- f67 0 f1"/>
                <a:gd name="f97" fmla="*/ f68 1 f41"/>
                <a:gd name="f98" fmla="*/ f69 1 f42"/>
                <a:gd name="f99" fmla="*/ f70 1 f42"/>
                <a:gd name="f100" fmla="*/ f71 1 f41"/>
                <a:gd name="f101" fmla="*/ f72 1 f42"/>
                <a:gd name="f102" fmla="*/ f73 1 f41"/>
                <a:gd name="f103" fmla="*/ f74 1 f42"/>
                <a:gd name="f104" fmla="*/ f75 1 f41"/>
                <a:gd name="f105" fmla="*/ f76 1 f41"/>
                <a:gd name="f106" fmla="*/ f77 1 f41"/>
                <a:gd name="f107" fmla="*/ f78 1 f42"/>
                <a:gd name="f108" fmla="*/ f79 1 f41"/>
                <a:gd name="f109" fmla="*/ f80 1 f42"/>
                <a:gd name="f110" fmla="*/ f81 1 f41"/>
                <a:gd name="f111" fmla="*/ f82 1 f42"/>
                <a:gd name="f112" fmla="*/ f83 1 f42"/>
                <a:gd name="f113" fmla="*/ f84 1 f42"/>
                <a:gd name="f114" fmla="*/ f85 1 f41"/>
                <a:gd name="f115" fmla="*/ f86 1 f42"/>
                <a:gd name="f116" fmla="*/ f87 1 f41"/>
                <a:gd name="f117" fmla="*/ f88 1 f41"/>
                <a:gd name="f118" fmla="*/ f89 1 f41"/>
                <a:gd name="f119" fmla="*/ f90 1 f41"/>
                <a:gd name="f120" fmla="*/ f91 1 f41"/>
                <a:gd name="f121" fmla="*/ f92 f36 1"/>
                <a:gd name="f122" fmla="*/ f93 f36 1"/>
                <a:gd name="f123" fmla="*/ f95 f37 1"/>
                <a:gd name="f124" fmla="*/ f94 f37 1"/>
                <a:gd name="f125" fmla="*/ f97 f36 1"/>
                <a:gd name="f126" fmla="*/ f98 f37 1"/>
                <a:gd name="f127" fmla="*/ f99 f37 1"/>
                <a:gd name="f128" fmla="*/ f100 f36 1"/>
                <a:gd name="f129" fmla="*/ f101 f37 1"/>
                <a:gd name="f130" fmla="*/ f102 f36 1"/>
                <a:gd name="f131" fmla="*/ f103 f37 1"/>
                <a:gd name="f132" fmla="*/ f104 f36 1"/>
                <a:gd name="f133" fmla="*/ f105 f36 1"/>
                <a:gd name="f134" fmla="*/ f106 f36 1"/>
                <a:gd name="f135" fmla="*/ f107 f37 1"/>
                <a:gd name="f136" fmla="*/ f108 f36 1"/>
                <a:gd name="f137" fmla="*/ f109 f37 1"/>
                <a:gd name="f138" fmla="*/ f110 f36 1"/>
                <a:gd name="f139" fmla="*/ f111 f37 1"/>
                <a:gd name="f140" fmla="*/ f112 f37 1"/>
                <a:gd name="f141" fmla="*/ f113 f37 1"/>
                <a:gd name="f142" fmla="*/ f114 f36 1"/>
                <a:gd name="f143" fmla="*/ f115 f37 1"/>
                <a:gd name="f144" fmla="*/ f116 f36 1"/>
                <a:gd name="f145" fmla="*/ f117 f36 1"/>
                <a:gd name="f146" fmla="*/ f118 f36 1"/>
                <a:gd name="f147" fmla="*/ f119 f36 1"/>
                <a:gd name="f148" fmla="*/ f120 f36 1"/>
              </a:gdLst>
              <a:ahLst/>
              <a:cxnLst>
                <a:cxn ang="3cd4">
                  <a:pos x="hc" y="t"/>
                </a:cxn>
                <a:cxn ang="0">
                  <a:pos x="r" y="vc"/>
                </a:cxn>
                <a:cxn ang="cd4">
                  <a:pos x="hc" y="b"/>
                </a:cxn>
                <a:cxn ang="cd2">
                  <a:pos x="l" y="vc"/>
                </a:cxn>
                <a:cxn ang="f96">
                  <a:pos x="f125" y="f126"/>
                </a:cxn>
                <a:cxn ang="f96">
                  <a:pos x="f125" y="f127"/>
                </a:cxn>
                <a:cxn ang="f96">
                  <a:pos x="f128" y="f129"/>
                </a:cxn>
                <a:cxn ang="f96">
                  <a:pos x="f130" y="f131"/>
                </a:cxn>
                <a:cxn ang="f96">
                  <a:pos x="f132" y="f131"/>
                </a:cxn>
                <a:cxn ang="f96">
                  <a:pos x="f133" y="f129"/>
                </a:cxn>
                <a:cxn ang="f96">
                  <a:pos x="f134" y="f135"/>
                </a:cxn>
                <a:cxn ang="f96">
                  <a:pos x="f136" y="f137"/>
                </a:cxn>
                <a:cxn ang="f96">
                  <a:pos x="f136" y="f126"/>
                </a:cxn>
                <a:cxn ang="f96">
                  <a:pos x="f138" y="f126"/>
                </a:cxn>
                <a:cxn ang="f96">
                  <a:pos x="f138" y="f139"/>
                </a:cxn>
                <a:cxn ang="f96">
                  <a:pos x="f136" y="f139"/>
                </a:cxn>
                <a:cxn ang="f96">
                  <a:pos x="f136" y="f140"/>
                </a:cxn>
                <a:cxn ang="f96">
                  <a:pos x="f133" y="f141"/>
                </a:cxn>
                <a:cxn ang="f96">
                  <a:pos x="f142" y="f143"/>
                </a:cxn>
                <a:cxn ang="f96">
                  <a:pos x="f144" y="f139"/>
                </a:cxn>
                <a:cxn ang="f96">
                  <a:pos x="f145" y="f139"/>
                </a:cxn>
                <a:cxn ang="f96">
                  <a:pos x="f125" y="f143"/>
                </a:cxn>
                <a:cxn ang="f96">
                  <a:pos x="f146" y="f140"/>
                </a:cxn>
                <a:cxn ang="f96">
                  <a:pos x="f147" y="f129"/>
                </a:cxn>
                <a:cxn ang="f96">
                  <a:pos x="f148" y="f127"/>
                </a:cxn>
                <a:cxn ang="f96">
                  <a:pos x="f148" y="f126"/>
                </a:cxn>
                <a:cxn ang="f96">
                  <a:pos x="f125" y="f126"/>
                </a:cxn>
              </a:cxnLst>
              <a:rect l="f121" t="f124" r="f122" b="f123"/>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13" y="f13"/>
                  </a:cubicBezTo>
                  <a:cubicBezTo>
                    <a:pt x="f13" y="f21"/>
                    <a:pt x="f20" y="f11"/>
                    <a:pt x="f20" y="f19"/>
                  </a:cubicBezTo>
                  <a:cubicBezTo>
                    <a:pt x="f20" y="f10"/>
                    <a:pt x="f15" y="f17"/>
                    <a:pt x="f15" y="f22"/>
                  </a:cubicBezTo>
                  <a:cubicBezTo>
                    <a:pt x="f15" y="f7"/>
                    <a:pt x="f15" y="f7"/>
                    <a:pt x="f15" y="f7"/>
                  </a:cubicBezTo>
                  <a:cubicBezTo>
                    <a:pt x="f5" y="f7"/>
                    <a:pt x="f5" y="f7"/>
                    <a:pt x="f5" y="f7"/>
                  </a:cubicBezTo>
                  <a:cubicBezTo>
                    <a:pt x="f5" y="f5"/>
                    <a:pt x="f5" y="f5"/>
                    <a:pt x="f5" y="f5"/>
                  </a:cubicBezTo>
                  <a:cubicBezTo>
                    <a:pt x="f15" y="f5"/>
                    <a:pt x="f15" y="f5"/>
                    <a:pt x="f15" y="f5"/>
                  </a:cubicBezTo>
                  <a:cubicBezTo>
                    <a:pt x="f15" y="f23"/>
                    <a:pt x="f15" y="f23"/>
                    <a:pt x="f15" y="f23"/>
                  </a:cubicBezTo>
                  <a:cubicBezTo>
                    <a:pt x="f20" y="f24"/>
                    <a:pt x="f20" y="f24"/>
                    <a:pt x="f13" y="f25"/>
                  </a:cubicBezTo>
                  <a:cubicBezTo>
                    <a:pt x="f21" y="f25"/>
                    <a:pt x="f11" y="f26"/>
                    <a:pt x="f11" y="f26"/>
                  </a:cubicBezTo>
                  <a:cubicBezTo>
                    <a:pt x="f19" y="f5"/>
                    <a:pt x="f18" y="f5"/>
                    <a:pt x="f10" y="f5"/>
                  </a:cubicBezTo>
                  <a:cubicBezTo>
                    <a:pt x="f17" y="f5"/>
                    <a:pt x="f22" y="f5"/>
                    <a:pt x="f9" y="f5"/>
                  </a:cubicBezTo>
                  <a:cubicBezTo>
                    <a:pt x="f27" y="f5"/>
                    <a:pt x="f12" y="f5"/>
                    <a:pt x="f8" y="f26"/>
                  </a:cubicBezTo>
                  <a:cubicBezTo>
                    <a:pt x="f28" y="f26"/>
                    <a:pt x="f29" y="f25"/>
                    <a:pt x="f30" y="f23"/>
                  </a:cubicBezTo>
                  <a:cubicBezTo>
                    <a:pt x="f31" y="f32"/>
                    <a:pt x="f33" y="f15"/>
                    <a:pt x="f34" y="f13"/>
                  </a:cubicBezTo>
                  <a:cubicBezTo>
                    <a:pt x="f34"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6" name="Freeform 28">
              <a:extLst>
                <a:ext uri="{FF2B5EF4-FFF2-40B4-BE49-F238E27FC236}">
                  <a16:creationId xmlns:a16="http://schemas.microsoft.com/office/drawing/2014/main" id="{D1EA1961-94AC-7B71-0E98-666622DA7788}"/>
                </a:ext>
              </a:extLst>
            </p:cNvPr>
            <p:cNvSpPr/>
            <p:nvPr/>
          </p:nvSpPr>
          <p:spPr>
            <a:xfrm>
              <a:off x="2444575" y="6159663"/>
              <a:ext cx="31373"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4 f21 1"/>
                <a:gd name="f30" fmla="*/ 2 f21 1"/>
                <a:gd name="f31" fmla="*/ 1 f21 1"/>
                <a:gd name="f32" fmla="*/ 0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19 1"/>
                <a:gd name="f73" fmla="*/ f51 f20 1"/>
                <a:gd name="f74" fmla="*/ f52 f20 1"/>
                <a:gd name="f75" fmla="*/ f54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2" y="f60"/>
                </a:cxn>
                <a:cxn ang="f45">
                  <a:pos x="f71" y="f73"/>
                </a:cxn>
                <a:cxn ang="f45">
                  <a:pos x="f70" y="f74"/>
                </a:cxn>
                <a:cxn ang="f45">
                  <a:pos x="f69" y="f75"/>
                </a:cxn>
                <a:cxn ang="f45">
                  <a:pos x="f67" y="f75"/>
                </a:cxn>
                <a:cxn ang="f45">
                  <a:pos x="f65" y="f75"/>
                </a:cxn>
                <a:cxn ang="f45">
                  <a:pos x="f63" y="f74"/>
                </a:cxn>
                <a:cxn ang="f45">
                  <a:pos x="f61" y="f73"/>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4" y="f9"/>
                  </a:cubicBezTo>
                  <a:cubicBezTo>
                    <a:pt x="f15" y="f9"/>
                    <a:pt x="f16" y="f12"/>
                    <a:pt x="f16" y="f12"/>
                  </a:cubicBezTo>
                  <a:cubicBezTo>
                    <a:pt x="f17" y="f11"/>
                    <a:pt x="f17" y="f11"/>
                    <a:pt x="f17" y="f10"/>
                  </a:cubicBezTo>
                  <a:cubicBezTo>
                    <a:pt x="f5" y="f8"/>
                    <a:pt x="f5" y="f8"/>
                    <a:pt x="f5" y="f7"/>
                  </a:cubicBezTo>
                  <a:cubicBezTo>
                    <a:pt x="f5" y="f13"/>
                    <a:pt x="f5" y="f14"/>
                    <a:pt x="f17" y="f14"/>
                  </a:cubicBezTo>
                  <a:cubicBezTo>
                    <a:pt x="f17" y="f15"/>
                    <a:pt x="f17" y="f16"/>
                    <a:pt x="f16" y="f16"/>
                  </a:cubicBezTo>
                  <a:cubicBezTo>
                    <a:pt x="f16" y="f17"/>
                    <a:pt x="f15" y="f17"/>
                    <a:pt x="f14"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7" name="Freeform 29">
              <a:extLst>
                <a:ext uri="{FF2B5EF4-FFF2-40B4-BE49-F238E27FC236}">
                  <a16:creationId xmlns:a16="http://schemas.microsoft.com/office/drawing/2014/main" id="{C2E44D64-47D6-D29E-EDFB-A171ED6F851C}"/>
                </a:ext>
              </a:extLst>
            </p:cNvPr>
            <p:cNvSpPr/>
            <p:nvPr/>
          </p:nvSpPr>
          <p:spPr>
            <a:xfrm>
              <a:off x="2538685" y="6056784"/>
              <a:ext cx="97593" cy="130777"/>
            </a:xfrm>
            <a:custGeom>
              <a:avLst/>
              <a:gdLst>
                <a:gd name="f0" fmla="val 10800000"/>
                <a:gd name="f1" fmla="val 5400000"/>
                <a:gd name="f2" fmla="val 180"/>
                <a:gd name="f3" fmla="val w"/>
                <a:gd name="f4" fmla="val h"/>
                <a:gd name="f5" fmla="val 0"/>
                <a:gd name="f6" fmla="val 56"/>
                <a:gd name="f7" fmla="val 75"/>
                <a:gd name="f8" fmla="val 34"/>
                <a:gd name="f9" fmla="val 11"/>
                <a:gd name="f10" fmla="val 22"/>
                <a:gd name="f11" fmla="+- 0 0 -90"/>
                <a:gd name="f12" fmla="*/ f3 1 56"/>
                <a:gd name="f13" fmla="*/ f4 1 75"/>
                <a:gd name="f14" fmla="+- f7 0 f5"/>
                <a:gd name="f15" fmla="+- f6 0 f5"/>
                <a:gd name="f16" fmla="*/ f11 f0 1"/>
                <a:gd name="f17" fmla="*/ f15 1 56"/>
                <a:gd name="f18" fmla="*/ f14 1 75"/>
                <a:gd name="f19" fmla="*/ 34 f15 1"/>
                <a:gd name="f20" fmla="*/ 11 f14 1"/>
                <a:gd name="f21" fmla="*/ 75 f14 1"/>
                <a:gd name="f22" fmla="*/ 22 f15 1"/>
                <a:gd name="f23" fmla="*/ 0 f15 1"/>
                <a:gd name="f24" fmla="*/ 0 f14 1"/>
                <a:gd name="f25" fmla="*/ 56 f15 1"/>
                <a:gd name="f26" fmla="*/ f16 1 f2"/>
                <a:gd name="f27" fmla="*/ f19 1 56"/>
                <a:gd name="f28" fmla="*/ f20 1 75"/>
                <a:gd name="f29" fmla="*/ f21 1 75"/>
                <a:gd name="f30" fmla="*/ f22 1 56"/>
                <a:gd name="f31" fmla="*/ f23 1 56"/>
                <a:gd name="f32" fmla="*/ f24 1 75"/>
                <a:gd name="f33" fmla="*/ f25 1 56"/>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6"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8" name="Freeform 30">
              <a:extLst>
                <a:ext uri="{FF2B5EF4-FFF2-40B4-BE49-F238E27FC236}">
                  <a16:creationId xmlns:a16="http://schemas.microsoft.com/office/drawing/2014/main" id="{80B450D3-1393-9F24-FABB-5ED8EB5D982C}"/>
                </a:ext>
              </a:extLst>
            </p:cNvPr>
            <p:cNvSpPr/>
            <p:nvPr/>
          </p:nvSpPr>
          <p:spPr>
            <a:xfrm>
              <a:off x="2650223" y="6049807"/>
              <a:ext cx="80165" cy="137754"/>
            </a:xfrm>
            <a:custGeom>
              <a:avLst/>
              <a:gdLst>
                <a:gd name="f0" fmla="val 10800000"/>
                <a:gd name="f1" fmla="val 5400000"/>
                <a:gd name="f2" fmla="val 180"/>
                <a:gd name="f3" fmla="val w"/>
                <a:gd name="f4" fmla="val h"/>
                <a:gd name="f5" fmla="val 0"/>
                <a:gd name="f6" fmla="val 31"/>
                <a:gd name="f7" fmla="val 54"/>
                <a:gd name="f8" fmla="val 24"/>
                <a:gd name="f9" fmla="val 32"/>
                <a:gd name="f10" fmla="val 28"/>
                <a:gd name="f11" fmla="val 23"/>
                <a:gd name="f12" fmla="val 26"/>
                <a:gd name="f13" fmla="val 22"/>
                <a:gd name="f14" fmla="val 21"/>
                <a:gd name="f15" fmla="val 19"/>
                <a:gd name="f16" fmla="val 16"/>
                <a:gd name="f17" fmla="val 15"/>
                <a:gd name="f18" fmla="val 14"/>
                <a:gd name="f19" fmla="val 13"/>
                <a:gd name="f20" fmla="val 12"/>
                <a:gd name="f21" fmla="val 11"/>
                <a:gd name="f22" fmla="val 10"/>
                <a:gd name="f23" fmla="val 9"/>
                <a:gd name="f24" fmla="val 25"/>
                <a:gd name="f25" fmla="val 8"/>
                <a:gd name="f26" fmla="val 27"/>
                <a:gd name="f27" fmla="val 30"/>
                <a:gd name="f28" fmla="val 4"/>
                <a:gd name="f29" fmla="val 18"/>
                <a:gd name="f30" fmla="val 17"/>
                <a:gd name="f31" fmla="val 20"/>
                <a:gd name="f32" fmla="val 29"/>
                <a:gd name="f33" fmla="+- 0 0 -90"/>
                <a:gd name="f34" fmla="*/ f3 1 31"/>
                <a:gd name="f35" fmla="*/ f4 1 54"/>
                <a:gd name="f36" fmla="+- f7 0 f5"/>
                <a:gd name="f37" fmla="+- f6 0 f5"/>
                <a:gd name="f38" fmla="*/ f33 f0 1"/>
                <a:gd name="f39" fmla="*/ f37 1 31"/>
                <a:gd name="f40" fmla="*/ f36 1 54"/>
                <a:gd name="f41" fmla="*/ 24 f37 1"/>
                <a:gd name="f42" fmla="*/ 54 f36 1"/>
                <a:gd name="f43" fmla="*/ 32 f36 1"/>
                <a:gd name="f44" fmla="*/ 22 f37 1"/>
                <a:gd name="f45" fmla="*/ 24 f36 1"/>
                <a:gd name="f46" fmla="*/ 16 f37 1"/>
                <a:gd name="f47" fmla="*/ 22 f36 1"/>
                <a:gd name="f48" fmla="*/ 13 f37 1"/>
                <a:gd name="f49" fmla="*/ 10 f37 1"/>
                <a:gd name="f50" fmla="*/ 8 f37 1"/>
                <a:gd name="f51" fmla="*/ 27 f36 1"/>
                <a:gd name="f52" fmla="*/ 31 f36 1"/>
                <a:gd name="f53" fmla="*/ 0 f37 1"/>
                <a:gd name="f54" fmla="*/ 4 f36 1"/>
                <a:gd name="f55" fmla="*/ 0 f36 1"/>
                <a:gd name="f56" fmla="*/ 19 f36 1"/>
                <a:gd name="f57" fmla="*/ 17 f36 1"/>
                <a:gd name="f58" fmla="*/ 12 f37 1"/>
                <a:gd name="f59" fmla="*/ 16 f36 1"/>
                <a:gd name="f60" fmla="*/ 15 f37 1"/>
                <a:gd name="f61" fmla="*/ 15 f36 1"/>
                <a:gd name="f62" fmla="*/ 18 f37 1"/>
                <a:gd name="f63" fmla="*/ 28 f37 1"/>
                <a:gd name="f64" fmla="*/ 30 f37 1"/>
                <a:gd name="f65" fmla="*/ 31 f37 1"/>
                <a:gd name="f66" fmla="*/ f38 1 f2"/>
                <a:gd name="f67" fmla="*/ f41 1 31"/>
                <a:gd name="f68" fmla="*/ f42 1 54"/>
                <a:gd name="f69" fmla="*/ f43 1 54"/>
                <a:gd name="f70" fmla="*/ f44 1 31"/>
                <a:gd name="f71" fmla="*/ f45 1 54"/>
                <a:gd name="f72" fmla="*/ f46 1 31"/>
                <a:gd name="f73" fmla="*/ f47 1 54"/>
                <a:gd name="f74" fmla="*/ f48 1 31"/>
                <a:gd name="f75" fmla="*/ f49 1 31"/>
                <a:gd name="f76" fmla="*/ f50 1 31"/>
                <a:gd name="f77" fmla="*/ f51 1 54"/>
                <a:gd name="f78" fmla="*/ f52 1 54"/>
                <a:gd name="f79" fmla="*/ f53 1 31"/>
                <a:gd name="f80" fmla="*/ f54 1 54"/>
                <a:gd name="f81" fmla="*/ f55 1 54"/>
                <a:gd name="f82" fmla="*/ f56 1 54"/>
                <a:gd name="f83" fmla="*/ f57 1 54"/>
                <a:gd name="f84" fmla="*/ f58 1 31"/>
                <a:gd name="f85" fmla="*/ f59 1 54"/>
                <a:gd name="f86" fmla="*/ f60 1 31"/>
                <a:gd name="f87" fmla="*/ f61 1 54"/>
                <a:gd name="f88" fmla="*/ f62 1 31"/>
                <a:gd name="f89" fmla="*/ f63 1 31"/>
                <a:gd name="f90" fmla="*/ f64 1 31"/>
                <a:gd name="f91" fmla="*/ f65 1 31"/>
                <a:gd name="f92" fmla="*/ 0 1 f39"/>
                <a:gd name="f93" fmla="*/ f6 1 f39"/>
                <a:gd name="f94" fmla="*/ 0 1 f40"/>
                <a:gd name="f95" fmla="*/ f7 1 f40"/>
                <a:gd name="f96" fmla="+- f66 0 f1"/>
                <a:gd name="f97" fmla="*/ f67 1 f39"/>
                <a:gd name="f98" fmla="*/ f68 1 f40"/>
                <a:gd name="f99" fmla="*/ f69 1 f40"/>
                <a:gd name="f100" fmla="*/ f70 1 f39"/>
                <a:gd name="f101" fmla="*/ f71 1 f40"/>
                <a:gd name="f102" fmla="*/ f72 1 f39"/>
                <a:gd name="f103" fmla="*/ f73 1 f40"/>
                <a:gd name="f104" fmla="*/ f74 1 f39"/>
                <a:gd name="f105" fmla="*/ f75 1 f39"/>
                <a:gd name="f106" fmla="*/ f76 1 f39"/>
                <a:gd name="f107" fmla="*/ f77 1 f40"/>
                <a:gd name="f108" fmla="*/ f78 1 f40"/>
                <a:gd name="f109" fmla="*/ f79 1 f39"/>
                <a:gd name="f110" fmla="*/ f80 1 f40"/>
                <a:gd name="f111" fmla="*/ f81 1 f40"/>
                <a:gd name="f112" fmla="*/ f82 1 f40"/>
                <a:gd name="f113" fmla="*/ f83 1 f40"/>
                <a:gd name="f114" fmla="*/ f84 1 f39"/>
                <a:gd name="f115" fmla="*/ f85 1 f40"/>
                <a:gd name="f116" fmla="*/ f86 1 f39"/>
                <a:gd name="f117" fmla="*/ f87 1 f40"/>
                <a:gd name="f118" fmla="*/ f88 1 f39"/>
                <a:gd name="f119" fmla="*/ f89 1 f39"/>
                <a:gd name="f120" fmla="*/ f90 1 f39"/>
                <a:gd name="f121" fmla="*/ f91 1 f39"/>
                <a:gd name="f122" fmla="*/ f92 f34 1"/>
                <a:gd name="f123" fmla="*/ f93 f34 1"/>
                <a:gd name="f124" fmla="*/ f95 f35 1"/>
                <a:gd name="f125" fmla="*/ f94 f35 1"/>
                <a:gd name="f126" fmla="*/ f97 f34 1"/>
                <a:gd name="f127" fmla="*/ f98 f35 1"/>
                <a:gd name="f128" fmla="*/ f99 f35 1"/>
                <a:gd name="f129" fmla="*/ f100 f34 1"/>
                <a:gd name="f130" fmla="*/ f101 f35 1"/>
                <a:gd name="f131" fmla="*/ f102 f34 1"/>
                <a:gd name="f132" fmla="*/ f103 f35 1"/>
                <a:gd name="f133" fmla="*/ f104 f34 1"/>
                <a:gd name="f134" fmla="*/ f105 f34 1"/>
                <a:gd name="f135" fmla="*/ f106 f34 1"/>
                <a:gd name="f136" fmla="*/ f107 f35 1"/>
                <a:gd name="f137" fmla="*/ f108 f35 1"/>
                <a:gd name="f138" fmla="*/ f109 f34 1"/>
                <a:gd name="f139" fmla="*/ f110 f35 1"/>
                <a:gd name="f140" fmla="*/ f111 f35 1"/>
                <a:gd name="f141" fmla="*/ f112 f35 1"/>
                <a:gd name="f142" fmla="*/ f113 f35 1"/>
                <a:gd name="f143" fmla="*/ f114 f34 1"/>
                <a:gd name="f144" fmla="*/ f115 f35 1"/>
                <a:gd name="f145" fmla="*/ f116 f34 1"/>
                <a:gd name="f146" fmla="*/ f117 f35 1"/>
                <a:gd name="f147" fmla="*/ f118 f34 1"/>
                <a:gd name="f148" fmla="*/ f119 f34 1"/>
                <a:gd name="f149" fmla="*/ f120 f34 1"/>
                <a:gd name="f150" fmla="*/ f121 f34 1"/>
              </a:gdLst>
              <a:ahLst/>
              <a:cxnLst>
                <a:cxn ang="3cd4">
                  <a:pos x="hc" y="t"/>
                </a:cxn>
                <a:cxn ang="0">
                  <a:pos x="r" y="vc"/>
                </a:cxn>
                <a:cxn ang="cd4">
                  <a:pos x="hc" y="b"/>
                </a:cxn>
                <a:cxn ang="cd2">
                  <a:pos x="l" y="vc"/>
                </a:cxn>
                <a:cxn ang="f96">
                  <a:pos x="f126" y="f127"/>
                </a:cxn>
                <a:cxn ang="f96">
                  <a:pos x="f126" y="f128"/>
                </a:cxn>
                <a:cxn ang="f96">
                  <a:pos x="f129" y="f130"/>
                </a:cxn>
                <a:cxn ang="f96">
                  <a:pos x="f131" y="f132"/>
                </a:cxn>
                <a:cxn ang="f96">
                  <a:pos x="f133" y="f132"/>
                </a:cxn>
                <a:cxn ang="f96">
                  <a:pos x="f134" y="f130"/>
                </a:cxn>
                <a:cxn ang="f96">
                  <a:pos x="f135" y="f136"/>
                </a:cxn>
                <a:cxn ang="f96">
                  <a:pos x="f135" y="f137"/>
                </a:cxn>
                <a:cxn ang="f96">
                  <a:pos x="f135" y="f127"/>
                </a:cxn>
                <a:cxn ang="f96">
                  <a:pos x="f138" y="f127"/>
                </a:cxn>
                <a:cxn ang="f96">
                  <a:pos x="f138" y="f139"/>
                </a:cxn>
                <a:cxn ang="f96">
                  <a:pos x="f135" y="f140"/>
                </a:cxn>
                <a:cxn ang="f96">
                  <a:pos x="f135" y="f141"/>
                </a:cxn>
                <a:cxn ang="f96">
                  <a:pos x="f134" y="f142"/>
                </a:cxn>
                <a:cxn ang="f96">
                  <a:pos x="f143" y="f144"/>
                </a:cxn>
                <a:cxn ang="f96">
                  <a:pos x="f145" y="f146"/>
                </a:cxn>
                <a:cxn ang="f96">
                  <a:pos x="f147" y="f146"/>
                </a:cxn>
                <a:cxn ang="f96">
                  <a:pos x="f126" y="f144"/>
                </a:cxn>
                <a:cxn ang="f96">
                  <a:pos x="f148" y="f141"/>
                </a:cxn>
                <a:cxn ang="f96">
                  <a:pos x="f149" y="f130"/>
                </a:cxn>
                <a:cxn ang="f96">
                  <a:pos x="f150" y="f128"/>
                </a:cxn>
                <a:cxn ang="f96">
                  <a:pos x="f150" y="f127"/>
                </a:cxn>
                <a:cxn ang="f96">
                  <a:pos x="f126" y="f127"/>
                </a:cxn>
              </a:cxnLst>
              <a:rect l="f122" t="f125" r="f123" b="f124"/>
              <a:pathLst>
                <a:path w="31" h="54">
                  <a:moveTo>
                    <a:pt x="f8" y="f7"/>
                  </a:moveTo>
                  <a:cubicBezTo>
                    <a:pt x="f8" y="f9"/>
                    <a:pt x="f8" y="f9"/>
                    <a:pt x="f8" y="f9"/>
                  </a:cubicBezTo>
                  <a:cubicBezTo>
                    <a:pt x="f8" y="f10"/>
                    <a:pt x="f11" y="f12"/>
                    <a:pt x="f13" y="f8"/>
                  </a:cubicBezTo>
                  <a:cubicBezTo>
                    <a:pt x="f14" y="f13"/>
                    <a:pt x="f15" y="f13"/>
                    <a:pt x="f16" y="f13"/>
                  </a:cubicBezTo>
                  <a:cubicBezTo>
                    <a:pt x="f17" y="f13"/>
                    <a:pt x="f18" y="f13"/>
                    <a:pt x="f19" y="f13"/>
                  </a:cubicBezTo>
                  <a:cubicBezTo>
                    <a:pt x="f20" y="f13"/>
                    <a:pt x="f21" y="f11"/>
                    <a:pt x="f22" y="f8"/>
                  </a:cubicBezTo>
                  <a:cubicBezTo>
                    <a:pt x="f23" y="f24"/>
                    <a:pt x="f23" y="f12"/>
                    <a:pt x="f25" y="f26"/>
                  </a:cubicBezTo>
                  <a:cubicBezTo>
                    <a:pt x="f25" y="f10"/>
                    <a:pt x="f25" y="f27"/>
                    <a:pt x="f25" y="f6"/>
                  </a:cubicBezTo>
                  <a:cubicBezTo>
                    <a:pt x="f25" y="f7"/>
                    <a:pt x="f25" y="f7"/>
                    <a:pt x="f25" y="f7"/>
                  </a:cubicBezTo>
                  <a:cubicBezTo>
                    <a:pt x="f5" y="f7"/>
                    <a:pt x="f5" y="f7"/>
                    <a:pt x="f5" y="f7"/>
                  </a:cubicBezTo>
                  <a:cubicBezTo>
                    <a:pt x="f5" y="f28"/>
                    <a:pt x="f5" y="f28"/>
                    <a:pt x="f5" y="f28"/>
                  </a:cubicBezTo>
                  <a:cubicBezTo>
                    <a:pt x="f25" y="f5"/>
                    <a:pt x="f25" y="f5"/>
                    <a:pt x="f25" y="f5"/>
                  </a:cubicBezTo>
                  <a:cubicBezTo>
                    <a:pt x="f25" y="f15"/>
                    <a:pt x="f25" y="f15"/>
                    <a:pt x="f25" y="f15"/>
                  </a:cubicBezTo>
                  <a:cubicBezTo>
                    <a:pt x="f25" y="f29"/>
                    <a:pt x="f23" y="f29"/>
                    <a:pt x="f22" y="f30"/>
                  </a:cubicBezTo>
                  <a:cubicBezTo>
                    <a:pt x="f22" y="f30"/>
                    <a:pt x="f21" y="f16"/>
                    <a:pt x="f20" y="f16"/>
                  </a:cubicBezTo>
                  <a:cubicBezTo>
                    <a:pt x="f19" y="f17"/>
                    <a:pt x="f18" y="f17"/>
                    <a:pt x="f17" y="f17"/>
                  </a:cubicBezTo>
                  <a:cubicBezTo>
                    <a:pt x="f16" y="f17"/>
                    <a:pt x="f30" y="f17"/>
                    <a:pt x="f29" y="f17"/>
                  </a:cubicBezTo>
                  <a:cubicBezTo>
                    <a:pt x="f31" y="f17"/>
                    <a:pt x="f13" y="f17"/>
                    <a:pt x="f8" y="f16"/>
                  </a:cubicBezTo>
                  <a:cubicBezTo>
                    <a:pt x="f24" y="f16"/>
                    <a:pt x="f26" y="f30"/>
                    <a:pt x="f10" y="f15"/>
                  </a:cubicBezTo>
                  <a:cubicBezTo>
                    <a:pt x="f32" y="f31"/>
                    <a:pt x="f27" y="f13"/>
                    <a:pt x="f27" y="f8"/>
                  </a:cubicBezTo>
                  <a:cubicBezTo>
                    <a:pt x="f6" y="f26"/>
                    <a:pt x="f6" y="f32"/>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9" name="Freeform 31">
              <a:extLst>
                <a:ext uri="{FF2B5EF4-FFF2-40B4-BE49-F238E27FC236}">
                  <a16:creationId xmlns:a16="http://schemas.microsoft.com/office/drawing/2014/main" id="{D4638CC3-ED65-D975-3279-B48E906FC7AD}"/>
                </a:ext>
              </a:extLst>
            </p:cNvPr>
            <p:cNvSpPr/>
            <p:nvPr/>
          </p:nvSpPr>
          <p:spPr>
            <a:xfrm>
              <a:off x="2749564"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24"/>
                <a:gd name="f14" fmla="val 8"/>
                <a:gd name="f15" fmla="val 26"/>
                <a:gd name="f16" fmla="val 27"/>
                <a:gd name="f17" fmla="val 9"/>
                <a:gd name="f18" fmla="val 28"/>
                <a:gd name="f19" fmla="val 10"/>
                <a:gd name="f20" fmla="val 29"/>
                <a:gd name="f21" fmla="val 11"/>
                <a:gd name="f22" fmla="val 30"/>
                <a:gd name="f23" fmla="val 31"/>
                <a:gd name="f24" fmla="val 12"/>
                <a:gd name="f25" fmla="val 32"/>
                <a:gd name="f26" fmla="val 13"/>
                <a:gd name="f27" fmla="val 15"/>
                <a:gd name="f28" fmla="val 16"/>
                <a:gd name="f29" fmla="val 17"/>
                <a:gd name="f30" fmla="val 18"/>
                <a:gd name="f31" fmla="val 23"/>
                <a:gd name="f32" fmla="val 25"/>
                <a:gd name="f33" fmla="val 35"/>
                <a:gd name="f34" fmla="val 36"/>
                <a:gd name="f35" fmla="val 37"/>
                <a:gd name="f36" fmla="val 38"/>
                <a:gd name="f37" fmla="val 39"/>
                <a:gd name="f38" fmla="val 6"/>
                <a:gd name="f39" fmla="val 5"/>
                <a:gd name="f40" fmla="val 34"/>
                <a:gd name="f41" fmla="val 4"/>
                <a:gd name="f42" fmla="val 3"/>
                <a:gd name="f43" fmla="val 2"/>
                <a:gd name="f44" fmla="val 1"/>
                <a:gd name="f45" fmla="val 14"/>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8 f50 1"/>
                <a:gd name="f60" fmla="*/ 27 f49 1"/>
                <a:gd name="f61" fmla="*/ 11 f50 1"/>
                <a:gd name="f62" fmla="*/ 30 f49 1"/>
                <a:gd name="f63" fmla="*/ 13 f50 1"/>
                <a:gd name="f64" fmla="*/ 32 f49 1"/>
                <a:gd name="f65" fmla="*/ 17 f50 1"/>
                <a:gd name="f66" fmla="*/ 33 f49 1"/>
                <a:gd name="f67" fmla="*/ 19 f50 1"/>
                <a:gd name="f68" fmla="*/ 21 f50 1"/>
                <a:gd name="f69" fmla="*/ 23 f50 1"/>
                <a:gd name="f70" fmla="*/ 31 f49 1"/>
                <a:gd name="f71" fmla="*/ 25 f50 1"/>
                <a:gd name="f72" fmla="*/ 30 f50 1"/>
                <a:gd name="f73" fmla="*/ 35 f49 1"/>
                <a:gd name="f74" fmla="*/ 27 f50 1"/>
                <a:gd name="f75" fmla="*/ 37 f49 1"/>
                <a:gd name="f76" fmla="*/ 24 f50 1"/>
                <a:gd name="f77" fmla="*/ 38 f49 1"/>
                <a:gd name="f78" fmla="*/ 39 f49 1"/>
                <a:gd name="f79" fmla="*/ 16 f50 1"/>
                <a:gd name="f80" fmla="*/ 40 f49 1"/>
                <a:gd name="f81" fmla="*/ 12 f50 1"/>
                <a:gd name="f82" fmla="*/ 5 f50 1"/>
                <a:gd name="f83" fmla="*/ 34 f49 1"/>
                <a:gd name="f84" fmla="*/ 2 f50 1"/>
                <a:gd name="f85" fmla="*/ 0 f50 1"/>
                <a:gd name="f86" fmla="*/ 26 f49 1"/>
                <a:gd name="f87" fmla="*/ 20 f49 1"/>
                <a:gd name="f88" fmla="*/ 1 f50 1"/>
                <a:gd name="f89" fmla="*/ 11 f49 1"/>
                <a:gd name="f90" fmla="*/ 4 f50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6 f49 1"/>
                <a:gd name="f103" fmla="*/ f51 1 f2"/>
                <a:gd name="f104" fmla="*/ f54 1 33"/>
                <a:gd name="f105" fmla="*/ f55 1 40"/>
                <a:gd name="f106" fmla="*/ f56 1 40"/>
                <a:gd name="f107" fmla="*/ f57 1 40"/>
                <a:gd name="f108" fmla="*/ f58 1 33"/>
                <a:gd name="f109" fmla="*/ f59 1 33"/>
                <a:gd name="f110" fmla="*/ f60 1 40"/>
                <a:gd name="f111" fmla="*/ f61 1 33"/>
                <a:gd name="f112" fmla="*/ f62 1 40"/>
                <a:gd name="f113" fmla="*/ f63 1 33"/>
                <a:gd name="f114" fmla="*/ f64 1 40"/>
                <a:gd name="f115" fmla="*/ f65 1 33"/>
                <a:gd name="f116" fmla="*/ f66 1 40"/>
                <a:gd name="f117" fmla="*/ f67 1 33"/>
                <a:gd name="f118" fmla="*/ f68 1 33"/>
                <a:gd name="f119" fmla="*/ f69 1 33"/>
                <a:gd name="f120" fmla="*/ f70 1 40"/>
                <a:gd name="f121" fmla="*/ f71 1 33"/>
                <a:gd name="f122" fmla="*/ f72 1 33"/>
                <a:gd name="f123" fmla="*/ f73 1 40"/>
                <a:gd name="f124" fmla="*/ f74 1 33"/>
                <a:gd name="f125" fmla="*/ f75 1 40"/>
                <a:gd name="f126" fmla="*/ f76 1 33"/>
                <a:gd name="f127" fmla="*/ f77 1 40"/>
                <a:gd name="f128" fmla="*/ f78 1 40"/>
                <a:gd name="f129" fmla="*/ f79 1 33"/>
                <a:gd name="f130" fmla="*/ f80 1 40"/>
                <a:gd name="f131" fmla="*/ f81 1 33"/>
                <a:gd name="f132" fmla="*/ f82 1 33"/>
                <a:gd name="f133" fmla="*/ f83 1 40"/>
                <a:gd name="f134" fmla="*/ f84 1 33"/>
                <a:gd name="f135" fmla="*/ f85 1 33"/>
                <a:gd name="f136" fmla="*/ f86 1 40"/>
                <a:gd name="f137" fmla="*/ f87 1 40"/>
                <a:gd name="f138" fmla="*/ f88 1 33"/>
                <a:gd name="f139" fmla="*/ f89 1 40"/>
                <a:gd name="f140" fmla="*/ f90 1 33"/>
                <a:gd name="f141" fmla="*/ f91 1 40"/>
                <a:gd name="f142" fmla="*/ f92 1 33"/>
                <a:gd name="f143" fmla="*/ f93 1 40"/>
                <a:gd name="f144" fmla="*/ f94 1 40"/>
                <a:gd name="f145" fmla="*/ f95 1 33"/>
                <a:gd name="f146" fmla="*/ f96 1 33"/>
                <a:gd name="f147" fmla="*/ f97 1 40"/>
                <a:gd name="f148" fmla="*/ f98 1 40"/>
                <a:gd name="f149" fmla="*/ f99 1 40"/>
                <a:gd name="f150" fmla="*/ f100 1 33"/>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3"/>
                <a:gd name="f162" fmla="*/ f108 1 f52"/>
                <a:gd name="f163" fmla="*/ f109 1 f52"/>
                <a:gd name="f164" fmla="*/ f110 1 f53"/>
                <a:gd name="f165" fmla="*/ f111 1 f52"/>
                <a:gd name="f166" fmla="*/ f112 1 f53"/>
                <a:gd name="f167" fmla="*/ f113 1 f52"/>
                <a:gd name="f168" fmla="*/ f114 1 f53"/>
                <a:gd name="f169" fmla="*/ f115 1 f52"/>
                <a:gd name="f170" fmla="*/ f116 1 f53"/>
                <a:gd name="f171" fmla="*/ f117 1 f52"/>
                <a:gd name="f172" fmla="*/ f118 1 f52"/>
                <a:gd name="f173" fmla="*/ f119 1 f52"/>
                <a:gd name="f174" fmla="*/ f120 1 f53"/>
                <a:gd name="f175" fmla="*/ f121 1 f52"/>
                <a:gd name="f176" fmla="*/ f122 1 f52"/>
                <a:gd name="f177" fmla="*/ f123 1 f53"/>
                <a:gd name="f178" fmla="*/ f124 1 f52"/>
                <a:gd name="f179" fmla="*/ f125 1 f53"/>
                <a:gd name="f180" fmla="*/ f126 1 f52"/>
                <a:gd name="f181" fmla="*/ f127 1 f53"/>
                <a:gd name="f182" fmla="*/ f128 1 f53"/>
                <a:gd name="f183" fmla="*/ f129 1 f52"/>
                <a:gd name="f184" fmla="*/ f130 1 f53"/>
                <a:gd name="f185" fmla="*/ f131 1 f52"/>
                <a:gd name="f186" fmla="*/ f132 1 f52"/>
                <a:gd name="f187" fmla="*/ f133 1 f53"/>
                <a:gd name="f188" fmla="*/ f134 1 f52"/>
                <a:gd name="f189" fmla="*/ f135 1 f52"/>
                <a:gd name="f190" fmla="*/ f136 1 f53"/>
                <a:gd name="f191" fmla="*/ f137 1 f53"/>
                <a:gd name="f192" fmla="*/ f138 1 f52"/>
                <a:gd name="f193" fmla="*/ f139 1 f53"/>
                <a:gd name="f194" fmla="*/ f140 1 f52"/>
                <a:gd name="f195" fmla="*/ f141 1 f53"/>
                <a:gd name="f196" fmla="*/ f142 1 f52"/>
                <a:gd name="f197" fmla="*/ f143 1 f53"/>
                <a:gd name="f198" fmla="*/ f144 1 f53"/>
                <a:gd name="f199" fmla="*/ f145 1 f52"/>
                <a:gd name="f200" fmla="*/ f146 1 f52"/>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8 1"/>
                <a:gd name="f215" fmla="*/ f162 f47 1"/>
                <a:gd name="f216" fmla="*/ f163 f47 1"/>
                <a:gd name="f217" fmla="*/ f164 f48 1"/>
                <a:gd name="f218" fmla="*/ f165 f47 1"/>
                <a:gd name="f219" fmla="*/ f166 f48 1"/>
                <a:gd name="f220" fmla="*/ f167 f47 1"/>
                <a:gd name="f221" fmla="*/ f168 f48 1"/>
                <a:gd name="f222" fmla="*/ f169 f47 1"/>
                <a:gd name="f223" fmla="*/ f170 f48 1"/>
                <a:gd name="f224" fmla="*/ f171 f47 1"/>
                <a:gd name="f225" fmla="*/ f172 f47 1"/>
                <a:gd name="f226" fmla="*/ f173 f47 1"/>
                <a:gd name="f227" fmla="*/ f174 f48 1"/>
                <a:gd name="f228" fmla="*/ f175 f47 1"/>
                <a:gd name="f229" fmla="*/ f176 f47 1"/>
                <a:gd name="f230" fmla="*/ f177 f48 1"/>
                <a:gd name="f231" fmla="*/ f178 f47 1"/>
                <a:gd name="f232" fmla="*/ f179 f48 1"/>
                <a:gd name="f233" fmla="*/ f180 f47 1"/>
                <a:gd name="f234" fmla="*/ f181 f48 1"/>
                <a:gd name="f235" fmla="*/ f182 f48 1"/>
                <a:gd name="f236" fmla="*/ f183 f47 1"/>
                <a:gd name="f237" fmla="*/ f184 f48 1"/>
                <a:gd name="f238" fmla="*/ f185 f47 1"/>
                <a:gd name="f239" fmla="*/ f186 f47 1"/>
                <a:gd name="f240" fmla="*/ f187 f48 1"/>
                <a:gd name="f241" fmla="*/ f188 f47 1"/>
                <a:gd name="f242" fmla="*/ f189 f47 1"/>
                <a:gd name="f243" fmla="*/ f190 f48 1"/>
                <a:gd name="f244" fmla="*/ f191 f48 1"/>
                <a:gd name="f245" fmla="*/ f192 f47 1"/>
                <a:gd name="f246" fmla="*/ f193 f48 1"/>
                <a:gd name="f247" fmla="*/ f194 f47 1"/>
                <a:gd name="f248" fmla="*/ f195 f48 1"/>
                <a:gd name="f249" fmla="*/ f196 f47 1"/>
                <a:gd name="f250" fmla="*/ f197 f48 1"/>
                <a:gd name="f251" fmla="*/ f198 f48 1"/>
                <a:gd name="f252" fmla="*/ f199 f47 1"/>
                <a:gd name="f253" fmla="*/ f200 f47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1" y="f214"/>
                </a:cxn>
                <a:cxn ang="f157">
                  <a:pos x="f215" y="f214"/>
                </a:cxn>
                <a:cxn ang="f157">
                  <a:pos x="f216" y="f217"/>
                </a:cxn>
                <a:cxn ang="f157">
                  <a:pos x="f218" y="f219"/>
                </a:cxn>
                <a:cxn ang="f157">
                  <a:pos x="f220" y="f221"/>
                </a:cxn>
                <a:cxn ang="f157">
                  <a:pos x="f222" y="f223"/>
                </a:cxn>
                <a:cxn ang="f157">
                  <a:pos x="f224" y="f223"/>
                </a:cxn>
                <a:cxn ang="f157">
                  <a:pos x="f225" y="f221"/>
                </a:cxn>
                <a:cxn ang="f157">
                  <a:pos x="f226" y="f227"/>
                </a:cxn>
                <a:cxn ang="f157">
                  <a:pos x="f228" y="f219"/>
                </a:cxn>
                <a:cxn ang="f157">
                  <a:pos x="f229" y="f230"/>
                </a:cxn>
                <a:cxn ang="f157">
                  <a:pos x="f231" y="f232"/>
                </a:cxn>
                <a:cxn ang="f157">
                  <a:pos x="f233" y="f234"/>
                </a:cxn>
                <a:cxn ang="f157">
                  <a:pos x="f225" y="f235"/>
                </a:cxn>
                <a:cxn ang="f157">
                  <a:pos x="f236" y="f237"/>
                </a:cxn>
                <a:cxn ang="f157">
                  <a:pos x="f238" y="f235"/>
                </a:cxn>
                <a:cxn ang="f157">
                  <a:pos x="f216" y="f232"/>
                </a:cxn>
                <a:cxn ang="f157">
                  <a:pos x="f239" y="f240"/>
                </a:cxn>
                <a:cxn ang="f157">
                  <a:pos x="f241" y="f227"/>
                </a:cxn>
                <a:cxn ang="f157">
                  <a:pos x="f242" y="f243"/>
                </a:cxn>
                <a:cxn ang="f157">
                  <a:pos x="f242" y="f244"/>
                </a:cxn>
                <a:cxn ang="f157">
                  <a:pos x="f245" y="f246"/>
                </a:cxn>
                <a:cxn ang="f157">
                  <a:pos x="f247" y="f248"/>
                </a:cxn>
                <a:cxn ang="f157">
                  <a:pos x="f249" y="f250"/>
                </a:cxn>
                <a:cxn ang="f157">
                  <a:pos x="f222" y="f251"/>
                </a:cxn>
                <a:cxn ang="f157">
                  <a:pos x="f233" y="f250"/>
                </a:cxn>
                <a:cxn ang="f157">
                  <a:pos x="f252" y="f248"/>
                </a:cxn>
                <a:cxn ang="f157">
                  <a:pos x="f253" y="f246"/>
                </a:cxn>
                <a:cxn ang="f157">
                  <a:pos x="f211" y="f212"/>
                </a:cxn>
                <a:cxn ang="f157">
                  <a:pos x="f228" y="f254"/>
                </a:cxn>
                <a:cxn ang="f157">
                  <a:pos x="f233" y="f255"/>
                </a:cxn>
                <a:cxn ang="f157">
                  <a:pos x="f226" y="f256"/>
                </a:cxn>
                <a:cxn ang="f157">
                  <a:pos x="f257" y="f258"/>
                </a:cxn>
                <a:cxn ang="f157">
                  <a:pos x="f236" y="f259"/>
                </a:cxn>
                <a:cxn ang="f157">
                  <a:pos x="f220" y="f258"/>
                </a:cxn>
                <a:cxn ang="f157">
                  <a:pos x="f249" y="f256"/>
                </a:cxn>
                <a:cxn ang="f157">
                  <a:pos x="f216" y="f255"/>
                </a:cxn>
                <a:cxn ang="f157">
                  <a:pos x="f215" y="f254"/>
                </a:cxn>
                <a:cxn ang="f157">
                  <a:pos x="f228" y="f254"/>
                </a:cxn>
              </a:cxnLst>
              <a:rect l="f207" t="f210" r="f208" b="f209"/>
              <a:pathLst>
                <a:path w="33" h="40">
                  <a:moveTo>
                    <a:pt x="f6" y="f8"/>
                  </a:moveTo>
                  <a:cubicBezTo>
                    <a:pt x="f6" y="f8"/>
                    <a:pt x="f6" y="f9"/>
                    <a:pt x="f6" y="f10"/>
                  </a:cubicBezTo>
                  <a:cubicBezTo>
                    <a:pt x="f6" y="f10"/>
                    <a:pt x="f6" y="f11"/>
                    <a:pt x="f6" y="f11"/>
                  </a:cubicBezTo>
                  <a:cubicBezTo>
                    <a:pt x="f12" y="f11"/>
                    <a:pt x="f12" y="f11"/>
                    <a:pt x="f12" y="f11"/>
                  </a:cubicBezTo>
                  <a:cubicBezTo>
                    <a:pt x="f12" y="f13"/>
                    <a:pt x="f14" y="f15"/>
                    <a:pt x="f14" y="f16"/>
                  </a:cubicBezTo>
                  <a:cubicBezTo>
                    <a:pt x="f17" y="f18"/>
                    <a:pt x="f19" y="f20"/>
                    <a:pt x="f21" y="f22"/>
                  </a:cubicBezTo>
                  <a:cubicBezTo>
                    <a:pt x="f21" y="f23"/>
                    <a:pt x="f24" y="f25"/>
                    <a:pt x="f26" y="f25"/>
                  </a:cubicBezTo>
                  <a:cubicBezTo>
                    <a:pt x="f27" y="f6"/>
                    <a:pt x="f28" y="f6"/>
                    <a:pt x="f29" y="f6"/>
                  </a:cubicBezTo>
                  <a:cubicBezTo>
                    <a:pt x="f30" y="f6"/>
                    <a:pt x="f30" y="f6"/>
                    <a:pt x="f8" y="f6"/>
                  </a:cubicBezTo>
                  <a:cubicBezTo>
                    <a:pt x="f9" y="f25"/>
                    <a:pt x="f10" y="f25"/>
                    <a:pt x="f10" y="f25"/>
                  </a:cubicBezTo>
                  <a:cubicBezTo>
                    <a:pt x="f11" y="f25"/>
                    <a:pt x="f31" y="f23"/>
                    <a:pt x="f31" y="f23"/>
                  </a:cubicBezTo>
                  <a:cubicBezTo>
                    <a:pt x="f13" y="f23"/>
                    <a:pt x="f13" y="f22"/>
                    <a:pt x="f32" y="f22"/>
                  </a:cubicBezTo>
                  <a:cubicBezTo>
                    <a:pt x="f22" y="f33"/>
                    <a:pt x="f22" y="f33"/>
                    <a:pt x="f22" y="f33"/>
                  </a:cubicBezTo>
                  <a:cubicBezTo>
                    <a:pt x="f20" y="f33"/>
                    <a:pt x="f18" y="f34"/>
                    <a:pt x="f16" y="f35"/>
                  </a:cubicBezTo>
                  <a:cubicBezTo>
                    <a:pt x="f15" y="f35"/>
                    <a:pt x="f32" y="f36"/>
                    <a:pt x="f13" y="f36"/>
                  </a:cubicBezTo>
                  <a:cubicBezTo>
                    <a:pt x="f31" y="f37"/>
                    <a:pt x="f11" y="f37"/>
                    <a:pt x="f10" y="f37"/>
                  </a:cubicBezTo>
                  <a:cubicBezTo>
                    <a:pt x="f8" y="f37"/>
                    <a:pt x="f30" y="f7"/>
                    <a:pt x="f28" y="f7"/>
                  </a:cubicBezTo>
                  <a:cubicBezTo>
                    <a:pt x="f27" y="f7"/>
                    <a:pt x="f26" y="f37"/>
                    <a:pt x="f24" y="f37"/>
                  </a:cubicBezTo>
                  <a:cubicBezTo>
                    <a:pt x="f19" y="f36"/>
                    <a:pt x="f17" y="f36"/>
                    <a:pt x="f14" y="f35"/>
                  </a:cubicBezTo>
                  <a:cubicBezTo>
                    <a:pt x="f12" y="f34"/>
                    <a:pt x="f38" y="f33"/>
                    <a:pt x="f39" y="f40"/>
                  </a:cubicBezTo>
                  <a:cubicBezTo>
                    <a:pt x="f41" y="f40"/>
                    <a:pt x="f42" y="f25"/>
                    <a:pt x="f43" y="f23"/>
                  </a:cubicBezTo>
                  <a:cubicBezTo>
                    <a:pt x="f44" y="f20"/>
                    <a:pt x="f44" y="f18"/>
                    <a:pt x="f5" y="f15"/>
                  </a:cubicBezTo>
                  <a:cubicBezTo>
                    <a:pt x="f5" y="f13"/>
                    <a:pt x="f5" y="f11"/>
                    <a:pt x="f5" y="f9"/>
                  </a:cubicBezTo>
                  <a:cubicBezTo>
                    <a:pt x="f5" y="f28"/>
                    <a:pt x="f5" y="f26"/>
                    <a:pt x="f44" y="f21"/>
                  </a:cubicBezTo>
                  <a:cubicBezTo>
                    <a:pt x="f43" y="f14"/>
                    <a:pt x="f42" y="f38"/>
                    <a:pt x="f41" y="f39"/>
                  </a:cubicBezTo>
                  <a:cubicBezTo>
                    <a:pt x="f38" y="f42"/>
                    <a:pt x="f14" y="f43"/>
                    <a:pt x="f19" y="f44"/>
                  </a:cubicBezTo>
                  <a:cubicBezTo>
                    <a:pt x="f24" y="f5"/>
                    <a:pt x="f45" y="f5"/>
                    <a:pt x="f29" y="f5"/>
                  </a:cubicBezTo>
                  <a:cubicBezTo>
                    <a:pt x="f8" y="f5"/>
                    <a:pt x="f11" y="f5"/>
                    <a:pt x="f13" y="f44"/>
                  </a:cubicBezTo>
                  <a:cubicBezTo>
                    <a:pt x="f15" y="f43"/>
                    <a:pt x="f16" y="f41"/>
                    <a:pt x="f20" y="f39"/>
                  </a:cubicBezTo>
                  <a:cubicBezTo>
                    <a:pt x="f22" y="f12"/>
                    <a:pt x="f23" y="f17"/>
                    <a:pt x="f25" y="f21"/>
                  </a:cubicBezTo>
                  <a:cubicBezTo>
                    <a:pt x="f25" y="f45"/>
                    <a:pt x="f6" y="f28"/>
                    <a:pt x="f6" y="f8"/>
                  </a:cubicBezTo>
                  <a:close/>
                  <a:moveTo>
                    <a:pt x="f32" y="f28"/>
                  </a:moveTo>
                  <a:cubicBezTo>
                    <a:pt x="f32" y="f27"/>
                    <a:pt x="f32" y="f26"/>
                    <a:pt x="f13" y="f24"/>
                  </a:cubicBezTo>
                  <a:cubicBezTo>
                    <a:pt x="f13" y="f21"/>
                    <a:pt x="f13" y="f19"/>
                    <a:pt x="f31" y="f17"/>
                  </a:cubicBezTo>
                  <a:cubicBezTo>
                    <a:pt x="f11" y="f14"/>
                    <a:pt x="f10" y="f14"/>
                    <a:pt x="f9" y="f12"/>
                  </a:cubicBezTo>
                  <a:cubicBezTo>
                    <a:pt x="f8" y="f12"/>
                    <a:pt x="f30" y="f38"/>
                    <a:pt x="f28" y="f38"/>
                  </a:cubicBezTo>
                  <a:cubicBezTo>
                    <a:pt x="f27" y="f38"/>
                    <a:pt x="f45" y="f12"/>
                    <a:pt x="f26" y="f12"/>
                  </a:cubicBezTo>
                  <a:cubicBezTo>
                    <a:pt x="f24" y="f12"/>
                    <a:pt x="f21" y="f14"/>
                    <a:pt x="f19" y="f17"/>
                  </a:cubicBezTo>
                  <a:cubicBezTo>
                    <a:pt x="f17" y="f19"/>
                    <a:pt x="f17" y="f21"/>
                    <a:pt x="f14" y="f24"/>
                  </a:cubicBezTo>
                  <a:cubicBezTo>
                    <a:pt x="f14" y="f26"/>
                    <a:pt x="f12" y="f45"/>
                    <a:pt x="f12"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0" name="Freeform 32">
              <a:extLst>
                <a:ext uri="{FF2B5EF4-FFF2-40B4-BE49-F238E27FC236}">
                  <a16:creationId xmlns:a16="http://schemas.microsoft.com/office/drawing/2014/main" id="{2C99C85B-E99A-4B7A-9A9A-3B20E3F8BFA9}"/>
                </a:ext>
              </a:extLst>
            </p:cNvPr>
            <p:cNvSpPr/>
            <p:nvPr/>
          </p:nvSpPr>
          <p:spPr>
            <a:xfrm>
              <a:off x="2901190" y="6049807"/>
              <a:ext cx="80165" cy="139500"/>
            </a:xfrm>
            <a:custGeom>
              <a:avLst/>
              <a:gdLst>
                <a:gd name="f0" fmla="val 10800000"/>
                <a:gd name="f1" fmla="val 5400000"/>
                <a:gd name="f2" fmla="val 180"/>
                <a:gd name="f3" fmla="val w"/>
                <a:gd name="f4" fmla="val h"/>
                <a:gd name="f5" fmla="val 0"/>
                <a:gd name="f6" fmla="val 32"/>
                <a:gd name="f7" fmla="val 55"/>
                <a:gd name="f8" fmla="val 35"/>
                <a:gd name="f9" fmla="val 38"/>
                <a:gd name="f10" fmla="val 41"/>
                <a:gd name="f11" fmla="val 31"/>
                <a:gd name="f12" fmla="val 44"/>
                <a:gd name="f13" fmla="val 30"/>
                <a:gd name="f14" fmla="val 46"/>
                <a:gd name="f15" fmla="val 29"/>
                <a:gd name="f16" fmla="val 48"/>
                <a:gd name="f17" fmla="val 28"/>
                <a:gd name="f18" fmla="val 50"/>
                <a:gd name="f19" fmla="val 26"/>
                <a:gd name="f20" fmla="val 51"/>
                <a:gd name="f21" fmla="val 25"/>
                <a:gd name="f22" fmla="val 53"/>
                <a:gd name="f23" fmla="val 23"/>
                <a:gd name="f24" fmla="val 21"/>
                <a:gd name="f25" fmla="val 54"/>
                <a:gd name="f26" fmla="val 19"/>
                <a:gd name="f27" fmla="val 17"/>
                <a:gd name="f28" fmla="val 15"/>
                <a:gd name="f29" fmla="val 13"/>
                <a:gd name="f30" fmla="val 12"/>
                <a:gd name="f31" fmla="val 10"/>
                <a:gd name="f32" fmla="val 52"/>
                <a:gd name="f33" fmla="val 9"/>
                <a:gd name="f34" fmla="val 7"/>
                <a:gd name="f35" fmla="val 4"/>
                <a:gd name="f36" fmla="val 8"/>
                <a:gd name="f37" fmla="val 18"/>
                <a:gd name="f38" fmla="val 11"/>
                <a:gd name="f39" fmla="val 16"/>
                <a:gd name="f40" fmla="val 14"/>
                <a:gd name="f41" fmla="val 20"/>
                <a:gd name="f42" fmla="val 27"/>
                <a:gd name="f43" fmla="val 24"/>
                <a:gd name="f44" fmla="val 22"/>
                <a:gd name="f45" fmla="val 43"/>
                <a:gd name="f46" fmla="val 45"/>
                <a:gd name="f47" fmla="val 47"/>
                <a:gd name="f48" fmla="val 39"/>
                <a:gd name="f49" fmla="+- 0 0 -90"/>
                <a:gd name="f50" fmla="*/ f3 1 32"/>
                <a:gd name="f51" fmla="*/ f4 1 55"/>
                <a:gd name="f52" fmla="+- f7 0 f5"/>
                <a:gd name="f53" fmla="+- f6 0 f5"/>
                <a:gd name="f54" fmla="*/ f49 f0 1"/>
                <a:gd name="f55" fmla="*/ f53 1 32"/>
                <a:gd name="f56" fmla="*/ f52 1 55"/>
                <a:gd name="f57" fmla="*/ 32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7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26 f52 1"/>
                <a:gd name="f80" fmla="*/ 25 f53 1"/>
                <a:gd name="f81" fmla="*/ 25 f52 1"/>
                <a:gd name="f82" fmla="*/ 16 f53 1"/>
                <a:gd name="f83" fmla="*/ 22 f52 1"/>
                <a:gd name="f84" fmla="*/ 11 f53 1"/>
                <a:gd name="f85" fmla="*/ 23 f52 1"/>
                <a:gd name="f86" fmla="*/ 9 f53 1"/>
                <a:gd name="f87" fmla="*/ 43 f52 1"/>
                <a:gd name="f88" fmla="*/ 46 f52 1"/>
                <a:gd name="f89" fmla="*/ 47 f52 1"/>
                <a:gd name="f90" fmla="*/ 48 f52 1"/>
                <a:gd name="f91" fmla="*/ 45 f52 1"/>
                <a:gd name="f92" fmla="*/ f54 1 f2"/>
                <a:gd name="f93" fmla="*/ f57 1 32"/>
                <a:gd name="f94" fmla="*/ f58 1 55"/>
                <a:gd name="f95" fmla="*/ f59 1 32"/>
                <a:gd name="f96" fmla="*/ f60 1 55"/>
                <a:gd name="f97" fmla="*/ f61 1 32"/>
                <a:gd name="f98" fmla="*/ f62 1 55"/>
                <a:gd name="f99" fmla="*/ f63 1 32"/>
                <a:gd name="f100" fmla="*/ f64 1 55"/>
                <a:gd name="f101" fmla="*/ f65 1 32"/>
                <a:gd name="f102" fmla="*/ f66 1 55"/>
                <a:gd name="f103" fmla="*/ f67 1 32"/>
                <a:gd name="f104" fmla="*/ f68 1 32"/>
                <a:gd name="f105" fmla="*/ f69 1 55"/>
                <a:gd name="f106" fmla="*/ f70 1 32"/>
                <a:gd name="f107" fmla="*/ f71 1 55"/>
                <a:gd name="f108" fmla="*/ f72 1 55"/>
                <a:gd name="f109" fmla="*/ f73 1 55"/>
                <a:gd name="f110" fmla="*/ f74 1 32"/>
                <a:gd name="f111" fmla="*/ f75 1 55"/>
                <a:gd name="f112" fmla="*/ f76 1 55"/>
                <a:gd name="f113" fmla="*/ f77 1 32"/>
                <a:gd name="f114" fmla="*/ f78 1 55"/>
                <a:gd name="f115" fmla="*/ f79 1 55"/>
                <a:gd name="f116" fmla="*/ f80 1 32"/>
                <a:gd name="f117" fmla="*/ f81 1 55"/>
                <a:gd name="f118" fmla="*/ f82 1 32"/>
                <a:gd name="f119" fmla="*/ f83 1 55"/>
                <a:gd name="f120" fmla="*/ f84 1 32"/>
                <a:gd name="f121" fmla="*/ f85 1 55"/>
                <a:gd name="f122" fmla="*/ f86 1 32"/>
                <a:gd name="f123" fmla="*/ f87 1 55"/>
                <a:gd name="f124" fmla="*/ f88 1 55"/>
                <a:gd name="f125" fmla="*/ f89 1 55"/>
                <a:gd name="f126" fmla="*/ f90 1 55"/>
                <a:gd name="f127" fmla="*/ f91 1 55"/>
                <a:gd name="f128" fmla="*/ 0 1 f55"/>
                <a:gd name="f129" fmla="*/ f6 1 f55"/>
                <a:gd name="f130" fmla="*/ 0 1 f56"/>
                <a:gd name="f131" fmla="*/ f7 1 f56"/>
                <a:gd name="f132" fmla="+- f92 0 f1"/>
                <a:gd name="f133" fmla="*/ f93 1 f55"/>
                <a:gd name="f134" fmla="*/ f94 1 f56"/>
                <a:gd name="f135" fmla="*/ f95 1 f55"/>
                <a:gd name="f136" fmla="*/ f96 1 f56"/>
                <a:gd name="f137" fmla="*/ f97 1 f55"/>
                <a:gd name="f138" fmla="*/ f98 1 f56"/>
                <a:gd name="f139" fmla="*/ f99 1 f55"/>
                <a:gd name="f140" fmla="*/ f100 1 f56"/>
                <a:gd name="f141" fmla="*/ f101 1 f55"/>
                <a:gd name="f142" fmla="*/ f102 1 f56"/>
                <a:gd name="f143" fmla="*/ f103 1 f55"/>
                <a:gd name="f144" fmla="*/ f104 1 f55"/>
                <a:gd name="f145" fmla="*/ f105 1 f56"/>
                <a:gd name="f146" fmla="*/ f106 1 f55"/>
                <a:gd name="f147" fmla="*/ f107 1 f56"/>
                <a:gd name="f148" fmla="*/ f108 1 f56"/>
                <a:gd name="f149" fmla="*/ f109 1 f56"/>
                <a:gd name="f150" fmla="*/ f110 1 f55"/>
                <a:gd name="f151" fmla="*/ f111 1 f56"/>
                <a:gd name="f152" fmla="*/ f112 1 f56"/>
                <a:gd name="f153" fmla="*/ f113 1 f55"/>
                <a:gd name="f154" fmla="*/ f114 1 f56"/>
                <a:gd name="f155" fmla="*/ f115 1 f56"/>
                <a:gd name="f156" fmla="*/ f116 1 f55"/>
                <a:gd name="f157" fmla="*/ f117 1 f56"/>
                <a:gd name="f158" fmla="*/ f118 1 f55"/>
                <a:gd name="f159" fmla="*/ f119 1 f56"/>
                <a:gd name="f160" fmla="*/ f120 1 f55"/>
                <a:gd name="f161" fmla="*/ f121 1 f56"/>
                <a:gd name="f162" fmla="*/ f122 1 f55"/>
                <a:gd name="f163" fmla="*/ f123 1 f56"/>
                <a:gd name="f164" fmla="*/ f124 1 f56"/>
                <a:gd name="f165" fmla="*/ f125 1 f56"/>
                <a:gd name="f166" fmla="*/ f126 1 f56"/>
                <a:gd name="f167" fmla="*/ f127 1 f56"/>
                <a:gd name="f168" fmla="*/ f128 f50 1"/>
                <a:gd name="f169" fmla="*/ f129 f50 1"/>
                <a:gd name="f170" fmla="*/ f131 f51 1"/>
                <a:gd name="f171" fmla="*/ f130 f51 1"/>
                <a:gd name="f172" fmla="*/ f133 f50 1"/>
                <a:gd name="f173" fmla="*/ f134 f51 1"/>
                <a:gd name="f174" fmla="*/ f135 f50 1"/>
                <a:gd name="f175" fmla="*/ f136 f51 1"/>
                <a:gd name="f176" fmla="*/ f137 f50 1"/>
                <a:gd name="f177" fmla="*/ f138 f51 1"/>
                <a:gd name="f178" fmla="*/ f139 f50 1"/>
                <a:gd name="f179" fmla="*/ f140 f51 1"/>
                <a:gd name="f180" fmla="*/ f141 f50 1"/>
                <a:gd name="f181" fmla="*/ f142 f51 1"/>
                <a:gd name="f182" fmla="*/ f143 f50 1"/>
                <a:gd name="f183" fmla="*/ f144 f50 1"/>
                <a:gd name="f184" fmla="*/ f145 f51 1"/>
                <a:gd name="f185" fmla="*/ f146 f50 1"/>
                <a:gd name="f186" fmla="*/ f147 f51 1"/>
                <a:gd name="f187" fmla="*/ f148 f51 1"/>
                <a:gd name="f188" fmla="*/ f149 f51 1"/>
                <a:gd name="f189" fmla="*/ f150 f50 1"/>
                <a:gd name="f190" fmla="*/ f151 f51 1"/>
                <a:gd name="f191" fmla="*/ f152 f51 1"/>
                <a:gd name="f192" fmla="*/ f153 f50 1"/>
                <a:gd name="f193" fmla="*/ f154 f51 1"/>
                <a:gd name="f194" fmla="*/ f155 f51 1"/>
                <a:gd name="f195" fmla="*/ f156 f50 1"/>
                <a:gd name="f196" fmla="*/ f157 f51 1"/>
                <a:gd name="f197" fmla="*/ f158 f50 1"/>
                <a:gd name="f198" fmla="*/ f159 f51 1"/>
                <a:gd name="f199" fmla="*/ f160 f50 1"/>
                <a:gd name="f200" fmla="*/ f161 f51 1"/>
                <a:gd name="f201" fmla="*/ f162 f50 1"/>
                <a:gd name="f202" fmla="*/ f163 f51 1"/>
                <a:gd name="f203" fmla="*/ f164 f51 1"/>
                <a:gd name="f204" fmla="*/ f165 f51 1"/>
                <a:gd name="f205" fmla="*/ f166 f51 1"/>
                <a:gd name="f206" fmla="*/ f167 f51 1"/>
              </a:gdLst>
              <a:ahLst/>
              <a:cxnLst>
                <a:cxn ang="3cd4">
                  <a:pos x="hc" y="t"/>
                </a:cxn>
                <a:cxn ang="0">
                  <a:pos x="r" y="vc"/>
                </a:cxn>
                <a:cxn ang="cd4">
                  <a:pos x="hc" y="b"/>
                </a:cxn>
                <a:cxn ang="cd2">
                  <a:pos x="l" y="vc"/>
                </a:cxn>
                <a:cxn ang="f132">
                  <a:pos x="f172" y="f173"/>
                </a:cxn>
                <a:cxn ang="f132">
                  <a:pos x="f174" y="f175"/>
                </a:cxn>
                <a:cxn ang="f132">
                  <a:pos x="f176" y="f177"/>
                </a:cxn>
                <a:cxn ang="f132">
                  <a:pos x="f178" y="f179"/>
                </a:cxn>
                <a:cxn ang="f132">
                  <a:pos x="f180" y="f181"/>
                </a:cxn>
                <a:cxn ang="f132">
                  <a:pos x="f182" y="f179"/>
                </a:cxn>
                <a:cxn ang="f132">
                  <a:pos x="f183" y="f177"/>
                </a:cxn>
                <a:cxn ang="f132">
                  <a:pos x="f183" y="f184"/>
                </a:cxn>
                <a:cxn ang="f132">
                  <a:pos x="f185" y="f184"/>
                </a:cxn>
                <a:cxn ang="f132">
                  <a:pos x="f185" y="f186"/>
                </a:cxn>
                <a:cxn ang="f132">
                  <a:pos x="f183" y="f187"/>
                </a:cxn>
                <a:cxn ang="f132">
                  <a:pos x="f183" y="f188"/>
                </a:cxn>
                <a:cxn ang="f132">
                  <a:pos x="f189" y="f190"/>
                </a:cxn>
                <a:cxn ang="f132">
                  <a:pos x="f182" y="f191"/>
                </a:cxn>
                <a:cxn ang="f132">
                  <a:pos x="f192" y="f193"/>
                </a:cxn>
                <a:cxn ang="f132">
                  <a:pos x="f180" y="f193"/>
                </a:cxn>
                <a:cxn ang="f132">
                  <a:pos x="f178" y="f191"/>
                </a:cxn>
                <a:cxn ang="f132">
                  <a:pos x="f176" y="f188"/>
                </a:cxn>
                <a:cxn ang="f132">
                  <a:pos x="f174" y="f194"/>
                </a:cxn>
                <a:cxn ang="f132">
                  <a:pos x="f172" y="f173"/>
                </a:cxn>
                <a:cxn ang="f132">
                  <a:pos x="f195" y="f173"/>
                </a:cxn>
                <a:cxn ang="f132">
                  <a:pos x="f178" y="f196"/>
                </a:cxn>
                <a:cxn ang="f132">
                  <a:pos x="f197" y="f198"/>
                </a:cxn>
                <a:cxn ang="f132">
                  <a:pos x="f192" y="f198"/>
                </a:cxn>
                <a:cxn ang="f132">
                  <a:pos x="f199" y="f200"/>
                </a:cxn>
                <a:cxn ang="f132">
                  <a:pos x="f201" y="f196"/>
                </a:cxn>
                <a:cxn ang="f132">
                  <a:pos x="f183" y="f194"/>
                </a:cxn>
                <a:cxn ang="f132">
                  <a:pos x="f183" y="f202"/>
                </a:cxn>
                <a:cxn ang="f132">
                  <a:pos x="f201" y="f175"/>
                </a:cxn>
                <a:cxn ang="f132">
                  <a:pos x="f199" y="f203"/>
                </a:cxn>
                <a:cxn ang="f132">
                  <a:pos x="f192" y="f204"/>
                </a:cxn>
                <a:cxn ang="f132">
                  <a:pos x="f197" y="f205"/>
                </a:cxn>
                <a:cxn ang="f132">
                  <a:pos x="f178" y="f206"/>
                </a:cxn>
                <a:cxn ang="f132">
                  <a:pos x="f195" y="f173"/>
                </a:cxn>
              </a:cxnLst>
              <a:rect l="f168" t="f171" r="f169" b="f170"/>
              <a:pathLst>
                <a:path w="32" h="55">
                  <a:moveTo>
                    <a:pt x="f6" y="f8"/>
                  </a:moveTo>
                  <a:cubicBezTo>
                    <a:pt x="f6" y="f9"/>
                    <a:pt x="f6" y="f10"/>
                    <a:pt x="f11" y="f12"/>
                  </a:cubicBezTo>
                  <a:cubicBezTo>
                    <a:pt x="f13" y="f14"/>
                    <a:pt x="f15" y="f16"/>
                    <a:pt x="f17" y="f18"/>
                  </a:cubicBezTo>
                  <a:cubicBezTo>
                    <a:pt x="f19" y="f20"/>
                    <a:pt x="f21" y="f22"/>
                    <a:pt x="f23" y="f22"/>
                  </a:cubicBezTo>
                  <a:cubicBezTo>
                    <a:pt x="f24" y="f25"/>
                    <a:pt x="f26" y="f7"/>
                    <a:pt x="f27" y="f7"/>
                  </a:cubicBezTo>
                  <a:cubicBezTo>
                    <a:pt x="f28" y="f7"/>
                    <a:pt x="f29" y="f25"/>
                    <a:pt x="f30" y="f22"/>
                  </a:cubicBezTo>
                  <a:cubicBezTo>
                    <a:pt x="f31" y="f32"/>
                    <a:pt x="f33" y="f20"/>
                    <a:pt x="f34" y="f18"/>
                  </a:cubicBezTo>
                  <a:cubicBezTo>
                    <a:pt x="f34" y="f25"/>
                    <a:pt x="f34" y="f25"/>
                    <a:pt x="f34" y="f25"/>
                  </a:cubicBezTo>
                  <a:cubicBezTo>
                    <a:pt x="f5" y="f25"/>
                    <a:pt x="f5" y="f25"/>
                    <a:pt x="f5" y="f25"/>
                  </a:cubicBezTo>
                  <a:cubicBezTo>
                    <a:pt x="f5" y="f35"/>
                    <a:pt x="f5" y="f35"/>
                    <a:pt x="f5" y="f35"/>
                  </a:cubicBezTo>
                  <a:cubicBezTo>
                    <a:pt x="f34" y="f5"/>
                    <a:pt x="f34" y="f5"/>
                    <a:pt x="f34" y="f5"/>
                  </a:cubicBezTo>
                  <a:cubicBezTo>
                    <a:pt x="f34" y="f26"/>
                    <a:pt x="f34" y="f26"/>
                    <a:pt x="f34" y="f26"/>
                  </a:cubicBezTo>
                  <a:cubicBezTo>
                    <a:pt x="f36" y="f37"/>
                    <a:pt x="f33" y="f37"/>
                    <a:pt x="f31" y="f27"/>
                  </a:cubicBezTo>
                  <a:cubicBezTo>
                    <a:pt x="f31" y="f27"/>
                    <a:pt x="f38" y="f39"/>
                    <a:pt x="f30" y="f39"/>
                  </a:cubicBezTo>
                  <a:cubicBezTo>
                    <a:pt x="f30" y="f39"/>
                    <a:pt x="f29" y="f28"/>
                    <a:pt x="f40" y="f28"/>
                  </a:cubicBezTo>
                  <a:cubicBezTo>
                    <a:pt x="f28" y="f28"/>
                    <a:pt x="f39" y="f28"/>
                    <a:pt x="f27" y="f28"/>
                  </a:cubicBezTo>
                  <a:cubicBezTo>
                    <a:pt x="f41" y="f28"/>
                    <a:pt x="f24" y="f28"/>
                    <a:pt x="f23" y="f39"/>
                  </a:cubicBezTo>
                  <a:cubicBezTo>
                    <a:pt x="f21" y="f39"/>
                    <a:pt x="f42" y="f37"/>
                    <a:pt x="f17" y="f26"/>
                  </a:cubicBezTo>
                  <a:cubicBezTo>
                    <a:pt x="f15" y="f24"/>
                    <a:pt x="f13" y="f23"/>
                    <a:pt x="f11" y="f19"/>
                  </a:cubicBezTo>
                  <a:cubicBezTo>
                    <a:pt x="f6" y="f17"/>
                    <a:pt x="f6" y="f6"/>
                    <a:pt x="f6" y="f8"/>
                  </a:cubicBezTo>
                  <a:close/>
                  <a:moveTo>
                    <a:pt x="f21" y="f8"/>
                  </a:moveTo>
                  <a:cubicBezTo>
                    <a:pt x="f21" y="f11"/>
                    <a:pt x="f43" y="f42"/>
                    <a:pt x="f23" y="f21"/>
                  </a:cubicBezTo>
                  <a:cubicBezTo>
                    <a:pt x="f24" y="f23"/>
                    <a:pt x="f26" y="f44"/>
                    <a:pt x="f39" y="f44"/>
                  </a:cubicBezTo>
                  <a:cubicBezTo>
                    <a:pt x="f28" y="f44"/>
                    <a:pt x="f40" y="f44"/>
                    <a:pt x="f40" y="f44"/>
                  </a:cubicBezTo>
                  <a:cubicBezTo>
                    <a:pt x="f29" y="f44"/>
                    <a:pt x="f30" y="f23"/>
                    <a:pt x="f38" y="f23"/>
                  </a:cubicBezTo>
                  <a:cubicBezTo>
                    <a:pt x="f31" y="f23"/>
                    <a:pt x="f31" y="f43"/>
                    <a:pt x="f33" y="f21"/>
                  </a:cubicBezTo>
                  <a:cubicBezTo>
                    <a:pt x="f36" y="f21"/>
                    <a:pt x="f36" y="f19"/>
                    <a:pt x="f34" y="f19"/>
                  </a:cubicBezTo>
                  <a:cubicBezTo>
                    <a:pt x="f34" y="f45"/>
                    <a:pt x="f34" y="f45"/>
                    <a:pt x="f34" y="f45"/>
                  </a:cubicBezTo>
                  <a:cubicBezTo>
                    <a:pt x="f36" y="f45"/>
                    <a:pt x="f36" y="f12"/>
                    <a:pt x="f33" y="f12"/>
                  </a:cubicBezTo>
                  <a:cubicBezTo>
                    <a:pt x="f31" y="f46"/>
                    <a:pt x="f31" y="f46"/>
                    <a:pt x="f38" y="f14"/>
                  </a:cubicBezTo>
                  <a:cubicBezTo>
                    <a:pt x="f30" y="f14"/>
                    <a:pt x="f29" y="f47"/>
                    <a:pt x="f40" y="f47"/>
                  </a:cubicBezTo>
                  <a:cubicBezTo>
                    <a:pt x="f28" y="f47"/>
                    <a:pt x="f28" y="f16"/>
                    <a:pt x="f39" y="f16"/>
                  </a:cubicBezTo>
                  <a:cubicBezTo>
                    <a:pt x="f26" y="f16"/>
                    <a:pt x="f24" y="f47"/>
                    <a:pt x="f23" y="f46"/>
                  </a:cubicBezTo>
                  <a:cubicBezTo>
                    <a:pt x="f43" y="f45"/>
                    <a:pt x="f21" y="f48"/>
                    <a:pt x="f21"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1" name="Freeform 33">
              <a:extLst>
                <a:ext uri="{FF2B5EF4-FFF2-40B4-BE49-F238E27FC236}">
                  <a16:creationId xmlns:a16="http://schemas.microsoft.com/office/drawing/2014/main" id="{B42B90C0-3CAD-AA19-DE50-D7AC579D9F32}"/>
                </a:ext>
              </a:extLst>
            </p:cNvPr>
            <p:cNvSpPr/>
            <p:nvPr/>
          </p:nvSpPr>
          <p:spPr>
            <a:xfrm>
              <a:off x="2997037"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8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8" y="f35"/>
                  </a:cubicBezTo>
                  <a:cubicBezTo>
                    <a:pt x="f16" y="f35"/>
                    <a:pt x="f14" y="f36"/>
                    <a:pt x="f32" y="f36"/>
                  </a:cubicBezTo>
                  <a:cubicBezTo>
                    <a:pt x="f13" y="f37"/>
                    <a:pt x="f3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8"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2" name="Freeform 34">
              <a:extLst>
                <a:ext uri="{FF2B5EF4-FFF2-40B4-BE49-F238E27FC236}">
                  <a16:creationId xmlns:a16="http://schemas.microsoft.com/office/drawing/2014/main" id="{206EDAA8-095C-9E31-6E69-4100A04B0503}"/>
                </a:ext>
              </a:extLst>
            </p:cNvPr>
            <p:cNvSpPr/>
            <p:nvPr/>
          </p:nvSpPr>
          <p:spPr>
            <a:xfrm>
              <a:off x="3094640"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1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34" y="f35"/>
                    <a:pt x="f34" y="f35"/>
                  </a:cubicBezTo>
                  <a:cubicBezTo>
                    <a:pt x="f34" y="f30"/>
                    <a:pt x="f34" y="f30"/>
                    <a:pt x="f34"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3" name="Freeform 35">
              <a:extLst>
                <a:ext uri="{FF2B5EF4-FFF2-40B4-BE49-F238E27FC236}">
                  <a16:creationId xmlns:a16="http://schemas.microsoft.com/office/drawing/2014/main" id="{5EA84CF0-DCD0-1818-B0CB-382FE3D6E123}"/>
                </a:ext>
              </a:extLst>
            </p:cNvPr>
            <p:cNvSpPr/>
            <p:nvPr/>
          </p:nvSpPr>
          <p:spPr>
            <a:xfrm>
              <a:off x="316260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6"/>
                <a:gd name="f15" fmla="val 15"/>
                <a:gd name="f16" fmla="val 14"/>
                <a:gd name="f17" fmla="val 12"/>
                <a:gd name="f18" fmla="val 11"/>
                <a:gd name="f19" fmla="val 10"/>
                <a:gd name="f20" fmla="val 9"/>
                <a:gd name="f21" fmla="val 8"/>
                <a:gd name="f22" fmla="val 7"/>
                <a:gd name="f23" fmla="val 52"/>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7"/>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7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2"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14" y="f29"/>
                    <a:pt x="f14" y="f29"/>
                  </a:cubicBezTo>
                  <a:cubicBezTo>
                    <a:pt x="f37"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4" name="Freeform 36">
              <a:extLst>
                <a:ext uri="{FF2B5EF4-FFF2-40B4-BE49-F238E27FC236}">
                  <a16:creationId xmlns:a16="http://schemas.microsoft.com/office/drawing/2014/main" id="{5269B82A-4B15-A0E8-957C-4CFAEDB463F6}"/>
                </a:ext>
              </a:extLst>
            </p:cNvPr>
            <p:cNvSpPr/>
            <p:nvPr/>
          </p:nvSpPr>
          <p:spPr>
            <a:xfrm>
              <a:off x="3232321"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5" name="Freeform 37">
              <a:extLst>
                <a:ext uri="{FF2B5EF4-FFF2-40B4-BE49-F238E27FC236}">
                  <a16:creationId xmlns:a16="http://schemas.microsoft.com/office/drawing/2014/main" id="{7D852561-67BF-8A28-FE1E-5D6ACB1BA654}"/>
                </a:ext>
              </a:extLst>
            </p:cNvPr>
            <p:cNvSpPr/>
            <p:nvPr/>
          </p:nvSpPr>
          <p:spPr>
            <a:xfrm>
              <a:off x="3335145" y="6088166"/>
              <a:ext cx="59253"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7"/>
                <a:gd name="f13" fmla="val 18"/>
                <a:gd name="f14" fmla="val 17"/>
                <a:gd name="f15" fmla="val 15"/>
                <a:gd name="f16" fmla="val 13"/>
                <a:gd name="f17" fmla="val 11"/>
                <a:gd name="f18" fmla="val 10"/>
                <a:gd name="f19" fmla="val 9"/>
                <a:gd name="f20" fmla="val 14"/>
                <a:gd name="f21" fmla="val 4"/>
                <a:gd name="f22" fmla="val 3"/>
                <a:gd name="f23" fmla="val 2"/>
                <a:gd name="f24" fmla="val 1"/>
                <a:gd name="f25" fmla="val 12"/>
                <a:gd name="f26" fmla="val 16"/>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9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7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1" y="f12"/>
                  </a:cubicBezTo>
                  <a:cubicBezTo>
                    <a:pt x="f13" y="f12"/>
                    <a:pt x="f14" y="f12"/>
                    <a:pt x="f15" y="f12"/>
                  </a:cubicBezTo>
                  <a:cubicBezTo>
                    <a:pt x="f16" y="f12"/>
                    <a:pt x="f17" y="f9"/>
                    <a:pt x="f18" y="f19"/>
                  </a:cubicBezTo>
                  <a:cubicBezTo>
                    <a:pt x="f9" y="f17"/>
                    <a:pt x="f9" y="f20"/>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1"/>
                    <a:pt x="f9" y="f21"/>
                    <a:pt x="f9" y="f21"/>
                  </a:cubicBezTo>
                  <a:cubicBezTo>
                    <a:pt x="f9" y="f22"/>
                    <a:pt x="f19" y="f22"/>
                    <a:pt x="f19" y="f23"/>
                  </a:cubicBezTo>
                  <a:cubicBezTo>
                    <a:pt x="f18" y="f23"/>
                    <a:pt x="f17" y="f24"/>
                    <a:pt x="f17" y="f24"/>
                  </a:cubicBezTo>
                  <a:cubicBezTo>
                    <a:pt x="f25" y="f5"/>
                    <a:pt x="f16" y="f5"/>
                    <a:pt x="f20" y="f5"/>
                  </a:cubicBezTo>
                  <a:cubicBezTo>
                    <a:pt x="f15" y="f5"/>
                    <a:pt x="f26" y="f5"/>
                    <a:pt x="f14" y="f5"/>
                  </a:cubicBezTo>
                  <a:cubicBezTo>
                    <a:pt x="f13" y="f5"/>
                    <a:pt x="f11" y="f5"/>
                    <a:pt x="f10" y="f5"/>
                  </a:cubicBezTo>
                  <a:cubicBezTo>
                    <a:pt x="f8" y="f5"/>
                    <a:pt x="f27"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6" name="Freeform 38">
              <a:extLst>
                <a:ext uri="{FF2B5EF4-FFF2-40B4-BE49-F238E27FC236}">
                  <a16:creationId xmlns:a16="http://schemas.microsoft.com/office/drawing/2014/main" id="{9DCD2628-5742-B039-4910-29AFCD47F861}"/>
                </a:ext>
              </a:extLst>
            </p:cNvPr>
            <p:cNvSpPr/>
            <p:nvPr/>
          </p:nvSpPr>
          <p:spPr>
            <a:xfrm>
              <a:off x="3450168"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7" name="Freeform 39">
              <a:extLst>
                <a:ext uri="{FF2B5EF4-FFF2-40B4-BE49-F238E27FC236}">
                  <a16:creationId xmlns:a16="http://schemas.microsoft.com/office/drawing/2014/main" id="{37CCD0EE-C42D-AE6D-1430-929850E0F0B6}"/>
                </a:ext>
              </a:extLst>
            </p:cNvPr>
            <p:cNvSpPr/>
            <p:nvPr/>
          </p:nvSpPr>
          <p:spPr>
            <a:xfrm>
              <a:off x="3528596"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8" name="Freeform 40">
              <a:extLst>
                <a:ext uri="{FF2B5EF4-FFF2-40B4-BE49-F238E27FC236}">
                  <a16:creationId xmlns:a16="http://schemas.microsoft.com/office/drawing/2014/main" id="{418D2187-1CF3-B202-821B-3A8DD18ACA34}"/>
                </a:ext>
              </a:extLst>
            </p:cNvPr>
            <p:cNvSpPr/>
            <p:nvPr/>
          </p:nvSpPr>
          <p:spPr>
            <a:xfrm>
              <a:off x="3626199"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9" name="Freeform 41">
              <a:extLst>
                <a:ext uri="{FF2B5EF4-FFF2-40B4-BE49-F238E27FC236}">
                  <a16:creationId xmlns:a16="http://schemas.microsoft.com/office/drawing/2014/main" id="{7EE82D52-86EB-C977-C6AA-A7BAB57460BC}"/>
                </a:ext>
              </a:extLst>
            </p:cNvPr>
            <p:cNvSpPr/>
            <p:nvPr/>
          </p:nvSpPr>
          <p:spPr>
            <a:xfrm>
              <a:off x="3770848" y="6088166"/>
              <a:ext cx="81911" cy="101132"/>
            </a:xfrm>
            <a:custGeom>
              <a:avLst/>
              <a:gdLst>
                <a:gd name="f0" fmla="val 10800000"/>
                <a:gd name="f1" fmla="val 5400000"/>
                <a:gd name="f2" fmla="val 180"/>
                <a:gd name="f3" fmla="val w"/>
                <a:gd name="f4" fmla="val h"/>
                <a:gd name="f5" fmla="val 0"/>
                <a:gd name="f6" fmla="val 32"/>
                <a:gd name="f7" fmla="val 40"/>
                <a:gd name="f8" fmla="val 24"/>
                <a:gd name="f9" fmla="val 39"/>
                <a:gd name="f10" fmla="val 35"/>
                <a:gd name="f11" fmla="val 23"/>
                <a:gd name="f12" fmla="val 36"/>
                <a:gd name="f13" fmla="val 37"/>
                <a:gd name="f14" fmla="val 22"/>
                <a:gd name="f15" fmla="val 21"/>
                <a:gd name="f16" fmla="val 38"/>
                <a:gd name="f17" fmla="val 20"/>
                <a:gd name="f18" fmla="val 19"/>
                <a:gd name="f19" fmla="val 18"/>
                <a:gd name="f20" fmla="val 17"/>
                <a:gd name="f21" fmla="val 16"/>
                <a:gd name="f22" fmla="val 15"/>
                <a:gd name="f23" fmla="val 14"/>
                <a:gd name="f24" fmla="val 12"/>
                <a:gd name="f25" fmla="val 11"/>
                <a:gd name="f26" fmla="val 9"/>
                <a:gd name="f27" fmla="val 7"/>
                <a:gd name="f28" fmla="val 6"/>
                <a:gd name="f29" fmla="val 5"/>
                <a:gd name="f30" fmla="val 3"/>
                <a:gd name="f31" fmla="val 2"/>
                <a:gd name="f32" fmla="val 34"/>
                <a:gd name="f33" fmla="val 33"/>
                <a:gd name="f34" fmla="val 1"/>
                <a:gd name="f35" fmla="val 31"/>
                <a:gd name="f36" fmla="val 29"/>
                <a:gd name="f37" fmla="val 27"/>
                <a:gd name="f38" fmla="val 8"/>
                <a:gd name="f39" fmla="val 10"/>
                <a:gd name="f40" fmla="val 13"/>
                <a:gd name="f41" fmla="val 4"/>
                <a:gd name="f42" fmla="val 25"/>
                <a:gd name="f43" fmla="val 26"/>
                <a:gd name="f44" fmla="val 28"/>
                <a:gd name="f45" fmla="val 30"/>
                <a:gd name="f46" fmla="+- 0 0 -90"/>
                <a:gd name="f47" fmla="*/ f3 1 32"/>
                <a:gd name="f48" fmla="*/ f4 1 40"/>
                <a:gd name="f49" fmla="+- f7 0 f5"/>
                <a:gd name="f50" fmla="+- f6 0 f5"/>
                <a:gd name="f51" fmla="*/ f46 f0 1"/>
                <a:gd name="f52" fmla="*/ f50 1 32"/>
                <a:gd name="f53" fmla="*/ f49 1 40"/>
                <a:gd name="f54" fmla="*/ 24 f50 1"/>
                <a:gd name="f55" fmla="*/ 39 f49 1"/>
                <a:gd name="f56" fmla="*/ 35 f49 1"/>
                <a:gd name="f57" fmla="*/ 22 f50 1"/>
                <a:gd name="f58" fmla="*/ 37 f49 1"/>
                <a:gd name="f59" fmla="*/ 20 f50 1"/>
                <a:gd name="f60" fmla="*/ 38 f49 1"/>
                <a:gd name="f61" fmla="*/ 17 f50 1"/>
                <a:gd name="f62" fmla="*/ 14 f50 1"/>
                <a:gd name="f63" fmla="*/ 40 f49 1"/>
                <a:gd name="f64" fmla="*/ 9 f50 1"/>
                <a:gd name="f65" fmla="*/ 5 f50 1"/>
                <a:gd name="f66" fmla="*/ 2 f50 1"/>
                <a:gd name="f67" fmla="*/ 33 f49 1"/>
                <a:gd name="f68" fmla="*/ 0 f50 1"/>
                <a:gd name="f69" fmla="*/ 27 f49 1"/>
                <a:gd name="f70" fmla="*/ 21 f49 1"/>
                <a:gd name="f71" fmla="*/ 17 f49 1"/>
                <a:gd name="f72" fmla="*/ 10 f50 1"/>
                <a:gd name="f73" fmla="*/ 15 f49 1"/>
                <a:gd name="f74" fmla="*/ 16 f50 1"/>
                <a:gd name="f75" fmla="*/ 14 f49 1"/>
                <a:gd name="f76" fmla="*/ 21 f50 1"/>
                <a:gd name="f77" fmla="*/ 16 f49 1"/>
                <a:gd name="f78" fmla="*/ 13 f49 1"/>
                <a:gd name="f79" fmla="*/ 8 f49 1"/>
                <a:gd name="f80" fmla="*/ 6 f49 1"/>
                <a:gd name="f81" fmla="*/ 12 f50 1"/>
                <a:gd name="f82" fmla="*/ 7 f49 1"/>
                <a:gd name="f83" fmla="*/ 7 f50 1"/>
                <a:gd name="f84" fmla="*/ 9 f49 1"/>
                <a:gd name="f85" fmla="*/ 4 f50 1"/>
                <a:gd name="f86" fmla="*/ 3 f49 1"/>
                <a:gd name="f87" fmla="*/ 0 f49 1"/>
                <a:gd name="f88" fmla="*/ 23 f50 1"/>
                <a:gd name="f89" fmla="*/ 28 f50 1"/>
                <a:gd name="f90" fmla="*/ 31 f50 1"/>
                <a:gd name="f91" fmla="*/ 32 f50 1"/>
                <a:gd name="f92" fmla="*/ 12 f49 1"/>
                <a:gd name="f93" fmla="*/ 22 f49 1"/>
                <a:gd name="f94" fmla="*/ 18 f50 1"/>
                <a:gd name="f95" fmla="*/ 8 f50 1"/>
                <a:gd name="f96" fmla="*/ 26 f49 1"/>
                <a:gd name="f97" fmla="*/ 29 f49 1"/>
                <a:gd name="f98" fmla="*/ 31 f49 1"/>
                <a:gd name="f99" fmla="*/ 32 f49 1"/>
                <a:gd name="f100" fmla="*/ 15 f50 1"/>
                <a:gd name="f101" fmla="*/ 30 f49 1"/>
                <a:gd name="f102" fmla="*/ 28 f49 1"/>
                <a:gd name="f103" fmla="*/ f51 1 f2"/>
                <a:gd name="f104" fmla="*/ f54 1 32"/>
                <a:gd name="f105" fmla="*/ f55 1 40"/>
                <a:gd name="f106" fmla="*/ f56 1 40"/>
                <a:gd name="f107" fmla="*/ f57 1 32"/>
                <a:gd name="f108" fmla="*/ f58 1 40"/>
                <a:gd name="f109" fmla="*/ f59 1 32"/>
                <a:gd name="f110" fmla="*/ f60 1 40"/>
                <a:gd name="f111" fmla="*/ f61 1 32"/>
                <a:gd name="f112" fmla="*/ f62 1 32"/>
                <a:gd name="f113" fmla="*/ f63 1 40"/>
                <a:gd name="f114" fmla="*/ f64 1 32"/>
                <a:gd name="f115" fmla="*/ f65 1 32"/>
                <a:gd name="f116" fmla="*/ f66 1 32"/>
                <a:gd name="f117" fmla="*/ f67 1 40"/>
                <a:gd name="f118" fmla="*/ f68 1 32"/>
                <a:gd name="f119" fmla="*/ f69 1 40"/>
                <a:gd name="f120" fmla="*/ f70 1 40"/>
                <a:gd name="f121" fmla="*/ f71 1 40"/>
                <a:gd name="f122" fmla="*/ f72 1 32"/>
                <a:gd name="f123" fmla="*/ f73 1 40"/>
                <a:gd name="f124" fmla="*/ f74 1 32"/>
                <a:gd name="f125" fmla="*/ f75 1 40"/>
                <a:gd name="f126" fmla="*/ f76 1 32"/>
                <a:gd name="f127" fmla="*/ f77 1 40"/>
                <a:gd name="f128" fmla="*/ f78 1 40"/>
                <a:gd name="f129" fmla="*/ f79 1 40"/>
                <a:gd name="f130" fmla="*/ f80 1 40"/>
                <a:gd name="f131" fmla="*/ f81 1 32"/>
                <a:gd name="f132" fmla="*/ f82 1 40"/>
                <a:gd name="f133" fmla="*/ f83 1 32"/>
                <a:gd name="f134" fmla="*/ f84 1 40"/>
                <a:gd name="f135" fmla="*/ f85 1 32"/>
                <a:gd name="f136" fmla="*/ f86 1 40"/>
                <a:gd name="f137" fmla="*/ f87 1 40"/>
                <a:gd name="f138" fmla="*/ f88 1 32"/>
                <a:gd name="f139" fmla="*/ f89 1 32"/>
                <a:gd name="f140" fmla="*/ f90 1 32"/>
                <a:gd name="f141" fmla="*/ f91 1 32"/>
                <a:gd name="f142" fmla="*/ f92 1 40"/>
                <a:gd name="f143" fmla="*/ f93 1 40"/>
                <a:gd name="f144" fmla="*/ f94 1 32"/>
                <a:gd name="f145" fmla="*/ f95 1 32"/>
                <a:gd name="f146" fmla="*/ f96 1 40"/>
                <a:gd name="f147" fmla="*/ f97 1 40"/>
                <a:gd name="f148" fmla="*/ f98 1 40"/>
                <a:gd name="f149" fmla="*/ f99 1 40"/>
                <a:gd name="f150" fmla="*/ f100 1 32"/>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3"/>
                <a:gd name="f165" fmla="*/ f111 1 f52"/>
                <a:gd name="f166" fmla="*/ f112 1 f52"/>
                <a:gd name="f167" fmla="*/ f113 1 f53"/>
                <a:gd name="f168" fmla="*/ f114 1 f52"/>
                <a:gd name="f169" fmla="*/ f115 1 f52"/>
                <a:gd name="f170" fmla="*/ f116 1 f52"/>
                <a:gd name="f171" fmla="*/ f117 1 f53"/>
                <a:gd name="f172" fmla="*/ f118 1 f52"/>
                <a:gd name="f173" fmla="*/ f119 1 f53"/>
                <a:gd name="f174" fmla="*/ f120 1 f53"/>
                <a:gd name="f175" fmla="*/ f121 1 f53"/>
                <a:gd name="f176" fmla="*/ f122 1 f52"/>
                <a:gd name="f177" fmla="*/ f123 1 f53"/>
                <a:gd name="f178" fmla="*/ f124 1 f52"/>
                <a:gd name="f179" fmla="*/ f125 1 f53"/>
                <a:gd name="f180" fmla="*/ f126 1 f52"/>
                <a:gd name="f181" fmla="*/ f127 1 f53"/>
                <a:gd name="f182" fmla="*/ f128 1 f53"/>
                <a:gd name="f183" fmla="*/ f129 1 f53"/>
                <a:gd name="f184" fmla="*/ f130 1 f53"/>
                <a:gd name="f185" fmla="*/ f131 1 f52"/>
                <a:gd name="f186" fmla="*/ f132 1 f53"/>
                <a:gd name="f187" fmla="*/ f133 1 f52"/>
                <a:gd name="f188" fmla="*/ f134 1 f53"/>
                <a:gd name="f189" fmla="*/ f135 1 f52"/>
                <a:gd name="f190" fmla="*/ f136 1 f53"/>
                <a:gd name="f191" fmla="*/ f137 1 f53"/>
                <a:gd name="f192" fmla="*/ f138 1 f52"/>
                <a:gd name="f193" fmla="*/ f139 1 f52"/>
                <a:gd name="f194" fmla="*/ f140 1 f52"/>
                <a:gd name="f195" fmla="*/ f141 1 f52"/>
                <a:gd name="f196" fmla="*/ f142 1 f53"/>
                <a:gd name="f197" fmla="*/ f143 1 f53"/>
                <a:gd name="f198" fmla="*/ f144 1 f52"/>
                <a:gd name="f199" fmla="*/ f145 1 f52"/>
                <a:gd name="f200" fmla="*/ f146 1 f53"/>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8 1"/>
                <a:gd name="f218" fmla="*/ f165 f47 1"/>
                <a:gd name="f219" fmla="*/ f166 f47 1"/>
                <a:gd name="f220" fmla="*/ f167 f48 1"/>
                <a:gd name="f221" fmla="*/ f168 f47 1"/>
                <a:gd name="f222" fmla="*/ f169 f47 1"/>
                <a:gd name="f223" fmla="*/ f170 f47 1"/>
                <a:gd name="f224" fmla="*/ f171 f48 1"/>
                <a:gd name="f225" fmla="*/ f172 f47 1"/>
                <a:gd name="f226" fmla="*/ f173 f48 1"/>
                <a:gd name="f227" fmla="*/ f174 f48 1"/>
                <a:gd name="f228" fmla="*/ f175 f48 1"/>
                <a:gd name="f229" fmla="*/ f176 f47 1"/>
                <a:gd name="f230" fmla="*/ f177 f48 1"/>
                <a:gd name="f231" fmla="*/ f178 f47 1"/>
                <a:gd name="f232" fmla="*/ f179 f48 1"/>
                <a:gd name="f233" fmla="*/ f180 f47 1"/>
                <a:gd name="f234" fmla="*/ f181 f48 1"/>
                <a:gd name="f235" fmla="*/ f182 f48 1"/>
                <a:gd name="f236" fmla="*/ f183 f48 1"/>
                <a:gd name="f237" fmla="*/ f184 f48 1"/>
                <a:gd name="f238" fmla="*/ f185 f47 1"/>
                <a:gd name="f239" fmla="*/ f186 f48 1"/>
                <a:gd name="f240" fmla="*/ f187 f47 1"/>
                <a:gd name="f241" fmla="*/ f188 f48 1"/>
                <a:gd name="f242" fmla="*/ f189 f47 1"/>
                <a:gd name="f243" fmla="*/ f190 f48 1"/>
                <a:gd name="f244" fmla="*/ f191 f48 1"/>
                <a:gd name="f245" fmla="*/ f192 f47 1"/>
                <a:gd name="f246" fmla="*/ f193 f47 1"/>
                <a:gd name="f247" fmla="*/ f194 f47 1"/>
                <a:gd name="f248" fmla="*/ f195 f47 1"/>
                <a:gd name="f249" fmla="*/ f196 f48 1"/>
                <a:gd name="f250" fmla="*/ f197 f48 1"/>
                <a:gd name="f251" fmla="*/ f198 f47 1"/>
                <a:gd name="f252" fmla="*/ f199 f47 1"/>
                <a:gd name="f253" fmla="*/ f200 f48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7"/>
                </a:cxn>
                <a:cxn ang="f157">
                  <a:pos x="f218" y="f212"/>
                </a:cxn>
                <a:cxn ang="f157">
                  <a:pos x="f219" y="f220"/>
                </a:cxn>
                <a:cxn ang="f157">
                  <a:pos x="f221" y="f212"/>
                </a:cxn>
                <a:cxn ang="f157">
                  <a:pos x="f222" y="f215"/>
                </a:cxn>
                <a:cxn ang="f157">
                  <a:pos x="f223" y="f224"/>
                </a:cxn>
                <a:cxn ang="f157">
                  <a:pos x="f225" y="f226"/>
                </a:cxn>
                <a:cxn ang="f157">
                  <a:pos x="f223" y="f227"/>
                </a:cxn>
                <a:cxn ang="f157">
                  <a:pos x="f222" y="f228"/>
                </a:cxn>
                <a:cxn ang="f157">
                  <a:pos x="f229" y="f230"/>
                </a:cxn>
                <a:cxn ang="f157">
                  <a:pos x="f231" y="f232"/>
                </a:cxn>
                <a:cxn ang="f157">
                  <a:pos x="f233" y="f230"/>
                </a:cxn>
                <a:cxn ang="f157">
                  <a:pos x="f211" y="f234"/>
                </a:cxn>
                <a:cxn ang="f157">
                  <a:pos x="f211" y="f235"/>
                </a:cxn>
                <a:cxn ang="f157">
                  <a:pos x="f214" y="f236"/>
                </a:cxn>
                <a:cxn ang="f157">
                  <a:pos x="f218" y="f237"/>
                </a:cxn>
                <a:cxn ang="f157">
                  <a:pos x="f238" y="f239"/>
                </a:cxn>
                <a:cxn ang="f157">
                  <a:pos x="f240" y="f241"/>
                </a:cxn>
                <a:cxn ang="f157">
                  <a:pos x="f242" y="f243"/>
                </a:cxn>
                <a:cxn ang="f157">
                  <a:pos x="f229" y="f244"/>
                </a:cxn>
                <a:cxn ang="f157">
                  <a:pos x="f218" y="f244"/>
                </a:cxn>
                <a:cxn ang="f157">
                  <a:pos x="f245" y="f244"/>
                </a:cxn>
                <a:cxn ang="f157">
                  <a:pos x="f246" y="f243"/>
                </a:cxn>
                <a:cxn ang="f157">
                  <a:pos x="f247" y="f239"/>
                </a:cxn>
                <a:cxn ang="f157">
                  <a:pos x="f248" y="f249"/>
                </a:cxn>
                <a:cxn ang="f157">
                  <a:pos x="f248" y="f212"/>
                </a:cxn>
                <a:cxn ang="f157">
                  <a:pos x="f211" y="f212"/>
                </a:cxn>
                <a:cxn ang="f157">
                  <a:pos x="f211" y="f250"/>
                </a:cxn>
                <a:cxn ang="f157">
                  <a:pos x="f214" y="f250"/>
                </a:cxn>
                <a:cxn ang="f157">
                  <a:pos x="f233" y="f227"/>
                </a:cxn>
                <a:cxn ang="f157">
                  <a:pos x="f251" y="f227"/>
                </a:cxn>
                <a:cxn ang="f157">
                  <a:pos x="f231" y="f227"/>
                </a:cxn>
                <a:cxn ang="f157">
                  <a:pos x="f229" y="f250"/>
                </a:cxn>
                <a:cxn ang="f157">
                  <a:pos x="f252" y="f253"/>
                </a:cxn>
                <a:cxn ang="f157">
                  <a:pos x="f252" y="f254"/>
                </a:cxn>
                <a:cxn ang="f157">
                  <a:pos x="f229" y="f255"/>
                </a:cxn>
                <a:cxn ang="f157">
                  <a:pos x="f238" y="f256"/>
                </a:cxn>
                <a:cxn ang="f157">
                  <a:pos x="f257" y="f224"/>
                </a:cxn>
                <a:cxn ang="f157">
                  <a:pos x="f251" y="f256"/>
                </a:cxn>
                <a:cxn ang="f157">
                  <a:pos x="f233" y="f255"/>
                </a:cxn>
                <a:cxn ang="f157">
                  <a:pos x="f245" y="f258"/>
                </a:cxn>
                <a:cxn ang="f157">
                  <a:pos x="f211" y="f259"/>
                </a:cxn>
                <a:cxn ang="f157">
                  <a:pos x="f211" y="f250"/>
                </a:cxn>
              </a:cxnLst>
              <a:rect l="f207" t="f210" r="f208" b="f209"/>
              <a:pathLst>
                <a:path w="32" h="40">
                  <a:moveTo>
                    <a:pt x="f8" y="f9"/>
                  </a:moveTo>
                  <a:cubicBezTo>
                    <a:pt x="f8" y="f10"/>
                    <a:pt x="f8" y="f10"/>
                    <a:pt x="f8" y="f10"/>
                  </a:cubicBezTo>
                  <a:cubicBezTo>
                    <a:pt x="f11" y="f12"/>
                    <a:pt x="f11" y="f13"/>
                    <a:pt x="f14" y="f13"/>
                  </a:cubicBezTo>
                  <a:cubicBezTo>
                    <a:pt x="f15" y="f13"/>
                    <a:pt x="f15" y="f16"/>
                    <a:pt x="f17" y="f16"/>
                  </a:cubicBezTo>
                  <a:cubicBezTo>
                    <a:pt x="f18" y="f9"/>
                    <a:pt x="f19" y="f9"/>
                    <a:pt x="f20" y="f9"/>
                  </a:cubicBezTo>
                  <a:cubicBezTo>
                    <a:pt x="f21" y="f9"/>
                    <a:pt x="f22" y="f7"/>
                    <a:pt x="f23" y="f7"/>
                  </a:cubicBezTo>
                  <a:cubicBezTo>
                    <a:pt x="f24" y="f7"/>
                    <a:pt x="f25" y="f9"/>
                    <a:pt x="f26" y="f9"/>
                  </a:cubicBezTo>
                  <a:cubicBezTo>
                    <a:pt x="f27" y="f16"/>
                    <a:pt x="f28" y="f16"/>
                    <a:pt x="f29" y="f13"/>
                  </a:cubicBezTo>
                  <a:cubicBezTo>
                    <a:pt x="f30" y="f12"/>
                    <a:pt x="f31" y="f32"/>
                    <a:pt x="f31" y="f33"/>
                  </a:cubicBezTo>
                  <a:cubicBezTo>
                    <a:pt x="f34" y="f35"/>
                    <a:pt x="f5" y="f36"/>
                    <a:pt x="f5" y="f37"/>
                  </a:cubicBezTo>
                  <a:cubicBezTo>
                    <a:pt x="f5" y="f8"/>
                    <a:pt x="f34" y="f11"/>
                    <a:pt x="f31" y="f15"/>
                  </a:cubicBezTo>
                  <a:cubicBezTo>
                    <a:pt x="f31" y="f17"/>
                    <a:pt x="f30" y="f19"/>
                    <a:pt x="f29" y="f20"/>
                  </a:cubicBezTo>
                  <a:cubicBezTo>
                    <a:pt x="f28" y="f21"/>
                    <a:pt x="f38" y="f22"/>
                    <a:pt x="f39" y="f22"/>
                  </a:cubicBezTo>
                  <a:cubicBezTo>
                    <a:pt x="f24" y="f23"/>
                    <a:pt x="f23" y="f23"/>
                    <a:pt x="f21" y="f23"/>
                  </a:cubicBezTo>
                  <a:cubicBezTo>
                    <a:pt x="f19" y="f23"/>
                    <a:pt x="f18" y="f23"/>
                    <a:pt x="f15" y="f22"/>
                  </a:cubicBezTo>
                  <a:cubicBezTo>
                    <a:pt x="f14" y="f22"/>
                    <a:pt x="f11" y="f22"/>
                    <a:pt x="f8" y="f21"/>
                  </a:cubicBezTo>
                  <a:cubicBezTo>
                    <a:pt x="f8" y="f40"/>
                    <a:pt x="f8" y="f40"/>
                    <a:pt x="f8" y="f40"/>
                  </a:cubicBezTo>
                  <a:cubicBezTo>
                    <a:pt x="f8" y="f25"/>
                    <a:pt x="f8" y="f26"/>
                    <a:pt x="f14" y="f38"/>
                  </a:cubicBezTo>
                  <a:cubicBezTo>
                    <a:pt x="f15" y="f27"/>
                    <a:pt x="f18" y="f28"/>
                    <a:pt x="f20" y="f28"/>
                  </a:cubicBezTo>
                  <a:cubicBezTo>
                    <a:pt x="f22" y="f28"/>
                    <a:pt x="f40" y="f28"/>
                    <a:pt x="f24" y="f27"/>
                  </a:cubicBezTo>
                  <a:cubicBezTo>
                    <a:pt x="f39" y="f27"/>
                    <a:pt x="f26" y="f38"/>
                    <a:pt x="f27" y="f26"/>
                  </a:cubicBezTo>
                  <a:cubicBezTo>
                    <a:pt x="f41" y="f30"/>
                    <a:pt x="f41" y="f30"/>
                    <a:pt x="f41" y="f30"/>
                  </a:cubicBezTo>
                  <a:cubicBezTo>
                    <a:pt x="f28" y="f31"/>
                    <a:pt x="f38" y="f34"/>
                    <a:pt x="f39" y="f5"/>
                  </a:cubicBezTo>
                  <a:cubicBezTo>
                    <a:pt x="f24" y="f5"/>
                    <a:pt x="f22" y="f5"/>
                    <a:pt x="f20" y="f5"/>
                  </a:cubicBezTo>
                  <a:cubicBezTo>
                    <a:pt x="f18" y="f5"/>
                    <a:pt x="f15" y="f5"/>
                    <a:pt x="f11" y="f5"/>
                  </a:cubicBezTo>
                  <a:cubicBezTo>
                    <a:pt x="f42" y="f34"/>
                    <a:pt x="f43" y="f31"/>
                    <a:pt x="f44" y="f30"/>
                  </a:cubicBezTo>
                  <a:cubicBezTo>
                    <a:pt x="f36" y="f41"/>
                    <a:pt x="f45" y="f29"/>
                    <a:pt x="f35" y="f27"/>
                  </a:cubicBezTo>
                  <a:cubicBezTo>
                    <a:pt x="f35" y="f38"/>
                    <a:pt x="f6" y="f39"/>
                    <a:pt x="f6" y="f24"/>
                  </a:cubicBezTo>
                  <a:cubicBezTo>
                    <a:pt x="f6" y="f9"/>
                    <a:pt x="f6" y="f9"/>
                    <a:pt x="f6" y="f9"/>
                  </a:cubicBezTo>
                  <a:lnTo>
                    <a:pt x="f8" y="f9"/>
                  </a:lnTo>
                  <a:close/>
                  <a:moveTo>
                    <a:pt x="f8" y="f14"/>
                  </a:moveTo>
                  <a:cubicBezTo>
                    <a:pt x="f8" y="f14"/>
                    <a:pt x="f11" y="f14"/>
                    <a:pt x="f14" y="f14"/>
                  </a:cubicBezTo>
                  <a:cubicBezTo>
                    <a:pt x="f14" y="f15"/>
                    <a:pt x="f15" y="f15"/>
                    <a:pt x="f15" y="f15"/>
                  </a:cubicBezTo>
                  <a:cubicBezTo>
                    <a:pt x="f17" y="f15"/>
                    <a:pt x="f18" y="f15"/>
                    <a:pt x="f19" y="f15"/>
                  </a:cubicBezTo>
                  <a:cubicBezTo>
                    <a:pt x="f20" y="f15"/>
                    <a:pt x="f20" y="f15"/>
                    <a:pt x="f21" y="f15"/>
                  </a:cubicBezTo>
                  <a:cubicBezTo>
                    <a:pt x="f40" y="f15"/>
                    <a:pt x="f25" y="f15"/>
                    <a:pt x="f39" y="f14"/>
                  </a:cubicBezTo>
                  <a:cubicBezTo>
                    <a:pt x="f38" y="f11"/>
                    <a:pt x="f38" y="f42"/>
                    <a:pt x="f38" y="f43"/>
                  </a:cubicBezTo>
                  <a:cubicBezTo>
                    <a:pt x="f38" y="f44"/>
                    <a:pt x="f38" y="f36"/>
                    <a:pt x="f38" y="f36"/>
                  </a:cubicBezTo>
                  <a:cubicBezTo>
                    <a:pt x="f26" y="f45"/>
                    <a:pt x="f26" y="f35"/>
                    <a:pt x="f39" y="f35"/>
                  </a:cubicBezTo>
                  <a:cubicBezTo>
                    <a:pt x="f39" y="f6"/>
                    <a:pt x="f25" y="f6"/>
                    <a:pt x="f24" y="f6"/>
                  </a:cubicBezTo>
                  <a:cubicBezTo>
                    <a:pt x="f40" y="f33"/>
                    <a:pt x="f23" y="f33"/>
                    <a:pt x="f22" y="f33"/>
                  </a:cubicBezTo>
                  <a:cubicBezTo>
                    <a:pt x="f21" y="f33"/>
                    <a:pt x="f20" y="f33"/>
                    <a:pt x="f19" y="f6"/>
                  </a:cubicBezTo>
                  <a:cubicBezTo>
                    <a:pt x="f18" y="f6"/>
                    <a:pt x="f17" y="f6"/>
                    <a:pt x="f15" y="f35"/>
                  </a:cubicBezTo>
                  <a:cubicBezTo>
                    <a:pt x="f15" y="f35"/>
                    <a:pt x="f14" y="f45"/>
                    <a:pt x="f11" y="f45"/>
                  </a:cubicBezTo>
                  <a:cubicBezTo>
                    <a:pt x="f11" y="f36"/>
                    <a:pt x="f8" y="f44"/>
                    <a:pt x="f8" y="f44"/>
                  </a:cubicBezTo>
                  <a:lnTo>
                    <a:pt x="f8" y="f14"/>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0" name="Freeform 42">
              <a:extLst>
                <a:ext uri="{FF2B5EF4-FFF2-40B4-BE49-F238E27FC236}">
                  <a16:creationId xmlns:a16="http://schemas.microsoft.com/office/drawing/2014/main" id="{4DE1A828-4A3F-A2BB-2D2E-98E2338E7FAD}"/>
                </a:ext>
              </a:extLst>
            </p:cNvPr>
            <p:cNvSpPr/>
            <p:nvPr/>
          </p:nvSpPr>
          <p:spPr>
            <a:xfrm>
              <a:off x="3875419"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2"/>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25"/>
                <a:gd name="f28" fmla="val 26"/>
                <a:gd name="f29" fmla="val 28"/>
                <a:gd name="f30" fmla="val 29"/>
                <a:gd name="f31" fmla="val 5"/>
                <a:gd name="f32" fmla="val 30"/>
                <a:gd name="f33" fmla="+- 0 0 -90"/>
                <a:gd name="f34" fmla="*/ f3 1 31"/>
                <a:gd name="f35" fmla="*/ f4 1 39"/>
                <a:gd name="f36" fmla="+- f7 0 f5"/>
                <a:gd name="f37" fmla="+- f6 0 f5"/>
                <a:gd name="f38" fmla="*/ f33 f0 1"/>
                <a:gd name="f39" fmla="*/ f37 1 31"/>
                <a:gd name="f40" fmla="*/ f36 1 39"/>
                <a:gd name="f41" fmla="*/ 23 f37 1"/>
                <a:gd name="f42" fmla="*/ 39 f36 1"/>
                <a:gd name="f43" fmla="*/ 17 f36 1"/>
                <a:gd name="f44" fmla="*/ 22 f37 1"/>
                <a:gd name="f45" fmla="*/ 9 f36 1"/>
                <a:gd name="f46" fmla="*/ 15 f37 1"/>
                <a:gd name="f47" fmla="*/ 7 f36 1"/>
                <a:gd name="f48" fmla="*/ 12 f37 1"/>
                <a:gd name="f49" fmla="*/ 10 f37 1"/>
                <a:gd name="f50" fmla="*/ 8 f37 1"/>
                <a:gd name="f51" fmla="*/ 12 f36 1"/>
                <a:gd name="f52" fmla="*/ 16 f36 1"/>
                <a:gd name="f53" fmla="*/ 0 f37 1"/>
                <a:gd name="f54" fmla="*/ 0 f36 1"/>
                <a:gd name="f55" fmla="*/ 4 f36 1"/>
                <a:gd name="f56" fmla="*/ 9 f37 1"/>
                <a:gd name="f57" fmla="*/ 2 f36 1"/>
                <a:gd name="f58" fmla="*/ 1 f36 1"/>
                <a:gd name="f59" fmla="*/ 14 f37 1"/>
                <a:gd name="f60" fmla="*/ 17 f37 1"/>
                <a:gd name="f61" fmla="*/ 28 f37 1"/>
                <a:gd name="f62" fmla="*/ 30 f37 1"/>
                <a:gd name="f63" fmla="*/ 31 f37 1"/>
                <a:gd name="f64" fmla="*/ f38 1 f2"/>
                <a:gd name="f65" fmla="*/ f41 1 31"/>
                <a:gd name="f66" fmla="*/ f42 1 39"/>
                <a:gd name="f67" fmla="*/ f43 1 39"/>
                <a:gd name="f68" fmla="*/ f44 1 31"/>
                <a:gd name="f69" fmla="*/ f45 1 39"/>
                <a:gd name="f70" fmla="*/ f46 1 31"/>
                <a:gd name="f71" fmla="*/ f47 1 39"/>
                <a:gd name="f72" fmla="*/ f48 1 31"/>
                <a:gd name="f73" fmla="*/ f49 1 31"/>
                <a:gd name="f74" fmla="*/ f50 1 31"/>
                <a:gd name="f75" fmla="*/ f51 1 39"/>
                <a:gd name="f76" fmla="*/ f52 1 39"/>
                <a:gd name="f77" fmla="*/ f53 1 31"/>
                <a:gd name="f78" fmla="*/ f54 1 39"/>
                <a:gd name="f79" fmla="*/ f55 1 39"/>
                <a:gd name="f80" fmla="*/ f56 1 31"/>
                <a:gd name="f81" fmla="*/ f57 1 39"/>
                <a:gd name="f82" fmla="*/ f58 1 39"/>
                <a:gd name="f83" fmla="*/ f59 1 31"/>
                <a:gd name="f84" fmla="*/ f60 1 31"/>
                <a:gd name="f85" fmla="*/ f61 1 31"/>
                <a:gd name="f86" fmla="*/ f62 1 31"/>
                <a:gd name="f87" fmla="*/ f63 1 31"/>
                <a:gd name="f88" fmla="*/ 0 1 f39"/>
                <a:gd name="f89" fmla="*/ f6 1 f39"/>
                <a:gd name="f90" fmla="*/ 0 1 f40"/>
                <a:gd name="f91" fmla="*/ f7 1 f40"/>
                <a:gd name="f92" fmla="+- f64 0 f1"/>
                <a:gd name="f93" fmla="*/ f65 1 f39"/>
                <a:gd name="f94" fmla="*/ f66 1 f40"/>
                <a:gd name="f95" fmla="*/ f67 1 f40"/>
                <a:gd name="f96" fmla="*/ f68 1 f39"/>
                <a:gd name="f97" fmla="*/ f69 1 f40"/>
                <a:gd name="f98" fmla="*/ f70 1 f39"/>
                <a:gd name="f99" fmla="*/ f71 1 f40"/>
                <a:gd name="f100" fmla="*/ f72 1 f39"/>
                <a:gd name="f101" fmla="*/ f73 1 f39"/>
                <a:gd name="f102" fmla="*/ f74 1 f39"/>
                <a:gd name="f103" fmla="*/ f75 1 f40"/>
                <a:gd name="f104" fmla="*/ f76 1 f40"/>
                <a:gd name="f105" fmla="*/ f77 1 f39"/>
                <a:gd name="f106" fmla="*/ f78 1 f40"/>
                <a:gd name="f107" fmla="*/ f79 1 f40"/>
                <a:gd name="f108" fmla="*/ f80 1 f39"/>
                <a:gd name="f109" fmla="*/ f81 1 f40"/>
                <a:gd name="f110" fmla="*/ f82 1 f40"/>
                <a:gd name="f111" fmla="*/ f83 1 f39"/>
                <a:gd name="f112" fmla="*/ f84 1 f39"/>
                <a:gd name="f113" fmla="*/ f85 1 f39"/>
                <a:gd name="f114" fmla="*/ f86 1 f39"/>
                <a:gd name="f115" fmla="*/ f87 1 f39"/>
                <a:gd name="f116" fmla="*/ f88 f34 1"/>
                <a:gd name="f117" fmla="*/ f89 f34 1"/>
                <a:gd name="f118" fmla="*/ f91 f35 1"/>
                <a:gd name="f119" fmla="*/ f90 f35 1"/>
                <a:gd name="f120" fmla="*/ f93 f34 1"/>
                <a:gd name="f121" fmla="*/ f94 f35 1"/>
                <a:gd name="f122" fmla="*/ f95 f35 1"/>
                <a:gd name="f123" fmla="*/ f96 f34 1"/>
                <a:gd name="f124" fmla="*/ f97 f35 1"/>
                <a:gd name="f125" fmla="*/ f98 f34 1"/>
                <a:gd name="f126" fmla="*/ f99 f35 1"/>
                <a:gd name="f127" fmla="*/ f100 f34 1"/>
                <a:gd name="f128" fmla="*/ f101 f34 1"/>
                <a:gd name="f129" fmla="*/ f102 f34 1"/>
                <a:gd name="f130" fmla="*/ f103 f35 1"/>
                <a:gd name="f131" fmla="*/ f104 f35 1"/>
                <a:gd name="f132" fmla="*/ f105 f34 1"/>
                <a:gd name="f133" fmla="*/ f106 f35 1"/>
                <a:gd name="f134" fmla="*/ f107 f35 1"/>
                <a:gd name="f135" fmla="*/ f108 f34 1"/>
                <a:gd name="f136" fmla="*/ f109 f35 1"/>
                <a:gd name="f137" fmla="*/ f110 f35 1"/>
                <a:gd name="f138" fmla="*/ f111 f34 1"/>
                <a:gd name="f139" fmla="*/ f112 f34 1"/>
                <a:gd name="f140" fmla="*/ f113 f34 1"/>
                <a:gd name="f141" fmla="*/ f114 f34 1"/>
                <a:gd name="f142" fmla="*/ f115 f34 1"/>
              </a:gdLst>
              <a:ahLst/>
              <a:cxnLst>
                <a:cxn ang="3cd4">
                  <a:pos x="hc" y="t"/>
                </a:cxn>
                <a:cxn ang="0">
                  <a:pos x="r" y="vc"/>
                </a:cxn>
                <a:cxn ang="cd4">
                  <a:pos x="hc" y="b"/>
                </a:cxn>
                <a:cxn ang="cd2">
                  <a:pos x="l" y="vc"/>
                </a:cxn>
                <a:cxn ang="f92">
                  <a:pos x="f120" y="f121"/>
                </a:cxn>
                <a:cxn ang="f92">
                  <a:pos x="f120" y="f122"/>
                </a:cxn>
                <a:cxn ang="f92">
                  <a:pos x="f123" y="f124"/>
                </a:cxn>
                <a:cxn ang="f92">
                  <a:pos x="f125" y="f126"/>
                </a:cxn>
                <a:cxn ang="f92">
                  <a:pos x="f127" y="f126"/>
                </a:cxn>
                <a:cxn ang="f92">
                  <a:pos x="f128" y="f124"/>
                </a:cxn>
                <a:cxn ang="f92">
                  <a:pos x="f129" y="f130"/>
                </a:cxn>
                <a:cxn ang="f92">
                  <a:pos x="f129" y="f131"/>
                </a:cxn>
                <a:cxn ang="f92">
                  <a:pos x="f129" y="f121"/>
                </a:cxn>
                <a:cxn ang="f92">
                  <a:pos x="f132" y="f121"/>
                </a:cxn>
                <a:cxn ang="f92">
                  <a:pos x="f132" y="f133"/>
                </a:cxn>
                <a:cxn ang="f92">
                  <a:pos x="f129" y="f133"/>
                </a:cxn>
                <a:cxn ang="f92">
                  <a:pos x="f129" y="f134"/>
                </a:cxn>
                <a:cxn ang="f92">
                  <a:pos x="f135" y="f136"/>
                </a:cxn>
                <a:cxn ang="f92">
                  <a:pos x="f127" y="f137"/>
                </a:cxn>
                <a:cxn ang="f92">
                  <a:pos x="f138" y="f133"/>
                </a:cxn>
                <a:cxn ang="f92">
                  <a:pos x="f139" y="f133"/>
                </a:cxn>
                <a:cxn ang="f92">
                  <a:pos x="f120" y="f137"/>
                </a:cxn>
                <a:cxn ang="f92">
                  <a:pos x="f140" y="f134"/>
                </a:cxn>
                <a:cxn ang="f92">
                  <a:pos x="f141" y="f124"/>
                </a:cxn>
                <a:cxn ang="f92">
                  <a:pos x="f142" y="f122"/>
                </a:cxn>
                <a:cxn ang="f92">
                  <a:pos x="f142" y="f121"/>
                </a:cxn>
                <a:cxn ang="f92">
                  <a:pos x="f120" y="f121"/>
                </a:cxn>
              </a:cxnLst>
              <a:rect l="f116" t="f119" r="f117" b="f118"/>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21" y="f13"/>
                  </a:cubicBezTo>
                  <a:cubicBezTo>
                    <a:pt x="f13" y="f21"/>
                    <a:pt x="f20" y="f11"/>
                    <a:pt x="f20" y="f19"/>
                  </a:cubicBezTo>
                  <a:cubicBezTo>
                    <a:pt x="f20" y="f10"/>
                    <a:pt x="f20" y="f17"/>
                    <a:pt x="f20" y="f22"/>
                  </a:cubicBezTo>
                  <a:cubicBezTo>
                    <a:pt x="f20" y="f7"/>
                    <a:pt x="f20" y="f7"/>
                    <a:pt x="f20" y="f7"/>
                  </a:cubicBezTo>
                  <a:cubicBezTo>
                    <a:pt x="f5" y="f7"/>
                    <a:pt x="f5" y="f7"/>
                    <a:pt x="f5" y="f7"/>
                  </a:cubicBezTo>
                  <a:cubicBezTo>
                    <a:pt x="f5" y="f5"/>
                    <a:pt x="f5" y="f5"/>
                    <a:pt x="f5" y="f5"/>
                  </a:cubicBezTo>
                  <a:cubicBezTo>
                    <a:pt x="f20" y="f5"/>
                    <a:pt x="f20" y="f5"/>
                    <a:pt x="f20" y="f5"/>
                  </a:cubicBezTo>
                  <a:cubicBezTo>
                    <a:pt x="f20" y="f23"/>
                    <a:pt x="f20" y="f23"/>
                    <a:pt x="f20" y="f23"/>
                  </a:cubicBezTo>
                  <a:cubicBezTo>
                    <a:pt x="f20" y="f24"/>
                    <a:pt x="f13" y="f24"/>
                    <a:pt x="f13" y="f25"/>
                  </a:cubicBezTo>
                  <a:cubicBezTo>
                    <a:pt x="f21" y="f25"/>
                    <a:pt x="f11" y="f26"/>
                    <a:pt x="f19" y="f26"/>
                  </a:cubicBezTo>
                  <a:cubicBezTo>
                    <a:pt x="f19" y="f5"/>
                    <a:pt x="f18" y="f5"/>
                    <a:pt x="f10" y="f5"/>
                  </a:cubicBezTo>
                  <a:cubicBezTo>
                    <a:pt x="f17" y="f5"/>
                    <a:pt x="f22" y="f5"/>
                    <a:pt x="f9" y="f5"/>
                  </a:cubicBezTo>
                  <a:cubicBezTo>
                    <a:pt x="f14" y="f5"/>
                    <a:pt x="f12" y="f5"/>
                    <a:pt x="f8" y="f26"/>
                  </a:cubicBezTo>
                  <a:cubicBezTo>
                    <a:pt x="f27" y="f26"/>
                    <a:pt x="f28" y="f25"/>
                    <a:pt x="f29" y="f23"/>
                  </a:cubicBezTo>
                  <a:cubicBezTo>
                    <a:pt x="f30" y="f31"/>
                    <a:pt x="f30" y="f15"/>
                    <a:pt x="f32" y="f13"/>
                  </a:cubicBezTo>
                  <a:cubicBezTo>
                    <a:pt x="f6"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1" name="Freeform 43">
              <a:extLst>
                <a:ext uri="{FF2B5EF4-FFF2-40B4-BE49-F238E27FC236}">
                  <a16:creationId xmlns:a16="http://schemas.microsoft.com/office/drawing/2014/main" id="{873062FF-A834-D8C4-B105-33E1578612DB}"/>
                </a:ext>
              </a:extLst>
            </p:cNvPr>
            <p:cNvSpPr/>
            <p:nvPr/>
          </p:nvSpPr>
          <p:spPr>
            <a:xfrm>
              <a:off x="3973013"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2"/>
                <a:gd name="f22" fmla="val 11"/>
                <a:gd name="f23" fmla="val 9"/>
                <a:gd name="f24" fmla="val 13"/>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3"/>
                <a:gd name="f42" fmla="val 5"/>
                <a:gd name="f43" fmla="val 31"/>
                <a:gd name="f44" fmla="val 3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2 f49 1"/>
                <a:gd name="f66" fmla="*/ 13 f50 1"/>
                <a:gd name="f67" fmla="*/ 14 f49 1"/>
                <a:gd name="f68" fmla="*/ 16 f50 1"/>
                <a:gd name="f69" fmla="*/ 15 f49 1"/>
                <a:gd name="f70" fmla="*/ 22 f50 1"/>
                <a:gd name="f71" fmla="*/ 18 f49 1"/>
                <a:gd name="f72" fmla="*/ 26 f50 1"/>
                <a:gd name="f73" fmla="*/ 20 f49 1"/>
                <a:gd name="f74" fmla="*/ 24 f49 1"/>
                <a:gd name="f75" fmla="*/ 29 f50 1"/>
                <a:gd name="f76" fmla="*/ 28 f49 1"/>
                <a:gd name="f77" fmla="*/ 34 f49 1"/>
                <a:gd name="f78" fmla="*/ 25 f50 1"/>
                <a:gd name="f79" fmla="*/ 37 f49 1"/>
                <a:gd name="f80" fmla="*/ 39 f49 1"/>
                <a:gd name="f81" fmla="*/ 15 f50 1"/>
                <a:gd name="f82" fmla="*/ 40 f49 1"/>
                <a:gd name="f83" fmla="*/ 7 f50 1"/>
                <a:gd name="f84" fmla="*/ 38 f49 1"/>
                <a:gd name="f85" fmla="*/ 0 f50 1"/>
                <a:gd name="f86" fmla="*/ 35 f49 1"/>
                <a:gd name="f87" fmla="*/ 3 f50 1"/>
                <a:gd name="f88" fmla="*/ 29 f49 1"/>
                <a:gd name="f89" fmla="*/ 32 f49 1"/>
                <a:gd name="f90" fmla="*/ 33 f49 1"/>
                <a:gd name="f91" fmla="*/ 21 f50 1"/>
                <a:gd name="f92" fmla="*/ 27 f49 1"/>
                <a:gd name="f93" fmla="*/ 19 f50 1"/>
                <a:gd name="f94" fmla="*/ 25 f49 1"/>
                <a:gd name="f95" fmla="*/ 22 f49 1"/>
                <a:gd name="f96" fmla="*/ 4 f50 1"/>
                <a:gd name="f97" fmla="*/ 17 f49 1"/>
                <a:gd name="f98" fmla="*/ 2 f50 1"/>
                <a:gd name="f99" fmla="*/ 1 f50 1"/>
                <a:gd name="f100" fmla="*/ 5 f49 1"/>
                <a:gd name="f101" fmla="*/ 5 f50 1"/>
                <a:gd name="f102" fmla="*/ 2 f49 1"/>
                <a:gd name="f103" fmla="*/ 0 f49 1"/>
                <a:gd name="f104" fmla="*/ 1 f49 1"/>
                <a:gd name="f105" fmla="*/ f51 1 f2"/>
                <a:gd name="f106" fmla="*/ f54 1 29"/>
                <a:gd name="f107" fmla="*/ f55 1 40"/>
                <a:gd name="f108" fmla="*/ f56 1 29"/>
                <a:gd name="f109" fmla="*/ f57 1 40"/>
                <a:gd name="f110" fmla="*/ f58 1 29"/>
                <a:gd name="f111" fmla="*/ f59 1 40"/>
                <a:gd name="f112" fmla="*/ f60 1 29"/>
                <a:gd name="f113" fmla="*/ f61 1 40"/>
                <a:gd name="f114" fmla="*/ f62 1 29"/>
                <a:gd name="f115" fmla="*/ f63 1 29"/>
                <a:gd name="f116" fmla="*/ f64 1 40"/>
                <a:gd name="f117" fmla="*/ f65 1 40"/>
                <a:gd name="f118" fmla="*/ f66 1 29"/>
                <a:gd name="f119" fmla="*/ f67 1 40"/>
                <a:gd name="f120" fmla="*/ f68 1 29"/>
                <a:gd name="f121" fmla="*/ f69 1 40"/>
                <a:gd name="f122" fmla="*/ f70 1 29"/>
                <a:gd name="f123" fmla="*/ f71 1 40"/>
                <a:gd name="f124" fmla="*/ f72 1 29"/>
                <a:gd name="f125" fmla="*/ f73 1 40"/>
                <a:gd name="f126" fmla="*/ f74 1 40"/>
                <a:gd name="f127" fmla="*/ f75 1 29"/>
                <a:gd name="f128" fmla="*/ f76 1 40"/>
                <a:gd name="f129" fmla="*/ f77 1 40"/>
                <a:gd name="f130" fmla="*/ f78 1 29"/>
                <a:gd name="f131" fmla="*/ f79 1 40"/>
                <a:gd name="f132" fmla="*/ f80 1 40"/>
                <a:gd name="f133" fmla="*/ f81 1 29"/>
                <a:gd name="f134" fmla="*/ f82 1 40"/>
                <a:gd name="f135" fmla="*/ f83 1 29"/>
                <a:gd name="f136" fmla="*/ f84 1 40"/>
                <a:gd name="f137" fmla="*/ f85 1 29"/>
                <a:gd name="f138" fmla="*/ f86 1 40"/>
                <a:gd name="f139" fmla="*/ f87 1 29"/>
                <a:gd name="f140" fmla="*/ f88 1 40"/>
                <a:gd name="f141" fmla="*/ f89 1 40"/>
                <a:gd name="f142" fmla="*/ f90 1 40"/>
                <a:gd name="f143" fmla="*/ f91 1 29"/>
                <a:gd name="f144" fmla="*/ f92 1 40"/>
                <a:gd name="f145" fmla="*/ f93 1 29"/>
                <a:gd name="f146" fmla="*/ f94 1 40"/>
                <a:gd name="f147" fmla="*/ f95 1 40"/>
                <a:gd name="f148" fmla="*/ f96 1 29"/>
                <a:gd name="f149" fmla="*/ f97 1 40"/>
                <a:gd name="f150" fmla="*/ f98 1 29"/>
                <a:gd name="f151" fmla="*/ f99 1 29"/>
                <a:gd name="f152" fmla="*/ f100 1 40"/>
                <a:gd name="f153" fmla="*/ f101 1 29"/>
                <a:gd name="f154" fmla="*/ f102 1 40"/>
                <a:gd name="f155" fmla="*/ f103 1 40"/>
                <a:gd name="f156" fmla="*/ f104 1 40"/>
                <a:gd name="f157" fmla="*/ 0 1 f52"/>
                <a:gd name="f158" fmla="*/ f6 1 f52"/>
                <a:gd name="f159" fmla="*/ 0 1 f53"/>
                <a:gd name="f160" fmla="*/ f7 1 f53"/>
                <a:gd name="f161" fmla="+- f105 0 f1"/>
                <a:gd name="f162" fmla="*/ f106 1 f52"/>
                <a:gd name="f163" fmla="*/ f107 1 f53"/>
                <a:gd name="f164" fmla="*/ f108 1 f52"/>
                <a:gd name="f165" fmla="*/ f109 1 f53"/>
                <a:gd name="f166" fmla="*/ f110 1 f52"/>
                <a:gd name="f167" fmla="*/ f111 1 f53"/>
                <a:gd name="f168" fmla="*/ f112 1 f52"/>
                <a:gd name="f169" fmla="*/ f113 1 f53"/>
                <a:gd name="f170" fmla="*/ f114 1 f52"/>
                <a:gd name="f171" fmla="*/ f115 1 f52"/>
                <a:gd name="f172" fmla="*/ f116 1 f53"/>
                <a:gd name="f173" fmla="*/ f117 1 f53"/>
                <a:gd name="f174" fmla="*/ f118 1 f52"/>
                <a:gd name="f175" fmla="*/ f119 1 f53"/>
                <a:gd name="f176" fmla="*/ f120 1 f52"/>
                <a:gd name="f177" fmla="*/ f121 1 f53"/>
                <a:gd name="f178" fmla="*/ f122 1 f52"/>
                <a:gd name="f179" fmla="*/ f123 1 f53"/>
                <a:gd name="f180" fmla="*/ f124 1 f52"/>
                <a:gd name="f181" fmla="*/ f125 1 f53"/>
                <a:gd name="f182" fmla="*/ f126 1 f53"/>
                <a:gd name="f183" fmla="*/ f127 1 f52"/>
                <a:gd name="f184" fmla="*/ f128 1 f53"/>
                <a:gd name="f185" fmla="*/ f129 1 f53"/>
                <a:gd name="f186" fmla="*/ f130 1 f52"/>
                <a:gd name="f187" fmla="*/ f131 1 f53"/>
                <a:gd name="f188" fmla="*/ f132 1 f53"/>
                <a:gd name="f189" fmla="*/ f133 1 f52"/>
                <a:gd name="f190" fmla="*/ f134 1 f53"/>
                <a:gd name="f191" fmla="*/ f135 1 f52"/>
                <a:gd name="f192" fmla="*/ f136 1 f53"/>
                <a:gd name="f193" fmla="*/ f137 1 f52"/>
                <a:gd name="f194" fmla="*/ f138 1 f53"/>
                <a:gd name="f195" fmla="*/ f139 1 f52"/>
                <a:gd name="f196" fmla="*/ f140 1 f53"/>
                <a:gd name="f197" fmla="*/ f141 1 f53"/>
                <a:gd name="f198" fmla="*/ f142 1 f53"/>
                <a:gd name="f199" fmla="*/ f143 1 f52"/>
                <a:gd name="f200" fmla="*/ f144 1 f53"/>
                <a:gd name="f201" fmla="*/ f145 1 f52"/>
                <a:gd name="f202" fmla="*/ f146 1 f53"/>
                <a:gd name="f203" fmla="*/ f147 1 f53"/>
                <a:gd name="f204" fmla="*/ f148 1 f52"/>
                <a:gd name="f205" fmla="*/ f149 1 f53"/>
                <a:gd name="f206" fmla="*/ f150 1 f52"/>
                <a:gd name="f207" fmla="*/ f151 1 f52"/>
                <a:gd name="f208" fmla="*/ f152 1 f53"/>
                <a:gd name="f209" fmla="*/ f153 1 f52"/>
                <a:gd name="f210" fmla="*/ f154 1 f53"/>
                <a:gd name="f211" fmla="*/ f155 1 f53"/>
                <a:gd name="f212" fmla="*/ f156 1 f53"/>
                <a:gd name="f213" fmla="*/ f157 f47 1"/>
                <a:gd name="f214" fmla="*/ f158 f47 1"/>
                <a:gd name="f215" fmla="*/ f160 f48 1"/>
                <a:gd name="f216" fmla="*/ f159 f48 1"/>
                <a:gd name="f217" fmla="*/ f162 f47 1"/>
                <a:gd name="f218" fmla="*/ f163 f48 1"/>
                <a:gd name="f219" fmla="*/ f164 f47 1"/>
                <a:gd name="f220" fmla="*/ f165 f48 1"/>
                <a:gd name="f221" fmla="*/ f166 f47 1"/>
                <a:gd name="f222" fmla="*/ f167 f48 1"/>
                <a:gd name="f223" fmla="*/ f168 f47 1"/>
                <a:gd name="f224" fmla="*/ f169 f48 1"/>
                <a:gd name="f225" fmla="*/ f170 f47 1"/>
                <a:gd name="f226" fmla="*/ f171 f47 1"/>
                <a:gd name="f227" fmla="*/ f172 f48 1"/>
                <a:gd name="f228" fmla="*/ f173 f48 1"/>
                <a:gd name="f229" fmla="*/ f174 f47 1"/>
                <a:gd name="f230" fmla="*/ f175 f48 1"/>
                <a:gd name="f231" fmla="*/ f176 f47 1"/>
                <a:gd name="f232" fmla="*/ f177 f48 1"/>
                <a:gd name="f233" fmla="*/ f178 f47 1"/>
                <a:gd name="f234" fmla="*/ f179 f48 1"/>
                <a:gd name="f235" fmla="*/ f180 f47 1"/>
                <a:gd name="f236" fmla="*/ f181 f48 1"/>
                <a:gd name="f237" fmla="*/ f182 f48 1"/>
                <a:gd name="f238" fmla="*/ f183 f47 1"/>
                <a:gd name="f239" fmla="*/ f184 f48 1"/>
                <a:gd name="f240" fmla="*/ f185 f48 1"/>
                <a:gd name="f241" fmla="*/ f186 f47 1"/>
                <a:gd name="f242" fmla="*/ f187 f48 1"/>
                <a:gd name="f243" fmla="*/ f188 f48 1"/>
                <a:gd name="f244" fmla="*/ f189 f47 1"/>
                <a:gd name="f245" fmla="*/ f190 f48 1"/>
                <a:gd name="f246" fmla="*/ f191 f47 1"/>
                <a:gd name="f247" fmla="*/ f192 f48 1"/>
                <a:gd name="f248" fmla="*/ f193 f47 1"/>
                <a:gd name="f249" fmla="*/ f194 f48 1"/>
                <a:gd name="f250" fmla="*/ f195 f47 1"/>
                <a:gd name="f251" fmla="*/ f196 f48 1"/>
                <a:gd name="f252" fmla="*/ f197 f48 1"/>
                <a:gd name="f253" fmla="*/ f198 f48 1"/>
                <a:gd name="f254" fmla="*/ f199 f47 1"/>
                <a:gd name="f255" fmla="*/ f200 f48 1"/>
                <a:gd name="f256" fmla="*/ f201 f47 1"/>
                <a:gd name="f257" fmla="*/ f202 f48 1"/>
                <a:gd name="f258" fmla="*/ f203 f48 1"/>
                <a:gd name="f259" fmla="*/ f204 f47 1"/>
                <a:gd name="f260" fmla="*/ f205 f48 1"/>
                <a:gd name="f261" fmla="*/ f206 f47 1"/>
                <a:gd name="f262" fmla="*/ f207 f47 1"/>
                <a:gd name="f263" fmla="*/ f208 f48 1"/>
                <a:gd name="f264" fmla="*/ f209 f47 1"/>
                <a:gd name="f265" fmla="*/ f210 f48 1"/>
                <a:gd name="f266" fmla="*/ f211 f48 1"/>
                <a:gd name="f267" fmla="*/ f212 f48 1"/>
              </a:gdLst>
              <a:ahLst/>
              <a:cxnLst>
                <a:cxn ang="3cd4">
                  <a:pos x="hc" y="t"/>
                </a:cxn>
                <a:cxn ang="0">
                  <a:pos x="r" y="vc"/>
                </a:cxn>
                <a:cxn ang="cd4">
                  <a:pos x="hc" y="b"/>
                </a:cxn>
                <a:cxn ang="cd2">
                  <a:pos x="l" y="vc"/>
                </a:cxn>
                <a:cxn ang="f161">
                  <a:pos x="f217" y="f218"/>
                </a:cxn>
                <a:cxn ang="f161">
                  <a:pos x="f219" y="f220"/>
                </a:cxn>
                <a:cxn ang="f161">
                  <a:pos x="f221" y="f222"/>
                </a:cxn>
                <a:cxn ang="f161">
                  <a:pos x="f223" y="f224"/>
                </a:cxn>
                <a:cxn ang="f161">
                  <a:pos x="f225" y="f222"/>
                </a:cxn>
                <a:cxn ang="f161">
                  <a:pos x="f226" y="f220"/>
                </a:cxn>
                <a:cxn ang="f161">
                  <a:pos x="f226" y="f227"/>
                </a:cxn>
                <a:cxn ang="f161">
                  <a:pos x="f225" y="f228"/>
                </a:cxn>
                <a:cxn ang="f161">
                  <a:pos x="f229" y="f230"/>
                </a:cxn>
                <a:cxn ang="f161">
                  <a:pos x="f231" y="f232"/>
                </a:cxn>
                <a:cxn ang="f161">
                  <a:pos x="f233" y="f234"/>
                </a:cxn>
                <a:cxn ang="f161">
                  <a:pos x="f235" y="f236"/>
                </a:cxn>
                <a:cxn ang="f161">
                  <a:pos x="f217" y="f237"/>
                </a:cxn>
                <a:cxn ang="f161">
                  <a:pos x="f238" y="f239"/>
                </a:cxn>
                <a:cxn ang="f161">
                  <a:pos x="f217" y="f240"/>
                </a:cxn>
                <a:cxn ang="f161">
                  <a:pos x="f241" y="f242"/>
                </a:cxn>
                <a:cxn ang="f161">
                  <a:pos x="f221" y="f243"/>
                </a:cxn>
                <a:cxn ang="f161">
                  <a:pos x="f244" y="f245"/>
                </a:cxn>
                <a:cxn ang="f161">
                  <a:pos x="f246" y="f247"/>
                </a:cxn>
                <a:cxn ang="f161">
                  <a:pos x="f248" y="f249"/>
                </a:cxn>
                <a:cxn ang="f161">
                  <a:pos x="f250" y="f251"/>
                </a:cxn>
                <a:cxn ang="f161">
                  <a:pos x="f226" y="f252"/>
                </a:cxn>
                <a:cxn ang="f161">
                  <a:pos x="f244" y="f253"/>
                </a:cxn>
                <a:cxn ang="f161">
                  <a:pos x="f221" y="f252"/>
                </a:cxn>
                <a:cxn ang="f161">
                  <a:pos x="f233" y="f251"/>
                </a:cxn>
                <a:cxn ang="f161">
                  <a:pos x="f254" y="f255"/>
                </a:cxn>
                <a:cxn ang="f161">
                  <a:pos x="f256" y="f257"/>
                </a:cxn>
                <a:cxn ang="f161">
                  <a:pos x="f231" y="f237"/>
                </a:cxn>
                <a:cxn ang="f161">
                  <a:pos x="f229" y="f258"/>
                </a:cxn>
                <a:cxn ang="f161">
                  <a:pos x="f246" y="f236"/>
                </a:cxn>
                <a:cxn ang="f161">
                  <a:pos x="f259" y="f260"/>
                </a:cxn>
                <a:cxn ang="f161">
                  <a:pos x="f261" y="f230"/>
                </a:cxn>
                <a:cxn ang="f161">
                  <a:pos x="f262" y="f220"/>
                </a:cxn>
                <a:cxn ang="f161">
                  <a:pos x="f261" y="f263"/>
                </a:cxn>
                <a:cxn ang="f161">
                  <a:pos x="f264" y="f265"/>
                </a:cxn>
                <a:cxn ang="f161">
                  <a:pos x="f226" y="f266"/>
                </a:cxn>
                <a:cxn ang="f161">
                  <a:pos x="f244" y="f266"/>
                </a:cxn>
                <a:cxn ang="f161">
                  <a:pos x="f233" y="f267"/>
                </a:cxn>
                <a:cxn ang="f161">
                  <a:pos x="f217" y="f218"/>
                </a:cxn>
              </a:cxnLst>
              <a:rect l="f213" t="f216" r="f214" b="f215"/>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23" y="f13"/>
                    <a:pt x="f23" y="f23"/>
                    <a:pt x="f23" y="f11"/>
                  </a:cubicBezTo>
                  <a:cubicBezTo>
                    <a:pt x="f23" y="f11"/>
                    <a:pt x="f23" y="f22"/>
                    <a:pt x="f23" y="f22"/>
                  </a:cubicBezTo>
                  <a:cubicBezTo>
                    <a:pt x="f11" y="f21"/>
                    <a:pt x="f11" y="f21"/>
                    <a:pt x="f11" y="f21"/>
                  </a:cubicBezTo>
                  <a:cubicBezTo>
                    <a:pt x="f22" y="f24"/>
                    <a:pt x="f21" y="f24"/>
                    <a:pt x="f24"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1" y="f7"/>
                    <a:pt x="f11" y="f39"/>
                    <a:pt x="f16" y="f38"/>
                  </a:cubicBezTo>
                  <a:cubicBezTo>
                    <a:pt x="f9" y="f37"/>
                    <a:pt x="f40" y="f36"/>
                    <a:pt x="f5" y="f35"/>
                  </a:cubicBezTo>
                  <a:cubicBezTo>
                    <a:pt x="f41" y="f6"/>
                    <a:pt x="f41" y="f6"/>
                    <a:pt x="f41" y="f6"/>
                  </a:cubicBezTo>
                  <a:cubicBezTo>
                    <a:pt x="f42" y="f32"/>
                    <a:pt x="f16" y="f43"/>
                    <a:pt x="f23" y="f33"/>
                  </a:cubicBezTo>
                  <a:cubicBezTo>
                    <a:pt x="f22" y="f33"/>
                    <a:pt x="f24" y="f44"/>
                    <a:pt x="f25" y="f44"/>
                  </a:cubicBezTo>
                  <a:cubicBezTo>
                    <a:pt x="f26" y="f44"/>
                    <a:pt x="f28" y="f33"/>
                    <a:pt x="f15" y="f33"/>
                  </a:cubicBezTo>
                  <a:cubicBezTo>
                    <a:pt x="f14" y="f43"/>
                    <a:pt x="f27" y="f32"/>
                    <a:pt x="f27" y="f6"/>
                  </a:cubicBezTo>
                  <a:cubicBezTo>
                    <a:pt x="f27" y="f8"/>
                    <a:pt x="f14" y="f31"/>
                    <a:pt x="f14" y="f31"/>
                  </a:cubicBezTo>
                  <a:cubicBezTo>
                    <a:pt x="f14" y="f30"/>
                    <a:pt x="f15" y="f29"/>
                    <a:pt x="f28" y="f29"/>
                  </a:cubicBezTo>
                  <a:cubicBezTo>
                    <a:pt x="f17" y="f29"/>
                    <a:pt x="f17" y="f10"/>
                    <a:pt x="f18" y="f10"/>
                  </a:cubicBezTo>
                  <a:cubicBezTo>
                    <a:pt x="f25" y="f12"/>
                    <a:pt x="f20" y="f12"/>
                    <a:pt x="f24" y="f27"/>
                  </a:cubicBezTo>
                  <a:cubicBezTo>
                    <a:pt x="f22" y="f14"/>
                    <a:pt x="f23" y="f15"/>
                    <a:pt x="f16" y="f15"/>
                  </a:cubicBezTo>
                  <a:cubicBezTo>
                    <a:pt x="f19" y="f28"/>
                    <a:pt x="f42" y="f17"/>
                    <a:pt x="f9" y="f26"/>
                  </a:cubicBezTo>
                  <a:cubicBezTo>
                    <a:pt x="f41" y="f18"/>
                    <a:pt x="f40" y="f25"/>
                    <a:pt x="f40" y="f20"/>
                  </a:cubicBezTo>
                  <a:cubicBezTo>
                    <a:pt x="f40" y="f24"/>
                    <a:pt x="f45" y="f21"/>
                    <a:pt x="f45" y="f11"/>
                  </a:cubicBezTo>
                  <a:cubicBezTo>
                    <a:pt x="f45" y="f13"/>
                    <a:pt x="f40" y="f16"/>
                    <a:pt x="f40" y="f42"/>
                  </a:cubicBezTo>
                  <a:cubicBezTo>
                    <a:pt x="f41" y="f9"/>
                    <a:pt x="f9" y="f41"/>
                    <a:pt x="f42" y="f40"/>
                  </a:cubicBezTo>
                  <a:cubicBezTo>
                    <a:pt x="f19" y="f45"/>
                    <a:pt x="f13" y="f45"/>
                    <a:pt x="f23" y="f5"/>
                  </a:cubicBezTo>
                  <a:cubicBezTo>
                    <a:pt x="f22" y="f5"/>
                    <a:pt x="f24" y="f5"/>
                    <a:pt x="f25" y="f5"/>
                  </a:cubicBezTo>
                  <a:cubicBezTo>
                    <a:pt x="f26" y="f5"/>
                    <a:pt x="f28" y="f5"/>
                    <a:pt x="f27" y="f45"/>
                  </a:cubicBezTo>
                  <a:cubicBezTo>
                    <a:pt x="f10" y="f40"/>
                    <a:pt x="f30" y="f41"/>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2" name="Freeform 44">
              <a:extLst>
                <a:ext uri="{FF2B5EF4-FFF2-40B4-BE49-F238E27FC236}">
                  <a16:creationId xmlns:a16="http://schemas.microsoft.com/office/drawing/2014/main" id="{7F03316D-31D8-7DC2-DA1C-8A8B0E06689D}"/>
                </a:ext>
              </a:extLst>
            </p:cNvPr>
            <p:cNvSpPr/>
            <p:nvPr/>
          </p:nvSpPr>
          <p:spPr>
            <a:xfrm>
              <a:off x="4056671" y="6088166"/>
              <a:ext cx="121999" cy="99395"/>
            </a:xfrm>
            <a:custGeom>
              <a:avLst/>
              <a:gdLst>
                <a:gd name="f0" fmla="val 10800000"/>
                <a:gd name="f1" fmla="val 5400000"/>
                <a:gd name="f2" fmla="val 180"/>
                <a:gd name="f3" fmla="val w"/>
                <a:gd name="f4" fmla="val h"/>
                <a:gd name="f5" fmla="val 0"/>
                <a:gd name="f6" fmla="val 70"/>
                <a:gd name="f7" fmla="val 57"/>
                <a:gd name="f8" fmla="val 55"/>
                <a:gd name="f9" fmla="val 45"/>
                <a:gd name="f10" fmla="val 35"/>
                <a:gd name="f11" fmla="val 17"/>
                <a:gd name="f12" fmla="val 25"/>
                <a:gd name="f13" fmla="val 14"/>
                <a:gd name="f14" fmla="val 10"/>
                <a:gd name="f15" fmla="val 20"/>
                <a:gd name="f16" fmla="val 39"/>
                <a:gd name="f17" fmla="val 30"/>
                <a:gd name="f18" fmla="val 49"/>
                <a:gd name="f19" fmla="val 60"/>
                <a:gd name="f20" fmla="+- 0 0 -90"/>
                <a:gd name="f21" fmla="*/ f3 1 70"/>
                <a:gd name="f22" fmla="*/ f4 1 57"/>
                <a:gd name="f23" fmla="+- f7 0 f5"/>
                <a:gd name="f24" fmla="+- f6 0 f5"/>
                <a:gd name="f25" fmla="*/ f20 f0 1"/>
                <a:gd name="f26" fmla="*/ f24 1 70"/>
                <a:gd name="f27" fmla="*/ f23 1 57"/>
                <a:gd name="f28" fmla="*/ 55 f24 1"/>
                <a:gd name="f29" fmla="*/ 57 f23 1"/>
                <a:gd name="f30" fmla="*/ 45 f24 1"/>
                <a:gd name="f31" fmla="*/ 35 f24 1"/>
                <a:gd name="f32" fmla="*/ 17 f23 1"/>
                <a:gd name="f33" fmla="*/ 25 f24 1"/>
                <a:gd name="f34" fmla="*/ 14 f24 1"/>
                <a:gd name="f35" fmla="*/ 0 f24 1"/>
                <a:gd name="f36" fmla="*/ 0 f23 1"/>
                <a:gd name="f37" fmla="*/ 10 f24 1"/>
                <a:gd name="f38" fmla="*/ 20 f24 1"/>
                <a:gd name="f39" fmla="*/ 39 f23 1"/>
                <a:gd name="f40" fmla="*/ 30 f24 1"/>
                <a:gd name="f41" fmla="*/ 39 f24 1"/>
                <a:gd name="f42" fmla="*/ 49 f24 1"/>
                <a:gd name="f43" fmla="*/ 60 f24 1"/>
                <a:gd name="f44" fmla="*/ 70 f24 1"/>
                <a:gd name="f45" fmla="*/ f25 1 f2"/>
                <a:gd name="f46" fmla="*/ f28 1 70"/>
                <a:gd name="f47" fmla="*/ f29 1 57"/>
                <a:gd name="f48" fmla="*/ f30 1 70"/>
                <a:gd name="f49" fmla="*/ f31 1 70"/>
                <a:gd name="f50" fmla="*/ f32 1 57"/>
                <a:gd name="f51" fmla="*/ f33 1 70"/>
                <a:gd name="f52" fmla="*/ f34 1 70"/>
                <a:gd name="f53" fmla="*/ f35 1 70"/>
                <a:gd name="f54" fmla="*/ f36 1 57"/>
                <a:gd name="f55" fmla="*/ f37 1 70"/>
                <a:gd name="f56" fmla="*/ f38 1 70"/>
                <a:gd name="f57" fmla="*/ f39 1 57"/>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7">
                  <a:moveTo>
                    <a:pt x="f8" y="f7"/>
                  </a:moveTo>
                  <a:lnTo>
                    <a:pt x="f9" y="f7"/>
                  </a:lnTo>
                  <a:lnTo>
                    <a:pt x="f10" y="f11"/>
                  </a:lnTo>
                  <a:lnTo>
                    <a:pt x="f12" y="f7"/>
                  </a:lnTo>
                  <a:lnTo>
                    <a:pt x="f13" y="f7"/>
                  </a:lnTo>
                  <a:lnTo>
                    <a:pt x="f5" y="f5"/>
                  </a:lnTo>
                  <a:lnTo>
                    <a:pt x="f14" y="f5"/>
                  </a:lnTo>
                  <a:lnTo>
                    <a:pt x="f15" y="f16"/>
                  </a:lnTo>
                  <a:lnTo>
                    <a:pt x="f17" y="f5"/>
                  </a:lnTo>
                  <a:lnTo>
                    <a:pt x="f16" y="f5"/>
                  </a:lnTo>
                  <a:lnTo>
                    <a:pt x="f18" y="f16"/>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3" name="Freeform 45">
              <a:extLst>
                <a:ext uri="{FF2B5EF4-FFF2-40B4-BE49-F238E27FC236}">
                  <a16:creationId xmlns:a16="http://schemas.microsoft.com/office/drawing/2014/main" id="{1DC67FCD-39E9-9EC0-3D56-F3A25946C629}"/>
                </a:ext>
              </a:extLst>
            </p:cNvPr>
            <p:cNvSpPr/>
            <p:nvPr/>
          </p:nvSpPr>
          <p:spPr>
            <a:xfrm>
              <a:off x="4189122"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33"/>
                <a:gd name="f135" fmla="*/ f84 1 40"/>
                <a:gd name="f136" fmla="*/ f85 1 33"/>
                <a:gd name="f137" fmla="*/ f86 1 33"/>
                <a:gd name="f138" fmla="*/ f87 1 40"/>
                <a:gd name="f139" fmla="*/ f88 1 33"/>
                <a:gd name="f140" fmla="*/ f89 1 40"/>
                <a:gd name="f141" fmla="*/ f90 1 40"/>
                <a:gd name="f142" fmla="*/ f91 1 40"/>
                <a:gd name="f143" fmla="*/ f92 1 33"/>
                <a:gd name="f144" fmla="*/ f93 1 40"/>
                <a:gd name="f145" fmla="*/ f94 1 40"/>
                <a:gd name="f146" fmla="*/ f95 1 33"/>
                <a:gd name="f147" fmla="*/ f96 1 33"/>
                <a:gd name="f148" fmla="*/ f97 1 40"/>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2"/>
                <a:gd name="f190" fmla="*/ f135 1 f53"/>
                <a:gd name="f191" fmla="*/ f136 1 f52"/>
                <a:gd name="f192" fmla="*/ f137 1 f52"/>
                <a:gd name="f193" fmla="*/ f138 1 f53"/>
                <a:gd name="f194" fmla="*/ f139 1 f52"/>
                <a:gd name="f195" fmla="*/ f140 1 f53"/>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7 1"/>
                <a:gd name="f244" fmla="*/ f190 f48 1"/>
                <a:gd name="f245" fmla="*/ f191 f47 1"/>
                <a:gd name="f246" fmla="*/ f192 f47 1"/>
                <a:gd name="f247" fmla="*/ f193 f48 1"/>
                <a:gd name="f248" fmla="*/ f194 f47 1"/>
                <a:gd name="f249" fmla="*/ f195 f48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42" y="f235"/>
                </a:cxn>
                <a:cxn ang="f159">
                  <a:pos x="f243" y="f244"/>
                </a:cxn>
                <a:cxn ang="f159">
                  <a:pos x="f245" y="f230"/>
                </a:cxn>
                <a:cxn ang="f159">
                  <a:pos x="f246" y="f247"/>
                </a:cxn>
                <a:cxn ang="f159">
                  <a:pos x="f248" y="f249"/>
                </a:cxn>
                <a:cxn ang="f159">
                  <a:pos x="f246" y="f250"/>
                </a:cxn>
                <a:cxn ang="f159">
                  <a:pos x="f243" y="f251"/>
                </a:cxn>
                <a:cxn ang="f159">
                  <a:pos x="f252" y="f253"/>
                </a:cxn>
                <a:cxn ang="f159">
                  <a:pos x="f225" y="f254"/>
                </a:cxn>
                <a:cxn ang="f159">
                  <a:pos x="f236" y="f253"/>
                </a:cxn>
                <a:cxn ang="f159">
                  <a:pos x="f255" y="f251"/>
                </a:cxn>
                <a:cxn ang="f159">
                  <a:pos x="f256" y="f250"/>
                </a:cxn>
                <a:cxn ang="f159">
                  <a:pos x="f214" y="f215"/>
                </a:cxn>
                <a:cxn ang="f159">
                  <a:pos x="f231" y="f257"/>
                </a:cxn>
                <a:cxn ang="f159">
                  <a:pos x="f231" y="f258"/>
                </a:cxn>
                <a:cxn ang="f159">
                  <a:pos x="f229" y="f259"/>
                </a:cxn>
                <a:cxn ang="f159">
                  <a:pos x="f227" y="f260"/>
                </a:cxn>
                <a:cxn ang="f159">
                  <a:pos x="f261" y="f262"/>
                </a:cxn>
                <a:cxn ang="f159">
                  <a:pos x="f263" y="f260"/>
                </a:cxn>
                <a:cxn ang="f159">
                  <a:pos x="f252" y="f259"/>
                </a:cxn>
                <a:cxn ang="f159">
                  <a:pos x="f219" y="f258"/>
                </a:cxn>
                <a:cxn ang="f159">
                  <a:pos x="f242"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9"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4" name="Freeform 46">
              <a:extLst>
                <a:ext uri="{FF2B5EF4-FFF2-40B4-BE49-F238E27FC236}">
                  <a16:creationId xmlns:a16="http://schemas.microsoft.com/office/drawing/2014/main" id="{DCD6AB4B-F091-CE98-A46E-1076A2B83ED1}"/>
                </a:ext>
              </a:extLst>
            </p:cNvPr>
            <p:cNvSpPr/>
            <p:nvPr/>
          </p:nvSpPr>
          <p:spPr>
            <a:xfrm>
              <a:off x="4293693" y="6088166"/>
              <a:ext cx="57515"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18"/>
                <a:gd name="f13" fmla="val 7"/>
                <a:gd name="f14" fmla="val 17"/>
                <a:gd name="f15" fmla="val 16"/>
                <a:gd name="f16" fmla="val 15"/>
                <a:gd name="f17" fmla="val 13"/>
                <a:gd name="f18" fmla="val 11"/>
                <a:gd name="f19" fmla="val 10"/>
                <a:gd name="f20" fmla="val 9"/>
                <a:gd name="f21" fmla="val 14"/>
                <a:gd name="f22" fmla="val 4"/>
                <a:gd name="f23" fmla="val 3"/>
                <a:gd name="f24" fmla="val 2"/>
                <a:gd name="f25" fmla="val 1"/>
                <a:gd name="f26" fmla="val 12"/>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8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6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2" y="f13"/>
                  </a:cubicBezTo>
                  <a:cubicBezTo>
                    <a:pt x="f14" y="f13"/>
                    <a:pt x="f15" y="f13"/>
                    <a:pt x="f16" y="f13"/>
                  </a:cubicBezTo>
                  <a:cubicBezTo>
                    <a:pt x="f17" y="f13"/>
                    <a:pt x="f18" y="f9"/>
                    <a:pt x="f19" y="f20"/>
                  </a:cubicBezTo>
                  <a:cubicBezTo>
                    <a:pt x="f9" y="f18"/>
                    <a:pt x="f9" y="f21"/>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2"/>
                    <a:pt x="f9" y="f22"/>
                    <a:pt x="f9" y="f22"/>
                  </a:cubicBezTo>
                  <a:cubicBezTo>
                    <a:pt x="f9" y="f23"/>
                    <a:pt x="f20" y="f23"/>
                    <a:pt x="f20" y="f24"/>
                  </a:cubicBezTo>
                  <a:cubicBezTo>
                    <a:pt x="f19" y="f24"/>
                    <a:pt x="f19" y="f25"/>
                    <a:pt x="f18" y="f25"/>
                  </a:cubicBezTo>
                  <a:cubicBezTo>
                    <a:pt x="f26" y="f5"/>
                    <a:pt x="f17" y="f5"/>
                    <a:pt x="f21" y="f5"/>
                  </a:cubicBezTo>
                  <a:cubicBezTo>
                    <a:pt x="f21" y="f5"/>
                    <a:pt x="f16" y="f5"/>
                    <a:pt x="f15" y="f5"/>
                  </a:cubicBezTo>
                  <a:cubicBezTo>
                    <a:pt x="f12" y="f5"/>
                    <a:pt x="f11" y="f5"/>
                    <a:pt x="f10" y="f5"/>
                  </a:cubicBezTo>
                  <a:cubicBezTo>
                    <a:pt x="f8" y="f5"/>
                    <a:pt x="f27" y="f25"/>
                    <a:pt x="f6" y="f25"/>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5" name="Freeform 47">
              <a:extLst>
                <a:ext uri="{FF2B5EF4-FFF2-40B4-BE49-F238E27FC236}">
                  <a16:creationId xmlns:a16="http://schemas.microsoft.com/office/drawing/2014/main" id="{1F4E2471-7853-4206-0C02-E7A1FDA9A0B6}"/>
                </a:ext>
              </a:extLst>
            </p:cNvPr>
            <p:cNvSpPr/>
            <p:nvPr/>
          </p:nvSpPr>
          <p:spPr>
            <a:xfrm>
              <a:off x="4344232" y="6159663"/>
              <a:ext cx="29626"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3 f21 1"/>
                <a:gd name="f30" fmla="*/ 2 f21 1"/>
                <a:gd name="f31" fmla="*/ 0 f21 1"/>
                <a:gd name="f32" fmla="*/ 4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20 1"/>
                <a:gd name="f73" fmla="*/ f52 f20 1"/>
                <a:gd name="f74" fmla="*/ f53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1" y="f60"/>
                </a:cxn>
                <a:cxn ang="f45">
                  <a:pos x="f71" y="f72"/>
                </a:cxn>
                <a:cxn ang="f45">
                  <a:pos x="f70" y="f73"/>
                </a:cxn>
                <a:cxn ang="f45">
                  <a:pos x="f69" y="f74"/>
                </a:cxn>
                <a:cxn ang="f45">
                  <a:pos x="f67" y="f74"/>
                </a:cxn>
                <a:cxn ang="f45">
                  <a:pos x="f65" y="f74"/>
                </a:cxn>
                <a:cxn ang="f45">
                  <a:pos x="f63" y="f73"/>
                </a:cxn>
                <a:cxn ang="f45">
                  <a:pos x="f61" y="f72"/>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5" y="f9"/>
                  </a:cubicBezTo>
                  <a:cubicBezTo>
                    <a:pt x="f15" y="f9"/>
                    <a:pt x="f16" y="f12"/>
                    <a:pt x="f16" y="f12"/>
                  </a:cubicBezTo>
                  <a:cubicBezTo>
                    <a:pt x="f17" y="f11"/>
                    <a:pt x="f17" y="f11"/>
                    <a:pt x="f5" y="f10"/>
                  </a:cubicBezTo>
                  <a:cubicBezTo>
                    <a:pt x="f5" y="f8"/>
                    <a:pt x="f5" y="f8"/>
                    <a:pt x="f5" y="f7"/>
                  </a:cubicBezTo>
                  <a:cubicBezTo>
                    <a:pt x="f5" y="f13"/>
                    <a:pt x="f5" y="f14"/>
                    <a:pt x="f5" y="f14"/>
                  </a:cubicBezTo>
                  <a:cubicBezTo>
                    <a:pt x="f17" y="f15"/>
                    <a:pt x="f17" y="f16"/>
                    <a:pt x="f16" y="f16"/>
                  </a:cubicBezTo>
                  <a:cubicBezTo>
                    <a:pt x="f16" y="f17"/>
                    <a:pt x="f15" y="f17"/>
                    <a:pt x="f15"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6" name="Freeform 48">
              <a:extLst>
                <a:ext uri="{FF2B5EF4-FFF2-40B4-BE49-F238E27FC236}">
                  <a16:creationId xmlns:a16="http://schemas.microsoft.com/office/drawing/2014/main" id="{7E059BA3-09B9-C319-F289-FC8674718E6B}"/>
                </a:ext>
              </a:extLst>
            </p:cNvPr>
            <p:cNvSpPr/>
            <p:nvPr/>
          </p:nvSpPr>
          <p:spPr>
            <a:xfrm>
              <a:off x="497854" y="6264289"/>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2"/>
                <a:gd name="f10" fmla="val 22"/>
                <a:gd name="f11" fmla="+- 0 0 -90"/>
                <a:gd name="f12" fmla="*/ f3 1 54"/>
                <a:gd name="f13" fmla="*/ f4 1 75"/>
                <a:gd name="f14" fmla="+- f7 0 f5"/>
                <a:gd name="f15" fmla="+- f6 0 f5"/>
                <a:gd name="f16" fmla="*/ f11 f0 1"/>
                <a:gd name="f17" fmla="*/ f15 1 54"/>
                <a:gd name="f18" fmla="*/ f14 1 75"/>
                <a:gd name="f19" fmla="*/ 32 f15 1"/>
                <a:gd name="f20" fmla="*/ 12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7" name="Freeform 49">
              <a:extLst>
                <a:ext uri="{FF2B5EF4-FFF2-40B4-BE49-F238E27FC236}">
                  <a16:creationId xmlns:a16="http://schemas.microsoft.com/office/drawing/2014/main" id="{51259161-32BE-E57B-FA21-B1E13B3B8065}"/>
                </a:ext>
              </a:extLst>
            </p:cNvPr>
            <p:cNvSpPr/>
            <p:nvPr/>
          </p:nvSpPr>
          <p:spPr>
            <a:xfrm>
              <a:off x="609392" y="6259049"/>
              <a:ext cx="78428"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2"/>
                <a:gd name="f12" fmla="val 25"/>
                <a:gd name="f13" fmla="val 21"/>
                <a:gd name="f14" fmla="val 24"/>
                <a:gd name="f15" fmla="val 20"/>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9 f38 1"/>
                <a:gd name="f52" fmla="*/ 8 f38 1"/>
                <a:gd name="f53" fmla="*/ 27 f37 1"/>
                <a:gd name="f54" fmla="*/ 7 f38 1"/>
                <a:gd name="f55" fmla="*/ 31 f37 1"/>
                <a:gd name="f56" fmla="*/ 0 f38 1"/>
                <a:gd name="f57" fmla="*/ 4 f37 1"/>
                <a:gd name="f58" fmla="*/ 0 f37 1"/>
                <a:gd name="f59" fmla="*/ 19 f37 1"/>
                <a:gd name="f60" fmla="*/ 17 f37 1"/>
                <a:gd name="f61" fmla="*/ 11 f38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53"/>
                <a:gd name="f90" fmla="*/ f61 1 31"/>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1"/>
                <a:gd name="f123" fmla="*/ f90 1 f40"/>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6 1"/>
                <a:gd name="f155" fmla="*/ f123 f35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45" y="f154"/>
                </a:cxn>
                <a:cxn ang="f103">
                  <a:pos x="f155"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11" y="f12"/>
                    <a:pt x="f13" y="f14"/>
                  </a:cubicBezTo>
                  <a:cubicBezTo>
                    <a:pt x="f15" y="f11"/>
                    <a:pt x="f16" y="f13"/>
                    <a:pt x="f17" y="f13"/>
                  </a:cubicBezTo>
                  <a:cubicBezTo>
                    <a:pt x="f18" y="f13"/>
                    <a:pt x="f19" y="f13"/>
                    <a:pt x="f20" y="f11"/>
                  </a:cubicBezTo>
                  <a:cubicBezTo>
                    <a:pt x="f21" y="f11"/>
                    <a:pt x="f22" y="f8"/>
                    <a:pt x="f23" y="f14"/>
                  </a:cubicBezTo>
                  <a:cubicBezTo>
                    <a:pt x="f23" y="f14"/>
                    <a:pt x="f24" y="f12"/>
                    <a:pt x="f24" y="f25"/>
                  </a:cubicBezTo>
                  <a:cubicBezTo>
                    <a:pt x="f26"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4" y="f30"/>
                    <a:pt x="f23" y="f30"/>
                  </a:cubicBezTo>
                  <a:cubicBezTo>
                    <a:pt x="f22" y="f31"/>
                    <a:pt x="f22" y="f31"/>
                    <a:pt x="f21" y="f17"/>
                  </a:cubicBezTo>
                  <a:cubicBezTo>
                    <a:pt x="f20" y="f17"/>
                    <a:pt x="f19" y="f17"/>
                    <a:pt x="f18" y="f18"/>
                  </a:cubicBezTo>
                  <a:cubicBezTo>
                    <a:pt x="f17" y="f18"/>
                    <a:pt x="f31" y="f18"/>
                    <a:pt x="f30" y="f18"/>
                  </a:cubicBezTo>
                  <a:cubicBezTo>
                    <a:pt x="f29" y="f18"/>
                    <a:pt x="f13" y="f18"/>
                    <a:pt x="f8" y="f17"/>
                  </a:cubicBezTo>
                  <a:cubicBezTo>
                    <a:pt x="f12" y="f31"/>
                    <a:pt x="f32" y="f30"/>
                    <a:pt x="f25" y="f16"/>
                  </a:cubicBezTo>
                  <a:cubicBezTo>
                    <a:pt x="f10" y="f15"/>
                    <a:pt x="f27" y="f11"/>
                    <a:pt x="f33" y="f14"/>
                  </a:cubicBezTo>
                  <a:cubicBezTo>
                    <a:pt x="f33"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8" name="Freeform 50">
              <a:extLst>
                <a:ext uri="{FF2B5EF4-FFF2-40B4-BE49-F238E27FC236}">
                  <a16:creationId xmlns:a16="http://schemas.microsoft.com/office/drawing/2014/main" id="{F9F054DF-B1FA-4677-FD0E-49809DC831BD}"/>
                </a:ext>
              </a:extLst>
            </p:cNvPr>
            <p:cNvSpPr/>
            <p:nvPr/>
          </p:nvSpPr>
          <p:spPr>
            <a:xfrm>
              <a:off x="705249" y="6293924"/>
              <a:ext cx="85395"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7"/>
                <a:gd name="f14" fmla="val 8"/>
                <a:gd name="f15" fmla="val 25"/>
                <a:gd name="f16" fmla="val 26"/>
                <a:gd name="f17" fmla="val 9"/>
                <a:gd name="f18" fmla="val 28"/>
                <a:gd name="f19" fmla="val 29"/>
                <a:gd name="f20" fmla="val 10"/>
                <a:gd name="f21" fmla="val 30"/>
                <a:gd name="f22" fmla="val 11"/>
                <a:gd name="f23" fmla="val 31"/>
                <a:gd name="f24" fmla="val 12"/>
                <a:gd name="f25" fmla="val 32"/>
                <a:gd name="f26" fmla="val 13"/>
                <a:gd name="f27" fmla="val 14"/>
                <a:gd name="f28" fmla="val 15"/>
                <a:gd name="f29" fmla="val 16"/>
                <a:gd name="f30" fmla="val 17"/>
                <a:gd name="f31" fmla="val 18"/>
                <a:gd name="f32" fmla="val 24"/>
                <a:gd name="f33" fmla="val 35"/>
                <a:gd name="f34" fmla="val 36"/>
                <a:gd name="f35" fmla="val 37"/>
                <a:gd name="f36" fmla="val 27"/>
                <a:gd name="f37" fmla="val 38"/>
                <a:gd name="f38" fmla="val 39"/>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7 f50 1"/>
                <a:gd name="f59" fmla="*/ 9 f50 1"/>
                <a:gd name="f60" fmla="*/ 28 f49 1"/>
                <a:gd name="f61" fmla="*/ 11 f50 1"/>
                <a:gd name="f62" fmla="*/ 31 f49 1"/>
                <a:gd name="f63" fmla="*/ 14 f50 1"/>
                <a:gd name="f64" fmla="*/ 33 f49 1"/>
                <a:gd name="f65" fmla="*/ 17 f50 1"/>
                <a:gd name="f66" fmla="*/ 19 f50 1"/>
                <a:gd name="f67" fmla="*/ 22 f50 1"/>
                <a:gd name="f68" fmla="*/ 32 f49 1"/>
                <a:gd name="f69" fmla="*/ 23 f50 1"/>
                <a:gd name="f70" fmla="*/ 25 f50 1"/>
                <a:gd name="f71" fmla="*/ 30 f49 1"/>
                <a:gd name="f72" fmla="*/ 30 f50 1"/>
                <a:gd name="f73" fmla="*/ 35 f49 1"/>
                <a:gd name="f74" fmla="*/ 27 f50 1"/>
                <a:gd name="f75" fmla="*/ 37 f49 1"/>
                <a:gd name="f76" fmla="*/ 24 f50 1"/>
                <a:gd name="f77" fmla="*/ 39 f49 1"/>
                <a:gd name="f78" fmla="*/ 21 f50 1"/>
                <a:gd name="f79" fmla="*/ 40 f49 1"/>
                <a:gd name="f80" fmla="*/ 12 f50 1"/>
                <a:gd name="f81" fmla="*/ 8 f50 1"/>
                <a:gd name="f82" fmla="*/ 38 f49 1"/>
                <a:gd name="f83" fmla="*/ 5 f50 1"/>
                <a:gd name="f84" fmla="*/ 3 f50 1"/>
                <a:gd name="f85" fmla="*/ 1 f50 1"/>
                <a:gd name="f86" fmla="*/ 26 f49 1"/>
                <a:gd name="f87" fmla="*/ 0 f50 1"/>
                <a:gd name="f88" fmla="*/ 20 f49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10 f49 1"/>
                <a:gd name="f101" fmla="*/ 20 f50 1"/>
                <a:gd name="f102" fmla="*/ 8 f49 1"/>
                <a:gd name="f103" fmla="*/ 16 f50 1"/>
                <a:gd name="f104" fmla="*/ 7 f49 1"/>
                <a:gd name="f105" fmla="*/ 13 f50 1"/>
                <a:gd name="f106" fmla="*/ 9 f49 1"/>
                <a:gd name="f107" fmla="*/ f51 1 f2"/>
                <a:gd name="f108" fmla="*/ f54 1 33"/>
                <a:gd name="f109" fmla="*/ f55 1 40"/>
                <a:gd name="f110" fmla="*/ f56 1 40"/>
                <a:gd name="f111" fmla="*/ f57 1 40"/>
                <a:gd name="f112" fmla="*/ f58 1 33"/>
                <a:gd name="f113" fmla="*/ f59 1 33"/>
                <a:gd name="f114" fmla="*/ f60 1 40"/>
                <a:gd name="f115" fmla="*/ f61 1 33"/>
                <a:gd name="f116" fmla="*/ f62 1 40"/>
                <a:gd name="f117" fmla="*/ f63 1 33"/>
                <a:gd name="f118" fmla="*/ f64 1 40"/>
                <a:gd name="f119" fmla="*/ f65 1 33"/>
                <a:gd name="f120" fmla="*/ f66 1 33"/>
                <a:gd name="f121" fmla="*/ f67 1 33"/>
                <a:gd name="f122" fmla="*/ f68 1 40"/>
                <a:gd name="f123" fmla="*/ f69 1 33"/>
                <a:gd name="f124" fmla="*/ f70 1 33"/>
                <a:gd name="f125" fmla="*/ f71 1 40"/>
                <a:gd name="f126" fmla="*/ f72 1 33"/>
                <a:gd name="f127" fmla="*/ f73 1 40"/>
                <a:gd name="f128" fmla="*/ f74 1 33"/>
                <a:gd name="f129" fmla="*/ f75 1 40"/>
                <a:gd name="f130" fmla="*/ f76 1 33"/>
                <a:gd name="f131" fmla="*/ f77 1 40"/>
                <a:gd name="f132" fmla="*/ f78 1 33"/>
                <a:gd name="f133" fmla="*/ f79 1 40"/>
                <a:gd name="f134" fmla="*/ f80 1 33"/>
                <a:gd name="f135" fmla="*/ f81 1 33"/>
                <a:gd name="f136" fmla="*/ f82 1 40"/>
                <a:gd name="f137" fmla="*/ f83 1 33"/>
                <a:gd name="f138" fmla="*/ f84 1 33"/>
                <a:gd name="f139" fmla="*/ f85 1 33"/>
                <a:gd name="f140" fmla="*/ f86 1 40"/>
                <a:gd name="f141" fmla="*/ f87 1 33"/>
                <a:gd name="f142" fmla="*/ f88 1 40"/>
                <a:gd name="f143" fmla="*/ f89 1 40"/>
                <a:gd name="f144" fmla="*/ f90 1 40"/>
                <a:gd name="f145" fmla="*/ f91 1 33"/>
                <a:gd name="f146" fmla="*/ f92 1 40"/>
                <a:gd name="f147" fmla="*/ f93 1 40"/>
                <a:gd name="f148" fmla="*/ f94 1 40"/>
                <a:gd name="f149" fmla="*/ f95 1 33"/>
                <a:gd name="f150" fmla="*/ f96 1 40"/>
                <a:gd name="f151" fmla="*/ f97 1 33"/>
                <a:gd name="f152" fmla="*/ f98 1 40"/>
                <a:gd name="f153" fmla="*/ f99 1 40"/>
                <a:gd name="f154" fmla="*/ f100 1 40"/>
                <a:gd name="f155" fmla="*/ f101 1 33"/>
                <a:gd name="f156" fmla="*/ f102 1 40"/>
                <a:gd name="f157" fmla="*/ f103 1 33"/>
                <a:gd name="f158" fmla="*/ f104 1 40"/>
                <a:gd name="f159" fmla="*/ f105 1 33"/>
                <a:gd name="f160" fmla="*/ f106 1 40"/>
                <a:gd name="f161" fmla="*/ 0 1 f52"/>
                <a:gd name="f162" fmla="*/ f6 1 f52"/>
                <a:gd name="f163" fmla="*/ 0 1 f53"/>
                <a:gd name="f164" fmla="*/ f7 1 f53"/>
                <a:gd name="f165" fmla="+- f107 0 f1"/>
                <a:gd name="f166" fmla="*/ f108 1 f52"/>
                <a:gd name="f167" fmla="*/ f109 1 f53"/>
                <a:gd name="f168" fmla="*/ f110 1 f53"/>
                <a:gd name="f169" fmla="*/ f111 1 f53"/>
                <a:gd name="f170" fmla="*/ f112 1 f52"/>
                <a:gd name="f171" fmla="*/ f113 1 f52"/>
                <a:gd name="f172" fmla="*/ f114 1 f53"/>
                <a:gd name="f173" fmla="*/ f115 1 f52"/>
                <a:gd name="f174" fmla="*/ f116 1 f53"/>
                <a:gd name="f175" fmla="*/ f117 1 f52"/>
                <a:gd name="f176" fmla="*/ f118 1 f53"/>
                <a:gd name="f177" fmla="*/ f119 1 f52"/>
                <a:gd name="f178" fmla="*/ f120 1 f52"/>
                <a:gd name="f179" fmla="*/ f121 1 f52"/>
                <a:gd name="f180" fmla="*/ f122 1 f53"/>
                <a:gd name="f181" fmla="*/ f123 1 f52"/>
                <a:gd name="f182" fmla="*/ f124 1 f52"/>
                <a:gd name="f183" fmla="*/ f125 1 f53"/>
                <a:gd name="f184" fmla="*/ f126 1 f52"/>
                <a:gd name="f185" fmla="*/ f127 1 f53"/>
                <a:gd name="f186" fmla="*/ f128 1 f52"/>
                <a:gd name="f187" fmla="*/ f129 1 f53"/>
                <a:gd name="f188" fmla="*/ f130 1 f52"/>
                <a:gd name="f189" fmla="*/ f131 1 f53"/>
                <a:gd name="f190" fmla="*/ f132 1 f52"/>
                <a:gd name="f191" fmla="*/ f133 1 f53"/>
                <a:gd name="f192" fmla="*/ f134 1 f52"/>
                <a:gd name="f193" fmla="*/ f135 1 f52"/>
                <a:gd name="f194" fmla="*/ f136 1 f53"/>
                <a:gd name="f195" fmla="*/ f137 1 f52"/>
                <a:gd name="f196" fmla="*/ f138 1 f52"/>
                <a:gd name="f197" fmla="*/ f139 1 f52"/>
                <a:gd name="f198" fmla="*/ f140 1 f53"/>
                <a:gd name="f199" fmla="*/ f141 1 f52"/>
                <a:gd name="f200" fmla="*/ f142 1 f53"/>
                <a:gd name="f201" fmla="*/ f143 1 f53"/>
                <a:gd name="f202" fmla="*/ f144 1 f53"/>
                <a:gd name="f203" fmla="*/ f145 1 f52"/>
                <a:gd name="f204" fmla="*/ f146 1 f53"/>
                <a:gd name="f205" fmla="*/ f147 1 f53"/>
                <a:gd name="f206" fmla="*/ f148 1 f53"/>
                <a:gd name="f207" fmla="*/ f149 1 f52"/>
                <a:gd name="f208" fmla="*/ f150 1 f53"/>
                <a:gd name="f209" fmla="*/ f151 1 f52"/>
                <a:gd name="f210" fmla="*/ f152 1 f53"/>
                <a:gd name="f211" fmla="*/ f153 1 f53"/>
                <a:gd name="f212" fmla="*/ f154 1 f53"/>
                <a:gd name="f213" fmla="*/ f155 1 f52"/>
                <a:gd name="f214" fmla="*/ f156 1 f53"/>
                <a:gd name="f215" fmla="*/ f157 1 f52"/>
                <a:gd name="f216" fmla="*/ f158 1 f53"/>
                <a:gd name="f217" fmla="*/ f159 1 f52"/>
                <a:gd name="f218" fmla="*/ f160 1 f53"/>
                <a:gd name="f219" fmla="*/ f161 f47 1"/>
                <a:gd name="f220" fmla="*/ f162 f47 1"/>
                <a:gd name="f221" fmla="*/ f164 f48 1"/>
                <a:gd name="f222" fmla="*/ f163 f48 1"/>
                <a:gd name="f223" fmla="*/ f166 f47 1"/>
                <a:gd name="f224" fmla="*/ f167 f48 1"/>
                <a:gd name="f225" fmla="*/ f168 f48 1"/>
                <a:gd name="f226" fmla="*/ f169 f48 1"/>
                <a:gd name="f227" fmla="*/ f170 f47 1"/>
                <a:gd name="f228" fmla="*/ f171 f47 1"/>
                <a:gd name="f229" fmla="*/ f172 f48 1"/>
                <a:gd name="f230" fmla="*/ f173 f47 1"/>
                <a:gd name="f231" fmla="*/ f174 f48 1"/>
                <a:gd name="f232" fmla="*/ f175 f47 1"/>
                <a:gd name="f233" fmla="*/ f176 f48 1"/>
                <a:gd name="f234" fmla="*/ f177 f47 1"/>
                <a:gd name="f235" fmla="*/ f178 f47 1"/>
                <a:gd name="f236" fmla="*/ f179 f47 1"/>
                <a:gd name="f237" fmla="*/ f180 f48 1"/>
                <a:gd name="f238" fmla="*/ f181 f47 1"/>
                <a:gd name="f239" fmla="*/ f182 f47 1"/>
                <a:gd name="f240" fmla="*/ f183 f48 1"/>
                <a:gd name="f241" fmla="*/ f184 f47 1"/>
                <a:gd name="f242" fmla="*/ f185 f48 1"/>
                <a:gd name="f243" fmla="*/ f186 f47 1"/>
                <a:gd name="f244" fmla="*/ f187 f48 1"/>
                <a:gd name="f245" fmla="*/ f188 f47 1"/>
                <a:gd name="f246" fmla="*/ f189 f48 1"/>
                <a:gd name="f247" fmla="*/ f190 f47 1"/>
                <a:gd name="f248" fmla="*/ f191 f48 1"/>
                <a:gd name="f249" fmla="*/ f192 f47 1"/>
                <a:gd name="f250" fmla="*/ f193 f47 1"/>
                <a:gd name="f251" fmla="*/ f194 f48 1"/>
                <a:gd name="f252" fmla="*/ f195 f47 1"/>
                <a:gd name="f253" fmla="*/ f196 f47 1"/>
                <a:gd name="f254" fmla="*/ f197 f47 1"/>
                <a:gd name="f255" fmla="*/ f198 f48 1"/>
                <a:gd name="f256" fmla="*/ f199 f47 1"/>
                <a:gd name="f257" fmla="*/ f200 f48 1"/>
                <a:gd name="f258" fmla="*/ f201 f48 1"/>
                <a:gd name="f259" fmla="*/ f202 f48 1"/>
                <a:gd name="f260" fmla="*/ f203 f47 1"/>
                <a:gd name="f261" fmla="*/ f204 f48 1"/>
                <a:gd name="f262" fmla="*/ f205 f48 1"/>
                <a:gd name="f263" fmla="*/ f206 f48 1"/>
                <a:gd name="f264" fmla="*/ f207 f47 1"/>
                <a:gd name="f265" fmla="*/ f208 f48 1"/>
                <a:gd name="f266" fmla="*/ f209 f47 1"/>
                <a:gd name="f267" fmla="*/ f210 f48 1"/>
                <a:gd name="f268" fmla="*/ f211 f48 1"/>
                <a:gd name="f269" fmla="*/ f212 f48 1"/>
                <a:gd name="f270" fmla="*/ f213 f47 1"/>
                <a:gd name="f271" fmla="*/ f214 f48 1"/>
                <a:gd name="f272" fmla="*/ f215 f47 1"/>
                <a:gd name="f273" fmla="*/ f216 f48 1"/>
                <a:gd name="f274" fmla="*/ f217 f47 1"/>
                <a:gd name="f275" fmla="*/ f218 f48 1"/>
              </a:gdLst>
              <a:ahLst/>
              <a:cxnLst>
                <a:cxn ang="3cd4">
                  <a:pos x="hc" y="t"/>
                </a:cxn>
                <a:cxn ang="0">
                  <a:pos x="r" y="vc"/>
                </a:cxn>
                <a:cxn ang="cd4">
                  <a:pos x="hc" y="b"/>
                </a:cxn>
                <a:cxn ang="cd2">
                  <a:pos x="l" y="vc"/>
                </a:cxn>
                <a:cxn ang="f165">
                  <a:pos x="f223" y="f224"/>
                </a:cxn>
                <a:cxn ang="f165">
                  <a:pos x="f223" y="f225"/>
                </a:cxn>
                <a:cxn ang="f165">
                  <a:pos x="f223" y="f226"/>
                </a:cxn>
                <a:cxn ang="f165">
                  <a:pos x="f227" y="f226"/>
                </a:cxn>
                <a:cxn ang="f165">
                  <a:pos x="f228" y="f229"/>
                </a:cxn>
                <a:cxn ang="f165">
                  <a:pos x="f230" y="f231"/>
                </a:cxn>
                <a:cxn ang="f165">
                  <a:pos x="f232" y="f233"/>
                </a:cxn>
                <a:cxn ang="f165">
                  <a:pos x="f234" y="f233"/>
                </a:cxn>
                <a:cxn ang="f165">
                  <a:pos x="f235" y="f233"/>
                </a:cxn>
                <a:cxn ang="f165">
                  <a:pos x="f236" y="f237"/>
                </a:cxn>
                <a:cxn ang="f165">
                  <a:pos x="f238" y="f237"/>
                </a:cxn>
                <a:cxn ang="f165">
                  <a:pos x="f239" y="f240"/>
                </a:cxn>
                <a:cxn ang="f165">
                  <a:pos x="f241" y="f242"/>
                </a:cxn>
                <a:cxn ang="f165">
                  <a:pos x="f243" y="f244"/>
                </a:cxn>
                <a:cxn ang="f165">
                  <a:pos x="f245" y="f246"/>
                </a:cxn>
                <a:cxn ang="f165">
                  <a:pos x="f247" y="f248"/>
                </a:cxn>
                <a:cxn ang="f165">
                  <a:pos x="f234" y="f248"/>
                </a:cxn>
                <a:cxn ang="f165">
                  <a:pos x="f249" y="f246"/>
                </a:cxn>
                <a:cxn ang="f165">
                  <a:pos x="f250" y="f251"/>
                </a:cxn>
                <a:cxn ang="f165">
                  <a:pos x="f252" y="f242"/>
                </a:cxn>
                <a:cxn ang="f165">
                  <a:pos x="f253" y="f231"/>
                </a:cxn>
                <a:cxn ang="f165">
                  <a:pos x="f254" y="f255"/>
                </a:cxn>
                <a:cxn ang="f165">
                  <a:pos x="f256" y="f257"/>
                </a:cxn>
                <a:cxn ang="f165">
                  <a:pos x="f254" y="f258"/>
                </a:cxn>
                <a:cxn ang="f165">
                  <a:pos x="f252" y="f259"/>
                </a:cxn>
                <a:cxn ang="f165">
                  <a:pos x="f260" y="f261"/>
                </a:cxn>
                <a:cxn ang="f165">
                  <a:pos x="f234" y="f262"/>
                </a:cxn>
                <a:cxn ang="f165">
                  <a:pos x="f245" y="f263"/>
                </a:cxn>
                <a:cxn ang="f165">
                  <a:pos x="f264" y="f265"/>
                </a:cxn>
                <a:cxn ang="f165">
                  <a:pos x="f266" y="f258"/>
                </a:cxn>
                <a:cxn ang="f165">
                  <a:pos x="f223" y="f224"/>
                </a:cxn>
                <a:cxn ang="f165">
                  <a:pos x="f239" y="f267"/>
                </a:cxn>
                <a:cxn ang="f165">
                  <a:pos x="f239" y="f268"/>
                </a:cxn>
                <a:cxn ang="f165">
                  <a:pos x="f238" y="f269"/>
                </a:cxn>
                <a:cxn ang="f165">
                  <a:pos x="f270" y="f271"/>
                </a:cxn>
                <a:cxn ang="f165">
                  <a:pos x="f272" y="f273"/>
                </a:cxn>
                <a:cxn ang="f165">
                  <a:pos x="f274" y="f271"/>
                </a:cxn>
                <a:cxn ang="f165">
                  <a:pos x="f260" y="f275"/>
                </a:cxn>
                <a:cxn ang="f165">
                  <a:pos x="f228" y="f258"/>
                </a:cxn>
                <a:cxn ang="f165">
                  <a:pos x="f250" y="f267"/>
                </a:cxn>
                <a:cxn ang="f165">
                  <a:pos x="f239" y="f267"/>
                </a:cxn>
              </a:cxnLst>
              <a:rect l="f219" t="f222" r="f220" b="f221"/>
              <a:pathLst>
                <a:path w="33" h="40">
                  <a:moveTo>
                    <a:pt x="f6" y="f8"/>
                  </a:moveTo>
                  <a:cubicBezTo>
                    <a:pt x="f6" y="f9"/>
                    <a:pt x="f6" y="f10"/>
                    <a:pt x="f6" y="f10"/>
                  </a:cubicBezTo>
                  <a:cubicBezTo>
                    <a:pt x="f6" y="f11"/>
                    <a:pt x="f6" y="f11"/>
                    <a:pt x="f6" y="f12"/>
                  </a:cubicBezTo>
                  <a:cubicBezTo>
                    <a:pt x="f13" y="f12"/>
                    <a:pt x="f13" y="f12"/>
                    <a:pt x="f13" y="f12"/>
                  </a:cubicBezTo>
                  <a:cubicBezTo>
                    <a:pt x="f14" y="f15"/>
                    <a:pt x="f14" y="f16"/>
                    <a:pt x="f17" y="f18"/>
                  </a:cubicBezTo>
                  <a:cubicBezTo>
                    <a:pt x="f17" y="f19"/>
                    <a:pt x="f20" y="f21"/>
                    <a:pt x="f22" y="f23"/>
                  </a:cubicBezTo>
                  <a:cubicBezTo>
                    <a:pt x="f24" y="f25"/>
                    <a:pt x="f26" y="f25"/>
                    <a:pt x="f27" y="f6"/>
                  </a:cubicBezTo>
                  <a:cubicBezTo>
                    <a:pt x="f28" y="f6"/>
                    <a:pt x="f29" y="f6"/>
                    <a:pt x="f30" y="f6"/>
                  </a:cubicBezTo>
                  <a:cubicBezTo>
                    <a:pt x="f31" y="f6"/>
                    <a:pt x="f8" y="f6"/>
                    <a:pt x="f8" y="f6"/>
                  </a:cubicBezTo>
                  <a:cubicBezTo>
                    <a:pt x="f9" y="f6"/>
                    <a:pt x="f10" y="f6"/>
                    <a:pt x="f11" y="f25"/>
                  </a:cubicBezTo>
                  <a:cubicBezTo>
                    <a:pt x="f11" y="f25"/>
                    <a:pt x="f12" y="f25"/>
                    <a:pt x="f12" y="f25"/>
                  </a:cubicBezTo>
                  <a:cubicBezTo>
                    <a:pt x="f32" y="f23"/>
                    <a:pt x="f15" y="f23"/>
                    <a:pt x="f15" y="f21"/>
                  </a:cubicBezTo>
                  <a:cubicBezTo>
                    <a:pt x="f21" y="f33"/>
                    <a:pt x="f21" y="f33"/>
                    <a:pt x="f21" y="f33"/>
                  </a:cubicBezTo>
                  <a:cubicBezTo>
                    <a:pt x="f19" y="f34"/>
                    <a:pt x="f18" y="f35"/>
                    <a:pt x="f36" y="f35"/>
                  </a:cubicBezTo>
                  <a:cubicBezTo>
                    <a:pt x="f16" y="f37"/>
                    <a:pt x="f15" y="f37"/>
                    <a:pt x="f32" y="f38"/>
                  </a:cubicBezTo>
                  <a:cubicBezTo>
                    <a:pt x="f12" y="f38"/>
                    <a:pt x="f11" y="f7"/>
                    <a:pt x="f10" y="f7"/>
                  </a:cubicBezTo>
                  <a:cubicBezTo>
                    <a:pt x="f9" y="f7"/>
                    <a:pt x="f31" y="f7"/>
                    <a:pt x="f30" y="f7"/>
                  </a:cubicBezTo>
                  <a:cubicBezTo>
                    <a:pt x="f28" y="f7"/>
                    <a:pt x="f26" y="f7"/>
                    <a:pt x="f24" y="f38"/>
                  </a:cubicBezTo>
                  <a:cubicBezTo>
                    <a:pt x="f22" y="f38"/>
                    <a:pt x="f17" y="f37"/>
                    <a:pt x="f14" y="f37"/>
                  </a:cubicBezTo>
                  <a:cubicBezTo>
                    <a:pt x="f13" y="f35"/>
                    <a:pt x="f39" y="f34"/>
                    <a:pt x="f40" y="f33"/>
                  </a:cubicBezTo>
                  <a:cubicBezTo>
                    <a:pt x="f41" y="f42"/>
                    <a:pt x="f43" y="f6"/>
                    <a:pt x="f43" y="f23"/>
                  </a:cubicBezTo>
                  <a:cubicBezTo>
                    <a:pt x="f44" y="f21"/>
                    <a:pt x="f45" y="f18"/>
                    <a:pt x="f45" y="f16"/>
                  </a:cubicBezTo>
                  <a:cubicBezTo>
                    <a:pt x="f5" y="f32"/>
                    <a:pt x="f5" y="f11"/>
                    <a:pt x="f5" y="f9"/>
                  </a:cubicBezTo>
                  <a:cubicBezTo>
                    <a:pt x="f5" y="f30"/>
                    <a:pt x="f5" y="f27"/>
                    <a:pt x="f45" y="f24"/>
                  </a:cubicBezTo>
                  <a:cubicBezTo>
                    <a:pt x="f44" y="f17"/>
                    <a:pt x="f43" y="f13"/>
                    <a:pt x="f40" y="f40"/>
                  </a:cubicBezTo>
                  <a:cubicBezTo>
                    <a:pt x="f39" y="f41"/>
                    <a:pt x="f14" y="f44"/>
                    <a:pt x="f20" y="f45"/>
                  </a:cubicBezTo>
                  <a:cubicBezTo>
                    <a:pt x="f24" y="f45"/>
                    <a:pt x="f27" y="f5"/>
                    <a:pt x="f30" y="f5"/>
                  </a:cubicBezTo>
                  <a:cubicBezTo>
                    <a:pt x="f9" y="f5"/>
                    <a:pt x="f11" y="f45"/>
                    <a:pt x="f32" y="f44"/>
                  </a:cubicBezTo>
                  <a:cubicBezTo>
                    <a:pt x="f16" y="f43"/>
                    <a:pt x="f18" y="f41"/>
                    <a:pt x="f19" y="f39"/>
                  </a:cubicBezTo>
                  <a:cubicBezTo>
                    <a:pt x="f21" y="f14"/>
                    <a:pt x="f23" y="f20"/>
                    <a:pt x="f25" y="f24"/>
                  </a:cubicBezTo>
                  <a:cubicBezTo>
                    <a:pt x="f6" y="f27"/>
                    <a:pt x="f6" y="f30"/>
                    <a:pt x="f6" y="f8"/>
                  </a:cubicBezTo>
                  <a:close/>
                  <a:moveTo>
                    <a:pt x="f15" y="f30"/>
                  </a:moveTo>
                  <a:cubicBezTo>
                    <a:pt x="f15" y="f28"/>
                    <a:pt x="f15" y="f27"/>
                    <a:pt x="f15" y="f26"/>
                  </a:cubicBezTo>
                  <a:cubicBezTo>
                    <a:pt x="f32" y="f24"/>
                    <a:pt x="f32" y="f22"/>
                    <a:pt x="f12" y="f20"/>
                  </a:cubicBezTo>
                  <a:cubicBezTo>
                    <a:pt x="f11" y="f17"/>
                    <a:pt x="f10" y="f14"/>
                    <a:pt x="f9" y="f14"/>
                  </a:cubicBezTo>
                  <a:cubicBezTo>
                    <a:pt x="f8" y="f13"/>
                    <a:pt x="f31" y="f13"/>
                    <a:pt x="f29" y="f13"/>
                  </a:cubicBezTo>
                  <a:cubicBezTo>
                    <a:pt x="f28" y="f13"/>
                    <a:pt x="f27" y="f13"/>
                    <a:pt x="f26" y="f14"/>
                  </a:cubicBezTo>
                  <a:cubicBezTo>
                    <a:pt x="f24" y="f14"/>
                    <a:pt x="f22" y="f17"/>
                    <a:pt x="f20" y="f17"/>
                  </a:cubicBezTo>
                  <a:cubicBezTo>
                    <a:pt x="f20" y="f20"/>
                    <a:pt x="f17" y="f22"/>
                    <a:pt x="f17" y="f24"/>
                  </a:cubicBezTo>
                  <a:cubicBezTo>
                    <a:pt x="f14" y="f27"/>
                    <a:pt x="f14" y="f28"/>
                    <a:pt x="f14" y="f30"/>
                  </a:cubicBezTo>
                  <a:lnTo>
                    <a:pt x="f15" y="f30"/>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9" name="Freeform 51">
              <a:extLst>
                <a:ext uri="{FF2B5EF4-FFF2-40B4-BE49-F238E27FC236}">
                  <a16:creationId xmlns:a16="http://schemas.microsoft.com/office/drawing/2014/main" id="{86748926-8099-EC41-6231-1AB62FCB5D3B}"/>
                </a:ext>
              </a:extLst>
            </p:cNvPr>
            <p:cNvSpPr/>
            <p:nvPr/>
          </p:nvSpPr>
          <p:spPr>
            <a:xfrm>
              <a:off x="856875" y="6259049"/>
              <a:ext cx="83658" cy="137754"/>
            </a:xfrm>
            <a:custGeom>
              <a:avLst/>
              <a:gdLst>
                <a:gd name="f0" fmla="val 10800000"/>
                <a:gd name="f1" fmla="val 5400000"/>
                <a:gd name="f2" fmla="val 180"/>
                <a:gd name="f3" fmla="val w"/>
                <a:gd name="f4" fmla="val h"/>
                <a:gd name="f5" fmla="val 0"/>
                <a:gd name="f6" fmla="val 33"/>
                <a:gd name="f7" fmla="val 54"/>
                <a:gd name="f8" fmla="val 35"/>
                <a:gd name="f9" fmla="val 38"/>
                <a:gd name="f10" fmla="val 32"/>
                <a:gd name="f11" fmla="val 41"/>
                <a:gd name="f12" fmla="val 31"/>
                <a:gd name="f13" fmla="val 43"/>
                <a:gd name="f14" fmla="val 30"/>
                <a:gd name="f15" fmla="val 46"/>
                <a:gd name="f16" fmla="val 29"/>
                <a:gd name="f17" fmla="val 48"/>
                <a:gd name="f18" fmla="val 28"/>
                <a:gd name="f19" fmla="val 49"/>
                <a:gd name="f20" fmla="val 27"/>
                <a:gd name="f21" fmla="val 51"/>
                <a:gd name="f22" fmla="val 25"/>
                <a:gd name="f23" fmla="val 52"/>
                <a:gd name="f24" fmla="val 23"/>
                <a:gd name="f25" fmla="val 53"/>
                <a:gd name="f26" fmla="val 21"/>
                <a:gd name="f27" fmla="val 19"/>
                <a:gd name="f28" fmla="val 17"/>
                <a:gd name="f29" fmla="val 16"/>
                <a:gd name="f30" fmla="val 14"/>
                <a:gd name="f31" fmla="val 12"/>
                <a:gd name="f32" fmla="val 10"/>
                <a:gd name="f33" fmla="val 9"/>
                <a:gd name="f34" fmla="val 8"/>
                <a:gd name="f35" fmla="val 50"/>
                <a:gd name="f36" fmla="val 4"/>
                <a:gd name="f37" fmla="val 18"/>
                <a:gd name="f38" fmla="val 11"/>
                <a:gd name="f39" fmla="val 13"/>
                <a:gd name="f40" fmla="val 15"/>
                <a:gd name="f41" fmla="val 20"/>
                <a:gd name="f42" fmla="val 22"/>
                <a:gd name="f43" fmla="val 24"/>
                <a:gd name="f44" fmla="val 26"/>
                <a:gd name="f45" fmla="val 42"/>
                <a:gd name="f46" fmla="val 44"/>
                <a:gd name="f47" fmla="val 45"/>
                <a:gd name="f48" fmla="val 47"/>
                <a:gd name="f49" fmla="val 39"/>
                <a:gd name="f50" fmla="+- 0 0 -90"/>
                <a:gd name="f51" fmla="*/ f3 1 33"/>
                <a:gd name="f52" fmla="*/ f4 1 54"/>
                <a:gd name="f53" fmla="+- f7 0 f5"/>
                <a:gd name="f54" fmla="+- f6 0 f5"/>
                <a:gd name="f55" fmla="*/ f50 f0 1"/>
                <a:gd name="f56" fmla="*/ f54 1 33"/>
                <a:gd name="f57" fmla="*/ f53 1 54"/>
                <a:gd name="f58" fmla="*/ 33 f54 1"/>
                <a:gd name="f59" fmla="*/ 35 f53 1"/>
                <a:gd name="f60" fmla="*/ 31 f54 1"/>
                <a:gd name="f61" fmla="*/ 43 f53 1"/>
                <a:gd name="f62" fmla="*/ 28 f54 1"/>
                <a:gd name="f63" fmla="*/ 49 f53 1"/>
                <a:gd name="f64" fmla="*/ 23 f54 1"/>
                <a:gd name="f65" fmla="*/ 53 f53 1"/>
                <a:gd name="f66" fmla="*/ 17 f54 1"/>
                <a:gd name="f67" fmla="*/ 54 f53 1"/>
                <a:gd name="f68" fmla="*/ 12 f54 1"/>
                <a:gd name="f69" fmla="*/ 8 f54 1"/>
                <a:gd name="f70" fmla="*/ 50 f53 1"/>
                <a:gd name="f71" fmla="*/ 0 f54 1"/>
                <a:gd name="f72" fmla="*/ 4 f53 1"/>
                <a:gd name="f73" fmla="*/ 0 f53 1"/>
                <a:gd name="f74" fmla="*/ 19 f53 1"/>
                <a:gd name="f75" fmla="*/ 10 f54 1"/>
                <a:gd name="f76" fmla="*/ 17 f53 1"/>
                <a:gd name="f77" fmla="*/ 16 f53 1"/>
                <a:gd name="f78" fmla="*/ 14 f54 1"/>
                <a:gd name="f79" fmla="*/ 14 f53 1"/>
                <a:gd name="f80" fmla="*/ 18 f54 1"/>
                <a:gd name="f81" fmla="*/ 24 f54 1"/>
                <a:gd name="f82" fmla="*/ 15 f53 1"/>
                <a:gd name="f83" fmla="*/ 25 f53 1"/>
                <a:gd name="f84" fmla="*/ 25 f54 1"/>
                <a:gd name="f85" fmla="*/ 24 f53 1"/>
                <a:gd name="f86" fmla="*/ 16 f54 1"/>
                <a:gd name="f87" fmla="*/ 21 f53 1"/>
                <a:gd name="f88" fmla="*/ 11 f54 1"/>
                <a:gd name="f89" fmla="*/ 23 f53 1"/>
                <a:gd name="f90" fmla="*/ 9 f54 1"/>
                <a:gd name="f91" fmla="*/ 26 f53 1"/>
                <a:gd name="f92" fmla="*/ 42 f53 1"/>
                <a:gd name="f93" fmla="*/ 44 f53 1"/>
                <a:gd name="f94" fmla="*/ 45 f53 1"/>
                <a:gd name="f95" fmla="*/ 47 f53 1"/>
                <a:gd name="f96" fmla="*/ f55 1 f2"/>
                <a:gd name="f97" fmla="*/ f58 1 33"/>
                <a:gd name="f98" fmla="*/ f59 1 54"/>
                <a:gd name="f99" fmla="*/ f60 1 33"/>
                <a:gd name="f100" fmla="*/ f61 1 54"/>
                <a:gd name="f101" fmla="*/ f62 1 33"/>
                <a:gd name="f102" fmla="*/ f63 1 54"/>
                <a:gd name="f103" fmla="*/ f64 1 33"/>
                <a:gd name="f104" fmla="*/ f65 1 54"/>
                <a:gd name="f105" fmla="*/ f66 1 33"/>
                <a:gd name="f106" fmla="*/ f67 1 54"/>
                <a:gd name="f107" fmla="*/ f68 1 33"/>
                <a:gd name="f108" fmla="*/ f69 1 33"/>
                <a:gd name="f109" fmla="*/ f70 1 54"/>
                <a:gd name="f110" fmla="*/ f71 1 33"/>
                <a:gd name="f111" fmla="*/ f72 1 54"/>
                <a:gd name="f112" fmla="*/ f73 1 54"/>
                <a:gd name="f113" fmla="*/ f74 1 54"/>
                <a:gd name="f114" fmla="*/ f75 1 33"/>
                <a:gd name="f115" fmla="*/ f76 1 54"/>
                <a:gd name="f116" fmla="*/ f77 1 54"/>
                <a:gd name="f117" fmla="*/ f78 1 33"/>
                <a:gd name="f118" fmla="*/ f79 1 54"/>
                <a:gd name="f119" fmla="*/ f80 1 33"/>
                <a:gd name="f120" fmla="*/ f81 1 33"/>
                <a:gd name="f121" fmla="*/ f82 1 54"/>
                <a:gd name="f122" fmla="*/ f83 1 54"/>
                <a:gd name="f123" fmla="*/ f84 1 33"/>
                <a:gd name="f124" fmla="*/ f85 1 54"/>
                <a:gd name="f125" fmla="*/ f86 1 33"/>
                <a:gd name="f126" fmla="*/ f87 1 54"/>
                <a:gd name="f127" fmla="*/ f88 1 33"/>
                <a:gd name="f128" fmla="*/ f89 1 54"/>
                <a:gd name="f129" fmla="*/ f90 1 33"/>
                <a:gd name="f130" fmla="*/ f91 1 54"/>
                <a:gd name="f131" fmla="*/ f92 1 54"/>
                <a:gd name="f132" fmla="*/ f93 1 54"/>
                <a:gd name="f133" fmla="*/ f94 1 54"/>
                <a:gd name="f134" fmla="*/ f95 1 54"/>
                <a:gd name="f135" fmla="*/ 0 1 f56"/>
                <a:gd name="f136" fmla="*/ f6 1 f56"/>
                <a:gd name="f137" fmla="*/ 0 1 f57"/>
                <a:gd name="f138" fmla="*/ f7 1 f57"/>
                <a:gd name="f139" fmla="+- f96 0 f1"/>
                <a:gd name="f140" fmla="*/ f97 1 f56"/>
                <a:gd name="f141" fmla="*/ f98 1 f57"/>
                <a:gd name="f142" fmla="*/ f99 1 f56"/>
                <a:gd name="f143" fmla="*/ f100 1 f57"/>
                <a:gd name="f144" fmla="*/ f101 1 f56"/>
                <a:gd name="f145" fmla="*/ f102 1 f57"/>
                <a:gd name="f146" fmla="*/ f103 1 f56"/>
                <a:gd name="f147" fmla="*/ f104 1 f57"/>
                <a:gd name="f148" fmla="*/ f105 1 f56"/>
                <a:gd name="f149" fmla="*/ f106 1 f57"/>
                <a:gd name="f150" fmla="*/ f107 1 f56"/>
                <a:gd name="f151" fmla="*/ f108 1 f56"/>
                <a:gd name="f152" fmla="*/ f109 1 f57"/>
                <a:gd name="f153" fmla="*/ f110 1 f56"/>
                <a:gd name="f154" fmla="*/ f111 1 f57"/>
                <a:gd name="f155" fmla="*/ f112 1 f57"/>
                <a:gd name="f156" fmla="*/ f113 1 f57"/>
                <a:gd name="f157" fmla="*/ f114 1 f56"/>
                <a:gd name="f158" fmla="*/ f115 1 f57"/>
                <a:gd name="f159" fmla="*/ f116 1 f57"/>
                <a:gd name="f160" fmla="*/ f117 1 f56"/>
                <a:gd name="f161" fmla="*/ f118 1 f57"/>
                <a:gd name="f162" fmla="*/ f119 1 f56"/>
                <a:gd name="f163" fmla="*/ f120 1 f56"/>
                <a:gd name="f164" fmla="*/ f121 1 f57"/>
                <a:gd name="f165" fmla="*/ f122 1 f57"/>
                <a:gd name="f166" fmla="*/ f123 1 f56"/>
                <a:gd name="f167" fmla="*/ f124 1 f57"/>
                <a:gd name="f168" fmla="*/ f125 1 f56"/>
                <a:gd name="f169" fmla="*/ f126 1 f57"/>
                <a:gd name="f170" fmla="*/ f127 1 f56"/>
                <a:gd name="f171" fmla="*/ f128 1 f57"/>
                <a:gd name="f172" fmla="*/ f129 1 f56"/>
                <a:gd name="f173" fmla="*/ f130 1 f57"/>
                <a:gd name="f174" fmla="*/ f131 1 f57"/>
                <a:gd name="f175" fmla="*/ f132 1 f57"/>
                <a:gd name="f176" fmla="*/ f133 1 f57"/>
                <a:gd name="f177" fmla="*/ f134 1 f57"/>
                <a:gd name="f178" fmla="*/ f135 f51 1"/>
                <a:gd name="f179" fmla="*/ f136 f51 1"/>
                <a:gd name="f180" fmla="*/ f138 f52 1"/>
                <a:gd name="f181" fmla="*/ f137 f52 1"/>
                <a:gd name="f182" fmla="*/ f140 f51 1"/>
                <a:gd name="f183" fmla="*/ f141 f52 1"/>
                <a:gd name="f184" fmla="*/ f142 f51 1"/>
                <a:gd name="f185" fmla="*/ f143 f52 1"/>
                <a:gd name="f186" fmla="*/ f144 f51 1"/>
                <a:gd name="f187" fmla="*/ f145 f52 1"/>
                <a:gd name="f188" fmla="*/ f146 f51 1"/>
                <a:gd name="f189" fmla="*/ f147 f52 1"/>
                <a:gd name="f190" fmla="*/ f148 f51 1"/>
                <a:gd name="f191" fmla="*/ f149 f52 1"/>
                <a:gd name="f192" fmla="*/ f150 f51 1"/>
                <a:gd name="f193" fmla="*/ f151 f51 1"/>
                <a:gd name="f194" fmla="*/ f152 f52 1"/>
                <a:gd name="f195" fmla="*/ f153 f51 1"/>
                <a:gd name="f196" fmla="*/ f154 f52 1"/>
                <a:gd name="f197" fmla="*/ f155 f52 1"/>
                <a:gd name="f198" fmla="*/ f156 f52 1"/>
                <a:gd name="f199" fmla="*/ f157 f51 1"/>
                <a:gd name="f200" fmla="*/ f158 f52 1"/>
                <a:gd name="f201" fmla="*/ f159 f52 1"/>
                <a:gd name="f202" fmla="*/ f160 f51 1"/>
                <a:gd name="f203" fmla="*/ f161 f52 1"/>
                <a:gd name="f204" fmla="*/ f162 f51 1"/>
                <a:gd name="f205" fmla="*/ f163 f51 1"/>
                <a:gd name="f206" fmla="*/ f164 f52 1"/>
                <a:gd name="f207" fmla="*/ f165 f52 1"/>
                <a:gd name="f208" fmla="*/ f166 f51 1"/>
                <a:gd name="f209" fmla="*/ f167 f52 1"/>
                <a:gd name="f210" fmla="*/ f168 f51 1"/>
                <a:gd name="f211" fmla="*/ f169 f52 1"/>
                <a:gd name="f212" fmla="*/ f170 f51 1"/>
                <a:gd name="f213" fmla="*/ f171 f52 1"/>
                <a:gd name="f214" fmla="*/ f172 f51 1"/>
                <a:gd name="f215" fmla="*/ f173 f52 1"/>
                <a:gd name="f216" fmla="*/ f174 f52 1"/>
                <a:gd name="f217" fmla="*/ f175 f52 1"/>
                <a:gd name="f218" fmla="*/ f176 f52 1"/>
                <a:gd name="f219" fmla="*/ f177 f52 1"/>
              </a:gdLst>
              <a:ahLst/>
              <a:cxnLst>
                <a:cxn ang="3cd4">
                  <a:pos x="hc" y="t"/>
                </a:cxn>
                <a:cxn ang="0">
                  <a:pos x="r" y="vc"/>
                </a:cxn>
                <a:cxn ang="cd4">
                  <a:pos x="hc" y="b"/>
                </a:cxn>
                <a:cxn ang="cd2">
                  <a:pos x="l" y="vc"/>
                </a:cxn>
                <a:cxn ang="f139">
                  <a:pos x="f182" y="f183"/>
                </a:cxn>
                <a:cxn ang="f139">
                  <a:pos x="f184" y="f185"/>
                </a:cxn>
                <a:cxn ang="f139">
                  <a:pos x="f186" y="f187"/>
                </a:cxn>
                <a:cxn ang="f139">
                  <a:pos x="f188" y="f189"/>
                </a:cxn>
                <a:cxn ang="f139">
                  <a:pos x="f190" y="f191"/>
                </a:cxn>
                <a:cxn ang="f139">
                  <a:pos x="f192" y="f189"/>
                </a:cxn>
                <a:cxn ang="f139">
                  <a:pos x="f193" y="f194"/>
                </a:cxn>
                <a:cxn ang="f139">
                  <a:pos x="f193" y="f189"/>
                </a:cxn>
                <a:cxn ang="f139">
                  <a:pos x="f195" y="f189"/>
                </a:cxn>
                <a:cxn ang="f139">
                  <a:pos x="f195" y="f196"/>
                </a:cxn>
                <a:cxn ang="f139">
                  <a:pos x="f193" y="f197"/>
                </a:cxn>
                <a:cxn ang="f139">
                  <a:pos x="f193" y="f198"/>
                </a:cxn>
                <a:cxn ang="f139">
                  <a:pos x="f199" y="f200"/>
                </a:cxn>
                <a:cxn ang="f139">
                  <a:pos x="f192" y="f201"/>
                </a:cxn>
                <a:cxn ang="f139">
                  <a:pos x="f202" y="f203"/>
                </a:cxn>
                <a:cxn ang="f139">
                  <a:pos x="f204" y="f203"/>
                </a:cxn>
                <a:cxn ang="f139">
                  <a:pos x="f205" y="f206"/>
                </a:cxn>
                <a:cxn ang="f139">
                  <a:pos x="f186" y="f198"/>
                </a:cxn>
                <a:cxn ang="f139">
                  <a:pos x="f184" y="f207"/>
                </a:cxn>
                <a:cxn ang="f139">
                  <a:pos x="f182" y="f183"/>
                </a:cxn>
                <a:cxn ang="f139">
                  <a:pos x="f208" y="f183"/>
                </a:cxn>
                <a:cxn ang="f139">
                  <a:pos x="f188" y="f209"/>
                </a:cxn>
                <a:cxn ang="f139">
                  <a:pos x="f210" y="f211"/>
                </a:cxn>
                <a:cxn ang="f139">
                  <a:pos x="f202" y="f211"/>
                </a:cxn>
                <a:cxn ang="f139">
                  <a:pos x="f212" y="f213"/>
                </a:cxn>
                <a:cxn ang="f139">
                  <a:pos x="f214" y="f209"/>
                </a:cxn>
                <a:cxn ang="f139">
                  <a:pos x="f193" y="f215"/>
                </a:cxn>
                <a:cxn ang="f139">
                  <a:pos x="f193" y="f216"/>
                </a:cxn>
                <a:cxn ang="f139">
                  <a:pos x="f214" y="f217"/>
                </a:cxn>
                <a:cxn ang="f139">
                  <a:pos x="f212" y="f218"/>
                </a:cxn>
                <a:cxn ang="f139">
                  <a:pos x="f202" y="f219"/>
                </a:cxn>
                <a:cxn ang="f139">
                  <a:pos x="f190" y="f219"/>
                </a:cxn>
                <a:cxn ang="f139">
                  <a:pos x="f188" y="f217"/>
                </a:cxn>
                <a:cxn ang="f139">
                  <a:pos x="f208" y="f183"/>
                </a:cxn>
              </a:cxnLst>
              <a:rect l="f178" t="f181" r="f179" b="f180"/>
              <a:pathLst>
                <a:path w="33" h="54">
                  <a:moveTo>
                    <a:pt x="f6" y="f8"/>
                  </a:moveTo>
                  <a:cubicBezTo>
                    <a:pt x="f6" y="f9"/>
                    <a:pt x="f10" y="f11"/>
                    <a:pt x="f12" y="f13"/>
                  </a:cubicBezTo>
                  <a:cubicBezTo>
                    <a:pt x="f14" y="f15"/>
                    <a:pt x="f16" y="f17"/>
                    <a:pt x="f18" y="f19"/>
                  </a:cubicBezTo>
                  <a:cubicBezTo>
                    <a:pt x="f20" y="f21"/>
                    <a:pt x="f22" y="f23"/>
                    <a:pt x="f24" y="f25"/>
                  </a:cubicBezTo>
                  <a:cubicBezTo>
                    <a:pt x="f26" y="f7"/>
                    <a:pt x="f27" y="f7"/>
                    <a:pt x="f28" y="f7"/>
                  </a:cubicBezTo>
                  <a:cubicBezTo>
                    <a:pt x="f29" y="f7"/>
                    <a:pt x="f30" y="f7"/>
                    <a:pt x="f31" y="f25"/>
                  </a:cubicBezTo>
                  <a:cubicBezTo>
                    <a:pt x="f32" y="f23"/>
                    <a:pt x="f33" y="f21"/>
                    <a:pt x="f34" y="f35"/>
                  </a:cubicBezTo>
                  <a:cubicBezTo>
                    <a:pt x="f34" y="f25"/>
                    <a:pt x="f34" y="f25"/>
                    <a:pt x="f34" y="f25"/>
                  </a:cubicBezTo>
                  <a:cubicBezTo>
                    <a:pt x="f5" y="f25"/>
                    <a:pt x="f5" y="f25"/>
                    <a:pt x="f5" y="f25"/>
                  </a:cubicBezTo>
                  <a:cubicBezTo>
                    <a:pt x="f5" y="f36"/>
                    <a:pt x="f5" y="f36"/>
                    <a:pt x="f5" y="f36"/>
                  </a:cubicBezTo>
                  <a:cubicBezTo>
                    <a:pt x="f34" y="f5"/>
                    <a:pt x="f34" y="f5"/>
                    <a:pt x="f34" y="f5"/>
                  </a:cubicBezTo>
                  <a:cubicBezTo>
                    <a:pt x="f34" y="f27"/>
                    <a:pt x="f34" y="f27"/>
                    <a:pt x="f34" y="f27"/>
                  </a:cubicBezTo>
                  <a:cubicBezTo>
                    <a:pt x="f33" y="f37"/>
                    <a:pt x="f33" y="f28"/>
                    <a:pt x="f32" y="f28"/>
                  </a:cubicBezTo>
                  <a:cubicBezTo>
                    <a:pt x="f38" y="f29"/>
                    <a:pt x="f38" y="f29"/>
                    <a:pt x="f31" y="f29"/>
                  </a:cubicBezTo>
                  <a:cubicBezTo>
                    <a:pt x="f39" y="f40"/>
                    <a:pt x="f39" y="f40"/>
                    <a:pt x="f30" y="f30"/>
                  </a:cubicBezTo>
                  <a:cubicBezTo>
                    <a:pt x="f40" y="f30"/>
                    <a:pt x="f29" y="f30"/>
                    <a:pt x="f37" y="f30"/>
                  </a:cubicBezTo>
                  <a:cubicBezTo>
                    <a:pt x="f41" y="f30"/>
                    <a:pt x="f42" y="f30"/>
                    <a:pt x="f43" y="f40"/>
                  </a:cubicBezTo>
                  <a:cubicBezTo>
                    <a:pt x="f22" y="f29"/>
                    <a:pt x="f20" y="f28"/>
                    <a:pt x="f18" y="f27"/>
                  </a:cubicBezTo>
                  <a:cubicBezTo>
                    <a:pt x="f14" y="f26"/>
                    <a:pt x="f12" y="f24"/>
                    <a:pt x="f12" y="f22"/>
                  </a:cubicBezTo>
                  <a:cubicBezTo>
                    <a:pt x="f10" y="f18"/>
                    <a:pt x="f6" y="f12"/>
                    <a:pt x="f6" y="f8"/>
                  </a:cubicBezTo>
                  <a:close/>
                  <a:moveTo>
                    <a:pt x="f22" y="f8"/>
                  </a:moveTo>
                  <a:cubicBezTo>
                    <a:pt x="f22" y="f14"/>
                    <a:pt x="f43" y="f20"/>
                    <a:pt x="f24" y="f43"/>
                  </a:cubicBezTo>
                  <a:cubicBezTo>
                    <a:pt x="f26" y="f42"/>
                    <a:pt x="f27" y="f26"/>
                    <a:pt x="f29" y="f26"/>
                  </a:cubicBezTo>
                  <a:cubicBezTo>
                    <a:pt x="f40" y="f26"/>
                    <a:pt x="f40" y="f26"/>
                    <a:pt x="f30" y="f26"/>
                  </a:cubicBezTo>
                  <a:cubicBezTo>
                    <a:pt x="f39" y="f42"/>
                    <a:pt x="f31" y="f42"/>
                    <a:pt x="f38" y="f24"/>
                  </a:cubicBezTo>
                  <a:cubicBezTo>
                    <a:pt x="f38" y="f24"/>
                    <a:pt x="f32" y="f43"/>
                    <a:pt x="f33" y="f43"/>
                  </a:cubicBezTo>
                  <a:cubicBezTo>
                    <a:pt x="f33" y="f22"/>
                    <a:pt x="f34" y="f22"/>
                    <a:pt x="f34" y="f44"/>
                  </a:cubicBezTo>
                  <a:cubicBezTo>
                    <a:pt x="f34" y="f45"/>
                    <a:pt x="f34" y="f45"/>
                    <a:pt x="f34" y="f45"/>
                  </a:cubicBezTo>
                  <a:cubicBezTo>
                    <a:pt x="f34" y="f13"/>
                    <a:pt x="f33" y="f13"/>
                    <a:pt x="f33" y="f46"/>
                  </a:cubicBezTo>
                  <a:cubicBezTo>
                    <a:pt x="f32" y="f46"/>
                    <a:pt x="f38" y="f47"/>
                    <a:pt x="f38" y="f47"/>
                  </a:cubicBezTo>
                  <a:cubicBezTo>
                    <a:pt x="f31" y="f15"/>
                    <a:pt x="f39" y="f15"/>
                    <a:pt x="f30" y="f48"/>
                  </a:cubicBezTo>
                  <a:cubicBezTo>
                    <a:pt x="f40" y="f48"/>
                    <a:pt x="f29" y="f48"/>
                    <a:pt x="f28" y="f48"/>
                  </a:cubicBezTo>
                  <a:cubicBezTo>
                    <a:pt x="f27" y="f48"/>
                    <a:pt x="f26" y="f15"/>
                    <a:pt x="f24" y="f46"/>
                  </a:cubicBezTo>
                  <a:cubicBezTo>
                    <a:pt x="f43" y="f45"/>
                    <a:pt x="f22" y="f49"/>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0" name="Freeform 52">
              <a:extLst>
                <a:ext uri="{FF2B5EF4-FFF2-40B4-BE49-F238E27FC236}">
                  <a16:creationId xmlns:a16="http://schemas.microsoft.com/office/drawing/2014/main" id="{2D88F03B-1ADE-F086-3645-E4707A6C6257}"/>
                </a:ext>
              </a:extLst>
            </p:cNvPr>
            <p:cNvSpPr/>
            <p:nvPr/>
          </p:nvSpPr>
          <p:spPr>
            <a:xfrm>
              <a:off x="956215"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3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30 f50 1"/>
                <a:gd name="f74" fmla="*/ 35 f49 1"/>
                <a:gd name="f75" fmla="*/ 27 f50 1"/>
                <a:gd name="f76" fmla="*/ 37 f49 1"/>
                <a:gd name="f77" fmla="*/ 24 f50 1"/>
                <a:gd name="f78" fmla="*/ 39 f49 1"/>
                <a:gd name="f79" fmla="*/ 40 f49 1"/>
                <a:gd name="f80" fmla="*/ 16 f50 1"/>
                <a:gd name="f81" fmla="*/ 12 f50 1"/>
                <a:gd name="f82" fmla="*/ 38 f49 1"/>
                <a:gd name="f83" fmla="*/ 5 f50 1"/>
                <a:gd name="f84" fmla="*/ 2 f50 1"/>
                <a:gd name="f85" fmla="*/ 0 f50 1"/>
                <a:gd name="f86" fmla="*/ 26 f49 1"/>
                <a:gd name="f87" fmla="*/ 20 f49 1"/>
                <a:gd name="f88" fmla="*/ 1 f50 1"/>
                <a:gd name="f89" fmla="*/ 12 f49 1"/>
                <a:gd name="f90" fmla="*/ 4 f50 1"/>
                <a:gd name="f91" fmla="*/ 5 f49 1"/>
                <a:gd name="f92" fmla="*/ 1 f49 1"/>
                <a:gd name="f93" fmla="*/ 0 f49 1"/>
                <a:gd name="f94" fmla="*/ 2 f49 1"/>
                <a:gd name="f95" fmla="*/ 29 f50 1"/>
                <a:gd name="f96" fmla="*/ 6 f49 1"/>
                <a:gd name="f97" fmla="*/ 17 f49 1"/>
                <a:gd name="f98" fmla="*/ 13 f49 1"/>
                <a:gd name="f99" fmla="*/ 10 f49 1"/>
                <a:gd name="f100" fmla="*/ 20 f50 1"/>
                <a:gd name="f101" fmla="*/ 8 f49 1"/>
                <a:gd name="f102" fmla="*/ 7 f49 1"/>
                <a:gd name="f103" fmla="*/ 9 f49 1"/>
                <a:gd name="f104" fmla="*/ f51 1 f2"/>
                <a:gd name="f105" fmla="*/ f54 1 33"/>
                <a:gd name="f106" fmla="*/ f55 1 40"/>
                <a:gd name="f107" fmla="*/ f56 1 40"/>
                <a:gd name="f108" fmla="*/ f57 1 33"/>
                <a:gd name="f109" fmla="*/ f58 1 40"/>
                <a:gd name="f110" fmla="*/ f59 1 33"/>
                <a:gd name="f111" fmla="*/ f60 1 33"/>
                <a:gd name="f112" fmla="*/ f61 1 40"/>
                <a:gd name="f113" fmla="*/ f62 1 33"/>
                <a:gd name="f114" fmla="*/ f63 1 40"/>
                <a:gd name="f115" fmla="*/ f64 1 33"/>
                <a:gd name="f116" fmla="*/ f65 1 40"/>
                <a:gd name="f117" fmla="*/ f66 1 33"/>
                <a:gd name="f118" fmla="*/ f67 1 33"/>
                <a:gd name="f119" fmla="*/ f68 1 33"/>
                <a:gd name="f120" fmla="*/ f69 1 40"/>
                <a:gd name="f121" fmla="*/ f70 1 33"/>
                <a:gd name="f122" fmla="*/ f71 1 33"/>
                <a:gd name="f123" fmla="*/ f72 1 40"/>
                <a:gd name="f124" fmla="*/ f73 1 33"/>
                <a:gd name="f125" fmla="*/ f74 1 40"/>
                <a:gd name="f126" fmla="*/ f75 1 33"/>
                <a:gd name="f127" fmla="*/ f76 1 40"/>
                <a:gd name="f128" fmla="*/ f77 1 33"/>
                <a:gd name="f129" fmla="*/ f78 1 40"/>
                <a:gd name="f130" fmla="*/ f79 1 40"/>
                <a:gd name="f131" fmla="*/ f80 1 33"/>
                <a:gd name="f132" fmla="*/ f81 1 33"/>
                <a:gd name="f133" fmla="*/ f82 1 40"/>
                <a:gd name="f134" fmla="*/ f83 1 33"/>
                <a:gd name="f135" fmla="*/ f84 1 33"/>
                <a:gd name="f136" fmla="*/ f85 1 33"/>
                <a:gd name="f137" fmla="*/ f86 1 40"/>
                <a:gd name="f138" fmla="*/ f87 1 40"/>
                <a:gd name="f139" fmla="*/ f88 1 33"/>
                <a:gd name="f140" fmla="*/ f89 1 40"/>
                <a:gd name="f141" fmla="*/ f90 1 33"/>
                <a:gd name="f142" fmla="*/ f91 1 40"/>
                <a:gd name="f143" fmla="*/ f92 1 40"/>
                <a:gd name="f144" fmla="*/ f93 1 40"/>
                <a:gd name="f145" fmla="*/ f94 1 40"/>
                <a:gd name="f146" fmla="*/ f95 1 33"/>
                <a:gd name="f147" fmla="*/ f96 1 40"/>
                <a:gd name="f148" fmla="*/ f97 1 40"/>
                <a:gd name="f149" fmla="*/ f98 1 40"/>
                <a:gd name="f150" fmla="*/ f99 1 40"/>
                <a:gd name="f151" fmla="*/ f100 1 33"/>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3"/>
                <a:gd name="f163" fmla="*/ f108 1 f52"/>
                <a:gd name="f164" fmla="*/ f109 1 f53"/>
                <a:gd name="f165" fmla="*/ f110 1 f52"/>
                <a:gd name="f166" fmla="*/ f111 1 f52"/>
                <a:gd name="f167" fmla="*/ f112 1 f53"/>
                <a:gd name="f168" fmla="*/ f113 1 f52"/>
                <a:gd name="f169" fmla="*/ f114 1 f53"/>
                <a:gd name="f170" fmla="*/ f115 1 f52"/>
                <a:gd name="f171" fmla="*/ f116 1 f53"/>
                <a:gd name="f172" fmla="*/ f117 1 f52"/>
                <a:gd name="f173" fmla="*/ f118 1 f52"/>
                <a:gd name="f174" fmla="*/ f119 1 f52"/>
                <a:gd name="f175" fmla="*/ f120 1 f53"/>
                <a:gd name="f176" fmla="*/ f121 1 f52"/>
                <a:gd name="f177" fmla="*/ f122 1 f52"/>
                <a:gd name="f178" fmla="*/ f123 1 f53"/>
                <a:gd name="f179" fmla="*/ f124 1 f52"/>
                <a:gd name="f180" fmla="*/ f125 1 f53"/>
                <a:gd name="f181" fmla="*/ f126 1 f52"/>
                <a:gd name="f182" fmla="*/ f127 1 f53"/>
                <a:gd name="f183" fmla="*/ f128 1 f52"/>
                <a:gd name="f184" fmla="*/ f129 1 f53"/>
                <a:gd name="f185" fmla="*/ f130 1 f53"/>
                <a:gd name="f186" fmla="*/ f131 1 f52"/>
                <a:gd name="f187" fmla="*/ f132 1 f52"/>
                <a:gd name="f188" fmla="*/ f133 1 f53"/>
                <a:gd name="f189" fmla="*/ f134 1 f52"/>
                <a:gd name="f190" fmla="*/ f135 1 f52"/>
                <a:gd name="f191" fmla="*/ f136 1 f52"/>
                <a:gd name="f192" fmla="*/ f137 1 f53"/>
                <a:gd name="f193" fmla="*/ f138 1 f53"/>
                <a:gd name="f194" fmla="*/ f139 1 f52"/>
                <a:gd name="f195" fmla="*/ f140 1 f53"/>
                <a:gd name="f196" fmla="*/ f141 1 f52"/>
                <a:gd name="f197" fmla="*/ f142 1 f53"/>
                <a:gd name="f198" fmla="*/ f143 1 f53"/>
                <a:gd name="f199" fmla="*/ f144 1 f53"/>
                <a:gd name="f200" fmla="*/ f145 1 f53"/>
                <a:gd name="f201" fmla="*/ f146 1 f52"/>
                <a:gd name="f202" fmla="*/ f147 1 f53"/>
                <a:gd name="f203" fmla="*/ f148 1 f53"/>
                <a:gd name="f204" fmla="*/ f149 1 f53"/>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8 1"/>
                <a:gd name="f217" fmla="*/ f163 f47 1"/>
                <a:gd name="f218" fmla="*/ f164 f48 1"/>
                <a:gd name="f219" fmla="*/ f165 f47 1"/>
                <a:gd name="f220" fmla="*/ f166 f47 1"/>
                <a:gd name="f221" fmla="*/ f167 f48 1"/>
                <a:gd name="f222" fmla="*/ f168 f47 1"/>
                <a:gd name="f223" fmla="*/ f169 f48 1"/>
                <a:gd name="f224" fmla="*/ f170 f47 1"/>
                <a:gd name="f225" fmla="*/ f171 f48 1"/>
                <a:gd name="f226" fmla="*/ f172 f47 1"/>
                <a:gd name="f227" fmla="*/ f173 f47 1"/>
                <a:gd name="f228" fmla="*/ f174 f47 1"/>
                <a:gd name="f229" fmla="*/ f175 f48 1"/>
                <a:gd name="f230" fmla="*/ f176 f47 1"/>
                <a:gd name="f231" fmla="*/ f177 f47 1"/>
                <a:gd name="f232" fmla="*/ f178 f48 1"/>
                <a:gd name="f233" fmla="*/ f179 f47 1"/>
                <a:gd name="f234" fmla="*/ f180 f48 1"/>
                <a:gd name="f235" fmla="*/ f181 f47 1"/>
                <a:gd name="f236" fmla="*/ f182 f48 1"/>
                <a:gd name="f237" fmla="*/ f183 f47 1"/>
                <a:gd name="f238" fmla="*/ f184 f48 1"/>
                <a:gd name="f239" fmla="*/ f185 f48 1"/>
                <a:gd name="f240" fmla="*/ f186 f47 1"/>
                <a:gd name="f241" fmla="*/ f187 f47 1"/>
                <a:gd name="f242" fmla="*/ f188 f48 1"/>
                <a:gd name="f243" fmla="*/ f189 f47 1"/>
                <a:gd name="f244" fmla="*/ f190 f47 1"/>
                <a:gd name="f245" fmla="*/ f191 f47 1"/>
                <a:gd name="f246" fmla="*/ f192 f48 1"/>
                <a:gd name="f247" fmla="*/ f193 f48 1"/>
                <a:gd name="f248" fmla="*/ f194 f47 1"/>
                <a:gd name="f249" fmla="*/ f195 f48 1"/>
                <a:gd name="f250" fmla="*/ f196 f47 1"/>
                <a:gd name="f251" fmla="*/ f197 f48 1"/>
                <a:gd name="f252" fmla="*/ f198 f48 1"/>
                <a:gd name="f253" fmla="*/ f199 f48 1"/>
                <a:gd name="f254" fmla="*/ f200 f48 1"/>
                <a:gd name="f255" fmla="*/ f201 f47 1"/>
                <a:gd name="f256" fmla="*/ f202 f48 1"/>
                <a:gd name="f257" fmla="*/ f203 f48 1"/>
                <a:gd name="f258" fmla="*/ f204 f48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4" y="f216"/>
                </a:cxn>
                <a:cxn ang="f159">
                  <a:pos x="f217" y="f218"/>
                </a:cxn>
                <a:cxn ang="f159">
                  <a:pos x="f219" y="f218"/>
                </a:cxn>
                <a:cxn ang="f159">
                  <a:pos x="f220" y="f221"/>
                </a:cxn>
                <a:cxn ang="f159">
                  <a:pos x="f222" y="f223"/>
                </a:cxn>
                <a:cxn ang="f159">
                  <a:pos x="f224" y="f225"/>
                </a:cxn>
                <a:cxn ang="f159">
                  <a:pos x="f226" y="f225"/>
                </a:cxn>
                <a:cxn ang="f159">
                  <a:pos x="f227" y="f225"/>
                </a:cxn>
                <a:cxn ang="f159">
                  <a:pos x="f228" y="f229"/>
                </a:cxn>
                <a:cxn ang="f159">
                  <a:pos x="f230" y="f229"/>
                </a:cxn>
                <a:cxn ang="f159">
                  <a:pos x="f231" y="f232"/>
                </a:cxn>
                <a:cxn ang="f159">
                  <a:pos x="f233" y="f234"/>
                </a:cxn>
                <a:cxn ang="f159">
                  <a:pos x="f235" y="f236"/>
                </a:cxn>
                <a:cxn ang="f159">
                  <a:pos x="f237" y="f238"/>
                </a:cxn>
                <a:cxn ang="f159">
                  <a:pos x="f228" y="f239"/>
                </a:cxn>
                <a:cxn ang="f159">
                  <a:pos x="f240" y="f239"/>
                </a:cxn>
                <a:cxn ang="f159">
                  <a:pos x="f241" y="f238"/>
                </a:cxn>
                <a:cxn ang="f159">
                  <a:pos x="f220" y="f242"/>
                </a:cxn>
                <a:cxn ang="f159">
                  <a:pos x="f243" y="f234"/>
                </a:cxn>
                <a:cxn ang="f159">
                  <a:pos x="f244" y="f223"/>
                </a:cxn>
                <a:cxn ang="f159">
                  <a:pos x="f245" y="f246"/>
                </a:cxn>
                <a:cxn ang="f159">
                  <a:pos x="f245" y="f247"/>
                </a:cxn>
                <a:cxn ang="f159">
                  <a:pos x="f248" y="f249"/>
                </a:cxn>
                <a:cxn ang="f159">
                  <a:pos x="f250" y="f251"/>
                </a:cxn>
                <a:cxn ang="f159">
                  <a:pos x="f222" y="f252"/>
                </a:cxn>
                <a:cxn ang="f159">
                  <a:pos x="f240" y="f253"/>
                </a:cxn>
                <a:cxn ang="f159">
                  <a:pos x="f237" y="f254"/>
                </a:cxn>
                <a:cxn ang="f159">
                  <a:pos x="f255" y="f256"/>
                </a:cxn>
                <a:cxn ang="f159">
                  <a:pos x="f217" y="f249"/>
                </a:cxn>
                <a:cxn ang="f159">
                  <a:pos x="f214" y="f215"/>
                </a:cxn>
                <a:cxn ang="f159">
                  <a:pos x="f231" y="f257"/>
                </a:cxn>
                <a:cxn ang="f159">
                  <a:pos x="f237" y="f258"/>
                </a:cxn>
                <a:cxn ang="f159">
                  <a:pos x="f230" y="f259"/>
                </a:cxn>
                <a:cxn ang="f159">
                  <a:pos x="f260" y="f261"/>
                </a:cxn>
                <a:cxn ang="f159">
                  <a:pos x="f240" y="f262"/>
                </a:cxn>
                <a:cxn ang="f159">
                  <a:pos x="f241" y="f261"/>
                </a:cxn>
                <a:cxn ang="f159">
                  <a:pos x="f222" y="f263"/>
                </a:cxn>
                <a:cxn ang="f159">
                  <a:pos x="f220" y="f249"/>
                </a:cxn>
                <a:cxn ang="f159">
                  <a:pos x="f219" y="f257"/>
                </a:cxn>
                <a:cxn ang="f159">
                  <a:pos x="f231" y="f257"/>
                </a:cxn>
              </a:cxnLst>
              <a:rect l="f210" t="f213" r="f211" b="f212"/>
              <a:pathLst>
                <a:path w="33" h="40">
                  <a:moveTo>
                    <a:pt x="f6" y="f8"/>
                  </a:moveTo>
                  <a:cubicBezTo>
                    <a:pt x="f6" y="f9"/>
                    <a:pt x="f6" y="f10"/>
                    <a:pt x="f6" y="f10"/>
                  </a:cubicBezTo>
                  <a:cubicBezTo>
                    <a:pt x="f6" y="f11"/>
                    <a:pt x="f12" y="f11"/>
                    <a:pt x="f12" y="f13"/>
                  </a:cubicBezTo>
                  <a:cubicBezTo>
                    <a:pt x="f14" y="f13"/>
                    <a:pt x="f14" y="f13"/>
                    <a:pt x="f14" y="f13"/>
                  </a:cubicBezTo>
                  <a:cubicBezTo>
                    <a:pt x="f14" y="f15"/>
                    <a:pt x="f16" y="f17"/>
                    <a:pt x="f16" y="f18"/>
                  </a:cubicBezTo>
                  <a:cubicBezTo>
                    <a:pt x="f19" y="f20"/>
                    <a:pt x="f21" y="f22"/>
                    <a:pt x="f21" y="f23"/>
                  </a:cubicBezTo>
                  <a:cubicBezTo>
                    <a:pt x="f24" y="f12"/>
                    <a:pt x="f25" y="f12"/>
                    <a:pt x="f26" y="f6"/>
                  </a:cubicBezTo>
                  <a:cubicBezTo>
                    <a:pt x="f27" y="f6"/>
                    <a:pt x="f28" y="f6"/>
                    <a:pt x="f29" y="f6"/>
                  </a:cubicBezTo>
                  <a:cubicBezTo>
                    <a:pt x="f30" y="f6"/>
                    <a:pt x="f30" y="f6"/>
                    <a:pt x="f8" y="f6"/>
                  </a:cubicBezTo>
                  <a:cubicBezTo>
                    <a:pt x="f9" y="f6"/>
                    <a:pt x="f10" y="f6"/>
                    <a:pt x="f10" y="f12"/>
                  </a:cubicBezTo>
                  <a:cubicBezTo>
                    <a:pt x="f11" y="f12"/>
                    <a:pt x="f11" y="f12"/>
                    <a:pt x="f13" y="f12"/>
                  </a:cubicBezTo>
                  <a:cubicBezTo>
                    <a:pt x="f31" y="f23"/>
                    <a:pt x="f31" y="f23"/>
                    <a:pt x="f15" y="f22"/>
                  </a:cubicBezTo>
                  <a:cubicBezTo>
                    <a:pt x="f22" y="f32"/>
                    <a:pt x="f22" y="f32"/>
                    <a:pt x="f22" y="f32"/>
                  </a:cubicBezTo>
                  <a:cubicBezTo>
                    <a:pt x="f20" y="f33"/>
                    <a:pt x="f18" y="f34"/>
                    <a:pt x="f35" y="f34"/>
                  </a:cubicBezTo>
                  <a:cubicBezTo>
                    <a:pt x="f17" y="f36"/>
                    <a:pt x="f15" y="f36"/>
                    <a:pt x="f31" y="f37"/>
                  </a:cubicBezTo>
                  <a:cubicBezTo>
                    <a:pt x="f13" y="f37"/>
                    <a:pt x="f11" y="f7"/>
                    <a:pt x="f10"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1"/>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1" y="f45"/>
                    <a:pt x="f31" y="f44"/>
                  </a:cubicBezTo>
                  <a:cubicBezTo>
                    <a:pt x="f17" y="f43"/>
                    <a:pt x="f35" y="f41"/>
                    <a:pt x="f20" y="f39"/>
                  </a:cubicBezTo>
                  <a:cubicBezTo>
                    <a:pt x="f22" y="f16"/>
                    <a:pt x="f23" y="f21"/>
                    <a:pt x="f12" y="f25"/>
                  </a:cubicBezTo>
                  <a:cubicBezTo>
                    <a:pt x="f12" y="f27"/>
                    <a:pt x="f6" y="f29"/>
                    <a:pt x="f6" y="f8"/>
                  </a:cubicBezTo>
                  <a:close/>
                  <a:moveTo>
                    <a:pt x="f15" y="f29"/>
                  </a:moveTo>
                  <a:cubicBezTo>
                    <a:pt x="f15" y="f38"/>
                    <a:pt x="f15" y="f27"/>
                    <a:pt x="f31" y="f26"/>
                  </a:cubicBezTo>
                  <a:cubicBezTo>
                    <a:pt x="f31" y="f25"/>
                    <a:pt x="f13" y="f24"/>
                    <a:pt x="f13" y="f21"/>
                  </a:cubicBezTo>
                  <a:cubicBezTo>
                    <a:pt x="f11" y="f19"/>
                    <a:pt x="f10" y="f16"/>
                    <a:pt x="f9" y="f16"/>
                  </a:cubicBezTo>
                  <a:cubicBezTo>
                    <a:pt x="f8" y="f14"/>
                    <a:pt x="f30"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1" name="Freeform 53">
              <a:extLst>
                <a:ext uri="{FF2B5EF4-FFF2-40B4-BE49-F238E27FC236}">
                  <a16:creationId xmlns:a16="http://schemas.microsoft.com/office/drawing/2014/main" id="{8169DF4A-10F3-240F-54AF-6165F01EB70B}"/>
                </a:ext>
              </a:extLst>
            </p:cNvPr>
            <p:cNvSpPr/>
            <p:nvPr/>
          </p:nvSpPr>
          <p:spPr>
            <a:xfrm>
              <a:off x="1050325"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2"/>
                <a:gd name="f19" fmla="val 11"/>
                <a:gd name="f20" fmla="val 10"/>
                <a:gd name="f21" fmla="val 9"/>
                <a:gd name="f22" fmla="val 8"/>
                <a:gd name="f23" fmla="val 7"/>
                <a:gd name="f24" fmla="val 51"/>
                <a:gd name="f25" fmla="val 6"/>
                <a:gd name="f26" fmla="val 50"/>
                <a:gd name="f27" fmla="val 49"/>
                <a:gd name="f28" fmla="val 47"/>
                <a:gd name="f29" fmla="val 5"/>
                <a:gd name="f30" fmla="val 46"/>
                <a:gd name="f31" fmla="val 44"/>
                <a:gd name="f32" fmla="val 4"/>
                <a:gd name="f33" fmla="val 43"/>
                <a:gd name="f34" fmla="val 45"/>
                <a:gd name="f35" fmla="val 16"/>
                <a:gd name="f36" fmla="+- 0 0 -90"/>
                <a:gd name="f37" fmla="*/ f3 1 22"/>
                <a:gd name="f38" fmla="*/ f4 1 54"/>
                <a:gd name="f39" fmla="+- f7 0 f5"/>
                <a:gd name="f40" fmla="+- f6 0 f5"/>
                <a:gd name="f41" fmla="*/ f36 f0 1"/>
                <a:gd name="f42" fmla="*/ f40 1 22"/>
                <a:gd name="f43" fmla="*/ f39 1 54"/>
                <a:gd name="f44" fmla="*/ 21 f40 1"/>
                <a:gd name="f45" fmla="*/ 52 f39 1"/>
                <a:gd name="f46" fmla="*/ 18 f40 1"/>
                <a:gd name="f47" fmla="*/ 54 f39 1"/>
                <a:gd name="f48" fmla="*/ 14 f40 1"/>
                <a:gd name="f49" fmla="*/ 11 f40 1"/>
                <a:gd name="f50" fmla="*/ 8 f40 1"/>
                <a:gd name="f51" fmla="*/ 6 f40 1"/>
                <a:gd name="f52" fmla="*/ 49 f39 1"/>
                <a:gd name="f53" fmla="*/ 5 f40 1"/>
                <a:gd name="f54" fmla="*/ 44 f39 1"/>
                <a:gd name="f55" fmla="*/ 22 f39 1"/>
                <a:gd name="f56" fmla="*/ 0 f40 1"/>
                <a:gd name="f57" fmla="*/ 15 f39 1"/>
                <a:gd name="f58" fmla="*/ 4 f39 1"/>
                <a:gd name="f59" fmla="*/ 13 f40 1"/>
                <a:gd name="f60" fmla="*/ 0 f39 1"/>
                <a:gd name="f61" fmla="*/ 22 f40 1"/>
                <a:gd name="f62" fmla="*/ 43 f39 1"/>
                <a:gd name="f63" fmla="*/ 45 f39 1"/>
                <a:gd name="f64" fmla="*/ 46 f39 1"/>
                <a:gd name="f65" fmla="*/ 15 f40 1"/>
                <a:gd name="f66" fmla="*/ 47 f39 1"/>
                <a:gd name="f67" fmla="*/ 17 f40 1"/>
                <a:gd name="f68" fmla="*/ 20 f40 1"/>
                <a:gd name="f69" fmla="*/ f41 1 f2"/>
                <a:gd name="f70" fmla="*/ f44 1 22"/>
                <a:gd name="f71" fmla="*/ f45 1 54"/>
                <a:gd name="f72" fmla="*/ f46 1 22"/>
                <a:gd name="f73" fmla="*/ f47 1 54"/>
                <a:gd name="f74" fmla="*/ f48 1 22"/>
                <a:gd name="f75" fmla="*/ f49 1 22"/>
                <a:gd name="f76" fmla="*/ f50 1 22"/>
                <a:gd name="f77" fmla="*/ f51 1 22"/>
                <a:gd name="f78" fmla="*/ f52 1 54"/>
                <a:gd name="f79" fmla="*/ f53 1 22"/>
                <a:gd name="f80" fmla="*/ f54 1 54"/>
                <a:gd name="f81" fmla="*/ f55 1 54"/>
                <a:gd name="f82" fmla="*/ f56 1 22"/>
                <a:gd name="f83" fmla="*/ f57 1 54"/>
                <a:gd name="f84" fmla="*/ f58 1 54"/>
                <a:gd name="f85" fmla="*/ f59 1 22"/>
                <a:gd name="f86" fmla="*/ f60 1 54"/>
                <a:gd name="f87" fmla="*/ f61 1 22"/>
                <a:gd name="f88" fmla="*/ f62 1 54"/>
                <a:gd name="f89" fmla="*/ f63 1 54"/>
                <a:gd name="f90" fmla="*/ f64 1 54"/>
                <a:gd name="f91" fmla="*/ f65 1 22"/>
                <a:gd name="f92" fmla="*/ f66 1 54"/>
                <a:gd name="f93" fmla="*/ f67 1 22"/>
                <a:gd name="f94" fmla="*/ f68 1 22"/>
                <a:gd name="f95" fmla="*/ 0 1 f42"/>
                <a:gd name="f96" fmla="*/ f6 1 f42"/>
                <a:gd name="f97" fmla="*/ 0 1 f43"/>
                <a:gd name="f98" fmla="*/ f7 1 f43"/>
                <a:gd name="f99" fmla="+- f69 0 f1"/>
                <a:gd name="f100" fmla="*/ f70 1 f42"/>
                <a:gd name="f101" fmla="*/ f71 1 f43"/>
                <a:gd name="f102" fmla="*/ f72 1 f42"/>
                <a:gd name="f103" fmla="*/ f73 1 f43"/>
                <a:gd name="f104" fmla="*/ f74 1 f42"/>
                <a:gd name="f105" fmla="*/ f75 1 f42"/>
                <a:gd name="f106" fmla="*/ f76 1 f42"/>
                <a:gd name="f107" fmla="*/ f77 1 f42"/>
                <a:gd name="f108" fmla="*/ f78 1 f43"/>
                <a:gd name="f109" fmla="*/ f79 1 f42"/>
                <a:gd name="f110" fmla="*/ f80 1 f43"/>
                <a:gd name="f111" fmla="*/ f81 1 f43"/>
                <a:gd name="f112" fmla="*/ f82 1 f42"/>
                <a:gd name="f113" fmla="*/ f83 1 f43"/>
                <a:gd name="f114" fmla="*/ f84 1 f43"/>
                <a:gd name="f115" fmla="*/ f85 1 f42"/>
                <a:gd name="f116" fmla="*/ f86 1 f43"/>
                <a:gd name="f117" fmla="*/ f87 1 f42"/>
                <a:gd name="f118" fmla="*/ f88 1 f43"/>
                <a:gd name="f119" fmla="*/ f89 1 f43"/>
                <a:gd name="f120" fmla="*/ f90 1 f43"/>
                <a:gd name="f121" fmla="*/ f91 1 f42"/>
                <a:gd name="f122" fmla="*/ f92 1 f43"/>
                <a:gd name="f123" fmla="*/ f93 1 f42"/>
                <a:gd name="f124" fmla="*/ f94 1 f42"/>
                <a:gd name="f125" fmla="*/ f95 f37 1"/>
                <a:gd name="f126" fmla="*/ f96 f37 1"/>
                <a:gd name="f127" fmla="*/ f98 f38 1"/>
                <a:gd name="f128" fmla="*/ f97 f38 1"/>
                <a:gd name="f129" fmla="*/ f100 f37 1"/>
                <a:gd name="f130" fmla="*/ f101 f38 1"/>
                <a:gd name="f131" fmla="*/ f102 f37 1"/>
                <a:gd name="f132" fmla="*/ f103 f38 1"/>
                <a:gd name="f133" fmla="*/ f104 f37 1"/>
                <a:gd name="f134" fmla="*/ f105 f37 1"/>
                <a:gd name="f135" fmla="*/ f106 f37 1"/>
                <a:gd name="f136" fmla="*/ f107 f37 1"/>
                <a:gd name="f137" fmla="*/ f108 f38 1"/>
                <a:gd name="f138" fmla="*/ f109 f37 1"/>
                <a:gd name="f139" fmla="*/ f110 f38 1"/>
                <a:gd name="f140" fmla="*/ f111 f38 1"/>
                <a:gd name="f141" fmla="*/ f112 f37 1"/>
                <a:gd name="f142" fmla="*/ f113 f38 1"/>
                <a:gd name="f143" fmla="*/ f114 f38 1"/>
                <a:gd name="f144" fmla="*/ f115 f37 1"/>
                <a:gd name="f145" fmla="*/ f116 f38 1"/>
                <a:gd name="f146" fmla="*/ f117 f37 1"/>
                <a:gd name="f147" fmla="*/ f118 f38 1"/>
                <a:gd name="f148" fmla="*/ f119 f38 1"/>
                <a:gd name="f149" fmla="*/ f120 f38 1"/>
                <a:gd name="f150" fmla="*/ f121 f37 1"/>
                <a:gd name="f151" fmla="*/ f122 f38 1"/>
                <a:gd name="f152" fmla="*/ f123 f37 1"/>
                <a:gd name="f153" fmla="*/ f124 f37 1"/>
              </a:gdLst>
              <a:ahLst/>
              <a:cxnLst>
                <a:cxn ang="3cd4">
                  <a:pos x="hc" y="t"/>
                </a:cxn>
                <a:cxn ang="0">
                  <a:pos x="r" y="vc"/>
                </a:cxn>
                <a:cxn ang="cd4">
                  <a:pos x="hc" y="b"/>
                </a:cxn>
                <a:cxn ang="cd2">
                  <a:pos x="l" y="vc"/>
                </a:cxn>
                <a:cxn ang="f99">
                  <a:pos x="f129" y="f130"/>
                </a:cxn>
                <a:cxn ang="f99">
                  <a:pos x="f131" y="f132"/>
                </a:cxn>
                <a:cxn ang="f99">
                  <a:pos x="f133" y="f132"/>
                </a:cxn>
                <a:cxn ang="f99">
                  <a:pos x="f134" y="f132"/>
                </a:cxn>
                <a:cxn ang="f99">
                  <a:pos x="f135" y="f130"/>
                </a:cxn>
                <a:cxn ang="f99">
                  <a:pos x="f136" y="f137"/>
                </a:cxn>
                <a:cxn ang="f99">
                  <a:pos x="f138" y="f139"/>
                </a:cxn>
                <a:cxn ang="f99">
                  <a:pos x="f138" y="f140"/>
                </a:cxn>
                <a:cxn ang="f99">
                  <a:pos x="f141" y="f140"/>
                </a:cxn>
                <a:cxn ang="f99">
                  <a:pos x="f141" y="f142"/>
                </a:cxn>
                <a:cxn ang="f99">
                  <a:pos x="f138" y="f142"/>
                </a:cxn>
                <a:cxn ang="f99">
                  <a:pos x="f138" y="f143"/>
                </a:cxn>
                <a:cxn ang="f99">
                  <a:pos x="f144" y="f145"/>
                </a:cxn>
                <a:cxn ang="f99">
                  <a:pos x="f144" y="f142"/>
                </a:cxn>
                <a:cxn ang="f99">
                  <a:pos x="f146" y="f142"/>
                </a:cxn>
                <a:cxn ang="f99">
                  <a:pos x="f146" y="f140"/>
                </a:cxn>
                <a:cxn ang="f99">
                  <a:pos x="f144" y="f140"/>
                </a:cxn>
                <a:cxn ang="f99">
                  <a:pos x="f144" y="f147"/>
                </a:cxn>
                <a:cxn ang="f99">
                  <a:pos x="f144" y="f148"/>
                </a:cxn>
                <a:cxn ang="f99">
                  <a:pos x="f133" y="f149"/>
                </a:cxn>
                <a:cxn ang="f99">
                  <a:pos x="f150" y="f151"/>
                </a:cxn>
                <a:cxn ang="f99">
                  <a:pos x="f152" y="f151"/>
                </a:cxn>
                <a:cxn ang="f99">
                  <a:pos x="f153" y="f151"/>
                </a:cxn>
                <a:cxn ang="f99">
                  <a:pos x="f146" y="f149"/>
                </a:cxn>
                <a:cxn ang="f99">
                  <a:pos x="f129" y="f130"/>
                </a:cxn>
              </a:cxnLst>
              <a:rect l="f125" t="f128" r="f126" b="f127"/>
              <a:pathLst>
                <a:path w="22" h="54">
                  <a:moveTo>
                    <a:pt x="f8" y="f9"/>
                  </a:moveTo>
                  <a:cubicBezTo>
                    <a:pt x="f10" y="f11"/>
                    <a:pt x="f12" y="f11"/>
                    <a:pt x="f13" y="f7"/>
                  </a:cubicBezTo>
                  <a:cubicBezTo>
                    <a:pt x="f14" y="f7"/>
                    <a:pt x="f15" y="f7"/>
                    <a:pt x="f16" y="f7"/>
                  </a:cubicBezTo>
                  <a:cubicBezTo>
                    <a:pt x="f17" y="f7"/>
                    <a:pt x="f18" y="f7"/>
                    <a:pt x="f19" y="f7"/>
                  </a:cubicBezTo>
                  <a:cubicBezTo>
                    <a:pt x="f20" y="f11"/>
                    <a:pt x="f21" y="f11"/>
                    <a:pt x="f22" y="f9"/>
                  </a:cubicBezTo>
                  <a:cubicBezTo>
                    <a:pt x="f23" y="f24"/>
                    <a:pt x="f25" y="f26"/>
                    <a:pt x="f25" y="f27"/>
                  </a:cubicBezTo>
                  <a:cubicBezTo>
                    <a:pt x="f25" y="f28"/>
                    <a:pt x="f29" y="f30"/>
                    <a:pt x="f29" y="f31"/>
                  </a:cubicBezTo>
                  <a:cubicBezTo>
                    <a:pt x="f29" y="f6"/>
                    <a:pt x="f29" y="f6"/>
                    <a:pt x="f29" y="f6"/>
                  </a:cubicBezTo>
                  <a:cubicBezTo>
                    <a:pt x="f5" y="f6"/>
                    <a:pt x="f5" y="f6"/>
                    <a:pt x="f5" y="f6"/>
                  </a:cubicBezTo>
                  <a:cubicBezTo>
                    <a:pt x="f5" y="f15"/>
                    <a:pt x="f5" y="f15"/>
                    <a:pt x="f5" y="f15"/>
                  </a:cubicBezTo>
                  <a:cubicBezTo>
                    <a:pt x="f29" y="f15"/>
                    <a:pt x="f29" y="f15"/>
                    <a:pt x="f29" y="f15"/>
                  </a:cubicBezTo>
                  <a:cubicBezTo>
                    <a:pt x="f29" y="f32"/>
                    <a:pt x="f29" y="f32"/>
                    <a:pt x="f29"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1"/>
                    <a:pt x="f17" y="f34"/>
                  </a:cubicBezTo>
                  <a:cubicBezTo>
                    <a:pt x="f17" y="f34"/>
                    <a:pt x="f17" y="f30"/>
                    <a:pt x="f16" y="f30"/>
                  </a:cubicBezTo>
                  <a:cubicBezTo>
                    <a:pt x="f16" y="f28"/>
                    <a:pt x="f16" y="f28"/>
                    <a:pt x="f15" y="f28"/>
                  </a:cubicBezTo>
                  <a:cubicBezTo>
                    <a:pt x="f15" y="f28"/>
                    <a:pt x="f35" y="f28"/>
                    <a:pt x="f14" y="f28"/>
                  </a:cubicBezTo>
                  <a:cubicBezTo>
                    <a:pt x="f13" y="f28"/>
                    <a:pt x="f12" y="f28"/>
                    <a:pt x="f10" y="f28"/>
                  </a:cubicBezTo>
                  <a:cubicBezTo>
                    <a:pt x="f8" y="f30"/>
                    <a:pt x="f6" y="f30"/>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2" name="Freeform 54">
              <a:extLst>
                <a:ext uri="{FF2B5EF4-FFF2-40B4-BE49-F238E27FC236}">
                  <a16:creationId xmlns:a16="http://schemas.microsoft.com/office/drawing/2014/main" id="{B7C9BE6D-9AAC-086D-9009-615F5269ED90}"/>
                </a:ext>
              </a:extLst>
            </p:cNvPr>
            <p:cNvSpPr/>
            <p:nvPr/>
          </p:nvSpPr>
          <p:spPr>
            <a:xfrm>
              <a:off x="111829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3" name="Freeform 55">
              <a:extLst>
                <a:ext uri="{FF2B5EF4-FFF2-40B4-BE49-F238E27FC236}">
                  <a16:creationId xmlns:a16="http://schemas.microsoft.com/office/drawing/2014/main" id="{DBC91287-2ED6-E295-19D9-D8B685B22208}"/>
                </a:ext>
              </a:extLst>
            </p:cNvPr>
            <p:cNvSpPr/>
            <p:nvPr/>
          </p:nvSpPr>
          <p:spPr>
            <a:xfrm>
              <a:off x="1189753"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29 f50 1"/>
                <a:gd name="f74" fmla="*/ 35 f49 1"/>
                <a:gd name="f75" fmla="*/ 27 f50 1"/>
                <a:gd name="f76" fmla="*/ 37 f49 1"/>
                <a:gd name="f77" fmla="*/ 24 f50 1"/>
                <a:gd name="f78" fmla="*/ 39 f49 1"/>
                <a:gd name="f79" fmla="*/ 20 f50 1"/>
                <a:gd name="f80" fmla="*/ 40 f49 1"/>
                <a:gd name="f81" fmla="*/ 16 f50 1"/>
                <a:gd name="f82" fmla="*/ 12 f50 1"/>
                <a:gd name="f83" fmla="*/ 38 f49 1"/>
                <a:gd name="f84" fmla="*/ 5 f50 1"/>
                <a:gd name="f85" fmla="*/ 2 f50 1"/>
                <a:gd name="f86" fmla="*/ 0 f50 1"/>
                <a:gd name="f87" fmla="*/ 26 f49 1"/>
                <a:gd name="f88" fmla="*/ 20 f49 1"/>
                <a:gd name="f89" fmla="*/ 1 f50 1"/>
                <a:gd name="f90" fmla="*/ 12 f49 1"/>
                <a:gd name="f91" fmla="*/ 4 f50 1"/>
                <a:gd name="f92" fmla="*/ 5 f49 1"/>
                <a:gd name="f93" fmla="*/ 1 f49 1"/>
                <a:gd name="f94" fmla="*/ 0 f49 1"/>
                <a:gd name="f95" fmla="*/ 2 f49 1"/>
                <a:gd name="f96" fmla="*/ 6 f49 1"/>
                <a:gd name="f97" fmla="*/ 17 f49 1"/>
                <a:gd name="f98" fmla="*/ 13 f49 1"/>
                <a:gd name="f99" fmla="*/ 10 f49 1"/>
                <a:gd name="f100" fmla="*/ 8 f49 1"/>
                <a:gd name="f101" fmla="*/ 7 f49 1"/>
                <a:gd name="f102" fmla="*/ 9 f49 1"/>
                <a:gd name="f103" fmla="*/ f51 1 f2"/>
                <a:gd name="f104" fmla="*/ f54 1 33"/>
                <a:gd name="f105" fmla="*/ f55 1 40"/>
                <a:gd name="f106" fmla="*/ f56 1 40"/>
                <a:gd name="f107" fmla="*/ f57 1 33"/>
                <a:gd name="f108" fmla="*/ f58 1 40"/>
                <a:gd name="f109" fmla="*/ f59 1 33"/>
                <a:gd name="f110" fmla="*/ f60 1 33"/>
                <a:gd name="f111" fmla="*/ f61 1 40"/>
                <a:gd name="f112" fmla="*/ f62 1 33"/>
                <a:gd name="f113" fmla="*/ f63 1 40"/>
                <a:gd name="f114" fmla="*/ f64 1 33"/>
                <a:gd name="f115" fmla="*/ f65 1 40"/>
                <a:gd name="f116" fmla="*/ f66 1 33"/>
                <a:gd name="f117" fmla="*/ f67 1 33"/>
                <a:gd name="f118" fmla="*/ f68 1 33"/>
                <a:gd name="f119" fmla="*/ f69 1 40"/>
                <a:gd name="f120" fmla="*/ f70 1 33"/>
                <a:gd name="f121" fmla="*/ f71 1 33"/>
                <a:gd name="f122" fmla="*/ f72 1 40"/>
                <a:gd name="f123" fmla="*/ f73 1 33"/>
                <a:gd name="f124" fmla="*/ f74 1 40"/>
                <a:gd name="f125" fmla="*/ f75 1 33"/>
                <a:gd name="f126" fmla="*/ f76 1 40"/>
                <a:gd name="f127" fmla="*/ f77 1 33"/>
                <a:gd name="f128" fmla="*/ f78 1 40"/>
                <a:gd name="f129" fmla="*/ f79 1 33"/>
                <a:gd name="f130" fmla="*/ f80 1 40"/>
                <a:gd name="f131" fmla="*/ f81 1 33"/>
                <a:gd name="f132" fmla="*/ f82 1 33"/>
                <a:gd name="f133" fmla="*/ f83 1 40"/>
                <a:gd name="f134" fmla="*/ f84 1 33"/>
                <a:gd name="f135" fmla="*/ f85 1 33"/>
                <a:gd name="f136" fmla="*/ f86 1 33"/>
                <a:gd name="f137" fmla="*/ f87 1 40"/>
                <a:gd name="f138" fmla="*/ f88 1 40"/>
                <a:gd name="f139" fmla="*/ f89 1 33"/>
                <a:gd name="f140" fmla="*/ f90 1 40"/>
                <a:gd name="f141" fmla="*/ f91 1 33"/>
                <a:gd name="f142" fmla="*/ f92 1 40"/>
                <a:gd name="f143" fmla="*/ f93 1 40"/>
                <a:gd name="f144" fmla="*/ f94 1 40"/>
                <a:gd name="f145" fmla="*/ f95 1 40"/>
                <a:gd name="f146" fmla="*/ f96 1 40"/>
                <a:gd name="f147" fmla="*/ f97 1 40"/>
                <a:gd name="f148" fmla="*/ f98 1 40"/>
                <a:gd name="f149" fmla="*/ f99 1 40"/>
                <a:gd name="f150" fmla="*/ f100 1 40"/>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2"/>
                <a:gd name="f165" fmla="*/ f111 1 f53"/>
                <a:gd name="f166" fmla="*/ f112 1 f52"/>
                <a:gd name="f167" fmla="*/ f113 1 f53"/>
                <a:gd name="f168" fmla="*/ f114 1 f52"/>
                <a:gd name="f169" fmla="*/ f115 1 f53"/>
                <a:gd name="f170" fmla="*/ f116 1 f52"/>
                <a:gd name="f171" fmla="*/ f117 1 f52"/>
                <a:gd name="f172" fmla="*/ f118 1 f52"/>
                <a:gd name="f173" fmla="*/ f119 1 f53"/>
                <a:gd name="f174" fmla="*/ f120 1 f52"/>
                <a:gd name="f175" fmla="*/ f121 1 f52"/>
                <a:gd name="f176" fmla="*/ f122 1 f53"/>
                <a:gd name="f177" fmla="*/ f123 1 f52"/>
                <a:gd name="f178" fmla="*/ f124 1 f53"/>
                <a:gd name="f179" fmla="*/ f125 1 f52"/>
                <a:gd name="f180" fmla="*/ f126 1 f53"/>
                <a:gd name="f181" fmla="*/ f127 1 f52"/>
                <a:gd name="f182" fmla="*/ f128 1 f53"/>
                <a:gd name="f183" fmla="*/ f129 1 f52"/>
                <a:gd name="f184" fmla="*/ f130 1 f53"/>
                <a:gd name="f185" fmla="*/ f131 1 f52"/>
                <a:gd name="f186" fmla="*/ f132 1 f52"/>
                <a:gd name="f187" fmla="*/ f133 1 f53"/>
                <a:gd name="f188" fmla="*/ f134 1 f52"/>
                <a:gd name="f189" fmla="*/ f135 1 f52"/>
                <a:gd name="f190" fmla="*/ f136 1 f52"/>
                <a:gd name="f191" fmla="*/ f137 1 f53"/>
                <a:gd name="f192" fmla="*/ f138 1 f53"/>
                <a:gd name="f193" fmla="*/ f139 1 f52"/>
                <a:gd name="f194" fmla="*/ f140 1 f53"/>
                <a:gd name="f195" fmla="*/ f141 1 f52"/>
                <a:gd name="f196" fmla="*/ f142 1 f53"/>
                <a:gd name="f197" fmla="*/ f143 1 f53"/>
                <a:gd name="f198" fmla="*/ f144 1 f53"/>
                <a:gd name="f199" fmla="*/ f145 1 f53"/>
                <a:gd name="f200" fmla="*/ f146 1 f53"/>
                <a:gd name="f201" fmla="*/ f147 1 f53"/>
                <a:gd name="f202" fmla="*/ f148 1 f53"/>
                <a:gd name="f203" fmla="*/ f149 1 f53"/>
                <a:gd name="f204" fmla="*/ f150 1 f53"/>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7 1"/>
                <a:gd name="f218" fmla="*/ f165 f48 1"/>
                <a:gd name="f219" fmla="*/ f166 f47 1"/>
                <a:gd name="f220" fmla="*/ f167 f48 1"/>
                <a:gd name="f221" fmla="*/ f168 f47 1"/>
                <a:gd name="f222" fmla="*/ f169 f48 1"/>
                <a:gd name="f223" fmla="*/ f170 f47 1"/>
                <a:gd name="f224" fmla="*/ f171 f47 1"/>
                <a:gd name="f225" fmla="*/ f172 f47 1"/>
                <a:gd name="f226" fmla="*/ f173 f48 1"/>
                <a:gd name="f227" fmla="*/ f174 f47 1"/>
                <a:gd name="f228" fmla="*/ f175 f47 1"/>
                <a:gd name="f229" fmla="*/ f176 f48 1"/>
                <a:gd name="f230" fmla="*/ f177 f47 1"/>
                <a:gd name="f231" fmla="*/ f178 f48 1"/>
                <a:gd name="f232" fmla="*/ f179 f47 1"/>
                <a:gd name="f233" fmla="*/ f180 f48 1"/>
                <a:gd name="f234" fmla="*/ f181 f47 1"/>
                <a:gd name="f235" fmla="*/ f182 f48 1"/>
                <a:gd name="f236" fmla="*/ f183 f47 1"/>
                <a:gd name="f237" fmla="*/ f184 f48 1"/>
                <a:gd name="f238" fmla="*/ f185 f47 1"/>
                <a:gd name="f239" fmla="*/ f186 f47 1"/>
                <a:gd name="f240" fmla="*/ f187 f48 1"/>
                <a:gd name="f241" fmla="*/ f188 f47 1"/>
                <a:gd name="f242" fmla="*/ f189 f47 1"/>
                <a:gd name="f243" fmla="*/ f190 f47 1"/>
                <a:gd name="f244" fmla="*/ f191 f48 1"/>
                <a:gd name="f245" fmla="*/ f192 f48 1"/>
                <a:gd name="f246" fmla="*/ f193 f47 1"/>
                <a:gd name="f247" fmla="*/ f194 f48 1"/>
                <a:gd name="f248" fmla="*/ f195 f47 1"/>
                <a:gd name="f249" fmla="*/ f196 f48 1"/>
                <a:gd name="f250" fmla="*/ f197 f48 1"/>
                <a:gd name="f251" fmla="*/ f198 f48 1"/>
                <a:gd name="f252" fmla="*/ f199 f48 1"/>
                <a:gd name="f253" fmla="*/ f200 f48 1"/>
                <a:gd name="f254" fmla="*/ f201 f48 1"/>
                <a:gd name="f255" fmla="*/ f202 f48 1"/>
                <a:gd name="f256" fmla="*/ f203 f48 1"/>
                <a:gd name="f257" fmla="*/ f204 f48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5"/>
                </a:cxn>
                <a:cxn ang="f157">
                  <a:pos x="f217" y="f218"/>
                </a:cxn>
                <a:cxn ang="f157">
                  <a:pos x="f219" y="f220"/>
                </a:cxn>
                <a:cxn ang="f157">
                  <a:pos x="f221" y="f222"/>
                </a:cxn>
                <a:cxn ang="f157">
                  <a:pos x="f223" y="f222"/>
                </a:cxn>
                <a:cxn ang="f157">
                  <a:pos x="f224" y="f222"/>
                </a:cxn>
                <a:cxn ang="f157">
                  <a:pos x="f225" y="f226"/>
                </a:cxn>
                <a:cxn ang="f157">
                  <a:pos x="f227" y="f226"/>
                </a:cxn>
                <a:cxn ang="f157">
                  <a:pos x="f228" y="f229"/>
                </a:cxn>
                <a:cxn ang="f157">
                  <a:pos x="f230" y="f231"/>
                </a:cxn>
                <a:cxn ang="f157">
                  <a:pos x="f232" y="f233"/>
                </a:cxn>
                <a:cxn ang="f157">
                  <a:pos x="f234" y="f235"/>
                </a:cxn>
                <a:cxn ang="f157">
                  <a:pos x="f236" y="f237"/>
                </a:cxn>
                <a:cxn ang="f157">
                  <a:pos x="f238" y="f237"/>
                </a:cxn>
                <a:cxn ang="f157">
                  <a:pos x="f239" y="f235"/>
                </a:cxn>
                <a:cxn ang="f157">
                  <a:pos x="f217" y="f240"/>
                </a:cxn>
                <a:cxn ang="f157">
                  <a:pos x="f241" y="f231"/>
                </a:cxn>
                <a:cxn ang="f157">
                  <a:pos x="f242" y="f220"/>
                </a:cxn>
                <a:cxn ang="f157">
                  <a:pos x="f243" y="f244"/>
                </a:cxn>
                <a:cxn ang="f157">
                  <a:pos x="f243" y="f245"/>
                </a:cxn>
                <a:cxn ang="f157">
                  <a:pos x="f246" y="f247"/>
                </a:cxn>
                <a:cxn ang="f157">
                  <a:pos x="f248" y="f249"/>
                </a:cxn>
                <a:cxn ang="f157">
                  <a:pos x="f219" y="f250"/>
                </a:cxn>
                <a:cxn ang="f157">
                  <a:pos x="f238" y="f251"/>
                </a:cxn>
                <a:cxn ang="f157">
                  <a:pos x="f234" y="f252"/>
                </a:cxn>
                <a:cxn ang="f157">
                  <a:pos x="f230" y="f253"/>
                </a:cxn>
                <a:cxn ang="f157">
                  <a:pos x="f214" y="f247"/>
                </a:cxn>
                <a:cxn ang="f157">
                  <a:pos x="f211" y="f212"/>
                </a:cxn>
                <a:cxn ang="f157">
                  <a:pos x="f228" y="f254"/>
                </a:cxn>
                <a:cxn ang="f157">
                  <a:pos x="f234" y="f255"/>
                </a:cxn>
                <a:cxn ang="f157">
                  <a:pos x="f227" y="f256"/>
                </a:cxn>
                <a:cxn ang="f157">
                  <a:pos x="f236" y="f257"/>
                </a:cxn>
                <a:cxn ang="f157">
                  <a:pos x="f238" y="f258"/>
                </a:cxn>
                <a:cxn ang="f157">
                  <a:pos x="f239" y="f257"/>
                </a:cxn>
                <a:cxn ang="f157">
                  <a:pos x="f219" y="f259"/>
                </a:cxn>
                <a:cxn ang="f157">
                  <a:pos x="f217" y="f247"/>
                </a:cxn>
                <a:cxn ang="f157">
                  <a:pos x="f216" y="f254"/>
                </a:cxn>
                <a:cxn ang="f157">
                  <a:pos x="f228" y="f254"/>
                </a:cxn>
              </a:cxnLst>
              <a:rect l="f207" t="f210" r="f208" b="f209"/>
              <a:pathLst>
                <a:path w="33" h="40">
                  <a:moveTo>
                    <a:pt x="f6" y="f8"/>
                  </a:moveTo>
                  <a:cubicBezTo>
                    <a:pt x="f6" y="f9"/>
                    <a:pt x="f6" y="f10"/>
                    <a:pt x="f6" y="f10"/>
                  </a:cubicBezTo>
                  <a:cubicBezTo>
                    <a:pt x="f11" y="f12"/>
                    <a:pt x="f11" y="f12"/>
                    <a:pt x="f11" y="f13"/>
                  </a:cubicBezTo>
                  <a:cubicBezTo>
                    <a:pt x="f14" y="f13"/>
                    <a:pt x="f14" y="f13"/>
                    <a:pt x="f14" y="f13"/>
                  </a:cubicBezTo>
                  <a:cubicBezTo>
                    <a:pt x="f14" y="f15"/>
                    <a:pt x="f16" y="f17"/>
                    <a:pt x="f16" y="f18"/>
                  </a:cubicBezTo>
                  <a:cubicBezTo>
                    <a:pt x="f19" y="f20"/>
                    <a:pt x="f21" y="f22"/>
                    <a:pt x="f21" y="f23"/>
                  </a:cubicBezTo>
                  <a:cubicBezTo>
                    <a:pt x="f24" y="f11"/>
                    <a:pt x="f25" y="f11"/>
                    <a:pt x="f26" y="f6"/>
                  </a:cubicBezTo>
                  <a:cubicBezTo>
                    <a:pt x="f27" y="f6"/>
                    <a:pt x="f28" y="f6"/>
                    <a:pt x="f29" y="f6"/>
                  </a:cubicBezTo>
                  <a:cubicBezTo>
                    <a:pt x="f30" y="f6"/>
                    <a:pt x="f30" y="f6"/>
                    <a:pt x="f8" y="f6"/>
                  </a:cubicBezTo>
                  <a:cubicBezTo>
                    <a:pt x="f9" y="f6"/>
                    <a:pt x="f9" y="f6"/>
                    <a:pt x="f10" y="f11"/>
                  </a:cubicBezTo>
                  <a:cubicBezTo>
                    <a:pt x="f12" y="f11"/>
                    <a:pt x="f12" y="f11"/>
                    <a:pt x="f13" y="f11"/>
                  </a:cubicBezTo>
                  <a:cubicBezTo>
                    <a:pt x="f13" y="f23"/>
                    <a:pt x="f31" y="f23"/>
                    <a:pt x="f15" y="f22"/>
                  </a:cubicBezTo>
                  <a:cubicBezTo>
                    <a:pt x="f20" y="f32"/>
                    <a:pt x="f20" y="f32"/>
                    <a:pt x="f20" y="f32"/>
                  </a:cubicBezTo>
                  <a:cubicBezTo>
                    <a:pt x="f20" y="f33"/>
                    <a:pt x="f18" y="f34"/>
                    <a:pt x="f35" y="f34"/>
                  </a:cubicBezTo>
                  <a:cubicBezTo>
                    <a:pt x="f17" y="f36"/>
                    <a:pt x="f15" y="f36"/>
                    <a:pt x="f31" y="f37"/>
                  </a:cubicBezTo>
                  <a:cubicBezTo>
                    <a:pt x="f13" y="f37"/>
                    <a:pt x="f12" y="f7"/>
                    <a:pt x="f9"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2"/>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2" y="f45"/>
                    <a:pt x="f31" y="f44"/>
                  </a:cubicBezTo>
                  <a:cubicBezTo>
                    <a:pt x="f17" y="f43"/>
                    <a:pt x="f35" y="f41"/>
                    <a:pt x="f20" y="f39"/>
                  </a:cubicBezTo>
                  <a:cubicBezTo>
                    <a:pt x="f22" y="f16"/>
                    <a:pt x="f23" y="f21"/>
                    <a:pt x="f11" y="f25"/>
                  </a:cubicBezTo>
                  <a:cubicBezTo>
                    <a:pt x="f11" y="f27"/>
                    <a:pt x="f6" y="f29"/>
                    <a:pt x="f6" y="f8"/>
                  </a:cubicBezTo>
                  <a:close/>
                  <a:moveTo>
                    <a:pt x="f15" y="f29"/>
                  </a:moveTo>
                  <a:cubicBezTo>
                    <a:pt x="f15" y="f38"/>
                    <a:pt x="f15" y="f27"/>
                    <a:pt x="f31" y="f26"/>
                  </a:cubicBezTo>
                  <a:cubicBezTo>
                    <a:pt x="f31" y="f25"/>
                    <a:pt x="f13" y="f24"/>
                    <a:pt x="f13" y="f21"/>
                  </a:cubicBezTo>
                  <a:cubicBezTo>
                    <a:pt x="f12" y="f19"/>
                    <a:pt x="f10" y="f16"/>
                    <a:pt x="f9" y="f16"/>
                  </a:cubicBezTo>
                  <a:cubicBezTo>
                    <a:pt x="f8" y="f14"/>
                    <a:pt x="f29"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4" name="Freeform 56">
              <a:extLst>
                <a:ext uri="{FF2B5EF4-FFF2-40B4-BE49-F238E27FC236}">
                  <a16:creationId xmlns:a16="http://schemas.microsoft.com/office/drawing/2014/main" id="{7AF492FB-0DBE-08D3-6D4A-099353E49AB9}"/>
                </a:ext>
              </a:extLst>
            </p:cNvPr>
            <p:cNvSpPr/>
            <p:nvPr/>
          </p:nvSpPr>
          <p:spPr>
            <a:xfrm>
              <a:off x="1294314" y="6293924"/>
              <a:ext cx="55769" cy="101132"/>
            </a:xfrm>
            <a:custGeom>
              <a:avLst/>
              <a:gdLst>
                <a:gd name="f0" fmla="val 10800000"/>
                <a:gd name="f1" fmla="val 5400000"/>
                <a:gd name="f2" fmla="val 180"/>
                <a:gd name="f3" fmla="val w"/>
                <a:gd name="f4" fmla="val h"/>
                <a:gd name="f5" fmla="val 0"/>
                <a:gd name="f6" fmla="val 22"/>
                <a:gd name="f7" fmla="val 39"/>
                <a:gd name="f8" fmla="val 20"/>
                <a:gd name="f9" fmla="val 9"/>
                <a:gd name="f10" fmla="val 8"/>
                <a:gd name="f11" fmla="val 19"/>
                <a:gd name="f12" fmla="val 18"/>
                <a:gd name="f13" fmla="val 17"/>
                <a:gd name="f14" fmla="val 16"/>
                <a:gd name="f15" fmla="val 7"/>
                <a:gd name="f16" fmla="val 15"/>
                <a:gd name="f17" fmla="val 12"/>
                <a:gd name="f18" fmla="val 10"/>
                <a:gd name="f19" fmla="val 14"/>
                <a:gd name="f20" fmla="val 1"/>
                <a:gd name="f21" fmla="val 5"/>
                <a:gd name="f22" fmla="val 4"/>
                <a:gd name="f23" fmla="val 3"/>
                <a:gd name="f24" fmla="val 2"/>
                <a:gd name="f25" fmla="val 11"/>
                <a:gd name="f26" fmla="val 13"/>
                <a:gd name="f27" fmla="val 21"/>
                <a:gd name="f28" fmla="+- 0 0 -90"/>
                <a:gd name="f29" fmla="*/ f3 1 22"/>
                <a:gd name="f30" fmla="*/ f4 1 39"/>
                <a:gd name="f31" fmla="+- f7 0 f5"/>
                <a:gd name="f32" fmla="+- f6 0 f5"/>
                <a:gd name="f33" fmla="*/ f28 f0 1"/>
                <a:gd name="f34" fmla="*/ f32 1 22"/>
                <a:gd name="f35" fmla="*/ f31 1 39"/>
                <a:gd name="f36" fmla="*/ 20 f32 1"/>
                <a:gd name="f37" fmla="*/ 9 f31 1"/>
                <a:gd name="f38" fmla="*/ 18 f32 1"/>
                <a:gd name="f39" fmla="*/ 8 f31 1"/>
                <a:gd name="f40" fmla="*/ 15 f32 1"/>
                <a:gd name="f41" fmla="*/ 7 f31 1"/>
                <a:gd name="f42" fmla="*/ 9 f32 1"/>
                <a:gd name="f43" fmla="*/ 10 f31 1"/>
                <a:gd name="f44" fmla="*/ 7 f32 1"/>
                <a:gd name="f45" fmla="*/ 17 f31 1"/>
                <a:gd name="f46" fmla="*/ 39 f31 1"/>
                <a:gd name="f47" fmla="*/ 0 f32 1"/>
                <a:gd name="f48" fmla="*/ 1 f31 1"/>
                <a:gd name="f49" fmla="*/ 5 f31 1"/>
                <a:gd name="f50" fmla="*/ 3 f31 1"/>
                <a:gd name="f51" fmla="*/ 11 f32 1"/>
                <a:gd name="f52" fmla="*/ 13 f32 1"/>
                <a:gd name="f53" fmla="*/ 0 f31 1"/>
                <a:gd name="f54" fmla="*/ 16 f32 1"/>
                <a:gd name="f55" fmla="*/ 22 f32 1"/>
                <a:gd name="f56" fmla="*/ 2 f31 1"/>
                <a:gd name="f57" fmla="*/ f33 1 f2"/>
                <a:gd name="f58" fmla="*/ f36 1 22"/>
                <a:gd name="f59" fmla="*/ f37 1 39"/>
                <a:gd name="f60" fmla="*/ f38 1 22"/>
                <a:gd name="f61" fmla="*/ f39 1 39"/>
                <a:gd name="f62" fmla="*/ f40 1 22"/>
                <a:gd name="f63" fmla="*/ f41 1 39"/>
                <a:gd name="f64" fmla="*/ f42 1 22"/>
                <a:gd name="f65" fmla="*/ f43 1 39"/>
                <a:gd name="f66" fmla="*/ f44 1 22"/>
                <a:gd name="f67" fmla="*/ f45 1 39"/>
                <a:gd name="f68" fmla="*/ f46 1 39"/>
                <a:gd name="f69" fmla="*/ f47 1 22"/>
                <a:gd name="f70" fmla="*/ f48 1 39"/>
                <a:gd name="f71" fmla="*/ f49 1 39"/>
                <a:gd name="f72" fmla="*/ f50 1 39"/>
                <a:gd name="f73" fmla="*/ f51 1 22"/>
                <a:gd name="f74" fmla="*/ f52 1 22"/>
                <a:gd name="f75" fmla="*/ f53 1 39"/>
                <a:gd name="f76" fmla="*/ f54 1 22"/>
                <a:gd name="f77" fmla="*/ f55 1 22"/>
                <a:gd name="f78" fmla="*/ f56 1 39"/>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5"/>
                <a:gd name="f90" fmla="*/ f64 1 f34"/>
                <a:gd name="f91" fmla="*/ f65 1 f35"/>
                <a:gd name="f92" fmla="*/ f66 1 f34"/>
                <a:gd name="f93" fmla="*/ f67 1 f35"/>
                <a:gd name="f94" fmla="*/ f68 1 f35"/>
                <a:gd name="f95" fmla="*/ f69 1 f34"/>
                <a:gd name="f96" fmla="*/ f70 1 f35"/>
                <a:gd name="f97" fmla="*/ f71 1 f35"/>
                <a:gd name="f98" fmla="*/ f72 1 f35"/>
                <a:gd name="f99" fmla="*/ f73 1 f34"/>
                <a:gd name="f100" fmla="*/ f74 1 f34"/>
                <a:gd name="f101" fmla="*/ f75 1 f35"/>
                <a:gd name="f102" fmla="*/ f76 1 f34"/>
                <a:gd name="f103" fmla="*/ f77 1 f34"/>
                <a:gd name="f104" fmla="*/ f78 1 f35"/>
                <a:gd name="f105" fmla="*/ f79 f29 1"/>
                <a:gd name="f106" fmla="*/ f80 f29 1"/>
                <a:gd name="f107" fmla="*/ f82 f30 1"/>
                <a:gd name="f108" fmla="*/ f81 f30 1"/>
                <a:gd name="f109" fmla="*/ f84 f29 1"/>
                <a:gd name="f110" fmla="*/ f85 f30 1"/>
                <a:gd name="f111" fmla="*/ f86 f29 1"/>
                <a:gd name="f112" fmla="*/ f87 f30 1"/>
                <a:gd name="f113" fmla="*/ f88 f29 1"/>
                <a:gd name="f114" fmla="*/ f89 f30 1"/>
                <a:gd name="f115" fmla="*/ f90 f29 1"/>
                <a:gd name="f116" fmla="*/ f91 f30 1"/>
                <a:gd name="f117" fmla="*/ f92 f29 1"/>
                <a:gd name="f118" fmla="*/ f93 f30 1"/>
                <a:gd name="f119" fmla="*/ f94 f30 1"/>
                <a:gd name="f120" fmla="*/ f95 f29 1"/>
                <a:gd name="f121" fmla="*/ f96 f30 1"/>
                <a:gd name="f122" fmla="*/ f97 f30 1"/>
                <a:gd name="f123" fmla="*/ f98 f30 1"/>
                <a:gd name="f124" fmla="*/ f99 f29 1"/>
                <a:gd name="f125" fmla="*/ f100 f29 1"/>
                <a:gd name="f126" fmla="*/ f101 f30 1"/>
                <a:gd name="f127" fmla="*/ f102 f29 1"/>
                <a:gd name="f128" fmla="*/ f103 f29 1"/>
                <a:gd name="f129" fmla="*/ f104 f30 1"/>
              </a:gdLst>
              <a:ahLst/>
              <a:cxnLst>
                <a:cxn ang="3cd4">
                  <a:pos x="hc" y="t"/>
                </a:cxn>
                <a:cxn ang="0">
                  <a:pos x="r" y="vc"/>
                </a:cxn>
                <a:cxn ang="cd4">
                  <a:pos x="hc" y="b"/>
                </a:cxn>
                <a:cxn ang="cd2">
                  <a:pos x="l" y="vc"/>
                </a:cxn>
                <a:cxn ang="f83">
                  <a:pos x="f109" y="f110"/>
                </a:cxn>
                <a:cxn ang="f83">
                  <a:pos x="f111" y="f112"/>
                </a:cxn>
                <a:cxn ang="f83">
                  <a:pos x="f113" y="f114"/>
                </a:cxn>
                <a:cxn ang="f83">
                  <a:pos x="f115" y="f116"/>
                </a:cxn>
                <a:cxn ang="f83">
                  <a:pos x="f117" y="f118"/>
                </a:cxn>
                <a:cxn ang="f83">
                  <a:pos x="f117" y="f119"/>
                </a:cxn>
                <a:cxn ang="f83">
                  <a:pos x="f120" y="f119"/>
                </a:cxn>
                <a:cxn ang="f83">
                  <a:pos x="f120" y="f121"/>
                </a:cxn>
                <a:cxn ang="f83">
                  <a:pos x="f117" y="f121"/>
                </a:cxn>
                <a:cxn ang="f83">
                  <a:pos x="f117" y="f122"/>
                </a:cxn>
                <a:cxn ang="f83">
                  <a:pos x="f115" y="f123"/>
                </a:cxn>
                <a:cxn ang="f83">
                  <a:pos x="f124" y="f121"/>
                </a:cxn>
                <a:cxn ang="f83">
                  <a:pos x="f125" y="f126"/>
                </a:cxn>
                <a:cxn ang="f83">
                  <a:pos x="f127" y="f126"/>
                </a:cxn>
                <a:cxn ang="f83">
                  <a:pos x="f109" y="f121"/>
                </a:cxn>
                <a:cxn ang="f83">
                  <a:pos x="f128" y="f129"/>
                </a:cxn>
                <a:cxn ang="f83">
                  <a:pos x="f109" y="f110"/>
                </a:cxn>
              </a:cxnLst>
              <a:rect l="f105" t="f108" r="f106" b="f107"/>
              <a:pathLst>
                <a:path w="22" h="39">
                  <a:moveTo>
                    <a:pt x="f8" y="f9"/>
                  </a:moveTo>
                  <a:cubicBezTo>
                    <a:pt x="f8" y="f10"/>
                    <a:pt x="f11" y="f10"/>
                    <a:pt x="f12" y="f10"/>
                  </a:cubicBezTo>
                  <a:cubicBezTo>
                    <a:pt x="f13" y="f10"/>
                    <a:pt x="f14" y="f15"/>
                    <a:pt x="f16" y="f15"/>
                  </a:cubicBezTo>
                  <a:cubicBezTo>
                    <a:pt x="f17" y="f15"/>
                    <a:pt x="f18" y="f10"/>
                    <a:pt x="f9" y="f18"/>
                  </a:cubicBezTo>
                  <a:cubicBezTo>
                    <a:pt x="f10" y="f17"/>
                    <a:pt x="f15" y="f19"/>
                    <a:pt x="f15" y="f13"/>
                  </a:cubicBezTo>
                  <a:cubicBezTo>
                    <a:pt x="f15" y="f7"/>
                    <a:pt x="f15" y="f7"/>
                    <a:pt x="f15" y="f7"/>
                  </a:cubicBezTo>
                  <a:cubicBezTo>
                    <a:pt x="f5" y="f7"/>
                    <a:pt x="f5" y="f7"/>
                    <a:pt x="f5" y="f7"/>
                  </a:cubicBezTo>
                  <a:cubicBezTo>
                    <a:pt x="f5" y="f20"/>
                    <a:pt x="f5" y="f20"/>
                    <a:pt x="f5" y="f20"/>
                  </a:cubicBezTo>
                  <a:cubicBezTo>
                    <a:pt x="f15" y="f20"/>
                    <a:pt x="f15" y="f20"/>
                    <a:pt x="f15" y="f20"/>
                  </a:cubicBezTo>
                  <a:cubicBezTo>
                    <a:pt x="f15" y="f21"/>
                    <a:pt x="f15" y="f21"/>
                    <a:pt x="f15" y="f21"/>
                  </a:cubicBezTo>
                  <a:cubicBezTo>
                    <a:pt x="f10" y="f22"/>
                    <a:pt x="f10" y="f23"/>
                    <a:pt x="f9" y="f23"/>
                  </a:cubicBezTo>
                  <a:cubicBezTo>
                    <a:pt x="f9" y="f24"/>
                    <a:pt x="f18" y="f24"/>
                    <a:pt x="f25" y="f20"/>
                  </a:cubicBezTo>
                  <a:cubicBezTo>
                    <a:pt x="f25" y="f20"/>
                    <a:pt x="f17" y="f20"/>
                    <a:pt x="f26" y="f5"/>
                  </a:cubicBezTo>
                  <a:cubicBezTo>
                    <a:pt x="f19" y="f5"/>
                    <a:pt x="f16" y="f5"/>
                    <a:pt x="f14" y="f5"/>
                  </a:cubicBezTo>
                  <a:cubicBezTo>
                    <a:pt x="f13" y="f5"/>
                    <a:pt x="f11" y="f5"/>
                    <a:pt x="f8" y="f20"/>
                  </a:cubicBezTo>
                  <a:cubicBezTo>
                    <a:pt x="f27" y="f20"/>
                    <a:pt x="f6" y="f20"/>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5" name="Freeform 57">
              <a:extLst>
                <a:ext uri="{FF2B5EF4-FFF2-40B4-BE49-F238E27FC236}">
                  <a16:creationId xmlns:a16="http://schemas.microsoft.com/office/drawing/2014/main" id="{B0BAFDA8-B439-943D-5E46-AFF5387CDB77}"/>
                </a:ext>
              </a:extLst>
            </p:cNvPr>
            <p:cNvSpPr/>
            <p:nvPr/>
          </p:nvSpPr>
          <p:spPr>
            <a:xfrm>
              <a:off x="140586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6" name="Freeform 58">
              <a:extLst>
                <a:ext uri="{FF2B5EF4-FFF2-40B4-BE49-F238E27FC236}">
                  <a16:creationId xmlns:a16="http://schemas.microsoft.com/office/drawing/2014/main" id="{F25589B0-10A5-19B3-5CBE-F605F917F521}"/>
                </a:ext>
              </a:extLst>
            </p:cNvPr>
            <p:cNvSpPr/>
            <p:nvPr/>
          </p:nvSpPr>
          <p:spPr>
            <a:xfrm>
              <a:off x="1484281" y="6259049"/>
              <a:ext cx="80165"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5"/>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10 f38 1"/>
                <a:gd name="f52" fmla="*/ 8 f38 1"/>
                <a:gd name="f53" fmla="*/ 27 f37 1"/>
                <a:gd name="f54" fmla="*/ 7 f38 1"/>
                <a:gd name="f55" fmla="*/ 31 f37 1"/>
                <a:gd name="f56" fmla="*/ 0 f38 1"/>
                <a:gd name="f57" fmla="*/ 4 f37 1"/>
                <a:gd name="f58" fmla="*/ 0 f37 1"/>
                <a:gd name="f59" fmla="*/ 19 f37 1"/>
                <a:gd name="f60" fmla="*/ 9 f38 1"/>
                <a:gd name="f61" fmla="*/ 17 f37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31"/>
                <a:gd name="f90" fmla="*/ f61 1 53"/>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0"/>
                <a:gd name="f123" fmla="*/ f90 1 f41"/>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5 1"/>
                <a:gd name="f155" fmla="*/ f123 f36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54" y="f155"/>
                </a:cxn>
                <a:cxn ang="f103">
                  <a:pos x="f143"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8" y="f11"/>
                    <a:pt x="f12" y="f13"/>
                  </a:cubicBezTo>
                  <a:cubicBezTo>
                    <a:pt x="f14" y="f15"/>
                    <a:pt x="f16" y="f12"/>
                    <a:pt x="f17" y="f12"/>
                  </a:cubicBezTo>
                  <a:cubicBezTo>
                    <a:pt x="f18" y="f12"/>
                    <a:pt x="f19" y="f12"/>
                    <a:pt x="f20" y="f15"/>
                  </a:cubicBezTo>
                  <a:cubicBezTo>
                    <a:pt x="f21" y="f15"/>
                    <a:pt x="f22" y="f8"/>
                    <a:pt x="f22" y="f13"/>
                  </a:cubicBezTo>
                  <a:cubicBezTo>
                    <a:pt x="f23" y="f13"/>
                    <a:pt x="f24" y="f11"/>
                    <a:pt x="f24" y="f25"/>
                  </a:cubicBezTo>
                  <a:cubicBezTo>
                    <a:pt x="f24"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3" y="f30"/>
                    <a:pt x="f23" y="f30"/>
                  </a:cubicBezTo>
                  <a:cubicBezTo>
                    <a:pt x="f22" y="f31"/>
                    <a:pt x="f21" y="f31"/>
                    <a:pt x="f20" y="f17"/>
                  </a:cubicBezTo>
                  <a:cubicBezTo>
                    <a:pt x="f20" y="f17"/>
                    <a:pt x="f19" y="f17"/>
                    <a:pt x="f18" y="f18"/>
                  </a:cubicBezTo>
                  <a:cubicBezTo>
                    <a:pt x="f17" y="f18"/>
                    <a:pt x="f31" y="f18"/>
                    <a:pt x="f30" y="f18"/>
                  </a:cubicBezTo>
                  <a:cubicBezTo>
                    <a:pt x="f29" y="f18"/>
                    <a:pt x="f12" y="f18"/>
                    <a:pt x="f8" y="f17"/>
                  </a:cubicBezTo>
                  <a:cubicBezTo>
                    <a:pt x="f11" y="f31"/>
                    <a:pt x="f32" y="f30"/>
                    <a:pt x="f25" y="f16"/>
                  </a:cubicBezTo>
                  <a:cubicBezTo>
                    <a:pt x="f27" y="f14"/>
                    <a:pt x="f27" y="f15"/>
                    <a:pt x="f33" y="f13"/>
                  </a:cubicBezTo>
                  <a:cubicBezTo>
                    <a:pt x="f6"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7" name="Freeform 59">
              <a:extLst>
                <a:ext uri="{FF2B5EF4-FFF2-40B4-BE49-F238E27FC236}">
                  <a16:creationId xmlns:a16="http://schemas.microsoft.com/office/drawing/2014/main" id="{0AADF50A-259F-D987-3CD3-482D8149B4F6}"/>
                </a:ext>
              </a:extLst>
            </p:cNvPr>
            <p:cNvSpPr/>
            <p:nvPr/>
          </p:nvSpPr>
          <p:spPr>
            <a:xfrm>
              <a:off x="1581884"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8"/>
                <a:gd name="f14" fmla="val 25"/>
                <a:gd name="f15" fmla="val 26"/>
                <a:gd name="f16" fmla="val 9"/>
                <a:gd name="f17" fmla="val 28"/>
                <a:gd name="f18" fmla="val 10"/>
                <a:gd name="f19" fmla="val 29"/>
                <a:gd name="f20" fmla="val 30"/>
                <a:gd name="f21" fmla="val 11"/>
                <a:gd name="f22" fmla="val 31"/>
                <a:gd name="f23" fmla="val 12"/>
                <a:gd name="f24" fmla="val 32"/>
                <a:gd name="f25" fmla="val 13"/>
                <a:gd name="f26" fmla="val 14"/>
                <a:gd name="f27" fmla="val 15"/>
                <a:gd name="f28" fmla="val 16"/>
                <a:gd name="f29" fmla="val 17"/>
                <a:gd name="f30" fmla="val 18"/>
                <a:gd name="f31" fmla="val 24"/>
                <a:gd name="f32" fmla="val 35"/>
                <a:gd name="f33" fmla="val 36"/>
                <a:gd name="f34" fmla="val 37"/>
                <a:gd name="f35" fmla="val 27"/>
                <a:gd name="f36" fmla="val 38"/>
                <a:gd name="f37" fmla="val 39"/>
                <a:gd name="f38" fmla="val 7"/>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8 f50 1"/>
                <a:gd name="f59" fmla="*/ 9 f50 1"/>
                <a:gd name="f60" fmla="*/ 28 f49 1"/>
                <a:gd name="f61" fmla="*/ 11 f50 1"/>
                <a:gd name="f62" fmla="*/ 31 f49 1"/>
                <a:gd name="f63" fmla="*/ 14 f50 1"/>
                <a:gd name="f64" fmla="*/ 33 f49 1"/>
                <a:gd name="f65" fmla="*/ 17 f50 1"/>
                <a:gd name="f66" fmla="*/ 20 f50 1"/>
                <a:gd name="f67" fmla="*/ 22 f50 1"/>
                <a:gd name="f68" fmla="*/ 32 f49 1"/>
                <a:gd name="f69" fmla="*/ 24 f50 1"/>
                <a:gd name="f70" fmla="*/ 26 f50 1"/>
                <a:gd name="f71" fmla="*/ 30 f49 1"/>
                <a:gd name="f72" fmla="*/ 30 f50 1"/>
                <a:gd name="f73" fmla="*/ 35 f49 1"/>
                <a:gd name="f74" fmla="*/ 27 f50 1"/>
                <a:gd name="f75" fmla="*/ 37 f49 1"/>
                <a:gd name="f76" fmla="*/ 25 f50 1"/>
                <a:gd name="f77" fmla="*/ 39 f49 1"/>
                <a:gd name="f78" fmla="*/ 21 f50 1"/>
                <a:gd name="f79" fmla="*/ 40 f49 1"/>
                <a:gd name="f80" fmla="*/ 12 f50 1"/>
                <a:gd name="f81" fmla="*/ 38 f49 1"/>
                <a:gd name="f82" fmla="*/ 5 f50 1"/>
                <a:gd name="f83" fmla="*/ 3 f50 1"/>
                <a:gd name="f84" fmla="*/ 1 f50 1"/>
                <a:gd name="f85" fmla="*/ 26 f49 1"/>
                <a:gd name="f86" fmla="*/ 0 f50 1"/>
                <a:gd name="f87" fmla="*/ 20 f49 1"/>
                <a:gd name="f88" fmla="*/ 2 f50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23 f50 1"/>
                <a:gd name="f101" fmla="*/ 10 f49 1"/>
                <a:gd name="f102" fmla="*/ 8 f49 1"/>
                <a:gd name="f103" fmla="*/ 7 f49 1"/>
                <a:gd name="f104" fmla="*/ 13 f50 1"/>
                <a:gd name="f105" fmla="*/ 9 f49 1"/>
                <a:gd name="f106" fmla="*/ f51 1 f2"/>
                <a:gd name="f107" fmla="*/ f54 1 33"/>
                <a:gd name="f108" fmla="*/ f55 1 40"/>
                <a:gd name="f109" fmla="*/ f56 1 40"/>
                <a:gd name="f110" fmla="*/ f57 1 40"/>
                <a:gd name="f111" fmla="*/ f58 1 33"/>
                <a:gd name="f112" fmla="*/ f59 1 33"/>
                <a:gd name="f113" fmla="*/ f60 1 40"/>
                <a:gd name="f114" fmla="*/ f61 1 33"/>
                <a:gd name="f115" fmla="*/ f62 1 40"/>
                <a:gd name="f116" fmla="*/ f63 1 33"/>
                <a:gd name="f117" fmla="*/ f64 1 40"/>
                <a:gd name="f118" fmla="*/ f65 1 33"/>
                <a:gd name="f119" fmla="*/ f66 1 33"/>
                <a:gd name="f120" fmla="*/ f67 1 33"/>
                <a:gd name="f121" fmla="*/ f68 1 40"/>
                <a:gd name="f122" fmla="*/ f69 1 33"/>
                <a:gd name="f123" fmla="*/ f70 1 33"/>
                <a:gd name="f124" fmla="*/ f71 1 40"/>
                <a:gd name="f125" fmla="*/ f72 1 33"/>
                <a:gd name="f126" fmla="*/ f73 1 40"/>
                <a:gd name="f127" fmla="*/ f74 1 33"/>
                <a:gd name="f128" fmla="*/ f75 1 40"/>
                <a:gd name="f129" fmla="*/ f76 1 33"/>
                <a:gd name="f130" fmla="*/ f77 1 40"/>
                <a:gd name="f131" fmla="*/ f78 1 33"/>
                <a:gd name="f132" fmla="*/ f79 1 40"/>
                <a:gd name="f133" fmla="*/ f80 1 33"/>
                <a:gd name="f134" fmla="*/ f81 1 40"/>
                <a:gd name="f135" fmla="*/ f82 1 33"/>
                <a:gd name="f136" fmla="*/ f83 1 33"/>
                <a:gd name="f137" fmla="*/ f84 1 33"/>
                <a:gd name="f138" fmla="*/ f85 1 40"/>
                <a:gd name="f139" fmla="*/ f86 1 33"/>
                <a:gd name="f140" fmla="*/ f87 1 40"/>
                <a:gd name="f141" fmla="*/ f88 1 33"/>
                <a:gd name="f142" fmla="*/ f89 1 40"/>
                <a:gd name="f143" fmla="*/ f90 1 40"/>
                <a:gd name="f144" fmla="*/ f91 1 33"/>
                <a:gd name="f145" fmla="*/ f92 1 40"/>
                <a:gd name="f146" fmla="*/ f93 1 40"/>
                <a:gd name="f147" fmla="*/ f94 1 40"/>
                <a:gd name="f148" fmla="*/ f95 1 33"/>
                <a:gd name="f149" fmla="*/ f96 1 40"/>
                <a:gd name="f150" fmla="*/ f97 1 33"/>
                <a:gd name="f151" fmla="*/ f98 1 40"/>
                <a:gd name="f152" fmla="*/ f99 1 40"/>
                <a:gd name="f153" fmla="*/ f100 1 33"/>
                <a:gd name="f154" fmla="*/ f101 1 40"/>
                <a:gd name="f155" fmla="*/ f102 1 40"/>
                <a:gd name="f156" fmla="*/ f103 1 40"/>
                <a:gd name="f157" fmla="*/ f104 1 33"/>
                <a:gd name="f158" fmla="*/ f105 1 40"/>
                <a:gd name="f159" fmla="*/ 0 1 f52"/>
                <a:gd name="f160" fmla="*/ f6 1 f52"/>
                <a:gd name="f161" fmla="*/ 0 1 f53"/>
                <a:gd name="f162" fmla="*/ f7 1 f53"/>
                <a:gd name="f163" fmla="+- f106 0 f1"/>
                <a:gd name="f164" fmla="*/ f107 1 f52"/>
                <a:gd name="f165" fmla="*/ f108 1 f53"/>
                <a:gd name="f166" fmla="*/ f109 1 f53"/>
                <a:gd name="f167" fmla="*/ f110 1 f53"/>
                <a:gd name="f168" fmla="*/ f111 1 f52"/>
                <a:gd name="f169" fmla="*/ f112 1 f52"/>
                <a:gd name="f170" fmla="*/ f113 1 f53"/>
                <a:gd name="f171" fmla="*/ f114 1 f52"/>
                <a:gd name="f172" fmla="*/ f115 1 f53"/>
                <a:gd name="f173" fmla="*/ f116 1 f52"/>
                <a:gd name="f174" fmla="*/ f117 1 f53"/>
                <a:gd name="f175" fmla="*/ f118 1 f52"/>
                <a:gd name="f176" fmla="*/ f119 1 f52"/>
                <a:gd name="f177" fmla="*/ f120 1 f52"/>
                <a:gd name="f178" fmla="*/ f121 1 f53"/>
                <a:gd name="f179" fmla="*/ f122 1 f52"/>
                <a:gd name="f180" fmla="*/ f123 1 f52"/>
                <a:gd name="f181" fmla="*/ f124 1 f53"/>
                <a:gd name="f182" fmla="*/ f125 1 f52"/>
                <a:gd name="f183" fmla="*/ f126 1 f53"/>
                <a:gd name="f184" fmla="*/ f127 1 f52"/>
                <a:gd name="f185" fmla="*/ f128 1 f53"/>
                <a:gd name="f186" fmla="*/ f129 1 f52"/>
                <a:gd name="f187" fmla="*/ f130 1 f53"/>
                <a:gd name="f188" fmla="*/ f131 1 f52"/>
                <a:gd name="f189" fmla="*/ f132 1 f53"/>
                <a:gd name="f190" fmla="*/ f133 1 f52"/>
                <a:gd name="f191" fmla="*/ f134 1 f53"/>
                <a:gd name="f192" fmla="*/ f135 1 f52"/>
                <a:gd name="f193" fmla="*/ f136 1 f52"/>
                <a:gd name="f194" fmla="*/ f137 1 f52"/>
                <a:gd name="f195" fmla="*/ f138 1 f53"/>
                <a:gd name="f196" fmla="*/ f139 1 f52"/>
                <a:gd name="f197" fmla="*/ f140 1 f53"/>
                <a:gd name="f198" fmla="*/ f141 1 f52"/>
                <a:gd name="f199" fmla="*/ f142 1 f53"/>
                <a:gd name="f200" fmla="*/ f143 1 f53"/>
                <a:gd name="f201" fmla="*/ f144 1 f52"/>
                <a:gd name="f202" fmla="*/ f145 1 f53"/>
                <a:gd name="f203" fmla="*/ f146 1 f53"/>
                <a:gd name="f204" fmla="*/ f147 1 f53"/>
                <a:gd name="f205" fmla="*/ f148 1 f52"/>
                <a:gd name="f206" fmla="*/ f149 1 f53"/>
                <a:gd name="f207" fmla="*/ f150 1 f52"/>
                <a:gd name="f208" fmla="*/ f151 1 f53"/>
                <a:gd name="f209" fmla="*/ f152 1 f53"/>
                <a:gd name="f210" fmla="*/ f153 1 f52"/>
                <a:gd name="f211" fmla="*/ f154 1 f53"/>
                <a:gd name="f212" fmla="*/ f155 1 f53"/>
                <a:gd name="f213" fmla="*/ f156 1 f53"/>
                <a:gd name="f214" fmla="*/ f157 1 f52"/>
                <a:gd name="f215" fmla="*/ f158 1 f53"/>
                <a:gd name="f216" fmla="*/ f159 f47 1"/>
                <a:gd name="f217" fmla="*/ f160 f47 1"/>
                <a:gd name="f218" fmla="*/ f162 f48 1"/>
                <a:gd name="f219" fmla="*/ f161 f48 1"/>
                <a:gd name="f220" fmla="*/ f164 f47 1"/>
                <a:gd name="f221" fmla="*/ f165 f48 1"/>
                <a:gd name="f222" fmla="*/ f166 f48 1"/>
                <a:gd name="f223" fmla="*/ f167 f48 1"/>
                <a:gd name="f224" fmla="*/ f168 f47 1"/>
                <a:gd name="f225" fmla="*/ f169 f47 1"/>
                <a:gd name="f226" fmla="*/ f170 f48 1"/>
                <a:gd name="f227" fmla="*/ f171 f47 1"/>
                <a:gd name="f228" fmla="*/ f172 f48 1"/>
                <a:gd name="f229" fmla="*/ f173 f47 1"/>
                <a:gd name="f230" fmla="*/ f174 f48 1"/>
                <a:gd name="f231" fmla="*/ f175 f47 1"/>
                <a:gd name="f232" fmla="*/ f176 f47 1"/>
                <a:gd name="f233" fmla="*/ f177 f47 1"/>
                <a:gd name="f234" fmla="*/ f178 f48 1"/>
                <a:gd name="f235" fmla="*/ f179 f47 1"/>
                <a:gd name="f236" fmla="*/ f180 f47 1"/>
                <a:gd name="f237" fmla="*/ f181 f48 1"/>
                <a:gd name="f238" fmla="*/ f182 f47 1"/>
                <a:gd name="f239" fmla="*/ f183 f48 1"/>
                <a:gd name="f240" fmla="*/ f184 f47 1"/>
                <a:gd name="f241" fmla="*/ f185 f48 1"/>
                <a:gd name="f242" fmla="*/ f186 f47 1"/>
                <a:gd name="f243" fmla="*/ f187 f48 1"/>
                <a:gd name="f244" fmla="*/ f188 f47 1"/>
                <a:gd name="f245" fmla="*/ f189 f48 1"/>
                <a:gd name="f246" fmla="*/ f190 f47 1"/>
                <a:gd name="f247" fmla="*/ f191 f48 1"/>
                <a:gd name="f248" fmla="*/ f192 f47 1"/>
                <a:gd name="f249" fmla="*/ f193 f47 1"/>
                <a:gd name="f250" fmla="*/ f194 f47 1"/>
                <a:gd name="f251" fmla="*/ f195 f48 1"/>
                <a:gd name="f252" fmla="*/ f196 f47 1"/>
                <a:gd name="f253" fmla="*/ f197 f48 1"/>
                <a:gd name="f254" fmla="*/ f198 f47 1"/>
                <a:gd name="f255" fmla="*/ f199 f48 1"/>
                <a:gd name="f256" fmla="*/ f200 f48 1"/>
                <a:gd name="f257" fmla="*/ f201 f47 1"/>
                <a:gd name="f258" fmla="*/ f202 f48 1"/>
                <a:gd name="f259" fmla="*/ f203 f48 1"/>
                <a:gd name="f260" fmla="*/ f204 f48 1"/>
                <a:gd name="f261" fmla="*/ f205 f47 1"/>
                <a:gd name="f262" fmla="*/ f206 f48 1"/>
                <a:gd name="f263" fmla="*/ f207 f47 1"/>
                <a:gd name="f264" fmla="*/ f208 f48 1"/>
                <a:gd name="f265" fmla="*/ f209 f48 1"/>
                <a:gd name="f266" fmla="*/ f210 f47 1"/>
                <a:gd name="f267" fmla="*/ f211 f48 1"/>
                <a:gd name="f268" fmla="*/ f212 f48 1"/>
                <a:gd name="f269" fmla="*/ f213 f48 1"/>
                <a:gd name="f270" fmla="*/ f214 f47 1"/>
                <a:gd name="f271" fmla="*/ f215 f48 1"/>
              </a:gdLst>
              <a:ahLst/>
              <a:cxnLst>
                <a:cxn ang="3cd4">
                  <a:pos x="hc" y="t"/>
                </a:cxn>
                <a:cxn ang="0">
                  <a:pos x="r" y="vc"/>
                </a:cxn>
                <a:cxn ang="cd4">
                  <a:pos x="hc" y="b"/>
                </a:cxn>
                <a:cxn ang="cd2">
                  <a:pos x="l" y="vc"/>
                </a:cxn>
                <a:cxn ang="f163">
                  <a:pos x="f220" y="f221"/>
                </a:cxn>
                <a:cxn ang="f163">
                  <a:pos x="f220" y="f222"/>
                </a:cxn>
                <a:cxn ang="f163">
                  <a:pos x="f220" y="f223"/>
                </a:cxn>
                <a:cxn ang="f163">
                  <a:pos x="f224" y="f223"/>
                </a:cxn>
                <a:cxn ang="f163">
                  <a:pos x="f225" y="f226"/>
                </a:cxn>
                <a:cxn ang="f163">
                  <a:pos x="f227" y="f228"/>
                </a:cxn>
                <a:cxn ang="f163">
                  <a:pos x="f229" y="f230"/>
                </a:cxn>
                <a:cxn ang="f163">
                  <a:pos x="f231" y="f230"/>
                </a:cxn>
                <a:cxn ang="f163">
                  <a:pos x="f232" y="f230"/>
                </a:cxn>
                <a:cxn ang="f163">
                  <a:pos x="f233" y="f234"/>
                </a:cxn>
                <a:cxn ang="f163">
                  <a:pos x="f235" y="f234"/>
                </a:cxn>
                <a:cxn ang="f163">
                  <a:pos x="f236" y="f237"/>
                </a:cxn>
                <a:cxn ang="f163">
                  <a:pos x="f238" y="f239"/>
                </a:cxn>
                <a:cxn ang="f163">
                  <a:pos x="f240" y="f241"/>
                </a:cxn>
                <a:cxn ang="f163">
                  <a:pos x="f242" y="f243"/>
                </a:cxn>
                <a:cxn ang="f163">
                  <a:pos x="f244" y="f245"/>
                </a:cxn>
                <a:cxn ang="f163">
                  <a:pos x="f231" y="f245"/>
                </a:cxn>
                <a:cxn ang="f163">
                  <a:pos x="f246" y="f243"/>
                </a:cxn>
                <a:cxn ang="f163">
                  <a:pos x="f224" y="f247"/>
                </a:cxn>
                <a:cxn ang="f163">
                  <a:pos x="f248" y="f239"/>
                </a:cxn>
                <a:cxn ang="f163">
                  <a:pos x="f249" y="f228"/>
                </a:cxn>
                <a:cxn ang="f163">
                  <a:pos x="f250" y="f251"/>
                </a:cxn>
                <a:cxn ang="f163">
                  <a:pos x="f252" y="f253"/>
                </a:cxn>
                <a:cxn ang="f163">
                  <a:pos x="f254" y="f255"/>
                </a:cxn>
                <a:cxn ang="f163">
                  <a:pos x="f248" y="f256"/>
                </a:cxn>
                <a:cxn ang="f163">
                  <a:pos x="f257" y="f258"/>
                </a:cxn>
                <a:cxn ang="f163">
                  <a:pos x="f231" y="f259"/>
                </a:cxn>
                <a:cxn ang="f163">
                  <a:pos x="f235" y="f260"/>
                </a:cxn>
                <a:cxn ang="f163">
                  <a:pos x="f261" y="f262"/>
                </a:cxn>
                <a:cxn ang="f163">
                  <a:pos x="f263" y="f255"/>
                </a:cxn>
                <a:cxn ang="f163">
                  <a:pos x="f220" y="f221"/>
                </a:cxn>
                <a:cxn ang="f163">
                  <a:pos x="f236" y="f264"/>
                </a:cxn>
                <a:cxn ang="f163">
                  <a:pos x="f242" y="f265"/>
                </a:cxn>
                <a:cxn ang="f163">
                  <a:pos x="f266" y="f267"/>
                </a:cxn>
                <a:cxn ang="f163">
                  <a:pos x="f244" y="f268"/>
                </a:cxn>
                <a:cxn ang="f163">
                  <a:pos x="f231" y="f269"/>
                </a:cxn>
                <a:cxn ang="f163">
                  <a:pos x="f270" y="f268"/>
                </a:cxn>
                <a:cxn ang="f163">
                  <a:pos x="f227" y="f271"/>
                </a:cxn>
                <a:cxn ang="f163">
                  <a:pos x="f225" y="f255"/>
                </a:cxn>
                <a:cxn ang="f163">
                  <a:pos x="f224" y="f264"/>
                </a:cxn>
                <a:cxn ang="f163">
                  <a:pos x="f236" y="f264"/>
                </a:cxn>
              </a:cxnLst>
              <a:rect l="f216" t="f219" r="f217" b="f218"/>
              <a:pathLst>
                <a:path w="33" h="40">
                  <a:moveTo>
                    <a:pt x="f6" y="f8"/>
                  </a:moveTo>
                  <a:cubicBezTo>
                    <a:pt x="f6" y="f9"/>
                    <a:pt x="f6" y="f10"/>
                    <a:pt x="f6" y="f10"/>
                  </a:cubicBezTo>
                  <a:cubicBezTo>
                    <a:pt x="f6" y="f11"/>
                    <a:pt x="f6" y="f11"/>
                    <a:pt x="f6" y="f12"/>
                  </a:cubicBezTo>
                  <a:cubicBezTo>
                    <a:pt x="f13" y="f12"/>
                    <a:pt x="f13" y="f12"/>
                    <a:pt x="f13" y="f12"/>
                  </a:cubicBezTo>
                  <a:cubicBezTo>
                    <a:pt x="f13" y="f14"/>
                    <a:pt x="f13" y="f15"/>
                    <a:pt x="f16" y="f17"/>
                  </a:cubicBezTo>
                  <a:cubicBezTo>
                    <a:pt x="f18" y="f19"/>
                    <a:pt x="f18" y="f20"/>
                    <a:pt x="f21" y="f22"/>
                  </a:cubicBezTo>
                  <a:cubicBezTo>
                    <a:pt x="f23" y="f24"/>
                    <a:pt x="f25" y="f24"/>
                    <a:pt x="f26" y="f6"/>
                  </a:cubicBezTo>
                  <a:cubicBezTo>
                    <a:pt x="f27" y="f6"/>
                    <a:pt x="f28" y="f6"/>
                    <a:pt x="f29" y="f6"/>
                  </a:cubicBezTo>
                  <a:cubicBezTo>
                    <a:pt x="f30" y="f6"/>
                    <a:pt x="f8" y="f6"/>
                    <a:pt x="f9" y="f6"/>
                  </a:cubicBezTo>
                  <a:cubicBezTo>
                    <a:pt x="f9" y="f6"/>
                    <a:pt x="f10" y="f6"/>
                    <a:pt x="f11" y="f24"/>
                  </a:cubicBezTo>
                  <a:cubicBezTo>
                    <a:pt x="f12" y="f24"/>
                    <a:pt x="f12" y="f24"/>
                    <a:pt x="f31" y="f24"/>
                  </a:cubicBezTo>
                  <a:cubicBezTo>
                    <a:pt x="f31" y="f22"/>
                    <a:pt x="f14" y="f22"/>
                    <a:pt x="f15" y="f20"/>
                  </a:cubicBezTo>
                  <a:cubicBezTo>
                    <a:pt x="f20" y="f32"/>
                    <a:pt x="f20" y="f32"/>
                    <a:pt x="f20" y="f32"/>
                  </a:cubicBezTo>
                  <a:cubicBezTo>
                    <a:pt x="f19" y="f33"/>
                    <a:pt x="f17" y="f34"/>
                    <a:pt x="f35" y="f34"/>
                  </a:cubicBezTo>
                  <a:cubicBezTo>
                    <a:pt x="f35" y="f36"/>
                    <a:pt x="f15" y="f36"/>
                    <a:pt x="f14" y="f37"/>
                  </a:cubicBezTo>
                  <a:cubicBezTo>
                    <a:pt x="f31" y="f37"/>
                    <a:pt x="f11" y="f7"/>
                    <a:pt x="f10" y="f7"/>
                  </a:cubicBezTo>
                  <a:cubicBezTo>
                    <a:pt x="f9" y="f7"/>
                    <a:pt x="f30" y="f7"/>
                    <a:pt x="f29" y="f7"/>
                  </a:cubicBezTo>
                  <a:cubicBezTo>
                    <a:pt x="f27" y="f7"/>
                    <a:pt x="f26" y="f7"/>
                    <a:pt x="f23" y="f37"/>
                  </a:cubicBezTo>
                  <a:cubicBezTo>
                    <a:pt x="f21" y="f37"/>
                    <a:pt x="f18" y="f36"/>
                    <a:pt x="f13" y="f36"/>
                  </a:cubicBezTo>
                  <a:cubicBezTo>
                    <a:pt x="f38" y="f34"/>
                    <a:pt x="f39" y="f33"/>
                    <a:pt x="f40" y="f32"/>
                  </a:cubicBezTo>
                  <a:cubicBezTo>
                    <a:pt x="f41" y="f42"/>
                    <a:pt x="f41" y="f6"/>
                    <a:pt x="f43" y="f22"/>
                  </a:cubicBezTo>
                  <a:cubicBezTo>
                    <a:pt x="f44" y="f20"/>
                    <a:pt x="f45" y="f17"/>
                    <a:pt x="f45" y="f15"/>
                  </a:cubicBezTo>
                  <a:cubicBezTo>
                    <a:pt x="f45" y="f31"/>
                    <a:pt x="f5" y="f11"/>
                    <a:pt x="f5" y="f9"/>
                  </a:cubicBezTo>
                  <a:cubicBezTo>
                    <a:pt x="f5" y="f29"/>
                    <a:pt x="f45" y="f26"/>
                    <a:pt x="f44" y="f23"/>
                  </a:cubicBezTo>
                  <a:cubicBezTo>
                    <a:pt x="f44" y="f16"/>
                    <a:pt x="f41" y="f38"/>
                    <a:pt x="f40" y="f40"/>
                  </a:cubicBezTo>
                  <a:cubicBezTo>
                    <a:pt x="f39" y="f41"/>
                    <a:pt x="f13" y="f44"/>
                    <a:pt x="f18" y="f45"/>
                  </a:cubicBezTo>
                  <a:cubicBezTo>
                    <a:pt x="f23" y="f45"/>
                    <a:pt x="f27" y="f5"/>
                    <a:pt x="f29" y="f5"/>
                  </a:cubicBezTo>
                  <a:cubicBezTo>
                    <a:pt x="f9" y="f5"/>
                    <a:pt x="f11" y="f45"/>
                    <a:pt x="f31" y="f44"/>
                  </a:cubicBezTo>
                  <a:cubicBezTo>
                    <a:pt x="f15" y="f43"/>
                    <a:pt x="f17" y="f41"/>
                    <a:pt x="f19" y="f39"/>
                  </a:cubicBezTo>
                  <a:cubicBezTo>
                    <a:pt x="f22" y="f13"/>
                    <a:pt x="f24" y="f18"/>
                    <a:pt x="f24" y="f23"/>
                  </a:cubicBezTo>
                  <a:cubicBezTo>
                    <a:pt x="f6" y="f26"/>
                    <a:pt x="f6" y="f29"/>
                    <a:pt x="f6" y="f8"/>
                  </a:cubicBezTo>
                  <a:close/>
                  <a:moveTo>
                    <a:pt x="f15" y="f29"/>
                  </a:moveTo>
                  <a:cubicBezTo>
                    <a:pt x="f15" y="f27"/>
                    <a:pt x="f14" y="f26"/>
                    <a:pt x="f14" y="f25"/>
                  </a:cubicBezTo>
                  <a:cubicBezTo>
                    <a:pt x="f14" y="f23"/>
                    <a:pt x="f31" y="f21"/>
                    <a:pt x="f12" y="f18"/>
                  </a:cubicBezTo>
                  <a:cubicBezTo>
                    <a:pt x="f12" y="f16"/>
                    <a:pt x="f11" y="f13"/>
                    <a:pt x="f10" y="f13"/>
                  </a:cubicBezTo>
                  <a:cubicBezTo>
                    <a:pt x="f9" y="f38"/>
                    <a:pt x="f30" y="f38"/>
                    <a:pt x="f29" y="f38"/>
                  </a:cubicBezTo>
                  <a:cubicBezTo>
                    <a:pt x="f27" y="f38"/>
                    <a:pt x="f26" y="f38"/>
                    <a:pt x="f25" y="f13"/>
                  </a:cubicBezTo>
                  <a:cubicBezTo>
                    <a:pt x="f23" y="f13"/>
                    <a:pt x="f21" y="f16"/>
                    <a:pt x="f21" y="f16"/>
                  </a:cubicBezTo>
                  <a:cubicBezTo>
                    <a:pt x="f18" y="f18"/>
                    <a:pt x="f16" y="f21"/>
                    <a:pt x="f16" y="f23"/>
                  </a:cubicBezTo>
                  <a:cubicBezTo>
                    <a:pt x="f13" y="f26"/>
                    <a:pt x="f13" y="f27"/>
                    <a:pt x="f13"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8" name="Freeform 60">
              <a:extLst>
                <a:ext uri="{FF2B5EF4-FFF2-40B4-BE49-F238E27FC236}">
                  <a16:creationId xmlns:a16="http://schemas.microsoft.com/office/drawing/2014/main" id="{D1F055ED-5FB6-882D-3943-7BCDDC4E54A5}"/>
                </a:ext>
              </a:extLst>
            </p:cNvPr>
            <p:cNvSpPr/>
            <p:nvPr/>
          </p:nvSpPr>
          <p:spPr>
            <a:xfrm>
              <a:off x="1726533" y="6297417"/>
              <a:ext cx="121999" cy="97648"/>
            </a:xfrm>
            <a:custGeom>
              <a:avLst/>
              <a:gdLst>
                <a:gd name="f0" fmla="val 10800000"/>
                <a:gd name="f1" fmla="val 5400000"/>
                <a:gd name="f2" fmla="val 180"/>
                <a:gd name="f3" fmla="val w"/>
                <a:gd name="f4" fmla="val h"/>
                <a:gd name="f5" fmla="val 0"/>
                <a:gd name="f6" fmla="val 70"/>
                <a:gd name="f7" fmla="val 56"/>
                <a:gd name="f8" fmla="val 46"/>
                <a:gd name="f9" fmla="val 35"/>
                <a:gd name="f10" fmla="val 16"/>
                <a:gd name="f11" fmla="val 25"/>
                <a:gd name="f12" fmla="val 15"/>
                <a:gd name="f13" fmla="val 10"/>
                <a:gd name="f14" fmla="val 21"/>
                <a:gd name="f15" fmla="val 38"/>
                <a:gd name="f16" fmla="val 31"/>
                <a:gd name="f17" fmla="val 40"/>
                <a:gd name="f18" fmla="val 50"/>
                <a:gd name="f19" fmla="val 60"/>
                <a:gd name="f20" fmla="+- 0 0 -90"/>
                <a:gd name="f21" fmla="*/ f3 1 70"/>
                <a:gd name="f22" fmla="*/ f4 1 56"/>
                <a:gd name="f23" fmla="+- f7 0 f5"/>
                <a:gd name="f24" fmla="+- f6 0 f5"/>
                <a:gd name="f25" fmla="*/ f20 f0 1"/>
                <a:gd name="f26" fmla="*/ f24 1 70"/>
                <a:gd name="f27" fmla="*/ f23 1 56"/>
                <a:gd name="f28" fmla="*/ 56 f24 1"/>
                <a:gd name="f29" fmla="*/ 56 f23 1"/>
                <a:gd name="f30" fmla="*/ 46 f24 1"/>
                <a:gd name="f31" fmla="*/ 35 f24 1"/>
                <a:gd name="f32" fmla="*/ 16 f23 1"/>
                <a:gd name="f33" fmla="*/ 25 f24 1"/>
                <a:gd name="f34" fmla="*/ 15 f24 1"/>
                <a:gd name="f35" fmla="*/ 0 f24 1"/>
                <a:gd name="f36" fmla="*/ 0 f23 1"/>
                <a:gd name="f37" fmla="*/ 10 f24 1"/>
                <a:gd name="f38" fmla="*/ 21 f24 1"/>
                <a:gd name="f39" fmla="*/ 38 f23 1"/>
                <a:gd name="f40" fmla="*/ 31 f24 1"/>
                <a:gd name="f41" fmla="*/ 40 f24 1"/>
                <a:gd name="f42" fmla="*/ 50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7" y="f7"/>
                  </a:moveTo>
                  <a:lnTo>
                    <a:pt x="f8" y="f7"/>
                  </a:lnTo>
                  <a:lnTo>
                    <a:pt x="f9" y="f10"/>
                  </a:lnTo>
                  <a:lnTo>
                    <a:pt x="f11" y="f7"/>
                  </a:lnTo>
                  <a:lnTo>
                    <a:pt x="f12" y="f7"/>
                  </a:lnTo>
                  <a:lnTo>
                    <a:pt x="f5" y="f5"/>
                  </a:lnTo>
                  <a:lnTo>
                    <a:pt x="f13" y="f5"/>
                  </a:lnTo>
                  <a:lnTo>
                    <a:pt x="f14" y="f15"/>
                  </a:lnTo>
                  <a:lnTo>
                    <a:pt x="f16" y="f5"/>
                  </a:lnTo>
                  <a:lnTo>
                    <a:pt x="f17" y="f5"/>
                  </a:lnTo>
                  <a:lnTo>
                    <a:pt x="f18" y="f15"/>
                  </a:lnTo>
                  <a:lnTo>
                    <a:pt x="f19" y="f5"/>
                  </a:lnTo>
                  <a:lnTo>
                    <a:pt x="f6" y="f5"/>
                  </a:lnTo>
                  <a:lnTo>
                    <a:pt x="f7"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9" name="Freeform 61">
              <a:extLst>
                <a:ext uri="{FF2B5EF4-FFF2-40B4-BE49-F238E27FC236}">
                  <a16:creationId xmlns:a16="http://schemas.microsoft.com/office/drawing/2014/main" id="{DF6BABAC-5225-8B6C-154F-ABBF359A44CC}"/>
                </a:ext>
              </a:extLst>
            </p:cNvPr>
            <p:cNvSpPr/>
            <p:nvPr/>
          </p:nvSpPr>
          <p:spPr>
            <a:xfrm>
              <a:off x="1858993" y="6293924"/>
              <a:ext cx="87142" cy="102879"/>
            </a:xfrm>
            <a:custGeom>
              <a:avLst/>
              <a:gdLst>
                <a:gd name="f0" fmla="val 10800000"/>
                <a:gd name="f1" fmla="val 5400000"/>
                <a:gd name="f2" fmla="val 180"/>
                <a:gd name="f3" fmla="val w"/>
                <a:gd name="f4" fmla="val h"/>
                <a:gd name="f5" fmla="val 0"/>
                <a:gd name="f6" fmla="val 34"/>
                <a:gd name="f7" fmla="val 40"/>
                <a:gd name="f8" fmla="val 20"/>
                <a:gd name="f9" fmla="val 23"/>
                <a:gd name="f10" fmla="val 26"/>
                <a:gd name="f11" fmla="val 33"/>
                <a:gd name="f12" fmla="val 28"/>
                <a:gd name="f13" fmla="val 32"/>
                <a:gd name="f14" fmla="val 31"/>
                <a:gd name="f15" fmla="val 29"/>
                <a:gd name="f16" fmla="val 35"/>
                <a:gd name="f17" fmla="val 37"/>
                <a:gd name="f18" fmla="val 38"/>
                <a:gd name="f19" fmla="val 24"/>
                <a:gd name="f20" fmla="val 39"/>
                <a:gd name="f21" fmla="val 22"/>
                <a:gd name="f22" fmla="val 17"/>
                <a:gd name="f23" fmla="val 15"/>
                <a:gd name="f24" fmla="val 12"/>
                <a:gd name="f25" fmla="val 10"/>
                <a:gd name="f26" fmla="val 8"/>
                <a:gd name="f27" fmla="val 6"/>
                <a:gd name="f28" fmla="val 36"/>
                <a:gd name="f29" fmla="val 5"/>
                <a:gd name="f30" fmla="val 3"/>
                <a:gd name="f31" fmla="val 2"/>
                <a:gd name="f32" fmla="val 1"/>
                <a:gd name="f33" fmla="val 14"/>
                <a:gd name="f34" fmla="val 9"/>
                <a:gd name="f35" fmla="val 4"/>
                <a:gd name="f36" fmla="val 7"/>
                <a:gd name="f37" fmla="val 11"/>
                <a:gd name="f38" fmla="val 13"/>
                <a:gd name="f39" fmla="val 27"/>
                <a:gd name="f40" fmla="val 18"/>
                <a:gd name="f41" fmla="val 16"/>
                <a:gd name="f42" fmla="val 25"/>
                <a:gd name="f43" fmla="val 21"/>
                <a:gd name="f44" fmla="val 30"/>
                <a:gd name="f45" fmla="val 19"/>
                <a:gd name="f46" fmla="+- 0 0 -90"/>
                <a:gd name="f47" fmla="*/ f3 1 34"/>
                <a:gd name="f48" fmla="*/ f4 1 40"/>
                <a:gd name="f49" fmla="+- f7 0 f5"/>
                <a:gd name="f50" fmla="+- f6 0 f5"/>
                <a:gd name="f51" fmla="*/ f46 f0 1"/>
                <a:gd name="f52" fmla="*/ f50 1 34"/>
                <a:gd name="f53" fmla="*/ f49 1 40"/>
                <a:gd name="f54" fmla="*/ 34 f50 1"/>
                <a:gd name="f55" fmla="*/ 20 f49 1"/>
                <a:gd name="f56" fmla="*/ 33 f50 1"/>
                <a:gd name="f57" fmla="*/ 28 f49 1"/>
                <a:gd name="f58" fmla="*/ 29 f50 1"/>
                <a:gd name="f59" fmla="*/ 35 f49 1"/>
                <a:gd name="f60" fmla="*/ 24 f50 1"/>
                <a:gd name="f61" fmla="*/ 39 f49 1"/>
                <a:gd name="f62" fmla="*/ 17 f50 1"/>
                <a:gd name="f63" fmla="*/ 40 f49 1"/>
                <a:gd name="f64" fmla="*/ 10 f50 1"/>
                <a:gd name="f65" fmla="*/ 5 f50 1"/>
                <a:gd name="f66" fmla="*/ 1 f50 1"/>
                <a:gd name="f67" fmla="*/ 0 f50 1"/>
                <a:gd name="f68" fmla="*/ 12 f49 1"/>
                <a:gd name="f69" fmla="*/ 5 f49 1"/>
                <a:gd name="f70" fmla="*/ 11 f50 1"/>
                <a:gd name="f71" fmla="*/ 1 f49 1"/>
                <a:gd name="f72" fmla="*/ 0 f49 1"/>
                <a:gd name="f73" fmla="*/ 27 f50 1"/>
                <a:gd name="f74" fmla="*/ 26 f50 1"/>
                <a:gd name="f75" fmla="*/ 15 f49 1"/>
                <a:gd name="f76" fmla="*/ 11 f49 1"/>
                <a:gd name="f77" fmla="*/ 21 f50 1"/>
                <a:gd name="f78" fmla="*/ 8 f49 1"/>
                <a:gd name="f79" fmla="*/ 7 f49 1"/>
                <a:gd name="f80" fmla="*/ 13 f50 1"/>
                <a:gd name="f81" fmla="*/ 8 f50 1"/>
                <a:gd name="f82" fmla="*/ 26 f49 1"/>
                <a:gd name="f83" fmla="*/ 30 f49 1"/>
                <a:gd name="f84" fmla="*/ 32 f49 1"/>
                <a:gd name="f85" fmla="*/ 33 f49 1"/>
                <a:gd name="f86" fmla="*/ 29 f49 1"/>
                <a:gd name="f87" fmla="*/ 25 f49 1"/>
                <a:gd name="f88" fmla="*/ f51 1 f2"/>
                <a:gd name="f89" fmla="*/ f54 1 34"/>
                <a:gd name="f90" fmla="*/ f55 1 40"/>
                <a:gd name="f91" fmla="*/ f56 1 34"/>
                <a:gd name="f92" fmla="*/ f57 1 40"/>
                <a:gd name="f93" fmla="*/ f58 1 34"/>
                <a:gd name="f94" fmla="*/ f59 1 40"/>
                <a:gd name="f95" fmla="*/ f60 1 34"/>
                <a:gd name="f96" fmla="*/ f61 1 40"/>
                <a:gd name="f97" fmla="*/ f62 1 34"/>
                <a:gd name="f98" fmla="*/ f63 1 40"/>
                <a:gd name="f99" fmla="*/ f64 1 34"/>
                <a:gd name="f100" fmla="*/ f65 1 34"/>
                <a:gd name="f101" fmla="*/ f66 1 34"/>
                <a:gd name="f102" fmla="*/ f67 1 34"/>
                <a:gd name="f103" fmla="*/ f68 1 40"/>
                <a:gd name="f104" fmla="*/ f69 1 40"/>
                <a:gd name="f105" fmla="*/ f70 1 34"/>
                <a:gd name="f106" fmla="*/ f71 1 40"/>
                <a:gd name="f107" fmla="*/ f72 1 40"/>
                <a:gd name="f108" fmla="*/ f73 1 34"/>
                <a:gd name="f109" fmla="*/ f74 1 34"/>
                <a:gd name="f110" fmla="*/ f75 1 40"/>
                <a:gd name="f111" fmla="*/ f76 1 40"/>
                <a:gd name="f112" fmla="*/ f77 1 34"/>
                <a:gd name="f113" fmla="*/ f78 1 40"/>
                <a:gd name="f114" fmla="*/ f79 1 40"/>
                <a:gd name="f115" fmla="*/ f80 1 34"/>
                <a:gd name="f116" fmla="*/ f81 1 34"/>
                <a:gd name="f117" fmla="*/ f82 1 40"/>
                <a:gd name="f118" fmla="*/ f83 1 40"/>
                <a:gd name="f119" fmla="*/ f84 1 40"/>
                <a:gd name="f120" fmla="*/ f85 1 40"/>
                <a:gd name="f121" fmla="*/ f86 1 40"/>
                <a:gd name="f122" fmla="*/ f87 1 40"/>
                <a:gd name="f123" fmla="*/ 0 1 f52"/>
                <a:gd name="f124" fmla="*/ f6 1 f52"/>
                <a:gd name="f125" fmla="*/ 0 1 f53"/>
                <a:gd name="f126" fmla="*/ f7 1 f53"/>
                <a:gd name="f127" fmla="+- f88 0 f1"/>
                <a:gd name="f128" fmla="*/ f89 1 f52"/>
                <a:gd name="f129" fmla="*/ f90 1 f53"/>
                <a:gd name="f130" fmla="*/ f91 1 f52"/>
                <a:gd name="f131" fmla="*/ f92 1 f53"/>
                <a:gd name="f132" fmla="*/ f93 1 f52"/>
                <a:gd name="f133" fmla="*/ f94 1 f53"/>
                <a:gd name="f134" fmla="*/ f95 1 f52"/>
                <a:gd name="f135" fmla="*/ f96 1 f53"/>
                <a:gd name="f136" fmla="*/ f97 1 f52"/>
                <a:gd name="f137" fmla="*/ f98 1 f53"/>
                <a:gd name="f138" fmla="*/ f99 1 f52"/>
                <a:gd name="f139" fmla="*/ f100 1 f52"/>
                <a:gd name="f140" fmla="*/ f101 1 f52"/>
                <a:gd name="f141" fmla="*/ f102 1 f52"/>
                <a:gd name="f142" fmla="*/ f103 1 f53"/>
                <a:gd name="f143" fmla="*/ f104 1 f53"/>
                <a:gd name="f144" fmla="*/ f105 1 f52"/>
                <a:gd name="f145" fmla="*/ f106 1 f53"/>
                <a:gd name="f146" fmla="*/ f107 1 f53"/>
                <a:gd name="f147" fmla="*/ f108 1 f52"/>
                <a:gd name="f148" fmla="*/ f109 1 f52"/>
                <a:gd name="f149" fmla="*/ f110 1 f53"/>
                <a:gd name="f150" fmla="*/ f111 1 f53"/>
                <a:gd name="f151" fmla="*/ f112 1 f52"/>
                <a:gd name="f152" fmla="*/ f113 1 f53"/>
                <a:gd name="f153" fmla="*/ f114 1 f53"/>
                <a:gd name="f154" fmla="*/ f115 1 f52"/>
                <a:gd name="f155" fmla="*/ f116 1 f52"/>
                <a:gd name="f156" fmla="*/ f117 1 f53"/>
                <a:gd name="f157" fmla="*/ f118 1 f53"/>
                <a:gd name="f158" fmla="*/ f119 1 f53"/>
                <a:gd name="f159" fmla="*/ f120 1 f53"/>
                <a:gd name="f160" fmla="*/ f121 1 f53"/>
                <a:gd name="f161" fmla="*/ f122 1 f53"/>
                <a:gd name="f162" fmla="*/ f123 f47 1"/>
                <a:gd name="f163" fmla="*/ f124 f47 1"/>
                <a:gd name="f164" fmla="*/ f126 f48 1"/>
                <a:gd name="f165" fmla="*/ f125 f48 1"/>
                <a:gd name="f166" fmla="*/ f128 f47 1"/>
                <a:gd name="f167" fmla="*/ f129 f48 1"/>
                <a:gd name="f168" fmla="*/ f130 f47 1"/>
                <a:gd name="f169" fmla="*/ f131 f48 1"/>
                <a:gd name="f170" fmla="*/ f132 f47 1"/>
                <a:gd name="f171" fmla="*/ f133 f48 1"/>
                <a:gd name="f172" fmla="*/ f134 f47 1"/>
                <a:gd name="f173" fmla="*/ f135 f48 1"/>
                <a:gd name="f174" fmla="*/ f136 f47 1"/>
                <a:gd name="f175" fmla="*/ f137 f48 1"/>
                <a:gd name="f176" fmla="*/ f138 f47 1"/>
                <a:gd name="f177" fmla="*/ f139 f47 1"/>
                <a:gd name="f178" fmla="*/ f140 f47 1"/>
                <a:gd name="f179" fmla="*/ f141 f47 1"/>
                <a:gd name="f180" fmla="*/ f142 f48 1"/>
                <a:gd name="f181" fmla="*/ f143 f48 1"/>
                <a:gd name="f182" fmla="*/ f144 f47 1"/>
                <a:gd name="f183" fmla="*/ f145 f48 1"/>
                <a:gd name="f184" fmla="*/ f146 f48 1"/>
                <a:gd name="f185" fmla="*/ f147 f47 1"/>
                <a:gd name="f186" fmla="*/ f148 f47 1"/>
                <a:gd name="f187" fmla="*/ f149 f48 1"/>
                <a:gd name="f188" fmla="*/ f150 f48 1"/>
                <a:gd name="f189" fmla="*/ f151 f47 1"/>
                <a:gd name="f190" fmla="*/ f152 f48 1"/>
                <a:gd name="f191" fmla="*/ f153 f48 1"/>
                <a:gd name="f192" fmla="*/ f154 f47 1"/>
                <a:gd name="f193" fmla="*/ f155 f47 1"/>
                <a:gd name="f194" fmla="*/ f156 f48 1"/>
                <a:gd name="f195" fmla="*/ f157 f48 1"/>
                <a:gd name="f196" fmla="*/ f158 f48 1"/>
                <a:gd name="f197" fmla="*/ f159 f48 1"/>
                <a:gd name="f198" fmla="*/ f160 f48 1"/>
                <a:gd name="f199" fmla="*/ f161 f48 1"/>
              </a:gdLst>
              <a:ahLst/>
              <a:cxnLst>
                <a:cxn ang="3cd4">
                  <a:pos x="hc" y="t"/>
                </a:cxn>
                <a:cxn ang="0">
                  <a:pos x="r" y="vc"/>
                </a:cxn>
                <a:cxn ang="cd4">
                  <a:pos x="hc" y="b"/>
                </a:cxn>
                <a:cxn ang="cd2">
                  <a:pos x="l" y="vc"/>
                </a:cxn>
                <a:cxn ang="f127">
                  <a:pos x="f166" y="f167"/>
                </a:cxn>
                <a:cxn ang="f127">
                  <a:pos x="f168" y="f169"/>
                </a:cxn>
                <a:cxn ang="f127">
                  <a:pos x="f170" y="f171"/>
                </a:cxn>
                <a:cxn ang="f127">
                  <a:pos x="f172" y="f173"/>
                </a:cxn>
                <a:cxn ang="f127">
                  <a:pos x="f174" y="f175"/>
                </a:cxn>
                <a:cxn ang="f127">
                  <a:pos x="f176" y="f173"/>
                </a:cxn>
                <a:cxn ang="f127">
                  <a:pos x="f177" y="f171"/>
                </a:cxn>
                <a:cxn ang="f127">
                  <a:pos x="f178" y="f169"/>
                </a:cxn>
                <a:cxn ang="f127">
                  <a:pos x="f179" y="f167"/>
                </a:cxn>
                <a:cxn ang="f127">
                  <a:pos x="f178" y="f180"/>
                </a:cxn>
                <a:cxn ang="f127">
                  <a:pos x="f177" y="f181"/>
                </a:cxn>
                <a:cxn ang="f127">
                  <a:pos x="f182" y="f183"/>
                </a:cxn>
                <a:cxn ang="f127">
                  <a:pos x="f174" y="f184"/>
                </a:cxn>
                <a:cxn ang="f127">
                  <a:pos x="f172" y="f183"/>
                </a:cxn>
                <a:cxn ang="f127">
                  <a:pos x="f170" y="f181"/>
                </a:cxn>
                <a:cxn ang="f127">
                  <a:pos x="f168" y="f180"/>
                </a:cxn>
                <a:cxn ang="f127">
                  <a:pos x="f166" y="f167"/>
                </a:cxn>
                <a:cxn ang="f127">
                  <a:pos x="f185" y="f167"/>
                </a:cxn>
                <a:cxn ang="f127">
                  <a:pos x="f186" y="f187"/>
                </a:cxn>
                <a:cxn ang="f127">
                  <a:pos x="f172" y="f188"/>
                </a:cxn>
                <a:cxn ang="f127">
                  <a:pos x="f189" y="f190"/>
                </a:cxn>
                <a:cxn ang="f127">
                  <a:pos x="f174" y="f191"/>
                </a:cxn>
                <a:cxn ang="f127">
                  <a:pos x="f192" y="f190"/>
                </a:cxn>
                <a:cxn ang="f127">
                  <a:pos x="f176" y="f188"/>
                </a:cxn>
                <a:cxn ang="f127">
                  <a:pos x="f193" y="f187"/>
                </a:cxn>
                <a:cxn ang="f127">
                  <a:pos x="f193" y="f167"/>
                </a:cxn>
                <a:cxn ang="f127">
                  <a:pos x="f193" y="f194"/>
                </a:cxn>
                <a:cxn ang="f127">
                  <a:pos x="f176" y="f195"/>
                </a:cxn>
                <a:cxn ang="f127">
                  <a:pos x="f192" y="f196"/>
                </a:cxn>
                <a:cxn ang="f127">
                  <a:pos x="f174" y="f197"/>
                </a:cxn>
                <a:cxn ang="f127">
                  <a:pos x="f189" y="f196"/>
                </a:cxn>
                <a:cxn ang="f127">
                  <a:pos x="f172" y="f198"/>
                </a:cxn>
                <a:cxn ang="f127">
                  <a:pos x="f186" y="f199"/>
                </a:cxn>
                <a:cxn ang="f127">
                  <a:pos x="f185" y="f167"/>
                </a:cxn>
              </a:cxnLst>
              <a:rect l="f162" t="f165" r="f163" b="f164"/>
              <a:pathLst>
                <a:path w="34" h="40">
                  <a:moveTo>
                    <a:pt x="f6" y="f8"/>
                  </a:moveTo>
                  <a:cubicBezTo>
                    <a:pt x="f6" y="f9"/>
                    <a:pt x="f6" y="f10"/>
                    <a:pt x="f11" y="f12"/>
                  </a:cubicBezTo>
                  <a:cubicBezTo>
                    <a:pt x="f13" y="f14"/>
                    <a:pt x="f14" y="f11"/>
                    <a:pt x="f15" y="f16"/>
                  </a:cubicBezTo>
                  <a:cubicBezTo>
                    <a:pt x="f12" y="f17"/>
                    <a:pt x="f10" y="f18"/>
                    <a:pt x="f19" y="f20"/>
                  </a:cubicBezTo>
                  <a:cubicBezTo>
                    <a:pt x="f21" y="f7"/>
                    <a:pt x="f8" y="f7"/>
                    <a:pt x="f22" y="f7"/>
                  </a:cubicBezTo>
                  <a:cubicBezTo>
                    <a:pt x="f23" y="f7"/>
                    <a:pt x="f24" y="f7"/>
                    <a:pt x="f25" y="f20"/>
                  </a:cubicBezTo>
                  <a:cubicBezTo>
                    <a:pt x="f26" y="f18"/>
                    <a:pt x="f27" y="f28"/>
                    <a:pt x="f29" y="f16"/>
                  </a:cubicBezTo>
                  <a:cubicBezTo>
                    <a:pt x="f30" y="f11"/>
                    <a:pt x="f31" y="f14"/>
                    <a:pt x="f32" y="f12"/>
                  </a:cubicBezTo>
                  <a:cubicBezTo>
                    <a:pt x="f32" y="f10"/>
                    <a:pt x="f5" y="f9"/>
                    <a:pt x="f5" y="f8"/>
                  </a:cubicBezTo>
                  <a:cubicBezTo>
                    <a:pt x="f5" y="f22"/>
                    <a:pt x="f32" y="f33"/>
                    <a:pt x="f32" y="f24"/>
                  </a:cubicBezTo>
                  <a:cubicBezTo>
                    <a:pt x="f31" y="f34"/>
                    <a:pt x="f35" y="f36"/>
                    <a:pt x="f29" y="f29"/>
                  </a:cubicBezTo>
                  <a:cubicBezTo>
                    <a:pt x="f36" y="f35"/>
                    <a:pt x="f26" y="f31"/>
                    <a:pt x="f37" y="f32"/>
                  </a:cubicBezTo>
                  <a:cubicBezTo>
                    <a:pt x="f38" y="f32"/>
                    <a:pt x="f23" y="f5"/>
                    <a:pt x="f22" y="f5"/>
                  </a:cubicBezTo>
                  <a:cubicBezTo>
                    <a:pt x="f8" y="f5"/>
                    <a:pt x="f21" y="f32"/>
                    <a:pt x="f19" y="f32"/>
                  </a:cubicBezTo>
                  <a:cubicBezTo>
                    <a:pt x="f10" y="f31"/>
                    <a:pt x="f12" y="f35"/>
                    <a:pt x="f15" y="f29"/>
                  </a:cubicBezTo>
                  <a:cubicBezTo>
                    <a:pt x="f14" y="f36"/>
                    <a:pt x="f13" y="f34"/>
                    <a:pt x="f11" y="f24"/>
                  </a:cubicBezTo>
                  <a:cubicBezTo>
                    <a:pt x="f6" y="f33"/>
                    <a:pt x="f6" y="f22"/>
                    <a:pt x="f6" y="f8"/>
                  </a:cubicBezTo>
                  <a:close/>
                  <a:moveTo>
                    <a:pt x="f39" y="f8"/>
                  </a:moveTo>
                  <a:cubicBezTo>
                    <a:pt x="f39" y="f40"/>
                    <a:pt x="f39" y="f41"/>
                    <a:pt x="f10" y="f23"/>
                  </a:cubicBezTo>
                  <a:cubicBezTo>
                    <a:pt x="f10" y="f38"/>
                    <a:pt x="f42" y="f24"/>
                    <a:pt x="f19" y="f37"/>
                  </a:cubicBezTo>
                  <a:cubicBezTo>
                    <a:pt x="f9" y="f25"/>
                    <a:pt x="f21" y="f34"/>
                    <a:pt x="f43" y="f26"/>
                  </a:cubicBezTo>
                  <a:cubicBezTo>
                    <a:pt x="f8" y="f26"/>
                    <a:pt x="f40" y="f36"/>
                    <a:pt x="f22" y="f36"/>
                  </a:cubicBezTo>
                  <a:cubicBezTo>
                    <a:pt x="f41" y="f36"/>
                    <a:pt x="f33" y="f26"/>
                    <a:pt x="f38" y="f26"/>
                  </a:cubicBezTo>
                  <a:cubicBezTo>
                    <a:pt x="f24" y="f34"/>
                    <a:pt x="f37" y="f25"/>
                    <a:pt x="f25" y="f37"/>
                  </a:cubicBezTo>
                  <a:cubicBezTo>
                    <a:pt x="f34" y="f24"/>
                    <a:pt x="f34" y="f38"/>
                    <a:pt x="f26" y="f23"/>
                  </a:cubicBezTo>
                  <a:cubicBezTo>
                    <a:pt x="f26" y="f41"/>
                    <a:pt x="f26" y="f40"/>
                    <a:pt x="f26" y="f8"/>
                  </a:cubicBezTo>
                  <a:cubicBezTo>
                    <a:pt x="f26" y="f21"/>
                    <a:pt x="f26" y="f19"/>
                    <a:pt x="f26" y="f10"/>
                  </a:cubicBezTo>
                  <a:cubicBezTo>
                    <a:pt x="f34" y="f39"/>
                    <a:pt x="f25" y="f12"/>
                    <a:pt x="f25" y="f44"/>
                  </a:cubicBezTo>
                  <a:cubicBezTo>
                    <a:pt x="f37" y="f14"/>
                    <a:pt x="f24" y="f13"/>
                    <a:pt x="f38" y="f13"/>
                  </a:cubicBezTo>
                  <a:cubicBezTo>
                    <a:pt x="f23" y="f11"/>
                    <a:pt x="f41" y="f11"/>
                    <a:pt x="f22" y="f11"/>
                  </a:cubicBezTo>
                  <a:cubicBezTo>
                    <a:pt x="f45" y="f11"/>
                    <a:pt x="f8" y="f11"/>
                    <a:pt x="f43" y="f13"/>
                  </a:cubicBezTo>
                  <a:cubicBezTo>
                    <a:pt x="f21" y="f14"/>
                    <a:pt x="f9" y="f44"/>
                    <a:pt x="f19" y="f15"/>
                  </a:cubicBezTo>
                  <a:cubicBezTo>
                    <a:pt x="f42" y="f12"/>
                    <a:pt x="f10" y="f39"/>
                    <a:pt x="f10" y="f42"/>
                  </a:cubicBezTo>
                  <a:cubicBezTo>
                    <a:pt x="f39" y="f19"/>
                    <a:pt x="f39" y="f21"/>
                    <a:pt x="f39"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0" name="Freeform 62">
              <a:extLst>
                <a:ext uri="{FF2B5EF4-FFF2-40B4-BE49-F238E27FC236}">
                  <a16:creationId xmlns:a16="http://schemas.microsoft.com/office/drawing/2014/main" id="{0FEAB057-1398-5FF9-58EE-A429608F31C6}"/>
                </a:ext>
              </a:extLst>
            </p:cNvPr>
            <p:cNvSpPr/>
            <p:nvPr/>
          </p:nvSpPr>
          <p:spPr>
            <a:xfrm>
              <a:off x="1967038" y="6293924"/>
              <a:ext cx="57515"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5"/>
                <a:gd name="f17" fmla="val 13"/>
                <a:gd name="f18" fmla="val 11"/>
                <a:gd name="f19" fmla="val 10"/>
                <a:gd name="f20" fmla="val 12"/>
                <a:gd name="f21" fmla="val 14"/>
                <a:gd name="f22" fmla="val 1"/>
                <a:gd name="f23" fmla="val 5"/>
                <a:gd name="f24" fmla="val 4"/>
                <a:gd name="f25" fmla="val 3"/>
                <a:gd name="f26" fmla="val 2"/>
                <a:gd name="f27" fmla="val 16"/>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8 f33 1"/>
                <a:gd name="f40" fmla="*/ 8 f32 1"/>
                <a:gd name="f41" fmla="*/ 15 f33 1"/>
                <a:gd name="f42" fmla="*/ 7 f32 1"/>
                <a:gd name="f43" fmla="*/ 10 f33 1"/>
                <a:gd name="f44" fmla="*/ 10 f32 1"/>
                <a:gd name="f45" fmla="*/ 8 f33 1"/>
                <a:gd name="f46" fmla="*/ 17 f32 1"/>
                <a:gd name="f47" fmla="*/ 39 f32 1"/>
                <a:gd name="f48" fmla="*/ 0 f33 1"/>
                <a:gd name="f49" fmla="*/ 1 f32 1"/>
                <a:gd name="f50" fmla="*/ 5 f32 1"/>
                <a:gd name="f51" fmla="*/ 9 f33 1"/>
                <a:gd name="f52" fmla="*/ 3 f32 1"/>
                <a:gd name="f53" fmla="*/ 11 f33 1"/>
                <a:gd name="f54" fmla="*/ 14 f33 1"/>
                <a:gd name="f55" fmla="*/ 0 f32 1"/>
                <a:gd name="f56" fmla="*/ 17 f33 1"/>
                <a:gd name="f57" fmla="*/ 20 f33 1"/>
                <a:gd name="f58" fmla="*/ 23 f33 1"/>
                <a:gd name="f59" fmla="*/ 2 f32 1"/>
                <a:gd name="f60" fmla="*/ f34 1 f2"/>
                <a:gd name="f61" fmla="*/ f37 1 23"/>
                <a:gd name="f62" fmla="*/ f38 1 39"/>
                <a:gd name="f63" fmla="*/ f39 1 23"/>
                <a:gd name="f64" fmla="*/ f40 1 39"/>
                <a:gd name="f65" fmla="*/ f41 1 23"/>
                <a:gd name="f66" fmla="*/ f42 1 39"/>
                <a:gd name="f67" fmla="*/ f43 1 23"/>
                <a:gd name="f68" fmla="*/ f44 1 39"/>
                <a:gd name="f69" fmla="*/ f45 1 23"/>
                <a:gd name="f70" fmla="*/ f46 1 39"/>
                <a:gd name="f71" fmla="*/ f47 1 39"/>
                <a:gd name="f72" fmla="*/ f48 1 23"/>
                <a:gd name="f73" fmla="*/ f49 1 39"/>
                <a:gd name="f74" fmla="*/ f50 1 39"/>
                <a:gd name="f75" fmla="*/ f51 1 23"/>
                <a:gd name="f76" fmla="*/ f52 1 39"/>
                <a:gd name="f77" fmla="*/ f53 1 23"/>
                <a:gd name="f78" fmla="*/ f54 1 23"/>
                <a:gd name="f79" fmla="*/ f55 1 39"/>
                <a:gd name="f80" fmla="*/ f56 1 23"/>
                <a:gd name="f81" fmla="*/ f57 1 23"/>
                <a:gd name="f82" fmla="*/ f58 1 23"/>
                <a:gd name="f83" fmla="*/ f59 1 39"/>
                <a:gd name="f84" fmla="*/ 0 1 f35"/>
                <a:gd name="f85" fmla="*/ f6 1 f35"/>
                <a:gd name="f86" fmla="*/ 0 1 f36"/>
                <a:gd name="f87" fmla="*/ f7 1 f36"/>
                <a:gd name="f88" fmla="+- f60 0 f1"/>
                <a:gd name="f89" fmla="*/ f61 1 f35"/>
                <a:gd name="f90" fmla="*/ f62 1 f36"/>
                <a:gd name="f91" fmla="*/ f63 1 f35"/>
                <a:gd name="f92" fmla="*/ f64 1 f36"/>
                <a:gd name="f93" fmla="*/ f65 1 f35"/>
                <a:gd name="f94" fmla="*/ f66 1 f36"/>
                <a:gd name="f95" fmla="*/ f67 1 f35"/>
                <a:gd name="f96" fmla="*/ f68 1 f36"/>
                <a:gd name="f97" fmla="*/ f69 1 f35"/>
                <a:gd name="f98" fmla="*/ f70 1 f36"/>
                <a:gd name="f99" fmla="*/ f71 1 f36"/>
                <a:gd name="f100" fmla="*/ f72 1 f35"/>
                <a:gd name="f101" fmla="*/ f73 1 f36"/>
                <a:gd name="f102" fmla="*/ f74 1 f36"/>
                <a:gd name="f103" fmla="*/ f75 1 f35"/>
                <a:gd name="f104" fmla="*/ f76 1 f36"/>
                <a:gd name="f105" fmla="*/ f77 1 f35"/>
                <a:gd name="f106" fmla="*/ f78 1 f35"/>
                <a:gd name="f107" fmla="*/ f79 1 f36"/>
                <a:gd name="f108" fmla="*/ f80 1 f35"/>
                <a:gd name="f109" fmla="*/ f81 1 f35"/>
                <a:gd name="f110" fmla="*/ f82 1 f35"/>
                <a:gd name="f111" fmla="*/ f83 1 f36"/>
                <a:gd name="f112" fmla="*/ f84 f30 1"/>
                <a:gd name="f113" fmla="*/ f85 f30 1"/>
                <a:gd name="f114" fmla="*/ f87 f31 1"/>
                <a:gd name="f115" fmla="*/ f86 f31 1"/>
                <a:gd name="f116" fmla="*/ f89 f30 1"/>
                <a:gd name="f117" fmla="*/ f90 f31 1"/>
                <a:gd name="f118" fmla="*/ f91 f30 1"/>
                <a:gd name="f119" fmla="*/ f92 f31 1"/>
                <a:gd name="f120" fmla="*/ f93 f30 1"/>
                <a:gd name="f121" fmla="*/ f94 f31 1"/>
                <a:gd name="f122" fmla="*/ f95 f30 1"/>
                <a:gd name="f123" fmla="*/ f96 f31 1"/>
                <a:gd name="f124" fmla="*/ f97 f30 1"/>
                <a:gd name="f125" fmla="*/ f98 f31 1"/>
                <a:gd name="f126" fmla="*/ f99 f31 1"/>
                <a:gd name="f127" fmla="*/ f100 f30 1"/>
                <a:gd name="f128" fmla="*/ f101 f31 1"/>
                <a:gd name="f129" fmla="*/ f102 f31 1"/>
                <a:gd name="f130" fmla="*/ f103 f30 1"/>
                <a:gd name="f131" fmla="*/ f104 f31 1"/>
                <a:gd name="f132" fmla="*/ f105 f30 1"/>
                <a:gd name="f133" fmla="*/ f106 f30 1"/>
                <a:gd name="f134" fmla="*/ f107 f31 1"/>
                <a:gd name="f135" fmla="*/ f108 f30 1"/>
                <a:gd name="f136" fmla="*/ f109 f30 1"/>
                <a:gd name="f137" fmla="*/ f110 f30 1"/>
                <a:gd name="f138" fmla="*/ f111 f31 1"/>
              </a:gdLst>
              <a:ahLst/>
              <a:cxnLst>
                <a:cxn ang="3cd4">
                  <a:pos x="hc" y="t"/>
                </a:cxn>
                <a:cxn ang="0">
                  <a:pos x="r" y="vc"/>
                </a:cxn>
                <a:cxn ang="cd4">
                  <a:pos x="hc" y="b"/>
                </a:cxn>
                <a:cxn ang="cd2">
                  <a:pos x="l" y="vc"/>
                </a:cxn>
                <a:cxn ang="f88">
                  <a:pos x="f116" y="f117"/>
                </a:cxn>
                <a:cxn ang="f88">
                  <a:pos x="f118" y="f119"/>
                </a:cxn>
                <a:cxn ang="f88">
                  <a:pos x="f120" y="f121"/>
                </a:cxn>
                <a:cxn ang="f88">
                  <a:pos x="f122" y="f123"/>
                </a:cxn>
                <a:cxn ang="f88">
                  <a:pos x="f124" y="f125"/>
                </a:cxn>
                <a:cxn ang="f88">
                  <a:pos x="f124" y="f126"/>
                </a:cxn>
                <a:cxn ang="f88">
                  <a:pos x="f127" y="f126"/>
                </a:cxn>
                <a:cxn ang="f88">
                  <a:pos x="f127" y="f128"/>
                </a:cxn>
                <a:cxn ang="f88">
                  <a:pos x="f124" y="f128"/>
                </a:cxn>
                <a:cxn ang="f88">
                  <a:pos x="f124" y="f129"/>
                </a:cxn>
                <a:cxn ang="f88">
                  <a:pos x="f130" y="f131"/>
                </a:cxn>
                <a:cxn ang="f88">
                  <a:pos x="f132" y="f128"/>
                </a:cxn>
                <a:cxn ang="f88">
                  <a:pos x="f133" y="f134"/>
                </a:cxn>
                <a:cxn ang="f88">
                  <a:pos x="f135" y="f134"/>
                </a:cxn>
                <a:cxn ang="f88">
                  <a:pos x="f136" y="f128"/>
                </a:cxn>
                <a:cxn ang="f88">
                  <a:pos x="f137" y="f138"/>
                </a:cxn>
                <a:cxn ang="f88">
                  <a:pos x="f116" y="f117"/>
                </a:cxn>
              </a:cxnLst>
              <a:rect l="f112" t="f115" r="f113" b="f114"/>
              <a:pathLst>
                <a:path w="23" h="39">
                  <a:moveTo>
                    <a:pt x="f8" y="f9"/>
                  </a:moveTo>
                  <a:cubicBezTo>
                    <a:pt x="f10" y="f11"/>
                    <a:pt x="f12" y="f11"/>
                    <a:pt x="f13" y="f11"/>
                  </a:cubicBezTo>
                  <a:cubicBezTo>
                    <a:pt x="f13" y="f11"/>
                    <a:pt x="f14" y="f15"/>
                    <a:pt x="f16" y="f15"/>
                  </a:cubicBezTo>
                  <a:cubicBezTo>
                    <a:pt x="f17" y="f15"/>
                    <a:pt x="f18" y="f11"/>
                    <a:pt x="f19" y="f19"/>
                  </a:cubicBezTo>
                  <a:cubicBezTo>
                    <a:pt x="f11"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9" y="f25"/>
                  </a:cubicBezTo>
                  <a:cubicBezTo>
                    <a:pt x="f19" y="f26"/>
                    <a:pt x="f18" y="f26"/>
                    <a:pt x="f18" y="f22"/>
                  </a:cubicBezTo>
                  <a:cubicBezTo>
                    <a:pt x="f20" y="f22"/>
                    <a:pt x="f17" y="f22"/>
                    <a:pt x="f21" y="f5"/>
                  </a:cubicBezTo>
                  <a:cubicBezTo>
                    <a:pt x="f16" y="f5"/>
                    <a:pt x="f27" y="f5"/>
                    <a:pt x="f14" y="f5"/>
                  </a:cubicBezTo>
                  <a:cubicBezTo>
                    <a:pt x="f13" y="f5"/>
                    <a:pt x="f12" y="f5"/>
                    <a:pt x="f10" y="f22"/>
                  </a:cubicBezTo>
                  <a:cubicBezTo>
                    <a:pt x="f8" y="f22"/>
                    <a:pt x="f28"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1" name="Freeform 63">
              <a:extLst>
                <a:ext uri="{FF2B5EF4-FFF2-40B4-BE49-F238E27FC236}">
                  <a16:creationId xmlns:a16="http://schemas.microsoft.com/office/drawing/2014/main" id="{8FAA0C37-4AF1-0B1A-B80F-4B1EEC4155C2}"/>
                </a:ext>
              </a:extLst>
            </p:cNvPr>
            <p:cNvSpPr/>
            <p:nvPr/>
          </p:nvSpPr>
          <p:spPr>
            <a:xfrm>
              <a:off x="2041983" y="6259049"/>
              <a:ext cx="19174" cy="136007"/>
            </a:xfrm>
            <a:custGeom>
              <a:avLst/>
              <a:gdLst>
                <a:gd name="f0" fmla="val 10800000"/>
                <a:gd name="f1" fmla="val 5400000"/>
                <a:gd name="f2" fmla="val 180"/>
                <a:gd name="f3" fmla="val w"/>
                <a:gd name="f4" fmla="val h"/>
                <a:gd name="f5" fmla="val 0"/>
                <a:gd name="f6" fmla="val 11"/>
                <a:gd name="f7" fmla="val 78"/>
                <a:gd name="f8" fmla="val 6"/>
                <a:gd name="f9" fmla="+- 0 0 -90"/>
                <a:gd name="f10" fmla="*/ f3 1 11"/>
                <a:gd name="f11" fmla="*/ f4 1 78"/>
                <a:gd name="f12" fmla="+- f7 0 f5"/>
                <a:gd name="f13" fmla="+- f6 0 f5"/>
                <a:gd name="f14" fmla="*/ f9 f0 1"/>
                <a:gd name="f15" fmla="*/ f13 1 11"/>
                <a:gd name="f16" fmla="*/ f12 1 78"/>
                <a:gd name="f17" fmla="*/ 0 f13 1"/>
                <a:gd name="f18" fmla="*/ 78 f12 1"/>
                <a:gd name="f19" fmla="*/ 6 f12 1"/>
                <a:gd name="f20" fmla="*/ 11 f13 1"/>
                <a:gd name="f21" fmla="*/ 0 f12 1"/>
                <a:gd name="f22" fmla="*/ f14 1 f2"/>
                <a:gd name="f23" fmla="*/ f17 1 11"/>
                <a:gd name="f24" fmla="*/ f18 1 78"/>
                <a:gd name="f25" fmla="*/ f19 1 78"/>
                <a:gd name="f26" fmla="*/ f20 1 11"/>
                <a:gd name="f27" fmla="*/ f21 1 78"/>
                <a:gd name="f28" fmla="*/ 0 1 f15"/>
                <a:gd name="f29" fmla="*/ f6 1 f15"/>
                <a:gd name="f30" fmla="*/ 0 1 f16"/>
                <a:gd name="f31" fmla="*/ f7 1 f16"/>
                <a:gd name="f32" fmla="+- f22 0 f1"/>
                <a:gd name="f33" fmla="*/ f23 1 f15"/>
                <a:gd name="f34" fmla="*/ f24 1 f16"/>
                <a:gd name="f35" fmla="*/ f25 1 f16"/>
                <a:gd name="f36" fmla="*/ f26 1 f15"/>
                <a:gd name="f37" fmla="*/ f27 1 f16"/>
                <a:gd name="f38" fmla="*/ f28 f10 1"/>
                <a:gd name="f39" fmla="*/ f29 f10 1"/>
                <a:gd name="f40" fmla="*/ f31 f11 1"/>
                <a:gd name="f41" fmla="*/ f30 f11 1"/>
                <a:gd name="f42" fmla="*/ f33 f10 1"/>
                <a:gd name="f43" fmla="*/ f34 f11 1"/>
                <a:gd name="f44" fmla="*/ f35 f11 1"/>
                <a:gd name="f45" fmla="*/ f36 f10 1"/>
                <a:gd name="f46" fmla="*/ f37 f11 1"/>
              </a:gdLst>
              <a:ahLst/>
              <a:cxnLst>
                <a:cxn ang="3cd4">
                  <a:pos x="hc" y="t"/>
                </a:cxn>
                <a:cxn ang="0">
                  <a:pos x="r" y="vc"/>
                </a:cxn>
                <a:cxn ang="cd4">
                  <a:pos x="hc" y="b"/>
                </a:cxn>
                <a:cxn ang="cd2">
                  <a:pos x="l" y="vc"/>
                </a:cxn>
                <a:cxn ang="f32">
                  <a:pos x="f42" y="f43"/>
                </a:cxn>
                <a:cxn ang="f32">
                  <a:pos x="f42" y="f44"/>
                </a:cxn>
                <a:cxn ang="f32">
                  <a:pos x="f45" y="f46"/>
                </a:cxn>
                <a:cxn ang="f32">
                  <a:pos x="f45" y="f43"/>
                </a:cxn>
                <a:cxn ang="f32">
                  <a:pos x="f42" y="f43"/>
                </a:cxn>
              </a:cxnLst>
              <a:rect l="f38" t="f41" r="f39" b="f40"/>
              <a:pathLst>
                <a:path w="11" h="78">
                  <a:moveTo>
                    <a:pt x="f5" y="f7"/>
                  </a:moveTo>
                  <a:lnTo>
                    <a:pt x="f5" y="f8"/>
                  </a:lnTo>
                  <a:lnTo>
                    <a:pt x="f6" y="f5"/>
                  </a:lnTo>
                  <a:lnTo>
                    <a:pt x="f6" y="f7"/>
                  </a:lnTo>
                  <a:lnTo>
                    <a:pt x="f5"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2" name="Freeform 64">
              <a:extLst>
                <a:ext uri="{FF2B5EF4-FFF2-40B4-BE49-F238E27FC236}">
                  <a16:creationId xmlns:a16="http://schemas.microsoft.com/office/drawing/2014/main" id="{9A69CFE9-4A9C-3B51-7717-85ABD4247778}"/>
                </a:ext>
              </a:extLst>
            </p:cNvPr>
            <p:cNvSpPr/>
            <p:nvPr/>
          </p:nvSpPr>
          <p:spPr>
            <a:xfrm>
              <a:off x="2083807" y="6259049"/>
              <a:ext cx="80165" cy="137754"/>
            </a:xfrm>
            <a:custGeom>
              <a:avLst/>
              <a:gdLst>
                <a:gd name="f0" fmla="val 10800000"/>
                <a:gd name="f1" fmla="val 5400000"/>
                <a:gd name="f2" fmla="val 180"/>
                <a:gd name="f3" fmla="val w"/>
                <a:gd name="f4" fmla="val h"/>
                <a:gd name="f5" fmla="val 0"/>
                <a:gd name="f6" fmla="val 32"/>
                <a:gd name="f7" fmla="val 54"/>
                <a:gd name="f8" fmla="val 24"/>
                <a:gd name="f9" fmla="val 53"/>
                <a:gd name="f10" fmla="val 50"/>
                <a:gd name="f11" fmla="val 23"/>
                <a:gd name="f12" fmla="val 51"/>
                <a:gd name="f13" fmla="val 22"/>
                <a:gd name="f14" fmla="val 21"/>
                <a:gd name="f15" fmla="val 52"/>
                <a:gd name="f16" fmla="val 20"/>
                <a:gd name="f17" fmla="val 19"/>
                <a:gd name="f18" fmla="val 18"/>
                <a:gd name="f19" fmla="val 17"/>
                <a:gd name="f20" fmla="val 16"/>
                <a:gd name="f21" fmla="val 15"/>
                <a:gd name="f22" fmla="val 14"/>
                <a:gd name="f23" fmla="val 12"/>
                <a:gd name="f24" fmla="val 10"/>
                <a:gd name="f25" fmla="val 9"/>
                <a:gd name="f26" fmla="val 7"/>
                <a:gd name="f27" fmla="val 5"/>
                <a:gd name="f28" fmla="val 4"/>
                <a:gd name="f29" fmla="val 49"/>
                <a:gd name="f30" fmla="val 3"/>
                <a:gd name="f31" fmla="val 48"/>
                <a:gd name="f32" fmla="val 1"/>
                <a:gd name="f33" fmla="val 45"/>
                <a:gd name="f34" fmla="val 43"/>
                <a:gd name="f35" fmla="val 40"/>
                <a:gd name="f36" fmla="val 37"/>
                <a:gd name="f37" fmla="val 33"/>
                <a:gd name="f38" fmla="val 30"/>
                <a:gd name="f39" fmla="val 27"/>
                <a:gd name="f40" fmla="val 25"/>
                <a:gd name="f41" fmla="val 2"/>
                <a:gd name="f42" fmla="val 6"/>
                <a:gd name="f43" fmla="val 11"/>
                <a:gd name="f44" fmla="val 13"/>
                <a:gd name="f45" fmla="val 26"/>
                <a:gd name="f46" fmla="val 8"/>
                <a:gd name="f47" fmla="val 29"/>
                <a:gd name="f48" fmla="val 36"/>
                <a:gd name="f49" fmla="val 38"/>
                <a:gd name="f50" fmla="val 39"/>
                <a:gd name="f51" fmla="val 41"/>
                <a:gd name="f52" fmla="val 44"/>
                <a:gd name="f53" fmla="val 46"/>
                <a:gd name="f54" fmla="val 47"/>
                <a:gd name="f55" fmla="val 42"/>
                <a:gd name="f56" fmla="+- 0 0 -90"/>
                <a:gd name="f57" fmla="*/ f3 1 32"/>
                <a:gd name="f58" fmla="*/ f4 1 54"/>
                <a:gd name="f59" fmla="+- f7 0 f5"/>
                <a:gd name="f60" fmla="+- f6 0 f5"/>
                <a:gd name="f61" fmla="*/ f56 f0 1"/>
                <a:gd name="f62" fmla="*/ f60 1 32"/>
                <a:gd name="f63" fmla="*/ f59 1 54"/>
                <a:gd name="f64" fmla="*/ 24 f60 1"/>
                <a:gd name="f65" fmla="*/ 53 f59 1"/>
                <a:gd name="f66" fmla="*/ 50 f59 1"/>
                <a:gd name="f67" fmla="*/ 22 f60 1"/>
                <a:gd name="f68" fmla="*/ 51 f59 1"/>
                <a:gd name="f69" fmla="*/ 20 f60 1"/>
                <a:gd name="f70" fmla="*/ 17 f60 1"/>
                <a:gd name="f71" fmla="*/ 54 f59 1"/>
                <a:gd name="f72" fmla="*/ 14 f60 1"/>
                <a:gd name="f73" fmla="*/ 9 f60 1"/>
                <a:gd name="f74" fmla="*/ 4 f60 1"/>
                <a:gd name="f75" fmla="*/ 49 f59 1"/>
                <a:gd name="f76" fmla="*/ 1 f60 1"/>
                <a:gd name="f77" fmla="*/ 43 f59 1"/>
                <a:gd name="f78" fmla="*/ 0 f60 1"/>
                <a:gd name="f79" fmla="*/ 33 f59 1"/>
                <a:gd name="f80" fmla="*/ 25 f59 1"/>
                <a:gd name="f81" fmla="*/ 19 f59 1"/>
                <a:gd name="f82" fmla="*/ 15 f59 1"/>
                <a:gd name="f83" fmla="*/ 15 f60 1"/>
                <a:gd name="f84" fmla="*/ 14 f59 1"/>
                <a:gd name="f85" fmla="*/ 18 f60 1"/>
                <a:gd name="f86" fmla="*/ 17 f59 1"/>
                <a:gd name="f87" fmla="*/ 18 f59 1"/>
                <a:gd name="f88" fmla="*/ 4 f59 1"/>
                <a:gd name="f89" fmla="*/ 32 f60 1"/>
                <a:gd name="f90" fmla="*/ 0 f59 1"/>
                <a:gd name="f91" fmla="*/ 26 f59 1"/>
                <a:gd name="f92" fmla="*/ 23 f60 1"/>
                <a:gd name="f93" fmla="*/ 24 f59 1"/>
                <a:gd name="f94" fmla="*/ 21 f60 1"/>
                <a:gd name="f95" fmla="*/ 23 f59 1"/>
                <a:gd name="f96" fmla="*/ 22 f59 1"/>
                <a:gd name="f97" fmla="*/ 21 f59 1"/>
                <a:gd name="f98" fmla="*/ 7 f60 1"/>
                <a:gd name="f99" fmla="*/ 8 f60 1"/>
                <a:gd name="f100" fmla="*/ 39 f59 1"/>
                <a:gd name="f101" fmla="*/ 44 f59 1"/>
                <a:gd name="f102" fmla="*/ 12 f60 1"/>
                <a:gd name="f103" fmla="*/ 46 f59 1"/>
                <a:gd name="f104" fmla="*/ 16 f60 1"/>
                <a:gd name="f105" fmla="*/ 47 f59 1"/>
                <a:gd name="f106" fmla="*/ 42 f59 1"/>
                <a:gd name="f107" fmla="*/ f61 1 f2"/>
                <a:gd name="f108" fmla="*/ f64 1 32"/>
                <a:gd name="f109" fmla="*/ f65 1 54"/>
                <a:gd name="f110" fmla="*/ f66 1 54"/>
                <a:gd name="f111" fmla="*/ f67 1 32"/>
                <a:gd name="f112" fmla="*/ f68 1 54"/>
                <a:gd name="f113" fmla="*/ f69 1 32"/>
                <a:gd name="f114" fmla="*/ f70 1 32"/>
                <a:gd name="f115" fmla="*/ f71 1 54"/>
                <a:gd name="f116" fmla="*/ f72 1 32"/>
                <a:gd name="f117" fmla="*/ f73 1 32"/>
                <a:gd name="f118" fmla="*/ f74 1 32"/>
                <a:gd name="f119" fmla="*/ f75 1 54"/>
                <a:gd name="f120" fmla="*/ f76 1 32"/>
                <a:gd name="f121" fmla="*/ f77 1 54"/>
                <a:gd name="f122" fmla="*/ f78 1 32"/>
                <a:gd name="f123" fmla="*/ f79 1 54"/>
                <a:gd name="f124" fmla="*/ f80 1 54"/>
                <a:gd name="f125" fmla="*/ f81 1 54"/>
                <a:gd name="f126" fmla="*/ f82 1 54"/>
                <a:gd name="f127" fmla="*/ f83 1 32"/>
                <a:gd name="f128" fmla="*/ f84 1 54"/>
                <a:gd name="f129" fmla="*/ f85 1 32"/>
                <a:gd name="f130" fmla="*/ f86 1 54"/>
                <a:gd name="f131" fmla="*/ f87 1 54"/>
                <a:gd name="f132" fmla="*/ f88 1 54"/>
                <a:gd name="f133" fmla="*/ f89 1 32"/>
                <a:gd name="f134" fmla="*/ f90 1 54"/>
                <a:gd name="f135" fmla="*/ f91 1 54"/>
                <a:gd name="f136" fmla="*/ f92 1 32"/>
                <a:gd name="f137" fmla="*/ f93 1 54"/>
                <a:gd name="f138" fmla="*/ f94 1 32"/>
                <a:gd name="f139" fmla="*/ f95 1 54"/>
                <a:gd name="f140" fmla="*/ f96 1 54"/>
                <a:gd name="f141" fmla="*/ f97 1 54"/>
                <a:gd name="f142" fmla="*/ f98 1 32"/>
                <a:gd name="f143" fmla="*/ f99 1 32"/>
                <a:gd name="f144" fmla="*/ f100 1 54"/>
                <a:gd name="f145" fmla="*/ f101 1 54"/>
                <a:gd name="f146" fmla="*/ f102 1 32"/>
                <a:gd name="f147" fmla="*/ f103 1 54"/>
                <a:gd name="f148" fmla="*/ f104 1 32"/>
                <a:gd name="f149" fmla="*/ f105 1 54"/>
                <a:gd name="f150" fmla="*/ f106 1 54"/>
                <a:gd name="f151" fmla="*/ 0 1 f62"/>
                <a:gd name="f152" fmla="*/ f6 1 f62"/>
                <a:gd name="f153" fmla="*/ 0 1 f63"/>
                <a:gd name="f154" fmla="*/ f7 1 f63"/>
                <a:gd name="f155" fmla="+- f107 0 f1"/>
                <a:gd name="f156" fmla="*/ f108 1 f62"/>
                <a:gd name="f157" fmla="*/ f109 1 f63"/>
                <a:gd name="f158" fmla="*/ f110 1 f63"/>
                <a:gd name="f159" fmla="*/ f111 1 f62"/>
                <a:gd name="f160" fmla="*/ f112 1 f63"/>
                <a:gd name="f161" fmla="*/ f113 1 f62"/>
                <a:gd name="f162" fmla="*/ f114 1 f62"/>
                <a:gd name="f163" fmla="*/ f115 1 f63"/>
                <a:gd name="f164" fmla="*/ f116 1 f62"/>
                <a:gd name="f165" fmla="*/ f117 1 f62"/>
                <a:gd name="f166" fmla="*/ f118 1 f62"/>
                <a:gd name="f167" fmla="*/ f119 1 f63"/>
                <a:gd name="f168" fmla="*/ f120 1 f62"/>
                <a:gd name="f169" fmla="*/ f121 1 f63"/>
                <a:gd name="f170" fmla="*/ f122 1 f62"/>
                <a:gd name="f171" fmla="*/ f123 1 f63"/>
                <a:gd name="f172" fmla="*/ f124 1 f63"/>
                <a:gd name="f173" fmla="*/ f125 1 f63"/>
                <a:gd name="f174" fmla="*/ f126 1 f63"/>
                <a:gd name="f175" fmla="*/ f127 1 f62"/>
                <a:gd name="f176" fmla="*/ f128 1 f63"/>
                <a:gd name="f177" fmla="*/ f129 1 f62"/>
                <a:gd name="f178" fmla="*/ f130 1 f63"/>
                <a:gd name="f179" fmla="*/ f131 1 f63"/>
                <a:gd name="f180" fmla="*/ f132 1 f63"/>
                <a:gd name="f181" fmla="*/ f133 1 f62"/>
                <a:gd name="f182" fmla="*/ f134 1 f63"/>
                <a:gd name="f183" fmla="*/ f135 1 f63"/>
                <a:gd name="f184" fmla="*/ f136 1 f62"/>
                <a:gd name="f185" fmla="*/ f137 1 f63"/>
                <a:gd name="f186" fmla="*/ f138 1 f62"/>
                <a:gd name="f187" fmla="*/ f139 1 f63"/>
                <a:gd name="f188" fmla="*/ f140 1 f63"/>
                <a:gd name="f189" fmla="*/ f141 1 f63"/>
                <a:gd name="f190" fmla="*/ f142 1 f62"/>
                <a:gd name="f191" fmla="*/ f143 1 f62"/>
                <a:gd name="f192" fmla="*/ f144 1 f63"/>
                <a:gd name="f193" fmla="*/ f145 1 f63"/>
                <a:gd name="f194" fmla="*/ f146 1 f62"/>
                <a:gd name="f195" fmla="*/ f147 1 f63"/>
                <a:gd name="f196" fmla="*/ f148 1 f62"/>
                <a:gd name="f197" fmla="*/ f149 1 f63"/>
                <a:gd name="f198" fmla="*/ f150 1 f63"/>
                <a:gd name="f199" fmla="*/ f151 f57 1"/>
                <a:gd name="f200" fmla="*/ f152 f57 1"/>
                <a:gd name="f201" fmla="*/ f154 f58 1"/>
                <a:gd name="f202" fmla="*/ f153 f58 1"/>
                <a:gd name="f203" fmla="*/ f156 f57 1"/>
                <a:gd name="f204" fmla="*/ f157 f58 1"/>
                <a:gd name="f205" fmla="*/ f158 f58 1"/>
                <a:gd name="f206" fmla="*/ f159 f57 1"/>
                <a:gd name="f207" fmla="*/ f160 f58 1"/>
                <a:gd name="f208" fmla="*/ f161 f57 1"/>
                <a:gd name="f209" fmla="*/ f162 f57 1"/>
                <a:gd name="f210" fmla="*/ f163 f58 1"/>
                <a:gd name="f211" fmla="*/ f164 f57 1"/>
                <a:gd name="f212" fmla="*/ f165 f57 1"/>
                <a:gd name="f213" fmla="*/ f166 f57 1"/>
                <a:gd name="f214" fmla="*/ f167 f58 1"/>
                <a:gd name="f215" fmla="*/ f168 f57 1"/>
                <a:gd name="f216" fmla="*/ f169 f58 1"/>
                <a:gd name="f217" fmla="*/ f170 f57 1"/>
                <a:gd name="f218" fmla="*/ f171 f58 1"/>
                <a:gd name="f219" fmla="*/ f172 f58 1"/>
                <a:gd name="f220" fmla="*/ f173 f58 1"/>
                <a:gd name="f221" fmla="*/ f174 f58 1"/>
                <a:gd name="f222" fmla="*/ f175 f57 1"/>
                <a:gd name="f223" fmla="*/ f176 f58 1"/>
                <a:gd name="f224" fmla="*/ f177 f57 1"/>
                <a:gd name="f225" fmla="*/ f178 f58 1"/>
                <a:gd name="f226" fmla="*/ f179 f58 1"/>
                <a:gd name="f227" fmla="*/ f180 f58 1"/>
                <a:gd name="f228" fmla="*/ f181 f57 1"/>
                <a:gd name="f229" fmla="*/ f182 f58 1"/>
                <a:gd name="f230" fmla="*/ f183 f58 1"/>
                <a:gd name="f231" fmla="*/ f184 f57 1"/>
                <a:gd name="f232" fmla="*/ f185 f58 1"/>
                <a:gd name="f233" fmla="*/ f186 f57 1"/>
                <a:gd name="f234" fmla="*/ f187 f58 1"/>
                <a:gd name="f235" fmla="*/ f188 f58 1"/>
                <a:gd name="f236" fmla="*/ f189 f58 1"/>
                <a:gd name="f237" fmla="*/ f190 f57 1"/>
                <a:gd name="f238" fmla="*/ f191 f57 1"/>
                <a:gd name="f239" fmla="*/ f192 f58 1"/>
                <a:gd name="f240" fmla="*/ f193 f58 1"/>
                <a:gd name="f241" fmla="*/ f194 f57 1"/>
                <a:gd name="f242" fmla="*/ f195 f58 1"/>
                <a:gd name="f243" fmla="*/ f196 f57 1"/>
                <a:gd name="f244" fmla="*/ f197 f58 1"/>
                <a:gd name="f245" fmla="*/ f198 f58 1"/>
              </a:gdLst>
              <a:ahLst/>
              <a:cxnLst>
                <a:cxn ang="3cd4">
                  <a:pos x="hc" y="t"/>
                </a:cxn>
                <a:cxn ang="0">
                  <a:pos x="r" y="vc"/>
                </a:cxn>
                <a:cxn ang="cd4">
                  <a:pos x="hc" y="b"/>
                </a:cxn>
                <a:cxn ang="cd2">
                  <a:pos x="l" y="vc"/>
                </a:cxn>
                <a:cxn ang="f155">
                  <a:pos x="f203" y="f204"/>
                </a:cxn>
                <a:cxn ang="f155">
                  <a:pos x="f203" y="f205"/>
                </a:cxn>
                <a:cxn ang="f155">
                  <a:pos x="f206" y="f207"/>
                </a:cxn>
                <a:cxn ang="f155">
                  <a:pos x="f208" y="f204"/>
                </a:cxn>
                <a:cxn ang="f155">
                  <a:pos x="f209" y="f210"/>
                </a:cxn>
                <a:cxn ang="f155">
                  <a:pos x="f211" y="f210"/>
                </a:cxn>
                <a:cxn ang="f155">
                  <a:pos x="f212" y="f204"/>
                </a:cxn>
                <a:cxn ang="f155">
                  <a:pos x="f213" y="f214"/>
                </a:cxn>
                <a:cxn ang="f155">
                  <a:pos x="f215" y="f216"/>
                </a:cxn>
                <a:cxn ang="f155">
                  <a:pos x="f217" y="f218"/>
                </a:cxn>
                <a:cxn ang="f155">
                  <a:pos x="f215" y="f219"/>
                </a:cxn>
                <a:cxn ang="f155">
                  <a:pos x="f213" y="f220"/>
                </a:cxn>
                <a:cxn ang="f155">
                  <a:pos x="f212" y="f221"/>
                </a:cxn>
                <a:cxn ang="f155">
                  <a:pos x="f222" y="f223"/>
                </a:cxn>
                <a:cxn ang="f155">
                  <a:pos x="f224" y="f223"/>
                </a:cxn>
                <a:cxn ang="f155">
                  <a:pos x="f208" y="f221"/>
                </a:cxn>
                <a:cxn ang="f155">
                  <a:pos x="f206" y="f225"/>
                </a:cxn>
                <a:cxn ang="f155">
                  <a:pos x="f203" y="f226"/>
                </a:cxn>
                <a:cxn ang="f155">
                  <a:pos x="f203" y="f227"/>
                </a:cxn>
                <a:cxn ang="f155">
                  <a:pos x="f228" y="f229"/>
                </a:cxn>
                <a:cxn ang="f155">
                  <a:pos x="f228" y="f204"/>
                </a:cxn>
                <a:cxn ang="f155">
                  <a:pos x="f203" y="f204"/>
                </a:cxn>
                <a:cxn ang="f155">
                  <a:pos x="f203" y="f230"/>
                </a:cxn>
                <a:cxn ang="f155">
                  <a:pos x="f231" y="f232"/>
                </a:cxn>
                <a:cxn ang="f155">
                  <a:pos x="f233" y="f234"/>
                </a:cxn>
                <a:cxn ang="f155">
                  <a:pos x="f224" y="f235"/>
                </a:cxn>
                <a:cxn ang="f155">
                  <a:pos x="f222" y="f236"/>
                </a:cxn>
                <a:cxn ang="f155">
                  <a:pos x="f212" y="f232"/>
                </a:cxn>
                <a:cxn ang="f155">
                  <a:pos x="f237" y="f218"/>
                </a:cxn>
                <a:cxn ang="f155">
                  <a:pos x="f238" y="f239"/>
                </a:cxn>
                <a:cxn ang="f155">
                  <a:pos x="f212" y="f240"/>
                </a:cxn>
                <a:cxn ang="f155">
                  <a:pos x="f241" y="f242"/>
                </a:cxn>
                <a:cxn ang="f155">
                  <a:pos x="f243" y="f244"/>
                </a:cxn>
                <a:cxn ang="f155">
                  <a:pos x="f224" y="f244"/>
                </a:cxn>
                <a:cxn ang="f155">
                  <a:pos x="f233" y="f242"/>
                </a:cxn>
                <a:cxn ang="f155">
                  <a:pos x="f231" y="f240"/>
                </a:cxn>
                <a:cxn ang="f155">
                  <a:pos x="f203" y="f245"/>
                </a:cxn>
                <a:cxn ang="f155">
                  <a:pos x="f203" y="f230"/>
                </a:cxn>
              </a:cxnLst>
              <a:rect l="f199" t="f202" r="f200" b="f201"/>
              <a:pathLst>
                <a:path w="32" h="54">
                  <a:moveTo>
                    <a:pt x="f8" y="f9"/>
                  </a:moveTo>
                  <a:cubicBezTo>
                    <a:pt x="f8" y="f10"/>
                    <a:pt x="f8" y="f10"/>
                    <a:pt x="f8" y="f10"/>
                  </a:cubicBezTo>
                  <a:cubicBezTo>
                    <a:pt x="f8" y="f10"/>
                    <a:pt x="f11" y="f12"/>
                    <a:pt x="f13" y="f12"/>
                  </a:cubicBezTo>
                  <a:cubicBezTo>
                    <a:pt x="f14" y="f15"/>
                    <a:pt x="f14" y="f15"/>
                    <a:pt x="f16" y="f9"/>
                  </a:cubicBezTo>
                  <a:cubicBezTo>
                    <a:pt x="f17" y="f9"/>
                    <a:pt x="f18" y="f7"/>
                    <a:pt x="f19" y="f7"/>
                  </a:cubicBezTo>
                  <a:cubicBezTo>
                    <a:pt x="f20" y="f7"/>
                    <a:pt x="f21" y="f7"/>
                    <a:pt x="f22" y="f7"/>
                  </a:cubicBezTo>
                  <a:cubicBezTo>
                    <a:pt x="f23" y="f7"/>
                    <a:pt x="f24" y="f7"/>
                    <a:pt x="f25" y="f9"/>
                  </a:cubicBezTo>
                  <a:cubicBezTo>
                    <a:pt x="f26" y="f15"/>
                    <a:pt x="f27" y="f12"/>
                    <a:pt x="f28" y="f29"/>
                  </a:cubicBezTo>
                  <a:cubicBezTo>
                    <a:pt x="f30" y="f31"/>
                    <a:pt x="f32" y="f33"/>
                    <a:pt x="f32" y="f34"/>
                  </a:cubicBezTo>
                  <a:cubicBezTo>
                    <a:pt x="f5" y="f35"/>
                    <a:pt x="f5" y="f36"/>
                    <a:pt x="f5" y="f37"/>
                  </a:cubicBezTo>
                  <a:cubicBezTo>
                    <a:pt x="f5" y="f38"/>
                    <a:pt x="f5" y="f39"/>
                    <a:pt x="f32" y="f40"/>
                  </a:cubicBezTo>
                  <a:cubicBezTo>
                    <a:pt x="f41" y="f13"/>
                    <a:pt x="f30" y="f16"/>
                    <a:pt x="f28" y="f17"/>
                  </a:cubicBezTo>
                  <a:cubicBezTo>
                    <a:pt x="f42" y="f19"/>
                    <a:pt x="f26" y="f20"/>
                    <a:pt x="f25" y="f21"/>
                  </a:cubicBezTo>
                  <a:cubicBezTo>
                    <a:pt x="f43" y="f22"/>
                    <a:pt x="f44" y="f22"/>
                    <a:pt x="f21" y="f22"/>
                  </a:cubicBezTo>
                  <a:cubicBezTo>
                    <a:pt x="f20" y="f22"/>
                    <a:pt x="f19" y="f22"/>
                    <a:pt x="f18" y="f22"/>
                  </a:cubicBezTo>
                  <a:cubicBezTo>
                    <a:pt x="f18" y="f21"/>
                    <a:pt x="f17" y="f21"/>
                    <a:pt x="f16" y="f21"/>
                  </a:cubicBezTo>
                  <a:cubicBezTo>
                    <a:pt x="f14" y="f20"/>
                    <a:pt x="f13" y="f20"/>
                    <a:pt x="f13" y="f19"/>
                  </a:cubicBezTo>
                  <a:cubicBezTo>
                    <a:pt x="f11" y="f19"/>
                    <a:pt x="f8" y="f18"/>
                    <a:pt x="f8" y="f18"/>
                  </a:cubicBezTo>
                  <a:cubicBezTo>
                    <a:pt x="f8" y="f28"/>
                    <a:pt x="f8" y="f28"/>
                    <a:pt x="f8" y="f28"/>
                  </a:cubicBezTo>
                  <a:cubicBezTo>
                    <a:pt x="f6" y="f5"/>
                    <a:pt x="f6" y="f5"/>
                    <a:pt x="f6" y="f5"/>
                  </a:cubicBezTo>
                  <a:cubicBezTo>
                    <a:pt x="f6" y="f9"/>
                    <a:pt x="f6" y="f9"/>
                    <a:pt x="f6" y="f9"/>
                  </a:cubicBezTo>
                  <a:lnTo>
                    <a:pt x="f8" y="f9"/>
                  </a:lnTo>
                  <a:close/>
                  <a:moveTo>
                    <a:pt x="f8" y="f45"/>
                  </a:moveTo>
                  <a:cubicBezTo>
                    <a:pt x="f8" y="f45"/>
                    <a:pt x="f11" y="f40"/>
                    <a:pt x="f11" y="f8"/>
                  </a:cubicBezTo>
                  <a:cubicBezTo>
                    <a:pt x="f13" y="f8"/>
                    <a:pt x="f13" y="f11"/>
                    <a:pt x="f14" y="f11"/>
                  </a:cubicBezTo>
                  <a:cubicBezTo>
                    <a:pt x="f16" y="f13"/>
                    <a:pt x="f17" y="f13"/>
                    <a:pt x="f18" y="f13"/>
                  </a:cubicBezTo>
                  <a:cubicBezTo>
                    <a:pt x="f19" y="f14"/>
                    <a:pt x="f20" y="f14"/>
                    <a:pt x="f21" y="f14"/>
                  </a:cubicBezTo>
                  <a:cubicBezTo>
                    <a:pt x="f44" y="f14"/>
                    <a:pt x="f43" y="f13"/>
                    <a:pt x="f25" y="f8"/>
                  </a:cubicBezTo>
                  <a:cubicBezTo>
                    <a:pt x="f46" y="f45"/>
                    <a:pt x="f26" y="f47"/>
                    <a:pt x="f26" y="f37"/>
                  </a:cubicBezTo>
                  <a:cubicBezTo>
                    <a:pt x="f26" y="f48"/>
                    <a:pt x="f26" y="f49"/>
                    <a:pt x="f46" y="f50"/>
                  </a:cubicBezTo>
                  <a:cubicBezTo>
                    <a:pt x="f46" y="f51"/>
                    <a:pt x="f25" y="f34"/>
                    <a:pt x="f25" y="f52"/>
                  </a:cubicBezTo>
                  <a:cubicBezTo>
                    <a:pt x="f24" y="f33"/>
                    <a:pt x="f43" y="f53"/>
                    <a:pt x="f23" y="f53"/>
                  </a:cubicBezTo>
                  <a:cubicBezTo>
                    <a:pt x="f44" y="f54"/>
                    <a:pt x="f22" y="f54"/>
                    <a:pt x="f20" y="f54"/>
                  </a:cubicBezTo>
                  <a:cubicBezTo>
                    <a:pt x="f19" y="f54"/>
                    <a:pt x="f18" y="f54"/>
                    <a:pt x="f18" y="f54"/>
                  </a:cubicBezTo>
                  <a:cubicBezTo>
                    <a:pt x="f17" y="f53"/>
                    <a:pt x="f16" y="f53"/>
                    <a:pt x="f14" y="f53"/>
                  </a:cubicBezTo>
                  <a:cubicBezTo>
                    <a:pt x="f14" y="f33"/>
                    <a:pt x="f13" y="f33"/>
                    <a:pt x="f11" y="f52"/>
                  </a:cubicBezTo>
                  <a:cubicBezTo>
                    <a:pt x="f11" y="f34"/>
                    <a:pt x="f8" y="f34"/>
                    <a:pt x="f8" y="f55"/>
                  </a:cubicBezTo>
                  <a:lnTo>
                    <a:pt x="f8" y="f4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3" name="Freeform 65">
              <a:extLst>
                <a:ext uri="{FF2B5EF4-FFF2-40B4-BE49-F238E27FC236}">
                  <a16:creationId xmlns:a16="http://schemas.microsoft.com/office/drawing/2014/main" id="{C9326AE8-8FD9-F8FC-4DB3-402903790B48}"/>
                </a:ext>
              </a:extLst>
            </p:cNvPr>
            <p:cNvSpPr/>
            <p:nvPr/>
          </p:nvSpPr>
          <p:spPr>
            <a:xfrm>
              <a:off x="2228465" y="6297417"/>
              <a:ext cx="121999" cy="97648"/>
            </a:xfrm>
            <a:custGeom>
              <a:avLst/>
              <a:gdLst>
                <a:gd name="f0" fmla="val 10800000"/>
                <a:gd name="f1" fmla="val 5400000"/>
                <a:gd name="f2" fmla="val 180"/>
                <a:gd name="f3" fmla="val w"/>
                <a:gd name="f4" fmla="val h"/>
                <a:gd name="f5" fmla="val 0"/>
                <a:gd name="f6" fmla="val 70"/>
                <a:gd name="f7" fmla="val 56"/>
                <a:gd name="f8" fmla="val 55"/>
                <a:gd name="f9" fmla="val 45"/>
                <a:gd name="f10" fmla="val 35"/>
                <a:gd name="f11" fmla="val 16"/>
                <a:gd name="f12" fmla="val 25"/>
                <a:gd name="f13" fmla="val 12"/>
                <a:gd name="f14" fmla="val 20"/>
                <a:gd name="f15" fmla="val 38"/>
                <a:gd name="f16" fmla="val 31"/>
                <a:gd name="f17" fmla="val 39"/>
                <a:gd name="f18" fmla="val 51"/>
                <a:gd name="f19" fmla="val 60"/>
                <a:gd name="f20" fmla="+- 0 0 -90"/>
                <a:gd name="f21" fmla="*/ f3 1 70"/>
                <a:gd name="f22" fmla="*/ f4 1 56"/>
                <a:gd name="f23" fmla="+- f7 0 f5"/>
                <a:gd name="f24" fmla="+- f6 0 f5"/>
                <a:gd name="f25" fmla="*/ f20 f0 1"/>
                <a:gd name="f26" fmla="*/ f24 1 70"/>
                <a:gd name="f27" fmla="*/ f23 1 56"/>
                <a:gd name="f28" fmla="*/ 55 f24 1"/>
                <a:gd name="f29" fmla="*/ 56 f23 1"/>
                <a:gd name="f30" fmla="*/ 45 f24 1"/>
                <a:gd name="f31" fmla="*/ 35 f24 1"/>
                <a:gd name="f32" fmla="*/ 16 f23 1"/>
                <a:gd name="f33" fmla="*/ 25 f24 1"/>
                <a:gd name="f34" fmla="*/ 16 f24 1"/>
                <a:gd name="f35" fmla="*/ 0 f24 1"/>
                <a:gd name="f36" fmla="*/ 0 f23 1"/>
                <a:gd name="f37" fmla="*/ 12 f24 1"/>
                <a:gd name="f38" fmla="*/ 20 f24 1"/>
                <a:gd name="f39" fmla="*/ 38 f23 1"/>
                <a:gd name="f40" fmla="*/ 31 f24 1"/>
                <a:gd name="f41" fmla="*/ 39 f24 1"/>
                <a:gd name="f42" fmla="*/ 51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8" y="f7"/>
                  </a:moveTo>
                  <a:lnTo>
                    <a:pt x="f9" y="f7"/>
                  </a:lnTo>
                  <a:lnTo>
                    <a:pt x="f10" y="f11"/>
                  </a:lnTo>
                  <a:lnTo>
                    <a:pt x="f12" y="f7"/>
                  </a:lnTo>
                  <a:lnTo>
                    <a:pt x="f11" y="f7"/>
                  </a:lnTo>
                  <a:lnTo>
                    <a:pt x="f5" y="f5"/>
                  </a:lnTo>
                  <a:lnTo>
                    <a:pt x="f13" y="f5"/>
                  </a:lnTo>
                  <a:lnTo>
                    <a:pt x="f14" y="f15"/>
                  </a:lnTo>
                  <a:lnTo>
                    <a:pt x="f16" y="f5"/>
                  </a:lnTo>
                  <a:lnTo>
                    <a:pt x="f17" y="f5"/>
                  </a:lnTo>
                  <a:lnTo>
                    <a:pt x="f18" y="f15"/>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4" name="Freeform 66">
              <a:extLst>
                <a:ext uri="{FF2B5EF4-FFF2-40B4-BE49-F238E27FC236}">
                  <a16:creationId xmlns:a16="http://schemas.microsoft.com/office/drawing/2014/main" id="{AFC75805-0B50-7F31-010F-62BEB77B731E}"/>
                </a:ext>
              </a:extLst>
            </p:cNvPr>
            <p:cNvSpPr/>
            <p:nvPr/>
          </p:nvSpPr>
          <p:spPr>
            <a:xfrm>
              <a:off x="2360916" y="6293924"/>
              <a:ext cx="88879" cy="102879"/>
            </a:xfrm>
            <a:custGeom>
              <a:avLst/>
              <a:gdLst>
                <a:gd name="f0" fmla="val 10800000"/>
                <a:gd name="f1" fmla="val 5400000"/>
                <a:gd name="f2" fmla="val 180"/>
                <a:gd name="f3" fmla="val w"/>
                <a:gd name="f4" fmla="val h"/>
                <a:gd name="f5" fmla="val 0"/>
                <a:gd name="f6" fmla="val 35"/>
                <a:gd name="f7" fmla="val 40"/>
                <a:gd name="f8" fmla="val 20"/>
                <a:gd name="f9" fmla="val 23"/>
                <a:gd name="f10" fmla="val 34"/>
                <a:gd name="f11" fmla="val 26"/>
                <a:gd name="f12" fmla="val 33"/>
                <a:gd name="f13" fmla="val 28"/>
                <a:gd name="f14" fmla="val 32"/>
                <a:gd name="f15" fmla="val 31"/>
                <a:gd name="f16" fmla="val 30"/>
                <a:gd name="f17" fmla="val 37"/>
                <a:gd name="f18" fmla="val 38"/>
                <a:gd name="f19" fmla="val 24"/>
                <a:gd name="f20" fmla="val 39"/>
                <a:gd name="f21" fmla="val 22"/>
                <a:gd name="f22" fmla="val 17"/>
                <a:gd name="f23" fmla="val 15"/>
                <a:gd name="f24" fmla="val 13"/>
                <a:gd name="f25" fmla="val 11"/>
                <a:gd name="f26" fmla="val 8"/>
                <a:gd name="f27" fmla="val 7"/>
                <a:gd name="f28" fmla="val 36"/>
                <a:gd name="f29" fmla="val 5"/>
                <a:gd name="f30" fmla="val 4"/>
                <a:gd name="f31" fmla="val 2"/>
                <a:gd name="f32" fmla="val 1"/>
                <a:gd name="f33" fmla="val 14"/>
                <a:gd name="f34" fmla="val 12"/>
                <a:gd name="f35" fmla="val 3"/>
                <a:gd name="f36" fmla="val 9"/>
                <a:gd name="f37" fmla="val 18"/>
                <a:gd name="f38" fmla="val 27"/>
                <a:gd name="f39" fmla="val 16"/>
                <a:gd name="f40" fmla="val 25"/>
                <a:gd name="f41" fmla="val 10"/>
                <a:gd name="f42" fmla="val 21"/>
                <a:gd name="f43" fmla="val 19"/>
                <a:gd name="f44" fmla="val 29"/>
                <a:gd name="f45" fmla="+- 0 0 -90"/>
                <a:gd name="f46" fmla="*/ f3 1 35"/>
                <a:gd name="f47" fmla="*/ f4 1 40"/>
                <a:gd name="f48" fmla="+- f7 0 f5"/>
                <a:gd name="f49" fmla="+- f6 0 f5"/>
                <a:gd name="f50" fmla="*/ f45 f0 1"/>
                <a:gd name="f51" fmla="*/ f49 1 35"/>
                <a:gd name="f52" fmla="*/ f48 1 40"/>
                <a:gd name="f53" fmla="*/ 35 f49 1"/>
                <a:gd name="f54" fmla="*/ 20 f48 1"/>
                <a:gd name="f55" fmla="*/ 33 f49 1"/>
                <a:gd name="f56" fmla="*/ 28 f48 1"/>
                <a:gd name="f57" fmla="*/ 30 f49 1"/>
                <a:gd name="f58" fmla="*/ 35 f48 1"/>
                <a:gd name="f59" fmla="*/ 24 f49 1"/>
                <a:gd name="f60" fmla="*/ 39 f48 1"/>
                <a:gd name="f61" fmla="*/ 17 f49 1"/>
                <a:gd name="f62" fmla="*/ 40 f48 1"/>
                <a:gd name="f63" fmla="*/ 11 f49 1"/>
                <a:gd name="f64" fmla="*/ 5 f49 1"/>
                <a:gd name="f65" fmla="*/ 2 f49 1"/>
                <a:gd name="f66" fmla="*/ 0 f49 1"/>
                <a:gd name="f67" fmla="*/ 12 f48 1"/>
                <a:gd name="f68" fmla="*/ 5 f48 1"/>
                <a:gd name="f69" fmla="*/ 1 f48 1"/>
                <a:gd name="f70" fmla="*/ 18 f49 1"/>
                <a:gd name="f71" fmla="*/ 0 f48 1"/>
                <a:gd name="f72" fmla="*/ 27 f49 1"/>
                <a:gd name="f73" fmla="*/ 26 f49 1"/>
                <a:gd name="f74" fmla="*/ 15 f48 1"/>
                <a:gd name="f75" fmla="*/ 11 f48 1"/>
                <a:gd name="f76" fmla="*/ 21 f49 1"/>
                <a:gd name="f77" fmla="*/ 8 f48 1"/>
                <a:gd name="f78" fmla="*/ 7 f48 1"/>
                <a:gd name="f79" fmla="*/ 13 f49 1"/>
                <a:gd name="f80" fmla="*/ 10 f49 1"/>
                <a:gd name="f81" fmla="*/ 9 f49 1"/>
                <a:gd name="f82" fmla="*/ 8 f49 1"/>
                <a:gd name="f83" fmla="*/ 26 f48 1"/>
                <a:gd name="f84" fmla="*/ 30 f48 1"/>
                <a:gd name="f85" fmla="*/ 14 f49 1"/>
                <a:gd name="f86" fmla="*/ 32 f48 1"/>
                <a:gd name="f87" fmla="*/ 33 f48 1"/>
                <a:gd name="f88" fmla="*/ 29 f48 1"/>
                <a:gd name="f89" fmla="*/ 25 f48 1"/>
                <a:gd name="f90" fmla="*/ f50 1 f2"/>
                <a:gd name="f91" fmla="*/ f53 1 35"/>
                <a:gd name="f92" fmla="*/ f54 1 40"/>
                <a:gd name="f93" fmla="*/ f55 1 35"/>
                <a:gd name="f94" fmla="*/ f56 1 40"/>
                <a:gd name="f95" fmla="*/ f57 1 35"/>
                <a:gd name="f96" fmla="*/ f58 1 40"/>
                <a:gd name="f97" fmla="*/ f59 1 35"/>
                <a:gd name="f98" fmla="*/ f60 1 40"/>
                <a:gd name="f99" fmla="*/ f61 1 35"/>
                <a:gd name="f100" fmla="*/ f62 1 40"/>
                <a:gd name="f101" fmla="*/ f63 1 35"/>
                <a:gd name="f102" fmla="*/ f64 1 35"/>
                <a:gd name="f103" fmla="*/ f65 1 35"/>
                <a:gd name="f104" fmla="*/ f66 1 35"/>
                <a:gd name="f105" fmla="*/ f67 1 40"/>
                <a:gd name="f106" fmla="*/ f68 1 40"/>
                <a:gd name="f107" fmla="*/ f69 1 40"/>
                <a:gd name="f108" fmla="*/ f70 1 35"/>
                <a:gd name="f109" fmla="*/ f71 1 40"/>
                <a:gd name="f110" fmla="*/ f72 1 35"/>
                <a:gd name="f111" fmla="*/ f73 1 35"/>
                <a:gd name="f112" fmla="*/ f74 1 40"/>
                <a:gd name="f113" fmla="*/ f75 1 40"/>
                <a:gd name="f114" fmla="*/ f76 1 35"/>
                <a:gd name="f115" fmla="*/ f77 1 40"/>
                <a:gd name="f116" fmla="*/ f78 1 40"/>
                <a:gd name="f117" fmla="*/ f79 1 35"/>
                <a:gd name="f118" fmla="*/ f80 1 35"/>
                <a:gd name="f119" fmla="*/ f81 1 35"/>
                <a:gd name="f120" fmla="*/ f82 1 35"/>
                <a:gd name="f121" fmla="*/ f83 1 40"/>
                <a:gd name="f122" fmla="*/ f84 1 40"/>
                <a:gd name="f123" fmla="*/ f85 1 35"/>
                <a:gd name="f124" fmla="*/ f86 1 40"/>
                <a:gd name="f125" fmla="*/ f87 1 40"/>
                <a:gd name="f126" fmla="*/ f88 1 40"/>
                <a:gd name="f127" fmla="*/ f89 1 40"/>
                <a:gd name="f128" fmla="*/ 0 1 f51"/>
                <a:gd name="f129" fmla="*/ f6 1 f51"/>
                <a:gd name="f130" fmla="*/ 0 1 f52"/>
                <a:gd name="f131" fmla="*/ f7 1 f52"/>
                <a:gd name="f132" fmla="+- f90 0 f1"/>
                <a:gd name="f133" fmla="*/ f91 1 f51"/>
                <a:gd name="f134" fmla="*/ f92 1 f52"/>
                <a:gd name="f135" fmla="*/ f93 1 f51"/>
                <a:gd name="f136" fmla="*/ f94 1 f52"/>
                <a:gd name="f137" fmla="*/ f95 1 f51"/>
                <a:gd name="f138" fmla="*/ f96 1 f52"/>
                <a:gd name="f139" fmla="*/ f97 1 f51"/>
                <a:gd name="f140" fmla="*/ f98 1 f52"/>
                <a:gd name="f141" fmla="*/ f99 1 f51"/>
                <a:gd name="f142" fmla="*/ f100 1 f52"/>
                <a:gd name="f143" fmla="*/ f101 1 f51"/>
                <a:gd name="f144" fmla="*/ f102 1 f51"/>
                <a:gd name="f145" fmla="*/ f103 1 f51"/>
                <a:gd name="f146" fmla="*/ f104 1 f51"/>
                <a:gd name="f147" fmla="*/ f105 1 f52"/>
                <a:gd name="f148" fmla="*/ f106 1 f52"/>
                <a:gd name="f149" fmla="*/ f107 1 f52"/>
                <a:gd name="f150" fmla="*/ f108 1 f51"/>
                <a:gd name="f151" fmla="*/ f109 1 f52"/>
                <a:gd name="f152" fmla="*/ f110 1 f51"/>
                <a:gd name="f153" fmla="*/ f111 1 f51"/>
                <a:gd name="f154" fmla="*/ f112 1 f52"/>
                <a:gd name="f155" fmla="*/ f113 1 f52"/>
                <a:gd name="f156" fmla="*/ f114 1 f51"/>
                <a:gd name="f157" fmla="*/ f115 1 f52"/>
                <a:gd name="f158" fmla="*/ f116 1 f52"/>
                <a:gd name="f159" fmla="*/ f117 1 f51"/>
                <a:gd name="f160" fmla="*/ f118 1 f51"/>
                <a:gd name="f161" fmla="*/ f119 1 f51"/>
                <a:gd name="f162" fmla="*/ f120 1 f51"/>
                <a:gd name="f163" fmla="*/ f121 1 f52"/>
                <a:gd name="f164" fmla="*/ f122 1 f52"/>
                <a:gd name="f165" fmla="*/ f123 1 f51"/>
                <a:gd name="f166" fmla="*/ f124 1 f52"/>
                <a:gd name="f167" fmla="*/ f125 1 f52"/>
                <a:gd name="f168" fmla="*/ f126 1 f52"/>
                <a:gd name="f169" fmla="*/ f127 1 f52"/>
                <a:gd name="f170" fmla="*/ f128 f46 1"/>
                <a:gd name="f171" fmla="*/ f129 f46 1"/>
                <a:gd name="f172" fmla="*/ f131 f47 1"/>
                <a:gd name="f173" fmla="*/ f130 f47 1"/>
                <a:gd name="f174" fmla="*/ f133 f46 1"/>
                <a:gd name="f175" fmla="*/ f134 f47 1"/>
                <a:gd name="f176" fmla="*/ f135 f46 1"/>
                <a:gd name="f177" fmla="*/ f136 f47 1"/>
                <a:gd name="f178" fmla="*/ f137 f46 1"/>
                <a:gd name="f179" fmla="*/ f138 f47 1"/>
                <a:gd name="f180" fmla="*/ f139 f46 1"/>
                <a:gd name="f181" fmla="*/ f140 f47 1"/>
                <a:gd name="f182" fmla="*/ f141 f46 1"/>
                <a:gd name="f183" fmla="*/ f142 f47 1"/>
                <a:gd name="f184" fmla="*/ f143 f46 1"/>
                <a:gd name="f185" fmla="*/ f144 f46 1"/>
                <a:gd name="f186" fmla="*/ f145 f46 1"/>
                <a:gd name="f187" fmla="*/ f146 f46 1"/>
                <a:gd name="f188" fmla="*/ f147 f47 1"/>
                <a:gd name="f189" fmla="*/ f148 f47 1"/>
                <a:gd name="f190" fmla="*/ f149 f47 1"/>
                <a:gd name="f191" fmla="*/ f150 f46 1"/>
                <a:gd name="f192" fmla="*/ f151 f47 1"/>
                <a:gd name="f193" fmla="*/ f152 f46 1"/>
                <a:gd name="f194" fmla="*/ f153 f46 1"/>
                <a:gd name="f195" fmla="*/ f154 f47 1"/>
                <a:gd name="f196" fmla="*/ f155 f47 1"/>
                <a:gd name="f197" fmla="*/ f156 f46 1"/>
                <a:gd name="f198" fmla="*/ f157 f47 1"/>
                <a:gd name="f199" fmla="*/ f158 f47 1"/>
                <a:gd name="f200" fmla="*/ f159 f46 1"/>
                <a:gd name="f201" fmla="*/ f160 f46 1"/>
                <a:gd name="f202" fmla="*/ f161 f46 1"/>
                <a:gd name="f203" fmla="*/ f162 f46 1"/>
                <a:gd name="f204" fmla="*/ f163 f47 1"/>
                <a:gd name="f205" fmla="*/ f164 f47 1"/>
                <a:gd name="f206" fmla="*/ f165 f46 1"/>
                <a:gd name="f207" fmla="*/ f166 f47 1"/>
                <a:gd name="f208" fmla="*/ f167 f47 1"/>
                <a:gd name="f209" fmla="*/ f168 f47 1"/>
                <a:gd name="f210" fmla="*/ f169 f47 1"/>
              </a:gdLst>
              <a:ahLst/>
              <a:cxnLst>
                <a:cxn ang="3cd4">
                  <a:pos x="hc" y="t"/>
                </a:cxn>
                <a:cxn ang="0">
                  <a:pos x="r" y="vc"/>
                </a:cxn>
                <a:cxn ang="cd4">
                  <a:pos x="hc" y="b"/>
                </a:cxn>
                <a:cxn ang="cd2">
                  <a:pos x="l" y="vc"/>
                </a:cxn>
                <a:cxn ang="f132">
                  <a:pos x="f174" y="f175"/>
                </a:cxn>
                <a:cxn ang="f132">
                  <a:pos x="f176" y="f177"/>
                </a:cxn>
                <a:cxn ang="f132">
                  <a:pos x="f178" y="f179"/>
                </a:cxn>
                <a:cxn ang="f132">
                  <a:pos x="f180" y="f181"/>
                </a:cxn>
                <a:cxn ang="f132">
                  <a:pos x="f182" y="f183"/>
                </a:cxn>
                <a:cxn ang="f132">
                  <a:pos x="f184" y="f181"/>
                </a:cxn>
                <a:cxn ang="f132">
                  <a:pos x="f185" y="f179"/>
                </a:cxn>
                <a:cxn ang="f132">
                  <a:pos x="f186" y="f177"/>
                </a:cxn>
                <a:cxn ang="f132">
                  <a:pos x="f187" y="f175"/>
                </a:cxn>
                <a:cxn ang="f132">
                  <a:pos x="f186" y="f188"/>
                </a:cxn>
                <a:cxn ang="f132">
                  <a:pos x="f185" y="f189"/>
                </a:cxn>
                <a:cxn ang="f132">
                  <a:pos x="f184" y="f190"/>
                </a:cxn>
                <a:cxn ang="f132">
                  <a:pos x="f191" y="f192"/>
                </a:cxn>
                <a:cxn ang="f132">
                  <a:pos x="f180" y="f190"/>
                </a:cxn>
                <a:cxn ang="f132">
                  <a:pos x="f178" y="f189"/>
                </a:cxn>
                <a:cxn ang="f132">
                  <a:pos x="f176" y="f188"/>
                </a:cxn>
                <a:cxn ang="f132">
                  <a:pos x="f174" y="f175"/>
                </a:cxn>
                <a:cxn ang="f132">
                  <a:pos x="f193" y="f175"/>
                </a:cxn>
                <a:cxn ang="f132">
                  <a:pos x="f194" y="f195"/>
                </a:cxn>
                <a:cxn ang="f132">
                  <a:pos x="f180" y="f196"/>
                </a:cxn>
                <a:cxn ang="f132">
                  <a:pos x="f197" y="f198"/>
                </a:cxn>
                <a:cxn ang="f132">
                  <a:pos x="f182" y="f199"/>
                </a:cxn>
                <a:cxn ang="f132">
                  <a:pos x="f200" y="f198"/>
                </a:cxn>
                <a:cxn ang="f132">
                  <a:pos x="f201" y="f196"/>
                </a:cxn>
                <a:cxn ang="f132">
                  <a:pos x="f202" y="f195"/>
                </a:cxn>
                <a:cxn ang="f132">
                  <a:pos x="f203" y="f175"/>
                </a:cxn>
                <a:cxn ang="f132">
                  <a:pos x="f202" y="f204"/>
                </a:cxn>
                <a:cxn ang="f132">
                  <a:pos x="f184" y="f205"/>
                </a:cxn>
                <a:cxn ang="f132">
                  <a:pos x="f206" y="f207"/>
                </a:cxn>
                <a:cxn ang="f132">
                  <a:pos x="f191" y="f208"/>
                </a:cxn>
                <a:cxn ang="f132">
                  <a:pos x="f197" y="f207"/>
                </a:cxn>
                <a:cxn ang="f132">
                  <a:pos x="f180" y="f209"/>
                </a:cxn>
                <a:cxn ang="f132">
                  <a:pos x="f194" y="f210"/>
                </a:cxn>
                <a:cxn ang="f132">
                  <a:pos x="f193" y="f175"/>
                </a:cxn>
              </a:cxnLst>
              <a:rect l="f170" t="f173" r="f171" b="f172"/>
              <a:pathLst>
                <a:path w="35" h="40">
                  <a:moveTo>
                    <a:pt x="f6" y="f8"/>
                  </a:moveTo>
                  <a:cubicBezTo>
                    <a:pt x="f6" y="f9"/>
                    <a:pt x="f10" y="f11"/>
                    <a:pt x="f12" y="f13"/>
                  </a:cubicBezTo>
                  <a:cubicBezTo>
                    <a:pt x="f14" y="f15"/>
                    <a:pt x="f15" y="f12"/>
                    <a:pt x="f16" y="f6"/>
                  </a:cubicBezTo>
                  <a:cubicBezTo>
                    <a:pt x="f13" y="f17"/>
                    <a:pt x="f11" y="f18"/>
                    <a:pt x="f19" y="f20"/>
                  </a:cubicBezTo>
                  <a:cubicBezTo>
                    <a:pt x="f21" y="f7"/>
                    <a:pt x="f8" y="f7"/>
                    <a:pt x="f22" y="f7"/>
                  </a:cubicBezTo>
                  <a:cubicBezTo>
                    <a:pt x="f23" y="f7"/>
                    <a:pt x="f24" y="f7"/>
                    <a:pt x="f25" y="f20"/>
                  </a:cubicBezTo>
                  <a:cubicBezTo>
                    <a:pt x="f26" y="f18"/>
                    <a:pt x="f27" y="f28"/>
                    <a:pt x="f29" y="f6"/>
                  </a:cubicBezTo>
                  <a:cubicBezTo>
                    <a:pt x="f30" y="f12"/>
                    <a:pt x="f31" y="f15"/>
                    <a:pt x="f31" y="f13"/>
                  </a:cubicBezTo>
                  <a:cubicBezTo>
                    <a:pt x="f32" y="f11"/>
                    <a:pt x="f5" y="f9"/>
                    <a:pt x="f5" y="f8"/>
                  </a:cubicBezTo>
                  <a:cubicBezTo>
                    <a:pt x="f5" y="f22"/>
                    <a:pt x="f32" y="f33"/>
                    <a:pt x="f31" y="f34"/>
                  </a:cubicBezTo>
                  <a:cubicBezTo>
                    <a:pt x="f35" y="f36"/>
                    <a:pt x="f30" y="f27"/>
                    <a:pt x="f29" y="f29"/>
                  </a:cubicBezTo>
                  <a:cubicBezTo>
                    <a:pt x="f27" y="f30"/>
                    <a:pt x="f36" y="f31"/>
                    <a:pt x="f25" y="f32"/>
                  </a:cubicBezTo>
                  <a:cubicBezTo>
                    <a:pt x="f24" y="f32"/>
                    <a:pt x="f23" y="f5"/>
                    <a:pt x="f37" y="f5"/>
                  </a:cubicBezTo>
                  <a:cubicBezTo>
                    <a:pt x="f8" y="f5"/>
                    <a:pt x="f21" y="f32"/>
                    <a:pt x="f19" y="f32"/>
                  </a:cubicBezTo>
                  <a:cubicBezTo>
                    <a:pt x="f11" y="f31"/>
                    <a:pt x="f13" y="f30"/>
                    <a:pt x="f16" y="f29"/>
                  </a:cubicBezTo>
                  <a:cubicBezTo>
                    <a:pt x="f15" y="f27"/>
                    <a:pt x="f14" y="f36"/>
                    <a:pt x="f12" y="f34"/>
                  </a:cubicBezTo>
                  <a:cubicBezTo>
                    <a:pt x="f10" y="f33"/>
                    <a:pt x="f6" y="f22"/>
                    <a:pt x="f6" y="f8"/>
                  </a:cubicBezTo>
                  <a:close/>
                  <a:moveTo>
                    <a:pt x="f38" y="f8"/>
                  </a:moveTo>
                  <a:cubicBezTo>
                    <a:pt x="f38" y="f37"/>
                    <a:pt x="f38" y="f39"/>
                    <a:pt x="f11" y="f23"/>
                  </a:cubicBezTo>
                  <a:cubicBezTo>
                    <a:pt x="f11" y="f24"/>
                    <a:pt x="f40" y="f34"/>
                    <a:pt x="f19" y="f25"/>
                  </a:cubicBezTo>
                  <a:cubicBezTo>
                    <a:pt x="f19" y="f41"/>
                    <a:pt x="f9" y="f36"/>
                    <a:pt x="f42" y="f26"/>
                  </a:cubicBezTo>
                  <a:cubicBezTo>
                    <a:pt x="f8" y="f26"/>
                    <a:pt x="f43" y="f27"/>
                    <a:pt x="f22" y="f27"/>
                  </a:cubicBezTo>
                  <a:cubicBezTo>
                    <a:pt x="f39" y="f27"/>
                    <a:pt x="f33" y="f26"/>
                    <a:pt x="f24" y="f26"/>
                  </a:cubicBezTo>
                  <a:cubicBezTo>
                    <a:pt x="f34" y="f36"/>
                    <a:pt x="f25" y="f41"/>
                    <a:pt x="f41" y="f25"/>
                  </a:cubicBezTo>
                  <a:cubicBezTo>
                    <a:pt x="f41" y="f34"/>
                    <a:pt x="f36" y="f24"/>
                    <a:pt x="f36" y="f23"/>
                  </a:cubicBezTo>
                  <a:cubicBezTo>
                    <a:pt x="f26" y="f39"/>
                    <a:pt x="f26" y="f37"/>
                    <a:pt x="f26" y="f8"/>
                  </a:cubicBezTo>
                  <a:cubicBezTo>
                    <a:pt x="f26" y="f21"/>
                    <a:pt x="f26" y="f19"/>
                    <a:pt x="f36" y="f11"/>
                  </a:cubicBezTo>
                  <a:cubicBezTo>
                    <a:pt x="f36" y="f38"/>
                    <a:pt x="f41" y="f13"/>
                    <a:pt x="f25" y="f16"/>
                  </a:cubicBezTo>
                  <a:cubicBezTo>
                    <a:pt x="f25" y="f15"/>
                    <a:pt x="f34" y="f14"/>
                    <a:pt x="f33" y="f14"/>
                  </a:cubicBezTo>
                  <a:cubicBezTo>
                    <a:pt x="f23" y="f12"/>
                    <a:pt x="f39" y="f12"/>
                    <a:pt x="f37" y="f12"/>
                  </a:cubicBezTo>
                  <a:cubicBezTo>
                    <a:pt x="f43" y="f12"/>
                    <a:pt x="f8" y="f12"/>
                    <a:pt x="f42" y="f14"/>
                  </a:cubicBezTo>
                  <a:cubicBezTo>
                    <a:pt x="f9" y="f15"/>
                    <a:pt x="f19" y="f16"/>
                    <a:pt x="f19" y="f44"/>
                  </a:cubicBezTo>
                  <a:cubicBezTo>
                    <a:pt x="f40" y="f13"/>
                    <a:pt x="f11" y="f38"/>
                    <a:pt x="f11" y="f40"/>
                  </a:cubicBezTo>
                  <a:cubicBezTo>
                    <a:pt x="f38" y="f19"/>
                    <a:pt x="f38" y="f21"/>
                    <a:pt x="f38"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5" name="Freeform 67">
              <a:extLst>
                <a:ext uri="{FF2B5EF4-FFF2-40B4-BE49-F238E27FC236}">
                  <a16:creationId xmlns:a16="http://schemas.microsoft.com/office/drawing/2014/main" id="{407ABEDB-A1E7-5754-A821-6BAFD1EB598D}"/>
                </a:ext>
              </a:extLst>
            </p:cNvPr>
            <p:cNvSpPr/>
            <p:nvPr/>
          </p:nvSpPr>
          <p:spPr>
            <a:xfrm>
              <a:off x="2467224" y="6293924"/>
              <a:ext cx="59253"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6"/>
                <a:gd name="f17" fmla="val 13"/>
                <a:gd name="f18" fmla="val 11"/>
                <a:gd name="f19" fmla="val 10"/>
                <a:gd name="f20" fmla="val 12"/>
                <a:gd name="f21" fmla="val 14"/>
                <a:gd name="f22" fmla="val 1"/>
                <a:gd name="f23" fmla="val 5"/>
                <a:gd name="f24" fmla="val 4"/>
                <a:gd name="f25" fmla="val 3"/>
                <a:gd name="f26" fmla="val 2"/>
                <a:gd name="f27" fmla="val 15"/>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9 f33 1"/>
                <a:gd name="f40" fmla="*/ 8 f32 1"/>
                <a:gd name="f41" fmla="*/ 16 f33 1"/>
                <a:gd name="f42" fmla="*/ 7 f32 1"/>
                <a:gd name="f43" fmla="*/ 10 f33 1"/>
                <a:gd name="f44" fmla="*/ 10 f32 1"/>
                <a:gd name="f45" fmla="*/ 8 f33 1"/>
                <a:gd name="f46" fmla="*/ 17 f32 1"/>
                <a:gd name="f47" fmla="*/ 39 f32 1"/>
                <a:gd name="f48" fmla="*/ 0 f33 1"/>
                <a:gd name="f49" fmla="*/ 1 f32 1"/>
                <a:gd name="f50" fmla="*/ 5 f32 1"/>
                <a:gd name="f51" fmla="*/ 3 f32 1"/>
                <a:gd name="f52" fmla="*/ 12 f33 1"/>
                <a:gd name="f53" fmla="*/ 14 f33 1"/>
                <a:gd name="f54" fmla="*/ 0 f32 1"/>
                <a:gd name="f55" fmla="*/ 17 f33 1"/>
                <a:gd name="f56" fmla="*/ 23 f33 1"/>
                <a:gd name="f57" fmla="*/ 2 f32 1"/>
                <a:gd name="f58" fmla="*/ f34 1 f2"/>
                <a:gd name="f59" fmla="*/ f37 1 23"/>
                <a:gd name="f60" fmla="*/ f38 1 39"/>
                <a:gd name="f61" fmla="*/ f39 1 23"/>
                <a:gd name="f62" fmla="*/ f40 1 39"/>
                <a:gd name="f63" fmla="*/ f41 1 23"/>
                <a:gd name="f64" fmla="*/ f42 1 39"/>
                <a:gd name="f65" fmla="*/ f43 1 23"/>
                <a:gd name="f66" fmla="*/ f44 1 39"/>
                <a:gd name="f67" fmla="*/ f45 1 23"/>
                <a:gd name="f68" fmla="*/ f46 1 39"/>
                <a:gd name="f69" fmla="*/ f47 1 39"/>
                <a:gd name="f70" fmla="*/ f48 1 23"/>
                <a:gd name="f71" fmla="*/ f49 1 39"/>
                <a:gd name="f72" fmla="*/ f50 1 39"/>
                <a:gd name="f73" fmla="*/ f51 1 39"/>
                <a:gd name="f74" fmla="*/ f52 1 23"/>
                <a:gd name="f75" fmla="*/ f53 1 23"/>
                <a:gd name="f76" fmla="*/ f54 1 39"/>
                <a:gd name="f77" fmla="*/ f55 1 23"/>
                <a:gd name="f78" fmla="*/ f56 1 23"/>
                <a:gd name="f79" fmla="*/ f57 1 39"/>
                <a:gd name="f80" fmla="*/ 0 1 f35"/>
                <a:gd name="f81" fmla="*/ f6 1 f35"/>
                <a:gd name="f82" fmla="*/ 0 1 f36"/>
                <a:gd name="f83" fmla="*/ f7 1 f36"/>
                <a:gd name="f84" fmla="+- f58 0 f1"/>
                <a:gd name="f85" fmla="*/ f59 1 f35"/>
                <a:gd name="f86" fmla="*/ f60 1 f36"/>
                <a:gd name="f87" fmla="*/ f61 1 f35"/>
                <a:gd name="f88" fmla="*/ f62 1 f36"/>
                <a:gd name="f89" fmla="*/ f63 1 f35"/>
                <a:gd name="f90" fmla="*/ f64 1 f36"/>
                <a:gd name="f91" fmla="*/ f65 1 f35"/>
                <a:gd name="f92" fmla="*/ f66 1 f36"/>
                <a:gd name="f93" fmla="*/ f67 1 f35"/>
                <a:gd name="f94" fmla="*/ f68 1 f36"/>
                <a:gd name="f95" fmla="*/ f69 1 f36"/>
                <a:gd name="f96" fmla="*/ f70 1 f35"/>
                <a:gd name="f97" fmla="*/ f71 1 f36"/>
                <a:gd name="f98" fmla="*/ f72 1 f36"/>
                <a:gd name="f99" fmla="*/ f73 1 f36"/>
                <a:gd name="f100" fmla="*/ f74 1 f35"/>
                <a:gd name="f101" fmla="*/ f75 1 f35"/>
                <a:gd name="f102" fmla="*/ f76 1 f36"/>
                <a:gd name="f103" fmla="*/ f77 1 f35"/>
                <a:gd name="f104" fmla="*/ f78 1 f35"/>
                <a:gd name="f105" fmla="*/ f79 1 f36"/>
                <a:gd name="f106" fmla="*/ f80 f30 1"/>
                <a:gd name="f107" fmla="*/ f81 f30 1"/>
                <a:gd name="f108" fmla="*/ f83 f31 1"/>
                <a:gd name="f109" fmla="*/ f82 f31 1"/>
                <a:gd name="f110" fmla="*/ f85 f30 1"/>
                <a:gd name="f111" fmla="*/ f86 f31 1"/>
                <a:gd name="f112" fmla="*/ f87 f30 1"/>
                <a:gd name="f113" fmla="*/ f88 f31 1"/>
                <a:gd name="f114" fmla="*/ f89 f30 1"/>
                <a:gd name="f115" fmla="*/ f90 f31 1"/>
                <a:gd name="f116" fmla="*/ f91 f30 1"/>
                <a:gd name="f117" fmla="*/ f92 f31 1"/>
                <a:gd name="f118" fmla="*/ f93 f30 1"/>
                <a:gd name="f119" fmla="*/ f94 f31 1"/>
                <a:gd name="f120" fmla="*/ f95 f31 1"/>
                <a:gd name="f121" fmla="*/ f96 f30 1"/>
                <a:gd name="f122" fmla="*/ f97 f31 1"/>
                <a:gd name="f123" fmla="*/ f98 f31 1"/>
                <a:gd name="f124" fmla="*/ f99 f31 1"/>
                <a:gd name="f125" fmla="*/ f100 f30 1"/>
                <a:gd name="f126" fmla="*/ f101 f30 1"/>
                <a:gd name="f127" fmla="*/ f102 f31 1"/>
                <a:gd name="f128" fmla="*/ f103 f30 1"/>
                <a:gd name="f129" fmla="*/ f104 f30 1"/>
                <a:gd name="f130" fmla="*/ f105 f31 1"/>
              </a:gdLst>
              <a:ahLst/>
              <a:cxnLst>
                <a:cxn ang="3cd4">
                  <a:pos x="hc" y="t"/>
                </a:cxn>
                <a:cxn ang="0">
                  <a:pos x="r" y="vc"/>
                </a:cxn>
                <a:cxn ang="cd4">
                  <a:pos x="hc" y="b"/>
                </a:cxn>
                <a:cxn ang="cd2">
                  <a:pos x="l" y="vc"/>
                </a:cxn>
                <a:cxn ang="f84">
                  <a:pos x="f110" y="f111"/>
                </a:cxn>
                <a:cxn ang="f84">
                  <a:pos x="f112" y="f113"/>
                </a:cxn>
                <a:cxn ang="f84">
                  <a:pos x="f114" y="f115"/>
                </a:cxn>
                <a:cxn ang="f84">
                  <a:pos x="f116" y="f117"/>
                </a:cxn>
                <a:cxn ang="f84">
                  <a:pos x="f118" y="f119"/>
                </a:cxn>
                <a:cxn ang="f84">
                  <a:pos x="f118" y="f120"/>
                </a:cxn>
                <a:cxn ang="f84">
                  <a:pos x="f121" y="f120"/>
                </a:cxn>
                <a:cxn ang="f84">
                  <a:pos x="f121" y="f122"/>
                </a:cxn>
                <a:cxn ang="f84">
                  <a:pos x="f118" y="f122"/>
                </a:cxn>
                <a:cxn ang="f84">
                  <a:pos x="f118" y="f123"/>
                </a:cxn>
                <a:cxn ang="f84">
                  <a:pos x="f116" y="f124"/>
                </a:cxn>
                <a:cxn ang="f84">
                  <a:pos x="f125" y="f122"/>
                </a:cxn>
                <a:cxn ang="f84">
                  <a:pos x="f126" y="f127"/>
                </a:cxn>
                <a:cxn ang="f84">
                  <a:pos x="f128" y="f127"/>
                </a:cxn>
                <a:cxn ang="f84">
                  <a:pos x="f110" y="f122"/>
                </a:cxn>
                <a:cxn ang="f84">
                  <a:pos x="f129" y="f130"/>
                </a:cxn>
                <a:cxn ang="f84">
                  <a:pos x="f110" y="f111"/>
                </a:cxn>
              </a:cxnLst>
              <a:rect l="f106" t="f109" r="f107" b="f108"/>
              <a:pathLst>
                <a:path w="23" h="39">
                  <a:moveTo>
                    <a:pt x="f8" y="f9"/>
                  </a:moveTo>
                  <a:cubicBezTo>
                    <a:pt x="f10" y="f11"/>
                    <a:pt x="f10" y="f11"/>
                    <a:pt x="f12" y="f11"/>
                  </a:cubicBezTo>
                  <a:cubicBezTo>
                    <a:pt x="f13" y="f11"/>
                    <a:pt x="f14" y="f15"/>
                    <a:pt x="f16" y="f15"/>
                  </a:cubicBezTo>
                  <a:cubicBezTo>
                    <a:pt x="f17" y="f15"/>
                    <a:pt x="f18" y="f11"/>
                    <a:pt x="f19" y="f19"/>
                  </a:cubicBezTo>
                  <a:cubicBezTo>
                    <a:pt x="f9"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19" y="f25"/>
                  </a:cubicBezTo>
                  <a:cubicBezTo>
                    <a:pt x="f19" y="f26"/>
                    <a:pt x="f18" y="f26"/>
                    <a:pt x="f20" y="f22"/>
                  </a:cubicBezTo>
                  <a:cubicBezTo>
                    <a:pt x="f20" y="f22"/>
                    <a:pt x="f17" y="f22"/>
                    <a:pt x="f21" y="f5"/>
                  </a:cubicBezTo>
                  <a:cubicBezTo>
                    <a:pt x="f27" y="f5"/>
                    <a:pt x="f16" y="f5"/>
                    <a:pt x="f14" y="f5"/>
                  </a:cubicBezTo>
                  <a:cubicBezTo>
                    <a:pt x="f13" y="f5"/>
                    <a:pt x="f10" y="f5"/>
                    <a:pt x="f8" y="f22"/>
                  </a:cubicBezTo>
                  <a:cubicBezTo>
                    <a:pt x="f28" y="f22"/>
                    <a:pt x="f6"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6" name="Freeform 68">
              <a:extLst>
                <a:ext uri="{FF2B5EF4-FFF2-40B4-BE49-F238E27FC236}">
                  <a16:creationId xmlns:a16="http://schemas.microsoft.com/office/drawing/2014/main" id="{B0C91D24-757D-B5DA-C09D-8BFC5E707F96}"/>
                </a:ext>
              </a:extLst>
            </p:cNvPr>
            <p:cNvSpPr/>
            <p:nvPr/>
          </p:nvSpPr>
          <p:spPr>
            <a:xfrm>
              <a:off x="2543915" y="6259049"/>
              <a:ext cx="76681" cy="136007"/>
            </a:xfrm>
            <a:custGeom>
              <a:avLst/>
              <a:gdLst>
                <a:gd name="f0" fmla="val 10800000"/>
                <a:gd name="f1" fmla="val 5400000"/>
                <a:gd name="f2" fmla="val 180"/>
                <a:gd name="f3" fmla="val w"/>
                <a:gd name="f4" fmla="val h"/>
                <a:gd name="f5" fmla="val 0"/>
                <a:gd name="f6" fmla="val 44"/>
                <a:gd name="f7" fmla="val 78"/>
                <a:gd name="f8" fmla="val 31"/>
                <a:gd name="f9" fmla="val 19"/>
                <a:gd name="f10" fmla="val 50"/>
                <a:gd name="f11" fmla="val 10"/>
                <a:gd name="f12" fmla="val 61"/>
                <a:gd name="f13" fmla="val 6"/>
                <a:gd name="f14" fmla="val 47"/>
                <a:gd name="f15" fmla="val 28"/>
                <a:gd name="f16" fmla="val 22"/>
                <a:gd name="f17" fmla="val 41"/>
                <a:gd name="f18" fmla="val 26"/>
                <a:gd name="f19" fmla="+- 0 0 -90"/>
                <a:gd name="f20" fmla="*/ f3 1 44"/>
                <a:gd name="f21" fmla="*/ f4 1 78"/>
                <a:gd name="f22" fmla="+- f7 0 f5"/>
                <a:gd name="f23" fmla="+- f6 0 f5"/>
                <a:gd name="f24" fmla="*/ f19 f0 1"/>
                <a:gd name="f25" fmla="*/ f23 1 44"/>
                <a:gd name="f26" fmla="*/ f22 1 78"/>
                <a:gd name="f27" fmla="*/ 31 f23 1"/>
                <a:gd name="f28" fmla="*/ 78 f22 1"/>
                <a:gd name="f29" fmla="*/ 19 f23 1"/>
                <a:gd name="f30" fmla="*/ 50 f22 1"/>
                <a:gd name="f31" fmla="*/ 10 f23 1"/>
                <a:gd name="f32" fmla="*/ 61 f22 1"/>
                <a:gd name="f33" fmla="*/ 0 f23 1"/>
                <a:gd name="f34" fmla="*/ 6 f22 1"/>
                <a:gd name="f35" fmla="*/ 0 f22 1"/>
                <a:gd name="f36" fmla="*/ 47 f22 1"/>
                <a:gd name="f37" fmla="*/ 28 f23 1"/>
                <a:gd name="f38" fmla="*/ 22 f22 1"/>
                <a:gd name="f39" fmla="*/ 41 f23 1"/>
                <a:gd name="f40" fmla="*/ 26 f23 1"/>
                <a:gd name="f41" fmla="*/ 41 f22 1"/>
                <a:gd name="f42" fmla="*/ 44 f23 1"/>
                <a:gd name="f43" fmla="*/ f24 1 f2"/>
                <a:gd name="f44" fmla="*/ f27 1 44"/>
                <a:gd name="f45" fmla="*/ f28 1 78"/>
                <a:gd name="f46" fmla="*/ f29 1 44"/>
                <a:gd name="f47" fmla="*/ f30 1 78"/>
                <a:gd name="f48" fmla="*/ f31 1 44"/>
                <a:gd name="f49" fmla="*/ f32 1 78"/>
                <a:gd name="f50" fmla="*/ f33 1 44"/>
                <a:gd name="f51" fmla="*/ f34 1 78"/>
                <a:gd name="f52" fmla="*/ f35 1 78"/>
                <a:gd name="f53" fmla="*/ f36 1 78"/>
                <a:gd name="f54" fmla="*/ f37 1 44"/>
                <a:gd name="f55" fmla="*/ f38 1 78"/>
                <a:gd name="f56" fmla="*/ f39 1 44"/>
                <a:gd name="f57" fmla="*/ f40 1 44"/>
                <a:gd name="f58" fmla="*/ f41 1 78"/>
                <a:gd name="f59" fmla="*/ f42 1 44"/>
                <a:gd name="f60" fmla="*/ 0 1 f25"/>
                <a:gd name="f61" fmla="*/ f6 1 f25"/>
                <a:gd name="f62" fmla="*/ 0 1 f26"/>
                <a:gd name="f63" fmla="*/ f7 1 f26"/>
                <a:gd name="f64" fmla="+- f43 0 f1"/>
                <a:gd name="f65" fmla="*/ f44 1 f25"/>
                <a:gd name="f66" fmla="*/ f45 1 f26"/>
                <a:gd name="f67" fmla="*/ f46 1 f25"/>
                <a:gd name="f68" fmla="*/ f47 1 f26"/>
                <a:gd name="f69" fmla="*/ f48 1 f25"/>
                <a:gd name="f70" fmla="*/ f49 1 f26"/>
                <a:gd name="f71" fmla="*/ f50 1 f25"/>
                <a:gd name="f72" fmla="*/ f51 1 f26"/>
                <a:gd name="f73" fmla="*/ f52 1 f26"/>
                <a:gd name="f74" fmla="*/ f53 1 f26"/>
                <a:gd name="f75" fmla="*/ f54 1 f25"/>
                <a:gd name="f76" fmla="*/ f55 1 f26"/>
                <a:gd name="f77" fmla="*/ f56 1 f25"/>
                <a:gd name="f78" fmla="*/ f57 1 f25"/>
                <a:gd name="f79" fmla="*/ f58 1 f26"/>
                <a:gd name="f80" fmla="*/ f59 1 f25"/>
                <a:gd name="f81" fmla="*/ f60 f20 1"/>
                <a:gd name="f82" fmla="*/ f61 f20 1"/>
                <a:gd name="f83" fmla="*/ f63 f21 1"/>
                <a:gd name="f84" fmla="*/ f62 f21 1"/>
                <a:gd name="f85" fmla="*/ f65 f20 1"/>
                <a:gd name="f86" fmla="*/ f66 f21 1"/>
                <a:gd name="f87" fmla="*/ f67 f20 1"/>
                <a:gd name="f88" fmla="*/ f68 f21 1"/>
                <a:gd name="f89" fmla="*/ f69 f20 1"/>
                <a:gd name="f90" fmla="*/ f70 f21 1"/>
                <a:gd name="f91" fmla="*/ f71 f20 1"/>
                <a:gd name="f92" fmla="*/ f72 f21 1"/>
                <a:gd name="f93" fmla="*/ f73 f21 1"/>
                <a:gd name="f94" fmla="*/ f74 f21 1"/>
                <a:gd name="f95" fmla="*/ f75 f20 1"/>
                <a:gd name="f96" fmla="*/ f76 f21 1"/>
                <a:gd name="f97" fmla="*/ f77 f20 1"/>
                <a:gd name="f98" fmla="*/ f78 f20 1"/>
                <a:gd name="f99" fmla="*/ f79 f21 1"/>
                <a:gd name="f100" fmla="*/ f80 f20 1"/>
              </a:gdLst>
              <a:ahLst/>
              <a:cxnLst>
                <a:cxn ang="3cd4">
                  <a:pos x="hc" y="t"/>
                </a:cxn>
                <a:cxn ang="0">
                  <a:pos x="r" y="vc"/>
                </a:cxn>
                <a:cxn ang="cd4">
                  <a:pos x="hc" y="b"/>
                </a:cxn>
                <a:cxn ang="cd2">
                  <a:pos x="l" y="vc"/>
                </a:cxn>
                <a:cxn ang="f64">
                  <a:pos x="f85" y="f86"/>
                </a:cxn>
                <a:cxn ang="f64">
                  <a:pos x="f87" y="f88"/>
                </a:cxn>
                <a:cxn ang="f64">
                  <a:pos x="f89" y="f90"/>
                </a:cxn>
                <a:cxn ang="f64">
                  <a:pos x="f89" y="f86"/>
                </a:cxn>
                <a:cxn ang="f64">
                  <a:pos x="f91" y="f86"/>
                </a:cxn>
                <a:cxn ang="f64">
                  <a:pos x="f91" y="f92"/>
                </a:cxn>
                <a:cxn ang="f64">
                  <a:pos x="f89" y="f93"/>
                </a:cxn>
                <a:cxn ang="f64">
                  <a:pos x="f89" y="f94"/>
                </a:cxn>
                <a:cxn ang="f64">
                  <a:pos x="f95" y="f96"/>
                </a:cxn>
                <a:cxn ang="f64">
                  <a:pos x="f97" y="f96"/>
                </a:cxn>
                <a:cxn ang="f64">
                  <a:pos x="f98" y="f99"/>
                </a:cxn>
                <a:cxn ang="f64">
                  <a:pos x="f100" y="f86"/>
                </a:cxn>
                <a:cxn ang="f64">
                  <a:pos x="f85" y="f86"/>
                </a:cxn>
              </a:cxnLst>
              <a:rect l="f81" t="f84" r="f82" b="f83"/>
              <a:pathLst>
                <a:path w="44" h="78">
                  <a:moveTo>
                    <a:pt x="f8" y="f7"/>
                  </a:moveTo>
                  <a:lnTo>
                    <a:pt x="f9" y="f10"/>
                  </a:lnTo>
                  <a:lnTo>
                    <a:pt x="f11" y="f12"/>
                  </a:lnTo>
                  <a:lnTo>
                    <a:pt x="f11" y="f7"/>
                  </a:lnTo>
                  <a:lnTo>
                    <a:pt x="f5" y="f7"/>
                  </a:lnTo>
                  <a:lnTo>
                    <a:pt x="f5" y="f13"/>
                  </a:lnTo>
                  <a:lnTo>
                    <a:pt x="f11" y="f5"/>
                  </a:lnTo>
                  <a:lnTo>
                    <a:pt x="f11" y="f14"/>
                  </a:lnTo>
                  <a:lnTo>
                    <a:pt x="f15" y="f16"/>
                  </a:lnTo>
                  <a:lnTo>
                    <a:pt x="f17" y="f16"/>
                  </a:lnTo>
                  <a:lnTo>
                    <a:pt x="f18" y="f17"/>
                  </a:lnTo>
                  <a:lnTo>
                    <a:pt x="f6" y="f7"/>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7" name="Freeform 69">
              <a:extLst>
                <a:ext uri="{FF2B5EF4-FFF2-40B4-BE49-F238E27FC236}">
                  <a16:creationId xmlns:a16="http://schemas.microsoft.com/office/drawing/2014/main" id="{428990B4-5142-E54C-9DE4-AC4B5A82646C}"/>
                </a:ext>
              </a:extLst>
            </p:cNvPr>
            <p:cNvSpPr/>
            <p:nvPr/>
          </p:nvSpPr>
          <p:spPr>
            <a:xfrm>
              <a:off x="2627564" y="6293924"/>
              <a:ext cx="74944" cy="102879"/>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5"/>
                <a:gd name="f11" fmla="val 10"/>
                <a:gd name="f12" fmla="val 23"/>
                <a:gd name="f13" fmla="val 9"/>
                <a:gd name="f14" fmla="val 22"/>
                <a:gd name="f15" fmla="val 8"/>
                <a:gd name="f16" fmla="val 20"/>
                <a:gd name="f17" fmla="val 18"/>
                <a:gd name="f18" fmla="val 7"/>
                <a:gd name="f19" fmla="val 17"/>
                <a:gd name="f20" fmla="val 15"/>
                <a:gd name="f21" fmla="val 13"/>
                <a:gd name="f22" fmla="val 12"/>
                <a:gd name="f23" fmla="val 11"/>
                <a:gd name="f24" fmla="val 14"/>
                <a:gd name="f25" fmla="val 16"/>
                <a:gd name="f26" fmla="val 19"/>
                <a:gd name="f27" fmla="val 21"/>
                <a:gd name="f28" fmla="val 24"/>
                <a:gd name="f29" fmla="val 26"/>
                <a:gd name="f30" fmla="val 27"/>
                <a:gd name="f31" fmla="val 31"/>
                <a:gd name="f32" fmla="val 33"/>
                <a:gd name="f33" fmla="val 34"/>
                <a:gd name="f34" fmla="val 36"/>
                <a:gd name="f35" fmla="val 37"/>
                <a:gd name="f36" fmla="val 38"/>
                <a:gd name="f37" fmla="val 39"/>
                <a:gd name="f38" fmla="val 5"/>
                <a:gd name="f39" fmla="val 2"/>
                <a:gd name="f40" fmla="val 35"/>
                <a:gd name="f41" fmla="val 30"/>
                <a:gd name="f42" fmla="val 6"/>
                <a:gd name="f43" fmla="val 32"/>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5 f50 1"/>
                <a:gd name="f57" fmla="*/ 10 f49 1"/>
                <a:gd name="f58" fmla="*/ 20 f50 1"/>
                <a:gd name="f59" fmla="*/ 8 f49 1"/>
                <a:gd name="f60" fmla="*/ 15 f50 1"/>
                <a:gd name="f61" fmla="*/ 7 f49 1"/>
                <a:gd name="f62" fmla="*/ 11 f50 1"/>
                <a:gd name="f63" fmla="*/ 9 f50 1"/>
                <a:gd name="f64" fmla="*/ 10 f50 1"/>
                <a:gd name="f65" fmla="*/ 12 f49 1"/>
                <a:gd name="f66" fmla="*/ 13 f49 1"/>
                <a:gd name="f67" fmla="*/ 13 f50 1"/>
                <a:gd name="f68" fmla="*/ 14 f49 1"/>
                <a:gd name="f69" fmla="*/ 17 f50 1"/>
                <a:gd name="f70" fmla="*/ 16 f49 1"/>
                <a:gd name="f71" fmla="*/ 22 f50 1"/>
                <a:gd name="f72" fmla="*/ 18 f49 1"/>
                <a:gd name="f73" fmla="*/ 26 f50 1"/>
                <a:gd name="f74" fmla="*/ 21 f49 1"/>
                <a:gd name="f75" fmla="*/ 29 f50 1"/>
                <a:gd name="f76" fmla="*/ 24 f49 1"/>
                <a:gd name="f77" fmla="*/ 29 f49 1"/>
                <a:gd name="f78" fmla="*/ 34 f49 1"/>
                <a:gd name="f79" fmla="*/ 38 f49 1"/>
                <a:gd name="f80" fmla="*/ 21 f50 1"/>
                <a:gd name="f81" fmla="*/ 40 f49 1"/>
                <a:gd name="f82" fmla="*/ 7 f50 1"/>
                <a:gd name="f83" fmla="*/ 39 f49 1"/>
                <a:gd name="f84" fmla="*/ 0 f50 1"/>
                <a:gd name="f85" fmla="*/ 35 f49 1"/>
                <a:gd name="f86" fmla="*/ 4 f50 1"/>
                <a:gd name="f87" fmla="*/ 30 f49 1"/>
                <a:gd name="f88" fmla="*/ 32 f49 1"/>
                <a:gd name="f89" fmla="*/ 33 f49 1"/>
                <a:gd name="f90" fmla="*/ 27 f49 1"/>
                <a:gd name="f91" fmla="*/ 26 f49 1"/>
                <a:gd name="f92" fmla="*/ 23 f49 1"/>
                <a:gd name="f93" fmla="*/ 8 f50 1"/>
                <a:gd name="f94" fmla="*/ 20 f49 1"/>
                <a:gd name="f95" fmla="*/ 2 f50 1"/>
                <a:gd name="f96" fmla="*/ 15 f49 1"/>
                <a:gd name="f97" fmla="*/ 11 f49 1"/>
                <a:gd name="f98" fmla="*/ 3 f50 1"/>
                <a:gd name="f99" fmla="*/ 6 f49 1"/>
                <a:gd name="f100" fmla="*/ 6 f50 1"/>
                <a:gd name="f101" fmla="*/ 3 f49 1"/>
                <a:gd name="f102" fmla="*/ 1 f49 1"/>
                <a:gd name="f103" fmla="*/ 0 f49 1"/>
                <a:gd name="f104" fmla="*/ f51 1 f2"/>
                <a:gd name="f105" fmla="*/ f54 1 29"/>
                <a:gd name="f106" fmla="*/ f55 1 40"/>
                <a:gd name="f107" fmla="*/ f56 1 29"/>
                <a:gd name="f108" fmla="*/ f57 1 40"/>
                <a:gd name="f109" fmla="*/ f58 1 29"/>
                <a:gd name="f110" fmla="*/ f59 1 40"/>
                <a:gd name="f111" fmla="*/ f60 1 29"/>
                <a:gd name="f112" fmla="*/ f61 1 40"/>
                <a:gd name="f113" fmla="*/ f62 1 29"/>
                <a:gd name="f114" fmla="*/ f63 1 29"/>
                <a:gd name="f115" fmla="*/ f64 1 29"/>
                <a:gd name="f116" fmla="*/ f65 1 40"/>
                <a:gd name="f117" fmla="*/ f66 1 40"/>
                <a:gd name="f118" fmla="*/ f67 1 29"/>
                <a:gd name="f119" fmla="*/ f68 1 40"/>
                <a:gd name="f120" fmla="*/ f69 1 29"/>
                <a:gd name="f121" fmla="*/ f70 1 40"/>
                <a:gd name="f122" fmla="*/ f71 1 29"/>
                <a:gd name="f123" fmla="*/ f72 1 40"/>
                <a:gd name="f124" fmla="*/ f73 1 29"/>
                <a:gd name="f125" fmla="*/ f74 1 40"/>
                <a:gd name="f126" fmla="*/ f75 1 29"/>
                <a:gd name="f127" fmla="*/ f76 1 40"/>
                <a:gd name="f128" fmla="*/ f77 1 40"/>
                <a:gd name="f129" fmla="*/ f78 1 40"/>
                <a:gd name="f130" fmla="*/ f79 1 40"/>
                <a:gd name="f131" fmla="*/ f80 1 29"/>
                <a:gd name="f132" fmla="*/ f81 1 40"/>
                <a:gd name="f133" fmla="*/ f82 1 29"/>
                <a:gd name="f134" fmla="*/ f83 1 40"/>
                <a:gd name="f135" fmla="*/ f84 1 29"/>
                <a:gd name="f136" fmla="*/ f85 1 40"/>
                <a:gd name="f137" fmla="*/ f86 1 29"/>
                <a:gd name="f138" fmla="*/ f87 1 40"/>
                <a:gd name="f139" fmla="*/ f88 1 40"/>
                <a:gd name="f140" fmla="*/ f89 1 40"/>
                <a:gd name="f141" fmla="*/ f90 1 40"/>
                <a:gd name="f142" fmla="*/ f91 1 40"/>
                <a:gd name="f143" fmla="*/ f92 1 40"/>
                <a:gd name="f144" fmla="*/ f93 1 29"/>
                <a:gd name="f145" fmla="*/ f94 1 40"/>
                <a:gd name="f146" fmla="*/ f95 1 29"/>
                <a:gd name="f147" fmla="*/ f96 1 40"/>
                <a:gd name="f148" fmla="*/ f97 1 40"/>
                <a:gd name="f149" fmla="*/ f98 1 29"/>
                <a:gd name="f150" fmla="*/ f99 1 40"/>
                <a:gd name="f151" fmla="*/ f100 1 29"/>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2"/>
                <a:gd name="f163" fmla="*/ f108 1 f53"/>
                <a:gd name="f164" fmla="*/ f109 1 f52"/>
                <a:gd name="f165" fmla="*/ f110 1 f53"/>
                <a:gd name="f166" fmla="*/ f111 1 f52"/>
                <a:gd name="f167" fmla="*/ f112 1 f53"/>
                <a:gd name="f168" fmla="*/ f113 1 f52"/>
                <a:gd name="f169" fmla="*/ f114 1 f52"/>
                <a:gd name="f170" fmla="*/ f115 1 f52"/>
                <a:gd name="f171" fmla="*/ f116 1 f53"/>
                <a:gd name="f172" fmla="*/ f117 1 f53"/>
                <a:gd name="f173" fmla="*/ f118 1 f52"/>
                <a:gd name="f174" fmla="*/ f119 1 f53"/>
                <a:gd name="f175" fmla="*/ f120 1 f52"/>
                <a:gd name="f176" fmla="*/ f121 1 f53"/>
                <a:gd name="f177" fmla="*/ f122 1 f52"/>
                <a:gd name="f178" fmla="*/ f123 1 f53"/>
                <a:gd name="f179" fmla="*/ f124 1 f52"/>
                <a:gd name="f180" fmla="*/ f125 1 f53"/>
                <a:gd name="f181" fmla="*/ f126 1 f52"/>
                <a:gd name="f182" fmla="*/ f127 1 f53"/>
                <a:gd name="f183" fmla="*/ f128 1 f53"/>
                <a:gd name="f184" fmla="*/ f129 1 f53"/>
                <a:gd name="f185" fmla="*/ f130 1 f53"/>
                <a:gd name="f186" fmla="*/ f131 1 f52"/>
                <a:gd name="f187" fmla="*/ f132 1 f53"/>
                <a:gd name="f188" fmla="*/ f133 1 f52"/>
                <a:gd name="f189" fmla="*/ f134 1 f53"/>
                <a:gd name="f190" fmla="*/ f135 1 f52"/>
                <a:gd name="f191" fmla="*/ f136 1 f53"/>
                <a:gd name="f192" fmla="*/ f137 1 f52"/>
                <a:gd name="f193" fmla="*/ f138 1 f53"/>
                <a:gd name="f194" fmla="*/ f139 1 f53"/>
                <a:gd name="f195" fmla="*/ f140 1 f53"/>
                <a:gd name="f196" fmla="*/ f141 1 f53"/>
                <a:gd name="f197" fmla="*/ f142 1 f53"/>
                <a:gd name="f198" fmla="*/ f143 1 f53"/>
                <a:gd name="f199" fmla="*/ f144 1 f52"/>
                <a:gd name="f200" fmla="*/ f145 1 f53"/>
                <a:gd name="f201" fmla="*/ f146 1 f52"/>
                <a:gd name="f202" fmla="*/ f147 1 f53"/>
                <a:gd name="f203" fmla="*/ f148 1 f53"/>
                <a:gd name="f204" fmla="*/ f149 1 f52"/>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7 1"/>
                <a:gd name="f217" fmla="*/ f163 f48 1"/>
                <a:gd name="f218" fmla="*/ f164 f47 1"/>
                <a:gd name="f219" fmla="*/ f165 f48 1"/>
                <a:gd name="f220" fmla="*/ f166 f47 1"/>
                <a:gd name="f221" fmla="*/ f167 f48 1"/>
                <a:gd name="f222" fmla="*/ f168 f47 1"/>
                <a:gd name="f223" fmla="*/ f169 f47 1"/>
                <a:gd name="f224" fmla="*/ f170 f47 1"/>
                <a:gd name="f225" fmla="*/ f171 f48 1"/>
                <a:gd name="f226" fmla="*/ f172 f48 1"/>
                <a:gd name="f227" fmla="*/ f173 f47 1"/>
                <a:gd name="f228" fmla="*/ f174 f48 1"/>
                <a:gd name="f229" fmla="*/ f175 f47 1"/>
                <a:gd name="f230" fmla="*/ f176 f48 1"/>
                <a:gd name="f231" fmla="*/ f177 f47 1"/>
                <a:gd name="f232" fmla="*/ f178 f48 1"/>
                <a:gd name="f233" fmla="*/ f179 f47 1"/>
                <a:gd name="f234" fmla="*/ f180 f48 1"/>
                <a:gd name="f235" fmla="*/ f181 f47 1"/>
                <a:gd name="f236" fmla="*/ f182 f48 1"/>
                <a:gd name="f237" fmla="*/ f183 f48 1"/>
                <a:gd name="f238" fmla="*/ f184 f48 1"/>
                <a:gd name="f239" fmla="*/ f185 f48 1"/>
                <a:gd name="f240" fmla="*/ f186 f47 1"/>
                <a:gd name="f241" fmla="*/ f187 f48 1"/>
                <a:gd name="f242" fmla="*/ f188 f47 1"/>
                <a:gd name="f243" fmla="*/ f189 f48 1"/>
                <a:gd name="f244" fmla="*/ f190 f47 1"/>
                <a:gd name="f245" fmla="*/ f191 f48 1"/>
                <a:gd name="f246" fmla="*/ f192 f47 1"/>
                <a:gd name="f247" fmla="*/ f193 f48 1"/>
                <a:gd name="f248" fmla="*/ f194 f48 1"/>
                <a:gd name="f249" fmla="*/ f195 f48 1"/>
                <a:gd name="f250" fmla="*/ f196 f48 1"/>
                <a:gd name="f251" fmla="*/ f197 f48 1"/>
                <a:gd name="f252" fmla="*/ f198 f48 1"/>
                <a:gd name="f253" fmla="*/ f199 f47 1"/>
                <a:gd name="f254" fmla="*/ f200 f48 1"/>
                <a:gd name="f255" fmla="*/ f201 f47 1"/>
                <a:gd name="f256" fmla="*/ f202 f48 1"/>
                <a:gd name="f257" fmla="*/ f203 f48 1"/>
                <a:gd name="f258" fmla="*/ f204 f47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6" y="f217"/>
                </a:cxn>
                <a:cxn ang="f159">
                  <a:pos x="f218" y="f219"/>
                </a:cxn>
                <a:cxn ang="f159">
                  <a:pos x="f220" y="f221"/>
                </a:cxn>
                <a:cxn ang="f159">
                  <a:pos x="f222" y="f219"/>
                </a:cxn>
                <a:cxn ang="f159">
                  <a:pos x="f223" y="f217"/>
                </a:cxn>
                <a:cxn ang="f159">
                  <a:pos x="f224" y="f225"/>
                </a:cxn>
                <a:cxn ang="f159">
                  <a:pos x="f222" y="f226"/>
                </a:cxn>
                <a:cxn ang="f159">
                  <a:pos x="f227" y="f228"/>
                </a:cxn>
                <a:cxn ang="f159">
                  <a:pos x="f229" y="f230"/>
                </a:cxn>
                <a:cxn ang="f159">
                  <a:pos x="f231" y="f232"/>
                </a:cxn>
                <a:cxn ang="f159">
                  <a:pos x="f233" y="f234"/>
                </a:cxn>
                <a:cxn ang="f159">
                  <a:pos x="f235" y="f236"/>
                </a:cxn>
                <a:cxn ang="f159">
                  <a:pos x="f235" y="f237"/>
                </a:cxn>
                <a:cxn ang="f159">
                  <a:pos x="f214" y="f238"/>
                </a:cxn>
                <a:cxn ang="f159">
                  <a:pos x="f216" y="f239"/>
                </a:cxn>
                <a:cxn ang="f159">
                  <a:pos x="f240" y="f241"/>
                </a:cxn>
                <a:cxn ang="f159">
                  <a:pos x="f220" y="f241"/>
                </a:cxn>
                <a:cxn ang="f159">
                  <a:pos x="f242" y="f243"/>
                </a:cxn>
                <a:cxn ang="f159">
                  <a:pos x="f244" y="f245"/>
                </a:cxn>
                <a:cxn ang="f159">
                  <a:pos x="f246" y="f247"/>
                </a:cxn>
                <a:cxn ang="f159">
                  <a:pos x="f223" y="f248"/>
                </a:cxn>
                <a:cxn ang="f159">
                  <a:pos x="f220" y="f249"/>
                </a:cxn>
                <a:cxn ang="f159">
                  <a:pos x="f218" y="f248"/>
                </a:cxn>
                <a:cxn ang="f159">
                  <a:pos x="f231" y="f237"/>
                </a:cxn>
                <a:cxn ang="f159">
                  <a:pos x="f240" y="f250"/>
                </a:cxn>
                <a:cxn ang="f159">
                  <a:pos x="f218" y="f251"/>
                </a:cxn>
                <a:cxn ang="f159">
                  <a:pos x="f229" y="f236"/>
                </a:cxn>
                <a:cxn ang="f159">
                  <a:pos x="f227" y="f252"/>
                </a:cxn>
                <a:cxn ang="f159">
                  <a:pos x="f253" y="f254"/>
                </a:cxn>
                <a:cxn ang="f159">
                  <a:pos x="f246" y="f232"/>
                </a:cxn>
                <a:cxn ang="f159">
                  <a:pos x="f255" y="f256"/>
                </a:cxn>
                <a:cxn ang="f159">
                  <a:pos x="f255" y="f257"/>
                </a:cxn>
                <a:cxn ang="f159">
                  <a:pos x="f258" y="f259"/>
                </a:cxn>
                <a:cxn ang="f159">
                  <a:pos x="f260" y="f261"/>
                </a:cxn>
                <a:cxn ang="f159">
                  <a:pos x="f224" y="f262"/>
                </a:cxn>
                <a:cxn ang="f159">
                  <a:pos x="f220" y="f263"/>
                </a:cxn>
                <a:cxn ang="f159">
                  <a:pos x="f231" y="f262"/>
                </a:cxn>
                <a:cxn ang="f159">
                  <a:pos x="f214" y="f215"/>
                </a:cxn>
              </a:cxnLst>
              <a:rect l="f210" t="f213" r="f211" b="f212"/>
              <a:pathLst>
                <a:path w="29" h="40">
                  <a:moveTo>
                    <a:pt x="f8" y="f9"/>
                  </a:moveTo>
                  <a:cubicBezTo>
                    <a:pt x="f10" y="f11"/>
                    <a:pt x="f10" y="f11"/>
                    <a:pt x="f10" y="f11"/>
                  </a:cubicBezTo>
                  <a:cubicBezTo>
                    <a:pt x="f12" y="f13"/>
                    <a:pt x="f14" y="f15"/>
                    <a:pt x="f16" y="f15"/>
                  </a:cubicBezTo>
                  <a:cubicBezTo>
                    <a:pt x="f17" y="f18"/>
                    <a:pt x="f19" y="f18"/>
                    <a:pt x="f20" y="f18"/>
                  </a:cubicBezTo>
                  <a:cubicBezTo>
                    <a:pt x="f21" y="f18"/>
                    <a:pt x="f22" y="f18"/>
                    <a:pt x="f23" y="f15"/>
                  </a:cubicBezTo>
                  <a:cubicBezTo>
                    <a:pt x="f11" y="f15"/>
                    <a:pt x="f13" y="f13"/>
                    <a:pt x="f13" y="f11"/>
                  </a:cubicBezTo>
                  <a:cubicBezTo>
                    <a:pt x="f13" y="f23"/>
                    <a:pt x="f11" y="f23"/>
                    <a:pt x="f11" y="f22"/>
                  </a:cubicBezTo>
                  <a:cubicBezTo>
                    <a:pt x="f11" y="f22"/>
                    <a:pt x="f11" y="f21"/>
                    <a:pt x="f23" y="f21"/>
                  </a:cubicBezTo>
                  <a:cubicBezTo>
                    <a:pt x="f23" y="f21"/>
                    <a:pt x="f22" y="f24"/>
                    <a:pt x="f21" y="f24"/>
                  </a:cubicBezTo>
                  <a:cubicBezTo>
                    <a:pt x="f24" y="f20"/>
                    <a:pt x="f20" y="f20"/>
                    <a:pt x="f19" y="f25"/>
                  </a:cubicBezTo>
                  <a:cubicBezTo>
                    <a:pt x="f26" y="f19"/>
                    <a:pt x="f27" y="f17"/>
                    <a:pt x="f14" y="f17"/>
                  </a:cubicBezTo>
                  <a:cubicBezTo>
                    <a:pt x="f28" y="f26"/>
                    <a:pt x="f10" y="f16"/>
                    <a:pt x="f29" y="f27"/>
                  </a:cubicBezTo>
                  <a:cubicBezTo>
                    <a:pt x="f30" y="f14"/>
                    <a:pt x="f8" y="f12"/>
                    <a:pt x="f6" y="f28"/>
                  </a:cubicBezTo>
                  <a:cubicBezTo>
                    <a:pt x="f6" y="f10"/>
                    <a:pt x="f6" y="f30"/>
                    <a:pt x="f6" y="f6"/>
                  </a:cubicBezTo>
                  <a:cubicBezTo>
                    <a:pt x="f6" y="f31"/>
                    <a:pt x="f6" y="f32"/>
                    <a:pt x="f8" y="f33"/>
                  </a:cubicBezTo>
                  <a:cubicBezTo>
                    <a:pt x="f8" y="f34"/>
                    <a:pt x="f29" y="f35"/>
                    <a:pt x="f10" y="f36"/>
                  </a:cubicBezTo>
                  <a:cubicBezTo>
                    <a:pt x="f28" y="f37"/>
                    <a:pt x="f14" y="f37"/>
                    <a:pt x="f27" y="f7"/>
                  </a:cubicBezTo>
                  <a:cubicBezTo>
                    <a:pt x="f26" y="f7"/>
                    <a:pt x="f19" y="f7"/>
                    <a:pt x="f20" y="f7"/>
                  </a:cubicBezTo>
                  <a:cubicBezTo>
                    <a:pt x="f21" y="f7"/>
                    <a:pt x="f11" y="f7"/>
                    <a:pt x="f18" y="f37"/>
                  </a:cubicBezTo>
                  <a:cubicBezTo>
                    <a:pt x="f38" y="f36"/>
                    <a:pt x="f39" y="f35"/>
                    <a:pt x="f5" y="f40"/>
                  </a:cubicBezTo>
                  <a:cubicBezTo>
                    <a:pt x="f9" y="f41"/>
                    <a:pt x="f9" y="f41"/>
                    <a:pt x="f9" y="f41"/>
                  </a:cubicBezTo>
                  <a:cubicBezTo>
                    <a:pt x="f42" y="f31"/>
                    <a:pt x="f18" y="f43"/>
                    <a:pt x="f13" y="f43"/>
                  </a:cubicBezTo>
                  <a:cubicBezTo>
                    <a:pt x="f23" y="f32"/>
                    <a:pt x="f21" y="f32"/>
                    <a:pt x="f20" y="f32"/>
                  </a:cubicBezTo>
                  <a:cubicBezTo>
                    <a:pt x="f19" y="f32"/>
                    <a:pt x="f26" y="f32"/>
                    <a:pt x="f16" y="f43"/>
                  </a:cubicBezTo>
                  <a:cubicBezTo>
                    <a:pt x="f27" y="f31"/>
                    <a:pt x="f14" y="f41"/>
                    <a:pt x="f14" y="f6"/>
                  </a:cubicBezTo>
                  <a:cubicBezTo>
                    <a:pt x="f14" y="f8"/>
                    <a:pt x="f14" y="f8"/>
                    <a:pt x="f27" y="f30"/>
                  </a:cubicBezTo>
                  <a:cubicBezTo>
                    <a:pt x="f27" y="f30"/>
                    <a:pt x="f16" y="f29"/>
                    <a:pt x="f16" y="f29"/>
                  </a:cubicBezTo>
                  <a:cubicBezTo>
                    <a:pt x="f26" y="f10"/>
                    <a:pt x="f17" y="f10"/>
                    <a:pt x="f19" y="f28"/>
                  </a:cubicBezTo>
                  <a:cubicBezTo>
                    <a:pt x="f25" y="f28"/>
                    <a:pt x="f20" y="f12"/>
                    <a:pt x="f21" y="f12"/>
                  </a:cubicBezTo>
                  <a:cubicBezTo>
                    <a:pt x="f23" y="f14"/>
                    <a:pt x="f13" y="f27"/>
                    <a:pt x="f15" y="f16"/>
                  </a:cubicBezTo>
                  <a:cubicBezTo>
                    <a:pt x="f42" y="f26"/>
                    <a:pt x="f38" y="f26"/>
                    <a:pt x="f9" y="f17"/>
                  </a:cubicBezTo>
                  <a:cubicBezTo>
                    <a:pt x="f44" y="f19"/>
                    <a:pt x="f44" y="f25"/>
                    <a:pt x="f39" y="f20"/>
                  </a:cubicBezTo>
                  <a:cubicBezTo>
                    <a:pt x="f39" y="f21"/>
                    <a:pt x="f39" y="f22"/>
                    <a:pt x="f39" y="f23"/>
                  </a:cubicBezTo>
                  <a:cubicBezTo>
                    <a:pt x="f39" y="f13"/>
                    <a:pt x="f39" y="f18"/>
                    <a:pt x="f44" y="f42"/>
                  </a:cubicBezTo>
                  <a:cubicBezTo>
                    <a:pt x="f44" y="f38"/>
                    <a:pt x="f9" y="f9"/>
                    <a:pt x="f42" y="f44"/>
                  </a:cubicBezTo>
                  <a:cubicBezTo>
                    <a:pt x="f18" y="f39"/>
                    <a:pt x="f15" y="f45"/>
                    <a:pt x="f11" y="f45"/>
                  </a:cubicBezTo>
                  <a:cubicBezTo>
                    <a:pt x="f23" y="f5"/>
                    <a:pt x="f21" y="f5"/>
                    <a:pt x="f20" y="f5"/>
                  </a:cubicBezTo>
                  <a:cubicBezTo>
                    <a:pt x="f19" y="f5"/>
                    <a:pt x="f16" y="f5"/>
                    <a:pt x="f14" y="f45"/>
                  </a:cubicBezTo>
                  <a:cubicBezTo>
                    <a:pt x="f28" y="f39"/>
                    <a:pt x="f29"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8" name="Freeform 70">
              <a:extLst>
                <a:ext uri="{FF2B5EF4-FFF2-40B4-BE49-F238E27FC236}">
                  <a16:creationId xmlns:a16="http://schemas.microsoft.com/office/drawing/2014/main" id="{9756B3A9-5883-A07A-679C-3DD03D7CB3E5}"/>
                </a:ext>
              </a:extLst>
            </p:cNvPr>
            <p:cNvSpPr/>
            <p:nvPr/>
          </p:nvSpPr>
          <p:spPr>
            <a:xfrm>
              <a:off x="2721675" y="6365421"/>
              <a:ext cx="27880" cy="31391"/>
            </a:xfrm>
            <a:custGeom>
              <a:avLst/>
              <a:gdLst>
                <a:gd name="f0" fmla="val 10800000"/>
                <a:gd name="f1" fmla="val 5400000"/>
                <a:gd name="f2" fmla="val 180"/>
                <a:gd name="f3" fmla="val w"/>
                <a:gd name="f4" fmla="val h"/>
                <a:gd name="f5" fmla="val 0"/>
                <a:gd name="f6" fmla="val 11"/>
                <a:gd name="f7" fmla="val 12"/>
                <a:gd name="f8" fmla="val 6"/>
                <a:gd name="f9" fmla="val 7"/>
                <a:gd name="f10" fmla="val 8"/>
                <a:gd name="f11" fmla="val 9"/>
                <a:gd name="f12" fmla="val 10"/>
                <a:gd name="f13" fmla="val 5"/>
                <a:gd name="f14" fmla="val 4"/>
                <a:gd name="f15" fmla="val 3"/>
                <a:gd name="f16" fmla="val 2"/>
                <a:gd name="f17" fmla="val 1"/>
                <a:gd name="f18" fmla="+- 0 0 -90"/>
                <a:gd name="f19" fmla="*/ f3 1 11"/>
                <a:gd name="f20" fmla="*/ f4 1 12"/>
                <a:gd name="f21" fmla="+- f7 0 f5"/>
                <a:gd name="f22" fmla="+- f6 0 f5"/>
                <a:gd name="f23" fmla="*/ f18 f0 1"/>
                <a:gd name="f24" fmla="*/ f22 1 11"/>
                <a:gd name="f25" fmla="*/ f21 1 12"/>
                <a:gd name="f26" fmla="*/ 11 f22 1"/>
                <a:gd name="f27" fmla="*/ 6 f21 1"/>
                <a:gd name="f28" fmla="*/ 9 f21 1"/>
                <a:gd name="f29" fmla="*/ 10 f22 1"/>
                <a:gd name="f30" fmla="*/ 10 f21 1"/>
                <a:gd name="f31" fmla="*/ 8 f22 1"/>
                <a:gd name="f32" fmla="*/ 12 f21 1"/>
                <a:gd name="f33" fmla="*/ 6 f22 1"/>
                <a:gd name="f34" fmla="*/ 3 f22 1"/>
                <a:gd name="f35" fmla="*/ 1 f22 1"/>
                <a:gd name="f36" fmla="*/ 0 f22 1"/>
                <a:gd name="f37" fmla="*/ 4 f21 1"/>
                <a:gd name="f38" fmla="*/ 2 f21 1"/>
                <a:gd name="f39" fmla="*/ 1 f21 1"/>
                <a:gd name="f40" fmla="*/ 0 f21 1"/>
                <a:gd name="f41" fmla="*/ f23 1 f2"/>
                <a:gd name="f42" fmla="*/ f26 1 11"/>
                <a:gd name="f43" fmla="*/ f27 1 12"/>
                <a:gd name="f44" fmla="*/ f28 1 12"/>
                <a:gd name="f45" fmla="*/ f29 1 11"/>
                <a:gd name="f46" fmla="*/ f30 1 12"/>
                <a:gd name="f47" fmla="*/ f31 1 11"/>
                <a:gd name="f48" fmla="*/ f32 1 12"/>
                <a:gd name="f49" fmla="*/ f33 1 11"/>
                <a:gd name="f50" fmla="*/ f34 1 11"/>
                <a:gd name="f51" fmla="*/ f35 1 11"/>
                <a:gd name="f52" fmla="*/ f36 1 11"/>
                <a:gd name="f53" fmla="*/ f37 1 12"/>
                <a:gd name="f54" fmla="*/ f38 1 12"/>
                <a:gd name="f55" fmla="*/ f39 1 12"/>
                <a:gd name="f56" fmla="*/ f40 1 12"/>
                <a:gd name="f57" fmla="*/ 0 1 f24"/>
                <a:gd name="f58" fmla="*/ f6 1 f24"/>
                <a:gd name="f59" fmla="*/ 0 1 f25"/>
                <a:gd name="f60" fmla="*/ f7 1 f25"/>
                <a:gd name="f61" fmla="+- f41 0 f1"/>
                <a:gd name="f62" fmla="*/ f42 1 f24"/>
                <a:gd name="f63" fmla="*/ f43 1 f25"/>
                <a:gd name="f64" fmla="*/ f44 1 f25"/>
                <a:gd name="f65" fmla="*/ f45 1 f24"/>
                <a:gd name="f66" fmla="*/ f46 1 f25"/>
                <a:gd name="f67" fmla="*/ f47 1 f24"/>
                <a:gd name="f68" fmla="*/ f48 1 f25"/>
                <a:gd name="f69" fmla="*/ f49 1 f24"/>
                <a:gd name="f70" fmla="*/ f50 1 f24"/>
                <a:gd name="f71" fmla="*/ f51 1 f24"/>
                <a:gd name="f72" fmla="*/ f52 1 f24"/>
                <a:gd name="f73" fmla="*/ f53 1 f25"/>
                <a:gd name="f74" fmla="*/ f54 1 f25"/>
                <a:gd name="f75" fmla="*/ f55 1 f25"/>
                <a:gd name="f76" fmla="*/ f56 1 f25"/>
                <a:gd name="f77" fmla="*/ f57 f19 1"/>
                <a:gd name="f78" fmla="*/ f58 f19 1"/>
                <a:gd name="f79" fmla="*/ f60 f20 1"/>
                <a:gd name="f80" fmla="*/ f59 f20 1"/>
                <a:gd name="f81" fmla="*/ f62 f19 1"/>
                <a:gd name="f82" fmla="*/ f63 f20 1"/>
                <a:gd name="f83" fmla="*/ f64 f20 1"/>
                <a:gd name="f84" fmla="*/ f65 f19 1"/>
                <a:gd name="f85" fmla="*/ f66 f20 1"/>
                <a:gd name="f86" fmla="*/ f67 f19 1"/>
                <a:gd name="f87" fmla="*/ f68 f20 1"/>
                <a:gd name="f88" fmla="*/ f69 f19 1"/>
                <a:gd name="f89" fmla="*/ f70 f19 1"/>
                <a:gd name="f90" fmla="*/ f71 f19 1"/>
                <a:gd name="f91" fmla="*/ f72 f19 1"/>
                <a:gd name="f92" fmla="*/ f73 f20 1"/>
                <a:gd name="f93" fmla="*/ f74 f20 1"/>
                <a:gd name="f94" fmla="*/ f75 f20 1"/>
                <a:gd name="f95" fmla="*/ f76 f20 1"/>
              </a:gdLst>
              <a:ahLst/>
              <a:cxnLst>
                <a:cxn ang="3cd4">
                  <a:pos x="hc" y="t"/>
                </a:cxn>
                <a:cxn ang="0">
                  <a:pos x="r" y="vc"/>
                </a:cxn>
                <a:cxn ang="cd4">
                  <a:pos x="hc" y="b"/>
                </a:cxn>
                <a:cxn ang="cd2">
                  <a:pos x="l" y="vc"/>
                </a:cxn>
                <a:cxn ang="f61">
                  <a:pos x="f81" y="f82"/>
                </a:cxn>
                <a:cxn ang="f61">
                  <a:pos x="f81" y="f83"/>
                </a:cxn>
                <a:cxn ang="f61">
                  <a:pos x="f84" y="f85"/>
                </a:cxn>
                <a:cxn ang="f61">
                  <a:pos x="f86" y="f87"/>
                </a:cxn>
                <a:cxn ang="f61">
                  <a:pos x="f88" y="f87"/>
                </a:cxn>
                <a:cxn ang="f61">
                  <a:pos x="f89" y="f87"/>
                </a:cxn>
                <a:cxn ang="f61">
                  <a:pos x="f90" y="f85"/>
                </a:cxn>
                <a:cxn ang="f61">
                  <a:pos x="f91" y="f83"/>
                </a:cxn>
                <a:cxn ang="f61">
                  <a:pos x="f91" y="f82"/>
                </a:cxn>
                <a:cxn ang="f61">
                  <a:pos x="f91" y="f92"/>
                </a:cxn>
                <a:cxn ang="f61">
                  <a:pos x="f90" y="f93"/>
                </a:cxn>
                <a:cxn ang="f61">
                  <a:pos x="f89" y="f94"/>
                </a:cxn>
                <a:cxn ang="f61">
                  <a:pos x="f88" y="f95"/>
                </a:cxn>
                <a:cxn ang="f61">
                  <a:pos x="f86" y="f94"/>
                </a:cxn>
                <a:cxn ang="f61">
                  <a:pos x="f84" y="f93"/>
                </a:cxn>
                <a:cxn ang="f61">
                  <a:pos x="f81" y="f92"/>
                </a:cxn>
                <a:cxn ang="f61">
                  <a:pos x="f81" y="f82"/>
                </a:cxn>
              </a:cxnLst>
              <a:rect l="f77" t="f80" r="f78" b="f79"/>
              <a:pathLst>
                <a:path w="11" h="12">
                  <a:moveTo>
                    <a:pt x="f6" y="f8"/>
                  </a:moveTo>
                  <a:cubicBezTo>
                    <a:pt x="f6" y="f9"/>
                    <a:pt x="f6" y="f10"/>
                    <a:pt x="f6" y="f11"/>
                  </a:cubicBezTo>
                  <a:cubicBezTo>
                    <a:pt x="f6" y="f11"/>
                    <a:pt x="f12" y="f12"/>
                    <a:pt x="f12" y="f12"/>
                  </a:cubicBezTo>
                  <a:cubicBezTo>
                    <a:pt x="f11" y="f6"/>
                    <a:pt x="f11" y="f6"/>
                    <a:pt x="f10" y="f7"/>
                  </a:cubicBezTo>
                  <a:cubicBezTo>
                    <a:pt x="f9" y="f7"/>
                    <a:pt x="f8" y="f7"/>
                    <a:pt x="f8" y="f7"/>
                  </a:cubicBezTo>
                  <a:cubicBezTo>
                    <a:pt x="f13" y="f7"/>
                    <a:pt x="f14" y="f7"/>
                    <a:pt x="f15" y="f7"/>
                  </a:cubicBezTo>
                  <a:cubicBezTo>
                    <a:pt x="f15" y="f6"/>
                    <a:pt x="f16" y="f6"/>
                    <a:pt x="f17" y="f12"/>
                  </a:cubicBezTo>
                  <a:cubicBezTo>
                    <a:pt x="f17" y="f12"/>
                    <a:pt x="f17" y="f11"/>
                    <a:pt x="f5" y="f11"/>
                  </a:cubicBezTo>
                  <a:cubicBezTo>
                    <a:pt x="f5" y="f10"/>
                    <a:pt x="f5" y="f9"/>
                    <a:pt x="f5" y="f8"/>
                  </a:cubicBezTo>
                  <a:cubicBezTo>
                    <a:pt x="f5" y="f8"/>
                    <a:pt x="f5" y="f13"/>
                    <a:pt x="f5" y="f14"/>
                  </a:cubicBezTo>
                  <a:cubicBezTo>
                    <a:pt x="f17" y="f15"/>
                    <a:pt x="f17" y="f15"/>
                    <a:pt x="f17" y="f16"/>
                  </a:cubicBezTo>
                  <a:cubicBezTo>
                    <a:pt x="f16" y="f16"/>
                    <a:pt x="f15" y="f17"/>
                    <a:pt x="f15" y="f17"/>
                  </a:cubicBezTo>
                  <a:cubicBezTo>
                    <a:pt x="f14" y="f17"/>
                    <a:pt x="f13" y="f5"/>
                    <a:pt x="f8" y="f5"/>
                  </a:cubicBezTo>
                  <a:cubicBezTo>
                    <a:pt x="f8" y="f5"/>
                    <a:pt x="f9" y="f17"/>
                    <a:pt x="f10" y="f17"/>
                  </a:cubicBezTo>
                  <a:cubicBezTo>
                    <a:pt x="f11" y="f17"/>
                    <a:pt x="f11" y="f16"/>
                    <a:pt x="f12" y="f16"/>
                  </a:cubicBezTo>
                  <a:cubicBezTo>
                    <a:pt x="f12" y="f15"/>
                    <a:pt x="f6" y="f15"/>
                    <a:pt x="f6" y="f14"/>
                  </a:cubicBezTo>
                  <a:cubicBezTo>
                    <a:pt x="f6" y="f13"/>
                    <a:pt x="f6" y="f8"/>
                    <a:pt x="f6"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grpSp>
      <p:sp>
        <p:nvSpPr>
          <p:cNvPr id="69" name="Title 1">
            <a:extLst>
              <a:ext uri="{FF2B5EF4-FFF2-40B4-BE49-F238E27FC236}">
                <a16:creationId xmlns:a16="http://schemas.microsoft.com/office/drawing/2014/main" id="{8DB8CCFC-4FA7-D011-EE7A-35F47C901562}"/>
              </a:ext>
            </a:extLst>
          </p:cNvPr>
          <p:cNvSpPr txBox="1">
            <a:spLocks noGrp="1"/>
          </p:cNvSpPr>
          <p:nvPr>
            <p:ph type="title"/>
          </p:nvPr>
        </p:nvSpPr>
        <p:spPr>
          <a:xfrm>
            <a:off x="944392" y="2158331"/>
            <a:ext cx="4781388" cy="860395"/>
          </a:xfrm>
        </p:spPr>
        <p:txBody>
          <a:bodyPr/>
          <a:lstStyle>
            <a:lvl1pPr>
              <a:defRPr sz="2999"/>
            </a:lvl1pPr>
          </a:lstStyle>
          <a:p>
            <a:pPr lvl="0"/>
            <a:r>
              <a:rPr lang="en-US"/>
              <a:t>Click to edit Master title style</a:t>
            </a:r>
            <a:endParaRPr lang="en-GB"/>
          </a:p>
        </p:txBody>
      </p:sp>
      <p:sp>
        <p:nvSpPr>
          <p:cNvPr id="70" name="Subtitle 2">
            <a:extLst>
              <a:ext uri="{FF2B5EF4-FFF2-40B4-BE49-F238E27FC236}">
                <a16:creationId xmlns:a16="http://schemas.microsoft.com/office/drawing/2014/main" id="{816B6C18-B170-839F-9EE3-A22CD937556F}"/>
              </a:ext>
            </a:extLst>
          </p:cNvPr>
          <p:cNvSpPr txBox="1">
            <a:spLocks noGrp="1"/>
          </p:cNvSpPr>
          <p:nvPr>
            <p:ph type="subTitle" idx="4294967295"/>
          </p:nvPr>
        </p:nvSpPr>
        <p:spPr>
          <a:xfrm>
            <a:off x="944584" y="3200326"/>
            <a:ext cx="4805528" cy="645740"/>
          </a:xfrm>
        </p:spPr>
        <p:txBody>
          <a:bodyPr/>
          <a:lstStyle>
            <a:lvl1pPr marL="0" indent="0">
              <a:buNone/>
              <a:defRPr>
                <a:cs typeface="Arial" pitchFamily="34"/>
              </a:defRPr>
            </a:lvl1pPr>
          </a:lstStyle>
          <a:p>
            <a:pPr lvl="0"/>
            <a:r>
              <a:rPr lang="en-US"/>
              <a:t>Click to edit Master subtitle style</a:t>
            </a:r>
            <a:endParaRPr lang="en-GB"/>
          </a:p>
        </p:txBody>
      </p:sp>
      <p:sp>
        <p:nvSpPr>
          <p:cNvPr id="71" name="Freeform: Shape 2">
            <a:extLst>
              <a:ext uri="{FF2B5EF4-FFF2-40B4-BE49-F238E27FC236}">
                <a16:creationId xmlns:a16="http://schemas.microsoft.com/office/drawing/2014/main" id="{769D3590-7ECD-938F-F2DE-736A62374B2F}"/>
              </a:ext>
            </a:extLst>
          </p:cNvPr>
          <p:cNvSpPr/>
          <p:nvPr/>
        </p:nvSpPr>
        <p:spPr>
          <a:xfrm>
            <a:off x="489112" y="723656"/>
            <a:ext cx="5677985" cy="3452893"/>
          </a:xfrm>
          <a:custGeom>
            <a:avLst/>
            <a:gdLst>
              <a:gd name="f0" fmla="val 10800000"/>
              <a:gd name="f1" fmla="val 5400000"/>
              <a:gd name="f2" fmla="val 180"/>
              <a:gd name="f3" fmla="val w"/>
              <a:gd name="f4" fmla="val h"/>
              <a:gd name="f5" fmla="val 0"/>
              <a:gd name="f6" fmla="val 5680945"/>
              <a:gd name="f7" fmla="val 3452894"/>
              <a:gd name="f8" fmla="val 8749"/>
              <a:gd name="f9" fmla="val 1021520"/>
              <a:gd name="f10" fmla="val 3164181"/>
              <a:gd name="f11" fmla="val 151414"/>
              <a:gd name="f12" fmla="val 1140155"/>
              <a:gd name="f13" fmla="val 5534897"/>
              <a:gd name="f14" fmla="val 179294"/>
              <a:gd name="f15" fmla="val 3306846"/>
              <a:gd name="f16" fmla="val 864624"/>
              <a:gd name="f17" fmla="val 3449395"/>
              <a:gd name="f18" fmla="val 5677562"/>
              <a:gd name="f19" fmla="+- 0 0 -90"/>
              <a:gd name="f20" fmla="*/ f3 1 5680945"/>
              <a:gd name="f21" fmla="*/ f4 1 3452894"/>
              <a:gd name="f22" fmla="+- f7 0 f5"/>
              <a:gd name="f23" fmla="+- f6 0 f5"/>
              <a:gd name="f24" fmla="*/ f19 f0 1"/>
              <a:gd name="f25" fmla="*/ f23 1 5680945"/>
              <a:gd name="f26" fmla="*/ f22 1 3452894"/>
              <a:gd name="f27" fmla="*/ 8749 f23 1"/>
              <a:gd name="f28" fmla="*/ 1021520 f22 1"/>
              <a:gd name="f29" fmla="*/ 3164181 f22 1"/>
              <a:gd name="f30" fmla="*/ 151414 f23 1"/>
              <a:gd name="f31" fmla="*/ 1140155 f22 1"/>
              <a:gd name="f32" fmla="*/ 5534897 f23 1"/>
              <a:gd name="f33" fmla="*/ 179294 f22 1"/>
              <a:gd name="f34" fmla="*/ 3306846 f22 1"/>
              <a:gd name="f35" fmla="*/ 864624 f23 1"/>
              <a:gd name="f36" fmla="*/ 3449395 f22 1"/>
              <a:gd name="f37" fmla="*/ 5677562 f23 1"/>
              <a:gd name="f38" fmla="*/ 8749 f22 1"/>
              <a:gd name="f39" fmla="*/ f24 1 f2"/>
              <a:gd name="f40" fmla="*/ f27 1 5680945"/>
              <a:gd name="f41" fmla="*/ f28 1 3452894"/>
              <a:gd name="f42" fmla="*/ f29 1 3452894"/>
              <a:gd name="f43" fmla="*/ f30 1 5680945"/>
              <a:gd name="f44" fmla="*/ f31 1 3452894"/>
              <a:gd name="f45" fmla="*/ f32 1 5680945"/>
              <a:gd name="f46" fmla="*/ f33 1 3452894"/>
              <a:gd name="f47" fmla="*/ f34 1 3452894"/>
              <a:gd name="f48" fmla="*/ f35 1 5680945"/>
              <a:gd name="f49" fmla="*/ f36 1 3452894"/>
              <a:gd name="f50" fmla="*/ f37 1 5680945"/>
              <a:gd name="f51" fmla="*/ f38 1 3452894"/>
              <a:gd name="f52" fmla="*/ f5 1 f25"/>
              <a:gd name="f53" fmla="*/ f6 1 f25"/>
              <a:gd name="f54" fmla="*/ f5 1 f26"/>
              <a:gd name="f55" fmla="*/ f7 1 f26"/>
              <a:gd name="f56" fmla="+- f39 0 f1"/>
              <a:gd name="f57" fmla="*/ f40 1 f25"/>
              <a:gd name="f58" fmla="*/ f41 1 f26"/>
              <a:gd name="f59" fmla="*/ f42 1 f26"/>
              <a:gd name="f60" fmla="*/ f43 1 f25"/>
              <a:gd name="f61" fmla="*/ f44 1 f26"/>
              <a:gd name="f62" fmla="*/ f45 1 f25"/>
              <a:gd name="f63" fmla="*/ f46 1 f26"/>
              <a:gd name="f64" fmla="*/ f47 1 f26"/>
              <a:gd name="f65" fmla="*/ f48 1 f25"/>
              <a:gd name="f66" fmla="*/ f49 1 f26"/>
              <a:gd name="f67" fmla="*/ f50 1 f25"/>
              <a:gd name="f68" fmla="*/ f51 1 f26"/>
              <a:gd name="f69" fmla="*/ f52 f20 1"/>
              <a:gd name="f70" fmla="*/ f53 f20 1"/>
              <a:gd name="f71" fmla="*/ f55 f21 1"/>
              <a:gd name="f72" fmla="*/ f54 f21 1"/>
              <a:gd name="f73" fmla="*/ f57 f20 1"/>
              <a:gd name="f74" fmla="*/ f58 f21 1"/>
              <a:gd name="f75" fmla="*/ f59 f21 1"/>
              <a:gd name="f76" fmla="*/ f60 f20 1"/>
              <a:gd name="f77" fmla="*/ f61 f21 1"/>
              <a:gd name="f78" fmla="*/ f62 f20 1"/>
              <a:gd name="f79" fmla="*/ f63 f21 1"/>
              <a:gd name="f80" fmla="*/ f64 f21 1"/>
              <a:gd name="f81" fmla="*/ f65 f20 1"/>
              <a:gd name="f82" fmla="*/ f66 f21 1"/>
              <a:gd name="f83" fmla="*/ f67 f20 1"/>
              <a:gd name="f84" fmla="*/ f68 f21 1"/>
            </a:gdLst>
            <a:ahLst/>
            <a:cxnLst>
              <a:cxn ang="3cd4">
                <a:pos x="hc" y="t"/>
              </a:cxn>
              <a:cxn ang="0">
                <a:pos x="r" y="vc"/>
              </a:cxn>
              <a:cxn ang="cd4">
                <a:pos x="hc" y="b"/>
              </a:cxn>
              <a:cxn ang="cd2">
                <a:pos x="l" y="vc"/>
              </a:cxn>
              <a:cxn ang="f56">
                <a:pos x="f73" y="f74"/>
              </a:cxn>
              <a:cxn ang="f56">
                <a:pos x="f73" y="f75"/>
              </a:cxn>
              <a:cxn ang="f56">
                <a:pos x="f76" y="f75"/>
              </a:cxn>
              <a:cxn ang="f56">
                <a:pos x="f76" y="f77"/>
              </a:cxn>
              <a:cxn ang="f56">
                <a:pos x="f78" y="f79"/>
              </a:cxn>
              <a:cxn ang="f56">
                <a:pos x="f78" y="f80"/>
              </a:cxn>
              <a:cxn ang="f56">
                <a:pos x="f81" y="f80"/>
              </a:cxn>
              <a:cxn ang="f56">
                <a:pos x="f81" y="f82"/>
              </a:cxn>
              <a:cxn ang="f56">
                <a:pos x="f83" y="f82"/>
              </a:cxn>
              <a:cxn ang="f56">
                <a:pos x="f83" y="f84"/>
              </a:cxn>
              <a:cxn ang="f56">
                <a:pos x="f73" y="f74"/>
              </a:cxn>
            </a:cxnLst>
            <a:rect l="f69" t="f72" r="f70" b="f71"/>
            <a:pathLst>
              <a:path w="5680945" h="3452894">
                <a:moveTo>
                  <a:pt x="f8" y="f9"/>
                </a:moveTo>
                <a:lnTo>
                  <a:pt x="f8" y="f10"/>
                </a:lnTo>
                <a:lnTo>
                  <a:pt x="f11" y="f10"/>
                </a:lnTo>
                <a:lnTo>
                  <a:pt x="f11" y="f12"/>
                </a:lnTo>
                <a:lnTo>
                  <a:pt x="f13" y="f14"/>
                </a:lnTo>
                <a:lnTo>
                  <a:pt x="f13" y="f15"/>
                </a:lnTo>
                <a:lnTo>
                  <a:pt x="f16" y="f15"/>
                </a:lnTo>
                <a:lnTo>
                  <a:pt x="f16" y="f17"/>
                </a:lnTo>
                <a:lnTo>
                  <a:pt x="f18" y="f17"/>
                </a:lnTo>
                <a:lnTo>
                  <a:pt x="f18" y="f8"/>
                </a:lnTo>
                <a:lnTo>
                  <a:pt x="f8" y="f9"/>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2" name="Freeform: Shape 3">
            <a:extLst>
              <a:ext uri="{FF2B5EF4-FFF2-40B4-BE49-F238E27FC236}">
                <a16:creationId xmlns:a16="http://schemas.microsoft.com/office/drawing/2014/main" id="{F2DBA9E2-EA6E-FB58-6E98-8D5171BDB870}"/>
              </a:ext>
            </a:extLst>
          </p:cNvPr>
          <p:cNvSpPr/>
          <p:nvPr/>
        </p:nvSpPr>
        <p:spPr>
          <a:xfrm>
            <a:off x="489112" y="4021759"/>
            <a:ext cx="151570" cy="151644"/>
          </a:xfrm>
          <a:custGeom>
            <a:avLst/>
            <a:gdLst>
              <a:gd name="f0" fmla="val 10800000"/>
              <a:gd name="f1" fmla="val 5400000"/>
              <a:gd name="f2" fmla="val 180"/>
              <a:gd name="f3" fmla="val w"/>
              <a:gd name="f4" fmla="val h"/>
              <a:gd name="f5" fmla="val 0"/>
              <a:gd name="f6" fmla="val 151647"/>
              <a:gd name="f7" fmla="val 8749"/>
              <a:gd name="f8" fmla="val 151414"/>
              <a:gd name="f9" fmla="+- 0 0 -90"/>
              <a:gd name="f10" fmla="*/ f3 1 151647"/>
              <a:gd name="f11" fmla="*/ f4 1 151647"/>
              <a:gd name="f12" fmla="+- f6 0 f5"/>
              <a:gd name="f13" fmla="*/ f9 f0 1"/>
              <a:gd name="f14" fmla="*/ f12 1 151647"/>
              <a:gd name="f15" fmla="*/ 8749 f12 1"/>
              <a:gd name="f16" fmla="*/ 151414 f12 1"/>
              <a:gd name="f17" fmla="*/ f13 1 f2"/>
              <a:gd name="f18" fmla="*/ f15 1 151647"/>
              <a:gd name="f19" fmla="*/ f16 1 151647"/>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51647" h="151647">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3" name="Freeform: Shape 4">
            <a:extLst>
              <a:ext uri="{FF2B5EF4-FFF2-40B4-BE49-F238E27FC236}">
                <a16:creationId xmlns:a16="http://schemas.microsoft.com/office/drawing/2014/main" id="{AA9C1380-500E-C51A-F77D-A9272C0FB5A0}"/>
              </a:ext>
            </a:extLst>
          </p:cNvPr>
          <p:cNvSpPr/>
          <p:nvPr/>
        </p:nvSpPr>
        <p:spPr>
          <a:xfrm>
            <a:off x="774295" y="4021759"/>
            <a:ext cx="151570" cy="151644"/>
          </a:xfrm>
          <a:custGeom>
            <a:avLst/>
            <a:gdLst>
              <a:gd name="f0" fmla="val 10800000"/>
              <a:gd name="f1" fmla="val 5400000"/>
              <a:gd name="f2" fmla="val 180"/>
              <a:gd name="f3" fmla="val w"/>
              <a:gd name="f4" fmla="val h"/>
              <a:gd name="f5" fmla="val 0"/>
              <a:gd name="f6" fmla="val 151647"/>
              <a:gd name="f7" fmla="val 8749"/>
              <a:gd name="f8" fmla="val 151414"/>
              <a:gd name="f9" fmla="+- 0 0 -90"/>
              <a:gd name="f10" fmla="*/ f3 1 151647"/>
              <a:gd name="f11" fmla="*/ f4 1 151647"/>
              <a:gd name="f12" fmla="+- f6 0 f5"/>
              <a:gd name="f13" fmla="*/ f9 f0 1"/>
              <a:gd name="f14" fmla="*/ f12 1 151647"/>
              <a:gd name="f15" fmla="*/ 8749 f12 1"/>
              <a:gd name="f16" fmla="*/ 151414 f12 1"/>
              <a:gd name="f17" fmla="*/ f13 1 f2"/>
              <a:gd name="f18" fmla="*/ f15 1 151647"/>
              <a:gd name="f19" fmla="*/ f16 1 151647"/>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51647" h="151647">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4" name="Freeform: Shape 5">
            <a:extLst>
              <a:ext uri="{FF2B5EF4-FFF2-40B4-BE49-F238E27FC236}">
                <a16:creationId xmlns:a16="http://schemas.microsoft.com/office/drawing/2014/main" id="{3DBC905C-9474-87C3-6ED6-556E634ECD7B}"/>
              </a:ext>
            </a:extLst>
          </p:cNvPr>
          <p:cNvSpPr/>
          <p:nvPr/>
        </p:nvSpPr>
        <p:spPr>
          <a:xfrm>
            <a:off x="1059359" y="4021759"/>
            <a:ext cx="151570" cy="151644"/>
          </a:xfrm>
          <a:custGeom>
            <a:avLst/>
            <a:gdLst>
              <a:gd name="f0" fmla="val 10800000"/>
              <a:gd name="f1" fmla="val 5400000"/>
              <a:gd name="f2" fmla="val 180"/>
              <a:gd name="f3" fmla="val w"/>
              <a:gd name="f4" fmla="val h"/>
              <a:gd name="f5" fmla="val 0"/>
              <a:gd name="f6" fmla="val 151647"/>
              <a:gd name="f7" fmla="val 8749"/>
              <a:gd name="f8" fmla="val 151414"/>
              <a:gd name="f9" fmla="+- 0 0 -90"/>
              <a:gd name="f10" fmla="*/ f3 1 151647"/>
              <a:gd name="f11" fmla="*/ f4 1 151647"/>
              <a:gd name="f12" fmla="+- f6 0 f5"/>
              <a:gd name="f13" fmla="*/ f9 f0 1"/>
              <a:gd name="f14" fmla="*/ f12 1 151647"/>
              <a:gd name="f15" fmla="*/ 8749 f12 1"/>
              <a:gd name="f16" fmla="*/ 151414 f12 1"/>
              <a:gd name="f17" fmla="*/ f13 1 f2"/>
              <a:gd name="f18" fmla="*/ f15 1 151647"/>
              <a:gd name="f19" fmla="*/ f16 1 151647"/>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51647" h="151647">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nvGrpSpPr>
          <p:cNvPr id="75" name="Group 4">
            <a:extLst>
              <a:ext uri="{FF2B5EF4-FFF2-40B4-BE49-F238E27FC236}">
                <a16:creationId xmlns:a16="http://schemas.microsoft.com/office/drawing/2014/main" id="{D655D310-B5A4-CDC0-5BE5-FCAD7D3EDAC0}"/>
              </a:ext>
            </a:extLst>
          </p:cNvPr>
          <p:cNvGrpSpPr/>
          <p:nvPr/>
        </p:nvGrpSpPr>
        <p:grpSpPr>
          <a:xfrm>
            <a:off x="10359393" y="4960940"/>
            <a:ext cx="1224911" cy="1435105"/>
            <a:chOff x="10359393" y="4960940"/>
            <a:chExt cx="1224911" cy="1435105"/>
          </a:xfrm>
        </p:grpSpPr>
        <p:sp>
          <p:nvSpPr>
            <p:cNvPr id="76" name="Freeform 5">
              <a:extLst>
                <a:ext uri="{FF2B5EF4-FFF2-40B4-BE49-F238E27FC236}">
                  <a16:creationId xmlns:a16="http://schemas.microsoft.com/office/drawing/2014/main" id="{AFB14759-DBC7-A9E9-1062-9CA8C4857017}"/>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7" name="Freeform 6">
              <a:extLst>
                <a:ext uri="{FF2B5EF4-FFF2-40B4-BE49-F238E27FC236}">
                  <a16:creationId xmlns:a16="http://schemas.microsoft.com/office/drawing/2014/main" id="{A0F640CF-6FAF-2020-A7DC-6F8AA78ACC0D}"/>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230217476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Approved question tall">
    <p:spTree>
      <p:nvGrpSpPr>
        <p:cNvPr id="1" name=""/>
        <p:cNvGrpSpPr/>
        <p:nvPr/>
      </p:nvGrpSpPr>
      <p:grpSpPr>
        <a:xfrm>
          <a:off x="0" y="0"/>
          <a:ext cx="0" cy="0"/>
          <a:chOff x="0" y="0"/>
          <a:chExt cx="0" cy="0"/>
        </a:xfrm>
      </p:grpSpPr>
      <p:pic>
        <p:nvPicPr>
          <p:cNvPr id="2" name="Picture 74">
            <a:extLst>
              <a:ext uri="{FF2B5EF4-FFF2-40B4-BE49-F238E27FC236}">
                <a16:creationId xmlns:a16="http://schemas.microsoft.com/office/drawing/2014/main" id="{EF0EB2FF-7ECB-C9F4-93FD-864522FE055C}"/>
              </a:ext>
            </a:extLst>
          </p:cNvPr>
          <p:cNvPicPr>
            <a:picLocks noChangeAspect="1"/>
          </p:cNvPicPr>
          <p:nvPr/>
        </p:nvPicPr>
        <p:blipFill>
          <a:blip r:embed="rId2"/>
          <a:srcRect/>
          <a:stretch>
            <a:fillRect/>
          </a:stretch>
        </p:blipFill>
        <p:spPr>
          <a:xfrm>
            <a:off x="0" y="0"/>
            <a:ext cx="12191996" cy="6858000"/>
          </a:xfrm>
          <a:prstGeom prst="rect">
            <a:avLst/>
          </a:prstGeom>
          <a:noFill/>
          <a:ln cap="flat">
            <a:noFill/>
          </a:ln>
        </p:spPr>
      </p:pic>
      <p:pic>
        <p:nvPicPr>
          <p:cNvPr id="3" name="Graphic 84">
            <a:extLst>
              <a:ext uri="{FF2B5EF4-FFF2-40B4-BE49-F238E27FC236}">
                <a16:creationId xmlns:a16="http://schemas.microsoft.com/office/drawing/2014/main" id="{9749B18E-BEED-F686-39D6-BDF59009AB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89112" y="869576"/>
            <a:ext cx="4845497" cy="3933821"/>
          </a:xfrm>
          <a:prstGeom prst="rect">
            <a:avLst/>
          </a:prstGeom>
          <a:noFill/>
          <a:ln cap="flat">
            <a:noFill/>
          </a:ln>
        </p:spPr>
      </p:pic>
      <p:grpSp>
        <p:nvGrpSpPr>
          <p:cNvPr id="4" name="Group 185">
            <a:extLst>
              <a:ext uri="{FF2B5EF4-FFF2-40B4-BE49-F238E27FC236}">
                <a16:creationId xmlns:a16="http://schemas.microsoft.com/office/drawing/2014/main" id="{9E05CDB1-007F-3187-A030-3F06FB22B8A8}"/>
              </a:ext>
            </a:extLst>
          </p:cNvPr>
          <p:cNvGrpSpPr/>
          <p:nvPr/>
        </p:nvGrpSpPr>
        <p:grpSpPr>
          <a:xfrm>
            <a:off x="497854" y="5826611"/>
            <a:ext cx="3876004" cy="570201"/>
            <a:chOff x="497854" y="5826611"/>
            <a:chExt cx="3876004" cy="570201"/>
          </a:xfrm>
        </p:grpSpPr>
        <p:sp>
          <p:nvSpPr>
            <p:cNvPr id="5" name="Rectangle 186">
              <a:extLst>
                <a:ext uri="{FF2B5EF4-FFF2-40B4-BE49-F238E27FC236}">
                  <a16:creationId xmlns:a16="http://schemas.microsoft.com/office/drawing/2014/main" id="{DA96D0A5-850E-1852-1AB1-35A9A044E5D1}"/>
                </a:ext>
              </a:extLst>
            </p:cNvPr>
            <p:cNvSpPr/>
            <p:nvPr/>
          </p:nvSpPr>
          <p:spPr>
            <a:xfrm>
              <a:off x="497854"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6" name="Rectangle 6">
              <a:extLst>
                <a:ext uri="{FF2B5EF4-FFF2-40B4-BE49-F238E27FC236}">
                  <a16:creationId xmlns:a16="http://schemas.microsoft.com/office/drawing/2014/main" id="{656B4680-DABD-DB0C-DA16-57E1CBE5E3E3}"/>
                </a:ext>
              </a:extLst>
            </p:cNvPr>
            <p:cNvSpPr/>
            <p:nvPr/>
          </p:nvSpPr>
          <p:spPr>
            <a:xfrm>
              <a:off x="693051"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 name="Rectangle 7">
              <a:extLst>
                <a:ext uri="{FF2B5EF4-FFF2-40B4-BE49-F238E27FC236}">
                  <a16:creationId xmlns:a16="http://schemas.microsoft.com/office/drawing/2014/main" id="{CDBF9E0F-854F-0849-3D94-F7E9E19D8F0B}"/>
                </a:ext>
              </a:extLst>
            </p:cNvPr>
            <p:cNvSpPr/>
            <p:nvPr/>
          </p:nvSpPr>
          <p:spPr>
            <a:xfrm>
              <a:off x="889985"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8" name="Freeform 8">
              <a:extLst>
                <a:ext uri="{FF2B5EF4-FFF2-40B4-BE49-F238E27FC236}">
                  <a16:creationId xmlns:a16="http://schemas.microsoft.com/office/drawing/2014/main" id="{52C66640-AD3C-5F03-6919-EB41761D5A2C}"/>
                </a:ext>
              </a:extLst>
            </p:cNvPr>
            <p:cNvSpPr/>
            <p:nvPr/>
          </p:nvSpPr>
          <p:spPr>
            <a:xfrm>
              <a:off x="497854" y="6056784"/>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1"/>
                <a:gd name="f10" fmla="val 22"/>
                <a:gd name="f11" fmla="+- 0 0 -90"/>
                <a:gd name="f12" fmla="*/ f3 1 54"/>
                <a:gd name="f13" fmla="*/ f4 1 75"/>
                <a:gd name="f14" fmla="+- f7 0 f5"/>
                <a:gd name="f15" fmla="+- f6 0 f5"/>
                <a:gd name="f16" fmla="*/ f11 f0 1"/>
                <a:gd name="f17" fmla="*/ f15 1 54"/>
                <a:gd name="f18" fmla="*/ f14 1 75"/>
                <a:gd name="f19" fmla="*/ 32 f15 1"/>
                <a:gd name="f20" fmla="*/ 11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9" name="Freeform 9">
              <a:extLst>
                <a:ext uri="{FF2B5EF4-FFF2-40B4-BE49-F238E27FC236}">
                  <a16:creationId xmlns:a16="http://schemas.microsoft.com/office/drawing/2014/main" id="{4A897DB9-ABCB-B076-E282-A430F75B53B6}"/>
                </a:ext>
              </a:extLst>
            </p:cNvPr>
            <p:cNvSpPr/>
            <p:nvPr/>
          </p:nvSpPr>
          <p:spPr>
            <a:xfrm>
              <a:off x="609392" y="6049807"/>
              <a:ext cx="78428"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0" name="Freeform 10">
              <a:extLst>
                <a:ext uri="{FF2B5EF4-FFF2-40B4-BE49-F238E27FC236}">
                  <a16:creationId xmlns:a16="http://schemas.microsoft.com/office/drawing/2014/main" id="{E9D93157-A993-D37E-C83D-C3E5599F9CA7}"/>
                </a:ext>
              </a:extLst>
            </p:cNvPr>
            <p:cNvSpPr/>
            <p:nvPr/>
          </p:nvSpPr>
          <p:spPr>
            <a:xfrm>
              <a:off x="705249"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1" name="Freeform 11">
              <a:extLst>
                <a:ext uri="{FF2B5EF4-FFF2-40B4-BE49-F238E27FC236}">
                  <a16:creationId xmlns:a16="http://schemas.microsoft.com/office/drawing/2014/main" id="{0D0E5E04-20ED-42D9-FD9E-3AECFACEA23D}"/>
                </a:ext>
              </a:extLst>
            </p:cNvPr>
            <p:cNvSpPr/>
            <p:nvPr/>
          </p:nvSpPr>
          <p:spPr>
            <a:xfrm>
              <a:off x="856875" y="6049807"/>
              <a:ext cx="83658" cy="139500"/>
            </a:xfrm>
            <a:custGeom>
              <a:avLst/>
              <a:gdLst>
                <a:gd name="f0" fmla="val 10800000"/>
                <a:gd name="f1" fmla="val 5400000"/>
                <a:gd name="f2" fmla="val 180"/>
                <a:gd name="f3" fmla="val w"/>
                <a:gd name="f4" fmla="val h"/>
                <a:gd name="f5" fmla="val 0"/>
                <a:gd name="f6" fmla="val 33"/>
                <a:gd name="f7" fmla="val 55"/>
                <a:gd name="f8" fmla="val 35"/>
                <a:gd name="f9" fmla="val 38"/>
                <a:gd name="f10" fmla="val 32"/>
                <a:gd name="f11" fmla="val 41"/>
                <a:gd name="f12" fmla="val 31"/>
                <a:gd name="f13" fmla="val 44"/>
                <a:gd name="f14" fmla="val 30"/>
                <a:gd name="f15" fmla="val 46"/>
                <a:gd name="f16" fmla="val 29"/>
                <a:gd name="f17" fmla="val 48"/>
                <a:gd name="f18" fmla="val 28"/>
                <a:gd name="f19" fmla="val 50"/>
                <a:gd name="f20" fmla="val 27"/>
                <a:gd name="f21" fmla="val 51"/>
                <a:gd name="f22" fmla="val 25"/>
                <a:gd name="f23" fmla="val 53"/>
                <a:gd name="f24" fmla="val 23"/>
                <a:gd name="f25" fmla="val 21"/>
                <a:gd name="f26" fmla="val 54"/>
                <a:gd name="f27" fmla="val 19"/>
                <a:gd name="f28" fmla="val 17"/>
                <a:gd name="f29" fmla="val 16"/>
                <a:gd name="f30" fmla="val 14"/>
                <a:gd name="f31" fmla="val 12"/>
                <a:gd name="f32" fmla="val 10"/>
                <a:gd name="f33" fmla="val 52"/>
                <a:gd name="f34" fmla="val 9"/>
                <a:gd name="f35" fmla="val 8"/>
                <a:gd name="f36" fmla="val 4"/>
                <a:gd name="f37" fmla="val 18"/>
                <a:gd name="f38" fmla="val 11"/>
                <a:gd name="f39" fmla="val 13"/>
                <a:gd name="f40" fmla="val 15"/>
                <a:gd name="f41" fmla="val 20"/>
                <a:gd name="f42" fmla="val 22"/>
                <a:gd name="f43" fmla="val 24"/>
                <a:gd name="f44" fmla="val 26"/>
                <a:gd name="f45" fmla="val 43"/>
                <a:gd name="f46" fmla="val 45"/>
                <a:gd name="f47" fmla="val 47"/>
                <a:gd name="f48" fmla="val 39"/>
                <a:gd name="f49" fmla="+- 0 0 -90"/>
                <a:gd name="f50" fmla="*/ f3 1 33"/>
                <a:gd name="f51" fmla="*/ f4 1 55"/>
                <a:gd name="f52" fmla="+- f7 0 f5"/>
                <a:gd name="f53" fmla="+- f6 0 f5"/>
                <a:gd name="f54" fmla="*/ f49 f0 1"/>
                <a:gd name="f55" fmla="*/ f53 1 33"/>
                <a:gd name="f56" fmla="*/ f52 1 55"/>
                <a:gd name="f57" fmla="*/ 33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8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18 f53 1"/>
                <a:gd name="f80" fmla="*/ 24 f53 1"/>
                <a:gd name="f81" fmla="*/ 26 f52 1"/>
                <a:gd name="f82" fmla="*/ 25 f53 1"/>
                <a:gd name="f83" fmla="*/ 25 f52 1"/>
                <a:gd name="f84" fmla="*/ 16 f53 1"/>
                <a:gd name="f85" fmla="*/ 22 f52 1"/>
                <a:gd name="f86" fmla="*/ 11 f53 1"/>
                <a:gd name="f87" fmla="*/ 23 f52 1"/>
                <a:gd name="f88" fmla="*/ 9 f53 1"/>
                <a:gd name="f89" fmla="*/ 43 f52 1"/>
                <a:gd name="f90" fmla="*/ 46 f52 1"/>
                <a:gd name="f91" fmla="*/ 47 f52 1"/>
                <a:gd name="f92" fmla="*/ 48 f52 1"/>
                <a:gd name="f93" fmla="*/ 45 f52 1"/>
                <a:gd name="f94" fmla="*/ f54 1 f2"/>
                <a:gd name="f95" fmla="*/ f57 1 33"/>
                <a:gd name="f96" fmla="*/ f58 1 55"/>
                <a:gd name="f97" fmla="*/ f59 1 33"/>
                <a:gd name="f98" fmla="*/ f60 1 55"/>
                <a:gd name="f99" fmla="*/ f61 1 33"/>
                <a:gd name="f100" fmla="*/ f62 1 55"/>
                <a:gd name="f101" fmla="*/ f63 1 33"/>
                <a:gd name="f102" fmla="*/ f64 1 55"/>
                <a:gd name="f103" fmla="*/ f65 1 33"/>
                <a:gd name="f104" fmla="*/ f66 1 55"/>
                <a:gd name="f105" fmla="*/ f67 1 33"/>
                <a:gd name="f106" fmla="*/ f68 1 33"/>
                <a:gd name="f107" fmla="*/ f69 1 55"/>
                <a:gd name="f108" fmla="*/ f70 1 33"/>
                <a:gd name="f109" fmla="*/ f71 1 55"/>
                <a:gd name="f110" fmla="*/ f72 1 55"/>
                <a:gd name="f111" fmla="*/ f73 1 55"/>
                <a:gd name="f112" fmla="*/ f74 1 33"/>
                <a:gd name="f113" fmla="*/ f75 1 55"/>
                <a:gd name="f114" fmla="*/ f76 1 55"/>
                <a:gd name="f115" fmla="*/ f77 1 33"/>
                <a:gd name="f116" fmla="*/ f78 1 55"/>
                <a:gd name="f117" fmla="*/ f79 1 33"/>
                <a:gd name="f118" fmla="*/ f80 1 33"/>
                <a:gd name="f119" fmla="*/ f81 1 55"/>
                <a:gd name="f120" fmla="*/ f82 1 33"/>
                <a:gd name="f121" fmla="*/ f83 1 55"/>
                <a:gd name="f122" fmla="*/ f84 1 33"/>
                <a:gd name="f123" fmla="*/ f85 1 55"/>
                <a:gd name="f124" fmla="*/ f86 1 33"/>
                <a:gd name="f125" fmla="*/ f87 1 55"/>
                <a:gd name="f126" fmla="*/ f88 1 33"/>
                <a:gd name="f127" fmla="*/ f89 1 55"/>
                <a:gd name="f128" fmla="*/ f90 1 55"/>
                <a:gd name="f129" fmla="*/ f91 1 55"/>
                <a:gd name="f130" fmla="*/ f92 1 55"/>
                <a:gd name="f131" fmla="*/ f93 1 55"/>
                <a:gd name="f132" fmla="*/ 0 1 f55"/>
                <a:gd name="f133" fmla="*/ f6 1 f55"/>
                <a:gd name="f134" fmla="*/ 0 1 f56"/>
                <a:gd name="f135" fmla="*/ f7 1 f56"/>
                <a:gd name="f136" fmla="+- f94 0 f1"/>
                <a:gd name="f137" fmla="*/ f95 1 f55"/>
                <a:gd name="f138" fmla="*/ f96 1 f56"/>
                <a:gd name="f139" fmla="*/ f97 1 f55"/>
                <a:gd name="f140" fmla="*/ f98 1 f56"/>
                <a:gd name="f141" fmla="*/ f99 1 f55"/>
                <a:gd name="f142" fmla="*/ f100 1 f56"/>
                <a:gd name="f143" fmla="*/ f101 1 f55"/>
                <a:gd name="f144" fmla="*/ f102 1 f56"/>
                <a:gd name="f145" fmla="*/ f103 1 f55"/>
                <a:gd name="f146" fmla="*/ f104 1 f56"/>
                <a:gd name="f147" fmla="*/ f105 1 f55"/>
                <a:gd name="f148" fmla="*/ f106 1 f55"/>
                <a:gd name="f149" fmla="*/ f107 1 f56"/>
                <a:gd name="f150" fmla="*/ f108 1 f55"/>
                <a:gd name="f151" fmla="*/ f109 1 f56"/>
                <a:gd name="f152" fmla="*/ f110 1 f56"/>
                <a:gd name="f153" fmla="*/ f111 1 f56"/>
                <a:gd name="f154" fmla="*/ f112 1 f55"/>
                <a:gd name="f155" fmla="*/ f113 1 f56"/>
                <a:gd name="f156" fmla="*/ f114 1 f56"/>
                <a:gd name="f157" fmla="*/ f115 1 f55"/>
                <a:gd name="f158" fmla="*/ f116 1 f56"/>
                <a:gd name="f159" fmla="*/ f117 1 f55"/>
                <a:gd name="f160" fmla="*/ f118 1 f55"/>
                <a:gd name="f161" fmla="*/ f119 1 f56"/>
                <a:gd name="f162" fmla="*/ f120 1 f55"/>
                <a:gd name="f163" fmla="*/ f121 1 f56"/>
                <a:gd name="f164" fmla="*/ f122 1 f55"/>
                <a:gd name="f165" fmla="*/ f123 1 f56"/>
                <a:gd name="f166" fmla="*/ f124 1 f55"/>
                <a:gd name="f167" fmla="*/ f125 1 f56"/>
                <a:gd name="f168" fmla="*/ f126 1 f55"/>
                <a:gd name="f169" fmla="*/ f127 1 f56"/>
                <a:gd name="f170" fmla="*/ f128 1 f56"/>
                <a:gd name="f171" fmla="*/ f129 1 f56"/>
                <a:gd name="f172" fmla="*/ f130 1 f56"/>
                <a:gd name="f173" fmla="*/ f131 1 f56"/>
                <a:gd name="f174" fmla="*/ f132 f50 1"/>
                <a:gd name="f175" fmla="*/ f133 f50 1"/>
                <a:gd name="f176" fmla="*/ f135 f51 1"/>
                <a:gd name="f177" fmla="*/ f134 f51 1"/>
                <a:gd name="f178" fmla="*/ f137 f50 1"/>
                <a:gd name="f179" fmla="*/ f138 f51 1"/>
                <a:gd name="f180" fmla="*/ f139 f50 1"/>
                <a:gd name="f181" fmla="*/ f140 f51 1"/>
                <a:gd name="f182" fmla="*/ f141 f50 1"/>
                <a:gd name="f183" fmla="*/ f142 f51 1"/>
                <a:gd name="f184" fmla="*/ f143 f50 1"/>
                <a:gd name="f185" fmla="*/ f144 f51 1"/>
                <a:gd name="f186" fmla="*/ f145 f50 1"/>
                <a:gd name="f187" fmla="*/ f146 f51 1"/>
                <a:gd name="f188" fmla="*/ f147 f50 1"/>
                <a:gd name="f189" fmla="*/ f148 f50 1"/>
                <a:gd name="f190" fmla="*/ f149 f51 1"/>
                <a:gd name="f191" fmla="*/ f150 f50 1"/>
                <a:gd name="f192" fmla="*/ f151 f51 1"/>
                <a:gd name="f193" fmla="*/ f152 f51 1"/>
                <a:gd name="f194" fmla="*/ f153 f51 1"/>
                <a:gd name="f195" fmla="*/ f154 f50 1"/>
                <a:gd name="f196" fmla="*/ f155 f51 1"/>
                <a:gd name="f197" fmla="*/ f156 f51 1"/>
                <a:gd name="f198" fmla="*/ f157 f50 1"/>
                <a:gd name="f199" fmla="*/ f158 f51 1"/>
                <a:gd name="f200" fmla="*/ f159 f50 1"/>
                <a:gd name="f201" fmla="*/ f160 f50 1"/>
                <a:gd name="f202" fmla="*/ f161 f51 1"/>
                <a:gd name="f203" fmla="*/ f162 f50 1"/>
                <a:gd name="f204" fmla="*/ f163 f51 1"/>
                <a:gd name="f205" fmla="*/ f164 f50 1"/>
                <a:gd name="f206" fmla="*/ f165 f51 1"/>
                <a:gd name="f207" fmla="*/ f166 f50 1"/>
                <a:gd name="f208" fmla="*/ f167 f51 1"/>
                <a:gd name="f209" fmla="*/ f168 f50 1"/>
                <a:gd name="f210" fmla="*/ f169 f51 1"/>
                <a:gd name="f211" fmla="*/ f170 f51 1"/>
                <a:gd name="f212" fmla="*/ f171 f51 1"/>
                <a:gd name="f213" fmla="*/ f172 f51 1"/>
                <a:gd name="f214" fmla="*/ f173 f51 1"/>
              </a:gdLst>
              <a:ahLst/>
              <a:cxnLst>
                <a:cxn ang="3cd4">
                  <a:pos x="hc" y="t"/>
                </a:cxn>
                <a:cxn ang="0">
                  <a:pos x="r" y="vc"/>
                </a:cxn>
                <a:cxn ang="cd4">
                  <a:pos x="hc" y="b"/>
                </a:cxn>
                <a:cxn ang="cd2">
                  <a:pos x="l" y="vc"/>
                </a:cxn>
                <a:cxn ang="f136">
                  <a:pos x="f178" y="f179"/>
                </a:cxn>
                <a:cxn ang="f136">
                  <a:pos x="f180" y="f181"/>
                </a:cxn>
                <a:cxn ang="f136">
                  <a:pos x="f182" y="f183"/>
                </a:cxn>
                <a:cxn ang="f136">
                  <a:pos x="f184" y="f185"/>
                </a:cxn>
                <a:cxn ang="f136">
                  <a:pos x="f186" y="f187"/>
                </a:cxn>
                <a:cxn ang="f136">
                  <a:pos x="f188" y="f185"/>
                </a:cxn>
                <a:cxn ang="f136">
                  <a:pos x="f189" y="f183"/>
                </a:cxn>
                <a:cxn ang="f136">
                  <a:pos x="f189" y="f190"/>
                </a:cxn>
                <a:cxn ang="f136">
                  <a:pos x="f191" y="f190"/>
                </a:cxn>
                <a:cxn ang="f136">
                  <a:pos x="f191" y="f192"/>
                </a:cxn>
                <a:cxn ang="f136">
                  <a:pos x="f189" y="f193"/>
                </a:cxn>
                <a:cxn ang="f136">
                  <a:pos x="f189" y="f194"/>
                </a:cxn>
                <a:cxn ang="f136">
                  <a:pos x="f195" y="f196"/>
                </a:cxn>
                <a:cxn ang="f136">
                  <a:pos x="f188" y="f197"/>
                </a:cxn>
                <a:cxn ang="f136">
                  <a:pos x="f198" y="f199"/>
                </a:cxn>
                <a:cxn ang="f136">
                  <a:pos x="f200" y="f199"/>
                </a:cxn>
                <a:cxn ang="f136">
                  <a:pos x="f201" y="f197"/>
                </a:cxn>
                <a:cxn ang="f136">
                  <a:pos x="f182" y="f194"/>
                </a:cxn>
                <a:cxn ang="f136">
                  <a:pos x="f180" y="f202"/>
                </a:cxn>
                <a:cxn ang="f136">
                  <a:pos x="f178" y="f179"/>
                </a:cxn>
                <a:cxn ang="f136">
                  <a:pos x="f203" y="f179"/>
                </a:cxn>
                <a:cxn ang="f136">
                  <a:pos x="f184" y="f204"/>
                </a:cxn>
                <a:cxn ang="f136">
                  <a:pos x="f205" y="f206"/>
                </a:cxn>
                <a:cxn ang="f136">
                  <a:pos x="f198" y="f206"/>
                </a:cxn>
                <a:cxn ang="f136">
                  <a:pos x="f207" y="f208"/>
                </a:cxn>
                <a:cxn ang="f136">
                  <a:pos x="f209" y="f204"/>
                </a:cxn>
                <a:cxn ang="f136">
                  <a:pos x="f189" y="f202"/>
                </a:cxn>
                <a:cxn ang="f136">
                  <a:pos x="f189" y="f210"/>
                </a:cxn>
                <a:cxn ang="f136">
                  <a:pos x="f209" y="f181"/>
                </a:cxn>
                <a:cxn ang="f136">
                  <a:pos x="f207" y="f211"/>
                </a:cxn>
                <a:cxn ang="f136">
                  <a:pos x="f198" y="f212"/>
                </a:cxn>
                <a:cxn ang="f136">
                  <a:pos x="f186" y="f213"/>
                </a:cxn>
                <a:cxn ang="f136">
                  <a:pos x="f184" y="f214"/>
                </a:cxn>
                <a:cxn ang="f136">
                  <a:pos x="f203" y="f179"/>
                </a:cxn>
              </a:cxnLst>
              <a:rect l="f174" t="f177" r="f175" b="f176"/>
              <a:pathLst>
                <a:path w="33" h="55">
                  <a:moveTo>
                    <a:pt x="f6" y="f8"/>
                  </a:moveTo>
                  <a:cubicBezTo>
                    <a:pt x="f6" y="f9"/>
                    <a:pt x="f10" y="f11"/>
                    <a:pt x="f12" y="f13"/>
                  </a:cubicBezTo>
                  <a:cubicBezTo>
                    <a:pt x="f14" y="f15"/>
                    <a:pt x="f16" y="f17"/>
                    <a:pt x="f18" y="f19"/>
                  </a:cubicBezTo>
                  <a:cubicBezTo>
                    <a:pt x="f20" y="f21"/>
                    <a:pt x="f22" y="f23"/>
                    <a:pt x="f24" y="f23"/>
                  </a:cubicBezTo>
                  <a:cubicBezTo>
                    <a:pt x="f25" y="f26"/>
                    <a:pt x="f27" y="f7"/>
                    <a:pt x="f28" y="f7"/>
                  </a:cubicBezTo>
                  <a:cubicBezTo>
                    <a:pt x="f29" y="f7"/>
                    <a:pt x="f30" y="f26"/>
                    <a:pt x="f31" y="f23"/>
                  </a:cubicBezTo>
                  <a:cubicBezTo>
                    <a:pt x="f32" y="f33"/>
                    <a:pt x="f34" y="f21"/>
                    <a:pt x="f35" y="f19"/>
                  </a:cubicBezTo>
                  <a:cubicBezTo>
                    <a:pt x="f35" y="f26"/>
                    <a:pt x="f35" y="f26"/>
                    <a:pt x="f35" y="f26"/>
                  </a:cubicBezTo>
                  <a:cubicBezTo>
                    <a:pt x="f5" y="f26"/>
                    <a:pt x="f5" y="f26"/>
                    <a:pt x="f5" y="f26"/>
                  </a:cubicBezTo>
                  <a:cubicBezTo>
                    <a:pt x="f5" y="f36"/>
                    <a:pt x="f5" y="f36"/>
                    <a:pt x="f5" y="f36"/>
                  </a:cubicBezTo>
                  <a:cubicBezTo>
                    <a:pt x="f35" y="f5"/>
                    <a:pt x="f35" y="f5"/>
                    <a:pt x="f35" y="f5"/>
                  </a:cubicBezTo>
                  <a:cubicBezTo>
                    <a:pt x="f35" y="f27"/>
                    <a:pt x="f35" y="f27"/>
                    <a:pt x="f35" y="f27"/>
                  </a:cubicBezTo>
                  <a:cubicBezTo>
                    <a:pt x="f34" y="f37"/>
                    <a:pt x="f34" y="f37"/>
                    <a:pt x="f32" y="f28"/>
                  </a:cubicBezTo>
                  <a:cubicBezTo>
                    <a:pt x="f38" y="f28"/>
                    <a:pt x="f38" y="f29"/>
                    <a:pt x="f31" y="f29"/>
                  </a:cubicBezTo>
                  <a:cubicBezTo>
                    <a:pt x="f39" y="f29"/>
                    <a:pt x="f39" y="f40"/>
                    <a:pt x="f30" y="f40"/>
                  </a:cubicBezTo>
                  <a:cubicBezTo>
                    <a:pt x="f40" y="f40"/>
                    <a:pt x="f29" y="f40"/>
                    <a:pt x="f37" y="f40"/>
                  </a:cubicBezTo>
                  <a:cubicBezTo>
                    <a:pt x="f41" y="f40"/>
                    <a:pt x="f42" y="f40"/>
                    <a:pt x="f43" y="f29"/>
                  </a:cubicBezTo>
                  <a:cubicBezTo>
                    <a:pt x="f22" y="f29"/>
                    <a:pt x="f20" y="f37"/>
                    <a:pt x="f18" y="f27"/>
                  </a:cubicBezTo>
                  <a:cubicBezTo>
                    <a:pt x="f14" y="f25"/>
                    <a:pt x="f12" y="f24"/>
                    <a:pt x="f12" y="f44"/>
                  </a:cubicBezTo>
                  <a:cubicBezTo>
                    <a:pt x="f10" y="f18"/>
                    <a:pt x="f6" y="f10"/>
                    <a:pt x="f6" y="f8"/>
                  </a:cubicBezTo>
                  <a:close/>
                  <a:moveTo>
                    <a:pt x="f22" y="f8"/>
                  </a:moveTo>
                  <a:cubicBezTo>
                    <a:pt x="f22" y="f12"/>
                    <a:pt x="f43" y="f20"/>
                    <a:pt x="f24" y="f22"/>
                  </a:cubicBezTo>
                  <a:cubicBezTo>
                    <a:pt x="f25" y="f24"/>
                    <a:pt x="f27" y="f42"/>
                    <a:pt x="f29" y="f42"/>
                  </a:cubicBezTo>
                  <a:cubicBezTo>
                    <a:pt x="f40" y="f42"/>
                    <a:pt x="f40" y="f42"/>
                    <a:pt x="f30" y="f42"/>
                  </a:cubicBezTo>
                  <a:cubicBezTo>
                    <a:pt x="f39" y="f42"/>
                    <a:pt x="f31" y="f24"/>
                    <a:pt x="f38" y="f24"/>
                  </a:cubicBezTo>
                  <a:cubicBezTo>
                    <a:pt x="f38" y="f24"/>
                    <a:pt x="f32" y="f43"/>
                    <a:pt x="f34" y="f22"/>
                  </a:cubicBezTo>
                  <a:cubicBezTo>
                    <a:pt x="f34" y="f22"/>
                    <a:pt x="f35" y="f44"/>
                    <a:pt x="f35" y="f44"/>
                  </a:cubicBezTo>
                  <a:cubicBezTo>
                    <a:pt x="f35" y="f45"/>
                    <a:pt x="f35" y="f45"/>
                    <a:pt x="f35" y="f45"/>
                  </a:cubicBezTo>
                  <a:cubicBezTo>
                    <a:pt x="f35" y="f45"/>
                    <a:pt x="f34" y="f13"/>
                    <a:pt x="f34" y="f13"/>
                  </a:cubicBezTo>
                  <a:cubicBezTo>
                    <a:pt x="f32" y="f46"/>
                    <a:pt x="f38" y="f46"/>
                    <a:pt x="f38" y="f15"/>
                  </a:cubicBezTo>
                  <a:cubicBezTo>
                    <a:pt x="f31" y="f15"/>
                    <a:pt x="f39" y="f47"/>
                    <a:pt x="f30" y="f47"/>
                  </a:cubicBezTo>
                  <a:cubicBezTo>
                    <a:pt x="f40" y="f47"/>
                    <a:pt x="f29" y="f17"/>
                    <a:pt x="f28" y="f17"/>
                  </a:cubicBezTo>
                  <a:cubicBezTo>
                    <a:pt x="f27" y="f17"/>
                    <a:pt x="f25" y="f47"/>
                    <a:pt x="f24" y="f46"/>
                  </a:cubicBezTo>
                  <a:cubicBezTo>
                    <a:pt x="f43" y="f45"/>
                    <a:pt x="f22" y="f48"/>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2" name="Freeform 12">
              <a:extLst>
                <a:ext uri="{FF2B5EF4-FFF2-40B4-BE49-F238E27FC236}">
                  <a16:creationId xmlns:a16="http://schemas.microsoft.com/office/drawing/2014/main" id="{1020C561-2F7D-3363-0860-934A472784AA}"/>
                </a:ext>
              </a:extLst>
            </p:cNvPr>
            <p:cNvSpPr/>
            <p:nvPr/>
          </p:nvSpPr>
          <p:spPr>
            <a:xfrm>
              <a:off x="956215"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30 f50 1"/>
                <a:gd name="f74" fmla="*/ 35 f49 1"/>
                <a:gd name="f75" fmla="*/ 27 f50 1"/>
                <a:gd name="f76" fmla="*/ 37 f49 1"/>
                <a:gd name="f77" fmla="*/ 24 f50 1"/>
                <a:gd name="f78" fmla="*/ 38 f49 1"/>
                <a:gd name="f79" fmla="*/ 39 f49 1"/>
                <a:gd name="f80" fmla="*/ 16 f50 1"/>
                <a:gd name="f81" fmla="*/ 40 f49 1"/>
                <a:gd name="f82" fmla="*/ 12 f50 1"/>
                <a:gd name="f83" fmla="*/ 5 f50 1"/>
                <a:gd name="f84" fmla="*/ 34 f49 1"/>
                <a:gd name="f85" fmla="*/ 2 f50 1"/>
                <a:gd name="f86" fmla="*/ 0 f50 1"/>
                <a:gd name="f87" fmla="*/ 26 f49 1"/>
                <a:gd name="f88" fmla="*/ 20 f49 1"/>
                <a:gd name="f89" fmla="*/ 1 f50 1"/>
                <a:gd name="f90" fmla="*/ 11 f49 1"/>
                <a:gd name="f91" fmla="*/ 4 f50 1"/>
                <a:gd name="f92" fmla="*/ 5 f49 1"/>
                <a:gd name="f93" fmla="*/ 1 f49 1"/>
                <a:gd name="f94" fmla="*/ 0 f49 1"/>
                <a:gd name="f95" fmla="*/ 29 f50 1"/>
                <a:gd name="f96" fmla="*/ 16 f49 1"/>
                <a:gd name="f97" fmla="*/ 12 f49 1"/>
                <a:gd name="f98" fmla="*/ 9 f49 1"/>
                <a:gd name="f99" fmla="*/ 20 f50 1"/>
                <a:gd name="f100" fmla="*/ 7 f49 1"/>
                <a:gd name="f101" fmla="*/ 6 f49 1"/>
                <a:gd name="f102" fmla="*/ f51 1 f2"/>
                <a:gd name="f103" fmla="*/ f54 1 33"/>
                <a:gd name="f104" fmla="*/ f55 1 40"/>
                <a:gd name="f105" fmla="*/ f56 1 40"/>
                <a:gd name="f106" fmla="*/ f57 1 33"/>
                <a:gd name="f107" fmla="*/ f58 1 40"/>
                <a:gd name="f108" fmla="*/ f59 1 33"/>
                <a:gd name="f109" fmla="*/ f60 1 33"/>
                <a:gd name="f110" fmla="*/ f61 1 40"/>
                <a:gd name="f111" fmla="*/ f62 1 33"/>
                <a:gd name="f112" fmla="*/ f63 1 40"/>
                <a:gd name="f113" fmla="*/ f64 1 33"/>
                <a:gd name="f114" fmla="*/ f65 1 40"/>
                <a:gd name="f115" fmla="*/ f66 1 33"/>
                <a:gd name="f116" fmla="*/ f67 1 40"/>
                <a:gd name="f117" fmla="*/ f68 1 33"/>
                <a:gd name="f118" fmla="*/ f69 1 33"/>
                <a:gd name="f119" fmla="*/ f70 1 33"/>
                <a:gd name="f120" fmla="*/ f71 1 40"/>
                <a:gd name="f121" fmla="*/ f72 1 33"/>
                <a:gd name="f122" fmla="*/ f73 1 33"/>
                <a:gd name="f123" fmla="*/ f74 1 40"/>
                <a:gd name="f124" fmla="*/ f75 1 33"/>
                <a:gd name="f125" fmla="*/ f76 1 40"/>
                <a:gd name="f126" fmla="*/ f77 1 33"/>
                <a:gd name="f127" fmla="*/ f78 1 40"/>
                <a:gd name="f128" fmla="*/ f79 1 40"/>
                <a:gd name="f129" fmla="*/ f80 1 33"/>
                <a:gd name="f130" fmla="*/ f81 1 40"/>
                <a:gd name="f131" fmla="*/ f82 1 33"/>
                <a:gd name="f132" fmla="*/ f83 1 33"/>
                <a:gd name="f133" fmla="*/ f84 1 40"/>
                <a:gd name="f134" fmla="*/ f85 1 33"/>
                <a:gd name="f135" fmla="*/ f86 1 33"/>
                <a:gd name="f136" fmla="*/ f87 1 40"/>
                <a:gd name="f137" fmla="*/ f88 1 40"/>
                <a:gd name="f138" fmla="*/ f89 1 33"/>
                <a:gd name="f139" fmla="*/ f90 1 40"/>
                <a:gd name="f140" fmla="*/ f91 1 33"/>
                <a:gd name="f141" fmla="*/ f92 1 40"/>
                <a:gd name="f142" fmla="*/ f93 1 40"/>
                <a:gd name="f143" fmla="*/ f94 1 40"/>
                <a:gd name="f144" fmla="*/ f95 1 33"/>
                <a:gd name="f145" fmla="*/ f96 1 40"/>
                <a:gd name="f146" fmla="*/ f97 1 40"/>
                <a:gd name="f147" fmla="*/ f98 1 40"/>
                <a:gd name="f148" fmla="*/ f99 1 33"/>
                <a:gd name="f149" fmla="*/ f100 1 40"/>
                <a:gd name="f150" fmla="*/ f101 1 40"/>
                <a:gd name="f151" fmla="*/ 0 1 f52"/>
                <a:gd name="f152" fmla="*/ f6 1 f52"/>
                <a:gd name="f153" fmla="*/ 0 1 f53"/>
                <a:gd name="f154" fmla="*/ f7 1 f53"/>
                <a:gd name="f155" fmla="+- f102 0 f1"/>
                <a:gd name="f156" fmla="*/ f103 1 f52"/>
                <a:gd name="f157" fmla="*/ f104 1 f53"/>
                <a:gd name="f158" fmla="*/ f105 1 f53"/>
                <a:gd name="f159" fmla="*/ f106 1 f52"/>
                <a:gd name="f160" fmla="*/ f107 1 f53"/>
                <a:gd name="f161" fmla="*/ f108 1 f52"/>
                <a:gd name="f162" fmla="*/ f109 1 f52"/>
                <a:gd name="f163" fmla="*/ f110 1 f53"/>
                <a:gd name="f164" fmla="*/ f111 1 f52"/>
                <a:gd name="f165" fmla="*/ f112 1 f53"/>
                <a:gd name="f166" fmla="*/ f113 1 f52"/>
                <a:gd name="f167" fmla="*/ f114 1 f53"/>
                <a:gd name="f168" fmla="*/ f115 1 f52"/>
                <a:gd name="f169" fmla="*/ f116 1 f53"/>
                <a:gd name="f170" fmla="*/ f117 1 f52"/>
                <a:gd name="f171" fmla="*/ f118 1 f52"/>
                <a:gd name="f172" fmla="*/ f119 1 f52"/>
                <a:gd name="f173" fmla="*/ f120 1 f53"/>
                <a:gd name="f174" fmla="*/ f121 1 f52"/>
                <a:gd name="f175" fmla="*/ f122 1 f52"/>
                <a:gd name="f176" fmla="*/ f123 1 f53"/>
                <a:gd name="f177" fmla="*/ f124 1 f52"/>
                <a:gd name="f178" fmla="*/ f125 1 f53"/>
                <a:gd name="f179" fmla="*/ f126 1 f52"/>
                <a:gd name="f180" fmla="*/ f127 1 f53"/>
                <a:gd name="f181" fmla="*/ f128 1 f53"/>
                <a:gd name="f182" fmla="*/ f129 1 f52"/>
                <a:gd name="f183" fmla="*/ f130 1 f53"/>
                <a:gd name="f184" fmla="*/ f131 1 f52"/>
                <a:gd name="f185" fmla="*/ f132 1 f52"/>
                <a:gd name="f186" fmla="*/ f133 1 f53"/>
                <a:gd name="f187" fmla="*/ f134 1 f52"/>
                <a:gd name="f188" fmla="*/ f135 1 f52"/>
                <a:gd name="f189" fmla="*/ f136 1 f53"/>
                <a:gd name="f190" fmla="*/ f137 1 f53"/>
                <a:gd name="f191" fmla="*/ f138 1 f52"/>
                <a:gd name="f192" fmla="*/ f139 1 f53"/>
                <a:gd name="f193" fmla="*/ f140 1 f52"/>
                <a:gd name="f194" fmla="*/ f141 1 f53"/>
                <a:gd name="f195" fmla="*/ f142 1 f53"/>
                <a:gd name="f196" fmla="*/ f143 1 f53"/>
                <a:gd name="f197" fmla="*/ f144 1 f52"/>
                <a:gd name="f198" fmla="*/ f145 1 f53"/>
                <a:gd name="f199" fmla="*/ f146 1 f53"/>
                <a:gd name="f200" fmla="*/ f147 1 f53"/>
                <a:gd name="f201" fmla="*/ f148 1 f52"/>
                <a:gd name="f202" fmla="*/ f149 1 f53"/>
                <a:gd name="f203" fmla="*/ f150 1 f53"/>
                <a:gd name="f204" fmla="*/ f151 f47 1"/>
                <a:gd name="f205" fmla="*/ f152 f47 1"/>
                <a:gd name="f206" fmla="*/ f154 f48 1"/>
                <a:gd name="f207" fmla="*/ f153 f48 1"/>
                <a:gd name="f208" fmla="*/ f156 f47 1"/>
                <a:gd name="f209" fmla="*/ f157 f48 1"/>
                <a:gd name="f210" fmla="*/ f158 f48 1"/>
                <a:gd name="f211" fmla="*/ f159 f47 1"/>
                <a:gd name="f212" fmla="*/ f160 f48 1"/>
                <a:gd name="f213" fmla="*/ f161 f47 1"/>
                <a:gd name="f214" fmla="*/ f162 f47 1"/>
                <a:gd name="f215" fmla="*/ f163 f48 1"/>
                <a:gd name="f216" fmla="*/ f164 f47 1"/>
                <a:gd name="f217" fmla="*/ f165 f48 1"/>
                <a:gd name="f218" fmla="*/ f166 f47 1"/>
                <a:gd name="f219" fmla="*/ f167 f48 1"/>
                <a:gd name="f220" fmla="*/ f168 f47 1"/>
                <a:gd name="f221" fmla="*/ f169 f48 1"/>
                <a:gd name="f222" fmla="*/ f170 f47 1"/>
                <a:gd name="f223" fmla="*/ f171 f47 1"/>
                <a:gd name="f224" fmla="*/ f172 f47 1"/>
                <a:gd name="f225" fmla="*/ f173 f48 1"/>
                <a:gd name="f226" fmla="*/ f174 f47 1"/>
                <a:gd name="f227" fmla="*/ f175 f47 1"/>
                <a:gd name="f228" fmla="*/ f176 f48 1"/>
                <a:gd name="f229" fmla="*/ f177 f47 1"/>
                <a:gd name="f230" fmla="*/ f178 f48 1"/>
                <a:gd name="f231" fmla="*/ f179 f47 1"/>
                <a:gd name="f232" fmla="*/ f180 f48 1"/>
                <a:gd name="f233" fmla="*/ f181 f48 1"/>
                <a:gd name="f234" fmla="*/ f182 f47 1"/>
                <a:gd name="f235" fmla="*/ f183 f48 1"/>
                <a:gd name="f236" fmla="*/ f184 f47 1"/>
                <a:gd name="f237" fmla="*/ f185 f47 1"/>
                <a:gd name="f238" fmla="*/ f186 f48 1"/>
                <a:gd name="f239" fmla="*/ f187 f47 1"/>
                <a:gd name="f240" fmla="*/ f188 f47 1"/>
                <a:gd name="f241" fmla="*/ f189 f48 1"/>
                <a:gd name="f242" fmla="*/ f190 f48 1"/>
                <a:gd name="f243" fmla="*/ f191 f47 1"/>
                <a:gd name="f244" fmla="*/ f192 f48 1"/>
                <a:gd name="f245" fmla="*/ f193 f47 1"/>
                <a:gd name="f246" fmla="*/ f194 f48 1"/>
                <a:gd name="f247" fmla="*/ f195 f48 1"/>
                <a:gd name="f248" fmla="*/ f196 f48 1"/>
                <a:gd name="f249" fmla="*/ f197 f47 1"/>
                <a:gd name="f250" fmla="*/ f198 f48 1"/>
                <a:gd name="f251" fmla="*/ f199 f48 1"/>
                <a:gd name="f252" fmla="*/ f200 f48 1"/>
                <a:gd name="f253" fmla="*/ f201 f47 1"/>
                <a:gd name="f254" fmla="*/ f202 f48 1"/>
                <a:gd name="f255" fmla="*/ f203 f48 1"/>
              </a:gdLst>
              <a:ahLst/>
              <a:cxnLst>
                <a:cxn ang="3cd4">
                  <a:pos x="hc" y="t"/>
                </a:cxn>
                <a:cxn ang="0">
                  <a:pos x="r" y="vc"/>
                </a:cxn>
                <a:cxn ang="cd4">
                  <a:pos x="hc" y="b"/>
                </a:cxn>
                <a:cxn ang="cd2">
                  <a:pos x="l" y="vc"/>
                </a:cxn>
                <a:cxn ang="f155">
                  <a:pos x="f208" y="f209"/>
                </a:cxn>
                <a:cxn ang="f155">
                  <a:pos x="f208" y="f210"/>
                </a:cxn>
                <a:cxn ang="f155">
                  <a:pos x="f211" y="f212"/>
                </a:cxn>
                <a:cxn ang="f155">
                  <a:pos x="f213" y="f212"/>
                </a:cxn>
                <a:cxn ang="f155">
                  <a:pos x="f214" y="f215"/>
                </a:cxn>
                <a:cxn ang="f155">
                  <a:pos x="f216" y="f217"/>
                </a:cxn>
                <a:cxn ang="f155">
                  <a:pos x="f218" y="f219"/>
                </a:cxn>
                <a:cxn ang="f155">
                  <a:pos x="f220" y="f221"/>
                </a:cxn>
                <a:cxn ang="f155">
                  <a:pos x="f222" y="f221"/>
                </a:cxn>
                <a:cxn ang="f155">
                  <a:pos x="f223" y="f219"/>
                </a:cxn>
                <a:cxn ang="f155">
                  <a:pos x="f224" y="f225"/>
                </a:cxn>
                <a:cxn ang="f155">
                  <a:pos x="f226" y="f217"/>
                </a:cxn>
                <a:cxn ang="f155">
                  <a:pos x="f227" y="f228"/>
                </a:cxn>
                <a:cxn ang="f155">
                  <a:pos x="f229" y="f230"/>
                </a:cxn>
                <a:cxn ang="f155">
                  <a:pos x="f231" y="f232"/>
                </a:cxn>
                <a:cxn ang="f155">
                  <a:pos x="f223" y="f233"/>
                </a:cxn>
                <a:cxn ang="f155">
                  <a:pos x="f234" y="f235"/>
                </a:cxn>
                <a:cxn ang="f155">
                  <a:pos x="f236" y="f233"/>
                </a:cxn>
                <a:cxn ang="f155">
                  <a:pos x="f214" y="f230"/>
                </a:cxn>
                <a:cxn ang="f155">
                  <a:pos x="f237" y="f238"/>
                </a:cxn>
                <a:cxn ang="f155">
                  <a:pos x="f239" y="f225"/>
                </a:cxn>
                <a:cxn ang="f155">
                  <a:pos x="f240" y="f241"/>
                </a:cxn>
                <a:cxn ang="f155">
                  <a:pos x="f240" y="f242"/>
                </a:cxn>
                <a:cxn ang="f155">
                  <a:pos x="f243" y="f244"/>
                </a:cxn>
                <a:cxn ang="f155">
                  <a:pos x="f245" y="f246"/>
                </a:cxn>
                <a:cxn ang="f155">
                  <a:pos x="f216" y="f247"/>
                </a:cxn>
                <a:cxn ang="f155">
                  <a:pos x="f234" y="f248"/>
                </a:cxn>
                <a:cxn ang="f155">
                  <a:pos x="f231" y="f247"/>
                </a:cxn>
                <a:cxn ang="f155">
                  <a:pos x="f249" y="f246"/>
                </a:cxn>
                <a:cxn ang="f155">
                  <a:pos x="f211" y="f244"/>
                </a:cxn>
                <a:cxn ang="f155">
                  <a:pos x="f208" y="f209"/>
                </a:cxn>
                <a:cxn ang="f155">
                  <a:pos x="f226" y="f250"/>
                </a:cxn>
                <a:cxn ang="f155">
                  <a:pos x="f231" y="f251"/>
                </a:cxn>
                <a:cxn ang="f155">
                  <a:pos x="f224" y="f252"/>
                </a:cxn>
                <a:cxn ang="f155">
                  <a:pos x="f253" y="f254"/>
                </a:cxn>
                <a:cxn ang="f155">
                  <a:pos x="f234" y="f255"/>
                </a:cxn>
                <a:cxn ang="f155">
                  <a:pos x="f236" y="f254"/>
                </a:cxn>
                <a:cxn ang="f155">
                  <a:pos x="f216" y="f252"/>
                </a:cxn>
                <a:cxn ang="f155">
                  <a:pos x="f214" y="f251"/>
                </a:cxn>
                <a:cxn ang="f155">
                  <a:pos x="f213" y="f250"/>
                </a:cxn>
                <a:cxn ang="f155">
                  <a:pos x="f226" y="f250"/>
                </a:cxn>
              </a:cxnLst>
              <a:rect l="f204" t="f207" r="f205" b="f206"/>
              <a:pathLst>
                <a:path w="33" h="40">
                  <a:moveTo>
                    <a:pt x="f6" y="f8"/>
                  </a:moveTo>
                  <a:cubicBezTo>
                    <a:pt x="f6" y="f8"/>
                    <a:pt x="f6" y="f9"/>
                    <a:pt x="f6" y="f10"/>
                  </a:cubicBezTo>
                  <a:cubicBezTo>
                    <a:pt x="f6"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10" y="f11"/>
                    <a:pt x="f10" y="f11"/>
                  </a:cubicBezTo>
                  <a:cubicBezTo>
                    <a:pt x="f12" y="f11"/>
                    <a:pt x="f12" y="f24"/>
                    <a:pt x="f31" y="f24"/>
                  </a:cubicBezTo>
                  <a:cubicBezTo>
                    <a:pt x="f14" y="f24"/>
                    <a:pt x="f14" y="f22"/>
                    <a:pt x="f32" y="f22"/>
                  </a:cubicBezTo>
                  <a:cubicBezTo>
                    <a:pt x="f22" y="f33"/>
                    <a:pt x="f22" y="f33"/>
                    <a:pt x="f22" y="f33"/>
                  </a:cubicBezTo>
                  <a:cubicBezTo>
                    <a:pt x="f21" y="f33"/>
                    <a:pt x="f19" y="f34"/>
                    <a:pt x="f17" y="f35"/>
                  </a:cubicBezTo>
                  <a:cubicBezTo>
                    <a:pt x="f16" y="f35"/>
                    <a:pt x="f32" y="f36"/>
                    <a:pt x="f14" y="f36"/>
                  </a:cubicBezTo>
                  <a:cubicBezTo>
                    <a:pt x="f31" y="f37"/>
                    <a:pt x="f12" y="f37"/>
                    <a:pt x="f10"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30"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3" name="Freeform 13">
              <a:extLst>
                <a:ext uri="{FF2B5EF4-FFF2-40B4-BE49-F238E27FC236}">
                  <a16:creationId xmlns:a16="http://schemas.microsoft.com/office/drawing/2014/main" id="{A0440B57-15B0-71CC-004F-D21F2C98AAF7}"/>
                </a:ext>
              </a:extLst>
            </p:cNvPr>
            <p:cNvSpPr/>
            <p:nvPr/>
          </p:nvSpPr>
          <p:spPr>
            <a:xfrm>
              <a:off x="1050325"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2"/>
                <a:gd name="f19" fmla="val 11"/>
                <a:gd name="f20" fmla="val 10"/>
                <a:gd name="f21" fmla="val 9"/>
                <a:gd name="f22" fmla="val 8"/>
                <a:gd name="f23" fmla="val 52"/>
                <a:gd name="f24" fmla="val 7"/>
                <a:gd name="f25" fmla="val 51"/>
                <a:gd name="f26" fmla="val 6"/>
                <a:gd name="f27" fmla="val 50"/>
                <a:gd name="f28" fmla="val 49"/>
                <a:gd name="f29" fmla="val 48"/>
                <a:gd name="f30" fmla="val 5"/>
                <a:gd name="f31" fmla="val 46"/>
                <a:gd name="f32" fmla="val 44"/>
                <a:gd name="f33" fmla="val 4"/>
                <a:gd name="f34" fmla="val 4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1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3 f42 1"/>
                <a:gd name="f64" fmla="*/ 0 f41 1"/>
                <a:gd name="f65" fmla="*/ 22 f42 1"/>
                <a:gd name="f66" fmla="*/ 43 f41 1"/>
                <a:gd name="f67" fmla="*/ 45 f41 1"/>
                <a:gd name="f68" fmla="*/ 47 f41 1"/>
                <a:gd name="f69" fmla="*/ 15 f42 1"/>
                <a:gd name="f70" fmla="*/ 17 f42 1"/>
                <a:gd name="f71" fmla="*/ 48 f41 1"/>
                <a:gd name="f72" fmla="*/ 20 f42 1"/>
                <a:gd name="f73" fmla="*/ 46 f41 1"/>
                <a:gd name="f74" fmla="*/ f43 1 f2"/>
                <a:gd name="f75" fmla="*/ f46 1 22"/>
                <a:gd name="f76" fmla="*/ f47 1 55"/>
                <a:gd name="f77" fmla="*/ f48 1 22"/>
                <a:gd name="f78" fmla="*/ f49 1 55"/>
                <a:gd name="f79" fmla="*/ f50 1 22"/>
                <a:gd name="f80" fmla="*/ f51 1 55"/>
                <a:gd name="f81" fmla="*/ f52 1 22"/>
                <a:gd name="f82" fmla="*/ f53 1 22"/>
                <a:gd name="f83" fmla="*/ f54 1 55"/>
                <a:gd name="f84" fmla="*/ f55 1 22"/>
                <a:gd name="f85" fmla="*/ f56 1 55"/>
                <a:gd name="f86" fmla="*/ f57 1 22"/>
                <a:gd name="f87" fmla="*/ f58 1 55"/>
                <a:gd name="f88" fmla="*/ f59 1 55"/>
                <a:gd name="f89" fmla="*/ f60 1 22"/>
                <a:gd name="f90" fmla="*/ f61 1 55"/>
                <a:gd name="f91" fmla="*/ f62 1 55"/>
                <a:gd name="f92" fmla="*/ f63 1 22"/>
                <a:gd name="f93" fmla="*/ f64 1 55"/>
                <a:gd name="f94" fmla="*/ f65 1 22"/>
                <a:gd name="f95" fmla="*/ f66 1 55"/>
                <a:gd name="f96" fmla="*/ f67 1 55"/>
                <a:gd name="f97" fmla="*/ f68 1 55"/>
                <a:gd name="f98" fmla="*/ f69 1 22"/>
                <a:gd name="f99" fmla="*/ f70 1 22"/>
                <a:gd name="f100" fmla="*/ f71 1 55"/>
                <a:gd name="f101" fmla="*/ f72 1 22"/>
                <a:gd name="f102" fmla="*/ f73 1 55"/>
                <a:gd name="f103" fmla="*/ 0 1 f44"/>
                <a:gd name="f104" fmla="*/ f6 1 f44"/>
                <a:gd name="f105" fmla="*/ 0 1 f45"/>
                <a:gd name="f106" fmla="*/ f7 1 f45"/>
                <a:gd name="f107" fmla="+- f74 0 f1"/>
                <a:gd name="f108" fmla="*/ f75 1 f44"/>
                <a:gd name="f109" fmla="*/ f76 1 f45"/>
                <a:gd name="f110" fmla="*/ f77 1 f44"/>
                <a:gd name="f111" fmla="*/ f78 1 f45"/>
                <a:gd name="f112" fmla="*/ f79 1 f44"/>
                <a:gd name="f113" fmla="*/ f80 1 f45"/>
                <a:gd name="f114" fmla="*/ f81 1 f44"/>
                <a:gd name="f115" fmla="*/ f82 1 f44"/>
                <a:gd name="f116" fmla="*/ f83 1 f45"/>
                <a:gd name="f117" fmla="*/ f84 1 f44"/>
                <a:gd name="f118" fmla="*/ f85 1 f45"/>
                <a:gd name="f119" fmla="*/ f86 1 f44"/>
                <a:gd name="f120" fmla="*/ f87 1 f45"/>
                <a:gd name="f121" fmla="*/ f88 1 f45"/>
                <a:gd name="f122" fmla="*/ f89 1 f44"/>
                <a:gd name="f123" fmla="*/ f90 1 f45"/>
                <a:gd name="f124" fmla="*/ f91 1 f45"/>
                <a:gd name="f125" fmla="*/ f92 1 f44"/>
                <a:gd name="f126" fmla="*/ f93 1 f45"/>
                <a:gd name="f127" fmla="*/ f94 1 f44"/>
                <a:gd name="f128" fmla="*/ f95 1 f45"/>
                <a:gd name="f129" fmla="*/ f96 1 f45"/>
                <a:gd name="f130" fmla="*/ f97 1 f45"/>
                <a:gd name="f131" fmla="*/ f98 1 f44"/>
                <a:gd name="f132" fmla="*/ f99 1 f44"/>
                <a:gd name="f133" fmla="*/ f100 1 f45"/>
                <a:gd name="f134" fmla="*/ f101 1 f44"/>
                <a:gd name="f135" fmla="*/ f102 1 f45"/>
                <a:gd name="f136" fmla="*/ f103 f39 1"/>
                <a:gd name="f137" fmla="*/ f104 f39 1"/>
                <a:gd name="f138" fmla="*/ f106 f40 1"/>
                <a:gd name="f139" fmla="*/ f105 f40 1"/>
                <a:gd name="f140" fmla="*/ f108 f39 1"/>
                <a:gd name="f141" fmla="*/ f109 f40 1"/>
                <a:gd name="f142" fmla="*/ f110 f39 1"/>
                <a:gd name="f143" fmla="*/ f111 f40 1"/>
                <a:gd name="f144" fmla="*/ f112 f39 1"/>
                <a:gd name="f145" fmla="*/ f113 f40 1"/>
                <a:gd name="f146" fmla="*/ f114 f39 1"/>
                <a:gd name="f147" fmla="*/ f115 f39 1"/>
                <a:gd name="f148" fmla="*/ f116 f40 1"/>
                <a:gd name="f149" fmla="*/ f117 f39 1"/>
                <a:gd name="f150" fmla="*/ f118 f40 1"/>
                <a:gd name="f151" fmla="*/ f119 f39 1"/>
                <a:gd name="f152" fmla="*/ f120 f40 1"/>
                <a:gd name="f153" fmla="*/ f121 f40 1"/>
                <a:gd name="f154" fmla="*/ f122 f39 1"/>
                <a:gd name="f155" fmla="*/ f123 f40 1"/>
                <a:gd name="f156" fmla="*/ f124 f40 1"/>
                <a:gd name="f157" fmla="*/ f125 f39 1"/>
                <a:gd name="f158" fmla="*/ f126 f40 1"/>
                <a:gd name="f159" fmla="*/ f127 f39 1"/>
                <a:gd name="f160" fmla="*/ f128 f40 1"/>
                <a:gd name="f161" fmla="*/ f129 f40 1"/>
                <a:gd name="f162" fmla="*/ f130 f40 1"/>
                <a:gd name="f163" fmla="*/ f131 f39 1"/>
                <a:gd name="f164" fmla="*/ f132 f39 1"/>
                <a:gd name="f165" fmla="*/ f133 f40 1"/>
                <a:gd name="f166" fmla="*/ f134 f39 1"/>
                <a:gd name="f167" fmla="*/ f135 f40 1"/>
              </a:gdLst>
              <a:ahLst/>
              <a:cxnLst>
                <a:cxn ang="3cd4">
                  <a:pos x="hc" y="t"/>
                </a:cxn>
                <a:cxn ang="0">
                  <a:pos x="r" y="vc"/>
                </a:cxn>
                <a:cxn ang="cd4">
                  <a:pos x="hc" y="b"/>
                </a:cxn>
                <a:cxn ang="cd2">
                  <a:pos x="l" y="vc"/>
                </a:cxn>
                <a:cxn ang="f107">
                  <a:pos x="f140" y="f141"/>
                </a:cxn>
                <a:cxn ang="f107">
                  <a:pos x="f142" y="f143"/>
                </a:cxn>
                <a:cxn ang="f107">
                  <a:pos x="f144" y="f145"/>
                </a:cxn>
                <a:cxn ang="f107">
                  <a:pos x="f146" y="f143"/>
                </a:cxn>
                <a:cxn ang="f107">
                  <a:pos x="f147" y="f148"/>
                </a:cxn>
                <a:cxn ang="f107">
                  <a:pos x="f149" y="f150"/>
                </a:cxn>
                <a:cxn ang="f107">
                  <a:pos x="f151" y="f152"/>
                </a:cxn>
                <a:cxn ang="f107">
                  <a:pos x="f151" y="f153"/>
                </a:cxn>
                <a:cxn ang="f107">
                  <a:pos x="f154" y="f153"/>
                </a:cxn>
                <a:cxn ang="f107">
                  <a:pos x="f154" y="f155"/>
                </a:cxn>
                <a:cxn ang="f107">
                  <a:pos x="f151" y="f155"/>
                </a:cxn>
                <a:cxn ang="f107">
                  <a:pos x="f151" y="f156"/>
                </a:cxn>
                <a:cxn ang="f107">
                  <a:pos x="f157" y="f158"/>
                </a:cxn>
                <a:cxn ang="f107">
                  <a:pos x="f157" y="f155"/>
                </a:cxn>
                <a:cxn ang="f107">
                  <a:pos x="f159" y="f155"/>
                </a:cxn>
                <a:cxn ang="f107">
                  <a:pos x="f159" y="f153"/>
                </a:cxn>
                <a:cxn ang="f107">
                  <a:pos x="f157" y="f153"/>
                </a:cxn>
                <a:cxn ang="f107">
                  <a:pos x="f157" y="f160"/>
                </a:cxn>
                <a:cxn ang="f107">
                  <a:pos x="f157" y="f161"/>
                </a:cxn>
                <a:cxn ang="f107">
                  <a:pos x="f144" y="f162"/>
                </a:cxn>
                <a:cxn ang="f107">
                  <a:pos x="f163" y="f162"/>
                </a:cxn>
                <a:cxn ang="f107">
                  <a:pos x="f164" y="f165"/>
                </a:cxn>
                <a:cxn ang="f107">
                  <a:pos x="f166" y="f162"/>
                </a:cxn>
                <a:cxn ang="f107">
                  <a:pos x="f159" y="f167"/>
                </a:cxn>
                <a:cxn ang="f107">
                  <a:pos x="f140" y="f141"/>
                </a:cxn>
              </a:cxnLst>
              <a:rect l="f136" t="f139" r="f137" b="f138"/>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4" y="f25"/>
                    <a:pt x="f26" y="f27"/>
                    <a:pt x="f26" y="f28"/>
                  </a:cubicBezTo>
                  <a:cubicBezTo>
                    <a:pt x="f26" y="f29"/>
                    <a:pt x="f30" y="f31"/>
                    <a:pt x="f30" y="f32"/>
                  </a:cubicBezTo>
                  <a:cubicBezTo>
                    <a:pt x="f30" y="f6"/>
                    <a:pt x="f30" y="f6"/>
                    <a:pt x="f30" y="f6"/>
                  </a:cubicBezTo>
                  <a:cubicBezTo>
                    <a:pt x="f5" y="f6"/>
                    <a:pt x="f5" y="f6"/>
                    <a:pt x="f5" y="f6"/>
                  </a:cubicBezTo>
                  <a:cubicBezTo>
                    <a:pt x="f5" y="f15"/>
                    <a:pt x="f5" y="f15"/>
                    <a:pt x="f5" y="f15"/>
                  </a:cubicBezTo>
                  <a:cubicBezTo>
                    <a:pt x="f30" y="f15"/>
                    <a:pt x="f30" y="f15"/>
                    <a:pt x="f30" y="f15"/>
                  </a:cubicBezTo>
                  <a:cubicBezTo>
                    <a:pt x="f30" y="f33"/>
                    <a:pt x="f30" y="f33"/>
                    <a:pt x="f30" y="f33"/>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4"/>
                    <a:pt x="f17" y="f34"/>
                    <a:pt x="f17" y="f34"/>
                  </a:cubicBezTo>
                  <a:cubicBezTo>
                    <a:pt x="f17" y="f32"/>
                    <a:pt x="f17" y="f35"/>
                    <a:pt x="f17" y="f35"/>
                  </a:cubicBezTo>
                  <a:cubicBezTo>
                    <a:pt x="f17" y="f31"/>
                    <a:pt x="f17" y="f31"/>
                    <a:pt x="f16" y="f36"/>
                  </a:cubicBezTo>
                  <a:cubicBezTo>
                    <a:pt x="f16" y="f36"/>
                    <a:pt x="f16" y="f36"/>
                    <a:pt x="f15" y="f36"/>
                  </a:cubicBezTo>
                  <a:cubicBezTo>
                    <a:pt x="f15" y="f29"/>
                    <a:pt x="f37" y="f29"/>
                    <a:pt x="f14" y="f29"/>
                  </a:cubicBezTo>
                  <a:cubicBezTo>
                    <a:pt x="f13" y="f29"/>
                    <a:pt x="f11" y="f29"/>
                    <a:pt x="f10" y="f36"/>
                  </a:cubicBezTo>
                  <a:cubicBezTo>
                    <a:pt x="f8" y="f36"/>
                    <a:pt x="f6" y="f36"/>
                    <a:pt x="f6" y="f31"/>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4" name="Freeform 14">
              <a:extLst>
                <a:ext uri="{FF2B5EF4-FFF2-40B4-BE49-F238E27FC236}">
                  <a16:creationId xmlns:a16="http://schemas.microsoft.com/office/drawing/2014/main" id="{FE4F48B7-01FE-41FC-5553-EC9AEBA8E405}"/>
                </a:ext>
              </a:extLst>
            </p:cNvPr>
            <p:cNvSpPr/>
            <p:nvPr/>
          </p:nvSpPr>
          <p:spPr>
            <a:xfrm>
              <a:off x="111829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5" name="Freeform 15">
              <a:extLst>
                <a:ext uri="{FF2B5EF4-FFF2-40B4-BE49-F238E27FC236}">
                  <a16:creationId xmlns:a16="http://schemas.microsoft.com/office/drawing/2014/main" id="{0D35E3DE-46B3-D57D-D7C2-482A1AD4CB95}"/>
                </a:ext>
              </a:extLst>
            </p:cNvPr>
            <p:cNvSpPr/>
            <p:nvPr/>
          </p:nvSpPr>
          <p:spPr>
            <a:xfrm>
              <a:off x="1189753"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29 f50 1"/>
                <a:gd name="f74" fmla="*/ 35 f49 1"/>
                <a:gd name="f75" fmla="*/ 27 f50 1"/>
                <a:gd name="f76" fmla="*/ 37 f49 1"/>
                <a:gd name="f77" fmla="*/ 24 f50 1"/>
                <a:gd name="f78" fmla="*/ 38 f49 1"/>
                <a:gd name="f79" fmla="*/ 20 f50 1"/>
                <a:gd name="f80" fmla="*/ 39 f49 1"/>
                <a:gd name="f81" fmla="*/ 16 f50 1"/>
                <a:gd name="f82" fmla="*/ 40 f49 1"/>
                <a:gd name="f83" fmla="*/ 12 f50 1"/>
                <a:gd name="f84" fmla="*/ 5 f50 1"/>
                <a:gd name="f85" fmla="*/ 34 f49 1"/>
                <a:gd name="f86" fmla="*/ 2 f50 1"/>
                <a:gd name="f87" fmla="*/ 0 f50 1"/>
                <a:gd name="f88" fmla="*/ 26 f49 1"/>
                <a:gd name="f89" fmla="*/ 20 f49 1"/>
                <a:gd name="f90" fmla="*/ 1 f50 1"/>
                <a:gd name="f91" fmla="*/ 11 f49 1"/>
                <a:gd name="f92" fmla="*/ 4 f50 1"/>
                <a:gd name="f93" fmla="*/ 5 f49 1"/>
                <a:gd name="f94" fmla="*/ 1 f49 1"/>
                <a:gd name="f95" fmla="*/ 0 f49 1"/>
                <a:gd name="f96" fmla="*/ 16 f49 1"/>
                <a:gd name="f97" fmla="*/ 12 f49 1"/>
                <a:gd name="f98" fmla="*/ 9 f49 1"/>
                <a:gd name="f99" fmla="*/ 7 f49 1"/>
                <a:gd name="f100" fmla="*/ 6 f49 1"/>
                <a:gd name="f101" fmla="*/ f51 1 f2"/>
                <a:gd name="f102" fmla="*/ f54 1 33"/>
                <a:gd name="f103" fmla="*/ f55 1 40"/>
                <a:gd name="f104" fmla="*/ f56 1 40"/>
                <a:gd name="f105" fmla="*/ f57 1 33"/>
                <a:gd name="f106" fmla="*/ f58 1 40"/>
                <a:gd name="f107" fmla="*/ f59 1 33"/>
                <a:gd name="f108" fmla="*/ f60 1 33"/>
                <a:gd name="f109" fmla="*/ f61 1 40"/>
                <a:gd name="f110" fmla="*/ f62 1 33"/>
                <a:gd name="f111" fmla="*/ f63 1 40"/>
                <a:gd name="f112" fmla="*/ f64 1 33"/>
                <a:gd name="f113" fmla="*/ f65 1 40"/>
                <a:gd name="f114" fmla="*/ f66 1 33"/>
                <a:gd name="f115" fmla="*/ f67 1 40"/>
                <a:gd name="f116" fmla="*/ f68 1 33"/>
                <a:gd name="f117" fmla="*/ f69 1 33"/>
                <a:gd name="f118" fmla="*/ f70 1 33"/>
                <a:gd name="f119" fmla="*/ f71 1 40"/>
                <a:gd name="f120" fmla="*/ f72 1 33"/>
                <a:gd name="f121" fmla="*/ f73 1 33"/>
                <a:gd name="f122" fmla="*/ f74 1 40"/>
                <a:gd name="f123" fmla="*/ f75 1 33"/>
                <a:gd name="f124" fmla="*/ f76 1 40"/>
                <a:gd name="f125" fmla="*/ f77 1 33"/>
                <a:gd name="f126" fmla="*/ f78 1 40"/>
                <a:gd name="f127" fmla="*/ f79 1 33"/>
                <a:gd name="f128" fmla="*/ f80 1 40"/>
                <a:gd name="f129" fmla="*/ f81 1 33"/>
                <a:gd name="f130" fmla="*/ f82 1 40"/>
                <a:gd name="f131" fmla="*/ f83 1 33"/>
                <a:gd name="f132" fmla="*/ f84 1 33"/>
                <a:gd name="f133" fmla="*/ f85 1 40"/>
                <a:gd name="f134" fmla="*/ f86 1 33"/>
                <a:gd name="f135" fmla="*/ f87 1 33"/>
                <a:gd name="f136" fmla="*/ f88 1 40"/>
                <a:gd name="f137" fmla="*/ f89 1 40"/>
                <a:gd name="f138" fmla="*/ f90 1 33"/>
                <a:gd name="f139" fmla="*/ f91 1 40"/>
                <a:gd name="f140" fmla="*/ f92 1 33"/>
                <a:gd name="f141" fmla="*/ f93 1 40"/>
                <a:gd name="f142" fmla="*/ f94 1 40"/>
                <a:gd name="f143" fmla="*/ f95 1 40"/>
                <a:gd name="f144" fmla="*/ f96 1 40"/>
                <a:gd name="f145" fmla="*/ f97 1 40"/>
                <a:gd name="f146" fmla="*/ f98 1 40"/>
                <a:gd name="f147" fmla="*/ f99 1 40"/>
                <a:gd name="f148" fmla="*/ f100 1 40"/>
                <a:gd name="f149" fmla="*/ 0 1 f52"/>
                <a:gd name="f150" fmla="*/ f6 1 f52"/>
                <a:gd name="f151" fmla="*/ 0 1 f53"/>
                <a:gd name="f152" fmla="*/ f7 1 f53"/>
                <a:gd name="f153" fmla="+- f101 0 f1"/>
                <a:gd name="f154" fmla="*/ f102 1 f52"/>
                <a:gd name="f155" fmla="*/ f103 1 f53"/>
                <a:gd name="f156" fmla="*/ f104 1 f53"/>
                <a:gd name="f157" fmla="*/ f105 1 f52"/>
                <a:gd name="f158" fmla="*/ f106 1 f53"/>
                <a:gd name="f159" fmla="*/ f107 1 f52"/>
                <a:gd name="f160" fmla="*/ f108 1 f52"/>
                <a:gd name="f161" fmla="*/ f109 1 f53"/>
                <a:gd name="f162" fmla="*/ f110 1 f52"/>
                <a:gd name="f163" fmla="*/ f111 1 f53"/>
                <a:gd name="f164" fmla="*/ f112 1 f52"/>
                <a:gd name="f165" fmla="*/ f113 1 f53"/>
                <a:gd name="f166" fmla="*/ f114 1 f52"/>
                <a:gd name="f167" fmla="*/ f115 1 f53"/>
                <a:gd name="f168" fmla="*/ f116 1 f52"/>
                <a:gd name="f169" fmla="*/ f117 1 f52"/>
                <a:gd name="f170" fmla="*/ f118 1 f52"/>
                <a:gd name="f171" fmla="*/ f119 1 f53"/>
                <a:gd name="f172" fmla="*/ f120 1 f52"/>
                <a:gd name="f173" fmla="*/ f121 1 f52"/>
                <a:gd name="f174" fmla="*/ f122 1 f53"/>
                <a:gd name="f175" fmla="*/ f123 1 f52"/>
                <a:gd name="f176" fmla="*/ f124 1 f53"/>
                <a:gd name="f177" fmla="*/ f125 1 f52"/>
                <a:gd name="f178" fmla="*/ f126 1 f53"/>
                <a:gd name="f179" fmla="*/ f127 1 f52"/>
                <a:gd name="f180" fmla="*/ f128 1 f53"/>
                <a:gd name="f181" fmla="*/ f129 1 f52"/>
                <a:gd name="f182" fmla="*/ f130 1 f53"/>
                <a:gd name="f183" fmla="*/ f131 1 f52"/>
                <a:gd name="f184" fmla="*/ f132 1 f52"/>
                <a:gd name="f185" fmla="*/ f133 1 f53"/>
                <a:gd name="f186" fmla="*/ f134 1 f52"/>
                <a:gd name="f187" fmla="*/ f135 1 f52"/>
                <a:gd name="f188" fmla="*/ f136 1 f53"/>
                <a:gd name="f189" fmla="*/ f137 1 f53"/>
                <a:gd name="f190" fmla="*/ f138 1 f52"/>
                <a:gd name="f191" fmla="*/ f139 1 f53"/>
                <a:gd name="f192" fmla="*/ f140 1 f52"/>
                <a:gd name="f193" fmla="*/ f141 1 f53"/>
                <a:gd name="f194" fmla="*/ f142 1 f53"/>
                <a:gd name="f195" fmla="*/ f143 1 f53"/>
                <a:gd name="f196" fmla="*/ f144 1 f53"/>
                <a:gd name="f197" fmla="*/ f145 1 f53"/>
                <a:gd name="f198" fmla="*/ f146 1 f53"/>
                <a:gd name="f199" fmla="*/ f147 1 f53"/>
                <a:gd name="f200" fmla="*/ f148 1 f53"/>
                <a:gd name="f201" fmla="*/ f149 f47 1"/>
                <a:gd name="f202" fmla="*/ f150 f47 1"/>
                <a:gd name="f203" fmla="*/ f152 f48 1"/>
                <a:gd name="f204" fmla="*/ f151 f48 1"/>
                <a:gd name="f205" fmla="*/ f154 f47 1"/>
                <a:gd name="f206" fmla="*/ f155 f48 1"/>
                <a:gd name="f207" fmla="*/ f156 f48 1"/>
                <a:gd name="f208" fmla="*/ f157 f47 1"/>
                <a:gd name="f209" fmla="*/ f158 f48 1"/>
                <a:gd name="f210" fmla="*/ f159 f47 1"/>
                <a:gd name="f211" fmla="*/ f160 f47 1"/>
                <a:gd name="f212" fmla="*/ f161 f48 1"/>
                <a:gd name="f213" fmla="*/ f162 f47 1"/>
                <a:gd name="f214" fmla="*/ f163 f48 1"/>
                <a:gd name="f215" fmla="*/ f164 f47 1"/>
                <a:gd name="f216" fmla="*/ f165 f48 1"/>
                <a:gd name="f217" fmla="*/ f166 f47 1"/>
                <a:gd name="f218" fmla="*/ f167 f48 1"/>
                <a:gd name="f219" fmla="*/ f168 f47 1"/>
                <a:gd name="f220" fmla="*/ f169 f47 1"/>
                <a:gd name="f221" fmla="*/ f170 f47 1"/>
                <a:gd name="f222" fmla="*/ f171 f48 1"/>
                <a:gd name="f223" fmla="*/ f172 f47 1"/>
                <a:gd name="f224" fmla="*/ f173 f47 1"/>
                <a:gd name="f225" fmla="*/ f174 f48 1"/>
                <a:gd name="f226" fmla="*/ f175 f47 1"/>
                <a:gd name="f227" fmla="*/ f176 f48 1"/>
                <a:gd name="f228" fmla="*/ f177 f47 1"/>
                <a:gd name="f229" fmla="*/ f178 f48 1"/>
                <a:gd name="f230" fmla="*/ f179 f47 1"/>
                <a:gd name="f231" fmla="*/ f180 f48 1"/>
                <a:gd name="f232" fmla="*/ f181 f47 1"/>
                <a:gd name="f233" fmla="*/ f182 f48 1"/>
                <a:gd name="f234" fmla="*/ f183 f47 1"/>
                <a:gd name="f235" fmla="*/ f184 f47 1"/>
                <a:gd name="f236" fmla="*/ f185 f48 1"/>
                <a:gd name="f237" fmla="*/ f186 f47 1"/>
                <a:gd name="f238" fmla="*/ f187 f47 1"/>
                <a:gd name="f239" fmla="*/ f188 f48 1"/>
                <a:gd name="f240" fmla="*/ f189 f48 1"/>
                <a:gd name="f241" fmla="*/ f190 f47 1"/>
                <a:gd name="f242" fmla="*/ f191 f48 1"/>
                <a:gd name="f243" fmla="*/ f192 f47 1"/>
                <a:gd name="f244" fmla="*/ f193 f48 1"/>
                <a:gd name="f245" fmla="*/ f194 f48 1"/>
                <a:gd name="f246" fmla="*/ f195 f48 1"/>
                <a:gd name="f247" fmla="*/ f196 f48 1"/>
                <a:gd name="f248" fmla="*/ f197 f48 1"/>
                <a:gd name="f249" fmla="*/ f198 f48 1"/>
                <a:gd name="f250" fmla="*/ f199 f48 1"/>
                <a:gd name="f251" fmla="*/ f200 f48 1"/>
              </a:gdLst>
              <a:ahLst/>
              <a:cxnLst>
                <a:cxn ang="3cd4">
                  <a:pos x="hc" y="t"/>
                </a:cxn>
                <a:cxn ang="0">
                  <a:pos x="r" y="vc"/>
                </a:cxn>
                <a:cxn ang="cd4">
                  <a:pos x="hc" y="b"/>
                </a:cxn>
                <a:cxn ang="cd2">
                  <a:pos x="l" y="vc"/>
                </a:cxn>
                <a:cxn ang="f153">
                  <a:pos x="f205" y="f206"/>
                </a:cxn>
                <a:cxn ang="f153">
                  <a:pos x="f205" y="f207"/>
                </a:cxn>
                <a:cxn ang="f153">
                  <a:pos x="f208" y="f209"/>
                </a:cxn>
                <a:cxn ang="f153">
                  <a:pos x="f210" y="f209"/>
                </a:cxn>
                <a:cxn ang="f153">
                  <a:pos x="f211" y="f212"/>
                </a:cxn>
                <a:cxn ang="f153">
                  <a:pos x="f213" y="f214"/>
                </a:cxn>
                <a:cxn ang="f153">
                  <a:pos x="f215" y="f216"/>
                </a:cxn>
                <a:cxn ang="f153">
                  <a:pos x="f217" y="f218"/>
                </a:cxn>
                <a:cxn ang="f153">
                  <a:pos x="f219" y="f218"/>
                </a:cxn>
                <a:cxn ang="f153">
                  <a:pos x="f220" y="f216"/>
                </a:cxn>
                <a:cxn ang="f153">
                  <a:pos x="f221" y="f222"/>
                </a:cxn>
                <a:cxn ang="f153">
                  <a:pos x="f223" y="f214"/>
                </a:cxn>
                <a:cxn ang="f153">
                  <a:pos x="f224" y="f225"/>
                </a:cxn>
                <a:cxn ang="f153">
                  <a:pos x="f226" y="f227"/>
                </a:cxn>
                <a:cxn ang="f153">
                  <a:pos x="f228" y="f229"/>
                </a:cxn>
                <a:cxn ang="f153">
                  <a:pos x="f230" y="f231"/>
                </a:cxn>
                <a:cxn ang="f153">
                  <a:pos x="f232" y="f233"/>
                </a:cxn>
                <a:cxn ang="f153">
                  <a:pos x="f234" y="f231"/>
                </a:cxn>
                <a:cxn ang="f153">
                  <a:pos x="f211" y="f227"/>
                </a:cxn>
                <a:cxn ang="f153">
                  <a:pos x="f235" y="f236"/>
                </a:cxn>
                <a:cxn ang="f153">
                  <a:pos x="f237" y="f222"/>
                </a:cxn>
                <a:cxn ang="f153">
                  <a:pos x="f238" y="f239"/>
                </a:cxn>
                <a:cxn ang="f153">
                  <a:pos x="f238" y="f240"/>
                </a:cxn>
                <a:cxn ang="f153">
                  <a:pos x="f241" y="f242"/>
                </a:cxn>
                <a:cxn ang="f153">
                  <a:pos x="f243" y="f244"/>
                </a:cxn>
                <a:cxn ang="f153">
                  <a:pos x="f213" y="f245"/>
                </a:cxn>
                <a:cxn ang="f153">
                  <a:pos x="f232" y="f246"/>
                </a:cxn>
                <a:cxn ang="f153">
                  <a:pos x="f228" y="f245"/>
                </a:cxn>
                <a:cxn ang="f153">
                  <a:pos x="f224" y="f244"/>
                </a:cxn>
                <a:cxn ang="f153">
                  <a:pos x="f208" y="f242"/>
                </a:cxn>
                <a:cxn ang="f153">
                  <a:pos x="f205" y="f206"/>
                </a:cxn>
                <a:cxn ang="f153">
                  <a:pos x="f223" y="f247"/>
                </a:cxn>
                <a:cxn ang="f153">
                  <a:pos x="f228" y="f248"/>
                </a:cxn>
                <a:cxn ang="f153">
                  <a:pos x="f221" y="f249"/>
                </a:cxn>
                <a:cxn ang="f153">
                  <a:pos x="f230" y="f250"/>
                </a:cxn>
                <a:cxn ang="f153">
                  <a:pos x="f232" y="f251"/>
                </a:cxn>
                <a:cxn ang="f153">
                  <a:pos x="f234" y="f250"/>
                </a:cxn>
                <a:cxn ang="f153">
                  <a:pos x="f213" y="f249"/>
                </a:cxn>
                <a:cxn ang="f153">
                  <a:pos x="f211" y="f248"/>
                </a:cxn>
                <a:cxn ang="f153">
                  <a:pos x="f210" y="f247"/>
                </a:cxn>
                <a:cxn ang="f153">
                  <a:pos x="f223" y="f247"/>
                </a:cxn>
              </a:cxnLst>
              <a:rect l="f201" t="f204" r="f202" b="f203"/>
              <a:pathLst>
                <a:path w="33" h="40">
                  <a:moveTo>
                    <a:pt x="f6" y="f8"/>
                  </a:moveTo>
                  <a:cubicBezTo>
                    <a:pt x="f6" y="f8"/>
                    <a:pt x="f6" y="f9"/>
                    <a:pt x="f6" y="f10"/>
                  </a:cubicBezTo>
                  <a:cubicBezTo>
                    <a:pt x="f11"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9" y="f11"/>
                    <a:pt x="f10" y="f11"/>
                  </a:cubicBezTo>
                  <a:cubicBezTo>
                    <a:pt x="f12" y="f11"/>
                    <a:pt x="f12" y="f24"/>
                    <a:pt x="f31" y="f24"/>
                  </a:cubicBezTo>
                  <a:cubicBezTo>
                    <a:pt x="f31" y="f24"/>
                    <a:pt x="f14" y="f22"/>
                    <a:pt x="f32" y="f22"/>
                  </a:cubicBezTo>
                  <a:cubicBezTo>
                    <a:pt x="f21" y="f33"/>
                    <a:pt x="f21" y="f33"/>
                    <a:pt x="f21" y="f33"/>
                  </a:cubicBezTo>
                  <a:cubicBezTo>
                    <a:pt x="f21" y="f33"/>
                    <a:pt x="f19" y="f34"/>
                    <a:pt x="f17" y="f35"/>
                  </a:cubicBezTo>
                  <a:cubicBezTo>
                    <a:pt x="f16" y="f35"/>
                    <a:pt x="f32" y="f36"/>
                    <a:pt x="f14" y="f36"/>
                  </a:cubicBezTo>
                  <a:cubicBezTo>
                    <a:pt x="f31" y="f37"/>
                    <a:pt x="f12" y="f37"/>
                    <a:pt x="f9"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29"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6" name="Freeform 16">
              <a:extLst>
                <a:ext uri="{FF2B5EF4-FFF2-40B4-BE49-F238E27FC236}">
                  <a16:creationId xmlns:a16="http://schemas.microsoft.com/office/drawing/2014/main" id="{09EED0EB-2760-54E8-1890-234CCE489A06}"/>
                </a:ext>
              </a:extLst>
            </p:cNvPr>
            <p:cNvSpPr/>
            <p:nvPr/>
          </p:nvSpPr>
          <p:spPr>
            <a:xfrm>
              <a:off x="1294314" y="6088166"/>
              <a:ext cx="55769" cy="99395"/>
            </a:xfrm>
            <a:custGeom>
              <a:avLst/>
              <a:gdLst>
                <a:gd name="f0" fmla="val 10800000"/>
                <a:gd name="f1" fmla="val 5400000"/>
                <a:gd name="f2" fmla="val 180"/>
                <a:gd name="f3" fmla="val w"/>
                <a:gd name="f4" fmla="val h"/>
                <a:gd name="f5" fmla="val 0"/>
                <a:gd name="f6" fmla="val 22"/>
                <a:gd name="f7" fmla="val 39"/>
                <a:gd name="f8" fmla="val 20"/>
                <a:gd name="f9" fmla="val 8"/>
                <a:gd name="f10" fmla="val 19"/>
                <a:gd name="f11" fmla="val 18"/>
                <a:gd name="f12" fmla="val 7"/>
                <a:gd name="f13" fmla="val 17"/>
                <a:gd name="f14" fmla="val 16"/>
                <a:gd name="f15" fmla="val 15"/>
                <a:gd name="f16" fmla="val 12"/>
                <a:gd name="f17" fmla="val 10"/>
                <a:gd name="f18" fmla="val 9"/>
                <a:gd name="f19" fmla="val 11"/>
                <a:gd name="f20" fmla="val 14"/>
                <a:gd name="f21" fmla="val 4"/>
                <a:gd name="f22" fmla="val 3"/>
                <a:gd name="f23" fmla="val 2"/>
                <a:gd name="f24" fmla="val 1"/>
                <a:gd name="f25" fmla="val 13"/>
                <a:gd name="f26" fmla="val 21"/>
                <a:gd name="f27" fmla="+- 0 0 -90"/>
                <a:gd name="f28" fmla="*/ f3 1 22"/>
                <a:gd name="f29" fmla="*/ f4 1 39"/>
                <a:gd name="f30" fmla="+- f7 0 f5"/>
                <a:gd name="f31" fmla="+- f6 0 f5"/>
                <a:gd name="f32" fmla="*/ f27 f0 1"/>
                <a:gd name="f33" fmla="*/ f31 1 22"/>
                <a:gd name="f34" fmla="*/ f30 1 39"/>
                <a:gd name="f35" fmla="*/ 20 f31 1"/>
                <a:gd name="f36" fmla="*/ 8 f30 1"/>
                <a:gd name="f37" fmla="*/ 18 f31 1"/>
                <a:gd name="f38" fmla="*/ 7 f30 1"/>
                <a:gd name="f39" fmla="*/ 15 f31 1"/>
                <a:gd name="f40" fmla="*/ 9 f31 1"/>
                <a:gd name="f41" fmla="*/ 9 f30 1"/>
                <a:gd name="f42" fmla="*/ 7 f31 1"/>
                <a:gd name="f43" fmla="*/ 17 f30 1"/>
                <a:gd name="f44" fmla="*/ 39 f30 1"/>
                <a:gd name="f45" fmla="*/ 0 f31 1"/>
                <a:gd name="f46" fmla="*/ 0 f30 1"/>
                <a:gd name="f47" fmla="*/ 4 f30 1"/>
                <a:gd name="f48" fmla="*/ 2 f30 1"/>
                <a:gd name="f49" fmla="*/ 11 f31 1"/>
                <a:gd name="f50" fmla="*/ 1 f30 1"/>
                <a:gd name="f51" fmla="*/ 13 f31 1"/>
                <a:gd name="f52" fmla="*/ 16 f31 1"/>
                <a:gd name="f53" fmla="*/ 22 f31 1"/>
                <a:gd name="f54" fmla="*/ f32 1 f2"/>
                <a:gd name="f55" fmla="*/ f35 1 22"/>
                <a:gd name="f56" fmla="*/ f36 1 39"/>
                <a:gd name="f57" fmla="*/ f37 1 22"/>
                <a:gd name="f58" fmla="*/ f38 1 39"/>
                <a:gd name="f59" fmla="*/ f39 1 22"/>
                <a:gd name="f60" fmla="*/ f40 1 22"/>
                <a:gd name="f61" fmla="*/ f41 1 39"/>
                <a:gd name="f62" fmla="*/ f42 1 22"/>
                <a:gd name="f63" fmla="*/ f43 1 39"/>
                <a:gd name="f64" fmla="*/ f44 1 39"/>
                <a:gd name="f65" fmla="*/ f45 1 22"/>
                <a:gd name="f66" fmla="*/ f46 1 39"/>
                <a:gd name="f67" fmla="*/ f47 1 39"/>
                <a:gd name="f68" fmla="*/ f48 1 39"/>
                <a:gd name="f69" fmla="*/ f49 1 22"/>
                <a:gd name="f70" fmla="*/ f50 1 39"/>
                <a:gd name="f71" fmla="*/ f51 1 22"/>
                <a:gd name="f72" fmla="*/ f52 1 22"/>
                <a:gd name="f73" fmla="*/ f53 1 22"/>
                <a:gd name="f74" fmla="*/ 0 1 f33"/>
                <a:gd name="f75" fmla="*/ f6 1 f33"/>
                <a:gd name="f76" fmla="*/ 0 1 f34"/>
                <a:gd name="f77" fmla="*/ f7 1 f34"/>
                <a:gd name="f78" fmla="+- f54 0 f1"/>
                <a:gd name="f79" fmla="*/ f55 1 f33"/>
                <a:gd name="f80" fmla="*/ f56 1 f34"/>
                <a:gd name="f81" fmla="*/ f57 1 f33"/>
                <a:gd name="f82" fmla="*/ f58 1 f34"/>
                <a:gd name="f83" fmla="*/ f59 1 f33"/>
                <a:gd name="f84" fmla="*/ f60 1 f33"/>
                <a:gd name="f85" fmla="*/ f61 1 f34"/>
                <a:gd name="f86" fmla="*/ f62 1 f33"/>
                <a:gd name="f87" fmla="*/ f63 1 f34"/>
                <a:gd name="f88" fmla="*/ f64 1 f34"/>
                <a:gd name="f89" fmla="*/ f65 1 f33"/>
                <a:gd name="f90" fmla="*/ f66 1 f34"/>
                <a:gd name="f91" fmla="*/ f67 1 f34"/>
                <a:gd name="f92" fmla="*/ f68 1 f34"/>
                <a:gd name="f93" fmla="*/ f69 1 f33"/>
                <a:gd name="f94" fmla="*/ f70 1 f34"/>
                <a:gd name="f95" fmla="*/ f71 1 f33"/>
                <a:gd name="f96" fmla="*/ f72 1 f33"/>
                <a:gd name="f97" fmla="*/ f73 1 f33"/>
                <a:gd name="f98" fmla="*/ f74 f28 1"/>
                <a:gd name="f99" fmla="*/ f75 f28 1"/>
                <a:gd name="f100" fmla="*/ f77 f29 1"/>
                <a:gd name="f101" fmla="*/ f76 f29 1"/>
                <a:gd name="f102" fmla="*/ f79 f28 1"/>
                <a:gd name="f103" fmla="*/ f80 f29 1"/>
                <a:gd name="f104" fmla="*/ f81 f28 1"/>
                <a:gd name="f105" fmla="*/ f82 f29 1"/>
                <a:gd name="f106" fmla="*/ f83 f28 1"/>
                <a:gd name="f107" fmla="*/ f84 f28 1"/>
                <a:gd name="f108" fmla="*/ f85 f29 1"/>
                <a:gd name="f109" fmla="*/ f86 f28 1"/>
                <a:gd name="f110" fmla="*/ f87 f29 1"/>
                <a:gd name="f111" fmla="*/ f88 f29 1"/>
                <a:gd name="f112" fmla="*/ f89 f28 1"/>
                <a:gd name="f113" fmla="*/ f90 f29 1"/>
                <a:gd name="f114" fmla="*/ f91 f29 1"/>
                <a:gd name="f115" fmla="*/ f92 f29 1"/>
                <a:gd name="f116" fmla="*/ f93 f28 1"/>
                <a:gd name="f117" fmla="*/ f94 f29 1"/>
                <a:gd name="f118" fmla="*/ f95 f28 1"/>
                <a:gd name="f119" fmla="*/ f96 f28 1"/>
                <a:gd name="f120" fmla="*/ f97 f28 1"/>
              </a:gdLst>
              <a:ahLst/>
              <a:cxnLst>
                <a:cxn ang="3cd4">
                  <a:pos x="hc" y="t"/>
                </a:cxn>
                <a:cxn ang="0">
                  <a:pos x="r" y="vc"/>
                </a:cxn>
                <a:cxn ang="cd4">
                  <a:pos x="hc" y="b"/>
                </a:cxn>
                <a:cxn ang="cd2">
                  <a:pos x="l" y="vc"/>
                </a:cxn>
                <a:cxn ang="f78">
                  <a:pos x="f102" y="f103"/>
                </a:cxn>
                <a:cxn ang="f78">
                  <a:pos x="f104" y="f105"/>
                </a:cxn>
                <a:cxn ang="f78">
                  <a:pos x="f106" y="f105"/>
                </a:cxn>
                <a:cxn ang="f78">
                  <a:pos x="f107" y="f108"/>
                </a:cxn>
                <a:cxn ang="f78">
                  <a:pos x="f109" y="f110"/>
                </a:cxn>
                <a:cxn ang="f78">
                  <a:pos x="f109" y="f111"/>
                </a:cxn>
                <a:cxn ang="f78">
                  <a:pos x="f112" y="f111"/>
                </a:cxn>
                <a:cxn ang="f78">
                  <a:pos x="f112" y="f113"/>
                </a:cxn>
                <a:cxn ang="f78">
                  <a:pos x="f109" y="f113"/>
                </a:cxn>
                <a:cxn ang="f78">
                  <a:pos x="f109" y="f114"/>
                </a:cxn>
                <a:cxn ang="f78">
                  <a:pos x="f107" y="f115"/>
                </a:cxn>
                <a:cxn ang="f78">
                  <a:pos x="f116" y="f117"/>
                </a:cxn>
                <a:cxn ang="f78">
                  <a:pos x="f118" y="f113"/>
                </a:cxn>
                <a:cxn ang="f78">
                  <a:pos x="f119" y="f113"/>
                </a:cxn>
                <a:cxn ang="f78">
                  <a:pos x="f102" y="f113"/>
                </a:cxn>
                <a:cxn ang="f78">
                  <a:pos x="f120" y="f117"/>
                </a:cxn>
                <a:cxn ang="f78">
                  <a:pos x="f102" y="f103"/>
                </a:cxn>
              </a:cxnLst>
              <a:rect l="f98" t="f101" r="f99" b="f100"/>
              <a:pathLst>
                <a:path w="22" h="39">
                  <a:moveTo>
                    <a:pt x="f8" y="f9"/>
                  </a:moveTo>
                  <a:cubicBezTo>
                    <a:pt x="f8" y="f9"/>
                    <a:pt x="f10" y="f9"/>
                    <a:pt x="f11" y="f12"/>
                  </a:cubicBezTo>
                  <a:cubicBezTo>
                    <a:pt x="f13" y="f12"/>
                    <a:pt x="f14" y="f12"/>
                    <a:pt x="f15" y="f12"/>
                  </a:cubicBezTo>
                  <a:cubicBezTo>
                    <a:pt x="f16" y="f12"/>
                    <a:pt x="f17" y="f9"/>
                    <a:pt x="f18" y="f18"/>
                  </a:cubicBezTo>
                  <a:cubicBezTo>
                    <a:pt x="f9" y="f19"/>
                    <a:pt x="f12" y="f20"/>
                    <a:pt x="f12" y="f13"/>
                  </a:cubicBezTo>
                  <a:cubicBezTo>
                    <a:pt x="f12" y="f7"/>
                    <a:pt x="f12" y="f7"/>
                    <a:pt x="f12" y="f7"/>
                  </a:cubicBezTo>
                  <a:cubicBezTo>
                    <a:pt x="f5" y="f7"/>
                    <a:pt x="f5" y="f7"/>
                    <a:pt x="f5" y="f7"/>
                  </a:cubicBezTo>
                  <a:cubicBezTo>
                    <a:pt x="f5" y="f5"/>
                    <a:pt x="f5" y="f5"/>
                    <a:pt x="f5" y="f5"/>
                  </a:cubicBezTo>
                  <a:cubicBezTo>
                    <a:pt x="f12" y="f5"/>
                    <a:pt x="f12" y="f5"/>
                    <a:pt x="f12" y="f5"/>
                  </a:cubicBezTo>
                  <a:cubicBezTo>
                    <a:pt x="f12" y="f21"/>
                    <a:pt x="f12" y="f21"/>
                    <a:pt x="f12" y="f21"/>
                  </a:cubicBezTo>
                  <a:cubicBezTo>
                    <a:pt x="f9" y="f22"/>
                    <a:pt x="f9" y="f22"/>
                    <a:pt x="f18" y="f23"/>
                  </a:cubicBezTo>
                  <a:cubicBezTo>
                    <a:pt x="f18" y="f23"/>
                    <a:pt x="f17" y="f24"/>
                    <a:pt x="f19" y="f24"/>
                  </a:cubicBezTo>
                  <a:cubicBezTo>
                    <a:pt x="f19" y="f5"/>
                    <a:pt x="f16" y="f5"/>
                    <a:pt x="f25" y="f5"/>
                  </a:cubicBezTo>
                  <a:cubicBezTo>
                    <a:pt x="f20" y="f5"/>
                    <a:pt x="f15" y="f5"/>
                    <a:pt x="f14" y="f5"/>
                  </a:cubicBezTo>
                  <a:cubicBezTo>
                    <a:pt x="f13" y="f5"/>
                    <a:pt x="f10" y="f5"/>
                    <a:pt x="f8" y="f5"/>
                  </a:cubicBezTo>
                  <a:cubicBezTo>
                    <a:pt x="f26" y="f5"/>
                    <a:pt x="f6"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7" name="Freeform 17">
              <a:extLst>
                <a:ext uri="{FF2B5EF4-FFF2-40B4-BE49-F238E27FC236}">
                  <a16:creationId xmlns:a16="http://schemas.microsoft.com/office/drawing/2014/main" id="{A26D4247-D07C-F0AD-50C1-D0F14EC253D5}"/>
                </a:ext>
              </a:extLst>
            </p:cNvPr>
            <p:cNvSpPr/>
            <p:nvPr/>
          </p:nvSpPr>
          <p:spPr>
            <a:xfrm>
              <a:off x="140586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8" name="Freeform 18">
              <a:extLst>
                <a:ext uri="{FF2B5EF4-FFF2-40B4-BE49-F238E27FC236}">
                  <a16:creationId xmlns:a16="http://schemas.microsoft.com/office/drawing/2014/main" id="{F6236193-A8EB-79F6-42A8-52BD9EE9F289}"/>
                </a:ext>
              </a:extLst>
            </p:cNvPr>
            <p:cNvSpPr/>
            <p:nvPr/>
          </p:nvSpPr>
          <p:spPr>
            <a:xfrm>
              <a:off x="1484281"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6"/>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10 f38 1"/>
                <a:gd name="f51" fmla="*/ 8 f38 1"/>
                <a:gd name="f52" fmla="*/ 27 f37 1"/>
                <a:gd name="f53" fmla="*/ 7 f38 1"/>
                <a:gd name="f54" fmla="*/ 31 f37 1"/>
                <a:gd name="f55" fmla="*/ 0 f38 1"/>
                <a:gd name="f56" fmla="*/ 4 f37 1"/>
                <a:gd name="f57" fmla="*/ 0 f37 1"/>
                <a:gd name="f58" fmla="*/ 19 f37 1"/>
                <a:gd name="f59" fmla="*/ 9 f38 1"/>
                <a:gd name="f60" fmla="*/ 17 f37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31"/>
                <a:gd name="f87" fmla="*/ f60 1 54"/>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0"/>
                <a:gd name="f118" fmla="*/ f87 1 f41"/>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5 1"/>
                <a:gd name="f148" fmla="*/ f118 f36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47" y="f148"/>
                </a:cxn>
                <a:cxn ang="f99">
                  <a:pos x="f137"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8" y="f11"/>
                    <a:pt x="f12" y="f13"/>
                  </a:cubicBezTo>
                  <a:cubicBezTo>
                    <a:pt x="f14" y="f15"/>
                    <a:pt x="f16" y="f15"/>
                    <a:pt x="f17" y="f15"/>
                  </a:cubicBezTo>
                  <a:cubicBezTo>
                    <a:pt x="f18" y="f15"/>
                    <a:pt x="f19" y="f15"/>
                    <a:pt x="f20" y="f15"/>
                  </a:cubicBezTo>
                  <a:cubicBezTo>
                    <a:pt x="f21" y="f15"/>
                    <a:pt x="f22" y="f8"/>
                    <a:pt x="f22" y="f13"/>
                  </a:cubicBezTo>
                  <a:cubicBezTo>
                    <a:pt x="f23" y="f24"/>
                    <a:pt x="f25" y="f11"/>
                    <a:pt x="f25" y="f26"/>
                  </a:cubicBezTo>
                  <a:cubicBezTo>
                    <a:pt x="f25"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3" y="f16"/>
                    <a:pt x="f23" y="f31"/>
                  </a:cubicBezTo>
                  <a:cubicBezTo>
                    <a:pt x="f22" y="f31"/>
                    <a:pt x="f21" y="f32"/>
                    <a:pt x="f20" y="f32"/>
                  </a:cubicBezTo>
                  <a:cubicBezTo>
                    <a:pt x="f20" y="f17"/>
                    <a:pt x="f19" y="f17"/>
                    <a:pt x="f18" y="f17"/>
                  </a:cubicBezTo>
                  <a:cubicBezTo>
                    <a:pt x="f17" y="f17"/>
                    <a:pt x="f32" y="f17"/>
                    <a:pt x="f31" y="f17"/>
                  </a:cubicBezTo>
                  <a:cubicBezTo>
                    <a:pt x="f30" y="f17"/>
                    <a:pt x="f12" y="f17"/>
                    <a:pt x="f8" y="f32"/>
                  </a:cubicBezTo>
                  <a:cubicBezTo>
                    <a:pt x="f24" y="f32"/>
                    <a:pt x="f11" y="f31"/>
                    <a:pt x="f26" y="f30"/>
                  </a:cubicBezTo>
                  <a:cubicBezTo>
                    <a:pt x="f33" y="f14"/>
                    <a:pt x="f33" y="f15"/>
                    <a:pt x="f28" y="f13"/>
                  </a:cubicBezTo>
                  <a:cubicBezTo>
                    <a:pt x="f6"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9" name="Freeform 19">
              <a:extLst>
                <a:ext uri="{FF2B5EF4-FFF2-40B4-BE49-F238E27FC236}">
                  <a16:creationId xmlns:a16="http://schemas.microsoft.com/office/drawing/2014/main" id="{E5673A6D-9A3A-F8AB-E384-4FB325CC639E}"/>
                </a:ext>
              </a:extLst>
            </p:cNvPr>
            <p:cNvSpPr/>
            <p:nvPr/>
          </p:nvSpPr>
          <p:spPr>
            <a:xfrm>
              <a:off x="1581884"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30" y="f7"/>
                    <a:pt x="f29" y="f7"/>
                  </a:cubicBezTo>
                  <a:cubicBezTo>
                    <a:pt x="f27" y="f7"/>
                    <a:pt x="f26" y="f37"/>
                    <a:pt x="f22" y="f37"/>
                  </a:cubicBezTo>
                  <a:cubicBezTo>
                    <a:pt x="f20" y="f36"/>
                    <a:pt x="f17" y="f36"/>
                    <a:pt x="f12" y="f35"/>
                  </a:cubicBezTo>
                  <a:cubicBezTo>
                    <a:pt x="f38" y="f34"/>
                    <a:pt x="f39" y="f33"/>
                    <a:pt x="f40" y="f41"/>
                  </a:cubicBezTo>
                  <a:cubicBezTo>
                    <a:pt x="f42"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0" name="Freeform 20">
              <a:extLst>
                <a:ext uri="{FF2B5EF4-FFF2-40B4-BE49-F238E27FC236}">
                  <a16:creationId xmlns:a16="http://schemas.microsoft.com/office/drawing/2014/main" id="{50F3A953-FC30-E126-6118-3DC66AEDB14A}"/>
                </a:ext>
              </a:extLst>
            </p:cNvPr>
            <p:cNvSpPr/>
            <p:nvPr/>
          </p:nvSpPr>
          <p:spPr>
            <a:xfrm>
              <a:off x="1730017" y="6088166"/>
              <a:ext cx="80165" cy="134261"/>
            </a:xfrm>
            <a:custGeom>
              <a:avLst/>
              <a:gdLst>
                <a:gd name="f0" fmla="val 10800000"/>
                <a:gd name="f1" fmla="val 5400000"/>
                <a:gd name="f2" fmla="val 180"/>
                <a:gd name="f3" fmla="val w"/>
                <a:gd name="f4" fmla="val h"/>
                <a:gd name="f5" fmla="val 0"/>
                <a:gd name="f6" fmla="val 32"/>
                <a:gd name="f7" fmla="val 53"/>
                <a:gd name="f8" fmla="val 25"/>
                <a:gd name="f9" fmla="val 35"/>
                <a:gd name="f10" fmla="val 23"/>
                <a:gd name="f11" fmla="val 36"/>
                <a:gd name="f12" fmla="val 22"/>
                <a:gd name="f13" fmla="val 37"/>
                <a:gd name="f14" fmla="val 20"/>
                <a:gd name="f15" fmla="val 38"/>
                <a:gd name="f16" fmla="val 18"/>
                <a:gd name="f17" fmla="val 39"/>
                <a:gd name="f18" fmla="val 17"/>
                <a:gd name="f19" fmla="val 40"/>
                <a:gd name="f20" fmla="val 15"/>
                <a:gd name="f21" fmla="val 13"/>
                <a:gd name="f22" fmla="val 11"/>
                <a:gd name="f23" fmla="val 9"/>
                <a:gd name="f24" fmla="val 7"/>
                <a:gd name="f25" fmla="val 5"/>
                <a:gd name="f26" fmla="val 4"/>
                <a:gd name="f27" fmla="val 3"/>
                <a:gd name="f28" fmla="val 33"/>
                <a:gd name="f29" fmla="val 2"/>
                <a:gd name="f30" fmla="val 31"/>
                <a:gd name="f31" fmla="val 1"/>
                <a:gd name="f32" fmla="val 28"/>
                <a:gd name="f33" fmla="val 26"/>
                <a:gd name="f34" fmla="val 19"/>
                <a:gd name="f35" fmla="val 16"/>
                <a:gd name="f36" fmla="val 10"/>
                <a:gd name="f37" fmla="val 8"/>
                <a:gd name="f38" fmla="val 6"/>
                <a:gd name="f39" fmla="val 21"/>
                <a:gd name="f40" fmla="val 24"/>
                <a:gd name="f41" fmla="val 49"/>
                <a:gd name="f42" fmla="val 12"/>
                <a:gd name="f43" fmla="val 27"/>
                <a:gd name="f44" fmla="val 29"/>
                <a:gd name="f45" fmla="val 30"/>
                <a:gd name="f46" fmla="+- 0 0 -90"/>
                <a:gd name="f47" fmla="*/ f3 1 32"/>
                <a:gd name="f48" fmla="*/ f4 1 53"/>
                <a:gd name="f49" fmla="+- f7 0 f5"/>
                <a:gd name="f50" fmla="+- f6 0 f5"/>
                <a:gd name="f51" fmla="*/ f46 f0 1"/>
                <a:gd name="f52" fmla="*/ f50 1 32"/>
                <a:gd name="f53" fmla="*/ f49 1 53"/>
                <a:gd name="f54" fmla="*/ 25 f50 1"/>
                <a:gd name="f55" fmla="*/ 53 f49 1"/>
                <a:gd name="f56" fmla="*/ 35 f49 1"/>
                <a:gd name="f57" fmla="*/ 20 f50 1"/>
                <a:gd name="f58" fmla="*/ 38 f49 1"/>
                <a:gd name="f59" fmla="*/ 15 f50 1"/>
                <a:gd name="f60" fmla="*/ 40 f49 1"/>
                <a:gd name="f61" fmla="*/ 9 f50 1"/>
                <a:gd name="f62" fmla="*/ 4 f50 1"/>
                <a:gd name="f63" fmla="*/ 1 f50 1"/>
                <a:gd name="f64" fmla="*/ 28 f49 1"/>
                <a:gd name="f65" fmla="*/ 0 f50 1"/>
                <a:gd name="f66" fmla="*/ 19 f49 1"/>
                <a:gd name="f67" fmla="*/ 10 f49 1"/>
                <a:gd name="f68" fmla="*/ 4 f49 1"/>
                <a:gd name="f69" fmla="*/ 1 f49 1"/>
                <a:gd name="f70" fmla="*/ 0 f49 1"/>
                <a:gd name="f71" fmla="*/ 18 f50 1"/>
                <a:gd name="f72" fmla="*/ 23 f50 1"/>
                <a:gd name="f73" fmla="*/ 2 f49 1"/>
                <a:gd name="f74" fmla="*/ 32 f50 1"/>
                <a:gd name="f75" fmla="*/ 49 f49 1"/>
                <a:gd name="f76" fmla="*/ 12 f49 1"/>
                <a:gd name="f77" fmla="*/ 21 f50 1"/>
                <a:gd name="f78" fmla="*/ 8 f49 1"/>
                <a:gd name="f79" fmla="*/ 7 f49 1"/>
                <a:gd name="f80" fmla="*/ 16 f50 1"/>
                <a:gd name="f81" fmla="*/ 7 f50 1"/>
                <a:gd name="f82" fmla="*/ 10 f50 1"/>
                <a:gd name="f83" fmla="*/ 29 f49 1"/>
                <a:gd name="f84" fmla="*/ 33 f49 1"/>
                <a:gd name="f85" fmla="*/ 31 f49 1"/>
                <a:gd name="f86" fmla="*/ f51 1 f2"/>
                <a:gd name="f87" fmla="*/ f54 1 32"/>
                <a:gd name="f88" fmla="*/ f55 1 53"/>
                <a:gd name="f89" fmla="*/ f56 1 53"/>
                <a:gd name="f90" fmla="*/ f57 1 32"/>
                <a:gd name="f91" fmla="*/ f58 1 53"/>
                <a:gd name="f92" fmla="*/ f59 1 32"/>
                <a:gd name="f93" fmla="*/ f60 1 53"/>
                <a:gd name="f94" fmla="*/ f61 1 32"/>
                <a:gd name="f95" fmla="*/ f62 1 32"/>
                <a:gd name="f96" fmla="*/ f63 1 32"/>
                <a:gd name="f97" fmla="*/ f64 1 53"/>
                <a:gd name="f98" fmla="*/ f65 1 32"/>
                <a:gd name="f99" fmla="*/ f66 1 53"/>
                <a:gd name="f100" fmla="*/ f67 1 53"/>
                <a:gd name="f101" fmla="*/ f68 1 53"/>
                <a:gd name="f102" fmla="*/ f69 1 53"/>
                <a:gd name="f103" fmla="*/ f70 1 53"/>
                <a:gd name="f104" fmla="*/ f71 1 32"/>
                <a:gd name="f105" fmla="*/ f72 1 32"/>
                <a:gd name="f106" fmla="*/ f73 1 53"/>
                <a:gd name="f107" fmla="*/ f74 1 32"/>
                <a:gd name="f108" fmla="*/ f75 1 53"/>
                <a:gd name="f109" fmla="*/ f76 1 53"/>
                <a:gd name="f110" fmla="*/ f77 1 32"/>
                <a:gd name="f111" fmla="*/ f78 1 53"/>
                <a:gd name="f112" fmla="*/ f79 1 53"/>
                <a:gd name="f113" fmla="*/ f80 1 32"/>
                <a:gd name="f114" fmla="*/ f81 1 32"/>
                <a:gd name="f115" fmla="*/ f82 1 32"/>
                <a:gd name="f116" fmla="*/ f83 1 53"/>
                <a:gd name="f117" fmla="*/ f84 1 53"/>
                <a:gd name="f118" fmla="*/ f85 1 53"/>
                <a:gd name="f119" fmla="*/ 0 1 f52"/>
                <a:gd name="f120" fmla="*/ f6 1 f52"/>
                <a:gd name="f121" fmla="*/ 0 1 f53"/>
                <a:gd name="f122" fmla="*/ f7 1 f53"/>
                <a:gd name="f123" fmla="+- f86 0 f1"/>
                <a:gd name="f124" fmla="*/ f87 1 f52"/>
                <a:gd name="f125" fmla="*/ f88 1 f53"/>
                <a:gd name="f126" fmla="*/ f89 1 f53"/>
                <a:gd name="f127" fmla="*/ f90 1 f52"/>
                <a:gd name="f128" fmla="*/ f91 1 f53"/>
                <a:gd name="f129" fmla="*/ f92 1 f52"/>
                <a:gd name="f130" fmla="*/ f93 1 f53"/>
                <a:gd name="f131" fmla="*/ f94 1 f52"/>
                <a:gd name="f132" fmla="*/ f95 1 f52"/>
                <a:gd name="f133" fmla="*/ f96 1 f52"/>
                <a:gd name="f134" fmla="*/ f97 1 f53"/>
                <a:gd name="f135" fmla="*/ f98 1 f52"/>
                <a:gd name="f136" fmla="*/ f99 1 f53"/>
                <a:gd name="f137" fmla="*/ f100 1 f53"/>
                <a:gd name="f138" fmla="*/ f101 1 f53"/>
                <a:gd name="f139" fmla="*/ f102 1 f53"/>
                <a:gd name="f140" fmla="*/ f103 1 f53"/>
                <a:gd name="f141" fmla="*/ f104 1 f52"/>
                <a:gd name="f142" fmla="*/ f105 1 f52"/>
                <a:gd name="f143" fmla="*/ f106 1 f53"/>
                <a:gd name="f144" fmla="*/ f107 1 f52"/>
                <a:gd name="f145" fmla="*/ f108 1 f53"/>
                <a:gd name="f146" fmla="*/ f109 1 f53"/>
                <a:gd name="f147" fmla="*/ f110 1 f52"/>
                <a:gd name="f148" fmla="*/ f111 1 f53"/>
                <a:gd name="f149" fmla="*/ f112 1 f53"/>
                <a:gd name="f150" fmla="*/ f113 1 f52"/>
                <a:gd name="f151" fmla="*/ f114 1 f52"/>
                <a:gd name="f152" fmla="*/ f115 1 f52"/>
                <a:gd name="f153" fmla="*/ f116 1 f53"/>
                <a:gd name="f154" fmla="*/ f117 1 f53"/>
                <a:gd name="f155" fmla="*/ f118 1 f53"/>
                <a:gd name="f156" fmla="*/ f119 f47 1"/>
                <a:gd name="f157" fmla="*/ f120 f47 1"/>
                <a:gd name="f158" fmla="*/ f122 f48 1"/>
                <a:gd name="f159" fmla="*/ f121 f48 1"/>
                <a:gd name="f160" fmla="*/ f124 f47 1"/>
                <a:gd name="f161" fmla="*/ f125 f48 1"/>
                <a:gd name="f162" fmla="*/ f126 f48 1"/>
                <a:gd name="f163" fmla="*/ f127 f47 1"/>
                <a:gd name="f164" fmla="*/ f128 f48 1"/>
                <a:gd name="f165" fmla="*/ f129 f47 1"/>
                <a:gd name="f166" fmla="*/ f130 f48 1"/>
                <a:gd name="f167" fmla="*/ f131 f47 1"/>
                <a:gd name="f168" fmla="*/ f132 f47 1"/>
                <a:gd name="f169" fmla="*/ f133 f47 1"/>
                <a:gd name="f170" fmla="*/ f134 f48 1"/>
                <a:gd name="f171" fmla="*/ f135 f47 1"/>
                <a:gd name="f172" fmla="*/ f136 f48 1"/>
                <a:gd name="f173" fmla="*/ f137 f48 1"/>
                <a:gd name="f174" fmla="*/ f138 f48 1"/>
                <a:gd name="f175" fmla="*/ f139 f48 1"/>
                <a:gd name="f176" fmla="*/ f140 f48 1"/>
                <a:gd name="f177" fmla="*/ f141 f47 1"/>
                <a:gd name="f178" fmla="*/ f142 f47 1"/>
                <a:gd name="f179" fmla="*/ f143 f48 1"/>
                <a:gd name="f180" fmla="*/ f144 f47 1"/>
                <a:gd name="f181" fmla="*/ f145 f48 1"/>
                <a:gd name="f182" fmla="*/ f146 f48 1"/>
                <a:gd name="f183" fmla="*/ f147 f47 1"/>
                <a:gd name="f184" fmla="*/ f148 f48 1"/>
                <a:gd name="f185" fmla="*/ f149 f48 1"/>
                <a:gd name="f186" fmla="*/ f150 f47 1"/>
                <a:gd name="f187" fmla="*/ f151 f47 1"/>
                <a:gd name="f188" fmla="*/ f152 f47 1"/>
                <a:gd name="f189" fmla="*/ f153 f48 1"/>
                <a:gd name="f190" fmla="*/ f154 f48 1"/>
                <a:gd name="f191" fmla="*/ f155 f48 1"/>
              </a:gdLst>
              <a:ahLst/>
              <a:cxnLst>
                <a:cxn ang="3cd4">
                  <a:pos x="hc" y="t"/>
                </a:cxn>
                <a:cxn ang="0">
                  <a:pos x="r" y="vc"/>
                </a:cxn>
                <a:cxn ang="cd4">
                  <a:pos x="hc" y="b"/>
                </a:cxn>
                <a:cxn ang="cd2">
                  <a:pos x="l" y="vc"/>
                </a:cxn>
                <a:cxn ang="f123">
                  <a:pos x="f160" y="f161"/>
                </a:cxn>
                <a:cxn ang="f123">
                  <a:pos x="f160" y="f162"/>
                </a:cxn>
                <a:cxn ang="f123">
                  <a:pos x="f163" y="f164"/>
                </a:cxn>
                <a:cxn ang="f123">
                  <a:pos x="f165" y="f166"/>
                </a:cxn>
                <a:cxn ang="f123">
                  <a:pos x="f167" y="f164"/>
                </a:cxn>
                <a:cxn ang="f123">
                  <a:pos x="f168" y="f162"/>
                </a:cxn>
                <a:cxn ang="f123">
                  <a:pos x="f169" y="f170"/>
                </a:cxn>
                <a:cxn ang="f123">
                  <a:pos x="f171" y="f172"/>
                </a:cxn>
                <a:cxn ang="f123">
                  <a:pos x="f169" y="f173"/>
                </a:cxn>
                <a:cxn ang="f123">
                  <a:pos x="f168" y="f174"/>
                </a:cxn>
                <a:cxn ang="f123">
                  <a:pos x="f167" y="f175"/>
                </a:cxn>
                <a:cxn ang="f123">
                  <a:pos x="f165" y="f176"/>
                </a:cxn>
                <a:cxn ang="f123">
                  <a:pos x="f177" y="f176"/>
                </a:cxn>
                <a:cxn ang="f123">
                  <a:pos x="f163" y="f175"/>
                </a:cxn>
                <a:cxn ang="f123">
                  <a:pos x="f178" y="f179"/>
                </a:cxn>
                <a:cxn ang="f123">
                  <a:pos x="f160" y="f174"/>
                </a:cxn>
                <a:cxn ang="f123">
                  <a:pos x="f160" y="f176"/>
                </a:cxn>
                <a:cxn ang="f123">
                  <a:pos x="f180" y="f176"/>
                </a:cxn>
                <a:cxn ang="f123">
                  <a:pos x="f180" y="f181"/>
                </a:cxn>
                <a:cxn ang="f123">
                  <a:pos x="f160" y="f161"/>
                </a:cxn>
                <a:cxn ang="f123">
                  <a:pos x="f160" y="f182"/>
                </a:cxn>
                <a:cxn ang="f123">
                  <a:pos x="f178" y="f173"/>
                </a:cxn>
                <a:cxn ang="f123">
                  <a:pos x="f183" y="f184"/>
                </a:cxn>
                <a:cxn ang="f123">
                  <a:pos x="f177" y="f185"/>
                </a:cxn>
                <a:cxn ang="f123">
                  <a:pos x="f186" y="f185"/>
                </a:cxn>
                <a:cxn ang="f123">
                  <a:pos x="f167" y="f173"/>
                </a:cxn>
                <a:cxn ang="f123">
                  <a:pos x="f187" y="f172"/>
                </a:cxn>
                <a:cxn ang="f123">
                  <a:pos x="f188" y="f189"/>
                </a:cxn>
                <a:cxn ang="f123">
                  <a:pos x="f186" y="f190"/>
                </a:cxn>
                <a:cxn ang="f123">
                  <a:pos x="f183" y="f191"/>
                </a:cxn>
                <a:cxn ang="f123">
                  <a:pos x="f160" y="f170"/>
                </a:cxn>
                <a:cxn ang="f123">
                  <a:pos x="f160" y="f182"/>
                </a:cxn>
              </a:cxnLst>
              <a:rect l="f156" t="f159" r="f157" b="f158"/>
              <a:pathLst>
                <a:path w="32" h="53">
                  <a:moveTo>
                    <a:pt x="f8" y="f7"/>
                  </a:moveTo>
                  <a:cubicBezTo>
                    <a:pt x="f8" y="f9"/>
                    <a:pt x="f8" y="f9"/>
                    <a:pt x="f8" y="f9"/>
                  </a:cubicBezTo>
                  <a:cubicBezTo>
                    <a:pt x="f10" y="f11"/>
                    <a:pt x="f12" y="f13"/>
                    <a:pt x="f14" y="f15"/>
                  </a:cubicBezTo>
                  <a:cubicBezTo>
                    <a:pt x="f16" y="f17"/>
                    <a:pt x="f18" y="f19"/>
                    <a:pt x="f20" y="f19"/>
                  </a:cubicBezTo>
                  <a:cubicBezTo>
                    <a:pt x="f21" y="f19"/>
                    <a:pt x="f22" y="f17"/>
                    <a:pt x="f23" y="f15"/>
                  </a:cubicBezTo>
                  <a:cubicBezTo>
                    <a:pt x="f24" y="f15"/>
                    <a:pt x="f25" y="f11"/>
                    <a:pt x="f26" y="f9"/>
                  </a:cubicBezTo>
                  <a:cubicBezTo>
                    <a:pt x="f27" y="f28"/>
                    <a:pt x="f29" y="f30"/>
                    <a:pt x="f31" y="f32"/>
                  </a:cubicBezTo>
                  <a:cubicBezTo>
                    <a:pt x="f5" y="f33"/>
                    <a:pt x="f5" y="f10"/>
                    <a:pt x="f5" y="f34"/>
                  </a:cubicBezTo>
                  <a:cubicBezTo>
                    <a:pt x="f5" y="f35"/>
                    <a:pt x="f5" y="f21"/>
                    <a:pt x="f31" y="f36"/>
                  </a:cubicBezTo>
                  <a:cubicBezTo>
                    <a:pt x="f29" y="f37"/>
                    <a:pt x="f27" y="f38"/>
                    <a:pt x="f26" y="f26"/>
                  </a:cubicBezTo>
                  <a:cubicBezTo>
                    <a:pt x="f38" y="f27"/>
                    <a:pt x="f24" y="f29"/>
                    <a:pt x="f23" y="f31"/>
                  </a:cubicBezTo>
                  <a:cubicBezTo>
                    <a:pt x="f22" y="f5"/>
                    <a:pt x="f21" y="f5"/>
                    <a:pt x="f20" y="f5"/>
                  </a:cubicBezTo>
                  <a:cubicBezTo>
                    <a:pt x="f35" y="f5"/>
                    <a:pt x="f18" y="f5"/>
                    <a:pt x="f16" y="f5"/>
                  </a:cubicBezTo>
                  <a:cubicBezTo>
                    <a:pt x="f34" y="f5"/>
                    <a:pt x="f14" y="f5"/>
                    <a:pt x="f14" y="f31"/>
                  </a:cubicBezTo>
                  <a:cubicBezTo>
                    <a:pt x="f39" y="f31"/>
                    <a:pt x="f12" y="f29"/>
                    <a:pt x="f10" y="f29"/>
                  </a:cubicBezTo>
                  <a:cubicBezTo>
                    <a:pt x="f10" y="f27"/>
                    <a:pt x="f40" y="f27"/>
                    <a:pt x="f8" y="f26"/>
                  </a:cubicBezTo>
                  <a:cubicBezTo>
                    <a:pt x="f8" y="f5"/>
                    <a:pt x="f8" y="f5"/>
                    <a:pt x="f8" y="f5"/>
                  </a:cubicBezTo>
                  <a:cubicBezTo>
                    <a:pt x="f6" y="f5"/>
                    <a:pt x="f6" y="f5"/>
                    <a:pt x="f6" y="f5"/>
                  </a:cubicBezTo>
                  <a:cubicBezTo>
                    <a:pt x="f6" y="f41"/>
                    <a:pt x="f6" y="f41"/>
                    <a:pt x="f6" y="f41"/>
                  </a:cubicBezTo>
                  <a:lnTo>
                    <a:pt x="f8" y="f7"/>
                  </a:lnTo>
                  <a:close/>
                  <a:moveTo>
                    <a:pt x="f8" y="f42"/>
                  </a:moveTo>
                  <a:cubicBezTo>
                    <a:pt x="f40" y="f22"/>
                    <a:pt x="f40" y="f36"/>
                    <a:pt x="f10" y="f36"/>
                  </a:cubicBezTo>
                  <a:cubicBezTo>
                    <a:pt x="f10" y="f23"/>
                    <a:pt x="f12" y="f23"/>
                    <a:pt x="f39" y="f37"/>
                  </a:cubicBezTo>
                  <a:cubicBezTo>
                    <a:pt x="f14" y="f37"/>
                    <a:pt x="f34" y="f24"/>
                    <a:pt x="f16" y="f24"/>
                  </a:cubicBezTo>
                  <a:cubicBezTo>
                    <a:pt x="f16" y="f24"/>
                    <a:pt x="f18" y="f24"/>
                    <a:pt x="f35" y="f24"/>
                  </a:cubicBezTo>
                  <a:cubicBezTo>
                    <a:pt x="f21" y="f24"/>
                    <a:pt x="f22" y="f37"/>
                    <a:pt x="f23" y="f36"/>
                  </a:cubicBezTo>
                  <a:cubicBezTo>
                    <a:pt x="f37" y="f42"/>
                    <a:pt x="f24" y="f20"/>
                    <a:pt x="f24" y="f34"/>
                  </a:cubicBezTo>
                  <a:cubicBezTo>
                    <a:pt x="f24" y="f10"/>
                    <a:pt x="f37" y="f43"/>
                    <a:pt x="f36" y="f44"/>
                  </a:cubicBezTo>
                  <a:cubicBezTo>
                    <a:pt x="f22" y="f30"/>
                    <a:pt x="f21" y="f28"/>
                    <a:pt x="f35" y="f28"/>
                  </a:cubicBezTo>
                  <a:cubicBezTo>
                    <a:pt x="f16" y="f28"/>
                    <a:pt x="f34" y="f6"/>
                    <a:pt x="f39" y="f30"/>
                  </a:cubicBezTo>
                  <a:cubicBezTo>
                    <a:pt x="f12" y="f45"/>
                    <a:pt x="f40" y="f44"/>
                    <a:pt x="f8" y="f32"/>
                  </a:cubicBezTo>
                  <a:lnTo>
                    <a:pt x="f8" y="f42"/>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1" name="Freeform 21">
              <a:extLst>
                <a:ext uri="{FF2B5EF4-FFF2-40B4-BE49-F238E27FC236}">
                  <a16:creationId xmlns:a16="http://schemas.microsoft.com/office/drawing/2014/main" id="{35C26518-FC4F-A33D-95A2-893590E9B16D}"/>
                </a:ext>
              </a:extLst>
            </p:cNvPr>
            <p:cNvSpPr/>
            <p:nvPr/>
          </p:nvSpPr>
          <p:spPr>
            <a:xfrm>
              <a:off x="1834588" y="6088166"/>
              <a:ext cx="78428" cy="101132"/>
            </a:xfrm>
            <a:custGeom>
              <a:avLst/>
              <a:gdLst>
                <a:gd name="f0" fmla="val 10800000"/>
                <a:gd name="f1" fmla="val 5400000"/>
                <a:gd name="f2" fmla="val 180"/>
                <a:gd name="f3" fmla="val w"/>
                <a:gd name="f4" fmla="val h"/>
                <a:gd name="f5" fmla="val 0"/>
                <a:gd name="f6" fmla="val 31"/>
                <a:gd name="f7" fmla="val 40"/>
                <a:gd name="f8" fmla="val 24"/>
                <a:gd name="f9" fmla="val 39"/>
                <a:gd name="f10" fmla="val 35"/>
                <a:gd name="f11" fmla="val 23"/>
                <a:gd name="f12" fmla="val 36"/>
                <a:gd name="f13" fmla="val 22"/>
                <a:gd name="f14" fmla="val 38"/>
                <a:gd name="f15" fmla="val 20"/>
                <a:gd name="f16" fmla="val 18"/>
                <a:gd name="f17" fmla="val 16"/>
                <a:gd name="f18" fmla="val 14"/>
                <a:gd name="f19" fmla="val 10"/>
                <a:gd name="f20" fmla="val 6"/>
                <a:gd name="f21" fmla="val 4"/>
                <a:gd name="f22" fmla="val 2"/>
                <a:gd name="f23" fmla="val 32"/>
                <a:gd name="f24" fmla="val 28"/>
                <a:gd name="f25" fmla="val 8"/>
                <a:gd name="f26" fmla="val 26"/>
                <a:gd name="f27" fmla="val 9"/>
                <a:gd name="f28" fmla="val 30"/>
                <a:gd name="f29" fmla="val 11"/>
                <a:gd name="f30" fmla="val 13"/>
                <a:gd name="f31" fmla="val 33"/>
                <a:gd name="f32" fmla="+- 0 0 -90"/>
                <a:gd name="f33" fmla="*/ f3 1 31"/>
                <a:gd name="f34" fmla="*/ f4 1 40"/>
                <a:gd name="f35" fmla="+- f7 0 f5"/>
                <a:gd name="f36" fmla="+- f6 0 f5"/>
                <a:gd name="f37" fmla="*/ f32 f0 1"/>
                <a:gd name="f38" fmla="*/ f36 1 31"/>
                <a:gd name="f39" fmla="*/ f35 1 40"/>
                <a:gd name="f40" fmla="*/ 24 f36 1"/>
                <a:gd name="f41" fmla="*/ 39 f35 1"/>
                <a:gd name="f42" fmla="*/ 35 f35 1"/>
                <a:gd name="f43" fmla="*/ 20 f36 1"/>
                <a:gd name="f44" fmla="*/ 38 f35 1"/>
                <a:gd name="f45" fmla="*/ 14 f36 1"/>
                <a:gd name="f46" fmla="*/ 40 f35 1"/>
                <a:gd name="f47" fmla="*/ 4 f36 1"/>
                <a:gd name="f48" fmla="*/ 0 f36 1"/>
                <a:gd name="f49" fmla="*/ 22 f35 1"/>
                <a:gd name="f50" fmla="*/ 0 f35 1"/>
                <a:gd name="f51" fmla="*/ 8 f36 1"/>
                <a:gd name="f52" fmla="*/ 10 f36 1"/>
                <a:gd name="f53" fmla="*/ 30 f35 1"/>
                <a:gd name="f54" fmla="*/ 16 f36 1"/>
                <a:gd name="f55" fmla="*/ 33 f35 1"/>
                <a:gd name="f56" fmla="*/ 22 f36 1"/>
                <a:gd name="f57" fmla="*/ 23 f35 1"/>
                <a:gd name="f58" fmla="*/ 31 f36 1"/>
                <a:gd name="f59" fmla="*/ f37 1 f2"/>
                <a:gd name="f60" fmla="*/ f40 1 31"/>
                <a:gd name="f61" fmla="*/ f41 1 40"/>
                <a:gd name="f62" fmla="*/ f42 1 40"/>
                <a:gd name="f63" fmla="*/ f43 1 31"/>
                <a:gd name="f64" fmla="*/ f44 1 40"/>
                <a:gd name="f65" fmla="*/ f45 1 31"/>
                <a:gd name="f66" fmla="*/ f46 1 40"/>
                <a:gd name="f67" fmla="*/ f47 1 31"/>
                <a:gd name="f68" fmla="*/ f48 1 31"/>
                <a:gd name="f69" fmla="*/ f49 1 40"/>
                <a:gd name="f70" fmla="*/ f50 1 40"/>
                <a:gd name="f71" fmla="*/ f51 1 31"/>
                <a:gd name="f72" fmla="*/ f52 1 31"/>
                <a:gd name="f73" fmla="*/ f53 1 40"/>
                <a:gd name="f74" fmla="*/ f54 1 31"/>
                <a:gd name="f75" fmla="*/ f55 1 40"/>
                <a:gd name="f76" fmla="*/ f56 1 31"/>
                <a:gd name="f77" fmla="*/ f57 1 40"/>
                <a:gd name="f78" fmla="*/ f58 1 31"/>
                <a:gd name="f79" fmla="*/ 0 1 f38"/>
                <a:gd name="f80" fmla="*/ f6 1 f38"/>
                <a:gd name="f81" fmla="*/ 0 1 f39"/>
                <a:gd name="f82" fmla="*/ f7 1 f39"/>
                <a:gd name="f83" fmla="+- f59 0 f1"/>
                <a:gd name="f84" fmla="*/ f60 1 f38"/>
                <a:gd name="f85" fmla="*/ f61 1 f39"/>
                <a:gd name="f86" fmla="*/ f62 1 f39"/>
                <a:gd name="f87" fmla="*/ f63 1 f38"/>
                <a:gd name="f88" fmla="*/ f64 1 f39"/>
                <a:gd name="f89" fmla="*/ f65 1 f38"/>
                <a:gd name="f90" fmla="*/ f66 1 f39"/>
                <a:gd name="f91" fmla="*/ f67 1 f38"/>
                <a:gd name="f92" fmla="*/ f68 1 f38"/>
                <a:gd name="f93" fmla="*/ f69 1 f39"/>
                <a:gd name="f94" fmla="*/ f70 1 f39"/>
                <a:gd name="f95" fmla="*/ f71 1 f38"/>
                <a:gd name="f96" fmla="*/ f72 1 f38"/>
                <a:gd name="f97" fmla="*/ f73 1 f39"/>
                <a:gd name="f98" fmla="*/ f74 1 f38"/>
                <a:gd name="f99" fmla="*/ f75 1 f39"/>
                <a:gd name="f100" fmla="*/ f76 1 f38"/>
                <a:gd name="f101" fmla="*/ f77 1 f39"/>
                <a:gd name="f102" fmla="*/ f78 1 f38"/>
                <a:gd name="f103" fmla="*/ f79 f33 1"/>
                <a:gd name="f104" fmla="*/ f80 f33 1"/>
                <a:gd name="f105" fmla="*/ f82 f34 1"/>
                <a:gd name="f106" fmla="*/ f81 f34 1"/>
                <a:gd name="f107" fmla="*/ f84 f33 1"/>
                <a:gd name="f108" fmla="*/ f85 f34 1"/>
                <a:gd name="f109" fmla="*/ f86 f34 1"/>
                <a:gd name="f110" fmla="*/ f87 f33 1"/>
                <a:gd name="f111" fmla="*/ f88 f34 1"/>
                <a:gd name="f112" fmla="*/ f89 f33 1"/>
                <a:gd name="f113" fmla="*/ f90 f34 1"/>
                <a:gd name="f114" fmla="*/ f91 f33 1"/>
                <a:gd name="f115" fmla="*/ f92 f33 1"/>
                <a:gd name="f116" fmla="*/ f93 f34 1"/>
                <a:gd name="f117" fmla="*/ f94 f34 1"/>
                <a:gd name="f118" fmla="*/ f95 f33 1"/>
                <a:gd name="f119" fmla="*/ f96 f33 1"/>
                <a:gd name="f120" fmla="*/ f97 f34 1"/>
                <a:gd name="f121" fmla="*/ f98 f33 1"/>
                <a:gd name="f122" fmla="*/ f99 f34 1"/>
                <a:gd name="f123" fmla="*/ f100 f33 1"/>
                <a:gd name="f124" fmla="*/ f101 f34 1"/>
                <a:gd name="f125" fmla="*/ f102 f33 1"/>
              </a:gdLst>
              <a:ahLst/>
              <a:cxnLst>
                <a:cxn ang="3cd4">
                  <a:pos x="hc" y="t"/>
                </a:cxn>
                <a:cxn ang="0">
                  <a:pos x="r" y="vc"/>
                </a:cxn>
                <a:cxn ang="cd4">
                  <a:pos x="hc" y="b"/>
                </a:cxn>
                <a:cxn ang="cd2">
                  <a:pos x="l" y="vc"/>
                </a:cxn>
                <a:cxn ang="f83">
                  <a:pos x="f107" y="f108"/>
                </a:cxn>
                <a:cxn ang="f83">
                  <a:pos x="f107" y="f109"/>
                </a:cxn>
                <a:cxn ang="f83">
                  <a:pos x="f110" y="f111"/>
                </a:cxn>
                <a:cxn ang="f83">
                  <a:pos x="f112" y="f113"/>
                </a:cxn>
                <a:cxn ang="f83">
                  <a:pos x="f114" y="f109"/>
                </a:cxn>
                <a:cxn ang="f83">
                  <a:pos x="f115" y="f116"/>
                </a:cxn>
                <a:cxn ang="f83">
                  <a:pos x="f115" y="f117"/>
                </a:cxn>
                <a:cxn ang="f83">
                  <a:pos x="f118" y="f117"/>
                </a:cxn>
                <a:cxn ang="f83">
                  <a:pos x="f118" y="f116"/>
                </a:cxn>
                <a:cxn ang="f83">
                  <a:pos x="f119" y="f120"/>
                </a:cxn>
                <a:cxn ang="f83">
                  <a:pos x="f121" y="f122"/>
                </a:cxn>
                <a:cxn ang="f83">
                  <a:pos x="f123" y="f120"/>
                </a:cxn>
                <a:cxn ang="f83">
                  <a:pos x="f107" y="f124"/>
                </a:cxn>
                <a:cxn ang="f83">
                  <a:pos x="f107" y="f117"/>
                </a:cxn>
                <a:cxn ang="f83">
                  <a:pos x="f125" y="f117"/>
                </a:cxn>
                <a:cxn ang="f83">
                  <a:pos x="f125" y="f108"/>
                </a:cxn>
                <a:cxn ang="f83">
                  <a:pos x="f107" y="f108"/>
                </a:cxn>
              </a:cxnLst>
              <a:rect l="f103" t="f106" r="f104" b="f105"/>
              <a:pathLst>
                <a:path w="31" h="40">
                  <a:moveTo>
                    <a:pt x="f8" y="f9"/>
                  </a:moveTo>
                  <a:cubicBezTo>
                    <a:pt x="f8" y="f10"/>
                    <a:pt x="f8" y="f10"/>
                    <a:pt x="f8" y="f10"/>
                  </a:cubicBezTo>
                  <a:cubicBezTo>
                    <a:pt x="f11" y="f12"/>
                    <a:pt x="f13" y="f14"/>
                    <a:pt x="f15" y="f14"/>
                  </a:cubicBezTo>
                  <a:cubicBezTo>
                    <a:pt x="f16" y="f9"/>
                    <a:pt x="f17" y="f7"/>
                    <a:pt x="f18" y="f7"/>
                  </a:cubicBezTo>
                  <a:cubicBezTo>
                    <a:pt x="f19" y="f7"/>
                    <a:pt x="f20" y="f14"/>
                    <a:pt x="f21" y="f10"/>
                  </a:cubicBezTo>
                  <a:cubicBezTo>
                    <a:pt x="f22" y="f23"/>
                    <a:pt x="f5" y="f24"/>
                    <a:pt x="f5" y="f13"/>
                  </a:cubicBezTo>
                  <a:cubicBezTo>
                    <a:pt x="f5" y="f5"/>
                    <a:pt x="f5" y="f5"/>
                    <a:pt x="f5" y="f5"/>
                  </a:cubicBezTo>
                  <a:cubicBezTo>
                    <a:pt x="f25" y="f5"/>
                    <a:pt x="f25" y="f5"/>
                    <a:pt x="f25" y="f5"/>
                  </a:cubicBezTo>
                  <a:cubicBezTo>
                    <a:pt x="f25" y="f13"/>
                    <a:pt x="f25" y="f13"/>
                    <a:pt x="f25" y="f13"/>
                  </a:cubicBezTo>
                  <a:cubicBezTo>
                    <a:pt x="f25" y="f26"/>
                    <a:pt x="f27" y="f24"/>
                    <a:pt x="f19" y="f28"/>
                  </a:cubicBezTo>
                  <a:cubicBezTo>
                    <a:pt x="f29" y="f23"/>
                    <a:pt x="f30" y="f31"/>
                    <a:pt x="f17" y="f31"/>
                  </a:cubicBezTo>
                  <a:cubicBezTo>
                    <a:pt x="f16" y="f31"/>
                    <a:pt x="f15" y="f23"/>
                    <a:pt x="f13" y="f28"/>
                  </a:cubicBezTo>
                  <a:cubicBezTo>
                    <a:pt x="f11" y="f24"/>
                    <a:pt x="f8" y="f26"/>
                    <a:pt x="f8" y="f11"/>
                  </a:cubicBezTo>
                  <a:cubicBezTo>
                    <a:pt x="f8" y="f5"/>
                    <a:pt x="f8" y="f5"/>
                    <a:pt x="f8" y="f5"/>
                  </a:cubicBezTo>
                  <a:cubicBezTo>
                    <a:pt x="f6" y="f5"/>
                    <a:pt x="f6" y="f5"/>
                    <a:pt x="f6" y="f5"/>
                  </a:cubicBezTo>
                  <a:cubicBezTo>
                    <a:pt x="f6" y="f9"/>
                    <a:pt x="f6" y="f9"/>
                    <a:pt x="f6" y="f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2" name="Freeform 22">
              <a:extLst>
                <a:ext uri="{FF2B5EF4-FFF2-40B4-BE49-F238E27FC236}">
                  <a16:creationId xmlns:a16="http://schemas.microsoft.com/office/drawing/2014/main" id="{C997C3C2-A0FD-8893-3B83-11E1FB222427}"/>
                </a:ext>
              </a:extLst>
            </p:cNvPr>
            <p:cNvSpPr/>
            <p:nvPr/>
          </p:nvSpPr>
          <p:spPr>
            <a:xfrm>
              <a:off x="1933928"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28"/>
                <a:gd name="f18" fmla="val 10"/>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6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11 f49 1"/>
                <a:gd name="f90" fmla="*/ 5 f49 1"/>
                <a:gd name="f91" fmla="*/ 10 f50 1"/>
                <a:gd name="f92" fmla="*/ 1 f49 1"/>
                <a:gd name="f93" fmla="*/ 0 f49 1"/>
                <a:gd name="f94" fmla="*/ 29 f50 1"/>
                <a:gd name="f95" fmla="*/ 32 f50 1"/>
                <a:gd name="f96" fmla="*/ 16 f49 1"/>
                <a:gd name="f97" fmla="*/ 25 f50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40"/>
                <a:gd name="f141" fmla="*/ f90 1 40"/>
                <a:gd name="f142" fmla="*/ f91 1 33"/>
                <a:gd name="f143" fmla="*/ f92 1 40"/>
                <a:gd name="f144" fmla="*/ f93 1 40"/>
                <a:gd name="f145" fmla="*/ f94 1 33"/>
                <a:gd name="f146" fmla="*/ f95 1 33"/>
                <a:gd name="f147" fmla="*/ f96 1 40"/>
                <a:gd name="f148" fmla="*/ f97 1 33"/>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3"/>
                <a:gd name="f196" fmla="*/ f141 1 f53"/>
                <a:gd name="f197" fmla="*/ f142 1 f52"/>
                <a:gd name="f198" fmla="*/ f143 1 f53"/>
                <a:gd name="f199" fmla="*/ f144 1 f53"/>
                <a:gd name="f200" fmla="*/ f145 1 f52"/>
                <a:gd name="f201" fmla="*/ f146 1 f52"/>
                <a:gd name="f202" fmla="*/ f147 1 f53"/>
                <a:gd name="f203" fmla="*/ f148 1 f52"/>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8 1"/>
                <a:gd name="f250" fmla="*/ f196 f48 1"/>
                <a:gd name="f251" fmla="*/ f197 f47 1"/>
                <a:gd name="f252" fmla="*/ f198 f48 1"/>
                <a:gd name="f253" fmla="*/ f199 f48 1"/>
                <a:gd name="f254" fmla="*/ f200 f47 1"/>
                <a:gd name="f255" fmla="*/ f201 f47 1"/>
                <a:gd name="f256" fmla="*/ f202 f48 1"/>
                <a:gd name="f257" fmla="*/ f203 f47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5" y="f249"/>
                </a:cxn>
                <a:cxn ang="f159">
                  <a:pos x="f242" y="f250"/>
                </a:cxn>
                <a:cxn ang="f159">
                  <a:pos x="f251" y="f252"/>
                </a:cxn>
                <a:cxn ang="f159">
                  <a:pos x="f225" y="f253"/>
                </a:cxn>
                <a:cxn ang="f159">
                  <a:pos x="f236" y="f252"/>
                </a:cxn>
                <a:cxn ang="f159">
                  <a:pos x="f254" y="f250"/>
                </a:cxn>
                <a:cxn ang="f159">
                  <a:pos x="f255" y="f249"/>
                </a:cxn>
                <a:cxn ang="f159">
                  <a:pos x="f214" y="f215"/>
                </a:cxn>
                <a:cxn ang="f159">
                  <a:pos x="f231" y="f256"/>
                </a:cxn>
                <a:cxn ang="f159">
                  <a:pos x="f257" y="f258"/>
                </a:cxn>
                <a:cxn ang="f159">
                  <a:pos x="f229" y="f259"/>
                </a:cxn>
                <a:cxn ang="f159">
                  <a:pos x="f227" y="f260"/>
                </a:cxn>
                <a:cxn ang="f159">
                  <a:pos x="f261" y="f262"/>
                </a:cxn>
                <a:cxn ang="f159">
                  <a:pos x="f263" y="f260"/>
                </a:cxn>
                <a:cxn ang="f159">
                  <a:pos x="f251" y="f259"/>
                </a:cxn>
                <a:cxn ang="f159">
                  <a:pos x="f219" y="f258"/>
                </a:cxn>
                <a:cxn ang="f159">
                  <a:pos x="f218" y="f256"/>
                </a:cxn>
                <a:cxn ang="f159">
                  <a:pos x="f231" y="f256"/>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5" y="f17"/>
                    <a:pt x="f18"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11" y="f25"/>
                    <a:pt x="f31" y="f23"/>
                    <a:pt x="f31" y="f23"/>
                  </a:cubicBezTo>
                  <a:cubicBezTo>
                    <a:pt x="f13" y="f23"/>
                    <a:pt x="f32" y="f21"/>
                    <a:pt x="f14" y="f21"/>
                  </a:cubicBezTo>
                  <a:cubicBezTo>
                    <a:pt x="f21" y="f33"/>
                    <a:pt x="f21" y="f33"/>
                    <a:pt x="f21" y="f33"/>
                  </a:cubicBezTo>
                  <a:cubicBezTo>
                    <a:pt x="f19" y="f33"/>
                    <a:pt x="f17" y="f34"/>
                    <a:pt x="f16" y="f35"/>
                  </a:cubicBezTo>
                  <a:cubicBezTo>
                    <a:pt x="f14" y="f35"/>
                    <a:pt x="f32" y="f36"/>
                    <a:pt x="f13" y="f36"/>
                  </a:cubicBezTo>
                  <a:cubicBezTo>
                    <a:pt x="f31" y="f37"/>
                    <a:pt x="f11" y="f37"/>
                    <a:pt x="f10" y="f37"/>
                  </a:cubicBezTo>
                  <a:cubicBezTo>
                    <a:pt x="f9" y="f37"/>
                    <a:pt x="f30" y="f7"/>
                    <a:pt x="f29" y="f7"/>
                  </a:cubicBezTo>
                  <a:cubicBezTo>
                    <a:pt x="f27" y="f7"/>
                    <a:pt x="f26" y="f37"/>
                    <a:pt x="f22" y="f37"/>
                  </a:cubicBezTo>
                  <a:cubicBezTo>
                    <a:pt x="f20" y="f36"/>
                    <a:pt x="f15" y="f36"/>
                    <a:pt x="f12" y="f35"/>
                  </a:cubicBezTo>
                  <a:cubicBezTo>
                    <a:pt x="f38" y="f34"/>
                    <a:pt x="f39" y="f33"/>
                    <a:pt x="f40" y="f41"/>
                  </a:cubicBezTo>
                  <a:cubicBezTo>
                    <a:pt x="f42" y="f41"/>
                    <a:pt x="f43" y="f25"/>
                    <a:pt x="f43" y="f23"/>
                  </a:cubicBezTo>
                  <a:cubicBezTo>
                    <a:pt x="f44" y="f19"/>
                    <a:pt x="f45" y="f17"/>
                    <a:pt x="f45" y="f14"/>
                  </a:cubicBezTo>
                  <a:cubicBezTo>
                    <a:pt x="f5" y="f13"/>
                    <a:pt x="f5" y="f11"/>
                    <a:pt x="f5" y="f9"/>
                  </a:cubicBezTo>
                  <a:cubicBezTo>
                    <a:pt x="f5" y="f28"/>
                    <a:pt x="f45" y="f24"/>
                    <a:pt x="f45" y="f20"/>
                  </a:cubicBezTo>
                  <a:cubicBezTo>
                    <a:pt x="f44" y="f12"/>
                    <a:pt x="f43" y="f39"/>
                    <a:pt x="f40" y="f40"/>
                  </a:cubicBezTo>
                  <a:cubicBezTo>
                    <a:pt x="f39" y="f43"/>
                    <a:pt x="f12" y="f44"/>
                    <a:pt x="f18" y="f45"/>
                  </a:cubicBezTo>
                  <a:cubicBezTo>
                    <a:pt x="f22" y="f5"/>
                    <a:pt x="f26" y="f5"/>
                    <a:pt x="f29" y="f5"/>
                  </a:cubicBezTo>
                  <a:cubicBezTo>
                    <a:pt x="f9" y="f5"/>
                    <a:pt x="f11" y="f5"/>
                    <a:pt x="f13" y="f45"/>
                  </a:cubicBezTo>
                  <a:cubicBezTo>
                    <a:pt x="f14" y="f44"/>
                    <a:pt x="f17" y="f42"/>
                    <a:pt x="f19" y="f40"/>
                  </a:cubicBezTo>
                  <a:cubicBezTo>
                    <a:pt x="f21" y="f38"/>
                    <a:pt x="f23" y="f15"/>
                    <a:pt x="f25" y="f20"/>
                  </a:cubicBezTo>
                  <a:cubicBezTo>
                    <a:pt x="f6" y="f26"/>
                    <a:pt x="f6" y="f28"/>
                    <a:pt x="f6" y="f8"/>
                  </a:cubicBezTo>
                  <a:close/>
                  <a:moveTo>
                    <a:pt x="f14" y="f28"/>
                  </a:moveTo>
                  <a:cubicBezTo>
                    <a:pt x="f32" y="f27"/>
                    <a:pt x="f32" y="f24"/>
                    <a:pt x="f32" y="f22"/>
                  </a:cubicBezTo>
                  <a:cubicBezTo>
                    <a:pt x="f13" y="f20"/>
                    <a:pt x="f13" y="f18"/>
                    <a:pt x="f31" y="f15"/>
                  </a:cubicBezTo>
                  <a:cubicBezTo>
                    <a:pt x="f11" y="f12"/>
                    <a:pt x="f11" y="f12"/>
                    <a:pt x="f9" y="f38"/>
                  </a:cubicBezTo>
                  <a:cubicBezTo>
                    <a:pt x="f8" y="f38"/>
                    <a:pt x="f30" y="f39"/>
                    <a:pt x="f28" y="f39"/>
                  </a:cubicBezTo>
                  <a:cubicBezTo>
                    <a:pt x="f27" y="f39"/>
                    <a:pt x="f26" y="f38"/>
                    <a:pt x="f24" y="f38"/>
                  </a:cubicBezTo>
                  <a:cubicBezTo>
                    <a:pt x="f22" y="f38"/>
                    <a:pt x="f20" y="f12"/>
                    <a:pt x="f18" y="f15"/>
                  </a:cubicBezTo>
                  <a:cubicBezTo>
                    <a:pt x="f18" y="f18"/>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3" name="Freeform 23">
              <a:extLst>
                <a:ext uri="{FF2B5EF4-FFF2-40B4-BE49-F238E27FC236}">
                  <a16:creationId xmlns:a16="http://schemas.microsoft.com/office/drawing/2014/main" id="{8DC2C93A-58F3-8855-1475-DD2B9532618A}"/>
                </a:ext>
              </a:extLst>
            </p:cNvPr>
            <p:cNvSpPr/>
            <p:nvPr/>
          </p:nvSpPr>
          <p:spPr>
            <a:xfrm>
              <a:off x="2029785"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3"/>
                <a:gd name="f22" fmla="val 11"/>
                <a:gd name="f23" fmla="val 9"/>
                <a:gd name="f24" fmla="val 12"/>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5"/>
                <a:gd name="f42" fmla="val 31"/>
                <a:gd name="f43" fmla="val 33"/>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1 f50 1"/>
                <a:gd name="f66" fmla="*/ 12 f49 1"/>
                <a:gd name="f67" fmla="*/ 13 f50 1"/>
                <a:gd name="f68" fmla="*/ 14 f49 1"/>
                <a:gd name="f69" fmla="*/ 16 f50 1"/>
                <a:gd name="f70" fmla="*/ 15 f49 1"/>
                <a:gd name="f71" fmla="*/ 22 f50 1"/>
                <a:gd name="f72" fmla="*/ 18 f49 1"/>
                <a:gd name="f73" fmla="*/ 26 f50 1"/>
                <a:gd name="f74" fmla="*/ 20 f49 1"/>
                <a:gd name="f75" fmla="*/ 24 f49 1"/>
                <a:gd name="f76" fmla="*/ 29 f50 1"/>
                <a:gd name="f77" fmla="*/ 28 f49 1"/>
                <a:gd name="f78" fmla="*/ 34 f49 1"/>
                <a:gd name="f79" fmla="*/ 25 f50 1"/>
                <a:gd name="f80" fmla="*/ 37 f49 1"/>
                <a:gd name="f81" fmla="*/ 39 f49 1"/>
                <a:gd name="f82" fmla="*/ 15 f50 1"/>
                <a:gd name="f83" fmla="*/ 40 f49 1"/>
                <a:gd name="f84" fmla="*/ 7 f50 1"/>
                <a:gd name="f85" fmla="*/ 38 f49 1"/>
                <a:gd name="f86" fmla="*/ 0 f50 1"/>
                <a:gd name="f87" fmla="*/ 35 f49 1"/>
                <a:gd name="f88" fmla="*/ 4 f50 1"/>
                <a:gd name="f89" fmla="*/ 29 f49 1"/>
                <a:gd name="f90" fmla="*/ 32 f49 1"/>
                <a:gd name="f91" fmla="*/ 33 f49 1"/>
                <a:gd name="f92" fmla="*/ 21 f50 1"/>
                <a:gd name="f93" fmla="*/ 27 f49 1"/>
                <a:gd name="f94" fmla="*/ 19 f50 1"/>
                <a:gd name="f95" fmla="*/ 25 f49 1"/>
                <a:gd name="f96" fmla="*/ 17 f50 1"/>
                <a:gd name="f97" fmla="*/ 22 f49 1"/>
                <a:gd name="f98" fmla="*/ 8 f50 1"/>
                <a:gd name="f99" fmla="*/ 17 f49 1"/>
                <a:gd name="f100" fmla="*/ 2 f50 1"/>
                <a:gd name="f101" fmla="*/ 5 f49 1"/>
                <a:gd name="f102" fmla="*/ 5 f50 1"/>
                <a:gd name="f103" fmla="*/ 2 f49 1"/>
                <a:gd name="f104" fmla="*/ 0 f49 1"/>
                <a:gd name="f105" fmla="*/ 1 f49 1"/>
                <a:gd name="f106" fmla="*/ f51 1 f2"/>
                <a:gd name="f107" fmla="*/ f54 1 29"/>
                <a:gd name="f108" fmla="*/ f55 1 40"/>
                <a:gd name="f109" fmla="*/ f56 1 29"/>
                <a:gd name="f110" fmla="*/ f57 1 40"/>
                <a:gd name="f111" fmla="*/ f58 1 29"/>
                <a:gd name="f112" fmla="*/ f59 1 40"/>
                <a:gd name="f113" fmla="*/ f60 1 29"/>
                <a:gd name="f114" fmla="*/ f61 1 40"/>
                <a:gd name="f115" fmla="*/ f62 1 29"/>
                <a:gd name="f116" fmla="*/ f63 1 29"/>
                <a:gd name="f117" fmla="*/ f64 1 40"/>
                <a:gd name="f118" fmla="*/ f65 1 29"/>
                <a:gd name="f119" fmla="*/ f66 1 40"/>
                <a:gd name="f120" fmla="*/ f67 1 29"/>
                <a:gd name="f121" fmla="*/ f68 1 40"/>
                <a:gd name="f122" fmla="*/ f69 1 29"/>
                <a:gd name="f123" fmla="*/ f70 1 40"/>
                <a:gd name="f124" fmla="*/ f71 1 29"/>
                <a:gd name="f125" fmla="*/ f72 1 40"/>
                <a:gd name="f126" fmla="*/ f73 1 29"/>
                <a:gd name="f127" fmla="*/ f74 1 40"/>
                <a:gd name="f128" fmla="*/ f75 1 40"/>
                <a:gd name="f129" fmla="*/ f76 1 29"/>
                <a:gd name="f130" fmla="*/ f77 1 40"/>
                <a:gd name="f131" fmla="*/ f78 1 40"/>
                <a:gd name="f132" fmla="*/ f79 1 29"/>
                <a:gd name="f133" fmla="*/ f80 1 40"/>
                <a:gd name="f134" fmla="*/ f81 1 40"/>
                <a:gd name="f135" fmla="*/ f82 1 29"/>
                <a:gd name="f136" fmla="*/ f83 1 40"/>
                <a:gd name="f137" fmla="*/ f84 1 29"/>
                <a:gd name="f138" fmla="*/ f85 1 40"/>
                <a:gd name="f139" fmla="*/ f86 1 29"/>
                <a:gd name="f140" fmla="*/ f87 1 40"/>
                <a:gd name="f141" fmla="*/ f88 1 29"/>
                <a:gd name="f142" fmla="*/ f89 1 40"/>
                <a:gd name="f143" fmla="*/ f90 1 40"/>
                <a:gd name="f144" fmla="*/ f91 1 40"/>
                <a:gd name="f145" fmla="*/ f92 1 29"/>
                <a:gd name="f146" fmla="*/ f93 1 40"/>
                <a:gd name="f147" fmla="*/ f94 1 29"/>
                <a:gd name="f148" fmla="*/ f95 1 40"/>
                <a:gd name="f149" fmla="*/ f96 1 29"/>
                <a:gd name="f150" fmla="*/ f97 1 40"/>
                <a:gd name="f151" fmla="*/ f98 1 29"/>
                <a:gd name="f152" fmla="*/ f99 1 40"/>
                <a:gd name="f153" fmla="*/ f100 1 29"/>
                <a:gd name="f154" fmla="*/ f101 1 40"/>
                <a:gd name="f155" fmla="*/ f102 1 29"/>
                <a:gd name="f156" fmla="*/ f103 1 40"/>
                <a:gd name="f157" fmla="*/ f104 1 40"/>
                <a:gd name="f158" fmla="*/ f105 1 40"/>
                <a:gd name="f159" fmla="*/ 0 1 f52"/>
                <a:gd name="f160" fmla="*/ f6 1 f52"/>
                <a:gd name="f161" fmla="*/ 0 1 f53"/>
                <a:gd name="f162" fmla="*/ f7 1 f53"/>
                <a:gd name="f163" fmla="+- f106 0 f1"/>
                <a:gd name="f164" fmla="*/ f107 1 f52"/>
                <a:gd name="f165" fmla="*/ f108 1 f53"/>
                <a:gd name="f166" fmla="*/ f109 1 f52"/>
                <a:gd name="f167" fmla="*/ f110 1 f53"/>
                <a:gd name="f168" fmla="*/ f111 1 f52"/>
                <a:gd name="f169" fmla="*/ f112 1 f53"/>
                <a:gd name="f170" fmla="*/ f113 1 f52"/>
                <a:gd name="f171" fmla="*/ f114 1 f53"/>
                <a:gd name="f172" fmla="*/ f115 1 f52"/>
                <a:gd name="f173" fmla="*/ f116 1 f52"/>
                <a:gd name="f174" fmla="*/ f117 1 f53"/>
                <a:gd name="f175" fmla="*/ f118 1 f52"/>
                <a:gd name="f176" fmla="*/ f119 1 f53"/>
                <a:gd name="f177" fmla="*/ f120 1 f52"/>
                <a:gd name="f178" fmla="*/ f121 1 f53"/>
                <a:gd name="f179" fmla="*/ f122 1 f52"/>
                <a:gd name="f180" fmla="*/ f123 1 f53"/>
                <a:gd name="f181" fmla="*/ f124 1 f52"/>
                <a:gd name="f182" fmla="*/ f125 1 f53"/>
                <a:gd name="f183" fmla="*/ f126 1 f52"/>
                <a:gd name="f184" fmla="*/ f127 1 f53"/>
                <a:gd name="f185" fmla="*/ f128 1 f53"/>
                <a:gd name="f186" fmla="*/ f129 1 f52"/>
                <a:gd name="f187" fmla="*/ f130 1 f53"/>
                <a:gd name="f188" fmla="*/ f131 1 f53"/>
                <a:gd name="f189" fmla="*/ f132 1 f52"/>
                <a:gd name="f190" fmla="*/ f133 1 f53"/>
                <a:gd name="f191" fmla="*/ f134 1 f53"/>
                <a:gd name="f192" fmla="*/ f135 1 f52"/>
                <a:gd name="f193" fmla="*/ f136 1 f53"/>
                <a:gd name="f194" fmla="*/ f137 1 f52"/>
                <a:gd name="f195" fmla="*/ f138 1 f53"/>
                <a:gd name="f196" fmla="*/ f139 1 f52"/>
                <a:gd name="f197" fmla="*/ f140 1 f53"/>
                <a:gd name="f198" fmla="*/ f141 1 f52"/>
                <a:gd name="f199" fmla="*/ f142 1 f53"/>
                <a:gd name="f200" fmla="*/ f143 1 f53"/>
                <a:gd name="f201" fmla="*/ f144 1 f53"/>
                <a:gd name="f202" fmla="*/ f145 1 f52"/>
                <a:gd name="f203" fmla="*/ f146 1 f53"/>
                <a:gd name="f204" fmla="*/ f147 1 f52"/>
                <a:gd name="f205" fmla="*/ f148 1 f53"/>
                <a:gd name="f206" fmla="*/ f149 1 f52"/>
                <a:gd name="f207" fmla="*/ f150 1 f53"/>
                <a:gd name="f208" fmla="*/ f151 1 f52"/>
                <a:gd name="f209" fmla="*/ f152 1 f53"/>
                <a:gd name="f210" fmla="*/ f153 1 f52"/>
                <a:gd name="f211" fmla="*/ f154 1 f53"/>
                <a:gd name="f212" fmla="*/ f155 1 f52"/>
                <a:gd name="f213" fmla="*/ f156 1 f53"/>
                <a:gd name="f214" fmla="*/ f157 1 f53"/>
                <a:gd name="f215" fmla="*/ f158 1 f53"/>
                <a:gd name="f216" fmla="*/ f159 f47 1"/>
                <a:gd name="f217" fmla="*/ f160 f47 1"/>
                <a:gd name="f218" fmla="*/ f162 f48 1"/>
                <a:gd name="f219" fmla="*/ f161 f48 1"/>
                <a:gd name="f220" fmla="*/ f164 f47 1"/>
                <a:gd name="f221" fmla="*/ f165 f48 1"/>
                <a:gd name="f222" fmla="*/ f166 f47 1"/>
                <a:gd name="f223" fmla="*/ f167 f48 1"/>
                <a:gd name="f224" fmla="*/ f168 f47 1"/>
                <a:gd name="f225" fmla="*/ f169 f48 1"/>
                <a:gd name="f226" fmla="*/ f170 f47 1"/>
                <a:gd name="f227" fmla="*/ f171 f48 1"/>
                <a:gd name="f228" fmla="*/ f172 f47 1"/>
                <a:gd name="f229" fmla="*/ f173 f47 1"/>
                <a:gd name="f230" fmla="*/ f174 f48 1"/>
                <a:gd name="f231" fmla="*/ f175 f47 1"/>
                <a:gd name="f232" fmla="*/ f176 f48 1"/>
                <a:gd name="f233" fmla="*/ f177 f47 1"/>
                <a:gd name="f234" fmla="*/ f178 f48 1"/>
                <a:gd name="f235" fmla="*/ f179 f47 1"/>
                <a:gd name="f236" fmla="*/ f180 f48 1"/>
                <a:gd name="f237" fmla="*/ f181 f47 1"/>
                <a:gd name="f238" fmla="*/ f182 f48 1"/>
                <a:gd name="f239" fmla="*/ f183 f47 1"/>
                <a:gd name="f240" fmla="*/ f184 f48 1"/>
                <a:gd name="f241" fmla="*/ f185 f48 1"/>
                <a:gd name="f242" fmla="*/ f186 f47 1"/>
                <a:gd name="f243" fmla="*/ f187 f48 1"/>
                <a:gd name="f244" fmla="*/ f188 f48 1"/>
                <a:gd name="f245" fmla="*/ f189 f47 1"/>
                <a:gd name="f246" fmla="*/ f190 f48 1"/>
                <a:gd name="f247" fmla="*/ f191 f48 1"/>
                <a:gd name="f248" fmla="*/ f192 f47 1"/>
                <a:gd name="f249" fmla="*/ f193 f48 1"/>
                <a:gd name="f250" fmla="*/ f194 f47 1"/>
                <a:gd name="f251" fmla="*/ f195 f48 1"/>
                <a:gd name="f252" fmla="*/ f196 f47 1"/>
                <a:gd name="f253" fmla="*/ f197 f48 1"/>
                <a:gd name="f254" fmla="*/ f198 f47 1"/>
                <a:gd name="f255" fmla="*/ f199 f48 1"/>
                <a:gd name="f256" fmla="*/ f200 f48 1"/>
                <a:gd name="f257" fmla="*/ f201 f48 1"/>
                <a:gd name="f258" fmla="*/ f202 f47 1"/>
                <a:gd name="f259" fmla="*/ f203 f48 1"/>
                <a:gd name="f260" fmla="*/ f204 f47 1"/>
                <a:gd name="f261" fmla="*/ f205 f48 1"/>
                <a:gd name="f262" fmla="*/ f206 f47 1"/>
                <a:gd name="f263" fmla="*/ f207 f48 1"/>
                <a:gd name="f264" fmla="*/ f208 f47 1"/>
                <a:gd name="f265" fmla="*/ f209 f48 1"/>
                <a:gd name="f266" fmla="*/ f210 f47 1"/>
                <a:gd name="f267" fmla="*/ f211 f48 1"/>
                <a:gd name="f268" fmla="*/ f212 f47 1"/>
                <a:gd name="f269" fmla="*/ f213 f48 1"/>
                <a:gd name="f270" fmla="*/ f214 f48 1"/>
                <a:gd name="f271" fmla="*/ f215 f48 1"/>
              </a:gdLst>
              <a:ahLst/>
              <a:cxnLst>
                <a:cxn ang="3cd4">
                  <a:pos x="hc" y="t"/>
                </a:cxn>
                <a:cxn ang="0">
                  <a:pos x="r" y="vc"/>
                </a:cxn>
                <a:cxn ang="cd4">
                  <a:pos x="hc" y="b"/>
                </a:cxn>
                <a:cxn ang="cd2">
                  <a:pos x="l" y="vc"/>
                </a:cxn>
                <a:cxn ang="f163">
                  <a:pos x="f220" y="f221"/>
                </a:cxn>
                <a:cxn ang="f163">
                  <a:pos x="f222" y="f223"/>
                </a:cxn>
                <a:cxn ang="f163">
                  <a:pos x="f224" y="f225"/>
                </a:cxn>
                <a:cxn ang="f163">
                  <a:pos x="f226" y="f227"/>
                </a:cxn>
                <a:cxn ang="f163">
                  <a:pos x="f228" y="f225"/>
                </a:cxn>
                <a:cxn ang="f163">
                  <a:pos x="f229" y="f223"/>
                </a:cxn>
                <a:cxn ang="f163">
                  <a:pos x="f229" y="f230"/>
                </a:cxn>
                <a:cxn ang="f163">
                  <a:pos x="f231" y="f232"/>
                </a:cxn>
                <a:cxn ang="f163">
                  <a:pos x="f233" y="f234"/>
                </a:cxn>
                <a:cxn ang="f163">
                  <a:pos x="f235" y="f236"/>
                </a:cxn>
                <a:cxn ang="f163">
                  <a:pos x="f237" y="f238"/>
                </a:cxn>
                <a:cxn ang="f163">
                  <a:pos x="f239" y="f240"/>
                </a:cxn>
                <a:cxn ang="f163">
                  <a:pos x="f220" y="f241"/>
                </a:cxn>
                <a:cxn ang="f163">
                  <a:pos x="f242" y="f243"/>
                </a:cxn>
                <a:cxn ang="f163">
                  <a:pos x="f220" y="f244"/>
                </a:cxn>
                <a:cxn ang="f163">
                  <a:pos x="f245" y="f246"/>
                </a:cxn>
                <a:cxn ang="f163">
                  <a:pos x="f224" y="f247"/>
                </a:cxn>
                <a:cxn ang="f163">
                  <a:pos x="f248" y="f249"/>
                </a:cxn>
                <a:cxn ang="f163">
                  <a:pos x="f250" y="f251"/>
                </a:cxn>
                <a:cxn ang="f163">
                  <a:pos x="f252" y="f253"/>
                </a:cxn>
                <a:cxn ang="f163">
                  <a:pos x="f254" y="f255"/>
                </a:cxn>
                <a:cxn ang="f163">
                  <a:pos x="f229" y="f256"/>
                </a:cxn>
                <a:cxn ang="f163">
                  <a:pos x="f248" y="f257"/>
                </a:cxn>
                <a:cxn ang="f163">
                  <a:pos x="f224" y="f256"/>
                </a:cxn>
                <a:cxn ang="f163">
                  <a:pos x="f237" y="f255"/>
                </a:cxn>
                <a:cxn ang="f163">
                  <a:pos x="f258" y="f259"/>
                </a:cxn>
                <a:cxn ang="f163">
                  <a:pos x="f260" y="f261"/>
                </a:cxn>
                <a:cxn ang="f163">
                  <a:pos x="f262" y="f241"/>
                </a:cxn>
                <a:cxn ang="f163">
                  <a:pos x="f233" y="f263"/>
                </a:cxn>
                <a:cxn ang="f163">
                  <a:pos x="f264" y="f240"/>
                </a:cxn>
                <a:cxn ang="f163">
                  <a:pos x="f254" y="f265"/>
                </a:cxn>
                <a:cxn ang="f163">
                  <a:pos x="f266" y="f234"/>
                </a:cxn>
                <a:cxn ang="f163">
                  <a:pos x="f266" y="f223"/>
                </a:cxn>
                <a:cxn ang="f163">
                  <a:pos x="f266" y="f267"/>
                </a:cxn>
                <a:cxn ang="f163">
                  <a:pos x="f268" y="f269"/>
                </a:cxn>
                <a:cxn ang="f163">
                  <a:pos x="f229" y="f270"/>
                </a:cxn>
                <a:cxn ang="f163">
                  <a:pos x="f248" y="f270"/>
                </a:cxn>
                <a:cxn ang="f163">
                  <a:pos x="f237" y="f271"/>
                </a:cxn>
                <a:cxn ang="f163">
                  <a:pos x="f220" y="f221"/>
                </a:cxn>
              </a:cxnLst>
              <a:rect l="f216" t="f219" r="f217" b="f218"/>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11" y="f13"/>
                    <a:pt x="f23" y="f23"/>
                    <a:pt x="f23" y="f11"/>
                  </a:cubicBezTo>
                  <a:cubicBezTo>
                    <a:pt x="f23" y="f11"/>
                    <a:pt x="f23" y="f22"/>
                    <a:pt x="f23" y="f22"/>
                  </a:cubicBezTo>
                  <a:cubicBezTo>
                    <a:pt x="f11" y="f24"/>
                    <a:pt x="f11" y="f24"/>
                    <a:pt x="f22" y="f24"/>
                  </a:cubicBezTo>
                  <a:cubicBezTo>
                    <a:pt x="f22" y="f21"/>
                    <a:pt x="f24" y="f21"/>
                    <a:pt x="f21"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4" y="f7"/>
                    <a:pt x="f11" y="f39"/>
                    <a:pt x="f16" y="f38"/>
                  </a:cubicBezTo>
                  <a:cubicBezTo>
                    <a:pt x="f9" y="f37"/>
                    <a:pt x="f40" y="f36"/>
                    <a:pt x="f5" y="f35"/>
                  </a:cubicBezTo>
                  <a:cubicBezTo>
                    <a:pt x="f9" y="f6"/>
                    <a:pt x="f9" y="f6"/>
                    <a:pt x="f9" y="f6"/>
                  </a:cubicBezTo>
                  <a:cubicBezTo>
                    <a:pt x="f41" y="f32"/>
                    <a:pt x="f16" y="f42"/>
                    <a:pt x="f23" y="f33"/>
                  </a:cubicBezTo>
                  <a:cubicBezTo>
                    <a:pt x="f22" y="f33"/>
                    <a:pt x="f21" y="f43"/>
                    <a:pt x="f25" y="f43"/>
                  </a:cubicBezTo>
                  <a:cubicBezTo>
                    <a:pt x="f26" y="f43"/>
                    <a:pt x="f28" y="f33"/>
                    <a:pt x="f15" y="f33"/>
                  </a:cubicBezTo>
                  <a:cubicBezTo>
                    <a:pt x="f14" y="f42"/>
                    <a:pt x="f27" y="f32"/>
                    <a:pt x="f27" y="f6"/>
                  </a:cubicBezTo>
                  <a:cubicBezTo>
                    <a:pt x="f27" y="f8"/>
                    <a:pt x="f27" y="f31"/>
                    <a:pt x="f14" y="f31"/>
                  </a:cubicBezTo>
                  <a:cubicBezTo>
                    <a:pt x="f14" y="f30"/>
                    <a:pt x="f15" y="f29"/>
                    <a:pt x="f28" y="f29"/>
                  </a:cubicBezTo>
                  <a:cubicBezTo>
                    <a:pt x="f28" y="f29"/>
                    <a:pt x="f17" y="f10"/>
                    <a:pt x="f26" y="f10"/>
                  </a:cubicBezTo>
                  <a:cubicBezTo>
                    <a:pt x="f25" y="f12"/>
                    <a:pt x="f20" y="f12"/>
                    <a:pt x="f21" y="f27"/>
                  </a:cubicBezTo>
                  <a:cubicBezTo>
                    <a:pt x="f22" y="f14"/>
                    <a:pt x="f23" y="f15"/>
                    <a:pt x="f13" y="f15"/>
                  </a:cubicBezTo>
                  <a:cubicBezTo>
                    <a:pt x="f19" y="f28"/>
                    <a:pt x="f41" y="f17"/>
                    <a:pt x="f9" y="f26"/>
                  </a:cubicBezTo>
                  <a:cubicBezTo>
                    <a:pt x="f44" y="f18"/>
                    <a:pt x="f44" y="f25"/>
                    <a:pt x="f40" y="f20"/>
                  </a:cubicBezTo>
                  <a:cubicBezTo>
                    <a:pt x="f40" y="f21"/>
                    <a:pt x="f40" y="f24"/>
                    <a:pt x="f40" y="f11"/>
                  </a:cubicBezTo>
                  <a:cubicBezTo>
                    <a:pt x="f40" y="f13"/>
                    <a:pt x="f40" y="f16"/>
                    <a:pt x="f40" y="f41"/>
                  </a:cubicBezTo>
                  <a:cubicBezTo>
                    <a:pt x="f44" y="f9"/>
                    <a:pt x="f9" y="f44"/>
                    <a:pt x="f41" y="f40"/>
                  </a:cubicBezTo>
                  <a:cubicBezTo>
                    <a:pt x="f19" y="f45"/>
                    <a:pt x="f13" y="f45"/>
                    <a:pt x="f23" y="f5"/>
                  </a:cubicBezTo>
                  <a:cubicBezTo>
                    <a:pt x="f22" y="f5"/>
                    <a:pt x="f21" y="f5"/>
                    <a:pt x="f25" y="f5"/>
                  </a:cubicBezTo>
                  <a:cubicBezTo>
                    <a:pt x="f26" y="f5"/>
                    <a:pt x="f28" y="f5"/>
                    <a:pt x="f27" y="f45"/>
                  </a:cubicBezTo>
                  <a:cubicBezTo>
                    <a:pt x="f10" y="f40"/>
                    <a:pt x="f30"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4" name="Freeform 24">
              <a:extLst>
                <a:ext uri="{FF2B5EF4-FFF2-40B4-BE49-F238E27FC236}">
                  <a16:creationId xmlns:a16="http://schemas.microsoft.com/office/drawing/2014/main" id="{B7DB8D6E-5EE3-56A3-DF80-3CC881E0D61B}"/>
                </a:ext>
              </a:extLst>
            </p:cNvPr>
            <p:cNvSpPr/>
            <p:nvPr/>
          </p:nvSpPr>
          <p:spPr>
            <a:xfrm>
              <a:off x="211692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5" name="Freeform 25">
              <a:extLst>
                <a:ext uri="{FF2B5EF4-FFF2-40B4-BE49-F238E27FC236}">
                  <a16:creationId xmlns:a16="http://schemas.microsoft.com/office/drawing/2014/main" id="{88B01122-A6D6-7522-71A2-306438289B5D}"/>
                </a:ext>
              </a:extLst>
            </p:cNvPr>
            <p:cNvSpPr/>
            <p:nvPr/>
          </p:nvSpPr>
          <p:spPr>
            <a:xfrm>
              <a:off x="2193609" y="6051554"/>
              <a:ext cx="24396" cy="136007"/>
            </a:xfrm>
            <a:custGeom>
              <a:avLst/>
              <a:gdLst>
                <a:gd name="f0" fmla="val 10800000"/>
                <a:gd name="f1" fmla="val 5400000"/>
                <a:gd name="f2" fmla="val 180"/>
                <a:gd name="f3" fmla="val w"/>
                <a:gd name="f4" fmla="val h"/>
                <a:gd name="f5" fmla="val 0"/>
                <a:gd name="f6" fmla="val 10"/>
                <a:gd name="f7" fmla="val 53"/>
                <a:gd name="f8" fmla="val 5"/>
                <a:gd name="f9" fmla="val 6"/>
                <a:gd name="f10" fmla="val 9"/>
                <a:gd name="f11" fmla="val 7"/>
                <a:gd name="f12" fmla="val 8"/>
                <a:gd name="f13" fmla="val 4"/>
                <a:gd name="f14" fmla="val 3"/>
                <a:gd name="f15" fmla="val 2"/>
                <a:gd name="f16" fmla="val 1"/>
                <a:gd name="f17" fmla="val 14"/>
                <a:gd name="f18" fmla="+- 0 0 -90"/>
                <a:gd name="f19" fmla="*/ f3 1 10"/>
                <a:gd name="f20" fmla="*/ f4 1 53"/>
                <a:gd name="f21" fmla="+- f7 0 f5"/>
                <a:gd name="f22" fmla="+- f6 0 f5"/>
                <a:gd name="f23" fmla="*/ f18 f0 1"/>
                <a:gd name="f24" fmla="*/ f22 1 10"/>
                <a:gd name="f25" fmla="*/ f21 1 53"/>
                <a:gd name="f26" fmla="*/ 10 f22 1"/>
                <a:gd name="f27" fmla="*/ 5 f21 1"/>
                <a:gd name="f28" fmla="*/ 9 f22 1"/>
                <a:gd name="f29" fmla="*/ 6 f21 1"/>
                <a:gd name="f30" fmla="*/ 8 f22 1"/>
                <a:gd name="f31" fmla="*/ 8 f21 1"/>
                <a:gd name="f32" fmla="*/ 7 f22 1"/>
                <a:gd name="f33" fmla="*/ 9 f21 1"/>
                <a:gd name="f34" fmla="*/ 5 f22 1"/>
                <a:gd name="f35" fmla="*/ 3 f22 1"/>
                <a:gd name="f36" fmla="*/ 1 f22 1"/>
                <a:gd name="f37" fmla="*/ 0 f22 1"/>
                <a:gd name="f38" fmla="*/ 3 f21 1"/>
                <a:gd name="f39" fmla="*/ 1 f21 1"/>
                <a:gd name="f40" fmla="*/ 0 f21 1"/>
                <a:gd name="f41" fmla="*/ 53 f21 1"/>
                <a:gd name="f42" fmla="*/ 14 f21 1"/>
                <a:gd name="f43" fmla="*/ f23 1 f2"/>
                <a:gd name="f44" fmla="*/ f26 1 10"/>
                <a:gd name="f45" fmla="*/ f27 1 53"/>
                <a:gd name="f46" fmla="*/ f28 1 10"/>
                <a:gd name="f47" fmla="*/ f29 1 53"/>
                <a:gd name="f48" fmla="*/ f30 1 10"/>
                <a:gd name="f49" fmla="*/ f31 1 53"/>
                <a:gd name="f50" fmla="*/ f32 1 10"/>
                <a:gd name="f51" fmla="*/ f33 1 53"/>
                <a:gd name="f52" fmla="*/ f34 1 10"/>
                <a:gd name="f53" fmla="*/ f35 1 10"/>
                <a:gd name="f54" fmla="*/ f36 1 10"/>
                <a:gd name="f55" fmla="*/ f37 1 10"/>
                <a:gd name="f56" fmla="*/ f38 1 53"/>
                <a:gd name="f57" fmla="*/ f39 1 53"/>
                <a:gd name="f58" fmla="*/ f40 1 53"/>
                <a:gd name="f59" fmla="*/ f41 1 53"/>
                <a:gd name="f60" fmla="*/ f42 1 53"/>
                <a:gd name="f61" fmla="*/ 0 1 f24"/>
                <a:gd name="f62" fmla="*/ f6 1 f24"/>
                <a:gd name="f63" fmla="*/ 0 1 f25"/>
                <a:gd name="f64" fmla="*/ f7 1 f25"/>
                <a:gd name="f65" fmla="+- f43 0 f1"/>
                <a:gd name="f66" fmla="*/ f44 1 f24"/>
                <a:gd name="f67" fmla="*/ f45 1 f25"/>
                <a:gd name="f68" fmla="*/ f46 1 f24"/>
                <a:gd name="f69" fmla="*/ f47 1 f25"/>
                <a:gd name="f70" fmla="*/ f48 1 f24"/>
                <a:gd name="f71" fmla="*/ f49 1 f25"/>
                <a:gd name="f72" fmla="*/ f50 1 f24"/>
                <a:gd name="f73" fmla="*/ f51 1 f25"/>
                <a:gd name="f74" fmla="*/ f52 1 f24"/>
                <a:gd name="f75" fmla="*/ f53 1 f24"/>
                <a:gd name="f76" fmla="*/ f54 1 f24"/>
                <a:gd name="f77" fmla="*/ f55 1 f24"/>
                <a:gd name="f78" fmla="*/ f56 1 f25"/>
                <a:gd name="f79" fmla="*/ f57 1 f25"/>
                <a:gd name="f80" fmla="*/ f58 1 f25"/>
                <a:gd name="f81" fmla="*/ f59 1 f25"/>
                <a:gd name="f82" fmla="*/ f60 1 f25"/>
                <a:gd name="f83" fmla="*/ f61 f19 1"/>
                <a:gd name="f84" fmla="*/ f62 f19 1"/>
                <a:gd name="f85" fmla="*/ f64 f20 1"/>
                <a:gd name="f86" fmla="*/ f63 f20 1"/>
                <a:gd name="f87" fmla="*/ f66 f19 1"/>
                <a:gd name="f88" fmla="*/ f67 f20 1"/>
                <a:gd name="f89" fmla="*/ f68 f19 1"/>
                <a:gd name="f90" fmla="*/ f69 f20 1"/>
                <a:gd name="f91" fmla="*/ f70 f19 1"/>
                <a:gd name="f92" fmla="*/ f71 f20 1"/>
                <a:gd name="f93" fmla="*/ f72 f19 1"/>
                <a:gd name="f94" fmla="*/ f73 f20 1"/>
                <a:gd name="f95" fmla="*/ f74 f19 1"/>
                <a:gd name="f96" fmla="*/ f75 f19 1"/>
                <a:gd name="f97" fmla="*/ f76 f19 1"/>
                <a:gd name="f98" fmla="*/ f77 f19 1"/>
                <a:gd name="f99" fmla="*/ f78 f20 1"/>
                <a:gd name="f100" fmla="*/ f79 f20 1"/>
                <a:gd name="f101" fmla="*/ f80 f20 1"/>
                <a:gd name="f102" fmla="*/ f81 f20 1"/>
                <a:gd name="f103" fmla="*/ f82 f20 1"/>
              </a:gdLst>
              <a:ahLst/>
              <a:cxnLst>
                <a:cxn ang="3cd4">
                  <a:pos x="hc" y="t"/>
                </a:cxn>
                <a:cxn ang="0">
                  <a:pos x="r" y="vc"/>
                </a:cxn>
                <a:cxn ang="cd4">
                  <a:pos x="hc" y="b"/>
                </a:cxn>
                <a:cxn ang="cd2">
                  <a:pos x="l" y="vc"/>
                </a:cxn>
                <a:cxn ang="f65">
                  <a:pos x="f87" y="f88"/>
                </a:cxn>
                <a:cxn ang="f65">
                  <a:pos x="f89" y="f90"/>
                </a:cxn>
                <a:cxn ang="f65">
                  <a:pos x="f91" y="f92"/>
                </a:cxn>
                <a:cxn ang="f65">
                  <a:pos x="f93" y="f94"/>
                </a:cxn>
                <a:cxn ang="f65">
                  <a:pos x="f95" y="f94"/>
                </a:cxn>
                <a:cxn ang="f65">
                  <a:pos x="f96" y="f94"/>
                </a:cxn>
                <a:cxn ang="f65">
                  <a:pos x="f97" y="f92"/>
                </a:cxn>
                <a:cxn ang="f65">
                  <a:pos x="f98" y="f90"/>
                </a:cxn>
                <a:cxn ang="f65">
                  <a:pos x="f98" y="f88"/>
                </a:cxn>
                <a:cxn ang="f65">
                  <a:pos x="f98" y="f99"/>
                </a:cxn>
                <a:cxn ang="f65">
                  <a:pos x="f97" y="f100"/>
                </a:cxn>
                <a:cxn ang="f65">
                  <a:pos x="f96" y="f101"/>
                </a:cxn>
                <a:cxn ang="f65">
                  <a:pos x="f95" y="f101"/>
                </a:cxn>
                <a:cxn ang="f65">
                  <a:pos x="f93" y="f101"/>
                </a:cxn>
                <a:cxn ang="f65">
                  <a:pos x="f91" y="f100"/>
                </a:cxn>
                <a:cxn ang="f65">
                  <a:pos x="f89" y="f99"/>
                </a:cxn>
                <a:cxn ang="f65">
                  <a:pos x="f87" y="f88"/>
                </a:cxn>
                <a:cxn ang="f65">
                  <a:pos x="f97" y="f102"/>
                </a:cxn>
                <a:cxn ang="f65">
                  <a:pos x="f97" y="f103"/>
                </a:cxn>
                <a:cxn ang="f65">
                  <a:pos x="f89" y="f103"/>
                </a:cxn>
                <a:cxn ang="f65">
                  <a:pos x="f89" y="f102"/>
                </a:cxn>
                <a:cxn ang="f65">
                  <a:pos x="f97" y="f102"/>
                </a:cxn>
              </a:cxnLst>
              <a:rect l="f83" t="f86" r="f84" b="f85"/>
              <a:pathLst>
                <a:path w="10" h="53">
                  <a:moveTo>
                    <a:pt x="f6" y="f8"/>
                  </a:moveTo>
                  <a:cubicBezTo>
                    <a:pt x="f6" y="f8"/>
                    <a:pt x="f6" y="f9"/>
                    <a:pt x="f10" y="f9"/>
                  </a:cubicBezTo>
                  <a:cubicBezTo>
                    <a:pt x="f10" y="f11"/>
                    <a:pt x="f10" y="f12"/>
                    <a:pt x="f12" y="f12"/>
                  </a:cubicBezTo>
                  <a:cubicBezTo>
                    <a:pt x="f12" y="f12"/>
                    <a:pt x="f11" y="f10"/>
                    <a:pt x="f11" y="f10"/>
                  </a:cubicBezTo>
                  <a:cubicBezTo>
                    <a:pt x="f9" y="f10"/>
                    <a:pt x="f9" y="f10"/>
                    <a:pt x="f8" y="f10"/>
                  </a:cubicBezTo>
                  <a:cubicBezTo>
                    <a:pt x="f13" y="f10"/>
                    <a:pt x="f13" y="f10"/>
                    <a:pt x="f14" y="f10"/>
                  </a:cubicBezTo>
                  <a:cubicBezTo>
                    <a:pt x="f15" y="f10"/>
                    <a:pt x="f15" y="f12"/>
                    <a:pt x="f16" y="f12"/>
                  </a:cubicBezTo>
                  <a:cubicBezTo>
                    <a:pt x="f16" y="f12"/>
                    <a:pt x="f16" y="f11"/>
                    <a:pt x="f5" y="f9"/>
                  </a:cubicBezTo>
                  <a:cubicBezTo>
                    <a:pt x="f5" y="f9"/>
                    <a:pt x="f5" y="f8"/>
                    <a:pt x="f5" y="f8"/>
                  </a:cubicBezTo>
                  <a:cubicBezTo>
                    <a:pt x="f5" y="f13"/>
                    <a:pt x="f5" y="f14"/>
                    <a:pt x="f5" y="f14"/>
                  </a:cubicBezTo>
                  <a:cubicBezTo>
                    <a:pt x="f16" y="f15"/>
                    <a:pt x="f16" y="f15"/>
                    <a:pt x="f16" y="f16"/>
                  </a:cubicBezTo>
                  <a:cubicBezTo>
                    <a:pt x="f15" y="f16"/>
                    <a:pt x="f15" y="f5"/>
                    <a:pt x="f14" y="f5"/>
                  </a:cubicBezTo>
                  <a:cubicBezTo>
                    <a:pt x="f13" y="f5"/>
                    <a:pt x="f13" y="f5"/>
                    <a:pt x="f8" y="f5"/>
                  </a:cubicBezTo>
                  <a:cubicBezTo>
                    <a:pt x="f9" y="f5"/>
                    <a:pt x="f9" y="f5"/>
                    <a:pt x="f11" y="f5"/>
                  </a:cubicBezTo>
                  <a:cubicBezTo>
                    <a:pt x="f11" y="f5"/>
                    <a:pt x="f12" y="f16"/>
                    <a:pt x="f12" y="f16"/>
                  </a:cubicBezTo>
                  <a:cubicBezTo>
                    <a:pt x="f10" y="f15"/>
                    <a:pt x="f10" y="f15"/>
                    <a:pt x="f10" y="f14"/>
                  </a:cubicBezTo>
                  <a:cubicBezTo>
                    <a:pt x="f6" y="f14"/>
                    <a:pt x="f6" y="f13"/>
                    <a:pt x="f6" y="f8"/>
                  </a:cubicBezTo>
                  <a:close/>
                  <a:moveTo>
                    <a:pt x="f16" y="f7"/>
                  </a:moveTo>
                  <a:cubicBezTo>
                    <a:pt x="f16" y="f17"/>
                    <a:pt x="f16" y="f17"/>
                    <a:pt x="f16" y="f17"/>
                  </a:cubicBezTo>
                  <a:cubicBezTo>
                    <a:pt x="f10" y="f17"/>
                    <a:pt x="f10" y="f17"/>
                    <a:pt x="f10" y="f17"/>
                  </a:cubicBezTo>
                  <a:cubicBezTo>
                    <a:pt x="f10" y="f7"/>
                    <a:pt x="f10" y="f7"/>
                    <a:pt x="f10" y="f7"/>
                  </a:cubicBezTo>
                  <a:lnTo>
                    <a:pt x="f16"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6" name="Freeform 26">
              <a:extLst>
                <a:ext uri="{FF2B5EF4-FFF2-40B4-BE49-F238E27FC236}">
                  <a16:creationId xmlns:a16="http://schemas.microsoft.com/office/drawing/2014/main" id="{3780D94D-40A4-B6DC-B5B3-AB7A771F7D32}"/>
                </a:ext>
              </a:extLst>
            </p:cNvPr>
            <p:cNvSpPr/>
            <p:nvPr/>
          </p:nvSpPr>
          <p:spPr>
            <a:xfrm>
              <a:off x="2235433" y="6088166"/>
              <a:ext cx="87142" cy="101132"/>
            </a:xfrm>
            <a:custGeom>
              <a:avLst/>
              <a:gdLst>
                <a:gd name="f0" fmla="val 10800000"/>
                <a:gd name="f1" fmla="val 5400000"/>
                <a:gd name="f2" fmla="val 180"/>
                <a:gd name="f3" fmla="val w"/>
                <a:gd name="f4" fmla="val h"/>
                <a:gd name="f5" fmla="val 0"/>
                <a:gd name="f6" fmla="val 34"/>
                <a:gd name="f7" fmla="val 40"/>
                <a:gd name="f8" fmla="val 19"/>
                <a:gd name="f9" fmla="val 23"/>
                <a:gd name="f10" fmla="val 25"/>
                <a:gd name="f11" fmla="val 33"/>
                <a:gd name="f12" fmla="val 28"/>
                <a:gd name="f13" fmla="val 32"/>
                <a:gd name="f14" fmla="val 30"/>
                <a:gd name="f15" fmla="val 31"/>
                <a:gd name="f16" fmla="val 29"/>
                <a:gd name="f17" fmla="val 36"/>
                <a:gd name="f18" fmla="val 26"/>
                <a:gd name="f19" fmla="val 37"/>
                <a:gd name="f20" fmla="val 24"/>
                <a:gd name="f21" fmla="val 38"/>
                <a:gd name="f22" fmla="val 21"/>
                <a:gd name="f23" fmla="val 39"/>
                <a:gd name="f24" fmla="val 17"/>
                <a:gd name="f25" fmla="val 14"/>
                <a:gd name="f26" fmla="val 12"/>
                <a:gd name="f27" fmla="val 10"/>
                <a:gd name="f28" fmla="val 8"/>
                <a:gd name="f29" fmla="val 6"/>
                <a:gd name="f30" fmla="val 5"/>
                <a:gd name="f31" fmla="val 3"/>
                <a:gd name="f32" fmla="val 2"/>
                <a:gd name="f33" fmla="val 1"/>
                <a:gd name="f34" fmla="val 20"/>
                <a:gd name="f35" fmla="val 16"/>
                <a:gd name="f36" fmla="val 11"/>
                <a:gd name="f37" fmla="val 9"/>
                <a:gd name="f38" fmla="val 7"/>
                <a:gd name="f39" fmla="val 22"/>
                <a:gd name="f40" fmla="val 18"/>
                <a:gd name="f41" fmla="val 13"/>
                <a:gd name="f42" fmla="val 15"/>
                <a:gd name="f43" fmla="val 27"/>
                <a:gd name="f44" fmla="+- 0 0 -90"/>
                <a:gd name="f45" fmla="*/ f3 1 34"/>
                <a:gd name="f46" fmla="*/ f4 1 40"/>
                <a:gd name="f47" fmla="+- f7 0 f5"/>
                <a:gd name="f48" fmla="+- f6 0 f5"/>
                <a:gd name="f49" fmla="*/ f44 f0 1"/>
                <a:gd name="f50" fmla="*/ f48 1 34"/>
                <a:gd name="f51" fmla="*/ f47 1 40"/>
                <a:gd name="f52" fmla="*/ 34 f48 1"/>
                <a:gd name="f53" fmla="*/ 19 f47 1"/>
                <a:gd name="f54" fmla="*/ 33 f48 1"/>
                <a:gd name="f55" fmla="*/ 28 f47 1"/>
                <a:gd name="f56" fmla="*/ 29 f48 1"/>
                <a:gd name="f57" fmla="*/ 34 f47 1"/>
                <a:gd name="f58" fmla="*/ 24 f48 1"/>
                <a:gd name="f59" fmla="*/ 38 f47 1"/>
                <a:gd name="f60" fmla="*/ 17 f48 1"/>
                <a:gd name="f61" fmla="*/ 40 f47 1"/>
                <a:gd name="f62" fmla="*/ 10 f48 1"/>
                <a:gd name="f63" fmla="*/ 5 f48 1"/>
                <a:gd name="f64" fmla="*/ 1 f48 1"/>
                <a:gd name="f65" fmla="*/ 0 f48 1"/>
                <a:gd name="f66" fmla="*/ 20 f47 1"/>
                <a:gd name="f67" fmla="*/ 11 f47 1"/>
                <a:gd name="f68" fmla="*/ 5 f47 1"/>
                <a:gd name="f69" fmla="*/ 1 f47 1"/>
                <a:gd name="f70" fmla="*/ 0 f47 1"/>
                <a:gd name="f71" fmla="*/ 26 f48 1"/>
                <a:gd name="f72" fmla="*/ 14 f47 1"/>
                <a:gd name="f73" fmla="*/ 10 f47 1"/>
                <a:gd name="f74" fmla="*/ 21 f48 1"/>
                <a:gd name="f75" fmla="*/ 8 f47 1"/>
                <a:gd name="f76" fmla="*/ 7 f47 1"/>
                <a:gd name="f77" fmla="*/ 13 f48 1"/>
                <a:gd name="f78" fmla="*/ 8 f48 1"/>
                <a:gd name="f79" fmla="*/ 7 f48 1"/>
                <a:gd name="f80" fmla="*/ 25 f47 1"/>
                <a:gd name="f81" fmla="*/ 29 f47 1"/>
                <a:gd name="f82" fmla="*/ 32 f47 1"/>
                <a:gd name="f83" fmla="*/ 31 f47 1"/>
                <a:gd name="f84" fmla="*/ f49 1 f2"/>
                <a:gd name="f85" fmla="*/ f52 1 34"/>
                <a:gd name="f86" fmla="*/ f53 1 40"/>
                <a:gd name="f87" fmla="*/ f54 1 34"/>
                <a:gd name="f88" fmla="*/ f55 1 40"/>
                <a:gd name="f89" fmla="*/ f56 1 34"/>
                <a:gd name="f90" fmla="*/ f57 1 40"/>
                <a:gd name="f91" fmla="*/ f58 1 34"/>
                <a:gd name="f92" fmla="*/ f59 1 40"/>
                <a:gd name="f93" fmla="*/ f60 1 34"/>
                <a:gd name="f94" fmla="*/ f61 1 40"/>
                <a:gd name="f95" fmla="*/ f62 1 34"/>
                <a:gd name="f96" fmla="*/ f63 1 34"/>
                <a:gd name="f97" fmla="*/ f64 1 34"/>
                <a:gd name="f98" fmla="*/ f65 1 34"/>
                <a:gd name="f99" fmla="*/ f66 1 40"/>
                <a:gd name="f100" fmla="*/ f67 1 40"/>
                <a:gd name="f101" fmla="*/ f68 1 40"/>
                <a:gd name="f102" fmla="*/ f69 1 40"/>
                <a:gd name="f103" fmla="*/ f70 1 40"/>
                <a:gd name="f104" fmla="*/ f71 1 34"/>
                <a:gd name="f105" fmla="*/ f72 1 40"/>
                <a:gd name="f106" fmla="*/ f73 1 40"/>
                <a:gd name="f107" fmla="*/ f74 1 34"/>
                <a:gd name="f108" fmla="*/ f75 1 40"/>
                <a:gd name="f109" fmla="*/ f76 1 40"/>
                <a:gd name="f110" fmla="*/ f77 1 34"/>
                <a:gd name="f111" fmla="*/ f78 1 34"/>
                <a:gd name="f112" fmla="*/ f79 1 34"/>
                <a:gd name="f113" fmla="*/ f80 1 40"/>
                <a:gd name="f114" fmla="*/ f81 1 40"/>
                <a:gd name="f115" fmla="*/ f82 1 40"/>
                <a:gd name="f116" fmla="*/ f83 1 40"/>
                <a:gd name="f117" fmla="*/ 0 1 f50"/>
                <a:gd name="f118" fmla="*/ f6 1 f50"/>
                <a:gd name="f119" fmla="*/ 0 1 f51"/>
                <a:gd name="f120" fmla="*/ f7 1 f51"/>
                <a:gd name="f121" fmla="+- f84 0 f1"/>
                <a:gd name="f122" fmla="*/ f85 1 f50"/>
                <a:gd name="f123" fmla="*/ f86 1 f51"/>
                <a:gd name="f124" fmla="*/ f87 1 f50"/>
                <a:gd name="f125" fmla="*/ f88 1 f51"/>
                <a:gd name="f126" fmla="*/ f89 1 f50"/>
                <a:gd name="f127" fmla="*/ f90 1 f51"/>
                <a:gd name="f128" fmla="*/ f91 1 f50"/>
                <a:gd name="f129" fmla="*/ f92 1 f51"/>
                <a:gd name="f130" fmla="*/ f93 1 f50"/>
                <a:gd name="f131" fmla="*/ f94 1 f51"/>
                <a:gd name="f132" fmla="*/ f95 1 f50"/>
                <a:gd name="f133" fmla="*/ f96 1 f50"/>
                <a:gd name="f134" fmla="*/ f97 1 f50"/>
                <a:gd name="f135" fmla="*/ f98 1 f50"/>
                <a:gd name="f136" fmla="*/ f99 1 f51"/>
                <a:gd name="f137" fmla="*/ f100 1 f51"/>
                <a:gd name="f138" fmla="*/ f101 1 f51"/>
                <a:gd name="f139" fmla="*/ f102 1 f51"/>
                <a:gd name="f140" fmla="*/ f103 1 f51"/>
                <a:gd name="f141" fmla="*/ f104 1 f50"/>
                <a:gd name="f142" fmla="*/ f105 1 f51"/>
                <a:gd name="f143" fmla="*/ f106 1 f51"/>
                <a:gd name="f144" fmla="*/ f107 1 f50"/>
                <a:gd name="f145" fmla="*/ f108 1 f51"/>
                <a:gd name="f146" fmla="*/ f109 1 f51"/>
                <a:gd name="f147" fmla="*/ f110 1 f50"/>
                <a:gd name="f148" fmla="*/ f111 1 f50"/>
                <a:gd name="f149" fmla="*/ f112 1 f50"/>
                <a:gd name="f150" fmla="*/ f113 1 f51"/>
                <a:gd name="f151" fmla="*/ f114 1 f51"/>
                <a:gd name="f152" fmla="*/ f115 1 f51"/>
                <a:gd name="f153" fmla="*/ f116 1 f51"/>
                <a:gd name="f154" fmla="*/ f117 f45 1"/>
                <a:gd name="f155" fmla="*/ f118 f45 1"/>
                <a:gd name="f156" fmla="*/ f120 f46 1"/>
                <a:gd name="f157" fmla="*/ f119 f46 1"/>
                <a:gd name="f158" fmla="*/ f122 f45 1"/>
                <a:gd name="f159" fmla="*/ f123 f46 1"/>
                <a:gd name="f160" fmla="*/ f124 f45 1"/>
                <a:gd name="f161" fmla="*/ f125 f46 1"/>
                <a:gd name="f162" fmla="*/ f126 f45 1"/>
                <a:gd name="f163" fmla="*/ f127 f46 1"/>
                <a:gd name="f164" fmla="*/ f128 f45 1"/>
                <a:gd name="f165" fmla="*/ f129 f46 1"/>
                <a:gd name="f166" fmla="*/ f130 f45 1"/>
                <a:gd name="f167" fmla="*/ f131 f46 1"/>
                <a:gd name="f168" fmla="*/ f132 f45 1"/>
                <a:gd name="f169" fmla="*/ f133 f45 1"/>
                <a:gd name="f170" fmla="*/ f134 f45 1"/>
                <a:gd name="f171" fmla="*/ f135 f45 1"/>
                <a:gd name="f172" fmla="*/ f136 f46 1"/>
                <a:gd name="f173" fmla="*/ f137 f46 1"/>
                <a:gd name="f174" fmla="*/ f138 f46 1"/>
                <a:gd name="f175" fmla="*/ f139 f46 1"/>
                <a:gd name="f176" fmla="*/ f140 f46 1"/>
                <a:gd name="f177" fmla="*/ f141 f45 1"/>
                <a:gd name="f178" fmla="*/ f142 f46 1"/>
                <a:gd name="f179" fmla="*/ f143 f46 1"/>
                <a:gd name="f180" fmla="*/ f144 f45 1"/>
                <a:gd name="f181" fmla="*/ f145 f46 1"/>
                <a:gd name="f182" fmla="*/ f146 f46 1"/>
                <a:gd name="f183" fmla="*/ f147 f45 1"/>
                <a:gd name="f184" fmla="*/ f148 f45 1"/>
                <a:gd name="f185" fmla="*/ f149 f45 1"/>
                <a:gd name="f186" fmla="*/ f150 f46 1"/>
                <a:gd name="f187" fmla="*/ f151 f46 1"/>
                <a:gd name="f188" fmla="*/ f152 f46 1"/>
                <a:gd name="f189" fmla="*/ f153 f46 1"/>
              </a:gdLst>
              <a:ahLst/>
              <a:cxnLst>
                <a:cxn ang="3cd4">
                  <a:pos x="hc" y="t"/>
                </a:cxn>
                <a:cxn ang="0">
                  <a:pos x="r" y="vc"/>
                </a:cxn>
                <a:cxn ang="cd4">
                  <a:pos x="hc" y="b"/>
                </a:cxn>
                <a:cxn ang="cd2">
                  <a:pos x="l" y="vc"/>
                </a:cxn>
                <a:cxn ang="f121">
                  <a:pos x="f158" y="f159"/>
                </a:cxn>
                <a:cxn ang="f121">
                  <a:pos x="f160" y="f161"/>
                </a:cxn>
                <a:cxn ang="f121">
                  <a:pos x="f162" y="f163"/>
                </a:cxn>
                <a:cxn ang="f121">
                  <a:pos x="f164" y="f165"/>
                </a:cxn>
                <a:cxn ang="f121">
                  <a:pos x="f166" y="f167"/>
                </a:cxn>
                <a:cxn ang="f121">
                  <a:pos x="f168" y="f165"/>
                </a:cxn>
                <a:cxn ang="f121">
                  <a:pos x="f169" y="f163"/>
                </a:cxn>
                <a:cxn ang="f121">
                  <a:pos x="f170" y="f161"/>
                </a:cxn>
                <a:cxn ang="f121">
                  <a:pos x="f171" y="f172"/>
                </a:cxn>
                <a:cxn ang="f121">
                  <a:pos x="f170" y="f173"/>
                </a:cxn>
                <a:cxn ang="f121">
                  <a:pos x="f169" y="f174"/>
                </a:cxn>
                <a:cxn ang="f121">
                  <a:pos x="f168" y="f175"/>
                </a:cxn>
                <a:cxn ang="f121">
                  <a:pos x="f166" y="f176"/>
                </a:cxn>
                <a:cxn ang="f121">
                  <a:pos x="f164" y="f175"/>
                </a:cxn>
                <a:cxn ang="f121">
                  <a:pos x="f162" y="f174"/>
                </a:cxn>
                <a:cxn ang="f121">
                  <a:pos x="f160" y="f173"/>
                </a:cxn>
                <a:cxn ang="f121">
                  <a:pos x="f158" y="f159"/>
                </a:cxn>
                <a:cxn ang="f121">
                  <a:pos x="f177" y="f172"/>
                </a:cxn>
                <a:cxn ang="f121">
                  <a:pos x="f177" y="f178"/>
                </a:cxn>
                <a:cxn ang="f121">
                  <a:pos x="f164" y="f179"/>
                </a:cxn>
                <a:cxn ang="f121">
                  <a:pos x="f180" y="f181"/>
                </a:cxn>
                <a:cxn ang="f121">
                  <a:pos x="f166" y="f182"/>
                </a:cxn>
                <a:cxn ang="f121">
                  <a:pos x="f183" y="f181"/>
                </a:cxn>
                <a:cxn ang="f121">
                  <a:pos x="f168" y="f179"/>
                </a:cxn>
                <a:cxn ang="f121">
                  <a:pos x="f184" y="f178"/>
                </a:cxn>
                <a:cxn ang="f121">
                  <a:pos x="f185" y="f159"/>
                </a:cxn>
                <a:cxn ang="f121">
                  <a:pos x="f184" y="f186"/>
                </a:cxn>
                <a:cxn ang="f121">
                  <a:pos x="f168" y="f187"/>
                </a:cxn>
                <a:cxn ang="f121">
                  <a:pos x="f183" y="f188"/>
                </a:cxn>
                <a:cxn ang="f121">
                  <a:pos x="f166" y="f188"/>
                </a:cxn>
                <a:cxn ang="f121">
                  <a:pos x="f180" y="f189"/>
                </a:cxn>
                <a:cxn ang="f121">
                  <a:pos x="f164" y="f187"/>
                </a:cxn>
                <a:cxn ang="f121">
                  <a:pos x="f177" y="f186"/>
                </a:cxn>
                <a:cxn ang="f121">
                  <a:pos x="f177" y="f172"/>
                </a:cxn>
              </a:cxnLst>
              <a:rect l="f154" t="f157" r="f155" b="f156"/>
              <a:pathLst>
                <a:path w="34" h="40">
                  <a:moveTo>
                    <a:pt x="f6" y="f8"/>
                  </a:moveTo>
                  <a:cubicBezTo>
                    <a:pt x="f6" y="f9"/>
                    <a:pt x="f6" y="f10"/>
                    <a:pt x="f11" y="f12"/>
                  </a:cubicBezTo>
                  <a:cubicBezTo>
                    <a:pt x="f13" y="f14"/>
                    <a:pt x="f15" y="f11"/>
                    <a:pt x="f16" y="f6"/>
                  </a:cubicBezTo>
                  <a:cubicBezTo>
                    <a:pt x="f12" y="f17"/>
                    <a:pt x="f18" y="f19"/>
                    <a:pt x="f20" y="f21"/>
                  </a:cubicBezTo>
                  <a:cubicBezTo>
                    <a:pt x="f22" y="f23"/>
                    <a:pt x="f8" y="f7"/>
                    <a:pt x="f24" y="f7"/>
                  </a:cubicBezTo>
                  <a:cubicBezTo>
                    <a:pt x="f25" y="f7"/>
                    <a:pt x="f26" y="f23"/>
                    <a:pt x="f27" y="f21"/>
                  </a:cubicBezTo>
                  <a:cubicBezTo>
                    <a:pt x="f28" y="f19"/>
                    <a:pt x="f29" y="f17"/>
                    <a:pt x="f30" y="f6"/>
                  </a:cubicBezTo>
                  <a:cubicBezTo>
                    <a:pt x="f31" y="f13"/>
                    <a:pt x="f32" y="f14"/>
                    <a:pt x="f33" y="f12"/>
                  </a:cubicBezTo>
                  <a:cubicBezTo>
                    <a:pt x="f5" y="f10"/>
                    <a:pt x="f5" y="f9"/>
                    <a:pt x="f5" y="f34"/>
                  </a:cubicBezTo>
                  <a:cubicBezTo>
                    <a:pt x="f5" y="f35"/>
                    <a:pt x="f5" y="f25"/>
                    <a:pt x="f33" y="f36"/>
                  </a:cubicBezTo>
                  <a:cubicBezTo>
                    <a:pt x="f32" y="f37"/>
                    <a:pt x="f31" y="f38"/>
                    <a:pt x="f30" y="f30"/>
                  </a:cubicBezTo>
                  <a:cubicBezTo>
                    <a:pt x="f29" y="f31"/>
                    <a:pt x="f28" y="f32"/>
                    <a:pt x="f27" y="f33"/>
                  </a:cubicBezTo>
                  <a:cubicBezTo>
                    <a:pt x="f26" y="f5"/>
                    <a:pt x="f25" y="f5"/>
                    <a:pt x="f24" y="f5"/>
                  </a:cubicBezTo>
                  <a:cubicBezTo>
                    <a:pt x="f8" y="f5"/>
                    <a:pt x="f39" y="f5"/>
                    <a:pt x="f20" y="f33"/>
                  </a:cubicBezTo>
                  <a:cubicBezTo>
                    <a:pt x="f18" y="f32"/>
                    <a:pt x="f12" y="f31"/>
                    <a:pt x="f16" y="f30"/>
                  </a:cubicBezTo>
                  <a:cubicBezTo>
                    <a:pt x="f15" y="f38"/>
                    <a:pt x="f13" y="f37"/>
                    <a:pt x="f11" y="f36"/>
                  </a:cubicBezTo>
                  <a:cubicBezTo>
                    <a:pt x="f6" y="f25"/>
                    <a:pt x="f6" y="f35"/>
                    <a:pt x="f6" y="f8"/>
                  </a:cubicBezTo>
                  <a:close/>
                  <a:moveTo>
                    <a:pt x="f18" y="f34"/>
                  </a:moveTo>
                  <a:cubicBezTo>
                    <a:pt x="f18" y="f40"/>
                    <a:pt x="f18" y="f35"/>
                    <a:pt x="f18" y="f25"/>
                  </a:cubicBezTo>
                  <a:cubicBezTo>
                    <a:pt x="f10" y="f41"/>
                    <a:pt x="f10" y="f36"/>
                    <a:pt x="f20" y="f27"/>
                  </a:cubicBezTo>
                  <a:cubicBezTo>
                    <a:pt x="f9" y="f37"/>
                    <a:pt x="f39" y="f28"/>
                    <a:pt x="f22" y="f28"/>
                  </a:cubicBezTo>
                  <a:cubicBezTo>
                    <a:pt x="f8" y="f38"/>
                    <a:pt x="f40" y="f38"/>
                    <a:pt x="f24" y="f38"/>
                  </a:cubicBezTo>
                  <a:cubicBezTo>
                    <a:pt x="f42" y="f38"/>
                    <a:pt x="f25" y="f38"/>
                    <a:pt x="f41" y="f28"/>
                  </a:cubicBezTo>
                  <a:cubicBezTo>
                    <a:pt x="f26" y="f28"/>
                    <a:pt x="f36" y="f37"/>
                    <a:pt x="f27" y="f27"/>
                  </a:cubicBezTo>
                  <a:cubicBezTo>
                    <a:pt x="f37" y="f36"/>
                    <a:pt x="f28" y="f41"/>
                    <a:pt x="f28" y="f25"/>
                  </a:cubicBezTo>
                  <a:cubicBezTo>
                    <a:pt x="f28" y="f35"/>
                    <a:pt x="f38" y="f24"/>
                    <a:pt x="f38" y="f8"/>
                  </a:cubicBezTo>
                  <a:cubicBezTo>
                    <a:pt x="f38" y="f22"/>
                    <a:pt x="f28" y="f9"/>
                    <a:pt x="f28" y="f10"/>
                  </a:cubicBezTo>
                  <a:cubicBezTo>
                    <a:pt x="f37" y="f43"/>
                    <a:pt x="f37" y="f12"/>
                    <a:pt x="f27" y="f16"/>
                  </a:cubicBezTo>
                  <a:cubicBezTo>
                    <a:pt x="f36" y="f14"/>
                    <a:pt x="f26" y="f15"/>
                    <a:pt x="f41" y="f13"/>
                  </a:cubicBezTo>
                  <a:cubicBezTo>
                    <a:pt x="f25" y="f13"/>
                    <a:pt x="f35" y="f13"/>
                    <a:pt x="f24" y="f13"/>
                  </a:cubicBezTo>
                  <a:cubicBezTo>
                    <a:pt x="f40" y="f13"/>
                    <a:pt x="f34" y="f13"/>
                    <a:pt x="f22" y="f15"/>
                  </a:cubicBezTo>
                  <a:cubicBezTo>
                    <a:pt x="f39" y="f15"/>
                    <a:pt x="f9" y="f14"/>
                    <a:pt x="f20" y="f16"/>
                  </a:cubicBezTo>
                  <a:cubicBezTo>
                    <a:pt x="f10" y="f43"/>
                    <a:pt x="f10" y="f18"/>
                    <a:pt x="f18" y="f10"/>
                  </a:cubicBezTo>
                  <a:cubicBezTo>
                    <a:pt x="f18" y="f9"/>
                    <a:pt x="f18" y="f22"/>
                    <a:pt x="f18" y="f34"/>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7" name="Freeform 27">
              <a:extLst>
                <a:ext uri="{FF2B5EF4-FFF2-40B4-BE49-F238E27FC236}">
                  <a16:creationId xmlns:a16="http://schemas.microsoft.com/office/drawing/2014/main" id="{5F62D7BA-56D6-5A6E-E615-F6F6F5670058}"/>
                </a:ext>
              </a:extLst>
            </p:cNvPr>
            <p:cNvSpPr/>
            <p:nvPr/>
          </p:nvSpPr>
          <p:spPr>
            <a:xfrm>
              <a:off x="2343488"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1"/>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19"/>
                <a:gd name="f28" fmla="val 25"/>
                <a:gd name="f29" fmla="val 26"/>
                <a:gd name="f30" fmla="val 27"/>
                <a:gd name="f31" fmla="val 28"/>
                <a:gd name="f32" fmla="val 5"/>
                <a:gd name="f33" fmla="val 29"/>
                <a:gd name="f34" fmla="val 30"/>
                <a:gd name="f35" fmla="+- 0 0 -90"/>
                <a:gd name="f36" fmla="*/ f3 1 31"/>
                <a:gd name="f37" fmla="*/ f4 1 39"/>
                <a:gd name="f38" fmla="+- f7 0 f5"/>
                <a:gd name="f39" fmla="+- f6 0 f5"/>
                <a:gd name="f40" fmla="*/ f35 f0 1"/>
                <a:gd name="f41" fmla="*/ f39 1 31"/>
                <a:gd name="f42" fmla="*/ f38 1 39"/>
                <a:gd name="f43" fmla="*/ 23 f39 1"/>
                <a:gd name="f44" fmla="*/ 39 f38 1"/>
                <a:gd name="f45" fmla="*/ 17 f38 1"/>
                <a:gd name="f46" fmla="*/ 21 f39 1"/>
                <a:gd name="f47" fmla="*/ 9 f38 1"/>
                <a:gd name="f48" fmla="*/ 15 f39 1"/>
                <a:gd name="f49" fmla="*/ 7 f38 1"/>
                <a:gd name="f50" fmla="*/ 12 f39 1"/>
                <a:gd name="f51" fmla="*/ 9 f39 1"/>
                <a:gd name="f52" fmla="*/ 8 f39 1"/>
                <a:gd name="f53" fmla="*/ 12 f38 1"/>
                <a:gd name="f54" fmla="*/ 7 f39 1"/>
                <a:gd name="f55" fmla="*/ 16 f38 1"/>
                <a:gd name="f56" fmla="*/ 0 f39 1"/>
                <a:gd name="f57" fmla="*/ 0 f38 1"/>
                <a:gd name="f58" fmla="*/ 4 f38 1"/>
                <a:gd name="f59" fmla="*/ 2 f38 1"/>
                <a:gd name="f60" fmla="*/ 11 f39 1"/>
                <a:gd name="f61" fmla="*/ 1 f38 1"/>
                <a:gd name="f62" fmla="*/ 14 f39 1"/>
                <a:gd name="f63" fmla="*/ 17 f39 1"/>
                <a:gd name="f64" fmla="*/ 27 f39 1"/>
                <a:gd name="f65" fmla="*/ 30 f39 1"/>
                <a:gd name="f66" fmla="*/ 31 f39 1"/>
                <a:gd name="f67" fmla="*/ f40 1 f2"/>
                <a:gd name="f68" fmla="*/ f43 1 31"/>
                <a:gd name="f69" fmla="*/ f44 1 39"/>
                <a:gd name="f70" fmla="*/ f45 1 39"/>
                <a:gd name="f71" fmla="*/ f46 1 31"/>
                <a:gd name="f72" fmla="*/ f47 1 39"/>
                <a:gd name="f73" fmla="*/ f48 1 31"/>
                <a:gd name="f74" fmla="*/ f49 1 39"/>
                <a:gd name="f75" fmla="*/ f50 1 31"/>
                <a:gd name="f76" fmla="*/ f51 1 31"/>
                <a:gd name="f77" fmla="*/ f52 1 31"/>
                <a:gd name="f78" fmla="*/ f53 1 39"/>
                <a:gd name="f79" fmla="*/ f54 1 31"/>
                <a:gd name="f80" fmla="*/ f55 1 39"/>
                <a:gd name="f81" fmla="*/ f56 1 31"/>
                <a:gd name="f82" fmla="*/ f57 1 39"/>
                <a:gd name="f83" fmla="*/ f58 1 39"/>
                <a:gd name="f84" fmla="*/ f59 1 39"/>
                <a:gd name="f85" fmla="*/ f60 1 31"/>
                <a:gd name="f86" fmla="*/ f61 1 39"/>
                <a:gd name="f87" fmla="*/ f62 1 31"/>
                <a:gd name="f88" fmla="*/ f63 1 31"/>
                <a:gd name="f89" fmla="*/ f64 1 31"/>
                <a:gd name="f90" fmla="*/ f65 1 31"/>
                <a:gd name="f91" fmla="*/ f66 1 31"/>
                <a:gd name="f92" fmla="*/ 0 1 f41"/>
                <a:gd name="f93" fmla="*/ f6 1 f41"/>
                <a:gd name="f94" fmla="*/ 0 1 f42"/>
                <a:gd name="f95" fmla="*/ f7 1 f42"/>
                <a:gd name="f96" fmla="+- f67 0 f1"/>
                <a:gd name="f97" fmla="*/ f68 1 f41"/>
                <a:gd name="f98" fmla="*/ f69 1 f42"/>
                <a:gd name="f99" fmla="*/ f70 1 f42"/>
                <a:gd name="f100" fmla="*/ f71 1 f41"/>
                <a:gd name="f101" fmla="*/ f72 1 f42"/>
                <a:gd name="f102" fmla="*/ f73 1 f41"/>
                <a:gd name="f103" fmla="*/ f74 1 f42"/>
                <a:gd name="f104" fmla="*/ f75 1 f41"/>
                <a:gd name="f105" fmla="*/ f76 1 f41"/>
                <a:gd name="f106" fmla="*/ f77 1 f41"/>
                <a:gd name="f107" fmla="*/ f78 1 f42"/>
                <a:gd name="f108" fmla="*/ f79 1 f41"/>
                <a:gd name="f109" fmla="*/ f80 1 f42"/>
                <a:gd name="f110" fmla="*/ f81 1 f41"/>
                <a:gd name="f111" fmla="*/ f82 1 f42"/>
                <a:gd name="f112" fmla="*/ f83 1 f42"/>
                <a:gd name="f113" fmla="*/ f84 1 f42"/>
                <a:gd name="f114" fmla="*/ f85 1 f41"/>
                <a:gd name="f115" fmla="*/ f86 1 f42"/>
                <a:gd name="f116" fmla="*/ f87 1 f41"/>
                <a:gd name="f117" fmla="*/ f88 1 f41"/>
                <a:gd name="f118" fmla="*/ f89 1 f41"/>
                <a:gd name="f119" fmla="*/ f90 1 f41"/>
                <a:gd name="f120" fmla="*/ f91 1 f41"/>
                <a:gd name="f121" fmla="*/ f92 f36 1"/>
                <a:gd name="f122" fmla="*/ f93 f36 1"/>
                <a:gd name="f123" fmla="*/ f95 f37 1"/>
                <a:gd name="f124" fmla="*/ f94 f37 1"/>
                <a:gd name="f125" fmla="*/ f97 f36 1"/>
                <a:gd name="f126" fmla="*/ f98 f37 1"/>
                <a:gd name="f127" fmla="*/ f99 f37 1"/>
                <a:gd name="f128" fmla="*/ f100 f36 1"/>
                <a:gd name="f129" fmla="*/ f101 f37 1"/>
                <a:gd name="f130" fmla="*/ f102 f36 1"/>
                <a:gd name="f131" fmla="*/ f103 f37 1"/>
                <a:gd name="f132" fmla="*/ f104 f36 1"/>
                <a:gd name="f133" fmla="*/ f105 f36 1"/>
                <a:gd name="f134" fmla="*/ f106 f36 1"/>
                <a:gd name="f135" fmla="*/ f107 f37 1"/>
                <a:gd name="f136" fmla="*/ f108 f36 1"/>
                <a:gd name="f137" fmla="*/ f109 f37 1"/>
                <a:gd name="f138" fmla="*/ f110 f36 1"/>
                <a:gd name="f139" fmla="*/ f111 f37 1"/>
                <a:gd name="f140" fmla="*/ f112 f37 1"/>
                <a:gd name="f141" fmla="*/ f113 f37 1"/>
                <a:gd name="f142" fmla="*/ f114 f36 1"/>
                <a:gd name="f143" fmla="*/ f115 f37 1"/>
                <a:gd name="f144" fmla="*/ f116 f36 1"/>
                <a:gd name="f145" fmla="*/ f117 f36 1"/>
                <a:gd name="f146" fmla="*/ f118 f36 1"/>
                <a:gd name="f147" fmla="*/ f119 f36 1"/>
                <a:gd name="f148" fmla="*/ f120 f36 1"/>
              </a:gdLst>
              <a:ahLst/>
              <a:cxnLst>
                <a:cxn ang="3cd4">
                  <a:pos x="hc" y="t"/>
                </a:cxn>
                <a:cxn ang="0">
                  <a:pos x="r" y="vc"/>
                </a:cxn>
                <a:cxn ang="cd4">
                  <a:pos x="hc" y="b"/>
                </a:cxn>
                <a:cxn ang="cd2">
                  <a:pos x="l" y="vc"/>
                </a:cxn>
                <a:cxn ang="f96">
                  <a:pos x="f125" y="f126"/>
                </a:cxn>
                <a:cxn ang="f96">
                  <a:pos x="f125" y="f127"/>
                </a:cxn>
                <a:cxn ang="f96">
                  <a:pos x="f128" y="f129"/>
                </a:cxn>
                <a:cxn ang="f96">
                  <a:pos x="f130" y="f131"/>
                </a:cxn>
                <a:cxn ang="f96">
                  <a:pos x="f132" y="f131"/>
                </a:cxn>
                <a:cxn ang="f96">
                  <a:pos x="f133" y="f129"/>
                </a:cxn>
                <a:cxn ang="f96">
                  <a:pos x="f134" y="f135"/>
                </a:cxn>
                <a:cxn ang="f96">
                  <a:pos x="f136" y="f137"/>
                </a:cxn>
                <a:cxn ang="f96">
                  <a:pos x="f136" y="f126"/>
                </a:cxn>
                <a:cxn ang="f96">
                  <a:pos x="f138" y="f126"/>
                </a:cxn>
                <a:cxn ang="f96">
                  <a:pos x="f138" y="f139"/>
                </a:cxn>
                <a:cxn ang="f96">
                  <a:pos x="f136" y="f139"/>
                </a:cxn>
                <a:cxn ang="f96">
                  <a:pos x="f136" y="f140"/>
                </a:cxn>
                <a:cxn ang="f96">
                  <a:pos x="f133" y="f141"/>
                </a:cxn>
                <a:cxn ang="f96">
                  <a:pos x="f142" y="f143"/>
                </a:cxn>
                <a:cxn ang="f96">
                  <a:pos x="f144" y="f139"/>
                </a:cxn>
                <a:cxn ang="f96">
                  <a:pos x="f145" y="f139"/>
                </a:cxn>
                <a:cxn ang="f96">
                  <a:pos x="f125" y="f143"/>
                </a:cxn>
                <a:cxn ang="f96">
                  <a:pos x="f146" y="f140"/>
                </a:cxn>
                <a:cxn ang="f96">
                  <a:pos x="f147" y="f129"/>
                </a:cxn>
                <a:cxn ang="f96">
                  <a:pos x="f148" y="f127"/>
                </a:cxn>
                <a:cxn ang="f96">
                  <a:pos x="f148" y="f126"/>
                </a:cxn>
                <a:cxn ang="f96">
                  <a:pos x="f125" y="f126"/>
                </a:cxn>
              </a:cxnLst>
              <a:rect l="f121" t="f124" r="f122" b="f123"/>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13" y="f13"/>
                  </a:cubicBezTo>
                  <a:cubicBezTo>
                    <a:pt x="f13" y="f21"/>
                    <a:pt x="f20" y="f11"/>
                    <a:pt x="f20" y="f19"/>
                  </a:cubicBezTo>
                  <a:cubicBezTo>
                    <a:pt x="f20" y="f10"/>
                    <a:pt x="f15" y="f17"/>
                    <a:pt x="f15" y="f22"/>
                  </a:cubicBezTo>
                  <a:cubicBezTo>
                    <a:pt x="f15" y="f7"/>
                    <a:pt x="f15" y="f7"/>
                    <a:pt x="f15" y="f7"/>
                  </a:cubicBezTo>
                  <a:cubicBezTo>
                    <a:pt x="f5" y="f7"/>
                    <a:pt x="f5" y="f7"/>
                    <a:pt x="f5" y="f7"/>
                  </a:cubicBezTo>
                  <a:cubicBezTo>
                    <a:pt x="f5" y="f5"/>
                    <a:pt x="f5" y="f5"/>
                    <a:pt x="f5" y="f5"/>
                  </a:cubicBezTo>
                  <a:cubicBezTo>
                    <a:pt x="f15" y="f5"/>
                    <a:pt x="f15" y="f5"/>
                    <a:pt x="f15" y="f5"/>
                  </a:cubicBezTo>
                  <a:cubicBezTo>
                    <a:pt x="f15" y="f23"/>
                    <a:pt x="f15" y="f23"/>
                    <a:pt x="f15" y="f23"/>
                  </a:cubicBezTo>
                  <a:cubicBezTo>
                    <a:pt x="f20" y="f24"/>
                    <a:pt x="f20" y="f24"/>
                    <a:pt x="f13" y="f25"/>
                  </a:cubicBezTo>
                  <a:cubicBezTo>
                    <a:pt x="f21" y="f25"/>
                    <a:pt x="f11" y="f26"/>
                    <a:pt x="f11" y="f26"/>
                  </a:cubicBezTo>
                  <a:cubicBezTo>
                    <a:pt x="f19" y="f5"/>
                    <a:pt x="f18" y="f5"/>
                    <a:pt x="f10" y="f5"/>
                  </a:cubicBezTo>
                  <a:cubicBezTo>
                    <a:pt x="f17" y="f5"/>
                    <a:pt x="f22" y="f5"/>
                    <a:pt x="f9" y="f5"/>
                  </a:cubicBezTo>
                  <a:cubicBezTo>
                    <a:pt x="f27" y="f5"/>
                    <a:pt x="f12" y="f5"/>
                    <a:pt x="f8" y="f26"/>
                  </a:cubicBezTo>
                  <a:cubicBezTo>
                    <a:pt x="f28" y="f26"/>
                    <a:pt x="f29" y="f25"/>
                    <a:pt x="f30" y="f23"/>
                  </a:cubicBezTo>
                  <a:cubicBezTo>
                    <a:pt x="f31" y="f32"/>
                    <a:pt x="f33" y="f15"/>
                    <a:pt x="f34" y="f13"/>
                  </a:cubicBezTo>
                  <a:cubicBezTo>
                    <a:pt x="f34"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8" name="Freeform 28">
              <a:extLst>
                <a:ext uri="{FF2B5EF4-FFF2-40B4-BE49-F238E27FC236}">
                  <a16:creationId xmlns:a16="http://schemas.microsoft.com/office/drawing/2014/main" id="{7D89E430-E1D2-FB3C-0B37-A759B8BA4273}"/>
                </a:ext>
              </a:extLst>
            </p:cNvPr>
            <p:cNvSpPr/>
            <p:nvPr/>
          </p:nvSpPr>
          <p:spPr>
            <a:xfrm>
              <a:off x="2444575" y="6159663"/>
              <a:ext cx="31373"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4 f21 1"/>
                <a:gd name="f30" fmla="*/ 2 f21 1"/>
                <a:gd name="f31" fmla="*/ 1 f21 1"/>
                <a:gd name="f32" fmla="*/ 0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19 1"/>
                <a:gd name="f73" fmla="*/ f51 f20 1"/>
                <a:gd name="f74" fmla="*/ f52 f20 1"/>
                <a:gd name="f75" fmla="*/ f54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2" y="f60"/>
                </a:cxn>
                <a:cxn ang="f45">
                  <a:pos x="f71" y="f73"/>
                </a:cxn>
                <a:cxn ang="f45">
                  <a:pos x="f70" y="f74"/>
                </a:cxn>
                <a:cxn ang="f45">
                  <a:pos x="f69" y="f75"/>
                </a:cxn>
                <a:cxn ang="f45">
                  <a:pos x="f67" y="f75"/>
                </a:cxn>
                <a:cxn ang="f45">
                  <a:pos x="f65" y="f75"/>
                </a:cxn>
                <a:cxn ang="f45">
                  <a:pos x="f63" y="f74"/>
                </a:cxn>
                <a:cxn ang="f45">
                  <a:pos x="f61" y="f73"/>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4" y="f9"/>
                  </a:cubicBezTo>
                  <a:cubicBezTo>
                    <a:pt x="f15" y="f9"/>
                    <a:pt x="f16" y="f12"/>
                    <a:pt x="f16" y="f12"/>
                  </a:cubicBezTo>
                  <a:cubicBezTo>
                    <a:pt x="f17" y="f11"/>
                    <a:pt x="f17" y="f11"/>
                    <a:pt x="f17" y="f10"/>
                  </a:cubicBezTo>
                  <a:cubicBezTo>
                    <a:pt x="f5" y="f8"/>
                    <a:pt x="f5" y="f8"/>
                    <a:pt x="f5" y="f7"/>
                  </a:cubicBezTo>
                  <a:cubicBezTo>
                    <a:pt x="f5" y="f13"/>
                    <a:pt x="f5" y="f14"/>
                    <a:pt x="f17" y="f14"/>
                  </a:cubicBezTo>
                  <a:cubicBezTo>
                    <a:pt x="f17" y="f15"/>
                    <a:pt x="f17" y="f16"/>
                    <a:pt x="f16" y="f16"/>
                  </a:cubicBezTo>
                  <a:cubicBezTo>
                    <a:pt x="f16" y="f17"/>
                    <a:pt x="f15" y="f17"/>
                    <a:pt x="f14"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9" name="Freeform 29">
              <a:extLst>
                <a:ext uri="{FF2B5EF4-FFF2-40B4-BE49-F238E27FC236}">
                  <a16:creationId xmlns:a16="http://schemas.microsoft.com/office/drawing/2014/main" id="{92608B6D-DF11-5DC5-1DD7-54781153F1B1}"/>
                </a:ext>
              </a:extLst>
            </p:cNvPr>
            <p:cNvSpPr/>
            <p:nvPr/>
          </p:nvSpPr>
          <p:spPr>
            <a:xfrm>
              <a:off x="2538685" y="6056784"/>
              <a:ext cx="97593" cy="130777"/>
            </a:xfrm>
            <a:custGeom>
              <a:avLst/>
              <a:gdLst>
                <a:gd name="f0" fmla="val 10800000"/>
                <a:gd name="f1" fmla="val 5400000"/>
                <a:gd name="f2" fmla="val 180"/>
                <a:gd name="f3" fmla="val w"/>
                <a:gd name="f4" fmla="val h"/>
                <a:gd name="f5" fmla="val 0"/>
                <a:gd name="f6" fmla="val 56"/>
                <a:gd name="f7" fmla="val 75"/>
                <a:gd name="f8" fmla="val 34"/>
                <a:gd name="f9" fmla="val 11"/>
                <a:gd name="f10" fmla="val 22"/>
                <a:gd name="f11" fmla="+- 0 0 -90"/>
                <a:gd name="f12" fmla="*/ f3 1 56"/>
                <a:gd name="f13" fmla="*/ f4 1 75"/>
                <a:gd name="f14" fmla="+- f7 0 f5"/>
                <a:gd name="f15" fmla="+- f6 0 f5"/>
                <a:gd name="f16" fmla="*/ f11 f0 1"/>
                <a:gd name="f17" fmla="*/ f15 1 56"/>
                <a:gd name="f18" fmla="*/ f14 1 75"/>
                <a:gd name="f19" fmla="*/ 34 f15 1"/>
                <a:gd name="f20" fmla="*/ 11 f14 1"/>
                <a:gd name="f21" fmla="*/ 75 f14 1"/>
                <a:gd name="f22" fmla="*/ 22 f15 1"/>
                <a:gd name="f23" fmla="*/ 0 f15 1"/>
                <a:gd name="f24" fmla="*/ 0 f14 1"/>
                <a:gd name="f25" fmla="*/ 56 f15 1"/>
                <a:gd name="f26" fmla="*/ f16 1 f2"/>
                <a:gd name="f27" fmla="*/ f19 1 56"/>
                <a:gd name="f28" fmla="*/ f20 1 75"/>
                <a:gd name="f29" fmla="*/ f21 1 75"/>
                <a:gd name="f30" fmla="*/ f22 1 56"/>
                <a:gd name="f31" fmla="*/ f23 1 56"/>
                <a:gd name="f32" fmla="*/ f24 1 75"/>
                <a:gd name="f33" fmla="*/ f25 1 56"/>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6"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0" name="Freeform 30">
              <a:extLst>
                <a:ext uri="{FF2B5EF4-FFF2-40B4-BE49-F238E27FC236}">
                  <a16:creationId xmlns:a16="http://schemas.microsoft.com/office/drawing/2014/main" id="{76F5584F-529A-2D2F-AC2C-FF2A0EE83DE2}"/>
                </a:ext>
              </a:extLst>
            </p:cNvPr>
            <p:cNvSpPr/>
            <p:nvPr/>
          </p:nvSpPr>
          <p:spPr>
            <a:xfrm>
              <a:off x="2650223" y="6049807"/>
              <a:ext cx="80165" cy="137754"/>
            </a:xfrm>
            <a:custGeom>
              <a:avLst/>
              <a:gdLst>
                <a:gd name="f0" fmla="val 10800000"/>
                <a:gd name="f1" fmla="val 5400000"/>
                <a:gd name="f2" fmla="val 180"/>
                <a:gd name="f3" fmla="val w"/>
                <a:gd name="f4" fmla="val h"/>
                <a:gd name="f5" fmla="val 0"/>
                <a:gd name="f6" fmla="val 31"/>
                <a:gd name="f7" fmla="val 54"/>
                <a:gd name="f8" fmla="val 24"/>
                <a:gd name="f9" fmla="val 32"/>
                <a:gd name="f10" fmla="val 28"/>
                <a:gd name="f11" fmla="val 23"/>
                <a:gd name="f12" fmla="val 26"/>
                <a:gd name="f13" fmla="val 22"/>
                <a:gd name="f14" fmla="val 21"/>
                <a:gd name="f15" fmla="val 19"/>
                <a:gd name="f16" fmla="val 16"/>
                <a:gd name="f17" fmla="val 15"/>
                <a:gd name="f18" fmla="val 14"/>
                <a:gd name="f19" fmla="val 13"/>
                <a:gd name="f20" fmla="val 12"/>
                <a:gd name="f21" fmla="val 11"/>
                <a:gd name="f22" fmla="val 10"/>
                <a:gd name="f23" fmla="val 9"/>
                <a:gd name="f24" fmla="val 25"/>
                <a:gd name="f25" fmla="val 8"/>
                <a:gd name="f26" fmla="val 27"/>
                <a:gd name="f27" fmla="val 30"/>
                <a:gd name="f28" fmla="val 4"/>
                <a:gd name="f29" fmla="val 18"/>
                <a:gd name="f30" fmla="val 17"/>
                <a:gd name="f31" fmla="val 20"/>
                <a:gd name="f32" fmla="val 29"/>
                <a:gd name="f33" fmla="+- 0 0 -90"/>
                <a:gd name="f34" fmla="*/ f3 1 31"/>
                <a:gd name="f35" fmla="*/ f4 1 54"/>
                <a:gd name="f36" fmla="+- f7 0 f5"/>
                <a:gd name="f37" fmla="+- f6 0 f5"/>
                <a:gd name="f38" fmla="*/ f33 f0 1"/>
                <a:gd name="f39" fmla="*/ f37 1 31"/>
                <a:gd name="f40" fmla="*/ f36 1 54"/>
                <a:gd name="f41" fmla="*/ 24 f37 1"/>
                <a:gd name="f42" fmla="*/ 54 f36 1"/>
                <a:gd name="f43" fmla="*/ 32 f36 1"/>
                <a:gd name="f44" fmla="*/ 22 f37 1"/>
                <a:gd name="f45" fmla="*/ 24 f36 1"/>
                <a:gd name="f46" fmla="*/ 16 f37 1"/>
                <a:gd name="f47" fmla="*/ 22 f36 1"/>
                <a:gd name="f48" fmla="*/ 13 f37 1"/>
                <a:gd name="f49" fmla="*/ 10 f37 1"/>
                <a:gd name="f50" fmla="*/ 8 f37 1"/>
                <a:gd name="f51" fmla="*/ 27 f36 1"/>
                <a:gd name="f52" fmla="*/ 31 f36 1"/>
                <a:gd name="f53" fmla="*/ 0 f37 1"/>
                <a:gd name="f54" fmla="*/ 4 f36 1"/>
                <a:gd name="f55" fmla="*/ 0 f36 1"/>
                <a:gd name="f56" fmla="*/ 19 f36 1"/>
                <a:gd name="f57" fmla="*/ 17 f36 1"/>
                <a:gd name="f58" fmla="*/ 12 f37 1"/>
                <a:gd name="f59" fmla="*/ 16 f36 1"/>
                <a:gd name="f60" fmla="*/ 15 f37 1"/>
                <a:gd name="f61" fmla="*/ 15 f36 1"/>
                <a:gd name="f62" fmla="*/ 18 f37 1"/>
                <a:gd name="f63" fmla="*/ 28 f37 1"/>
                <a:gd name="f64" fmla="*/ 30 f37 1"/>
                <a:gd name="f65" fmla="*/ 31 f37 1"/>
                <a:gd name="f66" fmla="*/ f38 1 f2"/>
                <a:gd name="f67" fmla="*/ f41 1 31"/>
                <a:gd name="f68" fmla="*/ f42 1 54"/>
                <a:gd name="f69" fmla="*/ f43 1 54"/>
                <a:gd name="f70" fmla="*/ f44 1 31"/>
                <a:gd name="f71" fmla="*/ f45 1 54"/>
                <a:gd name="f72" fmla="*/ f46 1 31"/>
                <a:gd name="f73" fmla="*/ f47 1 54"/>
                <a:gd name="f74" fmla="*/ f48 1 31"/>
                <a:gd name="f75" fmla="*/ f49 1 31"/>
                <a:gd name="f76" fmla="*/ f50 1 31"/>
                <a:gd name="f77" fmla="*/ f51 1 54"/>
                <a:gd name="f78" fmla="*/ f52 1 54"/>
                <a:gd name="f79" fmla="*/ f53 1 31"/>
                <a:gd name="f80" fmla="*/ f54 1 54"/>
                <a:gd name="f81" fmla="*/ f55 1 54"/>
                <a:gd name="f82" fmla="*/ f56 1 54"/>
                <a:gd name="f83" fmla="*/ f57 1 54"/>
                <a:gd name="f84" fmla="*/ f58 1 31"/>
                <a:gd name="f85" fmla="*/ f59 1 54"/>
                <a:gd name="f86" fmla="*/ f60 1 31"/>
                <a:gd name="f87" fmla="*/ f61 1 54"/>
                <a:gd name="f88" fmla="*/ f62 1 31"/>
                <a:gd name="f89" fmla="*/ f63 1 31"/>
                <a:gd name="f90" fmla="*/ f64 1 31"/>
                <a:gd name="f91" fmla="*/ f65 1 31"/>
                <a:gd name="f92" fmla="*/ 0 1 f39"/>
                <a:gd name="f93" fmla="*/ f6 1 f39"/>
                <a:gd name="f94" fmla="*/ 0 1 f40"/>
                <a:gd name="f95" fmla="*/ f7 1 f40"/>
                <a:gd name="f96" fmla="+- f66 0 f1"/>
                <a:gd name="f97" fmla="*/ f67 1 f39"/>
                <a:gd name="f98" fmla="*/ f68 1 f40"/>
                <a:gd name="f99" fmla="*/ f69 1 f40"/>
                <a:gd name="f100" fmla="*/ f70 1 f39"/>
                <a:gd name="f101" fmla="*/ f71 1 f40"/>
                <a:gd name="f102" fmla="*/ f72 1 f39"/>
                <a:gd name="f103" fmla="*/ f73 1 f40"/>
                <a:gd name="f104" fmla="*/ f74 1 f39"/>
                <a:gd name="f105" fmla="*/ f75 1 f39"/>
                <a:gd name="f106" fmla="*/ f76 1 f39"/>
                <a:gd name="f107" fmla="*/ f77 1 f40"/>
                <a:gd name="f108" fmla="*/ f78 1 f40"/>
                <a:gd name="f109" fmla="*/ f79 1 f39"/>
                <a:gd name="f110" fmla="*/ f80 1 f40"/>
                <a:gd name="f111" fmla="*/ f81 1 f40"/>
                <a:gd name="f112" fmla="*/ f82 1 f40"/>
                <a:gd name="f113" fmla="*/ f83 1 f40"/>
                <a:gd name="f114" fmla="*/ f84 1 f39"/>
                <a:gd name="f115" fmla="*/ f85 1 f40"/>
                <a:gd name="f116" fmla="*/ f86 1 f39"/>
                <a:gd name="f117" fmla="*/ f87 1 f40"/>
                <a:gd name="f118" fmla="*/ f88 1 f39"/>
                <a:gd name="f119" fmla="*/ f89 1 f39"/>
                <a:gd name="f120" fmla="*/ f90 1 f39"/>
                <a:gd name="f121" fmla="*/ f91 1 f39"/>
                <a:gd name="f122" fmla="*/ f92 f34 1"/>
                <a:gd name="f123" fmla="*/ f93 f34 1"/>
                <a:gd name="f124" fmla="*/ f95 f35 1"/>
                <a:gd name="f125" fmla="*/ f94 f35 1"/>
                <a:gd name="f126" fmla="*/ f97 f34 1"/>
                <a:gd name="f127" fmla="*/ f98 f35 1"/>
                <a:gd name="f128" fmla="*/ f99 f35 1"/>
                <a:gd name="f129" fmla="*/ f100 f34 1"/>
                <a:gd name="f130" fmla="*/ f101 f35 1"/>
                <a:gd name="f131" fmla="*/ f102 f34 1"/>
                <a:gd name="f132" fmla="*/ f103 f35 1"/>
                <a:gd name="f133" fmla="*/ f104 f34 1"/>
                <a:gd name="f134" fmla="*/ f105 f34 1"/>
                <a:gd name="f135" fmla="*/ f106 f34 1"/>
                <a:gd name="f136" fmla="*/ f107 f35 1"/>
                <a:gd name="f137" fmla="*/ f108 f35 1"/>
                <a:gd name="f138" fmla="*/ f109 f34 1"/>
                <a:gd name="f139" fmla="*/ f110 f35 1"/>
                <a:gd name="f140" fmla="*/ f111 f35 1"/>
                <a:gd name="f141" fmla="*/ f112 f35 1"/>
                <a:gd name="f142" fmla="*/ f113 f35 1"/>
                <a:gd name="f143" fmla="*/ f114 f34 1"/>
                <a:gd name="f144" fmla="*/ f115 f35 1"/>
                <a:gd name="f145" fmla="*/ f116 f34 1"/>
                <a:gd name="f146" fmla="*/ f117 f35 1"/>
                <a:gd name="f147" fmla="*/ f118 f34 1"/>
                <a:gd name="f148" fmla="*/ f119 f34 1"/>
                <a:gd name="f149" fmla="*/ f120 f34 1"/>
                <a:gd name="f150" fmla="*/ f121 f34 1"/>
              </a:gdLst>
              <a:ahLst/>
              <a:cxnLst>
                <a:cxn ang="3cd4">
                  <a:pos x="hc" y="t"/>
                </a:cxn>
                <a:cxn ang="0">
                  <a:pos x="r" y="vc"/>
                </a:cxn>
                <a:cxn ang="cd4">
                  <a:pos x="hc" y="b"/>
                </a:cxn>
                <a:cxn ang="cd2">
                  <a:pos x="l" y="vc"/>
                </a:cxn>
                <a:cxn ang="f96">
                  <a:pos x="f126" y="f127"/>
                </a:cxn>
                <a:cxn ang="f96">
                  <a:pos x="f126" y="f128"/>
                </a:cxn>
                <a:cxn ang="f96">
                  <a:pos x="f129" y="f130"/>
                </a:cxn>
                <a:cxn ang="f96">
                  <a:pos x="f131" y="f132"/>
                </a:cxn>
                <a:cxn ang="f96">
                  <a:pos x="f133" y="f132"/>
                </a:cxn>
                <a:cxn ang="f96">
                  <a:pos x="f134" y="f130"/>
                </a:cxn>
                <a:cxn ang="f96">
                  <a:pos x="f135" y="f136"/>
                </a:cxn>
                <a:cxn ang="f96">
                  <a:pos x="f135" y="f137"/>
                </a:cxn>
                <a:cxn ang="f96">
                  <a:pos x="f135" y="f127"/>
                </a:cxn>
                <a:cxn ang="f96">
                  <a:pos x="f138" y="f127"/>
                </a:cxn>
                <a:cxn ang="f96">
                  <a:pos x="f138" y="f139"/>
                </a:cxn>
                <a:cxn ang="f96">
                  <a:pos x="f135" y="f140"/>
                </a:cxn>
                <a:cxn ang="f96">
                  <a:pos x="f135" y="f141"/>
                </a:cxn>
                <a:cxn ang="f96">
                  <a:pos x="f134" y="f142"/>
                </a:cxn>
                <a:cxn ang="f96">
                  <a:pos x="f143" y="f144"/>
                </a:cxn>
                <a:cxn ang="f96">
                  <a:pos x="f145" y="f146"/>
                </a:cxn>
                <a:cxn ang="f96">
                  <a:pos x="f147" y="f146"/>
                </a:cxn>
                <a:cxn ang="f96">
                  <a:pos x="f126" y="f144"/>
                </a:cxn>
                <a:cxn ang="f96">
                  <a:pos x="f148" y="f141"/>
                </a:cxn>
                <a:cxn ang="f96">
                  <a:pos x="f149" y="f130"/>
                </a:cxn>
                <a:cxn ang="f96">
                  <a:pos x="f150" y="f128"/>
                </a:cxn>
                <a:cxn ang="f96">
                  <a:pos x="f150" y="f127"/>
                </a:cxn>
                <a:cxn ang="f96">
                  <a:pos x="f126" y="f127"/>
                </a:cxn>
              </a:cxnLst>
              <a:rect l="f122" t="f125" r="f123" b="f124"/>
              <a:pathLst>
                <a:path w="31" h="54">
                  <a:moveTo>
                    <a:pt x="f8" y="f7"/>
                  </a:moveTo>
                  <a:cubicBezTo>
                    <a:pt x="f8" y="f9"/>
                    <a:pt x="f8" y="f9"/>
                    <a:pt x="f8" y="f9"/>
                  </a:cubicBezTo>
                  <a:cubicBezTo>
                    <a:pt x="f8" y="f10"/>
                    <a:pt x="f11" y="f12"/>
                    <a:pt x="f13" y="f8"/>
                  </a:cubicBezTo>
                  <a:cubicBezTo>
                    <a:pt x="f14" y="f13"/>
                    <a:pt x="f15" y="f13"/>
                    <a:pt x="f16" y="f13"/>
                  </a:cubicBezTo>
                  <a:cubicBezTo>
                    <a:pt x="f17" y="f13"/>
                    <a:pt x="f18" y="f13"/>
                    <a:pt x="f19" y="f13"/>
                  </a:cubicBezTo>
                  <a:cubicBezTo>
                    <a:pt x="f20" y="f13"/>
                    <a:pt x="f21" y="f11"/>
                    <a:pt x="f22" y="f8"/>
                  </a:cubicBezTo>
                  <a:cubicBezTo>
                    <a:pt x="f23" y="f24"/>
                    <a:pt x="f23" y="f12"/>
                    <a:pt x="f25" y="f26"/>
                  </a:cubicBezTo>
                  <a:cubicBezTo>
                    <a:pt x="f25" y="f10"/>
                    <a:pt x="f25" y="f27"/>
                    <a:pt x="f25" y="f6"/>
                  </a:cubicBezTo>
                  <a:cubicBezTo>
                    <a:pt x="f25" y="f7"/>
                    <a:pt x="f25" y="f7"/>
                    <a:pt x="f25" y="f7"/>
                  </a:cubicBezTo>
                  <a:cubicBezTo>
                    <a:pt x="f5" y="f7"/>
                    <a:pt x="f5" y="f7"/>
                    <a:pt x="f5" y="f7"/>
                  </a:cubicBezTo>
                  <a:cubicBezTo>
                    <a:pt x="f5" y="f28"/>
                    <a:pt x="f5" y="f28"/>
                    <a:pt x="f5" y="f28"/>
                  </a:cubicBezTo>
                  <a:cubicBezTo>
                    <a:pt x="f25" y="f5"/>
                    <a:pt x="f25" y="f5"/>
                    <a:pt x="f25" y="f5"/>
                  </a:cubicBezTo>
                  <a:cubicBezTo>
                    <a:pt x="f25" y="f15"/>
                    <a:pt x="f25" y="f15"/>
                    <a:pt x="f25" y="f15"/>
                  </a:cubicBezTo>
                  <a:cubicBezTo>
                    <a:pt x="f25" y="f29"/>
                    <a:pt x="f23" y="f29"/>
                    <a:pt x="f22" y="f30"/>
                  </a:cubicBezTo>
                  <a:cubicBezTo>
                    <a:pt x="f22" y="f30"/>
                    <a:pt x="f21" y="f16"/>
                    <a:pt x="f20" y="f16"/>
                  </a:cubicBezTo>
                  <a:cubicBezTo>
                    <a:pt x="f19" y="f17"/>
                    <a:pt x="f18" y="f17"/>
                    <a:pt x="f17" y="f17"/>
                  </a:cubicBezTo>
                  <a:cubicBezTo>
                    <a:pt x="f16" y="f17"/>
                    <a:pt x="f30" y="f17"/>
                    <a:pt x="f29" y="f17"/>
                  </a:cubicBezTo>
                  <a:cubicBezTo>
                    <a:pt x="f31" y="f17"/>
                    <a:pt x="f13" y="f17"/>
                    <a:pt x="f8" y="f16"/>
                  </a:cubicBezTo>
                  <a:cubicBezTo>
                    <a:pt x="f24" y="f16"/>
                    <a:pt x="f26" y="f30"/>
                    <a:pt x="f10" y="f15"/>
                  </a:cubicBezTo>
                  <a:cubicBezTo>
                    <a:pt x="f32" y="f31"/>
                    <a:pt x="f27" y="f13"/>
                    <a:pt x="f27" y="f8"/>
                  </a:cubicBezTo>
                  <a:cubicBezTo>
                    <a:pt x="f6" y="f26"/>
                    <a:pt x="f6" y="f32"/>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1" name="Freeform 31">
              <a:extLst>
                <a:ext uri="{FF2B5EF4-FFF2-40B4-BE49-F238E27FC236}">
                  <a16:creationId xmlns:a16="http://schemas.microsoft.com/office/drawing/2014/main" id="{700D163B-CD42-B907-942E-D4775363FBBA}"/>
                </a:ext>
              </a:extLst>
            </p:cNvPr>
            <p:cNvSpPr/>
            <p:nvPr/>
          </p:nvSpPr>
          <p:spPr>
            <a:xfrm>
              <a:off x="2749564"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24"/>
                <a:gd name="f14" fmla="val 8"/>
                <a:gd name="f15" fmla="val 26"/>
                <a:gd name="f16" fmla="val 27"/>
                <a:gd name="f17" fmla="val 9"/>
                <a:gd name="f18" fmla="val 28"/>
                <a:gd name="f19" fmla="val 10"/>
                <a:gd name="f20" fmla="val 29"/>
                <a:gd name="f21" fmla="val 11"/>
                <a:gd name="f22" fmla="val 30"/>
                <a:gd name="f23" fmla="val 31"/>
                <a:gd name="f24" fmla="val 12"/>
                <a:gd name="f25" fmla="val 32"/>
                <a:gd name="f26" fmla="val 13"/>
                <a:gd name="f27" fmla="val 15"/>
                <a:gd name="f28" fmla="val 16"/>
                <a:gd name="f29" fmla="val 17"/>
                <a:gd name="f30" fmla="val 18"/>
                <a:gd name="f31" fmla="val 23"/>
                <a:gd name="f32" fmla="val 25"/>
                <a:gd name="f33" fmla="val 35"/>
                <a:gd name="f34" fmla="val 36"/>
                <a:gd name="f35" fmla="val 37"/>
                <a:gd name="f36" fmla="val 38"/>
                <a:gd name="f37" fmla="val 39"/>
                <a:gd name="f38" fmla="val 6"/>
                <a:gd name="f39" fmla="val 5"/>
                <a:gd name="f40" fmla="val 34"/>
                <a:gd name="f41" fmla="val 4"/>
                <a:gd name="f42" fmla="val 3"/>
                <a:gd name="f43" fmla="val 2"/>
                <a:gd name="f44" fmla="val 1"/>
                <a:gd name="f45" fmla="val 14"/>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8 f50 1"/>
                <a:gd name="f60" fmla="*/ 27 f49 1"/>
                <a:gd name="f61" fmla="*/ 11 f50 1"/>
                <a:gd name="f62" fmla="*/ 30 f49 1"/>
                <a:gd name="f63" fmla="*/ 13 f50 1"/>
                <a:gd name="f64" fmla="*/ 32 f49 1"/>
                <a:gd name="f65" fmla="*/ 17 f50 1"/>
                <a:gd name="f66" fmla="*/ 33 f49 1"/>
                <a:gd name="f67" fmla="*/ 19 f50 1"/>
                <a:gd name="f68" fmla="*/ 21 f50 1"/>
                <a:gd name="f69" fmla="*/ 23 f50 1"/>
                <a:gd name="f70" fmla="*/ 31 f49 1"/>
                <a:gd name="f71" fmla="*/ 25 f50 1"/>
                <a:gd name="f72" fmla="*/ 30 f50 1"/>
                <a:gd name="f73" fmla="*/ 35 f49 1"/>
                <a:gd name="f74" fmla="*/ 27 f50 1"/>
                <a:gd name="f75" fmla="*/ 37 f49 1"/>
                <a:gd name="f76" fmla="*/ 24 f50 1"/>
                <a:gd name="f77" fmla="*/ 38 f49 1"/>
                <a:gd name="f78" fmla="*/ 39 f49 1"/>
                <a:gd name="f79" fmla="*/ 16 f50 1"/>
                <a:gd name="f80" fmla="*/ 40 f49 1"/>
                <a:gd name="f81" fmla="*/ 12 f50 1"/>
                <a:gd name="f82" fmla="*/ 5 f50 1"/>
                <a:gd name="f83" fmla="*/ 34 f49 1"/>
                <a:gd name="f84" fmla="*/ 2 f50 1"/>
                <a:gd name="f85" fmla="*/ 0 f50 1"/>
                <a:gd name="f86" fmla="*/ 26 f49 1"/>
                <a:gd name="f87" fmla="*/ 20 f49 1"/>
                <a:gd name="f88" fmla="*/ 1 f50 1"/>
                <a:gd name="f89" fmla="*/ 11 f49 1"/>
                <a:gd name="f90" fmla="*/ 4 f50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6 f49 1"/>
                <a:gd name="f103" fmla="*/ f51 1 f2"/>
                <a:gd name="f104" fmla="*/ f54 1 33"/>
                <a:gd name="f105" fmla="*/ f55 1 40"/>
                <a:gd name="f106" fmla="*/ f56 1 40"/>
                <a:gd name="f107" fmla="*/ f57 1 40"/>
                <a:gd name="f108" fmla="*/ f58 1 33"/>
                <a:gd name="f109" fmla="*/ f59 1 33"/>
                <a:gd name="f110" fmla="*/ f60 1 40"/>
                <a:gd name="f111" fmla="*/ f61 1 33"/>
                <a:gd name="f112" fmla="*/ f62 1 40"/>
                <a:gd name="f113" fmla="*/ f63 1 33"/>
                <a:gd name="f114" fmla="*/ f64 1 40"/>
                <a:gd name="f115" fmla="*/ f65 1 33"/>
                <a:gd name="f116" fmla="*/ f66 1 40"/>
                <a:gd name="f117" fmla="*/ f67 1 33"/>
                <a:gd name="f118" fmla="*/ f68 1 33"/>
                <a:gd name="f119" fmla="*/ f69 1 33"/>
                <a:gd name="f120" fmla="*/ f70 1 40"/>
                <a:gd name="f121" fmla="*/ f71 1 33"/>
                <a:gd name="f122" fmla="*/ f72 1 33"/>
                <a:gd name="f123" fmla="*/ f73 1 40"/>
                <a:gd name="f124" fmla="*/ f74 1 33"/>
                <a:gd name="f125" fmla="*/ f75 1 40"/>
                <a:gd name="f126" fmla="*/ f76 1 33"/>
                <a:gd name="f127" fmla="*/ f77 1 40"/>
                <a:gd name="f128" fmla="*/ f78 1 40"/>
                <a:gd name="f129" fmla="*/ f79 1 33"/>
                <a:gd name="f130" fmla="*/ f80 1 40"/>
                <a:gd name="f131" fmla="*/ f81 1 33"/>
                <a:gd name="f132" fmla="*/ f82 1 33"/>
                <a:gd name="f133" fmla="*/ f83 1 40"/>
                <a:gd name="f134" fmla="*/ f84 1 33"/>
                <a:gd name="f135" fmla="*/ f85 1 33"/>
                <a:gd name="f136" fmla="*/ f86 1 40"/>
                <a:gd name="f137" fmla="*/ f87 1 40"/>
                <a:gd name="f138" fmla="*/ f88 1 33"/>
                <a:gd name="f139" fmla="*/ f89 1 40"/>
                <a:gd name="f140" fmla="*/ f90 1 33"/>
                <a:gd name="f141" fmla="*/ f91 1 40"/>
                <a:gd name="f142" fmla="*/ f92 1 33"/>
                <a:gd name="f143" fmla="*/ f93 1 40"/>
                <a:gd name="f144" fmla="*/ f94 1 40"/>
                <a:gd name="f145" fmla="*/ f95 1 33"/>
                <a:gd name="f146" fmla="*/ f96 1 33"/>
                <a:gd name="f147" fmla="*/ f97 1 40"/>
                <a:gd name="f148" fmla="*/ f98 1 40"/>
                <a:gd name="f149" fmla="*/ f99 1 40"/>
                <a:gd name="f150" fmla="*/ f100 1 33"/>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3"/>
                <a:gd name="f162" fmla="*/ f108 1 f52"/>
                <a:gd name="f163" fmla="*/ f109 1 f52"/>
                <a:gd name="f164" fmla="*/ f110 1 f53"/>
                <a:gd name="f165" fmla="*/ f111 1 f52"/>
                <a:gd name="f166" fmla="*/ f112 1 f53"/>
                <a:gd name="f167" fmla="*/ f113 1 f52"/>
                <a:gd name="f168" fmla="*/ f114 1 f53"/>
                <a:gd name="f169" fmla="*/ f115 1 f52"/>
                <a:gd name="f170" fmla="*/ f116 1 f53"/>
                <a:gd name="f171" fmla="*/ f117 1 f52"/>
                <a:gd name="f172" fmla="*/ f118 1 f52"/>
                <a:gd name="f173" fmla="*/ f119 1 f52"/>
                <a:gd name="f174" fmla="*/ f120 1 f53"/>
                <a:gd name="f175" fmla="*/ f121 1 f52"/>
                <a:gd name="f176" fmla="*/ f122 1 f52"/>
                <a:gd name="f177" fmla="*/ f123 1 f53"/>
                <a:gd name="f178" fmla="*/ f124 1 f52"/>
                <a:gd name="f179" fmla="*/ f125 1 f53"/>
                <a:gd name="f180" fmla="*/ f126 1 f52"/>
                <a:gd name="f181" fmla="*/ f127 1 f53"/>
                <a:gd name="f182" fmla="*/ f128 1 f53"/>
                <a:gd name="f183" fmla="*/ f129 1 f52"/>
                <a:gd name="f184" fmla="*/ f130 1 f53"/>
                <a:gd name="f185" fmla="*/ f131 1 f52"/>
                <a:gd name="f186" fmla="*/ f132 1 f52"/>
                <a:gd name="f187" fmla="*/ f133 1 f53"/>
                <a:gd name="f188" fmla="*/ f134 1 f52"/>
                <a:gd name="f189" fmla="*/ f135 1 f52"/>
                <a:gd name="f190" fmla="*/ f136 1 f53"/>
                <a:gd name="f191" fmla="*/ f137 1 f53"/>
                <a:gd name="f192" fmla="*/ f138 1 f52"/>
                <a:gd name="f193" fmla="*/ f139 1 f53"/>
                <a:gd name="f194" fmla="*/ f140 1 f52"/>
                <a:gd name="f195" fmla="*/ f141 1 f53"/>
                <a:gd name="f196" fmla="*/ f142 1 f52"/>
                <a:gd name="f197" fmla="*/ f143 1 f53"/>
                <a:gd name="f198" fmla="*/ f144 1 f53"/>
                <a:gd name="f199" fmla="*/ f145 1 f52"/>
                <a:gd name="f200" fmla="*/ f146 1 f52"/>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8 1"/>
                <a:gd name="f215" fmla="*/ f162 f47 1"/>
                <a:gd name="f216" fmla="*/ f163 f47 1"/>
                <a:gd name="f217" fmla="*/ f164 f48 1"/>
                <a:gd name="f218" fmla="*/ f165 f47 1"/>
                <a:gd name="f219" fmla="*/ f166 f48 1"/>
                <a:gd name="f220" fmla="*/ f167 f47 1"/>
                <a:gd name="f221" fmla="*/ f168 f48 1"/>
                <a:gd name="f222" fmla="*/ f169 f47 1"/>
                <a:gd name="f223" fmla="*/ f170 f48 1"/>
                <a:gd name="f224" fmla="*/ f171 f47 1"/>
                <a:gd name="f225" fmla="*/ f172 f47 1"/>
                <a:gd name="f226" fmla="*/ f173 f47 1"/>
                <a:gd name="f227" fmla="*/ f174 f48 1"/>
                <a:gd name="f228" fmla="*/ f175 f47 1"/>
                <a:gd name="f229" fmla="*/ f176 f47 1"/>
                <a:gd name="f230" fmla="*/ f177 f48 1"/>
                <a:gd name="f231" fmla="*/ f178 f47 1"/>
                <a:gd name="f232" fmla="*/ f179 f48 1"/>
                <a:gd name="f233" fmla="*/ f180 f47 1"/>
                <a:gd name="f234" fmla="*/ f181 f48 1"/>
                <a:gd name="f235" fmla="*/ f182 f48 1"/>
                <a:gd name="f236" fmla="*/ f183 f47 1"/>
                <a:gd name="f237" fmla="*/ f184 f48 1"/>
                <a:gd name="f238" fmla="*/ f185 f47 1"/>
                <a:gd name="f239" fmla="*/ f186 f47 1"/>
                <a:gd name="f240" fmla="*/ f187 f48 1"/>
                <a:gd name="f241" fmla="*/ f188 f47 1"/>
                <a:gd name="f242" fmla="*/ f189 f47 1"/>
                <a:gd name="f243" fmla="*/ f190 f48 1"/>
                <a:gd name="f244" fmla="*/ f191 f48 1"/>
                <a:gd name="f245" fmla="*/ f192 f47 1"/>
                <a:gd name="f246" fmla="*/ f193 f48 1"/>
                <a:gd name="f247" fmla="*/ f194 f47 1"/>
                <a:gd name="f248" fmla="*/ f195 f48 1"/>
                <a:gd name="f249" fmla="*/ f196 f47 1"/>
                <a:gd name="f250" fmla="*/ f197 f48 1"/>
                <a:gd name="f251" fmla="*/ f198 f48 1"/>
                <a:gd name="f252" fmla="*/ f199 f47 1"/>
                <a:gd name="f253" fmla="*/ f200 f47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1" y="f214"/>
                </a:cxn>
                <a:cxn ang="f157">
                  <a:pos x="f215" y="f214"/>
                </a:cxn>
                <a:cxn ang="f157">
                  <a:pos x="f216" y="f217"/>
                </a:cxn>
                <a:cxn ang="f157">
                  <a:pos x="f218" y="f219"/>
                </a:cxn>
                <a:cxn ang="f157">
                  <a:pos x="f220" y="f221"/>
                </a:cxn>
                <a:cxn ang="f157">
                  <a:pos x="f222" y="f223"/>
                </a:cxn>
                <a:cxn ang="f157">
                  <a:pos x="f224" y="f223"/>
                </a:cxn>
                <a:cxn ang="f157">
                  <a:pos x="f225" y="f221"/>
                </a:cxn>
                <a:cxn ang="f157">
                  <a:pos x="f226" y="f227"/>
                </a:cxn>
                <a:cxn ang="f157">
                  <a:pos x="f228" y="f219"/>
                </a:cxn>
                <a:cxn ang="f157">
                  <a:pos x="f229" y="f230"/>
                </a:cxn>
                <a:cxn ang="f157">
                  <a:pos x="f231" y="f232"/>
                </a:cxn>
                <a:cxn ang="f157">
                  <a:pos x="f233" y="f234"/>
                </a:cxn>
                <a:cxn ang="f157">
                  <a:pos x="f225" y="f235"/>
                </a:cxn>
                <a:cxn ang="f157">
                  <a:pos x="f236" y="f237"/>
                </a:cxn>
                <a:cxn ang="f157">
                  <a:pos x="f238" y="f235"/>
                </a:cxn>
                <a:cxn ang="f157">
                  <a:pos x="f216" y="f232"/>
                </a:cxn>
                <a:cxn ang="f157">
                  <a:pos x="f239" y="f240"/>
                </a:cxn>
                <a:cxn ang="f157">
                  <a:pos x="f241" y="f227"/>
                </a:cxn>
                <a:cxn ang="f157">
                  <a:pos x="f242" y="f243"/>
                </a:cxn>
                <a:cxn ang="f157">
                  <a:pos x="f242" y="f244"/>
                </a:cxn>
                <a:cxn ang="f157">
                  <a:pos x="f245" y="f246"/>
                </a:cxn>
                <a:cxn ang="f157">
                  <a:pos x="f247" y="f248"/>
                </a:cxn>
                <a:cxn ang="f157">
                  <a:pos x="f249" y="f250"/>
                </a:cxn>
                <a:cxn ang="f157">
                  <a:pos x="f222" y="f251"/>
                </a:cxn>
                <a:cxn ang="f157">
                  <a:pos x="f233" y="f250"/>
                </a:cxn>
                <a:cxn ang="f157">
                  <a:pos x="f252" y="f248"/>
                </a:cxn>
                <a:cxn ang="f157">
                  <a:pos x="f253" y="f246"/>
                </a:cxn>
                <a:cxn ang="f157">
                  <a:pos x="f211" y="f212"/>
                </a:cxn>
                <a:cxn ang="f157">
                  <a:pos x="f228" y="f254"/>
                </a:cxn>
                <a:cxn ang="f157">
                  <a:pos x="f233" y="f255"/>
                </a:cxn>
                <a:cxn ang="f157">
                  <a:pos x="f226" y="f256"/>
                </a:cxn>
                <a:cxn ang="f157">
                  <a:pos x="f257" y="f258"/>
                </a:cxn>
                <a:cxn ang="f157">
                  <a:pos x="f236" y="f259"/>
                </a:cxn>
                <a:cxn ang="f157">
                  <a:pos x="f220" y="f258"/>
                </a:cxn>
                <a:cxn ang="f157">
                  <a:pos x="f249" y="f256"/>
                </a:cxn>
                <a:cxn ang="f157">
                  <a:pos x="f216" y="f255"/>
                </a:cxn>
                <a:cxn ang="f157">
                  <a:pos x="f215" y="f254"/>
                </a:cxn>
                <a:cxn ang="f157">
                  <a:pos x="f228" y="f254"/>
                </a:cxn>
              </a:cxnLst>
              <a:rect l="f207" t="f210" r="f208" b="f209"/>
              <a:pathLst>
                <a:path w="33" h="40">
                  <a:moveTo>
                    <a:pt x="f6" y="f8"/>
                  </a:moveTo>
                  <a:cubicBezTo>
                    <a:pt x="f6" y="f8"/>
                    <a:pt x="f6" y="f9"/>
                    <a:pt x="f6" y="f10"/>
                  </a:cubicBezTo>
                  <a:cubicBezTo>
                    <a:pt x="f6" y="f10"/>
                    <a:pt x="f6" y="f11"/>
                    <a:pt x="f6" y="f11"/>
                  </a:cubicBezTo>
                  <a:cubicBezTo>
                    <a:pt x="f12" y="f11"/>
                    <a:pt x="f12" y="f11"/>
                    <a:pt x="f12" y="f11"/>
                  </a:cubicBezTo>
                  <a:cubicBezTo>
                    <a:pt x="f12" y="f13"/>
                    <a:pt x="f14" y="f15"/>
                    <a:pt x="f14" y="f16"/>
                  </a:cubicBezTo>
                  <a:cubicBezTo>
                    <a:pt x="f17" y="f18"/>
                    <a:pt x="f19" y="f20"/>
                    <a:pt x="f21" y="f22"/>
                  </a:cubicBezTo>
                  <a:cubicBezTo>
                    <a:pt x="f21" y="f23"/>
                    <a:pt x="f24" y="f25"/>
                    <a:pt x="f26" y="f25"/>
                  </a:cubicBezTo>
                  <a:cubicBezTo>
                    <a:pt x="f27" y="f6"/>
                    <a:pt x="f28" y="f6"/>
                    <a:pt x="f29" y="f6"/>
                  </a:cubicBezTo>
                  <a:cubicBezTo>
                    <a:pt x="f30" y="f6"/>
                    <a:pt x="f30" y="f6"/>
                    <a:pt x="f8" y="f6"/>
                  </a:cubicBezTo>
                  <a:cubicBezTo>
                    <a:pt x="f9" y="f25"/>
                    <a:pt x="f10" y="f25"/>
                    <a:pt x="f10" y="f25"/>
                  </a:cubicBezTo>
                  <a:cubicBezTo>
                    <a:pt x="f11" y="f25"/>
                    <a:pt x="f31" y="f23"/>
                    <a:pt x="f31" y="f23"/>
                  </a:cubicBezTo>
                  <a:cubicBezTo>
                    <a:pt x="f13" y="f23"/>
                    <a:pt x="f13" y="f22"/>
                    <a:pt x="f32" y="f22"/>
                  </a:cubicBezTo>
                  <a:cubicBezTo>
                    <a:pt x="f22" y="f33"/>
                    <a:pt x="f22" y="f33"/>
                    <a:pt x="f22" y="f33"/>
                  </a:cubicBezTo>
                  <a:cubicBezTo>
                    <a:pt x="f20" y="f33"/>
                    <a:pt x="f18" y="f34"/>
                    <a:pt x="f16" y="f35"/>
                  </a:cubicBezTo>
                  <a:cubicBezTo>
                    <a:pt x="f15" y="f35"/>
                    <a:pt x="f32" y="f36"/>
                    <a:pt x="f13" y="f36"/>
                  </a:cubicBezTo>
                  <a:cubicBezTo>
                    <a:pt x="f31" y="f37"/>
                    <a:pt x="f11" y="f37"/>
                    <a:pt x="f10" y="f37"/>
                  </a:cubicBezTo>
                  <a:cubicBezTo>
                    <a:pt x="f8" y="f37"/>
                    <a:pt x="f30" y="f7"/>
                    <a:pt x="f28" y="f7"/>
                  </a:cubicBezTo>
                  <a:cubicBezTo>
                    <a:pt x="f27" y="f7"/>
                    <a:pt x="f26" y="f37"/>
                    <a:pt x="f24" y="f37"/>
                  </a:cubicBezTo>
                  <a:cubicBezTo>
                    <a:pt x="f19" y="f36"/>
                    <a:pt x="f17" y="f36"/>
                    <a:pt x="f14" y="f35"/>
                  </a:cubicBezTo>
                  <a:cubicBezTo>
                    <a:pt x="f12" y="f34"/>
                    <a:pt x="f38" y="f33"/>
                    <a:pt x="f39" y="f40"/>
                  </a:cubicBezTo>
                  <a:cubicBezTo>
                    <a:pt x="f41" y="f40"/>
                    <a:pt x="f42" y="f25"/>
                    <a:pt x="f43" y="f23"/>
                  </a:cubicBezTo>
                  <a:cubicBezTo>
                    <a:pt x="f44" y="f20"/>
                    <a:pt x="f44" y="f18"/>
                    <a:pt x="f5" y="f15"/>
                  </a:cubicBezTo>
                  <a:cubicBezTo>
                    <a:pt x="f5" y="f13"/>
                    <a:pt x="f5" y="f11"/>
                    <a:pt x="f5" y="f9"/>
                  </a:cubicBezTo>
                  <a:cubicBezTo>
                    <a:pt x="f5" y="f28"/>
                    <a:pt x="f5" y="f26"/>
                    <a:pt x="f44" y="f21"/>
                  </a:cubicBezTo>
                  <a:cubicBezTo>
                    <a:pt x="f43" y="f14"/>
                    <a:pt x="f42" y="f38"/>
                    <a:pt x="f41" y="f39"/>
                  </a:cubicBezTo>
                  <a:cubicBezTo>
                    <a:pt x="f38" y="f42"/>
                    <a:pt x="f14" y="f43"/>
                    <a:pt x="f19" y="f44"/>
                  </a:cubicBezTo>
                  <a:cubicBezTo>
                    <a:pt x="f24" y="f5"/>
                    <a:pt x="f45" y="f5"/>
                    <a:pt x="f29" y="f5"/>
                  </a:cubicBezTo>
                  <a:cubicBezTo>
                    <a:pt x="f8" y="f5"/>
                    <a:pt x="f11" y="f5"/>
                    <a:pt x="f13" y="f44"/>
                  </a:cubicBezTo>
                  <a:cubicBezTo>
                    <a:pt x="f15" y="f43"/>
                    <a:pt x="f16" y="f41"/>
                    <a:pt x="f20" y="f39"/>
                  </a:cubicBezTo>
                  <a:cubicBezTo>
                    <a:pt x="f22" y="f12"/>
                    <a:pt x="f23" y="f17"/>
                    <a:pt x="f25" y="f21"/>
                  </a:cubicBezTo>
                  <a:cubicBezTo>
                    <a:pt x="f25" y="f45"/>
                    <a:pt x="f6" y="f28"/>
                    <a:pt x="f6" y="f8"/>
                  </a:cubicBezTo>
                  <a:close/>
                  <a:moveTo>
                    <a:pt x="f32" y="f28"/>
                  </a:moveTo>
                  <a:cubicBezTo>
                    <a:pt x="f32" y="f27"/>
                    <a:pt x="f32" y="f26"/>
                    <a:pt x="f13" y="f24"/>
                  </a:cubicBezTo>
                  <a:cubicBezTo>
                    <a:pt x="f13" y="f21"/>
                    <a:pt x="f13" y="f19"/>
                    <a:pt x="f31" y="f17"/>
                  </a:cubicBezTo>
                  <a:cubicBezTo>
                    <a:pt x="f11" y="f14"/>
                    <a:pt x="f10" y="f14"/>
                    <a:pt x="f9" y="f12"/>
                  </a:cubicBezTo>
                  <a:cubicBezTo>
                    <a:pt x="f8" y="f12"/>
                    <a:pt x="f30" y="f38"/>
                    <a:pt x="f28" y="f38"/>
                  </a:cubicBezTo>
                  <a:cubicBezTo>
                    <a:pt x="f27" y="f38"/>
                    <a:pt x="f45" y="f12"/>
                    <a:pt x="f26" y="f12"/>
                  </a:cubicBezTo>
                  <a:cubicBezTo>
                    <a:pt x="f24" y="f12"/>
                    <a:pt x="f21" y="f14"/>
                    <a:pt x="f19" y="f17"/>
                  </a:cubicBezTo>
                  <a:cubicBezTo>
                    <a:pt x="f17" y="f19"/>
                    <a:pt x="f17" y="f21"/>
                    <a:pt x="f14" y="f24"/>
                  </a:cubicBezTo>
                  <a:cubicBezTo>
                    <a:pt x="f14" y="f26"/>
                    <a:pt x="f12" y="f45"/>
                    <a:pt x="f12"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2" name="Freeform 32">
              <a:extLst>
                <a:ext uri="{FF2B5EF4-FFF2-40B4-BE49-F238E27FC236}">
                  <a16:creationId xmlns:a16="http://schemas.microsoft.com/office/drawing/2014/main" id="{D2F771AA-B7EE-7B19-6CAF-9003DADDECA3}"/>
                </a:ext>
              </a:extLst>
            </p:cNvPr>
            <p:cNvSpPr/>
            <p:nvPr/>
          </p:nvSpPr>
          <p:spPr>
            <a:xfrm>
              <a:off x="2901190" y="6049807"/>
              <a:ext cx="80165" cy="139500"/>
            </a:xfrm>
            <a:custGeom>
              <a:avLst/>
              <a:gdLst>
                <a:gd name="f0" fmla="val 10800000"/>
                <a:gd name="f1" fmla="val 5400000"/>
                <a:gd name="f2" fmla="val 180"/>
                <a:gd name="f3" fmla="val w"/>
                <a:gd name="f4" fmla="val h"/>
                <a:gd name="f5" fmla="val 0"/>
                <a:gd name="f6" fmla="val 32"/>
                <a:gd name="f7" fmla="val 55"/>
                <a:gd name="f8" fmla="val 35"/>
                <a:gd name="f9" fmla="val 38"/>
                <a:gd name="f10" fmla="val 41"/>
                <a:gd name="f11" fmla="val 31"/>
                <a:gd name="f12" fmla="val 44"/>
                <a:gd name="f13" fmla="val 30"/>
                <a:gd name="f14" fmla="val 46"/>
                <a:gd name="f15" fmla="val 29"/>
                <a:gd name="f16" fmla="val 48"/>
                <a:gd name="f17" fmla="val 28"/>
                <a:gd name="f18" fmla="val 50"/>
                <a:gd name="f19" fmla="val 26"/>
                <a:gd name="f20" fmla="val 51"/>
                <a:gd name="f21" fmla="val 25"/>
                <a:gd name="f22" fmla="val 53"/>
                <a:gd name="f23" fmla="val 23"/>
                <a:gd name="f24" fmla="val 21"/>
                <a:gd name="f25" fmla="val 54"/>
                <a:gd name="f26" fmla="val 19"/>
                <a:gd name="f27" fmla="val 17"/>
                <a:gd name="f28" fmla="val 15"/>
                <a:gd name="f29" fmla="val 13"/>
                <a:gd name="f30" fmla="val 12"/>
                <a:gd name="f31" fmla="val 10"/>
                <a:gd name="f32" fmla="val 52"/>
                <a:gd name="f33" fmla="val 9"/>
                <a:gd name="f34" fmla="val 7"/>
                <a:gd name="f35" fmla="val 4"/>
                <a:gd name="f36" fmla="val 8"/>
                <a:gd name="f37" fmla="val 18"/>
                <a:gd name="f38" fmla="val 11"/>
                <a:gd name="f39" fmla="val 16"/>
                <a:gd name="f40" fmla="val 14"/>
                <a:gd name="f41" fmla="val 20"/>
                <a:gd name="f42" fmla="val 27"/>
                <a:gd name="f43" fmla="val 24"/>
                <a:gd name="f44" fmla="val 22"/>
                <a:gd name="f45" fmla="val 43"/>
                <a:gd name="f46" fmla="val 45"/>
                <a:gd name="f47" fmla="val 47"/>
                <a:gd name="f48" fmla="val 39"/>
                <a:gd name="f49" fmla="+- 0 0 -90"/>
                <a:gd name="f50" fmla="*/ f3 1 32"/>
                <a:gd name="f51" fmla="*/ f4 1 55"/>
                <a:gd name="f52" fmla="+- f7 0 f5"/>
                <a:gd name="f53" fmla="+- f6 0 f5"/>
                <a:gd name="f54" fmla="*/ f49 f0 1"/>
                <a:gd name="f55" fmla="*/ f53 1 32"/>
                <a:gd name="f56" fmla="*/ f52 1 55"/>
                <a:gd name="f57" fmla="*/ 32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7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26 f52 1"/>
                <a:gd name="f80" fmla="*/ 25 f53 1"/>
                <a:gd name="f81" fmla="*/ 25 f52 1"/>
                <a:gd name="f82" fmla="*/ 16 f53 1"/>
                <a:gd name="f83" fmla="*/ 22 f52 1"/>
                <a:gd name="f84" fmla="*/ 11 f53 1"/>
                <a:gd name="f85" fmla="*/ 23 f52 1"/>
                <a:gd name="f86" fmla="*/ 9 f53 1"/>
                <a:gd name="f87" fmla="*/ 43 f52 1"/>
                <a:gd name="f88" fmla="*/ 46 f52 1"/>
                <a:gd name="f89" fmla="*/ 47 f52 1"/>
                <a:gd name="f90" fmla="*/ 48 f52 1"/>
                <a:gd name="f91" fmla="*/ 45 f52 1"/>
                <a:gd name="f92" fmla="*/ f54 1 f2"/>
                <a:gd name="f93" fmla="*/ f57 1 32"/>
                <a:gd name="f94" fmla="*/ f58 1 55"/>
                <a:gd name="f95" fmla="*/ f59 1 32"/>
                <a:gd name="f96" fmla="*/ f60 1 55"/>
                <a:gd name="f97" fmla="*/ f61 1 32"/>
                <a:gd name="f98" fmla="*/ f62 1 55"/>
                <a:gd name="f99" fmla="*/ f63 1 32"/>
                <a:gd name="f100" fmla="*/ f64 1 55"/>
                <a:gd name="f101" fmla="*/ f65 1 32"/>
                <a:gd name="f102" fmla="*/ f66 1 55"/>
                <a:gd name="f103" fmla="*/ f67 1 32"/>
                <a:gd name="f104" fmla="*/ f68 1 32"/>
                <a:gd name="f105" fmla="*/ f69 1 55"/>
                <a:gd name="f106" fmla="*/ f70 1 32"/>
                <a:gd name="f107" fmla="*/ f71 1 55"/>
                <a:gd name="f108" fmla="*/ f72 1 55"/>
                <a:gd name="f109" fmla="*/ f73 1 55"/>
                <a:gd name="f110" fmla="*/ f74 1 32"/>
                <a:gd name="f111" fmla="*/ f75 1 55"/>
                <a:gd name="f112" fmla="*/ f76 1 55"/>
                <a:gd name="f113" fmla="*/ f77 1 32"/>
                <a:gd name="f114" fmla="*/ f78 1 55"/>
                <a:gd name="f115" fmla="*/ f79 1 55"/>
                <a:gd name="f116" fmla="*/ f80 1 32"/>
                <a:gd name="f117" fmla="*/ f81 1 55"/>
                <a:gd name="f118" fmla="*/ f82 1 32"/>
                <a:gd name="f119" fmla="*/ f83 1 55"/>
                <a:gd name="f120" fmla="*/ f84 1 32"/>
                <a:gd name="f121" fmla="*/ f85 1 55"/>
                <a:gd name="f122" fmla="*/ f86 1 32"/>
                <a:gd name="f123" fmla="*/ f87 1 55"/>
                <a:gd name="f124" fmla="*/ f88 1 55"/>
                <a:gd name="f125" fmla="*/ f89 1 55"/>
                <a:gd name="f126" fmla="*/ f90 1 55"/>
                <a:gd name="f127" fmla="*/ f91 1 55"/>
                <a:gd name="f128" fmla="*/ 0 1 f55"/>
                <a:gd name="f129" fmla="*/ f6 1 f55"/>
                <a:gd name="f130" fmla="*/ 0 1 f56"/>
                <a:gd name="f131" fmla="*/ f7 1 f56"/>
                <a:gd name="f132" fmla="+- f92 0 f1"/>
                <a:gd name="f133" fmla="*/ f93 1 f55"/>
                <a:gd name="f134" fmla="*/ f94 1 f56"/>
                <a:gd name="f135" fmla="*/ f95 1 f55"/>
                <a:gd name="f136" fmla="*/ f96 1 f56"/>
                <a:gd name="f137" fmla="*/ f97 1 f55"/>
                <a:gd name="f138" fmla="*/ f98 1 f56"/>
                <a:gd name="f139" fmla="*/ f99 1 f55"/>
                <a:gd name="f140" fmla="*/ f100 1 f56"/>
                <a:gd name="f141" fmla="*/ f101 1 f55"/>
                <a:gd name="f142" fmla="*/ f102 1 f56"/>
                <a:gd name="f143" fmla="*/ f103 1 f55"/>
                <a:gd name="f144" fmla="*/ f104 1 f55"/>
                <a:gd name="f145" fmla="*/ f105 1 f56"/>
                <a:gd name="f146" fmla="*/ f106 1 f55"/>
                <a:gd name="f147" fmla="*/ f107 1 f56"/>
                <a:gd name="f148" fmla="*/ f108 1 f56"/>
                <a:gd name="f149" fmla="*/ f109 1 f56"/>
                <a:gd name="f150" fmla="*/ f110 1 f55"/>
                <a:gd name="f151" fmla="*/ f111 1 f56"/>
                <a:gd name="f152" fmla="*/ f112 1 f56"/>
                <a:gd name="f153" fmla="*/ f113 1 f55"/>
                <a:gd name="f154" fmla="*/ f114 1 f56"/>
                <a:gd name="f155" fmla="*/ f115 1 f56"/>
                <a:gd name="f156" fmla="*/ f116 1 f55"/>
                <a:gd name="f157" fmla="*/ f117 1 f56"/>
                <a:gd name="f158" fmla="*/ f118 1 f55"/>
                <a:gd name="f159" fmla="*/ f119 1 f56"/>
                <a:gd name="f160" fmla="*/ f120 1 f55"/>
                <a:gd name="f161" fmla="*/ f121 1 f56"/>
                <a:gd name="f162" fmla="*/ f122 1 f55"/>
                <a:gd name="f163" fmla="*/ f123 1 f56"/>
                <a:gd name="f164" fmla="*/ f124 1 f56"/>
                <a:gd name="f165" fmla="*/ f125 1 f56"/>
                <a:gd name="f166" fmla="*/ f126 1 f56"/>
                <a:gd name="f167" fmla="*/ f127 1 f56"/>
                <a:gd name="f168" fmla="*/ f128 f50 1"/>
                <a:gd name="f169" fmla="*/ f129 f50 1"/>
                <a:gd name="f170" fmla="*/ f131 f51 1"/>
                <a:gd name="f171" fmla="*/ f130 f51 1"/>
                <a:gd name="f172" fmla="*/ f133 f50 1"/>
                <a:gd name="f173" fmla="*/ f134 f51 1"/>
                <a:gd name="f174" fmla="*/ f135 f50 1"/>
                <a:gd name="f175" fmla="*/ f136 f51 1"/>
                <a:gd name="f176" fmla="*/ f137 f50 1"/>
                <a:gd name="f177" fmla="*/ f138 f51 1"/>
                <a:gd name="f178" fmla="*/ f139 f50 1"/>
                <a:gd name="f179" fmla="*/ f140 f51 1"/>
                <a:gd name="f180" fmla="*/ f141 f50 1"/>
                <a:gd name="f181" fmla="*/ f142 f51 1"/>
                <a:gd name="f182" fmla="*/ f143 f50 1"/>
                <a:gd name="f183" fmla="*/ f144 f50 1"/>
                <a:gd name="f184" fmla="*/ f145 f51 1"/>
                <a:gd name="f185" fmla="*/ f146 f50 1"/>
                <a:gd name="f186" fmla="*/ f147 f51 1"/>
                <a:gd name="f187" fmla="*/ f148 f51 1"/>
                <a:gd name="f188" fmla="*/ f149 f51 1"/>
                <a:gd name="f189" fmla="*/ f150 f50 1"/>
                <a:gd name="f190" fmla="*/ f151 f51 1"/>
                <a:gd name="f191" fmla="*/ f152 f51 1"/>
                <a:gd name="f192" fmla="*/ f153 f50 1"/>
                <a:gd name="f193" fmla="*/ f154 f51 1"/>
                <a:gd name="f194" fmla="*/ f155 f51 1"/>
                <a:gd name="f195" fmla="*/ f156 f50 1"/>
                <a:gd name="f196" fmla="*/ f157 f51 1"/>
                <a:gd name="f197" fmla="*/ f158 f50 1"/>
                <a:gd name="f198" fmla="*/ f159 f51 1"/>
                <a:gd name="f199" fmla="*/ f160 f50 1"/>
                <a:gd name="f200" fmla="*/ f161 f51 1"/>
                <a:gd name="f201" fmla="*/ f162 f50 1"/>
                <a:gd name="f202" fmla="*/ f163 f51 1"/>
                <a:gd name="f203" fmla="*/ f164 f51 1"/>
                <a:gd name="f204" fmla="*/ f165 f51 1"/>
                <a:gd name="f205" fmla="*/ f166 f51 1"/>
                <a:gd name="f206" fmla="*/ f167 f51 1"/>
              </a:gdLst>
              <a:ahLst/>
              <a:cxnLst>
                <a:cxn ang="3cd4">
                  <a:pos x="hc" y="t"/>
                </a:cxn>
                <a:cxn ang="0">
                  <a:pos x="r" y="vc"/>
                </a:cxn>
                <a:cxn ang="cd4">
                  <a:pos x="hc" y="b"/>
                </a:cxn>
                <a:cxn ang="cd2">
                  <a:pos x="l" y="vc"/>
                </a:cxn>
                <a:cxn ang="f132">
                  <a:pos x="f172" y="f173"/>
                </a:cxn>
                <a:cxn ang="f132">
                  <a:pos x="f174" y="f175"/>
                </a:cxn>
                <a:cxn ang="f132">
                  <a:pos x="f176" y="f177"/>
                </a:cxn>
                <a:cxn ang="f132">
                  <a:pos x="f178" y="f179"/>
                </a:cxn>
                <a:cxn ang="f132">
                  <a:pos x="f180" y="f181"/>
                </a:cxn>
                <a:cxn ang="f132">
                  <a:pos x="f182" y="f179"/>
                </a:cxn>
                <a:cxn ang="f132">
                  <a:pos x="f183" y="f177"/>
                </a:cxn>
                <a:cxn ang="f132">
                  <a:pos x="f183" y="f184"/>
                </a:cxn>
                <a:cxn ang="f132">
                  <a:pos x="f185" y="f184"/>
                </a:cxn>
                <a:cxn ang="f132">
                  <a:pos x="f185" y="f186"/>
                </a:cxn>
                <a:cxn ang="f132">
                  <a:pos x="f183" y="f187"/>
                </a:cxn>
                <a:cxn ang="f132">
                  <a:pos x="f183" y="f188"/>
                </a:cxn>
                <a:cxn ang="f132">
                  <a:pos x="f189" y="f190"/>
                </a:cxn>
                <a:cxn ang="f132">
                  <a:pos x="f182" y="f191"/>
                </a:cxn>
                <a:cxn ang="f132">
                  <a:pos x="f192" y="f193"/>
                </a:cxn>
                <a:cxn ang="f132">
                  <a:pos x="f180" y="f193"/>
                </a:cxn>
                <a:cxn ang="f132">
                  <a:pos x="f178" y="f191"/>
                </a:cxn>
                <a:cxn ang="f132">
                  <a:pos x="f176" y="f188"/>
                </a:cxn>
                <a:cxn ang="f132">
                  <a:pos x="f174" y="f194"/>
                </a:cxn>
                <a:cxn ang="f132">
                  <a:pos x="f172" y="f173"/>
                </a:cxn>
                <a:cxn ang="f132">
                  <a:pos x="f195" y="f173"/>
                </a:cxn>
                <a:cxn ang="f132">
                  <a:pos x="f178" y="f196"/>
                </a:cxn>
                <a:cxn ang="f132">
                  <a:pos x="f197" y="f198"/>
                </a:cxn>
                <a:cxn ang="f132">
                  <a:pos x="f192" y="f198"/>
                </a:cxn>
                <a:cxn ang="f132">
                  <a:pos x="f199" y="f200"/>
                </a:cxn>
                <a:cxn ang="f132">
                  <a:pos x="f201" y="f196"/>
                </a:cxn>
                <a:cxn ang="f132">
                  <a:pos x="f183" y="f194"/>
                </a:cxn>
                <a:cxn ang="f132">
                  <a:pos x="f183" y="f202"/>
                </a:cxn>
                <a:cxn ang="f132">
                  <a:pos x="f201" y="f175"/>
                </a:cxn>
                <a:cxn ang="f132">
                  <a:pos x="f199" y="f203"/>
                </a:cxn>
                <a:cxn ang="f132">
                  <a:pos x="f192" y="f204"/>
                </a:cxn>
                <a:cxn ang="f132">
                  <a:pos x="f197" y="f205"/>
                </a:cxn>
                <a:cxn ang="f132">
                  <a:pos x="f178" y="f206"/>
                </a:cxn>
                <a:cxn ang="f132">
                  <a:pos x="f195" y="f173"/>
                </a:cxn>
              </a:cxnLst>
              <a:rect l="f168" t="f171" r="f169" b="f170"/>
              <a:pathLst>
                <a:path w="32" h="55">
                  <a:moveTo>
                    <a:pt x="f6" y="f8"/>
                  </a:moveTo>
                  <a:cubicBezTo>
                    <a:pt x="f6" y="f9"/>
                    <a:pt x="f6" y="f10"/>
                    <a:pt x="f11" y="f12"/>
                  </a:cubicBezTo>
                  <a:cubicBezTo>
                    <a:pt x="f13" y="f14"/>
                    <a:pt x="f15" y="f16"/>
                    <a:pt x="f17" y="f18"/>
                  </a:cubicBezTo>
                  <a:cubicBezTo>
                    <a:pt x="f19" y="f20"/>
                    <a:pt x="f21" y="f22"/>
                    <a:pt x="f23" y="f22"/>
                  </a:cubicBezTo>
                  <a:cubicBezTo>
                    <a:pt x="f24" y="f25"/>
                    <a:pt x="f26" y="f7"/>
                    <a:pt x="f27" y="f7"/>
                  </a:cubicBezTo>
                  <a:cubicBezTo>
                    <a:pt x="f28" y="f7"/>
                    <a:pt x="f29" y="f25"/>
                    <a:pt x="f30" y="f22"/>
                  </a:cubicBezTo>
                  <a:cubicBezTo>
                    <a:pt x="f31" y="f32"/>
                    <a:pt x="f33" y="f20"/>
                    <a:pt x="f34" y="f18"/>
                  </a:cubicBezTo>
                  <a:cubicBezTo>
                    <a:pt x="f34" y="f25"/>
                    <a:pt x="f34" y="f25"/>
                    <a:pt x="f34" y="f25"/>
                  </a:cubicBezTo>
                  <a:cubicBezTo>
                    <a:pt x="f5" y="f25"/>
                    <a:pt x="f5" y="f25"/>
                    <a:pt x="f5" y="f25"/>
                  </a:cubicBezTo>
                  <a:cubicBezTo>
                    <a:pt x="f5" y="f35"/>
                    <a:pt x="f5" y="f35"/>
                    <a:pt x="f5" y="f35"/>
                  </a:cubicBezTo>
                  <a:cubicBezTo>
                    <a:pt x="f34" y="f5"/>
                    <a:pt x="f34" y="f5"/>
                    <a:pt x="f34" y="f5"/>
                  </a:cubicBezTo>
                  <a:cubicBezTo>
                    <a:pt x="f34" y="f26"/>
                    <a:pt x="f34" y="f26"/>
                    <a:pt x="f34" y="f26"/>
                  </a:cubicBezTo>
                  <a:cubicBezTo>
                    <a:pt x="f36" y="f37"/>
                    <a:pt x="f33" y="f37"/>
                    <a:pt x="f31" y="f27"/>
                  </a:cubicBezTo>
                  <a:cubicBezTo>
                    <a:pt x="f31" y="f27"/>
                    <a:pt x="f38" y="f39"/>
                    <a:pt x="f30" y="f39"/>
                  </a:cubicBezTo>
                  <a:cubicBezTo>
                    <a:pt x="f30" y="f39"/>
                    <a:pt x="f29" y="f28"/>
                    <a:pt x="f40" y="f28"/>
                  </a:cubicBezTo>
                  <a:cubicBezTo>
                    <a:pt x="f28" y="f28"/>
                    <a:pt x="f39" y="f28"/>
                    <a:pt x="f27" y="f28"/>
                  </a:cubicBezTo>
                  <a:cubicBezTo>
                    <a:pt x="f41" y="f28"/>
                    <a:pt x="f24" y="f28"/>
                    <a:pt x="f23" y="f39"/>
                  </a:cubicBezTo>
                  <a:cubicBezTo>
                    <a:pt x="f21" y="f39"/>
                    <a:pt x="f42" y="f37"/>
                    <a:pt x="f17" y="f26"/>
                  </a:cubicBezTo>
                  <a:cubicBezTo>
                    <a:pt x="f15" y="f24"/>
                    <a:pt x="f13" y="f23"/>
                    <a:pt x="f11" y="f19"/>
                  </a:cubicBezTo>
                  <a:cubicBezTo>
                    <a:pt x="f6" y="f17"/>
                    <a:pt x="f6" y="f6"/>
                    <a:pt x="f6" y="f8"/>
                  </a:cubicBezTo>
                  <a:close/>
                  <a:moveTo>
                    <a:pt x="f21" y="f8"/>
                  </a:moveTo>
                  <a:cubicBezTo>
                    <a:pt x="f21" y="f11"/>
                    <a:pt x="f43" y="f42"/>
                    <a:pt x="f23" y="f21"/>
                  </a:cubicBezTo>
                  <a:cubicBezTo>
                    <a:pt x="f24" y="f23"/>
                    <a:pt x="f26" y="f44"/>
                    <a:pt x="f39" y="f44"/>
                  </a:cubicBezTo>
                  <a:cubicBezTo>
                    <a:pt x="f28" y="f44"/>
                    <a:pt x="f40" y="f44"/>
                    <a:pt x="f40" y="f44"/>
                  </a:cubicBezTo>
                  <a:cubicBezTo>
                    <a:pt x="f29" y="f44"/>
                    <a:pt x="f30" y="f23"/>
                    <a:pt x="f38" y="f23"/>
                  </a:cubicBezTo>
                  <a:cubicBezTo>
                    <a:pt x="f31" y="f23"/>
                    <a:pt x="f31" y="f43"/>
                    <a:pt x="f33" y="f21"/>
                  </a:cubicBezTo>
                  <a:cubicBezTo>
                    <a:pt x="f36" y="f21"/>
                    <a:pt x="f36" y="f19"/>
                    <a:pt x="f34" y="f19"/>
                  </a:cubicBezTo>
                  <a:cubicBezTo>
                    <a:pt x="f34" y="f45"/>
                    <a:pt x="f34" y="f45"/>
                    <a:pt x="f34" y="f45"/>
                  </a:cubicBezTo>
                  <a:cubicBezTo>
                    <a:pt x="f36" y="f45"/>
                    <a:pt x="f36" y="f12"/>
                    <a:pt x="f33" y="f12"/>
                  </a:cubicBezTo>
                  <a:cubicBezTo>
                    <a:pt x="f31" y="f46"/>
                    <a:pt x="f31" y="f46"/>
                    <a:pt x="f38" y="f14"/>
                  </a:cubicBezTo>
                  <a:cubicBezTo>
                    <a:pt x="f30" y="f14"/>
                    <a:pt x="f29" y="f47"/>
                    <a:pt x="f40" y="f47"/>
                  </a:cubicBezTo>
                  <a:cubicBezTo>
                    <a:pt x="f28" y="f47"/>
                    <a:pt x="f28" y="f16"/>
                    <a:pt x="f39" y="f16"/>
                  </a:cubicBezTo>
                  <a:cubicBezTo>
                    <a:pt x="f26" y="f16"/>
                    <a:pt x="f24" y="f47"/>
                    <a:pt x="f23" y="f46"/>
                  </a:cubicBezTo>
                  <a:cubicBezTo>
                    <a:pt x="f43" y="f45"/>
                    <a:pt x="f21" y="f48"/>
                    <a:pt x="f21"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3" name="Freeform 33">
              <a:extLst>
                <a:ext uri="{FF2B5EF4-FFF2-40B4-BE49-F238E27FC236}">
                  <a16:creationId xmlns:a16="http://schemas.microsoft.com/office/drawing/2014/main" id="{9CE8A309-1BDD-5863-F2BD-8689C5C47B75}"/>
                </a:ext>
              </a:extLst>
            </p:cNvPr>
            <p:cNvSpPr/>
            <p:nvPr/>
          </p:nvSpPr>
          <p:spPr>
            <a:xfrm>
              <a:off x="2997037"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8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8" y="f35"/>
                  </a:cubicBezTo>
                  <a:cubicBezTo>
                    <a:pt x="f16" y="f35"/>
                    <a:pt x="f14" y="f36"/>
                    <a:pt x="f32" y="f36"/>
                  </a:cubicBezTo>
                  <a:cubicBezTo>
                    <a:pt x="f13" y="f37"/>
                    <a:pt x="f3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8"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4" name="Freeform 34">
              <a:extLst>
                <a:ext uri="{FF2B5EF4-FFF2-40B4-BE49-F238E27FC236}">
                  <a16:creationId xmlns:a16="http://schemas.microsoft.com/office/drawing/2014/main" id="{727F3CB0-1194-5DB8-664D-251FDF929EF5}"/>
                </a:ext>
              </a:extLst>
            </p:cNvPr>
            <p:cNvSpPr/>
            <p:nvPr/>
          </p:nvSpPr>
          <p:spPr>
            <a:xfrm>
              <a:off x="3094640"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1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34" y="f35"/>
                    <a:pt x="f34" y="f35"/>
                  </a:cubicBezTo>
                  <a:cubicBezTo>
                    <a:pt x="f34" y="f30"/>
                    <a:pt x="f34" y="f30"/>
                    <a:pt x="f34"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5" name="Freeform 35">
              <a:extLst>
                <a:ext uri="{FF2B5EF4-FFF2-40B4-BE49-F238E27FC236}">
                  <a16:creationId xmlns:a16="http://schemas.microsoft.com/office/drawing/2014/main" id="{D333B2B5-D1B3-4FE5-E756-6F3CA3B9D20E}"/>
                </a:ext>
              </a:extLst>
            </p:cNvPr>
            <p:cNvSpPr/>
            <p:nvPr/>
          </p:nvSpPr>
          <p:spPr>
            <a:xfrm>
              <a:off x="316260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6"/>
                <a:gd name="f15" fmla="val 15"/>
                <a:gd name="f16" fmla="val 14"/>
                <a:gd name="f17" fmla="val 12"/>
                <a:gd name="f18" fmla="val 11"/>
                <a:gd name="f19" fmla="val 10"/>
                <a:gd name="f20" fmla="val 9"/>
                <a:gd name="f21" fmla="val 8"/>
                <a:gd name="f22" fmla="val 7"/>
                <a:gd name="f23" fmla="val 52"/>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7"/>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7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2"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14" y="f29"/>
                    <a:pt x="f14" y="f29"/>
                  </a:cubicBezTo>
                  <a:cubicBezTo>
                    <a:pt x="f37"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6" name="Freeform 36">
              <a:extLst>
                <a:ext uri="{FF2B5EF4-FFF2-40B4-BE49-F238E27FC236}">
                  <a16:creationId xmlns:a16="http://schemas.microsoft.com/office/drawing/2014/main" id="{5DFF186B-44DE-62B1-1C2F-EA56D0E0A16A}"/>
                </a:ext>
              </a:extLst>
            </p:cNvPr>
            <p:cNvSpPr/>
            <p:nvPr/>
          </p:nvSpPr>
          <p:spPr>
            <a:xfrm>
              <a:off x="3232321"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7" name="Freeform 37">
              <a:extLst>
                <a:ext uri="{FF2B5EF4-FFF2-40B4-BE49-F238E27FC236}">
                  <a16:creationId xmlns:a16="http://schemas.microsoft.com/office/drawing/2014/main" id="{4A2991D6-53DB-4DA3-C76E-3170C9F34CA3}"/>
                </a:ext>
              </a:extLst>
            </p:cNvPr>
            <p:cNvSpPr/>
            <p:nvPr/>
          </p:nvSpPr>
          <p:spPr>
            <a:xfrm>
              <a:off x="3335145" y="6088166"/>
              <a:ext cx="59253"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7"/>
                <a:gd name="f13" fmla="val 18"/>
                <a:gd name="f14" fmla="val 17"/>
                <a:gd name="f15" fmla="val 15"/>
                <a:gd name="f16" fmla="val 13"/>
                <a:gd name="f17" fmla="val 11"/>
                <a:gd name="f18" fmla="val 10"/>
                <a:gd name="f19" fmla="val 9"/>
                <a:gd name="f20" fmla="val 14"/>
                <a:gd name="f21" fmla="val 4"/>
                <a:gd name="f22" fmla="val 3"/>
                <a:gd name="f23" fmla="val 2"/>
                <a:gd name="f24" fmla="val 1"/>
                <a:gd name="f25" fmla="val 12"/>
                <a:gd name="f26" fmla="val 16"/>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9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7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1" y="f12"/>
                  </a:cubicBezTo>
                  <a:cubicBezTo>
                    <a:pt x="f13" y="f12"/>
                    <a:pt x="f14" y="f12"/>
                    <a:pt x="f15" y="f12"/>
                  </a:cubicBezTo>
                  <a:cubicBezTo>
                    <a:pt x="f16" y="f12"/>
                    <a:pt x="f17" y="f9"/>
                    <a:pt x="f18" y="f19"/>
                  </a:cubicBezTo>
                  <a:cubicBezTo>
                    <a:pt x="f9" y="f17"/>
                    <a:pt x="f9" y="f20"/>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1"/>
                    <a:pt x="f9" y="f21"/>
                    <a:pt x="f9" y="f21"/>
                  </a:cubicBezTo>
                  <a:cubicBezTo>
                    <a:pt x="f9" y="f22"/>
                    <a:pt x="f19" y="f22"/>
                    <a:pt x="f19" y="f23"/>
                  </a:cubicBezTo>
                  <a:cubicBezTo>
                    <a:pt x="f18" y="f23"/>
                    <a:pt x="f17" y="f24"/>
                    <a:pt x="f17" y="f24"/>
                  </a:cubicBezTo>
                  <a:cubicBezTo>
                    <a:pt x="f25" y="f5"/>
                    <a:pt x="f16" y="f5"/>
                    <a:pt x="f20" y="f5"/>
                  </a:cubicBezTo>
                  <a:cubicBezTo>
                    <a:pt x="f15" y="f5"/>
                    <a:pt x="f26" y="f5"/>
                    <a:pt x="f14" y="f5"/>
                  </a:cubicBezTo>
                  <a:cubicBezTo>
                    <a:pt x="f13" y="f5"/>
                    <a:pt x="f11" y="f5"/>
                    <a:pt x="f10" y="f5"/>
                  </a:cubicBezTo>
                  <a:cubicBezTo>
                    <a:pt x="f8" y="f5"/>
                    <a:pt x="f27"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8" name="Freeform 38">
              <a:extLst>
                <a:ext uri="{FF2B5EF4-FFF2-40B4-BE49-F238E27FC236}">
                  <a16:creationId xmlns:a16="http://schemas.microsoft.com/office/drawing/2014/main" id="{2FE44260-CDCE-3066-D0B9-95AC2E8C95C2}"/>
                </a:ext>
              </a:extLst>
            </p:cNvPr>
            <p:cNvSpPr/>
            <p:nvPr/>
          </p:nvSpPr>
          <p:spPr>
            <a:xfrm>
              <a:off x="3450168"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9" name="Freeform 39">
              <a:extLst>
                <a:ext uri="{FF2B5EF4-FFF2-40B4-BE49-F238E27FC236}">
                  <a16:creationId xmlns:a16="http://schemas.microsoft.com/office/drawing/2014/main" id="{304B66E4-D719-DC9D-C0AB-3478D4CA7474}"/>
                </a:ext>
              </a:extLst>
            </p:cNvPr>
            <p:cNvSpPr/>
            <p:nvPr/>
          </p:nvSpPr>
          <p:spPr>
            <a:xfrm>
              <a:off x="3528596"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0" name="Freeform 40">
              <a:extLst>
                <a:ext uri="{FF2B5EF4-FFF2-40B4-BE49-F238E27FC236}">
                  <a16:creationId xmlns:a16="http://schemas.microsoft.com/office/drawing/2014/main" id="{FA20CFE2-CDEC-3584-6811-74556DAFECC5}"/>
                </a:ext>
              </a:extLst>
            </p:cNvPr>
            <p:cNvSpPr/>
            <p:nvPr/>
          </p:nvSpPr>
          <p:spPr>
            <a:xfrm>
              <a:off x="3626199"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1" name="Freeform 41">
              <a:extLst>
                <a:ext uri="{FF2B5EF4-FFF2-40B4-BE49-F238E27FC236}">
                  <a16:creationId xmlns:a16="http://schemas.microsoft.com/office/drawing/2014/main" id="{007D9D1C-2D4B-3575-54E1-2997081F0291}"/>
                </a:ext>
              </a:extLst>
            </p:cNvPr>
            <p:cNvSpPr/>
            <p:nvPr/>
          </p:nvSpPr>
          <p:spPr>
            <a:xfrm>
              <a:off x="3770848" y="6088166"/>
              <a:ext cx="81911" cy="101132"/>
            </a:xfrm>
            <a:custGeom>
              <a:avLst/>
              <a:gdLst>
                <a:gd name="f0" fmla="val 10800000"/>
                <a:gd name="f1" fmla="val 5400000"/>
                <a:gd name="f2" fmla="val 180"/>
                <a:gd name="f3" fmla="val w"/>
                <a:gd name="f4" fmla="val h"/>
                <a:gd name="f5" fmla="val 0"/>
                <a:gd name="f6" fmla="val 32"/>
                <a:gd name="f7" fmla="val 40"/>
                <a:gd name="f8" fmla="val 24"/>
                <a:gd name="f9" fmla="val 39"/>
                <a:gd name="f10" fmla="val 35"/>
                <a:gd name="f11" fmla="val 23"/>
                <a:gd name="f12" fmla="val 36"/>
                <a:gd name="f13" fmla="val 37"/>
                <a:gd name="f14" fmla="val 22"/>
                <a:gd name="f15" fmla="val 21"/>
                <a:gd name="f16" fmla="val 38"/>
                <a:gd name="f17" fmla="val 20"/>
                <a:gd name="f18" fmla="val 19"/>
                <a:gd name="f19" fmla="val 18"/>
                <a:gd name="f20" fmla="val 17"/>
                <a:gd name="f21" fmla="val 16"/>
                <a:gd name="f22" fmla="val 15"/>
                <a:gd name="f23" fmla="val 14"/>
                <a:gd name="f24" fmla="val 12"/>
                <a:gd name="f25" fmla="val 11"/>
                <a:gd name="f26" fmla="val 9"/>
                <a:gd name="f27" fmla="val 7"/>
                <a:gd name="f28" fmla="val 6"/>
                <a:gd name="f29" fmla="val 5"/>
                <a:gd name="f30" fmla="val 3"/>
                <a:gd name="f31" fmla="val 2"/>
                <a:gd name="f32" fmla="val 34"/>
                <a:gd name="f33" fmla="val 33"/>
                <a:gd name="f34" fmla="val 1"/>
                <a:gd name="f35" fmla="val 31"/>
                <a:gd name="f36" fmla="val 29"/>
                <a:gd name="f37" fmla="val 27"/>
                <a:gd name="f38" fmla="val 8"/>
                <a:gd name="f39" fmla="val 10"/>
                <a:gd name="f40" fmla="val 13"/>
                <a:gd name="f41" fmla="val 4"/>
                <a:gd name="f42" fmla="val 25"/>
                <a:gd name="f43" fmla="val 26"/>
                <a:gd name="f44" fmla="val 28"/>
                <a:gd name="f45" fmla="val 30"/>
                <a:gd name="f46" fmla="+- 0 0 -90"/>
                <a:gd name="f47" fmla="*/ f3 1 32"/>
                <a:gd name="f48" fmla="*/ f4 1 40"/>
                <a:gd name="f49" fmla="+- f7 0 f5"/>
                <a:gd name="f50" fmla="+- f6 0 f5"/>
                <a:gd name="f51" fmla="*/ f46 f0 1"/>
                <a:gd name="f52" fmla="*/ f50 1 32"/>
                <a:gd name="f53" fmla="*/ f49 1 40"/>
                <a:gd name="f54" fmla="*/ 24 f50 1"/>
                <a:gd name="f55" fmla="*/ 39 f49 1"/>
                <a:gd name="f56" fmla="*/ 35 f49 1"/>
                <a:gd name="f57" fmla="*/ 22 f50 1"/>
                <a:gd name="f58" fmla="*/ 37 f49 1"/>
                <a:gd name="f59" fmla="*/ 20 f50 1"/>
                <a:gd name="f60" fmla="*/ 38 f49 1"/>
                <a:gd name="f61" fmla="*/ 17 f50 1"/>
                <a:gd name="f62" fmla="*/ 14 f50 1"/>
                <a:gd name="f63" fmla="*/ 40 f49 1"/>
                <a:gd name="f64" fmla="*/ 9 f50 1"/>
                <a:gd name="f65" fmla="*/ 5 f50 1"/>
                <a:gd name="f66" fmla="*/ 2 f50 1"/>
                <a:gd name="f67" fmla="*/ 33 f49 1"/>
                <a:gd name="f68" fmla="*/ 0 f50 1"/>
                <a:gd name="f69" fmla="*/ 27 f49 1"/>
                <a:gd name="f70" fmla="*/ 21 f49 1"/>
                <a:gd name="f71" fmla="*/ 17 f49 1"/>
                <a:gd name="f72" fmla="*/ 10 f50 1"/>
                <a:gd name="f73" fmla="*/ 15 f49 1"/>
                <a:gd name="f74" fmla="*/ 16 f50 1"/>
                <a:gd name="f75" fmla="*/ 14 f49 1"/>
                <a:gd name="f76" fmla="*/ 21 f50 1"/>
                <a:gd name="f77" fmla="*/ 16 f49 1"/>
                <a:gd name="f78" fmla="*/ 13 f49 1"/>
                <a:gd name="f79" fmla="*/ 8 f49 1"/>
                <a:gd name="f80" fmla="*/ 6 f49 1"/>
                <a:gd name="f81" fmla="*/ 12 f50 1"/>
                <a:gd name="f82" fmla="*/ 7 f49 1"/>
                <a:gd name="f83" fmla="*/ 7 f50 1"/>
                <a:gd name="f84" fmla="*/ 9 f49 1"/>
                <a:gd name="f85" fmla="*/ 4 f50 1"/>
                <a:gd name="f86" fmla="*/ 3 f49 1"/>
                <a:gd name="f87" fmla="*/ 0 f49 1"/>
                <a:gd name="f88" fmla="*/ 23 f50 1"/>
                <a:gd name="f89" fmla="*/ 28 f50 1"/>
                <a:gd name="f90" fmla="*/ 31 f50 1"/>
                <a:gd name="f91" fmla="*/ 32 f50 1"/>
                <a:gd name="f92" fmla="*/ 12 f49 1"/>
                <a:gd name="f93" fmla="*/ 22 f49 1"/>
                <a:gd name="f94" fmla="*/ 18 f50 1"/>
                <a:gd name="f95" fmla="*/ 8 f50 1"/>
                <a:gd name="f96" fmla="*/ 26 f49 1"/>
                <a:gd name="f97" fmla="*/ 29 f49 1"/>
                <a:gd name="f98" fmla="*/ 31 f49 1"/>
                <a:gd name="f99" fmla="*/ 32 f49 1"/>
                <a:gd name="f100" fmla="*/ 15 f50 1"/>
                <a:gd name="f101" fmla="*/ 30 f49 1"/>
                <a:gd name="f102" fmla="*/ 28 f49 1"/>
                <a:gd name="f103" fmla="*/ f51 1 f2"/>
                <a:gd name="f104" fmla="*/ f54 1 32"/>
                <a:gd name="f105" fmla="*/ f55 1 40"/>
                <a:gd name="f106" fmla="*/ f56 1 40"/>
                <a:gd name="f107" fmla="*/ f57 1 32"/>
                <a:gd name="f108" fmla="*/ f58 1 40"/>
                <a:gd name="f109" fmla="*/ f59 1 32"/>
                <a:gd name="f110" fmla="*/ f60 1 40"/>
                <a:gd name="f111" fmla="*/ f61 1 32"/>
                <a:gd name="f112" fmla="*/ f62 1 32"/>
                <a:gd name="f113" fmla="*/ f63 1 40"/>
                <a:gd name="f114" fmla="*/ f64 1 32"/>
                <a:gd name="f115" fmla="*/ f65 1 32"/>
                <a:gd name="f116" fmla="*/ f66 1 32"/>
                <a:gd name="f117" fmla="*/ f67 1 40"/>
                <a:gd name="f118" fmla="*/ f68 1 32"/>
                <a:gd name="f119" fmla="*/ f69 1 40"/>
                <a:gd name="f120" fmla="*/ f70 1 40"/>
                <a:gd name="f121" fmla="*/ f71 1 40"/>
                <a:gd name="f122" fmla="*/ f72 1 32"/>
                <a:gd name="f123" fmla="*/ f73 1 40"/>
                <a:gd name="f124" fmla="*/ f74 1 32"/>
                <a:gd name="f125" fmla="*/ f75 1 40"/>
                <a:gd name="f126" fmla="*/ f76 1 32"/>
                <a:gd name="f127" fmla="*/ f77 1 40"/>
                <a:gd name="f128" fmla="*/ f78 1 40"/>
                <a:gd name="f129" fmla="*/ f79 1 40"/>
                <a:gd name="f130" fmla="*/ f80 1 40"/>
                <a:gd name="f131" fmla="*/ f81 1 32"/>
                <a:gd name="f132" fmla="*/ f82 1 40"/>
                <a:gd name="f133" fmla="*/ f83 1 32"/>
                <a:gd name="f134" fmla="*/ f84 1 40"/>
                <a:gd name="f135" fmla="*/ f85 1 32"/>
                <a:gd name="f136" fmla="*/ f86 1 40"/>
                <a:gd name="f137" fmla="*/ f87 1 40"/>
                <a:gd name="f138" fmla="*/ f88 1 32"/>
                <a:gd name="f139" fmla="*/ f89 1 32"/>
                <a:gd name="f140" fmla="*/ f90 1 32"/>
                <a:gd name="f141" fmla="*/ f91 1 32"/>
                <a:gd name="f142" fmla="*/ f92 1 40"/>
                <a:gd name="f143" fmla="*/ f93 1 40"/>
                <a:gd name="f144" fmla="*/ f94 1 32"/>
                <a:gd name="f145" fmla="*/ f95 1 32"/>
                <a:gd name="f146" fmla="*/ f96 1 40"/>
                <a:gd name="f147" fmla="*/ f97 1 40"/>
                <a:gd name="f148" fmla="*/ f98 1 40"/>
                <a:gd name="f149" fmla="*/ f99 1 40"/>
                <a:gd name="f150" fmla="*/ f100 1 32"/>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3"/>
                <a:gd name="f165" fmla="*/ f111 1 f52"/>
                <a:gd name="f166" fmla="*/ f112 1 f52"/>
                <a:gd name="f167" fmla="*/ f113 1 f53"/>
                <a:gd name="f168" fmla="*/ f114 1 f52"/>
                <a:gd name="f169" fmla="*/ f115 1 f52"/>
                <a:gd name="f170" fmla="*/ f116 1 f52"/>
                <a:gd name="f171" fmla="*/ f117 1 f53"/>
                <a:gd name="f172" fmla="*/ f118 1 f52"/>
                <a:gd name="f173" fmla="*/ f119 1 f53"/>
                <a:gd name="f174" fmla="*/ f120 1 f53"/>
                <a:gd name="f175" fmla="*/ f121 1 f53"/>
                <a:gd name="f176" fmla="*/ f122 1 f52"/>
                <a:gd name="f177" fmla="*/ f123 1 f53"/>
                <a:gd name="f178" fmla="*/ f124 1 f52"/>
                <a:gd name="f179" fmla="*/ f125 1 f53"/>
                <a:gd name="f180" fmla="*/ f126 1 f52"/>
                <a:gd name="f181" fmla="*/ f127 1 f53"/>
                <a:gd name="f182" fmla="*/ f128 1 f53"/>
                <a:gd name="f183" fmla="*/ f129 1 f53"/>
                <a:gd name="f184" fmla="*/ f130 1 f53"/>
                <a:gd name="f185" fmla="*/ f131 1 f52"/>
                <a:gd name="f186" fmla="*/ f132 1 f53"/>
                <a:gd name="f187" fmla="*/ f133 1 f52"/>
                <a:gd name="f188" fmla="*/ f134 1 f53"/>
                <a:gd name="f189" fmla="*/ f135 1 f52"/>
                <a:gd name="f190" fmla="*/ f136 1 f53"/>
                <a:gd name="f191" fmla="*/ f137 1 f53"/>
                <a:gd name="f192" fmla="*/ f138 1 f52"/>
                <a:gd name="f193" fmla="*/ f139 1 f52"/>
                <a:gd name="f194" fmla="*/ f140 1 f52"/>
                <a:gd name="f195" fmla="*/ f141 1 f52"/>
                <a:gd name="f196" fmla="*/ f142 1 f53"/>
                <a:gd name="f197" fmla="*/ f143 1 f53"/>
                <a:gd name="f198" fmla="*/ f144 1 f52"/>
                <a:gd name="f199" fmla="*/ f145 1 f52"/>
                <a:gd name="f200" fmla="*/ f146 1 f53"/>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8 1"/>
                <a:gd name="f218" fmla="*/ f165 f47 1"/>
                <a:gd name="f219" fmla="*/ f166 f47 1"/>
                <a:gd name="f220" fmla="*/ f167 f48 1"/>
                <a:gd name="f221" fmla="*/ f168 f47 1"/>
                <a:gd name="f222" fmla="*/ f169 f47 1"/>
                <a:gd name="f223" fmla="*/ f170 f47 1"/>
                <a:gd name="f224" fmla="*/ f171 f48 1"/>
                <a:gd name="f225" fmla="*/ f172 f47 1"/>
                <a:gd name="f226" fmla="*/ f173 f48 1"/>
                <a:gd name="f227" fmla="*/ f174 f48 1"/>
                <a:gd name="f228" fmla="*/ f175 f48 1"/>
                <a:gd name="f229" fmla="*/ f176 f47 1"/>
                <a:gd name="f230" fmla="*/ f177 f48 1"/>
                <a:gd name="f231" fmla="*/ f178 f47 1"/>
                <a:gd name="f232" fmla="*/ f179 f48 1"/>
                <a:gd name="f233" fmla="*/ f180 f47 1"/>
                <a:gd name="f234" fmla="*/ f181 f48 1"/>
                <a:gd name="f235" fmla="*/ f182 f48 1"/>
                <a:gd name="f236" fmla="*/ f183 f48 1"/>
                <a:gd name="f237" fmla="*/ f184 f48 1"/>
                <a:gd name="f238" fmla="*/ f185 f47 1"/>
                <a:gd name="f239" fmla="*/ f186 f48 1"/>
                <a:gd name="f240" fmla="*/ f187 f47 1"/>
                <a:gd name="f241" fmla="*/ f188 f48 1"/>
                <a:gd name="f242" fmla="*/ f189 f47 1"/>
                <a:gd name="f243" fmla="*/ f190 f48 1"/>
                <a:gd name="f244" fmla="*/ f191 f48 1"/>
                <a:gd name="f245" fmla="*/ f192 f47 1"/>
                <a:gd name="f246" fmla="*/ f193 f47 1"/>
                <a:gd name="f247" fmla="*/ f194 f47 1"/>
                <a:gd name="f248" fmla="*/ f195 f47 1"/>
                <a:gd name="f249" fmla="*/ f196 f48 1"/>
                <a:gd name="f250" fmla="*/ f197 f48 1"/>
                <a:gd name="f251" fmla="*/ f198 f47 1"/>
                <a:gd name="f252" fmla="*/ f199 f47 1"/>
                <a:gd name="f253" fmla="*/ f200 f48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7"/>
                </a:cxn>
                <a:cxn ang="f157">
                  <a:pos x="f218" y="f212"/>
                </a:cxn>
                <a:cxn ang="f157">
                  <a:pos x="f219" y="f220"/>
                </a:cxn>
                <a:cxn ang="f157">
                  <a:pos x="f221" y="f212"/>
                </a:cxn>
                <a:cxn ang="f157">
                  <a:pos x="f222" y="f215"/>
                </a:cxn>
                <a:cxn ang="f157">
                  <a:pos x="f223" y="f224"/>
                </a:cxn>
                <a:cxn ang="f157">
                  <a:pos x="f225" y="f226"/>
                </a:cxn>
                <a:cxn ang="f157">
                  <a:pos x="f223" y="f227"/>
                </a:cxn>
                <a:cxn ang="f157">
                  <a:pos x="f222" y="f228"/>
                </a:cxn>
                <a:cxn ang="f157">
                  <a:pos x="f229" y="f230"/>
                </a:cxn>
                <a:cxn ang="f157">
                  <a:pos x="f231" y="f232"/>
                </a:cxn>
                <a:cxn ang="f157">
                  <a:pos x="f233" y="f230"/>
                </a:cxn>
                <a:cxn ang="f157">
                  <a:pos x="f211" y="f234"/>
                </a:cxn>
                <a:cxn ang="f157">
                  <a:pos x="f211" y="f235"/>
                </a:cxn>
                <a:cxn ang="f157">
                  <a:pos x="f214" y="f236"/>
                </a:cxn>
                <a:cxn ang="f157">
                  <a:pos x="f218" y="f237"/>
                </a:cxn>
                <a:cxn ang="f157">
                  <a:pos x="f238" y="f239"/>
                </a:cxn>
                <a:cxn ang="f157">
                  <a:pos x="f240" y="f241"/>
                </a:cxn>
                <a:cxn ang="f157">
                  <a:pos x="f242" y="f243"/>
                </a:cxn>
                <a:cxn ang="f157">
                  <a:pos x="f229" y="f244"/>
                </a:cxn>
                <a:cxn ang="f157">
                  <a:pos x="f218" y="f244"/>
                </a:cxn>
                <a:cxn ang="f157">
                  <a:pos x="f245" y="f244"/>
                </a:cxn>
                <a:cxn ang="f157">
                  <a:pos x="f246" y="f243"/>
                </a:cxn>
                <a:cxn ang="f157">
                  <a:pos x="f247" y="f239"/>
                </a:cxn>
                <a:cxn ang="f157">
                  <a:pos x="f248" y="f249"/>
                </a:cxn>
                <a:cxn ang="f157">
                  <a:pos x="f248" y="f212"/>
                </a:cxn>
                <a:cxn ang="f157">
                  <a:pos x="f211" y="f212"/>
                </a:cxn>
                <a:cxn ang="f157">
                  <a:pos x="f211" y="f250"/>
                </a:cxn>
                <a:cxn ang="f157">
                  <a:pos x="f214" y="f250"/>
                </a:cxn>
                <a:cxn ang="f157">
                  <a:pos x="f233" y="f227"/>
                </a:cxn>
                <a:cxn ang="f157">
                  <a:pos x="f251" y="f227"/>
                </a:cxn>
                <a:cxn ang="f157">
                  <a:pos x="f231" y="f227"/>
                </a:cxn>
                <a:cxn ang="f157">
                  <a:pos x="f229" y="f250"/>
                </a:cxn>
                <a:cxn ang="f157">
                  <a:pos x="f252" y="f253"/>
                </a:cxn>
                <a:cxn ang="f157">
                  <a:pos x="f252" y="f254"/>
                </a:cxn>
                <a:cxn ang="f157">
                  <a:pos x="f229" y="f255"/>
                </a:cxn>
                <a:cxn ang="f157">
                  <a:pos x="f238" y="f256"/>
                </a:cxn>
                <a:cxn ang="f157">
                  <a:pos x="f257" y="f224"/>
                </a:cxn>
                <a:cxn ang="f157">
                  <a:pos x="f251" y="f256"/>
                </a:cxn>
                <a:cxn ang="f157">
                  <a:pos x="f233" y="f255"/>
                </a:cxn>
                <a:cxn ang="f157">
                  <a:pos x="f245" y="f258"/>
                </a:cxn>
                <a:cxn ang="f157">
                  <a:pos x="f211" y="f259"/>
                </a:cxn>
                <a:cxn ang="f157">
                  <a:pos x="f211" y="f250"/>
                </a:cxn>
              </a:cxnLst>
              <a:rect l="f207" t="f210" r="f208" b="f209"/>
              <a:pathLst>
                <a:path w="32" h="40">
                  <a:moveTo>
                    <a:pt x="f8" y="f9"/>
                  </a:moveTo>
                  <a:cubicBezTo>
                    <a:pt x="f8" y="f10"/>
                    <a:pt x="f8" y="f10"/>
                    <a:pt x="f8" y="f10"/>
                  </a:cubicBezTo>
                  <a:cubicBezTo>
                    <a:pt x="f11" y="f12"/>
                    <a:pt x="f11" y="f13"/>
                    <a:pt x="f14" y="f13"/>
                  </a:cubicBezTo>
                  <a:cubicBezTo>
                    <a:pt x="f15" y="f13"/>
                    <a:pt x="f15" y="f16"/>
                    <a:pt x="f17" y="f16"/>
                  </a:cubicBezTo>
                  <a:cubicBezTo>
                    <a:pt x="f18" y="f9"/>
                    <a:pt x="f19" y="f9"/>
                    <a:pt x="f20" y="f9"/>
                  </a:cubicBezTo>
                  <a:cubicBezTo>
                    <a:pt x="f21" y="f9"/>
                    <a:pt x="f22" y="f7"/>
                    <a:pt x="f23" y="f7"/>
                  </a:cubicBezTo>
                  <a:cubicBezTo>
                    <a:pt x="f24" y="f7"/>
                    <a:pt x="f25" y="f9"/>
                    <a:pt x="f26" y="f9"/>
                  </a:cubicBezTo>
                  <a:cubicBezTo>
                    <a:pt x="f27" y="f16"/>
                    <a:pt x="f28" y="f16"/>
                    <a:pt x="f29" y="f13"/>
                  </a:cubicBezTo>
                  <a:cubicBezTo>
                    <a:pt x="f30" y="f12"/>
                    <a:pt x="f31" y="f32"/>
                    <a:pt x="f31" y="f33"/>
                  </a:cubicBezTo>
                  <a:cubicBezTo>
                    <a:pt x="f34" y="f35"/>
                    <a:pt x="f5" y="f36"/>
                    <a:pt x="f5" y="f37"/>
                  </a:cubicBezTo>
                  <a:cubicBezTo>
                    <a:pt x="f5" y="f8"/>
                    <a:pt x="f34" y="f11"/>
                    <a:pt x="f31" y="f15"/>
                  </a:cubicBezTo>
                  <a:cubicBezTo>
                    <a:pt x="f31" y="f17"/>
                    <a:pt x="f30" y="f19"/>
                    <a:pt x="f29" y="f20"/>
                  </a:cubicBezTo>
                  <a:cubicBezTo>
                    <a:pt x="f28" y="f21"/>
                    <a:pt x="f38" y="f22"/>
                    <a:pt x="f39" y="f22"/>
                  </a:cubicBezTo>
                  <a:cubicBezTo>
                    <a:pt x="f24" y="f23"/>
                    <a:pt x="f23" y="f23"/>
                    <a:pt x="f21" y="f23"/>
                  </a:cubicBezTo>
                  <a:cubicBezTo>
                    <a:pt x="f19" y="f23"/>
                    <a:pt x="f18" y="f23"/>
                    <a:pt x="f15" y="f22"/>
                  </a:cubicBezTo>
                  <a:cubicBezTo>
                    <a:pt x="f14" y="f22"/>
                    <a:pt x="f11" y="f22"/>
                    <a:pt x="f8" y="f21"/>
                  </a:cubicBezTo>
                  <a:cubicBezTo>
                    <a:pt x="f8" y="f40"/>
                    <a:pt x="f8" y="f40"/>
                    <a:pt x="f8" y="f40"/>
                  </a:cubicBezTo>
                  <a:cubicBezTo>
                    <a:pt x="f8" y="f25"/>
                    <a:pt x="f8" y="f26"/>
                    <a:pt x="f14" y="f38"/>
                  </a:cubicBezTo>
                  <a:cubicBezTo>
                    <a:pt x="f15" y="f27"/>
                    <a:pt x="f18" y="f28"/>
                    <a:pt x="f20" y="f28"/>
                  </a:cubicBezTo>
                  <a:cubicBezTo>
                    <a:pt x="f22" y="f28"/>
                    <a:pt x="f40" y="f28"/>
                    <a:pt x="f24" y="f27"/>
                  </a:cubicBezTo>
                  <a:cubicBezTo>
                    <a:pt x="f39" y="f27"/>
                    <a:pt x="f26" y="f38"/>
                    <a:pt x="f27" y="f26"/>
                  </a:cubicBezTo>
                  <a:cubicBezTo>
                    <a:pt x="f41" y="f30"/>
                    <a:pt x="f41" y="f30"/>
                    <a:pt x="f41" y="f30"/>
                  </a:cubicBezTo>
                  <a:cubicBezTo>
                    <a:pt x="f28" y="f31"/>
                    <a:pt x="f38" y="f34"/>
                    <a:pt x="f39" y="f5"/>
                  </a:cubicBezTo>
                  <a:cubicBezTo>
                    <a:pt x="f24" y="f5"/>
                    <a:pt x="f22" y="f5"/>
                    <a:pt x="f20" y="f5"/>
                  </a:cubicBezTo>
                  <a:cubicBezTo>
                    <a:pt x="f18" y="f5"/>
                    <a:pt x="f15" y="f5"/>
                    <a:pt x="f11" y="f5"/>
                  </a:cubicBezTo>
                  <a:cubicBezTo>
                    <a:pt x="f42" y="f34"/>
                    <a:pt x="f43" y="f31"/>
                    <a:pt x="f44" y="f30"/>
                  </a:cubicBezTo>
                  <a:cubicBezTo>
                    <a:pt x="f36" y="f41"/>
                    <a:pt x="f45" y="f29"/>
                    <a:pt x="f35" y="f27"/>
                  </a:cubicBezTo>
                  <a:cubicBezTo>
                    <a:pt x="f35" y="f38"/>
                    <a:pt x="f6" y="f39"/>
                    <a:pt x="f6" y="f24"/>
                  </a:cubicBezTo>
                  <a:cubicBezTo>
                    <a:pt x="f6" y="f9"/>
                    <a:pt x="f6" y="f9"/>
                    <a:pt x="f6" y="f9"/>
                  </a:cubicBezTo>
                  <a:lnTo>
                    <a:pt x="f8" y="f9"/>
                  </a:lnTo>
                  <a:close/>
                  <a:moveTo>
                    <a:pt x="f8" y="f14"/>
                  </a:moveTo>
                  <a:cubicBezTo>
                    <a:pt x="f8" y="f14"/>
                    <a:pt x="f11" y="f14"/>
                    <a:pt x="f14" y="f14"/>
                  </a:cubicBezTo>
                  <a:cubicBezTo>
                    <a:pt x="f14" y="f15"/>
                    <a:pt x="f15" y="f15"/>
                    <a:pt x="f15" y="f15"/>
                  </a:cubicBezTo>
                  <a:cubicBezTo>
                    <a:pt x="f17" y="f15"/>
                    <a:pt x="f18" y="f15"/>
                    <a:pt x="f19" y="f15"/>
                  </a:cubicBezTo>
                  <a:cubicBezTo>
                    <a:pt x="f20" y="f15"/>
                    <a:pt x="f20" y="f15"/>
                    <a:pt x="f21" y="f15"/>
                  </a:cubicBezTo>
                  <a:cubicBezTo>
                    <a:pt x="f40" y="f15"/>
                    <a:pt x="f25" y="f15"/>
                    <a:pt x="f39" y="f14"/>
                  </a:cubicBezTo>
                  <a:cubicBezTo>
                    <a:pt x="f38" y="f11"/>
                    <a:pt x="f38" y="f42"/>
                    <a:pt x="f38" y="f43"/>
                  </a:cubicBezTo>
                  <a:cubicBezTo>
                    <a:pt x="f38" y="f44"/>
                    <a:pt x="f38" y="f36"/>
                    <a:pt x="f38" y="f36"/>
                  </a:cubicBezTo>
                  <a:cubicBezTo>
                    <a:pt x="f26" y="f45"/>
                    <a:pt x="f26" y="f35"/>
                    <a:pt x="f39" y="f35"/>
                  </a:cubicBezTo>
                  <a:cubicBezTo>
                    <a:pt x="f39" y="f6"/>
                    <a:pt x="f25" y="f6"/>
                    <a:pt x="f24" y="f6"/>
                  </a:cubicBezTo>
                  <a:cubicBezTo>
                    <a:pt x="f40" y="f33"/>
                    <a:pt x="f23" y="f33"/>
                    <a:pt x="f22" y="f33"/>
                  </a:cubicBezTo>
                  <a:cubicBezTo>
                    <a:pt x="f21" y="f33"/>
                    <a:pt x="f20" y="f33"/>
                    <a:pt x="f19" y="f6"/>
                  </a:cubicBezTo>
                  <a:cubicBezTo>
                    <a:pt x="f18" y="f6"/>
                    <a:pt x="f17" y="f6"/>
                    <a:pt x="f15" y="f35"/>
                  </a:cubicBezTo>
                  <a:cubicBezTo>
                    <a:pt x="f15" y="f35"/>
                    <a:pt x="f14" y="f45"/>
                    <a:pt x="f11" y="f45"/>
                  </a:cubicBezTo>
                  <a:cubicBezTo>
                    <a:pt x="f11" y="f36"/>
                    <a:pt x="f8" y="f44"/>
                    <a:pt x="f8" y="f44"/>
                  </a:cubicBezTo>
                  <a:lnTo>
                    <a:pt x="f8" y="f14"/>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2" name="Freeform 42">
              <a:extLst>
                <a:ext uri="{FF2B5EF4-FFF2-40B4-BE49-F238E27FC236}">
                  <a16:creationId xmlns:a16="http://schemas.microsoft.com/office/drawing/2014/main" id="{520C6084-9A52-DEBC-2554-BB488E457C1D}"/>
                </a:ext>
              </a:extLst>
            </p:cNvPr>
            <p:cNvSpPr/>
            <p:nvPr/>
          </p:nvSpPr>
          <p:spPr>
            <a:xfrm>
              <a:off x="3875419"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2"/>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25"/>
                <a:gd name="f28" fmla="val 26"/>
                <a:gd name="f29" fmla="val 28"/>
                <a:gd name="f30" fmla="val 29"/>
                <a:gd name="f31" fmla="val 5"/>
                <a:gd name="f32" fmla="val 30"/>
                <a:gd name="f33" fmla="+- 0 0 -90"/>
                <a:gd name="f34" fmla="*/ f3 1 31"/>
                <a:gd name="f35" fmla="*/ f4 1 39"/>
                <a:gd name="f36" fmla="+- f7 0 f5"/>
                <a:gd name="f37" fmla="+- f6 0 f5"/>
                <a:gd name="f38" fmla="*/ f33 f0 1"/>
                <a:gd name="f39" fmla="*/ f37 1 31"/>
                <a:gd name="f40" fmla="*/ f36 1 39"/>
                <a:gd name="f41" fmla="*/ 23 f37 1"/>
                <a:gd name="f42" fmla="*/ 39 f36 1"/>
                <a:gd name="f43" fmla="*/ 17 f36 1"/>
                <a:gd name="f44" fmla="*/ 22 f37 1"/>
                <a:gd name="f45" fmla="*/ 9 f36 1"/>
                <a:gd name="f46" fmla="*/ 15 f37 1"/>
                <a:gd name="f47" fmla="*/ 7 f36 1"/>
                <a:gd name="f48" fmla="*/ 12 f37 1"/>
                <a:gd name="f49" fmla="*/ 10 f37 1"/>
                <a:gd name="f50" fmla="*/ 8 f37 1"/>
                <a:gd name="f51" fmla="*/ 12 f36 1"/>
                <a:gd name="f52" fmla="*/ 16 f36 1"/>
                <a:gd name="f53" fmla="*/ 0 f37 1"/>
                <a:gd name="f54" fmla="*/ 0 f36 1"/>
                <a:gd name="f55" fmla="*/ 4 f36 1"/>
                <a:gd name="f56" fmla="*/ 9 f37 1"/>
                <a:gd name="f57" fmla="*/ 2 f36 1"/>
                <a:gd name="f58" fmla="*/ 1 f36 1"/>
                <a:gd name="f59" fmla="*/ 14 f37 1"/>
                <a:gd name="f60" fmla="*/ 17 f37 1"/>
                <a:gd name="f61" fmla="*/ 28 f37 1"/>
                <a:gd name="f62" fmla="*/ 30 f37 1"/>
                <a:gd name="f63" fmla="*/ 31 f37 1"/>
                <a:gd name="f64" fmla="*/ f38 1 f2"/>
                <a:gd name="f65" fmla="*/ f41 1 31"/>
                <a:gd name="f66" fmla="*/ f42 1 39"/>
                <a:gd name="f67" fmla="*/ f43 1 39"/>
                <a:gd name="f68" fmla="*/ f44 1 31"/>
                <a:gd name="f69" fmla="*/ f45 1 39"/>
                <a:gd name="f70" fmla="*/ f46 1 31"/>
                <a:gd name="f71" fmla="*/ f47 1 39"/>
                <a:gd name="f72" fmla="*/ f48 1 31"/>
                <a:gd name="f73" fmla="*/ f49 1 31"/>
                <a:gd name="f74" fmla="*/ f50 1 31"/>
                <a:gd name="f75" fmla="*/ f51 1 39"/>
                <a:gd name="f76" fmla="*/ f52 1 39"/>
                <a:gd name="f77" fmla="*/ f53 1 31"/>
                <a:gd name="f78" fmla="*/ f54 1 39"/>
                <a:gd name="f79" fmla="*/ f55 1 39"/>
                <a:gd name="f80" fmla="*/ f56 1 31"/>
                <a:gd name="f81" fmla="*/ f57 1 39"/>
                <a:gd name="f82" fmla="*/ f58 1 39"/>
                <a:gd name="f83" fmla="*/ f59 1 31"/>
                <a:gd name="f84" fmla="*/ f60 1 31"/>
                <a:gd name="f85" fmla="*/ f61 1 31"/>
                <a:gd name="f86" fmla="*/ f62 1 31"/>
                <a:gd name="f87" fmla="*/ f63 1 31"/>
                <a:gd name="f88" fmla="*/ 0 1 f39"/>
                <a:gd name="f89" fmla="*/ f6 1 f39"/>
                <a:gd name="f90" fmla="*/ 0 1 f40"/>
                <a:gd name="f91" fmla="*/ f7 1 f40"/>
                <a:gd name="f92" fmla="+- f64 0 f1"/>
                <a:gd name="f93" fmla="*/ f65 1 f39"/>
                <a:gd name="f94" fmla="*/ f66 1 f40"/>
                <a:gd name="f95" fmla="*/ f67 1 f40"/>
                <a:gd name="f96" fmla="*/ f68 1 f39"/>
                <a:gd name="f97" fmla="*/ f69 1 f40"/>
                <a:gd name="f98" fmla="*/ f70 1 f39"/>
                <a:gd name="f99" fmla="*/ f71 1 f40"/>
                <a:gd name="f100" fmla="*/ f72 1 f39"/>
                <a:gd name="f101" fmla="*/ f73 1 f39"/>
                <a:gd name="f102" fmla="*/ f74 1 f39"/>
                <a:gd name="f103" fmla="*/ f75 1 f40"/>
                <a:gd name="f104" fmla="*/ f76 1 f40"/>
                <a:gd name="f105" fmla="*/ f77 1 f39"/>
                <a:gd name="f106" fmla="*/ f78 1 f40"/>
                <a:gd name="f107" fmla="*/ f79 1 f40"/>
                <a:gd name="f108" fmla="*/ f80 1 f39"/>
                <a:gd name="f109" fmla="*/ f81 1 f40"/>
                <a:gd name="f110" fmla="*/ f82 1 f40"/>
                <a:gd name="f111" fmla="*/ f83 1 f39"/>
                <a:gd name="f112" fmla="*/ f84 1 f39"/>
                <a:gd name="f113" fmla="*/ f85 1 f39"/>
                <a:gd name="f114" fmla="*/ f86 1 f39"/>
                <a:gd name="f115" fmla="*/ f87 1 f39"/>
                <a:gd name="f116" fmla="*/ f88 f34 1"/>
                <a:gd name="f117" fmla="*/ f89 f34 1"/>
                <a:gd name="f118" fmla="*/ f91 f35 1"/>
                <a:gd name="f119" fmla="*/ f90 f35 1"/>
                <a:gd name="f120" fmla="*/ f93 f34 1"/>
                <a:gd name="f121" fmla="*/ f94 f35 1"/>
                <a:gd name="f122" fmla="*/ f95 f35 1"/>
                <a:gd name="f123" fmla="*/ f96 f34 1"/>
                <a:gd name="f124" fmla="*/ f97 f35 1"/>
                <a:gd name="f125" fmla="*/ f98 f34 1"/>
                <a:gd name="f126" fmla="*/ f99 f35 1"/>
                <a:gd name="f127" fmla="*/ f100 f34 1"/>
                <a:gd name="f128" fmla="*/ f101 f34 1"/>
                <a:gd name="f129" fmla="*/ f102 f34 1"/>
                <a:gd name="f130" fmla="*/ f103 f35 1"/>
                <a:gd name="f131" fmla="*/ f104 f35 1"/>
                <a:gd name="f132" fmla="*/ f105 f34 1"/>
                <a:gd name="f133" fmla="*/ f106 f35 1"/>
                <a:gd name="f134" fmla="*/ f107 f35 1"/>
                <a:gd name="f135" fmla="*/ f108 f34 1"/>
                <a:gd name="f136" fmla="*/ f109 f35 1"/>
                <a:gd name="f137" fmla="*/ f110 f35 1"/>
                <a:gd name="f138" fmla="*/ f111 f34 1"/>
                <a:gd name="f139" fmla="*/ f112 f34 1"/>
                <a:gd name="f140" fmla="*/ f113 f34 1"/>
                <a:gd name="f141" fmla="*/ f114 f34 1"/>
                <a:gd name="f142" fmla="*/ f115 f34 1"/>
              </a:gdLst>
              <a:ahLst/>
              <a:cxnLst>
                <a:cxn ang="3cd4">
                  <a:pos x="hc" y="t"/>
                </a:cxn>
                <a:cxn ang="0">
                  <a:pos x="r" y="vc"/>
                </a:cxn>
                <a:cxn ang="cd4">
                  <a:pos x="hc" y="b"/>
                </a:cxn>
                <a:cxn ang="cd2">
                  <a:pos x="l" y="vc"/>
                </a:cxn>
                <a:cxn ang="f92">
                  <a:pos x="f120" y="f121"/>
                </a:cxn>
                <a:cxn ang="f92">
                  <a:pos x="f120" y="f122"/>
                </a:cxn>
                <a:cxn ang="f92">
                  <a:pos x="f123" y="f124"/>
                </a:cxn>
                <a:cxn ang="f92">
                  <a:pos x="f125" y="f126"/>
                </a:cxn>
                <a:cxn ang="f92">
                  <a:pos x="f127" y="f126"/>
                </a:cxn>
                <a:cxn ang="f92">
                  <a:pos x="f128" y="f124"/>
                </a:cxn>
                <a:cxn ang="f92">
                  <a:pos x="f129" y="f130"/>
                </a:cxn>
                <a:cxn ang="f92">
                  <a:pos x="f129" y="f131"/>
                </a:cxn>
                <a:cxn ang="f92">
                  <a:pos x="f129" y="f121"/>
                </a:cxn>
                <a:cxn ang="f92">
                  <a:pos x="f132" y="f121"/>
                </a:cxn>
                <a:cxn ang="f92">
                  <a:pos x="f132" y="f133"/>
                </a:cxn>
                <a:cxn ang="f92">
                  <a:pos x="f129" y="f133"/>
                </a:cxn>
                <a:cxn ang="f92">
                  <a:pos x="f129" y="f134"/>
                </a:cxn>
                <a:cxn ang="f92">
                  <a:pos x="f135" y="f136"/>
                </a:cxn>
                <a:cxn ang="f92">
                  <a:pos x="f127" y="f137"/>
                </a:cxn>
                <a:cxn ang="f92">
                  <a:pos x="f138" y="f133"/>
                </a:cxn>
                <a:cxn ang="f92">
                  <a:pos x="f139" y="f133"/>
                </a:cxn>
                <a:cxn ang="f92">
                  <a:pos x="f120" y="f137"/>
                </a:cxn>
                <a:cxn ang="f92">
                  <a:pos x="f140" y="f134"/>
                </a:cxn>
                <a:cxn ang="f92">
                  <a:pos x="f141" y="f124"/>
                </a:cxn>
                <a:cxn ang="f92">
                  <a:pos x="f142" y="f122"/>
                </a:cxn>
                <a:cxn ang="f92">
                  <a:pos x="f142" y="f121"/>
                </a:cxn>
                <a:cxn ang="f92">
                  <a:pos x="f120" y="f121"/>
                </a:cxn>
              </a:cxnLst>
              <a:rect l="f116" t="f119" r="f117" b="f118"/>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21" y="f13"/>
                  </a:cubicBezTo>
                  <a:cubicBezTo>
                    <a:pt x="f13" y="f21"/>
                    <a:pt x="f20" y="f11"/>
                    <a:pt x="f20" y="f19"/>
                  </a:cubicBezTo>
                  <a:cubicBezTo>
                    <a:pt x="f20" y="f10"/>
                    <a:pt x="f20" y="f17"/>
                    <a:pt x="f20" y="f22"/>
                  </a:cubicBezTo>
                  <a:cubicBezTo>
                    <a:pt x="f20" y="f7"/>
                    <a:pt x="f20" y="f7"/>
                    <a:pt x="f20" y="f7"/>
                  </a:cubicBezTo>
                  <a:cubicBezTo>
                    <a:pt x="f5" y="f7"/>
                    <a:pt x="f5" y="f7"/>
                    <a:pt x="f5" y="f7"/>
                  </a:cubicBezTo>
                  <a:cubicBezTo>
                    <a:pt x="f5" y="f5"/>
                    <a:pt x="f5" y="f5"/>
                    <a:pt x="f5" y="f5"/>
                  </a:cubicBezTo>
                  <a:cubicBezTo>
                    <a:pt x="f20" y="f5"/>
                    <a:pt x="f20" y="f5"/>
                    <a:pt x="f20" y="f5"/>
                  </a:cubicBezTo>
                  <a:cubicBezTo>
                    <a:pt x="f20" y="f23"/>
                    <a:pt x="f20" y="f23"/>
                    <a:pt x="f20" y="f23"/>
                  </a:cubicBezTo>
                  <a:cubicBezTo>
                    <a:pt x="f20" y="f24"/>
                    <a:pt x="f13" y="f24"/>
                    <a:pt x="f13" y="f25"/>
                  </a:cubicBezTo>
                  <a:cubicBezTo>
                    <a:pt x="f21" y="f25"/>
                    <a:pt x="f11" y="f26"/>
                    <a:pt x="f19" y="f26"/>
                  </a:cubicBezTo>
                  <a:cubicBezTo>
                    <a:pt x="f19" y="f5"/>
                    <a:pt x="f18" y="f5"/>
                    <a:pt x="f10" y="f5"/>
                  </a:cubicBezTo>
                  <a:cubicBezTo>
                    <a:pt x="f17" y="f5"/>
                    <a:pt x="f22" y="f5"/>
                    <a:pt x="f9" y="f5"/>
                  </a:cubicBezTo>
                  <a:cubicBezTo>
                    <a:pt x="f14" y="f5"/>
                    <a:pt x="f12" y="f5"/>
                    <a:pt x="f8" y="f26"/>
                  </a:cubicBezTo>
                  <a:cubicBezTo>
                    <a:pt x="f27" y="f26"/>
                    <a:pt x="f28" y="f25"/>
                    <a:pt x="f29" y="f23"/>
                  </a:cubicBezTo>
                  <a:cubicBezTo>
                    <a:pt x="f30" y="f31"/>
                    <a:pt x="f30" y="f15"/>
                    <a:pt x="f32" y="f13"/>
                  </a:cubicBezTo>
                  <a:cubicBezTo>
                    <a:pt x="f6"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3" name="Freeform 43">
              <a:extLst>
                <a:ext uri="{FF2B5EF4-FFF2-40B4-BE49-F238E27FC236}">
                  <a16:creationId xmlns:a16="http://schemas.microsoft.com/office/drawing/2014/main" id="{BFDA7324-69AE-F047-3543-3C1436709188}"/>
                </a:ext>
              </a:extLst>
            </p:cNvPr>
            <p:cNvSpPr/>
            <p:nvPr/>
          </p:nvSpPr>
          <p:spPr>
            <a:xfrm>
              <a:off x="3973013"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2"/>
                <a:gd name="f22" fmla="val 11"/>
                <a:gd name="f23" fmla="val 9"/>
                <a:gd name="f24" fmla="val 13"/>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3"/>
                <a:gd name="f42" fmla="val 5"/>
                <a:gd name="f43" fmla="val 31"/>
                <a:gd name="f44" fmla="val 3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2 f49 1"/>
                <a:gd name="f66" fmla="*/ 13 f50 1"/>
                <a:gd name="f67" fmla="*/ 14 f49 1"/>
                <a:gd name="f68" fmla="*/ 16 f50 1"/>
                <a:gd name="f69" fmla="*/ 15 f49 1"/>
                <a:gd name="f70" fmla="*/ 22 f50 1"/>
                <a:gd name="f71" fmla="*/ 18 f49 1"/>
                <a:gd name="f72" fmla="*/ 26 f50 1"/>
                <a:gd name="f73" fmla="*/ 20 f49 1"/>
                <a:gd name="f74" fmla="*/ 24 f49 1"/>
                <a:gd name="f75" fmla="*/ 29 f50 1"/>
                <a:gd name="f76" fmla="*/ 28 f49 1"/>
                <a:gd name="f77" fmla="*/ 34 f49 1"/>
                <a:gd name="f78" fmla="*/ 25 f50 1"/>
                <a:gd name="f79" fmla="*/ 37 f49 1"/>
                <a:gd name="f80" fmla="*/ 39 f49 1"/>
                <a:gd name="f81" fmla="*/ 15 f50 1"/>
                <a:gd name="f82" fmla="*/ 40 f49 1"/>
                <a:gd name="f83" fmla="*/ 7 f50 1"/>
                <a:gd name="f84" fmla="*/ 38 f49 1"/>
                <a:gd name="f85" fmla="*/ 0 f50 1"/>
                <a:gd name="f86" fmla="*/ 35 f49 1"/>
                <a:gd name="f87" fmla="*/ 3 f50 1"/>
                <a:gd name="f88" fmla="*/ 29 f49 1"/>
                <a:gd name="f89" fmla="*/ 32 f49 1"/>
                <a:gd name="f90" fmla="*/ 33 f49 1"/>
                <a:gd name="f91" fmla="*/ 21 f50 1"/>
                <a:gd name="f92" fmla="*/ 27 f49 1"/>
                <a:gd name="f93" fmla="*/ 19 f50 1"/>
                <a:gd name="f94" fmla="*/ 25 f49 1"/>
                <a:gd name="f95" fmla="*/ 22 f49 1"/>
                <a:gd name="f96" fmla="*/ 4 f50 1"/>
                <a:gd name="f97" fmla="*/ 17 f49 1"/>
                <a:gd name="f98" fmla="*/ 2 f50 1"/>
                <a:gd name="f99" fmla="*/ 1 f50 1"/>
                <a:gd name="f100" fmla="*/ 5 f49 1"/>
                <a:gd name="f101" fmla="*/ 5 f50 1"/>
                <a:gd name="f102" fmla="*/ 2 f49 1"/>
                <a:gd name="f103" fmla="*/ 0 f49 1"/>
                <a:gd name="f104" fmla="*/ 1 f49 1"/>
                <a:gd name="f105" fmla="*/ f51 1 f2"/>
                <a:gd name="f106" fmla="*/ f54 1 29"/>
                <a:gd name="f107" fmla="*/ f55 1 40"/>
                <a:gd name="f108" fmla="*/ f56 1 29"/>
                <a:gd name="f109" fmla="*/ f57 1 40"/>
                <a:gd name="f110" fmla="*/ f58 1 29"/>
                <a:gd name="f111" fmla="*/ f59 1 40"/>
                <a:gd name="f112" fmla="*/ f60 1 29"/>
                <a:gd name="f113" fmla="*/ f61 1 40"/>
                <a:gd name="f114" fmla="*/ f62 1 29"/>
                <a:gd name="f115" fmla="*/ f63 1 29"/>
                <a:gd name="f116" fmla="*/ f64 1 40"/>
                <a:gd name="f117" fmla="*/ f65 1 40"/>
                <a:gd name="f118" fmla="*/ f66 1 29"/>
                <a:gd name="f119" fmla="*/ f67 1 40"/>
                <a:gd name="f120" fmla="*/ f68 1 29"/>
                <a:gd name="f121" fmla="*/ f69 1 40"/>
                <a:gd name="f122" fmla="*/ f70 1 29"/>
                <a:gd name="f123" fmla="*/ f71 1 40"/>
                <a:gd name="f124" fmla="*/ f72 1 29"/>
                <a:gd name="f125" fmla="*/ f73 1 40"/>
                <a:gd name="f126" fmla="*/ f74 1 40"/>
                <a:gd name="f127" fmla="*/ f75 1 29"/>
                <a:gd name="f128" fmla="*/ f76 1 40"/>
                <a:gd name="f129" fmla="*/ f77 1 40"/>
                <a:gd name="f130" fmla="*/ f78 1 29"/>
                <a:gd name="f131" fmla="*/ f79 1 40"/>
                <a:gd name="f132" fmla="*/ f80 1 40"/>
                <a:gd name="f133" fmla="*/ f81 1 29"/>
                <a:gd name="f134" fmla="*/ f82 1 40"/>
                <a:gd name="f135" fmla="*/ f83 1 29"/>
                <a:gd name="f136" fmla="*/ f84 1 40"/>
                <a:gd name="f137" fmla="*/ f85 1 29"/>
                <a:gd name="f138" fmla="*/ f86 1 40"/>
                <a:gd name="f139" fmla="*/ f87 1 29"/>
                <a:gd name="f140" fmla="*/ f88 1 40"/>
                <a:gd name="f141" fmla="*/ f89 1 40"/>
                <a:gd name="f142" fmla="*/ f90 1 40"/>
                <a:gd name="f143" fmla="*/ f91 1 29"/>
                <a:gd name="f144" fmla="*/ f92 1 40"/>
                <a:gd name="f145" fmla="*/ f93 1 29"/>
                <a:gd name="f146" fmla="*/ f94 1 40"/>
                <a:gd name="f147" fmla="*/ f95 1 40"/>
                <a:gd name="f148" fmla="*/ f96 1 29"/>
                <a:gd name="f149" fmla="*/ f97 1 40"/>
                <a:gd name="f150" fmla="*/ f98 1 29"/>
                <a:gd name="f151" fmla="*/ f99 1 29"/>
                <a:gd name="f152" fmla="*/ f100 1 40"/>
                <a:gd name="f153" fmla="*/ f101 1 29"/>
                <a:gd name="f154" fmla="*/ f102 1 40"/>
                <a:gd name="f155" fmla="*/ f103 1 40"/>
                <a:gd name="f156" fmla="*/ f104 1 40"/>
                <a:gd name="f157" fmla="*/ 0 1 f52"/>
                <a:gd name="f158" fmla="*/ f6 1 f52"/>
                <a:gd name="f159" fmla="*/ 0 1 f53"/>
                <a:gd name="f160" fmla="*/ f7 1 f53"/>
                <a:gd name="f161" fmla="+- f105 0 f1"/>
                <a:gd name="f162" fmla="*/ f106 1 f52"/>
                <a:gd name="f163" fmla="*/ f107 1 f53"/>
                <a:gd name="f164" fmla="*/ f108 1 f52"/>
                <a:gd name="f165" fmla="*/ f109 1 f53"/>
                <a:gd name="f166" fmla="*/ f110 1 f52"/>
                <a:gd name="f167" fmla="*/ f111 1 f53"/>
                <a:gd name="f168" fmla="*/ f112 1 f52"/>
                <a:gd name="f169" fmla="*/ f113 1 f53"/>
                <a:gd name="f170" fmla="*/ f114 1 f52"/>
                <a:gd name="f171" fmla="*/ f115 1 f52"/>
                <a:gd name="f172" fmla="*/ f116 1 f53"/>
                <a:gd name="f173" fmla="*/ f117 1 f53"/>
                <a:gd name="f174" fmla="*/ f118 1 f52"/>
                <a:gd name="f175" fmla="*/ f119 1 f53"/>
                <a:gd name="f176" fmla="*/ f120 1 f52"/>
                <a:gd name="f177" fmla="*/ f121 1 f53"/>
                <a:gd name="f178" fmla="*/ f122 1 f52"/>
                <a:gd name="f179" fmla="*/ f123 1 f53"/>
                <a:gd name="f180" fmla="*/ f124 1 f52"/>
                <a:gd name="f181" fmla="*/ f125 1 f53"/>
                <a:gd name="f182" fmla="*/ f126 1 f53"/>
                <a:gd name="f183" fmla="*/ f127 1 f52"/>
                <a:gd name="f184" fmla="*/ f128 1 f53"/>
                <a:gd name="f185" fmla="*/ f129 1 f53"/>
                <a:gd name="f186" fmla="*/ f130 1 f52"/>
                <a:gd name="f187" fmla="*/ f131 1 f53"/>
                <a:gd name="f188" fmla="*/ f132 1 f53"/>
                <a:gd name="f189" fmla="*/ f133 1 f52"/>
                <a:gd name="f190" fmla="*/ f134 1 f53"/>
                <a:gd name="f191" fmla="*/ f135 1 f52"/>
                <a:gd name="f192" fmla="*/ f136 1 f53"/>
                <a:gd name="f193" fmla="*/ f137 1 f52"/>
                <a:gd name="f194" fmla="*/ f138 1 f53"/>
                <a:gd name="f195" fmla="*/ f139 1 f52"/>
                <a:gd name="f196" fmla="*/ f140 1 f53"/>
                <a:gd name="f197" fmla="*/ f141 1 f53"/>
                <a:gd name="f198" fmla="*/ f142 1 f53"/>
                <a:gd name="f199" fmla="*/ f143 1 f52"/>
                <a:gd name="f200" fmla="*/ f144 1 f53"/>
                <a:gd name="f201" fmla="*/ f145 1 f52"/>
                <a:gd name="f202" fmla="*/ f146 1 f53"/>
                <a:gd name="f203" fmla="*/ f147 1 f53"/>
                <a:gd name="f204" fmla="*/ f148 1 f52"/>
                <a:gd name="f205" fmla="*/ f149 1 f53"/>
                <a:gd name="f206" fmla="*/ f150 1 f52"/>
                <a:gd name="f207" fmla="*/ f151 1 f52"/>
                <a:gd name="f208" fmla="*/ f152 1 f53"/>
                <a:gd name="f209" fmla="*/ f153 1 f52"/>
                <a:gd name="f210" fmla="*/ f154 1 f53"/>
                <a:gd name="f211" fmla="*/ f155 1 f53"/>
                <a:gd name="f212" fmla="*/ f156 1 f53"/>
                <a:gd name="f213" fmla="*/ f157 f47 1"/>
                <a:gd name="f214" fmla="*/ f158 f47 1"/>
                <a:gd name="f215" fmla="*/ f160 f48 1"/>
                <a:gd name="f216" fmla="*/ f159 f48 1"/>
                <a:gd name="f217" fmla="*/ f162 f47 1"/>
                <a:gd name="f218" fmla="*/ f163 f48 1"/>
                <a:gd name="f219" fmla="*/ f164 f47 1"/>
                <a:gd name="f220" fmla="*/ f165 f48 1"/>
                <a:gd name="f221" fmla="*/ f166 f47 1"/>
                <a:gd name="f222" fmla="*/ f167 f48 1"/>
                <a:gd name="f223" fmla="*/ f168 f47 1"/>
                <a:gd name="f224" fmla="*/ f169 f48 1"/>
                <a:gd name="f225" fmla="*/ f170 f47 1"/>
                <a:gd name="f226" fmla="*/ f171 f47 1"/>
                <a:gd name="f227" fmla="*/ f172 f48 1"/>
                <a:gd name="f228" fmla="*/ f173 f48 1"/>
                <a:gd name="f229" fmla="*/ f174 f47 1"/>
                <a:gd name="f230" fmla="*/ f175 f48 1"/>
                <a:gd name="f231" fmla="*/ f176 f47 1"/>
                <a:gd name="f232" fmla="*/ f177 f48 1"/>
                <a:gd name="f233" fmla="*/ f178 f47 1"/>
                <a:gd name="f234" fmla="*/ f179 f48 1"/>
                <a:gd name="f235" fmla="*/ f180 f47 1"/>
                <a:gd name="f236" fmla="*/ f181 f48 1"/>
                <a:gd name="f237" fmla="*/ f182 f48 1"/>
                <a:gd name="f238" fmla="*/ f183 f47 1"/>
                <a:gd name="f239" fmla="*/ f184 f48 1"/>
                <a:gd name="f240" fmla="*/ f185 f48 1"/>
                <a:gd name="f241" fmla="*/ f186 f47 1"/>
                <a:gd name="f242" fmla="*/ f187 f48 1"/>
                <a:gd name="f243" fmla="*/ f188 f48 1"/>
                <a:gd name="f244" fmla="*/ f189 f47 1"/>
                <a:gd name="f245" fmla="*/ f190 f48 1"/>
                <a:gd name="f246" fmla="*/ f191 f47 1"/>
                <a:gd name="f247" fmla="*/ f192 f48 1"/>
                <a:gd name="f248" fmla="*/ f193 f47 1"/>
                <a:gd name="f249" fmla="*/ f194 f48 1"/>
                <a:gd name="f250" fmla="*/ f195 f47 1"/>
                <a:gd name="f251" fmla="*/ f196 f48 1"/>
                <a:gd name="f252" fmla="*/ f197 f48 1"/>
                <a:gd name="f253" fmla="*/ f198 f48 1"/>
                <a:gd name="f254" fmla="*/ f199 f47 1"/>
                <a:gd name="f255" fmla="*/ f200 f48 1"/>
                <a:gd name="f256" fmla="*/ f201 f47 1"/>
                <a:gd name="f257" fmla="*/ f202 f48 1"/>
                <a:gd name="f258" fmla="*/ f203 f48 1"/>
                <a:gd name="f259" fmla="*/ f204 f47 1"/>
                <a:gd name="f260" fmla="*/ f205 f48 1"/>
                <a:gd name="f261" fmla="*/ f206 f47 1"/>
                <a:gd name="f262" fmla="*/ f207 f47 1"/>
                <a:gd name="f263" fmla="*/ f208 f48 1"/>
                <a:gd name="f264" fmla="*/ f209 f47 1"/>
                <a:gd name="f265" fmla="*/ f210 f48 1"/>
                <a:gd name="f266" fmla="*/ f211 f48 1"/>
                <a:gd name="f267" fmla="*/ f212 f48 1"/>
              </a:gdLst>
              <a:ahLst/>
              <a:cxnLst>
                <a:cxn ang="3cd4">
                  <a:pos x="hc" y="t"/>
                </a:cxn>
                <a:cxn ang="0">
                  <a:pos x="r" y="vc"/>
                </a:cxn>
                <a:cxn ang="cd4">
                  <a:pos x="hc" y="b"/>
                </a:cxn>
                <a:cxn ang="cd2">
                  <a:pos x="l" y="vc"/>
                </a:cxn>
                <a:cxn ang="f161">
                  <a:pos x="f217" y="f218"/>
                </a:cxn>
                <a:cxn ang="f161">
                  <a:pos x="f219" y="f220"/>
                </a:cxn>
                <a:cxn ang="f161">
                  <a:pos x="f221" y="f222"/>
                </a:cxn>
                <a:cxn ang="f161">
                  <a:pos x="f223" y="f224"/>
                </a:cxn>
                <a:cxn ang="f161">
                  <a:pos x="f225" y="f222"/>
                </a:cxn>
                <a:cxn ang="f161">
                  <a:pos x="f226" y="f220"/>
                </a:cxn>
                <a:cxn ang="f161">
                  <a:pos x="f226" y="f227"/>
                </a:cxn>
                <a:cxn ang="f161">
                  <a:pos x="f225" y="f228"/>
                </a:cxn>
                <a:cxn ang="f161">
                  <a:pos x="f229" y="f230"/>
                </a:cxn>
                <a:cxn ang="f161">
                  <a:pos x="f231" y="f232"/>
                </a:cxn>
                <a:cxn ang="f161">
                  <a:pos x="f233" y="f234"/>
                </a:cxn>
                <a:cxn ang="f161">
                  <a:pos x="f235" y="f236"/>
                </a:cxn>
                <a:cxn ang="f161">
                  <a:pos x="f217" y="f237"/>
                </a:cxn>
                <a:cxn ang="f161">
                  <a:pos x="f238" y="f239"/>
                </a:cxn>
                <a:cxn ang="f161">
                  <a:pos x="f217" y="f240"/>
                </a:cxn>
                <a:cxn ang="f161">
                  <a:pos x="f241" y="f242"/>
                </a:cxn>
                <a:cxn ang="f161">
                  <a:pos x="f221" y="f243"/>
                </a:cxn>
                <a:cxn ang="f161">
                  <a:pos x="f244" y="f245"/>
                </a:cxn>
                <a:cxn ang="f161">
                  <a:pos x="f246" y="f247"/>
                </a:cxn>
                <a:cxn ang="f161">
                  <a:pos x="f248" y="f249"/>
                </a:cxn>
                <a:cxn ang="f161">
                  <a:pos x="f250" y="f251"/>
                </a:cxn>
                <a:cxn ang="f161">
                  <a:pos x="f226" y="f252"/>
                </a:cxn>
                <a:cxn ang="f161">
                  <a:pos x="f244" y="f253"/>
                </a:cxn>
                <a:cxn ang="f161">
                  <a:pos x="f221" y="f252"/>
                </a:cxn>
                <a:cxn ang="f161">
                  <a:pos x="f233" y="f251"/>
                </a:cxn>
                <a:cxn ang="f161">
                  <a:pos x="f254" y="f255"/>
                </a:cxn>
                <a:cxn ang="f161">
                  <a:pos x="f256" y="f257"/>
                </a:cxn>
                <a:cxn ang="f161">
                  <a:pos x="f231" y="f237"/>
                </a:cxn>
                <a:cxn ang="f161">
                  <a:pos x="f229" y="f258"/>
                </a:cxn>
                <a:cxn ang="f161">
                  <a:pos x="f246" y="f236"/>
                </a:cxn>
                <a:cxn ang="f161">
                  <a:pos x="f259" y="f260"/>
                </a:cxn>
                <a:cxn ang="f161">
                  <a:pos x="f261" y="f230"/>
                </a:cxn>
                <a:cxn ang="f161">
                  <a:pos x="f262" y="f220"/>
                </a:cxn>
                <a:cxn ang="f161">
                  <a:pos x="f261" y="f263"/>
                </a:cxn>
                <a:cxn ang="f161">
                  <a:pos x="f264" y="f265"/>
                </a:cxn>
                <a:cxn ang="f161">
                  <a:pos x="f226" y="f266"/>
                </a:cxn>
                <a:cxn ang="f161">
                  <a:pos x="f244" y="f266"/>
                </a:cxn>
                <a:cxn ang="f161">
                  <a:pos x="f233" y="f267"/>
                </a:cxn>
                <a:cxn ang="f161">
                  <a:pos x="f217" y="f218"/>
                </a:cxn>
              </a:cxnLst>
              <a:rect l="f213" t="f216" r="f214" b="f215"/>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23" y="f13"/>
                    <a:pt x="f23" y="f23"/>
                    <a:pt x="f23" y="f11"/>
                  </a:cubicBezTo>
                  <a:cubicBezTo>
                    <a:pt x="f23" y="f11"/>
                    <a:pt x="f23" y="f22"/>
                    <a:pt x="f23" y="f22"/>
                  </a:cubicBezTo>
                  <a:cubicBezTo>
                    <a:pt x="f11" y="f21"/>
                    <a:pt x="f11" y="f21"/>
                    <a:pt x="f11" y="f21"/>
                  </a:cubicBezTo>
                  <a:cubicBezTo>
                    <a:pt x="f22" y="f24"/>
                    <a:pt x="f21" y="f24"/>
                    <a:pt x="f24"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1" y="f7"/>
                    <a:pt x="f11" y="f39"/>
                    <a:pt x="f16" y="f38"/>
                  </a:cubicBezTo>
                  <a:cubicBezTo>
                    <a:pt x="f9" y="f37"/>
                    <a:pt x="f40" y="f36"/>
                    <a:pt x="f5" y="f35"/>
                  </a:cubicBezTo>
                  <a:cubicBezTo>
                    <a:pt x="f41" y="f6"/>
                    <a:pt x="f41" y="f6"/>
                    <a:pt x="f41" y="f6"/>
                  </a:cubicBezTo>
                  <a:cubicBezTo>
                    <a:pt x="f42" y="f32"/>
                    <a:pt x="f16" y="f43"/>
                    <a:pt x="f23" y="f33"/>
                  </a:cubicBezTo>
                  <a:cubicBezTo>
                    <a:pt x="f22" y="f33"/>
                    <a:pt x="f24" y="f44"/>
                    <a:pt x="f25" y="f44"/>
                  </a:cubicBezTo>
                  <a:cubicBezTo>
                    <a:pt x="f26" y="f44"/>
                    <a:pt x="f28" y="f33"/>
                    <a:pt x="f15" y="f33"/>
                  </a:cubicBezTo>
                  <a:cubicBezTo>
                    <a:pt x="f14" y="f43"/>
                    <a:pt x="f27" y="f32"/>
                    <a:pt x="f27" y="f6"/>
                  </a:cubicBezTo>
                  <a:cubicBezTo>
                    <a:pt x="f27" y="f8"/>
                    <a:pt x="f14" y="f31"/>
                    <a:pt x="f14" y="f31"/>
                  </a:cubicBezTo>
                  <a:cubicBezTo>
                    <a:pt x="f14" y="f30"/>
                    <a:pt x="f15" y="f29"/>
                    <a:pt x="f28" y="f29"/>
                  </a:cubicBezTo>
                  <a:cubicBezTo>
                    <a:pt x="f17" y="f29"/>
                    <a:pt x="f17" y="f10"/>
                    <a:pt x="f18" y="f10"/>
                  </a:cubicBezTo>
                  <a:cubicBezTo>
                    <a:pt x="f25" y="f12"/>
                    <a:pt x="f20" y="f12"/>
                    <a:pt x="f24" y="f27"/>
                  </a:cubicBezTo>
                  <a:cubicBezTo>
                    <a:pt x="f22" y="f14"/>
                    <a:pt x="f23" y="f15"/>
                    <a:pt x="f16" y="f15"/>
                  </a:cubicBezTo>
                  <a:cubicBezTo>
                    <a:pt x="f19" y="f28"/>
                    <a:pt x="f42" y="f17"/>
                    <a:pt x="f9" y="f26"/>
                  </a:cubicBezTo>
                  <a:cubicBezTo>
                    <a:pt x="f41" y="f18"/>
                    <a:pt x="f40" y="f25"/>
                    <a:pt x="f40" y="f20"/>
                  </a:cubicBezTo>
                  <a:cubicBezTo>
                    <a:pt x="f40" y="f24"/>
                    <a:pt x="f45" y="f21"/>
                    <a:pt x="f45" y="f11"/>
                  </a:cubicBezTo>
                  <a:cubicBezTo>
                    <a:pt x="f45" y="f13"/>
                    <a:pt x="f40" y="f16"/>
                    <a:pt x="f40" y="f42"/>
                  </a:cubicBezTo>
                  <a:cubicBezTo>
                    <a:pt x="f41" y="f9"/>
                    <a:pt x="f9" y="f41"/>
                    <a:pt x="f42" y="f40"/>
                  </a:cubicBezTo>
                  <a:cubicBezTo>
                    <a:pt x="f19" y="f45"/>
                    <a:pt x="f13" y="f45"/>
                    <a:pt x="f23" y="f5"/>
                  </a:cubicBezTo>
                  <a:cubicBezTo>
                    <a:pt x="f22" y="f5"/>
                    <a:pt x="f24" y="f5"/>
                    <a:pt x="f25" y="f5"/>
                  </a:cubicBezTo>
                  <a:cubicBezTo>
                    <a:pt x="f26" y="f5"/>
                    <a:pt x="f28" y="f5"/>
                    <a:pt x="f27" y="f45"/>
                  </a:cubicBezTo>
                  <a:cubicBezTo>
                    <a:pt x="f10" y="f40"/>
                    <a:pt x="f30" y="f41"/>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4" name="Freeform 44">
              <a:extLst>
                <a:ext uri="{FF2B5EF4-FFF2-40B4-BE49-F238E27FC236}">
                  <a16:creationId xmlns:a16="http://schemas.microsoft.com/office/drawing/2014/main" id="{EE4E6589-87DF-A423-F1C6-E860EFAAEF2F}"/>
                </a:ext>
              </a:extLst>
            </p:cNvPr>
            <p:cNvSpPr/>
            <p:nvPr/>
          </p:nvSpPr>
          <p:spPr>
            <a:xfrm>
              <a:off x="4056671" y="6088166"/>
              <a:ext cx="121999" cy="99395"/>
            </a:xfrm>
            <a:custGeom>
              <a:avLst/>
              <a:gdLst>
                <a:gd name="f0" fmla="val 10800000"/>
                <a:gd name="f1" fmla="val 5400000"/>
                <a:gd name="f2" fmla="val 180"/>
                <a:gd name="f3" fmla="val w"/>
                <a:gd name="f4" fmla="val h"/>
                <a:gd name="f5" fmla="val 0"/>
                <a:gd name="f6" fmla="val 70"/>
                <a:gd name="f7" fmla="val 57"/>
                <a:gd name="f8" fmla="val 55"/>
                <a:gd name="f9" fmla="val 45"/>
                <a:gd name="f10" fmla="val 35"/>
                <a:gd name="f11" fmla="val 17"/>
                <a:gd name="f12" fmla="val 25"/>
                <a:gd name="f13" fmla="val 14"/>
                <a:gd name="f14" fmla="val 10"/>
                <a:gd name="f15" fmla="val 20"/>
                <a:gd name="f16" fmla="val 39"/>
                <a:gd name="f17" fmla="val 30"/>
                <a:gd name="f18" fmla="val 49"/>
                <a:gd name="f19" fmla="val 60"/>
                <a:gd name="f20" fmla="+- 0 0 -90"/>
                <a:gd name="f21" fmla="*/ f3 1 70"/>
                <a:gd name="f22" fmla="*/ f4 1 57"/>
                <a:gd name="f23" fmla="+- f7 0 f5"/>
                <a:gd name="f24" fmla="+- f6 0 f5"/>
                <a:gd name="f25" fmla="*/ f20 f0 1"/>
                <a:gd name="f26" fmla="*/ f24 1 70"/>
                <a:gd name="f27" fmla="*/ f23 1 57"/>
                <a:gd name="f28" fmla="*/ 55 f24 1"/>
                <a:gd name="f29" fmla="*/ 57 f23 1"/>
                <a:gd name="f30" fmla="*/ 45 f24 1"/>
                <a:gd name="f31" fmla="*/ 35 f24 1"/>
                <a:gd name="f32" fmla="*/ 17 f23 1"/>
                <a:gd name="f33" fmla="*/ 25 f24 1"/>
                <a:gd name="f34" fmla="*/ 14 f24 1"/>
                <a:gd name="f35" fmla="*/ 0 f24 1"/>
                <a:gd name="f36" fmla="*/ 0 f23 1"/>
                <a:gd name="f37" fmla="*/ 10 f24 1"/>
                <a:gd name="f38" fmla="*/ 20 f24 1"/>
                <a:gd name="f39" fmla="*/ 39 f23 1"/>
                <a:gd name="f40" fmla="*/ 30 f24 1"/>
                <a:gd name="f41" fmla="*/ 39 f24 1"/>
                <a:gd name="f42" fmla="*/ 49 f24 1"/>
                <a:gd name="f43" fmla="*/ 60 f24 1"/>
                <a:gd name="f44" fmla="*/ 70 f24 1"/>
                <a:gd name="f45" fmla="*/ f25 1 f2"/>
                <a:gd name="f46" fmla="*/ f28 1 70"/>
                <a:gd name="f47" fmla="*/ f29 1 57"/>
                <a:gd name="f48" fmla="*/ f30 1 70"/>
                <a:gd name="f49" fmla="*/ f31 1 70"/>
                <a:gd name="f50" fmla="*/ f32 1 57"/>
                <a:gd name="f51" fmla="*/ f33 1 70"/>
                <a:gd name="f52" fmla="*/ f34 1 70"/>
                <a:gd name="f53" fmla="*/ f35 1 70"/>
                <a:gd name="f54" fmla="*/ f36 1 57"/>
                <a:gd name="f55" fmla="*/ f37 1 70"/>
                <a:gd name="f56" fmla="*/ f38 1 70"/>
                <a:gd name="f57" fmla="*/ f39 1 57"/>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7">
                  <a:moveTo>
                    <a:pt x="f8" y="f7"/>
                  </a:moveTo>
                  <a:lnTo>
                    <a:pt x="f9" y="f7"/>
                  </a:lnTo>
                  <a:lnTo>
                    <a:pt x="f10" y="f11"/>
                  </a:lnTo>
                  <a:lnTo>
                    <a:pt x="f12" y="f7"/>
                  </a:lnTo>
                  <a:lnTo>
                    <a:pt x="f13" y="f7"/>
                  </a:lnTo>
                  <a:lnTo>
                    <a:pt x="f5" y="f5"/>
                  </a:lnTo>
                  <a:lnTo>
                    <a:pt x="f14" y="f5"/>
                  </a:lnTo>
                  <a:lnTo>
                    <a:pt x="f15" y="f16"/>
                  </a:lnTo>
                  <a:lnTo>
                    <a:pt x="f17" y="f5"/>
                  </a:lnTo>
                  <a:lnTo>
                    <a:pt x="f16" y="f5"/>
                  </a:lnTo>
                  <a:lnTo>
                    <a:pt x="f18" y="f16"/>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5" name="Freeform 45">
              <a:extLst>
                <a:ext uri="{FF2B5EF4-FFF2-40B4-BE49-F238E27FC236}">
                  <a16:creationId xmlns:a16="http://schemas.microsoft.com/office/drawing/2014/main" id="{0BA48A95-B544-0164-93E4-ED4E52327D7A}"/>
                </a:ext>
              </a:extLst>
            </p:cNvPr>
            <p:cNvSpPr/>
            <p:nvPr/>
          </p:nvSpPr>
          <p:spPr>
            <a:xfrm>
              <a:off x="4189122"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33"/>
                <a:gd name="f135" fmla="*/ f84 1 40"/>
                <a:gd name="f136" fmla="*/ f85 1 33"/>
                <a:gd name="f137" fmla="*/ f86 1 33"/>
                <a:gd name="f138" fmla="*/ f87 1 40"/>
                <a:gd name="f139" fmla="*/ f88 1 33"/>
                <a:gd name="f140" fmla="*/ f89 1 40"/>
                <a:gd name="f141" fmla="*/ f90 1 40"/>
                <a:gd name="f142" fmla="*/ f91 1 40"/>
                <a:gd name="f143" fmla="*/ f92 1 33"/>
                <a:gd name="f144" fmla="*/ f93 1 40"/>
                <a:gd name="f145" fmla="*/ f94 1 40"/>
                <a:gd name="f146" fmla="*/ f95 1 33"/>
                <a:gd name="f147" fmla="*/ f96 1 33"/>
                <a:gd name="f148" fmla="*/ f97 1 40"/>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2"/>
                <a:gd name="f190" fmla="*/ f135 1 f53"/>
                <a:gd name="f191" fmla="*/ f136 1 f52"/>
                <a:gd name="f192" fmla="*/ f137 1 f52"/>
                <a:gd name="f193" fmla="*/ f138 1 f53"/>
                <a:gd name="f194" fmla="*/ f139 1 f52"/>
                <a:gd name="f195" fmla="*/ f140 1 f53"/>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7 1"/>
                <a:gd name="f244" fmla="*/ f190 f48 1"/>
                <a:gd name="f245" fmla="*/ f191 f47 1"/>
                <a:gd name="f246" fmla="*/ f192 f47 1"/>
                <a:gd name="f247" fmla="*/ f193 f48 1"/>
                <a:gd name="f248" fmla="*/ f194 f47 1"/>
                <a:gd name="f249" fmla="*/ f195 f48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42" y="f235"/>
                </a:cxn>
                <a:cxn ang="f159">
                  <a:pos x="f243" y="f244"/>
                </a:cxn>
                <a:cxn ang="f159">
                  <a:pos x="f245" y="f230"/>
                </a:cxn>
                <a:cxn ang="f159">
                  <a:pos x="f246" y="f247"/>
                </a:cxn>
                <a:cxn ang="f159">
                  <a:pos x="f248" y="f249"/>
                </a:cxn>
                <a:cxn ang="f159">
                  <a:pos x="f246" y="f250"/>
                </a:cxn>
                <a:cxn ang="f159">
                  <a:pos x="f243" y="f251"/>
                </a:cxn>
                <a:cxn ang="f159">
                  <a:pos x="f252" y="f253"/>
                </a:cxn>
                <a:cxn ang="f159">
                  <a:pos x="f225" y="f254"/>
                </a:cxn>
                <a:cxn ang="f159">
                  <a:pos x="f236" y="f253"/>
                </a:cxn>
                <a:cxn ang="f159">
                  <a:pos x="f255" y="f251"/>
                </a:cxn>
                <a:cxn ang="f159">
                  <a:pos x="f256" y="f250"/>
                </a:cxn>
                <a:cxn ang="f159">
                  <a:pos x="f214" y="f215"/>
                </a:cxn>
                <a:cxn ang="f159">
                  <a:pos x="f231" y="f257"/>
                </a:cxn>
                <a:cxn ang="f159">
                  <a:pos x="f231" y="f258"/>
                </a:cxn>
                <a:cxn ang="f159">
                  <a:pos x="f229" y="f259"/>
                </a:cxn>
                <a:cxn ang="f159">
                  <a:pos x="f227" y="f260"/>
                </a:cxn>
                <a:cxn ang="f159">
                  <a:pos x="f261" y="f262"/>
                </a:cxn>
                <a:cxn ang="f159">
                  <a:pos x="f263" y="f260"/>
                </a:cxn>
                <a:cxn ang="f159">
                  <a:pos x="f252" y="f259"/>
                </a:cxn>
                <a:cxn ang="f159">
                  <a:pos x="f219" y="f258"/>
                </a:cxn>
                <a:cxn ang="f159">
                  <a:pos x="f242"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9"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6" name="Freeform 46">
              <a:extLst>
                <a:ext uri="{FF2B5EF4-FFF2-40B4-BE49-F238E27FC236}">
                  <a16:creationId xmlns:a16="http://schemas.microsoft.com/office/drawing/2014/main" id="{BADF17D1-C04F-5445-782D-AC31740B38F0}"/>
                </a:ext>
              </a:extLst>
            </p:cNvPr>
            <p:cNvSpPr/>
            <p:nvPr/>
          </p:nvSpPr>
          <p:spPr>
            <a:xfrm>
              <a:off x="4293693" y="6088166"/>
              <a:ext cx="57515"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18"/>
                <a:gd name="f13" fmla="val 7"/>
                <a:gd name="f14" fmla="val 17"/>
                <a:gd name="f15" fmla="val 16"/>
                <a:gd name="f16" fmla="val 15"/>
                <a:gd name="f17" fmla="val 13"/>
                <a:gd name="f18" fmla="val 11"/>
                <a:gd name="f19" fmla="val 10"/>
                <a:gd name="f20" fmla="val 9"/>
                <a:gd name="f21" fmla="val 14"/>
                <a:gd name="f22" fmla="val 4"/>
                <a:gd name="f23" fmla="val 3"/>
                <a:gd name="f24" fmla="val 2"/>
                <a:gd name="f25" fmla="val 1"/>
                <a:gd name="f26" fmla="val 12"/>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8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6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2" y="f13"/>
                  </a:cubicBezTo>
                  <a:cubicBezTo>
                    <a:pt x="f14" y="f13"/>
                    <a:pt x="f15" y="f13"/>
                    <a:pt x="f16" y="f13"/>
                  </a:cubicBezTo>
                  <a:cubicBezTo>
                    <a:pt x="f17" y="f13"/>
                    <a:pt x="f18" y="f9"/>
                    <a:pt x="f19" y="f20"/>
                  </a:cubicBezTo>
                  <a:cubicBezTo>
                    <a:pt x="f9" y="f18"/>
                    <a:pt x="f9" y="f21"/>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2"/>
                    <a:pt x="f9" y="f22"/>
                    <a:pt x="f9" y="f22"/>
                  </a:cubicBezTo>
                  <a:cubicBezTo>
                    <a:pt x="f9" y="f23"/>
                    <a:pt x="f20" y="f23"/>
                    <a:pt x="f20" y="f24"/>
                  </a:cubicBezTo>
                  <a:cubicBezTo>
                    <a:pt x="f19" y="f24"/>
                    <a:pt x="f19" y="f25"/>
                    <a:pt x="f18" y="f25"/>
                  </a:cubicBezTo>
                  <a:cubicBezTo>
                    <a:pt x="f26" y="f5"/>
                    <a:pt x="f17" y="f5"/>
                    <a:pt x="f21" y="f5"/>
                  </a:cubicBezTo>
                  <a:cubicBezTo>
                    <a:pt x="f21" y="f5"/>
                    <a:pt x="f16" y="f5"/>
                    <a:pt x="f15" y="f5"/>
                  </a:cubicBezTo>
                  <a:cubicBezTo>
                    <a:pt x="f12" y="f5"/>
                    <a:pt x="f11" y="f5"/>
                    <a:pt x="f10" y="f5"/>
                  </a:cubicBezTo>
                  <a:cubicBezTo>
                    <a:pt x="f8" y="f5"/>
                    <a:pt x="f27" y="f25"/>
                    <a:pt x="f6" y="f25"/>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7" name="Freeform 47">
              <a:extLst>
                <a:ext uri="{FF2B5EF4-FFF2-40B4-BE49-F238E27FC236}">
                  <a16:creationId xmlns:a16="http://schemas.microsoft.com/office/drawing/2014/main" id="{C8A5079A-DB40-6FAA-12F0-5031F1AFF8C7}"/>
                </a:ext>
              </a:extLst>
            </p:cNvPr>
            <p:cNvSpPr/>
            <p:nvPr/>
          </p:nvSpPr>
          <p:spPr>
            <a:xfrm>
              <a:off x="4344232" y="6159663"/>
              <a:ext cx="29626"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3 f21 1"/>
                <a:gd name="f30" fmla="*/ 2 f21 1"/>
                <a:gd name="f31" fmla="*/ 0 f21 1"/>
                <a:gd name="f32" fmla="*/ 4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20 1"/>
                <a:gd name="f73" fmla="*/ f52 f20 1"/>
                <a:gd name="f74" fmla="*/ f53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1" y="f60"/>
                </a:cxn>
                <a:cxn ang="f45">
                  <a:pos x="f71" y="f72"/>
                </a:cxn>
                <a:cxn ang="f45">
                  <a:pos x="f70" y="f73"/>
                </a:cxn>
                <a:cxn ang="f45">
                  <a:pos x="f69" y="f74"/>
                </a:cxn>
                <a:cxn ang="f45">
                  <a:pos x="f67" y="f74"/>
                </a:cxn>
                <a:cxn ang="f45">
                  <a:pos x="f65" y="f74"/>
                </a:cxn>
                <a:cxn ang="f45">
                  <a:pos x="f63" y="f73"/>
                </a:cxn>
                <a:cxn ang="f45">
                  <a:pos x="f61" y="f72"/>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5" y="f9"/>
                  </a:cubicBezTo>
                  <a:cubicBezTo>
                    <a:pt x="f15" y="f9"/>
                    <a:pt x="f16" y="f12"/>
                    <a:pt x="f16" y="f12"/>
                  </a:cubicBezTo>
                  <a:cubicBezTo>
                    <a:pt x="f17" y="f11"/>
                    <a:pt x="f17" y="f11"/>
                    <a:pt x="f5" y="f10"/>
                  </a:cubicBezTo>
                  <a:cubicBezTo>
                    <a:pt x="f5" y="f8"/>
                    <a:pt x="f5" y="f8"/>
                    <a:pt x="f5" y="f7"/>
                  </a:cubicBezTo>
                  <a:cubicBezTo>
                    <a:pt x="f5" y="f13"/>
                    <a:pt x="f5" y="f14"/>
                    <a:pt x="f5" y="f14"/>
                  </a:cubicBezTo>
                  <a:cubicBezTo>
                    <a:pt x="f17" y="f15"/>
                    <a:pt x="f17" y="f16"/>
                    <a:pt x="f16" y="f16"/>
                  </a:cubicBezTo>
                  <a:cubicBezTo>
                    <a:pt x="f16" y="f17"/>
                    <a:pt x="f15" y="f17"/>
                    <a:pt x="f15"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8" name="Freeform 48">
              <a:extLst>
                <a:ext uri="{FF2B5EF4-FFF2-40B4-BE49-F238E27FC236}">
                  <a16:creationId xmlns:a16="http://schemas.microsoft.com/office/drawing/2014/main" id="{6A05CB33-455D-B41F-5CFC-C416E11A0D76}"/>
                </a:ext>
              </a:extLst>
            </p:cNvPr>
            <p:cNvSpPr/>
            <p:nvPr/>
          </p:nvSpPr>
          <p:spPr>
            <a:xfrm>
              <a:off x="497854" y="6264289"/>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2"/>
                <a:gd name="f10" fmla="val 22"/>
                <a:gd name="f11" fmla="+- 0 0 -90"/>
                <a:gd name="f12" fmla="*/ f3 1 54"/>
                <a:gd name="f13" fmla="*/ f4 1 75"/>
                <a:gd name="f14" fmla="+- f7 0 f5"/>
                <a:gd name="f15" fmla="+- f6 0 f5"/>
                <a:gd name="f16" fmla="*/ f11 f0 1"/>
                <a:gd name="f17" fmla="*/ f15 1 54"/>
                <a:gd name="f18" fmla="*/ f14 1 75"/>
                <a:gd name="f19" fmla="*/ 32 f15 1"/>
                <a:gd name="f20" fmla="*/ 12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9" name="Freeform 49">
              <a:extLst>
                <a:ext uri="{FF2B5EF4-FFF2-40B4-BE49-F238E27FC236}">
                  <a16:creationId xmlns:a16="http://schemas.microsoft.com/office/drawing/2014/main" id="{C6694C04-9154-D22A-8C2D-CA012BEDECA3}"/>
                </a:ext>
              </a:extLst>
            </p:cNvPr>
            <p:cNvSpPr/>
            <p:nvPr/>
          </p:nvSpPr>
          <p:spPr>
            <a:xfrm>
              <a:off x="609392" y="6259049"/>
              <a:ext cx="78428"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2"/>
                <a:gd name="f12" fmla="val 25"/>
                <a:gd name="f13" fmla="val 21"/>
                <a:gd name="f14" fmla="val 24"/>
                <a:gd name="f15" fmla="val 20"/>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9 f38 1"/>
                <a:gd name="f52" fmla="*/ 8 f38 1"/>
                <a:gd name="f53" fmla="*/ 27 f37 1"/>
                <a:gd name="f54" fmla="*/ 7 f38 1"/>
                <a:gd name="f55" fmla="*/ 31 f37 1"/>
                <a:gd name="f56" fmla="*/ 0 f38 1"/>
                <a:gd name="f57" fmla="*/ 4 f37 1"/>
                <a:gd name="f58" fmla="*/ 0 f37 1"/>
                <a:gd name="f59" fmla="*/ 19 f37 1"/>
                <a:gd name="f60" fmla="*/ 17 f37 1"/>
                <a:gd name="f61" fmla="*/ 11 f38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53"/>
                <a:gd name="f90" fmla="*/ f61 1 31"/>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1"/>
                <a:gd name="f123" fmla="*/ f90 1 f40"/>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6 1"/>
                <a:gd name="f155" fmla="*/ f123 f35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45" y="f154"/>
                </a:cxn>
                <a:cxn ang="f103">
                  <a:pos x="f155"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11" y="f12"/>
                    <a:pt x="f13" y="f14"/>
                  </a:cubicBezTo>
                  <a:cubicBezTo>
                    <a:pt x="f15" y="f11"/>
                    <a:pt x="f16" y="f13"/>
                    <a:pt x="f17" y="f13"/>
                  </a:cubicBezTo>
                  <a:cubicBezTo>
                    <a:pt x="f18" y="f13"/>
                    <a:pt x="f19" y="f13"/>
                    <a:pt x="f20" y="f11"/>
                  </a:cubicBezTo>
                  <a:cubicBezTo>
                    <a:pt x="f21" y="f11"/>
                    <a:pt x="f22" y="f8"/>
                    <a:pt x="f23" y="f14"/>
                  </a:cubicBezTo>
                  <a:cubicBezTo>
                    <a:pt x="f23" y="f14"/>
                    <a:pt x="f24" y="f12"/>
                    <a:pt x="f24" y="f25"/>
                  </a:cubicBezTo>
                  <a:cubicBezTo>
                    <a:pt x="f26"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4" y="f30"/>
                    <a:pt x="f23" y="f30"/>
                  </a:cubicBezTo>
                  <a:cubicBezTo>
                    <a:pt x="f22" y="f31"/>
                    <a:pt x="f22" y="f31"/>
                    <a:pt x="f21" y="f17"/>
                  </a:cubicBezTo>
                  <a:cubicBezTo>
                    <a:pt x="f20" y="f17"/>
                    <a:pt x="f19" y="f17"/>
                    <a:pt x="f18" y="f18"/>
                  </a:cubicBezTo>
                  <a:cubicBezTo>
                    <a:pt x="f17" y="f18"/>
                    <a:pt x="f31" y="f18"/>
                    <a:pt x="f30" y="f18"/>
                  </a:cubicBezTo>
                  <a:cubicBezTo>
                    <a:pt x="f29" y="f18"/>
                    <a:pt x="f13" y="f18"/>
                    <a:pt x="f8" y="f17"/>
                  </a:cubicBezTo>
                  <a:cubicBezTo>
                    <a:pt x="f12" y="f31"/>
                    <a:pt x="f32" y="f30"/>
                    <a:pt x="f25" y="f16"/>
                  </a:cubicBezTo>
                  <a:cubicBezTo>
                    <a:pt x="f10" y="f15"/>
                    <a:pt x="f27" y="f11"/>
                    <a:pt x="f33" y="f14"/>
                  </a:cubicBezTo>
                  <a:cubicBezTo>
                    <a:pt x="f33"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0" name="Freeform 50">
              <a:extLst>
                <a:ext uri="{FF2B5EF4-FFF2-40B4-BE49-F238E27FC236}">
                  <a16:creationId xmlns:a16="http://schemas.microsoft.com/office/drawing/2014/main" id="{5F30FBB0-EB1B-6D7F-9F0A-876B18A79846}"/>
                </a:ext>
              </a:extLst>
            </p:cNvPr>
            <p:cNvSpPr/>
            <p:nvPr/>
          </p:nvSpPr>
          <p:spPr>
            <a:xfrm>
              <a:off x="705249" y="6293924"/>
              <a:ext cx="85395"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7"/>
                <a:gd name="f14" fmla="val 8"/>
                <a:gd name="f15" fmla="val 25"/>
                <a:gd name="f16" fmla="val 26"/>
                <a:gd name="f17" fmla="val 9"/>
                <a:gd name="f18" fmla="val 28"/>
                <a:gd name="f19" fmla="val 29"/>
                <a:gd name="f20" fmla="val 10"/>
                <a:gd name="f21" fmla="val 30"/>
                <a:gd name="f22" fmla="val 11"/>
                <a:gd name="f23" fmla="val 31"/>
                <a:gd name="f24" fmla="val 12"/>
                <a:gd name="f25" fmla="val 32"/>
                <a:gd name="f26" fmla="val 13"/>
                <a:gd name="f27" fmla="val 14"/>
                <a:gd name="f28" fmla="val 15"/>
                <a:gd name="f29" fmla="val 16"/>
                <a:gd name="f30" fmla="val 17"/>
                <a:gd name="f31" fmla="val 18"/>
                <a:gd name="f32" fmla="val 24"/>
                <a:gd name="f33" fmla="val 35"/>
                <a:gd name="f34" fmla="val 36"/>
                <a:gd name="f35" fmla="val 37"/>
                <a:gd name="f36" fmla="val 27"/>
                <a:gd name="f37" fmla="val 38"/>
                <a:gd name="f38" fmla="val 39"/>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7 f50 1"/>
                <a:gd name="f59" fmla="*/ 9 f50 1"/>
                <a:gd name="f60" fmla="*/ 28 f49 1"/>
                <a:gd name="f61" fmla="*/ 11 f50 1"/>
                <a:gd name="f62" fmla="*/ 31 f49 1"/>
                <a:gd name="f63" fmla="*/ 14 f50 1"/>
                <a:gd name="f64" fmla="*/ 33 f49 1"/>
                <a:gd name="f65" fmla="*/ 17 f50 1"/>
                <a:gd name="f66" fmla="*/ 19 f50 1"/>
                <a:gd name="f67" fmla="*/ 22 f50 1"/>
                <a:gd name="f68" fmla="*/ 32 f49 1"/>
                <a:gd name="f69" fmla="*/ 23 f50 1"/>
                <a:gd name="f70" fmla="*/ 25 f50 1"/>
                <a:gd name="f71" fmla="*/ 30 f49 1"/>
                <a:gd name="f72" fmla="*/ 30 f50 1"/>
                <a:gd name="f73" fmla="*/ 35 f49 1"/>
                <a:gd name="f74" fmla="*/ 27 f50 1"/>
                <a:gd name="f75" fmla="*/ 37 f49 1"/>
                <a:gd name="f76" fmla="*/ 24 f50 1"/>
                <a:gd name="f77" fmla="*/ 39 f49 1"/>
                <a:gd name="f78" fmla="*/ 21 f50 1"/>
                <a:gd name="f79" fmla="*/ 40 f49 1"/>
                <a:gd name="f80" fmla="*/ 12 f50 1"/>
                <a:gd name="f81" fmla="*/ 8 f50 1"/>
                <a:gd name="f82" fmla="*/ 38 f49 1"/>
                <a:gd name="f83" fmla="*/ 5 f50 1"/>
                <a:gd name="f84" fmla="*/ 3 f50 1"/>
                <a:gd name="f85" fmla="*/ 1 f50 1"/>
                <a:gd name="f86" fmla="*/ 26 f49 1"/>
                <a:gd name="f87" fmla="*/ 0 f50 1"/>
                <a:gd name="f88" fmla="*/ 20 f49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10 f49 1"/>
                <a:gd name="f101" fmla="*/ 20 f50 1"/>
                <a:gd name="f102" fmla="*/ 8 f49 1"/>
                <a:gd name="f103" fmla="*/ 16 f50 1"/>
                <a:gd name="f104" fmla="*/ 7 f49 1"/>
                <a:gd name="f105" fmla="*/ 13 f50 1"/>
                <a:gd name="f106" fmla="*/ 9 f49 1"/>
                <a:gd name="f107" fmla="*/ f51 1 f2"/>
                <a:gd name="f108" fmla="*/ f54 1 33"/>
                <a:gd name="f109" fmla="*/ f55 1 40"/>
                <a:gd name="f110" fmla="*/ f56 1 40"/>
                <a:gd name="f111" fmla="*/ f57 1 40"/>
                <a:gd name="f112" fmla="*/ f58 1 33"/>
                <a:gd name="f113" fmla="*/ f59 1 33"/>
                <a:gd name="f114" fmla="*/ f60 1 40"/>
                <a:gd name="f115" fmla="*/ f61 1 33"/>
                <a:gd name="f116" fmla="*/ f62 1 40"/>
                <a:gd name="f117" fmla="*/ f63 1 33"/>
                <a:gd name="f118" fmla="*/ f64 1 40"/>
                <a:gd name="f119" fmla="*/ f65 1 33"/>
                <a:gd name="f120" fmla="*/ f66 1 33"/>
                <a:gd name="f121" fmla="*/ f67 1 33"/>
                <a:gd name="f122" fmla="*/ f68 1 40"/>
                <a:gd name="f123" fmla="*/ f69 1 33"/>
                <a:gd name="f124" fmla="*/ f70 1 33"/>
                <a:gd name="f125" fmla="*/ f71 1 40"/>
                <a:gd name="f126" fmla="*/ f72 1 33"/>
                <a:gd name="f127" fmla="*/ f73 1 40"/>
                <a:gd name="f128" fmla="*/ f74 1 33"/>
                <a:gd name="f129" fmla="*/ f75 1 40"/>
                <a:gd name="f130" fmla="*/ f76 1 33"/>
                <a:gd name="f131" fmla="*/ f77 1 40"/>
                <a:gd name="f132" fmla="*/ f78 1 33"/>
                <a:gd name="f133" fmla="*/ f79 1 40"/>
                <a:gd name="f134" fmla="*/ f80 1 33"/>
                <a:gd name="f135" fmla="*/ f81 1 33"/>
                <a:gd name="f136" fmla="*/ f82 1 40"/>
                <a:gd name="f137" fmla="*/ f83 1 33"/>
                <a:gd name="f138" fmla="*/ f84 1 33"/>
                <a:gd name="f139" fmla="*/ f85 1 33"/>
                <a:gd name="f140" fmla="*/ f86 1 40"/>
                <a:gd name="f141" fmla="*/ f87 1 33"/>
                <a:gd name="f142" fmla="*/ f88 1 40"/>
                <a:gd name="f143" fmla="*/ f89 1 40"/>
                <a:gd name="f144" fmla="*/ f90 1 40"/>
                <a:gd name="f145" fmla="*/ f91 1 33"/>
                <a:gd name="f146" fmla="*/ f92 1 40"/>
                <a:gd name="f147" fmla="*/ f93 1 40"/>
                <a:gd name="f148" fmla="*/ f94 1 40"/>
                <a:gd name="f149" fmla="*/ f95 1 33"/>
                <a:gd name="f150" fmla="*/ f96 1 40"/>
                <a:gd name="f151" fmla="*/ f97 1 33"/>
                <a:gd name="f152" fmla="*/ f98 1 40"/>
                <a:gd name="f153" fmla="*/ f99 1 40"/>
                <a:gd name="f154" fmla="*/ f100 1 40"/>
                <a:gd name="f155" fmla="*/ f101 1 33"/>
                <a:gd name="f156" fmla="*/ f102 1 40"/>
                <a:gd name="f157" fmla="*/ f103 1 33"/>
                <a:gd name="f158" fmla="*/ f104 1 40"/>
                <a:gd name="f159" fmla="*/ f105 1 33"/>
                <a:gd name="f160" fmla="*/ f106 1 40"/>
                <a:gd name="f161" fmla="*/ 0 1 f52"/>
                <a:gd name="f162" fmla="*/ f6 1 f52"/>
                <a:gd name="f163" fmla="*/ 0 1 f53"/>
                <a:gd name="f164" fmla="*/ f7 1 f53"/>
                <a:gd name="f165" fmla="+- f107 0 f1"/>
                <a:gd name="f166" fmla="*/ f108 1 f52"/>
                <a:gd name="f167" fmla="*/ f109 1 f53"/>
                <a:gd name="f168" fmla="*/ f110 1 f53"/>
                <a:gd name="f169" fmla="*/ f111 1 f53"/>
                <a:gd name="f170" fmla="*/ f112 1 f52"/>
                <a:gd name="f171" fmla="*/ f113 1 f52"/>
                <a:gd name="f172" fmla="*/ f114 1 f53"/>
                <a:gd name="f173" fmla="*/ f115 1 f52"/>
                <a:gd name="f174" fmla="*/ f116 1 f53"/>
                <a:gd name="f175" fmla="*/ f117 1 f52"/>
                <a:gd name="f176" fmla="*/ f118 1 f53"/>
                <a:gd name="f177" fmla="*/ f119 1 f52"/>
                <a:gd name="f178" fmla="*/ f120 1 f52"/>
                <a:gd name="f179" fmla="*/ f121 1 f52"/>
                <a:gd name="f180" fmla="*/ f122 1 f53"/>
                <a:gd name="f181" fmla="*/ f123 1 f52"/>
                <a:gd name="f182" fmla="*/ f124 1 f52"/>
                <a:gd name="f183" fmla="*/ f125 1 f53"/>
                <a:gd name="f184" fmla="*/ f126 1 f52"/>
                <a:gd name="f185" fmla="*/ f127 1 f53"/>
                <a:gd name="f186" fmla="*/ f128 1 f52"/>
                <a:gd name="f187" fmla="*/ f129 1 f53"/>
                <a:gd name="f188" fmla="*/ f130 1 f52"/>
                <a:gd name="f189" fmla="*/ f131 1 f53"/>
                <a:gd name="f190" fmla="*/ f132 1 f52"/>
                <a:gd name="f191" fmla="*/ f133 1 f53"/>
                <a:gd name="f192" fmla="*/ f134 1 f52"/>
                <a:gd name="f193" fmla="*/ f135 1 f52"/>
                <a:gd name="f194" fmla="*/ f136 1 f53"/>
                <a:gd name="f195" fmla="*/ f137 1 f52"/>
                <a:gd name="f196" fmla="*/ f138 1 f52"/>
                <a:gd name="f197" fmla="*/ f139 1 f52"/>
                <a:gd name="f198" fmla="*/ f140 1 f53"/>
                <a:gd name="f199" fmla="*/ f141 1 f52"/>
                <a:gd name="f200" fmla="*/ f142 1 f53"/>
                <a:gd name="f201" fmla="*/ f143 1 f53"/>
                <a:gd name="f202" fmla="*/ f144 1 f53"/>
                <a:gd name="f203" fmla="*/ f145 1 f52"/>
                <a:gd name="f204" fmla="*/ f146 1 f53"/>
                <a:gd name="f205" fmla="*/ f147 1 f53"/>
                <a:gd name="f206" fmla="*/ f148 1 f53"/>
                <a:gd name="f207" fmla="*/ f149 1 f52"/>
                <a:gd name="f208" fmla="*/ f150 1 f53"/>
                <a:gd name="f209" fmla="*/ f151 1 f52"/>
                <a:gd name="f210" fmla="*/ f152 1 f53"/>
                <a:gd name="f211" fmla="*/ f153 1 f53"/>
                <a:gd name="f212" fmla="*/ f154 1 f53"/>
                <a:gd name="f213" fmla="*/ f155 1 f52"/>
                <a:gd name="f214" fmla="*/ f156 1 f53"/>
                <a:gd name="f215" fmla="*/ f157 1 f52"/>
                <a:gd name="f216" fmla="*/ f158 1 f53"/>
                <a:gd name="f217" fmla="*/ f159 1 f52"/>
                <a:gd name="f218" fmla="*/ f160 1 f53"/>
                <a:gd name="f219" fmla="*/ f161 f47 1"/>
                <a:gd name="f220" fmla="*/ f162 f47 1"/>
                <a:gd name="f221" fmla="*/ f164 f48 1"/>
                <a:gd name="f222" fmla="*/ f163 f48 1"/>
                <a:gd name="f223" fmla="*/ f166 f47 1"/>
                <a:gd name="f224" fmla="*/ f167 f48 1"/>
                <a:gd name="f225" fmla="*/ f168 f48 1"/>
                <a:gd name="f226" fmla="*/ f169 f48 1"/>
                <a:gd name="f227" fmla="*/ f170 f47 1"/>
                <a:gd name="f228" fmla="*/ f171 f47 1"/>
                <a:gd name="f229" fmla="*/ f172 f48 1"/>
                <a:gd name="f230" fmla="*/ f173 f47 1"/>
                <a:gd name="f231" fmla="*/ f174 f48 1"/>
                <a:gd name="f232" fmla="*/ f175 f47 1"/>
                <a:gd name="f233" fmla="*/ f176 f48 1"/>
                <a:gd name="f234" fmla="*/ f177 f47 1"/>
                <a:gd name="f235" fmla="*/ f178 f47 1"/>
                <a:gd name="f236" fmla="*/ f179 f47 1"/>
                <a:gd name="f237" fmla="*/ f180 f48 1"/>
                <a:gd name="f238" fmla="*/ f181 f47 1"/>
                <a:gd name="f239" fmla="*/ f182 f47 1"/>
                <a:gd name="f240" fmla="*/ f183 f48 1"/>
                <a:gd name="f241" fmla="*/ f184 f47 1"/>
                <a:gd name="f242" fmla="*/ f185 f48 1"/>
                <a:gd name="f243" fmla="*/ f186 f47 1"/>
                <a:gd name="f244" fmla="*/ f187 f48 1"/>
                <a:gd name="f245" fmla="*/ f188 f47 1"/>
                <a:gd name="f246" fmla="*/ f189 f48 1"/>
                <a:gd name="f247" fmla="*/ f190 f47 1"/>
                <a:gd name="f248" fmla="*/ f191 f48 1"/>
                <a:gd name="f249" fmla="*/ f192 f47 1"/>
                <a:gd name="f250" fmla="*/ f193 f47 1"/>
                <a:gd name="f251" fmla="*/ f194 f48 1"/>
                <a:gd name="f252" fmla="*/ f195 f47 1"/>
                <a:gd name="f253" fmla="*/ f196 f47 1"/>
                <a:gd name="f254" fmla="*/ f197 f47 1"/>
                <a:gd name="f255" fmla="*/ f198 f48 1"/>
                <a:gd name="f256" fmla="*/ f199 f47 1"/>
                <a:gd name="f257" fmla="*/ f200 f48 1"/>
                <a:gd name="f258" fmla="*/ f201 f48 1"/>
                <a:gd name="f259" fmla="*/ f202 f48 1"/>
                <a:gd name="f260" fmla="*/ f203 f47 1"/>
                <a:gd name="f261" fmla="*/ f204 f48 1"/>
                <a:gd name="f262" fmla="*/ f205 f48 1"/>
                <a:gd name="f263" fmla="*/ f206 f48 1"/>
                <a:gd name="f264" fmla="*/ f207 f47 1"/>
                <a:gd name="f265" fmla="*/ f208 f48 1"/>
                <a:gd name="f266" fmla="*/ f209 f47 1"/>
                <a:gd name="f267" fmla="*/ f210 f48 1"/>
                <a:gd name="f268" fmla="*/ f211 f48 1"/>
                <a:gd name="f269" fmla="*/ f212 f48 1"/>
                <a:gd name="f270" fmla="*/ f213 f47 1"/>
                <a:gd name="f271" fmla="*/ f214 f48 1"/>
                <a:gd name="f272" fmla="*/ f215 f47 1"/>
                <a:gd name="f273" fmla="*/ f216 f48 1"/>
                <a:gd name="f274" fmla="*/ f217 f47 1"/>
                <a:gd name="f275" fmla="*/ f218 f48 1"/>
              </a:gdLst>
              <a:ahLst/>
              <a:cxnLst>
                <a:cxn ang="3cd4">
                  <a:pos x="hc" y="t"/>
                </a:cxn>
                <a:cxn ang="0">
                  <a:pos x="r" y="vc"/>
                </a:cxn>
                <a:cxn ang="cd4">
                  <a:pos x="hc" y="b"/>
                </a:cxn>
                <a:cxn ang="cd2">
                  <a:pos x="l" y="vc"/>
                </a:cxn>
                <a:cxn ang="f165">
                  <a:pos x="f223" y="f224"/>
                </a:cxn>
                <a:cxn ang="f165">
                  <a:pos x="f223" y="f225"/>
                </a:cxn>
                <a:cxn ang="f165">
                  <a:pos x="f223" y="f226"/>
                </a:cxn>
                <a:cxn ang="f165">
                  <a:pos x="f227" y="f226"/>
                </a:cxn>
                <a:cxn ang="f165">
                  <a:pos x="f228" y="f229"/>
                </a:cxn>
                <a:cxn ang="f165">
                  <a:pos x="f230" y="f231"/>
                </a:cxn>
                <a:cxn ang="f165">
                  <a:pos x="f232" y="f233"/>
                </a:cxn>
                <a:cxn ang="f165">
                  <a:pos x="f234" y="f233"/>
                </a:cxn>
                <a:cxn ang="f165">
                  <a:pos x="f235" y="f233"/>
                </a:cxn>
                <a:cxn ang="f165">
                  <a:pos x="f236" y="f237"/>
                </a:cxn>
                <a:cxn ang="f165">
                  <a:pos x="f238" y="f237"/>
                </a:cxn>
                <a:cxn ang="f165">
                  <a:pos x="f239" y="f240"/>
                </a:cxn>
                <a:cxn ang="f165">
                  <a:pos x="f241" y="f242"/>
                </a:cxn>
                <a:cxn ang="f165">
                  <a:pos x="f243" y="f244"/>
                </a:cxn>
                <a:cxn ang="f165">
                  <a:pos x="f245" y="f246"/>
                </a:cxn>
                <a:cxn ang="f165">
                  <a:pos x="f247" y="f248"/>
                </a:cxn>
                <a:cxn ang="f165">
                  <a:pos x="f234" y="f248"/>
                </a:cxn>
                <a:cxn ang="f165">
                  <a:pos x="f249" y="f246"/>
                </a:cxn>
                <a:cxn ang="f165">
                  <a:pos x="f250" y="f251"/>
                </a:cxn>
                <a:cxn ang="f165">
                  <a:pos x="f252" y="f242"/>
                </a:cxn>
                <a:cxn ang="f165">
                  <a:pos x="f253" y="f231"/>
                </a:cxn>
                <a:cxn ang="f165">
                  <a:pos x="f254" y="f255"/>
                </a:cxn>
                <a:cxn ang="f165">
                  <a:pos x="f256" y="f257"/>
                </a:cxn>
                <a:cxn ang="f165">
                  <a:pos x="f254" y="f258"/>
                </a:cxn>
                <a:cxn ang="f165">
                  <a:pos x="f252" y="f259"/>
                </a:cxn>
                <a:cxn ang="f165">
                  <a:pos x="f260" y="f261"/>
                </a:cxn>
                <a:cxn ang="f165">
                  <a:pos x="f234" y="f262"/>
                </a:cxn>
                <a:cxn ang="f165">
                  <a:pos x="f245" y="f263"/>
                </a:cxn>
                <a:cxn ang="f165">
                  <a:pos x="f264" y="f265"/>
                </a:cxn>
                <a:cxn ang="f165">
                  <a:pos x="f266" y="f258"/>
                </a:cxn>
                <a:cxn ang="f165">
                  <a:pos x="f223" y="f224"/>
                </a:cxn>
                <a:cxn ang="f165">
                  <a:pos x="f239" y="f267"/>
                </a:cxn>
                <a:cxn ang="f165">
                  <a:pos x="f239" y="f268"/>
                </a:cxn>
                <a:cxn ang="f165">
                  <a:pos x="f238" y="f269"/>
                </a:cxn>
                <a:cxn ang="f165">
                  <a:pos x="f270" y="f271"/>
                </a:cxn>
                <a:cxn ang="f165">
                  <a:pos x="f272" y="f273"/>
                </a:cxn>
                <a:cxn ang="f165">
                  <a:pos x="f274" y="f271"/>
                </a:cxn>
                <a:cxn ang="f165">
                  <a:pos x="f260" y="f275"/>
                </a:cxn>
                <a:cxn ang="f165">
                  <a:pos x="f228" y="f258"/>
                </a:cxn>
                <a:cxn ang="f165">
                  <a:pos x="f250" y="f267"/>
                </a:cxn>
                <a:cxn ang="f165">
                  <a:pos x="f239" y="f267"/>
                </a:cxn>
              </a:cxnLst>
              <a:rect l="f219" t="f222" r="f220" b="f221"/>
              <a:pathLst>
                <a:path w="33" h="40">
                  <a:moveTo>
                    <a:pt x="f6" y="f8"/>
                  </a:moveTo>
                  <a:cubicBezTo>
                    <a:pt x="f6" y="f9"/>
                    <a:pt x="f6" y="f10"/>
                    <a:pt x="f6" y="f10"/>
                  </a:cubicBezTo>
                  <a:cubicBezTo>
                    <a:pt x="f6" y="f11"/>
                    <a:pt x="f6" y="f11"/>
                    <a:pt x="f6" y="f12"/>
                  </a:cubicBezTo>
                  <a:cubicBezTo>
                    <a:pt x="f13" y="f12"/>
                    <a:pt x="f13" y="f12"/>
                    <a:pt x="f13" y="f12"/>
                  </a:cubicBezTo>
                  <a:cubicBezTo>
                    <a:pt x="f14" y="f15"/>
                    <a:pt x="f14" y="f16"/>
                    <a:pt x="f17" y="f18"/>
                  </a:cubicBezTo>
                  <a:cubicBezTo>
                    <a:pt x="f17" y="f19"/>
                    <a:pt x="f20" y="f21"/>
                    <a:pt x="f22" y="f23"/>
                  </a:cubicBezTo>
                  <a:cubicBezTo>
                    <a:pt x="f24" y="f25"/>
                    <a:pt x="f26" y="f25"/>
                    <a:pt x="f27" y="f6"/>
                  </a:cubicBezTo>
                  <a:cubicBezTo>
                    <a:pt x="f28" y="f6"/>
                    <a:pt x="f29" y="f6"/>
                    <a:pt x="f30" y="f6"/>
                  </a:cubicBezTo>
                  <a:cubicBezTo>
                    <a:pt x="f31" y="f6"/>
                    <a:pt x="f8" y="f6"/>
                    <a:pt x="f8" y="f6"/>
                  </a:cubicBezTo>
                  <a:cubicBezTo>
                    <a:pt x="f9" y="f6"/>
                    <a:pt x="f10" y="f6"/>
                    <a:pt x="f11" y="f25"/>
                  </a:cubicBezTo>
                  <a:cubicBezTo>
                    <a:pt x="f11" y="f25"/>
                    <a:pt x="f12" y="f25"/>
                    <a:pt x="f12" y="f25"/>
                  </a:cubicBezTo>
                  <a:cubicBezTo>
                    <a:pt x="f32" y="f23"/>
                    <a:pt x="f15" y="f23"/>
                    <a:pt x="f15" y="f21"/>
                  </a:cubicBezTo>
                  <a:cubicBezTo>
                    <a:pt x="f21" y="f33"/>
                    <a:pt x="f21" y="f33"/>
                    <a:pt x="f21" y="f33"/>
                  </a:cubicBezTo>
                  <a:cubicBezTo>
                    <a:pt x="f19" y="f34"/>
                    <a:pt x="f18" y="f35"/>
                    <a:pt x="f36" y="f35"/>
                  </a:cubicBezTo>
                  <a:cubicBezTo>
                    <a:pt x="f16" y="f37"/>
                    <a:pt x="f15" y="f37"/>
                    <a:pt x="f32" y="f38"/>
                  </a:cubicBezTo>
                  <a:cubicBezTo>
                    <a:pt x="f12" y="f38"/>
                    <a:pt x="f11" y="f7"/>
                    <a:pt x="f10" y="f7"/>
                  </a:cubicBezTo>
                  <a:cubicBezTo>
                    <a:pt x="f9" y="f7"/>
                    <a:pt x="f31" y="f7"/>
                    <a:pt x="f30" y="f7"/>
                  </a:cubicBezTo>
                  <a:cubicBezTo>
                    <a:pt x="f28" y="f7"/>
                    <a:pt x="f26" y="f7"/>
                    <a:pt x="f24" y="f38"/>
                  </a:cubicBezTo>
                  <a:cubicBezTo>
                    <a:pt x="f22" y="f38"/>
                    <a:pt x="f17" y="f37"/>
                    <a:pt x="f14" y="f37"/>
                  </a:cubicBezTo>
                  <a:cubicBezTo>
                    <a:pt x="f13" y="f35"/>
                    <a:pt x="f39" y="f34"/>
                    <a:pt x="f40" y="f33"/>
                  </a:cubicBezTo>
                  <a:cubicBezTo>
                    <a:pt x="f41" y="f42"/>
                    <a:pt x="f43" y="f6"/>
                    <a:pt x="f43" y="f23"/>
                  </a:cubicBezTo>
                  <a:cubicBezTo>
                    <a:pt x="f44" y="f21"/>
                    <a:pt x="f45" y="f18"/>
                    <a:pt x="f45" y="f16"/>
                  </a:cubicBezTo>
                  <a:cubicBezTo>
                    <a:pt x="f5" y="f32"/>
                    <a:pt x="f5" y="f11"/>
                    <a:pt x="f5" y="f9"/>
                  </a:cubicBezTo>
                  <a:cubicBezTo>
                    <a:pt x="f5" y="f30"/>
                    <a:pt x="f5" y="f27"/>
                    <a:pt x="f45" y="f24"/>
                  </a:cubicBezTo>
                  <a:cubicBezTo>
                    <a:pt x="f44" y="f17"/>
                    <a:pt x="f43" y="f13"/>
                    <a:pt x="f40" y="f40"/>
                  </a:cubicBezTo>
                  <a:cubicBezTo>
                    <a:pt x="f39" y="f41"/>
                    <a:pt x="f14" y="f44"/>
                    <a:pt x="f20" y="f45"/>
                  </a:cubicBezTo>
                  <a:cubicBezTo>
                    <a:pt x="f24" y="f45"/>
                    <a:pt x="f27" y="f5"/>
                    <a:pt x="f30" y="f5"/>
                  </a:cubicBezTo>
                  <a:cubicBezTo>
                    <a:pt x="f9" y="f5"/>
                    <a:pt x="f11" y="f45"/>
                    <a:pt x="f32" y="f44"/>
                  </a:cubicBezTo>
                  <a:cubicBezTo>
                    <a:pt x="f16" y="f43"/>
                    <a:pt x="f18" y="f41"/>
                    <a:pt x="f19" y="f39"/>
                  </a:cubicBezTo>
                  <a:cubicBezTo>
                    <a:pt x="f21" y="f14"/>
                    <a:pt x="f23" y="f20"/>
                    <a:pt x="f25" y="f24"/>
                  </a:cubicBezTo>
                  <a:cubicBezTo>
                    <a:pt x="f6" y="f27"/>
                    <a:pt x="f6" y="f30"/>
                    <a:pt x="f6" y="f8"/>
                  </a:cubicBezTo>
                  <a:close/>
                  <a:moveTo>
                    <a:pt x="f15" y="f30"/>
                  </a:moveTo>
                  <a:cubicBezTo>
                    <a:pt x="f15" y="f28"/>
                    <a:pt x="f15" y="f27"/>
                    <a:pt x="f15" y="f26"/>
                  </a:cubicBezTo>
                  <a:cubicBezTo>
                    <a:pt x="f32" y="f24"/>
                    <a:pt x="f32" y="f22"/>
                    <a:pt x="f12" y="f20"/>
                  </a:cubicBezTo>
                  <a:cubicBezTo>
                    <a:pt x="f11" y="f17"/>
                    <a:pt x="f10" y="f14"/>
                    <a:pt x="f9" y="f14"/>
                  </a:cubicBezTo>
                  <a:cubicBezTo>
                    <a:pt x="f8" y="f13"/>
                    <a:pt x="f31" y="f13"/>
                    <a:pt x="f29" y="f13"/>
                  </a:cubicBezTo>
                  <a:cubicBezTo>
                    <a:pt x="f28" y="f13"/>
                    <a:pt x="f27" y="f13"/>
                    <a:pt x="f26" y="f14"/>
                  </a:cubicBezTo>
                  <a:cubicBezTo>
                    <a:pt x="f24" y="f14"/>
                    <a:pt x="f22" y="f17"/>
                    <a:pt x="f20" y="f17"/>
                  </a:cubicBezTo>
                  <a:cubicBezTo>
                    <a:pt x="f20" y="f20"/>
                    <a:pt x="f17" y="f22"/>
                    <a:pt x="f17" y="f24"/>
                  </a:cubicBezTo>
                  <a:cubicBezTo>
                    <a:pt x="f14" y="f27"/>
                    <a:pt x="f14" y="f28"/>
                    <a:pt x="f14" y="f30"/>
                  </a:cubicBezTo>
                  <a:lnTo>
                    <a:pt x="f15" y="f30"/>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1" name="Freeform 51">
              <a:extLst>
                <a:ext uri="{FF2B5EF4-FFF2-40B4-BE49-F238E27FC236}">
                  <a16:creationId xmlns:a16="http://schemas.microsoft.com/office/drawing/2014/main" id="{6A6EEA25-25C1-9EB6-F362-77906BC75653}"/>
                </a:ext>
              </a:extLst>
            </p:cNvPr>
            <p:cNvSpPr/>
            <p:nvPr/>
          </p:nvSpPr>
          <p:spPr>
            <a:xfrm>
              <a:off x="856875" y="6259049"/>
              <a:ext cx="83658" cy="137754"/>
            </a:xfrm>
            <a:custGeom>
              <a:avLst/>
              <a:gdLst>
                <a:gd name="f0" fmla="val 10800000"/>
                <a:gd name="f1" fmla="val 5400000"/>
                <a:gd name="f2" fmla="val 180"/>
                <a:gd name="f3" fmla="val w"/>
                <a:gd name="f4" fmla="val h"/>
                <a:gd name="f5" fmla="val 0"/>
                <a:gd name="f6" fmla="val 33"/>
                <a:gd name="f7" fmla="val 54"/>
                <a:gd name="f8" fmla="val 35"/>
                <a:gd name="f9" fmla="val 38"/>
                <a:gd name="f10" fmla="val 32"/>
                <a:gd name="f11" fmla="val 41"/>
                <a:gd name="f12" fmla="val 31"/>
                <a:gd name="f13" fmla="val 43"/>
                <a:gd name="f14" fmla="val 30"/>
                <a:gd name="f15" fmla="val 46"/>
                <a:gd name="f16" fmla="val 29"/>
                <a:gd name="f17" fmla="val 48"/>
                <a:gd name="f18" fmla="val 28"/>
                <a:gd name="f19" fmla="val 49"/>
                <a:gd name="f20" fmla="val 27"/>
                <a:gd name="f21" fmla="val 51"/>
                <a:gd name="f22" fmla="val 25"/>
                <a:gd name="f23" fmla="val 52"/>
                <a:gd name="f24" fmla="val 23"/>
                <a:gd name="f25" fmla="val 53"/>
                <a:gd name="f26" fmla="val 21"/>
                <a:gd name="f27" fmla="val 19"/>
                <a:gd name="f28" fmla="val 17"/>
                <a:gd name="f29" fmla="val 16"/>
                <a:gd name="f30" fmla="val 14"/>
                <a:gd name="f31" fmla="val 12"/>
                <a:gd name="f32" fmla="val 10"/>
                <a:gd name="f33" fmla="val 9"/>
                <a:gd name="f34" fmla="val 8"/>
                <a:gd name="f35" fmla="val 50"/>
                <a:gd name="f36" fmla="val 4"/>
                <a:gd name="f37" fmla="val 18"/>
                <a:gd name="f38" fmla="val 11"/>
                <a:gd name="f39" fmla="val 13"/>
                <a:gd name="f40" fmla="val 15"/>
                <a:gd name="f41" fmla="val 20"/>
                <a:gd name="f42" fmla="val 22"/>
                <a:gd name="f43" fmla="val 24"/>
                <a:gd name="f44" fmla="val 26"/>
                <a:gd name="f45" fmla="val 42"/>
                <a:gd name="f46" fmla="val 44"/>
                <a:gd name="f47" fmla="val 45"/>
                <a:gd name="f48" fmla="val 47"/>
                <a:gd name="f49" fmla="val 39"/>
                <a:gd name="f50" fmla="+- 0 0 -90"/>
                <a:gd name="f51" fmla="*/ f3 1 33"/>
                <a:gd name="f52" fmla="*/ f4 1 54"/>
                <a:gd name="f53" fmla="+- f7 0 f5"/>
                <a:gd name="f54" fmla="+- f6 0 f5"/>
                <a:gd name="f55" fmla="*/ f50 f0 1"/>
                <a:gd name="f56" fmla="*/ f54 1 33"/>
                <a:gd name="f57" fmla="*/ f53 1 54"/>
                <a:gd name="f58" fmla="*/ 33 f54 1"/>
                <a:gd name="f59" fmla="*/ 35 f53 1"/>
                <a:gd name="f60" fmla="*/ 31 f54 1"/>
                <a:gd name="f61" fmla="*/ 43 f53 1"/>
                <a:gd name="f62" fmla="*/ 28 f54 1"/>
                <a:gd name="f63" fmla="*/ 49 f53 1"/>
                <a:gd name="f64" fmla="*/ 23 f54 1"/>
                <a:gd name="f65" fmla="*/ 53 f53 1"/>
                <a:gd name="f66" fmla="*/ 17 f54 1"/>
                <a:gd name="f67" fmla="*/ 54 f53 1"/>
                <a:gd name="f68" fmla="*/ 12 f54 1"/>
                <a:gd name="f69" fmla="*/ 8 f54 1"/>
                <a:gd name="f70" fmla="*/ 50 f53 1"/>
                <a:gd name="f71" fmla="*/ 0 f54 1"/>
                <a:gd name="f72" fmla="*/ 4 f53 1"/>
                <a:gd name="f73" fmla="*/ 0 f53 1"/>
                <a:gd name="f74" fmla="*/ 19 f53 1"/>
                <a:gd name="f75" fmla="*/ 10 f54 1"/>
                <a:gd name="f76" fmla="*/ 17 f53 1"/>
                <a:gd name="f77" fmla="*/ 16 f53 1"/>
                <a:gd name="f78" fmla="*/ 14 f54 1"/>
                <a:gd name="f79" fmla="*/ 14 f53 1"/>
                <a:gd name="f80" fmla="*/ 18 f54 1"/>
                <a:gd name="f81" fmla="*/ 24 f54 1"/>
                <a:gd name="f82" fmla="*/ 15 f53 1"/>
                <a:gd name="f83" fmla="*/ 25 f53 1"/>
                <a:gd name="f84" fmla="*/ 25 f54 1"/>
                <a:gd name="f85" fmla="*/ 24 f53 1"/>
                <a:gd name="f86" fmla="*/ 16 f54 1"/>
                <a:gd name="f87" fmla="*/ 21 f53 1"/>
                <a:gd name="f88" fmla="*/ 11 f54 1"/>
                <a:gd name="f89" fmla="*/ 23 f53 1"/>
                <a:gd name="f90" fmla="*/ 9 f54 1"/>
                <a:gd name="f91" fmla="*/ 26 f53 1"/>
                <a:gd name="f92" fmla="*/ 42 f53 1"/>
                <a:gd name="f93" fmla="*/ 44 f53 1"/>
                <a:gd name="f94" fmla="*/ 45 f53 1"/>
                <a:gd name="f95" fmla="*/ 47 f53 1"/>
                <a:gd name="f96" fmla="*/ f55 1 f2"/>
                <a:gd name="f97" fmla="*/ f58 1 33"/>
                <a:gd name="f98" fmla="*/ f59 1 54"/>
                <a:gd name="f99" fmla="*/ f60 1 33"/>
                <a:gd name="f100" fmla="*/ f61 1 54"/>
                <a:gd name="f101" fmla="*/ f62 1 33"/>
                <a:gd name="f102" fmla="*/ f63 1 54"/>
                <a:gd name="f103" fmla="*/ f64 1 33"/>
                <a:gd name="f104" fmla="*/ f65 1 54"/>
                <a:gd name="f105" fmla="*/ f66 1 33"/>
                <a:gd name="f106" fmla="*/ f67 1 54"/>
                <a:gd name="f107" fmla="*/ f68 1 33"/>
                <a:gd name="f108" fmla="*/ f69 1 33"/>
                <a:gd name="f109" fmla="*/ f70 1 54"/>
                <a:gd name="f110" fmla="*/ f71 1 33"/>
                <a:gd name="f111" fmla="*/ f72 1 54"/>
                <a:gd name="f112" fmla="*/ f73 1 54"/>
                <a:gd name="f113" fmla="*/ f74 1 54"/>
                <a:gd name="f114" fmla="*/ f75 1 33"/>
                <a:gd name="f115" fmla="*/ f76 1 54"/>
                <a:gd name="f116" fmla="*/ f77 1 54"/>
                <a:gd name="f117" fmla="*/ f78 1 33"/>
                <a:gd name="f118" fmla="*/ f79 1 54"/>
                <a:gd name="f119" fmla="*/ f80 1 33"/>
                <a:gd name="f120" fmla="*/ f81 1 33"/>
                <a:gd name="f121" fmla="*/ f82 1 54"/>
                <a:gd name="f122" fmla="*/ f83 1 54"/>
                <a:gd name="f123" fmla="*/ f84 1 33"/>
                <a:gd name="f124" fmla="*/ f85 1 54"/>
                <a:gd name="f125" fmla="*/ f86 1 33"/>
                <a:gd name="f126" fmla="*/ f87 1 54"/>
                <a:gd name="f127" fmla="*/ f88 1 33"/>
                <a:gd name="f128" fmla="*/ f89 1 54"/>
                <a:gd name="f129" fmla="*/ f90 1 33"/>
                <a:gd name="f130" fmla="*/ f91 1 54"/>
                <a:gd name="f131" fmla="*/ f92 1 54"/>
                <a:gd name="f132" fmla="*/ f93 1 54"/>
                <a:gd name="f133" fmla="*/ f94 1 54"/>
                <a:gd name="f134" fmla="*/ f95 1 54"/>
                <a:gd name="f135" fmla="*/ 0 1 f56"/>
                <a:gd name="f136" fmla="*/ f6 1 f56"/>
                <a:gd name="f137" fmla="*/ 0 1 f57"/>
                <a:gd name="f138" fmla="*/ f7 1 f57"/>
                <a:gd name="f139" fmla="+- f96 0 f1"/>
                <a:gd name="f140" fmla="*/ f97 1 f56"/>
                <a:gd name="f141" fmla="*/ f98 1 f57"/>
                <a:gd name="f142" fmla="*/ f99 1 f56"/>
                <a:gd name="f143" fmla="*/ f100 1 f57"/>
                <a:gd name="f144" fmla="*/ f101 1 f56"/>
                <a:gd name="f145" fmla="*/ f102 1 f57"/>
                <a:gd name="f146" fmla="*/ f103 1 f56"/>
                <a:gd name="f147" fmla="*/ f104 1 f57"/>
                <a:gd name="f148" fmla="*/ f105 1 f56"/>
                <a:gd name="f149" fmla="*/ f106 1 f57"/>
                <a:gd name="f150" fmla="*/ f107 1 f56"/>
                <a:gd name="f151" fmla="*/ f108 1 f56"/>
                <a:gd name="f152" fmla="*/ f109 1 f57"/>
                <a:gd name="f153" fmla="*/ f110 1 f56"/>
                <a:gd name="f154" fmla="*/ f111 1 f57"/>
                <a:gd name="f155" fmla="*/ f112 1 f57"/>
                <a:gd name="f156" fmla="*/ f113 1 f57"/>
                <a:gd name="f157" fmla="*/ f114 1 f56"/>
                <a:gd name="f158" fmla="*/ f115 1 f57"/>
                <a:gd name="f159" fmla="*/ f116 1 f57"/>
                <a:gd name="f160" fmla="*/ f117 1 f56"/>
                <a:gd name="f161" fmla="*/ f118 1 f57"/>
                <a:gd name="f162" fmla="*/ f119 1 f56"/>
                <a:gd name="f163" fmla="*/ f120 1 f56"/>
                <a:gd name="f164" fmla="*/ f121 1 f57"/>
                <a:gd name="f165" fmla="*/ f122 1 f57"/>
                <a:gd name="f166" fmla="*/ f123 1 f56"/>
                <a:gd name="f167" fmla="*/ f124 1 f57"/>
                <a:gd name="f168" fmla="*/ f125 1 f56"/>
                <a:gd name="f169" fmla="*/ f126 1 f57"/>
                <a:gd name="f170" fmla="*/ f127 1 f56"/>
                <a:gd name="f171" fmla="*/ f128 1 f57"/>
                <a:gd name="f172" fmla="*/ f129 1 f56"/>
                <a:gd name="f173" fmla="*/ f130 1 f57"/>
                <a:gd name="f174" fmla="*/ f131 1 f57"/>
                <a:gd name="f175" fmla="*/ f132 1 f57"/>
                <a:gd name="f176" fmla="*/ f133 1 f57"/>
                <a:gd name="f177" fmla="*/ f134 1 f57"/>
                <a:gd name="f178" fmla="*/ f135 f51 1"/>
                <a:gd name="f179" fmla="*/ f136 f51 1"/>
                <a:gd name="f180" fmla="*/ f138 f52 1"/>
                <a:gd name="f181" fmla="*/ f137 f52 1"/>
                <a:gd name="f182" fmla="*/ f140 f51 1"/>
                <a:gd name="f183" fmla="*/ f141 f52 1"/>
                <a:gd name="f184" fmla="*/ f142 f51 1"/>
                <a:gd name="f185" fmla="*/ f143 f52 1"/>
                <a:gd name="f186" fmla="*/ f144 f51 1"/>
                <a:gd name="f187" fmla="*/ f145 f52 1"/>
                <a:gd name="f188" fmla="*/ f146 f51 1"/>
                <a:gd name="f189" fmla="*/ f147 f52 1"/>
                <a:gd name="f190" fmla="*/ f148 f51 1"/>
                <a:gd name="f191" fmla="*/ f149 f52 1"/>
                <a:gd name="f192" fmla="*/ f150 f51 1"/>
                <a:gd name="f193" fmla="*/ f151 f51 1"/>
                <a:gd name="f194" fmla="*/ f152 f52 1"/>
                <a:gd name="f195" fmla="*/ f153 f51 1"/>
                <a:gd name="f196" fmla="*/ f154 f52 1"/>
                <a:gd name="f197" fmla="*/ f155 f52 1"/>
                <a:gd name="f198" fmla="*/ f156 f52 1"/>
                <a:gd name="f199" fmla="*/ f157 f51 1"/>
                <a:gd name="f200" fmla="*/ f158 f52 1"/>
                <a:gd name="f201" fmla="*/ f159 f52 1"/>
                <a:gd name="f202" fmla="*/ f160 f51 1"/>
                <a:gd name="f203" fmla="*/ f161 f52 1"/>
                <a:gd name="f204" fmla="*/ f162 f51 1"/>
                <a:gd name="f205" fmla="*/ f163 f51 1"/>
                <a:gd name="f206" fmla="*/ f164 f52 1"/>
                <a:gd name="f207" fmla="*/ f165 f52 1"/>
                <a:gd name="f208" fmla="*/ f166 f51 1"/>
                <a:gd name="f209" fmla="*/ f167 f52 1"/>
                <a:gd name="f210" fmla="*/ f168 f51 1"/>
                <a:gd name="f211" fmla="*/ f169 f52 1"/>
                <a:gd name="f212" fmla="*/ f170 f51 1"/>
                <a:gd name="f213" fmla="*/ f171 f52 1"/>
                <a:gd name="f214" fmla="*/ f172 f51 1"/>
                <a:gd name="f215" fmla="*/ f173 f52 1"/>
                <a:gd name="f216" fmla="*/ f174 f52 1"/>
                <a:gd name="f217" fmla="*/ f175 f52 1"/>
                <a:gd name="f218" fmla="*/ f176 f52 1"/>
                <a:gd name="f219" fmla="*/ f177 f52 1"/>
              </a:gdLst>
              <a:ahLst/>
              <a:cxnLst>
                <a:cxn ang="3cd4">
                  <a:pos x="hc" y="t"/>
                </a:cxn>
                <a:cxn ang="0">
                  <a:pos x="r" y="vc"/>
                </a:cxn>
                <a:cxn ang="cd4">
                  <a:pos x="hc" y="b"/>
                </a:cxn>
                <a:cxn ang="cd2">
                  <a:pos x="l" y="vc"/>
                </a:cxn>
                <a:cxn ang="f139">
                  <a:pos x="f182" y="f183"/>
                </a:cxn>
                <a:cxn ang="f139">
                  <a:pos x="f184" y="f185"/>
                </a:cxn>
                <a:cxn ang="f139">
                  <a:pos x="f186" y="f187"/>
                </a:cxn>
                <a:cxn ang="f139">
                  <a:pos x="f188" y="f189"/>
                </a:cxn>
                <a:cxn ang="f139">
                  <a:pos x="f190" y="f191"/>
                </a:cxn>
                <a:cxn ang="f139">
                  <a:pos x="f192" y="f189"/>
                </a:cxn>
                <a:cxn ang="f139">
                  <a:pos x="f193" y="f194"/>
                </a:cxn>
                <a:cxn ang="f139">
                  <a:pos x="f193" y="f189"/>
                </a:cxn>
                <a:cxn ang="f139">
                  <a:pos x="f195" y="f189"/>
                </a:cxn>
                <a:cxn ang="f139">
                  <a:pos x="f195" y="f196"/>
                </a:cxn>
                <a:cxn ang="f139">
                  <a:pos x="f193" y="f197"/>
                </a:cxn>
                <a:cxn ang="f139">
                  <a:pos x="f193" y="f198"/>
                </a:cxn>
                <a:cxn ang="f139">
                  <a:pos x="f199" y="f200"/>
                </a:cxn>
                <a:cxn ang="f139">
                  <a:pos x="f192" y="f201"/>
                </a:cxn>
                <a:cxn ang="f139">
                  <a:pos x="f202" y="f203"/>
                </a:cxn>
                <a:cxn ang="f139">
                  <a:pos x="f204" y="f203"/>
                </a:cxn>
                <a:cxn ang="f139">
                  <a:pos x="f205" y="f206"/>
                </a:cxn>
                <a:cxn ang="f139">
                  <a:pos x="f186" y="f198"/>
                </a:cxn>
                <a:cxn ang="f139">
                  <a:pos x="f184" y="f207"/>
                </a:cxn>
                <a:cxn ang="f139">
                  <a:pos x="f182" y="f183"/>
                </a:cxn>
                <a:cxn ang="f139">
                  <a:pos x="f208" y="f183"/>
                </a:cxn>
                <a:cxn ang="f139">
                  <a:pos x="f188" y="f209"/>
                </a:cxn>
                <a:cxn ang="f139">
                  <a:pos x="f210" y="f211"/>
                </a:cxn>
                <a:cxn ang="f139">
                  <a:pos x="f202" y="f211"/>
                </a:cxn>
                <a:cxn ang="f139">
                  <a:pos x="f212" y="f213"/>
                </a:cxn>
                <a:cxn ang="f139">
                  <a:pos x="f214" y="f209"/>
                </a:cxn>
                <a:cxn ang="f139">
                  <a:pos x="f193" y="f215"/>
                </a:cxn>
                <a:cxn ang="f139">
                  <a:pos x="f193" y="f216"/>
                </a:cxn>
                <a:cxn ang="f139">
                  <a:pos x="f214" y="f217"/>
                </a:cxn>
                <a:cxn ang="f139">
                  <a:pos x="f212" y="f218"/>
                </a:cxn>
                <a:cxn ang="f139">
                  <a:pos x="f202" y="f219"/>
                </a:cxn>
                <a:cxn ang="f139">
                  <a:pos x="f190" y="f219"/>
                </a:cxn>
                <a:cxn ang="f139">
                  <a:pos x="f188" y="f217"/>
                </a:cxn>
                <a:cxn ang="f139">
                  <a:pos x="f208" y="f183"/>
                </a:cxn>
              </a:cxnLst>
              <a:rect l="f178" t="f181" r="f179" b="f180"/>
              <a:pathLst>
                <a:path w="33" h="54">
                  <a:moveTo>
                    <a:pt x="f6" y="f8"/>
                  </a:moveTo>
                  <a:cubicBezTo>
                    <a:pt x="f6" y="f9"/>
                    <a:pt x="f10" y="f11"/>
                    <a:pt x="f12" y="f13"/>
                  </a:cubicBezTo>
                  <a:cubicBezTo>
                    <a:pt x="f14" y="f15"/>
                    <a:pt x="f16" y="f17"/>
                    <a:pt x="f18" y="f19"/>
                  </a:cubicBezTo>
                  <a:cubicBezTo>
                    <a:pt x="f20" y="f21"/>
                    <a:pt x="f22" y="f23"/>
                    <a:pt x="f24" y="f25"/>
                  </a:cubicBezTo>
                  <a:cubicBezTo>
                    <a:pt x="f26" y="f7"/>
                    <a:pt x="f27" y="f7"/>
                    <a:pt x="f28" y="f7"/>
                  </a:cubicBezTo>
                  <a:cubicBezTo>
                    <a:pt x="f29" y="f7"/>
                    <a:pt x="f30" y="f7"/>
                    <a:pt x="f31" y="f25"/>
                  </a:cubicBezTo>
                  <a:cubicBezTo>
                    <a:pt x="f32" y="f23"/>
                    <a:pt x="f33" y="f21"/>
                    <a:pt x="f34" y="f35"/>
                  </a:cubicBezTo>
                  <a:cubicBezTo>
                    <a:pt x="f34" y="f25"/>
                    <a:pt x="f34" y="f25"/>
                    <a:pt x="f34" y="f25"/>
                  </a:cubicBezTo>
                  <a:cubicBezTo>
                    <a:pt x="f5" y="f25"/>
                    <a:pt x="f5" y="f25"/>
                    <a:pt x="f5" y="f25"/>
                  </a:cubicBezTo>
                  <a:cubicBezTo>
                    <a:pt x="f5" y="f36"/>
                    <a:pt x="f5" y="f36"/>
                    <a:pt x="f5" y="f36"/>
                  </a:cubicBezTo>
                  <a:cubicBezTo>
                    <a:pt x="f34" y="f5"/>
                    <a:pt x="f34" y="f5"/>
                    <a:pt x="f34" y="f5"/>
                  </a:cubicBezTo>
                  <a:cubicBezTo>
                    <a:pt x="f34" y="f27"/>
                    <a:pt x="f34" y="f27"/>
                    <a:pt x="f34" y="f27"/>
                  </a:cubicBezTo>
                  <a:cubicBezTo>
                    <a:pt x="f33" y="f37"/>
                    <a:pt x="f33" y="f28"/>
                    <a:pt x="f32" y="f28"/>
                  </a:cubicBezTo>
                  <a:cubicBezTo>
                    <a:pt x="f38" y="f29"/>
                    <a:pt x="f38" y="f29"/>
                    <a:pt x="f31" y="f29"/>
                  </a:cubicBezTo>
                  <a:cubicBezTo>
                    <a:pt x="f39" y="f40"/>
                    <a:pt x="f39" y="f40"/>
                    <a:pt x="f30" y="f30"/>
                  </a:cubicBezTo>
                  <a:cubicBezTo>
                    <a:pt x="f40" y="f30"/>
                    <a:pt x="f29" y="f30"/>
                    <a:pt x="f37" y="f30"/>
                  </a:cubicBezTo>
                  <a:cubicBezTo>
                    <a:pt x="f41" y="f30"/>
                    <a:pt x="f42" y="f30"/>
                    <a:pt x="f43" y="f40"/>
                  </a:cubicBezTo>
                  <a:cubicBezTo>
                    <a:pt x="f22" y="f29"/>
                    <a:pt x="f20" y="f28"/>
                    <a:pt x="f18" y="f27"/>
                  </a:cubicBezTo>
                  <a:cubicBezTo>
                    <a:pt x="f14" y="f26"/>
                    <a:pt x="f12" y="f24"/>
                    <a:pt x="f12" y="f22"/>
                  </a:cubicBezTo>
                  <a:cubicBezTo>
                    <a:pt x="f10" y="f18"/>
                    <a:pt x="f6" y="f12"/>
                    <a:pt x="f6" y="f8"/>
                  </a:cubicBezTo>
                  <a:close/>
                  <a:moveTo>
                    <a:pt x="f22" y="f8"/>
                  </a:moveTo>
                  <a:cubicBezTo>
                    <a:pt x="f22" y="f14"/>
                    <a:pt x="f43" y="f20"/>
                    <a:pt x="f24" y="f43"/>
                  </a:cubicBezTo>
                  <a:cubicBezTo>
                    <a:pt x="f26" y="f42"/>
                    <a:pt x="f27" y="f26"/>
                    <a:pt x="f29" y="f26"/>
                  </a:cubicBezTo>
                  <a:cubicBezTo>
                    <a:pt x="f40" y="f26"/>
                    <a:pt x="f40" y="f26"/>
                    <a:pt x="f30" y="f26"/>
                  </a:cubicBezTo>
                  <a:cubicBezTo>
                    <a:pt x="f39" y="f42"/>
                    <a:pt x="f31" y="f42"/>
                    <a:pt x="f38" y="f24"/>
                  </a:cubicBezTo>
                  <a:cubicBezTo>
                    <a:pt x="f38" y="f24"/>
                    <a:pt x="f32" y="f43"/>
                    <a:pt x="f33" y="f43"/>
                  </a:cubicBezTo>
                  <a:cubicBezTo>
                    <a:pt x="f33" y="f22"/>
                    <a:pt x="f34" y="f22"/>
                    <a:pt x="f34" y="f44"/>
                  </a:cubicBezTo>
                  <a:cubicBezTo>
                    <a:pt x="f34" y="f45"/>
                    <a:pt x="f34" y="f45"/>
                    <a:pt x="f34" y="f45"/>
                  </a:cubicBezTo>
                  <a:cubicBezTo>
                    <a:pt x="f34" y="f13"/>
                    <a:pt x="f33" y="f13"/>
                    <a:pt x="f33" y="f46"/>
                  </a:cubicBezTo>
                  <a:cubicBezTo>
                    <a:pt x="f32" y="f46"/>
                    <a:pt x="f38" y="f47"/>
                    <a:pt x="f38" y="f47"/>
                  </a:cubicBezTo>
                  <a:cubicBezTo>
                    <a:pt x="f31" y="f15"/>
                    <a:pt x="f39" y="f15"/>
                    <a:pt x="f30" y="f48"/>
                  </a:cubicBezTo>
                  <a:cubicBezTo>
                    <a:pt x="f40" y="f48"/>
                    <a:pt x="f29" y="f48"/>
                    <a:pt x="f28" y="f48"/>
                  </a:cubicBezTo>
                  <a:cubicBezTo>
                    <a:pt x="f27" y="f48"/>
                    <a:pt x="f26" y="f15"/>
                    <a:pt x="f24" y="f46"/>
                  </a:cubicBezTo>
                  <a:cubicBezTo>
                    <a:pt x="f43" y="f45"/>
                    <a:pt x="f22" y="f49"/>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2" name="Freeform 52">
              <a:extLst>
                <a:ext uri="{FF2B5EF4-FFF2-40B4-BE49-F238E27FC236}">
                  <a16:creationId xmlns:a16="http://schemas.microsoft.com/office/drawing/2014/main" id="{71B32861-69B8-CBB4-A997-B36B8D249E43}"/>
                </a:ext>
              </a:extLst>
            </p:cNvPr>
            <p:cNvSpPr/>
            <p:nvPr/>
          </p:nvSpPr>
          <p:spPr>
            <a:xfrm>
              <a:off x="956215"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3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30 f50 1"/>
                <a:gd name="f74" fmla="*/ 35 f49 1"/>
                <a:gd name="f75" fmla="*/ 27 f50 1"/>
                <a:gd name="f76" fmla="*/ 37 f49 1"/>
                <a:gd name="f77" fmla="*/ 24 f50 1"/>
                <a:gd name="f78" fmla="*/ 39 f49 1"/>
                <a:gd name="f79" fmla="*/ 40 f49 1"/>
                <a:gd name="f80" fmla="*/ 16 f50 1"/>
                <a:gd name="f81" fmla="*/ 12 f50 1"/>
                <a:gd name="f82" fmla="*/ 38 f49 1"/>
                <a:gd name="f83" fmla="*/ 5 f50 1"/>
                <a:gd name="f84" fmla="*/ 2 f50 1"/>
                <a:gd name="f85" fmla="*/ 0 f50 1"/>
                <a:gd name="f86" fmla="*/ 26 f49 1"/>
                <a:gd name="f87" fmla="*/ 20 f49 1"/>
                <a:gd name="f88" fmla="*/ 1 f50 1"/>
                <a:gd name="f89" fmla="*/ 12 f49 1"/>
                <a:gd name="f90" fmla="*/ 4 f50 1"/>
                <a:gd name="f91" fmla="*/ 5 f49 1"/>
                <a:gd name="f92" fmla="*/ 1 f49 1"/>
                <a:gd name="f93" fmla="*/ 0 f49 1"/>
                <a:gd name="f94" fmla="*/ 2 f49 1"/>
                <a:gd name="f95" fmla="*/ 29 f50 1"/>
                <a:gd name="f96" fmla="*/ 6 f49 1"/>
                <a:gd name="f97" fmla="*/ 17 f49 1"/>
                <a:gd name="f98" fmla="*/ 13 f49 1"/>
                <a:gd name="f99" fmla="*/ 10 f49 1"/>
                <a:gd name="f100" fmla="*/ 20 f50 1"/>
                <a:gd name="f101" fmla="*/ 8 f49 1"/>
                <a:gd name="f102" fmla="*/ 7 f49 1"/>
                <a:gd name="f103" fmla="*/ 9 f49 1"/>
                <a:gd name="f104" fmla="*/ f51 1 f2"/>
                <a:gd name="f105" fmla="*/ f54 1 33"/>
                <a:gd name="f106" fmla="*/ f55 1 40"/>
                <a:gd name="f107" fmla="*/ f56 1 40"/>
                <a:gd name="f108" fmla="*/ f57 1 33"/>
                <a:gd name="f109" fmla="*/ f58 1 40"/>
                <a:gd name="f110" fmla="*/ f59 1 33"/>
                <a:gd name="f111" fmla="*/ f60 1 33"/>
                <a:gd name="f112" fmla="*/ f61 1 40"/>
                <a:gd name="f113" fmla="*/ f62 1 33"/>
                <a:gd name="f114" fmla="*/ f63 1 40"/>
                <a:gd name="f115" fmla="*/ f64 1 33"/>
                <a:gd name="f116" fmla="*/ f65 1 40"/>
                <a:gd name="f117" fmla="*/ f66 1 33"/>
                <a:gd name="f118" fmla="*/ f67 1 33"/>
                <a:gd name="f119" fmla="*/ f68 1 33"/>
                <a:gd name="f120" fmla="*/ f69 1 40"/>
                <a:gd name="f121" fmla="*/ f70 1 33"/>
                <a:gd name="f122" fmla="*/ f71 1 33"/>
                <a:gd name="f123" fmla="*/ f72 1 40"/>
                <a:gd name="f124" fmla="*/ f73 1 33"/>
                <a:gd name="f125" fmla="*/ f74 1 40"/>
                <a:gd name="f126" fmla="*/ f75 1 33"/>
                <a:gd name="f127" fmla="*/ f76 1 40"/>
                <a:gd name="f128" fmla="*/ f77 1 33"/>
                <a:gd name="f129" fmla="*/ f78 1 40"/>
                <a:gd name="f130" fmla="*/ f79 1 40"/>
                <a:gd name="f131" fmla="*/ f80 1 33"/>
                <a:gd name="f132" fmla="*/ f81 1 33"/>
                <a:gd name="f133" fmla="*/ f82 1 40"/>
                <a:gd name="f134" fmla="*/ f83 1 33"/>
                <a:gd name="f135" fmla="*/ f84 1 33"/>
                <a:gd name="f136" fmla="*/ f85 1 33"/>
                <a:gd name="f137" fmla="*/ f86 1 40"/>
                <a:gd name="f138" fmla="*/ f87 1 40"/>
                <a:gd name="f139" fmla="*/ f88 1 33"/>
                <a:gd name="f140" fmla="*/ f89 1 40"/>
                <a:gd name="f141" fmla="*/ f90 1 33"/>
                <a:gd name="f142" fmla="*/ f91 1 40"/>
                <a:gd name="f143" fmla="*/ f92 1 40"/>
                <a:gd name="f144" fmla="*/ f93 1 40"/>
                <a:gd name="f145" fmla="*/ f94 1 40"/>
                <a:gd name="f146" fmla="*/ f95 1 33"/>
                <a:gd name="f147" fmla="*/ f96 1 40"/>
                <a:gd name="f148" fmla="*/ f97 1 40"/>
                <a:gd name="f149" fmla="*/ f98 1 40"/>
                <a:gd name="f150" fmla="*/ f99 1 40"/>
                <a:gd name="f151" fmla="*/ f100 1 33"/>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3"/>
                <a:gd name="f163" fmla="*/ f108 1 f52"/>
                <a:gd name="f164" fmla="*/ f109 1 f53"/>
                <a:gd name="f165" fmla="*/ f110 1 f52"/>
                <a:gd name="f166" fmla="*/ f111 1 f52"/>
                <a:gd name="f167" fmla="*/ f112 1 f53"/>
                <a:gd name="f168" fmla="*/ f113 1 f52"/>
                <a:gd name="f169" fmla="*/ f114 1 f53"/>
                <a:gd name="f170" fmla="*/ f115 1 f52"/>
                <a:gd name="f171" fmla="*/ f116 1 f53"/>
                <a:gd name="f172" fmla="*/ f117 1 f52"/>
                <a:gd name="f173" fmla="*/ f118 1 f52"/>
                <a:gd name="f174" fmla="*/ f119 1 f52"/>
                <a:gd name="f175" fmla="*/ f120 1 f53"/>
                <a:gd name="f176" fmla="*/ f121 1 f52"/>
                <a:gd name="f177" fmla="*/ f122 1 f52"/>
                <a:gd name="f178" fmla="*/ f123 1 f53"/>
                <a:gd name="f179" fmla="*/ f124 1 f52"/>
                <a:gd name="f180" fmla="*/ f125 1 f53"/>
                <a:gd name="f181" fmla="*/ f126 1 f52"/>
                <a:gd name="f182" fmla="*/ f127 1 f53"/>
                <a:gd name="f183" fmla="*/ f128 1 f52"/>
                <a:gd name="f184" fmla="*/ f129 1 f53"/>
                <a:gd name="f185" fmla="*/ f130 1 f53"/>
                <a:gd name="f186" fmla="*/ f131 1 f52"/>
                <a:gd name="f187" fmla="*/ f132 1 f52"/>
                <a:gd name="f188" fmla="*/ f133 1 f53"/>
                <a:gd name="f189" fmla="*/ f134 1 f52"/>
                <a:gd name="f190" fmla="*/ f135 1 f52"/>
                <a:gd name="f191" fmla="*/ f136 1 f52"/>
                <a:gd name="f192" fmla="*/ f137 1 f53"/>
                <a:gd name="f193" fmla="*/ f138 1 f53"/>
                <a:gd name="f194" fmla="*/ f139 1 f52"/>
                <a:gd name="f195" fmla="*/ f140 1 f53"/>
                <a:gd name="f196" fmla="*/ f141 1 f52"/>
                <a:gd name="f197" fmla="*/ f142 1 f53"/>
                <a:gd name="f198" fmla="*/ f143 1 f53"/>
                <a:gd name="f199" fmla="*/ f144 1 f53"/>
                <a:gd name="f200" fmla="*/ f145 1 f53"/>
                <a:gd name="f201" fmla="*/ f146 1 f52"/>
                <a:gd name="f202" fmla="*/ f147 1 f53"/>
                <a:gd name="f203" fmla="*/ f148 1 f53"/>
                <a:gd name="f204" fmla="*/ f149 1 f53"/>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8 1"/>
                <a:gd name="f217" fmla="*/ f163 f47 1"/>
                <a:gd name="f218" fmla="*/ f164 f48 1"/>
                <a:gd name="f219" fmla="*/ f165 f47 1"/>
                <a:gd name="f220" fmla="*/ f166 f47 1"/>
                <a:gd name="f221" fmla="*/ f167 f48 1"/>
                <a:gd name="f222" fmla="*/ f168 f47 1"/>
                <a:gd name="f223" fmla="*/ f169 f48 1"/>
                <a:gd name="f224" fmla="*/ f170 f47 1"/>
                <a:gd name="f225" fmla="*/ f171 f48 1"/>
                <a:gd name="f226" fmla="*/ f172 f47 1"/>
                <a:gd name="f227" fmla="*/ f173 f47 1"/>
                <a:gd name="f228" fmla="*/ f174 f47 1"/>
                <a:gd name="f229" fmla="*/ f175 f48 1"/>
                <a:gd name="f230" fmla="*/ f176 f47 1"/>
                <a:gd name="f231" fmla="*/ f177 f47 1"/>
                <a:gd name="f232" fmla="*/ f178 f48 1"/>
                <a:gd name="f233" fmla="*/ f179 f47 1"/>
                <a:gd name="f234" fmla="*/ f180 f48 1"/>
                <a:gd name="f235" fmla="*/ f181 f47 1"/>
                <a:gd name="f236" fmla="*/ f182 f48 1"/>
                <a:gd name="f237" fmla="*/ f183 f47 1"/>
                <a:gd name="f238" fmla="*/ f184 f48 1"/>
                <a:gd name="f239" fmla="*/ f185 f48 1"/>
                <a:gd name="f240" fmla="*/ f186 f47 1"/>
                <a:gd name="f241" fmla="*/ f187 f47 1"/>
                <a:gd name="f242" fmla="*/ f188 f48 1"/>
                <a:gd name="f243" fmla="*/ f189 f47 1"/>
                <a:gd name="f244" fmla="*/ f190 f47 1"/>
                <a:gd name="f245" fmla="*/ f191 f47 1"/>
                <a:gd name="f246" fmla="*/ f192 f48 1"/>
                <a:gd name="f247" fmla="*/ f193 f48 1"/>
                <a:gd name="f248" fmla="*/ f194 f47 1"/>
                <a:gd name="f249" fmla="*/ f195 f48 1"/>
                <a:gd name="f250" fmla="*/ f196 f47 1"/>
                <a:gd name="f251" fmla="*/ f197 f48 1"/>
                <a:gd name="f252" fmla="*/ f198 f48 1"/>
                <a:gd name="f253" fmla="*/ f199 f48 1"/>
                <a:gd name="f254" fmla="*/ f200 f48 1"/>
                <a:gd name="f255" fmla="*/ f201 f47 1"/>
                <a:gd name="f256" fmla="*/ f202 f48 1"/>
                <a:gd name="f257" fmla="*/ f203 f48 1"/>
                <a:gd name="f258" fmla="*/ f204 f48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4" y="f216"/>
                </a:cxn>
                <a:cxn ang="f159">
                  <a:pos x="f217" y="f218"/>
                </a:cxn>
                <a:cxn ang="f159">
                  <a:pos x="f219" y="f218"/>
                </a:cxn>
                <a:cxn ang="f159">
                  <a:pos x="f220" y="f221"/>
                </a:cxn>
                <a:cxn ang="f159">
                  <a:pos x="f222" y="f223"/>
                </a:cxn>
                <a:cxn ang="f159">
                  <a:pos x="f224" y="f225"/>
                </a:cxn>
                <a:cxn ang="f159">
                  <a:pos x="f226" y="f225"/>
                </a:cxn>
                <a:cxn ang="f159">
                  <a:pos x="f227" y="f225"/>
                </a:cxn>
                <a:cxn ang="f159">
                  <a:pos x="f228" y="f229"/>
                </a:cxn>
                <a:cxn ang="f159">
                  <a:pos x="f230" y="f229"/>
                </a:cxn>
                <a:cxn ang="f159">
                  <a:pos x="f231" y="f232"/>
                </a:cxn>
                <a:cxn ang="f159">
                  <a:pos x="f233" y="f234"/>
                </a:cxn>
                <a:cxn ang="f159">
                  <a:pos x="f235" y="f236"/>
                </a:cxn>
                <a:cxn ang="f159">
                  <a:pos x="f237" y="f238"/>
                </a:cxn>
                <a:cxn ang="f159">
                  <a:pos x="f228" y="f239"/>
                </a:cxn>
                <a:cxn ang="f159">
                  <a:pos x="f240" y="f239"/>
                </a:cxn>
                <a:cxn ang="f159">
                  <a:pos x="f241" y="f238"/>
                </a:cxn>
                <a:cxn ang="f159">
                  <a:pos x="f220" y="f242"/>
                </a:cxn>
                <a:cxn ang="f159">
                  <a:pos x="f243" y="f234"/>
                </a:cxn>
                <a:cxn ang="f159">
                  <a:pos x="f244" y="f223"/>
                </a:cxn>
                <a:cxn ang="f159">
                  <a:pos x="f245" y="f246"/>
                </a:cxn>
                <a:cxn ang="f159">
                  <a:pos x="f245" y="f247"/>
                </a:cxn>
                <a:cxn ang="f159">
                  <a:pos x="f248" y="f249"/>
                </a:cxn>
                <a:cxn ang="f159">
                  <a:pos x="f250" y="f251"/>
                </a:cxn>
                <a:cxn ang="f159">
                  <a:pos x="f222" y="f252"/>
                </a:cxn>
                <a:cxn ang="f159">
                  <a:pos x="f240" y="f253"/>
                </a:cxn>
                <a:cxn ang="f159">
                  <a:pos x="f237" y="f254"/>
                </a:cxn>
                <a:cxn ang="f159">
                  <a:pos x="f255" y="f256"/>
                </a:cxn>
                <a:cxn ang="f159">
                  <a:pos x="f217" y="f249"/>
                </a:cxn>
                <a:cxn ang="f159">
                  <a:pos x="f214" y="f215"/>
                </a:cxn>
                <a:cxn ang="f159">
                  <a:pos x="f231" y="f257"/>
                </a:cxn>
                <a:cxn ang="f159">
                  <a:pos x="f237" y="f258"/>
                </a:cxn>
                <a:cxn ang="f159">
                  <a:pos x="f230" y="f259"/>
                </a:cxn>
                <a:cxn ang="f159">
                  <a:pos x="f260" y="f261"/>
                </a:cxn>
                <a:cxn ang="f159">
                  <a:pos x="f240" y="f262"/>
                </a:cxn>
                <a:cxn ang="f159">
                  <a:pos x="f241" y="f261"/>
                </a:cxn>
                <a:cxn ang="f159">
                  <a:pos x="f222" y="f263"/>
                </a:cxn>
                <a:cxn ang="f159">
                  <a:pos x="f220" y="f249"/>
                </a:cxn>
                <a:cxn ang="f159">
                  <a:pos x="f219" y="f257"/>
                </a:cxn>
                <a:cxn ang="f159">
                  <a:pos x="f231" y="f257"/>
                </a:cxn>
              </a:cxnLst>
              <a:rect l="f210" t="f213" r="f211" b="f212"/>
              <a:pathLst>
                <a:path w="33" h="40">
                  <a:moveTo>
                    <a:pt x="f6" y="f8"/>
                  </a:moveTo>
                  <a:cubicBezTo>
                    <a:pt x="f6" y="f9"/>
                    <a:pt x="f6" y="f10"/>
                    <a:pt x="f6" y="f10"/>
                  </a:cubicBezTo>
                  <a:cubicBezTo>
                    <a:pt x="f6" y="f11"/>
                    <a:pt x="f12" y="f11"/>
                    <a:pt x="f12" y="f13"/>
                  </a:cubicBezTo>
                  <a:cubicBezTo>
                    <a:pt x="f14" y="f13"/>
                    <a:pt x="f14" y="f13"/>
                    <a:pt x="f14" y="f13"/>
                  </a:cubicBezTo>
                  <a:cubicBezTo>
                    <a:pt x="f14" y="f15"/>
                    <a:pt x="f16" y="f17"/>
                    <a:pt x="f16" y="f18"/>
                  </a:cubicBezTo>
                  <a:cubicBezTo>
                    <a:pt x="f19" y="f20"/>
                    <a:pt x="f21" y="f22"/>
                    <a:pt x="f21" y="f23"/>
                  </a:cubicBezTo>
                  <a:cubicBezTo>
                    <a:pt x="f24" y="f12"/>
                    <a:pt x="f25" y="f12"/>
                    <a:pt x="f26" y="f6"/>
                  </a:cubicBezTo>
                  <a:cubicBezTo>
                    <a:pt x="f27" y="f6"/>
                    <a:pt x="f28" y="f6"/>
                    <a:pt x="f29" y="f6"/>
                  </a:cubicBezTo>
                  <a:cubicBezTo>
                    <a:pt x="f30" y="f6"/>
                    <a:pt x="f30" y="f6"/>
                    <a:pt x="f8" y="f6"/>
                  </a:cubicBezTo>
                  <a:cubicBezTo>
                    <a:pt x="f9" y="f6"/>
                    <a:pt x="f10" y="f6"/>
                    <a:pt x="f10" y="f12"/>
                  </a:cubicBezTo>
                  <a:cubicBezTo>
                    <a:pt x="f11" y="f12"/>
                    <a:pt x="f11" y="f12"/>
                    <a:pt x="f13" y="f12"/>
                  </a:cubicBezTo>
                  <a:cubicBezTo>
                    <a:pt x="f31" y="f23"/>
                    <a:pt x="f31" y="f23"/>
                    <a:pt x="f15" y="f22"/>
                  </a:cubicBezTo>
                  <a:cubicBezTo>
                    <a:pt x="f22" y="f32"/>
                    <a:pt x="f22" y="f32"/>
                    <a:pt x="f22" y="f32"/>
                  </a:cubicBezTo>
                  <a:cubicBezTo>
                    <a:pt x="f20" y="f33"/>
                    <a:pt x="f18" y="f34"/>
                    <a:pt x="f35" y="f34"/>
                  </a:cubicBezTo>
                  <a:cubicBezTo>
                    <a:pt x="f17" y="f36"/>
                    <a:pt x="f15" y="f36"/>
                    <a:pt x="f31" y="f37"/>
                  </a:cubicBezTo>
                  <a:cubicBezTo>
                    <a:pt x="f13" y="f37"/>
                    <a:pt x="f11" y="f7"/>
                    <a:pt x="f10"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1"/>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1" y="f45"/>
                    <a:pt x="f31" y="f44"/>
                  </a:cubicBezTo>
                  <a:cubicBezTo>
                    <a:pt x="f17" y="f43"/>
                    <a:pt x="f35" y="f41"/>
                    <a:pt x="f20" y="f39"/>
                  </a:cubicBezTo>
                  <a:cubicBezTo>
                    <a:pt x="f22" y="f16"/>
                    <a:pt x="f23" y="f21"/>
                    <a:pt x="f12" y="f25"/>
                  </a:cubicBezTo>
                  <a:cubicBezTo>
                    <a:pt x="f12" y="f27"/>
                    <a:pt x="f6" y="f29"/>
                    <a:pt x="f6" y="f8"/>
                  </a:cubicBezTo>
                  <a:close/>
                  <a:moveTo>
                    <a:pt x="f15" y="f29"/>
                  </a:moveTo>
                  <a:cubicBezTo>
                    <a:pt x="f15" y="f38"/>
                    <a:pt x="f15" y="f27"/>
                    <a:pt x="f31" y="f26"/>
                  </a:cubicBezTo>
                  <a:cubicBezTo>
                    <a:pt x="f31" y="f25"/>
                    <a:pt x="f13" y="f24"/>
                    <a:pt x="f13" y="f21"/>
                  </a:cubicBezTo>
                  <a:cubicBezTo>
                    <a:pt x="f11" y="f19"/>
                    <a:pt x="f10" y="f16"/>
                    <a:pt x="f9" y="f16"/>
                  </a:cubicBezTo>
                  <a:cubicBezTo>
                    <a:pt x="f8" y="f14"/>
                    <a:pt x="f30"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3" name="Freeform 53">
              <a:extLst>
                <a:ext uri="{FF2B5EF4-FFF2-40B4-BE49-F238E27FC236}">
                  <a16:creationId xmlns:a16="http://schemas.microsoft.com/office/drawing/2014/main" id="{BB57C1B6-8725-AC02-B7F7-86AF1BEA411C}"/>
                </a:ext>
              </a:extLst>
            </p:cNvPr>
            <p:cNvSpPr/>
            <p:nvPr/>
          </p:nvSpPr>
          <p:spPr>
            <a:xfrm>
              <a:off x="1050325"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2"/>
                <a:gd name="f19" fmla="val 11"/>
                <a:gd name="f20" fmla="val 10"/>
                <a:gd name="f21" fmla="val 9"/>
                <a:gd name="f22" fmla="val 8"/>
                <a:gd name="f23" fmla="val 7"/>
                <a:gd name="f24" fmla="val 51"/>
                <a:gd name="f25" fmla="val 6"/>
                <a:gd name="f26" fmla="val 50"/>
                <a:gd name="f27" fmla="val 49"/>
                <a:gd name="f28" fmla="val 47"/>
                <a:gd name="f29" fmla="val 5"/>
                <a:gd name="f30" fmla="val 46"/>
                <a:gd name="f31" fmla="val 44"/>
                <a:gd name="f32" fmla="val 4"/>
                <a:gd name="f33" fmla="val 43"/>
                <a:gd name="f34" fmla="val 45"/>
                <a:gd name="f35" fmla="val 16"/>
                <a:gd name="f36" fmla="+- 0 0 -90"/>
                <a:gd name="f37" fmla="*/ f3 1 22"/>
                <a:gd name="f38" fmla="*/ f4 1 54"/>
                <a:gd name="f39" fmla="+- f7 0 f5"/>
                <a:gd name="f40" fmla="+- f6 0 f5"/>
                <a:gd name="f41" fmla="*/ f36 f0 1"/>
                <a:gd name="f42" fmla="*/ f40 1 22"/>
                <a:gd name="f43" fmla="*/ f39 1 54"/>
                <a:gd name="f44" fmla="*/ 21 f40 1"/>
                <a:gd name="f45" fmla="*/ 52 f39 1"/>
                <a:gd name="f46" fmla="*/ 18 f40 1"/>
                <a:gd name="f47" fmla="*/ 54 f39 1"/>
                <a:gd name="f48" fmla="*/ 14 f40 1"/>
                <a:gd name="f49" fmla="*/ 11 f40 1"/>
                <a:gd name="f50" fmla="*/ 8 f40 1"/>
                <a:gd name="f51" fmla="*/ 6 f40 1"/>
                <a:gd name="f52" fmla="*/ 49 f39 1"/>
                <a:gd name="f53" fmla="*/ 5 f40 1"/>
                <a:gd name="f54" fmla="*/ 44 f39 1"/>
                <a:gd name="f55" fmla="*/ 22 f39 1"/>
                <a:gd name="f56" fmla="*/ 0 f40 1"/>
                <a:gd name="f57" fmla="*/ 15 f39 1"/>
                <a:gd name="f58" fmla="*/ 4 f39 1"/>
                <a:gd name="f59" fmla="*/ 13 f40 1"/>
                <a:gd name="f60" fmla="*/ 0 f39 1"/>
                <a:gd name="f61" fmla="*/ 22 f40 1"/>
                <a:gd name="f62" fmla="*/ 43 f39 1"/>
                <a:gd name="f63" fmla="*/ 45 f39 1"/>
                <a:gd name="f64" fmla="*/ 46 f39 1"/>
                <a:gd name="f65" fmla="*/ 15 f40 1"/>
                <a:gd name="f66" fmla="*/ 47 f39 1"/>
                <a:gd name="f67" fmla="*/ 17 f40 1"/>
                <a:gd name="f68" fmla="*/ 20 f40 1"/>
                <a:gd name="f69" fmla="*/ f41 1 f2"/>
                <a:gd name="f70" fmla="*/ f44 1 22"/>
                <a:gd name="f71" fmla="*/ f45 1 54"/>
                <a:gd name="f72" fmla="*/ f46 1 22"/>
                <a:gd name="f73" fmla="*/ f47 1 54"/>
                <a:gd name="f74" fmla="*/ f48 1 22"/>
                <a:gd name="f75" fmla="*/ f49 1 22"/>
                <a:gd name="f76" fmla="*/ f50 1 22"/>
                <a:gd name="f77" fmla="*/ f51 1 22"/>
                <a:gd name="f78" fmla="*/ f52 1 54"/>
                <a:gd name="f79" fmla="*/ f53 1 22"/>
                <a:gd name="f80" fmla="*/ f54 1 54"/>
                <a:gd name="f81" fmla="*/ f55 1 54"/>
                <a:gd name="f82" fmla="*/ f56 1 22"/>
                <a:gd name="f83" fmla="*/ f57 1 54"/>
                <a:gd name="f84" fmla="*/ f58 1 54"/>
                <a:gd name="f85" fmla="*/ f59 1 22"/>
                <a:gd name="f86" fmla="*/ f60 1 54"/>
                <a:gd name="f87" fmla="*/ f61 1 22"/>
                <a:gd name="f88" fmla="*/ f62 1 54"/>
                <a:gd name="f89" fmla="*/ f63 1 54"/>
                <a:gd name="f90" fmla="*/ f64 1 54"/>
                <a:gd name="f91" fmla="*/ f65 1 22"/>
                <a:gd name="f92" fmla="*/ f66 1 54"/>
                <a:gd name="f93" fmla="*/ f67 1 22"/>
                <a:gd name="f94" fmla="*/ f68 1 22"/>
                <a:gd name="f95" fmla="*/ 0 1 f42"/>
                <a:gd name="f96" fmla="*/ f6 1 f42"/>
                <a:gd name="f97" fmla="*/ 0 1 f43"/>
                <a:gd name="f98" fmla="*/ f7 1 f43"/>
                <a:gd name="f99" fmla="+- f69 0 f1"/>
                <a:gd name="f100" fmla="*/ f70 1 f42"/>
                <a:gd name="f101" fmla="*/ f71 1 f43"/>
                <a:gd name="f102" fmla="*/ f72 1 f42"/>
                <a:gd name="f103" fmla="*/ f73 1 f43"/>
                <a:gd name="f104" fmla="*/ f74 1 f42"/>
                <a:gd name="f105" fmla="*/ f75 1 f42"/>
                <a:gd name="f106" fmla="*/ f76 1 f42"/>
                <a:gd name="f107" fmla="*/ f77 1 f42"/>
                <a:gd name="f108" fmla="*/ f78 1 f43"/>
                <a:gd name="f109" fmla="*/ f79 1 f42"/>
                <a:gd name="f110" fmla="*/ f80 1 f43"/>
                <a:gd name="f111" fmla="*/ f81 1 f43"/>
                <a:gd name="f112" fmla="*/ f82 1 f42"/>
                <a:gd name="f113" fmla="*/ f83 1 f43"/>
                <a:gd name="f114" fmla="*/ f84 1 f43"/>
                <a:gd name="f115" fmla="*/ f85 1 f42"/>
                <a:gd name="f116" fmla="*/ f86 1 f43"/>
                <a:gd name="f117" fmla="*/ f87 1 f42"/>
                <a:gd name="f118" fmla="*/ f88 1 f43"/>
                <a:gd name="f119" fmla="*/ f89 1 f43"/>
                <a:gd name="f120" fmla="*/ f90 1 f43"/>
                <a:gd name="f121" fmla="*/ f91 1 f42"/>
                <a:gd name="f122" fmla="*/ f92 1 f43"/>
                <a:gd name="f123" fmla="*/ f93 1 f42"/>
                <a:gd name="f124" fmla="*/ f94 1 f42"/>
                <a:gd name="f125" fmla="*/ f95 f37 1"/>
                <a:gd name="f126" fmla="*/ f96 f37 1"/>
                <a:gd name="f127" fmla="*/ f98 f38 1"/>
                <a:gd name="f128" fmla="*/ f97 f38 1"/>
                <a:gd name="f129" fmla="*/ f100 f37 1"/>
                <a:gd name="f130" fmla="*/ f101 f38 1"/>
                <a:gd name="f131" fmla="*/ f102 f37 1"/>
                <a:gd name="f132" fmla="*/ f103 f38 1"/>
                <a:gd name="f133" fmla="*/ f104 f37 1"/>
                <a:gd name="f134" fmla="*/ f105 f37 1"/>
                <a:gd name="f135" fmla="*/ f106 f37 1"/>
                <a:gd name="f136" fmla="*/ f107 f37 1"/>
                <a:gd name="f137" fmla="*/ f108 f38 1"/>
                <a:gd name="f138" fmla="*/ f109 f37 1"/>
                <a:gd name="f139" fmla="*/ f110 f38 1"/>
                <a:gd name="f140" fmla="*/ f111 f38 1"/>
                <a:gd name="f141" fmla="*/ f112 f37 1"/>
                <a:gd name="f142" fmla="*/ f113 f38 1"/>
                <a:gd name="f143" fmla="*/ f114 f38 1"/>
                <a:gd name="f144" fmla="*/ f115 f37 1"/>
                <a:gd name="f145" fmla="*/ f116 f38 1"/>
                <a:gd name="f146" fmla="*/ f117 f37 1"/>
                <a:gd name="f147" fmla="*/ f118 f38 1"/>
                <a:gd name="f148" fmla="*/ f119 f38 1"/>
                <a:gd name="f149" fmla="*/ f120 f38 1"/>
                <a:gd name="f150" fmla="*/ f121 f37 1"/>
                <a:gd name="f151" fmla="*/ f122 f38 1"/>
                <a:gd name="f152" fmla="*/ f123 f37 1"/>
                <a:gd name="f153" fmla="*/ f124 f37 1"/>
              </a:gdLst>
              <a:ahLst/>
              <a:cxnLst>
                <a:cxn ang="3cd4">
                  <a:pos x="hc" y="t"/>
                </a:cxn>
                <a:cxn ang="0">
                  <a:pos x="r" y="vc"/>
                </a:cxn>
                <a:cxn ang="cd4">
                  <a:pos x="hc" y="b"/>
                </a:cxn>
                <a:cxn ang="cd2">
                  <a:pos x="l" y="vc"/>
                </a:cxn>
                <a:cxn ang="f99">
                  <a:pos x="f129" y="f130"/>
                </a:cxn>
                <a:cxn ang="f99">
                  <a:pos x="f131" y="f132"/>
                </a:cxn>
                <a:cxn ang="f99">
                  <a:pos x="f133" y="f132"/>
                </a:cxn>
                <a:cxn ang="f99">
                  <a:pos x="f134" y="f132"/>
                </a:cxn>
                <a:cxn ang="f99">
                  <a:pos x="f135" y="f130"/>
                </a:cxn>
                <a:cxn ang="f99">
                  <a:pos x="f136" y="f137"/>
                </a:cxn>
                <a:cxn ang="f99">
                  <a:pos x="f138" y="f139"/>
                </a:cxn>
                <a:cxn ang="f99">
                  <a:pos x="f138" y="f140"/>
                </a:cxn>
                <a:cxn ang="f99">
                  <a:pos x="f141" y="f140"/>
                </a:cxn>
                <a:cxn ang="f99">
                  <a:pos x="f141" y="f142"/>
                </a:cxn>
                <a:cxn ang="f99">
                  <a:pos x="f138" y="f142"/>
                </a:cxn>
                <a:cxn ang="f99">
                  <a:pos x="f138" y="f143"/>
                </a:cxn>
                <a:cxn ang="f99">
                  <a:pos x="f144" y="f145"/>
                </a:cxn>
                <a:cxn ang="f99">
                  <a:pos x="f144" y="f142"/>
                </a:cxn>
                <a:cxn ang="f99">
                  <a:pos x="f146" y="f142"/>
                </a:cxn>
                <a:cxn ang="f99">
                  <a:pos x="f146" y="f140"/>
                </a:cxn>
                <a:cxn ang="f99">
                  <a:pos x="f144" y="f140"/>
                </a:cxn>
                <a:cxn ang="f99">
                  <a:pos x="f144" y="f147"/>
                </a:cxn>
                <a:cxn ang="f99">
                  <a:pos x="f144" y="f148"/>
                </a:cxn>
                <a:cxn ang="f99">
                  <a:pos x="f133" y="f149"/>
                </a:cxn>
                <a:cxn ang="f99">
                  <a:pos x="f150" y="f151"/>
                </a:cxn>
                <a:cxn ang="f99">
                  <a:pos x="f152" y="f151"/>
                </a:cxn>
                <a:cxn ang="f99">
                  <a:pos x="f153" y="f151"/>
                </a:cxn>
                <a:cxn ang="f99">
                  <a:pos x="f146" y="f149"/>
                </a:cxn>
                <a:cxn ang="f99">
                  <a:pos x="f129" y="f130"/>
                </a:cxn>
              </a:cxnLst>
              <a:rect l="f125" t="f128" r="f126" b="f127"/>
              <a:pathLst>
                <a:path w="22" h="54">
                  <a:moveTo>
                    <a:pt x="f8" y="f9"/>
                  </a:moveTo>
                  <a:cubicBezTo>
                    <a:pt x="f10" y="f11"/>
                    <a:pt x="f12" y="f11"/>
                    <a:pt x="f13" y="f7"/>
                  </a:cubicBezTo>
                  <a:cubicBezTo>
                    <a:pt x="f14" y="f7"/>
                    <a:pt x="f15" y="f7"/>
                    <a:pt x="f16" y="f7"/>
                  </a:cubicBezTo>
                  <a:cubicBezTo>
                    <a:pt x="f17" y="f7"/>
                    <a:pt x="f18" y="f7"/>
                    <a:pt x="f19" y="f7"/>
                  </a:cubicBezTo>
                  <a:cubicBezTo>
                    <a:pt x="f20" y="f11"/>
                    <a:pt x="f21" y="f11"/>
                    <a:pt x="f22" y="f9"/>
                  </a:cubicBezTo>
                  <a:cubicBezTo>
                    <a:pt x="f23" y="f24"/>
                    <a:pt x="f25" y="f26"/>
                    <a:pt x="f25" y="f27"/>
                  </a:cubicBezTo>
                  <a:cubicBezTo>
                    <a:pt x="f25" y="f28"/>
                    <a:pt x="f29" y="f30"/>
                    <a:pt x="f29" y="f31"/>
                  </a:cubicBezTo>
                  <a:cubicBezTo>
                    <a:pt x="f29" y="f6"/>
                    <a:pt x="f29" y="f6"/>
                    <a:pt x="f29" y="f6"/>
                  </a:cubicBezTo>
                  <a:cubicBezTo>
                    <a:pt x="f5" y="f6"/>
                    <a:pt x="f5" y="f6"/>
                    <a:pt x="f5" y="f6"/>
                  </a:cubicBezTo>
                  <a:cubicBezTo>
                    <a:pt x="f5" y="f15"/>
                    <a:pt x="f5" y="f15"/>
                    <a:pt x="f5" y="f15"/>
                  </a:cubicBezTo>
                  <a:cubicBezTo>
                    <a:pt x="f29" y="f15"/>
                    <a:pt x="f29" y="f15"/>
                    <a:pt x="f29" y="f15"/>
                  </a:cubicBezTo>
                  <a:cubicBezTo>
                    <a:pt x="f29" y="f32"/>
                    <a:pt x="f29" y="f32"/>
                    <a:pt x="f29"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1"/>
                    <a:pt x="f17" y="f34"/>
                  </a:cubicBezTo>
                  <a:cubicBezTo>
                    <a:pt x="f17" y="f34"/>
                    <a:pt x="f17" y="f30"/>
                    <a:pt x="f16" y="f30"/>
                  </a:cubicBezTo>
                  <a:cubicBezTo>
                    <a:pt x="f16" y="f28"/>
                    <a:pt x="f16" y="f28"/>
                    <a:pt x="f15" y="f28"/>
                  </a:cubicBezTo>
                  <a:cubicBezTo>
                    <a:pt x="f15" y="f28"/>
                    <a:pt x="f35" y="f28"/>
                    <a:pt x="f14" y="f28"/>
                  </a:cubicBezTo>
                  <a:cubicBezTo>
                    <a:pt x="f13" y="f28"/>
                    <a:pt x="f12" y="f28"/>
                    <a:pt x="f10" y="f28"/>
                  </a:cubicBezTo>
                  <a:cubicBezTo>
                    <a:pt x="f8" y="f30"/>
                    <a:pt x="f6" y="f30"/>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4" name="Freeform 54">
              <a:extLst>
                <a:ext uri="{FF2B5EF4-FFF2-40B4-BE49-F238E27FC236}">
                  <a16:creationId xmlns:a16="http://schemas.microsoft.com/office/drawing/2014/main" id="{CD780266-045D-2C91-CF7B-89D6AFF77D5F}"/>
                </a:ext>
              </a:extLst>
            </p:cNvPr>
            <p:cNvSpPr/>
            <p:nvPr/>
          </p:nvSpPr>
          <p:spPr>
            <a:xfrm>
              <a:off x="111829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5" name="Freeform 55">
              <a:extLst>
                <a:ext uri="{FF2B5EF4-FFF2-40B4-BE49-F238E27FC236}">
                  <a16:creationId xmlns:a16="http://schemas.microsoft.com/office/drawing/2014/main" id="{E9A758F5-F755-2A2D-7F5A-E1FC83B97AEC}"/>
                </a:ext>
              </a:extLst>
            </p:cNvPr>
            <p:cNvSpPr/>
            <p:nvPr/>
          </p:nvSpPr>
          <p:spPr>
            <a:xfrm>
              <a:off x="1189753"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29 f50 1"/>
                <a:gd name="f74" fmla="*/ 35 f49 1"/>
                <a:gd name="f75" fmla="*/ 27 f50 1"/>
                <a:gd name="f76" fmla="*/ 37 f49 1"/>
                <a:gd name="f77" fmla="*/ 24 f50 1"/>
                <a:gd name="f78" fmla="*/ 39 f49 1"/>
                <a:gd name="f79" fmla="*/ 20 f50 1"/>
                <a:gd name="f80" fmla="*/ 40 f49 1"/>
                <a:gd name="f81" fmla="*/ 16 f50 1"/>
                <a:gd name="f82" fmla="*/ 12 f50 1"/>
                <a:gd name="f83" fmla="*/ 38 f49 1"/>
                <a:gd name="f84" fmla="*/ 5 f50 1"/>
                <a:gd name="f85" fmla="*/ 2 f50 1"/>
                <a:gd name="f86" fmla="*/ 0 f50 1"/>
                <a:gd name="f87" fmla="*/ 26 f49 1"/>
                <a:gd name="f88" fmla="*/ 20 f49 1"/>
                <a:gd name="f89" fmla="*/ 1 f50 1"/>
                <a:gd name="f90" fmla="*/ 12 f49 1"/>
                <a:gd name="f91" fmla="*/ 4 f50 1"/>
                <a:gd name="f92" fmla="*/ 5 f49 1"/>
                <a:gd name="f93" fmla="*/ 1 f49 1"/>
                <a:gd name="f94" fmla="*/ 0 f49 1"/>
                <a:gd name="f95" fmla="*/ 2 f49 1"/>
                <a:gd name="f96" fmla="*/ 6 f49 1"/>
                <a:gd name="f97" fmla="*/ 17 f49 1"/>
                <a:gd name="f98" fmla="*/ 13 f49 1"/>
                <a:gd name="f99" fmla="*/ 10 f49 1"/>
                <a:gd name="f100" fmla="*/ 8 f49 1"/>
                <a:gd name="f101" fmla="*/ 7 f49 1"/>
                <a:gd name="f102" fmla="*/ 9 f49 1"/>
                <a:gd name="f103" fmla="*/ f51 1 f2"/>
                <a:gd name="f104" fmla="*/ f54 1 33"/>
                <a:gd name="f105" fmla="*/ f55 1 40"/>
                <a:gd name="f106" fmla="*/ f56 1 40"/>
                <a:gd name="f107" fmla="*/ f57 1 33"/>
                <a:gd name="f108" fmla="*/ f58 1 40"/>
                <a:gd name="f109" fmla="*/ f59 1 33"/>
                <a:gd name="f110" fmla="*/ f60 1 33"/>
                <a:gd name="f111" fmla="*/ f61 1 40"/>
                <a:gd name="f112" fmla="*/ f62 1 33"/>
                <a:gd name="f113" fmla="*/ f63 1 40"/>
                <a:gd name="f114" fmla="*/ f64 1 33"/>
                <a:gd name="f115" fmla="*/ f65 1 40"/>
                <a:gd name="f116" fmla="*/ f66 1 33"/>
                <a:gd name="f117" fmla="*/ f67 1 33"/>
                <a:gd name="f118" fmla="*/ f68 1 33"/>
                <a:gd name="f119" fmla="*/ f69 1 40"/>
                <a:gd name="f120" fmla="*/ f70 1 33"/>
                <a:gd name="f121" fmla="*/ f71 1 33"/>
                <a:gd name="f122" fmla="*/ f72 1 40"/>
                <a:gd name="f123" fmla="*/ f73 1 33"/>
                <a:gd name="f124" fmla="*/ f74 1 40"/>
                <a:gd name="f125" fmla="*/ f75 1 33"/>
                <a:gd name="f126" fmla="*/ f76 1 40"/>
                <a:gd name="f127" fmla="*/ f77 1 33"/>
                <a:gd name="f128" fmla="*/ f78 1 40"/>
                <a:gd name="f129" fmla="*/ f79 1 33"/>
                <a:gd name="f130" fmla="*/ f80 1 40"/>
                <a:gd name="f131" fmla="*/ f81 1 33"/>
                <a:gd name="f132" fmla="*/ f82 1 33"/>
                <a:gd name="f133" fmla="*/ f83 1 40"/>
                <a:gd name="f134" fmla="*/ f84 1 33"/>
                <a:gd name="f135" fmla="*/ f85 1 33"/>
                <a:gd name="f136" fmla="*/ f86 1 33"/>
                <a:gd name="f137" fmla="*/ f87 1 40"/>
                <a:gd name="f138" fmla="*/ f88 1 40"/>
                <a:gd name="f139" fmla="*/ f89 1 33"/>
                <a:gd name="f140" fmla="*/ f90 1 40"/>
                <a:gd name="f141" fmla="*/ f91 1 33"/>
                <a:gd name="f142" fmla="*/ f92 1 40"/>
                <a:gd name="f143" fmla="*/ f93 1 40"/>
                <a:gd name="f144" fmla="*/ f94 1 40"/>
                <a:gd name="f145" fmla="*/ f95 1 40"/>
                <a:gd name="f146" fmla="*/ f96 1 40"/>
                <a:gd name="f147" fmla="*/ f97 1 40"/>
                <a:gd name="f148" fmla="*/ f98 1 40"/>
                <a:gd name="f149" fmla="*/ f99 1 40"/>
                <a:gd name="f150" fmla="*/ f100 1 40"/>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2"/>
                <a:gd name="f165" fmla="*/ f111 1 f53"/>
                <a:gd name="f166" fmla="*/ f112 1 f52"/>
                <a:gd name="f167" fmla="*/ f113 1 f53"/>
                <a:gd name="f168" fmla="*/ f114 1 f52"/>
                <a:gd name="f169" fmla="*/ f115 1 f53"/>
                <a:gd name="f170" fmla="*/ f116 1 f52"/>
                <a:gd name="f171" fmla="*/ f117 1 f52"/>
                <a:gd name="f172" fmla="*/ f118 1 f52"/>
                <a:gd name="f173" fmla="*/ f119 1 f53"/>
                <a:gd name="f174" fmla="*/ f120 1 f52"/>
                <a:gd name="f175" fmla="*/ f121 1 f52"/>
                <a:gd name="f176" fmla="*/ f122 1 f53"/>
                <a:gd name="f177" fmla="*/ f123 1 f52"/>
                <a:gd name="f178" fmla="*/ f124 1 f53"/>
                <a:gd name="f179" fmla="*/ f125 1 f52"/>
                <a:gd name="f180" fmla="*/ f126 1 f53"/>
                <a:gd name="f181" fmla="*/ f127 1 f52"/>
                <a:gd name="f182" fmla="*/ f128 1 f53"/>
                <a:gd name="f183" fmla="*/ f129 1 f52"/>
                <a:gd name="f184" fmla="*/ f130 1 f53"/>
                <a:gd name="f185" fmla="*/ f131 1 f52"/>
                <a:gd name="f186" fmla="*/ f132 1 f52"/>
                <a:gd name="f187" fmla="*/ f133 1 f53"/>
                <a:gd name="f188" fmla="*/ f134 1 f52"/>
                <a:gd name="f189" fmla="*/ f135 1 f52"/>
                <a:gd name="f190" fmla="*/ f136 1 f52"/>
                <a:gd name="f191" fmla="*/ f137 1 f53"/>
                <a:gd name="f192" fmla="*/ f138 1 f53"/>
                <a:gd name="f193" fmla="*/ f139 1 f52"/>
                <a:gd name="f194" fmla="*/ f140 1 f53"/>
                <a:gd name="f195" fmla="*/ f141 1 f52"/>
                <a:gd name="f196" fmla="*/ f142 1 f53"/>
                <a:gd name="f197" fmla="*/ f143 1 f53"/>
                <a:gd name="f198" fmla="*/ f144 1 f53"/>
                <a:gd name="f199" fmla="*/ f145 1 f53"/>
                <a:gd name="f200" fmla="*/ f146 1 f53"/>
                <a:gd name="f201" fmla="*/ f147 1 f53"/>
                <a:gd name="f202" fmla="*/ f148 1 f53"/>
                <a:gd name="f203" fmla="*/ f149 1 f53"/>
                <a:gd name="f204" fmla="*/ f150 1 f53"/>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7 1"/>
                <a:gd name="f218" fmla="*/ f165 f48 1"/>
                <a:gd name="f219" fmla="*/ f166 f47 1"/>
                <a:gd name="f220" fmla="*/ f167 f48 1"/>
                <a:gd name="f221" fmla="*/ f168 f47 1"/>
                <a:gd name="f222" fmla="*/ f169 f48 1"/>
                <a:gd name="f223" fmla="*/ f170 f47 1"/>
                <a:gd name="f224" fmla="*/ f171 f47 1"/>
                <a:gd name="f225" fmla="*/ f172 f47 1"/>
                <a:gd name="f226" fmla="*/ f173 f48 1"/>
                <a:gd name="f227" fmla="*/ f174 f47 1"/>
                <a:gd name="f228" fmla="*/ f175 f47 1"/>
                <a:gd name="f229" fmla="*/ f176 f48 1"/>
                <a:gd name="f230" fmla="*/ f177 f47 1"/>
                <a:gd name="f231" fmla="*/ f178 f48 1"/>
                <a:gd name="f232" fmla="*/ f179 f47 1"/>
                <a:gd name="f233" fmla="*/ f180 f48 1"/>
                <a:gd name="f234" fmla="*/ f181 f47 1"/>
                <a:gd name="f235" fmla="*/ f182 f48 1"/>
                <a:gd name="f236" fmla="*/ f183 f47 1"/>
                <a:gd name="f237" fmla="*/ f184 f48 1"/>
                <a:gd name="f238" fmla="*/ f185 f47 1"/>
                <a:gd name="f239" fmla="*/ f186 f47 1"/>
                <a:gd name="f240" fmla="*/ f187 f48 1"/>
                <a:gd name="f241" fmla="*/ f188 f47 1"/>
                <a:gd name="f242" fmla="*/ f189 f47 1"/>
                <a:gd name="f243" fmla="*/ f190 f47 1"/>
                <a:gd name="f244" fmla="*/ f191 f48 1"/>
                <a:gd name="f245" fmla="*/ f192 f48 1"/>
                <a:gd name="f246" fmla="*/ f193 f47 1"/>
                <a:gd name="f247" fmla="*/ f194 f48 1"/>
                <a:gd name="f248" fmla="*/ f195 f47 1"/>
                <a:gd name="f249" fmla="*/ f196 f48 1"/>
                <a:gd name="f250" fmla="*/ f197 f48 1"/>
                <a:gd name="f251" fmla="*/ f198 f48 1"/>
                <a:gd name="f252" fmla="*/ f199 f48 1"/>
                <a:gd name="f253" fmla="*/ f200 f48 1"/>
                <a:gd name="f254" fmla="*/ f201 f48 1"/>
                <a:gd name="f255" fmla="*/ f202 f48 1"/>
                <a:gd name="f256" fmla="*/ f203 f48 1"/>
                <a:gd name="f257" fmla="*/ f204 f48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5"/>
                </a:cxn>
                <a:cxn ang="f157">
                  <a:pos x="f217" y="f218"/>
                </a:cxn>
                <a:cxn ang="f157">
                  <a:pos x="f219" y="f220"/>
                </a:cxn>
                <a:cxn ang="f157">
                  <a:pos x="f221" y="f222"/>
                </a:cxn>
                <a:cxn ang="f157">
                  <a:pos x="f223" y="f222"/>
                </a:cxn>
                <a:cxn ang="f157">
                  <a:pos x="f224" y="f222"/>
                </a:cxn>
                <a:cxn ang="f157">
                  <a:pos x="f225" y="f226"/>
                </a:cxn>
                <a:cxn ang="f157">
                  <a:pos x="f227" y="f226"/>
                </a:cxn>
                <a:cxn ang="f157">
                  <a:pos x="f228" y="f229"/>
                </a:cxn>
                <a:cxn ang="f157">
                  <a:pos x="f230" y="f231"/>
                </a:cxn>
                <a:cxn ang="f157">
                  <a:pos x="f232" y="f233"/>
                </a:cxn>
                <a:cxn ang="f157">
                  <a:pos x="f234" y="f235"/>
                </a:cxn>
                <a:cxn ang="f157">
                  <a:pos x="f236" y="f237"/>
                </a:cxn>
                <a:cxn ang="f157">
                  <a:pos x="f238" y="f237"/>
                </a:cxn>
                <a:cxn ang="f157">
                  <a:pos x="f239" y="f235"/>
                </a:cxn>
                <a:cxn ang="f157">
                  <a:pos x="f217" y="f240"/>
                </a:cxn>
                <a:cxn ang="f157">
                  <a:pos x="f241" y="f231"/>
                </a:cxn>
                <a:cxn ang="f157">
                  <a:pos x="f242" y="f220"/>
                </a:cxn>
                <a:cxn ang="f157">
                  <a:pos x="f243" y="f244"/>
                </a:cxn>
                <a:cxn ang="f157">
                  <a:pos x="f243" y="f245"/>
                </a:cxn>
                <a:cxn ang="f157">
                  <a:pos x="f246" y="f247"/>
                </a:cxn>
                <a:cxn ang="f157">
                  <a:pos x="f248" y="f249"/>
                </a:cxn>
                <a:cxn ang="f157">
                  <a:pos x="f219" y="f250"/>
                </a:cxn>
                <a:cxn ang="f157">
                  <a:pos x="f238" y="f251"/>
                </a:cxn>
                <a:cxn ang="f157">
                  <a:pos x="f234" y="f252"/>
                </a:cxn>
                <a:cxn ang="f157">
                  <a:pos x="f230" y="f253"/>
                </a:cxn>
                <a:cxn ang="f157">
                  <a:pos x="f214" y="f247"/>
                </a:cxn>
                <a:cxn ang="f157">
                  <a:pos x="f211" y="f212"/>
                </a:cxn>
                <a:cxn ang="f157">
                  <a:pos x="f228" y="f254"/>
                </a:cxn>
                <a:cxn ang="f157">
                  <a:pos x="f234" y="f255"/>
                </a:cxn>
                <a:cxn ang="f157">
                  <a:pos x="f227" y="f256"/>
                </a:cxn>
                <a:cxn ang="f157">
                  <a:pos x="f236" y="f257"/>
                </a:cxn>
                <a:cxn ang="f157">
                  <a:pos x="f238" y="f258"/>
                </a:cxn>
                <a:cxn ang="f157">
                  <a:pos x="f239" y="f257"/>
                </a:cxn>
                <a:cxn ang="f157">
                  <a:pos x="f219" y="f259"/>
                </a:cxn>
                <a:cxn ang="f157">
                  <a:pos x="f217" y="f247"/>
                </a:cxn>
                <a:cxn ang="f157">
                  <a:pos x="f216" y="f254"/>
                </a:cxn>
                <a:cxn ang="f157">
                  <a:pos x="f228" y="f254"/>
                </a:cxn>
              </a:cxnLst>
              <a:rect l="f207" t="f210" r="f208" b="f209"/>
              <a:pathLst>
                <a:path w="33" h="40">
                  <a:moveTo>
                    <a:pt x="f6" y="f8"/>
                  </a:moveTo>
                  <a:cubicBezTo>
                    <a:pt x="f6" y="f9"/>
                    <a:pt x="f6" y="f10"/>
                    <a:pt x="f6" y="f10"/>
                  </a:cubicBezTo>
                  <a:cubicBezTo>
                    <a:pt x="f11" y="f12"/>
                    <a:pt x="f11" y="f12"/>
                    <a:pt x="f11" y="f13"/>
                  </a:cubicBezTo>
                  <a:cubicBezTo>
                    <a:pt x="f14" y="f13"/>
                    <a:pt x="f14" y="f13"/>
                    <a:pt x="f14" y="f13"/>
                  </a:cubicBezTo>
                  <a:cubicBezTo>
                    <a:pt x="f14" y="f15"/>
                    <a:pt x="f16" y="f17"/>
                    <a:pt x="f16" y="f18"/>
                  </a:cubicBezTo>
                  <a:cubicBezTo>
                    <a:pt x="f19" y="f20"/>
                    <a:pt x="f21" y="f22"/>
                    <a:pt x="f21" y="f23"/>
                  </a:cubicBezTo>
                  <a:cubicBezTo>
                    <a:pt x="f24" y="f11"/>
                    <a:pt x="f25" y="f11"/>
                    <a:pt x="f26" y="f6"/>
                  </a:cubicBezTo>
                  <a:cubicBezTo>
                    <a:pt x="f27" y="f6"/>
                    <a:pt x="f28" y="f6"/>
                    <a:pt x="f29" y="f6"/>
                  </a:cubicBezTo>
                  <a:cubicBezTo>
                    <a:pt x="f30" y="f6"/>
                    <a:pt x="f30" y="f6"/>
                    <a:pt x="f8" y="f6"/>
                  </a:cubicBezTo>
                  <a:cubicBezTo>
                    <a:pt x="f9" y="f6"/>
                    <a:pt x="f9" y="f6"/>
                    <a:pt x="f10" y="f11"/>
                  </a:cubicBezTo>
                  <a:cubicBezTo>
                    <a:pt x="f12" y="f11"/>
                    <a:pt x="f12" y="f11"/>
                    <a:pt x="f13" y="f11"/>
                  </a:cubicBezTo>
                  <a:cubicBezTo>
                    <a:pt x="f13" y="f23"/>
                    <a:pt x="f31" y="f23"/>
                    <a:pt x="f15" y="f22"/>
                  </a:cubicBezTo>
                  <a:cubicBezTo>
                    <a:pt x="f20" y="f32"/>
                    <a:pt x="f20" y="f32"/>
                    <a:pt x="f20" y="f32"/>
                  </a:cubicBezTo>
                  <a:cubicBezTo>
                    <a:pt x="f20" y="f33"/>
                    <a:pt x="f18" y="f34"/>
                    <a:pt x="f35" y="f34"/>
                  </a:cubicBezTo>
                  <a:cubicBezTo>
                    <a:pt x="f17" y="f36"/>
                    <a:pt x="f15" y="f36"/>
                    <a:pt x="f31" y="f37"/>
                  </a:cubicBezTo>
                  <a:cubicBezTo>
                    <a:pt x="f13" y="f37"/>
                    <a:pt x="f12" y="f7"/>
                    <a:pt x="f9"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2"/>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2" y="f45"/>
                    <a:pt x="f31" y="f44"/>
                  </a:cubicBezTo>
                  <a:cubicBezTo>
                    <a:pt x="f17" y="f43"/>
                    <a:pt x="f35" y="f41"/>
                    <a:pt x="f20" y="f39"/>
                  </a:cubicBezTo>
                  <a:cubicBezTo>
                    <a:pt x="f22" y="f16"/>
                    <a:pt x="f23" y="f21"/>
                    <a:pt x="f11" y="f25"/>
                  </a:cubicBezTo>
                  <a:cubicBezTo>
                    <a:pt x="f11" y="f27"/>
                    <a:pt x="f6" y="f29"/>
                    <a:pt x="f6" y="f8"/>
                  </a:cubicBezTo>
                  <a:close/>
                  <a:moveTo>
                    <a:pt x="f15" y="f29"/>
                  </a:moveTo>
                  <a:cubicBezTo>
                    <a:pt x="f15" y="f38"/>
                    <a:pt x="f15" y="f27"/>
                    <a:pt x="f31" y="f26"/>
                  </a:cubicBezTo>
                  <a:cubicBezTo>
                    <a:pt x="f31" y="f25"/>
                    <a:pt x="f13" y="f24"/>
                    <a:pt x="f13" y="f21"/>
                  </a:cubicBezTo>
                  <a:cubicBezTo>
                    <a:pt x="f12" y="f19"/>
                    <a:pt x="f10" y="f16"/>
                    <a:pt x="f9" y="f16"/>
                  </a:cubicBezTo>
                  <a:cubicBezTo>
                    <a:pt x="f8" y="f14"/>
                    <a:pt x="f29"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6" name="Freeform 56">
              <a:extLst>
                <a:ext uri="{FF2B5EF4-FFF2-40B4-BE49-F238E27FC236}">
                  <a16:creationId xmlns:a16="http://schemas.microsoft.com/office/drawing/2014/main" id="{0CD10C76-ADB0-D56E-1916-0DB07AB3C4F6}"/>
                </a:ext>
              </a:extLst>
            </p:cNvPr>
            <p:cNvSpPr/>
            <p:nvPr/>
          </p:nvSpPr>
          <p:spPr>
            <a:xfrm>
              <a:off x="1294314" y="6293924"/>
              <a:ext cx="55769" cy="101132"/>
            </a:xfrm>
            <a:custGeom>
              <a:avLst/>
              <a:gdLst>
                <a:gd name="f0" fmla="val 10800000"/>
                <a:gd name="f1" fmla="val 5400000"/>
                <a:gd name="f2" fmla="val 180"/>
                <a:gd name="f3" fmla="val w"/>
                <a:gd name="f4" fmla="val h"/>
                <a:gd name="f5" fmla="val 0"/>
                <a:gd name="f6" fmla="val 22"/>
                <a:gd name="f7" fmla="val 39"/>
                <a:gd name="f8" fmla="val 20"/>
                <a:gd name="f9" fmla="val 9"/>
                <a:gd name="f10" fmla="val 8"/>
                <a:gd name="f11" fmla="val 19"/>
                <a:gd name="f12" fmla="val 18"/>
                <a:gd name="f13" fmla="val 17"/>
                <a:gd name="f14" fmla="val 16"/>
                <a:gd name="f15" fmla="val 7"/>
                <a:gd name="f16" fmla="val 15"/>
                <a:gd name="f17" fmla="val 12"/>
                <a:gd name="f18" fmla="val 10"/>
                <a:gd name="f19" fmla="val 14"/>
                <a:gd name="f20" fmla="val 1"/>
                <a:gd name="f21" fmla="val 5"/>
                <a:gd name="f22" fmla="val 4"/>
                <a:gd name="f23" fmla="val 3"/>
                <a:gd name="f24" fmla="val 2"/>
                <a:gd name="f25" fmla="val 11"/>
                <a:gd name="f26" fmla="val 13"/>
                <a:gd name="f27" fmla="val 21"/>
                <a:gd name="f28" fmla="+- 0 0 -90"/>
                <a:gd name="f29" fmla="*/ f3 1 22"/>
                <a:gd name="f30" fmla="*/ f4 1 39"/>
                <a:gd name="f31" fmla="+- f7 0 f5"/>
                <a:gd name="f32" fmla="+- f6 0 f5"/>
                <a:gd name="f33" fmla="*/ f28 f0 1"/>
                <a:gd name="f34" fmla="*/ f32 1 22"/>
                <a:gd name="f35" fmla="*/ f31 1 39"/>
                <a:gd name="f36" fmla="*/ 20 f32 1"/>
                <a:gd name="f37" fmla="*/ 9 f31 1"/>
                <a:gd name="f38" fmla="*/ 18 f32 1"/>
                <a:gd name="f39" fmla="*/ 8 f31 1"/>
                <a:gd name="f40" fmla="*/ 15 f32 1"/>
                <a:gd name="f41" fmla="*/ 7 f31 1"/>
                <a:gd name="f42" fmla="*/ 9 f32 1"/>
                <a:gd name="f43" fmla="*/ 10 f31 1"/>
                <a:gd name="f44" fmla="*/ 7 f32 1"/>
                <a:gd name="f45" fmla="*/ 17 f31 1"/>
                <a:gd name="f46" fmla="*/ 39 f31 1"/>
                <a:gd name="f47" fmla="*/ 0 f32 1"/>
                <a:gd name="f48" fmla="*/ 1 f31 1"/>
                <a:gd name="f49" fmla="*/ 5 f31 1"/>
                <a:gd name="f50" fmla="*/ 3 f31 1"/>
                <a:gd name="f51" fmla="*/ 11 f32 1"/>
                <a:gd name="f52" fmla="*/ 13 f32 1"/>
                <a:gd name="f53" fmla="*/ 0 f31 1"/>
                <a:gd name="f54" fmla="*/ 16 f32 1"/>
                <a:gd name="f55" fmla="*/ 22 f32 1"/>
                <a:gd name="f56" fmla="*/ 2 f31 1"/>
                <a:gd name="f57" fmla="*/ f33 1 f2"/>
                <a:gd name="f58" fmla="*/ f36 1 22"/>
                <a:gd name="f59" fmla="*/ f37 1 39"/>
                <a:gd name="f60" fmla="*/ f38 1 22"/>
                <a:gd name="f61" fmla="*/ f39 1 39"/>
                <a:gd name="f62" fmla="*/ f40 1 22"/>
                <a:gd name="f63" fmla="*/ f41 1 39"/>
                <a:gd name="f64" fmla="*/ f42 1 22"/>
                <a:gd name="f65" fmla="*/ f43 1 39"/>
                <a:gd name="f66" fmla="*/ f44 1 22"/>
                <a:gd name="f67" fmla="*/ f45 1 39"/>
                <a:gd name="f68" fmla="*/ f46 1 39"/>
                <a:gd name="f69" fmla="*/ f47 1 22"/>
                <a:gd name="f70" fmla="*/ f48 1 39"/>
                <a:gd name="f71" fmla="*/ f49 1 39"/>
                <a:gd name="f72" fmla="*/ f50 1 39"/>
                <a:gd name="f73" fmla="*/ f51 1 22"/>
                <a:gd name="f74" fmla="*/ f52 1 22"/>
                <a:gd name="f75" fmla="*/ f53 1 39"/>
                <a:gd name="f76" fmla="*/ f54 1 22"/>
                <a:gd name="f77" fmla="*/ f55 1 22"/>
                <a:gd name="f78" fmla="*/ f56 1 39"/>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5"/>
                <a:gd name="f90" fmla="*/ f64 1 f34"/>
                <a:gd name="f91" fmla="*/ f65 1 f35"/>
                <a:gd name="f92" fmla="*/ f66 1 f34"/>
                <a:gd name="f93" fmla="*/ f67 1 f35"/>
                <a:gd name="f94" fmla="*/ f68 1 f35"/>
                <a:gd name="f95" fmla="*/ f69 1 f34"/>
                <a:gd name="f96" fmla="*/ f70 1 f35"/>
                <a:gd name="f97" fmla="*/ f71 1 f35"/>
                <a:gd name="f98" fmla="*/ f72 1 f35"/>
                <a:gd name="f99" fmla="*/ f73 1 f34"/>
                <a:gd name="f100" fmla="*/ f74 1 f34"/>
                <a:gd name="f101" fmla="*/ f75 1 f35"/>
                <a:gd name="f102" fmla="*/ f76 1 f34"/>
                <a:gd name="f103" fmla="*/ f77 1 f34"/>
                <a:gd name="f104" fmla="*/ f78 1 f35"/>
                <a:gd name="f105" fmla="*/ f79 f29 1"/>
                <a:gd name="f106" fmla="*/ f80 f29 1"/>
                <a:gd name="f107" fmla="*/ f82 f30 1"/>
                <a:gd name="f108" fmla="*/ f81 f30 1"/>
                <a:gd name="f109" fmla="*/ f84 f29 1"/>
                <a:gd name="f110" fmla="*/ f85 f30 1"/>
                <a:gd name="f111" fmla="*/ f86 f29 1"/>
                <a:gd name="f112" fmla="*/ f87 f30 1"/>
                <a:gd name="f113" fmla="*/ f88 f29 1"/>
                <a:gd name="f114" fmla="*/ f89 f30 1"/>
                <a:gd name="f115" fmla="*/ f90 f29 1"/>
                <a:gd name="f116" fmla="*/ f91 f30 1"/>
                <a:gd name="f117" fmla="*/ f92 f29 1"/>
                <a:gd name="f118" fmla="*/ f93 f30 1"/>
                <a:gd name="f119" fmla="*/ f94 f30 1"/>
                <a:gd name="f120" fmla="*/ f95 f29 1"/>
                <a:gd name="f121" fmla="*/ f96 f30 1"/>
                <a:gd name="f122" fmla="*/ f97 f30 1"/>
                <a:gd name="f123" fmla="*/ f98 f30 1"/>
                <a:gd name="f124" fmla="*/ f99 f29 1"/>
                <a:gd name="f125" fmla="*/ f100 f29 1"/>
                <a:gd name="f126" fmla="*/ f101 f30 1"/>
                <a:gd name="f127" fmla="*/ f102 f29 1"/>
                <a:gd name="f128" fmla="*/ f103 f29 1"/>
                <a:gd name="f129" fmla="*/ f104 f30 1"/>
              </a:gdLst>
              <a:ahLst/>
              <a:cxnLst>
                <a:cxn ang="3cd4">
                  <a:pos x="hc" y="t"/>
                </a:cxn>
                <a:cxn ang="0">
                  <a:pos x="r" y="vc"/>
                </a:cxn>
                <a:cxn ang="cd4">
                  <a:pos x="hc" y="b"/>
                </a:cxn>
                <a:cxn ang="cd2">
                  <a:pos x="l" y="vc"/>
                </a:cxn>
                <a:cxn ang="f83">
                  <a:pos x="f109" y="f110"/>
                </a:cxn>
                <a:cxn ang="f83">
                  <a:pos x="f111" y="f112"/>
                </a:cxn>
                <a:cxn ang="f83">
                  <a:pos x="f113" y="f114"/>
                </a:cxn>
                <a:cxn ang="f83">
                  <a:pos x="f115" y="f116"/>
                </a:cxn>
                <a:cxn ang="f83">
                  <a:pos x="f117" y="f118"/>
                </a:cxn>
                <a:cxn ang="f83">
                  <a:pos x="f117" y="f119"/>
                </a:cxn>
                <a:cxn ang="f83">
                  <a:pos x="f120" y="f119"/>
                </a:cxn>
                <a:cxn ang="f83">
                  <a:pos x="f120" y="f121"/>
                </a:cxn>
                <a:cxn ang="f83">
                  <a:pos x="f117" y="f121"/>
                </a:cxn>
                <a:cxn ang="f83">
                  <a:pos x="f117" y="f122"/>
                </a:cxn>
                <a:cxn ang="f83">
                  <a:pos x="f115" y="f123"/>
                </a:cxn>
                <a:cxn ang="f83">
                  <a:pos x="f124" y="f121"/>
                </a:cxn>
                <a:cxn ang="f83">
                  <a:pos x="f125" y="f126"/>
                </a:cxn>
                <a:cxn ang="f83">
                  <a:pos x="f127" y="f126"/>
                </a:cxn>
                <a:cxn ang="f83">
                  <a:pos x="f109" y="f121"/>
                </a:cxn>
                <a:cxn ang="f83">
                  <a:pos x="f128" y="f129"/>
                </a:cxn>
                <a:cxn ang="f83">
                  <a:pos x="f109" y="f110"/>
                </a:cxn>
              </a:cxnLst>
              <a:rect l="f105" t="f108" r="f106" b="f107"/>
              <a:pathLst>
                <a:path w="22" h="39">
                  <a:moveTo>
                    <a:pt x="f8" y="f9"/>
                  </a:moveTo>
                  <a:cubicBezTo>
                    <a:pt x="f8" y="f10"/>
                    <a:pt x="f11" y="f10"/>
                    <a:pt x="f12" y="f10"/>
                  </a:cubicBezTo>
                  <a:cubicBezTo>
                    <a:pt x="f13" y="f10"/>
                    <a:pt x="f14" y="f15"/>
                    <a:pt x="f16" y="f15"/>
                  </a:cubicBezTo>
                  <a:cubicBezTo>
                    <a:pt x="f17" y="f15"/>
                    <a:pt x="f18" y="f10"/>
                    <a:pt x="f9" y="f18"/>
                  </a:cubicBezTo>
                  <a:cubicBezTo>
                    <a:pt x="f10" y="f17"/>
                    <a:pt x="f15" y="f19"/>
                    <a:pt x="f15" y="f13"/>
                  </a:cubicBezTo>
                  <a:cubicBezTo>
                    <a:pt x="f15" y="f7"/>
                    <a:pt x="f15" y="f7"/>
                    <a:pt x="f15" y="f7"/>
                  </a:cubicBezTo>
                  <a:cubicBezTo>
                    <a:pt x="f5" y="f7"/>
                    <a:pt x="f5" y="f7"/>
                    <a:pt x="f5" y="f7"/>
                  </a:cubicBezTo>
                  <a:cubicBezTo>
                    <a:pt x="f5" y="f20"/>
                    <a:pt x="f5" y="f20"/>
                    <a:pt x="f5" y="f20"/>
                  </a:cubicBezTo>
                  <a:cubicBezTo>
                    <a:pt x="f15" y="f20"/>
                    <a:pt x="f15" y="f20"/>
                    <a:pt x="f15" y="f20"/>
                  </a:cubicBezTo>
                  <a:cubicBezTo>
                    <a:pt x="f15" y="f21"/>
                    <a:pt x="f15" y="f21"/>
                    <a:pt x="f15" y="f21"/>
                  </a:cubicBezTo>
                  <a:cubicBezTo>
                    <a:pt x="f10" y="f22"/>
                    <a:pt x="f10" y="f23"/>
                    <a:pt x="f9" y="f23"/>
                  </a:cubicBezTo>
                  <a:cubicBezTo>
                    <a:pt x="f9" y="f24"/>
                    <a:pt x="f18" y="f24"/>
                    <a:pt x="f25" y="f20"/>
                  </a:cubicBezTo>
                  <a:cubicBezTo>
                    <a:pt x="f25" y="f20"/>
                    <a:pt x="f17" y="f20"/>
                    <a:pt x="f26" y="f5"/>
                  </a:cubicBezTo>
                  <a:cubicBezTo>
                    <a:pt x="f19" y="f5"/>
                    <a:pt x="f16" y="f5"/>
                    <a:pt x="f14" y="f5"/>
                  </a:cubicBezTo>
                  <a:cubicBezTo>
                    <a:pt x="f13" y="f5"/>
                    <a:pt x="f11" y="f5"/>
                    <a:pt x="f8" y="f20"/>
                  </a:cubicBezTo>
                  <a:cubicBezTo>
                    <a:pt x="f27" y="f20"/>
                    <a:pt x="f6" y="f20"/>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7" name="Freeform 57">
              <a:extLst>
                <a:ext uri="{FF2B5EF4-FFF2-40B4-BE49-F238E27FC236}">
                  <a16:creationId xmlns:a16="http://schemas.microsoft.com/office/drawing/2014/main" id="{7560FCF2-95AF-D7C1-DA98-1F74347A50CC}"/>
                </a:ext>
              </a:extLst>
            </p:cNvPr>
            <p:cNvSpPr/>
            <p:nvPr/>
          </p:nvSpPr>
          <p:spPr>
            <a:xfrm>
              <a:off x="140586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8" name="Freeform 58">
              <a:extLst>
                <a:ext uri="{FF2B5EF4-FFF2-40B4-BE49-F238E27FC236}">
                  <a16:creationId xmlns:a16="http://schemas.microsoft.com/office/drawing/2014/main" id="{845EAA86-C593-EEA1-F2AF-A3BB64D2EFBF}"/>
                </a:ext>
              </a:extLst>
            </p:cNvPr>
            <p:cNvSpPr/>
            <p:nvPr/>
          </p:nvSpPr>
          <p:spPr>
            <a:xfrm>
              <a:off x="1484281" y="6259049"/>
              <a:ext cx="80165"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5"/>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10 f38 1"/>
                <a:gd name="f52" fmla="*/ 8 f38 1"/>
                <a:gd name="f53" fmla="*/ 27 f37 1"/>
                <a:gd name="f54" fmla="*/ 7 f38 1"/>
                <a:gd name="f55" fmla="*/ 31 f37 1"/>
                <a:gd name="f56" fmla="*/ 0 f38 1"/>
                <a:gd name="f57" fmla="*/ 4 f37 1"/>
                <a:gd name="f58" fmla="*/ 0 f37 1"/>
                <a:gd name="f59" fmla="*/ 19 f37 1"/>
                <a:gd name="f60" fmla="*/ 9 f38 1"/>
                <a:gd name="f61" fmla="*/ 17 f37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31"/>
                <a:gd name="f90" fmla="*/ f61 1 53"/>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0"/>
                <a:gd name="f123" fmla="*/ f90 1 f41"/>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5 1"/>
                <a:gd name="f155" fmla="*/ f123 f36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54" y="f155"/>
                </a:cxn>
                <a:cxn ang="f103">
                  <a:pos x="f143"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8" y="f11"/>
                    <a:pt x="f12" y="f13"/>
                  </a:cubicBezTo>
                  <a:cubicBezTo>
                    <a:pt x="f14" y="f15"/>
                    <a:pt x="f16" y="f12"/>
                    <a:pt x="f17" y="f12"/>
                  </a:cubicBezTo>
                  <a:cubicBezTo>
                    <a:pt x="f18" y="f12"/>
                    <a:pt x="f19" y="f12"/>
                    <a:pt x="f20" y="f15"/>
                  </a:cubicBezTo>
                  <a:cubicBezTo>
                    <a:pt x="f21" y="f15"/>
                    <a:pt x="f22" y="f8"/>
                    <a:pt x="f22" y="f13"/>
                  </a:cubicBezTo>
                  <a:cubicBezTo>
                    <a:pt x="f23" y="f13"/>
                    <a:pt x="f24" y="f11"/>
                    <a:pt x="f24" y="f25"/>
                  </a:cubicBezTo>
                  <a:cubicBezTo>
                    <a:pt x="f24"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3" y="f30"/>
                    <a:pt x="f23" y="f30"/>
                  </a:cubicBezTo>
                  <a:cubicBezTo>
                    <a:pt x="f22" y="f31"/>
                    <a:pt x="f21" y="f31"/>
                    <a:pt x="f20" y="f17"/>
                  </a:cubicBezTo>
                  <a:cubicBezTo>
                    <a:pt x="f20" y="f17"/>
                    <a:pt x="f19" y="f17"/>
                    <a:pt x="f18" y="f18"/>
                  </a:cubicBezTo>
                  <a:cubicBezTo>
                    <a:pt x="f17" y="f18"/>
                    <a:pt x="f31" y="f18"/>
                    <a:pt x="f30" y="f18"/>
                  </a:cubicBezTo>
                  <a:cubicBezTo>
                    <a:pt x="f29" y="f18"/>
                    <a:pt x="f12" y="f18"/>
                    <a:pt x="f8" y="f17"/>
                  </a:cubicBezTo>
                  <a:cubicBezTo>
                    <a:pt x="f11" y="f31"/>
                    <a:pt x="f32" y="f30"/>
                    <a:pt x="f25" y="f16"/>
                  </a:cubicBezTo>
                  <a:cubicBezTo>
                    <a:pt x="f27" y="f14"/>
                    <a:pt x="f27" y="f15"/>
                    <a:pt x="f33" y="f13"/>
                  </a:cubicBezTo>
                  <a:cubicBezTo>
                    <a:pt x="f6"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9" name="Freeform 59">
              <a:extLst>
                <a:ext uri="{FF2B5EF4-FFF2-40B4-BE49-F238E27FC236}">
                  <a16:creationId xmlns:a16="http://schemas.microsoft.com/office/drawing/2014/main" id="{A152351E-A9A3-19E7-9562-1126745AEF0C}"/>
                </a:ext>
              </a:extLst>
            </p:cNvPr>
            <p:cNvSpPr/>
            <p:nvPr/>
          </p:nvSpPr>
          <p:spPr>
            <a:xfrm>
              <a:off x="1581884"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8"/>
                <a:gd name="f14" fmla="val 25"/>
                <a:gd name="f15" fmla="val 26"/>
                <a:gd name="f16" fmla="val 9"/>
                <a:gd name="f17" fmla="val 28"/>
                <a:gd name="f18" fmla="val 10"/>
                <a:gd name="f19" fmla="val 29"/>
                <a:gd name="f20" fmla="val 30"/>
                <a:gd name="f21" fmla="val 11"/>
                <a:gd name="f22" fmla="val 31"/>
                <a:gd name="f23" fmla="val 12"/>
                <a:gd name="f24" fmla="val 32"/>
                <a:gd name="f25" fmla="val 13"/>
                <a:gd name="f26" fmla="val 14"/>
                <a:gd name="f27" fmla="val 15"/>
                <a:gd name="f28" fmla="val 16"/>
                <a:gd name="f29" fmla="val 17"/>
                <a:gd name="f30" fmla="val 18"/>
                <a:gd name="f31" fmla="val 24"/>
                <a:gd name="f32" fmla="val 35"/>
                <a:gd name="f33" fmla="val 36"/>
                <a:gd name="f34" fmla="val 37"/>
                <a:gd name="f35" fmla="val 27"/>
                <a:gd name="f36" fmla="val 38"/>
                <a:gd name="f37" fmla="val 39"/>
                <a:gd name="f38" fmla="val 7"/>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8 f50 1"/>
                <a:gd name="f59" fmla="*/ 9 f50 1"/>
                <a:gd name="f60" fmla="*/ 28 f49 1"/>
                <a:gd name="f61" fmla="*/ 11 f50 1"/>
                <a:gd name="f62" fmla="*/ 31 f49 1"/>
                <a:gd name="f63" fmla="*/ 14 f50 1"/>
                <a:gd name="f64" fmla="*/ 33 f49 1"/>
                <a:gd name="f65" fmla="*/ 17 f50 1"/>
                <a:gd name="f66" fmla="*/ 20 f50 1"/>
                <a:gd name="f67" fmla="*/ 22 f50 1"/>
                <a:gd name="f68" fmla="*/ 32 f49 1"/>
                <a:gd name="f69" fmla="*/ 24 f50 1"/>
                <a:gd name="f70" fmla="*/ 26 f50 1"/>
                <a:gd name="f71" fmla="*/ 30 f49 1"/>
                <a:gd name="f72" fmla="*/ 30 f50 1"/>
                <a:gd name="f73" fmla="*/ 35 f49 1"/>
                <a:gd name="f74" fmla="*/ 27 f50 1"/>
                <a:gd name="f75" fmla="*/ 37 f49 1"/>
                <a:gd name="f76" fmla="*/ 25 f50 1"/>
                <a:gd name="f77" fmla="*/ 39 f49 1"/>
                <a:gd name="f78" fmla="*/ 21 f50 1"/>
                <a:gd name="f79" fmla="*/ 40 f49 1"/>
                <a:gd name="f80" fmla="*/ 12 f50 1"/>
                <a:gd name="f81" fmla="*/ 38 f49 1"/>
                <a:gd name="f82" fmla="*/ 5 f50 1"/>
                <a:gd name="f83" fmla="*/ 3 f50 1"/>
                <a:gd name="f84" fmla="*/ 1 f50 1"/>
                <a:gd name="f85" fmla="*/ 26 f49 1"/>
                <a:gd name="f86" fmla="*/ 0 f50 1"/>
                <a:gd name="f87" fmla="*/ 20 f49 1"/>
                <a:gd name="f88" fmla="*/ 2 f50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23 f50 1"/>
                <a:gd name="f101" fmla="*/ 10 f49 1"/>
                <a:gd name="f102" fmla="*/ 8 f49 1"/>
                <a:gd name="f103" fmla="*/ 7 f49 1"/>
                <a:gd name="f104" fmla="*/ 13 f50 1"/>
                <a:gd name="f105" fmla="*/ 9 f49 1"/>
                <a:gd name="f106" fmla="*/ f51 1 f2"/>
                <a:gd name="f107" fmla="*/ f54 1 33"/>
                <a:gd name="f108" fmla="*/ f55 1 40"/>
                <a:gd name="f109" fmla="*/ f56 1 40"/>
                <a:gd name="f110" fmla="*/ f57 1 40"/>
                <a:gd name="f111" fmla="*/ f58 1 33"/>
                <a:gd name="f112" fmla="*/ f59 1 33"/>
                <a:gd name="f113" fmla="*/ f60 1 40"/>
                <a:gd name="f114" fmla="*/ f61 1 33"/>
                <a:gd name="f115" fmla="*/ f62 1 40"/>
                <a:gd name="f116" fmla="*/ f63 1 33"/>
                <a:gd name="f117" fmla="*/ f64 1 40"/>
                <a:gd name="f118" fmla="*/ f65 1 33"/>
                <a:gd name="f119" fmla="*/ f66 1 33"/>
                <a:gd name="f120" fmla="*/ f67 1 33"/>
                <a:gd name="f121" fmla="*/ f68 1 40"/>
                <a:gd name="f122" fmla="*/ f69 1 33"/>
                <a:gd name="f123" fmla="*/ f70 1 33"/>
                <a:gd name="f124" fmla="*/ f71 1 40"/>
                <a:gd name="f125" fmla="*/ f72 1 33"/>
                <a:gd name="f126" fmla="*/ f73 1 40"/>
                <a:gd name="f127" fmla="*/ f74 1 33"/>
                <a:gd name="f128" fmla="*/ f75 1 40"/>
                <a:gd name="f129" fmla="*/ f76 1 33"/>
                <a:gd name="f130" fmla="*/ f77 1 40"/>
                <a:gd name="f131" fmla="*/ f78 1 33"/>
                <a:gd name="f132" fmla="*/ f79 1 40"/>
                <a:gd name="f133" fmla="*/ f80 1 33"/>
                <a:gd name="f134" fmla="*/ f81 1 40"/>
                <a:gd name="f135" fmla="*/ f82 1 33"/>
                <a:gd name="f136" fmla="*/ f83 1 33"/>
                <a:gd name="f137" fmla="*/ f84 1 33"/>
                <a:gd name="f138" fmla="*/ f85 1 40"/>
                <a:gd name="f139" fmla="*/ f86 1 33"/>
                <a:gd name="f140" fmla="*/ f87 1 40"/>
                <a:gd name="f141" fmla="*/ f88 1 33"/>
                <a:gd name="f142" fmla="*/ f89 1 40"/>
                <a:gd name="f143" fmla="*/ f90 1 40"/>
                <a:gd name="f144" fmla="*/ f91 1 33"/>
                <a:gd name="f145" fmla="*/ f92 1 40"/>
                <a:gd name="f146" fmla="*/ f93 1 40"/>
                <a:gd name="f147" fmla="*/ f94 1 40"/>
                <a:gd name="f148" fmla="*/ f95 1 33"/>
                <a:gd name="f149" fmla="*/ f96 1 40"/>
                <a:gd name="f150" fmla="*/ f97 1 33"/>
                <a:gd name="f151" fmla="*/ f98 1 40"/>
                <a:gd name="f152" fmla="*/ f99 1 40"/>
                <a:gd name="f153" fmla="*/ f100 1 33"/>
                <a:gd name="f154" fmla="*/ f101 1 40"/>
                <a:gd name="f155" fmla="*/ f102 1 40"/>
                <a:gd name="f156" fmla="*/ f103 1 40"/>
                <a:gd name="f157" fmla="*/ f104 1 33"/>
                <a:gd name="f158" fmla="*/ f105 1 40"/>
                <a:gd name="f159" fmla="*/ 0 1 f52"/>
                <a:gd name="f160" fmla="*/ f6 1 f52"/>
                <a:gd name="f161" fmla="*/ 0 1 f53"/>
                <a:gd name="f162" fmla="*/ f7 1 f53"/>
                <a:gd name="f163" fmla="+- f106 0 f1"/>
                <a:gd name="f164" fmla="*/ f107 1 f52"/>
                <a:gd name="f165" fmla="*/ f108 1 f53"/>
                <a:gd name="f166" fmla="*/ f109 1 f53"/>
                <a:gd name="f167" fmla="*/ f110 1 f53"/>
                <a:gd name="f168" fmla="*/ f111 1 f52"/>
                <a:gd name="f169" fmla="*/ f112 1 f52"/>
                <a:gd name="f170" fmla="*/ f113 1 f53"/>
                <a:gd name="f171" fmla="*/ f114 1 f52"/>
                <a:gd name="f172" fmla="*/ f115 1 f53"/>
                <a:gd name="f173" fmla="*/ f116 1 f52"/>
                <a:gd name="f174" fmla="*/ f117 1 f53"/>
                <a:gd name="f175" fmla="*/ f118 1 f52"/>
                <a:gd name="f176" fmla="*/ f119 1 f52"/>
                <a:gd name="f177" fmla="*/ f120 1 f52"/>
                <a:gd name="f178" fmla="*/ f121 1 f53"/>
                <a:gd name="f179" fmla="*/ f122 1 f52"/>
                <a:gd name="f180" fmla="*/ f123 1 f52"/>
                <a:gd name="f181" fmla="*/ f124 1 f53"/>
                <a:gd name="f182" fmla="*/ f125 1 f52"/>
                <a:gd name="f183" fmla="*/ f126 1 f53"/>
                <a:gd name="f184" fmla="*/ f127 1 f52"/>
                <a:gd name="f185" fmla="*/ f128 1 f53"/>
                <a:gd name="f186" fmla="*/ f129 1 f52"/>
                <a:gd name="f187" fmla="*/ f130 1 f53"/>
                <a:gd name="f188" fmla="*/ f131 1 f52"/>
                <a:gd name="f189" fmla="*/ f132 1 f53"/>
                <a:gd name="f190" fmla="*/ f133 1 f52"/>
                <a:gd name="f191" fmla="*/ f134 1 f53"/>
                <a:gd name="f192" fmla="*/ f135 1 f52"/>
                <a:gd name="f193" fmla="*/ f136 1 f52"/>
                <a:gd name="f194" fmla="*/ f137 1 f52"/>
                <a:gd name="f195" fmla="*/ f138 1 f53"/>
                <a:gd name="f196" fmla="*/ f139 1 f52"/>
                <a:gd name="f197" fmla="*/ f140 1 f53"/>
                <a:gd name="f198" fmla="*/ f141 1 f52"/>
                <a:gd name="f199" fmla="*/ f142 1 f53"/>
                <a:gd name="f200" fmla="*/ f143 1 f53"/>
                <a:gd name="f201" fmla="*/ f144 1 f52"/>
                <a:gd name="f202" fmla="*/ f145 1 f53"/>
                <a:gd name="f203" fmla="*/ f146 1 f53"/>
                <a:gd name="f204" fmla="*/ f147 1 f53"/>
                <a:gd name="f205" fmla="*/ f148 1 f52"/>
                <a:gd name="f206" fmla="*/ f149 1 f53"/>
                <a:gd name="f207" fmla="*/ f150 1 f52"/>
                <a:gd name="f208" fmla="*/ f151 1 f53"/>
                <a:gd name="f209" fmla="*/ f152 1 f53"/>
                <a:gd name="f210" fmla="*/ f153 1 f52"/>
                <a:gd name="f211" fmla="*/ f154 1 f53"/>
                <a:gd name="f212" fmla="*/ f155 1 f53"/>
                <a:gd name="f213" fmla="*/ f156 1 f53"/>
                <a:gd name="f214" fmla="*/ f157 1 f52"/>
                <a:gd name="f215" fmla="*/ f158 1 f53"/>
                <a:gd name="f216" fmla="*/ f159 f47 1"/>
                <a:gd name="f217" fmla="*/ f160 f47 1"/>
                <a:gd name="f218" fmla="*/ f162 f48 1"/>
                <a:gd name="f219" fmla="*/ f161 f48 1"/>
                <a:gd name="f220" fmla="*/ f164 f47 1"/>
                <a:gd name="f221" fmla="*/ f165 f48 1"/>
                <a:gd name="f222" fmla="*/ f166 f48 1"/>
                <a:gd name="f223" fmla="*/ f167 f48 1"/>
                <a:gd name="f224" fmla="*/ f168 f47 1"/>
                <a:gd name="f225" fmla="*/ f169 f47 1"/>
                <a:gd name="f226" fmla="*/ f170 f48 1"/>
                <a:gd name="f227" fmla="*/ f171 f47 1"/>
                <a:gd name="f228" fmla="*/ f172 f48 1"/>
                <a:gd name="f229" fmla="*/ f173 f47 1"/>
                <a:gd name="f230" fmla="*/ f174 f48 1"/>
                <a:gd name="f231" fmla="*/ f175 f47 1"/>
                <a:gd name="f232" fmla="*/ f176 f47 1"/>
                <a:gd name="f233" fmla="*/ f177 f47 1"/>
                <a:gd name="f234" fmla="*/ f178 f48 1"/>
                <a:gd name="f235" fmla="*/ f179 f47 1"/>
                <a:gd name="f236" fmla="*/ f180 f47 1"/>
                <a:gd name="f237" fmla="*/ f181 f48 1"/>
                <a:gd name="f238" fmla="*/ f182 f47 1"/>
                <a:gd name="f239" fmla="*/ f183 f48 1"/>
                <a:gd name="f240" fmla="*/ f184 f47 1"/>
                <a:gd name="f241" fmla="*/ f185 f48 1"/>
                <a:gd name="f242" fmla="*/ f186 f47 1"/>
                <a:gd name="f243" fmla="*/ f187 f48 1"/>
                <a:gd name="f244" fmla="*/ f188 f47 1"/>
                <a:gd name="f245" fmla="*/ f189 f48 1"/>
                <a:gd name="f246" fmla="*/ f190 f47 1"/>
                <a:gd name="f247" fmla="*/ f191 f48 1"/>
                <a:gd name="f248" fmla="*/ f192 f47 1"/>
                <a:gd name="f249" fmla="*/ f193 f47 1"/>
                <a:gd name="f250" fmla="*/ f194 f47 1"/>
                <a:gd name="f251" fmla="*/ f195 f48 1"/>
                <a:gd name="f252" fmla="*/ f196 f47 1"/>
                <a:gd name="f253" fmla="*/ f197 f48 1"/>
                <a:gd name="f254" fmla="*/ f198 f47 1"/>
                <a:gd name="f255" fmla="*/ f199 f48 1"/>
                <a:gd name="f256" fmla="*/ f200 f48 1"/>
                <a:gd name="f257" fmla="*/ f201 f47 1"/>
                <a:gd name="f258" fmla="*/ f202 f48 1"/>
                <a:gd name="f259" fmla="*/ f203 f48 1"/>
                <a:gd name="f260" fmla="*/ f204 f48 1"/>
                <a:gd name="f261" fmla="*/ f205 f47 1"/>
                <a:gd name="f262" fmla="*/ f206 f48 1"/>
                <a:gd name="f263" fmla="*/ f207 f47 1"/>
                <a:gd name="f264" fmla="*/ f208 f48 1"/>
                <a:gd name="f265" fmla="*/ f209 f48 1"/>
                <a:gd name="f266" fmla="*/ f210 f47 1"/>
                <a:gd name="f267" fmla="*/ f211 f48 1"/>
                <a:gd name="f268" fmla="*/ f212 f48 1"/>
                <a:gd name="f269" fmla="*/ f213 f48 1"/>
                <a:gd name="f270" fmla="*/ f214 f47 1"/>
                <a:gd name="f271" fmla="*/ f215 f48 1"/>
              </a:gdLst>
              <a:ahLst/>
              <a:cxnLst>
                <a:cxn ang="3cd4">
                  <a:pos x="hc" y="t"/>
                </a:cxn>
                <a:cxn ang="0">
                  <a:pos x="r" y="vc"/>
                </a:cxn>
                <a:cxn ang="cd4">
                  <a:pos x="hc" y="b"/>
                </a:cxn>
                <a:cxn ang="cd2">
                  <a:pos x="l" y="vc"/>
                </a:cxn>
                <a:cxn ang="f163">
                  <a:pos x="f220" y="f221"/>
                </a:cxn>
                <a:cxn ang="f163">
                  <a:pos x="f220" y="f222"/>
                </a:cxn>
                <a:cxn ang="f163">
                  <a:pos x="f220" y="f223"/>
                </a:cxn>
                <a:cxn ang="f163">
                  <a:pos x="f224" y="f223"/>
                </a:cxn>
                <a:cxn ang="f163">
                  <a:pos x="f225" y="f226"/>
                </a:cxn>
                <a:cxn ang="f163">
                  <a:pos x="f227" y="f228"/>
                </a:cxn>
                <a:cxn ang="f163">
                  <a:pos x="f229" y="f230"/>
                </a:cxn>
                <a:cxn ang="f163">
                  <a:pos x="f231" y="f230"/>
                </a:cxn>
                <a:cxn ang="f163">
                  <a:pos x="f232" y="f230"/>
                </a:cxn>
                <a:cxn ang="f163">
                  <a:pos x="f233" y="f234"/>
                </a:cxn>
                <a:cxn ang="f163">
                  <a:pos x="f235" y="f234"/>
                </a:cxn>
                <a:cxn ang="f163">
                  <a:pos x="f236" y="f237"/>
                </a:cxn>
                <a:cxn ang="f163">
                  <a:pos x="f238" y="f239"/>
                </a:cxn>
                <a:cxn ang="f163">
                  <a:pos x="f240" y="f241"/>
                </a:cxn>
                <a:cxn ang="f163">
                  <a:pos x="f242" y="f243"/>
                </a:cxn>
                <a:cxn ang="f163">
                  <a:pos x="f244" y="f245"/>
                </a:cxn>
                <a:cxn ang="f163">
                  <a:pos x="f231" y="f245"/>
                </a:cxn>
                <a:cxn ang="f163">
                  <a:pos x="f246" y="f243"/>
                </a:cxn>
                <a:cxn ang="f163">
                  <a:pos x="f224" y="f247"/>
                </a:cxn>
                <a:cxn ang="f163">
                  <a:pos x="f248" y="f239"/>
                </a:cxn>
                <a:cxn ang="f163">
                  <a:pos x="f249" y="f228"/>
                </a:cxn>
                <a:cxn ang="f163">
                  <a:pos x="f250" y="f251"/>
                </a:cxn>
                <a:cxn ang="f163">
                  <a:pos x="f252" y="f253"/>
                </a:cxn>
                <a:cxn ang="f163">
                  <a:pos x="f254" y="f255"/>
                </a:cxn>
                <a:cxn ang="f163">
                  <a:pos x="f248" y="f256"/>
                </a:cxn>
                <a:cxn ang="f163">
                  <a:pos x="f257" y="f258"/>
                </a:cxn>
                <a:cxn ang="f163">
                  <a:pos x="f231" y="f259"/>
                </a:cxn>
                <a:cxn ang="f163">
                  <a:pos x="f235" y="f260"/>
                </a:cxn>
                <a:cxn ang="f163">
                  <a:pos x="f261" y="f262"/>
                </a:cxn>
                <a:cxn ang="f163">
                  <a:pos x="f263" y="f255"/>
                </a:cxn>
                <a:cxn ang="f163">
                  <a:pos x="f220" y="f221"/>
                </a:cxn>
                <a:cxn ang="f163">
                  <a:pos x="f236" y="f264"/>
                </a:cxn>
                <a:cxn ang="f163">
                  <a:pos x="f242" y="f265"/>
                </a:cxn>
                <a:cxn ang="f163">
                  <a:pos x="f266" y="f267"/>
                </a:cxn>
                <a:cxn ang="f163">
                  <a:pos x="f244" y="f268"/>
                </a:cxn>
                <a:cxn ang="f163">
                  <a:pos x="f231" y="f269"/>
                </a:cxn>
                <a:cxn ang="f163">
                  <a:pos x="f270" y="f268"/>
                </a:cxn>
                <a:cxn ang="f163">
                  <a:pos x="f227" y="f271"/>
                </a:cxn>
                <a:cxn ang="f163">
                  <a:pos x="f225" y="f255"/>
                </a:cxn>
                <a:cxn ang="f163">
                  <a:pos x="f224" y="f264"/>
                </a:cxn>
                <a:cxn ang="f163">
                  <a:pos x="f236" y="f264"/>
                </a:cxn>
              </a:cxnLst>
              <a:rect l="f216" t="f219" r="f217" b="f218"/>
              <a:pathLst>
                <a:path w="33" h="40">
                  <a:moveTo>
                    <a:pt x="f6" y="f8"/>
                  </a:moveTo>
                  <a:cubicBezTo>
                    <a:pt x="f6" y="f9"/>
                    <a:pt x="f6" y="f10"/>
                    <a:pt x="f6" y="f10"/>
                  </a:cubicBezTo>
                  <a:cubicBezTo>
                    <a:pt x="f6" y="f11"/>
                    <a:pt x="f6" y="f11"/>
                    <a:pt x="f6" y="f12"/>
                  </a:cubicBezTo>
                  <a:cubicBezTo>
                    <a:pt x="f13" y="f12"/>
                    <a:pt x="f13" y="f12"/>
                    <a:pt x="f13" y="f12"/>
                  </a:cubicBezTo>
                  <a:cubicBezTo>
                    <a:pt x="f13" y="f14"/>
                    <a:pt x="f13" y="f15"/>
                    <a:pt x="f16" y="f17"/>
                  </a:cubicBezTo>
                  <a:cubicBezTo>
                    <a:pt x="f18" y="f19"/>
                    <a:pt x="f18" y="f20"/>
                    <a:pt x="f21" y="f22"/>
                  </a:cubicBezTo>
                  <a:cubicBezTo>
                    <a:pt x="f23" y="f24"/>
                    <a:pt x="f25" y="f24"/>
                    <a:pt x="f26" y="f6"/>
                  </a:cubicBezTo>
                  <a:cubicBezTo>
                    <a:pt x="f27" y="f6"/>
                    <a:pt x="f28" y="f6"/>
                    <a:pt x="f29" y="f6"/>
                  </a:cubicBezTo>
                  <a:cubicBezTo>
                    <a:pt x="f30" y="f6"/>
                    <a:pt x="f8" y="f6"/>
                    <a:pt x="f9" y="f6"/>
                  </a:cubicBezTo>
                  <a:cubicBezTo>
                    <a:pt x="f9" y="f6"/>
                    <a:pt x="f10" y="f6"/>
                    <a:pt x="f11" y="f24"/>
                  </a:cubicBezTo>
                  <a:cubicBezTo>
                    <a:pt x="f12" y="f24"/>
                    <a:pt x="f12" y="f24"/>
                    <a:pt x="f31" y="f24"/>
                  </a:cubicBezTo>
                  <a:cubicBezTo>
                    <a:pt x="f31" y="f22"/>
                    <a:pt x="f14" y="f22"/>
                    <a:pt x="f15" y="f20"/>
                  </a:cubicBezTo>
                  <a:cubicBezTo>
                    <a:pt x="f20" y="f32"/>
                    <a:pt x="f20" y="f32"/>
                    <a:pt x="f20" y="f32"/>
                  </a:cubicBezTo>
                  <a:cubicBezTo>
                    <a:pt x="f19" y="f33"/>
                    <a:pt x="f17" y="f34"/>
                    <a:pt x="f35" y="f34"/>
                  </a:cubicBezTo>
                  <a:cubicBezTo>
                    <a:pt x="f35" y="f36"/>
                    <a:pt x="f15" y="f36"/>
                    <a:pt x="f14" y="f37"/>
                  </a:cubicBezTo>
                  <a:cubicBezTo>
                    <a:pt x="f31" y="f37"/>
                    <a:pt x="f11" y="f7"/>
                    <a:pt x="f10" y="f7"/>
                  </a:cubicBezTo>
                  <a:cubicBezTo>
                    <a:pt x="f9" y="f7"/>
                    <a:pt x="f30" y="f7"/>
                    <a:pt x="f29" y="f7"/>
                  </a:cubicBezTo>
                  <a:cubicBezTo>
                    <a:pt x="f27" y="f7"/>
                    <a:pt x="f26" y="f7"/>
                    <a:pt x="f23" y="f37"/>
                  </a:cubicBezTo>
                  <a:cubicBezTo>
                    <a:pt x="f21" y="f37"/>
                    <a:pt x="f18" y="f36"/>
                    <a:pt x="f13" y="f36"/>
                  </a:cubicBezTo>
                  <a:cubicBezTo>
                    <a:pt x="f38" y="f34"/>
                    <a:pt x="f39" y="f33"/>
                    <a:pt x="f40" y="f32"/>
                  </a:cubicBezTo>
                  <a:cubicBezTo>
                    <a:pt x="f41" y="f42"/>
                    <a:pt x="f41" y="f6"/>
                    <a:pt x="f43" y="f22"/>
                  </a:cubicBezTo>
                  <a:cubicBezTo>
                    <a:pt x="f44" y="f20"/>
                    <a:pt x="f45" y="f17"/>
                    <a:pt x="f45" y="f15"/>
                  </a:cubicBezTo>
                  <a:cubicBezTo>
                    <a:pt x="f45" y="f31"/>
                    <a:pt x="f5" y="f11"/>
                    <a:pt x="f5" y="f9"/>
                  </a:cubicBezTo>
                  <a:cubicBezTo>
                    <a:pt x="f5" y="f29"/>
                    <a:pt x="f45" y="f26"/>
                    <a:pt x="f44" y="f23"/>
                  </a:cubicBezTo>
                  <a:cubicBezTo>
                    <a:pt x="f44" y="f16"/>
                    <a:pt x="f41" y="f38"/>
                    <a:pt x="f40" y="f40"/>
                  </a:cubicBezTo>
                  <a:cubicBezTo>
                    <a:pt x="f39" y="f41"/>
                    <a:pt x="f13" y="f44"/>
                    <a:pt x="f18" y="f45"/>
                  </a:cubicBezTo>
                  <a:cubicBezTo>
                    <a:pt x="f23" y="f45"/>
                    <a:pt x="f27" y="f5"/>
                    <a:pt x="f29" y="f5"/>
                  </a:cubicBezTo>
                  <a:cubicBezTo>
                    <a:pt x="f9" y="f5"/>
                    <a:pt x="f11" y="f45"/>
                    <a:pt x="f31" y="f44"/>
                  </a:cubicBezTo>
                  <a:cubicBezTo>
                    <a:pt x="f15" y="f43"/>
                    <a:pt x="f17" y="f41"/>
                    <a:pt x="f19" y="f39"/>
                  </a:cubicBezTo>
                  <a:cubicBezTo>
                    <a:pt x="f22" y="f13"/>
                    <a:pt x="f24" y="f18"/>
                    <a:pt x="f24" y="f23"/>
                  </a:cubicBezTo>
                  <a:cubicBezTo>
                    <a:pt x="f6" y="f26"/>
                    <a:pt x="f6" y="f29"/>
                    <a:pt x="f6" y="f8"/>
                  </a:cubicBezTo>
                  <a:close/>
                  <a:moveTo>
                    <a:pt x="f15" y="f29"/>
                  </a:moveTo>
                  <a:cubicBezTo>
                    <a:pt x="f15" y="f27"/>
                    <a:pt x="f14" y="f26"/>
                    <a:pt x="f14" y="f25"/>
                  </a:cubicBezTo>
                  <a:cubicBezTo>
                    <a:pt x="f14" y="f23"/>
                    <a:pt x="f31" y="f21"/>
                    <a:pt x="f12" y="f18"/>
                  </a:cubicBezTo>
                  <a:cubicBezTo>
                    <a:pt x="f12" y="f16"/>
                    <a:pt x="f11" y="f13"/>
                    <a:pt x="f10" y="f13"/>
                  </a:cubicBezTo>
                  <a:cubicBezTo>
                    <a:pt x="f9" y="f38"/>
                    <a:pt x="f30" y="f38"/>
                    <a:pt x="f29" y="f38"/>
                  </a:cubicBezTo>
                  <a:cubicBezTo>
                    <a:pt x="f27" y="f38"/>
                    <a:pt x="f26" y="f38"/>
                    <a:pt x="f25" y="f13"/>
                  </a:cubicBezTo>
                  <a:cubicBezTo>
                    <a:pt x="f23" y="f13"/>
                    <a:pt x="f21" y="f16"/>
                    <a:pt x="f21" y="f16"/>
                  </a:cubicBezTo>
                  <a:cubicBezTo>
                    <a:pt x="f18" y="f18"/>
                    <a:pt x="f16" y="f21"/>
                    <a:pt x="f16" y="f23"/>
                  </a:cubicBezTo>
                  <a:cubicBezTo>
                    <a:pt x="f13" y="f26"/>
                    <a:pt x="f13" y="f27"/>
                    <a:pt x="f13"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0" name="Freeform 60">
              <a:extLst>
                <a:ext uri="{FF2B5EF4-FFF2-40B4-BE49-F238E27FC236}">
                  <a16:creationId xmlns:a16="http://schemas.microsoft.com/office/drawing/2014/main" id="{50EACE9A-09B4-0111-1315-BCA1E0E6078F}"/>
                </a:ext>
              </a:extLst>
            </p:cNvPr>
            <p:cNvSpPr/>
            <p:nvPr/>
          </p:nvSpPr>
          <p:spPr>
            <a:xfrm>
              <a:off x="1726533" y="6297417"/>
              <a:ext cx="121999" cy="97648"/>
            </a:xfrm>
            <a:custGeom>
              <a:avLst/>
              <a:gdLst>
                <a:gd name="f0" fmla="val 10800000"/>
                <a:gd name="f1" fmla="val 5400000"/>
                <a:gd name="f2" fmla="val 180"/>
                <a:gd name="f3" fmla="val w"/>
                <a:gd name="f4" fmla="val h"/>
                <a:gd name="f5" fmla="val 0"/>
                <a:gd name="f6" fmla="val 70"/>
                <a:gd name="f7" fmla="val 56"/>
                <a:gd name="f8" fmla="val 46"/>
                <a:gd name="f9" fmla="val 35"/>
                <a:gd name="f10" fmla="val 16"/>
                <a:gd name="f11" fmla="val 25"/>
                <a:gd name="f12" fmla="val 15"/>
                <a:gd name="f13" fmla="val 10"/>
                <a:gd name="f14" fmla="val 21"/>
                <a:gd name="f15" fmla="val 38"/>
                <a:gd name="f16" fmla="val 31"/>
                <a:gd name="f17" fmla="val 40"/>
                <a:gd name="f18" fmla="val 50"/>
                <a:gd name="f19" fmla="val 60"/>
                <a:gd name="f20" fmla="+- 0 0 -90"/>
                <a:gd name="f21" fmla="*/ f3 1 70"/>
                <a:gd name="f22" fmla="*/ f4 1 56"/>
                <a:gd name="f23" fmla="+- f7 0 f5"/>
                <a:gd name="f24" fmla="+- f6 0 f5"/>
                <a:gd name="f25" fmla="*/ f20 f0 1"/>
                <a:gd name="f26" fmla="*/ f24 1 70"/>
                <a:gd name="f27" fmla="*/ f23 1 56"/>
                <a:gd name="f28" fmla="*/ 56 f24 1"/>
                <a:gd name="f29" fmla="*/ 56 f23 1"/>
                <a:gd name="f30" fmla="*/ 46 f24 1"/>
                <a:gd name="f31" fmla="*/ 35 f24 1"/>
                <a:gd name="f32" fmla="*/ 16 f23 1"/>
                <a:gd name="f33" fmla="*/ 25 f24 1"/>
                <a:gd name="f34" fmla="*/ 15 f24 1"/>
                <a:gd name="f35" fmla="*/ 0 f24 1"/>
                <a:gd name="f36" fmla="*/ 0 f23 1"/>
                <a:gd name="f37" fmla="*/ 10 f24 1"/>
                <a:gd name="f38" fmla="*/ 21 f24 1"/>
                <a:gd name="f39" fmla="*/ 38 f23 1"/>
                <a:gd name="f40" fmla="*/ 31 f24 1"/>
                <a:gd name="f41" fmla="*/ 40 f24 1"/>
                <a:gd name="f42" fmla="*/ 50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7" y="f7"/>
                  </a:moveTo>
                  <a:lnTo>
                    <a:pt x="f8" y="f7"/>
                  </a:lnTo>
                  <a:lnTo>
                    <a:pt x="f9" y="f10"/>
                  </a:lnTo>
                  <a:lnTo>
                    <a:pt x="f11" y="f7"/>
                  </a:lnTo>
                  <a:lnTo>
                    <a:pt x="f12" y="f7"/>
                  </a:lnTo>
                  <a:lnTo>
                    <a:pt x="f5" y="f5"/>
                  </a:lnTo>
                  <a:lnTo>
                    <a:pt x="f13" y="f5"/>
                  </a:lnTo>
                  <a:lnTo>
                    <a:pt x="f14" y="f15"/>
                  </a:lnTo>
                  <a:lnTo>
                    <a:pt x="f16" y="f5"/>
                  </a:lnTo>
                  <a:lnTo>
                    <a:pt x="f17" y="f5"/>
                  </a:lnTo>
                  <a:lnTo>
                    <a:pt x="f18" y="f15"/>
                  </a:lnTo>
                  <a:lnTo>
                    <a:pt x="f19" y="f5"/>
                  </a:lnTo>
                  <a:lnTo>
                    <a:pt x="f6" y="f5"/>
                  </a:lnTo>
                  <a:lnTo>
                    <a:pt x="f7"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1" name="Freeform 61">
              <a:extLst>
                <a:ext uri="{FF2B5EF4-FFF2-40B4-BE49-F238E27FC236}">
                  <a16:creationId xmlns:a16="http://schemas.microsoft.com/office/drawing/2014/main" id="{C2B7F678-EF4B-83EE-CB95-BD2CC7F8F2B8}"/>
                </a:ext>
              </a:extLst>
            </p:cNvPr>
            <p:cNvSpPr/>
            <p:nvPr/>
          </p:nvSpPr>
          <p:spPr>
            <a:xfrm>
              <a:off x="1858993" y="6293924"/>
              <a:ext cx="87142" cy="102879"/>
            </a:xfrm>
            <a:custGeom>
              <a:avLst/>
              <a:gdLst>
                <a:gd name="f0" fmla="val 10800000"/>
                <a:gd name="f1" fmla="val 5400000"/>
                <a:gd name="f2" fmla="val 180"/>
                <a:gd name="f3" fmla="val w"/>
                <a:gd name="f4" fmla="val h"/>
                <a:gd name="f5" fmla="val 0"/>
                <a:gd name="f6" fmla="val 34"/>
                <a:gd name="f7" fmla="val 40"/>
                <a:gd name="f8" fmla="val 20"/>
                <a:gd name="f9" fmla="val 23"/>
                <a:gd name="f10" fmla="val 26"/>
                <a:gd name="f11" fmla="val 33"/>
                <a:gd name="f12" fmla="val 28"/>
                <a:gd name="f13" fmla="val 32"/>
                <a:gd name="f14" fmla="val 31"/>
                <a:gd name="f15" fmla="val 29"/>
                <a:gd name="f16" fmla="val 35"/>
                <a:gd name="f17" fmla="val 37"/>
                <a:gd name="f18" fmla="val 38"/>
                <a:gd name="f19" fmla="val 24"/>
                <a:gd name="f20" fmla="val 39"/>
                <a:gd name="f21" fmla="val 22"/>
                <a:gd name="f22" fmla="val 17"/>
                <a:gd name="f23" fmla="val 15"/>
                <a:gd name="f24" fmla="val 12"/>
                <a:gd name="f25" fmla="val 10"/>
                <a:gd name="f26" fmla="val 8"/>
                <a:gd name="f27" fmla="val 6"/>
                <a:gd name="f28" fmla="val 36"/>
                <a:gd name="f29" fmla="val 5"/>
                <a:gd name="f30" fmla="val 3"/>
                <a:gd name="f31" fmla="val 2"/>
                <a:gd name="f32" fmla="val 1"/>
                <a:gd name="f33" fmla="val 14"/>
                <a:gd name="f34" fmla="val 9"/>
                <a:gd name="f35" fmla="val 4"/>
                <a:gd name="f36" fmla="val 7"/>
                <a:gd name="f37" fmla="val 11"/>
                <a:gd name="f38" fmla="val 13"/>
                <a:gd name="f39" fmla="val 27"/>
                <a:gd name="f40" fmla="val 18"/>
                <a:gd name="f41" fmla="val 16"/>
                <a:gd name="f42" fmla="val 25"/>
                <a:gd name="f43" fmla="val 21"/>
                <a:gd name="f44" fmla="val 30"/>
                <a:gd name="f45" fmla="val 19"/>
                <a:gd name="f46" fmla="+- 0 0 -90"/>
                <a:gd name="f47" fmla="*/ f3 1 34"/>
                <a:gd name="f48" fmla="*/ f4 1 40"/>
                <a:gd name="f49" fmla="+- f7 0 f5"/>
                <a:gd name="f50" fmla="+- f6 0 f5"/>
                <a:gd name="f51" fmla="*/ f46 f0 1"/>
                <a:gd name="f52" fmla="*/ f50 1 34"/>
                <a:gd name="f53" fmla="*/ f49 1 40"/>
                <a:gd name="f54" fmla="*/ 34 f50 1"/>
                <a:gd name="f55" fmla="*/ 20 f49 1"/>
                <a:gd name="f56" fmla="*/ 33 f50 1"/>
                <a:gd name="f57" fmla="*/ 28 f49 1"/>
                <a:gd name="f58" fmla="*/ 29 f50 1"/>
                <a:gd name="f59" fmla="*/ 35 f49 1"/>
                <a:gd name="f60" fmla="*/ 24 f50 1"/>
                <a:gd name="f61" fmla="*/ 39 f49 1"/>
                <a:gd name="f62" fmla="*/ 17 f50 1"/>
                <a:gd name="f63" fmla="*/ 40 f49 1"/>
                <a:gd name="f64" fmla="*/ 10 f50 1"/>
                <a:gd name="f65" fmla="*/ 5 f50 1"/>
                <a:gd name="f66" fmla="*/ 1 f50 1"/>
                <a:gd name="f67" fmla="*/ 0 f50 1"/>
                <a:gd name="f68" fmla="*/ 12 f49 1"/>
                <a:gd name="f69" fmla="*/ 5 f49 1"/>
                <a:gd name="f70" fmla="*/ 11 f50 1"/>
                <a:gd name="f71" fmla="*/ 1 f49 1"/>
                <a:gd name="f72" fmla="*/ 0 f49 1"/>
                <a:gd name="f73" fmla="*/ 27 f50 1"/>
                <a:gd name="f74" fmla="*/ 26 f50 1"/>
                <a:gd name="f75" fmla="*/ 15 f49 1"/>
                <a:gd name="f76" fmla="*/ 11 f49 1"/>
                <a:gd name="f77" fmla="*/ 21 f50 1"/>
                <a:gd name="f78" fmla="*/ 8 f49 1"/>
                <a:gd name="f79" fmla="*/ 7 f49 1"/>
                <a:gd name="f80" fmla="*/ 13 f50 1"/>
                <a:gd name="f81" fmla="*/ 8 f50 1"/>
                <a:gd name="f82" fmla="*/ 26 f49 1"/>
                <a:gd name="f83" fmla="*/ 30 f49 1"/>
                <a:gd name="f84" fmla="*/ 32 f49 1"/>
                <a:gd name="f85" fmla="*/ 33 f49 1"/>
                <a:gd name="f86" fmla="*/ 29 f49 1"/>
                <a:gd name="f87" fmla="*/ 25 f49 1"/>
                <a:gd name="f88" fmla="*/ f51 1 f2"/>
                <a:gd name="f89" fmla="*/ f54 1 34"/>
                <a:gd name="f90" fmla="*/ f55 1 40"/>
                <a:gd name="f91" fmla="*/ f56 1 34"/>
                <a:gd name="f92" fmla="*/ f57 1 40"/>
                <a:gd name="f93" fmla="*/ f58 1 34"/>
                <a:gd name="f94" fmla="*/ f59 1 40"/>
                <a:gd name="f95" fmla="*/ f60 1 34"/>
                <a:gd name="f96" fmla="*/ f61 1 40"/>
                <a:gd name="f97" fmla="*/ f62 1 34"/>
                <a:gd name="f98" fmla="*/ f63 1 40"/>
                <a:gd name="f99" fmla="*/ f64 1 34"/>
                <a:gd name="f100" fmla="*/ f65 1 34"/>
                <a:gd name="f101" fmla="*/ f66 1 34"/>
                <a:gd name="f102" fmla="*/ f67 1 34"/>
                <a:gd name="f103" fmla="*/ f68 1 40"/>
                <a:gd name="f104" fmla="*/ f69 1 40"/>
                <a:gd name="f105" fmla="*/ f70 1 34"/>
                <a:gd name="f106" fmla="*/ f71 1 40"/>
                <a:gd name="f107" fmla="*/ f72 1 40"/>
                <a:gd name="f108" fmla="*/ f73 1 34"/>
                <a:gd name="f109" fmla="*/ f74 1 34"/>
                <a:gd name="f110" fmla="*/ f75 1 40"/>
                <a:gd name="f111" fmla="*/ f76 1 40"/>
                <a:gd name="f112" fmla="*/ f77 1 34"/>
                <a:gd name="f113" fmla="*/ f78 1 40"/>
                <a:gd name="f114" fmla="*/ f79 1 40"/>
                <a:gd name="f115" fmla="*/ f80 1 34"/>
                <a:gd name="f116" fmla="*/ f81 1 34"/>
                <a:gd name="f117" fmla="*/ f82 1 40"/>
                <a:gd name="f118" fmla="*/ f83 1 40"/>
                <a:gd name="f119" fmla="*/ f84 1 40"/>
                <a:gd name="f120" fmla="*/ f85 1 40"/>
                <a:gd name="f121" fmla="*/ f86 1 40"/>
                <a:gd name="f122" fmla="*/ f87 1 40"/>
                <a:gd name="f123" fmla="*/ 0 1 f52"/>
                <a:gd name="f124" fmla="*/ f6 1 f52"/>
                <a:gd name="f125" fmla="*/ 0 1 f53"/>
                <a:gd name="f126" fmla="*/ f7 1 f53"/>
                <a:gd name="f127" fmla="+- f88 0 f1"/>
                <a:gd name="f128" fmla="*/ f89 1 f52"/>
                <a:gd name="f129" fmla="*/ f90 1 f53"/>
                <a:gd name="f130" fmla="*/ f91 1 f52"/>
                <a:gd name="f131" fmla="*/ f92 1 f53"/>
                <a:gd name="f132" fmla="*/ f93 1 f52"/>
                <a:gd name="f133" fmla="*/ f94 1 f53"/>
                <a:gd name="f134" fmla="*/ f95 1 f52"/>
                <a:gd name="f135" fmla="*/ f96 1 f53"/>
                <a:gd name="f136" fmla="*/ f97 1 f52"/>
                <a:gd name="f137" fmla="*/ f98 1 f53"/>
                <a:gd name="f138" fmla="*/ f99 1 f52"/>
                <a:gd name="f139" fmla="*/ f100 1 f52"/>
                <a:gd name="f140" fmla="*/ f101 1 f52"/>
                <a:gd name="f141" fmla="*/ f102 1 f52"/>
                <a:gd name="f142" fmla="*/ f103 1 f53"/>
                <a:gd name="f143" fmla="*/ f104 1 f53"/>
                <a:gd name="f144" fmla="*/ f105 1 f52"/>
                <a:gd name="f145" fmla="*/ f106 1 f53"/>
                <a:gd name="f146" fmla="*/ f107 1 f53"/>
                <a:gd name="f147" fmla="*/ f108 1 f52"/>
                <a:gd name="f148" fmla="*/ f109 1 f52"/>
                <a:gd name="f149" fmla="*/ f110 1 f53"/>
                <a:gd name="f150" fmla="*/ f111 1 f53"/>
                <a:gd name="f151" fmla="*/ f112 1 f52"/>
                <a:gd name="f152" fmla="*/ f113 1 f53"/>
                <a:gd name="f153" fmla="*/ f114 1 f53"/>
                <a:gd name="f154" fmla="*/ f115 1 f52"/>
                <a:gd name="f155" fmla="*/ f116 1 f52"/>
                <a:gd name="f156" fmla="*/ f117 1 f53"/>
                <a:gd name="f157" fmla="*/ f118 1 f53"/>
                <a:gd name="f158" fmla="*/ f119 1 f53"/>
                <a:gd name="f159" fmla="*/ f120 1 f53"/>
                <a:gd name="f160" fmla="*/ f121 1 f53"/>
                <a:gd name="f161" fmla="*/ f122 1 f53"/>
                <a:gd name="f162" fmla="*/ f123 f47 1"/>
                <a:gd name="f163" fmla="*/ f124 f47 1"/>
                <a:gd name="f164" fmla="*/ f126 f48 1"/>
                <a:gd name="f165" fmla="*/ f125 f48 1"/>
                <a:gd name="f166" fmla="*/ f128 f47 1"/>
                <a:gd name="f167" fmla="*/ f129 f48 1"/>
                <a:gd name="f168" fmla="*/ f130 f47 1"/>
                <a:gd name="f169" fmla="*/ f131 f48 1"/>
                <a:gd name="f170" fmla="*/ f132 f47 1"/>
                <a:gd name="f171" fmla="*/ f133 f48 1"/>
                <a:gd name="f172" fmla="*/ f134 f47 1"/>
                <a:gd name="f173" fmla="*/ f135 f48 1"/>
                <a:gd name="f174" fmla="*/ f136 f47 1"/>
                <a:gd name="f175" fmla="*/ f137 f48 1"/>
                <a:gd name="f176" fmla="*/ f138 f47 1"/>
                <a:gd name="f177" fmla="*/ f139 f47 1"/>
                <a:gd name="f178" fmla="*/ f140 f47 1"/>
                <a:gd name="f179" fmla="*/ f141 f47 1"/>
                <a:gd name="f180" fmla="*/ f142 f48 1"/>
                <a:gd name="f181" fmla="*/ f143 f48 1"/>
                <a:gd name="f182" fmla="*/ f144 f47 1"/>
                <a:gd name="f183" fmla="*/ f145 f48 1"/>
                <a:gd name="f184" fmla="*/ f146 f48 1"/>
                <a:gd name="f185" fmla="*/ f147 f47 1"/>
                <a:gd name="f186" fmla="*/ f148 f47 1"/>
                <a:gd name="f187" fmla="*/ f149 f48 1"/>
                <a:gd name="f188" fmla="*/ f150 f48 1"/>
                <a:gd name="f189" fmla="*/ f151 f47 1"/>
                <a:gd name="f190" fmla="*/ f152 f48 1"/>
                <a:gd name="f191" fmla="*/ f153 f48 1"/>
                <a:gd name="f192" fmla="*/ f154 f47 1"/>
                <a:gd name="f193" fmla="*/ f155 f47 1"/>
                <a:gd name="f194" fmla="*/ f156 f48 1"/>
                <a:gd name="f195" fmla="*/ f157 f48 1"/>
                <a:gd name="f196" fmla="*/ f158 f48 1"/>
                <a:gd name="f197" fmla="*/ f159 f48 1"/>
                <a:gd name="f198" fmla="*/ f160 f48 1"/>
                <a:gd name="f199" fmla="*/ f161 f48 1"/>
              </a:gdLst>
              <a:ahLst/>
              <a:cxnLst>
                <a:cxn ang="3cd4">
                  <a:pos x="hc" y="t"/>
                </a:cxn>
                <a:cxn ang="0">
                  <a:pos x="r" y="vc"/>
                </a:cxn>
                <a:cxn ang="cd4">
                  <a:pos x="hc" y="b"/>
                </a:cxn>
                <a:cxn ang="cd2">
                  <a:pos x="l" y="vc"/>
                </a:cxn>
                <a:cxn ang="f127">
                  <a:pos x="f166" y="f167"/>
                </a:cxn>
                <a:cxn ang="f127">
                  <a:pos x="f168" y="f169"/>
                </a:cxn>
                <a:cxn ang="f127">
                  <a:pos x="f170" y="f171"/>
                </a:cxn>
                <a:cxn ang="f127">
                  <a:pos x="f172" y="f173"/>
                </a:cxn>
                <a:cxn ang="f127">
                  <a:pos x="f174" y="f175"/>
                </a:cxn>
                <a:cxn ang="f127">
                  <a:pos x="f176" y="f173"/>
                </a:cxn>
                <a:cxn ang="f127">
                  <a:pos x="f177" y="f171"/>
                </a:cxn>
                <a:cxn ang="f127">
                  <a:pos x="f178" y="f169"/>
                </a:cxn>
                <a:cxn ang="f127">
                  <a:pos x="f179" y="f167"/>
                </a:cxn>
                <a:cxn ang="f127">
                  <a:pos x="f178" y="f180"/>
                </a:cxn>
                <a:cxn ang="f127">
                  <a:pos x="f177" y="f181"/>
                </a:cxn>
                <a:cxn ang="f127">
                  <a:pos x="f182" y="f183"/>
                </a:cxn>
                <a:cxn ang="f127">
                  <a:pos x="f174" y="f184"/>
                </a:cxn>
                <a:cxn ang="f127">
                  <a:pos x="f172" y="f183"/>
                </a:cxn>
                <a:cxn ang="f127">
                  <a:pos x="f170" y="f181"/>
                </a:cxn>
                <a:cxn ang="f127">
                  <a:pos x="f168" y="f180"/>
                </a:cxn>
                <a:cxn ang="f127">
                  <a:pos x="f166" y="f167"/>
                </a:cxn>
                <a:cxn ang="f127">
                  <a:pos x="f185" y="f167"/>
                </a:cxn>
                <a:cxn ang="f127">
                  <a:pos x="f186" y="f187"/>
                </a:cxn>
                <a:cxn ang="f127">
                  <a:pos x="f172" y="f188"/>
                </a:cxn>
                <a:cxn ang="f127">
                  <a:pos x="f189" y="f190"/>
                </a:cxn>
                <a:cxn ang="f127">
                  <a:pos x="f174" y="f191"/>
                </a:cxn>
                <a:cxn ang="f127">
                  <a:pos x="f192" y="f190"/>
                </a:cxn>
                <a:cxn ang="f127">
                  <a:pos x="f176" y="f188"/>
                </a:cxn>
                <a:cxn ang="f127">
                  <a:pos x="f193" y="f187"/>
                </a:cxn>
                <a:cxn ang="f127">
                  <a:pos x="f193" y="f167"/>
                </a:cxn>
                <a:cxn ang="f127">
                  <a:pos x="f193" y="f194"/>
                </a:cxn>
                <a:cxn ang="f127">
                  <a:pos x="f176" y="f195"/>
                </a:cxn>
                <a:cxn ang="f127">
                  <a:pos x="f192" y="f196"/>
                </a:cxn>
                <a:cxn ang="f127">
                  <a:pos x="f174" y="f197"/>
                </a:cxn>
                <a:cxn ang="f127">
                  <a:pos x="f189" y="f196"/>
                </a:cxn>
                <a:cxn ang="f127">
                  <a:pos x="f172" y="f198"/>
                </a:cxn>
                <a:cxn ang="f127">
                  <a:pos x="f186" y="f199"/>
                </a:cxn>
                <a:cxn ang="f127">
                  <a:pos x="f185" y="f167"/>
                </a:cxn>
              </a:cxnLst>
              <a:rect l="f162" t="f165" r="f163" b="f164"/>
              <a:pathLst>
                <a:path w="34" h="40">
                  <a:moveTo>
                    <a:pt x="f6" y="f8"/>
                  </a:moveTo>
                  <a:cubicBezTo>
                    <a:pt x="f6" y="f9"/>
                    <a:pt x="f6" y="f10"/>
                    <a:pt x="f11" y="f12"/>
                  </a:cubicBezTo>
                  <a:cubicBezTo>
                    <a:pt x="f13" y="f14"/>
                    <a:pt x="f14" y="f11"/>
                    <a:pt x="f15" y="f16"/>
                  </a:cubicBezTo>
                  <a:cubicBezTo>
                    <a:pt x="f12" y="f17"/>
                    <a:pt x="f10" y="f18"/>
                    <a:pt x="f19" y="f20"/>
                  </a:cubicBezTo>
                  <a:cubicBezTo>
                    <a:pt x="f21" y="f7"/>
                    <a:pt x="f8" y="f7"/>
                    <a:pt x="f22" y="f7"/>
                  </a:cubicBezTo>
                  <a:cubicBezTo>
                    <a:pt x="f23" y="f7"/>
                    <a:pt x="f24" y="f7"/>
                    <a:pt x="f25" y="f20"/>
                  </a:cubicBezTo>
                  <a:cubicBezTo>
                    <a:pt x="f26" y="f18"/>
                    <a:pt x="f27" y="f28"/>
                    <a:pt x="f29" y="f16"/>
                  </a:cubicBezTo>
                  <a:cubicBezTo>
                    <a:pt x="f30" y="f11"/>
                    <a:pt x="f31" y="f14"/>
                    <a:pt x="f32" y="f12"/>
                  </a:cubicBezTo>
                  <a:cubicBezTo>
                    <a:pt x="f32" y="f10"/>
                    <a:pt x="f5" y="f9"/>
                    <a:pt x="f5" y="f8"/>
                  </a:cubicBezTo>
                  <a:cubicBezTo>
                    <a:pt x="f5" y="f22"/>
                    <a:pt x="f32" y="f33"/>
                    <a:pt x="f32" y="f24"/>
                  </a:cubicBezTo>
                  <a:cubicBezTo>
                    <a:pt x="f31" y="f34"/>
                    <a:pt x="f35" y="f36"/>
                    <a:pt x="f29" y="f29"/>
                  </a:cubicBezTo>
                  <a:cubicBezTo>
                    <a:pt x="f36" y="f35"/>
                    <a:pt x="f26" y="f31"/>
                    <a:pt x="f37" y="f32"/>
                  </a:cubicBezTo>
                  <a:cubicBezTo>
                    <a:pt x="f38" y="f32"/>
                    <a:pt x="f23" y="f5"/>
                    <a:pt x="f22" y="f5"/>
                  </a:cubicBezTo>
                  <a:cubicBezTo>
                    <a:pt x="f8" y="f5"/>
                    <a:pt x="f21" y="f32"/>
                    <a:pt x="f19" y="f32"/>
                  </a:cubicBezTo>
                  <a:cubicBezTo>
                    <a:pt x="f10" y="f31"/>
                    <a:pt x="f12" y="f35"/>
                    <a:pt x="f15" y="f29"/>
                  </a:cubicBezTo>
                  <a:cubicBezTo>
                    <a:pt x="f14" y="f36"/>
                    <a:pt x="f13" y="f34"/>
                    <a:pt x="f11" y="f24"/>
                  </a:cubicBezTo>
                  <a:cubicBezTo>
                    <a:pt x="f6" y="f33"/>
                    <a:pt x="f6" y="f22"/>
                    <a:pt x="f6" y="f8"/>
                  </a:cubicBezTo>
                  <a:close/>
                  <a:moveTo>
                    <a:pt x="f39" y="f8"/>
                  </a:moveTo>
                  <a:cubicBezTo>
                    <a:pt x="f39" y="f40"/>
                    <a:pt x="f39" y="f41"/>
                    <a:pt x="f10" y="f23"/>
                  </a:cubicBezTo>
                  <a:cubicBezTo>
                    <a:pt x="f10" y="f38"/>
                    <a:pt x="f42" y="f24"/>
                    <a:pt x="f19" y="f37"/>
                  </a:cubicBezTo>
                  <a:cubicBezTo>
                    <a:pt x="f9" y="f25"/>
                    <a:pt x="f21" y="f34"/>
                    <a:pt x="f43" y="f26"/>
                  </a:cubicBezTo>
                  <a:cubicBezTo>
                    <a:pt x="f8" y="f26"/>
                    <a:pt x="f40" y="f36"/>
                    <a:pt x="f22" y="f36"/>
                  </a:cubicBezTo>
                  <a:cubicBezTo>
                    <a:pt x="f41" y="f36"/>
                    <a:pt x="f33" y="f26"/>
                    <a:pt x="f38" y="f26"/>
                  </a:cubicBezTo>
                  <a:cubicBezTo>
                    <a:pt x="f24" y="f34"/>
                    <a:pt x="f37" y="f25"/>
                    <a:pt x="f25" y="f37"/>
                  </a:cubicBezTo>
                  <a:cubicBezTo>
                    <a:pt x="f34" y="f24"/>
                    <a:pt x="f34" y="f38"/>
                    <a:pt x="f26" y="f23"/>
                  </a:cubicBezTo>
                  <a:cubicBezTo>
                    <a:pt x="f26" y="f41"/>
                    <a:pt x="f26" y="f40"/>
                    <a:pt x="f26" y="f8"/>
                  </a:cubicBezTo>
                  <a:cubicBezTo>
                    <a:pt x="f26" y="f21"/>
                    <a:pt x="f26" y="f19"/>
                    <a:pt x="f26" y="f10"/>
                  </a:cubicBezTo>
                  <a:cubicBezTo>
                    <a:pt x="f34" y="f39"/>
                    <a:pt x="f25" y="f12"/>
                    <a:pt x="f25" y="f44"/>
                  </a:cubicBezTo>
                  <a:cubicBezTo>
                    <a:pt x="f37" y="f14"/>
                    <a:pt x="f24" y="f13"/>
                    <a:pt x="f38" y="f13"/>
                  </a:cubicBezTo>
                  <a:cubicBezTo>
                    <a:pt x="f23" y="f11"/>
                    <a:pt x="f41" y="f11"/>
                    <a:pt x="f22" y="f11"/>
                  </a:cubicBezTo>
                  <a:cubicBezTo>
                    <a:pt x="f45" y="f11"/>
                    <a:pt x="f8" y="f11"/>
                    <a:pt x="f43" y="f13"/>
                  </a:cubicBezTo>
                  <a:cubicBezTo>
                    <a:pt x="f21" y="f14"/>
                    <a:pt x="f9" y="f44"/>
                    <a:pt x="f19" y="f15"/>
                  </a:cubicBezTo>
                  <a:cubicBezTo>
                    <a:pt x="f42" y="f12"/>
                    <a:pt x="f10" y="f39"/>
                    <a:pt x="f10" y="f42"/>
                  </a:cubicBezTo>
                  <a:cubicBezTo>
                    <a:pt x="f39" y="f19"/>
                    <a:pt x="f39" y="f21"/>
                    <a:pt x="f39"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2" name="Freeform 62">
              <a:extLst>
                <a:ext uri="{FF2B5EF4-FFF2-40B4-BE49-F238E27FC236}">
                  <a16:creationId xmlns:a16="http://schemas.microsoft.com/office/drawing/2014/main" id="{6DEA72CD-DE6C-DA85-5D53-2451B81266CE}"/>
                </a:ext>
              </a:extLst>
            </p:cNvPr>
            <p:cNvSpPr/>
            <p:nvPr/>
          </p:nvSpPr>
          <p:spPr>
            <a:xfrm>
              <a:off x="1967038" y="6293924"/>
              <a:ext cx="57515"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5"/>
                <a:gd name="f17" fmla="val 13"/>
                <a:gd name="f18" fmla="val 11"/>
                <a:gd name="f19" fmla="val 10"/>
                <a:gd name="f20" fmla="val 12"/>
                <a:gd name="f21" fmla="val 14"/>
                <a:gd name="f22" fmla="val 1"/>
                <a:gd name="f23" fmla="val 5"/>
                <a:gd name="f24" fmla="val 4"/>
                <a:gd name="f25" fmla="val 3"/>
                <a:gd name="f26" fmla="val 2"/>
                <a:gd name="f27" fmla="val 16"/>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8 f33 1"/>
                <a:gd name="f40" fmla="*/ 8 f32 1"/>
                <a:gd name="f41" fmla="*/ 15 f33 1"/>
                <a:gd name="f42" fmla="*/ 7 f32 1"/>
                <a:gd name="f43" fmla="*/ 10 f33 1"/>
                <a:gd name="f44" fmla="*/ 10 f32 1"/>
                <a:gd name="f45" fmla="*/ 8 f33 1"/>
                <a:gd name="f46" fmla="*/ 17 f32 1"/>
                <a:gd name="f47" fmla="*/ 39 f32 1"/>
                <a:gd name="f48" fmla="*/ 0 f33 1"/>
                <a:gd name="f49" fmla="*/ 1 f32 1"/>
                <a:gd name="f50" fmla="*/ 5 f32 1"/>
                <a:gd name="f51" fmla="*/ 9 f33 1"/>
                <a:gd name="f52" fmla="*/ 3 f32 1"/>
                <a:gd name="f53" fmla="*/ 11 f33 1"/>
                <a:gd name="f54" fmla="*/ 14 f33 1"/>
                <a:gd name="f55" fmla="*/ 0 f32 1"/>
                <a:gd name="f56" fmla="*/ 17 f33 1"/>
                <a:gd name="f57" fmla="*/ 20 f33 1"/>
                <a:gd name="f58" fmla="*/ 23 f33 1"/>
                <a:gd name="f59" fmla="*/ 2 f32 1"/>
                <a:gd name="f60" fmla="*/ f34 1 f2"/>
                <a:gd name="f61" fmla="*/ f37 1 23"/>
                <a:gd name="f62" fmla="*/ f38 1 39"/>
                <a:gd name="f63" fmla="*/ f39 1 23"/>
                <a:gd name="f64" fmla="*/ f40 1 39"/>
                <a:gd name="f65" fmla="*/ f41 1 23"/>
                <a:gd name="f66" fmla="*/ f42 1 39"/>
                <a:gd name="f67" fmla="*/ f43 1 23"/>
                <a:gd name="f68" fmla="*/ f44 1 39"/>
                <a:gd name="f69" fmla="*/ f45 1 23"/>
                <a:gd name="f70" fmla="*/ f46 1 39"/>
                <a:gd name="f71" fmla="*/ f47 1 39"/>
                <a:gd name="f72" fmla="*/ f48 1 23"/>
                <a:gd name="f73" fmla="*/ f49 1 39"/>
                <a:gd name="f74" fmla="*/ f50 1 39"/>
                <a:gd name="f75" fmla="*/ f51 1 23"/>
                <a:gd name="f76" fmla="*/ f52 1 39"/>
                <a:gd name="f77" fmla="*/ f53 1 23"/>
                <a:gd name="f78" fmla="*/ f54 1 23"/>
                <a:gd name="f79" fmla="*/ f55 1 39"/>
                <a:gd name="f80" fmla="*/ f56 1 23"/>
                <a:gd name="f81" fmla="*/ f57 1 23"/>
                <a:gd name="f82" fmla="*/ f58 1 23"/>
                <a:gd name="f83" fmla="*/ f59 1 39"/>
                <a:gd name="f84" fmla="*/ 0 1 f35"/>
                <a:gd name="f85" fmla="*/ f6 1 f35"/>
                <a:gd name="f86" fmla="*/ 0 1 f36"/>
                <a:gd name="f87" fmla="*/ f7 1 f36"/>
                <a:gd name="f88" fmla="+- f60 0 f1"/>
                <a:gd name="f89" fmla="*/ f61 1 f35"/>
                <a:gd name="f90" fmla="*/ f62 1 f36"/>
                <a:gd name="f91" fmla="*/ f63 1 f35"/>
                <a:gd name="f92" fmla="*/ f64 1 f36"/>
                <a:gd name="f93" fmla="*/ f65 1 f35"/>
                <a:gd name="f94" fmla="*/ f66 1 f36"/>
                <a:gd name="f95" fmla="*/ f67 1 f35"/>
                <a:gd name="f96" fmla="*/ f68 1 f36"/>
                <a:gd name="f97" fmla="*/ f69 1 f35"/>
                <a:gd name="f98" fmla="*/ f70 1 f36"/>
                <a:gd name="f99" fmla="*/ f71 1 f36"/>
                <a:gd name="f100" fmla="*/ f72 1 f35"/>
                <a:gd name="f101" fmla="*/ f73 1 f36"/>
                <a:gd name="f102" fmla="*/ f74 1 f36"/>
                <a:gd name="f103" fmla="*/ f75 1 f35"/>
                <a:gd name="f104" fmla="*/ f76 1 f36"/>
                <a:gd name="f105" fmla="*/ f77 1 f35"/>
                <a:gd name="f106" fmla="*/ f78 1 f35"/>
                <a:gd name="f107" fmla="*/ f79 1 f36"/>
                <a:gd name="f108" fmla="*/ f80 1 f35"/>
                <a:gd name="f109" fmla="*/ f81 1 f35"/>
                <a:gd name="f110" fmla="*/ f82 1 f35"/>
                <a:gd name="f111" fmla="*/ f83 1 f36"/>
                <a:gd name="f112" fmla="*/ f84 f30 1"/>
                <a:gd name="f113" fmla="*/ f85 f30 1"/>
                <a:gd name="f114" fmla="*/ f87 f31 1"/>
                <a:gd name="f115" fmla="*/ f86 f31 1"/>
                <a:gd name="f116" fmla="*/ f89 f30 1"/>
                <a:gd name="f117" fmla="*/ f90 f31 1"/>
                <a:gd name="f118" fmla="*/ f91 f30 1"/>
                <a:gd name="f119" fmla="*/ f92 f31 1"/>
                <a:gd name="f120" fmla="*/ f93 f30 1"/>
                <a:gd name="f121" fmla="*/ f94 f31 1"/>
                <a:gd name="f122" fmla="*/ f95 f30 1"/>
                <a:gd name="f123" fmla="*/ f96 f31 1"/>
                <a:gd name="f124" fmla="*/ f97 f30 1"/>
                <a:gd name="f125" fmla="*/ f98 f31 1"/>
                <a:gd name="f126" fmla="*/ f99 f31 1"/>
                <a:gd name="f127" fmla="*/ f100 f30 1"/>
                <a:gd name="f128" fmla="*/ f101 f31 1"/>
                <a:gd name="f129" fmla="*/ f102 f31 1"/>
                <a:gd name="f130" fmla="*/ f103 f30 1"/>
                <a:gd name="f131" fmla="*/ f104 f31 1"/>
                <a:gd name="f132" fmla="*/ f105 f30 1"/>
                <a:gd name="f133" fmla="*/ f106 f30 1"/>
                <a:gd name="f134" fmla="*/ f107 f31 1"/>
                <a:gd name="f135" fmla="*/ f108 f30 1"/>
                <a:gd name="f136" fmla="*/ f109 f30 1"/>
                <a:gd name="f137" fmla="*/ f110 f30 1"/>
                <a:gd name="f138" fmla="*/ f111 f31 1"/>
              </a:gdLst>
              <a:ahLst/>
              <a:cxnLst>
                <a:cxn ang="3cd4">
                  <a:pos x="hc" y="t"/>
                </a:cxn>
                <a:cxn ang="0">
                  <a:pos x="r" y="vc"/>
                </a:cxn>
                <a:cxn ang="cd4">
                  <a:pos x="hc" y="b"/>
                </a:cxn>
                <a:cxn ang="cd2">
                  <a:pos x="l" y="vc"/>
                </a:cxn>
                <a:cxn ang="f88">
                  <a:pos x="f116" y="f117"/>
                </a:cxn>
                <a:cxn ang="f88">
                  <a:pos x="f118" y="f119"/>
                </a:cxn>
                <a:cxn ang="f88">
                  <a:pos x="f120" y="f121"/>
                </a:cxn>
                <a:cxn ang="f88">
                  <a:pos x="f122" y="f123"/>
                </a:cxn>
                <a:cxn ang="f88">
                  <a:pos x="f124" y="f125"/>
                </a:cxn>
                <a:cxn ang="f88">
                  <a:pos x="f124" y="f126"/>
                </a:cxn>
                <a:cxn ang="f88">
                  <a:pos x="f127" y="f126"/>
                </a:cxn>
                <a:cxn ang="f88">
                  <a:pos x="f127" y="f128"/>
                </a:cxn>
                <a:cxn ang="f88">
                  <a:pos x="f124" y="f128"/>
                </a:cxn>
                <a:cxn ang="f88">
                  <a:pos x="f124" y="f129"/>
                </a:cxn>
                <a:cxn ang="f88">
                  <a:pos x="f130" y="f131"/>
                </a:cxn>
                <a:cxn ang="f88">
                  <a:pos x="f132" y="f128"/>
                </a:cxn>
                <a:cxn ang="f88">
                  <a:pos x="f133" y="f134"/>
                </a:cxn>
                <a:cxn ang="f88">
                  <a:pos x="f135" y="f134"/>
                </a:cxn>
                <a:cxn ang="f88">
                  <a:pos x="f136" y="f128"/>
                </a:cxn>
                <a:cxn ang="f88">
                  <a:pos x="f137" y="f138"/>
                </a:cxn>
                <a:cxn ang="f88">
                  <a:pos x="f116" y="f117"/>
                </a:cxn>
              </a:cxnLst>
              <a:rect l="f112" t="f115" r="f113" b="f114"/>
              <a:pathLst>
                <a:path w="23" h="39">
                  <a:moveTo>
                    <a:pt x="f8" y="f9"/>
                  </a:moveTo>
                  <a:cubicBezTo>
                    <a:pt x="f10" y="f11"/>
                    <a:pt x="f12" y="f11"/>
                    <a:pt x="f13" y="f11"/>
                  </a:cubicBezTo>
                  <a:cubicBezTo>
                    <a:pt x="f13" y="f11"/>
                    <a:pt x="f14" y="f15"/>
                    <a:pt x="f16" y="f15"/>
                  </a:cubicBezTo>
                  <a:cubicBezTo>
                    <a:pt x="f17" y="f15"/>
                    <a:pt x="f18" y="f11"/>
                    <a:pt x="f19" y="f19"/>
                  </a:cubicBezTo>
                  <a:cubicBezTo>
                    <a:pt x="f11"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9" y="f25"/>
                  </a:cubicBezTo>
                  <a:cubicBezTo>
                    <a:pt x="f19" y="f26"/>
                    <a:pt x="f18" y="f26"/>
                    <a:pt x="f18" y="f22"/>
                  </a:cubicBezTo>
                  <a:cubicBezTo>
                    <a:pt x="f20" y="f22"/>
                    <a:pt x="f17" y="f22"/>
                    <a:pt x="f21" y="f5"/>
                  </a:cubicBezTo>
                  <a:cubicBezTo>
                    <a:pt x="f16" y="f5"/>
                    <a:pt x="f27" y="f5"/>
                    <a:pt x="f14" y="f5"/>
                  </a:cubicBezTo>
                  <a:cubicBezTo>
                    <a:pt x="f13" y="f5"/>
                    <a:pt x="f12" y="f5"/>
                    <a:pt x="f10" y="f22"/>
                  </a:cubicBezTo>
                  <a:cubicBezTo>
                    <a:pt x="f8" y="f22"/>
                    <a:pt x="f28"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3" name="Freeform 63">
              <a:extLst>
                <a:ext uri="{FF2B5EF4-FFF2-40B4-BE49-F238E27FC236}">
                  <a16:creationId xmlns:a16="http://schemas.microsoft.com/office/drawing/2014/main" id="{DC570ACA-376B-7A66-5318-E50F9546EC36}"/>
                </a:ext>
              </a:extLst>
            </p:cNvPr>
            <p:cNvSpPr/>
            <p:nvPr/>
          </p:nvSpPr>
          <p:spPr>
            <a:xfrm>
              <a:off x="2041983" y="6259049"/>
              <a:ext cx="19174" cy="136007"/>
            </a:xfrm>
            <a:custGeom>
              <a:avLst/>
              <a:gdLst>
                <a:gd name="f0" fmla="val 10800000"/>
                <a:gd name="f1" fmla="val 5400000"/>
                <a:gd name="f2" fmla="val 180"/>
                <a:gd name="f3" fmla="val w"/>
                <a:gd name="f4" fmla="val h"/>
                <a:gd name="f5" fmla="val 0"/>
                <a:gd name="f6" fmla="val 11"/>
                <a:gd name="f7" fmla="val 78"/>
                <a:gd name="f8" fmla="val 6"/>
                <a:gd name="f9" fmla="+- 0 0 -90"/>
                <a:gd name="f10" fmla="*/ f3 1 11"/>
                <a:gd name="f11" fmla="*/ f4 1 78"/>
                <a:gd name="f12" fmla="+- f7 0 f5"/>
                <a:gd name="f13" fmla="+- f6 0 f5"/>
                <a:gd name="f14" fmla="*/ f9 f0 1"/>
                <a:gd name="f15" fmla="*/ f13 1 11"/>
                <a:gd name="f16" fmla="*/ f12 1 78"/>
                <a:gd name="f17" fmla="*/ 0 f13 1"/>
                <a:gd name="f18" fmla="*/ 78 f12 1"/>
                <a:gd name="f19" fmla="*/ 6 f12 1"/>
                <a:gd name="f20" fmla="*/ 11 f13 1"/>
                <a:gd name="f21" fmla="*/ 0 f12 1"/>
                <a:gd name="f22" fmla="*/ f14 1 f2"/>
                <a:gd name="f23" fmla="*/ f17 1 11"/>
                <a:gd name="f24" fmla="*/ f18 1 78"/>
                <a:gd name="f25" fmla="*/ f19 1 78"/>
                <a:gd name="f26" fmla="*/ f20 1 11"/>
                <a:gd name="f27" fmla="*/ f21 1 78"/>
                <a:gd name="f28" fmla="*/ 0 1 f15"/>
                <a:gd name="f29" fmla="*/ f6 1 f15"/>
                <a:gd name="f30" fmla="*/ 0 1 f16"/>
                <a:gd name="f31" fmla="*/ f7 1 f16"/>
                <a:gd name="f32" fmla="+- f22 0 f1"/>
                <a:gd name="f33" fmla="*/ f23 1 f15"/>
                <a:gd name="f34" fmla="*/ f24 1 f16"/>
                <a:gd name="f35" fmla="*/ f25 1 f16"/>
                <a:gd name="f36" fmla="*/ f26 1 f15"/>
                <a:gd name="f37" fmla="*/ f27 1 f16"/>
                <a:gd name="f38" fmla="*/ f28 f10 1"/>
                <a:gd name="f39" fmla="*/ f29 f10 1"/>
                <a:gd name="f40" fmla="*/ f31 f11 1"/>
                <a:gd name="f41" fmla="*/ f30 f11 1"/>
                <a:gd name="f42" fmla="*/ f33 f10 1"/>
                <a:gd name="f43" fmla="*/ f34 f11 1"/>
                <a:gd name="f44" fmla="*/ f35 f11 1"/>
                <a:gd name="f45" fmla="*/ f36 f10 1"/>
                <a:gd name="f46" fmla="*/ f37 f11 1"/>
              </a:gdLst>
              <a:ahLst/>
              <a:cxnLst>
                <a:cxn ang="3cd4">
                  <a:pos x="hc" y="t"/>
                </a:cxn>
                <a:cxn ang="0">
                  <a:pos x="r" y="vc"/>
                </a:cxn>
                <a:cxn ang="cd4">
                  <a:pos x="hc" y="b"/>
                </a:cxn>
                <a:cxn ang="cd2">
                  <a:pos x="l" y="vc"/>
                </a:cxn>
                <a:cxn ang="f32">
                  <a:pos x="f42" y="f43"/>
                </a:cxn>
                <a:cxn ang="f32">
                  <a:pos x="f42" y="f44"/>
                </a:cxn>
                <a:cxn ang="f32">
                  <a:pos x="f45" y="f46"/>
                </a:cxn>
                <a:cxn ang="f32">
                  <a:pos x="f45" y="f43"/>
                </a:cxn>
                <a:cxn ang="f32">
                  <a:pos x="f42" y="f43"/>
                </a:cxn>
              </a:cxnLst>
              <a:rect l="f38" t="f41" r="f39" b="f40"/>
              <a:pathLst>
                <a:path w="11" h="78">
                  <a:moveTo>
                    <a:pt x="f5" y="f7"/>
                  </a:moveTo>
                  <a:lnTo>
                    <a:pt x="f5" y="f8"/>
                  </a:lnTo>
                  <a:lnTo>
                    <a:pt x="f6" y="f5"/>
                  </a:lnTo>
                  <a:lnTo>
                    <a:pt x="f6" y="f7"/>
                  </a:lnTo>
                  <a:lnTo>
                    <a:pt x="f5"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4" name="Freeform 64">
              <a:extLst>
                <a:ext uri="{FF2B5EF4-FFF2-40B4-BE49-F238E27FC236}">
                  <a16:creationId xmlns:a16="http://schemas.microsoft.com/office/drawing/2014/main" id="{6FFF92A3-DB47-2EEB-63C0-2285BF31033A}"/>
                </a:ext>
              </a:extLst>
            </p:cNvPr>
            <p:cNvSpPr/>
            <p:nvPr/>
          </p:nvSpPr>
          <p:spPr>
            <a:xfrm>
              <a:off x="2083807" y="6259049"/>
              <a:ext cx="80165" cy="137754"/>
            </a:xfrm>
            <a:custGeom>
              <a:avLst/>
              <a:gdLst>
                <a:gd name="f0" fmla="val 10800000"/>
                <a:gd name="f1" fmla="val 5400000"/>
                <a:gd name="f2" fmla="val 180"/>
                <a:gd name="f3" fmla="val w"/>
                <a:gd name="f4" fmla="val h"/>
                <a:gd name="f5" fmla="val 0"/>
                <a:gd name="f6" fmla="val 32"/>
                <a:gd name="f7" fmla="val 54"/>
                <a:gd name="f8" fmla="val 24"/>
                <a:gd name="f9" fmla="val 53"/>
                <a:gd name="f10" fmla="val 50"/>
                <a:gd name="f11" fmla="val 23"/>
                <a:gd name="f12" fmla="val 51"/>
                <a:gd name="f13" fmla="val 22"/>
                <a:gd name="f14" fmla="val 21"/>
                <a:gd name="f15" fmla="val 52"/>
                <a:gd name="f16" fmla="val 20"/>
                <a:gd name="f17" fmla="val 19"/>
                <a:gd name="f18" fmla="val 18"/>
                <a:gd name="f19" fmla="val 17"/>
                <a:gd name="f20" fmla="val 16"/>
                <a:gd name="f21" fmla="val 15"/>
                <a:gd name="f22" fmla="val 14"/>
                <a:gd name="f23" fmla="val 12"/>
                <a:gd name="f24" fmla="val 10"/>
                <a:gd name="f25" fmla="val 9"/>
                <a:gd name="f26" fmla="val 7"/>
                <a:gd name="f27" fmla="val 5"/>
                <a:gd name="f28" fmla="val 4"/>
                <a:gd name="f29" fmla="val 49"/>
                <a:gd name="f30" fmla="val 3"/>
                <a:gd name="f31" fmla="val 48"/>
                <a:gd name="f32" fmla="val 1"/>
                <a:gd name="f33" fmla="val 45"/>
                <a:gd name="f34" fmla="val 43"/>
                <a:gd name="f35" fmla="val 40"/>
                <a:gd name="f36" fmla="val 37"/>
                <a:gd name="f37" fmla="val 33"/>
                <a:gd name="f38" fmla="val 30"/>
                <a:gd name="f39" fmla="val 27"/>
                <a:gd name="f40" fmla="val 25"/>
                <a:gd name="f41" fmla="val 2"/>
                <a:gd name="f42" fmla="val 6"/>
                <a:gd name="f43" fmla="val 11"/>
                <a:gd name="f44" fmla="val 13"/>
                <a:gd name="f45" fmla="val 26"/>
                <a:gd name="f46" fmla="val 8"/>
                <a:gd name="f47" fmla="val 29"/>
                <a:gd name="f48" fmla="val 36"/>
                <a:gd name="f49" fmla="val 38"/>
                <a:gd name="f50" fmla="val 39"/>
                <a:gd name="f51" fmla="val 41"/>
                <a:gd name="f52" fmla="val 44"/>
                <a:gd name="f53" fmla="val 46"/>
                <a:gd name="f54" fmla="val 47"/>
                <a:gd name="f55" fmla="val 42"/>
                <a:gd name="f56" fmla="+- 0 0 -90"/>
                <a:gd name="f57" fmla="*/ f3 1 32"/>
                <a:gd name="f58" fmla="*/ f4 1 54"/>
                <a:gd name="f59" fmla="+- f7 0 f5"/>
                <a:gd name="f60" fmla="+- f6 0 f5"/>
                <a:gd name="f61" fmla="*/ f56 f0 1"/>
                <a:gd name="f62" fmla="*/ f60 1 32"/>
                <a:gd name="f63" fmla="*/ f59 1 54"/>
                <a:gd name="f64" fmla="*/ 24 f60 1"/>
                <a:gd name="f65" fmla="*/ 53 f59 1"/>
                <a:gd name="f66" fmla="*/ 50 f59 1"/>
                <a:gd name="f67" fmla="*/ 22 f60 1"/>
                <a:gd name="f68" fmla="*/ 51 f59 1"/>
                <a:gd name="f69" fmla="*/ 20 f60 1"/>
                <a:gd name="f70" fmla="*/ 17 f60 1"/>
                <a:gd name="f71" fmla="*/ 54 f59 1"/>
                <a:gd name="f72" fmla="*/ 14 f60 1"/>
                <a:gd name="f73" fmla="*/ 9 f60 1"/>
                <a:gd name="f74" fmla="*/ 4 f60 1"/>
                <a:gd name="f75" fmla="*/ 49 f59 1"/>
                <a:gd name="f76" fmla="*/ 1 f60 1"/>
                <a:gd name="f77" fmla="*/ 43 f59 1"/>
                <a:gd name="f78" fmla="*/ 0 f60 1"/>
                <a:gd name="f79" fmla="*/ 33 f59 1"/>
                <a:gd name="f80" fmla="*/ 25 f59 1"/>
                <a:gd name="f81" fmla="*/ 19 f59 1"/>
                <a:gd name="f82" fmla="*/ 15 f59 1"/>
                <a:gd name="f83" fmla="*/ 15 f60 1"/>
                <a:gd name="f84" fmla="*/ 14 f59 1"/>
                <a:gd name="f85" fmla="*/ 18 f60 1"/>
                <a:gd name="f86" fmla="*/ 17 f59 1"/>
                <a:gd name="f87" fmla="*/ 18 f59 1"/>
                <a:gd name="f88" fmla="*/ 4 f59 1"/>
                <a:gd name="f89" fmla="*/ 32 f60 1"/>
                <a:gd name="f90" fmla="*/ 0 f59 1"/>
                <a:gd name="f91" fmla="*/ 26 f59 1"/>
                <a:gd name="f92" fmla="*/ 23 f60 1"/>
                <a:gd name="f93" fmla="*/ 24 f59 1"/>
                <a:gd name="f94" fmla="*/ 21 f60 1"/>
                <a:gd name="f95" fmla="*/ 23 f59 1"/>
                <a:gd name="f96" fmla="*/ 22 f59 1"/>
                <a:gd name="f97" fmla="*/ 21 f59 1"/>
                <a:gd name="f98" fmla="*/ 7 f60 1"/>
                <a:gd name="f99" fmla="*/ 8 f60 1"/>
                <a:gd name="f100" fmla="*/ 39 f59 1"/>
                <a:gd name="f101" fmla="*/ 44 f59 1"/>
                <a:gd name="f102" fmla="*/ 12 f60 1"/>
                <a:gd name="f103" fmla="*/ 46 f59 1"/>
                <a:gd name="f104" fmla="*/ 16 f60 1"/>
                <a:gd name="f105" fmla="*/ 47 f59 1"/>
                <a:gd name="f106" fmla="*/ 42 f59 1"/>
                <a:gd name="f107" fmla="*/ f61 1 f2"/>
                <a:gd name="f108" fmla="*/ f64 1 32"/>
                <a:gd name="f109" fmla="*/ f65 1 54"/>
                <a:gd name="f110" fmla="*/ f66 1 54"/>
                <a:gd name="f111" fmla="*/ f67 1 32"/>
                <a:gd name="f112" fmla="*/ f68 1 54"/>
                <a:gd name="f113" fmla="*/ f69 1 32"/>
                <a:gd name="f114" fmla="*/ f70 1 32"/>
                <a:gd name="f115" fmla="*/ f71 1 54"/>
                <a:gd name="f116" fmla="*/ f72 1 32"/>
                <a:gd name="f117" fmla="*/ f73 1 32"/>
                <a:gd name="f118" fmla="*/ f74 1 32"/>
                <a:gd name="f119" fmla="*/ f75 1 54"/>
                <a:gd name="f120" fmla="*/ f76 1 32"/>
                <a:gd name="f121" fmla="*/ f77 1 54"/>
                <a:gd name="f122" fmla="*/ f78 1 32"/>
                <a:gd name="f123" fmla="*/ f79 1 54"/>
                <a:gd name="f124" fmla="*/ f80 1 54"/>
                <a:gd name="f125" fmla="*/ f81 1 54"/>
                <a:gd name="f126" fmla="*/ f82 1 54"/>
                <a:gd name="f127" fmla="*/ f83 1 32"/>
                <a:gd name="f128" fmla="*/ f84 1 54"/>
                <a:gd name="f129" fmla="*/ f85 1 32"/>
                <a:gd name="f130" fmla="*/ f86 1 54"/>
                <a:gd name="f131" fmla="*/ f87 1 54"/>
                <a:gd name="f132" fmla="*/ f88 1 54"/>
                <a:gd name="f133" fmla="*/ f89 1 32"/>
                <a:gd name="f134" fmla="*/ f90 1 54"/>
                <a:gd name="f135" fmla="*/ f91 1 54"/>
                <a:gd name="f136" fmla="*/ f92 1 32"/>
                <a:gd name="f137" fmla="*/ f93 1 54"/>
                <a:gd name="f138" fmla="*/ f94 1 32"/>
                <a:gd name="f139" fmla="*/ f95 1 54"/>
                <a:gd name="f140" fmla="*/ f96 1 54"/>
                <a:gd name="f141" fmla="*/ f97 1 54"/>
                <a:gd name="f142" fmla="*/ f98 1 32"/>
                <a:gd name="f143" fmla="*/ f99 1 32"/>
                <a:gd name="f144" fmla="*/ f100 1 54"/>
                <a:gd name="f145" fmla="*/ f101 1 54"/>
                <a:gd name="f146" fmla="*/ f102 1 32"/>
                <a:gd name="f147" fmla="*/ f103 1 54"/>
                <a:gd name="f148" fmla="*/ f104 1 32"/>
                <a:gd name="f149" fmla="*/ f105 1 54"/>
                <a:gd name="f150" fmla="*/ f106 1 54"/>
                <a:gd name="f151" fmla="*/ 0 1 f62"/>
                <a:gd name="f152" fmla="*/ f6 1 f62"/>
                <a:gd name="f153" fmla="*/ 0 1 f63"/>
                <a:gd name="f154" fmla="*/ f7 1 f63"/>
                <a:gd name="f155" fmla="+- f107 0 f1"/>
                <a:gd name="f156" fmla="*/ f108 1 f62"/>
                <a:gd name="f157" fmla="*/ f109 1 f63"/>
                <a:gd name="f158" fmla="*/ f110 1 f63"/>
                <a:gd name="f159" fmla="*/ f111 1 f62"/>
                <a:gd name="f160" fmla="*/ f112 1 f63"/>
                <a:gd name="f161" fmla="*/ f113 1 f62"/>
                <a:gd name="f162" fmla="*/ f114 1 f62"/>
                <a:gd name="f163" fmla="*/ f115 1 f63"/>
                <a:gd name="f164" fmla="*/ f116 1 f62"/>
                <a:gd name="f165" fmla="*/ f117 1 f62"/>
                <a:gd name="f166" fmla="*/ f118 1 f62"/>
                <a:gd name="f167" fmla="*/ f119 1 f63"/>
                <a:gd name="f168" fmla="*/ f120 1 f62"/>
                <a:gd name="f169" fmla="*/ f121 1 f63"/>
                <a:gd name="f170" fmla="*/ f122 1 f62"/>
                <a:gd name="f171" fmla="*/ f123 1 f63"/>
                <a:gd name="f172" fmla="*/ f124 1 f63"/>
                <a:gd name="f173" fmla="*/ f125 1 f63"/>
                <a:gd name="f174" fmla="*/ f126 1 f63"/>
                <a:gd name="f175" fmla="*/ f127 1 f62"/>
                <a:gd name="f176" fmla="*/ f128 1 f63"/>
                <a:gd name="f177" fmla="*/ f129 1 f62"/>
                <a:gd name="f178" fmla="*/ f130 1 f63"/>
                <a:gd name="f179" fmla="*/ f131 1 f63"/>
                <a:gd name="f180" fmla="*/ f132 1 f63"/>
                <a:gd name="f181" fmla="*/ f133 1 f62"/>
                <a:gd name="f182" fmla="*/ f134 1 f63"/>
                <a:gd name="f183" fmla="*/ f135 1 f63"/>
                <a:gd name="f184" fmla="*/ f136 1 f62"/>
                <a:gd name="f185" fmla="*/ f137 1 f63"/>
                <a:gd name="f186" fmla="*/ f138 1 f62"/>
                <a:gd name="f187" fmla="*/ f139 1 f63"/>
                <a:gd name="f188" fmla="*/ f140 1 f63"/>
                <a:gd name="f189" fmla="*/ f141 1 f63"/>
                <a:gd name="f190" fmla="*/ f142 1 f62"/>
                <a:gd name="f191" fmla="*/ f143 1 f62"/>
                <a:gd name="f192" fmla="*/ f144 1 f63"/>
                <a:gd name="f193" fmla="*/ f145 1 f63"/>
                <a:gd name="f194" fmla="*/ f146 1 f62"/>
                <a:gd name="f195" fmla="*/ f147 1 f63"/>
                <a:gd name="f196" fmla="*/ f148 1 f62"/>
                <a:gd name="f197" fmla="*/ f149 1 f63"/>
                <a:gd name="f198" fmla="*/ f150 1 f63"/>
                <a:gd name="f199" fmla="*/ f151 f57 1"/>
                <a:gd name="f200" fmla="*/ f152 f57 1"/>
                <a:gd name="f201" fmla="*/ f154 f58 1"/>
                <a:gd name="f202" fmla="*/ f153 f58 1"/>
                <a:gd name="f203" fmla="*/ f156 f57 1"/>
                <a:gd name="f204" fmla="*/ f157 f58 1"/>
                <a:gd name="f205" fmla="*/ f158 f58 1"/>
                <a:gd name="f206" fmla="*/ f159 f57 1"/>
                <a:gd name="f207" fmla="*/ f160 f58 1"/>
                <a:gd name="f208" fmla="*/ f161 f57 1"/>
                <a:gd name="f209" fmla="*/ f162 f57 1"/>
                <a:gd name="f210" fmla="*/ f163 f58 1"/>
                <a:gd name="f211" fmla="*/ f164 f57 1"/>
                <a:gd name="f212" fmla="*/ f165 f57 1"/>
                <a:gd name="f213" fmla="*/ f166 f57 1"/>
                <a:gd name="f214" fmla="*/ f167 f58 1"/>
                <a:gd name="f215" fmla="*/ f168 f57 1"/>
                <a:gd name="f216" fmla="*/ f169 f58 1"/>
                <a:gd name="f217" fmla="*/ f170 f57 1"/>
                <a:gd name="f218" fmla="*/ f171 f58 1"/>
                <a:gd name="f219" fmla="*/ f172 f58 1"/>
                <a:gd name="f220" fmla="*/ f173 f58 1"/>
                <a:gd name="f221" fmla="*/ f174 f58 1"/>
                <a:gd name="f222" fmla="*/ f175 f57 1"/>
                <a:gd name="f223" fmla="*/ f176 f58 1"/>
                <a:gd name="f224" fmla="*/ f177 f57 1"/>
                <a:gd name="f225" fmla="*/ f178 f58 1"/>
                <a:gd name="f226" fmla="*/ f179 f58 1"/>
                <a:gd name="f227" fmla="*/ f180 f58 1"/>
                <a:gd name="f228" fmla="*/ f181 f57 1"/>
                <a:gd name="f229" fmla="*/ f182 f58 1"/>
                <a:gd name="f230" fmla="*/ f183 f58 1"/>
                <a:gd name="f231" fmla="*/ f184 f57 1"/>
                <a:gd name="f232" fmla="*/ f185 f58 1"/>
                <a:gd name="f233" fmla="*/ f186 f57 1"/>
                <a:gd name="f234" fmla="*/ f187 f58 1"/>
                <a:gd name="f235" fmla="*/ f188 f58 1"/>
                <a:gd name="f236" fmla="*/ f189 f58 1"/>
                <a:gd name="f237" fmla="*/ f190 f57 1"/>
                <a:gd name="f238" fmla="*/ f191 f57 1"/>
                <a:gd name="f239" fmla="*/ f192 f58 1"/>
                <a:gd name="f240" fmla="*/ f193 f58 1"/>
                <a:gd name="f241" fmla="*/ f194 f57 1"/>
                <a:gd name="f242" fmla="*/ f195 f58 1"/>
                <a:gd name="f243" fmla="*/ f196 f57 1"/>
                <a:gd name="f244" fmla="*/ f197 f58 1"/>
                <a:gd name="f245" fmla="*/ f198 f58 1"/>
              </a:gdLst>
              <a:ahLst/>
              <a:cxnLst>
                <a:cxn ang="3cd4">
                  <a:pos x="hc" y="t"/>
                </a:cxn>
                <a:cxn ang="0">
                  <a:pos x="r" y="vc"/>
                </a:cxn>
                <a:cxn ang="cd4">
                  <a:pos x="hc" y="b"/>
                </a:cxn>
                <a:cxn ang="cd2">
                  <a:pos x="l" y="vc"/>
                </a:cxn>
                <a:cxn ang="f155">
                  <a:pos x="f203" y="f204"/>
                </a:cxn>
                <a:cxn ang="f155">
                  <a:pos x="f203" y="f205"/>
                </a:cxn>
                <a:cxn ang="f155">
                  <a:pos x="f206" y="f207"/>
                </a:cxn>
                <a:cxn ang="f155">
                  <a:pos x="f208" y="f204"/>
                </a:cxn>
                <a:cxn ang="f155">
                  <a:pos x="f209" y="f210"/>
                </a:cxn>
                <a:cxn ang="f155">
                  <a:pos x="f211" y="f210"/>
                </a:cxn>
                <a:cxn ang="f155">
                  <a:pos x="f212" y="f204"/>
                </a:cxn>
                <a:cxn ang="f155">
                  <a:pos x="f213" y="f214"/>
                </a:cxn>
                <a:cxn ang="f155">
                  <a:pos x="f215" y="f216"/>
                </a:cxn>
                <a:cxn ang="f155">
                  <a:pos x="f217" y="f218"/>
                </a:cxn>
                <a:cxn ang="f155">
                  <a:pos x="f215" y="f219"/>
                </a:cxn>
                <a:cxn ang="f155">
                  <a:pos x="f213" y="f220"/>
                </a:cxn>
                <a:cxn ang="f155">
                  <a:pos x="f212" y="f221"/>
                </a:cxn>
                <a:cxn ang="f155">
                  <a:pos x="f222" y="f223"/>
                </a:cxn>
                <a:cxn ang="f155">
                  <a:pos x="f224" y="f223"/>
                </a:cxn>
                <a:cxn ang="f155">
                  <a:pos x="f208" y="f221"/>
                </a:cxn>
                <a:cxn ang="f155">
                  <a:pos x="f206" y="f225"/>
                </a:cxn>
                <a:cxn ang="f155">
                  <a:pos x="f203" y="f226"/>
                </a:cxn>
                <a:cxn ang="f155">
                  <a:pos x="f203" y="f227"/>
                </a:cxn>
                <a:cxn ang="f155">
                  <a:pos x="f228" y="f229"/>
                </a:cxn>
                <a:cxn ang="f155">
                  <a:pos x="f228" y="f204"/>
                </a:cxn>
                <a:cxn ang="f155">
                  <a:pos x="f203" y="f204"/>
                </a:cxn>
                <a:cxn ang="f155">
                  <a:pos x="f203" y="f230"/>
                </a:cxn>
                <a:cxn ang="f155">
                  <a:pos x="f231" y="f232"/>
                </a:cxn>
                <a:cxn ang="f155">
                  <a:pos x="f233" y="f234"/>
                </a:cxn>
                <a:cxn ang="f155">
                  <a:pos x="f224" y="f235"/>
                </a:cxn>
                <a:cxn ang="f155">
                  <a:pos x="f222" y="f236"/>
                </a:cxn>
                <a:cxn ang="f155">
                  <a:pos x="f212" y="f232"/>
                </a:cxn>
                <a:cxn ang="f155">
                  <a:pos x="f237" y="f218"/>
                </a:cxn>
                <a:cxn ang="f155">
                  <a:pos x="f238" y="f239"/>
                </a:cxn>
                <a:cxn ang="f155">
                  <a:pos x="f212" y="f240"/>
                </a:cxn>
                <a:cxn ang="f155">
                  <a:pos x="f241" y="f242"/>
                </a:cxn>
                <a:cxn ang="f155">
                  <a:pos x="f243" y="f244"/>
                </a:cxn>
                <a:cxn ang="f155">
                  <a:pos x="f224" y="f244"/>
                </a:cxn>
                <a:cxn ang="f155">
                  <a:pos x="f233" y="f242"/>
                </a:cxn>
                <a:cxn ang="f155">
                  <a:pos x="f231" y="f240"/>
                </a:cxn>
                <a:cxn ang="f155">
                  <a:pos x="f203" y="f245"/>
                </a:cxn>
                <a:cxn ang="f155">
                  <a:pos x="f203" y="f230"/>
                </a:cxn>
              </a:cxnLst>
              <a:rect l="f199" t="f202" r="f200" b="f201"/>
              <a:pathLst>
                <a:path w="32" h="54">
                  <a:moveTo>
                    <a:pt x="f8" y="f9"/>
                  </a:moveTo>
                  <a:cubicBezTo>
                    <a:pt x="f8" y="f10"/>
                    <a:pt x="f8" y="f10"/>
                    <a:pt x="f8" y="f10"/>
                  </a:cubicBezTo>
                  <a:cubicBezTo>
                    <a:pt x="f8" y="f10"/>
                    <a:pt x="f11" y="f12"/>
                    <a:pt x="f13" y="f12"/>
                  </a:cubicBezTo>
                  <a:cubicBezTo>
                    <a:pt x="f14" y="f15"/>
                    <a:pt x="f14" y="f15"/>
                    <a:pt x="f16" y="f9"/>
                  </a:cubicBezTo>
                  <a:cubicBezTo>
                    <a:pt x="f17" y="f9"/>
                    <a:pt x="f18" y="f7"/>
                    <a:pt x="f19" y="f7"/>
                  </a:cubicBezTo>
                  <a:cubicBezTo>
                    <a:pt x="f20" y="f7"/>
                    <a:pt x="f21" y="f7"/>
                    <a:pt x="f22" y="f7"/>
                  </a:cubicBezTo>
                  <a:cubicBezTo>
                    <a:pt x="f23" y="f7"/>
                    <a:pt x="f24" y="f7"/>
                    <a:pt x="f25" y="f9"/>
                  </a:cubicBezTo>
                  <a:cubicBezTo>
                    <a:pt x="f26" y="f15"/>
                    <a:pt x="f27" y="f12"/>
                    <a:pt x="f28" y="f29"/>
                  </a:cubicBezTo>
                  <a:cubicBezTo>
                    <a:pt x="f30" y="f31"/>
                    <a:pt x="f32" y="f33"/>
                    <a:pt x="f32" y="f34"/>
                  </a:cubicBezTo>
                  <a:cubicBezTo>
                    <a:pt x="f5" y="f35"/>
                    <a:pt x="f5" y="f36"/>
                    <a:pt x="f5" y="f37"/>
                  </a:cubicBezTo>
                  <a:cubicBezTo>
                    <a:pt x="f5" y="f38"/>
                    <a:pt x="f5" y="f39"/>
                    <a:pt x="f32" y="f40"/>
                  </a:cubicBezTo>
                  <a:cubicBezTo>
                    <a:pt x="f41" y="f13"/>
                    <a:pt x="f30" y="f16"/>
                    <a:pt x="f28" y="f17"/>
                  </a:cubicBezTo>
                  <a:cubicBezTo>
                    <a:pt x="f42" y="f19"/>
                    <a:pt x="f26" y="f20"/>
                    <a:pt x="f25" y="f21"/>
                  </a:cubicBezTo>
                  <a:cubicBezTo>
                    <a:pt x="f43" y="f22"/>
                    <a:pt x="f44" y="f22"/>
                    <a:pt x="f21" y="f22"/>
                  </a:cubicBezTo>
                  <a:cubicBezTo>
                    <a:pt x="f20" y="f22"/>
                    <a:pt x="f19" y="f22"/>
                    <a:pt x="f18" y="f22"/>
                  </a:cubicBezTo>
                  <a:cubicBezTo>
                    <a:pt x="f18" y="f21"/>
                    <a:pt x="f17" y="f21"/>
                    <a:pt x="f16" y="f21"/>
                  </a:cubicBezTo>
                  <a:cubicBezTo>
                    <a:pt x="f14" y="f20"/>
                    <a:pt x="f13" y="f20"/>
                    <a:pt x="f13" y="f19"/>
                  </a:cubicBezTo>
                  <a:cubicBezTo>
                    <a:pt x="f11" y="f19"/>
                    <a:pt x="f8" y="f18"/>
                    <a:pt x="f8" y="f18"/>
                  </a:cubicBezTo>
                  <a:cubicBezTo>
                    <a:pt x="f8" y="f28"/>
                    <a:pt x="f8" y="f28"/>
                    <a:pt x="f8" y="f28"/>
                  </a:cubicBezTo>
                  <a:cubicBezTo>
                    <a:pt x="f6" y="f5"/>
                    <a:pt x="f6" y="f5"/>
                    <a:pt x="f6" y="f5"/>
                  </a:cubicBezTo>
                  <a:cubicBezTo>
                    <a:pt x="f6" y="f9"/>
                    <a:pt x="f6" y="f9"/>
                    <a:pt x="f6" y="f9"/>
                  </a:cubicBezTo>
                  <a:lnTo>
                    <a:pt x="f8" y="f9"/>
                  </a:lnTo>
                  <a:close/>
                  <a:moveTo>
                    <a:pt x="f8" y="f45"/>
                  </a:moveTo>
                  <a:cubicBezTo>
                    <a:pt x="f8" y="f45"/>
                    <a:pt x="f11" y="f40"/>
                    <a:pt x="f11" y="f8"/>
                  </a:cubicBezTo>
                  <a:cubicBezTo>
                    <a:pt x="f13" y="f8"/>
                    <a:pt x="f13" y="f11"/>
                    <a:pt x="f14" y="f11"/>
                  </a:cubicBezTo>
                  <a:cubicBezTo>
                    <a:pt x="f16" y="f13"/>
                    <a:pt x="f17" y="f13"/>
                    <a:pt x="f18" y="f13"/>
                  </a:cubicBezTo>
                  <a:cubicBezTo>
                    <a:pt x="f19" y="f14"/>
                    <a:pt x="f20" y="f14"/>
                    <a:pt x="f21" y="f14"/>
                  </a:cubicBezTo>
                  <a:cubicBezTo>
                    <a:pt x="f44" y="f14"/>
                    <a:pt x="f43" y="f13"/>
                    <a:pt x="f25" y="f8"/>
                  </a:cubicBezTo>
                  <a:cubicBezTo>
                    <a:pt x="f46" y="f45"/>
                    <a:pt x="f26" y="f47"/>
                    <a:pt x="f26" y="f37"/>
                  </a:cubicBezTo>
                  <a:cubicBezTo>
                    <a:pt x="f26" y="f48"/>
                    <a:pt x="f26" y="f49"/>
                    <a:pt x="f46" y="f50"/>
                  </a:cubicBezTo>
                  <a:cubicBezTo>
                    <a:pt x="f46" y="f51"/>
                    <a:pt x="f25" y="f34"/>
                    <a:pt x="f25" y="f52"/>
                  </a:cubicBezTo>
                  <a:cubicBezTo>
                    <a:pt x="f24" y="f33"/>
                    <a:pt x="f43" y="f53"/>
                    <a:pt x="f23" y="f53"/>
                  </a:cubicBezTo>
                  <a:cubicBezTo>
                    <a:pt x="f44" y="f54"/>
                    <a:pt x="f22" y="f54"/>
                    <a:pt x="f20" y="f54"/>
                  </a:cubicBezTo>
                  <a:cubicBezTo>
                    <a:pt x="f19" y="f54"/>
                    <a:pt x="f18" y="f54"/>
                    <a:pt x="f18" y="f54"/>
                  </a:cubicBezTo>
                  <a:cubicBezTo>
                    <a:pt x="f17" y="f53"/>
                    <a:pt x="f16" y="f53"/>
                    <a:pt x="f14" y="f53"/>
                  </a:cubicBezTo>
                  <a:cubicBezTo>
                    <a:pt x="f14" y="f33"/>
                    <a:pt x="f13" y="f33"/>
                    <a:pt x="f11" y="f52"/>
                  </a:cubicBezTo>
                  <a:cubicBezTo>
                    <a:pt x="f11" y="f34"/>
                    <a:pt x="f8" y="f34"/>
                    <a:pt x="f8" y="f55"/>
                  </a:cubicBezTo>
                  <a:lnTo>
                    <a:pt x="f8" y="f4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5" name="Freeform 65">
              <a:extLst>
                <a:ext uri="{FF2B5EF4-FFF2-40B4-BE49-F238E27FC236}">
                  <a16:creationId xmlns:a16="http://schemas.microsoft.com/office/drawing/2014/main" id="{BE1D1D2A-3A2B-E987-C417-02DCEA23AA70}"/>
                </a:ext>
              </a:extLst>
            </p:cNvPr>
            <p:cNvSpPr/>
            <p:nvPr/>
          </p:nvSpPr>
          <p:spPr>
            <a:xfrm>
              <a:off x="2228465" y="6297417"/>
              <a:ext cx="121999" cy="97648"/>
            </a:xfrm>
            <a:custGeom>
              <a:avLst/>
              <a:gdLst>
                <a:gd name="f0" fmla="val 10800000"/>
                <a:gd name="f1" fmla="val 5400000"/>
                <a:gd name="f2" fmla="val 180"/>
                <a:gd name="f3" fmla="val w"/>
                <a:gd name="f4" fmla="val h"/>
                <a:gd name="f5" fmla="val 0"/>
                <a:gd name="f6" fmla="val 70"/>
                <a:gd name="f7" fmla="val 56"/>
                <a:gd name="f8" fmla="val 55"/>
                <a:gd name="f9" fmla="val 45"/>
                <a:gd name="f10" fmla="val 35"/>
                <a:gd name="f11" fmla="val 16"/>
                <a:gd name="f12" fmla="val 25"/>
                <a:gd name="f13" fmla="val 12"/>
                <a:gd name="f14" fmla="val 20"/>
                <a:gd name="f15" fmla="val 38"/>
                <a:gd name="f16" fmla="val 31"/>
                <a:gd name="f17" fmla="val 39"/>
                <a:gd name="f18" fmla="val 51"/>
                <a:gd name="f19" fmla="val 60"/>
                <a:gd name="f20" fmla="+- 0 0 -90"/>
                <a:gd name="f21" fmla="*/ f3 1 70"/>
                <a:gd name="f22" fmla="*/ f4 1 56"/>
                <a:gd name="f23" fmla="+- f7 0 f5"/>
                <a:gd name="f24" fmla="+- f6 0 f5"/>
                <a:gd name="f25" fmla="*/ f20 f0 1"/>
                <a:gd name="f26" fmla="*/ f24 1 70"/>
                <a:gd name="f27" fmla="*/ f23 1 56"/>
                <a:gd name="f28" fmla="*/ 55 f24 1"/>
                <a:gd name="f29" fmla="*/ 56 f23 1"/>
                <a:gd name="f30" fmla="*/ 45 f24 1"/>
                <a:gd name="f31" fmla="*/ 35 f24 1"/>
                <a:gd name="f32" fmla="*/ 16 f23 1"/>
                <a:gd name="f33" fmla="*/ 25 f24 1"/>
                <a:gd name="f34" fmla="*/ 16 f24 1"/>
                <a:gd name="f35" fmla="*/ 0 f24 1"/>
                <a:gd name="f36" fmla="*/ 0 f23 1"/>
                <a:gd name="f37" fmla="*/ 12 f24 1"/>
                <a:gd name="f38" fmla="*/ 20 f24 1"/>
                <a:gd name="f39" fmla="*/ 38 f23 1"/>
                <a:gd name="f40" fmla="*/ 31 f24 1"/>
                <a:gd name="f41" fmla="*/ 39 f24 1"/>
                <a:gd name="f42" fmla="*/ 51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8" y="f7"/>
                  </a:moveTo>
                  <a:lnTo>
                    <a:pt x="f9" y="f7"/>
                  </a:lnTo>
                  <a:lnTo>
                    <a:pt x="f10" y="f11"/>
                  </a:lnTo>
                  <a:lnTo>
                    <a:pt x="f12" y="f7"/>
                  </a:lnTo>
                  <a:lnTo>
                    <a:pt x="f11" y="f7"/>
                  </a:lnTo>
                  <a:lnTo>
                    <a:pt x="f5" y="f5"/>
                  </a:lnTo>
                  <a:lnTo>
                    <a:pt x="f13" y="f5"/>
                  </a:lnTo>
                  <a:lnTo>
                    <a:pt x="f14" y="f15"/>
                  </a:lnTo>
                  <a:lnTo>
                    <a:pt x="f16" y="f5"/>
                  </a:lnTo>
                  <a:lnTo>
                    <a:pt x="f17" y="f5"/>
                  </a:lnTo>
                  <a:lnTo>
                    <a:pt x="f18" y="f15"/>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6" name="Freeform 66">
              <a:extLst>
                <a:ext uri="{FF2B5EF4-FFF2-40B4-BE49-F238E27FC236}">
                  <a16:creationId xmlns:a16="http://schemas.microsoft.com/office/drawing/2014/main" id="{78CA8271-3C60-AAC7-2F95-F0BB17772144}"/>
                </a:ext>
              </a:extLst>
            </p:cNvPr>
            <p:cNvSpPr/>
            <p:nvPr/>
          </p:nvSpPr>
          <p:spPr>
            <a:xfrm>
              <a:off x="2360916" y="6293924"/>
              <a:ext cx="88879" cy="102879"/>
            </a:xfrm>
            <a:custGeom>
              <a:avLst/>
              <a:gdLst>
                <a:gd name="f0" fmla="val 10800000"/>
                <a:gd name="f1" fmla="val 5400000"/>
                <a:gd name="f2" fmla="val 180"/>
                <a:gd name="f3" fmla="val w"/>
                <a:gd name="f4" fmla="val h"/>
                <a:gd name="f5" fmla="val 0"/>
                <a:gd name="f6" fmla="val 35"/>
                <a:gd name="f7" fmla="val 40"/>
                <a:gd name="f8" fmla="val 20"/>
                <a:gd name="f9" fmla="val 23"/>
                <a:gd name="f10" fmla="val 34"/>
                <a:gd name="f11" fmla="val 26"/>
                <a:gd name="f12" fmla="val 33"/>
                <a:gd name="f13" fmla="val 28"/>
                <a:gd name="f14" fmla="val 32"/>
                <a:gd name="f15" fmla="val 31"/>
                <a:gd name="f16" fmla="val 30"/>
                <a:gd name="f17" fmla="val 37"/>
                <a:gd name="f18" fmla="val 38"/>
                <a:gd name="f19" fmla="val 24"/>
                <a:gd name="f20" fmla="val 39"/>
                <a:gd name="f21" fmla="val 22"/>
                <a:gd name="f22" fmla="val 17"/>
                <a:gd name="f23" fmla="val 15"/>
                <a:gd name="f24" fmla="val 13"/>
                <a:gd name="f25" fmla="val 11"/>
                <a:gd name="f26" fmla="val 8"/>
                <a:gd name="f27" fmla="val 7"/>
                <a:gd name="f28" fmla="val 36"/>
                <a:gd name="f29" fmla="val 5"/>
                <a:gd name="f30" fmla="val 4"/>
                <a:gd name="f31" fmla="val 2"/>
                <a:gd name="f32" fmla="val 1"/>
                <a:gd name="f33" fmla="val 14"/>
                <a:gd name="f34" fmla="val 12"/>
                <a:gd name="f35" fmla="val 3"/>
                <a:gd name="f36" fmla="val 9"/>
                <a:gd name="f37" fmla="val 18"/>
                <a:gd name="f38" fmla="val 27"/>
                <a:gd name="f39" fmla="val 16"/>
                <a:gd name="f40" fmla="val 25"/>
                <a:gd name="f41" fmla="val 10"/>
                <a:gd name="f42" fmla="val 21"/>
                <a:gd name="f43" fmla="val 19"/>
                <a:gd name="f44" fmla="val 29"/>
                <a:gd name="f45" fmla="+- 0 0 -90"/>
                <a:gd name="f46" fmla="*/ f3 1 35"/>
                <a:gd name="f47" fmla="*/ f4 1 40"/>
                <a:gd name="f48" fmla="+- f7 0 f5"/>
                <a:gd name="f49" fmla="+- f6 0 f5"/>
                <a:gd name="f50" fmla="*/ f45 f0 1"/>
                <a:gd name="f51" fmla="*/ f49 1 35"/>
                <a:gd name="f52" fmla="*/ f48 1 40"/>
                <a:gd name="f53" fmla="*/ 35 f49 1"/>
                <a:gd name="f54" fmla="*/ 20 f48 1"/>
                <a:gd name="f55" fmla="*/ 33 f49 1"/>
                <a:gd name="f56" fmla="*/ 28 f48 1"/>
                <a:gd name="f57" fmla="*/ 30 f49 1"/>
                <a:gd name="f58" fmla="*/ 35 f48 1"/>
                <a:gd name="f59" fmla="*/ 24 f49 1"/>
                <a:gd name="f60" fmla="*/ 39 f48 1"/>
                <a:gd name="f61" fmla="*/ 17 f49 1"/>
                <a:gd name="f62" fmla="*/ 40 f48 1"/>
                <a:gd name="f63" fmla="*/ 11 f49 1"/>
                <a:gd name="f64" fmla="*/ 5 f49 1"/>
                <a:gd name="f65" fmla="*/ 2 f49 1"/>
                <a:gd name="f66" fmla="*/ 0 f49 1"/>
                <a:gd name="f67" fmla="*/ 12 f48 1"/>
                <a:gd name="f68" fmla="*/ 5 f48 1"/>
                <a:gd name="f69" fmla="*/ 1 f48 1"/>
                <a:gd name="f70" fmla="*/ 18 f49 1"/>
                <a:gd name="f71" fmla="*/ 0 f48 1"/>
                <a:gd name="f72" fmla="*/ 27 f49 1"/>
                <a:gd name="f73" fmla="*/ 26 f49 1"/>
                <a:gd name="f74" fmla="*/ 15 f48 1"/>
                <a:gd name="f75" fmla="*/ 11 f48 1"/>
                <a:gd name="f76" fmla="*/ 21 f49 1"/>
                <a:gd name="f77" fmla="*/ 8 f48 1"/>
                <a:gd name="f78" fmla="*/ 7 f48 1"/>
                <a:gd name="f79" fmla="*/ 13 f49 1"/>
                <a:gd name="f80" fmla="*/ 10 f49 1"/>
                <a:gd name="f81" fmla="*/ 9 f49 1"/>
                <a:gd name="f82" fmla="*/ 8 f49 1"/>
                <a:gd name="f83" fmla="*/ 26 f48 1"/>
                <a:gd name="f84" fmla="*/ 30 f48 1"/>
                <a:gd name="f85" fmla="*/ 14 f49 1"/>
                <a:gd name="f86" fmla="*/ 32 f48 1"/>
                <a:gd name="f87" fmla="*/ 33 f48 1"/>
                <a:gd name="f88" fmla="*/ 29 f48 1"/>
                <a:gd name="f89" fmla="*/ 25 f48 1"/>
                <a:gd name="f90" fmla="*/ f50 1 f2"/>
                <a:gd name="f91" fmla="*/ f53 1 35"/>
                <a:gd name="f92" fmla="*/ f54 1 40"/>
                <a:gd name="f93" fmla="*/ f55 1 35"/>
                <a:gd name="f94" fmla="*/ f56 1 40"/>
                <a:gd name="f95" fmla="*/ f57 1 35"/>
                <a:gd name="f96" fmla="*/ f58 1 40"/>
                <a:gd name="f97" fmla="*/ f59 1 35"/>
                <a:gd name="f98" fmla="*/ f60 1 40"/>
                <a:gd name="f99" fmla="*/ f61 1 35"/>
                <a:gd name="f100" fmla="*/ f62 1 40"/>
                <a:gd name="f101" fmla="*/ f63 1 35"/>
                <a:gd name="f102" fmla="*/ f64 1 35"/>
                <a:gd name="f103" fmla="*/ f65 1 35"/>
                <a:gd name="f104" fmla="*/ f66 1 35"/>
                <a:gd name="f105" fmla="*/ f67 1 40"/>
                <a:gd name="f106" fmla="*/ f68 1 40"/>
                <a:gd name="f107" fmla="*/ f69 1 40"/>
                <a:gd name="f108" fmla="*/ f70 1 35"/>
                <a:gd name="f109" fmla="*/ f71 1 40"/>
                <a:gd name="f110" fmla="*/ f72 1 35"/>
                <a:gd name="f111" fmla="*/ f73 1 35"/>
                <a:gd name="f112" fmla="*/ f74 1 40"/>
                <a:gd name="f113" fmla="*/ f75 1 40"/>
                <a:gd name="f114" fmla="*/ f76 1 35"/>
                <a:gd name="f115" fmla="*/ f77 1 40"/>
                <a:gd name="f116" fmla="*/ f78 1 40"/>
                <a:gd name="f117" fmla="*/ f79 1 35"/>
                <a:gd name="f118" fmla="*/ f80 1 35"/>
                <a:gd name="f119" fmla="*/ f81 1 35"/>
                <a:gd name="f120" fmla="*/ f82 1 35"/>
                <a:gd name="f121" fmla="*/ f83 1 40"/>
                <a:gd name="f122" fmla="*/ f84 1 40"/>
                <a:gd name="f123" fmla="*/ f85 1 35"/>
                <a:gd name="f124" fmla="*/ f86 1 40"/>
                <a:gd name="f125" fmla="*/ f87 1 40"/>
                <a:gd name="f126" fmla="*/ f88 1 40"/>
                <a:gd name="f127" fmla="*/ f89 1 40"/>
                <a:gd name="f128" fmla="*/ 0 1 f51"/>
                <a:gd name="f129" fmla="*/ f6 1 f51"/>
                <a:gd name="f130" fmla="*/ 0 1 f52"/>
                <a:gd name="f131" fmla="*/ f7 1 f52"/>
                <a:gd name="f132" fmla="+- f90 0 f1"/>
                <a:gd name="f133" fmla="*/ f91 1 f51"/>
                <a:gd name="f134" fmla="*/ f92 1 f52"/>
                <a:gd name="f135" fmla="*/ f93 1 f51"/>
                <a:gd name="f136" fmla="*/ f94 1 f52"/>
                <a:gd name="f137" fmla="*/ f95 1 f51"/>
                <a:gd name="f138" fmla="*/ f96 1 f52"/>
                <a:gd name="f139" fmla="*/ f97 1 f51"/>
                <a:gd name="f140" fmla="*/ f98 1 f52"/>
                <a:gd name="f141" fmla="*/ f99 1 f51"/>
                <a:gd name="f142" fmla="*/ f100 1 f52"/>
                <a:gd name="f143" fmla="*/ f101 1 f51"/>
                <a:gd name="f144" fmla="*/ f102 1 f51"/>
                <a:gd name="f145" fmla="*/ f103 1 f51"/>
                <a:gd name="f146" fmla="*/ f104 1 f51"/>
                <a:gd name="f147" fmla="*/ f105 1 f52"/>
                <a:gd name="f148" fmla="*/ f106 1 f52"/>
                <a:gd name="f149" fmla="*/ f107 1 f52"/>
                <a:gd name="f150" fmla="*/ f108 1 f51"/>
                <a:gd name="f151" fmla="*/ f109 1 f52"/>
                <a:gd name="f152" fmla="*/ f110 1 f51"/>
                <a:gd name="f153" fmla="*/ f111 1 f51"/>
                <a:gd name="f154" fmla="*/ f112 1 f52"/>
                <a:gd name="f155" fmla="*/ f113 1 f52"/>
                <a:gd name="f156" fmla="*/ f114 1 f51"/>
                <a:gd name="f157" fmla="*/ f115 1 f52"/>
                <a:gd name="f158" fmla="*/ f116 1 f52"/>
                <a:gd name="f159" fmla="*/ f117 1 f51"/>
                <a:gd name="f160" fmla="*/ f118 1 f51"/>
                <a:gd name="f161" fmla="*/ f119 1 f51"/>
                <a:gd name="f162" fmla="*/ f120 1 f51"/>
                <a:gd name="f163" fmla="*/ f121 1 f52"/>
                <a:gd name="f164" fmla="*/ f122 1 f52"/>
                <a:gd name="f165" fmla="*/ f123 1 f51"/>
                <a:gd name="f166" fmla="*/ f124 1 f52"/>
                <a:gd name="f167" fmla="*/ f125 1 f52"/>
                <a:gd name="f168" fmla="*/ f126 1 f52"/>
                <a:gd name="f169" fmla="*/ f127 1 f52"/>
                <a:gd name="f170" fmla="*/ f128 f46 1"/>
                <a:gd name="f171" fmla="*/ f129 f46 1"/>
                <a:gd name="f172" fmla="*/ f131 f47 1"/>
                <a:gd name="f173" fmla="*/ f130 f47 1"/>
                <a:gd name="f174" fmla="*/ f133 f46 1"/>
                <a:gd name="f175" fmla="*/ f134 f47 1"/>
                <a:gd name="f176" fmla="*/ f135 f46 1"/>
                <a:gd name="f177" fmla="*/ f136 f47 1"/>
                <a:gd name="f178" fmla="*/ f137 f46 1"/>
                <a:gd name="f179" fmla="*/ f138 f47 1"/>
                <a:gd name="f180" fmla="*/ f139 f46 1"/>
                <a:gd name="f181" fmla="*/ f140 f47 1"/>
                <a:gd name="f182" fmla="*/ f141 f46 1"/>
                <a:gd name="f183" fmla="*/ f142 f47 1"/>
                <a:gd name="f184" fmla="*/ f143 f46 1"/>
                <a:gd name="f185" fmla="*/ f144 f46 1"/>
                <a:gd name="f186" fmla="*/ f145 f46 1"/>
                <a:gd name="f187" fmla="*/ f146 f46 1"/>
                <a:gd name="f188" fmla="*/ f147 f47 1"/>
                <a:gd name="f189" fmla="*/ f148 f47 1"/>
                <a:gd name="f190" fmla="*/ f149 f47 1"/>
                <a:gd name="f191" fmla="*/ f150 f46 1"/>
                <a:gd name="f192" fmla="*/ f151 f47 1"/>
                <a:gd name="f193" fmla="*/ f152 f46 1"/>
                <a:gd name="f194" fmla="*/ f153 f46 1"/>
                <a:gd name="f195" fmla="*/ f154 f47 1"/>
                <a:gd name="f196" fmla="*/ f155 f47 1"/>
                <a:gd name="f197" fmla="*/ f156 f46 1"/>
                <a:gd name="f198" fmla="*/ f157 f47 1"/>
                <a:gd name="f199" fmla="*/ f158 f47 1"/>
                <a:gd name="f200" fmla="*/ f159 f46 1"/>
                <a:gd name="f201" fmla="*/ f160 f46 1"/>
                <a:gd name="f202" fmla="*/ f161 f46 1"/>
                <a:gd name="f203" fmla="*/ f162 f46 1"/>
                <a:gd name="f204" fmla="*/ f163 f47 1"/>
                <a:gd name="f205" fmla="*/ f164 f47 1"/>
                <a:gd name="f206" fmla="*/ f165 f46 1"/>
                <a:gd name="f207" fmla="*/ f166 f47 1"/>
                <a:gd name="f208" fmla="*/ f167 f47 1"/>
                <a:gd name="f209" fmla="*/ f168 f47 1"/>
                <a:gd name="f210" fmla="*/ f169 f47 1"/>
              </a:gdLst>
              <a:ahLst/>
              <a:cxnLst>
                <a:cxn ang="3cd4">
                  <a:pos x="hc" y="t"/>
                </a:cxn>
                <a:cxn ang="0">
                  <a:pos x="r" y="vc"/>
                </a:cxn>
                <a:cxn ang="cd4">
                  <a:pos x="hc" y="b"/>
                </a:cxn>
                <a:cxn ang="cd2">
                  <a:pos x="l" y="vc"/>
                </a:cxn>
                <a:cxn ang="f132">
                  <a:pos x="f174" y="f175"/>
                </a:cxn>
                <a:cxn ang="f132">
                  <a:pos x="f176" y="f177"/>
                </a:cxn>
                <a:cxn ang="f132">
                  <a:pos x="f178" y="f179"/>
                </a:cxn>
                <a:cxn ang="f132">
                  <a:pos x="f180" y="f181"/>
                </a:cxn>
                <a:cxn ang="f132">
                  <a:pos x="f182" y="f183"/>
                </a:cxn>
                <a:cxn ang="f132">
                  <a:pos x="f184" y="f181"/>
                </a:cxn>
                <a:cxn ang="f132">
                  <a:pos x="f185" y="f179"/>
                </a:cxn>
                <a:cxn ang="f132">
                  <a:pos x="f186" y="f177"/>
                </a:cxn>
                <a:cxn ang="f132">
                  <a:pos x="f187" y="f175"/>
                </a:cxn>
                <a:cxn ang="f132">
                  <a:pos x="f186" y="f188"/>
                </a:cxn>
                <a:cxn ang="f132">
                  <a:pos x="f185" y="f189"/>
                </a:cxn>
                <a:cxn ang="f132">
                  <a:pos x="f184" y="f190"/>
                </a:cxn>
                <a:cxn ang="f132">
                  <a:pos x="f191" y="f192"/>
                </a:cxn>
                <a:cxn ang="f132">
                  <a:pos x="f180" y="f190"/>
                </a:cxn>
                <a:cxn ang="f132">
                  <a:pos x="f178" y="f189"/>
                </a:cxn>
                <a:cxn ang="f132">
                  <a:pos x="f176" y="f188"/>
                </a:cxn>
                <a:cxn ang="f132">
                  <a:pos x="f174" y="f175"/>
                </a:cxn>
                <a:cxn ang="f132">
                  <a:pos x="f193" y="f175"/>
                </a:cxn>
                <a:cxn ang="f132">
                  <a:pos x="f194" y="f195"/>
                </a:cxn>
                <a:cxn ang="f132">
                  <a:pos x="f180" y="f196"/>
                </a:cxn>
                <a:cxn ang="f132">
                  <a:pos x="f197" y="f198"/>
                </a:cxn>
                <a:cxn ang="f132">
                  <a:pos x="f182" y="f199"/>
                </a:cxn>
                <a:cxn ang="f132">
                  <a:pos x="f200" y="f198"/>
                </a:cxn>
                <a:cxn ang="f132">
                  <a:pos x="f201" y="f196"/>
                </a:cxn>
                <a:cxn ang="f132">
                  <a:pos x="f202" y="f195"/>
                </a:cxn>
                <a:cxn ang="f132">
                  <a:pos x="f203" y="f175"/>
                </a:cxn>
                <a:cxn ang="f132">
                  <a:pos x="f202" y="f204"/>
                </a:cxn>
                <a:cxn ang="f132">
                  <a:pos x="f184" y="f205"/>
                </a:cxn>
                <a:cxn ang="f132">
                  <a:pos x="f206" y="f207"/>
                </a:cxn>
                <a:cxn ang="f132">
                  <a:pos x="f191" y="f208"/>
                </a:cxn>
                <a:cxn ang="f132">
                  <a:pos x="f197" y="f207"/>
                </a:cxn>
                <a:cxn ang="f132">
                  <a:pos x="f180" y="f209"/>
                </a:cxn>
                <a:cxn ang="f132">
                  <a:pos x="f194" y="f210"/>
                </a:cxn>
                <a:cxn ang="f132">
                  <a:pos x="f193" y="f175"/>
                </a:cxn>
              </a:cxnLst>
              <a:rect l="f170" t="f173" r="f171" b="f172"/>
              <a:pathLst>
                <a:path w="35" h="40">
                  <a:moveTo>
                    <a:pt x="f6" y="f8"/>
                  </a:moveTo>
                  <a:cubicBezTo>
                    <a:pt x="f6" y="f9"/>
                    <a:pt x="f10" y="f11"/>
                    <a:pt x="f12" y="f13"/>
                  </a:cubicBezTo>
                  <a:cubicBezTo>
                    <a:pt x="f14" y="f15"/>
                    <a:pt x="f15" y="f12"/>
                    <a:pt x="f16" y="f6"/>
                  </a:cubicBezTo>
                  <a:cubicBezTo>
                    <a:pt x="f13" y="f17"/>
                    <a:pt x="f11" y="f18"/>
                    <a:pt x="f19" y="f20"/>
                  </a:cubicBezTo>
                  <a:cubicBezTo>
                    <a:pt x="f21" y="f7"/>
                    <a:pt x="f8" y="f7"/>
                    <a:pt x="f22" y="f7"/>
                  </a:cubicBezTo>
                  <a:cubicBezTo>
                    <a:pt x="f23" y="f7"/>
                    <a:pt x="f24" y="f7"/>
                    <a:pt x="f25" y="f20"/>
                  </a:cubicBezTo>
                  <a:cubicBezTo>
                    <a:pt x="f26" y="f18"/>
                    <a:pt x="f27" y="f28"/>
                    <a:pt x="f29" y="f6"/>
                  </a:cubicBezTo>
                  <a:cubicBezTo>
                    <a:pt x="f30" y="f12"/>
                    <a:pt x="f31" y="f15"/>
                    <a:pt x="f31" y="f13"/>
                  </a:cubicBezTo>
                  <a:cubicBezTo>
                    <a:pt x="f32" y="f11"/>
                    <a:pt x="f5" y="f9"/>
                    <a:pt x="f5" y="f8"/>
                  </a:cubicBezTo>
                  <a:cubicBezTo>
                    <a:pt x="f5" y="f22"/>
                    <a:pt x="f32" y="f33"/>
                    <a:pt x="f31" y="f34"/>
                  </a:cubicBezTo>
                  <a:cubicBezTo>
                    <a:pt x="f35" y="f36"/>
                    <a:pt x="f30" y="f27"/>
                    <a:pt x="f29" y="f29"/>
                  </a:cubicBezTo>
                  <a:cubicBezTo>
                    <a:pt x="f27" y="f30"/>
                    <a:pt x="f36" y="f31"/>
                    <a:pt x="f25" y="f32"/>
                  </a:cubicBezTo>
                  <a:cubicBezTo>
                    <a:pt x="f24" y="f32"/>
                    <a:pt x="f23" y="f5"/>
                    <a:pt x="f37" y="f5"/>
                  </a:cubicBezTo>
                  <a:cubicBezTo>
                    <a:pt x="f8" y="f5"/>
                    <a:pt x="f21" y="f32"/>
                    <a:pt x="f19" y="f32"/>
                  </a:cubicBezTo>
                  <a:cubicBezTo>
                    <a:pt x="f11" y="f31"/>
                    <a:pt x="f13" y="f30"/>
                    <a:pt x="f16" y="f29"/>
                  </a:cubicBezTo>
                  <a:cubicBezTo>
                    <a:pt x="f15" y="f27"/>
                    <a:pt x="f14" y="f36"/>
                    <a:pt x="f12" y="f34"/>
                  </a:cubicBezTo>
                  <a:cubicBezTo>
                    <a:pt x="f10" y="f33"/>
                    <a:pt x="f6" y="f22"/>
                    <a:pt x="f6" y="f8"/>
                  </a:cubicBezTo>
                  <a:close/>
                  <a:moveTo>
                    <a:pt x="f38" y="f8"/>
                  </a:moveTo>
                  <a:cubicBezTo>
                    <a:pt x="f38" y="f37"/>
                    <a:pt x="f38" y="f39"/>
                    <a:pt x="f11" y="f23"/>
                  </a:cubicBezTo>
                  <a:cubicBezTo>
                    <a:pt x="f11" y="f24"/>
                    <a:pt x="f40" y="f34"/>
                    <a:pt x="f19" y="f25"/>
                  </a:cubicBezTo>
                  <a:cubicBezTo>
                    <a:pt x="f19" y="f41"/>
                    <a:pt x="f9" y="f36"/>
                    <a:pt x="f42" y="f26"/>
                  </a:cubicBezTo>
                  <a:cubicBezTo>
                    <a:pt x="f8" y="f26"/>
                    <a:pt x="f43" y="f27"/>
                    <a:pt x="f22" y="f27"/>
                  </a:cubicBezTo>
                  <a:cubicBezTo>
                    <a:pt x="f39" y="f27"/>
                    <a:pt x="f33" y="f26"/>
                    <a:pt x="f24" y="f26"/>
                  </a:cubicBezTo>
                  <a:cubicBezTo>
                    <a:pt x="f34" y="f36"/>
                    <a:pt x="f25" y="f41"/>
                    <a:pt x="f41" y="f25"/>
                  </a:cubicBezTo>
                  <a:cubicBezTo>
                    <a:pt x="f41" y="f34"/>
                    <a:pt x="f36" y="f24"/>
                    <a:pt x="f36" y="f23"/>
                  </a:cubicBezTo>
                  <a:cubicBezTo>
                    <a:pt x="f26" y="f39"/>
                    <a:pt x="f26" y="f37"/>
                    <a:pt x="f26" y="f8"/>
                  </a:cubicBezTo>
                  <a:cubicBezTo>
                    <a:pt x="f26" y="f21"/>
                    <a:pt x="f26" y="f19"/>
                    <a:pt x="f36" y="f11"/>
                  </a:cubicBezTo>
                  <a:cubicBezTo>
                    <a:pt x="f36" y="f38"/>
                    <a:pt x="f41" y="f13"/>
                    <a:pt x="f25" y="f16"/>
                  </a:cubicBezTo>
                  <a:cubicBezTo>
                    <a:pt x="f25" y="f15"/>
                    <a:pt x="f34" y="f14"/>
                    <a:pt x="f33" y="f14"/>
                  </a:cubicBezTo>
                  <a:cubicBezTo>
                    <a:pt x="f23" y="f12"/>
                    <a:pt x="f39" y="f12"/>
                    <a:pt x="f37" y="f12"/>
                  </a:cubicBezTo>
                  <a:cubicBezTo>
                    <a:pt x="f43" y="f12"/>
                    <a:pt x="f8" y="f12"/>
                    <a:pt x="f42" y="f14"/>
                  </a:cubicBezTo>
                  <a:cubicBezTo>
                    <a:pt x="f9" y="f15"/>
                    <a:pt x="f19" y="f16"/>
                    <a:pt x="f19" y="f44"/>
                  </a:cubicBezTo>
                  <a:cubicBezTo>
                    <a:pt x="f40" y="f13"/>
                    <a:pt x="f11" y="f38"/>
                    <a:pt x="f11" y="f40"/>
                  </a:cubicBezTo>
                  <a:cubicBezTo>
                    <a:pt x="f38" y="f19"/>
                    <a:pt x="f38" y="f21"/>
                    <a:pt x="f38"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7" name="Freeform 67">
              <a:extLst>
                <a:ext uri="{FF2B5EF4-FFF2-40B4-BE49-F238E27FC236}">
                  <a16:creationId xmlns:a16="http://schemas.microsoft.com/office/drawing/2014/main" id="{20A375F0-3594-2F32-F6A2-2EFF17B2E63A}"/>
                </a:ext>
              </a:extLst>
            </p:cNvPr>
            <p:cNvSpPr/>
            <p:nvPr/>
          </p:nvSpPr>
          <p:spPr>
            <a:xfrm>
              <a:off x="2467224" y="6293924"/>
              <a:ext cx="59253"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6"/>
                <a:gd name="f17" fmla="val 13"/>
                <a:gd name="f18" fmla="val 11"/>
                <a:gd name="f19" fmla="val 10"/>
                <a:gd name="f20" fmla="val 12"/>
                <a:gd name="f21" fmla="val 14"/>
                <a:gd name="f22" fmla="val 1"/>
                <a:gd name="f23" fmla="val 5"/>
                <a:gd name="f24" fmla="val 4"/>
                <a:gd name="f25" fmla="val 3"/>
                <a:gd name="f26" fmla="val 2"/>
                <a:gd name="f27" fmla="val 15"/>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9 f33 1"/>
                <a:gd name="f40" fmla="*/ 8 f32 1"/>
                <a:gd name="f41" fmla="*/ 16 f33 1"/>
                <a:gd name="f42" fmla="*/ 7 f32 1"/>
                <a:gd name="f43" fmla="*/ 10 f33 1"/>
                <a:gd name="f44" fmla="*/ 10 f32 1"/>
                <a:gd name="f45" fmla="*/ 8 f33 1"/>
                <a:gd name="f46" fmla="*/ 17 f32 1"/>
                <a:gd name="f47" fmla="*/ 39 f32 1"/>
                <a:gd name="f48" fmla="*/ 0 f33 1"/>
                <a:gd name="f49" fmla="*/ 1 f32 1"/>
                <a:gd name="f50" fmla="*/ 5 f32 1"/>
                <a:gd name="f51" fmla="*/ 3 f32 1"/>
                <a:gd name="f52" fmla="*/ 12 f33 1"/>
                <a:gd name="f53" fmla="*/ 14 f33 1"/>
                <a:gd name="f54" fmla="*/ 0 f32 1"/>
                <a:gd name="f55" fmla="*/ 17 f33 1"/>
                <a:gd name="f56" fmla="*/ 23 f33 1"/>
                <a:gd name="f57" fmla="*/ 2 f32 1"/>
                <a:gd name="f58" fmla="*/ f34 1 f2"/>
                <a:gd name="f59" fmla="*/ f37 1 23"/>
                <a:gd name="f60" fmla="*/ f38 1 39"/>
                <a:gd name="f61" fmla="*/ f39 1 23"/>
                <a:gd name="f62" fmla="*/ f40 1 39"/>
                <a:gd name="f63" fmla="*/ f41 1 23"/>
                <a:gd name="f64" fmla="*/ f42 1 39"/>
                <a:gd name="f65" fmla="*/ f43 1 23"/>
                <a:gd name="f66" fmla="*/ f44 1 39"/>
                <a:gd name="f67" fmla="*/ f45 1 23"/>
                <a:gd name="f68" fmla="*/ f46 1 39"/>
                <a:gd name="f69" fmla="*/ f47 1 39"/>
                <a:gd name="f70" fmla="*/ f48 1 23"/>
                <a:gd name="f71" fmla="*/ f49 1 39"/>
                <a:gd name="f72" fmla="*/ f50 1 39"/>
                <a:gd name="f73" fmla="*/ f51 1 39"/>
                <a:gd name="f74" fmla="*/ f52 1 23"/>
                <a:gd name="f75" fmla="*/ f53 1 23"/>
                <a:gd name="f76" fmla="*/ f54 1 39"/>
                <a:gd name="f77" fmla="*/ f55 1 23"/>
                <a:gd name="f78" fmla="*/ f56 1 23"/>
                <a:gd name="f79" fmla="*/ f57 1 39"/>
                <a:gd name="f80" fmla="*/ 0 1 f35"/>
                <a:gd name="f81" fmla="*/ f6 1 f35"/>
                <a:gd name="f82" fmla="*/ 0 1 f36"/>
                <a:gd name="f83" fmla="*/ f7 1 f36"/>
                <a:gd name="f84" fmla="+- f58 0 f1"/>
                <a:gd name="f85" fmla="*/ f59 1 f35"/>
                <a:gd name="f86" fmla="*/ f60 1 f36"/>
                <a:gd name="f87" fmla="*/ f61 1 f35"/>
                <a:gd name="f88" fmla="*/ f62 1 f36"/>
                <a:gd name="f89" fmla="*/ f63 1 f35"/>
                <a:gd name="f90" fmla="*/ f64 1 f36"/>
                <a:gd name="f91" fmla="*/ f65 1 f35"/>
                <a:gd name="f92" fmla="*/ f66 1 f36"/>
                <a:gd name="f93" fmla="*/ f67 1 f35"/>
                <a:gd name="f94" fmla="*/ f68 1 f36"/>
                <a:gd name="f95" fmla="*/ f69 1 f36"/>
                <a:gd name="f96" fmla="*/ f70 1 f35"/>
                <a:gd name="f97" fmla="*/ f71 1 f36"/>
                <a:gd name="f98" fmla="*/ f72 1 f36"/>
                <a:gd name="f99" fmla="*/ f73 1 f36"/>
                <a:gd name="f100" fmla="*/ f74 1 f35"/>
                <a:gd name="f101" fmla="*/ f75 1 f35"/>
                <a:gd name="f102" fmla="*/ f76 1 f36"/>
                <a:gd name="f103" fmla="*/ f77 1 f35"/>
                <a:gd name="f104" fmla="*/ f78 1 f35"/>
                <a:gd name="f105" fmla="*/ f79 1 f36"/>
                <a:gd name="f106" fmla="*/ f80 f30 1"/>
                <a:gd name="f107" fmla="*/ f81 f30 1"/>
                <a:gd name="f108" fmla="*/ f83 f31 1"/>
                <a:gd name="f109" fmla="*/ f82 f31 1"/>
                <a:gd name="f110" fmla="*/ f85 f30 1"/>
                <a:gd name="f111" fmla="*/ f86 f31 1"/>
                <a:gd name="f112" fmla="*/ f87 f30 1"/>
                <a:gd name="f113" fmla="*/ f88 f31 1"/>
                <a:gd name="f114" fmla="*/ f89 f30 1"/>
                <a:gd name="f115" fmla="*/ f90 f31 1"/>
                <a:gd name="f116" fmla="*/ f91 f30 1"/>
                <a:gd name="f117" fmla="*/ f92 f31 1"/>
                <a:gd name="f118" fmla="*/ f93 f30 1"/>
                <a:gd name="f119" fmla="*/ f94 f31 1"/>
                <a:gd name="f120" fmla="*/ f95 f31 1"/>
                <a:gd name="f121" fmla="*/ f96 f30 1"/>
                <a:gd name="f122" fmla="*/ f97 f31 1"/>
                <a:gd name="f123" fmla="*/ f98 f31 1"/>
                <a:gd name="f124" fmla="*/ f99 f31 1"/>
                <a:gd name="f125" fmla="*/ f100 f30 1"/>
                <a:gd name="f126" fmla="*/ f101 f30 1"/>
                <a:gd name="f127" fmla="*/ f102 f31 1"/>
                <a:gd name="f128" fmla="*/ f103 f30 1"/>
                <a:gd name="f129" fmla="*/ f104 f30 1"/>
                <a:gd name="f130" fmla="*/ f105 f31 1"/>
              </a:gdLst>
              <a:ahLst/>
              <a:cxnLst>
                <a:cxn ang="3cd4">
                  <a:pos x="hc" y="t"/>
                </a:cxn>
                <a:cxn ang="0">
                  <a:pos x="r" y="vc"/>
                </a:cxn>
                <a:cxn ang="cd4">
                  <a:pos x="hc" y="b"/>
                </a:cxn>
                <a:cxn ang="cd2">
                  <a:pos x="l" y="vc"/>
                </a:cxn>
                <a:cxn ang="f84">
                  <a:pos x="f110" y="f111"/>
                </a:cxn>
                <a:cxn ang="f84">
                  <a:pos x="f112" y="f113"/>
                </a:cxn>
                <a:cxn ang="f84">
                  <a:pos x="f114" y="f115"/>
                </a:cxn>
                <a:cxn ang="f84">
                  <a:pos x="f116" y="f117"/>
                </a:cxn>
                <a:cxn ang="f84">
                  <a:pos x="f118" y="f119"/>
                </a:cxn>
                <a:cxn ang="f84">
                  <a:pos x="f118" y="f120"/>
                </a:cxn>
                <a:cxn ang="f84">
                  <a:pos x="f121" y="f120"/>
                </a:cxn>
                <a:cxn ang="f84">
                  <a:pos x="f121" y="f122"/>
                </a:cxn>
                <a:cxn ang="f84">
                  <a:pos x="f118" y="f122"/>
                </a:cxn>
                <a:cxn ang="f84">
                  <a:pos x="f118" y="f123"/>
                </a:cxn>
                <a:cxn ang="f84">
                  <a:pos x="f116" y="f124"/>
                </a:cxn>
                <a:cxn ang="f84">
                  <a:pos x="f125" y="f122"/>
                </a:cxn>
                <a:cxn ang="f84">
                  <a:pos x="f126" y="f127"/>
                </a:cxn>
                <a:cxn ang="f84">
                  <a:pos x="f128" y="f127"/>
                </a:cxn>
                <a:cxn ang="f84">
                  <a:pos x="f110" y="f122"/>
                </a:cxn>
                <a:cxn ang="f84">
                  <a:pos x="f129" y="f130"/>
                </a:cxn>
                <a:cxn ang="f84">
                  <a:pos x="f110" y="f111"/>
                </a:cxn>
              </a:cxnLst>
              <a:rect l="f106" t="f109" r="f107" b="f108"/>
              <a:pathLst>
                <a:path w="23" h="39">
                  <a:moveTo>
                    <a:pt x="f8" y="f9"/>
                  </a:moveTo>
                  <a:cubicBezTo>
                    <a:pt x="f10" y="f11"/>
                    <a:pt x="f10" y="f11"/>
                    <a:pt x="f12" y="f11"/>
                  </a:cubicBezTo>
                  <a:cubicBezTo>
                    <a:pt x="f13" y="f11"/>
                    <a:pt x="f14" y="f15"/>
                    <a:pt x="f16" y="f15"/>
                  </a:cubicBezTo>
                  <a:cubicBezTo>
                    <a:pt x="f17" y="f15"/>
                    <a:pt x="f18" y="f11"/>
                    <a:pt x="f19" y="f19"/>
                  </a:cubicBezTo>
                  <a:cubicBezTo>
                    <a:pt x="f9"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19" y="f25"/>
                  </a:cubicBezTo>
                  <a:cubicBezTo>
                    <a:pt x="f19" y="f26"/>
                    <a:pt x="f18" y="f26"/>
                    <a:pt x="f20" y="f22"/>
                  </a:cubicBezTo>
                  <a:cubicBezTo>
                    <a:pt x="f20" y="f22"/>
                    <a:pt x="f17" y="f22"/>
                    <a:pt x="f21" y="f5"/>
                  </a:cubicBezTo>
                  <a:cubicBezTo>
                    <a:pt x="f27" y="f5"/>
                    <a:pt x="f16" y="f5"/>
                    <a:pt x="f14" y="f5"/>
                  </a:cubicBezTo>
                  <a:cubicBezTo>
                    <a:pt x="f13" y="f5"/>
                    <a:pt x="f10" y="f5"/>
                    <a:pt x="f8" y="f22"/>
                  </a:cubicBezTo>
                  <a:cubicBezTo>
                    <a:pt x="f28" y="f22"/>
                    <a:pt x="f6"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8" name="Freeform 68">
              <a:extLst>
                <a:ext uri="{FF2B5EF4-FFF2-40B4-BE49-F238E27FC236}">
                  <a16:creationId xmlns:a16="http://schemas.microsoft.com/office/drawing/2014/main" id="{DC885031-4188-D603-992B-AAB08C054D55}"/>
                </a:ext>
              </a:extLst>
            </p:cNvPr>
            <p:cNvSpPr/>
            <p:nvPr/>
          </p:nvSpPr>
          <p:spPr>
            <a:xfrm>
              <a:off x="2543915" y="6259049"/>
              <a:ext cx="76681" cy="136007"/>
            </a:xfrm>
            <a:custGeom>
              <a:avLst/>
              <a:gdLst>
                <a:gd name="f0" fmla="val 10800000"/>
                <a:gd name="f1" fmla="val 5400000"/>
                <a:gd name="f2" fmla="val 180"/>
                <a:gd name="f3" fmla="val w"/>
                <a:gd name="f4" fmla="val h"/>
                <a:gd name="f5" fmla="val 0"/>
                <a:gd name="f6" fmla="val 44"/>
                <a:gd name="f7" fmla="val 78"/>
                <a:gd name="f8" fmla="val 31"/>
                <a:gd name="f9" fmla="val 19"/>
                <a:gd name="f10" fmla="val 50"/>
                <a:gd name="f11" fmla="val 10"/>
                <a:gd name="f12" fmla="val 61"/>
                <a:gd name="f13" fmla="val 6"/>
                <a:gd name="f14" fmla="val 47"/>
                <a:gd name="f15" fmla="val 28"/>
                <a:gd name="f16" fmla="val 22"/>
                <a:gd name="f17" fmla="val 41"/>
                <a:gd name="f18" fmla="val 26"/>
                <a:gd name="f19" fmla="+- 0 0 -90"/>
                <a:gd name="f20" fmla="*/ f3 1 44"/>
                <a:gd name="f21" fmla="*/ f4 1 78"/>
                <a:gd name="f22" fmla="+- f7 0 f5"/>
                <a:gd name="f23" fmla="+- f6 0 f5"/>
                <a:gd name="f24" fmla="*/ f19 f0 1"/>
                <a:gd name="f25" fmla="*/ f23 1 44"/>
                <a:gd name="f26" fmla="*/ f22 1 78"/>
                <a:gd name="f27" fmla="*/ 31 f23 1"/>
                <a:gd name="f28" fmla="*/ 78 f22 1"/>
                <a:gd name="f29" fmla="*/ 19 f23 1"/>
                <a:gd name="f30" fmla="*/ 50 f22 1"/>
                <a:gd name="f31" fmla="*/ 10 f23 1"/>
                <a:gd name="f32" fmla="*/ 61 f22 1"/>
                <a:gd name="f33" fmla="*/ 0 f23 1"/>
                <a:gd name="f34" fmla="*/ 6 f22 1"/>
                <a:gd name="f35" fmla="*/ 0 f22 1"/>
                <a:gd name="f36" fmla="*/ 47 f22 1"/>
                <a:gd name="f37" fmla="*/ 28 f23 1"/>
                <a:gd name="f38" fmla="*/ 22 f22 1"/>
                <a:gd name="f39" fmla="*/ 41 f23 1"/>
                <a:gd name="f40" fmla="*/ 26 f23 1"/>
                <a:gd name="f41" fmla="*/ 41 f22 1"/>
                <a:gd name="f42" fmla="*/ 44 f23 1"/>
                <a:gd name="f43" fmla="*/ f24 1 f2"/>
                <a:gd name="f44" fmla="*/ f27 1 44"/>
                <a:gd name="f45" fmla="*/ f28 1 78"/>
                <a:gd name="f46" fmla="*/ f29 1 44"/>
                <a:gd name="f47" fmla="*/ f30 1 78"/>
                <a:gd name="f48" fmla="*/ f31 1 44"/>
                <a:gd name="f49" fmla="*/ f32 1 78"/>
                <a:gd name="f50" fmla="*/ f33 1 44"/>
                <a:gd name="f51" fmla="*/ f34 1 78"/>
                <a:gd name="f52" fmla="*/ f35 1 78"/>
                <a:gd name="f53" fmla="*/ f36 1 78"/>
                <a:gd name="f54" fmla="*/ f37 1 44"/>
                <a:gd name="f55" fmla="*/ f38 1 78"/>
                <a:gd name="f56" fmla="*/ f39 1 44"/>
                <a:gd name="f57" fmla="*/ f40 1 44"/>
                <a:gd name="f58" fmla="*/ f41 1 78"/>
                <a:gd name="f59" fmla="*/ f42 1 44"/>
                <a:gd name="f60" fmla="*/ 0 1 f25"/>
                <a:gd name="f61" fmla="*/ f6 1 f25"/>
                <a:gd name="f62" fmla="*/ 0 1 f26"/>
                <a:gd name="f63" fmla="*/ f7 1 f26"/>
                <a:gd name="f64" fmla="+- f43 0 f1"/>
                <a:gd name="f65" fmla="*/ f44 1 f25"/>
                <a:gd name="f66" fmla="*/ f45 1 f26"/>
                <a:gd name="f67" fmla="*/ f46 1 f25"/>
                <a:gd name="f68" fmla="*/ f47 1 f26"/>
                <a:gd name="f69" fmla="*/ f48 1 f25"/>
                <a:gd name="f70" fmla="*/ f49 1 f26"/>
                <a:gd name="f71" fmla="*/ f50 1 f25"/>
                <a:gd name="f72" fmla="*/ f51 1 f26"/>
                <a:gd name="f73" fmla="*/ f52 1 f26"/>
                <a:gd name="f74" fmla="*/ f53 1 f26"/>
                <a:gd name="f75" fmla="*/ f54 1 f25"/>
                <a:gd name="f76" fmla="*/ f55 1 f26"/>
                <a:gd name="f77" fmla="*/ f56 1 f25"/>
                <a:gd name="f78" fmla="*/ f57 1 f25"/>
                <a:gd name="f79" fmla="*/ f58 1 f26"/>
                <a:gd name="f80" fmla="*/ f59 1 f25"/>
                <a:gd name="f81" fmla="*/ f60 f20 1"/>
                <a:gd name="f82" fmla="*/ f61 f20 1"/>
                <a:gd name="f83" fmla="*/ f63 f21 1"/>
                <a:gd name="f84" fmla="*/ f62 f21 1"/>
                <a:gd name="f85" fmla="*/ f65 f20 1"/>
                <a:gd name="f86" fmla="*/ f66 f21 1"/>
                <a:gd name="f87" fmla="*/ f67 f20 1"/>
                <a:gd name="f88" fmla="*/ f68 f21 1"/>
                <a:gd name="f89" fmla="*/ f69 f20 1"/>
                <a:gd name="f90" fmla="*/ f70 f21 1"/>
                <a:gd name="f91" fmla="*/ f71 f20 1"/>
                <a:gd name="f92" fmla="*/ f72 f21 1"/>
                <a:gd name="f93" fmla="*/ f73 f21 1"/>
                <a:gd name="f94" fmla="*/ f74 f21 1"/>
                <a:gd name="f95" fmla="*/ f75 f20 1"/>
                <a:gd name="f96" fmla="*/ f76 f21 1"/>
                <a:gd name="f97" fmla="*/ f77 f20 1"/>
                <a:gd name="f98" fmla="*/ f78 f20 1"/>
                <a:gd name="f99" fmla="*/ f79 f21 1"/>
                <a:gd name="f100" fmla="*/ f80 f20 1"/>
              </a:gdLst>
              <a:ahLst/>
              <a:cxnLst>
                <a:cxn ang="3cd4">
                  <a:pos x="hc" y="t"/>
                </a:cxn>
                <a:cxn ang="0">
                  <a:pos x="r" y="vc"/>
                </a:cxn>
                <a:cxn ang="cd4">
                  <a:pos x="hc" y="b"/>
                </a:cxn>
                <a:cxn ang="cd2">
                  <a:pos x="l" y="vc"/>
                </a:cxn>
                <a:cxn ang="f64">
                  <a:pos x="f85" y="f86"/>
                </a:cxn>
                <a:cxn ang="f64">
                  <a:pos x="f87" y="f88"/>
                </a:cxn>
                <a:cxn ang="f64">
                  <a:pos x="f89" y="f90"/>
                </a:cxn>
                <a:cxn ang="f64">
                  <a:pos x="f89" y="f86"/>
                </a:cxn>
                <a:cxn ang="f64">
                  <a:pos x="f91" y="f86"/>
                </a:cxn>
                <a:cxn ang="f64">
                  <a:pos x="f91" y="f92"/>
                </a:cxn>
                <a:cxn ang="f64">
                  <a:pos x="f89" y="f93"/>
                </a:cxn>
                <a:cxn ang="f64">
                  <a:pos x="f89" y="f94"/>
                </a:cxn>
                <a:cxn ang="f64">
                  <a:pos x="f95" y="f96"/>
                </a:cxn>
                <a:cxn ang="f64">
                  <a:pos x="f97" y="f96"/>
                </a:cxn>
                <a:cxn ang="f64">
                  <a:pos x="f98" y="f99"/>
                </a:cxn>
                <a:cxn ang="f64">
                  <a:pos x="f100" y="f86"/>
                </a:cxn>
                <a:cxn ang="f64">
                  <a:pos x="f85" y="f86"/>
                </a:cxn>
              </a:cxnLst>
              <a:rect l="f81" t="f84" r="f82" b="f83"/>
              <a:pathLst>
                <a:path w="44" h="78">
                  <a:moveTo>
                    <a:pt x="f8" y="f7"/>
                  </a:moveTo>
                  <a:lnTo>
                    <a:pt x="f9" y="f10"/>
                  </a:lnTo>
                  <a:lnTo>
                    <a:pt x="f11" y="f12"/>
                  </a:lnTo>
                  <a:lnTo>
                    <a:pt x="f11" y="f7"/>
                  </a:lnTo>
                  <a:lnTo>
                    <a:pt x="f5" y="f7"/>
                  </a:lnTo>
                  <a:lnTo>
                    <a:pt x="f5" y="f13"/>
                  </a:lnTo>
                  <a:lnTo>
                    <a:pt x="f11" y="f5"/>
                  </a:lnTo>
                  <a:lnTo>
                    <a:pt x="f11" y="f14"/>
                  </a:lnTo>
                  <a:lnTo>
                    <a:pt x="f15" y="f16"/>
                  </a:lnTo>
                  <a:lnTo>
                    <a:pt x="f17" y="f16"/>
                  </a:lnTo>
                  <a:lnTo>
                    <a:pt x="f18" y="f17"/>
                  </a:lnTo>
                  <a:lnTo>
                    <a:pt x="f6" y="f7"/>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9" name="Freeform 69">
              <a:extLst>
                <a:ext uri="{FF2B5EF4-FFF2-40B4-BE49-F238E27FC236}">
                  <a16:creationId xmlns:a16="http://schemas.microsoft.com/office/drawing/2014/main" id="{1A3AF174-52B9-A348-54E0-46E47F2A468A}"/>
                </a:ext>
              </a:extLst>
            </p:cNvPr>
            <p:cNvSpPr/>
            <p:nvPr/>
          </p:nvSpPr>
          <p:spPr>
            <a:xfrm>
              <a:off x="2627564" y="6293924"/>
              <a:ext cx="74944" cy="102879"/>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5"/>
                <a:gd name="f11" fmla="val 10"/>
                <a:gd name="f12" fmla="val 23"/>
                <a:gd name="f13" fmla="val 9"/>
                <a:gd name="f14" fmla="val 22"/>
                <a:gd name="f15" fmla="val 8"/>
                <a:gd name="f16" fmla="val 20"/>
                <a:gd name="f17" fmla="val 18"/>
                <a:gd name="f18" fmla="val 7"/>
                <a:gd name="f19" fmla="val 17"/>
                <a:gd name="f20" fmla="val 15"/>
                <a:gd name="f21" fmla="val 13"/>
                <a:gd name="f22" fmla="val 12"/>
                <a:gd name="f23" fmla="val 11"/>
                <a:gd name="f24" fmla="val 14"/>
                <a:gd name="f25" fmla="val 16"/>
                <a:gd name="f26" fmla="val 19"/>
                <a:gd name="f27" fmla="val 21"/>
                <a:gd name="f28" fmla="val 24"/>
                <a:gd name="f29" fmla="val 26"/>
                <a:gd name="f30" fmla="val 27"/>
                <a:gd name="f31" fmla="val 31"/>
                <a:gd name="f32" fmla="val 33"/>
                <a:gd name="f33" fmla="val 34"/>
                <a:gd name="f34" fmla="val 36"/>
                <a:gd name="f35" fmla="val 37"/>
                <a:gd name="f36" fmla="val 38"/>
                <a:gd name="f37" fmla="val 39"/>
                <a:gd name="f38" fmla="val 5"/>
                <a:gd name="f39" fmla="val 2"/>
                <a:gd name="f40" fmla="val 35"/>
                <a:gd name="f41" fmla="val 30"/>
                <a:gd name="f42" fmla="val 6"/>
                <a:gd name="f43" fmla="val 32"/>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5 f50 1"/>
                <a:gd name="f57" fmla="*/ 10 f49 1"/>
                <a:gd name="f58" fmla="*/ 20 f50 1"/>
                <a:gd name="f59" fmla="*/ 8 f49 1"/>
                <a:gd name="f60" fmla="*/ 15 f50 1"/>
                <a:gd name="f61" fmla="*/ 7 f49 1"/>
                <a:gd name="f62" fmla="*/ 11 f50 1"/>
                <a:gd name="f63" fmla="*/ 9 f50 1"/>
                <a:gd name="f64" fmla="*/ 10 f50 1"/>
                <a:gd name="f65" fmla="*/ 12 f49 1"/>
                <a:gd name="f66" fmla="*/ 13 f49 1"/>
                <a:gd name="f67" fmla="*/ 13 f50 1"/>
                <a:gd name="f68" fmla="*/ 14 f49 1"/>
                <a:gd name="f69" fmla="*/ 17 f50 1"/>
                <a:gd name="f70" fmla="*/ 16 f49 1"/>
                <a:gd name="f71" fmla="*/ 22 f50 1"/>
                <a:gd name="f72" fmla="*/ 18 f49 1"/>
                <a:gd name="f73" fmla="*/ 26 f50 1"/>
                <a:gd name="f74" fmla="*/ 21 f49 1"/>
                <a:gd name="f75" fmla="*/ 29 f50 1"/>
                <a:gd name="f76" fmla="*/ 24 f49 1"/>
                <a:gd name="f77" fmla="*/ 29 f49 1"/>
                <a:gd name="f78" fmla="*/ 34 f49 1"/>
                <a:gd name="f79" fmla="*/ 38 f49 1"/>
                <a:gd name="f80" fmla="*/ 21 f50 1"/>
                <a:gd name="f81" fmla="*/ 40 f49 1"/>
                <a:gd name="f82" fmla="*/ 7 f50 1"/>
                <a:gd name="f83" fmla="*/ 39 f49 1"/>
                <a:gd name="f84" fmla="*/ 0 f50 1"/>
                <a:gd name="f85" fmla="*/ 35 f49 1"/>
                <a:gd name="f86" fmla="*/ 4 f50 1"/>
                <a:gd name="f87" fmla="*/ 30 f49 1"/>
                <a:gd name="f88" fmla="*/ 32 f49 1"/>
                <a:gd name="f89" fmla="*/ 33 f49 1"/>
                <a:gd name="f90" fmla="*/ 27 f49 1"/>
                <a:gd name="f91" fmla="*/ 26 f49 1"/>
                <a:gd name="f92" fmla="*/ 23 f49 1"/>
                <a:gd name="f93" fmla="*/ 8 f50 1"/>
                <a:gd name="f94" fmla="*/ 20 f49 1"/>
                <a:gd name="f95" fmla="*/ 2 f50 1"/>
                <a:gd name="f96" fmla="*/ 15 f49 1"/>
                <a:gd name="f97" fmla="*/ 11 f49 1"/>
                <a:gd name="f98" fmla="*/ 3 f50 1"/>
                <a:gd name="f99" fmla="*/ 6 f49 1"/>
                <a:gd name="f100" fmla="*/ 6 f50 1"/>
                <a:gd name="f101" fmla="*/ 3 f49 1"/>
                <a:gd name="f102" fmla="*/ 1 f49 1"/>
                <a:gd name="f103" fmla="*/ 0 f49 1"/>
                <a:gd name="f104" fmla="*/ f51 1 f2"/>
                <a:gd name="f105" fmla="*/ f54 1 29"/>
                <a:gd name="f106" fmla="*/ f55 1 40"/>
                <a:gd name="f107" fmla="*/ f56 1 29"/>
                <a:gd name="f108" fmla="*/ f57 1 40"/>
                <a:gd name="f109" fmla="*/ f58 1 29"/>
                <a:gd name="f110" fmla="*/ f59 1 40"/>
                <a:gd name="f111" fmla="*/ f60 1 29"/>
                <a:gd name="f112" fmla="*/ f61 1 40"/>
                <a:gd name="f113" fmla="*/ f62 1 29"/>
                <a:gd name="f114" fmla="*/ f63 1 29"/>
                <a:gd name="f115" fmla="*/ f64 1 29"/>
                <a:gd name="f116" fmla="*/ f65 1 40"/>
                <a:gd name="f117" fmla="*/ f66 1 40"/>
                <a:gd name="f118" fmla="*/ f67 1 29"/>
                <a:gd name="f119" fmla="*/ f68 1 40"/>
                <a:gd name="f120" fmla="*/ f69 1 29"/>
                <a:gd name="f121" fmla="*/ f70 1 40"/>
                <a:gd name="f122" fmla="*/ f71 1 29"/>
                <a:gd name="f123" fmla="*/ f72 1 40"/>
                <a:gd name="f124" fmla="*/ f73 1 29"/>
                <a:gd name="f125" fmla="*/ f74 1 40"/>
                <a:gd name="f126" fmla="*/ f75 1 29"/>
                <a:gd name="f127" fmla="*/ f76 1 40"/>
                <a:gd name="f128" fmla="*/ f77 1 40"/>
                <a:gd name="f129" fmla="*/ f78 1 40"/>
                <a:gd name="f130" fmla="*/ f79 1 40"/>
                <a:gd name="f131" fmla="*/ f80 1 29"/>
                <a:gd name="f132" fmla="*/ f81 1 40"/>
                <a:gd name="f133" fmla="*/ f82 1 29"/>
                <a:gd name="f134" fmla="*/ f83 1 40"/>
                <a:gd name="f135" fmla="*/ f84 1 29"/>
                <a:gd name="f136" fmla="*/ f85 1 40"/>
                <a:gd name="f137" fmla="*/ f86 1 29"/>
                <a:gd name="f138" fmla="*/ f87 1 40"/>
                <a:gd name="f139" fmla="*/ f88 1 40"/>
                <a:gd name="f140" fmla="*/ f89 1 40"/>
                <a:gd name="f141" fmla="*/ f90 1 40"/>
                <a:gd name="f142" fmla="*/ f91 1 40"/>
                <a:gd name="f143" fmla="*/ f92 1 40"/>
                <a:gd name="f144" fmla="*/ f93 1 29"/>
                <a:gd name="f145" fmla="*/ f94 1 40"/>
                <a:gd name="f146" fmla="*/ f95 1 29"/>
                <a:gd name="f147" fmla="*/ f96 1 40"/>
                <a:gd name="f148" fmla="*/ f97 1 40"/>
                <a:gd name="f149" fmla="*/ f98 1 29"/>
                <a:gd name="f150" fmla="*/ f99 1 40"/>
                <a:gd name="f151" fmla="*/ f100 1 29"/>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2"/>
                <a:gd name="f163" fmla="*/ f108 1 f53"/>
                <a:gd name="f164" fmla="*/ f109 1 f52"/>
                <a:gd name="f165" fmla="*/ f110 1 f53"/>
                <a:gd name="f166" fmla="*/ f111 1 f52"/>
                <a:gd name="f167" fmla="*/ f112 1 f53"/>
                <a:gd name="f168" fmla="*/ f113 1 f52"/>
                <a:gd name="f169" fmla="*/ f114 1 f52"/>
                <a:gd name="f170" fmla="*/ f115 1 f52"/>
                <a:gd name="f171" fmla="*/ f116 1 f53"/>
                <a:gd name="f172" fmla="*/ f117 1 f53"/>
                <a:gd name="f173" fmla="*/ f118 1 f52"/>
                <a:gd name="f174" fmla="*/ f119 1 f53"/>
                <a:gd name="f175" fmla="*/ f120 1 f52"/>
                <a:gd name="f176" fmla="*/ f121 1 f53"/>
                <a:gd name="f177" fmla="*/ f122 1 f52"/>
                <a:gd name="f178" fmla="*/ f123 1 f53"/>
                <a:gd name="f179" fmla="*/ f124 1 f52"/>
                <a:gd name="f180" fmla="*/ f125 1 f53"/>
                <a:gd name="f181" fmla="*/ f126 1 f52"/>
                <a:gd name="f182" fmla="*/ f127 1 f53"/>
                <a:gd name="f183" fmla="*/ f128 1 f53"/>
                <a:gd name="f184" fmla="*/ f129 1 f53"/>
                <a:gd name="f185" fmla="*/ f130 1 f53"/>
                <a:gd name="f186" fmla="*/ f131 1 f52"/>
                <a:gd name="f187" fmla="*/ f132 1 f53"/>
                <a:gd name="f188" fmla="*/ f133 1 f52"/>
                <a:gd name="f189" fmla="*/ f134 1 f53"/>
                <a:gd name="f190" fmla="*/ f135 1 f52"/>
                <a:gd name="f191" fmla="*/ f136 1 f53"/>
                <a:gd name="f192" fmla="*/ f137 1 f52"/>
                <a:gd name="f193" fmla="*/ f138 1 f53"/>
                <a:gd name="f194" fmla="*/ f139 1 f53"/>
                <a:gd name="f195" fmla="*/ f140 1 f53"/>
                <a:gd name="f196" fmla="*/ f141 1 f53"/>
                <a:gd name="f197" fmla="*/ f142 1 f53"/>
                <a:gd name="f198" fmla="*/ f143 1 f53"/>
                <a:gd name="f199" fmla="*/ f144 1 f52"/>
                <a:gd name="f200" fmla="*/ f145 1 f53"/>
                <a:gd name="f201" fmla="*/ f146 1 f52"/>
                <a:gd name="f202" fmla="*/ f147 1 f53"/>
                <a:gd name="f203" fmla="*/ f148 1 f53"/>
                <a:gd name="f204" fmla="*/ f149 1 f52"/>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7 1"/>
                <a:gd name="f217" fmla="*/ f163 f48 1"/>
                <a:gd name="f218" fmla="*/ f164 f47 1"/>
                <a:gd name="f219" fmla="*/ f165 f48 1"/>
                <a:gd name="f220" fmla="*/ f166 f47 1"/>
                <a:gd name="f221" fmla="*/ f167 f48 1"/>
                <a:gd name="f222" fmla="*/ f168 f47 1"/>
                <a:gd name="f223" fmla="*/ f169 f47 1"/>
                <a:gd name="f224" fmla="*/ f170 f47 1"/>
                <a:gd name="f225" fmla="*/ f171 f48 1"/>
                <a:gd name="f226" fmla="*/ f172 f48 1"/>
                <a:gd name="f227" fmla="*/ f173 f47 1"/>
                <a:gd name="f228" fmla="*/ f174 f48 1"/>
                <a:gd name="f229" fmla="*/ f175 f47 1"/>
                <a:gd name="f230" fmla="*/ f176 f48 1"/>
                <a:gd name="f231" fmla="*/ f177 f47 1"/>
                <a:gd name="f232" fmla="*/ f178 f48 1"/>
                <a:gd name="f233" fmla="*/ f179 f47 1"/>
                <a:gd name="f234" fmla="*/ f180 f48 1"/>
                <a:gd name="f235" fmla="*/ f181 f47 1"/>
                <a:gd name="f236" fmla="*/ f182 f48 1"/>
                <a:gd name="f237" fmla="*/ f183 f48 1"/>
                <a:gd name="f238" fmla="*/ f184 f48 1"/>
                <a:gd name="f239" fmla="*/ f185 f48 1"/>
                <a:gd name="f240" fmla="*/ f186 f47 1"/>
                <a:gd name="f241" fmla="*/ f187 f48 1"/>
                <a:gd name="f242" fmla="*/ f188 f47 1"/>
                <a:gd name="f243" fmla="*/ f189 f48 1"/>
                <a:gd name="f244" fmla="*/ f190 f47 1"/>
                <a:gd name="f245" fmla="*/ f191 f48 1"/>
                <a:gd name="f246" fmla="*/ f192 f47 1"/>
                <a:gd name="f247" fmla="*/ f193 f48 1"/>
                <a:gd name="f248" fmla="*/ f194 f48 1"/>
                <a:gd name="f249" fmla="*/ f195 f48 1"/>
                <a:gd name="f250" fmla="*/ f196 f48 1"/>
                <a:gd name="f251" fmla="*/ f197 f48 1"/>
                <a:gd name="f252" fmla="*/ f198 f48 1"/>
                <a:gd name="f253" fmla="*/ f199 f47 1"/>
                <a:gd name="f254" fmla="*/ f200 f48 1"/>
                <a:gd name="f255" fmla="*/ f201 f47 1"/>
                <a:gd name="f256" fmla="*/ f202 f48 1"/>
                <a:gd name="f257" fmla="*/ f203 f48 1"/>
                <a:gd name="f258" fmla="*/ f204 f47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6" y="f217"/>
                </a:cxn>
                <a:cxn ang="f159">
                  <a:pos x="f218" y="f219"/>
                </a:cxn>
                <a:cxn ang="f159">
                  <a:pos x="f220" y="f221"/>
                </a:cxn>
                <a:cxn ang="f159">
                  <a:pos x="f222" y="f219"/>
                </a:cxn>
                <a:cxn ang="f159">
                  <a:pos x="f223" y="f217"/>
                </a:cxn>
                <a:cxn ang="f159">
                  <a:pos x="f224" y="f225"/>
                </a:cxn>
                <a:cxn ang="f159">
                  <a:pos x="f222" y="f226"/>
                </a:cxn>
                <a:cxn ang="f159">
                  <a:pos x="f227" y="f228"/>
                </a:cxn>
                <a:cxn ang="f159">
                  <a:pos x="f229" y="f230"/>
                </a:cxn>
                <a:cxn ang="f159">
                  <a:pos x="f231" y="f232"/>
                </a:cxn>
                <a:cxn ang="f159">
                  <a:pos x="f233" y="f234"/>
                </a:cxn>
                <a:cxn ang="f159">
                  <a:pos x="f235" y="f236"/>
                </a:cxn>
                <a:cxn ang="f159">
                  <a:pos x="f235" y="f237"/>
                </a:cxn>
                <a:cxn ang="f159">
                  <a:pos x="f214" y="f238"/>
                </a:cxn>
                <a:cxn ang="f159">
                  <a:pos x="f216" y="f239"/>
                </a:cxn>
                <a:cxn ang="f159">
                  <a:pos x="f240" y="f241"/>
                </a:cxn>
                <a:cxn ang="f159">
                  <a:pos x="f220" y="f241"/>
                </a:cxn>
                <a:cxn ang="f159">
                  <a:pos x="f242" y="f243"/>
                </a:cxn>
                <a:cxn ang="f159">
                  <a:pos x="f244" y="f245"/>
                </a:cxn>
                <a:cxn ang="f159">
                  <a:pos x="f246" y="f247"/>
                </a:cxn>
                <a:cxn ang="f159">
                  <a:pos x="f223" y="f248"/>
                </a:cxn>
                <a:cxn ang="f159">
                  <a:pos x="f220" y="f249"/>
                </a:cxn>
                <a:cxn ang="f159">
                  <a:pos x="f218" y="f248"/>
                </a:cxn>
                <a:cxn ang="f159">
                  <a:pos x="f231" y="f237"/>
                </a:cxn>
                <a:cxn ang="f159">
                  <a:pos x="f240" y="f250"/>
                </a:cxn>
                <a:cxn ang="f159">
                  <a:pos x="f218" y="f251"/>
                </a:cxn>
                <a:cxn ang="f159">
                  <a:pos x="f229" y="f236"/>
                </a:cxn>
                <a:cxn ang="f159">
                  <a:pos x="f227" y="f252"/>
                </a:cxn>
                <a:cxn ang="f159">
                  <a:pos x="f253" y="f254"/>
                </a:cxn>
                <a:cxn ang="f159">
                  <a:pos x="f246" y="f232"/>
                </a:cxn>
                <a:cxn ang="f159">
                  <a:pos x="f255" y="f256"/>
                </a:cxn>
                <a:cxn ang="f159">
                  <a:pos x="f255" y="f257"/>
                </a:cxn>
                <a:cxn ang="f159">
                  <a:pos x="f258" y="f259"/>
                </a:cxn>
                <a:cxn ang="f159">
                  <a:pos x="f260" y="f261"/>
                </a:cxn>
                <a:cxn ang="f159">
                  <a:pos x="f224" y="f262"/>
                </a:cxn>
                <a:cxn ang="f159">
                  <a:pos x="f220" y="f263"/>
                </a:cxn>
                <a:cxn ang="f159">
                  <a:pos x="f231" y="f262"/>
                </a:cxn>
                <a:cxn ang="f159">
                  <a:pos x="f214" y="f215"/>
                </a:cxn>
              </a:cxnLst>
              <a:rect l="f210" t="f213" r="f211" b="f212"/>
              <a:pathLst>
                <a:path w="29" h="40">
                  <a:moveTo>
                    <a:pt x="f8" y="f9"/>
                  </a:moveTo>
                  <a:cubicBezTo>
                    <a:pt x="f10" y="f11"/>
                    <a:pt x="f10" y="f11"/>
                    <a:pt x="f10" y="f11"/>
                  </a:cubicBezTo>
                  <a:cubicBezTo>
                    <a:pt x="f12" y="f13"/>
                    <a:pt x="f14" y="f15"/>
                    <a:pt x="f16" y="f15"/>
                  </a:cubicBezTo>
                  <a:cubicBezTo>
                    <a:pt x="f17" y="f18"/>
                    <a:pt x="f19" y="f18"/>
                    <a:pt x="f20" y="f18"/>
                  </a:cubicBezTo>
                  <a:cubicBezTo>
                    <a:pt x="f21" y="f18"/>
                    <a:pt x="f22" y="f18"/>
                    <a:pt x="f23" y="f15"/>
                  </a:cubicBezTo>
                  <a:cubicBezTo>
                    <a:pt x="f11" y="f15"/>
                    <a:pt x="f13" y="f13"/>
                    <a:pt x="f13" y="f11"/>
                  </a:cubicBezTo>
                  <a:cubicBezTo>
                    <a:pt x="f13" y="f23"/>
                    <a:pt x="f11" y="f23"/>
                    <a:pt x="f11" y="f22"/>
                  </a:cubicBezTo>
                  <a:cubicBezTo>
                    <a:pt x="f11" y="f22"/>
                    <a:pt x="f11" y="f21"/>
                    <a:pt x="f23" y="f21"/>
                  </a:cubicBezTo>
                  <a:cubicBezTo>
                    <a:pt x="f23" y="f21"/>
                    <a:pt x="f22" y="f24"/>
                    <a:pt x="f21" y="f24"/>
                  </a:cubicBezTo>
                  <a:cubicBezTo>
                    <a:pt x="f24" y="f20"/>
                    <a:pt x="f20" y="f20"/>
                    <a:pt x="f19" y="f25"/>
                  </a:cubicBezTo>
                  <a:cubicBezTo>
                    <a:pt x="f26" y="f19"/>
                    <a:pt x="f27" y="f17"/>
                    <a:pt x="f14" y="f17"/>
                  </a:cubicBezTo>
                  <a:cubicBezTo>
                    <a:pt x="f28" y="f26"/>
                    <a:pt x="f10" y="f16"/>
                    <a:pt x="f29" y="f27"/>
                  </a:cubicBezTo>
                  <a:cubicBezTo>
                    <a:pt x="f30" y="f14"/>
                    <a:pt x="f8" y="f12"/>
                    <a:pt x="f6" y="f28"/>
                  </a:cubicBezTo>
                  <a:cubicBezTo>
                    <a:pt x="f6" y="f10"/>
                    <a:pt x="f6" y="f30"/>
                    <a:pt x="f6" y="f6"/>
                  </a:cubicBezTo>
                  <a:cubicBezTo>
                    <a:pt x="f6" y="f31"/>
                    <a:pt x="f6" y="f32"/>
                    <a:pt x="f8" y="f33"/>
                  </a:cubicBezTo>
                  <a:cubicBezTo>
                    <a:pt x="f8" y="f34"/>
                    <a:pt x="f29" y="f35"/>
                    <a:pt x="f10" y="f36"/>
                  </a:cubicBezTo>
                  <a:cubicBezTo>
                    <a:pt x="f28" y="f37"/>
                    <a:pt x="f14" y="f37"/>
                    <a:pt x="f27" y="f7"/>
                  </a:cubicBezTo>
                  <a:cubicBezTo>
                    <a:pt x="f26" y="f7"/>
                    <a:pt x="f19" y="f7"/>
                    <a:pt x="f20" y="f7"/>
                  </a:cubicBezTo>
                  <a:cubicBezTo>
                    <a:pt x="f21" y="f7"/>
                    <a:pt x="f11" y="f7"/>
                    <a:pt x="f18" y="f37"/>
                  </a:cubicBezTo>
                  <a:cubicBezTo>
                    <a:pt x="f38" y="f36"/>
                    <a:pt x="f39" y="f35"/>
                    <a:pt x="f5" y="f40"/>
                  </a:cubicBezTo>
                  <a:cubicBezTo>
                    <a:pt x="f9" y="f41"/>
                    <a:pt x="f9" y="f41"/>
                    <a:pt x="f9" y="f41"/>
                  </a:cubicBezTo>
                  <a:cubicBezTo>
                    <a:pt x="f42" y="f31"/>
                    <a:pt x="f18" y="f43"/>
                    <a:pt x="f13" y="f43"/>
                  </a:cubicBezTo>
                  <a:cubicBezTo>
                    <a:pt x="f23" y="f32"/>
                    <a:pt x="f21" y="f32"/>
                    <a:pt x="f20" y="f32"/>
                  </a:cubicBezTo>
                  <a:cubicBezTo>
                    <a:pt x="f19" y="f32"/>
                    <a:pt x="f26" y="f32"/>
                    <a:pt x="f16" y="f43"/>
                  </a:cubicBezTo>
                  <a:cubicBezTo>
                    <a:pt x="f27" y="f31"/>
                    <a:pt x="f14" y="f41"/>
                    <a:pt x="f14" y="f6"/>
                  </a:cubicBezTo>
                  <a:cubicBezTo>
                    <a:pt x="f14" y="f8"/>
                    <a:pt x="f14" y="f8"/>
                    <a:pt x="f27" y="f30"/>
                  </a:cubicBezTo>
                  <a:cubicBezTo>
                    <a:pt x="f27" y="f30"/>
                    <a:pt x="f16" y="f29"/>
                    <a:pt x="f16" y="f29"/>
                  </a:cubicBezTo>
                  <a:cubicBezTo>
                    <a:pt x="f26" y="f10"/>
                    <a:pt x="f17" y="f10"/>
                    <a:pt x="f19" y="f28"/>
                  </a:cubicBezTo>
                  <a:cubicBezTo>
                    <a:pt x="f25" y="f28"/>
                    <a:pt x="f20" y="f12"/>
                    <a:pt x="f21" y="f12"/>
                  </a:cubicBezTo>
                  <a:cubicBezTo>
                    <a:pt x="f23" y="f14"/>
                    <a:pt x="f13" y="f27"/>
                    <a:pt x="f15" y="f16"/>
                  </a:cubicBezTo>
                  <a:cubicBezTo>
                    <a:pt x="f42" y="f26"/>
                    <a:pt x="f38" y="f26"/>
                    <a:pt x="f9" y="f17"/>
                  </a:cubicBezTo>
                  <a:cubicBezTo>
                    <a:pt x="f44" y="f19"/>
                    <a:pt x="f44" y="f25"/>
                    <a:pt x="f39" y="f20"/>
                  </a:cubicBezTo>
                  <a:cubicBezTo>
                    <a:pt x="f39" y="f21"/>
                    <a:pt x="f39" y="f22"/>
                    <a:pt x="f39" y="f23"/>
                  </a:cubicBezTo>
                  <a:cubicBezTo>
                    <a:pt x="f39" y="f13"/>
                    <a:pt x="f39" y="f18"/>
                    <a:pt x="f44" y="f42"/>
                  </a:cubicBezTo>
                  <a:cubicBezTo>
                    <a:pt x="f44" y="f38"/>
                    <a:pt x="f9" y="f9"/>
                    <a:pt x="f42" y="f44"/>
                  </a:cubicBezTo>
                  <a:cubicBezTo>
                    <a:pt x="f18" y="f39"/>
                    <a:pt x="f15" y="f45"/>
                    <a:pt x="f11" y="f45"/>
                  </a:cubicBezTo>
                  <a:cubicBezTo>
                    <a:pt x="f23" y="f5"/>
                    <a:pt x="f21" y="f5"/>
                    <a:pt x="f20" y="f5"/>
                  </a:cubicBezTo>
                  <a:cubicBezTo>
                    <a:pt x="f19" y="f5"/>
                    <a:pt x="f16" y="f5"/>
                    <a:pt x="f14" y="f45"/>
                  </a:cubicBezTo>
                  <a:cubicBezTo>
                    <a:pt x="f28" y="f39"/>
                    <a:pt x="f29"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70" name="Freeform 70">
              <a:extLst>
                <a:ext uri="{FF2B5EF4-FFF2-40B4-BE49-F238E27FC236}">
                  <a16:creationId xmlns:a16="http://schemas.microsoft.com/office/drawing/2014/main" id="{6504ED97-0B69-147A-153F-D097F7BD214C}"/>
                </a:ext>
              </a:extLst>
            </p:cNvPr>
            <p:cNvSpPr/>
            <p:nvPr/>
          </p:nvSpPr>
          <p:spPr>
            <a:xfrm>
              <a:off x="2721675" y="6365421"/>
              <a:ext cx="27880" cy="31391"/>
            </a:xfrm>
            <a:custGeom>
              <a:avLst/>
              <a:gdLst>
                <a:gd name="f0" fmla="val 10800000"/>
                <a:gd name="f1" fmla="val 5400000"/>
                <a:gd name="f2" fmla="val 180"/>
                <a:gd name="f3" fmla="val w"/>
                <a:gd name="f4" fmla="val h"/>
                <a:gd name="f5" fmla="val 0"/>
                <a:gd name="f6" fmla="val 11"/>
                <a:gd name="f7" fmla="val 12"/>
                <a:gd name="f8" fmla="val 6"/>
                <a:gd name="f9" fmla="val 7"/>
                <a:gd name="f10" fmla="val 8"/>
                <a:gd name="f11" fmla="val 9"/>
                <a:gd name="f12" fmla="val 10"/>
                <a:gd name="f13" fmla="val 5"/>
                <a:gd name="f14" fmla="val 4"/>
                <a:gd name="f15" fmla="val 3"/>
                <a:gd name="f16" fmla="val 2"/>
                <a:gd name="f17" fmla="val 1"/>
                <a:gd name="f18" fmla="+- 0 0 -90"/>
                <a:gd name="f19" fmla="*/ f3 1 11"/>
                <a:gd name="f20" fmla="*/ f4 1 12"/>
                <a:gd name="f21" fmla="+- f7 0 f5"/>
                <a:gd name="f22" fmla="+- f6 0 f5"/>
                <a:gd name="f23" fmla="*/ f18 f0 1"/>
                <a:gd name="f24" fmla="*/ f22 1 11"/>
                <a:gd name="f25" fmla="*/ f21 1 12"/>
                <a:gd name="f26" fmla="*/ 11 f22 1"/>
                <a:gd name="f27" fmla="*/ 6 f21 1"/>
                <a:gd name="f28" fmla="*/ 9 f21 1"/>
                <a:gd name="f29" fmla="*/ 10 f22 1"/>
                <a:gd name="f30" fmla="*/ 10 f21 1"/>
                <a:gd name="f31" fmla="*/ 8 f22 1"/>
                <a:gd name="f32" fmla="*/ 12 f21 1"/>
                <a:gd name="f33" fmla="*/ 6 f22 1"/>
                <a:gd name="f34" fmla="*/ 3 f22 1"/>
                <a:gd name="f35" fmla="*/ 1 f22 1"/>
                <a:gd name="f36" fmla="*/ 0 f22 1"/>
                <a:gd name="f37" fmla="*/ 4 f21 1"/>
                <a:gd name="f38" fmla="*/ 2 f21 1"/>
                <a:gd name="f39" fmla="*/ 1 f21 1"/>
                <a:gd name="f40" fmla="*/ 0 f21 1"/>
                <a:gd name="f41" fmla="*/ f23 1 f2"/>
                <a:gd name="f42" fmla="*/ f26 1 11"/>
                <a:gd name="f43" fmla="*/ f27 1 12"/>
                <a:gd name="f44" fmla="*/ f28 1 12"/>
                <a:gd name="f45" fmla="*/ f29 1 11"/>
                <a:gd name="f46" fmla="*/ f30 1 12"/>
                <a:gd name="f47" fmla="*/ f31 1 11"/>
                <a:gd name="f48" fmla="*/ f32 1 12"/>
                <a:gd name="f49" fmla="*/ f33 1 11"/>
                <a:gd name="f50" fmla="*/ f34 1 11"/>
                <a:gd name="f51" fmla="*/ f35 1 11"/>
                <a:gd name="f52" fmla="*/ f36 1 11"/>
                <a:gd name="f53" fmla="*/ f37 1 12"/>
                <a:gd name="f54" fmla="*/ f38 1 12"/>
                <a:gd name="f55" fmla="*/ f39 1 12"/>
                <a:gd name="f56" fmla="*/ f40 1 12"/>
                <a:gd name="f57" fmla="*/ 0 1 f24"/>
                <a:gd name="f58" fmla="*/ f6 1 f24"/>
                <a:gd name="f59" fmla="*/ 0 1 f25"/>
                <a:gd name="f60" fmla="*/ f7 1 f25"/>
                <a:gd name="f61" fmla="+- f41 0 f1"/>
                <a:gd name="f62" fmla="*/ f42 1 f24"/>
                <a:gd name="f63" fmla="*/ f43 1 f25"/>
                <a:gd name="f64" fmla="*/ f44 1 f25"/>
                <a:gd name="f65" fmla="*/ f45 1 f24"/>
                <a:gd name="f66" fmla="*/ f46 1 f25"/>
                <a:gd name="f67" fmla="*/ f47 1 f24"/>
                <a:gd name="f68" fmla="*/ f48 1 f25"/>
                <a:gd name="f69" fmla="*/ f49 1 f24"/>
                <a:gd name="f70" fmla="*/ f50 1 f24"/>
                <a:gd name="f71" fmla="*/ f51 1 f24"/>
                <a:gd name="f72" fmla="*/ f52 1 f24"/>
                <a:gd name="f73" fmla="*/ f53 1 f25"/>
                <a:gd name="f74" fmla="*/ f54 1 f25"/>
                <a:gd name="f75" fmla="*/ f55 1 f25"/>
                <a:gd name="f76" fmla="*/ f56 1 f25"/>
                <a:gd name="f77" fmla="*/ f57 f19 1"/>
                <a:gd name="f78" fmla="*/ f58 f19 1"/>
                <a:gd name="f79" fmla="*/ f60 f20 1"/>
                <a:gd name="f80" fmla="*/ f59 f20 1"/>
                <a:gd name="f81" fmla="*/ f62 f19 1"/>
                <a:gd name="f82" fmla="*/ f63 f20 1"/>
                <a:gd name="f83" fmla="*/ f64 f20 1"/>
                <a:gd name="f84" fmla="*/ f65 f19 1"/>
                <a:gd name="f85" fmla="*/ f66 f20 1"/>
                <a:gd name="f86" fmla="*/ f67 f19 1"/>
                <a:gd name="f87" fmla="*/ f68 f20 1"/>
                <a:gd name="f88" fmla="*/ f69 f19 1"/>
                <a:gd name="f89" fmla="*/ f70 f19 1"/>
                <a:gd name="f90" fmla="*/ f71 f19 1"/>
                <a:gd name="f91" fmla="*/ f72 f19 1"/>
                <a:gd name="f92" fmla="*/ f73 f20 1"/>
                <a:gd name="f93" fmla="*/ f74 f20 1"/>
                <a:gd name="f94" fmla="*/ f75 f20 1"/>
                <a:gd name="f95" fmla="*/ f76 f20 1"/>
              </a:gdLst>
              <a:ahLst/>
              <a:cxnLst>
                <a:cxn ang="3cd4">
                  <a:pos x="hc" y="t"/>
                </a:cxn>
                <a:cxn ang="0">
                  <a:pos x="r" y="vc"/>
                </a:cxn>
                <a:cxn ang="cd4">
                  <a:pos x="hc" y="b"/>
                </a:cxn>
                <a:cxn ang="cd2">
                  <a:pos x="l" y="vc"/>
                </a:cxn>
                <a:cxn ang="f61">
                  <a:pos x="f81" y="f82"/>
                </a:cxn>
                <a:cxn ang="f61">
                  <a:pos x="f81" y="f83"/>
                </a:cxn>
                <a:cxn ang="f61">
                  <a:pos x="f84" y="f85"/>
                </a:cxn>
                <a:cxn ang="f61">
                  <a:pos x="f86" y="f87"/>
                </a:cxn>
                <a:cxn ang="f61">
                  <a:pos x="f88" y="f87"/>
                </a:cxn>
                <a:cxn ang="f61">
                  <a:pos x="f89" y="f87"/>
                </a:cxn>
                <a:cxn ang="f61">
                  <a:pos x="f90" y="f85"/>
                </a:cxn>
                <a:cxn ang="f61">
                  <a:pos x="f91" y="f83"/>
                </a:cxn>
                <a:cxn ang="f61">
                  <a:pos x="f91" y="f82"/>
                </a:cxn>
                <a:cxn ang="f61">
                  <a:pos x="f91" y="f92"/>
                </a:cxn>
                <a:cxn ang="f61">
                  <a:pos x="f90" y="f93"/>
                </a:cxn>
                <a:cxn ang="f61">
                  <a:pos x="f89" y="f94"/>
                </a:cxn>
                <a:cxn ang="f61">
                  <a:pos x="f88" y="f95"/>
                </a:cxn>
                <a:cxn ang="f61">
                  <a:pos x="f86" y="f94"/>
                </a:cxn>
                <a:cxn ang="f61">
                  <a:pos x="f84" y="f93"/>
                </a:cxn>
                <a:cxn ang="f61">
                  <a:pos x="f81" y="f92"/>
                </a:cxn>
                <a:cxn ang="f61">
                  <a:pos x="f81" y="f82"/>
                </a:cxn>
              </a:cxnLst>
              <a:rect l="f77" t="f80" r="f78" b="f79"/>
              <a:pathLst>
                <a:path w="11" h="12">
                  <a:moveTo>
                    <a:pt x="f6" y="f8"/>
                  </a:moveTo>
                  <a:cubicBezTo>
                    <a:pt x="f6" y="f9"/>
                    <a:pt x="f6" y="f10"/>
                    <a:pt x="f6" y="f11"/>
                  </a:cubicBezTo>
                  <a:cubicBezTo>
                    <a:pt x="f6" y="f11"/>
                    <a:pt x="f12" y="f12"/>
                    <a:pt x="f12" y="f12"/>
                  </a:cubicBezTo>
                  <a:cubicBezTo>
                    <a:pt x="f11" y="f6"/>
                    <a:pt x="f11" y="f6"/>
                    <a:pt x="f10" y="f7"/>
                  </a:cubicBezTo>
                  <a:cubicBezTo>
                    <a:pt x="f9" y="f7"/>
                    <a:pt x="f8" y="f7"/>
                    <a:pt x="f8" y="f7"/>
                  </a:cubicBezTo>
                  <a:cubicBezTo>
                    <a:pt x="f13" y="f7"/>
                    <a:pt x="f14" y="f7"/>
                    <a:pt x="f15" y="f7"/>
                  </a:cubicBezTo>
                  <a:cubicBezTo>
                    <a:pt x="f15" y="f6"/>
                    <a:pt x="f16" y="f6"/>
                    <a:pt x="f17" y="f12"/>
                  </a:cubicBezTo>
                  <a:cubicBezTo>
                    <a:pt x="f17" y="f12"/>
                    <a:pt x="f17" y="f11"/>
                    <a:pt x="f5" y="f11"/>
                  </a:cubicBezTo>
                  <a:cubicBezTo>
                    <a:pt x="f5" y="f10"/>
                    <a:pt x="f5" y="f9"/>
                    <a:pt x="f5" y="f8"/>
                  </a:cubicBezTo>
                  <a:cubicBezTo>
                    <a:pt x="f5" y="f8"/>
                    <a:pt x="f5" y="f13"/>
                    <a:pt x="f5" y="f14"/>
                  </a:cubicBezTo>
                  <a:cubicBezTo>
                    <a:pt x="f17" y="f15"/>
                    <a:pt x="f17" y="f15"/>
                    <a:pt x="f17" y="f16"/>
                  </a:cubicBezTo>
                  <a:cubicBezTo>
                    <a:pt x="f16" y="f16"/>
                    <a:pt x="f15" y="f17"/>
                    <a:pt x="f15" y="f17"/>
                  </a:cubicBezTo>
                  <a:cubicBezTo>
                    <a:pt x="f14" y="f17"/>
                    <a:pt x="f13" y="f5"/>
                    <a:pt x="f8" y="f5"/>
                  </a:cubicBezTo>
                  <a:cubicBezTo>
                    <a:pt x="f8" y="f5"/>
                    <a:pt x="f9" y="f17"/>
                    <a:pt x="f10" y="f17"/>
                  </a:cubicBezTo>
                  <a:cubicBezTo>
                    <a:pt x="f11" y="f17"/>
                    <a:pt x="f11" y="f16"/>
                    <a:pt x="f12" y="f16"/>
                  </a:cubicBezTo>
                  <a:cubicBezTo>
                    <a:pt x="f12" y="f15"/>
                    <a:pt x="f6" y="f15"/>
                    <a:pt x="f6" y="f14"/>
                  </a:cubicBezTo>
                  <a:cubicBezTo>
                    <a:pt x="f6" y="f13"/>
                    <a:pt x="f6" y="f8"/>
                    <a:pt x="f6"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grpSp>
      <p:sp>
        <p:nvSpPr>
          <p:cNvPr id="71" name="Title 1">
            <a:extLst>
              <a:ext uri="{FF2B5EF4-FFF2-40B4-BE49-F238E27FC236}">
                <a16:creationId xmlns:a16="http://schemas.microsoft.com/office/drawing/2014/main" id="{747D925D-330B-50A1-36EB-57D912D25EBF}"/>
              </a:ext>
            </a:extLst>
          </p:cNvPr>
          <p:cNvSpPr txBox="1">
            <a:spLocks noGrp="1"/>
          </p:cNvSpPr>
          <p:nvPr>
            <p:ph type="title"/>
          </p:nvPr>
        </p:nvSpPr>
        <p:spPr>
          <a:xfrm>
            <a:off x="944392" y="2158331"/>
            <a:ext cx="3998351" cy="860395"/>
          </a:xfrm>
        </p:spPr>
        <p:txBody>
          <a:bodyPr/>
          <a:lstStyle>
            <a:lvl1pPr>
              <a:defRPr sz="2999"/>
            </a:lvl1pPr>
          </a:lstStyle>
          <a:p>
            <a:pPr lvl="0"/>
            <a:r>
              <a:rPr lang="en-US"/>
              <a:t>Click to edit Master title style</a:t>
            </a:r>
            <a:endParaRPr lang="en-GB"/>
          </a:p>
        </p:txBody>
      </p:sp>
      <p:sp>
        <p:nvSpPr>
          <p:cNvPr id="72" name="Subtitle 2">
            <a:extLst>
              <a:ext uri="{FF2B5EF4-FFF2-40B4-BE49-F238E27FC236}">
                <a16:creationId xmlns:a16="http://schemas.microsoft.com/office/drawing/2014/main" id="{CF158223-7E06-1BB9-AB43-8BE164D20042}"/>
              </a:ext>
            </a:extLst>
          </p:cNvPr>
          <p:cNvSpPr txBox="1">
            <a:spLocks noGrp="1"/>
          </p:cNvSpPr>
          <p:nvPr>
            <p:ph type="subTitle" idx="4294967295"/>
          </p:nvPr>
        </p:nvSpPr>
        <p:spPr>
          <a:xfrm>
            <a:off x="944584" y="3200326"/>
            <a:ext cx="4018531" cy="645740"/>
          </a:xfrm>
        </p:spPr>
        <p:txBody>
          <a:bodyPr/>
          <a:lstStyle>
            <a:lvl1pPr marL="0" indent="0">
              <a:buNone/>
              <a:defRPr>
                <a:cs typeface="Arial" pitchFamily="34"/>
              </a:defRPr>
            </a:lvl1pPr>
          </a:lstStyle>
          <a:p>
            <a:pPr lvl="0"/>
            <a:r>
              <a:rPr lang="en-US"/>
              <a:t>Click to edit Master subtitle style</a:t>
            </a:r>
            <a:endParaRPr lang="en-GB"/>
          </a:p>
        </p:txBody>
      </p:sp>
      <p:grpSp>
        <p:nvGrpSpPr>
          <p:cNvPr id="73" name="Group 4">
            <a:extLst>
              <a:ext uri="{FF2B5EF4-FFF2-40B4-BE49-F238E27FC236}">
                <a16:creationId xmlns:a16="http://schemas.microsoft.com/office/drawing/2014/main" id="{D6B0F476-FC9C-9592-BF96-94489579D335}"/>
              </a:ext>
            </a:extLst>
          </p:cNvPr>
          <p:cNvGrpSpPr/>
          <p:nvPr/>
        </p:nvGrpSpPr>
        <p:grpSpPr>
          <a:xfrm>
            <a:off x="10359393" y="4960940"/>
            <a:ext cx="1224911" cy="1435105"/>
            <a:chOff x="10359393" y="4960940"/>
            <a:chExt cx="1224911" cy="1435105"/>
          </a:xfrm>
        </p:grpSpPr>
        <p:sp>
          <p:nvSpPr>
            <p:cNvPr id="74" name="Freeform 5">
              <a:extLst>
                <a:ext uri="{FF2B5EF4-FFF2-40B4-BE49-F238E27FC236}">
                  <a16:creationId xmlns:a16="http://schemas.microsoft.com/office/drawing/2014/main" id="{E5FF4F68-DF06-0A33-F78D-55651A2EFEAE}"/>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5" name="Freeform 6">
              <a:extLst>
                <a:ext uri="{FF2B5EF4-FFF2-40B4-BE49-F238E27FC236}">
                  <a16:creationId xmlns:a16="http://schemas.microsoft.com/office/drawing/2014/main" id="{5793C950-8B87-79BD-AFF8-CA0046EB051D}"/>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19209385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Standard slide">
    <p:spTree>
      <p:nvGrpSpPr>
        <p:cNvPr id="1" name=""/>
        <p:cNvGrpSpPr/>
        <p:nvPr/>
      </p:nvGrpSpPr>
      <p:grpSpPr>
        <a:xfrm>
          <a:off x="0" y="0"/>
          <a:ext cx="0" cy="0"/>
          <a:chOff x="0" y="0"/>
          <a:chExt cx="0" cy="0"/>
        </a:xfrm>
      </p:grpSpPr>
      <p:sp>
        <p:nvSpPr>
          <p:cNvPr id="2" name="Line 10">
            <a:extLst>
              <a:ext uri="{FF2B5EF4-FFF2-40B4-BE49-F238E27FC236}">
                <a16:creationId xmlns:a16="http://schemas.microsoft.com/office/drawing/2014/main" id="{F4410580-7667-C9D9-5D17-46EE82D4C40A}"/>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Date Placeholder 3">
            <a:extLst>
              <a:ext uri="{FF2B5EF4-FFF2-40B4-BE49-F238E27FC236}">
                <a16:creationId xmlns:a16="http://schemas.microsoft.com/office/drawing/2014/main" id="{56C6EC06-6C53-04A4-49CE-B937CCF9A77C}"/>
              </a:ext>
            </a:extLst>
          </p:cNvPr>
          <p:cNvSpPr txBox="1">
            <a:spLocks noGrp="1"/>
          </p:cNvSpPr>
          <p:nvPr>
            <p:ph type="dt" sz="half" idx="7"/>
          </p:nvPr>
        </p:nvSpPr>
        <p:spPr/>
        <p:txBody>
          <a:bodyPr/>
          <a:lstStyle>
            <a:lvl1pPr>
              <a:defRPr/>
            </a:lvl1pPr>
          </a:lstStyle>
          <a:p>
            <a:pPr lvl="0"/>
            <a:fld id="{E501834D-1CFC-417F-817E-4E79C0F2F0DE}" type="datetime3">
              <a:rPr lang="en-US"/>
              <a:pPr lvl="0"/>
              <a:t>27 November 2025</a:t>
            </a:fld>
            <a:endParaRPr lang="en-IN"/>
          </a:p>
        </p:txBody>
      </p:sp>
      <p:sp>
        <p:nvSpPr>
          <p:cNvPr id="4" name="Footer Placeholder 4">
            <a:extLst>
              <a:ext uri="{FF2B5EF4-FFF2-40B4-BE49-F238E27FC236}">
                <a16:creationId xmlns:a16="http://schemas.microsoft.com/office/drawing/2014/main" id="{C14A87A7-1557-C58F-FA6E-057147804D8B}"/>
              </a:ext>
            </a:extLst>
          </p:cNvPr>
          <p:cNvSpPr txBox="1">
            <a:spLocks noGrp="1"/>
          </p:cNvSpPr>
          <p:nvPr>
            <p:ph type="ftr" sz="quarter" idx="9"/>
          </p:nvPr>
        </p:nvSpPr>
        <p:spPr/>
        <p:txBody>
          <a:bodyPr/>
          <a:lstStyle>
            <a:lvl1pPr>
              <a:defRPr/>
            </a:lvl1pPr>
          </a:lstStyle>
          <a:p>
            <a:pPr lvl="0"/>
            <a:r>
              <a:rPr lang="en-US"/>
              <a:t>Presentation title</a:t>
            </a:r>
          </a:p>
        </p:txBody>
      </p:sp>
      <p:sp>
        <p:nvSpPr>
          <p:cNvPr id="5" name="Slide Number Placeholder 5">
            <a:extLst>
              <a:ext uri="{FF2B5EF4-FFF2-40B4-BE49-F238E27FC236}">
                <a16:creationId xmlns:a16="http://schemas.microsoft.com/office/drawing/2014/main" id="{4470C064-F68A-0077-158B-63C17DF1313C}"/>
              </a:ext>
            </a:extLst>
          </p:cNvPr>
          <p:cNvSpPr txBox="1">
            <a:spLocks noGrp="1"/>
          </p:cNvSpPr>
          <p:nvPr>
            <p:ph type="sldNum" sz="quarter" idx="8"/>
          </p:nvPr>
        </p:nvSpPr>
        <p:spPr/>
        <p:txBody>
          <a:bodyPr/>
          <a:lstStyle>
            <a:lvl1pPr>
              <a:defRPr/>
            </a:lvl1pPr>
          </a:lstStyle>
          <a:p>
            <a:pPr lvl="0"/>
            <a:r>
              <a:rPr lang="en-GB"/>
              <a:t>Page </a:t>
            </a:r>
            <a:fld id="{1D1A9062-6573-4CF1-90CD-215FB7DF9EA9}" type="slidenum">
              <a:t>‹#›</a:t>
            </a:fld>
            <a:endParaRPr lang="en-IN"/>
          </a:p>
        </p:txBody>
      </p:sp>
      <p:sp>
        <p:nvSpPr>
          <p:cNvPr id="6" name="Text Placeholder 2">
            <a:extLst>
              <a:ext uri="{FF2B5EF4-FFF2-40B4-BE49-F238E27FC236}">
                <a16:creationId xmlns:a16="http://schemas.microsoft.com/office/drawing/2014/main" id="{FB5A659E-98CF-C3F4-85EB-7F6D350C4092}"/>
              </a:ext>
            </a:extLst>
          </p:cNvPr>
          <p:cNvSpPr txBox="1">
            <a:spLocks noGrp="1"/>
          </p:cNvSpPr>
          <p:nvPr>
            <p:ph idx="4294967295"/>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186764753"/>
      </p:ext>
    </p:extLst>
  </p:cSld>
  <p:clrMapOvr>
    <a:masterClrMapping/>
  </p:clrMapOvr>
  <p:hf sldNum="0" hdr="0" ftr="0" dt="0"/>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3_Standard slide">
    <p:spTree>
      <p:nvGrpSpPr>
        <p:cNvPr id="1" name=""/>
        <p:cNvGrpSpPr/>
        <p:nvPr/>
      </p:nvGrpSpPr>
      <p:grpSpPr>
        <a:xfrm>
          <a:off x="0" y="0"/>
          <a:ext cx="0" cy="0"/>
          <a:chOff x="0" y="0"/>
          <a:chExt cx="0" cy="0"/>
        </a:xfrm>
      </p:grpSpPr>
      <p:sp>
        <p:nvSpPr>
          <p:cNvPr id="2" name="Line 10">
            <a:extLst>
              <a:ext uri="{FF2B5EF4-FFF2-40B4-BE49-F238E27FC236}">
                <a16:creationId xmlns:a16="http://schemas.microsoft.com/office/drawing/2014/main" id="{F34CD249-E025-F240-ACC8-9E526C42C711}"/>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Date Placeholder 2">
            <a:extLst>
              <a:ext uri="{FF2B5EF4-FFF2-40B4-BE49-F238E27FC236}">
                <a16:creationId xmlns:a16="http://schemas.microsoft.com/office/drawing/2014/main" id="{488A80C9-6F88-7EB1-9EAB-B2FAE2ACF933}"/>
              </a:ext>
            </a:extLst>
          </p:cNvPr>
          <p:cNvSpPr txBox="1">
            <a:spLocks noGrp="1"/>
          </p:cNvSpPr>
          <p:nvPr>
            <p:ph type="dt" sz="half" idx="7"/>
          </p:nvPr>
        </p:nvSpPr>
        <p:spPr/>
        <p:txBody>
          <a:bodyPr/>
          <a:lstStyle>
            <a:lvl1pPr>
              <a:defRPr/>
            </a:lvl1pPr>
          </a:lstStyle>
          <a:p>
            <a:pPr lvl="0"/>
            <a:fld id="{FFDFC026-EA30-4139-BC50-E1C864338054}" type="datetime3">
              <a:rPr lang="en-US"/>
              <a:pPr lvl="0"/>
              <a:t>27 November 2025</a:t>
            </a:fld>
            <a:endParaRPr lang="en-IN"/>
          </a:p>
        </p:txBody>
      </p:sp>
      <p:sp>
        <p:nvSpPr>
          <p:cNvPr id="4" name="Footer Placeholder 3">
            <a:extLst>
              <a:ext uri="{FF2B5EF4-FFF2-40B4-BE49-F238E27FC236}">
                <a16:creationId xmlns:a16="http://schemas.microsoft.com/office/drawing/2014/main" id="{72D73220-7594-8412-9719-C28C9B80A1BD}"/>
              </a:ext>
            </a:extLst>
          </p:cNvPr>
          <p:cNvSpPr txBox="1">
            <a:spLocks noGrp="1"/>
          </p:cNvSpPr>
          <p:nvPr>
            <p:ph type="ftr" sz="quarter" idx="9"/>
          </p:nvPr>
        </p:nvSpPr>
        <p:spPr/>
        <p:txBody>
          <a:bodyPr/>
          <a:lstStyle>
            <a:lvl1pPr>
              <a:defRPr/>
            </a:lvl1pPr>
          </a:lstStyle>
          <a:p>
            <a:pPr lvl="0"/>
            <a:r>
              <a:rPr lang="en-US"/>
              <a:t>Presentation title</a:t>
            </a:r>
          </a:p>
        </p:txBody>
      </p:sp>
      <p:sp>
        <p:nvSpPr>
          <p:cNvPr id="5" name="Slide Number Placeholder 4">
            <a:extLst>
              <a:ext uri="{FF2B5EF4-FFF2-40B4-BE49-F238E27FC236}">
                <a16:creationId xmlns:a16="http://schemas.microsoft.com/office/drawing/2014/main" id="{5FCEC7D1-637B-3B27-9729-22FC4BECBA66}"/>
              </a:ext>
            </a:extLst>
          </p:cNvPr>
          <p:cNvSpPr txBox="1">
            <a:spLocks noGrp="1"/>
          </p:cNvSpPr>
          <p:nvPr>
            <p:ph type="sldNum" sz="quarter" idx="8"/>
          </p:nvPr>
        </p:nvSpPr>
        <p:spPr/>
        <p:txBody>
          <a:bodyPr/>
          <a:lstStyle>
            <a:lvl1pPr>
              <a:defRPr/>
            </a:lvl1pPr>
          </a:lstStyle>
          <a:p>
            <a:pPr lvl="0"/>
            <a:r>
              <a:rPr lang="en-GB"/>
              <a:t>Page </a:t>
            </a:r>
            <a:fld id="{60BB7855-B127-45A1-AA68-D0F8A8390B47}" type="slidenum">
              <a:t>‹#›</a:t>
            </a:fld>
            <a:endParaRPr lang="en-IN"/>
          </a:p>
        </p:txBody>
      </p:sp>
    </p:spTree>
    <p:extLst>
      <p:ext uri="{BB962C8B-B14F-4D97-AF65-F5344CB8AC3E}">
        <p14:creationId xmlns:p14="http://schemas.microsoft.com/office/powerpoint/2010/main" val="38849240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2_Standard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A4970A-F134-35AD-717C-EE15797EDC72}"/>
              </a:ext>
            </a:extLst>
          </p:cNvPr>
          <p:cNvSpPr txBox="1">
            <a:spLocks noGrp="1"/>
          </p:cNvSpPr>
          <p:nvPr>
            <p:ph type="title"/>
          </p:nvPr>
        </p:nvSpPr>
        <p:spPr>
          <a:xfrm>
            <a:off x="609603" y="294199"/>
            <a:ext cx="7440545" cy="590400"/>
          </a:xfrm>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504258B9-BCD0-4657-82F9-299BFF350BD5}"/>
              </a:ext>
            </a:extLst>
          </p:cNvPr>
          <p:cNvSpPr txBox="1">
            <a:spLocks noGrp="1"/>
          </p:cNvSpPr>
          <p:nvPr>
            <p:ph idx="4294967295"/>
          </p:nvPr>
        </p:nvSpPr>
        <p:spPr>
          <a:xfrm>
            <a:off x="609603" y="1137925"/>
            <a:ext cx="7295842" cy="873764"/>
          </a:xfrm>
        </p:spPr>
        <p:txBody>
          <a:bodyPr/>
          <a:lstStyle>
            <a:lvl1pPr marL="0" indent="0">
              <a:spcBef>
                <a:spcPts val="400"/>
              </a:spcBef>
              <a:buNone/>
              <a:defRPr sz="1799"/>
            </a:lvl1pPr>
          </a:lstStyle>
          <a:p>
            <a:pPr lvl="0"/>
            <a:r>
              <a:rPr lang="en-US"/>
              <a:t>Text</a:t>
            </a:r>
          </a:p>
        </p:txBody>
      </p:sp>
      <p:sp>
        <p:nvSpPr>
          <p:cNvPr id="4" name="Content Placeholder 2">
            <a:extLst>
              <a:ext uri="{FF2B5EF4-FFF2-40B4-BE49-F238E27FC236}">
                <a16:creationId xmlns:a16="http://schemas.microsoft.com/office/drawing/2014/main" id="{AE938A76-1932-C06D-2090-588D97ED4F6A}"/>
              </a:ext>
            </a:extLst>
          </p:cNvPr>
          <p:cNvSpPr txBox="1">
            <a:spLocks noGrp="1"/>
          </p:cNvSpPr>
          <p:nvPr>
            <p:ph idx="4294967295"/>
          </p:nvPr>
        </p:nvSpPr>
        <p:spPr>
          <a:xfrm>
            <a:off x="609603" y="2311402"/>
            <a:ext cx="3578257" cy="3844704"/>
          </a:xfrm>
        </p:spPr>
        <p:txBody>
          <a:bodyPr/>
          <a:lstStyle>
            <a:lvl1pPr marL="0" indent="0">
              <a:spcBef>
                <a:spcPts val="300"/>
              </a:spcBef>
              <a:buNone/>
              <a:defRPr sz="1399"/>
            </a:lvl1pPr>
          </a:lstStyle>
          <a:p>
            <a:pPr lvl="0"/>
            <a:r>
              <a:rPr lang="en-US"/>
              <a:t>Text</a:t>
            </a:r>
          </a:p>
        </p:txBody>
      </p:sp>
      <p:sp>
        <p:nvSpPr>
          <p:cNvPr id="5" name="Content Placeholder 2">
            <a:extLst>
              <a:ext uri="{FF2B5EF4-FFF2-40B4-BE49-F238E27FC236}">
                <a16:creationId xmlns:a16="http://schemas.microsoft.com/office/drawing/2014/main" id="{E71ADF36-0224-570C-7ED7-93AC38E336D3}"/>
              </a:ext>
            </a:extLst>
          </p:cNvPr>
          <p:cNvSpPr txBox="1">
            <a:spLocks noGrp="1"/>
          </p:cNvSpPr>
          <p:nvPr>
            <p:ph idx="4294967295"/>
          </p:nvPr>
        </p:nvSpPr>
        <p:spPr>
          <a:xfrm>
            <a:off x="4327187" y="2311402"/>
            <a:ext cx="3578257" cy="1254757"/>
          </a:xfrm>
        </p:spPr>
        <p:txBody>
          <a:bodyPr/>
          <a:lstStyle>
            <a:lvl1pPr marL="0" indent="0">
              <a:spcBef>
                <a:spcPts val="300"/>
              </a:spcBef>
              <a:buNone/>
              <a:defRPr sz="1399"/>
            </a:lvl1pPr>
          </a:lstStyle>
          <a:p>
            <a:pPr lvl="0"/>
            <a:r>
              <a:rPr lang="en-US"/>
              <a:t>Text</a:t>
            </a:r>
          </a:p>
        </p:txBody>
      </p:sp>
      <p:sp>
        <p:nvSpPr>
          <p:cNvPr id="6" name="Content Placeholder 2">
            <a:extLst>
              <a:ext uri="{FF2B5EF4-FFF2-40B4-BE49-F238E27FC236}">
                <a16:creationId xmlns:a16="http://schemas.microsoft.com/office/drawing/2014/main" id="{62138C13-FBB2-775C-FD22-6319E4A85351}"/>
              </a:ext>
            </a:extLst>
          </p:cNvPr>
          <p:cNvSpPr txBox="1">
            <a:spLocks noGrp="1"/>
          </p:cNvSpPr>
          <p:nvPr>
            <p:ph idx="4294967295"/>
          </p:nvPr>
        </p:nvSpPr>
        <p:spPr>
          <a:xfrm>
            <a:off x="4327187" y="4236716"/>
            <a:ext cx="3578257" cy="1944160"/>
          </a:xfrm>
        </p:spPr>
        <p:txBody>
          <a:bodyPr/>
          <a:lstStyle>
            <a:lvl1pPr marL="0" indent="0">
              <a:spcBef>
                <a:spcPts val="400"/>
              </a:spcBef>
              <a:buNone/>
              <a:defRPr sz="1799">
                <a:latin typeface="Georgia" pitchFamily="18"/>
              </a:defRPr>
            </a:lvl1pPr>
          </a:lstStyle>
          <a:p>
            <a:pPr lvl="0"/>
            <a:r>
              <a:rPr lang="en-US"/>
              <a:t>Quote</a:t>
            </a:r>
          </a:p>
        </p:txBody>
      </p:sp>
      <p:sp>
        <p:nvSpPr>
          <p:cNvPr id="7" name="Line 10">
            <a:extLst>
              <a:ext uri="{FF2B5EF4-FFF2-40B4-BE49-F238E27FC236}">
                <a16:creationId xmlns:a16="http://schemas.microsoft.com/office/drawing/2014/main" id="{1E7FFC9A-6F40-ABDB-9940-F7BB457D19B1}"/>
              </a:ext>
            </a:extLst>
          </p:cNvPr>
          <p:cNvSpPr/>
          <p:nvPr/>
        </p:nvSpPr>
        <p:spPr>
          <a:xfrm>
            <a:off x="609603" y="907752"/>
            <a:ext cx="7440545"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8" name="Date Placeholder 3">
            <a:extLst>
              <a:ext uri="{FF2B5EF4-FFF2-40B4-BE49-F238E27FC236}">
                <a16:creationId xmlns:a16="http://schemas.microsoft.com/office/drawing/2014/main" id="{500716C1-920D-1E63-0964-6CBE4DBFFE5F}"/>
              </a:ext>
            </a:extLst>
          </p:cNvPr>
          <p:cNvSpPr txBox="1">
            <a:spLocks noGrp="1"/>
          </p:cNvSpPr>
          <p:nvPr>
            <p:ph type="dt" sz="half" idx="7"/>
          </p:nvPr>
        </p:nvSpPr>
        <p:spPr/>
        <p:txBody>
          <a:bodyPr/>
          <a:lstStyle>
            <a:lvl1pPr>
              <a:defRPr/>
            </a:lvl1pPr>
          </a:lstStyle>
          <a:p>
            <a:pPr lvl="0"/>
            <a:fld id="{7CA3D84F-A24B-41B8-90E0-5461C1A60C9F}" type="datetime3">
              <a:rPr lang="en-US"/>
              <a:pPr lvl="0"/>
              <a:t>27 November 2025</a:t>
            </a:fld>
            <a:endParaRPr lang="en-IN"/>
          </a:p>
        </p:txBody>
      </p:sp>
      <p:sp>
        <p:nvSpPr>
          <p:cNvPr id="9" name="Footer Placeholder 5">
            <a:extLst>
              <a:ext uri="{FF2B5EF4-FFF2-40B4-BE49-F238E27FC236}">
                <a16:creationId xmlns:a16="http://schemas.microsoft.com/office/drawing/2014/main" id="{E910B732-7163-32AE-2DAF-4A2308E67B0B}"/>
              </a:ext>
            </a:extLst>
          </p:cNvPr>
          <p:cNvSpPr txBox="1">
            <a:spLocks noGrp="1"/>
          </p:cNvSpPr>
          <p:nvPr>
            <p:ph type="ftr" sz="quarter" idx="9"/>
          </p:nvPr>
        </p:nvSpPr>
        <p:spPr/>
        <p:txBody>
          <a:bodyPr/>
          <a:lstStyle>
            <a:lvl1pPr>
              <a:defRPr/>
            </a:lvl1pPr>
          </a:lstStyle>
          <a:p>
            <a:pPr lvl="0"/>
            <a:r>
              <a:rPr lang="en-US"/>
              <a:t>Presentation title</a:t>
            </a:r>
          </a:p>
        </p:txBody>
      </p:sp>
      <p:sp>
        <p:nvSpPr>
          <p:cNvPr id="10" name="Slide Number Placeholder 6">
            <a:extLst>
              <a:ext uri="{FF2B5EF4-FFF2-40B4-BE49-F238E27FC236}">
                <a16:creationId xmlns:a16="http://schemas.microsoft.com/office/drawing/2014/main" id="{AB2D3A70-4CA4-F5F5-54C9-338DF4947B01}"/>
              </a:ext>
            </a:extLst>
          </p:cNvPr>
          <p:cNvSpPr txBox="1">
            <a:spLocks noGrp="1"/>
          </p:cNvSpPr>
          <p:nvPr>
            <p:ph type="sldNum" sz="quarter" idx="8"/>
          </p:nvPr>
        </p:nvSpPr>
        <p:spPr/>
        <p:txBody>
          <a:bodyPr/>
          <a:lstStyle>
            <a:lvl1pPr>
              <a:defRPr/>
            </a:lvl1pPr>
          </a:lstStyle>
          <a:p>
            <a:pPr lvl="0"/>
            <a:r>
              <a:rPr lang="en-GB"/>
              <a:t>Page </a:t>
            </a:r>
            <a:fld id="{2BA849D6-6D4C-4048-9F82-F6D7F384A4C1}" type="slidenum">
              <a:t>‹#›</a:t>
            </a:fld>
            <a:endParaRPr lang="en-IN"/>
          </a:p>
        </p:txBody>
      </p:sp>
    </p:spTree>
    <p:extLst>
      <p:ext uri="{BB962C8B-B14F-4D97-AF65-F5344CB8AC3E}">
        <p14:creationId xmlns:p14="http://schemas.microsoft.com/office/powerpoint/2010/main" val="249980551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Standard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9377BC-9851-7890-50CC-C1B4E8DF9647}"/>
              </a:ext>
            </a:extLst>
          </p:cNvPr>
          <p:cNvSpPr txBox="1">
            <a:spLocks noGrp="1"/>
          </p:cNvSpPr>
          <p:nvPr>
            <p:ph type="title"/>
          </p:nvPr>
        </p:nvSpPr>
        <p:spPr>
          <a:xfrm>
            <a:off x="2693895" y="294199"/>
            <a:ext cx="8887373" cy="590400"/>
          </a:xfrm>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7411BAF3-69D3-0DC4-4F72-B31E4CA67C09}"/>
              </a:ext>
            </a:extLst>
          </p:cNvPr>
          <p:cNvSpPr txBox="1">
            <a:spLocks noGrp="1"/>
          </p:cNvSpPr>
          <p:nvPr>
            <p:ph idx="4294967295"/>
          </p:nvPr>
        </p:nvSpPr>
        <p:spPr>
          <a:xfrm>
            <a:off x="2693886" y="1137925"/>
            <a:ext cx="2741453" cy="5018181"/>
          </a:xfrm>
        </p:spPr>
        <p:txBody>
          <a:bodyPr/>
          <a:lstStyle>
            <a:lvl1pPr marL="0" indent="0">
              <a:spcBef>
                <a:spcPts val="400"/>
              </a:spcBef>
              <a:buNone/>
              <a:defRPr sz="1799"/>
            </a:lvl1pPr>
          </a:lstStyle>
          <a:p>
            <a:pPr lvl="0"/>
            <a:r>
              <a:rPr lang="en-US"/>
              <a:t>Text</a:t>
            </a:r>
          </a:p>
        </p:txBody>
      </p:sp>
      <p:sp>
        <p:nvSpPr>
          <p:cNvPr id="4" name="Content Placeholder 2">
            <a:extLst>
              <a:ext uri="{FF2B5EF4-FFF2-40B4-BE49-F238E27FC236}">
                <a16:creationId xmlns:a16="http://schemas.microsoft.com/office/drawing/2014/main" id="{E821F689-A98A-2DA5-4525-9D0DCAA5FC53}"/>
              </a:ext>
            </a:extLst>
          </p:cNvPr>
          <p:cNvSpPr txBox="1">
            <a:spLocks noGrp="1"/>
          </p:cNvSpPr>
          <p:nvPr>
            <p:ph idx="4294967295"/>
          </p:nvPr>
        </p:nvSpPr>
        <p:spPr>
          <a:xfrm>
            <a:off x="5724098" y="1137925"/>
            <a:ext cx="2802379" cy="5018181"/>
          </a:xfrm>
        </p:spPr>
        <p:txBody>
          <a:bodyPr/>
          <a:lstStyle>
            <a:lvl1pPr marL="0" indent="0">
              <a:spcBef>
                <a:spcPts val="300"/>
              </a:spcBef>
              <a:buNone/>
              <a:defRPr sz="1399"/>
            </a:lvl1pPr>
          </a:lstStyle>
          <a:p>
            <a:pPr lvl="0"/>
            <a:r>
              <a:rPr lang="en-US"/>
              <a:t>Text</a:t>
            </a:r>
          </a:p>
        </p:txBody>
      </p:sp>
      <p:sp>
        <p:nvSpPr>
          <p:cNvPr id="5" name="Content Placeholder 2">
            <a:extLst>
              <a:ext uri="{FF2B5EF4-FFF2-40B4-BE49-F238E27FC236}">
                <a16:creationId xmlns:a16="http://schemas.microsoft.com/office/drawing/2014/main" id="{388E6B6D-A88E-23ED-C9BE-99718B3A86FF}"/>
              </a:ext>
            </a:extLst>
          </p:cNvPr>
          <p:cNvSpPr txBox="1">
            <a:spLocks noGrp="1"/>
          </p:cNvSpPr>
          <p:nvPr>
            <p:ph idx="4294967295"/>
          </p:nvPr>
        </p:nvSpPr>
        <p:spPr>
          <a:xfrm>
            <a:off x="8815236" y="1137925"/>
            <a:ext cx="2767157" cy="2796152"/>
          </a:xfrm>
        </p:spPr>
        <p:txBody>
          <a:bodyPr/>
          <a:lstStyle>
            <a:lvl1pPr marL="0" indent="0">
              <a:spcBef>
                <a:spcPts val="300"/>
              </a:spcBef>
              <a:buNone/>
              <a:defRPr sz="1399"/>
            </a:lvl1pPr>
          </a:lstStyle>
          <a:p>
            <a:pPr lvl="0"/>
            <a:r>
              <a:rPr lang="en-US"/>
              <a:t>Text</a:t>
            </a:r>
          </a:p>
        </p:txBody>
      </p:sp>
      <p:sp>
        <p:nvSpPr>
          <p:cNvPr id="6" name="Line 10">
            <a:extLst>
              <a:ext uri="{FF2B5EF4-FFF2-40B4-BE49-F238E27FC236}">
                <a16:creationId xmlns:a16="http://schemas.microsoft.com/office/drawing/2014/main" id="{EF6B2D2D-B309-44DF-254B-4ABAD912DDE4}"/>
              </a:ext>
            </a:extLst>
          </p:cNvPr>
          <p:cNvSpPr/>
          <p:nvPr/>
        </p:nvSpPr>
        <p:spPr>
          <a:xfrm>
            <a:off x="2693895" y="907752"/>
            <a:ext cx="8887373"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7" name="Date Placeholder 3">
            <a:extLst>
              <a:ext uri="{FF2B5EF4-FFF2-40B4-BE49-F238E27FC236}">
                <a16:creationId xmlns:a16="http://schemas.microsoft.com/office/drawing/2014/main" id="{A5CD9EA0-8147-1E00-72C7-8007733D1073}"/>
              </a:ext>
            </a:extLst>
          </p:cNvPr>
          <p:cNvSpPr txBox="1">
            <a:spLocks noGrp="1"/>
          </p:cNvSpPr>
          <p:nvPr>
            <p:ph type="dt" sz="half" idx="7"/>
          </p:nvPr>
        </p:nvSpPr>
        <p:spPr/>
        <p:txBody>
          <a:bodyPr/>
          <a:lstStyle>
            <a:lvl1pPr>
              <a:defRPr/>
            </a:lvl1pPr>
          </a:lstStyle>
          <a:p>
            <a:pPr lvl="0"/>
            <a:fld id="{91BE7EF3-A472-44C3-8036-0C46FFCC43B3}" type="datetime3">
              <a:rPr lang="en-US"/>
              <a:pPr lvl="0"/>
              <a:t>27 November 2025</a:t>
            </a:fld>
            <a:endParaRPr lang="en-IN"/>
          </a:p>
        </p:txBody>
      </p:sp>
      <p:sp>
        <p:nvSpPr>
          <p:cNvPr id="8" name="Footer Placeholder 5">
            <a:extLst>
              <a:ext uri="{FF2B5EF4-FFF2-40B4-BE49-F238E27FC236}">
                <a16:creationId xmlns:a16="http://schemas.microsoft.com/office/drawing/2014/main" id="{A869FF16-DA69-BBD7-3E72-6FCC2E60454E}"/>
              </a:ext>
            </a:extLst>
          </p:cNvPr>
          <p:cNvSpPr txBox="1">
            <a:spLocks noGrp="1"/>
          </p:cNvSpPr>
          <p:nvPr>
            <p:ph type="ftr" sz="quarter" idx="9"/>
          </p:nvPr>
        </p:nvSpPr>
        <p:spPr/>
        <p:txBody>
          <a:bodyPr/>
          <a:lstStyle>
            <a:lvl1pPr>
              <a:defRPr/>
            </a:lvl1pPr>
          </a:lstStyle>
          <a:p>
            <a:pPr lvl="0"/>
            <a:r>
              <a:rPr lang="en-US"/>
              <a:t>Presentation title</a:t>
            </a:r>
          </a:p>
        </p:txBody>
      </p:sp>
      <p:sp>
        <p:nvSpPr>
          <p:cNvPr id="9" name="Slide Number Placeholder 6">
            <a:extLst>
              <a:ext uri="{FF2B5EF4-FFF2-40B4-BE49-F238E27FC236}">
                <a16:creationId xmlns:a16="http://schemas.microsoft.com/office/drawing/2014/main" id="{43779478-1E1C-A30A-8E49-0D3C8F48F5C6}"/>
              </a:ext>
            </a:extLst>
          </p:cNvPr>
          <p:cNvSpPr txBox="1">
            <a:spLocks noGrp="1"/>
          </p:cNvSpPr>
          <p:nvPr>
            <p:ph type="sldNum" sz="quarter" idx="8"/>
          </p:nvPr>
        </p:nvSpPr>
        <p:spPr/>
        <p:txBody>
          <a:bodyPr/>
          <a:lstStyle>
            <a:lvl1pPr>
              <a:defRPr/>
            </a:lvl1pPr>
          </a:lstStyle>
          <a:p>
            <a:pPr lvl="0"/>
            <a:r>
              <a:rPr lang="en-GB"/>
              <a:t>Page </a:t>
            </a:r>
            <a:fld id="{7745DFAE-C6BA-48F8-85F7-D2AF6B7C7A43}" type="slidenum">
              <a:t>‹#›</a:t>
            </a:fld>
            <a:endParaRPr lang="en-IN"/>
          </a:p>
        </p:txBody>
      </p:sp>
    </p:spTree>
    <p:extLst>
      <p:ext uri="{BB962C8B-B14F-4D97-AF65-F5344CB8AC3E}">
        <p14:creationId xmlns:p14="http://schemas.microsoft.com/office/powerpoint/2010/main" val="41390598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Content Placeholder 2">
            <a:extLst>
              <a:ext uri="{FF2B5EF4-FFF2-40B4-BE49-F238E27FC236}">
                <a16:creationId xmlns:a16="http://schemas.microsoft.com/office/drawing/2014/main" id="{C54B1EDF-4540-215B-FCB6-BA51641CBEBE}"/>
              </a:ext>
            </a:extLst>
          </p:cNvPr>
          <p:cNvSpPr txBox="1">
            <a:spLocks noGrp="1"/>
          </p:cNvSpPr>
          <p:nvPr>
            <p:ph idx="1"/>
          </p:nvPr>
        </p:nvSpPr>
        <p:spPr>
          <a:xfrm>
            <a:off x="609603" y="1137915"/>
            <a:ext cx="8234455" cy="4834798"/>
          </a:xfrm>
        </p:spPr>
        <p:txBody>
          <a:bodyPr/>
          <a:lstStyle>
            <a:lvl1pPr marL="0" indent="0">
              <a:spcBef>
                <a:spcPts val="0"/>
              </a:spcBef>
              <a:buNone/>
              <a:defRPr/>
            </a:lvl1pPr>
            <a:lvl2pPr marL="0" indent="0">
              <a:spcBef>
                <a:spcPts val="0"/>
              </a:spcBef>
              <a:buNone/>
              <a:defRPr/>
            </a:lvl2pPr>
            <a:lvl3pPr marL="0" indent="0">
              <a:spcBef>
                <a:spcPts val="0"/>
              </a:spcBef>
              <a:buNone/>
              <a:defRPr/>
            </a:lvl3pPr>
            <a:lvl4pPr marL="0" indent="0">
              <a:spcBef>
                <a:spcPts val="0"/>
              </a:spcBef>
              <a:buNone/>
              <a:defRPr/>
            </a:lvl4pPr>
            <a:lvl5pPr marL="0" indent="0">
              <a:spcBef>
                <a:spcPts val="0"/>
              </a:spcBef>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Line 10">
            <a:extLst>
              <a:ext uri="{FF2B5EF4-FFF2-40B4-BE49-F238E27FC236}">
                <a16:creationId xmlns:a16="http://schemas.microsoft.com/office/drawing/2014/main" id="{96497D83-83CE-9764-3755-61651691AEF4}"/>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4" name="Date Placeholder 3">
            <a:extLst>
              <a:ext uri="{FF2B5EF4-FFF2-40B4-BE49-F238E27FC236}">
                <a16:creationId xmlns:a16="http://schemas.microsoft.com/office/drawing/2014/main" id="{D4B2C860-97D7-0AC1-B40E-89401DE87BAA}"/>
              </a:ext>
            </a:extLst>
          </p:cNvPr>
          <p:cNvSpPr txBox="1">
            <a:spLocks noGrp="1"/>
          </p:cNvSpPr>
          <p:nvPr>
            <p:ph type="dt" sz="half" idx="7"/>
          </p:nvPr>
        </p:nvSpPr>
        <p:spPr/>
        <p:txBody>
          <a:bodyPr/>
          <a:lstStyle>
            <a:lvl1pPr>
              <a:defRPr/>
            </a:lvl1pPr>
          </a:lstStyle>
          <a:p>
            <a:pPr lvl="0"/>
            <a:fld id="{A7E92AAB-C2E4-4995-AEC4-C2D139B12E28}" type="datetime3">
              <a:rPr lang="en-US"/>
              <a:pPr lvl="0"/>
              <a:t>27 November 2025</a:t>
            </a:fld>
            <a:endParaRPr lang="en-IN"/>
          </a:p>
        </p:txBody>
      </p:sp>
      <p:sp>
        <p:nvSpPr>
          <p:cNvPr id="5" name="Footer Placeholder 4">
            <a:extLst>
              <a:ext uri="{FF2B5EF4-FFF2-40B4-BE49-F238E27FC236}">
                <a16:creationId xmlns:a16="http://schemas.microsoft.com/office/drawing/2014/main" id="{BC29F9C1-9EE6-5E9D-54D9-8981857E4935}"/>
              </a:ext>
            </a:extLst>
          </p:cNvPr>
          <p:cNvSpPr txBox="1">
            <a:spLocks noGrp="1"/>
          </p:cNvSpPr>
          <p:nvPr>
            <p:ph type="ftr" sz="quarter" idx="9"/>
          </p:nvPr>
        </p:nvSpPr>
        <p:spPr/>
        <p:txBody>
          <a:bodyPr/>
          <a:lstStyle>
            <a:lvl1pPr>
              <a:defRPr/>
            </a:lvl1pPr>
          </a:lstStyle>
          <a:p>
            <a:pPr lvl="0"/>
            <a:r>
              <a:rPr lang="en-US"/>
              <a:t>Presentation title</a:t>
            </a:r>
          </a:p>
        </p:txBody>
      </p:sp>
      <p:sp>
        <p:nvSpPr>
          <p:cNvPr id="6" name="Slide Number Placeholder 5">
            <a:extLst>
              <a:ext uri="{FF2B5EF4-FFF2-40B4-BE49-F238E27FC236}">
                <a16:creationId xmlns:a16="http://schemas.microsoft.com/office/drawing/2014/main" id="{F4FA1735-4C2B-4FA6-2C29-68AA941D87B0}"/>
              </a:ext>
            </a:extLst>
          </p:cNvPr>
          <p:cNvSpPr txBox="1">
            <a:spLocks noGrp="1"/>
          </p:cNvSpPr>
          <p:nvPr>
            <p:ph type="sldNum" sz="quarter" idx="8"/>
          </p:nvPr>
        </p:nvSpPr>
        <p:spPr/>
        <p:txBody>
          <a:bodyPr/>
          <a:lstStyle>
            <a:lvl1pPr>
              <a:defRPr/>
            </a:lvl1pPr>
          </a:lstStyle>
          <a:p>
            <a:pPr lvl="0"/>
            <a:r>
              <a:rPr lang="en-GB"/>
              <a:t>Page </a:t>
            </a:r>
            <a:fld id="{B8D7B487-2DA1-4D5C-9059-2B1712125D12}" type="slidenum">
              <a:t>‹#›</a:t>
            </a:fld>
            <a:endParaRPr lang="en-IN"/>
          </a:p>
        </p:txBody>
      </p:sp>
    </p:spTree>
    <p:extLst>
      <p:ext uri="{BB962C8B-B14F-4D97-AF65-F5344CB8AC3E}">
        <p14:creationId xmlns:p14="http://schemas.microsoft.com/office/powerpoint/2010/main" val="19734699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3_Standard slide_no bullets">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9EB65C7-A3B3-C00F-9443-C7C80E5825DC}"/>
              </a:ext>
            </a:extLst>
          </p:cNvPr>
          <p:cNvSpPr txBox="1">
            <a:spLocks noGrp="1"/>
          </p:cNvSpPr>
          <p:nvPr>
            <p:ph type="dt" sz="half" idx="7"/>
          </p:nvPr>
        </p:nvSpPr>
        <p:spPr/>
        <p:txBody>
          <a:bodyPr/>
          <a:lstStyle>
            <a:lvl1pPr>
              <a:defRPr/>
            </a:lvl1pPr>
          </a:lstStyle>
          <a:p>
            <a:pPr lvl="0"/>
            <a:fld id="{54E934FE-F2D0-473B-93C0-8A8E633BE649}" type="datetime3">
              <a:rPr lang="en-US"/>
              <a:pPr lvl="0"/>
              <a:t>27 November 2025</a:t>
            </a:fld>
            <a:endParaRPr lang="en-IN"/>
          </a:p>
        </p:txBody>
      </p:sp>
      <p:sp>
        <p:nvSpPr>
          <p:cNvPr id="3" name="Footer Placeholder 2">
            <a:extLst>
              <a:ext uri="{FF2B5EF4-FFF2-40B4-BE49-F238E27FC236}">
                <a16:creationId xmlns:a16="http://schemas.microsoft.com/office/drawing/2014/main" id="{8ECBB977-759A-406E-B0A6-4159857F4331}"/>
              </a:ext>
            </a:extLst>
          </p:cNvPr>
          <p:cNvSpPr txBox="1">
            <a:spLocks noGrp="1"/>
          </p:cNvSpPr>
          <p:nvPr>
            <p:ph type="ftr" sz="quarter" idx="9"/>
          </p:nvPr>
        </p:nvSpPr>
        <p:spPr/>
        <p:txBody>
          <a:bodyPr/>
          <a:lstStyle>
            <a:lvl1pPr>
              <a:defRPr/>
            </a:lvl1pPr>
          </a:lstStyle>
          <a:p>
            <a:pPr lvl="0"/>
            <a:r>
              <a:rPr lang="en-US"/>
              <a:t>Presentation title</a:t>
            </a:r>
          </a:p>
        </p:txBody>
      </p:sp>
      <p:sp>
        <p:nvSpPr>
          <p:cNvPr id="4" name="Slide Number Placeholder 3">
            <a:extLst>
              <a:ext uri="{FF2B5EF4-FFF2-40B4-BE49-F238E27FC236}">
                <a16:creationId xmlns:a16="http://schemas.microsoft.com/office/drawing/2014/main" id="{E27B49CF-2F3C-4EBD-66C3-591DCDC8CD03}"/>
              </a:ext>
            </a:extLst>
          </p:cNvPr>
          <p:cNvSpPr txBox="1">
            <a:spLocks noGrp="1"/>
          </p:cNvSpPr>
          <p:nvPr>
            <p:ph type="sldNum" sz="quarter" idx="8"/>
          </p:nvPr>
        </p:nvSpPr>
        <p:spPr/>
        <p:txBody>
          <a:bodyPr/>
          <a:lstStyle>
            <a:lvl1pPr>
              <a:defRPr/>
            </a:lvl1pPr>
          </a:lstStyle>
          <a:p>
            <a:pPr lvl="0"/>
            <a:r>
              <a:rPr lang="en-GB"/>
              <a:t>Page </a:t>
            </a:r>
            <a:fld id="{E54FF4E2-E3F5-4532-B981-CB1EF4F15012}" type="slidenum">
              <a:t>‹#›</a:t>
            </a:fld>
            <a:endParaRPr lang="en-IN"/>
          </a:p>
        </p:txBody>
      </p:sp>
    </p:spTree>
    <p:extLst>
      <p:ext uri="{BB962C8B-B14F-4D97-AF65-F5344CB8AC3E}">
        <p14:creationId xmlns:p14="http://schemas.microsoft.com/office/powerpoint/2010/main" val="82404746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2_Standard slide_no bullets">
    <p:spTree>
      <p:nvGrpSpPr>
        <p:cNvPr id="1" name=""/>
        <p:cNvGrpSpPr/>
        <p:nvPr/>
      </p:nvGrpSpPr>
      <p:grpSpPr>
        <a:xfrm>
          <a:off x="0" y="0"/>
          <a:ext cx="0" cy="0"/>
          <a:chOff x="0" y="0"/>
          <a:chExt cx="0" cy="0"/>
        </a:xfrm>
      </p:grpSpPr>
      <p:sp>
        <p:nvSpPr>
          <p:cNvPr id="2" name="Text Placeholder 4">
            <a:extLst>
              <a:ext uri="{FF2B5EF4-FFF2-40B4-BE49-F238E27FC236}">
                <a16:creationId xmlns:a16="http://schemas.microsoft.com/office/drawing/2014/main" id="{EB5F4F78-B8EC-A6D6-9CBC-9EC01D24B0A2}"/>
              </a:ext>
            </a:extLst>
          </p:cNvPr>
          <p:cNvSpPr txBox="1">
            <a:spLocks noGrp="1"/>
          </p:cNvSpPr>
          <p:nvPr>
            <p:ph type="body" idx="4294967295"/>
          </p:nvPr>
        </p:nvSpPr>
        <p:spPr>
          <a:xfrm>
            <a:off x="369509" y="2578745"/>
            <a:ext cx="4535597" cy="1055711"/>
          </a:xfrm>
        </p:spPr>
        <p:txBody>
          <a:bodyPr/>
          <a:lstStyle>
            <a:lvl1pPr marL="0" indent="0">
              <a:spcBef>
                <a:spcPts val="700"/>
              </a:spcBef>
              <a:buNone/>
              <a:defRPr lang="en-IN" sz="2999"/>
            </a:lvl1pPr>
            <a:lvl2pPr marL="0" lvl="0" indent="0">
              <a:spcBef>
                <a:spcPts val="700"/>
              </a:spcBef>
              <a:buNone/>
              <a:defRPr lang="en-IN" sz="2999"/>
            </a:lvl2pPr>
          </a:lstStyle>
          <a:p>
            <a:pPr lvl="0"/>
            <a:r>
              <a:rPr lang="en-IN"/>
              <a:t>Chapter Title</a:t>
            </a:r>
          </a:p>
          <a:p>
            <a:pPr lvl="0"/>
            <a:r>
              <a:rPr lang="en-IN"/>
              <a:t>EY Interstate Light</a:t>
            </a:r>
          </a:p>
        </p:txBody>
      </p:sp>
      <p:sp>
        <p:nvSpPr>
          <p:cNvPr id="3" name="Text Placeholder 4">
            <a:extLst>
              <a:ext uri="{FF2B5EF4-FFF2-40B4-BE49-F238E27FC236}">
                <a16:creationId xmlns:a16="http://schemas.microsoft.com/office/drawing/2014/main" id="{D38135FC-3F53-9147-8C61-025CC26C17ED}"/>
              </a:ext>
            </a:extLst>
          </p:cNvPr>
          <p:cNvSpPr txBox="1">
            <a:spLocks noGrp="1"/>
          </p:cNvSpPr>
          <p:nvPr>
            <p:ph type="body" idx="4294967295"/>
          </p:nvPr>
        </p:nvSpPr>
        <p:spPr>
          <a:xfrm>
            <a:off x="369509" y="3840388"/>
            <a:ext cx="4535597" cy="1055711"/>
          </a:xfrm>
        </p:spPr>
        <p:txBody>
          <a:bodyPr/>
          <a:lstStyle>
            <a:lvl1pPr marL="0" indent="0">
              <a:spcBef>
                <a:spcPts val="400"/>
              </a:spcBef>
              <a:buNone/>
              <a:defRPr lang="en-IN" sz="1599"/>
            </a:lvl1pPr>
          </a:lstStyle>
          <a:p>
            <a:pPr lvl="0"/>
            <a:r>
              <a:rPr lang="en-IN"/>
              <a:t>text</a:t>
            </a:r>
          </a:p>
        </p:txBody>
      </p:sp>
      <p:sp>
        <p:nvSpPr>
          <p:cNvPr id="4" name="Date Placeholder 1">
            <a:extLst>
              <a:ext uri="{FF2B5EF4-FFF2-40B4-BE49-F238E27FC236}">
                <a16:creationId xmlns:a16="http://schemas.microsoft.com/office/drawing/2014/main" id="{8F9195B8-F1D6-348C-58D1-BA606B04EBF7}"/>
              </a:ext>
            </a:extLst>
          </p:cNvPr>
          <p:cNvSpPr txBox="1">
            <a:spLocks noGrp="1"/>
          </p:cNvSpPr>
          <p:nvPr>
            <p:ph type="dt" sz="half" idx="7"/>
          </p:nvPr>
        </p:nvSpPr>
        <p:spPr/>
        <p:txBody>
          <a:bodyPr/>
          <a:lstStyle>
            <a:lvl1pPr>
              <a:defRPr/>
            </a:lvl1pPr>
          </a:lstStyle>
          <a:p>
            <a:pPr lvl="0"/>
            <a:fld id="{9474FBFE-285F-42B4-AC17-40FBCBDE7767}" type="datetime3">
              <a:rPr lang="en-US"/>
              <a:pPr lvl="0"/>
              <a:t>27 November 2025</a:t>
            </a:fld>
            <a:endParaRPr lang="en-IN"/>
          </a:p>
        </p:txBody>
      </p:sp>
      <p:sp>
        <p:nvSpPr>
          <p:cNvPr id="5" name="Footer Placeholder 2">
            <a:extLst>
              <a:ext uri="{FF2B5EF4-FFF2-40B4-BE49-F238E27FC236}">
                <a16:creationId xmlns:a16="http://schemas.microsoft.com/office/drawing/2014/main" id="{DA6C1D4F-CB1E-B4A3-9A37-0C5971EAC3D1}"/>
              </a:ext>
            </a:extLst>
          </p:cNvPr>
          <p:cNvSpPr txBox="1">
            <a:spLocks noGrp="1"/>
          </p:cNvSpPr>
          <p:nvPr>
            <p:ph type="ftr" sz="quarter" idx="9"/>
          </p:nvPr>
        </p:nvSpPr>
        <p:spPr/>
        <p:txBody>
          <a:bodyPr/>
          <a:lstStyle>
            <a:lvl1pPr>
              <a:defRPr/>
            </a:lvl1pPr>
          </a:lstStyle>
          <a:p>
            <a:pPr lvl="0"/>
            <a:r>
              <a:rPr lang="en-US"/>
              <a:t>Presentation title</a:t>
            </a:r>
          </a:p>
        </p:txBody>
      </p:sp>
      <p:sp>
        <p:nvSpPr>
          <p:cNvPr id="6" name="Slide Number Placeholder 3">
            <a:extLst>
              <a:ext uri="{FF2B5EF4-FFF2-40B4-BE49-F238E27FC236}">
                <a16:creationId xmlns:a16="http://schemas.microsoft.com/office/drawing/2014/main" id="{C64E284A-C458-1335-C470-5D54F3291A39}"/>
              </a:ext>
            </a:extLst>
          </p:cNvPr>
          <p:cNvSpPr txBox="1">
            <a:spLocks noGrp="1"/>
          </p:cNvSpPr>
          <p:nvPr>
            <p:ph type="sldNum" sz="quarter" idx="8"/>
          </p:nvPr>
        </p:nvSpPr>
        <p:spPr/>
        <p:txBody>
          <a:bodyPr/>
          <a:lstStyle>
            <a:lvl1pPr>
              <a:defRPr/>
            </a:lvl1pPr>
          </a:lstStyle>
          <a:p>
            <a:pPr lvl="0"/>
            <a:r>
              <a:rPr lang="en-GB"/>
              <a:t>Page </a:t>
            </a:r>
            <a:fld id="{598195FD-A06B-4330-AC31-F6407435E978}" type="slidenum">
              <a:t>‹#›</a:t>
            </a:fld>
            <a:endParaRPr lang="en-IN"/>
          </a:p>
        </p:txBody>
      </p:sp>
    </p:spTree>
    <p:extLst>
      <p:ext uri="{BB962C8B-B14F-4D97-AF65-F5344CB8AC3E}">
        <p14:creationId xmlns:p14="http://schemas.microsoft.com/office/powerpoint/2010/main" val="110720512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1_Standard slide_no bullets">
    <p:spTree>
      <p:nvGrpSpPr>
        <p:cNvPr id="1" name=""/>
        <p:cNvGrpSpPr/>
        <p:nvPr/>
      </p:nvGrpSpPr>
      <p:grpSpPr>
        <a:xfrm>
          <a:off x="0" y="0"/>
          <a:ext cx="0" cy="0"/>
          <a:chOff x="0" y="0"/>
          <a:chExt cx="0" cy="0"/>
        </a:xfrm>
      </p:grpSpPr>
      <p:sp>
        <p:nvSpPr>
          <p:cNvPr id="2" name="Table Placeholder 4">
            <a:extLst>
              <a:ext uri="{FF2B5EF4-FFF2-40B4-BE49-F238E27FC236}">
                <a16:creationId xmlns:a16="http://schemas.microsoft.com/office/drawing/2014/main" id="{F4B0B00A-BA61-B38C-AC1C-601C1DF712F6}"/>
              </a:ext>
            </a:extLst>
          </p:cNvPr>
          <p:cNvSpPr txBox="1">
            <a:spLocks noGrp="1"/>
          </p:cNvSpPr>
          <p:nvPr>
            <p:ph type="tbl" idx="4294967295"/>
          </p:nvPr>
        </p:nvSpPr>
        <p:spPr>
          <a:xfrm>
            <a:off x="609603" y="1137925"/>
            <a:ext cx="4954923" cy="4267459"/>
          </a:xfrm>
        </p:spPr>
        <p:txBody>
          <a:bodyPr/>
          <a:lstStyle>
            <a:lvl1pPr>
              <a:defRPr lang="en-IN"/>
            </a:lvl1pPr>
          </a:lstStyle>
          <a:p>
            <a:pPr lvl="0"/>
            <a:endParaRPr lang="en-IN"/>
          </a:p>
        </p:txBody>
      </p:sp>
      <p:sp>
        <p:nvSpPr>
          <p:cNvPr id="3" name="Text Placeholder 16">
            <a:extLst>
              <a:ext uri="{FF2B5EF4-FFF2-40B4-BE49-F238E27FC236}">
                <a16:creationId xmlns:a16="http://schemas.microsoft.com/office/drawing/2014/main" id="{7CDC225D-77FA-E6AF-A3F2-D0E062D3211C}"/>
              </a:ext>
            </a:extLst>
          </p:cNvPr>
          <p:cNvSpPr txBox="1">
            <a:spLocks noGrp="1"/>
          </p:cNvSpPr>
          <p:nvPr>
            <p:ph type="body" idx="4294967295"/>
          </p:nvPr>
        </p:nvSpPr>
        <p:spPr>
          <a:xfrm>
            <a:off x="7129750" y="3813285"/>
            <a:ext cx="3087663" cy="179999"/>
          </a:xfrm>
        </p:spPr>
        <p:txBody>
          <a:bodyPr/>
          <a:lstStyle>
            <a:lvl1pPr marL="0" indent="0">
              <a:spcBef>
                <a:spcPts val="300"/>
              </a:spcBef>
              <a:buNone/>
              <a:defRPr sz="1199"/>
            </a:lvl1pPr>
          </a:lstStyle>
          <a:p>
            <a:pPr lvl="0"/>
            <a:r>
              <a:rPr lang="en-US"/>
              <a:t>Name Surname</a:t>
            </a:r>
            <a:endParaRPr lang="en-GB"/>
          </a:p>
        </p:txBody>
      </p:sp>
      <p:sp>
        <p:nvSpPr>
          <p:cNvPr id="4" name="Text Placeholder 16">
            <a:extLst>
              <a:ext uri="{FF2B5EF4-FFF2-40B4-BE49-F238E27FC236}">
                <a16:creationId xmlns:a16="http://schemas.microsoft.com/office/drawing/2014/main" id="{3510232C-E785-57B5-19B9-E9E0615C1051}"/>
              </a:ext>
            </a:extLst>
          </p:cNvPr>
          <p:cNvSpPr txBox="1">
            <a:spLocks noGrp="1"/>
          </p:cNvSpPr>
          <p:nvPr>
            <p:ph type="body" idx="4294967295"/>
          </p:nvPr>
        </p:nvSpPr>
        <p:spPr>
          <a:xfrm>
            <a:off x="7129750" y="4055930"/>
            <a:ext cx="3087663" cy="179999"/>
          </a:xfrm>
        </p:spPr>
        <p:txBody>
          <a:bodyPr/>
          <a:lstStyle>
            <a:lvl1pPr marL="0" indent="0">
              <a:spcBef>
                <a:spcPts val="300"/>
              </a:spcBef>
              <a:buNone/>
              <a:defRPr sz="1199"/>
            </a:lvl1pPr>
          </a:lstStyle>
          <a:p>
            <a:pPr lvl="0"/>
            <a:r>
              <a:rPr lang="en-US"/>
              <a:t>Job Title to go here</a:t>
            </a:r>
            <a:endParaRPr lang="en-GB"/>
          </a:p>
        </p:txBody>
      </p:sp>
      <p:sp>
        <p:nvSpPr>
          <p:cNvPr id="5" name="Picture Placeholder 19">
            <a:extLst>
              <a:ext uri="{FF2B5EF4-FFF2-40B4-BE49-F238E27FC236}">
                <a16:creationId xmlns:a16="http://schemas.microsoft.com/office/drawing/2014/main" id="{F31F4E98-6308-C49D-ECE1-3C336EFD49ED}"/>
              </a:ext>
            </a:extLst>
          </p:cNvPr>
          <p:cNvSpPr txBox="1">
            <a:spLocks noGrp="1"/>
          </p:cNvSpPr>
          <p:nvPr>
            <p:ph type="pic" idx="4294967295"/>
          </p:nvPr>
        </p:nvSpPr>
        <p:spPr>
          <a:xfrm>
            <a:off x="6119823" y="3578083"/>
            <a:ext cx="778556" cy="778959"/>
          </a:xfrm>
        </p:spPr>
        <p:txBody>
          <a:bodyPr anchor="ctr" anchorCtr="1"/>
          <a:lstStyle>
            <a:lvl1pPr marL="0" indent="0" algn="ctr">
              <a:spcBef>
                <a:spcPts val="200"/>
              </a:spcBef>
              <a:buNone/>
              <a:defRPr lang="en-GB" sz="900"/>
            </a:lvl1pPr>
          </a:lstStyle>
          <a:p>
            <a:pPr lvl="0"/>
            <a:endParaRPr lang="en-GB"/>
          </a:p>
        </p:txBody>
      </p:sp>
      <p:sp>
        <p:nvSpPr>
          <p:cNvPr id="6" name="Text Placeholder 8">
            <a:extLst>
              <a:ext uri="{FF2B5EF4-FFF2-40B4-BE49-F238E27FC236}">
                <a16:creationId xmlns:a16="http://schemas.microsoft.com/office/drawing/2014/main" id="{9D0544F1-51F0-02F0-A1CD-127774C7FB21}"/>
              </a:ext>
            </a:extLst>
          </p:cNvPr>
          <p:cNvSpPr txBox="1">
            <a:spLocks noGrp="1"/>
          </p:cNvSpPr>
          <p:nvPr>
            <p:ph type="body" idx="4294967295"/>
          </p:nvPr>
        </p:nvSpPr>
        <p:spPr>
          <a:xfrm>
            <a:off x="6119823" y="1137925"/>
            <a:ext cx="5462579" cy="373806"/>
          </a:xfrm>
        </p:spPr>
        <p:txBody>
          <a:bodyPr/>
          <a:lstStyle>
            <a:lvl1pPr marL="0" indent="0">
              <a:buNone/>
              <a:defRPr/>
            </a:lvl1pPr>
          </a:lstStyle>
          <a:p>
            <a:pPr lvl="0"/>
            <a:r>
              <a:rPr lang="en-US"/>
              <a:t>Key Takeaways</a:t>
            </a:r>
          </a:p>
        </p:txBody>
      </p:sp>
      <p:sp>
        <p:nvSpPr>
          <p:cNvPr id="7" name="Text Placeholder 8">
            <a:extLst>
              <a:ext uri="{FF2B5EF4-FFF2-40B4-BE49-F238E27FC236}">
                <a16:creationId xmlns:a16="http://schemas.microsoft.com/office/drawing/2014/main" id="{24A56699-75F6-AFBA-133C-915718477BC7}"/>
              </a:ext>
            </a:extLst>
          </p:cNvPr>
          <p:cNvSpPr txBox="1">
            <a:spLocks noGrp="1"/>
          </p:cNvSpPr>
          <p:nvPr>
            <p:ph type="body" idx="4294967295"/>
          </p:nvPr>
        </p:nvSpPr>
        <p:spPr>
          <a:xfrm>
            <a:off x="6119823" y="1635011"/>
            <a:ext cx="5462579" cy="1611556"/>
          </a:xfrm>
        </p:spPr>
        <p:txBody>
          <a:bodyPr/>
          <a:lstStyle>
            <a:lvl1pPr marL="0" indent="0">
              <a:spcBef>
                <a:spcPts val="400"/>
              </a:spcBef>
              <a:buNone/>
              <a:defRPr sz="1599"/>
            </a:lvl1pPr>
            <a:lvl2pPr marL="0" lvl="0" indent="0">
              <a:buNone/>
              <a:defRPr sz="1599"/>
            </a:lvl2pPr>
          </a:lstStyle>
          <a:p>
            <a:pPr lvl="0"/>
            <a:r>
              <a:rPr lang="en-US"/>
              <a:t>Content EY Interstate Light, 16pt, Lorem ipsum dolor, 12pt, Utinam nonumy abhorreant sead. Putant probatus id vis, ad his meis habemus repudiare, has an pericula tractatos. Nec debitis dissentias ad. Patrioque voluptatum sed ex, id admodum.</a:t>
            </a:r>
          </a:p>
          <a:p>
            <a:pPr lvl="0"/>
            <a:endParaRPr lang="en-US"/>
          </a:p>
        </p:txBody>
      </p:sp>
      <p:sp>
        <p:nvSpPr>
          <p:cNvPr id="8" name="Line 10">
            <a:extLst>
              <a:ext uri="{FF2B5EF4-FFF2-40B4-BE49-F238E27FC236}">
                <a16:creationId xmlns:a16="http://schemas.microsoft.com/office/drawing/2014/main" id="{AFF941B5-3F14-CAD0-C6A4-338F6651FBB7}"/>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9" name="Date Placeholder 2">
            <a:extLst>
              <a:ext uri="{FF2B5EF4-FFF2-40B4-BE49-F238E27FC236}">
                <a16:creationId xmlns:a16="http://schemas.microsoft.com/office/drawing/2014/main" id="{93FBB340-41A3-3D49-15B1-083DBA5B66CB}"/>
              </a:ext>
            </a:extLst>
          </p:cNvPr>
          <p:cNvSpPr txBox="1">
            <a:spLocks noGrp="1"/>
          </p:cNvSpPr>
          <p:nvPr>
            <p:ph type="dt" sz="half" idx="7"/>
          </p:nvPr>
        </p:nvSpPr>
        <p:spPr/>
        <p:txBody>
          <a:bodyPr/>
          <a:lstStyle>
            <a:lvl1pPr>
              <a:defRPr/>
            </a:lvl1pPr>
          </a:lstStyle>
          <a:p>
            <a:pPr lvl="0"/>
            <a:fld id="{DF19718F-CDA5-4994-8F84-537BB3A0F25C}" type="datetime3">
              <a:rPr lang="en-US"/>
              <a:pPr lvl="0"/>
              <a:t>27 November 2025</a:t>
            </a:fld>
            <a:endParaRPr lang="en-IN"/>
          </a:p>
        </p:txBody>
      </p:sp>
      <p:sp>
        <p:nvSpPr>
          <p:cNvPr id="10" name="Footer Placeholder 3">
            <a:extLst>
              <a:ext uri="{FF2B5EF4-FFF2-40B4-BE49-F238E27FC236}">
                <a16:creationId xmlns:a16="http://schemas.microsoft.com/office/drawing/2014/main" id="{70F37D56-7BA2-203C-1219-D1D5FAAE9B53}"/>
              </a:ext>
            </a:extLst>
          </p:cNvPr>
          <p:cNvSpPr txBox="1">
            <a:spLocks noGrp="1"/>
          </p:cNvSpPr>
          <p:nvPr>
            <p:ph type="ftr" sz="quarter" idx="9"/>
          </p:nvPr>
        </p:nvSpPr>
        <p:spPr/>
        <p:txBody>
          <a:bodyPr/>
          <a:lstStyle>
            <a:lvl1pPr>
              <a:defRPr/>
            </a:lvl1pPr>
          </a:lstStyle>
          <a:p>
            <a:pPr lvl="0"/>
            <a:r>
              <a:rPr lang="en-US"/>
              <a:t>Presentation title</a:t>
            </a:r>
          </a:p>
        </p:txBody>
      </p:sp>
      <p:sp>
        <p:nvSpPr>
          <p:cNvPr id="11" name="Slide Number Placeholder 5">
            <a:extLst>
              <a:ext uri="{FF2B5EF4-FFF2-40B4-BE49-F238E27FC236}">
                <a16:creationId xmlns:a16="http://schemas.microsoft.com/office/drawing/2014/main" id="{E174FB03-C28D-1AA0-D7DE-1B931155FA39}"/>
              </a:ext>
            </a:extLst>
          </p:cNvPr>
          <p:cNvSpPr txBox="1">
            <a:spLocks noGrp="1"/>
          </p:cNvSpPr>
          <p:nvPr>
            <p:ph type="sldNum" sz="quarter" idx="8"/>
          </p:nvPr>
        </p:nvSpPr>
        <p:spPr/>
        <p:txBody>
          <a:bodyPr/>
          <a:lstStyle>
            <a:lvl1pPr>
              <a:defRPr/>
            </a:lvl1pPr>
          </a:lstStyle>
          <a:p>
            <a:pPr lvl="0"/>
            <a:r>
              <a:rPr lang="en-GB"/>
              <a:t>Page </a:t>
            </a:r>
            <a:fld id="{02E2730D-47DD-47F8-B67D-E6D85568B70D}" type="slidenum">
              <a:t>‹#›</a:t>
            </a:fld>
            <a:endParaRPr lang="en-IN"/>
          </a:p>
        </p:txBody>
      </p:sp>
    </p:spTree>
    <p:extLst>
      <p:ext uri="{BB962C8B-B14F-4D97-AF65-F5344CB8AC3E}">
        <p14:creationId xmlns:p14="http://schemas.microsoft.com/office/powerpoint/2010/main" val="173928038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Standard slide_Quotes">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92993BE7-417C-A4CA-F68C-C1BF14E4FBD4}"/>
              </a:ext>
            </a:extLst>
          </p:cNvPr>
          <p:cNvSpPr txBox="1">
            <a:spLocks noGrp="1"/>
          </p:cNvSpPr>
          <p:nvPr>
            <p:ph type="ftr" sz="quarter" idx="9"/>
          </p:nvPr>
        </p:nvSpPr>
        <p:spPr/>
        <p:txBody>
          <a:bodyPr/>
          <a:lstStyle>
            <a:lvl1pPr>
              <a:defRPr/>
            </a:lvl1pPr>
          </a:lstStyle>
          <a:p>
            <a:pPr lvl="0"/>
            <a:r>
              <a:rPr lang="en-US"/>
              <a:t>Presentation title</a:t>
            </a:r>
          </a:p>
        </p:txBody>
      </p:sp>
      <p:sp>
        <p:nvSpPr>
          <p:cNvPr id="3" name="Slide Number Placeholder 4">
            <a:extLst>
              <a:ext uri="{FF2B5EF4-FFF2-40B4-BE49-F238E27FC236}">
                <a16:creationId xmlns:a16="http://schemas.microsoft.com/office/drawing/2014/main" id="{25DBF4AF-6892-56D7-53DF-BCC4E3451001}"/>
              </a:ext>
            </a:extLst>
          </p:cNvPr>
          <p:cNvSpPr txBox="1">
            <a:spLocks noGrp="1"/>
          </p:cNvSpPr>
          <p:nvPr>
            <p:ph type="sldNum" sz="quarter" idx="8"/>
          </p:nvPr>
        </p:nvSpPr>
        <p:spPr/>
        <p:txBody>
          <a:bodyPr/>
          <a:lstStyle>
            <a:lvl1pPr>
              <a:defRPr/>
            </a:lvl1pPr>
          </a:lstStyle>
          <a:p>
            <a:pPr lvl="0"/>
            <a:r>
              <a:rPr lang="en-GB"/>
              <a:t>Page </a:t>
            </a:r>
            <a:fld id="{3D19AA32-FB04-4151-9958-375A24735D38}" type="slidenum">
              <a:t>‹#›</a:t>
            </a:fld>
            <a:endParaRPr lang="en-IN"/>
          </a:p>
        </p:txBody>
      </p:sp>
    </p:spTree>
    <p:extLst>
      <p:ext uri="{BB962C8B-B14F-4D97-AF65-F5344CB8AC3E}">
        <p14:creationId xmlns:p14="http://schemas.microsoft.com/office/powerpoint/2010/main" val="308127852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2_Standard slide_Quotes">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666EA736-C112-FF2D-4B75-7C1B1706F3C3}"/>
              </a:ext>
            </a:extLst>
          </p:cNvPr>
          <p:cNvSpPr txBox="1">
            <a:spLocks noGrp="1"/>
          </p:cNvSpPr>
          <p:nvPr>
            <p:ph type="body" idx="4294967295"/>
          </p:nvPr>
        </p:nvSpPr>
        <p:spPr>
          <a:xfrm>
            <a:off x="3451375" y="5506681"/>
            <a:ext cx="5289246" cy="316839"/>
          </a:xfrm>
        </p:spPr>
        <p:txBody>
          <a:bodyPr anchorCtr="1"/>
          <a:lstStyle>
            <a:lvl1pPr algn="ctr">
              <a:spcBef>
                <a:spcPts val="0"/>
              </a:spcBef>
              <a:spcAft>
                <a:spcPts val="600"/>
              </a:spcAft>
              <a:buNone/>
              <a:defRPr sz="1599">
                <a:solidFill>
                  <a:srgbClr val="FFE600"/>
                </a:solidFill>
                <a:latin typeface="EYInterstate Light"/>
              </a:defRPr>
            </a:lvl1pPr>
          </a:lstStyle>
          <a:p>
            <a:pPr lvl="0"/>
            <a:r>
              <a:rPr lang="en-US"/>
              <a:t>Name Surname</a:t>
            </a:r>
          </a:p>
        </p:txBody>
      </p:sp>
      <p:sp>
        <p:nvSpPr>
          <p:cNvPr id="3" name="Text Placeholder 6">
            <a:extLst>
              <a:ext uri="{FF2B5EF4-FFF2-40B4-BE49-F238E27FC236}">
                <a16:creationId xmlns:a16="http://schemas.microsoft.com/office/drawing/2014/main" id="{103E1C15-8B6D-D01B-5FD3-F705291F74A5}"/>
              </a:ext>
            </a:extLst>
          </p:cNvPr>
          <p:cNvSpPr txBox="1">
            <a:spLocks noGrp="1"/>
          </p:cNvSpPr>
          <p:nvPr>
            <p:ph type="body" idx="4294967295"/>
          </p:nvPr>
        </p:nvSpPr>
        <p:spPr>
          <a:xfrm>
            <a:off x="3451375" y="5818720"/>
            <a:ext cx="5289246" cy="316839"/>
          </a:xfrm>
        </p:spPr>
        <p:txBody>
          <a:bodyPr anchorCtr="1"/>
          <a:lstStyle>
            <a:lvl1pPr algn="ctr">
              <a:spcBef>
                <a:spcPts val="0"/>
              </a:spcBef>
              <a:spcAft>
                <a:spcPts val="600"/>
              </a:spcAft>
              <a:buNone/>
              <a:defRPr sz="1599">
                <a:latin typeface="EYInterstate Light"/>
              </a:defRPr>
            </a:lvl1pPr>
          </a:lstStyle>
          <a:p>
            <a:pPr lvl="0"/>
            <a:r>
              <a:rPr lang="en-US"/>
              <a:t>Job Title</a:t>
            </a:r>
          </a:p>
        </p:txBody>
      </p:sp>
      <p:sp>
        <p:nvSpPr>
          <p:cNvPr id="4" name="Text Placeholder 11">
            <a:extLst>
              <a:ext uri="{FF2B5EF4-FFF2-40B4-BE49-F238E27FC236}">
                <a16:creationId xmlns:a16="http://schemas.microsoft.com/office/drawing/2014/main" id="{885E7B03-6CBF-FDCF-4DFB-B5361ACE1269}"/>
              </a:ext>
            </a:extLst>
          </p:cNvPr>
          <p:cNvSpPr txBox="1"/>
          <p:nvPr/>
        </p:nvSpPr>
        <p:spPr>
          <a:xfrm>
            <a:off x="4927418" y="979788"/>
            <a:ext cx="2337169" cy="882688"/>
          </a:xfrm>
          <a:prstGeom prst="rect">
            <a:avLst/>
          </a:prstGeom>
          <a:noFill/>
          <a:ln cap="flat">
            <a:noFill/>
          </a:ln>
        </p:spPr>
        <p:txBody>
          <a:bodyPr vert="horz" wrap="square" lIns="0" tIns="0" rIns="0" bIns="0" anchor="t" anchorCtr="1" compatLnSpc="1">
            <a:noAutofit/>
          </a:bodyPr>
          <a:lstStyle/>
          <a:p>
            <a:pPr marL="0" marR="0" lvl="0" indent="0" algn="ctr" defTabSz="914400" rtl="0" fontAlgn="auto" hangingPunct="1">
              <a:lnSpc>
                <a:spcPct val="100000"/>
              </a:lnSpc>
              <a:spcBef>
                <a:spcPts val="2700"/>
              </a:spcBef>
              <a:spcAft>
                <a:spcPts val="0"/>
              </a:spcAft>
              <a:buNone/>
              <a:tabLst/>
              <a:defRPr sz="1800" b="0" i="0" u="none" strike="noStrike" kern="0" cap="none" spc="0" baseline="0">
                <a:solidFill>
                  <a:srgbClr val="000000"/>
                </a:solidFill>
                <a:uFillTx/>
              </a:defRPr>
            </a:pPr>
            <a:r>
              <a:rPr lang="en-GB" sz="11194" b="0" i="0" u="none" strike="noStrike" kern="1200" cap="none" spc="0" baseline="0">
                <a:solidFill>
                  <a:srgbClr val="FFE600"/>
                </a:solidFill>
                <a:uFillTx/>
                <a:latin typeface="Georgia" pitchFamily="18"/>
              </a:rPr>
              <a:t>“ </a:t>
            </a:r>
          </a:p>
        </p:txBody>
      </p:sp>
    </p:spTree>
    <p:extLst>
      <p:ext uri="{BB962C8B-B14F-4D97-AF65-F5344CB8AC3E}">
        <p14:creationId xmlns:p14="http://schemas.microsoft.com/office/powerpoint/2010/main" val="386400887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1_Standard slide_Quotes">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DBD1FCA9-A69C-A76C-B255-7626FC0EF6D8}"/>
              </a:ext>
            </a:extLst>
          </p:cNvPr>
          <p:cNvSpPr txBox="1">
            <a:spLocks noGrp="1"/>
          </p:cNvSpPr>
          <p:nvPr>
            <p:ph type="body" idx="4294967295"/>
          </p:nvPr>
        </p:nvSpPr>
        <p:spPr>
          <a:xfrm>
            <a:off x="513078" y="2526761"/>
            <a:ext cx="5289246" cy="1799996"/>
          </a:xfrm>
        </p:spPr>
        <p:txBody>
          <a:bodyPr lIns="90004" tIns="46798" rIns="90004" bIns="46798"/>
          <a:lstStyle>
            <a:lvl1pPr>
              <a:spcBef>
                <a:spcPts val="0"/>
              </a:spcBef>
              <a:buNone/>
              <a:defRPr sz="2799">
                <a:latin typeface="Georgia" pitchFamily="18"/>
              </a:defRPr>
            </a:lvl1pPr>
          </a:lstStyle>
          <a:p>
            <a:pPr lvl="0"/>
            <a:r>
              <a:rPr lang="en-US"/>
              <a:t>Edit Master text styles</a:t>
            </a:r>
          </a:p>
        </p:txBody>
      </p:sp>
      <p:sp>
        <p:nvSpPr>
          <p:cNvPr id="3" name="Text Placeholder 6">
            <a:extLst>
              <a:ext uri="{FF2B5EF4-FFF2-40B4-BE49-F238E27FC236}">
                <a16:creationId xmlns:a16="http://schemas.microsoft.com/office/drawing/2014/main" id="{B7CAAC41-00B7-56E0-FBCC-90CA06F0DD70}"/>
              </a:ext>
            </a:extLst>
          </p:cNvPr>
          <p:cNvSpPr txBox="1">
            <a:spLocks noGrp="1"/>
          </p:cNvSpPr>
          <p:nvPr>
            <p:ph type="body" idx="4294967295"/>
          </p:nvPr>
        </p:nvSpPr>
        <p:spPr>
          <a:xfrm>
            <a:off x="513078" y="4632761"/>
            <a:ext cx="5289246" cy="316839"/>
          </a:xfrm>
        </p:spPr>
        <p:txBody>
          <a:bodyPr lIns="90004" tIns="46798" rIns="90004" bIns="46798"/>
          <a:lstStyle>
            <a:lvl1pPr marL="0" indent="0">
              <a:spcBef>
                <a:spcPts val="0"/>
              </a:spcBef>
              <a:spcAft>
                <a:spcPts val="600"/>
              </a:spcAft>
              <a:buNone/>
              <a:defRPr sz="1599">
                <a:solidFill>
                  <a:srgbClr val="FFE600"/>
                </a:solidFill>
                <a:latin typeface="EYInterstate Light"/>
              </a:defRPr>
            </a:lvl1pPr>
          </a:lstStyle>
          <a:p>
            <a:pPr lvl="0"/>
            <a:r>
              <a:rPr lang="en-US"/>
              <a:t>Name Surname</a:t>
            </a:r>
          </a:p>
        </p:txBody>
      </p:sp>
      <p:sp>
        <p:nvSpPr>
          <p:cNvPr id="4" name="Text Placeholder 6">
            <a:extLst>
              <a:ext uri="{FF2B5EF4-FFF2-40B4-BE49-F238E27FC236}">
                <a16:creationId xmlns:a16="http://schemas.microsoft.com/office/drawing/2014/main" id="{3F5E3173-164A-999C-C737-4D996C41D8C7}"/>
              </a:ext>
            </a:extLst>
          </p:cNvPr>
          <p:cNvSpPr txBox="1">
            <a:spLocks noGrp="1"/>
          </p:cNvSpPr>
          <p:nvPr>
            <p:ph type="body" idx="4294967295"/>
          </p:nvPr>
        </p:nvSpPr>
        <p:spPr>
          <a:xfrm>
            <a:off x="513078" y="4971446"/>
            <a:ext cx="5289246" cy="316839"/>
          </a:xfrm>
        </p:spPr>
        <p:txBody>
          <a:bodyPr lIns="90004" tIns="46798" rIns="90004" bIns="46798"/>
          <a:lstStyle>
            <a:lvl1pPr marL="0" indent="0">
              <a:spcBef>
                <a:spcPts val="0"/>
              </a:spcBef>
              <a:spcAft>
                <a:spcPts val="600"/>
              </a:spcAft>
              <a:buNone/>
              <a:defRPr sz="1599">
                <a:latin typeface="EYInterstate Light"/>
              </a:defRPr>
            </a:lvl1pPr>
          </a:lstStyle>
          <a:p>
            <a:pPr lvl="0"/>
            <a:r>
              <a:rPr lang="en-US"/>
              <a:t>Job Title</a:t>
            </a:r>
          </a:p>
        </p:txBody>
      </p:sp>
    </p:spTree>
    <p:extLst>
      <p:ext uri="{BB962C8B-B14F-4D97-AF65-F5344CB8AC3E}">
        <p14:creationId xmlns:p14="http://schemas.microsoft.com/office/powerpoint/2010/main" val="285832325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Content Placeholder 2">
            <a:extLst>
              <a:ext uri="{FF2B5EF4-FFF2-40B4-BE49-F238E27FC236}">
                <a16:creationId xmlns:a16="http://schemas.microsoft.com/office/drawing/2014/main" id="{D1D51F86-C44F-CB26-A2C7-1F1BEFA0E2EC}"/>
              </a:ext>
            </a:extLst>
          </p:cNvPr>
          <p:cNvSpPr txBox="1">
            <a:spLocks noGrp="1"/>
          </p:cNvSpPr>
          <p:nvPr>
            <p:ph idx="1"/>
          </p:nvPr>
        </p:nvSpPr>
        <p:spPr>
          <a:xfrm>
            <a:off x="609603" y="1137915"/>
            <a:ext cx="8234455" cy="4834798"/>
          </a:xfrm>
        </p:spPr>
        <p:txBody>
          <a:bodyPr/>
          <a:lstStyle>
            <a:lvl1pPr marL="0" indent="0">
              <a:buNone/>
              <a:defRPr/>
            </a:lvl1pPr>
            <a:lvl2pPr marL="356442">
              <a:defRPr/>
            </a:lvl2pPr>
            <a:lvl3pPr marL="712875">
              <a:defRPr/>
            </a:lvl3pPr>
            <a:lvl4pPr marL="1069308">
              <a:defRPr/>
            </a:lvl4pPr>
            <a:lvl5pPr marL="142575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Line 10">
            <a:extLst>
              <a:ext uri="{FF2B5EF4-FFF2-40B4-BE49-F238E27FC236}">
                <a16:creationId xmlns:a16="http://schemas.microsoft.com/office/drawing/2014/main" id="{7AA68250-5206-FBBE-D86C-00C3036E5A69}"/>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4" name="Date Placeholder 3">
            <a:extLst>
              <a:ext uri="{FF2B5EF4-FFF2-40B4-BE49-F238E27FC236}">
                <a16:creationId xmlns:a16="http://schemas.microsoft.com/office/drawing/2014/main" id="{C59BB661-131D-A18E-D798-AA047ABB720F}"/>
              </a:ext>
            </a:extLst>
          </p:cNvPr>
          <p:cNvSpPr txBox="1">
            <a:spLocks noGrp="1"/>
          </p:cNvSpPr>
          <p:nvPr>
            <p:ph type="dt" sz="half" idx="7"/>
          </p:nvPr>
        </p:nvSpPr>
        <p:spPr/>
        <p:txBody>
          <a:bodyPr/>
          <a:lstStyle>
            <a:lvl1pPr>
              <a:defRPr/>
            </a:lvl1pPr>
          </a:lstStyle>
          <a:p>
            <a:pPr lvl="0"/>
            <a:fld id="{435B430E-B11C-466A-8D32-10CE861EF6A7}" type="datetime3">
              <a:rPr lang="en-US"/>
              <a:pPr lvl="0"/>
              <a:t>27 November 2025</a:t>
            </a:fld>
            <a:endParaRPr lang="en-IN"/>
          </a:p>
        </p:txBody>
      </p:sp>
      <p:sp>
        <p:nvSpPr>
          <p:cNvPr id="5" name="Footer Placeholder 4">
            <a:extLst>
              <a:ext uri="{FF2B5EF4-FFF2-40B4-BE49-F238E27FC236}">
                <a16:creationId xmlns:a16="http://schemas.microsoft.com/office/drawing/2014/main" id="{C559CCB5-AA5D-5F30-B743-01E2E331C652}"/>
              </a:ext>
            </a:extLst>
          </p:cNvPr>
          <p:cNvSpPr txBox="1">
            <a:spLocks noGrp="1"/>
          </p:cNvSpPr>
          <p:nvPr>
            <p:ph type="ftr" sz="quarter" idx="9"/>
          </p:nvPr>
        </p:nvSpPr>
        <p:spPr/>
        <p:txBody>
          <a:bodyPr/>
          <a:lstStyle>
            <a:lvl1pPr>
              <a:defRPr/>
            </a:lvl1pPr>
          </a:lstStyle>
          <a:p>
            <a:pPr lvl="0"/>
            <a:r>
              <a:rPr lang="en-US"/>
              <a:t>Presentation title</a:t>
            </a:r>
          </a:p>
        </p:txBody>
      </p:sp>
      <p:sp>
        <p:nvSpPr>
          <p:cNvPr id="6" name="Slide Number Placeholder 5">
            <a:extLst>
              <a:ext uri="{FF2B5EF4-FFF2-40B4-BE49-F238E27FC236}">
                <a16:creationId xmlns:a16="http://schemas.microsoft.com/office/drawing/2014/main" id="{ABE02E94-7CE6-5D58-CBF0-BC465A44B0F0}"/>
              </a:ext>
            </a:extLst>
          </p:cNvPr>
          <p:cNvSpPr txBox="1">
            <a:spLocks noGrp="1"/>
          </p:cNvSpPr>
          <p:nvPr>
            <p:ph type="sldNum" sz="quarter" idx="8"/>
          </p:nvPr>
        </p:nvSpPr>
        <p:spPr/>
        <p:txBody>
          <a:bodyPr/>
          <a:lstStyle>
            <a:lvl1pPr>
              <a:defRPr/>
            </a:lvl1pPr>
          </a:lstStyle>
          <a:p>
            <a:pPr lvl="0"/>
            <a:r>
              <a:rPr lang="en-GB"/>
              <a:t>Page </a:t>
            </a:r>
            <a:fld id="{07790F71-24C6-4C77-BA78-11EBB1491A96}" type="slidenum">
              <a:t>‹#›</a:t>
            </a:fld>
            <a:endParaRPr lang="en-IN"/>
          </a:p>
        </p:txBody>
      </p:sp>
    </p:spTree>
    <p:extLst>
      <p:ext uri="{BB962C8B-B14F-4D97-AF65-F5344CB8AC3E}">
        <p14:creationId xmlns:p14="http://schemas.microsoft.com/office/powerpoint/2010/main" val="47115809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Title only, no line">
    <p:spTree>
      <p:nvGrpSpPr>
        <p:cNvPr id="1" name=""/>
        <p:cNvGrpSpPr/>
        <p:nvPr/>
      </p:nvGrpSpPr>
      <p:grpSpPr>
        <a:xfrm>
          <a:off x="0" y="0"/>
          <a:ext cx="0" cy="0"/>
          <a:chOff x="0" y="0"/>
          <a:chExt cx="0" cy="0"/>
        </a:xfrm>
      </p:grpSpPr>
      <p:sp>
        <p:nvSpPr>
          <p:cNvPr id="2" name="Line 10">
            <a:extLst>
              <a:ext uri="{FF2B5EF4-FFF2-40B4-BE49-F238E27FC236}">
                <a16:creationId xmlns:a16="http://schemas.microsoft.com/office/drawing/2014/main" id="{4905BEF1-C13A-943A-D9ED-A7D4D17F5E2D}"/>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Date Placeholder 2">
            <a:extLst>
              <a:ext uri="{FF2B5EF4-FFF2-40B4-BE49-F238E27FC236}">
                <a16:creationId xmlns:a16="http://schemas.microsoft.com/office/drawing/2014/main" id="{D8DA5669-3EE6-3511-1EBE-4D126FC78040}"/>
              </a:ext>
            </a:extLst>
          </p:cNvPr>
          <p:cNvSpPr txBox="1">
            <a:spLocks noGrp="1"/>
          </p:cNvSpPr>
          <p:nvPr>
            <p:ph type="dt" sz="half" idx="7"/>
          </p:nvPr>
        </p:nvSpPr>
        <p:spPr/>
        <p:txBody>
          <a:bodyPr/>
          <a:lstStyle>
            <a:lvl1pPr>
              <a:defRPr/>
            </a:lvl1pPr>
          </a:lstStyle>
          <a:p>
            <a:pPr lvl="0"/>
            <a:fld id="{B06A2781-8A42-4955-8E23-CADCFF239288}" type="datetime3">
              <a:rPr lang="en-US"/>
              <a:pPr lvl="0"/>
              <a:t>27 November 2025</a:t>
            </a:fld>
            <a:endParaRPr lang="en-IN"/>
          </a:p>
        </p:txBody>
      </p:sp>
      <p:sp>
        <p:nvSpPr>
          <p:cNvPr id="4" name="Footer Placeholder 3">
            <a:extLst>
              <a:ext uri="{FF2B5EF4-FFF2-40B4-BE49-F238E27FC236}">
                <a16:creationId xmlns:a16="http://schemas.microsoft.com/office/drawing/2014/main" id="{C0B91321-39C5-B16B-AD30-B79F5B20215B}"/>
              </a:ext>
            </a:extLst>
          </p:cNvPr>
          <p:cNvSpPr txBox="1">
            <a:spLocks noGrp="1"/>
          </p:cNvSpPr>
          <p:nvPr>
            <p:ph type="ftr" sz="quarter" idx="9"/>
          </p:nvPr>
        </p:nvSpPr>
        <p:spPr/>
        <p:txBody>
          <a:bodyPr/>
          <a:lstStyle>
            <a:lvl1pPr>
              <a:defRPr/>
            </a:lvl1pPr>
          </a:lstStyle>
          <a:p>
            <a:pPr lvl="0"/>
            <a:r>
              <a:rPr lang="en-US"/>
              <a:t>Presentation title</a:t>
            </a:r>
          </a:p>
        </p:txBody>
      </p:sp>
      <p:sp>
        <p:nvSpPr>
          <p:cNvPr id="5" name="Slide Number Placeholder 4">
            <a:extLst>
              <a:ext uri="{FF2B5EF4-FFF2-40B4-BE49-F238E27FC236}">
                <a16:creationId xmlns:a16="http://schemas.microsoft.com/office/drawing/2014/main" id="{86784295-1121-DA6B-E063-0BE79A191DB3}"/>
              </a:ext>
            </a:extLst>
          </p:cNvPr>
          <p:cNvSpPr txBox="1">
            <a:spLocks noGrp="1"/>
          </p:cNvSpPr>
          <p:nvPr>
            <p:ph type="sldNum" sz="quarter" idx="8"/>
          </p:nvPr>
        </p:nvSpPr>
        <p:spPr/>
        <p:txBody>
          <a:bodyPr/>
          <a:lstStyle>
            <a:lvl1pPr>
              <a:defRPr/>
            </a:lvl1pPr>
          </a:lstStyle>
          <a:p>
            <a:pPr lvl="0"/>
            <a:r>
              <a:rPr lang="en-GB"/>
              <a:t>Page </a:t>
            </a:r>
            <a:fld id="{2D3BC4CD-5B59-426E-92CD-E76B563A589C}" type="slidenum">
              <a:t>‹#›</a:t>
            </a:fld>
            <a:endParaRPr lang="en-IN"/>
          </a:p>
        </p:txBody>
      </p:sp>
    </p:spTree>
    <p:extLst>
      <p:ext uri="{BB962C8B-B14F-4D97-AF65-F5344CB8AC3E}">
        <p14:creationId xmlns:p14="http://schemas.microsoft.com/office/powerpoint/2010/main" val="370716463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Content Placeholder 2">
            <a:extLst>
              <a:ext uri="{FF2B5EF4-FFF2-40B4-BE49-F238E27FC236}">
                <a16:creationId xmlns:a16="http://schemas.microsoft.com/office/drawing/2014/main" id="{E9E25E28-1320-311D-6BB2-BFD38AAC2A2D}"/>
              </a:ext>
            </a:extLst>
          </p:cNvPr>
          <p:cNvSpPr txBox="1">
            <a:spLocks noGrp="1"/>
          </p:cNvSpPr>
          <p:nvPr>
            <p:ph idx="1"/>
          </p:nvPr>
        </p:nvSpPr>
        <p:spPr>
          <a:xfrm>
            <a:off x="609603" y="1137915"/>
            <a:ext cx="5384801" cy="4834798"/>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Content Placeholder 3">
            <a:extLst>
              <a:ext uri="{FF2B5EF4-FFF2-40B4-BE49-F238E27FC236}">
                <a16:creationId xmlns:a16="http://schemas.microsoft.com/office/drawing/2014/main" id="{0BA7408B-8A23-A68F-0588-4B182861A4CD}"/>
              </a:ext>
            </a:extLst>
          </p:cNvPr>
          <p:cNvSpPr txBox="1">
            <a:spLocks noGrp="1"/>
          </p:cNvSpPr>
          <p:nvPr>
            <p:ph idx="2"/>
          </p:nvPr>
        </p:nvSpPr>
        <p:spPr>
          <a:xfrm>
            <a:off x="6197602" y="1137915"/>
            <a:ext cx="5384801" cy="4834798"/>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Line 10">
            <a:extLst>
              <a:ext uri="{FF2B5EF4-FFF2-40B4-BE49-F238E27FC236}">
                <a16:creationId xmlns:a16="http://schemas.microsoft.com/office/drawing/2014/main" id="{0075A733-4569-9E3D-829B-D9D973563FAA}"/>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5" name="Date Placeholder 4">
            <a:extLst>
              <a:ext uri="{FF2B5EF4-FFF2-40B4-BE49-F238E27FC236}">
                <a16:creationId xmlns:a16="http://schemas.microsoft.com/office/drawing/2014/main" id="{9D591A65-53BE-989A-25F4-CD831CA1D9A6}"/>
              </a:ext>
            </a:extLst>
          </p:cNvPr>
          <p:cNvSpPr txBox="1">
            <a:spLocks noGrp="1"/>
          </p:cNvSpPr>
          <p:nvPr>
            <p:ph type="dt" sz="half" idx="7"/>
          </p:nvPr>
        </p:nvSpPr>
        <p:spPr/>
        <p:txBody>
          <a:bodyPr/>
          <a:lstStyle>
            <a:lvl1pPr>
              <a:defRPr/>
            </a:lvl1pPr>
          </a:lstStyle>
          <a:p>
            <a:pPr lvl="0"/>
            <a:fld id="{F527F46A-5239-4842-8CD8-1BACCD905AA9}" type="datetime3">
              <a:rPr lang="en-US"/>
              <a:pPr lvl="0"/>
              <a:t>27 November 2025</a:t>
            </a:fld>
            <a:endParaRPr lang="en-IN"/>
          </a:p>
        </p:txBody>
      </p:sp>
      <p:sp>
        <p:nvSpPr>
          <p:cNvPr id="6" name="Footer Placeholder 5">
            <a:extLst>
              <a:ext uri="{FF2B5EF4-FFF2-40B4-BE49-F238E27FC236}">
                <a16:creationId xmlns:a16="http://schemas.microsoft.com/office/drawing/2014/main" id="{F3919E30-A295-B01E-D001-8C86BCC72802}"/>
              </a:ext>
            </a:extLst>
          </p:cNvPr>
          <p:cNvSpPr txBox="1">
            <a:spLocks noGrp="1"/>
          </p:cNvSpPr>
          <p:nvPr>
            <p:ph type="ftr" sz="quarter" idx="9"/>
          </p:nvPr>
        </p:nvSpPr>
        <p:spPr/>
        <p:txBody>
          <a:bodyPr/>
          <a:lstStyle>
            <a:lvl1pPr>
              <a:defRPr/>
            </a:lvl1pPr>
          </a:lstStyle>
          <a:p>
            <a:pPr lvl="0"/>
            <a:r>
              <a:rPr lang="en-US"/>
              <a:t>Presentation title</a:t>
            </a:r>
          </a:p>
        </p:txBody>
      </p:sp>
      <p:sp>
        <p:nvSpPr>
          <p:cNvPr id="7" name="Slide Number Placeholder 6">
            <a:extLst>
              <a:ext uri="{FF2B5EF4-FFF2-40B4-BE49-F238E27FC236}">
                <a16:creationId xmlns:a16="http://schemas.microsoft.com/office/drawing/2014/main" id="{B0D372B2-2E9B-8440-85B4-CEA8AD05E8B2}"/>
              </a:ext>
            </a:extLst>
          </p:cNvPr>
          <p:cNvSpPr txBox="1">
            <a:spLocks noGrp="1"/>
          </p:cNvSpPr>
          <p:nvPr>
            <p:ph type="sldNum" sz="quarter" idx="8"/>
          </p:nvPr>
        </p:nvSpPr>
        <p:spPr/>
        <p:txBody>
          <a:bodyPr/>
          <a:lstStyle>
            <a:lvl1pPr>
              <a:defRPr/>
            </a:lvl1pPr>
          </a:lstStyle>
          <a:p>
            <a:pPr lvl="0"/>
            <a:r>
              <a:rPr lang="en-GB"/>
              <a:t>Page </a:t>
            </a:r>
            <a:fld id="{3BDA45D3-D2B3-4DB3-9A1D-6C10F8E739C8}" type="slidenum">
              <a:t>‹#›</a:t>
            </a:fld>
            <a:endParaRPr lang="en-IN"/>
          </a:p>
        </p:txBody>
      </p:sp>
    </p:spTree>
    <p:extLst>
      <p:ext uri="{BB962C8B-B14F-4D97-AF65-F5344CB8AC3E}">
        <p14:creationId xmlns:p14="http://schemas.microsoft.com/office/powerpoint/2010/main" val="139632095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Two columns with headings">
    <p:spTree>
      <p:nvGrpSpPr>
        <p:cNvPr id="1" name=""/>
        <p:cNvGrpSpPr/>
        <p:nvPr/>
      </p:nvGrpSpPr>
      <p:grpSpPr>
        <a:xfrm>
          <a:off x="0" y="0"/>
          <a:ext cx="0" cy="0"/>
          <a:chOff x="0" y="0"/>
          <a:chExt cx="0" cy="0"/>
        </a:xfrm>
      </p:grpSpPr>
      <p:sp>
        <p:nvSpPr>
          <p:cNvPr id="2" name="Content Placeholder 3">
            <a:extLst>
              <a:ext uri="{FF2B5EF4-FFF2-40B4-BE49-F238E27FC236}">
                <a16:creationId xmlns:a16="http://schemas.microsoft.com/office/drawing/2014/main" id="{BC117248-6BD3-E640-069D-10C5199FCD47}"/>
              </a:ext>
            </a:extLst>
          </p:cNvPr>
          <p:cNvSpPr txBox="1">
            <a:spLocks noGrp="1"/>
          </p:cNvSpPr>
          <p:nvPr>
            <p:ph idx="4294967295"/>
          </p:nvPr>
        </p:nvSpPr>
        <p:spPr>
          <a:xfrm>
            <a:off x="6196404" y="1869445"/>
            <a:ext cx="5390397" cy="4256074"/>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Text Placeholder 9">
            <a:extLst>
              <a:ext uri="{FF2B5EF4-FFF2-40B4-BE49-F238E27FC236}">
                <a16:creationId xmlns:a16="http://schemas.microsoft.com/office/drawing/2014/main" id="{81A8AE05-D43D-CFE4-77D6-B46D1EC0C363}"/>
              </a:ext>
            </a:extLst>
          </p:cNvPr>
          <p:cNvSpPr txBox="1">
            <a:spLocks noGrp="1"/>
          </p:cNvSpPr>
          <p:nvPr>
            <p:ph type="body" idx="4294967295"/>
          </p:nvPr>
        </p:nvSpPr>
        <p:spPr>
          <a:xfrm>
            <a:off x="609603" y="1137915"/>
            <a:ext cx="5390397" cy="640802"/>
          </a:xfrm>
        </p:spPr>
        <p:txBody>
          <a:bodyPr/>
          <a:lstStyle>
            <a:lvl1pPr>
              <a:buNone/>
              <a:defRPr lang="en-GB" b="1"/>
            </a:lvl1pPr>
          </a:lstStyle>
          <a:p>
            <a:pPr lvl="0"/>
            <a:endParaRPr lang="en-GB"/>
          </a:p>
        </p:txBody>
      </p:sp>
      <p:sp>
        <p:nvSpPr>
          <p:cNvPr id="4" name="Text Placeholder 9">
            <a:extLst>
              <a:ext uri="{FF2B5EF4-FFF2-40B4-BE49-F238E27FC236}">
                <a16:creationId xmlns:a16="http://schemas.microsoft.com/office/drawing/2014/main" id="{6A210253-6DC4-2A4A-2000-39DA41E4286A}"/>
              </a:ext>
            </a:extLst>
          </p:cNvPr>
          <p:cNvSpPr txBox="1">
            <a:spLocks noGrp="1"/>
          </p:cNvSpPr>
          <p:nvPr>
            <p:ph type="body" idx="4294967295"/>
          </p:nvPr>
        </p:nvSpPr>
        <p:spPr>
          <a:xfrm>
            <a:off x="6196404" y="1137915"/>
            <a:ext cx="5390397" cy="640802"/>
          </a:xfrm>
        </p:spPr>
        <p:txBody>
          <a:bodyPr/>
          <a:lstStyle>
            <a:lvl1pPr>
              <a:buNone/>
              <a:defRPr lang="en-GB" b="1"/>
            </a:lvl1pPr>
          </a:lstStyle>
          <a:p>
            <a:pPr lvl="0"/>
            <a:endParaRPr lang="en-GB"/>
          </a:p>
        </p:txBody>
      </p:sp>
      <p:sp>
        <p:nvSpPr>
          <p:cNvPr id="5" name="Title 1">
            <a:extLst>
              <a:ext uri="{FF2B5EF4-FFF2-40B4-BE49-F238E27FC236}">
                <a16:creationId xmlns:a16="http://schemas.microsoft.com/office/drawing/2014/main" id="{FB1BCAD9-B093-7783-950F-B8CB7FCBE85C}"/>
              </a:ext>
            </a:extLst>
          </p:cNvPr>
          <p:cNvSpPr txBox="1">
            <a:spLocks noGrp="1"/>
          </p:cNvSpPr>
          <p:nvPr>
            <p:ph type="title"/>
          </p:nvPr>
        </p:nvSpPr>
        <p:spPr/>
        <p:txBody>
          <a:bodyPr/>
          <a:lstStyle>
            <a:lvl1pPr>
              <a:defRPr/>
            </a:lvl1pPr>
          </a:lstStyle>
          <a:p>
            <a:pPr lvl="0"/>
            <a:r>
              <a:rPr lang="en-US"/>
              <a:t>Click to edit Master title style</a:t>
            </a:r>
          </a:p>
        </p:txBody>
      </p:sp>
      <p:sp>
        <p:nvSpPr>
          <p:cNvPr id="6" name="Line 10">
            <a:extLst>
              <a:ext uri="{FF2B5EF4-FFF2-40B4-BE49-F238E27FC236}">
                <a16:creationId xmlns:a16="http://schemas.microsoft.com/office/drawing/2014/main" id="{2E1F2496-BD2E-6AFD-CF08-69C780041389}"/>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7" name="Date Placeholder 4">
            <a:extLst>
              <a:ext uri="{FF2B5EF4-FFF2-40B4-BE49-F238E27FC236}">
                <a16:creationId xmlns:a16="http://schemas.microsoft.com/office/drawing/2014/main" id="{F32DC829-BA63-EFA7-F54E-6772766EF786}"/>
              </a:ext>
            </a:extLst>
          </p:cNvPr>
          <p:cNvSpPr txBox="1">
            <a:spLocks noGrp="1"/>
          </p:cNvSpPr>
          <p:nvPr>
            <p:ph type="dt" sz="half" idx="7"/>
          </p:nvPr>
        </p:nvSpPr>
        <p:spPr/>
        <p:txBody>
          <a:bodyPr/>
          <a:lstStyle>
            <a:lvl1pPr>
              <a:defRPr/>
            </a:lvl1pPr>
          </a:lstStyle>
          <a:p>
            <a:pPr lvl="0"/>
            <a:fld id="{E6720BE8-E60C-4A05-8A81-AA5501133A9C}" type="datetime3">
              <a:rPr lang="en-US"/>
              <a:pPr lvl="0"/>
              <a:t>27 November 2025</a:t>
            </a:fld>
            <a:endParaRPr lang="en-IN"/>
          </a:p>
        </p:txBody>
      </p:sp>
      <p:sp>
        <p:nvSpPr>
          <p:cNvPr id="8" name="Footer Placeholder 5">
            <a:extLst>
              <a:ext uri="{FF2B5EF4-FFF2-40B4-BE49-F238E27FC236}">
                <a16:creationId xmlns:a16="http://schemas.microsoft.com/office/drawing/2014/main" id="{F2B400A7-B89F-743C-4998-125FE39D1F66}"/>
              </a:ext>
            </a:extLst>
          </p:cNvPr>
          <p:cNvSpPr txBox="1">
            <a:spLocks noGrp="1"/>
          </p:cNvSpPr>
          <p:nvPr>
            <p:ph type="ftr" sz="quarter" idx="9"/>
          </p:nvPr>
        </p:nvSpPr>
        <p:spPr/>
        <p:txBody>
          <a:bodyPr/>
          <a:lstStyle>
            <a:lvl1pPr>
              <a:defRPr/>
            </a:lvl1pPr>
          </a:lstStyle>
          <a:p>
            <a:pPr lvl="0"/>
            <a:r>
              <a:rPr lang="en-US"/>
              <a:t>Presentation title</a:t>
            </a:r>
          </a:p>
        </p:txBody>
      </p:sp>
      <p:sp>
        <p:nvSpPr>
          <p:cNvPr id="9" name="Slide Number Placeholder 6">
            <a:extLst>
              <a:ext uri="{FF2B5EF4-FFF2-40B4-BE49-F238E27FC236}">
                <a16:creationId xmlns:a16="http://schemas.microsoft.com/office/drawing/2014/main" id="{303E0133-0F76-0F1B-E21A-B9ACE0ABF347}"/>
              </a:ext>
            </a:extLst>
          </p:cNvPr>
          <p:cNvSpPr txBox="1">
            <a:spLocks noGrp="1"/>
          </p:cNvSpPr>
          <p:nvPr>
            <p:ph type="sldNum" sz="quarter" idx="8"/>
          </p:nvPr>
        </p:nvSpPr>
        <p:spPr/>
        <p:txBody>
          <a:bodyPr/>
          <a:lstStyle>
            <a:lvl1pPr>
              <a:defRPr/>
            </a:lvl1pPr>
          </a:lstStyle>
          <a:p>
            <a:pPr lvl="0"/>
            <a:r>
              <a:rPr lang="en-GB"/>
              <a:t>Page </a:t>
            </a:r>
            <a:fld id="{CB71F22A-173F-4130-9100-7F2F8C341003}" type="slidenum">
              <a:t>‹#›</a:t>
            </a:fld>
            <a:endParaRPr lang="en-IN"/>
          </a:p>
        </p:txBody>
      </p:sp>
    </p:spTree>
    <p:extLst>
      <p:ext uri="{BB962C8B-B14F-4D97-AF65-F5344CB8AC3E}">
        <p14:creationId xmlns:p14="http://schemas.microsoft.com/office/powerpoint/2010/main" val="252440504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Key statement">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D13689CD-F9C0-F819-58F3-76E0F38F0ED5}"/>
              </a:ext>
            </a:extLst>
          </p:cNvPr>
          <p:cNvSpPr txBox="1">
            <a:spLocks noGrp="1"/>
          </p:cNvSpPr>
          <p:nvPr>
            <p:ph type="ftr" sz="quarter" idx="9"/>
          </p:nvPr>
        </p:nvSpPr>
        <p:spPr/>
        <p:txBody>
          <a:bodyPr/>
          <a:lstStyle>
            <a:lvl1pPr>
              <a:defRPr/>
            </a:lvl1pPr>
          </a:lstStyle>
          <a:p>
            <a:pPr lvl="0"/>
            <a:r>
              <a:rPr lang="en-US"/>
              <a:t>Presentation title</a:t>
            </a:r>
          </a:p>
        </p:txBody>
      </p:sp>
      <p:sp>
        <p:nvSpPr>
          <p:cNvPr id="3" name="Slide Number Placeholder 4">
            <a:extLst>
              <a:ext uri="{FF2B5EF4-FFF2-40B4-BE49-F238E27FC236}">
                <a16:creationId xmlns:a16="http://schemas.microsoft.com/office/drawing/2014/main" id="{28F46820-AF5F-11D4-3431-916F87D5693E}"/>
              </a:ext>
            </a:extLst>
          </p:cNvPr>
          <p:cNvSpPr txBox="1">
            <a:spLocks noGrp="1"/>
          </p:cNvSpPr>
          <p:nvPr>
            <p:ph type="sldNum" sz="quarter" idx="8"/>
          </p:nvPr>
        </p:nvSpPr>
        <p:spPr/>
        <p:txBody>
          <a:bodyPr/>
          <a:lstStyle>
            <a:lvl1pPr>
              <a:defRPr/>
            </a:lvl1pPr>
          </a:lstStyle>
          <a:p>
            <a:pPr lvl="0"/>
            <a:r>
              <a:rPr lang="en-GB"/>
              <a:t>Page </a:t>
            </a:r>
            <a:fld id="{FFFE2A82-1B87-4D76-92AB-F1C4A93A24A7}" type="slidenum">
              <a:t>‹#›</a:t>
            </a:fld>
            <a:endParaRPr lang="en-IN"/>
          </a:p>
        </p:txBody>
      </p:sp>
    </p:spTree>
    <p:extLst>
      <p:ext uri="{BB962C8B-B14F-4D97-AF65-F5344CB8AC3E}">
        <p14:creationId xmlns:p14="http://schemas.microsoft.com/office/powerpoint/2010/main" val="216896593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Focused data">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18C00E12-BDE6-DA44-E783-529B60C84D65}"/>
              </a:ext>
            </a:extLst>
          </p:cNvPr>
          <p:cNvSpPr txBox="1">
            <a:spLocks noGrp="1"/>
          </p:cNvSpPr>
          <p:nvPr>
            <p:ph type="ftr" sz="quarter" idx="9"/>
          </p:nvPr>
        </p:nvSpPr>
        <p:spPr/>
        <p:txBody>
          <a:bodyPr/>
          <a:lstStyle>
            <a:lvl1pPr>
              <a:defRPr/>
            </a:lvl1pPr>
          </a:lstStyle>
          <a:p>
            <a:pPr lvl="0"/>
            <a:r>
              <a:rPr lang="en-US"/>
              <a:t>Presentation title</a:t>
            </a:r>
          </a:p>
        </p:txBody>
      </p:sp>
      <p:sp>
        <p:nvSpPr>
          <p:cNvPr id="3" name="Slide Number Placeholder 3">
            <a:extLst>
              <a:ext uri="{FF2B5EF4-FFF2-40B4-BE49-F238E27FC236}">
                <a16:creationId xmlns:a16="http://schemas.microsoft.com/office/drawing/2014/main" id="{8C21F59C-A112-239A-A920-C6E33EEC4F81}"/>
              </a:ext>
            </a:extLst>
          </p:cNvPr>
          <p:cNvSpPr txBox="1">
            <a:spLocks noGrp="1"/>
          </p:cNvSpPr>
          <p:nvPr>
            <p:ph type="sldNum" sz="quarter" idx="8"/>
          </p:nvPr>
        </p:nvSpPr>
        <p:spPr/>
        <p:txBody>
          <a:bodyPr/>
          <a:lstStyle>
            <a:lvl1pPr>
              <a:defRPr/>
            </a:lvl1pPr>
          </a:lstStyle>
          <a:p>
            <a:pPr lvl="0"/>
            <a:r>
              <a:rPr lang="en-GB"/>
              <a:t>Page </a:t>
            </a:r>
            <a:fld id="{D4183D68-F91E-4078-BDBE-534488ACC289}" type="slidenum">
              <a:t>‹#›</a:t>
            </a:fld>
            <a:endParaRPr lang="en-IN"/>
          </a:p>
        </p:txBody>
      </p:sp>
    </p:spTree>
    <p:extLst>
      <p:ext uri="{BB962C8B-B14F-4D97-AF65-F5344CB8AC3E}">
        <p14:creationId xmlns:p14="http://schemas.microsoft.com/office/powerpoint/2010/main" val="348143123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Divider 1">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DD441EB5-23D1-F88F-6D8D-2BFEAE34AF07}"/>
              </a:ext>
            </a:extLst>
          </p:cNvPr>
          <p:cNvSpPr txBox="1">
            <a:spLocks noGrp="1"/>
          </p:cNvSpPr>
          <p:nvPr>
            <p:ph type="ftr" sz="quarter" idx="9"/>
          </p:nvPr>
        </p:nvSpPr>
        <p:spPr/>
        <p:txBody>
          <a:bodyPr/>
          <a:lstStyle>
            <a:lvl1pPr>
              <a:defRPr/>
            </a:lvl1pPr>
          </a:lstStyle>
          <a:p>
            <a:pPr lvl="0"/>
            <a:r>
              <a:rPr lang="en-US"/>
              <a:t>Presentation title</a:t>
            </a:r>
          </a:p>
        </p:txBody>
      </p:sp>
      <p:sp>
        <p:nvSpPr>
          <p:cNvPr id="3" name="Slide Number Placeholder 3">
            <a:extLst>
              <a:ext uri="{FF2B5EF4-FFF2-40B4-BE49-F238E27FC236}">
                <a16:creationId xmlns:a16="http://schemas.microsoft.com/office/drawing/2014/main" id="{5AF37CAF-C492-97BA-9630-19935BE0C356}"/>
              </a:ext>
            </a:extLst>
          </p:cNvPr>
          <p:cNvSpPr txBox="1">
            <a:spLocks noGrp="1"/>
          </p:cNvSpPr>
          <p:nvPr>
            <p:ph type="sldNum" sz="quarter" idx="8"/>
          </p:nvPr>
        </p:nvSpPr>
        <p:spPr/>
        <p:txBody>
          <a:bodyPr/>
          <a:lstStyle>
            <a:lvl1pPr>
              <a:defRPr/>
            </a:lvl1pPr>
          </a:lstStyle>
          <a:p>
            <a:pPr lvl="0"/>
            <a:r>
              <a:rPr lang="en-GB"/>
              <a:t>Page </a:t>
            </a:r>
            <a:fld id="{BDDDD8E7-922D-47B6-8084-9BF0151AA782}" type="slidenum">
              <a:t>‹#›</a:t>
            </a:fld>
            <a:endParaRPr lang="en-IN"/>
          </a:p>
        </p:txBody>
      </p:sp>
    </p:spTree>
    <p:extLst>
      <p:ext uri="{BB962C8B-B14F-4D97-AF65-F5344CB8AC3E}">
        <p14:creationId xmlns:p14="http://schemas.microsoft.com/office/powerpoint/2010/main" val="244064924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Divider 3">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394AF2FF-451D-5FEC-0DBD-76C9A19B6B41}"/>
              </a:ext>
            </a:extLst>
          </p:cNvPr>
          <p:cNvSpPr txBox="1">
            <a:spLocks noGrp="1"/>
          </p:cNvSpPr>
          <p:nvPr>
            <p:ph type="ftr" sz="quarter" idx="9"/>
          </p:nvPr>
        </p:nvSpPr>
        <p:spPr/>
        <p:txBody>
          <a:bodyPr/>
          <a:lstStyle>
            <a:lvl1pPr>
              <a:defRPr/>
            </a:lvl1pPr>
          </a:lstStyle>
          <a:p>
            <a:pPr lvl="0"/>
            <a:r>
              <a:rPr lang="en-US"/>
              <a:t>Presentation title</a:t>
            </a:r>
          </a:p>
        </p:txBody>
      </p:sp>
      <p:sp>
        <p:nvSpPr>
          <p:cNvPr id="3" name="Slide Number Placeholder 3">
            <a:extLst>
              <a:ext uri="{FF2B5EF4-FFF2-40B4-BE49-F238E27FC236}">
                <a16:creationId xmlns:a16="http://schemas.microsoft.com/office/drawing/2014/main" id="{413E212F-4D3B-010F-1213-208E4B8C7AF3}"/>
              </a:ext>
            </a:extLst>
          </p:cNvPr>
          <p:cNvSpPr txBox="1">
            <a:spLocks noGrp="1"/>
          </p:cNvSpPr>
          <p:nvPr>
            <p:ph type="sldNum" sz="quarter" idx="8"/>
          </p:nvPr>
        </p:nvSpPr>
        <p:spPr/>
        <p:txBody>
          <a:bodyPr/>
          <a:lstStyle>
            <a:lvl1pPr>
              <a:defRPr/>
            </a:lvl1pPr>
          </a:lstStyle>
          <a:p>
            <a:pPr lvl="0"/>
            <a:r>
              <a:rPr lang="en-GB"/>
              <a:t>Page </a:t>
            </a:r>
            <a:fld id="{7D2FD1ED-B225-47DE-8DAA-9B72B2A1D4C4}" type="slidenum">
              <a:t>‹#›</a:t>
            </a:fld>
            <a:endParaRPr lang="en-IN"/>
          </a:p>
        </p:txBody>
      </p:sp>
    </p:spTree>
    <p:extLst>
      <p:ext uri="{BB962C8B-B14F-4D97-AF65-F5344CB8AC3E}">
        <p14:creationId xmlns:p14="http://schemas.microsoft.com/office/powerpoint/2010/main" val="21163960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67764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1_Empty">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2FC3145-89B8-482A-5B02-35E668C82868}"/>
              </a:ext>
            </a:extLst>
          </p:cNvPr>
          <p:cNvSpPr txBox="1">
            <a:spLocks noGrp="1"/>
          </p:cNvSpPr>
          <p:nvPr>
            <p:ph type="dt" sz="half" idx="7"/>
          </p:nvPr>
        </p:nvSpPr>
        <p:spPr/>
        <p:txBody>
          <a:bodyPr/>
          <a:lstStyle>
            <a:lvl1pPr>
              <a:defRPr/>
            </a:lvl1pPr>
          </a:lstStyle>
          <a:p>
            <a:pPr lvl="0"/>
            <a:fld id="{F1E7380F-5EE0-4878-8C2B-66E09E6451F6}" type="datetime3">
              <a:rPr lang="en-US"/>
              <a:pPr lvl="0"/>
              <a:t>27 November 2025</a:t>
            </a:fld>
            <a:endParaRPr lang="en-IN"/>
          </a:p>
        </p:txBody>
      </p:sp>
      <p:sp>
        <p:nvSpPr>
          <p:cNvPr id="3" name="Footer Placeholder 3">
            <a:extLst>
              <a:ext uri="{FF2B5EF4-FFF2-40B4-BE49-F238E27FC236}">
                <a16:creationId xmlns:a16="http://schemas.microsoft.com/office/drawing/2014/main" id="{2ADAB41D-7784-2F5E-F690-73FEE1AA5918}"/>
              </a:ext>
            </a:extLst>
          </p:cNvPr>
          <p:cNvSpPr txBox="1">
            <a:spLocks noGrp="1"/>
          </p:cNvSpPr>
          <p:nvPr>
            <p:ph type="ftr" sz="quarter" idx="9"/>
          </p:nvPr>
        </p:nvSpPr>
        <p:spPr/>
        <p:txBody>
          <a:bodyPr/>
          <a:lstStyle>
            <a:lvl1pPr>
              <a:defRPr/>
            </a:lvl1pPr>
          </a:lstStyle>
          <a:p>
            <a:pPr lvl="0"/>
            <a:r>
              <a:rPr lang="en-US"/>
              <a:t>Presentation title</a:t>
            </a:r>
          </a:p>
        </p:txBody>
      </p:sp>
      <p:sp>
        <p:nvSpPr>
          <p:cNvPr id="4" name="Slide Number Placeholder 4">
            <a:extLst>
              <a:ext uri="{FF2B5EF4-FFF2-40B4-BE49-F238E27FC236}">
                <a16:creationId xmlns:a16="http://schemas.microsoft.com/office/drawing/2014/main" id="{EC839557-77CE-980A-C1EE-DA41F835D4B6}"/>
              </a:ext>
            </a:extLst>
          </p:cNvPr>
          <p:cNvSpPr txBox="1">
            <a:spLocks noGrp="1"/>
          </p:cNvSpPr>
          <p:nvPr>
            <p:ph type="sldNum" sz="quarter" idx="8"/>
          </p:nvPr>
        </p:nvSpPr>
        <p:spPr/>
        <p:txBody>
          <a:bodyPr/>
          <a:lstStyle>
            <a:lvl1pPr>
              <a:defRPr/>
            </a:lvl1pPr>
          </a:lstStyle>
          <a:p>
            <a:pPr lvl="0"/>
            <a:r>
              <a:rPr lang="en-GB"/>
              <a:t>Page </a:t>
            </a:r>
            <a:fld id="{0D8E7147-1094-4C82-A5F2-716CC72ADCC2}" type="slidenum">
              <a:t>‹#›</a:t>
            </a:fld>
            <a:endParaRPr lang="en-IN"/>
          </a:p>
        </p:txBody>
      </p:sp>
    </p:spTree>
    <p:extLst>
      <p:ext uri="{BB962C8B-B14F-4D97-AF65-F5344CB8AC3E}">
        <p14:creationId xmlns:p14="http://schemas.microsoft.com/office/powerpoint/2010/main" val="160640051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p:cSld name="Final legal text">
    <p:spTree>
      <p:nvGrpSpPr>
        <p:cNvPr id="1" name=""/>
        <p:cNvGrpSpPr/>
        <p:nvPr/>
      </p:nvGrpSpPr>
      <p:grpSpPr>
        <a:xfrm>
          <a:off x="0" y="0"/>
          <a:ext cx="0" cy="0"/>
          <a:chOff x="0" y="0"/>
          <a:chExt cx="0" cy="0"/>
        </a:xfrm>
      </p:grpSpPr>
      <p:pic>
        <p:nvPicPr>
          <p:cNvPr id="2" name="Picture 3">
            <a:extLst>
              <a:ext uri="{FF2B5EF4-FFF2-40B4-BE49-F238E27FC236}">
                <a16:creationId xmlns:a16="http://schemas.microsoft.com/office/drawing/2014/main" id="{E38353E2-1091-05B7-11F5-4E6B7C6EA672}"/>
              </a:ext>
            </a:extLst>
          </p:cNvPr>
          <p:cNvPicPr>
            <a:picLocks noChangeAspect="1"/>
          </p:cNvPicPr>
          <p:nvPr/>
        </p:nvPicPr>
        <p:blipFill>
          <a:blip r:embed="rId2"/>
          <a:stretch>
            <a:fillRect/>
          </a:stretch>
        </p:blipFill>
        <p:spPr>
          <a:xfrm>
            <a:off x="3172" y="0"/>
            <a:ext cx="12185651" cy="6858000"/>
          </a:xfrm>
          <a:prstGeom prst="rect">
            <a:avLst/>
          </a:prstGeom>
          <a:noFill/>
          <a:ln cap="flat">
            <a:noFill/>
          </a:ln>
        </p:spPr>
      </p:pic>
      <p:sp>
        <p:nvSpPr>
          <p:cNvPr id="3" name="Content Placeholder 2">
            <a:extLst>
              <a:ext uri="{FF2B5EF4-FFF2-40B4-BE49-F238E27FC236}">
                <a16:creationId xmlns:a16="http://schemas.microsoft.com/office/drawing/2014/main" id="{4CD197A8-9FCA-32DC-63B6-BCA8955DAF48}"/>
              </a:ext>
            </a:extLst>
          </p:cNvPr>
          <p:cNvSpPr txBox="1">
            <a:spLocks noGrp="1"/>
          </p:cNvSpPr>
          <p:nvPr>
            <p:ph idx="4294967295"/>
          </p:nvPr>
        </p:nvSpPr>
        <p:spPr>
          <a:xfrm>
            <a:off x="607481" y="719139"/>
            <a:ext cx="4675199" cy="5210059"/>
          </a:xfrm>
        </p:spPr>
        <p:txBody>
          <a:bodyPr/>
          <a:lstStyle>
            <a:lvl1pPr marL="0" indent="0" defTabSz="994867">
              <a:spcBef>
                <a:spcPts val="1000"/>
              </a:spcBef>
              <a:buNone/>
              <a:defRPr sz="1199">
                <a:cs typeface="Arial" pitchFamily="34"/>
              </a:defRPr>
            </a:lvl1pPr>
            <a:lvl2pPr marL="0" indent="0" defTabSz="994867">
              <a:spcBef>
                <a:spcPts val="0"/>
              </a:spcBef>
              <a:buNone/>
              <a:defRPr sz="900" b="1">
                <a:cs typeface="Arial" pitchFamily="34"/>
              </a:defRPr>
            </a:lvl2pPr>
            <a:lvl3pPr marL="176122" indent="-176122" defTabSz="994867">
              <a:spcBef>
                <a:spcPts val="0"/>
              </a:spcBef>
              <a:buSzPct val="70000"/>
              <a:buFont typeface="Arial" pitchFamily="34"/>
              <a:buChar char="►"/>
              <a:defRPr sz="900" b="1">
                <a:cs typeface="Arial" pitchFamily="34"/>
              </a:defRPr>
            </a:lvl3pPr>
            <a:lvl4pPr marL="0" indent="0" defTabSz="994867">
              <a:spcBef>
                <a:spcPts val="0"/>
              </a:spcBef>
              <a:buNone/>
              <a:defRPr sz="800">
                <a:cs typeface="Arial" pitchFamily="34"/>
              </a:defRPr>
            </a:lvl4pPr>
            <a:lvl5pPr marL="188814" indent="-188814" defTabSz="994867">
              <a:spcBef>
                <a:spcPts val="0"/>
              </a:spcBef>
              <a:buSzPct val="70000"/>
              <a:buFont typeface="Arial" pitchFamily="34"/>
              <a:buChar char="►"/>
              <a:defRPr sz="800">
                <a:cs typeface="Arial" pitchFamily="34"/>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6628066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p:cSld name="1_Final legal text">
    <p:spTree>
      <p:nvGrpSpPr>
        <p:cNvPr id="1" name=""/>
        <p:cNvGrpSpPr/>
        <p:nvPr/>
      </p:nvGrpSpPr>
      <p:grpSpPr>
        <a:xfrm>
          <a:off x="0" y="0"/>
          <a:ext cx="0" cy="0"/>
          <a:chOff x="0" y="0"/>
          <a:chExt cx="0" cy="0"/>
        </a:xfrm>
      </p:grpSpPr>
      <p:pic>
        <p:nvPicPr>
          <p:cNvPr id="2" name="Content Placeholder 3">
            <a:extLst>
              <a:ext uri="{FF2B5EF4-FFF2-40B4-BE49-F238E27FC236}">
                <a16:creationId xmlns:a16="http://schemas.microsoft.com/office/drawing/2014/main" id="{A78383CF-FA34-C591-19F9-D85EDD59263E}"/>
              </a:ext>
            </a:extLst>
          </p:cNvPr>
          <p:cNvPicPr>
            <a:picLocks noChangeAspect="1"/>
          </p:cNvPicPr>
          <p:nvPr/>
        </p:nvPicPr>
        <p:blipFill>
          <a:blip r:embed="rId2"/>
          <a:stretch>
            <a:fillRect/>
          </a:stretch>
        </p:blipFill>
        <p:spPr>
          <a:xfrm>
            <a:off x="9546" y="0"/>
            <a:ext cx="12185651" cy="6858000"/>
          </a:xfrm>
          <a:prstGeom prst="rect">
            <a:avLst/>
          </a:prstGeom>
          <a:noFill/>
          <a:ln cap="flat">
            <a:noFill/>
          </a:ln>
        </p:spPr>
      </p:pic>
      <p:sp>
        <p:nvSpPr>
          <p:cNvPr id="3" name="Content Placeholder 2">
            <a:extLst>
              <a:ext uri="{FF2B5EF4-FFF2-40B4-BE49-F238E27FC236}">
                <a16:creationId xmlns:a16="http://schemas.microsoft.com/office/drawing/2014/main" id="{A5913D63-FE11-5CC4-EEDA-3C924C0678D4}"/>
              </a:ext>
            </a:extLst>
          </p:cNvPr>
          <p:cNvSpPr txBox="1">
            <a:spLocks noGrp="1"/>
          </p:cNvSpPr>
          <p:nvPr>
            <p:ph idx="4294967295"/>
          </p:nvPr>
        </p:nvSpPr>
        <p:spPr>
          <a:xfrm>
            <a:off x="607481" y="719139"/>
            <a:ext cx="4675199" cy="5210059"/>
          </a:xfrm>
        </p:spPr>
        <p:txBody>
          <a:bodyPr/>
          <a:lstStyle>
            <a:lvl1pPr marL="0" indent="0" defTabSz="994867">
              <a:spcBef>
                <a:spcPts val="1000"/>
              </a:spcBef>
              <a:buNone/>
              <a:defRPr sz="1199">
                <a:cs typeface="Arial" pitchFamily="34"/>
              </a:defRPr>
            </a:lvl1pPr>
            <a:lvl2pPr marL="0" indent="0" defTabSz="994867">
              <a:spcBef>
                <a:spcPts val="0"/>
              </a:spcBef>
              <a:buNone/>
              <a:defRPr sz="900" b="1">
                <a:cs typeface="Arial" pitchFamily="34"/>
              </a:defRPr>
            </a:lvl2pPr>
            <a:lvl3pPr marL="176122" indent="-176122" defTabSz="994867">
              <a:spcBef>
                <a:spcPts val="0"/>
              </a:spcBef>
              <a:buSzPct val="70000"/>
              <a:buFont typeface="Arial" pitchFamily="34"/>
              <a:buChar char="►"/>
              <a:defRPr sz="900" b="1">
                <a:cs typeface="Arial" pitchFamily="34"/>
              </a:defRPr>
            </a:lvl3pPr>
            <a:lvl4pPr marL="0" indent="0" defTabSz="994867">
              <a:spcBef>
                <a:spcPts val="0"/>
              </a:spcBef>
              <a:buNone/>
              <a:defRPr sz="800">
                <a:cs typeface="Arial" pitchFamily="34"/>
              </a:defRPr>
            </a:lvl4pPr>
            <a:lvl5pPr marL="188814" indent="-188814" defTabSz="994867">
              <a:spcBef>
                <a:spcPts val="0"/>
              </a:spcBef>
              <a:buSzPct val="70000"/>
              <a:buFont typeface="Arial" pitchFamily="34"/>
              <a:buChar char="►"/>
              <a:defRPr sz="800">
                <a:cs typeface="Arial" pitchFamily="34"/>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0230668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2_Final legal text">
    <p:spTree>
      <p:nvGrpSpPr>
        <p:cNvPr id="1" name=""/>
        <p:cNvGrpSpPr/>
        <p:nvPr/>
      </p:nvGrpSpPr>
      <p:grpSpPr>
        <a:xfrm>
          <a:off x="0" y="0"/>
          <a:ext cx="0" cy="0"/>
          <a:chOff x="0" y="0"/>
          <a:chExt cx="0" cy="0"/>
        </a:xfrm>
      </p:grpSpPr>
      <p:pic>
        <p:nvPicPr>
          <p:cNvPr id="2" name="Content Placeholder 3">
            <a:extLst>
              <a:ext uri="{FF2B5EF4-FFF2-40B4-BE49-F238E27FC236}">
                <a16:creationId xmlns:a16="http://schemas.microsoft.com/office/drawing/2014/main" id="{88FBB082-CD07-D7ED-12D2-1BB219D942AC}"/>
              </a:ext>
            </a:extLst>
          </p:cNvPr>
          <p:cNvPicPr>
            <a:picLocks noChangeAspect="1"/>
          </p:cNvPicPr>
          <p:nvPr/>
        </p:nvPicPr>
        <p:blipFill>
          <a:blip r:embed="rId2"/>
          <a:stretch>
            <a:fillRect/>
          </a:stretch>
        </p:blipFill>
        <p:spPr>
          <a:xfrm>
            <a:off x="9546" y="0"/>
            <a:ext cx="12185660" cy="6858000"/>
          </a:xfrm>
          <a:prstGeom prst="rect">
            <a:avLst/>
          </a:prstGeom>
          <a:noFill/>
          <a:ln cap="flat">
            <a:noFill/>
          </a:ln>
        </p:spPr>
      </p:pic>
      <p:sp>
        <p:nvSpPr>
          <p:cNvPr id="3" name="Content Placeholder 2">
            <a:extLst>
              <a:ext uri="{FF2B5EF4-FFF2-40B4-BE49-F238E27FC236}">
                <a16:creationId xmlns:a16="http://schemas.microsoft.com/office/drawing/2014/main" id="{C39AD168-8C85-10F8-D6AA-887C96465799}"/>
              </a:ext>
            </a:extLst>
          </p:cNvPr>
          <p:cNvSpPr txBox="1">
            <a:spLocks noGrp="1"/>
          </p:cNvSpPr>
          <p:nvPr>
            <p:ph idx="4294967295"/>
          </p:nvPr>
        </p:nvSpPr>
        <p:spPr>
          <a:xfrm>
            <a:off x="607481" y="719139"/>
            <a:ext cx="4675199" cy="5210059"/>
          </a:xfrm>
        </p:spPr>
        <p:txBody>
          <a:bodyPr/>
          <a:lstStyle>
            <a:lvl1pPr marL="0" indent="0" defTabSz="994867">
              <a:spcBef>
                <a:spcPts val="1000"/>
              </a:spcBef>
              <a:buNone/>
              <a:defRPr sz="1199">
                <a:cs typeface="Arial" pitchFamily="34"/>
              </a:defRPr>
            </a:lvl1pPr>
            <a:lvl2pPr marL="0" indent="0" defTabSz="994867">
              <a:spcBef>
                <a:spcPts val="0"/>
              </a:spcBef>
              <a:buNone/>
              <a:defRPr sz="900" b="1">
                <a:cs typeface="Arial" pitchFamily="34"/>
              </a:defRPr>
            </a:lvl2pPr>
            <a:lvl3pPr marL="176122" indent="-176122" defTabSz="994867">
              <a:spcBef>
                <a:spcPts val="0"/>
              </a:spcBef>
              <a:buSzPct val="70000"/>
              <a:buFont typeface="Arial" pitchFamily="34"/>
              <a:buChar char="►"/>
              <a:defRPr sz="900" b="1">
                <a:cs typeface="Arial" pitchFamily="34"/>
              </a:defRPr>
            </a:lvl3pPr>
            <a:lvl4pPr marL="0" indent="0" defTabSz="994867">
              <a:spcBef>
                <a:spcPts val="0"/>
              </a:spcBef>
              <a:buNone/>
              <a:defRPr sz="800">
                <a:cs typeface="Arial" pitchFamily="34"/>
              </a:defRPr>
            </a:lvl4pPr>
            <a:lvl5pPr marL="188814" indent="-188814" defTabSz="994867">
              <a:spcBef>
                <a:spcPts val="0"/>
              </a:spcBef>
              <a:buSzPct val="70000"/>
              <a:buFont typeface="Arial" pitchFamily="34"/>
              <a:buChar char="►"/>
              <a:defRPr sz="800">
                <a:cs typeface="Arial" pitchFamily="34"/>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4839003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04478873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2_Cover alternate">
    <p:spTree>
      <p:nvGrpSpPr>
        <p:cNvPr id="1" name=""/>
        <p:cNvGrpSpPr/>
        <p:nvPr/>
      </p:nvGrpSpPr>
      <p:grpSpPr>
        <a:xfrm>
          <a:off x="0" y="0"/>
          <a:ext cx="0" cy="0"/>
          <a:chOff x="0" y="0"/>
          <a:chExt cx="0" cy="0"/>
        </a:xfrm>
      </p:grpSpPr>
      <p:sp>
        <p:nvSpPr>
          <p:cNvPr id="2" name="Freeform 56">
            <a:extLst>
              <a:ext uri="{FF2B5EF4-FFF2-40B4-BE49-F238E27FC236}">
                <a16:creationId xmlns:a16="http://schemas.microsoft.com/office/drawing/2014/main" id="{91EB9A27-3A1F-E0B1-AB31-9190BD46D4EB}"/>
              </a:ext>
            </a:extLst>
          </p:cNvPr>
          <p:cNvSpPr/>
          <p:nvPr/>
        </p:nvSpPr>
        <p:spPr>
          <a:xfrm>
            <a:off x="497854" y="795665"/>
            <a:ext cx="4927847" cy="3581485"/>
          </a:xfrm>
          <a:custGeom>
            <a:avLst/>
            <a:gdLst>
              <a:gd name="f0" fmla="val 10800000"/>
              <a:gd name="f1" fmla="val 5400000"/>
              <a:gd name="f2" fmla="val 180"/>
              <a:gd name="f3" fmla="val w"/>
              <a:gd name="f4" fmla="val h"/>
              <a:gd name="f5" fmla="val 0"/>
              <a:gd name="f6" fmla="val 4257675"/>
              <a:gd name="f7" fmla="val 3092804"/>
              <a:gd name="f8" fmla="val 4238387"/>
              <a:gd name="f9" fmla="val 747342"/>
              <a:gd name="f10" fmla="+- 0 0 -90"/>
              <a:gd name="f11" fmla="*/ f3 1 4257675"/>
              <a:gd name="f12" fmla="*/ f4 1 3092804"/>
              <a:gd name="f13" fmla="+- f7 0 f5"/>
              <a:gd name="f14" fmla="+- f6 0 f5"/>
              <a:gd name="f15" fmla="*/ f10 f0 1"/>
              <a:gd name="f16" fmla="*/ f14 1 4257675"/>
              <a:gd name="f17" fmla="*/ f13 1 3092804"/>
              <a:gd name="f18" fmla="*/ 4238387 f14 1"/>
              <a:gd name="f19" fmla="*/ 0 f13 1"/>
              <a:gd name="f20" fmla="*/ 4257675 f14 1"/>
              <a:gd name="f21" fmla="*/ 3092804 f13 1"/>
              <a:gd name="f22" fmla="*/ 0 f14 1"/>
              <a:gd name="f23" fmla="*/ 747342 f13 1"/>
              <a:gd name="f24" fmla="*/ f15 1 f2"/>
              <a:gd name="f25" fmla="*/ f18 1 4257675"/>
              <a:gd name="f26" fmla="*/ f19 1 3092804"/>
              <a:gd name="f27" fmla="*/ f20 1 4257675"/>
              <a:gd name="f28" fmla="*/ f21 1 3092804"/>
              <a:gd name="f29" fmla="*/ f22 1 4257675"/>
              <a:gd name="f30" fmla="*/ f23 1 3092804"/>
              <a:gd name="f31" fmla="*/ f5 1 f16"/>
              <a:gd name="f32" fmla="*/ f6 1 f16"/>
              <a:gd name="f33" fmla="*/ f5 1 f17"/>
              <a:gd name="f34" fmla="*/ f7 1 f17"/>
              <a:gd name="f35" fmla="+- f24 0 f1"/>
              <a:gd name="f36" fmla="*/ f25 1 f16"/>
              <a:gd name="f37" fmla="*/ f26 1 f17"/>
              <a:gd name="f38" fmla="*/ f27 1 f16"/>
              <a:gd name="f39" fmla="*/ f28 1 f17"/>
              <a:gd name="f40" fmla="*/ f29 1 f16"/>
              <a:gd name="f41" fmla="*/ f30 1 f17"/>
              <a:gd name="f42" fmla="*/ f31 f11 1"/>
              <a:gd name="f43" fmla="*/ f32 f11 1"/>
              <a:gd name="f44" fmla="*/ f34 f12 1"/>
              <a:gd name="f45" fmla="*/ f33 f12 1"/>
              <a:gd name="f46" fmla="*/ f36 f11 1"/>
              <a:gd name="f47" fmla="*/ f37 f12 1"/>
              <a:gd name="f48" fmla="*/ f38 f11 1"/>
              <a:gd name="f49" fmla="*/ f39 f12 1"/>
              <a:gd name="f50" fmla="*/ f40 f11 1"/>
              <a:gd name="f51" fmla="*/ f41 f12 1"/>
            </a:gdLst>
            <a:ahLst/>
            <a:cxnLst>
              <a:cxn ang="3cd4">
                <a:pos x="hc" y="t"/>
              </a:cxn>
              <a:cxn ang="0">
                <a:pos x="r" y="vc"/>
              </a:cxn>
              <a:cxn ang="cd4">
                <a:pos x="hc" y="b"/>
              </a:cxn>
              <a:cxn ang="cd2">
                <a:pos x="l" y="vc"/>
              </a:cxn>
              <a:cxn ang="f35">
                <a:pos x="f46" y="f47"/>
              </a:cxn>
              <a:cxn ang="f35">
                <a:pos x="f48" y="f47"/>
              </a:cxn>
              <a:cxn ang="f35">
                <a:pos x="f48" y="f49"/>
              </a:cxn>
              <a:cxn ang="f35">
                <a:pos x="f50" y="f49"/>
              </a:cxn>
              <a:cxn ang="f35">
                <a:pos x="f50" y="f51"/>
              </a:cxn>
            </a:cxnLst>
            <a:rect l="f42" t="f45" r="f43" b="f44"/>
            <a:pathLst>
              <a:path w="4257675" h="3092804">
                <a:moveTo>
                  <a:pt x="f8" y="f5"/>
                </a:moveTo>
                <a:lnTo>
                  <a:pt x="f6" y="f5"/>
                </a:lnTo>
                <a:lnTo>
                  <a:pt x="f6" y="f7"/>
                </a:lnTo>
                <a:lnTo>
                  <a:pt x="f5" y="f7"/>
                </a:lnTo>
                <a:lnTo>
                  <a:pt x="f5" y="f9"/>
                </a:lnTo>
                <a:close/>
              </a:path>
            </a:pathLst>
          </a:custGeom>
          <a:solidFill>
            <a:srgbClr val="FFE6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Title 1">
            <a:extLst>
              <a:ext uri="{FF2B5EF4-FFF2-40B4-BE49-F238E27FC236}">
                <a16:creationId xmlns:a16="http://schemas.microsoft.com/office/drawing/2014/main" id="{57531A24-5612-E4ED-4162-FBC5E841230C}"/>
              </a:ext>
            </a:extLst>
          </p:cNvPr>
          <p:cNvSpPr txBox="1">
            <a:spLocks noGrp="1"/>
          </p:cNvSpPr>
          <p:nvPr>
            <p:ph type="title"/>
          </p:nvPr>
        </p:nvSpPr>
        <p:spPr>
          <a:xfrm>
            <a:off x="775100" y="1954219"/>
            <a:ext cx="4326675" cy="979706"/>
          </a:xfrm>
        </p:spPr>
        <p:txBody>
          <a:bodyPr/>
          <a:lstStyle>
            <a:lvl1pPr>
              <a:defRPr sz="2999"/>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7C2789C5-CA6A-9568-C640-7FE833BF85C0}"/>
              </a:ext>
            </a:extLst>
          </p:cNvPr>
          <p:cNvSpPr txBox="1">
            <a:spLocks noGrp="1"/>
          </p:cNvSpPr>
          <p:nvPr>
            <p:ph type="subTitle" idx="4294967295"/>
          </p:nvPr>
        </p:nvSpPr>
        <p:spPr>
          <a:xfrm>
            <a:off x="775100" y="3046159"/>
            <a:ext cx="4326675" cy="1046320"/>
          </a:xfrm>
        </p:spPr>
        <p:txBody>
          <a:bodyPr/>
          <a:lstStyle>
            <a:lvl1pPr marL="0" indent="0">
              <a:spcAft>
                <a:spcPts val="1200"/>
              </a:spcAft>
              <a:buNone/>
              <a:defRPr>
                <a:latin typeface="EYInterstate Regular" pitchFamily="2"/>
                <a:cs typeface="Arial" pitchFamily="34"/>
              </a:defRPr>
            </a:lvl1pPr>
          </a:lstStyle>
          <a:p>
            <a:pPr lvl="0"/>
            <a:r>
              <a:rPr lang="en-US"/>
              <a:t>Click to edit Master subtitle style</a:t>
            </a:r>
            <a:endParaRPr lang="en-GB"/>
          </a:p>
        </p:txBody>
      </p:sp>
      <p:grpSp>
        <p:nvGrpSpPr>
          <p:cNvPr id="5" name="Group 4">
            <a:extLst>
              <a:ext uri="{FF2B5EF4-FFF2-40B4-BE49-F238E27FC236}">
                <a16:creationId xmlns:a16="http://schemas.microsoft.com/office/drawing/2014/main" id="{B52D81EA-8B8A-EB02-2984-DA6B703A9252}"/>
              </a:ext>
            </a:extLst>
          </p:cNvPr>
          <p:cNvGrpSpPr/>
          <p:nvPr/>
        </p:nvGrpSpPr>
        <p:grpSpPr>
          <a:xfrm>
            <a:off x="10359393" y="4960940"/>
            <a:ext cx="1224911" cy="1435105"/>
            <a:chOff x="10359393" y="4960940"/>
            <a:chExt cx="1224911" cy="1435105"/>
          </a:xfrm>
        </p:grpSpPr>
        <p:sp>
          <p:nvSpPr>
            <p:cNvPr id="6" name="Freeform 5">
              <a:extLst>
                <a:ext uri="{FF2B5EF4-FFF2-40B4-BE49-F238E27FC236}">
                  <a16:creationId xmlns:a16="http://schemas.microsoft.com/office/drawing/2014/main" id="{C6A9FF95-D9C7-9128-C436-EE513BF4E9E6}"/>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 name="Freeform 6">
              <a:extLst>
                <a:ext uri="{FF2B5EF4-FFF2-40B4-BE49-F238E27FC236}">
                  <a16:creationId xmlns:a16="http://schemas.microsoft.com/office/drawing/2014/main" id="{1DAFB6F2-0E62-C9D8-6434-141DACF04D31}"/>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143692491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p:cSld name="2_Cover">
    <p:spTree>
      <p:nvGrpSpPr>
        <p:cNvPr id="1" name=""/>
        <p:cNvGrpSpPr/>
        <p:nvPr/>
      </p:nvGrpSpPr>
      <p:grpSpPr>
        <a:xfrm>
          <a:off x="0" y="0"/>
          <a:ext cx="0" cy="0"/>
          <a:chOff x="0" y="0"/>
          <a:chExt cx="0" cy="0"/>
        </a:xfrm>
      </p:grpSpPr>
      <p:sp>
        <p:nvSpPr>
          <p:cNvPr id="2" name="Freeform 56">
            <a:extLst>
              <a:ext uri="{FF2B5EF4-FFF2-40B4-BE49-F238E27FC236}">
                <a16:creationId xmlns:a16="http://schemas.microsoft.com/office/drawing/2014/main" id="{6E8A066F-EFA4-DC1B-FAE1-A67992B7CF04}"/>
              </a:ext>
            </a:extLst>
          </p:cNvPr>
          <p:cNvSpPr/>
          <p:nvPr/>
        </p:nvSpPr>
        <p:spPr>
          <a:xfrm>
            <a:off x="497854" y="795665"/>
            <a:ext cx="4927847" cy="3581485"/>
          </a:xfrm>
          <a:custGeom>
            <a:avLst/>
            <a:gdLst>
              <a:gd name="f0" fmla="val 10800000"/>
              <a:gd name="f1" fmla="val 5400000"/>
              <a:gd name="f2" fmla="val 180"/>
              <a:gd name="f3" fmla="val w"/>
              <a:gd name="f4" fmla="val h"/>
              <a:gd name="f5" fmla="val 0"/>
              <a:gd name="f6" fmla="val 4257675"/>
              <a:gd name="f7" fmla="val 3092804"/>
              <a:gd name="f8" fmla="val 4238387"/>
              <a:gd name="f9" fmla="val 747342"/>
              <a:gd name="f10" fmla="+- 0 0 -90"/>
              <a:gd name="f11" fmla="*/ f3 1 4257675"/>
              <a:gd name="f12" fmla="*/ f4 1 3092804"/>
              <a:gd name="f13" fmla="+- f7 0 f5"/>
              <a:gd name="f14" fmla="+- f6 0 f5"/>
              <a:gd name="f15" fmla="*/ f10 f0 1"/>
              <a:gd name="f16" fmla="*/ f14 1 4257675"/>
              <a:gd name="f17" fmla="*/ f13 1 3092804"/>
              <a:gd name="f18" fmla="*/ 4238387 f14 1"/>
              <a:gd name="f19" fmla="*/ 0 f13 1"/>
              <a:gd name="f20" fmla="*/ 4257675 f14 1"/>
              <a:gd name="f21" fmla="*/ 3092804 f13 1"/>
              <a:gd name="f22" fmla="*/ 0 f14 1"/>
              <a:gd name="f23" fmla="*/ 747342 f13 1"/>
              <a:gd name="f24" fmla="*/ f15 1 f2"/>
              <a:gd name="f25" fmla="*/ f18 1 4257675"/>
              <a:gd name="f26" fmla="*/ f19 1 3092804"/>
              <a:gd name="f27" fmla="*/ f20 1 4257675"/>
              <a:gd name="f28" fmla="*/ f21 1 3092804"/>
              <a:gd name="f29" fmla="*/ f22 1 4257675"/>
              <a:gd name="f30" fmla="*/ f23 1 3092804"/>
              <a:gd name="f31" fmla="*/ f5 1 f16"/>
              <a:gd name="f32" fmla="*/ f6 1 f16"/>
              <a:gd name="f33" fmla="*/ f5 1 f17"/>
              <a:gd name="f34" fmla="*/ f7 1 f17"/>
              <a:gd name="f35" fmla="+- f24 0 f1"/>
              <a:gd name="f36" fmla="*/ f25 1 f16"/>
              <a:gd name="f37" fmla="*/ f26 1 f17"/>
              <a:gd name="f38" fmla="*/ f27 1 f16"/>
              <a:gd name="f39" fmla="*/ f28 1 f17"/>
              <a:gd name="f40" fmla="*/ f29 1 f16"/>
              <a:gd name="f41" fmla="*/ f30 1 f17"/>
              <a:gd name="f42" fmla="*/ f31 f11 1"/>
              <a:gd name="f43" fmla="*/ f32 f11 1"/>
              <a:gd name="f44" fmla="*/ f34 f12 1"/>
              <a:gd name="f45" fmla="*/ f33 f12 1"/>
              <a:gd name="f46" fmla="*/ f36 f11 1"/>
              <a:gd name="f47" fmla="*/ f37 f12 1"/>
              <a:gd name="f48" fmla="*/ f38 f11 1"/>
              <a:gd name="f49" fmla="*/ f39 f12 1"/>
              <a:gd name="f50" fmla="*/ f40 f11 1"/>
              <a:gd name="f51" fmla="*/ f41 f12 1"/>
            </a:gdLst>
            <a:ahLst/>
            <a:cxnLst>
              <a:cxn ang="3cd4">
                <a:pos x="hc" y="t"/>
              </a:cxn>
              <a:cxn ang="0">
                <a:pos x="r" y="vc"/>
              </a:cxn>
              <a:cxn ang="cd4">
                <a:pos x="hc" y="b"/>
              </a:cxn>
              <a:cxn ang="cd2">
                <a:pos x="l" y="vc"/>
              </a:cxn>
              <a:cxn ang="f35">
                <a:pos x="f46" y="f47"/>
              </a:cxn>
              <a:cxn ang="f35">
                <a:pos x="f48" y="f47"/>
              </a:cxn>
              <a:cxn ang="f35">
                <a:pos x="f48" y="f49"/>
              </a:cxn>
              <a:cxn ang="f35">
                <a:pos x="f50" y="f49"/>
              </a:cxn>
              <a:cxn ang="f35">
                <a:pos x="f50" y="f51"/>
              </a:cxn>
            </a:cxnLst>
            <a:rect l="f42" t="f45" r="f43" b="f44"/>
            <a:pathLst>
              <a:path w="4257675" h="3092804">
                <a:moveTo>
                  <a:pt x="f8" y="f5"/>
                </a:moveTo>
                <a:lnTo>
                  <a:pt x="f6" y="f5"/>
                </a:lnTo>
                <a:lnTo>
                  <a:pt x="f6" y="f7"/>
                </a:lnTo>
                <a:lnTo>
                  <a:pt x="f5" y="f7"/>
                </a:lnTo>
                <a:lnTo>
                  <a:pt x="f5" y="f9"/>
                </a:lnTo>
                <a:close/>
              </a:path>
            </a:pathLst>
          </a:custGeom>
          <a:solidFill>
            <a:srgbClr val="FFE6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Title 1">
            <a:extLst>
              <a:ext uri="{FF2B5EF4-FFF2-40B4-BE49-F238E27FC236}">
                <a16:creationId xmlns:a16="http://schemas.microsoft.com/office/drawing/2014/main" id="{78BBE9A0-7E03-C23D-E697-4CAEC199B741}"/>
              </a:ext>
            </a:extLst>
          </p:cNvPr>
          <p:cNvSpPr txBox="1">
            <a:spLocks noGrp="1"/>
          </p:cNvSpPr>
          <p:nvPr>
            <p:ph type="title"/>
          </p:nvPr>
        </p:nvSpPr>
        <p:spPr>
          <a:xfrm>
            <a:off x="775100" y="1954219"/>
            <a:ext cx="4326675" cy="979706"/>
          </a:xfrm>
        </p:spPr>
        <p:txBody>
          <a:bodyPr/>
          <a:lstStyle>
            <a:lvl1pPr>
              <a:defRPr sz="2999"/>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437A4FBF-04E4-1B32-26EE-D5FF74EE8D0D}"/>
              </a:ext>
            </a:extLst>
          </p:cNvPr>
          <p:cNvSpPr txBox="1">
            <a:spLocks noGrp="1"/>
          </p:cNvSpPr>
          <p:nvPr>
            <p:ph type="subTitle" idx="4294967295"/>
          </p:nvPr>
        </p:nvSpPr>
        <p:spPr>
          <a:xfrm>
            <a:off x="775100" y="3046159"/>
            <a:ext cx="4326675" cy="1046320"/>
          </a:xfrm>
        </p:spPr>
        <p:txBody>
          <a:bodyPr/>
          <a:lstStyle>
            <a:lvl1pPr marL="0" indent="0">
              <a:spcAft>
                <a:spcPts val="1200"/>
              </a:spcAft>
              <a:buNone/>
              <a:defRPr>
                <a:latin typeface="EYInterstate Regular" pitchFamily="2"/>
                <a:cs typeface="Arial" pitchFamily="34"/>
              </a:defRPr>
            </a:lvl1pPr>
          </a:lstStyle>
          <a:p>
            <a:pPr lvl="0"/>
            <a:r>
              <a:rPr lang="en-US"/>
              <a:t>Click to edit Master subtitle style</a:t>
            </a:r>
            <a:endParaRPr lang="en-GB"/>
          </a:p>
        </p:txBody>
      </p:sp>
      <p:cxnSp>
        <p:nvCxnSpPr>
          <p:cNvPr id="5" name="Straight Connector 6">
            <a:extLst>
              <a:ext uri="{FF2B5EF4-FFF2-40B4-BE49-F238E27FC236}">
                <a16:creationId xmlns:a16="http://schemas.microsoft.com/office/drawing/2014/main" id="{76548149-58B1-CDDA-9874-AF97386B393F}"/>
              </a:ext>
            </a:extLst>
          </p:cNvPr>
          <p:cNvCxnSpPr/>
          <p:nvPr/>
        </p:nvCxnSpPr>
        <p:spPr>
          <a:xfrm>
            <a:off x="1332491" y="5709056"/>
            <a:ext cx="8117869" cy="0"/>
          </a:xfrm>
          <a:prstGeom prst="straightConnector1">
            <a:avLst/>
          </a:prstGeom>
          <a:noFill/>
          <a:ln w="9528" cap="flat">
            <a:solidFill>
              <a:srgbClr val="828290"/>
            </a:solidFill>
            <a:prstDash val="solid"/>
            <a:miter/>
          </a:ln>
        </p:spPr>
      </p:cxnSp>
      <p:sp>
        <p:nvSpPr>
          <p:cNvPr id="6" name="TextBox 8">
            <a:extLst>
              <a:ext uri="{FF2B5EF4-FFF2-40B4-BE49-F238E27FC236}">
                <a16:creationId xmlns:a16="http://schemas.microsoft.com/office/drawing/2014/main" id="{DFC6C8CE-25E4-219D-25C6-B6543608B7A4}"/>
              </a:ext>
            </a:extLst>
          </p:cNvPr>
          <p:cNvSpPr txBox="1"/>
          <p:nvPr/>
        </p:nvSpPr>
        <p:spPr>
          <a:xfrm>
            <a:off x="461744" y="5605198"/>
            <a:ext cx="1044528" cy="197583"/>
          </a:xfrm>
          <a:prstGeom prst="rect">
            <a:avLst/>
          </a:prstGeom>
          <a:noFill/>
          <a:ln cap="flat">
            <a:noFill/>
          </a:ln>
        </p:spPr>
        <p:txBody>
          <a:bodyPr vert="horz" wrap="square" lIns="0" tIns="0" rIns="0" bIns="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99" b="0" i="0" u="none" strike="noStrike" kern="1200" cap="none" spc="0" baseline="0">
                <a:solidFill>
                  <a:srgbClr val="828290"/>
                </a:solidFill>
                <a:uFillTx/>
                <a:latin typeface="EYInterstate Light" pitchFamily="2"/>
              </a:rPr>
              <a:t>Written by</a:t>
            </a:r>
          </a:p>
        </p:txBody>
      </p:sp>
      <p:sp>
        <p:nvSpPr>
          <p:cNvPr id="7" name="Text Placeholder 16">
            <a:extLst>
              <a:ext uri="{FF2B5EF4-FFF2-40B4-BE49-F238E27FC236}">
                <a16:creationId xmlns:a16="http://schemas.microsoft.com/office/drawing/2014/main" id="{2F62EC78-FB44-E3F5-FFAC-AF2052817AF7}"/>
              </a:ext>
            </a:extLst>
          </p:cNvPr>
          <p:cNvSpPr txBox="1">
            <a:spLocks noGrp="1"/>
          </p:cNvSpPr>
          <p:nvPr>
            <p:ph type="body" idx="4294967295"/>
          </p:nvPr>
        </p:nvSpPr>
        <p:spPr>
          <a:xfrm>
            <a:off x="1332491" y="6019193"/>
            <a:ext cx="3087663" cy="179999"/>
          </a:xfrm>
        </p:spPr>
        <p:txBody>
          <a:bodyPr/>
          <a:lstStyle>
            <a:lvl1pPr marL="0" indent="0">
              <a:spcBef>
                <a:spcPts val="300"/>
              </a:spcBef>
              <a:buNone/>
              <a:defRPr sz="1199"/>
            </a:lvl1pPr>
          </a:lstStyle>
          <a:p>
            <a:pPr lvl="0"/>
            <a:r>
              <a:rPr lang="en-US"/>
              <a:t>Name Surname</a:t>
            </a:r>
            <a:endParaRPr lang="en-GB"/>
          </a:p>
        </p:txBody>
      </p:sp>
      <p:sp>
        <p:nvSpPr>
          <p:cNvPr id="8" name="Text Placeholder 16">
            <a:extLst>
              <a:ext uri="{FF2B5EF4-FFF2-40B4-BE49-F238E27FC236}">
                <a16:creationId xmlns:a16="http://schemas.microsoft.com/office/drawing/2014/main" id="{95A90EE4-F14C-027D-9B8B-8D8277E20202}"/>
              </a:ext>
            </a:extLst>
          </p:cNvPr>
          <p:cNvSpPr txBox="1">
            <a:spLocks noGrp="1"/>
          </p:cNvSpPr>
          <p:nvPr>
            <p:ph type="body" idx="4294967295"/>
          </p:nvPr>
        </p:nvSpPr>
        <p:spPr>
          <a:xfrm>
            <a:off x="1332491" y="6216804"/>
            <a:ext cx="3087663" cy="179999"/>
          </a:xfrm>
        </p:spPr>
        <p:txBody>
          <a:bodyPr/>
          <a:lstStyle>
            <a:lvl1pPr marL="0" indent="0">
              <a:spcBef>
                <a:spcPts val="300"/>
              </a:spcBef>
              <a:buNone/>
              <a:defRPr sz="1199"/>
            </a:lvl1pPr>
          </a:lstStyle>
          <a:p>
            <a:pPr lvl="0"/>
            <a:r>
              <a:rPr lang="en-US"/>
              <a:t>Job Title</a:t>
            </a:r>
            <a:endParaRPr lang="en-GB"/>
          </a:p>
        </p:txBody>
      </p:sp>
      <p:sp>
        <p:nvSpPr>
          <p:cNvPr id="9" name="Picture Placeholder 19">
            <a:extLst>
              <a:ext uri="{FF2B5EF4-FFF2-40B4-BE49-F238E27FC236}">
                <a16:creationId xmlns:a16="http://schemas.microsoft.com/office/drawing/2014/main" id="{02999A4A-4E59-4BB8-A807-2704E40CDBBE}"/>
              </a:ext>
            </a:extLst>
          </p:cNvPr>
          <p:cNvSpPr txBox="1">
            <a:spLocks noGrp="1"/>
          </p:cNvSpPr>
          <p:nvPr>
            <p:ph type="pic" idx="4294967295"/>
          </p:nvPr>
        </p:nvSpPr>
        <p:spPr>
          <a:xfrm>
            <a:off x="461744" y="5914640"/>
            <a:ext cx="575697" cy="575998"/>
          </a:xfrm>
        </p:spPr>
        <p:txBody>
          <a:bodyPr anchor="ctr" anchorCtr="1"/>
          <a:lstStyle>
            <a:lvl1pPr marL="0" indent="0" algn="ctr">
              <a:spcBef>
                <a:spcPts val="200"/>
              </a:spcBef>
              <a:buNone/>
              <a:defRPr lang="en-GB" sz="900"/>
            </a:lvl1pPr>
          </a:lstStyle>
          <a:p>
            <a:pPr lvl="0"/>
            <a:endParaRPr lang="en-GB"/>
          </a:p>
        </p:txBody>
      </p:sp>
      <p:grpSp>
        <p:nvGrpSpPr>
          <p:cNvPr id="10" name="Group 4">
            <a:extLst>
              <a:ext uri="{FF2B5EF4-FFF2-40B4-BE49-F238E27FC236}">
                <a16:creationId xmlns:a16="http://schemas.microsoft.com/office/drawing/2014/main" id="{C085714A-C374-FFA9-4D0E-C144AE95B1E2}"/>
              </a:ext>
            </a:extLst>
          </p:cNvPr>
          <p:cNvGrpSpPr/>
          <p:nvPr/>
        </p:nvGrpSpPr>
        <p:grpSpPr>
          <a:xfrm>
            <a:off x="10359393" y="4960940"/>
            <a:ext cx="1224911" cy="1435105"/>
            <a:chOff x="10359393" y="4960940"/>
            <a:chExt cx="1224911" cy="1435105"/>
          </a:xfrm>
        </p:grpSpPr>
        <p:sp>
          <p:nvSpPr>
            <p:cNvPr id="11" name="Freeform 5">
              <a:extLst>
                <a:ext uri="{FF2B5EF4-FFF2-40B4-BE49-F238E27FC236}">
                  <a16:creationId xmlns:a16="http://schemas.microsoft.com/office/drawing/2014/main" id="{4E237B80-0612-E86E-2ECC-F6B8F447AFC0}"/>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12" name="Freeform 6">
              <a:extLst>
                <a:ext uri="{FF2B5EF4-FFF2-40B4-BE49-F238E27FC236}">
                  <a16:creationId xmlns:a16="http://schemas.microsoft.com/office/drawing/2014/main" id="{C3B25223-9A48-9950-8019-1B6EF4D7F486}"/>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269986579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p:cSld name="1_Approved question tall">
    <p:spTree>
      <p:nvGrpSpPr>
        <p:cNvPr id="1" name=""/>
        <p:cNvGrpSpPr/>
        <p:nvPr/>
      </p:nvGrpSpPr>
      <p:grpSpPr>
        <a:xfrm>
          <a:off x="0" y="0"/>
          <a:ext cx="0" cy="0"/>
          <a:chOff x="0" y="0"/>
          <a:chExt cx="0" cy="0"/>
        </a:xfrm>
      </p:grpSpPr>
      <p:grpSp>
        <p:nvGrpSpPr>
          <p:cNvPr id="2" name="Group 185">
            <a:extLst>
              <a:ext uri="{FF2B5EF4-FFF2-40B4-BE49-F238E27FC236}">
                <a16:creationId xmlns:a16="http://schemas.microsoft.com/office/drawing/2014/main" id="{F6DDFA02-7907-AB81-CF87-EDB8F4FEDE23}"/>
              </a:ext>
            </a:extLst>
          </p:cNvPr>
          <p:cNvGrpSpPr/>
          <p:nvPr/>
        </p:nvGrpSpPr>
        <p:grpSpPr>
          <a:xfrm>
            <a:off x="497854" y="5826611"/>
            <a:ext cx="3876004" cy="570201"/>
            <a:chOff x="497854" y="5826611"/>
            <a:chExt cx="3876004" cy="570201"/>
          </a:xfrm>
        </p:grpSpPr>
        <p:sp>
          <p:nvSpPr>
            <p:cNvPr id="3" name="Rectangle 186">
              <a:extLst>
                <a:ext uri="{FF2B5EF4-FFF2-40B4-BE49-F238E27FC236}">
                  <a16:creationId xmlns:a16="http://schemas.microsoft.com/office/drawing/2014/main" id="{DAEBAFD1-E6FE-C93E-3119-05B05A2BFBC3}"/>
                </a:ext>
              </a:extLst>
            </p:cNvPr>
            <p:cNvSpPr/>
            <p:nvPr/>
          </p:nvSpPr>
          <p:spPr>
            <a:xfrm>
              <a:off x="497854"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4" name="Rectangle 6">
              <a:extLst>
                <a:ext uri="{FF2B5EF4-FFF2-40B4-BE49-F238E27FC236}">
                  <a16:creationId xmlns:a16="http://schemas.microsoft.com/office/drawing/2014/main" id="{FC7644EA-2F8F-CF03-1F45-A27DBEAEB385}"/>
                </a:ext>
              </a:extLst>
            </p:cNvPr>
            <p:cNvSpPr/>
            <p:nvPr/>
          </p:nvSpPr>
          <p:spPr>
            <a:xfrm>
              <a:off x="693051"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5" name="Rectangle 7">
              <a:extLst>
                <a:ext uri="{FF2B5EF4-FFF2-40B4-BE49-F238E27FC236}">
                  <a16:creationId xmlns:a16="http://schemas.microsoft.com/office/drawing/2014/main" id="{009BB0A7-90E5-21EE-C2BD-85634BA4964E}"/>
                </a:ext>
              </a:extLst>
            </p:cNvPr>
            <p:cNvSpPr/>
            <p:nvPr/>
          </p:nvSpPr>
          <p:spPr>
            <a:xfrm>
              <a:off x="889985"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6" name="Freeform 8">
              <a:extLst>
                <a:ext uri="{FF2B5EF4-FFF2-40B4-BE49-F238E27FC236}">
                  <a16:creationId xmlns:a16="http://schemas.microsoft.com/office/drawing/2014/main" id="{A172418D-9B88-E56F-75F3-56ADCE647D78}"/>
                </a:ext>
              </a:extLst>
            </p:cNvPr>
            <p:cNvSpPr/>
            <p:nvPr/>
          </p:nvSpPr>
          <p:spPr>
            <a:xfrm>
              <a:off x="497854" y="6056784"/>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1"/>
                <a:gd name="f10" fmla="val 22"/>
                <a:gd name="f11" fmla="+- 0 0 -90"/>
                <a:gd name="f12" fmla="*/ f3 1 54"/>
                <a:gd name="f13" fmla="*/ f4 1 75"/>
                <a:gd name="f14" fmla="+- f7 0 f5"/>
                <a:gd name="f15" fmla="+- f6 0 f5"/>
                <a:gd name="f16" fmla="*/ f11 f0 1"/>
                <a:gd name="f17" fmla="*/ f15 1 54"/>
                <a:gd name="f18" fmla="*/ f14 1 75"/>
                <a:gd name="f19" fmla="*/ 32 f15 1"/>
                <a:gd name="f20" fmla="*/ 11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7" name="Freeform 9">
              <a:extLst>
                <a:ext uri="{FF2B5EF4-FFF2-40B4-BE49-F238E27FC236}">
                  <a16:creationId xmlns:a16="http://schemas.microsoft.com/office/drawing/2014/main" id="{D290D441-08D9-C3A8-E3DA-E5AC2706225F}"/>
                </a:ext>
              </a:extLst>
            </p:cNvPr>
            <p:cNvSpPr/>
            <p:nvPr/>
          </p:nvSpPr>
          <p:spPr>
            <a:xfrm>
              <a:off x="609392" y="6049807"/>
              <a:ext cx="78428"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8" name="Freeform 10">
              <a:extLst>
                <a:ext uri="{FF2B5EF4-FFF2-40B4-BE49-F238E27FC236}">
                  <a16:creationId xmlns:a16="http://schemas.microsoft.com/office/drawing/2014/main" id="{3BF14524-8CE1-B00C-A047-19D7A887B44E}"/>
                </a:ext>
              </a:extLst>
            </p:cNvPr>
            <p:cNvSpPr/>
            <p:nvPr/>
          </p:nvSpPr>
          <p:spPr>
            <a:xfrm>
              <a:off x="705249"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9" name="Freeform 11">
              <a:extLst>
                <a:ext uri="{FF2B5EF4-FFF2-40B4-BE49-F238E27FC236}">
                  <a16:creationId xmlns:a16="http://schemas.microsoft.com/office/drawing/2014/main" id="{6D577268-03D5-FD3D-E690-573204EB3B96}"/>
                </a:ext>
              </a:extLst>
            </p:cNvPr>
            <p:cNvSpPr/>
            <p:nvPr/>
          </p:nvSpPr>
          <p:spPr>
            <a:xfrm>
              <a:off x="856875" y="6049807"/>
              <a:ext cx="83658" cy="139500"/>
            </a:xfrm>
            <a:custGeom>
              <a:avLst/>
              <a:gdLst>
                <a:gd name="f0" fmla="val 10800000"/>
                <a:gd name="f1" fmla="val 5400000"/>
                <a:gd name="f2" fmla="val 180"/>
                <a:gd name="f3" fmla="val w"/>
                <a:gd name="f4" fmla="val h"/>
                <a:gd name="f5" fmla="val 0"/>
                <a:gd name="f6" fmla="val 33"/>
                <a:gd name="f7" fmla="val 55"/>
                <a:gd name="f8" fmla="val 35"/>
                <a:gd name="f9" fmla="val 38"/>
                <a:gd name="f10" fmla="val 32"/>
                <a:gd name="f11" fmla="val 41"/>
                <a:gd name="f12" fmla="val 31"/>
                <a:gd name="f13" fmla="val 44"/>
                <a:gd name="f14" fmla="val 30"/>
                <a:gd name="f15" fmla="val 46"/>
                <a:gd name="f16" fmla="val 29"/>
                <a:gd name="f17" fmla="val 48"/>
                <a:gd name="f18" fmla="val 28"/>
                <a:gd name="f19" fmla="val 50"/>
                <a:gd name="f20" fmla="val 27"/>
                <a:gd name="f21" fmla="val 51"/>
                <a:gd name="f22" fmla="val 25"/>
                <a:gd name="f23" fmla="val 53"/>
                <a:gd name="f24" fmla="val 23"/>
                <a:gd name="f25" fmla="val 21"/>
                <a:gd name="f26" fmla="val 54"/>
                <a:gd name="f27" fmla="val 19"/>
                <a:gd name="f28" fmla="val 17"/>
                <a:gd name="f29" fmla="val 16"/>
                <a:gd name="f30" fmla="val 14"/>
                <a:gd name="f31" fmla="val 12"/>
                <a:gd name="f32" fmla="val 10"/>
                <a:gd name="f33" fmla="val 52"/>
                <a:gd name="f34" fmla="val 9"/>
                <a:gd name="f35" fmla="val 8"/>
                <a:gd name="f36" fmla="val 4"/>
                <a:gd name="f37" fmla="val 18"/>
                <a:gd name="f38" fmla="val 11"/>
                <a:gd name="f39" fmla="val 13"/>
                <a:gd name="f40" fmla="val 15"/>
                <a:gd name="f41" fmla="val 20"/>
                <a:gd name="f42" fmla="val 22"/>
                <a:gd name="f43" fmla="val 24"/>
                <a:gd name="f44" fmla="val 26"/>
                <a:gd name="f45" fmla="val 43"/>
                <a:gd name="f46" fmla="val 45"/>
                <a:gd name="f47" fmla="val 47"/>
                <a:gd name="f48" fmla="val 39"/>
                <a:gd name="f49" fmla="+- 0 0 -90"/>
                <a:gd name="f50" fmla="*/ f3 1 33"/>
                <a:gd name="f51" fmla="*/ f4 1 55"/>
                <a:gd name="f52" fmla="+- f7 0 f5"/>
                <a:gd name="f53" fmla="+- f6 0 f5"/>
                <a:gd name="f54" fmla="*/ f49 f0 1"/>
                <a:gd name="f55" fmla="*/ f53 1 33"/>
                <a:gd name="f56" fmla="*/ f52 1 55"/>
                <a:gd name="f57" fmla="*/ 33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8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18 f53 1"/>
                <a:gd name="f80" fmla="*/ 24 f53 1"/>
                <a:gd name="f81" fmla="*/ 26 f52 1"/>
                <a:gd name="f82" fmla="*/ 25 f53 1"/>
                <a:gd name="f83" fmla="*/ 25 f52 1"/>
                <a:gd name="f84" fmla="*/ 16 f53 1"/>
                <a:gd name="f85" fmla="*/ 22 f52 1"/>
                <a:gd name="f86" fmla="*/ 11 f53 1"/>
                <a:gd name="f87" fmla="*/ 23 f52 1"/>
                <a:gd name="f88" fmla="*/ 9 f53 1"/>
                <a:gd name="f89" fmla="*/ 43 f52 1"/>
                <a:gd name="f90" fmla="*/ 46 f52 1"/>
                <a:gd name="f91" fmla="*/ 47 f52 1"/>
                <a:gd name="f92" fmla="*/ 48 f52 1"/>
                <a:gd name="f93" fmla="*/ 45 f52 1"/>
                <a:gd name="f94" fmla="*/ f54 1 f2"/>
                <a:gd name="f95" fmla="*/ f57 1 33"/>
                <a:gd name="f96" fmla="*/ f58 1 55"/>
                <a:gd name="f97" fmla="*/ f59 1 33"/>
                <a:gd name="f98" fmla="*/ f60 1 55"/>
                <a:gd name="f99" fmla="*/ f61 1 33"/>
                <a:gd name="f100" fmla="*/ f62 1 55"/>
                <a:gd name="f101" fmla="*/ f63 1 33"/>
                <a:gd name="f102" fmla="*/ f64 1 55"/>
                <a:gd name="f103" fmla="*/ f65 1 33"/>
                <a:gd name="f104" fmla="*/ f66 1 55"/>
                <a:gd name="f105" fmla="*/ f67 1 33"/>
                <a:gd name="f106" fmla="*/ f68 1 33"/>
                <a:gd name="f107" fmla="*/ f69 1 55"/>
                <a:gd name="f108" fmla="*/ f70 1 33"/>
                <a:gd name="f109" fmla="*/ f71 1 55"/>
                <a:gd name="f110" fmla="*/ f72 1 55"/>
                <a:gd name="f111" fmla="*/ f73 1 55"/>
                <a:gd name="f112" fmla="*/ f74 1 33"/>
                <a:gd name="f113" fmla="*/ f75 1 55"/>
                <a:gd name="f114" fmla="*/ f76 1 55"/>
                <a:gd name="f115" fmla="*/ f77 1 33"/>
                <a:gd name="f116" fmla="*/ f78 1 55"/>
                <a:gd name="f117" fmla="*/ f79 1 33"/>
                <a:gd name="f118" fmla="*/ f80 1 33"/>
                <a:gd name="f119" fmla="*/ f81 1 55"/>
                <a:gd name="f120" fmla="*/ f82 1 33"/>
                <a:gd name="f121" fmla="*/ f83 1 55"/>
                <a:gd name="f122" fmla="*/ f84 1 33"/>
                <a:gd name="f123" fmla="*/ f85 1 55"/>
                <a:gd name="f124" fmla="*/ f86 1 33"/>
                <a:gd name="f125" fmla="*/ f87 1 55"/>
                <a:gd name="f126" fmla="*/ f88 1 33"/>
                <a:gd name="f127" fmla="*/ f89 1 55"/>
                <a:gd name="f128" fmla="*/ f90 1 55"/>
                <a:gd name="f129" fmla="*/ f91 1 55"/>
                <a:gd name="f130" fmla="*/ f92 1 55"/>
                <a:gd name="f131" fmla="*/ f93 1 55"/>
                <a:gd name="f132" fmla="*/ 0 1 f55"/>
                <a:gd name="f133" fmla="*/ f6 1 f55"/>
                <a:gd name="f134" fmla="*/ 0 1 f56"/>
                <a:gd name="f135" fmla="*/ f7 1 f56"/>
                <a:gd name="f136" fmla="+- f94 0 f1"/>
                <a:gd name="f137" fmla="*/ f95 1 f55"/>
                <a:gd name="f138" fmla="*/ f96 1 f56"/>
                <a:gd name="f139" fmla="*/ f97 1 f55"/>
                <a:gd name="f140" fmla="*/ f98 1 f56"/>
                <a:gd name="f141" fmla="*/ f99 1 f55"/>
                <a:gd name="f142" fmla="*/ f100 1 f56"/>
                <a:gd name="f143" fmla="*/ f101 1 f55"/>
                <a:gd name="f144" fmla="*/ f102 1 f56"/>
                <a:gd name="f145" fmla="*/ f103 1 f55"/>
                <a:gd name="f146" fmla="*/ f104 1 f56"/>
                <a:gd name="f147" fmla="*/ f105 1 f55"/>
                <a:gd name="f148" fmla="*/ f106 1 f55"/>
                <a:gd name="f149" fmla="*/ f107 1 f56"/>
                <a:gd name="f150" fmla="*/ f108 1 f55"/>
                <a:gd name="f151" fmla="*/ f109 1 f56"/>
                <a:gd name="f152" fmla="*/ f110 1 f56"/>
                <a:gd name="f153" fmla="*/ f111 1 f56"/>
                <a:gd name="f154" fmla="*/ f112 1 f55"/>
                <a:gd name="f155" fmla="*/ f113 1 f56"/>
                <a:gd name="f156" fmla="*/ f114 1 f56"/>
                <a:gd name="f157" fmla="*/ f115 1 f55"/>
                <a:gd name="f158" fmla="*/ f116 1 f56"/>
                <a:gd name="f159" fmla="*/ f117 1 f55"/>
                <a:gd name="f160" fmla="*/ f118 1 f55"/>
                <a:gd name="f161" fmla="*/ f119 1 f56"/>
                <a:gd name="f162" fmla="*/ f120 1 f55"/>
                <a:gd name="f163" fmla="*/ f121 1 f56"/>
                <a:gd name="f164" fmla="*/ f122 1 f55"/>
                <a:gd name="f165" fmla="*/ f123 1 f56"/>
                <a:gd name="f166" fmla="*/ f124 1 f55"/>
                <a:gd name="f167" fmla="*/ f125 1 f56"/>
                <a:gd name="f168" fmla="*/ f126 1 f55"/>
                <a:gd name="f169" fmla="*/ f127 1 f56"/>
                <a:gd name="f170" fmla="*/ f128 1 f56"/>
                <a:gd name="f171" fmla="*/ f129 1 f56"/>
                <a:gd name="f172" fmla="*/ f130 1 f56"/>
                <a:gd name="f173" fmla="*/ f131 1 f56"/>
                <a:gd name="f174" fmla="*/ f132 f50 1"/>
                <a:gd name="f175" fmla="*/ f133 f50 1"/>
                <a:gd name="f176" fmla="*/ f135 f51 1"/>
                <a:gd name="f177" fmla="*/ f134 f51 1"/>
                <a:gd name="f178" fmla="*/ f137 f50 1"/>
                <a:gd name="f179" fmla="*/ f138 f51 1"/>
                <a:gd name="f180" fmla="*/ f139 f50 1"/>
                <a:gd name="f181" fmla="*/ f140 f51 1"/>
                <a:gd name="f182" fmla="*/ f141 f50 1"/>
                <a:gd name="f183" fmla="*/ f142 f51 1"/>
                <a:gd name="f184" fmla="*/ f143 f50 1"/>
                <a:gd name="f185" fmla="*/ f144 f51 1"/>
                <a:gd name="f186" fmla="*/ f145 f50 1"/>
                <a:gd name="f187" fmla="*/ f146 f51 1"/>
                <a:gd name="f188" fmla="*/ f147 f50 1"/>
                <a:gd name="f189" fmla="*/ f148 f50 1"/>
                <a:gd name="f190" fmla="*/ f149 f51 1"/>
                <a:gd name="f191" fmla="*/ f150 f50 1"/>
                <a:gd name="f192" fmla="*/ f151 f51 1"/>
                <a:gd name="f193" fmla="*/ f152 f51 1"/>
                <a:gd name="f194" fmla="*/ f153 f51 1"/>
                <a:gd name="f195" fmla="*/ f154 f50 1"/>
                <a:gd name="f196" fmla="*/ f155 f51 1"/>
                <a:gd name="f197" fmla="*/ f156 f51 1"/>
                <a:gd name="f198" fmla="*/ f157 f50 1"/>
                <a:gd name="f199" fmla="*/ f158 f51 1"/>
                <a:gd name="f200" fmla="*/ f159 f50 1"/>
                <a:gd name="f201" fmla="*/ f160 f50 1"/>
                <a:gd name="f202" fmla="*/ f161 f51 1"/>
                <a:gd name="f203" fmla="*/ f162 f50 1"/>
                <a:gd name="f204" fmla="*/ f163 f51 1"/>
                <a:gd name="f205" fmla="*/ f164 f50 1"/>
                <a:gd name="f206" fmla="*/ f165 f51 1"/>
                <a:gd name="f207" fmla="*/ f166 f50 1"/>
                <a:gd name="f208" fmla="*/ f167 f51 1"/>
                <a:gd name="f209" fmla="*/ f168 f50 1"/>
                <a:gd name="f210" fmla="*/ f169 f51 1"/>
                <a:gd name="f211" fmla="*/ f170 f51 1"/>
                <a:gd name="f212" fmla="*/ f171 f51 1"/>
                <a:gd name="f213" fmla="*/ f172 f51 1"/>
                <a:gd name="f214" fmla="*/ f173 f51 1"/>
              </a:gdLst>
              <a:ahLst/>
              <a:cxnLst>
                <a:cxn ang="3cd4">
                  <a:pos x="hc" y="t"/>
                </a:cxn>
                <a:cxn ang="0">
                  <a:pos x="r" y="vc"/>
                </a:cxn>
                <a:cxn ang="cd4">
                  <a:pos x="hc" y="b"/>
                </a:cxn>
                <a:cxn ang="cd2">
                  <a:pos x="l" y="vc"/>
                </a:cxn>
                <a:cxn ang="f136">
                  <a:pos x="f178" y="f179"/>
                </a:cxn>
                <a:cxn ang="f136">
                  <a:pos x="f180" y="f181"/>
                </a:cxn>
                <a:cxn ang="f136">
                  <a:pos x="f182" y="f183"/>
                </a:cxn>
                <a:cxn ang="f136">
                  <a:pos x="f184" y="f185"/>
                </a:cxn>
                <a:cxn ang="f136">
                  <a:pos x="f186" y="f187"/>
                </a:cxn>
                <a:cxn ang="f136">
                  <a:pos x="f188" y="f185"/>
                </a:cxn>
                <a:cxn ang="f136">
                  <a:pos x="f189" y="f183"/>
                </a:cxn>
                <a:cxn ang="f136">
                  <a:pos x="f189" y="f190"/>
                </a:cxn>
                <a:cxn ang="f136">
                  <a:pos x="f191" y="f190"/>
                </a:cxn>
                <a:cxn ang="f136">
                  <a:pos x="f191" y="f192"/>
                </a:cxn>
                <a:cxn ang="f136">
                  <a:pos x="f189" y="f193"/>
                </a:cxn>
                <a:cxn ang="f136">
                  <a:pos x="f189" y="f194"/>
                </a:cxn>
                <a:cxn ang="f136">
                  <a:pos x="f195" y="f196"/>
                </a:cxn>
                <a:cxn ang="f136">
                  <a:pos x="f188" y="f197"/>
                </a:cxn>
                <a:cxn ang="f136">
                  <a:pos x="f198" y="f199"/>
                </a:cxn>
                <a:cxn ang="f136">
                  <a:pos x="f200" y="f199"/>
                </a:cxn>
                <a:cxn ang="f136">
                  <a:pos x="f201" y="f197"/>
                </a:cxn>
                <a:cxn ang="f136">
                  <a:pos x="f182" y="f194"/>
                </a:cxn>
                <a:cxn ang="f136">
                  <a:pos x="f180" y="f202"/>
                </a:cxn>
                <a:cxn ang="f136">
                  <a:pos x="f178" y="f179"/>
                </a:cxn>
                <a:cxn ang="f136">
                  <a:pos x="f203" y="f179"/>
                </a:cxn>
                <a:cxn ang="f136">
                  <a:pos x="f184" y="f204"/>
                </a:cxn>
                <a:cxn ang="f136">
                  <a:pos x="f205" y="f206"/>
                </a:cxn>
                <a:cxn ang="f136">
                  <a:pos x="f198" y="f206"/>
                </a:cxn>
                <a:cxn ang="f136">
                  <a:pos x="f207" y="f208"/>
                </a:cxn>
                <a:cxn ang="f136">
                  <a:pos x="f209" y="f204"/>
                </a:cxn>
                <a:cxn ang="f136">
                  <a:pos x="f189" y="f202"/>
                </a:cxn>
                <a:cxn ang="f136">
                  <a:pos x="f189" y="f210"/>
                </a:cxn>
                <a:cxn ang="f136">
                  <a:pos x="f209" y="f181"/>
                </a:cxn>
                <a:cxn ang="f136">
                  <a:pos x="f207" y="f211"/>
                </a:cxn>
                <a:cxn ang="f136">
                  <a:pos x="f198" y="f212"/>
                </a:cxn>
                <a:cxn ang="f136">
                  <a:pos x="f186" y="f213"/>
                </a:cxn>
                <a:cxn ang="f136">
                  <a:pos x="f184" y="f214"/>
                </a:cxn>
                <a:cxn ang="f136">
                  <a:pos x="f203" y="f179"/>
                </a:cxn>
              </a:cxnLst>
              <a:rect l="f174" t="f177" r="f175" b="f176"/>
              <a:pathLst>
                <a:path w="33" h="55">
                  <a:moveTo>
                    <a:pt x="f6" y="f8"/>
                  </a:moveTo>
                  <a:cubicBezTo>
                    <a:pt x="f6" y="f9"/>
                    <a:pt x="f10" y="f11"/>
                    <a:pt x="f12" y="f13"/>
                  </a:cubicBezTo>
                  <a:cubicBezTo>
                    <a:pt x="f14" y="f15"/>
                    <a:pt x="f16" y="f17"/>
                    <a:pt x="f18" y="f19"/>
                  </a:cubicBezTo>
                  <a:cubicBezTo>
                    <a:pt x="f20" y="f21"/>
                    <a:pt x="f22" y="f23"/>
                    <a:pt x="f24" y="f23"/>
                  </a:cubicBezTo>
                  <a:cubicBezTo>
                    <a:pt x="f25" y="f26"/>
                    <a:pt x="f27" y="f7"/>
                    <a:pt x="f28" y="f7"/>
                  </a:cubicBezTo>
                  <a:cubicBezTo>
                    <a:pt x="f29" y="f7"/>
                    <a:pt x="f30" y="f26"/>
                    <a:pt x="f31" y="f23"/>
                  </a:cubicBezTo>
                  <a:cubicBezTo>
                    <a:pt x="f32" y="f33"/>
                    <a:pt x="f34" y="f21"/>
                    <a:pt x="f35" y="f19"/>
                  </a:cubicBezTo>
                  <a:cubicBezTo>
                    <a:pt x="f35" y="f26"/>
                    <a:pt x="f35" y="f26"/>
                    <a:pt x="f35" y="f26"/>
                  </a:cubicBezTo>
                  <a:cubicBezTo>
                    <a:pt x="f5" y="f26"/>
                    <a:pt x="f5" y="f26"/>
                    <a:pt x="f5" y="f26"/>
                  </a:cubicBezTo>
                  <a:cubicBezTo>
                    <a:pt x="f5" y="f36"/>
                    <a:pt x="f5" y="f36"/>
                    <a:pt x="f5" y="f36"/>
                  </a:cubicBezTo>
                  <a:cubicBezTo>
                    <a:pt x="f35" y="f5"/>
                    <a:pt x="f35" y="f5"/>
                    <a:pt x="f35" y="f5"/>
                  </a:cubicBezTo>
                  <a:cubicBezTo>
                    <a:pt x="f35" y="f27"/>
                    <a:pt x="f35" y="f27"/>
                    <a:pt x="f35" y="f27"/>
                  </a:cubicBezTo>
                  <a:cubicBezTo>
                    <a:pt x="f34" y="f37"/>
                    <a:pt x="f34" y="f37"/>
                    <a:pt x="f32" y="f28"/>
                  </a:cubicBezTo>
                  <a:cubicBezTo>
                    <a:pt x="f38" y="f28"/>
                    <a:pt x="f38" y="f29"/>
                    <a:pt x="f31" y="f29"/>
                  </a:cubicBezTo>
                  <a:cubicBezTo>
                    <a:pt x="f39" y="f29"/>
                    <a:pt x="f39" y="f40"/>
                    <a:pt x="f30" y="f40"/>
                  </a:cubicBezTo>
                  <a:cubicBezTo>
                    <a:pt x="f40" y="f40"/>
                    <a:pt x="f29" y="f40"/>
                    <a:pt x="f37" y="f40"/>
                  </a:cubicBezTo>
                  <a:cubicBezTo>
                    <a:pt x="f41" y="f40"/>
                    <a:pt x="f42" y="f40"/>
                    <a:pt x="f43" y="f29"/>
                  </a:cubicBezTo>
                  <a:cubicBezTo>
                    <a:pt x="f22" y="f29"/>
                    <a:pt x="f20" y="f37"/>
                    <a:pt x="f18" y="f27"/>
                  </a:cubicBezTo>
                  <a:cubicBezTo>
                    <a:pt x="f14" y="f25"/>
                    <a:pt x="f12" y="f24"/>
                    <a:pt x="f12" y="f44"/>
                  </a:cubicBezTo>
                  <a:cubicBezTo>
                    <a:pt x="f10" y="f18"/>
                    <a:pt x="f6" y="f10"/>
                    <a:pt x="f6" y="f8"/>
                  </a:cubicBezTo>
                  <a:close/>
                  <a:moveTo>
                    <a:pt x="f22" y="f8"/>
                  </a:moveTo>
                  <a:cubicBezTo>
                    <a:pt x="f22" y="f12"/>
                    <a:pt x="f43" y="f20"/>
                    <a:pt x="f24" y="f22"/>
                  </a:cubicBezTo>
                  <a:cubicBezTo>
                    <a:pt x="f25" y="f24"/>
                    <a:pt x="f27" y="f42"/>
                    <a:pt x="f29" y="f42"/>
                  </a:cubicBezTo>
                  <a:cubicBezTo>
                    <a:pt x="f40" y="f42"/>
                    <a:pt x="f40" y="f42"/>
                    <a:pt x="f30" y="f42"/>
                  </a:cubicBezTo>
                  <a:cubicBezTo>
                    <a:pt x="f39" y="f42"/>
                    <a:pt x="f31" y="f24"/>
                    <a:pt x="f38" y="f24"/>
                  </a:cubicBezTo>
                  <a:cubicBezTo>
                    <a:pt x="f38" y="f24"/>
                    <a:pt x="f32" y="f43"/>
                    <a:pt x="f34" y="f22"/>
                  </a:cubicBezTo>
                  <a:cubicBezTo>
                    <a:pt x="f34" y="f22"/>
                    <a:pt x="f35" y="f44"/>
                    <a:pt x="f35" y="f44"/>
                  </a:cubicBezTo>
                  <a:cubicBezTo>
                    <a:pt x="f35" y="f45"/>
                    <a:pt x="f35" y="f45"/>
                    <a:pt x="f35" y="f45"/>
                  </a:cubicBezTo>
                  <a:cubicBezTo>
                    <a:pt x="f35" y="f45"/>
                    <a:pt x="f34" y="f13"/>
                    <a:pt x="f34" y="f13"/>
                  </a:cubicBezTo>
                  <a:cubicBezTo>
                    <a:pt x="f32" y="f46"/>
                    <a:pt x="f38" y="f46"/>
                    <a:pt x="f38" y="f15"/>
                  </a:cubicBezTo>
                  <a:cubicBezTo>
                    <a:pt x="f31" y="f15"/>
                    <a:pt x="f39" y="f47"/>
                    <a:pt x="f30" y="f47"/>
                  </a:cubicBezTo>
                  <a:cubicBezTo>
                    <a:pt x="f40" y="f47"/>
                    <a:pt x="f29" y="f17"/>
                    <a:pt x="f28" y="f17"/>
                  </a:cubicBezTo>
                  <a:cubicBezTo>
                    <a:pt x="f27" y="f17"/>
                    <a:pt x="f25" y="f47"/>
                    <a:pt x="f24" y="f46"/>
                  </a:cubicBezTo>
                  <a:cubicBezTo>
                    <a:pt x="f43" y="f45"/>
                    <a:pt x="f22" y="f48"/>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0" name="Freeform 12">
              <a:extLst>
                <a:ext uri="{FF2B5EF4-FFF2-40B4-BE49-F238E27FC236}">
                  <a16:creationId xmlns:a16="http://schemas.microsoft.com/office/drawing/2014/main" id="{8F1186EC-AE05-0E7D-5CA7-0C9EABF68FE4}"/>
                </a:ext>
              </a:extLst>
            </p:cNvPr>
            <p:cNvSpPr/>
            <p:nvPr/>
          </p:nvSpPr>
          <p:spPr>
            <a:xfrm>
              <a:off x="956215"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30 f50 1"/>
                <a:gd name="f74" fmla="*/ 35 f49 1"/>
                <a:gd name="f75" fmla="*/ 27 f50 1"/>
                <a:gd name="f76" fmla="*/ 37 f49 1"/>
                <a:gd name="f77" fmla="*/ 24 f50 1"/>
                <a:gd name="f78" fmla="*/ 38 f49 1"/>
                <a:gd name="f79" fmla="*/ 39 f49 1"/>
                <a:gd name="f80" fmla="*/ 16 f50 1"/>
                <a:gd name="f81" fmla="*/ 40 f49 1"/>
                <a:gd name="f82" fmla="*/ 12 f50 1"/>
                <a:gd name="f83" fmla="*/ 5 f50 1"/>
                <a:gd name="f84" fmla="*/ 34 f49 1"/>
                <a:gd name="f85" fmla="*/ 2 f50 1"/>
                <a:gd name="f86" fmla="*/ 0 f50 1"/>
                <a:gd name="f87" fmla="*/ 26 f49 1"/>
                <a:gd name="f88" fmla="*/ 20 f49 1"/>
                <a:gd name="f89" fmla="*/ 1 f50 1"/>
                <a:gd name="f90" fmla="*/ 11 f49 1"/>
                <a:gd name="f91" fmla="*/ 4 f50 1"/>
                <a:gd name="f92" fmla="*/ 5 f49 1"/>
                <a:gd name="f93" fmla="*/ 1 f49 1"/>
                <a:gd name="f94" fmla="*/ 0 f49 1"/>
                <a:gd name="f95" fmla="*/ 29 f50 1"/>
                <a:gd name="f96" fmla="*/ 16 f49 1"/>
                <a:gd name="f97" fmla="*/ 12 f49 1"/>
                <a:gd name="f98" fmla="*/ 9 f49 1"/>
                <a:gd name="f99" fmla="*/ 20 f50 1"/>
                <a:gd name="f100" fmla="*/ 7 f49 1"/>
                <a:gd name="f101" fmla="*/ 6 f49 1"/>
                <a:gd name="f102" fmla="*/ f51 1 f2"/>
                <a:gd name="f103" fmla="*/ f54 1 33"/>
                <a:gd name="f104" fmla="*/ f55 1 40"/>
                <a:gd name="f105" fmla="*/ f56 1 40"/>
                <a:gd name="f106" fmla="*/ f57 1 33"/>
                <a:gd name="f107" fmla="*/ f58 1 40"/>
                <a:gd name="f108" fmla="*/ f59 1 33"/>
                <a:gd name="f109" fmla="*/ f60 1 33"/>
                <a:gd name="f110" fmla="*/ f61 1 40"/>
                <a:gd name="f111" fmla="*/ f62 1 33"/>
                <a:gd name="f112" fmla="*/ f63 1 40"/>
                <a:gd name="f113" fmla="*/ f64 1 33"/>
                <a:gd name="f114" fmla="*/ f65 1 40"/>
                <a:gd name="f115" fmla="*/ f66 1 33"/>
                <a:gd name="f116" fmla="*/ f67 1 40"/>
                <a:gd name="f117" fmla="*/ f68 1 33"/>
                <a:gd name="f118" fmla="*/ f69 1 33"/>
                <a:gd name="f119" fmla="*/ f70 1 33"/>
                <a:gd name="f120" fmla="*/ f71 1 40"/>
                <a:gd name="f121" fmla="*/ f72 1 33"/>
                <a:gd name="f122" fmla="*/ f73 1 33"/>
                <a:gd name="f123" fmla="*/ f74 1 40"/>
                <a:gd name="f124" fmla="*/ f75 1 33"/>
                <a:gd name="f125" fmla="*/ f76 1 40"/>
                <a:gd name="f126" fmla="*/ f77 1 33"/>
                <a:gd name="f127" fmla="*/ f78 1 40"/>
                <a:gd name="f128" fmla="*/ f79 1 40"/>
                <a:gd name="f129" fmla="*/ f80 1 33"/>
                <a:gd name="f130" fmla="*/ f81 1 40"/>
                <a:gd name="f131" fmla="*/ f82 1 33"/>
                <a:gd name="f132" fmla="*/ f83 1 33"/>
                <a:gd name="f133" fmla="*/ f84 1 40"/>
                <a:gd name="f134" fmla="*/ f85 1 33"/>
                <a:gd name="f135" fmla="*/ f86 1 33"/>
                <a:gd name="f136" fmla="*/ f87 1 40"/>
                <a:gd name="f137" fmla="*/ f88 1 40"/>
                <a:gd name="f138" fmla="*/ f89 1 33"/>
                <a:gd name="f139" fmla="*/ f90 1 40"/>
                <a:gd name="f140" fmla="*/ f91 1 33"/>
                <a:gd name="f141" fmla="*/ f92 1 40"/>
                <a:gd name="f142" fmla="*/ f93 1 40"/>
                <a:gd name="f143" fmla="*/ f94 1 40"/>
                <a:gd name="f144" fmla="*/ f95 1 33"/>
                <a:gd name="f145" fmla="*/ f96 1 40"/>
                <a:gd name="f146" fmla="*/ f97 1 40"/>
                <a:gd name="f147" fmla="*/ f98 1 40"/>
                <a:gd name="f148" fmla="*/ f99 1 33"/>
                <a:gd name="f149" fmla="*/ f100 1 40"/>
                <a:gd name="f150" fmla="*/ f101 1 40"/>
                <a:gd name="f151" fmla="*/ 0 1 f52"/>
                <a:gd name="f152" fmla="*/ f6 1 f52"/>
                <a:gd name="f153" fmla="*/ 0 1 f53"/>
                <a:gd name="f154" fmla="*/ f7 1 f53"/>
                <a:gd name="f155" fmla="+- f102 0 f1"/>
                <a:gd name="f156" fmla="*/ f103 1 f52"/>
                <a:gd name="f157" fmla="*/ f104 1 f53"/>
                <a:gd name="f158" fmla="*/ f105 1 f53"/>
                <a:gd name="f159" fmla="*/ f106 1 f52"/>
                <a:gd name="f160" fmla="*/ f107 1 f53"/>
                <a:gd name="f161" fmla="*/ f108 1 f52"/>
                <a:gd name="f162" fmla="*/ f109 1 f52"/>
                <a:gd name="f163" fmla="*/ f110 1 f53"/>
                <a:gd name="f164" fmla="*/ f111 1 f52"/>
                <a:gd name="f165" fmla="*/ f112 1 f53"/>
                <a:gd name="f166" fmla="*/ f113 1 f52"/>
                <a:gd name="f167" fmla="*/ f114 1 f53"/>
                <a:gd name="f168" fmla="*/ f115 1 f52"/>
                <a:gd name="f169" fmla="*/ f116 1 f53"/>
                <a:gd name="f170" fmla="*/ f117 1 f52"/>
                <a:gd name="f171" fmla="*/ f118 1 f52"/>
                <a:gd name="f172" fmla="*/ f119 1 f52"/>
                <a:gd name="f173" fmla="*/ f120 1 f53"/>
                <a:gd name="f174" fmla="*/ f121 1 f52"/>
                <a:gd name="f175" fmla="*/ f122 1 f52"/>
                <a:gd name="f176" fmla="*/ f123 1 f53"/>
                <a:gd name="f177" fmla="*/ f124 1 f52"/>
                <a:gd name="f178" fmla="*/ f125 1 f53"/>
                <a:gd name="f179" fmla="*/ f126 1 f52"/>
                <a:gd name="f180" fmla="*/ f127 1 f53"/>
                <a:gd name="f181" fmla="*/ f128 1 f53"/>
                <a:gd name="f182" fmla="*/ f129 1 f52"/>
                <a:gd name="f183" fmla="*/ f130 1 f53"/>
                <a:gd name="f184" fmla="*/ f131 1 f52"/>
                <a:gd name="f185" fmla="*/ f132 1 f52"/>
                <a:gd name="f186" fmla="*/ f133 1 f53"/>
                <a:gd name="f187" fmla="*/ f134 1 f52"/>
                <a:gd name="f188" fmla="*/ f135 1 f52"/>
                <a:gd name="f189" fmla="*/ f136 1 f53"/>
                <a:gd name="f190" fmla="*/ f137 1 f53"/>
                <a:gd name="f191" fmla="*/ f138 1 f52"/>
                <a:gd name="f192" fmla="*/ f139 1 f53"/>
                <a:gd name="f193" fmla="*/ f140 1 f52"/>
                <a:gd name="f194" fmla="*/ f141 1 f53"/>
                <a:gd name="f195" fmla="*/ f142 1 f53"/>
                <a:gd name="f196" fmla="*/ f143 1 f53"/>
                <a:gd name="f197" fmla="*/ f144 1 f52"/>
                <a:gd name="f198" fmla="*/ f145 1 f53"/>
                <a:gd name="f199" fmla="*/ f146 1 f53"/>
                <a:gd name="f200" fmla="*/ f147 1 f53"/>
                <a:gd name="f201" fmla="*/ f148 1 f52"/>
                <a:gd name="f202" fmla="*/ f149 1 f53"/>
                <a:gd name="f203" fmla="*/ f150 1 f53"/>
                <a:gd name="f204" fmla="*/ f151 f47 1"/>
                <a:gd name="f205" fmla="*/ f152 f47 1"/>
                <a:gd name="f206" fmla="*/ f154 f48 1"/>
                <a:gd name="f207" fmla="*/ f153 f48 1"/>
                <a:gd name="f208" fmla="*/ f156 f47 1"/>
                <a:gd name="f209" fmla="*/ f157 f48 1"/>
                <a:gd name="f210" fmla="*/ f158 f48 1"/>
                <a:gd name="f211" fmla="*/ f159 f47 1"/>
                <a:gd name="f212" fmla="*/ f160 f48 1"/>
                <a:gd name="f213" fmla="*/ f161 f47 1"/>
                <a:gd name="f214" fmla="*/ f162 f47 1"/>
                <a:gd name="f215" fmla="*/ f163 f48 1"/>
                <a:gd name="f216" fmla="*/ f164 f47 1"/>
                <a:gd name="f217" fmla="*/ f165 f48 1"/>
                <a:gd name="f218" fmla="*/ f166 f47 1"/>
                <a:gd name="f219" fmla="*/ f167 f48 1"/>
                <a:gd name="f220" fmla="*/ f168 f47 1"/>
                <a:gd name="f221" fmla="*/ f169 f48 1"/>
                <a:gd name="f222" fmla="*/ f170 f47 1"/>
                <a:gd name="f223" fmla="*/ f171 f47 1"/>
                <a:gd name="f224" fmla="*/ f172 f47 1"/>
                <a:gd name="f225" fmla="*/ f173 f48 1"/>
                <a:gd name="f226" fmla="*/ f174 f47 1"/>
                <a:gd name="f227" fmla="*/ f175 f47 1"/>
                <a:gd name="f228" fmla="*/ f176 f48 1"/>
                <a:gd name="f229" fmla="*/ f177 f47 1"/>
                <a:gd name="f230" fmla="*/ f178 f48 1"/>
                <a:gd name="f231" fmla="*/ f179 f47 1"/>
                <a:gd name="f232" fmla="*/ f180 f48 1"/>
                <a:gd name="f233" fmla="*/ f181 f48 1"/>
                <a:gd name="f234" fmla="*/ f182 f47 1"/>
                <a:gd name="f235" fmla="*/ f183 f48 1"/>
                <a:gd name="f236" fmla="*/ f184 f47 1"/>
                <a:gd name="f237" fmla="*/ f185 f47 1"/>
                <a:gd name="f238" fmla="*/ f186 f48 1"/>
                <a:gd name="f239" fmla="*/ f187 f47 1"/>
                <a:gd name="f240" fmla="*/ f188 f47 1"/>
                <a:gd name="f241" fmla="*/ f189 f48 1"/>
                <a:gd name="f242" fmla="*/ f190 f48 1"/>
                <a:gd name="f243" fmla="*/ f191 f47 1"/>
                <a:gd name="f244" fmla="*/ f192 f48 1"/>
                <a:gd name="f245" fmla="*/ f193 f47 1"/>
                <a:gd name="f246" fmla="*/ f194 f48 1"/>
                <a:gd name="f247" fmla="*/ f195 f48 1"/>
                <a:gd name="f248" fmla="*/ f196 f48 1"/>
                <a:gd name="f249" fmla="*/ f197 f47 1"/>
                <a:gd name="f250" fmla="*/ f198 f48 1"/>
                <a:gd name="f251" fmla="*/ f199 f48 1"/>
                <a:gd name="f252" fmla="*/ f200 f48 1"/>
                <a:gd name="f253" fmla="*/ f201 f47 1"/>
                <a:gd name="f254" fmla="*/ f202 f48 1"/>
                <a:gd name="f255" fmla="*/ f203 f48 1"/>
              </a:gdLst>
              <a:ahLst/>
              <a:cxnLst>
                <a:cxn ang="3cd4">
                  <a:pos x="hc" y="t"/>
                </a:cxn>
                <a:cxn ang="0">
                  <a:pos x="r" y="vc"/>
                </a:cxn>
                <a:cxn ang="cd4">
                  <a:pos x="hc" y="b"/>
                </a:cxn>
                <a:cxn ang="cd2">
                  <a:pos x="l" y="vc"/>
                </a:cxn>
                <a:cxn ang="f155">
                  <a:pos x="f208" y="f209"/>
                </a:cxn>
                <a:cxn ang="f155">
                  <a:pos x="f208" y="f210"/>
                </a:cxn>
                <a:cxn ang="f155">
                  <a:pos x="f211" y="f212"/>
                </a:cxn>
                <a:cxn ang="f155">
                  <a:pos x="f213" y="f212"/>
                </a:cxn>
                <a:cxn ang="f155">
                  <a:pos x="f214" y="f215"/>
                </a:cxn>
                <a:cxn ang="f155">
                  <a:pos x="f216" y="f217"/>
                </a:cxn>
                <a:cxn ang="f155">
                  <a:pos x="f218" y="f219"/>
                </a:cxn>
                <a:cxn ang="f155">
                  <a:pos x="f220" y="f221"/>
                </a:cxn>
                <a:cxn ang="f155">
                  <a:pos x="f222" y="f221"/>
                </a:cxn>
                <a:cxn ang="f155">
                  <a:pos x="f223" y="f219"/>
                </a:cxn>
                <a:cxn ang="f155">
                  <a:pos x="f224" y="f225"/>
                </a:cxn>
                <a:cxn ang="f155">
                  <a:pos x="f226" y="f217"/>
                </a:cxn>
                <a:cxn ang="f155">
                  <a:pos x="f227" y="f228"/>
                </a:cxn>
                <a:cxn ang="f155">
                  <a:pos x="f229" y="f230"/>
                </a:cxn>
                <a:cxn ang="f155">
                  <a:pos x="f231" y="f232"/>
                </a:cxn>
                <a:cxn ang="f155">
                  <a:pos x="f223" y="f233"/>
                </a:cxn>
                <a:cxn ang="f155">
                  <a:pos x="f234" y="f235"/>
                </a:cxn>
                <a:cxn ang="f155">
                  <a:pos x="f236" y="f233"/>
                </a:cxn>
                <a:cxn ang="f155">
                  <a:pos x="f214" y="f230"/>
                </a:cxn>
                <a:cxn ang="f155">
                  <a:pos x="f237" y="f238"/>
                </a:cxn>
                <a:cxn ang="f155">
                  <a:pos x="f239" y="f225"/>
                </a:cxn>
                <a:cxn ang="f155">
                  <a:pos x="f240" y="f241"/>
                </a:cxn>
                <a:cxn ang="f155">
                  <a:pos x="f240" y="f242"/>
                </a:cxn>
                <a:cxn ang="f155">
                  <a:pos x="f243" y="f244"/>
                </a:cxn>
                <a:cxn ang="f155">
                  <a:pos x="f245" y="f246"/>
                </a:cxn>
                <a:cxn ang="f155">
                  <a:pos x="f216" y="f247"/>
                </a:cxn>
                <a:cxn ang="f155">
                  <a:pos x="f234" y="f248"/>
                </a:cxn>
                <a:cxn ang="f155">
                  <a:pos x="f231" y="f247"/>
                </a:cxn>
                <a:cxn ang="f155">
                  <a:pos x="f249" y="f246"/>
                </a:cxn>
                <a:cxn ang="f155">
                  <a:pos x="f211" y="f244"/>
                </a:cxn>
                <a:cxn ang="f155">
                  <a:pos x="f208" y="f209"/>
                </a:cxn>
                <a:cxn ang="f155">
                  <a:pos x="f226" y="f250"/>
                </a:cxn>
                <a:cxn ang="f155">
                  <a:pos x="f231" y="f251"/>
                </a:cxn>
                <a:cxn ang="f155">
                  <a:pos x="f224" y="f252"/>
                </a:cxn>
                <a:cxn ang="f155">
                  <a:pos x="f253" y="f254"/>
                </a:cxn>
                <a:cxn ang="f155">
                  <a:pos x="f234" y="f255"/>
                </a:cxn>
                <a:cxn ang="f155">
                  <a:pos x="f236" y="f254"/>
                </a:cxn>
                <a:cxn ang="f155">
                  <a:pos x="f216" y="f252"/>
                </a:cxn>
                <a:cxn ang="f155">
                  <a:pos x="f214" y="f251"/>
                </a:cxn>
                <a:cxn ang="f155">
                  <a:pos x="f213" y="f250"/>
                </a:cxn>
                <a:cxn ang="f155">
                  <a:pos x="f226" y="f250"/>
                </a:cxn>
              </a:cxnLst>
              <a:rect l="f204" t="f207" r="f205" b="f206"/>
              <a:pathLst>
                <a:path w="33" h="40">
                  <a:moveTo>
                    <a:pt x="f6" y="f8"/>
                  </a:moveTo>
                  <a:cubicBezTo>
                    <a:pt x="f6" y="f8"/>
                    <a:pt x="f6" y="f9"/>
                    <a:pt x="f6" y="f10"/>
                  </a:cubicBezTo>
                  <a:cubicBezTo>
                    <a:pt x="f6"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10" y="f11"/>
                    <a:pt x="f10" y="f11"/>
                  </a:cubicBezTo>
                  <a:cubicBezTo>
                    <a:pt x="f12" y="f11"/>
                    <a:pt x="f12" y="f24"/>
                    <a:pt x="f31" y="f24"/>
                  </a:cubicBezTo>
                  <a:cubicBezTo>
                    <a:pt x="f14" y="f24"/>
                    <a:pt x="f14" y="f22"/>
                    <a:pt x="f32" y="f22"/>
                  </a:cubicBezTo>
                  <a:cubicBezTo>
                    <a:pt x="f22" y="f33"/>
                    <a:pt x="f22" y="f33"/>
                    <a:pt x="f22" y="f33"/>
                  </a:cubicBezTo>
                  <a:cubicBezTo>
                    <a:pt x="f21" y="f33"/>
                    <a:pt x="f19" y="f34"/>
                    <a:pt x="f17" y="f35"/>
                  </a:cubicBezTo>
                  <a:cubicBezTo>
                    <a:pt x="f16" y="f35"/>
                    <a:pt x="f32" y="f36"/>
                    <a:pt x="f14" y="f36"/>
                  </a:cubicBezTo>
                  <a:cubicBezTo>
                    <a:pt x="f31" y="f37"/>
                    <a:pt x="f12" y="f37"/>
                    <a:pt x="f10"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30"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1" name="Freeform 13">
              <a:extLst>
                <a:ext uri="{FF2B5EF4-FFF2-40B4-BE49-F238E27FC236}">
                  <a16:creationId xmlns:a16="http://schemas.microsoft.com/office/drawing/2014/main" id="{3115CE20-49B1-A0CB-CAE8-CEEE21F10480}"/>
                </a:ext>
              </a:extLst>
            </p:cNvPr>
            <p:cNvSpPr/>
            <p:nvPr/>
          </p:nvSpPr>
          <p:spPr>
            <a:xfrm>
              <a:off x="1050325"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2"/>
                <a:gd name="f19" fmla="val 11"/>
                <a:gd name="f20" fmla="val 10"/>
                <a:gd name="f21" fmla="val 9"/>
                <a:gd name="f22" fmla="val 8"/>
                <a:gd name="f23" fmla="val 52"/>
                <a:gd name="f24" fmla="val 7"/>
                <a:gd name="f25" fmla="val 51"/>
                <a:gd name="f26" fmla="val 6"/>
                <a:gd name="f27" fmla="val 50"/>
                <a:gd name="f28" fmla="val 49"/>
                <a:gd name="f29" fmla="val 48"/>
                <a:gd name="f30" fmla="val 5"/>
                <a:gd name="f31" fmla="val 46"/>
                <a:gd name="f32" fmla="val 44"/>
                <a:gd name="f33" fmla="val 4"/>
                <a:gd name="f34" fmla="val 4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1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3 f42 1"/>
                <a:gd name="f64" fmla="*/ 0 f41 1"/>
                <a:gd name="f65" fmla="*/ 22 f42 1"/>
                <a:gd name="f66" fmla="*/ 43 f41 1"/>
                <a:gd name="f67" fmla="*/ 45 f41 1"/>
                <a:gd name="f68" fmla="*/ 47 f41 1"/>
                <a:gd name="f69" fmla="*/ 15 f42 1"/>
                <a:gd name="f70" fmla="*/ 17 f42 1"/>
                <a:gd name="f71" fmla="*/ 48 f41 1"/>
                <a:gd name="f72" fmla="*/ 20 f42 1"/>
                <a:gd name="f73" fmla="*/ 46 f41 1"/>
                <a:gd name="f74" fmla="*/ f43 1 f2"/>
                <a:gd name="f75" fmla="*/ f46 1 22"/>
                <a:gd name="f76" fmla="*/ f47 1 55"/>
                <a:gd name="f77" fmla="*/ f48 1 22"/>
                <a:gd name="f78" fmla="*/ f49 1 55"/>
                <a:gd name="f79" fmla="*/ f50 1 22"/>
                <a:gd name="f80" fmla="*/ f51 1 55"/>
                <a:gd name="f81" fmla="*/ f52 1 22"/>
                <a:gd name="f82" fmla="*/ f53 1 22"/>
                <a:gd name="f83" fmla="*/ f54 1 55"/>
                <a:gd name="f84" fmla="*/ f55 1 22"/>
                <a:gd name="f85" fmla="*/ f56 1 55"/>
                <a:gd name="f86" fmla="*/ f57 1 22"/>
                <a:gd name="f87" fmla="*/ f58 1 55"/>
                <a:gd name="f88" fmla="*/ f59 1 55"/>
                <a:gd name="f89" fmla="*/ f60 1 22"/>
                <a:gd name="f90" fmla="*/ f61 1 55"/>
                <a:gd name="f91" fmla="*/ f62 1 55"/>
                <a:gd name="f92" fmla="*/ f63 1 22"/>
                <a:gd name="f93" fmla="*/ f64 1 55"/>
                <a:gd name="f94" fmla="*/ f65 1 22"/>
                <a:gd name="f95" fmla="*/ f66 1 55"/>
                <a:gd name="f96" fmla="*/ f67 1 55"/>
                <a:gd name="f97" fmla="*/ f68 1 55"/>
                <a:gd name="f98" fmla="*/ f69 1 22"/>
                <a:gd name="f99" fmla="*/ f70 1 22"/>
                <a:gd name="f100" fmla="*/ f71 1 55"/>
                <a:gd name="f101" fmla="*/ f72 1 22"/>
                <a:gd name="f102" fmla="*/ f73 1 55"/>
                <a:gd name="f103" fmla="*/ 0 1 f44"/>
                <a:gd name="f104" fmla="*/ f6 1 f44"/>
                <a:gd name="f105" fmla="*/ 0 1 f45"/>
                <a:gd name="f106" fmla="*/ f7 1 f45"/>
                <a:gd name="f107" fmla="+- f74 0 f1"/>
                <a:gd name="f108" fmla="*/ f75 1 f44"/>
                <a:gd name="f109" fmla="*/ f76 1 f45"/>
                <a:gd name="f110" fmla="*/ f77 1 f44"/>
                <a:gd name="f111" fmla="*/ f78 1 f45"/>
                <a:gd name="f112" fmla="*/ f79 1 f44"/>
                <a:gd name="f113" fmla="*/ f80 1 f45"/>
                <a:gd name="f114" fmla="*/ f81 1 f44"/>
                <a:gd name="f115" fmla="*/ f82 1 f44"/>
                <a:gd name="f116" fmla="*/ f83 1 f45"/>
                <a:gd name="f117" fmla="*/ f84 1 f44"/>
                <a:gd name="f118" fmla="*/ f85 1 f45"/>
                <a:gd name="f119" fmla="*/ f86 1 f44"/>
                <a:gd name="f120" fmla="*/ f87 1 f45"/>
                <a:gd name="f121" fmla="*/ f88 1 f45"/>
                <a:gd name="f122" fmla="*/ f89 1 f44"/>
                <a:gd name="f123" fmla="*/ f90 1 f45"/>
                <a:gd name="f124" fmla="*/ f91 1 f45"/>
                <a:gd name="f125" fmla="*/ f92 1 f44"/>
                <a:gd name="f126" fmla="*/ f93 1 f45"/>
                <a:gd name="f127" fmla="*/ f94 1 f44"/>
                <a:gd name="f128" fmla="*/ f95 1 f45"/>
                <a:gd name="f129" fmla="*/ f96 1 f45"/>
                <a:gd name="f130" fmla="*/ f97 1 f45"/>
                <a:gd name="f131" fmla="*/ f98 1 f44"/>
                <a:gd name="f132" fmla="*/ f99 1 f44"/>
                <a:gd name="f133" fmla="*/ f100 1 f45"/>
                <a:gd name="f134" fmla="*/ f101 1 f44"/>
                <a:gd name="f135" fmla="*/ f102 1 f45"/>
                <a:gd name="f136" fmla="*/ f103 f39 1"/>
                <a:gd name="f137" fmla="*/ f104 f39 1"/>
                <a:gd name="f138" fmla="*/ f106 f40 1"/>
                <a:gd name="f139" fmla="*/ f105 f40 1"/>
                <a:gd name="f140" fmla="*/ f108 f39 1"/>
                <a:gd name="f141" fmla="*/ f109 f40 1"/>
                <a:gd name="f142" fmla="*/ f110 f39 1"/>
                <a:gd name="f143" fmla="*/ f111 f40 1"/>
                <a:gd name="f144" fmla="*/ f112 f39 1"/>
                <a:gd name="f145" fmla="*/ f113 f40 1"/>
                <a:gd name="f146" fmla="*/ f114 f39 1"/>
                <a:gd name="f147" fmla="*/ f115 f39 1"/>
                <a:gd name="f148" fmla="*/ f116 f40 1"/>
                <a:gd name="f149" fmla="*/ f117 f39 1"/>
                <a:gd name="f150" fmla="*/ f118 f40 1"/>
                <a:gd name="f151" fmla="*/ f119 f39 1"/>
                <a:gd name="f152" fmla="*/ f120 f40 1"/>
                <a:gd name="f153" fmla="*/ f121 f40 1"/>
                <a:gd name="f154" fmla="*/ f122 f39 1"/>
                <a:gd name="f155" fmla="*/ f123 f40 1"/>
                <a:gd name="f156" fmla="*/ f124 f40 1"/>
                <a:gd name="f157" fmla="*/ f125 f39 1"/>
                <a:gd name="f158" fmla="*/ f126 f40 1"/>
                <a:gd name="f159" fmla="*/ f127 f39 1"/>
                <a:gd name="f160" fmla="*/ f128 f40 1"/>
                <a:gd name="f161" fmla="*/ f129 f40 1"/>
                <a:gd name="f162" fmla="*/ f130 f40 1"/>
                <a:gd name="f163" fmla="*/ f131 f39 1"/>
                <a:gd name="f164" fmla="*/ f132 f39 1"/>
                <a:gd name="f165" fmla="*/ f133 f40 1"/>
                <a:gd name="f166" fmla="*/ f134 f39 1"/>
                <a:gd name="f167" fmla="*/ f135 f40 1"/>
              </a:gdLst>
              <a:ahLst/>
              <a:cxnLst>
                <a:cxn ang="3cd4">
                  <a:pos x="hc" y="t"/>
                </a:cxn>
                <a:cxn ang="0">
                  <a:pos x="r" y="vc"/>
                </a:cxn>
                <a:cxn ang="cd4">
                  <a:pos x="hc" y="b"/>
                </a:cxn>
                <a:cxn ang="cd2">
                  <a:pos x="l" y="vc"/>
                </a:cxn>
                <a:cxn ang="f107">
                  <a:pos x="f140" y="f141"/>
                </a:cxn>
                <a:cxn ang="f107">
                  <a:pos x="f142" y="f143"/>
                </a:cxn>
                <a:cxn ang="f107">
                  <a:pos x="f144" y="f145"/>
                </a:cxn>
                <a:cxn ang="f107">
                  <a:pos x="f146" y="f143"/>
                </a:cxn>
                <a:cxn ang="f107">
                  <a:pos x="f147" y="f148"/>
                </a:cxn>
                <a:cxn ang="f107">
                  <a:pos x="f149" y="f150"/>
                </a:cxn>
                <a:cxn ang="f107">
                  <a:pos x="f151" y="f152"/>
                </a:cxn>
                <a:cxn ang="f107">
                  <a:pos x="f151" y="f153"/>
                </a:cxn>
                <a:cxn ang="f107">
                  <a:pos x="f154" y="f153"/>
                </a:cxn>
                <a:cxn ang="f107">
                  <a:pos x="f154" y="f155"/>
                </a:cxn>
                <a:cxn ang="f107">
                  <a:pos x="f151" y="f155"/>
                </a:cxn>
                <a:cxn ang="f107">
                  <a:pos x="f151" y="f156"/>
                </a:cxn>
                <a:cxn ang="f107">
                  <a:pos x="f157" y="f158"/>
                </a:cxn>
                <a:cxn ang="f107">
                  <a:pos x="f157" y="f155"/>
                </a:cxn>
                <a:cxn ang="f107">
                  <a:pos x="f159" y="f155"/>
                </a:cxn>
                <a:cxn ang="f107">
                  <a:pos x="f159" y="f153"/>
                </a:cxn>
                <a:cxn ang="f107">
                  <a:pos x="f157" y="f153"/>
                </a:cxn>
                <a:cxn ang="f107">
                  <a:pos x="f157" y="f160"/>
                </a:cxn>
                <a:cxn ang="f107">
                  <a:pos x="f157" y="f161"/>
                </a:cxn>
                <a:cxn ang="f107">
                  <a:pos x="f144" y="f162"/>
                </a:cxn>
                <a:cxn ang="f107">
                  <a:pos x="f163" y="f162"/>
                </a:cxn>
                <a:cxn ang="f107">
                  <a:pos x="f164" y="f165"/>
                </a:cxn>
                <a:cxn ang="f107">
                  <a:pos x="f166" y="f162"/>
                </a:cxn>
                <a:cxn ang="f107">
                  <a:pos x="f159" y="f167"/>
                </a:cxn>
                <a:cxn ang="f107">
                  <a:pos x="f140" y="f141"/>
                </a:cxn>
              </a:cxnLst>
              <a:rect l="f136" t="f139" r="f137" b="f138"/>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4" y="f25"/>
                    <a:pt x="f26" y="f27"/>
                    <a:pt x="f26" y="f28"/>
                  </a:cubicBezTo>
                  <a:cubicBezTo>
                    <a:pt x="f26" y="f29"/>
                    <a:pt x="f30" y="f31"/>
                    <a:pt x="f30" y="f32"/>
                  </a:cubicBezTo>
                  <a:cubicBezTo>
                    <a:pt x="f30" y="f6"/>
                    <a:pt x="f30" y="f6"/>
                    <a:pt x="f30" y="f6"/>
                  </a:cubicBezTo>
                  <a:cubicBezTo>
                    <a:pt x="f5" y="f6"/>
                    <a:pt x="f5" y="f6"/>
                    <a:pt x="f5" y="f6"/>
                  </a:cubicBezTo>
                  <a:cubicBezTo>
                    <a:pt x="f5" y="f15"/>
                    <a:pt x="f5" y="f15"/>
                    <a:pt x="f5" y="f15"/>
                  </a:cubicBezTo>
                  <a:cubicBezTo>
                    <a:pt x="f30" y="f15"/>
                    <a:pt x="f30" y="f15"/>
                    <a:pt x="f30" y="f15"/>
                  </a:cubicBezTo>
                  <a:cubicBezTo>
                    <a:pt x="f30" y="f33"/>
                    <a:pt x="f30" y="f33"/>
                    <a:pt x="f30" y="f33"/>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4"/>
                    <a:pt x="f17" y="f34"/>
                    <a:pt x="f17" y="f34"/>
                  </a:cubicBezTo>
                  <a:cubicBezTo>
                    <a:pt x="f17" y="f32"/>
                    <a:pt x="f17" y="f35"/>
                    <a:pt x="f17" y="f35"/>
                  </a:cubicBezTo>
                  <a:cubicBezTo>
                    <a:pt x="f17" y="f31"/>
                    <a:pt x="f17" y="f31"/>
                    <a:pt x="f16" y="f36"/>
                  </a:cubicBezTo>
                  <a:cubicBezTo>
                    <a:pt x="f16" y="f36"/>
                    <a:pt x="f16" y="f36"/>
                    <a:pt x="f15" y="f36"/>
                  </a:cubicBezTo>
                  <a:cubicBezTo>
                    <a:pt x="f15" y="f29"/>
                    <a:pt x="f37" y="f29"/>
                    <a:pt x="f14" y="f29"/>
                  </a:cubicBezTo>
                  <a:cubicBezTo>
                    <a:pt x="f13" y="f29"/>
                    <a:pt x="f11" y="f29"/>
                    <a:pt x="f10" y="f36"/>
                  </a:cubicBezTo>
                  <a:cubicBezTo>
                    <a:pt x="f8" y="f36"/>
                    <a:pt x="f6" y="f36"/>
                    <a:pt x="f6" y="f31"/>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2" name="Freeform 14">
              <a:extLst>
                <a:ext uri="{FF2B5EF4-FFF2-40B4-BE49-F238E27FC236}">
                  <a16:creationId xmlns:a16="http://schemas.microsoft.com/office/drawing/2014/main" id="{AB75B48B-8E56-7E1D-537C-D5985E157171}"/>
                </a:ext>
              </a:extLst>
            </p:cNvPr>
            <p:cNvSpPr/>
            <p:nvPr/>
          </p:nvSpPr>
          <p:spPr>
            <a:xfrm>
              <a:off x="111829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3" name="Freeform 15">
              <a:extLst>
                <a:ext uri="{FF2B5EF4-FFF2-40B4-BE49-F238E27FC236}">
                  <a16:creationId xmlns:a16="http://schemas.microsoft.com/office/drawing/2014/main" id="{AE53CAFF-9A06-5D4C-9200-207EB53AFD15}"/>
                </a:ext>
              </a:extLst>
            </p:cNvPr>
            <p:cNvSpPr/>
            <p:nvPr/>
          </p:nvSpPr>
          <p:spPr>
            <a:xfrm>
              <a:off x="1189753"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29 f50 1"/>
                <a:gd name="f74" fmla="*/ 35 f49 1"/>
                <a:gd name="f75" fmla="*/ 27 f50 1"/>
                <a:gd name="f76" fmla="*/ 37 f49 1"/>
                <a:gd name="f77" fmla="*/ 24 f50 1"/>
                <a:gd name="f78" fmla="*/ 38 f49 1"/>
                <a:gd name="f79" fmla="*/ 20 f50 1"/>
                <a:gd name="f80" fmla="*/ 39 f49 1"/>
                <a:gd name="f81" fmla="*/ 16 f50 1"/>
                <a:gd name="f82" fmla="*/ 40 f49 1"/>
                <a:gd name="f83" fmla="*/ 12 f50 1"/>
                <a:gd name="f84" fmla="*/ 5 f50 1"/>
                <a:gd name="f85" fmla="*/ 34 f49 1"/>
                <a:gd name="f86" fmla="*/ 2 f50 1"/>
                <a:gd name="f87" fmla="*/ 0 f50 1"/>
                <a:gd name="f88" fmla="*/ 26 f49 1"/>
                <a:gd name="f89" fmla="*/ 20 f49 1"/>
                <a:gd name="f90" fmla="*/ 1 f50 1"/>
                <a:gd name="f91" fmla="*/ 11 f49 1"/>
                <a:gd name="f92" fmla="*/ 4 f50 1"/>
                <a:gd name="f93" fmla="*/ 5 f49 1"/>
                <a:gd name="f94" fmla="*/ 1 f49 1"/>
                <a:gd name="f95" fmla="*/ 0 f49 1"/>
                <a:gd name="f96" fmla="*/ 16 f49 1"/>
                <a:gd name="f97" fmla="*/ 12 f49 1"/>
                <a:gd name="f98" fmla="*/ 9 f49 1"/>
                <a:gd name="f99" fmla="*/ 7 f49 1"/>
                <a:gd name="f100" fmla="*/ 6 f49 1"/>
                <a:gd name="f101" fmla="*/ f51 1 f2"/>
                <a:gd name="f102" fmla="*/ f54 1 33"/>
                <a:gd name="f103" fmla="*/ f55 1 40"/>
                <a:gd name="f104" fmla="*/ f56 1 40"/>
                <a:gd name="f105" fmla="*/ f57 1 33"/>
                <a:gd name="f106" fmla="*/ f58 1 40"/>
                <a:gd name="f107" fmla="*/ f59 1 33"/>
                <a:gd name="f108" fmla="*/ f60 1 33"/>
                <a:gd name="f109" fmla="*/ f61 1 40"/>
                <a:gd name="f110" fmla="*/ f62 1 33"/>
                <a:gd name="f111" fmla="*/ f63 1 40"/>
                <a:gd name="f112" fmla="*/ f64 1 33"/>
                <a:gd name="f113" fmla="*/ f65 1 40"/>
                <a:gd name="f114" fmla="*/ f66 1 33"/>
                <a:gd name="f115" fmla="*/ f67 1 40"/>
                <a:gd name="f116" fmla="*/ f68 1 33"/>
                <a:gd name="f117" fmla="*/ f69 1 33"/>
                <a:gd name="f118" fmla="*/ f70 1 33"/>
                <a:gd name="f119" fmla="*/ f71 1 40"/>
                <a:gd name="f120" fmla="*/ f72 1 33"/>
                <a:gd name="f121" fmla="*/ f73 1 33"/>
                <a:gd name="f122" fmla="*/ f74 1 40"/>
                <a:gd name="f123" fmla="*/ f75 1 33"/>
                <a:gd name="f124" fmla="*/ f76 1 40"/>
                <a:gd name="f125" fmla="*/ f77 1 33"/>
                <a:gd name="f126" fmla="*/ f78 1 40"/>
                <a:gd name="f127" fmla="*/ f79 1 33"/>
                <a:gd name="f128" fmla="*/ f80 1 40"/>
                <a:gd name="f129" fmla="*/ f81 1 33"/>
                <a:gd name="f130" fmla="*/ f82 1 40"/>
                <a:gd name="f131" fmla="*/ f83 1 33"/>
                <a:gd name="f132" fmla="*/ f84 1 33"/>
                <a:gd name="f133" fmla="*/ f85 1 40"/>
                <a:gd name="f134" fmla="*/ f86 1 33"/>
                <a:gd name="f135" fmla="*/ f87 1 33"/>
                <a:gd name="f136" fmla="*/ f88 1 40"/>
                <a:gd name="f137" fmla="*/ f89 1 40"/>
                <a:gd name="f138" fmla="*/ f90 1 33"/>
                <a:gd name="f139" fmla="*/ f91 1 40"/>
                <a:gd name="f140" fmla="*/ f92 1 33"/>
                <a:gd name="f141" fmla="*/ f93 1 40"/>
                <a:gd name="f142" fmla="*/ f94 1 40"/>
                <a:gd name="f143" fmla="*/ f95 1 40"/>
                <a:gd name="f144" fmla="*/ f96 1 40"/>
                <a:gd name="f145" fmla="*/ f97 1 40"/>
                <a:gd name="f146" fmla="*/ f98 1 40"/>
                <a:gd name="f147" fmla="*/ f99 1 40"/>
                <a:gd name="f148" fmla="*/ f100 1 40"/>
                <a:gd name="f149" fmla="*/ 0 1 f52"/>
                <a:gd name="f150" fmla="*/ f6 1 f52"/>
                <a:gd name="f151" fmla="*/ 0 1 f53"/>
                <a:gd name="f152" fmla="*/ f7 1 f53"/>
                <a:gd name="f153" fmla="+- f101 0 f1"/>
                <a:gd name="f154" fmla="*/ f102 1 f52"/>
                <a:gd name="f155" fmla="*/ f103 1 f53"/>
                <a:gd name="f156" fmla="*/ f104 1 f53"/>
                <a:gd name="f157" fmla="*/ f105 1 f52"/>
                <a:gd name="f158" fmla="*/ f106 1 f53"/>
                <a:gd name="f159" fmla="*/ f107 1 f52"/>
                <a:gd name="f160" fmla="*/ f108 1 f52"/>
                <a:gd name="f161" fmla="*/ f109 1 f53"/>
                <a:gd name="f162" fmla="*/ f110 1 f52"/>
                <a:gd name="f163" fmla="*/ f111 1 f53"/>
                <a:gd name="f164" fmla="*/ f112 1 f52"/>
                <a:gd name="f165" fmla="*/ f113 1 f53"/>
                <a:gd name="f166" fmla="*/ f114 1 f52"/>
                <a:gd name="f167" fmla="*/ f115 1 f53"/>
                <a:gd name="f168" fmla="*/ f116 1 f52"/>
                <a:gd name="f169" fmla="*/ f117 1 f52"/>
                <a:gd name="f170" fmla="*/ f118 1 f52"/>
                <a:gd name="f171" fmla="*/ f119 1 f53"/>
                <a:gd name="f172" fmla="*/ f120 1 f52"/>
                <a:gd name="f173" fmla="*/ f121 1 f52"/>
                <a:gd name="f174" fmla="*/ f122 1 f53"/>
                <a:gd name="f175" fmla="*/ f123 1 f52"/>
                <a:gd name="f176" fmla="*/ f124 1 f53"/>
                <a:gd name="f177" fmla="*/ f125 1 f52"/>
                <a:gd name="f178" fmla="*/ f126 1 f53"/>
                <a:gd name="f179" fmla="*/ f127 1 f52"/>
                <a:gd name="f180" fmla="*/ f128 1 f53"/>
                <a:gd name="f181" fmla="*/ f129 1 f52"/>
                <a:gd name="f182" fmla="*/ f130 1 f53"/>
                <a:gd name="f183" fmla="*/ f131 1 f52"/>
                <a:gd name="f184" fmla="*/ f132 1 f52"/>
                <a:gd name="f185" fmla="*/ f133 1 f53"/>
                <a:gd name="f186" fmla="*/ f134 1 f52"/>
                <a:gd name="f187" fmla="*/ f135 1 f52"/>
                <a:gd name="f188" fmla="*/ f136 1 f53"/>
                <a:gd name="f189" fmla="*/ f137 1 f53"/>
                <a:gd name="f190" fmla="*/ f138 1 f52"/>
                <a:gd name="f191" fmla="*/ f139 1 f53"/>
                <a:gd name="f192" fmla="*/ f140 1 f52"/>
                <a:gd name="f193" fmla="*/ f141 1 f53"/>
                <a:gd name="f194" fmla="*/ f142 1 f53"/>
                <a:gd name="f195" fmla="*/ f143 1 f53"/>
                <a:gd name="f196" fmla="*/ f144 1 f53"/>
                <a:gd name="f197" fmla="*/ f145 1 f53"/>
                <a:gd name="f198" fmla="*/ f146 1 f53"/>
                <a:gd name="f199" fmla="*/ f147 1 f53"/>
                <a:gd name="f200" fmla="*/ f148 1 f53"/>
                <a:gd name="f201" fmla="*/ f149 f47 1"/>
                <a:gd name="f202" fmla="*/ f150 f47 1"/>
                <a:gd name="f203" fmla="*/ f152 f48 1"/>
                <a:gd name="f204" fmla="*/ f151 f48 1"/>
                <a:gd name="f205" fmla="*/ f154 f47 1"/>
                <a:gd name="f206" fmla="*/ f155 f48 1"/>
                <a:gd name="f207" fmla="*/ f156 f48 1"/>
                <a:gd name="f208" fmla="*/ f157 f47 1"/>
                <a:gd name="f209" fmla="*/ f158 f48 1"/>
                <a:gd name="f210" fmla="*/ f159 f47 1"/>
                <a:gd name="f211" fmla="*/ f160 f47 1"/>
                <a:gd name="f212" fmla="*/ f161 f48 1"/>
                <a:gd name="f213" fmla="*/ f162 f47 1"/>
                <a:gd name="f214" fmla="*/ f163 f48 1"/>
                <a:gd name="f215" fmla="*/ f164 f47 1"/>
                <a:gd name="f216" fmla="*/ f165 f48 1"/>
                <a:gd name="f217" fmla="*/ f166 f47 1"/>
                <a:gd name="f218" fmla="*/ f167 f48 1"/>
                <a:gd name="f219" fmla="*/ f168 f47 1"/>
                <a:gd name="f220" fmla="*/ f169 f47 1"/>
                <a:gd name="f221" fmla="*/ f170 f47 1"/>
                <a:gd name="f222" fmla="*/ f171 f48 1"/>
                <a:gd name="f223" fmla="*/ f172 f47 1"/>
                <a:gd name="f224" fmla="*/ f173 f47 1"/>
                <a:gd name="f225" fmla="*/ f174 f48 1"/>
                <a:gd name="f226" fmla="*/ f175 f47 1"/>
                <a:gd name="f227" fmla="*/ f176 f48 1"/>
                <a:gd name="f228" fmla="*/ f177 f47 1"/>
                <a:gd name="f229" fmla="*/ f178 f48 1"/>
                <a:gd name="f230" fmla="*/ f179 f47 1"/>
                <a:gd name="f231" fmla="*/ f180 f48 1"/>
                <a:gd name="f232" fmla="*/ f181 f47 1"/>
                <a:gd name="f233" fmla="*/ f182 f48 1"/>
                <a:gd name="f234" fmla="*/ f183 f47 1"/>
                <a:gd name="f235" fmla="*/ f184 f47 1"/>
                <a:gd name="f236" fmla="*/ f185 f48 1"/>
                <a:gd name="f237" fmla="*/ f186 f47 1"/>
                <a:gd name="f238" fmla="*/ f187 f47 1"/>
                <a:gd name="f239" fmla="*/ f188 f48 1"/>
                <a:gd name="f240" fmla="*/ f189 f48 1"/>
                <a:gd name="f241" fmla="*/ f190 f47 1"/>
                <a:gd name="f242" fmla="*/ f191 f48 1"/>
                <a:gd name="f243" fmla="*/ f192 f47 1"/>
                <a:gd name="f244" fmla="*/ f193 f48 1"/>
                <a:gd name="f245" fmla="*/ f194 f48 1"/>
                <a:gd name="f246" fmla="*/ f195 f48 1"/>
                <a:gd name="f247" fmla="*/ f196 f48 1"/>
                <a:gd name="f248" fmla="*/ f197 f48 1"/>
                <a:gd name="f249" fmla="*/ f198 f48 1"/>
                <a:gd name="f250" fmla="*/ f199 f48 1"/>
                <a:gd name="f251" fmla="*/ f200 f48 1"/>
              </a:gdLst>
              <a:ahLst/>
              <a:cxnLst>
                <a:cxn ang="3cd4">
                  <a:pos x="hc" y="t"/>
                </a:cxn>
                <a:cxn ang="0">
                  <a:pos x="r" y="vc"/>
                </a:cxn>
                <a:cxn ang="cd4">
                  <a:pos x="hc" y="b"/>
                </a:cxn>
                <a:cxn ang="cd2">
                  <a:pos x="l" y="vc"/>
                </a:cxn>
                <a:cxn ang="f153">
                  <a:pos x="f205" y="f206"/>
                </a:cxn>
                <a:cxn ang="f153">
                  <a:pos x="f205" y="f207"/>
                </a:cxn>
                <a:cxn ang="f153">
                  <a:pos x="f208" y="f209"/>
                </a:cxn>
                <a:cxn ang="f153">
                  <a:pos x="f210" y="f209"/>
                </a:cxn>
                <a:cxn ang="f153">
                  <a:pos x="f211" y="f212"/>
                </a:cxn>
                <a:cxn ang="f153">
                  <a:pos x="f213" y="f214"/>
                </a:cxn>
                <a:cxn ang="f153">
                  <a:pos x="f215" y="f216"/>
                </a:cxn>
                <a:cxn ang="f153">
                  <a:pos x="f217" y="f218"/>
                </a:cxn>
                <a:cxn ang="f153">
                  <a:pos x="f219" y="f218"/>
                </a:cxn>
                <a:cxn ang="f153">
                  <a:pos x="f220" y="f216"/>
                </a:cxn>
                <a:cxn ang="f153">
                  <a:pos x="f221" y="f222"/>
                </a:cxn>
                <a:cxn ang="f153">
                  <a:pos x="f223" y="f214"/>
                </a:cxn>
                <a:cxn ang="f153">
                  <a:pos x="f224" y="f225"/>
                </a:cxn>
                <a:cxn ang="f153">
                  <a:pos x="f226" y="f227"/>
                </a:cxn>
                <a:cxn ang="f153">
                  <a:pos x="f228" y="f229"/>
                </a:cxn>
                <a:cxn ang="f153">
                  <a:pos x="f230" y="f231"/>
                </a:cxn>
                <a:cxn ang="f153">
                  <a:pos x="f232" y="f233"/>
                </a:cxn>
                <a:cxn ang="f153">
                  <a:pos x="f234" y="f231"/>
                </a:cxn>
                <a:cxn ang="f153">
                  <a:pos x="f211" y="f227"/>
                </a:cxn>
                <a:cxn ang="f153">
                  <a:pos x="f235" y="f236"/>
                </a:cxn>
                <a:cxn ang="f153">
                  <a:pos x="f237" y="f222"/>
                </a:cxn>
                <a:cxn ang="f153">
                  <a:pos x="f238" y="f239"/>
                </a:cxn>
                <a:cxn ang="f153">
                  <a:pos x="f238" y="f240"/>
                </a:cxn>
                <a:cxn ang="f153">
                  <a:pos x="f241" y="f242"/>
                </a:cxn>
                <a:cxn ang="f153">
                  <a:pos x="f243" y="f244"/>
                </a:cxn>
                <a:cxn ang="f153">
                  <a:pos x="f213" y="f245"/>
                </a:cxn>
                <a:cxn ang="f153">
                  <a:pos x="f232" y="f246"/>
                </a:cxn>
                <a:cxn ang="f153">
                  <a:pos x="f228" y="f245"/>
                </a:cxn>
                <a:cxn ang="f153">
                  <a:pos x="f224" y="f244"/>
                </a:cxn>
                <a:cxn ang="f153">
                  <a:pos x="f208" y="f242"/>
                </a:cxn>
                <a:cxn ang="f153">
                  <a:pos x="f205" y="f206"/>
                </a:cxn>
                <a:cxn ang="f153">
                  <a:pos x="f223" y="f247"/>
                </a:cxn>
                <a:cxn ang="f153">
                  <a:pos x="f228" y="f248"/>
                </a:cxn>
                <a:cxn ang="f153">
                  <a:pos x="f221" y="f249"/>
                </a:cxn>
                <a:cxn ang="f153">
                  <a:pos x="f230" y="f250"/>
                </a:cxn>
                <a:cxn ang="f153">
                  <a:pos x="f232" y="f251"/>
                </a:cxn>
                <a:cxn ang="f153">
                  <a:pos x="f234" y="f250"/>
                </a:cxn>
                <a:cxn ang="f153">
                  <a:pos x="f213" y="f249"/>
                </a:cxn>
                <a:cxn ang="f153">
                  <a:pos x="f211" y="f248"/>
                </a:cxn>
                <a:cxn ang="f153">
                  <a:pos x="f210" y="f247"/>
                </a:cxn>
                <a:cxn ang="f153">
                  <a:pos x="f223" y="f247"/>
                </a:cxn>
              </a:cxnLst>
              <a:rect l="f201" t="f204" r="f202" b="f203"/>
              <a:pathLst>
                <a:path w="33" h="40">
                  <a:moveTo>
                    <a:pt x="f6" y="f8"/>
                  </a:moveTo>
                  <a:cubicBezTo>
                    <a:pt x="f6" y="f8"/>
                    <a:pt x="f6" y="f9"/>
                    <a:pt x="f6" y="f10"/>
                  </a:cubicBezTo>
                  <a:cubicBezTo>
                    <a:pt x="f11"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9" y="f11"/>
                    <a:pt x="f10" y="f11"/>
                  </a:cubicBezTo>
                  <a:cubicBezTo>
                    <a:pt x="f12" y="f11"/>
                    <a:pt x="f12" y="f24"/>
                    <a:pt x="f31" y="f24"/>
                  </a:cubicBezTo>
                  <a:cubicBezTo>
                    <a:pt x="f31" y="f24"/>
                    <a:pt x="f14" y="f22"/>
                    <a:pt x="f32" y="f22"/>
                  </a:cubicBezTo>
                  <a:cubicBezTo>
                    <a:pt x="f21" y="f33"/>
                    <a:pt x="f21" y="f33"/>
                    <a:pt x="f21" y="f33"/>
                  </a:cubicBezTo>
                  <a:cubicBezTo>
                    <a:pt x="f21" y="f33"/>
                    <a:pt x="f19" y="f34"/>
                    <a:pt x="f17" y="f35"/>
                  </a:cubicBezTo>
                  <a:cubicBezTo>
                    <a:pt x="f16" y="f35"/>
                    <a:pt x="f32" y="f36"/>
                    <a:pt x="f14" y="f36"/>
                  </a:cubicBezTo>
                  <a:cubicBezTo>
                    <a:pt x="f31" y="f37"/>
                    <a:pt x="f12" y="f37"/>
                    <a:pt x="f9"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29"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4" name="Freeform 16">
              <a:extLst>
                <a:ext uri="{FF2B5EF4-FFF2-40B4-BE49-F238E27FC236}">
                  <a16:creationId xmlns:a16="http://schemas.microsoft.com/office/drawing/2014/main" id="{D188B0E6-4D55-2D1C-55FB-8D4C0F05EB0D}"/>
                </a:ext>
              </a:extLst>
            </p:cNvPr>
            <p:cNvSpPr/>
            <p:nvPr/>
          </p:nvSpPr>
          <p:spPr>
            <a:xfrm>
              <a:off x="1294314" y="6088166"/>
              <a:ext cx="55769" cy="99395"/>
            </a:xfrm>
            <a:custGeom>
              <a:avLst/>
              <a:gdLst>
                <a:gd name="f0" fmla="val 10800000"/>
                <a:gd name="f1" fmla="val 5400000"/>
                <a:gd name="f2" fmla="val 180"/>
                <a:gd name="f3" fmla="val w"/>
                <a:gd name="f4" fmla="val h"/>
                <a:gd name="f5" fmla="val 0"/>
                <a:gd name="f6" fmla="val 22"/>
                <a:gd name="f7" fmla="val 39"/>
                <a:gd name="f8" fmla="val 20"/>
                <a:gd name="f9" fmla="val 8"/>
                <a:gd name="f10" fmla="val 19"/>
                <a:gd name="f11" fmla="val 18"/>
                <a:gd name="f12" fmla="val 7"/>
                <a:gd name="f13" fmla="val 17"/>
                <a:gd name="f14" fmla="val 16"/>
                <a:gd name="f15" fmla="val 15"/>
                <a:gd name="f16" fmla="val 12"/>
                <a:gd name="f17" fmla="val 10"/>
                <a:gd name="f18" fmla="val 9"/>
                <a:gd name="f19" fmla="val 11"/>
                <a:gd name="f20" fmla="val 14"/>
                <a:gd name="f21" fmla="val 4"/>
                <a:gd name="f22" fmla="val 3"/>
                <a:gd name="f23" fmla="val 2"/>
                <a:gd name="f24" fmla="val 1"/>
                <a:gd name="f25" fmla="val 13"/>
                <a:gd name="f26" fmla="val 21"/>
                <a:gd name="f27" fmla="+- 0 0 -90"/>
                <a:gd name="f28" fmla="*/ f3 1 22"/>
                <a:gd name="f29" fmla="*/ f4 1 39"/>
                <a:gd name="f30" fmla="+- f7 0 f5"/>
                <a:gd name="f31" fmla="+- f6 0 f5"/>
                <a:gd name="f32" fmla="*/ f27 f0 1"/>
                <a:gd name="f33" fmla="*/ f31 1 22"/>
                <a:gd name="f34" fmla="*/ f30 1 39"/>
                <a:gd name="f35" fmla="*/ 20 f31 1"/>
                <a:gd name="f36" fmla="*/ 8 f30 1"/>
                <a:gd name="f37" fmla="*/ 18 f31 1"/>
                <a:gd name="f38" fmla="*/ 7 f30 1"/>
                <a:gd name="f39" fmla="*/ 15 f31 1"/>
                <a:gd name="f40" fmla="*/ 9 f31 1"/>
                <a:gd name="f41" fmla="*/ 9 f30 1"/>
                <a:gd name="f42" fmla="*/ 7 f31 1"/>
                <a:gd name="f43" fmla="*/ 17 f30 1"/>
                <a:gd name="f44" fmla="*/ 39 f30 1"/>
                <a:gd name="f45" fmla="*/ 0 f31 1"/>
                <a:gd name="f46" fmla="*/ 0 f30 1"/>
                <a:gd name="f47" fmla="*/ 4 f30 1"/>
                <a:gd name="f48" fmla="*/ 2 f30 1"/>
                <a:gd name="f49" fmla="*/ 11 f31 1"/>
                <a:gd name="f50" fmla="*/ 1 f30 1"/>
                <a:gd name="f51" fmla="*/ 13 f31 1"/>
                <a:gd name="f52" fmla="*/ 16 f31 1"/>
                <a:gd name="f53" fmla="*/ 22 f31 1"/>
                <a:gd name="f54" fmla="*/ f32 1 f2"/>
                <a:gd name="f55" fmla="*/ f35 1 22"/>
                <a:gd name="f56" fmla="*/ f36 1 39"/>
                <a:gd name="f57" fmla="*/ f37 1 22"/>
                <a:gd name="f58" fmla="*/ f38 1 39"/>
                <a:gd name="f59" fmla="*/ f39 1 22"/>
                <a:gd name="f60" fmla="*/ f40 1 22"/>
                <a:gd name="f61" fmla="*/ f41 1 39"/>
                <a:gd name="f62" fmla="*/ f42 1 22"/>
                <a:gd name="f63" fmla="*/ f43 1 39"/>
                <a:gd name="f64" fmla="*/ f44 1 39"/>
                <a:gd name="f65" fmla="*/ f45 1 22"/>
                <a:gd name="f66" fmla="*/ f46 1 39"/>
                <a:gd name="f67" fmla="*/ f47 1 39"/>
                <a:gd name="f68" fmla="*/ f48 1 39"/>
                <a:gd name="f69" fmla="*/ f49 1 22"/>
                <a:gd name="f70" fmla="*/ f50 1 39"/>
                <a:gd name="f71" fmla="*/ f51 1 22"/>
                <a:gd name="f72" fmla="*/ f52 1 22"/>
                <a:gd name="f73" fmla="*/ f53 1 22"/>
                <a:gd name="f74" fmla="*/ 0 1 f33"/>
                <a:gd name="f75" fmla="*/ f6 1 f33"/>
                <a:gd name="f76" fmla="*/ 0 1 f34"/>
                <a:gd name="f77" fmla="*/ f7 1 f34"/>
                <a:gd name="f78" fmla="+- f54 0 f1"/>
                <a:gd name="f79" fmla="*/ f55 1 f33"/>
                <a:gd name="f80" fmla="*/ f56 1 f34"/>
                <a:gd name="f81" fmla="*/ f57 1 f33"/>
                <a:gd name="f82" fmla="*/ f58 1 f34"/>
                <a:gd name="f83" fmla="*/ f59 1 f33"/>
                <a:gd name="f84" fmla="*/ f60 1 f33"/>
                <a:gd name="f85" fmla="*/ f61 1 f34"/>
                <a:gd name="f86" fmla="*/ f62 1 f33"/>
                <a:gd name="f87" fmla="*/ f63 1 f34"/>
                <a:gd name="f88" fmla="*/ f64 1 f34"/>
                <a:gd name="f89" fmla="*/ f65 1 f33"/>
                <a:gd name="f90" fmla="*/ f66 1 f34"/>
                <a:gd name="f91" fmla="*/ f67 1 f34"/>
                <a:gd name="f92" fmla="*/ f68 1 f34"/>
                <a:gd name="f93" fmla="*/ f69 1 f33"/>
                <a:gd name="f94" fmla="*/ f70 1 f34"/>
                <a:gd name="f95" fmla="*/ f71 1 f33"/>
                <a:gd name="f96" fmla="*/ f72 1 f33"/>
                <a:gd name="f97" fmla="*/ f73 1 f33"/>
                <a:gd name="f98" fmla="*/ f74 f28 1"/>
                <a:gd name="f99" fmla="*/ f75 f28 1"/>
                <a:gd name="f100" fmla="*/ f77 f29 1"/>
                <a:gd name="f101" fmla="*/ f76 f29 1"/>
                <a:gd name="f102" fmla="*/ f79 f28 1"/>
                <a:gd name="f103" fmla="*/ f80 f29 1"/>
                <a:gd name="f104" fmla="*/ f81 f28 1"/>
                <a:gd name="f105" fmla="*/ f82 f29 1"/>
                <a:gd name="f106" fmla="*/ f83 f28 1"/>
                <a:gd name="f107" fmla="*/ f84 f28 1"/>
                <a:gd name="f108" fmla="*/ f85 f29 1"/>
                <a:gd name="f109" fmla="*/ f86 f28 1"/>
                <a:gd name="f110" fmla="*/ f87 f29 1"/>
                <a:gd name="f111" fmla="*/ f88 f29 1"/>
                <a:gd name="f112" fmla="*/ f89 f28 1"/>
                <a:gd name="f113" fmla="*/ f90 f29 1"/>
                <a:gd name="f114" fmla="*/ f91 f29 1"/>
                <a:gd name="f115" fmla="*/ f92 f29 1"/>
                <a:gd name="f116" fmla="*/ f93 f28 1"/>
                <a:gd name="f117" fmla="*/ f94 f29 1"/>
                <a:gd name="f118" fmla="*/ f95 f28 1"/>
                <a:gd name="f119" fmla="*/ f96 f28 1"/>
                <a:gd name="f120" fmla="*/ f97 f28 1"/>
              </a:gdLst>
              <a:ahLst/>
              <a:cxnLst>
                <a:cxn ang="3cd4">
                  <a:pos x="hc" y="t"/>
                </a:cxn>
                <a:cxn ang="0">
                  <a:pos x="r" y="vc"/>
                </a:cxn>
                <a:cxn ang="cd4">
                  <a:pos x="hc" y="b"/>
                </a:cxn>
                <a:cxn ang="cd2">
                  <a:pos x="l" y="vc"/>
                </a:cxn>
                <a:cxn ang="f78">
                  <a:pos x="f102" y="f103"/>
                </a:cxn>
                <a:cxn ang="f78">
                  <a:pos x="f104" y="f105"/>
                </a:cxn>
                <a:cxn ang="f78">
                  <a:pos x="f106" y="f105"/>
                </a:cxn>
                <a:cxn ang="f78">
                  <a:pos x="f107" y="f108"/>
                </a:cxn>
                <a:cxn ang="f78">
                  <a:pos x="f109" y="f110"/>
                </a:cxn>
                <a:cxn ang="f78">
                  <a:pos x="f109" y="f111"/>
                </a:cxn>
                <a:cxn ang="f78">
                  <a:pos x="f112" y="f111"/>
                </a:cxn>
                <a:cxn ang="f78">
                  <a:pos x="f112" y="f113"/>
                </a:cxn>
                <a:cxn ang="f78">
                  <a:pos x="f109" y="f113"/>
                </a:cxn>
                <a:cxn ang="f78">
                  <a:pos x="f109" y="f114"/>
                </a:cxn>
                <a:cxn ang="f78">
                  <a:pos x="f107" y="f115"/>
                </a:cxn>
                <a:cxn ang="f78">
                  <a:pos x="f116" y="f117"/>
                </a:cxn>
                <a:cxn ang="f78">
                  <a:pos x="f118" y="f113"/>
                </a:cxn>
                <a:cxn ang="f78">
                  <a:pos x="f119" y="f113"/>
                </a:cxn>
                <a:cxn ang="f78">
                  <a:pos x="f102" y="f113"/>
                </a:cxn>
                <a:cxn ang="f78">
                  <a:pos x="f120" y="f117"/>
                </a:cxn>
                <a:cxn ang="f78">
                  <a:pos x="f102" y="f103"/>
                </a:cxn>
              </a:cxnLst>
              <a:rect l="f98" t="f101" r="f99" b="f100"/>
              <a:pathLst>
                <a:path w="22" h="39">
                  <a:moveTo>
                    <a:pt x="f8" y="f9"/>
                  </a:moveTo>
                  <a:cubicBezTo>
                    <a:pt x="f8" y="f9"/>
                    <a:pt x="f10" y="f9"/>
                    <a:pt x="f11" y="f12"/>
                  </a:cubicBezTo>
                  <a:cubicBezTo>
                    <a:pt x="f13" y="f12"/>
                    <a:pt x="f14" y="f12"/>
                    <a:pt x="f15" y="f12"/>
                  </a:cubicBezTo>
                  <a:cubicBezTo>
                    <a:pt x="f16" y="f12"/>
                    <a:pt x="f17" y="f9"/>
                    <a:pt x="f18" y="f18"/>
                  </a:cubicBezTo>
                  <a:cubicBezTo>
                    <a:pt x="f9" y="f19"/>
                    <a:pt x="f12" y="f20"/>
                    <a:pt x="f12" y="f13"/>
                  </a:cubicBezTo>
                  <a:cubicBezTo>
                    <a:pt x="f12" y="f7"/>
                    <a:pt x="f12" y="f7"/>
                    <a:pt x="f12" y="f7"/>
                  </a:cubicBezTo>
                  <a:cubicBezTo>
                    <a:pt x="f5" y="f7"/>
                    <a:pt x="f5" y="f7"/>
                    <a:pt x="f5" y="f7"/>
                  </a:cubicBezTo>
                  <a:cubicBezTo>
                    <a:pt x="f5" y="f5"/>
                    <a:pt x="f5" y="f5"/>
                    <a:pt x="f5" y="f5"/>
                  </a:cubicBezTo>
                  <a:cubicBezTo>
                    <a:pt x="f12" y="f5"/>
                    <a:pt x="f12" y="f5"/>
                    <a:pt x="f12" y="f5"/>
                  </a:cubicBezTo>
                  <a:cubicBezTo>
                    <a:pt x="f12" y="f21"/>
                    <a:pt x="f12" y="f21"/>
                    <a:pt x="f12" y="f21"/>
                  </a:cubicBezTo>
                  <a:cubicBezTo>
                    <a:pt x="f9" y="f22"/>
                    <a:pt x="f9" y="f22"/>
                    <a:pt x="f18" y="f23"/>
                  </a:cubicBezTo>
                  <a:cubicBezTo>
                    <a:pt x="f18" y="f23"/>
                    <a:pt x="f17" y="f24"/>
                    <a:pt x="f19" y="f24"/>
                  </a:cubicBezTo>
                  <a:cubicBezTo>
                    <a:pt x="f19" y="f5"/>
                    <a:pt x="f16" y="f5"/>
                    <a:pt x="f25" y="f5"/>
                  </a:cubicBezTo>
                  <a:cubicBezTo>
                    <a:pt x="f20" y="f5"/>
                    <a:pt x="f15" y="f5"/>
                    <a:pt x="f14" y="f5"/>
                  </a:cubicBezTo>
                  <a:cubicBezTo>
                    <a:pt x="f13" y="f5"/>
                    <a:pt x="f10" y="f5"/>
                    <a:pt x="f8" y="f5"/>
                  </a:cubicBezTo>
                  <a:cubicBezTo>
                    <a:pt x="f26" y="f5"/>
                    <a:pt x="f6"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5" name="Freeform 17">
              <a:extLst>
                <a:ext uri="{FF2B5EF4-FFF2-40B4-BE49-F238E27FC236}">
                  <a16:creationId xmlns:a16="http://schemas.microsoft.com/office/drawing/2014/main" id="{65CB94F3-CEDC-CBF8-9DEA-D07087ECB822}"/>
                </a:ext>
              </a:extLst>
            </p:cNvPr>
            <p:cNvSpPr/>
            <p:nvPr/>
          </p:nvSpPr>
          <p:spPr>
            <a:xfrm>
              <a:off x="140586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6" name="Freeform 18">
              <a:extLst>
                <a:ext uri="{FF2B5EF4-FFF2-40B4-BE49-F238E27FC236}">
                  <a16:creationId xmlns:a16="http://schemas.microsoft.com/office/drawing/2014/main" id="{4B19DC45-5D4A-15F0-3ED0-9755C2100CAA}"/>
                </a:ext>
              </a:extLst>
            </p:cNvPr>
            <p:cNvSpPr/>
            <p:nvPr/>
          </p:nvSpPr>
          <p:spPr>
            <a:xfrm>
              <a:off x="1484281"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6"/>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10 f38 1"/>
                <a:gd name="f51" fmla="*/ 8 f38 1"/>
                <a:gd name="f52" fmla="*/ 27 f37 1"/>
                <a:gd name="f53" fmla="*/ 7 f38 1"/>
                <a:gd name="f54" fmla="*/ 31 f37 1"/>
                <a:gd name="f55" fmla="*/ 0 f38 1"/>
                <a:gd name="f56" fmla="*/ 4 f37 1"/>
                <a:gd name="f57" fmla="*/ 0 f37 1"/>
                <a:gd name="f58" fmla="*/ 19 f37 1"/>
                <a:gd name="f59" fmla="*/ 9 f38 1"/>
                <a:gd name="f60" fmla="*/ 17 f37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31"/>
                <a:gd name="f87" fmla="*/ f60 1 54"/>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0"/>
                <a:gd name="f118" fmla="*/ f87 1 f41"/>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5 1"/>
                <a:gd name="f148" fmla="*/ f118 f36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47" y="f148"/>
                </a:cxn>
                <a:cxn ang="f99">
                  <a:pos x="f137"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8" y="f11"/>
                    <a:pt x="f12" y="f13"/>
                  </a:cubicBezTo>
                  <a:cubicBezTo>
                    <a:pt x="f14" y="f15"/>
                    <a:pt x="f16" y="f15"/>
                    <a:pt x="f17" y="f15"/>
                  </a:cubicBezTo>
                  <a:cubicBezTo>
                    <a:pt x="f18" y="f15"/>
                    <a:pt x="f19" y="f15"/>
                    <a:pt x="f20" y="f15"/>
                  </a:cubicBezTo>
                  <a:cubicBezTo>
                    <a:pt x="f21" y="f15"/>
                    <a:pt x="f22" y="f8"/>
                    <a:pt x="f22" y="f13"/>
                  </a:cubicBezTo>
                  <a:cubicBezTo>
                    <a:pt x="f23" y="f24"/>
                    <a:pt x="f25" y="f11"/>
                    <a:pt x="f25" y="f26"/>
                  </a:cubicBezTo>
                  <a:cubicBezTo>
                    <a:pt x="f25"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3" y="f16"/>
                    <a:pt x="f23" y="f31"/>
                  </a:cubicBezTo>
                  <a:cubicBezTo>
                    <a:pt x="f22" y="f31"/>
                    <a:pt x="f21" y="f32"/>
                    <a:pt x="f20" y="f32"/>
                  </a:cubicBezTo>
                  <a:cubicBezTo>
                    <a:pt x="f20" y="f17"/>
                    <a:pt x="f19" y="f17"/>
                    <a:pt x="f18" y="f17"/>
                  </a:cubicBezTo>
                  <a:cubicBezTo>
                    <a:pt x="f17" y="f17"/>
                    <a:pt x="f32" y="f17"/>
                    <a:pt x="f31" y="f17"/>
                  </a:cubicBezTo>
                  <a:cubicBezTo>
                    <a:pt x="f30" y="f17"/>
                    <a:pt x="f12" y="f17"/>
                    <a:pt x="f8" y="f32"/>
                  </a:cubicBezTo>
                  <a:cubicBezTo>
                    <a:pt x="f24" y="f32"/>
                    <a:pt x="f11" y="f31"/>
                    <a:pt x="f26" y="f30"/>
                  </a:cubicBezTo>
                  <a:cubicBezTo>
                    <a:pt x="f33" y="f14"/>
                    <a:pt x="f33" y="f15"/>
                    <a:pt x="f28" y="f13"/>
                  </a:cubicBezTo>
                  <a:cubicBezTo>
                    <a:pt x="f6"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7" name="Freeform 19">
              <a:extLst>
                <a:ext uri="{FF2B5EF4-FFF2-40B4-BE49-F238E27FC236}">
                  <a16:creationId xmlns:a16="http://schemas.microsoft.com/office/drawing/2014/main" id="{099DD2B7-97B1-A0A5-8929-BFBF27B8D8E5}"/>
                </a:ext>
              </a:extLst>
            </p:cNvPr>
            <p:cNvSpPr/>
            <p:nvPr/>
          </p:nvSpPr>
          <p:spPr>
            <a:xfrm>
              <a:off x="1581884"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30" y="f7"/>
                    <a:pt x="f29" y="f7"/>
                  </a:cubicBezTo>
                  <a:cubicBezTo>
                    <a:pt x="f27" y="f7"/>
                    <a:pt x="f26" y="f37"/>
                    <a:pt x="f22" y="f37"/>
                  </a:cubicBezTo>
                  <a:cubicBezTo>
                    <a:pt x="f20" y="f36"/>
                    <a:pt x="f17" y="f36"/>
                    <a:pt x="f12" y="f35"/>
                  </a:cubicBezTo>
                  <a:cubicBezTo>
                    <a:pt x="f38" y="f34"/>
                    <a:pt x="f39" y="f33"/>
                    <a:pt x="f40" y="f41"/>
                  </a:cubicBezTo>
                  <a:cubicBezTo>
                    <a:pt x="f42"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8" name="Freeform 20">
              <a:extLst>
                <a:ext uri="{FF2B5EF4-FFF2-40B4-BE49-F238E27FC236}">
                  <a16:creationId xmlns:a16="http://schemas.microsoft.com/office/drawing/2014/main" id="{23198E97-4E97-3778-83A7-8815FA45B182}"/>
                </a:ext>
              </a:extLst>
            </p:cNvPr>
            <p:cNvSpPr/>
            <p:nvPr/>
          </p:nvSpPr>
          <p:spPr>
            <a:xfrm>
              <a:off x="1730017" y="6088166"/>
              <a:ext cx="80165" cy="134261"/>
            </a:xfrm>
            <a:custGeom>
              <a:avLst/>
              <a:gdLst>
                <a:gd name="f0" fmla="val 10800000"/>
                <a:gd name="f1" fmla="val 5400000"/>
                <a:gd name="f2" fmla="val 180"/>
                <a:gd name="f3" fmla="val w"/>
                <a:gd name="f4" fmla="val h"/>
                <a:gd name="f5" fmla="val 0"/>
                <a:gd name="f6" fmla="val 32"/>
                <a:gd name="f7" fmla="val 53"/>
                <a:gd name="f8" fmla="val 25"/>
                <a:gd name="f9" fmla="val 35"/>
                <a:gd name="f10" fmla="val 23"/>
                <a:gd name="f11" fmla="val 36"/>
                <a:gd name="f12" fmla="val 22"/>
                <a:gd name="f13" fmla="val 37"/>
                <a:gd name="f14" fmla="val 20"/>
                <a:gd name="f15" fmla="val 38"/>
                <a:gd name="f16" fmla="val 18"/>
                <a:gd name="f17" fmla="val 39"/>
                <a:gd name="f18" fmla="val 17"/>
                <a:gd name="f19" fmla="val 40"/>
                <a:gd name="f20" fmla="val 15"/>
                <a:gd name="f21" fmla="val 13"/>
                <a:gd name="f22" fmla="val 11"/>
                <a:gd name="f23" fmla="val 9"/>
                <a:gd name="f24" fmla="val 7"/>
                <a:gd name="f25" fmla="val 5"/>
                <a:gd name="f26" fmla="val 4"/>
                <a:gd name="f27" fmla="val 3"/>
                <a:gd name="f28" fmla="val 33"/>
                <a:gd name="f29" fmla="val 2"/>
                <a:gd name="f30" fmla="val 31"/>
                <a:gd name="f31" fmla="val 1"/>
                <a:gd name="f32" fmla="val 28"/>
                <a:gd name="f33" fmla="val 26"/>
                <a:gd name="f34" fmla="val 19"/>
                <a:gd name="f35" fmla="val 16"/>
                <a:gd name="f36" fmla="val 10"/>
                <a:gd name="f37" fmla="val 8"/>
                <a:gd name="f38" fmla="val 6"/>
                <a:gd name="f39" fmla="val 21"/>
                <a:gd name="f40" fmla="val 24"/>
                <a:gd name="f41" fmla="val 49"/>
                <a:gd name="f42" fmla="val 12"/>
                <a:gd name="f43" fmla="val 27"/>
                <a:gd name="f44" fmla="val 29"/>
                <a:gd name="f45" fmla="val 30"/>
                <a:gd name="f46" fmla="+- 0 0 -90"/>
                <a:gd name="f47" fmla="*/ f3 1 32"/>
                <a:gd name="f48" fmla="*/ f4 1 53"/>
                <a:gd name="f49" fmla="+- f7 0 f5"/>
                <a:gd name="f50" fmla="+- f6 0 f5"/>
                <a:gd name="f51" fmla="*/ f46 f0 1"/>
                <a:gd name="f52" fmla="*/ f50 1 32"/>
                <a:gd name="f53" fmla="*/ f49 1 53"/>
                <a:gd name="f54" fmla="*/ 25 f50 1"/>
                <a:gd name="f55" fmla="*/ 53 f49 1"/>
                <a:gd name="f56" fmla="*/ 35 f49 1"/>
                <a:gd name="f57" fmla="*/ 20 f50 1"/>
                <a:gd name="f58" fmla="*/ 38 f49 1"/>
                <a:gd name="f59" fmla="*/ 15 f50 1"/>
                <a:gd name="f60" fmla="*/ 40 f49 1"/>
                <a:gd name="f61" fmla="*/ 9 f50 1"/>
                <a:gd name="f62" fmla="*/ 4 f50 1"/>
                <a:gd name="f63" fmla="*/ 1 f50 1"/>
                <a:gd name="f64" fmla="*/ 28 f49 1"/>
                <a:gd name="f65" fmla="*/ 0 f50 1"/>
                <a:gd name="f66" fmla="*/ 19 f49 1"/>
                <a:gd name="f67" fmla="*/ 10 f49 1"/>
                <a:gd name="f68" fmla="*/ 4 f49 1"/>
                <a:gd name="f69" fmla="*/ 1 f49 1"/>
                <a:gd name="f70" fmla="*/ 0 f49 1"/>
                <a:gd name="f71" fmla="*/ 18 f50 1"/>
                <a:gd name="f72" fmla="*/ 23 f50 1"/>
                <a:gd name="f73" fmla="*/ 2 f49 1"/>
                <a:gd name="f74" fmla="*/ 32 f50 1"/>
                <a:gd name="f75" fmla="*/ 49 f49 1"/>
                <a:gd name="f76" fmla="*/ 12 f49 1"/>
                <a:gd name="f77" fmla="*/ 21 f50 1"/>
                <a:gd name="f78" fmla="*/ 8 f49 1"/>
                <a:gd name="f79" fmla="*/ 7 f49 1"/>
                <a:gd name="f80" fmla="*/ 16 f50 1"/>
                <a:gd name="f81" fmla="*/ 7 f50 1"/>
                <a:gd name="f82" fmla="*/ 10 f50 1"/>
                <a:gd name="f83" fmla="*/ 29 f49 1"/>
                <a:gd name="f84" fmla="*/ 33 f49 1"/>
                <a:gd name="f85" fmla="*/ 31 f49 1"/>
                <a:gd name="f86" fmla="*/ f51 1 f2"/>
                <a:gd name="f87" fmla="*/ f54 1 32"/>
                <a:gd name="f88" fmla="*/ f55 1 53"/>
                <a:gd name="f89" fmla="*/ f56 1 53"/>
                <a:gd name="f90" fmla="*/ f57 1 32"/>
                <a:gd name="f91" fmla="*/ f58 1 53"/>
                <a:gd name="f92" fmla="*/ f59 1 32"/>
                <a:gd name="f93" fmla="*/ f60 1 53"/>
                <a:gd name="f94" fmla="*/ f61 1 32"/>
                <a:gd name="f95" fmla="*/ f62 1 32"/>
                <a:gd name="f96" fmla="*/ f63 1 32"/>
                <a:gd name="f97" fmla="*/ f64 1 53"/>
                <a:gd name="f98" fmla="*/ f65 1 32"/>
                <a:gd name="f99" fmla="*/ f66 1 53"/>
                <a:gd name="f100" fmla="*/ f67 1 53"/>
                <a:gd name="f101" fmla="*/ f68 1 53"/>
                <a:gd name="f102" fmla="*/ f69 1 53"/>
                <a:gd name="f103" fmla="*/ f70 1 53"/>
                <a:gd name="f104" fmla="*/ f71 1 32"/>
                <a:gd name="f105" fmla="*/ f72 1 32"/>
                <a:gd name="f106" fmla="*/ f73 1 53"/>
                <a:gd name="f107" fmla="*/ f74 1 32"/>
                <a:gd name="f108" fmla="*/ f75 1 53"/>
                <a:gd name="f109" fmla="*/ f76 1 53"/>
                <a:gd name="f110" fmla="*/ f77 1 32"/>
                <a:gd name="f111" fmla="*/ f78 1 53"/>
                <a:gd name="f112" fmla="*/ f79 1 53"/>
                <a:gd name="f113" fmla="*/ f80 1 32"/>
                <a:gd name="f114" fmla="*/ f81 1 32"/>
                <a:gd name="f115" fmla="*/ f82 1 32"/>
                <a:gd name="f116" fmla="*/ f83 1 53"/>
                <a:gd name="f117" fmla="*/ f84 1 53"/>
                <a:gd name="f118" fmla="*/ f85 1 53"/>
                <a:gd name="f119" fmla="*/ 0 1 f52"/>
                <a:gd name="f120" fmla="*/ f6 1 f52"/>
                <a:gd name="f121" fmla="*/ 0 1 f53"/>
                <a:gd name="f122" fmla="*/ f7 1 f53"/>
                <a:gd name="f123" fmla="+- f86 0 f1"/>
                <a:gd name="f124" fmla="*/ f87 1 f52"/>
                <a:gd name="f125" fmla="*/ f88 1 f53"/>
                <a:gd name="f126" fmla="*/ f89 1 f53"/>
                <a:gd name="f127" fmla="*/ f90 1 f52"/>
                <a:gd name="f128" fmla="*/ f91 1 f53"/>
                <a:gd name="f129" fmla="*/ f92 1 f52"/>
                <a:gd name="f130" fmla="*/ f93 1 f53"/>
                <a:gd name="f131" fmla="*/ f94 1 f52"/>
                <a:gd name="f132" fmla="*/ f95 1 f52"/>
                <a:gd name="f133" fmla="*/ f96 1 f52"/>
                <a:gd name="f134" fmla="*/ f97 1 f53"/>
                <a:gd name="f135" fmla="*/ f98 1 f52"/>
                <a:gd name="f136" fmla="*/ f99 1 f53"/>
                <a:gd name="f137" fmla="*/ f100 1 f53"/>
                <a:gd name="f138" fmla="*/ f101 1 f53"/>
                <a:gd name="f139" fmla="*/ f102 1 f53"/>
                <a:gd name="f140" fmla="*/ f103 1 f53"/>
                <a:gd name="f141" fmla="*/ f104 1 f52"/>
                <a:gd name="f142" fmla="*/ f105 1 f52"/>
                <a:gd name="f143" fmla="*/ f106 1 f53"/>
                <a:gd name="f144" fmla="*/ f107 1 f52"/>
                <a:gd name="f145" fmla="*/ f108 1 f53"/>
                <a:gd name="f146" fmla="*/ f109 1 f53"/>
                <a:gd name="f147" fmla="*/ f110 1 f52"/>
                <a:gd name="f148" fmla="*/ f111 1 f53"/>
                <a:gd name="f149" fmla="*/ f112 1 f53"/>
                <a:gd name="f150" fmla="*/ f113 1 f52"/>
                <a:gd name="f151" fmla="*/ f114 1 f52"/>
                <a:gd name="f152" fmla="*/ f115 1 f52"/>
                <a:gd name="f153" fmla="*/ f116 1 f53"/>
                <a:gd name="f154" fmla="*/ f117 1 f53"/>
                <a:gd name="f155" fmla="*/ f118 1 f53"/>
                <a:gd name="f156" fmla="*/ f119 f47 1"/>
                <a:gd name="f157" fmla="*/ f120 f47 1"/>
                <a:gd name="f158" fmla="*/ f122 f48 1"/>
                <a:gd name="f159" fmla="*/ f121 f48 1"/>
                <a:gd name="f160" fmla="*/ f124 f47 1"/>
                <a:gd name="f161" fmla="*/ f125 f48 1"/>
                <a:gd name="f162" fmla="*/ f126 f48 1"/>
                <a:gd name="f163" fmla="*/ f127 f47 1"/>
                <a:gd name="f164" fmla="*/ f128 f48 1"/>
                <a:gd name="f165" fmla="*/ f129 f47 1"/>
                <a:gd name="f166" fmla="*/ f130 f48 1"/>
                <a:gd name="f167" fmla="*/ f131 f47 1"/>
                <a:gd name="f168" fmla="*/ f132 f47 1"/>
                <a:gd name="f169" fmla="*/ f133 f47 1"/>
                <a:gd name="f170" fmla="*/ f134 f48 1"/>
                <a:gd name="f171" fmla="*/ f135 f47 1"/>
                <a:gd name="f172" fmla="*/ f136 f48 1"/>
                <a:gd name="f173" fmla="*/ f137 f48 1"/>
                <a:gd name="f174" fmla="*/ f138 f48 1"/>
                <a:gd name="f175" fmla="*/ f139 f48 1"/>
                <a:gd name="f176" fmla="*/ f140 f48 1"/>
                <a:gd name="f177" fmla="*/ f141 f47 1"/>
                <a:gd name="f178" fmla="*/ f142 f47 1"/>
                <a:gd name="f179" fmla="*/ f143 f48 1"/>
                <a:gd name="f180" fmla="*/ f144 f47 1"/>
                <a:gd name="f181" fmla="*/ f145 f48 1"/>
                <a:gd name="f182" fmla="*/ f146 f48 1"/>
                <a:gd name="f183" fmla="*/ f147 f47 1"/>
                <a:gd name="f184" fmla="*/ f148 f48 1"/>
                <a:gd name="f185" fmla="*/ f149 f48 1"/>
                <a:gd name="f186" fmla="*/ f150 f47 1"/>
                <a:gd name="f187" fmla="*/ f151 f47 1"/>
                <a:gd name="f188" fmla="*/ f152 f47 1"/>
                <a:gd name="f189" fmla="*/ f153 f48 1"/>
                <a:gd name="f190" fmla="*/ f154 f48 1"/>
                <a:gd name="f191" fmla="*/ f155 f48 1"/>
              </a:gdLst>
              <a:ahLst/>
              <a:cxnLst>
                <a:cxn ang="3cd4">
                  <a:pos x="hc" y="t"/>
                </a:cxn>
                <a:cxn ang="0">
                  <a:pos x="r" y="vc"/>
                </a:cxn>
                <a:cxn ang="cd4">
                  <a:pos x="hc" y="b"/>
                </a:cxn>
                <a:cxn ang="cd2">
                  <a:pos x="l" y="vc"/>
                </a:cxn>
                <a:cxn ang="f123">
                  <a:pos x="f160" y="f161"/>
                </a:cxn>
                <a:cxn ang="f123">
                  <a:pos x="f160" y="f162"/>
                </a:cxn>
                <a:cxn ang="f123">
                  <a:pos x="f163" y="f164"/>
                </a:cxn>
                <a:cxn ang="f123">
                  <a:pos x="f165" y="f166"/>
                </a:cxn>
                <a:cxn ang="f123">
                  <a:pos x="f167" y="f164"/>
                </a:cxn>
                <a:cxn ang="f123">
                  <a:pos x="f168" y="f162"/>
                </a:cxn>
                <a:cxn ang="f123">
                  <a:pos x="f169" y="f170"/>
                </a:cxn>
                <a:cxn ang="f123">
                  <a:pos x="f171" y="f172"/>
                </a:cxn>
                <a:cxn ang="f123">
                  <a:pos x="f169" y="f173"/>
                </a:cxn>
                <a:cxn ang="f123">
                  <a:pos x="f168" y="f174"/>
                </a:cxn>
                <a:cxn ang="f123">
                  <a:pos x="f167" y="f175"/>
                </a:cxn>
                <a:cxn ang="f123">
                  <a:pos x="f165" y="f176"/>
                </a:cxn>
                <a:cxn ang="f123">
                  <a:pos x="f177" y="f176"/>
                </a:cxn>
                <a:cxn ang="f123">
                  <a:pos x="f163" y="f175"/>
                </a:cxn>
                <a:cxn ang="f123">
                  <a:pos x="f178" y="f179"/>
                </a:cxn>
                <a:cxn ang="f123">
                  <a:pos x="f160" y="f174"/>
                </a:cxn>
                <a:cxn ang="f123">
                  <a:pos x="f160" y="f176"/>
                </a:cxn>
                <a:cxn ang="f123">
                  <a:pos x="f180" y="f176"/>
                </a:cxn>
                <a:cxn ang="f123">
                  <a:pos x="f180" y="f181"/>
                </a:cxn>
                <a:cxn ang="f123">
                  <a:pos x="f160" y="f161"/>
                </a:cxn>
                <a:cxn ang="f123">
                  <a:pos x="f160" y="f182"/>
                </a:cxn>
                <a:cxn ang="f123">
                  <a:pos x="f178" y="f173"/>
                </a:cxn>
                <a:cxn ang="f123">
                  <a:pos x="f183" y="f184"/>
                </a:cxn>
                <a:cxn ang="f123">
                  <a:pos x="f177" y="f185"/>
                </a:cxn>
                <a:cxn ang="f123">
                  <a:pos x="f186" y="f185"/>
                </a:cxn>
                <a:cxn ang="f123">
                  <a:pos x="f167" y="f173"/>
                </a:cxn>
                <a:cxn ang="f123">
                  <a:pos x="f187" y="f172"/>
                </a:cxn>
                <a:cxn ang="f123">
                  <a:pos x="f188" y="f189"/>
                </a:cxn>
                <a:cxn ang="f123">
                  <a:pos x="f186" y="f190"/>
                </a:cxn>
                <a:cxn ang="f123">
                  <a:pos x="f183" y="f191"/>
                </a:cxn>
                <a:cxn ang="f123">
                  <a:pos x="f160" y="f170"/>
                </a:cxn>
                <a:cxn ang="f123">
                  <a:pos x="f160" y="f182"/>
                </a:cxn>
              </a:cxnLst>
              <a:rect l="f156" t="f159" r="f157" b="f158"/>
              <a:pathLst>
                <a:path w="32" h="53">
                  <a:moveTo>
                    <a:pt x="f8" y="f7"/>
                  </a:moveTo>
                  <a:cubicBezTo>
                    <a:pt x="f8" y="f9"/>
                    <a:pt x="f8" y="f9"/>
                    <a:pt x="f8" y="f9"/>
                  </a:cubicBezTo>
                  <a:cubicBezTo>
                    <a:pt x="f10" y="f11"/>
                    <a:pt x="f12" y="f13"/>
                    <a:pt x="f14" y="f15"/>
                  </a:cubicBezTo>
                  <a:cubicBezTo>
                    <a:pt x="f16" y="f17"/>
                    <a:pt x="f18" y="f19"/>
                    <a:pt x="f20" y="f19"/>
                  </a:cubicBezTo>
                  <a:cubicBezTo>
                    <a:pt x="f21" y="f19"/>
                    <a:pt x="f22" y="f17"/>
                    <a:pt x="f23" y="f15"/>
                  </a:cubicBezTo>
                  <a:cubicBezTo>
                    <a:pt x="f24" y="f15"/>
                    <a:pt x="f25" y="f11"/>
                    <a:pt x="f26" y="f9"/>
                  </a:cubicBezTo>
                  <a:cubicBezTo>
                    <a:pt x="f27" y="f28"/>
                    <a:pt x="f29" y="f30"/>
                    <a:pt x="f31" y="f32"/>
                  </a:cubicBezTo>
                  <a:cubicBezTo>
                    <a:pt x="f5" y="f33"/>
                    <a:pt x="f5" y="f10"/>
                    <a:pt x="f5" y="f34"/>
                  </a:cubicBezTo>
                  <a:cubicBezTo>
                    <a:pt x="f5" y="f35"/>
                    <a:pt x="f5" y="f21"/>
                    <a:pt x="f31" y="f36"/>
                  </a:cubicBezTo>
                  <a:cubicBezTo>
                    <a:pt x="f29" y="f37"/>
                    <a:pt x="f27" y="f38"/>
                    <a:pt x="f26" y="f26"/>
                  </a:cubicBezTo>
                  <a:cubicBezTo>
                    <a:pt x="f38" y="f27"/>
                    <a:pt x="f24" y="f29"/>
                    <a:pt x="f23" y="f31"/>
                  </a:cubicBezTo>
                  <a:cubicBezTo>
                    <a:pt x="f22" y="f5"/>
                    <a:pt x="f21" y="f5"/>
                    <a:pt x="f20" y="f5"/>
                  </a:cubicBezTo>
                  <a:cubicBezTo>
                    <a:pt x="f35" y="f5"/>
                    <a:pt x="f18" y="f5"/>
                    <a:pt x="f16" y="f5"/>
                  </a:cubicBezTo>
                  <a:cubicBezTo>
                    <a:pt x="f34" y="f5"/>
                    <a:pt x="f14" y="f5"/>
                    <a:pt x="f14" y="f31"/>
                  </a:cubicBezTo>
                  <a:cubicBezTo>
                    <a:pt x="f39" y="f31"/>
                    <a:pt x="f12" y="f29"/>
                    <a:pt x="f10" y="f29"/>
                  </a:cubicBezTo>
                  <a:cubicBezTo>
                    <a:pt x="f10" y="f27"/>
                    <a:pt x="f40" y="f27"/>
                    <a:pt x="f8" y="f26"/>
                  </a:cubicBezTo>
                  <a:cubicBezTo>
                    <a:pt x="f8" y="f5"/>
                    <a:pt x="f8" y="f5"/>
                    <a:pt x="f8" y="f5"/>
                  </a:cubicBezTo>
                  <a:cubicBezTo>
                    <a:pt x="f6" y="f5"/>
                    <a:pt x="f6" y="f5"/>
                    <a:pt x="f6" y="f5"/>
                  </a:cubicBezTo>
                  <a:cubicBezTo>
                    <a:pt x="f6" y="f41"/>
                    <a:pt x="f6" y="f41"/>
                    <a:pt x="f6" y="f41"/>
                  </a:cubicBezTo>
                  <a:lnTo>
                    <a:pt x="f8" y="f7"/>
                  </a:lnTo>
                  <a:close/>
                  <a:moveTo>
                    <a:pt x="f8" y="f42"/>
                  </a:moveTo>
                  <a:cubicBezTo>
                    <a:pt x="f40" y="f22"/>
                    <a:pt x="f40" y="f36"/>
                    <a:pt x="f10" y="f36"/>
                  </a:cubicBezTo>
                  <a:cubicBezTo>
                    <a:pt x="f10" y="f23"/>
                    <a:pt x="f12" y="f23"/>
                    <a:pt x="f39" y="f37"/>
                  </a:cubicBezTo>
                  <a:cubicBezTo>
                    <a:pt x="f14" y="f37"/>
                    <a:pt x="f34" y="f24"/>
                    <a:pt x="f16" y="f24"/>
                  </a:cubicBezTo>
                  <a:cubicBezTo>
                    <a:pt x="f16" y="f24"/>
                    <a:pt x="f18" y="f24"/>
                    <a:pt x="f35" y="f24"/>
                  </a:cubicBezTo>
                  <a:cubicBezTo>
                    <a:pt x="f21" y="f24"/>
                    <a:pt x="f22" y="f37"/>
                    <a:pt x="f23" y="f36"/>
                  </a:cubicBezTo>
                  <a:cubicBezTo>
                    <a:pt x="f37" y="f42"/>
                    <a:pt x="f24" y="f20"/>
                    <a:pt x="f24" y="f34"/>
                  </a:cubicBezTo>
                  <a:cubicBezTo>
                    <a:pt x="f24" y="f10"/>
                    <a:pt x="f37" y="f43"/>
                    <a:pt x="f36" y="f44"/>
                  </a:cubicBezTo>
                  <a:cubicBezTo>
                    <a:pt x="f22" y="f30"/>
                    <a:pt x="f21" y="f28"/>
                    <a:pt x="f35" y="f28"/>
                  </a:cubicBezTo>
                  <a:cubicBezTo>
                    <a:pt x="f16" y="f28"/>
                    <a:pt x="f34" y="f6"/>
                    <a:pt x="f39" y="f30"/>
                  </a:cubicBezTo>
                  <a:cubicBezTo>
                    <a:pt x="f12" y="f45"/>
                    <a:pt x="f40" y="f44"/>
                    <a:pt x="f8" y="f32"/>
                  </a:cubicBezTo>
                  <a:lnTo>
                    <a:pt x="f8" y="f42"/>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9" name="Freeform 21">
              <a:extLst>
                <a:ext uri="{FF2B5EF4-FFF2-40B4-BE49-F238E27FC236}">
                  <a16:creationId xmlns:a16="http://schemas.microsoft.com/office/drawing/2014/main" id="{48B8E6AC-1B23-DE43-0702-9FA69D429695}"/>
                </a:ext>
              </a:extLst>
            </p:cNvPr>
            <p:cNvSpPr/>
            <p:nvPr/>
          </p:nvSpPr>
          <p:spPr>
            <a:xfrm>
              <a:off x="1834588" y="6088166"/>
              <a:ext cx="78428" cy="101132"/>
            </a:xfrm>
            <a:custGeom>
              <a:avLst/>
              <a:gdLst>
                <a:gd name="f0" fmla="val 10800000"/>
                <a:gd name="f1" fmla="val 5400000"/>
                <a:gd name="f2" fmla="val 180"/>
                <a:gd name="f3" fmla="val w"/>
                <a:gd name="f4" fmla="val h"/>
                <a:gd name="f5" fmla="val 0"/>
                <a:gd name="f6" fmla="val 31"/>
                <a:gd name="f7" fmla="val 40"/>
                <a:gd name="f8" fmla="val 24"/>
                <a:gd name="f9" fmla="val 39"/>
                <a:gd name="f10" fmla="val 35"/>
                <a:gd name="f11" fmla="val 23"/>
                <a:gd name="f12" fmla="val 36"/>
                <a:gd name="f13" fmla="val 22"/>
                <a:gd name="f14" fmla="val 38"/>
                <a:gd name="f15" fmla="val 20"/>
                <a:gd name="f16" fmla="val 18"/>
                <a:gd name="f17" fmla="val 16"/>
                <a:gd name="f18" fmla="val 14"/>
                <a:gd name="f19" fmla="val 10"/>
                <a:gd name="f20" fmla="val 6"/>
                <a:gd name="f21" fmla="val 4"/>
                <a:gd name="f22" fmla="val 2"/>
                <a:gd name="f23" fmla="val 32"/>
                <a:gd name="f24" fmla="val 28"/>
                <a:gd name="f25" fmla="val 8"/>
                <a:gd name="f26" fmla="val 26"/>
                <a:gd name="f27" fmla="val 9"/>
                <a:gd name="f28" fmla="val 30"/>
                <a:gd name="f29" fmla="val 11"/>
                <a:gd name="f30" fmla="val 13"/>
                <a:gd name="f31" fmla="val 33"/>
                <a:gd name="f32" fmla="+- 0 0 -90"/>
                <a:gd name="f33" fmla="*/ f3 1 31"/>
                <a:gd name="f34" fmla="*/ f4 1 40"/>
                <a:gd name="f35" fmla="+- f7 0 f5"/>
                <a:gd name="f36" fmla="+- f6 0 f5"/>
                <a:gd name="f37" fmla="*/ f32 f0 1"/>
                <a:gd name="f38" fmla="*/ f36 1 31"/>
                <a:gd name="f39" fmla="*/ f35 1 40"/>
                <a:gd name="f40" fmla="*/ 24 f36 1"/>
                <a:gd name="f41" fmla="*/ 39 f35 1"/>
                <a:gd name="f42" fmla="*/ 35 f35 1"/>
                <a:gd name="f43" fmla="*/ 20 f36 1"/>
                <a:gd name="f44" fmla="*/ 38 f35 1"/>
                <a:gd name="f45" fmla="*/ 14 f36 1"/>
                <a:gd name="f46" fmla="*/ 40 f35 1"/>
                <a:gd name="f47" fmla="*/ 4 f36 1"/>
                <a:gd name="f48" fmla="*/ 0 f36 1"/>
                <a:gd name="f49" fmla="*/ 22 f35 1"/>
                <a:gd name="f50" fmla="*/ 0 f35 1"/>
                <a:gd name="f51" fmla="*/ 8 f36 1"/>
                <a:gd name="f52" fmla="*/ 10 f36 1"/>
                <a:gd name="f53" fmla="*/ 30 f35 1"/>
                <a:gd name="f54" fmla="*/ 16 f36 1"/>
                <a:gd name="f55" fmla="*/ 33 f35 1"/>
                <a:gd name="f56" fmla="*/ 22 f36 1"/>
                <a:gd name="f57" fmla="*/ 23 f35 1"/>
                <a:gd name="f58" fmla="*/ 31 f36 1"/>
                <a:gd name="f59" fmla="*/ f37 1 f2"/>
                <a:gd name="f60" fmla="*/ f40 1 31"/>
                <a:gd name="f61" fmla="*/ f41 1 40"/>
                <a:gd name="f62" fmla="*/ f42 1 40"/>
                <a:gd name="f63" fmla="*/ f43 1 31"/>
                <a:gd name="f64" fmla="*/ f44 1 40"/>
                <a:gd name="f65" fmla="*/ f45 1 31"/>
                <a:gd name="f66" fmla="*/ f46 1 40"/>
                <a:gd name="f67" fmla="*/ f47 1 31"/>
                <a:gd name="f68" fmla="*/ f48 1 31"/>
                <a:gd name="f69" fmla="*/ f49 1 40"/>
                <a:gd name="f70" fmla="*/ f50 1 40"/>
                <a:gd name="f71" fmla="*/ f51 1 31"/>
                <a:gd name="f72" fmla="*/ f52 1 31"/>
                <a:gd name="f73" fmla="*/ f53 1 40"/>
                <a:gd name="f74" fmla="*/ f54 1 31"/>
                <a:gd name="f75" fmla="*/ f55 1 40"/>
                <a:gd name="f76" fmla="*/ f56 1 31"/>
                <a:gd name="f77" fmla="*/ f57 1 40"/>
                <a:gd name="f78" fmla="*/ f58 1 31"/>
                <a:gd name="f79" fmla="*/ 0 1 f38"/>
                <a:gd name="f80" fmla="*/ f6 1 f38"/>
                <a:gd name="f81" fmla="*/ 0 1 f39"/>
                <a:gd name="f82" fmla="*/ f7 1 f39"/>
                <a:gd name="f83" fmla="+- f59 0 f1"/>
                <a:gd name="f84" fmla="*/ f60 1 f38"/>
                <a:gd name="f85" fmla="*/ f61 1 f39"/>
                <a:gd name="f86" fmla="*/ f62 1 f39"/>
                <a:gd name="f87" fmla="*/ f63 1 f38"/>
                <a:gd name="f88" fmla="*/ f64 1 f39"/>
                <a:gd name="f89" fmla="*/ f65 1 f38"/>
                <a:gd name="f90" fmla="*/ f66 1 f39"/>
                <a:gd name="f91" fmla="*/ f67 1 f38"/>
                <a:gd name="f92" fmla="*/ f68 1 f38"/>
                <a:gd name="f93" fmla="*/ f69 1 f39"/>
                <a:gd name="f94" fmla="*/ f70 1 f39"/>
                <a:gd name="f95" fmla="*/ f71 1 f38"/>
                <a:gd name="f96" fmla="*/ f72 1 f38"/>
                <a:gd name="f97" fmla="*/ f73 1 f39"/>
                <a:gd name="f98" fmla="*/ f74 1 f38"/>
                <a:gd name="f99" fmla="*/ f75 1 f39"/>
                <a:gd name="f100" fmla="*/ f76 1 f38"/>
                <a:gd name="f101" fmla="*/ f77 1 f39"/>
                <a:gd name="f102" fmla="*/ f78 1 f38"/>
                <a:gd name="f103" fmla="*/ f79 f33 1"/>
                <a:gd name="f104" fmla="*/ f80 f33 1"/>
                <a:gd name="f105" fmla="*/ f82 f34 1"/>
                <a:gd name="f106" fmla="*/ f81 f34 1"/>
                <a:gd name="f107" fmla="*/ f84 f33 1"/>
                <a:gd name="f108" fmla="*/ f85 f34 1"/>
                <a:gd name="f109" fmla="*/ f86 f34 1"/>
                <a:gd name="f110" fmla="*/ f87 f33 1"/>
                <a:gd name="f111" fmla="*/ f88 f34 1"/>
                <a:gd name="f112" fmla="*/ f89 f33 1"/>
                <a:gd name="f113" fmla="*/ f90 f34 1"/>
                <a:gd name="f114" fmla="*/ f91 f33 1"/>
                <a:gd name="f115" fmla="*/ f92 f33 1"/>
                <a:gd name="f116" fmla="*/ f93 f34 1"/>
                <a:gd name="f117" fmla="*/ f94 f34 1"/>
                <a:gd name="f118" fmla="*/ f95 f33 1"/>
                <a:gd name="f119" fmla="*/ f96 f33 1"/>
                <a:gd name="f120" fmla="*/ f97 f34 1"/>
                <a:gd name="f121" fmla="*/ f98 f33 1"/>
                <a:gd name="f122" fmla="*/ f99 f34 1"/>
                <a:gd name="f123" fmla="*/ f100 f33 1"/>
                <a:gd name="f124" fmla="*/ f101 f34 1"/>
                <a:gd name="f125" fmla="*/ f102 f33 1"/>
              </a:gdLst>
              <a:ahLst/>
              <a:cxnLst>
                <a:cxn ang="3cd4">
                  <a:pos x="hc" y="t"/>
                </a:cxn>
                <a:cxn ang="0">
                  <a:pos x="r" y="vc"/>
                </a:cxn>
                <a:cxn ang="cd4">
                  <a:pos x="hc" y="b"/>
                </a:cxn>
                <a:cxn ang="cd2">
                  <a:pos x="l" y="vc"/>
                </a:cxn>
                <a:cxn ang="f83">
                  <a:pos x="f107" y="f108"/>
                </a:cxn>
                <a:cxn ang="f83">
                  <a:pos x="f107" y="f109"/>
                </a:cxn>
                <a:cxn ang="f83">
                  <a:pos x="f110" y="f111"/>
                </a:cxn>
                <a:cxn ang="f83">
                  <a:pos x="f112" y="f113"/>
                </a:cxn>
                <a:cxn ang="f83">
                  <a:pos x="f114" y="f109"/>
                </a:cxn>
                <a:cxn ang="f83">
                  <a:pos x="f115" y="f116"/>
                </a:cxn>
                <a:cxn ang="f83">
                  <a:pos x="f115" y="f117"/>
                </a:cxn>
                <a:cxn ang="f83">
                  <a:pos x="f118" y="f117"/>
                </a:cxn>
                <a:cxn ang="f83">
                  <a:pos x="f118" y="f116"/>
                </a:cxn>
                <a:cxn ang="f83">
                  <a:pos x="f119" y="f120"/>
                </a:cxn>
                <a:cxn ang="f83">
                  <a:pos x="f121" y="f122"/>
                </a:cxn>
                <a:cxn ang="f83">
                  <a:pos x="f123" y="f120"/>
                </a:cxn>
                <a:cxn ang="f83">
                  <a:pos x="f107" y="f124"/>
                </a:cxn>
                <a:cxn ang="f83">
                  <a:pos x="f107" y="f117"/>
                </a:cxn>
                <a:cxn ang="f83">
                  <a:pos x="f125" y="f117"/>
                </a:cxn>
                <a:cxn ang="f83">
                  <a:pos x="f125" y="f108"/>
                </a:cxn>
                <a:cxn ang="f83">
                  <a:pos x="f107" y="f108"/>
                </a:cxn>
              </a:cxnLst>
              <a:rect l="f103" t="f106" r="f104" b="f105"/>
              <a:pathLst>
                <a:path w="31" h="40">
                  <a:moveTo>
                    <a:pt x="f8" y="f9"/>
                  </a:moveTo>
                  <a:cubicBezTo>
                    <a:pt x="f8" y="f10"/>
                    <a:pt x="f8" y="f10"/>
                    <a:pt x="f8" y="f10"/>
                  </a:cubicBezTo>
                  <a:cubicBezTo>
                    <a:pt x="f11" y="f12"/>
                    <a:pt x="f13" y="f14"/>
                    <a:pt x="f15" y="f14"/>
                  </a:cubicBezTo>
                  <a:cubicBezTo>
                    <a:pt x="f16" y="f9"/>
                    <a:pt x="f17" y="f7"/>
                    <a:pt x="f18" y="f7"/>
                  </a:cubicBezTo>
                  <a:cubicBezTo>
                    <a:pt x="f19" y="f7"/>
                    <a:pt x="f20" y="f14"/>
                    <a:pt x="f21" y="f10"/>
                  </a:cubicBezTo>
                  <a:cubicBezTo>
                    <a:pt x="f22" y="f23"/>
                    <a:pt x="f5" y="f24"/>
                    <a:pt x="f5" y="f13"/>
                  </a:cubicBezTo>
                  <a:cubicBezTo>
                    <a:pt x="f5" y="f5"/>
                    <a:pt x="f5" y="f5"/>
                    <a:pt x="f5" y="f5"/>
                  </a:cubicBezTo>
                  <a:cubicBezTo>
                    <a:pt x="f25" y="f5"/>
                    <a:pt x="f25" y="f5"/>
                    <a:pt x="f25" y="f5"/>
                  </a:cubicBezTo>
                  <a:cubicBezTo>
                    <a:pt x="f25" y="f13"/>
                    <a:pt x="f25" y="f13"/>
                    <a:pt x="f25" y="f13"/>
                  </a:cubicBezTo>
                  <a:cubicBezTo>
                    <a:pt x="f25" y="f26"/>
                    <a:pt x="f27" y="f24"/>
                    <a:pt x="f19" y="f28"/>
                  </a:cubicBezTo>
                  <a:cubicBezTo>
                    <a:pt x="f29" y="f23"/>
                    <a:pt x="f30" y="f31"/>
                    <a:pt x="f17" y="f31"/>
                  </a:cubicBezTo>
                  <a:cubicBezTo>
                    <a:pt x="f16" y="f31"/>
                    <a:pt x="f15" y="f23"/>
                    <a:pt x="f13" y="f28"/>
                  </a:cubicBezTo>
                  <a:cubicBezTo>
                    <a:pt x="f11" y="f24"/>
                    <a:pt x="f8" y="f26"/>
                    <a:pt x="f8" y="f11"/>
                  </a:cubicBezTo>
                  <a:cubicBezTo>
                    <a:pt x="f8" y="f5"/>
                    <a:pt x="f8" y="f5"/>
                    <a:pt x="f8" y="f5"/>
                  </a:cubicBezTo>
                  <a:cubicBezTo>
                    <a:pt x="f6" y="f5"/>
                    <a:pt x="f6" y="f5"/>
                    <a:pt x="f6" y="f5"/>
                  </a:cubicBezTo>
                  <a:cubicBezTo>
                    <a:pt x="f6" y="f9"/>
                    <a:pt x="f6" y="f9"/>
                    <a:pt x="f6" y="f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0" name="Freeform 22">
              <a:extLst>
                <a:ext uri="{FF2B5EF4-FFF2-40B4-BE49-F238E27FC236}">
                  <a16:creationId xmlns:a16="http://schemas.microsoft.com/office/drawing/2014/main" id="{81DC7AF6-22AD-7A0F-77ED-97C89DC1FF3B}"/>
                </a:ext>
              </a:extLst>
            </p:cNvPr>
            <p:cNvSpPr/>
            <p:nvPr/>
          </p:nvSpPr>
          <p:spPr>
            <a:xfrm>
              <a:off x="1933928"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28"/>
                <a:gd name="f18" fmla="val 10"/>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6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11 f49 1"/>
                <a:gd name="f90" fmla="*/ 5 f49 1"/>
                <a:gd name="f91" fmla="*/ 10 f50 1"/>
                <a:gd name="f92" fmla="*/ 1 f49 1"/>
                <a:gd name="f93" fmla="*/ 0 f49 1"/>
                <a:gd name="f94" fmla="*/ 29 f50 1"/>
                <a:gd name="f95" fmla="*/ 32 f50 1"/>
                <a:gd name="f96" fmla="*/ 16 f49 1"/>
                <a:gd name="f97" fmla="*/ 25 f50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40"/>
                <a:gd name="f141" fmla="*/ f90 1 40"/>
                <a:gd name="f142" fmla="*/ f91 1 33"/>
                <a:gd name="f143" fmla="*/ f92 1 40"/>
                <a:gd name="f144" fmla="*/ f93 1 40"/>
                <a:gd name="f145" fmla="*/ f94 1 33"/>
                <a:gd name="f146" fmla="*/ f95 1 33"/>
                <a:gd name="f147" fmla="*/ f96 1 40"/>
                <a:gd name="f148" fmla="*/ f97 1 33"/>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3"/>
                <a:gd name="f196" fmla="*/ f141 1 f53"/>
                <a:gd name="f197" fmla="*/ f142 1 f52"/>
                <a:gd name="f198" fmla="*/ f143 1 f53"/>
                <a:gd name="f199" fmla="*/ f144 1 f53"/>
                <a:gd name="f200" fmla="*/ f145 1 f52"/>
                <a:gd name="f201" fmla="*/ f146 1 f52"/>
                <a:gd name="f202" fmla="*/ f147 1 f53"/>
                <a:gd name="f203" fmla="*/ f148 1 f52"/>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8 1"/>
                <a:gd name="f250" fmla="*/ f196 f48 1"/>
                <a:gd name="f251" fmla="*/ f197 f47 1"/>
                <a:gd name="f252" fmla="*/ f198 f48 1"/>
                <a:gd name="f253" fmla="*/ f199 f48 1"/>
                <a:gd name="f254" fmla="*/ f200 f47 1"/>
                <a:gd name="f255" fmla="*/ f201 f47 1"/>
                <a:gd name="f256" fmla="*/ f202 f48 1"/>
                <a:gd name="f257" fmla="*/ f203 f47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5" y="f249"/>
                </a:cxn>
                <a:cxn ang="f159">
                  <a:pos x="f242" y="f250"/>
                </a:cxn>
                <a:cxn ang="f159">
                  <a:pos x="f251" y="f252"/>
                </a:cxn>
                <a:cxn ang="f159">
                  <a:pos x="f225" y="f253"/>
                </a:cxn>
                <a:cxn ang="f159">
                  <a:pos x="f236" y="f252"/>
                </a:cxn>
                <a:cxn ang="f159">
                  <a:pos x="f254" y="f250"/>
                </a:cxn>
                <a:cxn ang="f159">
                  <a:pos x="f255" y="f249"/>
                </a:cxn>
                <a:cxn ang="f159">
                  <a:pos x="f214" y="f215"/>
                </a:cxn>
                <a:cxn ang="f159">
                  <a:pos x="f231" y="f256"/>
                </a:cxn>
                <a:cxn ang="f159">
                  <a:pos x="f257" y="f258"/>
                </a:cxn>
                <a:cxn ang="f159">
                  <a:pos x="f229" y="f259"/>
                </a:cxn>
                <a:cxn ang="f159">
                  <a:pos x="f227" y="f260"/>
                </a:cxn>
                <a:cxn ang="f159">
                  <a:pos x="f261" y="f262"/>
                </a:cxn>
                <a:cxn ang="f159">
                  <a:pos x="f263" y="f260"/>
                </a:cxn>
                <a:cxn ang="f159">
                  <a:pos x="f251" y="f259"/>
                </a:cxn>
                <a:cxn ang="f159">
                  <a:pos x="f219" y="f258"/>
                </a:cxn>
                <a:cxn ang="f159">
                  <a:pos x="f218" y="f256"/>
                </a:cxn>
                <a:cxn ang="f159">
                  <a:pos x="f231" y="f256"/>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5" y="f17"/>
                    <a:pt x="f18"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11" y="f25"/>
                    <a:pt x="f31" y="f23"/>
                    <a:pt x="f31" y="f23"/>
                  </a:cubicBezTo>
                  <a:cubicBezTo>
                    <a:pt x="f13" y="f23"/>
                    <a:pt x="f32" y="f21"/>
                    <a:pt x="f14" y="f21"/>
                  </a:cubicBezTo>
                  <a:cubicBezTo>
                    <a:pt x="f21" y="f33"/>
                    <a:pt x="f21" y="f33"/>
                    <a:pt x="f21" y="f33"/>
                  </a:cubicBezTo>
                  <a:cubicBezTo>
                    <a:pt x="f19" y="f33"/>
                    <a:pt x="f17" y="f34"/>
                    <a:pt x="f16" y="f35"/>
                  </a:cubicBezTo>
                  <a:cubicBezTo>
                    <a:pt x="f14" y="f35"/>
                    <a:pt x="f32" y="f36"/>
                    <a:pt x="f13" y="f36"/>
                  </a:cubicBezTo>
                  <a:cubicBezTo>
                    <a:pt x="f31" y="f37"/>
                    <a:pt x="f11" y="f37"/>
                    <a:pt x="f10" y="f37"/>
                  </a:cubicBezTo>
                  <a:cubicBezTo>
                    <a:pt x="f9" y="f37"/>
                    <a:pt x="f30" y="f7"/>
                    <a:pt x="f29" y="f7"/>
                  </a:cubicBezTo>
                  <a:cubicBezTo>
                    <a:pt x="f27" y="f7"/>
                    <a:pt x="f26" y="f37"/>
                    <a:pt x="f22" y="f37"/>
                  </a:cubicBezTo>
                  <a:cubicBezTo>
                    <a:pt x="f20" y="f36"/>
                    <a:pt x="f15" y="f36"/>
                    <a:pt x="f12" y="f35"/>
                  </a:cubicBezTo>
                  <a:cubicBezTo>
                    <a:pt x="f38" y="f34"/>
                    <a:pt x="f39" y="f33"/>
                    <a:pt x="f40" y="f41"/>
                  </a:cubicBezTo>
                  <a:cubicBezTo>
                    <a:pt x="f42" y="f41"/>
                    <a:pt x="f43" y="f25"/>
                    <a:pt x="f43" y="f23"/>
                  </a:cubicBezTo>
                  <a:cubicBezTo>
                    <a:pt x="f44" y="f19"/>
                    <a:pt x="f45" y="f17"/>
                    <a:pt x="f45" y="f14"/>
                  </a:cubicBezTo>
                  <a:cubicBezTo>
                    <a:pt x="f5" y="f13"/>
                    <a:pt x="f5" y="f11"/>
                    <a:pt x="f5" y="f9"/>
                  </a:cubicBezTo>
                  <a:cubicBezTo>
                    <a:pt x="f5" y="f28"/>
                    <a:pt x="f45" y="f24"/>
                    <a:pt x="f45" y="f20"/>
                  </a:cubicBezTo>
                  <a:cubicBezTo>
                    <a:pt x="f44" y="f12"/>
                    <a:pt x="f43" y="f39"/>
                    <a:pt x="f40" y="f40"/>
                  </a:cubicBezTo>
                  <a:cubicBezTo>
                    <a:pt x="f39" y="f43"/>
                    <a:pt x="f12" y="f44"/>
                    <a:pt x="f18" y="f45"/>
                  </a:cubicBezTo>
                  <a:cubicBezTo>
                    <a:pt x="f22" y="f5"/>
                    <a:pt x="f26" y="f5"/>
                    <a:pt x="f29" y="f5"/>
                  </a:cubicBezTo>
                  <a:cubicBezTo>
                    <a:pt x="f9" y="f5"/>
                    <a:pt x="f11" y="f5"/>
                    <a:pt x="f13" y="f45"/>
                  </a:cubicBezTo>
                  <a:cubicBezTo>
                    <a:pt x="f14" y="f44"/>
                    <a:pt x="f17" y="f42"/>
                    <a:pt x="f19" y="f40"/>
                  </a:cubicBezTo>
                  <a:cubicBezTo>
                    <a:pt x="f21" y="f38"/>
                    <a:pt x="f23" y="f15"/>
                    <a:pt x="f25" y="f20"/>
                  </a:cubicBezTo>
                  <a:cubicBezTo>
                    <a:pt x="f6" y="f26"/>
                    <a:pt x="f6" y="f28"/>
                    <a:pt x="f6" y="f8"/>
                  </a:cubicBezTo>
                  <a:close/>
                  <a:moveTo>
                    <a:pt x="f14" y="f28"/>
                  </a:moveTo>
                  <a:cubicBezTo>
                    <a:pt x="f32" y="f27"/>
                    <a:pt x="f32" y="f24"/>
                    <a:pt x="f32" y="f22"/>
                  </a:cubicBezTo>
                  <a:cubicBezTo>
                    <a:pt x="f13" y="f20"/>
                    <a:pt x="f13" y="f18"/>
                    <a:pt x="f31" y="f15"/>
                  </a:cubicBezTo>
                  <a:cubicBezTo>
                    <a:pt x="f11" y="f12"/>
                    <a:pt x="f11" y="f12"/>
                    <a:pt x="f9" y="f38"/>
                  </a:cubicBezTo>
                  <a:cubicBezTo>
                    <a:pt x="f8" y="f38"/>
                    <a:pt x="f30" y="f39"/>
                    <a:pt x="f28" y="f39"/>
                  </a:cubicBezTo>
                  <a:cubicBezTo>
                    <a:pt x="f27" y="f39"/>
                    <a:pt x="f26" y="f38"/>
                    <a:pt x="f24" y="f38"/>
                  </a:cubicBezTo>
                  <a:cubicBezTo>
                    <a:pt x="f22" y="f38"/>
                    <a:pt x="f20" y="f12"/>
                    <a:pt x="f18" y="f15"/>
                  </a:cubicBezTo>
                  <a:cubicBezTo>
                    <a:pt x="f18" y="f18"/>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1" name="Freeform 23">
              <a:extLst>
                <a:ext uri="{FF2B5EF4-FFF2-40B4-BE49-F238E27FC236}">
                  <a16:creationId xmlns:a16="http://schemas.microsoft.com/office/drawing/2014/main" id="{7E61A77B-AF61-2416-B358-C19665F03E17}"/>
                </a:ext>
              </a:extLst>
            </p:cNvPr>
            <p:cNvSpPr/>
            <p:nvPr/>
          </p:nvSpPr>
          <p:spPr>
            <a:xfrm>
              <a:off x="2029785"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3"/>
                <a:gd name="f22" fmla="val 11"/>
                <a:gd name="f23" fmla="val 9"/>
                <a:gd name="f24" fmla="val 12"/>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5"/>
                <a:gd name="f42" fmla="val 31"/>
                <a:gd name="f43" fmla="val 33"/>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1 f50 1"/>
                <a:gd name="f66" fmla="*/ 12 f49 1"/>
                <a:gd name="f67" fmla="*/ 13 f50 1"/>
                <a:gd name="f68" fmla="*/ 14 f49 1"/>
                <a:gd name="f69" fmla="*/ 16 f50 1"/>
                <a:gd name="f70" fmla="*/ 15 f49 1"/>
                <a:gd name="f71" fmla="*/ 22 f50 1"/>
                <a:gd name="f72" fmla="*/ 18 f49 1"/>
                <a:gd name="f73" fmla="*/ 26 f50 1"/>
                <a:gd name="f74" fmla="*/ 20 f49 1"/>
                <a:gd name="f75" fmla="*/ 24 f49 1"/>
                <a:gd name="f76" fmla="*/ 29 f50 1"/>
                <a:gd name="f77" fmla="*/ 28 f49 1"/>
                <a:gd name="f78" fmla="*/ 34 f49 1"/>
                <a:gd name="f79" fmla="*/ 25 f50 1"/>
                <a:gd name="f80" fmla="*/ 37 f49 1"/>
                <a:gd name="f81" fmla="*/ 39 f49 1"/>
                <a:gd name="f82" fmla="*/ 15 f50 1"/>
                <a:gd name="f83" fmla="*/ 40 f49 1"/>
                <a:gd name="f84" fmla="*/ 7 f50 1"/>
                <a:gd name="f85" fmla="*/ 38 f49 1"/>
                <a:gd name="f86" fmla="*/ 0 f50 1"/>
                <a:gd name="f87" fmla="*/ 35 f49 1"/>
                <a:gd name="f88" fmla="*/ 4 f50 1"/>
                <a:gd name="f89" fmla="*/ 29 f49 1"/>
                <a:gd name="f90" fmla="*/ 32 f49 1"/>
                <a:gd name="f91" fmla="*/ 33 f49 1"/>
                <a:gd name="f92" fmla="*/ 21 f50 1"/>
                <a:gd name="f93" fmla="*/ 27 f49 1"/>
                <a:gd name="f94" fmla="*/ 19 f50 1"/>
                <a:gd name="f95" fmla="*/ 25 f49 1"/>
                <a:gd name="f96" fmla="*/ 17 f50 1"/>
                <a:gd name="f97" fmla="*/ 22 f49 1"/>
                <a:gd name="f98" fmla="*/ 8 f50 1"/>
                <a:gd name="f99" fmla="*/ 17 f49 1"/>
                <a:gd name="f100" fmla="*/ 2 f50 1"/>
                <a:gd name="f101" fmla="*/ 5 f49 1"/>
                <a:gd name="f102" fmla="*/ 5 f50 1"/>
                <a:gd name="f103" fmla="*/ 2 f49 1"/>
                <a:gd name="f104" fmla="*/ 0 f49 1"/>
                <a:gd name="f105" fmla="*/ 1 f49 1"/>
                <a:gd name="f106" fmla="*/ f51 1 f2"/>
                <a:gd name="f107" fmla="*/ f54 1 29"/>
                <a:gd name="f108" fmla="*/ f55 1 40"/>
                <a:gd name="f109" fmla="*/ f56 1 29"/>
                <a:gd name="f110" fmla="*/ f57 1 40"/>
                <a:gd name="f111" fmla="*/ f58 1 29"/>
                <a:gd name="f112" fmla="*/ f59 1 40"/>
                <a:gd name="f113" fmla="*/ f60 1 29"/>
                <a:gd name="f114" fmla="*/ f61 1 40"/>
                <a:gd name="f115" fmla="*/ f62 1 29"/>
                <a:gd name="f116" fmla="*/ f63 1 29"/>
                <a:gd name="f117" fmla="*/ f64 1 40"/>
                <a:gd name="f118" fmla="*/ f65 1 29"/>
                <a:gd name="f119" fmla="*/ f66 1 40"/>
                <a:gd name="f120" fmla="*/ f67 1 29"/>
                <a:gd name="f121" fmla="*/ f68 1 40"/>
                <a:gd name="f122" fmla="*/ f69 1 29"/>
                <a:gd name="f123" fmla="*/ f70 1 40"/>
                <a:gd name="f124" fmla="*/ f71 1 29"/>
                <a:gd name="f125" fmla="*/ f72 1 40"/>
                <a:gd name="f126" fmla="*/ f73 1 29"/>
                <a:gd name="f127" fmla="*/ f74 1 40"/>
                <a:gd name="f128" fmla="*/ f75 1 40"/>
                <a:gd name="f129" fmla="*/ f76 1 29"/>
                <a:gd name="f130" fmla="*/ f77 1 40"/>
                <a:gd name="f131" fmla="*/ f78 1 40"/>
                <a:gd name="f132" fmla="*/ f79 1 29"/>
                <a:gd name="f133" fmla="*/ f80 1 40"/>
                <a:gd name="f134" fmla="*/ f81 1 40"/>
                <a:gd name="f135" fmla="*/ f82 1 29"/>
                <a:gd name="f136" fmla="*/ f83 1 40"/>
                <a:gd name="f137" fmla="*/ f84 1 29"/>
                <a:gd name="f138" fmla="*/ f85 1 40"/>
                <a:gd name="f139" fmla="*/ f86 1 29"/>
                <a:gd name="f140" fmla="*/ f87 1 40"/>
                <a:gd name="f141" fmla="*/ f88 1 29"/>
                <a:gd name="f142" fmla="*/ f89 1 40"/>
                <a:gd name="f143" fmla="*/ f90 1 40"/>
                <a:gd name="f144" fmla="*/ f91 1 40"/>
                <a:gd name="f145" fmla="*/ f92 1 29"/>
                <a:gd name="f146" fmla="*/ f93 1 40"/>
                <a:gd name="f147" fmla="*/ f94 1 29"/>
                <a:gd name="f148" fmla="*/ f95 1 40"/>
                <a:gd name="f149" fmla="*/ f96 1 29"/>
                <a:gd name="f150" fmla="*/ f97 1 40"/>
                <a:gd name="f151" fmla="*/ f98 1 29"/>
                <a:gd name="f152" fmla="*/ f99 1 40"/>
                <a:gd name="f153" fmla="*/ f100 1 29"/>
                <a:gd name="f154" fmla="*/ f101 1 40"/>
                <a:gd name="f155" fmla="*/ f102 1 29"/>
                <a:gd name="f156" fmla="*/ f103 1 40"/>
                <a:gd name="f157" fmla="*/ f104 1 40"/>
                <a:gd name="f158" fmla="*/ f105 1 40"/>
                <a:gd name="f159" fmla="*/ 0 1 f52"/>
                <a:gd name="f160" fmla="*/ f6 1 f52"/>
                <a:gd name="f161" fmla="*/ 0 1 f53"/>
                <a:gd name="f162" fmla="*/ f7 1 f53"/>
                <a:gd name="f163" fmla="+- f106 0 f1"/>
                <a:gd name="f164" fmla="*/ f107 1 f52"/>
                <a:gd name="f165" fmla="*/ f108 1 f53"/>
                <a:gd name="f166" fmla="*/ f109 1 f52"/>
                <a:gd name="f167" fmla="*/ f110 1 f53"/>
                <a:gd name="f168" fmla="*/ f111 1 f52"/>
                <a:gd name="f169" fmla="*/ f112 1 f53"/>
                <a:gd name="f170" fmla="*/ f113 1 f52"/>
                <a:gd name="f171" fmla="*/ f114 1 f53"/>
                <a:gd name="f172" fmla="*/ f115 1 f52"/>
                <a:gd name="f173" fmla="*/ f116 1 f52"/>
                <a:gd name="f174" fmla="*/ f117 1 f53"/>
                <a:gd name="f175" fmla="*/ f118 1 f52"/>
                <a:gd name="f176" fmla="*/ f119 1 f53"/>
                <a:gd name="f177" fmla="*/ f120 1 f52"/>
                <a:gd name="f178" fmla="*/ f121 1 f53"/>
                <a:gd name="f179" fmla="*/ f122 1 f52"/>
                <a:gd name="f180" fmla="*/ f123 1 f53"/>
                <a:gd name="f181" fmla="*/ f124 1 f52"/>
                <a:gd name="f182" fmla="*/ f125 1 f53"/>
                <a:gd name="f183" fmla="*/ f126 1 f52"/>
                <a:gd name="f184" fmla="*/ f127 1 f53"/>
                <a:gd name="f185" fmla="*/ f128 1 f53"/>
                <a:gd name="f186" fmla="*/ f129 1 f52"/>
                <a:gd name="f187" fmla="*/ f130 1 f53"/>
                <a:gd name="f188" fmla="*/ f131 1 f53"/>
                <a:gd name="f189" fmla="*/ f132 1 f52"/>
                <a:gd name="f190" fmla="*/ f133 1 f53"/>
                <a:gd name="f191" fmla="*/ f134 1 f53"/>
                <a:gd name="f192" fmla="*/ f135 1 f52"/>
                <a:gd name="f193" fmla="*/ f136 1 f53"/>
                <a:gd name="f194" fmla="*/ f137 1 f52"/>
                <a:gd name="f195" fmla="*/ f138 1 f53"/>
                <a:gd name="f196" fmla="*/ f139 1 f52"/>
                <a:gd name="f197" fmla="*/ f140 1 f53"/>
                <a:gd name="f198" fmla="*/ f141 1 f52"/>
                <a:gd name="f199" fmla="*/ f142 1 f53"/>
                <a:gd name="f200" fmla="*/ f143 1 f53"/>
                <a:gd name="f201" fmla="*/ f144 1 f53"/>
                <a:gd name="f202" fmla="*/ f145 1 f52"/>
                <a:gd name="f203" fmla="*/ f146 1 f53"/>
                <a:gd name="f204" fmla="*/ f147 1 f52"/>
                <a:gd name="f205" fmla="*/ f148 1 f53"/>
                <a:gd name="f206" fmla="*/ f149 1 f52"/>
                <a:gd name="f207" fmla="*/ f150 1 f53"/>
                <a:gd name="f208" fmla="*/ f151 1 f52"/>
                <a:gd name="f209" fmla="*/ f152 1 f53"/>
                <a:gd name="f210" fmla="*/ f153 1 f52"/>
                <a:gd name="f211" fmla="*/ f154 1 f53"/>
                <a:gd name="f212" fmla="*/ f155 1 f52"/>
                <a:gd name="f213" fmla="*/ f156 1 f53"/>
                <a:gd name="f214" fmla="*/ f157 1 f53"/>
                <a:gd name="f215" fmla="*/ f158 1 f53"/>
                <a:gd name="f216" fmla="*/ f159 f47 1"/>
                <a:gd name="f217" fmla="*/ f160 f47 1"/>
                <a:gd name="f218" fmla="*/ f162 f48 1"/>
                <a:gd name="f219" fmla="*/ f161 f48 1"/>
                <a:gd name="f220" fmla="*/ f164 f47 1"/>
                <a:gd name="f221" fmla="*/ f165 f48 1"/>
                <a:gd name="f222" fmla="*/ f166 f47 1"/>
                <a:gd name="f223" fmla="*/ f167 f48 1"/>
                <a:gd name="f224" fmla="*/ f168 f47 1"/>
                <a:gd name="f225" fmla="*/ f169 f48 1"/>
                <a:gd name="f226" fmla="*/ f170 f47 1"/>
                <a:gd name="f227" fmla="*/ f171 f48 1"/>
                <a:gd name="f228" fmla="*/ f172 f47 1"/>
                <a:gd name="f229" fmla="*/ f173 f47 1"/>
                <a:gd name="f230" fmla="*/ f174 f48 1"/>
                <a:gd name="f231" fmla="*/ f175 f47 1"/>
                <a:gd name="f232" fmla="*/ f176 f48 1"/>
                <a:gd name="f233" fmla="*/ f177 f47 1"/>
                <a:gd name="f234" fmla="*/ f178 f48 1"/>
                <a:gd name="f235" fmla="*/ f179 f47 1"/>
                <a:gd name="f236" fmla="*/ f180 f48 1"/>
                <a:gd name="f237" fmla="*/ f181 f47 1"/>
                <a:gd name="f238" fmla="*/ f182 f48 1"/>
                <a:gd name="f239" fmla="*/ f183 f47 1"/>
                <a:gd name="f240" fmla="*/ f184 f48 1"/>
                <a:gd name="f241" fmla="*/ f185 f48 1"/>
                <a:gd name="f242" fmla="*/ f186 f47 1"/>
                <a:gd name="f243" fmla="*/ f187 f48 1"/>
                <a:gd name="f244" fmla="*/ f188 f48 1"/>
                <a:gd name="f245" fmla="*/ f189 f47 1"/>
                <a:gd name="f246" fmla="*/ f190 f48 1"/>
                <a:gd name="f247" fmla="*/ f191 f48 1"/>
                <a:gd name="f248" fmla="*/ f192 f47 1"/>
                <a:gd name="f249" fmla="*/ f193 f48 1"/>
                <a:gd name="f250" fmla="*/ f194 f47 1"/>
                <a:gd name="f251" fmla="*/ f195 f48 1"/>
                <a:gd name="f252" fmla="*/ f196 f47 1"/>
                <a:gd name="f253" fmla="*/ f197 f48 1"/>
                <a:gd name="f254" fmla="*/ f198 f47 1"/>
                <a:gd name="f255" fmla="*/ f199 f48 1"/>
                <a:gd name="f256" fmla="*/ f200 f48 1"/>
                <a:gd name="f257" fmla="*/ f201 f48 1"/>
                <a:gd name="f258" fmla="*/ f202 f47 1"/>
                <a:gd name="f259" fmla="*/ f203 f48 1"/>
                <a:gd name="f260" fmla="*/ f204 f47 1"/>
                <a:gd name="f261" fmla="*/ f205 f48 1"/>
                <a:gd name="f262" fmla="*/ f206 f47 1"/>
                <a:gd name="f263" fmla="*/ f207 f48 1"/>
                <a:gd name="f264" fmla="*/ f208 f47 1"/>
                <a:gd name="f265" fmla="*/ f209 f48 1"/>
                <a:gd name="f266" fmla="*/ f210 f47 1"/>
                <a:gd name="f267" fmla="*/ f211 f48 1"/>
                <a:gd name="f268" fmla="*/ f212 f47 1"/>
                <a:gd name="f269" fmla="*/ f213 f48 1"/>
                <a:gd name="f270" fmla="*/ f214 f48 1"/>
                <a:gd name="f271" fmla="*/ f215 f48 1"/>
              </a:gdLst>
              <a:ahLst/>
              <a:cxnLst>
                <a:cxn ang="3cd4">
                  <a:pos x="hc" y="t"/>
                </a:cxn>
                <a:cxn ang="0">
                  <a:pos x="r" y="vc"/>
                </a:cxn>
                <a:cxn ang="cd4">
                  <a:pos x="hc" y="b"/>
                </a:cxn>
                <a:cxn ang="cd2">
                  <a:pos x="l" y="vc"/>
                </a:cxn>
                <a:cxn ang="f163">
                  <a:pos x="f220" y="f221"/>
                </a:cxn>
                <a:cxn ang="f163">
                  <a:pos x="f222" y="f223"/>
                </a:cxn>
                <a:cxn ang="f163">
                  <a:pos x="f224" y="f225"/>
                </a:cxn>
                <a:cxn ang="f163">
                  <a:pos x="f226" y="f227"/>
                </a:cxn>
                <a:cxn ang="f163">
                  <a:pos x="f228" y="f225"/>
                </a:cxn>
                <a:cxn ang="f163">
                  <a:pos x="f229" y="f223"/>
                </a:cxn>
                <a:cxn ang="f163">
                  <a:pos x="f229" y="f230"/>
                </a:cxn>
                <a:cxn ang="f163">
                  <a:pos x="f231" y="f232"/>
                </a:cxn>
                <a:cxn ang="f163">
                  <a:pos x="f233" y="f234"/>
                </a:cxn>
                <a:cxn ang="f163">
                  <a:pos x="f235" y="f236"/>
                </a:cxn>
                <a:cxn ang="f163">
                  <a:pos x="f237" y="f238"/>
                </a:cxn>
                <a:cxn ang="f163">
                  <a:pos x="f239" y="f240"/>
                </a:cxn>
                <a:cxn ang="f163">
                  <a:pos x="f220" y="f241"/>
                </a:cxn>
                <a:cxn ang="f163">
                  <a:pos x="f242" y="f243"/>
                </a:cxn>
                <a:cxn ang="f163">
                  <a:pos x="f220" y="f244"/>
                </a:cxn>
                <a:cxn ang="f163">
                  <a:pos x="f245" y="f246"/>
                </a:cxn>
                <a:cxn ang="f163">
                  <a:pos x="f224" y="f247"/>
                </a:cxn>
                <a:cxn ang="f163">
                  <a:pos x="f248" y="f249"/>
                </a:cxn>
                <a:cxn ang="f163">
                  <a:pos x="f250" y="f251"/>
                </a:cxn>
                <a:cxn ang="f163">
                  <a:pos x="f252" y="f253"/>
                </a:cxn>
                <a:cxn ang="f163">
                  <a:pos x="f254" y="f255"/>
                </a:cxn>
                <a:cxn ang="f163">
                  <a:pos x="f229" y="f256"/>
                </a:cxn>
                <a:cxn ang="f163">
                  <a:pos x="f248" y="f257"/>
                </a:cxn>
                <a:cxn ang="f163">
                  <a:pos x="f224" y="f256"/>
                </a:cxn>
                <a:cxn ang="f163">
                  <a:pos x="f237" y="f255"/>
                </a:cxn>
                <a:cxn ang="f163">
                  <a:pos x="f258" y="f259"/>
                </a:cxn>
                <a:cxn ang="f163">
                  <a:pos x="f260" y="f261"/>
                </a:cxn>
                <a:cxn ang="f163">
                  <a:pos x="f262" y="f241"/>
                </a:cxn>
                <a:cxn ang="f163">
                  <a:pos x="f233" y="f263"/>
                </a:cxn>
                <a:cxn ang="f163">
                  <a:pos x="f264" y="f240"/>
                </a:cxn>
                <a:cxn ang="f163">
                  <a:pos x="f254" y="f265"/>
                </a:cxn>
                <a:cxn ang="f163">
                  <a:pos x="f266" y="f234"/>
                </a:cxn>
                <a:cxn ang="f163">
                  <a:pos x="f266" y="f223"/>
                </a:cxn>
                <a:cxn ang="f163">
                  <a:pos x="f266" y="f267"/>
                </a:cxn>
                <a:cxn ang="f163">
                  <a:pos x="f268" y="f269"/>
                </a:cxn>
                <a:cxn ang="f163">
                  <a:pos x="f229" y="f270"/>
                </a:cxn>
                <a:cxn ang="f163">
                  <a:pos x="f248" y="f270"/>
                </a:cxn>
                <a:cxn ang="f163">
                  <a:pos x="f237" y="f271"/>
                </a:cxn>
                <a:cxn ang="f163">
                  <a:pos x="f220" y="f221"/>
                </a:cxn>
              </a:cxnLst>
              <a:rect l="f216" t="f219" r="f217" b="f218"/>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11" y="f13"/>
                    <a:pt x="f23" y="f23"/>
                    <a:pt x="f23" y="f11"/>
                  </a:cubicBezTo>
                  <a:cubicBezTo>
                    <a:pt x="f23" y="f11"/>
                    <a:pt x="f23" y="f22"/>
                    <a:pt x="f23" y="f22"/>
                  </a:cubicBezTo>
                  <a:cubicBezTo>
                    <a:pt x="f11" y="f24"/>
                    <a:pt x="f11" y="f24"/>
                    <a:pt x="f22" y="f24"/>
                  </a:cubicBezTo>
                  <a:cubicBezTo>
                    <a:pt x="f22" y="f21"/>
                    <a:pt x="f24" y="f21"/>
                    <a:pt x="f21"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4" y="f7"/>
                    <a:pt x="f11" y="f39"/>
                    <a:pt x="f16" y="f38"/>
                  </a:cubicBezTo>
                  <a:cubicBezTo>
                    <a:pt x="f9" y="f37"/>
                    <a:pt x="f40" y="f36"/>
                    <a:pt x="f5" y="f35"/>
                  </a:cubicBezTo>
                  <a:cubicBezTo>
                    <a:pt x="f9" y="f6"/>
                    <a:pt x="f9" y="f6"/>
                    <a:pt x="f9" y="f6"/>
                  </a:cubicBezTo>
                  <a:cubicBezTo>
                    <a:pt x="f41" y="f32"/>
                    <a:pt x="f16" y="f42"/>
                    <a:pt x="f23" y="f33"/>
                  </a:cubicBezTo>
                  <a:cubicBezTo>
                    <a:pt x="f22" y="f33"/>
                    <a:pt x="f21" y="f43"/>
                    <a:pt x="f25" y="f43"/>
                  </a:cubicBezTo>
                  <a:cubicBezTo>
                    <a:pt x="f26" y="f43"/>
                    <a:pt x="f28" y="f33"/>
                    <a:pt x="f15" y="f33"/>
                  </a:cubicBezTo>
                  <a:cubicBezTo>
                    <a:pt x="f14" y="f42"/>
                    <a:pt x="f27" y="f32"/>
                    <a:pt x="f27" y="f6"/>
                  </a:cubicBezTo>
                  <a:cubicBezTo>
                    <a:pt x="f27" y="f8"/>
                    <a:pt x="f27" y="f31"/>
                    <a:pt x="f14" y="f31"/>
                  </a:cubicBezTo>
                  <a:cubicBezTo>
                    <a:pt x="f14" y="f30"/>
                    <a:pt x="f15" y="f29"/>
                    <a:pt x="f28" y="f29"/>
                  </a:cubicBezTo>
                  <a:cubicBezTo>
                    <a:pt x="f28" y="f29"/>
                    <a:pt x="f17" y="f10"/>
                    <a:pt x="f26" y="f10"/>
                  </a:cubicBezTo>
                  <a:cubicBezTo>
                    <a:pt x="f25" y="f12"/>
                    <a:pt x="f20" y="f12"/>
                    <a:pt x="f21" y="f27"/>
                  </a:cubicBezTo>
                  <a:cubicBezTo>
                    <a:pt x="f22" y="f14"/>
                    <a:pt x="f23" y="f15"/>
                    <a:pt x="f13" y="f15"/>
                  </a:cubicBezTo>
                  <a:cubicBezTo>
                    <a:pt x="f19" y="f28"/>
                    <a:pt x="f41" y="f17"/>
                    <a:pt x="f9" y="f26"/>
                  </a:cubicBezTo>
                  <a:cubicBezTo>
                    <a:pt x="f44" y="f18"/>
                    <a:pt x="f44" y="f25"/>
                    <a:pt x="f40" y="f20"/>
                  </a:cubicBezTo>
                  <a:cubicBezTo>
                    <a:pt x="f40" y="f21"/>
                    <a:pt x="f40" y="f24"/>
                    <a:pt x="f40" y="f11"/>
                  </a:cubicBezTo>
                  <a:cubicBezTo>
                    <a:pt x="f40" y="f13"/>
                    <a:pt x="f40" y="f16"/>
                    <a:pt x="f40" y="f41"/>
                  </a:cubicBezTo>
                  <a:cubicBezTo>
                    <a:pt x="f44" y="f9"/>
                    <a:pt x="f9" y="f44"/>
                    <a:pt x="f41" y="f40"/>
                  </a:cubicBezTo>
                  <a:cubicBezTo>
                    <a:pt x="f19" y="f45"/>
                    <a:pt x="f13" y="f45"/>
                    <a:pt x="f23" y="f5"/>
                  </a:cubicBezTo>
                  <a:cubicBezTo>
                    <a:pt x="f22" y="f5"/>
                    <a:pt x="f21" y="f5"/>
                    <a:pt x="f25" y="f5"/>
                  </a:cubicBezTo>
                  <a:cubicBezTo>
                    <a:pt x="f26" y="f5"/>
                    <a:pt x="f28" y="f5"/>
                    <a:pt x="f27" y="f45"/>
                  </a:cubicBezTo>
                  <a:cubicBezTo>
                    <a:pt x="f10" y="f40"/>
                    <a:pt x="f30"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2" name="Freeform 24">
              <a:extLst>
                <a:ext uri="{FF2B5EF4-FFF2-40B4-BE49-F238E27FC236}">
                  <a16:creationId xmlns:a16="http://schemas.microsoft.com/office/drawing/2014/main" id="{E55921F4-1D8B-0BFD-509A-043435BE2533}"/>
                </a:ext>
              </a:extLst>
            </p:cNvPr>
            <p:cNvSpPr/>
            <p:nvPr/>
          </p:nvSpPr>
          <p:spPr>
            <a:xfrm>
              <a:off x="211692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3" name="Freeform 25">
              <a:extLst>
                <a:ext uri="{FF2B5EF4-FFF2-40B4-BE49-F238E27FC236}">
                  <a16:creationId xmlns:a16="http://schemas.microsoft.com/office/drawing/2014/main" id="{9D2E632E-9EFB-E9B4-3689-DCCCF7E16E92}"/>
                </a:ext>
              </a:extLst>
            </p:cNvPr>
            <p:cNvSpPr/>
            <p:nvPr/>
          </p:nvSpPr>
          <p:spPr>
            <a:xfrm>
              <a:off x="2193609" y="6051554"/>
              <a:ext cx="24396" cy="136007"/>
            </a:xfrm>
            <a:custGeom>
              <a:avLst/>
              <a:gdLst>
                <a:gd name="f0" fmla="val 10800000"/>
                <a:gd name="f1" fmla="val 5400000"/>
                <a:gd name="f2" fmla="val 180"/>
                <a:gd name="f3" fmla="val w"/>
                <a:gd name="f4" fmla="val h"/>
                <a:gd name="f5" fmla="val 0"/>
                <a:gd name="f6" fmla="val 10"/>
                <a:gd name="f7" fmla="val 53"/>
                <a:gd name="f8" fmla="val 5"/>
                <a:gd name="f9" fmla="val 6"/>
                <a:gd name="f10" fmla="val 9"/>
                <a:gd name="f11" fmla="val 7"/>
                <a:gd name="f12" fmla="val 8"/>
                <a:gd name="f13" fmla="val 4"/>
                <a:gd name="f14" fmla="val 3"/>
                <a:gd name="f15" fmla="val 2"/>
                <a:gd name="f16" fmla="val 1"/>
                <a:gd name="f17" fmla="val 14"/>
                <a:gd name="f18" fmla="+- 0 0 -90"/>
                <a:gd name="f19" fmla="*/ f3 1 10"/>
                <a:gd name="f20" fmla="*/ f4 1 53"/>
                <a:gd name="f21" fmla="+- f7 0 f5"/>
                <a:gd name="f22" fmla="+- f6 0 f5"/>
                <a:gd name="f23" fmla="*/ f18 f0 1"/>
                <a:gd name="f24" fmla="*/ f22 1 10"/>
                <a:gd name="f25" fmla="*/ f21 1 53"/>
                <a:gd name="f26" fmla="*/ 10 f22 1"/>
                <a:gd name="f27" fmla="*/ 5 f21 1"/>
                <a:gd name="f28" fmla="*/ 9 f22 1"/>
                <a:gd name="f29" fmla="*/ 6 f21 1"/>
                <a:gd name="f30" fmla="*/ 8 f22 1"/>
                <a:gd name="f31" fmla="*/ 8 f21 1"/>
                <a:gd name="f32" fmla="*/ 7 f22 1"/>
                <a:gd name="f33" fmla="*/ 9 f21 1"/>
                <a:gd name="f34" fmla="*/ 5 f22 1"/>
                <a:gd name="f35" fmla="*/ 3 f22 1"/>
                <a:gd name="f36" fmla="*/ 1 f22 1"/>
                <a:gd name="f37" fmla="*/ 0 f22 1"/>
                <a:gd name="f38" fmla="*/ 3 f21 1"/>
                <a:gd name="f39" fmla="*/ 1 f21 1"/>
                <a:gd name="f40" fmla="*/ 0 f21 1"/>
                <a:gd name="f41" fmla="*/ 53 f21 1"/>
                <a:gd name="f42" fmla="*/ 14 f21 1"/>
                <a:gd name="f43" fmla="*/ f23 1 f2"/>
                <a:gd name="f44" fmla="*/ f26 1 10"/>
                <a:gd name="f45" fmla="*/ f27 1 53"/>
                <a:gd name="f46" fmla="*/ f28 1 10"/>
                <a:gd name="f47" fmla="*/ f29 1 53"/>
                <a:gd name="f48" fmla="*/ f30 1 10"/>
                <a:gd name="f49" fmla="*/ f31 1 53"/>
                <a:gd name="f50" fmla="*/ f32 1 10"/>
                <a:gd name="f51" fmla="*/ f33 1 53"/>
                <a:gd name="f52" fmla="*/ f34 1 10"/>
                <a:gd name="f53" fmla="*/ f35 1 10"/>
                <a:gd name="f54" fmla="*/ f36 1 10"/>
                <a:gd name="f55" fmla="*/ f37 1 10"/>
                <a:gd name="f56" fmla="*/ f38 1 53"/>
                <a:gd name="f57" fmla="*/ f39 1 53"/>
                <a:gd name="f58" fmla="*/ f40 1 53"/>
                <a:gd name="f59" fmla="*/ f41 1 53"/>
                <a:gd name="f60" fmla="*/ f42 1 53"/>
                <a:gd name="f61" fmla="*/ 0 1 f24"/>
                <a:gd name="f62" fmla="*/ f6 1 f24"/>
                <a:gd name="f63" fmla="*/ 0 1 f25"/>
                <a:gd name="f64" fmla="*/ f7 1 f25"/>
                <a:gd name="f65" fmla="+- f43 0 f1"/>
                <a:gd name="f66" fmla="*/ f44 1 f24"/>
                <a:gd name="f67" fmla="*/ f45 1 f25"/>
                <a:gd name="f68" fmla="*/ f46 1 f24"/>
                <a:gd name="f69" fmla="*/ f47 1 f25"/>
                <a:gd name="f70" fmla="*/ f48 1 f24"/>
                <a:gd name="f71" fmla="*/ f49 1 f25"/>
                <a:gd name="f72" fmla="*/ f50 1 f24"/>
                <a:gd name="f73" fmla="*/ f51 1 f25"/>
                <a:gd name="f74" fmla="*/ f52 1 f24"/>
                <a:gd name="f75" fmla="*/ f53 1 f24"/>
                <a:gd name="f76" fmla="*/ f54 1 f24"/>
                <a:gd name="f77" fmla="*/ f55 1 f24"/>
                <a:gd name="f78" fmla="*/ f56 1 f25"/>
                <a:gd name="f79" fmla="*/ f57 1 f25"/>
                <a:gd name="f80" fmla="*/ f58 1 f25"/>
                <a:gd name="f81" fmla="*/ f59 1 f25"/>
                <a:gd name="f82" fmla="*/ f60 1 f25"/>
                <a:gd name="f83" fmla="*/ f61 f19 1"/>
                <a:gd name="f84" fmla="*/ f62 f19 1"/>
                <a:gd name="f85" fmla="*/ f64 f20 1"/>
                <a:gd name="f86" fmla="*/ f63 f20 1"/>
                <a:gd name="f87" fmla="*/ f66 f19 1"/>
                <a:gd name="f88" fmla="*/ f67 f20 1"/>
                <a:gd name="f89" fmla="*/ f68 f19 1"/>
                <a:gd name="f90" fmla="*/ f69 f20 1"/>
                <a:gd name="f91" fmla="*/ f70 f19 1"/>
                <a:gd name="f92" fmla="*/ f71 f20 1"/>
                <a:gd name="f93" fmla="*/ f72 f19 1"/>
                <a:gd name="f94" fmla="*/ f73 f20 1"/>
                <a:gd name="f95" fmla="*/ f74 f19 1"/>
                <a:gd name="f96" fmla="*/ f75 f19 1"/>
                <a:gd name="f97" fmla="*/ f76 f19 1"/>
                <a:gd name="f98" fmla="*/ f77 f19 1"/>
                <a:gd name="f99" fmla="*/ f78 f20 1"/>
                <a:gd name="f100" fmla="*/ f79 f20 1"/>
                <a:gd name="f101" fmla="*/ f80 f20 1"/>
                <a:gd name="f102" fmla="*/ f81 f20 1"/>
                <a:gd name="f103" fmla="*/ f82 f20 1"/>
              </a:gdLst>
              <a:ahLst/>
              <a:cxnLst>
                <a:cxn ang="3cd4">
                  <a:pos x="hc" y="t"/>
                </a:cxn>
                <a:cxn ang="0">
                  <a:pos x="r" y="vc"/>
                </a:cxn>
                <a:cxn ang="cd4">
                  <a:pos x="hc" y="b"/>
                </a:cxn>
                <a:cxn ang="cd2">
                  <a:pos x="l" y="vc"/>
                </a:cxn>
                <a:cxn ang="f65">
                  <a:pos x="f87" y="f88"/>
                </a:cxn>
                <a:cxn ang="f65">
                  <a:pos x="f89" y="f90"/>
                </a:cxn>
                <a:cxn ang="f65">
                  <a:pos x="f91" y="f92"/>
                </a:cxn>
                <a:cxn ang="f65">
                  <a:pos x="f93" y="f94"/>
                </a:cxn>
                <a:cxn ang="f65">
                  <a:pos x="f95" y="f94"/>
                </a:cxn>
                <a:cxn ang="f65">
                  <a:pos x="f96" y="f94"/>
                </a:cxn>
                <a:cxn ang="f65">
                  <a:pos x="f97" y="f92"/>
                </a:cxn>
                <a:cxn ang="f65">
                  <a:pos x="f98" y="f90"/>
                </a:cxn>
                <a:cxn ang="f65">
                  <a:pos x="f98" y="f88"/>
                </a:cxn>
                <a:cxn ang="f65">
                  <a:pos x="f98" y="f99"/>
                </a:cxn>
                <a:cxn ang="f65">
                  <a:pos x="f97" y="f100"/>
                </a:cxn>
                <a:cxn ang="f65">
                  <a:pos x="f96" y="f101"/>
                </a:cxn>
                <a:cxn ang="f65">
                  <a:pos x="f95" y="f101"/>
                </a:cxn>
                <a:cxn ang="f65">
                  <a:pos x="f93" y="f101"/>
                </a:cxn>
                <a:cxn ang="f65">
                  <a:pos x="f91" y="f100"/>
                </a:cxn>
                <a:cxn ang="f65">
                  <a:pos x="f89" y="f99"/>
                </a:cxn>
                <a:cxn ang="f65">
                  <a:pos x="f87" y="f88"/>
                </a:cxn>
                <a:cxn ang="f65">
                  <a:pos x="f97" y="f102"/>
                </a:cxn>
                <a:cxn ang="f65">
                  <a:pos x="f97" y="f103"/>
                </a:cxn>
                <a:cxn ang="f65">
                  <a:pos x="f89" y="f103"/>
                </a:cxn>
                <a:cxn ang="f65">
                  <a:pos x="f89" y="f102"/>
                </a:cxn>
                <a:cxn ang="f65">
                  <a:pos x="f97" y="f102"/>
                </a:cxn>
              </a:cxnLst>
              <a:rect l="f83" t="f86" r="f84" b="f85"/>
              <a:pathLst>
                <a:path w="10" h="53">
                  <a:moveTo>
                    <a:pt x="f6" y="f8"/>
                  </a:moveTo>
                  <a:cubicBezTo>
                    <a:pt x="f6" y="f8"/>
                    <a:pt x="f6" y="f9"/>
                    <a:pt x="f10" y="f9"/>
                  </a:cubicBezTo>
                  <a:cubicBezTo>
                    <a:pt x="f10" y="f11"/>
                    <a:pt x="f10" y="f12"/>
                    <a:pt x="f12" y="f12"/>
                  </a:cubicBezTo>
                  <a:cubicBezTo>
                    <a:pt x="f12" y="f12"/>
                    <a:pt x="f11" y="f10"/>
                    <a:pt x="f11" y="f10"/>
                  </a:cubicBezTo>
                  <a:cubicBezTo>
                    <a:pt x="f9" y="f10"/>
                    <a:pt x="f9" y="f10"/>
                    <a:pt x="f8" y="f10"/>
                  </a:cubicBezTo>
                  <a:cubicBezTo>
                    <a:pt x="f13" y="f10"/>
                    <a:pt x="f13" y="f10"/>
                    <a:pt x="f14" y="f10"/>
                  </a:cubicBezTo>
                  <a:cubicBezTo>
                    <a:pt x="f15" y="f10"/>
                    <a:pt x="f15" y="f12"/>
                    <a:pt x="f16" y="f12"/>
                  </a:cubicBezTo>
                  <a:cubicBezTo>
                    <a:pt x="f16" y="f12"/>
                    <a:pt x="f16" y="f11"/>
                    <a:pt x="f5" y="f9"/>
                  </a:cubicBezTo>
                  <a:cubicBezTo>
                    <a:pt x="f5" y="f9"/>
                    <a:pt x="f5" y="f8"/>
                    <a:pt x="f5" y="f8"/>
                  </a:cubicBezTo>
                  <a:cubicBezTo>
                    <a:pt x="f5" y="f13"/>
                    <a:pt x="f5" y="f14"/>
                    <a:pt x="f5" y="f14"/>
                  </a:cubicBezTo>
                  <a:cubicBezTo>
                    <a:pt x="f16" y="f15"/>
                    <a:pt x="f16" y="f15"/>
                    <a:pt x="f16" y="f16"/>
                  </a:cubicBezTo>
                  <a:cubicBezTo>
                    <a:pt x="f15" y="f16"/>
                    <a:pt x="f15" y="f5"/>
                    <a:pt x="f14" y="f5"/>
                  </a:cubicBezTo>
                  <a:cubicBezTo>
                    <a:pt x="f13" y="f5"/>
                    <a:pt x="f13" y="f5"/>
                    <a:pt x="f8" y="f5"/>
                  </a:cubicBezTo>
                  <a:cubicBezTo>
                    <a:pt x="f9" y="f5"/>
                    <a:pt x="f9" y="f5"/>
                    <a:pt x="f11" y="f5"/>
                  </a:cubicBezTo>
                  <a:cubicBezTo>
                    <a:pt x="f11" y="f5"/>
                    <a:pt x="f12" y="f16"/>
                    <a:pt x="f12" y="f16"/>
                  </a:cubicBezTo>
                  <a:cubicBezTo>
                    <a:pt x="f10" y="f15"/>
                    <a:pt x="f10" y="f15"/>
                    <a:pt x="f10" y="f14"/>
                  </a:cubicBezTo>
                  <a:cubicBezTo>
                    <a:pt x="f6" y="f14"/>
                    <a:pt x="f6" y="f13"/>
                    <a:pt x="f6" y="f8"/>
                  </a:cubicBezTo>
                  <a:close/>
                  <a:moveTo>
                    <a:pt x="f16" y="f7"/>
                  </a:moveTo>
                  <a:cubicBezTo>
                    <a:pt x="f16" y="f17"/>
                    <a:pt x="f16" y="f17"/>
                    <a:pt x="f16" y="f17"/>
                  </a:cubicBezTo>
                  <a:cubicBezTo>
                    <a:pt x="f10" y="f17"/>
                    <a:pt x="f10" y="f17"/>
                    <a:pt x="f10" y="f17"/>
                  </a:cubicBezTo>
                  <a:cubicBezTo>
                    <a:pt x="f10" y="f7"/>
                    <a:pt x="f10" y="f7"/>
                    <a:pt x="f10" y="f7"/>
                  </a:cubicBezTo>
                  <a:lnTo>
                    <a:pt x="f16"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4" name="Freeform 26">
              <a:extLst>
                <a:ext uri="{FF2B5EF4-FFF2-40B4-BE49-F238E27FC236}">
                  <a16:creationId xmlns:a16="http://schemas.microsoft.com/office/drawing/2014/main" id="{51CDEC28-BD1A-FBEB-ADD1-B1E37FE0A440}"/>
                </a:ext>
              </a:extLst>
            </p:cNvPr>
            <p:cNvSpPr/>
            <p:nvPr/>
          </p:nvSpPr>
          <p:spPr>
            <a:xfrm>
              <a:off x="2235433" y="6088166"/>
              <a:ext cx="87142" cy="101132"/>
            </a:xfrm>
            <a:custGeom>
              <a:avLst/>
              <a:gdLst>
                <a:gd name="f0" fmla="val 10800000"/>
                <a:gd name="f1" fmla="val 5400000"/>
                <a:gd name="f2" fmla="val 180"/>
                <a:gd name="f3" fmla="val w"/>
                <a:gd name="f4" fmla="val h"/>
                <a:gd name="f5" fmla="val 0"/>
                <a:gd name="f6" fmla="val 34"/>
                <a:gd name="f7" fmla="val 40"/>
                <a:gd name="f8" fmla="val 19"/>
                <a:gd name="f9" fmla="val 23"/>
                <a:gd name="f10" fmla="val 25"/>
                <a:gd name="f11" fmla="val 33"/>
                <a:gd name="f12" fmla="val 28"/>
                <a:gd name="f13" fmla="val 32"/>
                <a:gd name="f14" fmla="val 30"/>
                <a:gd name="f15" fmla="val 31"/>
                <a:gd name="f16" fmla="val 29"/>
                <a:gd name="f17" fmla="val 36"/>
                <a:gd name="f18" fmla="val 26"/>
                <a:gd name="f19" fmla="val 37"/>
                <a:gd name="f20" fmla="val 24"/>
                <a:gd name="f21" fmla="val 38"/>
                <a:gd name="f22" fmla="val 21"/>
                <a:gd name="f23" fmla="val 39"/>
                <a:gd name="f24" fmla="val 17"/>
                <a:gd name="f25" fmla="val 14"/>
                <a:gd name="f26" fmla="val 12"/>
                <a:gd name="f27" fmla="val 10"/>
                <a:gd name="f28" fmla="val 8"/>
                <a:gd name="f29" fmla="val 6"/>
                <a:gd name="f30" fmla="val 5"/>
                <a:gd name="f31" fmla="val 3"/>
                <a:gd name="f32" fmla="val 2"/>
                <a:gd name="f33" fmla="val 1"/>
                <a:gd name="f34" fmla="val 20"/>
                <a:gd name="f35" fmla="val 16"/>
                <a:gd name="f36" fmla="val 11"/>
                <a:gd name="f37" fmla="val 9"/>
                <a:gd name="f38" fmla="val 7"/>
                <a:gd name="f39" fmla="val 22"/>
                <a:gd name="f40" fmla="val 18"/>
                <a:gd name="f41" fmla="val 13"/>
                <a:gd name="f42" fmla="val 15"/>
                <a:gd name="f43" fmla="val 27"/>
                <a:gd name="f44" fmla="+- 0 0 -90"/>
                <a:gd name="f45" fmla="*/ f3 1 34"/>
                <a:gd name="f46" fmla="*/ f4 1 40"/>
                <a:gd name="f47" fmla="+- f7 0 f5"/>
                <a:gd name="f48" fmla="+- f6 0 f5"/>
                <a:gd name="f49" fmla="*/ f44 f0 1"/>
                <a:gd name="f50" fmla="*/ f48 1 34"/>
                <a:gd name="f51" fmla="*/ f47 1 40"/>
                <a:gd name="f52" fmla="*/ 34 f48 1"/>
                <a:gd name="f53" fmla="*/ 19 f47 1"/>
                <a:gd name="f54" fmla="*/ 33 f48 1"/>
                <a:gd name="f55" fmla="*/ 28 f47 1"/>
                <a:gd name="f56" fmla="*/ 29 f48 1"/>
                <a:gd name="f57" fmla="*/ 34 f47 1"/>
                <a:gd name="f58" fmla="*/ 24 f48 1"/>
                <a:gd name="f59" fmla="*/ 38 f47 1"/>
                <a:gd name="f60" fmla="*/ 17 f48 1"/>
                <a:gd name="f61" fmla="*/ 40 f47 1"/>
                <a:gd name="f62" fmla="*/ 10 f48 1"/>
                <a:gd name="f63" fmla="*/ 5 f48 1"/>
                <a:gd name="f64" fmla="*/ 1 f48 1"/>
                <a:gd name="f65" fmla="*/ 0 f48 1"/>
                <a:gd name="f66" fmla="*/ 20 f47 1"/>
                <a:gd name="f67" fmla="*/ 11 f47 1"/>
                <a:gd name="f68" fmla="*/ 5 f47 1"/>
                <a:gd name="f69" fmla="*/ 1 f47 1"/>
                <a:gd name="f70" fmla="*/ 0 f47 1"/>
                <a:gd name="f71" fmla="*/ 26 f48 1"/>
                <a:gd name="f72" fmla="*/ 14 f47 1"/>
                <a:gd name="f73" fmla="*/ 10 f47 1"/>
                <a:gd name="f74" fmla="*/ 21 f48 1"/>
                <a:gd name="f75" fmla="*/ 8 f47 1"/>
                <a:gd name="f76" fmla="*/ 7 f47 1"/>
                <a:gd name="f77" fmla="*/ 13 f48 1"/>
                <a:gd name="f78" fmla="*/ 8 f48 1"/>
                <a:gd name="f79" fmla="*/ 7 f48 1"/>
                <a:gd name="f80" fmla="*/ 25 f47 1"/>
                <a:gd name="f81" fmla="*/ 29 f47 1"/>
                <a:gd name="f82" fmla="*/ 32 f47 1"/>
                <a:gd name="f83" fmla="*/ 31 f47 1"/>
                <a:gd name="f84" fmla="*/ f49 1 f2"/>
                <a:gd name="f85" fmla="*/ f52 1 34"/>
                <a:gd name="f86" fmla="*/ f53 1 40"/>
                <a:gd name="f87" fmla="*/ f54 1 34"/>
                <a:gd name="f88" fmla="*/ f55 1 40"/>
                <a:gd name="f89" fmla="*/ f56 1 34"/>
                <a:gd name="f90" fmla="*/ f57 1 40"/>
                <a:gd name="f91" fmla="*/ f58 1 34"/>
                <a:gd name="f92" fmla="*/ f59 1 40"/>
                <a:gd name="f93" fmla="*/ f60 1 34"/>
                <a:gd name="f94" fmla="*/ f61 1 40"/>
                <a:gd name="f95" fmla="*/ f62 1 34"/>
                <a:gd name="f96" fmla="*/ f63 1 34"/>
                <a:gd name="f97" fmla="*/ f64 1 34"/>
                <a:gd name="f98" fmla="*/ f65 1 34"/>
                <a:gd name="f99" fmla="*/ f66 1 40"/>
                <a:gd name="f100" fmla="*/ f67 1 40"/>
                <a:gd name="f101" fmla="*/ f68 1 40"/>
                <a:gd name="f102" fmla="*/ f69 1 40"/>
                <a:gd name="f103" fmla="*/ f70 1 40"/>
                <a:gd name="f104" fmla="*/ f71 1 34"/>
                <a:gd name="f105" fmla="*/ f72 1 40"/>
                <a:gd name="f106" fmla="*/ f73 1 40"/>
                <a:gd name="f107" fmla="*/ f74 1 34"/>
                <a:gd name="f108" fmla="*/ f75 1 40"/>
                <a:gd name="f109" fmla="*/ f76 1 40"/>
                <a:gd name="f110" fmla="*/ f77 1 34"/>
                <a:gd name="f111" fmla="*/ f78 1 34"/>
                <a:gd name="f112" fmla="*/ f79 1 34"/>
                <a:gd name="f113" fmla="*/ f80 1 40"/>
                <a:gd name="f114" fmla="*/ f81 1 40"/>
                <a:gd name="f115" fmla="*/ f82 1 40"/>
                <a:gd name="f116" fmla="*/ f83 1 40"/>
                <a:gd name="f117" fmla="*/ 0 1 f50"/>
                <a:gd name="f118" fmla="*/ f6 1 f50"/>
                <a:gd name="f119" fmla="*/ 0 1 f51"/>
                <a:gd name="f120" fmla="*/ f7 1 f51"/>
                <a:gd name="f121" fmla="+- f84 0 f1"/>
                <a:gd name="f122" fmla="*/ f85 1 f50"/>
                <a:gd name="f123" fmla="*/ f86 1 f51"/>
                <a:gd name="f124" fmla="*/ f87 1 f50"/>
                <a:gd name="f125" fmla="*/ f88 1 f51"/>
                <a:gd name="f126" fmla="*/ f89 1 f50"/>
                <a:gd name="f127" fmla="*/ f90 1 f51"/>
                <a:gd name="f128" fmla="*/ f91 1 f50"/>
                <a:gd name="f129" fmla="*/ f92 1 f51"/>
                <a:gd name="f130" fmla="*/ f93 1 f50"/>
                <a:gd name="f131" fmla="*/ f94 1 f51"/>
                <a:gd name="f132" fmla="*/ f95 1 f50"/>
                <a:gd name="f133" fmla="*/ f96 1 f50"/>
                <a:gd name="f134" fmla="*/ f97 1 f50"/>
                <a:gd name="f135" fmla="*/ f98 1 f50"/>
                <a:gd name="f136" fmla="*/ f99 1 f51"/>
                <a:gd name="f137" fmla="*/ f100 1 f51"/>
                <a:gd name="f138" fmla="*/ f101 1 f51"/>
                <a:gd name="f139" fmla="*/ f102 1 f51"/>
                <a:gd name="f140" fmla="*/ f103 1 f51"/>
                <a:gd name="f141" fmla="*/ f104 1 f50"/>
                <a:gd name="f142" fmla="*/ f105 1 f51"/>
                <a:gd name="f143" fmla="*/ f106 1 f51"/>
                <a:gd name="f144" fmla="*/ f107 1 f50"/>
                <a:gd name="f145" fmla="*/ f108 1 f51"/>
                <a:gd name="f146" fmla="*/ f109 1 f51"/>
                <a:gd name="f147" fmla="*/ f110 1 f50"/>
                <a:gd name="f148" fmla="*/ f111 1 f50"/>
                <a:gd name="f149" fmla="*/ f112 1 f50"/>
                <a:gd name="f150" fmla="*/ f113 1 f51"/>
                <a:gd name="f151" fmla="*/ f114 1 f51"/>
                <a:gd name="f152" fmla="*/ f115 1 f51"/>
                <a:gd name="f153" fmla="*/ f116 1 f51"/>
                <a:gd name="f154" fmla="*/ f117 f45 1"/>
                <a:gd name="f155" fmla="*/ f118 f45 1"/>
                <a:gd name="f156" fmla="*/ f120 f46 1"/>
                <a:gd name="f157" fmla="*/ f119 f46 1"/>
                <a:gd name="f158" fmla="*/ f122 f45 1"/>
                <a:gd name="f159" fmla="*/ f123 f46 1"/>
                <a:gd name="f160" fmla="*/ f124 f45 1"/>
                <a:gd name="f161" fmla="*/ f125 f46 1"/>
                <a:gd name="f162" fmla="*/ f126 f45 1"/>
                <a:gd name="f163" fmla="*/ f127 f46 1"/>
                <a:gd name="f164" fmla="*/ f128 f45 1"/>
                <a:gd name="f165" fmla="*/ f129 f46 1"/>
                <a:gd name="f166" fmla="*/ f130 f45 1"/>
                <a:gd name="f167" fmla="*/ f131 f46 1"/>
                <a:gd name="f168" fmla="*/ f132 f45 1"/>
                <a:gd name="f169" fmla="*/ f133 f45 1"/>
                <a:gd name="f170" fmla="*/ f134 f45 1"/>
                <a:gd name="f171" fmla="*/ f135 f45 1"/>
                <a:gd name="f172" fmla="*/ f136 f46 1"/>
                <a:gd name="f173" fmla="*/ f137 f46 1"/>
                <a:gd name="f174" fmla="*/ f138 f46 1"/>
                <a:gd name="f175" fmla="*/ f139 f46 1"/>
                <a:gd name="f176" fmla="*/ f140 f46 1"/>
                <a:gd name="f177" fmla="*/ f141 f45 1"/>
                <a:gd name="f178" fmla="*/ f142 f46 1"/>
                <a:gd name="f179" fmla="*/ f143 f46 1"/>
                <a:gd name="f180" fmla="*/ f144 f45 1"/>
                <a:gd name="f181" fmla="*/ f145 f46 1"/>
                <a:gd name="f182" fmla="*/ f146 f46 1"/>
                <a:gd name="f183" fmla="*/ f147 f45 1"/>
                <a:gd name="f184" fmla="*/ f148 f45 1"/>
                <a:gd name="f185" fmla="*/ f149 f45 1"/>
                <a:gd name="f186" fmla="*/ f150 f46 1"/>
                <a:gd name="f187" fmla="*/ f151 f46 1"/>
                <a:gd name="f188" fmla="*/ f152 f46 1"/>
                <a:gd name="f189" fmla="*/ f153 f46 1"/>
              </a:gdLst>
              <a:ahLst/>
              <a:cxnLst>
                <a:cxn ang="3cd4">
                  <a:pos x="hc" y="t"/>
                </a:cxn>
                <a:cxn ang="0">
                  <a:pos x="r" y="vc"/>
                </a:cxn>
                <a:cxn ang="cd4">
                  <a:pos x="hc" y="b"/>
                </a:cxn>
                <a:cxn ang="cd2">
                  <a:pos x="l" y="vc"/>
                </a:cxn>
                <a:cxn ang="f121">
                  <a:pos x="f158" y="f159"/>
                </a:cxn>
                <a:cxn ang="f121">
                  <a:pos x="f160" y="f161"/>
                </a:cxn>
                <a:cxn ang="f121">
                  <a:pos x="f162" y="f163"/>
                </a:cxn>
                <a:cxn ang="f121">
                  <a:pos x="f164" y="f165"/>
                </a:cxn>
                <a:cxn ang="f121">
                  <a:pos x="f166" y="f167"/>
                </a:cxn>
                <a:cxn ang="f121">
                  <a:pos x="f168" y="f165"/>
                </a:cxn>
                <a:cxn ang="f121">
                  <a:pos x="f169" y="f163"/>
                </a:cxn>
                <a:cxn ang="f121">
                  <a:pos x="f170" y="f161"/>
                </a:cxn>
                <a:cxn ang="f121">
                  <a:pos x="f171" y="f172"/>
                </a:cxn>
                <a:cxn ang="f121">
                  <a:pos x="f170" y="f173"/>
                </a:cxn>
                <a:cxn ang="f121">
                  <a:pos x="f169" y="f174"/>
                </a:cxn>
                <a:cxn ang="f121">
                  <a:pos x="f168" y="f175"/>
                </a:cxn>
                <a:cxn ang="f121">
                  <a:pos x="f166" y="f176"/>
                </a:cxn>
                <a:cxn ang="f121">
                  <a:pos x="f164" y="f175"/>
                </a:cxn>
                <a:cxn ang="f121">
                  <a:pos x="f162" y="f174"/>
                </a:cxn>
                <a:cxn ang="f121">
                  <a:pos x="f160" y="f173"/>
                </a:cxn>
                <a:cxn ang="f121">
                  <a:pos x="f158" y="f159"/>
                </a:cxn>
                <a:cxn ang="f121">
                  <a:pos x="f177" y="f172"/>
                </a:cxn>
                <a:cxn ang="f121">
                  <a:pos x="f177" y="f178"/>
                </a:cxn>
                <a:cxn ang="f121">
                  <a:pos x="f164" y="f179"/>
                </a:cxn>
                <a:cxn ang="f121">
                  <a:pos x="f180" y="f181"/>
                </a:cxn>
                <a:cxn ang="f121">
                  <a:pos x="f166" y="f182"/>
                </a:cxn>
                <a:cxn ang="f121">
                  <a:pos x="f183" y="f181"/>
                </a:cxn>
                <a:cxn ang="f121">
                  <a:pos x="f168" y="f179"/>
                </a:cxn>
                <a:cxn ang="f121">
                  <a:pos x="f184" y="f178"/>
                </a:cxn>
                <a:cxn ang="f121">
                  <a:pos x="f185" y="f159"/>
                </a:cxn>
                <a:cxn ang="f121">
                  <a:pos x="f184" y="f186"/>
                </a:cxn>
                <a:cxn ang="f121">
                  <a:pos x="f168" y="f187"/>
                </a:cxn>
                <a:cxn ang="f121">
                  <a:pos x="f183" y="f188"/>
                </a:cxn>
                <a:cxn ang="f121">
                  <a:pos x="f166" y="f188"/>
                </a:cxn>
                <a:cxn ang="f121">
                  <a:pos x="f180" y="f189"/>
                </a:cxn>
                <a:cxn ang="f121">
                  <a:pos x="f164" y="f187"/>
                </a:cxn>
                <a:cxn ang="f121">
                  <a:pos x="f177" y="f186"/>
                </a:cxn>
                <a:cxn ang="f121">
                  <a:pos x="f177" y="f172"/>
                </a:cxn>
              </a:cxnLst>
              <a:rect l="f154" t="f157" r="f155" b="f156"/>
              <a:pathLst>
                <a:path w="34" h="40">
                  <a:moveTo>
                    <a:pt x="f6" y="f8"/>
                  </a:moveTo>
                  <a:cubicBezTo>
                    <a:pt x="f6" y="f9"/>
                    <a:pt x="f6" y="f10"/>
                    <a:pt x="f11" y="f12"/>
                  </a:cubicBezTo>
                  <a:cubicBezTo>
                    <a:pt x="f13" y="f14"/>
                    <a:pt x="f15" y="f11"/>
                    <a:pt x="f16" y="f6"/>
                  </a:cubicBezTo>
                  <a:cubicBezTo>
                    <a:pt x="f12" y="f17"/>
                    <a:pt x="f18" y="f19"/>
                    <a:pt x="f20" y="f21"/>
                  </a:cubicBezTo>
                  <a:cubicBezTo>
                    <a:pt x="f22" y="f23"/>
                    <a:pt x="f8" y="f7"/>
                    <a:pt x="f24" y="f7"/>
                  </a:cubicBezTo>
                  <a:cubicBezTo>
                    <a:pt x="f25" y="f7"/>
                    <a:pt x="f26" y="f23"/>
                    <a:pt x="f27" y="f21"/>
                  </a:cubicBezTo>
                  <a:cubicBezTo>
                    <a:pt x="f28" y="f19"/>
                    <a:pt x="f29" y="f17"/>
                    <a:pt x="f30" y="f6"/>
                  </a:cubicBezTo>
                  <a:cubicBezTo>
                    <a:pt x="f31" y="f13"/>
                    <a:pt x="f32" y="f14"/>
                    <a:pt x="f33" y="f12"/>
                  </a:cubicBezTo>
                  <a:cubicBezTo>
                    <a:pt x="f5" y="f10"/>
                    <a:pt x="f5" y="f9"/>
                    <a:pt x="f5" y="f34"/>
                  </a:cubicBezTo>
                  <a:cubicBezTo>
                    <a:pt x="f5" y="f35"/>
                    <a:pt x="f5" y="f25"/>
                    <a:pt x="f33" y="f36"/>
                  </a:cubicBezTo>
                  <a:cubicBezTo>
                    <a:pt x="f32" y="f37"/>
                    <a:pt x="f31" y="f38"/>
                    <a:pt x="f30" y="f30"/>
                  </a:cubicBezTo>
                  <a:cubicBezTo>
                    <a:pt x="f29" y="f31"/>
                    <a:pt x="f28" y="f32"/>
                    <a:pt x="f27" y="f33"/>
                  </a:cubicBezTo>
                  <a:cubicBezTo>
                    <a:pt x="f26" y="f5"/>
                    <a:pt x="f25" y="f5"/>
                    <a:pt x="f24" y="f5"/>
                  </a:cubicBezTo>
                  <a:cubicBezTo>
                    <a:pt x="f8" y="f5"/>
                    <a:pt x="f39" y="f5"/>
                    <a:pt x="f20" y="f33"/>
                  </a:cubicBezTo>
                  <a:cubicBezTo>
                    <a:pt x="f18" y="f32"/>
                    <a:pt x="f12" y="f31"/>
                    <a:pt x="f16" y="f30"/>
                  </a:cubicBezTo>
                  <a:cubicBezTo>
                    <a:pt x="f15" y="f38"/>
                    <a:pt x="f13" y="f37"/>
                    <a:pt x="f11" y="f36"/>
                  </a:cubicBezTo>
                  <a:cubicBezTo>
                    <a:pt x="f6" y="f25"/>
                    <a:pt x="f6" y="f35"/>
                    <a:pt x="f6" y="f8"/>
                  </a:cubicBezTo>
                  <a:close/>
                  <a:moveTo>
                    <a:pt x="f18" y="f34"/>
                  </a:moveTo>
                  <a:cubicBezTo>
                    <a:pt x="f18" y="f40"/>
                    <a:pt x="f18" y="f35"/>
                    <a:pt x="f18" y="f25"/>
                  </a:cubicBezTo>
                  <a:cubicBezTo>
                    <a:pt x="f10" y="f41"/>
                    <a:pt x="f10" y="f36"/>
                    <a:pt x="f20" y="f27"/>
                  </a:cubicBezTo>
                  <a:cubicBezTo>
                    <a:pt x="f9" y="f37"/>
                    <a:pt x="f39" y="f28"/>
                    <a:pt x="f22" y="f28"/>
                  </a:cubicBezTo>
                  <a:cubicBezTo>
                    <a:pt x="f8" y="f38"/>
                    <a:pt x="f40" y="f38"/>
                    <a:pt x="f24" y="f38"/>
                  </a:cubicBezTo>
                  <a:cubicBezTo>
                    <a:pt x="f42" y="f38"/>
                    <a:pt x="f25" y="f38"/>
                    <a:pt x="f41" y="f28"/>
                  </a:cubicBezTo>
                  <a:cubicBezTo>
                    <a:pt x="f26" y="f28"/>
                    <a:pt x="f36" y="f37"/>
                    <a:pt x="f27" y="f27"/>
                  </a:cubicBezTo>
                  <a:cubicBezTo>
                    <a:pt x="f37" y="f36"/>
                    <a:pt x="f28" y="f41"/>
                    <a:pt x="f28" y="f25"/>
                  </a:cubicBezTo>
                  <a:cubicBezTo>
                    <a:pt x="f28" y="f35"/>
                    <a:pt x="f38" y="f24"/>
                    <a:pt x="f38" y="f8"/>
                  </a:cubicBezTo>
                  <a:cubicBezTo>
                    <a:pt x="f38" y="f22"/>
                    <a:pt x="f28" y="f9"/>
                    <a:pt x="f28" y="f10"/>
                  </a:cubicBezTo>
                  <a:cubicBezTo>
                    <a:pt x="f37" y="f43"/>
                    <a:pt x="f37" y="f12"/>
                    <a:pt x="f27" y="f16"/>
                  </a:cubicBezTo>
                  <a:cubicBezTo>
                    <a:pt x="f36" y="f14"/>
                    <a:pt x="f26" y="f15"/>
                    <a:pt x="f41" y="f13"/>
                  </a:cubicBezTo>
                  <a:cubicBezTo>
                    <a:pt x="f25" y="f13"/>
                    <a:pt x="f35" y="f13"/>
                    <a:pt x="f24" y="f13"/>
                  </a:cubicBezTo>
                  <a:cubicBezTo>
                    <a:pt x="f40" y="f13"/>
                    <a:pt x="f34" y="f13"/>
                    <a:pt x="f22" y="f15"/>
                  </a:cubicBezTo>
                  <a:cubicBezTo>
                    <a:pt x="f39" y="f15"/>
                    <a:pt x="f9" y="f14"/>
                    <a:pt x="f20" y="f16"/>
                  </a:cubicBezTo>
                  <a:cubicBezTo>
                    <a:pt x="f10" y="f43"/>
                    <a:pt x="f10" y="f18"/>
                    <a:pt x="f18" y="f10"/>
                  </a:cubicBezTo>
                  <a:cubicBezTo>
                    <a:pt x="f18" y="f9"/>
                    <a:pt x="f18" y="f22"/>
                    <a:pt x="f18" y="f34"/>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5" name="Freeform 27">
              <a:extLst>
                <a:ext uri="{FF2B5EF4-FFF2-40B4-BE49-F238E27FC236}">
                  <a16:creationId xmlns:a16="http://schemas.microsoft.com/office/drawing/2014/main" id="{0AAACD21-ADA3-CBE6-FC19-860CEB584124}"/>
                </a:ext>
              </a:extLst>
            </p:cNvPr>
            <p:cNvSpPr/>
            <p:nvPr/>
          </p:nvSpPr>
          <p:spPr>
            <a:xfrm>
              <a:off x="2343488"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1"/>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19"/>
                <a:gd name="f28" fmla="val 25"/>
                <a:gd name="f29" fmla="val 26"/>
                <a:gd name="f30" fmla="val 27"/>
                <a:gd name="f31" fmla="val 28"/>
                <a:gd name="f32" fmla="val 5"/>
                <a:gd name="f33" fmla="val 29"/>
                <a:gd name="f34" fmla="val 30"/>
                <a:gd name="f35" fmla="+- 0 0 -90"/>
                <a:gd name="f36" fmla="*/ f3 1 31"/>
                <a:gd name="f37" fmla="*/ f4 1 39"/>
                <a:gd name="f38" fmla="+- f7 0 f5"/>
                <a:gd name="f39" fmla="+- f6 0 f5"/>
                <a:gd name="f40" fmla="*/ f35 f0 1"/>
                <a:gd name="f41" fmla="*/ f39 1 31"/>
                <a:gd name="f42" fmla="*/ f38 1 39"/>
                <a:gd name="f43" fmla="*/ 23 f39 1"/>
                <a:gd name="f44" fmla="*/ 39 f38 1"/>
                <a:gd name="f45" fmla="*/ 17 f38 1"/>
                <a:gd name="f46" fmla="*/ 21 f39 1"/>
                <a:gd name="f47" fmla="*/ 9 f38 1"/>
                <a:gd name="f48" fmla="*/ 15 f39 1"/>
                <a:gd name="f49" fmla="*/ 7 f38 1"/>
                <a:gd name="f50" fmla="*/ 12 f39 1"/>
                <a:gd name="f51" fmla="*/ 9 f39 1"/>
                <a:gd name="f52" fmla="*/ 8 f39 1"/>
                <a:gd name="f53" fmla="*/ 12 f38 1"/>
                <a:gd name="f54" fmla="*/ 7 f39 1"/>
                <a:gd name="f55" fmla="*/ 16 f38 1"/>
                <a:gd name="f56" fmla="*/ 0 f39 1"/>
                <a:gd name="f57" fmla="*/ 0 f38 1"/>
                <a:gd name="f58" fmla="*/ 4 f38 1"/>
                <a:gd name="f59" fmla="*/ 2 f38 1"/>
                <a:gd name="f60" fmla="*/ 11 f39 1"/>
                <a:gd name="f61" fmla="*/ 1 f38 1"/>
                <a:gd name="f62" fmla="*/ 14 f39 1"/>
                <a:gd name="f63" fmla="*/ 17 f39 1"/>
                <a:gd name="f64" fmla="*/ 27 f39 1"/>
                <a:gd name="f65" fmla="*/ 30 f39 1"/>
                <a:gd name="f66" fmla="*/ 31 f39 1"/>
                <a:gd name="f67" fmla="*/ f40 1 f2"/>
                <a:gd name="f68" fmla="*/ f43 1 31"/>
                <a:gd name="f69" fmla="*/ f44 1 39"/>
                <a:gd name="f70" fmla="*/ f45 1 39"/>
                <a:gd name="f71" fmla="*/ f46 1 31"/>
                <a:gd name="f72" fmla="*/ f47 1 39"/>
                <a:gd name="f73" fmla="*/ f48 1 31"/>
                <a:gd name="f74" fmla="*/ f49 1 39"/>
                <a:gd name="f75" fmla="*/ f50 1 31"/>
                <a:gd name="f76" fmla="*/ f51 1 31"/>
                <a:gd name="f77" fmla="*/ f52 1 31"/>
                <a:gd name="f78" fmla="*/ f53 1 39"/>
                <a:gd name="f79" fmla="*/ f54 1 31"/>
                <a:gd name="f80" fmla="*/ f55 1 39"/>
                <a:gd name="f81" fmla="*/ f56 1 31"/>
                <a:gd name="f82" fmla="*/ f57 1 39"/>
                <a:gd name="f83" fmla="*/ f58 1 39"/>
                <a:gd name="f84" fmla="*/ f59 1 39"/>
                <a:gd name="f85" fmla="*/ f60 1 31"/>
                <a:gd name="f86" fmla="*/ f61 1 39"/>
                <a:gd name="f87" fmla="*/ f62 1 31"/>
                <a:gd name="f88" fmla="*/ f63 1 31"/>
                <a:gd name="f89" fmla="*/ f64 1 31"/>
                <a:gd name="f90" fmla="*/ f65 1 31"/>
                <a:gd name="f91" fmla="*/ f66 1 31"/>
                <a:gd name="f92" fmla="*/ 0 1 f41"/>
                <a:gd name="f93" fmla="*/ f6 1 f41"/>
                <a:gd name="f94" fmla="*/ 0 1 f42"/>
                <a:gd name="f95" fmla="*/ f7 1 f42"/>
                <a:gd name="f96" fmla="+- f67 0 f1"/>
                <a:gd name="f97" fmla="*/ f68 1 f41"/>
                <a:gd name="f98" fmla="*/ f69 1 f42"/>
                <a:gd name="f99" fmla="*/ f70 1 f42"/>
                <a:gd name="f100" fmla="*/ f71 1 f41"/>
                <a:gd name="f101" fmla="*/ f72 1 f42"/>
                <a:gd name="f102" fmla="*/ f73 1 f41"/>
                <a:gd name="f103" fmla="*/ f74 1 f42"/>
                <a:gd name="f104" fmla="*/ f75 1 f41"/>
                <a:gd name="f105" fmla="*/ f76 1 f41"/>
                <a:gd name="f106" fmla="*/ f77 1 f41"/>
                <a:gd name="f107" fmla="*/ f78 1 f42"/>
                <a:gd name="f108" fmla="*/ f79 1 f41"/>
                <a:gd name="f109" fmla="*/ f80 1 f42"/>
                <a:gd name="f110" fmla="*/ f81 1 f41"/>
                <a:gd name="f111" fmla="*/ f82 1 f42"/>
                <a:gd name="f112" fmla="*/ f83 1 f42"/>
                <a:gd name="f113" fmla="*/ f84 1 f42"/>
                <a:gd name="f114" fmla="*/ f85 1 f41"/>
                <a:gd name="f115" fmla="*/ f86 1 f42"/>
                <a:gd name="f116" fmla="*/ f87 1 f41"/>
                <a:gd name="f117" fmla="*/ f88 1 f41"/>
                <a:gd name="f118" fmla="*/ f89 1 f41"/>
                <a:gd name="f119" fmla="*/ f90 1 f41"/>
                <a:gd name="f120" fmla="*/ f91 1 f41"/>
                <a:gd name="f121" fmla="*/ f92 f36 1"/>
                <a:gd name="f122" fmla="*/ f93 f36 1"/>
                <a:gd name="f123" fmla="*/ f95 f37 1"/>
                <a:gd name="f124" fmla="*/ f94 f37 1"/>
                <a:gd name="f125" fmla="*/ f97 f36 1"/>
                <a:gd name="f126" fmla="*/ f98 f37 1"/>
                <a:gd name="f127" fmla="*/ f99 f37 1"/>
                <a:gd name="f128" fmla="*/ f100 f36 1"/>
                <a:gd name="f129" fmla="*/ f101 f37 1"/>
                <a:gd name="f130" fmla="*/ f102 f36 1"/>
                <a:gd name="f131" fmla="*/ f103 f37 1"/>
                <a:gd name="f132" fmla="*/ f104 f36 1"/>
                <a:gd name="f133" fmla="*/ f105 f36 1"/>
                <a:gd name="f134" fmla="*/ f106 f36 1"/>
                <a:gd name="f135" fmla="*/ f107 f37 1"/>
                <a:gd name="f136" fmla="*/ f108 f36 1"/>
                <a:gd name="f137" fmla="*/ f109 f37 1"/>
                <a:gd name="f138" fmla="*/ f110 f36 1"/>
                <a:gd name="f139" fmla="*/ f111 f37 1"/>
                <a:gd name="f140" fmla="*/ f112 f37 1"/>
                <a:gd name="f141" fmla="*/ f113 f37 1"/>
                <a:gd name="f142" fmla="*/ f114 f36 1"/>
                <a:gd name="f143" fmla="*/ f115 f37 1"/>
                <a:gd name="f144" fmla="*/ f116 f36 1"/>
                <a:gd name="f145" fmla="*/ f117 f36 1"/>
                <a:gd name="f146" fmla="*/ f118 f36 1"/>
                <a:gd name="f147" fmla="*/ f119 f36 1"/>
                <a:gd name="f148" fmla="*/ f120 f36 1"/>
              </a:gdLst>
              <a:ahLst/>
              <a:cxnLst>
                <a:cxn ang="3cd4">
                  <a:pos x="hc" y="t"/>
                </a:cxn>
                <a:cxn ang="0">
                  <a:pos x="r" y="vc"/>
                </a:cxn>
                <a:cxn ang="cd4">
                  <a:pos x="hc" y="b"/>
                </a:cxn>
                <a:cxn ang="cd2">
                  <a:pos x="l" y="vc"/>
                </a:cxn>
                <a:cxn ang="f96">
                  <a:pos x="f125" y="f126"/>
                </a:cxn>
                <a:cxn ang="f96">
                  <a:pos x="f125" y="f127"/>
                </a:cxn>
                <a:cxn ang="f96">
                  <a:pos x="f128" y="f129"/>
                </a:cxn>
                <a:cxn ang="f96">
                  <a:pos x="f130" y="f131"/>
                </a:cxn>
                <a:cxn ang="f96">
                  <a:pos x="f132" y="f131"/>
                </a:cxn>
                <a:cxn ang="f96">
                  <a:pos x="f133" y="f129"/>
                </a:cxn>
                <a:cxn ang="f96">
                  <a:pos x="f134" y="f135"/>
                </a:cxn>
                <a:cxn ang="f96">
                  <a:pos x="f136" y="f137"/>
                </a:cxn>
                <a:cxn ang="f96">
                  <a:pos x="f136" y="f126"/>
                </a:cxn>
                <a:cxn ang="f96">
                  <a:pos x="f138" y="f126"/>
                </a:cxn>
                <a:cxn ang="f96">
                  <a:pos x="f138" y="f139"/>
                </a:cxn>
                <a:cxn ang="f96">
                  <a:pos x="f136" y="f139"/>
                </a:cxn>
                <a:cxn ang="f96">
                  <a:pos x="f136" y="f140"/>
                </a:cxn>
                <a:cxn ang="f96">
                  <a:pos x="f133" y="f141"/>
                </a:cxn>
                <a:cxn ang="f96">
                  <a:pos x="f142" y="f143"/>
                </a:cxn>
                <a:cxn ang="f96">
                  <a:pos x="f144" y="f139"/>
                </a:cxn>
                <a:cxn ang="f96">
                  <a:pos x="f145" y="f139"/>
                </a:cxn>
                <a:cxn ang="f96">
                  <a:pos x="f125" y="f143"/>
                </a:cxn>
                <a:cxn ang="f96">
                  <a:pos x="f146" y="f140"/>
                </a:cxn>
                <a:cxn ang="f96">
                  <a:pos x="f147" y="f129"/>
                </a:cxn>
                <a:cxn ang="f96">
                  <a:pos x="f148" y="f127"/>
                </a:cxn>
                <a:cxn ang="f96">
                  <a:pos x="f148" y="f126"/>
                </a:cxn>
                <a:cxn ang="f96">
                  <a:pos x="f125" y="f126"/>
                </a:cxn>
              </a:cxnLst>
              <a:rect l="f121" t="f124" r="f122" b="f123"/>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13" y="f13"/>
                  </a:cubicBezTo>
                  <a:cubicBezTo>
                    <a:pt x="f13" y="f21"/>
                    <a:pt x="f20" y="f11"/>
                    <a:pt x="f20" y="f19"/>
                  </a:cubicBezTo>
                  <a:cubicBezTo>
                    <a:pt x="f20" y="f10"/>
                    <a:pt x="f15" y="f17"/>
                    <a:pt x="f15" y="f22"/>
                  </a:cubicBezTo>
                  <a:cubicBezTo>
                    <a:pt x="f15" y="f7"/>
                    <a:pt x="f15" y="f7"/>
                    <a:pt x="f15" y="f7"/>
                  </a:cubicBezTo>
                  <a:cubicBezTo>
                    <a:pt x="f5" y="f7"/>
                    <a:pt x="f5" y="f7"/>
                    <a:pt x="f5" y="f7"/>
                  </a:cubicBezTo>
                  <a:cubicBezTo>
                    <a:pt x="f5" y="f5"/>
                    <a:pt x="f5" y="f5"/>
                    <a:pt x="f5" y="f5"/>
                  </a:cubicBezTo>
                  <a:cubicBezTo>
                    <a:pt x="f15" y="f5"/>
                    <a:pt x="f15" y="f5"/>
                    <a:pt x="f15" y="f5"/>
                  </a:cubicBezTo>
                  <a:cubicBezTo>
                    <a:pt x="f15" y="f23"/>
                    <a:pt x="f15" y="f23"/>
                    <a:pt x="f15" y="f23"/>
                  </a:cubicBezTo>
                  <a:cubicBezTo>
                    <a:pt x="f20" y="f24"/>
                    <a:pt x="f20" y="f24"/>
                    <a:pt x="f13" y="f25"/>
                  </a:cubicBezTo>
                  <a:cubicBezTo>
                    <a:pt x="f21" y="f25"/>
                    <a:pt x="f11" y="f26"/>
                    <a:pt x="f11" y="f26"/>
                  </a:cubicBezTo>
                  <a:cubicBezTo>
                    <a:pt x="f19" y="f5"/>
                    <a:pt x="f18" y="f5"/>
                    <a:pt x="f10" y="f5"/>
                  </a:cubicBezTo>
                  <a:cubicBezTo>
                    <a:pt x="f17" y="f5"/>
                    <a:pt x="f22" y="f5"/>
                    <a:pt x="f9" y="f5"/>
                  </a:cubicBezTo>
                  <a:cubicBezTo>
                    <a:pt x="f27" y="f5"/>
                    <a:pt x="f12" y="f5"/>
                    <a:pt x="f8" y="f26"/>
                  </a:cubicBezTo>
                  <a:cubicBezTo>
                    <a:pt x="f28" y="f26"/>
                    <a:pt x="f29" y="f25"/>
                    <a:pt x="f30" y="f23"/>
                  </a:cubicBezTo>
                  <a:cubicBezTo>
                    <a:pt x="f31" y="f32"/>
                    <a:pt x="f33" y="f15"/>
                    <a:pt x="f34" y="f13"/>
                  </a:cubicBezTo>
                  <a:cubicBezTo>
                    <a:pt x="f34"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6" name="Freeform 28">
              <a:extLst>
                <a:ext uri="{FF2B5EF4-FFF2-40B4-BE49-F238E27FC236}">
                  <a16:creationId xmlns:a16="http://schemas.microsoft.com/office/drawing/2014/main" id="{2F8C29AC-7A7B-ED80-92EF-ACBE28437B8B}"/>
                </a:ext>
              </a:extLst>
            </p:cNvPr>
            <p:cNvSpPr/>
            <p:nvPr/>
          </p:nvSpPr>
          <p:spPr>
            <a:xfrm>
              <a:off x="2444575" y="6159663"/>
              <a:ext cx="31373"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4 f21 1"/>
                <a:gd name="f30" fmla="*/ 2 f21 1"/>
                <a:gd name="f31" fmla="*/ 1 f21 1"/>
                <a:gd name="f32" fmla="*/ 0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19 1"/>
                <a:gd name="f73" fmla="*/ f51 f20 1"/>
                <a:gd name="f74" fmla="*/ f52 f20 1"/>
                <a:gd name="f75" fmla="*/ f54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2" y="f60"/>
                </a:cxn>
                <a:cxn ang="f45">
                  <a:pos x="f71" y="f73"/>
                </a:cxn>
                <a:cxn ang="f45">
                  <a:pos x="f70" y="f74"/>
                </a:cxn>
                <a:cxn ang="f45">
                  <a:pos x="f69" y="f75"/>
                </a:cxn>
                <a:cxn ang="f45">
                  <a:pos x="f67" y="f75"/>
                </a:cxn>
                <a:cxn ang="f45">
                  <a:pos x="f65" y="f75"/>
                </a:cxn>
                <a:cxn ang="f45">
                  <a:pos x="f63" y="f74"/>
                </a:cxn>
                <a:cxn ang="f45">
                  <a:pos x="f61" y="f73"/>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4" y="f9"/>
                  </a:cubicBezTo>
                  <a:cubicBezTo>
                    <a:pt x="f15" y="f9"/>
                    <a:pt x="f16" y="f12"/>
                    <a:pt x="f16" y="f12"/>
                  </a:cubicBezTo>
                  <a:cubicBezTo>
                    <a:pt x="f17" y="f11"/>
                    <a:pt x="f17" y="f11"/>
                    <a:pt x="f17" y="f10"/>
                  </a:cubicBezTo>
                  <a:cubicBezTo>
                    <a:pt x="f5" y="f8"/>
                    <a:pt x="f5" y="f8"/>
                    <a:pt x="f5" y="f7"/>
                  </a:cubicBezTo>
                  <a:cubicBezTo>
                    <a:pt x="f5" y="f13"/>
                    <a:pt x="f5" y="f14"/>
                    <a:pt x="f17" y="f14"/>
                  </a:cubicBezTo>
                  <a:cubicBezTo>
                    <a:pt x="f17" y="f15"/>
                    <a:pt x="f17" y="f16"/>
                    <a:pt x="f16" y="f16"/>
                  </a:cubicBezTo>
                  <a:cubicBezTo>
                    <a:pt x="f16" y="f17"/>
                    <a:pt x="f15" y="f17"/>
                    <a:pt x="f14"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7" name="Freeform 29">
              <a:extLst>
                <a:ext uri="{FF2B5EF4-FFF2-40B4-BE49-F238E27FC236}">
                  <a16:creationId xmlns:a16="http://schemas.microsoft.com/office/drawing/2014/main" id="{140C7761-0D10-BA76-6E1D-FE26E777E7A1}"/>
                </a:ext>
              </a:extLst>
            </p:cNvPr>
            <p:cNvSpPr/>
            <p:nvPr/>
          </p:nvSpPr>
          <p:spPr>
            <a:xfrm>
              <a:off x="2538685" y="6056784"/>
              <a:ext cx="97593" cy="130777"/>
            </a:xfrm>
            <a:custGeom>
              <a:avLst/>
              <a:gdLst>
                <a:gd name="f0" fmla="val 10800000"/>
                <a:gd name="f1" fmla="val 5400000"/>
                <a:gd name="f2" fmla="val 180"/>
                <a:gd name="f3" fmla="val w"/>
                <a:gd name="f4" fmla="val h"/>
                <a:gd name="f5" fmla="val 0"/>
                <a:gd name="f6" fmla="val 56"/>
                <a:gd name="f7" fmla="val 75"/>
                <a:gd name="f8" fmla="val 34"/>
                <a:gd name="f9" fmla="val 11"/>
                <a:gd name="f10" fmla="val 22"/>
                <a:gd name="f11" fmla="+- 0 0 -90"/>
                <a:gd name="f12" fmla="*/ f3 1 56"/>
                <a:gd name="f13" fmla="*/ f4 1 75"/>
                <a:gd name="f14" fmla="+- f7 0 f5"/>
                <a:gd name="f15" fmla="+- f6 0 f5"/>
                <a:gd name="f16" fmla="*/ f11 f0 1"/>
                <a:gd name="f17" fmla="*/ f15 1 56"/>
                <a:gd name="f18" fmla="*/ f14 1 75"/>
                <a:gd name="f19" fmla="*/ 34 f15 1"/>
                <a:gd name="f20" fmla="*/ 11 f14 1"/>
                <a:gd name="f21" fmla="*/ 75 f14 1"/>
                <a:gd name="f22" fmla="*/ 22 f15 1"/>
                <a:gd name="f23" fmla="*/ 0 f15 1"/>
                <a:gd name="f24" fmla="*/ 0 f14 1"/>
                <a:gd name="f25" fmla="*/ 56 f15 1"/>
                <a:gd name="f26" fmla="*/ f16 1 f2"/>
                <a:gd name="f27" fmla="*/ f19 1 56"/>
                <a:gd name="f28" fmla="*/ f20 1 75"/>
                <a:gd name="f29" fmla="*/ f21 1 75"/>
                <a:gd name="f30" fmla="*/ f22 1 56"/>
                <a:gd name="f31" fmla="*/ f23 1 56"/>
                <a:gd name="f32" fmla="*/ f24 1 75"/>
                <a:gd name="f33" fmla="*/ f25 1 56"/>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6"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8" name="Freeform 30">
              <a:extLst>
                <a:ext uri="{FF2B5EF4-FFF2-40B4-BE49-F238E27FC236}">
                  <a16:creationId xmlns:a16="http://schemas.microsoft.com/office/drawing/2014/main" id="{6A76C4D0-1AAA-4F15-F6E3-2645C0790AE6}"/>
                </a:ext>
              </a:extLst>
            </p:cNvPr>
            <p:cNvSpPr/>
            <p:nvPr/>
          </p:nvSpPr>
          <p:spPr>
            <a:xfrm>
              <a:off x="2650223" y="6049807"/>
              <a:ext cx="80165" cy="137754"/>
            </a:xfrm>
            <a:custGeom>
              <a:avLst/>
              <a:gdLst>
                <a:gd name="f0" fmla="val 10800000"/>
                <a:gd name="f1" fmla="val 5400000"/>
                <a:gd name="f2" fmla="val 180"/>
                <a:gd name="f3" fmla="val w"/>
                <a:gd name="f4" fmla="val h"/>
                <a:gd name="f5" fmla="val 0"/>
                <a:gd name="f6" fmla="val 31"/>
                <a:gd name="f7" fmla="val 54"/>
                <a:gd name="f8" fmla="val 24"/>
                <a:gd name="f9" fmla="val 32"/>
                <a:gd name="f10" fmla="val 28"/>
                <a:gd name="f11" fmla="val 23"/>
                <a:gd name="f12" fmla="val 26"/>
                <a:gd name="f13" fmla="val 22"/>
                <a:gd name="f14" fmla="val 21"/>
                <a:gd name="f15" fmla="val 19"/>
                <a:gd name="f16" fmla="val 16"/>
                <a:gd name="f17" fmla="val 15"/>
                <a:gd name="f18" fmla="val 14"/>
                <a:gd name="f19" fmla="val 13"/>
                <a:gd name="f20" fmla="val 12"/>
                <a:gd name="f21" fmla="val 11"/>
                <a:gd name="f22" fmla="val 10"/>
                <a:gd name="f23" fmla="val 9"/>
                <a:gd name="f24" fmla="val 25"/>
                <a:gd name="f25" fmla="val 8"/>
                <a:gd name="f26" fmla="val 27"/>
                <a:gd name="f27" fmla="val 30"/>
                <a:gd name="f28" fmla="val 4"/>
                <a:gd name="f29" fmla="val 18"/>
                <a:gd name="f30" fmla="val 17"/>
                <a:gd name="f31" fmla="val 20"/>
                <a:gd name="f32" fmla="val 29"/>
                <a:gd name="f33" fmla="+- 0 0 -90"/>
                <a:gd name="f34" fmla="*/ f3 1 31"/>
                <a:gd name="f35" fmla="*/ f4 1 54"/>
                <a:gd name="f36" fmla="+- f7 0 f5"/>
                <a:gd name="f37" fmla="+- f6 0 f5"/>
                <a:gd name="f38" fmla="*/ f33 f0 1"/>
                <a:gd name="f39" fmla="*/ f37 1 31"/>
                <a:gd name="f40" fmla="*/ f36 1 54"/>
                <a:gd name="f41" fmla="*/ 24 f37 1"/>
                <a:gd name="f42" fmla="*/ 54 f36 1"/>
                <a:gd name="f43" fmla="*/ 32 f36 1"/>
                <a:gd name="f44" fmla="*/ 22 f37 1"/>
                <a:gd name="f45" fmla="*/ 24 f36 1"/>
                <a:gd name="f46" fmla="*/ 16 f37 1"/>
                <a:gd name="f47" fmla="*/ 22 f36 1"/>
                <a:gd name="f48" fmla="*/ 13 f37 1"/>
                <a:gd name="f49" fmla="*/ 10 f37 1"/>
                <a:gd name="f50" fmla="*/ 8 f37 1"/>
                <a:gd name="f51" fmla="*/ 27 f36 1"/>
                <a:gd name="f52" fmla="*/ 31 f36 1"/>
                <a:gd name="f53" fmla="*/ 0 f37 1"/>
                <a:gd name="f54" fmla="*/ 4 f36 1"/>
                <a:gd name="f55" fmla="*/ 0 f36 1"/>
                <a:gd name="f56" fmla="*/ 19 f36 1"/>
                <a:gd name="f57" fmla="*/ 17 f36 1"/>
                <a:gd name="f58" fmla="*/ 12 f37 1"/>
                <a:gd name="f59" fmla="*/ 16 f36 1"/>
                <a:gd name="f60" fmla="*/ 15 f37 1"/>
                <a:gd name="f61" fmla="*/ 15 f36 1"/>
                <a:gd name="f62" fmla="*/ 18 f37 1"/>
                <a:gd name="f63" fmla="*/ 28 f37 1"/>
                <a:gd name="f64" fmla="*/ 30 f37 1"/>
                <a:gd name="f65" fmla="*/ 31 f37 1"/>
                <a:gd name="f66" fmla="*/ f38 1 f2"/>
                <a:gd name="f67" fmla="*/ f41 1 31"/>
                <a:gd name="f68" fmla="*/ f42 1 54"/>
                <a:gd name="f69" fmla="*/ f43 1 54"/>
                <a:gd name="f70" fmla="*/ f44 1 31"/>
                <a:gd name="f71" fmla="*/ f45 1 54"/>
                <a:gd name="f72" fmla="*/ f46 1 31"/>
                <a:gd name="f73" fmla="*/ f47 1 54"/>
                <a:gd name="f74" fmla="*/ f48 1 31"/>
                <a:gd name="f75" fmla="*/ f49 1 31"/>
                <a:gd name="f76" fmla="*/ f50 1 31"/>
                <a:gd name="f77" fmla="*/ f51 1 54"/>
                <a:gd name="f78" fmla="*/ f52 1 54"/>
                <a:gd name="f79" fmla="*/ f53 1 31"/>
                <a:gd name="f80" fmla="*/ f54 1 54"/>
                <a:gd name="f81" fmla="*/ f55 1 54"/>
                <a:gd name="f82" fmla="*/ f56 1 54"/>
                <a:gd name="f83" fmla="*/ f57 1 54"/>
                <a:gd name="f84" fmla="*/ f58 1 31"/>
                <a:gd name="f85" fmla="*/ f59 1 54"/>
                <a:gd name="f86" fmla="*/ f60 1 31"/>
                <a:gd name="f87" fmla="*/ f61 1 54"/>
                <a:gd name="f88" fmla="*/ f62 1 31"/>
                <a:gd name="f89" fmla="*/ f63 1 31"/>
                <a:gd name="f90" fmla="*/ f64 1 31"/>
                <a:gd name="f91" fmla="*/ f65 1 31"/>
                <a:gd name="f92" fmla="*/ 0 1 f39"/>
                <a:gd name="f93" fmla="*/ f6 1 f39"/>
                <a:gd name="f94" fmla="*/ 0 1 f40"/>
                <a:gd name="f95" fmla="*/ f7 1 f40"/>
                <a:gd name="f96" fmla="+- f66 0 f1"/>
                <a:gd name="f97" fmla="*/ f67 1 f39"/>
                <a:gd name="f98" fmla="*/ f68 1 f40"/>
                <a:gd name="f99" fmla="*/ f69 1 f40"/>
                <a:gd name="f100" fmla="*/ f70 1 f39"/>
                <a:gd name="f101" fmla="*/ f71 1 f40"/>
                <a:gd name="f102" fmla="*/ f72 1 f39"/>
                <a:gd name="f103" fmla="*/ f73 1 f40"/>
                <a:gd name="f104" fmla="*/ f74 1 f39"/>
                <a:gd name="f105" fmla="*/ f75 1 f39"/>
                <a:gd name="f106" fmla="*/ f76 1 f39"/>
                <a:gd name="f107" fmla="*/ f77 1 f40"/>
                <a:gd name="f108" fmla="*/ f78 1 f40"/>
                <a:gd name="f109" fmla="*/ f79 1 f39"/>
                <a:gd name="f110" fmla="*/ f80 1 f40"/>
                <a:gd name="f111" fmla="*/ f81 1 f40"/>
                <a:gd name="f112" fmla="*/ f82 1 f40"/>
                <a:gd name="f113" fmla="*/ f83 1 f40"/>
                <a:gd name="f114" fmla="*/ f84 1 f39"/>
                <a:gd name="f115" fmla="*/ f85 1 f40"/>
                <a:gd name="f116" fmla="*/ f86 1 f39"/>
                <a:gd name="f117" fmla="*/ f87 1 f40"/>
                <a:gd name="f118" fmla="*/ f88 1 f39"/>
                <a:gd name="f119" fmla="*/ f89 1 f39"/>
                <a:gd name="f120" fmla="*/ f90 1 f39"/>
                <a:gd name="f121" fmla="*/ f91 1 f39"/>
                <a:gd name="f122" fmla="*/ f92 f34 1"/>
                <a:gd name="f123" fmla="*/ f93 f34 1"/>
                <a:gd name="f124" fmla="*/ f95 f35 1"/>
                <a:gd name="f125" fmla="*/ f94 f35 1"/>
                <a:gd name="f126" fmla="*/ f97 f34 1"/>
                <a:gd name="f127" fmla="*/ f98 f35 1"/>
                <a:gd name="f128" fmla="*/ f99 f35 1"/>
                <a:gd name="f129" fmla="*/ f100 f34 1"/>
                <a:gd name="f130" fmla="*/ f101 f35 1"/>
                <a:gd name="f131" fmla="*/ f102 f34 1"/>
                <a:gd name="f132" fmla="*/ f103 f35 1"/>
                <a:gd name="f133" fmla="*/ f104 f34 1"/>
                <a:gd name="f134" fmla="*/ f105 f34 1"/>
                <a:gd name="f135" fmla="*/ f106 f34 1"/>
                <a:gd name="f136" fmla="*/ f107 f35 1"/>
                <a:gd name="f137" fmla="*/ f108 f35 1"/>
                <a:gd name="f138" fmla="*/ f109 f34 1"/>
                <a:gd name="f139" fmla="*/ f110 f35 1"/>
                <a:gd name="f140" fmla="*/ f111 f35 1"/>
                <a:gd name="f141" fmla="*/ f112 f35 1"/>
                <a:gd name="f142" fmla="*/ f113 f35 1"/>
                <a:gd name="f143" fmla="*/ f114 f34 1"/>
                <a:gd name="f144" fmla="*/ f115 f35 1"/>
                <a:gd name="f145" fmla="*/ f116 f34 1"/>
                <a:gd name="f146" fmla="*/ f117 f35 1"/>
                <a:gd name="f147" fmla="*/ f118 f34 1"/>
                <a:gd name="f148" fmla="*/ f119 f34 1"/>
                <a:gd name="f149" fmla="*/ f120 f34 1"/>
                <a:gd name="f150" fmla="*/ f121 f34 1"/>
              </a:gdLst>
              <a:ahLst/>
              <a:cxnLst>
                <a:cxn ang="3cd4">
                  <a:pos x="hc" y="t"/>
                </a:cxn>
                <a:cxn ang="0">
                  <a:pos x="r" y="vc"/>
                </a:cxn>
                <a:cxn ang="cd4">
                  <a:pos x="hc" y="b"/>
                </a:cxn>
                <a:cxn ang="cd2">
                  <a:pos x="l" y="vc"/>
                </a:cxn>
                <a:cxn ang="f96">
                  <a:pos x="f126" y="f127"/>
                </a:cxn>
                <a:cxn ang="f96">
                  <a:pos x="f126" y="f128"/>
                </a:cxn>
                <a:cxn ang="f96">
                  <a:pos x="f129" y="f130"/>
                </a:cxn>
                <a:cxn ang="f96">
                  <a:pos x="f131" y="f132"/>
                </a:cxn>
                <a:cxn ang="f96">
                  <a:pos x="f133" y="f132"/>
                </a:cxn>
                <a:cxn ang="f96">
                  <a:pos x="f134" y="f130"/>
                </a:cxn>
                <a:cxn ang="f96">
                  <a:pos x="f135" y="f136"/>
                </a:cxn>
                <a:cxn ang="f96">
                  <a:pos x="f135" y="f137"/>
                </a:cxn>
                <a:cxn ang="f96">
                  <a:pos x="f135" y="f127"/>
                </a:cxn>
                <a:cxn ang="f96">
                  <a:pos x="f138" y="f127"/>
                </a:cxn>
                <a:cxn ang="f96">
                  <a:pos x="f138" y="f139"/>
                </a:cxn>
                <a:cxn ang="f96">
                  <a:pos x="f135" y="f140"/>
                </a:cxn>
                <a:cxn ang="f96">
                  <a:pos x="f135" y="f141"/>
                </a:cxn>
                <a:cxn ang="f96">
                  <a:pos x="f134" y="f142"/>
                </a:cxn>
                <a:cxn ang="f96">
                  <a:pos x="f143" y="f144"/>
                </a:cxn>
                <a:cxn ang="f96">
                  <a:pos x="f145" y="f146"/>
                </a:cxn>
                <a:cxn ang="f96">
                  <a:pos x="f147" y="f146"/>
                </a:cxn>
                <a:cxn ang="f96">
                  <a:pos x="f126" y="f144"/>
                </a:cxn>
                <a:cxn ang="f96">
                  <a:pos x="f148" y="f141"/>
                </a:cxn>
                <a:cxn ang="f96">
                  <a:pos x="f149" y="f130"/>
                </a:cxn>
                <a:cxn ang="f96">
                  <a:pos x="f150" y="f128"/>
                </a:cxn>
                <a:cxn ang="f96">
                  <a:pos x="f150" y="f127"/>
                </a:cxn>
                <a:cxn ang="f96">
                  <a:pos x="f126" y="f127"/>
                </a:cxn>
              </a:cxnLst>
              <a:rect l="f122" t="f125" r="f123" b="f124"/>
              <a:pathLst>
                <a:path w="31" h="54">
                  <a:moveTo>
                    <a:pt x="f8" y="f7"/>
                  </a:moveTo>
                  <a:cubicBezTo>
                    <a:pt x="f8" y="f9"/>
                    <a:pt x="f8" y="f9"/>
                    <a:pt x="f8" y="f9"/>
                  </a:cubicBezTo>
                  <a:cubicBezTo>
                    <a:pt x="f8" y="f10"/>
                    <a:pt x="f11" y="f12"/>
                    <a:pt x="f13" y="f8"/>
                  </a:cubicBezTo>
                  <a:cubicBezTo>
                    <a:pt x="f14" y="f13"/>
                    <a:pt x="f15" y="f13"/>
                    <a:pt x="f16" y="f13"/>
                  </a:cubicBezTo>
                  <a:cubicBezTo>
                    <a:pt x="f17" y="f13"/>
                    <a:pt x="f18" y="f13"/>
                    <a:pt x="f19" y="f13"/>
                  </a:cubicBezTo>
                  <a:cubicBezTo>
                    <a:pt x="f20" y="f13"/>
                    <a:pt x="f21" y="f11"/>
                    <a:pt x="f22" y="f8"/>
                  </a:cubicBezTo>
                  <a:cubicBezTo>
                    <a:pt x="f23" y="f24"/>
                    <a:pt x="f23" y="f12"/>
                    <a:pt x="f25" y="f26"/>
                  </a:cubicBezTo>
                  <a:cubicBezTo>
                    <a:pt x="f25" y="f10"/>
                    <a:pt x="f25" y="f27"/>
                    <a:pt x="f25" y="f6"/>
                  </a:cubicBezTo>
                  <a:cubicBezTo>
                    <a:pt x="f25" y="f7"/>
                    <a:pt x="f25" y="f7"/>
                    <a:pt x="f25" y="f7"/>
                  </a:cubicBezTo>
                  <a:cubicBezTo>
                    <a:pt x="f5" y="f7"/>
                    <a:pt x="f5" y="f7"/>
                    <a:pt x="f5" y="f7"/>
                  </a:cubicBezTo>
                  <a:cubicBezTo>
                    <a:pt x="f5" y="f28"/>
                    <a:pt x="f5" y="f28"/>
                    <a:pt x="f5" y="f28"/>
                  </a:cubicBezTo>
                  <a:cubicBezTo>
                    <a:pt x="f25" y="f5"/>
                    <a:pt x="f25" y="f5"/>
                    <a:pt x="f25" y="f5"/>
                  </a:cubicBezTo>
                  <a:cubicBezTo>
                    <a:pt x="f25" y="f15"/>
                    <a:pt x="f25" y="f15"/>
                    <a:pt x="f25" y="f15"/>
                  </a:cubicBezTo>
                  <a:cubicBezTo>
                    <a:pt x="f25" y="f29"/>
                    <a:pt x="f23" y="f29"/>
                    <a:pt x="f22" y="f30"/>
                  </a:cubicBezTo>
                  <a:cubicBezTo>
                    <a:pt x="f22" y="f30"/>
                    <a:pt x="f21" y="f16"/>
                    <a:pt x="f20" y="f16"/>
                  </a:cubicBezTo>
                  <a:cubicBezTo>
                    <a:pt x="f19" y="f17"/>
                    <a:pt x="f18" y="f17"/>
                    <a:pt x="f17" y="f17"/>
                  </a:cubicBezTo>
                  <a:cubicBezTo>
                    <a:pt x="f16" y="f17"/>
                    <a:pt x="f30" y="f17"/>
                    <a:pt x="f29" y="f17"/>
                  </a:cubicBezTo>
                  <a:cubicBezTo>
                    <a:pt x="f31" y="f17"/>
                    <a:pt x="f13" y="f17"/>
                    <a:pt x="f8" y="f16"/>
                  </a:cubicBezTo>
                  <a:cubicBezTo>
                    <a:pt x="f24" y="f16"/>
                    <a:pt x="f26" y="f30"/>
                    <a:pt x="f10" y="f15"/>
                  </a:cubicBezTo>
                  <a:cubicBezTo>
                    <a:pt x="f32" y="f31"/>
                    <a:pt x="f27" y="f13"/>
                    <a:pt x="f27" y="f8"/>
                  </a:cubicBezTo>
                  <a:cubicBezTo>
                    <a:pt x="f6" y="f26"/>
                    <a:pt x="f6" y="f32"/>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9" name="Freeform 31">
              <a:extLst>
                <a:ext uri="{FF2B5EF4-FFF2-40B4-BE49-F238E27FC236}">
                  <a16:creationId xmlns:a16="http://schemas.microsoft.com/office/drawing/2014/main" id="{376F58A0-7576-2B6B-4DA2-9D65AFE5A535}"/>
                </a:ext>
              </a:extLst>
            </p:cNvPr>
            <p:cNvSpPr/>
            <p:nvPr/>
          </p:nvSpPr>
          <p:spPr>
            <a:xfrm>
              <a:off x="2749564"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24"/>
                <a:gd name="f14" fmla="val 8"/>
                <a:gd name="f15" fmla="val 26"/>
                <a:gd name="f16" fmla="val 27"/>
                <a:gd name="f17" fmla="val 9"/>
                <a:gd name="f18" fmla="val 28"/>
                <a:gd name="f19" fmla="val 10"/>
                <a:gd name="f20" fmla="val 29"/>
                <a:gd name="f21" fmla="val 11"/>
                <a:gd name="f22" fmla="val 30"/>
                <a:gd name="f23" fmla="val 31"/>
                <a:gd name="f24" fmla="val 12"/>
                <a:gd name="f25" fmla="val 32"/>
                <a:gd name="f26" fmla="val 13"/>
                <a:gd name="f27" fmla="val 15"/>
                <a:gd name="f28" fmla="val 16"/>
                <a:gd name="f29" fmla="val 17"/>
                <a:gd name="f30" fmla="val 18"/>
                <a:gd name="f31" fmla="val 23"/>
                <a:gd name="f32" fmla="val 25"/>
                <a:gd name="f33" fmla="val 35"/>
                <a:gd name="f34" fmla="val 36"/>
                <a:gd name="f35" fmla="val 37"/>
                <a:gd name="f36" fmla="val 38"/>
                <a:gd name="f37" fmla="val 39"/>
                <a:gd name="f38" fmla="val 6"/>
                <a:gd name="f39" fmla="val 5"/>
                <a:gd name="f40" fmla="val 34"/>
                <a:gd name="f41" fmla="val 4"/>
                <a:gd name="f42" fmla="val 3"/>
                <a:gd name="f43" fmla="val 2"/>
                <a:gd name="f44" fmla="val 1"/>
                <a:gd name="f45" fmla="val 14"/>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8 f50 1"/>
                <a:gd name="f60" fmla="*/ 27 f49 1"/>
                <a:gd name="f61" fmla="*/ 11 f50 1"/>
                <a:gd name="f62" fmla="*/ 30 f49 1"/>
                <a:gd name="f63" fmla="*/ 13 f50 1"/>
                <a:gd name="f64" fmla="*/ 32 f49 1"/>
                <a:gd name="f65" fmla="*/ 17 f50 1"/>
                <a:gd name="f66" fmla="*/ 33 f49 1"/>
                <a:gd name="f67" fmla="*/ 19 f50 1"/>
                <a:gd name="f68" fmla="*/ 21 f50 1"/>
                <a:gd name="f69" fmla="*/ 23 f50 1"/>
                <a:gd name="f70" fmla="*/ 31 f49 1"/>
                <a:gd name="f71" fmla="*/ 25 f50 1"/>
                <a:gd name="f72" fmla="*/ 30 f50 1"/>
                <a:gd name="f73" fmla="*/ 35 f49 1"/>
                <a:gd name="f74" fmla="*/ 27 f50 1"/>
                <a:gd name="f75" fmla="*/ 37 f49 1"/>
                <a:gd name="f76" fmla="*/ 24 f50 1"/>
                <a:gd name="f77" fmla="*/ 38 f49 1"/>
                <a:gd name="f78" fmla="*/ 39 f49 1"/>
                <a:gd name="f79" fmla="*/ 16 f50 1"/>
                <a:gd name="f80" fmla="*/ 40 f49 1"/>
                <a:gd name="f81" fmla="*/ 12 f50 1"/>
                <a:gd name="f82" fmla="*/ 5 f50 1"/>
                <a:gd name="f83" fmla="*/ 34 f49 1"/>
                <a:gd name="f84" fmla="*/ 2 f50 1"/>
                <a:gd name="f85" fmla="*/ 0 f50 1"/>
                <a:gd name="f86" fmla="*/ 26 f49 1"/>
                <a:gd name="f87" fmla="*/ 20 f49 1"/>
                <a:gd name="f88" fmla="*/ 1 f50 1"/>
                <a:gd name="f89" fmla="*/ 11 f49 1"/>
                <a:gd name="f90" fmla="*/ 4 f50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6 f49 1"/>
                <a:gd name="f103" fmla="*/ f51 1 f2"/>
                <a:gd name="f104" fmla="*/ f54 1 33"/>
                <a:gd name="f105" fmla="*/ f55 1 40"/>
                <a:gd name="f106" fmla="*/ f56 1 40"/>
                <a:gd name="f107" fmla="*/ f57 1 40"/>
                <a:gd name="f108" fmla="*/ f58 1 33"/>
                <a:gd name="f109" fmla="*/ f59 1 33"/>
                <a:gd name="f110" fmla="*/ f60 1 40"/>
                <a:gd name="f111" fmla="*/ f61 1 33"/>
                <a:gd name="f112" fmla="*/ f62 1 40"/>
                <a:gd name="f113" fmla="*/ f63 1 33"/>
                <a:gd name="f114" fmla="*/ f64 1 40"/>
                <a:gd name="f115" fmla="*/ f65 1 33"/>
                <a:gd name="f116" fmla="*/ f66 1 40"/>
                <a:gd name="f117" fmla="*/ f67 1 33"/>
                <a:gd name="f118" fmla="*/ f68 1 33"/>
                <a:gd name="f119" fmla="*/ f69 1 33"/>
                <a:gd name="f120" fmla="*/ f70 1 40"/>
                <a:gd name="f121" fmla="*/ f71 1 33"/>
                <a:gd name="f122" fmla="*/ f72 1 33"/>
                <a:gd name="f123" fmla="*/ f73 1 40"/>
                <a:gd name="f124" fmla="*/ f74 1 33"/>
                <a:gd name="f125" fmla="*/ f75 1 40"/>
                <a:gd name="f126" fmla="*/ f76 1 33"/>
                <a:gd name="f127" fmla="*/ f77 1 40"/>
                <a:gd name="f128" fmla="*/ f78 1 40"/>
                <a:gd name="f129" fmla="*/ f79 1 33"/>
                <a:gd name="f130" fmla="*/ f80 1 40"/>
                <a:gd name="f131" fmla="*/ f81 1 33"/>
                <a:gd name="f132" fmla="*/ f82 1 33"/>
                <a:gd name="f133" fmla="*/ f83 1 40"/>
                <a:gd name="f134" fmla="*/ f84 1 33"/>
                <a:gd name="f135" fmla="*/ f85 1 33"/>
                <a:gd name="f136" fmla="*/ f86 1 40"/>
                <a:gd name="f137" fmla="*/ f87 1 40"/>
                <a:gd name="f138" fmla="*/ f88 1 33"/>
                <a:gd name="f139" fmla="*/ f89 1 40"/>
                <a:gd name="f140" fmla="*/ f90 1 33"/>
                <a:gd name="f141" fmla="*/ f91 1 40"/>
                <a:gd name="f142" fmla="*/ f92 1 33"/>
                <a:gd name="f143" fmla="*/ f93 1 40"/>
                <a:gd name="f144" fmla="*/ f94 1 40"/>
                <a:gd name="f145" fmla="*/ f95 1 33"/>
                <a:gd name="f146" fmla="*/ f96 1 33"/>
                <a:gd name="f147" fmla="*/ f97 1 40"/>
                <a:gd name="f148" fmla="*/ f98 1 40"/>
                <a:gd name="f149" fmla="*/ f99 1 40"/>
                <a:gd name="f150" fmla="*/ f100 1 33"/>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3"/>
                <a:gd name="f162" fmla="*/ f108 1 f52"/>
                <a:gd name="f163" fmla="*/ f109 1 f52"/>
                <a:gd name="f164" fmla="*/ f110 1 f53"/>
                <a:gd name="f165" fmla="*/ f111 1 f52"/>
                <a:gd name="f166" fmla="*/ f112 1 f53"/>
                <a:gd name="f167" fmla="*/ f113 1 f52"/>
                <a:gd name="f168" fmla="*/ f114 1 f53"/>
                <a:gd name="f169" fmla="*/ f115 1 f52"/>
                <a:gd name="f170" fmla="*/ f116 1 f53"/>
                <a:gd name="f171" fmla="*/ f117 1 f52"/>
                <a:gd name="f172" fmla="*/ f118 1 f52"/>
                <a:gd name="f173" fmla="*/ f119 1 f52"/>
                <a:gd name="f174" fmla="*/ f120 1 f53"/>
                <a:gd name="f175" fmla="*/ f121 1 f52"/>
                <a:gd name="f176" fmla="*/ f122 1 f52"/>
                <a:gd name="f177" fmla="*/ f123 1 f53"/>
                <a:gd name="f178" fmla="*/ f124 1 f52"/>
                <a:gd name="f179" fmla="*/ f125 1 f53"/>
                <a:gd name="f180" fmla="*/ f126 1 f52"/>
                <a:gd name="f181" fmla="*/ f127 1 f53"/>
                <a:gd name="f182" fmla="*/ f128 1 f53"/>
                <a:gd name="f183" fmla="*/ f129 1 f52"/>
                <a:gd name="f184" fmla="*/ f130 1 f53"/>
                <a:gd name="f185" fmla="*/ f131 1 f52"/>
                <a:gd name="f186" fmla="*/ f132 1 f52"/>
                <a:gd name="f187" fmla="*/ f133 1 f53"/>
                <a:gd name="f188" fmla="*/ f134 1 f52"/>
                <a:gd name="f189" fmla="*/ f135 1 f52"/>
                <a:gd name="f190" fmla="*/ f136 1 f53"/>
                <a:gd name="f191" fmla="*/ f137 1 f53"/>
                <a:gd name="f192" fmla="*/ f138 1 f52"/>
                <a:gd name="f193" fmla="*/ f139 1 f53"/>
                <a:gd name="f194" fmla="*/ f140 1 f52"/>
                <a:gd name="f195" fmla="*/ f141 1 f53"/>
                <a:gd name="f196" fmla="*/ f142 1 f52"/>
                <a:gd name="f197" fmla="*/ f143 1 f53"/>
                <a:gd name="f198" fmla="*/ f144 1 f53"/>
                <a:gd name="f199" fmla="*/ f145 1 f52"/>
                <a:gd name="f200" fmla="*/ f146 1 f52"/>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8 1"/>
                <a:gd name="f215" fmla="*/ f162 f47 1"/>
                <a:gd name="f216" fmla="*/ f163 f47 1"/>
                <a:gd name="f217" fmla="*/ f164 f48 1"/>
                <a:gd name="f218" fmla="*/ f165 f47 1"/>
                <a:gd name="f219" fmla="*/ f166 f48 1"/>
                <a:gd name="f220" fmla="*/ f167 f47 1"/>
                <a:gd name="f221" fmla="*/ f168 f48 1"/>
                <a:gd name="f222" fmla="*/ f169 f47 1"/>
                <a:gd name="f223" fmla="*/ f170 f48 1"/>
                <a:gd name="f224" fmla="*/ f171 f47 1"/>
                <a:gd name="f225" fmla="*/ f172 f47 1"/>
                <a:gd name="f226" fmla="*/ f173 f47 1"/>
                <a:gd name="f227" fmla="*/ f174 f48 1"/>
                <a:gd name="f228" fmla="*/ f175 f47 1"/>
                <a:gd name="f229" fmla="*/ f176 f47 1"/>
                <a:gd name="f230" fmla="*/ f177 f48 1"/>
                <a:gd name="f231" fmla="*/ f178 f47 1"/>
                <a:gd name="f232" fmla="*/ f179 f48 1"/>
                <a:gd name="f233" fmla="*/ f180 f47 1"/>
                <a:gd name="f234" fmla="*/ f181 f48 1"/>
                <a:gd name="f235" fmla="*/ f182 f48 1"/>
                <a:gd name="f236" fmla="*/ f183 f47 1"/>
                <a:gd name="f237" fmla="*/ f184 f48 1"/>
                <a:gd name="f238" fmla="*/ f185 f47 1"/>
                <a:gd name="f239" fmla="*/ f186 f47 1"/>
                <a:gd name="f240" fmla="*/ f187 f48 1"/>
                <a:gd name="f241" fmla="*/ f188 f47 1"/>
                <a:gd name="f242" fmla="*/ f189 f47 1"/>
                <a:gd name="f243" fmla="*/ f190 f48 1"/>
                <a:gd name="f244" fmla="*/ f191 f48 1"/>
                <a:gd name="f245" fmla="*/ f192 f47 1"/>
                <a:gd name="f246" fmla="*/ f193 f48 1"/>
                <a:gd name="f247" fmla="*/ f194 f47 1"/>
                <a:gd name="f248" fmla="*/ f195 f48 1"/>
                <a:gd name="f249" fmla="*/ f196 f47 1"/>
                <a:gd name="f250" fmla="*/ f197 f48 1"/>
                <a:gd name="f251" fmla="*/ f198 f48 1"/>
                <a:gd name="f252" fmla="*/ f199 f47 1"/>
                <a:gd name="f253" fmla="*/ f200 f47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1" y="f214"/>
                </a:cxn>
                <a:cxn ang="f157">
                  <a:pos x="f215" y="f214"/>
                </a:cxn>
                <a:cxn ang="f157">
                  <a:pos x="f216" y="f217"/>
                </a:cxn>
                <a:cxn ang="f157">
                  <a:pos x="f218" y="f219"/>
                </a:cxn>
                <a:cxn ang="f157">
                  <a:pos x="f220" y="f221"/>
                </a:cxn>
                <a:cxn ang="f157">
                  <a:pos x="f222" y="f223"/>
                </a:cxn>
                <a:cxn ang="f157">
                  <a:pos x="f224" y="f223"/>
                </a:cxn>
                <a:cxn ang="f157">
                  <a:pos x="f225" y="f221"/>
                </a:cxn>
                <a:cxn ang="f157">
                  <a:pos x="f226" y="f227"/>
                </a:cxn>
                <a:cxn ang="f157">
                  <a:pos x="f228" y="f219"/>
                </a:cxn>
                <a:cxn ang="f157">
                  <a:pos x="f229" y="f230"/>
                </a:cxn>
                <a:cxn ang="f157">
                  <a:pos x="f231" y="f232"/>
                </a:cxn>
                <a:cxn ang="f157">
                  <a:pos x="f233" y="f234"/>
                </a:cxn>
                <a:cxn ang="f157">
                  <a:pos x="f225" y="f235"/>
                </a:cxn>
                <a:cxn ang="f157">
                  <a:pos x="f236" y="f237"/>
                </a:cxn>
                <a:cxn ang="f157">
                  <a:pos x="f238" y="f235"/>
                </a:cxn>
                <a:cxn ang="f157">
                  <a:pos x="f216" y="f232"/>
                </a:cxn>
                <a:cxn ang="f157">
                  <a:pos x="f239" y="f240"/>
                </a:cxn>
                <a:cxn ang="f157">
                  <a:pos x="f241" y="f227"/>
                </a:cxn>
                <a:cxn ang="f157">
                  <a:pos x="f242" y="f243"/>
                </a:cxn>
                <a:cxn ang="f157">
                  <a:pos x="f242" y="f244"/>
                </a:cxn>
                <a:cxn ang="f157">
                  <a:pos x="f245" y="f246"/>
                </a:cxn>
                <a:cxn ang="f157">
                  <a:pos x="f247" y="f248"/>
                </a:cxn>
                <a:cxn ang="f157">
                  <a:pos x="f249" y="f250"/>
                </a:cxn>
                <a:cxn ang="f157">
                  <a:pos x="f222" y="f251"/>
                </a:cxn>
                <a:cxn ang="f157">
                  <a:pos x="f233" y="f250"/>
                </a:cxn>
                <a:cxn ang="f157">
                  <a:pos x="f252" y="f248"/>
                </a:cxn>
                <a:cxn ang="f157">
                  <a:pos x="f253" y="f246"/>
                </a:cxn>
                <a:cxn ang="f157">
                  <a:pos x="f211" y="f212"/>
                </a:cxn>
                <a:cxn ang="f157">
                  <a:pos x="f228" y="f254"/>
                </a:cxn>
                <a:cxn ang="f157">
                  <a:pos x="f233" y="f255"/>
                </a:cxn>
                <a:cxn ang="f157">
                  <a:pos x="f226" y="f256"/>
                </a:cxn>
                <a:cxn ang="f157">
                  <a:pos x="f257" y="f258"/>
                </a:cxn>
                <a:cxn ang="f157">
                  <a:pos x="f236" y="f259"/>
                </a:cxn>
                <a:cxn ang="f157">
                  <a:pos x="f220" y="f258"/>
                </a:cxn>
                <a:cxn ang="f157">
                  <a:pos x="f249" y="f256"/>
                </a:cxn>
                <a:cxn ang="f157">
                  <a:pos x="f216" y="f255"/>
                </a:cxn>
                <a:cxn ang="f157">
                  <a:pos x="f215" y="f254"/>
                </a:cxn>
                <a:cxn ang="f157">
                  <a:pos x="f228" y="f254"/>
                </a:cxn>
              </a:cxnLst>
              <a:rect l="f207" t="f210" r="f208" b="f209"/>
              <a:pathLst>
                <a:path w="33" h="40">
                  <a:moveTo>
                    <a:pt x="f6" y="f8"/>
                  </a:moveTo>
                  <a:cubicBezTo>
                    <a:pt x="f6" y="f8"/>
                    <a:pt x="f6" y="f9"/>
                    <a:pt x="f6" y="f10"/>
                  </a:cubicBezTo>
                  <a:cubicBezTo>
                    <a:pt x="f6" y="f10"/>
                    <a:pt x="f6" y="f11"/>
                    <a:pt x="f6" y="f11"/>
                  </a:cubicBezTo>
                  <a:cubicBezTo>
                    <a:pt x="f12" y="f11"/>
                    <a:pt x="f12" y="f11"/>
                    <a:pt x="f12" y="f11"/>
                  </a:cubicBezTo>
                  <a:cubicBezTo>
                    <a:pt x="f12" y="f13"/>
                    <a:pt x="f14" y="f15"/>
                    <a:pt x="f14" y="f16"/>
                  </a:cubicBezTo>
                  <a:cubicBezTo>
                    <a:pt x="f17" y="f18"/>
                    <a:pt x="f19" y="f20"/>
                    <a:pt x="f21" y="f22"/>
                  </a:cubicBezTo>
                  <a:cubicBezTo>
                    <a:pt x="f21" y="f23"/>
                    <a:pt x="f24" y="f25"/>
                    <a:pt x="f26" y="f25"/>
                  </a:cubicBezTo>
                  <a:cubicBezTo>
                    <a:pt x="f27" y="f6"/>
                    <a:pt x="f28" y="f6"/>
                    <a:pt x="f29" y="f6"/>
                  </a:cubicBezTo>
                  <a:cubicBezTo>
                    <a:pt x="f30" y="f6"/>
                    <a:pt x="f30" y="f6"/>
                    <a:pt x="f8" y="f6"/>
                  </a:cubicBezTo>
                  <a:cubicBezTo>
                    <a:pt x="f9" y="f25"/>
                    <a:pt x="f10" y="f25"/>
                    <a:pt x="f10" y="f25"/>
                  </a:cubicBezTo>
                  <a:cubicBezTo>
                    <a:pt x="f11" y="f25"/>
                    <a:pt x="f31" y="f23"/>
                    <a:pt x="f31" y="f23"/>
                  </a:cubicBezTo>
                  <a:cubicBezTo>
                    <a:pt x="f13" y="f23"/>
                    <a:pt x="f13" y="f22"/>
                    <a:pt x="f32" y="f22"/>
                  </a:cubicBezTo>
                  <a:cubicBezTo>
                    <a:pt x="f22" y="f33"/>
                    <a:pt x="f22" y="f33"/>
                    <a:pt x="f22" y="f33"/>
                  </a:cubicBezTo>
                  <a:cubicBezTo>
                    <a:pt x="f20" y="f33"/>
                    <a:pt x="f18" y="f34"/>
                    <a:pt x="f16" y="f35"/>
                  </a:cubicBezTo>
                  <a:cubicBezTo>
                    <a:pt x="f15" y="f35"/>
                    <a:pt x="f32" y="f36"/>
                    <a:pt x="f13" y="f36"/>
                  </a:cubicBezTo>
                  <a:cubicBezTo>
                    <a:pt x="f31" y="f37"/>
                    <a:pt x="f11" y="f37"/>
                    <a:pt x="f10" y="f37"/>
                  </a:cubicBezTo>
                  <a:cubicBezTo>
                    <a:pt x="f8" y="f37"/>
                    <a:pt x="f30" y="f7"/>
                    <a:pt x="f28" y="f7"/>
                  </a:cubicBezTo>
                  <a:cubicBezTo>
                    <a:pt x="f27" y="f7"/>
                    <a:pt x="f26" y="f37"/>
                    <a:pt x="f24" y="f37"/>
                  </a:cubicBezTo>
                  <a:cubicBezTo>
                    <a:pt x="f19" y="f36"/>
                    <a:pt x="f17" y="f36"/>
                    <a:pt x="f14" y="f35"/>
                  </a:cubicBezTo>
                  <a:cubicBezTo>
                    <a:pt x="f12" y="f34"/>
                    <a:pt x="f38" y="f33"/>
                    <a:pt x="f39" y="f40"/>
                  </a:cubicBezTo>
                  <a:cubicBezTo>
                    <a:pt x="f41" y="f40"/>
                    <a:pt x="f42" y="f25"/>
                    <a:pt x="f43" y="f23"/>
                  </a:cubicBezTo>
                  <a:cubicBezTo>
                    <a:pt x="f44" y="f20"/>
                    <a:pt x="f44" y="f18"/>
                    <a:pt x="f5" y="f15"/>
                  </a:cubicBezTo>
                  <a:cubicBezTo>
                    <a:pt x="f5" y="f13"/>
                    <a:pt x="f5" y="f11"/>
                    <a:pt x="f5" y="f9"/>
                  </a:cubicBezTo>
                  <a:cubicBezTo>
                    <a:pt x="f5" y="f28"/>
                    <a:pt x="f5" y="f26"/>
                    <a:pt x="f44" y="f21"/>
                  </a:cubicBezTo>
                  <a:cubicBezTo>
                    <a:pt x="f43" y="f14"/>
                    <a:pt x="f42" y="f38"/>
                    <a:pt x="f41" y="f39"/>
                  </a:cubicBezTo>
                  <a:cubicBezTo>
                    <a:pt x="f38" y="f42"/>
                    <a:pt x="f14" y="f43"/>
                    <a:pt x="f19" y="f44"/>
                  </a:cubicBezTo>
                  <a:cubicBezTo>
                    <a:pt x="f24" y="f5"/>
                    <a:pt x="f45" y="f5"/>
                    <a:pt x="f29" y="f5"/>
                  </a:cubicBezTo>
                  <a:cubicBezTo>
                    <a:pt x="f8" y="f5"/>
                    <a:pt x="f11" y="f5"/>
                    <a:pt x="f13" y="f44"/>
                  </a:cubicBezTo>
                  <a:cubicBezTo>
                    <a:pt x="f15" y="f43"/>
                    <a:pt x="f16" y="f41"/>
                    <a:pt x="f20" y="f39"/>
                  </a:cubicBezTo>
                  <a:cubicBezTo>
                    <a:pt x="f22" y="f12"/>
                    <a:pt x="f23" y="f17"/>
                    <a:pt x="f25" y="f21"/>
                  </a:cubicBezTo>
                  <a:cubicBezTo>
                    <a:pt x="f25" y="f45"/>
                    <a:pt x="f6" y="f28"/>
                    <a:pt x="f6" y="f8"/>
                  </a:cubicBezTo>
                  <a:close/>
                  <a:moveTo>
                    <a:pt x="f32" y="f28"/>
                  </a:moveTo>
                  <a:cubicBezTo>
                    <a:pt x="f32" y="f27"/>
                    <a:pt x="f32" y="f26"/>
                    <a:pt x="f13" y="f24"/>
                  </a:cubicBezTo>
                  <a:cubicBezTo>
                    <a:pt x="f13" y="f21"/>
                    <a:pt x="f13" y="f19"/>
                    <a:pt x="f31" y="f17"/>
                  </a:cubicBezTo>
                  <a:cubicBezTo>
                    <a:pt x="f11" y="f14"/>
                    <a:pt x="f10" y="f14"/>
                    <a:pt x="f9" y="f12"/>
                  </a:cubicBezTo>
                  <a:cubicBezTo>
                    <a:pt x="f8" y="f12"/>
                    <a:pt x="f30" y="f38"/>
                    <a:pt x="f28" y="f38"/>
                  </a:cubicBezTo>
                  <a:cubicBezTo>
                    <a:pt x="f27" y="f38"/>
                    <a:pt x="f45" y="f12"/>
                    <a:pt x="f26" y="f12"/>
                  </a:cubicBezTo>
                  <a:cubicBezTo>
                    <a:pt x="f24" y="f12"/>
                    <a:pt x="f21" y="f14"/>
                    <a:pt x="f19" y="f17"/>
                  </a:cubicBezTo>
                  <a:cubicBezTo>
                    <a:pt x="f17" y="f19"/>
                    <a:pt x="f17" y="f21"/>
                    <a:pt x="f14" y="f24"/>
                  </a:cubicBezTo>
                  <a:cubicBezTo>
                    <a:pt x="f14" y="f26"/>
                    <a:pt x="f12" y="f45"/>
                    <a:pt x="f12"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0" name="Freeform 32">
              <a:extLst>
                <a:ext uri="{FF2B5EF4-FFF2-40B4-BE49-F238E27FC236}">
                  <a16:creationId xmlns:a16="http://schemas.microsoft.com/office/drawing/2014/main" id="{766F945E-AA34-7651-5589-F1A1614E69DF}"/>
                </a:ext>
              </a:extLst>
            </p:cNvPr>
            <p:cNvSpPr/>
            <p:nvPr/>
          </p:nvSpPr>
          <p:spPr>
            <a:xfrm>
              <a:off x="2901190" y="6049807"/>
              <a:ext cx="80165" cy="139500"/>
            </a:xfrm>
            <a:custGeom>
              <a:avLst/>
              <a:gdLst>
                <a:gd name="f0" fmla="val 10800000"/>
                <a:gd name="f1" fmla="val 5400000"/>
                <a:gd name="f2" fmla="val 180"/>
                <a:gd name="f3" fmla="val w"/>
                <a:gd name="f4" fmla="val h"/>
                <a:gd name="f5" fmla="val 0"/>
                <a:gd name="f6" fmla="val 32"/>
                <a:gd name="f7" fmla="val 55"/>
                <a:gd name="f8" fmla="val 35"/>
                <a:gd name="f9" fmla="val 38"/>
                <a:gd name="f10" fmla="val 41"/>
                <a:gd name="f11" fmla="val 31"/>
                <a:gd name="f12" fmla="val 44"/>
                <a:gd name="f13" fmla="val 30"/>
                <a:gd name="f14" fmla="val 46"/>
                <a:gd name="f15" fmla="val 29"/>
                <a:gd name="f16" fmla="val 48"/>
                <a:gd name="f17" fmla="val 28"/>
                <a:gd name="f18" fmla="val 50"/>
                <a:gd name="f19" fmla="val 26"/>
                <a:gd name="f20" fmla="val 51"/>
                <a:gd name="f21" fmla="val 25"/>
                <a:gd name="f22" fmla="val 53"/>
                <a:gd name="f23" fmla="val 23"/>
                <a:gd name="f24" fmla="val 21"/>
                <a:gd name="f25" fmla="val 54"/>
                <a:gd name="f26" fmla="val 19"/>
                <a:gd name="f27" fmla="val 17"/>
                <a:gd name="f28" fmla="val 15"/>
                <a:gd name="f29" fmla="val 13"/>
                <a:gd name="f30" fmla="val 12"/>
                <a:gd name="f31" fmla="val 10"/>
                <a:gd name="f32" fmla="val 52"/>
                <a:gd name="f33" fmla="val 9"/>
                <a:gd name="f34" fmla="val 7"/>
                <a:gd name="f35" fmla="val 4"/>
                <a:gd name="f36" fmla="val 8"/>
                <a:gd name="f37" fmla="val 18"/>
                <a:gd name="f38" fmla="val 11"/>
                <a:gd name="f39" fmla="val 16"/>
                <a:gd name="f40" fmla="val 14"/>
                <a:gd name="f41" fmla="val 20"/>
                <a:gd name="f42" fmla="val 27"/>
                <a:gd name="f43" fmla="val 24"/>
                <a:gd name="f44" fmla="val 22"/>
                <a:gd name="f45" fmla="val 43"/>
                <a:gd name="f46" fmla="val 45"/>
                <a:gd name="f47" fmla="val 47"/>
                <a:gd name="f48" fmla="val 39"/>
                <a:gd name="f49" fmla="+- 0 0 -90"/>
                <a:gd name="f50" fmla="*/ f3 1 32"/>
                <a:gd name="f51" fmla="*/ f4 1 55"/>
                <a:gd name="f52" fmla="+- f7 0 f5"/>
                <a:gd name="f53" fmla="+- f6 0 f5"/>
                <a:gd name="f54" fmla="*/ f49 f0 1"/>
                <a:gd name="f55" fmla="*/ f53 1 32"/>
                <a:gd name="f56" fmla="*/ f52 1 55"/>
                <a:gd name="f57" fmla="*/ 32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7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26 f52 1"/>
                <a:gd name="f80" fmla="*/ 25 f53 1"/>
                <a:gd name="f81" fmla="*/ 25 f52 1"/>
                <a:gd name="f82" fmla="*/ 16 f53 1"/>
                <a:gd name="f83" fmla="*/ 22 f52 1"/>
                <a:gd name="f84" fmla="*/ 11 f53 1"/>
                <a:gd name="f85" fmla="*/ 23 f52 1"/>
                <a:gd name="f86" fmla="*/ 9 f53 1"/>
                <a:gd name="f87" fmla="*/ 43 f52 1"/>
                <a:gd name="f88" fmla="*/ 46 f52 1"/>
                <a:gd name="f89" fmla="*/ 47 f52 1"/>
                <a:gd name="f90" fmla="*/ 48 f52 1"/>
                <a:gd name="f91" fmla="*/ 45 f52 1"/>
                <a:gd name="f92" fmla="*/ f54 1 f2"/>
                <a:gd name="f93" fmla="*/ f57 1 32"/>
                <a:gd name="f94" fmla="*/ f58 1 55"/>
                <a:gd name="f95" fmla="*/ f59 1 32"/>
                <a:gd name="f96" fmla="*/ f60 1 55"/>
                <a:gd name="f97" fmla="*/ f61 1 32"/>
                <a:gd name="f98" fmla="*/ f62 1 55"/>
                <a:gd name="f99" fmla="*/ f63 1 32"/>
                <a:gd name="f100" fmla="*/ f64 1 55"/>
                <a:gd name="f101" fmla="*/ f65 1 32"/>
                <a:gd name="f102" fmla="*/ f66 1 55"/>
                <a:gd name="f103" fmla="*/ f67 1 32"/>
                <a:gd name="f104" fmla="*/ f68 1 32"/>
                <a:gd name="f105" fmla="*/ f69 1 55"/>
                <a:gd name="f106" fmla="*/ f70 1 32"/>
                <a:gd name="f107" fmla="*/ f71 1 55"/>
                <a:gd name="f108" fmla="*/ f72 1 55"/>
                <a:gd name="f109" fmla="*/ f73 1 55"/>
                <a:gd name="f110" fmla="*/ f74 1 32"/>
                <a:gd name="f111" fmla="*/ f75 1 55"/>
                <a:gd name="f112" fmla="*/ f76 1 55"/>
                <a:gd name="f113" fmla="*/ f77 1 32"/>
                <a:gd name="f114" fmla="*/ f78 1 55"/>
                <a:gd name="f115" fmla="*/ f79 1 55"/>
                <a:gd name="f116" fmla="*/ f80 1 32"/>
                <a:gd name="f117" fmla="*/ f81 1 55"/>
                <a:gd name="f118" fmla="*/ f82 1 32"/>
                <a:gd name="f119" fmla="*/ f83 1 55"/>
                <a:gd name="f120" fmla="*/ f84 1 32"/>
                <a:gd name="f121" fmla="*/ f85 1 55"/>
                <a:gd name="f122" fmla="*/ f86 1 32"/>
                <a:gd name="f123" fmla="*/ f87 1 55"/>
                <a:gd name="f124" fmla="*/ f88 1 55"/>
                <a:gd name="f125" fmla="*/ f89 1 55"/>
                <a:gd name="f126" fmla="*/ f90 1 55"/>
                <a:gd name="f127" fmla="*/ f91 1 55"/>
                <a:gd name="f128" fmla="*/ 0 1 f55"/>
                <a:gd name="f129" fmla="*/ f6 1 f55"/>
                <a:gd name="f130" fmla="*/ 0 1 f56"/>
                <a:gd name="f131" fmla="*/ f7 1 f56"/>
                <a:gd name="f132" fmla="+- f92 0 f1"/>
                <a:gd name="f133" fmla="*/ f93 1 f55"/>
                <a:gd name="f134" fmla="*/ f94 1 f56"/>
                <a:gd name="f135" fmla="*/ f95 1 f55"/>
                <a:gd name="f136" fmla="*/ f96 1 f56"/>
                <a:gd name="f137" fmla="*/ f97 1 f55"/>
                <a:gd name="f138" fmla="*/ f98 1 f56"/>
                <a:gd name="f139" fmla="*/ f99 1 f55"/>
                <a:gd name="f140" fmla="*/ f100 1 f56"/>
                <a:gd name="f141" fmla="*/ f101 1 f55"/>
                <a:gd name="f142" fmla="*/ f102 1 f56"/>
                <a:gd name="f143" fmla="*/ f103 1 f55"/>
                <a:gd name="f144" fmla="*/ f104 1 f55"/>
                <a:gd name="f145" fmla="*/ f105 1 f56"/>
                <a:gd name="f146" fmla="*/ f106 1 f55"/>
                <a:gd name="f147" fmla="*/ f107 1 f56"/>
                <a:gd name="f148" fmla="*/ f108 1 f56"/>
                <a:gd name="f149" fmla="*/ f109 1 f56"/>
                <a:gd name="f150" fmla="*/ f110 1 f55"/>
                <a:gd name="f151" fmla="*/ f111 1 f56"/>
                <a:gd name="f152" fmla="*/ f112 1 f56"/>
                <a:gd name="f153" fmla="*/ f113 1 f55"/>
                <a:gd name="f154" fmla="*/ f114 1 f56"/>
                <a:gd name="f155" fmla="*/ f115 1 f56"/>
                <a:gd name="f156" fmla="*/ f116 1 f55"/>
                <a:gd name="f157" fmla="*/ f117 1 f56"/>
                <a:gd name="f158" fmla="*/ f118 1 f55"/>
                <a:gd name="f159" fmla="*/ f119 1 f56"/>
                <a:gd name="f160" fmla="*/ f120 1 f55"/>
                <a:gd name="f161" fmla="*/ f121 1 f56"/>
                <a:gd name="f162" fmla="*/ f122 1 f55"/>
                <a:gd name="f163" fmla="*/ f123 1 f56"/>
                <a:gd name="f164" fmla="*/ f124 1 f56"/>
                <a:gd name="f165" fmla="*/ f125 1 f56"/>
                <a:gd name="f166" fmla="*/ f126 1 f56"/>
                <a:gd name="f167" fmla="*/ f127 1 f56"/>
                <a:gd name="f168" fmla="*/ f128 f50 1"/>
                <a:gd name="f169" fmla="*/ f129 f50 1"/>
                <a:gd name="f170" fmla="*/ f131 f51 1"/>
                <a:gd name="f171" fmla="*/ f130 f51 1"/>
                <a:gd name="f172" fmla="*/ f133 f50 1"/>
                <a:gd name="f173" fmla="*/ f134 f51 1"/>
                <a:gd name="f174" fmla="*/ f135 f50 1"/>
                <a:gd name="f175" fmla="*/ f136 f51 1"/>
                <a:gd name="f176" fmla="*/ f137 f50 1"/>
                <a:gd name="f177" fmla="*/ f138 f51 1"/>
                <a:gd name="f178" fmla="*/ f139 f50 1"/>
                <a:gd name="f179" fmla="*/ f140 f51 1"/>
                <a:gd name="f180" fmla="*/ f141 f50 1"/>
                <a:gd name="f181" fmla="*/ f142 f51 1"/>
                <a:gd name="f182" fmla="*/ f143 f50 1"/>
                <a:gd name="f183" fmla="*/ f144 f50 1"/>
                <a:gd name="f184" fmla="*/ f145 f51 1"/>
                <a:gd name="f185" fmla="*/ f146 f50 1"/>
                <a:gd name="f186" fmla="*/ f147 f51 1"/>
                <a:gd name="f187" fmla="*/ f148 f51 1"/>
                <a:gd name="f188" fmla="*/ f149 f51 1"/>
                <a:gd name="f189" fmla="*/ f150 f50 1"/>
                <a:gd name="f190" fmla="*/ f151 f51 1"/>
                <a:gd name="f191" fmla="*/ f152 f51 1"/>
                <a:gd name="f192" fmla="*/ f153 f50 1"/>
                <a:gd name="f193" fmla="*/ f154 f51 1"/>
                <a:gd name="f194" fmla="*/ f155 f51 1"/>
                <a:gd name="f195" fmla="*/ f156 f50 1"/>
                <a:gd name="f196" fmla="*/ f157 f51 1"/>
                <a:gd name="f197" fmla="*/ f158 f50 1"/>
                <a:gd name="f198" fmla="*/ f159 f51 1"/>
                <a:gd name="f199" fmla="*/ f160 f50 1"/>
                <a:gd name="f200" fmla="*/ f161 f51 1"/>
                <a:gd name="f201" fmla="*/ f162 f50 1"/>
                <a:gd name="f202" fmla="*/ f163 f51 1"/>
                <a:gd name="f203" fmla="*/ f164 f51 1"/>
                <a:gd name="f204" fmla="*/ f165 f51 1"/>
                <a:gd name="f205" fmla="*/ f166 f51 1"/>
                <a:gd name="f206" fmla="*/ f167 f51 1"/>
              </a:gdLst>
              <a:ahLst/>
              <a:cxnLst>
                <a:cxn ang="3cd4">
                  <a:pos x="hc" y="t"/>
                </a:cxn>
                <a:cxn ang="0">
                  <a:pos x="r" y="vc"/>
                </a:cxn>
                <a:cxn ang="cd4">
                  <a:pos x="hc" y="b"/>
                </a:cxn>
                <a:cxn ang="cd2">
                  <a:pos x="l" y="vc"/>
                </a:cxn>
                <a:cxn ang="f132">
                  <a:pos x="f172" y="f173"/>
                </a:cxn>
                <a:cxn ang="f132">
                  <a:pos x="f174" y="f175"/>
                </a:cxn>
                <a:cxn ang="f132">
                  <a:pos x="f176" y="f177"/>
                </a:cxn>
                <a:cxn ang="f132">
                  <a:pos x="f178" y="f179"/>
                </a:cxn>
                <a:cxn ang="f132">
                  <a:pos x="f180" y="f181"/>
                </a:cxn>
                <a:cxn ang="f132">
                  <a:pos x="f182" y="f179"/>
                </a:cxn>
                <a:cxn ang="f132">
                  <a:pos x="f183" y="f177"/>
                </a:cxn>
                <a:cxn ang="f132">
                  <a:pos x="f183" y="f184"/>
                </a:cxn>
                <a:cxn ang="f132">
                  <a:pos x="f185" y="f184"/>
                </a:cxn>
                <a:cxn ang="f132">
                  <a:pos x="f185" y="f186"/>
                </a:cxn>
                <a:cxn ang="f132">
                  <a:pos x="f183" y="f187"/>
                </a:cxn>
                <a:cxn ang="f132">
                  <a:pos x="f183" y="f188"/>
                </a:cxn>
                <a:cxn ang="f132">
                  <a:pos x="f189" y="f190"/>
                </a:cxn>
                <a:cxn ang="f132">
                  <a:pos x="f182" y="f191"/>
                </a:cxn>
                <a:cxn ang="f132">
                  <a:pos x="f192" y="f193"/>
                </a:cxn>
                <a:cxn ang="f132">
                  <a:pos x="f180" y="f193"/>
                </a:cxn>
                <a:cxn ang="f132">
                  <a:pos x="f178" y="f191"/>
                </a:cxn>
                <a:cxn ang="f132">
                  <a:pos x="f176" y="f188"/>
                </a:cxn>
                <a:cxn ang="f132">
                  <a:pos x="f174" y="f194"/>
                </a:cxn>
                <a:cxn ang="f132">
                  <a:pos x="f172" y="f173"/>
                </a:cxn>
                <a:cxn ang="f132">
                  <a:pos x="f195" y="f173"/>
                </a:cxn>
                <a:cxn ang="f132">
                  <a:pos x="f178" y="f196"/>
                </a:cxn>
                <a:cxn ang="f132">
                  <a:pos x="f197" y="f198"/>
                </a:cxn>
                <a:cxn ang="f132">
                  <a:pos x="f192" y="f198"/>
                </a:cxn>
                <a:cxn ang="f132">
                  <a:pos x="f199" y="f200"/>
                </a:cxn>
                <a:cxn ang="f132">
                  <a:pos x="f201" y="f196"/>
                </a:cxn>
                <a:cxn ang="f132">
                  <a:pos x="f183" y="f194"/>
                </a:cxn>
                <a:cxn ang="f132">
                  <a:pos x="f183" y="f202"/>
                </a:cxn>
                <a:cxn ang="f132">
                  <a:pos x="f201" y="f175"/>
                </a:cxn>
                <a:cxn ang="f132">
                  <a:pos x="f199" y="f203"/>
                </a:cxn>
                <a:cxn ang="f132">
                  <a:pos x="f192" y="f204"/>
                </a:cxn>
                <a:cxn ang="f132">
                  <a:pos x="f197" y="f205"/>
                </a:cxn>
                <a:cxn ang="f132">
                  <a:pos x="f178" y="f206"/>
                </a:cxn>
                <a:cxn ang="f132">
                  <a:pos x="f195" y="f173"/>
                </a:cxn>
              </a:cxnLst>
              <a:rect l="f168" t="f171" r="f169" b="f170"/>
              <a:pathLst>
                <a:path w="32" h="55">
                  <a:moveTo>
                    <a:pt x="f6" y="f8"/>
                  </a:moveTo>
                  <a:cubicBezTo>
                    <a:pt x="f6" y="f9"/>
                    <a:pt x="f6" y="f10"/>
                    <a:pt x="f11" y="f12"/>
                  </a:cubicBezTo>
                  <a:cubicBezTo>
                    <a:pt x="f13" y="f14"/>
                    <a:pt x="f15" y="f16"/>
                    <a:pt x="f17" y="f18"/>
                  </a:cubicBezTo>
                  <a:cubicBezTo>
                    <a:pt x="f19" y="f20"/>
                    <a:pt x="f21" y="f22"/>
                    <a:pt x="f23" y="f22"/>
                  </a:cubicBezTo>
                  <a:cubicBezTo>
                    <a:pt x="f24" y="f25"/>
                    <a:pt x="f26" y="f7"/>
                    <a:pt x="f27" y="f7"/>
                  </a:cubicBezTo>
                  <a:cubicBezTo>
                    <a:pt x="f28" y="f7"/>
                    <a:pt x="f29" y="f25"/>
                    <a:pt x="f30" y="f22"/>
                  </a:cubicBezTo>
                  <a:cubicBezTo>
                    <a:pt x="f31" y="f32"/>
                    <a:pt x="f33" y="f20"/>
                    <a:pt x="f34" y="f18"/>
                  </a:cubicBezTo>
                  <a:cubicBezTo>
                    <a:pt x="f34" y="f25"/>
                    <a:pt x="f34" y="f25"/>
                    <a:pt x="f34" y="f25"/>
                  </a:cubicBezTo>
                  <a:cubicBezTo>
                    <a:pt x="f5" y="f25"/>
                    <a:pt x="f5" y="f25"/>
                    <a:pt x="f5" y="f25"/>
                  </a:cubicBezTo>
                  <a:cubicBezTo>
                    <a:pt x="f5" y="f35"/>
                    <a:pt x="f5" y="f35"/>
                    <a:pt x="f5" y="f35"/>
                  </a:cubicBezTo>
                  <a:cubicBezTo>
                    <a:pt x="f34" y="f5"/>
                    <a:pt x="f34" y="f5"/>
                    <a:pt x="f34" y="f5"/>
                  </a:cubicBezTo>
                  <a:cubicBezTo>
                    <a:pt x="f34" y="f26"/>
                    <a:pt x="f34" y="f26"/>
                    <a:pt x="f34" y="f26"/>
                  </a:cubicBezTo>
                  <a:cubicBezTo>
                    <a:pt x="f36" y="f37"/>
                    <a:pt x="f33" y="f37"/>
                    <a:pt x="f31" y="f27"/>
                  </a:cubicBezTo>
                  <a:cubicBezTo>
                    <a:pt x="f31" y="f27"/>
                    <a:pt x="f38" y="f39"/>
                    <a:pt x="f30" y="f39"/>
                  </a:cubicBezTo>
                  <a:cubicBezTo>
                    <a:pt x="f30" y="f39"/>
                    <a:pt x="f29" y="f28"/>
                    <a:pt x="f40" y="f28"/>
                  </a:cubicBezTo>
                  <a:cubicBezTo>
                    <a:pt x="f28" y="f28"/>
                    <a:pt x="f39" y="f28"/>
                    <a:pt x="f27" y="f28"/>
                  </a:cubicBezTo>
                  <a:cubicBezTo>
                    <a:pt x="f41" y="f28"/>
                    <a:pt x="f24" y="f28"/>
                    <a:pt x="f23" y="f39"/>
                  </a:cubicBezTo>
                  <a:cubicBezTo>
                    <a:pt x="f21" y="f39"/>
                    <a:pt x="f42" y="f37"/>
                    <a:pt x="f17" y="f26"/>
                  </a:cubicBezTo>
                  <a:cubicBezTo>
                    <a:pt x="f15" y="f24"/>
                    <a:pt x="f13" y="f23"/>
                    <a:pt x="f11" y="f19"/>
                  </a:cubicBezTo>
                  <a:cubicBezTo>
                    <a:pt x="f6" y="f17"/>
                    <a:pt x="f6" y="f6"/>
                    <a:pt x="f6" y="f8"/>
                  </a:cubicBezTo>
                  <a:close/>
                  <a:moveTo>
                    <a:pt x="f21" y="f8"/>
                  </a:moveTo>
                  <a:cubicBezTo>
                    <a:pt x="f21" y="f11"/>
                    <a:pt x="f43" y="f42"/>
                    <a:pt x="f23" y="f21"/>
                  </a:cubicBezTo>
                  <a:cubicBezTo>
                    <a:pt x="f24" y="f23"/>
                    <a:pt x="f26" y="f44"/>
                    <a:pt x="f39" y="f44"/>
                  </a:cubicBezTo>
                  <a:cubicBezTo>
                    <a:pt x="f28" y="f44"/>
                    <a:pt x="f40" y="f44"/>
                    <a:pt x="f40" y="f44"/>
                  </a:cubicBezTo>
                  <a:cubicBezTo>
                    <a:pt x="f29" y="f44"/>
                    <a:pt x="f30" y="f23"/>
                    <a:pt x="f38" y="f23"/>
                  </a:cubicBezTo>
                  <a:cubicBezTo>
                    <a:pt x="f31" y="f23"/>
                    <a:pt x="f31" y="f43"/>
                    <a:pt x="f33" y="f21"/>
                  </a:cubicBezTo>
                  <a:cubicBezTo>
                    <a:pt x="f36" y="f21"/>
                    <a:pt x="f36" y="f19"/>
                    <a:pt x="f34" y="f19"/>
                  </a:cubicBezTo>
                  <a:cubicBezTo>
                    <a:pt x="f34" y="f45"/>
                    <a:pt x="f34" y="f45"/>
                    <a:pt x="f34" y="f45"/>
                  </a:cubicBezTo>
                  <a:cubicBezTo>
                    <a:pt x="f36" y="f45"/>
                    <a:pt x="f36" y="f12"/>
                    <a:pt x="f33" y="f12"/>
                  </a:cubicBezTo>
                  <a:cubicBezTo>
                    <a:pt x="f31" y="f46"/>
                    <a:pt x="f31" y="f46"/>
                    <a:pt x="f38" y="f14"/>
                  </a:cubicBezTo>
                  <a:cubicBezTo>
                    <a:pt x="f30" y="f14"/>
                    <a:pt x="f29" y="f47"/>
                    <a:pt x="f40" y="f47"/>
                  </a:cubicBezTo>
                  <a:cubicBezTo>
                    <a:pt x="f28" y="f47"/>
                    <a:pt x="f28" y="f16"/>
                    <a:pt x="f39" y="f16"/>
                  </a:cubicBezTo>
                  <a:cubicBezTo>
                    <a:pt x="f26" y="f16"/>
                    <a:pt x="f24" y="f47"/>
                    <a:pt x="f23" y="f46"/>
                  </a:cubicBezTo>
                  <a:cubicBezTo>
                    <a:pt x="f43" y="f45"/>
                    <a:pt x="f21" y="f48"/>
                    <a:pt x="f21"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1" name="Freeform 33">
              <a:extLst>
                <a:ext uri="{FF2B5EF4-FFF2-40B4-BE49-F238E27FC236}">
                  <a16:creationId xmlns:a16="http://schemas.microsoft.com/office/drawing/2014/main" id="{595626F5-7FD6-AEB1-DCB4-4CCE3B063079}"/>
                </a:ext>
              </a:extLst>
            </p:cNvPr>
            <p:cNvSpPr/>
            <p:nvPr/>
          </p:nvSpPr>
          <p:spPr>
            <a:xfrm>
              <a:off x="2997037"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8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8" y="f35"/>
                  </a:cubicBezTo>
                  <a:cubicBezTo>
                    <a:pt x="f16" y="f35"/>
                    <a:pt x="f14" y="f36"/>
                    <a:pt x="f32" y="f36"/>
                  </a:cubicBezTo>
                  <a:cubicBezTo>
                    <a:pt x="f13" y="f37"/>
                    <a:pt x="f3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8"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2" name="Freeform 34">
              <a:extLst>
                <a:ext uri="{FF2B5EF4-FFF2-40B4-BE49-F238E27FC236}">
                  <a16:creationId xmlns:a16="http://schemas.microsoft.com/office/drawing/2014/main" id="{7316E7CA-2FCA-1B91-6D4F-E5ABD250BDE3}"/>
                </a:ext>
              </a:extLst>
            </p:cNvPr>
            <p:cNvSpPr/>
            <p:nvPr/>
          </p:nvSpPr>
          <p:spPr>
            <a:xfrm>
              <a:off x="3094640"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1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34" y="f35"/>
                    <a:pt x="f34" y="f35"/>
                  </a:cubicBezTo>
                  <a:cubicBezTo>
                    <a:pt x="f34" y="f30"/>
                    <a:pt x="f34" y="f30"/>
                    <a:pt x="f34"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3" name="Freeform 35">
              <a:extLst>
                <a:ext uri="{FF2B5EF4-FFF2-40B4-BE49-F238E27FC236}">
                  <a16:creationId xmlns:a16="http://schemas.microsoft.com/office/drawing/2014/main" id="{520E78B9-A743-8C8C-3CC6-3EA949B3CEBF}"/>
                </a:ext>
              </a:extLst>
            </p:cNvPr>
            <p:cNvSpPr/>
            <p:nvPr/>
          </p:nvSpPr>
          <p:spPr>
            <a:xfrm>
              <a:off x="316260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6"/>
                <a:gd name="f15" fmla="val 15"/>
                <a:gd name="f16" fmla="val 14"/>
                <a:gd name="f17" fmla="val 12"/>
                <a:gd name="f18" fmla="val 11"/>
                <a:gd name="f19" fmla="val 10"/>
                <a:gd name="f20" fmla="val 9"/>
                <a:gd name="f21" fmla="val 8"/>
                <a:gd name="f22" fmla="val 7"/>
                <a:gd name="f23" fmla="val 52"/>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7"/>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7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2"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14" y="f29"/>
                    <a:pt x="f14" y="f29"/>
                  </a:cubicBezTo>
                  <a:cubicBezTo>
                    <a:pt x="f37"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4" name="Freeform 36">
              <a:extLst>
                <a:ext uri="{FF2B5EF4-FFF2-40B4-BE49-F238E27FC236}">
                  <a16:creationId xmlns:a16="http://schemas.microsoft.com/office/drawing/2014/main" id="{C5FA3DC7-B8B2-D1C1-A1F2-27D6783A4063}"/>
                </a:ext>
              </a:extLst>
            </p:cNvPr>
            <p:cNvSpPr/>
            <p:nvPr/>
          </p:nvSpPr>
          <p:spPr>
            <a:xfrm>
              <a:off x="3232321"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5" name="Freeform 37">
              <a:extLst>
                <a:ext uri="{FF2B5EF4-FFF2-40B4-BE49-F238E27FC236}">
                  <a16:creationId xmlns:a16="http://schemas.microsoft.com/office/drawing/2014/main" id="{328A113C-DE0A-24A7-29FA-FEF070024902}"/>
                </a:ext>
              </a:extLst>
            </p:cNvPr>
            <p:cNvSpPr/>
            <p:nvPr/>
          </p:nvSpPr>
          <p:spPr>
            <a:xfrm>
              <a:off x="3335145" y="6088166"/>
              <a:ext cx="59253"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7"/>
                <a:gd name="f13" fmla="val 18"/>
                <a:gd name="f14" fmla="val 17"/>
                <a:gd name="f15" fmla="val 15"/>
                <a:gd name="f16" fmla="val 13"/>
                <a:gd name="f17" fmla="val 11"/>
                <a:gd name="f18" fmla="val 10"/>
                <a:gd name="f19" fmla="val 9"/>
                <a:gd name="f20" fmla="val 14"/>
                <a:gd name="f21" fmla="val 4"/>
                <a:gd name="f22" fmla="val 3"/>
                <a:gd name="f23" fmla="val 2"/>
                <a:gd name="f24" fmla="val 1"/>
                <a:gd name="f25" fmla="val 12"/>
                <a:gd name="f26" fmla="val 16"/>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9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7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1" y="f12"/>
                  </a:cubicBezTo>
                  <a:cubicBezTo>
                    <a:pt x="f13" y="f12"/>
                    <a:pt x="f14" y="f12"/>
                    <a:pt x="f15" y="f12"/>
                  </a:cubicBezTo>
                  <a:cubicBezTo>
                    <a:pt x="f16" y="f12"/>
                    <a:pt x="f17" y="f9"/>
                    <a:pt x="f18" y="f19"/>
                  </a:cubicBezTo>
                  <a:cubicBezTo>
                    <a:pt x="f9" y="f17"/>
                    <a:pt x="f9" y="f20"/>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1"/>
                    <a:pt x="f9" y="f21"/>
                    <a:pt x="f9" y="f21"/>
                  </a:cubicBezTo>
                  <a:cubicBezTo>
                    <a:pt x="f9" y="f22"/>
                    <a:pt x="f19" y="f22"/>
                    <a:pt x="f19" y="f23"/>
                  </a:cubicBezTo>
                  <a:cubicBezTo>
                    <a:pt x="f18" y="f23"/>
                    <a:pt x="f17" y="f24"/>
                    <a:pt x="f17" y="f24"/>
                  </a:cubicBezTo>
                  <a:cubicBezTo>
                    <a:pt x="f25" y="f5"/>
                    <a:pt x="f16" y="f5"/>
                    <a:pt x="f20" y="f5"/>
                  </a:cubicBezTo>
                  <a:cubicBezTo>
                    <a:pt x="f15" y="f5"/>
                    <a:pt x="f26" y="f5"/>
                    <a:pt x="f14" y="f5"/>
                  </a:cubicBezTo>
                  <a:cubicBezTo>
                    <a:pt x="f13" y="f5"/>
                    <a:pt x="f11" y="f5"/>
                    <a:pt x="f10" y="f5"/>
                  </a:cubicBezTo>
                  <a:cubicBezTo>
                    <a:pt x="f8" y="f5"/>
                    <a:pt x="f27"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6" name="Freeform 38">
              <a:extLst>
                <a:ext uri="{FF2B5EF4-FFF2-40B4-BE49-F238E27FC236}">
                  <a16:creationId xmlns:a16="http://schemas.microsoft.com/office/drawing/2014/main" id="{70EB28D9-08C2-01B4-F094-09ACF227DD4B}"/>
                </a:ext>
              </a:extLst>
            </p:cNvPr>
            <p:cNvSpPr/>
            <p:nvPr/>
          </p:nvSpPr>
          <p:spPr>
            <a:xfrm>
              <a:off x="3450168"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7" name="Freeform 39">
              <a:extLst>
                <a:ext uri="{FF2B5EF4-FFF2-40B4-BE49-F238E27FC236}">
                  <a16:creationId xmlns:a16="http://schemas.microsoft.com/office/drawing/2014/main" id="{3D03EDF6-7EAF-73E9-19B6-9F171AB70F89}"/>
                </a:ext>
              </a:extLst>
            </p:cNvPr>
            <p:cNvSpPr/>
            <p:nvPr/>
          </p:nvSpPr>
          <p:spPr>
            <a:xfrm>
              <a:off x="3528596"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8" name="Freeform 40">
              <a:extLst>
                <a:ext uri="{FF2B5EF4-FFF2-40B4-BE49-F238E27FC236}">
                  <a16:creationId xmlns:a16="http://schemas.microsoft.com/office/drawing/2014/main" id="{A006D30B-0456-0DF4-CA0A-C3768DB66DF4}"/>
                </a:ext>
              </a:extLst>
            </p:cNvPr>
            <p:cNvSpPr/>
            <p:nvPr/>
          </p:nvSpPr>
          <p:spPr>
            <a:xfrm>
              <a:off x="3626199"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9" name="Freeform 41">
              <a:extLst>
                <a:ext uri="{FF2B5EF4-FFF2-40B4-BE49-F238E27FC236}">
                  <a16:creationId xmlns:a16="http://schemas.microsoft.com/office/drawing/2014/main" id="{4F1C9AD9-E423-E232-BFDC-C60220ADB12C}"/>
                </a:ext>
              </a:extLst>
            </p:cNvPr>
            <p:cNvSpPr/>
            <p:nvPr/>
          </p:nvSpPr>
          <p:spPr>
            <a:xfrm>
              <a:off x="3770848" y="6088166"/>
              <a:ext cx="81911" cy="101132"/>
            </a:xfrm>
            <a:custGeom>
              <a:avLst/>
              <a:gdLst>
                <a:gd name="f0" fmla="val 10800000"/>
                <a:gd name="f1" fmla="val 5400000"/>
                <a:gd name="f2" fmla="val 180"/>
                <a:gd name="f3" fmla="val w"/>
                <a:gd name="f4" fmla="val h"/>
                <a:gd name="f5" fmla="val 0"/>
                <a:gd name="f6" fmla="val 32"/>
                <a:gd name="f7" fmla="val 40"/>
                <a:gd name="f8" fmla="val 24"/>
                <a:gd name="f9" fmla="val 39"/>
                <a:gd name="f10" fmla="val 35"/>
                <a:gd name="f11" fmla="val 23"/>
                <a:gd name="f12" fmla="val 36"/>
                <a:gd name="f13" fmla="val 37"/>
                <a:gd name="f14" fmla="val 22"/>
                <a:gd name="f15" fmla="val 21"/>
                <a:gd name="f16" fmla="val 38"/>
                <a:gd name="f17" fmla="val 20"/>
                <a:gd name="f18" fmla="val 19"/>
                <a:gd name="f19" fmla="val 18"/>
                <a:gd name="f20" fmla="val 17"/>
                <a:gd name="f21" fmla="val 16"/>
                <a:gd name="f22" fmla="val 15"/>
                <a:gd name="f23" fmla="val 14"/>
                <a:gd name="f24" fmla="val 12"/>
                <a:gd name="f25" fmla="val 11"/>
                <a:gd name="f26" fmla="val 9"/>
                <a:gd name="f27" fmla="val 7"/>
                <a:gd name="f28" fmla="val 6"/>
                <a:gd name="f29" fmla="val 5"/>
                <a:gd name="f30" fmla="val 3"/>
                <a:gd name="f31" fmla="val 2"/>
                <a:gd name="f32" fmla="val 34"/>
                <a:gd name="f33" fmla="val 33"/>
                <a:gd name="f34" fmla="val 1"/>
                <a:gd name="f35" fmla="val 31"/>
                <a:gd name="f36" fmla="val 29"/>
                <a:gd name="f37" fmla="val 27"/>
                <a:gd name="f38" fmla="val 8"/>
                <a:gd name="f39" fmla="val 10"/>
                <a:gd name="f40" fmla="val 13"/>
                <a:gd name="f41" fmla="val 4"/>
                <a:gd name="f42" fmla="val 25"/>
                <a:gd name="f43" fmla="val 26"/>
                <a:gd name="f44" fmla="val 28"/>
                <a:gd name="f45" fmla="val 30"/>
                <a:gd name="f46" fmla="+- 0 0 -90"/>
                <a:gd name="f47" fmla="*/ f3 1 32"/>
                <a:gd name="f48" fmla="*/ f4 1 40"/>
                <a:gd name="f49" fmla="+- f7 0 f5"/>
                <a:gd name="f50" fmla="+- f6 0 f5"/>
                <a:gd name="f51" fmla="*/ f46 f0 1"/>
                <a:gd name="f52" fmla="*/ f50 1 32"/>
                <a:gd name="f53" fmla="*/ f49 1 40"/>
                <a:gd name="f54" fmla="*/ 24 f50 1"/>
                <a:gd name="f55" fmla="*/ 39 f49 1"/>
                <a:gd name="f56" fmla="*/ 35 f49 1"/>
                <a:gd name="f57" fmla="*/ 22 f50 1"/>
                <a:gd name="f58" fmla="*/ 37 f49 1"/>
                <a:gd name="f59" fmla="*/ 20 f50 1"/>
                <a:gd name="f60" fmla="*/ 38 f49 1"/>
                <a:gd name="f61" fmla="*/ 17 f50 1"/>
                <a:gd name="f62" fmla="*/ 14 f50 1"/>
                <a:gd name="f63" fmla="*/ 40 f49 1"/>
                <a:gd name="f64" fmla="*/ 9 f50 1"/>
                <a:gd name="f65" fmla="*/ 5 f50 1"/>
                <a:gd name="f66" fmla="*/ 2 f50 1"/>
                <a:gd name="f67" fmla="*/ 33 f49 1"/>
                <a:gd name="f68" fmla="*/ 0 f50 1"/>
                <a:gd name="f69" fmla="*/ 27 f49 1"/>
                <a:gd name="f70" fmla="*/ 21 f49 1"/>
                <a:gd name="f71" fmla="*/ 17 f49 1"/>
                <a:gd name="f72" fmla="*/ 10 f50 1"/>
                <a:gd name="f73" fmla="*/ 15 f49 1"/>
                <a:gd name="f74" fmla="*/ 16 f50 1"/>
                <a:gd name="f75" fmla="*/ 14 f49 1"/>
                <a:gd name="f76" fmla="*/ 21 f50 1"/>
                <a:gd name="f77" fmla="*/ 16 f49 1"/>
                <a:gd name="f78" fmla="*/ 13 f49 1"/>
                <a:gd name="f79" fmla="*/ 8 f49 1"/>
                <a:gd name="f80" fmla="*/ 6 f49 1"/>
                <a:gd name="f81" fmla="*/ 12 f50 1"/>
                <a:gd name="f82" fmla="*/ 7 f49 1"/>
                <a:gd name="f83" fmla="*/ 7 f50 1"/>
                <a:gd name="f84" fmla="*/ 9 f49 1"/>
                <a:gd name="f85" fmla="*/ 4 f50 1"/>
                <a:gd name="f86" fmla="*/ 3 f49 1"/>
                <a:gd name="f87" fmla="*/ 0 f49 1"/>
                <a:gd name="f88" fmla="*/ 23 f50 1"/>
                <a:gd name="f89" fmla="*/ 28 f50 1"/>
                <a:gd name="f90" fmla="*/ 31 f50 1"/>
                <a:gd name="f91" fmla="*/ 32 f50 1"/>
                <a:gd name="f92" fmla="*/ 12 f49 1"/>
                <a:gd name="f93" fmla="*/ 22 f49 1"/>
                <a:gd name="f94" fmla="*/ 18 f50 1"/>
                <a:gd name="f95" fmla="*/ 8 f50 1"/>
                <a:gd name="f96" fmla="*/ 26 f49 1"/>
                <a:gd name="f97" fmla="*/ 29 f49 1"/>
                <a:gd name="f98" fmla="*/ 31 f49 1"/>
                <a:gd name="f99" fmla="*/ 32 f49 1"/>
                <a:gd name="f100" fmla="*/ 15 f50 1"/>
                <a:gd name="f101" fmla="*/ 30 f49 1"/>
                <a:gd name="f102" fmla="*/ 28 f49 1"/>
                <a:gd name="f103" fmla="*/ f51 1 f2"/>
                <a:gd name="f104" fmla="*/ f54 1 32"/>
                <a:gd name="f105" fmla="*/ f55 1 40"/>
                <a:gd name="f106" fmla="*/ f56 1 40"/>
                <a:gd name="f107" fmla="*/ f57 1 32"/>
                <a:gd name="f108" fmla="*/ f58 1 40"/>
                <a:gd name="f109" fmla="*/ f59 1 32"/>
                <a:gd name="f110" fmla="*/ f60 1 40"/>
                <a:gd name="f111" fmla="*/ f61 1 32"/>
                <a:gd name="f112" fmla="*/ f62 1 32"/>
                <a:gd name="f113" fmla="*/ f63 1 40"/>
                <a:gd name="f114" fmla="*/ f64 1 32"/>
                <a:gd name="f115" fmla="*/ f65 1 32"/>
                <a:gd name="f116" fmla="*/ f66 1 32"/>
                <a:gd name="f117" fmla="*/ f67 1 40"/>
                <a:gd name="f118" fmla="*/ f68 1 32"/>
                <a:gd name="f119" fmla="*/ f69 1 40"/>
                <a:gd name="f120" fmla="*/ f70 1 40"/>
                <a:gd name="f121" fmla="*/ f71 1 40"/>
                <a:gd name="f122" fmla="*/ f72 1 32"/>
                <a:gd name="f123" fmla="*/ f73 1 40"/>
                <a:gd name="f124" fmla="*/ f74 1 32"/>
                <a:gd name="f125" fmla="*/ f75 1 40"/>
                <a:gd name="f126" fmla="*/ f76 1 32"/>
                <a:gd name="f127" fmla="*/ f77 1 40"/>
                <a:gd name="f128" fmla="*/ f78 1 40"/>
                <a:gd name="f129" fmla="*/ f79 1 40"/>
                <a:gd name="f130" fmla="*/ f80 1 40"/>
                <a:gd name="f131" fmla="*/ f81 1 32"/>
                <a:gd name="f132" fmla="*/ f82 1 40"/>
                <a:gd name="f133" fmla="*/ f83 1 32"/>
                <a:gd name="f134" fmla="*/ f84 1 40"/>
                <a:gd name="f135" fmla="*/ f85 1 32"/>
                <a:gd name="f136" fmla="*/ f86 1 40"/>
                <a:gd name="f137" fmla="*/ f87 1 40"/>
                <a:gd name="f138" fmla="*/ f88 1 32"/>
                <a:gd name="f139" fmla="*/ f89 1 32"/>
                <a:gd name="f140" fmla="*/ f90 1 32"/>
                <a:gd name="f141" fmla="*/ f91 1 32"/>
                <a:gd name="f142" fmla="*/ f92 1 40"/>
                <a:gd name="f143" fmla="*/ f93 1 40"/>
                <a:gd name="f144" fmla="*/ f94 1 32"/>
                <a:gd name="f145" fmla="*/ f95 1 32"/>
                <a:gd name="f146" fmla="*/ f96 1 40"/>
                <a:gd name="f147" fmla="*/ f97 1 40"/>
                <a:gd name="f148" fmla="*/ f98 1 40"/>
                <a:gd name="f149" fmla="*/ f99 1 40"/>
                <a:gd name="f150" fmla="*/ f100 1 32"/>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3"/>
                <a:gd name="f165" fmla="*/ f111 1 f52"/>
                <a:gd name="f166" fmla="*/ f112 1 f52"/>
                <a:gd name="f167" fmla="*/ f113 1 f53"/>
                <a:gd name="f168" fmla="*/ f114 1 f52"/>
                <a:gd name="f169" fmla="*/ f115 1 f52"/>
                <a:gd name="f170" fmla="*/ f116 1 f52"/>
                <a:gd name="f171" fmla="*/ f117 1 f53"/>
                <a:gd name="f172" fmla="*/ f118 1 f52"/>
                <a:gd name="f173" fmla="*/ f119 1 f53"/>
                <a:gd name="f174" fmla="*/ f120 1 f53"/>
                <a:gd name="f175" fmla="*/ f121 1 f53"/>
                <a:gd name="f176" fmla="*/ f122 1 f52"/>
                <a:gd name="f177" fmla="*/ f123 1 f53"/>
                <a:gd name="f178" fmla="*/ f124 1 f52"/>
                <a:gd name="f179" fmla="*/ f125 1 f53"/>
                <a:gd name="f180" fmla="*/ f126 1 f52"/>
                <a:gd name="f181" fmla="*/ f127 1 f53"/>
                <a:gd name="f182" fmla="*/ f128 1 f53"/>
                <a:gd name="f183" fmla="*/ f129 1 f53"/>
                <a:gd name="f184" fmla="*/ f130 1 f53"/>
                <a:gd name="f185" fmla="*/ f131 1 f52"/>
                <a:gd name="f186" fmla="*/ f132 1 f53"/>
                <a:gd name="f187" fmla="*/ f133 1 f52"/>
                <a:gd name="f188" fmla="*/ f134 1 f53"/>
                <a:gd name="f189" fmla="*/ f135 1 f52"/>
                <a:gd name="f190" fmla="*/ f136 1 f53"/>
                <a:gd name="f191" fmla="*/ f137 1 f53"/>
                <a:gd name="f192" fmla="*/ f138 1 f52"/>
                <a:gd name="f193" fmla="*/ f139 1 f52"/>
                <a:gd name="f194" fmla="*/ f140 1 f52"/>
                <a:gd name="f195" fmla="*/ f141 1 f52"/>
                <a:gd name="f196" fmla="*/ f142 1 f53"/>
                <a:gd name="f197" fmla="*/ f143 1 f53"/>
                <a:gd name="f198" fmla="*/ f144 1 f52"/>
                <a:gd name="f199" fmla="*/ f145 1 f52"/>
                <a:gd name="f200" fmla="*/ f146 1 f53"/>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8 1"/>
                <a:gd name="f218" fmla="*/ f165 f47 1"/>
                <a:gd name="f219" fmla="*/ f166 f47 1"/>
                <a:gd name="f220" fmla="*/ f167 f48 1"/>
                <a:gd name="f221" fmla="*/ f168 f47 1"/>
                <a:gd name="f222" fmla="*/ f169 f47 1"/>
                <a:gd name="f223" fmla="*/ f170 f47 1"/>
                <a:gd name="f224" fmla="*/ f171 f48 1"/>
                <a:gd name="f225" fmla="*/ f172 f47 1"/>
                <a:gd name="f226" fmla="*/ f173 f48 1"/>
                <a:gd name="f227" fmla="*/ f174 f48 1"/>
                <a:gd name="f228" fmla="*/ f175 f48 1"/>
                <a:gd name="f229" fmla="*/ f176 f47 1"/>
                <a:gd name="f230" fmla="*/ f177 f48 1"/>
                <a:gd name="f231" fmla="*/ f178 f47 1"/>
                <a:gd name="f232" fmla="*/ f179 f48 1"/>
                <a:gd name="f233" fmla="*/ f180 f47 1"/>
                <a:gd name="f234" fmla="*/ f181 f48 1"/>
                <a:gd name="f235" fmla="*/ f182 f48 1"/>
                <a:gd name="f236" fmla="*/ f183 f48 1"/>
                <a:gd name="f237" fmla="*/ f184 f48 1"/>
                <a:gd name="f238" fmla="*/ f185 f47 1"/>
                <a:gd name="f239" fmla="*/ f186 f48 1"/>
                <a:gd name="f240" fmla="*/ f187 f47 1"/>
                <a:gd name="f241" fmla="*/ f188 f48 1"/>
                <a:gd name="f242" fmla="*/ f189 f47 1"/>
                <a:gd name="f243" fmla="*/ f190 f48 1"/>
                <a:gd name="f244" fmla="*/ f191 f48 1"/>
                <a:gd name="f245" fmla="*/ f192 f47 1"/>
                <a:gd name="f246" fmla="*/ f193 f47 1"/>
                <a:gd name="f247" fmla="*/ f194 f47 1"/>
                <a:gd name="f248" fmla="*/ f195 f47 1"/>
                <a:gd name="f249" fmla="*/ f196 f48 1"/>
                <a:gd name="f250" fmla="*/ f197 f48 1"/>
                <a:gd name="f251" fmla="*/ f198 f47 1"/>
                <a:gd name="f252" fmla="*/ f199 f47 1"/>
                <a:gd name="f253" fmla="*/ f200 f48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7"/>
                </a:cxn>
                <a:cxn ang="f157">
                  <a:pos x="f218" y="f212"/>
                </a:cxn>
                <a:cxn ang="f157">
                  <a:pos x="f219" y="f220"/>
                </a:cxn>
                <a:cxn ang="f157">
                  <a:pos x="f221" y="f212"/>
                </a:cxn>
                <a:cxn ang="f157">
                  <a:pos x="f222" y="f215"/>
                </a:cxn>
                <a:cxn ang="f157">
                  <a:pos x="f223" y="f224"/>
                </a:cxn>
                <a:cxn ang="f157">
                  <a:pos x="f225" y="f226"/>
                </a:cxn>
                <a:cxn ang="f157">
                  <a:pos x="f223" y="f227"/>
                </a:cxn>
                <a:cxn ang="f157">
                  <a:pos x="f222" y="f228"/>
                </a:cxn>
                <a:cxn ang="f157">
                  <a:pos x="f229" y="f230"/>
                </a:cxn>
                <a:cxn ang="f157">
                  <a:pos x="f231" y="f232"/>
                </a:cxn>
                <a:cxn ang="f157">
                  <a:pos x="f233" y="f230"/>
                </a:cxn>
                <a:cxn ang="f157">
                  <a:pos x="f211" y="f234"/>
                </a:cxn>
                <a:cxn ang="f157">
                  <a:pos x="f211" y="f235"/>
                </a:cxn>
                <a:cxn ang="f157">
                  <a:pos x="f214" y="f236"/>
                </a:cxn>
                <a:cxn ang="f157">
                  <a:pos x="f218" y="f237"/>
                </a:cxn>
                <a:cxn ang="f157">
                  <a:pos x="f238" y="f239"/>
                </a:cxn>
                <a:cxn ang="f157">
                  <a:pos x="f240" y="f241"/>
                </a:cxn>
                <a:cxn ang="f157">
                  <a:pos x="f242" y="f243"/>
                </a:cxn>
                <a:cxn ang="f157">
                  <a:pos x="f229" y="f244"/>
                </a:cxn>
                <a:cxn ang="f157">
                  <a:pos x="f218" y="f244"/>
                </a:cxn>
                <a:cxn ang="f157">
                  <a:pos x="f245" y="f244"/>
                </a:cxn>
                <a:cxn ang="f157">
                  <a:pos x="f246" y="f243"/>
                </a:cxn>
                <a:cxn ang="f157">
                  <a:pos x="f247" y="f239"/>
                </a:cxn>
                <a:cxn ang="f157">
                  <a:pos x="f248" y="f249"/>
                </a:cxn>
                <a:cxn ang="f157">
                  <a:pos x="f248" y="f212"/>
                </a:cxn>
                <a:cxn ang="f157">
                  <a:pos x="f211" y="f212"/>
                </a:cxn>
                <a:cxn ang="f157">
                  <a:pos x="f211" y="f250"/>
                </a:cxn>
                <a:cxn ang="f157">
                  <a:pos x="f214" y="f250"/>
                </a:cxn>
                <a:cxn ang="f157">
                  <a:pos x="f233" y="f227"/>
                </a:cxn>
                <a:cxn ang="f157">
                  <a:pos x="f251" y="f227"/>
                </a:cxn>
                <a:cxn ang="f157">
                  <a:pos x="f231" y="f227"/>
                </a:cxn>
                <a:cxn ang="f157">
                  <a:pos x="f229" y="f250"/>
                </a:cxn>
                <a:cxn ang="f157">
                  <a:pos x="f252" y="f253"/>
                </a:cxn>
                <a:cxn ang="f157">
                  <a:pos x="f252" y="f254"/>
                </a:cxn>
                <a:cxn ang="f157">
                  <a:pos x="f229" y="f255"/>
                </a:cxn>
                <a:cxn ang="f157">
                  <a:pos x="f238" y="f256"/>
                </a:cxn>
                <a:cxn ang="f157">
                  <a:pos x="f257" y="f224"/>
                </a:cxn>
                <a:cxn ang="f157">
                  <a:pos x="f251" y="f256"/>
                </a:cxn>
                <a:cxn ang="f157">
                  <a:pos x="f233" y="f255"/>
                </a:cxn>
                <a:cxn ang="f157">
                  <a:pos x="f245" y="f258"/>
                </a:cxn>
                <a:cxn ang="f157">
                  <a:pos x="f211" y="f259"/>
                </a:cxn>
                <a:cxn ang="f157">
                  <a:pos x="f211" y="f250"/>
                </a:cxn>
              </a:cxnLst>
              <a:rect l="f207" t="f210" r="f208" b="f209"/>
              <a:pathLst>
                <a:path w="32" h="40">
                  <a:moveTo>
                    <a:pt x="f8" y="f9"/>
                  </a:moveTo>
                  <a:cubicBezTo>
                    <a:pt x="f8" y="f10"/>
                    <a:pt x="f8" y="f10"/>
                    <a:pt x="f8" y="f10"/>
                  </a:cubicBezTo>
                  <a:cubicBezTo>
                    <a:pt x="f11" y="f12"/>
                    <a:pt x="f11" y="f13"/>
                    <a:pt x="f14" y="f13"/>
                  </a:cubicBezTo>
                  <a:cubicBezTo>
                    <a:pt x="f15" y="f13"/>
                    <a:pt x="f15" y="f16"/>
                    <a:pt x="f17" y="f16"/>
                  </a:cubicBezTo>
                  <a:cubicBezTo>
                    <a:pt x="f18" y="f9"/>
                    <a:pt x="f19" y="f9"/>
                    <a:pt x="f20" y="f9"/>
                  </a:cubicBezTo>
                  <a:cubicBezTo>
                    <a:pt x="f21" y="f9"/>
                    <a:pt x="f22" y="f7"/>
                    <a:pt x="f23" y="f7"/>
                  </a:cubicBezTo>
                  <a:cubicBezTo>
                    <a:pt x="f24" y="f7"/>
                    <a:pt x="f25" y="f9"/>
                    <a:pt x="f26" y="f9"/>
                  </a:cubicBezTo>
                  <a:cubicBezTo>
                    <a:pt x="f27" y="f16"/>
                    <a:pt x="f28" y="f16"/>
                    <a:pt x="f29" y="f13"/>
                  </a:cubicBezTo>
                  <a:cubicBezTo>
                    <a:pt x="f30" y="f12"/>
                    <a:pt x="f31" y="f32"/>
                    <a:pt x="f31" y="f33"/>
                  </a:cubicBezTo>
                  <a:cubicBezTo>
                    <a:pt x="f34" y="f35"/>
                    <a:pt x="f5" y="f36"/>
                    <a:pt x="f5" y="f37"/>
                  </a:cubicBezTo>
                  <a:cubicBezTo>
                    <a:pt x="f5" y="f8"/>
                    <a:pt x="f34" y="f11"/>
                    <a:pt x="f31" y="f15"/>
                  </a:cubicBezTo>
                  <a:cubicBezTo>
                    <a:pt x="f31" y="f17"/>
                    <a:pt x="f30" y="f19"/>
                    <a:pt x="f29" y="f20"/>
                  </a:cubicBezTo>
                  <a:cubicBezTo>
                    <a:pt x="f28" y="f21"/>
                    <a:pt x="f38" y="f22"/>
                    <a:pt x="f39" y="f22"/>
                  </a:cubicBezTo>
                  <a:cubicBezTo>
                    <a:pt x="f24" y="f23"/>
                    <a:pt x="f23" y="f23"/>
                    <a:pt x="f21" y="f23"/>
                  </a:cubicBezTo>
                  <a:cubicBezTo>
                    <a:pt x="f19" y="f23"/>
                    <a:pt x="f18" y="f23"/>
                    <a:pt x="f15" y="f22"/>
                  </a:cubicBezTo>
                  <a:cubicBezTo>
                    <a:pt x="f14" y="f22"/>
                    <a:pt x="f11" y="f22"/>
                    <a:pt x="f8" y="f21"/>
                  </a:cubicBezTo>
                  <a:cubicBezTo>
                    <a:pt x="f8" y="f40"/>
                    <a:pt x="f8" y="f40"/>
                    <a:pt x="f8" y="f40"/>
                  </a:cubicBezTo>
                  <a:cubicBezTo>
                    <a:pt x="f8" y="f25"/>
                    <a:pt x="f8" y="f26"/>
                    <a:pt x="f14" y="f38"/>
                  </a:cubicBezTo>
                  <a:cubicBezTo>
                    <a:pt x="f15" y="f27"/>
                    <a:pt x="f18" y="f28"/>
                    <a:pt x="f20" y="f28"/>
                  </a:cubicBezTo>
                  <a:cubicBezTo>
                    <a:pt x="f22" y="f28"/>
                    <a:pt x="f40" y="f28"/>
                    <a:pt x="f24" y="f27"/>
                  </a:cubicBezTo>
                  <a:cubicBezTo>
                    <a:pt x="f39" y="f27"/>
                    <a:pt x="f26" y="f38"/>
                    <a:pt x="f27" y="f26"/>
                  </a:cubicBezTo>
                  <a:cubicBezTo>
                    <a:pt x="f41" y="f30"/>
                    <a:pt x="f41" y="f30"/>
                    <a:pt x="f41" y="f30"/>
                  </a:cubicBezTo>
                  <a:cubicBezTo>
                    <a:pt x="f28" y="f31"/>
                    <a:pt x="f38" y="f34"/>
                    <a:pt x="f39" y="f5"/>
                  </a:cubicBezTo>
                  <a:cubicBezTo>
                    <a:pt x="f24" y="f5"/>
                    <a:pt x="f22" y="f5"/>
                    <a:pt x="f20" y="f5"/>
                  </a:cubicBezTo>
                  <a:cubicBezTo>
                    <a:pt x="f18" y="f5"/>
                    <a:pt x="f15" y="f5"/>
                    <a:pt x="f11" y="f5"/>
                  </a:cubicBezTo>
                  <a:cubicBezTo>
                    <a:pt x="f42" y="f34"/>
                    <a:pt x="f43" y="f31"/>
                    <a:pt x="f44" y="f30"/>
                  </a:cubicBezTo>
                  <a:cubicBezTo>
                    <a:pt x="f36" y="f41"/>
                    <a:pt x="f45" y="f29"/>
                    <a:pt x="f35" y="f27"/>
                  </a:cubicBezTo>
                  <a:cubicBezTo>
                    <a:pt x="f35" y="f38"/>
                    <a:pt x="f6" y="f39"/>
                    <a:pt x="f6" y="f24"/>
                  </a:cubicBezTo>
                  <a:cubicBezTo>
                    <a:pt x="f6" y="f9"/>
                    <a:pt x="f6" y="f9"/>
                    <a:pt x="f6" y="f9"/>
                  </a:cubicBezTo>
                  <a:lnTo>
                    <a:pt x="f8" y="f9"/>
                  </a:lnTo>
                  <a:close/>
                  <a:moveTo>
                    <a:pt x="f8" y="f14"/>
                  </a:moveTo>
                  <a:cubicBezTo>
                    <a:pt x="f8" y="f14"/>
                    <a:pt x="f11" y="f14"/>
                    <a:pt x="f14" y="f14"/>
                  </a:cubicBezTo>
                  <a:cubicBezTo>
                    <a:pt x="f14" y="f15"/>
                    <a:pt x="f15" y="f15"/>
                    <a:pt x="f15" y="f15"/>
                  </a:cubicBezTo>
                  <a:cubicBezTo>
                    <a:pt x="f17" y="f15"/>
                    <a:pt x="f18" y="f15"/>
                    <a:pt x="f19" y="f15"/>
                  </a:cubicBezTo>
                  <a:cubicBezTo>
                    <a:pt x="f20" y="f15"/>
                    <a:pt x="f20" y="f15"/>
                    <a:pt x="f21" y="f15"/>
                  </a:cubicBezTo>
                  <a:cubicBezTo>
                    <a:pt x="f40" y="f15"/>
                    <a:pt x="f25" y="f15"/>
                    <a:pt x="f39" y="f14"/>
                  </a:cubicBezTo>
                  <a:cubicBezTo>
                    <a:pt x="f38" y="f11"/>
                    <a:pt x="f38" y="f42"/>
                    <a:pt x="f38" y="f43"/>
                  </a:cubicBezTo>
                  <a:cubicBezTo>
                    <a:pt x="f38" y="f44"/>
                    <a:pt x="f38" y="f36"/>
                    <a:pt x="f38" y="f36"/>
                  </a:cubicBezTo>
                  <a:cubicBezTo>
                    <a:pt x="f26" y="f45"/>
                    <a:pt x="f26" y="f35"/>
                    <a:pt x="f39" y="f35"/>
                  </a:cubicBezTo>
                  <a:cubicBezTo>
                    <a:pt x="f39" y="f6"/>
                    <a:pt x="f25" y="f6"/>
                    <a:pt x="f24" y="f6"/>
                  </a:cubicBezTo>
                  <a:cubicBezTo>
                    <a:pt x="f40" y="f33"/>
                    <a:pt x="f23" y="f33"/>
                    <a:pt x="f22" y="f33"/>
                  </a:cubicBezTo>
                  <a:cubicBezTo>
                    <a:pt x="f21" y="f33"/>
                    <a:pt x="f20" y="f33"/>
                    <a:pt x="f19" y="f6"/>
                  </a:cubicBezTo>
                  <a:cubicBezTo>
                    <a:pt x="f18" y="f6"/>
                    <a:pt x="f17" y="f6"/>
                    <a:pt x="f15" y="f35"/>
                  </a:cubicBezTo>
                  <a:cubicBezTo>
                    <a:pt x="f15" y="f35"/>
                    <a:pt x="f14" y="f45"/>
                    <a:pt x="f11" y="f45"/>
                  </a:cubicBezTo>
                  <a:cubicBezTo>
                    <a:pt x="f11" y="f36"/>
                    <a:pt x="f8" y="f44"/>
                    <a:pt x="f8" y="f44"/>
                  </a:cubicBezTo>
                  <a:lnTo>
                    <a:pt x="f8" y="f14"/>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0" name="Freeform 42">
              <a:extLst>
                <a:ext uri="{FF2B5EF4-FFF2-40B4-BE49-F238E27FC236}">
                  <a16:creationId xmlns:a16="http://schemas.microsoft.com/office/drawing/2014/main" id="{638422FA-9B54-052A-3A00-59051C1A7A44}"/>
                </a:ext>
              </a:extLst>
            </p:cNvPr>
            <p:cNvSpPr/>
            <p:nvPr/>
          </p:nvSpPr>
          <p:spPr>
            <a:xfrm>
              <a:off x="3875419"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2"/>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25"/>
                <a:gd name="f28" fmla="val 26"/>
                <a:gd name="f29" fmla="val 28"/>
                <a:gd name="f30" fmla="val 29"/>
                <a:gd name="f31" fmla="val 5"/>
                <a:gd name="f32" fmla="val 30"/>
                <a:gd name="f33" fmla="+- 0 0 -90"/>
                <a:gd name="f34" fmla="*/ f3 1 31"/>
                <a:gd name="f35" fmla="*/ f4 1 39"/>
                <a:gd name="f36" fmla="+- f7 0 f5"/>
                <a:gd name="f37" fmla="+- f6 0 f5"/>
                <a:gd name="f38" fmla="*/ f33 f0 1"/>
                <a:gd name="f39" fmla="*/ f37 1 31"/>
                <a:gd name="f40" fmla="*/ f36 1 39"/>
                <a:gd name="f41" fmla="*/ 23 f37 1"/>
                <a:gd name="f42" fmla="*/ 39 f36 1"/>
                <a:gd name="f43" fmla="*/ 17 f36 1"/>
                <a:gd name="f44" fmla="*/ 22 f37 1"/>
                <a:gd name="f45" fmla="*/ 9 f36 1"/>
                <a:gd name="f46" fmla="*/ 15 f37 1"/>
                <a:gd name="f47" fmla="*/ 7 f36 1"/>
                <a:gd name="f48" fmla="*/ 12 f37 1"/>
                <a:gd name="f49" fmla="*/ 10 f37 1"/>
                <a:gd name="f50" fmla="*/ 8 f37 1"/>
                <a:gd name="f51" fmla="*/ 12 f36 1"/>
                <a:gd name="f52" fmla="*/ 16 f36 1"/>
                <a:gd name="f53" fmla="*/ 0 f37 1"/>
                <a:gd name="f54" fmla="*/ 0 f36 1"/>
                <a:gd name="f55" fmla="*/ 4 f36 1"/>
                <a:gd name="f56" fmla="*/ 9 f37 1"/>
                <a:gd name="f57" fmla="*/ 2 f36 1"/>
                <a:gd name="f58" fmla="*/ 1 f36 1"/>
                <a:gd name="f59" fmla="*/ 14 f37 1"/>
                <a:gd name="f60" fmla="*/ 17 f37 1"/>
                <a:gd name="f61" fmla="*/ 28 f37 1"/>
                <a:gd name="f62" fmla="*/ 30 f37 1"/>
                <a:gd name="f63" fmla="*/ 31 f37 1"/>
                <a:gd name="f64" fmla="*/ f38 1 f2"/>
                <a:gd name="f65" fmla="*/ f41 1 31"/>
                <a:gd name="f66" fmla="*/ f42 1 39"/>
                <a:gd name="f67" fmla="*/ f43 1 39"/>
                <a:gd name="f68" fmla="*/ f44 1 31"/>
                <a:gd name="f69" fmla="*/ f45 1 39"/>
                <a:gd name="f70" fmla="*/ f46 1 31"/>
                <a:gd name="f71" fmla="*/ f47 1 39"/>
                <a:gd name="f72" fmla="*/ f48 1 31"/>
                <a:gd name="f73" fmla="*/ f49 1 31"/>
                <a:gd name="f74" fmla="*/ f50 1 31"/>
                <a:gd name="f75" fmla="*/ f51 1 39"/>
                <a:gd name="f76" fmla="*/ f52 1 39"/>
                <a:gd name="f77" fmla="*/ f53 1 31"/>
                <a:gd name="f78" fmla="*/ f54 1 39"/>
                <a:gd name="f79" fmla="*/ f55 1 39"/>
                <a:gd name="f80" fmla="*/ f56 1 31"/>
                <a:gd name="f81" fmla="*/ f57 1 39"/>
                <a:gd name="f82" fmla="*/ f58 1 39"/>
                <a:gd name="f83" fmla="*/ f59 1 31"/>
                <a:gd name="f84" fmla="*/ f60 1 31"/>
                <a:gd name="f85" fmla="*/ f61 1 31"/>
                <a:gd name="f86" fmla="*/ f62 1 31"/>
                <a:gd name="f87" fmla="*/ f63 1 31"/>
                <a:gd name="f88" fmla="*/ 0 1 f39"/>
                <a:gd name="f89" fmla="*/ f6 1 f39"/>
                <a:gd name="f90" fmla="*/ 0 1 f40"/>
                <a:gd name="f91" fmla="*/ f7 1 f40"/>
                <a:gd name="f92" fmla="+- f64 0 f1"/>
                <a:gd name="f93" fmla="*/ f65 1 f39"/>
                <a:gd name="f94" fmla="*/ f66 1 f40"/>
                <a:gd name="f95" fmla="*/ f67 1 f40"/>
                <a:gd name="f96" fmla="*/ f68 1 f39"/>
                <a:gd name="f97" fmla="*/ f69 1 f40"/>
                <a:gd name="f98" fmla="*/ f70 1 f39"/>
                <a:gd name="f99" fmla="*/ f71 1 f40"/>
                <a:gd name="f100" fmla="*/ f72 1 f39"/>
                <a:gd name="f101" fmla="*/ f73 1 f39"/>
                <a:gd name="f102" fmla="*/ f74 1 f39"/>
                <a:gd name="f103" fmla="*/ f75 1 f40"/>
                <a:gd name="f104" fmla="*/ f76 1 f40"/>
                <a:gd name="f105" fmla="*/ f77 1 f39"/>
                <a:gd name="f106" fmla="*/ f78 1 f40"/>
                <a:gd name="f107" fmla="*/ f79 1 f40"/>
                <a:gd name="f108" fmla="*/ f80 1 f39"/>
                <a:gd name="f109" fmla="*/ f81 1 f40"/>
                <a:gd name="f110" fmla="*/ f82 1 f40"/>
                <a:gd name="f111" fmla="*/ f83 1 f39"/>
                <a:gd name="f112" fmla="*/ f84 1 f39"/>
                <a:gd name="f113" fmla="*/ f85 1 f39"/>
                <a:gd name="f114" fmla="*/ f86 1 f39"/>
                <a:gd name="f115" fmla="*/ f87 1 f39"/>
                <a:gd name="f116" fmla="*/ f88 f34 1"/>
                <a:gd name="f117" fmla="*/ f89 f34 1"/>
                <a:gd name="f118" fmla="*/ f91 f35 1"/>
                <a:gd name="f119" fmla="*/ f90 f35 1"/>
                <a:gd name="f120" fmla="*/ f93 f34 1"/>
                <a:gd name="f121" fmla="*/ f94 f35 1"/>
                <a:gd name="f122" fmla="*/ f95 f35 1"/>
                <a:gd name="f123" fmla="*/ f96 f34 1"/>
                <a:gd name="f124" fmla="*/ f97 f35 1"/>
                <a:gd name="f125" fmla="*/ f98 f34 1"/>
                <a:gd name="f126" fmla="*/ f99 f35 1"/>
                <a:gd name="f127" fmla="*/ f100 f34 1"/>
                <a:gd name="f128" fmla="*/ f101 f34 1"/>
                <a:gd name="f129" fmla="*/ f102 f34 1"/>
                <a:gd name="f130" fmla="*/ f103 f35 1"/>
                <a:gd name="f131" fmla="*/ f104 f35 1"/>
                <a:gd name="f132" fmla="*/ f105 f34 1"/>
                <a:gd name="f133" fmla="*/ f106 f35 1"/>
                <a:gd name="f134" fmla="*/ f107 f35 1"/>
                <a:gd name="f135" fmla="*/ f108 f34 1"/>
                <a:gd name="f136" fmla="*/ f109 f35 1"/>
                <a:gd name="f137" fmla="*/ f110 f35 1"/>
                <a:gd name="f138" fmla="*/ f111 f34 1"/>
                <a:gd name="f139" fmla="*/ f112 f34 1"/>
                <a:gd name="f140" fmla="*/ f113 f34 1"/>
                <a:gd name="f141" fmla="*/ f114 f34 1"/>
                <a:gd name="f142" fmla="*/ f115 f34 1"/>
              </a:gdLst>
              <a:ahLst/>
              <a:cxnLst>
                <a:cxn ang="3cd4">
                  <a:pos x="hc" y="t"/>
                </a:cxn>
                <a:cxn ang="0">
                  <a:pos x="r" y="vc"/>
                </a:cxn>
                <a:cxn ang="cd4">
                  <a:pos x="hc" y="b"/>
                </a:cxn>
                <a:cxn ang="cd2">
                  <a:pos x="l" y="vc"/>
                </a:cxn>
                <a:cxn ang="f92">
                  <a:pos x="f120" y="f121"/>
                </a:cxn>
                <a:cxn ang="f92">
                  <a:pos x="f120" y="f122"/>
                </a:cxn>
                <a:cxn ang="f92">
                  <a:pos x="f123" y="f124"/>
                </a:cxn>
                <a:cxn ang="f92">
                  <a:pos x="f125" y="f126"/>
                </a:cxn>
                <a:cxn ang="f92">
                  <a:pos x="f127" y="f126"/>
                </a:cxn>
                <a:cxn ang="f92">
                  <a:pos x="f128" y="f124"/>
                </a:cxn>
                <a:cxn ang="f92">
                  <a:pos x="f129" y="f130"/>
                </a:cxn>
                <a:cxn ang="f92">
                  <a:pos x="f129" y="f131"/>
                </a:cxn>
                <a:cxn ang="f92">
                  <a:pos x="f129" y="f121"/>
                </a:cxn>
                <a:cxn ang="f92">
                  <a:pos x="f132" y="f121"/>
                </a:cxn>
                <a:cxn ang="f92">
                  <a:pos x="f132" y="f133"/>
                </a:cxn>
                <a:cxn ang="f92">
                  <a:pos x="f129" y="f133"/>
                </a:cxn>
                <a:cxn ang="f92">
                  <a:pos x="f129" y="f134"/>
                </a:cxn>
                <a:cxn ang="f92">
                  <a:pos x="f135" y="f136"/>
                </a:cxn>
                <a:cxn ang="f92">
                  <a:pos x="f127" y="f137"/>
                </a:cxn>
                <a:cxn ang="f92">
                  <a:pos x="f138" y="f133"/>
                </a:cxn>
                <a:cxn ang="f92">
                  <a:pos x="f139" y="f133"/>
                </a:cxn>
                <a:cxn ang="f92">
                  <a:pos x="f120" y="f137"/>
                </a:cxn>
                <a:cxn ang="f92">
                  <a:pos x="f140" y="f134"/>
                </a:cxn>
                <a:cxn ang="f92">
                  <a:pos x="f141" y="f124"/>
                </a:cxn>
                <a:cxn ang="f92">
                  <a:pos x="f142" y="f122"/>
                </a:cxn>
                <a:cxn ang="f92">
                  <a:pos x="f142" y="f121"/>
                </a:cxn>
                <a:cxn ang="f92">
                  <a:pos x="f120" y="f121"/>
                </a:cxn>
              </a:cxnLst>
              <a:rect l="f116" t="f119" r="f117" b="f118"/>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21" y="f13"/>
                  </a:cubicBezTo>
                  <a:cubicBezTo>
                    <a:pt x="f13" y="f21"/>
                    <a:pt x="f20" y="f11"/>
                    <a:pt x="f20" y="f19"/>
                  </a:cubicBezTo>
                  <a:cubicBezTo>
                    <a:pt x="f20" y="f10"/>
                    <a:pt x="f20" y="f17"/>
                    <a:pt x="f20" y="f22"/>
                  </a:cubicBezTo>
                  <a:cubicBezTo>
                    <a:pt x="f20" y="f7"/>
                    <a:pt x="f20" y="f7"/>
                    <a:pt x="f20" y="f7"/>
                  </a:cubicBezTo>
                  <a:cubicBezTo>
                    <a:pt x="f5" y="f7"/>
                    <a:pt x="f5" y="f7"/>
                    <a:pt x="f5" y="f7"/>
                  </a:cubicBezTo>
                  <a:cubicBezTo>
                    <a:pt x="f5" y="f5"/>
                    <a:pt x="f5" y="f5"/>
                    <a:pt x="f5" y="f5"/>
                  </a:cubicBezTo>
                  <a:cubicBezTo>
                    <a:pt x="f20" y="f5"/>
                    <a:pt x="f20" y="f5"/>
                    <a:pt x="f20" y="f5"/>
                  </a:cubicBezTo>
                  <a:cubicBezTo>
                    <a:pt x="f20" y="f23"/>
                    <a:pt x="f20" y="f23"/>
                    <a:pt x="f20" y="f23"/>
                  </a:cubicBezTo>
                  <a:cubicBezTo>
                    <a:pt x="f20" y="f24"/>
                    <a:pt x="f13" y="f24"/>
                    <a:pt x="f13" y="f25"/>
                  </a:cubicBezTo>
                  <a:cubicBezTo>
                    <a:pt x="f21" y="f25"/>
                    <a:pt x="f11" y="f26"/>
                    <a:pt x="f19" y="f26"/>
                  </a:cubicBezTo>
                  <a:cubicBezTo>
                    <a:pt x="f19" y="f5"/>
                    <a:pt x="f18" y="f5"/>
                    <a:pt x="f10" y="f5"/>
                  </a:cubicBezTo>
                  <a:cubicBezTo>
                    <a:pt x="f17" y="f5"/>
                    <a:pt x="f22" y="f5"/>
                    <a:pt x="f9" y="f5"/>
                  </a:cubicBezTo>
                  <a:cubicBezTo>
                    <a:pt x="f14" y="f5"/>
                    <a:pt x="f12" y="f5"/>
                    <a:pt x="f8" y="f26"/>
                  </a:cubicBezTo>
                  <a:cubicBezTo>
                    <a:pt x="f27" y="f26"/>
                    <a:pt x="f28" y="f25"/>
                    <a:pt x="f29" y="f23"/>
                  </a:cubicBezTo>
                  <a:cubicBezTo>
                    <a:pt x="f30" y="f31"/>
                    <a:pt x="f30" y="f15"/>
                    <a:pt x="f32" y="f13"/>
                  </a:cubicBezTo>
                  <a:cubicBezTo>
                    <a:pt x="f6"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1" name="Freeform 43">
              <a:extLst>
                <a:ext uri="{FF2B5EF4-FFF2-40B4-BE49-F238E27FC236}">
                  <a16:creationId xmlns:a16="http://schemas.microsoft.com/office/drawing/2014/main" id="{FB6729A2-7825-271B-E3DB-323133391471}"/>
                </a:ext>
              </a:extLst>
            </p:cNvPr>
            <p:cNvSpPr/>
            <p:nvPr/>
          </p:nvSpPr>
          <p:spPr>
            <a:xfrm>
              <a:off x="3973013"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2"/>
                <a:gd name="f22" fmla="val 11"/>
                <a:gd name="f23" fmla="val 9"/>
                <a:gd name="f24" fmla="val 13"/>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3"/>
                <a:gd name="f42" fmla="val 5"/>
                <a:gd name="f43" fmla="val 31"/>
                <a:gd name="f44" fmla="val 3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2 f49 1"/>
                <a:gd name="f66" fmla="*/ 13 f50 1"/>
                <a:gd name="f67" fmla="*/ 14 f49 1"/>
                <a:gd name="f68" fmla="*/ 16 f50 1"/>
                <a:gd name="f69" fmla="*/ 15 f49 1"/>
                <a:gd name="f70" fmla="*/ 22 f50 1"/>
                <a:gd name="f71" fmla="*/ 18 f49 1"/>
                <a:gd name="f72" fmla="*/ 26 f50 1"/>
                <a:gd name="f73" fmla="*/ 20 f49 1"/>
                <a:gd name="f74" fmla="*/ 24 f49 1"/>
                <a:gd name="f75" fmla="*/ 29 f50 1"/>
                <a:gd name="f76" fmla="*/ 28 f49 1"/>
                <a:gd name="f77" fmla="*/ 34 f49 1"/>
                <a:gd name="f78" fmla="*/ 25 f50 1"/>
                <a:gd name="f79" fmla="*/ 37 f49 1"/>
                <a:gd name="f80" fmla="*/ 39 f49 1"/>
                <a:gd name="f81" fmla="*/ 15 f50 1"/>
                <a:gd name="f82" fmla="*/ 40 f49 1"/>
                <a:gd name="f83" fmla="*/ 7 f50 1"/>
                <a:gd name="f84" fmla="*/ 38 f49 1"/>
                <a:gd name="f85" fmla="*/ 0 f50 1"/>
                <a:gd name="f86" fmla="*/ 35 f49 1"/>
                <a:gd name="f87" fmla="*/ 3 f50 1"/>
                <a:gd name="f88" fmla="*/ 29 f49 1"/>
                <a:gd name="f89" fmla="*/ 32 f49 1"/>
                <a:gd name="f90" fmla="*/ 33 f49 1"/>
                <a:gd name="f91" fmla="*/ 21 f50 1"/>
                <a:gd name="f92" fmla="*/ 27 f49 1"/>
                <a:gd name="f93" fmla="*/ 19 f50 1"/>
                <a:gd name="f94" fmla="*/ 25 f49 1"/>
                <a:gd name="f95" fmla="*/ 22 f49 1"/>
                <a:gd name="f96" fmla="*/ 4 f50 1"/>
                <a:gd name="f97" fmla="*/ 17 f49 1"/>
                <a:gd name="f98" fmla="*/ 2 f50 1"/>
                <a:gd name="f99" fmla="*/ 1 f50 1"/>
                <a:gd name="f100" fmla="*/ 5 f49 1"/>
                <a:gd name="f101" fmla="*/ 5 f50 1"/>
                <a:gd name="f102" fmla="*/ 2 f49 1"/>
                <a:gd name="f103" fmla="*/ 0 f49 1"/>
                <a:gd name="f104" fmla="*/ 1 f49 1"/>
                <a:gd name="f105" fmla="*/ f51 1 f2"/>
                <a:gd name="f106" fmla="*/ f54 1 29"/>
                <a:gd name="f107" fmla="*/ f55 1 40"/>
                <a:gd name="f108" fmla="*/ f56 1 29"/>
                <a:gd name="f109" fmla="*/ f57 1 40"/>
                <a:gd name="f110" fmla="*/ f58 1 29"/>
                <a:gd name="f111" fmla="*/ f59 1 40"/>
                <a:gd name="f112" fmla="*/ f60 1 29"/>
                <a:gd name="f113" fmla="*/ f61 1 40"/>
                <a:gd name="f114" fmla="*/ f62 1 29"/>
                <a:gd name="f115" fmla="*/ f63 1 29"/>
                <a:gd name="f116" fmla="*/ f64 1 40"/>
                <a:gd name="f117" fmla="*/ f65 1 40"/>
                <a:gd name="f118" fmla="*/ f66 1 29"/>
                <a:gd name="f119" fmla="*/ f67 1 40"/>
                <a:gd name="f120" fmla="*/ f68 1 29"/>
                <a:gd name="f121" fmla="*/ f69 1 40"/>
                <a:gd name="f122" fmla="*/ f70 1 29"/>
                <a:gd name="f123" fmla="*/ f71 1 40"/>
                <a:gd name="f124" fmla="*/ f72 1 29"/>
                <a:gd name="f125" fmla="*/ f73 1 40"/>
                <a:gd name="f126" fmla="*/ f74 1 40"/>
                <a:gd name="f127" fmla="*/ f75 1 29"/>
                <a:gd name="f128" fmla="*/ f76 1 40"/>
                <a:gd name="f129" fmla="*/ f77 1 40"/>
                <a:gd name="f130" fmla="*/ f78 1 29"/>
                <a:gd name="f131" fmla="*/ f79 1 40"/>
                <a:gd name="f132" fmla="*/ f80 1 40"/>
                <a:gd name="f133" fmla="*/ f81 1 29"/>
                <a:gd name="f134" fmla="*/ f82 1 40"/>
                <a:gd name="f135" fmla="*/ f83 1 29"/>
                <a:gd name="f136" fmla="*/ f84 1 40"/>
                <a:gd name="f137" fmla="*/ f85 1 29"/>
                <a:gd name="f138" fmla="*/ f86 1 40"/>
                <a:gd name="f139" fmla="*/ f87 1 29"/>
                <a:gd name="f140" fmla="*/ f88 1 40"/>
                <a:gd name="f141" fmla="*/ f89 1 40"/>
                <a:gd name="f142" fmla="*/ f90 1 40"/>
                <a:gd name="f143" fmla="*/ f91 1 29"/>
                <a:gd name="f144" fmla="*/ f92 1 40"/>
                <a:gd name="f145" fmla="*/ f93 1 29"/>
                <a:gd name="f146" fmla="*/ f94 1 40"/>
                <a:gd name="f147" fmla="*/ f95 1 40"/>
                <a:gd name="f148" fmla="*/ f96 1 29"/>
                <a:gd name="f149" fmla="*/ f97 1 40"/>
                <a:gd name="f150" fmla="*/ f98 1 29"/>
                <a:gd name="f151" fmla="*/ f99 1 29"/>
                <a:gd name="f152" fmla="*/ f100 1 40"/>
                <a:gd name="f153" fmla="*/ f101 1 29"/>
                <a:gd name="f154" fmla="*/ f102 1 40"/>
                <a:gd name="f155" fmla="*/ f103 1 40"/>
                <a:gd name="f156" fmla="*/ f104 1 40"/>
                <a:gd name="f157" fmla="*/ 0 1 f52"/>
                <a:gd name="f158" fmla="*/ f6 1 f52"/>
                <a:gd name="f159" fmla="*/ 0 1 f53"/>
                <a:gd name="f160" fmla="*/ f7 1 f53"/>
                <a:gd name="f161" fmla="+- f105 0 f1"/>
                <a:gd name="f162" fmla="*/ f106 1 f52"/>
                <a:gd name="f163" fmla="*/ f107 1 f53"/>
                <a:gd name="f164" fmla="*/ f108 1 f52"/>
                <a:gd name="f165" fmla="*/ f109 1 f53"/>
                <a:gd name="f166" fmla="*/ f110 1 f52"/>
                <a:gd name="f167" fmla="*/ f111 1 f53"/>
                <a:gd name="f168" fmla="*/ f112 1 f52"/>
                <a:gd name="f169" fmla="*/ f113 1 f53"/>
                <a:gd name="f170" fmla="*/ f114 1 f52"/>
                <a:gd name="f171" fmla="*/ f115 1 f52"/>
                <a:gd name="f172" fmla="*/ f116 1 f53"/>
                <a:gd name="f173" fmla="*/ f117 1 f53"/>
                <a:gd name="f174" fmla="*/ f118 1 f52"/>
                <a:gd name="f175" fmla="*/ f119 1 f53"/>
                <a:gd name="f176" fmla="*/ f120 1 f52"/>
                <a:gd name="f177" fmla="*/ f121 1 f53"/>
                <a:gd name="f178" fmla="*/ f122 1 f52"/>
                <a:gd name="f179" fmla="*/ f123 1 f53"/>
                <a:gd name="f180" fmla="*/ f124 1 f52"/>
                <a:gd name="f181" fmla="*/ f125 1 f53"/>
                <a:gd name="f182" fmla="*/ f126 1 f53"/>
                <a:gd name="f183" fmla="*/ f127 1 f52"/>
                <a:gd name="f184" fmla="*/ f128 1 f53"/>
                <a:gd name="f185" fmla="*/ f129 1 f53"/>
                <a:gd name="f186" fmla="*/ f130 1 f52"/>
                <a:gd name="f187" fmla="*/ f131 1 f53"/>
                <a:gd name="f188" fmla="*/ f132 1 f53"/>
                <a:gd name="f189" fmla="*/ f133 1 f52"/>
                <a:gd name="f190" fmla="*/ f134 1 f53"/>
                <a:gd name="f191" fmla="*/ f135 1 f52"/>
                <a:gd name="f192" fmla="*/ f136 1 f53"/>
                <a:gd name="f193" fmla="*/ f137 1 f52"/>
                <a:gd name="f194" fmla="*/ f138 1 f53"/>
                <a:gd name="f195" fmla="*/ f139 1 f52"/>
                <a:gd name="f196" fmla="*/ f140 1 f53"/>
                <a:gd name="f197" fmla="*/ f141 1 f53"/>
                <a:gd name="f198" fmla="*/ f142 1 f53"/>
                <a:gd name="f199" fmla="*/ f143 1 f52"/>
                <a:gd name="f200" fmla="*/ f144 1 f53"/>
                <a:gd name="f201" fmla="*/ f145 1 f52"/>
                <a:gd name="f202" fmla="*/ f146 1 f53"/>
                <a:gd name="f203" fmla="*/ f147 1 f53"/>
                <a:gd name="f204" fmla="*/ f148 1 f52"/>
                <a:gd name="f205" fmla="*/ f149 1 f53"/>
                <a:gd name="f206" fmla="*/ f150 1 f52"/>
                <a:gd name="f207" fmla="*/ f151 1 f52"/>
                <a:gd name="f208" fmla="*/ f152 1 f53"/>
                <a:gd name="f209" fmla="*/ f153 1 f52"/>
                <a:gd name="f210" fmla="*/ f154 1 f53"/>
                <a:gd name="f211" fmla="*/ f155 1 f53"/>
                <a:gd name="f212" fmla="*/ f156 1 f53"/>
                <a:gd name="f213" fmla="*/ f157 f47 1"/>
                <a:gd name="f214" fmla="*/ f158 f47 1"/>
                <a:gd name="f215" fmla="*/ f160 f48 1"/>
                <a:gd name="f216" fmla="*/ f159 f48 1"/>
                <a:gd name="f217" fmla="*/ f162 f47 1"/>
                <a:gd name="f218" fmla="*/ f163 f48 1"/>
                <a:gd name="f219" fmla="*/ f164 f47 1"/>
                <a:gd name="f220" fmla="*/ f165 f48 1"/>
                <a:gd name="f221" fmla="*/ f166 f47 1"/>
                <a:gd name="f222" fmla="*/ f167 f48 1"/>
                <a:gd name="f223" fmla="*/ f168 f47 1"/>
                <a:gd name="f224" fmla="*/ f169 f48 1"/>
                <a:gd name="f225" fmla="*/ f170 f47 1"/>
                <a:gd name="f226" fmla="*/ f171 f47 1"/>
                <a:gd name="f227" fmla="*/ f172 f48 1"/>
                <a:gd name="f228" fmla="*/ f173 f48 1"/>
                <a:gd name="f229" fmla="*/ f174 f47 1"/>
                <a:gd name="f230" fmla="*/ f175 f48 1"/>
                <a:gd name="f231" fmla="*/ f176 f47 1"/>
                <a:gd name="f232" fmla="*/ f177 f48 1"/>
                <a:gd name="f233" fmla="*/ f178 f47 1"/>
                <a:gd name="f234" fmla="*/ f179 f48 1"/>
                <a:gd name="f235" fmla="*/ f180 f47 1"/>
                <a:gd name="f236" fmla="*/ f181 f48 1"/>
                <a:gd name="f237" fmla="*/ f182 f48 1"/>
                <a:gd name="f238" fmla="*/ f183 f47 1"/>
                <a:gd name="f239" fmla="*/ f184 f48 1"/>
                <a:gd name="f240" fmla="*/ f185 f48 1"/>
                <a:gd name="f241" fmla="*/ f186 f47 1"/>
                <a:gd name="f242" fmla="*/ f187 f48 1"/>
                <a:gd name="f243" fmla="*/ f188 f48 1"/>
                <a:gd name="f244" fmla="*/ f189 f47 1"/>
                <a:gd name="f245" fmla="*/ f190 f48 1"/>
                <a:gd name="f246" fmla="*/ f191 f47 1"/>
                <a:gd name="f247" fmla="*/ f192 f48 1"/>
                <a:gd name="f248" fmla="*/ f193 f47 1"/>
                <a:gd name="f249" fmla="*/ f194 f48 1"/>
                <a:gd name="f250" fmla="*/ f195 f47 1"/>
                <a:gd name="f251" fmla="*/ f196 f48 1"/>
                <a:gd name="f252" fmla="*/ f197 f48 1"/>
                <a:gd name="f253" fmla="*/ f198 f48 1"/>
                <a:gd name="f254" fmla="*/ f199 f47 1"/>
                <a:gd name="f255" fmla="*/ f200 f48 1"/>
                <a:gd name="f256" fmla="*/ f201 f47 1"/>
                <a:gd name="f257" fmla="*/ f202 f48 1"/>
                <a:gd name="f258" fmla="*/ f203 f48 1"/>
                <a:gd name="f259" fmla="*/ f204 f47 1"/>
                <a:gd name="f260" fmla="*/ f205 f48 1"/>
                <a:gd name="f261" fmla="*/ f206 f47 1"/>
                <a:gd name="f262" fmla="*/ f207 f47 1"/>
                <a:gd name="f263" fmla="*/ f208 f48 1"/>
                <a:gd name="f264" fmla="*/ f209 f47 1"/>
                <a:gd name="f265" fmla="*/ f210 f48 1"/>
                <a:gd name="f266" fmla="*/ f211 f48 1"/>
                <a:gd name="f267" fmla="*/ f212 f48 1"/>
              </a:gdLst>
              <a:ahLst/>
              <a:cxnLst>
                <a:cxn ang="3cd4">
                  <a:pos x="hc" y="t"/>
                </a:cxn>
                <a:cxn ang="0">
                  <a:pos x="r" y="vc"/>
                </a:cxn>
                <a:cxn ang="cd4">
                  <a:pos x="hc" y="b"/>
                </a:cxn>
                <a:cxn ang="cd2">
                  <a:pos x="l" y="vc"/>
                </a:cxn>
                <a:cxn ang="f161">
                  <a:pos x="f217" y="f218"/>
                </a:cxn>
                <a:cxn ang="f161">
                  <a:pos x="f219" y="f220"/>
                </a:cxn>
                <a:cxn ang="f161">
                  <a:pos x="f221" y="f222"/>
                </a:cxn>
                <a:cxn ang="f161">
                  <a:pos x="f223" y="f224"/>
                </a:cxn>
                <a:cxn ang="f161">
                  <a:pos x="f225" y="f222"/>
                </a:cxn>
                <a:cxn ang="f161">
                  <a:pos x="f226" y="f220"/>
                </a:cxn>
                <a:cxn ang="f161">
                  <a:pos x="f226" y="f227"/>
                </a:cxn>
                <a:cxn ang="f161">
                  <a:pos x="f225" y="f228"/>
                </a:cxn>
                <a:cxn ang="f161">
                  <a:pos x="f229" y="f230"/>
                </a:cxn>
                <a:cxn ang="f161">
                  <a:pos x="f231" y="f232"/>
                </a:cxn>
                <a:cxn ang="f161">
                  <a:pos x="f233" y="f234"/>
                </a:cxn>
                <a:cxn ang="f161">
                  <a:pos x="f235" y="f236"/>
                </a:cxn>
                <a:cxn ang="f161">
                  <a:pos x="f217" y="f237"/>
                </a:cxn>
                <a:cxn ang="f161">
                  <a:pos x="f238" y="f239"/>
                </a:cxn>
                <a:cxn ang="f161">
                  <a:pos x="f217" y="f240"/>
                </a:cxn>
                <a:cxn ang="f161">
                  <a:pos x="f241" y="f242"/>
                </a:cxn>
                <a:cxn ang="f161">
                  <a:pos x="f221" y="f243"/>
                </a:cxn>
                <a:cxn ang="f161">
                  <a:pos x="f244" y="f245"/>
                </a:cxn>
                <a:cxn ang="f161">
                  <a:pos x="f246" y="f247"/>
                </a:cxn>
                <a:cxn ang="f161">
                  <a:pos x="f248" y="f249"/>
                </a:cxn>
                <a:cxn ang="f161">
                  <a:pos x="f250" y="f251"/>
                </a:cxn>
                <a:cxn ang="f161">
                  <a:pos x="f226" y="f252"/>
                </a:cxn>
                <a:cxn ang="f161">
                  <a:pos x="f244" y="f253"/>
                </a:cxn>
                <a:cxn ang="f161">
                  <a:pos x="f221" y="f252"/>
                </a:cxn>
                <a:cxn ang="f161">
                  <a:pos x="f233" y="f251"/>
                </a:cxn>
                <a:cxn ang="f161">
                  <a:pos x="f254" y="f255"/>
                </a:cxn>
                <a:cxn ang="f161">
                  <a:pos x="f256" y="f257"/>
                </a:cxn>
                <a:cxn ang="f161">
                  <a:pos x="f231" y="f237"/>
                </a:cxn>
                <a:cxn ang="f161">
                  <a:pos x="f229" y="f258"/>
                </a:cxn>
                <a:cxn ang="f161">
                  <a:pos x="f246" y="f236"/>
                </a:cxn>
                <a:cxn ang="f161">
                  <a:pos x="f259" y="f260"/>
                </a:cxn>
                <a:cxn ang="f161">
                  <a:pos x="f261" y="f230"/>
                </a:cxn>
                <a:cxn ang="f161">
                  <a:pos x="f262" y="f220"/>
                </a:cxn>
                <a:cxn ang="f161">
                  <a:pos x="f261" y="f263"/>
                </a:cxn>
                <a:cxn ang="f161">
                  <a:pos x="f264" y="f265"/>
                </a:cxn>
                <a:cxn ang="f161">
                  <a:pos x="f226" y="f266"/>
                </a:cxn>
                <a:cxn ang="f161">
                  <a:pos x="f244" y="f266"/>
                </a:cxn>
                <a:cxn ang="f161">
                  <a:pos x="f233" y="f267"/>
                </a:cxn>
                <a:cxn ang="f161">
                  <a:pos x="f217" y="f218"/>
                </a:cxn>
              </a:cxnLst>
              <a:rect l="f213" t="f216" r="f214" b="f215"/>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23" y="f13"/>
                    <a:pt x="f23" y="f23"/>
                    <a:pt x="f23" y="f11"/>
                  </a:cubicBezTo>
                  <a:cubicBezTo>
                    <a:pt x="f23" y="f11"/>
                    <a:pt x="f23" y="f22"/>
                    <a:pt x="f23" y="f22"/>
                  </a:cubicBezTo>
                  <a:cubicBezTo>
                    <a:pt x="f11" y="f21"/>
                    <a:pt x="f11" y="f21"/>
                    <a:pt x="f11" y="f21"/>
                  </a:cubicBezTo>
                  <a:cubicBezTo>
                    <a:pt x="f22" y="f24"/>
                    <a:pt x="f21" y="f24"/>
                    <a:pt x="f24"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1" y="f7"/>
                    <a:pt x="f11" y="f39"/>
                    <a:pt x="f16" y="f38"/>
                  </a:cubicBezTo>
                  <a:cubicBezTo>
                    <a:pt x="f9" y="f37"/>
                    <a:pt x="f40" y="f36"/>
                    <a:pt x="f5" y="f35"/>
                  </a:cubicBezTo>
                  <a:cubicBezTo>
                    <a:pt x="f41" y="f6"/>
                    <a:pt x="f41" y="f6"/>
                    <a:pt x="f41" y="f6"/>
                  </a:cubicBezTo>
                  <a:cubicBezTo>
                    <a:pt x="f42" y="f32"/>
                    <a:pt x="f16" y="f43"/>
                    <a:pt x="f23" y="f33"/>
                  </a:cubicBezTo>
                  <a:cubicBezTo>
                    <a:pt x="f22" y="f33"/>
                    <a:pt x="f24" y="f44"/>
                    <a:pt x="f25" y="f44"/>
                  </a:cubicBezTo>
                  <a:cubicBezTo>
                    <a:pt x="f26" y="f44"/>
                    <a:pt x="f28" y="f33"/>
                    <a:pt x="f15" y="f33"/>
                  </a:cubicBezTo>
                  <a:cubicBezTo>
                    <a:pt x="f14" y="f43"/>
                    <a:pt x="f27" y="f32"/>
                    <a:pt x="f27" y="f6"/>
                  </a:cubicBezTo>
                  <a:cubicBezTo>
                    <a:pt x="f27" y="f8"/>
                    <a:pt x="f14" y="f31"/>
                    <a:pt x="f14" y="f31"/>
                  </a:cubicBezTo>
                  <a:cubicBezTo>
                    <a:pt x="f14" y="f30"/>
                    <a:pt x="f15" y="f29"/>
                    <a:pt x="f28" y="f29"/>
                  </a:cubicBezTo>
                  <a:cubicBezTo>
                    <a:pt x="f17" y="f29"/>
                    <a:pt x="f17" y="f10"/>
                    <a:pt x="f18" y="f10"/>
                  </a:cubicBezTo>
                  <a:cubicBezTo>
                    <a:pt x="f25" y="f12"/>
                    <a:pt x="f20" y="f12"/>
                    <a:pt x="f24" y="f27"/>
                  </a:cubicBezTo>
                  <a:cubicBezTo>
                    <a:pt x="f22" y="f14"/>
                    <a:pt x="f23" y="f15"/>
                    <a:pt x="f16" y="f15"/>
                  </a:cubicBezTo>
                  <a:cubicBezTo>
                    <a:pt x="f19" y="f28"/>
                    <a:pt x="f42" y="f17"/>
                    <a:pt x="f9" y="f26"/>
                  </a:cubicBezTo>
                  <a:cubicBezTo>
                    <a:pt x="f41" y="f18"/>
                    <a:pt x="f40" y="f25"/>
                    <a:pt x="f40" y="f20"/>
                  </a:cubicBezTo>
                  <a:cubicBezTo>
                    <a:pt x="f40" y="f24"/>
                    <a:pt x="f45" y="f21"/>
                    <a:pt x="f45" y="f11"/>
                  </a:cubicBezTo>
                  <a:cubicBezTo>
                    <a:pt x="f45" y="f13"/>
                    <a:pt x="f40" y="f16"/>
                    <a:pt x="f40" y="f42"/>
                  </a:cubicBezTo>
                  <a:cubicBezTo>
                    <a:pt x="f41" y="f9"/>
                    <a:pt x="f9" y="f41"/>
                    <a:pt x="f42" y="f40"/>
                  </a:cubicBezTo>
                  <a:cubicBezTo>
                    <a:pt x="f19" y="f45"/>
                    <a:pt x="f13" y="f45"/>
                    <a:pt x="f23" y="f5"/>
                  </a:cubicBezTo>
                  <a:cubicBezTo>
                    <a:pt x="f22" y="f5"/>
                    <a:pt x="f24" y="f5"/>
                    <a:pt x="f25" y="f5"/>
                  </a:cubicBezTo>
                  <a:cubicBezTo>
                    <a:pt x="f26" y="f5"/>
                    <a:pt x="f28" y="f5"/>
                    <a:pt x="f27" y="f45"/>
                  </a:cubicBezTo>
                  <a:cubicBezTo>
                    <a:pt x="f10" y="f40"/>
                    <a:pt x="f30" y="f41"/>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2" name="Freeform 44">
              <a:extLst>
                <a:ext uri="{FF2B5EF4-FFF2-40B4-BE49-F238E27FC236}">
                  <a16:creationId xmlns:a16="http://schemas.microsoft.com/office/drawing/2014/main" id="{26DE5832-7B1C-CFC5-B821-7EBEAC1C2E61}"/>
                </a:ext>
              </a:extLst>
            </p:cNvPr>
            <p:cNvSpPr/>
            <p:nvPr/>
          </p:nvSpPr>
          <p:spPr>
            <a:xfrm>
              <a:off x="4056671" y="6088166"/>
              <a:ext cx="121999" cy="99395"/>
            </a:xfrm>
            <a:custGeom>
              <a:avLst/>
              <a:gdLst>
                <a:gd name="f0" fmla="val 10800000"/>
                <a:gd name="f1" fmla="val 5400000"/>
                <a:gd name="f2" fmla="val 180"/>
                <a:gd name="f3" fmla="val w"/>
                <a:gd name="f4" fmla="val h"/>
                <a:gd name="f5" fmla="val 0"/>
                <a:gd name="f6" fmla="val 70"/>
                <a:gd name="f7" fmla="val 57"/>
                <a:gd name="f8" fmla="val 55"/>
                <a:gd name="f9" fmla="val 45"/>
                <a:gd name="f10" fmla="val 35"/>
                <a:gd name="f11" fmla="val 17"/>
                <a:gd name="f12" fmla="val 25"/>
                <a:gd name="f13" fmla="val 14"/>
                <a:gd name="f14" fmla="val 10"/>
                <a:gd name="f15" fmla="val 20"/>
                <a:gd name="f16" fmla="val 39"/>
                <a:gd name="f17" fmla="val 30"/>
                <a:gd name="f18" fmla="val 49"/>
                <a:gd name="f19" fmla="val 60"/>
                <a:gd name="f20" fmla="+- 0 0 -90"/>
                <a:gd name="f21" fmla="*/ f3 1 70"/>
                <a:gd name="f22" fmla="*/ f4 1 57"/>
                <a:gd name="f23" fmla="+- f7 0 f5"/>
                <a:gd name="f24" fmla="+- f6 0 f5"/>
                <a:gd name="f25" fmla="*/ f20 f0 1"/>
                <a:gd name="f26" fmla="*/ f24 1 70"/>
                <a:gd name="f27" fmla="*/ f23 1 57"/>
                <a:gd name="f28" fmla="*/ 55 f24 1"/>
                <a:gd name="f29" fmla="*/ 57 f23 1"/>
                <a:gd name="f30" fmla="*/ 45 f24 1"/>
                <a:gd name="f31" fmla="*/ 35 f24 1"/>
                <a:gd name="f32" fmla="*/ 17 f23 1"/>
                <a:gd name="f33" fmla="*/ 25 f24 1"/>
                <a:gd name="f34" fmla="*/ 14 f24 1"/>
                <a:gd name="f35" fmla="*/ 0 f24 1"/>
                <a:gd name="f36" fmla="*/ 0 f23 1"/>
                <a:gd name="f37" fmla="*/ 10 f24 1"/>
                <a:gd name="f38" fmla="*/ 20 f24 1"/>
                <a:gd name="f39" fmla="*/ 39 f23 1"/>
                <a:gd name="f40" fmla="*/ 30 f24 1"/>
                <a:gd name="f41" fmla="*/ 39 f24 1"/>
                <a:gd name="f42" fmla="*/ 49 f24 1"/>
                <a:gd name="f43" fmla="*/ 60 f24 1"/>
                <a:gd name="f44" fmla="*/ 70 f24 1"/>
                <a:gd name="f45" fmla="*/ f25 1 f2"/>
                <a:gd name="f46" fmla="*/ f28 1 70"/>
                <a:gd name="f47" fmla="*/ f29 1 57"/>
                <a:gd name="f48" fmla="*/ f30 1 70"/>
                <a:gd name="f49" fmla="*/ f31 1 70"/>
                <a:gd name="f50" fmla="*/ f32 1 57"/>
                <a:gd name="f51" fmla="*/ f33 1 70"/>
                <a:gd name="f52" fmla="*/ f34 1 70"/>
                <a:gd name="f53" fmla="*/ f35 1 70"/>
                <a:gd name="f54" fmla="*/ f36 1 57"/>
                <a:gd name="f55" fmla="*/ f37 1 70"/>
                <a:gd name="f56" fmla="*/ f38 1 70"/>
                <a:gd name="f57" fmla="*/ f39 1 57"/>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7">
                  <a:moveTo>
                    <a:pt x="f8" y="f7"/>
                  </a:moveTo>
                  <a:lnTo>
                    <a:pt x="f9" y="f7"/>
                  </a:lnTo>
                  <a:lnTo>
                    <a:pt x="f10" y="f11"/>
                  </a:lnTo>
                  <a:lnTo>
                    <a:pt x="f12" y="f7"/>
                  </a:lnTo>
                  <a:lnTo>
                    <a:pt x="f13" y="f7"/>
                  </a:lnTo>
                  <a:lnTo>
                    <a:pt x="f5" y="f5"/>
                  </a:lnTo>
                  <a:lnTo>
                    <a:pt x="f14" y="f5"/>
                  </a:lnTo>
                  <a:lnTo>
                    <a:pt x="f15" y="f16"/>
                  </a:lnTo>
                  <a:lnTo>
                    <a:pt x="f17" y="f5"/>
                  </a:lnTo>
                  <a:lnTo>
                    <a:pt x="f16" y="f5"/>
                  </a:lnTo>
                  <a:lnTo>
                    <a:pt x="f18" y="f16"/>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3" name="Freeform 45">
              <a:extLst>
                <a:ext uri="{FF2B5EF4-FFF2-40B4-BE49-F238E27FC236}">
                  <a16:creationId xmlns:a16="http://schemas.microsoft.com/office/drawing/2014/main" id="{EE297928-533F-2AD2-B491-942140C32129}"/>
                </a:ext>
              </a:extLst>
            </p:cNvPr>
            <p:cNvSpPr/>
            <p:nvPr/>
          </p:nvSpPr>
          <p:spPr>
            <a:xfrm>
              <a:off x="4189122"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33"/>
                <a:gd name="f135" fmla="*/ f84 1 40"/>
                <a:gd name="f136" fmla="*/ f85 1 33"/>
                <a:gd name="f137" fmla="*/ f86 1 33"/>
                <a:gd name="f138" fmla="*/ f87 1 40"/>
                <a:gd name="f139" fmla="*/ f88 1 33"/>
                <a:gd name="f140" fmla="*/ f89 1 40"/>
                <a:gd name="f141" fmla="*/ f90 1 40"/>
                <a:gd name="f142" fmla="*/ f91 1 40"/>
                <a:gd name="f143" fmla="*/ f92 1 33"/>
                <a:gd name="f144" fmla="*/ f93 1 40"/>
                <a:gd name="f145" fmla="*/ f94 1 40"/>
                <a:gd name="f146" fmla="*/ f95 1 33"/>
                <a:gd name="f147" fmla="*/ f96 1 33"/>
                <a:gd name="f148" fmla="*/ f97 1 40"/>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2"/>
                <a:gd name="f190" fmla="*/ f135 1 f53"/>
                <a:gd name="f191" fmla="*/ f136 1 f52"/>
                <a:gd name="f192" fmla="*/ f137 1 f52"/>
                <a:gd name="f193" fmla="*/ f138 1 f53"/>
                <a:gd name="f194" fmla="*/ f139 1 f52"/>
                <a:gd name="f195" fmla="*/ f140 1 f53"/>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7 1"/>
                <a:gd name="f244" fmla="*/ f190 f48 1"/>
                <a:gd name="f245" fmla="*/ f191 f47 1"/>
                <a:gd name="f246" fmla="*/ f192 f47 1"/>
                <a:gd name="f247" fmla="*/ f193 f48 1"/>
                <a:gd name="f248" fmla="*/ f194 f47 1"/>
                <a:gd name="f249" fmla="*/ f195 f48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42" y="f235"/>
                </a:cxn>
                <a:cxn ang="f159">
                  <a:pos x="f243" y="f244"/>
                </a:cxn>
                <a:cxn ang="f159">
                  <a:pos x="f245" y="f230"/>
                </a:cxn>
                <a:cxn ang="f159">
                  <a:pos x="f246" y="f247"/>
                </a:cxn>
                <a:cxn ang="f159">
                  <a:pos x="f248" y="f249"/>
                </a:cxn>
                <a:cxn ang="f159">
                  <a:pos x="f246" y="f250"/>
                </a:cxn>
                <a:cxn ang="f159">
                  <a:pos x="f243" y="f251"/>
                </a:cxn>
                <a:cxn ang="f159">
                  <a:pos x="f252" y="f253"/>
                </a:cxn>
                <a:cxn ang="f159">
                  <a:pos x="f225" y="f254"/>
                </a:cxn>
                <a:cxn ang="f159">
                  <a:pos x="f236" y="f253"/>
                </a:cxn>
                <a:cxn ang="f159">
                  <a:pos x="f255" y="f251"/>
                </a:cxn>
                <a:cxn ang="f159">
                  <a:pos x="f256" y="f250"/>
                </a:cxn>
                <a:cxn ang="f159">
                  <a:pos x="f214" y="f215"/>
                </a:cxn>
                <a:cxn ang="f159">
                  <a:pos x="f231" y="f257"/>
                </a:cxn>
                <a:cxn ang="f159">
                  <a:pos x="f231" y="f258"/>
                </a:cxn>
                <a:cxn ang="f159">
                  <a:pos x="f229" y="f259"/>
                </a:cxn>
                <a:cxn ang="f159">
                  <a:pos x="f227" y="f260"/>
                </a:cxn>
                <a:cxn ang="f159">
                  <a:pos x="f261" y="f262"/>
                </a:cxn>
                <a:cxn ang="f159">
                  <a:pos x="f263" y="f260"/>
                </a:cxn>
                <a:cxn ang="f159">
                  <a:pos x="f252" y="f259"/>
                </a:cxn>
                <a:cxn ang="f159">
                  <a:pos x="f219" y="f258"/>
                </a:cxn>
                <a:cxn ang="f159">
                  <a:pos x="f242"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9"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4" name="Freeform 46">
              <a:extLst>
                <a:ext uri="{FF2B5EF4-FFF2-40B4-BE49-F238E27FC236}">
                  <a16:creationId xmlns:a16="http://schemas.microsoft.com/office/drawing/2014/main" id="{633BA086-C84F-2251-99C6-2D4CF25894F4}"/>
                </a:ext>
              </a:extLst>
            </p:cNvPr>
            <p:cNvSpPr/>
            <p:nvPr/>
          </p:nvSpPr>
          <p:spPr>
            <a:xfrm>
              <a:off x="4293693" y="6088166"/>
              <a:ext cx="57515"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18"/>
                <a:gd name="f13" fmla="val 7"/>
                <a:gd name="f14" fmla="val 17"/>
                <a:gd name="f15" fmla="val 16"/>
                <a:gd name="f16" fmla="val 15"/>
                <a:gd name="f17" fmla="val 13"/>
                <a:gd name="f18" fmla="val 11"/>
                <a:gd name="f19" fmla="val 10"/>
                <a:gd name="f20" fmla="val 9"/>
                <a:gd name="f21" fmla="val 14"/>
                <a:gd name="f22" fmla="val 4"/>
                <a:gd name="f23" fmla="val 3"/>
                <a:gd name="f24" fmla="val 2"/>
                <a:gd name="f25" fmla="val 1"/>
                <a:gd name="f26" fmla="val 12"/>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8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6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2" y="f13"/>
                  </a:cubicBezTo>
                  <a:cubicBezTo>
                    <a:pt x="f14" y="f13"/>
                    <a:pt x="f15" y="f13"/>
                    <a:pt x="f16" y="f13"/>
                  </a:cubicBezTo>
                  <a:cubicBezTo>
                    <a:pt x="f17" y="f13"/>
                    <a:pt x="f18" y="f9"/>
                    <a:pt x="f19" y="f20"/>
                  </a:cubicBezTo>
                  <a:cubicBezTo>
                    <a:pt x="f9" y="f18"/>
                    <a:pt x="f9" y="f21"/>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2"/>
                    <a:pt x="f9" y="f22"/>
                    <a:pt x="f9" y="f22"/>
                  </a:cubicBezTo>
                  <a:cubicBezTo>
                    <a:pt x="f9" y="f23"/>
                    <a:pt x="f20" y="f23"/>
                    <a:pt x="f20" y="f24"/>
                  </a:cubicBezTo>
                  <a:cubicBezTo>
                    <a:pt x="f19" y="f24"/>
                    <a:pt x="f19" y="f25"/>
                    <a:pt x="f18" y="f25"/>
                  </a:cubicBezTo>
                  <a:cubicBezTo>
                    <a:pt x="f26" y="f5"/>
                    <a:pt x="f17" y="f5"/>
                    <a:pt x="f21" y="f5"/>
                  </a:cubicBezTo>
                  <a:cubicBezTo>
                    <a:pt x="f21" y="f5"/>
                    <a:pt x="f16" y="f5"/>
                    <a:pt x="f15" y="f5"/>
                  </a:cubicBezTo>
                  <a:cubicBezTo>
                    <a:pt x="f12" y="f5"/>
                    <a:pt x="f11" y="f5"/>
                    <a:pt x="f10" y="f5"/>
                  </a:cubicBezTo>
                  <a:cubicBezTo>
                    <a:pt x="f8" y="f5"/>
                    <a:pt x="f27" y="f25"/>
                    <a:pt x="f6" y="f25"/>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5" name="Freeform 47">
              <a:extLst>
                <a:ext uri="{FF2B5EF4-FFF2-40B4-BE49-F238E27FC236}">
                  <a16:creationId xmlns:a16="http://schemas.microsoft.com/office/drawing/2014/main" id="{817835A8-58A8-9609-2C44-97C60E5AF004}"/>
                </a:ext>
              </a:extLst>
            </p:cNvPr>
            <p:cNvSpPr/>
            <p:nvPr/>
          </p:nvSpPr>
          <p:spPr>
            <a:xfrm>
              <a:off x="4344232" y="6159663"/>
              <a:ext cx="29626"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3 f21 1"/>
                <a:gd name="f30" fmla="*/ 2 f21 1"/>
                <a:gd name="f31" fmla="*/ 0 f21 1"/>
                <a:gd name="f32" fmla="*/ 4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20 1"/>
                <a:gd name="f73" fmla="*/ f52 f20 1"/>
                <a:gd name="f74" fmla="*/ f53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1" y="f60"/>
                </a:cxn>
                <a:cxn ang="f45">
                  <a:pos x="f71" y="f72"/>
                </a:cxn>
                <a:cxn ang="f45">
                  <a:pos x="f70" y="f73"/>
                </a:cxn>
                <a:cxn ang="f45">
                  <a:pos x="f69" y="f74"/>
                </a:cxn>
                <a:cxn ang="f45">
                  <a:pos x="f67" y="f74"/>
                </a:cxn>
                <a:cxn ang="f45">
                  <a:pos x="f65" y="f74"/>
                </a:cxn>
                <a:cxn ang="f45">
                  <a:pos x="f63" y="f73"/>
                </a:cxn>
                <a:cxn ang="f45">
                  <a:pos x="f61" y="f72"/>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5" y="f9"/>
                  </a:cubicBezTo>
                  <a:cubicBezTo>
                    <a:pt x="f15" y="f9"/>
                    <a:pt x="f16" y="f12"/>
                    <a:pt x="f16" y="f12"/>
                  </a:cubicBezTo>
                  <a:cubicBezTo>
                    <a:pt x="f17" y="f11"/>
                    <a:pt x="f17" y="f11"/>
                    <a:pt x="f5" y="f10"/>
                  </a:cubicBezTo>
                  <a:cubicBezTo>
                    <a:pt x="f5" y="f8"/>
                    <a:pt x="f5" y="f8"/>
                    <a:pt x="f5" y="f7"/>
                  </a:cubicBezTo>
                  <a:cubicBezTo>
                    <a:pt x="f5" y="f13"/>
                    <a:pt x="f5" y="f14"/>
                    <a:pt x="f5" y="f14"/>
                  </a:cubicBezTo>
                  <a:cubicBezTo>
                    <a:pt x="f17" y="f15"/>
                    <a:pt x="f17" y="f16"/>
                    <a:pt x="f16" y="f16"/>
                  </a:cubicBezTo>
                  <a:cubicBezTo>
                    <a:pt x="f16" y="f17"/>
                    <a:pt x="f15" y="f17"/>
                    <a:pt x="f15"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6" name="Freeform 48">
              <a:extLst>
                <a:ext uri="{FF2B5EF4-FFF2-40B4-BE49-F238E27FC236}">
                  <a16:creationId xmlns:a16="http://schemas.microsoft.com/office/drawing/2014/main" id="{90A9AF17-94F5-AD1B-08A4-BEB48BAED66B}"/>
                </a:ext>
              </a:extLst>
            </p:cNvPr>
            <p:cNvSpPr/>
            <p:nvPr/>
          </p:nvSpPr>
          <p:spPr>
            <a:xfrm>
              <a:off x="497854" y="6264289"/>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2"/>
                <a:gd name="f10" fmla="val 22"/>
                <a:gd name="f11" fmla="+- 0 0 -90"/>
                <a:gd name="f12" fmla="*/ f3 1 54"/>
                <a:gd name="f13" fmla="*/ f4 1 75"/>
                <a:gd name="f14" fmla="+- f7 0 f5"/>
                <a:gd name="f15" fmla="+- f6 0 f5"/>
                <a:gd name="f16" fmla="*/ f11 f0 1"/>
                <a:gd name="f17" fmla="*/ f15 1 54"/>
                <a:gd name="f18" fmla="*/ f14 1 75"/>
                <a:gd name="f19" fmla="*/ 32 f15 1"/>
                <a:gd name="f20" fmla="*/ 12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7" name="Freeform 49">
              <a:extLst>
                <a:ext uri="{FF2B5EF4-FFF2-40B4-BE49-F238E27FC236}">
                  <a16:creationId xmlns:a16="http://schemas.microsoft.com/office/drawing/2014/main" id="{CE1DDC7B-E2D9-6C25-B7B9-80C6DCE54198}"/>
                </a:ext>
              </a:extLst>
            </p:cNvPr>
            <p:cNvSpPr/>
            <p:nvPr/>
          </p:nvSpPr>
          <p:spPr>
            <a:xfrm>
              <a:off x="609392" y="6259049"/>
              <a:ext cx="78428"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2"/>
                <a:gd name="f12" fmla="val 25"/>
                <a:gd name="f13" fmla="val 21"/>
                <a:gd name="f14" fmla="val 24"/>
                <a:gd name="f15" fmla="val 20"/>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9 f38 1"/>
                <a:gd name="f52" fmla="*/ 8 f38 1"/>
                <a:gd name="f53" fmla="*/ 27 f37 1"/>
                <a:gd name="f54" fmla="*/ 7 f38 1"/>
                <a:gd name="f55" fmla="*/ 31 f37 1"/>
                <a:gd name="f56" fmla="*/ 0 f38 1"/>
                <a:gd name="f57" fmla="*/ 4 f37 1"/>
                <a:gd name="f58" fmla="*/ 0 f37 1"/>
                <a:gd name="f59" fmla="*/ 19 f37 1"/>
                <a:gd name="f60" fmla="*/ 17 f37 1"/>
                <a:gd name="f61" fmla="*/ 11 f38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53"/>
                <a:gd name="f90" fmla="*/ f61 1 31"/>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1"/>
                <a:gd name="f123" fmla="*/ f90 1 f40"/>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6 1"/>
                <a:gd name="f155" fmla="*/ f123 f35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45" y="f154"/>
                </a:cxn>
                <a:cxn ang="f103">
                  <a:pos x="f155"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11" y="f12"/>
                    <a:pt x="f13" y="f14"/>
                  </a:cubicBezTo>
                  <a:cubicBezTo>
                    <a:pt x="f15" y="f11"/>
                    <a:pt x="f16" y="f13"/>
                    <a:pt x="f17" y="f13"/>
                  </a:cubicBezTo>
                  <a:cubicBezTo>
                    <a:pt x="f18" y="f13"/>
                    <a:pt x="f19" y="f13"/>
                    <a:pt x="f20" y="f11"/>
                  </a:cubicBezTo>
                  <a:cubicBezTo>
                    <a:pt x="f21" y="f11"/>
                    <a:pt x="f22" y="f8"/>
                    <a:pt x="f23" y="f14"/>
                  </a:cubicBezTo>
                  <a:cubicBezTo>
                    <a:pt x="f23" y="f14"/>
                    <a:pt x="f24" y="f12"/>
                    <a:pt x="f24" y="f25"/>
                  </a:cubicBezTo>
                  <a:cubicBezTo>
                    <a:pt x="f26"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4" y="f30"/>
                    <a:pt x="f23" y="f30"/>
                  </a:cubicBezTo>
                  <a:cubicBezTo>
                    <a:pt x="f22" y="f31"/>
                    <a:pt x="f22" y="f31"/>
                    <a:pt x="f21" y="f17"/>
                  </a:cubicBezTo>
                  <a:cubicBezTo>
                    <a:pt x="f20" y="f17"/>
                    <a:pt x="f19" y="f17"/>
                    <a:pt x="f18" y="f18"/>
                  </a:cubicBezTo>
                  <a:cubicBezTo>
                    <a:pt x="f17" y="f18"/>
                    <a:pt x="f31" y="f18"/>
                    <a:pt x="f30" y="f18"/>
                  </a:cubicBezTo>
                  <a:cubicBezTo>
                    <a:pt x="f29" y="f18"/>
                    <a:pt x="f13" y="f18"/>
                    <a:pt x="f8" y="f17"/>
                  </a:cubicBezTo>
                  <a:cubicBezTo>
                    <a:pt x="f12" y="f31"/>
                    <a:pt x="f32" y="f30"/>
                    <a:pt x="f25" y="f16"/>
                  </a:cubicBezTo>
                  <a:cubicBezTo>
                    <a:pt x="f10" y="f15"/>
                    <a:pt x="f27" y="f11"/>
                    <a:pt x="f33" y="f14"/>
                  </a:cubicBezTo>
                  <a:cubicBezTo>
                    <a:pt x="f33"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8" name="Freeform 50">
              <a:extLst>
                <a:ext uri="{FF2B5EF4-FFF2-40B4-BE49-F238E27FC236}">
                  <a16:creationId xmlns:a16="http://schemas.microsoft.com/office/drawing/2014/main" id="{29A45A88-89F6-BA6E-F3C0-85DBD02500D6}"/>
                </a:ext>
              </a:extLst>
            </p:cNvPr>
            <p:cNvSpPr/>
            <p:nvPr/>
          </p:nvSpPr>
          <p:spPr>
            <a:xfrm>
              <a:off x="705249" y="6293924"/>
              <a:ext cx="85395"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7"/>
                <a:gd name="f14" fmla="val 8"/>
                <a:gd name="f15" fmla="val 25"/>
                <a:gd name="f16" fmla="val 26"/>
                <a:gd name="f17" fmla="val 9"/>
                <a:gd name="f18" fmla="val 28"/>
                <a:gd name="f19" fmla="val 29"/>
                <a:gd name="f20" fmla="val 10"/>
                <a:gd name="f21" fmla="val 30"/>
                <a:gd name="f22" fmla="val 11"/>
                <a:gd name="f23" fmla="val 31"/>
                <a:gd name="f24" fmla="val 12"/>
                <a:gd name="f25" fmla="val 32"/>
                <a:gd name="f26" fmla="val 13"/>
                <a:gd name="f27" fmla="val 14"/>
                <a:gd name="f28" fmla="val 15"/>
                <a:gd name="f29" fmla="val 16"/>
                <a:gd name="f30" fmla="val 17"/>
                <a:gd name="f31" fmla="val 18"/>
                <a:gd name="f32" fmla="val 24"/>
                <a:gd name="f33" fmla="val 35"/>
                <a:gd name="f34" fmla="val 36"/>
                <a:gd name="f35" fmla="val 37"/>
                <a:gd name="f36" fmla="val 27"/>
                <a:gd name="f37" fmla="val 38"/>
                <a:gd name="f38" fmla="val 39"/>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7 f50 1"/>
                <a:gd name="f59" fmla="*/ 9 f50 1"/>
                <a:gd name="f60" fmla="*/ 28 f49 1"/>
                <a:gd name="f61" fmla="*/ 11 f50 1"/>
                <a:gd name="f62" fmla="*/ 31 f49 1"/>
                <a:gd name="f63" fmla="*/ 14 f50 1"/>
                <a:gd name="f64" fmla="*/ 33 f49 1"/>
                <a:gd name="f65" fmla="*/ 17 f50 1"/>
                <a:gd name="f66" fmla="*/ 19 f50 1"/>
                <a:gd name="f67" fmla="*/ 22 f50 1"/>
                <a:gd name="f68" fmla="*/ 32 f49 1"/>
                <a:gd name="f69" fmla="*/ 23 f50 1"/>
                <a:gd name="f70" fmla="*/ 25 f50 1"/>
                <a:gd name="f71" fmla="*/ 30 f49 1"/>
                <a:gd name="f72" fmla="*/ 30 f50 1"/>
                <a:gd name="f73" fmla="*/ 35 f49 1"/>
                <a:gd name="f74" fmla="*/ 27 f50 1"/>
                <a:gd name="f75" fmla="*/ 37 f49 1"/>
                <a:gd name="f76" fmla="*/ 24 f50 1"/>
                <a:gd name="f77" fmla="*/ 39 f49 1"/>
                <a:gd name="f78" fmla="*/ 21 f50 1"/>
                <a:gd name="f79" fmla="*/ 40 f49 1"/>
                <a:gd name="f80" fmla="*/ 12 f50 1"/>
                <a:gd name="f81" fmla="*/ 8 f50 1"/>
                <a:gd name="f82" fmla="*/ 38 f49 1"/>
                <a:gd name="f83" fmla="*/ 5 f50 1"/>
                <a:gd name="f84" fmla="*/ 3 f50 1"/>
                <a:gd name="f85" fmla="*/ 1 f50 1"/>
                <a:gd name="f86" fmla="*/ 26 f49 1"/>
                <a:gd name="f87" fmla="*/ 0 f50 1"/>
                <a:gd name="f88" fmla="*/ 20 f49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10 f49 1"/>
                <a:gd name="f101" fmla="*/ 20 f50 1"/>
                <a:gd name="f102" fmla="*/ 8 f49 1"/>
                <a:gd name="f103" fmla="*/ 16 f50 1"/>
                <a:gd name="f104" fmla="*/ 7 f49 1"/>
                <a:gd name="f105" fmla="*/ 13 f50 1"/>
                <a:gd name="f106" fmla="*/ 9 f49 1"/>
                <a:gd name="f107" fmla="*/ f51 1 f2"/>
                <a:gd name="f108" fmla="*/ f54 1 33"/>
                <a:gd name="f109" fmla="*/ f55 1 40"/>
                <a:gd name="f110" fmla="*/ f56 1 40"/>
                <a:gd name="f111" fmla="*/ f57 1 40"/>
                <a:gd name="f112" fmla="*/ f58 1 33"/>
                <a:gd name="f113" fmla="*/ f59 1 33"/>
                <a:gd name="f114" fmla="*/ f60 1 40"/>
                <a:gd name="f115" fmla="*/ f61 1 33"/>
                <a:gd name="f116" fmla="*/ f62 1 40"/>
                <a:gd name="f117" fmla="*/ f63 1 33"/>
                <a:gd name="f118" fmla="*/ f64 1 40"/>
                <a:gd name="f119" fmla="*/ f65 1 33"/>
                <a:gd name="f120" fmla="*/ f66 1 33"/>
                <a:gd name="f121" fmla="*/ f67 1 33"/>
                <a:gd name="f122" fmla="*/ f68 1 40"/>
                <a:gd name="f123" fmla="*/ f69 1 33"/>
                <a:gd name="f124" fmla="*/ f70 1 33"/>
                <a:gd name="f125" fmla="*/ f71 1 40"/>
                <a:gd name="f126" fmla="*/ f72 1 33"/>
                <a:gd name="f127" fmla="*/ f73 1 40"/>
                <a:gd name="f128" fmla="*/ f74 1 33"/>
                <a:gd name="f129" fmla="*/ f75 1 40"/>
                <a:gd name="f130" fmla="*/ f76 1 33"/>
                <a:gd name="f131" fmla="*/ f77 1 40"/>
                <a:gd name="f132" fmla="*/ f78 1 33"/>
                <a:gd name="f133" fmla="*/ f79 1 40"/>
                <a:gd name="f134" fmla="*/ f80 1 33"/>
                <a:gd name="f135" fmla="*/ f81 1 33"/>
                <a:gd name="f136" fmla="*/ f82 1 40"/>
                <a:gd name="f137" fmla="*/ f83 1 33"/>
                <a:gd name="f138" fmla="*/ f84 1 33"/>
                <a:gd name="f139" fmla="*/ f85 1 33"/>
                <a:gd name="f140" fmla="*/ f86 1 40"/>
                <a:gd name="f141" fmla="*/ f87 1 33"/>
                <a:gd name="f142" fmla="*/ f88 1 40"/>
                <a:gd name="f143" fmla="*/ f89 1 40"/>
                <a:gd name="f144" fmla="*/ f90 1 40"/>
                <a:gd name="f145" fmla="*/ f91 1 33"/>
                <a:gd name="f146" fmla="*/ f92 1 40"/>
                <a:gd name="f147" fmla="*/ f93 1 40"/>
                <a:gd name="f148" fmla="*/ f94 1 40"/>
                <a:gd name="f149" fmla="*/ f95 1 33"/>
                <a:gd name="f150" fmla="*/ f96 1 40"/>
                <a:gd name="f151" fmla="*/ f97 1 33"/>
                <a:gd name="f152" fmla="*/ f98 1 40"/>
                <a:gd name="f153" fmla="*/ f99 1 40"/>
                <a:gd name="f154" fmla="*/ f100 1 40"/>
                <a:gd name="f155" fmla="*/ f101 1 33"/>
                <a:gd name="f156" fmla="*/ f102 1 40"/>
                <a:gd name="f157" fmla="*/ f103 1 33"/>
                <a:gd name="f158" fmla="*/ f104 1 40"/>
                <a:gd name="f159" fmla="*/ f105 1 33"/>
                <a:gd name="f160" fmla="*/ f106 1 40"/>
                <a:gd name="f161" fmla="*/ 0 1 f52"/>
                <a:gd name="f162" fmla="*/ f6 1 f52"/>
                <a:gd name="f163" fmla="*/ 0 1 f53"/>
                <a:gd name="f164" fmla="*/ f7 1 f53"/>
                <a:gd name="f165" fmla="+- f107 0 f1"/>
                <a:gd name="f166" fmla="*/ f108 1 f52"/>
                <a:gd name="f167" fmla="*/ f109 1 f53"/>
                <a:gd name="f168" fmla="*/ f110 1 f53"/>
                <a:gd name="f169" fmla="*/ f111 1 f53"/>
                <a:gd name="f170" fmla="*/ f112 1 f52"/>
                <a:gd name="f171" fmla="*/ f113 1 f52"/>
                <a:gd name="f172" fmla="*/ f114 1 f53"/>
                <a:gd name="f173" fmla="*/ f115 1 f52"/>
                <a:gd name="f174" fmla="*/ f116 1 f53"/>
                <a:gd name="f175" fmla="*/ f117 1 f52"/>
                <a:gd name="f176" fmla="*/ f118 1 f53"/>
                <a:gd name="f177" fmla="*/ f119 1 f52"/>
                <a:gd name="f178" fmla="*/ f120 1 f52"/>
                <a:gd name="f179" fmla="*/ f121 1 f52"/>
                <a:gd name="f180" fmla="*/ f122 1 f53"/>
                <a:gd name="f181" fmla="*/ f123 1 f52"/>
                <a:gd name="f182" fmla="*/ f124 1 f52"/>
                <a:gd name="f183" fmla="*/ f125 1 f53"/>
                <a:gd name="f184" fmla="*/ f126 1 f52"/>
                <a:gd name="f185" fmla="*/ f127 1 f53"/>
                <a:gd name="f186" fmla="*/ f128 1 f52"/>
                <a:gd name="f187" fmla="*/ f129 1 f53"/>
                <a:gd name="f188" fmla="*/ f130 1 f52"/>
                <a:gd name="f189" fmla="*/ f131 1 f53"/>
                <a:gd name="f190" fmla="*/ f132 1 f52"/>
                <a:gd name="f191" fmla="*/ f133 1 f53"/>
                <a:gd name="f192" fmla="*/ f134 1 f52"/>
                <a:gd name="f193" fmla="*/ f135 1 f52"/>
                <a:gd name="f194" fmla="*/ f136 1 f53"/>
                <a:gd name="f195" fmla="*/ f137 1 f52"/>
                <a:gd name="f196" fmla="*/ f138 1 f52"/>
                <a:gd name="f197" fmla="*/ f139 1 f52"/>
                <a:gd name="f198" fmla="*/ f140 1 f53"/>
                <a:gd name="f199" fmla="*/ f141 1 f52"/>
                <a:gd name="f200" fmla="*/ f142 1 f53"/>
                <a:gd name="f201" fmla="*/ f143 1 f53"/>
                <a:gd name="f202" fmla="*/ f144 1 f53"/>
                <a:gd name="f203" fmla="*/ f145 1 f52"/>
                <a:gd name="f204" fmla="*/ f146 1 f53"/>
                <a:gd name="f205" fmla="*/ f147 1 f53"/>
                <a:gd name="f206" fmla="*/ f148 1 f53"/>
                <a:gd name="f207" fmla="*/ f149 1 f52"/>
                <a:gd name="f208" fmla="*/ f150 1 f53"/>
                <a:gd name="f209" fmla="*/ f151 1 f52"/>
                <a:gd name="f210" fmla="*/ f152 1 f53"/>
                <a:gd name="f211" fmla="*/ f153 1 f53"/>
                <a:gd name="f212" fmla="*/ f154 1 f53"/>
                <a:gd name="f213" fmla="*/ f155 1 f52"/>
                <a:gd name="f214" fmla="*/ f156 1 f53"/>
                <a:gd name="f215" fmla="*/ f157 1 f52"/>
                <a:gd name="f216" fmla="*/ f158 1 f53"/>
                <a:gd name="f217" fmla="*/ f159 1 f52"/>
                <a:gd name="f218" fmla="*/ f160 1 f53"/>
                <a:gd name="f219" fmla="*/ f161 f47 1"/>
                <a:gd name="f220" fmla="*/ f162 f47 1"/>
                <a:gd name="f221" fmla="*/ f164 f48 1"/>
                <a:gd name="f222" fmla="*/ f163 f48 1"/>
                <a:gd name="f223" fmla="*/ f166 f47 1"/>
                <a:gd name="f224" fmla="*/ f167 f48 1"/>
                <a:gd name="f225" fmla="*/ f168 f48 1"/>
                <a:gd name="f226" fmla="*/ f169 f48 1"/>
                <a:gd name="f227" fmla="*/ f170 f47 1"/>
                <a:gd name="f228" fmla="*/ f171 f47 1"/>
                <a:gd name="f229" fmla="*/ f172 f48 1"/>
                <a:gd name="f230" fmla="*/ f173 f47 1"/>
                <a:gd name="f231" fmla="*/ f174 f48 1"/>
                <a:gd name="f232" fmla="*/ f175 f47 1"/>
                <a:gd name="f233" fmla="*/ f176 f48 1"/>
                <a:gd name="f234" fmla="*/ f177 f47 1"/>
                <a:gd name="f235" fmla="*/ f178 f47 1"/>
                <a:gd name="f236" fmla="*/ f179 f47 1"/>
                <a:gd name="f237" fmla="*/ f180 f48 1"/>
                <a:gd name="f238" fmla="*/ f181 f47 1"/>
                <a:gd name="f239" fmla="*/ f182 f47 1"/>
                <a:gd name="f240" fmla="*/ f183 f48 1"/>
                <a:gd name="f241" fmla="*/ f184 f47 1"/>
                <a:gd name="f242" fmla="*/ f185 f48 1"/>
                <a:gd name="f243" fmla="*/ f186 f47 1"/>
                <a:gd name="f244" fmla="*/ f187 f48 1"/>
                <a:gd name="f245" fmla="*/ f188 f47 1"/>
                <a:gd name="f246" fmla="*/ f189 f48 1"/>
                <a:gd name="f247" fmla="*/ f190 f47 1"/>
                <a:gd name="f248" fmla="*/ f191 f48 1"/>
                <a:gd name="f249" fmla="*/ f192 f47 1"/>
                <a:gd name="f250" fmla="*/ f193 f47 1"/>
                <a:gd name="f251" fmla="*/ f194 f48 1"/>
                <a:gd name="f252" fmla="*/ f195 f47 1"/>
                <a:gd name="f253" fmla="*/ f196 f47 1"/>
                <a:gd name="f254" fmla="*/ f197 f47 1"/>
                <a:gd name="f255" fmla="*/ f198 f48 1"/>
                <a:gd name="f256" fmla="*/ f199 f47 1"/>
                <a:gd name="f257" fmla="*/ f200 f48 1"/>
                <a:gd name="f258" fmla="*/ f201 f48 1"/>
                <a:gd name="f259" fmla="*/ f202 f48 1"/>
                <a:gd name="f260" fmla="*/ f203 f47 1"/>
                <a:gd name="f261" fmla="*/ f204 f48 1"/>
                <a:gd name="f262" fmla="*/ f205 f48 1"/>
                <a:gd name="f263" fmla="*/ f206 f48 1"/>
                <a:gd name="f264" fmla="*/ f207 f47 1"/>
                <a:gd name="f265" fmla="*/ f208 f48 1"/>
                <a:gd name="f266" fmla="*/ f209 f47 1"/>
                <a:gd name="f267" fmla="*/ f210 f48 1"/>
                <a:gd name="f268" fmla="*/ f211 f48 1"/>
                <a:gd name="f269" fmla="*/ f212 f48 1"/>
                <a:gd name="f270" fmla="*/ f213 f47 1"/>
                <a:gd name="f271" fmla="*/ f214 f48 1"/>
                <a:gd name="f272" fmla="*/ f215 f47 1"/>
                <a:gd name="f273" fmla="*/ f216 f48 1"/>
                <a:gd name="f274" fmla="*/ f217 f47 1"/>
                <a:gd name="f275" fmla="*/ f218 f48 1"/>
              </a:gdLst>
              <a:ahLst/>
              <a:cxnLst>
                <a:cxn ang="3cd4">
                  <a:pos x="hc" y="t"/>
                </a:cxn>
                <a:cxn ang="0">
                  <a:pos x="r" y="vc"/>
                </a:cxn>
                <a:cxn ang="cd4">
                  <a:pos x="hc" y="b"/>
                </a:cxn>
                <a:cxn ang="cd2">
                  <a:pos x="l" y="vc"/>
                </a:cxn>
                <a:cxn ang="f165">
                  <a:pos x="f223" y="f224"/>
                </a:cxn>
                <a:cxn ang="f165">
                  <a:pos x="f223" y="f225"/>
                </a:cxn>
                <a:cxn ang="f165">
                  <a:pos x="f223" y="f226"/>
                </a:cxn>
                <a:cxn ang="f165">
                  <a:pos x="f227" y="f226"/>
                </a:cxn>
                <a:cxn ang="f165">
                  <a:pos x="f228" y="f229"/>
                </a:cxn>
                <a:cxn ang="f165">
                  <a:pos x="f230" y="f231"/>
                </a:cxn>
                <a:cxn ang="f165">
                  <a:pos x="f232" y="f233"/>
                </a:cxn>
                <a:cxn ang="f165">
                  <a:pos x="f234" y="f233"/>
                </a:cxn>
                <a:cxn ang="f165">
                  <a:pos x="f235" y="f233"/>
                </a:cxn>
                <a:cxn ang="f165">
                  <a:pos x="f236" y="f237"/>
                </a:cxn>
                <a:cxn ang="f165">
                  <a:pos x="f238" y="f237"/>
                </a:cxn>
                <a:cxn ang="f165">
                  <a:pos x="f239" y="f240"/>
                </a:cxn>
                <a:cxn ang="f165">
                  <a:pos x="f241" y="f242"/>
                </a:cxn>
                <a:cxn ang="f165">
                  <a:pos x="f243" y="f244"/>
                </a:cxn>
                <a:cxn ang="f165">
                  <a:pos x="f245" y="f246"/>
                </a:cxn>
                <a:cxn ang="f165">
                  <a:pos x="f247" y="f248"/>
                </a:cxn>
                <a:cxn ang="f165">
                  <a:pos x="f234" y="f248"/>
                </a:cxn>
                <a:cxn ang="f165">
                  <a:pos x="f249" y="f246"/>
                </a:cxn>
                <a:cxn ang="f165">
                  <a:pos x="f250" y="f251"/>
                </a:cxn>
                <a:cxn ang="f165">
                  <a:pos x="f252" y="f242"/>
                </a:cxn>
                <a:cxn ang="f165">
                  <a:pos x="f253" y="f231"/>
                </a:cxn>
                <a:cxn ang="f165">
                  <a:pos x="f254" y="f255"/>
                </a:cxn>
                <a:cxn ang="f165">
                  <a:pos x="f256" y="f257"/>
                </a:cxn>
                <a:cxn ang="f165">
                  <a:pos x="f254" y="f258"/>
                </a:cxn>
                <a:cxn ang="f165">
                  <a:pos x="f252" y="f259"/>
                </a:cxn>
                <a:cxn ang="f165">
                  <a:pos x="f260" y="f261"/>
                </a:cxn>
                <a:cxn ang="f165">
                  <a:pos x="f234" y="f262"/>
                </a:cxn>
                <a:cxn ang="f165">
                  <a:pos x="f245" y="f263"/>
                </a:cxn>
                <a:cxn ang="f165">
                  <a:pos x="f264" y="f265"/>
                </a:cxn>
                <a:cxn ang="f165">
                  <a:pos x="f266" y="f258"/>
                </a:cxn>
                <a:cxn ang="f165">
                  <a:pos x="f223" y="f224"/>
                </a:cxn>
                <a:cxn ang="f165">
                  <a:pos x="f239" y="f267"/>
                </a:cxn>
                <a:cxn ang="f165">
                  <a:pos x="f239" y="f268"/>
                </a:cxn>
                <a:cxn ang="f165">
                  <a:pos x="f238" y="f269"/>
                </a:cxn>
                <a:cxn ang="f165">
                  <a:pos x="f270" y="f271"/>
                </a:cxn>
                <a:cxn ang="f165">
                  <a:pos x="f272" y="f273"/>
                </a:cxn>
                <a:cxn ang="f165">
                  <a:pos x="f274" y="f271"/>
                </a:cxn>
                <a:cxn ang="f165">
                  <a:pos x="f260" y="f275"/>
                </a:cxn>
                <a:cxn ang="f165">
                  <a:pos x="f228" y="f258"/>
                </a:cxn>
                <a:cxn ang="f165">
                  <a:pos x="f250" y="f267"/>
                </a:cxn>
                <a:cxn ang="f165">
                  <a:pos x="f239" y="f267"/>
                </a:cxn>
              </a:cxnLst>
              <a:rect l="f219" t="f222" r="f220" b="f221"/>
              <a:pathLst>
                <a:path w="33" h="40">
                  <a:moveTo>
                    <a:pt x="f6" y="f8"/>
                  </a:moveTo>
                  <a:cubicBezTo>
                    <a:pt x="f6" y="f9"/>
                    <a:pt x="f6" y="f10"/>
                    <a:pt x="f6" y="f10"/>
                  </a:cubicBezTo>
                  <a:cubicBezTo>
                    <a:pt x="f6" y="f11"/>
                    <a:pt x="f6" y="f11"/>
                    <a:pt x="f6" y="f12"/>
                  </a:cubicBezTo>
                  <a:cubicBezTo>
                    <a:pt x="f13" y="f12"/>
                    <a:pt x="f13" y="f12"/>
                    <a:pt x="f13" y="f12"/>
                  </a:cubicBezTo>
                  <a:cubicBezTo>
                    <a:pt x="f14" y="f15"/>
                    <a:pt x="f14" y="f16"/>
                    <a:pt x="f17" y="f18"/>
                  </a:cubicBezTo>
                  <a:cubicBezTo>
                    <a:pt x="f17" y="f19"/>
                    <a:pt x="f20" y="f21"/>
                    <a:pt x="f22" y="f23"/>
                  </a:cubicBezTo>
                  <a:cubicBezTo>
                    <a:pt x="f24" y="f25"/>
                    <a:pt x="f26" y="f25"/>
                    <a:pt x="f27" y="f6"/>
                  </a:cubicBezTo>
                  <a:cubicBezTo>
                    <a:pt x="f28" y="f6"/>
                    <a:pt x="f29" y="f6"/>
                    <a:pt x="f30" y="f6"/>
                  </a:cubicBezTo>
                  <a:cubicBezTo>
                    <a:pt x="f31" y="f6"/>
                    <a:pt x="f8" y="f6"/>
                    <a:pt x="f8" y="f6"/>
                  </a:cubicBezTo>
                  <a:cubicBezTo>
                    <a:pt x="f9" y="f6"/>
                    <a:pt x="f10" y="f6"/>
                    <a:pt x="f11" y="f25"/>
                  </a:cubicBezTo>
                  <a:cubicBezTo>
                    <a:pt x="f11" y="f25"/>
                    <a:pt x="f12" y="f25"/>
                    <a:pt x="f12" y="f25"/>
                  </a:cubicBezTo>
                  <a:cubicBezTo>
                    <a:pt x="f32" y="f23"/>
                    <a:pt x="f15" y="f23"/>
                    <a:pt x="f15" y="f21"/>
                  </a:cubicBezTo>
                  <a:cubicBezTo>
                    <a:pt x="f21" y="f33"/>
                    <a:pt x="f21" y="f33"/>
                    <a:pt x="f21" y="f33"/>
                  </a:cubicBezTo>
                  <a:cubicBezTo>
                    <a:pt x="f19" y="f34"/>
                    <a:pt x="f18" y="f35"/>
                    <a:pt x="f36" y="f35"/>
                  </a:cubicBezTo>
                  <a:cubicBezTo>
                    <a:pt x="f16" y="f37"/>
                    <a:pt x="f15" y="f37"/>
                    <a:pt x="f32" y="f38"/>
                  </a:cubicBezTo>
                  <a:cubicBezTo>
                    <a:pt x="f12" y="f38"/>
                    <a:pt x="f11" y="f7"/>
                    <a:pt x="f10" y="f7"/>
                  </a:cubicBezTo>
                  <a:cubicBezTo>
                    <a:pt x="f9" y="f7"/>
                    <a:pt x="f31" y="f7"/>
                    <a:pt x="f30" y="f7"/>
                  </a:cubicBezTo>
                  <a:cubicBezTo>
                    <a:pt x="f28" y="f7"/>
                    <a:pt x="f26" y="f7"/>
                    <a:pt x="f24" y="f38"/>
                  </a:cubicBezTo>
                  <a:cubicBezTo>
                    <a:pt x="f22" y="f38"/>
                    <a:pt x="f17" y="f37"/>
                    <a:pt x="f14" y="f37"/>
                  </a:cubicBezTo>
                  <a:cubicBezTo>
                    <a:pt x="f13" y="f35"/>
                    <a:pt x="f39" y="f34"/>
                    <a:pt x="f40" y="f33"/>
                  </a:cubicBezTo>
                  <a:cubicBezTo>
                    <a:pt x="f41" y="f42"/>
                    <a:pt x="f43" y="f6"/>
                    <a:pt x="f43" y="f23"/>
                  </a:cubicBezTo>
                  <a:cubicBezTo>
                    <a:pt x="f44" y="f21"/>
                    <a:pt x="f45" y="f18"/>
                    <a:pt x="f45" y="f16"/>
                  </a:cubicBezTo>
                  <a:cubicBezTo>
                    <a:pt x="f5" y="f32"/>
                    <a:pt x="f5" y="f11"/>
                    <a:pt x="f5" y="f9"/>
                  </a:cubicBezTo>
                  <a:cubicBezTo>
                    <a:pt x="f5" y="f30"/>
                    <a:pt x="f5" y="f27"/>
                    <a:pt x="f45" y="f24"/>
                  </a:cubicBezTo>
                  <a:cubicBezTo>
                    <a:pt x="f44" y="f17"/>
                    <a:pt x="f43" y="f13"/>
                    <a:pt x="f40" y="f40"/>
                  </a:cubicBezTo>
                  <a:cubicBezTo>
                    <a:pt x="f39" y="f41"/>
                    <a:pt x="f14" y="f44"/>
                    <a:pt x="f20" y="f45"/>
                  </a:cubicBezTo>
                  <a:cubicBezTo>
                    <a:pt x="f24" y="f45"/>
                    <a:pt x="f27" y="f5"/>
                    <a:pt x="f30" y="f5"/>
                  </a:cubicBezTo>
                  <a:cubicBezTo>
                    <a:pt x="f9" y="f5"/>
                    <a:pt x="f11" y="f45"/>
                    <a:pt x="f32" y="f44"/>
                  </a:cubicBezTo>
                  <a:cubicBezTo>
                    <a:pt x="f16" y="f43"/>
                    <a:pt x="f18" y="f41"/>
                    <a:pt x="f19" y="f39"/>
                  </a:cubicBezTo>
                  <a:cubicBezTo>
                    <a:pt x="f21" y="f14"/>
                    <a:pt x="f23" y="f20"/>
                    <a:pt x="f25" y="f24"/>
                  </a:cubicBezTo>
                  <a:cubicBezTo>
                    <a:pt x="f6" y="f27"/>
                    <a:pt x="f6" y="f30"/>
                    <a:pt x="f6" y="f8"/>
                  </a:cubicBezTo>
                  <a:close/>
                  <a:moveTo>
                    <a:pt x="f15" y="f30"/>
                  </a:moveTo>
                  <a:cubicBezTo>
                    <a:pt x="f15" y="f28"/>
                    <a:pt x="f15" y="f27"/>
                    <a:pt x="f15" y="f26"/>
                  </a:cubicBezTo>
                  <a:cubicBezTo>
                    <a:pt x="f32" y="f24"/>
                    <a:pt x="f32" y="f22"/>
                    <a:pt x="f12" y="f20"/>
                  </a:cubicBezTo>
                  <a:cubicBezTo>
                    <a:pt x="f11" y="f17"/>
                    <a:pt x="f10" y="f14"/>
                    <a:pt x="f9" y="f14"/>
                  </a:cubicBezTo>
                  <a:cubicBezTo>
                    <a:pt x="f8" y="f13"/>
                    <a:pt x="f31" y="f13"/>
                    <a:pt x="f29" y="f13"/>
                  </a:cubicBezTo>
                  <a:cubicBezTo>
                    <a:pt x="f28" y="f13"/>
                    <a:pt x="f27" y="f13"/>
                    <a:pt x="f26" y="f14"/>
                  </a:cubicBezTo>
                  <a:cubicBezTo>
                    <a:pt x="f24" y="f14"/>
                    <a:pt x="f22" y="f17"/>
                    <a:pt x="f20" y="f17"/>
                  </a:cubicBezTo>
                  <a:cubicBezTo>
                    <a:pt x="f20" y="f20"/>
                    <a:pt x="f17" y="f22"/>
                    <a:pt x="f17" y="f24"/>
                  </a:cubicBezTo>
                  <a:cubicBezTo>
                    <a:pt x="f14" y="f27"/>
                    <a:pt x="f14" y="f28"/>
                    <a:pt x="f14" y="f30"/>
                  </a:cubicBezTo>
                  <a:lnTo>
                    <a:pt x="f15" y="f30"/>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9" name="Freeform 51">
              <a:extLst>
                <a:ext uri="{FF2B5EF4-FFF2-40B4-BE49-F238E27FC236}">
                  <a16:creationId xmlns:a16="http://schemas.microsoft.com/office/drawing/2014/main" id="{8FEF7095-B9A6-EAF7-43BF-8B7A5ADBF12E}"/>
                </a:ext>
              </a:extLst>
            </p:cNvPr>
            <p:cNvSpPr/>
            <p:nvPr/>
          </p:nvSpPr>
          <p:spPr>
            <a:xfrm>
              <a:off x="856875" y="6259049"/>
              <a:ext cx="83658" cy="137754"/>
            </a:xfrm>
            <a:custGeom>
              <a:avLst/>
              <a:gdLst>
                <a:gd name="f0" fmla="val 10800000"/>
                <a:gd name="f1" fmla="val 5400000"/>
                <a:gd name="f2" fmla="val 180"/>
                <a:gd name="f3" fmla="val w"/>
                <a:gd name="f4" fmla="val h"/>
                <a:gd name="f5" fmla="val 0"/>
                <a:gd name="f6" fmla="val 33"/>
                <a:gd name="f7" fmla="val 54"/>
                <a:gd name="f8" fmla="val 35"/>
                <a:gd name="f9" fmla="val 38"/>
                <a:gd name="f10" fmla="val 32"/>
                <a:gd name="f11" fmla="val 41"/>
                <a:gd name="f12" fmla="val 31"/>
                <a:gd name="f13" fmla="val 43"/>
                <a:gd name="f14" fmla="val 30"/>
                <a:gd name="f15" fmla="val 46"/>
                <a:gd name="f16" fmla="val 29"/>
                <a:gd name="f17" fmla="val 48"/>
                <a:gd name="f18" fmla="val 28"/>
                <a:gd name="f19" fmla="val 49"/>
                <a:gd name="f20" fmla="val 27"/>
                <a:gd name="f21" fmla="val 51"/>
                <a:gd name="f22" fmla="val 25"/>
                <a:gd name="f23" fmla="val 52"/>
                <a:gd name="f24" fmla="val 23"/>
                <a:gd name="f25" fmla="val 53"/>
                <a:gd name="f26" fmla="val 21"/>
                <a:gd name="f27" fmla="val 19"/>
                <a:gd name="f28" fmla="val 17"/>
                <a:gd name="f29" fmla="val 16"/>
                <a:gd name="f30" fmla="val 14"/>
                <a:gd name="f31" fmla="val 12"/>
                <a:gd name="f32" fmla="val 10"/>
                <a:gd name="f33" fmla="val 9"/>
                <a:gd name="f34" fmla="val 8"/>
                <a:gd name="f35" fmla="val 50"/>
                <a:gd name="f36" fmla="val 4"/>
                <a:gd name="f37" fmla="val 18"/>
                <a:gd name="f38" fmla="val 11"/>
                <a:gd name="f39" fmla="val 13"/>
                <a:gd name="f40" fmla="val 15"/>
                <a:gd name="f41" fmla="val 20"/>
                <a:gd name="f42" fmla="val 22"/>
                <a:gd name="f43" fmla="val 24"/>
                <a:gd name="f44" fmla="val 26"/>
                <a:gd name="f45" fmla="val 42"/>
                <a:gd name="f46" fmla="val 44"/>
                <a:gd name="f47" fmla="val 45"/>
                <a:gd name="f48" fmla="val 47"/>
                <a:gd name="f49" fmla="val 39"/>
                <a:gd name="f50" fmla="+- 0 0 -90"/>
                <a:gd name="f51" fmla="*/ f3 1 33"/>
                <a:gd name="f52" fmla="*/ f4 1 54"/>
                <a:gd name="f53" fmla="+- f7 0 f5"/>
                <a:gd name="f54" fmla="+- f6 0 f5"/>
                <a:gd name="f55" fmla="*/ f50 f0 1"/>
                <a:gd name="f56" fmla="*/ f54 1 33"/>
                <a:gd name="f57" fmla="*/ f53 1 54"/>
                <a:gd name="f58" fmla="*/ 33 f54 1"/>
                <a:gd name="f59" fmla="*/ 35 f53 1"/>
                <a:gd name="f60" fmla="*/ 31 f54 1"/>
                <a:gd name="f61" fmla="*/ 43 f53 1"/>
                <a:gd name="f62" fmla="*/ 28 f54 1"/>
                <a:gd name="f63" fmla="*/ 49 f53 1"/>
                <a:gd name="f64" fmla="*/ 23 f54 1"/>
                <a:gd name="f65" fmla="*/ 53 f53 1"/>
                <a:gd name="f66" fmla="*/ 17 f54 1"/>
                <a:gd name="f67" fmla="*/ 54 f53 1"/>
                <a:gd name="f68" fmla="*/ 12 f54 1"/>
                <a:gd name="f69" fmla="*/ 8 f54 1"/>
                <a:gd name="f70" fmla="*/ 50 f53 1"/>
                <a:gd name="f71" fmla="*/ 0 f54 1"/>
                <a:gd name="f72" fmla="*/ 4 f53 1"/>
                <a:gd name="f73" fmla="*/ 0 f53 1"/>
                <a:gd name="f74" fmla="*/ 19 f53 1"/>
                <a:gd name="f75" fmla="*/ 10 f54 1"/>
                <a:gd name="f76" fmla="*/ 17 f53 1"/>
                <a:gd name="f77" fmla="*/ 16 f53 1"/>
                <a:gd name="f78" fmla="*/ 14 f54 1"/>
                <a:gd name="f79" fmla="*/ 14 f53 1"/>
                <a:gd name="f80" fmla="*/ 18 f54 1"/>
                <a:gd name="f81" fmla="*/ 24 f54 1"/>
                <a:gd name="f82" fmla="*/ 15 f53 1"/>
                <a:gd name="f83" fmla="*/ 25 f53 1"/>
                <a:gd name="f84" fmla="*/ 25 f54 1"/>
                <a:gd name="f85" fmla="*/ 24 f53 1"/>
                <a:gd name="f86" fmla="*/ 16 f54 1"/>
                <a:gd name="f87" fmla="*/ 21 f53 1"/>
                <a:gd name="f88" fmla="*/ 11 f54 1"/>
                <a:gd name="f89" fmla="*/ 23 f53 1"/>
                <a:gd name="f90" fmla="*/ 9 f54 1"/>
                <a:gd name="f91" fmla="*/ 26 f53 1"/>
                <a:gd name="f92" fmla="*/ 42 f53 1"/>
                <a:gd name="f93" fmla="*/ 44 f53 1"/>
                <a:gd name="f94" fmla="*/ 45 f53 1"/>
                <a:gd name="f95" fmla="*/ 47 f53 1"/>
                <a:gd name="f96" fmla="*/ f55 1 f2"/>
                <a:gd name="f97" fmla="*/ f58 1 33"/>
                <a:gd name="f98" fmla="*/ f59 1 54"/>
                <a:gd name="f99" fmla="*/ f60 1 33"/>
                <a:gd name="f100" fmla="*/ f61 1 54"/>
                <a:gd name="f101" fmla="*/ f62 1 33"/>
                <a:gd name="f102" fmla="*/ f63 1 54"/>
                <a:gd name="f103" fmla="*/ f64 1 33"/>
                <a:gd name="f104" fmla="*/ f65 1 54"/>
                <a:gd name="f105" fmla="*/ f66 1 33"/>
                <a:gd name="f106" fmla="*/ f67 1 54"/>
                <a:gd name="f107" fmla="*/ f68 1 33"/>
                <a:gd name="f108" fmla="*/ f69 1 33"/>
                <a:gd name="f109" fmla="*/ f70 1 54"/>
                <a:gd name="f110" fmla="*/ f71 1 33"/>
                <a:gd name="f111" fmla="*/ f72 1 54"/>
                <a:gd name="f112" fmla="*/ f73 1 54"/>
                <a:gd name="f113" fmla="*/ f74 1 54"/>
                <a:gd name="f114" fmla="*/ f75 1 33"/>
                <a:gd name="f115" fmla="*/ f76 1 54"/>
                <a:gd name="f116" fmla="*/ f77 1 54"/>
                <a:gd name="f117" fmla="*/ f78 1 33"/>
                <a:gd name="f118" fmla="*/ f79 1 54"/>
                <a:gd name="f119" fmla="*/ f80 1 33"/>
                <a:gd name="f120" fmla="*/ f81 1 33"/>
                <a:gd name="f121" fmla="*/ f82 1 54"/>
                <a:gd name="f122" fmla="*/ f83 1 54"/>
                <a:gd name="f123" fmla="*/ f84 1 33"/>
                <a:gd name="f124" fmla="*/ f85 1 54"/>
                <a:gd name="f125" fmla="*/ f86 1 33"/>
                <a:gd name="f126" fmla="*/ f87 1 54"/>
                <a:gd name="f127" fmla="*/ f88 1 33"/>
                <a:gd name="f128" fmla="*/ f89 1 54"/>
                <a:gd name="f129" fmla="*/ f90 1 33"/>
                <a:gd name="f130" fmla="*/ f91 1 54"/>
                <a:gd name="f131" fmla="*/ f92 1 54"/>
                <a:gd name="f132" fmla="*/ f93 1 54"/>
                <a:gd name="f133" fmla="*/ f94 1 54"/>
                <a:gd name="f134" fmla="*/ f95 1 54"/>
                <a:gd name="f135" fmla="*/ 0 1 f56"/>
                <a:gd name="f136" fmla="*/ f6 1 f56"/>
                <a:gd name="f137" fmla="*/ 0 1 f57"/>
                <a:gd name="f138" fmla="*/ f7 1 f57"/>
                <a:gd name="f139" fmla="+- f96 0 f1"/>
                <a:gd name="f140" fmla="*/ f97 1 f56"/>
                <a:gd name="f141" fmla="*/ f98 1 f57"/>
                <a:gd name="f142" fmla="*/ f99 1 f56"/>
                <a:gd name="f143" fmla="*/ f100 1 f57"/>
                <a:gd name="f144" fmla="*/ f101 1 f56"/>
                <a:gd name="f145" fmla="*/ f102 1 f57"/>
                <a:gd name="f146" fmla="*/ f103 1 f56"/>
                <a:gd name="f147" fmla="*/ f104 1 f57"/>
                <a:gd name="f148" fmla="*/ f105 1 f56"/>
                <a:gd name="f149" fmla="*/ f106 1 f57"/>
                <a:gd name="f150" fmla="*/ f107 1 f56"/>
                <a:gd name="f151" fmla="*/ f108 1 f56"/>
                <a:gd name="f152" fmla="*/ f109 1 f57"/>
                <a:gd name="f153" fmla="*/ f110 1 f56"/>
                <a:gd name="f154" fmla="*/ f111 1 f57"/>
                <a:gd name="f155" fmla="*/ f112 1 f57"/>
                <a:gd name="f156" fmla="*/ f113 1 f57"/>
                <a:gd name="f157" fmla="*/ f114 1 f56"/>
                <a:gd name="f158" fmla="*/ f115 1 f57"/>
                <a:gd name="f159" fmla="*/ f116 1 f57"/>
                <a:gd name="f160" fmla="*/ f117 1 f56"/>
                <a:gd name="f161" fmla="*/ f118 1 f57"/>
                <a:gd name="f162" fmla="*/ f119 1 f56"/>
                <a:gd name="f163" fmla="*/ f120 1 f56"/>
                <a:gd name="f164" fmla="*/ f121 1 f57"/>
                <a:gd name="f165" fmla="*/ f122 1 f57"/>
                <a:gd name="f166" fmla="*/ f123 1 f56"/>
                <a:gd name="f167" fmla="*/ f124 1 f57"/>
                <a:gd name="f168" fmla="*/ f125 1 f56"/>
                <a:gd name="f169" fmla="*/ f126 1 f57"/>
                <a:gd name="f170" fmla="*/ f127 1 f56"/>
                <a:gd name="f171" fmla="*/ f128 1 f57"/>
                <a:gd name="f172" fmla="*/ f129 1 f56"/>
                <a:gd name="f173" fmla="*/ f130 1 f57"/>
                <a:gd name="f174" fmla="*/ f131 1 f57"/>
                <a:gd name="f175" fmla="*/ f132 1 f57"/>
                <a:gd name="f176" fmla="*/ f133 1 f57"/>
                <a:gd name="f177" fmla="*/ f134 1 f57"/>
                <a:gd name="f178" fmla="*/ f135 f51 1"/>
                <a:gd name="f179" fmla="*/ f136 f51 1"/>
                <a:gd name="f180" fmla="*/ f138 f52 1"/>
                <a:gd name="f181" fmla="*/ f137 f52 1"/>
                <a:gd name="f182" fmla="*/ f140 f51 1"/>
                <a:gd name="f183" fmla="*/ f141 f52 1"/>
                <a:gd name="f184" fmla="*/ f142 f51 1"/>
                <a:gd name="f185" fmla="*/ f143 f52 1"/>
                <a:gd name="f186" fmla="*/ f144 f51 1"/>
                <a:gd name="f187" fmla="*/ f145 f52 1"/>
                <a:gd name="f188" fmla="*/ f146 f51 1"/>
                <a:gd name="f189" fmla="*/ f147 f52 1"/>
                <a:gd name="f190" fmla="*/ f148 f51 1"/>
                <a:gd name="f191" fmla="*/ f149 f52 1"/>
                <a:gd name="f192" fmla="*/ f150 f51 1"/>
                <a:gd name="f193" fmla="*/ f151 f51 1"/>
                <a:gd name="f194" fmla="*/ f152 f52 1"/>
                <a:gd name="f195" fmla="*/ f153 f51 1"/>
                <a:gd name="f196" fmla="*/ f154 f52 1"/>
                <a:gd name="f197" fmla="*/ f155 f52 1"/>
                <a:gd name="f198" fmla="*/ f156 f52 1"/>
                <a:gd name="f199" fmla="*/ f157 f51 1"/>
                <a:gd name="f200" fmla="*/ f158 f52 1"/>
                <a:gd name="f201" fmla="*/ f159 f52 1"/>
                <a:gd name="f202" fmla="*/ f160 f51 1"/>
                <a:gd name="f203" fmla="*/ f161 f52 1"/>
                <a:gd name="f204" fmla="*/ f162 f51 1"/>
                <a:gd name="f205" fmla="*/ f163 f51 1"/>
                <a:gd name="f206" fmla="*/ f164 f52 1"/>
                <a:gd name="f207" fmla="*/ f165 f52 1"/>
                <a:gd name="f208" fmla="*/ f166 f51 1"/>
                <a:gd name="f209" fmla="*/ f167 f52 1"/>
                <a:gd name="f210" fmla="*/ f168 f51 1"/>
                <a:gd name="f211" fmla="*/ f169 f52 1"/>
                <a:gd name="f212" fmla="*/ f170 f51 1"/>
                <a:gd name="f213" fmla="*/ f171 f52 1"/>
                <a:gd name="f214" fmla="*/ f172 f51 1"/>
                <a:gd name="f215" fmla="*/ f173 f52 1"/>
                <a:gd name="f216" fmla="*/ f174 f52 1"/>
                <a:gd name="f217" fmla="*/ f175 f52 1"/>
                <a:gd name="f218" fmla="*/ f176 f52 1"/>
                <a:gd name="f219" fmla="*/ f177 f52 1"/>
              </a:gdLst>
              <a:ahLst/>
              <a:cxnLst>
                <a:cxn ang="3cd4">
                  <a:pos x="hc" y="t"/>
                </a:cxn>
                <a:cxn ang="0">
                  <a:pos x="r" y="vc"/>
                </a:cxn>
                <a:cxn ang="cd4">
                  <a:pos x="hc" y="b"/>
                </a:cxn>
                <a:cxn ang="cd2">
                  <a:pos x="l" y="vc"/>
                </a:cxn>
                <a:cxn ang="f139">
                  <a:pos x="f182" y="f183"/>
                </a:cxn>
                <a:cxn ang="f139">
                  <a:pos x="f184" y="f185"/>
                </a:cxn>
                <a:cxn ang="f139">
                  <a:pos x="f186" y="f187"/>
                </a:cxn>
                <a:cxn ang="f139">
                  <a:pos x="f188" y="f189"/>
                </a:cxn>
                <a:cxn ang="f139">
                  <a:pos x="f190" y="f191"/>
                </a:cxn>
                <a:cxn ang="f139">
                  <a:pos x="f192" y="f189"/>
                </a:cxn>
                <a:cxn ang="f139">
                  <a:pos x="f193" y="f194"/>
                </a:cxn>
                <a:cxn ang="f139">
                  <a:pos x="f193" y="f189"/>
                </a:cxn>
                <a:cxn ang="f139">
                  <a:pos x="f195" y="f189"/>
                </a:cxn>
                <a:cxn ang="f139">
                  <a:pos x="f195" y="f196"/>
                </a:cxn>
                <a:cxn ang="f139">
                  <a:pos x="f193" y="f197"/>
                </a:cxn>
                <a:cxn ang="f139">
                  <a:pos x="f193" y="f198"/>
                </a:cxn>
                <a:cxn ang="f139">
                  <a:pos x="f199" y="f200"/>
                </a:cxn>
                <a:cxn ang="f139">
                  <a:pos x="f192" y="f201"/>
                </a:cxn>
                <a:cxn ang="f139">
                  <a:pos x="f202" y="f203"/>
                </a:cxn>
                <a:cxn ang="f139">
                  <a:pos x="f204" y="f203"/>
                </a:cxn>
                <a:cxn ang="f139">
                  <a:pos x="f205" y="f206"/>
                </a:cxn>
                <a:cxn ang="f139">
                  <a:pos x="f186" y="f198"/>
                </a:cxn>
                <a:cxn ang="f139">
                  <a:pos x="f184" y="f207"/>
                </a:cxn>
                <a:cxn ang="f139">
                  <a:pos x="f182" y="f183"/>
                </a:cxn>
                <a:cxn ang="f139">
                  <a:pos x="f208" y="f183"/>
                </a:cxn>
                <a:cxn ang="f139">
                  <a:pos x="f188" y="f209"/>
                </a:cxn>
                <a:cxn ang="f139">
                  <a:pos x="f210" y="f211"/>
                </a:cxn>
                <a:cxn ang="f139">
                  <a:pos x="f202" y="f211"/>
                </a:cxn>
                <a:cxn ang="f139">
                  <a:pos x="f212" y="f213"/>
                </a:cxn>
                <a:cxn ang="f139">
                  <a:pos x="f214" y="f209"/>
                </a:cxn>
                <a:cxn ang="f139">
                  <a:pos x="f193" y="f215"/>
                </a:cxn>
                <a:cxn ang="f139">
                  <a:pos x="f193" y="f216"/>
                </a:cxn>
                <a:cxn ang="f139">
                  <a:pos x="f214" y="f217"/>
                </a:cxn>
                <a:cxn ang="f139">
                  <a:pos x="f212" y="f218"/>
                </a:cxn>
                <a:cxn ang="f139">
                  <a:pos x="f202" y="f219"/>
                </a:cxn>
                <a:cxn ang="f139">
                  <a:pos x="f190" y="f219"/>
                </a:cxn>
                <a:cxn ang="f139">
                  <a:pos x="f188" y="f217"/>
                </a:cxn>
                <a:cxn ang="f139">
                  <a:pos x="f208" y="f183"/>
                </a:cxn>
              </a:cxnLst>
              <a:rect l="f178" t="f181" r="f179" b="f180"/>
              <a:pathLst>
                <a:path w="33" h="54">
                  <a:moveTo>
                    <a:pt x="f6" y="f8"/>
                  </a:moveTo>
                  <a:cubicBezTo>
                    <a:pt x="f6" y="f9"/>
                    <a:pt x="f10" y="f11"/>
                    <a:pt x="f12" y="f13"/>
                  </a:cubicBezTo>
                  <a:cubicBezTo>
                    <a:pt x="f14" y="f15"/>
                    <a:pt x="f16" y="f17"/>
                    <a:pt x="f18" y="f19"/>
                  </a:cubicBezTo>
                  <a:cubicBezTo>
                    <a:pt x="f20" y="f21"/>
                    <a:pt x="f22" y="f23"/>
                    <a:pt x="f24" y="f25"/>
                  </a:cubicBezTo>
                  <a:cubicBezTo>
                    <a:pt x="f26" y="f7"/>
                    <a:pt x="f27" y="f7"/>
                    <a:pt x="f28" y="f7"/>
                  </a:cubicBezTo>
                  <a:cubicBezTo>
                    <a:pt x="f29" y="f7"/>
                    <a:pt x="f30" y="f7"/>
                    <a:pt x="f31" y="f25"/>
                  </a:cubicBezTo>
                  <a:cubicBezTo>
                    <a:pt x="f32" y="f23"/>
                    <a:pt x="f33" y="f21"/>
                    <a:pt x="f34" y="f35"/>
                  </a:cubicBezTo>
                  <a:cubicBezTo>
                    <a:pt x="f34" y="f25"/>
                    <a:pt x="f34" y="f25"/>
                    <a:pt x="f34" y="f25"/>
                  </a:cubicBezTo>
                  <a:cubicBezTo>
                    <a:pt x="f5" y="f25"/>
                    <a:pt x="f5" y="f25"/>
                    <a:pt x="f5" y="f25"/>
                  </a:cubicBezTo>
                  <a:cubicBezTo>
                    <a:pt x="f5" y="f36"/>
                    <a:pt x="f5" y="f36"/>
                    <a:pt x="f5" y="f36"/>
                  </a:cubicBezTo>
                  <a:cubicBezTo>
                    <a:pt x="f34" y="f5"/>
                    <a:pt x="f34" y="f5"/>
                    <a:pt x="f34" y="f5"/>
                  </a:cubicBezTo>
                  <a:cubicBezTo>
                    <a:pt x="f34" y="f27"/>
                    <a:pt x="f34" y="f27"/>
                    <a:pt x="f34" y="f27"/>
                  </a:cubicBezTo>
                  <a:cubicBezTo>
                    <a:pt x="f33" y="f37"/>
                    <a:pt x="f33" y="f28"/>
                    <a:pt x="f32" y="f28"/>
                  </a:cubicBezTo>
                  <a:cubicBezTo>
                    <a:pt x="f38" y="f29"/>
                    <a:pt x="f38" y="f29"/>
                    <a:pt x="f31" y="f29"/>
                  </a:cubicBezTo>
                  <a:cubicBezTo>
                    <a:pt x="f39" y="f40"/>
                    <a:pt x="f39" y="f40"/>
                    <a:pt x="f30" y="f30"/>
                  </a:cubicBezTo>
                  <a:cubicBezTo>
                    <a:pt x="f40" y="f30"/>
                    <a:pt x="f29" y="f30"/>
                    <a:pt x="f37" y="f30"/>
                  </a:cubicBezTo>
                  <a:cubicBezTo>
                    <a:pt x="f41" y="f30"/>
                    <a:pt x="f42" y="f30"/>
                    <a:pt x="f43" y="f40"/>
                  </a:cubicBezTo>
                  <a:cubicBezTo>
                    <a:pt x="f22" y="f29"/>
                    <a:pt x="f20" y="f28"/>
                    <a:pt x="f18" y="f27"/>
                  </a:cubicBezTo>
                  <a:cubicBezTo>
                    <a:pt x="f14" y="f26"/>
                    <a:pt x="f12" y="f24"/>
                    <a:pt x="f12" y="f22"/>
                  </a:cubicBezTo>
                  <a:cubicBezTo>
                    <a:pt x="f10" y="f18"/>
                    <a:pt x="f6" y="f12"/>
                    <a:pt x="f6" y="f8"/>
                  </a:cubicBezTo>
                  <a:close/>
                  <a:moveTo>
                    <a:pt x="f22" y="f8"/>
                  </a:moveTo>
                  <a:cubicBezTo>
                    <a:pt x="f22" y="f14"/>
                    <a:pt x="f43" y="f20"/>
                    <a:pt x="f24" y="f43"/>
                  </a:cubicBezTo>
                  <a:cubicBezTo>
                    <a:pt x="f26" y="f42"/>
                    <a:pt x="f27" y="f26"/>
                    <a:pt x="f29" y="f26"/>
                  </a:cubicBezTo>
                  <a:cubicBezTo>
                    <a:pt x="f40" y="f26"/>
                    <a:pt x="f40" y="f26"/>
                    <a:pt x="f30" y="f26"/>
                  </a:cubicBezTo>
                  <a:cubicBezTo>
                    <a:pt x="f39" y="f42"/>
                    <a:pt x="f31" y="f42"/>
                    <a:pt x="f38" y="f24"/>
                  </a:cubicBezTo>
                  <a:cubicBezTo>
                    <a:pt x="f38" y="f24"/>
                    <a:pt x="f32" y="f43"/>
                    <a:pt x="f33" y="f43"/>
                  </a:cubicBezTo>
                  <a:cubicBezTo>
                    <a:pt x="f33" y="f22"/>
                    <a:pt x="f34" y="f22"/>
                    <a:pt x="f34" y="f44"/>
                  </a:cubicBezTo>
                  <a:cubicBezTo>
                    <a:pt x="f34" y="f45"/>
                    <a:pt x="f34" y="f45"/>
                    <a:pt x="f34" y="f45"/>
                  </a:cubicBezTo>
                  <a:cubicBezTo>
                    <a:pt x="f34" y="f13"/>
                    <a:pt x="f33" y="f13"/>
                    <a:pt x="f33" y="f46"/>
                  </a:cubicBezTo>
                  <a:cubicBezTo>
                    <a:pt x="f32" y="f46"/>
                    <a:pt x="f38" y="f47"/>
                    <a:pt x="f38" y="f47"/>
                  </a:cubicBezTo>
                  <a:cubicBezTo>
                    <a:pt x="f31" y="f15"/>
                    <a:pt x="f39" y="f15"/>
                    <a:pt x="f30" y="f48"/>
                  </a:cubicBezTo>
                  <a:cubicBezTo>
                    <a:pt x="f40" y="f48"/>
                    <a:pt x="f29" y="f48"/>
                    <a:pt x="f28" y="f48"/>
                  </a:cubicBezTo>
                  <a:cubicBezTo>
                    <a:pt x="f27" y="f48"/>
                    <a:pt x="f26" y="f15"/>
                    <a:pt x="f24" y="f46"/>
                  </a:cubicBezTo>
                  <a:cubicBezTo>
                    <a:pt x="f43" y="f45"/>
                    <a:pt x="f22" y="f49"/>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0" name="Freeform 52">
              <a:extLst>
                <a:ext uri="{FF2B5EF4-FFF2-40B4-BE49-F238E27FC236}">
                  <a16:creationId xmlns:a16="http://schemas.microsoft.com/office/drawing/2014/main" id="{DAE1946C-E1F9-E903-07A9-C3CBF5DDD1ED}"/>
                </a:ext>
              </a:extLst>
            </p:cNvPr>
            <p:cNvSpPr/>
            <p:nvPr/>
          </p:nvSpPr>
          <p:spPr>
            <a:xfrm>
              <a:off x="956215"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3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30 f50 1"/>
                <a:gd name="f74" fmla="*/ 35 f49 1"/>
                <a:gd name="f75" fmla="*/ 27 f50 1"/>
                <a:gd name="f76" fmla="*/ 37 f49 1"/>
                <a:gd name="f77" fmla="*/ 24 f50 1"/>
                <a:gd name="f78" fmla="*/ 39 f49 1"/>
                <a:gd name="f79" fmla="*/ 40 f49 1"/>
                <a:gd name="f80" fmla="*/ 16 f50 1"/>
                <a:gd name="f81" fmla="*/ 12 f50 1"/>
                <a:gd name="f82" fmla="*/ 38 f49 1"/>
                <a:gd name="f83" fmla="*/ 5 f50 1"/>
                <a:gd name="f84" fmla="*/ 2 f50 1"/>
                <a:gd name="f85" fmla="*/ 0 f50 1"/>
                <a:gd name="f86" fmla="*/ 26 f49 1"/>
                <a:gd name="f87" fmla="*/ 20 f49 1"/>
                <a:gd name="f88" fmla="*/ 1 f50 1"/>
                <a:gd name="f89" fmla="*/ 12 f49 1"/>
                <a:gd name="f90" fmla="*/ 4 f50 1"/>
                <a:gd name="f91" fmla="*/ 5 f49 1"/>
                <a:gd name="f92" fmla="*/ 1 f49 1"/>
                <a:gd name="f93" fmla="*/ 0 f49 1"/>
                <a:gd name="f94" fmla="*/ 2 f49 1"/>
                <a:gd name="f95" fmla="*/ 29 f50 1"/>
                <a:gd name="f96" fmla="*/ 6 f49 1"/>
                <a:gd name="f97" fmla="*/ 17 f49 1"/>
                <a:gd name="f98" fmla="*/ 13 f49 1"/>
                <a:gd name="f99" fmla="*/ 10 f49 1"/>
                <a:gd name="f100" fmla="*/ 20 f50 1"/>
                <a:gd name="f101" fmla="*/ 8 f49 1"/>
                <a:gd name="f102" fmla="*/ 7 f49 1"/>
                <a:gd name="f103" fmla="*/ 9 f49 1"/>
                <a:gd name="f104" fmla="*/ f51 1 f2"/>
                <a:gd name="f105" fmla="*/ f54 1 33"/>
                <a:gd name="f106" fmla="*/ f55 1 40"/>
                <a:gd name="f107" fmla="*/ f56 1 40"/>
                <a:gd name="f108" fmla="*/ f57 1 33"/>
                <a:gd name="f109" fmla="*/ f58 1 40"/>
                <a:gd name="f110" fmla="*/ f59 1 33"/>
                <a:gd name="f111" fmla="*/ f60 1 33"/>
                <a:gd name="f112" fmla="*/ f61 1 40"/>
                <a:gd name="f113" fmla="*/ f62 1 33"/>
                <a:gd name="f114" fmla="*/ f63 1 40"/>
                <a:gd name="f115" fmla="*/ f64 1 33"/>
                <a:gd name="f116" fmla="*/ f65 1 40"/>
                <a:gd name="f117" fmla="*/ f66 1 33"/>
                <a:gd name="f118" fmla="*/ f67 1 33"/>
                <a:gd name="f119" fmla="*/ f68 1 33"/>
                <a:gd name="f120" fmla="*/ f69 1 40"/>
                <a:gd name="f121" fmla="*/ f70 1 33"/>
                <a:gd name="f122" fmla="*/ f71 1 33"/>
                <a:gd name="f123" fmla="*/ f72 1 40"/>
                <a:gd name="f124" fmla="*/ f73 1 33"/>
                <a:gd name="f125" fmla="*/ f74 1 40"/>
                <a:gd name="f126" fmla="*/ f75 1 33"/>
                <a:gd name="f127" fmla="*/ f76 1 40"/>
                <a:gd name="f128" fmla="*/ f77 1 33"/>
                <a:gd name="f129" fmla="*/ f78 1 40"/>
                <a:gd name="f130" fmla="*/ f79 1 40"/>
                <a:gd name="f131" fmla="*/ f80 1 33"/>
                <a:gd name="f132" fmla="*/ f81 1 33"/>
                <a:gd name="f133" fmla="*/ f82 1 40"/>
                <a:gd name="f134" fmla="*/ f83 1 33"/>
                <a:gd name="f135" fmla="*/ f84 1 33"/>
                <a:gd name="f136" fmla="*/ f85 1 33"/>
                <a:gd name="f137" fmla="*/ f86 1 40"/>
                <a:gd name="f138" fmla="*/ f87 1 40"/>
                <a:gd name="f139" fmla="*/ f88 1 33"/>
                <a:gd name="f140" fmla="*/ f89 1 40"/>
                <a:gd name="f141" fmla="*/ f90 1 33"/>
                <a:gd name="f142" fmla="*/ f91 1 40"/>
                <a:gd name="f143" fmla="*/ f92 1 40"/>
                <a:gd name="f144" fmla="*/ f93 1 40"/>
                <a:gd name="f145" fmla="*/ f94 1 40"/>
                <a:gd name="f146" fmla="*/ f95 1 33"/>
                <a:gd name="f147" fmla="*/ f96 1 40"/>
                <a:gd name="f148" fmla="*/ f97 1 40"/>
                <a:gd name="f149" fmla="*/ f98 1 40"/>
                <a:gd name="f150" fmla="*/ f99 1 40"/>
                <a:gd name="f151" fmla="*/ f100 1 33"/>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3"/>
                <a:gd name="f163" fmla="*/ f108 1 f52"/>
                <a:gd name="f164" fmla="*/ f109 1 f53"/>
                <a:gd name="f165" fmla="*/ f110 1 f52"/>
                <a:gd name="f166" fmla="*/ f111 1 f52"/>
                <a:gd name="f167" fmla="*/ f112 1 f53"/>
                <a:gd name="f168" fmla="*/ f113 1 f52"/>
                <a:gd name="f169" fmla="*/ f114 1 f53"/>
                <a:gd name="f170" fmla="*/ f115 1 f52"/>
                <a:gd name="f171" fmla="*/ f116 1 f53"/>
                <a:gd name="f172" fmla="*/ f117 1 f52"/>
                <a:gd name="f173" fmla="*/ f118 1 f52"/>
                <a:gd name="f174" fmla="*/ f119 1 f52"/>
                <a:gd name="f175" fmla="*/ f120 1 f53"/>
                <a:gd name="f176" fmla="*/ f121 1 f52"/>
                <a:gd name="f177" fmla="*/ f122 1 f52"/>
                <a:gd name="f178" fmla="*/ f123 1 f53"/>
                <a:gd name="f179" fmla="*/ f124 1 f52"/>
                <a:gd name="f180" fmla="*/ f125 1 f53"/>
                <a:gd name="f181" fmla="*/ f126 1 f52"/>
                <a:gd name="f182" fmla="*/ f127 1 f53"/>
                <a:gd name="f183" fmla="*/ f128 1 f52"/>
                <a:gd name="f184" fmla="*/ f129 1 f53"/>
                <a:gd name="f185" fmla="*/ f130 1 f53"/>
                <a:gd name="f186" fmla="*/ f131 1 f52"/>
                <a:gd name="f187" fmla="*/ f132 1 f52"/>
                <a:gd name="f188" fmla="*/ f133 1 f53"/>
                <a:gd name="f189" fmla="*/ f134 1 f52"/>
                <a:gd name="f190" fmla="*/ f135 1 f52"/>
                <a:gd name="f191" fmla="*/ f136 1 f52"/>
                <a:gd name="f192" fmla="*/ f137 1 f53"/>
                <a:gd name="f193" fmla="*/ f138 1 f53"/>
                <a:gd name="f194" fmla="*/ f139 1 f52"/>
                <a:gd name="f195" fmla="*/ f140 1 f53"/>
                <a:gd name="f196" fmla="*/ f141 1 f52"/>
                <a:gd name="f197" fmla="*/ f142 1 f53"/>
                <a:gd name="f198" fmla="*/ f143 1 f53"/>
                <a:gd name="f199" fmla="*/ f144 1 f53"/>
                <a:gd name="f200" fmla="*/ f145 1 f53"/>
                <a:gd name="f201" fmla="*/ f146 1 f52"/>
                <a:gd name="f202" fmla="*/ f147 1 f53"/>
                <a:gd name="f203" fmla="*/ f148 1 f53"/>
                <a:gd name="f204" fmla="*/ f149 1 f53"/>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8 1"/>
                <a:gd name="f217" fmla="*/ f163 f47 1"/>
                <a:gd name="f218" fmla="*/ f164 f48 1"/>
                <a:gd name="f219" fmla="*/ f165 f47 1"/>
                <a:gd name="f220" fmla="*/ f166 f47 1"/>
                <a:gd name="f221" fmla="*/ f167 f48 1"/>
                <a:gd name="f222" fmla="*/ f168 f47 1"/>
                <a:gd name="f223" fmla="*/ f169 f48 1"/>
                <a:gd name="f224" fmla="*/ f170 f47 1"/>
                <a:gd name="f225" fmla="*/ f171 f48 1"/>
                <a:gd name="f226" fmla="*/ f172 f47 1"/>
                <a:gd name="f227" fmla="*/ f173 f47 1"/>
                <a:gd name="f228" fmla="*/ f174 f47 1"/>
                <a:gd name="f229" fmla="*/ f175 f48 1"/>
                <a:gd name="f230" fmla="*/ f176 f47 1"/>
                <a:gd name="f231" fmla="*/ f177 f47 1"/>
                <a:gd name="f232" fmla="*/ f178 f48 1"/>
                <a:gd name="f233" fmla="*/ f179 f47 1"/>
                <a:gd name="f234" fmla="*/ f180 f48 1"/>
                <a:gd name="f235" fmla="*/ f181 f47 1"/>
                <a:gd name="f236" fmla="*/ f182 f48 1"/>
                <a:gd name="f237" fmla="*/ f183 f47 1"/>
                <a:gd name="f238" fmla="*/ f184 f48 1"/>
                <a:gd name="f239" fmla="*/ f185 f48 1"/>
                <a:gd name="f240" fmla="*/ f186 f47 1"/>
                <a:gd name="f241" fmla="*/ f187 f47 1"/>
                <a:gd name="f242" fmla="*/ f188 f48 1"/>
                <a:gd name="f243" fmla="*/ f189 f47 1"/>
                <a:gd name="f244" fmla="*/ f190 f47 1"/>
                <a:gd name="f245" fmla="*/ f191 f47 1"/>
                <a:gd name="f246" fmla="*/ f192 f48 1"/>
                <a:gd name="f247" fmla="*/ f193 f48 1"/>
                <a:gd name="f248" fmla="*/ f194 f47 1"/>
                <a:gd name="f249" fmla="*/ f195 f48 1"/>
                <a:gd name="f250" fmla="*/ f196 f47 1"/>
                <a:gd name="f251" fmla="*/ f197 f48 1"/>
                <a:gd name="f252" fmla="*/ f198 f48 1"/>
                <a:gd name="f253" fmla="*/ f199 f48 1"/>
                <a:gd name="f254" fmla="*/ f200 f48 1"/>
                <a:gd name="f255" fmla="*/ f201 f47 1"/>
                <a:gd name="f256" fmla="*/ f202 f48 1"/>
                <a:gd name="f257" fmla="*/ f203 f48 1"/>
                <a:gd name="f258" fmla="*/ f204 f48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4" y="f216"/>
                </a:cxn>
                <a:cxn ang="f159">
                  <a:pos x="f217" y="f218"/>
                </a:cxn>
                <a:cxn ang="f159">
                  <a:pos x="f219" y="f218"/>
                </a:cxn>
                <a:cxn ang="f159">
                  <a:pos x="f220" y="f221"/>
                </a:cxn>
                <a:cxn ang="f159">
                  <a:pos x="f222" y="f223"/>
                </a:cxn>
                <a:cxn ang="f159">
                  <a:pos x="f224" y="f225"/>
                </a:cxn>
                <a:cxn ang="f159">
                  <a:pos x="f226" y="f225"/>
                </a:cxn>
                <a:cxn ang="f159">
                  <a:pos x="f227" y="f225"/>
                </a:cxn>
                <a:cxn ang="f159">
                  <a:pos x="f228" y="f229"/>
                </a:cxn>
                <a:cxn ang="f159">
                  <a:pos x="f230" y="f229"/>
                </a:cxn>
                <a:cxn ang="f159">
                  <a:pos x="f231" y="f232"/>
                </a:cxn>
                <a:cxn ang="f159">
                  <a:pos x="f233" y="f234"/>
                </a:cxn>
                <a:cxn ang="f159">
                  <a:pos x="f235" y="f236"/>
                </a:cxn>
                <a:cxn ang="f159">
                  <a:pos x="f237" y="f238"/>
                </a:cxn>
                <a:cxn ang="f159">
                  <a:pos x="f228" y="f239"/>
                </a:cxn>
                <a:cxn ang="f159">
                  <a:pos x="f240" y="f239"/>
                </a:cxn>
                <a:cxn ang="f159">
                  <a:pos x="f241" y="f238"/>
                </a:cxn>
                <a:cxn ang="f159">
                  <a:pos x="f220" y="f242"/>
                </a:cxn>
                <a:cxn ang="f159">
                  <a:pos x="f243" y="f234"/>
                </a:cxn>
                <a:cxn ang="f159">
                  <a:pos x="f244" y="f223"/>
                </a:cxn>
                <a:cxn ang="f159">
                  <a:pos x="f245" y="f246"/>
                </a:cxn>
                <a:cxn ang="f159">
                  <a:pos x="f245" y="f247"/>
                </a:cxn>
                <a:cxn ang="f159">
                  <a:pos x="f248" y="f249"/>
                </a:cxn>
                <a:cxn ang="f159">
                  <a:pos x="f250" y="f251"/>
                </a:cxn>
                <a:cxn ang="f159">
                  <a:pos x="f222" y="f252"/>
                </a:cxn>
                <a:cxn ang="f159">
                  <a:pos x="f240" y="f253"/>
                </a:cxn>
                <a:cxn ang="f159">
                  <a:pos x="f237" y="f254"/>
                </a:cxn>
                <a:cxn ang="f159">
                  <a:pos x="f255" y="f256"/>
                </a:cxn>
                <a:cxn ang="f159">
                  <a:pos x="f217" y="f249"/>
                </a:cxn>
                <a:cxn ang="f159">
                  <a:pos x="f214" y="f215"/>
                </a:cxn>
                <a:cxn ang="f159">
                  <a:pos x="f231" y="f257"/>
                </a:cxn>
                <a:cxn ang="f159">
                  <a:pos x="f237" y="f258"/>
                </a:cxn>
                <a:cxn ang="f159">
                  <a:pos x="f230" y="f259"/>
                </a:cxn>
                <a:cxn ang="f159">
                  <a:pos x="f260" y="f261"/>
                </a:cxn>
                <a:cxn ang="f159">
                  <a:pos x="f240" y="f262"/>
                </a:cxn>
                <a:cxn ang="f159">
                  <a:pos x="f241" y="f261"/>
                </a:cxn>
                <a:cxn ang="f159">
                  <a:pos x="f222" y="f263"/>
                </a:cxn>
                <a:cxn ang="f159">
                  <a:pos x="f220" y="f249"/>
                </a:cxn>
                <a:cxn ang="f159">
                  <a:pos x="f219" y="f257"/>
                </a:cxn>
                <a:cxn ang="f159">
                  <a:pos x="f231" y="f257"/>
                </a:cxn>
              </a:cxnLst>
              <a:rect l="f210" t="f213" r="f211" b="f212"/>
              <a:pathLst>
                <a:path w="33" h="40">
                  <a:moveTo>
                    <a:pt x="f6" y="f8"/>
                  </a:moveTo>
                  <a:cubicBezTo>
                    <a:pt x="f6" y="f9"/>
                    <a:pt x="f6" y="f10"/>
                    <a:pt x="f6" y="f10"/>
                  </a:cubicBezTo>
                  <a:cubicBezTo>
                    <a:pt x="f6" y="f11"/>
                    <a:pt x="f12" y="f11"/>
                    <a:pt x="f12" y="f13"/>
                  </a:cubicBezTo>
                  <a:cubicBezTo>
                    <a:pt x="f14" y="f13"/>
                    <a:pt x="f14" y="f13"/>
                    <a:pt x="f14" y="f13"/>
                  </a:cubicBezTo>
                  <a:cubicBezTo>
                    <a:pt x="f14" y="f15"/>
                    <a:pt x="f16" y="f17"/>
                    <a:pt x="f16" y="f18"/>
                  </a:cubicBezTo>
                  <a:cubicBezTo>
                    <a:pt x="f19" y="f20"/>
                    <a:pt x="f21" y="f22"/>
                    <a:pt x="f21" y="f23"/>
                  </a:cubicBezTo>
                  <a:cubicBezTo>
                    <a:pt x="f24" y="f12"/>
                    <a:pt x="f25" y="f12"/>
                    <a:pt x="f26" y="f6"/>
                  </a:cubicBezTo>
                  <a:cubicBezTo>
                    <a:pt x="f27" y="f6"/>
                    <a:pt x="f28" y="f6"/>
                    <a:pt x="f29" y="f6"/>
                  </a:cubicBezTo>
                  <a:cubicBezTo>
                    <a:pt x="f30" y="f6"/>
                    <a:pt x="f30" y="f6"/>
                    <a:pt x="f8" y="f6"/>
                  </a:cubicBezTo>
                  <a:cubicBezTo>
                    <a:pt x="f9" y="f6"/>
                    <a:pt x="f10" y="f6"/>
                    <a:pt x="f10" y="f12"/>
                  </a:cubicBezTo>
                  <a:cubicBezTo>
                    <a:pt x="f11" y="f12"/>
                    <a:pt x="f11" y="f12"/>
                    <a:pt x="f13" y="f12"/>
                  </a:cubicBezTo>
                  <a:cubicBezTo>
                    <a:pt x="f31" y="f23"/>
                    <a:pt x="f31" y="f23"/>
                    <a:pt x="f15" y="f22"/>
                  </a:cubicBezTo>
                  <a:cubicBezTo>
                    <a:pt x="f22" y="f32"/>
                    <a:pt x="f22" y="f32"/>
                    <a:pt x="f22" y="f32"/>
                  </a:cubicBezTo>
                  <a:cubicBezTo>
                    <a:pt x="f20" y="f33"/>
                    <a:pt x="f18" y="f34"/>
                    <a:pt x="f35" y="f34"/>
                  </a:cubicBezTo>
                  <a:cubicBezTo>
                    <a:pt x="f17" y="f36"/>
                    <a:pt x="f15" y="f36"/>
                    <a:pt x="f31" y="f37"/>
                  </a:cubicBezTo>
                  <a:cubicBezTo>
                    <a:pt x="f13" y="f37"/>
                    <a:pt x="f11" y="f7"/>
                    <a:pt x="f10"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1"/>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1" y="f45"/>
                    <a:pt x="f31" y="f44"/>
                  </a:cubicBezTo>
                  <a:cubicBezTo>
                    <a:pt x="f17" y="f43"/>
                    <a:pt x="f35" y="f41"/>
                    <a:pt x="f20" y="f39"/>
                  </a:cubicBezTo>
                  <a:cubicBezTo>
                    <a:pt x="f22" y="f16"/>
                    <a:pt x="f23" y="f21"/>
                    <a:pt x="f12" y="f25"/>
                  </a:cubicBezTo>
                  <a:cubicBezTo>
                    <a:pt x="f12" y="f27"/>
                    <a:pt x="f6" y="f29"/>
                    <a:pt x="f6" y="f8"/>
                  </a:cubicBezTo>
                  <a:close/>
                  <a:moveTo>
                    <a:pt x="f15" y="f29"/>
                  </a:moveTo>
                  <a:cubicBezTo>
                    <a:pt x="f15" y="f38"/>
                    <a:pt x="f15" y="f27"/>
                    <a:pt x="f31" y="f26"/>
                  </a:cubicBezTo>
                  <a:cubicBezTo>
                    <a:pt x="f31" y="f25"/>
                    <a:pt x="f13" y="f24"/>
                    <a:pt x="f13" y="f21"/>
                  </a:cubicBezTo>
                  <a:cubicBezTo>
                    <a:pt x="f11" y="f19"/>
                    <a:pt x="f10" y="f16"/>
                    <a:pt x="f9" y="f16"/>
                  </a:cubicBezTo>
                  <a:cubicBezTo>
                    <a:pt x="f8" y="f14"/>
                    <a:pt x="f30"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1" name="Freeform 53">
              <a:extLst>
                <a:ext uri="{FF2B5EF4-FFF2-40B4-BE49-F238E27FC236}">
                  <a16:creationId xmlns:a16="http://schemas.microsoft.com/office/drawing/2014/main" id="{5287C7FC-297B-754E-B091-5E2C22414BD1}"/>
                </a:ext>
              </a:extLst>
            </p:cNvPr>
            <p:cNvSpPr/>
            <p:nvPr/>
          </p:nvSpPr>
          <p:spPr>
            <a:xfrm>
              <a:off x="1050325"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2"/>
                <a:gd name="f19" fmla="val 11"/>
                <a:gd name="f20" fmla="val 10"/>
                <a:gd name="f21" fmla="val 9"/>
                <a:gd name="f22" fmla="val 8"/>
                <a:gd name="f23" fmla="val 7"/>
                <a:gd name="f24" fmla="val 51"/>
                <a:gd name="f25" fmla="val 6"/>
                <a:gd name="f26" fmla="val 50"/>
                <a:gd name="f27" fmla="val 49"/>
                <a:gd name="f28" fmla="val 47"/>
                <a:gd name="f29" fmla="val 5"/>
                <a:gd name="f30" fmla="val 46"/>
                <a:gd name="f31" fmla="val 44"/>
                <a:gd name="f32" fmla="val 4"/>
                <a:gd name="f33" fmla="val 43"/>
                <a:gd name="f34" fmla="val 45"/>
                <a:gd name="f35" fmla="val 16"/>
                <a:gd name="f36" fmla="+- 0 0 -90"/>
                <a:gd name="f37" fmla="*/ f3 1 22"/>
                <a:gd name="f38" fmla="*/ f4 1 54"/>
                <a:gd name="f39" fmla="+- f7 0 f5"/>
                <a:gd name="f40" fmla="+- f6 0 f5"/>
                <a:gd name="f41" fmla="*/ f36 f0 1"/>
                <a:gd name="f42" fmla="*/ f40 1 22"/>
                <a:gd name="f43" fmla="*/ f39 1 54"/>
                <a:gd name="f44" fmla="*/ 21 f40 1"/>
                <a:gd name="f45" fmla="*/ 52 f39 1"/>
                <a:gd name="f46" fmla="*/ 18 f40 1"/>
                <a:gd name="f47" fmla="*/ 54 f39 1"/>
                <a:gd name="f48" fmla="*/ 14 f40 1"/>
                <a:gd name="f49" fmla="*/ 11 f40 1"/>
                <a:gd name="f50" fmla="*/ 8 f40 1"/>
                <a:gd name="f51" fmla="*/ 6 f40 1"/>
                <a:gd name="f52" fmla="*/ 49 f39 1"/>
                <a:gd name="f53" fmla="*/ 5 f40 1"/>
                <a:gd name="f54" fmla="*/ 44 f39 1"/>
                <a:gd name="f55" fmla="*/ 22 f39 1"/>
                <a:gd name="f56" fmla="*/ 0 f40 1"/>
                <a:gd name="f57" fmla="*/ 15 f39 1"/>
                <a:gd name="f58" fmla="*/ 4 f39 1"/>
                <a:gd name="f59" fmla="*/ 13 f40 1"/>
                <a:gd name="f60" fmla="*/ 0 f39 1"/>
                <a:gd name="f61" fmla="*/ 22 f40 1"/>
                <a:gd name="f62" fmla="*/ 43 f39 1"/>
                <a:gd name="f63" fmla="*/ 45 f39 1"/>
                <a:gd name="f64" fmla="*/ 46 f39 1"/>
                <a:gd name="f65" fmla="*/ 15 f40 1"/>
                <a:gd name="f66" fmla="*/ 47 f39 1"/>
                <a:gd name="f67" fmla="*/ 17 f40 1"/>
                <a:gd name="f68" fmla="*/ 20 f40 1"/>
                <a:gd name="f69" fmla="*/ f41 1 f2"/>
                <a:gd name="f70" fmla="*/ f44 1 22"/>
                <a:gd name="f71" fmla="*/ f45 1 54"/>
                <a:gd name="f72" fmla="*/ f46 1 22"/>
                <a:gd name="f73" fmla="*/ f47 1 54"/>
                <a:gd name="f74" fmla="*/ f48 1 22"/>
                <a:gd name="f75" fmla="*/ f49 1 22"/>
                <a:gd name="f76" fmla="*/ f50 1 22"/>
                <a:gd name="f77" fmla="*/ f51 1 22"/>
                <a:gd name="f78" fmla="*/ f52 1 54"/>
                <a:gd name="f79" fmla="*/ f53 1 22"/>
                <a:gd name="f80" fmla="*/ f54 1 54"/>
                <a:gd name="f81" fmla="*/ f55 1 54"/>
                <a:gd name="f82" fmla="*/ f56 1 22"/>
                <a:gd name="f83" fmla="*/ f57 1 54"/>
                <a:gd name="f84" fmla="*/ f58 1 54"/>
                <a:gd name="f85" fmla="*/ f59 1 22"/>
                <a:gd name="f86" fmla="*/ f60 1 54"/>
                <a:gd name="f87" fmla="*/ f61 1 22"/>
                <a:gd name="f88" fmla="*/ f62 1 54"/>
                <a:gd name="f89" fmla="*/ f63 1 54"/>
                <a:gd name="f90" fmla="*/ f64 1 54"/>
                <a:gd name="f91" fmla="*/ f65 1 22"/>
                <a:gd name="f92" fmla="*/ f66 1 54"/>
                <a:gd name="f93" fmla="*/ f67 1 22"/>
                <a:gd name="f94" fmla="*/ f68 1 22"/>
                <a:gd name="f95" fmla="*/ 0 1 f42"/>
                <a:gd name="f96" fmla="*/ f6 1 f42"/>
                <a:gd name="f97" fmla="*/ 0 1 f43"/>
                <a:gd name="f98" fmla="*/ f7 1 f43"/>
                <a:gd name="f99" fmla="+- f69 0 f1"/>
                <a:gd name="f100" fmla="*/ f70 1 f42"/>
                <a:gd name="f101" fmla="*/ f71 1 f43"/>
                <a:gd name="f102" fmla="*/ f72 1 f42"/>
                <a:gd name="f103" fmla="*/ f73 1 f43"/>
                <a:gd name="f104" fmla="*/ f74 1 f42"/>
                <a:gd name="f105" fmla="*/ f75 1 f42"/>
                <a:gd name="f106" fmla="*/ f76 1 f42"/>
                <a:gd name="f107" fmla="*/ f77 1 f42"/>
                <a:gd name="f108" fmla="*/ f78 1 f43"/>
                <a:gd name="f109" fmla="*/ f79 1 f42"/>
                <a:gd name="f110" fmla="*/ f80 1 f43"/>
                <a:gd name="f111" fmla="*/ f81 1 f43"/>
                <a:gd name="f112" fmla="*/ f82 1 f42"/>
                <a:gd name="f113" fmla="*/ f83 1 f43"/>
                <a:gd name="f114" fmla="*/ f84 1 f43"/>
                <a:gd name="f115" fmla="*/ f85 1 f42"/>
                <a:gd name="f116" fmla="*/ f86 1 f43"/>
                <a:gd name="f117" fmla="*/ f87 1 f42"/>
                <a:gd name="f118" fmla="*/ f88 1 f43"/>
                <a:gd name="f119" fmla="*/ f89 1 f43"/>
                <a:gd name="f120" fmla="*/ f90 1 f43"/>
                <a:gd name="f121" fmla="*/ f91 1 f42"/>
                <a:gd name="f122" fmla="*/ f92 1 f43"/>
                <a:gd name="f123" fmla="*/ f93 1 f42"/>
                <a:gd name="f124" fmla="*/ f94 1 f42"/>
                <a:gd name="f125" fmla="*/ f95 f37 1"/>
                <a:gd name="f126" fmla="*/ f96 f37 1"/>
                <a:gd name="f127" fmla="*/ f98 f38 1"/>
                <a:gd name="f128" fmla="*/ f97 f38 1"/>
                <a:gd name="f129" fmla="*/ f100 f37 1"/>
                <a:gd name="f130" fmla="*/ f101 f38 1"/>
                <a:gd name="f131" fmla="*/ f102 f37 1"/>
                <a:gd name="f132" fmla="*/ f103 f38 1"/>
                <a:gd name="f133" fmla="*/ f104 f37 1"/>
                <a:gd name="f134" fmla="*/ f105 f37 1"/>
                <a:gd name="f135" fmla="*/ f106 f37 1"/>
                <a:gd name="f136" fmla="*/ f107 f37 1"/>
                <a:gd name="f137" fmla="*/ f108 f38 1"/>
                <a:gd name="f138" fmla="*/ f109 f37 1"/>
                <a:gd name="f139" fmla="*/ f110 f38 1"/>
                <a:gd name="f140" fmla="*/ f111 f38 1"/>
                <a:gd name="f141" fmla="*/ f112 f37 1"/>
                <a:gd name="f142" fmla="*/ f113 f38 1"/>
                <a:gd name="f143" fmla="*/ f114 f38 1"/>
                <a:gd name="f144" fmla="*/ f115 f37 1"/>
                <a:gd name="f145" fmla="*/ f116 f38 1"/>
                <a:gd name="f146" fmla="*/ f117 f37 1"/>
                <a:gd name="f147" fmla="*/ f118 f38 1"/>
                <a:gd name="f148" fmla="*/ f119 f38 1"/>
                <a:gd name="f149" fmla="*/ f120 f38 1"/>
                <a:gd name="f150" fmla="*/ f121 f37 1"/>
                <a:gd name="f151" fmla="*/ f122 f38 1"/>
                <a:gd name="f152" fmla="*/ f123 f37 1"/>
                <a:gd name="f153" fmla="*/ f124 f37 1"/>
              </a:gdLst>
              <a:ahLst/>
              <a:cxnLst>
                <a:cxn ang="3cd4">
                  <a:pos x="hc" y="t"/>
                </a:cxn>
                <a:cxn ang="0">
                  <a:pos x="r" y="vc"/>
                </a:cxn>
                <a:cxn ang="cd4">
                  <a:pos x="hc" y="b"/>
                </a:cxn>
                <a:cxn ang="cd2">
                  <a:pos x="l" y="vc"/>
                </a:cxn>
                <a:cxn ang="f99">
                  <a:pos x="f129" y="f130"/>
                </a:cxn>
                <a:cxn ang="f99">
                  <a:pos x="f131" y="f132"/>
                </a:cxn>
                <a:cxn ang="f99">
                  <a:pos x="f133" y="f132"/>
                </a:cxn>
                <a:cxn ang="f99">
                  <a:pos x="f134" y="f132"/>
                </a:cxn>
                <a:cxn ang="f99">
                  <a:pos x="f135" y="f130"/>
                </a:cxn>
                <a:cxn ang="f99">
                  <a:pos x="f136" y="f137"/>
                </a:cxn>
                <a:cxn ang="f99">
                  <a:pos x="f138" y="f139"/>
                </a:cxn>
                <a:cxn ang="f99">
                  <a:pos x="f138" y="f140"/>
                </a:cxn>
                <a:cxn ang="f99">
                  <a:pos x="f141" y="f140"/>
                </a:cxn>
                <a:cxn ang="f99">
                  <a:pos x="f141" y="f142"/>
                </a:cxn>
                <a:cxn ang="f99">
                  <a:pos x="f138" y="f142"/>
                </a:cxn>
                <a:cxn ang="f99">
                  <a:pos x="f138" y="f143"/>
                </a:cxn>
                <a:cxn ang="f99">
                  <a:pos x="f144" y="f145"/>
                </a:cxn>
                <a:cxn ang="f99">
                  <a:pos x="f144" y="f142"/>
                </a:cxn>
                <a:cxn ang="f99">
                  <a:pos x="f146" y="f142"/>
                </a:cxn>
                <a:cxn ang="f99">
                  <a:pos x="f146" y="f140"/>
                </a:cxn>
                <a:cxn ang="f99">
                  <a:pos x="f144" y="f140"/>
                </a:cxn>
                <a:cxn ang="f99">
                  <a:pos x="f144" y="f147"/>
                </a:cxn>
                <a:cxn ang="f99">
                  <a:pos x="f144" y="f148"/>
                </a:cxn>
                <a:cxn ang="f99">
                  <a:pos x="f133" y="f149"/>
                </a:cxn>
                <a:cxn ang="f99">
                  <a:pos x="f150" y="f151"/>
                </a:cxn>
                <a:cxn ang="f99">
                  <a:pos x="f152" y="f151"/>
                </a:cxn>
                <a:cxn ang="f99">
                  <a:pos x="f153" y="f151"/>
                </a:cxn>
                <a:cxn ang="f99">
                  <a:pos x="f146" y="f149"/>
                </a:cxn>
                <a:cxn ang="f99">
                  <a:pos x="f129" y="f130"/>
                </a:cxn>
              </a:cxnLst>
              <a:rect l="f125" t="f128" r="f126" b="f127"/>
              <a:pathLst>
                <a:path w="22" h="54">
                  <a:moveTo>
                    <a:pt x="f8" y="f9"/>
                  </a:moveTo>
                  <a:cubicBezTo>
                    <a:pt x="f10" y="f11"/>
                    <a:pt x="f12" y="f11"/>
                    <a:pt x="f13" y="f7"/>
                  </a:cubicBezTo>
                  <a:cubicBezTo>
                    <a:pt x="f14" y="f7"/>
                    <a:pt x="f15" y="f7"/>
                    <a:pt x="f16" y="f7"/>
                  </a:cubicBezTo>
                  <a:cubicBezTo>
                    <a:pt x="f17" y="f7"/>
                    <a:pt x="f18" y="f7"/>
                    <a:pt x="f19" y="f7"/>
                  </a:cubicBezTo>
                  <a:cubicBezTo>
                    <a:pt x="f20" y="f11"/>
                    <a:pt x="f21" y="f11"/>
                    <a:pt x="f22" y="f9"/>
                  </a:cubicBezTo>
                  <a:cubicBezTo>
                    <a:pt x="f23" y="f24"/>
                    <a:pt x="f25" y="f26"/>
                    <a:pt x="f25" y="f27"/>
                  </a:cubicBezTo>
                  <a:cubicBezTo>
                    <a:pt x="f25" y="f28"/>
                    <a:pt x="f29" y="f30"/>
                    <a:pt x="f29" y="f31"/>
                  </a:cubicBezTo>
                  <a:cubicBezTo>
                    <a:pt x="f29" y="f6"/>
                    <a:pt x="f29" y="f6"/>
                    <a:pt x="f29" y="f6"/>
                  </a:cubicBezTo>
                  <a:cubicBezTo>
                    <a:pt x="f5" y="f6"/>
                    <a:pt x="f5" y="f6"/>
                    <a:pt x="f5" y="f6"/>
                  </a:cubicBezTo>
                  <a:cubicBezTo>
                    <a:pt x="f5" y="f15"/>
                    <a:pt x="f5" y="f15"/>
                    <a:pt x="f5" y="f15"/>
                  </a:cubicBezTo>
                  <a:cubicBezTo>
                    <a:pt x="f29" y="f15"/>
                    <a:pt x="f29" y="f15"/>
                    <a:pt x="f29" y="f15"/>
                  </a:cubicBezTo>
                  <a:cubicBezTo>
                    <a:pt x="f29" y="f32"/>
                    <a:pt x="f29" y="f32"/>
                    <a:pt x="f29"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1"/>
                    <a:pt x="f17" y="f34"/>
                  </a:cubicBezTo>
                  <a:cubicBezTo>
                    <a:pt x="f17" y="f34"/>
                    <a:pt x="f17" y="f30"/>
                    <a:pt x="f16" y="f30"/>
                  </a:cubicBezTo>
                  <a:cubicBezTo>
                    <a:pt x="f16" y="f28"/>
                    <a:pt x="f16" y="f28"/>
                    <a:pt x="f15" y="f28"/>
                  </a:cubicBezTo>
                  <a:cubicBezTo>
                    <a:pt x="f15" y="f28"/>
                    <a:pt x="f35" y="f28"/>
                    <a:pt x="f14" y="f28"/>
                  </a:cubicBezTo>
                  <a:cubicBezTo>
                    <a:pt x="f13" y="f28"/>
                    <a:pt x="f12" y="f28"/>
                    <a:pt x="f10" y="f28"/>
                  </a:cubicBezTo>
                  <a:cubicBezTo>
                    <a:pt x="f8" y="f30"/>
                    <a:pt x="f6" y="f30"/>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2" name="Freeform 54">
              <a:extLst>
                <a:ext uri="{FF2B5EF4-FFF2-40B4-BE49-F238E27FC236}">
                  <a16:creationId xmlns:a16="http://schemas.microsoft.com/office/drawing/2014/main" id="{3E7106F6-2564-2779-A7F6-E2FD7C1F1065}"/>
                </a:ext>
              </a:extLst>
            </p:cNvPr>
            <p:cNvSpPr/>
            <p:nvPr/>
          </p:nvSpPr>
          <p:spPr>
            <a:xfrm>
              <a:off x="111829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3" name="Freeform 55">
              <a:extLst>
                <a:ext uri="{FF2B5EF4-FFF2-40B4-BE49-F238E27FC236}">
                  <a16:creationId xmlns:a16="http://schemas.microsoft.com/office/drawing/2014/main" id="{C59AACC7-BC8B-E5CA-FB29-ED77FE08DED4}"/>
                </a:ext>
              </a:extLst>
            </p:cNvPr>
            <p:cNvSpPr/>
            <p:nvPr/>
          </p:nvSpPr>
          <p:spPr>
            <a:xfrm>
              <a:off x="1189753"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29 f50 1"/>
                <a:gd name="f74" fmla="*/ 35 f49 1"/>
                <a:gd name="f75" fmla="*/ 27 f50 1"/>
                <a:gd name="f76" fmla="*/ 37 f49 1"/>
                <a:gd name="f77" fmla="*/ 24 f50 1"/>
                <a:gd name="f78" fmla="*/ 39 f49 1"/>
                <a:gd name="f79" fmla="*/ 20 f50 1"/>
                <a:gd name="f80" fmla="*/ 40 f49 1"/>
                <a:gd name="f81" fmla="*/ 16 f50 1"/>
                <a:gd name="f82" fmla="*/ 12 f50 1"/>
                <a:gd name="f83" fmla="*/ 38 f49 1"/>
                <a:gd name="f84" fmla="*/ 5 f50 1"/>
                <a:gd name="f85" fmla="*/ 2 f50 1"/>
                <a:gd name="f86" fmla="*/ 0 f50 1"/>
                <a:gd name="f87" fmla="*/ 26 f49 1"/>
                <a:gd name="f88" fmla="*/ 20 f49 1"/>
                <a:gd name="f89" fmla="*/ 1 f50 1"/>
                <a:gd name="f90" fmla="*/ 12 f49 1"/>
                <a:gd name="f91" fmla="*/ 4 f50 1"/>
                <a:gd name="f92" fmla="*/ 5 f49 1"/>
                <a:gd name="f93" fmla="*/ 1 f49 1"/>
                <a:gd name="f94" fmla="*/ 0 f49 1"/>
                <a:gd name="f95" fmla="*/ 2 f49 1"/>
                <a:gd name="f96" fmla="*/ 6 f49 1"/>
                <a:gd name="f97" fmla="*/ 17 f49 1"/>
                <a:gd name="f98" fmla="*/ 13 f49 1"/>
                <a:gd name="f99" fmla="*/ 10 f49 1"/>
                <a:gd name="f100" fmla="*/ 8 f49 1"/>
                <a:gd name="f101" fmla="*/ 7 f49 1"/>
                <a:gd name="f102" fmla="*/ 9 f49 1"/>
                <a:gd name="f103" fmla="*/ f51 1 f2"/>
                <a:gd name="f104" fmla="*/ f54 1 33"/>
                <a:gd name="f105" fmla="*/ f55 1 40"/>
                <a:gd name="f106" fmla="*/ f56 1 40"/>
                <a:gd name="f107" fmla="*/ f57 1 33"/>
                <a:gd name="f108" fmla="*/ f58 1 40"/>
                <a:gd name="f109" fmla="*/ f59 1 33"/>
                <a:gd name="f110" fmla="*/ f60 1 33"/>
                <a:gd name="f111" fmla="*/ f61 1 40"/>
                <a:gd name="f112" fmla="*/ f62 1 33"/>
                <a:gd name="f113" fmla="*/ f63 1 40"/>
                <a:gd name="f114" fmla="*/ f64 1 33"/>
                <a:gd name="f115" fmla="*/ f65 1 40"/>
                <a:gd name="f116" fmla="*/ f66 1 33"/>
                <a:gd name="f117" fmla="*/ f67 1 33"/>
                <a:gd name="f118" fmla="*/ f68 1 33"/>
                <a:gd name="f119" fmla="*/ f69 1 40"/>
                <a:gd name="f120" fmla="*/ f70 1 33"/>
                <a:gd name="f121" fmla="*/ f71 1 33"/>
                <a:gd name="f122" fmla="*/ f72 1 40"/>
                <a:gd name="f123" fmla="*/ f73 1 33"/>
                <a:gd name="f124" fmla="*/ f74 1 40"/>
                <a:gd name="f125" fmla="*/ f75 1 33"/>
                <a:gd name="f126" fmla="*/ f76 1 40"/>
                <a:gd name="f127" fmla="*/ f77 1 33"/>
                <a:gd name="f128" fmla="*/ f78 1 40"/>
                <a:gd name="f129" fmla="*/ f79 1 33"/>
                <a:gd name="f130" fmla="*/ f80 1 40"/>
                <a:gd name="f131" fmla="*/ f81 1 33"/>
                <a:gd name="f132" fmla="*/ f82 1 33"/>
                <a:gd name="f133" fmla="*/ f83 1 40"/>
                <a:gd name="f134" fmla="*/ f84 1 33"/>
                <a:gd name="f135" fmla="*/ f85 1 33"/>
                <a:gd name="f136" fmla="*/ f86 1 33"/>
                <a:gd name="f137" fmla="*/ f87 1 40"/>
                <a:gd name="f138" fmla="*/ f88 1 40"/>
                <a:gd name="f139" fmla="*/ f89 1 33"/>
                <a:gd name="f140" fmla="*/ f90 1 40"/>
                <a:gd name="f141" fmla="*/ f91 1 33"/>
                <a:gd name="f142" fmla="*/ f92 1 40"/>
                <a:gd name="f143" fmla="*/ f93 1 40"/>
                <a:gd name="f144" fmla="*/ f94 1 40"/>
                <a:gd name="f145" fmla="*/ f95 1 40"/>
                <a:gd name="f146" fmla="*/ f96 1 40"/>
                <a:gd name="f147" fmla="*/ f97 1 40"/>
                <a:gd name="f148" fmla="*/ f98 1 40"/>
                <a:gd name="f149" fmla="*/ f99 1 40"/>
                <a:gd name="f150" fmla="*/ f100 1 40"/>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2"/>
                <a:gd name="f165" fmla="*/ f111 1 f53"/>
                <a:gd name="f166" fmla="*/ f112 1 f52"/>
                <a:gd name="f167" fmla="*/ f113 1 f53"/>
                <a:gd name="f168" fmla="*/ f114 1 f52"/>
                <a:gd name="f169" fmla="*/ f115 1 f53"/>
                <a:gd name="f170" fmla="*/ f116 1 f52"/>
                <a:gd name="f171" fmla="*/ f117 1 f52"/>
                <a:gd name="f172" fmla="*/ f118 1 f52"/>
                <a:gd name="f173" fmla="*/ f119 1 f53"/>
                <a:gd name="f174" fmla="*/ f120 1 f52"/>
                <a:gd name="f175" fmla="*/ f121 1 f52"/>
                <a:gd name="f176" fmla="*/ f122 1 f53"/>
                <a:gd name="f177" fmla="*/ f123 1 f52"/>
                <a:gd name="f178" fmla="*/ f124 1 f53"/>
                <a:gd name="f179" fmla="*/ f125 1 f52"/>
                <a:gd name="f180" fmla="*/ f126 1 f53"/>
                <a:gd name="f181" fmla="*/ f127 1 f52"/>
                <a:gd name="f182" fmla="*/ f128 1 f53"/>
                <a:gd name="f183" fmla="*/ f129 1 f52"/>
                <a:gd name="f184" fmla="*/ f130 1 f53"/>
                <a:gd name="f185" fmla="*/ f131 1 f52"/>
                <a:gd name="f186" fmla="*/ f132 1 f52"/>
                <a:gd name="f187" fmla="*/ f133 1 f53"/>
                <a:gd name="f188" fmla="*/ f134 1 f52"/>
                <a:gd name="f189" fmla="*/ f135 1 f52"/>
                <a:gd name="f190" fmla="*/ f136 1 f52"/>
                <a:gd name="f191" fmla="*/ f137 1 f53"/>
                <a:gd name="f192" fmla="*/ f138 1 f53"/>
                <a:gd name="f193" fmla="*/ f139 1 f52"/>
                <a:gd name="f194" fmla="*/ f140 1 f53"/>
                <a:gd name="f195" fmla="*/ f141 1 f52"/>
                <a:gd name="f196" fmla="*/ f142 1 f53"/>
                <a:gd name="f197" fmla="*/ f143 1 f53"/>
                <a:gd name="f198" fmla="*/ f144 1 f53"/>
                <a:gd name="f199" fmla="*/ f145 1 f53"/>
                <a:gd name="f200" fmla="*/ f146 1 f53"/>
                <a:gd name="f201" fmla="*/ f147 1 f53"/>
                <a:gd name="f202" fmla="*/ f148 1 f53"/>
                <a:gd name="f203" fmla="*/ f149 1 f53"/>
                <a:gd name="f204" fmla="*/ f150 1 f53"/>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7 1"/>
                <a:gd name="f218" fmla="*/ f165 f48 1"/>
                <a:gd name="f219" fmla="*/ f166 f47 1"/>
                <a:gd name="f220" fmla="*/ f167 f48 1"/>
                <a:gd name="f221" fmla="*/ f168 f47 1"/>
                <a:gd name="f222" fmla="*/ f169 f48 1"/>
                <a:gd name="f223" fmla="*/ f170 f47 1"/>
                <a:gd name="f224" fmla="*/ f171 f47 1"/>
                <a:gd name="f225" fmla="*/ f172 f47 1"/>
                <a:gd name="f226" fmla="*/ f173 f48 1"/>
                <a:gd name="f227" fmla="*/ f174 f47 1"/>
                <a:gd name="f228" fmla="*/ f175 f47 1"/>
                <a:gd name="f229" fmla="*/ f176 f48 1"/>
                <a:gd name="f230" fmla="*/ f177 f47 1"/>
                <a:gd name="f231" fmla="*/ f178 f48 1"/>
                <a:gd name="f232" fmla="*/ f179 f47 1"/>
                <a:gd name="f233" fmla="*/ f180 f48 1"/>
                <a:gd name="f234" fmla="*/ f181 f47 1"/>
                <a:gd name="f235" fmla="*/ f182 f48 1"/>
                <a:gd name="f236" fmla="*/ f183 f47 1"/>
                <a:gd name="f237" fmla="*/ f184 f48 1"/>
                <a:gd name="f238" fmla="*/ f185 f47 1"/>
                <a:gd name="f239" fmla="*/ f186 f47 1"/>
                <a:gd name="f240" fmla="*/ f187 f48 1"/>
                <a:gd name="f241" fmla="*/ f188 f47 1"/>
                <a:gd name="f242" fmla="*/ f189 f47 1"/>
                <a:gd name="f243" fmla="*/ f190 f47 1"/>
                <a:gd name="f244" fmla="*/ f191 f48 1"/>
                <a:gd name="f245" fmla="*/ f192 f48 1"/>
                <a:gd name="f246" fmla="*/ f193 f47 1"/>
                <a:gd name="f247" fmla="*/ f194 f48 1"/>
                <a:gd name="f248" fmla="*/ f195 f47 1"/>
                <a:gd name="f249" fmla="*/ f196 f48 1"/>
                <a:gd name="f250" fmla="*/ f197 f48 1"/>
                <a:gd name="f251" fmla="*/ f198 f48 1"/>
                <a:gd name="f252" fmla="*/ f199 f48 1"/>
                <a:gd name="f253" fmla="*/ f200 f48 1"/>
                <a:gd name="f254" fmla="*/ f201 f48 1"/>
                <a:gd name="f255" fmla="*/ f202 f48 1"/>
                <a:gd name="f256" fmla="*/ f203 f48 1"/>
                <a:gd name="f257" fmla="*/ f204 f48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5"/>
                </a:cxn>
                <a:cxn ang="f157">
                  <a:pos x="f217" y="f218"/>
                </a:cxn>
                <a:cxn ang="f157">
                  <a:pos x="f219" y="f220"/>
                </a:cxn>
                <a:cxn ang="f157">
                  <a:pos x="f221" y="f222"/>
                </a:cxn>
                <a:cxn ang="f157">
                  <a:pos x="f223" y="f222"/>
                </a:cxn>
                <a:cxn ang="f157">
                  <a:pos x="f224" y="f222"/>
                </a:cxn>
                <a:cxn ang="f157">
                  <a:pos x="f225" y="f226"/>
                </a:cxn>
                <a:cxn ang="f157">
                  <a:pos x="f227" y="f226"/>
                </a:cxn>
                <a:cxn ang="f157">
                  <a:pos x="f228" y="f229"/>
                </a:cxn>
                <a:cxn ang="f157">
                  <a:pos x="f230" y="f231"/>
                </a:cxn>
                <a:cxn ang="f157">
                  <a:pos x="f232" y="f233"/>
                </a:cxn>
                <a:cxn ang="f157">
                  <a:pos x="f234" y="f235"/>
                </a:cxn>
                <a:cxn ang="f157">
                  <a:pos x="f236" y="f237"/>
                </a:cxn>
                <a:cxn ang="f157">
                  <a:pos x="f238" y="f237"/>
                </a:cxn>
                <a:cxn ang="f157">
                  <a:pos x="f239" y="f235"/>
                </a:cxn>
                <a:cxn ang="f157">
                  <a:pos x="f217" y="f240"/>
                </a:cxn>
                <a:cxn ang="f157">
                  <a:pos x="f241" y="f231"/>
                </a:cxn>
                <a:cxn ang="f157">
                  <a:pos x="f242" y="f220"/>
                </a:cxn>
                <a:cxn ang="f157">
                  <a:pos x="f243" y="f244"/>
                </a:cxn>
                <a:cxn ang="f157">
                  <a:pos x="f243" y="f245"/>
                </a:cxn>
                <a:cxn ang="f157">
                  <a:pos x="f246" y="f247"/>
                </a:cxn>
                <a:cxn ang="f157">
                  <a:pos x="f248" y="f249"/>
                </a:cxn>
                <a:cxn ang="f157">
                  <a:pos x="f219" y="f250"/>
                </a:cxn>
                <a:cxn ang="f157">
                  <a:pos x="f238" y="f251"/>
                </a:cxn>
                <a:cxn ang="f157">
                  <a:pos x="f234" y="f252"/>
                </a:cxn>
                <a:cxn ang="f157">
                  <a:pos x="f230" y="f253"/>
                </a:cxn>
                <a:cxn ang="f157">
                  <a:pos x="f214" y="f247"/>
                </a:cxn>
                <a:cxn ang="f157">
                  <a:pos x="f211" y="f212"/>
                </a:cxn>
                <a:cxn ang="f157">
                  <a:pos x="f228" y="f254"/>
                </a:cxn>
                <a:cxn ang="f157">
                  <a:pos x="f234" y="f255"/>
                </a:cxn>
                <a:cxn ang="f157">
                  <a:pos x="f227" y="f256"/>
                </a:cxn>
                <a:cxn ang="f157">
                  <a:pos x="f236" y="f257"/>
                </a:cxn>
                <a:cxn ang="f157">
                  <a:pos x="f238" y="f258"/>
                </a:cxn>
                <a:cxn ang="f157">
                  <a:pos x="f239" y="f257"/>
                </a:cxn>
                <a:cxn ang="f157">
                  <a:pos x="f219" y="f259"/>
                </a:cxn>
                <a:cxn ang="f157">
                  <a:pos x="f217" y="f247"/>
                </a:cxn>
                <a:cxn ang="f157">
                  <a:pos x="f216" y="f254"/>
                </a:cxn>
                <a:cxn ang="f157">
                  <a:pos x="f228" y="f254"/>
                </a:cxn>
              </a:cxnLst>
              <a:rect l="f207" t="f210" r="f208" b="f209"/>
              <a:pathLst>
                <a:path w="33" h="40">
                  <a:moveTo>
                    <a:pt x="f6" y="f8"/>
                  </a:moveTo>
                  <a:cubicBezTo>
                    <a:pt x="f6" y="f9"/>
                    <a:pt x="f6" y="f10"/>
                    <a:pt x="f6" y="f10"/>
                  </a:cubicBezTo>
                  <a:cubicBezTo>
                    <a:pt x="f11" y="f12"/>
                    <a:pt x="f11" y="f12"/>
                    <a:pt x="f11" y="f13"/>
                  </a:cubicBezTo>
                  <a:cubicBezTo>
                    <a:pt x="f14" y="f13"/>
                    <a:pt x="f14" y="f13"/>
                    <a:pt x="f14" y="f13"/>
                  </a:cubicBezTo>
                  <a:cubicBezTo>
                    <a:pt x="f14" y="f15"/>
                    <a:pt x="f16" y="f17"/>
                    <a:pt x="f16" y="f18"/>
                  </a:cubicBezTo>
                  <a:cubicBezTo>
                    <a:pt x="f19" y="f20"/>
                    <a:pt x="f21" y="f22"/>
                    <a:pt x="f21" y="f23"/>
                  </a:cubicBezTo>
                  <a:cubicBezTo>
                    <a:pt x="f24" y="f11"/>
                    <a:pt x="f25" y="f11"/>
                    <a:pt x="f26" y="f6"/>
                  </a:cubicBezTo>
                  <a:cubicBezTo>
                    <a:pt x="f27" y="f6"/>
                    <a:pt x="f28" y="f6"/>
                    <a:pt x="f29" y="f6"/>
                  </a:cubicBezTo>
                  <a:cubicBezTo>
                    <a:pt x="f30" y="f6"/>
                    <a:pt x="f30" y="f6"/>
                    <a:pt x="f8" y="f6"/>
                  </a:cubicBezTo>
                  <a:cubicBezTo>
                    <a:pt x="f9" y="f6"/>
                    <a:pt x="f9" y="f6"/>
                    <a:pt x="f10" y="f11"/>
                  </a:cubicBezTo>
                  <a:cubicBezTo>
                    <a:pt x="f12" y="f11"/>
                    <a:pt x="f12" y="f11"/>
                    <a:pt x="f13" y="f11"/>
                  </a:cubicBezTo>
                  <a:cubicBezTo>
                    <a:pt x="f13" y="f23"/>
                    <a:pt x="f31" y="f23"/>
                    <a:pt x="f15" y="f22"/>
                  </a:cubicBezTo>
                  <a:cubicBezTo>
                    <a:pt x="f20" y="f32"/>
                    <a:pt x="f20" y="f32"/>
                    <a:pt x="f20" y="f32"/>
                  </a:cubicBezTo>
                  <a:cubicBezTo>
                    <a:pt x="f20" y="f33"/>
                    <a:pt x="f18" y="f34"/>
                    <a:pt x="f35" y="f34"/>
                  </a:cubicBezTo>
                  <a:cubicBezTo>
                    <a:pt x="f17" y="f36"/>
                    <a:pt x="f15" y="f36"/>
                    <a:pt x="f31" y="f37"/>
                  </a:cubicBezTo>
                  <a:cubicBezTo>
                    <a:pt x="f13" y="f37"/>
                    <a:pt x="f12" y="f7"/>
                    <a:pt x="f9"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2"/>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2" y="f45"/>
                    <a:pt x="f31" y="f44"/>
                  </a:cubicBezTo>
                  <a:cubicBezTo>
                    <a:pt x="f17" y="f43"/>
                    <a:pt x="f35" y="f41"/>
                    <a:pt x="f20" y="f39"/>
                  </a:cubicBezTo>
                  <a:cubicBezTo>
                    <a:pt x="f22" y="f16"/>
                    <a:pt x="f23" y="f21"/>
                    <a:pt x="f11" y="f25"/>
                  </a:cubicBezTo>
                  <a:cubicBezTo>
                    <a:pt x="f11" y="f27"/>
                    <a:pt x="f6" y="f29"/>
                    <a:pt x="f6" y="f8"/>
                  </a:cubicBezTo>
                  <a:close/>
                  <a:moveTo>
                    <a:pt x="f15" y="f29"/>
                  </a:moveTo>
                  <a:cubicBezTo>
                    <a:pt x="f15" y="f38"/>
                    <a:pt x="f15" y="f27"/>
                    <a:pt x="f31" y="f26"/>
                  </a:cubicBezTo>
                  <a:cubicBezTo>
                    <a:pt x="f31" y="f25"/>
                    <a:pt x="f13" y="f24"/>
                    <a:pt x="f13" y="f21"/>
                  </a:cubicBezTo>
                  <a:cubicBezTo>
                    <a:pt x="f12" y="f19"/>
                    <a:pt x="f10" y="f16"/>
                    <a:pt x="f9" y="f16"/>
                  </a:cubicBezTo>
                  <a:cubicBezTo>
                    <a:pt x="f8" y="f14"/>
                    <a:pt x="f29"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4" name="Freeform 56">
              <a:extLst>
                <a:ext uri="{FF2B5EF4-FFF2-40B4-BE49-F238E27FC236}">
                  <a16:creationId xmlns:a16="http://schemas.microsoft.com/office/drawing/2014/main" id="{E5D6A17C-51C3-A01C-D7BA-FAE0AA2FB9B4}"/>
                </a:ext>
              </a:extLst>
            </p:cNvPr>
            <p:cNvSpPr/>
            <p:nvPr/>
          </p:nvSpPr>
          <p:spPr>
            <a:xfrm>
              <a:off x="1294314" y="6293924"/>
              <a:ext cx="55769" cy="101132"/>
            </a:xfrm>
            <a:custGeom>
              <a:avLst/>
              <a:gdLst>
                <a:gd name="f0" fmla="val 10800000"/>
                <a:gd name="f1" fmla="val 5400000"/>
                <a:gd name="f2" fmla="val 180"/>
                <a:gd name="f3" fmla="val w"/>
                <a:gd name="f4" fmla="val h"/>
                <a:gd name="f5" fmla="val 0"/>
                <a:gd name="f6" fmla="val 22"/>
                <a:gd name="f7" fmla="val 39"/>
                <a:gd name="f8" fmla="val 20"/>
                <a:gd name="f9" fmla="val 9"/>
                <a:gd name="f10" fmla="val 8"/>
                <a:gd name="f11" fmla="val 19"/>
                <a:gd name="f12" fmla="val 18"/>
                <a:gd name="f13" fmla="val 17"/>
                <a:gd name="f14" fmla="val 16"/>
                <a:gd name="f15" fmla="val 7"/>
                <a:gd name="f16" fmla="val 15"/>
                <a:gd name="f17" fmla="val 12"/>
                <a:gd name="f18" fmla="val 10"/>
                <a:gd name="f19" fmla="val 14"/>
                <a:gd name="f20" fmla="val 1"/>
                <a:gd name="f21" fmla="val 5"/>
                <a:gd name="f22" fmla="val 4"/>
                <a:gd name="f23" fmla="val 3"/>
                <a:gd name="f24" fmla="val 2"/>
                <a:gd name="f25" fmla="val 11"/>
                <a:gd name="f26" fmla="val 13"/>
                <a:gd name="f27" fmla="val 21"/>
                <a:gd name="f28" fmla="+- 0 0 -90"/>
                <a:gd name="f29" fmla="*/ f3 1 22"/>
                <a:gd name="f30" fmla="*/ f4 1 39"/>
                <a:gd name="f31" fmla="+- f7 0 f5"/>
                <a:gd name="f32" fmla="+- f6 0 f5"/>
                <a:gd name="f33" fmla="*/ f28 f0 1"/>
                <a:gd name="f34" fmla="*/ f32 1 22"/>
                <a:gd name="f35" fmla="*/ f31 1 39"/>
                <a:gd name="f36" fmla="*/ 20 f32 1"/>
                <a:gd name="f37" fmla="*/ 9 f31 1"/>
                <a:gd name="f38" fmla="*/ 18 f32 1"/>
                <a:gd name="f39" fmla="*/ 8 f31 1"/>
                <a:gd name="f40" fmla="*/ 15 f32 1"/>
                <a:gd name="f41" fmla="*/ 7 f31 1"/>
                <a:gd name="f42" fmla="*/ 9 f32 1"/>
                <a:gd name="f43" fmla="*/ 10 f31 1"/>
                <a:gd name="f44" fmla="*/ 7 f32 1"/>
                <a:gd name="f45" fmla="*/ 17 f31 1"/>
                <a:gd name="f46" fmla="*/ 39 f31 1"/>
                <a:gd name="f47" fmla="*/ 0 f32 1"/>
                <a:gd name="f48" fmla="*/ 1 f31 1"/>
                <a:gd name="f49" fmla="*/ 5 f31 1"/>
                <a:gd name="f50" fmla="*/ 3 f31 1"/>
                <a:gd name="f51" fmla="*/ 11 f32 1"/>
                <a:gd name="f52" fmla="*/ 13 f32 1"/>
                <a:gd name="f53" fmla="*/ 0 f31 1"/>
                <a:gd name="f54" fmla="*/ 16 f32 1"/>
                <a:gd name="f55" fmla="*/ 22 f32 1"/>
                <a:gd name="f56" fmla="*/ 2 f31 1"/>
                <a:gd name="f57" fmla="*/ f33 1 f2"/>
                <a:gd name="f58" fmla="*/ f36 1 22"/>
                <a:gd name="f59" fmla="*/ f37 1 39"/>
                <a:gd name="f60" fmla="*/ f38 1 22"/>
                <a:gd name="f61" fmla="*/ f39 1 39"/>
                <a:gd name="f62" fmla="*/ f40 1 22"/>
                <a:gd name="f63" fmla="*/ f41 1 39"/>
                <a:gd name="f64" fmla="*/ f42 1 22"/>
                <a:gd name="f65" fmla="*/ f43 1 39"/>
                <a:gd name="f66" fmla="*/ f44 1 22"/>
                <a:gd name="f67" fmla="*/ f45 1 39"/>
                <a:gd name="f68" fmla="*/ f46 1 39"/>
                <a:gd name="f69" fmla="*/ f47 1 22"/>
                <a:gd name="f70" fmla="*/ f48 1 39"/>
                <a:gd name="f71" fmla="*/ f49 1 39"/>
                <a:gd name="f72" fmla="*/ f50 1 39"/>
                <a:gd name="f73" fmla="*/ f51 1 22"/>
                <a:gd name="f74" fmla="*/ f52 1 22"/>
                <a:gd name="f75" fmla="*/ f53 1 39"/>
                <a:gd name="f76" fmla="*/ f54 1 22"/>
                <a:gd name="f77" fmla="*/ f55 1 22"/>
                <a:gd name="f78" fmla="*/ f56 1 39"/>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5"/>
                <a:gd name="f90" fmla="*/ f64 1 f34"/>
                <a:gd name="f91" fmla="*/ f65 1 f35"/>
                <a:gd name="f92" fmla="*/ f66 1 f34"/>
                <a:gd name="f93" fmla="*/ f67 1 f35"/>
                <a:gd name="f94" fmla="*/ f68 1 f35"/>
                <a:gd name="f95" fmla="*/ f69 1 f34"/>
                <a:gd name="f96" fmla="*/ f70 1 f35"/>
                <a:gd name="f97" fmla="*/ f71 1 f35"/>
                <a:gd name="f98" fmla="*/ f72 1 f35"/>
                <a:gd name="f99" fmla="*/ f73 1 f34"/>
                <a:gd name="f100" fmla="*/ f74 1 f34"/>
                <a:gd name="f101" fmla="*/ f75 1 f35"/>
                <a:gd name="f102" fmla="*/ f76 1 f34"/>
                <a:gd name="f103" fmla="*/ f77 1 f34"/>
                <a:gd name="f104" fmla="*/ f78 1 f35"/>
                <a:gd name="f105" fmla="*/ f79 f29 1"/>
                <a:gd name="f106" fmla="*/ f80 f29 1"/>
                <a:gd name="f107" fmla="*/ f82 f30 1"/>
                <a:gd name="f108" fmla="*/ f81 f30 1"/>
                <a:gd name="f109" fmla="*/ f84 f29 1"/>
                <a:gd name="f110" fmla="*/ f85 f30 1"/>
                <a:gd name="f111" fmla="*/ f86 f29 1"/>
                <a:gd name="f112" fmla="*/ f87 f30 1"/>
                <a:gd name="f113" fmla="*/ f88 f29 1"/>
                <a:gd name="f114" fmla="*/ f89 f30 1"/>
                <a:gd name="f115" fmla="*/ f90 f29 1"/>
                <a:gd name="f116" fmla="*/ f91 f30 1"/>
                <a:gd name="f117" fmla="*/ f92 f29 1"/>
                <a:gd name="f118" fmla="*/ f93 f30 1"/>
                <a:gd name="f119" fmla="*/ f94 f30 1"/>
                <a:gd name="f120" fmla="*/ f95 f29 1"/>
                <a:gd name="f121" fmla="*/ f96 f30 1"/>
                <a:gd name="f122" fmla="*/ f97 f30 1"/>
                <a:gd name="f123" fmla="*/ f98 f30 1"/>
                <a:gd name="f124" fmla="*/ f99 f29 1"/>
                <a:gd name="f125" fmla="*/ f100 f29 1"/>
                <a:gd name="f126" fmla="*/ f101 f30 1"/>
                <a:gd name="f127" fmla="*/ f102 f29 1"/>
                <a:gd name="f128" fmla="*/ f103 f29 1"/>
                <a:gd name="f129" fmla="*/ f104 f30 1"/>
              </a:gdLst>
              <a:ahLst/>
              <a:cxnLst>
                <a:cxn ang="3cd4">
                  <a:pos x="hc" y="t"/>
                </a:cxn>
                <a:cxn ang="0">
                  <a:pos x="r" y="vc"/>
                </a:cxn>
                <a:cxn ang="cd4">
                  <a:pos x="hc" y="b"/>
                </a:cxn>
                <a:cxn ang="cd2">
                  <a:pos x="l" y="vc"/>
                </a:cxn>
                <a:cxn ang="f83">
                  <a:pos x="f109" y="f110"/>
                </a:cxn>
                <a:cxn ang="f83">
                  <a:pos x="f111" y="f112"/>
                </a:cxn>
                <a:cxn ang="f83">
                  <a:pos x="f113" y="f114"/>
                </a:cxn>
                <a:cxn ang="f83">
                  <a:pos x="f115" y="f116"/>
                </a:cxn>
                <a:cxn ang="f83">
                  <a:pos x="f117" y="f118"/>
                </a:cxn>
                <a:cxn ang="f83">
                  <a:pos x="f117" y="f119"/>
                </a:cxn>
                <a:cxn ang="f83">
                  <a:pos x="f120" y="f119"/>
                </a:cxn>
                <a:cxn ang="f83">
                  <a:pos x="f120" y="f121"/>
                </a:cxn>
                <a:cxn ang="f83">
                  <a:pos x="f117" y="f121"/>
                </a:cxn>
                <a:cxn ang="f83">
                  <a:pos x="f117" y="f122"/>
                </a:cxn>
                <a:cxn ang="f83">
                  <a:pos x="f115" y="f123"/>
                </a:cxn>
                <a:cxn ang="f83">
                  <a:pos x="f124" y="f121"/>
                </a:cxn>
                <a:cxn ang="f83">
                  <a:pos x="f125" y="f126"/>
                </a:cxn>
                <a:cxn ang="f83">
                  <a:pos x="f127" y="f126"/>
                </a:cxn>
                <a:cxn ang="f83">
                  <a:pos x="f109" y="f121"/>
                </a:cxn>
                <a:cxn ang="f83">
                  <a:pos x="f128" y="f129"/>
                </a:cxn>
                <a:cxn ang="f83">
                  <a:pos x="f109" y="f110"/>
                </a:cxn>
              </a:cxnLst>
              <a:rect l="f105" t="f108" r="f106" b="f107"/>
              <a:pathLst>
                <a:path w="22" h="39">
                  <a:moveTo>
                    <a:pt x="f8" y="f9"/>
                  </a:moveTo>
                  <a:cubicBezTo>
                    <a:pt x="f8" y="f10"/>
                    <a:pt x="f11" y="f10"/>
                    <a:pt x="f12" y="f10"/>
                  </a:cubicBezTo>
                  <a:cubicBezTo>
                    <a:pt x="f13" y="f10"/>
                    <a:pt x="f14" y="f15"/>
                    <a:pt x="f16" y="f15"/>
                  </a:cubicBezTo>
                  <a:cubicBezTo>
                    <a:pt x="f17" y="f15"/>
                    <a:pt x="f18" y="f10"/>
                    <a:pt x="f9" y="f18"/>
                  </a:cubicBezTo>
                  <a:cubicBezTo>
                    <a:pt x="f10" y="f17"/>
                    <a:pt x="f15" y="f19"/>
                    <a:pt x="f15" y="f13"/>
                  </a:cubicBezTo>
                  <a:cubicBezTo>
                    <a:pt x="f15" y="f7"/>
                    <a:pt x="f15" y="f7"/>
                    <a:pt x="f15" y="f7"/>
                  </a:cubicBezTo>
                  <a:cubicBezTo>
                    <a:pt x="f5" y="f7"/>
                    <a:pt x="f5" y="f7"/>
                    <a:pt x="f5" y="f7"/>
                  </a:cubicBezTo>
                  <a:cubicBezTo>
                    <a:pt x="f5" y="f20"/>
                    <a:pt x="f5" y="f20"/>
                    <a:pt x="f5" y="f20"/>
                  </a:cubicBezTo>
                  <a:cubicBezTo>
                    <a:pt x="f15" y="f20"/>
                    <a:pt x="f15" y="f20"/>
                    <a:pt x="f15" y="f20"/>
                  </a:cubicBezTo>
                  <a:cubicBezTo>
                    <a:pt x="f15" y="f21"/>
                    <a:pt x="f15" y="f21"/>
                    <a:pt x="f15" y="f21"/>
                  </a:cubicBezTo>
                  <a:cubicBezTo>
                    <a:pt x="f10" y="f22"/>
                    <a:pt x="f10" y="f23"/>
                    <a:pt x="f9" y="f23"/>
                  </a:cubicBezTo>
                  <a:cubicBezTo>
                    <a:pt x="f9" y="f24"/>
                    <a:pt x="f18" y="f24"/>
                    <a:pt x="f25" y="f20"/>
                  </a:cubicBezTo>
                  <a:cubicBezTo>
                    <a:pt x="f25" y="f20"/>
                    <a:pt x="f17" y="f20"/>
                    <a:pt x="f26" y="f5"/>
                  </a:cubicBezTo>
                  <a:cubicBezTo>
                    <a:pt x="f19" y="f5"/>
                    <a:pt x="f16" y="f5"/>
                    <a:pt x="f14" y="f5"/>
                  </a:cubicBezTo>
                  <a:cubicBezTo>
                    <a:pt x="f13" y="f5"/>
                    <a:pt x="f11" y="f5"/>
                    <a:pt x="f8" y="f20"/>
                  </a:cubicBezTo>
                  <a:cubicBezTo>
                    <a:pt x="f27" y="f20"/>
                    <a:pt x="f6" y="f20"/>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5" name="Freeform 57">
              <a:extLst>
                <a:ext uri="{FF2B5EF4-FFF2-40B4-BE49-F238E27FC236}">
                  <a16:creationId xmlns:a16="http://schemas.microsoft.com/office/drawing/2014/main" id="{78A0088E-7426-0349-457F-5A5CAB3D2ABF}"/>
                </a:ext>
              </a:extLst>
            </p:cNvPr>
            <p:cNvSpPr/>
            <p:nvPr/>
          </p:nvSpPr>
          <p:spPr>
            <a:xfrm>
              <a:off x="140586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6" name="Freeform 58">
              <a:extLst>
                <a:ext uri="{FF2B5EF4-FFF2-40B4-BE49-F238E27FC236}">
                  <a16:creationId xmlns:a16="http://schemas.microsoft.com/office/drawing/2014/main" id="{6734211C-91CD-9DEB-CF03-D9BCF14FD90A}"/>
                </a:ext>
              </a:extLst>
            </p:cNvPr>
            <p:cNvSpPr/>
            <p:nvPr/>
          </p:nvSpPr>
          <p:spPr>
            <a:xfrm>
              <a:off x="1484281" y="6259049"/>
              <a:ext cx="80165"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5"/>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10 f38 1"/>
                <a:gd name="f52" fmla="*/ 8 f38 1"/>
                <a:gd name="f53" fmla="*/ 27 f37 1"/>
                <a:gd name="f54" fmla="*/ 7 f38 1"/>
                <a:gd name="f55" fmla="*/ 31 f37 1"/>
                <a:gd name="f56" fmla="*/ 0 f38 1"/>
                <a:gd name="f57" fmla="*/ 4 f37 1"/>
                <a:gd name="f58" fmla="*/ 0 f37 1"/>
                <a:gd name="f59" fmla="*/ 19 f37 1"/>
                <a:gd name="f60" fmla="*/ 9 f38 1"/>
                <a:gd name="f61" fmla="*/ 17 f37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31"/>
                <a:gd name="f90" fmla="*/ f61 1 53"/>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0"/>
                <a:gd name="f123" fmla="*/ f90 1 f41"/>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5 1"/>
                <a:gd name="f155" fmla="*/ f123 f36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54" y="f155"/>
                </a:cxn>
                <a:cxn ang="f103">
                  <a:pos x="f143"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8" y="f11"/>
                    <a:pt x="f12" y="f13"/>
                  </a:cubicBezTo>
                  <a:cubicBezTo>
                    <a:pt x="f14" y="f15"/>
                    <a:pt x="f16" y="f12"/>
                    <a:pt x="f17" y="f12"/>
                  </a:cubicBezTo>
                  <a:cubicBezTo>
                    <a:pt x="f18" y="f12"/>
                    <a:pt x="f19" y="f12"/>
                    <a:pt x="f20" y="f15"/>
                  </a:cubicBezTo>
                  <a:cubicBezTo>
                    <a:pt x="f21" y="f15"/>
                    <a:pt x="f22" y="f8"/>
                    <a:pt x="f22" y="f13"/>
                  </a:cubicBezTo>
                  <a:cubicBezTo>
                    <a:pt x="f23" y="f13"/>
                    <a:pt x="f24" y="f11"/>
                    <a:pt x="f24" y="f25"/>
                  </a:cubicBezTo>
                  <a:cubicBezTo>
                    <a:pt x="f24"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3" y="f30"/>
                    <a:pt x="f23" y="f30"/>
                  </a:cubicBezTo>
                  <a:cubicBezTo>
                    <a:pt x="f22" y="f31"/>
                    <a:pt x="f21" y="f31"/>
                    <a:pt x="f20" y="f17"/>
                  </a:cubicBezTo>
                  <a:cubicBezTo>
                    <a:pt x="f20" y="f17"/>
                    <a:pt x="f19" y="f17"/>
                    <a:pt x="f18" y="f18"/>
                  </a:cubicBezTo>
                  <a:cubicBezTo>
                    <a:pt x="f17" y="f18"/>
                    <a:pt x="f31" y="f18"/>
                    <a:pt x="f30" y="f18"/>
                  </a:cubicBezTo>
                  <a:cubicBezTo>
                    <a:pt x="f29" y="f18"/>
                    <a:pt x="f12" y="f18"/>
                    <a:pt x="f8" y="f17"/>
                  </a:cubicBezTo>
                  <a:cubicBezTo>
                    <a:pt x="f11" y="f31"/>
                    <a:pt x="f32" y="f30"/>
                    <a:pt x="f25" y="f16"/>
                  </a:cubicBezTo>
                  <a:cubicBezTo>
                    <a:pt x="f27" y="f14"/>
                    <a:pt x="f27" y="f15"/>
                    <a:pt x="f33" y="f13"/>
                  </a:cubicBezTo>
                  <a:cubicBezTo>
                    <a:pt x="f6"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7" name="Freeform 59">
              <a:extLst>
                <a:ext uri="{FF2B5EF4-FFF2-40B4-BE49-F238E27FC236}">
                  <a16:creationId xmlns:a16="http://schemas.microsoft.com/office/drawing/2014/main" id="{98BC71DC-7134-8E7A-D869-A8A13F662D99}"/>
                </a:ext>
              </a:extLst>
            </p:cNvPr>
            <p:cNvSpPr/>
            <p:nvPr/>
          </p:nvSpPr>
          <p:spPr>
            <a:xfrm>
              <a:off x="1581884"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8"/>
                <a:gd name="f14" fmla="val 25"/>
                <a:gd name="f15" fmla="val 26"/>
                <a:gd name="f16" fmla="val 9"/>
                <a:gd name="f17" fmla="val 28"/>
                <a:gd name="f18" fmla="val 10"/>
                <a:gd name="f19" fmla="val 29"/>
                <a:gd name="f20" fmla="val 30"/>
                <a:gd name="f21" fmla="val 11"/>
                <a:gd name="f22" fmla="val 31"/>
                <a:gd name="f23" fmla="val 12"/>
                <a:gd name="f24" fmla="val 32"/>
                <a:gd name="f25" fmla="val 13"/>
                <a:gd name="f26" fmla="val 14"/>
                <a:gd name="f27" fmla="val 15"/>
                <a:gd name="f28" fmla="val 16"/>
                <a:gd name="f29" fmla="val 17"/>
                <a:gd name="f30" fmla="val 18"/>
                <a:gd name="f31" fmla="val 24"/>
                <a:gd name="f32" fmla="val 35"/>
                <a:gd name="f33" fmla="val 36"/>
                <a:gd name="f34" fmla="val 37"/>
                <a:gd name="f35" fmla="val 27"/>
                <a:gd name="f36" fmla="val 38"/>
                <a:gd name="f37" fmla="val 39"/>
                <a:gd name="f38" fmla="val 7"/>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8 f50 1"/>
                <a:gd name="f59" fmla="*/ 9 f50 1"/>
                <a:gd name="f60" fmla="*/ 28 f49 1"/>
                <a:gd name="f61" fmla="*/ 11 f50 1"/>
                <a:gd name="f62" fmla="*/ 31 f49 1"/>
                <a:gd name="f63" fmla="*/ 14 f50 1"/>
                <a:gd name="f64" fmla="*/ 33 f49 1"/>
                <a:gd name="f65" fmla="*/ 17 f50 1"/>
                <a:gd name="f66" fmla="*/ 20 f50 1"/>
                <a:gd name="f67" fmla="*/ 22 f50 1"/>
                <a:gd name="f68" fmla="*/ 32 f49 1"/>
                <a:gd name="f69" fmla="*/ 24 f50 1"/>
                <a:gd name="f70" fmla="*/ 26 f50 1"/>
                <a:gd name="f71" fmla="*/ 30 f49 1"/>
                <a:gd name="f72" fmla="*/ 30 f50 1"/>
                <a:gd name="f73" fmla="*/ 35 f49 1"/>
                <a:gd name="f74" fmla="*/ 27 f50 1"/>
                <a:gd name="f75" fmla="*/ 37 f49 1"/>
                <a:gd name="f76" fmla="*/ 25 f50 1"/>
                <a:gd name="f77" fmla="*/ 39 f49 1"/>
                <a:gd name="f78" fmla="*/ 21 f50 1"/>
                <a:gd name="f79" fmla="*/ 40 f49 1"/>
                <a:gd name="f80" fmla="*/ 12 f50 1"/>
                <a:gd name="f81" fmla="*/ 38 f49 1"/>
                <a:gd name="f82" fmla="*/ 5 f50 1"/>
                <a:gd name="f83" fmla="*/ 3 f50 1"/>
                <a:gd name="f84" fmla="*/ 1 f50 1"/>
                <a:gd name="f85" fmla="*/ 26 f49 1"/>
                <a:gd name="f86" fmla="*/ 0 f50 1"/>
                <a:gd name="f87" fmla="*/ 20 f49 1"/>
                <a:gd name="f88" fmla="*/ 2 f50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23 f50 1"/>
                <a:gd name="f101" fmla="*/ 10 f49 1"/>
                <a:gd name="f102" fmla="*/ 8 f49 1"/>
                <a:gd name="f103" fmla="*/ 7 f49 1"/>
                <a:gd name="f104" fmla="*/ 13 f50 1"/>
                <a:gd name="f105" fmla="*/ 9 f49 1"/>
                <a:gd name="f106" fmla="*/ f51 1 f2"/>
                <a:gd name="f107" fmla="*/ f54 1 33"/>
                <a:gd name="f108" fmla="*/ f55 1 40"/>
                <a:gd name="f109" fmla="*/ f56 1 40"/>
                <a:gd name="f110" fmla="*/ f57 1 40"/>
                <a:gd name="f111" fmla="*/ f58 1 33"/>
                <a:gd name="f112" fmla="*/ f59 1 33"/>
                <a:gd name="f113" fmla="*/ f60 1 40"/>
                <a:gd name="f114" fmla="*/ f61 1 33"/>
                <a:gd name="f115" fmla="*/ f62 1 40"/>
                <a:gd name="f116" fmla="*/ f63 1 33"/>
                <a:gd name="f117" fmla="*/ f64 1 40"/>
                <a:gd name="f118" fmla="*/ f65 1 33"/>
                <a:gd name="f119" fmla="*/ f66 1 33"/>
                <a:gd name="f120" fmla="*/ f67 1 33"/>
                <a:gd name="f121" fmla="*/ f68 1 40"/>
                <a:gd name="f122" fmla="*/ f69 1 33"/>
                <a:gd name="f123" fmla="*/ f70 1 33"/>
                <a:gd name="f124" fmla="*/ f71 1 40"/>
                <a:gd name="f125" fmla="*/ f72 1 33"/>
                <a:gd name="f126" fmla="*/ f73 1 40"/>
                <a:gd name="f127" fmla="*/ f74 1 33"/>
                <a:gd name="f128" fmla="*/ f75 1 40"/>
                <a:gd name="f129" fmla="*/ f76 1 33"/>
                <a:gd name="f130" fmla="*/ f77 1 40"/>
                <a:gd name="f131" fmla="*/ f78 1 33"/>
                <a:gd name="f132" fmla="*/ f79 1 40"/>
                <a:gd name="f133" fmla="*/ f80 1 33"/>
                <a:gd name="f134" fmla="*/ f81 1 40"/>
                <a:gd name="f135" fmla="*/ f82 1 33"/>
                <a:gd name="f136" fmla="*/ f83 1 33"/>
                <a:gd name="f137" fmla="*/ f84 1 33"/>
                <a:gd name="f138" fmla="*/ f85 1 40"/>
                <a:gd name="f139" fmla="*/ f86 1 33"/>
                <a:gd name="f140" fmla="*/ f87 1 40"/>
                <a:gd name="f141" fmla="*/ f88 1 33"/>
                <a:gd name="f142" fmla="*/ f89 1 40"/>
                <a:gd name="f143" fmla="*/ f90 1 40"/>
                <a:gd name="f144" fmla="*/ f91 1 33"/>
                <a:gd name="f145" fmla="*/ f92 1 40"/>
                <a:gd name="f146" fmla="*/ f93 1 40"/>
                <a:gd name="f147" fmla="*/ f94 1 40"/>
                <a:gd name="f148" fmla="*/ f95 1 33"/>
                <a:gd name="f149" fmla="*/ f96 1 40"/>
                <a:gd name="f150" fmla="*/ f97 1 33"/>
                <a:gd name="f151" fmla="*/ f98 1 40"/>
                <a:gd name="f152" fmla="*/ f99 1 40"/>
                <a:gd name="f153" fmla="*/ f100 1 33"/>
                <a:gd name="f154" fmla="*/ f101 1 40"/>
                <a:gd name="f155" fmla="*/ f102 1 40"/>
                <a:gd name="f156" fmla="*/ f103 1 40"/>
                <a:gd name="f157" fmla="*/ f104 1 33"/>
                <a:gd name="f158" fmla="*/ f105 1 40"/>
                <a:gd name="f159" fmla="*/ 0 1 f52"/>
                <a:gd name="f160" fmla="*/ f6 1 f52"/>
                <a:gd name="f161" fmla="*/ 0 1 f53"/>
                <a:gd name="f162" fmla="*/ f7 1 f53"/>
                <a:gd name="f163" fmla="+- f106 0 f1"/>
                <a:gd name="f164" fmla="*/ f107 1 f52"/>
                <a:gd name="f165" fmla="*/ f108 1 f53"/>
                <a:gd name="f166" fmla="*/ f109 1 f53"/>
                <a:gd name="f167" fmla="*/ f110 1 f53"/>
                <a:gd name="f168" fmla="*/ f111 1 f52"/>
                <a:gd name="f169" fmla="*/ f112 1 f52"/>
                <a:gd name="f170" fmla="*/ f113 1 f53"/>
                <a:gd name="f171" fmla="*/ f114 1 f52"/>
                <a:gd name="f172" fmla="*/ f115 1 f53"/>
                <a:gd name="f173" fmla="*/ f116 1 f52"/>
                <a:gd name="f174" fmla="*/ f117 1 f53"/>
                <a:gd name="f175" fmla="*/ f118 1 f52"/>
                <a:gd name="f176" fmla="*/ f119 1 f52"/>
                <a:gd name="f177" fmla="*/ f120 1 f52"/>
                <a:gd name="f178" fmla="*/ f121 1 f53"/>
                <a:gd name="f179" fmla="*/ f122 1 f52"/>
                <a:gd name="f180" fmla="*/ f123 1 f52"/>
                <a:gd name="f181" fmla="*/ f124 1 f53"/>
                <a:gd name="f182" fmla="*/ f125 1 f52"/>
                <a:gd name="f183" fmla="*/ f126 1 f53"/>
                <a:gd name="f184" fmla="*/ f127 1 f52"/>
                <a:gd name="f185" fmla="*/ f128 1 f53"/>
                <a:gd name="f186" fmla="*/ f129 1 f52"/>
                <a:gd name="f187" fmla="*/ f130 1 f53"/>
                <a:gd name="f188" fmla="*/ f131 1 f52"/>
                <a:gd name="f189" fmla="*/ f132 1 f53"/>
                <a:gd name="f190" fmla="*/ f133 1 f52"/>
                <a:gd name="f191" fmla="*/ f134 1 f53"/>
                <a:gd name="f192" fmla="*/ f135 1 f52"/>
                <a:gd name="f193" fmla="*/ f136 1 f52"/>
                <a:gd name="f194" fmla="*/ f137 1 f52"/>
                <a:gd name="f195" fmla="*/ f138 1 f53"/>
                <a:gd name="f196" fmla="*/ f139 1 f52"/>
                <a:gd name="f197" fmla="*/ f140 1 f53"/>
                <a:gd name="f198" fmla="*/ f141 1 f52"/>
                <a:gd name="f199" fmla="*/ f142 1 f53"/>
                <a:gd name="f200" fmla="*/ f143 1 f53"/>
                <a:gd name="f201" fmla="*/ f144 1 f52"/>
                <a:gd name="f202" fmla="*/ f145 1 f53"/>
                <a:gd name="f203" fmla="*/ f146 1 f53"/>
                <a:gd name="f204" fmla="*/ f147 1 f53"/>
                <a:gd name="f205" fmla="*/ f148 1 f52"/>
                <a:gd name="f206" fmla="*/ f149 1 f53"/>
                <a:gd name="f207" fmla="*/ f150 1 f52"/>
                <a:gd name="f208" fmla="*/ f151 1 f53"/>
                <a:gd name="f209" fmla="*/ f152 1 f53"/>
                <a:gd name="f210" fmla="*/ f153 1 f52"/>
                <a:gd name="f211" fmla="*/ f154 1 f53"/>
                <a:gd name="f212" fmla="*/ f155 1 f53"/>
                <a:gd name="f213" fmla="*/ f156 1 f53"/>
                <a:gd name="f214" fmla="*/ f157 1 f52"/>
                <a:gd name="f215" fmla="*/ f158 1 f53"/>
                <a:gd name="f216" fmla="*/ f159 f47 1"/>
                <a:gd name="f217" fmla="*/ f160 f47 1"/>
                <a:gd name="f218" fmla="*/ f162 f48 1"/>
                <a:gd name="f219" fmla="*/ f161 f48 1"/>
                <a:gd name="f220" fmla="*/ f164 f47 1"/>
                <a:gd name="f221" fmla="*/ f165 f48 1"/>
                <a:gd name="f222" fmla="*/ f166 f48 1"/>
                <a:gd name="f223" fmla="*/ f167 f48 1"/>
                <a:gd name="f224" fmla="*/ f168 f47 1"/>
                <a:gd name="f225" fmla="*/ f169 f47 1"/>
                <a:gd name="f226" fmla="*/ f170 f48 1"/>
                <a:gd name="f227" fmla="*/ f171 f47 1"/>
                <a:gd name="f228" fmla="*/ f172 f48 1"/>
                <a:gd name="f229" fmla="*/ f173 f47 1"/>
                <a:gd name="f230" fmla="*/ f174 f48 1"/>
                <a:gd name="f231" fmla="*/ f175 f47 1"/>
                <a:gd name="f232" fmla="*/ f176 f47 1"/>
                <a:gd name="f233" fmla="*/ f177 f47 1"/>
                <a:gd name="f234" fmla="*/ f178 f48 1"/>
                <a:gd name="f235" fmla="*/ f179 f47 1"/>
                <a:gd name="f236" fmla="*/ f180 f47 1"/>
                <a:gd name="f237" fmla="*/ f181 f48 1"/>
                <a:gd name="f238" fmla="*/ f182 f47 1"/>
                <a:gd name="f239" fmla="*/ f183 f48 1"/>
                <a:gd name="f240" fmla="*/ f184 f47 1"/>
                <a:gd name="f241" fmla="*/ f185 f48 1"/>
                <a:gd name="f242" fmla="*/ f186 f47 1"/>
                <a:gd name="f243" fmla="*/ f187 f48 1"/>
                <a:gd name="f244" fmla="*/ f188 f47 1"/>
                <a:gd name="f245" fmla="*/ f189 f48 1"/>
                <a:gd name="f246" fmla="*/ f190 f47 1"/>
                <a:gd name="f247" fmla="*/ f191 f48 1"/>
                <a:gd name="f248" fmla="*/ f192 f47 1"/>
                <a:gd name="f249" fmla="*/ f193 f47 1"/>
                <a:gd name="f250" fmla="*/ f194 f47 1"/>
                <a:gd name="f251" fmla="*/ f195 f48 1"/>
                <a:gd name="f252" fmla="*/ f196 f47 1"/>
                <a:gd name="f253" fmla="*/ f197 f48 1"/>
                <a:gd name="f254" fmla="*/ f198 f47 1"/>
                <a:gd name="f255" fmla="*/ f199 f48 1"/>
                <a:gd name="f256" fmla="*/ f200 f48 1"/>
                <a:gd name="f257" fmla="*/ f201 f47 1"/>
                <a:gd name="f258" fmla="*/ f202 f48 1"/>
                <a:gd name="f259" fmla="*/ f203 f48 1"/>
                <a:gd name="f260" fmla="*/ f204 f48 1"/>
                <a:gd name="f261" fmla="*/ f205 f47 1"/>
                <a:gd name="f262" fmla="*/ f206 f48 1"/>
                <a:gd name="f263" fmla="*/ f207 f47 1"/>
                <a:gd name="f264" fmla="*/ f208 f48 1"/>
                <a:gd name="f265" fmla="*/ f209 f48 1"/>
                <a:gd name="f266" fmla="*/ f210 f47 1"/>
                <a:gd name="f267" fmla="*/ f211 f48 1"/>
                <a:gd name="f268" fmla="*/ f212 f48 1"/>
                <a:gd name="f269" fmla="*/ f213 f48 1"/>
                <a:gd name="f270" fmla="*/ f214 f47 1"/>
                <a:gd name="f271" fmla="*/ f215 f48 1"/>
              </a:gdLst>
              <a:ahLst/>
              <a:cxnLst>
                <a:cxn ang="3cd4">
                  <a:pos x="hc" y="t"/>
                </a:cxn>
                <a:cxn ang="0">
                  <a:pos x="r" y="vc"/>
                </a:cxn>
                <a:cxn ang="cd4">
                  <a:pos x="hc" y="b"/>
                </a:cxn>
                <a:cxn ang="cd2">
                  <a:pos x="l" y="vc"/>
                </a:cxn>
                <a:cxn ang="f163">
                  <a:pos x="f220" y="f221"/>
                </a:cxn>
                <a:cxn ang="f163">
                  <a:pos x="f220" y="f222"/>
                </a:cxn>
                <a:cxn ang="f163">
                  <a:pos x="f220" y="f223"/>
                </a:cxn>
                <a:cxn ang="f163">
                  <a:pos x="f224" y="f223"/>
                </a:cxn>
                <a:cxn ang="f163">
                  <a:pos x="f225" y="f226"/>
                </a:cxn>
                <a:cxn ang="f163">
                  <a:pos x="f227" y="f228"/>
                </a:cxn>
                <a:cxn ang="f163">
                  <a:pos x="f229" y="f230"/>
                </a:cxn>
                <a:cxn ang="f163">
                  <a:pos x="f231" y="f230"/>
                </a:cxn>
                <a:cxn ang="f163">
                  <a:pos x="f232" y="f230"/>
                </a:cxn>
                <a:cxn ang="f163">
                  <a:pos x="f233" y="f234"/>
                </a:cxn>
                <a:cxn ang="f163">
                  <a:pos x="f235" y="f234"/>
                </a:cxn>
                <a:cxn ang="f163">
                  <a:pos x="f236" y="f237"/>
                </a:cxn>
                <a:cxn ang="f163">
                  <a:pos x="f238" y="f239"/>
                </a:cxn>
                <a:cxn ang="f163">
                  <a:pos x="f240" y="f241"/>
                </a:cxn>
                <a:cxn ang="f163">
                  <a:pos x="f242" y="f243"/>
                </a:cxn>
                <a:cxn ang="f163">
                  <a:pos x="f244" y="f245"/>
                </a:cxn>
                <a:cxn ang="f163">
                  <a:pos x="f231" y="f245"/>
                </a:cxn>
                <a:cxn ang="f163">
                  <a:pos x="f246" y="f243"/>
                </a:cxn>
                <a:cxn ang="f163">
                  <a:pos x="f224" y="f247"/>
                </a:cxn>
                <a:cxn ang="f163">
                  <a:pos x="f248" y="f239"/>
                </a:cxn>
                <a:cxn ang="f163">
                  <a:pos x="f249" y="f228"/>
                </a:cxn>
                <a:cxn ang="f163">
                  <a:pos x="f250" y="f251"/>
                </a:cxn>
                <a:cxn ang="f163">
                  <a:pos x="f252" y="f253"/>
                </a:cxn>
                <a:cxn ang="f163">
                  <a:pos x="f254" y="f255"/>
                </a:cxn>
                <a:cxn ang="f163">
                  <a:pos x="f248" y="f256"/>
                </a:cxn>
                <a:cxn ang="f163">
                  <a:pos x="f257" y="f258"/>
                </a:cxn>
                <a:cxn ang="f163">
                  <a:pos x="f231" y="f259"/>
                </a:cxn>
                <a:cxn ang="f163">
                  <a:pos x="f235" y="f260"/>
                </a:cxn>
                <a:cxn ang="f163">
                  <a:pos x="f261" y="f262"/>
                </a:cxn>
                <a:cxn ang="f163">
                  <a:pos x="f263" y="f255"/>
                </a:cxn>
                <a:cxn ang="f163">
                  <a:pos x="f220" y="f221"/>
                </a:cxn>
                <a:cxn ang="f163">
                  <a:pos x="f236" y="f264"/>
                </a:cxn>
                <a:cxn ang="f163">
                  <a:pos x="f242" y="f265"/>
                </a:cxn>
                <a:cxn ang="f163">
                  <a:pos x="f266" y="f267"/>
                </a:cxn>
                <a:cxn ang="f163">
                  <a:pos x="f244" y="f268"/>
                </a:cxn>
                <a:cxn ang="f163">
                  <a:pos x="f231" y="f269"/>
                </a:cxn>
                <a:cxn ang="f163">
                  <a:pos x="f270" y="f268"/>
                </a:cxn>
                <a:cxn ang="f163">
                  <a:pos x="f227" y="f271"/>
                </a:cxn>
                <a:cxn ang="f163">
                  <a:pos x="f225" y="f255"/>
                </a:cxn>
                <a:cxn ang="f163">
                  <a:pos x="f224" y="f264"/>
                </a:cxn>
                <a:cxn ang="f163">
                  <a:pos x="f236" y="f264"/>
                </a:cxn>
              </a:cxnLst>
              <a:rect l="f216" t="f219" r="f217" b="f218"/>
              <a:pathLst>
                <a:path w="33" h="40">
                  <a:moveTo>
                    <a:pt x="f6" y="f8"/>
                  </a:moveTo>
                  <a:cubicBezTo>
                    <a:pt x="f6" y="f9"/>
                    <a:pt x="f6" y="f10"/>
                    <a:pt x="f6" y="f10"/>
                  </a:cubicBezTo>
                  <a:cubicBezTo>
                    <a:pt x="f6" y="f11"/>
                    <a:pt x="f6" y="f11"/>
                    <a:pt x="f6" y="f12"/>
                  </a:cubicBezTo>
                  <a:cubicBezTo>
                    <a:pt x="f13" y="f12"/>
                    <a:pt x="f13" y="f12"/>
                    <a:pt x="f13" y="f12"/>
                  </a:cubicBezTo>
                  <a:cubicBezTo>
                    <a:pt x="f13" y="f14"/>
                    <a:pt x="f13" y="f15"/>
                    <a:pt x="f16" y="f17"/>
                  </a:cubicBezTo>
                  <a:cubicBezTo>
                    <a:pt x="f18" y="f19"/>
                    <a:pt x="f18" y="f20"/>
                    <a:pt x="f21" y="f22"/>
                  </a:cubicBezTo>
                  <a:cubicBezTo>
                    <a:pt x="f23" y="f24"/>
                    <a:pt x="f25" y="f24"/>
                    <a:pt x="f26" y="f6"/>
                  </a:cubicBezTo>
                  <a:cubicBezTo>
                    <a:pt x="f27" y="f6"/>
                    <a:pt x="f28" y="f6"/>
                    <a:pt x="f29" y="f6"/>
                  </a:cubicBezTo>
                  <a:cubicBezTo>
                    <a:pt x="f30" y="f6"/>
                    <a:pt x="f8" y="f6"/>
                    <a:pt x="f9" y="f6"/>
                  </a:cubicBezTo>
                  <a:cubicBezTo>
                    <a:pt x="f9" y="f6"/>
                    <a:pt x="f10" y="f6"/>
                    <a:pt x="f11" y="f24"/>
                  </a:cubicBezTo>
                  <a:cubicBezTo>
                    <a:pt x="f12" y="f24"/>
                    <a:pt x="f12" y="f24"/>
                    <a:pt x="f31" y="f24"/>
                  </a:cubicBezTo>
                  <a:cubicBezTo>
                    <a:pt x="f31" y="f22"/>
                    <a:pt x="f14" y="f22"/>
                    <a:pt x="f15" y="f20"/>
                  </a:cubicBezTo>
                  <a:cubicBezTo>
                    <a:pt x="f20" y="f32"/>
                    <a:pt x="f20" y="f32"/>
                    <a:pt x="f20" y="f32"/>
                  </a:cubicBezTo>
                  <a:cubicBezTo>
                    <a:pt x="f19" y="f33"/>
                    <a:pt x="f17" y="f34"/>
                    <a:pt x="f35" y="f34"/>
                  </a:cubicBezTo>
                  <a:cubicBezTo>
                    <a:pt x="f35" y="f36"/>
                    <a:pt x="f15" y="f36"/>
                    <a:pt x="f14" y="f37"/>
                  </a:cubicBezTo>
                  <a:cubicBezTo>
                    <a:pt x="f31" y="f37"/>
                    <a:pt x="f11" y="f7"/>
                    <a:pt x="f10" y="f7"/>
                  </a:cubicBezTo>
                  <a:cubicBezTo>
                    <a:pt x="f9" y="f7"/>
                    <a:pt x="f30" y="f7"/>
                    <a:pt x="f29" y="f7"/>
                  </a:cubicBezTo>
                  <a:cubicBezTo>
                    <a:pt x="f27" y="f7"/>
                    <a:pt x="f26" y="f7"/>
                    <a:pt x="f23" y="f37"/>
                  </a:cubicBezTo>
                  <a:cubicBezTo>
                    <a:pt x="f21" y="f37"/>
                    <a:pt x="f18" y="f36"/>
                    <a:pt x="f13" y="f36"/>
                  </a:cubicBezTo>
                  <a:cubicBezTo>
                    <a:pt x="f38" y="f34"/>
                    <a:pt x="f39" y="f33"/>
                    <a:pt x="f40" y="f32"/>
                  </a:cubicBezTo>
                  <a:cubicBezTo>
                    <a:pt x="f41" y="f42"/>
                    <a:pt x="f41" y="f6"/>
                    <a:pt x="f43" y="f22"/>
                  </a:cubicBezTo>
                  <a:cubicBezTo>
                    <a:pt x="f44" y="f20"/>
                    <a:pt x="f45" y="f17"/>
                    <a:pt x="f45" y="f15"/>
                  </a:cubicBezTo>
                  <a:cubicBezTo>
                    <a:pt x="f45" y="f31"/>
                    <a:pt x="f5" y="f11"/>
                    <a:pt x="f5" y="f9"/>
                  </a:cubicBezTo>
                  <a:cubicBezTo>
                    <a:pt x="f5" y="f29"/>
                    <a:pt x="f45" y="f26"/>
                    <a:pt x="f44" y="f23"/>
                  </a:cubicBezTo>
                  <a:cubicBezTo>
                    <a:pt x="f44" y="f16"/>
                    <a:pt x="f41" y="f38"/>
                    <a:pt x="f40" y="f40"/>
                  </a:cubicBezTo>
                  <a:cubicBezTo>
                    <a:pt x="f39" y="f41"/>
                    <a:pt x="f13" y="f44"/>
                    <a:pt x="f18" y="f45"/>
                  </a:cubicBezTo>
                  <a:cubicBezTo>
                    <a:pt x="f23" y="f45"/>
                    <a:pt x="f27" y="f5"/>
                    <a:pt x="f29" y="f5"/>
                  </a:cubicBezTo>
                  <a:cubicBezTo>
                    <a:pt x="f9" y="f5"/>
                    <a:pt x="f11" y="f45"/>
                    <a:pt x="f31" y="f44"/>
                  </a:cubicBezTo>
                  <a:cubicBezTo>
                    <a:pt x="f15" y="f43"/>
                    <a:pt x="f17" y="f41"/>
                    <a:pt x="f19" y="f39"/>
                  </a:cubicBezTo>
                  <a:cubicBezTo>
                    <a:pt x="f22" y="f13"/>
                    <a:pt x="f24" y="f18"/>
                    <a:pt x="f24" y="f23"/>
                  </a:cubicBezTo>
                  <a:cubicBezTo>
                    <a:pt x="f6" y="f26"/>
                    <a:pt x="f6" y="f29"/>
                    <a:pt x="f6" y="f8"/>
                  </a:cubicBezTo>
                  <a:close/>
                  <a:moveTo>
                    <a:pt x="f15" y="f29"/>
                  </a:moveTo>
                  <a:cubicBezTo>
                    <a:pt x="f15" y="f27"/>
                    <a:pt x="f14" y="f26"/>
                    <a:pt x="f14" y="f25"/>
                  </a:cubicBezTo>
                  <a:cubicBezTo>
                    <a:pt x="f14" y="f23"/>
                    <a:pt x="f31" y="f21"/>
                    <a:pt x="f12" y="f18"/>
                  </a:cubicBezTo>
                  <a:cubicBezTo>
                    <a:pt x="f12" y="f16"/>
                    <a:pt x="f11" y="f13"/>
                    <a:pt x="f10" y="f13"/>
                  </a:cubicBezTo>
                  <a:cubicBezTo>
                    <a:pt x="f9" y="f38"/>
                    <a:pt x="f30" y="f38"/>
                    <a:pt x="f29" y="f38"/>
                  </a:cubicBezTo>
                  <a:cubicBezTo>
                    <a:pt x="f27" y="f38"/>
                    <a:pt x="f26" y="f38"/>
                    <a:pt x="f25" y="f13"/>
                  </a:cubicBezTo>
                  <a:cubicBezTo>
                    <a:pt x="f23" y="f13"/>
                    <a:pt x="f21" y="f16"/>
                    <a:pt x="f21" y="f16"/>
                  </a:cubicBezTo>
                  <a:cubicBezTo>
                    <a:pt x="f18" y="f18"/>
                    <a:pt x="f16" y="f21"/>
                    <a:pt x="f16" y="f23"/>
                  </a:cubicBezTo>
                  <a:cubicBezTo>
                    <a:pt x="f13" y="f26"/>
                    <a:pt x="f13" y="f27"/>
                    <a:pt x="f13"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8" name="Freeform 60">
              <a:extLst>
                <a:ext uri="{FF2B5EF4-FFF2-40B4-BE49-F238E27FC236}">
                  <a16:creationId xmlns:a16="http://schemas.microsoft.com/office/drawing/2014/main" id="{BDD1720E-236E-AC53-31A0-AF43505D8C24}"/>
                </a:ext>
              </a:extLst>
            </p:cNvPr>
            <p:cNvSpPr/>
            <p:nvPr/>
          </p:nvSpPr>
          <p:spPr>
            <a:xfrm>
              <a:off x="1726533" y="6297417"/>
              <a:ext cx="121999" cy="97648"/>
            </a:xfrm>
            <a:custGeom>
              <a:avLst/>
              <a:gdLst>
                <a:gd name="f0" fmla="val 10800000"/>
                <a:gd name="f1" fmla="val 5400000"/>
                <a:gd name="f2" fmla="val 180"/>
                <a:gd name="f3" fmla="val w"/>
                <a:gd name="f4" fmla="val h"/>
                <a:gd name="f5" fmla="val 0"/>
                <a:gd name="f6" fmla="val 70"/>
                <a:gd name="f7" fmla="val 56"/>
                <a:gd name="f8" fmla="val 46"/>
                <a:gd name="f9" fmla="val 35"/>
                <a:gd name="f10" fmla="val 16"/>
                <a:gd name="f11" fmla="val 25"/>
                <a:gd name="f12" fmla="val 15"/>
                <a:gd name="f13" fmla="val 10"/>
                <a:gd name="f14" fmla="val 21"/>
                <a:gd name="f15" fmla="val 38"/>
                <a:gd name="f16" fmla="val 31"/>
                <a:gd name="f17" fmla="val 40"/>
                <a:gd name="f18" fmla="val 50"/>
                <a:gd name="f19" fmla="val 60"/>
                <a:gd name="f20" fmla="+- 0 0 -90"/>
                <a:gd name="f21" fmla="*/ f3 1 70"/>
                <a:gd name="f22" fmla="*/ f4 1 56"/>
                <a:gd name="f23" fmla="+- f7 0 f5"/>
                <a:gd name="f24" fmla="+- f6 0 f5"/>
                <a:gd name="f25" fmla="*/ f20 f0 1"/>
                <a:gd name="f26" fmla="*/ f24 1 70"/>
                <a:gd name="f27" fmla="*/ f23 1 56"/>
                <a:gd name="f28" fmla="*/ 56 f24 1"/>
                <a:gd name="f29" fmla="*/ 56 f23 1"/>
                <a:gd name="f30" fmla="*/ 46 f24 1"/>
                <a:gd name="f31" fmla="*/ 35 f24 1"/>
                <a:gd name="f32" fmla="*/ 16 f23 1"/>
                <a:gd name="f33" fmla="*/ 25 f24 1"/>
                <a:gd name="f34" fmla="*/ 15 f24 1"/>
                <a:gd name="f35" fmla="*/ 0 f24 1"/>
                <a:gd name="f36" fmla="*/ 0 f23 1"/>
                <a:gd name="f37" fmla="*/ 10 f24 1"/>
                <a:gd name="f38" fmla="*/ 21 f24 1"/>
                <a:gd name="f39" fmla="*/ 38 f23 1"/>
                <a:gd name="f40" fmla="*/ 31 f24 1"/>
                <a:gd name="f41" fmla="*/ 40 f24 1"/>
                <a:gd name="f42" fmla="*/ 50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7" y="f7"/>
                  </a:moveTo>
                  <a:lnTo>
                    <a:pt x="f8" y="f7"/>
                  </a:lnTo>
                  <a:lnTo>
                    <a:pt x="f9" y="f10"/>
                  </a:lnTo>
                  <a:lnTo>
                    <a:pt x="f11" y="f7"/>
                  </a:lnTo>
                  <a:lnTo>
                    <a:pt x="f12" y="f7"/>
                  </a:lnTo>
                  <a:lnTo>
                    <a:pt x="f5" y="f5"/>
                  </a:lnTo>
                  <a:lnTo>
                    <a:pt x="f13" y="f5"/>
                  </a:lnTo>
                  <a:lnTo>
                    <a:pt x="f14" y="f15"/>
                  </a:lnTo>
                  <a:lnTo>
                    <a:pt x="f16" y="f5"/>
                  </a:lnTo>
                  <a:lnTo>
                    <a:pt x="f17" y="f5"/>
                  </a:lnTo>
                  <a:lnTo>
                    <a:pt x="f18" y="f15"/>
                  </a:lnTo>
                  <a:lnTo>
                    <a:pt x="f19" y="f5"/>
                  </a:lnTo>
                  <a:lnTo>
                    <a:pt x="f6" y="f5"/>
                  </a:lnTo>
                  <a:lnTo>
                    <a:pt x="f7"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9" name="Freeform 61">
              <a:extLst>
                <a:ext uri="{FF2B5EF4-FFF2-40B4-BE49-F238E27FC236}">
                  <a16:creationId xmlns:a16="http://schemas.microsoft.com/office/drawing/2014/main" id="{0CE24F11-8622-F8D8-BBA0-CDD39C882830}"/>
                </a:ext>
              </a:extLst>
            </p:cNvPr>
            <p:cNvSpPr/>
            <p:nvPr/>
          </p:nvSpPr>
          <p:spPr>
            <a:xfrm>
              <a:off x="1858993" y="6293924"/>
              <a:ext cx="87142" cy="102879"/>
            </a:xfrm>
            <a:custGeom>
              <a:avLst/>
              <a:gdLst>
                <a:gd name="f0" fmla="val 10800000"/>
                <a:gd name="f1" fmla="val 5400000"/>
                <a:gd name="f2" fmla="val 180"/>
                <a:gd name="f3" fmla="val w"/>
                <a:gd name="f4" fmla="val h"/>
                <a:gd name="f5" fmla="val 0"/>
                <a:gd name="f6" fmla="val 34"/>
                <a:gd name="f7" fmla="val 40"/>
                <a:gd name="f8" fmla="val 20"/>
                <a:gd name="f9" fmla="val 23"/>
                <a:gd name="f10" fmla="val 26"/>
                <a:gd name="f11" fmla="val 33"/>
                <a:gd name="f12" fmla="val 28"/>
                <a:gd name="f13" fmla="val 32"/>
                <a:gd name="f14" fmla="val 31"/>
                <a:gd name="f15" fmla="val 29"/>
                <a:gd name="f16" fmla="val 35"/>
                <a:gd name="f17" fmla="val 37"/>
                <a:gd name="f18" fmla="val 38"/>
                <a:gd name="f19" fmla="val 24"/>
                <a:gd name="f20" fmla="val 39"/>
                <a:gd name="f21" fmla="val 22"/>
                <a:gd name="f22" fmla="val 17"/>
                <a:gd name="f23" fmla="val 15"/>
                <a:gd name="f24" fmla="val 12"/>
                <a:gd name="f25" fmla="val 10"/>
                <a:gd name="f26" fmla="val 8"/>
                <a:gd name="f27" fmla="val 6"/>
                <a:gd name="f28" fmla="val 36"/>
                <a:gd name="f29" fmla="val 5"/>
                <a:gd name="f30" fmla="val 3"/>
                <a:gd name="f31" fmla="val 2"/>
                <a:gd name="f32" fmla="val 1"/>
                <a:gd name="f33" fmla="val 14"/>
                <a:gd name="f34" fmla="val 9"/>
                <a:gd name="f35" fmla="val 4"/>
                <a:gd name="f36" fmla="val 7"/>
                <a:gd name="f37" fmla="val 11"/>
                <a:gd name="f38" fmla="val 13"/>
                <a:gd name="f39" fmla="val 27"/>
                <a:gd name="f40" fmla="val 18"/>
                <a:gd name="f41" fmla="val 16"/>
                <a:gd name="f42" fmla="val 25"/>
                <a:gd name="f43" fmla="val 21"/>
                <a:gd name="f44" fmla="val 30"/>
                <a:gd name="f45" fmla="val 19"/>
                <a:gd name="f46" fmla="+- 0 0 -90"/>
                <a:gd name="f47" fmla="*/ f3 1 34"/>
                <a:gd name="f48" fmla="*/ f4 1 40"/>
                <a:gd name="f49" fmla="+- f7 0 f5"/>
                <a:gd name="f50" fmla="+- f6 0 f5"/>
                <a:gd name="f51" fmla="*/ f46 f0 1"/>
                <a:gd name="f52" fmla="*/ f50 1 34"/>
                <a:gd name="f53" fmla="*/ f49 1 40"/>
                <a:gd name="f54" fmla="*/ 34 f50 1"/>
                <a:gd name="f55" fmla="*/ 20 f49 1"/>
                <a:gd name="f56" fmla="*/ 33 f50 1"/>
                <a:gd name="f57" fmla="*/ 28 f49 1"/>
                <a:gd name="f58" fmla="*/ 29 f50 1"/>
                <a:gd name="f59" fmla="*/ 35 f49 1"/>
                <a:gd name="f60" fmla="*/ 24 f50 1"/>
                <a:gd name="f61" fmla="*/ 39 f49 1"/>
                <a:gd name="f62" fmla="*/ 17 f50 1"/>
                <a:gd name="f63" fmla="*/ 40 f49 1"/>
                <a:gd name="f64" fmla="*/ 10 f50 1"/>
                <a:gd name="f65" fmla="*/ 5 f50 1"/>
                <a:gd name="f66" fmla="*/ 1 f50 1"/>
                <a:gd name="f67" fmla="*/ 0 f50 1"/>
                <a:gd name="f68" fmla="*/ 12 f49 1"/>
                <a:gd name="f69" fmla="*/ 5 f49 1"/>
                <a:gd name="f70" fmla="*/ 11 f50 1"/>
                <a:gd name="f71" fmla="*/ 1 f49 1"/>
                <a:gd name="f72" fmla="*/ 0 f49 1"/>
                <a:gd name="f73" fmla="*/ 27 f50 1"/>
                <a:gd name="f74" fmla="*/ 26 f50 1"/>
                <a:gd name="f75" fmla="*/ 15 f49 1"/>
                <a:gd name="f76" fmla="*/ 11 f49 1"/>
                <a:gd name="f77" fmla="*/ 21 f50 1"/>
                <a:gd name="f78" fmla="*/ 8 f49 1"/>
                <a:gd name="f79" fmla="*/ 7 f49 1"/>
                <a:gd name="f80" fmla="*/ 13 f50 1"/>
                <a:gd name="f81" fmla="*/ 8 f50 1"/>
                <a:gd name="f82" fmla="*/ 26 f49 1"/>
                <a:gd name="f83" fmla="*/ 30 f49 1"/>
                <a:gd name="f84" fmla="*/ 32 f49 1"/>
                <a:gd name="f85" fmla="*/ 33 f49 1"/>
                <a:gd name="f86" fmla="*/ 29 f49 1"/>
                <a:gd name="f87" fmla="*/ 25 f49 1"/>
                <a:gd name="f88" fmla="*/ f51 1 f2"/>
                <a:gd name="f89" fmla="*/ f54 1 34"/>
                <a:gd name="f90" fmla="*/ f55 1 40"/>
                <a:gd name="f91" fmla="*/ f56 1 34"/>
                <a:gd name="f92" fmla="*/ f57 1 40"/>
                <a:gd name="f93" fmla="*/ f58 1 34"/>
                <a:gd name="f94" fmla="*/ f59 1 40"/>
                <a:gd name="f95" fmla="*/ f60 1 34"/>
                <a:gd name="f96" fmla="*/ f61 1 40"/>
                <a:gd name="f97" fmla="*/ f62 1 34"/>
                <a:gd name="f98" fmla="*/ f63 1 40"/>
                <a:gd name="f99" fmla="*/ f64 1 34"/>
                <a:gd name="f100" fmla="*/ f65 1 34"/>
                <a:gd name="f101" fmla="*/ f66 1 34"/>
                <a:gd name="f102" fmla="*/ f67 1 34"/>
                <a:gd name="f103" fmla="*/ f68 1 40"/>
                <a:gd name="f104" fmla="*/ f69 1 40"/>
                <a:gd name="f105" fmla="*/ f70 1 34"/>
                <a:gd name="f106" fmla="*/ f71 1 40"/>
                <a:gd name="f107" fmla="*/ f72 1 40"/>
                <a:gd name="f108" fmla="*/ f73 1 34"/>
                <a:gd name="f109" fmla="*/ f74 1 34"/>
                <a:gd name="f110" fmla="*/ f75 1 40"/>
                <a:gd name="f111" fmla="*/ f76 1 40"/>
                <a:gd name="f112" fmla="*/ f77 1 34"/>
                <a:gd name="f113" fmla="*/ f78 1 40"/>
                <a:gd name="f114" fmla="*/ f79 1 40"/>
                <a:gd name="f115" fmla="*/ f80 1 34"/>
                <a:gd name="f116" fmla="*/ f81 1 34"/>
                <a:gd name="f117" fmla="*/ f82 1 40"/>
                <a:gd name="f118" fmla="*/ f83 1 40"/>
                <a:gd name="f119" fmla="*/ f84 1 40"/>
                <a:gd name="f120" fmla="*/ f85 1 40"/>
                <a:gd name="f121" fmla="*/ f86 1 40"/>
                <a:gd name="f122" fmla="*/ f87 1 40"/>
                <a:gd name="f123" fmla="*/ 0 1 f52"/>
                <a:gd name="f124" fmla="*/ f6 1 f52"/>
                <a:gd name="f125" fmla="*/ 0 1 f53"/>
                <a:gd name="f126" fmla="*/ f7 1 f53"/>
                <a:gd name="f127" fmla="+- f88 0 f1"/>
                <a:gd name="f128" fmla="*/ f89 1 f52"/>
                <a:gd name="f129" fmla="*/ f90 1 f53"/>
                <a:gd name="f130" fmla="*/ f91 1 f52"/>
                <a:gd name="f131" fmla="*/ f92 1 f53"/>
                <a:gd name="f132" fmla="*/ f93 1 f52"/>
                <a:gd name="f133" fmla="*/ f94 1 f53"/>
                <a:gd name="f134" fmla="*/ f95 1 f52"/>
                <a:gd name="f135" fmla="*/ f96 1 f53"/>
                <a:gd name="f136" fmla="*/ f97 1 f52"/>
                <a:gd name="f137" fmla="*/ f98 1 f53"/>
                <a:gd name="f138" fmla="*/ f99 1 f52"/>
                <a:gd name="f139" fmla="*/ f100 1 f52"/>
                <a:gd name="f140" fmla="*/ f101 1 f52"/>
                <a:gd name="f141" fmla="*/ f102 1 f52"/>
                <a:gd name="f142" fmla="*/ f103 1 f53"/>
                <a:gd name="f143" fmla="*/ f104 1 f53"/>
                <a:gd name="f144" fmla="*/ f105 1 f52"/>
                <a:gd name="f145" fmla="*/ f106 1 f53"/>
                <a:gd name="f146" fmla="*/ f107 1 f53"/>
                <a:gd name="f147" fmla="*/ f108 1 f52"/>
                <a:gd name="f148" fmla="*/ f109 1 f52"/>
                <a:gd name="f149" fmla="*/ f110 1 f53"/>
                <a:gd name="f150" fmla="*/ f111 1 f53"/>
                <a:gd name="f151" fmla="*/ f112 1 f52"/>
                <a:gd name="f152" fmla="*/ f113 1 f53"/>
                <a:gd name="f153" fmla="*/ f114 1 f53"/>
                <a:gd name="f154" fmla="*/ f115 1 f52"/>
                <a:gd name="f155" fmla="*/ f116 1 f52"/>
                <a:gd name="f156" fmla="*/ f117 1 f53"/>
                <a:gd name="f157" fmla="*/ f118 1 f53"/>
                <a:gd name="f158" fmla="*/ f119 1 f53"/>
                <a:gd name="f159" fmla="*/ f120 1 f53"/>
                <a:gd name="f160" fmla="*/ f121 1 f53"/>
                <a:gd name="f161" fmla="*/ f122 1 f53"/>
                <a:gd name="f162" fmla="*/ f123 f47 1"/>
                <a:gd name="f163" fmla="*/ f124 f47 1"/>
                <a:gd name="f164" fmla="*/ f126 f48 1"/>
                <a:gd name="f165" fmla="*/ f125 f48 1"/>
                <a:gd name="f166" fmla="*/ f128 f47 1"/>
                <a:gd name="f167" fmla="*/ f129 f48 1"/>
                <a:gd name="f168" fmla="*/ f130 f47 1"/>
                <a:gd name="f169" fmla="*/ f131 f48 1"/>
                <a:gd name="f170" fmla="*/ f132 f47 1"/>
                <a:gd name="f171" fmla="*/ f133 f48 1"/>
                <a:gd name="f172" fmla="*/ f134 f47 1"/>
                <a:gd name="f173" fmla="*/ f135 f48 1"/>
                <a:gd name="f174" fmla="*/ f136 f47 1"/>
                <a:gd name="f175" fmla="*/ f137 f48 1"/>
                <a:gd name="f176" fmla="*/ f138 f47 1"/>
                <a:gd name="f177" fmla="*/ f139 f47 1"/>
                <a:gd name="f178" fmla="*/ f140 f47 1"/>
                <a:gd name="f179" fmla="*/ f141 f47 1"/>
                <a:gd name="f180" fmla="*/ f142 f48 1"/>
                <a:gd name="f181" fmla="*/ f143 f48 1"/>
                <a:gd name="f182" fmla="*/ f144 f47 1"/>
                <a:gd name="f183" fmla="*/ f145 f48 1"/>
                <a:gd name="f184" fmla="*/ f146 f48 1"/>
                <a:gd name="f185" fmla="*/ f147 f47 1"/>
                <a:gd name="f186" fmla="*/ f148 f47 1"/>
                <a:gd name="f187" fmla="*/ f149 f48 1"/>
                <a:gd name="f188" fmla="*/ f150 f48 1"/>
                <a:gd name="f189" fmla="*/ f151 f47 1"/>
                <a:gd name="f190" fmla="*/ f152 f48 1"/>
                <a:gd name="f191" fmla="*/ f153 f48 1"/>
                <a:gd name="f192" fmla="*/ f154 f47 1"/>
                <a:gd name="f193" fmla="*/ f155 f47 1"/>
                <a:gd name="f194" fmla="*/ f156 f48 1"/>
                <a:gd name="f195" fmla="*/ f157 f48 1"/>
                <a:gd name="f196" fmla="*/ f158 f48 1"/>
                <a:gd name="f197" fmla="*/ f159 f48 1"/>
                <a:gd name="f198" fmla="*/ f160 f48 1"/>
                <a:gd name="f199" fmla="*/ f161 f48 1"/>
              </a:gdLst>
              <a:ahLst/>
              <a:cxnLst>
                <a:cxn ang="3cd4">
                  <a:pos x="hc" y="t"/>
                </a:cxn>
                <a:cxn ang="0">
                  <a:pos x="r" y="vc"/>
                </a:cxn>
                <a:cxn ang="cd4">
                  <a:pos x="hc" y="b"/>
                </a:cxn>
                <a:cxn ang="cd2">
                  <a:pos x="l" y="vc"/>
                </a:cxn>
                <a:cxn ang="f127">
                  <a:pos x="f166" y="f167"/>
                </a:cxn>
                <a:cxn ang="f127">
                  <a:pos x="f168" y="f169"/>
                </a:cxn>
                <a:cxn ang="f127">
                  <a:pos x="f170" y="f171"/>
                </a:cxn>
                <a:cxn ang="f127">
                  <a:pos x="f172" y="f173"/>
                </a:cxn>
                <a:cxn ang="f127">
                  <a:pos x="f174" y="f175"/>
                </a:cxn>
                <a:cxn ang="f127">
                  <a:pos x="f176" y="f173"/>
                </a:cxn>
                <a:cxn ang="f127">
                  <a:pos x="f177" y="f171"/>
                </a:cxn>
                <a:cxn ang="f127">
                  <a:pos x="f178" y="f169"/>
                </a:cxn>
                <a:cxn ang="f127">
                  <a:pos x="f179" y="f167"/>
                </a:cxn>
                <a:cxn ang="f127">
                  <a:pos x="f178" y="f180"/>
                </a:cxn>
                <a:cxn ang="f127">
                  <a:pos x="f177" y="f181"/>
                </a:cxn>
                <a:cxn ang="f127">
                  <a:pos x="f182" y="f183"/>
                </a:cxn>
                <a:cxn ang="f127">
                  <a:pos x="f174" y="f184"/>
                </a:cxn>
                <a:cxn ang="f127">
                  <a:pos x="f172" y="f183"/>
                </a:cxn>
                <a:cxn ang="f127">
                  <a:pos x="f170" y="f181"/>
                </a:cxn>
                <a:cxn ang="f127">
                  <a:pos x="f168" y="f180"/>
                </a:cxn>
                <a:cxn ang="f127">
                  <a:pos x="f166" y="f167"/>
                </a:cxn>
                <a:cxn ang="f127">
                  <a:pos x="f185" y="f167"/>
                </a:cxn>
                <a:cxn ang="f127">
                  <a:pos x="f186" y="f187"/>
                </a:cxn>
                <a:cxn ang="f127">
                  <a:pos x="f172" y="f188"/>
                </a:cxn>
                <a:cxn ang="f127">
                  <a:pos x="f189" y="f190"/>
                </a:cxn>
                <a:cxn ang="f127">
                  <a:pos x="f174" y="f191"/>
                </a:cxn>
                <a:cxn ang="f127">
                  <a:pos x="f192" y="f190"/>
                </a:cxn>
                <a:cxn ang="f127">
                  <a:pos x="f176" y="f188"/>
                </a:cxn>
                <a:cxn ang="f127">
                  <a:pos x="f193" y="f187"/>
                </a:cxn>
                <a:cxn ang="f127">
                  <a:pos x="f193" y="f167"/>
                </a:cxn>
                <a:cxn ang="f127">
                  <a:pos x="f193" y="f194"/>
                </a:cxn>
                <a:cxn ang="f127">
                  <a:pos x="f176" y="f195"/>
                </a:cxn>
                <a:cxn ang="f127">
                  <a:pos x="f192" y="f196"/>
                </a:cxn>
                <a:cxn ang="f127">
                  <a:pos x="f174" y="f197"/>
                </a:cxn>
                <a:cxn ang="f127">
                  <a:pos x="f189" y="f196"/>
                </a:cxn>
                <a:cxn ang="f127">
                  <a:pos x="f172" y="f198"/>
                </a:cxn>
                <a:cxn ang="f127">
                  <a:pos x="f186" y="f199"/>
                </a:cxn>
                <a:cxn ang="f127">
                  <a:pos x="f185" y="f167"/>
                </a:cxn>
              </a:cxnLst>
              <a:rect l="f162" t="f165" r="f163" b="f164"/>
              <a:pathLst>
                <a:path w="34" h="40">
                  <a:moveTo>
                    <a:pt x="f6" y="f8"/>
                  </a:moveTo>
                  <a:cubicBezTo>
                    <a:pt x="f6" y="f9"/>
                    <a:pt x="f6" y="f10"/>
                    <a:pt x="f11" y="f12"/>
                  </a:cubicBezTo>
                  <a:cubicBezTo>
                    <a:pt x="f13" y="f14"/>
                    <a:pt x="f14" y="f11"/>
                    <a:pt x="f15" y="f16"/>
                  </a:cubicBezTo>
                  <a:cubicBezTo>
                    <a:pt x="f12" y="f17"/>
                    <a:pt x="f10" y="f18"/>
                    <a:pt x="f19" y="f20"/>
                  </a:cubicBezTo>
                  <a:cubicBezTo>
                    <a:pt x="f21" y="f7"/>
                    <a:pt x="f8" y="f7"/>
                    <a:pt x="f22" y="f7"/>
                  </a:cubicBezTo>
                  <a:cubicBezTo>
                    <a:pt x="f23" y="f7"/>
                    <a:pt x="f24" y="f7"/>
                    <a:pt x="f25" y="f20"/>
                  </a:cubicBezTo>
                  <a:cubicBezTo>
                    <a:pt x="f26" y="f18"/>
                    <a:pt x="f27" y="f28"/>
                    <a:pt x="f29" y="f16"/>
                  </a:cubicBezTo>
                  <a:cubicBezTo>
                    <a:pt x="f30" y="f11"/>
                    <a:pt x="f31" y="f14"/>
                    <a:pt x="f32" y="f12"/>
                  </a:cubicBezTo>
                  <a:cubicBezTo>
                    <a:pt x="f32" y="f10"/>
                    <a:pt x="f5" y="f9"/>
                    <a:pt x="f5" y="f8"/>
                  </a:cubicBezTo>
                  <a:cubicBezTo>
                    <a:pt x="f5" y="f22"/>
                    <a:pt x="f32" y="f33"/>
                    <a:pt x="f32" y="f24"/>
                  </a:cubicBezTo>
                  <a:cubicBezTo>
                    <a:pt x="f31" y="f34"/>
                    <a:pt x="f35" y="f36"/>
                    <a:pt x="f29" y="f29"/>
                  </a:cubicBezTo>
                  <a:cubicBezTo>
                    <a:pt x="f36" y="f35"/>
                    <a:pt x="f26" y="f31"/>
                    <a:pt x="f37" y="f32"/>
                  </a:cubicBezTo>
                  <a:cubicBezTo>
                    <a:pt x="f38" y="f32"/>
                    <a:pt x="f23" y="f5"/>
                    <a:pt x="f22" y="f5"/>
                  </a:cubicBezTo>
                  <a:cubicBezTo>
                    <a:pt x="f8" y="f5"/>
                    <a:pt x="f21" y="f32"/>
                    <a:pt x="f19" y="f32"/>
                  </a:cubicBezTo>
                  <a:cubicBezTo>
                    <a:pt x="f10" y="f31"/>
                    <a:pt x="f12" y="f35"/>
                    <a:pt x="f15" y="f29"/>
                  </a:cubicBezTo>
                  <a:cubicBezTo>
                    <a:pt x="f14" y="f36"/>
                    <a:pt x="f13" y="f34"/>
                    <a:pt x="f11" y="f24"/>
                  </a:cubicBezTo>
                  <a:cubicBezTo>
                    <a:pt x="f6" y="f33"/>
                    <a:pt x="f6" y="f22"/>
                    <a:pt x="f6" y="f8"/>
                  </a:cubicBezTo>
                  <a:close/>
                  <a:moveTo>
                    <a:pt x="f39" y="f8"/>
                  </a:moveTo>
                  <a:cubicBezTo>
                    <a:pt x="f39" y="f40"/>
                    <a:pt x="f39" y="f41"/>
                    <a:pt x="f10" y="f23"/>
                  </a:cubicBezTo>
                  <a:cubicBezTo>
                    <a:pt x="f10" y="f38"/>
                    <a:pt x="f42" y="f24"/>
                    <a:pt x="f19" y="f37"/>
                  </a:cubicBezTo>
                  <a:cubicBezTo>
                    <a:pt x="f9" y="f25"/>
                    <a:pt x="f21" y="f34"/>
                    <a:pt x="f43" y="f26"/>
                  </a:cubicBezTo>
                  <a:cubicBezTo>
                    <a:pt x="f8" y="f26"/>
                    <a:pt x="f40" y="f36"/>
                    <a:pt x="f22" y="f36"/>
                  </a:cubicBezTo>
                  <a:cubicBezTo>
                    <a:pt x="f41" y="f36"/>
                    <a:pt x="f33" y="f26"/>
                    <a:pt x="f38" y="f26"/>
                  </a:cubicBezTo>
                  <a:cubicBezTo>
                    <a:pt x="f24" y="f34"/>
                    <a:pt x="f37" y="f25"/>
                    <a:pt x="f25" y="f37"/>
                  </a:cubicBezTo>
                  <a:cubicBezTo>
                    <a:pt x="f34" y="f24"/>
                    <a:pt x="f34" y="f38"/>
                    <a:pt x="f26" y="f23"/>
                  </a:cubicBezTo>
                  <a:cubicBezTo>
                    <a:pt x="f26" y="f41"/>
                    <a:pt x="f26" y="f40"/>
                    <a:pt x="f26" y="f8"/>
                  </a:cubicBezTo>
                  <a:cubicBezTo>
                    <a:pt x="f26" y="f21"/>
                    <a:pt x="f26" y="f19"/>
                    <a:pt x="f26" y="f10"/>
                  </a:cubicBezTo>
                  <a:cubicBezTo>
                    <a:pt x="f34" y="f39"/>
                    <a:pt x="f25" y="f12"/>
                    <a:pt x="f25" y="f44"/>
                  </a:cubicBezTo>
                  <a:cubicBezTo>
                    <a:pt x="f37" y="f14"/>
                    <a:pt x="f24" y="f13"/>
                    <a:pt x="f38" y="f13"/>
                  </a:cubicBezTo>
                  <a:cubicBezTo>
                    <a:pt x="f23" y="f11"/>
                    <a:pt x="f41" y="f11"/>
                    <a:pt x="f22" y="f11"/>
                  </a:cubicBezTo>
                  <a:cubicBezTo>
                    <a:pt x="f45" y="f11"/>
                    <a:pt x="f8" y="f11"/>
                    <a:pt x="f43" y="f13"/>
                  </a:cubicBezTo>
                  <a:cubicBezTo>
                    <a:pt x="f21" y="f14"/>
                    <a:pt x="f9" y="f44"/>
                    <a:pt x="f19" y="f15"/>
                  </a:cubicBezTo>
                  <a:cubicBezTo>
                    <a:pt x="f42" y="f12"/>
                    <a:pt x="f10" y="f39"/>
                    <a:pt x="f10" y="f42"/>
                  </a:cubicBezTo>
                  <a:cubicBezTo>
                    <a:pt x="f39" y="f19"/>
                    <a:pt x="f39" y="f21"/>
                    <a:pt x="f39"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0" name="Freeform 62">
              <a:extLst>
                <a:ext uri="{FF2B5EF4-FFF2-40B4-BE49-F238E27FC236}">
                  <a16:creationId xmlns:a16="http://schemas.microsoft.com/office/drawing/2014/main" id="{0344F6AC-121D-9453-9A6E-C2CC5A96700A}"/>
                </a:ext>
              </a:extLst>
            </p:cNvPr>
            <p:cNvSpPr/>
            <p:nvPr/>
          </p:nvSpPr>
          <p:spPr>
            <a:xfrm>
              <a:off x="1967038" y="6293924"/>
              <a:ext cx="57515"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5"/>
                <a:gd name="f17" fmla="val 13"/>
                <a:gd name="f18" fmla="val 11"/>
                <a:gd name="f19" fmla="val 10"/>
                <a:gd name="f20" fmla="val 12"/>
                <a:gd name="f21" fmla="val 14"/>
                <a:gd name="f22" fmla="val 1"/>
                <a:gd name="f23" fmla="val 5"/>
                <a:gd name="f24" fmla="val 4"/>
                <a:gd name="f25" fmla="val 3"/>
                <a:gd name="f26" fmla="val 2"/>
                <a:gd name="f27" fmla="val 16"/>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8 f33 1"/>
                <a:gd name="f40" fmla="*/ 8 f32 1"/>
                <a:gd name="f41" fmla="*/ 15 f33 1"/>
                <a:gd name="f42" fmla="*/ 7 f32 1"/>
                <a:gd name="f43" fmla="*/ 10 f33 1"/>
                <a:gd name="f44" fmla="*/ 10 f32 1"/>
                <a:gd name="f45" fmla="*/ 8 f33 1"/>
                <a:gd name="f46" fmla="*/ 17 f32 1"/>
                <a:gd name="f47" fmla="*/ 39 f32 1"/>
                <a:gd name="f48" fmla="*/ 0 f33 1"/>
                <a:gd name="f49" fmla="*/ 1 f32 1"/>
                <a:gd name="f50" fmla="*/ 5 f32 1"/>
                <a:gd name="f51" fmla="*/ 9 f33 1"/>
                <a:gd name="f52" fmla="*/ 3 f32 1"/>
                <a:gd name="f53" fmla="*/ 11 f33 1"/>
                <a:gd name="f54" fmla="*/ 14 f33 1"/>
                <a:gd name="f55" fmla="*/ 0 f32 1"/>
                <a:gd name="f56" fmla="*/ 17 f33 1"/>
                <a:gd name="f57" fmla="*/ 20 f33 1"/>
                <a:gd name="f58" fmla="*/ 23 f33 1"/>
                <a:gd name="f59" fmla="*/ 2 f32 1"/>
                <a:gd name="f60" fmla="*/ f34 1 f2"/>
                <a:gd name="f61" fmla="*/ f37 1 23"/>
                <a:gd name="f62" fmla="*/ f38 1 39"/>
                <a:gd name="f63" fmla="*/ f39 1 23"/>
                <a:gd name="f64" fmla="*/ f40 1 39"/>
                <a:gd name="f65" fmla="*/ f41 1 23"/>
                <a:gd name="f66" fmla="*/ f42 1 39"/>
                <a:gd name="f67" fmla="*/ f43 1 23"/>
                <a:gd name="f68" fmla="*/ f44 1 39"/>
                <a:gd name="f69" fmla="*/ f45 1 23"/>
                <a:gd name="f70" fmla="*/ f46 1 39"/>
                <a:gd name="f71" fmla="*/ f47 1 39"/>
                <a:gd name="f72" fmla="*/ f48 1 23"/>
                <a:gd name="f73" fmla="*/ f49 1 39"/>
                <a:gd name="f74" fmla="*/ f50 1 39"/>
                <a:gd name="f75" fmla="*/ f51 1 23"/>
                <a:gd name="f76" fmla="*/ f52 1 39"/>
                <a:gd name="f77" fmla="*/ f53 1 23"/>
                <a:gd name="f78" fmla="*/ f54 1 23"/>
                <a:gd name="f79" fmla="*/ f55 1 39"/>
                <a:gd name="f80" fmla="*/ f56 1 23"/>
                <a:gd name="f81" fmla="*/ f57 1 23"/>
                <a:gd name="f82" fmla="*/ f58 1 23"/>
                <a:gd name="f83" fmla="*/ f59 1 39"/>
                <a:gd name="f84" fmla="*/ 0 1 f35"/>
                <a:gd name="f85" fmla="*/ f6 1 f35"/>
                <a:gd name="f86" fmla="*/ 0 1 f36"/>
                <a:gd name="f87" fmla="*/ f7 1 f36"/>
                <a:gd name="f88" fmla="+- f60 0 f1"/>
                <a:gd name="f89" fmla="*/ f61 1 f35"/>
                <a:gd name="f90" fmla="*/ f62 1 f36"/>
                <a:gd name="f91" fmla="*/ f63 1 f35"/>
                <a:gd name="f92" fmla="*/ f64 1 f36"/>
                <a:gd name="f93" fmla="*/ f65 1 f35"/>
                <a:gd name="f94" fmla="*/ f66 1 f36"/>
                <a:gd name="f95" fmla="*/ f67 1 f35"/>
                <a:gd name="f96" fmla="*/ f68 1 f36"/>
                <a:gd name="f97" fmla="*/ f69 1 f35"/>
                <a:gd name="f98" fmla="*/ f70 1 f36"/>
                <a:gd name="f99" fmla="*/ f71 1 f36"/>
                <a:gd name="f100" fmla="*/ f72 1 f35"/>
                <a:gd name="f101" fmla="*/ f73 1 f36"/>
                <a:gd name="f102" fmla="*/ f74 1 f36"/>
                <a:gd name="f103" fmla="*/ f75 1 f35"/>
                <a:gd name="f104" fmla="*/ f76 1 f36"/>
                <a:gd name="f105" fmla="*/ f77 1 f35"/>
                <a:gd name="f106" fmla="*/ f78 1 f35"/>
                <a:gd name="f107" fmla="*/ f79 1 f36"/>
                <a:gd name="f108" fmla="*/ f80 1 f35"/>
                <a:gd name="f109" fmla="*/ f81 1 f35"/>
                <a:gd name="f110" fmla="*/ f82 1 f35"/>
                <a:gd name="f111" fmla="*/ f83 1 f36"/>
                <a:gd name="f112" fmla="*/ f84 f30 1"/>
                <a:gd name="f113" fmla="*/ f85 f30 1"/>
                <a:gd name="f114" fmla="*/ f87 f31 1"/>
                <a:gd name="f115" fmla="*/ f86 f31 1"/>
                <a:gd name="f116" fmla="*/ f89 f30 1"/>
                <a:gd name="f117" fmla="*/ f90 f31 1"/>
                <a:gd name="f118" fmla="*/ f91 f30 1"/>
                <a:gd name="f119" fmla="*/ f92 f31 1"/>
                <a:gd name="f120" fmla="*/ f93 f30 1"/>
                <a:gd name="f121" fmla="*/ f94 f31 1"/>
                <a:gd name="f122" fmla="*/ f95 f30 1"/>
                <a:gd name="f123" fmla="*/ f96 f31 1"/>
                <a:gd name="f124" fmla="*/ f97 f30 1"/>
                <a:gd name="f125" fmla="*/ f98 f31 1"/>
                <a:gd name="f126" fmla="*/ f99 f31 1"/>
                <a:gd name="f127" fmla="*/ f100 f30 1"/>
                <a:gd name="f128" fmla="*/ f101 f31 1"/>
                <a:gd name="f129" fmla="*/ f102 f31 1"/>
                <a:gd name="f130" fmla="*/ f103 f30 1"/>
                <a:gd name="f131" fmla="*/ f104 f31 1"/>
                <a:gd name="f132" fmla="*/ f105 f30 1"/>
                <a:gd name="f133" fmla="*/ f106 f30 1"/>
                <a:gd name="f134" fmla="*/ f107 f31 1"/>
                <a:gd name="f135" fmla="*/ f108 f30 1"/>
                <a:gd name="f136" fmla="*/ f109 f30 1"/>
                <a:gd name="f137" fmla="*/ f110 f30 1"/>
                <a:gd name="f138" fmla="*/ f111 f31 1"/>
              </a:gdLst>
              <a:ahLst/>
              <a:cxnLst>
                <a:cxn ang="3cd4">
                  <a:pos x="hc" y="t"/>
                </a:cxn>
                <a:cxn ang="0">
                  <a:pos x="r" y="vc"/>
                </a:cxn>
                <a:cxn ang="cd4">
                  <a:pos x="hc" y="b"/>
                </a:cxn>
                <a:cxn ang="cd2">
                  <a:pos x="l" y="vc"/>
                </a:cxn>
                <a:cxn ang="f88">
                  <a:pos x="f116" y="f117"/>
                </a:cxn>
                <a:cxn ang="f88">
                  <a:pos x="f118" y="f119"/>
                </a:cxn>
                <a:cxn ang="f88">
                  <a:pos x="f120" y="f121"/>
                </a:cxn>
                <a:cxn ang="f88">
                  <a:pos x="f122" y="f123"/>
                </a:cxn>
                <a:cxn ang="f88">
                  <a:pos x="f124" y="f125"/>
                </a:cxn>
                <a:cxn ang="f88">
                  <a:pos x="f124" y="f126"/>
                </a:cxn>
                <a:cxn ang="f88">
                  <a:pos x="f127" y="f126"/>
                </a:cxn>
                <a:cxn ang="f88">
                  <a:pos x="f127" y="f128"/>
                </a:cxn>
                <a:cxn ang="f88">
                  <a:pos x="f124" y="f128"/>
                </a:cxn>
                <a:cxn ang="f88">
                  <a:pos x="f124" y="f129"/>
                </a:cxn>
                <a:cxn ang="f88">
                  <a:pos x="f130" y="f131"/>
                </a:cxn>
                <a:cxn ang="f88">
                  <a:pos x="f132" y="f128"/>
                </a:cxn>
                <a:cxn ang="f88">
                  <a:pos x="f133" y="f134"/>
                </a:cxn>
                <a:cxn ang="f88">
                  <a:pos x="f135" y="f134"/>
                </a:cxn>
                <a:cxn ang="f88">
                  <a:pos x="f136" y="f128"/>
                </a:cxn>
                <a:cxn ang="f88">
                  <a:pos x="f137" y="f138"/>
                </a:cxn>
                <a:cxn ang="f88">
                  <a:pos x="f116" y="f117"/>
                </a:cxn>
              </a:cxnLst>
              <a:rect l="f112" t="f115" r="f113" b="f114"/>
              <a:pathLst>
                <a:path w="23" h="39">
                  <a:moveTo>
                    <a:pt x="f8" y="f9"/>
                  </a:moveTo>
                  <a:cubicBezTo>
                    <a:pt x="f10" y="f11"/>
                    <a:pt x="f12" y="f11"/>
                    <a:pt x="f13" y="f11"/>
                  </a:cubicBezTo>
                  <a:cubicBezTo>
                    <a:pt x="f13" y="f11"/>
                    <a:pt x="f14" y="f15"/>
                    <a:pt x="f16" y="f15"/>
                  </a:cubicBezTo>
                  <a:cubicBezTo>
                    <a:pt x="f17" y="f15"/>
                    <a:pt x="f18" y="f11"/>
                    <a:pt x="f19" y="f19"/>
                  </a:cubicBezTo>
                  <a:cubicBezTo>
                    <a:pt x="f11"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9" y="f25"/>
                  </a:cubicBezTo>
                  <a:cubicBezTo>
                    <a:pt x="f19" y="f26"/>
                    <a:pt x="f18" y="f26"/>
                    <a:pt x="f18" y="f22"/>
                  </a:cubicBezTo>
                  <a:cubicBezTo>
                    <a:pt x="f20" y="f22"/>
                    <a:pt x="f17" y="f22"/>
                    <a:pt x="f21" y="f5"/>
                  </a:cubicBezTo>
                  <a:cubicBezTo>
                    <a:pt x="f16" y="f5"/>
                    <a:pt x="f27" y="f5"/>
                    <a:pt x="f14" y="f5"/>
                  </a:cubicBezTo>
                  <a:cubicBezTo>
                    <a:pt x="f13" y="f5"/>
                    <a:pt x="f12" y="f5"/>
                    <a:pt x="f10" y="f22"/>
                  </a:cubicBezTo>
                  <a:cubicBezTo>
                    <a:pt x="f8" y="f22"/>
                    <a:pt x="f28"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1" name="Freeform 63">
              <a:extLst>
                <a:ext uri="{FF2B5EF4-FFF2-40B4-BE49-F238E27FC236}">
                  <a16:creationId xmlns:a16="http://schemas.microsoft.com/office/drawing/2014/main" id="{2253F298-8338-C509-10EB-230ED922C3B3}"/>
                </a:ext>
              </a:extLst>
            </p:cNvPr>
            <p:cNvSpPr/>
            <p:nvPr/>
          </p:nvSpPr>
          <p:spPr>
            <a:xfrm>
              <a:off x="2041983" y="6259049"/>
              <a:ext cx="19174" cy="136007"/>
            </a:xfrm>
            <a:custGeom>
              <a:avLst/>
              <a:gdLst>
                <a:gd name="f0" fmla="val 10800000"/>
                <a:gd name="f1" fmla="val 5400000"/>
                <a:gd name="f2" fmla="val 180"/>
                <a:gd name="f3" fmla="val w"/>
                <a:gd name="f4" fmla="val h"/>
                <a:gd name="f5" fmla="val 0"/>
                <a:gd name="f6" fmla="val 11"/>
                <a:gd name="f7" fmla="val 78"/>
                <a:gd name="f8" fmla="val 6"/>
                <a:gd name="f9" fmla="+- 0 0 -90"/>
                <a:gd name="f10" fmla="*/ f3 1 11"/>
                <a:gd name="f11" fmla="*/ f4 1 78"/>
                <a:gd name="f12" fmla="+- f7 0 f5"/>
                <a:gd name="f13" fmla="+- f6 0 f5"/>
                <a:gd name="f14" fmla="*/ f9 f0 1"/>
                <a:gd name="f15" fmla="*/ f13 1 11"/>
                <a:gd name="f16" fmla="*/ f12 1 78"/>
                <a:gd name="f17" fmla="*/ 0 f13 1"/>
                <a:gd name="f18" fmla="*/ 78 f12 1"/>
                <a:gd name="f19" fmla="*/ 6 f12 1"/>
                <a:gd name="f20" fmla="*/ 11 f13 1"/>
                <a:gd name="f21" fmla="*/ 0 f12 1"/>
                <a:gd name="f22" fmla="*/ f14 1 f2"/>
                <a:gd name="f23" fmla="*/ f17 1 11"/>
                <a:gd name="f24" fmla="*/ f18 1 78"/>
                <a:gd name="f25" fmla="*/ f19 1 78"/>
                <a:gd name="f26" fmla="*/ f20 1 11"/>
                <a:gd name="f27" fmla="*/ f21 1 78"/>
                <a:gd name="f28" fmla="*/ 0 1 f15"/>
                <a:gd name="f29" fmla="*/ f6 1 f15"/>
                <a:gd name="f30" fmla="*/ 0 1 f16"/>
                <a:gd name="f31" fmla="*/ f7 1 f16"/>
                <a:gd name="f32" fmla="+- f22 0 f1"/>
                <a:gd name="f33" fmla="*/ f23 1 f15"/>
                <a:gd name="f34" fmla="*/ f24 1 f16"/>
                <a:gd name="f35" fmla="*/ f25 1 f16"/>
                <a:gd name="f36" fmla="*/ f26 1 f15"/>
                <a:gd name="f37" fmla="*/ f27 1 f16"/>
                <a:gd name="f38" fmla="*/ f28 f10 1"/>
                <a:gd name="f39" fmla="*/ f29 f10 1"/>
                <a:gd name="f40" fmla="*/ f31 f11 1"/>
                <a:gd name="f41" fmla="*/ f30 f11 1"/>
                <a:gd name="f42" fmla="*/ f33 f10 1"/>
                <a:gd name="f43" fmla="*/ f34 f11 1"/>
                <a:gd name="f44" fmla="*/ f35 f11 1"/>
                <a:gd name="f45" fmla="*/ f36 f10 1"/>
                <a:gd name="f46" fmla="*/ f37 f11 1"/>
              </a:gdLst>
              <a:ahLst/>
              <a:cxnLst>
                <a:cxn ang="3cd4">
                  <a:pos x="hc" y="t"/>
                </a:cxn>
                <a:cxn ang="0">
                  <a:pos x="r" y="vc"/>
                </a:cxn>
                <a:cxn ang="cd4">
                  <a:pos x="hc" y="b"/>
                </a:cxn>
                <a:cxn ang="cd2">
                  <a:pos x="l" y="vc"/>
                </a:cxn>
                <a:cxn ang="f32">
                  <a:pos x="f42" y="f43"/>
                </a:cxn>
                <a:cxn ang="f32">
                  <a:pos x="f42" y="f44"/>
                </a:cxn>
                <a:cxn ang="f32">
                  <a:pos x="f45" y="f46"/>
                </a:cxn>
                <a:cxn ang="f32">
                  <a:pos x="f45" y="f43"/>
                </a:cxn>
                <a:cxn ang="f32">
                  <a:pos x="f42" y="f43"/>
                </a:cxn>
              </a:cxnLst>
              <a:rect l="f38" t="f41" r="f39" b="f40"/>
              <a:pathLst>
                <a:path w="11" h="78">
                  <a:moveTo>
                    <a:pt x="f5" y="f7"/>
                  </a:moveTo>
                  <a:lnTo>
                    <a:pt x="f5" y="f8"/>
                  </a:lnTo>
                  <a:lnTo>
                    <a:pt x="f6" y="f5"/>
                  </a:lnTo>
                  <a:lnTo>
                    <a:pt x="f6" y="f7"/>
                  </a:lnTo>
                  <a:lnTo>
                    <a:pt x="f5"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2" name="Freeform 64">
              <a:extLst>
                <a:ext uri="{FF2B5EF4-FFF2-40B4-BE49-F238E27FC236}">
                  <a16:creationId xmlns:a16="http://schemas.microsoft.com/office/drawing/2014/main" id="{BA884135-5B06-37E3-947E-B6C2C84FBA02}"/>
                </a:ext>
              </a:extLst>
            </p:cNvPr>
            <p:cNvSpPr/>
            <p:nvPr/>
          </p:nvSpPr>
          <p:spPr>
            <a:xfrm>
              <a:off x="2083807" y="6259049"/>
              <a:ext cx="80165" cy="137754"/>
            </a:xfrm>
            <a:custGeom>
              <a:avLst/>
              <a:gdLst>
                <a:gd name="f0" fmla="val 10800000"/>
                <a:gd name="f1" fmla="val 5400000"/>
                <a:gd name="f2" fmla="val 180"/>
                <a:gd name="f3" fmla="val w"/>
                <a:gd name="f4" fmla="val h"/>
                <a:gd name="f5" fmla="val 0"/>
                <a:gd name="f6" fmla="val 32"/>
                <a:gd name="f7" fmla="val 54"/>
                <a:gd name="f8" fmla="val 24"/>
                <a:gd name="f9" fmla="val 53"/>
                <a:gd name="f10" fmla="val 50"/>
                <a:gd name="f11" fmla="val 23"/>
                <a:gd name="f12" fmla="val 51"/>
                <a:gd name="f13" fmla="val 22"/>
                <a:gd name="f14" fmla="val 21"/>
                <a:gd name="f15" fmla="val 52"/>
                <a:gd name="f16" fmla="val 20"/>
                <a:gd name="f17" fmla="val 19"/>
                <a:gd name="f18" fmla="val 18"/>
                <a:gd name="f19" fmla="val 17"/>
                <a:gd name="f20" fmla="val 16"/>
                <a:gd name="f21" fmla="val 15"/>
                <a:gd name="f22" fmla="val 14"/>
                <a:gd name="f23" fmla="val 12"/>
                <a:gd name="f24" fmla="val 10"/>
                <a:gd name="f25" fmla="val 9"/>
                <a:gd name="f26" fmla="val 7"/>
                <a:gd name="f27" fmla="val 5"/>
                <a:gd name="f28" fmla="val 4"/>
                <a:gd name="f29" fmla="val 49"/>
                <a:gd name="f30" fmla="val 3"/>
                <a:gd name="f31" fmla="val 48"/>
                <a:gd name="f32" fmla="val 1"/>
                <a:gd name="f33" fmla="val 45"/>
                <a:gd name="f34" fmla="val 43"/>
                <a:gd name="f35" fmla="val 40"/>
                <a:gd name="f36" fmla="val 37"/>
                <a:gd name="f37" fmla="val 33"/>
                <a:gd name="f38" fmla="val 30"/>
                <a:gd name="f39" fmla="val 27"/>
                <a:gd name="f40" fmla="val 25"/>
                <a:gd name="f41" fmla="val 2"/>
                <a:gd name="f42" fmla="val 6"/>
                <a:gd name="f43" fmla="val 11"/>
                <a:gd name="f44" fmla="val 13"/>
                <a:gd name="f45" fmla="val 26"/>
                <a:gd name="f46" fmla="val 8"/>
                <a:gd name="f47" fmla="val 29"/>
                <a:gd name="f48" fmla="val 36"/>
                <a:gd name="f49" fmla="val 38"/>
                <a:gd name="f50" fmla="val 39"/>
                <a:gd name="f51" fmla="val 41"/>
                <a:gd name="f52" fmla="val 44"/>
                <a:gd name="f53" fmla="val 46"/>
                <a:gd name="f54" fmla="val 47"/>
                <a:gd name="f55" fmla="val 42"/>
                <a:gd name="f56" fmla="+- 0 0 -90"/>
                <a:gd name="f57" fmla="*/ f3 1 32"/>
                <a:gd name="f58" fmla="*/ f4 1 54"/>
                <a:gd name="f59" fmla="+- f7 0 f5"/>
                <a:gd name="f60" fmla="+- f6 0 f5"/>
                <a:gd name="f61" fmla="*/ f56 f0 1"/>
                <a:gd name="f62" fmla="*/ f60 1 32"/>
                <a:gd name="f63" fmla="*/ f59 1 54"/>
                <a:gd name="f64" fmla="*/ 24 f60 1"/>
                <a:gd name="f65" fmla="*/ 53 f59 1"/>
                <a:gd name="f66" fmla="*/ 50 f59 1"/>
                <a:gd name="f67" fmla="*/ 22 f60 1"/>
                <a:gd name="f68" fmla="*/ 51 f59 1"/>
                <a:gd name="f69" fmla="*/ 20 f60 1"/>
                <a:gd name="f70" fmla="*/ 17 f60 1"/>
                <a:gd name="f71" fmla="*/ 54 f59 1"/>
                <a:gd name="f72" fmla="*/ 14 f60 1"/>
                <a:gd name="f73" fmla="*/ 9 f60 1"/>
                <a:gd name="f74" fmla="*/ 4 f60 1"/>
                <a:gd name="f75" fmla="*/ 49 f59 1"/>
                <a:gd name="f76" fmla="*/ 1 f60 1"/>
                <a:gd name="f77" fmla="*/ 43 f59 1"/>
                <a:gd name="f78" fmla="*/ 0 f60 1"/>
                <a:gd name="f79" fmla="*/ 33 f59 1"/>
                <a:gd name="f80" fmla="*/ 25 f59 1"/>
                <a:gd name="f81" fmla="*/ 19 f59 1"/>
                <a:gd name="f82" fmla="*/ 15 f59 1"/>
                <a:gd name="f83" fmla="*/ 15 f60 1"/>
                <a:gd name="f84" fmla="*/ 14 f59 1"/>
                <a:gd name="f85" fmla="*/ 18 f60 1"/>
                <a:gd name="f86" fmla="*/ 17 f59 1"/>
                <a:gd name="f87" fmla="*/ 18 f59 1"/>
                <a:gd name="f88" fmla="*/ 4 f59 1"/>
                <a:gd name="f89" fmla="*/ 32 f60 1"/>
                <a:gd name="f90" fmla="*/ 0 f59 1"/>
                <a:gd name="f91" fmla="*/ 26 f59 1"/>
                <a:gd name="f92" fmla="*/ 23 f60 1"/>
                <a:gd name="f93" fmla="*/ 24 f59 1"/>
                <a:gd name="f94" fmla="*/ 21 f60 1"/>
                <a:gd name="f95" fmla="*/ 23 f59 1"/>
                <a:gd name="f96" fmla="*/ 22 f59 1"/>
                <a:gd name="f97" fmla="*/ 21 f59 1"/>
                <a:gd name="f98" fmla="*/ 7 f60 1"/>
                <a:gd name="f99" fmla="*/ 8 f60 1"/>
                <a:gd name="f100" fmla="*/ 39 f59 1"/>
                <a:gd name="f101" fmla="*/ 44 f59 1"/>
                <a:gd name="f102" fmla="*/ 12 f60 1"/>
                <a:gd name="f103" fmla="*/ 46 f59 1"/>
                <a:gd name="f104" fmla="*/ 16 f60 1"/>
                <a:gd name="f105" fmla="*/ 47 f59 1"/>
                <a:gd name="f106" fmla="*/ 42 f59 1"/>
                <a:gd name="f107" fmla="*/ f61 1 f2"/>
                <a:gd name="f108" fmla="*/ f64 1 32"/>
                <a:gd name="f109" fmla="*/ f65 1 54"/>
                <a:gd name="f110" fmla="*/ f66 1 54"/>
                <a:gd name="f111" fmla="*/ f67 1 32"/>
                <a:gd name="f112" fmla="*/ f68 1 54"/>
                <a:gd name="f113" fmla="*/ f69 1 32"/>
                <a:gd name="f114" fmla="*/ f70 1 32"/>
                <a:gd name="f115" fmla="*/ f71 1 54"/>
                <a:gd name="f116" fmla="*/ f72 1 32"/>
                <a:gd name="f117" fmla="*/ f73 1 32"/>
                <a:gd name="f118" fmla="*/ f74 1 32"/>
                <a:gd name="f119" fmla="*/ f75 1 54"/>
                <a:gd name="f120" fmla="*/ f76 1 32"/>
                <a:gd name="f121" fmla="*/ f77 1 54"/>
                <a:gd name="f122" fmla="*/ f78 1 32"/>
                <a:gd name="f123" fmla="*/ f79 1 54"/>
                <a:gd name="f124" fmla="*/ f80 1 54"/>
                <a:gd name="f125" fmla="*/ f81 1 54"/>
                <a:gd name="f126" fmla="*/ f82 1 54"/>
                <a:gd name="f127" fmla="*/ f83 1 32"/>
                <a:gd name="f128" fmla="*/ f84 1 54"/>
                <a:gd name="f129" fmla="*/ f85 1 32"/>
                <a:gd name="f130" fmla="*/ f86 1 54"/>
                <a:gd name="f131" fmla="*/ f87 1 54"/>
                <a:gd name="f132" fmla="*/ f88 1 54"/>
                <a:gd name="f133" fmla="*/ f89 1 32"/>
                <a:gd name="f134" fmla="*/ f90 1 54"/>
                <a:gd name="f135" fmla="*/ f91 1 54"/>
                <a:gd name="f136" fmla="*/ f92 1 32"/>
                <a:gd name="f137" fmla="*/ f93 1 54"/>
                <a:gd name="f138" fmla="*/ f94 1 32"/>
                <a:gd name="f139" fmla="*/ f95 1 54"/>
                <a:gd name="f140" fmla="*/ f96 1 54"/>
                <a:gd name="f141" fmla="*/ f97 1 54"/>
                <a:gd name="f142" fmla="*/ f98 1 32"/>
                <a:gd name="f143" fmla="*/ f99 1 32"/>
                <a:gd name="f144" fmla="*/ f100 1 54"/>
                <a:gd name="f145" fmla="*/ f101 1 54"/>
                <a:gd name="f146" fmla="*/ f102 1 32"/>
                <a:gd name="f147" fmla="*/ f103 1 54"/>
                <a:gd name="f148" fmla="*/ f104 1 32"/>
                <a:gd name="f149" fmla="*/ f105 1 54"/>
                <a:gd name="f150" fmla="*/ f106 1 54"/>
                <a:gd name="f151" fmla="*/ 0 1 f62"/>
                <a:gd name="f152" fmla="*/ f6 1 f62"/>
                <a:gd name="f153" fmla="*/ 0 1 f63"/>
                <a:gd name="f154" fmla="*/ f7 1 f63"/>
                <a:gd name="f155" fmla="+- f107 0 f1"/>
                <a:gd name="f156" fmla="*/ f108 1 f62"/>
                <a:gd name="f157" fmla="*/ f109 1 f63"/>
                <a:gd name="f158" fmla="*/ f110 1 f63"/>
                <a:gd name="f159" fmla="*/ f111 1 f62"/>
                <a:gd name="f160" fmla="*/ f112 1 f63"/>
                <a:gd name="f161" fmla="*/ f113 1 f62"/>
                <a:gd name="f162" fmla="*/ f114 1 f62"/>
                <a:gd name="f163" fmla="*/ f115 1 f63"/>
                <a:gd name="f164" fmla="*/ f116 1 f62"/>
                <a:gd name="f165" fmla="*/ f117 1 f62"/>
                <a:gd name="f166" fmla="*/ f118 1 f62"/>
                <a:gd name="f167" fmla="*/ f119 1 f63"/>
                <a:gd name="f168" fmla="*/ f120 1 f62"/>
                <a:gd name="f169" fmla="*/ f121 1 f63"/>
                <a:gd name="f170" fmla="*/ f122 1 f62"/>
                <a:gd name="f171" fmla="*/ f123 1 f63"/>
                <a:gd name="f172" fmla="*/ f124 1 f63"/>
                <a:gd name="f173" fmla="*/ f125 1 f63"/>
                <a:gd name="f174" fmla="*/ f126 1 f63"/>
                <a:gd name="f175" fmla="*/ f127 1 f62"/>
                <a:gd name="f176" fmla="*/ f128 1 f63"/>
                <a:gd name="f177" fmla="*/ f129 1 f62"/>
                <a:gd name="f178" fmla="*/ f130 1 f63"/>
                <a:gd name="f179" fmla="*/ f131 1 f63"/>
                <a:gd name="f180" fmla="*/ f132 1 f63"/>
                <a:gd name="f181" fmla="*/ f133 1 f62"/>
                <a:gd name="f182" fmla="*/ f134 1 f63"/>
                <a:gd name="f183" fmla="*/ f135 1 f63"/>
                <a:gd name="f184" fmla="*/ f136 1 f62"/>
                <a:gd name="f185" fmla="*/ f137 1 f63"/>
                <a:gd name="f186" fmla="*/ f138 1 f62"/>
                <a:gd name="f187" fmla="*/ f139 1 f63"/>
                <a:gd name="f188" fmla="*/ f140 1 f63"/>
                <a:gd name="f189" fmla="*/ f141 1 f63"/>
                <a:gd name="f190" fmla="*/ f142 1 f62"/>
                <a:gd name="f191" fmla="*/ f143 1 f62"/>
                <a:gd name="f192" fmla="*/ f144 1 f63"/>
                <a:gd name="f193" fmla="*/ f145 1 f63"/>
                <a:gd name="f194" fmla="*/ f146 1 f62"/>
                <a:gd name="f195" fmla="*/ f147 1 f63"/>
                <a:gd name="f196" fmla="*/ f148 1 f62"/>
                <a:gd name="f197" fmla="*/ f149 1 f63"/>
                <a:gd name="f198" fmla="*/ f150 1 f63"/>
                <a:gd name="f199" fmla="*/ f151 f57 1"/>
                <a:gd name="f200" fmla="*/ f152 f57 1"/>
                <a:gd name="f201" fmla="*/ f154 f58 1"/>
                <a:gd name="f202" fmla="*/ f153 f58 1"/>
                <a:gd name="f203" fmla="*/ f156 f57 1"/>
                <a:gd name="f204" fmla="*/ f157 f58 1"/>
                <a:gd name="f205" fmla="*/ f158 f58 1"/>
                <a:gd name="f206" fmla="*/ f159 f57 1"/>
                <a:gd name="f207" fmla="*/ f160 f58 1"/>
                <a:gd name="f208" fmla="*/ f161 f57 1"/>
                <a:gd name="f209" fmla="*/ f162 f57 1"/>
                <a:gd name="f210" fmla="*/ f163 f58 1"/>
                <a:gd name="f211" fmla="*/ f164 f57 1"/>
                <a:gd name="f212" fmla="*/ f165 f57 1"/>
                <a:gd name="f213" fmla="*/ f166 f57 1"/>
                <a:gd name="f214" fmla="*/ f167 f58 1"/>
                <a:gd name="f215" fmla="*/ f168 f57 1"/>
                <a:gd name="f216" fmla="*/ f169 f58 1"/>
                <a:gd name="f217" fmla="*/ f170 f57 1"/>
                <a:gd name="f218" fmla="*/ f171 f58 1"/>
                <a:gd name="f219" fmla="*/ f172 f58 1"/>
                <a:gd name="f220" fmla="*/ f173 f58 1"/>
                <a:gd name="f221" fmla="*/ f174 f58 1"/>
                <a:gd name="f222" fmla="*/ f175 f57 1"/>
                <a:gd name="f223" fmla="*/ f176 f58 1"/>
                <a:gd name="f224" fmla="*/ f177 f57 1"/>
                <a:gd name="f225" fmla="*/ f178 f58 1"/>
                <a:gd name="f226" fmla="*/ f179 f58 1"/>
                <a:gd name="f227" fmla="*/ f180 f58 1"/>
                <a:gd name="f228" fmla="*/ f181 f57 1"/>
                <a:gd name="f229" fmla="*/ f182 f58 1"/>
                <a:gd name="f230" fmla="*/ f183 f58 1"/>
                <a:gd name="f231" fmla="*/ f184 f57 1"/>
                <a:gd name="f232" fmla="*/ f185 f58 1"/>
                <a:gd name="f233" fmla="*/ f186 f57 1"/>
                <a:gd name="f234" fmla="*/ f187 f58 1"/>
                <a:gd name="f235" fmla="*/ f188 f58 1"/>
                <a:gd name="f236" fmla="*/ f189 f58 1"/>
                <a:gd name="f237" fmla="*/ f190 f57 1"/>
                <a:gd name="f238" fmla="*/ f191 f57 1"/>
                <a:gd name="f239" fmla="*/ f192 f58 1"/>
                <a:gd name="f240" fmla="*/ f193 f58 1"/>
                <a:gd name="f241" fmla="*/ f194 f57 1"/>
                <a:gd name="f242" fmla="*/ f195 f58 1"/>
                <a:gd name="f243" fmla="*/ f196 f57 1"/>
                <a:gd name="f244" fmla="*/ f197 f58 1"/>
                <a:gd name="f245" fmla="*/ f198 f58 1"/>
              </a:gdLst>
              <a:ahLst/>
              <a:cxnLst>
                <a:cxn ang="3cd4">
                  <a:pos x="hc" y="t"/>
                </a:cxn>
                <a:cxn ang="0">
                  <a:pos x="r" y="vc"/>
                </a:cxn>
                <a:cxn ang="cd4">
                  <a:pos x="hc" y="b"/>
                </a:cxn>
                <a:cxn ang="cd2">
                  <a:pos x="l" y="vc"/>
                </a:cxn>
                <a:cxn ang="f155">
                  <a:pos x="f203" y="f204"/>
                </a:cxn>
                <a:cxn ang="f155">
                  <a:pos x="f203" y="f205"/>
                </a:cxn>
                <a:cxn ang="f155">
                  <a:pos x="f206" y="f207"/>
                </a:cxn>
                <a:cxn ang="f155">
                  <a:pos x="f208" y="f204"/>
                </a:cxn>
                <a:cxn ang="f155">
                  <a:pos x="f209" y="f210"/>
                </a:cxn>
                <a:cxn ang="f155">
                  <a:pos x="f211" y="f210"/>
                </a:cxn>
                <a:cxn ang="f155">
                  <a:pos x="f212" y="f204"/>
                </a:cxn>
                <a:cxn ang="f155">
                  <a:pos x="f213" y="f214"/>
                </a:cxn>
                <a:cxn ang="f155">
                  <a:pos x="f215" y="f216"/>
                </a:cxn>
                <a:cxn ang="f155">
                  <a:pos x="f217" y="f218"/>
                </a:cxn>
                <a:cxn ang="f155">
                  <a:pos x="f215" y="f219"/>
                </a:cxn>
                <a:cxn ang="f155">
                  <a:pos x="f213" y="f220"/>
                </a:cxn>
                <a:cxn ang="f155">
                  <a:pos x="f212" y="f221"/>
                </a:cxn>
                <a:cxn ang="f155">
                  <a:pos x="f222" y="f223"/>
                </a:cxn>
                <a:cxn ang="f155">
                  <a:pos x="f224" y="f223"/>
                </a:cxn>
                <a:cxn ang="f155">
                  <a:pos x="f208" y="f221"/>
                </a:cxn>
                <a:cxn ang="f155">
                  <a:pos x="f206" y="f225"/>
                </a:cxn>
                <a:cxn ang="f155">
                  <a:pos x="f203" y="f226"/>
                </a:cxn>
                <a:cxn ang="f155">
                  <a:pos x="f203" y="f227"/>
                </a:cxn>
                <a:cxn ang="f155">
                  <a:pos x="f228" y="f229"/>
                </a:cxn>
                <a:cxn ang="f155">
                  <a:pos x="f228" y="f204"/>
                </a:cxn>
                <a:cxn ang="f155">
                  <a:pos x="f203" y="f204"/>
                </a:cxn>
                <a:cxn ang="f155">
                  <a:pos x="f203" y="f230"/>
                </a:cxn>
                <a:cxn ang="f155">
                  <a:pos x="f231" y="f232"/>
                </a:cxn>
                <a:cxn ang="f155">
                  <a:pos x="f233" y="f234"/>
                </a:cxn>
                <a:cxn ang="f155">
                  <a:pos x="f224" y="f235"/>
                </a:cxn>
                <a:cxn ang="f155">
                  <a:pos x="f222" y="f236"/>
                </a:cxn>
                <a:cxn ang="f155">
                  <a:pos x="f212" y="f232"/>
                </a:cxn>
                <a:cxn ang="f155">
                  <a:pos x="f237" y="f218"/>
                </a:cxn>
                <a:cxn ang="f155">
                  <a:pos x="f238" y="f239"/>
                </a:cxn>
                <a:cxn ang="f155">
                  <a:pos x="f212" y="f240"/>
                </a:cxn>
                <a:cxn ang="f155">
                  <a:pos x="f241" y="f242"/>
                </a:cxn>
                <a:cxn ang="f155">
                  <a:pos x="f243" y="f244"/>
                </a:cxn>
                <a:cxn ang="f155">
                  <a:pos x="f224" y="f244"/>
                </a:cxn>
                <a:cxn ang="f155">
                  <a:pos x="f233" y="f242"/>
                </a:cxn>
                <a:cxn ang="f155">
                  <a:pos x="f231" y="f240"/>
                </a:cxn>
                <a:cxn ang="f155">
                  <a:pos x="f203" y="f245"/>
                </a:cxn>
                <a:cxn ang="f155">
                  <a:pos x="f203" y="f230"/>
                </a:cxn>
              </a:cxnLst>
              <a:rect l="f199" t="f202" r="f200" b="f201"/>
              <a:pathLst>
                <a:path w="32" h="54">
                  <a:moveTo>
                    <a:pt x="f8" y="f9"/>
                  </a:moveTo>
                  <a:cubicBezTo>
                    <a:pt x="f8" y="f10"/>
                    <a:pt x="f8" y="f10"/>
                    <a:pt x="f8" y="f10"/>
                  </a:cubicBezTo>
                  <a:cubicBezTo>
                    <a:pt x="f8" y="f10"/>
                    <a:pt x="f11" y="f12"/>
                    <a:pt x="f13" y="f12"/>
                  </a:cubicBezTo>
                  <a:cubicBezTo>
                    <a:pt x="f14" y="f15"/>
                    <a:pt x="f14" y="f15"/>
                    <a:pt x="f16" y="f9"/>
                  </a:cubicBezTo>
                  <a:cubicBezTo>
                    <a:pt x="f17" y="f9"/>
                    <a:pt x="f18" y="f7"/>
                    <a:pt x="f19" y="f7"/>
                  </a:cubicBezTo>
                  <a:cubicBezTo>
                    <a:pt x="f20" y="f7"/>
                    <a:pt x="f21" y="f7"/>
                    <a:pt x="f22" y="f7"/>
                  </a:cubicBezTo>
                  <a:cubicBezTo>
                    <a:pt x="f23" y="f7"/>
                    <a:pt x="f24" y="f7"/>
                    <a:pt x="f25" y="f9"/>
                  </a:cubicBezTo>
                  <a:cubicBezTo>
                    <a:pt x="f26" y="f15"/>
                    <a:pt x="f27" y="f12"/>
                    <a:pt x="f28" y="f29"/>
                  </a:cubicBezTo>
                  <a:cubicBezTo>
                    <a:pt x="f30" y="f31"/>
                    <a:pt x="f32" y="f33"/>
                    <a:pt x="f32" y="f34"/>
                  </a:cubicBezTo>
                  <a:cubicBezTo>
                    <a:pt x="f5" y="f35"/>
                    <a:pt x="f5" y="f36"/>
                    <a:pt x="f5" y="f37"/>
                  </a:cubicBezTo>
                  <a:cubicBezTo>
                    <a:pt x="f5" y="f38"/>
                    <a:pt x="f5" y="f39"/>
                    <a:pt x="f32" y="f40"/>
                  </a:cubicBezTo>
                  <a:cubicBezTo>
                    <a:pt x="f41" y="f13"/>
                    <a:pt x="f30" y="f16"/>
                    <a:pt x="f28" y="f17"/>
                  </a:cubicBezTo>
                  <a:cubicBezTo>
                    <a:pt x="f42" y="f19"/>
                    <a:pt x="f26" y="f20"/>
                    <a:pt x="f25" y="f21"/>
                  </a:cubicBezTo>
                  <a:cubicBezTo>
                    <a:pt x="f43" y="f22"/>
                    <a:pt x="f44" y="f22"/>
                    <a:pt x="f21" y="f22"/>
                  </a:cubicBezTo>
                  <a:cubicBezTo>
                    <a:pt x="f20" y="f22"/>
                    <a:pt x="f19" y="f22"/>
                    <a:pt x="f18" y="f22"/>
                  </a:cubicBezTo>
                  <a:cubicBezTo>
                    <a:pt x="f18" y="f21"/>
                    <a:pt x="f17" y="f21"/>
                    <a:pt x="f16" y="f21"/>
                  </a:cubicBezTo>
                  <a:cubicBezTo>
                    <a:pt x="f14" y="f20"/>
                    <a:pt x="f13" y="f20"/>
                    <a:pt x="f13" y="f19"/>
                  </a:cubicBezTo>
                  <a:cubicBezTo>
                    <a:pt x="f11" y="f19"/>
                    <a:pt x="f8" y="f18"/>
                    <a:pt x="f8" y="f18"/>
                  </a:cubicBezTo>
                  <a:cubicBezTo>
                    <a:pt x="f8" y="f28"/>
                    <a:pt x="f8" y="f28"/>
                    <a:pt x="f8" y="f28"/>
                  </a:cubicBezTo>
                  <a:cubicBezTo>
                    <a:pt x="f6" y="f5"/>
                    <a:pt x="f6" y="f5"/>
                    <a:pt x="f6" y="f5"/>
                  </a:cubicBezTo>
                  <a:cubicBezTo>
                    <a:pt x="f6" y="f9"/>
                    <a:pt x="f6" y="f9"/>
                    <a:pt x="f6" y="f9"/>
                  </a:cubicBezTo>
                  <a:lnTo>
                    <a:pt x="f8" y="f9"/>
                  </a:lnTo>
                  <a:close/>
                  <a:moveTo>
                    <a:pt x="f8" y="f45"/>
                  </a:moveTo>
                  <a:cubicBezTo>
                    <a:pt x="f8" y="f45"/>
                    <a:pt x="f11" y="f40"/>
                    <a:pt x="f11" y="f8"/>
                  </a:cubicBezTo>
                  <a:cubicBezTo>
                    <a:pt x="f13" y="f8"/>
                    <a:pt x="f13" y="f11"/>
                    <a:pt x="f14" y="f11"/>
                  </a:cubicBezTo>
                  <a:cubicBezTo>
                    <a:pt x="f16" y="f13"/>
                    <a:pt x="f17" y="f13"/>
                    <a:pt x="f18" y="f13"/>
                  </a:cubicBezTo>
                  <a:cubicBezTo>
                    <a:pt x="f19" y="f14"/>
                    <a:pt x="f20" y="f14"/>
                    <a:pt x="f21" y="f14"/>
                  </a:cubicBezTo>
                  <a:cubicBezTo>
                    <a:pt x="f44" y="f14"/>
                    <a:pt x="f43" y="f13"/>
                    <a:pt x="f25" y="f8"/>
                  </a:cubicBezTo>
                  <a:cubicBezTo>
                    <a:pt x="f46" y="f45"/>
                    <a:pt x="f26" y="f47"/>
                    <a:pt x="f26" y="f37"/>
                  </a:cubicBezTo>
                  <a:cubicBezTo>
                    <a:pt x="f26" y="f48"/>
                    <a:pt x="f26" y="f49"/>
                    <a:pt x="f46" y="f50"/>
                  </a:cubicBezTo>
                  <a:cubicBezTo>
                    <a:pt x="f46" y="f51"/>
                    <a:pt x="f25" y="f34"/>
                    <a:pt x="f25" y="f52"/>
                  </a:cubicBezTo>
                  <a:cubicBezTo>
                    <a:pt x="f24" y="f33"/>
                    <a:pt x="f43" y="f53"/>
                    <a:pt x="f23" y="f53"/>
                  </a:cubicBezTo>
                  <a:cubicBezTo>
                    <a:pt x="f44" y="f54"/>
                    <a:pt x="f22" y="f54"/>
                    <a:pt x="f20" y="f54"/>
                  </a:cubicBezTo>
                  <a:cubicBezTo>
                    <a:pt x="f19" y="f54"/>
                    <a:pt x="f18" y="f54"/>
                    <a:pt x="f18" y="f54"/>
                  </a:cubicBezTo>
                  <a:cubicBezTo>
                    <a:pt x="f17" y="f53"/>
                    <a:pt x="f16" y="f53"/>
                    <a:pt x="f14" y="f53"/>
                  </a:cubicBezTo>
                  <a:cubicBezTo>
                    <a:pt x="f14" y="f33"/>
                    <a:pt x="f13" y="f33"/>
                    <a:pt x="f11" y="f52"/>
                  </a:cubicBezTo>
                  <a:cubicBezTo>
                    <a:pt x="f11" y="f34"/>
                    <a:pt x="f8" y="f34"/>
                    <a:pt x="f8" y="f55"/>
                  </a:cubicBezTo>
                  <a:lnTo>
                    <a:pt x="f8" y="f4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3" name="Freeform 65">
              <a:extLst>
                <a:ext uri="{FF2B5EF4-FFF2-40B4-BE49-F238E27FC236}">
                  <a16:creationId xmlns:a16="http://schemas.microsoft.com/office/drawing/2014/main" id="{085AC401-F08F-C144-44FB-BC9B2A6DDD87}"/>
                </a:ext>
              </a:extLst>
            </p:cNvPr>
            <p:cNvSpPr/>
            <p:nvPr/>
          </p:nvSpPr>
          <p:spPr>
            <a:xfrm>
              <a:off x="2228465" y="6297417"/>
              <a:ext cx="121999" cy="97648"/>
            </a:xfrm>
            <a:custGeom>
              <a:avLst/>
              <a:gdLst>
                <a:gd name="f0" fmla="val 10800000"/>
                <a:gd name="f1" fmla="val 5400000"/>
                <a:gd name="f2" fmla="val 180"/>
                <a:gd name="f3" fmla="val w"/>
                <a:gd name="f4" fmla="val h"/>
                <a:gd name="f5" fmla="val 0"/>
                <a:gd name="f6" fmla="val 70"/>
                <a:gd name="f7" fmla="val 56"/>
                <a:gd name="f8" fmla="val 55"/>
                <a:gd name="f9" fmla="val 45"/>
                <a:gd name="f10" fmla="val 35"/>
                <a:gd name="f11" fmla="val 16"/>
                <a:gd name="f12" fmla="val 25"/>
                <a:gd name="f13" fmla="val 12"/>
                <a:gd name="f14" fmla="val 20"/>
                <a:gd name="f15" fmla="val 38"/>
                <a:gd name="f16" fmla="val 31"/>
                <a:gd name="f17" fmla="val 39"/>
                <a:gd name="f18" fmla="val 51"/>
                <a:gd name="f19" fmla="val 60"/>
                <a:gd name="f20" fmla="+- 0 0 -90"/>
                <a:gd name="f21" fmla="*/ f3 1 70"/>
                <a:gd name="f22" fmla="*/ f4 1 56"/>
                <a:gd name="f23" fmla="+- f7 0 f5"/>
                <a:gd name="f24" fmla="+- f6 0 f5"/>
                <a:gd name="f25" fmla="*/ f20 f0 1"/>
                <a:gd name="f26" fmla="*/ f24 1 70"/>
                <a:gd name="f27" fmla="*/ f23 1 56"/>
                <a:gd name="f28" fmla="*/ 55 f24 1"/>
                <a:gd name="f29" fmla="*/ 56 f23 1"/>
                <a:gd name="f30" fmla="*/ 45 f24 1"/>
                <a:gd name="f31" fmla="*/ 35 f24 1"/>
                <a:gd name="f32" fmla="*/ 16 f23 1"/>
                <a:gd name="f33" fmla="*/ 25 f24 1"/>
                <a:gd name="f34" fmla="*/ 16 f24 1"/>
                <a:gd name="f35" fmla="*/ 0 f24 1"/>
                <a:gd name="f36" fmla="*/ 0 f23 1"/>
                <a:gd name="f37" fmla="*/ 12 f24 1"/>
                <a:gd name="f38" fmla="*/ 20 f24 1"/>
                <a:gd name="f39" fmla="*/ 38 f23 1"/>
                <a:gd name="f40" fmla="*/ 31 f24 1"/>
                <a:gd name="f41" fmla="*/ 39 f24 1"/>
                <a:gd name="f42" fmla="*/ 51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8" y="f7"/>
                  </a:moveTo>
                  <a:lnTo>
                    <a:pt x="f9" y="f7"/>
                  </a:lnTo>
                  <a:lnTo>
                    <a:pt x="f10" y="f11"/>
                  </a:lnTo>
                  <a:lnTo>
                    <a:pt x="f12" y="f7"/>
                  </a:lnTo>
                  <a:lnTo>
                    <a:pt x="f11" y="f7"/>
                  </a:lnTo>
                  <a:lnTo>
                    <a:pt x="f5" y="f5"/>
                  </a:lnTo>
                  <a:lnTo>
                    <a:pt x="f13" y="f5"/>
                  </a:lnTo>
                  <a:lnTo>
                    <a:pt x="f14" y="f15"/>
                  </a:lnTo>
                  <a:lnTo>
                    <a:pt x="f16" y="f5"/>
                  </a:lnTo>
                  <a:lnTo>
                    <a:pt x="f17" y="f5"/>
                  </a:lnTo>
                  <a:lnTo>
                    <a:pt x="f18" y="f15"/>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4" name="Freeform 66">
              <a:extLst>
                <a:ext uri="{FF2B5EF4-FFF2-40B4-BE49-F238E27FC236}">
                  <a16:creationId xmlns:a16="http://schemas.microsoft.com/office/drawing/2014/main" id="{0BB0E155-3E68-0877-F2FB-50F5D8223C67}"/>
                </a:ext>
              </a:extLst>
            </p:cNvPr>
            <p:cNvSpPr/>
            <p:nvPr/>
          </p:nvSpPr>
          <p:spPr>
            <a:xfrm>
              <a:off x="2360916" y="6293924"/>
              <a:ext cx="88879" cy="102879"/>
            </a:xfrm>
            <a:custGeom>
              <a:avLst/>
              <a:gdLst>
                <a:gd name="f0" fmla="val 10800000"/>
                <a:gd name="f1" fmla="val 5400000"/>
                <a:gd name="f2" fmla="val 180"/>
                <a:gd name="f3" fmla="val w"/>
                <a:gd name="f4" fmla="val h"/>
                <a:gd name="f5" fmla="val 0"/>
                <a:gd name="f6" fmla="val 35"/>
                <a:gd name="f7" fmla="val 40"/>
                <a:gd name="f8" fmla="val 20"/>
                <a:gd name="f9" fmla="val 23"/>
                <a:gd name="f10" fmla="val 34"/>
                <a:gd name="f11" fmla="val 26"/>
                <a:gd name="f12" fmla="val 33"/>
                <a:gd name="f13" fmla="val 28"/>
                <a:gd name="f14" fmla="val 32"/>
                <a:gd name="f15" fmla="val 31"/>
                <a:gd name="f16" fmla="val 30"/>
                <a:gd name="f17" fmla="val 37"/>
                <a:gd name="f18" fmla="val 38"/>
                <a:gd name="f19" fmla="val 24"/>
                <a:gd name="f20" fmla="val 39"/>
                <a:gd name="f21" fmla="val 22"/>
                <a:gd name="f22" fmla="val 17"/>
                <a:gd name="f23" fmla="val 15"/>
                <a:gd name="f24" fmla="val 13"/>
                <a:gd name="f25" fmla="val 11"/>
                <a:gd name="f26" fmla="val 8"/>
                <a:gd name="f27" fmla="val 7"/>
                <a:gd name="f28" fmla="val 36"/>
                <a:gd name="f29" fmla="val 5"/>
                <a:gd name="f30" fmla="val 4"/>
                <a:gd name="f31" fmla="val 2"/>
                <a:gd name="f32" fmla="val 1"/>
                <a:gd name="f33" fmla="val 14"/>
                <a:gd name="f34" fmla="val 12"/>
                <a:gd name="f35" fmla="val 3"/>
                <a:gd name="f36" fmla="val 9"/>
                <a:gd name="f37" fmla="val 18"/>
                <a:gd name="f38" fmla="val 27"/>
                <a:gd name="f39" fmla="val 16"/>
                <a:gd name="f40" fmla="val 25"/>
                <a:gd name="f41" fmla="val 10"/>
                <a:gd name="f42" fmla="val 21"/>
                <a:gd name="f43" fmla="val 19"/>
                <a:gd name="f44" fmla="val 29"/>
                <a:gd name="f45" fmla="+- 0 0 -90"/>
                <a:gd name="f46" fmla="*/ f3 1 35"/>
                <a:gd name="f47" fmla="*/ f4 1 40"/>
                <a:gd name="f48" fmla="+- f7 0 f5"/>
                <a:gd name="f49" fmla="+- f6 0 f5"/>
                <a:gd name="f50" fmla="*/ f45 f0 1"/>
                <a:gd name="f51" fmla="*/ f49 1 35"/>
                <a:gd name="f52" fmla="*/ f48 1 40"/>
                <a:gd name="f53" fmla="*/ 35 f49 1"/>
                <a:gd name="f54" fmla="*/ 20 f48 1"/>
                <a:gd name="f55" fmla="*/ 33 f49 1"/>
                <a:gd name="f56" fmla="*/ 28 f48 1"/>
                <a:gd name="f57" fmla="*/ 30 f49 1"/>
                <a:gd name="f58" fmla="*/ 35 f48 1"/>
                <a:gd name="f59" fmla="*/ 24 f49 1"/>
                <a:gd name="f60" fmla="*/ 39 f48 1"/>
                <a:gd name="f61" fmla="*/ 17 f49 1"/>
                <a:gd name="f62" fmla="*/ 40 f48 1"/>
                <a:gd name="f63" fmla="*/ 11 f49 1"/>
                <a:gd name="f64" fmla="*/ 5 f49 1"/>
                <a:gd name="f65" fmla="*/ 2 f49 1"/>
                <a:gd name="f66" fmla="*/ 0 f49 1"/>
                <a:gd name="f67" fmla="*/ 12 f48 1"/>
                <a:gd name="f68" fmla="*/ 5 f48 1"/>
                <a:gd name="f69" fmla="*/ 1 f48 1"/>
                <a:gd name="f70" fmla="*/ 18 f49 1"/>
                <a:gd name="f71" fmla="*/ 0 f48 1"/>
                <a:gd name="f72" fmla="*/ 27 f49 1"/>
                <a:gd name="f73" fmla="*/ 26 f49 1"/>
                <a:gd name="f74" fmla="*/ 15 f48 1"/>
                <a:gd name="f75" fmla="*/ 11 f48 1"/>
                <a:gd name="f76" fmla="*/ 21 f49 1"/>
                <a:gd name="f77" fmla="*/ 8 f48 1"/>
                <a:gd name="f78" fmla="*/ 7 f48 1"/>
                <a:gd name="f79" fmla="*/ 13 f49 1"/>
                <a:gd name="f80" fmla="*/ 10 f49 1"/>
                <a:gd name="f81" fmla="*/ 9 f49 1"/>
                <a:gd name="f82" fmla="*/ 8 f49 1"/>
                <a:gd name="f83" fmla="*/ 26 f48 1"/>
                <a:gd name="f84" fmla="*/ 30 f48 1"/>
                <a:gd name="f85" fmla="*/ 14 f49 1"/>
                <a:gd name="f86" fmla="*/ 32 f48 1"/>
                <a:gd name="f87" fmla="*/ 33 f48 1"/>
                <a:gd name="f88" fmla="*/ 29 f48 1"/>
                <a:gd name="f89" fmla="*/ 25 f48 1"/>
                <a:gd name="f90" fmla="*/ f50 1 f2"/>
                <a:gd name="f91" fmla="*/ f53 1 35"/>
                <a:gd name="f92" fmla="*/ f54 1 40"/>
                <a:gd name="f93" fmla="*/ f55 1 35"/>
                <a:gd name="f94" fmla="*/ f56 1 40"/>
                <a:gd name="f95" fmla="*/ f57 1 35"/>
                <a:gd name="f96" fmla="*/ f58 1 40"/>
                <a:gd name="f97" fmla="*/ f59 1 35"/>
                <a:gd name="f98" fmla="*/ f60 1 40"/>
                <a:gd name="f99" fmla="*/ f61 1 35"/>
                <a:gd name="f100" fmla="*/ f62 1 40"/>
                <a:gd name="f101" fmla="*/ f63 1 35"/>
                <a:gd name="f102" fmla="*/ f64 1 35"/>
                <a:gd name="f103" fmla="*/ f65 1 35"/>
                <a:gd name="f104" fmla="*/ f66 1 35"/>
                <a:gd name="f105" fmla="*/ f67 1 40"/>
                <a:gd name="f106" fmla="*/ f68 1 40"/>
                <a:gd name="f107" fmla="*/ f69 1 40"/>
                <a:gd name="f108" fmla="*/ f70 1 35"/>
                <a:gd name="f109" fmla="*/ f71 1 40"/>
                <a:gd name="f110" fmla="*/ f72 1 35"/>
                <a:gd name="f111" fmla="*/ f73 1 35"/>
                <a:gd name="f112" fmla="*/ f74 1 40"/>
                <a:gd name="f113" fmla="*/ f75 1 40"/>
                <a:gd name="f114" fmla="*/ f76 1 35"/>
                <a:gd name="f115" fmla="*/ f77 1 40"/>
                <a:gd name="f116" fmla="*/ f78 1 40"/>
                <a:gd name="f117" fmla="*/ f79 1 35"/>
                <a:gd name="f118" fmla="*/ f80 1 35"/>
                <a:gd name="f119" fmla="*/ f81 1 35"/>
                <a:gd name="f120" fmla="*/ f82 1 35"/>
                <a:gd name="f121" fmla="*/ f83 1 40"/>
                <a:gd name="f122" fmla="*/ f84 1 40"/>
                <a:gd name="f123" fmla="*/ f85 1 35"/>
                <a:gd name="f124" fmla="*/ f86 1 40"/>
                <a:gd name="f125" fmla="*/ f87 1 40"/>
                <a:gd name="f126" fmla="*/ f88 1 40"/>
                <a:gd name="f127" fmla="*/ f89 1 40"/>
                <a:gd name="f128" fmla="*/ 0 1 f51"/>
                <a:gd name="f129" fmla="*/ f6 1 f51"/>
                <a:gd name="f130" fmla="*/ 0 1 f52"/>
                <a:gd name="f131" fmla="*/ f7 1 f52"/>
                <a:gd name="f132" fmla="+- f90 0 f1"/>
                <a:gd name="f133" fmla="*/ f91 1 f51"/>
                <a:gd name="f134" fmla="*/ f92 1 f52"/>
                <a:gd name="f135" fmla="*/ f93 1 f51"/>
                <a:gd name="f136" fmla="*/ f94 1 f52"/>
                <a:gd name="f137" fmla="*/ f95 1 f51"/>
                <a:gd name="f138" fmla="*/ f96 1 f52"/>
                <a:gd name="f139" fmla="*/ f97 1 f51"/>
                <a:gd name="f140" fmla="*/ f98 1 f52"/>
                <a:gd name="f141" fmla="*/ f99 1 f51"/>
                <a:gd name="f142" fmla="*/ f100 1 f52"/>
                <a:gd name="f143" fmla="*/ f101 1 f51"/>
                <a:gd name="f144" fmla="*/ f102 1 f51"/>
                <a:gd name="f145" fmla="*/ f103 1 f51"/>
                <a:gd name="f146" fmla="*/ f104 1 f51"/>
                <a:gd name="f147" fmla="*/ f105 1 f52"/>
                <a:gd name="f148" fmla="*/ f106 1 f52"/>
                <a:gd name="f149" fmla="*/ f107 1 f52"/>
                <a:gd name="f150" fmla="*/ f108 1 f51"/>
                <a:gd name="f151" fmla="*/ f109 1 f52"/>
                <a:gd name="f152" fmla="*/ f110 1 f51"/>
                <a:gd name="f153" fmla="*/ f111 1 f51"/>
                <a:gd name="f154" fmla="*/ f112 1 f52"/>
                <a:gd name="f155" fmla="*/ f113 1 f52"/>
                <a:gd name="f156" fmla="*/ f114 1 f51"/>
                <a:gd name="f157" fmla="*/ f115 1 f52"/>
                <a:gd name="f158" fmla="*/ f116 1 f52"/>
                <a:gd name="f159" fmla="*/ f117 1 f51"/>
                <a:gd name="f160" fmla="*/ f118 1 f51"/>
                <a:gd name="f161" fmla="*/ f119 1 f51"/>
                <a:gd name="f162" fmla="*/ f120 1 f51"/>
                <a:gd name="f163" fmla="*/ f121 1 f52"/>
                <a:gd name="f164" fmla="*/ f122 1 f52"/>
                <a:gd name="f165" fmla="*/ f123 1 f51"/>
                <a:gd name="f166" fmla="*/ f124 1 f52"/>
                <a:gd name="f167" fmla="*/ f125 1 f52"/>
                <a:gd name="f168" fmla="*/ f126 1 f52"/>
                <a:gd name="f169" fmla="*/ f127 1 f52"/>
                <a:gd name="f170" fmla="*/ f128 f46 1"/>
                <a:gd name="f171" fmla="*/ f129 f46 1"/>
                <a:gd name="f172" fmla="*/ f131 f47 1"/>
                <a:gd name="f173" fmla="*/ f130 f47 1"/>
                <a:gd name="f174" fmla="*/ f133 f46 1"/>
                <a:gd name="f175" fmla="*/ f134 f47 1"/>
                <a:gd name="f176" fmla="*/ f135 f46 1"/>
                <a:gd name="f177" fmla="*/ f136 f47 1"/>
                <a:gd name="f178" fmla="*/ f137 f46 1"/>
                <a:gd name="f179" fmla="*/ f138 f47 1"/>
                <a:gd name="f180" fmla="*/ f139 f46 1"/>
                <a:gd name="f181" fmla="*/ f140 f47 1"/>
                <a:gd name="f182" fmla="*/ f141 f46 1"/>
                <a:gd name="f183" fmla="*/ f142 f47 1"/>
                <a:gd name="f184" fmla="*/ f143 f46 1"/>
                <a:gd name="f185" fmla="*/ f144 f46 1"/>
                <a:gd name="f186" fmla="*/ f145 f46 1"/>
                <a:gd name="f187" fmla="*/ f146 f46 1"/>
                <a:gd name="f188" fmla="*/ f147 f47 1"/>
                <a:gd name="f189" fmla="*/ f148 f47 1"/>
                <a:gd name="f190" fmla="*/ f149 f47 1"/>
                <a:gd name="f191" fmla="*/ f150 f46 1"/>
                <a:gd name="f192" fmla="*/ f151 f47 1"/>
                <a:gd name="f193" fmla="*/ f152 f46 1"/>
                <a:gd name="f194" fmla="*/ f153 f46 1"/>
                <a:gd name="f195" fmla="*/ f154 f47 1"/>
                <a:gd name="f196" fmla="*/ f155 f47 1"/>
                <a:gd name="f197" fmla="*/ f156 f46 1"/>
                <a:gd name="f198" fmla="*/ f157 f47 1"/>
                <a:gd name="f199" fmla="*/ f158 f47 1"/>
                <a:gd name="f200" fmla="*/ f159 f46 1"/>
                <a:gd name="f201" fmla="*/ f160 f46 1"/>
                <a:gd name="f202" fmla="*/ f161 f46 1"/>
                <a:gd name="f203" fmla="*/ f162 f46 1"/>
                <a:gd name="f204" fmla="*/ f163 f47 1"/>
                <a:gd name="f205" fmla="*/ f164 f47 1"/>
                <a:gd name="f206" fmla="*/ f165 f46 1"/>
                <a:gd name="f207" fmla="*/ f166 f47 1"/>
                <a:gd name="f208" fmla="*/ f167 f47 1"/>
                <a:gd name="f209" fmla="*/ f168 f47 1"/>
                <a:gd name="f210" fmla="*/ f169 f47 1"/>
              </a:gdLst>
              <a:ahLst/>
              <a:cxnLst>
                <a:cxn ang="3cd4">
                  <a:pos x="hc" y="t"/>
                </a:cxn>
                <a:cxn ang="0">
                  <a:pos x="r" y="vc"/>
                </a:cxn>
                <a:cxn ang="cd4">
                  <a:pos x="hc" y="b"/>
                </a:cxn>
                <a:cxn ang="cd2">
                  <a:pos x="l" y="vc"/>
                </a:cxn>
                <a:cxn ang="f132">
                  <a:pos x="f174" y="f175"/>
                </a:cxn>
                <a:cxn ang="f132">
                  <a:pos x="f176" y="f177"/>
                </a:cxn>
                <a:cxn ang="f132">
                  <a:pos x="f178" y="f179"/>
                </a:cxn>
                <a:cxn ang="f132">
                  <a:pos x="f180" y="f181"/>
                </a:cxn>
                <a:cxn ang="f132">
                  <a:pos x="f182" y="f183"/>
                </a:cxn>
                <a:cxn ang="f132">
                  <a:pos x="f184" y="f181"/>
                </a:cxn>
                <a:cxn ang="f132">
                  <a:pos x="f185" y="f179"/>
                </a:cxn>
                <a:cxn ang="f132">
                  <a:pos x="f186" y="f177"/>
                </a:cxn>
                <a:cxn ang="f132">
                  <a:pos x="f187" y="f175"/>
                </a:cxn>
                <a:cxn ang="f132">
                  <a:pos x="f186" y="f188"/>
                </a:cxn>
                <a:cxn ang="f132">
                  <a:pos x="f185" y="f189"/>
                </a:cxn>
                <a:cxn ang="f132">
                  <a:pos x="f184" y="f190"/>
                </a:cxn>
                <a:cxn ang="f132">
                  <a:pos x="f191" y="f192"/>
                </a:cxn>
                <a:cxn ang="f132">
                  <a:pos x="f180" y="f190"/>
                </a:cxn>
                <a:cxn ang="f132">
                  <a:pos x="f178" y="f189"/>
                </a:cxn>
                <a:cxn ang="f132">
                  <a:pos x="f176" y="f188"/>
                </a:cxn>
                <a:cxn ang="f132">
                  <a:pos x="f174" y="f175"/>
                </a:cxn>
                <a:cxn ang="f132">
                  <a:pos x="f193" y="f175"/>
                </a:cxn>
                <a:cxn ang="f132">
                  <a:pos x="f194" y="f195"/>
                </a:cxn>
                <a:cxn ang="f132">
                  <a:pos x="f180" y="f196"/>
                </a:cxn>
                <a:cxn ang="f132">
                  <a:pos x="f197" y="f198"/>
                </a:cxn>
                <a:cxn ang="f132">
                  <a:pos x="f182" y="f199"/>
                </a:cxn>
                <a:cxn ang="f132">
                  <a:pos x="f200" y="f198"/>
                </a:cxn>
                <a:cxn ang="f132">
                  <a:pos x="f201" y="f196"/>
                </a:cxn>
                <a:cxn ang="f132">
                  <a:pos x="f202" y="f195"/>
                </a:cxn>
                <a:cxn ang="f132">
                  <a:pos x="f203" y="f175"/>
                </a:cxn>
                <a:cxn ang="f132">
                  <a:pos x="f202" y="f204"/>
                </a:cxn>
                <a:cxn ang="f132">
                  <a:pos x="f184" y="f205"/>
                </a:cxn>
                <a:cxn ang="f132">
                  <a:pos x="f206" y="f207"/>
                </a:cxn>
                <a:cxn ang="f132">
                  <a:pos x="f191" y="f208"/>
                </a:cxn>
                <a:cxn ang="f132">
                  <a:pos x="f197" y="f207"/>
                </a:cxn>
                <a:cxn ang="f132">
                  <a:pos x="f180" y="f209"/>
                </a:cxn>
                <a:cxn ang="f132">
                  <a:pos x="f194" y="f210"/>
                </a:cxn>
                <a:cxn ang="f132">
                  <a:pos x="f193" y="f175"/>
                </a:cxn>
              </a:cxnLst>
              <a:rect l="f170" t="f173" r="f171" b="f172"/>
              <a:pathLst>
                <a:path w="35" h="40">
                  <a:moveTo>
                    <a:pt x="f6" y="f8"/>
                  </a:moveTo>
                  <a:cubicBezTo>
                    <a:pt x="f6" y="f9"/>
                    <a:pt x="f10" y="f11"/>
                    <a:pt x="f12" y="f13"/>
                  </a:cubicBezTo>
                  <a:cubicBezTo>
                    <a:pt x="f14" y="f15"/>
                    <a:pt x="f15" y="f12"/>
                    <a:pt x="f16" y="f6"/>
                  </a:cubicBezTo>
                  <a:cubicBezTo>
                    <a:pt x="f13" y="f17"/>
                    <a:pt x="f11" y="f18"/>
                    <a:pt x="f19" y="f20"/>
                  </a:cubicBezTo>
                  <a:cubicBezTo>
                    <a:pt x="f21" y="f7"/>
                    <a:pt x="f8" y="f7"/>
                    <a:pt x="f22" y="f7"/>
                  </a:cubicBezTo>
                  <a:cubicBezTo>
                    <a:pt x="f23" y="f7"/>
                    <a:pt x="f24" y="f7"/>
                    <a:pt x="f25" y="f20"/>
                  </a:cubicBezTo>
                  <a:cubicBezTo>
                    <a:pt x="f26" y="f18"/>
                    <a:pt x="f27" y="f28"/>
                    <a:pt x="f29" y="f6"/>
                  </a:cubicBezTo>
                  <a:cubicBezTo>
                    <a:pt x="f30" y="f12"/>
                    <a:pt x="f31" y="f15"/>
                    <a:pt x="f31" y="f13"/>
                  </a:cubicBezTo>
                  <a:cubicBezTo>
                    <a:pt x="f32" y="f11"/>
                    <a:pt x="f5" y="f9"/>
                    <a:pt x="f5" y="f8"/>
                  </a:cubicBezTo>
                  <a:cubicBezTo>
                    <a:pt x="f5" y="f22"/>
                    <a:pt x="f32" y="f33"/>
                    <a:pt x="f31" y="f34"/>
                  </a:cubicBezTo>
                  <a:cubicBezTo>
                    <a:pt x="f35" y="f36"/>
                    <a:pt x="f30" y="f27"/>
                    <a:pt x="f29" y="f29"/>
                  </a:cubicBezTo>
                  <a:cubicBezTo>
                    <a:pt x="f27" y="f30"/>
                    <a:pt x="f36" y="f31"/>
                    <a:pt x="f25" y="f32"/>
                  </a:cubicBezTo>
                  <a:cubicBezTo>
                    <a:pt x="f24" y="f32"/>
                    <a:pt x="f23" y="f5"/>
                    <a:pt x="f37" y="f5"/>
                  </a:cubicBezTo>
                  <a:cubicBezTo>
                    <a:pt x="f8" y="f5"/>
                    <a:pt x="f21" y="f32"/>
                    <a:pt x="f19" y="f32"/>
                  </a:cubicBezTo>
                  <a:cubicBezTo>
                    <a:pt x="f11" y="f31"/>
                    <a:pt x="f13" y="f30"/>
                    <a:pt x="f16" y="f29"/>
                  </a:cubicBezTo>
                  <a:cubicBezTo>
                    <a:pt x="f15" y="f27"/>
                    <a:pt x="f14" y="f36"/>
                    <a:pt x="f12" y="f34"/>
                  </a:cubicBezTo>
                  <a:cubicBezTo>
                    <a:pt x="f10" y="f33"/>
                    <a:pt x="f6" y="f22"/>
                    <a:pt x="f6" y="f8"/>
                  </a:cubicBezTo>
                  <a:close/>
                  <a:moveTo>
                    <a:pt x="f38" y="f8"/>
                  </a:moveTo>
                  <a:cubicBezTo>
                    <a:pt x="f38" y="f37"/>
                    <a:pt x="f38" y="f39"/>
                    <a:pt x="f11" y="f23"/>
                  </a:cubicBezTo>
                  <a:cubicBezTo>
                    <a:pt x="f11" y="f24"/>
                    <a:pt x="f40" y="f34"/>
                    <a:pt x="f19" y="f25"/>
                  </a:cubicBezTo>
                  <a:cubicBezTo>
                    <a:pt x="f19" y="f41"/>
                    <a:pt x="f9" y="f36"/>
                    <a:pt x="f42" y="f26"/>
                  </a:cubicBezTo>
                  <a:cubicBezTo>
                    <a:pt x="f8" y="f26"/>
                    <a:pt x="f43" y="f27"/>
                    <a:pt x="f22" y="f27"/>
                  </a:cubicBezTo>
                  <a:cubicBezTo>
                    <a:pt x="f39" y="f27"/>
                    <a:pt x="f33" y="f26"/>
                    <a:pt x="f24" y="f26"/>
                  </a:cubicBezTo>
                  <a:cubicBezTo>
                    <a:pt x="f34" y="f36"/>
                    <a:pt x="f25" y="f41"/>
                    <a:pt x="f41" y="f25"/>
                  </a:cubicBezTo>
                  <a:cubicBezTo>
                    <a:pt x="f41" y="f34"/>
                    <a:pt x="f36" y="f24"/>
                    <a:pt x="f36" y="f23"/>
                  </a:cubicBezTo>
                  <a:cubicBezTo>
                    <a:pt x="f26" y="f39"/>
                    <a:pt x="f26" y="f37"/>
                    <a:pt x="f26" y="f8"/>
                  </a:cubicBezTo>
                  <a:cubicBezTo>
                    <a:pt x="f26" y="f21"/>
                    <a:pt x="f26" y="f19"/>
                    <a:pt x="f36" y="f11"/>
                  </a:cubicBezTo>
                  <a:cubicBezTo>
                    <a:pt x="f36" y="f38"/>
                    <a:pt x="f41" y="f13"/>
                    <a:pt x="f25" y="f16"/>
                  </a:cubicBezTo>
                  <a:cubicBezTo>
                    <a:pt x="f25" y="f15"/>
                    <a:pt x="f34" y="f14"/>
                    <a:pt x="f33" y="f14"/>
                  </a:cubicBezTo>
                  <a:cubicBezTo>
                    <a:pt x="f23" y="f12"/>
                    <a:pt x="f39" y="f12"/>
                    <a:pt x="f37" y="f12"/>
                  </a:cubicBezTo>
                  <a:cubicBezTo>
                    <a:pt x="f43" y="f12"/>
                    <a:pt x="f8" y="f12"/>
                    <a:pt x="f42" y="f14"/>
                  </a:cubicBezTo>
                  <a:cubicBezTo>
                    <a:pt x="f9" y="f15"/>
                    <a:pt x="f19" y="f16"/>
                    <a:pt x="f19" y="f44"/>
                  </a:cubicBezTo>
                  <a:cubicBezTo>
                    <a:pt x="f40" y="f13"/>
                    <a:pt x="f11" y="f38"/>
                    <a:pt x="f11" y="f40"/>
                  </a:cubicBezTo>
                  <a:cubicBezTo>
                    <a:pt x="f38" y="f19"/>
                    <a:pt x="f38" y="f21"/>
                    <a:pt x="f38"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5" name="Freeform 67">
              <a:extLst>
                <a:ext uri="{FF2B5EF4-FFF2-40B4-BE49-F238E27FC236}">
                  <a16:creationId xmlns:a16="http://schemas.microsoft.com/office/drawing/2014/main" id="{874AD76B-E289-A11A-5423-EDA6867F4D5B}"/>
                </a:ext>
              </a:extLst>
            </p:cNvPr>
            <p:cNvSpPr/>
            <p:nvPr/>
          </p:nvSpPr>
          <p:spPr>
            <a:xfrm>
              <a:off x="2467224" y="6293924"/>
              <a:ext cx="59253"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6"/>
                <a:gd name="f17" fmla="val 13"/>
                <a:gd name="f18" fmla="val 11"/>
                <a:gd name="f19" fmla="val 10"/>
                <a:gd name="f20" fmla="val 12"/>
                <a:gd name="f21" fmla="val 14"/>
                <a:gd name="f22" fmla="val 1"/>
                <a:gd name="f23" fmla="val 5"/>
                <a:gd name="f24" fmla="val 4"/>
                <a:gd name="f25" fmla="val 3"/>
                <a:gd name="f26" fmla="val 2"/>
                <a:gd name="f27" fmla="val 15"/>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9 f33 1"/>
                <a:gd name="f40" fmla="*/ 8 f32 1"/>
                <a:gd name="f41" fmla="*/ 16 f33 1"/>
                <a:gd name="f42" fmla="*/ 7 f32 1"/>
                <a:gd name="f43" fmla="*/ 10 f33 1"/>
                <a:gd name="f44" fmla="*/ 10 f32 1"/>
                <a:gd name="f45" fmla="*/ 8 f33 1"/>
                <a:gd name="f46" fmla="*/ 17 f32 1"/>
                <a:gd name="f47" fmla="*/ 39 f32 1"/>
                <a:gd name="f48" fmla="*/ 0 f33 1"/>
                <a:gd name="f49" fmla="*/ 1 f32 1"/>
                <a:gd name="f50" fmla="*/ 5 f32 1"/>
                <a:gd name="f51" fmla="*/ 3 f32 1"/>
                <a:gd name="f52" fmla="*/ 12 f33 1"/>
                <a:gd name="f53" fmla="*/ 14 f33 1"/>
                <a:gd name="f54" fmla="*/ 0 f32 1"/>
                <a:gd name="f55" fmla="*/ 17 f33 1"/>
                <a:gd name="f56" fmla="*/ 23 f33 1"/>
                <a:gd name="f57" fmla="*/ 2 f32 1"/>
                <a:gd name="f58" fmla="*/ f34 1 f2"/>
                <a:gd name="f59" fmla="*/ f37 1 23"/>
                <a:gd name="f60" fmla="*/ f38 1 39"/>
                <a:gd name="f61" fmla="*/ f39 1 23"/>
                <a:gd name="f62" fmla="*/ f40 1 39"/>
                <a:gd name="f63" fmla="*/ f41 1 23"/>
                <a:gd name="f64" fmla="*/ f42 1 39"/>
                <a:gd name="f65" fmla="*/ f43 1 23"/>
                <a:gd name="f66" fmla="*/ f44 1 39"/>
                <a:gd name="f67" fmla="*/ f45 1 23"/>
                <a:gd name="f68" fmla="*/ f46 1 39"/>
                <a:gd name="f69" fmla="*/ f47 1 39"/>
                <a:gd name="f70" fmla="*/ f48 1 23"/>
                <a:gd name="f71" fmla="*/ f49 1 39"/>
                <a:gd name="f72" fmla="*/ f50 1 39"/>
                <a:gd name="f73" fmla="*/ f51 1 39"/>
                <a:gd name="f74" fmla="*/ f52 1 23"/>
                <a:gd name="f75" fmla="*/ f53 1 23"/>
                <a:gd name="f76" fmla="*/ f54 1 39"/>
                <a:gd name="f77" fmla="*/ f55 1 23"/>
                <a:gd name="f78" fmla="*/ f56 1 23"/>
                <a:gd name="f79" fmla="*/ f57 1 39"/>
                <a:gd name="f80" fmla="*/ 0 1 f35"/>
                <a:gd name="f81" fmla="*/ f6 1 f35"/>
                <a:gd name="f82" fmla="*/ 0 1 f36"/>
                <a:gd name="f83" fmla="*/ f7 1 f36"/>
                <a:gd name="f84" fmla="+- f58 0 f1"/>
                <a:gd name="f85" fmla="*/ f59 1 f35"/>
                <a:gd name="f86" fmla="*/ f60 1 f36"/>
                <a:gd name="f87" fmla="*/ f61 1 f35"/>
                <a:gd name="f88" fmla="*/ f62 1 f36"/>
                <a:gd name="f89" fmla="*/ f63 1 f35"/>
                <a:gd name="f90" fmla="*/ f64 1 f36"/>
                <a:gd name="f91" fmla="*/ f65 1 f35"/>
                <a:gd name="f92" fmla="*/ f66 1 f36"/>
                <a:gd name="f93" fmla="*/ f67 1 f35"/>
                <a:gd name="f94" fmla="*/ f68 1 f36"/>
                <a:gd name="f95" fmla="*/ f69 1 f36"/>
                <a:gd name="f96" fmla="*/ f70 1 f35"/>
                <a:gd name="f97" fmla="*/ f71 1 f36"/>
                <a:gd name="f98" fmla="*/ f72 1 f36"/>
                <a:gd name="f99" fmla="*/ f73 1 f36"/>
                <a:gd name="f100" fmla="*/ f74 1 f35"/>
                <a:gd name="f101" fmla="*/ f75 1 f35"/>
                <a:gd name="f102" fmla="*/ f76 1 f36"/>
                <a:gd name="f103" fmla="*/ f77 1 f35"/>
                <a:gd name="f104" fmla="*/ f78 1 f35"/>
                <a:gd name="f105" fmla="*/ f79 1 f36"/>
                <a:gd name="f106" fmla="*/ f80 f30 1"/>
                <a:gd name="f107" fmla="*/ f81 f30 1"/>
                <a:gd name="f108" fmla="*/ f83 f31 1"/>
                <a:gd name="f109" fmla="*/ f82 f31 1"/>
                <a:gd name="f110" fmla="*/ f85 f30 1"/>
                <a:gd name="f111" fmla="*/ f86 f31 1"/>
                <a:gd name="f112" fmla="*/ f87 f30 1"/>
                <a:gd name="f113" fmla="*/ f88 f31 1"/>
                <a:gd name="f114" fmla="*/ f89 f30 1"/>
                <a:gd name="f115" fmla="*/ f90 f31 1"/>
                <a:gd name="f116" fmla="*/ f91 f30 1"/>
                <a:gd name="f117" fmla="*/ f92 f31 1"/>
                <a:gd name="f118" fmla="*/ f93 f30 1"/>
                <a:gd name="f119" fmla="*/ f94 f31 1"/>
                <a:gd name="f120" fmla="*/ f95 f31 1"/>
                <a:gd name="f121" fmla="*/ f96 f30 1"/>
                <a:gd name="f122" fmla="*/ f97 f31 1"/>
                <a:gd name="f123" fmla="*/ f98 f31 1"/>
                <a:gd name="f124" fmla="*/ f99 f31 1"/>
                <a:gd name="f125" fmla="*/ f100 f30 1"/>
                <a:gd name="f126" fmla="*/ f101 f30 1"/>
                <a:gd name="f127" fmla="*/ f102 f31 1"/>
                <a:gd name="f128" fmla="*/ f103 f30 1"/>
                <a:gd name="f129" fmla="*/ f104 f30 1"/>
                <a:gd name="f130" fmla="*/ f105 f31 1"/>
              </a:gdLst>
              <a:ahLst/>
              <a:cxnLst>
                <a:cxn ang="3cd4">
                  <a:pos x="hc" y="t"/>
                </a:cxn>
                <a:cxn ang="0">
                  <a:pos x="r" y="vc"/>
                </a:cxn>
                <a:cxn ang="cd4">
                  <a:pos x="hc" y="b"/>
                </a:cxn>
                <a:cxn ang="cd2">
                  <a:pos x="l" y="vc"/>
                </a:cxn>
                <a:cxn ang="f84">
                  <a:pos x="f110" y="f111"/>
                </a:cxn>
                <a:cxn ang="f84">
                  <a:pos x="f112" y="f113"/>
                </a:cxn>
                <a:cxn ang="f84">
                  <a:pos x="f114" y="f115"/>
                </a:cxn>
                <a:cxn ang="f84">
                  <a:pos x="f116" y="f117"/>
                </a:cxn>
                <a:cxn ang="f84">
                  <a:pos x="f118" y="f119"/>
                </a:cxn>
                <a:cxn ang="f84">
                  <a:pos x="f118" y="f120"/>
                </a:cxn>
                <a:cxn ang="f84">
                  <a:pos x="f121" y="f120"/>
                </a:cxn>
                <a:cxn ang="f84">
                  <a:pos x="f121" y="f122"/>
                </a:cxn>
                <a:cxn ang="f84">
                  <a:pos x="f118" y="f122"/>
                </a:cxn>
                <a:cxn ang="f84">
                  <a:pos x="f118" y="f123"/>
                </a:cxn>
                <a:cxn ang="f84">
                  <a:pos x="f116" y="f124"/>
                </a:cxn>
                <a:cxn ang="f84">
                  <a:pos x="f125" y="f122"/>
                </a:cxn>
                <a:cxn ang="f84">
                  <a:pos x="f126" y="f127"/>
                </a:cxn>
                <a:cxn ang="f84">
                  <a:pos x="f128" y="f127"/>
                </a:cxn>
                <a:cxn ang="f84">
                  <a:pos x="f110" y="f122"/>
                </a:cxn>
                <a:cxn ang="f84">
                  <a:pos x="f129" y="f130"/>
                </a:cxn>
                <a:cxn ang="f84">
                  <a:pos x="f110" y="f111"/>
                </a:cxn>
              </a:cxnLst>
              <a:rect l="f106" t="f109" r="f107" b="f108"/>
              <a:pathLst>
                <a:path w="23" h="39">
                  <a:moveTo>
                    <a:pt x="f8" y="f9"/>
                  </a:moveTo>
                  <a:cubicBezTo>
                    <a:pt x="f10" y="f11"/>
                    <a:pt x="f10" y="f11"/>
                    <a:pt x="f12" y="f11"/>
                  </a:cubicBezTo>
                  <a:cubicBezTo>
                    <a:pt x="f13" y="f11"/>
                    <a:pt x="f14" y="f15"/>
                    <a:pt x="f16" y="f15"/>
                  </a:cubicBezTo>
                  <a:cubicBezTo>
                    <a:pt x="f17" y="f15"/>
                    <a:pt x="f18" y="f11"/>
                    <a:pt x="f19" y="f19"/>
                  </a:cubicBezTo>
                  <a:cubicBezTo>
                    <a:pt x="f9"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19" y="f25"/>
                  </a:cubicBezTo>
                  <a:cubicBezTo>
                    <a:pt x="f19" y="f26"/>
                    <a:pt x="f18" y="f26"/>
                    <a:pt x="f20" y="f22"/>
                  </a:cubicBezTo>
                  <a:cubicBezTo>
                    <a:pt x="f20" y="f22"/>
                    <a:pt x="f17" y="f22"/>
                    <a:pt x="f21" y="f5"/>
                  </a:cubicBezTo>
                  <a:cubicBezTo>
                    <a:pt x="f27" y="f5"/>
                    <a:pt x="f16" y="f5"/>
                    <a:pt x="f14" y="f5"/>
                  </a:cubicBezTo>
                  <a:cubicBezTo>
                    <a:pt x="f13" y="f5"/>
                    <a:pt x="f10" y="f5"/>
                    <a:pt x="f8" y="f22"/>
                  </a:cubicBezTo>
                  <a:cubicBezTo>
                    <a:pt x="f28" y="f22"/>
                    <a:pt x="f6"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6" name="Freeform 68">
              <a:extLst>
                <a:ext uri="{FF2B5EF4-FFF2-40B4-BE49-F238E27FC236}">
                  <a16:creationId xmlns:a16="http://schemas.microsoft.com/office/drawing/2014/main" id="{2758D56C-076F-B236-1786-247E05051644}"/>
                </a:ext>
              </a:extLst>
            </p:cNvPr>
            <p:cNvSpPr/>
            <p:nvPr/>
          </p:nvSpPr>
          <p:spPr>
            <a:xfrm>
              <a:off x="2543915" y="6259049"/>
              <a:ext cx="76681" cy="136007"/>
            </a:xfrm>
            <a:custGeom>
              <a:avLst/>
              <a:gdLst>
                <a:gd name="f0" fmla="val 10800000"/>
                <a:gd name="f1" fmla="val 5400000"/>
                <a:gd name="f2" fmla="val 180"/>
                <a:gd name="f3" fmla="val w"/>
                <a:gd name="f4" fmla="val h"/>
                <a:gd name="f5" fmla="val 0"/>
                <a:gd name="f6" fmla="val 44"/>
                <a:gd name="f7" fmla="val 78"/>
                <a:gd name="f8" fmla="val 31"/>
                <a:gd name="f9" fmla="val 19"/>
                <a:gd name="f10" fmla="val 50"/>
                <a:gd name="f11" fmla="val 10"/>
                <a:gd name="f12" fmla="val 61"/>
                <a:gd name="f13" fmla="val 6"/>
                <a:gd name="f14" fmla="val 47"/>
                <a:gd name="f15" fmla="val 28"/>
                <a:gd name="f16" fmla="val 22"/>
                <a:gd name="f17" fmla="val 41"/>
                <a:gd name="f18" fmla="val 26"/>
                <a:gd name="f19" fmla="+- 0 0 -90"/>
                <a:gd name="f20" fmla="*/ f3 1 44"/>
                <a:gd name="f21" fmla="*/ f4 1 78"/>
                <a:gd name="f22" fmla="+- f7 0 f5"/>
                <a:gd name="f23" fmla="+- f6 0 f5"/>
                <a:gd name="f24" fmla="*/ f19 f0 1"/>
                <a:gd name="f25" fmla="*/ f23 1 44"/>
                <a:gd name="f26" fmla="*/ f22 1 78"/>
                <a:gd name="f27" fmla="*/ 31 f23 1"/>
                <a:gd name="f28" fmla="*/ 78 f22 1"/>
                <a:gd name="f29" fmla="*/ 19 f23 1"/>
                <a:gd name="f30" fmla="*/ 50 f22 1"/>
                <a:gd name="f31" fmla="*/ 10 f23 1"/>
                <a:gd name="f32" fmla="*/ 61 f22 1"/>
                <a:gd name="f33" fmla="*/ 0 f23 1"/>
                <a:gd name="f34" fmla="*/ 6 f22 1"/>
                <a:gd name="f35" fmla="*/ 0 f22 1"/>
                <a:gd name="f36" fmla="*/ 47 f22 1"/>
                <a:gd name="f37" fmla="*/ 28 f23 1"/>
                <a:gd name="f38" fmla="*/ 22 f22 1"/>
                <a:gd name="f39" fmla="*/ 41 f23 1"/>
                <a:gd name="f40" fmla="*/ 26 f23 1"/>
                <a:gd name="f41" fmla="*/ 41 f22 1"/>
                <a:gd name="f42" fmla="*/ 44 f23 1"/>
                <a:gd name="f43" fmla="*/ f24 1 f2"/>
                <a:gd name="f44" fmla="*/ f27 1 44"/>
                <a:gd name="f45" fmla="*/ f28 1 78"/>
                <a:gd name="f46" fmla="*/ f29 1 44"/>
                <a:gd name="f47" fmla="*/ f30 1 78"/>
                <a:gd name="f48" fmla="*/ f31 1 44"/>
                <a:gd name="f49" fmla="*/ f32 1 78"/>
                <a:gd name="f50" fmla="*/ f33 1 44"/>
                <a:gd name="f51" fmla="*/ f34 1 78"/>
                <a:gd name="f52" fmla="*/ f35 1 78"/>
                <a:gd name="f53" fmla="*/ f36 1 78"/>
                <a:gd name="f54" fmla="*/ f37 1 44"/>
                <a:gd name="f55" fmla="*/ f38 1 78"/>
                <a:gd name="f56" fmla="*/ f39 1 44"/>
                <a:gd name="f57" fmla="*/ f40 1 44"/>
                <a:gd name="f58" fmla="*/ f41 1 78"/>
                <a:gd name="f59" fmla="*/ f42 1 44"/>
                <a:gd name="f60" fmla="*/ 0 1 f25"/>
                <a:gd name="f61" fmla="*/ f6 1 f25"/>
                <a:gd name="f62" fmla="*/ 0 1 f26"/>
                <a:gd name="f63" fmla="*/ f7 1 f26"/>
                <a:gd name="f64" fmla="+- f43 0 f1"/>
                <a:gd name="f65" fmla="*/ f44 1 f25"/>
                <a:gd name="f66" fmla="*/ f45 1 f26"/>
                <a:gd name="f67" fmla="*/ f46 1 f25"/>
                <a:gd name="f68" fmla="*/ f47 1 f26"/>
                <a:gd name="f69" fmla="*/ f48 1 f25"/>
                <a:gd name="f70" fmla="*/ f49 1 f26"/>
                <a:gd name="f71" fmla="*/ f50 1 f25"/>
                <a:gd name="f72" fmla="*/ f51 1 f26"/>
                <a:gd name="f73" fmla="*/ f52 1 f26"/>
                <a:gd name="f74" fmla="*/ f53 1 f26"/>
                <a:gd name="f75" fmla="*/ f54 1 f25"/>
                <a:gd name="f76" fmla="*/ f55 1 f26"/>
                <a:gd name="f77" fmla="*/ f56 1 f25"/>
                <a:gd name="f78" fmla="*/ f57 1 f25"/>
                <a:gd name="f79" fmla="*/ f58 1 f26"/>
                <a:gd name="f80" fmla="*/ f59 1 f25"/>
                <a:gd name="f81" fmla="*/ f60 f20 1"/>
                <a:gd name="f82" fmla="*/ f61 f20 1"/>
                <a:gd name="f83" fmla="*/ f63 f21 1"/>
                <a:gd name="f84" fmla="*/ f62 f21 1"/>
                <a:gd name="f85" fmla="*/ f65 f20 1"/>
                <a:gd name="f86" fmla="*/ f66 f21 1"/>
                <a:gd name="f87" fmla="*/ f67 f20 1"/>
                <a:gd name="f88" fmla="*/ f68 f21 1"/>
                <a:gd name="f89" fmla="*/ f69 f20 1"/>
                <a:gd name="f90" fmla="*/ f70 f21 1"/>
                <a:gd name="f91" fmla="*/ f71 f20 1"/>
                <a:gd name="f92" fmla="*/ f72 f21 1"/>
                <a:gd name="f93" fmla="*/ f73 f21 1"/>
                <a:gd name="f94" fmla="*/ f74 f21 1"/>
                <a:gd name="f95" fmla="*/ f75 f20 1"/>
                <a:gd name="f96" fmla="*/ f76 f21 1"/>
                <a:gd name="f97" fmla="*/ f77 f20 1"/>
                <a:gd name="f98" fmla="*/ f78 f20 1"/>
                <a:gd name="f99" fmla="*/ f79 f21 1"/>
                <a:gd name="f100" fmla="*/ f80 f20 1"/>
              </a:gdLst>
              <a:ahLst/>
              <a:cxnLst>
                <a:cxn ang="3cd4">
                  <a:pos x="hc" y="t"/>
                </a:cxn>
                <a:cxn ang="0">
                  <a:pos x="r" y="vc"/>
                </a:cxn>
                <a:cxn ang="cd4">
                  <a:pos x="hc" y="b"/>
                </a:cxn>
                <a:cxn ang="cd2">
                  <a:pos x="l" y="vc"/>
                </a:cxn>
                <a:cxn ang="f64">
                  <a:pos x="f85" y="f86"/>
                </a:cxn>
                <a:cxn ang="f64">
                  <a:pos x="f87" y="f88"/>
                </a:cxn>
                <a:cxn ang="f64">
                  <a:pos x="f89" y="f90"/>
                </a:cxn>
                <a:cxn ang="f64">
                  <a:pos x="f89" y="f86"/>
                </a:cxn>
                <a:cxn ang="f64">
                  <a:pos x="f91" y="f86"/>
                </a:cxn>
                <a:cxn ang="f64">
                  <a:pos x="f91" y="f92"/>
                </a:cxn>
                <a:cxn ang="f64">
                  <a:pos x="f89" y="f93"/>
                </a:cxn>
                <a:cxn ang="f64">
                  <a:pos x="f89" y="f94"/>
                </a:cxn>
                <a:cxn ang="f64">
                  <a:pos x="f95" y="f96"/>
                </a:cxn>
                <a:cxn ang="f64">
                  <a:pos x="f97" y="f96"/>
                </a:cxn>
                <a:cxn ang="f64">
                  <a:pos x="f98" y="f99"/>
                </a:cxn>
                <a:cxn ang="f64">
                  <a:pos x="f100" y="f86"/>
                </a:cxn>
                <a:cxn ang="f64">
                  <a:pos x="f85" y="f86"/>
                </a:cxn>
              </a:cxnLst>
              <a:rect l="f81" t="f84" r="f82" b="f83"/>
              <a:pathLst>
                <a:path w="44" h="78">
                  <a:moveTo>
                    <a:pt x="f8" y="f7"/>
                  </a:moveTo>
                  <a:lnTo>
                    <a:pt x="f9" y="f10"/>
                  </a:lnTo>
                  <a:lnTo>
                    <a:pt x="f11" y="f12"/>
                  </a:lnTo>
                  <a:lnTo>
                    <a:pt x="f11" y="f7"/>
                  </a:lnTo>
                  <a:lnTo>
                    <a:pt x="f5" y="f7"/>
                  </a:lnTo>
                  <a:lnTo>
                    <a:pt x="f5" y="f13"/>
                  </a:lnTo>
                  <a:lnTo>
                    <a:pt x="f11" y="f5"/>
                  </a:lnTo>
                  <a:lnTo>
                    <a:pt x="f11" y="f14"/>
                  </a:lnTo>
                  <a:lnTo>
                    <a:pt x="f15" y="f16"/>
                  </a:lnTo>
                  <a:lnTo>
                    <a:pt x="f17" y="f16"/>
                  </a:lnTo>
                  <a:lnTo>
                    <a:pt x="f18" y="f17"/>
                  </a:lnTo>
                  <a:lnTo>
                    <a:pt x="f6" y="f7"/>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7" name="Freeform 69">
              <a:extLst>
                <a:ext uri="{FF2B5EF4-FFF2-40B4-BE49-F238E27FC236}">
                  <a16:creationId xmlns:a16="http://schemas.microsoft.com/office/drawing/2014/main" id="{970CFA1B-A03D-CDFF-A2BE-2A9D2F60A0AE}"/>
                </a:ext>
              </a:extLst>
            </p:cNvPr>
            <p:cNvSpPr/>
            <p:nvPr/>
          </p:nvSpPr>
          <p:spPr>
            <a:xfrm>
              <a:off x="2627564" y="6293924"/>
              <a:ext cx="74944" cy="102879"/>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5"/>
                <a:gd name="f11" fmla="val 10"/>
                <a:gd name="f12" fmla="val 23"/>
                <a:gd name="f13" fmla="val 9"/>
                <a:gd name="f14" fmla="val 22"/>
                <a:gd name="f15" fmla="val 8"/>
                <a:gd name="f16" fmla="val 20"/>
                <a:gd name="f17" fmla="val 18"/>
                <a:gd name="f18" fmla="val 7"/>
                <a:gd name="f19" fmla="val 17"/>
                <a:gd name="f20" fmla="val 15"/>
                <a:gd name="f21" fmla="val 13"/>
                <a:gd name="f22" fmla="val 12"/>
                <a:gd name="f23" fmla="val 11"/>
                <a:gd name="f24" fmla="val 14"/>
                <a:gd name="f25" fmla="val 16"/>
                <a:gd name="f26" fmla="val 19"/>
                <a:gd name="f27" fmla="val 21"/>
                <a:gd name="f28" fmla="val 24"/>
                <a:gd name="f29" fmla="val 26"/>
                <a:gd name="f30" fmla="val 27"/>
                <a:gd name="f31" fmla="val 31"/>
                <a:gd name="f32" fmla="val 33"/>
                <a:gd name="f33" fmla="val 34"/>
                <a:gd name="f34" fmla="val 36"/>
                <a:gd name="f35" fmla="val 37"/>
                <a:gd name="f36" fmla="val 38"/>
                <a:gd name="f37" fmla="val 39"/>
                <a:gd name="f38" fmla="val 5"/>
                <a:gd name="f39" fmla="val 2"/>
                <a:gd name="f40" fmla="val 35"/>
                <a:gd name="f41" fmla="val 30"/>
                <a:gd name="f42" fmla="val 6"/>
                <a:gd name="f43" fmla="val 32"/>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5 f50 1"/>
                <a:gd name="f57" fmla="*/ 10 f49 1"/>
                <a:gd name="f58" fmla="*/ 20 f50 1"/>
                <a:gd name="f59" fmla="*/ 8 f49 1"/>
                <a:gd name="f60" fmla="*/ 15 f50 1"/>
                <a:gd name="f61" fmla="*/ 7 f49 1"/>
                <a:gd name="f62" fmla="*/ 11 f50 1"/>
                <a:gd name="f63" fmla="*/ 9 f50 1"/>
                <a:gd name="f64" fmla="*/ 10 f50 1"/>
                <a:gd name="f65" fmla="*/ 12 f49 1"/>
                <a:gd name="f66" fmla="*/ 13 f49 1"/>
                <a:gd name="f67" fmla="*/ 13 f50 1"/>
                <a:gd name="f68" fmla="*/ 14 f49 1"/>
                <a:gd name="f69" fmla="*/ 17 f50 1"/>
                <a:gd name="f70" fmla="*/ 16 f49 1"/>
                <a:gd name="f71" fmla="*/ 22 f50 1"/>
                <a:gd name="f72" fmla="*/ 18 f49 1"/>
                <a:gd name="f73" fmla="*/ 26 f50 1"/>
                <a:gd name="f74" fmla="*/ 21 f49 1"/>
                <a:gd name="f75" fmla="*/ 29 f50 1"/>
                <a:gd name="f76" fmla="*/ 24 f49 1"/>
                <a:gd name="f77" fmla="*/ 29 f49 1"/>
                <a:gd name="f78" fmla="*/ 34 f49 1"/>
                <a:gd name="f79" fmla="*/ 38 f49 1"/>
                <a:gd name="f80" fmla="*/ 21 f50 1"/>
                <a:gd name="f81" fmla="*/ 40 f49 1"/>
                <a:gd name="f82" fmla="*/ 7 f50 1"/>
                <a:gd name="f83" fmla="*/ 39 f49 1"/>
                <a:gd name="f84" fmla="*/ 0 f50 1"/>
                <a:gd name="f85" fmla="*/ 35 f49 1"/>
                <a:gd name="f86" fmla="*/ 4 f50 1"/>
                <a:gd name="f87" fmla="*/ 30 f49 1"/>
                <a:gd name="f88" fmla="*/ 32 f49 1"/>
                <a:gd name="f89" fmla="*/ 33 f49 1"/>
                <a:gd name="f90" fmla="*/ 27 f49 1"/>
                <a:gd name="f91" fmla="*/ 26 f49 1"/>
                <a:gd name="f92" fmla="*/ 23 f49 1"/>
                <a:gd name="f93" fmla="*/ 8 f50 1"/>
                <a:gd name="f94" fmla="*/ 20 f49 1"/>
                <a:gd name="f95" fmla="*/ 2 f50 1"/>
                <a:gd name="f96" fmla="*/ 15 f49 1"/>
                <a:gd name="f97" fmla="*/ 11 f49 1"/>
                <a:gd name="f98" fmla="*/ 3 f50 1"/>
                <a:gd name="f99" fmla="*/ 6 f49 1"/>
                <a:gd name="f100" fmla="*/ 6 f50 1"/>
                <a:gd name="f101" fmla="*/ 3 f49 1"/>
                <a:gd name="f102" fmla="*/ 1 f49 1"/>
                <a:gd name="f103" fmla="*/ 0 f49 1"/>
                <a:gd name="f104" fmla="*/ f51 1 f2"/>
                <a:gd name="f105" fmla="*/ f54 1 29"/>
                <a:gd name="f106" fmla="*/ f55 1 40"/>
                <a:gd name="f107" fmla="*/ f56 1 29"/>
                <a:gd name="f108" fmla="*/ f57 1 40"/>
                <a:gd name="f109" fmla="*/ f58 1 29"/>
                <a:gd name="f110" fmla="*/ f59 1 40"/>
                <a:gd name="f111" fmla="*/ f60 1 29"/>
                <a:gd name="f112" fmla="*/ f61 1 40"/>
                <a:gd name="f113" fmla="*/ f62 1 29"/>
                <a:gd name="f114" fmla="*/ f63 1 29"/>
                <a:gd name="f115" fmla="*/ f64 1 29"/>
                <a:gd name="f116" fmla="*/ f65 1 40"/>
                <a:gd name="f117" fmla="*/ f66 1 40"/>
                <a:gd name="f118" fmla="*/ f67 1 29"/>
                <a:gd name="f119" fmla="*/ f68 1 40"/>
                <a:gd name="f120" fmla="*/ f69 1 29"/>
                <a:gd name="f121" fmla="*/ f70 1 40"/>
                <a:gd name="f122" fmla="*/ f71 1 29"/>
                <a:gd name="f123" fmla="*/ f72 1 40"/>
                <a:gd name="f124" fmla="*/ f73 1 29"/>
                <a:gd name="f125" fmla="*/ f74 1 40"/>
                <a:gd name="f126" fmla="*/ f75 1 29"/>
                <a:gd name="f127" fmla="*/ f76 1 40"/>
                <a:gd name="f128" fmla="*/ f77 1 40"/>
                <a:gd name="f129" fmla="*/ f78 1 40"/>
                <a:gd name="f130" fmla="*/ f79 1 40"/>
                <a:gd name="f131" fmla="*/ f80 1 29"/>
                <a:gd name="f132" fmla="*/ f81 1 40"/>
                <a:gd name="f133" fmla="*/ f82 1 29"/>
                <a:gd name="f134" fmla="*/ f83 1 40"/>
                <a:gd name="f135" fmla="*/ f84 1 29"/>
                <a:gd name="f136" fmla="*/ f85 1 40"/>
                <a:gd name="f137" fmla="*/ f86 1 29"/>
                <a:gd name="f138" fmla="*/ f87 1 40"/>
                <a:gd name="f139" fmla="*/ f88 1 40"/>
                <a:gd name="f140" fmla="*/ f89 1 40"/>
                <a:gd name="f141" fmla="*/ f90 1 40"/>
                <a:gd name="f142" fmla="*/ f91 1 40"/>
                <a:gd name="f143" fmla="*/ f92 1 40"/>
                <a:gd name="f144" fmla="*/ f93 1 29"/>
                <a:gd name="f145" fmla="*/ f94 1 40"/>
                <a:gd name="f146" fmla="*/ f95 1 29"/>
                <a:gd name="f147" fmla="*/ f96 1 40"/>
                <a:gd name="f148" fmla="*/ f97 1 40"/>
                <a:gd name="f149" fmla="*/ f98 1 29"/>
                <a:gd name="f150" fmla="*/ f99 1 40"/>
                <a:gd name="f151" fmla="*/ f100 1 29"/>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2"/>
                <a:gd name="f163" fmla="*/ f108 1 f53"/>
                <a:gd name="f164" fmla="*/ f109 1 f52"/>
                <a:gd name="f165" fmla="*/ f110 1 f53"/>
                <a:gd name="f166" fmla="*/ f111 1 f52"/>
                <a:gd name="f167" fmla="*/ f112 1 f53"/>
                <a:gd name="f168" fmla="*/ f113 1 f52"/>
                <a:gd name="f169" fmla="*/ f114 1 f52"/>
                <a:gd name="f170" fmla="*/ f115 1 f52"/>
                <a:gd name="f171" fmla="*/ f116 1 f53"/>
                <a:gd name="f172" fmla="*/ f117 1 f53"/>
                <a:gd name="f173" fmla="*/ f118 1 f52"/>
                <a:gd name="f174" fmla="*/ f119 1 f53"/>
                <a:gd name="f175" fmla="*/ f120 1 f52"/>
                <a:gd name="f176" fmla="*/ f121 1 f53"/>
                <a:gd name="f177" fmla="*/ f122 1 f52"/>
                <a:gd name="f178" fmla="*/ f123 1 f53"/>
                <a:gd name="f179" fmla="*/ f124 1 f52"/>
                <a:gd name="f180" fmla="*/ f125 1 f53"/>
                <a:gd name="f181" fmla="*/ f126 1 f52"/>
                <a:gd name="f182" fmla="*/ f127 1 f53"/>
                <a:gd name="f183" fmla="*/ f128 1 f53"/>
                <a:gd name="f184" fmla="*/ f129 1 f53"/>
                <a:gd name="f185" fmla="*/ f130 1 f53"/>
                <a:gd name="f186" fmla="*/ f131 1 f52"/>
                <a:gd name="f187" fmla="*/ f132 1 f53"/>
                <a:gd name="f188" fmla="*/ f133 1 f52"/>
                <a:gd name="f189" fmla="*/ f134 1 f53"/>
                <a:gd name="f190" fmla="*/ f135 1 f52"/>
                <a:gd name="f191" fmla="*/ f136 1 f53"/>
                <a:gd name="f192" fmla="*/ f137 1 f52"/>
                <a:gd name="f193" fmla="*/ f138 1 f53"/>
                <a:gd name="f194" fmla="*/ f139 1 f53"/>
                <a:gd name="f195" fmla="*/ f140 1 f53"/>
                <a:gd name="f196" fmla="*/ f141 1 f53"/>
                <a:gd name="f197" fmla="*/ f142 1 f53"/>
                <a:gd name="f198" fmla="*/ f143 1 f53"/>
                <a:gd name="f199" fmla="*/ f144 1 f52"/>
                <a:gd name="f200" fmla="*/ f145 1 f53"/>
                <a:gd name="f201" fmla="*/ f146 1 f52"/>
                <a:gd name="f202" fmla="*/ f147 1 f53"/>
                <a:gd name="f203" fmla="*/ f148 1 f53"/>
                <a:gd name="f204" fmla="*/ f149 1 f52"/>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7 1"/>
                <a:gd name="f217" fmla="*/ f163 f48 1"/>
                <a:gd name="f218" fmla="*/ f164 f47 1"/>
                <a:gd name="f219" fmla="*/ f165 f48 1"/>
                <a:gd name="f220" fmla="*/ f166 f47 1"/>
                <a:gd name="f221" fmla="*/ f167 f48 1"/>
                <a:gd name="f222" fmla="*/ f168 f47 1"/>
                <a:gd name="f223" fmla="*/ f169 f47 1"/>
                <a:gd name="f224" fmla="*/ f170 f47 1"/>
                <a:gd name="f225" fmla="*/ f171 f48 1"/>
                <a:gd name="f226" fmla="*/ f172 f48 1"/>
                <a:gd name="f227" fmla="*/ f173 f47 1"/>
                <a:gd name="f228" fmla="*/ f174 f48 1"/>
                <a:gd name="f229" fmla="*/ f175 f47 1"/>
                <a:gd name="f230" fmla="*/ f176 f48 1"/>
                <a:gd name="f231" fmla="*/ f177 f47 1"/>
                <a:gd name="f232" fmla="*/ f178 f48 1"/>
                <a:gd name="f233" fmla="*/ f179 f47 1"/>
                <a:gd name="f234" fmla="*/ f180 f48 1"/>
                <a:gd name="f235" fmla="*/ f181 f47 1"/>
                <a:gd name="f236" fmla="*/ f182 f48 1"/>
                <a:gd name="f237" fmla="*/ f183 f48 1"/>
                <a:gd name="f238" fmla="*/ f184 f48 1"/>
                <a:gd name="f239" fmla="*/ f185 f48 1"/>
                <a:gd name="f240" fmla="*/ f186 f47 1"/>
                <a:gd name="f241" fmla="*/ f187 f48 1"/>
                <a:gd name="f242" fmla="*/ f188 f47 1"/>
                <a:gd name="f243" fmla="*/ f189 f48 1"/>
                <a:gd name="f244" fmla="*/ f190 f47 1"/>
                <a:gd name="f245" fmla="*/ f191 f48 1"/>
                <a:gd name="f246" fmla="*/ f192 f47 1"/>
                <a:gd name="f247" fmla="*/ f193 f48 1"/>
                <a:gd name="f248" fmla="*/ f194 f48 1"/>
                <a:gd name="f249" fmla="*/ f195 f48 1"/>
                <a:gd name="f250" fmla="*/ f196 f48 1"/>
                <a:gd name="f251" fmla="*/ f197 f48 1"/>
                <a:gd name="f252" fmla="*/ f198 f48 1"/>
                <a:gd name="f253" fmla="*/ f199 f47 1"/>
                <a:gd name="f254" fmla="*/ f200 f48 1"/>
                <a:gd name="f255" fmla="*/ f201 f47 1"/>
                <a:gd name="f256" fmla="*/ f202 f48 1"/>
                <a:gd name="f257" fmla="*/ f203 f48 1"/>
                <a:gd name="f258" fmla="*/ f204 f47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6" y="f217"/>
                </a:cxn>
                <a:cxn ang="f159">
                  <a:pos x="f218" y="f219"/>
                </a:cxn>
                <a:cxn ang="f159">
                  <a:pos x="f220" y="f221"/>
                </a:cxn>
                <a:cxn ang="f159">
                  <a:pos x="f222" y="f219"/>
                </a:cxn>
                <a:cxn ang="f159">
                  <a:pos x="f223" y="f217"/>
                </a:cxn>
                <a:cxn ang="f159">
                  <a:pos x="f224" y="f225"/>
                </a:cxn>
                <a:cxn ang="f159">
                  <a:pos x="f222" y="f226"/>
                </a:cxn>
                <a:cxn ang="f159">
                  <a:pos x="f227" y="f228"/>
                </a:cxn>
                <a:cxn ang="f159">
                  <a:pos x="f229" y="f230"/>
                </a:cxn>
                <a:cxn ang="f159">
                  <a:pos x="f231" y="f232"/>
                </a:cxn>
                <a:cxn ang="f159">
                  <a:pos x="f233" y="f234"/>
                </a:cxn>
                <a:cxn ang="f159">
                  <a:pos x="f235" y="f236"/>
                </a:cxn>
                <a:cxn ang="f159">
                  <a:pos x="f235" y="f237"/>
                </a:cxn>
                <a:cxn ang="f159">
                  <a:pos x="f214" y="f238"/>
                </a:cxn>
                <a:cxn ang="f159">
                  <a:pos x="f216" y="f239"/>
                </a:cxn>
                <a:cxn ang="f159">
                  <a:pos x="f240" y="f241"/>
                </a:cxn>
                <a:cxn ang="f159">
                  <a:pos x="f220" y="f241"/>
                </a:cxn>
                <a:cxn ang="f159">
                  <a:pos x="f242" y="f243"/>
                </a:cxn>
                <a:cxn ang="f159">
                  <a:pos x="f244" y="f245"/>
                </a:cxn>
                <a:cxn ang="f159">
                  <a:pos x="f246" y="f247"/>
                </a:cxn>
                <a:cxn ang="f159">
                  <a:pos x="f223" y="f248"/>
                </a:cxn>
                <a:cxn ang="f159">
                  <a:pos x="f220" y="f249"/>
                </a:cxn>
                <a:cxn ang="f159">
                  <a:pos x="f218" y="f248"/>
                </a:cxn>
                <a:cxn ang="f159">
                  <a:pos x="f231" y="f237"/>
                </a:cxn>
                <a:cxn ang="f159">
                  <a:pos x="f240" y="f250"/>
                </a:cxn>
                <a:cxn ang="f159">
                  <a:pos x="f218" y="f251"/>
                </a:cxn>
                <a:cxn ang="f159">
                  <a:pos x="f229" y="f236"/>
                </a:cxn>
                <a:cxn ang="f159">
                  <a:pos x="f227" y="f252"/>
                </a:cxn>
                <a:cxn ang="f159">
                  <a:pos x="f253" y="f254"/>
                </a:cxn>
                <a:cxn ang="f159">
                  <a:pos x="f246" y="f232"/>
                </a:cxn>
                <a:cxn ang="f159">
                  <a:pos x="f255" y="f256"/>
                </a:cxn>
                <a:cxn ang="f159">
                  <a:pos x="f255" y="f257"/>
                </a:cxn>
                <a:cxn ang="f159">
                  <a:pos x="f258" y="f259"/>
                </a:cxn>
                <a:cxn ang="f159">
                  <a:pos x="f260" y="f261"/>
                </a:cxn>
                <a:cxn ang="f159">
                  <a:pos x="f224" y="f262"/>
                </a:cxn>
                <a:cxn ang="f159">
                  <a:pos x="f220" y="f263"/>
                </a:cxn>
                <a:cxn ang="f159">
                  <a:pos x="f231" y="f262"/>
                </a:cxn>
                <a:cxn ang="f159">
                  <a:pos x="f214" y="f215"/>
                </a:cxn>
              </a:cxnLst>
              <a:rect l="f210" t="f213" r="f211" b="f212"/>
              <a:pathLst>
                <a:path w="29" h="40">
                  <a:moveTo>
                    <a:pt x="f8" y="f9"/>
                  </a:moveTo>
                  <a:cubicBezTo>
                    <a:pt x="f10" y="f11"/>
                    <a:pt x="f10" y="f11"/>
                    <a:pt x="f10" y="f11"/>
                  </a:cubicBezTo>
                  <a:cubicBezTo>
                    <a:pt x="f12" y="f13"/>
                    <a:pt x="f14" y="f15"/>
                    <a:pt x="f16" y="f15"/>
                  </a:cubicBezTo>
                  <a:cubicBezTo>
                    <a:pt x="f17" y="f18"/>
                    <a:pt x="f19" y="f18"/>
                    <a:pt x="f20" y="f18"/>
                  </a:cubicBezTo>
                  <a:cubicBezTo>
                    <a:pt x="f21" y="f18"/>
                    <a:pt x="f22" y="f18"/>
                    <a:pt x="f23" y="f15"/>
                  </a:cubicBezTo>
                  <a:cubicBezTo>
                    <a:pt x="f11" y="f15"/>
                    <a:pt x="f13" y="f13"/>
                    <a:pt x="f13" y="f11"/>
                  </a:cubicBezTo>
                  <a:cubicBezTo>
                    <a:pt x="f13" y="f23"/>
                    <a:pt x="f11" y="f23"/>
                    <a:pt x="f11" y="f22"/>
                  </a:cubicBezTo>
                  <a:cubicBezTo>
                    <a:pt x="f11" y="f22"/>
                    <a:pt x="f11" y="f21"/>
                    <a:pt x="f23" y="f21"/>
                  </a:cubicBezTo>
                  <a:cubicBezTo>
                    <a:pt x="f23" y="f21"/>
                    <a:pt x="f22" y="f24"/>
                    <a:pt x="f21" y="f24"/>
                  </a:cubicBezTo>
                  <a:cubicBezTo>
                    <a:pt x="f24" y="f20"/>
                    <a:pt x="f20" y="f20"/>
                    <a:pt x="f19" y="f25"/>
                  </a:cubicBezTo>
                  <a:cubicBezTo>
                    <a:pt x="f26" y="f19"/>
                    <a:pt x="f27" y="f17"/>
                    <a:pt x="f14" y="f17"/>
                  </a:cubicBezTo>
                  <a:cubicBezTo>
                    <a:pt x="f28" y="f26"/>
                    <a:pt x="f10" y="f16"/>
                    <a:pt x="f29" y="f27"/>
                  </a:cubicBezTo>
                  <a:cubicBezTo>
                    <a:pt x="f30" y="f14"/>
                    <a:pt x="f8" y="f12"/>
                    <a:pt x="f6" y="f28"/>
                  </a:cubicBezTo>
                  <a:cubicBezTo>
                    <a:pt x="f6" y="f10"/>
                    <a:pt x="f6" y="f30"/>
                    <a:pt x="f6" y="f6"/>
                  </a:cubicBezTo>
                  <a:cubicBezTo>
                    <a:pt x="f6" y="f31"/>
                    <a:pt x="f6" y="f32"/>
                    <a:pt x="f8" y="f33"/>
                  </a:cubicBezTo>
                  <a:cubicBezTo>
                    <a:pt x="f8" y="f34"/>
                    <a:pt x="f29" y="f35"/>
                    <a:pt x="f10" y="f36"/>
                  </a:cubicBezTo>
                  <a:cubicBezTo>
                    <a:pt x="f28" y="f37"/>
                    <a:pt x="f14" y="f37"/>
                    <a:pt x="f27" y="f7"/>
                  </a:cubicBezTo>
                  <a:cubicBezTo>
                    <a:pt x="f26" y="f7"/>
                    <a:pt x="f19" y="f7"/>
                    <a:pt x="f20" y="f7"/>
                  </a:cubicBezTo>
                  <a:cubicBezTo>
                    <a:pt x="f21" y="f7"/>
                    <a:pt x="f11" y="f7"/>
                    <a:pt x="f18" y="f37"/>
                  </a:cubicBezTo>
                  <a:cubicBezTo>
                    <a:pt x="f38" y="f36"/>
                    <a:pt x="f39" y="f35"/>
                    <a:pt x="f5" y="f40"/>
                  </a:cubicBezTo>
                  <a:cubicBezTo>
                    <a:pt x="f9" y="f41"/>
                    <a:pt x="f9" y="f41"/>
                    <a:pt x="f9" y="f41"/>
                  </a:cubicBezTo>
                  <a:cubicBezTo>
                    <a:pt x="f42" y="f31"/>
                    <a:pt x="f18" y="f43"/>
                    <a:pt x="f13" y="f43"/>
                  </a:cubicBezTo>
                  <a:cubicBezTo>
                    <a:pt x="f23" y="f32"/>
                    <a:pt x="f21" y="f32"/>
                    <a:pt x="f20" y="f32"/>
                  </a:cubicBezTo>
                  <a:cubicBezTo>
                    <a:pt x="f19" y="f32"/>
                    <a:pt x="f26" y="f32"/>
                    <a:pt x="f16" y="f43"/>
                  </a:cubicBezTo>
                  <a:cubicBezTo>
                    <a:pt x="f27" y="f31"/>
                    <a:pt x="f14" y="f41"/>
                    <a:pt x="f14" y="f6"/>
                  </a:cubicBezTo>
                  <a:cubicBezTo>
                    <a:pt x="f14" y="f8"/>
                    <a:pt x="f14" y="f8"/>
                    <a:pt x="f27" y="f30"/>
                  </a:cubicBezTo>
                  <a:cubicBezTo>
                    <a:pt x="f27" y="f30"/>
                    <a:pt x="f16" y="f29"/>
                    <a:pt x="f16" y="f29"/>
                  </a:cubicBezTo>
                  <a:cubicBezTo>
                    <a:pt x="f26" y="f10"/>
                    <a:pt x="f17" y="f10"/>
                    <a:pt x="f19" y="f28"/>
                  </a:cubicBezTo>
                  <a:cubicBezTo>
                    <a:pt x="f25" y="f28"/>
                    <a:pt x="f20" y="f12"/>
                    <a:pt x="f21" y="f12"/>
                  </a:cubicBezTo>
                  <a:cubicBezTo>
                    <a:pt x="f23" y="f14"/>
                    <a:pt x="f13" y="f27"/>
                    <a:pt x="f15" y="f16"/>
                  </a:cubicBezTo>
                  <a:cubicBezTo>
                    <a:pt x="f42" y="f26"/>
                    <a:pt x="f38" y="f26"/>
                    <a:pt x="f9" y="f17"/>
                  </a:cubicBezTo>
                  <a:cubicBezTo>
                    <a:pt x="f44" y="f19"/>
                    <a:pt x="f44" y="f25"/>
                    <a:pt x="f39" y="f20"/>
                  </a:cubicBezTo>
                  <a:cubicBezTo>
                    <a:pt x="f39" y="f21"/>
                    <a:pt x="f39" y="f22"/>
                    <a:pt x="f39" y="f23"/>
                  </a:cubicBezTo>
                  <a:cubicBezTo>
                    <a:pt x="f39" y="f13"/>
                    <a:pt x="f39" y="f18"/>
                    <a:pt x="f44" y="f42"/>
                  </a:cubicBezTo>
                  <a:cubicBezTo>
                    <a:pt x="f44" y="f38"/>
                    <a:pt x="f9" y="f9"/>
                    <a:pt x="f42" y="f44"/>
                  </a:cubicBezTo>
                  <a:cubicBezTo>
                    <a:pt x="f18" y="f39"/>
                    <a:pt x="f15" y="f45"/>
                    <a:pt x="f11" y="f45"/>
                  </a:cubicBezTo>
                  <a:cubicBezTo>
                    <a:pt x="f23" y="f5"/>
                    <a:pt x="f21" y="f5"/>
                    <a:pt x="f20" y="f5"/>
                  </a:cubicBezTo>
                  <a:cubicBezTo>
                    <a:pt x="f19" y="f5"/>
                    <a:pt x="f16" y="f5"/>
                    <a:pt x="f14" y="f45"/>
                  </a:cubicBezTo>
                  <a:cubicBezTo>
                    <a:pt x="f28" y="f39"/>
                    <a:pt x="f29"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8" name="Freeform 70">
              <a:extLst>
                <a:ext uri="{FF2B5EF4-FFF2-40B4-BE49-F238E27FC236}">
                  <a16:creationId xmlns:a16="http://schemas.microsoft.com/office/drawing/2014/main" id="{BCD00D7E-C4B1-E285-2D8F-CFC700089200}"/>
                </a:ext>
              </a:extLst>
            </p:cNvPr>
            <p:cNvSpPr/>
            <p:nvPr/>
          </p:nvSpPr>
          <p:spPr>
            <a:xfrm>
              <a:off x="2721675" y="6365421"/>
              <a:ext cx="27880" cy="31391"/>
            </a:xfrm>
            <a:custGeom>
              <a:avLst/>
              <a:gdLst>
                <a:gd name="f0" fmla="val 10800000"/>
                <a:gd name="f1" fmla="val 5400000"/>
                <a:gd name="f2" fmla="val 180"/>
                <a:gd name="f3" fmla="val w"/>
                <a:gd name="f4" fmla="val h"/>
                <a:gd name="f5" fmla="val 0"/>
                <a:gd name="f6" fmla="val 11"/>
                <a:gd name="f7" fmla="val 12"/>
                <a:gd name="f8" fmla="val 6"/>
                <a:gd name="f9" fmla="val 7"/>
                <a:gd name="f10" fmla="val 8"/>
                <a:gd name="f11" fmla="val 9"/>
                <a:gd name="f12" fmla="val 10"/>
                <a:gd name="f13" fmla="val 5"/>
                <a:gd name="f14" fmla="val 4"/>
                <a:gd name="f15" fmla="val 3"/>
                <a:gd name="f16" fmla="val 2"/>
                <a:gd name="f17" fmla="val 1"/>
                <a:gd name="f18" fmla="+- 0 0 -90"/>
                <a:gd name="f19" fmla="*/ f3 1 11"/>
                <a:gd name="f20" fmla="*/ f4 1 12"/>
                <a:gd name="f21" fmla="+- f7 0 f5"/>
                <a:gd name="f22" fmla="+- f6 0 f5"/>
                <a:gd name="f23" fmla="*/ f18 f0 1"/>
                <a:gd name="f24" fmla="*/ f22 1 11"/>
                <a:gd name="f25" fmla="*/ f21 1 12"/>
                <a:gd name="f26" fmla="*/ 11 f22 1"/>
                <a:gd name="f27" fmla="*/ 6 f21 1"/>
                <a:gd name="f28" fmla="*/ 9 f21 1"/>
                <a:gd name="f29" fmla="*/ 10 f22 1"/>
                <a:gd name="f30" fmla="*/ 10 f21 1"/>
                <a:gd name="f31" fmla="*/ 8 f22 1"/>
                <a:gd name="f32" fmla="*/ 12 f21 1"/>
                <a:gd name="f33" fmla="*/ 6 f22 1"/>
                <a:gd name="f34" fmla="*/ 3 f22 1"/>
                <a:gd name="f35" fmla="*/ 1 f22 1"/>
                <a:gd name="f36" fmla="*/ 0 f22 1"/>
                <a:gd name="f37" fmla="*/ 4 f21 1"/>
                <a:gd name="f38" fmla="*/ 2 f21 1"/>
                <a:gd name="f39" fmla="*/ 1 f21 1"/>
                <a:gd name="f40" fmla="*/ 0 f21 1"/>
                <a:gd name="f41" fmla="*/ f23 1 f2"/>
                <a:gd name="f42" fmla="*/ f26 1 11"/>
                <a:gd name="f43" fmla="*/ f27 1 12"/>
                <a:gd name="f44" fmla="*/ f28 1 12"/>
                <a:gd name="f45" fmla="*/ f29 1 11"/>
                <a:gd name="f46" fmla="*/ f30 1 12"/>
                <a:gd name="f47" fmla="*/ f31 1 11"/>
                <a:gd name="f48" fmla="*/ f32 1 12"/>
                <a:gd name="f49" fmla="*/ f33 1 11"/>
                <a:gd name="f50" fmla="*/ f34 1 11"/>
                <a:gd name="f51" fmla="*/ f35 1 11"/>
                <a:gd name="f52" fmla="*/ f36 1 11"/>
                <a:gd name="f53" fmla="*/ f37 1 12"/>
                <a:gd name="f54" fmla="*/ f38 1 12"/>
                <a:gd name="f55" fmla="*/ f39 1 12"/>
                <a:gd name="f56" fmla="*/ f40 1 12"/>
                <a:gd name="f57" fmla="*/ 0 1 f24"/>
                <a:gd name="f58" fmla="*/ f6 1 f24"/>
                <a:gd name="f59" fmla="*/ 0 1 f25"/>
                <a:gd name="f60" fmla="*/ f7 1 f25"/>
                <a:gd name="f61" fmla="+- f41 0 f1"/>
                <a:gd name="f62" fmla="*/ f42 1 f24"/>
                <a:gd name="f63" fmla="*/ f43 1 f25"/>
                <a:gd name="f64" fmla="*/ f44 1 f25"/>
                <a:gd name="f65" fmla="*/ f45 1 f24"/>
                <a:gd name="f66" fmla="*/ f46 1 f25"/>
                <a:gd name="f67" fmla="*/ f47 1 f24"/>
                <a:gd name="f68" fmla="*/ f48 1 f25"/>
                <a:gd name="f69" fmla="*/ f49 1 f24"/>
                <a:gd name="f70" fmla="*/ f50 1 f24"/>
                <a:gd name="f71" fmla="*/ f51 1 f24"/>
                <a:gd name="f72" fmla="*/ f52 1 f24"/>
                <a:gd name="f73" fmla="*/ f53 1 f25"/>
                <a:gd name="f74" fmla="*/ f54 1 f25"/>
                <a:gd name="f75" fmla="*/ f55 1 f25"/>
                <a:gd name="f76" fmla="*/ f56 1 f25"/>
                <a:gd name="f77" fmla="*/ f57 f19 1"/>
                <a:gd name="f78" fmla="*/ f58 f19 1"/>
                <a:gd name="f79" fmla="*/ f60 f20 1"/>
                <a:gd name="f80" fmla="*/ f59 f20 1"/>
                <a:gd name="f81" fmla="*/ f62 f19 1"/>
                <a:gd name="f82" fmla="*/ f63 f20 1"/>
                <a:gd name="f83" fmla="*/ f64 f20 1"/>
                <a:gd name="f84" fmla="*/ f65 f19 1"/>
                <a:gd name="f85" fmla="*/ f66 f20 1"/>
                <a:gd name="f86" fmla="*/ f67 f19 1"/>
                <a:gd name="f87" fmla="*/ f68 f20 1"/>
                <a:gd name="f88" fmla="*/ f69 f19 1"/>
                <a:gd name="f89" fmla="*/ f70 f19 1"/>
                <a:gd name="f90" fmla="*/ f71 f19 1"/>
                <a:gd name="f91" fmla="*/ f72 f19 1"/>
                <a:gd name="f92" fmla="*/ f73 f20 1"/>
                <a:gd name="f93" fmla="*/ f74 f20 1"/>
                <a:gd name="f94" fmla="*/ f75 f20 1"/>
                <a:gd name="f95" fmla="*/ f76 f20 1"/>
              </a:gdLst>
              <a:ahLst/>
              <a:cxnLst>
                <a:cxn ang="3cd4">
                  <a:pos x="hc" y="t"/>
                </a:cxn>
                <a:cxn ang="0">
                  <a:pos x="r" y="vc"/>
                </a:cxn>
                <a:cxn ang="cd4">
                  <a:pos x="hc" y="b"/>
                </a:cxn>
                <a:cxn ang="cd2">
                  <a:pos x="l" y="vc"/>
                </a:cxn>
                <a:cxn ang="f61">
                  <a:pos x="f81" y="f82"/>
                </a:cxn>
                <a:cxn ang="f61">
                  <a:pos x="f81" y="f83"/>
                </a:cxn>
                <a:cxn ang="f61">
                  <a:pos x="f84" y="f85"/>
                </a:cxn>
                <a:cxn ang="f61">
                  <a:pos x="f86" y="f87"/>
                </a:cxn>
                <a:cxn ang="f61">
                  <a:pos x="f88" y="f87"/>
                </a:cxn>
                <a:cxn ang="f61">
                  <a:pos x="f89" y="f87"/>
                </a:cxn>
                <a:cxn ang="f61">
                  <a:pos x="f90" y="f85"/>
                </a:cxn>
                <a:cxn ang="f61">
                  <a:pos x="f91" y="f83"/>
                </a:cxn>
                <a:cxn ang="f61">
                  <a:pos x="f91" y="f82"/>
                </a:cxn>
                <a:cxn ang="f61">
                  <a:pos x="f91" y="f92"/>
                </a:cxn>
                <a:cxn ang="f61">
                  <a:pos x="f90" y="f93"/>
                </a:cxn>
                <a:cxn ang="f61">
                  <a:pos x="f89" y="f94"/>
                </a:cxn>
                <a:cxn ang="f61">
                  <a:pos x="f88" y="f95"/>
                </a:cxn>
                <a:cxn ang="f61">
                  <a:pos x="f86" y="f94"/>
                </a:cxn>
                <a:cxn ang="f61">
                  <a:pos x="f84" y="f93"/>
                </a:cxn>
                <a:cxn ang="f61">
                  <a:pos x="f81" y="f92"/>
                </a:cxn>
                <a:cxn ang="f61">
                  <a:pos x="f81" y="f82"/>
                </a:cxn>
              </a:cxnLst>
              <a:rect l="f77" t="f80" r="f78" b="f79"/>
              <a:pathLst>
                <a:path w="11" h="12">
                  <a:moveTo>
                    <a:pt x="f6" y="f8"/>
                  </a:moveTo>
                  <a:cubicBezTo>
                    <a:pt x="f6" y="f9"/>
                    <a:pt x="f6" y="f10"/>
                    <a:pt x="f6" y="f11"/>
                  </a:cubicBezTo>
                  <a:cubicBezTo>
                    <a:pt x="f6" y="f11"/>
                    <a:pt x="f12" y="f12"/>
                    <a:pt x="f12" y="f12"/>
                  </a:cubicBezTo>
                  <a:cubicBezTo>
                    <a:pt x="f11" y="f6"/>
                    <a:pt x="f11" y="f6"/>
                    <a:pt x="f10" y="f7"/>
                  </a:cubicBezTo>
                  <a:cubicBezTo>
                    <a:pt x="f9" y="f7"/>
                    <a:pt x="f8" y="f7"/>
                    <a:pt x="f8" y="f7"/>
                  </a:cubicBezTo>
                  <a:cubicBezTo>
                    <a:pt x="f13" y="f7"/>
                    <a:pt x="f14" y="f7"/>
                    <a:pt x="f15" y="f7"/>
                  </a:cubicBezTo>
                  <a:cubicBezTo>
                    <a:pt x="f15" y="f6"/>
                    <a:pt x="f16" y="f6"/>
                    <a:pt x="f17" y="f12"/>
                  </a:cubicBezTo>
                  <a:cubicBezTo>
                    <a:pt x="f17" y="f12"/>
                    <a:pt x="f17" y="f11"/>
                    <a:pt x="f5" y="f11"/>
                  </a:cubicBezTo>
                  <a:cubicBezTo>
                    <a:pt x="f5" y="f10"/>
                    <a:pt x="f5" y="f9"/>
                    <a:pt x="f5" y="f8"/>
                  </a:cubicBezTo>
                  <a:cubicBezTo>
                    <a:pt x="f5" y="f8"/>
                    <a:pt x="f5" y="f13"/>
                    <a:pt x="f5" y="f14"/>
                  </a:cubicBezTo>
                  <a:cubicBezTo>
                    <a:pt x="f17" y="f15"/>
                    <a:pt x="f17" y="f15"/>
                    <a:pt x="f17" y="f16"/>
                  </a:cubicBezTo>
                  <a:cubicBezTo>
                    <a:pt x="f16" y="f16"/>
                    <a:pt x="f15" y="f17"/>
                    <a:pt x="f15" y="f17"/>
                  </a:cubicBezTo>
                  <a:cubicBezTo>
                    <a:pt x="f14" y="f17"/>
                    <a:pt x="f13" y="f5"/>
                    <a:pt x="f8" y="f5"/>
                  </a:cubicBezTo>
                  <a:cubicBezTo>
                    <a:pt x="f8" y="f5"/>
                    <a:pt x="f9" y="f17"/>
                    <a:pt x="f10" y="f17"/>
                  </a:cubicBezTo>
                  <a:cubicBezTo>
                    <a:pt x="f11" y="f17"/>
                    <a:pt x="f11" y="f16"/>
                    <a:pt x="f12" y="f16"/>
                  </a:cubicBezTo>
                  <a:cubicBezTo>
                    <a:pt x="f12" y="f15"/>
                    <a:pt x="f6" y="f15"/>
                    <a:pt x="f6" y="f14"/>
                  </a:cubicBezTo>
                  <a:cubicBezTo>
                    <a:pt x="f6" y="f13"/>
                    <a:pt x="f6" y="f8"/>
                    <a:pt x="f6"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grpSp>
      <p:sp>
        <p:nvSpPr>
          <p:cNvPr id="69" name="Title 1">
            <a:extLst>
              <a:ext uri="{FF2B5EF4-FFF2-40B4-BE49-F238E27FC236}">
                <a16:creationId xmlns:a16="http://schemas.microsoft.com/office/drawing/2014/main" id="{73F6CA5F-D050-88EE-C8E9-4E9DEDF40FD9}"/>
              </a:ext>
            </a:extLst>
          </p:cNvPr>
          <p:cNvSpPr txBox="1">
            <a:spLocks noGrp="1"/>
          </p:cNvSpPr>
          <p:nvPr>
            <p:ph type="title"/>
          </p:nvPr>
        </p:nvSpPr>
        <p:spPr>
          <a:xfrm>
            <a:off x="944392" y="2158331"/>
            <a:ext cx="3998351" cy="860395"/>
          </a:xfrm>
        </p:spPr>
        <p:txBody>
          <a:bodyPr/>
          <a:lstStyle>
            <a:lvl1pPr>
              <a:defRPr sz="2999"/>
            </a:lvl1pPr>
          </a:lstStyle>
          <a:p>
            <a:pPr lvl="0"/>
            <a:r>
              <a:rPr lang="en-US"/>
              <a:t>Click to edit Master title style</a:t>
            </a:r>
            <a:endParaRPr lang="en-GB"/>
          </a:p>
        </p:txBody>
      </p:sp>
      <p:sp>
        <p:nvSpPr>
          <p:cNvPr id="70" name="Subtitle 2">
            <a:extLst>
              <a:ext uri="{FF2B5EF4-FFF2-40B4-BE49-F238E27FC236}">
                <a16:creationId xmlns:a16="http://schemas.microsoft.com/office/drawing/2014/main" id="{DE75FBF8-5CA2-574B-42F8-1C1B9BDFE99A}"/>
              </a:ext>
            </a:extLst>
          </p:cNvPr>
          <p:cNvSpPr txBox="1">
            <a:spLocks noGrp="1"/>
          </p:cNvSpPr>
          <p:nvPr>
            <p:ph type="subTitle" idx="4294967295"/>
          </p:nvPr>
        </p:nvSpPr>
        <p:spPr>
          <a:xfrm>
            <a:off x="944584" y="3200326"/>
            <a:ext cx="4018531" cy="645740"/>
          </a:xfrm>
        </p:spPr>
        <p:txBody>
          <a:bodyPr/>
          <a:lstStyle>
            <a:lvl1pPr marL="0" indent="0">
              <a:buNone/>
              <a:defRPr>
                <a:cs typeface="Arial" pitchFamily="34"/>
              </a:defRPr>
            </a:lvl1pPr>
          </a:lstStyle>
          <a:p>
            <a:pPr lvl="0"/>
            <a:r>
              <a:rPr lang="en-US"/>
              <a:t>Click to edit Master subtitle style</a:t>
            </a:r>
            <a:endParaRPr lang="en-GB"/>
          </a:p>
        </p:txBody>
      </p:sp>
      <p:grpSp>
        <p:nvGrpSpPr>
          <p:cNvPr id="71" name="Group 76">
            <a:extLst>
              <a:ext uri="{FF2B5EF4-FFF2-40B4-BE49-F238E27FC236}">
                <a16:creationId xmlns:a16="http://schemas.microsoft.com/office/drawing/2014/main" id="{716128DB-3344-B485-E884-23BA888E4433}"/>
              </a:ext>
            </a:extLst>
          </p:cNvPr>
          <p:cNvGrpSpPr/>
          <p:nvPr/>
        </p:nvGrpSpPr>
        <p:grpSpPr>
          <a:xfrm>
            <a:off x="489112" y="876059"/>
            <a:ext cx="4852766" cy="3374474"/>
            <a:chOff x="489112" y="876059"/>
            <a:chExt cx="4852766" cy="3374474"/>
          </a:xfrm>
        </p:grpSpPr>
        <p:sp>
          <p:nvSpPr>
            <p:cNvPr id="72" name="Freeform: Shape 77">
              <a:extLst>
                <a:ext uri="{FF2B5EF4-FFF2-40B4-BE49-F238E27FC236}">
                  <a16:creationId xmlns:a16="http://schemas.microsoft.com/office/drawing/2014/main" id="{49E59027-DEA4-5980-DBBD-07D4EF1644C1}"/>
                </a:ext>
              </a:extLst>
            </p:cNvPr>
            <p:cNvSpPr/>
            <p:nvPr/>
          </p:nvSpPr>
          <p:spPr>
            <a:xfrm>
              <a:off x="489112" y="876059"/>
              <a:ext cx="4852766" cy="3374474"/>
            </a:xfrm>
            <a:custGeom>
              <a:avLst/>
              <a:gdLst>
                <a:gd name="f0" fmla="val 10800000"/>
                <a:gd name="f1" fmla="val 5400000"/>
                <a:gd name="f2" fmla="val 180"/>
                <a:gd name="f3" fmla="val w"/>
                <a:gd name="f4" fmla="val h"/>
                <a:gd name="f5" fmla="val 0"/>
                <a:gd name="f6" fmla="val 4855294"/>
                <a:gd name="f7" fmla="val 3374474"/>
                <a:gd name="f8" fmla="val 6731"/>
                <a:gd name="f9" fmla="val 863542"/>
                <a:gd name="f10" fmla="val 3095901"/>
                <a:gd name="f11" fmla="val 145659"/>
                <a:gd name="f12" fmla="val 988380"/>
                <a:gd name="f13" fmla="val 4715918"/>
                <a:gd name="f14" fmla="val 179673"/>
                <a:gd name="f15" fmla="val 3234829"/>
                <a:gd name="f16" fmla="val 840208"/>
                <a:gd name="f17" fmla="val 3373757"/>
                <a:gd name="f18" fmla="val 4854846"/>
                <a:gd name="f19" fmla="+- 0 0 -90"/>
                <a:gd name="f20" fmla="*/ f3 1 4855294"/>
                <a:gd name="f21" fmla="*/ f4 1 3374474"/>
                <a:gd name="f22" fmla="+- f7 0 f5"/>
                <a:gd name="f23" fmla="+- f6 0 f5"/>
                <a:gd name="f24" fmla="*/ f19 f0 1"/>
                <a:gd name="f25" fmla="*/ f23 1 4855294"/>
                <a:gd name="f26" fmla="*/ f22 1 3374474"/>
                <a:gd name="f27" fmla="*/ 6731 f23 1"/>
                <a:gd name="f28" fmla="*/ 863542 f22 1"/>
                <a:gd name="f29" fmla="*/ 3095901 f22 1"/>
                <a:gd name="f30" fmla="*/ 145659 f23 1"/>
                <a:gd name="f31" fmla="*/ 988380 f22 1"/>
                <a:gd name="f32" fmla="*/ 4715918 f23 1"/>
                <a:gd name="f33" fmla="*/ 179673 f22 1"/>
                <a:gd name="f34" fmla="*/ 3234829 f22 1"/>
                <a:gd name="f35" fmla="*/ 840208 f23 1"/>
                <a:gd name="f36" fmla="*/ 3373757 f22 1"/>
                <a:gd name="f37" fmla="*/ 4854846 f23 1"/>
                <a:gd name="f38" fmla="*/ 6731 f22 1"/>
                <a:gd name="f39" fmla="*/ f24 1 f2"/>
                <a:gd name="f40" fmla="*/ f27 1 4855294"/>
                <a:gd name="f41" fmla="*/ f28 1 3374474"/>
                <a:gd name="f42" fmla="*/ f29 1 3374474"/>
                <a:gd name="f43" fmla="*/ f30 1 4855294"/>
                <a:gd name="f44" fmla="*/ f31 1 3374474"/>
                <a:gd name="f45" fmla="*/ f32 1 4855294"/>
                <a:gd name="f46" fmla="*/ f33 1 3374474"/>
                <a:gd name="f47" fmla="*/ f34 1 3374474"/>
                <a:gd name="f48" fmla="*/ f35 1 4855294"/>
                <a:gd name="f49" fmla="*/ f36 1 3374474"/>
                <a:gd name="f50" fmla="*/ f37 1 4855294"/>
                <a:gd name="f51" fmla="*/ f38 1 3374474"/>
                <a:gd name="f52" fmla="*/ f5 1 f25"/>
                <a:gd name="f53" fmla="*/ f6 1 f25"/>
                <a:gd name="f54" fmla="*/ f5 1 f26"/>
                <a:gd name="f55" fmla="*/ f7 1 f26"/>
                <a:gd name="f56" fmla="+- f39 0 f1"/>
                <a:gd name="f57" fmla="*/ f40 1 f25"/>
                <a:gd name="f58" fmla="*/ f41 1 f26"/>
                <a:gd name="f59" fmla="*/ f42 1 f26"/>
                <a:gd name="f60" fmla="*/ f43 1 f25"/>
                <a:gd name="f61" fmla="*/ f44 1 f26"/>
                <a:gd name="f62" fmla="*/ f45 1 f25"/>
                <a:gd name="f63" fmla="*/ f46 1 f26"/>
                <a:gd name="f64" fmla="*/ f47 1 f26"/>
                <a:gd name="f65" fmla="*/ f48 1 f25"/>
                <a:gd name="f66" fmla="*/ f49 1 f26"/>
                <a:gd name="f67" fmla="*/ f50 1 f25"/>
                <a:gd name="f68" fmla="*/ f51 1 f26"/>
                <a:gd name="f69" fmla="*/ f52 f20 1"/>
                <a:gd name="f70" fmla="*/ f53 f20 1"/>
                <a:gd name="f71" fmla="*/ f55 f21 1"/>
                <a:gd name="f72" fmla="*/ f54 f21 1"/>
                <a:gd name="f73" fmla="*/ f57 f20 1"/>
                <a:gd name="f74" fmla="*/ f58 f21 1"/>
                <a:gd name="f75" fmla="*/ f59 f21 1"/>
                <a:gd name="f76" fmla="*/ f60 f20 1"/>
                <a:gd name="f77" fmla="*/ f61 f21 1"/>
                <a:gd name="f78" fmla="*/ f62 f20 1"/>
                <a:gd name="f79" fmla="*/ f63 f21 1"/>
                <a:gd name="f80" fmla="*/ f64 f21 1"/>
                <a:gd name="f81" fmla="*/ f65 f20 1"/>
                <a:gd name="f82" fmla="*/ f66 f21 1"/>
                <a:gd name="f83" fmla="*/ f67 f20 1"/>
                <a:gd name="f84" fmla="*/ f68 f21 1"/>
              </a:gdLst>
              <a:ahLst/>
              <a:cxnLst>
                <a:cxn ang="3cd4">
                  <a:pos x="hc" y="t"/>
                </a:cxn>
                <a:cxn ang="0">
                  <a:pos x="r" y="vc"/>
                </a:cxn>
                <a:cxn ang="cd4">
                  <a:pos x="hc" y="b"/>
                </a:cxn>
                <a:cxn ang="cd2">
                  <a:pos x="l" y="vc"/>
                </a:cxn>
                <a:cxn ang="f56">
                  <a:pos x="f73" y="f74"/>
                </a:cxn>
                <a:cxn ang="f56">
                  <a:pos x="f73" y="f75"/>
                </a:cxn>
                <a:cxn ang="f56">
                  <a:pos x="f76" y="f75"/>
                </a:cxn>
                <a:cxn ang="f56">
                  <a:pos x="f76" y="f77"/>
                </a:cxn>
                <a:cxn ang="f56">
                  <a:pos x="f78" y="f79"/>
                </a:cxn>
                <a:cxn ang="f56">
                  <a:pos x="f78" y="f80"/>
                </a:cxn>
                <a:cxn ang="f56">
                  <a:pos x="f81" y="f80"/>
                </a:cxn>
                <a:cxn ang="f56">
                  <a:pos x="f81" y="f82"/>
                </a:cxn>
                <a:cxn ang="f56">
                  <a:pos x="f83" y="f82"/>
                </a:cxn>
                <a:cxn ang="f56">
                  <a:pos x="f83" y="f84"/>
                </a:cxn>
                <a:cxn ang="f56">
                  <a:pos x="f73" y="f74"/>
                </a:cxn>
              </a:cxnLst>
              <a:rect l="f69" t="f72" r="f70" b="f71"/>
              <a:pathLst>
                <a:path w="4855294" h="3374474">
                  <a:moveTo>
                    <a:pt x="f8" y="f9"/>
                  </a:moveTo>
                  <a:lnTo>
                    <a:pt x="f8" y="f10"/>
                  </a:lnTo>
                  <a:lnTo>
                    <a:pt x="f11" y="f10"/>
                  </a:lnTo>
                  <a:lnTo>
                    <a:pt x="f11" y="f12"/>
                  </a:lnTo>
                  <a:lnTo>
                    <a:pt x="f13" y="f14"/>
                  </a:lnTo>
                  <a:lnTo>
                    <a:pt x="f13" y="f15"/>
                  </a:lnTo>
                  <a:lnTo>
                    <a:pt x="f16" y="f15"/>
                  </a:lnTo>
                  <a:lnTo>
                    <a:pt x="f16" y="f17"/>
                  </a:lnTo>
                  <a:lnTo>
                    <a:pt x="f18" y="f17"/>
                  </a:lnTo>
                  <a:lnTo>
                    <a:pt x="f18" y="f8"/>
                  </a:lnTo>
                  <a:lnTo>
                    <a:pt x="f8" y="f9"/>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3" name="Freeform: Shape 78">
              <a:extLst>
                <a:ext uri="{FF2B5EF4-FFF2-40B4-BE49-F238E27FC236}">
                  <a16:creationId xmlns:a16="http://schemas.microsoft.com/office/drawing/2014/main" id="{2D54A269-97A1-7D72-3E02-2E9420FD34ED}"/>
                </a:ext>
              </a:extLst>
            </p:cNvPr>
            <p:cNvSpPr/>
            <p:nvPr/>
          </p:nvSpPr>
          <p:spPr>
            <a:xfrm>
              <a:off x="489112" y="4104156"/>
              <a:ext cx="143524" cy="143597"/>
            </a:xfrm>
            <a:custGeom>
              <a:avLst/>
              <a:gdLst>
                <a:gd name="f0" fmla="val 10800000"/>
                <a:gd name="f1" fmla="val 5400000"/>
                <a:gd name="f2" fmla="val 180"/>
                <a:gd name="f3" fmla="val w"/>
                <a:gd name="f4" fmla="val h"/>
                <a:gd name="f5" fmla="val 0"/>
                <a:gd name="f6" fmla="val 143594"/>
                <a:gd name="f7" fmla="val 6731"/>
                <a:gd name="f8" fmla="val 145659"/>
                <a:gd name="f9" fmla="+- 0 0 -90"/>
                <a:gd name="f10" fmla="*/ f3 1 143594"/>
                <a:gd name="f11" fmla="*/ f4 1 143594"/>
                <a:gd name="f12" fmla="+- f6 0 f5"/>
                <a:gd name="f13" fmla="*/ f9 f0 1"/>
                <a:gd name="f14" fmla="*/ f12 1 143594"/>
                <a:gd name="f15" fmla="*/ 6731 f12 1"/>
                <a:gd name="f16" fmla="*/ 145659 f12 1"/>
                <a:gd name="f17" fmla="*/ f13 1 f2"/>
                <a:gd name="f18" fmla="*/ f15 1 143594"/>
                <a:gd name="f19" fmla="*/ f16 1 143594"/>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43594" h="143594">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4" name="Freeform: Shape 79">
              <a:extLst>
                <a:ext uri="{FF2B5EF4-FFF2-40B4-BE49-F238E27FC236}">
                  <a16:creationId xmlns:a16="http://schemas.microsoft.com/office/drawing/2014/main" id="{3E95DB80-8F4E-A20C-C9B9-A42975884A50}"/>
                </a:ext>
              </a:extLst>
            </p:cNvPr>
            <p:cNvSpPr/>
            <p:nvPr/>
          </p:nvSpPr>
          <p:spPr>
            <a:xfrm>
              <a:off x="766824" y="4104156"/>
              <a:ext cx="143524" cy="143597"/>
            </a:xfrm>
            <a:custGeom>
              <a:avLst/>
              <a:gdLst>
                <a:gd name="f0" fmla="val 10800000"/>
                <a:gd name="f1" fmla="val 5400000"/>
                <a:gd name="f2" fmla="val 180"/>
                <a:gd name="f3" fmla="val w"/>
                <a:gd name="f4" fmla="val h"/>
                <a:gd name="f5" fmla="val 0"/>
                <a:gd name="f6" fmla="val 143594"/>
                <a:gd name="f7" fmla="val 6731"/>
                <a:gd name="f8" fmla="val 145659"/>
                <a:gd name="f9" fmla="+- 0 0 -90"/>
                <a:gd name="f10" fmla="*/ f3 1 143594"/>
                <a:gd name="f11" fmla="*/ f4 1 143594"/>
                <a:gd name="f12" fmla="+- f6 0 f5"/>
                <a:gd name="f13" fmla="*/ f9 f0 1"/>
                <a:gd name="f14" fmla="*/ f12 1 143594"/>
                <a:gd name="f15" fmla="*/ 6731 f12 1"/>
                <a:gd name="f16" fmla="*/ 145659 f12 1"/>
                <a:gd name="f17" fmla="*/ f13 1 f2"/>
                <a:gd name="f18" fmla="*/ f15 1 143594"/>
                <a:gd name="f19" fmla="*/ f16 1 143594"/>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43594" h="143594">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5" name="Freeform: Shape 80">
              <a:extLst>
                <a:ext uri="{FF2B5EF4-FFF2-40B4-BE49-F238E27FC236}">
                  <a16:creationId xmlns:a16="http://schemas.microsoft.com/office/drawing/2014/main" id="{C44B2767-5B77-3F15-8431-10A0DA8756B4}"/>
                </a:ext>
              </a:extLst>
            </p:cNvPr>
            <p:cNvSpPr/>
            <p:nvPr/>
          </p:nvSpPr>
          <p:spPr>
            <a:xfrm>
              <a:off x="1044445" y="4104156"/>
              <a:ext cx="143524" cy="143597"/>
            </a:xfrm>
            <a:custGeom>
              <a:avLst/>
              <a:gdLst>
                <a:gd name="f0" fmla="val 10800000"/>
                <a:gd name="f1" fmla="val 5400000"/>
                <a:gd name="f2" fmla="val 180"/>
                <a:gd name="f3" fmla="val w"/>
                <a:gd name="f4" fmla="val h"/>
                <a:gd name="f5" fmla="val 0"/>
                <a:gd name="f6" fmla="val 143594"/>
                <a:gd name="f7" fmla="val 6731"/>
                <a:gd name="f8" fmla="val 145659"/>
                <a:gd name="f9" fmla="+- 0 0 -90"/>
                <a:gd name="f10" fmla="*/ f3 1 143594"/>
                <a:gd name="f11" fmla="*/ f4 1 143594"/>
                <a:gd name="f12" fmla="+- f6 0 f5"/>
                <a:gd name="f13" fmla="*/ f9 f0 1"/>
                <a:gd name="f14" fmla="*/ f12 1 143594"/>
                <a:gd name="f15" fmla="*/ 6731 f12 1"/>
                <a:gd name="f16" fmla="*/ 145659 f12 1"/>
                <a:gd name="f17" fmla="*/ f13 1 f2"/>
                <a:gd name="f18" fmla="*/ f15 1 143594"/>
                <a:gd name="f19" fmla="*/ f16 1 143594"/>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43594" h="143594">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grpSp>
        <p:nvGrpSpPr>
          <p:cNvPr id="76" name="Group 4">
            <a:extLst>
              <a:ext uri="{FF2B5EF4-FFF2-40B4-BE49-F238E27FC236}">
                <a16:creationId xmlns:a16="http://schemas.microsoft.com/office/drawing/2014/main" id="{E1BCE3DA-9A69-F3C1-6B12-0E6A85CFB577}"/>
              </a:ext>
            </a:extLst>
          </p:cNvPr>
          <p:cNvGrpSpPr/>
          <p:nvPr/>
        </p:nvGrpSpPr>
        <p:grpSpPr>
          <a:xfrm>
            <a:off x="10359393" y="4960940"/>
            <a:ext cx="1224911" cy="1435105"/>
            <a:chOff x="10359393" y="4960940"/>
            <a:chExt cx="1224911" cy="1435105"/>
          </a:xfrm>
        </p:grpSpPr>
        <p:sp>
          <p:nvSpPr>
            <p:cNvPr id="77" name="Freeform 5">
              <a:extLst>
                <a:ext uri="{FF2B5EF4-FFF2-40B4-BE49-F238E27FC236}">
                  <a16:creationId xmlns:a16="http://schemas.microsoft.com/office/drawing/2014/main" id="{209141EC-98EB-139A-73CB-62C00BF17339}"/>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8" name="Freeform 6">
              <a:extLst>
                <a:ext uri="{FF2B5EF4-FFF2-40B4-BE49-F238E27FC236}">
                  <a16:creationId xmlns:a16="http://schemas.microsoft.com/office/drawing/2014/main" id="{B86E0224-6CF2-ADD9-ECD5-24F2681048E1}"/>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412682123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p:cSld name="1_Approved question wide">
    <p:spTree>
      <p:nvGrpSpPr>
        <p:cNvPr id="1" name=""/>
        <p:cNvGrpSpPr/>
        <p:nvPr/>
      </p:nvGrpSpPr>
      <p:grpSpPr>
        <a:xfrm>
          <a:off x="0" y="0"/>
          <a:ext cx="0" cy="0"/>
          <a:chOff x="0" y="0"/>
          <a:chExt cx="0" cy="0"/>
        </a:xfrm>
      </p:grpSpPr>
      <p:grpSp>
        <p:nvGrpSpPr>
          <p:cNvPr id="2" name="Group 234">
            <a:extLst>
              <a:ext uri="{FF2B5EF4-FFF2-40B4-BE49-F238E27FC236}">
                <a16:creationId xmlns:a16="http://schemas.microsoft.com/office/drawing/2014/main" id="{21D03A80-049E-71B9-2916-4B9D26B18158}"/>
              </a:ext>
            </a:extLst>
          </p:cNvPr>
          <p:cNvGrpSpPr/>
          <p:nvPr/>
        </p:nvGrpSpPr>
        <p:grpSpPr>
          <a:xfrm>
            <a:off x="497854" y="5826611"/>
            <a:ext cx="3876004" cy="570201"/>
            <a:chOff x="497854" y="5826611"/>
            <a:chExt cx="3876004" cy="570201"/>
          </a:xfrm>
        </p:grpSpPr>
        <p:sp>
          <p:nvSpPr>
            <p:cNvPr id="3" name="Rectangle 167">
              <a:extLst>
                <a:ext uri="{FF2B5EF4-FFF2-40B4-BE49-F238E27FC236}">
                  <a16:creationId xmlns:a16="http://schemas.microsoft.com/office/drawing/2014/main" id="{30AB3A8A-2C26-BB66-46A2-1F8C388AC6CD}"/>
                </a:ext>
              </a:extLst>
            </p:cNvPr>
            <p:cNvSpPr/>
            <p:nvPr/>
          </p:nvSpPr>
          <p:spPr>
            <a:xfrm>
              <a:off x="497854"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4" name="Rectangle 6">
              <a:extLst>
                <a:ext uri="{FF2B5EF4-FFF2-40B4-BE49-F238E27FC236}">
                  <a16:creationId xmlns:a16="http://schemas.microsoft.com/office/drawing/2014/main" id="{946E60B6-A81D-3731-7645-6DC9EA3F0AF1}"/>
                </a:ext>
              </a:extLst>
            </p:cNvPr>
            <p:cNvSpPr/>
            <p:nvPr/>
          </p:nvSpPr>
          <p:spPr>
            <a:xfrm>
              <a:off x="693051"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5" name="Rectangle 7">
              <a:extLst>
                <a:ext uri="{FF2B5EF4-FFF2-40B4-BE49-F238E27FC236}">
                  <a16:creationId xmlns:a16="http://schemas.microsoft.com/office/drawing/2014/main" id="{CB411C49-2977-3062-9193-FA7383CE5B23}"/>
                </a:ext>
              </a:extLst>
            </p:cNvPr>
            <p:cNvSpPr/>
            <p:nvPr/>
          </p:nvSpPr>
          <p:spPr>
            <a:xfrm>
              <a:off x="889985" y="5826611"/>
              <a:ext cx="99340" cy="97648"/>
            </a:xfrm>
            <a:prstGeom prst="rect">
              <a:avLst/>
            </a:pr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6" name="Freeform 8">
              <a:extLst>
                <a:ext uri="{FF2B5EF4-FFF2-40B4-BE49-F238E27FC236}">
                  <a16:creationId xmlns:a16="http://schemas.microsoft.com/office/drawing/2014/main" id="{EBE84771-D5F7-CFDB-A720-0DC7C1582773}"/>
                </a:ext>
              </a:extLst>
            </p:cNvPr>
            <p:cNvSpPr/>
            <p:nvPr/>
          </p:nvSpPr>
          <p:spPr>
            <a:xfrm>
              <a:off x="497854" y="6056784"/>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1"/>
                <a:gd name="f10" fmla="val 22"/>
                <a:gd name="f11" fmla="+- 0 0 -90"/>
                <a:gd name="f12" fmla="*/ f3 1 54"/>
                <a:gd name="f13" fmla="*/ f4 1 75"/>
                <a:gd name="f14" fmla="+- f7 0 f5"/>
                <a:gd name="f15" fmla="+- f6 0 f5"/>
                <a:gd name="f16" fmla="*/ f11 f0 1"/>
                <a:gd name="f17" fmla="*/ f15 1 54"/>
                <a:gd name="f18" fmla="*/ f14 1 75"/>
                <a:gd name="f19" fmla="*/ 32 f15 1"/>
                <a:gd name="f20" fmla="*/ 11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7" name="Freeform 9">
              <a:extLst>
                <a:ext uri="{FF2B5EF4-FFF2-40B4-BE49-F238E27FC236}">
                  <a16:creationId xmlns:a16="http://schemas.microsoft.com/office/drawing/2014/main" id="{E6FBE070-D65B-AA64-4AD7-724B34CA4E19}"/>
                </a:ext>
              </a:extLst>
            </p:cNvPr>
            <p:cNvSpPr/>
            <p:nvPr/>
          </p:nvSpPr>
          <p:spPr>
            <a:xfrm>
              <a:off x="609392" y="6049807"/>
              <a:ext cx="78428"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8" name="Freeform 10">
              <a:extLst>
                <a:ext uri="{FF2B5EF4-FFF2-40B4-BE49-F238E27FC236}">
                  <a16:creationId xmlns:a16="http://schemas.microsoft.com/office/drawing/2014/main" id="{7146C47C-25FC-A4B2-8D8C-27BEB026527D}"/>
                </a:ext>
              </a:extLst>
            </p:cNvPr>
            <p:cNvSpPr/>
            <p:nvPr/>
          </p:nvSpPr>
          <p:spPr>
            <a:xfrm>
              <a:off x="705249"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9" name="Freeform 11">
              <a:extLst>
                <a:ext uri="{FF2B5EF4-FFF2-40B4-BE49-F238E27FC236}">
                  <a16:creationId xmlns:a16="http://schemas.microsoft.com/office/drawing/2014/main" id="{E2A2AB2A-ACF3-BAFF-C238-7D93B4FD9AFA}"/>
                </a:ext>
              </a:extLst>
            </p:cNvPr>
            <p:cNvSpPr/>
            <p:nvPr/>
          </p:nvSpPr>
          <p:spPr>
            <a:xfrm>
              <a:off x="856875" y="6049807"/>
              <a:ext cx="83658" cy="139500"/>
            </a:xfrm>
            <a:custGeom>
              <a:avLst/>
              <a:gdLst>
                <a:gd name="f0" fmla="val 10800000"/>
                <a:gd name="f1" fmla="val 5400000"/>
                <a:gd name="f2" fmla="val 180"/>
                <a:gd name="f3" fmla="val w"/>
                <a:gd name="f4" fmla="val h"/>
                <a:gd name="f5" fmla="val 0"/>
                <a:gd name="f6" fmla="val 33"/>
                <a:gd name="f7" fmla="val 55"/>
                <a:gd name="f8" fmla="val 35"/>
                <a:gd name="f9" fmla="val 38"/>
                <a:gd name="f10" fmla="val 32"/>
                <a:gd name="f11" fmla="val 41"/>
                <a:gd name="f12" fmla="val 31"/>
                <a:gd name="f13" fmla="val 44"/>
                <a:gd name="f14" fmla="val 30"/>
                <a:gd name="f15" fmla="val 46"/>
                <a:gd name="f16" fmla="val 29"/>
                <a:gd name="f17" fmla="val 48"/>
                <a:gd name="f18" fmla="val 28"/>
                <a:gd name="f19" fmla="val 50"/>
                <a:gd name="f20" fmla="val 27"/>
                <a:gd name="f21" fmla="val 51"/>
                <a:gd name="f22" fmla="val 25"/>
                <a:gd name="f23" fmla="val 53"/>
                <a:gd name="f24" fmla="val 23"/>
                <a:gd name="f25" fmla="val 21"/>
                <a:gd name="f26" fmla="val 54"/>
                <a:gd name="f27" fmla="val 19"/>
                <a:gd name="f28" fmla="val 17"/>
                <a:gd name="f29" fmla="val 16"/>
                <a:gd name="f30" fmla="val 14"/>
                <a:gd name="f31" fmla="val 12"/>
                <a:gd name="f32" fmla="val 10"/>
                <a:gd name="f33" fmla="val 52"/>
                <a:gd name="f34" fmla="val 9"/>
                <a:gd name="f35" fmla="val 8"/>
                <a:gd name="f36" fmla="val 4"/>
                <a:gd name="f37" fmla="val 18"/>
                <a:gd name="f38" fmla="val 11"/>
                <a:gd name="f39" fmla="val 13"/>
                <a:gd name="f40" fmla="val 15"/>
                <a:gd name="f41" fmla="val 20"/>
                <a:gd name="f42" fmla="val 22"/>
                <a:gd name="f43" fmla="val 24"/>
                <a:gd name="f44" fmla="val 26"/>
                <a:gd name="f45" fmla="val 43"/>
                <a:gd name="f46" fmla="val 45"/>
                <a:gd name="f47" fmla="val 47"/>
                <a:gd name="f48" fmla="val 39"/>
                <a:gd name="f49" fmla="+- 0 0 -90"/>
                <a:gd name="f50" fmla="*/ f3 1 33"/>
                <a:gd name="f51" fmla="*/ f4 1 55"/>
                <a:gd name="f52" fmla="+- f7 0 f5"/>
                <a:gd name="f53" fmla="+- f6 0 f5"/>
                <a:gd name="f54" fmla="*/ f49 f0 1"/>
                <a:gd name="f55" fmla="*/ f53 1 33"/>
                <a:gd name="f56" fmla="*/ f52 1 55"/>
                <a:gd name="f57" fmla="*/ 33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8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18 f53 1"/>
                <a:gd name="f80" fmla="*/ 24 f53 1"/>
                <a:gd name="f81" fmla="*/ 26 f52 1"/>
                <a:gd name="f82" fmla="*/ 25 f53 1"/>
                <a:gd name="f83" fmla="*/ 25 f52 1"/>
                <a:gd name="f84" fmla="*/ 16 f53 1"/>
                <a:gd name="f85" fmla="*/ 22 f52 1"/>
                <a:gd name="f86" fmla="*/ 11 f53 1"/>
                <a:gd name="f87" fmla="*/ 23 f52 1"/>
                <a:gd name="f88" fmla="*/ 9 f53 1"/>
                <a:gd name="f89" fmla="*/ 43 f52 1"/>
                <a:gd name="f90" fmla="*/ 46 f52 1"/>
                <a:gd name="f91" fmla="*/ 47 f52 1"/>
                <a:gd name="f92" fmla="*/ 48 f52 1"/>
                <a:gd name="f93" fmla="*/ 45 f52 1"/>
                <a:gd name="f94" fmla="*/ f54 1 f2"/>
                <a:gd name="f95" fmla="*/ f57 1 33"/>
                <a:gd name="f96" fmla="*/ f58 1 55"/>
                <a:gd name="f97" fmla="*/ f59 1 33"/>
                <a:gd name="f98" fmla="*/ f60 1 55"/>
                <a:gd name="f99" fmla="*/ f61 1 33"/>
                <a:gd name="f100" fmla="*/ f62 1 55"/>
                <a:gd name="f101" fmla="*/ f63 1 33"/>
                <a:gd name="f102" fmla="*/ f64 1 55"/>
                <a:gd name="f103" fmla="*/ f65 1 33"/>
                <a:gd name="f104" fmla="*/ f66 1 55"/>
                <a:gd name="f105" fmla="*/ f67 1 33"/>
                <a:gd name="f106" fmla="*/ f68 1 33"/>
                <a:gd name="f107" fmla="*/ f69 1 55"/>
                <a:gd name="f108" fmla="*/ f70 1 33"/>
                <a:gd name="f109" fmla="*/ f71 1 55"/>
                <a:gd name="f110" fmla="*/ f72 1 55"/>
                <a:gd name="f111" fmla="*/ f73 1 55"/>
                <a:gd name="f112" fmla="*/ f74 1 33"/>
                <a:gd name="f113" fmla="*/ f75 1 55"/>
                <a:gd name="f114" fmla="*/ f76 1 55"/>
                <a:gd name="f115" fmla="*/ f77 1 33"/>
                <a:gd name="f116" fmla="*/ f78 1 55"/>
                <a:gd name="f117" fmla="*/ f79 1 33"/>
                <a:gd name="f118" fmla="*/ f80 1 33"/>
                <a:gd name="f119" fmla="*/ f81 1 55"/>
                <a:gd name="f120" fmla="*/ f82 1 33"/>
                <a:gd name="f121" fmla="*/ f83 1 55"/>
                <a:gd name="f122" fmla="*/ f84 1 33"/>
                <a:gd name="f123" fmla="*/ f85 1 55"/>
                <a:gd name="f124" fmla="*/ f86 1 33"/>
                <a:gd name="f125" fmla="*/ f87 1 55"/>
                <a:gd name="f126" fmla="*/ f88 1 33"/>
                <a:gd name="f127" fmla="*/ f89 1 55"/>
                <a:gd name="f128" fmla="*/ f90 1 55"/>
                <a:gd name="f129" fmla="*/ f91 1 55"/>
                <a:gd name="f130" fmla="*/ f92 1 55"/>
                <a:gd name="f131" fmla="*/ f93 1 55"/>
                <a:gd name="f132" fmla="*/ 0 1 f55"/>
                <a:gd name="f133" fmla="*/ f6 1 f55"/>
                <a:gd name="f134" fmla="*/ 0 1 f56"/>
                <a:gd name="f135" fmla="*/ f7 1 f56"/>
                <a:gd name="f136" fmla="+- f94 0 f1"/>
                <a:gd name="f137" fmla="*/ f95 1 f55"/>
                <a:gd name="f138" fmla="*/ f96 1 f56"/>
                <a:gd name="f139" fmla="*/ f97 1 f55"/>
                <a:gd name="f140" fmla="*/ f98 1 f56"/>
                <a:gd name="f141" fmla="*/ f99 1 f55"/>
                <a:gd name="f142" fmla="*/ f100 1 f56"/>
                <a:gd name="f143" fmla="*/ f101 1 f55"/>
                <a:gd name="f144" fmla="*/ f102 1 f56"/>
                <a:gd name="f145" fmla="*/ f103 1 f55"/>
                <a:gd name="f146" fmla="*/ f104 1 f56"/>
                <a:gd name="f147" fmla="*/ f105 1 f55"/>
                <a:gd name="f148" fmla="*/ f106 1 f55"/>
                <a:gd name="f149" fmla="*/ f107 1 f56"/>
                <a:gd name="f150" fmla="*/ f108 1 f55"/>
                <a:gd name="f151" fmla="*/ f109 1 f56"/>
                <a:gd name="f152" fmla="*/ f110 1 f56"/>
                <a:gd name="f153" fmla="*/ f111 1 f56"/>
                <a:gd name="f154" fmla="*/ f112 1 f55"/>
                <a:gd name="f155" fmla="*/ f113 1 f56"/>
                <a:gd name="f156" fmla="*/ f114 1 f56"/>
                <a:gd name="f157" fmla="*/ f115 1 f55"/>
                <a:gd name="f158" fmla="*/ f116 1 f56"/>
                <a:gd name="f159" fmla="*/ f117 1 f55"/>
                <a:gd name="f160" fmla="*/ f118 1 f55"/>
                <a:gd name="f161" fmla="*/ f119 1 f56"/>
                <a:gd name="f162" fmla="*/ f120 1 f55"/>
                <a:gd name="f163" fmla="*/ f121 1 f56"/>
                <a:gd name="f164" fmla="*/ f122 1 f55"/>
                <a:gd name="f165" fmla="*/ f123 1 f56"/>
                <a:gd name="f166" fmla="*/ f124 1 f55"/>
                <a:gd name="f167" fmla="*/ f125 1 f56"/>
                <a:gd name="f168" fmla="*/ f126 1 f55"/>
                <a:gd name="f169" fmla="*/ f127 1 f56"/>
                <a:gd name="f170" fmla="*/ f128 1 f56"/>
                <a:gd name="f171" fmla="*/ f129 1 f56"/>
                <a:gd name="f172" fmla="*/ f130 1 f56"/>
                <a:gd name="f173" fmla="*/ f131 1 f56"/>
                <a:gd name="f174" fmla="*/ f132 f50 1"/>
                <a:gd name="f175" fmla="*/ f133 f50 1"/>
                <a:gd name="f176" fmla="*/ f135 f51 1"/>
                <a:gd name="f177" fmla="*/ f134 f51 1"/>
                <a:gd name="f178" fmla="*/ f137 f50 1"/>
                <a:gd name="f179" fmla="*/ f138 f51 1"/>
                <a:gd name="f180" fmla="*/ f139 f50 1"/>
                <a:gd name="f181" fmla="*/ f140 f51 1"/>
                <a:gd name="f182" fmla="*/ f141 f50 1"/>
                <a:gd name="f183" fmla="*/ f142 f51 1"/>
                <a:gd name="f184" fmla="*/ f143 f50 1"/>
                <a:gd name="f185" fmla="*/ f144 f51 1"/>
                <a:gd name="f186" fmla="*/ f145 f50 1"/>
                <a:gd name="f187" fmla="*/ f146 f51 1"/>
                <a:gd name="f188" fmla="*/ f147 f50 1"/>
                <a:gd name="f189" fmla="*/ f148 f50 1"/>
                <a:gd name="f190" fmla="*/ f149 f51 1"/>
                <a:gd name="f191" fmla="*/ f150 f50 1"/>
                <a:gd name="f192" fmla="*/ f151 f51 1"/>
                <a:gd name="f193" fmla="*/ f152 f51 1"/>
                <a:gd name="f194" fmla="*/ f153 f51 1"/>
                <a:gd name="f195" fmla="*/ f154 f50 1"/>
                <a:gd name="f196" fmla="*/ f155 f51 1"/>
                <a:gd name="f197" fmla="*/ f156 f51 1"/>
                <a:gd name="f198" fmla="*/ f157 f50 1"/>
                <a:gd name="f199" fmla="*/ f158 f51 1"/>
                <a:gd name="f200" fmla="*/ f159 f50 1"/>
                <a:gd name="f201" fmla="*/ f160 f50 1"/>
                <a:gd name="f202" fmla="*/ f161 f51 1"/>
                <a:gd name="f203" fmla="*/ f162 f50 1"/>
                <a:gd name="f204" fmla="*/ f163 f51 1"/>
                <a:gd name="f205" fmla="*/ f164 f50 1"/>
                <a:gd name="f206" fmla="*/ f165 f51 1"/>
                <a:gd name="f207" fmla="*/ f166 f50 1"/>
                <a:gd name="f208" fmla="*/ f167 f51 1"/>
                <a:gd name="f209" fmla="*/ f168 f50 1"/>
                <a:gd name="f210" fmla="*/ f169 f51 1"/>
                <a:gd name="f211" fmla="*/ f170 f51 1"/>
                <a:gd name="f212" fmla="*/ f171 f51 1"/>
                <a:gd name="f213" fmla="*/ f172 f51 1"/>
                <a:gd name="f214" fmla="*/ f173 f51 1"/>
              </a:gdLst>
              <a:ahLst/>
              <a:cxnLst>
                <a:cxn ang="3cd4">
                  <a:pos x="hc" y="t"/>
                </a:cxn>
                <a:cxn ang="0">
                  <a:pos x="r" y="vc"/>
                </a:cxn>
                <a:cxn ang="cd4">
                  <a:pos x="hc" y="b"/>
                </a:cxn>
                <a:cxn ang="cd2">
                  <a:pos x="l" y="vc"/>
                </a:cxn>
                <a:cxn ang="f136">
                  <a:pos x="f178" y="f179"/>
                </a:cxn>
                <a:cxn ang="f136">
                  <a:pos x="f180" y="f181"/>
                </a:cxn>
                <a:cxn ang="f136">
                  <a:pos x="f182" y="f183"/>
                </a:cxn>
                <a:cxn ang="f136">
                  <a:pos x="f184" y="f185"/>
                </a:cxn>
                <a:cxn ang="f136">
                  <a:pos x="f186" y="f187"/>
                </a:cxn>
                <a:cxn ang="f136">
                  <a:pos x="f188" y="f185"/>
                </a:cxn>
                <a:cxn ang="f136">
                  <a:pos x="f189" y="f183"/>
                </a:cxn>
                <a:cxn ang="f136">
                  <a:pos x="f189" y="f190"/>
                </a:cxn>
                <a:cxn ang="f136">
                  <a:pos x="f191" y="f190"/>
                </a:cxn>
                <a:cxn ang="f136">
                  <a:pos x="f191" y="f192"/>
                </a:cxn>
                <a:cxn ang="f136">
                  <a:pos x="f189" y="f193"/>
                </a:cxn>
                <a:cxn ang="f136">
                  <a:pos x="f189" y="f194"/>
                </a:cxn>
                <a:cxn ang="f136">
                  <a:pos x="f195" y="f196"/>
                </a:cxn>
                <a:cxn ang="f136">
                  <a:pos x="f188" y="f197"/>
                </a:cxn>
                <a:cxn ang="f136">
                  <a:pos x="f198" y="f199"/>
                </a:cxn>
                <a:cxn ang="f136">
                  <a:pos x="f200" y="f199"/>
                </a:cxn>
                <a:cxn ang="f136">
                  <a:pos x="f201" y="f197"/>
                </a:cxn>
                <a:cxn ang="f136">
                  <a:pos x="f182" y="f194"/>
                </a:cxn>
                <a:cxn ang="f136">
                  <a:pos x="f180" y="f202"/>
                </a:cxn>
                <a:cxn ang="f136">
                  <a:pos x="f178" y="f179"/>
                </a:cxn>
                <a:cxn ang="f136">
                  <a:pos x="f203" y="f179"/>
                </a:cxn>
                <a:cxn ang="f136">
                  <a:pos x="f184" y="f204"/>
                </a:cxn>
                <a:cxn ang="f136">
                  <a:pos x="f205" y="f206"/>
                </a:cxn>
                <a:cxn ang="f136">
                  <a:pos x="f198" y="f206"/>
                </a:cxn>
                <a:cxn ang="f136">
                  <a:pos x="f207" y="f208"/>
                </a:cxn>
                <a:cxn ang="f136">
                  <a:pos x="f209" y="f204"/>
                </a:cxn>
                <a:cxn ang="f136">
                  <a:pos x="f189" y="f202"/>
                </a:cxn>
                <a:cxn ang="f136">
                  <a:pos x="f189" y="f210"/>
                </a:cxn>
                <a:cxn ang="f136">
                  <a:pos x="f209" y="f181"/>
                </a:cxn>
                <a:cxn ang="f136">
                  <a:pos x="f207" y="f211"/>
                </a:cxn>
                <a:cxn ang="f136">
                  <a:pos x="f198" y="f212"/>
                </a:cxn>
                <a:cxn ang="f136">
                  <a:pos x="f186" y="f213"/>
                </a:cxn>
                <a:cxn ang="f136">
                  <a:pos x="f184" y="f214"/>
                </a:cxn>
                <a:cxn ang="f136">
                  <a:pos x="f203" y="f179"/>
                </a:cxn>
              </a:cxnLst>
              <a:rect l="f174" t="f177" r="f175" b="f176"/>
              <a:pathLst>
                <a:path w="33" h="55">
                  <a:moveTo>
                    <a:pt x="f6" y="f8"/>
                  </a:moveTo>
                  <a:cubicBezTo>
                    <a:pt x="f6" y="f9"/>
                    <a:pt x="f10" y="f11"/>
                    <a:pt x="f12" y="f13"/>
                  </a:cubicBezTo>
                  <a:cubicBezTo>
                    <a:pt x="f14" y="f15"/>
                    <a:pt x="f16" y="f17"/>
                    <a:pt x="f18" y="f19"/>
                  </a:cubicBezTo>
                  <a:cubicBezTo>
                    <a:pt x="f20" y="f21"/>
                    <a:pt x="f22" y="f23"/>
                    <a:pt x="f24" y="f23"/>
                  </a:cubicBezTo>
                  <a:cubicBezTo>
                    <a:pt x="f25" y="f26"/>
                    <a:pt x="f27" y="f7"/>
                    <a:pt x="f28" y="f7"/>
                  </a:cubicBezTo>
                  <a:cubicBezTo>
                    <a:pt x="f29" y="f7"/>
                    <a:pt x="f30" y="f26"/>
                    <a:pt x="f31" y="f23"/>
                  </a:cubicBezTo>
                  <a:cubicBezTo>
                    <a:pt x="f32" y="f33"/>
                    <a:pt x="f34" y="f21"/>
                    <a:pt x="f35" y="f19"/>
                  </a:cubicBezTo>
                  <a:cubicBezTo>
                    <a:pt x="f35" y="f26"/>
                    <a:pt x="f35" y="f26"/>
                    <a:pt x="f35" y="f26"/>
                  </a:cubicBezTo>
                  <a:cubicBezTo>
                    <a:pt x="f5" y="f26"/>
                    <a:pt x="f5" y="f26"/>
                    <a:pt x="f5" y="f26"/>
                  </a:cubicBezTo>
                  <a:cubicBezTo>
                    <a:pt x="f5" y="f36"/>
                    <a:pt x="f5" y="f36"/>
                    <a:pt x="f5" y="f36"/>
                  </a:cubicBezTo>
                  <a:cubicBezTo>
                    <a:pt x="f35" y="f5"/>
                    <a:pt x="f35" y="f5"/>
                    <a:pt x="f35" y="f5"/>
                  </a:cubicBezTo>
                  <a:cubicBezTo>
                    <a:pt x="f35" y="f27"/>
                    <a:pt x="f35" y="f27"/>
                    <a:pt x="f35" y="f27"/>
                  </a:cubicBezTo>
                  <a:cubicBezTo>
                    <a:pt x="f34" y="f37"/>
                    <a:pt x="f34" y="f37"/>
                    <a:pt x="f32" y="f28"/>
                  </a:cubicBezTo>
                  <a:cubicBezTo>
                    <a:pt x="f38" y="f28"/>
                    <a:pt x="f38" y="f29"/>
                    <a:pt x="f31" y="f29"/>
                  </a:cubicBezTo>
                  <a:cubicBezTo>
                    <a:pt x="f39" y="f29"/>
                    <a:pt x="f39" y="f40"/>
                    <a:pt x="f30" y="f40"/>
                  </a:cubicBezTo>
                  <a:cubicBezTo>
                    <a:pt x="f40" y="f40"/>
                    <a:pt x="f29" y="f40"/>
                    <a:pt x="f37" y="f40"/>
                  </a:cubicBezTo>
                  <a:cubicBezTo>
                    <a:pt x="f41" y="f40"/>
                    <a:pt x="f42" y="f40"/>
                    <a:pt x="f43" y="f29"/>
                  </a:cubicBezTo>
                  <a:cubicBezTo>
                    <a:pt x="f22" y="f29"/>
                    <a:pt x="f20" y="f37"/>
                    <a:pt x="f18" y="f27"/>
                  </a:cubicBezTo>
                  <a:cubicBezTo>
                    <a:pt x="f14" y="f25"/>
                    <a:pt x="f12" y="f24"/>
                    <a:pt x="f12" y="f44"/>
                  </a:cubicBezTo>
                  <a:cubicBezTo>
                    <a:pt x="f10" y="f18"/>
                    <a:pt x="f6" y="f10"/>
                    <a:pt x="f6" y="f8"/>
                  </a:cubicBezTo>
                  <a:close/>
                  <a:moveTo>
                    <a:pt x="f22" y="f8"/>
                  </a:moveTo>
                  <a:cubicBezTo>
                    <a:pt x="f22" y="f12"/>
                    <a:pt x="f43" y="f20"/>
                    <a:pt x="f24" y="f22"/>
                  </a:cubicBezTo>
                  <a:cubicBezTo>
                    <a:pt x="f25" y="f24"/>
                    <a:pt x="f27" y="f42"/>
                    <a:pt x="f29" y="f42"/>
                  </a:cubicBezTo>
                  <a:cubicBezTo>
                    <a:pt x="f40" y="f42"/>
                    <a:pt x="f40" y="f42"/>
                    <a:pt x="f30" y="f42"/>
                  </a:cubicBezTo>
                  <a:cubicBezTo>
                    <a:pt x="f39" y="f42"/>
                    <a:pt x="f31" y="f24"/>
                    <a:pt x="f38" y="f24"/>
                  </a:cubicBezTo>
                  <a:cubicBezTo>
                    <a:pt x="f38" y="f24"/>
                    <a:pt x="f32" y="f43"/>
                    <a:pt x="f34" y="f22"/>
                  </a:cubicBezTo>
                  <a:cubicBezTo>
                    <a:pt x="f34" y="f22"/>
                    <a:pt x="f35" y="f44"/>
                    <a:pt x="f35" y="f44"/>
                  </a:cubicBezTo>
                  <a:cubicBezTo>
                    <a:pt x="f35" y="f45"/>
                    <a:pt x="f35" y="f45"/>
                    <a:pt x="f35" y="f45"/>
                  </a:cubicBezTo>
                  <a:cubicBezTo>
                    <a:pt x="f35" y="f45"/>
                    <a:pt x="f34" y="f13"/>
                    <a:pt x="f34" y="f13"/>
                  </a:cubicBezTo>
                  <a:cubicBezTo>
                    <a:pt x="f32" y="f46"/>
                    <a:pt x="f38" y="f46"/>
                    <a:pt x="f38" y="f15"/>
                  </a:cubicBezTo>
                  <a:cubicBezTo>
                    <a:pt x="f31" y="f15"/>
                    <a:pt x="f39" y="f47"/>
                    <a:pt x="f30" y="f47"/>
                  </a:cubicBezTo>
                  <a:cubicBezTo>
                    <a:pt x="f40" y="f47"/>
                    <a:pt x="f29" y="f17"/>
                    <a:pt x="f28" y="f17"/>
                  </a:cubicBezTo>
                  <a:cubicBezTo>
                    <a:pt x="f27" y="f17"/>
                    <a:pt x="f25" y="f47"/>
                    <a:pt x="f24" y="f46"/>
                  </a:cubicBezTo>
                  <a:cubicBezTo>
                    <a:pt x="f43" y="f45"/>
                    <a:pt x="f22" y="f48"/>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0" name="Freeform 12">
              <a:extLst>
                <a:ext uri="{FF2B5EF4-FFF2-40B4-BE49-F238E27FC236}">
                  <a16:creationId xmlns:a16="http://schemas.microsoft.com/office/drawing/2014/main" id="{57BC4AAB-9FED-CD24-86DC-099F3F8DEE73}"/>
                </a:ext>
              </a:extLst>
            </p:cNvPr>
            <p:cNvSpPr/>
            <p:nvPr/>
          </p:nvSpPr>
          <p:spPr>
            <a:xfrm>
              <a:off x="956215"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30 f50 1"/>
                <a:gd name="f74" fmla="*/ 35 f49 1"/>
                <a:gd name="f75" fmla="*/ 27 f50 1"/>
                <a:gd name="f76" fmla="*/ 37 f49 1"/>
                <a:gd name="f77" fmla="*/ 24 f50 1"/>
                <a:gd name="f78" fmla="*/ 38 f49 1"/>
                <a:gd name="f79" fmla="*/ 39 f49 1"/>
                <a:gd name="f80" fmla="*/ 16 f50 1"/>
                <a:gd name="f81" fmla="*/ 40 f49 1"/>
                <a:gd name="f82" fmla="*/ 12 f50 1"/>
                <a:gd name="f83" fmla="*/ 5 f50 1"/>
                <a:gd name="f84" fmla="*/ 34 f49 1"/>
                <a:gd name="f85" fmla="*/ 2 f50 1"/>
                <a:gd name="f86" fmla="*/ 0 f50 1"/>
                <a:gd name="f87" fmla="*/ 26 f49 1"/>
                <a:gd name="f88" fmla="*/ 20 f49 1"/>
                <a:gd name="f89" fmla="*/ 1 f50 1"/>
                <a:gd name="f90" fmla="*/ 11 f49 1"/>
                <a:gd name="f91" fmla="*/ 4 f50 1"/>
                <a:gd name="f92" fmla="*/ 5 f49 1"/>
                <a:gd name="f93" fmla="*/ 1 f49 1"/>
                <a:gd name="f94" fmla="*/ 0 f49 1"/>
                <a:gd name="f95" fmla="*/ 29 f50 1"/>
                <a:gd name="f96" fmla="*/ 16 f49 1"/>
                <a:gd name="f97" fmla="*/ 12 f49 1"/>
                <a:gd name="f98" fmla="*/ 9 f49 1"/>
                <a:gd name="f99" fmla="*/ 20 f50 1"/>
                <a:gd name="f100" fmla="*/ 7 f49 1"/>
                <a:gd name="f101" fmla="*/ 6 f49 1"/>
                <a:gd name="f102" fmla="*/ f51 1 f2"/>
                <a:gd name="f103" fmla="*/ f54 1 33"/>
                <a:gd name="f104" fmla="*/ f55 1 40"/>
                <a:gd name="f105" fmla="*/ f56 1 40"/>
                <a:gd name="f106" fmla="*/ f57 1 33"/>
                <a:gd name="f107" fmla="*/ f58 1 40"/>
                <a:gd name="f108" fmla="*/ f59 1 33"/>
                <a:gd name="f109" fmla="*/ f60 1 33"/>
                <a:gd name="f110" fmla="*/ f61 1 40"/>
                <a:gd name="f111" fmla="*/ f62 1 33"/>
                <a:gd name="f112" fmla="*/ f63 1 40"/>
                <a:gd name="f113" fmla="*/ f64 1 33"/>
                <a:gd name="f114" fmla="*/ f65 1 40"/>
                <a:gd name="f115" fmla="*/ f66 1 33"/>
                <a:gd name="f116" fmla="*/ f67 1 40"/>
                <a:gd name="f117" fmla="*/ f68 1 33"/>
                <a:gd name="f118" fmla="*/ f69 1 33"/>
                <a:gd name="f119" fmla="*/ f70 1 33"/>
                <a:gd name="f120" fmla="*/ f71 1 40"/>
                <a:gd name="f121" fmla="*/ f72 1 33"/>
                <a:gd name="f122" fmla="*/ f73 1 33"/>
                <a:gd name="f123" fmla="*/ f74 1 40"/>
                <a:gd name="f124" fmla="*/ f75 1 33"/>
                <a:gd name="f125" fmla="*/ f76 1 40"/>
                <a:gd name="f126" fmla="*/ f77 1 33"/>
                <a:gd name="f127" fmla="*/ f78 1 40"/>
                <a:gd name="f128" fmla="*/ f79 1 40"/>
                <a:gd name="f129" fmla="*/ f80 1 33"/>
                <a:gd name="f130" fmla="*/ f81 1 40"/>
                <a:gd name="f131" fmla="*/ f82 1 33"/>
                <a:gd name="f132" fmla="*/ f83 1 33"/>
                <a:gd name="f133" fmla="*/ f84 1 40"/>
                <a:gd name="f134" fmla="*/ f85 1 33"/>
                <a:gd name="f135" fmla="*/ f86 1 33"/>
                <a:gd name="f136" fmla="*/ f87 1 40"/>
                <a:gd name="f137" fmla="*/ f88 1 40"/>
                <a:gd name="f138" fmla="*/ f89 1 33"/>
                <a:gd name="f139" fmla="*/ f90 1 40"/>
                <a:gd name="f140" fmla="*/ f91 1 33"/>
                <a:gd name="f141" fmla="*/ f92 1 40"/>
                <a:gd name="f142" fmla="*/ f93 1 40"/>
                <a:gd name="f143" fmla="*/ f94 1 40"/>
                <a:gd name="f144" fmla="*/ f95 1 33"/>
                <a:gd name="f145" fmla="*/ f96 1 40"/>
                <a:gd name="f146" fmla="*/ f97 1 40"/>
                <a:gd name="f147" fmla="*/ f98 1 40"/>
                <a:gd name="f148" fmla="*/ f99 1 33"/>
                <a:gd name="f149" fmla="*/ f100 1 40"/>
                <a:gd name="f150" fmla="*/ f101 1 40"/>
                <a:gd name="f151" fmla="*/ 0 1 f52"/>
                <a:gd name="f152" fmla="*/ f6 1 f52"/>
                <a:gd name="f153" fmla="*/ 0 1 f53"/>
                <a:gd name="f154" fmla="*/ f7 1 f53"/>
                <a:gd name="f155" fmla="+- f102 0 f1"/>
                <a:gd name="f156" fmla="*/ f103 1 f52"/>
                <a:gd name="f157" fmla="*/ f104 1 f53"/>
                <a:gd name="f158" fmla="*/ f105 1 f53"/>
                <a:gd name="f159" fmla="*/ f106 1 f52"/>
                <a:gd name="f160" fmla="*/ f107 1 f53"/>
                <a:gd name="f161" fmla="*/ f108 1 f52"/>
                <a:gd name="f162" fmla="*/ f109 1 f52"/>
                <a:gd name="f163" fmla="*/ f110 1 f53"/>
                <a:gd name="f164" fmla="*/ f111 1 f52"/>
                <a:gd name="f165" fmla="*/ f112 1 f53"/>
                <a:gd name="f166" fmla="*/ f113 1 f52"/>
                <a:gd name="f167" fmla="*/ f114 1 f53"/>
                <a:gd name="f168" fmla="*/ f115 1 f52"/>
                <a:gd name="f169" fmla="*/ f116 1 f53"/>
                <a:gd name="f170" fmla="*/ f117 1 f52"/>
                <a:gd name="f171" fmla="*/ f118 1 f52"/>
                <a:gd name="f172" fmla="*/ f119 1 f52"/>
                <a:gd name="f173" fmla="*/ f120 1 f53"/>
                <a:gd name="f174" fmla="*/ f121 1 f52"/>
                <a:gd name="f175" fmla="*/ f122 1 f52"/>
                <a:gd name="f176" fmla="*/ f123 1 f53"/>
                <a:gd name="f177" fmla="*/ f124 1 f52"/>
                <a:gd name="f178" fmla="*/ f125 1 f53"/>
                <a:gd name="f179" fmla="*/ f126 1 f52"/>
                <a:gd name="f180" fmla="*/ f127 1 f53"/>
                <a:gd name="f181" fmla="*/ f128 1 f53"/>
                <a:gd name="f182" fmla="*/ f129 1 f52"/>
                <a:gd name="f183" fmla="*/ f130 1 f53"/>
                <a:gd name="f184" fmla="*/ f131 1 f52"/>
                <a:gd name="f185" fmla="*/ f132 1 f52"/>
                <a:gd name="f186" fmla="*/ f133 1 f53"/>
                <a:gd name="f187" fmla="*/ f134 1 f52"/>
                <a:gd name="f188" fmla="*/ f135 1 f52"/>
                <a:gd name="f189" fmla="*/ f136 1 f53"/>
                <a:gd name="f190" fmla="*/ f137 1 f53"/>
                <a:gd name="f191" fmla="*/ f138 1 f52"/>
                <a:gd name="f192" fmla="*/ f139 1 f53"/>
                <a:gd name="f193" fmla="*/ f140 1 f52"/>
                <a:gd name="f194" fmla="*/ f141 1 f53"/>
                <a:gd name="f195" fmla="*/ f142 1 f53"/>
                <a:gd name="f196" fmla="*/ f143 1 f53"/>
                <a:gd name="f197" fmla="*/ f144 1 f52"/>
                <a:gd name="f198" fmla="*/ f145 1 f53"/>
                <a:gd name="f199" fmla="*/ f146 1 f53"/>
                <a:gd name="f200" fmla="*/ f147 1 f53"/>
                <a:gd name="f201" fmla="*/ f148 1 f52"/>
                <a:gd name="f202" fmla="*/ f149 1 f53"/>
                <a:gd name="f203" fmla="*/ f150 1 f53"/>
                <a:gd name="f204" fmla="*/ f151 f47 1"/>
                <a:gd name="f205" fmla="*/ f152 f47 1"/>
                <a:gd name="f206" fmla="*/ f154 f48 1"/>
                <a:gd name="f207" fmla="*/ f153 f48 1"/>
                <a:gd name="f208" fmla="*/ f156 f47 1"/>
                <a:gd name="f209" fmla="*/ f157 f48 1"/>
                <a:gd name="f210" fmla="*/ f158 f48 1"/>
                <a:gd name="f211" fmla="*/ f159 f47 1"/>
                <a:gd name="f212" fmla="*/ f160 f48 1"/>
                <a:gd name="f213" fmla="*/ f161 f47 1"/>
                <a:gd name="f214" fmla="*/ f162 f47 1"/>
                <a:gd name="f215" fmla="*/ f163 f48 1"/>
                <a:gd name="f216" fmla="*/ f164 f47 1"/>
                <a:gd name="f217" fmla="*/ f165 f48 1"/>
                <a:gd name="f218" fmla="*/ f166 f47 1"/>
                <a:gd name="f219" fmla="*/ f167 f48 1"/>
                <a:gd name="f220" fmla="*/ f168 f47 1"/>
                <a:gd name="f221" fmla="*/ f169 f48 1"/>
                <a:gd name="f222" fmla="*/ f170 f47 1"/>
                <a:gd name="f223" fmla="*/ f171 f47 1"/>
                <a:gd name="f224" fmla="*/ f172 f47 1"/>
                <a:gd name="f225" fmla="*/ f173 f48 1"/>
                <a:gd name="f226" fmla="*/ f174 f47 1"/>
                <a:gd name="f227" fmla="*/ f175 f47 1"/>
                <a:gd name="f228" fmla="*/ f176 f48 1"/>
                <a:gd name="f229" fmla="*/ f177 f47 1"/>
                <a:gd name="f230" fmla="*/ f178 f48 1"/>
                <a:gd name="f231" fmla="*/ f179 f47 1"/>
                <a:gd name="f232" fmla="*/ f180 f48 1"/>
                <a:gd name="f233" fmla="*/ f181 f48 1"/>
                <a:gd name="f234" fmla="*/ f182 f47 1"/>
                <a:gd name="f235" fmla="*/ f183 f48 1"/>
                <a:gd name="f236" fmla="*/ f184 f47 1"/>
                <a:gd name="f237" fmla="*/ f185 f47 1"/>
                <a:gd name="f238" fmla="*/ f186 f48 1"/>
                <a:gd name="f239" fmla="*/ f187 f47 1"/>
                <a:gd name="f240" fmla="*/ f188 f47 1"/>
                <a:gd name="f241" fmla="*/ f189 f48 1"/>
                <a:gd name="f242" fmla="*/ f190 f48 1"/>
                <a:gd name="f243" fmla="*/ f191 f47 1"/>
                <a:gd name="f244" fmla="*/ f192 f48 1"/>
                <a:gd name="f245" fmla="*/ f193 f47 1"/>
                <a:gd name="f246" fmla="*/ f194 f48 1"/>
                <a:gd name="f247" fmla="*/ f195 f48 1"/>
                <a:gd name="f248" fmla="*/ f196 f48 1"/>
                <a:gd name="f249" fmla="*/ f197 f47 1"/>
                <a:gd name="f250" fmla="*/ f198 f48 1"/>
                <a:gd name="f251" fmla="*/ f199 f48 1"/>
                <a:gd name="f252" fmla="*/ f200 f48 1"/>
                <a:gd name="f253" fmla="*/ f201 f47 1"/>
                <a:gd name="f254" fmla="*/ f202 f48 1"/>
                <a:gd name="f255" fmla="*/ f203 f48 1"/>
              </a:gdLst>
              <a:ahLst/>
              <a:cxnLst>
                <a:cxn ang="3cd4">
                  <a:pos x="hc" y="t"/>
                </a:cxn>
                <a:cxn ang="0">
                  <a:pos x="r" y="vc"/>
                </a:cxn>
                <a:cxn ang="cd4">
                  <a:pos x="hc" y="b"/>
                </a:cxn>
                <a:cxn ang="cd2">
                  <a:pos x="l" y="vc"/>
                </a:cxn>
                <a:cxn ang="f155">
                  <a:pos x="f208" y="f209"/>
                </a:cxn>
                <a:cxn ang="f155">
                  <a:pos x="f208" y="f210"/>
                </a:cxn>
                <a:cxn ang="f155">
                  <a:pos x="f211" y="f212"/>
                </a:cxn>
                <a:cxn ang="f155">
                  <a:pos x="f213" y="f212"/>
                </a:cxn>
                <a:cxn ang="f155">
                  <a:pos x="f214" y="f215"/>
                </a:cxn>
                <a:cxn ang="f155">
                  <a:pos x="f216" y="f217"/>
                </a:cxn>
                <a:cxn ang="f155">
                  <a:pos x="f218" y="f219"/>
                </a:cxn>
                <a:cxn ang="f155">
                  <a:pos x="f220" y="f221"/>
                </a:cxn>
                <a:cxn ang="f155">
                  <a:pos x="f222" y="f221"/>
                </a:cxn>
                <a:cxn ang="f155">
                  <a:pos x="f223" y="f219"/>
                </a:cxn>
                <a:cxn ang="f155">
                  <a:pos x="f224" y="f225"/>
                </a:cxn>
                <a:cxn ang="f155">
                  <a:pos x="f226" y="f217"/>
                </a:cxn>
                <a:cxn ang="f155">
                  <a:pos x="f227" y="f228"/>
                </a:cxn>
                <a:cxn ang="f155">
                  <a:pos x="f229" y="f230"/>
                </a:cxn>
                <a:cxn ang="f155">
                  <a:pos x="f231" y="f232"/>
                </a:cxn>
                <a:cxn ang="f155">
                  <a:pos x="f223" y="f233"/>
                </a:cxn>
                <a:cxn ang="f155">
                  <a:pos x="f234" y="f235"/>
                </a:cxn>
                <a:cxn ang="f155">
                  <a:pos x="f236" y="f233"/>
                </a:cxn>
                <a:cxn ang="f155">
                  <a:pos x="f214" y="f230"/>
                </a:cxn>
                <a:cxn ang="f155">
                  <a:pos x="f237" y="f238"/>
                </a:cxn>
                <a:cxn ang="f155">
                  <a:pos x="f239" y="f225"/>
                </a:cxn>
                <a:cxn ang="f155">
                  <a:pos x="f240" y="f241"/>
                </a:cxn>
                <a:cxn ang="f155">
                  <a:pos x="f240" y="f242"/>
                </a:cxn>
                <a:cxn ang="f155">
                  <a:pos x="f243" y="f244"/>
                </a:cxn>
                <a:cxn ang="f155">
                  <a:pos x="f245" y="f246"/>
                </a:cxn>
                <a:cxn ang="f155">
                  <a:pos x="f216" y="f247"/>
                </a:cxn>
                <a:cxn ang="f155">
                  <a:pos x="f234" y="f248"/>
                </a:cxn>
                <a:cxn ang="f155">
                  <a:pos x="f231" y="f247"/>
                </a:cxn>
                <a:cxn ang="f155">
                  <a:pos x="f249" y="f246"/>
                </a:cxn>
                <a:cxn ang="f155">
                  <a:pos x="f211" y="f244"/>
                </a:cxn>
                <a:cxn ang="f155">
                  <a:pos x="f208" y="f209"/>
                </a:cxn>
                <a:cxn ang="f155">
                  <a:pos x="f226" y="f250"/>
                </a:cxn>
                <a:cxn ang="f155">
                  <a:pos x="f231" y="f251"/>
                </a:cxn>
                <a:cxn ang="f155">
                  <a:pos x="f224" y="f252"/>
                </a:cxn>
                <a:cxn ang="f155">
                  <a:pos x="f253" y="f254"/>
                </a:cxn>
                <a:cxn ang="f155">
                  <a:pos x="f234" y="f255"/>
                </a:cxn>
                <a:cxn ang="f155">
                  <a:pos x="f236" y="f254"/>
                </a:cxn>
                <a:cxn ang="f155">
                  <a:pos x="f216" y="f252"/>
                </a:cxn>
                <a:cxn ang="f155">
                  <a:pos x="f214" y="f251"/>
                </a:cxn>
                <a:cxn ang="f155">
                  <a:pos x="f213" y="f250"/>
                </a:cxn>
                <a:cxn ang="f155">
                  <a:pos x="f226" y="f250"/>
                </a:cxn>
              </a:cxnLst>
              <a:rect l="f204" t="f207" r="f205" b="f206"/>
              <a:pathLst>
                <a:path w="33" h="40">
                  <a:moveTo>
                    <a:pt x="f6" y="f8"/>
                  </a:moveTo>
                  <a:cubicBezTo>
                    <a:pt x="f6" y="f8"/>
                    <a:pt x="f6" y="f9"/>
                    <a:pt x="f6" y="f10"/>
                  </a:cubicBezTo>
                  <a:cubicBezTo>
                    <a:pt x="f6"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10" y="f11"/>
                    <a:pt x="f10" y="f11"/>
                  </a:cubicBezTo>
                  <a:cubicBezTo>
                    <a:pt x="f12" y="f11"/>
                    <a:pt x="f12" y="f24"/>
                    <a:pt x="f31" y="f24"/>
                  </a:cubicBezTo>
                  <a:cubicBezTo>
                    <a:pt x="f14" y="f24"/>
                    <a:pt x="f14" y="f22"/>
                    <a:pt x="f32" y="f22"/>
                  </a:cubicBezTo>
                  <a:cubicBezTo>
                    <a:pt x="f22" y="f33"/>
                    <a:pt x="f22" y="f33"/>
                    <a:pt x="f22" y="f33"/>
                  </a:cubicBezTo>
                  <a:cubicBezTo>
                    <a:pt x="f21" y="f33"/>
                    <a:pt x="f19" y="f34"/>
                    <a:pt x="f17" y="f35"/>
                  </a:cubicBezTo>
                  <a:cubicBezTo>
                    <a:pt x="f16" y="f35"/>
                    <a:pt x="f32" y="f36"/>
                    <a:pt x="f14" y="f36"/>
                  </a:cubicBezTo>
                  <a:cubicBezTo>
                    <a:pt x="f31" y="f37"/>
                    <a:pt x="f12" y="f37"/>
                    <a:pt x="f10"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30"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1" name="Freeform 13">
              <a:extLst>
                <a:ext uri="{FF2B5EF4-FFF2-40B4-BE49-F238E27FC236}">
                  <a16:creationId xmlns:a16="http://schemas.microsoft.com/office/drawing/2014/main" id="{252596A5-C50F-7758-93F9-80F915B7A36D}"/>
                </a:ext>
              </a:extLst>
            </p:cNvPr>
            <p:cNvSpPr/>
            <p:nvPr/>
          </p:nvSpPr>
          <p:spPr>
            <a:xfrm>
              <a:off x="1050325"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2"/>
                <a:gd name="f19" fmla="val 11"/>
                <a:gd name="f20" fmla="val 10"/>
                <a:gd name="f21" fmla="val 9"/>
                <a:gd name="f22" fmla="val 8"/>
                <a:gd name="f23" fmla="val 52"/>
                <a:gd name="f24" fmla="val 7"/>
                <a:gd name="f25" fmla="val 51"/>
                <a:gd name="f26" fmla="val 6"/>
                <a:gd name="f27" fmla="val 50"/>
                <a:gd name="f28" fmla="val 49"/>
                <a:gd name="f29" fmla="val 48"/>
                <a:gd name="f30" fmla="val 5"/>
                <a:gd name="f31" fmla="val 46"/>
                <a:gd name="f32" fmla="val 44"/>
                <a:gd name="f33" fmla="val 4"/>
                <a:gd name="f34" fmla="val 4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1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3 f42 1"/>
                <a:gd name="f64" fmla="*/ 0 f41 1"/>
                <a:gd name="f65" fmla="*/ 22 f42 1"/>
                <a:gd name="f66" fmla="*/ 43 f41 1"/>
                <a:gd name="f67" fmla="*/ 45 f41 1"/>
                <a:gd name="f68" fmla="*/ 47 f41 1"/>
                <a:gd name="f69" fmla="*/ 15 f42 1"/>
                <a:gd name="f70" fmla="*/ 17 f42 1"/>
                <a:gd name="f71" fmla="*/ 48 f41 1"/>
                <a:gd name="f72" fmla="*/ 20 f42 1"/>
                <a:gd name="f73" fmla="*/ 46 f41 1"/>
                <a:gd name="f74" fmla="*/ f43 1 f2"/>
                <a:gd name="f75" fmla="*/ f46 1 22"/>
                <a:gd name="f76" fmla="*/ f47 1 55"/>
                <a:gd name="f77" fmla="*/ f48 1 22"/>
                <a:gd name="f78" fmla="*/ f49 1 55"/>
                <a:gd name="f79" fmla="*/ f50 1 22"/>
                <a:gd name="f80" fmla="*/ f51 1 55"/>
                <a:gd name="f81" fmla="*/ f52 1 22"/>
                <a:gd name="f82" fmla="*/ f53 1 22"/>
                <a:gd name="f83" fmla="*/ f54 1 55"/>
                <a:gd name="f84" fmla="*/ f55 1 22"/>
                <a:gd name="f85" fmla="*/ f56 1 55"/>
                <a:gd name="f86" fmla="*/ f57 1 22"/>
                <a:gd name="f87" fmla="*/ f58 1 55"/>
                <a:gd name="f88" fmla="*/ f59 1 55"/>
                <a:gd name="f89" fmla="*/ f60 1 22"/>
                <a:gd name="f90" fmla="*/ f61 1 55"/>
                <a:gd name="f91" fmla="*/ f62 1 55"/>
                <a:gd name="f92" fmla="*/ f63 1 22"/>
                <a:gd name="f93" fmla="*/ f64 1 55"/>
                <a:gd name="f94" fmla="*/ f65 1 22"/>
                <a:gd name="f95" fmla="*/ f66 1 55"/>
                <a:gd name="f96" fmla="*/ f67 1 55"/>
                <a:gd name="f97" fmla="*/ f68 1 55"/>
                <a:gd name="f98" fmla="*/ f69 1 22"/>
                <a:gd name="f99" fmla="*/ f70 1 22"/>
                <a:gd name="f100" fmla="*/ f71 1 55"/>
                <a:gd name="f101" fmla="*/ f72 1 22"/>
                <a:gd name="f102" fmla="*/ f73 1 55"/>
                <a:gd name="f103" fmla="*/ 0 1 f44"/>
                <a:gd name="f104" fmla="*/ f6 1 f44"/>
                <a:gd name="f105" fmla="*/ 0 1 f45"/>
                <a:gd name="f106" fmla="*/ f7 1 f45"/>
                <a:gd name="f107" fmla="+- f74 0 f1"/>
                <a:gd name="f108" fmla="*/ f75 1 f44"/>
                <a:gd name="f109" fmla="*/ f76 1 f45"/>
                <a:gd name="f110" fmla="*/ f77 1 f44"/>
                <a:gd name="f111" fmla="*/ f78 1 f45"/>
                <a:gd name="f112" fmla="*/ f79 1 f44"/>
                <a:gd name="f113" fmla="*/ f80 1 f45"/>
                <a:gd name="f114" fmla="*/ f81 1 f44"/>
                <a:gd name="f115" fmla="*/ f82 1 f44"/>
                <a:gd name="f116" fmla="*/ f83 1 f45"/>
                <a:gd name="f117" fmla="*/ f84 1 f44"/>
                <a:gd name="f118" fmla="*/ f85 1 f45"/>
                <a:gd name="f119" fmla="*/ f86 1 f44"/>
                <a:gd name="f120" fmla="*/ f87 1 f45"/>
                <a:gd name="f121" fmla="*/ f88 1 f45"/>
                <a:gd name="f122" fmla="*/ f89 1 f44"/>
                <a:gd name="f123" fmla="*/ f90 1 f45"/>
                <a:gd name="f124" fmla="*/ f91 1 f45"/>
                <a:gd name="f125" fmla="*/ f92 1 f44"/>
                <a:gd name="f126" fmla="*/ f93 1 f45"/>
                <a:gd name="f127" fmla="*/ f94 1 f44"/>
                <a:gd name="f128" fmla="*/ f95 1 f45"/>
                <a:gd name="f129" fmla="*/ f96 1 f45"/>
                <a:gd name="f130" fmla="*/ f97 1 f45"/>
                <a:gd name="f131" fmla="*/ f98 1 f44"/>
                <a:gd name="f132" fmla="*/ f99 1 f44"/>
                <a:gd name="f133" fmla="*/ f100 1 f45"/>
                <a:gd name="f134" fmla="*/ f101 1 f44"/>
                <a:gd name="f135" fmla="*/ f102 1 f45"/>
                <a:gd name="f136" fmla="*/ f103 f39 1"/>
                <a:gd name="f137" fmla="*/ f104 f39 1"/>
                <a:gd name="f138" fmla="*/ f106 f40 1"/>
                <a:gd name="f139" fmla="*/ f105 f40 1"/>
                <a:gd name="f140" fmla="*/ f108 f39 1"/>
                <a:gd name="f141" fmla="*/ f109 f40 1"/>
                <a:gd name="f142" fmla="*/ f110 f39 1"/>
                <a:gd name="f143" fmla="*/ f111 f40 1"/>
                <a:gd name="f144" fmla="*/ f112 f39 1"/>
                <a:gd name="f145" fmla="*/ f113 f40 1"/>
                <a:gd name="f146" fmla="*/ f114 f39 1"/>
                <a:gd name="f147" fmla="*/ f115 f39 1"/>
                <a:gd name="f148" fmla="*/ f116 f40 1"/>
                <a:gd name="f149" fmla="*/ f117 f39 1"/>
                <a:gd name="f150" fmla="*/ f118 f40 1"/>
                <a:gd name="f151" fmla="*/ f119 f39 1"/>
                <a:gd name="f152" fmla="*/ f120 f40 1"/>
                <a:gd name="f153" fmla="*/ f121 f40 1"/>
                <a:gd name="f154" fmla="*/ f122 f39 1"/>
                <a:gd name="f155" fmla="*/ f123 f40 1"/>
                <a:gd name="f156" fmla="*/ f124 f40 1"/>
                <a:gd name="f157" fmla="*/ f125 f39 1"/>
                <a:gd name="f158" fmla="*/ f126 f40 1"/>
                <a:gd name="f159" fmla="*/ f127 f39 1"/>
                <a:gd name="f160" fmla="*/ f128 f40 1"/>
                <a:gd name="f161" fmla="*/ f129 f40 1"/>
                <a:gd name="f162" fmla="*/ f130 f40 1"/>
                <a:gd name="f163" fmla="*/ f131 f39 1"/>
                <a:gd name="f164" fmla="*/ f132 f39 1"/>
                <a:gd name="f165" fmla="*/ f133 f40 1"/>
                <a:gd name="f166" fmla="*/ f134 f39 1"/>
                <a:gd name="f167" fmla="*/ f135 f40 1"/>
              </a:gdLst>
              <a:ahLst/>
              <a:cxnLst>
                <a:cxn ang="3cd4">
                  <a:pos x="hc" y="t"/>
                </a:cxn>
                <a:cxn ang="0">
                  <a:pos x="r" y="vc"/>
                </a:cxn>
                <a:cxn ang="cd4">
                  <a:pos x="hc" y="b"/>
                </a:cxn>
                <a:cxn ang="cd2">
                  <a:pos x="l" y="vc"/>
                </a:cxn>
                <a:cxn ang="f107">
                  <a:pos x="f140" y="f141"/>
                </a:cxn>
                <a:cxn ang="f107">
                  <a:pos x="f142" y="f143"/>
                </a:cxn>
                <a:cxn ang="f107">
                  <a:pos x="f144" y="f145"/>
                </a:cxn>
                <a:cxn ang="f107">
                  <a:pos x="f146" y="f143"/>
                </a:cxn>
                <a:cxn ang="f107">
                  <a:pos x="f147" y="f148"/>
                </a:cxn>
                <a:cxn ang="f107">
                  <a:pos x="f149" y="f150"/>
                </a:cxn>
                <a:cxn ang="f107">
                  <a:pos x="f151" y="f152"/>
                </a:cxn>
                <a:cxn ang="f107">
                  <a:pos x="f151" y="f153"/>
                </a:cxn>
                <a:cxn ang="f107">
                  <a:pos x="f154" y="f153"/>
                </a:cxn>
                <a:cxn ang="f107">
                  <a:pos x="f154" y="f155"/>
                </a:cxn>
                <a:cxn ang="f107">
                  <a:pos x="f151" y="f155"/>
                </a:cxn>
                <a:cxn ang="f107">
                  <a:pos x="f151" y="f156"/>
                </a:cxn>
                <a:cxn ang="f107">
                  <a:pos x="f157" y="f158"/>
                </a:cxn>
                <a:cxn ang="f107">
                  <a:pos x="f157" y="f155"/>
                </a:cxn>
                <a:cxn ang="f107">
                  <a:pos x="f159" y="f155"/>
                </a:cxn>
                <a:cxn ang="f107">
                  <a:pos x="f159" y="f153"/>
                </a:cxn>
                <a:cxn ang="f107">
                  <a:pos x="f157" y="f153"/>
                </a:cxn>
                <a:cxn ang="f107">
                  <a:pos x="f157" y="f160"/>
                </a:cxn>
                <a:cxn ang="f107">
                  <a:pos x="f157" y="f161"/>
                </a:cxn>
                <a:cxn ang="f107">
                  <a:pos x="f144" y="f162"/>
                </a:cxn>
                <a:cxn ang="f107">
                  <a:pos x="f163" y="f162"/>
                </a:cxn>
                <a:cxn ang="f107">
                  <a:pos x="f164" y="f165"/>
                </a:cxn>
                <a:cxn ang="f107">
                  <a:pos x="f166" y="f162"/>
                </a:cxn>
                <a:cxn ang="f107">
                  <a:pos x="f159" y="f167"/>
                </a:cxn>
                <a:cxn ang="f107">
                  <a:pos x="f140" y="f141"/>
                </a:cxn>
              </a:cxnLst>
              <a:rect l="f136" t="f139" r="f137" b="f138"/>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4" y="f25"/>
                    <a:pt x="f26" y="f27"/>
                    <a:pt x="f26" y="f28"/>
                  </a:cubicBezTo>
                  <a:cubicBezTo>
                    <a:pt x="f26" y="f29"/>
                    <a:pt x="f30" y="f31"/>
                    <a:pt x="f30" y="f32"/>
                  </a:cubicBezTo>
                  <a:cubicBezTo>
                    <a:pt x="f30" y="f6"/>
                    <a:pt x="f30" y="f6"/>
                    <a:pt x="f30" y="f6"/>
                  </a:cubicBezTo>
                  <a:cubicBezTo>
                    <a:pt x="f5" y="f6"/>
                    <a:pt x="f5" y="f6"/>
                    <a:pt x="f5" y="f6"/>
                  </a:cubicBezTo>
                  <a:cubicBezTo>
                    <a:pt x="f5" y="f15"/>
                    <a:pt x="f5" y="f15"/>
                    <a:pt x="f5" y="f15"/>
                  </a:cubicBezTo>
                  <a:cubicBezTo>
                    <a:pt x="f30" y="f15"/>
                    <a:pt x="f30" y="f15"/>
                    <a:pt x="f30" y="f15"/>
                  </a:cubicBezTo>
                  <a:cubicBezTo>
                    <a:pt x="f30" y="f33"/>
                    <a:pt x="f30" y="f33"/>
                    <a:pt x="f30" y="f33"/>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4"/>
                    <a:pt x="f17" y="f34"/>
                    <a:pt x="f17" y="f34"/>
                  </a:cubicBezTo>
                  <a:cubicBezTo>
                    <a:pt x="f17" y="f32"/>
                    <a:pt x="f17" y="f35"/>
                    <a:pt x="f17" y="f35"/>
                  </a:cubicBezTo>
                  <a:cubicBezTo>
                    <a:pt x="f17" y="f31"/>
                    <a:pt x="f17" y="f31"/>
                    <a:pt x="f16" y="f36"/>
                  </a:cubicBezTo>
                  <a:cubicBezTo>
                    <a:pt x="f16" y="f36"/>
                    <a:pt x="f16" y="f36"/>
                    <a:pt x="f15" y="f36"/>
                  </a:cubicBezTo>
                  <a:cubicBezTo>
                    <a:pt x="f15" y="f29"/>
                    <a:pt x="f37" y="f29"/>
                    <a:pt x="f14" y="f29"/>
                  </a:cubicBezTo>
                  <a:cubicBezTo>
                    <a:pt x="f13" y="f29"/>
                    <a:pt x="f11" y="f29"/>
                    <a:pt x="f10" y="f36"/>
                  </a:cubicBezTo>
                  <a:cubicBezTo>
                    <a:pt x="f8" y="f36"/>
                    <a:pt x="f6" y="f36"/>
                    <a:pt x="f6" y="f31"/>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2" name="Freeform 14">
              <a:extLst>
                <a:ext uri="{FF2B5EF4-FFF2-40B4-BE49-F238E27FC236}">
                  <a16:creationId xmlns:a16="http://schemas.microsoft.com/office/drawing/2014/main" id="{14617BBE-525D-A659-B1FD-DC30853BB7F3}"/>
                </a:ext>
              </a:extLst>
            </p:cNvPr>
            <p:cNvSpPr/>
            <p:nvPr/>
          </p:nvSpPr>
          <p:spPr>
            <a:xfrm>
              <a:off x="111829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3" name="Freeform 15">
              <a:extLst>
                <a:ext uri="{FF2B5EF4-FFF2-40B4-BE49-F238E27FC236}">
                  <a16:creationId xmlns:a16="http://schemas.microsoft.com/office/drawing/2014/main" id="{795070D7-0812-4F55-A246-54949FAFEED9}"/>
                </a:ext>
              </a:extLst>
            </p:cNvPr>
            <p:cNvSpPr/>
            <p:nvPr/>
          </p:nvSpPr>
          <p:spPr>
            <a:xfrm>
              <a:off x="1189753"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7"/>
                <a:gd name="f14" fmla="val 24"/>
                <a:gd name="f15" fmla="val 8"/>
                <a:gd name="f16" fmla="val 26"/>
                <a:gd name="f17" fmla="val 27"/>
                <a:gd name="f18" fmla="val 9"/>
                <a:gd name="f19" fmla="val 28"/>
                <a:gd name="f20" fmla="val 10"/>
                <a:gd name="f21" fmla="val 29"/>
                <a:gd name="f22" fmla="val 30"/>
                <a:gd name="f23" fmla="val 11"/>
                <a:gd name="f24" fmla="val 31"/>
                <a:gd name="f25" fmla="val 12"/>
                <a:gd name="f26" fmla="val 13"/>
                <a:gd name="f27" fmla="val 14"/>
                <a:gd name="f28" fmla="val 16"/>
                <a:gd name="f29" fmla="val 17"/>
                <a:gd name="f30" fmla="val 18"/>
                <a:gd name="f31" fmla="val 23"/>
                <a:gd name="f32" fmla="val 25"/>
                <a:gd name="f33" fmla="val 35"/>
                <a:gd name="f34" fmla="val 36"/>
                <a:gd name="f35" fmla="val 37"/>
                <a:gd name="f36" fmla="val 38"/>
                <a:gd name="f37" fmla="val 39"/>
                <a:gd name="f38" fmla="val 15"/>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2 f49 1"/>
                <a:gd name="f59" fmla="*/ 7 f50 1"/>
                <a:gd name="f60" fmla="*/ 8 f50 1"/>
                <a:gd name="f61" fmla="*/ 27 f49 1"/>
                <a:gd name="f62" fmla="*/ 10 f50 1"/>
                <a:gd name="f63" fmla="*/ 30 f49 1"/>
                <a:gd name="f64" fmla="*/ 13 f50 1"/>
                <a:gd name="f65" fmla="*/ 32 f49 1"/>
                <a:gd name="f66" fmla="*/ 17 f50 1"/>
                <a:gd name="f67" fmla="*/ 33 f49 1"/>
                <a:gd name="f68" fmla="*/ 19 f50 1"/>
                <a:gd name="f69" fmla="*/ 21 f50 1"/>
                <a:gd name="f70" fmla="*/ 23 f50 1"/>
                <a:gd name="f71" fmla="*/ 31 f49 1"/>
                <a:gd name="f72" fmla="*/ 25 f50 1"/>
                <a:gd name="f73" fmla="*/ 29 f50 1"/>
                <a:gd name="f74" fmla="*/ 35 f49 1"/>
                <a:gd name="f75" fmla="*/ 27 f50 1"/>
                <a:gd name="f76" fmla="*/ 37 f49 1"/>
                <a:gd name="f77" fmla="*/ 24 f50 1"/>
                <a:gd name="f78" fmla="*/ 38 f49 1"/>
                <a:gd name="f79" fmla="*/ 20 f50 1"/>
                <a:gd name="f80" fmla="*/ 39 f49 1"/>
                <a:gd name="f81" fmla="*/ 16 f50 1"/>
                <a:gd name="f82" fmla="*/ 40 f49 1"/>
                <a:gd name="f83" fmla="*/ 12 f50 1"/>
                <a:gd name="f84" fmla="*/ 5 f50 1"/>
                <a:gd name="f85" fmla="*/ 34 f49 1"/>
                <a:gd name="f86" fmla="*/ 2 f50 1"/>
                <a:gd name="f87" fmla="*/ 0 f50 1"/>
                <a:gd name="f88" fmla="*/ 26 f49 1"/>
                <a:gd name="f89" fmla="*/ 20 f49 1"/>
                <a:gd name="f90" fmla="*/ 1 f50 1"/>
                <a:gd name="f91" fmla="*/ 11 f49 1"/>
                <a:gd name="f92" fmla="*/ 4 f50 1"/>
                <a:gd name="f93" fmla="*/ 5 f49 1"/>
                <a:gd name="f94" fmla="*/ 1 f49 1"/>
                <a:gd name="f95" fmla="*/ 0 f49 1"/>
                <a:gd name="f96" fmla="*/ 16 f49 1"/>
                <a:gd name="f97" fmla="*/ 12 f49 1"/>
                <a:gd name="f98" fmla="*/ 9 f49 1"/>
                <a:gd name="f99" fmla="*/ 7 f49 1"/>
                <a:gd name="f100" fmla="*/ 6 f49 1"/>
                <a:gd name="f101" fmla="*/ f51 1 f2"/>
                <a:gd name="f102" fmla="*/ f54 1 33"/>
                <a:gd name="f103" fmla="*/ f55 1 40"/>
                <a:gd name="f104" fmla="*/ f56 1 40"/>
                <a:gd name="f105" fmla="*/ f57 1 33"/>
                <a:gd name="f106" fmla="*/ f58 1 40"/>
                <a:gd name="f107" fmla="*/ f59 1 33"/>
                <a:gd name="f108" fmla="*/ f60 1 33"/>
                <a:gd name="f109" fmla="*/ f61 1 40"/>
                <a:gd name="f110" fmla="*/ f62 1 33"/>
                <a:gd name="f111" fmla="*/ f63 1 40"/>
                <a:gd name="f112" fmla="*/ f64 1 33"/>
                <a:gd name="f113" fmla="*/ f65 1 40"/>
                <a:gd name="f114" fmla="*/ f66 1 33"/>
                <a:gd name="f115" fmla="*/ f67 1 40"/>
                <a:gd name="f116" fmla="*/ f68 1 33"/>
                <a:gd name="f117" fmla="*/ f69 1 33"/>
                <a:gd name="f118" fmla="*/ f70 1 33"/>
                <a:gd name="f119" fmla="*/ f71 1 40"/>
                <a:gd name="f120" fmla="*/ f72 1 33"/>
                <a:gd name="f121" fmla="*/ f73 1 33"/>
                <a:gd name="f122" fmla="*/ f74 1 40"/>
                <a:gd name="f123" fmla="*/ f75 1 33"/>
                <a:gd name="f124" fmla="*/ f76 1 40"/>
                <a:gd name="f125" fmla="*/ f77 1 33"/>
                <a:gd name="f126" fmla="*/ f78 1 40"/>
                <a:gd name="f127" fmla="*/ f79 1 33"/>
                <a:gd name="f128" fmla="*/ f80 1 40"/>
                <a:gd name="f129" fmla="*/ f81 1 33"/>
                <a:gd name="f130" fmla="*/ f82 1 40"/>
                <a:gd name="f131" fmla="*/ f83 1 33"/>
                <a:gd name="f132" fmla="*/ f84 1 33"/>
                <a:gd name="f133" fmla="*/ f85 1 40"/>
                <a:gd name="f134" fmla="*/ f86 1 33"/>
                <a:gd name="f135" fmla="*/ f87 1 33"/>
                <a:gd name="f136" fmla="*/ f88 1 40"/>
                <a:gd name="f137" fmla="*/ f89 1 40"/>
                <a:gd name="f138" fmla="*/ f90 1 33"/>
                <a:gd name="f139" fmla="*/ f91 1 40"/>
                <a:gd name="f140" fmla="*/ f92 1 33"/>
                <a:gd name="f141" fmla="*/ f93 1 40"/>
                <a:gd name="f142" fmla="*/ f94 1 40"/>
                <a:gd name="f143" fmla="*/ f95 1 40"/>
                <a:gd name="f144" fmla="*/ f96 1 40"/>
                <a:gd name="f145" fmla="*/ f97 1 40"/>
                <a:gd name="f146" fmla="*/ f98 1 40"/>
                <a:gd name="f147" fmla="*/ f99 1 40"/>
                <a:gd name="f148" fmla="*/ f100 1 40"/>
                <a:gd name="f149" fmla="*/ 0 1 f52"/>
                <a:gd name="f150" fmla="*/ f6 1 f52"/>
                <a:gd name="f151" fmla="*/ 0 1 f53"/>
                <a:gd name="f152" fmla="*/ f7 1 f53"/>
                <a:gd name="f153" fmla="+- f101 0 f1"/>
                <a:gd name="f154" fmla="*/ f102 1 f52"/>
                <a:gd name="f155" fmla="*/ f103 1 f53"/>
                <a:gd name="f156" fmla="*/ f104 1 f53"/>
                <a:gd name="f157" fmla="*/ f105 1 f52"/>
                <a:gd name="f158" fmla="*/ f106 1 f53"/>
                <a:gd name="f159" fmla="*/ f107 1 f52"/>
                <a:gd name="f160" fmla="*/ f108 1 f52"/>
                <a:gd name="f161" fmla="*/ f109 1 f53"/>
                <a:gd name="f162" fmla="*/ f110 1 f52"/>
                <a:gd name="f163" fmla="*/ f111 1 f53"/>
                <a:gd name="f164" fmla="*/ f112 1 f52"/>
                <a:gd name="f165" fmla="*/ f113 1 f53"/>
                <a:gd name="f166" fmla="*/ f114 1 f52"/>
                <a:gd name="f167" fmla="*/ f115 1 f53"/>
                <a:gd name="f168" fmla="*/ f116 1 f52"/>
                <a:gd name="f169" fmla="*/ f117 1 f52"/>
                <a:gd name="f170" fmla="*/ f118 1 f52"/>
                <a:gd name="f171" fmla="*/ f119 1 f53"/>
                <a:gd name="f172" fmla="*/ f120 1 f52"/>
                <a:gd name="f173" fmla="*/ f121 1 f52"/>
                <a:gd name="f174" fmla="*/ f122 1 f53"/>
                <a:gd name="f175" fmla="*/ f123 1 f52"/>
                <a:gd name="f176" fmla="*/ f124 1 f53"/>
                <a:gd name="f177" fmla="*/ f125 1 f52"/>
                <a:gd name="f178" fmla="*/ f126 1 f53"/>
                <a:gd name="f179" fmla="*/ f127 1 f52"/>
                <a:gd name="f180" fmla="*/ f128 1 f53"/>
                <a:gd name="f181" fmla="*/ f129 1 f52"/>
                <a:gd name="f182" fmla="*/ f130 1 f53"/>
                <a:gd name="f183" fmla="*/ f131 1 f52"/>
                <a:gd name="f184" fmla="*/ f132 1 f52"/>
                <a:gd name="f185" fmla="*/ f133 1 f53"/>
                <a:gd name="f186" fmla="*/ f134 1 f52"/>
                <a:gd name="f187" fmla="*/ f135 1 f52"/>
                <a:gd name="f188" fmla="*/ f136 1 f53"/>
                <a:gd name="f189" fmla="*/ f137 1 f53"/>
                <a:gd name="f190" fmla="*/ f138 1 f52"/>
                <a:gd name="f191" fmla="*/ f139 1 f53"/>
                <a:gd name="f192" fmla="*/ f140 1 f52"/>
                <a:gd name="f193" fmla="*/ f141 1 f53"/>
                <a:gd name="f194" fmla="*/ f142 1 f53"/>
                <a:gd name="f195" fmla="*/ f143 1 f53"/>
                <a:gd name="f196" fmla="*/ f144 1 f53"/>
                <a:gd name="f197" fmla="*/ f145 1 f53"/>
                <a:gd name="f198" fmla="*/ f146 1 f53"/>
                <a:gd name="f199" fmla="*/ f147 1 f53"/>
                <a:gd name="f200" fmla="*/ f148 1 f53"/>
                <a:gd name="f201" fmla="*/ f149 f47 1"/>
                <a:gd name="f202" fmla="*/ f150 f47 1"/>
                <a:gd name="f203" fmla="*/ f152 f48 1"/>
                <a:gd name="f204" fmla="*/ f151 f48 1"/>
                <a:gd name="f205" fmla="*/ f154 f47 1"/>
                <a:gd name="f206" fmla="*/ f155 f48 1"/>
                <a:gd name="f207" fmla="*/ f156 f48 1"/>
                <a:gd name="f208" fmla="*/ f157 f47 1"/>
                <a:gd name="f209" fmla="*/ f158 f48 1"/>
                <a:gd name="f210" fmla="*/ f159 f47 1"/>
                <a:gd name="f211" fmla="*/ f160 f47 1"/>
                <a:gd name="f212" fmla="*/ f161 f48 1"/>
                <a:gd name="f213" fmla="*/ f162 f47 1"/>
                <a:gd name="f214" fmla="*/ f163 f48 1"/>
                <a:gd name="f215" fmla="*/ f164 f47 1"/>
                <a:gd name="f216" fmla="*/ f165 f48 1"/>
                <a:gd name="f217" fmla="*/ f166 f47 1"/>
                <a:gd name="f218" fmla="*/ f167 f48 1"/>
                <a:gd name="f219" fmla="*/ f168 f47 1"/>
                <a:gd name="f220" fmla="*/ f169 f47 1"/>
                <a:gd name="f221" fmla="*/ f170 f47 1"/>
                <a:gd name="f222" fmla="*/ f171 f48 1"/>
                <a:gd name="f223" fmla="*/ f172 f47 1"/>
                <a:gd name="f224" fmla="*/ f173 f47 1"/>
                <a:gd name="f225" fmla="*/ f174 f48 1"/>
                <a:gd name="f226" fmla="*/ f175 f47 1"/>
                <a:gd name="f227" fmla="*/ f176 f48 1"/>
                <a:gd name="f228" fmla="*/ f177 f47 1"/>
                <a:gd name="f229" fmla="*/ f178 f48 1"/>
                <a:gd name="f230" fmla="*/ f179 f47 1"/>
                <a:gd name="f231" fmla="*/ f180 f48 1"/>
                <a:gd name="f232" fmla="*/ f181 f47 1"/>
                <a:gd name="f233" fmla="*/ f182 f48 1"/>
                <a:gd name="f234" fmla="*/ f183 f47 1"/>
                <a:gd name="f235" fmla="*/ f184 f47 1"/>
                <a:gd name="f236" fmla="*/ f185 f48 1"/>
                <a:gd name="f237" fmla="*/ f186 f47 1"/>
                <a:gd name="f238" fmla="*/ f187 f47 1"/>
                <a:gd name="f239" fmla="*/ f188 f48 1"/>
                <a:gd name="f240" fmla="*/ f189 f48 1"/>
                <a:gd name="f241" fmla="*/ f190 f47 1"/>
                <a:gd name="f242" fmla="*/ f191 f48 1"/>
                <a:gd name="f243" fmla="*/ f192 f47 1"/>
                <a:gd name="f244" fmla="*/ f193 f48 1"/>
                <a:gd name="f245" fmla="*/ f194 f48 1"/>
                <a:gd name="f246" fmla="*/ f195 f48 1"/>
                <a:gd name="f247" fmla="*/ f196 f48 1"/>
                <a:gd name="f248" fmla="*/ f197 f48 1"/>
                <a:gd name="f249" fmla="*/ f198 f48 1"/>
                <a:gd name="f250" fmla="*/ f199 f48 1"/>
                <a:gd name="f251" fmla="*/ f200 f48 1"/>
              </a:gdLst>
              <a:ahLst/>
              <a:cxnLst>
                <a:cxn ang="3cd4">
                  <a:pos x="hc" y="t"/>
                </a:cxn>
                <a:cxn ang="0">
                  <a:pos x="r" y="vc"/>
                </a:cxn>
                <a:cxn ang="cd4">
                  <a:pos x="hc" y="b"/>
                </a:cxn>
                <a:cxn ang="cd2">
                  <a:pos x="l" y="vc"/>
                </a:cxn>
                <a:cxn ang="f153">
                  <a:pos x="f205" y="f206"/>
                </a:cxn>
                <a:cxn ang="f153">
                  <a:pos x="f205" y="f207"/>
                </a:cxn>
                <a:cxn ang="f153">
                  <a:pos x="f208" y="f209"/>
                </a:cxn>
                <a:cxn ang="f153">
                  <a:pos x="f210" y="f209"/>
                </a:cxn>
                <a:cxn ang="f153">
                  <a:pos x="f211" y="f212"/>
                </a:cxn>
                <a:cxn ang="f153">
                  <a:pos x="f213" y="f214"/>
                </a:cxn>
                <a:cxn ang="f153">
                  <a:pos x="f215" y="f216"/>
                </a:cxn>
                <a:cxn ang="f153">
                  <a:pos x="f217" y="f218"/>
                </a:cxn>
                <a:cxn ang="f153">
                  <a:pos x="f219" y="f218"/>
                </a:cxn>
                <a:cxn ang="f153">
                  <a:pos x="f220" y="f216"/>
                </a:cxn>
                <a:cxn ang="f153">
                  <a:pos x="f221" y="f222"/>
                </a:cxn>
                <a:cxn ang="f153">
                  <a:pos x="f223" y="f214"/>
                </a:cxn>
                <a:cxn ang="f153">
                  <a:pos x="f224" y="f225"/>
                </a:cxn>
                <a:cxn ang="f153">
                  <a:pos x="f226" y="f227"/>
                </a:cxn>
                <a:cxn ang="f153">
                  <a:pos x="f228" y="f229"/>
                </a:cxn>
                <a:cxn ang="f153">
                  <a:pos x="f230" y="f231"/>
                </a:cxn>
                <a:cxn ang="f153">
                  <a:pos x="f232" y="f233"/>
                </a:cxn>
                <a:cxn ang="f153">
                  <a:pos x="f234" y="f231"/>
                </a:cxn>
                <a:cxn ang="f153">
                  <a:pos x="f211" y="f227"/>
                </a:cxn>
                <a:cxn ang="f153">
                  <a:pos x="f235" y="f236"/>
                </a:cxn>
                <a:cxn ang="f153">
                  <a:pos x="f237" y="f222"/>
                </a:cxn>
                <a:cxn ang="f153">
                  <a:pos x="f238" y="f239"/>
                </a:cxn>
                <a:cxn ang="f153">
                  <a:pos x="f238" y="f240"/>
                </a:cxn>
                <a:cxn ang="f153">
                  <a:pos x="f241" y="f242"/>
                </a:cxn>
                <a:cxn ang="f153">
                  <a:pos x="f243" y="f244"/>
                </a:cxn>
                <a:cxn ang="f153">
                  <a:pos x="f213" y="f245"/>
                </a:cxn>
                <a:cxn ang="f153">
                  <a:pos x="f232" y="f246"/>
                </a:cxn>
                <a:cxn ang="f153">
                  <a:pos x="f228" y="f245"/>
                </a:cxn>
                <a:cxn ang="f153">
                  <a:pos x="f224" y="f244"/>
                </a:cxn>
                <a:cxn ang="f153">
                  <a:pos x="f208" y="f242"/>
                </a:cxn>
                <a:cxn ang="f153">
                  <a:pos x="f205" y="f206"/>
                </a:cxn>
                <a:cxn ang="f153">
                  <a:pos x="f223" y="f247"/>
                </a:cxn>
                <a:cxn ang="f153">
                  <a:pos x="f228" y="f248"/>
                </a:cxn>
                <a:cxn ang="f153">
                  <a:pos x="f221" y="f249"/>
                </a:cxn>
                <a:cxn ang="f153">
                  <a:pos x="f230" y="f250"/>
                </a:cxn>
                <a:cxn ang="f153">
                  <a:pos x="f232" y="f251"/>
                </a:cxn>
                <a:cxn ang="f153">
                  <a:pos x="f234" y="f250"/>
                </a:cxn>
                <a:cxn ang="f153">
                  <a:pos x="f213" y="f249"/>
                </a:cxn>
                <a:cxn ang="f153">
                  <a:pos x="f211" y="f248"/>
                </a:cxn>
                <a:cxn ang="f153">
                  <a:pos x="f210" y="f247"/>
                </a:cxn>
                <a:cxn ang="f153">
                  <a:pos x="f223" y="f247"/>
                </a:cxn>
              </a:cxnLst>
              <a:rect l="f201" t="f204" r="f202" b="f203"/>
              <a:pathLst>
                <a:path w="33" h="40">
                  <a:moveTo>
                    <a:pt x="f6" y="f8"/>
                  </a:moveTo>
                  <a:cubicBezTo>
                    <a:pt x="f6" y="f8"/>
                    <a:pt x="f6" y="f9"/>
                    <a:pt x="f6" y="f10"/>
                  </a:cubicBezTo>
                  <a:cubicBezTo>
                    <a:pt x="f11" y="f10"/>
                    <a:pt x="f11" y="f12"/>
                    <a:pt x="f11" y="f12"/>
                  </a:cubicBezTo>
                  <a:cubicBezTo>
                    <a:pt x="f13" y="f12"/>
                    <a:pt x="f13" y="f12"/>
                    <a:pt x="f13" y="f12"/>
                  </a:cubicBezTo>
                  <a:cubicBezTo>
                    <a:pt x="f13" y="f14"/>
                    <a:pt x="f15" y="f16"/>
                    <a:pt x="f15" y="f17"/>
                  </a:cubicBezTo>
                  <a:cubicBezTo>
                    <a:pt x="f18" y="f19"/>
                    <a:pt x="f20" y="f21"/>
                    <a:pt x="f20" y="f22"/>
                  </a:cubicBezTo>
                  <a:cubicBezTo>
                    <a:pt x="f23" y="f24"/>
                    <a:pt x="f25" y="f11"/>
                    <a:pt x="f26" y="f11"/>
                  </a:cubicBezTo>
                  <a:cubicBezTo>
                    <a:pt x="f27" y="f6"/>
                    <a:pt x="f28" y="f6"/>
                    <a:pt x="f29" y="f6"/>
                  </a:cubicBezTo>
                  <a:cubicBezTo>
                    <a:pt x="f30" y="f6"/>
                    <a:pt x="f30" y="f6"/>
                    <a:pt x="f8" y="f6"/>
                  </a:cubicBezTo>
                  <a:cubicBezTo>
                    <a:pt x="f9" y="f11"/>
                    <a:pt x="f9" y="f11"/>
                    <a:pt x="f10" y="f11"/>
                  </a:cubicBezTo>
                  <a:cubicBezTo>
                    <a:pt x="f12" y="f11"/>
                    <a:pt x="f12" y="f24"/>
                    <a:pt x="f31" y="f24"/>
                  </a:cubicBezTo>
                  <a:cubicBezTo>
                    <a:pt x="f31" y="f24"/>
                    <a:pt x="f14" y="f22"/>
                    <a:pt x="f32" y="f22"/>
                  </a:cubicBezTo>
                  <a:cubicBezTo>
                    <a:pt x="f21" y="f33"/>
                    <a:pt x="f21" y="f33"/>
                    <a:pt x="f21" y="f33"/>
                  </a:cubicBezTo>
                  <a:cubicBezTo>
                    <a:pt x="f21" y="f33"/>
                    <a:pt x="f19" y="f34"/>
                    <a:pt x="f17" y="f35"/>
                  </a:cubicBezTo>
                  <a:cubicBezTo>
                    <a:pt x="f16" y="f35"/>
                    <a:pt x="f32" y="f36"/>
                    <a:pt x="f14" y="f36"/>
                  </a:cubicBezTo>
                  <a:cubicBezTo>
                    <a:pt x="f31" y="f37"/>
                    <a:pt x="f12" y="f37"/>
                    <a:pt x="f9" y="f37"/>
                  </a:cubicBezTo>
                  <a:cubicBezTo>
                    <a:pt x="f8" y="f37"/>
                    <a:pt x="f30" y="f7"/>
                    <a:pt x="f28" y="f7"/>
                  </a:cubicBezTo>
                  <a:cubicBezTo>
                    <a:pt x="f38" y="f7"/>
                    <a:pt x="f26" y="f37"/>
                    <a:pt x="f25" y="f37"/>
                  </a:cubicBezTo>
                  <a:cubicBezTo>
                    <a:pt x="f20" y="f36"/>
                    <a:pt x="f18" y="f36"/>
                    <a:pt x="f15" y="f35"/>
                  </a:cubicBezTo>
                  <a:cubicBezTo>
                    <a:pt x="f13" y="f34"/>
                    <a:pt x="f39" y="f33"/>
                    <a:pt x="f40" y="f41"/>
                  </a:cubicBezTo>
                  <a:cubicBezTo>
                    <a:pt x="f42" y="f41"/>
                    <a:pt x="f43" y="f11"/>
                    <a:pt x="f44" y="f24"/>
                  </a:cubicBezTo>
                  <a:cubicBezTo>
                    <a:pt x="f45" y="f21"/>
                    <a:pt x="f45" y="f19"/>
                    <a:pt x="f5" y="f16"/>
                  </a:cubicBezTo>
                  <a:cubicBezTo>
                    <a:pt x="f5" y="f14"/>
                    <a:pt x="f5" y="f12"/>
                    <a:pt x="f5" y="f9"/>
                  </a:cubicBezTo>
                  <a:cubicBezTo>
                    <a:pt x="f5" y="f28"/>
                    <a:pt x="f5" y="f26"/>
                    <a:pt x="f45" y="f23"/>
                  </a:cubicBezTo>
                  <a:cubicBezTo>
                    <a:pt x="f44" y="f15"/>
                    <a:pt x="f43" y="f39"/>
                    <a:pt x="f42" y="f40"/>
                  </a:cubicBezTo>
                  <a:cubicBezTo>
                    <a:pt x="f39" y="f43"/>
                    <a:pt x="f15" y="f44"/>
                    <a:pt x="f20" y="f45"/>
                  </a:cubicBezTo>
                  <a:cubicBezTo>
                    <a:pt x="f25" y="f5"/>
                    <a:pt x="f27" y="f5"/>
                    <a:pt x="f28" y="f5"/>
                  </a:cubicBezTo>
                  <a:cubicBezTo>
                    <a:pt x="f8" y="f5"/>
                    <a:pt x="f12" y="f5"/>
                    <a:pt x="f14" y="f45"/>
                  </a:cubicBezTo>
                  <a:cubicBezTo>
                    <a:pt x="f16" y="f44"/>
                    <a:pt x="f17" y="f42"/>
                    <a:pt x="f21" y="f40"/>
                  </a:cubicBezTo>
                  <a:cubicBezTo>
                    <a:pt x="f22" y="f13"/>
                    <a:pt x="f24" y="f18"/>
                    <a:pt x="f11" y="f23"/>
                  </a:cubicBezTo>
                  <a:cubicBezTo>
                    <a:pt x="f11" y="f27"/>
                    <a:pt x="f6" y="f28"/>
                    <a:pt x="f6" y="f8"/>
                  </a:cubicBezTo>
                  <a:close/>
                  <a:moveTo>
                    <a:pt x="f32" y="f28"/>
                  </a:moveTo>
                  <a:cubicBezTo>
                    <a:pt x="f32" y="f38"/>
                    <a:pt x="f32" y="f26"/>
                    <a:pt x="f14" y="f25"/>
                  </a:cubicBezTo>
                  <a:cubicBezTo>
                    <a:pt x="f14" y="f23"/>
                    <a:pt x="f31" y="f20"/>
                    <a:pt x="f31" y="f18"/>
                  </a:cubicBezTo>
                  <a:cubicBezTo>
                    <a:pt x="f12" y="f15"/>
                    <a:pt x="f10" y="f15"/>
                    <a:pt x="f9" y="f13"/>
                  </a:cubicBezTo>
                  <a:cubicBezTo>
                    <a:pt x="f8" y="f13"/>
                    <a:pt x="f29" y="f39"/>
                    <a:pt x="f28" y="f39"/>
                  </a:cubicBezTo>
                  <a:cubicBezTo>
                    <a:pt x="f38" y="f39"/>
                    <a:pt x="f26" y="f13"/>
                    <a:pt x="f25" y="f13"/>
                  </a:cubicBezTo>
                  <a:cubicBezTo>
                    <a:pt x="f23" y="f13"/>
                    <a:pt x="f23" y="f15"/>
                    <a:pt x="f20" y="f18"/>
                  </a:cubicBezTo>
                  <a:cubicBezTo>
                    <a:pt x="f18" y="f20"/>
                    <a:pt x="f18" y="f23"/>
                    <a:pt x="f15" y="f25"/>
                  </a:cubicBezTo>
                  <a:cubicBezTo>
                    <a:pt x="f15" y="f26"/>
                    <a:pt x="f13" y="f27"/>
                    <a:pt x="f13"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4" name="Freeform 16">
              <a:extLst>
                <a:ext uri="{FF2B5EF4-FFF2-40B4-BE49-F238E27FC236}">
                  <a16:creationId xmlns:a16="http://schemas.microsoft.com/office/drawing/2014/main" id="{D8628407-A3C0-2A4F-86E0-CC5AB9469FE8}"/>
                </a:ext>
              </a:extLst>
            </p:cNvPr>
            <p:cNvSpPr/>
            <p:nvPr/>
          </p:nvSpPr>
          <p:spPr>
            <a:xfrm>
              <a:off x="1294314" y="6088166"/>
              <a:ext cx="55769" cy="99395"/>
            </a:xfrm>
            <a:custGeom>
              <a:avLst/>
              <a:gdLst>
                <a:gd name="f0" fmla="val 10800000"/>
                <a:gd name="f1" fmla="val 5400000"/>
                <a:gd name="f2" fmla="val 180"/>
                <a:gd name="f3" fmla="val w"/>
                <a:gd name="f4" fmla="val h"/>
                <a:gd name="f5" fmla="val 0"/>
                <a:gd name="f6" fmla="val 22"/>
                <a:gd name="f7" fmla="val 39"/>
                <a:gd name="f8" fmla="val 20"/>
                <a:gd name="f9" fmla="val 8"/>
                <a:gd name="f10" fmla="val 19"/>
                <a:gd name="f11" fmla="val 18"/>
                <a:gd name="f12" fmla="val 7"/>
                <a:gd name="f13" fmla="val 17"/>
                <a:gd name="f14" fmla="val 16"/>
                <a:gd name="f15" fmla="val 15"/>
                <a:gd name="f16" fmla="val 12"/>
                <a:gd name="f17" fmla="val 10"/>
                <a:gd name="f18" fmla="val 9"/>
                <a:gd name="f19" fmla="val 11"/>
                <a:gd name="f20" fmla="val 14"/>
                <a:gd name="f21" fmla="val 4"/>
                <a:gd name="f22" fmla="val 3"/>
                <a:gd name="f23" fmla="val 2"/>
                <a:gd name="f24" fmla="val 1"/>
                <a:gd name="f25" fmla="val 13"/>
                <a:gd name="f26" fmla="val 21"/>
                <a:gd name="f27" fmla="+- 0 0 -90"/>
                <a:gd name="f28" fmla="*/ f3 1 22"/>
                <a:gd name="f29" fmla="*/ f4 1 39"/>
                <a:gd name="f30" fmla="+- f7 0 f5"/>
                <a:gd name="f31" fmla="+- f6 0 f5"/>
                <a:gd name="f32" fmla="*/ f27 f0 1"/>
                <a:gd name="f33" fmla="*/ f31 1 22"/>
                <a:gd name="f34" fmla="*/ f30 1 39"/>
                <a:gd name="f35" fmla="*/ 20 f31 1"/>
                <a:gd name="f36" fmla="*/ 8 f30 1"/>
                <a:gd name="f37" fmla="*/ 18 f31 1"/>
                <a:gd name="f38" fmla="*/ 7 f30 1"/>
                <a:gd name="f39" fmla="*/ 15 f31 1"/>
                <a:gd name="f40" fmla="*/ 9 f31 1"/>
                <a:gd name="f41" fmla="*/ 9 f30 1"/>
                <a:gd name="f42" fmla="*/ 7 f31 1"/>
                <a:gd name="f43" fmla="*/ 17 f30 1"/>
                <a:gd name="f44" fmla="*/ 39 f30 1"/>
                <a:gd name="f45" fmla="*/ 0 f31 1"/>
                <a:gd name="f46" fmla="*/ 0 f30 1"/>
                <a:gd name="f47" fmla="*/ 4 f30 1"/>
                <a:gd name="f48" fmla="*/ 2 f30 1"/>
                <a:gd name="f49" fmla="*/ 11 f31 1"/>
                <a:gd name="f50" fmla="*/ 1 f30 1"/>
                <a:gd name="f51" fmla="*/ 13 f31 1"/>
                <a:gd name="f52" fmla="*/ 16 f31 1"/>
                <a:gd name="f53" fmla="*/ 22 f31 1"/>
                <a:gd name="f54" fmla="*/ f32 1 f2"/>
                <a:gd name="f55" fmla="*/ f35 1 22"/>
                <a:gd name="f56" fmla="*/ f36 1 39"/>
                <a:gd name="f57" fmla="*/ f37 1 22"/>
                <a:gd name="f58" fmla="*/ f38 1 39"/>
                <a:gd name="f59" fmla="*/ f39 1 22"/>
                <a:gd name="f60" fmla="*/ f40 1 22"/>
                <a:gd name="f61" fmla="*/ f41 1 39"/>
                <a:gd name="f62" fmla="*/ f42 1 22"/>
                <a:gd name="f63" fmla="*/ f43 1 39"/>
                <a:gd name="f64" fmla="*/ f44 1 39"/>
                <a:gd name="f65" fmla="*/ f45 1 22"/>
                <a:gd name="f66" fmla="*/ f46 1 39"/>
                <a:gd name="f67" fmla="*/ f47 1 39"/>
                <a:gd name="f68" fmla="*/ f48 1 39"/>
                <a:gd name="f69" fmla="*/ f49 1 22"/>
                <a:gd name="f70" fmla="*/ f50 1 39"/>
                <a:gd name="f71" fmla="*/ f51 1 22"/>
                <a:gd name="f72" fmla="*/ f52 1 22"/>
                <a:gd name="f73" fmla="*/ f53 1 22"/>
                <a:gd name="f74" fmla="*/ 0 1 f33"/>
                <a:gd name="f75" fmla="*/ f6 1 f33"/>
                <a:gd name="f76" fmla="*/ 0 1 f34"/>
                <a:gd name="f77" fmla="*/ f7 1 f34"/>
                <a:gd name="f78" fmla="+- f54 0 f1"/>
                <a:gd name="f79" fmla="*/ f55 1 f33"/>
                <a:gd name="f80" fmla="*/ f56 1 f34"/>
                <a:gd name="f81" fmla="*/ f57 1 f33"/>
                <a:gd name="f82" fmla="*/ f58 1 f34"/>
                <a:gd name="f83" fmla="*/ f59 1 f33"/>
                <a:gd name="f84" fmla="*/ f60 1 f33"/>
                <a:gd name="f85" fmla="*/ f61 1 f34"/>
                <a:gd name="f86" fmla="*/ f62 1 f33"/>
                <a:gd name="f87" fmla="*/ f63 1 f34"/>
                <a:gd name="f88" fmla="*/ f64 1 f34"/>
                <a:gd name="f89" fmla="*/ f65 1 f33"/>
                <a:gd name="f90" fmla="*/ f66 1 f34"/>
                <a:gd name="f91" fmla="*/ f67 1 f34"/>
                <a:gd name="f92" fmla="*/ f68 1 f34"/>
                <a:gd name="f93" fmla="*/ f69 1 f33"/>
                <a:gd name="f94" fmla="*/ f70 1 f34"/>
                <a:gd name="f95" fmla="*/ f71 1 f33"/>
                <a:gd name="f96" fmla="*/ f72 1 f33"/>
                <a:gd name="f97" fmla="*/ f73 1 f33"/>
                <a:gd name="f98" fmla="*/ f74 f28 1"/>
                <a:gd name="f99" fmla="*/ f75 f28 1"/>
                <a:gd name="f100" fmla="*/ f77 f29 1"/>
                <a:gd name="f101" fmla="*/ f76 f29 1"/>
                <a:gd name="f102" fmla="*/ f79 f28 1"/>
                <a:gd name="f103" fmla="*/ f80 f29 1"/>
                <a:gd name="f104" fmla="*/ f81 f28 1"/>
                <a:gd name="f105" fmla="*/ f82 f29 1"/>
                <a:gd name="f106" fmla="*/ f83 f28 1"/>
                <a:gd name="f107" fmla="*/ f84 f28 1"/>
                <a:gd name="f108" fmla="*/ f85 f29 1"/>
                <a:gd name="f109" fmla="*/ f86 f28 1"/>
                <a:gd name="f110" fmla="*/ f87 f29 1"/>
                <a:gd name="f111" fmla="*/ f88 f29 1"/>
                <a:gd name="f112" fmla="*/ f89 f28 1"/>
                <a:gd name="f113" fmla="*/ f90 f29 1"/>
                <a:gd name="f114" fmla="*/ f91 f29 1"/>
                <a:gd name="f115" fmla="*/ f92 f29 1"/>
                <a:gd name="f116" fmla="*/ f93 f28 1"/>
                <a:gd name="f117" fmla="*/ f94 f29 1"/>
                <a:gd name="f118" fmla="*/ f95 f28 1"/>
                <a:gd name="f119" fmla="*/ f96 f28 1"/>
                <a:gd name="f120" fmla="*/ f97 f28 1"/>
              </a:gdLst>
              <a:ahLst/>
              <a:cxnLst>
                <a:cxn ang="3cd4">
                  <a:pos x="hc" y="t"/>
                </a:cxn>
                <a:cxn ang="0">
                  <a:pos x="r" y="vc"/>
                </a:cxn>
                <a:cxn ang="cd4">
                  <a:pos x="hc" y="b"/>
                </a:cxn>
                <a:cxn ang="cd2">
                  <a:pos x="l" y="vc"/>
                </a:cxn>
                <a:cxn ang="f78">
                  <a:pos x="f102" y="f103"/>
                </a:cxn>
                <a:cxn ang="f78">
                  <a:pos x="f104" y="f105"/>
                </a:cxn>
                <a:cxn ang="f78">
                  <a:pos x="f106" y="f105"/>
                </a:cxn>
                <a:cxn ang="f78">
                  <a:pos x="f107" y="f108"/>
                </a:cxn>
                <a:cxn ang="f78">
                  <a:pos x="f109" y="f110"/>
                </a:cxn>
                <a:cxn ang="f78">
                  <a:pos x="f109" y="f111"/>
                </a:cxn>
                <a:cxn ang="f78">
                  <a:pos x="f112" y="f111"/>
                </a:cxn>
                <a:cxn ang="f78">
                  <a:pos x="f112" y="f113"/>
                </a:cxn>
                <a:cxn ang="f78">
                  <a:pos x="f109" y="f113"/>
                </a:cxn>
                <a:cxn ang="f78">
                  <a:pos x="f109" y="f114"/>
                </a:cxn>
                <a:cxn ang="f78">
                  <a:pos x="f107" y="f115"/>
                </a:cxn>
                <a:cxn ang="f78">
                  <a:pos x="f116" y="f117"/>
                </a:cxn>
                <a:cxn ang="f78">
                  <a:pos x="f118" y="f113"/>
                </a:cxn>
                <a:cxn ang="f78">
                  <a:pos x="f119" y="f113"/>
                </a:cxn>
                <a:cxn ang="f78">
                  <a:pos x="f102" y="f113"/>
                </a:cxn>
                <a:cxn ang="f78">
                  <a:pos x="f120" y="f117"/>
                </a:cxn>
                <a:cxn ang="f78">
                  <a:pos x="f102" y="f103"/>
                </a:cxn>
              </a:cxnLst>
              <a:rect l="f98" t="f101" r="f99" b="f100"/>
              <a:pathLst>
                <a:path w="22" h="39">
                  <a:moveTo>
                    <a:pt x="f8" y="f9"/>
                  </a:moveTo>
                  <a:cubicBezTo>
                    <a:pt x="f8" y="f9"/>
                    <a:pt x="f10" y="f9"/>
                    <a:pt x="f11" y="f12"/>
                  </a:cubicBezTo>
                  <a:cubicBezTo>
                    <a:pt x="f13" y="f12"/>
                    <a:pt x="f14" y="f12"/>
                    <a:pt x="f15" y="f12"/>
                  </a:cubicBezTo>
                  <a:cubicBezTo>
                    <a:pt x="f16" y="f12"/>
                    <a:pt x="f17" y="f9"/>
                    <a:pt x="f18" y="f18"/>
                  </a:cubicBezTo>
                  <a:cubicBezTo>
                    <a:pt x="f9" y="f19"/>
                    <a:pt x="f12" y="f20"/>
                    <a:pt x="f12" y="f13"/>
                  </a:cubicBezTo>
                  <a:cubicBezTo>
                    <a:pt x="f12" y="f7"/>
                    <a:pt x="f12" y="f7"/>
                    <a:pt x="f12" y="f7"/>
                  </a:cubicBezTo>
                  <a:cubicBezTo>
                    <a:pt x="f5" y="f7"/>
                    <a:pt x="f5" y="f7"/>
                    <a:pt x="f5" y="f7"/>
                  </a:cubicBezTo>
                  <a:cubicBezTo>
                    <a:pt x="f5" y="f5"/>
                    <a:pt x="f5" y="f5"/>
                    <a:pt x="f5" y="f5"/>
                  </a:cubicBezTo>
                  <a:cubicBezTo>
                    <a:pt x="f12" y="f5"/>
                    <a:pt x="f12" y="f5"/>
                    <a:pt x="f12" y="f5"/>
                  </a:cubicBezTo>
                  <a:cubicBezTo>
                    <a:pt x="f12" y="f21"/>
                    <a:pt x="f12" y="f21"/>
                    <a:pt x="f12" y="f21"/>
                  </a:cubicBezTo>
                  <a:cubicBezTo>
                    <a:pt x="f9" y="f22"/>
                    <a:pt x="f9" y="f22"/>
                    <a:pt x="f18" y="f23"/>
                  </a:cubicBezTo>
                  <a:cubicBezTo>
                    <a:pt x="f18" y="f23"/>
                    <a:pt x="f17" y="f24"/>
                    <a:pt x="f19" y="f24"/>
                  </a:cubicBezTo>
                  <a:cubicBezTo>
                    <a:pt x="f19" y="f5"/>
                    <a:pt x="f16" y="f5"/>
                    <a:pt x="f25" y="f5"/>
                  </a:cubicBezTo>
                  <a:cubicBezTo>
                    <a:pt x="f20" y="f5"/>
                    <a:pt x="f15" y="f5"/>
                    <a:pt x="f14" y="f5"/>
                  </a:cubicBezTo>
                  <a:cubicBezTo>
                    <a:pt x="f13" y="f5"/>
                    <a:pt x="f10" y="f5"/>
                    <a:pt x="f8" y="f5"/>
                  </a:cubicBezTo>
                  <a:cubicBezTo>
                    <a:pt x="f26" y="f5"/>
                    <a:pt x="f6"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5" name="Freeform 17">
              <a:extLst>
                <a:ext uri="{FF2B5EF4-FFF2-40B4-BE49-F238E27FC236}">
                  <a16:creationId xmlns:a16="http://schemas.microsoft.com/office/drawing/2014/main" id="{4325453A-E88E-CF4D-8932-FFC208B5C11E}"/>
                </a:ext>
              </a:extLst>
            </p:cNvPr>
            <p:cNvSpPr/>
            <p:nvPr/>
          </p:nvSpPr>
          <p:spPr>
            <a:xfrm>
              <a:off x="1405862"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3"/>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47"/>
                <a:gd name="f36" fmla="val 16"/>
                <a:gd name="f37" fmla="+- 0 0 -90"/>
                <a:gd name="f38" fmla="*/ f3 1 22"/>
                <a:gd name="f39" fmla="*/ f4 1 55"/>
                <a:gd name="f40" fmla="+- f7 0 f5"/>
                <a:gd name="f41" fmla="+- f6 0 f5"/>
                <a:gd name="f42" fmla="*/ f37 f0 1"/>
                <a:gd name="f43" fmla="*/ f41 1 22"/>
                <a:gd name="f44" fmla="*/ f40 1 55"/>
                <a:gd name="f45" fmla="*/ 21 f41 1"/>
                <a:gd name="f46" fmla="*/ 53 f40 1"/>
                <a:gd name="f47" fmla="*/ 18 f41 1"/>
                <a:gd name="f48" fmla="*/ 54 f40 1"/>
                <a:gd name="f49" fmla="*/ 14 f41 1"/>
                <a:gd name="f50" fmla="*/ 55 f40 1"/>
                <a:gd name="f51" fmla="*/ 10 f41 1"/>
                <a:gd name="f52" fmla="*/ 8 f41 1"/>
                <a:gd name="f53" fmla="*/ 52 f40 1"/>
                <a:gd name="f54" fmla="*/ 6 f41 1"/>
                <a:gd name="f55" fmla="*/ 49 f40 1"/>
                <a:gd name="f56" fmla="*/ 5 f41 1"/>
                <a:gd name="f57" fmla="*/ 44 f40 1"/>
                <a:gd name="f58" fmla="*/ 22 f40 1"/>
                <a:gd name="f59" fmla="*/ 0 f41 1"/>
                <a:gd name="f60" fmla="*/ 15 f40 1"/>
                <a:gd name="f61" fmla="*/ 4 f40 1"/>
                <a:gd name="f62" fmla="*/ 13 f41 1"/>
                <a:gd name="f63" fmla="*/ 0 f40 1"/>
                <a:gd name="f64" fmla="*/ 22 f41 1"/>
                <a:gd name="f65" fmla="*/ 43 f40 1"/>
                <a:gd name="f66" fmla="*/ 45 f40 1"/>
                <a:gd name="f67" fmla="*/ 47 f40 1"/>
                <a:gd name="f68" fmla="*/ 15 f41 1"/>
                <a:gd name="f69" fmla="*/ 17 f41 1"/>
                <a:gd name="f70" fmla="*/ 48 f40 1"/>
                <a:gd name="f71" fmla="*/ 20 f41 1"/>
                <a:gd name="f72" fmla="*/ 46 f40 1"/>
                <a:gd name="f73" fmla="*/ f42 1 f2"/>
                <a:gd name="f74" fmla="*/ f45 1 22"/>
                <a:gd name="f75" fmla="*/ f46 1 55"/>
                <a:gd name="f76" fmla="*/ f47 1 22"/>
                <a:gd name="f77" fmla="*/ f48 1 55"/>
                <a:gd name="f78" fmla="*/ f49 1 22"/>
                <a:gd name="f79" fmla="*/ f50 1 55"/>
                <a:gd name="f80" fmla="*/ f51 1 22"/>
                <a:gd name="f81" fmla="*/ f52 1 22"/>
                <a:gd name="f82" fmla="*/ f53 1 55"/>
                <a:gd name="f83" fmla="*/ f54 1 22"/>
                <a:gd name="f84" fmla="*/ f55 1 55"/>
                <a:gd name="f85" fmla="*/ f56 1 22"/>
                <a:gd name="f86" fmla="*/ f57 1 55"/>
                <a:gd name="f87" fmla="*/ f58 1 55"/>
                <a:gd name="f88" fmla="*/ f59 1 22"/>
                <a:gd name="f89" fmla="*/ f60 1 55"/>
                <a:gd name="f90" fmla="*/ f61 1 55"/>
                <a:gd name="f91" fmla="*/ f62 1 22"/>
                <a:gd name="f92" fmla="*/ f63 1 55"/>
                <a:gd name="f93" fmla="*/ f64 1 22"/>
                <a:gd name="f94" fmla="*/ f65 1 55"/>
                <a:gd name="f95" fmla="*/ f66 1 55"/>
                <a:gd name="f96" fmla="*/ f67 1 55"/>
                <a:gd name="f97" fmla="*/ f68 1 22"/>
                <a:gd name="f98" fmla="*/ f69 1 22"/>
                <a:gd name="f99" fmla="*/ f70 1 55"/>
                <a:gd name="f100" fmla="*/ f71 1 22"/>
                <a:gd name="f101" fmla="*/ f72 1 55"/>
                <a:gd name="f102" fmla="*/ 0 1 f43"/>
                <a:gd name="f103" fmla="*/ f6 1 f43"/>
                <a:gd name="f104" fmla="*/ 0 1 f44"/>
                <a:gd name="f105" fmla="*/ f7 1 f44"/>
                <a:gd name="f106" fmla="+- f73 0 f1"/>
                <a:gd name="f107" fmla="*/ f74 1 f43"/>
                <a:gd name="f108" fmla="*/ f75 1 f44"/>
                <a:gd name="f109" fmla="*/ f76 1 f43"/>
                <a:gd name="f110" fmla="*/ f77 1 f44"/>
                <a:gd name="f111" fmla="*/ f78 1 f43"/>
                <a:gd name="f112" fmla="*/ f79 1 f44"/>
                <a:gd name="f113" fmla="*/ f80 1 f43"/>
                <a:gd name="f114" fmla="*/ f81 1 f43"/>
                <a:gd name="f115" fmla="*/ f82 1 f44"/>
                <a:gd name="f116" fmla="*/ f83 1 f43"/>
                <a:gd name="f117" fmla="*/ f84 1 f44"/>
                <a:gd name="f118" fmla="*/ f85 1 f43"/>
                <a:gd name="f119" fmla="*/ f86 1 f44"/>
                <a:gd name="f120" fmla="*/ f87 1 f44"/>
                <a:gd name="f121" fmla="*/ f88 1 f43"/>
                <a:gd name="f122" fmla="*/ f89 1 f44"/>
                <a:gd name="f123" fmla="*/ f90 1 f44"/>
                <a:gd name="f124" fmla="*/ f91 1 f43"/>
                <a:gd name="f125" fmla="*/ f92 1 f44"/>
                <a:gd name="f126" fmla="*/ f93 1 f43"/>
                <a:gd name="f127" fmla="*/ f94 1 f44"/>
                <a:gd name="f128" fmla="*/ f95 1 f44"/>
                <a:gd name="f129" fmla="*/ f96 1 f44"/>
                <a:gd name="f130" fmla="*/ f97 1 f43"/>
                <a:gd name="f131" fmla="*/ f98 1 f43"/>
                <a:gd name="f132" fmla="*/ f99 1 f44"/>
                <a:gd name="f133" fmla="*/ f100 1 f43"/>
                <a:gd name="f134" fmla="*/ f101 1 f44"/>
                <a:gd name="f135" fmla="*/ f102 f38 1"/>
                <a:gd name="f136" fmla="*/ f103 f38 1"/>
                <a:gd name="f137" fmla="*/ f105 f39 1"/>
                <a:gd name="f138" fmla="*/ f104 f39 1"/>
                <a:gd name="f139" fmla="*/ f107 f38 1"/>
                <a:gd name="f140" fmla="*/ f108 f39 1"/>
                <a:gd name="f141" fmla="*/ f109 f38 1"/>
                <a:gd name="f142" fmla="*/ f110 f39 1"/>
                <a:gd name="f143" fmla="*/ f111 f38 1"/>
                <a:gd name="f144" fmla="*/ f112 f39 1"/>
                <a:gd name="f145" fmla="*/ f113 f38 1"/>
                <a:gd name="f146" fmla="*/ f114 f38 1"/>
                <a:gd name="f147" fmla="*/ f115 f39 1"/>
                <a:gd name="f148" fmla="*/ f116 f38 1"/>
                <a:gd name="f149" fmla="*/ f117 f39 1"/>
                <a:gd name="f150" fmla="*/ f118 f38 1"/>
                <a:gd name="f151" fmla="*/ f119 f39 1"/>
                <a:gd name="f152" fmla="*/ f120 f39 1"/>
                <a:gd name="f153" fmla="*/ f121 f38 1"/>
                <a:gd name="f154" fmla="*/ f122 f39 1"/>
                <a:gd name="f155" fmla="*/ f123 f39 1"/>
                <a:gd name="f156" fmla="*/ f124 f38 1"/>
                <a:gd name="f157" fmla="*/ f125 f39 1"/>
                <a:gd name="f158" fmla="*/ f126 f38 1"/>
                <a:gd name="f159" fmla="*/ f127 f39 1"/>
                <a:gd name="f160" fmla="*/ f128 f39 1"/>
                <a:gd name="f161" fmla="*/ f129 f39 1"/>
                <a:gd name="f162" fmla="*/ f130 f38 1"/>
                <a:gd name="f163" fmla="*/ f131 f38 1"/>
                <a:gd name="f164" fmla="*/ f132 f39 1"/>
                <a:gd name="f165" fmla="*/ f133 f38 1"/>
                <a:gd name="f166" fmla="*/ f134 f39 1"/>
              </a:gdLst>
              <a:ahLst/>
              <a:cxnLst>
                <a:cxn ang="3cd4">
                  <a:pos x="hc" y="t"/>
                </a:cxn>
                <a:cxn ang="0">
                  <a:pos x="r" y="vc"/>
                </a:cxn>
                <a:cxn ang="cd4">
                  <a:pos x="hc" y="b"/>
                </a:cxn>
                <a:cxn ang="cd2">
                  <a:pos x="l" y="vc"/>
                </a:cxn>
                <a:cxn ang="f106">
                  <a:pos x="f139" y="f140"/>
                </a:cxn>
                <a:cxn ang="f106">
                  <a:pos x="f141" y="f142"/>
                </a:cxn>
                <a:cxn ang="f106">
                  <a:pos x="f143" y="f144"/>
                </a:cxn>
                <a:cxn ang="f106">
                  <a:pos x="f145" y="f142"/>
                </a:cxn>
                <a:cxn ang="f106">
                  <a:pos x="f146" y="f147"/>
                </a:cxn>
                <a:cxn ang="f106">
                  <a:pos x="f148" y="f149"/>
                </a:cxn>
                <a:cxn ang="f106">
                  <a:pos x="f150" y="f151"/>
                </a:cxn>
                <a:cxn ang="f106">
                  <a:pos x="f150" y="f152"/>
                </a:cxn>
                <a:cxn ang="f106">
                  <a:pos x="f153" y="f152"/>
                </a:cxn>
                <a:cxn ang="f106">
                  <a:pos x="f153" y="f154"/>
                </a:cxn>
                <a:cxn ang="f106">
                  <a:pos x="f150" y="f154"/>
                </a:cxn>
                <a:cxn ang="f106">
                  <a:pos x="f150" y="f155"/>
                </a:cxn>
                <a:cxn ang="f106">
                  <a:pos x="f156" y="f157"/>
                </a:cxn>
                <a:cxn ang="f106">
                  <a:pos x="f156" y="f154"/>
                </a:cxn>
                <a:cxn ang="f106">
                  <a:pos x="f158" y="f154"/>
                </a:cxn>
                <a:cxn ang="f106">
                  <a:pos x="f158" y="f152"/>
                </a:cxn>
                <a:cxn ang="f106">
                  <a:pos x="f156" y="f152"/>
                </a:cxn>
                <a:cxn ang="f106">
                  <a:pos x="f156" y="f159"/>
                </a:cxn>
                <a:cxn ang="f106">
                  <a:pos x="f156" y="f160"/>
                </a:cxn>
                <a:cxn ang="f106">
                  <a:pos x="f143" y="f161"/>
                </a:cxn>
                <a:cxn ang="f106">
                  <a:pos x="f162" y="f161"/>
                </a:cxn>
                <a:cxn ang="f106">
                  <a:pos x="f163" y="f164"/>
                </a:cxn>
                <a:cxn ang="f106">
                  <a:pos x="f165" y="f161"/>
                </a:cxn>
                <a:cxn ang="f106">
                  <a:pos x="f158" y="f166"/>
                </a:cxn>
                <a:cxn ang="f106">
                  <a:pos x="f139" y="f140"/>
                </a:cxn>
              </a:cxnLst>
              <a:rect l="f135" t="f138" r="f136" b="f137"/>
              <a:pathLst>
                <a:path w="22" h="55">
                  <a:moveTo>
                    <a:pt x="f8" y="f9"/>
                  </a:moveTo>
                  <a:cubicBezTo>
                    <a:pt x="f10" y="f9"/>
                    <a:pt x="f11" y="f12"/>
                    <a:pt x="f13" y="f12"/>
                  </a:cubicBezTo>
                  <a:cubicBezTo>
                    <a:pt x="f14" y="f12"/>
                    <a:pt x="f15" y="f7"/>
                    <a:pt x="f16" y="f7"/>
                  </a:cubicBezTo>
                  <a:cubicBezTo>
                    <a:pt x="f17" y="f7"/>
                    <a:pt x="f18" y="f12"/>
                    <a:pt x="f19" y="f12"/>
                  </a:cubicBezTo>
                  <a:cubicBezTo>
                    <a:pt x="f20" y="f12"/>
                    <a:pt x="f20"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17" y="f34"/>
                  </a:cubicBezTo>
                  <a:cubicBezTo>
                    <a:pt x="f17" y="f30"/>
                    <a:pt x="f17" y="f30"/>
                    <a:pt x="f16" y="f35"/>
                  </a:cubicBezTo>
                  <a:cubicBezTo>
                    <a:pt x="f16" y="f35"/>
                    <a:pt x="f16" y="f35"/>
                    <a:pt x="f15" y="f35"/>
                  </a:cubicBezTo>
                  <a:cubicBezTo>
                    <a:pt x="f15" y="f29"/>
                    <a:pt x="f36" y="f29"/>
                    <a:pt x="f14" y="f29"/>
                  </a:cubicBezTo>
                  <a:cubicBezTo>
                    <a:pt x="f13" y="f29"/>
                    <a:pt x="f11" y="f29"/>
                    <a:pt x="f10" y="f35"/>
                  </a:cubicBezTo>
                  <a:cubicBezTo>
                    <a:pt x="f8" y="f35"/>
                    <a:pt x="f8" y="f35"/>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6" name="Freeform 18">
              <a:extLst>
                <a:ext uri="{FF2B5EF4-FFF2-40B4-BE49-F238E27FC236}">
                  <a16:creationId xmlns:a16="http://schemas.microsoft.com/office/drawing/2014/main" id="{F0627CB5-850D-1151-0873-EA982959BCC0}"/>
                </a:ext>
              </a:extLst>
            </p:cNvPr>
            <p:cNvSpPr/>
            <p:nvPr/>
          </p:nvSpPr>
          <p:spPr>
            <a:xfrm>
              <a:off x="1484281"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6"/>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10 f38 1"/>
                <a:gd name="f51" fmla="*/ 8 f38 1"/>
                <a:gd name="f52" fmla="*/ 27 f37 1"/>
                <a:gd name="f53" fmla="*/ 7 f38 1"/>
                <a:gd name="f54" fmla="*/ 31 f37 1"/>
                <a:gd name="f55" fmla="*/ 0 f38 1"/>
                <a:gd name="f56" fmla="*/ 4 f37 1"/>
                <a:gd name="f57" fmla="*/ 0 f37 1"/>
                <a:gd name="f58" fmla="*/ 19 f37 1"/>
                <a:gd name="f59" fmla="*/ 9 f38 1"/>
                <a:gd name="f60" fmla="*/ 17 f37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31"/>
                <a:gd name="f87" fmla="*/ f60 1 54"/>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0"/>
                <a:gd name="f118" fmla="*/ f87 1 f41"/>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5 1"/>
                <a:gd name="f148" fmla="*/ f118 f36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47" y="f148"/>
                </a:cxn>
                <a:cxn ang="f99">
                  <a:pos x="f137"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8" y="f11"/>
                    <a:pt x="f12" y="f13"/>
                  </a:cubicBezTo>
                  <a:cubicBezTo>
                    <a:pt x="f14" y="f15"/>
                    <a:pt x="f16" y="f15"/>
                    <a:pt x="f17" y="f15"/>
                  </a:cubicBezTo>
                  <a:cubicBezTo>
                    <a:pt x="f18" y="f15"/>
                    <a:pt x="f19" y="f15"/>
                    <a:pt x="f20" y="f15"/>
                  </a:cubicBezTo>
                  <a:cubicBezTo>
                    <a:pt x="f21" y="f15"/>
                    <a:pt x="f22" y="f8"/>
                    <a:pt x="f22" y="f13"/>
                  </a:cubicBezTo>
                  <a:cubicBezTo>
                    <a:pt x="f23" y="f24"/>
                    <a:pt x="f25" y="f11"/>
                    <a:pt x="f25" y="f26"/>
                  </a:cubicBezTo>
                  <a:cubicBezTo>
                    <a:pt x="f25"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3" y="f16"/>
                    <a:pt x="f23" y="f31"/>
                  </a:cubicBezTo>
                  <a:cubicBezTo>
                    <a:pt x="f22" y="f31"/>
                    <a:pt x="f21" y="f32"/>
                    <a:pt x="f20" y="f32"/>
                  </a:cubicBezTo>
                  <a:cubicBezTo>
                    <a:pt x="f20" y="f17"/>
                    <a:pt x="f19" y="f17"/>
                    <a:pt x="f18" y="f17"/>
                  </a:cubicBezTo>
                  <a:cubicBezTo>
                    <a:pt x="f17" y="f17"/>
                    <a:pt x="f32" y="f17"/>
                    <a:pt x="f31" y="f17"/>
                  </a:cubicBezTo>
                  <a:cubicBezTo>
                    <a:pt x="f30" y="f17"/>
                    <a:pt x="f12" y="f17"/>
                    <a:pt x="f8" y="f32"/>
                  </a:cubicBezTo>
                  <a:cubicBezTo>
                    <a:pt x="f24" y="f32"/>
                    <a:pt x="f11" y="f31"/>
                    <a:pt x="f26" y="f30"/>
                  </a:cubicBezTo>
                  <a:cubicBezTo>
                    <a:pt x="f33" y="f14"/>
                    <a:pt x="f33" y="f15"/>
                    <a:pt x="f28" y="f13"/>
                  </a:cubicBezTo>
                  <a:cubicBezTo>
                    <a:pt x="f6"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7" name="Freeform 19">
              <a:extLst>
                <a:ext uri="{FF2B5EF4-FFF2-40B4-BE49-F238E27FC236}">
                  <a16:creationId xmlns:a16="http://schemas.microsoft.com/office/drawing/2014/main" id="{250D7831-D657-4843-1A6A-FD98DE3D9977}"/>
                </a:ext>
              </a:extLst>
            </p:cNvPr>
            <p:cNvSpPr/>
            <p:nvPr/>
          </p:nvSpPr>
          <p:spPr>
            <a:xfrm>
              <a:off x="1581884"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30" y="f7"/>
                    <a:pt x="f29" y="f7"/>
                  </a:cubicBezTo>
                  <a:cubicBezTo>
                    <a:pt x="f27" y="f7"/>
                    <a:pt x="f26" y="f37"/>
                    <a:pt x="f22" y="f37"/>
                  </a:cubicBezTo>
                  <a:cubicBezTo>
                    <a:pt x="f20" y="f36"/>
                    <a:pt x="f17" y="f36"/>
                    <a:pt x="f12" y="f35"/>
                  </a:cubicBezTo>
                  <a:cubicBezTo>
                    <a:pt x="f38" y="f34"/>
                    <a:pt x="f39" y="f33"/>
                    <a:pt x="f40" y="f41"/>
                  </a:cubicBezTo>
                  <a:cubicBezTo>
                    <a:pt x="f42"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8" name="Freeform 20">
              <a:extLst>
                <a:ext uri="{FF2B5EF4-FFF2-40B4-BE49-F238E27FC236}">
                  <a16:creationId xmlns:a16="http://schemas.microsoft.com/office/drawing/2014/main" id="{4809DCC4-41C5-65C1-668A-DE61BD11D8ED}"/>
                </a:ext>
              </a:extLst>
            </p:cNvPr>
            <p:cNvSpPr/>
            <p:nvPr/>
          </p:nvSpPr>
          <p:spPr>
            <a:xfrm>
              <a:off x="1730017" y="6088166"/>
              <a:ext cx="80165" cy="134261"/>
            </a:xfrm>
            <a:custGeom>
              <a:avLst/>
              <a:gdLst>
                <a:gd name="f0" fmla="val 10800000"/>
                <a:gd name="f1" fmla="val 5400000"/>
                <a:gd name="f2" fmla="val 180"/>
                <a:gd name="f3" fmla="val w"/>
                <a:gd name="f4" fmla="val h"/>
                <a:gd name="f5" fmla="val 0"/>
                <a:gd name="f6" fmla="val 32"/>
                <a:gd name="f7" fmla="val 53"/>
                <a:gd name="f8" fmla="val 25"/>
                <a:gd name="f9" fmla="val 35"/>
                <a:gd name="f10" fmla="val 23"/>
                <a:gd name="f11" fmla="val 36"/>
                <a:gd name="f12" fmla="val 22"/>
                <a:gd name="f13" fmla="val 37"/>
                <a:gd name="f14" fmla="val 20"/>
                <a:gd name="f15" fmla="val 38"/>
                <a:gd name="f16" fmla="val 18"/>
                <a:gd name="f17" fmla="val 39"/>
                <a:gd name="f18" fmla="val 17"/>
                <a:gd name="f19" fmla="val 40"/>
                <a:gd name="f20" fmla="val 15"/>
                <a:gd name="f21" fmla="val 13"/>
                <a:gd name="f22" fmla="val 11"/>
                <a:gd name="f23" fmla="val 9"/>
                <a:gd name="f24" fmla="val 7"/>
                <a:gd name="f25" fmla="val 5"/>
                <a:gd name="f26" fmla="val 4"/>
                <a:gd name="f27" fmla="val 3"/>
                <a:gd name="f28" fmla="val 33"/>
                <a:gd name="f29" fmla="val 2"/>
                <a:gd name="f30" fmla="val 31"/>
                <a:gd name="f31" fmla="val 1"/>
                <a:gd name="f32" fmla="val 28"/>
                <a:gd name="f33" fmla="val 26"/>
                <a:gd name="f34" fmla="val 19"/>
                <a:gd name="f35" fmla="val 16"/>
                <a:gd name="f36" fmla="val 10"/>
                <a:gd name="f37" fmla="val 8"/>
                <a:gd name="f38" fmla="val 6"/>
                <a:gd name="f39" fmla="val 21"/>
                <a:gd name="f40" fmla="val 24"/>
                <a:gd name="f41" fmla="val 49"/>
                <a:gd name="f42" fmla="val 12"/>
                <a:gd name="f43" fmla="val 27"/>
                <a:gd name="f44" fmla="val 29"/>
                <a:gd name="f45" fmla="val 30"/>
                <a:gd name="f46" fmla="+- 0 0 -90"/>
                <a:gd name="f47" fmla="*/ f3 1 32"/>
                <a:gd name="f48" fmla="*/ f4 1 53"/>
                <a:gd name="f49" fmla="+- f7 0 f5"/>
                <a:gd name="f50" fmla="+- f6 0 f5"/>
                <a:gd name="f51" fmla="*/ f46 f0 1"/>
                <a:gd name="f52" fmla="*/ f50 1 32"/>
                <a:gd name="f53" fmla="*/ f49 1 53"/>
                <a:gd name="f54" fmla="*/ 25 f50 1"/>
                <a:gd name="f55" fmla="*/ 53 f49 1"/>
                <a:gd name="f56" fmla="*/ 35 f49 1"/>
                <a:gd name="f57" fmla="*/ 20 f50 1"/>
                <a:gd name="f58" fmla="*/ 38 f49 1"/>
                <a:gd name="f59" fmla="*/ 15 f50 1"/>
                <a:gd name="f60" fmla="*/ 40 f49 1"/>
                <a:gd name="f61" fmla="*/ 9 f50 1"/>
                <a:gd name="f62" fmla="*/ 4 f50 1"/>
                <a:gd name="f63" fmla="*/ 1 f50 1"/>
                <a:gd name="f64" fmla="*/ 28 f49 1"/>
                <a:gd name="f65" fmla="*/ 0 f50 1"/>
                <a:gd name="f66" fmla="*/ 19 f49 1"/>
                <a:gd name="f67" fmla="*/ 10 f49 1"/>
                <a:gd name="f68" fmla="*/ 4 f49 1"/>
                <a:gd name="f69" fmla="*/ 1 f49 1"/>
                <a:gd name="f70" fmla="*/ 0 f49 1"/>
                <a:gd name="f71" fmla="*/ 18 f50 1"/>
                <a:gd name="f72" fmla="*/ 23 f50 1"/>
                <a:gd name="f73" fmla="*/ 2 f49 1"/>
                <a:gd name="f74" fmla="*/ 32 f50 1"/>
                <a:gd name="f75" fmla="*/ 49 f49 1"/>
                <a:gd name="f76" fmla="*/ 12 f49 1"/>
                <a:gd name="f77" fmla="*/ 21 f50 1"/>
                <a:gd name="f78" fmla="*/ 8 f49 1"/>
                <a:gd name="f79" fmla="*/ 7 f49 1"/>
                <a:gd name="f80" fmla="*/ 16 f50 1"/>
                <a:gd name="f81" fmla="*/ 7 f50 1"/>
                <a:gd name="f82" fmla="*/ 10 f50 1"/>
                <a:gd name="f83" fmla="*/ 29 f49 1"/>
                <a:gd name="f84" fmla="*/ 33 f49 1"/>
                <a:gd name="f85" fmla="*/ 31 f49 1"/>
                <a:gd name="f86" fmla="*/ f51 1 f2"/>
                <a:gd name="f87" fmla="*/ f54 1 32"/>
                <a:gd name="f88" fmla="*/ f55 1 53"/>
                <a:gd name="f89" fmla="*/ f56 1 53"/>
                <a:gd name="f90" fmla="*/ f57 1 32"/>
                <a:gd name="f91" fmla="*/ f58 1 53"/>
                <a:gd name="f92" fmla="*/ f59 1 32"/>
                <a:gd name="f93" fmla="*/ f60 1 53"/>
                <a:gd name="f94" fmla="*/ f61 1 32"/>
                <a:gd name="f95" fmla="*/ f62 1 32"/>
                <a:gd name="f96" fmla="*/ f63 1 32"/>
                <a:gd name="f97" fmla="*/ f64 1 53"/>
                <a:gd name="f98" fmla="*/ f65 1 32"/>
                <a:gd name="f99" fmla="*/ f66 1 53"/>
                <a:gd name="f100" fmla="*/ f67 1 53"/>
                <a:gd name="f101" fmla="*/ f68 1 53"/>
                <a:gd name="f102" fmla="*/ f69 1 53"/>
                <a:gd name="f103" fmla="*/ f70 1 53"/>
                <a:gd name="f104" fmla="*/ f71 1 32"/>
                <a:gd name="f105" fmla="*/ f72 1 32"/>
                <a:gd name="f106" fmla="*/ f73 1 53"/>
                <a:gd name="f107" fmla="*/ f74 1 32"/>
                <a:gd name="f108" fmla="*/ f75 1 53"/>
                <a:gd name="f109" fmla="*/ f76 1 53"/>
                <a:gd name="f110" fmla="*/ f77 1 32"/>
                <a:gd name="f111" fmla="*/ f78 1 53"/>
                <a:gd name="f112" fmla="*/ f79 1 53"/>
                <a:gd name="f113" fmla="*/ f80 1 32"/>
                <a:gd name="f114" fmla="*/ f81 1 32"/>
                <a:gd name="f115" fmla="*/ f82 1 32"/>
                <a:gd name="f116" fmla="*/ f83 1 53"/>
                <a:gd name="f117" fmla="*/ f84 1 53"/>
                <a:gd name="f118" fmla="*/ f85 1 53"/>
                <a:gd name="f119" fmla="*/ 0 1 f52"/>
                <a:gd name="f120" fmla="*/ f6 1 f52"/>
                <a:gd name="f121" fmla="*/ 0 1 f53"/>
                <a:gd name="f122" fmla="*/ f7 1 f53"/>
                <a:gd name="f123" fmla="+- f86 0 f1"/>
                <a:gd name="f124" fmla="*/ f87 1 f52"/>
                <a:gd name="f125" fmla="*/ f88 1 f53"/>
                <a:gd name="f126" fmla="*/ f89 1 f53"/>
                <a:gd name="f127" fmla="*/ f90 1 f52"/>
                <a:gd name="f128" fmla="*/ f91 1 f53"/>
                <a:gd name="f129" fmla="*/ f92 1 f52"/>
                <a:gd name="f130" fmla="*/ f93 1 f53"/>
                <a:gd name="f131" fmla="*/ f94 1 f52"/>
                <a:gd name="f132" fmla="*/ f95 1 f52"/>
                <a:gd name="f133" fmla="*/ f96 1 f52"/>
                <a:gd name="f134" fmla="*/ f97 1 f53"/>
                <a:gd name="f135" fmla="*/ f98 1 f52"/>
                <a:gd name="f136" fmla="*/ f99 1 f53"/>
                <a:gd name="f137" fmla="*/ f100 1 f53"/>
                <a:gd name="f138" fmla="*/ f101 1 f53"/>
                <a:gd name="f139" fmla="*/ f102 1 f53"/>
                <a:gd name="f140" fmla="*/ f103 1 f53"/>
                <a:gd name="f141" fmla="*/ f104 1 f52"/>
                <a:gd name="f142" fmla="*/ f105 1 f52"/>
                <a:gd name="f143" fmla="*/ f106 1 f53"/>
                <a:gd name="f144" fmla="*/ f107 1 f52"/>
                <a:gd name="f145" fmla="*/ f108 1 f53"/>
                <a:gd name="f146" fmla="*/ f109 1 f53"/>
                <a:gd name="f147" fmla="*/ f110 1 f52"/>
                <a:gd name="f148" fmla="*/ f111 1 f53"/>
                <a:gd name="f149" fmla="*/ f112 1 f53"/>
                <a:gd name="f150" fmla="*/ f113 1 f52"/>
                <a:gd name="f151" fmla="*/ f114 1 f52"/>
                <a:gd name="f152" fmla="*/ f115 1 f52"/>
                <a:gd name="f153" fmla="*/ f116 1 f53"/>
                <a:gd name="f154" fmla="*/ f117 1 f53"/>
                <a:gd name="f155" fmla="*/ f118 1 f53"/>
                <a:gd name="f156" fmla="*/ f119 f47 1"/>
                <a:gd name="f157" fmla="*/ f120 f47 1"/>
                <a:gd name="f158" fmla="*/ f122 f48 1"/>
                <a:gd name="f159" fmla="*/ f121 f48 1"/>
                <a:gd name="f160" fmla="*/ f124 f47 1"/>
                <a:gd name="f161" fmla="*/ f125 f48 1"/>
                <a:gd name="f162" fmla="*/ f126 f48 1"/>
                <a:gd name="f163" fmla="*/ f127 f47 1"/>
                <a:gd name="f164" fmla="*/ f128 f48 1"/>
                <a:gd name="f165" fmla="*/ f129 f47 1"/>
                <a:gd name="f166" fmla="*/ f130 f48 1"/>
                <a:gd name="f167" fmla="*/ f131 f47 1"/>
                <a:gd name="f168" fmla="*/ f132 f47 1"/>
                <a:gd name="f169" fmla="*/ f133 f47 1"/>
                <a:gd name="f170" fmla="*/ f134 f48 1"/>
                <a:gd name="f171" fmla="*/ f135 f47 1"/>
                <a:gd name="f172" fmla="*/ f136 f48 1"/>
                <a:gd name="f173" fmla="*/ f137 f48 1"/>
                <a:gd name="f174" fmla="*/ f138 f48 1"/>
                <a:gd name="f175" fmla="*/ f139 f48 1"/>
                <a:gd name="f176" fmla="*/ f140 f48 1"/>
                <a:gd name="f177" fmla="*/ f141 f47 1"/>
                <a:gd name="f178" fmla="*/ f142 f47 1"/>
                <a:gd name="f179" fmla="*/ f143 f48 1"/>
                <a:gd name="f180" fmla="*/ f144 f47 1"/>
                <a:gd name="f181" fmla="*/ f145 f48 1"/>
                <a:gd name="f182" fmla="*/ f146 f48 1"/>
                <a:gd name="f183" fmla="*/ f147 f47 1"/>
                <a:gd name="f184" fmla="*/ f148 f48 1"/>
                <a:gd name="f185" fmla="*/ f149 f48 1"/>
                <a:gd name="f186" fmla="*/ f150 f47 1"/>
                <a:gd name="f187" fmla="*/ f151 f47 1"/>
                <a:gd name="f188" fmla="*/ f152 f47 1"/>
                <a:gd name="f189" fmla="*/ f153 f48 1"/>
                <a:gd name="f190" fmla="*/ f154 f48 1"/>
                <a:gd name="f191" fmla="*/ f155 f48 1"/>
              </a:gdLst>
              <a:ahLst/>
              <a:cxnLst>
                <a:cxn ang="3cd4">
                  <a:pos x="hc" y="t"/>
                </a:cxn>
                <a:cxn ang="0">
                  <a:pos x="r" y="vc"/>
                </a:cxn>
                <a:cxn ang="cd4">
                  <a:pos x="hc" y="b"/>
                </a:cxn>
                <a:cxn ang="cd2">
                  <a:pos x="l" y="vc"/>
                </a:cxn>
                <a:cxn ang="f123">
                  <a:pos x="f160" y="f161"/>
                </a:cxn>
                <a:cxn ang="f123">
                  <a:pos x="f160" y="f162"/>
                </a:cxn>
                <a:cxn ang="f123">
                  <a:pos x="f163" y="f164"/>
                </a:cxn>
                <a:cxn ang="f123">
                  <a:pos x="f165" y="f166"/>
                </a:cxn>
                <a:cxn ang="f123">
                  <a:pos x="f167" y="f164"/>
                </a:cxn>
                <a:cxn ang="f123">
                  <a:pos x="f168" y="f162"/>
                </a:cxn>
                <a:cxn ang="f123">
                  <a:pos x="f169" y="f170"/>
                </a:cxn>
                <a:cxn ang="f123">
                  <a:pos x="f171" y="f172"/>
                </a:cxn>
                <a:cxn ang="f123">
                  <a:pos x="f169" y="f173"/>
                </a:cxn>
                <a:cxn ang="f123">
                  <a:pos x="f168" y="f174"/>
                </a:cxn>
                <a:cxn ang="f123">
                  <a:pos x="f167" y="f175"/>
                </a:cxn>
                <a:cxn ang="f123">
                  <a:pos x="f165" y="f176"/>
                </a:cxn>
                <a:cxn ang="f123">
                  <a:pos x="f177" y="f176"/>
                </a:cxn>
                <a:cxn ang="f123">
                  <a:pos x="f163" y="f175"/>
                </a:cxn>
                <a:cxn ang="f123">
                  <a:pos x="f178" y="f179"/>
                </a:cxn>
                <a:cxn ang="f123">
                  <a:pos x="f160" y="f174"/>
                </a:cxn>
                <a:cxn ang="f123">
                  <a:pos x="f160" y="f176"/>
                </a:cxn>
                <a:cxn ang="f123">
                  <a:pos x="f180" y="f176"/>
                </a:cxn>
                <a:cxn ang="f123">
                  <a:pos x="f180" y="f181"/>
                </a:cxn>
                <a:cxn ang="f123">
                  <a:pos x="f160" y="f161"/>
                </a:cxn>
                <a:cxn ang="f123">
                  <a:pos x="f160" y="f182"/>
                </a:cxn>
                <a:cxn ang="f123">
                  <a:pos x="f178" y="f173"/>
                </a:cxn>
                <a:cxn ang="f123">
                  <a:pos x="f183" y="f184"/>
                </a:cxn>
                <a:cxn ang="f123">
                  <a:pos x="f177" y="f185"/>
                </a:cxn>
                <a:cxn ang="f123">
                  <a:pos x="f186" y="f185"/>
                </a:cxn>
                <a:cxn ang="f123">
                  <a:pos x="f167" y="f173"/>
                </a:cxn>
                <a:cxn ang="f123">
                  <a:pos x="f187" y="f172"/>
                </a:cxn>
                <a:cxn ang="f123">
                  <a:pos x="f188" y="f189"/>
                </a:cxn>
                <a:cxn ang="f123">
                  <a:pos x="f186" y="f190"/>
                </a:cxn>
                <a:cxn ang="f123">
                  <a:pos x="f183" y="f191"/>
                </a:cxn>
                <a:cxn ang="f123">
                  <a:pos x="f160" y="f170"/>
                </a:cxn>
                <a:cxn ang="f123">
                  <a:pos x="f160" y="f182"/>
                </a:cxn>
              </a:cxnLst>
              <a:rect l="f156" t="f159" r="f157" b="f158"/>
              <a:pathLst>
                <a:path w="32" h="53">
                  <a:moveTo>
                    <a:pt x="f8" y="f7"/>
                  </a:moveTo>
                  <a:cubicBezTo>
                    <a:pt x="f8" y="f9"/>
                    <a:pt x="f8" y="f9"/>
                    <a:pt x="f8" y="f9"/>
                  </a:cubicBezTo>
                  <a:cubicBezTo>
                    <a:pt x="f10" y="f11"/>
                    <a:pt x="f12" y="f13"/>
                    <a:pt x="f14" y="f15"/>
                  </a:cubicBezTo>
                  <a:cubicBezTo>
                    <a:pt x="f16" y="f17"/>
                    <a:pt x="f18" y="f19"/>
                    <a:pt x="f20" y="f19"/>
                  </a:cubicBezTo>
                  <a:cubicBezTo>
                    <a:pt x="f21" y="f19"/>
                    <a:pt x="f22" y="f17"/>
                    <a:pt x="f23" y="f15"/>
                  </a:cubicBezTo>
                  <a:cubicBezTo>
                    <a:pt x="f24" y="f15"/>
                    <a:pt x="f25" y="f11"/>
                    <a:pt x="f26" y="f9"/>
                  </a:cubicBezTo>
                  <a:cubicBezTo>
                    <a:pt x="f27" y="f28"/>
                    <a:pt x="f29" y="f30"/>
                    <a:pt x="f31" y="f32"/>
                  </a:cubicBezTo>
                  <a:cubicBezTo>
                    <a:pt x="f5" y="f33"/>
                    <a:pt x="f5" y="f10"/>
                    <a:pt x="f5" y="f34"/>
                  </a:cubicBezTo>
                  <a:cubicBezTo>
                    <a:pt x="f5" y="f35"/>
                    <a:pt x="f5" y="f21"/>
                    <a:pt x="f31" y="f36"/>
                  </a:cubicBezTo>
                  <a:cubicBezTo>
                    <a:pt x="f29" y="f37"/>
                    <a:pt x="f27" y="f38"/>
                    <a:pt x="f26" y="f26"/>
                  </a:cubicBezTo>
                  <a:cubicBezTo>
                    <a:pt x="f38" y="f27"/>
                    <a:pt x="f24" y="f29"/>
                    <a:pt x="f23" y="f31"/>
                  </a:cubicBezTo>
                  <a:cubicBezTo>
                    <a:pt x="f22" y="f5"/>
                    <a:pt x="f21" y="f5"/>
                    <a:pt x="f20" y="f5"/>
                  </a:cubicBezTo>
                  <a:cubicBezTo>
                    <a:pt x="f35" y="f5"/>
                    <a:pt x="f18" y="f5"/>
                    <a:pt x="f16" y="f5"/>
                  </a:cubicBezTo>
                  <a:cubicBezTo>
                    <a:pt x="f34" y="f5"/>
                    <a:pt x="f14" y="f5"/>
                    <a:pt x="f14" y="f31"/>
                  </a:cubicBezTo>
                  <a:cubicBezTo>
                    <a:pt x="f39" y="f31"/>
                    <a:pt x="f12" y="f29"/>
                    <a:pt x="f10" y="f29"/>
                  </a:cubicBezTo>
                  <a:cubicBezTo>
                    <a:pt x="f10" y="f27"/>
                    <a:pt x="f40" y="f27"/>
                    <a:pt x="f8" y="f26"/>
                  </a:cubicBezTo>
                  <a:cubicBezTo>
                    <a:pt x="f8" y="f5"/>
                    <a:pt x="f8" y="f5"/>
                    <a:pt x="f8" y="f5"/>
                  </a:cubicBezTo>
                  <a:cubicBezTo>
                    <a:pt x="f6" y="f5"/>
                    <a:pt x="f6" y="f5"/>
                    <a:pt x="f6" y="f5"/>
                  </a:cubicBezTo>
                  <a:cubicBezTo>
                    <a:pt x="f6" y="f41"/>
                    <a:pt x="f6" y="f41"/>
                    <a:pt x="f6" y="f41"/>
                  </a:cubicBezTo>
                  <a:lnTo>
                    <a:pt x="f8" y="f7"/>
                  </a:lnTo>
                  <a:close/>
                  <a:moveTo>
                    <a:pt x="f8" y="f42"/>
                  </a:moveTo>
                  <a:cubicBezTo>
                    <a:pt x="f40" y="f22"/>
                    <a:pt x="f40" y="f36"/>
                    <a:pt x="f10" y="f36"/>
                  </a:cubicBezTo>
                  <a:cubicBezTo>
                    <a:pt x="f10" y="f23"/>
                    <a:pt x="f12" y="f23"/>
                    <a:pt x="f39" y="f37"/>
                  </a:cubicBezTo>
                  <a:cubicBezTo>
                    <a:pt x="f14" y="f37"/>
                    <a:pt x="f34" y="f24"/>
                    <a:pt x="f16" y="f24"/>
                  </a:cubicBezTo>
                  <a:cubicBezTo>
                    <a:pt x="f16" y="f24"/>
                    <a:pt x="f18" y="f24"/>
                    <a:pt x="f35" y="f24"/>
                  </a:cubicBezTo>
                  <a:cubicBezTo>
                    <a:pt x="f21" y="f24"/>
                    <a:pt x="f22" y="f37"/>
                    <a:pt x="f23" y="f36"/>
                  </a:cubicBezTo>
                  <a:cubicBezTo>
                    <a:pt x="f37" y="f42"/>
                    <a:pt x="f24" y="f20"/>
                    <a:pt x="f24" y="f34"/>
                  </a:cubicBezTo>
                  <a:cubicBezTo>
                    <a:pt x="f24" y="f10"/>
                    <a:pt x="f37" y="f43"/>
                    <a:pt x="f36" y="f44"/>
                  </a:cubicBezTo>
                  <a:cubicBezTo>
                    <a:pt x="f22" y="f30"/>
                    <a:pt x="f21" y="f28"/>
                    <a:pt x="f35" y="f28"/>
                  </a:cubicBezTo>
                  <a:cubicBezTo>
                    <a:pt x="f16" y="f28"/>
                    <a:pt x="f34" y="f6"/>
                    <a:pt x="f39" y="f30"/>
                  </a:cubicBezTo>
                  <a:cubicBezTo>
                    <a:pt x="f12" y="f45"/>
                    <a:pt x="f40" y="f44"/>
                    <a:pt x="f8" y="f32"/>
                  </a:cubicBezTo>
                  <a:lnTo>
                    <a:pt x="f8" y="f42"/>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19" name="Freeform 21">
              <a:extLst>
                <a:ext uri="{FF2B5EF4-FFF2-40B4-BE49-F238E27FC236}">
                  <a16:creationId xmlns:a16="http://schemas.microsoft.com/office/drawing/2014/main" id="{70D74AE8-D2BD-4B31-5293-1B36C5784106}"/>
                </a:ext>
              </a:extLst>
            </p:cNvPr>
            <p:cNvSpPr/>
            <p:nvPr/>
          </p:nvSpPr>
          <p:spPr>
            <a:xfrm>
              <a:off x="1834588" y="6088166"/>
              <a:ext cx="78428" cy="101132"/>
            </a:xfrm>
            <a:custGeom>
              <a:avLst/>
              <a:gdLst>
                <a:gd name="f0" fmla="val 10800000"/>
                <a:gd name="f1" fmla="val 5400000"/>
                <a:gd name="f2" fmla="val 180"/>
                <a:gd name="f3" fmla="val w"/>
                <a:gd name="f4" fmla="val h"/>
                <a:gd name="f5" fmla="val 0"/>
                <a:gd name="f6" fmla="val 31"/>
                <a:gd name="f7" fmla="val 40"/>
                <a:gd name="f8" fmla="val 24"/>
                <a:gd name="f9" fmla="val 39"/>
                <a:gd name="f10" fmla="val 35"/>
                <a:gd name="f11" fmla="val 23"/>
                <a:gd name="f12" fmla="val 36"/>
                <a:gd name="f13" fmla="val 22"/>
                <a:gd name="f14" fmla="val 38"/>
                <a:gd name="f15" fmla="val 20"/>
                <a:gd name="f16" fmla="val 18"/>
                <a:gd name="f17" fmla="val 16"/>
                <a:gd name="f18" fmla="val 14"/>
                <a:gd name="f19" fmla="val 10"/>
                <a:gd name="f20" fmla="val 6"/>
                <a:gd name="f21" fmla="val 4"/>
                <a:gd name="f22" fmla="val 2"/>
                <a:gd name="f23" fmla="val 32"/>
                <a:gd name="f24" fmla="val 28"/>
                <a:gd name="f25" fmla="val 8"/>
                <a:gd name="f26" fmla="val 26"/>
                <a:gd name="f27" fmla="val 9"/>
                <a:gd name="f28" fmla="val 30"/>
                <a:gd name="f29" fmla="val 11"/>
                <a:gd name="f30" fmla="val 13"/>
                <a:gd name="f31" fmla="val 33"/>
                <a:gd name="f32" fmla="+- 0 0 -90"/>
                <a:gd name="f33" fmla="*/ f3 1 31"/>
                <a:gd name="f34" fmla="*/ f4 1 40"/>
                <a:gd name="f35" fmla="+- f7 0 f5"/>
                <a:gd name="f36" fmla="+- f6 0 f5"/>
                <a:gd name="f37" fmla="*/ f32 f0 1"/>
                <a:gd name="f38" fmla="*/ f36 1 31"/>
                <a:gd name="f39" fmla="*/ f35 1 40"/>
                <a:gd name="f40" fmla="*/ 24 f36 1"/>
                <a:gd name="f41" fmla="*/ 39 f35 1"/>
                <a:gd name="f42" fmla="*/ 35 f35 1"/>
                <a:gd name="f43" fmla="*/ 20 f36 1"/>
                <a:gd name="f44" fmla="*/ 38 f35 1"/>
                <a:gd name="f45" fmla="*/ 14 f36 1"/>
                <a:gd name="f46" fmla="*/ 40 f35 1"/>
                <a:gd name="f47" fmla="*/ 4 f36 1"/>
                <a:gd name="f48" fmla="*/ 0 f36 1"/>
                <a:gd name="f49" fmla="*/ 22 f35 1"/>
                <a:gd name="f50" fmla="*/ 0 f35 1"/>
                <a:gd name="f51" fmla="*/ 8 f36 1"/>
                <a:gd name="f52" fmla="*/ 10 f36 1"/>
                <a:gd name="f53" fmla="*/ 30 f35 1"/>
                <a:gd name="f54" fmla="*/ 16 f36 1"/>
                <a:gd name="f55" fmla="*/ 33 f35 1"/>
                <a:gd name="f56" fmla="*/ 22 f36 1"/>
                <a:gd name="f57" fmla="*/ 23 f35 1"/>
                <a:gd name="f58" fmla="*/ 31 f36 1"/>
                <a:gd name="f59" fmla="*/ f37 1 f2"/>
                <a:gd name="f60" fmla="*/ f40 1 31"/>
                <a:gd name="f61" fmla="*/ f41 1 40"/>
                <a:gd name="f62" fmla="*/ f42 1 40"/>
                <a:gd name="f63" fmla="*/ f43 1 31"/>
                <a:gd name="f64" fmla="*/ f44 1 40"/>
                <a:gd name="f65" fmla="*/ f45 1 31"/>
                <a:gd name="f66" fmla="*/ f46 1 40"/>
                <a:gd name="f67" fmla="*/ f47 1 31"/>
                <a:gd name="f68" fmla="*/ f48 1 31"/>
                <a:gd name="f69" fmla="*/ f49 1 40"/>
                <a:gd name="f70" fmla="*/ f50 1 40"/>
                <a:gd name="f71" fmla="*/ f51 1 31"/>
                <a:gd name="f72" fmla="*/ f52 1 31"/>
                <a:gd name="f73" fmla="*/ f53 1 40"/>
                <a:gd name="f74" fmla="*/ f54 1 31"/>
                <a:gd name="f75" fmla="*/ f55 1 40"/>
                <a:gd name="f76" fmla="*/ f56 1 31"/>
                <a:gd name="f77" fmla="*/ f57 1 40"/>
                <a:gd name="f78" fmla="*/ f58 1 31"/>
                <a:gd name="f79" fmla="*/ 0 1 f38"/>
                <a:gd name="f80" fmla="*/ f6 1 f38"/>
                <a:gd name="f81" fmla="*/ 0 1 f39"/>
                <a:gd name="f82" fmla="*/ f7 1 f39"/>
                <a:gd name="f83" fmla="+- f59 0 f1"/>
                <a:gd name="f84" fmla="*/ f60 1 f38"/>
                <a:gd name="f85" fmla="*/ f61 1 f39"/>
                <a:gd name="f86" fmla="*/ f62 1 f39"/>
                <a:gd name="f87" fmla="*/ f63 1 f38"/>
                <a:gd name="f88" fmla="*/ f64 1 f39"/>
                <a:gd name="f89" fmla="*/ f65 1 f38"/>
                <a:gd name="f90" fmla="*/ f66 1 f39"/>
                <a:gd name="f91" fmla="*/ f67 1 f38"/>
                <a:gd name="f92" fmla="*/ f68 1 f38"/>
                <a:gd name="f93" fmla="*/ f69 1 f39"/>
                <a:gd name="f94" fmla="*/ f70 1 f39"/>
                <a:gd name="f95" fmla="*/ f71 1 f38"/>
                <a:gd name="f96" fmla="*/ f72 1 f38"/>
                <a:gd name="f97" fmla="*/ f73 1 f39"/>
                <a:gd name="f98" fmla="*/ f74 1 f38"/>
                <a:gd name="f99" fmla="*/ f75 1 f39"/>
                <a:gd name="f100" fmla="*/ f76 1 f38"/>
                <a:gd name="f101" fmla="*/ f77 1 f39"/>
                <a:gd name="f102" fmla="*/ f78 1 f38"/>
                <a:gd name="f103" fmla="*/ f79 f33 1"/>
                <a:gd name="f104" fmla="*/ f80 f33 1"/>
                <a:gd name="f105" fmla="*/ f82 f34 1"/>
                <a:gd name="f106" fmla="*/ f81 f34 1"/>
                <a:gd name="f107" fmla="*/ f84 f33 1"/>
                <a:gd name="f108" fmla="*/ f85 f34 1"/>
                <a:gd name="f109" fmla="*/ f86 f34 1"/>
                <a:gd name="f110" fmla="*/ f87 f33 1"/>
                <a:gd name="f111" fmla="*/ f88 f34 1"/>
                <a:gd name="f112" fmla="*/ f89 f33 1"/>
                <a:gd name="f113" fmla="*/ f90 f34 1"/>
                <a:gd name="f114" fmla="*/ f91 f33 1"/>
                <a:gd name="f115" fmla="*/ f92 f33 1"/>
                <a:gd name="f116" fmla="*/ f93 f34 1"/>
                <a:gd name="f117" fmla="*/ f94 f34 1"/>
                <a:gd name="f118" fmla="*/ f95 f33 1"/>
                <a:gd name="f119" fmla="*/ f96 f33 1"/>
                <a:gd name="f120" fmla="*/ f97 f34 1"/>
                <a:gd name="f121" fmla="*/ f98 f33 1"/>
                <a:gd name="f122" fmla="*/ f99 f34 1"/>
                <a:gd name="f123" fmla="*/ f100 f33 1"/>
                <a:gd name="f124" fmla="*/ f101 f34 1"/>
                <a:gd name="f125" fmla="*/ f102 f33 1"/>
              </a:gdLst>
              <a:ahLst/>
              <a:cxnLst>
                <a:cxn ang="3cd4">
                  <a:pos x="hc" y="t"/>
                </a:cxn>
                <a:cxn ang="0">
                  <a:pos x="r" y="vc"/>
                </a:cxn>
                <a:cxn ang="cd4">
                  <a:pos x="hc" y="b"/>
                </a:cxn>
                <a:cxn ang="cd2">
                  <a:pos x="l" y="vc"/>
                </a:cxn>
                <a:cxn ang="f83">
                  <a:pos x="f107" y="f108"/>
                </a:cxn>
                <a:cxn ang="f83">
                  <a:pos x="f107" y="f109"/>
                </a:cxn>
                <a:cxn ang="f83">
                  <a:pos x="f110" y="f111"/>
                </a:cxn>
                <a:cxn ang="f83">
                  <a:pos x="f112" y="f113"/>
                </a:cxn>
                <a:cxn ang="f83">
                  <a:pos x="f114" y="f109"/>
                </a:cxn>
                <a:cxn ang="f83">
                  <a:pos x="f115" y="f116"/>
                </a:cxn>
                <a:cxn ang="f83">
                  <a:pos x="f115" y="f117"/>
                </a:cxn>
                <a:cxn ang="f83">
                  <a:pos x="f118" y="f117"/>
                </a:cxn>
                <a:cxn ang="f83">
                  <a:pos x="f118" y="f116"/>
                </a:cxn>
                <a:cxn ang="f83">
                  <a:pos x="f119" y="f120"/>
                </a:cxn>
                <a:cxn ang="f83">
                  <a:pos x="f121" y="f122"/>
                </a:cxn>
                <a:cxn ang="f83">
                  <a:pos x="f123" y="f120"/>
                </a:cxn>
                <a:cxn ang="f83">
                  <a:pos x="f107" y="f124"/>
                </a:cxn>
                <a:cxn ang="f83">
                  <a:pos x="f107" y="f117"/>
                </a:cxn>
                <a:cxn ang="f83">
                  <a:pos x="f125" y="f117"/>
                </a:cxn>
                <a:cxn ang="f83">
                  <a:pos x="f125" y="f108"/>
                </a:cxn>
                <a:cxn ang="f83">
                  <a:pos x="f107" y="f108"/>
                </a:cxn>
              </a:cxnLst>
              <a:rect l="f103" t="f106" r="f104" b="f105"/>
              <a:pathLst>
                <a:path w="31" h="40">
                  <a:moveTo>
                    <a:pt x="f8" y="f9"/>
                  </a:moveTo>
                  <a:cubicBezTo>
                    <a:pt x="f8" y="f10"/>
                    <a:pt x="f8" y="f10"/>
                    <a:pt x="f8" y="f10"/>
                  </a:cubicBezTo>
                  <a:cubicBezTo>
                    <a:pt x="f11" y="f12"/>
                    <a:pt x="f13" y="f14"/>
                    <a:pt x="f15" y="f14"/>
                  </a:cubicBezTo>
                  <a:cubicBezTo>
                    <a:pt x="f16" y="f9"/>
                    <a:pt x="f17" y="f7"/>
                    <a:pt x="f18" y="f7"/>
                  </a:cubicBezTo>
                  <a:cubicBezTo>
                    <a:pt x="f19" y="f7"/>
                    <a:pt x="f20" y="f14"/>
                    <a:pt x="f21" y="f10"/>
                  </a:cubicBezTo>
                  <a:cubicBezTo>
                    <a:pt x="f22" y="f23"/>
                    <a:pt x="f5" y="f24"/>
                    <a:pt x="f5" y="f13"/>
                  </a:cubicBezTo>
                  <a:cubicBezTo>
                    <a:pt x="f5" y="f5"/>
                    <a:pt x="f5" y="f5"/>
                    <a:pt x="f5" y="f5"/>
                  </a:cubicBezTo>
                  <a:cubicBezTo>
                    <a:pt x="f25" y="f5"/>
                    <a:pt x="f25" y="f5"/>
                    <a:pt x="f25" y="f5"/>
                  </a:cubicBezTo>
                  <a:cubicBezTo>
                    <a:pt x="f25" y="f13"/>
                    <a:pt x="f25" y="f13"/>
                    <a:pt x="f25" y="f13"/>
                  </a:cubicBezTo>
                  <a:cubicBezTo>
                    <a:pt x="f25" y="f26"/>
                    <a:pt x="f27" y="f24"/>
                    <a:pt x="f19" y="f28"/>
                  </a:cubicBezTo>
                  <a:cubicBezTo>
                    <a:pt x="f29" y="f23"/>
                    <a:pt x="f30" y="f31"/>
                    <a:pt x="f17" y="f31"/>
                  </a:cubicBezTo>
                  <a:cubicBezTo>
                    <a:pt x="f16" y="f31"/>
                    <a:pt x="f15" y="f23"/>
                    <a:pt x="f13" y="f28"/>
                  </a:cubicBezTo>
                  <a:cubicBezTo>
                    <a:pt x="f11" y="f24"/>
                    <a:pt x="f8" y="f26"/>
                    <a:pt x="f8" y="f11"/>
                  </a:cubicBezTo>
                  <a:cubicBezTo>
                    <a:pt x="f8" y="f5"/>
                    <a:pt x="f8" y="f5"/>
                    <a:pt x="f8" y="f5"/>
                  </a:cubicBezTo>
                  <a:cubicBezTo>
                    <a:pt x="f6" y="f5"/>
                    <a:pt x="f6" y="f5"/>
                    <a:pt x="f6" y="f5"/>
                  </a:cubicBezTo>
                  <a:cubicBezTo>
                    <a:pt x="f6" y="f9"/>
                    <a:pt x="f6" y="f9"/>
                    <a:pt x="f6" y="f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0" name="Freeform 22">
              <a:extLst>
                <a:ext uri="{FF2B5EF4-FFF2-40B4-BE49-F238E27FC236}">
                  <a16:creationId xmlns:a16="http://schemas.microsoft.com/office/drawing/2014/main" id="{62921C9D-85B6-70BB-0D66-055387E08B93}"/>
                </a:ext>
              </a:extLst>
            </p:cNvPr>
            <p:cNvSpPr/>
            <p:nvPr/>
          </p:nvSpPr>
          <p:spPr>
            <a:xfrm>
              <a:off x="1933928"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28"/>
                <a:gd name="f18" fmla="val 10"/>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6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11 f49 1"/>
                <a:gd name="f90" fmla="*/ 5 f49 1"/>
                <a:gd name="f91" fmla="*/ 10 f50 1"/>
                <a:gd name="f92" fmla="*/ 1 f49 1"/>
                <a:gd name="f93" fmla="*/ 0 f49 1"/>
                <a:gd name="f94" fmla="*/ 29 f50 1"/>
                <a:gd name="f95" fmla="*/ 32 f50 1"/>
                <a:gd name="f96" fmla="*/ 16 f49 1"/>
                <a:gd name="f97" fmla="*/ 25 f50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40"/>
                <a:gd name="f141" fmla="*/ f90 1 40"/>
                <a:gd name="f142" fmla="*/ f91 1 33"/>
                <a:gd name="f143" fmla="*/ f92 1 40"/>
                <a:gd name="f144" fmla="*/ f93 1 40"/>
                <a:gd name="f145" fmla="*/ f94 1 33"/>
                <a:gd name="f146" fmla="*/ f95 1 33"/>
                <a:gd name="f147" fmla="*/ f96 1 40"/>
                <a:gd name="f148" fmla="*/ f97 1 33"/>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3"/>
                <a:gd name="f196" fmla="*/ f141 1 f53"/>
                <a:gd name="f197" fmla="*/ f142 1 f52"/>
                <a:gd name="f198" fmla="*/ f143 1 f53"/>
                <a:gd name="f199" fmla="*/ f144 1 f53"/>
                <a:gd name="f200" fmla="*/ f145 1 f52"/>
                <a:gd name="f201" fmla="*/ f146 1 f52"/>
                <a:gd name="f202" fmla="*/ f147 1 f53"/>
                <a:gd name="f203" fmla="*/ f148 1 f52"/>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8 1"/>
                <a:gd name="f250" fmla="*/ f196 f48 1"/>
                <a:gd name="f251" fmla="*/ f197 f47 1"/>
                <a:gd name="f252" fmla="*/ f198 f48 1"/>
                <a:gd name="f253" fmla="*/ f199 f48 1"/>
                <a:gd name="f254" fmla="*/ f200 f47 1"/>
                <a:gd name="f255" fmla="*/ f201 f47 1"/>
                <a:gd name="f256" fmla="*/ f202 f48 1"/>
                <a:gd name="f257" fmla="*/ f203 f47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5" y="f249"/>
                </a:cxn>
                <a:cxn ang="f159">
                  <a:pos x="f242" y="f250"/>
                </a:cxn>
                <a:cxn ang="f159">
                  <a:pos x="f251" y="f252"/>
                </a:cxn>
                <a:cxn ang="f159">
                  <a:pos x="f225" y="f253"/>
                </a:cxn>
                <a:cxn ang="f159">
                  <a:pos x="f236" y="f252"/>
                </a:cxn>
                <a:cxn ang="f159">
                  <a:pos x="f254" y="f250"/>
                </a:cxn>
                <a:cxn ang="f159">
                  <a:pos x="f255" y="f249"/>
                </a:cxn>
                <a:cxn ang="f159">
                  <a:pos x="f214" y="f215"/>
                </a:cxn>
                <a:cxn ang="f159">
                  <a:pos x="f231" y="f256"/>
                </a:cxn>
                <a:cxn ang="f159">
                  <a:pos x="f257" y="f258"/>
                </a:cxn>
                <a:cxn ang="f159">
                  <a:pos x="f229" y="f259"/>
                </a:cxn>
                <a:cxn ang="f159">
                  <a:pos x="f227" y="f260"/>
                </a:cxn>
                <a:cxn ang="f159">
                  <a:pos x="f261" y="f262"/>
                </a:cxn>
                <a:cxn ang="f159">
                  <a:pos x="f263" y="f260"/>
                </a:cxn>
                <a:cxn ang="f159">
                  <a:pos x="f251" y="f259"/>
                </a:cxn>
                <a:cxn ang="f159">
                  <a:pos x="f219" y="f258"/>
                </a:cxn>
                <a:cxn ang="f159">
                  <a:pos x="f218" y="f256"/>
                </a:cxn>
                <a:cxn ang="f159">
                  <a:pos x="f231" y="f256"/>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5" y="f17"/>
                    <a:pt x="f18" y="f19"/>
                    <a:pt x="f20" y="f21"/>
                  </a:cubicBezTo>
                  <a:cubicBezTo>
                    <a:pt x="f22" y="f23"/>
                    <a:pt x="f24" y="f25"/>
                    <a:pt x="f26" y="f25"/>
                  </a:cubicBezTo>
                  <a:cubicBezTo>
                    <a:pt x="f27" y="f6"/>
                    <a:pt x="f28" y="f6"/>
                    <a:pt x="f29" y="f6"/>
                  </a:cubicBezTo>
                  <a:cubicBezTo>
                    <a:pt x="f30" y="f6"/>
                    <a:pt x="f8" y="f6"/>
                    <a:pt x="f9" y="f6"/>
                  </a:cubicBezTo>
                  <a:cubicBezTo>
                    <a:pt x="f9" y="f25"/>
                    <a:pt x="f10" y="f25"/>
                    <a:pt x="f11" y="f25"/>
                  </a:cubicBezTo>
                  <a:cubicBezTo>
                    <a:pt x="f11" y="f25"/>
                    <a:pt x="f31" y="f23"/>
                    <a:pt x="f31" y="f23"/>
                  </a:cubicBezTo>
                  <a:cubicBezTo>
                    <a:pt x="f13" y="f23"/>
                    <a:pt x="f32" y="f21"/>
                    <a:pt x="f14" y="f21"/>
                  </a:cubicBezTo>
                  <a:cubicBezTo>
                    <a:pt x="f21" y="f33"/>
                    <a:pt x="f21" y="f33"/>
                    <a:pt x="f21" y="f33"/>
                  </a:cubicBezTo>
                  <a:cubicBezTo>
                    <a:pt x="f19" y="f33"/>
                    <a:pt x="f17" y="f34"/>
                    <a:pt x="f16" y="f35"/>
                  </a:cubicBezTo>
                  <a:cubicBezTo>
                    <a:pt x="f14" y="f35"/>
                    <a:pt x="f32" y="f36"/>
                    <a:pt x="f13" y="f36"/>
                  </a:cubicBezTo>
                  <a:cubicBezTo>
                    <a:pt x="f31" y="f37"/>
                    <a:pt x="f11" y="f37"/>
                    <a:pt x="f10" y="f37"/>
                  </a:cubicBezTo>
                  <a:cubicBezTo>
                    <a:pt x="f9" y="f37"/>
                    <a:pt x="f30" y="f7"/>
                    <a:pt x="f29" y="f7"/>
                  </a:cubicBezTo>
                  <a:cubicBezTo>
                    <a:pt x="f27" y="f7"/>
                    <a:pt x="f26" y="f37"/>
                    <a:pt x="f22" y="f37"/>
                  </a:cubicBezTo>
                  <a:cubicBezTo>
                    <a:pt x="f20" y="f36"/>
                    <a:pt x="f15" y="f36"/>
                    <a:pt x="f12" y="f35"/>
                  </a:cubicBezTo>
                  <a:cubicBezTo>
                    <a:pt x="f38" y="f34"/>
                    <a:pt x="f39" y="f33"/>
                    <a:pt x="f40" y="f41"/>
                  </a:cubicBezTo>
                  <a:cubicBezTo>
                    <a:pt x="f42" y="f41"/>
                    <a:pt x="f43" y="f25"/>
                    <a:pt x="f43" y="f23"/>
                  </a:cubicBezTo>
                  <a:cubicBezTo>
                    <a:pt x="f44" y="f19"/>
                    <a:pt x="f45" y="f17"/>
                    <a:pt x="f45" y="f14"/>
                  </a:cubicBezTo>
                  <a:cubicBezTo>
                    <a:pt x="f5" y="f13"/>
                    <a:pt x="f5" y="f11"/>
                    <a:pt x="f5" y="f9"/>
                  </a:cubicBezTo>
                  <a:cubicBezTo>
                    <a:pt x="f5" y="f28"/>
                    <a:pt x="f45" y="f24"/>
                    <a:pt x="f45" y="f20"/>
                  </a:cubicBezTo>
                  <a:cubicBezTo>
                    <a:pt x="f44" y="f12"/>
                    <a:pt x="f43" y="f39"/>
                    <a:pt x="f40" y="f40"/>
                  </a:cubicBezTo>
                  <a:cubicBezTo>
                    <a:pt x="f39" y="f43"/>
                    <a:pt x="f12" y="f44"/>
                    <a:pt x="f18" y="f45"/>
                  </a:cubicBezTo>
                  <a:cubicBezTo>
                    <a:pt x="f22" y="f5"/>
                    <a:pt x="f26" y="f5"/>
                    <a:pt x="f29" y="f5"/>
                  </a:cubicBezTo>
                  <a:cubicBezTo>
                    <a:pt x="f9" y="f5"/>
                    <a:pt x="f11" y="f5"/>
                    <a:pt x="f13" y="f45"/>
                  </a:cubicBezTo>
                  <a:cubicBezTo>
                    <a:pt x="f14" y="f44"/>
                    <a:pt x="f17" y="f42"/>
                    <a:pt x="f19" y="f40"/>
                  </a:cubicBezTo>
                  <a:cubicBezTo>
                    <a:pt x="f21" y="f38"/>
                    <a:pt x="f23" y="f15"/>
                    <a:pt x="f25" y="f20"/>
                  </a:cubicBezTo>
                  <a:cubicBezTo>
                    <a:pt x="f6" y="f26"/>
                    <a:pt x="f6" y="f28"/>
                    <a:pt x="f6" y="f8"/>
                  </a:cubicBezTo>
                  <a:close/>
                  <a:moveTo>
                    <a:pt x="f14" y="f28"/>
                  </a:moveTo>
                  <a:cubicBezTo>
                    <a:pt x="f32" y="f27"/>
                    <a:pt x="f32" y="f24"/>
                    <a:pt x="f32" y="f22"/>
                  </a:cubicBezTo>
                  <a:cubicBezTo>
                    <a:pt x="f13" y="f20"/>
                    <a:pt x="f13" y="f18"/>
                    <a:pt x="f31" y="f15"/>
                  </a:cubicBezTo>
                  <a:cubicBezTo>
                    <a:pt x="f11" y="f12"/>
                    <a:pt x="f11" y="f12"/>
                    <a:pt x="f9" y="f38"/>
                  </a:cubicBezTo>
                  <a:cubicBezTo>
                    <a:pt x="f8" y="f38"/>
                    <a:pt x="f30" y="f39"/>
                    <a:pt x="f28" y="f39"/>
                  </a:cubicBezTo>
                  <a:cubicBezTo>
                    <a:pt x="f27" y="f39"/>
                    <a:pt x="f26" y="f38"/>
                    <a:pt x="f24" y="f38"/>
                  </a:cubicBezTo>
                  <a:cubicBezTo>
                    <a:pt x="f22" y="f38"/>
                    <a:pt x="f20" y="f12"/>
                    <a:pt x="f18" y="f15"/>
                  </a:cubicBezTo>
                  <a:cubicBezTo>
                    <a:pt x="f18" y="f18"/>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1" name="Freeform 23">
              <a:extLst>
                <a:ext uri="{FF2B5EF4-FFF2-40B4-BE49-F238E27FC236}">
                  <a16:creationId xmlns:a16="http://schemas.microsoft.com/office/drawing/2014/main" id="{B2F54EE2-0D8A-867B-2C14-F9417EDE726D}"/>
                </a:ext>
              </a:extLst>
            </p:cNvPr>
            <p:cNvSpPr/>
            <p:nvPr/>
          </p:nvSpPr>
          <p:spPr>
            <a:xfrm>
              <a:off x="2029785"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3"/>
                <a:gd name="f22" fmla="val 11"/>
                <a:gd name="f23" fmla="val 9"/>
                <a:gd name="f24" fmla="val 12"/>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5"/>
                <a:gd name="f42" fmla="val 31"/>
                <a:gd name="f43" fmla="val 33"/>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1 f50 1"/>
                <a:gd name="f66" fmla="*/ 12 f49 1"/>
                <a:gd name="f67" fmla="*/ 13 f50 1"/>
                <a:gd name="f68" fmla="*/ 14 f49 1"/>
                <a:gd name="f69" fmla="*/ 16 f50 1"/>
                <a:gd name="f70" fmla="*/ 15 f49 1"/>
                <a:gd name="f71" fmla="*/ 22 f50 1"/>
                <a:gd name="f72" fmla="*/ 18 f49 1"/>
                <a:gd name="f73" fmla="*/ 26 f50 1"/>
                <a:gd name="f74" fmla="*/ 20 f49 1"/>
                <a:gd name="f75" fmla="*/ 24 f49 1"/>
                <a:gd name="f76" fmla="*/ 29 f50 1"/>
                <a:gd name="f77" fmla="*/ 28 f49 1"/>
                <a:gd name="f78" fmla="*/ 34 f49 1"/>
                <a:gd name="f79" fmla="*/ 25 f50 1"/>
                <a:gd name="f80" fmla="*/ 37 f49 1"/>
                <a:gd name="f81" fmla="*/ 39 f49 1"/>
                <a:gd name="f82" fmla="*/ 15 f50 1"/>
                <a:gd name="f83" fmla="*/ 40 f49 1"/>
                <a:gd name="f84" fmla="*/ 7 f50 1"/>
                <a:gd name="f85" fmla="*/ 38 f49 1"/>
                <a:gd name="f86" fmla="*/ 0 f50 1"/>
                <a:gd name="f87" fmla="*/ 35 f49 1"/>
                <a:gd name="f88" fmla="*/ 4 f50 1"/>
                <a:gd name="f89" fmla="*/ 29 f49 1"/>
                <a:gd name="f90" fmla="*/ 32 f49 1"/>
                <a:gd name="f91" fmla="*/ 33 f49 1"/>
                <a:gd name="f92" fmla="*/ 21 f50 1"/>
                <a:gd name="f93" fmla="*/ 27 f49 1"/>
                <a:gd name="f94" fmla="*/ 19 f50 1"/>
                <a:gd name="f95" fmla="*/ 25 f49 1"/>
                <a:gd name="f96" fmla="*/ 17 f50 1"/>
                <a:gd name="f97" fmla="*/ 22 f49 1"/>
                <a:gd name="f98" fmla="*/ 8 f50 1"/>
                <a:gd name="f99" fmla="*/ 17 f49 1"/>
                <a:gd name="f100" fmla="*/ 2 f50 1"/>
                <a:gd name="f101" fmla="*/ 5 f49 1"/>
                <a:gd name="f102" fmla="*/ 5 f50 1"/>
                <a:gd name="f103" fmla="*/ 2 f49 1"/>
                <a:gd name="f104" fmla="*/ 0 f49 1"/>
                <a:gd name="f105" fmla="*/ 1 f49 1"/>
                <a:gd name="f106" fmla="*/ f51 1 f2"/>
                <a:gd name="f107" fmla="*/ f54 1 29"/>
                <a:gd name="f108" fmla="*/ f55 1 40"/>
                <a:gd name="f109" fmla="*/ f56 1 29"/>
                <a:gd name="f110" fmla="*/ f57 1 40"/>
                <a:gd name="f111" fmla="*/ f58 1 29"/>
                <a:gd name="f112" fmla="*/ f59 1 40"/>
                <a:gd name="f113" fmla="*/ f60 1 29"/>
                <a:gd name="f114" fmla="*/ f61 1 40"/>
                <a:gd name="f115" fmla="*/ f62 1 29"/>
                <a:gd name="f116" fmla="*/ f63 1 29"/>
                <a:gd name="f117" fmla="*/ f64 1 40"/>
                <a:gd name="f118" fmla="*/ f65 1 29"/>
                <a:gd name="f119" fmla="*/ f66 1 40"/>
                <a:gd name="f120" fmla="*/ f67 1 29"/>
                <a:gd name="f121" fmla="*/ f68 1 40"/>
                <a:gd name="f122" fmla="*/ f69 1 29"/>
                <a:gd name="f123" fmla="*/ f70 1 40"/>
                <a:gd name="f124" fmla="*/ f71 1 29"/>
                <a:gd name="f125" fmla="*/ f72 1 40"/>
                <a:gd name="f126" fmla="*/ f73 1 29"/>
                <a:gd name="f127" fmla="*/ f74 1 40"/>
                <a:gd name="f128" fmla="*/ f75 1 40"/>
                <a:gd name="f129" fmla="*/ f76 1 29"/>
                <a:gd name="f130" fmla="*/ f77 1 40"/>
                <a:gd name="f131" fmla="*/ f78 1 40"/>
                <a:gd name="f132" fmla="*/ f79 1 29"/>
                <a:gd name="f133" fmla="*/ f80 1 40"/>
                <a:gd name="f134" fmla="*/ f81 1 40"/>
                <a:gd name="f135" fmla="*/ f82 1 29"/>
                <a:gd name="f136" fmla="*/ f83 1 40"/>
                <a:gd name="f137" fmla="*/ f84 1 29"/>
                <a:gd name="f138" fmla="*/ f85 1 40"/>
                <a:gd name="f139" fmla="*/ f86 1 29"/>
                <a:gd name="f140" fmla="*/ f87 1 40"/>
                <a:gd name="f141" fmla="*/ f88 1 29"/>
                <a:gd name="f142" fmla="*/ f89 1 40"/>
                <a:gd name="f143" fmla="*/ f90 1 40"/>
                <a:gd name="f144" fmla="*/ f91 1 40"/>
                <a:gd name="f145" fmla="*/ f92 1 29"/>
                <a:gd name="f146" fmla="*/ f93 1 40"/>
                <a:gd name="f147" fmla="*/ f94 1 29"/>
                <a:gd name="f148" fmla="*/ f95 1 40"/>
                <a:gd name="f149" fmla="*/ f96 1 29"/>
                <a:gd name="f150" fmla="*/ f97 1 40"/>
                <a:gd name="f151" fmla="*/ f98 1 29"/>
                <a:gd name="f152" fmla="*/ f99 1 40"/>
                <a:gd name="f153" fmla="*/ f100 1 29"/>
                <a:gd name="f154" fmla="*/ f101 1 40"/>
                <a:gd name="f155" fmla="*/ f102 1 29"/>
                <a:gd name="f156" fmla="*/ f103 1 40"/>
                <a:gd name="f157" fmla="*/ f104 1 40"/>
                <a:gd name="f158" fmla="*/ f105 1 40"/>
                <a:gd name="f159" fmla="*/ 0 1 f52"/>
                <a:gd name="f160" fmla="*/ f6 1 f52"/>
                <a:gd name="f161" fmla="*/ 0 1 f53"/>
                <a:gd name="f162" fmla="*/ f7 1 f53"/>
                <a:gd name="f163" fmla="+- f106 0 f1"/>
                <a:gd name="f164" fmla="*/ f107 1 f52"/>
                <a:gd name="f165" fmla="*/ f108 1 f53"/>
                <a:gd name="f166" fmla="*/ f109 1 f52"/>
                <a:gd name="f167" fmla="*/ f110 1 f53"/>
                <a:gd name="f168" fmla="*/ f111 1 f52"/>
                <a:gd name="f169" fmla="*/ f112 1 f53"/>
                <a:gd name="f170" fmla="*/ f113 1 f52"/>
                <a:gd name="f171" fmla="*/ f114 1 f53"/>
                <a:gd name="f172" fmla="*/ f115 1 f52"/>
                <a:gd name="f173" fmla="*/ f116 1 f52"/>
                <a:gd name="f174" fmla="*/ f117 1 f53"/>
                <a:gd name="f175" fmla="*/ f118 1 f52"/>
                <a:gd name="f176" fmla="*/ f119 1 f53"/>
                <a:gd name="f177" fmla="*/ f120 1 f52"/>
                <a:gd name="f178" fmla="*/ f121 1 f53"/>
                <a:gd name="f179" fmla="*/ f122 1 f52"/>
                <a:gd name="f180" fmla="*/ f123 1 f53"/>
                <a:gd name="f181" fmla="*/ f124 1 f52"/>
                <a:gd name="f182" fmla="*/ f125 1 f53"/>
                <a:gd name="f183" fmla="*/ f126 1 f52"/>
                <a:gd name="f184" fmla="*/ f127 1 f53"/>
                <a:gd name="f185" fmla="*/ f128 1 f53"/>
                <a:gd name="f186" fmla="*/ f129 1 f52"/>
                <a:gd name="f187" fmla="*/ f130 1 f53"/>
                <a:gd name="f188" fmla="*/ f131 1 f53"/>
                <a:gd name="f189" fmla="*/ f132 1 f52"/>
                <a:gd name="f190" fmla="*/ f133 1 f53"/>
                <a:gd name="f191" fmla="*/ f134 1 f53"/>
                <a:gd name="f192" fmla="*/ f135 1 f52"/>
                <a:gd name="f193" fmla="*/ f136 1 f53"/>
                <a:gd name="f194" fmla="*/ f137 1 f52"/>
                <a:gd name="f195" fmla="*/ f138 1 f53"/>
                <a:gd name="f196" fmla="*/ f139 1 f52"/>
                <a:gd name="f197" fmla="*/ f140 1 f53"/>
                <a:gd name="f198" fmla="*/ f141 1 f52"/>
                <a:gd name="f199" fmla="*/ f142 1 f53"/>
                <a:gd name="f200" fmla="*/ f143 1 f53"/>
                <a:gd name="f201" fmla="*/ f144 1 f53"/>
                <a:gd name="f202" fmla="*/ f145 1 f52"/>
                <a:gd name="f203" fmla="*/ f146 1 f53"/>
                <a:gd name="f204" fmla="*/ f147 1 f52"/>
                <a:gd name="f205" fmla="*/ f148 1 f53"/>
                <a:gd name="f206" fmla="*/ f149 1 f52"/>
                <a:gd name="f207" fmla="*/ f150 1 f53"/>
                <a:gd name="f208" fmla="*/ f151 1 f52"/>
                <a:gd name="f209" fmla="*/ f152 1 f53"/>
                <a:gd name="f210" fmla="*/ f153 1 f52"/>
                <a:gd name="f211" fmla="*/ f154 1 f53"/>
                <a:gd name="f212" fmla="*/ f155 1 f52"/>
                <a:gd name="f213" fmla="*/ f156 1 f53"/>
                <a:gd name="f214" fmla="*/ f157 1 f53"/>
                <a:gd name="f215" fmla="*/ f158 1 f53"/>
                <a:gd name="f216" fmla="*/ f159 f47 1"/>
                <a:gd name="f217" fmla="*/ f160 f47 1"/>
                <a:gd name="f218" fmla="*/ f162 f48 1"/>
                <a:gd name="f219" fmla="*/ f161 f48 1"/>
                <a:gd name="f220" fmla="*/ f164 f47 1"/>
                <a:gd name="f221" fmla="*/ f165 f48 1"/>
                <a:gd name="f222" fmla="*/ f166 f47 1"/>
                <a:gd name="f223" fmla="*/ f167 f48 1"/>
                <a:gd name="f224" fmla="*/ f168 f47 1"/>
                <a:gd name="f225" fmla="*/ f169 f48 1"/>
                <a:gd name="f226" fmla="*/ f170 f47 1"/>
                <a:gd name="f227" fmla="*/ f171 f48 1"/>
                <a:gd name="f228" fmla="*/ f172 f47 1"/>
                <a:gd name="f229" fmla="*/ f173 f47 1"/>
                <a:gd name="f230" fmla="*/ f174 f48 1"/>
                <a:gd name="f231" fmla="*/ f175 f47 1"/>
                <a:gd name="f232" fmla="*/ f176 f48 1"/>
                <a:gd name="f233" fmla="*/ f177 f47 1"/>
                <a:gd name="f234" fmla="*/ f178 f48 1"/>
                <a:gd name="f235" fmla="*/ f179 f47 1"/>
                <a:gd name="f236" fmla="*/ f180 f48 1"/>
                <a:gd name="f237" fmla="*/ f181 f47 1"/>
                <a:gd name="f238" fmla="*/ f182 f48 1"/>
                <a:gd name="f239" fmla="*/ f183 f47 1"/>
                <a:gd name="f240" fmla="*/ f184 f48 1"/>
                <a:gd name="f241" fmla="*/ f185 f48 1"/>
                <a:gd name="f242" fmla="*/ f186 f47 1"/>
                <a:gd name="f243" fmla="*/ f187 f48 1"/>
                <a:gd name="f244" fmla="*/ f188 f48 1"/>
                <a:gd name="f245" fmla="*/ f189 f47 1"/>
                <a:gd name="f246" fmla="*/ f190 f48 1"/>
                <a:gd name="f247" fmla="*/ f191 f48 1"/>
                <a:gd name="f248" fmla="*/ f192 f47 1"/>
                <a:gd name="f249" fmla="*/ f193 f48 1"/>
                <a:gd name="f250" fmla="*/ f194 f47 1"/>
                <a:gd name="f251" fmla="*/ f195 f48 1"/>
                <a:gd name="f252" fmla="*/ f196 f47 1"/>
                <a:gd name="f253" fmla="*/ f197 f48 1"/>
                <a:gd name="f254" fmla="*/ f198 f47 1"/>
                <a:gd name="f255" fmla="*/ f199 f48 1"/>
                <a:gd name="f256" fmla="*/ f200 f48 1"/>
                <a:gd name="f257" fmla="*/ f201 f48 1"/>
                <a:gd name="f258" fmla="*/ f202 f47 1"/>
                <a:gd name="f259" fmla="*/ f203 f48 1"/>
                <a:gd name="f260" fmla="*/ f204 f47 1"/>
                <a:gd name="f261" fmla="*/ f205 f48 1"/>
                <a:gd name="f262" fmla="*/ f206 f47 1"/>
                <a:gd name="f263" fmla="*/ f207 f48 1"/>
                <a:gd name="f264" fmla="*/ f208 f47 1"/>
                <a:gd name="f265" fmla="*/ f209 f48 1"/>
                <a:gd name="f266" fmla="*/ f210 f47 1"/>
                <a:gd name="f267" fmla="*/ f211 f48 1"/>
                <a:gd name="f268" fmla="*/ f212 f47 1"/>
                <a:gd name="f269" fmla="*/ f213 f48 1"/>
                <a:gd name="f270" fmla="*/ f214 f48 1"/>
                <a:gd name="f271" fmla="*/ f215 f48 1"/>
              </a:gdLst>
              <a:ahLst/>
              <a:cxnLst>
                <a:cxn ang="3cd4">
                  <a:pos x="hc" y="t"/>
                </a:cxn>
                <a:cxn ang="0">
                  <a:pos x="r" y="vc"/>
                </a:cxn>
                <a:cxn ang="cd4">
                  <a:pos x="hc" y="b"/>
                </a:cxn>
                <a:cxn ang="cd2">
                  <a:pos x="l" y="vc"/>
                </a:cxn>
                <a:cxn ang="f163">
                  <a:pos x="f220" y="f221"/>
                </a:cxn>
                <a:cxn ang="f163">
                  <a:pos x="f222" y="f223"/>
                </a:cxn>
                <a:cxn ang="f163">
                  <a:pos x="f224" y="f225"/>
                </a:cxn>
                <a:cxn ang="f163">
                  <a:pos x="f226" y="f227"/>
                </a:cxn>
                <a:cxn ang="f163">
                  <a:pos x="f228" y="f225"/>
                </a:cxn>
                <a:cxn ang="f163">
                  <a:pos x="f229" y="f223"/>
                </a:cxn>
                <a:cxn ang="f163">
                  <a:pos x="f229" y="f230"/>
                </a:cxn>
                <a:cxn ang="f163">
                  <a:pos x="f231" y="f232"/>
                </a:cxn>
                <a:cxn ang="f163">
                  <a:pos x="f233" y="f234"/>
                </a:cxn>
                <a:cxn ang="f163">
                  <a:pos x="f235" y="f236"/>
                </a:cxn>
                <a:cxn ang="f163">
                  <a:pos x="f237" y="f238"/>
                </a:cxn>
                <a:cxn ang="f163">
                  <a:pos x="f239" y="f240"/>
                </a:cxn>
                <a:cxn ang="f163">
                  <a:pos x="f220" y="f241"/>
                </a:cxn>
                <a:cxn ang="f163">
                  <a:pos x="f242" y="f243"/>
                </a:cxn>
                <a:cxn ang="f163">
                  <a:pos x="f220" y="f244"/>
                </a:cxn>
                <a:cxn ang="f163">
                  <a:pos x="f245" y="f246"/>
                </a:cxn>
                <a:cxn ang="f163">
                  <a:pos x="f224" y="f247"/>
                </a:cxn>
                <a:cxn ang="f163">
                  <a:pos x="f248" y="f249"/>
                </a:cxn>
                <a:cxn ang="f163">
                  <a:pos x="f250" y="f251"/>
                </a:cxn>
                <a:cxn ang="f163">
                  <a:pos x="f252" y="f253"/>
                </a:cxn>
                <a:cxn ang="f163">
                  <a:pos x="f254" y="f255"/>
                </a:cxn>
                <a:cxn ang="f163">
                  <a:pos x="f229" y="f256"/>
                </a:cxn>
                <a:cxn ang="f163">
                  <a:pos x="f248" y="f257"/>
                </a:cxn>
                <a:cxn ang="f163">
                  <a:pos x="f224" y="f256"/>
                </a:cxn>
                <a:cxn ang="f163">
                  <a:pos x="f237" y="f255"/>
                </a:cxn>
                <a:cxn ang="f163">
                  <a:pos x="f258" y="f259"/>
                </a:cxn>
                <a:cxn ang="f163">
                  <a:pos x="f260" y="f261"/>
                </a:cxn>
                <a:cxn ang="f163">
                  <a:pos x="f262" y="f241"/>
                </a:cxn>
                <a:cxn ang="f163">
                  <a:pos x="f233" y="f263"/>
                </a:cxn>
                <a:cxn ang="f163">
                  <a:pos x="f264" y="f240"/>
                </a:cxn>
                <a:cxn ang="f163">
                  <a:pos x="f254" y="f265"/>
                </a:cxn>
                <a:cxn ang="f163">
                  <a:pos x="f266" y="f234"/>
                </a:cxn>
                <a:cxn ang="f163">
                  <a:pos x="f266" y="f223"/>
                </a:cxn>
                <a:cxn ang="f163">
                  <a:pos x="f266" y="f267"/>
                </a:cxn>
                <a:cxn ang="f163">
                  <a:pos x="f268" y="f269"/>
                </a:cxn>
                <a:cxn ang="f163">
                  <a:pos x="f229" y="f270"/>
                </a:cxn>
                <a:cxn ang="f163">
                  <a:pos x="f248" y="f270"/>
                </a:cxn>
                <a:cxn ang="f163">
                  <a:pos x="f237" y="f271"/>
                </a:cxn>
                <a:cxn ang="f163">
                  <a:pos x="f220" y="f221"/>
                </a:cxn>
              </a:cxnLst>
              <a:rect l="f216" t="f219" r="f217" b="f218"/>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11" y="f13"/>
                    <a:pt x="f23" y="f23"/>
                    <a:pt x="f23" y="f11"/>
                  </a:cubicBezTo>
                  <a:cubicBezTo>
                    <a:pt x="f23" y="f11"/>
                    <a:pt x="f23" y="f22"/>
                    <a:pt x="f23" y="f22"/>
                  </a:cubicBezTo>
                  <a:cubicBezTo>
                    <a:pt x="f11" y="f24"/>
                    <a:pt x="f11" y="f24"/>
                    <a:pt x="f22" y="f24"/>
                  </a:cubicBezTo>
                  <a:cubicBezTo>
                    <a:pt x="f22" y="f21"/>
                    <a:pt x="f24" y="f21"/>
                    <a:pt x="f21"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4" y="f7"/>
                    <a:pt x="f11" y="f39"/>
                    <a:pt x="f16" y="f38"/>
                  </a:cubicBezTo>
                  <a:cubicBezTo>
                    <a:pt x="f9" y="f37"/>
                    <a:pt x="f40" y="f36"/>
                    <a:pt x="f5" y="f35"/>
                  </a:cubicBezTo>
                  <a:cubicBezTo>
                    <a:pt x="f9" y="f6"/>
                    <a:pt x="f9" y="f6"/>
                    <a:pt x="f9" y="f6"/>
                  </a:cubicBezTo>
                  <a:cubicBezTo>
                    <a:pt x="f41" y="f32"/>
                    <a:pt x="f16" y="f42"/>
                    <a:pt x="f23" y="f33"/>
                  </a:cubicBezTo>
                  <a:cubicBezTo>
                    <a:pt x="f22" y="f33"/>
                    <a:pt x="f21" y="f43"/>
                    <a:pt x="f25" y="f43"/>
                  </a:cubicBezTo>
                  <a:cubicBezTo>
                    <a:pt x="f26" y="f43"/>
                    <a:pt x="f28" y="f33"/>
                    <a:pt x="f15" y="f33"/>
                  </a:cubicBezTo>
                  <a:cubicBezTo>
                    <a:pt x="f14" y="f42"/>
                    <a:pt x="f27" y="f32"/>
                    <a:pt x="f27" y="f6"/>
                  </a:cubicBezTo>
                  <a:cubicBezTo>
                    <a:pt x="f27" y="f8"/>
                    <a:pt x="f27" y="f31"/>
                    <a:pt x="f14" y="f31"/>
                  </a:cubicBezTo>
                  <a:cubicBezTo>
                    <a:pt x="f14" y="f30"/>
                    <a:pt x="f15" y="f29"/>
                    <a:pt x="f28" y="f29"/>
                  </a:cubicBezTo>
                  <a:cubicBezTo>
                    <a:pt x="f28" y="f29"/>
                    <a:pt x="f17" y="f10"/>
                    <a:pt x="f26" y="f10"/>
                  </a:cubicBezTo>
                  <a:cubicBezTo>
                    <a:pt x="f25" y="f12"/>
                    <a:pt x="f20" y="f12"/>
                    <a:pt x="f21" y="f27"/>
                  </a:cubicBezTo>
                  <a:cubicBezTo>
                    <a:pt x="f22" y="f14"/>
                    <a:pt x="f23" y="f15"/>
                    <a:pt x="f13" y="f15"/>
                  </a:cubicBezTo>
                  <a:cubicBezTo>
                    <a:pt x="f19" y="f28"/>
                    <a:pt x="f41" y="f17"/>
                    <a:pt x="f9" y="f26"/>
                  </a:cubicBezTo>
                  <a:cubicBezTo>
                    <a:pt x="f44" y="f18"/>
                    <a:pt x="f44" y="f25"/>
                    <a:pt x="f40" y="f20"/>
                  </a:cubicBezTo>
                  <a:cubicBezTo>
                    <a:pt x="f40" y="f21"/>
                    <a:pt x="f40" y="f24"/>
                    <a:pt x="f40" y="f11"/>
                  </a:cubicBezTo>
                  <a:cubicBezTo>
                    <a:pt x="f40" y="f13"/>
                    <a:pt x="f40" y="f16"/>
                    <a:pt x="f40" y="f41"/>
                  </a:cubicBezTo>
                  <a:cubicBezTo>
                    <a:pt x="f44" y="f9"/>
                    <a:pt x="f9" y="f44"/>
                    <a:pt x="f41" y="f40"/>
                  </a:cubicBezTo>
                  <a:cubicBezTo>
                    <a:pt x="f19" y="f45"/>
                    <a:pt x="f13" y="f45"/>
                    <a:pt x="f23" y="f5"/>
                  </a:cubicBezTo>
                  <a:cubicBezTo>
                    <a:pt x="f22" y="f5"/>
                    <a:pt x="f21" y="f5"/>
                    <a:pt x="f25" y="f5"/>
                  </a:cubicBezTo>
                  <a:cubicBezTo>
                    <a:pt x="f26" y="f5"/>
                    <a:pt x="f28" y="f5"/>
                    <a:pt x="f27" y="f45"/>
                  </a:cubicBezTo>
                  <a:cubicBezTo>
                    <a:pt x="f10" y="f40"/>
                    <a:pt x="f30"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2" name="Freeform 24">
              <a:extLst>
                <a:ext uri="{FF2B5EF4-FFF2-40B4-BE49-F238E27FC236}">
                  <a16:creationId xmlns:a16="http://schemas.microsoft.com/office/drawing/2014/main" id="{E57D6CAD-BB5F-FA09-CC16-D6499DC97C72}"/>
                </a:ext>
              </a:extLst>
            </p:cNvPr>
            <p:cNvSpPr/>
            <p:nvPr/>
          </p:nvSpPr>
          <p:spPr>
            <a:xfrm>
              <a:off x="211692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3" name="Freeform 25">
              <a:extLst>
                <a:ext uri="{FF2B5EF4-FFF2-40B4-BE49-F238E27FC236}">
                  <a16:creationId xmlns:a16="http://schemas.microsoft.com/office/drawing/2014/main" id="{77395A69-C996-28D4-2C82-2D091E6CD282}"/>
                </a:ext>
              </a:extLst>
            </p:cNvPr>
            <p:cNvSpPr/>
            <p:nvPr/>
          </p:nvSpPr>
          <p:spPr>
            <a:xfrm>
              <a:off x="2193609" y="6051554"/>
              <a:ext cx="24396" cy="136007"/>
            </a:xfrm>
            <a:custGeom>
              <a:avLst/>
              <a:gdLst>
                <a:gd name="f0" fmla="val 10800000"/>
                <a:gd name="f1" fmla="val 5400000"/>
                <a:gd name="f2" fmla="val 180"/>
                <a:gd name="f3" fmla="val w"/>
                <a:gd name="f4" fmla="val h"/>
                <a:gd name="f5" fmla="val 0"/>
                <a:gd name="f6" fmla="val 10"/>
                <a:gd name="f7" fmla="val 53"/>
                <a:gd name="f8" fmla="val 5"/>
                <a:gd name="f9" fmla="val 6"/>
                <a:gd name="f10" fmla="val 9"/>
                <a:gd name="f11" fmla="val 7"/>
                <a:gd name="f12" fmla="val 8"/>
                <a:gd name="f13" fmla="val 4"/>
                <a:gd name="f14" fmla="val 3"/>
                <a:gd name="f15" fmla="val 2"/>
                <a:gd name="f16" fmla="val 1"/>
                <a:gd name="f17" fmla="val 14"/>
                <a:gd name="f18" fmla="+- 0 0 -90"/>
                <a:gd name="f19" fmla="*/ f3 1 10"/>
                <a:gd name="f20" fmla="*/ f4 1 53"/>
                <a:gd name="f21" fmla="+- f7 0 f5"/>
                <a:gd name="f22" fmla="+- f6 0 f5"/>
                <a:gd name="f23" fmla="*/ f18 f0 1"/>
                <a:gd name="f24" fmla="*/ f22 1 10"/>
                <a:gd name="f25" fmla="*/ f21 1 53"/>
                <a:gd name="f26" fmla="*/ 10 f22 1"/>
                <a:gd name="f27" fmla="*/ 5 f21 1"/>
                <a:gd name="f28" fmla="*/ 9 f22 1"/>
                <a:gd name="f29" fmla="*/ 6 f21 1"/>
                <a:gd name="f30" fmla="*/ 8 f22 1"/>
                <a:gd name="f31" fmla="*/ 8 f21 1"/>
                <a:gd name="f32" fmla="*/ 7 f22 1"/>
                <a:gd name="f33" fmla="*/ 9 f21 1"/>
                <a:gd name="f34" fmla="*/ 5 f22 1"/>
                <a:gd name="f35" fmla="*/ 3 f22 1"/>
                <a:gd name="f36" fmla="*/ 1 f22 1"/>
                <a:gd name="f37" fmla="*/ 0 f22 1"/>
                <a:gd name="f38" fmla="*/ 3 f21 1"/>
                <a:gd name="f39" fmla="*/ 1 f21 1"/>
                <a:gd name="f40" fmla="*/ 0 f21 1"/>
                <a:gd name="f41" fmla="*/ 53 f21 1"/>
                <a:gd name="f42" fmla="*/ 14 f21 1"/>
                <a:gd name="f43" fmla="*/ f23 1 f2"/>
                <a:gd name="f44" fmla="*/ f26 1 10"/>
                <a:gd name="f45" fmla="*/ f27 1 53"/>
                <a:gd name="f46" fmla="*/ f28 1 10"/>
                <a:gd name="f47" fmla="*/ f29 1 53"/>
                <a:gd name="f48" fmla="*/ f30 1 10"/>
                <a:gd name="f49" fmla="*/ f31 1 53"/>
                <a:gd name="f50" fmla="*/ f32 1 10"/>
                <a:gd name="f51" fmla="*/ f33 1 53"/>
                <a:gd name="f52" fmla="*/ f34 1 10"/>
                <a:gd name="f53" fmla="*/ f35 1 10"/>
                <a:gd name="f54" fmla="*/ f36 1 10"/>
                <a:gd name="f55" fmla="*/ f37 1 10"/>
                <a:gd name="f56" fmla="*/ f38 1 53"/>
                <a:gd name="f57" fmla="*/ f39 1 53"/>
                <a:gd name="f58" fmla="*/ f40 1 53"/>
                <a:gd name="f59" fmla="*/ f41 1 53"/>
                <a:gd name="f60" fmla="*/ f42 1 53"/>
                <a:gd name="f61" fmla="*/ 0 1 f24"/>
                <a:gd name="f62" fmla="*/ f6 1 f24"/>
                <a:gd name="f63" fmla="*/ 0 1 f25"/>
                <a:gd name="f64" fmla="*/ f7 1 f25"/>
                <a:gd name="f65" fmla="+- f43 0 f1"/>
                <a:gd name="f66" fmla="*/ f44 1 f24"/>
                <a:gd name="f67" fmla="*/ f45 1 f25"/>
                <a:gd name="f68" fmla="*/ f46 1 f24"/>
                <a:gd name="f69" fmla="*/ f47 1 f25"/>
                <a:gd name="f70" fmla="*/ f48 1 f24"/>
                <a:gd name="f71" fmla="*/ f49 1 f25"/>
                <a:gd name="f72" fmla="*/ f50 1 f24"/>
                <a:gd name="f73" fmla="*/ f51 1 f25"/>
                <a:gd name="f74" fmla="*/ f52 1 f24"/>
                <a:gd name="f75" fmla="*/ f53 1 f24"/>
                <a:gd name="f76" fmla="*/ f54 1 f24"/>
                <a:gd name="f77" fmla="*/ f55 1 f24"/>
                <a:gd name="f78" fmla="*/ f56 1 f25"/>
                <a:gd name="f79" fmla="*/ f57 1 f25"/>
                <a:gd name="f80" fmla="*/ f58 1 f25"/>
                <a:gd name="f81" fmla="*/ f59 1 f25"/>
                <a:gd name="f82" fmla="*/ f60 1 f25"/>
                <a:gd name="f83" fmla="*/ f61 f19 1"/>
                <a:gd name="f84" fmla="*/ f62 f19 1"/>
                <a:gd name="f85" fmla="*/ f64 f20 1"/>
                <a:gd name="f86" fmla="*/ f63 f20 1"/>
                <a:gd name="f87" fmla="*/ f66 f19 1"/>
                <a:gd name="f88" fmla="*/ f67 f20 1"/>
                <a:gd name="f89" fmla="*/ f68 f19 1"/>
                <a:gd name="f90" fmla="*/ f69 f20 1"/>
                <a:gd name="f91" fmla="*/ f70 f19 1"/>
                <a:gd name="f92" fmla="*/ f71 f20 1"/>
                <a:gd name="f93" fmla="*/ f72 f19 1"/>
                <a:gd name="f94" fmla="*/ f73 f20 1"/>
                <a:gd name="f95" fmla="*/ f74 f19 1"/>
                <a:gd name="f96" fmla="*/ f75 f19 1"/>
                <a:gd name="f97" fmla="*/ f76 f19 1"/>
                <a:gd name="f98" fmla="*/ f77 f19 1"/>
                <a:gd name="f99" fmla="*/ f78 f20 1"/>
                <a:gd name="f100" fmla="*/ f79 f20 1"/>
                <a:gd name="f101" fmla="*/ f80 f20 1"/>
                <a:gd name="f102" fmla="*/ f81 f20 1"/>
                <a:gd name="f103" fmla="*/ f82 f20 1"/>
              </a:gdLst>
              <a:ahLst/>
              <a:cxnLst>
                <a:cxn ang="3cd4">
                  <a:pos x="hc" y="t"/>
                </a:cxn>
                <a:cxn ang="0">
                  <a:pos x="r" y="vc"/>
                </a:cxn>
                <a:cxn ang="cd4">
                  <a:pos x="hc" y="b"/>
                </a:cxn>
                <a:cxn ang="cd2">
                  <a:pos x="l" y="vc"/>
                </a:cxn>
                <a:cxn ang="f65">
                  <a:pos x="f87" y="f88"/>
                </a:cxn>
                <a:cxn ang="f65">
                  <a:pos x="f89" y="f90"/>
                </a:cxn>
                <a:cxn ang="f65">
                  <a:pos x="f91" y="f92"/>
                </a:cxn>
                <a:cxn ang="f65">
                  <a:pos x="f93" y="f94"/>
                </a:cxn>
                <a:cxn ang="f65">
                  <a:pos x="f95" y="f94"/>
                </a:cxn>
                <a:cxn ang="f65">
                  <a:pos x="f96" y="f94"/>
                </a:cxn>
                <a:cxn ang="f65">
                  <a:pos x="f97" y="f92"/>
                </a:cxn>
                <a:cxn ang="f65">
                  <a:pos x="f98" y="f90"/>
                </a:cxn>
                <a:cxn ang="f65">
                  <a:pos x="f98" y="f88"/>
                </a:cxn>
                <a:cxn ang="f65">
                  <a:pos x="f98" y="f99"/>
                </a:cxn>
                <a:cxn ang="f65">
                  <a:pos x="f97" y="f100"/>
                </a:cxn>
                <a:cxn ang="f65">
                  <a:pos x="f96" y="f101"/>
                </a:cxn>
                <a:cxn ang="f65">
                  <a:pos x="f95" y="f101"/>
                </a:cxn>
                <a:cxn ang="f65">
                  <a:pos x="f93" y="f101"/>
                </a:cxn>
                <a:cxn ang="f65">
                  <a:pos x="f91" y="f100"/>
                </a:cxn>
                <a:cxn ang="f65">
                  <a:pos x="f89" y="f99"/>
                </a:cxn>
                <a:cxn ang="f65">
                  <a:pos x="f87" y="f88"/>
                </a:cxn>
                <a:cxn ang="f65">
                  <a:pos x="f97" y="f102"/>
                </a:cxn>
                <a:cxn ang="f65">
                  <a:pos x="f97" y="f103"/>
                </a:cxn>
                <a:cxn ang="f65">
                  <a:pos x="f89" y="f103"/>
                </a:cxn>
                <a:cxn ang="f65">
                  <a:pos x="f89" y="f102"/>
                </a:cxn>
                <a:cxn ang="f65">
                  <a:pos x="f97" y="f102"/>
                </a:cxn>
              </a:cxnLst>
              <a:rect l="f83" t="f86" r="f84" b="f85"/>
              <a:pathLst>
                <a:path w="10" h="53">
                  <a:moveTo>
                    <a:pt x="f6" y="f8"/>
                  </a:moveTo>
                  <a:cubicBezTo>
                    <a:pt x="f6" y="f8"/>
                    <a:pt x="f6" y="f9"/>
                    <a:pt x="f10" y="f9"/>
                  </a:cubicBezTo>
                  <a:cubicBezTo>
                    <a:pt x="f10" y="f11"/>
                    <a:pt x="f10" y="f12"/>
                    <a:pt x="f12" y="f12"/>
                  </a:cubicBezTo>
                  <a:cubicBezTo>
                    <a:pt x="f12" y="f12"/>
                    <a:pt x="f11" y="f10"/>
                    <a:pt x="f11" y="f10"/>
                  </a:cubicBezTo>
                  <a:cubicBezTo>
                    <a:pt x="f9" y="f10"/>
                    <a:pt x="f9" y="f10"/>
                    <a:pt x="f8" y="f10"/>
                  </a:cubicBezTo>
                  <a:cubicBezTo>
                    <a:pt x="f13" y="f10"/>
                    <a:pt x="f13" y="f10"/>
                    <a:pt x="f14" y="f10"/>
                  </a:cubicBezTo>
                  <a:cubicBezTo>
                    <a:pt x="f15" y="f10"/>
                    <a:pt x="f15" y="f12"/>
                    <a:pt x="f16" y="f12"/>
                  </a:cubicBezTo>
                  <a:cubicBezTo>
                    <a:pt x="f16" y="f12"/>
                    <a:pt x="f16" y="f11"/>
                    <a:pt x="f5" y="f9"/>
                  </a:cubicBezTo>
                  <a:cubicBezTo>
                    <a:pt x="f5" y="f9"/>
                    <a:pt x="f5" y="f8"/>
                    <a:pt x="f5" y="f8"/>
                  </a:cubicBezTo>
                  <a:cubicBezTo>
                    <a:pt x="f5" y="f13"/>
                    <a:pt x="f5" y="f14"/>
                    <a:pt x="f5" y="f14"/>
                  </a:cubicBezTo>
                  <a:cubicBezTo>
                    <a:pt x="f16" y="f15"/>
                    <a:pt x="f16" y="f15"/>
                    <a:pt x="f16" y="f16"/>
                  </a:cubicBezTo>
                  <a:cubicBezTo>
                    <a:pt x="f15" y="f16"/>
                    <a:pt x="f15" y="f5"/>
                    <a:pt x="f14" y="f5"/>
                  </a:cubicBezTo>
                  <a:cubicBezTo>
                    <a:pt x="f13" y="f5"/>
                    <a:pt x="f13" y="f5"/>
                    <a:pt x="f8" y="f5"/>
                  </a:cubicBezTo>
                  <a:cubicBezTo>
                    <a:pt x="f9" y="f5"/>
                    <a:pt x="f9" y="f5"/>
                    <a:pt x="f11" y="f5"/>
                  </a:cubicBezTo>
                  <a:cubicBezTo>
                    <a:pt x="f11" y="f5"/>
                    <a:pt x="f12" y="f16"/>
                    <a:pt x="f12" y="f16"/>
                  </a:cubicBezTo>
                  <a:cubicBezTo>
                    <a:pt x="f10" y="f15"/>
                    <a:pt x="f10" y="f15"/>
                    <a:pt x="f10" y="f14"/>
                  </a:cubicBezTo>
                  <a:cubicBezTo>
                    <a:pt x="f6" y="f14"/>
                    <a:pt x="f6" y="f13"/>
                    <a:pt x="f6" y="f8"/>
                  </a:cubicBezTo>
                  <a:close/>
                  <a:moveTo>
                    <a:pt x="f16" y="f7"/>
                  </a:moveTo>
                  <a:cubicBezTo>
                    <a:pt x="f16" y="f17"/>
                    <a:pt x="f16" y="f17"/>
                    <a:pt x="f16" y="f17"/>
                  </a:cubicBezTo>
                  <a:cubicBezTo>
                    <a:pt x="f10" y="f17"/>
                    <a:pt x="f10" y="f17"/>
                    <a:pt x="f10" y="f17"/>
                  </a:cubicBezTo>
                  <a:cubicBezTo>
                    <a:pt x="f10" y="f7"/>
                    <a:pt x="f10" y="f7"/>
                    <a:pt x="f10" y="f7"/>
                  </a:cubicBezTo>
                  <a:lnTo>
                    <a:pt x="f16"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4" name="Freeform 26">
              <a:extLst>
                <a:ext uri="{FF2B5EF4-FFF2-40B4-BE49-F238E27FC236}">
                  <a16:creationId xmlns:a16="http://schemas.microsoft.com/office/drawing/2014/main" id="{08F3A4EB-7420-B901-4711-205436E96E0C}"/>
                </a:ext>
              </a:extLst>
            </p:cNvPr>
            <p:cNvSpPr/>
            <p:nvPr/>
          </p:nvSpPr>
          <p:spPr>
            <a:xfrm>
              <a:off x="2235433" y="6088166"/>
              <a:ext cx="87142" cy="101132"/>
            </a:xfrm>
            <a:custGeom>
              <a:avLst/>
              <a:gdLst>
                <a:gd name="f0" fmla="val 10800000"/>
                <a:gd name="f1" fmla="val 5400000"/>
                <a:gd name="f2" fmla="val 180"/>
                <a:gd name="f3" fmla="val w"/>
                <a:gd name="f4" fmla="val h"/>
                <a:gd name="f5" fmla="val 0"/>
                <a:gd name="f6" fmla="val 34"/>
                <a:gd name="f7" fmla="val 40"/>
                <a:gd name="f8" fmla="val 19"/>
                <a:gd name="f9" fmla="val 23"/>
                <a:gd name="f10" fmla="val 25"/>
                <a:gd name="f11" fmla="val 33"/>
                <a:gd name="f12" fmla="val 28"/>
                <a:gd name="f13" fmla="val 32"/>
                <a:gd name="f14" fmla="val 30"/>
                <a:gd name="f15" fmla="val 31"/>
                <a:gd name="f16" fmla="val 29"/>
                <a:gd name="f17" fmla="val 36"/>
                <a:gd name="f18" fmla="val 26"/>
                <a:gd name="f19" fmla="val 37"/>
                <a:gd name="f20" fmla="val 24"/>
                <a:gd name="f21" fmla="val 38"/>
                <a:gd name="f22" fmla="val 21"/>
                <a:gd name="f23" fmla="val 39"/>
                <a:gd name="f24" fmla="val 17"/>
                <a:gd name="f25" fmla="val 14"/>
                <a:gd name="f26" fmla="val 12"/>
                <a:gd name="f27" fmla="val 10"/>
                <a:gd name="f28" fmla="val 8"/>
                <a:gd name="f29" fmla="val 6"/>
                <a:gd name="f30" fmla="val 5"/>
                <a:gd name="f31" fmla="val 3"/>
                <a:gd name="f32" fmla="val 2"/>
                <a:gd name="f33" fmla="val 1"/>
                <a:gd name="f34" fmla="val 20"/>
                <a:gd name="f35" fmla="val 16"/>
                <a:gd name="f36" fmla="val 11"/>
                <a:gd name="f37" fmla="val 9"/>
                <a:gd name="f38" fmla="val 7"/>
                <a:gd name="f39" fmla="val 22"/>
                <a:gd name="f40" fmla="val 18"/>
                <a:gd name="f41" fmla="val 13"/>
                <a:gd name="f42" fmla="val 15"/>
                <a:gd name="f43" fmla="val 27"/>
                <a:gd name="f44" fmla="+- 0 0 -90"/>
                <a:gd name="f45" fmla="*/ f3 1 34"/>
                <a:gd name="f46" fmla="*/ f4 1 40"/>
                <a:gd name="f47" fmla="+- f7 0 f5"/>
                <a:gd name="f48" fmla="+- f6 0 f5"/>
                <a:gd name="f49" fmla="*/ f44 f0 1"/>
                <a:gd name="f50" fmla="*/ f48 1 34"/>
                <a:gd name="f51" fmla="*/ f47 1 40"/>
                <a:gd name="f52" fmla="*/ 34 f48 1"/>
                <a:gd name="f53" fmla="*/ 19 f47 1"/>
                <a:gd name="f54" fmla="*/ 33 f48 1"/>
                <a:gd name="f55" fmla="*/ 28 f47 1"/>
                <a:gd name="f56" fmla="*/ 29 f48 1"/>
                <a:gd name="f57" fmla="*/ 34 f47 1"/>
                <a:gd name="f58" fmla="*/ 24 f48 1"/>
                <a:gd name="f59" fmla="*/ 38 f47 1"/>
                <a:gd name="f60" fmla="*/ 17 f48 1"/>
                <a:gd name="f61" fmla="*/ 40 f47 1"/>
                <a:gd name="f62" fmla="*/ 10 f48 1"/>
                <a:gd name="f63" fmla="*/ 5 f48 1"/>
                <a:gd name="f64" fmla="*/ 1 f48 1"/>
                <a:gd name="f65" fmla="*/ 0 f48 1"/>
                <a:gd name="f66" fmla="*/ 20 f47 1"/>
                <a:gd name="f67" fmla="*/ 11 f47 1"/>
                <a:gd name="f68" fmla="*/ 5 f47 1"/>
                <a:gd name="f69" fmla="*/ 1 f47 1"/>
                <a:gd name="f70" fmla="*/ 0 f47 1"/>
                <a:gd name="f71" fmla="*/ 26 f48 1"/>
                <a:gd name="f72" fmla="*/ 14 f47 1"/>
                <a:gd name="f73" fmla="*/ 10 f47 1"/>
                <a:gd name="f74" fmla="*/ 21 f48 1"/>
                <a:gd name="f75" fmla="*/ 8 f47 1"/>
                <a:gd name="f76" fmla="*/ 7 f47 1"/>
                <a:gd name="f77" fmla="*/ 13 f48 1"/>
                <a:gd name="f78" fmla="*/ 8 f48 1"/>
                <a:gd name="f79" fmla="*/ 7 f48 1"/>
                <a:gd name="f80" fmla="*/ 25 f47 1"/>
                <a:gd name="f81" fmla="*/ 29 f47 1"/>
                <a:gd name="f82" fmla="*/ 32 f47 1"/>
                <a:gd name="f83" fmla="*/ 31 f47 1"/>
                <a:gd name="f84" fmla="*/ f49 1 f2"/>
                <a:gd name="f85" fmla="*/ f52 1 34"/>
                <a:gd name="f86" fmla="*/ f53 1 40"/>
                <a:gd name="f87" fmla="*/ f54 1 34"/>
                <a:gd name="f88" fmla="*/ f55 1 40"/>
                <a:gd name="f89" fmla="*/ f56 1 34"/>
                <a:gd name="f90" fmla="*/ f57 1 40"/>
                <a:gd name="f91" fmla="*/ f58 1 34"/>
                <a:gd name="f92" fmla="*/ f59 1 40"/>
                <a:gd name="f93" fmla="*/ f60 1 34"/>
                <a:gd name="f94" fmla="*/ f61 1 40"/>
                <a:gd name="f95" fmla="*/ f62 1 34"/>
                <a:gd name="f96" fmla="*/ f63 1 34"/>
                <a:gd name="f97" fmla="*/ f64 1 34"/>
                <a:gd name="f98" fmla="*/ f65 1 34"/>
                <a:gd name="f99" fmla="*/ f66 1 40"/>
                <a:gd name="f100" fmla="*/ f67 1 40"/>
                <a:gd name="f101" fmla="*/ f68 1 40"/>
                <a:gd name="f102" fmla="*/ f69 1 40"/>
                <a:gd name="f103" fmla="*/ f70 1 40"/>
                <a:gd name="f104" fmla="*/ f71 1 34"/>
                <a:gd name="f105" fmla="*/ f72 1 40"/>
                <a:gd name="f106" fmla="*/ f73 1 40"/>
                <a:gd name="f107" fmla="*/ f74 1 34"/>
                <a:gd name="f108" fmla="*/ f75 1 40"/>
                <a:gd name="f109" fmla="*/ f76 1 40"/>
                <a:gd name="f110" fmla="*/ f77 1 34"/>
                <a:gd name="f111" fmla="*/ f78 1 34"/>
                <a:gd name="f112" fmla="*/ f79 1 34"/>
                <a:gd name="f113" fmla="*/ f80 1 40"/>
                <a:gd name="f114" fmla="*/ f81 1 40"/>
                <a:gd name="f115" fmla="*/ f82 1 40"/>
                <a:gd name="f116" fmla="*/ f83 1 40"/>
                <a:gd name="f117" fmla="*/ 0 1 f50"/>
                <a:gd name="f118" fmla="*/ f6 1 f50"/>
                <a:gd name="f119" fmla="*/ 0 1 f51"/>
                <a:gd name="f120" fmla="*/ f7 1 f51"/>
                <a:gd name="f121" fmla="+- f84 0 f1"/>
                <a:gd name="f122" fmla="*/ f85 1 f50"/>
                <a:gd name="f123" fmla="*/ f86 1 f51"/>
                <a:gd name="f124" fmla="*/ f87 1 f50"/>
                <a:gd name="f125" fmla="*/ f88 1 f51"/>
                <a:gd name="f126" fmla="*/ f89 1 f50"/>
                <a:gd name="f127" fmla="*/ f90 1 f51"/>
                <a:gd name="f128" fmla="*/ f91 1 f50"/>
                <a:gd name="f129" fmla="*/ f92 1 f51"/>
                <a:gd name="f130" fmla="*/ f93 1 f50"/>
                <a:gd name="f131" fmla="*/ f94 1 f51"/>
                <a:gd name="f132" fmla="*/ f95 1 f50"/>
                <a:gd name="f133" fmla="*/ f96 1 f50"/>
                <a:gd name="f134" fmla="*/ f97 1 f50"/>
                <a:gd name="f135" fmla="*/ f98 1 f50"/>
                <a:gd name="f136" fmla="*/ f99 1 f51"/>
                <a:gd name="f137" fmla="*/ f100 1 f51"/>
                <a:gd name="f138" fmla="*/ f101 1 f51"/>
                <a:gd name="f139" fmla="*/ f102 1 f51"/>
                <a:gd name="f140" fmla="*/ f103 1 f51"/>
                <a:gd name="f141" fmla="*/ f104 1 f50"/>
                <a:gd name="f142" fmla="*/ f105 1 f51"/>
                <a:gd name="f143" fmla="*/ f106 1 f51"/>
                <a:gd name="f144" fmla="*/ f107 1 f50"/>
                <a:gd name="f145" fmla="*/ f108 1 f51"/>
                <a:gd name="f146" fmla="*/ f109 1 f51"/>
                <a:gd name="f147" fmla="*/ f110 1 f50"/>
                <a:gd name="f148" fmla="*/ f111 1 f50"/>
                <a:gd name="f149" fmla="*/ f112 1 f50"/>
                <a:gd name="f150" fmla="*/ f113 1 f51"/>
                <a:gd name="f151" fmla="*/ f114 1 f51"/>
                <a:gd name="f152" fmla="*/ f115 1 f51"/>
                <a:gd name="f153" fmla="*/ f116 1 f51"/>
                <a:gd name="f154" fmla="*/ f117 f45 1"/>
                <a:gd name="f155" fmla="*/ f118 f45 1"/>
                <a:gd name="f156" fmla="*/ f120 f46 1"/>
                <a:gd name="f157" fmla="*/ f119 f46 1"/>
                <a:gd name="f158" fmla="*/ f122 f45 1"/>
                <a:gd name="f159" fmla="*/ f123 f46 1"/>
                <a:gd name="f160" fmla="*/ f124 f45 1"/>
                <a:gd name="f161" fmla="*/ f125 f46 1"/>
                <a:gd name="f162" fmla="*/ f126 f45 1"/>
                <a:gd name="f163" fmla="*/ f127 f46 1"/>
                <a:gd name="f164" fmla="*/ f128 f45 1"/>
                <a:gd name="f165" fmla="*/ f129 f46 1"/>
                <a:gd name="f166" fmla="*/ f130 f45 1"/>
                <a:gd name="f167" fmla="*/ f131 f46 1"/>
                <a:gd name="f168" fmla="*/ f132 f45 1"/>
                <a:gd name="f169" fmla="*/ f133 f45 1"/>
                <a:gd name="f170" fmla="*/ f134 f45 1"/>
                <a:gd name="f171" fmla="*/ f135 f45 1"/>
                <a:gd name="f172" fmla="*/ f136 f46 1"/>
                <a:gd name="f173" fmla="*/ f137 f46 1"/>
                <a:gd name="f174" fmla="*/ f138 f46 1"/>
                <a:gd name="f175" fmla="*/ f139 f46 1"/>
                <a:gd name="f176" fmla="*/ f140 f46 1"/>
                <a:gd name="f177" fmla="*/ f141 f45 1"/>
                <a:gd name="f178" fmla="*/ f142 f46 1"/>
                <a:gd name="f179" fmla="*/ f143 f46 1"/>
                <a:gd name="f180" fmla="*/ f144 f45 1"/>
                <a:gd name="f181" fmla="*/ f145 f46 1"/>
                <a:gd name="f182" fmla="*/ f146 f46 1"/>
                <a:gd name="f183" fmla="*/ f147 f45 1"/>
                <a:gd name="f184" fmla="*/ f148 f45 1"/>
                <a:gd name="f185" fmla="*/ f149 f45 1"/>
                <a:gd name="f186" fmla="*/ f150 f46 1"/>
                <a:gd name="f187" fmla="*/ f151 f46 1"/>
                <a:gd name="f188" fmla="*/ f152 f46 1"/>
                <a:gd name="f189" fmla="*/ f153 f46 1"/>
              </a:gdLst>
              <a:ahLst/>
              <a:cxnLst>
                <a:cxn ang="3cd4">
                  <a:pos x="hc" y="t"/>
                </a:cxn>
                <a:cxn ang="0">
                  <a:pos x="r" y="vc"/>
                </a:cxn>
                <a:cxn ang="cd4">
                  <a:pos x="hc" y="b"/>
                </a:cxn>
                <a:cxn ang="cd2">
                  <a:pos x="l" y="vc"/>
                </a:cxn>
                <a:cxn ang="f121">
                  <a:pos x="f158" y="f159"/>
                </a:cxn>
                <a:cxn ang="f121">
                  <a:pos x="f160" y="f161"/>
                </a:cxn>
                <a:cxn ang="f121">
                  <a:pos x="f162" y="f163"/>
                </a:cxn>
                <a:cxn ang="f121">
                  <a:pos x="f164" y="f165"/>
                </a:cxn>
                <a:cxn ang="f121">
                  <a:pos x="f166" y="f167"/>
                </a:cxn>
                <a:cxn ang="f121">
                  <a:pos x="f168" y="f165"/>
                </a:cxn>
                <a:cxn ang="f121">
                  <a:pos x="f169" y="f163"/>
                </a:cxn>
                <a:cxn ang="f121">
                  <a:pos x="f170" y="f161"/>
                </a:cxn>
                <a:cxn ang="f121">
                  <a:pos x="f171" y="f172"/>
                </a:cxn>
                <a:cxn ang="f121">
                  <a:pos x="f170" y="f173"/>
                </a:cxn>
                <a:cxn ang="f121">
                  <a:pos x="f169" y="f174"/>
                </a:cxn>
                <a:cxn ang="f121">
                  <a:pos x="f168" y="f175"/>
                </a:cxn>
                <a:cxn ang="f121">
                  <a:pos x="f166" y="f176"/>
                </a:cxn>
                <a:cxn ang="f121">
                  <a:pos x="f164" y="f175"/>
                </a:cxn>
                <a:cxn ang="f121">
                  <a:pos x="f162" y="f174"/>
                </a:cxn>
                <a:cxn ang="f121">
                  <a:pos x="f160" y="f173"/>
                </a:cxn>
                <a:cxn ang="f121">
                  <a:pos x="f158" y="f159"/>
                </a:cxn>
                <a:cxn ang="f121">
                  <a:pos x="f177" y="f172"/>
                </a:cxn>
                <a:cxn ang="f121">
                  <a:pos x="f177" y="f178"/>
                </a:cxn>
                <a:cxn ang="f121">
                  <a:pos x="f164" y="f179"/>
                </a:cxn>
                <a:cxn ang="f121">
                  <a:pos x="f180" y="f181"/>
                </a:cxn>
                <a:cxn ang="f121">
                  <a:pos x="f166" y="f182"/>
                </a:cxn>
                <a:cxn ang="f121">
                  <a:pos x="f183" y="f181"/>
                </a:cxn>
                <a:cxn ang="f121">
                  <a:pos x="f168" y="f179"/>
                </a:cxn>
                <a:cxn ang="f121">
                  <a:pos x="f184" y="f178"/>
                </a:cxn>
                <a:cxn ang="f121">
                  <a:pos x="f185" y="f159"/>
                </a:cxn>
                <a:cxn ang="f121">
                  <a:pos x="f184" y="f186"/>
                </a:cxn>
                <a:cxn ang="f121">
                  <a:pos x="f168" y="f187"/>
                </a:cxn>
                <a:cxn ang="f121">
                  <a:pos x="f183" y="f188"/>
                </a:cxn>
                <a:cxn ang="f121">
                  <a:pos x="f166" y="f188"/>
                </a:cxn>
                <a:cxn ang="f121">
                  <a:pos x="f180" y="f189"/>
                </a:cxn>
                <a:cxn ang="f121">
                  <a:pos x="f164" y="f187"/>
                </a:cxn>
                <a:cxn ang="f121">
                  <a:pos x="f177" y="f186"/>
                </a:cxn>
                <a:cxn ang="f121">
                  <a:pos x="f177" y="f172"/>
                </a:cxn>
              </a:cxnLst>
              <a:rect l="f154" t="f157" r="f155" b="f156"/>
              <a:pathLst>
                <a:path w="34" h="40">
                  <a:moveTo>
                    <a:pt x="f6" y="f8"/>
                  </a:moveTo>
                  <a:cubicBezTo>
                    <a:pt x="f6" y="f9"/>
                    <a:pt x="f6" y="f10"/>
                    <a:pt x="f11" y="f12"/>
                  </a:cubicBezTo>
                  <a:cubicBezTo>
                    <a:pt x="f13" y="f14"/>
                    <a:pt x="f15" y="f11"/>
                    <a:pt x="f16" y="f6"/>
                  </a:cubicBezTo>
                  <a:cubicBezTo>
                    <a:pt x="f12" y="f17"/>
                    <a:pt x="f18" y="f19"/>
                    <a:pt x="f20" y="f21"/>
                  </a:cubicBezTo>
                  <a:cubicBezTo>
                    <a:pt x="f22" y="f23"/>
                    <a:pt x="f8" y="f7"/>
                    <a:pt x="f24" y="f7"/>
                  </a:cubicBezTo>
                  <a:cubicBezTo>
                    <a:pt x="f25" y="f7"/>
                    <a:pt x="f26" y="f23"/>
                    <a:pt x="f27" y="f21"/>
                  </a:cubicBezTo>
                  <a:cubicBezTo>
                    <a:pt x="f28" y="f19"/>
                    <a:pt x="f29" y="f17"/>
                    <a:pt x="f30" y="f6"/>
                  </a:cubicBezTo>
                  <a:cubicBezTo>
                    <a:pt x="f31" y="f13"/>
                    <a:pt x="f32" y="f14"/>
                    <a:pt x="f33" y="f12"/>
                  </a:cubicBezTo>
                  <a:cubicBezTo>
                    <a:pt x="f5" y="f10"/>
                    <a:pt x="f5" y="f9"/>
                    <a:pt x="f5" y="f34"/>
                  </a:cubicBezTo>
                  <a:cubicBezTo>
                    <a:pt x="f5" y="f35"/>
                    <a:pt x="f5" y="f25"/>
                    <a:pt x="f33" y="f36"/>
                  </a:cubicBezTo>
                  <a:cubicBezTo>
                    <a:pt x="f32" y="f37"/>
                    <a:pt x="f31" y="f38"/>
                    <a:pt x="f30" y="f30"/>
                  </a:cubicBezTo>
                  <a:cubicBezTo>
                    <a:pt x="f29" y="f31"/>
                    <a:pt x="f28" y="f32"/>
                    <a:pt x="f27" y="f33"/>
                  </a:cubicBezTo>
                  <a:cubicBezTo>
                    <a:pt x="f26" y="f5"/>
                    <a:pt x="f25" y="f5"/>
                    <a:pt x="f24" y="f5"/>
                  </a:cubicBezTo>
                  <a:cubicBezTo>
                    <a:pt x="f8" y="f5"/>
                    <a:pt x="f39" y="f5"/>
                    <a:pt x="f20" y="f33"/>
                  </a:cubicBezTo>
                  <a:cubicBezTo>
                    <a:pt x="f18" y="f32"/>
                    <a:pt x="f12" y="f31"/>
                    <a:pt x="f16" y="f30"/>
                  </a:cubicBezTo>
                  <a:cubicBezTo>
                    <a:pt x="f15" y="f38"/>
                    <a:pt x="f13" y="f37"/>
                    <a:pt x="f11" y="f36"/>
                  </a:cubicBezTo>
                  <a:cubicBezTo>
                    <a:pt x="f6" y="f25"/>
                    <a:pt x="f6" y="f35"/>
                    <a:pt x="f6" y="f8"/>
                  </a:cubicBezTo>
                  <a:close/>
                  <a:moveTo>
                    <a:pt x="f18" y="f34"/>
                  </a:moveTo>
                  <a:cubicBezTo>
                    <a:pt x="f18" y="f40"/>
                    <a:pt x="f18" y="f35"/>
                    <a:pt x="f18" y="f25"/>
                  </a:cubicBezTo>
                  <a:cubicBezTo>
                    <a:pt x="f10" y="f41"/>
                    <a:pt x="f10" y="f36"/>
                    <a:pt x="f20" y="f27"/>
                  </a:cubicBezTo>
                  <a:cubicBezTo>
                    <a:pt x="f9" y="f37"/>
                    <a:pt x="f39" y="f28"/>
                    <a:pt x="f22" y="f28"/>
                  </a:cubicBezTo>
                  <a:cubicBezTo>
                    <a:pt x="f8" y="f38"/>
                    <a:pt x="f40" y="f38"/>
                    <a:pt x="f24" y="f38"/>
                  </a:cubicBezTo>
                  <a:cubicBezTo>
                    <a:pt x="f42" y="f38"/>
                    <a:pt x="f25" y="f38"/>
                    <a:pt x="f41" y="f28"/>
                  </a:cubicBezTo>
                  <a:cubicBezTo>
                    <a:pt x="f26" y="f28"/>
                    <a:pt x="f36" y="f37"/>
                    <a:pt x="f27" y="f27"/>
                  </a:cubicBezTo>
                  <a:cubicBezTo>
                    <a:pt x="f37" y="f36"/>
                    <a:pt x="f28" y="f41"/>
                    <a:pt x="f28" y="f25"/>
                  </a:cubicBezTo>
                  <a:cubicBezTo>
                    <a:pt x="f28" y="f35"/>
                    <a:pt x="f38" y="f24"/>
                    <a:pt x="f38" y="f8"/>
                  </a:cubicBezTo>
                  <a:cubicBezTo>
                    <a:pt x="f38" y="f22"/>
                    <a:pt x="f28" y="f9"/>
                    <a:pt x="f28" y="f10"/>
                  </a:cubicBezTo>
                  <a:cubicBezTo>
                    <a:pt x="f37" y="f43"/>
                    <a:pt x="f37" y="f12"/>
                    <a:pt x="f27" y="f16"/>
                  </a:cubicBezTo>
                  <a:cubicBezTo>
                    <a:pt x="f36" y="f14"/>
                    <a:pt x="f26" y="f15"/>
                    <a:pt x="f41" y="f13"/>
                  </a:cubicBezTo>
                  <a:cubicBezTo>
                    <a:pt x="f25" y="f13"/>
                    <a:pt x="f35" y="f13"/>
                    <a:pt x="f24" y="f13"/>
                  </a:cubicBezTo>
                  <a:cubicBezTo>
                    <a:pt x="f40" y="f13"/>
                    <a:pt x="f34" y="f13"/>
                    <a:pt x="f22" y="f15"/>
                  </a:cubicBezTo>
                  <a:cubicBezTo>
                    <a:pt x="f39" y="f15"/>
                    <a:pt x="f9" y="f14"/>
                    <a:pt x="f20" y="f16"/>
                  </a:cubicBezTo>
                  <a:cubicBezTo>
                    <a:pt x="f10" y="f43"/>
                    <a:pt x="f10" y="f18"/>
                    <a:pt x="f18" y="f10"/>
                  </a:cubicBezTo>
                  <a:cubicBezTo>
                    <a:pt x="f18" y="f9"/>
                    <a:pt x="f18" y="f22"/>
                    <a:pt x="f18" y="f34"/>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5" name="Freeform 27">
              <a:extLst>
                <a:ext uri="{FF2B5EF4-FFF2-40B4-BE49-F238E27FC236}">
                  <a16:creationId xmlns:a16="http://schemas.microsoft.com/office/drawing/2014/main" id="{B04D011A-2CDB-2FBD-47EC-C9E06129ABF6}"/>
                </a:ext>
              </a:extLst>
            </p:cNvPr>
            <p:cNvSpPr/>
            <p:nvPr/>
          </p:nvSpPr>
          <p:spPr>
            <a:xfrm>
              <a:off x="2343488"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1"/>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19"/>
                <a:gd name="f28" fmla="val 25"/>
                <a:gd name="f29" fmla="val 26"/>
                <a:gd name="f30" fmla="val 27"/>
                <a:gd name="f31" fmla="val 28"/>
                <a:gd name="f32" fmla="val 5"/>
                <a:gd name="f33" fmla="val 29"/>
                <a:gd name="f34" fmla="val 30"/>
                <a:gd name="f35" fmla="+- 0 0 -90"/>
                <a:gd name="f36" fmla="*/ f3 1 31"/>
                <a:gd name="f37" fmla="*/ f4 1 39"/>
                <a:gd name="f38" fmla="+- f7 0 f5"/>
                <a:gd name="f39" fmla="+- f6 0 f5"/>
                <a:gd name="f40" fmla="*/ f35 f0 1"/>
                <a:gd name="f41" fmla="*/ f39 1 31"/>
                <a:gd name="f42" fmla="*/ f38 1 39"/>
                <a:gd name="f43" fmla="*/ 23 f39 1"/>
                <a:gd name="f44" fmla="*/ 39 f38 1"/>
                <a:gd name="f45" fmla="*/ 17 f38 1"/>
                <a:gd name="f46" fmla="*/ 21 f39 1"/>
                <a:gd name="f47" fmla="*/ 9 f38 1"/>
                <a:gd name="f48" fmla="*/ 15 f39 1"/>
                <a:gd name="f49" fmla="*/ 7 f38 1"/>
                <a:gd name="f50" fmla="*/ 12 f39 1"/>
                <a:gd name="f51" fmla="*/ 9 f39 1"/>
                <a:gd name="f52" fmla="*/ 8 f39 1"/>
                <a:gd name="f53" fmla="*/ 12 f38 1"/>
                <a:gd name="f54" fmla="*/ 7 f39 1"/>
                <a:gd name="f55" fmla="*/ 16 f38 1"/>
                <a:gd name="f56" fmla="*/ 0 f39 1"/>
                <a:gd name="f57" fmla="*/ 0 f38 1"/>
                <a:gd name="f58" fmla="*/ 4 f38 1"/>
                <a:gd name="f59" fmla="*/ 2 f38 1"/>
                <a:gd name="f60" fmla="*/ 11 f39 1"/>
                <a:gd name="f61" fmla="*/ 1 f38 1"/>
                <a:gd name="f62" fmla="*/ 14 f39 1"/>
                <a:gd name="f63" fmla="*/ 17 f39 1"/>
                <a:gd name="f64" fmla="*/ 27 f39 1"/>
                <a:gd name="f65" fmla="*/ 30 f39 1"/>
                <a:gd name="f66" fmla="*/ 31 f39 1"/>
                <a:gd name="f67" fmla="*/ f40 1 f2"/>
                <a:gd name="f68" fmla="*/ f43 1 31"/>
                <a:gd name="f69" fmla="*/ f44 1 39"/>
                <a:gd name="f70" fmla="*/ f45 1 39"/>
                <a:gd name="f71" fmla="*/ f46 1 31"/>
                <a:gd name="f72" fmla="*/ f47 1 39"/>
                <a:gd name="f73" fmla="*/ f48 1 31"/>
                <a:gd name="f74" fmla="*/ f49 1 39"/>
                <a:gd name="f75" fmla="*/ f50 1 31"/>
                <a:gd name="f76" fmla="*/ f51 1 31"/>
                <a:gd name="f77" fmla="*/ f52 1 31"/>
                <a:gd name="f78" fmla="*/ f53 1 39"/>
                <a:gd name="f79" fmla="*/ f54 1 31"/>
                <a:gd name="f80" fmla="*/ f55 1 39"/>
                <a:gd name="f81" fmla="*/ f56 1 31"/>
                <a:gd name="f82" fmla="*/ f57 1 39"/>
                <a:gd name="f83" fmla="*/ f58 1 39"/>
                <a:gd name="f84" fmla="*/ f59 1 39"/>
                <a:gd name="f85" fmla="*/ f60 1 31"/>
                <a:gd name="f86" fmla="*/ f61 1 39"/>
                <a:gd name="f87" fmla="*/ f62 1 31"/>
                <a:gd name="f88" fmla="*/ f63 1 31"/>
                <a:gd name="f89" fmla="*/ f64 1 31"/>
                <a:gd name="f90" fmla="*/ f65 1 31"/>
                <a:gd name="f91" fmla="*/ f66 1 31"/>
                <a:gd name="f92" fmla="*/ 0 1 f41"/>
                <a:gd name="f93" fmla="*/ f6 1 f41"/>
                <a:gd name="f94" fmla="*/ 0 1 f42"/>
                <a:gd name="f95" fmla="*/ f7 1 f42"/>
                <a:gd name="f96" fmla="+- f67 0 f1"/>
                <a:gd name="f97" fmla="*/ f68 1 f41"/>
                <a:gd name="f98" fmla="*/ f69 1 f42"/>
                <a:gd name="f99" fmla="*/ f70 1 f42"/>
                <a:gd name="f100" fmla="*/ f71 1 f41"/>
                <a:gd name="f101" fmla="*/ f72 1 f42"/>
                <a:gd name="f102" fmla="*/ f73 1 f41"/>
                <a:gd name="f103" fmla="*/ f74 1 f42"/>
                <a:gd name="f104" fmla="*/ f75 1 f41"/>
                <a:gd name="f105" fmla="*/ f76 1 f41"/>
                <a:gd name="f106" fmla="*/ f77 1 f41"/>
                <a:gd name="f107" fmla="*/ f78 1 f42"/>
                <a:gd name="f108" fmla="*/ f79 1 f41"/>
                <a:gd name="f109" fmla="*/ f80 1 f42"/>
                <a:gd name="f110" fmla="*/ f81 1 f41"/>
                <a:gd name="f111" fmla="*/ f82 1 f42"/>
                <a:gd name="f112" fmla="*/ f83 1 f42"/>
                <a:gd name="f113" fmla="*/ f84 1 f42"/>
                <a:gd name="f114" fmla="*/ f85 1 f41"/>
                <a:gd name="f115" fmla="*/ f86 1 f42"/>
                <a:gd name="f116" fmla="*/ f87 1 f41"/>
                <a:gd name="f117" fmla="*/ f88 1 f41"/>
                <a:gd name="f118" fmla="*/ f89 1 f41"/>
                <a:gd name="f119" fmla="*/ f90 1 f41"/>
                <a:gd name="f120" fmla="*/ f91 1 f41"/>
                <a:gd name="f121" fmla="*/ f92 f36 1"/>
                <a:gd name="f122" fmla="*/ f93 f36 1"/>
                <a:gd name="f123" fmla="*/ f95 f37 1"/>
                <a:gd name="f124" fmla="*/ f94 f37 1"/>
                <a:gd name="f125" fmla="*/ f97 f36 1"/>
                <a:gd name="f126" fmla="*/ f98 f37 1"/>
                <a:gd name="f127" fmla="*/ f99 f37 1"/>
                <a:gd name="f128" fmla="*/ f100 f36 1"/>
                <a:gd name="f129" fmla="*/ f101 f37 1"/>
                <a:gd name="f130" fmla="*/ f102 f36 1"/>
                <a:gd name="f131" fmla="*/ f103 f37 1"/>
                <a:gd name="f132" fmla="*/ f104 f36 1"/>
                <a:gd name="f133" fmla="*/ f105 f36 1"/>
                <a:gd name="f134" fmla="*/ f106 f36 1"/>
                <a:gd name="f135" fmla="*/ f107 f37 1"/>
                <a:gd name="f136" fmla="*/ f108 f36 1"/>
                <a:gd name="f137" fmla="*/ f109 f37 1"/>
                <a:gd name="f138" fmla="*/ f110 f36 1"/>
                <a:gd name="f139" fmla="*/ f111 f37 1"/>
                <a:gd name="f140" fmla="*/ f112 f37 1"/>
                <a:gd name="f141" fmla="*/ f113 f37 1"/>
                <a:gd name="f142" fmla="*/ f114 f36 1"/>
                <a:gd name="f143" fmla="*/ f115 f37 1"/>
                <a:gd name="f144" fmla="*/ f116 f36 1"/>
                <a:gd name="f145" fmla="*/ f117 f36 1"/>
                <a:gd name="f146" fmla="*/ f118 f36 1"/>
                <a:gd name="f147" fmla="*/ f119 f36 1"/>
                <a:gd name="f148" fmla="*/ f120 f36 1"/>
              </a:gdLst>
              <a:ahLst/>
              <a:cxnLst>
                <a:cxn ang="3cd4">
                  <a:pos x="hc" y="t"/>
                </a:cxn>
                <a:cxn ang="0">
                  <a:pos x="r" y="vc"/>
                </a:cxn>
                <a:cxn ang="cd4">
                  <a:pos x="hc" y="b"/>
                </a:cxn>
                <a:cxn ang="cd2">
                  <a:pos x="l" y="vc"/>
                </a:cxn>
                <a:cxn ang="f96">
                  <a:pos x="f125" y="f126"/>
                </a:cxn>
                <a:cxn ang="f96">
                  <a:pos x="f125" y="f127"/>
                </a:cxn>
                <a:cxn ang="f96">
                  <a:pos x="f128" y="f129"/>
                </a:cxn>
                <a:cxn ang="f96">
                  <a:pos x="f130" y="f131"/>
                </a:cxn>
                <a:cxn ang="f96">
                  <a:pos x="f132" y="f131"/>
                </a:cxn>
                <a:cxn ang="f96">
                  <a:pos x="f133" y="f129"/>
                </a:cxn>
                <a:cxn ang="f96">
                  <a:pos x="f134" y="f135"/>
                </a:cxn>
                <a:cxn ang="f96">
                  <a:pos x="f136" y="f137"/>
                </a:cxn>
                <a:cxn ang="f96">
                  <a:pos x="f136" y="f126"/>
                </a:cxn>
                <a:cxn ang="f96">
                  <a:pos x="f138" y="f126"/>
                </a:cxn>
                <a:cxn ang="f96">
                  <a:pos x="f138" y="f139"/>
                </a:cxn>
                <a:cxn ang="f96">
                  <a:pos x="f136" y="f139"/>
                </a:cxn>
                <a:cxn ang="f96">
                  <a:pos x="f136" y="f140"/>
                </a:cxn>
                <a:cxn ang="f96">
                  <a:pos x="f133" y="f141"/>
                </a:cxn>
                <a:cxn ang="f96">
                  <a:pos x="f142" y="f143"/>
                </a:cxn>
                <a:cxn ang="f96">
                  <a:pos x="f144" y="f139"/>
                </a:cxn>
                <a:cxn ang="f96">
                  <a:pos x="f145" y="f139"/>
                </a:cxn>
                <a:cxn ang="f96">
                  <a:pos x="f125" y="f143"/>
                </a:cxn>
                <a:cxn ang="f96">
                  <a:pos x="f146" y="f140"/>
                </a:cxn>
                <a:cxn ang="f96">
                  <a:pos x="f147" y="f129"/>
                </a:cxn>
                <a:cxn ang="f96">
                  <a:pos x="f148" y="f127"/>
                </a:cxn>
                <a:cxn ang="f96">
                  <a:pos x="f148" y="f126"/>
                </a:cxn>
                <a:cxn ang="f96">
                  <a:pos x="f125" y="f126"/>
                </a:cxn>
              </a:cxnLst>
              <a:rect l="f121" t="f124" r="f122" b="f123"/>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13" y="f13"/>
                  </a:cubicBezTo>
                  <a:cubicBezTo>
                    <a:pt x="f13" y="f21"/>
                    <a:pt x="f20" y="f11"/>
                    <a:pt x="f20" y="f19"/>
                  </a:cubicBezTo>
                  <a:cubicBezTo>
                    <a:pt x="f20" y="f10"/>
                    <a:pt x="f15" y="f17"/>
                    <a:pt x="f15" y="f22"/>
                  </a:cubicBezTo>
                  <a:cubicBezTo>
                    <a:pt x="f15" y="f7"/>
                    <a:pt x="f15" y="f7"/>
                    <a:pt x="f15" y="f7"/>
                  </a:cubicBezTo>
                  <a:cubicBezTo>
                    <a:pt x="f5" y="f7"/>
                    <a:pt x="f5" y="f7"/>
                    <a:pt x="f5" y="f7"/>
                  </a:cubicBezTo>
                  <a:cubicBezTo>
                    <a:pt x="f5" y="f5"/>
                    <a:pt x="f5" y="f5"/>
                    <a:pt x="f5" y="f5"/>
                  </a:cubicBezTo>
                  <a:cubicBezTo>
                    <a:pt x="f15" y="f5"/>
                    <a:pt x="f15" y="f5"/>
                    <a:pt x="f15" y="f5"/>
                  </a:cubicBezTo>
                  <a:cubicBezTo>
                    <a:pt x="f15" y="f23"/>
                    <a:pt x="f15" y="f23"/>
                    <a:pt x="f15" y="f23"/>
                  </a:cubicBezTo>
                  <a:cubicBezTo>
                    <a:pt x="f20" y="f24"/>
                    <a:pt x="f20" y="f24"/>
                    <a:pt x="f13" y="f25"/>
                  </a:cubicBezTo>
                  <a:cubicBezTo>
                    <a:pt x="f21" y="f25"/>
                    <a:pt x="f11" y="f26"/>
                    <a:pt x="f11" y="f26"/>
                  </a:cubicBezTo>
                  <a:cubicBezTo>
                    <a:pt x="f19" y="f5"/>
                    <a:pt x="f18" y="f5"/>
                    <a:pt x="f10" y="f5"/>
                  </a:cubicBezTo>
                  <a:cubicBezTo>
                    <a:pt x="f17" y="f5"/>
                    <a:pt x="f22" y="f5"/>
                    <a:pt x="f9" y="f5"/>
                  </a:cubicBezTo>
                  <a:cubicBezTo>
                    <a:pt x="f27" y="f5"/>
                    <a:pt x="f12" y="f5"/>
                    <a:pt x="f8" y="f26"/>
                  </a:cubicBezTo>
                  <a:cubicBezTo>
                    <a:pt x="f28" y="f26"/>
                    <a:pt x="f29" y="f25"/>
                    <a:pt x="f30" y="f23"/>
                  </a:cubicBezTo>
                  <a:cubicBezTo>
                    <a:pt x="f31" y="f32"/>
                    <a:pt x="f33" y="f15"/>
                    <a:pt x="f34" y="f13"/>
                  </a:cubicBezTo>
                  <a:cubicBezTo>
                    <a:pt x="f34"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6" name="Freeform 28">
              <a:extLst>
                <a:ext uri="{FF2B5EF4-FFF2-40B4-BE49-F238E27FC236}">
                  <a16:creationId xmlns:a16="http://schemas.microsoft.com/office/drawing/2014/main" id="{960E25BD-1952-6FCD-C05B-F3F1AFB71A2B}"/>
                </a:ext>
              </a:extLst>
            </p:cNvPr>
            <p:cNvSpPr/>
            <p:nvPr/>
          </p:nvSpPr>
          <p:spPr>
            <a:xfrm>
              <a:off x="2444575" y="6159663"/>
              <a:ext cx="31373"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4 f21 1"/>
                <a:gd name="f30" fmla="*/ 2 f21 1"/>
                <a:gd name="f31" fmla="*/ 1 f21 1"/>
                <a:gd name="f32" fmla="*/ 0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19 1"/>
                <a:gd name="f73" fmla="*/ f51 f20 1"/>
                <a:gd name="f74" fmla="*/ f52 f20 1"/>
                <a:gd name="f75" fmla="*/ f54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2" y="f60"/>
                </a:cxn>
                <a:cxn ang="f45">
                  <a:pos x="f71" y="f73"/>
                </a:cxn>
                <a:cxn ang="f45">
                  <a:pos x="f70" y="f74"/>
                </a:cxn>
                <a:cxn ang="f45">
                  <a:pos x="f69" y="f75"/>
                </a:cxn>
                <a:cxn ang="f45">
                  <a:pos x="f67" y="f75"/>
                </a:cxn>
                <a:cxn ang="f45">
                  <a:pos x="f65" y="f75"/>
                </a:cxn>
                <a:cxn ang="f45">
                  <a:pos x="f63" y="f74"/>
                </a:cxn>
                <a:cxn ang="f45">
                  <a:pos x="f61" y="f73"/>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4" y="f9"/>
                  </a:cubicBezTo>
                  <a:cubicBezTo>
                    <a:pt x="f15" y="f9"/>
                    <a:pt x="f16" y="f12"/>
                    <a:pt x="f16" y="f12"/>
                  </a:cubicBezTo>
                  <a:cubicBezTo>
                    <a:pt x="f17" y="f11"/>
                    <a:pt x="f17" y="f11"/>
                    <a:pt x="f17" y="f10"/>
                  </a:cubicBezTo>
                  <a:cubicBezTo>
                    <a:pt x="f5" y="f8"/>
                    <a:pt x="f5" y="f8"/>
                    <a:pt x="f5" y="f7"/>
                  </a:cubicBezTo>
                  <a:cubicBezTo>
                    <a:pt x="f5" y="f13"/>
                    <a:pt x="f5" y="f14"/>
                    <a:pt x="f17" y="f14"/>
                  </a:cubicBezTo>
                  <a:cubicBezTo>
                    <a:pt x="f17" y="f15"/>
                    <a:pt x="f17" y="f16"/>
                    <a:pt x="f16" y="f16"/>
                  </a:cubicBezTo>
                  <a:cubicBezTo>
                    <a:pt x="f16" y="f17"/>
                    <a:pt x="f15" y="f17"/>
                    <a:pt x="f14"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7" name="Freeform 29">
              <a:extLst>
                <a:ext uri="{FF2B5EF4-FFF2-40B4-BE49-F238E27FC236}">
                  <a16:creationId xmlns:a16="http://schemas.microsoft.com/office/drawing/2014/main" id="{D69FAC34-22C7-13F8-0EAC-5BDE1DBD6EA5}"/>
                </a:ext>
              </a:extLst>
            </p:cNvPr>
            <p:cNvSpPr/>
            <p:nvPr/>
          </p:nvSpPr>
          <p:spPr>
            <a:xfrm>
              <a:off x="2538685" y="6056784"/>
              <a:ext cx="97593" cy="130777"/>
            </a:xfrm>
            <a:custGeom>
              <a:avLst/>
              <a:gdLst>
                <a:gd name="f0" fmla="val 10800000"/>
                <a:gd name="f1" fmla="val 5400000"/>
                <a:gd name="f2" fmla="val 180"/>
                <a:gd name="f3" fmla="val w"/>
                <a:gd name="f4" fmla="val h"/>
                <a:gd name="f5" fmla="val 0"/>
                <a:gd name="f6" fmla="val 56"/>
                <a:gd name="f7" fmla="val 75"/>
                <a:gd name="f8" fmla="val 34"/>
                <a:gd name="f9" fmla="val 11"/>
                <a:gd name="f10" fmla="val 22"/>
                <a:gd name="f11" fmla="+- 0 0 -90"/>
                <a:gd name="f12" fmla="*/ f3 1 56"/>
                <a:gd name="f13" fmla="*/ f4 1 75"/>
                <a:gd name="f14" fmla="+- f7 0 f5"/>
                <a:gd name="f15" fmla="+- f6 0 f5"/>
                <a:gd name="f16" fmla="*/ f11 f0 1"/>
                <a:gd name="f17" fmla="*/ f15 1 56"/>
                <a:gd name="f18" fmla="*/ f14 1 75"/>
                <a:gd name="f19" fmla="*/ 34 f15 1"/>
                <a:gd name="f20" fmla="*/ 11 f14 1"/>
                <a:gd name="f21" fmla="*/ 75 f14 1"/>
                <a:gd name="f22" fmla="*/ 22 f15 1"/>
                <a:gd name="f23" fmla="*/ 0 f15 1"/>
                <a:gd name="f24" fmla="*/ 0 f14 1"/>
                <a:gd name="f25" fmla="*/ 56 f15 1"/>
                <a:gd name="f26" fmla="*/ f16 1 f2"/>
                <a:gd name="f27" fmla="*/ f19 1 56"/>
                <a:gd name="f28" fmla="*/ f20 1 75"/>
                <a:gd name="f29" fmla="*/ f21 1 75"/>
                <a:gd name="f30" fmla="*/ f22 1 56"/>
                <a:gd name="f31" fmla="*/ f23 1 56"/>
                <a:gd name="f32" fmla="*/ f24 1 75"/>
                <a:gd name="f33" fmla="*/ f25 1 56"/>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6"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8" name="Freeform 30">
              <a:extLst>
                <a:ext uri="{FF2B5EF4-FFF2-40B4-BE49-F238E27FC236}">
                  <a16:creationId xmlns:a16="http://schemas.microsoft.com/office/drawing/2014/main" id="{2B6C8A1D-3DEB-1488-FB41-DD2A02B2537D}"/>
                </a:ext>
              </a:extLst>
            </p:cNvPr>
            <p:cNvSpPr/>
            <p:nvPr/>
          </p:nvSpPr>
          <p:spPr>
            <a:xfrm>
              <a:off x="2650223" y="6049807"/>
              <a:ext cx="80165" cy="137754"/>
            </a:xfrm>
            <a:custGeom>
              <a:avLst/>
              <a:gdLst>
                <a:gd name="f0" fmla="val 10800000"/>
                <a:gd name="f1" fmla="val 5400000"/>
                <a:gd name="f2" fmla="val 180"/>
                <a:gd name="f3" fmla="val w"/>
                <a:gd name="f4" fmla="val h"/>
                <a:gd name="f5" fmla="val 0"/>
                <a:gd name="f6" fmla="val 31"/>
                <a:gd name="f7" fmla="val 54"/>
                <a:gd name="f8" fmla="val 24"/>
                <a:gd name="f9" fmla="val 32"/>
                <a:gd name="f10" fmla="val 28"/>
                <a:gd name="f11" fmla="val 23"/>
                <a:gd name="f12" fmla="val 26"/>
                <a:gd name="f13" fmla="val 22"/>
                <a:gd name="f14" fmla="val 21"/>
                <a:gd name="f15" fmla="val 19"/>
                <a:gd name="f16" fmla="val 16"/>
                <a:gd name="f17" fmla="val 15"/>
                <a:gd name="f18" fmla="val 14"/>
                <a:gd name="f19" fmla="val 13"/>
                <a:gd name="f20" fmla="val 12"/>
                <a:gd name="f21" fmla="val 11"/>
                <a:gd name="f22" fmla="val 10"/>
                <a:gd name="f23" fmla="val 9"/>
                <a:gd name="f24" fmla="val 25"/>
                <a:gd name="f25" fmla="val 8"/>
                <a:gd name="f26" fmla="val 27"/>
                <a:gd name="f27" fmla="val 30"/>
                <a:gd name="f28" fmla="val 4"/>
                <a:gd name="f29" fmla="val 18"/>
                <a:gd name="f30" fmla="val 17"/>
                <a:gd name="f31" fmla="val 20"/>
                <a:gd name="f32" fmla="val 29"/>
                <a:gd name="f33" fmla="+- 0 0 -90"/>
                <a:gd name="f34" fmla="*/ f3 1 31"/>
                <a:gd name="f35" fmla="*/ f4 1 54"/>
                <a:gd name="f36" fmla="+- f7 0 f5"/>
                <a:gd name="f37" fmla="+- f6 0 f5"/>
                <a:gd name="f38" fmla="*/ f33 f0 1"/>
                <a:gd name="f39" fmla="*/ f37 1 31"/>
                <a:gd name="f40" fmla="*/ f36 1 54"/>
                <a:gd name="f41" fmla="*/ 24 f37 1"/>
                <a:gd name="f42" fmla="*/ 54 f36 1"/>
                <a:gd name="f43" fmla="*/ 32 f36 1"/>
                <a:gd name="f44" fmla="*/ 22 f37 1"/>
                <a:gd name="f45" fmla="*/ 24 f36 1"/>
                <a:gd name="f46" fmla="*/ 16 f37 1"/>
                <a:gd name="f47" fmla="*/ 22 f36 1"/>
                <a:gd name="f48" fmla="*/ 13 f37 1"/>
                <a:gd name="f49" fmla="*/ 10 f37 1"/>
                <a:gd name="f50" fmla="*/ 8 f37 1"/>
                <a:gd name="f51" fmla="*/ 27 f36 1"/>
                <a:gd name="f52" fmla="*/ 31 f36 1"/>
                <a:gd name="f53" fmla="*/ 0 f37 1"/>
                <a:gd name="f54" fmla="*/ 4 f36 1"/>
                <a:gd name="f55" fmla="*/ 0 f36 1"/>
                <a:gd name="f56" fmla="*/ 19 f36 1"/>
                <a:gd name="f57" fmla="*/ 17 f36 1"/>
                <a:gd name="f58" fmla="*/ 12 f37 1"/>
                <a:gd name="f59" fmla="*/ 16 f36 1"/>
                <a:gd name="f60" fmla="*/ 15 f37 1"/>
                <a:gd name="f61" fmla="*/ 15 f36 1"/>
                <a:gd name="f62" fmla="*/ 18 f37 1"/>
                <a:gd name="f63" fmla="*/ 28 f37 1"/>
                <a:gd name="f64" fmla="*/ 30 f37 1"/>
                <a:gd name="f65" fmla="*/ 31 f37 1"/>
                <a:gd name="f66" fmla="*/ f38 1 f2"/>
                <a:gd name="f67" fmla="*/ f41 1 31"/>
                <a:gd name="f68" fmla="*/ f42 1 54"/>
                <a:gd name="f69" fmla="*/ f43 1 54"/>
                <a:gd name="f70" fmla="*/ f44 1 31"/>
                <a:gd name="f71" fmla="*/ f45 1 54"/>
                <a:gd name="f72" fmla="*/ f46 1 31"/>
                <a:gd name="f73" fmla="*/ f47 1 54"/>
                <a:gd name="f74" fmla="*/ f48 1 31"/>
                <a:gd name="f75" fmla="*/ f49 1 31"/>
                <a:gd name="f76" fmla="*/ f50 1 31"/>
                <a:gd name="f77" fmla="*/ f51 1 54"/>
                <a:gd name="f78" fmla="*/ f52 1 54"/>
                <a:gd name="f79" fmla="*/ f53 1 31"/>
                <a:gd name="f80" fmla="*/ f54 1 54"/>
                <a:gd name="f81" fmla="*/ f55 1 54"/>
                <a:gd name="f82" fmla="*/ f56 1 54"/>
                <a:gd name="f83" fmla="*/ f57 1 54"/>
                <a:gd name="f84" fmla="*/ f58 1 31"/>
                <a:gd name="f85" fmla="*/ f59 1 54"/>
                <a:gd name="f86" fmla="*/ f60 1 31"/>
                <a:gd name="f87" fmla="*/ f61 1 54"/>
                <a:gd name="f88" fmla="*/ f62 1 31"/>
                <a:gd name="f89" fmla="*/ f63 1 31"/>
                <a:gd name="f90" fmla="*/ f64 1 31"/>
                <a:gd name="f91" fmla="*/ f65 1 31"/>
                <a:gd name="f92" fmla="*/ 0 1 f39"/>
                <a:gd name="f93" fmla="*/ f6 1 f39"/>
                <a:gd name="f94" fmla="*/ 0 1 f40"/>
                <a:gd name="f95" fmla="*/ f7 1 f40"/>
                <a:gd name="f96" fmla="+- f66 0 f1"/>
                <a:gd name="f97" fmla="*/ f67 1 f39"/>
                <a:gd name="f98" fmla="*/ f68 1 f40"/>
                <a:gd name="f99" fmla="*/ f69 1 f40"/>
                <a:gd name="f100" fmla="*/ f70 1 f39"/>
                <a:gd name="f101" fmla="*/ f71 1 f40"/>
                <a:gd name="f102" fmla="*/ f72 1 f39"/>
                <a:gd name="f103" fmla="*/ f73 1 f40"/>
                <a:gd name="f104" fmla="*/ f74 1 f39"/>
                <a:gd name="f105" fmla="*/ f75 1 f39"/>
                <a:gd name="f106" fmla="*/ f76 1 f39"/>
                <a:gd name="f107" fmla="*/ f77 1 f40"/>
                <a:gd name="f108" fmla="*/ f78 1 f40"/>
                <a:gd name="f109" fmla="*/ f79 1 f39"/>
                <a:gd name="f110" fmla="*/ f80 1 f40"/>
                <a:gd name="f111" fmla="*/ f81 1 f40"/>
                <a:gd name="f112" fmla="*/ f82 1 f40"/>
                <a:gd name="f113" fmla="*/ f83 1 f40"/>
                <a:gd name="f114" fmla="*/ f84 1 f39"/>
                <a:gd name="f115" fmla="*/ f85 1 f40"/>
                <a:gd name="f116" fmla="*/ f86 1 f39"/>
                <a:gd name="f117" fmla="*/ f87 1 f40"/>
                <a:gd name="f118" fmla="*/ f88 1 f39"/>
                <a:gd name="f119" fmla="*/ f89 1 f39"/>
                <a:gd name="f120" fmla="*/ f90 1 f39"/>
                <a:gd name="f121" fmla="*/ f91 1 f39"/>
                <a:gd name="f122" fmla="*/ f92 f34 1"/>
                <a:gd name="f123" fmla="*/ f93 f34 1"/>
                <a:gd name="f124" fmla="*/ f95 f35 1"/>
                <a:gd name="f125" fmla="*/ f94 f35 1"/>
                <a:gd name="f126" fmla="*/ f97 f34 1"/>
                <a:gd name="f127" fmla="*/ f98 f35 1"/>
                <a:gd name="f128" fmla="*/ f99 f35 1"/>
                <a:gd name="f129" fmla="*/ f100 f34 1"/>
                <a:gd name="f130" fmla="*/ f101 f35 1"/>
                <a:gd name="f131" fmla="*/ f102 f34 1"/>
                <a:gd name="f132" fmla="*/ f103 f35 1"/>
                <a:gd name="f133" fmla="*/ f104 f34 1"/>
                <a:gd name="f134" fmla="*/ f105 f34 1"/>
                <a:gd name="f135" fmla="*/ f106 f34 1"/>
                <a:gd name="f136" fmla="*/ f107 f35 1"/>
                <a:gd name="f137" fmla="*/ f108 f35 1"/>
                <a:gd name="f138" fmla="*/ f109 f34 1"/>
                <a:gd name="f139" fmla="*/ f110 f35 1"/>
                <a:gd name="f140" fmla="*/ f111 f35 1"/>
                <a:gd name="f141" fmla="*/ f112 f35 1"/>
                <a:gd name="f142" fmla="*/ f113 f35 1"/>
                <a:gd name="f143" fmla="*/ f114 f34 1"/>
                <a:gd name="f144" fmla="*/ f115 f35 1"/>
                <a:gd name="f145" fmla="*/ f116 f34 1"/>
                <a:gd name="f146" fmla="*/ f117 f35 1"/>
                <a:gd name="f147" fmla="*/ f118 f34 1"/>
                <a:gd name="f148" fmla="*/ f119 f34 1"/>
                <a:gd name="f149" fmla="*/ f120 f34 1"/>
                <a:gd name="f150" fmla="*/ f121 f34 1"/>
              </a:gdLst>
              <a:ahLst/>
              <a:cxnLst>
                <a:cxn ang="3cd4">
                  <a:pos x="hc" y="t"/>
                </a:cxn>
                <a:cxn ang="0">
                  <a:pos x="r" y="vc"/>
                </a:cxn>
                <a:cxn ang="cd4">
                  <a:pos x="hc" y="b"/>
                </a:cxn>
                <a:cxn ang="cd2">
                  <a:pos x="l" y="vc"/>
                </a:cxn>
                <a:cxn ang="f96">
                  <a:pos x="f126" y="f127"/>
                </a:cxn>
                <a:cxn ang="f96">
                  <a:pos x="f126" y="f128"/>
                </a:cxn>
                <a:cxn ang="f96">
                  <a:pos x="f129" y="f130"/>
                </a:cxn>
                <a:cxn ang="f96">
                  <a:pos x="f131" y="f132"/>
                </a:cxn>
                <a:cxn ang="f96">
                  <a:pos x="f133" y="f132"/>
                </a:cxn>
                <a:cxn ang="f96">
                  <a:pos x="f134" y="f130"/>
                </a:cxn>
                <a:cxn ang="f96">
                  <a:pos x="f135" y="f136"/>
                </a:cxn>
                <a:cxn ang="f96">
                  <a:pos x="f135" y="f137"/>
                </a:cxn>
                <a:cxn ang="f96">
                  <a:pos x="f135" y="f127"/>
                </a:cxn>
                <a:cxn ang="f96">
                  <a:pos x="f138" y="f127"/>
                </a:cxn>
                <a:cxn ang="f96">
                  <a:pos x="f138" y="f139"/>
                </a:cxn>
                <a:cxn ang="f96">
                  <a:pos x="f135" y="f140"/>
                </a:cxn>
                <a:cxn ang="f96">
                  <a:pos x="f135" y="f141"/>
                </a:cxn>
                <a:cxn ang="f96">
                  <a:pos x="f134" y="f142"/>
                </a:cxn>
                <a:cxn ang="f96">
                  <a:pos x="f143" y="f144"/>
                </a:cxn>
                <a:cxn ang="f96">
                  <a:pos x="f145" y="f146"/>
                </a:cxn>
                <a:cxn ang="f96">
                  <a:pos x="f147" y="f146"/>
                </a:cxn>
                <a:cxn ang="f96">
                  <a:pos x="f126" y="f144"/>
                </a:cxn>
                <a:cxn ang="f96">
                  <a:pos x="f148" y="f141"/>
                </a:cxn>
                <a:cxn ang="f96">
                  <a:pos x="f149" y="f130"/>
                </a:cxn>
                <a:cxn ang="f96">
                  <a:pos x="f150" y="f128"/>
                </a:cxn>
                <a:cxn ang="f96">
                  <a:pos x="f150" y="f127"/>
                </a:cxn>
                <a:cxn ang="f96">
                  <a:pos x="f126" y="f127"/>
                </a:cxn>
              </a:cxnLst>
              <a:rect l="f122" t="f125" r="f123" b="f124"/>
              <a:pathLst>
                <a:path w="31" h="54">
                  <a:moveTo>
                    <a:pt x="f8" y="f7"/>
                  </a:moveTo>
                  <a:cubicBezTo>
                    <a:pt x="f8" y="f9"/>
                    <a:pt x="f8" y="f9"/>
                    <a:pt x="f8" y="f9"/>
                  </a:cubicBezTo>
                  <a:cubicBezTo>
                    <a:pt x="f8" y="f10"/>
                    <a:pt x="f11" y="f12"/>
                    <a:pt x="f13" y="f8"/>
                  </a:cubicBezTo>
                  <a:cubicBezTo>
                    <a:pt x="f14" y="f13"/>
                    <a:pt x="f15" y="f13"/>
                    <a:pt x="f16" y="f13"/>
                  </a:cubicBezTo>
                  <a:cubicBezTo>
                    <a:pt x="f17" y="f13"/>
                    <a:pt x="f18" y="f13"/>
                    <a:pt x="f19" y="f13"/>
                  </a:cubicBezTo>
                  <a:cubicBezTo>
                    <a:pt x="f20" y="f13"/>
                    <a:pt x="f21" y="f11"/>
                    <a:pt x="f22" y="f8"/>
                  </a:cubicBezTo>
                  <a:cubicBezTo>
                    <a:pt x="f23" y="f24"/>
                    <a:pt x="f23" y="f12"/>
                    <a:pt x="f25" y="f26"/>
                  </a:cubicBezTo>
                  <a:cubicBezTo>
                    <a:pt x="f25" y="f10"/>
                    <a:pt x="f25" y="f27"/>
                    <a:pt x="f25" y="f6"/>
                  </a:cubicBezTo>
                  <a:cubicBezTo>
                    <a:pt x="f25" y="f7"/>
                    <a:pt x="f25" y="f7"/>
                    <a:pt x="f25" y="f7"/>
                  </a:cubicBezTo>
                  <a:cubicBezTo>
                    <a:pt x="f5" y="f7"/>
                    <a:pt x="f5" y="f7"/>
                    <a:pt x="f5" y="f7"/>
                  </a:cubicBezTo>
                  <a:cubicBezTo>
                    <a:pt x="f5" y="f28"/>
                    <a:pt x="f5" y="f28"/>
                    <a:pt x="f5" y="f28"/>
                  </a:cubicBezTo>
                  <a:cubicBezTo>
                    <a:pt x="f25" y="f5"/>
                    <a:pt x="f25" y="f5"/>
                    <a:pt x="f25" y="f5"/>
                  </a:cubicBezTo>
                  <a:cubicBezTo>
                    <a:pt x="f25" y="f15"/>
                    <a:pt x="f25" y="f15"/>
                    <a:pt x="f25" y="f15"/>
                  </a:cubicBezTo>
                  <a:cubicBezTo>
                    <a:pt x="f25" y="f29"/>
                    <a:pt x="f23" y="f29"/>
                    <a:pt x="f22" y="f30"/>
                  </a:cubicBezTo>
                  <a:cubicBezTo>
                    <a:pt x="f22" y="f30"/>
                    <a:pt x="f21" y="f16"/>
                    <a:pt x="f20" y="f16"/>
                  </a:cubicBezTo>
                  <a:cubicBezTo>
                    <a:pt x="f19" y="f17"/>
                    <a:pt x="f18" y="f17"/>
                    <a:pt x="f17" y="f17"/>
                  </a:cubicBezTo>
                  <a:cubicBezTo>
                    <a:pt x="f16" y="f17"/>
                    <a:pt x="f30" y="f17"/>
                    <a:pt x="f29" y="f17"/>
                  </a:cubicBezTo>
                  <a:cubicBezTo>
                    <a:pt x="f31" y="f17"/>
                    <a:pt x="f13" y="f17"/>
                    <a:pt x="f8" y="f16"/>
                  </a:cubicBezTo>
                  <a:cubicBezTo>
                    <a:pt x="f24" y="f16"/>
                    <a:pt x="f26" y="f30"/>
                    <a:pt x="f10" y="f15"/>
                  </a:cubicBezTo>
                  <a:cubicBezTo>
                    <a:pt x="f32" y="f31"/>
                    <a:pt x="f27" y="f13"/>
                    <a:pt x="f27" y="f8"/>
                  </a:cubicBezTo>
                  <a:cubicBezTo>
                    <a:pt x="f6" y="f26"/>
                    <a:pt x="f6" y="f32"/>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29" name="Freeform 31">
              <a:extLst>
                <a:ext uri="{FF2B5EF4-FFF2-40B4-BE49-F238E27FC236}">
                  <a16:creationId xmlns:a16="http://schemas.microsoft.com/office/drawing/2014/main" id="{C45AE572-FA43-5949-FB9D-A1212023E63D}"/>
                </a:ext>
              </a:extLst>
            </p:cNvPr>
            <p:cNvSpPr/>
            <p:nvPr/>
          </p:nvSpPr>
          <p:spPr>
            <a:xfrm>
              <a:off x="2749564" y="6088166"/>
              <a:ext cx="85395"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24"/>
                <a:gd name="f14" fmla="val 8"/>
                <a:gd name="f15" fmla="val 26"/>
                <a:gd name="f16" fmla="val 27"/>
                <a:gd name="f17" fmla="val 9"/>
                <a:gd name="f18" fmla="val 28"/>
                <a:gd name="f19" fmla="val 10"/>
                <a:gd name="f20" fmla="val 29"/>
                <a:gd name="f21" fmla="val 11"/>
                <a:gd name="f22" fmla="val 30"/>
                <a:gd name="f23" fmla="val 31"/>
                <a:gd name="f24" fmla="val 12"/>
                <a:gd name="f25" fmla="val 32"/>
                <a:gd name="f26" fmla="val 13"/>
                <a:gd name="f27" fmla="val 15"/>
                <a:gd name="f28" fmla="val 16"/>
                <a:gd name="f29" fmla="val 17"/>
                <a:gd name="f30" fmla="val 18"/>
                <a:gd name="f31" fmla="val 23"/>
                <a:gd name="f32" fmla="val 25"/>
                <a:gd name="f33" fmla="val 35"/>
                <a:gd name="f34" fmla="val 36"/>
                <a:gd name="f35" fmla="val 37"/>
                <a:gd name="f36" fmla="val 38"/>
                <a:gd name="f37" fmla="val 39"/>
                <a:gd name="f38" fmla="val 6"/>
                <a:gd name="f39" fmla="val 5"/>
                <a:gd name="f40" fmla="val 34"/>
                <a:gd name="f41" fmla="val 4"/>
                <a:gd name="f42" fmla="val 3"/>
                <a:gd name="f43" fmla="val 2"/>
                <a:gd name="f44" fmla="val 1"/>
                <a:gd name="f45" fmla="val 14"/>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8 f50 1"/>
                <a:gd name="f60" fmla="*/ 27 f49 1"/>
                <a:gd name="f61" fmla="*/ 11 f50 1"/>
                <a:gd name="f62" fmla="*/ 30 f49 1"/>
                <a:gd name="f63" fmla="*/ 13 f50 1"/>
                <a:gd name="f64" fmla="*/ 32 f49 1"/>
                <a:gd name="f65" fmla="*/ 17 f50 1"/>
                <a:gd name="f66" fmla="*/ 33 f49 1"/>
                <a:gd name="f67" fmla="*/ 19 f50 1"/>
                <a:gd name="f68" fmla="*/ 21 f50 1"/>
                <a:gd name="f69" fmla="*/ 23 f50 1"/>
                <a:gd name="f70" fmla="*/ 31 f49 1"/>
                <a:gd name="f71" fmla="*/ 25 f50 1"/>
                <a:gd name="f72" fmla="*/ 30 f50 1"/>
                <a:gd name="f73" fmla="*/ 35 f49 1"/>
                <a:gd name="f74" fmla="*/ 27 f50 1"/>
                <a:gd name="f75" fmla="*/ 37 f49 1"/>
                <a:gd name="f76" fmla="*/ 24 f50 1"/>
                <a:gd name="f77" fmla="*/ 38 f49 1"/>
                <a:gd name="f78" fmla="*/ 39 f49 1"/>
                <a:gd name="f79" fmla="*/ 16 f50 1"/>
                <a:gd name="f80" fmla="*/ 40 f49 1"/>
                <a:gd name="f81" fmla="*/ 12 f50 1"/>
                <a:gd name="f82" fmla="*/ 5 f50 1"/>
                <a:gd name="f83" fmla="*/ 34 f49 1"/>
                <a:gd name="f84" fmla="*/ 2 f50 1"/>
                <a:gd name="f85" fmla="*/ 0 f50 1"/>
                <a:gd name="f86" fmla="*/ 26 f49 1"/>
                <a:gd name="f87" fmla="*/ 20 f49 1"/>
                <a:gd name="f88" fmla="*/ 1 f50 1"/>
                <a:gd name="f89" fmla="*/ 11 f49 1"/>
                <a:gd name="f90" fmla="*/ 4 f50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6 f49 1"/>
                <a:gd name="f103" fmla="*/ f51 1 f2"/>
                <a:gd name="f104" fmla="*/ f54 1 33"/>
                <a:gd name="f105" fmla="*/ f55 1 40"/>
                <a:gd name="f106" fmla="*/ f56 1 40"/>
                <a:gd name="f107" fmla="*/ f57 1 40"/>
                <a:gd name="f108" fmla="*/ f58 1 33"/>
                <a:gd name="f109" fmla="*/ f59 1 33"/>
                <a:gd name="f110" fmla="*/ f60 1 40"/>
                <a:gd name="f111" fmla="*/ f61 1 33"/>
                <a:gd name="f112" fmla="*/ f62 1 40"/>
                <a:gd name="f113" fmla="*/ f63 1 33"/>
                <a:gd name="f114" fmla="*/ f64 1 40"/>
                <a:gd name="f115" fmla="*/ f65 1 33"/>
                <a:gd name="f116" fmla="*/ f66 1 40"/>
                <a:gd name="f117" fmla="*/ f67 1 33"/>
                <a:gd name="f118" fmla="*/ f68 1 33"/>
                <a:gd name="f119" fmla="*/ f69 1 33"/>
                <a:gd name="f120" fmla="*/ f70 1 40"/>
                <a:gd name="f121" fmla="*/ f71 1 33"/>
                <a:gd name="f122" fmla="*/ f72 1 33"/>
                <a:gd name="f123" fmla="*/ f73 1 40"/>
                <a:gd name="f124" fmla="*/ f74 1 33"/>
                <a:gd name="f125" fmla="*/ f75 1 40"/>
                <a:gd name="f126" fmla="*/ f76 1 33"/>
                <a:gd name="f127" fmla="*/ f77 1 40"/>
                <a:gd name="f128" fmla="*/ f78 1 40"/>
                <a:gd name="f129" fmla="*/ f79 1 33"/>
                <a:gd name="f130" fmla="*/ f80 1 40"/>
                <a:gd name="f131" fmla="*/ f81 1 33"/>
                <a:gd name="f132" fmla="*/ f82 1 33"/>
                <a:gd name="f133" fmla="*/ f83 1 40"/>
                <a:gd name="f134" fmla="*/ f84 1 33"/>
                <a:gd name="f135" fmla="*/ f85 1 33"/>
                <a:gd name="f136" fmla="*/ f86 1 40"/>
                <a:gd name="f137" fmla="*/ f87 1 40"/>
                <a:gd name="f138" fmla="*/ f88 1 33"/>
                <a:gd name="f139" fmla="*/ f89 1 40"/>
                <a:gd name="f140" fmla="*/ f90 1 33"/>
                <a:gd name="f141" fmla="*/ f91 1 40"/>
                <a:gd name="f142" fmla="*/ f92 1 33"/>
                <a:gd name="f143" fmla="*/ f93 1 40"/>
                <a:gd name="f144" fmla="*/ f94 1 40"/>
                <a:gd name="f145" fmla="*/ f95 1 33"/>
                <a:gd name="f146" fmla="*/ f96 1 33"/>
                <a:gd name="f147" fmla="*/ f97 1 40"/>
                <a:gd name="f148" fmla="*/ f98 1 40"/>
                <a:gd name="f149" fmla="*/ f99 1 40"/>
                <a:gd name="f150" fmla="*/ f100 1 33"/>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3"/>
                <a:gd name="f162" fmla="*/ f108 1 f52"/>
                <a:gd name="f163" fmla="*/ f109 1 f52"/>
                <a:gd name="f164" fmla="*/ f110 1 f53"/>
                <a:gd name="f165" fmla="*/ f111 1 f52"/>
                <a:gd name="f166" fmla="*/ f112 1 f53"/>
                <a:gd name="f167" fmla="*/ f113 1 f52"/>
                <a:gd name="f168" fmla="*/ f114 1 f53"/>
                <a:gd name="f169" fmla="*/ f115 1 f52"/>
                <a:gd name="f170" fmla="*/ f116 1 f53"/>
                <a:gd name="f171" fmla="*/ f117 1 f52"/>
                <a:gd name="f172" fmla="*/ f118 1 f52"/>
                <a:gd name="f173" fmla="*/ f119 1 f52"/>
                <a:gd name="f174" fmla="*/ f120 1 f53"/>
                <a:gd name="f175" fmla="*/ f121 1 f52"/>
                <a:gd name="f176" fmla="*/ f122 1 f52"/>
                <a:gd name="f177" fmla="*/ f123 1 f53"/>
                <a:gd name="f178" fmla="*/ f124 1 f52"/>
                <a:gd name="f179" fmla="*/ f125 1 f53"/>
                <a:gd name="f180" fmla="*/ f126 1 f52"/>
                <a:gd name="f181" fmla="*/ f127 1 f53"/>
                <a:gd name="f182" fmla="*/ f128 1 f53"/>
                <a:gd name="f183" fmla="*/ f129 1 f52"/>
                <a:gd name="f184" fmla="*/ f130 1 f53"/>
                <a:gd name="f185" fmla="*/ f131 1 f52"/>
                <a:gd name="f186" fmla="*/ f132 1 f52"/>
                <a:gd name="f187" fmla="*/ f133 1 f53"/>
                <a:gd name="f188" fmla="*/ f134 1 f52"/>
                <a:gd name="f189" fmla="*/ f135 1 f52"/>
                <a:gd name="f190" fmla="*/ f136 1 f53"/>
                <a:gd name="f191" fmla="*/ f137 1 f53"/>
                <a:gd name="f192" fmla="*/ f138 1 f52"/>
                <a:gd name="f193" fmla="*/ f139 1 f53"/>
                <a:gd name="f194" fmla="*/ f140 1 f52"/>
                <a:gd name="f195" fmla="*/ f141 1 f53"/>
                <a:gd name="f196" fmla="*/ f142 1 f52"/>
                <a:gd name="f197" fmla="*/ f143 1 f53"/>
                <a:gd name="f198" fmla="*/ f144 1 f53"/>
                <a:gd name="f199" fmla="*/ f145 1 f52"/>
                <a:gd name="f200" fmla="*/ f146 1 f52"/>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8 1"/>
                <a:gd name="f215" fmla="*/ f162 f47 1"/>
                <a:gd name="f216" fmla="*/ f163 f47 1"/>
                <a:gd name="f217" fmla="*/ f164 f48 1"/>
                <a:gd name="f218" fmla="*/ f165 f47 1"/>
                <a:gd name="f219" fmla="*/ f166 f48 1"/>
                <a:gd name="f220" fmla="*/ f167 f47 1"/>
                <a:gd name="f221" fmla="*/ f168 f48 1"/>
                <a:gd name="f222" fmla="*/ f169 f47 1"/>
                <a:gd name="f223" fmla="*/ f170 f48 1"/>
                <a:gd name="f224" fmla="*/ f171 f47 1"/>
                <a:gd name="f225" fmla="*/ f172 f47 1"/>
                <a:gd name="f226" fmla="*/ f173 f47 1"/>
                <a:gd name="f227" fmla="*/ f174 f48 1"/>
                <a:gd name="f228" fmla="*/ f175 f47 1"/>
                <a:gd name="f229" fmla="*/ f176 f47 1"/>
                <a:gd name="f230" fmla="*/ f177 f48 1"/>
                <a:gd name="f231" fmla="*/ f178 f47 1"/>
                <a:gd name="f232" fmla="*/ f179 f48 1"/>
                <a:gd name="f233" fmla="*/ f180 f47 1"/>
                <a:gd name="f234" fmla="*/ f181 f48 1"/>
                <a:gd name="f235" fmla="*/ f182 f48 1"/>
                <a:gd name="f236" fmla="*/ f183 f47 1"/>
                <a:gd name="f237" fmla="*/ f184 f48 1"/>
                <a:gd name="f238" fmla="*/ f185 f47 1"/>
                <a:gd name="f239" fmla="*/ f186 f47 1"/>
                <a:gd name="f240" fmla="*/ f187 f48 1"/>
                <a:gd name="f241" fmla="*/ f188 f47 1"/>
                <a:gd name="f242" fmla="*/ f189 f47 1"/>
                <a:gd name="f243" fmla="*/ f190 f48 1"/>
                <a:gd name="f244" fmla="*/ f191 f48 1"/>
                <a:gd name="f245" fmla="*/ f192 f47 1"/>
                <a:gd name="f246" fmla="*/ f193 f48 1"/>
                <a:gd name="f247" fmla="*/ f194 f47 1"/>
                <a:gd name="f248" fmla="*/ f195 f48 1"/>
                <a:gd name="f249" fmla="*/ f196 f47 1"/>
                <a:gd name="f250" fmla="*/ f197 f48 1"/>
                <a:gd name="f251" fmla="*/ f198 f48 1"/>
                <a:gd name="f252" fmla="*/ f199 f47 1"/>
                <a:gd name="f253" fmla="*/ f200 f47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1" y="f214"/>
                </a:cxn>
                <a:cxn ang="f157">
                  <a:pos x="f215" y="f214"/>
                </a:cxn>
                <a:cxn ang="f157">
                  <a:pos x="f216" y="f217"/>
                </a:cxn>
                <a:cxn ang="f157">
                  <a:pos x="f218" y="f219"/>
                </a:cxn>
                <a:cxn ang="f157">
                  <a:pos x="f220" y="f221"/>
                </a:cxn>
                <a:cxn ang="f157">
                  <a:pos x="f222" y="f223"/>
                </a:cxn>
                <a:cxn ang="f157">
                  <a:pos x="f224" y="f223"/>
                </a:cxn>
                <a:cxn ang="f157">
                  <a:pos x="f225" y="f221"/>
                </a:cxn>
                <a:cxn ang="f157">
                  <a:pos x="f226" y="f227"/>
                </a:cxn>
                <a:cxn ang="f157">
                  <a:pos x="f228" y="f219"/>
                </a:cxn>
                <a:cxn ang="f157">
                  <a:pos x="f229" y="f230"/>
                </a:cxn>
                <a:cxn ang="f157">
                  <a:pos x="f231" y="f232"/>
                </a:cxn>
                <a:cxn ang="f157">
                  <a:pos x="f233" y="f234"/>
                </a:cxn>
                <a:cxn ang="f157">
                  <a:pos x="f225" y="f235"/>
                </a:cxn>
                <a:cxn ang="f157">
                  <a:pos x="f236" y="f237"/>
                </a:cxn>
                <a:cxn ang="f157">
                  <a:pos x="f238" y="f235"/>
                </a:cxn>
                <a:cxn ang="f157">
                  <a:pos x="f216" y="f232"/>
                </a:cxn>
                <a:cxn ang="f157">
                  <a:pos x="f239" y="f240"/>
                </a:cxn>
                <a:cxn ang="f157">
                  <a:pos x="f241" y="f227"/>
                </a:cxn>
                <a:cxn ang="f157">
                  <a:pos x="f242" y="f243"/>
                </a:cxn>
                <a:cxn ang="f157">
                  <a:pos x="f242" y="f244"/>
                </a:cxn>
                <a:cxn ang="f157">
                  <a:pos x="f245" y="f246"/>
                </a:cxn>
                <a:cxn ang="f157">
                  <a:pos x="f247" y="f248"/>
                </a:cxn>
                <a:cxn ang="f157">
                  <a:pos x="f249" y="f250"/>
                </a:cxn>
                <a:cxn ang="f157">
                  <a:pos x="f222" y="f251"/>
                </a:cxn>
                <a:cxn ang="f157">
                  <a:pos x="f233" y="f250"/>
                </a:cxn>
                <a:cxn ang="f157">
                  <a:pos x="f252" y="f248"/>
                </a:cxn>
                <a:cxn ang="f157">
                  <a:pos x="f253" y="f246"/>
                </a:cxn>
                <a:cxn ang="f157">
                  <a:pos x="f211" y="f212"/>
                </a:cxn>
                <a:cxn ang="f157">
                  <a:pos x="f228" y="f254"/>
                </a:cxn>
                <a:cxn ang="f157">
                  <a:pos x="f233" y="f255"/>
                </a:cxn>
                <a:cxn ang="f157">
                  <a:pos x="f226" y="f256"/>
                </a:cxn>
                <a:cxn ang="f157">
                  <a:pos x="f257" y="f258"/>
                </a:cxn>
                <a:cxn ang="f157">
                  <a:pos x="f236" y="f259"/>
                </a:cxn>
                <a:cxn ang="f157">
                  <a:pos x="f220" y="f258"/>
                </a:cxn>
                <a:cxn ang="f157">
                  <a:pos x="f249" y="f256"/>
                </a:cxn>
                <a:cxn ang="f157">
                  <a:pos x="f216" y="f255"/>
                </a:cxn>
                <a:cxn ang="f157">
                  <a:pos x="f215" y="f254"/>
                </a:cxn>
                <a:cxn ang="f157">
                  <a:pos x="f228" y="f254"/>
                </a:cxn>
              </a:cxnLst>
              <a:rect l="f207" t="f210" r="f208" b="f209"/>
              <a:pathLst>
                <a:path w="33" h="40">
                  <a:moveTo>
                    <a:pt x="f6" y="f8"/>
                  </a:moveTo>
                  <a:cubicBezTo>
                    <a:pt x="f6" y="f8"/>
                    <a:pt x="f6" y="f9"/>
                    <a:pt x="f6" y="f10"/>
                  </a:cubicBezTo>
                  <a:cubicBezTo>
                    <a:pt x="f6" y="f10"/>
                    <a:pt x="f6" y="f11"/>
                    <a:pt x="f6" y="f11"/>
                  </a:cubicBezTo>
                  <a:cubicBezTo>
                    <a:pt x="f12" y="f11"/>
                    <a:pt x="f12" y="f11"/>
                    <a:pt x="f12" y="f11"/>
                  </a:cubicBezTo>
                  <a:cubicBezTo>
                    <a:pt x="f12" y="f13"/>
                    <a:pt x="f14" y="f15"/>
                    <a:pt x="f14" y="f16"/>
                  </a:cubicBezTo>
                  <a:cubicBezTo>
                    <a:pt x="f17" y="f18"/>
                    <a:pt x="f19" y="f20"/>
                    <a:pt x="f21" y="f22"/>
                  </a:cubicBezTo>
                  <a:cubicBezTo>
                    <a:pt x="f21" y="f23"/>
                    <a:pt x="f24" y="f25"/>
                    <a:pt x="f26" y="f25"/>
                  </a:cubicBezTo>
                  <a:cubicBezTo>
                    <a:pt x="f27" y="f6"/>
                    <a:pt x="f28" y="f6"/>
                    <a:pt x="f29" y="f6"/>
                  </a:cubicBezTo>
                  <a:cubicBezTo>
                    <a:pt x="f30" y="f6"/>
                    <a:pt x="f30" y="f6"/>
                    <a:pt x="f8" y="f6"/>
                  </a:cubicBezTo>
                  <a:cubicBezTo>
                    <a:pt x="f9" y="f25"/>
                    <a:pt x="f10" y="f25"/>
                    <a:pt x="f10" y="f25"/>
                  </a:cubicBezTo>
                  <a:cubicBezTo>
                    <a:pt x="f11" y="f25"/>
                    <a:pt x="f31" y="f23"/>
                    <a:pt x="f31" y="f23"/>
                  </a:cubicBezTo>
                  <a:cubicBezTo>
                    <a:pt x="f13" y="f23"/>
                    <a:pt x="f13" y="f22"/>
                    <a:pt x="f32" y="f22"/>
                  </a:cubicBezTo>
                  <a:cubicBezTo>
                    <a:pt x="f22" y="f33"/>
                    <a:pt x="f22" y="f33"/>
                    <a:pt x="f22" y="f33"/>
                  </a:cubicBezTo>
                  <a:cubicBezTo>
                    <a:pt x="f20" y="f33"/>
                    <a:pt x="f18" y="f34"/>
                    <a:pt x="f16" y="f35"/>
                  </a:cubicBezTo>
                  <a:cubicBezTo>
                    <a:pt x="f15" y="f35"/>
                    <a:pt x="f32" y="f36"/>
                    <a:pt x="f13" y="f36"/>
                  </a:cubicBezTo>
                  <a:cubicBezTo>
                    <a:pt x="f31" y="f37"/>
                    <a:pt x="f11" y="f37"/>
                    <a:pt x="f10" y="f37"/>
                  </a:cubicBezTo>
                  <a:cubicBezTo>
                    <a:pt x="f8" y="f37"/>
                    <a:pt x="f30" y="f7"/>
                    <a:pt x="f28" y="f7"/>
                  </a:cubicBezTo>
                  <a:cubicBezTo>
                    <a:pt x="f27" y="f7"/>
                    <a:pt x="f26" y="f37"/>
                    <a:pt x="f24" y="f37"/>
                  </a:cubicBezTo>
                  <a:cubicBezTo>
                    <a:pt x="f19" y="f36"/>
                    <a:pt x="f17" y="f36"/>
                    <a:pt x="f14" y="f35"/>
                  </a:cubicBezTo>
                  <a:cubicBezTo>
                    <a:pt x="f12" y="f34"/>
                    <a:pt x="f38" y="f33"/>
                    <a:pt x="f39" y="f40"/>
                  </a:cubicBezTo>
                  <a:cubicBezTo>
                    <a:pt x="f41" y="f40"/>
                    <a:pt x="f42" y="f25"/>
                    <a:pt x="f43" y="f23"/>
                  </a:cubicBezTo>
                  <a:cubicBezTo>
                    <a:pt x="f44" y="f20"/>
                    <a:pt x="f44" y="f18"/>
                    <a:pt x="f5" y="f15"/>
                  </a:cubicBezTo>
                  <a:cubicBezTo>
                    <a:pt x="f5" y="f13"/>
                    <a:pt x="f5" y="f11"/>
                    <a:pt x="f5" y="f9"/>
                  </a:cubicBezTo>
                  <a:cubicBezTo>
                    <a:pt x="f5" y="f28"/>
                    <a:pt x="f5" y="f26"/>
                    <a:pt x="f44" y="f21"/>
                  </a:cubicBezTo>
                  <a:cubicBezTo>
                    <a:pt x="f43" y="f14"/>
                    <a:pt x="f42" y="f38"/>
                    <a:pt x="f41" y="f39"/>
                  </a:cubicBezTo>
                  <a:cubicBezTo>
                    <a:pt x="f38" y="f42"/>
                    <a:pt x="f14" y="f43"/>
                    <a:pt x="f19" y="f44"/>
                  </a:cubicBezTo>
                  <a:cubicBezTo>
                    <a:pt x="f24" y="f5"/>
                    <a:pt x="f45" y="f5"/>
                    <a:pt x="f29" y="f5"/>
                  </a:cubicBezTo>
                  <a:cubicBezTo>
                    <a:pt x="f8" y="f5"/>
                    <a:pt x="f11" y="f5"/>
                    <a:pt x="f13" y="f44"/>
                  </a:cubicBezTo>
                  <a:cubicBezTo>
                    <a:pt x="f15" y="f43"/>
                    <a:pt x="f16" y="f41"/>
                    <a:pt x="f20" y="f39"/>
                  </a:cubicBezTo>
                  <a:cubicBezTo>
                    <a:pt x="f22" y="f12"/>
                    <a:pt x="f23" y="f17"/>
                    <a:pt x="f25" y="f21"/>
                  </a:cubicBezTo>
                  <a:cubicBezTo>
                    <a:pt x="f25" y="f45"/>
                    <a:pt x="f6" y="f28"/>
                    <a:pt x="f6" y="f8"/>
                  </a:cubicBezTo>
                  <a:close/>
                  <a:moveTo>
                    <a:pt x="f32" y="f28"/>
                  </a:moveTo>
                  <a:cubicBezTo>
                    <a:pt x="f32" y="f27"/>
                    <a:pt x="f32" y="f26"/>
                    <a:pt x="f13" y="f24"/>
                  </a:cubicBezTo>
                  <a:cubicBezTo>
                    <a:pt x="f13" y="f21"/>
                    <a:pt x="f13" y="f19"/>
                    <a:pt x="f31" y="f17"/>
                  </a:cubicBezTo>
                  <a:cubicBezTo>
                    <a:pt x="f11" y="f14"/>
                    <a:pt x="f10" y="f14"/>
                    <a:pt x="f9" y="f12"/>
                  </a:cubicBezTo>
                  <a:cubicBezTo>
                    <a:pt x="f8" y="f12"/>
                    <a:pt x="f30" y="f38"/>
                    <a:pt x="f28" y="f38"/>
                  </a:cubicBezTo>
                  <a:cubicBezTo>
                    <a:pt x="f27" y="f38"/>
                    <a:pt x="f45" y="f12"/>
                    <a:pt x="f26" y="f12"/>
                  </a:cubicBezTo>
                  <a:cubicBezTo>
                    <a:pt x="f24" y="f12"/>
                    <a:pt x="f21" y="f14"/>
                    <a:pt x="f19" y="f17"/>
                  </a:cubicBezTo>
                  <a:cubicBezTo>
                    <a:pt x="f17" y="f19"/>
                    <a:pt x="f17" y="f21"/>
                    <a:pt x="f14" y="f24"/>
                  </a:cubicBezTo>
                  <a:cubicBezTo>
                    <a:pt x="f14" y="f26"/>
                    <a:pt x="f12" y="f45"/>
                    <a:pt x="f12" y="f28"/>
                  </a:cubicBezTo>
                  <a:lnTo>
                    <a:pt x="f32"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0" name="Freeform 32">
              <a:extLst>
                <a:ext uri="{FF2B5EF4-FFF2-40B4-BE49-F238E27FC236}">
                  <a16:creationId xmlns:a16="http://schemas.microsoft.com/office/drawing/2014/main" id="{1DBF62F4-FE09-3105-91D0-0CB218DA9431}"/>
                </a:ext>
              </a:extLst>
            </p:cNvPr>
            <p:cNvSpPr/>
            <p:nvPr/>
          </p:nvSpPr>
          <p:spPr>
            <a:xfrm>
              <a:off x="2901190" y="6049807"/>
              <a:ext cx="80165" cy="139500"/>
            </a:xfrm>
            <a:custGeom>
              <a:avLst/>
              <a:gdLst>
                <a:gd name="f0" fmla="val 10800000"/>
                <a:gd name="f1" fmla="val 5400000"/>
                <a:gd name="f2" fmla="val 180"/>
                <a:gd name="f3" fmla="val w"/>
                <a:gd name="f4" fmla="val h"/>
                <a:gd name="f5" fmla="val 0"/>
                <a:gd name="f6" fmla="val 32"/>
                <a:gd name="f7" fmla="val 55"/>
                <a:gd name="f8" fmla="val 35"/>
                <a:gd name="f9" fmla="val 38"/>
                <a:gd name="f10" fmla="val 41"/>
                <a:gd name="f11" fmla="val 31"/>
                <a:gd name="f12" fmla="val 44"/>
                <a:gd name="f13" fmla="val 30"/>
                <a:gd name="f14" fmla="val 46"/>
                <a:gd name="f15" fmla="val 29"/>
                <a:gd name="f16" fmla="val 48"/>
                <a:gd name="f17" fmla="val 28"/>
                <a:gd name="f18" fmla="val 50"/>
                <a:gd name="f19" fmla="val 26"/>
                <a:gd name="f20" fmla="val 51"/>
                <a:gd name="f21" fmla="val 25"/>
                <a:gd name="f22" fmla="val 53"/>
                <a:gd name="f23" fmla="val 23"/>
                <a:gd name="f24" fmla="val 21"/>
                <a:gd name="f25" fmla="val 54"/>
                <a:gd name="f26" fmla="val 19"/>
                <a:gd name="f27" fmla="val 17"/>
                <a:gd name="f28" fmla="val 15"/>
                <a:gd name="f29" fmla="val 13"/>
                <a:gd name="f30" fmla="val 12"/>
                <a:gd name="f31" fmla="val 10"/>
                <a:gd name="f32" fmla="val 52"/>
                <a:gd name="f33" fmla="val 9"/>
                <a:gd name="f34" fmla="val 7"/>
                <a:gd name="f35" fmla="val 4"/>
                <a:gd name="f36" fmla="val 8"/>
                <a:gd name="f37" fmla="val 18"/>
                <a:gd name="f38" fmla="val 11"/>
                <a:gd name="f39" fmla="val 16"/>
                <a:gd name="f40" fmla="val 14"/>
                <a:gd name="f41" fmla="val 20"/>
                <a:gd name="f42" fmla="val 27"/>
                <a:gd name="f43" fmla="val 24"/>
                <a:gd name="f44" fmla="val 22"/>
                <a:gd name="f45" fmla="val 43"/>
                <a:gd name="f46" fmla="val 45"/>
                <a:gd name="f47" fmla="val 47"/>
                <a:gd name="f48" fmla="val 39"/>
                <a:gd name="f49" fmla="+- 0 0 -90"/>
                <a:gd name="f50" fmla="*/ f3 1 32"/>
                <a:gd name="f51" fmla="*/ f4 1 55"/>
                <a:gd name="f52" fmla="+- f7 0 f5"/>
                <a:gd name="f53" fmla="+- f6 0 f5"/>
                <a:gd name="f54" fmla="*/ f49 f0 1"/>
                <a:gd name="f55" fmla="*/ f53 1 32"/>
                <a:gd name="f56" fmla="*/ f52 1 55"/>
                <a:gd name="f57" fmla="*/ 32 f53 1"/>
                <a:gd name="f58" fmla="*/ 35 f52 1"/>
                <a:gd name="f59" fmla="*/ 31 f53 1"/>
                <a:gd name="f60" fmla="*/ 44 f52 1"/>
                <a:gd name="f61" fmla="*/ 28 f53 1"/>
                <a:gd name="f62" fmla="*/ 50 f52 1"/>
                <a:gd name="f63" fmla="*/ 23 f53 1"/>
                <a:gd name="f64" fmla="*/ 53 f52 1"/>
                <a:gd name="f65" fmla="*/ 17 f53 1"/>
                <a:gd name="f66" fmla="*/ 55 f52 1"/>
                <a:gd name="f67" fmla="*/ 12 f53 1"/>
                <a:gd name="f68" fmla="*/ 7 f53 1"/>
                <a:gd name="f69" fmla="*/ 54 f52 1"/>
                <a:gd name="f70" fmla="*/ 0 f53 1"/>
                <a:gd name="f71" fmla="*/ 4 f52 1"/>
                <a:gd name="f72" fmla="*/ 0 f52 1"/>
                <a:gd name="f73" fmla="*/ 19 f52 1"/>
                <a:gd name="f74" fmla="*/ 10 f53 1"/>
                <a:gd name="f75" fmla="*/ 17 f52 1"/>
                <a:gd name="f76" fmla="*/ 16 f52 1"/>
                <a:gd name="f77" fmla="*/ 14 f53 1"/>
                <a:gd name="f78" fmla="*/ 15 f52 1"/>
                <a:gd name="f79" fmla="*/ 26 f52 1"/>
                <a:gd name="f80" fmla="*/ 25 f53 1"/>
                <a:gd name="f81" fmla="*/ 25 f52 1"/>
                <a:gd name="f82" fmla="*/ 16 f53 1"/>
                <a:gd name="f83" fmla="*/ 22 f52 1"/>
                <a:gd name="f84" fmla="*/ 11 f53 1"/>
                <a:gd name="f85" fmla="*/ 23 f52 1"/>
                <a:gd name="f86" fmla="*/ 9 f53 1"/>
                <a:gd name="f87" fmla="*/ 43 f52 1"/>
                <a:gd name="f88" fmla="*/ 46 f52 1"/>
                <a:gd name="f89" fmla="*/ 47 f52 1"/>
                <a:gd name="f90" fmla="*/ 48 f52 1"/>
                <a:gd name="f91" fmla="*/ 45 f52 1"/>
                <a:gd name="f92" fmla="*/ f54 1 f2"/>
                <a:gd name="f93" fmla="*/ f57 1 32"/>
                <a:gd name="f94" fmla="*/ f58 1 55"/>
                <a:gd name="f95" fmla="*/ f59 1 32"/>
                <a:gd name="f96" fmla="*/ f60 1 55"/>
                <a:gd name="f97" fmla="*/ f61 1 32"/>
                <a:gd name="f98" fmla="*/ f62 1 55"/>
                <a:gd name="f99" fmla="*/ f63 1 32"/>
                <a:gd name="f100" fmla="*/ f64 1 55"/>
                <a:gd name="f101" fmla="*/ f65 1 32"/>
                <a:gd name="f102" fmla="*/ f66 1 55"/>
                <a:gd name="f103" fmla="*/ f67 1 32"/>
                <a:gd name="f104" fmla="*/ f68 1 32"/>
                <a:gd name="f105" fmla="*/ f69 1 55"/>
                <a:gd name="f106" fmla="*/ f70 1 32"/>
                <a:gd name="f107" fmla="*/ f71 1 55"/>
                <a:gd name="f108" fmla="*/ f72 1 55"/>
                <a:gd name="f109" fmla="*/ f73 1 55"/>
                <a:gd name="f110" fmla="*/ f74 1 32"/>
                <a:gd name="f111" fmla="*/ f75 1 55"/>
                <a:gd name="f112" fmla="*/ f76 1 55"/>
                <a:gd name="f113" fmla="*/ f77 1 32"/>
                <a:gd name="f114" fmla="*/ f78 1 55"/>
                <a:gd name="f115" fmla="*/ f79 1 55"/>
                <a:gd name="f116" fmla="*/ f80 1 32"/>
                <a:gd name="f117" fmla="*/ f81 1 55"/>
                <a:gd name="f118" fmla="*/ f82 1 32"/>
                <a:gd name="f119" fmla="*/ f83 1 55"/>
                <a:gd name="f120" fmla="*/ f84 1 32"/>
                <a:gd name="f121" fmla="*/ f85 1 55"/>
                <a:gd name="f122" fmla="*/ f86 1 32"/>
                <a:gd name="f123" fmla="*/ f87 1 55"/>
                <a:gd name="f124" fmla="*/ f88 1 55"/>
                <a:gd name="f125" fmla="*/ f89 1 55"/>
                <a:gd name="f126" fmla="*/ f90 1 55"/>
                <a:gd name="f127" fmla="*/ f91 1 55"/>
                <a:gd name="f128" fmla="*/ 0 1 f55"/>
                <a:gd name="f129" fmla="*/ f6 1 f55"/>
                <a:gd name="f130" fmla="*/ 0 1 f56"/>
                <a:gd name="f131" fmla="*/ f7 1 f56"/>
                <a:gd name="f132" fmla="+- f92 0 f1"/>
                <a:gd name="f133" fmla="*/ f93 1 f55"/>
                <a:gd name="f134" fmla="*/ f94 1 f56"/>
                <a:gd name="f135" fmla="*/ f95 1 f55"/>
                <a:gd name="f136" fmla="*/ f96 1 f56"/>
                <a:gd name="f137" fmla="*/ f97 1 f55"/>
                <a:gd name="f138" fmla="*/ f98 1 f56"/>
                <a:gd name="f139" fmla="*/ f99 1 f55"/>
                <a:gd name="f140" fmla="*/ f100 1 f56"/>
                <a:gd name="f141" fmla="*/ f101 1 f55"/>
                <a:gd name="f142" fmla="*/ f102 1 f56"/>
                <a:gd name="f143" fmla="*/ f103 1 f55"/>
                <a:gd name="f144" fmla="*/ f104 1 f55"/>
                <a:gd name="f145" fmla="*/ f105 1 f56"/>
                <a:gd name="f146" fmla="*/ f106 1 f55"/>
                <a:gd name="f147" fmla="*/ f107 1 f56"/>
                <a:gd name="f148" fmla="*/ f108 1 f56"/>
                <a:gd name="f149" fmla="*/ f109 1 f56"/>
                <a:gd name="f150" fmla="*/ f110 1 f55"/>
                <a:gd name="f151" fmla="*/ f111 1 f56"/>
                <a:gd name="f152" fmla="*/ f112 1 f56"/>
                <a:gd name="f153" fmla="*/ f113 1 f55"/>
                <a:gd name="f154" fmla="*/ f114 1 f56"/>
                <a:gd name="f155" fmla="*/ f115 1 f56"/>
                <a:gd name="f156" fmla="*/ f116 1 f55"/>
                <a:gd name="f157" fmla="*/ f117 1 f56"/>
                <a:gd name="f158" fmla="*/ f118 1 f55"/>
                <a:gd name="f159" fmla="*/ f119 1 f56"/>
                <a:gd name="f160" fmla="*/ f120 1 f55"/>
                <a:gd name="f161" fmla="*/ f121 1 f56"/>
                <a:gd name="f162" fmla="*/ f122 1 f55"/>
                <a:gd name="f163" fmla="*/ f123 1 f56"/>
                <a:gd name="f164" fmla="*/ f124 1 f56"/>
                <a:gd name="f165" fmla="*/ f125 1 f56"/>
                <a:gd name="f166" fmla="*/ f126 1 f56"/>
                <a:gd name="f167" fmla="*/ f127 1 f56"/>
                <a:gd name="f168" fmla="*/ f128 f50 1"/>
                <a:gd name="f169" fmla="*/ f129 f50 1"/>
                <a:gd name="f170" fmla="*/ f131 f51 1"/>
                <a:gd name="f171" fmla="*/ f130 f51 1"/>
                <a:gd name="f172" fmla="*/ f133 f50 1"/>
                <a:gd name="f173" fmla="*/ f134 f51 1"/>
                <a:gd name="f174" fmla="*/ f135 f50 1"/>
                <a:gd name="f175" fmla="*/ f136 f51 1"/>
                <a:gd name="f176" fmla="*/ f137 f50 1"/>
                <a:gd name="f177" fmla="*/ f138 f51 1"/>
                <a:gd name="f178" fmla="*/ f139 f50 1"/>
                <a:gd name="f179" fmla="*/ f140 f51 1"/>
                <a:gd name="f180" fmla="*/ f141 f50 1"/>
                <a:gd name="f181" fmla="*/ f142 f51 1"/>
                <a:gd name="f182" fmla="*/ f143 f50 1"/>
                <a:gd name="f183" fmla="*/ f144 f50 1"/>
                <a:gd name="f184" fmla="*/ f145 f51 1"/>
                <a:gd name="f185" fmla="*/ f146 f50 1"/>
                <a:gd name="f186" fmla="*/ f147 f51 1"/>
                <a:gd name="f187" fmla="*/ f148 f51 1"/>
                <a:gd name="f188" fmla="*/ f149 f51 1"/>
                <a:gd name="f189" fmla="*/ f150 f50 1"/>
                <a:gd name="f190" fmla="*/ f151 f51 1"/>
                <a:gd name="f191" fmla="*/ f152 f51 1"/>
                <a:gd name="f192" fmla="*/ f153 f50 1"/>
                <a:gd name="f193" fmla="*/ f154 f51 1"/>
                <a:gd name="f194" fmla="*/ f155 f51 1"/>
                <a:gd name="f195" fmla="*/ f156 f50 1"/>
                <a:gd name="f196" fmla="*/ f157 f51 1"/>
                <a:gd name="f197" fmla="*/ f158 f50 1"/>
                <a:gd name="f198" fmla="*/ f159 f51 1"/>
                <a:gd name="f199" fmla="*/ f160 f50 1"/>
                <a:gd name="f200" fmla="*/ f161 f51 1"/>
                <a:gd name="f201" fmla="*/ f162 f50 1"/>
                <a:gd name="f202" fmla="*/ f163 f51 1"/>
                <a:gd name="f203" fmla="*/ f164 f51 1"/>
                <a:gd name="f204" fmla="*/ f165 f51 1"/>
                <a:gd name="f205" fmla="*/ f166 f51 1"/>
                <a:gd name="f206" fmla="*/ f167 f51 1"/>
              </a:gdLst>
              <a:ahLst/>
              <a:cxnLst>
                <a:cxn ang="3cd4">
                  <a:pos x="hc" y="t"/>
                </a:cxn>
                <a:cxn ang="0">
                  <a:pos x="r" y="vc"/>
                </a:cxn>
                <a:cxn ang="cd4">
                  <a:pos x="hc" y="b"/>
                </a:cxn>
                <a:cxn ang="cd2">
                  <a:pos x="l" y="vc"/>
                </a:cxn>
                <a:cxn ang="f132">
                  <a:pos x="f172" y="f173"/>
                </a:cxn>
                <a:cxn ang="f132">
                  <a:pos x="f174" y="f175"/>
                </a:cxn>
                <a:cxn ang="f132">
                  <a:pos x="f176" y="f177"/>
                </a:cxn>
                <a:cxn ang="f132">
                  <a:pos x="f178" y="f179"/>
                </a:cxn>
                <a:cxn ang="f132">
                  <a:pos x="f180" y="f181"/>
                </a:cxn>
                <a:cxn ang="f132">
                  <a:pos x="f182" y="f179"/>
                </a:cxn>
                <a:cxn ang="f132">
                  <a:pos x="f183" y="f177"/>
                </a:cxn>
                <a:cxn ang="f132">
                  <a:pos x="f183" y="f184"/>
                </a:cxn>
                <a:cxn ang="f132">
                  <a:pos x="f185" y="f184"/>
                </a:cxn>
                <a:cxn ang="f132">
                  <a:pos x="f185" y="f186"/>
                </a:cxn>
                <a:cxn ang="f132">
                  <a:pos x="f183" y="f187"/>
                </a:cxn>
                <a:cxn ang="f132">
                  <a:pos x="f183" y="f188"/>
                </a:cxn>
                <a:cxn ang="f132">
                  <a:pos x="f189" y="f190"/>
                </a:cxn>
                <a:cxn ang="f132">
                  <a:pos x="f182" y="f191"/>
                </a:cxn>
                <a:cxn ang="f132">
                  <a:pos x="f192" y="f193"/>
                </a:cxn>
                <a:cxn ang="f132">
                  <a:pos x="f180" y="f193"/>
                </a:cxn>
                <a:cxn ang="f132">
                  <a:pos x="f178" y="f191"/>
                </a:cxn>
                <a:cxn ang="f132">
                  <a:pos x="f176" y="f188"/>
                </a:cxn>
                <a:cxn ang="f132">
                  <a:pos x="f174" y="f194"/>
                </a:cxn>
                <a:cxn ang="f132">
                  <a:pos x="f172" y="f173"/>
                </a:cxn>
                <a:cxn ang="f132">
                  <a:pos x="f195" y="f173"/>
                </a:cxn>
                <a:cxn ang="f132">
                  <a:pos x="f178" y="f196"/>
                </a:cxn>
                <a:cxn ang="f132">
                  <a:pos x="f197" y="f198"/>
                </a:cxn>
                <a:cxn ang="f132">
                  <a:pos x="f192" y="f198"/>
                </a:cxn>
                <a:cxn ang="f132">
                  <a:pos x="f199" y="f200"/>
                </a:cxn>
                <a:cxn ang="f132">
                  <a:pos x="f201" y="f196"/>
                </a:cxn>
                <a:cxn ang="f132">
                  <a:pos x="f183" y="f194"/>
                </a:cxn>
                <a:cxn ang="f132">
                  <a:pos x="f183" y="f202"/>
                </a:cxn>
                <a:cxn ang="f132">
                  <a:pos x="f201" y="f175"/>
                </a:cxn>
                <a:cxn ang="f132">
                  <a:pos x="f199" y="f203"/>
                </a:cxn>
                <a:cxn ang="f132">
                  <a:pos x="f192" y="f204"/>
                </a:cxn>
                <a:cxn ang="f132">
                  <a:pos x="f197" y="f205"/>
                </a:cxn>
                <a:cxn ang="f132">
                  <a:pos x="f178" y="f206"/>
                </a:cxn>
                <a:cxn ang="f132">
                  <a:pos x="f195" y="f173"/>
                </a:cxn>
              </a:cxnLst>
              <a:rect l="f168" t="f171" r="f169" b="f170"/>
              <a:pathLst>
                <a:path w="32" h="55">
                  <a:moveTo>
                    <a:pt x="f6" y="f8"/>
                  </a:moveTo>
                  <a:cubicBezTo>
                    <a:pt x="f6" y="f9"/>
                    <a:pt x="f6" y="f10"/>
                    <a:pt x="f11" y="f12"/>
                  </a:cubicBezTo>
                  <a:cubicBezTo>
                    <a:pt x="f13" y="f14"/>
                    <a:pt x="f15" y="f16"/>
                    <a:pt x="f17" y="f18"/>
                  </a:cubicBezTo>
                  <a:cubicBezTo>
                    <a:pt x="f19" y="f20"/>
                    <a:pt x="f21" y="f22"/>
                    <a:pt x="f23" y="f22"/>
                  </a:cubicBezTo>
                  <a:cubicBezTo>
                    <a:pt x="f24" y="f25"/>
                    <a:pt x="f26" y="f7"/>
                    <a:pt x="f27" y="f7"/>
                  </a:cubicBezTo>
                  <a:cubicBezTo>
                    <a:pt x="f28" y="f7"/>
                    <a:pt x="f29" y="f25"/>
                    <a:pt x="f30" y="f22"/>
                  </a:cubicBezTo>
                  <a:cubicBezTo>
                    <a:pt x="f31" y="f32"/>
                    <a:pt x="f33" y="f20"/>
                    <a:pt x="f34" y="f18"/>
                  </a:cubicBezTo>
                  <a:cubicBezTo>
                    <a:pt x="f34" y="f25"/>
                    <a:pt x="f34" y="f25"/>
                    <a:pt x="f34" y="f25"/>
                  </a:cubicBezTo>
                  <a:cubicBezTo>
                    <a:pt x="f5" y="f25"/>
                    <a:pt x="f5" y="f25"/>
                    <a:pt x="f5" y="f25"/>
                  </a:cubicBezTo>
                  <a:cubicBezTo>
                    <a:pt x="f5" y="f35"/>
                    <a:pt x="f5" y="f35"/>
                    <a:pt x="f5" y="f35"/>
                  </a:cubicBezTo>
                  <a:cubicBezTo>
                    <a:pt x="f34" y="f5"/>
                    <a:pt x="f34" y="f5"/>
                    <a:pt x="f34" y="f5"/>
                  </a:cubicBezTo>
                  <a:cubicBezTo>
                    <a:pt x="f34" y="f26"/>
                    <a:pt x="f34" y="f26"/>
                    <a:pt x="f34" y="f26"/>
                  </a:cubicBezTo>
                  <a:cubicBezTo>
                    <a:pt x="f36" y="f37"/>
                    <a:pt x="f33" y="f37"/>
                    <a:pt x="f31" y="f27"/>
                  </a:cubicBezTo>
                  <a:cubicBezTo>
                    <a:pt x="f31" y="f27"/>
                    <a:pt x="f38" y="f39"/>
                    <a:pt x="f30" y="f39"/>
                  </a:cubicBezTo>
                  <a:cubicBezTo>
                    <a:pt x="f30" y="f39"/>
                    <a:pt x="f29" y="f28"/>
                    <a:pt x="f40" y="f28"/>
                  </a:cubicBezTo>
                  <a:cubicBezTo>
                    <a:pt x="f28" y="f28"/>
                    <a:pt x="f39" y="f28"/>
                    <a:pt x="f27" y="f28"/>
                  </a:cubicBezTo>
                  <a:cubicBezTo>
                    <a:pt x="f41" y="f28"/>
                    <a:pt x="f24" y="f28"/>
                    <a:pt x="f23" y="f39"/>
                  </a:cubicBezTo>
                  <a:cubicBezTo>
                    <a:pt x="f21" y="f39"/>
                    <a:pt x="f42" y="f37"/>
                    <a:pt x="f17" y="f26"/>
                  </a:cubicBezTo>
                  <a:cubicBezTo>
                    <a:pt x="f15" y="f24"/>
                    <a:pt x="f13" y="f23"/>
                    <a:pt x="f11" y="f19"/>
                  </a:cubicBezTo>
                  <a:cubicBezTo>
                    <a:pt x="f6" y="f17"/>
                    <a:pt x="f6" y="f6"/>
                    <a:pt x="f6" y="f8"/>
                  </a:cubicBezTo>
                  <a:close/>
                  <a:moveTo>
                    <a:pt x="f21" y="f8"/>
                  </a:moveTo>
                  <a:cubicBezTo>
                    <a:pt x="f21" y="f11"/>
                    <a:pt x="f43" y="f42"/>
                    <a:pt x="f23" y="f21"/>
                  </a:cubicBezTo>
                  <a:cubicBezTo>
                    <a:pt x="f24" y="f23"/>
                    <a:pt x="f26" y="f44"/>
                    <a:pt x="f39" y="f44"/>
                  </a:cubicBezTo>
                  <a:cubicBezTo>
                    <a:pt x="f28" y="f44"/>
                    <a:pt x="f40" y="f44"/>
                    <a:pt x="f40" y="f44"/>
                  </a:cubicBezTo>
                  <a:cubicBezTo>
                    <a:pt x="f29" y="f44"/>
                    <a:pt x="f30" y="f23"/>
                    <a:pt x="f38" y="f23"/>
                  </a:cubicBezTo>
                  <a:cubicBezTo>
                    <a:pt x="f31" y="f23"/>
                    <a:pt x="f31" y="f43"/>
                    <a:pt x="f33" y="f21"/>
                  </a:cubicBezTo>
                  <a:cubicBezTo>
                    <a:pt x="f36" y="f21"/>
                    <a:pt x="f36" y="f19"/>
                    <a:pt x="f34" y="f19"/>
                  </a:cubicBezTo>
                  <a:cubicBezTo>
                    <a:pt x="f34" y="f45"/>
                    <a:pt x="f34" y="f45"/>
                    <a:pt x="f34" y="f45"/>
                  </a:cubicBezTo>
                  <a:cubicBezTo>
                    <a:pt x="f36" y="f45"/>
                    <a:pt x="f36" y="f12"/>
                    <a:pt x="f33" y="f12"/>
                  </a:cubicBezTo>
                  <a:cubicBezTo>
                    <a:pt x="f31" y="f46"/>
                    <a:pt x="f31" y="f46"/>
                    <a:pt x="f38" y="f14"/>
                  </a:cubicBezTo>
                  <a:cubicBezTo>
                    <a:pt x="f30" y="f14"/>
                    <a:pt x="f29" y="f47"/>
                    <a:pt x="f40" y="f47"/>
                  </a:cubicBezTo>
                  <a:cubicBezTo>
                    <a:pt x="f28" y="f47"/>
                    <a:pt x="f28" y="f16"/>
                    <a:pt x="f39" y="f16"/>
                  </a:cubicBezTo>
                  <a:cubicBezTo>
                    <a:pt x="f26" y="f16"/>
                    <a:pt x="f24" y="f47"/>
                    <a:pt x="f23" y="f46"/>
                  </a:cubicBezTo>
                  <a:cubicBezTo>
                    <a:pt x="f43" y="f45"/>
                    <a:pt x="f21" y="f48"/>
                    <a:pt x="f21"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1" name="Freeform 33">
              <a:extLst>
                <a:ext uri="{FF2B5EF4-FFF2-40B4-BE49-F238E27FC236}">
                  <a16:creationId xmlns:a16="http://schemas.microsoft.com/office/drawing/2014/main" id="{1C527375-35BE-F2A0-3007-968828CD3703}"/>
                </a:ext>
              </a:extLst>
            </p:cNvPr>
            <p:cNvSpPr/>
            <p:nvPr/>
          </p:nvSpPr>
          <p:spPr>
            <a:xfrm>
              <a:off x="2997037"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8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8" y="f35"/>
                  </a:cubicBezTo>
                  <a:cubicBezTo>
                    <a:pt x="f16" y="f35"/>
                    <a:pt x="f14" y="f36"/>
                    <a:pt x="f32" y="f36"/>
                  </a:cubicBezTo>
                  <a:cubicBezTo>
                    <a:pt x="f13" y="f37"/>
                    <a:pt x="f3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8"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2" name="Freeform 34">
              <a:extLst>
                <a:ext uri="{FF2B5EF4-FFF2-40B4-BE49-F238E27FC236}">
                  <a16:creationId xmlns:a16="http://schemas.microsoft.com/office/drawing/2014/main" id="{C2DC2B5C-CB49-2853-43C7-8B9AB2D1818E}"/>
                </a:ext>
              </a:extLst>
            </p:cNvPr>
            <p:cNvSpPr/>
            <p:nvPr/>
          </p:nvSpPr>
          <p:spPr>
            <a:xfrm>
              <a:off x="3094640"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13"/>
                <a:gd name="f35" fmla="val 45"/>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34" y="f35"/>
                    <a:pt x="f34" y="f35"/>
                  </a:cubicBezTo>
                  <a:cubicBezTo>
                    <a:pt x="f34" y="f30"/>
                    <a:pt x="f34" y="f30"/>
                    <a:pt x="f34"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3" name="Freeform 35">
              <a:extLst>
                <a:ext uri="{FF2B5EF4-FFF2-40B4-BE49-F238E27FC236}">
                  <a16:creationId xmlns:a16="http://schemas.microsoft.com/office/drawing/2014/main" id="{B069D4E3-F169-C135-9025-02D7E47550A6}"/>
                </a:ext>
              </a:extLst>
            </p:cNvPr>
            <p:cNvSpPr/>
            <p:nvPr/>
          </p:nvSpPr>
          <p:spPr>
            <a:xfrm>
              <a:off x="3162607"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6"/>
                <a:gd name="f15" fmla="val 15"/>
                <a:gd name="f16" fmla="val 14"/>
                <a:gd name="f17" fmla="val 12"/>
                <a:gd name="f18" fmla="val 11"/>
                <a:gd name="f19" fmla="val 10"/>
                <a:gd name="f20" fmla="val 9"/>
                <a:gd name="f21" fmla="val 8"/>
                <a:gd name="f22" fmla="val 7"/>
                <a:gd name="f23" fmla="val 52"/>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7"/>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7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2" y="f23"/>
                  </a:cubicBezTo>
                  <a:cubicBezTo>
                    <a:pt x="f22"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14" y="f29"/>
                    <a:pt x="f14" y="f29"/>
                  </a:cubicBezTo>
                  <a:cubicBezTo>
                    <a:pt x="f37"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4" name="Freeform 36">
              <a:extLst>
                <a:ext uri="{FF2B5EF4-FFF2-40B4-BE49-F238E27FC236}">
                  <a16:creationId xmlns:a16="http://schemas.microsoft.com/office/drawing/2014/main" id="{ECFC0255-ABA7-6A30-EF39-C447DFED7994}"/>
                </a:ext>
              </a:extLst>
            </p:cNvPr>
            <p:cNvSpPr/>
            <p:nvPr/>
          </p:nvSpPr>
          <p:spPr>
            <a:xfrm>
              <a:off x="3232321"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8"/>
                <a:gd name="f13" fmla="val 24"/>
                <a:gd name="f14" fmla="val 26"/>
                <a:gd name="f15" fmla="val 9"/>
                <a:gd name="f16" fmla="val 27"/>
                <a:gd name="f17" fmla="val 10"/>
                <a:gd name="f18" fmla="val 28"/>
                <a:gd name="f19" fmla="val 29"/>
                <a:gd name="f20" fmla="val 11"/>
                <a:gd name="f21" fmla="val 30"/>
                <a:gd name="f22" fmla="val 12"/>
                <a:gd name="f23" fmla="val 31"/>
                <a:gd name="f24" fmla="val 13"/>
                <a:gd name="f25" fmla="val 32"/>
                <a:gd name="f26" fmla="val 14"/>
                <a:gd name="f27" fmla="val 15"/>
                <a:gd name="f28" fmla="val 16"/>
                <a:gd name="f29" fmla="val 17"/>
                <a:gd name="f30" fmla="val 18"/>
                <a:gd name="f31" fmla="val 23"/>
                <a:gd name="f32" fmla="val 25"/>
                <a:gd name="f33" fmla="val 35"/>
                <a:gd name="f34" fmla="val 36"/>
                <a:gd name="f35" fmla="val 37"/>
                <a:gd name="f36" fmla="val 38"/>
                <a:gd name="f37" fmla="val 39"/>
                <a:gd name="f38" fmla="val 7"/>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8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4 f50 1"/>
                <a:gd name="f70" fmla="*/ 31 f49 1"/>
                <a:gd name="f71" fmla="*/ 26 f50 1"/>
                <a:gd name="f72" fmla="*/ 30 f50 1"/>
                <a:gd name="f73" fmla="*/ 35 f49 1"/>
                <a:gd name="f74" fmla="*/ 27 f50 1"/>
                <a:gd name="f75" fmla="*/ 37 f49 1"/>
                <a:gd name="f76" fmla="*/ 25 f50 1"/>
                <a:gd name="f77" fmla="*/ 38 f49 1"/>
                <a:gd name="f78" fmla="*/ 21 f50 1"/>
                <a:gd name="f79" fmla="*/ 39 f49 1"/>
                <a:gd name="f80" fmla="*/ 40 f49 1"/>
                <a:gd name="f81" fmla="*/ 12 f50 1"/>
                <a:gd name="f82" fmla="*/ 5 f50 1"/>
                <a:gd name="f83" fmla="*/ 34 f49 1"/>
                <a:gd name="f84" fmla="*/ 3 f50 1"/>
                <a:gd name="f85" fmla="*/ 1 f50 1"/>
                <a:gd name="f86" fmla="*/ 26 f49 1"/>
                <a:gd name="f87" fmla="*/ 0 f50 1"/>
                <a:gd name="f88" fmla="*/ 20 f49 1"/>
                <a:gd name="f89" fmla="*/ 2 f50 1"/>
                <a:gd name="f90" fmla="*/ 11 f49 1"/>
                <a:gd name="f91" fmla="*/ 5 f49 1"/>
                <a:gd name="f92" fmla="*/ 10 f50 1"/>
                <a:gd name="f93" fmla="*/ 1 f49 1"/>
                <a:gd name="f94" fmla="*/ 0 f49 1"/>
                <a:gd name="f95" fmla="*/ 29 f50 1"/>
                <a:gd name="f96" fmla="*/ 32 f50 1"/>
                <a:gd name="f97" fmla="*/ 16 f49 1"/>
                <a:gd name="f98" fmla="*/ 12 f49 1"/>
                <a:gd name="f99" fmla="*/ 23 f50 1"/>
                <a:gd name="f100" fmla="*/ 9 f49 1"/>
                <a:gd name="f101" fmla="*/ 7 f49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40"/>
                <a:gd name="f135" fmla="*/ f84 1 33"/>
                <a:gd name="f136" fmla="*/ f85 1 33"/>
                <a:gd name="f137" fmla="*/ f86 1 40"/>
                <a:gd name="f138" fmla="*/ f87 1 33"/>
                <a:gd name="f139" fmla="*/ f88 1 40"/>
                <a:gd name="f140" fmla="*/ f89 1 33"/>
                <a:gd name="f141" fmla="*/ f90 1 40"/>
                <a:gd name="f142" fmla="*/ f91 1 40"/>
                <a:gd name="f143" fmla="*/ f92 1 33"/>
                <a:gd name="f144" fmla="*/ f93 1 40"/>
                <a:gd name="f145" fmla="*/ f94 1 40"/>
                <a:gd name="f146" fmla="*/ f95 1 33"/>
                <a:gd name="f147" fmla="*/ f96 1 33"/>
                <a:gd name="f148" fmla="*/ f97 1 40"/>
                <a:gd name="f149" fmla="*/ f98 1 40"/>
                <a:gd name="f150" fmla="*/ f99 1 33"/>
                <a:gd name="f151" fmla="*/ f100 1 40"/>
                <a:gd name="f152" fmla="*/ f101 1 40"/>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3"/>
                <a:gd name="f190" fmla="*/ f135 1 f52"/>
                <a:gd name="f191" fmla="*/ f136 1 f52"/>
                <a:gd name="f192" fmla="*/ f137 1 f53"/>
                <a:gd name="f193" fmla="*/ f138 1 f52"/>
                <a:gd name="f194" fmla="*/ f139 1 f53"/>
                <a:gd name="f195" fmla="*/ f140 1 f52"/>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2"/>
                <a:gd name="f206" fmla="*/ f151 1 f53"/>
                <a:gd name="f207" fmla="*/ f152 1 f53"/>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8 1"/>
                <a:gd name="f244" fmla="*/ f190 f47 1"/>
                <a:gd name="f245" fmla="*/ f191 f47 1"/>
                <a:gd name="f246" fmla="*/ f192 f48 1"/>
                <a:gd name="f247" fmla="*/ f193 f47 1"/>
                <a:gd name="f248" fmla="*/ f194 f48 1"/>
                <a:gd name="f249" fmla="*/ f195 f47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7 1"/>
                <a:gd name="f260" fmla="*/ f206 f48 1"/>
                <a:gd name="f261" fmla="*/ f207 f48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18" y="f235"/>
                </a:cxn>
                <a:cxn ang="f159">
                  <a:pos x="f242" y="f243"/>
                </a:cxn>
                <a:cxn ang="f159">
                  <a:pos x="f244" y="f230"/>
                </a:cxn>
                <a:cxn ang="f159">
                  <a:pos x="f245" y="f246"/>
                </a:cxn>
                <a:cxn ang="f159">
                  <a:pos x="f247" y="f248"/>
                </a:cxn>
                <a:cxn ang="f159">
                  <a:pos x="f249" y="f250"/>
                </a:cxn>
                <a:cxn ang="f159">
                  <a:pos x="f242" y="f251"/>
                </a:cxn>
                <a:cxn ang="f159">
                  <a:pos x="f252" y="f253"/>
                </a:cxn>
                <a:cxn ang="f159">
                  <a:pos x="f225" y="f254"/>
                </a:cxn>
                <a:cxn ang="f159">
                  <a:pos x="f229" y="f253"/>
                </a:cxn>
                <a:cxn ang="f159">
                  <a:pos x="f255" y="f251"/>
                </a:cxn>
                <a:cxn ang="f159">
                  <a:pos x="f256" y="f250"/>
                </a:cxn>
                <a:cxn ang="f159">
                  <a:pos x="f214" y="f215"/>
                </a:cxn>
                <a:cxn ang="f159">
                  <a:pos x="f231" y="f257"/>
                </a:cxn>
                <a:cxn ang="f159">
                  <a:pos x="f236" y="f258"/>
                </a:cxn>
                <a:cxn ang="f159">
                  <a:pos x="f259" y="f260"/>
                </a:cxn>
                <a:cxn ang="f159">
                  <a:pos x="f238" y="f261"/>
                </a:cxn>
                <a:cxn ang="f159">
                  <a:pos x="f225" y="f262"/>
                </a:cxn>
                <a:cxn ang="f159">
                  <a:pos x="f263" y="f261"/>
                </a:cxn>
                <a:cxn ang="f159">
                  <a:pos x="f221" y="f260"/>
                </a:cxn>
                <a:cxn ang="f159">
                  <a:pos x="f219" y="f258"/>
                </a:cxn>
                <a:cxn ang="f159">
                  <a:pos x="f218"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2" y="f13"/>
                    <a:pt x="f12" y="f14"/>
                    <a:pt x="f15" y="f16"/>
                  </a:cubicBezTo>
                  <a:cubicBezTo>
                    <a:pt x="f17" y="f18"/>
                    <a:pt x="f17" y="f19"/>
                    <a:pt x="f20" y="f21"/>
                  </a:cubicBezTo>
                  <a:cubicBezTo>
                    <a:pt x="f22" y="f23"/>
                    <a:pt x="f24" y="f25"/>
                    <a:pt x="f26" y="f25"/>
                  </a:cubicBezTo>
                  <a:cubicBezTo>
                    <a:pt x="f27" y="f6"/>
                    <a:pt x="f28" y="f6"/>
                    <a:pt x="f29" y="f6"/>
                  </a:cubicBezTo>
                  <a:cubicBezTo>
                    <a:pt x="f30" y="f6"/>
                    <a:pt x="f8" y="f6"/>
                    <a:pt x="f9" y="f6"/>
                  </a:cubicBezTo>
                  <a:cubicBezTo>
                    <a:pt x="f10" y="f25"/>
                    <a:pt x="f10" y="f25"/>
                    <a:pt x="f11" y="f25"/>
                  </a:cubicBezTo>
                  <a:cubicBezTo>
                    <a:pt x="f31" y="f25"/>
                    <a:pt x="f31" y="f23"/>
                    <a:pt x="f13" y="f23"/>
                  </a:cubicBezTo>
                  <a:cubicBezTo>
                    <a:pt x="f13" y="f23"/>
                    <a:pt x="f32" y="f21"/>
                    <a:pt x="f14" y="f21"/>
                  </a:cubicBezTo>
                  <a:cubicBezTo>
                    <a:pt x="f21" y="f33"/>
                    <a:pt x="f21" y="f33"/>
                    <a:pt x="f21" y="f33"/>
                  </a:cubicBezTo>
                  <a:cubicBezTo>
                    <a:pt x="f19" y="f33"/>
                    <a:pt x="f18" y="f34"/>
                    <a:pt x="f16" y="f35"/>
                  </a:cubicBezTo>
                  <a:cubicBezTo>
                    <a:pt x="f16" y="f35"/>
                    <a:pt x="f14" y="f36"/>
                    <a:pt x="f32" y="f36"/>
                  </a:cubicBezTo>
                  <a:cubicBezTo>
                    <a:pt x="f13" y="f37"/>
                    <a:pt x="f11" y="f37"/>
                    <a:pt x="f10" y="f37"/>
                  </a:cubicBezTo>
                  <a:cubicBezTo>
                    <a:pt x="f9" y="f37"/>
                    <a:pt x="f8" y="f7"/>
                    <a:pt x="f29" y="f7"/>
                  </a:cubicBezTo>
                  <a:cubicBezTo>
                    <a:pt x="f27" y="f7"/>
                    <a:pt x="f26" y="f37"/>
                    <a:pt x="f22" y="f37"/>
                  </a:cubicBezTo>
                  <a:cubicBezTo>
                    <a:pt x="f20" y="f36"/>
                    <a:pt x="f17" y="f36"/>
                    <a:pt x="f12" y="f35"/>
                  </a:cubicBezTo>
                  <a:cubicBezTo>
                    <a:pt x="f38" y="f34"/>
                    <a:pt x="f39" y="f33"/>
                    <a:pt x="f40" y="f41"/>
                  </a:cubicBezTo>
                  <a:cubicBezTo>
                    <a:pt x="f40" y="f41"/>
                    <a:pt x="f42" y="f25"/>
                    <a:pt x="f43" y="f23"/>
                  </a:cubicBezTo>
                  <a:cubicBezTo>
                    <a:pt x="f44" y="f19"/>
                    <a:pt x="f45" y="f18"/>
                    <a:pt x="f45" y="f14"/>
                  </a:cubicBezTo>
                  <a:cubicBezTo>
                    <a:pt x="f45" y="f13"/>
                    <a:pt x="f5" y="f11"/>
                    <a:pt x="f5" y="f9"/>
                  </a:cubicBezTo>
                  <a:cubicBezTo>
                    <a:pt x="f5" y="f28"/>
                    <a:pt x="f45" y="f24"/>
                    <a:pt x="f44" y="f20"/>
                  </a:cubicBezTo>
                  <a:cubicBezTo>
                    <a:pt x="f44" y="f12"/>
                    <a:pt x="f42" y="f39"/>
                    <a:pt x="f40" y="f40"/>
                  </a:cubicBezTo>
                  <a:cubicBezTo>
                    <a:pt x="f39" y="f43"/>
                    <a:pt x="f12" y="f44"/>
                    <a:pt x="f17" y="f45"/>
                  </a:cubicBezTo>
                  <a:cubicBezTo>
                    <a:pt x="f22" y="f5"/>
                    <a:pt x="f27" y="f5"/>
                    <a:pt x="f29" y="f5"/>
                  </a:cubicBezTo>
                  <a:cubicBezTo>
                    <a:pt x="f9" y="f5"/>
                    <a:pt x="f11" y="f5"/>
                    <a:pt x="f13" y="f45"/>
                  </a:cubicBezTo>
                  <a:cubicBezTo>
                    <a:pt x="f14" y="f44"/>
                    <a:pt x="f18" y="f42"/>
                    <a:pt x="f19" y="f40"/>
                  </a:cubicBezTo>
                  <a:cubicBezTo>
                    <a:pt x="f23" y="f38"/>
                    <a:pt x="f25" y="f15"/>
                    <a:pt x="f25" y="f20"/>
                  </a:cubicBezTo>
                  <a:cubicBezTo>
                    <a:pt x="f6" y="f26"/>
                    <a:pt x="f6" y="f28"/>
                    <a:pt x="f6" y="f8"/>
                  </a:cubicBezTo>
                  <a:close/>
                  <a:moveTo>
                    <a:pt x="f14" y="f28"/>
                  </a:moveTo>
                  <a:cubicBezTo>
                    <a:pt x="f14" y="f27"/>
                    <a:pt x="f32" y="f24"/>
                    <a:pt x="f32" y="f22"/>
                  </a:cubicBezTo>
                  <a:cubicBezTo>
                    <a:pt x="f32" y="f20"/>
                    <a:pt x="f13" y="f17"/>
                    <a:pt x="f31" y="f15"/>
                  </a:cubicBezTo>
                  <a:cubicBezTo>
                    <a:pt x="f31" y="f12"/>
                    <a:pt x="f11" y="f12"/>
                    <a:pt x="f10" y="f38"/>
                  </a:cubicBezTo>
                  <a:cubicBezTo>
                    <a:pt x="f9" y="f38"/>
                    <a:pt x="f30" y="f39"/>
                    <a:pt x="f29" y="f39"/>
                  </a:cubicBezTo>
                  <a:cubicBezTo>
                    <a:pt x="f27" y="f39"/>
                    <a:pt x="f26" y="f38"/>
                    <a:pt x="f24" y="f38"/>
                  </a:cubicBezTo>
                  <a:cubicBezTo>
                    <a:pt x="f22" y="f38"/>
                    <a:pt x="f20" y="f12"/>
                    <a:pt x="f20" y="f15"/>
                  </a:cubicBezTo>
                  <a:cubicBezTo>
                    <a:pt x="f17" y="f17"/>
                    <a:pt x="f15" y="f20"/>
                    <a:pt x="f15" y="f22"/>
                  </a:cubicBezTo>
                  <a:cubicBezTo>
                    <a:pt x="f12" y="f24"/>
                    <a:pt x="f12" y="f26"/>
                    <a:pt x="f12" y="f28"/>
                  </a:cubicBezTo>
                  <a:lnTo>
                    <a:pt x="f14" y="f28"/>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5" name="Freeform 37">
              <a:extLst>
                <a:ext uri="{FF2B5EF4-FFF2-40B4-BE49-F238E27FC236}">
                  <a16:creationId xmlns:a16="http://schemas.microsoft.com/office/drawing/2014/main" id="{94D8840B-2514-A63E-5635-7986603DD393}"/>
                </a:ext>
              </a:extLst>
            </p:cNvPr>
            <p:cNvSpPr/>
            <p:nvPr/>
          </p:nvSpPr>
          <p:spPr>
            <a:xfrm>
              <a:off x="3335145" y="6088166"/>
              <a:ext cx="59253"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7"/>
                <a:gd name="f13" fmla="val 18"/>
                <a:gd name="f14" fmla="val 17"/>
                <a:gd name="f15" fmla="val 15"/>
                <a:gd name="f16" fmla="val 13"/>
                <a:gd name="f17" fmla="val 11"/>
                <a:gd name="f18" fmla="val 10"/>
                <a:gd name="f19" fmla="val 9"/>
                <a:gd name="f20" fmla="val 14"/>
                <a:gd name="f21" fmla="val 4"/>
                <a:gd name="f22" fmla="val 3"/>
                <a:gd name="f23" fmla="val 2"/>
                <a:gd name="f24" fmla="val 1"/>
                <a:gd name="f25" fmla="val 12"/>
                <a:gd name="f26" fmla="val 16"/>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9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7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1" y="f12"/>
                  </a:cubicBezTo>
                  <a:cubicBezTo>
                    <a:pt x="f13" y="f12"/>
                    <a:pt x="f14" y="f12"/>
                    <a:pt x="f15" y="f12"/>
                  </a:cubicBezTo>
                  <a:cubicBezTo>
                    <a:pt x="f16" y="f12"/>
                    <a:pt x="f17" y="f9"/>
                    <a:pt x="f18" y="f19"/>
                  </a:cubicBezTo>
                  <a:cubicBezTo>
                    <a:pt x="f9" y="f17"/>
                    <a:pt x="f9" y="f20"/>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1"/>
                    <a:pt x="f9" y="f21"/>
                    <a:pt x="f9" y="f21"/>
                  </a:cubicBezTo>
                  <a:cubicBezTo>
                    <a:pt x="f9" y="f22"/>
                    <a:pt x="f19" y="f22"/>
                    <a:pt x="f19" y="f23"/>
                  </a:cubicBezTo>
                  <a:cubicBezTo>
                    <a:pt x="f18" y="f23"/>
                    <a:pt x="f17" y="f24"/>
                    <a:pt x="f17" y="f24"/>
                  </a:cubicBezTo>
                  <a:cubicBezTo>
                    <a:pt x="f25" y="f5"/>
                    <a:pt x="f16" y="f5"/>
                    <a:pt x="f20" y="f5"/>
                  </a:cubicBezTo>
                  <a:cubicBezTo>
                    <a:pt x="f15" y="f5"/>
                    <a:pt x="f26" y="f5"/>
                    <a:pt x="f14" y="f5"/>
                  </a:cubicBezTo>
                  <a:cubicBezTo>
                    <a:pt x="f13" y="f5"/>
                    <a:pt x="f11" y="f5"/>
                    <a:pt x="f10" y="f5"/>
                  </a:cubicBezTo>
                  <a:cubicBezTo>
                    <a:pt x="f8" y="f5"/>
                    <a:pt x="f27" y="f24"/>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6" name="Freeform 38">
              <a:extLst>
                <a:ext uri="{FF2B5EF4-FFF2-40B4-BE49-F238E27FC236}">
                  <a16:creationId xmlns:a16="http://schemas.microsoft.com/office/drawing/2014/main" id="{C7B18861-D6FE-04F5-D788-D08C5BAE0B08}"/>
                </a:ext>
              </a:extLst>
            </p:cNvPr>
            <p:cNvSpPr/>
            <p:nvPr/>
          </p:nvSpPr>
          <p:spPr>
            <a:xfrm>
              <a:off x="3450168" y="6049807"/>
              <a:ext cx="55769" cy="139500"/>
            </a:xfrm>
            <a:custGeom>
              <a:avLst/>
              <a:gdLst>
                <a:gd name="f0" fmla="val 10800000"/>
                <a:gd name="f1" fmla="val 5400000"/>
                <a:gd name="f2" fmla="val 180"/>
                <a:gd name="f3" fmla="val w"/>
                <a:gd name="f4" fmla="val h"/>
                <a:gd name="f5" fmla="val 0"/>
                <a:gd name="f6" fmla="val 22"/>
                <a:gd name="f7" fmla="val 55"/>
                <a:gd name="f8" fmla="val 21"/>
                <a:gd name="f9" fmla="val 53"/>
                <a:gd name="f10" fmla="val 20"/>
                <a:gd name="f11" fmla="val 19"/>
                <a:gd name="f12" fmla="val 54"/>
                <a:gd name="f13" fmla="val 18"/>
                <a:gd name="f14" fmla="val 17"/>
                <a:gd name="f15" fmla="val 15"/>
                <a:gd name="f16" fmla="val 14"/>
                <a:gd name="f17" fmla="val 12"/>
                <a:gd name="f18" fmla="val 11"/>
                <a:gd name="f19" fmla="val 10"/>
                <a:gd name="f20" fmla="val 9"/>
                <a:gd name="f21" fmla="val 8"/>
                <a:gd name="f22" fmla="val 52"/>
                <a:gd name="f23" fmla="val 7"/>
                <a:gd name="f24" fmla="val 51"/>
                <a:gd name="f25" fmla="val 6"/>
                <a:gd name="f26" fmla="val 50"/>
                <a:gd name="f27" fmla="val 49"/>
                <a:gd name="f28" fmla="val 5"/>
                <a:gd name="f29" fmla="val 48"/>
                <a:gd name="f30" fmla="val 46"/>
                <a:gd name="f31" fmla="val 44"/>
                <a:gd name="f32" fmla="val 4"/>
                <a:gd name="f33" fmla="val 43"/>
                <a:gd name="f34" fmla="val 45"/>
                <a:gd name="f35" fmla="val 13"/>
                <a:gd name="f36" fmla="val 47"/>
                <a:gd name="f37" fmla="val 16"/>
                <a:gd name="f38" fmla="+- 0 0 -90"/>
                <a:gd name="f39" fmla="*/ f3 1 22"/>
                <a:gd name="f40" fmla="*/ f4 1 55"/>
                <a:gd name="f41" fmla="+- f7 0 f5"/>
                <a:gd name="f42" fmla="+- f6 0 f5"/>
                <a:gd name="f43" fmla="*/ f38 f0 1"/>
                <a:gd name="f44" fmla="*/ f42 1 22"/>
                <a:gd name="f45" fmla="*/ f41 1 55"/>
                <a:gd name="f46" fmla="*/ 21 f42 1"/>
                <a:gd name="f47" fmla="*/ 53 f41 1"/>
                <a:gd name="f48" fmla="*/ 18 f42 1"/>
                <a:gd name="f49" fmla="*/ 54 f41 1"/>
                <a:gd name="f50" fmla="*/ 14 f42 1"/>
                <a:gd name="f51" fmla="*/ 55 f41 1"/>
                <a:gd name="f52" fmla="*/ 10 f42 1"/>
                <a:gd name="f53" fmla="*/ 8 f42 1"/>
                <a:gd name="f54" fmla="*/ 52 f41 1"/>
                <a:gd name="f55" fmla="*/ 6 f42 1"/>
                <a:gd name="f56" fmla="*/ 49 f41 1"/>
                <a:gd name="f57" fmla="*/ 5 f42 1"/>
                <a:gd name="f58" fmla="*/ 44 f41 1"/>
                <a:gd name="f59" fmla="*/ 22 f41 1"/>
                <a:gd name="f60" fmla="*/ 0 f42 1"/>
                <a:gd name="f61" fmla="*/ 15 f41 1"/>
                <a:gd name="f62" fmla="*/ 4 f41 1"/>
                <a:gd name="f63" fmla="*/ 12 f42 1"/>
                <a:gd name="f64" fmla="*/ 0 f41 1"/>
                <a:gd name="f65" fmla="*/ 22 f42 1"/>
                <a:gd name="f66" fmla="*/ 43 f41 1"/>
                <a:gd name="f67" fmla="*/ 13 f42 1"/>
                <a:gd name="f68" fmla="*/ 45 f41 1"/>
                <a:gd name="f69" fmla="*/ 47 f41 1"/>
                <a:gd name="f70" fmla="*/ 15 f42 1"/>
                <a:gd name="f71" fmla="*/ 16 f42 1"/>
                <a:gd name="f72" fmla="*/ 48 f41 1"/>
                <a:gd name="f73" fmla="*/ 19 f42 1"/>
                <a:gd name="f74" fmla="*/ 46 f41 1"/>
                <a:gd name="f75" fmla="*/ f43 1 f2"/>
                <a:gd name="f76" fmla="*/ f46 1 22"/>
                <a:gd name="f77" fmla="*/ f47 1 55"/>
                <a:gd name="f78" fmla="*/ f48 1 22"/>
                <a:gd name="f79" fmla="*/ f49 1 55"/>
                <a:gd name="f80" fmla="*/ f50 1 22"/>
                <a:gd name="f81" fmla="*/ f51 1 55"/>
                <a:gd name="f82" fmla="*/ f52 1 22"/>
                <a:gd name="f83" fmla="*/ f53 1 22"/>
                <a:gd name="f84" fmla="*/ f54 1 55"/>
                <a:gd name="f85" fmla="*/ f55 1 22"/>
                <a:gd name="f86" fmla="*/ f56 1 55"/>
                <a:gd name="f87" fmla="*/ f57 1 22"/>
                <a:gd name="f88" fmla="*/ f58 1 55"/>
                <a:gd name="f89" fmla="*/ f59 1 55"/>
                <a:gd name="f90" fmla="*/ f60 1 22"/>
                <a:gd name="f91" fmla="*/ f61 1 55"/>
                <a:gd name="f92" fmla="*/ f62 1 55"/>
                <a:gd name="f93" fmla="*/ f63 1 22"/>
                <a:gd name="f94" fmla="*/ f64 1 55"/>
                <a:gd name="f95" fmla="*/ f65 1 22"/>
                <a:gd name="f96" fmla="*/ f66 1 55"/>
                <a:gd name="f97" fmla="*/ f67 1 22"/>
                <a:gd name="f98" fmla="*/ f68 1 55"/>
                <a:gd name="f99" fmla="*/ f69 1 55"/>
                <a:gd name="f100" fmla="*/ f70 1 22"/>
                <a:gd name="f101" fmla="*/ f71 1 22"/>
                <a:gd name="f102" fmla="*/ f72 1 55"/>
                <a:gd name="f103" fmla="*/ f73 1 22"/>
                <a:gd name="f104" fmla="*/ f74 1 55"/>
                <a:gd name="f105" fmla="*/ 0 1 f44"/>
                <a:gd name="f106" fmla="*/ f6 1 f44"/>
                <a:gd name="f107" fmla="*/ 0 1 f45"/>
                <a:gd name="f108" fmla="*/ f7 1 f45"/>
                <a:gd name="f109" fmla="+- f75 0 f1"/>
                <a:gd name="f110" fmla="*/ f76 1 f44"/>
                <a:gd name="f111" fmla="*/ f77 1 f45"/>
                <a:gd name="f112" fmla="*/ f78 1 f44"/>
                <a:gd name="f113" fmla="*/ f79 1 f45"/>
                <a:gd name="f114" fmla="*/ f80 1 f44"/>
                <a:gd name="f115" fmla="*/ f81 1 f45"/>
                <a:gd name="f116" fmla="*/ f82 1 f44"/>
                <a:gd name="f117" fmla="*/ f83 1 f44"/>
                <a:gd name="f118" fmla="*/ f84 1 f45"/>
                <a:gd name="f119" fmla="*/ f85 1 f44"/>
                <a:gd name="f120" fmla="*/ f86 1 f45"/>
                <a:gd name="f121" fmla="*/ f87 1 f44"/>
                <a:gd name="f122" fmla="*/ f88 1 f45"/>
                <a:gd name="f123" fmla="*/ f89 1 f45"/>
                <a:gd name="f124" fmla="*/ f90 1 f44"/>
                <a:gd name="f125" fmla="*/ f91 1 f45"/>
                <a:gd name="f126" fmla="*/ f92 1 f45"/>
                <a:gd name="f127" fmla="*/ f93 1 f44"/>
                <a:gd name="f128" fmla="*/ f94 1 f45"/>
                <a:gd name="f129" fmla="*/ f95 1 f44"/>
                <a:gd name="f130" fmla="*/ f96 1 f45"/>
                <a:gd name="f131" fmla="*/ f97 1 f44"/>
                <a:gd name="f132" fmla="*/ f98 1 f45"/>
                <a:gd name="f133" fmla="*/ f99 1 f45"/>
                <a:gd name="f134" fmla="*/ f100 1 f44"/>
                <a:gd name="f135" fmla="*/ f101 1 f44"/>
                <a:gd name="f136" fmla="*/ f102 1 f45"/>
                <a:gd name="f137" fmla="*/ f103 1 f44"/>
                <a:gd name="f138" fmla="*/ f104 1 f45"/>
                <a:gd name="f139" fmla="*/ f105 f39 1"/>
                <a:gd name="f140" fmla="*/ f106 f39 1"/>
                <a:gd name="f141" fmla="*/ f108 f40 1"/>
                <a:gd name="f142" fmla="*/ f107 f40 1"/>
                <a:gd name="f143" fmla="*/ f110 f39 1"/>
                <a:gd name="f144" fmla="*/ f111 f40 1"/>
                <a:gd name="f145" fmla="*/ f112 f39 1"/>
                <a:gd name="f146" fmla="*/ f113 f40 1"/>
                <a:gd name="f147" fmla="*/ f114 f39 1"/>
                <a:gd name="f148" fmla="*/ f115 f40 1"/>
                <a:gd name="f149" fmla="*/ f116 f39 1"/>
                <a:gd name="f150" fmla="*/ f117 f39 1"/>
                <a:gd name="f151" fmla="*/ f118 f40 1"/>
                <a:gd name="f152" fmla="*/ f119 f39 1"/>
                <a:gd name="f153" fmla="*/ f120 f40 1"/>
                <a:gd name="f154" fmla="*/ f121 f39 1"/>
                <a:gd name="f155" fmla="*/ f122 f40 1"/>
                <a:gd name="f156" fmla="*/ f123 f40 1"/>
                <a:gd name="f157" fmla="*/ f124 f39 1"/>
                <a:gd name="f158" fmla="*/ f125 f40 1"/>
                <a:gd name="f159" fmla="*/ f126 f40 1"/>
                <a:gd name="f160" fmla="*/ f127 f39 1"/>
                <a:gd name="f161" fmla="*/ f128 f40 1"/>
                <a:gd name="f162" fmla="*/ f129 f39 1"/>
                <a:gd name="f163" fmla="*/ f130 f40 1"/>
                <a:gd name="f164" fmla="*/ f131 f39 1"/>
                <a:gd name="f165" fmla="*/ f132 f40 1"/>
                <a:gd name="f166" fmla="*/ f133 f40 1"/>
                <a:gd name="f167" fmla="*/ f134 f39 1"/>
                <a:gd name="f168" fmla="*/ f135 f39 1"/>
                <a:gd name="f169" fmla="*/ f136 f40 1"/>
                <a:gd name="f170" fmla="*/ f137 f39 1"/>
                <a:gd name="f171" fmla="*/ f138 f40 1"/>
              </a:gdLst>
              <a:ahLst/>
              <a:cxnLst>
                <a:cxn ang="3cd4">
                  <a:pos x="hc" y="t"/>
                </a:cxn>
                <a:cxn ang="0">
                  <a:pos x="r" y="vc"/>
                </a:cxn>
                <a:cxn ang="cd4">
                  <a:pos x="hc" y="b"/>
                </a:cxn>
                <a:cxn ang="cd2">
                  <a:pos x="l" y="vc"/>
                </a:cxn>
                <a:cxn ang="f109">
                  <a:pos x="f143" y="f144"/>
                </a:cxn>
                <a:cxn ang="f109">
                  <a:pos x="f145" y="f146"/>
                </a:cxn>
                <a:cxn ang="f109">
                  <a:pos x="f147" y="f148"/>
                </a:cxn>
                <a:cxn ang="f109">
                  <a:pos x="f149" y="f146"/>
                </a:cxn>
                <a:cxn ang="f109">
                  <a:pos x="f150" y="f151"/>
                </a:cxn>
                <a:cxn ang="f109">
                  <a:pos x="f152" y="f153"/>
                </a:cxn>
                <a:cxn ang="f109">
                  <a:pos x="f154" y="f155"/>
                </a:cxn>
                <a:cxn ang="f109">
                  <a:pos x="f154" y="f156"/>
                </a:cxn>
                <a:cxn ang="f109">
                  <a:pos x="f157" y="f156"/>
                </a:cxn>
                <a:cxn ang="f109">
                  <a:pos x="f157" y="f158"/>
                </a:cxn>
                <a:cxn ang="f109">
                  <a:pos x="f154" y="f158"/>
                </a:cxn>
                <a:cxn ang="f109">
                  <a:pos x="f154" y="f159"/>
                </a:cxn>
                <a:cxn ang="f109">
                  <a:pos x="f160" y="f161"/>
                </a:cxn>
                <a:cxn ang="f109">
                  <a:pos x="f160" y="f158"/>
                </a:cxn>
                <a:cxn ang="f109">
                  <a:pos x="f162" y="f158"/>
                </a:cxn>
                <a:cxn ang="f109">
                  <a:pos x="f162" y="f156"/>
                </a:cxn>
                <a:cxn ang="f109">
                  <a:pos x="f160" y="f156"/>
                </a:cxn>
                <a:cxn ang="f109">
                  <a:pos x="f160" y="f163"/>
                </a:cxn>
                <a:cxn ang="f109">
                  <a:pos x="f164" y="f165"/>
                </a:cxn>
                <a:cxn ang="f109">
                  <a:pos x="f164" y="f166"/>
                </a:cxn>
                <a:cxn ang="f109">
                  <a:pos x="f167" y="f166"/>
                </a:cxn>
                <a:cxn ang="f109">
                  <a:pos x="f168" y="f169"/>
                </a:cxn>
                <a:cxn ang="f109">
                  <a:pos x="f170" y="f166"/>
                </a:cxn>
                <a:cxn ang="f109">
                  <a:pos x="f162" y="f171"/>
                </a:cxn>
                <a:cxn ang="f109">
                  <a:pos x="f143" y="f144"/>
                </a:cxn>
              </a:cxnLst>
              <a:rect l="f139" t="f142" r="f140" b="f141"/>
              <a:pathLst>
                <a:path w="22" h="55">
                  <a:moveTo>
                    <a:pt x="f8" y="f9"/>
                  </a:moveTo>
                  <a:cubicBezTo>
                    <a:pt x="f10" y="f9"/>
                    <a:pt x="f11" y="f12"/>
                    <a:pt x="f13" y="f12"/>
                  </a:cubicBezTo>
                  <a:cubicBezTo>
                    <a:pt x="f14" y="f12"/>
                    <a:pt x="f15" y="f7"/>
                    <a:pt x="f16" y="f7"/>
                  </a:cubicBezTo>
                  <a:cubicBezTo>
                    <a:pt x="f17" y="f7"/>
                    <a:pt x="f18" y="f12"/>
                    <a:pt x="f19" y="f12"/>
                  </a:cubicBezTo>
                  <a:cubicBezTo>
                    <a:pt x="f20" y="f12"/>
                    <a:pt x="f21" y="f9"/>
                    <a:pt x="f21" y="f22"/>
                  </a:cubicBezTo>
                  <a:cubicBezTo>
                    <a:pt x="f23" y="f24"/>
                    <a:pt x="f25" y="f26"/>
                    <a:pt x="f25" y="f27"/>
                  </a:cubicBezTo>
                  <a:cubicBezTo>
                    <a:pt x="f28" y="f29"/>
                    <a:pt x="f28" y="f30"/>
                    <a:pt x="f28" y="f31"/>
                  </a:cubicBezTo>
                  <a:cubicBezTo>
                    <a:pt x="f28" y="f6"/>
                    <a:pt x="f28" y="f6"/>
                    <a:pt x="f28" y="f6"/>
                  </a:cubicBezTo>
                  <a:cubicBezTo>
                    <a:pt x="f5" y="f6"/>
                    <a:pt x="f5" y="f6"/>
                    <a:pt x="f5" y="f6"/>
                  </a:cubicBezTo>
                  <a:cubicBezTo>
                    <a:pt x="f5" y="f15"/>
                    <a:pt x="f5" y="f15"/>
                    <a:pt x="f5" y="f15"/>
                  </a:cubicBezTo>
                  <a:cubicBezTo>
                    <a:pt x="f28" y="f15"/>
                    <a:pt x="f28" y="f15"/>
                    <a:pt x="f28" y="f15"/>
                  </a:cubicBezTo>
                  <a:cubicBezTo>
                    <a:pt x="f28" y="f32"/>
                    <a:pt x="f28" y="f32"/>
                    <a:pt x="f28"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4"/>
                    <a:pt x="f35" y="f34"/>
                  </a:cubicBezTo>
                  <a:cubicBezTo>
                    <a:pt x="f35" y="f30"/>
                    <a:pt x="f35" y="f30"/>
                    <a:pt x="f35" y="f36"/>
                  </a:cubicBezTo>
                  <a:cubicBezTo>
                    <a:pt x="f16" y="f36"/>
                    <a:pt x="f16" y="f36"/>
                    <a:pt x="f15" y="f36"/>
                  </a:cubicBezTo>
                  <a:cubicBezTo>
                    <a:pt x="f15" y="f29"/>
                    <a:pt x="f37" y="f29"/>
                    <a:pt x="f37" y="f29"/>
                  </a:cubicBezTo>
                  <a:cubicBezTo>
                    <a:pt x="f14" y="f29"/>
                    <a:pt x="f13" y="f29"/>
                    <a:pt x="f11" y="f36"/>
                  </a:cubicBezTo>
                  <a:cubicBezTo>
                    <a:pt x="f10" y="f36"/>
                    <a:pt x="f8" y="f36"/>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7" name="Freeform 39">
              <a:extLst>
                <a:ext uri="{FF2B5EF4-FFF2-40B4-BE49-F238E27FC236}">
                  <a16:creationId xmlns:a16="http://schemas.microsoft.com/office/drawing/2014/main" id="{1E0903F4-E9CD-F152-FEAF-E11EDC34090A}"/>
                </a:ext>
              </a:extLst>
            </p:cNvPr>
            <p:cNvSpPr/>
            <p:nvPr/>
          </p:nvSpPr>
          <p:spPr>
            <a:xfrm>
              <a:off x="3528596" y="6049807"/>
              <a:ext cx="80165" cy="137754"/>
            </a:xfrm>
            <a:custGeom>
              <a:avLst/>
              <a:gdLst>
                <a:gd name="f0" fmla="val 10800000"/>
                <a:gd name="f1" fmla="val 5400000"/>
                <a:gd name="f2" fmla="val 180"/>
                <a:gd name="f3" fmla="val w"/>
                <a:gd name="f4" fmla="val h"/>
                <a:gd name="f5" fmla="val 0"/>
                <a:gd name="f6" fmla="val 31"/>
                <a:gd name="f7" fmla="val 54"/>
                <a:gd name="f8" fmla="val 23"/>
                <a:gd name="f9" fmla="val 32"/>
                <a:gd name="f10" fmla="val 28"/>
                <a:gd name="f11" fmla="val 22"/>
                <a:gd name="f12" fmla="val 26"/>
                <a:gd name="f13" fmla="val 21"/>
                <a:gd name="f14" fmla="val 24"/>
                <a:gd name="f15" fmla="val 20"/>
                <a:gd name="f16" fmla="val 18"/>
                <a:gd name="f17" fmla="val 15"/>
                <a:gd name="f18" fmla="val 14"/>
                <a:gd name="f19" fmla="val 13"/>
                <a:gd name="f20" fmla="val 12"/>
                <a:gd name="f21" fmla="val 11"/>
                <a:gd name="f22" fmla="val 10"/>
                <a:gd name="f23" fmla="val 9"/>
                <a:gd name="f24" fmla="val 25"/>
                <a:gd name="f25" fmla="val 8"/>
                <a:gd name="f26" fmla="val 27"/>
                <a:gd name="f27" fmla="val 7"/>
                <a:gd name="f28" fmla="val 30"/>
                <a:gd name="f29" fmla="val 4"/>
                <a:gd name="f30" fmla="val 19"/>
                <a:gd name="f31" fmla="val 17"/>
                <a:gd name="f32" fmla="val 16"/>
                <a:gd name="f33" fmla="val 29"/>
                <a:gd name="f34" fmla="+- 0 0 -90"/>
                <a:gd name="f35" fmla="*/ f3 1 31"/>
                <a:gd name="f36" fmla="*/ f4 1 54"/>
                <a:gd name="f37" fmla="+- f7 0 f5"/>
                <a:gd name="f38" fmla="+- f6 0 f5"/>
                <a:gd name="f39" fmla="*/ f34 f0 1"/>
                <a:gd name="f40" fmla="*/ f38 1 31"/>
                <a:gd name="f41" fmla="*/ f37 1 54"/>
                <a:gd name="f42" fmla="*/ 23 f38 1"/>
                <a:gd name="f43" fmla="*/ 54 f37 1"/>
                <a:gd name="f44" fmla="*/ 32 f37 1"/>
                <a:gd name="f45" fmla="*/ 21 f38 1"/>
                <a:gd name="f46" fmla="*/ 24 f37 1"/>
                <a:gd name="f47" fmla="*/ 15 f38 1"/>
                <a:gd name="f48" fmla="*/ 22 f37 1"/>
                <a:gd name="f49" fmla="*/ 12 f38 1"/>
                <a:gd name="f50" fmla="*/ 9 f38 1"/>
                <a:gd name="f51" fmla="*/ 8 f38 1"/>
                <a:gd name="f52" fmla="*/ 27 f37 1"/>
                <a:gd name="f53" fmla="*/ 7 f38 1"/>
                <a:gd name="f54" fmla="*/ 31 f37 1"/>
                <a:gd name="f55" fmla="*/ 0 f38 1"/>
                <a:gd name="f56" fmla="*/ 4 f37 1"/>
                <a:gd name="f57" fmla="*/ 0 f37 1"/>
                <a:gd name="f58" fmla="*/ 19 f37 1"/>
                <a:gd name="f59" fmla="*/ 17 f37 1"/>
                <a:gd name="f60" fmla="*/ 11 f38 1"/>
                <a:gd name="f61" fmla="*/ 16 f37 1"/>
                <a:gd name="f62" fmla="*/ 14 f38 1"/>
                <a:gd name="f63" fmla="*/ 15 f37 1"/>
                <a:gd name="f64" fmla="*/ 17 f38 1"/>
                <a:gd name="f65" fmla="*/ 27 f38 1"/>
                <a:gd name="f66" fmla="*/ 30 f38 1"/>
                <a:gd name="f67" fmla="*/ 31 f38 1"/>
                <a:gd name="f68" fmla="*/ f39 1 f2"/>
                <a:gd name="f69" fmla="*/ f42 1 31"/>
                <a:gd name="f70" fmla="*/ f43 1 54"/>
                <a:gd name="f71" fmla="*/ f44 1 54"/>
                <a:gd name="f72" fmla="*/ f45 1 31"/>
                <a:gd name="f73" fmla="*/ f46 1 54"/>
                <a:gd name="f74" fmla="*/ f47 1 31"/>
                <a:gd name="f75" fmla="*/ f48 1 54"/>
                <a:gd name="f76" fmla="*/ f49 1 31"/>
                <a:gd name="f77" fmla="*/ f50 1 31"/>
                <a:gd name="f78" fmla="*/ f51 1 31"/>
                <a:gd name="f79" fmla="*/ f52 1 54"/>
                <a:gd name="f80" fmla="*/ f53 1 31"/>
                <a:gd name="f81" fmla="*/ f54 1 54"/>
                <a:gd name="f82" fmla="*/ f55 1 31"/>
                <a:gd name="f83" fmla="*/ f56 1 54"/>
                <a:gd name="f84" fmla="*/ f57 1 54"/>
                <a:gd name="f85" fmla="*/ f58 1 54"/>
                <a:gd name="f86" fmla="*/ f59 1 54"/>
                <a:gd name="f87" fmla="*/ f60 1 31"/>
                <a:gd name="f88" fmla="*/ f61 1 54"/>
                <a:gd name="f89" fmla="*/ f62 1 31"/>
                <a:gd name="f90" fmla="*/ f63 1 54"/>
                <a:gd name="f91" fmla="*/ f64 1 31"/>
                <a:gd name="f92" fmla="*/ f65 1 31"/>
                <a:gd name="f93" fmla="*/ f66 1 31"/>
                <a:gd name="f94" fmla="*/ f67 1 31"/>
                <a:gd name="f95" fmla="*/ 0 1 f40"/>
                <a:gd name="f96" fmla="*/ f6 1 f40"/>
                <a:gd name="f97" fmla="*/ 0 1 f41"/>
                <a:gd name="f98" fmla="*/ f7 1 f41"/>
                <a:gd name="f99" fmla="+- f68 0 f1"/>
                <a:gd name="f100" fmla="*/ f69 1 f40"/>
                <a:gd name="f101" fmla="*/ f70 1 f41"/>
                <a:gd name="f102" fmla="*/ f71 1 f41"/>
                <a:gd name="f103" fmla="*/ f72 1 f40"/>
                <a:gd name="f104" fmla="*/ f73 1 f41"/>
                <a:gd name="f105" fmla="*/ f74 1 f40"/>
                <a:gd name="f106" fmla="*/ f75 1 f41"/>
                <a:gd name="f107" fmla="*/ f76 1 f40"/>
                <a:gd name="f108" fmla="*/ f77 1 f40"/>
                <a:gd name="f109" fmla="*/ f78 1 f40"/>
                <a:gd name="f110" fmla="*/ f79 1 f41"/>
                <a:gd name="f111" fmla="*/ f80 1 f40"/>
                <a:gd name="f112" fmla="*/ f81 1 f41"/>
                <a:gd name="f113" fmla="*/ f82 1 f40"/>
                <a:gd name="f114" fmla="*/ f83 1 f41"/>
                <a:gd name="f115" fmla="*/ f84 1 f41"/>
                <a:gd name="f116" fmla="*/ f85 1 f41"/>
                <a:gd name="f117" fmla="*/ f86 1 f41"/>
                <a:gd name="f118" fmla="*/ f87 1 f40"/>
                <a:gd name="f119" fmla="*/ f88 1 f41"/>
                <a:gd name="f120" fmla="*/ f89 1 f40"/>
                <a:gd name="f121" fmla="*/ f90 1 f41"/>
                <a:gd name="f122" fmla="*/ f91 1 f40"/>
                <a:gd name="f123" fmla="*/ f92 1 f40"/>
                <a:gd name="f124" fmla="*/ f93 1 f40"/>
                <a:gd name="f125" fmla="*/ f94 1 f40"/>
                <a:gd name="f126" fmla="*/ f95 f35 1"/>
                <a:gd name="f127" fmla="*/ f96 f35 1"/>
                <a:gd name="f128" fmla="*/ f98 f36 1"/>
                <a:gd name="f129" fmla="*/ f97 f36 1"/>
                <a:gd name="f130" fmla="*/ f100 f35 1"/>
                <a:gd name="f131" fmla="*/ f101 f36 1"/>
                <a:gd name="f132" fmla="*/ f102 f36 1"/>
                <a:gd name="f133" fmla="*/ f103 f35 1"/>
                <a:gd name="f134" fmla="*/ f104 f36 1"/>
                <a:gd name="f135" fmla="*/ f105 f35 1"/>
                <a:gd name="f136" fmla="*/ f106 f36 1"/>
                <a:gd name="f137" fmla="*/ f107 f35 1"/>
                <a:gd name="f138" fmla="*/ f108 f35 1"/>
                <a:gd name="f139" fmla="*/ f109 f35 1"/>
                <a:gd name="f140" fmla="*/ f110 f36 1"/>
                <a:gd name="f141" fmla="*/ f111 f35 1"/>
                <a:gd name="f142" fmla="*/ f112 f36 1"/>
                <a:gd name="f143" fmla="*/ f113 f35 1"/>
                <a:gd name="f144" fmla="*/ f114 f36 1"/>
                <a:gd name="f145" fmla="*/ f115 f36 1"/>
                <a:gd name="f146" fmla="*/ f116 f36 1"/>
                <a:gd name="f147" fmla="*/ f117 f36 1"/>
                <a:gd name="f148" fmla="*/ f118 f35 1"/>
                <a:gd name="f149" fmla="*/ f119 f36 1"/>
                <a:gd name="f150" fmla="*/ f120 f35 1"/>
                <a:gd name="f151" fmla="*/ f121 f36 1"/>
                <a:gd name="f152" fmla="*/ f122 f35 1"/>
                <a:gd name="f153" fmla="*/ f123 f35 1"/>
                <a:gd name="f154" fmla="*/ f124 f35 1"/>
                <a:gd name="f155" fmla="*/ f125 f35 1"/>
              </a:gdLst>
              <a:ahLst/>
              <a:cxnLst>
                <a:cxn ang="3cd4">
                  <a:pos x="hc" y="t"/>
                </a:cxn>
                <a:cxn ang="0">
                  <a:pos x="r" y="vc"/>
                </a:cxn>
                <a:cxn ang="cd4">
                  <a:pos x="hc" y="b"/>
                </a:cxn>
                <a:cxn ang="cd2">
                  <a:pos x="l" y="vc"/>
                </a:cxn>
                <a:cxn ang="f99">
                  <a:pos x="f130" y="f131"/>
                </a:cxn>
                <a:cxn ang="f99">
                  <a:pos x="f130" y="f132"/>
                </a:cxn>
                <a:cxn ang="f99">
                  <a:pos x="f133" y="f134"/>
                </a:cxn>
                <a:cxn ang="f99">
                  <a:pos x="f135" y="f136"/>
                </a:cxn>
                <a:cxn ang="f99">
                  <a:pos x="f137" y="f136"/>
                </a:cxn>
                <a:cxn ang="f99">
                  <a:pos x="f138" y="f134"/>
                </a:cxn>
                <a:cxn ang="f99">
                  <a:pos x="f139" y="f140"/>
                </a:cxn>
                <a:cxn ang="f99">
                  <a:pos x="f141" y="f142"/>
                </a:cxn>
                <a:cxn ang="f99">
                  <a:pos x="f141" y="f131"/>
                </a:cxn>
                <a:cxn ang="f99">
                  <a:pos x="f143" y="f131"/>
                </a:cxn>
                <a:cxn ang="f99">
                  <a:pos x="f143" y="f144"/>
                </a:cxn>
                <a:cxn ang="f99">
                  <a:pos x="f141" y="f145"/>
                </a:cxn>
                <a:cxn ang="f99">
                  <a:pos x="f141" y="f146"/>
                </a:cxn>
                <a:cxn ang="f99">
                  <a:pos x="f138" y="f147"/>
                </a:cxn>
                <a:cxn ang="f99">
                  <a:pos x="f148" y="f149"/>
                </a:cxn>
                <a:cxn ang="f99">
                  <a:pos x="f150" y="f151"/>
                </a:cxn>
                <a:cxn ang="f99">
                  <a:pos x="f152" y="f151"/>
                </a:cxn>
                <a:cxn ang="f99">
                  <a:pos x="f130" y="f149"/>
                </a:cxn>
                <a:cxn ang="f99">
                  <a:pos x="f153" y="f146"/>
                </a:cxn>
                <a:cxn ang="f99">
                  <a:pos x="f154" y="f134"/>
                </a:cxn>
                <a:cxn ang="f99">
                  <a:pos x="f155" y="f132"/>
                </a:cxn>
                <a:cxn ang="f99">
                  <a:pos x="f155" y="f131"/>
                </a:cxn>
                <a:cxn ang="f99">
                  <a:pos x="f130" y="f131"/>
                </a:cxn>
              </a:cxnLst>
              <a:rect l="f126" t="f129" r="f127" b="f128"/>
              <a:pathLst>
                <a:path w="31" h="54">
                  <a:moveTo>
                    <a:pt x="f8" y="f7"/>
                  </a:moveTo>
                  <a:cubicBezTo>
                    <a:pt x="f8" y="f9"/>
                    <a:pt x="f8" y="f9"/>
                    <a:pt x="f8" y="f9"/>
                  </a:cubicBezTo>
                  <a:cubicBezTo>
                    <a:pt x="f8" y="f10"/>
                    <a:pt x="f11" y="f12"/>
                    <a:pt x="f13" y="f14"/>
                  </a:cubicBezTo>
                  <a:cubicBezTo>
                    <a:pt x="f15" y="f11"/>
                    <a:pt x="f16" y="f11"/>
                    <a:pt x="f17" y="f11"/>
                  </a:cubicBezTo>
                  <a:cubicBezTo>
                    <a:pt x="f18" y="f11"/>
                    <a:pt x="f19" y="f11"/>
                    <a:pt x="f20" y="f11"/>
                  </a:cubicBezTo>
                  <a:cubicBezTo>
                    <a:pt x="f21" y="f11"/>
                    <a:pt x="f22" y="f8"/>
                    <a:pt x="f23" y="f14"/>
                  </a:cubicBezTo>
                  <a:cubicBezTo>
                    <a:pt x="f23" y="f24"/>
                    <a:pt x="f25" y="f12"/>
                    <a:pt x="f25" y="f26"/>
                  </a:cubicBezTo>
                  <a:cubicBezTo>
                    <a:pt x="f27" y="f10"/>
                    <a:pt x="f27" y="f28"/>
                    <a:pt x="f27" y="f6"/>
                  </a:cubicBezTo>
                  <a:cubicBezTo>
                    <a:pt x="f27" y="f7"/>
                    <a:pt x="f27" y="f7"/>
                    <a:pt x="f27" y="f7"/>
                  </a:cubicBezTo>
                  <a:cubicBezTo>
                    <a:pt x="f5" y="f7"/>
                    <a:pt x="f5" y="f7"/>
                    <a:pt x="f5" y="f7"/>
                  </a:cubicBezTo>
                  <a:cubicBezTo>
                    <a:pt x="f5" y="f29"/>
                    <a:pt x="f5" y="f29"/>
                    <a:pt x="f5" y="f29"/>
                  </a:cubicBezTo>
                  <a:cubicBezTo>
                    <a:pt x="f27" y="f5"/>
                    <a:pt x="f27" y="f5"/>
                    <a:pt x="f27" y="f5"/>
                  </a:cubicBezTo>
                  <a:cubicBezTo>
                    <a:pt x="f27" y="f30"/>
                    <a:pt x="f27" y="f30"/>
                    <a:pt x="f27" y="f30"/>
                  </a:cubicBezTo>
                  <a:cubicBezTo>
                    <a:pt x="f25" y="f16"/>
                    <a:pt x="f25" y="f16"/>
                    <a:pt x="f23" y="f31"/>
                  </a:cubicBezTo>
                  <a:cubicBezTo>
                    <a:pt x="f22" y="f31"/>
                    <a:pt x="f22" y="f32"/>
                    <a:pt x="f21" y="f32"/>
                  </a:cubicBezTo>
                  <a:cubicBezTo>
                    <a:pt x="f20" y="f17"/>
                    <a:pt x="f19" y="f17"/>
                    <a:pt x="f18" y="f17"/>
                  </a:cubicBezTo>
                  <a:cubicBezTo>
                    <a:pt x="f17" y="f17"/>
                    <a:pt x="f32" y="f17"/>
                    <a:pt x="f31" y="f17"/>
                  </a:cubicBezTo>
                  <a:cubicBezTo>
                    <a:pt x="f30" y="f17"/>
                    <a:pt x="f13" y="f17"/>
                    <a:pt x="f8" y="f32"/>
                  </a:cubicBezTo>
                  <a:cubicBezTo>
                    <a:pt x="f24" y="f32"/>
                    <a:pt x="f12" y="f31"/>
                    <a:pt x="f26" y="f30"/>
                  </a:cubicBezTo>
                  <a:cubicBezTo>
                    <a:pt x="f10" y="f15"/>
                    <a:pt x="f33" y="f11"/>
                    <a:pt x="f28" y="f14"/>
                  </a:cubicBezTo>
                  <a:cubicBezTo>
                    <a:pt x="f28" y="f26"/>
                    <a:pt x="f6" y="f33"/>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8" name="Freeform 40">
              <a:extLst>
                <a:ext uri="{FF2B5EF4-FFF2-40B4-BE49-F238E27FC236}">
                  <a16:creationId xmlns:a16="http://schemas.microsoft.com/office/drawing/2014/main" id="{AF1983C4-D130-5774-EC0E-DD357A4890C4}"/>
                </a:ext>
              </a:extLst>
            </p:cNvPr>
            <p:cNvSpPr/>
            <p:nvPr/>
          </p:nvSpPr>
          <p:spPr>
            <a:xfrm>
              <a:off x="3626199"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19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20 f50 1"/>
                <a:gd name="f101" fmla="*/ 7 f49 1"/>
                <a:gd name="f102" fmla="*/ 16 f50 1"/>
                <a:gd name="f103" fmla="*/ 6 f49 1"/>
                <a:gd name="f104" fmla="*/ 13 f50 1"/>
                <a:gd name="f105" fmla="*/ f51 1 f2"/>
                <a:gd name="f106" fmla="*/ f54 1 33"/>
                <a:gd name="f107" fmla="*/ f55 1 40"/>
                <a:gd name="f108" fmla="*/ f56 1 40"/>
                <a:gd name="f109" fmla="*/ f57 1 40"/>
                <a:gd name="f110" fmla="*/ f58 1 33"/>
                <a:gd name="f111" fmla="*/ f59 1 33"/>
                <a:gd name="f112" fmla="*/ f60 1 40"/>
                <a:gd name="f113" fmla="*/ f61 1 33"/>
                <a:gd name="f114" fmla="*/ f62 1 40"/>
                <a:gd name="f115" fmla="*/ f63 1 33"/>
                <a:gd name="f116" fmla="*/ f64 1 40"/>
                <a:gd name="f117" fmla="*/ f65 1 33"/>
                <a:gd name="f118" fmla="*/ f66 1 40"/>
                <a:gd name="f119" fmla="*/ f67 1 33"/>
                <a:gd name="f120" fmla="*/ f68 1 33"/>
                <a:gd name="f121" fmla="*/ f69 1 33"/>
                <a:gd name="f122" fmla="*/ f70 1 40"/>
                <a:gd name="f123" fmla="*/ f71 1 33"/>
                <a:gd name="f124" fmla="*/ f72 1 33"/>
                <a:gd name="f125" fmla="*/ f73 1 40"/>
                <a:gd name="f126" fmla="*/ f74 1 33"/>
                <a:gd name="f127" fmla="*/ f75 1 40"/>
                <a:gd name="f128" fmla="*/ f76 1 33"/>
                <a:gd name="f129" fmla="*/ f77 1 40"/>
                <a:gd name="f130" fmla="*/ f78 1 33"/>
                <a:gd name="f131" fmla="*/ f79 1 40"/>
                <a:gd name="f132" fmla="*/ f80 1 40"/>
                <a:gd name="f133" fmla="*/ f81 1 33"/>
                <a:gd name="f134" fmla="*/ f82 1 33"/>
                <a:gd name="f135" fmla="*/ f83 1 33"/>
                <a:gd name="f136" fmla="*/ f84 1 40"/>
                <a:gd name="f137" fmla="*/ f85 1 33"/>
                <a:gd name="f138" fmla="*/ f86 1 33"/>
                <a:gd name="f139" fmla="*/ f87 1 40"/>
                <a:gd name="f140" fmla="*/ f88 1 33"/>
                <a:gd name="f141" fmla="*/ f89 1 40"/>
                <a:gd name="f142" fmla="*/ f90 1 40"/>
                <a:gd name="f143" fmla="*/ f91 1 40"/>
                <a:gd name="f144" fmla="*/ f92 1 33"/>
                <a:gd name="f145" fmla="*/ f93 1 40"/>
                <a:gd name="f146" fmla="*/ f94 1 40"/>
                <a:gd name="f147" fmla="*/ f95 1 33"/>
                <a:gd name="f148" fmla="*/ f96 1 33"/>
                <a:gd name="f149" fmla="*/ f97 1 40"/>
                <a:gd name="f150" fmla="*/ f98 1 40"/>
                <a:gd name="f151" fmla="*/ f99 1 40"/>
                <a:gd name="f152" fmla="*/ f100 1 33"/>
                <a:gd name="f153" fmla="*/ f101 1 40"/>
                <a:gd name="f154" fmla="*/ f102 1 33"/>
                <a:gd name="f155" fmla="*/ f103 1 40"/>
                <a:gd name="f156" fmla="*/ f104 1 33"/>
                <a:gd name="f157" fmla="*/ 0 1 f52"/>
                <a:gd name="f158" fmla="*/ f6 1 f52"/>
                <a:gd name="f159" fmla="*/ 0 1 f53"/>
                <a:gd name="f160" fmla="*/ f7 1 f53"/>
                <a:gd name="f161" fmla="+- f105 0 f1"/>
                <a:gd name="f162" fmla="*/ f106 1 f52"/>
                <a:gd name="f163" fmla="*/ f107 1 f53"/>
                <a:gd name="f164" fmla="*/ f108 1 f53"/>
                <a:gd name="f165" fmla="*/ f109 1 f53"/>
                <a:gd name="f166" fmla="*/ f110 1 f52"/>
                <a:gd name="f167" fmla="*/ f111 1 f52"/>
                <a:gd name="f168" fmla="*/ f112 1 f53"/>
                <a:gd name="f169" fmla="*/ f113 1 f52"/>
                <a:gd name="f170" fmla="*/ f114 1 f53"/>
                <a:gd name="f171" fmla="*/ f115 1 f52"/>
                <a:gd name="f172" fmla="*/ f116 1 f53"/>
                <a:gd name="f173" fmla="*/ f117 1 f52"/>
                <a:gd name="f174" fmla="*/ f118 1 f53"/>
                <a:gd name="f175" fmla="*/ f119 1 f52"/>
                <a:gd name="f176" fmla="*/ f120 1 f52"/>
                <a:gd name="f177" fmla="*/ f121 1 f52"/>
                <a:gd name="f178" fmla="*/ f122 1 f53"/>
                <a:gd name="f179" fmla="*/ f123 1 f52"/>
                <a:gd name="f180" fmla="*/ f124 1 f52"/>
                <a:gd name="f181" fmla="*/ f125 1 f53"/>
                <a:gd name="f182" fmla="*/ f126 1 f52"/>
                <a:gd name="f183" fmla="*/ f127 1 f53"/>
                <a:gd name="f184" fmla="*/ f128 1 f52"/>
                <a:gd name="f185" fmla="*/ f129 1 f53"/>
                <a:gd name="f186" fmla="*/ f130 1 f52"/>
                <a:gd name="f187" fmla="*/ f131 1 f53"/>
                <a:gd name="f188" fmla="*/ f132 1 f53"/>
                <a:gd name="f189" fmla="*/ f133 1 f52"/>
                <a:gd name="f190" fmla="*/ f134 1 f52"/>
                <a:gd name="f191" fmla="*/ f135 1 f52"/>
                <a:gd name="f192" fmla="*/ f136 1 f53"/>
                <a:gd name="f193" fmla="*/ f137 1 f52"/>
                <a:gd name="f194" fmla="*/ f138 1 f52"/>
                <a:gd name="f195" fmla="*/ f139 1 f53"/>
                <a:gd name="f196" fmla="*/ f140 1 f52"/>
                <a:gd name="f197" fmla="*/ f141 1 f53"/>
                <a:gd name="f198" fmla="*/ f142 1 f53"/>
                <a:gd name="f199" fmla="*/ f143 1 f53"/>
                <a:gd name="f200" fmla="*/ f144 1 f52"/>
                <a:gd name="f201" fmla="*/ f145 1 f53"/>
                <a:gd name="f202" fmla="*/ f146 1 f53"/>
                <a:gd name="f203" fmla="*/ f147 1 f52"/>
                <a:gd name="f204" fmla="*/ f148 1 f52"/>
                <a:gd name="f205" fmla="*/ f149 1 f53"/>
                <a:gd name="f206" fmla="*/ f150 1 f53"/>
                <a:gd name="f207" fmla="*/ f151 1 f53"/>
                <a:gd name="f208" fmla="*/ f152 1 f52"/>
                <a:gd name="f209" fmla="*/ f153 1 f53"/>
                <a:gd name="f210" fmla="*/ f154 1 f52"/>
                <a:gd name="f211" fmla="*/ f155 1 f53"/>
                <a:gd name="f212" fmla="*/ f156 1 f52"/>
                <a:gd name="f213" fmla="*/ f157 f47 1"/>
                <a:gd name="f214" fmla="*/ f158 f47 1"/>
                <a:gd name="f215" fmla="*/ f160 f48 1"/>
                <a:gd name="f216" fmla="*/ f159 f48 1"/>
                <a:gd name="f217" fmla="*/ f162 f47 1"/>
                <a:gd name="f218" fmla="*/ f163 f48 1"/>
                <a:gd name="f219" fmla="*/ f164 f48 1"/>
                <a:gd name="f220" fmla="*/ f165 f48 1"/>
                <a:gd name="f221" fmla="*/ f166 f47 1"/>
                <a:gd name="f222" fmla="*/ f167 f47 1"/>
                <a:gd name="f223" fmla="*/ f168 f48 1"/>
                <a:gd name="f224" fmla="*/ f169 f47 1"/>
                <a:gd name="f225" fmla="*/ f170 f48 1"/>
                <a:gd name="f226" fmla="*/ f171 f47 1"/>
                <a:gd name="f227" fmla="*/ f172 f48 1"/>
                <a:gd name="f228" fmla="*/ f173 f47 1"/>
                <a:gd name="f229" fmla="*/ f174 f48 1"/>
                <a:gd name="f230" fmla="*/ f175 f47 1"/>
                <a:gd name="f231" fmla="*/ f176 f47 1"/>
                <a:gd name="f232" fmla="*/ f177 f47 1"/>
                <a:gd name="f233" fmla="*/ f178 f48 1"/>
                <a:gd name="f234" fmla="*/ f179 f47 1"/>
                <a:gd name="f235" fmla="*/ f180 f47 1"/>
                <a:gd name="f236" fmla="*/ f181 f48 1"/>
                <a:gd name="f237" fmla="*/ f182 f47 1"/>
                <a:gd name="f238" fmla="*/ f183 f48 1"/>
                <a:gd name="f239" fmla="*/ f184 f47 1"/>
                <a:gd name="f240" fmla="*/ f185 f48 1"/>
                <a:gd name="f241" fmla="*/ f186 f47 1"/>
                <a:gd name="f242" fmla="*/ f187 f48 1"/>
                <a:gd name="f243" fmla="*/ f188 f48 1"/>
                <a:gd name="f244" fmla="*/ f189 f47 1"/>
                <a:gd name="f245" fmla="*/ f190 f47 1"/>
                <a:gd name="f246" fmla="*/ f191 f47 1"/>
                <a:gd name="f247" fmla="*/ f192 f48 1"/>
                <a:gd name="f248" fmla="*/ f193 f47 1"/>
                <a:gd name="f249" fmla="*/ f194 f47 1"/>
                <a:gd name="f250" fmla="*/ f195 f48 1"/>
                <a:gd name="f251" fmla="*/ f196 f47 1"/>
                <a:gd name="f252" fmla="*/ f197 f48 1"/>
                <a:gd name="f253" fmla="*/ f198 f48 1"/>
                <a:gd name="f254" fmla="*/ f199 f48 1"/>
                <a:gd name="f255" fmla="*/ f200 f47 1"/>
                <a:gd name="f256" fmla="*/ f201 f48 1"/>
                <a:gd name="f257" fmla="*/ f202 f48 1"/>
                <a:gd name="f258" fmla="*/ f203 f47 1"/>
                <a:gd name="f259" fmla="*/ f204 f47 1"/>
                <a:gd name="f260" fmla="*/ f205 f48 1"/>
                <a:gd name="f261" fmla="*/ f206 f48 1"/>
                <a:gd name="f262" fmla="*/ f207 f48 1"/>
                <a:gd name="f263" fmla="*/ f208 f47 1"/>
                <a:gd name="f264" fmla="*/ f209 f48 1"/>
                <a:gd name="f265" fmla="*/ f210 f47 1"/>
                <a:gd name="f266" fmla="*/ f211 f48 1"/>
                <a:gd name="f267" fmla="*/ f212 f47 1"/>
              </a:gdLst>
              <a:ahLst/>
              <a:cxnLst>
                <a:cxn ang="3cd4">
                  <a:pos x="hc" y="t"/>
                </a:cxn>
                <a:cxn ang="0">
                  <a:pos x="r" y="vc"/>
                </a:cxn>
                <a:cxn ang="cd4">
                  <a:pos x="hc" y="b"/>
                </a:cxn>
                <a:cxn ang="cd2">
                  <a:pos x="l" y="vc"/>
                </a:cxn>
                <a:cxn ang="f161">
                  <a:pos x="f217" y="f218"/>
                </a:cxn>
                <a:cxn ang="f161">
                  <a:pos x="f217" y="f219"/>
                </a:cxn>
                <a:cxn ang="f161">
                  <a:pos x="f217" y="f220"/>
                </a:cxn>
                <a:cxn ang="f161">
                  <a:pos x="f221" y="f220"/>
                </a:cxn>
                <a:cxn ang="f161">
                  <a:pos x="f222" y="f223"/>
                </a:cxn>
                <a:cxn ang="f161">
                  <a:pos x="f224" y="f225"/>
                </a:cxn>
                <a:cxn ang="f161">
                  <a:pos x="f226" y="f227"/>
                </a:cxn>
                <a:cxn ang="f161">
                  <a:pos x="f228" y="f229"/>
                </a:cxn>
                <a:cxn ang="f161">
                  <a:pos x="f230" y="f229"/>
                </a:cxn>
                <a:cxn ang="f161">
                  <a:pos x="f231" y="f227"/>
                </a:cxn>
                <a:cxn ang="f161">
                  <a:pos x="f232" y="f233"/>
                </a:cxn>
                <a:cxn ang="f161">
                  <a:pos x="f234" y="f225"/>
                </a:cxn>
                <a:cxn ang="f161">
                  <a:pos x="f235" y="f236"/>
                </a:cxn>
                <a:cxn ang="f161">
                  <a:pos x="f237" y="f238"/>
                </a:cxn>
                <a:cxn ang="f161">
                  <a:pos x="f239" y="f240"/>
                </a:cxn>
                <a:cxn ang="f161">
                  <a:pos x="f241" y="f242"/>
                </a:cxn>
                <a:cxn ang="f161">
                  <a:pos x="f228" y="f243"/>
                </a:cxn>
                <a:cxn ang="f161">
                  <a:pos x="f244" y="f242"/>
                </a:cxn>
                <a:cxn ang="f161">
                  <a:pos x="f245" y="f238"/>
                </a:cxn>
                <a:cxn ang="f161">
                  <a:pos x="f246" y="f247"/>
                </a:cxn>
                <a:cxn ang="f161">
                  <a:pos x="f248" y="f233"/>
                </a:cxn>
                <a:cxn ang="f161">
                  <a:pos x="f249" y="f250"/>
                </a:cxn>
                <a:cxn ang="f161">
                  <a:pos x="f251" y="f252"/>
                </a:cxn>
                <a:cxn ang="f161">
                  <a:pos x="f249" y="f253"/>
                </a:cxn>
                <a:cxn ang="f161">
                  <a:pos x="f246" y="f254"/>
                </a:cxn>
                <a:cxn ang="f161">
                  <a:pos x="f255" y="f256"/>
                </a:cxn>
                <a:cxn ang="f161">
                  <a:pos x="f228" y="f257"/>
                </a:cxn>
                <a:cxn ang="f161">
                  <a:pos x="f239" y="f256"/>
                </a:cxn>
                <a:cxn ang="f161">
                  <a:pos x="f258" y="f254"/>
                </a:cxn>
                <a:cxn ang="f161">
                  <a:pos x="f259" y="f253"/>
                </a:cxn>
                <a:cxn ang="f161">
                  <a:pos x="f217" y="f218"/>
                </a:cxn>
                <a:cxn ang="f161">
                  <a:pos x="f234" y="f260"/>
                </a:cxn>
                <a:cxn ang="f161">
                  <a:pos x="f234" y="f261"/>
                </a:cxn>
                <a:cxn ang="f161">
                  <a:pos x="f232" y="f262"/>
                </a:cxn>
                <a:cxn ang="f161">
                  <a:pos x="f263" y="f264"/>
                </a:cxn>
                <a:cxn ang="f161">
                  <a:pos x="f265" y="f266"/>
                </a:cxn>
                <a:cxn ang="f161">
                  <a:pos x="f267" y="f264"/>
                </a:cxn>
                <a:cxn ang="f161">
                  <a:pos x="f255" y="f262"/>
                </a:cxn>
                <a:cxn ang="f161">
                  <a:pos x="f222" y="f261"/>
                </a:cxn>
                <a:cxn ang="f161">
                  <a:pos x="f245" y="f260"/>
                </a:cxn>
                <a:cxn ang="f161">
                  <a:pos x="f234" y="f260"/>
                </a:cxn>
              </a:cxnLst>
              <a:rect l="f213" t="f216" r="f214" b="f215"/>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8"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39" name="Freeform 41">
              <a:extLst>
                <a:ext uri="{FF2B5EF4-FFF2-40B4-BE49-F238E27FC236}">
                  <a16:creationId xmlns:a16="http://schemas.microsoft.com/office/drawing/2014/main" id="{40835084-0789-51F1-24E7-15771F1E7807}"/>
                </a:ext>
              </a:extLst>
            </p:cNvPr>
            <p:cNvSpPr/>
            <p:nvPr/>
          </p:nvSpPr>
          <p:spPr>
            <a:xfrm>
              <a:off x="3770848" y="6088166"/>
              <a:ext cx="81911" cy="101132"/>
            </a:xfrm>
            <a:custGeom>
              <a:avLst/>
              <a:gdLst>
                <a:gd name="f0" fmla="val 10800000"/>
                <a:gd name="f1" fmla="val 5400000"/>
                <a:gd name="f2" fmla="val 180"/>
                <a:gd name="f3" fmla="val w"/>
                <a:gd name="f4" fmla="val h"/>
                <a:gd name="f5" fmla="val 0"/>
                <a:gd name="f6" fmla="val 32"/>
                <a:gd name="f7" fmla="val 40"/>
                <a:gd name="f8" fmla="val 24"/>
                <a:gd name="f9" fmla="val 39"/>
                <a:gd name="f10" fmla="val 35"/>
                <a:gd name="f11" fmla="val 23"/>
                <a:gd name="f12" fmla="val 36"/>
                <a:gd name="f13" fmla="val 37"/>
                <a:gd name="f14" fmla="val 22"/>
                <a:gd name="f15" fmla="val 21"/>
                <a:gd name="f16" fmla="val 38"/>
                <a:gd name="f17" fmla="val 20"/>
                <a:gd name="f18" fmla="val 19"/>
                <a:gd name="f19" fmla="val 18"/>
                <a:gd name="f20" fmla="val 17"/>
                <a:gd name="f21" fmla="val 16"/>
                <a:gd name="f22" fmla="val 15"/>
                <a:gd name="f23" fmla="val 14"/>
                <a:gd name="f24" fmla="val 12"/>
                <a:gd name="f25" fmla="val 11"/>
                <a:gd name="f26" fmla="val 9"/>
                <a:gd name="f27" fmla="val 7"/>
                <a:gd name="f28" fmla="val 6"/>
                <a:gd name="f29" fmla="val 5"/>
                <a:gd name="f30" fmla="val 3"/>
                <a:gd name="f31" fmla="val 2"/>
                <a:gd name="f32" fmla="val 34"/>
                <a:gd name="f33" fmla="val 33"/>
                <a:gd name="f34" fmla="val 1"/>
                <a:gd name="f35" fmla="val 31"/>
                <a:gd name="f36" fmla="val 29"/>
                <a:gd name="f37" fmla="val 27"/>
                <a:gd name="f38" fmla="val 8"/>
                <a:gd name="f39" fmla="val 10"/>
                <a:gd name="f40" fmla="val 13"/>
                <a:gd name="f41" fmla="val 4"/>
                <a:gd name="f42" fmla="val 25"/>
                <a:gd name="f43" fmla="val 26"/>
                <a:gd name="f44" fmla="val 28"/>
                <a:gd name="f45" fmla="val 30"/>
                <a:gd name="f46" fmla="+- 0 0 -90"/>
                <a:gd name="f47" fmla="*/ f3 1 32"/>
                <a:gd name="f48" fmla="*/ f4 1 40"/>
                <a:gd name="f49" fmla="+- f7 0 f5"/>
                <a:gd name="f50" fmla="+- f6 0 f5"/>
                <a:gd name="f51" fmla="*/ f46 f0 1"/>
                <a:gd name="f52" fmla="*/ f50 1 32"/>
                <a:gd name="f53" fmla="*/ f49 1 40"/>
                <a:gd name="f54" fmla="*/ 24 f50 1"/>
                <a:gd name="f55" fmla="*/ 39 f49 1"/>
                <a:gd name="f56" fmla="*/ 35 f49 1"/>
                <a:gd name="f57" fmla="*/ 22 f50 1"/>
                <a:gd name="f58" fmla="*/ 37 f49 1"/>
                <a:gd name="f59" fmla="*/ 20 f50 1"/>
                <a:gd name="f60" fmla="*/ 38 f49 1"/>
                <a:gd name="f61" fmla="*/ 17 f50 1"/>
                <a:gd name="f62" fmla="*/ 14 f50 1"/>
                <a:gd name="f63" fmla="*/ 40 f49 1"/>
                <a:gd name="f64" fmla="*/ 9 f50 1"/>
                <a:gd name="f65" fmla="*/ 5 f50 1"/>
                <a:gd name="f66" fmla="*/ 2 f50 1"/>
                <a:gd name="f67" fmla="*/ 33 f49 1"/>
                <a:gd name="f68" fmla="*/ 0 f50 1"/>
                <a:gd name="f69" fmla="*/ 27 f49 1"/>
                <a:gd name="f70" fmla="*/ 21 f49 1"/>
                <a:gd name="f71" fmla="*/ 17 f49 1"/>
                <a:gd name="f72" fmla="*/ 10 f50 1"/>
                <a:gd name="f73" fmla="*/ 15 f49 1"/>
                <a:gd name="f74" fmla="*/ 16 f50 1"/>
                <a:gd name="f75" fmla="*/ 14 f49 1"/>
                <a:gd name="f76" fmla="*/ 21 f50 1"/>
                <a:gd name="f77" fmla="*/ 16 f49 1"/>
                <a:gd name="f78" fmla="*/ 13 f49 1"/>
                <a:gd name="f79" fmla="*/ 8 f49 1"/>
                <a:gd name="f80" fmla="*/ 6 f49 1"/>
                <a:gd name="f81" fmla="*/ 12 f50 1"/>
                <a:gd name="f82" fmla="*/ 7 f49 1"/>
                <a:gd name="f83" fmla="*/ 7 f50 1"/>
                <a:gd name="f84" fmla="*/ 9 f49 1"/>
                <a:gd name="f85" fmla="*/ 4 f50 1"/>
                <a:gd name="f86" fmla="*/ 3 f49 1"/>
                <a:gd name="f87" fmla="*/ 0 f49 1"/>
                <a:gd name="f88" fmla="*/ 23 f50 1"/>
                <a:gd name="f89" fmla="*/ 28 f50 1"/>
                <a:gd name="f90" fmla="*/ 31 f50 1"/>
                <a:gd name="f91" fmla="*/ 32 f50 1"/>
                <a:gd name="f92" fmla="*/ 12 f49 1"/>
                <a:gd name="f93" fmla="*/ 22 f49 1"/>
                <a:gd name="f94" fmla="*/ 18 f50 1"/>
                <a:gd name="f95" fmla="*/ 8 f50 1"/>
                <a:gd name="f96" fmla="*/ 26 f49 1"/>
                <a:gd name="f97" fmla="*/ 29 f49 1"/>
                <a:gd name="f98" fmla="*/ 31 f49 1"/>
                <a:gd name="f99" fmla="*/ 32 f49 1"/>
                <a:gd name="f100" fmla="*/ 15 f50 1"/>
                <a:gd name="f101" fmla="*/ 30 f49 1"/>
                <a:gd name="f102" fmla="*/ 28 f49 1"/>
                <a:gd name="f103" fmla="*/ f51 1 f2"/>
                <a:gd name="f104" fmla="*/ f54 1 32"/>
                <a:gd name="f105" fmla="*/ f55 1 40"/>
                <a:gd name="f106" fmla="*/ f56 1 40"/>
                <a:gd name="f107" fmla="*/ f57 1 32"/>
                <a:gd name="f108" fmla="*/ f58 1 40"/>
                <a:gd name="f109" fmla="*/ f59 1 32"/>
                <a:gd name="f110" fmla="*/ f60 1 40"/>
                <a:gd name="f111" fmla="*/ f61 1 32"/>
                <a:gd name="f112" fmla="*/ f62 1 32"/>
                <a:gd name="f113" fmla="*/ f63 1 40"/>
                <a:gd name="f114" fmla="*/ f64 1 32"/>
                <a:gd name="f115" fmla="*/ f65 1 32"/>
                <a:gd name="f116" fmla="*/ f66 1 32"/>
                <a:gd name="f117" fmla="*/ f67 1 40"/>
                <a:gd name="f118" fmla="*/ f68 1 32"/>
                <a:gd name="f119" fmla="*/ f69 1 40"/>
                <a:gd name="f120" fmla="*/ f70 1 40"/>
                <a:gd name="f121" fmla="*/ f71 1 40"/>
                <a:gd name="f122" fmla="*/ f72 1 32"/>
                <a:gd name="f123" fmla="*/ f73 1 40"/>
                <a:gd name="f124" fmla="*/ f74 1 32"/>
                <a:gd name="f125" fmla="*/ f75 1 40"/>
                <a:gd name="f126" fmla="*/ f76 1 32"/>
                <a:gd name="f127" fmla="*/ f77 1 40"/>
                <a:gd name="f128" fmla="*/ f78 1 40"/>
                <a:gd name="f129" fmla="*/ f79 1 40"/>
                <a:gd name="f130" fmla="*/ f80 1 40"/>
                <a:gd name="f131" fmla="*/ f81 1 32"/>
                <a:gd name="f132" fmla="*/ f82 1 40"/>
                <a:gd name="f133" fmla="*/ f83 1 32"/>
                <a:gd name="f134" fmla="*/ f84 1 40"/>
                <a:gd name="f135" fmla="*/ f85 1 32"/>
                <a:gd name="f136" fmla="*/ f86 1 40"/>
                <a:gd name="f137" fmla="*/ f87 1 40"/>
                <a:gd name="f138" fmla="*/ f88 1 32"/>
                <a:gd name="f139" fmla="*/ f89 1 32"/>
                <a:gd name="f140" fmla="*/ f90 1 32"/>
                <a:gd name="f141" fmla="*/ f91 1 32"/>
                <a:gd name="f142" fmla="*/ f92 1 40"/>
                <a:gd name="f143" fmla="*/ f93 1 40"/>
                <a:gd name="f144" fmla="*/ f94 1 32"/>
                <a:gd name="f145" fmla="*/ f95 1 32"/>
                <a:gd name="f146" fmla="*/ f96 1 40"/>
                <a:gd name="f147" fmla="*/ f97 1 40"/>
                <a:gd name="f148" fmla="*/ f98 1 40"/>
                <a:gd name="f149" fmla="*/ f99 1 40"/>
                <a:gd name="f150" fmla="*/ f100 1 32"/>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3"/>
                <a:gd name="f165" fmla="*/ f111 1 f52"/>
                <a:gd name="f166" fmla="*/ f112 1 f52"/>
                <a:gd name="f167" fmla="*/ f113 1 f53"/>
                <a:gd name="f168" fmla="*/ f114 1 f52"/>
                <a:gd name="f169" fmla="*/ f115 1 f52"/>
                <a:gd name="f170" fmla="*/ f116 1 f52"/>
                <a:gd name="f171" fmla="*/ f117 1 f53"/>
                <a:gd name="f172" fmla="*/ f118 1 f52"/>
                <a:gd name="f173" fmla="*/ f119 1 f53"/>
                <a:gd name="f174" fmla="*/ f120 1 f53"/>
                <a:gd name="f175" fmla="*/ f121 1 f53"/>
                <a:gd name="f176" fmla="*/ f122 1 f52"/>
                <a:gd name="f177" fmla="*/ f123 1 f53"/>
                <a:gd name="f178" fmla="*/ f124 1 f52"/>
                <a:gd name="f179" fmla="*/ f125 1 f53"/>
                <a:gd name="f180" fmla="*/ f126 1 f52"/>
                <a:gd name="f181" fmla="*/ f127 1 f53"/>
                <a:gd name="f182" fmla="*/ f128 1 f53"/>
                <a:gd name="f183" fmla="*/ f129 1 f53"/>
                <a:gd name="f184" fmla="*/ f130 1 f53"/>
                <a:gd name="f185" fmla="*/ f131 1 f52"/>
                <a:gd name="f186" fmla="*/ f132 1 f53"/>
                <a:gd name="f187" fmla="*/ f133 1 f52"/>
                <a:gd name="f188" fmla="*/ f134 1 f53"/>
                <a:gd name="f189" fmla="*/ f135 1 f52"/>
                <a:gd name="f190" fmla="*/ f136 1 f53"/>
                <a:gd name="f191" fmla="*/ f137 1 f53"/>
                <a:gd name="f192" fmla="*/ f138 1 f52"/>
                <a:gd name="f193" fmla="*/ f139 1 f52"/>
                <a:gd name="f194" fmla="*/ f140 1 f52"/>
                <a:gd name="f195" fmla="*/ f141 1 f52"/>
                <a:gd name="f196" fmla="*/ f142 1 f53"/>
                <a:gd name="f197" fmla="*/ f143 1 f53"/>
                <a:gd name="f198" fmla="*/ f144 1 f52"/>
                <a:gd name="f199" fmla="*/ f145 1 f52"/>
                <a:gd name="f200" fmla="*/ f146 1 f53"/>
                <a:gd name="f201" fmla="*/ f147 1 f53"/>
                <a:gd name="f202" fmla="*/ f148 1 f53"/>
                <a:gd name="f203" fmla="*/ f149 1 f53"/>
                <a:gd name="f204" fmla="*/ f150 1 f52"/>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8 1"/>
                <a:gd name="f218" fmla="*/ f165 f47 1"/>
                <a:gd name="f219" fmla="*/ f166 f47 1"/>
                <a:gd name="f220" fmla="*/ f167 f48 1"/>
                <a:gd name="f221" fmla="*/ f168 f47 1"/>
                <a:gd name="f222" fmla="*/ f169 f47 1"/>
                <a:gd name="f223" fmla="*/ f170 f47 1"/>
                <a:gd name="f224" fmla="*/ f171 f48 1"/>
                <a:gd name="f225" fmla="*/ f172 f47 1"/>
                <a:gd name="f226" fmla="*/ f173 f48 1"/>
                <a:gd name="f227" fmla="*/ f174 f48 1"/>
                <a:gd name="f228" fmla="*/ f175 f48 1"/>
                <a:gd name="f229" fmla="*/ f176 f47 1"/>
                <a:gd name="f230" fmla="*/ f177 f48 1"/>
                <a:gd name="f231" fmla="*/ f178 f47 1"/>
                <a:gd name="f232" fmla="*/ f179 f48 1"/>
                <a:gd name="f233" fmla="*/ f180 f47 1"/>
                <a:gd name="f234" fmla="*/ f181 f48 1"/>
                <a:gd name="f235" fmla="*/ f182 f48 1"/>
                <a:gd name="f236" fmla="*/ f183 f48 1"/>
                <a:gd name="f237" fmla="*/ f184 f48 1"/>
                <a:gd name="f238" fmla="*/ f185 f47 1"/>
                <a:gd name="f239" fmla="*/ f186 f48 1"/>
                <a:gd name="f240" fmla="*/ f187 f47 1"/>
                <a:gd name="f241" fmla="*/ f188 f48 1"/>
                <a:gd name="f242" fmla="*/ f189 f47 1"/>
                <a:gd name="f243" fmla="*/ f190 f48 1"/>
                <a:gd name="f244" fmla="*/ f191 f48 1"/>
                <a:gd name="f245" fmla="*/ f192 f47 1"/>
                <a:gd name="f246" fmla="*/ f193 f47 1"/>
                <a:gd name="f247" fmla="*/ f194 f47 1"/>
                <a:gd name="f248" fmla="*/ f195 f47 1"/>
                <a:gd name="f249" fmla="*/ f196 f48 1"/>
                <a:gd name="f250" fmla="*/ f197 f48 1"/>
                <a:gd name="f251" fmla="*/ f198 f47 1"/>
                <a:gd name="f252" fmla="*/ f199 f47 1"/>
                <a:gd name="f253" fmla="*/ f200 f48 1"/>
                <a:gd name="f254" fmla="*/ f201 f48 1"/>
                <a:gd name="f255" fmla="*/ f202 f48 1"/>
                <a:gd name="f256" fmla="*/ f203 f48 1"/>
                <a:gd name="f257" fmla="*/ f204 f47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7"/>
                </a:cxn>
                <a:cxn ang="f157">
                  <a:pos x="f218" y="f212"/>
                </a:cxn>
                <a:cxn ang="f157">
                  <a:pos x="f219" y="f220"/>
                </a:cxn>
                <a:cxn ang="f157">
                  <a:pos x="f221" y="f212"/>
                </a:cxn>
                <a:cxn ang="f157">
                  <a:pos x="f222" y="f215"/>
                </a:cxn>
                <a:cxn ang="f157">
                  <a:pos x="f223" y="f224"/>
                </a:cxn>
                <a:cxn ang="f157">
                  <a:pos x="f225" y="f226"/>
                </a:cxn>
                <a:cxn ang="f157">
                  <a:pos x="f223" y="f227"/>
                </a:cxn>
                <a:cxn ang="f157">
                  <a:pos x="f222" y="f228"/>
                </a:cxn>
                <a:cxn ang="f157">
                  <a:pos x="f229" y="f230"/>
                </a:cxn>
                <a:cxn ang="f157">
                  <a:pos x="f231" y="f232"/>
                </a:cxn>
                <a:cxn ang="f157">
                  <a:pos x="f233" y="f230"/>
                </a:cxn>
                <a:cxn ang="f157">
                  <a:pos x="f211" y="f234"/>
                </a:cxn>
                <a:cxn ang="f157">
                  <a:pos x="f211" y="f235"/>
                </a:cxn>
                <a:cxn ang="f157">
                  <a:pos x="f214" y="f236"/>
                </a:cxn>
                <a:cxn ang="f157">
                  <a:pos x="f218" y="f237"/>
                </a:cxn>
                <a:cxn ang="f157">
                  <a:pos x="f238" y="f239"/>
                </a:cxn>
                <a:cxn ang="f157">
                  <a:pos x="f240" y="f241"/>
                </a:cxn>
                <a:cxn ang="f157">
                  <a:pos x="f242" y="f243"/>
                </a:cxn>
                <a:cxn ang="f157">
                  <a:pos x="f229" y="f244"/>
                </a:cxn>
                <a:cxn ang="f157">
                  <a:pos x="f218" y="f244"/>
                </a:cxn>
                <a:cxn ang="f157">
                  <a:pos x="f245" y="f244"/>
                </a:cxn>
                <a:cxn ang="f157">
                  <a:pos x="f246" y="f243"/>
                </a:cxn>
                <a:cxn ang="f157">
                  <a:pos x="f247" y="f239"/>
                </a:cxn>
                <a:cxn ang="f157">
                  <a:pos x="f248" y="f249"/>
                </a:cxn>
                <a:cxn ang="f157">
                  <a:pos x="f248" y="f212"/>
                </a:cxn>
                <a:cxn ang="f157">
                  <a:pos x="f211" y="f212"/>
                </a:cxn>
                <a:cxn ang="f157">
                  <a:pos x="f211" y="f250"/>
                </a:cxn>
                <a:cxn ang="f157">
                  <a:pos x="f214" y="f250"/>
                </a:cxn>
                <a:cxn ang="f157">
                  <a:pos x="f233" y="f227"/>
                </a:cxn>
                <a:cxn ang="f157">
                  <a:pos x="f251" y="f227"/>
                </a:cxn>
                <a:cxn ang="f157">
                  <a:pos x="f231" y="f227"/>
                </a:cxn>
                <a:cxn ang="f157">
                  <a:pos x="f229" y="f250"/>
                </a:cxn>
                <a:cxn ang="f157">
                  <a:pos x="f252" y="f253"/>
                </a:cxn>
                <a:cxn ang="f157">
                  <a:pos x="f252" y="f254"/>
                </a:cxn>
                <a:cxn ang="f157">
                  <a:pos x="f229" y="f255"/>
                </a:cxn>
                <a:cxn ang="f157">
                  <a:pos x="f238" y="f256"/>
                </a:cxn>
                <a:cxn ang="f157">
                  <a:pos x="f257" y="f224"/>
                </a:cxn>
                <a:cxn ang="f157">
                  <a:pos x="f251" y="f256"/>
                </a:cxn>
                <a:cxn ang="f157">
                  <a:pos x="f233" y="f255"/>
                </a:cxn>
                <a:cxn ang="f157">
                  <a:pos x="f245" y="f258"/>
                </a:cxn>
                <a:cxn ang="f157">
                  <a:pos x="f211" y="f259"/>
                </a:cxn>
                <a:cxn ang="f157">
                  <a:pos x="f211" y="f250"/>
                </a:cxn>
              </a:cxnLst>
              <a:rect l="f207" t="f210" r="f208" b="f209"/>
              <a:pathLst>
                <a:path w="32" h="40">
                  <a:moveTo>
                    <a:pt x="f8" y="f9"/>
                  </a:moveTo>
                  <a:cubicBezTo>
                    <a:pt x="f8" y="f10"/>
                    <a:pt x="f8" y="f10"/>
                    <a:pt x="f8" y="f10"/>
                  </a:cubicBezTo>
                  <a:cubicBezTo>
                    <a:pt x="f11" y="f12"/>
                    <a:pt x="f11" y="f13"/>
                    <a:pt x="f14" y="f13"/>
                  </a:cubicBezTo>
                  <a:cubicBezTo>
                    <a:pt x="f15" y="f13"/>
                    <a:pt x="f15" y="f16"/>
                    <a:pt x="f17" y="f16"/>
                  </a:cubicBezTo>
                  <a:cubicBezTo>
                    <a:pt x="f18" y="f9"/>
                    <a:pt x="f19" y="f9"/>
                    <a:pt x="f20" y="f9"/>
                  </a:cubicBezTo>
                  <a:cubicBezTo>
                    <a:pt x="f21" y="f9"/>
                    <a:pt x="f22" y="f7"/>
                    <a:pt x="f23" y="f7"/>
                  </a:cubicBezTo>
                  <a:cubicBezTo>
                    <a:pt x="f24" y="f7"/>
                    <a:pt x="f25" y="f9"/>
                    <a:pt x="f26" y="f9"/>
                  </a:cubicBezTo>
                  <a:cubicBezTo>
                    <a:pt x="f27" y="f16"/>
                    <a:pt x="f28" y="f16"/>
                    <a:pt x="f29" y="f13"/>
                  </a:cubicBezTo>
                  <a:cubicBezTo>
                    <a:pt x="f30" y="f12"/>
                    <a:pt x="f31" y="f32"/>
                    <a:pt x="f31" y="f33"/>
                  </a:cubicBezTo>
                  <a:cubicBezTo>
                    <a:pt x="f34" y="f35"/>
                    <a:pt x="f5" y="f36"/>
                    <a:pt x="f5" y="f37"/>
                  </a:cubicBezTo>
                  <a:cubicBezTo>
                    <a:pt x="f5" y="f8"/>
                    <a:pt x="f34" y="f11"/>
                    <a:pt x="f31" y="f15"/>
                  </a:cubicBezTo>
                  <a:cubicBezTo>
                    <a:pt x="f31" y="f17"/>
                    <a:pt x="f30" y="f19"/>
                    <a:pt x="f29" y="f20"/>
                  </a:cubicBezTo>
                  <a:cubicBezTo>
                    <a:pt x="f28" y="f21"/>
                    <a:pt x="f38" y="f22"/>
                    <a:pt x="f39" y="f22"/>
                  </a:cubicBezTo>
                  <a:cubicBezTo>
                    <a:pt x="f24" y="f23"/>
                    <a:pt x="f23" y="f23"/>
                    <a:pt x="f21" y="f23"/>
                  </a:cubicBezTo>
                  <a:cubicBezTo>
                    <a:pt x="f19" y="f23"/>
                    <a:pt x="f18" y="f23"/>
                    <a:pt x="f15" y="f22"/>
                  </a:cubicBezTo>
                  <a:cubicBezTo>
                    <a:pt x="f14" y="f22"/>
                    <a:pt x="f11" y="f22"/>
                    <a:pt x="f8" y="f21"/>
                  </a:cubicBezTo>
                  <a:cubicBezTo>
                    <a:pt x="f8" y="f40"/>
                    <a:pt x="f8" y="f40"/>
                    <a:pt x="f8" y="f40"/>
                  </a:cubicBezTo>
                  <a:cubicBezTo>
                    <a:pt x="f8" y="f25"/>
                    <a:pt x="f8" y="f26"/>
                    <a:pt x="f14" y="f38"/>
                  </a:cubicBezTo>
                  <a:cubicBezTo>
                    <a:pt x="f15" y="f27"/>
                    <a:pt x="f18" y="f28"/>
                    <a:pt x="f20" y="f28"/>
                  </a:cubicBezTo>
                  <a:cubicBezTo>
                    <a:pt x="f22" y="f28"/>
                    <a:pt x="f40" y="f28"/>
                    <a:pt x="f24" y="f27"/>
                  </a:cubicBezTo>
                  <a:cubicBezTo>
                    <a:pt x="f39" y="f27"/>
                    <a:pt x="f26" y="f38"/>
                    <a:pt x="f27" y="f26"/>
                  </a:cubicBezTo>
                  <a:cubicBezTo>
                    <a:pt x="f41" y="f30"/>
                    <a:pt x="f41" y="f30"/>
                    <a:pt x="f41" y="f30"/>
                  </a:cubicBezTo>
                  <a:cubicBezTo>
                    <a:pt x="f28" y="f31"/>
                    <a:pt x="f38" y="f34"/>
                    <a:pt x="f39" y="f5"/>
                  </a:cubicBezTo>
                  <a:cubicBezTo>
                    <a:pt x="f24" y="f5"/>
                    <a:pt x="f22" y="f5"/>
                    <a:pt x="f20" y="f5"/>
                  </a:cubicBezTo>
                  <a:cubicBezTo>
                    <a:pt x="f18" y="f5"/>
                    <a:pt x="f15" y="f5"/>
                    <a:pt x="f11" y="f5"/>
                  </a:cubicBezTo>
                  <a:cubicBezTo>
                    <a:pt x="f42" y="f34"/>
                    <a:pt x="f43" y="f31"/>
                    <a:pt x="f44" y="f30"/>
                  </a:cubicBezTo>
                  <a:cubicBezTo>
                    <a:pt x="f36" y="f41"/>
                    <a:pt x="f45" y="f29"/>
                    <a:pt x="f35" y="f27"/>
                  </a:cubicBezTo>
                  <a:cubicBezTo>
                    <a:pt x="f35" y="f38"/>
                    <a:pt x="f6" y="f39"/>
                    <a:pt x="f6" y="f24"/>
                  </a:cubicBezTo>
                  <a:cubicBezTo>
                    <a:pt x="f6" y="f9"/>
                    <a:pt x="f6" y="f9"/>
                    <a:pt x="f6" y="f9"/>
                  </a:cubicBezTo>
                  <a:lnTo>
                    <a:pt x="f8" y="f9"/>
                  </a:lnTo>
                  <a:close/>
                  <a:moveTo>
                    <a:pt x="f8" y="f14"/>
                  </a:moveTo>
                  <a:cubicBezTo>
                    <a:pt x="f8" y="f14"/>
                    <a:pt x="f11" y="f14"/>
                    <a:pt x="f14" y="f14"/>
                  </a:cubicBezTo>
                  <a:cubicBezTo>
                    <a:pt x="f14" y="f15"/>
                    <a:pt x="f15" y="f15"/>
                    <a:pt x="f15" y="f15"/>
                  </a:cubicBezTo>
                  <a:cubicBezTo>
                    <a:pt x="f17" y="f15"/>
                    <a:pt x="f18" y="f15"/>
                    <a:pt x="f19" y="f15"/>
                  </a:cubicBezTo>
                  <a:cubicBezTo>
                    <a:pt x="f20" y="f15"/>
                    <a:pt x="f20" y="f15"/>
                    <a:pt x="f21" y="f15"/>
                  </a:cubicBezTo>
                  <a:cubicBezTo>
                    <a:pt x="f40" y="f15"/>
                    <a:pt x="f25" y="f15"/>
                    <a:pt x="f39" y="f14"/>
                  </a:cubicBezTo>
                  <a:cubicBezTo>
                    <a:pt x="f38" y="f11"/>
                    <a:pt x="f38" y="f42"/>
                    <a:pt x="f38" y="f43"/>
                  </a:cubicBezTo>
                  <a:cubicBezTo>
                    <a:pt x="f38" y="f44"/>
                    <a:pt x="f38" y="f36"/>
                    <a:pt x="f38" y="f36"/>
                  </a:cubicBezTo>
                  <a:cubicBezTo>
                    <a:pt x="f26" y="f45"/>
                    <a:pt x="f26" y="f35"/>
                    <a:pt x="f39" y="f35"/>
                  </a:cubicBezTo>
                  <a:cubicBezTo>
                    <a:pt x="f39" y="f6"/>
                    <a:pt x="f25" y="f6"/>
                    <a:pt x="f24" y="f6"/>
                  </a:cubicBezTo>
                  <a:cubicBezTo>
                    <a:pt x="f40" y="f33"/>
                    <a:pt x="f23" y="f33"/>
                    <a:pt x="f22" y="f33"/>
                  </a:cubicBezTo>
                  <a:cubicBezTo>
                    <a:pt x="f21" y="f33"/>
                    <a:pt x="f20" y="f33"/>
                    <a:pt x="f19" y="f6"/>
                  </a:cubicBezTo>
                  <a:cubicBezTo>
                    <a:pt x="f18" y="f6"/>
                    <a:pt x="f17" y="f6"/>
                    <a:pt x="f15" y="f35"/>
                  </a:cubicBezTo>
                  <a:cubicBezTo>
                    <a:pt x="f15" y="f35"/>
                    <a:pt x="f14" y="f45"/>
                    <a:pt x="f11" y="f45"/>
                  </a:cubicBezTo>
                  <a:cubicBezTo>
                    <a:pt x="f11" y="f36"/>
                    <a:pt x="f8" y="f44"/>
                    <a:pt x="f8" y="f44"/>
                  </a:cubicBezTo>
                  <a:lnTo>
                    <a:pt x="f8" y="f14"/>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0" name="Freeform 42">
              <a:extLst>
                <a:ext uri="{FF2B5EF4-FFF2-40B4-BE49-F238E27FC236}">
                  <a16:creationId xmlns:a16="http://schemas.microsoft.com/office/drawing/2014/main" id="{7C45895E-7A2A-1719-4448-BC1DBB5230F0}"/>
                </a:ext>
              </a:extLst>
            </p:cNvPr>
            <p:cNvSpPr/>
            <p:nvPr/>
          </p:nvSpPr>
          <p:spPr>
            <a:xfrm>
              <a:off x="3875419" y="6088166"/>
              <a:ext cx="78428" cy="99395"/>
            </a:xfrm>
            <a:custGeom>
              <a:avLst/>
              <a:gdLst>
                <a:gd name="f0" fmla="val 10800000"/>
                <a:gd name="f1" fmla="val 5400000"/>
                <a:gd name="f2" fmla="val 180"/>
                <a:gd name="f3" fmla="val w"/>
                <a:gd name="f4" fmla="val h"/>
                <a:gd name="f5" fmla="val 0"/>
                <a:gd name="f6" fmla="val 31"/>
                <a:gd name="f7" fmla="val 39"/>
                <a:gd name="f8" fmla="val 23"/>
                <a:gd name="f9" fmla="val 17"/>
                <a:gd name="f10" fmla="val 14"/>
                <a:gd name="f11" fmla="val 11"/>
                <a:gd name="f12" fmla="val 22"/>
                <a:gd name="f13" fmla="val 9"/>
                <a:gd name="f14" fmla="val 20"/>
                <a:gd name="f15" fmla="val 7"/>
                <a:gd name="f16" fmla="val 18"/>
                <a:gd name="f17" fmla="val 15"/>
                <a:gd name="f18" fmla="val 13"/>
                <a:gd name="f19" fmla="val 12"/>
                <a:gd name="f20" fmla="val 8"/>
                <a:gd name="f21" fmla="val 10"/>
                <a:gd name="f22" fmla="val 16"/>
                <a:gd name="f23" fmla="val 4"/>
                <a:gd name="f24" fmla="val 3"/>
                <a:gd name="f25" fmla="val 2"/>
                <a:gd name="f26" fmla="val 1"/>
                <a:gd name="f27" fmla="val 25"/>
                <a:gd name="f28" fmla="val 26"/>
                <a:gd name="f29" fmla="val 28"/>
                <a:gd name="f30" fmla="val 29"/>
                <a:gd name="f31" fmla="val 5"/>
                <a:gd name="f32" fmla="val 30"/>
                <a:gd name="f33" fmla="+- 0 0 -90"/>
                <a:gd name="f34" fmla="*/ f3 1 31"/>
                <a:gd name="f35" fmla="*/ f4 1 39"/>
                <a:gd name="f36" fmla="+- f7 0 f5"/>
                <a:gd name="f37" fmla="+- f6 0 f5"/>
                <a:gd name="f38" fmla="*/ f33 f0 1"/>
                <a:gd name="f39" fmla="*/ f37 1 31"/>
                <a:gd name="f40" fmla="*/ f36 1 39"/>
                <a:gd name="f41" fmla="*/ 23 f37 1"/>
                <a:gd name="f42" fmla="*/ 39 f36 1"/>
                <a:gd name="f43" fmla="*/ 17 f36 1"/>
                <a:gd name="f44" fmla="*/ 22 f37 1"/>
                <a:gd name="f45" fmla="*/ 9 f36 1"/>
                <a:gd name="f46" fmla="*/ 15 f37 1"/>
                <a:gd name="f47" fmla="*/ 7 f36 1"/>
                <a:gd name="f48" fmla="*/ 12 f37 1"/>
                <a:gd name="f49" fmla="*/ 10 f37 1"/>
                <a:gd name="f50" fmla="*/ 8 f37 1"/>
                <a:gd name="f51" fmla="*/ 12 f36 1"/>
                <a:gd name="f52" fmla="*/ 16 f36 1"/>
                <a:gd name="f53" fmla="*/ 0 f37 1"/>
                <a:gd name="f54" fmla="*/ 0 f36 1"/>
                <a:gd name="f55" fmla="*/ 4 f36 1"/>
                <a:gd name="f56" fmla="*/ 9 f37 1"/>
                <a:gd name="f57" fmla="*/ 2 f36 1"/>
                <a:gd name="f58" fmla="*/ 1 f36 1"/>
                <a:gd name="f59" fmla="*/ 14 f37 1"/>
                <a:gd name="f60" fmla="*/ 17 f37 1"/>
                <a:gd name="f61" fmla="*/ 28 f37 1"/>
                <a:gd name="f62" fmla="*/ 30 f37 1"/>
                <a:gd name="f63" fmla="*/ 31 f37 1"/>
                <a:gd name="f64" fmla="*/ f38 1 f2"/>
                <a:gd name="f65" fmla="*/ f41 1 31"/>
                <a:gd name="f66" fmla="*/ f42 1 39"/>
                <a:gd name="f67" fmla="*/ f43 1 39"/>
                <a:gd name="f68" fmla="*/ f44 1 31"/>
                <a:gd name="f69" fmla="*/ f45 1 39"/>
                <a:gd name="f70" fmla="*/ f46 1 31"/>
                <a:gd name="f71" fmla="*/ f47 1 39"/>
                <a:gd name="f72" fmla="*/ f48 1 31"/>
                <a:gd name="f73" fmla="*/ f49 1 31"/>
                <a:gd name="f74" fmla="*/ f50 1 31"/>
                <a:gd name="f75" fmla="*/ f51 1 39"/>
                <a:gd name="f76" fmla="*/ f52 1 39"/>
                <a:gd name="f77" fmla="*/ f53 1 31"/>
                <a:gd name="f78" fmla="*/ f54 1 39"/>
                <a:gd name="f79" fmla="*/ f55 1 39"/>
                <a:gd name="f80" fmla="*/ f56 1 31"/>
                <a:gd name="f81" fmla="*/ f57 1 39"/>
                <a:gd name="f82" fmla="*/ f58 1 39"/>
                <a:gd name="f83" fmla="*/ f59 1 31"/>
                <a:gd name="f84" fmla="*/ f60 1 31"/>
                <a:gd name="f85" fmla="*/ f61 1 31"/>
                <a:gd name="f86" fmla="*/ f62 1 31"/>
                <a:gd name="f87" fmla="*/ f63 1 31"/>
                <a:gd name="f88" fmla="*/ 0 1 f39"/>
                <a:gd name="f89" fmla="*/ f6 1 f39"/>
                <a:gd name="f90" fmla="*/ 0 1 f40"/>
                <a:gd name="f91" fmla="*/ f7 1 f40"/>
                <a:gd name="f92" fmla="+- f64 0 f1"/>
                <a:gd name="f93" fmla="*/ f65 1 f39"/>
                <a:gd name="f94" fmla="*/ f66 1 f40"/>
                <a:gd name="f95" fmla="*/ f67 1 f40"/>
                <a:gd name="f96" fmla="*/ f68 1 f39"/>
                <a:gd name="f97" fmla="*/ f69 1 f40"/>
                <a:gd name="f98" fmla="*/ f70 1 f39"/>
                <a:gd name="f99" fmla="*/ f71 1 f40"/>
                <a:gd name="f100" fmla="*/ f72 1 f39"/>
                <a:gd name="f101" fmla="*/ f73 1 f39"/>
                <a:gd name="f102" fmla="*/ f74 1 f39"/>
                <a:gd name="f103" fmla="*/ f75 1 f40"/>
                <a:gd name="f104" fmla="*/ f76 1 f40"/>
                <a:gd name="f105" fmla="*/ f77 1 f39"/>
                <a:gd name="f106" fmla="*/ f78 1 f40"/>
                <a:gd name="f107" fmla="*/ f79 1 f40"/>
                <a:gd name="f108" fmla="*/ f80 1 f39"/>
                <a:gd name="f109" fmla="*/ f81 1 f40"/>
                <a:gd name="f110" fmla="*/ f82 1 f40"/>
                <a:gd name="f111" fmla="*/ f83 1 f39"/>
                <a:gd name="f112" fmla="*/ f84 1 f39"/>
                <a:gd name="f113" fmla="*/ f85 1 f39"/>
                <a:gd name="f114" fmla="*/ f86 1 f39"/>
                <a:gd name="f115" fmla="*/ f87 1 f39"/>
                <a:gd name="f116" fmla="*/ f88 f34 1"/>
                <a:gd name="f117" fmla="*/ f89 f34 1"/>
                <a:gd name="f118" fmla="*/ f91 f35 1"/>
                <a:gd name="f119" fmla="*/ f90 f35 1"/>
                <a:gd name="f120" fmla="*/ f93 f34 1"/>
                <a:gd name="f121" fmla="*/ f94 f35 1"/>
                <a:gd name="f122" fmla="*/ f95 f35 1"/>
                <a:gd name="f123" fmla="*/ f96 f34 1"/>
                <a:gd name="f124" fmla="*/ f97 f35 1"/>
                <a:gd name="f125" fmla="*/ f98 f34 1"/>
                <a:gd name="f126" fmla="*/ f99 f35 1"/>
                <a:gd name="f127" fmla="*/ f100 f34 1"/>
                <a:gd name="f128" fmla="*/ f101 f34 1"/>
                <a:gd name="f129" fmla="*/ f102 f34 1"/>
                <a:gd name="f130" fmla="*/ f103 f35 1"/>
                <a:gd name="f131" fmla="*/ f104 f35 1"/>
                <a:gd name="f132" fmla="*/ f105 f34 1"/>
                <a:gd name="f133" fmla="*/ f106 f35 1"/>
                <a:gd name="f134" fmla="*/ f107 f35 1"/>
                <a:gd name="f135" fmla="*/ f108 f34 1"/>
                <a:gd name="f136" fmla="*/ f109 f35 1"/>
                <a:gd name="f137" fmla="*/ f110 f35 1"/>
                <a:gd name="f138" fmla="*/ f111 f34 1"/>
                <a:gd name="f139" fmla="*/ f112 f34 1"/>
                <a:gd name="f140" fmla="*/ f113 f34 1"/>
                <a:gd name="f141" fmla="*/ f114 f34 1"/>
                <a:gd name="f142" fmla="*/ f115 f34 1"/>
              </a:gdLst>
              <a:ahLst/>
              <a:cxnLst>
                <a:cxn ang="3cd4">
                  <a:pos x="hc" y="t"/>
                </a:cxn>
                <a:cxn ang="0">
                  <a:pos x="r" y="vc"/>
                </a:cxn>
                <a:cxn ang="cd4">
                  <a:pos x="hc" y="b"/>
                </a:cxn>
                <a:cxn ang="cd2">
                  <a:pos x="l" y="vc"/>
                </a:cxn>
                <a:cxn ang="f92">
                  <a:pos x="f120" y="f121"/>
                </a:cxn>
                <a:cxn ang="f92">
                  <a:pos x="f120" y="f122"/>
                </a:cxn>
                <a:cxn ang="f92">
                  <a:pos x="f123" y="f124"/>
                </a:cxn>
                <a:cxn ang="f92">
                  <a:pos x="f125" y="f126"/>
                </a:cxn>
                <a:cxn ang="f92">
                  <a:pos x="f127" y="f126"/>
                </a:cxn>
                <a:cxn ang="f92">
                  <a:pos x="f128" y="f124"/>
                </a:cxn>
                <a:cxn ang="f92">
                  <a:pos x="f129" y="f130"/>
                </a:cxn>
                <a:cxn ang="f92">
                  <a:pos x="f129" y="f131"/>
                </a:cxn>
                <a:cxn ang="f92">
                  <a:pos x="f129" y="f121"/>
                </a:cxn>
                <a:cxn ang="f92">
                  <a:pos x="f132" y="f121"/>
                </a:cxn>
                <a:cxn ang="f92">
                  <a:pos x="f132" y="f133"/>
                </a:cxn>
                <a:cxn ang="f92">
                  <a:pos x="f129" y="f133"/>
                </a:cxn>
                <a:cxn ang="f92">
                  <a:pos x="f129" y="f134"/>
                </a:cxn>
                <a:cxn ang="f92">
                  <a:pos x="f135" y="f136"/>
                </a:cxn>
                <a:cxn ang="f92">
                  <a:pos x="f127" y="f137"/>
                </a:cxn>
                <a:cxn ang="f92">
                  <a:pos x="f138" y="f133"/>
                </a:cxn>
                <a:cxn ang="f92">
                  <a:pos x="f139" y="f133"/>
                </a:cxn>
                <a:cxn ang="f92">
                  <a:pos x="f120" y="f137"/>
                </a:cxn>
                <a:cxn ang="f92">
                  <a:pos x="f140" y="f134"/>
                </a:cxn>
                <a:cxn ang="f92">
                  <a:pos x="f141" y="f124"/>
                </a:cxn>
                <a:cxn ang="f92">
                  <a:pos x="f142" y="f122"/>
                </a:cxn>
                <a:cxn ang="f92">
                  <a:pos x="f142" y="f121"/>
                </a:cxn>
                <a:cxn ang="f92">
                  <a:pos x="f120" y="f121"/>
                </a:cxn>
              </a:cxnLst>
              <a:rect l="f116" t="f119" r="f117" b="f118"/>
              <a:pathLst>
                <a:path w="31" h="39">
                  <a:moveTo>
                    <a:pt x="f8" y="f7"/>
                  </a:moveTo>
                  <a:cubicBezTo>
                    <a:pt x="f8" y="f9"/>
                    <a:pt x="f8" y="f9"/>
                    <a:pt x="f8" y="f9"/>
                  </a:cubicBezTo>
                  <a:cubicBezTo>
                    <a:pt x="f8" y="f10"/>
                    <a:pt x="f8" y="f11"/>
                    <a:pt x="f12" y="f13"/>
                  </a:cubicBezTo>
                  <a:cubicBezTo>
                    <a:pt x="f14" y="f15"/>
                    <a:pt x="f16" y="f15"/>
                    <a:pt x="f17" y="f15"/>
                  </a:cubicBezTo>
                  <a:cubicBezTo>
                    <a:pt x="f10" y="f15"/>
                    <a:pt x="f18" y="f15"/>
                    <a:pt x="f19" y="f15"/>
                  </a:cubicBezTo>
                  <a:cubicBezTo>
                    <a:pt x="f11" y="f20"/>
                    <a:pt x="f21" y="f20"/>
                    <a:pt x="f21" y="f13"/>
                  </a:cubicBezTo>
                  <a:cubicBezTo>
                    <a:pt x="f13" y="f21"/>
                    <a:pt x="f20" y="f11"/>
                    <a:pt x="f20" y="f19"/>
                  </a:cubicBezTo>
                  <a:cubicBezTo>
                    <a:pt x="f20" y="f10"/>
                    <a:pt x="f20" y="f17"/>
                    <a:pt x="f20" y="f22"/>
                  </a:cubicBezTo>
                  <a:cubicBezTo>
                    <a:pt x="f20" y="f7"/>
                    <a:pt x="f20" y="f7"/>
                    <a:pt x="f20" y="f7"/>
                  </a:cubicBezTo>
                  <a:cubicBezTo>
                    <a:pt x="f5" y="f7"/>
                    <a:pt x="f5" y="f7"/>
                    <a:pt x="f5" y="f7"/>
                  </a:cubicBezTo>
                  <a:cubicBezTo>
                    <a:pt x="f5" y="f5"/>
                    <a:pt x="f5" y="f5"/>
                    <a:pt x="f5" y="f5"/>
                  </a:cubicBezTo>
                  <a:cubicBezTo>
                    <a:pt x="f20" y="f5"/>
                    <a:pt x="f20" y="f5"/>
                    <a:pt x="f20" y="f5"/>
                  </a:cubicBezTo>
                  <a:cubicBezTo>
                    <a:pt x="f20" y="f23"/>
                    <a:pt x="f20" y="f23"/>
                    <a:pt x="f20" y="f23"/>
                  </a:cubicBezTo>
                  <a:cubicBezTo>
                    <a:pt x="f20" y="f24"/>
                    <a:pt x="f13" y="f24"/>
                    <a:pt x="f13" y="f25"/>
                  </a:cubicBezTo>
                  <a:cubicBezTo>
                    <a:pt x="f21" y="f25"/>
                    <a:pt x="f11" y="f26"/>
                    <a:pt x="f19" y="f26"/>
                  </a:cubicBezTo>
                  <a:cubicBezTo>
                    <a:pt x="f19" y="f5"/>
                    <a:pt x="f18" y="f5"/>
                    <a:pt x="f10" y="f5"/>
                  </a:cubicBezTo>
                  <a:cubicBezTo>
                    <a:pt x="f17" y="f5"/>
                    <a:pt x="f22" y="f5"/>
                    <a:pt x="f9" y="f5"/>
                  </a:cubicBezTo>
                  <a:cubicBezTo>
                    <a:pt x="f14" y="f5"/>
                    <a:pt x="f12" y="f5"/>
                    <a:pt x="f8" y="f26"/>
                  </a:cubicBezTo>
                  <a:cubicBezTo>
                    <a:pt x="f27" y="f26"/>
                    <a:pt x="f28" y="f25"/>
                    <a:pt x="f29" y="f23"/>
                  </a:cubicBezTo>
                  <a:cubicBezTo>
                    <a:pt x="f30" y="f31"/>
                    <a:pt x="f30" y="f15"/>
                    <a:pt x="f32" y="f13"/>
                  </a:cubicBezTo>
                  <a:cubicBezTo>
                    <a:pt x="f6" y="f11"/>
                    <a:pt x="f6" y="f10"/>
                    <a:pt x="f6" y="f9"/>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1" name="Freeform 43">
              <a:extLst>
                <a:ext uri="{FF2B5EF4-FFF2-40B4-BE49-F238E27FC236}">
                  <a16:creationId xmlns:a16="http://schemas.microsoft.com/office/drawing/2014/main" id="{28FF23B1-8D69-2D8D-C10C-BCC2E556499C}"/>
                </a:ext>
              </a:extLst>
            </p:cNvPr>
            <p:cNvSpPr/>
            <p:nvPr/>
          </p:nvSpPr>
          <p:spPr>
            <a:xfrm>
              <a:off x="3973013" y="6088166"/>
              <a:ext cx="73197" cy="101132"/>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4"/>
                <a:gd name="f11" fmla="val 10"/>
                <a:gd name="f12" fmla="val 23"/>
                <a:gd name="f13" fmla="val 8"/>
                <a:gd name="f14" fmla="val 21"/>
                <a:gd name="f15" fmla="val 20"/>
                <a:gd name="f16" fmla="val 7"/>
                <a:gd name="f17" fmla="val 18"/>
                <a:gd name="f18" fmla="val 16"/>
                <a:gd name="f19" fmla="val 6"/>
                <a:gd name="f20" fmla="val 14"/>
                <a:gd name="f21" fmla="val 12"/>
                <a:gd name="f22" fmla="val 11"/>
                <a:gd name="f23" fmla="val 9"/>
                <a:gd name="f24" fmla="val 13"/>
                <a:gd name="f25" fmla="val 15"/>
                <a:gd name="f26" fmla="val 17"/>
                <a:gd name="f27" fmla="val 22"/>
                <a:gd name="f28" fmla="val 19"/>
                <a:gd name="f29" fmla="val 25"/>
                <a:gd name="f30" fmla="val 26"/>
                <a:gd name="f31" fmla="val 27"/>
                <a:gd name="f32" fmla="val 30"/>
                <a:gd name="f33" fmla="val 32"/>
                <a:gd name="f34" fmla="val 34"/>
                <a:gd name="f35" fmla="val 35"/>
                <a:gd name="f36" fmla="val 36"/>
                <a:gd name="f37" fmla="val 37"/>
                <a:gd name="f38" fmla="val 38"/>
                <a:gd name="f39" fmla="val 39"/>
                <a:gd name="f40" fmla="val 2"/>
                <a:gd name="f41" fmla="val 3"/>
                <a:gd name="f42" fmla="val 5"/>
                <a:gd name="f43" fmla="val 31"/>
                <a:gd name="f44" fmla="val 3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4 f50 1"/>
                <a:gd name="f57" fmla="*/ 10 f49 1"/>
                <a:gd name="f58" fmla="*/ 20 f50 1"/>
                <a:gd name="f59" fmla="*/ 7 f49 1"/>
                <a:gd name="f60" fmla="*/ 14 f50 1"/>
                <a:gd name="f61" fmla="*/ 6 f49 1"/>
                <a:gd name="f62" fmla="*/ 10 f50 1"/>
                <a:gd name="f63" fmla="*/ 9 f50 1"/>
                <a:gd name="f64" fmla="*/ 11 f49 1"/>
                <a:gd name="f65" fmla="*/ 12 f49 1"/>
                <a:gd name="f66" fmla="*/ 13 f50 1"/>
                <a:gd name="f67" fmla="*/ 14 f49 1"/>
                <a:gd name="f68" fmla="*/ 16 f50 1"/>
                <a:gd name="f69" fmla="*/ 15 f49 1"/>
                <a:gd name="f70" fmla="*/ 22 f50 1"/>
                <a:gd name="f71" fmla="*/ 18 f49 1"/>
                <a:gd name="f72" fmla="*/ 26 f50 1"/>
                <a:gd name="f73" fmla="*/ 20 f49 1"/>
                <a:gd name="f74" fmla="*/ 24 f49 1"/>
                <a:gd name="f75" fmla="*/ 29 f50 1"/>
                <a:gd name="f76" fmla="*/ 28 f49 1"/>
                <a:gd name="f77" fmla="*/ 34 f49 1"/>
                <a:gd name="f78" fmla="*/ 25 f50 1"/>
                <a:gd name="f79" fmla="*/ 37 f49 1"/>
                <a:gd name="f80" fmla="*/ 39 f49 1"/>
                <a:gd name="f81" fmla="*/ 15 f50 1"/>
                <a:gd name="f82" fmla="*/ 40 f49 1"/>
                <a:gd name="f83" fmla="*/ 7 f50 1"/>
                <a:gd name="f84" fmla="*/ 38 f49 1"/>
                <a:gd name="f85" fmla="*/ 0 f50 1"/>
                <a:gd name="f86" fmla="*/ 35 f49 1"/>
                <a:gd name="f87" fmla="*/ 3 f50 1"/>
                <a:gd name="f88" fmla="*/ 29 f49 1"/>
                <a:gd name="f89" fmla="*/ 32 f49 1"/>
                <a:gd name="f90" fmla="*/ 33 f49 1"/>
                <a:gd name="f91" fmla="*/ 21 f50 1"/>
                <a:gd name="f92" fmla="*/ 27 f49 1"/>
                <a:gd name="f93" fmla="*/ 19 f50 1"/>
                <a:gd name="f94" fmla="*/ 25 f49 1"/>
                <a:gd name="f95" fmla="*/ 22 f49 1"/>
                <a:gd name="f96" fmla="*/ 4 f50 1"/>
                <a:gd name="f97" fmla="*/ 17 f49 1"/>
                <a:gd name="f98" fmla="*/ 2 f50 1"/>
                <a:gd name="f99" fmla="*/ 1 f50 1"/>
                <a:gd name="f100" fmla="*/ 5 f49 1"/>
                <a:gd name="f101" fmla="*/ 5 f50 1"/>
                <a:gd name="f102" fmla="*/ 2 f49 1"/>
                <a:gd name="f103" fmla="*/ 0 f49 1"/>
                <a:gd name="f104" fmla="*/ 1 f49 1"/>
                <a:gd name="f105" fmla="*/ f51 1 f2"/>
                <a:gd name="f106" fmla="*/ f54 1 29"/>
                <a:gd name="f107" fmla="*/ f55 1 40"/>
                <a:gd name="f108" fmla="*/ f56 1 29"/>
                <a:gd name="f109" fmla="*/ f57 1 40"/>
                <a:gd name="f110" fmla="*/ f58 1 29"/>
                <a:gd name="f111" fmla="*/ f59 1 40"/>
                <a:gd name="f112" fmla="*/ f60 1 29"/>
                <a:gd name="f113" fmla="*/ f61 1 40"/>
                <a:gd name="f114" fmla="*/ f62 1 29"/>
                <a:gd name="f115" fmla="*/ f63 1 29"/>
                <a:gd name="f116" fmla="*/ f64 1 40"/>
                <a:gd name="f117" fmla="*/ f65 1 40"/>
                <a:gd name="f118" fmla="*/ f66 1 29"/>
                <a:gd name="f119" fmla="*/ f67 1 40"/>
                <a:gd name="f120" fmla="*/ f68 1 29"/>
                <a:gd name="f121" fmla="*/ f69 1 40"/>
                <a:gd name="f122" fmla="*/ f70 1 29"/>
                <a:gd name="f123" fmla="*/ f71 1 40"/>
                <a:gd name="f124" fmla="*/ f72 1 29"/>
                <a:gd name="f125" fmla="*/ f73 1 40"/>
                <a:gd name="f126" fmla="*/ f74 1 40"/>
                <a:gd name="f127" fmla="*/ f75 1 29"/>
                <a:gd name="f128" fmla="*/ f76 1 40"/>
                <a:gd name="f129" fmla="*/ f77 1 40"/>
                <a:gd name="f130" fmla="*/ f78 1 29"/>
                <a:gd name="f131" fmla="*/ f79 1 40"/>
                <a:gd name="f132" fmla="*/ f80 1 40"/>
                <a:gd name="f133" fmla="*/ f81 1 29"/>
                <a:gd name="f134" fmla="*/ f82 1 40"/>
                <a:gd name="f135" fmla="*/ f83 1 29"/>
                <a:gd name="f136" fmla="*/ f84 1 40"/>
                <a:gd name="f137" fmla="*/ f85 1 29"/>
                <a:gd name="f138" fmla="*/ f86 1 40"/>
                <a:gd name="f139" fmla="*/ f87 1 29"/>
                <a:gd name="f140" fmla="*/ f88 1 40"/>
                <a:gd name="f141" fmla="*/ f89 1 40"/>
                <a:gd name="f142" fmla="*/ f90 1 40"/>
                <a:gd name="f143" fmla="*/ f91 1 29"/>
                <a:gd name="f144" fmla="*/ f92 1 40"/>
                <a:gd name="f145" fmla="*/ f93 1 29"/>
                <a:gd name="f146" fmla="*/ f94 1 40"/>
                <a:gd name="f147" fmla="*/ f95 1 40"/>
                <a:gd name="f148" fmla="*/ f96 1 29"/>
                <a:gd name="f149" fmla="*/ f97 1 40"/>
                <a:gd name="f150" fmla="*/ f98 1 29"/>
                <a:gd name="f151" fmla="*/ f99 1 29"/>
                <a:gd name="f152" fmla="*/ f100 1 40"/>
                <a:gd name="f153" fmla="*/ f101 1 29"/>
                <a:gd name="f154" fmla="*/ f102 1 40"/>
                <a:gd name="f155" fmla="*/ f103 1 40"/>
                <a:gd name="f156" fmla="*/ f104 1 40"/>
                <a:gd name="f157" fmla="*/ 0 1 f52"/>
                <a:gd name="f158" fmla="*/ f6 1 f52"/>
                <a:gd name="f159" fmla="*/ 0 1 f53"/>
                <a:gd name="f160" fmla="*/ f7 1 f53"/>
                <a:gd name="f161" fmla="+- f105 0 f1"/>
                <a:gd name="f162" fmla="*/ f106 1 f52"/>
                <a:gd name="f163" fmla="*/ f107 1 f53"/>
                <a:gd name="f164" fmla="*/ f108 1 f52"/>
                <a:gd name="f165" fmla="*/ f109 1 f53"/>
                <a:gd name="f166" fmla="*/ f110 1 f52"/>
                <a:gd name="f167" fmla="*/ f111 1 f53"/>
                <a:gd name="f168" fmla="*/ f112 1 f52"/>
                <a:gd name="f169" fmla="*/ f113 1 f53"/>
                <a:gd name="f170" fmla="*/ f114 1 f52"/>
                <a:gd name="f171" fmla="*/ f115 1 f52"/>
                <a:gd name="f172" fmla="*/ f116 1 f53"/>
                <a:gd name="f173" fmla="*/ f117 1 f53"/>
                <a:gd name="f174" fmla="*/ f118 1 f52"/>
                <a:gd name="f175" fmla="*/ f119 1 f53"/>
                <a:gd name="f176" fmla="*/ f120 1 f52"/>
                <a:gd name="f177" fmla="*/ f121 1 f53"/>
                <a:gd name="f178" fmla="*/ f122 1 f52"/>
                <a:gd name="f179" fmla="*/ f123 1 f53"/>
                <a:gd name="f180" fmla="*/ f124 1 f52"/>
                <a:gd name="f181" fmla="*/ f125 1 f53"/>
                <a:gd name="f182" fmla="*/ f126 1 f53"/>
                <a:gd name="f183" fmla="*/ f127 1 f52"/>
                <a:gd name="f184" fmla="*/ f128 1 f53"/>
                <a:gd name="f185" fmla="*/ f129 1 f53"/>
                <a:gd name="f186" fmla="*/ f130 1 f52"/>
                <a:gd name="f187" fmla="*/ f131 1 f53"/>
                <a:gd name="f188" fmla="*/ f132 1 f53"/>
                <a:gd name="f189" fmla="*/ f133 1 f52"/>
                <a:gd name="f190" fmla="*/ f134 1 f53"/>
                <a:gd name="f191" fmla="*/ f135 1 f52"/>
                <a:gd name="f192" fmla="*/ f136 1 f53"/>
                <a:gd name="f193" fmla="*/ f137 1 f52"/>
                <a:gd name="f194" fmla="*/ f138 1 f53"/>
                <a:gd name="f195" fmla="*/ f139 1 f52"/>
                <a:gd name="f196" fmla="*/ f140 1 f53"/>
                <a:gd name="f197" fmla="*/ f141 1 f53"/>
                <a:gd name="f198" fmla="*/ f142 1 f53"/>
                <a:gd name="f199" fmla="*/ f143 1 f52"/>
                <a:gd name="f200" fmla="*/ f144 1 f53"/>
                <a:gd name="f201" fmla="*/ f145 1 f52"/>
                <a:gd name="f202" fmla="*/ f146 1 f53"/>
                <a:gd name="f203" fmla="*/ f147 1 f53"/>
                <a:gd name="f204" fmla="*/ f148 1 f52"/>
                <a:gd name="f205" fmla="*/ f149 1 f53"/>
                <a:gd name="f206" fmla="*/ f150 1 f52"/>
                <a:gd name="f207" fmla="*/ f151 1 f52"/>
                <a:gd name="f208" fmla="*/ f152 1 f53"/>
                <a:gd name="f209" fmla="*/ f153 1 f52"/>
                <a:gd name="f210" fmla="*/ f154 1 f53"/>
                <a:gd name="f211" fmla="*/ f155 1 f53"/>
                <a:gd name="f212" fmla="*/ f156 1 f53"/>
                <a:gd name="f213" fmla="*/ f157 f47 1"/>
                <a:gd name="f214" fmla="*/ f158 f47 1"/>
                <a:gd name="f215" fmla="*/ f160 f48 1"/>
                <a:gd name="f216" fmla="*/ f159 f48 1"/>
                <a:gd name="f217" fmla="*/ f162 f47 1"/>
                <a:gd name="f218" fmla="*/ f163 f48 1"/>
                <a:gd name="f219" fmla="*/ f164 f47 1"/>
                <a:gd name="f220" fmla="*/ f165 f48 1"/>
                <a:gd name="f221" fmla="*/ f166 f47 1"/>
                <a:gd name="f222" fmla="*/ f167 f48 1"/>
                <a:gd name="f223" fmla="*/ f168 f47 1"/>
                <a:gd name="f224" fmla="*/ f169 f48 1"/>
                <a:gd name="f225" fmla="*/ f170 f47 1"/>
                <a:gd name="f226" fmla="*/ f171 f47 1"/>
                <a:gd name="f227" fmla="*/ f172 f48 1"/>
                <a:gd name="f228" fmla="*/ f173 f48 1"/>
                <a:gd name="f229" fmla="*/ f174 f47 1"/>
                <a:gd name="f230" fmla="*/ f175 f48 1"/>
                <a:gd name="f231" fmla="*/ f176 f47 1"/>
                <a:gd name="f232" fmla="*/ f177 f48 1"/>
                <a:gd name="f233" fmla="*/ f178 f47 1"/>
                <a:gd name="f234" fmla="*/ f179 f48 1"/>
                <a:gd name="f235" fmla="*/ f180 f47 1"/>
                <a:gd name="f236" fmla="*/ f181 f48 1"/>
                <a:gd name="f237" fmla="*/ f182 f48 1"/>
                <a:gd name="f238" fmla="*/ f183 f47 1"/>
                <a:gd name="f239" fmla="*/ f184 f48 1"/>
                <a:gd name="f240" fmla="*/ f185 f48 1"/>
                <a:gd name="f241" fmla="*/ f186 f47 1"/>
                <a:gd name="f242" fmla="*/ f187 f48 1"/>
                <a:gd name="f243" fmla="*/ f188 f48 1"/>
                <a:gd name="f244" fmla="*/ f189 f47 1"/>
                <a:gd name="f245" fmla="*/ f190 f48 1"/>
                <a:gd name="f246" fmla="*/ f191 f47 1"/>
                <a:gd name="f247" fmla="*/ f192 f48 1"/>
                <a:gd name="f248" fmla="*/ f193 f47 1"/>
                <a:gd name="f249" fmla="*/ f194 f48 1"/>
                <a:gd name="f250" fmla="*/ f195 f47 1"/>
                <a:gd name="f251" fmla="*/ f196 f48 1"/>
                <a:gd name="f252" fmla="*/ f197 f48 1"/>
                <a:gd name="f253" fmla="*/ f198 f48 1"/>
                <a:gd name="f254" fmla="*/ f199 f47 1"/>
                <a:gd name="f255" fmla="*/ f200 f48 1"/>
                <a:gd name="f256" fmla="*/ f201 f47 1"/>
                <a:gd name="f257" fmla="*/ f202 f48 1"/>
                <a:gd name="f258" fmla="*/ f203 f48 1"/>
                <a:gd name="f259" fmla="*/ f204 f47 1"/>
                <a:gd name="f260" fmla="*/ f205 f48 1"/>
                <a:gd name="f261" fmla="*/ f206 f47 1"/>
                <a:gd name="f262" fmla="*/ f207 f47 1"/>
                <a:gd name="f263" fmla="*/ f208 f48 1"/>
                <a:gd name="f264" fmla="*/ f209 f47 1"/>
                <a:gd name="f265" fmla="*/ f210 f48 1"/>
                <a:gd name="f266" fmla="*/ f211 f48 1"/>
                <a:gd name="f267" fmla="*/ f212 f48 1"/>
              </a:gdLst>
              <a:ahLst/>
              <a:cxnLst>
                <a:cxn ang="3cd4">
                  <a:pos x="hc" y="t"/>
                </a:cxn>
                <a:cxn ang="0">
                  <a:pos x="r" y="vc"/>
                </a:cxn>
                <a:cxn ang="cd4">
                  <a:pos x="hc" y="b"/>
                </a:cxn>
                <a:cxn ang="cd2">
                  <a:pos x="l" y="vc"/>
                </a:cxn>
                <a:cxn ang="f161">
                  <a:pos x="f217" y="f218"/>
                </a:cxn>
                <a:cxn ang="f161">
                  <a:pos x="f219" y="f220"/>
                </a:cxn>
                <a:cxn ang="f161">
                  <a:pos x="f221" y="f222"/>
                </a:cxn>
                <a:cxn ang="f161">
                  <a:pos x="f223" y="f224"/>
                </a:cxn>
                <a:cxn ang="f161">
                  <a:pos x="f225" y="f222"/>
                </a:cxn>
                <a:cxn ang="f161">
                  <a:pos x="f226" y="f220"/>
                </a:cxn>
                <a:cxn ang="f161">
                  <a:pos x="f226" y="f227"/>
                </a:cxn>
                <a:cxn ang="f161">
                  <a:pos x="f225" y="f228"/>
                </a:cxn>
                <a:cxn ang="f161">
                  <a:pos x="f229" y="f230"/>
                </a:cxn>
                <a:cxn ang="f161">
                  <a:pos x="f231" y="f232"/>
                </a:cxn>
                <a:cxn ang="f161">
                  <a:pos x="f233" y="f234"/>
                </a:cxn>
                <a:cxn ang="f161">
                  <a:pos x="f235" y="f236"/>
                </a:cxn>
                <a:cxn ang="f161">
                  <a:pos x="f217" y="f237"/>
                </a:cxn>
                <a:cxn ang="f161">
                  <a:pos x="f238" y="f239"/>
                </a:cxn>
                <a:cxn ang="f161">
                  <a:pos x="f217" y="f240"/>
                </a:cxn>
                <a:cxn ang="f161">
                  <a:pos x="f241" y="f242"/>
                </a:cxn>
                <a:cxn ang="f161">
                  <a:pos x="f221" y="f243"/>
                </a:cxn>
                <a:cxn ang="f161">
                  <a:pos x="f244" y="f245"/>
                </a:cxn>
                <a:cxn ang="f161">
                  <a:pos x="f246" y="f247"/>
                </a:cxn>
                <a:cxn ang="f161">
                  <a:pos x="f248" y="f249"/>
                </a:cxn>
                <a:cxn ang="f161">
                  <a:pos x="f250" y="f251"/>
                </a:cxn>
                <a:cxn ang="f161">
                  <a:pos x="f226" y="f252"/>
                </a:cxn>
                <a:cxn ang="f161">
                  <a:pos x="f244" y="f253"/>
                </a:cxn>
                <a:cxn ang="f161">
                  <a:pos x="f221" y="f252"/>
                </a:cxn>
                <a:cxn ang="f161">
                  <a:pos x="f233" y="f251"/>
                </a:cxn>
                <a:cxn ang="f161">
                  <a:pos x="f254" y="f255"/>
                </a:cxn>
                <a:cxn ang="f161">
                  <a:pos x="f256" y="f257"/>
                </a:cxn>
                <a:cxn ang="f161">
                  <a:pos x="f231" y="f237"/>
                </a:cxn>
                <a:cxn ang="f161">
                  <a:pos x="f229" y="f258"/>
                </a:cxn>
                <a:cxn ang="f161">
                  <a:pos x="f246" y="f236"/>
                </a:cxn>
                <a:cxn ang="f161">
                  <a:pos x="f259" y="f260"/>
                </a:cxn>
                <a:cxn ang="f161">
                  <a:pos x="f261" y="f230"/>
                </a:cxn>
                <a:cxn ang="f161">
                  <a:pos x="f262" y="f220"/>
                </a:cxn>
                <a:cxn ang="f161">
                  <a:pos x="f261" y="f263"/>
                </a:cxn>
                <a:cxn ang="f161">
                  <a:pos x="f264" y="f265"/>
                </a:cxn>
                <a:cxn ang="f161">
                  <a:pos x="f226" y="f266"/>
                </a:cxn>
                <a:cxn ang="f161">
                  <a:pos x="f244" y="f266"/>
                </a:cxn>
                <a:cxn ang="f161">
                  <a:pos x="f233" y="f267"/>
                </a:cxn>
                <a:cxn ang="f161">
                  <a:pos x="f217" y="f218"/>
                </a:cxn>
              </a:cxnLst>
              <a:rect l="f213" t="f216" r="f214" b="f215"/>
              <a:pathLst>
                <a:path w="29" h="40">
                  <a:moveTo>
                    <a:pt x="f8" y="f9"/>
                  </a:moveTo>
                  <a:cubicBezTo>
                    <a:pt x="f10" y="f11"/>
                    <a:pt x="f10" y="f11"/>
                    <a:pt x="f10" y="f11"/>
                  </a:cubicBezTo>
                  <a:cubicBezTo>
                    <a:pt x="f12" y="f13"/>
                    <a:pt x="f14" y="f13"/>
                    <a:pt x="f15" y="f16"/>
                  </a:cubicBezTo>
                  <a:cubicBezTo>
                    <a:pt x="f17" y="f16"/>
                    <a:pt x="f18" y="f19"/>
                    <a:pt x="f20" y="f19"/>
                  </a:cubicBezTo>
                  <a:cubicBezTo>
                    <a:pt x="f21" y="f19"/>
                    <a:pt x="f22" y="f16"/>
                    <a:pt x="f11" y="f16"/>
                  </a:cubicBezTo>
                  <a:cubicBezTo>
                    <a:pt x="f23" y="f13"/>
                    <a:pt x="f23" y="f23"/>
                    <a:pt x="f23" y="f11"/>
                  </a:cubicBezTo>
                  <a:cubicBezTo>
                    <a:pt x="f23" y="f11"/>
                    <a:pt x="f23" y="f22"/>
                    <a:pt x="f23" y="f22"/>
                  </a:cubicBezTo>
                  <a:cubicBezTo>
                    <a:pt x="f11" y="f21"/>
                    <a:pt x="f11" y="f21"/>
                    <a:pt x="f11" y="f21"/>
                  </a:cubicBezTo>
                  <a:cubicBezTo>
                    <a:pt x="f22" y="f24"/>
                    <a:pt x="f21" y="f24"/>
                    <a:pt x="f24" y="f20"/>
                  </a:cubicBezTo>
                  <a:cubicBezTo>
                    <a:pt x="f20" y="f20"/>
                    <a:pt x="f25" y="f25"/>
                    <a:pt x="f18" y="f25"/>
                  </a:cubicBezTo>
                  <a:cubicBezTo>
                    <a:pt x="f17" y="f18"/>
                    <a:pt x="f15" y="f26"/>
                    <a:pt x="f27" y="f17"/>
                  </a:cubicBezTo>
                  <a:cubicBezTo>
                    <a:pt x="f12" y="f28"/>
                    <a:pt x="f29" y="f28"/>
                    <a:pt x="f30" y="f15"/>
                  </a:cubicBezTo>
                  <a:cubicBezTo>
                    <a:pt x="f31" y="f14"/>
                    <a:pt x="f8" y="f27"/>
                    <a:pt x="f8" y="f10"/>
                  </a:cubicBezTo>
                  <a:cubicBezTo>
                    <a:pt x="f6" y="f29"/>
                    <a:pt x="f6" y="f30"/>
                    <a:pt x="f6" y="f8"/>
                  </a:cubicBezTo>
                  <a:cubicBezTo>
                    <a:pt x="f6" y="f32"/>
                    <a:pt x="f6" y="f33"/>
                    <a:pt x="f8" y="f34"/>
                  </a:cubicBezTo>
                  <a:cubicBezTo>
                    <a:pt x="f31" y="f35"/>
                    <a:pt x="f30" y="f36"/>
                    <a:pt x="f29" y="f37"/>
                  </a:cubicBezTo>
                  <a:cubicBezTo>
                    <a:pt x="f12" y="f38"/>
                    <a:pt x="f27" y="f39"/>
                    <a:pt x="f15" y="f39"/>
                  </a:cubicBezTo>
                  <a:cubicBezTo>
                    <a:pt x="f17" y="f39"/>
                    <a:pt x="f26" y="f7"/>
                    <a:pt x="f25" y="f7"/>
                  </a:cubicBezTo>
                  <a:cubicBezTo>
                    <a:pt x="f21" y="f7"/>
                    <a:pt x="f11" y="f39"/>
                    <a:pt x="f16" y="f38"/>
                  </a:cubicBezTo>
                  <a:cubicBezTo>
                    <a:pt x="f9" y="f37"/>
                    <a:pt x="f40" y="f36"/>
                    <a:pt x="f5" y="f35"/>
                  </a:cubicBezTo>
                  <a:cubicBezTo>
                    <a:pt x="f41" y="f6"/>
                    <a:pt x="f41" y="f6"/>
                    <a:pt x="f41" y="f6"/>
                  </a:cubicBezTo>
                  <a:cubicBezTo>
                    <a:pt x="f42" y="f32"/>
                    <a:pt x="f16" y="f43"/>
                    <a:pt x="f23" y="f33"/>
                  </a:cubicBezTo>
                  <a:cubicBezTo>
                    <a:pt x="f22" y="f33"/>
                    <a:pt x="f24" y="f44"/>
                    <a:pt x="f25" y="f44"/>
                  </a:cubicBezTo>
                  <a:cubicBezTo>
                    <a:pt x="f26" y="f44"/>
                    <a:pt x="f28" y="f33"/>
                    <a:pt x="f15" y="f33"/>
                  </a:cubicBezTo>
                  <a:cubicBezTo>
                    <a:pt x="f14" y="f43"/>
                    <a:pt x="f27" y="f32"/>
                    <a:pt x="f27" y="f6"/>
                  </a:cubicBezTo>
                  <a:cubicBezTo>
                    <a:pt x="f27" y="f8"/>
                    <a:pt x="f14" y="f31"/>
                    <a:pt x="f14" y="f31"/>
                  </a:cubicBezTo>
                  <a:cubicBezTo>
                    <a:pt x="f14" y="f30"/>
                    <a:pt x="f15" y="f29"/>
                    <a:pt x="f28" y="f29"/>
                  </a:cubicBezTo>
                  <a:cubicBezTo>
                    <a:pt x="f17" y="f29"/>
                    <a:pt x="f17" y="f10"/>
                    <a:pt x="f18" y="f10"/>
                  </a:cubicBezTo>
                  <a:cubicBezTo>
                    <a:pt x="f25" y="f12"/>
                    <a:pt x="f20" y="f12"/>
                    <a:pt x="f24" y="f27"/>
                  </a:cubicBezTo>
                  <a:cubicBezTo>
                    <a:pt x="f22" y="f14"/>
                    <a:pt x="f23" y="f15"/>
                    <a:pt x="f16" y="f15"/>
                  </a:cubicBezTo>
                  <a:cubicBezTo>
                    <a:pt x="f19" y="f28"/>
                    <a:pt x="f42" y="f17"/>
                    <a:pt x="f9" y="f26"/>
                  </a:cubicBezTo>
                  <a:cubicBezTo>
                    <a:pt x="f41" y="f18"/>
                    <a:pt x="f40" y="f25"/>
                    <a:pt x="f40" y="f20"/>
                  </a:cubicBezTo>
                  <a:cubicBezTo>
                    <a:pt x="f40" y="f24"/>
                    <a:pt x="f45" y="f21"/>
                    <a:pt x="f45" y="f11"/>
                  </a:cubicBezTo>
                  <a:cubicBezTo>
                    <a:pt x="f45" y="f13"/>
                    <a:pt x="f40" y="f16"/>
                    <a:pt x="f40" y="f42"/>
                  </a:cubicBezTo>
                  <a:cubicBezTo>
                    <a:pt x="f41" y="f9"/>
                    <a:pt x="f9" y="f41"/>
                    <a:pt x="f42" y="f40"/>
                  </a:cubicBezTo>
                  <a:cubicBezTo>
                    <a:pt x="f19" y="f45"/>
                    <a:pt x="f13" y="f45"/>
                    <a:pt x="f23" y="f5"/>
                  </a:cubicBezTo>
                  <a:cubicBezTo>
                    <a:pt x="f22" y="f5"/>
                    <a:pt x="f24" y="f5"/>
                    <a:pt x="f25" y="f5"/>
                  </a:cubicBezTo>
                  <a:cubicBezTo>
                    <a:pt x="f26" y="f5"/>
                    <a:pt x="f28" y="f5"/>
                    <a:pt x="f27" y="f45"/>
                  </a:cubicBezTo>
                  <a:cubicBezTo>
                    <a:pt x="f10" y="f40"/>
                    <a:pt x="f30" y="f41"/>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2" name="Freeform 44">
              <a:extLst>
                <a:ext uri="{FF2B5EF4-FFF2-40B4-BE49-F238E27FC236}">
                  <a16:creationId xmlns:a16="http://schemas.microsoft.com/office/drawing/2014/main" id="{45F668C4-74EC-9B93-7D9A-1856C3D7853E}"/>
                </a:ext>
              </a:extLst>
            </p:cNvPr>
            <p:cNvSpPr/>
            <p:nvPr/>
          </p:nvSpPr>
          <p:spPr>
            <a:xfrm>
              <a:off x="4056671" y="6088166"/>
              <a:ext cx="121999" cy="99395"/>
            </a:xfrm>
            <a:custGeom>
              <a:avLst/>
              <a:gdLst>
                <a:gd name="f0" fmla="val 10800000"/>
                <a:gd name="f1" fmla="val 5400000"/>
                <a:gd name="f2" fmla="val 180"/>
                <a:gd name="f3" fmla="val w"/>
                <a:gd name="f4" fmla="val h"/>
                <a:gd name="f5" fmla="val 0"/>
                <a:gd name="f6" fmla="val 70"/>
                <a:gd name="f7" fmla="val 57"/>
                <a:gd name="f8" fmla="val 55"/>
                <a:gd name="f9" fmla="val 45"/>
                <a:gd name="f10" fmla="val 35"/>
                <a:gd name="f11" fmla="val 17"/>
                <a:gd name="f12" fmla="val 25"/>
                <a:gd name="f13" fmla="val 14"/>
                <a:gd name="f14" fmla="val 10"/>
                <a:gd name="f15" fmla="val 20"/>
                <a:gd name="f16" fmla="val 39"/>
                <a:gd name="f17" fmla="val 30"/>
                <a:gd name="f18" fmla="val 49"/>
                <a:gd name="f19" fmla="val 60"/>
                <a:gd name="f20" fmla="+- 0 0 -90"/>
                <a:gd name="f21" fmla="*/ f3 1 70"/>
                <a:gd name="f22" fmla="*/ f4 1 57"/>
                <a:gd name="f23" fmla="+- f7 0 f5"/>
                <a:gd name="f24" fmla="+- f6 0 f5"/>
                <a:gd name="f25" fmla="*/ f20 f0 1"/>
                <a:gd name="f26" fmla="*/ f24 1 70"/>
                <a:gd name="f27" fmla="*/ f23 1 57"/>
                <a:gd name="f28" fmla="*/ 55 f24 1"/>
                <a:gd name="f29" fmla="*/ 57 f23 1"/>
                <a:gd name="f30" fmla="*/ 45 f24 1"/>
                <a:gd name="f31" fmla="*/ 35 f24 1"/>
                <a:gd name="f32" fmla="*/ 17 f23 1"/>
                <a:gd name="f33" fmla="*/ 25 f24 1"/>
                <a:gd name="f34" fmla="*/ 14 f24 1"/>
                <a:gd name="f35" fmla="*/ 0 f24 1"/>
                <a:gd name="f36" fmla="*/ 0 f23 1"/>
                <a:gd name="f37" fmla="*/ 10 f24 1"/>
                <a:gd name="f38" fmla="*/ 20 f24 1"/>
                <a:gd name="f39" fmla="*/ 39 f23 1"/>
                <a:gd name="f40" fmla="*/ 30 f24 1"/>
                <a:gd name="f41" fmla="*/ 39 f24 1"/>
                <a:gd name="f42" fmla="*/ 49 f24 1"/>
                <a:gd name="f43" fmla="*/ 60 f24 1"/>
                <a:gd name="f44" fmla="*/ 70 f24 1"/>
                <a:gd name="f45" fmla="*/ f25 1 f2"/>
                <a:gd name="f46" fmla="*/ f28 1 70"/>
                <a:gd name="f47" fmla="*/ f29 1 57"/>
                <a:gd name="f48" fmla="*/ f30 1 70"/>
                <a:gd name="f49" fmla="*/ f31 1 70"/>
                <a:gd name="f50" fmla="*/ f32 1 57"/>
                <a:gd name="f51" fmla="*/ f33 1 70"/>
                <a:gd name="f52" fmla="*/ f34 1 70"/>
                <a:gd name="f53" fmla="*/ f35 1 70"/>
                <a:gd name="f54" fmla="*/ f36 1 57"/>
                <a:gd name="f55" fmla="*/ f37 1 70"/>
                <a:gd name="f56" fmla="*/ f38 1 70"/>
                <a:gd name="f57" fmla="*/ f39 1 57"/>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7">
                  <a:moveTo>
                    <a:pt x="f8" y="f7"/>
                  </a:moveTo>
                  <a:lnTo>
                    <a:pt x="f9" y="f7"/>
                  </a:lnTo>
                  <a:lnTo>
                    <a:pt x="f10" y="f11"/>
                  </a:lnTo>
                  <a:lnTo>
                    <a:pt x="f12" y="f7"/>
                  </a:lnTo>
                  <a:lnTo>
                    <a:pt x="f13" y="f7"/>
                  </a:lnTo>
                  <a:lnTo>
                    <a:pt x="f5" y="f5"/>
                  </a:lnTo>
                  <a:lnTo>
                    <a:pt x="f14" y="f5"/>
                  </a:lnTo>
                  <a:lnTo>
                    <a:pt x="f15" y="f16"/>
                  </a:lnTo>
                  <a:lnTo>
                    <a:pt x="f17" y="f5"/>
                  </a:lnTo>
                  <a:lnTo>
                    <a:pt x="f16" y="f5"/>
                  </a:lnTo>
                  <a:lnTo>
                    <a:pt x="f18" y="f16"/>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3" name="Freeform 45">
              <a:extLst>
                <a:ext uri="{FF2B5EF4-FFF2-40B4-BE49-F238E27FC236}">
                  <a16:creationId xmlns:a16="http://schemas.microsoft.com/office/drawing/2014/main" id="{59BF450F-DC85-D7E0-393F-F185F45C1E8B}"/>
                </a:ext>
              </a:extLst>
            </p:cNvPr>
            <p:cNvSpPr/>
            <p:nvPr/>
          </p:nvSpPr>
          <p:spPr>
            <a:xfrm>
              <a:off x="4189122" y="6088166"/>
              <a:ext cx="83658" cy="101132"/>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7"/>
                <a:gd name="f13" fmla="val 8"/>
                <a:gd name="f14" fmla="val 24"/>
                <a:gd name="f15" fmla="val 26"/>
                <a:gd name="f16" fmla="val 9"/>
                <a:gd name="f17" fmla="val 27"/>
                <a:gd name="f18" fmla="val 28"/>
                <a:gd name="f19" fmla="val 10"/>
                <a:gd name="f20" fmla="val 29"/>
                <a:gd name="f21" fmla="val 11"/>
                <a:gd name="f22" fmla="val 30"/>
                <a:gd name="f23" fmla="val 12"/>
                <a:gd name="f24" fmla="val 31"/>
                <a:gd name="f25" fmla="val 13"/>
                <a:gd name="f26" fmla="val 32"/>
                <a:gd name="f27" fmla="val 14"/>
                <a:gd name="f28" fmla="val 15"/>
                <a:gd name="f29" fmla="val 16"/>
                <a:gd name="f30" fmla="val 17"/>
                <a:gd name="f31" fmla="val 18"/>
                <a:gd name="f32" fmla="val 23"/>
                <a:gd name="f33" fmla="val 25"/>
                <a:gd name="f34" fmla="val 35"/>
                <a:gd name="f35" fmla="val 36"/>
                <a:gd name="f36" fmla="val 37"/>
                <a:gd name="f37" fmla="val 38"/>
                <a:gd name="f38" fmla="val 39"/>
                <a:gd name="f39" fmla="val 6"/>
                <a:gd name="f40" fmla="val 5"/>
                <a:gd name="f41" fmla="val 34"/>
                <a:gd name="f42" fmla="val 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2 f49 1"/>
                <a:gd name="f58" fmla="*/ 7 f50 1"/>
                <a:gd name="f59" fmla="*/ 9 f50 1"/>
                <a:gd name="f60" fmla="*/ 27 f49 1"/>
                <a:gd name="f61" fmla="*/ 11 f50 1"/>
                <a:gd name="f62" fmla="*/ 30 f49 1"/>
                <a:gd name="f63" fmla="*/ 14 f50 1"/>
                <a:gd name="f64" fmla="*/ 32 f49 1"/>
                <a:gd name="f65" fmla="*/ 17 f50 1"/>
                <a:gd name="f66" fmla="*/ 33 f49 1"/>
                <a:gd name="f67" fmla="*/ 20 f50 1"/>
                <a:gd name="f68" fmla="*/ 22 f50 1"/>
                <a:gd name="f69" fmla="*/ 23 f50 1"/>
                <a:gd name="f70" fmla="*/ 31 f49 1"/>
                <a:gd name="f71" fmla="*/ 25 f50 1"/>
                <a:gd name="f72" fmla="*/ 30 f50 1"/>
                <a:gd name="f73" fmla="*/ 35 f49 1"/>
                <a:gd name="f74" fmla="*/ 27 f50 1"/>
                <a:gd name="f75" fmla="*/ 37 f49 1"/>
                <a:gd name="f76" fmla="*/ 24 f50 1"/>
                <a:gd name="f77" fmla="*/ 38 f49 1"/>
                <a:gd name="f78" fmla="*/ 21 f50 1"/>
                <a:gd name="f79" fmla="*/ 39 f49 1"/>
                <a:gd name="f80" fmla="*/ 40 f49 1"/>
                <a:gd name="f81" fmla="*/ 12 f50 1"/>
                <a:gd name="f82" fmla="*/ 8 f50 1"/>
                <a:gd name="f83" fmla="*/ 5 f50 1"/>
                <a:gd name="f84" fmla="*/ 34 f49 1"/>
                <a:gd name="f85" fmla="*/ 3 f50 1"/>
                <a:gd name="f86" fmla="*/ 1 f50 1"/>
                <a:gd name="f87" fmla="*/ 26 f49 1"/>
                <a:gd name="f88" fmla="*/ 0 f50 1"/>
                <a:gd name="f89" fmla="*/ 20 f49 1"/>
                <a:gd name="f90" fmla="*/ 11 f49 1"/>
                <a:gd name="f91" fmla="*/ 5 f49 1"/>
                <a:gd name="f92" fmla="*/ 10 f50 1"/>
                <a:gd name="f93" fmla="*/ 1 f49 1"/>
                <a:gd name="f94" fmla="*/ 0 f49 1"/>
                <a:gd name="f95" fmla="*/ 29 f50 1"/>
                <a:gd name="f96" fmla="*/ 32 f50 1"/>
                <a:gd name="f97" fmla="*/ 16 f49 1"/>
                <a:gd name="f98" fmla="*/ 12 f49 1"/>
                <a:gd name="f99" fmla="*/ 9 f49 1"/>
                <a:gd name="f100" fmla="*/ 7 f49 1"/>
                <a:gd name="f101" fmla="*/ 16 f50 1"/>
                <a:gd name="f102" fmla="*/ 6 f49 1"/>
                <a:gd name="f103" fmla="*/ 13 f50 1"/>
                <a:gd name="f104" fmla="*/ f51 1 f2"/>
                <a:gd name="f105" fmla="*/ f54 1 33"/>
                <a:gd name="f106" fmla="*/ f55 1 40"/>
                <a:gd name="f107" fmla="*/ f56 1 40"/>
                <a:gd name="f108" fmla="*/ f57 1 40"/>
                <a:gd name="f109" fmla="*/ f58 1 33"/>
                <a:gd name="f110" fmla="*/ f59 1 33"/>
                <a:gd name="f111" fmla="*/ f60 1 40"/>
                <a:gd name="f112" fmla="*/ f61 1 33"/>
                <a:gd name="f113" fmla="*/ f62 1 40"/>
                <a:gd name="f114" fmla="*/ f63 1 33"/>
                <a:gd name="f115" fmla="*/ f64 1 40"/>
                <a:gd name="f116" fmla="*/ f65 1 33"/>
                <a:gd name="f117" fmla="*/ f66 1 40"/>
                <a:gd name="f118" fmla="*/ f67 1 33"/>
                <a:gd name="f119" fmla="*/ f68 1 33"/>
                <a:gd name="f120" fmla="*/ f69 1 33"/>
                <a:gd name="f121" fmla="*/ f70 1 40"/>
                <a:gd name="f122" fmla="*/ f71 1 33"/>
                <a:gd name="f123" fmla="*/ f72 1 33"/>
                <a:gd name="f124" fmla="*/ f73 1 40"/>
                <a:gd name="f125" fmla="*/ f74 1 33"/>
                <a:gd name="f126" fmla="*/ f75 1 40"/>
                <a:gd name="f127" fmla="*/ f76 1 33"/>
                <a:gd name="f128" fmla="*/ f77 1 40"/>
                <a:gd name="f129" fmla="*/ f78 1 33"/>
                <a:gd name="f130" fmla="*/ f79 1 40"/>
                <a:gd name="f131" fmla="*/ f80 1 40"/>
                <a:gd name="f132" fmla="*/ f81 1 33"/>
                <a:gd name="f133" fmla="*/ f82 1 33"/>
                <a:gd name="f134" fmla="*/ f83 1 33"/>
                <a:gd name="f135" fmla="*/ f84 1 40"/>
                <a:gd name="f136" fmla="*/ f85 1 33"/>
                <a:gd name="f137" fmla="*/ f86 1 33"/>
                <a:gd name="f138" fmla="*/ f87 1 40"/>
                <a:gd name="f139" fmla="*/ f88 1 33"/>
                <a:gd name="f140" fmla="*/ f89 1 40"/>
                <a:gd name="f141" fmla="*/ f90 1 40"/>
                <a:gd name="f142" fmla="*/ f91 1 40"/>
                <a:gd name="f143" fmla="*/ f92 1 33"/>
                <a:gd name="f144" fmla="*/ f93 1 40"/>
                <a:gd name="f145" fmla="*/ f94 1 40"/>
                <a:gd name="f146" fmla="*/ f95 1 33"/>
                <a:gd name="f147" fmla="*/ f96 1 33"/>
                <a:gd name="f148" fmla="*/ f97 1 40"/>
                <a:gd name="f149" fmla="*/ f98 1 40"/>
                <a:gd name="f150" fmla="*/ f99 1 40"/>
                <a:gd name="f151" fmla="*/ f100 1 40"/>
                <a:gd name="f152" fmla="*/ f101 1 33"/>
                <a:gd name="f153" fmla="*/ f102 1 40"/>
                <a:gd name="f154" fmla="*/ f103 1 33"/>
                <a:gd name="f155" fmla="*/ 0 1 f52"/>
                <a:gd name="f156" fmla="*/ f6 1 f52"/>
                <a:gd name="f157" fmla="*/ 0 1 f53"/>
                <a:gd name="f158" fmla="*/ f7 1 f53"/>
                <a:gd name="f159" fmla="+- f104 0 f1"/>
                <a:gd name="f160" fmla="*/ f105 1 f52"/>
                <a:gd name="f161" fmla="*/ f106 1 f53"/>
                <a:gd name="f162" fmla="*/ f107 1 f53"/>
                <a:gd name="f163" fmla="*/ f108 1 f53"/>
                <a:gd name="f164" fmla="*/ f109 1 f52"/>
                <a:gd name="f165" fmla="*/ f110 1 f52"/>
                <a:gd name="f166" fmla="*/ f111 1 f53"/>
                <a:gd name="f167" fmla="*/ f112 1 f52"/>
                <a:gd name="f168" fmla="*/ f113 1 f53"/>
                <a:gd name="f169" fmla="*/ f114 1 f52"/>
                <a:gd name="f170" fmla="*/ f115 1 f53"/>
                <a:gd name="f171" fmla="*/ f116 1 f52"/>
                <a:gd name="f172" fmla="*/ f117 1 f53"/>
                <a:gd name="f173" fmla="*/ f118 1 f52"/>
                <a:gd name="f174" fmla="*/ f119 1 f52"/>
                <a:gd name="f175" fmla="*/ f120 1 f52"/>
                <a:gd name="f176" fmla="*/ f121 1 f53"/>
                <a:gd name="f177" fmla="*/ f122 1 f52"/>
                <a:gd name="f178" fmla="*/ f123 1 f52"/>
                <a:gd name="f179" fmla="*/ f124 1 f53"/>
                <a:gd name="f180" fmla="*/ f125 1 f52"/>
                <a:gd name="f181" fmla="*/ f126 1 f53"/>
                <a:gd name="f182" fmla="*/ f127 1 f52"/>
                <a:gd name="f183" fmla="*/ f128 1 f53"/>
                <a:gd name="f184" fmla="*/ f129 1 f52"/>
                <a:gd name="f185" fmla="*/ f130 1 f53"/>
                <a:gd name="f186" fmla="*/ f131 1 f53"/>
                <a:gd name="f187" fmla="*/ f132 1 f52"/>
                <a:gd name="f188" fmla="*/ f133 1 f52"/>
                <a:gd name="f189" fmla="*/ f134 1 f52"/>
                <a:gd name="f190" fmla="*/ f135 1 f53"/>
                <a:gd name="f191" fmla="*/ f136 1 f52"/>
                <a:gd name="f192" fmla="*/ f137 1 f52"/>
                <a:gd name="f193" fmla="*/ f138 1 f53"/>
                <a:gd name="f194" fmla="*/ f139 1 f52"/>
                <a:gd name="f195" fmla="*/ f140 1 f53"/>
                <a:gd name="f196" fmla="*/ f141 1 f53"/>
                <a:gd name="f197" fmla="*/ f142 1 f53"/>
                <a:gd name="f198" fmla="*/ f143 1 f52"/>
                <a:gd name="f199" fmla="*/ f144 1 f53"/>
                <a:gd name="f200" fmla="*/ f145 1 f53"/>
                <a:gd name="f201" fmla="*/ f146 1 f52"/>
                <a:gd name="f202" fmla="*/ f147 1 f52"/>
                <a:gd name="f203" fmla="*/ f148 1 f53"/>
                <a:gd name="f204" fmla="*/ f149 1 f53"/>
                <a:gd name="f205" fmla="*/ f150 1 f53"/>
                <a:gd name="f206" fmla="*/ f151 1 f53"/>
                <a:gd name="f207" fmla="*/ f152 1 f52"/>
                <a:gd name="f208" fmla="*/ f153 1 f53"/>
                <a:gd name="f209" fmla="*/ f154 1 f52"/>
                <a:gd name="f210" fmla="*/ f155 f47 1"/>
                <a:gd name="f211" fmla="*/ f156 f47 1"/>
                <a:gd name="f212" fmla="*/ f158 f48 1"/>
                <a:gd name="f213" fmla="*/ f157 f48 1"/>
                <a:gd name="f214" fmla="*/ f160 f47 1"/>
                <a:gd name="f215" fmla="*/ f161 f48 1"/>
                <a:gd name="f216" fmla="*/ f162 f48 1"/>
                <a:gd name="f217" fmla="*/ f163 f48 1"/>
                <a:gd name="f218" fmla="*/ f164 f47 1"/>
                <a:gd name="f219" fmla="*/ f165 f47 1"/>
                <a:gd name="f220" fmla="*/ f166 f48 1"/>
                <a:gd name="f221" fmla="*/ f167 f47 1"/>
                <a:gd name="f222" fmla="*/ f168 f48 1"/>
                <a:gd name="f223" fmla="*/ f169 f47 1"/>
                <a:gd name="f224" fmla="*/ f170 f48 1"/>
                <a:gd name="f225" fmla="*/ f171 f47 1"/>
                <a:gd name="f226" fmla="*/ f172 f48 1"/>
                <a:gd name="f227" fmla="*/ f173 f47 1"/>
                <a:gd name="f228" fmla="*/ f174 f47 1"/>
                <a:gd name="f229" fmla="*/ f175 f47 1"/>
                <a:gd name="f230" fmla="*/ f176 f48 1"/>
                <a:gd name="f231" fmla="*/ f177 f47 1"/>
                <a:gd name="f232" fmla="*/ f178 f47 1"/>
                <a:gd name="f233" fmla="*/ f179 f48 1"/>
                <a:gd name="f234" fmla="*/ f180 f47 1"/>
                <a:gd name="f235" fmla="*/ f181 f48 1"/>
                <a:gd name="f236" fmla="*/ f182 f47 1"/>
                <a:gd name="f237" fmla="*/ f183 f48 1"/>
                <a:gd name="f238" fmla="*/ f184 f47 1"/>
                <a:gd name="f239" fmla="*/ f185 f48 1"/>
                <a:gd name="f240" fmla="*/ f186 f48 1"/>
                <a:gd name="f241" fmla="*/ f187 f47 1"/>
                <a:gd name="f242" fmla="*/ f188 f47 1"/>
                <a:gd name="f243" fmla="*/ f189 f47 1"/>
                <a:gd name="f244" fmla="*/ f190 f48 1"/>
                <a:gd name="f245" fmla="*/ f191 f47 1"/>
                <a:gd name="f246" fmla="*/ f192 f47 1"/>
                <a:gd name="f247" fmla="*/ f193 f48 1"/>
                <a:gd name="f248" fmla="*/ f194 f47 1"/>
                <a:gd name="f249" fmla="*/ f195 f48 1"/>
                <a:gd name="f250" fmla="*/ f196 f48 1"/>
                <a:gd name="f251" fmla="*/ f197 f48 1"/>
                <a:gd name="f252" fmla="*/ f198 f47 1"/>
                <a:gd name="f253" fmla="*/ f199 f48 1"/>
                <a:gd name="f254" fmla="*/ f200 f48 1"/>
                <a:gd name="f255" fmla="*/ f201 f47 1"/>
                <a:gd name="f256" fmla="*/ f202 f47 1"/>
                <a:gd name="f257" fmla="*/ f203 f48 1"/>
                <a:gd name="f258" fmla="*/ f204 f48 1"/>
                <a:gd name="f259" fmla="*/ f205 f48 1"/>
                <a:gd name="f260" fmla="*/ f206 f48 1"/>
                <a:gd name="f261" fmla="*/ f207 f47 1"/>
                <a:gd name="f262" fmla="*/ f208 f48 1"/>
                <a:gd name="f263" fmla="*/ f209 f47 1"/>
              </a:gdLst>
              <a:ahLst/>
              <a:cxnLst>
                <a:cxn ang="3cd4">
                  <a:pos x="hc" y="t"/>
                </a:cxn>
                <a:cxn ang="0">
                  <a:pos x="r" y="vc"/>
                </a:cxn>
                <a:cxn ang="cd4">
                  <a:pos x="hc" y="b"/>
                </a:cxn>
                <a:cxn ang="cd2">
                  <a:pos x="l" y="vc"/>
                </a:cxn>
                <a:cxn ang="f159">
                  <a:pos x="f214" y="f215"/>
                </a:cxn>
                <a:cxn ang="f159">
                  <a:pos x="f214" y="f216"/>
                </a:cxn>
                <a:cxn ang="f159">
                  <a:pos x="f214" y="f217"/>
                </a:cxn>
                <a:cxn ang="f159">
                  <a:pos x="f218" y="f217"/>
                </a:cxn>
                <a:cxn ang="f159">
                  <a:pos x="f219" y="f220"/>
                </a:cxn>
                <a:cxn ang="f159">
                  <a:pos x="f221" y="f222"/>
                </a:cxn>
                <a:cxn ang="f159">
                  <a:pos x="f223" y="f224"/>
                </a:cxn>
                <a:cxn ang="f159">
                  <a:pos x="f225" y="f226"/>
                </a:cxn>
                <a:cxn ang="f159">
                  <a:pos x="f227" y="f226"/>
                </a:cxn>
                <a:cxn ang="f159">
                  <a:pos x="f228" y="f224"/>
                </a:cxn>
                <a:cxn ang="f159">
                  <a:pos x="f229" y="f230"/>
                </a:cxn>
                <a:cxn ang="f159">
                  <a:pos x="f231" y="f222"/>
                </a:cxn>
                <a:cxn ang="f159">
                  <a:pos x="f232" y="f233"/>
                </a:cxn>
                <a:cxn ang="f159">
                  <a:pos x="f234" y="f235"/>
                </a:cxn>
                <a:cxn ang="f159">
                  <a:pos x="f236" y="f237"/>
                </a:cxn>
                <a:cxn ang="f159">
                  <a:pos x="f238" y="f239"/>
                </a:cxn>
                <a:cxn ang="f159">
                  <a:pos x="f225" y="f240"/>
                </a:cxn>
                <a:cxn ang="f159">
                  <a:pos x="f241" y="f239"/>
                </a:cxn>
                <a:cxn ang="f159">
                  <a:pos x="f242" y="f235"/>
                </a:cxn>
                <a:cxn ang="f159">
                  <a:pos x="f243" y="f244"/>
                </a:cxn>
                <a:cxn ang="f159">
                  <a:pos x="f245" y="f230"/>
                </a:cxn>
                <a:cxn ang="f159">
                  <a:pos x="f246" y="f247"/>
                </a:cxn>
                <a:cxn ang="f159">
                  <a:pos x="f248" y="f249"/>
                </a:cxn>
                <a:cxn ang="f159">
                  <a:pos x="f246" y="f250"/>
                </a:cxn>
                <a:cxn ang="f159">
                  <a:pos x="f243" y="f251"/>
                </a:cxn>
                <a:cxn ang="f159">
                  <a:pos x="f252" y="f253"/>
                </a:cxn>
                <a:cxn ang="f159">
                  <a:pos x="f225" y="f254"/>
                </a:cxn>
                <a:cxn ang="f159">
                  <a:pos x="f236" y="f253"/>
                </a:cxn>
                <a:cxn ang="f159">
                  <a:pos x="f255" y="f251"/>
                </a:cxn>
                <a:cxn ang="f159">
                  <a:pos x="f256" y="f250"/>
                </a:cxn>
                <a:cxn ang="f159">
                  <a:pos x="f214" y="f215"/>
                </a:cxn>
                <a:cxn ang="f159">
                  <a:pos x="f231" y="f257"/>
                </a:cxn>
                <a:cxn ang="f159">
                  <a:pos x="f231" y="f258"/>
                </a:cxn>
                <a:cxn ang="f159">
                  <a:pos x="f229" y="f259"/>
                </a:cxn>
                <a:cxn ang="f159">
                  <a:pos x="f227" y="f260"/>
                </a:cxn>
                <a:cxn ang="f159">
                  <a:pos x="f261" y="f262"/>
                </a:cxn>
                <a:cxn ang="f159">
                  <a:pos x="f263" y="f260"/>
                </a:cxn>
                <a:cxn ang="f159">
                  <a:pos x="f252" y="f259"/>
                </a:cxn>
                <a:cxn ang="f159">
                  <a:pos x="f219" y="f258"/>
                </a:cxn>
                <a:cxn ang="f159">
                  <a:pos x="f242" y="f257"/>
                </a:cxn>
                <a:cxn ang="f159">
                  <a:pos x="f231" y="f257"/>
                </a:cxn>
              </a:cxnLst>
              <a:rect l="f210" t="f213" r="f211" b="f212"/>
              <a:pathLst>
                <a:path w="33" h="40">
                  <a:moveTo>
                    <a:pt x="f6" y="f8"/>
                  </a:moveTo>
                  <a:cubicBezTo>
                    <a:pt x="f6" y="f8"/>
                    <a:pt x="f6" y="f9"/>
                    <a:pt x="f6" y="f10"/>
                  </a:cubicBezTo>
                  <a:cubicBezTo>
                    <a:pt x="f6" y="f10"/>
                    <a:pt x="f6" y="f11"/>
                    <a:pt x="f6" y="f11"/>
                  </a:cubicBezTo>
                  <a:cubicBezTo>
                    <a:pt x="f12" y="f11"/>
                    <a:pt x="f12" y="f11"/>
                    <a:pt x="f12" y="f11"/>
                  </a:cubicBezTo>
                  <a:cubicBezTo>
                    <a:pt x="f13" y="f14"/>
                    <a:pt x="f13" y="f15"/>
                    <a:pt x="f16" y="f17"/>
                  </a:cubicBezTo>
                  <a:cubicBezTo>
                    <a:pt x="f16" y="f18"/>
                    <a:pt x="f19" y="f20"/>
                    <a:pt x="f21" y="f22"/>
                  </a:cubicBezTo>
                  <a:cubicBezTo>
                    <a:pt x="f23" y="f24"/>
                    <a:pt x="f25" y="f26"/>
                    <a:pt x="f27" y="f26"/>
                  </a:cubicBezTo>
                  <a:cubicBezTo>
                    <a:pt x="f28" y="f6"/>
                    <a:pt x="f29" y="f6"/>
                    <a:pt x="f30" y="f6"/>
                  </a:cubicBezTo>
                  <a:cubicBezTo>
                    <a:pt x="f31" y="f6"/>
                    <a:pt x="f8" y="f6"/>
                    <a:pt x="f9" y="f6"/>
                  </a:cubicBezTo>
                  <a:cubicBezTo>
                    <a:pt x="f9" y="f26"/>
                    <a:pt x="f10" y="f26"/>
                    <a:pt x="f11" y="f26"/>
                  </a:cubicBezTo>
                  <a:cubicBezTo>
                    <a:pt x="f11" y="f26"/>
                    <a:pt x="f32" y="f24"/>
                    <a:pt x="f32" y="f24"/>
                  </a:cubicBezTo>
                  <a:cubicBezTo>
                    <a:pt x="f14" y="f24"/>
                    <a:pt x="f33" y="f22"/>
                    <a:pt x="f33" y="f22"/>
                  </a:cubicBezTo>
                  <a:cubicBezTo>
                    <a:pt x="f22" y="f34"/>
                    <a:pt x="f22" y="f34"/>
                    <a:pt x="f22" y="f34"/>
                  </a:cubicBezTo>
                  <a:cubicBezTo>
                    <a:pt x="f20" y="f34"/>
                    <a:pt x="f18" y="f35"/>
                    <a:pt x="f17" y="f36"/>
                  </a:cubicBezTo>
                  <a:cubicBezTo>
                    <a:pt x="f15" y="f36"/>
                    <a:pt x="f33" y="f37"/>
                    <a:pt x="f14" y="f37"/>
                  </a:cubicBezTo>
                  <a:cubicBezTo>
                    <a:pt x="f32" y="f38"/>
                    <a:pt x="f11" y="f38"/>
                    <a:pt x="f10" y="f38"/>
                  </a:cubicBezTo>
                  <a:cubicBezTo>
                    <a:pt x="f9" y="f38"/>
                    <a:pt x="f31" y="f7"/>
                    <a:pt x="f30" y="f7"/>
                  </a:cubicBezTo>
                  <a:cubicBezTo>
                    <a:pt x="f28" y="f7"/>
                    <a:pt x="f25" y="f38"/>
                    <a:pt x="f23" y="f38"/>
                  </a:cubicBezTo>
                  <a:cubicBezTo>
                    <a:pt x="f21" y="f37"/>
                    <a:pt x="f16" y="f37"/>
                    <a:pt x="f13" y="f36"/>
                  </a:cubicBezTo>
                  <a:cubicBezTo>
                    <a:pt x="f12" y="f35"/>
                    <a:pt x="f39" y="f34"/>
                    <a:pt x="f40" y="f41"/>
                  </a:cubicBezTo>
                  <a:cubicBezTo>
                    <a:pt x="f42" y="f41"/>
                    <a:pt x="f43" y="f26"/>
                    <a:pt x="f43" y="f24"/>
                  </a:cubicBezTo>
                  <a:cubicBezTo>
                    <a:pt x="f44" y="f20"/>
                    <a:pt x="f45" y="f18"/>
                    <a:pt x="f45" y="f15"/>
                  </a:cubicBezTo>
                  <a:cubicBezTo>
                    <a:pt x="f5" y="f14"/>
                    <a:pt x="f5" y="f11"/>
                    <a:pt x="f5" y="f9"/>
                  </a:cubicBezTo>
                  <a:cubicBezTo>
                    <a:pt x="f5" y="f29"/>
                    <a:pt x="f5" y="f25"/>
                    <a:pt x="f45" y="f21"/>
                  </a:cubicBezTo>
                  <a:cubicBezTo>
                    <a:pt x="f44" y="f13"/>
                    <a:pt x="f43" y="f39"/>
                    <a:pt x="f40" y="f40"/>
                  </a:cubicBezTo>
                  <a:cubicBezTo>
                    <a:pt x="f39" y="f43"/>
                    <a:pt x="f13" y="f44"/>
                    <a:pt x="f19" y="f45"/>
                  </a:cubicBezTo>
                  <a:cubicBezTo>
                    <a:pt x="f23" y="f5"/>
                    <a:pt x="f27" y="f5"/>
                    <a:pt x="f30" y="f5"/>
                  </a:cubicBezTo>
                  <a:cubicBezTo>
                    <a:pt x="f9" y="f5"/>
                    <a:pt x="f11" y="f5"/>
                    <a:pt x="f14" y="f45"/>
                  </a:cubicBezTo>
                  <a:cubicBezTo>
                    <a:pt x="f15" y="f44"/>
                    <a:pt x="f18" y="f42"/>
                    <a:pt x="f20" y="f40"/>
                  </a:cubicBezTo>
                  <a:cubicBezTo>
                    <a:pt x="f22" y="f12"/>
                    <a:pt x="f24" y="f16"/>
                    <a:pt x="f26" y="f21"/>
                  </a:cubicBezTo>
                  <a:cubicBezTo>
                    <a:pt x="f6" y="f27"/>
                    <a:pt x="f6" y="f29"/>
                    <a:pt x="f6" y="f8"/>
                  </a:cubicBezTo>
                  <a:close/>
                  <a:moveTo>
                    <a:pt x="f33" y="f29"/>
                  </a:moveTo>
                  <a:cubicBezTo>
                    <a:pt x="f33" y="f28"/>
                    <a:pt x="f33" y="f25"/>
                    <a:pt x="f33" y="f23"/>
                  </a:cubicBezTo>
                  <a:cubicBezTo>
                    <a:pt x="f14" y="f21"/>
                    <a:pt x="f14" y="f19"/>
                    <a:pt x="f32" y="f16"/>
                  </a:cubicBezTo>
                  <a:cubicBezTo>
                    <a:pt x="f11" y="f13"/>
                    <a:pt x="f10" y="f13"/>
                    <a:pt x="f9" y="f12"/>
                  </a:cubicBezTo>
                  <a:cubicBezTo>
                    <a:pt x="f8" y="f12"/>
                    <a:pt x="f31" y="f39"/>
                    <a:pt x="f29" y="f39"/>
                  </a:cubicBezTo>
                  <a:cubicBezTo>
                    <a:pt x="f28" y="f39"/>
                    <a:pt x="f27" y="f12"/>
                    <a:pt x="f25" y="f12"/>
                  </a:cubicBezTo>
                  <a:cubicBezTo>
                    <a:pt x="f23" y="f12"/>
                    <a:pt x="f21" y="f13"/>
                    <a:pt x="f19" y="f16"/>
                  </a:cubicBezTo>
                  <a:cubicBezTo>
                    <a:pt x="f19" y="f19"/>
                    <a:pt x="f16" y="f21"/>
                    <a:pt x="f16" y="f23"/>
                  </a:cubicBezTo>
                  <a:cubicBezTo>
                    <a:pt x="f13" y="f25"/>
                    <a:pt x="f13" y="f27"/>
                    <a:pt x="f13" y="f29"/>
                  </a:cubicBezTo>
                  <a:lnTo>
                    <a:pt x="f33"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4" name="Freeform 46">
              <a:extLst>
                <a:ext uri="{FF2B5EF4-FFF2-40B4-BE49-F238E27FC236}">
                  <a16:creationId xmlns:a16="http://schemas.microsoft.com/office/drawing/2014/main" id="{FFC434C6-FC67-D7CA-54F1-1A435DD59617}"/>
                </a:ext>
              </a:extLst>
            </p:cNvPr>
            <p:cNvSpPr/>
            <p:nvPr/>
          </p:nvSpPr>
          <p:spPr>
            <a:xfrm>
              <a:off x="4293693" y="6088166"/>
              <a:ext cx="57515" cy="99395"/>
            </a:xfrm>
            <a:custGeom>
              <a:avLst/>
              <a:gdLst>
                <a:gd name="f0" fmla="val 10800000"/>
                <a:gd name="f1" fmla="val 5400000"/>
                <a:gd name="f2" fmla="val 180"/>
                <a:gd name="f3" fmla="val w"/>
                <a:gd name="f4" fmla="val h"/>
                <a:gd name="f5" fmla="val 0"/>
                <a:gd name="f6" fmla="val 23"/>
                <a:gd name="f7" fmla="val 39"/>
                <a:gd name="f8" fmla="val 21"/>
                <a:gd name="f9" fmla="val 8"/>
                <a:gd name="f10" fmla="val 20"/>
                <a:gd name="f11" fmla="val 19"/>
                <a:gd name="f12" fmla="val 18"/>
                <a:gd name="f13" fmla="val 7"/>
                <a:gd name="f14" fmla="val 17"/>
                <a:gd name="f15" fmla="val 16"/>
                <a:gd name="f16" fmla="val 15"/>
                <a:gd name="f17" fmla="val 13"/>
                <a:gd name="f18" fmla="val 11"/>
                <a:gd name="f19" fmla="val 10"/>
                <a:gd name="f20" fmla="val 9"/>
                <a:gd name="f21" fmla="val 14"/>
                <a:gd name="f22" fmla="val 4"/>
                <a:gd name="f23" fmla="val 3"/>
                <a:gd name="f24" fmla="val 2"/>
                <a:gd name="f25" fmla="val 1"/>
                <a:gd name="f26" fmla="val 12"/>
                <a:gd name="f27" fmla="val 22"/>
                <a:gd name="f28" fmla="+- 0 0 -90"/>
                <a:gd name="f29" fmla="*/ f3 1 23"/>
                <a:gd name="f30" fmla="*/ f4 1 39"/>
                <a:gd name="f31" fmla="+- f7 0 f5"/>
                <a:gd name="f32" fmla="+- f6 0 f5"/>
                <a:gd name="f33" fmla="*/ f28 f0 1"/>
                <a:gd name="f34" fmla="*/ f32 1 23"/>
                <a:gd name="f35" fmla="*/ f31 1 39"/>
                <a:gd name="f36" fmla="*/ 21 f32 1"/>
                <a:gd name="f37" fmla="*/ 8 f31 1"/>
                <a:gd name="f38" fmla="*/ 18 f32 1"/>
                <a:gd name="f39" fmla="*/ 7 f31 1"/>
                <a:gd name="f40" fmla="*/ 15 f32 1"/>
                <a:gd name="f41" fmla="*/ 10 f32 1"/>
                <a:gd name="f42" fmla="*/ 9 f31 1"/>
                <a:gd name="f43" fmla="*/ 8 f32 1"/>
                <a:gd name="f44" fmla="*/ 17 f31 1"/>
                <a:gd name="f45" fmla="*/ 39 f31 1"/>
                <a:gd name="f46" fmla="*/ 0 f32 1"/>
                <a:gd name="f47" fmla="*/ 0 f31 1"/>
                <a:gd name="f48" fmla="*/ 4 f31 1"/>
                <a:gd name="f49" fmla="*/ 9 f32 1"/>
                <a:gd name="f50" fmla="*/ 2 f31 1"/>
                <a:gd name="f51" fmla="*/ 11 f32 1"/>
                <a:gd name="f52" fmla="*/ 1 f31 1"/>
                <a:gd name="f53" fmla="*/ 14 f32 1"/>
                <a:gd name="f54" fmla="*/ 16 f32 1"/>
                <a:gd name="f55" fmla="*/ 20 f32 1"/>
                <a:gd name="f56" fmla="*/ 23 f32 1"/>
                <a:gd name="f57" fmla="*/ f33 1 f2"/>
                <a:gd name="f58" fmla="*/ f36 1 23"/>
                <a:gd name="f59" fmla="*/ f37 1 39"/>
                <a:gd name="f60" fmla="*/ f38 1 23"/>
                <a:gd name="f61" fmla="*/ f39 1 39"/>
                <a:gd name="f62" fmla="*/ f40 1 23"/>
                <a:gd name="f63" fmla="*/ f41 1 23"/>
                <a:gd name="f64" fmla="*/ f42 1 39"/>
                <a:gd name="f65" fmla="*/ f43 1 23"/>
                <a:gd name="f66" fmla="*/ f44 1 39"/>
                <a:gd name="f67" fmla="*/ f45 1 39"/>
                <a:gd name="f68" fmla="*/ f46 1 23"/>
                <a:gd name="f69" fmla="*/ f47 1 39"/>
                <a:gd name="f70" fmla="*/ f48 1 39"/>
                <a:gd name="f71" fmla="*/ f49 1 23"/>
                <a:gd name="f72" fmla="*/ f50 1 39"/>
                <a:gd name="f73" fmla="*/ f51 1 23"/>
                <a:gd name="f74" fmla="*/ f52 1 39"/>
                <a:gd name="f75" fmla="*/ f53 1 23"/>
                <a:gd name="f76" fmla="*/ f54 1 23"/>
                <a:gd name="f77" fmla="*/ f55 1 23"/>
                <a:gd name="f78" fmla="*/ f56 1 23"/>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4"/>
                <a:gd name="f90" fmla="*/ f64 1 f35"/>
                <a:gd name="f91" fmla="*/ f65 1 f34"/>
                <a:gd name="f92" fmla="*/ f66 1 f35"/>
                <a:gd name="f93" fmla="*/ f67 1 f35"/>
                <a:gd name="f94" fmla="*/ f68 1 f34"/>
                <a:gd name="f95" fmla="*/ f69 1 f35"/>
                <a:gd name="f96" fmla="*/ f70 1 f35"/>
                <a:gd name="f97" fmla="*/ f71 1 f34"/>
                <a:gd name="f98" fmla="*/ f72 1 f35"/>
                <a:gd name="f99" fmla="*/ f73 1 f34"/>
                <a:gd name="f100" fmla="*/ f74 1 f35"/>
                <a:gd name="f101" fmla="*/ f75 1 f34"/>
                <a:gd name="f102" fmla="*/ f76 1 f34"/>
                <a:gd name="f103" fmla="*/ f77 1 f34"/>
                <a:gd name="f104" fmla="*/ f78 1 f34"/>
                <a:gd name="f105" fmla="*/ f79 f29 1"/>
                <a:gd name="f106" fmla="*/ f80 f29 1"/>
                <a:gd name="f107" fmla="*/ f82 f30 1"/>
                <a:gd name="f108" fmla="*/ f81 f30 1"/>
                <a:gd name="f109" fmla="*/ f84 f29 1"/>
                <a:gd name="f110" fmla="*/ f85 f30 1"/>
                <a:gd name="f111" fmla="*/ f86 f29 1"/>
                <a:gd name="f112" fmla="*/ f87 f30 1"/>
                <a:gd name="f113" fmla="*/ f88 f29 1"/>
                <a:gd name="f114" fmla="*/ f89 f29 1"/>
                <a:gd name="f115" fmla="*/ f90 f30 1"/>
                <a:gd name="f116" fmla="*/ f91 f29 1"/>
                <a:gd name="f117" fmla="*/ f92 f30 1"/>
                <a:gd name="f118" fmla="*/ f93 f30 1"/>
                <a:gd name="f119" fmla="*/ f94 f29 1"/>
                <a:gd name="f120" fmla="*/ f95 f30 1"/>
                <a:gd name="f121" fmla="*/ f96 f30 1"/>
                <a:gd name="f122" fmla="*/ f97 f29 1"/>
                <a:gd name="f123" fmla="*/ f98 f30 1"/>
                <a:gd name="f124" fmla="*/ f99 f29 1"/>
                <a:gd name="f125" fmla="*/ f100 f30 1"/>
                <a:gd name="f126" fmla="*/ f101 f29 1"/>
                <a:gd name="f127" fmla="*/ f102 f29 1"/>
                <a:gd name="f128" fmla="*/ f103 f29 1"/>
                <a:gd name="f129" fmla="*/ f104 f29 1"/>
              </a:gdLst>
              <a:ahLst/>
              <a:cxnLst>
                <a:cxn ang="3cd4">
                  <a:pos x="hc" y="t"/>
                </a:cxn>
                <a:cxn ang="0">
                  <a:pos x="r" y="vc"/>
                </a:cxn>
                <a:cxn ang="cd4">
                  <a:pos x="hc" y="b"/>
                </a:cxn>
                <a:cxn ang="cd2">
                  <a:pos x="l" y="vc"/>
                </a:cxn>
                <a:cxn ang="f83">
                  <a:pos x="f109" y="f110"/>
                </a:cxn>
                <a:cxn ang="f83">
                  <a:pos x="f111" y="f112"/>
                </a:cxn>
                <a:cxn ang="f83">
                  <a:pos x="f113" y="f112"/>
                </a:cxn>
                <a:cxn ang="f83">
                  <a:pos x="f114" y="f115"/>
                </a:cxn>
                <a:cxn ang="f83">
                  <a:pos x="f116" y="f117"/>
                </a:cxn>
                <a:cxn ang="f83">
                  <a:pos x="f116" y="f118"/>
                </a:cxn>
                <a:cxn ang="f83">
                  <a:pos x="f119" y="f118"/>
                </a:cxn>
                <a:cxn ang="f83">
                  <a:pos x="f119" y="f120"/>
                </a:cxn>
                <a:cxn ang="f83">
                  <a:pos x="f116" y="f120"/>
                </a:cxn>
                <a:cxn ang="f83">
                  <a:pos x="f116" y="f121"/>
                </a:cxn>
                <a:cxn ang="f83">
                  <a:pos x="f122" y="f123"/>
                </a:cxn>
                <a:cxn ang="f83">
                  <a:pos x="f124" y="f125"/>
                </a:cxn>
                <a:cxn ang="f83">
                  <a:pos x="f126" y="f120"/>
                </a:cxn>
                <a:cxn ang="f83">
                  <a:pos x="f127" y="f120"/>
                </a:cxn>
                <a:cxn ang="f83">
                  <a:pos x="f128" y="f120"/>
                </a:cxn>
                <a:cxn ang="f83">
                  <a:pos x="f129" y="f125"/>
                </a:cxn>
                <a:cxn ang="f83">
                  <a:pos x="f109" y="f110"/>
                </a:cxn>
              </a:cxnLst>
              <a:rect l="f105" t="f108" r="f106" b="f107"/>
              <a:pathLst>
                <a:path w="23" h="39">
                  <a:moveTo>
                    <a:pt x="f8" y="f9"/>
                  </a:moveTo>
                  <a:cubicBezTo>
                    <a:pt x="f10" y="f9"/>
                    <a:pt x="f11" y="f9"/>
                    <a:pt x="f12" y="f13"/>
                  </a:cubicBezTo>
                  <a:cubicBezTo>
                    <a:pt x="f14" y="f13"/>
                    <a:pt x="f15" y="f13"/>
                    <a:pt x="f16" y="f13"/>
                  </a:cubicBezTo>
                  <a:cubicBezTo>
                    <a:pt x="f17" y="f13"/>
                    <a:pt x="f18" y="f9"/>
                    <a:pt x="f19" y="f20"/>
                  </a:cubicBezTo>
                  <a:cubicBezTo>
                    <a:pt x="f9" y="f18"/>
                    <a:pt x="f9" y="f21"/>
                    <a:pt x="f9" y="f14"/>
                  </a:cubicBezTo>
                  <a:cubicBezTo>
                    <a:pt x="f9" y="f7"/>
                    <a:pt x="f9" y="f7"/>
                    <a:pt x="f9" y="f7"/>
                  </a:cubicBezTo>
                  <a:cubicBezTo>
                    <a:pt x="f5" y="f7"/>
                    <a:pt x="f5" y="f7"/>
                    <a:pt x="f5" y="f7"/>
                  </a:cubicBezTo>
                  <a:cubicBezTo>
                    <a:pt x="f5" y="f5"/>
                    <a:pt x="f5" y="f5"/>
                    <a:pt x="f5" y="f5"/>
                  </a:cubicBezTo>
                  <a:cubicBezTo>
                    <a:pt x="f9" y="f5"/>
                    <a:pt x="f9" y="f5"/>
                    <a:pt x="f9" y="f5"/>
                  </a:cubicBezTo>
                  <a:cubicBezTo>
                    <a:pt x="f9" y="f22"/>
                    <a:pt x="f9" y="f22"/>
                    <a:pt x="f9" y="f22"/>
                  </a:cubicBezTo>
                  <a:cubicBezTo>
                    <a:pt x="f9" y="f23"/>
                    <a:pt x="f20" y="f23"/>
                    <a:pt x="f20" y="f24"/>
                  </a:cubicBezTo>
                  <a:cubicBezTo>
                    <a:pt x="f19" y="f24"/>
                    <a:pt x="f19" y="f25"/>
                    <a:pt x="f18" y="f25"/>
                  </a:cubicBezTo>
                  <a:cubicBezTo>
                    <a:pt x="f26" y="f5"/>
                    <a:pt x="f17" y="f5"/>
                    <a:pt x="f21" y="f5"/>
                  </a:cubicBezTo>
                  <a:cubicBezTo>
                    <a:pt x="f21" y="f5"/>
                    <a:pt x="f16" y="f5"/>
                    <a:pt x="f15" y="f5"/>
                  </a:cubicBezTo>
                  <a:cubicBezTo>
                    <a:pt x="f12" y="f5"/>
                    <a:pt x="f11" y="f5"/>
                    <a:pt x="f10" y="f5"/>
                  </a:cubicBezTo>
                  <a:cubicBezTo>
                    <a:pt x="f8" y="f5"/>
                    <a:pt x="f27" y="f25"/>
                    <a:pt x="f6" y="f25"/>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5" name="Freeform 47">
              <a:extLst>
                <a:ext uri="{FF2B5EF4-FFF2-40B4-BE49-F238E27FC236}">
                  <a16:creationId xmlns:a16="http://schemas.microsoft.com/office/drawing/2014/main" id="{F1C2A97B-361A-8803-9FAD-E2F641969E2F}"/>
                </a:ext>
              </a:extLst>
            </p:cNvPr>
            <p:cNvSpPr/>
            <p:nvPr/>
          </p:nvSpPr>
          <p:spPr>
            <a:xfrm>
              <a:off x="4344232" y="6159663"/>
              <a:ext cx="29626" cy="29644"/>
            </a:xfrm>
            <a:custGeom>
              <a:avLst/>
              <a:gdLst>
                <a:gd name="f0" fmla="val 10800000"/>
                <a:gd name="f1" fmla="val 5400000"/>
                <a:gd name="f2" fmla="val 180"/>
                <a:gd name="f3" fmla="val w"/>
                <a:gd name="f4" fmla="val h"/>
                <a:gd name="f5" fmla="val 0"/>
                <a:gd name="f6" fmla="val 12"/>
                <a:gd name="f7" fmla="val 6"/>
                <a:gd name="f8" fmla="val 7"/>
                <a:gd name="f9" fmla="val 11"/>
                <a:gd name="f10" fmla="val 8"/>
                <a:gd name="f11" fmla="val 9"/>
                <a:gd name="f12" fmla="val 10"/>
                <a:gd name="f13" fmla="val 5"/>
                <a:gd name="f14" fmla="val 4"/>
                <a:gd name="f15" fmla="val 3"/>
                <a:gd name="f16" fmla="val 2"/>
                <a:gd name="f17" fmla="val 1"/>
                <a:gd name="f18" fmla="+- 0 0 -90"/>
                <a:gd name="f19" fmla="*/ f3 1 12"/>
                <a:gd name="f20" fmla="*/ f4 1 12"/>
                <a:gd name="f21" fmla="+- f6 0 f5"/>
                <a:gd name="f22" fmla="*/ f18 f0 1"/>
                <a:gd name="f23" fmla="*/ f21 1 12"/>
                <a:gd name="f24" fmla="*/ 12 f21 1"/>
                <a:gd name="f25" fmla="*/ 6 f21 1"/>
                <a:gd name="f26" fmla="*/ 11 f21 1"/>
                <a:gd name="f27" fmla="*/ 8 f21 1"/>
                <a:gd name="f28" fmla="*/ 10 f21 1"/>
                <a:gd name="f29" fmla="*/ 3 f21 1"/>
                <a:gd name="f30" fmla="*/ 2 f21 1"/>
                <a:gd name="f31" fmla="*/ 0 f21 1"/>
                <a:gd name="f32" fmla="*/ 4 f21 1"/>
                <a:gd name="f33" fmla="*/ f22 1 f2"/>
                <a:gd name="f34" fmla="*/ f24 1 12"/>
                <a:gd name="f35" fmla="*/ f25 1 12"/>
                <a:gd name="f36" fmla="*/ f26 1 12"/>
                <a:gd name="f37" fmla="*/ f27 1 12"/>
                <a:gd name="f38" fmla="*/ f28 1 12"/>
                <a:gd name="f39" fmla="*/ f29 1 12"/>
                <a:gd name="f40" fmla="*/ f30 1 12"/>
                <a:gd name="f41" fmla="*/ f31 1 12"/>
                <a:gd name="f42" fmla="*/ f32 1 12"/>
                <a:gd name="f43" fmla="*/ 0 1 f23"/>
                <a:gd name="f44" fmla="*/ f6 1 f23"/>
                <a:gd name="f45" fmla="+- f33 0 f1"/>
                <a:gd name="f46" fmla="*/ f34 1 f23"/>
                <a:gd name="f47" fmla="*/ f35 1 f23"/>
                <a:gd name="f48" fmla="*/ f36 1 f23"/>
                <a:gd name="f49" fmla="*/ f37 1 f23"/>
                <a:gd name="f50" fmla="*/ f38 1 f23"/>
                <a:gd name="f51" fmla="*/ f39 1 f23"/>
                <a:gd name="f52" fmla="*/ f40 1 f23"/>
                <a:gd name="f53" fmla="*/ f41 1 f23"/>
                <a:gd name="f54" fmla="*/ f42 1 f23"/>
                <a:gd name="f55" fmla="*/ f43 f19 1"/>
                <a:gd name="f56" fmla="*/ f44 f19 1"/>
                <a:gd name="f57" fmla="*/ f44 f20 1"/>
                <a:gd name="f58" fmla="*/ f43 f20 1"/>
                <a:gd name="f59" fmla="*/ f46 f19 1"/>
                <a:gd name="f60" fmla="*/ f47 f20 1"/>
                <a:gd name="f61" fmla="*/ f48 f19 1"/>
                <a:gd name="f62" fmla="*/ f49 f20 1"/>
                <a:gd name="f63" fmla="*/ f50 f19 1"/>
                <a:gd name="f64" fmla="*/ f50 f20 1"/>
                <a:gd name="f65" fmla="*/ f49 f19 1"/>
                <a:gd name="f66" fmla="*/ f48 f20 1"/>
                <a:gd name="f67" fmla="*/ f47 f19 1"/>
                <a:gd name="f68" fmla="*/ f46 f20 1"/>
                <a:gd name="f69" fmla="*/ f51 f19 1"/>
                <a:gd name="f70" fmla="*/ f52 f19 1"/>
                <a:gd name="f71" fmla="*/ f53 f19 1"/>
                <a:gd name="f72" fmla="*/ f54 f20 1"/>
                <a:gd name="f73" fmla="*/ f52 f20 1"/>
                <a:gd name="f74" fmla="*/ f53 f20 1"/>
              </a:gdLst>
              <a:ahLst/>
              <a:cxnLst>
                <a:cxn ang="3cd4">
                  <a:pos x="hc" y="t"/>
                </a:cxn>
                <a:cxn ang="0">
                  <a:pos x="r" y="vc"/>
                </a:cxn>
                <a:cxn ang="cd4">
                  <a:pos x="hc" y="b"/>
                </a:cxn>
                <a:cxn ang="cd2">
                  <a:pos x="l" y="vc"/>
                </a:cxn>
                <a:cxn ang="f45">
                  <a:pos x="f59" y="f60"/>
                </a:cxn>
                <a:cxn ang="f45">
                  <a:pos x="f61" y="f62"/>
                </a:cxn>
                <a:cxn ang="f45">
                  <a:pos x="f63" y="f64"/>
                </a:cxn>
                <a:cxn ang="f45">
                  <a:pos x="f65" y="f66"/>
                </a:cxn>
                <a:cxn ang="f45">
                  <a:pos x="f67" y="f68"/>
                </a:cxn>
                <a:cxn ang="f45">
                  <a:pos x="f69" y="f66"/>
                </a:cxn>
                <a:cxn ang="f45">
                  <a:pos x="f70" y="f64"/>
                </a:cxn>
                <a:cxn ang="f45">
                  <a:pos x="f71" y="f62"/>
                </a:cxn>
                <a:cxn ang="f45">
                  <a:pos x="f71" y="f60"/>
                </a:cxn>
                <a:cxn ang="f45">
                  <a:pos x="f71" y="f72"/>
                </a:cxn>
                <a:cxn ang="f45">
                  <a:pos x="f70" y="f73"/>
                </a:cxn>
                <a:cxn ang="f45">
                  <a:pos x="f69" y="f74"/>
                </a:cxn>
                <a:cxn ang="f45">
                  <a:pos x="f67" y="f74"/>
                </a:cxn>
                <a:cxn ang="f45">
                  <a:pos x="f65" y="f74"/>
                </a:cxn>
                <a:cxn ang="f45">
                  <a:pos x="f63" y="f73"/>
                </a:cxn>
                <a:cxn ang="f45">
                  <a:pos x="f61" y="f72"/>
                </a:cxn>
                <a:cxn ang="f45">
                  <a:pos x="f59" y="f60"/>
                </a:cxn>
              </a:cxnLst>
              <a:rect l="f55" t="f58" r="f56" b="f57"/>
              <a:pathLst>
                <a:path w="12" h="12">
                  <a:moveTo>
                    <a:pt x="f6" y="f7"/>
                  </a:moveTo>
                  <a:cubicBezTo>
                    <a:pt x="f6" y="f8"/>
                    <a:pt x="f9" y="f8"/>
                    <a:pt x="f9" y="f10"/>
                  </a:cubicBezTo>
                  <a:cubicBezTo>
                    <a:pt x="f9" y="f11"/>
                    <a:pt x="f12" y="f11"/>
                    <a:pt x="f12" y="f12"/>
                  </a:cubicBezTo>
                  <a:cubicBezTo>
                    <a:pt x="f11" y="f12"/>
                    <a:pt x="f11" y="f9"/>
                    <a:pt x="f10" y="f9"/>
                  </a:cubicBezTo>
                  <a:cubicBezTo>
                    <a:pt x="f8" y="f9"/>
                    <a:pt x="f8" y="f6"/>
                    <a:pt x="f7" y="f6"/>
                  </a:cubicBezTo>
                  <a:cubicBezTo>
                    <a:pt x="f13" y="f6"/>
                    <a:pt x="f14" y="f9"/>
                    <a:pt x="f15" y="f9"/>
                  </a:cubicBezTo>
                  <a:cubicBezTo>
                    <a:pt x="f15" y="f9"/>
                    <a:pt x="f16" y="f12"/>
                    <a:pt x="f16" y="f12"/>
                  </a:cubicBezTo>
                  <a:cubicBezTo>
                    <a:pt x="f17" y="f11"/>
                    <a:pt x="f17" y="f11"/>
                    <a:pt x="f5" y="f10"/>
                  </a:cubicBezTo>
                  <a:cubicBezTo>
                    <a:pt x="f5" y="f8"/>
                    <a:pt x="f5" y="f8"/>
                    <a:pt x="f5" y="f7"/>
                  </a:cubicBezTo>
                  <a:cubicBezTo>
                    <a:pt x="f5" y="f13"/>
                    <a:pt x="f5" y="f14"/>
                    <a:pt x="f5" y="f14"/>
                  </a:cubicBezTo>
                  <a:cubicBezTo>
                    <a:pt x="f17" y="f15"/>
                    <a:pt x="f17" y="f16"/>
                    <a:pt x="f16" y="f16"/>
                  </a:cubicBezTo>
                  <a:cubicBezTo>
                    <a:pt x="f16" y="f17"/>
                    <a:pt x="f15" y="f17"/>
                    <a:pt x="f15" y="f5"/>
                  </a:cubicBezTo>
                  <a:cubicBezTo>
                    <a:pt x="f14" y="f5"/>
                    <a:pt x="f13" y="f5"/>
                    <a:pt x="f7" y="f5"/>
                  </a:cubicBezTo>
                  <a:cubicBezTo>
                    <a:pt x="f8" y="f5"/>
                    <a:pt x="f8" y="f5"/>
                    <a:pt x="f10" y="f5"/>
                  </a:cubicBezTo>
                  <a:cubicBezTo>
                    <a:pt x="f11" y="f17"/>
                    <a:pt x="f11" y="f17"/>
                    <a:pt x="f12" y="f16"/>
                  </a:cubicBezTo>
                  <a:cubicBezTo>
                    <a:pt x="f12" y="f16"/>
                    <a:pt x="f9" y="f15"/>
                    <a:pt x="f9" y="f14"/>
                  </a:cubicBezTo>
                  <a:cubicBezTo>
                    <a:pt x="f9" y="f14"/>
                    <a:pt x="f6" y="f13"/>
                    <a:pt x="f6" y="f7"/>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6" name="Freeform 48">
              <a:extLst>
                <a:ext uri="{FF2B5EF4-FFF2-40B4-BE49-F238E27FC236}">
                  <a16:creationId xmlns:a16="http://schemas.microsoft.com/office/drawing/2014/main" id="{9903EA4B-11C9-EFBF-C601-A130C486B1F7}"/>
                </a:ext>
              </a:extLst>
            </p:cNvPr>
            <p:cNvSpPr/>
            <p:nvPr/>
          </p:nvSpPr>
          <p:spPr>
            <a:xfrm>
              <a:off x="497854" y="6264289"/>
              <a:ext cx="94110" cy="130777"/>
            </a:xfrm>
            <a:custGeom>
              <a:avLst/>
              <a:gdLst>
                <a:gd name="f0" fmla="val 10800000"/>
                <a:gd name="f1" fmla="val 5400000"/>
                <a:gd name="f2" fmla="val 180"/>
                <a:gd name="f3" fmla="val w"/>
                <a:gd name="f4" fmla="val h"/>
                <a:gd name="f5" fmla="val 0"/>
                <a:gd name="f6" fmla="val 54"/>
                <a:gd name="f7" fmla="val 75"/>
                <a:gd name="f8" fmla="val 32"/>
                <a:gd name="f9" fmla="val 12"/>
                <a:gd name="f10" fmla="val 22"/>
                <a:gd name="f11" fmla="+- 0 0 -90"/>
                <a:gd name="f12" fmla="*/ f3 1 54"/>
                <a:gd name="f13" fmla="*/ f4 1 75"/>
                <a:gd name="f14" fmla="+- f7 0 f5"/>
                <a:gd name="f15" fmla="+- f6 0 f5"/>
                <a:gd name="f16" fmla="*/ f11 f0 1"/>
                <a:gd name="f17" fmla="*/ f15 1 54"/>
                <a:gd name="f18" fmla="*/ f14 1 75"/>
                <a:gd name="f19" fmla="*/ 32 f15 1"/>
                <a:gd name="f20" fmla="*/ 12 f14 1"/>
                <a:gd name="f21" fmla="*/ 75 f14 1"/>
                <a:gd name="f22" fmla="*/ 22 f15 1"/>
                <a:gd name="f23" fmla="*/ 0 f15 1"/>
                <a:gd name="f24" fmla="*/ 0 f14 1"/>
                <a:gd name="f25" fmla="*/ 54 f15 1"/>
                <a:gd name="f26" fmla="*/ f16 1 f2"/>
                <a:gd name="f27" fmla="*/ f19 1 54"/>
                <a:gd name="f28" fmla="*/ f20 1 75"/>
                <a:gd name="f29" fmla="*/ f21 1 75"/>
                <a:gd name="f30" fmla="*/ f22 1 54"/>
                <a:gd name="f31" fmla="*/ f23 1 54"/>
                <a:gd name="f32" fmla="*/ f24 1 75"/>
                <a:gd name="f33" fmla="*/ f25 1 54"/>
                <a:gd name="f34" fmla="*/ 0 1 f17"/>
                <a:gd name="f35" fmla="*/ f6 1 f17"/>
                <a:gd name="f36" fmla="*/ 0 1 f18"/>
                <a:gd name="f37" fmla="*/ f7 1 f18"/>
                <a:gd name="f38" fmla="+- f26 0 f1"/>
                <a:gd name="f39" fmla="*/ f27 1 f17"/>
                <a:gd name="f40" fmla="*/ f28 1 f18"/>
                <a:gd name="f41" fmla="*/ f29 1 f18"/>
                <a:gd name="f42" fmla="*/ f30 1 f17"/>
                <a:gd name="f43" fmla="*/ f31 1 f17"/>
                <a:gd name="f44" fmla="*/ f32 1 f18"/>
                <a:gd name="f45" fmla="*/ f33 1 f17"/>
                <a:gd name="f46" fmla="*/ f34 f12 1"/>
                <a:gd name="f47" fmla="*/ f35 f12 1"/>
                <a:gd name="f48" fmla="*/ f37 f13 1"/>
                <a:gd name="f49" fmla="*/ f36 f13 1"/>
                <a:gd name="f50" fmla="*/ f39 f12 1"/>
                <a:gd name="f51" fmla="*/ f40 f13 1"/>
                <a:gd name="f52" fmla="*/ f41 f13 1"/>
                <a:gd name="f53" fmla="*/ f42 f12 1"/>
                <a:gd name="f54" fmla="*/ f43 f12 1"/>
                <a:gd name="f55" fmla="*/ f44 f13 1"/>
                <a:gd name="f56" fmla="*/ f45 f12 1"/>
              </a:gdLst>
              <a:ahLst/>
              <a:cxnLst>
                <a:cxn ang="3cd4">
                  <a:pos x="hc" y="t"/>
                </a:cxn>
                <a:cxn ang="0">
                  <a:pos x="r" y="vc"/>
                </a:cxn>
                <a:cxn ang="cd4">
                  <a:pos x="hc" y="b"/>
                </a:cxn>
                <a:cxn ang="cd2">
                  <a:pos x="l" y="vc"/>
                </a:cxn>
                <a:cxn ang="f38">
                  <a:pos x="f50" y="f51"/>
                </a:cxn>
                <a:cxn ang="f38">
                  <a:pos x="f50" y="f52"/>
                </a:cxn>
                <a:cxn ang="f38">
                  <a:pos x="f53" y="f52"/>
                </a:cxn>
                <a:cxn ang="f38">
                  <a:pos x="f53" y="f51"/>
                </a:cxn>
                <a:cxn ang="f38">
                  <a:pos x="f54" y="f51"/>
                </a:cxn>
                <a:cxn ang="f38">
                  <a:pos x="f54" y="f55"/>
                </a:cxn>
                <a:cxn ang="f38">
                  <a:pos x="f56" y="f55"/>
                </a:cxn>
                <a:cxn ang="f38">
                  <a:pos x="f56" y="f51"/>
                </a:cxn>
                <a:cxn ang="f38">
                  <a:pos x="f50" y="f51"/>
                </a:cxn>
              </a:cxnLst>
              <a:rect l="f46" t="f49" r="f47" b="f48"/>
              <a:pathLst>
                <a:path w="54" h="75">
                  <a:moveTo>
                    <a:pt x="f8" y="f9"/>
                  </a:moveTo>
                  <a:lnTo>
                    <a:pt x="f8" y="f7"/>
                  </a:lnTo>
                  <a:lnTo>
                    <a:pt x="f10" y="f7"/>
                  </a:lnTo>
                  <a:lnTo>
                    <a:pt x="f10" y="f9"/>
                  </a:lnTo>
                  <a:lnTo>
                    <a:pt x="f5" y="f9"/>
                  </a:lnTo>
                  <a:lnTo>
                    <a:pt x="f5" y="f5"/>
                  </a:lnTo>
                  <a:lnTo>
                    <a:pt x="f6" y="f5"/>
                  </a:lnTo>
                  <a:lnTo>
                    <a:pt x="f6" y="f9"/>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7" name="Freeform 49">
              <a:extLst>
                <a:ext uri="{FF2B5EF4-FFF2-40B4-BE49-F238E27FC236}">
                  <a16:creationId xmlns:a16="http://schemas.microsoft.com/office/drawing/2014/main" id="{F9DC81D3-F597-B27B-F598-9B1B491F83BA}"/>
                </a:ext>
              </a:extLst>
            </p:cNvPr>
            <p:cNvSpPr/>
            <p:nvPr/>
          </p:nvSpPr>
          <p:spPr>
            <a:xfrm>
              <a:off x="609392" y="6259049"/>
              <a:ext cx="78428"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2"/>
                <a:gd name="f12" fmla="val 25"/>
                <a:gd name="f13" fmla="val 21"/>
                <a:gd name="f14" fmla="val 24"/>
                <a:gd name="f15" fmla="val 20"/>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9 f38 1"/>
                <a:gd name="f52" fmla="*/ 8 f38 1"/>
                <a:gd name="f53" fmla="*/ 27 f37 1"/>
                <a:gd name="f54" fmla="*/ 7 f38 1"/>
                <a:gd name="f55" fmla="*/ 31 f37 1"/>
                <a:gd name="f56" fmla="*/ 0 f38 1"/>
                <a:gd name="f57" fmla="*/ 4 f37 1"/>
                <a:gd name="f58" fmla="*/ 0 f37 1"/>
                <a:gd name="f59" fmla="*/ 19 f37 1"/>
                <a:gd name="f60" fmla="*/ 17 f37 1"/>
                <a:gd name="f61" fmla="*/ 11 f38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53"/>
                <a:gd name="f90" fmla="*/ f61 1 31"/>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1"/>
                <a:gd name="f123" fmla="*/ f90 1 f40"/>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6 1"/>
                <a:gd name="f155" fmla="*/ f123 f35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45" y="f154"/>
                </a:cxn>
                <a:cxn ang="f103">
                  <a:pos x="f155"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11" y="f12"/>
                    <a:pt x="f13" y="f14"/>
                  </a:cubicBezTo>
                  <a:cubicBezTo>
                    <a:pt x="f15" y="f11"/>
                    <a:pt x="f16" y="f13"/>
                    <a:pt x="f17" y="f13"/>
                  </a:cubicBezTo>
                  <a:cubicBezTo>
                    <a:pt x="f18" y="f13"/>
                    <a:pt x="f19" y="f13"/>
                    <a:pt x="f20" y="f11"/>
                  </a:cubicBezTo>
                  <a:cubicBezTo>
                    <a:pt x="f21" y="f11"/>
                    <a:pt x="f22" y="f8"/>
                    <a:pt x="f23" y="f14"/>
                  </a:cubicBezTo>
                  <a:cubicBezTo>
                    <a:pt x="f23" y="f14"/>
                    <a:pt x="f24" y="f12"/>
                    <a:pt x="f24" y="f25"/>
                  </a:cubicBezTo>
                  <a:cubicBezTo>
                    <a:pt x="f26"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4" y="f30"/>
                    <a:pt x="f23" y="f30"/>
                  </a:cubicBezTo>
                  <a:cubicBezTo>
                    <a:pt x="f22" y="f31"/>
                    <a:pt x="f22" y="f31"/>
                    <a:pt x="f21" y="f17"/>
                  </a:cubicBezTo>
                  <a:cubicBezTo>
                    <a:pt x="f20" y="f17"/>
                    <a:pt x="f19" y="f17"/>
                    <a:pt x="f18" y="f18"/>
                  </a:cubicBezTo>
                  <a:cubicBezTo>
                    <a:pt x="f17" y="f18"/>
                    <a:pt x="f31" y="f18"/>
                    <a:pt x="f30" y="f18"/>
                  </a:cubicBezTo>
                  <a:cubicBezTo>
                    <a:pt x="f29" y="f18"/>
                    <a:pt x="f13" y="f18"/>
                    <a:pt x="f8" y="f17"/>
                  </a:cubicBezTo>
                  <a:cubicBezTo>
                    <a:pt x="f12" y="f31"/>
                    <a:pt x="f32" y="f30"/>
                    <a:pt x="f25" y="f16"/>
                  </a:cubicBezTo>
                  <a:cubicBezTo>
                    <a:pt x="f10" y="f15"/>
                    <a:pt x="f27" y="f11"/>
                    <a:pt x="f33" y="f14"/>
                  </a:cubicBezTo>
                  <a:cubicBezTo>
                    <a:pt x="f33"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8" name="Freeform 50">
              <a:extLst>
                <a:ext uri="{FF2B5EF4-FFF2-40B4-BE49-F238E27FC236}">
                  <a16:creationId xmlns:a16="http://schemas.microsoft.com/office/drawing/2014/main" id="{0638D8B3-5DF2-F07D-C3EA-EFA44A9EA0D7}"/>
                </a:ext>
              </a:extLst>
            </p:cNvPr>
            <p:cNvSpPr/>
            <p:nvPr/>
          </p:nvSpPr>
          <p:spPr>
            <a:xfrm>
              <a:off x="705249" y="6293924"/>
              <a:ext cx="85395"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7"/>
                <a:gd name="f14" fmla="val 8"/>
                <a:gd name="f15" fmla="val 25"/>
                <a:gd name="f16" fmla="val 26"/>
                <a:gd name="f17" fmla="val 9"/>
                <a:gd name="f18" fmla="val 28"/>
                <a:gd name="f19" fmla="val 29"/>
                <a:gd name="f20" fmla="val 10"/>
                <a:gd name="f21" fmla="val 30"/>
                <a:gd name="f22" fmla="val 11"/>
                <a:gd name="f23" fmla="val 31"/>
                <a:gd name="f24" fmla="val 12"/>
                <a:gd name="f25" fmla="val 32"/>
                <a:gd name="f26" fmla="val 13"/>
                <a:gd name="f27" fmla="val 14"/>
                <a:gd name="f28" fmla="val 15"/>
                <a:gd name="f29" fmla="val 16"/>
                <a:gd name="f30" fmla="val 17"/>
                <a:gd name="f31" fmla="val 18"/>
                <a:gd name="f32" fmla="val 24"/>
                <a:gd name="f33" fmla="val 35"/>
                <a:gd name="f34" fmla="val 36"/>
                <a:gd name="f35" fmla="val 37"/>
                <a:gd name="f36" fmla="val 27"/>
                <a:gd name="f37" fmla="val 38"/>
                <a:gd name="f38" fmla="val 39"/>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7 f50 1"/>
                <a:gd name="f59" fmla="*/ 9 f50 1"/>
                <a:gd name="f60" fmla="*/ 28 f49 1"/>
                <a:gd name="f61" fmla="*/ 11 f50 1"/>
                <a:gd name="f62" fmla="*/ 31 f49 1"/>
                <a:gd name="f63" fmla="*/ 14 f50 1"/>
                <a:gd name="f64" fmla="*/ 33 f49 1"/>
                <a:gd name="f65" fmla="*/ 17 f50 1"/>
                <a:gd name="f66" fmla="*/ 19 f50 1"/>
                <a:gd name="f67" fmla="*/ 22 f50 1"/>
                <a:gd name="f68" fmla="*/ 32 f49 1"/>
                <a:gd name="f69" fmla="*/ 23 f50 1"/>
                <a:gd name="f70" fmla="*/ 25 f50 1"/>
                <a:gd name="f71" fmla="*/ 30 f49 1"/>
                <a:gd name="f72" fmla="*/ 30 f50 1"/>
                <a:gd name="f73" fmla="*/ 35 f49 1"/>
                <a:gd name="f74" fmla="*/ 27 f50 1"/>
                <a:gd name="f75" fmla="*/ 37 f49 1"/>
                <a:gd name="f76" fmla="*/ 24 f50 1"/>
                <a:gd name="f77" fmla="*/ 39 f49 1"/>
                <a:gd name="f78" fmla="*/ 21 f50 1"/>
                <a:gd name="f79" fmla="*/ 40 f49 1"/>
                <a:gd name="f80" fmla="*/ 12 f50 1"/>
                <a:gd name="f81" fmla="*/ 8 f50 1"/>
                <a:gd name="f82" fmla="*/ 38 f49 1"/>
                <a:gd name="f83" fmla="*/ 5 f50 1"/>
                <a:gd name="f84" fmla="*/ 3 f50 1"/>
                <a:gd name="f85" fmla="*/ 1 f50 1"/>
                <a:gd name="f86" fmla="*/ 26 f49 1"/>
                <a:gd name="f87" fmla="*/ 0 f50 1"/>
                <a:gd name="f88" fmla="*/ 20 f49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10 f49 1"/>
                <a:gd name="f101" fmla="*/ 20 f50 1"/>
                <a:gd name="f102" fmla="*/ 8 f49 1"/>
                <a:gd name="f103" fmla="*/ 16 f50 1"/>
                <a:gd name="f104" fmla="*/ 7 f49 1"/>
                <a:gd name="f105" fmla="*/ 13 f50 1"/>
                <a:gd name="f106" fmla="*/ 9 f49 1"/>
                <a:gd name="f107" fmla="*/ f51 1 f2"/>
                <a:gd name="f108" fmla="*/ f54 1 33"/>
                <a:gd name="f109" fmla="*/ f55 1 40"/>
                <a:gd name="f110" fmla="*/ f56 1 40"/>
                <a:gd name="f111" fmla="*/ f57 1 40"/>
                <a:gd name="f112" fmla="*/ f58 1 33"/>
                <a:gd name="f113" fmla="*/ f59 1 33"/>
                <a:gd name="f114" fmla="*/ f60 1 40"/>
                <a:gd name="f115" fmla="*/ f61 1 33"/>
                <a:gd name="f116" fmla="*/ f62 1 40"/>
                <a:gd name="f117" fmla="*/ f63 1 33"/>
                <a:gd name="f118" fmla="*/ f64 1 40"/>
                <a:gd name="f119" fmla="*/ f65 1 33"/>
                <a:gd name="f120" fmla="*/ f66 1 33"/>
                <a:gd name="f121" fmla="*/ f67 1 33"/>
                <a:gd name="f122" fmla="*/ f68 1 40"/>
                <a:gd name="f123" fmla="*/ f69 1 33"/>
                <a:gd name="f124" fmla="*/ f70 1 33"/>
                <a:gd name="f125" fmla="*/ f71 1 40"/>
                <a:gd name="f126" fmla="*/ f72 1 33"/>
                <a:gd name="f127" fmla="*/ f73 1 40"/>
                <a:gd name="f128" fmla="*/ f74 1 33"/>
                <a:gd name="f129" fmla="*/ f75 1 40"/>
                <a:gd name="f130" fmla="*/ f76 1 33"/>
                <a:gd name="f131" fmla="*/ f77 1 40"/>
                <a:gd name="f132" fmla="*/ f78 1 33"/>
                <a:gd name="f133" fmla="*/ f79 1 40"/>
                <a:gd name="f134" fmla="*/ f80 1 33"/>
                <a:gd name="f135" fmla="*/ f81 1 33"/>
                <a:gd name="f136" fmla="*/ f82 1 40"/>
                <a:gd name="f137" fmla="*/ f83 1 33"/>
                <a:gd name="f138" fmla="*/ f84 1 33"/>
                <a:gd name="f139" fmla="*/ f85 1 33"/>
                <a:gd name="f140" fmla="*/ f86 1 40"/>
                <a:gd name="f141" fmla="*/ f87 1 33"/>
                <a:gd name="f142" fmla="*/ f88 1 40"/>
                <a:gd name="f143" fmla="*/ f89 1 40"/>
                <a:gd name="f144" fmla="*/ f90 1 40"/>
                <a:gd name="f145" fmla="*/ f91 1 33"/>
                <a:gd name="f146" fmla="*/ f92 1 40"/>
                <a:gd name="f147" fmla="*/ f93 1 40"/>
                <a:gd name="f148" fmla="*/ f94 1 40"/>
                <a:gd name="f149" fmla="*/ f95 1 33"/>
                <a:gd name="f150" fmla="*/ f96 1 40"/>
                <a:gd name="f151" fmla="*/ f97 1 33"/>
                <a:gd name="f152" fmla="*/ f98 1 40"/>
                <a:gd name="f153" fmla="*/ f99 1 40"/>
                <a:gd name="f154" fmla="*/ f100 1 40"/>
                <a:gd name="f155" fmla="*/ f101 1 33"/>
                <a:gd name="f156" fmla="*/ f102 1 40"/>
                <a:gd name="f157" fmla="*/ f103 1 33"/>
                <a:gd name="f158" fmla="*/ f104 1 40"/>
                <a:gd name="f159" fmla="*/ f105 1 33"/>
                <a:gd name="f160" fmla="*/ f106 1 40"/>
                <a:gd name="f161" fmla="*/ 0 1 f52"/>
                <a:gd name="f162" fmla="*/ f6 1 f52"/>
                <a:gd name="f163" fmla="*/ 0 1 f53"/>
                <a:gd name="f164" fmla="*/ f7 1 f53"/>
                <a:gd name="f165" fmla="+- f107 0 f1"/>
                <a:gd name="f166" fmla="*/ f108 1 f52"/>
                <a:gd name="f167" fmla="*/ f109 1 f53"/>
                <a:gd name="f168" fmla="*/ f110 1 f53"/>
                <a:gd name="f169" fmla="*/ f111 1 f53"/>
                <a:gd name="f170" fmla="*/ f112 1 f52"/>
                <a:gd name="f171" fmla="*/ f113 1 f52"/>
                <a:gd name="f172" fmla="*/ f114 1 f53"/>
                <a:gd name="f173" fmla="*/ f115 1 f52"/>
                <a:gd name="f174" fmla="*/ f116 1 f53"/>
                <a:gd name="f175" fmla="*/ f117 1 f52"/>
                <a:gd name="f176" fmla="*/ f118 1 f53"/>
                <a:gd name="f177" fmla="*/ f119 1 f52"/>
                <a:gd name="f178" fmla="*/ f120 1 f52"/>
                <a:gd name="f179" fmla="*/ f121 1 f52"/>
                <a:gd name="f180" fmla="*/ f122 1 f53"/>
                <a:gd name="f181" fmla="*/ f123 1 f52"/>
                <a:gd name="f182" fmla="*/ f124 1 f52"/>
                <a:gd name="f183" fmla="*/ f125 1 f53"/>
                <a:gd name="f184" fmla="*/ f126 1 f52"/>
                <a:gd name="f185" fmla="*/ f127 1 f53"/>
                <a:gd name="f186" fmla="*/ f128 1 f52"/>
                <a:gd name="f187" fmla="*/ f129 1 f53"/>
                <a:gd name="f188" fmla="*/ f130 1 f52"/>
                <a:gd name="f189" fmla="*/ f131 1 f53"/>
                <a:gd name="f190" fmla="*/ f132 1 f52"/>
                <a:gd name="f191" fmla="*/ f133 1 f53"/>
                <a:gd name="f192" fmla="*/ f134 1 f52"/>
                <a:gd name="f193" fmla="*/ f135 1 f52"/>
                <a:gd name="f194" fmla="*/ f136 1 f53"/>
                <a:gd name="f195" fmla="*/ f137 1 f52"/>
                <a:gd name="f196" fmla="*/ f138 1 f52"/>
                <a:gd name="f197" fmla="*/ f139 1 f52"/>
                <a:gd name="f198" fmla="*/ f140 1 f53"/>
                <a:gd name="f199" fmla="*/ f141 1 f52"/>
                <a:gd name="f200" fmla="*/ f142 1 f53"/>
                <a:gd name="f201" fmla="*/ f143 1 f53"/>
                <a:gd name="f202" fmla="*/ f144 1 f53"/>
                <a:gd name="f203" fmla="*/ f145 1 f52"/>
                <a:gd name="f204" fmla="*/ f146 1 f53"/>
                <a:gd name="f205" fmla="*/ f147 1 f53"/>
                <a:gd name="f206" fmla="*/ f148 1 f53"/>
                <a:gd name="f207" fmla="*/ f149 1 f52"/>
                <a:gd name="f208" fmla="*/ f150 1 f53"/>
                <a:gd name="f209" fmla="*/ f151 1 f52"/>
                <a:gd name="f210" fmla="*/ f152 1 f53"/>
                <a:gd name="f211" fmla="*/ f153 1 f53"/>
                <a:gd name="f212" fmla="*/ f154 1 f53"/>
                <a:gd name="f213" fmla="*/ f155 1 f52"/>
                <a:gd name="f214" fmla="*/ f156 1 f53"/>
                <a:gd name="f215" fmla="*/ f157 1 f52"/>
                <a:gd name="f216" fmla="*/ f158 1 f53"/>
                <a:gd name="f217" fmla="*/ f159 1 f52"/>
                <a:gd name="f218" fmla="*/ f160 1 f53"/>
                <a:gd name="f219" fmla="*/ f161 f47 1"/>
                <a:gd name="f220" fmla="*/ f162 f47 1"/>
                <a:gd name="f221" fmla="*/ f164 f48 1"/>
                <a:gd name="f222" fmla="*/ f163 f48 1"/>
                <a:gd name="f223" fmla="*/ f166 f47 1"/>
                <a:gd name="f224" fmla="*/ f167 f48 1"/>
                <a:gd name="f225" fmla="*/ f168 f48 1"/>
                <a:gd name="f226" fmla="*/ f169 f48 1"/>
                <a:gd name="f227" fmla="*/ f170 f47 1"/>
                <a:gd name="f228" fmla="*/ f171 f47 1"/>
                <a:gd name="f229" fmla="*/ f172 f48 1"/>
                <a:gd name="f230" fmla="*/ f173 f47 1"/>
                <a:gd name="f231" fmla="*/ f174 f48 1"/>
                <a:gd name="f232" fmla="*/ f175 f47 1"/>
                <a:gd name="f233" fmla="*/ f176 f48 1"/>
                <a:gd name="f234" fmla="*/ f177 f47 1"/>
                <a:gd name="f235" fmla="*/ f178 f47 1"/>
                <a:gd name="f236" fmla="*/ f179 f47 1"/>
                <a:gd name="f237" fmla="*/ f180 f48 1"/>
                <a:gd name="f238" fmla="*/ f181 f47 1"/>
                <a:gd name="f239" fmla="*/ f182 f47 1"/>
                <a:gd name="f240" fmla="*/ f183 f48 1"/>
                <a:gd name="f241" fmla="*/ f184 f47 1"/>
                <a:gd name="f242" fmla="*/ f185 f48 1"/>
                <a:gd name="f243" fmla="*/ f186 f47 1"/>
                <a:gd name="f244" fmla="*/ f187 f48 1"/>
                <a:gd name="f245" fmla="*/ f188 f47 1"/>
                <a:gd name="f246" fmla="*/ f189 f48 1"/>
                <a:gd name="f247" fmla="*/ f190 f47 1"/>
                <a:gd name="f248" fmla="*/ f191 f48 1"/>
                <a:gd name="f249" fmla="*/ f192 f47 1"/>
                <a:gd name="f250" fmla="*/ f193 f47 1"/>
                <a:gd name="f251" fmla="*/ f194 f48 1"/>
                <a:gd name="f252" fmla="*/ f195 f47 1"/>
                <a:gd name="f253" fmla="*/ f196 f47 1"/>
                <a:gd name="f254" fmla="*/ f197 f47 1"/>
                <a:gd name="f255" fmla="*/ f198 f48 1"/>
                <a:gd name="f256" fmla="*/ f199 f47 1"/>
                <a:gd name="f257" fmla="*/ f200 f48 1"/>
                <a:gd name="f258" fmla="*/ f201 f48 1"/>
                <a:gd name="f259" fmla="*/ f202 f48 1"/>
                <a:gd name="f260" fmla="*/ f203 f47 1"/>
                <a:gd name="f261" fmla="*/ f204 f48 1"/>
                <a:gd name="f262" fmla="*/ f205 f48 1"/>
                <a:gd name="f263" fmla="*/ f206 f48 1"/>
                <a:gd name="f264" fmla="*/ f207 f47 1"/>
                <a:gd name="f265" fmla="*/ f208 f48 1"/>
                <a:gd name="f266" fmla="*/ f209 f47 1"/>
                <a:gd name="f267" fmla="*/ f210 f48 1"/>
                <a:gd name="f268" fmla="*/ f211 f48 1"/>
                <a:gd name="f269" fmla="*/ f212 f48 1"/>
                <a:gd name="f270" fmla="*/ f213 f47 1"/>
                <a:gd name="f271" fmla="*/ f214 f48 1"/>
                <a:gd name="f272" fmla="*/ f215 f47 1"/>
                <a:gd name="f273" fmla="*/ f216 f48 1"/>
                <a:gd name="f274" fmla="*/ f217 f47 1"/>
                <a:gd name="f275" fmla="*/ f218 f48 1"/>
              </a:gdLst>
              <a:ahLst/>
              <a:cxnLst>
                <a:cxn ang="3cd4">
                  <a:pos x="hc" y="t"/>
                </a:cxn>
                <a:cxn ang="0">
                  <a:pos x="r" y="vc"/>
                </a:cxn>
                <a:cxn ang="cd4">
                  <a:pos x="hc" y="b"/>
                </a:cxn>
                <a:cxn ang="cd2">
                  <a:pos x="l" y="vc"/>
                </a:cxn>
                <a:cxn ang="f165">
                  <a:pos x="f223" y="f224"/>
                </a:cxn>
                <a:cxn ang="f165">
                  <a:pos x="f223" y="f225"/>
                </a:cxn>
                <a:cxn ang="f165">
                  <a:pos x="f223" y="f226"/>
                </a:cxn>
                <a:cxn ang="f165">
                  <a:pos x="f227" y="f226"/>
                </a:cxn>
                <a:cxn ang="f165">
                  <a:pos x="f228" y="f229"/>
                </a:cxn>
                <a:cxn ang="f165">
                  <a:pos x="f230" y="f231"/>
                </a:cxn>
                <a:cxn ang="f165">
                  <a:pos x="f232" y="f233"/>
                </a:cxn>
                <a:cxn ang="f165">
                  <a:pos x="f234" y="f233"/>
                </a:cxn>
                <a:cxn ang="f165">
                  <a:pos x="f235" y="f233"/>
                </a:cxn>
                <a:cxn ang="f165">
                  <a:pos x="f236" y="f237"/>
                </a:cxn>
                <a:cxn ang="f165">
                  <a:pos x="f238" y="f237"/>
                </a:cxn>
                <a:cxn ang="f165">
                  <a:pos x="f239" y="f240"/>
                </a:cxn>
                <a:cxn ang="f165">
                  <a:pos x="f241" y="f242"/>
                </a:cxn>
                <a:cxn ang="f165">
                  <a:pos x="f243" y="f244"/>
                </a:cxn>
                <a:cxn ang="f165">
                  <a:pos x="f245" y="f246"/>
                </a:cxn>
                <a:cxn ang="f165">
                  <a:pos x="f247" y="f248"/>
                </a:cxn>
                <a:cxn ang="f165">
                  <a:pos x="f234" y="f248"/>
                </a:cxn>
                <a:cxn ang="f165">
                  <a:pos x="f249" y="f246"/>
                </a:cxn>
                <a:cxn ang="f165">
                  <a:pos x="f250" y="f251"/>
                </a:cxn>
                <a:cxn ang="f165">
                  <a:pos x="f252" y="f242"/>
                </a:cxn>
                <a:cxn ang="f165">
                  <a:pos x="f253" y="f231"/>
                </a:cxn>
                <a:cxn ang="f165">
                  <a:pos x="f254" y="f255"/>
                </a:cxn>
                <a:cxn ang="f165">
                  <a:pos x="f256" y="f257"/>
                </a:cxn>
                <a:cxn ang="f165">
                  <a:pos x="f254" y="f258"/>
                </a:cxn>
                <a:cxn ang="f165">
                  <a:pos x="f252" y="f259"/>
                </a:cxn>
                <a:cxn ang="f165">
                  <a:pos x="f260" y="f261"/>
                </a:cxn>
                <a:cxn ang="f165">
                  <a:pos x="f234" y="f262"/>
                </a:cxn>
                <a:cxn ang="f165">
                  <a:pos x="f245" y="f263"/>
                </a:cxn>
                <a:cxn ang="f165">
                  <a:pos x="f264" y="f265"/>
                </a:cxn>
                <a:cxn ang="f165">
                  <a:pos x="f266" y="f258"/>
                </a:cxn>
                <a:cxn ang="f165">
                  <a:pos x="f223" y="f224"/>
                </a:cxn>
                <a:cxn ang="f165">
                  <a:pos x="f239" y="f267"/>
                </a:cxn>
                <a:cxn ang="f165">
                  <a:pos x="f239" y="f268"/>
                </a:cxn>
                <a:cxn ang="f165">
                  <a:pos x="f238" y="f269"/>
                </a:cxn>
                <a:cxn ang="f165">
                  <a:pos x="f270" y="f271"/>
                </a:cxn>
                <a:cxn ang="f165">
                  <a:pos x="f272" y="f273"/>
                </a:cxn>
                <a:cxn ang="f165">
                  <a:pos x="f274" y="f271"/>
                </a:cxn>
                <a:cxn ang="f165">
                  <a:pos x="f260" y="f275"/>
                </a:cxn>
                <a:cxn ang="f165">
                  <a:pos x="f228" y="f258"/>
                </a:cxn>
                <a:cxn ang="f165">
                  <a:pos x="f250" y="f267"/>
                </a:cxn>
                <a:cxn ang="f165">
                  <a:pos x="f239" y="f267"/>
                </a:cxn>
              </a:cxnLst>
              <a:rect l="f219" t="f222" r="f220" b="f221"/>
              <a:pathLst>
                <a:path w="33" h="40">
                  <a:moveTo>
                    <a:pt x="f6" y="f8"/>
                  </a:moveTo>
                  <a:cubicBezTo>
                    <a:pt x="f6" y="f9"/>
                    <a:pt x="f6" y="f10"/>
                    <a:pt x="f6" y="f10"/>
                  </a:cubicBezTo>
                  <a:cubicBezTo>
                    <a:pt x="f6" y="f11"/>
                    <a:pt x="f6" y="f11"/>
                    <a:pt x="f6" y="f12"/>
                  </a:cubicBezTo>
                  <a:cubicBezTo>
                    <a:pt x="f13" y="f12"/>
                    <a:pt x="f13" y="f12"/>
                    <a:pt x="f13" y="f12"/>
                  </a:cubicBezTo>
                  <a:cubicBezTo>
                    <a:pt x="f14" y="f15"/>
                    <a:pt x="f14" y="f16"/>
                    <a:pt x="f17" y="f18"/>
                  </a:cubicBezTo>
                  <a:cubicBezTo>
                    <a:pt x="f17" y="f19"/>
                    <a:pt x="f20" y="f21"/>
                    <a:pt x="f22" y="f23"/>
                  </a:cubicBezTo>
                  <a:cubicBezTo>
                    <a:pt x="f24" y="f25"/>
                    <a:pt x="f26" y="f25"/>
                    <a:pt x="f27" y="f6"/>
                  </a:cubicBezTo>
                  <a:cubicBezTo>
                    <a:pt x="f28" y="f6"/>
                    <a:pt x="f29" y="f6"/>
                    <a:pt x="f30" y="f6"/>
                  </a:cubicBezTo>
                  <a:cubicBezTo>
                    <a:pt x="f31" y="f6"/>
                    <a:pt x="f8" y="f6"/>
                    <a:pt x="f8" y="f6"/>
                  </a:cubicBezTo>
                  <a:cubicBezTo>
                    <a:pt x="f9" y="f6"/>
                    <a:pt x="f10" y="f6"/>
                    <a:pt x="f11" y="f25"/>
                  </a:cubicBezTo>
                  <a:cubicBezTo>
                    <a:pt x="f11" y="f25"/>
                    <a:pt x="f12" y="f25"/>
                    <a:pt x="f12" y="f25"/>
                  </a:cubicBezTo>
                  <a:cubicBezTo>
                    <a:pt x="f32" y="f23"/>
                    <a:pt x="f15" y="f23"/>
                    <a:pt x="f15" y="f21"/>
                  </a:cubicBezTo>
                  <a:cubicBezTo>
                    <a:pt x="f21" y="f33"/>
                    <a:pt x="f21" y="f33"/>
                    <a:pt x="f21" y="f33"/>
                  </a:cubicBezTo>
                  <a:cubicBezTo>
                    <a:pt x="f19" y="f34"/>
                    <a:pt x="f18" y="f35"/>
                    <a:pt x="f36" y="f35"/>
                  </a:cubicBezTo>
                  <a:cubicBezTo>
                    <a:pt x="f16" y="f37"/>
                    <a:pt x="f15" y="f37"/>
                    <a:pt x="f32" y="f38"/>
                  </a:cubicBezTo>
                  <a:cubicBezTo>
                    <a:pt x="f12" y="f38"/>
                    <a:pt x="f11" y="f7"/>
                    <a:pt x="f10" y="f7"/>
                  </a:cubicBezTo>
                  <a:cubicBezTo>
                    <a:pt x="f9" y="f7"/>
                    <a:pt x="f31" y="f7"/>
                    <a:pt x="f30" y="f7"/>
                  </a:cubicBezTo>
                  <a:cubicBezTo>
                    <a:pt x="f28" y="f7"/>
                    <a:pt x="f26" y="f7"/>
                    <a:pt x="f24" y="f38"/>
                  </a:cubicBezTo>
                  <a:cubicBezTo>
                    <a:pt x="f22" y="f38"/>
                    <a:pt x="f17" y="f37"/>
                    <a:pt x="f14" y="f37"/>
                  </a:cubicBezTo>
                  <a:cubicBezTo>
                    <a:pt x="f13" y="f35"/>
                    <a:pt x="f39" y="f34"/>
                    <a:pt x="f40" y="f33"/>
                  </a:cubicBezTo>
                  <a:cubicBezTo>
                    <a:pt x="f41" y="f42"/>
                    <a:pt x="f43" y="f6"/>
                    <a:pt x="f43" y="f23"/>
                  </a:cubicBezTo>
                  <a:cubicBezTo>
                    <a:pt x="f44" y="f21"/>
                    <a:pt x="f45" y="f18"/>
                    <a:pt x="f45" y="f16"/>
                  </a:cubicBezTo>
                  <a:cubicBezTo>
                    <a:pt x="f5" y="f32"/>
                    <a:pt x="f5" y="f11"/>
                    <a:pt x="f5" y="f9"/>
                  </a:cubicBezTo>
                  <a:cubicBezTo>
                    <a:pt x="f5" y="f30"/>
                    <a:pt x="f5" y="f27"/>
                    <a:pt x="f45" y="f24"/>
                  </a:cubicBezTo>
                  <a:cubicBezTo>
                    <a:pt x="f44" y="f17"/>
                    <a:pt x="f43" y="f13"/>
                    <a:pt x="f40" y="f40"/>
                  </a:cubicBezTo>
                  <a:cubicBezTo>
                    <a:pt x="f39" y="f41"/>
                    <a:pt x="f14" y="f44"/>
                    <a:pt x="f20" y="f45"/>
                  </a:cubicBezTo>
                  <a:cubicBezTo>
                    <a:pt x="f24" y="f45"/>
                    <a:pt x="f27" y="f5"/>
                    <a:pt x="f30" y="f5"/>
                  </a:cubicBezTo>
                  <a:cubicBezTo>
                    <a:pt x="f9" y="f5"/>
                    <a:pt x="f11" y="f45"/>
                    <a:pt x="f32" y="f44"/>
                  </a:cubicBezTo>
                  <a:cubicBezTo>
                    <a:pt x="f16" y="f43"/>
                    <a:pt x="f18" y="f41"/>
                    <a:pt x="f19" y="f39"/>
                  </a:cubicBezTo>
                  <a:cubicBezTo>
                    <a:pt x="f21" y="f14"/>
                    <a:pt x="f23" y="f20"/>
                    <a:pt x="f25" y="f24"/>
                  </a:cubicBezTo>
                  <a:cubicBezTo>
                    <a:pt x="f6" y="f27"/>
                    <a:pt x="f6" y="f30"/>
                    <a:pt x="f6" y="f8"/>
                  </a:cubicBezTo>
                  <a:close/>
                  <a:moveTo>
                    <a:pt x="f15" y="f30"/>
                  </a:moveTo>
                  <a:cubicBezTo>
                    <a:pt x="f15" y="f28"/>
                    <a:pt x="f15" y="f27"/>
                    <a:pt x="f15" y="f26"/>
                  </a:cubicBezTo>
                  <a:cubicBezTo>
                    <a:pt x="f32" y="f24"/>
                    <a:pt x="f32" y="f22"/>
                    <a:pt x="f12" y="f20"/>
                  </a:cubicBezTo>
                  <a:cubicBezTo>
                    <a:pt x="f11" y="f17"/>
                    <a:pt x="f10" y="f14"/>
                    <a:pt x="f9" y="f14"/>
                  </a:cubicBezTo>
                  <a:cubicBezTo>
                    <a:pt x="f8" y="f13"/>
                    <a:pt x="f31" y="f13"/>
                    <a:pt x="f29" y="f13"/>
                  </a:cubicBezTo>
                  <a:cubicBezTo>
                    <a:pt x="f28" y="f13"/>
                    <a:pt x="f27" y="f13"/>
                    <a:pt x="f26" y="f14"/>
                  </a:cubicBezTo>
                  <a:cubicBezTo>
                    <a:pt x="f24" y="f14"/>
                    <a:pt x="f22" y="f17"/>
                    <a:pt x="f20" y="f17"/>
                  </a:cubicBezTo>
                  <a:cubicBezTo>
                    <a:pt x="f20" y="f20"/>
                    <a:pt x="f17" y="f22"/>
                    <a:pt x="f17" y="f24"/>
                  </a:cubicBezTo>
                  <a:cubicBezTo>
                    <a:pt x="f14" y="f27"/>
                    <a:pt x="f14" y="f28"/>
                    <a:pt x="f14" y="f30"/>
                  </a:cubicBezTo>
                  <a:lnTo>
                    <a:pt x="f15" y="f30"/>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49" name="Freeform 51">
              <a:extLst>
                <a:ext uri="{FF2B5EF4-FFF2-40B4-BE49-F238E27FC236}">
                  <a16:creationId xmlns:a16="http://schemas.microsoft.com/office/drawing/2014/main" id="{22EC4FD8-D658-6EA4-4818-0BA6B7718BE6}"/>
                </a:ext>
              </a:extLst>
            </p:cNvPr>
            <p:cNvSpPr/>
            <p:nvPr/>
          </p:nvSpPr>
          <p:spPr>
            <a:xfrm>
              <a:off x="856875" y="6259049"/>
              <a:ext cx="83658" cy="137754"/>
            </a:xfrm>
            <a:custGeom>
              <a:avLst/>
              <a:gdLst>
                <a:gd name="f0" fmla="val 10800000"/>
                <a:gd name="f1" fmla="val 5400000"/>
                <a:gd name="f2" fmla="val 180"/>
                <a:gd name="f3" fmla="val w"/>
                <a:gd name="f4" fmla="val h"/>
                <a:gd name="f5" fmla="val 0"/>
                <a:gd name="f6" fmla="val 33"/>
                <a:gd name="f7" fmla="val 54"/>
                <a:gd name="f8" fmla="val 35"/>
                <a:gd name="f9" fmla="val 38"/>
                <a:gd name="f10" fmla="val 32"/>
                <a:gd name="f11" fmla="val 41"/>
                <a:gd name="f12" fmla="val 31"/>
                <a:gd name="f13" fmla="val 43"/>
                <a:gd name="f14" fmla="val 30"/>
                <a:gd name="f15" fmla="val 46"/>
                <a:gd name="f16" fmla="val 29"/>
                <a:gd name="f17" fmla="val 48"/>
                <a:gd name="f18" fmla="val 28"/>
                <a:gd name="f19" fmla="val 49"/>
                <a:gd name="f20" fmla="val 27"/>
                <a:gd name="f21" fmla="val 51"/>
                <a:gd name="f22" fmla="val 25"/>
                <a:gd name="f23" fmla="val 52"/>
                <a:gd name="f24" fmla="val 23"/>
                <a:gd name="f25" fmla="val 53"/>
                <a:gd name="f26" fmla="val 21"/>
                <a:gd name="f27" fmla="val 19"/>
                <a:gd name="f28" fmla="val 17"/>
                <a:gd name="f29" fmla="val 16"/>
                <a:gd name="f30" fmla="val 14"/>
                <a:gd name="f31" fmla="val 12"/>
                <a:gd name="f32" fmla="val 10"/>
                <a:gd name="f33" fmla="val 9"/>
                <a:gd name="f34" fmla="val 8"/>
                <a:gd name="f35" fmla="val 50"/>
                <a:gd name="f36" fmla="val 4"/>
                <a:gd name="f37" fmla="val 18"/>
                <a:gd name="f38" fmla="val 11"/>
                <a:gd name="f39" fmla="val 13"/>
                <a:gd name="f40" fmla="val 15"/>
                <a:gd name="f41" fmla="val 20"/>
                <a:gd name="f42" fmla="val 22"/>
                <a:gd name="f43" fmla="val 24"/>
                <a:gd name="f44" fmla="val 26"/>
                <a:gd name="f45" fmla="val 42"/>
                <a:gd name="f46" fmla="val 44"/>
                <a:gd name="f47" fmla="val 45"/>
                <a:gd name="f48" fmla="val 47"/>
                <a:gd name="f49" fmla="val 39"/>
                <a:gd name="f50" fmla="+- 0 0 -90"/>
                <a:gd name="f51" fmla="*/ f3 1 33"/>
                <a:gd name="f52" fmla="*/ f4 1 54"/>
                <a:gd name="f53" fmla="+- f7 0 f5"/>
                <a:gd name="f54" fmla="+- f6 0 f5"/>
                <a:gd name="f55" fmla="*/ f50 f0 1"/>
                <a:gd name="f56" fmla="*/ f54 1 33"/>
                <a:gd name="f57" fmla="*/ f53 1 54"/>
                <a:gd name="f58" fmla="*/ 33 f54 1"/>
                <a:gd name="f59" fmla="*/ 35 f53 1"/>
                <a:gd name="f60" fmla="*/ 31 f54 1"/>
                <a:gd name="f61" fmla="*/ 43 f53 1"/>
                <a:gd name="f62" fmla="*/ 28 f54 1"/>
                <a:gd name="f63" fmla="*/ 49 f53 1"/>
                <a:gd name="f64" fmla="*/ 23 f54 1"/>
                <a:gd name="f65" fmla="*/ 53 f53 1"/>
                <a:gd name="f66" fmla="*/ 17 f54 1"/>
                <a:gd name="f67" fmla="*/ 54 f53 1"/>
                <a:gd name="f68" fmla="*/ 12 f54 1"/>
                <a:gd name="f69" fmla="*/ 8 f54 1"/>
                <a:gd name="f70" fmla="*/ 50 f53 1"/>
                <a:gd name="f71" fmla="*/ 0 f54 1"/>
                <a:gd name="f72" fmla="*/ 4 f53 1"/>
                <a:gd name="f73" fmla="*/ 0 f53 1"/>
                <a:gd name="f74" fmla="*/ 19 f53 1"/>
                <a:gd name="f75" fmla="*/ 10 f54 1"/>
                <a:gd name="f76" fmla="*/ 17 f53 1"/>
                <a:gd name="f77" fmla="*/ 16 f53 1"/>
                <a:gd name="f78" fmla="*/ 14 f54 1"/>
                <a:gd name="f79" fmla="*/ 14 f53 1"/>
                <a:gd name="f80" fmla="*/ 18 f54 1"/>
                <a:gd name="f81" fmla="*/ 24 f54 1"/>
                <a:gd name="f82" fmla="*/ 15 f53 1"/>
                <a:gd name="f83" fmla="*/ 25 f53 1"/>
                <a:gd name="f84" fmla="*/ 25 f54 1"/>
                <a:gd name="f85" fmla="*/ 24 f53 1"/>
                <a:gd name="f86" fmla="*/ 16 f54 1"/>
                <a:gd name="f87" fmla="*/ 21 f53 1"/>
                <a:gd name="f88" fmla="*/ 11 f54 1"/>
                <a:gd name="f89" fmla="*/ 23 f53 1"/>
                <a:gd name="f90" fmla="*/ 9 f54 1"/>
                <a:gd name="f91" fmla="*/ 26 f53 1"/>
                <a:gd name="f92" fmla="*/ 42 f53 1"/>
                <a:gd name="f93" fmla="*/ 44 f53 1"/>
                <a:gd name="f94" fmla="*/ 45 f53 1"/>
                <a:gd name="f95" fmla="*/ 47 f53 1"/>
                <a:gd name="f96" fmla="*/ f55 1 f2"/>
                <a:gd name="f97" fmla="*/ f58 1 33"/>
                <a:gd name="f98" fmla="*/ f59 1 54"/>
                <a:gd name="f99" fmla="*/ f60 1 33"/>
                <a:gd name="f100" fmla="*/ f61 1 54"/>
                <a:gd name="f101" fmla="*/ f62 1 33"/>
                <a:gd name="f102" fmla="*/ f63 1 54"/>
                <a:gd name="f103" fmla="*/ f64 1 33"/>
                <a:gd name="f104" fmla="*/ f65 1 54"/>
                <a:gd name="f105" fmla="*/ f66 1 33"/>
                <a:gd name="f106" fmla="*/ f67 1 54"/>
                <a:gd name="f107" fmla="*/ f68 1 33"/>
                <a:gd name="f108" fmla="*/ f69 1 33"/>
                <a:gd name="f109" fmla="*/ f70 1 54"/>
                <a:gd name="f110" fmla="*/ f71 1 33"/>
                <a:gd name="f111" fmla="*/ f72 1 54"/>
                <a:gd name="f112" fmla="*/ f73 1 54"/>
                <a:gd name="f113" fmla="*/ f74 1 54"/>
                <a:gd name="f114" fmla="*/ f75 1 33"/>
                <a:gd name="f115" fmla="*/ f76 1 54"/>
                <a:gd name="f116" fmla="*/ f77 1 54"/>
                <a:gd name="f117" fmla="*/ f78 1 33"/>
                <a:gd name="f118" fmla="*/ f79 1 54"/>
                <a:gd name="f119" fmla="*/ f80 1 33"/>
                <a:gd name="f120" fmla="*/ f81 1 33"/>
                <a:gd name="f121" fmla="*/ f82 1 54"/>
                <a:gd name="f122" fmla="*/ f83 1 54"/>
                <a:gd name="f123" fmla="*/ f84 1 33"/>
                <a:gd name="f124" fmla="*/ f85 1 54"/>
                <a:gd name="f125" fmla="*/ f86 1 33"/>
                <a:gd name="f126" fmla="*/ f87 1 54"/>
                <a:gd name="f127" fmla="*/ f88 1 33"/>
                <a:gd name="f128" fmla="*/ f89 1 54"/>
                <a:gd name="f129" fmla="*/ f90 1 33"/>
                <a:gd name="f130" fmla="*/ f91 1 54"/>
                <a:gd name="f131" fmla="*/ f92 1 54"/>
                <a:gd name="f132" fmla="*/ f93 1 54"/>
                <a:gd name="f133" fmla="*/ f94 1 54"/>
                <a:gd name="f134" fmla="*/ f95 1 54"/>
                <a:gd name="f135" fmla="*/ 0 1 f56"/>
                <a:gd name="f136" fmla="*/ f6 1 f56"/>
                <a:gd name="f137" fmla="*/ 0 1 f57"/>
                <a:gd name="f138" fmla="*/ f7 1 f57"/>
                <a:gd name="f139" fmla="+- f96 0 f1"/>
                <a:gd name="f140" fmla="*/ f97 1 f56"/>
                <a:gd name="f141" fmla="*/ f98 1 f57"/>
                <a:gd name="f142" fmla="*/ f99 1 f56"/>
                <a:gd name="f143" fmla="*/ f100 1 f57"/>
                <a:gd name="f144" fmla="*/ f101 1 f56"/>
                <a:gd name="f145" fmla="*/ f102 1 f57"/>
                <a:gd name="f146" fmla="*/ f103 1 f56"/>
                <a:gd name="f147" fmla="*/ f104 1 f57"/>
                <a:gd name="f148" fmla="*/ f105 1 f56"/>
                <a:gd name="f149" fmla="*/ f106 1 f57"/>
                <a:gd name="f150" fmla="*/ f107 1 f56"/>
                <a:gd name="f151" fmla="*/ f108 1 f56"/>
                <a:gd name="f152" fmla="*/ f109 1 f57"/>
                <a:gd name="f153" fmla="*/ f110 1 f56"/>
                <a:gd name="f154" fmla="*/ f111 1 f57"/>
                <a:gd name="f155" fmla="*/ f112 1 f57"/>
                <a:gd name="f156" fmla="*/ f113 1 f57"/>
                <a:gd name="f157" fmla="*/ f114 1 f56"/>
                <a:gd name="f158" fmla="*/ f115 1 f57"/>
                <a:gd name="f159" fmla="*/ f116 1 f57"/>
                <a:gd name="f160" fmla="*/ f117 1 f56"/>
                <a:gd name="f161" fmla="*/ f118 1 f57"/>
                <a:gd name="f162" fmla="*/ f119 1 f56"/>
                <a:gd name="f163" fmla="*/ f120 1 f56"/>
                <a:gd name="f164" fmla="*/ f121 1 f57"/>
                <a:gd name="f165" fmla="*/ f122 1 f57"/>
                <a:gd name="f166" fmla="*/ f123 1 f56"/>
                <a:gd name="f167" fmla="*/ f124 1 f57"/>
                <a:gd name="f168" fmla="*/ f125 1 f56"/>
                <a:gd name="f169" fmla="*/ f126 1 f57"/>
                <a:gd name="f170" fmla="*/ f127 1 f56"/>
                <a:gd name="f171" fmla="*/ f128 1 f57"/>
                <a:gd name="f172" fmla="*/ f129 1 f56"/>
                <a:gd name="f173" fmla="*/ f130 1 f57"/>
                <a:gd name="f174" fmla="*/ f131 1 f57"/>
                <a:gd name="f175" fmla="*/ f132 1 f57"/>
                <a:gd name="f176" fmla="*/ f133 1 f57"/>
                <a:gd name="f177" fmla="*/ f134 1 f57"/>
                <a:gd name="f178" fmla="*/ f135 f51 1"/>
                <a:gd name="f179" fmla="*/ f136 f51 1"/>
                <a:gd name="f180" fmla="*/ f138 f52 1"/>
                <a:gd name="f181" fmla="*/ f137 f52 1"/>
                <a:gd name="f182" fmla="*/ f140 f51 1"/>
                <a:gd name="f183" fmla="*/ f141 f52 1"/>
                <a:gd name="f184" fmla="*/ f142 f51 1"/>
                <a:gd name="f185" fmla="*/ f143 f52 1"/>
                <a:gd name="f186" fmla="*/ f144 f51 1"/>
                <a:gd name="f187" fmla="*/ f145 f52 1"/>
                <a:gd name="f188" fmla="*/ f146 f51 1"/>
                <a:gd name="f189" fmla="*/ f147 f52 1"/>
                <a:gd name="f190" fmla="*/ f148 f51 1"/>
                <a:gd name="f191" fmla="*/ f149 f52 1"/>
                <a:gd name="f192" fmla="*/ f150 f51 1"/>
                <a:gd name="f193" fmla="*/ f151 f51 1"/>
                <a:gd name="f194" fmla="*/ f152 f52 1"/>
                <a:gd name="f195" fmla="*/ f153 f51 1"/>
                <a:gd name="f196" fmla="*/ f154 f52 1"/>
                <a:gd name="f197" fmla="*/ f155 f52 1"/>
                <a:gd name="f198" fmla="*/ f156 f52 1"/>
                <a:gd name="f199" fmla="*/ f157 f51 1"/>
                <a:gd name="f200" fmla="*/ f158 f52 1"/>
                <a:gd name="f201" fmla="*/ f159 f52 1"/>
                <a:gd name="f202" fmla="*/ f160 f51 1"/>
                <a:gd name="f203" fmla="*/ f161 f52 1"/>
                <a:gd name="f204" fmla="*/ f162 f51 1"/>
                <a:gd name="f205" fmla="*/ f163 f51 1"/>
                <a:gd name="f206" fmla="*/ f164 f52 1"/>
                <a:gd name="f207" fmla="*/ f165 f52 1"/>
                <a:gd name="f208" fmla="*/ f166 f51 1"/>
                <a:gd name="f209" fmla="*/ f167 f52 1"/>
                <a:gd name="f210" fmla="*/ f168 f51 1"/>
                <a:gd name="f211" fmla="*/ f169 f52 1"/>
                <a:gd name="f212" fmla="*/ f170 f51 1"/>
                <a:gd name="f213" fmla="*/ f171 f52 1"/>
                <a:gd name="f214" fmla="*/ f172 f51 1"/>
                <a:gd name="f215" fmla="*/ f173 f52 1"/>
                <a:gd name="f216" fmla="*/ f174 f52 1"/>
                <a:gd name="f217" fmla="*/ f175 f52 1"/>
                <a:gd name="f218" fmla="*/ f176 f52 1"/>
                <a:gd name="f219" fmla="*/ f177 f52 1"/>
              </a:gdLst>
              <a:ahLst/>
              <a:cxnLst>
                <a:cxn ang="3cd4">
                  <a:pos x="hc" y="t"/>
                </a:cxn>
                <a:cxn ang="0">
                  <a:pos x="r" y="vc"/>
                </a:cxn>
                <a:cxn ang="cd4">
                  <a:pos x="hc" y="b"/>
                </a:cxn>
                <a:cxn ang="cd2">
                  <a:pos x="l" y="vc"/>
                </a:cxn>
                <a:cxn ang="f139">
                  <a:pos x="f182" y="f183"/>
                </a:cxn>
                <a:cxn ang="f139">
                  <a:pos x="f184" y="f185"/>
                </a:cxn>
                <a:cxn ang="f139">
                  <a:pos x="f186" y="f187"/>
                </a:cxn>
                <a:cxn ang="f139">
                  <a:pos x="f188" y="f189"/>
                </a:cxn>
                <a:cxn ang="f139">
                  <a:pos x="f190" y="f191"/>
                </a:cxn>
                <a:cxn ang="f139">
                  <a:pos x="f192" y="f189"/>
                </a:cxn>
                <a:cxn ang="f139">
                  <a:pos x="f193" y="f194"/>
                </a:cxn>
                <a:cxn ang="f139">
                  <a:pos x="f193" y="f189"/>
                </a:cxn>
                <a:cxn ang="f139">
                  <a:pos x="f195" y="f189"/>
                </a:cxn>
                <a:cxn ang="f139">
                  <a:pos x="f195" y="f196"/>
                </a:cxn>
                <a:cxn ang="f139">
                  <a:pos x="f193" y="f197"/>
                </a:cxn>
                <a:cxn ang="f139">
                  <a:pos x="f193" y="f198"/>
                </a:cxn>
                <a:cxn ang="f139">
                  <a:pos x="f199" y="f200"/>
                </a:cxn>
                <a:cxn ang="f139">
                  <a:pos x="f192" y="f201"/>
                </a:cxn>
                <a:cxn ang="f139">
                  <a:pos x="f202" y="f203"/>
                </a:cxn>
                <a:cxn ang="f139">
                  <a:pos x="f204" y="f203"/>
                </a:cxn>
                <a:cxn ang="f139">
                  <a:pos x="f205" y="f206"/>
                </a:cxn>
                <a:cxn ang="f139">
                  <a:pos x="f186" y="f198"/>
                </a:cxn>
                <a:cxn ang="f139">
                  <a:pos x="f184" y="f207"/>
                </a:cxn>
                <a:cxn ang="f139">
                  <a:pos x="f182" y="f183"/>
                </a:cxn>
                <a:cxn ang="f139">
                  <a:pos x="f208" y="f183"/>
                </a:cxn>
                <a:cxn ang="f139">
                  <a:pos x="f188" y="f209"/>
                </a:cxn>
                <a:cxn ang="f139">
                  <a:pos x="f210" y="f211"/>
                </a:cxn>
                <a:cxn ang="f139">
                  <a:pos x="f202" y="f211"/>
                </a:cxn>
                <a:cxn ang="f139">
                  <a:pos x="f212" y="f213"/>
                </a:cxn>
                <a:cxn ang="f139">
                  <a:pos x="f214" y="f209"/>
                </a:cxn>
                <a:cxn ang="f139">
                  <a:pos x="f193" y="f215"/>
                </a:cxn>
                <a:cxn ang="f139">
                  <a:pos x="f193" y="f216"/>
                </a:cxn>
                <a:cxn ang="f139">
                  <a:pos x="f214" y="f217"/>
                </a:cxn>
                <a:cxn ang="f139">
                  <a:pos x="f212" y="f218"/>
                </a:cxn>
                <a:cxn ang="f139">
                  <a:pos x="f202" y="f219"/>
                </a:cxn>
                <a:cxn ang="f139">
                  <a:pos x="f190" y="f219"/>
                </a:cxn>
                <a:cxn ang="f139">
                  <a:pos x="f188" y="f217"/>
                </a:cxn>
                <a:cxn ang="f139">
                  <a:pos x="f208" y="f183"/>
                </a:cxn>
              </a:cxnLst>
              <a:rect l="f178" t="f181" r="f179" b="f180"/>
              <a:pathLst>
                <a:path w="33" h="54">
                  <a:moveTo>
                    <a:pt x="f6" y="f8"/>
                  </a:moveTo>
                  <a:cubicBezTo>
                    <a:pt x="f6" y="f9"/>
                    <a:pt x="f10" y="f11"/>
                    <a:pt x="f12" y="f13"/>
                  </a:cubicBezTo>
                  <a:cubicBezTo>
                    <a:pt x="f14" y="f15"/>
                    <a:pt x="f16" y="f17"/>
                    <a:pt x="f18" y="f19"/>
                  </a:cubicBezTo>
                  <a:cubicBezTo>
                    <a:pt x="f20" y="f21"/>
                    <a:pt x="f22" y="f23"/>
                    <a:pt x="f24" y="f25"/>
                  </a:cubicBezTo>
                  <a:cubicBezTo>
                    <a:pt x="f26" y="f7"/>
                    <a:pt x="f27" y="f7"/>
                    <a:pt x="f28" y="f7"/>
                  </a:cubicBezTo>
                  <a:cubicBezTo>
                    <a:pt x="f29" y="f7"/>
                    <a:pt x="f30" y="f7"/>
                    <a:pt x="f31" y="f25"/>
                  </a:cubicBezTo>
                  <a:cubicBezTo>
                    <a:pt x="f32" y="f23"/>
                    <a:pt x="f33" y="f21"/>
                    <a:pt x="f34" y="f35"/>
                  </a:cubicBezTo>
                  <a:cubicBezTo>
                    <a:pt x="f34" y="f25"/>
                    <a:pt x="f34" y="f25"/>
                    <a:pt x="f34" y="f25"/>
                  </a:cubicBezTo>
                  <a:cubicBezTo>
                    <a:pt x="f5" y="f25"/>
                    <a:pt x="f5" y="f25"/>
                    <a:pt x="f5" y="f25"/>
                  </a:cubicBezTo>
                  <a:cubicBezTo>
                    <a:pt x="f5" y="f36"/>
                    <a:pt x="f5" y="f36"/>
                    <a:pt x="f5" y="f36"/>
                  </a:cubicBezTo>
                  <a:cubicBezTo>
                    <a:pt x="f34" y="f5"/>
                    <a:pt x="f34" y="f5"/>
                    <a:pt x="f34" y="f5"/>
                  </a:cubicBezTo>
                  <a:cubicBezTo>
                    <a:pt x="f34" y="f27"/>
                    <a:pt x="f34" y="f27"/>
                    <a:pt x="f34" y="f27"/>
                  </a:cubicBezTo>
                  <a:cubicBezTo>
                    <a:pt x="f33" y="f37"/>
                    <a:pt x="f33" y="f28"/>
                    <a:pt x="f32" y="f28"/>
                  </a:cubicBezTo>
                  <a:cubicBezTo>
                    <a:pt x="f38" y="f29"/>
                    <a:pt x="f38" y="f29"/>
                    <a:pt x="f31" y="f29"/>
                  </a:cubicBezTo>
                  <a:cubicBezTo>
                    <a:pt x="f39" y="f40"/>
                    <a:pt x="f39" y="f40"/>
                    <a:pt x="f30" y="f30"/>
                  </a:cubicBezTo>
                  <a:cubicBezTo>
                    <a:pt x="f40" y="f30"/>
                    <a:pt x="f29" y="f30"/>
                    <a:pt x="f37" y="f30"/>
                  </a:cubicBezTo>
                  <a:cubicBezTo>
                    <a:pt x="f41" y="f30"/>
                    <a:pt x="f42" y="f30"/>
                    <a:pt x="f43" y="f40"/>
                  </a:cubicBezTo>
                  <a:cubicBezTo>
                    <a:pt x="f22" y="f29"/>
                    <a:pt x="f20" y="f28"/>
                    <a:pt x="f18" y="f27"/>
                  </a:cubicBezTo>
                  <a:cubicBezTo>
                    <a:pt x="f14" y="f26"/>
                    <a:pt x="f12" y="f24"/>
                    <a:pt x="f12" y="f22"/>
                  </a:cubicBezTo>
                  <a:cubicBezTo>
                    <a:pt x="f10" y="f18"/>
                    <a:pt x="f6" y="f12"/>
                    <a:pt x="f6" y="f8"/>
                  </a:cubicBezTo>
                  <a:close/>
                  <a:moveTo>
                    <a:pt x="f22" y="f8"/>
                  </a:moveTo>
                  <a:cubicBezTo>
                    <a:pt x="f22" y="f14"/>
                    <a:pt x="f43" y="f20"/>
                    <a:pt x="f24" y="f43"/>
                  </a:cubicBezTo>
                  <a:cubicBezTo>
                    <a:pt x="f26" y="f42"/>
                    <a:pt x="f27" y="f26"/>
                    <a:pt x="f29" y="f26"/>
                  </a:cubicBezTo>
                  <a:cubicBezTo>
                    <a:pt x="f40" y="f26"/>
                    <a:pt x="f40" y="f26"/>
                    <a:pt x="f30" y="f26"/>
                  </a:cubicBezTo>
                  <a:cubicBezTo>
                    <a:pt x="f39" y="f42"/>
                    <a:pt x="f31" y="f42"/>
                    <a:pt x="f38" y="f24"/>
                  </a:cubicBezTo>
                  <a:cubicBezTo>
                    <a:pt x="f38" y="f24"/>
                    <a:pt x="f32" y="f43"/>
                    <a:pt x="f33" y="f43"/>
                  </a:cubicBezTo>
                  <a:cubicBezTo>
                    <a:pt x="f33" y="f22"/>
                    <a:pt x="f34" y="f22"/>
                    <a:pt x="f34" y="f44"/>
                  </a:cubicBezTo>
                  <a:cubicBezTo>
                    <a:pt x="f34" y="f45"/>
                    <a:pt x="f34" y="f45"/>
                    <a:pt x="f34" y="f45"/>
                  </a:cubicBezTo>
                  <a:cubicBezTo>
                    <a:pt x="f34" y="f13"/>
                    <a:pt x="f33" y="f13"/>
                    <a:pt x="f33" y="f46"/>
                  </a:cubicBezTo>
                  <a:cubicBezTo>
                    <a:pt x="f32" y="f46"/>
                    <a:pt x="f38" y="f47"/>
                    <a:pt x="f38" y="f47"/>
                  </a:cubicBezTo>
                  <a:cubicBezTo>
                    <a:pt x="f31" y="f15"/>
                    <a:pt x="f39" y="f15"/>
                    <a:pt x="f30" y="f48"/>
                  </a:cubicBezTo>
                  <a:cubicBezTo>
                    <a:pt x="f40" y="f48"/>
                    <a:pt x="f29" y="f48"/>
                    <a:pt x="f28" y="f48"/>
                  </a:cubicBezTo>
                  <a:cubicBezTo>
                    <a:pt x="f27" y="f48"/>
                    <a:pt x="f26" y="f15"/>
                    <a:pt x="f24" y="f46"/>
                  </a:cubicBezTo>
                  <a:cubicBezTo>
                    <a:pt x="f43" y="f45"/>
                    <a:pt x="f22" y="f49"/>
                    <a:pt x="f22"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0" name="Freeform 52">
              <a:extLst>
                <a:ext uri="{FF2B5EF4-FFF2-40B4-BE49-F238E27FC236}">
                  <a16:creationId xmlns:a16="http://schemas.microsoft.com/office/drawing/2014/main" id="{CA6A584F-5E69-B71C-BACA-D2580CD5D40A}"/>
                </a:ext>
              </a:extLst>
            </p:cNvPr>
            <p:cNvSpPr/>
            <p:nvPr/>
          </p:nvSpPr>
          <p:spPr>
            <a:xfrm>
              <a:off x="956215"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3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30 f50 1"/>
                <a:gd name="f74" fmla="*/ 35 f49 1"/>
                <a:gd name="f75" fmla="*/ 27 f50 1"/>
                <a:gd name="f76" fmla="*/ 37 f49 1"/>
                <a:gd name="f77" fmla="*/ 24 f50 1"/>
                <a:gd name="f78" fmla="*/ 39 f49 1"/>
                <a:gd name="f79" fmla="*/ 40 f49 1"/>
                <a:gd name="f80" fmla="*/ 16 f50 1"/>
                <a:gd name="f81" fmla="*/ 12 f50 1"/>
                <a:gd name="f82" fmla="*/ 38 f49 1"/>
                <a:gd name="f83" fmla="*/ 5 f50 1"/>
                <a:gd name="f84" fmla="*/ 2 f50 1"/>
                <a:gd name="f85" fmla="*/ 0 f50 1"/>
                <a:gd name="f86" fmla="*/ 26 f49 1"/>
                <a:gd name="f87" fmla="*/ 20 f49 1"/>
                <a:gd name="f88" fmla="*/ 1 f50 1"/>
                <a:gd name="f89" fmla="*/ 12 f49 1"/>
                <a:gd name="f90" fmla="*/ 4 f50 1"/>
                <a:gd name="f91" fmla="*/ 5 f49 1"/>
                <a:gd name="f92" fmla="*/ 1 f49 1"/>
                <a:gd name="f93" fmla="*/ 0 f49 1"/>
                <a:gd name="f94" fmla="*/ 2 f49 1"/>
                <a:gd name="f95" fmla="*/ 29 f50 1"/>
                <a:gd name="f96" fmla="*/ 6 f49 1"/>
                <a:gd name="f97" fmla="*/ 17 f49 1"/>
                <a:gd name="f98" fmla="*/ 13 f49 1"/>
                <a:gd name="f99" fmla="*/ 10 f49 1"/>
                <a:gd name="f100" fmla="*/ 20 f50 1"/>
                <a:gd name="f101" fmla="*/ 8 f49 1"/>
                <a:gd name="f102" fmla="*/ 7 f49 1"/>
                <a:gd name="f103" fmla="*/ 9 f49 1"/>
                <a:gd name="f104" fmla="*/ f51 1 f2"/>
                <a:gd name="f105" fmla="*/ f54 1 33"/>
                <a:gd name="f106" fmla="*/ f55 1 40"/>
                <a:gd name="f107" fmla="*/ f56 1 40"/>
                <a:gd name="f108" fmla="*/ f57 1 33"/>
                <a:gd name="f109" fmla="*/ f58 1 40"/>
                <a:gd name="f110" fmla="*/ f59 1 33"/>
                <a:gd name="f111" fmla="*/ f60 1 33"/>
                <a:gd name="f112" fmla="*/ f61 1 40"/>
                <a:gd name="f113" fmla="*/ f62 1 33"/>
                <a:gd name="f114" fmla="*/ f63 1 40"/>
                <a:gd name="f115" fmla="*/ f64 1 33"/>
                <a:gd name="f116" fmla="*/ f65 1 40"/>
                <a:gd name="f117" fmla="*/ f66 1 33"/>
                <a:gd name="f118" fmla="*/ f67 1 33"/>
                <a:gd name="f119" fmla="*/ f68 1 33"/>
                <a:gd name="f120" fmla="*/ f69 1 40"/>
                <a:gd name="f121" fmla="*/ f70 1 33"/>
                <a:gd name="f122" fmla="*/ f71 1 33"/>
                <a:gd name="f123" fmla="*/ f72 1 40"/>
                <a:gd name="f124" fmla="*/ f73 1 33"/>
                <a:gd name="f125" fmla="*/ f74 1 40"/>
                <a:gd name="f126" fmla="*/ f75 1 33"/>
                <a:gd name="f127" fmla="*/ f76 1 40"/>
                <a:gd name="f128" fmla="*/ f77 1 33"/>
                <a:gd name="f129" fmla="*/ f78 1 40"/>
                <a:gd name="f130" fmla="*/ f79 1 40"/>
                <a:gd name="f131" fmla="*/ f80 1 33"/>
                <a:gd name="f132" fmla="*/ f81 1 33"/>
                <a:gd name="f133" fmla="*/ f82 1 40"/>
                <a:gd name="f134" fmla="*/ f83 1 33"/>
                <a:gd name="f135" fmla="*/ f84 1 33"/>
                <a:gd name="f136" fmla="*/ f85 1 33"/>
                <a:gd name="f137" fmla="*/ f86 1 40"/>
                <a:gd name="f138" fmla="*/ f87 1 40"/>
                <a:gd name="f139" fmla="*/ f88 1 33"/>
                <a:gd name="f140" fmla="*/ f89 1 40"/>
                <a:gd name="f141" fmla="*/ f90 1 33"/>
                <a:gd name="f142" fmla="*/ f91 1 40"/>
                <a:gd name="f143" fmla="*/ f92 1 40"/>
                <a:gd name="f144" fmla="*/ f93 1 40"/>
                <a:gd name="f145" fmla="*/ f94 1 40"/>
                <a:gd name="f146" fmla="*/ f95 1 33"/>
                <a:gd name="f147" fmla="*/ f96 1 40"/>
                <a:gd name="f148" fmla="*/ f97 1 40"/>
                <a:gd name="f149" fmla="*/ f98 1 40"/>
                <a:gd name="f150" fmla="*/ f99 1 40"/>
                <a:gd name="f151" fmla="*/ f100 1 33"/>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3"/>
                <a:gd name="f163" fmla="*/ f108 1 f52"/>
                <a:gd name="f164" fmla="*/ f109 1 f53"/>
                <a:gd name="f165" fmla="*/ f110 1 f52"/>
                <a:gd name="f166" fmla="*/ f111 1 f52"/>
                <a:gd name="f167" fmla="*/ f112 1 f53"/>
                <a:gd name="f168" fmla="*/ f113 1 f52"/>
                <a:gd name="f169" fmla="*/ f114 1 f53"/>
                <a:gd name="f170" fmla="*/ f115 1 f52"/>
                <a:gd name="f171" fmla="*/ f116 1 f53"/>
                <a:gd name="f172" fmla="*/ f117 1 f52"/>
                <a:gd name="f173" fmla="*/ f118 1 f52"/>
                <a:gd name="f174" fmla="*/ f119 1 f52"/>
                <a:gd name="f175" fmla="*/ f120 1 f53"/>
                <a:gd name="f176" fmla="*/ f121 1 f52"/>
                <a:gd name="f177" fmla="*/ f122 1 f52"/>
                <a:gd name="f178" fmla="*/ f123 1 f53"/>
                <a:gd name="f179" fmla="*/ f124 1 f52"/>
                <a:gd name="f180" fmla="*/ f125 1 f53"/>
                <a:gd name="f181" fmla="*/ f126 1 f52"/>
                <a:gd name="f182" fmla="*/ f127 1 f53"/>
                <a:gd name="f183" fmla="*/ f128 1 f52"/>
                <a:gd name="f184" fmla="*/ f129 1 f53"/>
                <a:gd name="f185" fmla="*/ f130 1 f53"/>
                <a:gd name="f186" fmla="*/ f131 1 f52"/>
                <a:gd name="f187" fmla="*/ f132 1 f52"/>
                <a:gd name="f188" fmla="*/ f133 1 f53"/>
                <a:gd name="f189" fmla="*/ f134 1 f52"/>
                <a:gd name="f190" fmla="*/ f135 1 f52"/>
                <a:gd name="f191" fmla="*/ f136 1 f52"/>
                <a:gd name="f192" fmla="*/ f137 1 f53"/>
                <a:gd name="f193" fmla="*/ f138 1 f53"/>
                <a:gd name="f194" fmla="*/ f139 1 f52"/>
                <a:gd name="f195" fmla="*/ f140 1 f53"/>
                <a:gd name="f196" fmla="*/ f141 1 f52"/>
                <a:gd name="f197" fmla="*/ f142 1 f53"/>
                <a:gd name="f198" fmla="*/ f143 1 f53"/>
                <a:gd name="f199" fmla="*/ f144 1 f53"/>
                <a:gd name="f200" fmla="*/ f145 1 f53"/>
                <a:gd name="f201" fmla="*/ f146 1 f52"/>
                <a:gd name="f202" fmla="*/ f147 1 f53"/>
                <a:gd name="f203" fmla="*/ f148 1 f53"/>
                <a:gd name="f204" fmla="*/ f149 1 f53"/>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8 1"/>
                <a:gd name="f217" fmla="*/ f163 f47 1"/>
                <a:gd name="f218" fmla="*/ f164 f48 1"/>
                <a:gd name="f219" fmla="*/ f165 f47 1"/>
                <a:gd name="f220" fmla="*/ f166 f47 1"/>
                <a:gd name="f221" fmla="*/ f167 f48 1"/>
                <a:gd name="f222" fmla="*/ f168 f47 1"/>
                <a:gd name="f223" fmla="*/ f169 f48 1"/>
                <a:gd name="f224" fmla="*/ f170 f47 1"/>
                <a:gd name="f225" fmla="*/ f171 f48 1"/>
                <a:gd name="f226" fmla="*/ f172 f47 1"/>
                <a:gd name="f227" fmla="*/ f173 f47 1"/>
                <a:gd name="f228" fmla="*/ f174 f47 1"/>
                <a:gd name="f229" fmla="*/ f175 f48 1"/>
                <a:gd name="f230" fmla="*/ f176 f47 1"/>
                <a:gd name="f231" fmla="*/ f177 f47 1"/>
                <a:gd name="f232" fmla="*/ f178 f48 1"/>
                <a:gd name="f233" fmla="*/ f179 f47 1"/>
                <a:gd name="f234" fmla="*/ f180 f48 1"/>
                <a:gd name="f235" fmla="*/ f181 f47 1"/>
                <a:gd name="f236" fmla="*/ f182 f48 1"/>
                <a:gd name="f237" fmla="*/ f183 f47 1"/>
                <a:gd name="f238" fmla="*/ f184 f48 1"/>
                <a:gd name="f239" fmla="*/ f185 f48 1"/>
                <a:gd name="f240" fmla="*/ f186 f47 1"/>
                <a:gd name="f241" fmla="*/ f187 f47 1"/>
                <a:gd name="f242" fmla="*/ f188 f48 1"/>
                <a:gd name="f243" fmla="*/ f189 f47 1"/>
                <a:gd name="f244" fmla="*/ f190 f47 1"/>
                <a:gd name="f245" fmla="*/ f191 f47 1"/>
                <a:gd name="f246" fmla="*/ f192 f48 1"/>
                <a:gd name="f247" fmla="*/ f193 f48 1"/>
                <a:gd name="f248" fmla="*/ f194 f47 1"/>
                <a:gd name="f249" fmla="*/ f195 f48 1"/>
                <a:gd name="f250" fmla="*/ f196 f47 1"/>
                <a:gd name="f251" fmla="*/ f197 f48 1"/>
                <a:gd name="f252" fmla="*/ f198 f48 1"/>
                <a:gd name="f253" fmla="*/ f199 f48 1"/>
                <a:gd name="f254" fmla="*/ f200 f48 1"/>
                <a:gd name="f255" fmla="*/ f201 f47 1"/>
                <a:gd name="f256" fmla="*/ f202 f48 1"/>
                <a:gd name="f257" fmla="*/ f203 f48 1"/>
                <a:gd name="f258" fmla="*/ f204 f48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4" y="f216"/>
                </a:cxn>
                <a:cxn ang="f159">
                  <a:pos x="f217" y="f218"/>
                </a:cxn>
                <a:cxn ang="f159">
                  <a:pos x="f219" y="f218"/>
                </a:cxn>
                <a:cxn ang="f159">
                  <a:pos x="f220" y="f221"/>
                </a:cxn>
                <a:cxn ang="f159">
                  <a:pos x="f222" y="f223"/>
                </a:cxn>
                <a:cxn ang="f159">
                  <a:pos x="f224" y="f225"/>
                </a:cxn>
                <a:cxn ang="f159">
                  <a:pos x="f226" y="f225"/>
                </a:cxn>
                <a:cxn ang="f159">
                  <a:pos x="f227" y="f225"/>
                </a:cxn>
                <a:cxn ang="f159">
                  <a:pos x="f228" y="f229"/>
                </a:cxn>
                <a:cxn ang="f159">
                  <a:pos x="f230" y="f229"/>
                </a:cxn>
                <a:cxn ang="f159">
                  <a:pos x="f231" y="f232"/>
                </a:cxn>
                <a:cxn ang="f159">
                  <a:pos x="f233" y="f234"/>
                </a:cxn>
                <a:cxn ang="f159">
                  <a:pos x="f235" y="f236"/>
                </a:cxn>
                <a:cxn ang="f159">
                  <a:pos x="f237" y="f238"/>
                </a:cxn>
                <a:cxn ang="f159">
                  <a:pos x="f228" y="f239"/>
                </a:cxn>
                <a:cxn ang="f159">
                  <a:pos x="f240" y="f239"/>
                </a:cxn>
                <a:cxn ang="f159">
                  <a:pos x="f241" y="f238"/>
                </a:cxn>
                <a:cxn ang="f159">
                  <a:pos x="f220" y="f242"/>
                </a:cxn>
                <a:cxn ang="f159">
                  <a:pos x="f243" y="f234"/>
                </a:cxn>
                <a:cxn ang="f159">
                  <a:pos x="f244" y="f223"/>
                </a:cxn>
                <a:cxn ang="f159">
                  <a:pos x="f245" y="f246"/>
                </a:cxn>
                <a:cxn ang="f159">
                  <a:pos x="f245" y="f247"/>
                </a:cxn>
                <a:cxn ang="f159">
                  <a:pos x="f248" y="f249"/>
                </a:cxn>
                <a:cxn ang="f159">
                  <a:pos x="f250" y="f251"/>
                </a:cxn>
                <a:cxn ang="f159">
                  <a:pos x="f222" y="f252"/>
                </a:cxn>
                <a:cxn ang="f159">
                  <a:pos x="f240" y="f253"/>
                </a:cxn>
                <a:cxn ang="f159">
                  <a:pos x="f237" y="f254"/>
                </a:cxn>
                <a:cxn ang="f159">
                  <a:pos x="f255" y="f256"/>
                </a:cxn>
                <a:cxn ang="f159">
                  <a:pos x="f217" y="f249"/>
                </a:cxn>
                <a:cxn ang="f159">
                  <a:pos x="f214" y="f215"/>
                </a:cxn>
                <a:cxn ang="f159">
                  <a:pos x="f231" y="f257"/>
                </a:cxn>
                <a:cxn ang="f159">
                  <a:pos x="f237" y="f258"/>
                </a:cxn>
                <a:cxn ang="f159">
                  <a:pos x="f230" y="f259"/>
                </a:cxn>
                <a:cxn ang="f159">
                  <a:pos x="f260" y="f261"/>
                </a:cxn>
                <a:cxn ang="f159">
                  <a:pos x="f240" y="f262"/>
                </a:cxn>
                <a:cxn ang="f159">
                  <a:pos x="f241" y="f261"/>
                </a:cxn>
                <a:cxn ang="f159">
                  <a:pos x="f222" y="f263"/>
                </a:cxn>
                <a:cxn ang="f159">
                  <a:pos x="f220" y="f249"/>
                </a:cxn>
                <a:cxn ang="f159">
                  <a:pos x="f219" y="f257"/>
                </a:cxn>
                <a:cxn ang="f159">
                  <a:pos x="f231" y="f257"/>
                </a:cxn>
              </a:cxnLst>
              <a:rect l="f210" t="f213" r="f211" b="f212"/>
              <a:pathLst>
                <a:path w="33" h="40">
                  <a:moveTo>
                    <a:pt x="f6" y="f8"/>
                  </a:moveTo>
                  <a:cubicBezTo>
                    <a:pt x="f6" y="f9"/>
                    <a:pt x="f6" y="f10"/>
                    <a:pt x="f6" y="f10"/>
                  </a:cubicBezTo>
                  <a:cubicBezTo>
                    <a:pt x="f6" y="f11"/>
                    <a:pt x="f12" y="f11"/>
                    <a:pt x="f12" y="f13"/>
                  </a:cubicBezTo>
                  <a:cubicBezTo>
                    <a:pt x="f14" y="f13"/>
                    <a:pt x="f14" y="f13"/>
                    <a:pt x="f14" y="f13"/>
                  </a:cubicBezTo>
                  <a:cubicBezTo>
                    <a:pt x="f14" y="f15"/>
                    <a:pt x="f16" y="f17"/>
                    <a:pt x="f16" y="f18"/>
                  </a:cubicBezTo>
                  <a:cubicBezTo>
                    <a:pt x="f19" y="f20"/>
                    <a:pt x="f21" y="f22"/>
                    <a:pt x="f21" y="f23"/>
                  </a:cubicBezTo>
                  <a:cubicBezTo>
                    <a:pt x="f24" y="f12"/>
                    <a:pt x="f25" y="f12"/>
                    <a:pt x="f26" y="f6"/>
                  </a:cubicBezTo>
                  <a:cubicBezTo>
                    <a:pt x="f27" y="f6"/>
                    <a:pt x="f28" y="f6"/>
                    <a:pt x="f29" y="f6"/>
                  </a:cubicBezTo>
                  <a:cubicBezTo>
                    <a:pt x="f30" y="f6"/>
                    <a:pt x="f30" y="f6"/>
                    <a:pt x="f8" y="f6"/>
                  </a:cubicBezTo>
                  <a:cubicBezTo>
                    <a:pt x="f9" y="f6"/>
                    <a:pt x="f10" y="f6"/>
                    <a:pt x="f10" y="f12"/>
                  </a:cubicBezTo>
                  <a:cubicBezTo>
                    <a:pt x="f11" y="f12"/>
                    <a:pt x="f11" y="f12"/>
                    <a:pt x="f13" y="f12"/>
                  </a:cubicBezTo>
                  <a:cubicBezTo>
                    <a:pt x="f31" y="f23"/>
                    <a:pt x="f31" y="f23"/>
                    <a:pt x="f15" y="f22"/>
                  </a:cubicBezTo>
                  <a:cubicBezTo>
                    <a:pt x="f22" y="f32"/>
                    <a:pt x="f22" y="f32"/>
                    <a:pt x="f22" y="f32"/>
                  </a:cubicBezTo>
                  <a:cubicBezTo>
                    <a:pt x="f20" y="f33"/>
                    <a:pt x="f18" y="f34"/>
                    <a:pt x="f35" y="f34"/>
                  </a:cubicBezTo>
                  <a:cubicBezTo>
                    <a:pt x="f17" y="f36"/>
                    <a:pt x="f15" y="f36"/>
                    <a:pt x="f31" y="f37"/>
                  </a:cubicBezTo>
                  <a:cubicBezTo>
                    <a:pt x="f13" y="f37"/>
                    <a:pt x="f11" y="f7"/>
                    <a:pt x="f10"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1"/>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1" y="f45"/>
                    <a:pt x="f31" y="f44"/>
                  </a:cubicBezTo>
                  <a:cubicBezTo>
                    <a:pt x="f17" y="f43"/>
                    <a:pt x="f35" y="f41"/>
                    <a:pt x="f20" y="f39"/>
                  </a:cubicBezTo>
                  <a:cubicBezTo>
                    <a:pt x="f22" y="f16"/>
                    <a:pt x="f23" y="f21"/>
                    <a:pt x="f12" y="f25"/>
                  </a:cubicBezTo>
                  <a:cubicBezTo>
                    <a:pt x="f12" y="f27"/>
                    <a:pt x="f6" y="f29"/>
                    <a:pt x="f6" y="f8"/>
                  </a:cubicBezTo>
                  <a:close/>
                  <a:moveTo>
                    <a:pt x="f15" y="f29"/>
                  </a:moveTo>
                  <a:cubicBezTo>
                    <a:pt x="f15" y="f38"/>
                    <a:pt x="f15" y="f27"/>
                    <a:pt x="f31" y="f26"/>
                  </a:cubicBezTo>
                  <a:cubicBezTo>
                    <a:pt x="f31" y="f25"/>
                    <a:pt x="f13" y="f24"/>
                    <a:pt x="f13" y="f21"/>
                  </a:cubicBezTo>
                  <a:cubicBezTo>
                    <a:pt x="f11" y="f19"/>
                    <a:pt x="f10" y="f16"/>
                    <a:pt x="f9" y="f16"/>
                  </a:cubicBezTo>
                  <a:cubicBezTo>
                    <a:pt x="f8" y="f14"/>
                    <a:pt x="f30"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1" name="Freeform 53">
              <a:extLst>
                <a:ext uri="{FF2B5EF4-FFF2-40B4-BE49-F238E27FC236}">
                  <a16:creationId xmlns:a16="http://schemas.microsoft.com/office/drawing/2014/main" id="{6C54DAF9-A2FC-3B4F-B0F2-D745FADCF99B}"/>
                </a:ext>
              </a:extLst>
            </p:cNvPr>
            <p:cNvSpPr/>
            <p:nvPr/>
          </p:nvSpPr>
          <p:spPr>
            <a:xfrm>
              <a:off x="1050325"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2"/>
                <a:gd name="f19" fmla="val 11"/>
                <a:gd name="f20" fmla="val 10"/>
                <a:gd name="f21" fmla="val 9"/>
                <a:gd name="f22" fmla="val 8"/>
                <a:gd name="f23" fmla="val 7"/>
                <a:gd name="f24" fmla="val 51"/>
                <a:gd name="f25" fmla="val 6"/>
                <a:gd name="f26" fmla="val 50"/>
                <a:gd name="f27" fmla="val 49"/>
                <a:gd name="f28" fmla="val 47"/>
                <a:gd name="f29" fmla="val 5"/>
                <a:gd name="f30" fmla="val 46"/>
                <a:gd name="f31" fmla="val 44"/>
                <a:gd name="f32" fmla="val 4"/>
                <a:gd name="f33" fmla="val 43"/>
                <a:gd name="f34" fmla="val 45"/>
                <a:gd name="f35" fmla="val 16"/>
                <a:gd name="f36" fmla="+- 0 0 -90"/>
                <a:gd name="f37" fmla="*/ f3 1 22"/>
                <a:gd name="f38" fmla="*/ f4 1 54"/>
                <a:gd name="f39" fmla="+- f7 0 f5"/>
                <a:gd name="f40" fmla="+- f6 0 f5"/>
                <a:gd name="f41" fmla="*/ f36 f0 1"/>
                <a:gd name="f42" fmla="*/ f40 1 22"/>
                <a:gd name="f43" fmla="*/ f39 1 54"/>
                <a:gd name="f44" fmla="*/ 21 f40 1"/>
                <a:gd name="f45" fmla="*/ 52 f39 1"/>
                <a:gd name="f46" fmla="*/ 18 f40 1"/>
                <a:gd name="f47" fmla="*/ 54 f39 1"/>
                <a:gd name="f48" fmla="*/ 14 f40 1"/>
                <a:gd name="f49" fmla="*/ 11 f40 1"/>
                <a:gd name="f50" fmla="*/ 8 f40 1"/>
                <a:gd name="f51" fmla="*/ 6 f40 1"/>
                <a:gd name="f52" fmla="*/ 49 f39 1"/>
                <a:gd name="f53" fmla="*/ 5 f40 1"/>
                <a:gd name="f54" fmla="*/ 44 f39 1"/>
                <a:gd name="f55" fmla="*/ 22 f39 1"/>
                <a:gd name="f56" fmla="*/ 0 f40 1"/>
                <a:gd name="f57" fmla="*/ 15 f39 1"/>
                <a:gd name="f58" fmla="*/ 4 f39 1"/>
                <a:gd name="f59" fmla="*/ 13 f40 1"/>
                <a:gd name="f60" fmla="*/ 0 f39 1"/>
                <a:gd name="f61" fmla="*/ 22 f40 1"/>
                <a:gd name="f62" fmla="*/ 43 f39 1"/>
                <a:gd name="f63" fmla="*/ 45 f39 1"/>
                <a:gd name="f64" fmla="*/ 46 f39 1"/>
                <a:gd name="f65" fmla="*/ 15 f40 1"/>
                <a:gd name="f66" fmla="*/ 47 f39 1"/>
                <a:gd name="f67" fmla="*/ 17 f40 1"/>
                <a:gd name="f68" fmla="*/ 20 f40 1"/>
                <a:gd name="f69" fmla="*/ f41 1 f2"/>
                <a:gd name="f70" fmla="*/ f44 1 22"/>
                <a:gd name="f71" fmla="*/ f45 1 54"/>
                <a:gd name="f72" fmla="*/ f46 1 22"/>
                <a:gd name="f73" fmla="*/ f47 1 54"/>
                <a:gd name="f74" fmla="*/ f48 1 22"/>
                <a:gd name="f75" fmla="*/ f49 1 22"/>
                <a:gd name="f76" fmla="*/ f50 1 22"/>
                <a:gd name="f77" fmla="*/ f51 1 22"/>
                <a:gd name="f78" fmla="*/ f52 1 54"/>
                <a:gd name="f79" fmla="*/ f53 1 22"/>
                <a:gd name="f80" fmla="*/ f54 1 54"/>
                <a:gd name="f81" fmla="*/ f55 1 54"/>
                <a:gd name="f82" fmla="*/ f56 1 22"/>
                <a:gd name="f83" fmla="*/ f57 1 54"/>
                <a:gd name="f84" fmla="*/ f58 1 54"/>
                <a:gd name="f85" fmla="*/ f59 1 22"/>
                <a:gd name="f86" fmla="*/ f60 1 54"/>
                <a:gd name="f87" fmla="*/ f61 1 22"/>
                <a:gd name="f88" fmla="*/ f62 1 54"/>
                <a:gd name="f89" fmla="*/ f63 1 54"/>
                <a:gd name="f90" fmla="*/ f64 1 54"/>
                <a:gd name="f91" fmla="*/ f65 1 22"/>
                <a:gd name="f92" fmla="*/ f66 1 54"/>
                <a:gd name="f93" fmla="*/ f67 1 22"/>
                <a:gd name="f94" fmla="*/ f68 1 22"/>
                <a:gd name="f95" fmla="*/ 0 1 f42"/>
                <a:gd name="f96" fmla="*/ f6 1 f42"/>
                <a:gd name="f97" fmla="*/ 0 1 f43"/>
                <a:gd name="f98" fmla="*/ f7 1 f43"/>
                <a:gd name="f99" fmla="+- f69 0 f1"/>
                <a:gd name="f100" fmla="*/ f70 1 f42"/>
                <a:gd name="f101" fmla="*/ f71 1 f43"/>
                <a:gd name="f102" fmla="*/ f72 1 f42"/>
                <a:gd name="f103" fmla="*/ f73 1 f43"/>
                <a:gd name="f104" fmla="*/ f74 1 f42"/>
                <a:gd name="f105" fmla="*/ f75 1 f42"/>
                <a:gd name="f106" fmla="*/ f76 1 f42"/>
                <a:gd name="f107" fmla="*/ f77 1 f42"/>
                <a:gd name="f108" fmla="*/ f78 1 f43"/>
                <a:gd name="f109" fmla="*/ f79 1 f42"/>
                <a:gd name="f110" fmla="*/ f80 1 f43"/>
                <a:gd name="f111" fmla="*/ f81 1 f43"/>
                <a:gd name="f112" fmla="*/ f82 1 f42"/>
                <a:gd name="f113" fmla="*/ f83 1 f43"/>
                <a:gd name="f114" fmla="*/ f84 1 f43"/>
                <a:gd name="f115" fmla="*/ f85 1 f42"/>
                <a:gd name="f116" fmla="*/ f86 1 f43"/>
                <a:gd name="f117" fmla="*/ f87 1 f42"/>
                <a:gd name="f118" fmla="*/ f88 1 f43"/>
                <a:gd name="f119" fmla="*/ f89 1 f43"/>
                <a:gd name="f120" fmla="*/ f90 1 f43"/>
                <a:gd name="f121" fmla="*/ f91 1 f42"/>
                <a:gd name="f122" fmla="*/ f92 1 f43"/>
                <a:gd name="f123" fmla="*/ f93 1 f42"/>
                <a:gd name="f124" fmla="*/ f94 1 f42"/>
                <a:gd name="f125" fmla="*/ f95 f37 1"/>
                <a:gd name="f126" fmla="*/ f96 f37 1"/>
                <a:gd name="f127" fmla="*/ f98 f38 1"/>
                <a:gd name="f128" fmla="*/ f97 f38 1"/>
                <a:gd name="f129" fmla="*/ f100 f37 1"/>
                <a:gd name="f130" fmla="*/ f101 f38 1"/>
                <a:gd name="f131" fmla="*/ f102 f37 1"/>
                <a:gd name="f132" fmla="*/ f103 f38 1"/>
                <a:gd name="f133" fmla="*/ f104 f37 1"/>
                <a:gd name="f134" fmla="*/ f105 f37 1"/>
                <a:gd name="f135" fmla="*/ f106 f37 1"/>
                <a:gd name="f136" fmla="*/ f107 f37 1"/>
                <a:gd name="f137" fmla="*/ f108 f38 1"/>
                <a:gd name="f138" fmla="*/ f109 f37 1"/>
                <a:gd name="f139" fmla="*/ f110 f38 1"/>
                <a:gd name="f140" fmla="*/ f111 f38 1"/>
                <a:gd name="f141" fmla="*/ f112 f37 1"/>
                <a:gd name="f142" fmla="*/ f113 f38 1"/>
                <a:gd name="f143" fmla="*/ f114 f38 1"/>
                <a:gd name="f144" fmla="*/ f115 f37 1"/>
                <a:gd name="f145" fmla="*/ f116 f38 1"/>
                <a:gd name="f146" fmla="*/ f117 f37 1"/>
                <a:gd name="f147" fmla="*/ f118 f38 1"/>
                <a:gd name="f148" fmla="*/ f119 f38 1"/>
                <a:gd name="f149" fmla="*/ f120 f38 1"/>
                <a:gd name="f150" fmla="*/ f121 f37 1"/>
                <a:gd name="f151" fmla="*/ f122 f38 1"/>
                <a:gd name="f152" fmla="*/ f123 f37 1"/>
                <a:gd name="f153" fmla="*/ f124 f37 1"/>
              </a:gdLst>
              <a:ahLst/>
              <a:cxnLst>
                <a:cxn ang="3cd4">
                  <a:pos x="hc" y="t"/>
                </a:cxn>
                <a:cxn ang="0">
                  <a:pos x="r" y="vc"/>
                </a:cxn>
                <a:cxn ang="cd4">
                  <a:pos x="hc" y="b"/>
                </a:cxn>
                <a:cxn ang="cd2">
                  <a:pos x="l" y="vc"/>
                </a:cxn>
                <a:cxn ang="f99">
                  <a:pos x="f129" y="f130"/>
                </a:cxn>
                <a:cxn ang="f99">
                  <a:pos x="f131" y="f132"/>
                </a:cxn>
                <a:cxn ang="f99">
                  <a:pos x="f133" y="f132"/>
                </a:cxn>
                <a:cxn ang="f99">
                  <a:pos x="f134" y="f132"/>
                </a:cxn>
                <a:cxn ang="f99">
                  <a:pos x="f135" y="f130"/>
                </a:cxn>
                <a:cxn ang="f99">
                  <a:pos x="f136" y="f137"/>
                </a:cxn>
                <a:cxn ang="f99">
                  <a:pos x="f138" y="f139"/>
                </a:cxn>
                <a:cxn ang="f99">
                  <a:pos x="f138" y="f140"/>
                </a:cxn>
                <a:cxn ang="f99">
                  <a:pos x="f141" y="f140"/>
                </a:cxn>
                <a:cxn ang="f99">
                  <a:pos x="f141" y="f142"/>
                </a:cxn>
                <a:cxn ang="f99">
                  <a:pos x="f138" y="f142"/>
                </a:cxn>
                <a:cxn ang="f99">
                  <a:pos x="f138" y="f143"/>
                </a:cxn>
                <a:cxn ang="f99">
                  <a:pos x="f144" y="f145"/>
                </a:cxn>
                <a:cxn ang="f99">
                  <a:pos x="f144" y="f142"/>
                </a:cxn>
                <a:cxn ang="f99">
                  <a:pos x="f146" y="f142"/>
                </a:cxn>
                <a:cxn ang="f99">
                  <a:pos x="f146" y="f140"/>
                </a:cxn>
                <a:cxn ang="f99">
                  <a:pos x="f144" y="f140"/>
                </a:cxn>
                <a:cxn ang="f99">
                  <a:pos x="f144" y="f147"/>
                </a:cxn>
                <a:cxn ang="f99">
                  <a:pos x="f144" y="f148"/>
                </a:cxn>
                <a:cxn ang="f99">
                  <a:pos x="f133" y="f149"/>
                </a:cxn>
                <a:cxn ang="f99">
                  <a:pos x="f150" y="f151"/>
                </a:cxn>
                <a:cxn ang="f99">
                  <a:pos x="f152" y="f151"/>
                </a:cxn>
                <a:cxn ang="f99">
                  <a:pos x="f153" y="f151"/>
                </a:cxn>
                <a:cxn ang="f99">
                  <a:pos x="f146" y="f149"/>
                </a:cxn>
                <a:cxn ang="f99">
                  <a:pos x="f129" y="f130"/>
                </a:cxn>
              </a:cxnLst>
              <a:rect l="f125" t="f128" r="f126" b="f127"/>
              <a:pathLst>
                <a:path w="22" h="54">
                  <a:moveTo>
                    <a:pt x="f8" y="f9"/>
                  </a:moveTo>
                  <a:cubicBezTo>
                    <a:pt x="f10" y="f11"/>
                    <a:pt x="f12" y="f11"/>
                    <a:pt x="f13" y="f7"/>
                  </a:cubicBezTo>
                  <a:cubicBezTo>
                    <a:pt x="f14" y="f7"/>
                    <a:pt x="f15" y="f7"/>
                    <a:pt x="f16" y="f7"/>
                  </a:cubicBezTo>
                  <a:cubicBezTo>
                    <a:pt x="f17" y="f7"/>
                    <a:pt x="f18" y="f7"/>
                    <a:pt x="f19" y="f7"/>
                  </a:cubicBezTo>
                  <a:cubicBezTo>
                    <a:pt x="f20" y="f11"/>
                    <a:pt x="f21" y="f11"/>
                    <a:pt x="f22" y="f9"/>
                  </a:cubicBezTo>
                  <a:cubicBezTo>
                    <a:pt x="f23" y="f24"/>
                    <a:pt x="f25" y="f26"/>
                    <a:pt x="f25" y="f27"/>
                  </a:cubicBezTo>
                  <a:cubicBezTo>
                    <a:pt x="f25" y="f28"/>
                    <a:pt x="f29" y="f30"/>
                    <a:pt x="f29" y="f31"/>
                  </a:cubicBezTo>
                  <a:cubicBezTo>
                    <a:pt x="f29" y="f6"/>
                    <a:pt x="f29" y="f6"/>
                    <a:pt x="f29" y="f6"/>
                  </a:cubicBezTo>
                  <a:cubicBezTo>
                    <a:pt x="f5" y="f6"/>
                    <a:pt x="f5" y="f6"/>
                    <a:pt x="f5" y="f6"/>
                  </a:cubicBezTo>
                  <a:cubicBezTo>
                    <a:pt x="f5" y="f15"/>
                    <a:pt x="f5" y="f15"/>
                    <a:pt x="f5" y="f15"/>
                  </a:cubicBezTo>
                  <a:cubicBezTo>
                    <a:pt x="f29" y="f15"/>
                    <a:pt x="f29" y="f15"/>
                    <a:pt x="f29" y="f15"/>
                  </a:cubicBezTo>
                  <a:cubicBezTo>
                    <a:pt x="f29" y="f32"/>
                    <a:pt x="f29" y="f32"/>
                    <a:pt x="f29" y="f32"/>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3"/>
                    <a:pt x="f17" y="f33"/>
                    <a:pt x="f17" y="f33"/>
                  </a:cubicBezTo>
                  <a:cubicBezTo>
                    <a:pt x="f17" y="f31"/>
                    <a:pt x="f17" y="f31"/>
                    <a:pt x="f17" y="f34"/>
                  </a:cubicBezTo>
                  <a:cubicBezTo>
                    <a:pt x="f17" y="f34"/>
                    <a:pt x="f17" y="f30"/>
                    <a:pt x="f16" y="f30"/>
                  </a:cubicBezTo>
                  <a:cubicBezTo>
                    <a:pt x="f16" y="f28"/>
                    <a:pt x="f16" y="f28"/>
                    <a:pt x="f15" y="f28"/>
                  </a:cubicBezTo>
                  <a:cubicBezTo>
                    <a:pt x="f15" y="f28"/>
                    <a:pt x="f35" y="f28"/>
                    <a:pt x="f14" y="f28"/>
                  </a:cubicBezTo>
                  <a:cubicBezTo>
                    <a:pt x="f13" y="f28"/>
                    <a:pt x="f12" y="f28"/>
                    <a:pt x="f10" y="f28"/>
                  </a:cubicBezTo>
                  <a:cubicBezTo>
                    <a:pt x="f8" y="f30"/>
                    <a:pt x="f6" y="f30"/>
                    <a:pt x="f6" y="f30"/>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2" name="Freeform 54">
              <a:extLst>
                <a:ext uri="{FF2B5EF4-FFF2-40B4-BE49-F238E27FC236}">
                  <a16:creationId xmlns:a16="http://schemas.microsoft.com/office/drawing/2014/main" id="{91D07AD1-37E1-FFCD-F61B-5FDEB9B12A6C}"/>
                </a:ext>
              </a:extLst>
            </p:cNvPr>
            <p:cNvSpPr/>
            <p:nvPr/>
          </p:nvSpPr>
          <p:spPr>
            <a:xfrm>
              <a:off x="111829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3" name="Freeform 55">
              <a:extLst>
                <a:ext uri="{FF2B5EF4-FFF2-40B4-BE49-F238E27FC236}">
                  <a16:creationId xmlns:a16="http://schemas.microsoft.com/office/drawing/2014/main" id="{9813F398-43F8-2F97-E3A7-536B16840610}"/>
                </a:ext>
              </a:extLst>
            </p:cNvPr>
            <p:cNvSpPr/>
            <p:nvPr/>
          </p:nvSpPr>
          <p:spPr>
            <a:xfrm>
              <a:off x="1189753"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32"/>
                <a:gd name="f12" fmla="val 22"/>
                <a:gd name="f13" fmla="val 23"/>
                <a:gd name="f14" fmla="val 7"/>
                <a:gd name="f15" fmla="val 25"/>
                <a:gd name="f16" fmla="val 8"/>
                <a:gd name="f17" fmla="val 26"/>
                <a:gd name="f18" fmla="val 28"/>
                <a:gd name="f19" fmla="val 9"/>
                <a:gd name="f20" fmla="val 29"/>
                <a:gd name="f21" fmla="val 10"/>
                <a:gd name="f22" fmla="val 30"/>
                <a:gd name="f23" fmla="val 31"/>
                <a:gd name="f24" fmla="val 11"/>
                <a:gd name="f25" fmla="val 12"/>
                <a:gd name="f26" fmla="val 13"/>
                <a:gd name="f27" fmla="val 14"/>
                <a:gd name="f28" fmla="val 16"/>
                <a:gd name="f29" fmla="val 17"/>
                <a:gd name="f30" fmla="val 18"/>
                <a:gd name="f31" fmla="val 24"/>
                <a:gd name="f32" fmla="val 35"/>
                <a:gd name="f33" fmla="val 36"/>
                <a:gd name="f34" fmla="val 37"/>
                <a:gd name="f35" fmla="val 27"/>
                <a:gd name="f36" fmla="val 38"/>
                <a:gd name="f37" fmla="val 39"/>
                <a:gd name="f38" fmla="val 15"/>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32 f50 1"/>
                <a:gd name="f58" fmla="*/ 23 f49 1"/>
                <a:gd name="f59" fmla="*/ 7 f50 1"/>
                <a:gd name="f60" fmla="*/ 8 f50 1"/>
                <a:gd name="f61" fmla="*/ 28 f49 1"/>
                <a:gd name="f62" fmla="*/ 10 f50 1"/>
                <a:gd name="f63" fmla="*/ 31 f49 1"/>
                <a:gd name="f64" fmla="*/ 13 f50 1"/>
                <a:gd name="f65" fmla="*/ 33 f49 1"/>
                <a:gd name="f66" fmla="*/ 17 f50 1"/>
                <a:gd name="f67" fmla="*/ 19 f50 1"/>
                <a:gd name="f68" fmla="*/ 21 f50 1"/>
                <a:gd name="f69" fmla="*/ 32 f49 1"/>
                <a:gd name="f70" fmla="*/ 23 f50 1"/>
                <a:gd name="f71" fmla="*/ 25 f50 1"/>
                <a:gd name="f72" fmla="*/ 30 f49 1"/>
                <a:gd name="f73" fmla="*/ 29 f50 1"/>
                <a:gd name="f74" fmla="*/ 35 f49 1"/>
                <a:gd name="f75" fmla="*/ 27 f50 1"/>
                <a:gd name="f76" fmla="*/ 37 f49 1"/>
                <a:gd name="f77" fmla="*/ 24 f50 1"/>
                <a:gd name="f78" fmla="*/ 39 f49 1"/>
                <a:gd name="f79" fmla="*/ 20 f50 1"/>
                <a:gd name="f80" fmla="*/ 40 f49 1"/>
                <a:gd name="f81" fmla="*/ 16 f50 1"/>
                <a:gd name="f82" fmla="*/ 12 f50 1"/>
                <a:gd name="f83" fmla="*/ 38 f49 1"/>
                <a:gd name="f84" fmla="*/ 5 f50 1"/>
                <a:gd name="f85" fmla="*/ 2 f50 1"/>
                <a:gd name="f86" fmla="*/ 0 f50 1"/>
                <a:gd name="f87" fmla="*/ 26 f49 1"/>
                <a:gd name="f88" fmla="*/ 20 f49 1"/>
                <a:gd name="f89" fmla="*/ 1 f50 1"/>
                <a:gd name="f90" fmla="*/ 12 f49 1"/>
                <a:gd name="f91" fmla="*/ 4 f50 1"/>
                <a:gd name="f92" fmla="*/ 5 f49 1"/>
                <a:gd name="f93" fmla="*/ 1 f49 1"/>
                <a:gd name="f94" fmla="*/ 0 f49 1"/>
                <a:gd name="f95" fmla="*/ 2 f49 1"/>
                <a:gd name="f96" fmla="*/ 6 f49 1"/>
                <a:gd name="f97" fmla="*/ 17 f49 1"/>
                <a:gd name="f98" fmla="*/ 13 f49 1"/>
                <a:gd name="f99" fmla="*/ 10 f49 1"/>
                <a:gd name="f100" fmla="*/ 8 f49 1"/>
                <a:gd name="f101" fmla="*/ 7 f49 1"/>
                <a:gd name="f102" fmla="*/ 9 f49 1"/>
                <a:gd name="f103" fmla="*/ f51 1 f2"/>
                <a:gd name="f104" fmla="*/ f54 1 33"/>
                <a:gd name="f105" fmla="*/ f55 1 40"/>
                <a:gd name="f106" fmla="*/ f56 1 40"/>
                <a:gd name="f107" fmla="*/ f57 1 33"/>
                <a:gd name="f108" fmla="*/ f58 1 40"/>
                <a:gd name="f109" fmla="*/ f59 1 33"/>
                <a:gd name="f110" fmla="*/ f60 1 33"/>
                <a:gd name="f111" fmla="*/ f61 1 40"/>
                <a:gd name="f112" fmla="*/ f62 1 33"/>
                <a:gd name="f113" fmla="*/ f63 1 40"/>
                <a:gd name="f114" fmla="*/ f64 1 33"/>
                <a:gd name="f115" fmla="*/ f65 1 40"/>
                <a:gd name="f116" fmla="*/ f66 1 33"/>
                <a:gd name="f117" fmla="*/ f67 1 33"/>
                <a:gd name="f118" fmla="*/ f68 1 33"/>
                <a:gd name="f119" fmla="*/ f69 1 40"/>
                <a:gd name="f120" fmla="*/ f70 1 33"/>
                <a:gd name="f121" fmla="*/ f71 1 33"/>
                <a:gd name="f122" fmla="*/ f72 1 40"/>
                <a:gd name="f123" fmla="*/ f73 1 33"/>
                <a:gd name="f124" fmla="*/ f74 1 40"/>
                <a:gd name="f125" fmla="*/ f75 1 33"/>
                <a:gd name="f126" fmla="*/ f76 1 40"/>
                <a:gd name="f127" fmla="*/ f77 1 33"/>
                <a:gd name="f128" fmla="*/ f78 1 40"/>
                <a:gd name="f129" fmla="*/ f79 1 33"/>
                <a:gd name="f130" fmla="*/ f80 1 40"/>
                <a:gd name="f131" fmla="*/ f81 1 33"/>
                <a:gd name="f132" fmla="*/ f82 1 33"/>
                <a:gd name="f133" fmla="*/ f83 1 40"/>
                <a:gd name="f134" fmla="*/ f84 1 33"/>
                <a:gd name="f135" fmla="*/ f85 1 33"/>
                <a:gd name="f136" fmla="*/ f86 1 33"/>
                <a:gd name="f137" fmla="*/ f87 1 40"/>
                <a:gd name="f138" fmla="*/ f88 1 40"/>
                <a:gd name="f139" fmla="*/ f89 1 33"/>
                <a:gd name="f140" fmla="*/ f90 1 40"/>
                <a:gd name="f141" fmla="*/ f91 1 33"/>
                <a:gd name="f142" fmla="*/ f92 1 40"/>
                <a:gd name="f143" fmla="*/ f93 1 40"/>
                <a:gd name="f144" fmla="*/ f94 1 40"/>
                <a:gd name="f145" fmla="*/ f95 1 40"/>
                <a:gd name="f146" fmla="*/ f96 1 40"/>
                <a:gd name="f147" fmla="*/ f97 1 40"/>
                <a:gd name="f148" fmla="*/ f98 1 40"/>
                <a:gd name="f149" fmla="*/ f99 1 40"/>
                <a:gd name="f150" fmla="*/ f100 1 40"/>
                <a:gd name="f151" fmla="*/ f101 1 40"/>
                <a:gd name="f152" fmla="*/ f102 1 40"/>
                <a:gd name="f153" fmla="*/ 0 1 f52"/>
                <a:gd name="f154" fmla="*/ f6 1 f52"/>
                <a:gd name="f155" fmla="*/ 0 1 f53"/>
                <a:gd name="f156" fmla="*/ f7 1 f53"/>
                <a:gd name="f157" fmla="+- f103 0 f1"/>
                <a:gd name="f158" fmla="*/ f104 1 f52"/>
                <a:gd name="f159" fmla="*/ f105 1 f53"/>
                <a:gd name="f160" fmla="*/ f106 1 f53"/>
                <a:gd name="f161" fmla="*/ f107 1 f52"/>
                <a:gd name="f162" fmla="*/ f108 1 f53"/>
                <a:gd name="f163" fmla="*/ f109 1 f52"/>
                <a:gd name="f164" fmla="*/ f110 1 f52"/>
                <a:gd name="f165" fmla="*/ f111 1 f53"/>
                <a:gd name="f166" fmla="*/ f112 1 f52"/>
                <a:gd name="f167" fmla="*/ f113 1 f53"/>
                <a:gd name="f168" fmla="*/ f114 1 f52"/>
                <a:gd name="f169" fmla="*/ f115 1 f53"/>
                <a:gd name="f170" fmla="*/ f116 1 f52"/>
                <a:gd name="f171" fmla="*/ f117 1 f52"/>
                <a:gd name="f172" fmla="*/ f118 1 f52"/>
                <a:gd name="f173" fmla="*/ f119 1 f53"/>
                <a:gd name="f174" fmla="*/ f120 1 f52"/>
                <a:gd name="f175" fmla="*/ f121 1 f52"/>
                <a:gd name="f176" fmla="*/ f122 1 f53"/>
                <a:gd name="f177" fmla="*/ f123 1 f52"/>
                <a:gd name="f178" fmla="*/ f124 1 f53"/>
                <a:gd name="f179" fmla="*/ f125 1 f52"/>
                <a:gd name="f180" fmla="*/ f126 1 f53"/>
                <a:gd name="f181" fmla="*/ f127 1 f52"/>
                <a:gd name="f182" fmla="*/ f128 1 f53"/>
                <a:gd name="f183" fmla="*/ f129 1 f52"/>
                <a:gd name="f184" fmla="*/ f130 1 f53"/>
                <a:gd name="f185" fmla="*/ f131 1 f52"/>
                <a:gd name="f186" fmla="*/ f132 1 f52"/>
                <a:gd name="f187" fmla="*/ f133 1 f53"/>
                <a:gd name="f188" fmla="*/ f134 1 f52"/>
                <a:gd name="f189" fmla="*/ f135 1 f52"/>
                <a:gd name="f190" fmla="*/ f136 1 f52"/>
                <a:gd name="f191" fmla="*/ f137 1 f53"/>
                <a:gd name="f192" fmla="*/ f138 1 f53"/>
                <a:gd name="f193" fmla="*/ f139 1 f52"/>
                <a:gd name="f194" fmla="*/ f140 1 f53"/>
                <a:gd name="f195" fmla="*/ f141 1 f52"/>
                <a:gd name="f196" fmla="*/ f142 1 f53"/>
                <a:gd name="f197" fmla="*/ f143 1 f53"/>
                <a:gd name="f198" fmla="*/ f144 1 f53"/>
                <a:gd name="f199" fmla="*/ f145 1 f53"/>
                <a:gd name="f200" fmla="*/ f146 1 f53"/>
                <a:gd name="f201" fmla="*/ f147 1 f53"/>
                <a:gd name="f202" fmla="*/ f148 1 f53"/>
                <a:gd name="f203" fmla="*/ f149 1 f53"/>
                <a:gd name="f204" fmla="*/ f150 1 f53"/>
                <a:gd name="f205" fmla="*/ f151 1 f53"/>
                <a:gd name="f206" fmla="*/ f152 1 f53"/>
                <a:gd name="f207" fmla="*/ f153 f47 1"/>
                <a:gd name="f208" fmla="*/ f154 f47 1"/>
                <a:gd name="f209" fmla="*/ f156 f48 1"/>
                <a:gd name="f210" fmla="*/ f155 f48 1"/>
                <a:gd name="f211" fmla="*/ f158 f47 1"/>
                <a:gd name="f212" fmla="*/ f159 f48 1"/>
                <a:gd name="f213" fmla="*/ f160 f48 1"/>
                <a:gd name="f214" fmla="*/ f161 f47 1"/>
                <a:gd name="f215" fmla="*/ f162 f48 1"/>
                <a:gd name="f216" fmla="*/ f163 f47 1"/>
                <a:gd name="f217" fmla="*/ f164 f47 1"/>
                <a:gd name="f218" fmla="*/ f165 f48 1"/>
                <a:gd name="f219" fmla="*/ f166 f47 1"/>
                <a:gd name="f220" fmla="*/ f167 f48 1"/>
                <a:gd name="f221" fmla="*/ f168 f47 1"/>
                <a:gd name="f222" fmla="*/ f169 f48 1"/>
                <a:gd name="f223" fmla="*/ f170 f47 1"/>
                <a:gd name="f224" fmla="*/ f171 f47 1"/>
                <a:gd name="f225" fmla="*/ f172 f47 1"/>
                <a:gd name="f226" fmla="*/ f173 f48 1"/>
                <a:gd name="f227" fmla="*/ f174 f47 1"/>
                <a:gd name="f228" fmla="*/ f175 f47 1"/>
                <a:gd name="f229" fmla="*/ f176 f48 1"/>
                <a:gd name="f230" fmla="*/ f177 f47 1"/>
                <a:gd name="f231" fmla="*/ f178 f48 1"/>
                <a:gd name="f232" fmla="*/ f179 f47 1"/>
                <a:gd name="f233" fmla="*/ f180 f48 1"/>
                <a:gd name="f234" fmla="*/ f181 f47 1"/>
                <a:gd name="f235" fmla="*/ f182 f48 1"/>
                <a:gd name="f236" fmla="*/ f183 f47 1"/>
                <a:gd name="f237" fmla="*/ f184 f48 1"/>
                <a:gd name="f238" fmla="*/ f185 f47 1"/>
                <a:gd name="f239" fmla="*/ f186 f47 1"/>
                <a:gd name="f240" fmla="*/ f187 f48 1"/>
                <a:gd name="f241" fmla="*/ f188 f47 1"/>
                <a:gd name="f242" fmla="*/ f189 f47 1"/>
                <a:gd name="f243" fmla="*/ f190 f47 1"/>
                <a:gd name="f244" fmla="*/ f191 f48 1"/>
                <a:gd name="f245" fmla="*/ f192 f48 1"/>
                <a:gd name="f246" fmla="*/ f193 f47 1"/>
                <a:gd name="f247" fmla="*/ f194 f48 1"/>
                <a:gd name="f248" fmla="*/ f195 f47 1"/>
                <a:gd name="f249" fmla="*/ f196 f48 1"/>
                <a:gd name="f250" fmla="*/ f197 f48 1"/>
                <a:gd name="f251" fmla="*/ f198 f48 1"/>
                <a:gd name="f252" fmla="*/ f199 f48 1"/>
                <a:gd name="f253" fmla="*/ f200 f48 1"/>
                <a:gd name="f254" fmla="*/ f201 f48 1"/>
                <a:gd name="f255" fmla="*/ f202 f48 1"/>
                <a:gd name="f256" fmla="*/ f203 f48 1"/>
                <a:gd name="f257" fmla="*/ f204 f48 1"/>
                <a:gd name="f258" fmla="*/ f205 f48 1"/>
                <a:gd name="f259" fmla="*/ f206 f48 1"/>
              </a:gdLst>
              <a:ahLst/>
              <a:cxnLst>
                <a:cxn ang="3cd4">
                  <a:pos x="hc" y="t"/>
                </a:cxn>
                <a:cxn ang="0">
                  <a:pos x="r" y="vc"/>
                </a:cxn>
                <a:cxn ang="cd4">
                  <a:pos x="hc" y="b"/>
                </a:cxn>
                <a:cxn ang="cd2">
                  <a:pos x="l" y="vc"/>
                </a:cxn>
                <a:cxn ang="f157">
                  <a:pos x="f211" y="f212"/>
                </a:cxn>
                <a:cxn ang="f157">
                  <a:pos x="f211" y="f213"/>
                </a:cxn>
                <a:cxn ang="f157">
                  <a:pos x="f214" y="f215"/>
                </a:cxn>
                <a:cxn ang="f157">
                  <a:pos x="f216" y="f215"/>
                </a:cxn>
                <a:cxn ang="f157">
                  <a:pos x="f217" y="f218"/>
                </a:cxn>
                <a:cxn ang="f157">
                  <a:pos x="f219" y="f220"/>
                </a:cxn>
                <a:cxn ang="f157">
                  <a:pos x="f221" y="f222"/>
                </a:cxn>
                <a:cxn ang="f157">
                  <a:pos x="f223" y="f222"/>
                </a:cxn>
                <a:cxn ang="f157">
                  <a:pos x="f224" y="f222"/>
                </a:cxn>
                <a:cxn ang="f157">
                  <a:pos x="f225" y="f226"/>
                </a:cxn>
                <a:cxn ang="f157">
                  <a:pos x="f227" y="f226"/>
                </a:cxn>
                <a:cxn ang="f157">
                  <a:pos x="f228" y="f229"/>
                </a:cxn>
                <a:cxn ang="f157">
                  <a:pos x="f230" y="f231"/>
                </a:cxn>
                <a:cxn ang="f157">
                  <a:pos x="f232" y="f233"/>
                </a:cxn>
                <a:cxn ang="f157">
                  <a:pos x="f234" y="f235"/>
                </a:cxn>
                <a:cxn ang="f157">
                  <a:pos x="f236" y="f237"/>
                </a:cxn>
                <a:cxn ang="f157">
                  <a:pos x="f238" y="f237"/>
                </a:cxn>
                <a:cxn ang="f157">
                  <a:pos x="f239" y="f235"/>
                </a:cxn>
                <a:cxn ang="f157">
                  <a:pos x="f217" y="f240"/>
                </a:cxn>
                <a:cxn ang="f157">
                  <a:pos x="f241" y="f231"/>
                </a:cxn>
                <a:cxn ang="f157">
                  <a:pos x="f242" y="f220"/>
                </a:cxn>
                <a:cxn ang="f157">
                  <a:pos x="f243" y="f244"/>
                </a:cxn>
                <a:cxn ang="f157">
                  <a:pos x="f243" y="f245"/>
                </a:cxn>
                <a:cxn ang="f157">
                  <a:pos x="f246" y="f247"/>
                </a:cxn>
                <a:cxn ang="f157">
                  <a:pos x="f248" y="f249"/>
                </a:cxn>
                <a:cxn ang="f157">
                  <a:pos x="f219" y="f250"/>
                </a:cxn>
                <a:cxn ang="f157">
                  <a:pos x="f238" y="f251"/>
                </a:cxn>
                <a:cxn ang="f157">
                  <a:pos x="f234" y="f252"/>
                </a:cxn>
                <a:cxn ang="f157">
                  <a:pos x="f230" y="f253"/>
                </a:cxn>
                <a:cxn ang="f157">
                  <a:pos x="f214" y="f247"/>
                </a:cxn>
                <a:cxn ang="f157">
                  <a:pos x="f211" y="f212"/>
                </a:cxn>
                <a:cxn ang="f157">
                  <a:pos x="f228" y="f254"/>
                </a:cxn>
                <a:cxn ang="f157">
                  <a:pos x="f234" y="f255"/>
                </a:cxn>
                <a:cxn ang="f157">
                  <a:pos x="f227" y="f256"/>
                </a:cxn>
                <a:cxn ang="f157">
                  <a:pos x="f236" y="f257"/>
                </a:cxn>
                <a:cxn ang="f157">
                  <a:pos x="f238" y="f258"/>
                </a:cxn>
                <a:cxn ang="f157">
                  <a:pos x="f239" y="f257"/>
                </a:cxn>
                <a:cxn ang="f157">
                  <a:pos x="f219" y="f259"/>
                </a:cxn>
                <a:cxn ang="f157">
                  <a:pos x="f217" y="f247"/>
                </a:cxn>
                <a:cxn ang="f157">
                  <a:pos x="f216" y="f254"/>
                </a:cxn>
                <a:cxn ang="f157">
                  <a:pos x="f228" y="f254"/>
                </a:cxn>
              </a:cxnLst>
              <a:rect l="f207" t="f210" r="f208" b="f209"/>
              <a:pathLst>
                <a:path w="33" h="40">
                  <a:moveTo>
                    <a:pt x="f6" y="f8"/>
                  </a:moveTo>
                  <a:cubicBezTo>
                    <a:pt x="f6" y="f9"/>
                    <a:pt x="f6" y="f10"/>
                    <a:pt x="f6" y="f10"/>
                  </a:cubicBezTo>
                  <a:cubicBezTo>
                    <a:pt x="f11" y="f12"/>
                    <a:pt x="f11" y="f12"/>
                    <a:pt x="f11" y="f13"/>
                  </a:cubicBezTo>
                  <a:cubicBezTo>
                    <a:pt x="f14" y="f13"/>
                    <a:pt x="f14" y="f13"/>
                    <a:pt x="f14" y="f13"/>
                  </a:cubicBezTo>
                  <a:cubicBezTo>
                    <a:pt x="f14" y="f15"/>
                    <a:pt x="f16" y="f17"/>
                    <a:pt x="f16" y="f18"/>
                  </a:cubicBezTo>
                  <a:cubicBezTo>
                    <a:pt x="f19" y="f20"/>
                    <a:pt x="f21" y="f22"/>
                    <a:pt x="f21" y="f23"/>
                  </a:cubicBezTo>
                  <a:cubicBezTo>
                    <a:pt x="f24" y="f11"/>
                    <a:pt x="f25" y="f11"/>
                    <a:pt x="f26" y="f6"/>
                  </a:cubicBezTo>
                  <a:cubicBezTo>
                    <a:pt x="f27" y="f6"/>
                    <a:pt x="f28" y="f6"/>
                    <a:pt x="f29" y="f6"/>
                  </a:cubicBezTo>
                  <a:cubicBezTo>
                    <a:pt x="f30" y="f6"/>
                    <a:pt x="f30" y="f6"/>
                    <a:pt x="f8" y="f6"/>
                  </a:cubicBezTo>
                  <a:cubicBezTo>
                    <a:pt x="f9" y="f6"/>
                    <a:pt x="f9" y="f6"/>
                    <a:pt x="f10" y="f11"/>
                  </a:cubicBezTo>
                  <a:cubicBezTo>
                    <a:pt x="f12" y="f11"/>
                    <a:pt x="f12" y="f11"/>
                    <a:pt x="f13" y="f11"/>
                  </a:cubicBezTo>
                  <a:cubicBezTo>
                    <a:pt x="f13" y="f23"/>
                    <a:pt x="f31" y="f23"/>
                    <a:pt x="f15" y="f22"/>
                  </a:cubicBezTo>
                  <a:cubicBezTo>
                    <a:pt x="f20" y="f32"/>
                    <a:pt x="f20" y="f32"/>
                    <a:pt x="f20" y="f32"/>
                  </a:cubicBezTo>
                  <a:cubicBezTo>
                    <a:pt x="f20" y="f33"/>
                    <a:pt x="f18" y="f34"/>
                    <a:pt x="f35" y="f34"/>
                  </a:cubicBezTo>
                  <a:cubicBezTo>
                    <a:pt x="f17" y="f36"/>
                    <a:pt x="f15" y="f36"/>
                    <a:pt x="f31" y="f37"/>
                  </a:cubicBezTo>
                  <a:cubicBezTo>
                    <a:pt x="f13" y="f37"/>
                    <a:pt x="f12" y="f7"/>
                    <a:pt x="f9" y="f7"/>
                  </a:cubicBezTo>
                  <a:cubicBezTo>
                    <a:pt x="f8" y="f7"/>
                    <a:pt x="f30" y="f7"/>
                    <a:pt x="f28" y="f7"/>
                  </a:cubicBezTo>
                  <a:cubicBezTo>
                    <a:pt x="f38" y="f7"/>
                    <a:pt x="f26" y="f7"/>
                    <a:pt x="f25" y="f37"/>
                  </a:cubicBezTo>
                  <a:cubicBezTo>
                    <a:pt x="f21" y="f37"/>
                    <a:pt x="f19" y="f36"/>
                    <a:pt x="f16" y="f36"/>
                  </a:cubicBezTo>
                  <a:cubicBezTo>
                    <a:pt x="f14" y="f34"/>
                    <a:pt x="f39" y="f33"/>
                    <a:pt x="f40" y="f32"/>
                  </a:cubicBezTo>
                  <a:cubicBezTo>
                    <a:pt x="f41" y="f42"/>
                    <a:pt x="f43" y="f6"/>
                    <a:pt x="f44" y="f23"/>
                  </a:cubicBezTo>
                  <a:cubicBezTo>
                    <a:pt x="f45" y="f22"/>
                    <a:pt x="f45" y="f18"/>
                    <a:pt x="f5" y="f17"/>
                  </a:cubicBezTo>
                  <a:cubicBezTo>
                    <a:pt x="f5" y="f31"/>
                    <a:pt x="f5" y="f12"/>
                    <a:pt x="f5" y="f9"/>
                  </a:cubicBezTo>
                  <a:cubicBezTo>
                    <a:pt x="f5" y="f29"/>
                    <a:pt x="f5" y="f27"/>
                    <a:pt x="f45" y="f25"/>
                  </a:cubicBezTo>
                  <a:cubicBezTo>
                    <a:pt x="f44" y="f19"/>
                    <a:pt x="f43" y="f14"/>
                    <a:pt x="f41" y="f40"/>
                  </a:cubicBezTo>
                  <a:cubicBezTo>
                    <a:pt x="f39" y="f41"/>
                    <a:pt x="f16" y="f44"/>
                    <a:pt x="f21" y="f45"/>
                  </a:cubicBezTo>
                  <a:cubicBezTo>
                    <a:pt x="f25" y="f45"/>
                    <a:pt x="f27" y="f5"/>
                    <a:pt x="f28" y="f5"/>
                  </a:cubicBezTo>
                  <a:cubicBezTo>
                    <a:pt x="f8" y="f5"/>
                    <a:pt x="f12" y="f45"/>
                    <a:pt x="f31" y="f44"/>
                  </a:cubicBezTo>
                  <a:cubicBezTo>
                    <a:pt x="f17" y="f43"/>
                    <a:pt x="f35" y="f41"/>
                    <a:pt x="f20" y="f39"/>
                  </a:cubicBezTo>
                  <a:cubicBezTo>
                    <a:pt x="f22" y="f16"/>
                    <a:pt x="f23" y="f21"/>
                    <a:pt x="f11" y="f25"/>
                  </a:cubicBezTo>
                  <a:cubicBezTo>
                    <a:pt x="f11" y="f27"/>
                    <a:pt x="f6" y="f29"/>
                    <a:pt x="f6" y="f8"/>
                  </a:cubicBezTo>
                  <a:close/>
                  <a:moveTo>
                    <a:pt x="f15" y="f29"/>
                  </a:moveTo>
                  <a:cubicBezTo>
                    <a:pt x="f15" y="f38"/>
                    <a:pt x="f15" y="f27"/>
                    <a:pt x="f31" y="f26"/>
                  </a:cubicBezTo>
                  <a:cubicBezTo>
                    <a:pt x="f31" y="f25"/>
                    <a:pt x="f13" y="f24"/>
                    <a:pt x="f13" y="f21"/>
                  </a:cubicBezTo>
                  <a:cubicBezTo>
                    <a:pt x="f12" y="f19"/>
                    <a:pt x="f10" y="f16"/>
                    <a:pt x="f9" y="f16"/>
                  </a:cubicBezTo>
                  <a:cubicBezTo>
                    <a:pt x="f8" y="f14"/>
                    <a:pt x="f29" y="f14"/>
                    <a:pt x="f28" y="f14"/>
                  </a:cubicBezTo>
                  <a:cubicBezTo>
                    <a:pt x="f38" y="f14"/>
                    <a:pt x="f26" y="f14"/>
                    <a:pt x="f25" y="f16"/>
                  </a:cubicBezTo>
                  <a:cubicBezTo>
                    <a:pt x="f24" y="f16"/>
                    <a:pt x="f24" y="f19"/>
                    <a:pt x="f21" y="f19"/>
                  </a:cubicBezTo>
                  <a:cubicBezTo>
                    <a:pt x="f19" y="f21"/>
                    <a:pt x="f19" y="f24"/>
                    <a:pt x="f16" y="f25"/>
                  </a:cubicBezTo>
                  <a:cubicBezTo>
                    <a:pt x="f16" y="f27"/>
                    <a:pt x="f14" y="f38"/>
                    <a:pt x="f14"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4" name="Freeform 56">
              <a:extLst>
                <a:ext uri="{FF2B5EF4-FFF2-40B4-BE49-F238E27FC236}">
                  <a16:creationId xmlns:a16="http://schemas.microsoft.com/office/drawing/2014/main" id="{8CCEF22C-F7BB-5896-D248-EFC74A9D7651}"/>
                </a:ext>
              </a:extLst>
            </p:cNvPr>
            <p:cNvSpPr/>
            <p:nvPr/>
          </p:nvSpPr>
          <p:spPr>
            <a:xfrm>
              <a:off x="1294314" y="6293924"/>
              <a:ext cx="55769" cy="101132"/>
            </a:xfrm>
            <a:custGeom>
              <a:avLst/>
              <a:gdLst>
                <a:gd name="f0" fmla="val 10800000"/>
                <a:gd name="f1" fmla="val 5400000"/>
                <a:gd name="f2" fmla="val 180"/>
                <a:gd name="f3" fmla="val w"/>
                <a:gd name="f4" fmla="val h"/>
                <a:gd name="f5" fmla="val 0"/>
                <a:gd name="f6" fmla="val 22"/>
                <a:gd name="f7" fmla="val 39"/>
                <a:gd name="f8" fmla="val 20"/>
                <a:gd name="f9" fmla="val 9"/>
                <a:gd name="f10" fmla="val 8"/>
                <a:gd name="f11" fmla="val 19"/>
                <a:gd name="f12" fmla="val 18"/>
                <a:gd name="f13" fmla="val 17"/>
                <a:gd name="f14" fmla="val 16"/>
                <a:gd name="f15" fmla="val 7"/>
                <a:gd name="f16" fmla="val 15"/>
                <a:gd name="f17" fmla="val 12"/>
                <a:gd name="f18" fmla="val 10"/>
                <a:gd name="f19" fmla="val 14"/>
                <a:gd name="f20" fmla="val 1"/>
                <a:gd name="f21" fmla="val 5"/>
                <a:gd name="f22" fmla="val 4"/>
                <a:gd name="f23" fmla="val 3"/>
                <a:gd name="f24" fmla="val 2"/>
                <a:gd name="f25" fmla="val 11"/>
                <a:gd name="f26" fmla="val 13"/>
                <a:gd name="f27" fmla="val 21"/>
                <a:gd name="f28" fmla="+- 0 0 -90"/>
                <a:gd name="f29" fmla="*/ f3 1 22"/>
                <a:gd name="f30" fmla="*/ f4 1 39"/>
                <a:gd name="f31" fmla="+- f7 0 f5"/>
                <a:gd name="f32" fmla="+- f6 0 f5"/>
                <a:gd name="f33" fmla="*/ f28 f0 1"/>
                <a:gd name="f34" fmla="*/ f32 1 22"/>
                <a:gd name="f35" fmla="*/ f31 1 39"/>
                <a:gd name="f36" fmla="*/ 20 f32 1"/>
                <a:gd name="f37" fmla="*/ 9 f31 1"/>
                <a:gd name="f38" fmla="*/ 18 f32 1"/>
                <a:gd name="f39" fmla="*/ 8 f31 1"/>
                <a:gd name="f40" fmla="*/ 15 f32 1"/>
                <a:gd name="f41" fmla="*/ 7 f31 1"/>
                <a:gd name="f42" fmla="*/ 9 f32 1"/>
                <a:gd name="f43" fmla="*/ 10 f31 1"/>
                <a:gd name="f44" fmla="*/ 7 f32 1"/>
                <a:gd name="f45" fmla="*/ 17 f31 1"/>
                <a:gd name="f46" fmla="*/ 39 f31 1"/>
                <a:gd name="f47" fmla="*/ 0 f32 1"/>
                <a:gd name="f48" fmla="*/ 1 f31 1"/>
                <a:gd name="f49" fmla="*/ 5 f31 1"/>
                <a:gd name="f50" fmla="*/ 3 f31 1"/>
                <a:gd name="f51" fmla="*/ 11 f32 1"/>
                <a:gd name="f52" fmla="*/ 13 f32 1"/>
                <a:gd name="f53" fmla="*/ 0 f31 1"/>
                <a:gd name="f54" fmla="*/ 16 f32 1"/>
                <a:gd name="f55" fmla="*/ 22 f32 1"/>
                <a:gd name="f56" fmla="*/ 2 f31 1"/>
                <a:gd name="f57" fmla="*/ f33 1 f2"/>
                <a:gd name="f58" fmla="*/ f36 1 22"/>
                <a:gd name="f59" fmla="*/ f37 1 39"/>
                <a:gd name="f60" fmla="*/ f38 1 22"/>
                <a:gd name="f61" fmla="*/ f39 1 39"/>
                <a:gd name="f62" fmla="*/ f40 1 22"/>
                <a:gd name="f63" fmla="*/ f41 1 39"/>
                <a:gd name="f64" fmla="*/ f42 1 22"/>
                <a:gd name="f65" fmla="*/ f43 1 39"/>
                <a:gd name="f66" fmla="*/ f44 1 22"/>
                <a:gd name="f67" fmla="*/ f45 1 39"/>
                <a:gd name="f68" fmla="*/ f46 1 39"/>
                <a:gd name="f69" fmla="*/ f47 1 22"/>
                <a:gd name="f70" fmla="*/ f48 1 39"/>
                <a:gd name="f71" fmla="*/ f49 1 39"/>
                <a:gd name="f72" fmla="*/ f50 1 39"/>
                <a:gd name="f73" fmla="*/ f51 1 22"/>
                <a:gd name="f74" fmla="*/ f52 1 22"/>
                <a:gd name="f75" fmla="*/ f53 1 39"/>
                <a:gd name="f76" fmla="*/ f54 1 22"/>
                <a:gd name="f77" fmla="*/ f55 1 22"/>
                <a:gd name="f78" fmla="*/ f56 1 39"/>
                <a:gd name="f79" fmla="*/ 0 1 f34"/>
                <a:gd name="f80" fmla="*/ f6 1 f34"/>
                <a:gd name="f81" fmla="*/ 0 1 f35"/>
                <a:gd name="f82" fmla="*/ f7 1 f35"/>
                <a:gd name="f83" fmla="+- f57 0 f1"/>
                <a:gd name="f84" fmla="*/ f58 1 f34"/>
                <a:gd name="f85" fmla="*/ f59 1 f35"/>
                <a:gd name="f86" fmla="*/ f60 1 f34"/>
                <a:gd name="f87" fmla="*/ f61 1 f35"/>
                <a:gd name="f88" fmla="*/ f62 1 f34"/>
                <a:gd name="f89" fmla="*/ f63 1 f35"/>
                <a:gd name="f90" fmla="*/ f64 1 f34"/>
                <a:gd name="f91" fmla="*/ f65 1 f35"/>
                <a:gd name="f92" fmla="*/ f66 1 f34"/>
                <a:gd name="f93" fmla="*/ f67 1 f35"/>
                <a:gd name="f94" fmla="*/ f68 1 f35"/>
                <a:gd name="f95" fmla="*/ f69 1 f34"/>
                <a:gd name="f96" fmla="*/ f70 1 f35"/>
                <a:gd name="f97" fmla="*/ f71 1 f35"/>
                <a:gd name="f98" fmla="*/ f72 1 f35"/>
                <a:gd name="f99" fmla="*/ f73 1 f34"/>
                <a:gd name="f100" fmla="*/ f74 1 f34"/>
                <a:gd name="f101" fmla="*/ f75 1 f35"/>
                <a:gd name="f102" fmla="*/ f76 1 f34"/>
                <a:gd name="f103" fmla="*/ f77 1 f34"/>
                <a:gd name="f104" fmla="*/ f78 1 f35"/>
                <a:gd name="f105" fmla="*/ f79 f29 1"/>
                <a:gd name="f106" fmla="*/ f80 f29 1"/>
                <a:gd name="f107" fmla="*/ f82 f30 1"/>
                <a:gd name="f108" fmla="*/ f81 f30 1"/>
                <a:gd name="f109" fmla="*/ f84 f29 1"/>
                <a:gd name="f110" fmla="*/ f85 f30 1"/>
                <a:gd name="f111" fmla="*/ f86 f29 1"/>
                <a:gd name="f112" fmla="*/ f87 f30 1"/>
                <a:gd name="f113" fmla="*/ f88 f29 1"/>
                <a:gd name="f114" fmla="*/ f89 f30 1"/>
                <a:gd name="f115" fmla="*/ f90 f29 1"/>
                <a:gd name="f116" fmla="*/ f91 f30 1"/>
                <a:gd name="f117" fmla="*/ f92 f29 1"/>
                <a:gd name="f118" fmla="*/ f93 f30 1"/>
                <a:gd name="f119" fmla="*/ f94 f30 1"/>
                <a:gd name="f120" fmla="*/ f95 f29 1"/>
                <a:gd name="f121" fmla="*/ f96 f30 1"/>
                <a:gd name="f122" fmla="*/ f97 f30 1"/>
                <a:gd name="f123" fmla="*/ f98 f30 1"/>
                <a:gd name="f124" fmla="*/ f99 f29 1"/>
                <a:gd name="f125" fmla="*/ f100 f29 1"/>
                <a:gd name="f126" fmla="*/ f101 f30 1"/>
                <a:gd name="f127" fmla="*/ f102 f29 1"/>
                <a:gd name="f128" fmla="*/ f103 f29 1"/>
                <a:gd name="f129" fmla="*/ f104 f30 1"/>
              </a:gdLst>
              <a:ahLst/>
              <a:cxnLst>
                <a:cxn ang="3cd4">
                  <a:pos x="hc" y="t"/>
                </a:cxn>
                <a:cxn ang="0">
                  <a:pos x="r" y="vc"/>
                </a:cxn>
                <a:cxn ang="cd4">
                  <a:pos x="hc" y="b"/>
                </a:cxn>
                <a:cxn ang="cd2">
                  <a:pos x="l" y="vc"/>
                </a:cxn>
                <a:cxn ang="f83">
                  <a:pos x="f109" y="f110"/>
                </a:cxn>
                <a:cxn ang="f83">
                  <a:pos x="f111" y="f112"/>
                </a:cxn>
                <a:cxn ang="f83">
                  <a:pos x="f113" y="f114"/>
                </a:cxn>
                <a:cxn ang="f83">
                  <a:pos x="f115" y="f116"/>
                </a:cxn>
                <a:cxn ang="f83">
                  <a:pos x="f117" y="f118"/>
                </a:cxn>
                <a:cxn ang="f83">
                  <a:pos x="f117" y="f119"/>
                </a:cxn>
                <a:cxn ang="f83">
                  <a:pos x="f120" y="f119"/>
                </a:cxn>
                <a:cxn ang="f83">
                  <a:pos x="f120" y="f121"/>
                </a:cxn>
                <a:cxn ang="f83">
                  <a:pos x="f117" y="f121"/>
                </a:cxn>
                <a:cxn ang="f83">
                  <a:pos x="f117" y="f122"/>
                </a:cxn>
                <a:cxn ang="f83">
                  <a:pos x="f115" y="f123"/>
                </a:cxn>
                <a:cxn ang="f83">
                  <a:pos x="f124" y="f121"/>
                </a:cxn>
                <a:cxn ang="f83">
                  <a:pos x="f125" y="f126"/>
                </a:cxn>
                <a:cxn ang="f83">
                  <a:pos x="f127" y="f126"/>
                </a:cxn>
                <a:cxn ang="f83">
                  <a:pos x="f109" y="f121"/>
                </a:cxn>
                <a:cxn ang="f83">
                  <a:pos x="f128" y="f129"/>
                </a:cxn>
                <a:cxn ang="f83">
                  <a:pos x="f109" y="f110"/>
                </a:cxn>
              </a:cxnLst>
              <a:rect l="f105" t="f108" r="f106" b="f107"/>
              <a:pathLst>
                <a:path w="22" h="39">
                  <a:moveTo>
                    <a:pt x="f8" y="f9"/>
                  </a:moveTo>
                  <a:cubicBezTo>
                    <a:pt x="f8" y="f10"/>
                    <a:pt x="f11" y="f10"/>
                    <a:pt x="f12" y="f10"/>
                  </a:cubicBezTo>
                  <a:cubicBezTo>
                    <a:pt x="f13" y="f10"/>
                    <a:pt x="f14" y="f15"/>
                    <a:pt x="f16" y="f15"/>
                  </a:cubicBezTo>
                  <a:cubicBezTo>
                    <a:pt x="f17" y="f15"/>
                    <a:pt x="f18" y="f10"/>
                    <a:pt x="f9" y="f18"/>
                  </a:cubicBezTo>
                  <a:cubicBezTo>
                    <a:pt x="f10" y="f17"/>
                    <a:pt x="f15" y="f19"/>
                    <a:pt x="f15" y="f13"/>
                  </a:cubicBezTo>
                  <a:cubicBezTo>
                    <a:pt x="f15" y="f7"/>
                    <a:pt x="f15" y="f7"/>
                    <a:pt x="f15" y="f7"/>
                  </a:cubicBezTo>
                  <a:cubicBezTo>
                    <a:pt x="f5" y="f7"/>
                    <a:pt x="f5" y="f7"/>
                    <a:pt x="f5" y="f7"/>
                  </a:cubicBezTo>
                  <a:cubicBezTo>
                    <a:pt x="f5" y="f20"/>
                    <a:pt x="f5" y="f20"/>
                    <a:pt x="f5" y="f20"/>
                  </a:cubicBezTo>
                  <a:cubicBezTo>
                    <a:pt x="f15" y="f20"/>
                    <a:pt x="f15" y="f20"/>
                    <a:pt x="f15" y="f20"/>
                  </a:cubicBezTo>
                  <a:cubicBezTo>
                    <a:pt x="f15" y="f21"/>
                    <a:pt x="f15" y="f21"/>
                    <a:pt x="f15" y="f21"/>
                  </a:cubicBezTo>
                  <a:cubicBezTo>
                    <a:pt x="f10" y="f22"/>
                    <a:pt x="f10" y="f23"/>
                    <a:pt x="f9" y="f23"/>
                  </a:cubicBezTo>
                  <a:cubicBezTo>
                    <a:pt x="f9" y="f24"/>
                    <a:pt x="f18" y="f24"/>
                    <a:pt x="f25" y="f20"/>
                  </a:cubicBezTo>
                  <a:cubicBezTo>
                    <a:pt x="f25" y="f20"/>
                    <a:pt x="f17" y="f20"/>
                    <a:pt x="f26" y="f5"/>
                  </a:cubicBezTo>
                  <a:cubicBezTo>
                    <a:pt x="f19" y="f5"/>
                    <a:pt x="f16" y="f5"/>
                    <a:pt x="f14" y="f5"/>
                  </a:cubicBezTo>
                  <a:cubicBezTo>
                    <a:pt x="f13" y="f5"/>
                    <a:pt x="f11" y="f5"/>
                    <a:pt x="f8" y="f20"/>
                  </a:cubicBezTo>
                  <a:cubicBezTo>
                    <a:pt x="f27" y="f20"/>
                    <a:pt x="f6" y="f20"/>
                    <a:pt x="f6" y="f24"/>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5" name="Freeform 57">
              <a:extLst>
                <a:ext uri="{FF2B5EF4-FFF2-40B4-BE49-F238E27FC236}">
                  <a16:creationId xmlns:a16="http://schemas.microsoft.com/office/drawing/2014/main" id="{31BC5CDC-A512-3D51-DC5B-3AD128C6F233}"/>
                </a:ext>
              </a:extLst>
            </p:cNvPr>
            <p:cNvSpPr/>
            <p:nvPr/>
          </p:nvSpPr>
          <p:spPr>
            <a:xfrm>
              <a:off x="1405862" y="6259049"/>
              <a:ext cx="55769" cy="137754"/>
            </a:xfrm>
            <a:custGeom>
              <a:avLst/>
              <a:gdLst>
                <a:gd name="f0" fmla="val 10800000"/>
                <a:gd name="f1" fmla="val 5400000"/>
                <a:gd name="f2" fmla="val 180"/>
                <a:gd name="f3" fmla="val w"/>
                <a:gd name="f4" fmla="val h"/>
                <a:gd name="f5" fmla="val 0"/>
                <a:gd name="f6" fmla="val 22"/>
                <a:gd name="f7" fmla="val 54"/>
                <a:gd name="f8" fmla="val 21"/>
                <a:gd name="f9" fmla="val 52"/>
                <a:gd name="f10" fmla="val 20"/>
                <a:gd name="f11" fmla="val 53"/>
                <a:gd name="f12" fmla="val 19"/>
                <a:gd name="f13" fmla="val 18"/>
                <a:gd name="f14" fmla="val 17"/>
                <a:gd name="f15" fmla="val 15"/>
                <a:gd name="f16" fmla="val 14"/>
                <a:gd name="f17" fmla="val 13"/>
                <a:gd name="f18" fmla="val 11"/>
                <a:gd name="f19" fmla="val 10"/>
                <a:gd name="f20" fmla="val 9"/>
                <a:gd name="f21" fmla="val 8"/>
                <a:gd name="f22" fmla="val 7"/>
                <a:gd name="f23" fmla="val 51"/>
                <a:gd name="f24" fmla="val 6"/>
                <a:gd name="f25" fmla="val 50"/>
                <a:gd name="f26" fmla="val 49"/>
                <a:gd name="f27" fmla="val 5"/>
                <a:gd name="f28" fmla="val 47"/>
                <a:gd name="f29" fmla="val 46"/>
                <a:gd name="f30" fmla="val 44"/>
                <a:gd name="f31" fmla="val 4"/>
                <a:gd name="f32" fmla="val 43"/>
                <a:gd name="f33" fmla="val 45"/>
                <a:gd name="f34" fmla="val 16"/>
                <a:gd name="f35" fmla="+- 0 0 -90"/>
                <a:gd name="f36" fmla="*/ f3 1 22"/>
                <a:gd name="f37" fmla="*/ f4 1 54"/>
                <a:gd name="f38" fmla="+- f7 0 f5"/>
                <a:gd name="f39" fmla="+- f6 0 f5"/>
                <a:gd name="f40" fmla="*/ f35 f0 1"/>
                <a:gd name="f41" fmla="*/ f39 1 22"/>
                <a:gd name="f42" fmla="*/ f38 1 54"/>
                <a:gd name="f43" fmla="*/ 21 f39 1"/>
                <a:gd name="f44" fmla="*/ 52 f38 1"/>
                <a:gd name="f45" fmla="*/ 18 f39 1"/>
                <a:gd name="f46" fmla="*/ 54 f38 1"/>
                <a:gd name="f47" fmla="*/ 14 f39 1"/>
                <a:gd name="f48" fmla="*/ 10 f39 1"/>
                <a:gd name="f49" fmla="*/ 8 f39 1"/>
                <a:gd name="f50" fmla="*/ 6 f39 1"/>
                <a:gd name="f51" fmla="*/ 49 f38 1"/>
                <a:gd name="f52" fmla="*/ 5 f39 1"/>
                <a:gd name="f53" fmla="*/ 44 f38 1"/>
                <a:gd name="f54" fmla="*/ 22 f38 1"/>
                <a:gd name="f55" fmla="*/ 0 f39 1"/>
                <a:gd name="f56" fmla="*/ 15 f38 1"/>
                <a:gd name="f57" fmla="*/ 4 f38 1"/>
                <a:gd name="f58" fmla="*/ 13 f39 1"/>
                <a:gd name="f59" fmla="*/ 0 f38 1"/>
                <a:gd name="f60" fmla="*/ 22 f39 1"/>
                <a:gd name="f61" fmla="*/ 43 f38 1"/>
                <a:gd name="f62" fmla="*/ 45 f38 1"/>
                <a:gd name="f63" fmla="*/ 46 f38 1"/>
                <a:gd name="f64" fmla="*/ 15 f39 1"/>
                <a:gd name="f65" fmla="*/ 47 f38 1"/>
                <a:gd name="f66" fmla="*/ 17 f39 1"/>
                <a:gd name="f67" fmla="*/ 20 f39 1"/>
                <a:gd name="f68" fmla="*/ f40 1 f2"/>
                <a:gd name="f69" fmla="*/ f43 1 22"/>
                <a:gd name="f70" fmla="*/ f44 1 54"/>
                <a:gd name="f71" fmla="*/ f45 1 22"/>
                <a:gd name="f72" fmla="*/ f46 1 54"/>
                <a:gd name="f73" fmla="*/ f47 1 22"/>
                <a:gd name="f74" fmla="*/ f48 1 22"/>
                <a:gd name="f75" fmla="*/ f49 1 22"/>
                <a:gd name="f76" fmla="*/ f50 1 22"/>
                <a:gd name="f77" fmla="*/ f51 1 54"/>
                <a:gd name="f78" fmla="*/ f52 1 22"/>
                <a:gd name="f79" fmla="*/ f53 1 54"/>
                <a:gd name="f80" fmla="*/ f54 1 54"/>
                <a:gd name="f81" fmla="*/ f55 1 22"/>
                <a:gd name="f82" fmla="*/ f56 1 54"/>
                <a:gd name="f83" fmla="*/ f57 1 54"/>
                <a:gd name="f84" fmla="*/ f58 1 22"/>
                <a:gd name="f85" fmla="*/ f59 1 54"/>
                <a:gd name="f86" fmla="*/ f60 1 22"/>
                <a:gd name="f87" fmla="*/ f61 1 54"/>
                <a:gd name="f88" fmla="*/ f62 1 54"/>
                <a:gd name="f89" fmla="*/ f63 1 54"/>
                <a:gd name="f90" fmla="*/ f64 1 22"/>
                <a:gd name="f91" fmla="*/ f65 1 54"/>
                <a:gd name="f92" fmla="*/ f66 1 22"/>
                <a:gd name="f93" fmla="*/ f67 1 22"/>
                <a:gd name="f94" fmla="*/ 0 1 f41"/>
                <a:gd name="f95" fmla="*/ f6 1 f41"/>
                <a:gd name="f96" fmla="*/ 0 1 f42"/>
                <a:gd name="f97" fmla="*/ f7 1 f42"/>
                <a:gd name="f98" fmla="+- f68 0 f1"/>
                <a:gd name="f99" fmla="*/ f69 1 f41"/>
                <a:gd name="f100" fmla="*/ f70 1 f42"/>
                <a:gd name="f101" fmla="*/ f71 1 f41"/>
                <a:gd name="f102" fmla="*/ f72 1 f42"/>
                <a:gd name="f103" fmla="*/ f73 1 f41"/>
                <a:gd name="f104" fmla="*/ f74 1 f41"/>
                <a:gd name="f105" fmla="*/ f75 1 f41"/>
                <a:gd name="f106" fmla="*/ f76 1 f41"/>
                <a:gd name="f107" fmla="*/ f77 1 f42"/>
                <a:gd name="f108" fmla="*/ f78 1 f41"/>
                <a:gd name="f109" fmla="*/ f79 1 f42"/>
                <a:gd name="f110" fmla="*/ f80 1 f42"/>
                <a:gd name="f111" fmla="*/ f81 1 f41"/>
                <a:gd name="f112" fmla="*/ f82 1 f42"/>
                <a:gd name="f113" fmla="*/ f83 1 f42"/>
                <a:gd name="f114" fmla="*/ f84 1 f41"/>
                <a:gd name="f115" fmla="*/ f85 1 f42"/>
                <a:gd name="f116" fmla="*/ f86 1 f41"/>
                <a:gd name="f117" fmla="*/ f87 1 f42"/>
                <a:gd name="f118" fmla="*/ f88 1 f42"/>
                <a:gd name="f119" fmla="*/ f89 1 f42"/>
                <a:gd name="f120" fmla="*/ f90 1 f41"/>
                <a:gd name="f121" fmla="*/ f91 1 f42"/>
                <a:gd name="f122" fmla="*/ f92 1 f41"/>
                <a:gd name="f123" fmla="*/ f93 1 f41"/>
                <a:gd name="f124" fmla="*/ f94 f36 1"/>
                <a:gd name="f125" fmla="*/ f95 f36 1"/>
                <a:gd name="f126" fmla="*/ f97 f37 1"/>
                <a:gd name="f127" fmla="*/ f96 f37 1"/>
                <a:gd name="f128" fmla="*/ f99 f36 1"/>
                <a:gd name="f129" fmla="*/ f100 f37 1"/>
                <a:gd name="f130" fmla="*/ f101 f36 1"/>
                <a:gd name="f131" fmla="*/ f102 f37 1"/>
                <a:gd name="f132" fmla="*/ f103 f36 1"/>
                <a:gd name="f133" fmla="*/ f104 f36 1"/>
                <a:gd name="f134" fmla="*/ f105 f36 1"/>
                <a:gd name="f135" fmla="*/ f106 f36 1"/>
                <a:gd name="f136" fmla="*/ f107 f37 1"/>
                <a:gd name="f137" fmla="*/ f108 f36 1"/>
                <a:gd name="f138" fmla="*/ f109 f37 1"/>
                <a:gd name="f139" fmla="*/ f110 f37 1"/>
                <a:gd name="f140" fmla="*/ f111 f36 1"/>
                <a:gd name="f141" fmla="*/ f112 f37 1"/>
                <a:gd name="f142" fmla="*/ f113 f37 1"/>
                <a:gd name="f143" fmla="*/ f114 f36 1"/>
                <a:gd name="f144" fmla="*/ f115 f37 1"/>
                <a:gd name="f145" fmla="*/ f116 f36 1"/>
                <a:gd name="f146" fmla="*/ f117 f37 1"/>
                <a:gd name="f147" fmla="*/ f118 f37 1"/>
                <a:gd name="f148" fmla="*/ f119 f37 1"/>
                <a:gd name="f149" fmla="*/ f120 f36 1"/>
                <a:gd name="f150" fmla="*/ f121 f37 1"/>
                <a:gd name="f151" fmla="*/ f122 f36 1"/>
                <a:gd name="f152" fmla="*/ f123 f36 1"/>
              </a:gdLst>
              <a:ahLst/>
              <a:cxnLst>
                <a:cxn ang="3cd4">
                  <a:pos x="hc" y="t"/>
                </a:cxn>
                <a:cxn ang="0">
                  <a:pos x="r" y="vc"/>
                </a:cxn>
                <a:cxn ang="cd4">
                  <a:pos x="hc" y="b"/>
                </a:cxn>
                <a:cxn ang="cd2">
                  <a:pos x="l" y="vc"/>
                </a:cxn>
                <a:cxn ang="f98">
                  <a:pos x="f128" y="f129"/>
                </a:cxn>
                <a:cxn ang="f98">
                  <a:pos x="f130" y="f131"/>
                </a:cxn>
                <a:cxn ang="f98">
                  <a:pos x="f132" y="f131"/>
                </a:cxn>
                <a:cxn ang="f98">
                  <a:pos x="f133" y="f131"/>
                </a:cxn>
                <a:cxn ang="f98">
                  <a:pos x="f134" y="f129"/>
                </a:cxn>
                <a:cxn ang="f98">
                  <a:pos x="f135" y="f136"/>
                </a:cxn>
                <a:cxn ang="f98">
                  <a:pos x="f137" y="f138"/>
                </a:cxn>
                <a:cxn ang="f98">
                  <a:pos x="f137" y="f139"/>
                </a:cxn>
                <a:cxn ang="f98">
                  <a:pos x="f140" y="f139"/>
                </a:cxn>
                <a:cxn ang="f98">
                  <a:pos x="f140" y="f141"/>
                </a:cxn>
                <a:cxn ang="f98">
                  <a:pos x="f137" y="f141"/>
                </a:cxn>
                <a:cxn ang="f98">
                  <a:pos x="f137" y="f142"/>
                </a:cxn>
                <a:cxn ang="f98">
                  <a:pos x="f143" y="f144"/>
                </a:cxn>
                <a:cxn ang="f98">
                  <a:pos x="f143" y="f141"/>
                </a:cxn>
                <a:cxn ang="f98">
                  <a:pos x="f145" y="f141"/>
                </a:cxn>
                <a:cxn ang="f98">
                  <a:pos x="f145" y="f139"/>
                </a:cxn>
                <a:cxn ang="f98">
                  <a:pos x="f143" y="f139"/>
                </a:cxn>
                <a:cxn ang="f98">
                  <a:pos x="f143" y="f146"/>
                </a:cxn>
                <a:cxn ang="f98">
                  <a:pos x="f143" y="f147"/>
                </a:cxn>
                <a:cxn ang="f98">
                  <a:pos x="f132" y="f148"/>
                </a:cxn>
                <a:cxn ang="f98">
                  <a:pos x="f149" y="f150"/>
                </a:cxn>
                <a:cxn ang="f98">
                  <a:pos x="f151" y="f150"/>
                </a:cxn>
                <a:cxn ang="f98">
                  <a:pos x="f152" y="f150"/>
                </a:cxn>
                <a:cxn ang="f98">
                  <a:pos x="f145" y="f148"/>
                </a:cxn>
                <a:cxn ang="f98">
                  <a:pos x="f128" y="f129"/>
                </a:cxn>
              </a:cxnLst>
              <a:rect l="f124" t="f127" r="f125" b="f126"/>
              <a:pathLst>
                <a:path w="22" h="54">
                  <a:moveTo>
                    <a:pt x="f8" y="f9"/>
                  </a:moveTo>
                  <a:cubicBezTo>
                    <a:pt x="f10" y="f11"/>
                    <a:pt x="f12" y="f11"/>
                    <a:pt x="f13" y="f7"/>
                  </a:cubicBezTo>
                  <a:cubicBezTo>
                    <a:pt x="f14" y="f7"/>
                    <a:pt x="f15" y="f7"/>
                    <a:pt x="f16" y="f7"/>
                  </a:cubicBezTo>
                  <a:cubicBezTo>
                    <a:pt x="f17" y="f7"/>
                    <a:pt x="f18" y="f7"/>
                    <a:pt x="f19" y="f7"/>
                  </a:cubicBezTo>
                  <a:cubicBezTo>
                    <a:pt x="f20" y="f11"/>
                    <a:pt x="f20" y="f11"/>
                    <a:pt x="f21" y="f9"/>
                  </a:cubicBezTo>
                  <a:cubicBezTo>
                    <a:pt x="f22" y="f23"/>
                    <a:pt x="f24" y="f25"/>
                    <a:pt x="f24" y="f26"/>
                  </a:cubicBezTo>
                  <a:cubicBezTo>
                    <a:pt x="f27" y="f28"/>
                    <a:pt x="f27" y="f29"/>
                    <a:pt x="f27" y="f30"/>
                  </a:cubicBezTo>
                  <a:cubicBezTo>
                    <a:pt x="f27" y="f6"/>
                    <a:pt x="f27" y="f6"/>
                    <a:pt x="f27" y="f6"/>
                  </a:cubicBezTo>
                  <a:cubicBezTo>
                    <a:pt x="f5" y="f6"/>
                    <a:pt x="f5" y="f6"/>
                    <a:pt x="f5" y="f6"/>
                  </a:cubicBezTo>
                  <a:cubicBezTo>
                    <a:pt x="f5" y="f15"/>
                    <a:pt x="f5" y="f15"/>
                    <a:pt x="f5" y="f15"/>
                  </a:cubicBezTo>
                  <a:cubicBezTo>
                    <a:pt x="f27" y="f15"/>
                    <a:pt x="f27" y="f15"/>
                    <a:pt x="f27" y="f15"/>
                  </a:cubicBezTo>
                  <a:cubicBezTo>
                    <a:pt x="f27" y="f31"/>
                    <a:pt x="f27" y="f31"/>
                    <a:pt x="f27" y="f31"/>
                  </a:cubicBezTo>
                  <a:cubicBezTo>
                    <a:pt x="f17" y="f5"/>
                    <a:pt x="f17" y="f5"/>
                    <a:pt x="f17" y="f5"/>
                  </a:cubicBezTo>
                  <a:cubicBezTo>
                    <a:pt x="f17" y="f15"/>
                    <a:pt x="f17" y="f15"/>
                    <a:pt x="f17" y="f15"/>
                  </a:cubicBezTo>
                  <a:cubicBezTo>
                    <a:pt x="f6" y="f15"/>
                    <a:pt x="f6" y="f15"/>
                    <a:pt x="f6" y="f15"/>
                  </a:cubicBezTo>
                  <a:cubicBezTo>
                    <a:pt x="f6" y="f6"/>
                    <a:pt x="f6" y="f6"/>
                    <a:pt x="f6" y="f6"/>
                  </a:cubicBezTo>
                  <a:cubicBezTo>
                    <a:pt x="f17" y="f6"/>
                    <a:pt x="f17" y="f6"/>
                    <a:pt x="f17" y="f6"/>
                  </a:cubicBezTo>
                  <a:cubicBezTo>
                    <a:pt x="f17" y="f32"/>
                    <a:pt x="f17" y="f32"/>
                    <a:pt x="f17" y="f32"/>
                  </a:cubicBezTo>
                  <a:cubicBezTo>
                    <a:pt x="f17" y="f30"/>
                    <a:pt x="f17" y="f30"/>
                    <a:pt x="f17" y="f33"/>
                  </a:cubicBezTo>
                  <a:cubicBezTo>
                    <a:pt x="f17" y="f33"/>
                    <a:pt x="f17" y="f29"/>
                    <a:pt x="f16" y="f29"/>
                  </a:cubicBezTo>
                  <a:cubicBezTo>
                    <a:pt x="f16" y="f28"/>
                    <a:pt x="f16" y="f28"/>
                    <a:pt x="f15" y="f28"/>
                  </a:cubicBezTo>
                  <a:cubicBezTo>
                    <a:pt x="f15" y="f28"/>
                    <a:pt x="f34" y="f28"/>
                    <a:pt x="f14" y="f28"/>
                  </a:cubicBezTo>
                  <a:cubicBezTo>
                    <a:pt x="f13" y="f28"/>
                    <a:pt x="f12" y="f28"/>
                    <a:pt x="f10" y="f28"/>
                  </a:cubicBezTo>
                  <a:cubicBezTo>
                    <a:pt x="f8" y="f29"/>
                    <a:pt x="f8" y="f29"/>
                    <a:pt x="f6" y="f29"/>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6" name="Freeform 58">
              <a:extLst>
                <a:ext uri="{FF2B5EF4-FFF2-40B4-BE49-F238E27FC236}">
                  <a16:creationId xmlns:a16="http://schemas.microsoft.com/office/drawing/2014/main" id="{BE2F1C6C-6B22-B1AF-01F2-47F9C3F1E103}"/>
                </a:ext>
              </a:extLst>
            </p:cNvPr>
            <p:cNvSpPr/>
            <p:nvPr/>
          </p:nvSpPr>
          <p:spPr>
            <a:xfrm>
              <a:off x="1484281" y="6259049"/>
              <a:ext cx="80165" cy="136007"/>
            </a:xfrm>
            <a:custGeom>
              <a:avLst/>
              <a:gdLst>
                <a:gd name="f0" fmla="val 10800000"/>
                <a:gd name="f1" fmla="val 5400000"/>
                <a:gd name="f2" fmla="val 180"/>
                <a:gd name="f3" fmla="val w"/>
                <a:gd name="f4" fmla="val h"/>
                <a:gd name="f5" fmla="val 0"/>
                <a:gd name="f6" fmla="val 31"/>
                <a:gd name="f7" fmla="val 53"/>
                <a:gd name="f8" fmla="val 23"/>
                <a:gd name="f9" fmla="val 32"/>
                <a:gd name="f10" fmla="val 28"/>
                <a:gd name="f11" fmla="val 25"/>
                <a:gd name="f12" fmla="val 21"/>
                <a:gd name="f13" fmla="val 24"/>
                <a:gd name="f14" fmla="val 20"/>
                <a:gd name="f15" fmla="val 22"/>
                <a:gd name="f16" fmla="val 18"/>
                <a:gd name="f17" fmla="val 15"/>
                <a:gd name="f18" fmla="val 14"/>
                <a:gd name="f19" fmla="val 13"/>
                <a:gd name="f20" fmla="val 12"/>
                <a:gd name="f21" fmla="val 11"/>
                <a:gd name="f22" fmla="val 10"/>
                <a:gd name="f23" fmla="val 9"/>
                <a:gd name="f24" fmla="val 8"/>
                <a:gd name="f25" fmla="val 27"/>
                <a:gd name="f26" fmla="val 7"/>
                <a:gd name="f27" fmla="val 29"/>
                <a:gd name="f28" fmla="val 4"/>
                <a:gd name="f29" fmla="val 19"/>
                <a:gd name="f30" fmla="val 17"/>
                <a:gd name="f31" fmla="val 16"/>
                <a:gd name="f32" fmla="val 26"/>
                <a:gd name="f33" fmla="val 30"/>
                <a:gd name="f34" fmla="+- 0 0 -90"/>
                <a:gd name="f35" fmla="*/ f3 1 31"/>
                <a:gd name="f36" fmla="*/ f4 1 53"/>
                <a:gd name="f37" fmla="+- f7 0 f5"/>
                <a:gd name="f38" fmla="+- f6 0 f5"/>
                <a:gd name="f39" fmla="*/ f34 f0 1"/>
                <a:gd name="f40" fmla="*/ f38 1 31"/>
                <a:gd name="f41" fmla="*/ f37 1 53"/>
                <a:gd name="f42" fmla="*/ 23 f38 1"/>
                <a:gd name="f43" fmla="*/ 53 f37 1"/>
                <a:gd name="f44" fmla="*/ 32 f37 1"/>
                <a:gd name="f45" fmla="*/ 21 f38 1"/>
                <a:gd name="f46" fmla="*/ 24 f37 1"/>
                <a:gd name="f47" fmla="*/ 15 f38 1"/>
                <a:gd name="f48" fmla="*/ 21 f37 1"/>
                <a:gd name="f49" fmla="*/ 12 f38 1"/>
                <a:gd name="f50" fmla="*/ 22 f37 1"/>
                <a:gd name="f51" fmla="*/ 10 f38 1"/>
                <a:gd name="f52" fmla="*/ 8 f38 1"/>
                <a:gd name="f53" fmla="*/ 27 f37 1"/>
                <a:gd name="f54" fmla="*/ 7 f38 1"/>
                <a:gd name="f55" fmla="*/ 31 f37 1"/>
                <a:gd name="f56" fmla="*/ 0 f38 1"/>
                <a:gd name="f57" fmla="*/ 4 f37 1"/>
                <a:gd name="f58" fmla="*/ 0 f37 1"/>
                <a:gd name="f59" fmla="*/ 19 f37 1"/>
                <a:gd name="f60" fmla="*/ 9 f38 1"/>
                <a:gd name="f61" fmla="*/ 17 f37 1"/>
                <a:gd name="f62" fmla="*/ 15 f37 1"/>
                <a:gd name="f63" fmla="*/ 14 f38 1"/>
                <a:gd name="f64" fmla="*/ 14 f37 1"/>
                <a:gd name="f65" fmla="*/ 17 f38 1"/>
                <a:gd name="f66" fmla="*/ 27 f38 1"/>
                <a:gd name="f67" fmla="*/ 18 f37 1"/>
                <a:gd name="f68" fmla="*/ 30 f38 1"/>
                <a:gd name="f69" fmla="*/ 31 f38 1"/>
                <a:gd name="f70" fmla="*/ f39 1 f2"/>
                <a:gd name="f71" fmla="*/ f42 1 31"/>
                <a:gd name="f72" fmla="*/ f43 1 53"/>
                <a:gd name="f73" fmla="*/ f44 1 53"/>
                <a:gd name="f74" fmla="*/ f45 1 31"/>
                <a:gd name="f75" fmla="*/ f46 1 53"/>
                <a:gd name="f76" fmla="*/ f47 1 31"/>
                <a:gd name="f77" fmla="*/ f48 1 53"/>
                <a:gd name="f78" fmla="*/ f49 1 31"/>
                <a:gd name="f79" fmla="*/ f50 1 53"/>
                <a:gd name="f80" fmla="*/ f51 1 31"/>
                <a:gd name="f81" fmla="*/ f52 1 31"/>
                <a:gd name="f82" fmla="*/ f53 1 53"/>
                <a:gd name="f83" fmla="*/ f54 1 31"/>
                <a:gd name="f84" fmla="*/ f55 1 53"/>
                <a:gd name="f85" fmla="*/ f56 1 31"/>
                <a:gd name="f86" fmla="*/ f57 1 53"/>
                <a:gd name="f87" fmla="*/ f58 1 53"/>
                <a:gd name="f88" fmla="*/ f59 1 53"/>
                <a:gd name="f89" fmla="*/ f60 1 31"/>
                <a:gd name="f90" fmla="*/ f61 1 53"/>
                <a:gd name="f91" fmla="*/ f62 1 53"/>
                <a:gd name="f92" fmla="*/ f63 1 31"/>
                <a:gd name="f93" fmla="*/ f64 1 53"/>
                <a:gd name="f94" fmla="*/ f65 1 31"/>
                <a:gd name="f95" fmla="*/ f66 1 31"/>
                <a:gd name="f96" fmla="*/ f67 1 53"/>
                <a:gd name="f97" fmla="*/ f68 1 31"/>
                <a:gd name="f98" fmla="*/ f69 1 31"/>
                <a:gd name="f99" fmla="*/ 0 1 f40"/>
                <a:gd name="f100" fmla="*/ f6 1 f40"/>
                <a:gd name="f101" fmla="*/ 0 1 f41"/>
                <a:gd name="f102" fmla="*/ f7 1 f41"/>
                <a:gd name="f103" fmla="+- f70 0 f1"/>
                <a:gd name="f104" fmla="*/ f71 1 f40"/>
                <a:gd name="f105" fmla="*/ f72 1 f41"/>
                <a:gd name="f106" fmla="*/ f73 1 f41"/>
                <a:gd name="f107" fmla="*/ f74 1 f40"/>
                <a:gd name="f108" fmla="*/ f75 1 f41"/>
                <a:gd name="f109" fmla="*/ f76 1 f40"/>
                <a:gd name="f110" fmla="*/ f77 1 f41"/>
                <a:gd name="f111" fmla="*/ f78 1 f40"/>
                <a:gd name="f112" fmla="*/ f79 1 f41"/>
                <a:gd name="f113" fmla="*/ f80 1 f40"/>
                <a:gd name="f114" fmla="*/ f81 1 f40"/>
                <a:gd name="f115" fmla="*/ f82 1 f41"/>
                <a:gd name="f116" fmla="*/ f83 1 f40"/>
                <a:gd name="f117" fmla="*/ f84 1 f41"/>
                <a:gd name="f118" fmla="*/ f85 1 f40"/>
                <a:gd name="f119" fmla="*/ f86 1 f41"/>
                <a:gd name="f120" fmla="*/ f87 1 f41"/>
                <a:gd name="f121" fmla="*/ f88 1 f41"/>
                <a:gd name="f122" fmla="*/ f89 1 f40"/>
                <a:gd name="f123" fmla="*/ f90 1 f41"/>
                <a:gd name="f124" fmla="*/ f91 1 f41"/>
                <a:gd name="f125" fmla="*/ f92 1 f40"/>
                <a:gd name="f126" fmla="*/ f93 1 f41"/>
                <a:gd name="f127" fmla="*/ f94 1 f40"/>
                <a:gd name="f128" fmla="*/ f95 1 f40"/>
                <a:gd name="f129" fmla="*/ f96 1 f41"/>
                <a:gd name="f130" fmla="*/ f97 1 f40"/>
                <a:gd name="f131" fmla="*/ f98 1 f40"/>
                <a:gd name="f132" fmla="*/ f99 f35 1"/>
                <a:gd name="f133" fmla="*/ f100 f35 1"/>
                <a:gd name="f134" fmla="*/ f102 f36 1"/>
                <a:gd name="f135" fmla="*/ f101 f36 1"/>
                <a:gd name="f136" fmla="*/ f104 f35 1"/>
                <a:gd name="f137" fmla="*/ f105 f36 1"/>
                <a:gd name="f138" fmla="*/ f106 f36 1"/>
                <a:gd name="f139" fmla="*/ f107 f35 1"/>
                <a:gd name="f140" fmla="*/ f108 f36 1"/>
                <a:gd name="f141" fmla="*/ f109 f35 1"/>
                <a:gd name="f142" fmla="*/ f110 f36 1"/>
                <a:gd name="f143" fmla="*/ f111 f35 1"/>
                <a:gd name="f144" fmla="*/ f112 f36 1"/>
                <a:gd name="f145" fmla="*/ f113 f35 1"/>
                <a:gd name="f146" fmla="*/ f114 f35 1"/>
                <a:gd name="f147" fmla="*/ f115 f36 1"/>
                <a:gd name="f148" fmla="*/ f116 f35 1"/>
                <a:gd name="f149" fmla="*/ f117 f36 1"/>
                <a:gd name="f150" fmla="*/ f118 f35 1"/>
                <a:gd name="f151" fmla="*/ f119 f36 1"/>
                <a:gd name="f152" fmla="*/ f120 f36 1"/>
                <a:gd name="f153" fmla="*/ f121 f36 1"/>
                <a:gd name="f154" fmla="*/ f122 f35 1"/>
                <a:gd name="f155" fmla="*/ f123 f36 1"/>
                <a:gd name="f156" fmla="*/ f124 f36 1"/>
                <a:gd name="f157" fmla="*/ f125 f35 1"/>
                <a:gd name="f158" fmla="*/ f126 f36 1"/>
                <a:gd name="f159" fmla="*/ f127 f35 1"/>
                <a:gd name="f160" fmla="*/ f128 f35 1"/>
                <a:gd name="f161" fmla="*/ f129 f36 1"/>
                <a:gd name="f162" fmla="*/ f130 f35 1"/>
                <a:gd name="f163" fmla="*/ f131 f35 1"/>
              </a:gdLst>
              <a:ahLst/>
              <a:cxnLst>
                <a:cxn ang="3cd4">
                  <a:pos x="hc" y="t"/>
                </a:cxn>
                <a:cxn ang="0">
                  <a:pos x="r" y="vc"/>
                </a:cxn>
                <a:cxn ang="cd4">
                  <a:pos x="hc" y="b"/>
                </a:cxn>
                <a:cxn ang="cd2">
                  <a:pos x="l" y="vc"/>
                </a:cxn>
                <a:cxn ang="f103">
                  <a:pos x="f136" y="f137"/>
                </a:cxn>
                <a:cxn ang="f103">
                  <a:pos x="f136" y="f138"/>
                </a:cxn>
                <a:cxn ang="f103">
                  <a:pos x="f139" y="f140"/>
                </a:cxn>
                <a:cxn ang="f103">
                  <a:pos x="f141" y="f142"/>
                </a:cxn>
                <a:cxn ang="f103">
                  <a:pos x="f143" y="f144"/>
                </a:cxn>
                <a:cxn ang="f103">
                  <a:pos x="f145" y="f140"/>
                </a:cxn>
                <a:cxn ang="f103">
                  <a:pos x="f146" y="f147"/>
                </a:cxn>
                <a:cxn ang="f103">
                  <a:pos x="f148" y="f149"/>
                </a:cxn>
                <a:cxn ang="f103">
                  <a:pos x="f148" y="f137"/>
                </a:cxn>
                <a:cxn ang="f103">
                  <a:pos x="f150" y="f137"/>
                </a:cxn>
                <a:cxn ang="f103">
                  <a:pos x="f150" y="f151"/>
                </a:cxn>
                <a:cxn ang="f103">
                  <a:pos x="f148" y="f152"/>
                </a:cxn>
                <a:cxn ang="f103">
                  <a:pos x="f148" y="f153"/>
                </a:cxn>
                <a:cxn ang="f103">
                  <a:pos x="f154" y="f155"/>
                </a:cxn>
                <a:cxn ang="f103">
                  <a:pos x="f143" y="f156"/>
                </a:cxn>
                <a:cxn ang="f103">
                  <a:pos x="f157" y="f158"/>
                </a:cxn>
                <a:cxn ang="f103">
                  <a:pos x="f159" y="f158"/>
                </a:cxn>
                <a:cxn ang="f103">
                  <a:pos x="f136" y="f156"/>
                </a:cxn>
                <a:cxn ang="f103">
                  <a:pos x="f160" y="f161"/>
                </a:cxn>
                <a:cxn ang="f103">
                  <a:pos x="f162" y="f140"/>
                </a:cxn>
                <a:cxn ang="f103">
                  <a:pos x="f163" y="f149"/>
                </a:cxn>
                <a:cxn ang="f103">
                  <a:pos x="f163" y="f137"/>
                </a:cxn>
                <a:cxn ang="f103">
                  <a:pos x="f136" y="f137"/>
                </a:cxn>
              </a:cxnLst>
              <a:rect l="f132" t="f135" r="f133" b="f134"/>
              <a:pathLst>
                <a:path w="31" h="53">
                  <a:moveTo>
                    <a:pt x="f8" y="f7"/>
                  </a:moveTo>
                  <a:cubicBezTo>
                    <a:pt x="f8" y="f9"/>
                    <a:pt x="f8" y="f9"/>
                    <a:pt x="f8" y="f9"/>
                  </a:cubicBezTo>
                  <a:cubicBezTo>
                    <a:pt x="f8" y="f10"/>
                    <a:pt x="f8" y="f11"/>
                    <a:pt x="f12" y="f13"/>
                  </a:cubicBezTo>
                  <a:cubicBezTo>
                    <a:pt x="f14" y="f15"/>
                    <a:pt x="f16" y="f12"/>
                    <a:pt x="f17" y="f12"/>
                  </a:cubicBezTo>
                  <a:cubicBezTo>
                    <a:pt x="f18" y="f12"/>
                    <a:pt x="f19" y="f12"/>
                    <a:pt x="f20" y="f15"/>
                  </a:cubicBezTo>
                  <a:cubicBezTo>
                    <a:pt x="f21" y="f15"/>
                    <a:pt x="f22" y="f8"/>
                    <a:pt x="f22" y="f13"/>
                  </a:cubicBezTo>
                  <a:cubicBezTo>
                    <a:pt x="f23" y="f13"/>
                    <a:pt x="f24" y="f11"/>
                    <a:pt x="f24" y="f25"/>
                  </a:cubicBezTo>
                  <a:cubicBezTo>
                    <a:pt x="f24" y="f10"/>
                    <a:pt x="f26" y="f27"/>
                    <a:pt x="f26" y="f6"/>
                  </a:cubicBezTo>
                  <a:cubicBezTo>
                    <a:pt x="f26" y="f7"/>
                    <a:pt x="f26" y="f7"/>
                    <a:pt x="f26" y="f7"/>
                  </a:cubicBezTo>
                  <a:cubicBezTo>
                    <a:pt x="f5" y="f7"/>
                    <a:pt x="f5" y="f7"/>
                    <a:pt x="f5" y="f7"/>
                  </a:cubicBezTo>
                  <a:cubicBezTo>
                    <a:pt x="f5" y="f28"/>
                    <a:pt x="f5" y="f28"/>
                    <a:pt x="f5" y="f28"/>
                  </a:cubicBezTo>
                  <a:cubicBezTo>
                    <a:pt x="f26" y="f5"/>
                    <a:pt x="f26" y="f5"/>
                    <a:pt x="f26" y="f5"/>
                  </a:cubicBezTo>
                  <a:cubicBezTo>
                    <a:pt x="f26" y="f29"/>
                    <a:pt x="f26" y="f29"/>
                    <a:pt x="f26" y="f29"/>
                  </a:cubicBezTo>
                  <a:cubicBezTo>
                    <a:pt x="f24" y="f16"/>
                    <a:pt x="f23" y="f30"/>
                    <a:pt x="f23" y="f30"/>
                  </a:cubicBezTo>
                  <a:cubicBezTo>
                    <a:pt x="f22" y="f31"/>
                    <a:pt x="f21" y="f31"/>
                    <a:pt x="f20" y="f17"/>
                  </a:cubicBezTo>
                  <a:cubicBezTo>
                    <a:pt x="f20" y="f17"/>
                    <a:pt x="f19" y="f17"/>
                    <a:pt x="f18" y="f18"/>
                  </a:cubicBezTo>
                  <a:cubicBezTo>
                    <a:pt x="f17" y="f18"/>
                    <a:pt x="f31" y="f18"/>
                    <a:pt x="f30" y="f18"/>
                  </a:cubicBezTo>
                  <a:cubicBezTo>
                    <a:pt x="f29" y="f18"/>
                    <a:pt x="f12" y="f18"/>
                    <a:pt x="f8" y="f17"/>
                  </a:cubicBezTo>
                  <a:cubicBezTo>
                    <a:pt x="f11" y="f31"/>
                    <a:pt x="f32" y="f30"/>
                    <a:pt x="f25" y="f16"/>
                  </a:cubicBezTo>
                  <a:cubicBezTo>
                    <a:pt x="f27" y="f14"/>
                    <a:pt x="f27" y="f15"/>
                    <a:pt x="f33" y="f13"/>
                  </a:cubicBezTo>
                  <a:cubicBezTo>
                    <a:pt x="f6" y="f32"/>
                    <a:pt x="f6" y="f27"/>
                    <a:pt x="f6" y="f6"/>
                  </a:cubicBezTo>
                  <a:cubicBezTo>
                    <a:pt x="f6" y="f7"/>
                    <a:pt x="f6" y="f7"/>
                    <a:pt x="f6" y="f7"/>
                  </a:cubicBez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7" name="Freeform 59">
              <a:extLst>
                <a:ext uri="{FF2B5EF4-FFF2-40B4-BE49-F238E27FC236}">
                  <a16:creationId xmlns:a16="http://schemas.microsoft.com/office/drawing/2014/main" id="{A3D161FF-2330-29CC-C741-CD879C368753}"/>
                </a:ext>
              </a:extLst>
            </p:cNvPr>
            <p:cNvSpPr/>
            <p:nvPr/>
          </p:nvSpPr>
          <p:spPr>
            <a:xfrm>
              <a:off x="1581884" y="6293924"/>
              <a:ext cx="83658" cy="102879"/>
            </a:xfrm>
            <a:custGeom>
              <a:avLst/>
              <a:gdLst>
                <a:gd name="f0" fmla="val 10800000"/>
                <a:gd name="f1" fmla="val 5400000"/>
                <a:gd name="f2" fmla="val 180"/>
                <a:gd name="f3" fmla="val w"/>
                <a:gd name="f4" fmla="val h"/>
                <a:gd name="f5" fmla="val 0"/>
                <a:gd name="f6" fmla="val 33"/>
                <a:gd name="f7" fmla="val 40"/>
                <a:gd name="f8" fmla="val 19"/>
                <a:gd name="f9" fmla="val 20"/>
                <a:gd name="f10" fmla="val 21"/>
                <a:gd name="f11" fmla="val 22"/>
                <a:gd name="f12" fmla="val 23"/>
                <a:gd name="f13" fmla="val 8"/>
                <a:gd name="f14" fmla="val 25"/>
                <a:gd name="f15" fmla="val 26"/>
                <a:gd name="f16" fmla="val 9"/>
                <a:gd name="f17" fmla="val 28"/>
                <a:gd name="f18" fmla="val 10"/>
                <a:gd name="f19" fmla="val 29"/>
                <a:gd name="f20" fmla="val 30"/>
                <a:gd name="f21" fmla="val 11"/>
                <a:gd name="f22" fmla="val 31"/>
                <a:gd name="f23" fmla="val 12"/>
                <a:gd name="f24" fmla="val 32"/>
                <a:gd name="f25" fmla="val 13"/>
                <a:gd name="f26" fmla="val 14"/>
                <a:gd name="f27" fmla="val 15"/>
                <a:gd name="f28" fmla="val 16"/>
                <a:gd name="f29" fmla="val 17"/>
                <a:gd name="f30" fmla="val 18"/>
                <a:gd name="f31" fmla="val 24"/>
                <a:gd name="f32" fmla="val 35"/>
                <a:gd name="f33" fmla="val 36"/>
                <a:gd name="f34" fmla="val 37"/>
                <a:gd name="f35" fmla="val 27"/>
                <a:gd name="f36" fmla="val 38"/>
                <a:gd name="f37" fmla="val 39"/>
                <a:gd name="f38" fmla="val 7"/>
                <a:gd name="f39" fmla="val 6"/>
                <a:gd name="f40" fmla="val 5"/>
                <a:gd name="f41" fmla="val 4"/>
                <a:gd name="f42" fmla="val 34"/>
                <a:gd name="f43" fmla="val 3"/>
                <a:gd name="f44" fmla="val 2"/>
                <a:gd name="f45" fmla="val 1"/>
                <a:gd name="f46" fmla="+- 0 0 -90"/>
                <a:gd name="f47" fmla="*/ f3 1 33"/>
                <a:gd name="f48" fmla="*/ f4 1 40"/>
                <a:gd name="f49" fmla="+- f7 0 f5"/>
                <a:gd name="f50" fmla="+- f6 0 f5"/>
                <a:gd name="f51" fmla="*/ f46 f0 1"/>
                <a:gd name="f52" fmla="*/ f50 1 33"/>
                <a:gd name="f53" fmla="*/ f49 1 40"/>
                <a:gd name="f54" fmla="*/ 33 f50 1"/>
                <a:gd name="f55" fmla="*/ 19 f49 1"/>
                <a:gd name="f56" fmla="*/ 21 f49 1"/>
                <a:gd name="f57" fmla="*/ 23 f49 1"/>
                <a:gd name="f58" fmla="*/ 8 f50 1"/>
                <a:gd name="f59" fmla="*/ 9 f50 1"/>
                <a:gd name="f60" fmla="*/ 28 f49 1"/>
                <a:gd name="f61" fmla="*/ 11 f50 1"/>
                <a:gd name="f62" fmla="*/ 31 f49 1"/>
                <a:gd name="f63" fmla="*/ 14 f50 1"/>
                <a:gd name="f64" fmla="*/ 33 f49 1"/>
                <a:gd name="f65" fmla="*/ 17 f50 1"/>
                <a:gd name="f66" fmla="*/ 20 f50 1"/>
                <a:gd name="f67" fmla="*/ 22 f50 1"/>
                <a:gd name="f68" fmla="*/ 32 f49 1"/>
                <a:gd name="f69" fmla="*/ 24 f50 1"/>
                <a:gd name="f70" fmla="*/ 26 f50 1"/>
                <a:gd name="f71" fmla="*/ 30 f49 1"/>
                <a:gd name="f72" fmla="*/ 30 f50 1"/>
                <a:gd name="f73" fmla="*/ 35 f49 1"/>
                <a:gd name="f74" fmla="*/ 27 f50 1"/>
                <a:gd name="f75" fmla="*/ 37 f49 1"/>
                <a:gd name="f76" fmla="*/ 25 f50 1"/>
                <a:gd name="f77" fmla="*/ 39 f49 1"/>
                <a:gd name="f78" fmla="*/ 21 f50 1"/>
                <a:gd name="f79" fmla="*/ 40 f49 1"/>
                <a:gd name="f80" fmla="*/ 12 f50 1"/>
                <a:gd name="f81" fmla="*/ 38 f49 1"/>
                <a:gd name="f82" fmla="*/ 5 f50 1"/>
                <a:gd name="f83" fmla="*/ 3 f50 1"/>
                <a:gd name="f84" fmla="*/ 1 f50 1"/>
                <a:gd name="f85" fmla="*/ 26 f49 1"/>
                <a:gd name="f86" fmla="*/ 0 f50 1"/>
                <a:gd name="f87" fmla="*/ 20 f49 1"/>
                <a:gd name="f88" fmla="*/ 2 f50 1"/>
                <a:gd name="f89" fmla="*/ 12 f49 1"/>
                <a:gd name="f90" fmla="*/ 5 f49 1"/>
                <a:gd name="f91" fmla="*/ 10 f50 1"/>
                <a:gd name="f92" fmla="*/ 1 f49 1"/>
                <a:gd name="f93" fmla="*/ 0 f49 1"/>
                <a:gd name="f94" fmla="*/ 2 f49 1"/>
                <a:gd name="f95" fmla="*/ 29 f50 1"/>
                <a:gd name="f96" fmla="*/ 6 f49 1"/>
                <a:gd name="f97" fmla="*/ 32 f50 1"/>
                <a:gd name="f98" fmla="*/ 17 f49 1"/>
                <a:gd name="f99" fmla="*/ 13 f49 1"/>
                <a:gd name="f100" fmla="*/ 23 f50 1"/>
                <a:gd name="f101" fmla="*/ 10 f49 1"/>
                <a:gd name="f102" fmla="*/ 8 f49 1"/>
                <a:gd name="f103" fmla="*/ 7 f49 1"/>
                <a:gd name="f104" fmla="*/ 13 f50 1"/>
                <a:gd name="f105" fmla="*/ 9 f49 1"/>
                <a:gd name="f106" fmla="*/ f51 1 f2"/>
                <a:gd name="f107" fmla="*/ f54 1 33"/>
                <a:gd name="f108" fmla="*/ f55 1 40"/>
                <a:gd name="f109" fmla="*/ f56 1 40"/>
                <a:gd name="f110" fmla="*/ f57 1 40"/>
                <a:gd name="f111" fmla="*/ f58 1 33"/>
                <a:gd name="f112" fmla="*/ f59 1 33"/>
                <a:gd name="f113" fmla="*/ f60 1 40"/>
                <a:gd name="f114" fmla="*/ f61 1 33"/>
                <a:gd name="f115" fmla="*/ f62 1 40"/>
                <a:gd name="f116" fmla="*/ f63 1 33"/>
                <a:gd name="f117" fmla="*/ f64 1 40"/>
                <a:gd name="f118" fmla="*/ f65 1 33"/>
                <a:gd name="f119" fmla="*/ f66 1 33"/>
                <a:gd name="f120" fmla="*/ f67 1 33"/>
                <a:gd name="f121" fmla="*/ f68 1 40"/>
                <a:gd name="f122" fmla="*/ f69 1 33"/>
                <a:gd name="f123" fmla="*/ f70 1 33"/>
                <a:gd name="f124" fmla="*/ f71 1 40"/>
                <a:gd name="f125" fmla="*/ f72 1 33"/>
                <a:gd name="f126" fmla="*/ f73 1 40"/>
                <a:gd name="f127" fmla="*/ f74 1 33"/>
                <a:gd name="f128" fmla="*/ f75 1 40"/>
                <a:gd name="f129" fmla="*/ f76 1 33"/>
                <a:gd name="f130" fmla="*/ f77 1 40"/>
                <a:gd name="f131" fmla="*/ f78 1 33"/>
                <a:gd name="f132" fmla="*/ f79 1 40"/>
                <a:gd name="f133" fmla="*/ f80 1 33"/>
                <a:gd name="f134" fmla="*/ f81 1 40"/>
                <a:gd name="f135" fmla="*/ f82 1 33"/>
                <a:gd name="f136" fmla="*/ f83 1 33"/>
                <a:gd name="f137" fmla="*/ f84 1 33"/>
                <a:gd name="f138" fmla="*/ f85 1 40"/>
                <a:gd name="f139" fmla="*/ f86 1 33"/>
                <a:gd name="f140" fmla="*/ f87 1 40"/>
                <a:gd name="f141" fmla="*/ f88 1 33"/>
                <a:gd name="f142" fmla="*/ f89 1 40"/>
                <a:gd name="f143" fmla="*/ f90 1 40"/>
                <a:gd name="f144" fmla="*/ f91 1 33"/>
                <a:gd name="f145" fmla="*/ f92 1 40"/>
                <a:gd name="f146" fmla="*/ f93 1 40"/>
                <a:gd name="f147" fmla="*/ f94 1 40"/>
                <a:gd name="f148" fmla="*/ f95 1 33"/>
                <a:gd name="f149" fmla="*/ f96 1 40"/>
                <a:gd name="f150" fmla="*/ f97 1 33"/>
                <a:gd name="f151" fmla="*/ f98 1 40"/>
                <a:gd name="f152" fmla="*/ f99 1 40"/>
                <a:gd name="f153" fmla="*/ f100 1 33"/>
                <a:gd name="f154" fmla="*/ f101 1 40"/>
                <a:gd name="f155" fmla="*/ f102 1 40"/>
                <a:gd name="f156" fmla="*/ f103 1 40"/>
                <a:gd name="f157" fmla="*/ f104 1 33"/>
                <a:gd name="f158" fmla="*/ f105 1 40"/>
                <a:gd name="f159" fmla="*/ 0 1 f52"/>
                <a:gd name="f160" fmla="*/ f6 1 f52"/>
                <a:gd name="f161" fmla="*/ 0 1 f53"/>
                <a:gd name="f162" fmla="*/ f7 1 f53"/>
                <a:gd name="f163" fmla="+- f106 0 f1"/>
                <a:gd name="f164" fmla="*/ f107 1 f52"/>
                <a:gd name="f165" fmla="*/ f108 1 f53"/>
                <a:gd name="f166" fmla="*/ f109 1 f53"/>
                <a:gd name="f167" fmla="*/ f110 1 f53"/>
                <a:gd name="f168" fmla="*/ f111 1 f52"/>
                <a:gd name="f169" fmla="*/ f112 1 f52"/>
                <a:gd name="f170" fmla="*/ f113 1 f53"/>
                <a:gd name="f171" fmla="*/ f114 1 f52"/>
                <a:gd name="f172" fmla="*/ f115 1 f53"/>
                <a:gd name="f173" fmla="*/ f116 1 f52"/>
                <a:gd name="f174" fmla="*/ f117 1 f53"/>
                <a:gd name="f175" fmla="*/ f118 1 f52"/>
                <a:gd name="f176" fmla="*/ f119 1 f52"/>
                <a:gd name="f177" fmla="*/ f120 1 f52"/>
                <a:gd name="f178" fmla="*/ f121 1 f53"/>
                <a:gd name="f179" fmla="*/ f122 1 f52"/>
                <a:gd name="f180" fmla="*/ f123 1 f52"/>
                <a:gd name="f181" fmla="*/ f124 1 f53"/>
                <a:gd name="f182" fmla="*/ f125 1 f52"/>
                <a:gd name="f183" fmla="*/ f126 1 f53"/>
                <a:gd name="f184" fmla="*/ f127 1 f52"/>
                <a:gd name="f185" fmla="*/ f128 1 f53"/>
                <a:gd name="f186" fmla="*/ f129 1 f52"/>
                <a:gd name="f187" fmla="*/ f130 1 f53"/>
                <a:gd name="f188" fmla="*/ f131 1 f52"/>
                <a:gd name="f189" fmla="*/ f132 1 f53"/>
                <a:gd name="f190" fmla="*/ f133 1 f52"/>
                <a:gd name="f191" fmla="*/ f134 1 f53"/>
                <a:gd name="f192" fmla="*/ f135 1 f52"/>
                <a:gd name="f193" fmla="*/ f136 1 f52"/>
                <a:gd name="f194" fmla="*/ f137 1 f52"/>
                <a:gd name="f195" fmla="*/ f138 1 f53"/>
                <a:gd name="f196" fmla="*/ f139 1 f52"/>
                <a:gd name="f197" fmla="*/ f140 1 f53"/>
                <a:gd name="f198" fmla="*/ f141 1 f52"/>
                <a:gd name="f199" fmla="*/ f142 1 f53"/>
                <a:gd name="f200" fmla="*/ f143 1 f53"/>
                <a:gd name="f201" fmla="*/ f144 1 f52"/>
                <a:gd name="f202" fmla="*/ f145 1 f53"/>
                <a:gd name="f203" fmla="*/ f146 1 f53"/>
                <a:gd name="f204" fmla="*/ f147 1 f53"/>
                <a:gd name="f205" fmla="*/ f148 1 f52"/>
                <a:gd name="f206" fmla="*/ f149 1 f53"/>
                <a:gd name="f207" fmla="*/ f150 1 f52"/>
                <a:gd name="f208" fmla="*/ f151 1 f53"/>
                <a:gd name="f209" fmla="*/ f152 1 f53"/>
                <a:gd name="f210" fmla="*/ f153 1 f52"/>
                <a:gd name="f211" fmla="*/ f154 1 f53"/>
                <a:gd name="f212" fmla="*/ f155 1 f53"/>
                <a:gd name="f213" fmla="*/ f156 1 f53"/>
                <a:gd name="f214" fmla="*/ f157 1 f52"/>
                <a:gd name="f215" fmla="*/ f158 1 f53"/>
                <a:gd name="f216" fmla="*/ f159 f47 1"/>
                <a:gd name="f217" fmla="*/ f160 f47 1"/>
                <a:gd name="f218" fmla="*/ f162 f48 1"/>
                <a:gd name="f219" fmla="*/ f161 f48 1"/>
                <a:gd name="f220" fmla="*/ f164 f47 1"/>
                <a:gd name="f221" fmla="*/ f165 f48 1"/>
                <a:gd name="f222" fmla="*/ f166 f48 1"/>
                <a:gd name="f223" fmla="*/ f167 f48 1"/>
                <a:gd name="f224" fmla="*/ f168 f47 1"/>
                <a:gd name="f225" fmla="*/ f169 f47 1"/>
                <a:gd name="f226" fmla="*/ f170 f48 1"/>
                <a:gd name="f227" fmla="*/ f171 f47 1"/>
                <a:gd name="f228" fmla="*/ f172 f48 1"/>
                <a:gd name="f229" fmla="*/ f173 f47 1"/>
                <a:gd name="f230" fmla="*/ f174 f48 1"/>
                <a:gd name="f231" fmla="*/ f175 f47 1"/>
                <a:gd name="f232" fmla="*/ f176 f47 1"/>
                <a:gd name="f233" fmla="*/ f177 f47 1"/>
                <a:gd name="f234" fmla="*/ f178 f48 1"/>
                <a:gd name="f235" fmla="*/ f179 f47 1"/>
                <a:gd name="f236" fmla="*/ f180 f47 1"/>
                <a:gd name="f237" fmla="*/ f181 f48 1"/>
                <a:gd name="f238" fmla="*/ f182 f47 1"/>
                <a:gd name="f239" fmla="*/ f183 f48 1"/>
                <a:gd name="f240" fmla="*/ f184 f47 1"/>
                <a:gd name="f241" fmla="*/ f185 f48 1"/>
                <a:gd name="f242" fmla="*/ f186 f47 1"/>
                <a:gd name="f243" fmla="*/ f187 f48 1"/>
                <a:gd name="f244" fmla="*/ f188 f47 1"/>
                <a:gd name="f245" fmla="*/ f189 f48 1"/>
                <a:gd name="f246" fmla="*/ f190 f47 1"/>
                <a:gd name="f247" fmla="*/ f191 f48 1"/>
                <a:gd name="f248" fmla="*/ f192 f47 1"/>
                <a:gd name="f249" fmla="*/ f193 f47 1"/>
                <a:gd name="f250" fmla="*/ f194 f47 1"/>
                <a:gd name="f251" fmla="*/ f195 f48 1"/>
                <a:gd name="f252" fmla="*/ f196 f47 1"/>
                <a:gd name="f253" fmla="*/ f197 f48 1"/>
                <a:gd name="f254" fmla="*/ f198 f47 1"/>
                <a:gd name="f255" fmla="*/ f199 f48 1"/>
                <a:gd name="f256" fmla="*/ f200 f48 1"/>
                <a:gd name="f257" fmla="*/ f201 f47 1"/>
                <a:gd name="f258" fmla="*/ f202 f48 1"/>
                <a:gd name="f259" fmla="*/ f203 f48 1"/>
                <a:gd name="f260" fmla="*/ f204 f48 1"/>
                <a:gd name="f261" fmla="*/ f205 f47 1"/>
                <a:gd name="f262" fmla="*/ f206 f48 1"/>
                <a:gd name="f263" fmla="*/ f207 f47 1"/>
                <a:gd name="f264" fmla="*/ f208 f48 1"/>
                <a:gd name="f265" fmla="*/ f209 f48 1"/>
                <a:gd name="f266" fmla="*/ f210 f47 1"/>
                <a:gd name="f267" fmla="*/ f211 f48 1"/>
                <a:gd name="f268" fmla="*/ f212 f48 1"/>
                <a:gd name="f269" fmla="*/ f213 f48 1"/>
                <a:gd name="f270" fmla="*/ f214 f47 1"/>
                <a:gd name="f271" fmla="*/ f215 f48 1"/>
              </a:gdLst>
              <a:ahLst/>
              <a:cxnLst>
                <a:cxn ang="3cd4">
                  <a:pos x="hc" y="t"/>
                </a:cxn>
                <a:cxn ang="0">
                  <a:pos x="r" y="vc"/>
                </a:cxn>
                <a:cxn ang="cd4">
                  <a:pos x="hc" y="b"/>
                </a:cxn>
                <a:cxn ang="cd2">
                  <a:pos x="l" y="vc"/>
                </a:cxn>
                <a:cxn ang="f163">
                  <a:pos x="f220" y="f221"/>
                </a:cxn>
                <a:cxn ang="f163">
                  <a:pos x="f220" y="f222"/>
                </a:cxn>
                <a:cxn ang="f163">
                  <a:pos x="f220" y="f223"/>
                </a:cxn>
                <a:cxn ang="f163">
                  <a:pos x="f224" y="f223"/>
                </a:cxn>
                <a:cxn ang="f163">
                  <a:pos x="f225" y="f226"/>
                </a:cxn>
                <a:cxn ang="f163">
                  <a:pos x="f227" y="f228"/>
                </a:cxn>
                <a:cxn ang="f163">
                  <a:pos x="f229" y="f230"/>
                </a:cxn>
                <a:cxn ang="f163">
                  <a:pos x="f231" y="f230"/>
                </a:cxn>
                <a:cxn ang="f163">
                  <a:pos x="f232" y="f230"/>
                </a:cxn>
                <a:cxn ang="f163">
                  <a:pos x="f233" y="f234"/>
                </a:cxn>
                <a:cxn ang="f163">
                  <a:pos x="f235" y="f234"/>
                </a:cxn>
                <a:cxn ang="f163">
                  <a:pos x="f236" y="f237"/>
                </a:cxn>
                <a:cxn ang="f163">
                  <a:pos x="f238" y="f239"/>
                </a:cxn>
                <a:cxn ang="f163">
                  <a:pos x="f240" y="f241"/>
                </a:cxn>
                <a:cxn ang="f163">
                  <a:pos x="f242" y="f243"/>
                </a:cxn>
                <a:cxn ang="f163">
                  <a:pos x="f244" y="f245"/>
                </a:cxn>
                <a:cxn ang="f163">
                  <a:pos x="f231" y="f245"/>
                </a:cxn>
                <a:cxn ang="f163">
                  <a:pos x="f246" y="f243"/>
                </a:cxn>
                <a:cxn ang="f163">
                  <a:pos x="f224" y="f247"/>
                </a:cxn>
                <a:cxn ang="f163">
                  <a:pos x="f248" y="f239"/>
                </a:cxn>
                <a:cxn ang="f163">
                  <a:pos x="f249" y="f228"/>
                </a:cxn>
                <a:cxn ang="f163">
                  <a:pos x="f250" y="f251"/>
                </a:cxn>
                <a:cxn ang="f163">
                  <a:pos x="f252" y="f253"/>
                </a:cxn>
                <a:cxn ang="f163">
                  <a:pos x="f254" y="f255"/>
                </a:cxn>
                <a:cxn ang="f163">
                  <a:pos x="f248" y="f256"/>
                </a:cxn>
                <a:cxn ang="f163">
                  <a:pos x="f257" y="f258"/>
                </a:cxn>
                <a:cxn ang="f163">
                  <a:pos x="f231" y="f259"/>
                </a:cxn>
                <a:cxn ang="f163">
                  <a:pos x="f235" y="f260"/>
                </a:cxn>
                <a:cxn ang="f163">
                  <a:pos x="f261" y="f262"/>
                </a:cxn>
                <a:cxn ang="f163">
                  <a:pos x="f263" y="f255"/>
                </a:cxn>
                <a:cxn ang="f163">
                  <a:pos x="f220" y="f221"/>
                </a:cxn>
                <a:cxn ang="f163">
                  <a:pos x="f236" y="f264"/>
                </a:cxn>
                <a:cxn ang="f163">
                  <a:pos x="f242" y="f265"/>
                </a:cxn>
                <a:cxn ang="f163">
                  <a:pos x="f266" y="f267"/>
                </a:cxn>
                <a:cxn ang="f163">
                  <a:pos x="f244" y="f268"/>
                </a:cxn>
                <a:cxn ang="f163">
                  <a:pos x="f231" y="f269"/>
                </a:cxn>
                <a:cxn ang="f163">
                  <a:pos x="f270" y="f268"/>
                </a:cxn>
                <a:cxn ang="f163">
                  <a:pos x="f227" y="f271"/>
                </a:cxn>
                <a:cxn ang="f163">
                  <a:pos x="f225" y="f255"/>
                </a:cxn>
                <a:cxn ang="f163">
                  <a:pos x="f224" y="f264"/>
                </a:cxn>
                <a:cxn ang="f163">
                  <a:pos x="f236" y="f264"/>
                </a:cxn>
              </a:cxnLst>
              <a:rect l="f216" t="f219" r="f217" b="f218"/>
              <a:pathLst>
                <a:path w="33" h="40">
                  <a:moveTo>
                    <a:pt x="f6" y="f8"/>
                  </a:moveTo>
                  <a:cubicBezTo>
                    <a:pt x="f6" y="f9"/>
                    <a:pt x="f6" y="f10"/>
                    <a:pt x="f6" y="f10"/>
                  </a:cubicBezTo>
                  <a:cubicBezTo>
                    <a:pt x="f6" y="f11"/>
                    <a:pt x="f6" y="f11"/>
                    <a:pt x="f6" y="f12"/>
                  </a:cubicBezTo>
                  <a:cubicBezTo>
                    <a:pt x="f13" y="f12"/>
                    <a:pt x="f13" y="f12"/>
                    <a:pt x="f13" y="f12"/>
                  </a:cubicBezTo>
                  <a:cubicBezTo>
                    <a:pt x="f13" y="f14"/>
                    <a:pt x="f13" y="f15"/>
                    <a:pt x="f16" y="f17"/>
                  </a:cubicBezTo>
                  <a:cubicBezTo>
                    <a:pt x="f18" y="f19"/>
                    <a:pt x="f18" y="f20"/>
                    <a:pt x="f21" y="f22"/>
                  </a:cubicBezTo>
                  <a:cubicBezTo>
                    <a:pt x="f23" y="f24"/>
                    <a:pt x="f25" y="f24"/>
                    <a:pt x="f26" y="f6"/>
                  </a:cubicBezTo>
                  <a:cubicBezTo>
                    <a:pt x="f27" y="f6"/>
                    <a:pt x="f28" y="f6"/>
                    <a:pt x="f29" y="f6"/>
                  </a:cubicBezTo>
                  <a:cubicBezTo>
                    <a:pt x="f30" y="f6"/>
                    <a:pt x="f8" y="f6"/>
                    <a:pt x="f9" y="f6"/>
                  </a:cubicBezTo>
                  <a:cubicBezTo>
                    <a:pt x="f9" y="f6"/>
                    <a:pt x="f10" y="f6"/>
                    <a:pt x="f11" y="f24"/>
                  </a:cubicBezTo>
                  <a:cubicBezTo>
                    <a:pt x="f12" y="f24"/>
                    <a:pt x="f12" y="f24"/>
                    <a:pt x="f31" y="f24"/>
                  </a:cubicBezTo>
                  <a:cubicBezTo>
                    <a:pt x="f31" y="f22"/>
                    <a:pt x="f14" y="f22"/>
                    <a:pt x="f15" y="f20"/>
                  </a:cubicBezTo>
                  <a:cubicBezTo>
                    <a:pt x="f20" y="f32"/>
                    <a:pt x="f20" y="f32"/>
                    <a:pt x="f20" y="f32"/>
                  </a:cubicBezTo>
                  <a:cubicBezTo>
                    <a:pt x="f19" y="f33"/>
                    <a:pt x="f17" y="f34"/>
                    <a:pt x="f35" y="f34"/>
                  </a:cubicBezTo>
                  <a:cubicBezTo>
                    <a:pt x="f35" y="f36"/>
                    <a:pt x="f15" y="f36"/>
                    <a:pt x="f14" y="f37"/>
                  </a:cubicBezTo>
                  <a:cubicBezTo>
                    <a:pt x="f31" y="f37"/>
                    <a:pt x="f11" y="f7"/>
                    <a:pt x="f10" y="f7"/>
                  </a:cubicBezTo>
                  <a:cubicBezTo>
                    <a:pt x="f9" y="f7"/>
                    <a:pt x="f30" y="f7"/>
                    <a:pt x="f29" y="f7"/>
                  </a:cubicBezTo>
                  <a:cubicBezTo>
                    <a:pt x="f27" y="f7"/>
                    <a:pt x="f26" y="f7"/>
                    <a:pt x="f23" y="f37"/>
                  </a:cubicBezTo>
                  <a:cubicBezTo>
                    <a:pt x="f21" y="f37"/>
                    <a:pt x="f18" y="f36"/>
                    <a:pt x="f13" y="f36"/>
                  </a:cubicBezTo>
                  <a:cubicBezTo>
                    <a:pt x="f38" y="f34"/>
                    <a:pt x="f39" y="f33"/>
                    <a:pt x="f40" y="f32"/>
                  </a:cubicBezTo>
                  <a:cubicBezTo>
                    <a:pt x="f41" y="f42"/>
                    <a:pt x="f41" y="f6"/>
                    <a:pt x="f43" y="f22"/>
                  </a:cubicBezTo>
                  <a:cubicBezTo>
                    <a:pt x="f44" y="f20"/>
                    <a:pt x="f45" y="f17"/>
                    <a:pt x="f45" y="f15"/>
                  </a:cubicBezTo>
                  <a:cubicBezTo>
                    <a:pt x="f45" y="f31"/>
                    <a:pt x="f5" y="f11"/>
                    <a:pt x="f5" y="f9"/>
                  </a:cubicBezTo>
                  <a:cubicBezTo>
                    <a:pt x="f5" y="f29"/>
                    <a:pt x="f45" y="f26"/>
                    <a:pt x="f44" y="f23"/>
                  </a:cubicBezTo>
                  <a:cubicBezTo>
                    <a:pt x="f44" y="f16"/>
                    <a:pt x="f41" y="f38"/>
                    <a:pt x="f40" y="f40"/>
                  </a:cubicBezTo>
                  <a:cubicBezTo>
                    <a:pt x="f39" y="f41"/>
                    <a:pt x="f13" y="f44"/>
                    <a:pt x="f18" y="f45"/>
                  </a:cubicBezTo>
                  <a:cubicBezTo>
                    <a:pt x="f23" y="f45"/>
                    <a:pt x="f27" y="f5"/>
                    <a:pt x="f29" y="f5"/>
                  </a:cubicBezTo>
                  <a:cubicBezTo>
                    <a:pt x="f9" y="f5"/>
                    <a:pt x="f11" y="f45"/>
                    <a:pt x="f31" y="f44"/>
                  </a:cubicBezTo>
                  <a:cubicBezTo>
                    <a:pt x="f15" y="f43"/>
                    <a:pt x="f17" y="f41"/>
                    <a:pt x="f19" y="f39"/>
                  </a:cubicBezTo>
                  <a:cubicBezTo>
                    <a:pt x="f22" y="f13"/>
                    <a:pt x="f24" y="f18"/>
                    <a:pt x="f24" y="f23"/>
                  </a:cubicBezTo>
                  <a:cubicBezTo>
                    <a:pt x="f6" y="f26"/>
                    <a:pt x="f6" y="f29"/>
                    <a:pt x="f6" y="f8"/>
                  </a:cubicBezTo>
                  <a:close/>
                  <a:moveTo>
                    <a:pt x="f15" y="f29"/>
                  </a:moveTo>
                  <a:cubicBezTo>
                    <a:pt x="f15" y="f27"/>
                    <a:pt x="f14" y="f26"/>
                    <a:pt x="f14" y="f25"/>
                  </a:cubicBezTo>
                  <a:cubicBezTo>
                    <a:pt x="f14" y="f23"/>
                    <a:pt x="f31" y="f21"/>
                    <a:pt x="f12" y="f18"/>
                  </a:cubicBezTo>
                  <a:cubicBezTo>
                    <a:pt x="f12" y="f16"/>
                    <a:pt x="f11" y="f13"/>
                    <a:pt x="f10" y="f13"/>
                  </a:cubicBezTo>
                  <a:cubicBezTo>
                    <a:pt x="f9" y="f38"/>
                    <a:pt x="f30" y="f38"/>
                    <a:pt x="f29" y="f38"/>
                  </a:cubicBezTo>
                  <a:cubicBezTo>
                    <a:pt x="f27" y="f38"/>
                    <a:pt x="f26" y="f38"/>
                    <a:pt x="f25" y="f13"/>
                  </a:cubicBezTo>
                  <a:cubicBezTo>
                    <a:pt x="f23" y="f13"/>
                    <a:pt x="f21" y="f16"/>
                    <a:pt x="f21" y="f16"/>
                  </a:cubicBezTo>
                  <a:cubicBezTo>
                    <a:pt x="f18" y="f18"/>
                    <a:pt x="f16" y="f21"/>
                    <a:pt x="f16" y="f23"/>
                  </a:cubicBezTo>
                  <a:cubicBezTo>
                    <a:pt x="f13" y="f26"/>
                    <a:pt x="f13" y="f27"/>
                    <a:pt x="f13" y="f29"/>
                  </a:cubicBezTo>
                  <a:lnTo>
                    <a:pt x="f15" y="f2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8" name="Freeform 60">
              <a:extLst>
                <a:ext uri="{FF2B5EF4-FFF2-40B4-BE49-F238E27FC236}">
                  <a16:creationId xmlns:a16="http://schemas.microsoft.com/office/drawing/2014/main" id="{0C1F7F3D-7F18-8DF5-C8CA-BF058517D86C}"/>
                </a:ext>
              </a:extLst>
            </p:cNvPr>
            <p:cNvSpPr/>
            <p:nvPr/>
          </p:nvSpPr>
          <p:spPr>
            <a:xfrm>
              <a:off x="1726533" y="6297417"/>
              <a:ext cx="121999" cy="97648"/>
            </a:xfrm>
            <a:custGeom>
              <a:avLst/>
              <a:gdLst>
                <a:gd name="f0" fmla="val 10800000"/>
                <a:gd name="f1" fmla="val 5400000"/>
                <a:gd name="f2" fmla="val 180"/>
                <a:gd name="f3" fmla="val w"/>
                <a:gd name="f4" fmla="val h"/>
                <a:gd name="f5" fmla="val 0"/>
                <a:gd name="f6" fmla="val 70"/>
                <a:gd name="f7" fmla="val 56"/>
                <a:gd name="f8" fmla="val 46"/>
                <a:gd name="f9" fmla="val 35"/>
                <a:gd name="f10" fmla="val 16"/>
                <a:gd name="f11" fmla="val 25"/>
                <a:gd name="f12" fmla="val 15"/>
                <a:gd name="f13" fmla="val 10"/>
                <a:gd name="f14" fmla="val 21"/>
                <a:gd name="f15" fmla="val 38"/>
                <a:gd name="f16" fmla="val 31"/>
                <a:gd name="f17" fmla="val 40"/>
                <a:gd name="f18" fmla="val 50"/>
                <a:gd name="f19" fmla="val 60"/>
                <a:gd name="f20" fmla="+- 0 0 -90"/>
                <a:gd name="f21" fmla="*/ f3 1 70"/>
                <a:gd name="f22" fmla="*/ f4 1 56"/>
                <a:gd name="f23" fmla="+- f7 0 f5"/>
                <a:gd name="f24" fmla="+- f6 0 f5"/>
                <a:gd name="f25" fmla="*/ f20 f0 1"/>
                <a:gd name="f26" fmla="*/ f24 1 70"/>
                <a:gd name="f27" fmla="*/ f23 1 56"/>
                <a:gd name="f28" fmla="*/ 56 f24 1"/>
                <a:gd name="f29" fmla="*/ 56 f23 1"/>
                <a:gd name="f30" fmla="*/ 46 f24 1"/>
                <a:gd name="f31" fmla="*/ 35 f24 1"/>
                <a:gd name="f32" fmla="*/ 16 f23 1"/>
                <a:gd name="f33" fmla="*/ 25 f24 1"/>
                <a:gd name="f34" fmla="*/ 15 f24 1"/>
                <a:gd name="f35" fmla="*/ 0 f24 1"/>
                <a:gd name="f36" fmla="*/ 0 f23 1"/>
                <a:gd name="f37" fmla="*/ 10 f24 1"/>
                <a:gd name="f38" fmla="*/ 21 f24 1"/>
                <a:gd name="f39" fmla="*/ 38 f23 1"/>
                <a:gd name="f40" fmla="*/ 31 f24 1"/>
                <a:gd name="f41" fmla="*/ 40 f24 1"/>
                <a:gd name="f42" fmla="*/ 50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7" y="f7"/>
                  </a:moveTo>
                  <a:lnTo>
                    <a:pt x="f8" y="f7"/>
                  </a:lnTo>
                  <a:lnTo>
                    <a:pt x="f9" y="f10"/>
                  </a:lnTo>
                  <a:lnTo>
                    <a:pt x="f11" y="f7"/>
                  </a:lnTo>
                  <a:lnTo>
                    <a:pt x="f12" y="f7"/>
                  </a:lnTo>
                  <a:lnTo>
                    <a:pt x="f5" y="f5"/>
                  </a:lnTo>
                  <a:lnTo>
                    <a:pt x="f13" y="f5"/>
                  </a:lnTo>
                  <a:lnTo>
                    <a:pt x="f14" y="f15"/>
                  </a:lnTo>
                  <a:lnTo>
                    <a:pt x="f16" y="f5"/>
                  </a:lnTo>
                  <a:lnTo>
                    <a:pt x="f17" y="f5"/>
                  </a:lnTo>
                  <a:lnTo>
                    <a:pt x="f18" y="f15"/>
                  </a:lnTo>
                  <a:lnTo>
                    <a:pt x="f19" y="f5"/>
                  </a:lnTo>
                  <a:lnTo>
                    <a:pt x="f6" y="f5"/>
                  </a:lnTo>
                  <a:lnTo>
                    <a:pt x="f7"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59" name="Freeform 61">
              <a:extLst>
                <a:ext uri="{FF2B5EF4-FFF2-40B4-BE49-F238E27FC236}">
                  <a16:creationId xmlns:a16="http://schemas.microsoft.com/office/drawing/2014/main" id="{95D1AAF4-BAFA-4FCE-732A-4F860E1D504A}"/>
                </a:ext>
              </a:extLst>
            </p:cNvPr>
            <p:cNvSpPr/>
            <p:nvPr/>
          </p:nvSpPr>
          <p:spPr>
            <a:xfrm>
              <a:off x="1858993" y="6293924"/>
              <a:ext cx="87142" cy="102879"/>
            </a:xfrm>
            <a:custGeom>
              <a:avLst/>
              <a:gdLst>
                <a:gd name="f0" fmla="val 10800000"/>
                <a:gd name="f1" fmla="val 5400000"/>
                <a:gd name="f2" fmla="val 180"/>
                <a:gd name="f3" fmla="val w"/>
                <a:gd name="f4" fmla="val h"/>
                <a:gd name="f5" fmla="val 0"/>
                <a:gd name="f6" fmla="val 34"/>
                <a:gd name="f7" fmla="val 40"/>
                <a:gd name="f8" fmla="val 20"/>
                <a:gd name="f9" fmla="val 23"/>
                <a:gd name="f10" fmla="val 26"/>
                <a:gd name="f11" fmla="val 33"/>
                <a:gd name="f12" fmla="val 28"/>
                <a:gd name="f13" fmla="val 32"/>
                <a:gd name="f14" fmla="val 31"/>
                <a:gd name="f15" fmla="val 29"/>
                <a:gd name="f16" fmla="val 35"/>
                <a:gd name="f17" fmla="val 37"/>
                <a:gd name="f18" fmla="val 38"/>
                <a:gd name="f19" fmla="val 24"/>
                <a:gd name="f20" fmla="val 39"/>
                <a:gd name="f21" fmla="val 22"/>
                <a:gd name="f22" fmla="val 17"/>
                <a:gd name="f23" fmla="val 15"/>
                <a:gd name="f24" fmla="val 12"/>
                <a:gd name="f25" fmla="val 10"/>
                <a:gd name="f26" fmla="val 8"/>
                <a:gd name="f27" fmla="val 6"/>
                <a:gd name="f28" fmla="val 36"/>
                <a:gd name="f29" fmla="val 5"/>
                <a:gd name="f30" fmla="val 3"/>
                <a:gd name="f31" fmla="val 2"/>
                <a:gd name="f32" fmla="val 1"/>
                <a:gd name="f33" fmla="val 14"/>
                <a:gd name="f34" fmla="val 9"/>
                <a:gd name="f35" fmla="val 4"/>
                <a:gd name="f36" fmla="val 7"/>
                <a:gd name="f37" fmla="val 11"/>
                <a:gd name="f38" fmla="val 13"/>
                <a:gd name="f39" fmla="val 27"/>
                <a:gd name="f40" fmla="val 18"/>
                <a:gd name="f41" fmla="val 16"/>
                <a:gd name="f42" fmla="val 25"/>
                <a:gd name="f43" fmla="val 21"/>
                <a:gd name="f44" fmla="val 30"/>
                <a:gd name="f45" fmla="val 19"/>
                <a:gd name="f46" fmla="+- 0 0 -90"/>
                <a:gd name="f47" fmla="*/ f3 1 34"/>
                <a:gd name="f48" fmla="*/ f4 1 40"/>
                <a:gd name="f49" fmla="+- f7 0 f5"/>
                <a:gd name="f50" fmla="+- f6 0 f5"/>
                <a:gd name="f51" fmla="*/ f46 f0 1"/>
                <a:gd name="f52" fmla="*/ f50 1 34"/>
                <a:gd name="f53" fmla="*/ f49 1 40"/>
                <a:gd name="f54" fmla="*/ 34 f50 1"/>
                <a:gd name="f55" fmla="*/ 20 f49 1"/>
                <a:gd name="f56" fmla="*/ 33 f50 1"/>
                <a:gd name="f57" fmla="*/ 28 f49 1"/>
                <a:gd name="f58" fmla="*/ 29 f50 1"/>
                <a:gd name="f59" fmla="*/ 35 f49 1"/>
                <a:gd name="f60" fmla="*/ 24 f50 1"/>
                <a:gd name="f61" fmla="*/ 39 f49 1"/>
                <a:gd name="f62" fmla="*/ 17 f50 1"/>
                <a:gd name="f63" fmla="*/ 40 f49 1"/>
                <a:gd name="f64" fmla="*/ 10 f50 1"/>
                <a:gd name="f65" fmla="*/ 5 f50 1"/>
                <a:gd name="f66" fmla="*/ 1 f50 1"/>
                <a:gd name="f67" fmla="*/ 0 f50 1"/>
                <a:gd name="f68" fmla="*/ 12 f49 1"/>
                <a:gd name="f69" fmla="*/ 5 f49 1"/>
                <a:gd name="f70" fmla="*/ 11 f50 1"/>
                <a:gd name="f71" fmla="*/ 1 f49 1"/>
                <a:gd name="f72" fmla="*/ 0 f49 1"/>
                <a:gd name="f73" fmla="*/ 27 f50 1"/>
                <a:gd name="f74" fmla="*/ 26 f50 1"/>
                <a:gd name="f75" fmla="*/ 15 f49 1"/>
                <a:gd name="f76" fmla="*/ 11 f49 1"/>
                <a:gd name="f77" fmla="*/ 21 f50 1"/>
                <a:gd name="f78" fmla="*/ 8 f49 1"/>
                <a:gd name="f79" fmla="*/ 7 f49 1"/>
                <a:gd name="f80" fmla="*/ 13 f50 1"/>
                <a:gd name="f81" fmla="*/ 8 f50 1"/>
                <a:gd name="f82" fmla="*/ 26 f49 1"/>
                <a:gd name="f83" fmla="*/ 30 f49 1"/>
                <a:gd name="f84" fmla="*/ 32 f49 1"/>
                <a:gd name="f85" fmla="*/ 33 f49 1"/>
                <a:gd name="f86" fmla="*/ 29 f49 1"/>
                <a:gd name="f87" fmla="*/ 25 f49 1"/>
                <a:gd name="f88" fmla="*/ f51 1 f2"/>
                <a:gd name="f89" fmla="*/ f54 1 34"/>
                <a:gd name="f90" fmla="*/ f55 1 40"/>
                <a:gd name="f91" fmla="*/ f56 1 34"/>
                <a:gd name="f92" fmla="*/ f57 1 40"/>
                <a:gd name="f93" fmla="*/ f58 1 34"/>
                <a:gd name="f94" fmla="*/ f59 1 40"/>
                <a:gd name="f95" fmla="*/ f60 1 34"/>
                <a:gd name="f96" fmla="*/ f61 1 40"/>
                <a:gd name="f97" fmla="*/ f62 1 34"/>
                <a:gd name="f98" fmla="*/ f63 1 40"/>
                <a:gd name="f99" fmla="*/ f64 1 34"/>
                <a:gd name="f100" fmla="*/ f65 1 34"/>
                <a:gd name="f101" fmla="*/ f66 1 34"/>
                <a:gd name="f102" fmla="*/ f67 1 34"/>
                <a:gd name="f103" fmla="*/ f68 1 40"/>
                <a:gd name="f104" fmla="*/ f69 1 40"/>
                <a:gd name="f105" fmla="*/ f70 1 34"/>
                <a:gd name="f106" fmla="*/ f71 1 40"/>
                <a:gd name="f107" fmla="*/ f72 1 40"/>
                <a:gd name="f108" fmla="*/ f73 1 34"/>
                <a:gd name="f109" fmla="*/ f74 1 34"/>
                <a:gd name="f110" fmla="*/ f75 1 40"/>
                <a:gd name="f111" fmla="*/ f76 1 40"/>
                <a:gd name="f112" fmla="*/ f77 1 34"/>
                <a:gd name="f113" fmla="*/ f78 1 40"/>
                <a:gd name="f114" fmla="*/ f79 1 40"/>
                <a:gd name="f115" fmla="*/ f80 1 34"/>
                <a:gd name="f116" fmla="*/ f81 1 34"/>
                <a:gd name="f117" fmla="*/ f82 1 40"/>
                <a:gd name="f118" fmla="*/ f83 1 40"/>
                <a:gd name="f119" fmla="*/ f84 1 40"/>
                <a:gd name="f120" fmla="*/ f85 1 40"/>
                <a:gd name="f121" fmla="*/ f86 1 40"/>
                <a:gd name="f122" fmla="*/ f87 1 40"/>
                <a:gd name="f123" fmla="*/ 0 1 f52"/>
                <a:gd name="f124" fmla="*/ f6 1 f52"/>
                <a:gd name="f125" fmla="*/ 0 1 f53"/>
                <a:gd name="f126" fmla="*/ f7 1 f53"/>
                <a:gd name="f127" fmla="+- f88 0 f1"/>
                <a:gd name="f128" fmla="*/ f89 1 f52"/>
                <a:gd name="f129" fmla="*/ f90 1 f53"/>
                <a:gd name="f130" fmla="*/ f91 1 f52"/>
                <a:gd name="f131" fmla="*/ f92 1 f53"/>
                <a:gd name="f132" fmla="*/ f93 1 f52"/>
                <a:gd name="f133" fmla="*/ f94 1 f53"/>
                <a:gd name="f134" fmla="*/ f95 1 f52"/>
                <a:gd name="f135" fmla="*/ f96 1 f53"/>
                <a:gd name="f136" fmla="*/ f97 1 f52"/>
                <a:gd name="f137" fmla="*/ f98 1 f53"/>
                <a:gd name="f138" fmla="*/ f99 1 f52"/>
                <a:gd name="f139" fmla="*/ f100 1 f52"/>
                <a:gd name="f140" fmla="*/ f101 1 f52"/>
                <a:gd name="f141" fmla="*/ f102 1 f52"/>
                <a:gd name="f142" fmla="*/ f103 1 f53"/>
                <a:gd name="f143" fmla="*/ f104 1 f53"/>
                <a:gd name="f144" fmla="*/ f105 1 f52"/>
                <a:gd name="f145" fmla="*/ f106 1 f53"/>
                <a:gd name="f146" fmla="*/ f107 1 f53"/>
                <a:gd name="f147" fmla="*/ f108 1 f52"/>
                <a:gd name="f148" fmla="*/ f109 1 f52"/>
                <a:gd name="f149" fmla="*/ f110 1 f53"/>
                <a:gd name="f150" fmla="*/ f111 1 f53"/>
                <a:gd name="f151" fmla="*/ f112 1 f52"/>
                <a:gd name="f152" fmla="*/ f113 1 f53"/>
                <a:gd name="f153" fmla="*/ f114 1 f53"/>
                <a:gd name="f154" fmla="*/ f115 1 f52"/>
                <a:gd name="f155" fmla="*/ f116 1 f52"/>
                <a:gd name="f156" fmla="*/ f117 1 f53"/>
                <a:gd name="f157" fmla="*/ f118 1 f53"/>
                <a:gd name="f158" fmla="*/ f119 1 f53"/>
                <a:gd name="f159" fmla="*/ f120 1 f53"/>
                <a:gd name="f160" fmla="*/ f121 1 f53"/>
                <a:gd name="f161" fmla="*/ f122 1 f53"/>
                <a:gd name="f162" fmla="*/ f123 f47 1"/>
                <a:gd name="f163" fmla="*/ f124 f47 1"/>
                <a:gd name="f164" fmla="*/ f126 f48 1"/>
                <a:gd name="f165" fmla="*/ f125 f48 1"/>
                <a:gd name="f166" fmla="*/ f128 f47 1"/>
                <a:gd name="f167" fmla="*/ f129 f48 1"/>
                <a:gd name="f168" fmla="*/ f130 f47 1"/>
                <a:gd name="f169" fmla="*/ f131 f48 1"/>
                <a:gd name="f170" fmla="*/ f132 f47 1"/>
                <a:gd name="f171" fmla="*/ f133 f48 1"/>
                <a:gd name="f172" fmla="*/ f134 f47 1"/>
                <a:gd name="f173" fmla="*/ f135 f48 1"/>
                <a:gd name="f174" fmla="*/ f136 f47 1"/>
                <a:gd name="f175" fmla="*/ f137 f48 1"/>
                <a:gd name="f176" fmla="*/ f138 f47 1"/>
                <a:gd name="f177" fmla="*/ f139 f47 1"/>
                <a:gd name="f178" fmla="*/ f140 f47 1"/>
                <a:gd name="f179" fmla="*/ f141 f47 1"/>
                <a:gd name="f180" fmla="*/ f142 f48 1"/>
                <a:gd name="f181" fmla="*/ f143 f48 1"/>
                <a:gd name="f182" fmla="*/ f144 f47 1"/>
                <a:gd name="f183" fmla="*/ f145 f48 1"/>
                <a:gd name="f184" fmla="*/ f146 f48 1"/>
                <a:gd name="f185" fmla="*/ f147 f47 1"/>
                <a:gd name="f186" fmla="*/ f148 f47 1"/>
                <a:gd name="f187" fmla="*/ f149 f48 1"/>
                <a:gd name="f188" fmla="*/ f150 f48 1"/>
                <a:gd name="f189" fmla="*/ f151 f47 1"/>
                <a:gd name="f190" fmla="*/ f152 f48 1"/>
                <a:gd name="f191" fmla="*/ f153 f48 1"/>
                <a:gd name="f192" fmla="*/ f154 f47 1"/>
                <a:gd name="f193" fmla="*/ f155 f47 1"/>
                <a:gd name="f194" fmla="*/ f156 f48 1"/>
                <a:gd name="f195" fmla="*/ f157 f48 1"/>
                <a:gd name="f196" fmla="*/ f158 f48 1"/>
                <a:gd name="f197" fmla="*/ f159 f48 1"/>
                <a:gd name="f198" fmla="*/ f160 f48 1"/>
                <a:gd name="f199" fmla="*/ f161 f48 1"/>
              </a:gdLst>
              <a:ahLst/>
              <a:cxnLst>
                <a:cxn ang="3cd4">
                  <a:pos x="hc" y="t"/>
                </a:cxn>
                <a:cxn ang="0">
                  <a:pos x="r" y="vc"/>
                </a:cxn>
                <a:cxn ang="cd4">
                  <a:pos x="hc" y="b"/>
                </a:cxn>
                <a:cxn ang="cd2">
                  <a:pos x="l" y="vc"/>
                </a:cxn>
                <a:cxn ang="f127">
                  <a:pos x="f166" y="f167"/>
                </a:cxn>
                <a:cxn ang="f127">
                  <a:pos x="f168" y="f169"/>
                </a:cxn>
                <a:cxn ang="f127">
                  <a:pos x="f170" y="f171"/>
                </a:cxn>
                <a:cxn ang="f127">
                  <a:pos x="f172" y="f173"/>
                </a:cxn>
                <a:cxn ang="f127">
                  <a:pos x="f174" y="f175"/>
                </a:cxn>
                <a:cxn ang="f127">
                  <a:pos x="f176" y="f173"/>
                </a:cxn>
                <a:cxn ang="f127">
                  <a:pos x="f177" y="f171"/>
                </a:cxn>
                <a:cxn ang="f127">
                  <a:pos x="f178" y="f169"/>
                </a:cxn>
                <a:cxn ang="f127">
                  <a:pos x="f179" y="f167"/>
                </a:cxn>
                <a:cxn ang="f127">
                  <a:pos x="f178" y="f180"/>
                </a:cxn>
                <a:cxn ang="f127">
                  <a:pos x="f177" y="f181"/>
                </a:cxn>
                <a:cxn ang="f127">
                  <a:pos x="f182" y="f183"/>
                </a:cxn>
                <a:cxn ang="f127">
                  <a:pos x="f174" y="f184"/>
                </a:cxn>
                <a:cxn ang="f127">
                  <a:pos x="f172" y="f183"/>
                </a:cxn>
                <a:cxn ang="f127">
                  <a:pos x="f170" y="f181"/>
                </a:cxn>
                <a:cxn ang="f127">
                  <a:pos x="f168" y="f180"/>
                </a:cxn>
                <a:cxn ang="f127">
                  <a:pos x="f166" y="f167"/>
                </a:cxn>
                <a:cxn ang="f127">
                  <a:pos x="f185" y="f167"/>
                </a:cxn>
                <a:cxn ang="f127">
                  <a:pos x="f186" y="f187"/>
                </a:cxn>
                <a:cxn ang="f127">
                  <a:pos x="f172" y="f188"/>
                </a:cxn>
                <a:cxn ang="f127">
                  <a:pos x="f189" y="f190"/>
                </a:cxn>
                <a:cxn ang="f127">
                  <a:pos x="f174" y="f191"/>
                </a:cxn>
                <a:cxn ang="f127">
                  <a:pos x="f192" y="f190"/>
                </a:cxn>
                <a:cxn ang="f127">
                  <a:pos x="f176" y="f188"/>
                </a:cxn>
                <a:cxn ang="f127">
                  <a:pos x="f193" y="f187"/>
                </a:cxn>
                <a:cxn ang="f127">
                  <a:pos x="f193" y="f167"/>
                </a:cxn>
                <a:cxn ang="f127">
                  <a:pos x="f193" y="f194"/>
                </a:cxn>
                <a:cxn ang="f127">
                  <a:pos x="f176" y="f195"/>
                </a:cxn>
                <a:cxn ang="f127">
                  <a:pos x="f192" y="f196"/>
                </a:cxn>
                <a:cxn ang="f127">
                  <a:pos x="f174" y="f197"/>
                </a:cxn>
                <a:cxn ang="f127">
                  <a:pos x="f189" y="f196"/>
                </a:cxn>
                <a:cxn ang="f127">
                  <a:pos x="f172" y="f198"/>
                </a:cxn>
                <a:cxn ang="f127">
                  <a:pos x="f186" y="f199"/>
                </a:cxn>
                <a:cxn ang="f127">
                  <a:pos x="f185" y="f167"/>
                </a:cxn>
              </a:cxnLst>
              <a:rect l="f162" t="f165" r="f163" b="f164"/>
              <a:pathLst>
                <a:path w="34" h="40">
                  <a:moveTo>
                    <a:pt x="f6" y="f8"/>
                  </a:moveTo>
                  <a:cubicBezTo>
                    <a:pt x="f6" y="f9"/>
                    <a:pt x="f6" y="f10"/>
                    <a:pt x="f11" y="f12"/>
                  </a:cubicBezTo>
                  <a:cubicBezTo>
                    <a:pt x="f13" y="f14"/>
                    <a:pt x="f14" y="f11"/>
                    <a:pt x="f15" y="f16"/>
                  </a:cubicBezTo>
                  <a:cubicBezTo>
                    <a:pt x="f12" y="f17"/>
                    <a:pt x="f10" y="f18"/>
                    <a:pt x="f19" y="f20"/>
                  </a:cubicBezTo>
                  <a:cubicBezTo>
                    <a:pt x="f21" y="f7"/>
                    <a:pt x="f8" y="f7"/>
                    <a:pt x="f22" y="f7"/>
                  </a:cubicBezTo>
                  <a:cubicBezTo>
                    <a:pt x="f23" y="f7"/>
                    <a:pt x="f24" y="f7"/>
                    <a:pt x="f25" y="f20"/>
                  </a:cubicBezTo>
                  <a:cubicBezTo>
                    <a:pt x="f26" y="f18"/>
                    <a:pt x="f27" y="f28"/>
                    <a:pt x="f29" y="f16"/>
                  </a:cubicBezTo>
                  <a:cubicBezTo>
                    <a:pt x="f30" y="f11"/>
                    <a:pt x="f31" y="f14"/>
                    <a:pt x="f32" y="f12"/>
                  </a:cubicBezTo>
                  <a:cubicBezTo>
                    <a:pt x="f32" y="f10"/>
                    <a:pt x="f5" y="f9"/>
                    <a:pt x="f5" y="f8"/>
                  </a:cubicBezTo>
                  <a:cubicBezTo>
                    <a:pt x="f5" y="f22"/>
                    <a:pt x="f32" y="f33"/>
                    <a:pt x="f32" y="f24"/>
                  </a:cubicBezTo>
                  <a:cubicBezTo>
                    <a:pt x="f31" y="f34"/>
                    <a:pt x="f35" y="f36"/>
                    <a:pt x="f29" y="f29"/>
                  </a:cubicBezTo>
                  <a:cubicBezTo>
                    <a:pt x="f36" y="f35"/>
                    <a:pt x="f26" y="f31"/>
                    <a:pt x="f37" y="f32"/>
                  </a:cubicBezTo>
                  <a:cubicBezTo>
                    <a:pt x="f38" y="f32"/>
                    <a:pt x="f23" y="f5"/>
                    <a:pt x="f22" y="f5"/>
                  </a:cubicBezTo>
                  <a:cubicBezTo>
                    <a:pt x="f8" y="f5"/>
                    <a:pt x="f21" y="f32"/>
                    <a:pt x="f19" y="f32"/>
                  </a:cubicBezTo>
                  <a:cubicBezTo>
                    <a:pt x="f10" y="f31"/>
                    <a:pt x="f12" y="f35"/>
                    <a:pt x="f15" y="f29"/>
                  </a:cubicBezTo>
                  <a:cubicBezTo>
                    <a:pt x="f14" y="f36"/>
                    <a:pt x="f13" y="f34"/>
                    <a:pt x="f11" y="f24"/>
                  </a:cubicBezTo>
                  <a:cubicBezTo>
                    <a:pt x="f6" y="f33"/>
                    <a:pt x="f6" y="f22"/>
                    <a:pt x="f6" y="f8"/>
                  </a:cubicBezTo>
                  <a:close/>
                  <a:moveTo>
                    <a:pt x="f39" y="f8"/>
                  </a:moveTo>
                  <a:cubicBezTo>
                    <a:pt x="f39" y="f40"/>
                    <a:pt x="f39" y="f41"/>
                    <a:pt x="f10" y="f23"/>
                  </a:cubicBezTo>
                  <a:cubicBezTo>
                    <a:pt x="f10" y="f38"/>
                    <a:pt x="f42" y="f24"/>
                    <a:pt x="f19" y="f37"/>
                  </a:cubicBezTo>
                  <a:cubicBezTo>
                    <a:pt x="f9" y="f25"/>
                    <a:pt x="f21" y="f34"/>
                    <a:pt x="f43" y="f26"/>
                  </a:cubicBezTo>
                  <a:cubicBezTo>
                    <a:pt x="f8" y="f26"/>
                    <a:pt x="f40" y="f36"/>
                    <a:pt x="f22" y="f36"/>
                  </a:cubicBezTo>
                  <a:cubicBezTo>
                    <a:pt x="f41" y="f36"/>
                    <a:pt x="f33" y="f26"/>
                    <a:pt x="f38" y="f26"/>
                  </a:cubicBezTo>
                  <a:cubicBezTo>
                    <a:pt x="f24" y="f34"/>
                    <a:pt x="f37" y="f25"/>
                    <a:pt x="f25" y="f37"/>
                  </a:cubicBezTo>
                  <a:cubicBezTo>
                    <a:pt x="f34" y="f24"/>
                    <a:pt x="f34" y="f38"/>
                    <a:pt x="f26" y="f23"/>
                  </a:cubicBezTo>
                  <a:cubicBezTo>
                    <a:pt x="f26" y="f41"/>
                    <a:pt x="f26" y="f40"/>
                    <a:pt x="f26" y="f8"/>
                  </a:cubicBezTo>
                  <a:cubicBezTo>
                    <a:pt x="f26" y="f21"/>
                    <a:pt x="f26" y="f19"/>
                    <a:pt x="f26" y="f10"/>
                  </a:cubicBezTo>
                  <a:cubicBezTo>
                    <a:pt x="f34" y="f39"/>
                    <a:pt x="f25" y="f12"/>
                    <a:pt x="f25" y="f44"/>
                  </a:cubicBezTo>
                  <a:cubicBezTo>
                    <a:pt x="f37" y="f14"/>
                    <a:pt x="f24" y="f13"/>
                    <a:pt x="f38" y="f13"/>
                  </a:cubicBezTo>
                  <a:cubicBezTo>
                    <a:pt x="f23" y="f11"/>
                    <a:pt x="f41" y="f11"/>
                    <a:pt x="f22" y="f11"/>
                  </a:cubicBezTo>
                  <a:cubicBezTo>
                    <a:pt x="f45" y="f11"/>
                    <a:pt x="f8" y="f11"/>
                    <a:pt x="f43" y="f13"/>
                  </a:cubicBezTo>
                  <a:cubicBezTo>
                    <a:pt x="f21" y="f14"/>
                    <a:pt x="f9" y="f44"/>
                    <a:pt x="f19" y="f15"/>
                  </a:cubicBezTo>
                  <a:cubicBezTo>
                    <a:pt x="f42" y="f12"/>
                    <a:pt x="f10" y="f39"/>
                    <a:pt x="f10" y="f42"/>
                  </a:cubicBezTo>
                  <a:cubicBezTo>
                    <a:pt x="f39" y="f19"/>
                    <a:pt x="f39" y="f21"/>
                    <a:pt x="f39"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0" name="Freeform 62">
              <a:extLst>
                <a:ext uri="{FF2B5EF4-FFF2-40B4-BE49-F238E27FC236}">
                  <a16:creationId xmlns:a16="http://schemas.microsoft.com/office/drawing/2014/main" id="{425217BC-C2ED-95C8-D568-B8761F4901B6}"/>
                </a:ext>
              </a:extLst>
            </p:cNvPr>
            <p:cNvSpPr/>
            <p:nvPr/>
          </p:nvSpPr>
          <p:spPr>
            <a:xfrm>
              <a:off x="1967038" y="6293924"/>
              <a:ext cx="57515"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5"/>
                <a:gd name="f17" fmla="val 13"/>
                <a:gd name="f18" fmla="val 11"/>
                <a:gd name="f19" fmla="val 10"/>
                <a:gd name="f20" fmla="val 12"/>
                <a:gd name="f21" fmla="val 14"/>
                <a:gd name="f22" fmla="val 1"/>
                <a:gd name="f23" fmla="val 5"/>
                <a:gd name="f24" fmla="val 4"/>
                <a:gd name="f25" fmla="val 3"/>
                <a:gd name="f26" fmla="val 2"/>
                <a:gd name="f27" fmla="val 16"/>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8 f33 1"/>
                <a:gd name="f40" fmla="*/ 8 f32 1"/>
                <a:gd name="f41" fmla="*/ 15 f33 1"/>
                <a:gd name="f42" fmla="*/ 7 f32 1"/>
                <a:gd name="f43" fmla="*/ 10 f33 1"/>
                <a:gd name="f44" fmla="*/ 10 f32 1"/>
                <a:gd name="f45" fmla="*/ 8 f33 1"/>
                <a:gd name="f46" fmla="*/ 17 f32 1"/>
                <a:gd name="f47" fmla="*/ 39 f32 1"/>
                <a:gd name="f48" fmla="*/ 0 f33 1"/>
                <a:gd name="f49" fmla="*/ 1 f32 1"/>
                <a:gd name="f50" fmla="*/ 5 f32 1"/>
                <a:gd name="f51" fmla="*/ 9 f33 1"/>
                <a:gd name="f52" fmla="*/ 3 f32 1"/>
                <a:gd name="f53" fmla="*/ 11 f33 1"/>
                <a:gd name="f54" fmla="*/ 14 f33 1"/>
                <a:gd name="f55" fmla="*/ 0 f32 1"/>
                <a:gd name="f56" fmla="*/ 17 f33 1"/>
                <a:gd name="f57" fmla="*/ 20 f33 1"/>
                <a:gd name="f58" fmla="*/ 23 f33 1"/>
                <a:gd name="f59" fmla="*/ 2 f32 1"/>
                <a:gd name="f60" fmla="*/ f34 1 f2"/>
                <a:gd name="f61" fmla="*/ f37 1 23"/>
                <a:gd name="f62" fmla="*/ f38 1 39"/>
                <a:gd name="f63" fmla="*/ f39 1 23"/>
                <a:gd name="f64" fmla="*/ f40 1 39"/>
                <a:gd name="f65" fmla="*/ f41 1 23"/>
                <a:gd name="f66" fmla="*/ f42 1 39"/>
                <a:gd name="f67" fmla="*/ f43 1 23"/>
                <a:gd name="f68" fmla="*/ f44 1 39"/>
                <a:gd name="f69" fmla="*/ f45 1 23"/>
                <a:gd name="f70" fmla="*/ f46 1 39"/>
                <a:gd name="f71" fmla="*/ f47 1 39"/>
                <a:gd name="f72" fmla="*/ f48 1 23"/>
                <a:gd name="f73" fmla="*/ f49 1 39"/>
                <a:gd name="f74" fmla="*/ f50 1 39"/>
                <a:gd name="f75" fmla="*/ f51 1 23"/>
                <a:gd name="f76" fmla="*/ f52 1 39"/>
                <a:gd name="f77" fmla="*/ f53 1 23"/>
                <a:gd name="f78" fmla="*/ f54 1 23"/>
                <a:gd name="f79" fmla="*/ f55 1 39"/>
                <a:gd name="f80" fmla="*/ f56 1 23"/>
                <a:gd name="f81" fmla="*/ f57 1 23"/>
                <a:gd name="f82" fmla="*/ f58 1 23"/>
                <a:gd name="f83" fmla="*/ f59 1 39"/>
                <a:gd name="f84" fmla="*/ 0 1 f35"/>
                <a:gd name="f85" fmla="*/ f6 1 f35"/>
                <a:gd name="f86" fmla="*/ 0 1 f36"/>
                <a:gd name="f87" fmla="*/ f7 1 f36"/>
                <a:gd name="f88" fmla="+- f60 0 f1"/>
                <a:gd name="f89" fmla="*/ f61 1 f35"/>
                <a:gd name="f90" fmla="*/ f62 1 f36"/>
                <a:gd name="f91" fmla="*/ f63 1 f35"/>
                <a:gd name="f92" fmla="*/ f64 1 f36"/>
                <a:gd name="f93" fmla="*/ f65 1 f35"/>
                <a:gd name="f94" fmla="*/ f66 1 f36"/>
                <a:gd name="f95" fmla="*/ f67 1 f35"/>
                <a:gd name="f96" fmla="*/ f68 1 f36"/>
                <a:gd name="f97" fmla="*/ f69 1 f35"/>
                <a:gd name="f98" fmla="*/ f70 1 f36"/>
                <a:gd name="f99" fmla="*/ f71 1 f36"/>
                <a:gd name="f100" fmla="*/ f72 1 f35"/>
                <a:gd name="f101" fmla="*/ f73 1 f36"/>
                <a:gd name="f102" fmla="*/ f74 1 f36"/>
                <a:gd name="f103" fmla="*/ f75 1 f35"/>
                <a:gd name="f104" fmla="*/ f76 1 f36"/>
                <a:gd name="f105" fmla="*/ f77 1 f35"/>
                <a:gd name="f106" fmla="*/ f78 1 f35"/>
                <a:gd name="f107" fmla="*/ f79 1 f36"/>
                <a:gd name="f108" fmla="*/ f80 1 f35"/>
                <a:gd name="f109" fmla="*/ f81 1 f35"/>
                <a:gd name="f110" fmla="*/ f82 1 f35"/>
                <a:gd name="f111" fmla="*/ f83 1 f36"/>
                <a:gd name="f112" fmla="*/ f84 f30 1"/>
                <a:gd name="f113" fmla="*/ f85 f30 1"/>
                <a:gd name="f114" fmla="*/ f87 f31 1"/>
                <a:gd name="f115" fmla="*/ f86 f31 1"/>
                <a:gd name="f116" fmla="*/ f89 f30 1"/>
                <a:gd name="f117" fmla="*/ f90 f31 1"/>
                <a:gd name="f118" fmla="*/ f91 f30 1"/>
                <a:gd name="f119" fmla="*/ f92 f31 1"/>
                <a:gd name="f120" fmla="*/ f93 f30 1"/>
                <a:gd name="f121" fmla="*/ f94 f31 1"/>
                <a:gd name="f122" fmla="*/ f95 f30 1"/>
                <a:gd name="f123" fmla="*/ f96 f31 1"/>
                <a:gd name="f124" fmla="*/ f97 f30 1"/>
                <a:gd name="f125" fmla="*/ f98 f31 1"/>
                <a:gd name="f126" fmla="*/ f99 f31 1"/>
                <a:gd name="f127" fmla="*/ f100 f30 1"/>
                <a:gd name="f128" fmla="*/ f101 f31 1"/>
                <a:gd name="f129" fmla="*/ f102 f31 1"/>
                <a:gd name="f130" fmla="*/ f103 f30 1"/>
                <a:gd name="f131" fmla="*/ f104 f31 1"/>
                <a:gd name="f132" fmla="*/ f105 f30 1"/>
                <a:gd name="f133" fmla="*/ f106 f30 1"/>
                <a:gd name="f134" fmla="*/ f107 f31 1"/>
                <a:gd name="f135" fmla="*/ f108 f30 1"/>
                <a:gd name="f136" fmla="*/ f109 f30 1"/>
                <a:gd name="f137" fmla="*/ f110 f30 1"/>
                <a:gd name="f138" fmla="*/ f111 f31 1"/>
              </a:gdLst>
              <a:ahLst/>
              <a:cxnLst>
                <a:cxn ang="3cd4">
                  <a:pos x="hc" y="t"/>
                </a:cxn>
                <a:cxn ang="0">
                  <a:pos x="r" y="vc"/>
                </a:cxn>
                <a:cxn ang="cd4">
                  <a:pos x="hc" y="b"/>
                </a:cxn>
                <a:cxn ang="cd2">
                  <a:pos x="l" y="vc"/>
                </a:cxn>
                <a:cxn ang="f88">
                  <a:pos x="f116" y="f117"/>
                </a:cxn>
                <a:cxn ang="f88">
                  <a:pos x="f118" y="f119"/>
                </a:cxn>
                <a:cxn ang="f88">
                  <a:pos x="f120" y="f121"/>
                </a:cxn>
                <a:cxn ang="f88">
                  <a:pos x="f122" y="f123"/>
                </a:cxn>
                <a:cxn ang="f88">
                  <a:pos x="f124" y="f125"/>
                </a:cxn>
                <a:cxn ang="f88">
                  <a:pos x="f124" y="f126"/>
                </a:cxn>
                <a:cxn ang="f88">
                  <a:pos x="f127" y="f126"/>
                </a:cxn>
                <a:cxn ang="f88">
                  <a:pos x="f127" y="f128"/>
                </a:cxn>
                <a:cxn ang="f88">
                  <a:pos x="f124" y="f128"/>
                </a:cxn>
                <a:cxn ang="f88">
                  <a:pos x="f124" y="f129"/>
                </a:cxn>
                <a:cxn ang="f88">
                  <a:pos x="f130" y="f131"/>
                </a:cxn>
                <a:cxn ang="f88">
                  <a:pos x="f132" y="f128"/>
                </a:cxn>
                <a:cxn ang="f88">
                  <a:pos x="f133" y="f134"/>
                </a:cxn>
                <a:cxn ang="f88">
                  <a:pos x="f135" y="f134"/>
                </a:cxn>
                <a:cxn ang="f88">
                  <a:pos x="f136" y="f128"/>
                </a:cxn>
                <a:cxn ang="f88">
                  <a:pos x="f137" y="f138"/>
                </a:cxn>
                <a:cxn ang="f88">
                  <a:pos x="f116" y="f117"/>
                </a:cxn>
              </a:cxnLst>
              <a:rect l="f112" t="f115" r="f113" b="f114"/>
              <a:pathLst>
                <a:path w="23" h="39">
                  <a:moveTo>
                    <a:pt x="f8" y="f9"/>
                  </a:moveTo>
                  <a:cubicBezTo>
                    <a:pt x="f10" y="f11"/>
                    <a:pt x="f12" y="f11"/>
                    <a:pt x="f13" y="f11"/>
                  </a:cubicBezTo>
                  <a:cubicBezTo>
                    <a:pt x="f13" y="f11"/>
                    <a:pt x="f14" y="f15"/>
                    <a:pt x="f16" y="f15"/>
                  </a:cubicBezTo>
                  <a:cubicBezTo>
                    <a:pt x="f17" y="f15"/>
                    <a:pt x="f18" y="f11"/>
                    <a:pt x="f19" y="f19"/>
                  </a:cubicBezTo>
                  <a:cubicBezTo>
                    <a:pt x="f11"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9" y="f25"/>
                  </a:cubicBezTo>
                  <a:cubicBezTo>
                    <a:pt x="f19" y="f26"/>
                    <a:pt x="f18" y="f26"/>
                    <a:pt x="f18" y="f22"/>
                  </a:cubicBezTo>
                  <a:cubicBezTo>
                    <a:pt x="f20" y="f22"/>
                    <a:pt x="f17" y="f22"/>
                    <a:pt x="f21" y="f5"/>
                  </a:cubicBezTo>
                  <a:cubicBezTo>
                    <a:pt x="f16" y="f5"/>
                    <a:pt x="f27" y="f5"/>
                    <a:pt x="f14" y="f5"/>
                  </a:cubicBezTo>
                  <a:cubicBezTo>
                    <a:pt x="f13" y="f5"/>
                    <a:pt x="f12" y="f5"/>
                    <a:pt x="f10" y="f22"/>
                  </a:cubicBezTo>
                  <a:cubicBezTo>
                    <a:pt x="f8" y="f22"/>
                    <a:pt x="f28"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1" name="Freeform 63">
              <a:extLst>
                <a:ext uri="{FF2B5EF4-FFF2-40B4-BE49-F238E27FC236}">
                  <a16:creationId xmlns:a16="http://schemas.microsoft.com/office/drawing/2014/main" id="{23D621F9-9D3E-12E2-8D70-513BD47F919A}"/>
                </a:ext>
              </a:extLst>
            </p:cNvPr>
            <p:cNvSpPr/>
            <p:nvPr/>
          </p:nvSpPr>
          <p:spPr>
            <a:xfrm>
              <a:off x="2041983" y="6259049"/>
              <a:ext cx="19174" cy="136007"/>
            </a:xfrm>
            <a:custGeom>
              <a:avLst/>
              <a:gdLst>
                <a:gd name="f0" fmla="val 10800000"/>
                <a:gd name="f1" fmla="val 5400000"/>
                <a:gd name="f2" fmla="val 180"/>
                <a:gd name="f3" fmla="val w"/>
                <a:gd name="f4" fmla="val h"/>
                <a:gd name="f5" fmla="val 0"/>
                <a:gd name="f6" fmla="val 11"/>
                <a:gd name="f7" fmla="val 78"/>
                <a:gd name="f8" fmla="val 6"/>
                <a:gd name="f9" fmla="+- 0 0 -90"/>
                <a:gd name="f10" fmla="*/ f3 1 11"/>
                <a:gd name="f11" fmla="*/ f4 1 78"/>
                <a:gd name="f12" fmla="+- f7 0 f5"/>
                <a:gd name="f13" fmla="+- f6 0 f5"/>
                <a:gd name="f14" fmla="*/ f9 f0 1"/>
                <a:gd name="f15" fmla="*/ f13 1 11"/>
                <a:gd name="f16" fmla="*/ f12 1 78"/>
                <a:gd name="f17" fmla="*/ 0 f13 1"/>
                <a:gd name="f18" fmla="*/ 78 f12 1"/>
                <a:gd name="f19" fmla="*/ 6 f12 1"/>
                <a:gd name="f20" fmla="*/ 11 f13 1"/>
                <a:gd name="f21" fmla="*/ 0 f12 1"/>
                <a:gd name="f22" fmla="*/ f14 1 f2"/>
                <a:gd name="f23" fmla="*/ f17 1 11"/>
                <a:gd name="f24" fmla="*/ f18 1 78"/>
                <a:gd name="f25" fmla="*/ f19 1 78"/>
                <a:gd name="f26" fmla="*/ f20 1 11"/>
                <a:gd name="f27" fmla="*/ f21 1 78"/>
                <a:gd name="f28" fmla="*/ 0 1 f15"/>
                <a:gd name="f29" fmla="*/ f6 1 f15"/>
                <a:gd name="f30" fmla="*/ 0 1 f16"/>
                <a:gd name="f31" fmla="*/ f7 1 f16"/>
                <a:gd name="f32" fmla="+- f22 0 f1"/>
                <a:gd name="f33" fmla="*/ f23 1 f15"/>
                <a:gd name="f34" fmla="*/ f24 1 f16"/>
                <a:gd name="f35" fmla="*/ f25 1 f16"/>
                <a:gd name="f36" fmla="*/ f26 1 f15"/>
                <a:gd name="f37" fmla="*/ f27 1 f16"/>
                <a:gd name="f38" fmla="*/ f28 f10 1"/>
                <a:gd name="f39" fmla="*/ f29 f10 1"/>
                <a:gd name="f40" fmla="*/ f31 f11 1"/>
                <a:gd name="f41" fmla="*/ f30 f11 1"/>
                <a:gd name="f42" fmla="*/ f33 f10 1"/>
                <a:gd name="f43" fmla="*/ f34 f11 1"/>
                <a:gd name="f44" fmla="*/ f35 f11 1"/>
                <a:gd name="f45" fmla="*/ f36 f10 1"/>
                <a:gd name="f46" fmla="*/ f37 f11 1"/>
              </a:gdLst>
              <a:ahLst/>
              <a:cxnLst>
                <a:cxn ang="3cd4">
                  <a:pos x="hc" y="t"/>
                </a:cxn>
                <a:cxn ang="0">
                  <a:pos x="r" y="vc"/>
                </a:cxn>
                <a:cxn ang="cd4">
                  <a:pos x="hc" y="b"/>
                </a:cxn>
                <a:cxn ang="cd2">
                  <a:pos x="l" y="vc"/>
                </a:cxn>
                <a:cxn ang="f32">
                  <a:pos x="f42" y="f43"/>
                </a:cxn>
                <a:cxn ang="f32">
                  <a:pos x="f42" y="f44"/>
                </a:cxn>
                <a:cxn ang="f32">
                  <a:pos x="f45" y="f46"/>
                </a:cxn>
                <a:cxn ang="f32">
                  <a:pos x="f45" y="f43"/>
                </a:cxn>
                <a:cxn ang="f32">
                  <a:pos x="f42" y="f43"/>
                </a:cxn>
              </a:cxnLst>
              <a:rect l="f38" t="f41" r="f39" b="f40"/>
              <a:pathLst>
                <a:path w="11" h="78">
                  <a:moveTo>
                    <a:pt x="f5" y="f7"/>
                  </a:moveTo>
                  <a:lnTo>
                    <a:pt x="f5" y="f8"/>
                  </a:lnTo>
                  <a:lnTo>
                    <a:pt x="f6" y="f5"/>
                  </a:lnTo>
                  <a:lnTo>
                    <a:pt x="f6" y="f7"/>
                  </a:lnTo>
                  <a:lnTo>
                    <a:pt x="f5"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2" name="Freeform 64">
              <a:extLst>
                <a:ext uri="{FF2B5EF4-FFF2-40B4-BE49-F238E27FC236}">
                  <a16:creationId xmlns:a16="http://schemas.microsoft.com/office/drawing/2014/main" id="{9AB1BE70-11E8-0EBF-7009-5484F7804A5E}"/>
                </a:ext>
              </a:extLst>
            </p:cNvPr>
            <p:cNvSpPr/>
            <p:nvPr/>
          </p:nvSpPr>
          <p:spPr>
            <a:xfrm>
              <a:off x="2083807" y="6259049"/>
              <a:ext cx="80165" cy="137754"/>
            </a:xfrm>
            <a:custGeom>
              <a:avLst/>
              <a:gdLst>
                <a:gd name="f0" fmla="val 10800000"/>
                <a:gd name="f1" fmla="val 5400000"/>
                <a:gd name="f2" fmla="val 180"/>
                <a:gd name="f3" fmla="val w"/>
                <a:gd name="f4" fmla="val h"/>
                <a:gd name="f5" fmla="val 0"/>
                <a:gd name="f6" fmla="val 32"/>
                <a:gd name="f7" fmla="val 54"/>
                <a:gd name="f8" fmla="val 24"/>
                <a:gd name="f9" fmla="val 53"/>
                <a:gd name="f10" fmla="val 50"/>
                <a:gd name="f11" fmla="val 23"/>
                <a:gd name="f12" fmla="val 51"/>
                <a:gd name="f13" fmla="val 22"/>
                <a:gd name="f14" fmla="val 21"/>
                <a:gd name="f15" fmla="val 52"/>
                <a:gd name="f16" fmla="val 20"/>
                <a:gd name="f17" fmla="val 19"/>
                <a:gd name="f18" fmla="val 18"/>
                <a:gd name="f19" fmla="val 17"/>
                <a:gd name="f20" fmla="val 16"/>
                <a:gd name="f21" fmla="val 15"/>
                <a:gd name="f22" fmla="val 14"/>
                <a:gd name="f23" fmla="val 12"/>
                <a:gd name="f24" fmla="val 10"/>
                <a:gd name="f25" fmla="val 9"/>
                <a:gd name="f26" fmla="val 7"/>
                <a:gd name="f27" fmla="val 5"/>
                <a:gd name="f28" fmla="val 4"/>
                <a:gd name="f29" fmla="val 49"/>
                <a:gd name="f30" fmla="val 3"/>
                <a:gd name="f31" fmla="val 48"/>
                <a:gd name="f32" fmla="val 1"/>
                <a:gd name="f33" fmla="val 45"/>
                <a:gd name="f34" fmla="val 43"/>
                <a:gd name="f35" fmla="val 40"/>
                <a:gd name="f36" fmla="val 37"/>
                <a:gd name="f37" fmla="val 33"/>
                <a:gd name="f38" fmla="val 30"/>
                <a:gd name="f39" fmla="val 27"/>
                <a:gd name="f40" fmla="val 25"/>
                <a:gd name="f41" fmla="val 2"/>
                <a:gd name="f42" fmla="val 6"/>
                <a:gd name="f43" fmla="val 11"/>
                <a:gd name="f44" fmla="val 13"/>
                <a:gd name="f45" fmla="val 26"/>
                <a:gd name="f46" fmla="val 8"/>
                <a:gd name="f47" fmla="val 29"/>
                <a:gd name="f48" fmla="val 36"/>
                <a:gd name="f49" fmla="val 38"/>
                <a:gd name="f50" fmla="val 39"/>
                <a:gd name="f51" fmla="val 41"/>
                <a:gd name="f52" fmla="val 44"/>
                <a:gd name="f53" fmla="val 46"/>
                <a:gd name="f54" fmla="val 47"/>
                <a:gd name="f55" fmla="val 42"/>
                <a:gd name="f56" fmla="+- 0 0 -90"/>
                <a:gd name="f57" fmla="*/ f3 1 32"/>
                <a:gd name="f58" fmla="*/ f4 1 54"/>
                <a:gd name="f59" fmla="+- f7 0 f5"/>
                <a:gd name="f60" fmla="+- f6 0 f5"/>
                <a:gd name="f61" fmla="*/ f56 f0 1"/>
                <a:gd name="f62" fmla="*/ f60 1 32"/>
                <a:gd name="f63" fmla="*/ f59 1 54"/>
                <a:gd name="f64" fmla="*/ 24 f60 1"/>
                <a:gd name="f65" fmla="*/ 53 f59 1"/>
                <a:gd name="f66" fmla="*/ 50 f59 1"/>
                <a:gd name="f67" fmla="*/ 22 f60 1"/>
                <a:gd name="f68" fmla="*/ 51 f59 1"/>
                <a:gd name="f69" fmla="*/ 20 f60 1"/>
                <a:gd name="f70" fmla="*/ 17 f60 1"/>
                <a:gd name="f71" fmla="*/ 54 f59 1"/>
                <a:gd name="f72" fmla="*/ 14 f60 1"/>
                <a:gd name="f73" fmla="*/ 9 f60 1"/>
                <a:gd name="f74" fmla="*/ 4 f60 1"/>
                <a:gd name="f75" fmla="*/ 49 f59 1"/>
                <a:gd name="f76" fmla="*/ 1 f60 1"/>
                <a:gd name="f77" fmla="*/ 43 f59 1"/>
                <a:gd name="f78" fmla="*/ 0 f60 1"/>
                <a:gd name="f79" fmla="*/ 33 f59 1"/>
                <a:gd name="f80" fmla="*/ 25 f59 1"/>
                <a:gd name="f81" fmla="*/ 19 f59 1"/>
                <a:gd name="f82" fmla="*/ 15 f59 1"/>
                <a:gd name="f83" fmla="*/ 15 f60 1"/>
                <a:gd name="f84" fmla="*/ 14 f59 1"/>
                <a:gd name="f85" fmla="*/ 18 f60 1"/>
                <a:gd name="f86" fmla="*/ 17 f59 1"/>
                <a:gd name="f87" fmla="*/ 18 f59 1"/>
                <a:gd name="f88" fmla="*/ 4 f59 1"/>
                <a:gd name="f89" fmla="*/ 32 f60 1"/>
                <a:gd name="f90" fmla="*/ 0 f59 1"/>
                <a:gd name="f91" fmla="*/ 26 f59 1"/>
                <a:gd name="f92" fmla="*/ 23 f60 1"/>
                <a:gd name="f93" fmla="*/ 24 f59 1"/>
                <a:gd name="f94" fmla="*/ 21 f60 1"/>
                <a:gd name="f95" fmla="*/ 23 f59 1"/>
                <a:gd name="f96" fmla="*/ 22 f59 1"/>
                <a:gd name="f97" fmla="*/ 21 f59 1"/>
                <a:gd name="f98" fmla="*/ 7 f60 1"/>
                <a:gd name="f99" fmla="*/ 8 f60 1"/>
                <a:gd name="f100" fmla="*/ 39 f59 1"/>
                <a:gd name="f101" fmla="*/ 44 f59 1"/>
                <a:gd name="f102" fmla="*/ 12 f60 1"/>
                <a:gd name="f103" fmla="*/ 46 f59 1"/>
                <a:gd name="f104" fmla="*/ 16 f60 1"/>
                <a:gd name="f105" fmla="*/ 47 f59 1"/>
                <a:gd name="f106" fmla="*/ 42 f59 1"/>
                <a:gd name="f107" fmla="*/ f61 1 f2"/>
                <a:gd name="f108" fmla="*/ f64 1 32"/>
                <a:gd name="f109" fmla="*/ f65 1 54"/>
                <a:gd name="f110" fmla="*/ f66 1 54"/>
                <a:gd name="f111" fmla="*/ f67 1 32"/>
                <a:gd name="f112" fmla="*/ f68 1 54"/>
                <a:gd name="f113" fmla="*/ f69 1 32"/>
                <a:gd name="f114" fmla="*/ f70 1 32"/>
                <a:gd name="f115" fmla="*/ f71 1 54"/>
                <a:gd name="f116" fmla="*/ f72 1 32"/>
                <a:gd name="f117" fmla="*/ f73 1 32"/>
                <a:gd name="f118" fmla="*/ f74 1 32"/>
                <a:gd name="f119" fmla="*/ f75 1 54"/>
                <a:gd name="f120" fmla="*/ f76 1 32"/>
                <a:gd name="f121" fmla="*/ f77 1 54"/>
                <a:gd name="f122" fmla="*/ f78 1 32"/>
                <a:gd name="f123" fmla="*/ f79 1 54"/>
                <a:gd name="f124" fmla="*/ f80 1 54"/>
                <a:gd name="f125" fmla="*/ f81 1 54"/>
                <a:gd name="f126" fmla="*/ f82 1 54"/>
                <a:gd name="f127" fmla="*/ f83 1 32"/>
                <a:gd name="f128" fmla="*/ f84 1 54"/>
                <a:gd name="f129" fmla="*/ f85 1 32"/>
                <a:gd name="f130" fmla="*/ f86 1 54"/>
                <a:gd name="f131" fmla="*/ f87 1 54"/>
                <a:gd name="f132" fmla="*/ f88 1 54"/>
                <a:gd name="f133" fmla="*/ f89 1 32"/>
                <a:gd name="f134" fmla="*/ f90 1 54"/>
                <a:gd name="f135" fmla="*/ f91 1 54"/>
                <a:gd name="f136" fmla="*/ f92 1 32"/>
                <a:gd name="f137" fmla="*/ f93 1 54"/>
                <a:gd name="f138" fmla="*/ f94 1 32"/>
                <a:gd name="f139" fmla="*/ f95 1 54"/>
                <a:gd name="f140" fmla="*/ f96 1 54"/>
                <a:gd name="f141" fmla="*/ f97 1 54"/>
                <a:gd name="f142" fmla="*/ f98 1 32"/>
                <a:gd name="f143" fmla="*/ f99 1 32"/>
                <a:gd name="f144" fmla="*/ f100 1 54"/>
                <a:gd name="f145" fmla="*/ f101 1 54"/>
                <a:gd name="f146" fmla="*/ f102 1 32"/>
                <a:gd name="f147" fmla="*/ f103 1 54"/>
                <a:gd name="f148" fmla="*/ f104 1 32"/>
                <a:gd name="f149" fmla="*/ f105 1 54"/>
                <a:gd name="f150" fmla="*/ f106 1 54"/>
                <a:gd name="f151" fmla="*/ 0 1 f62"/>
                <a:gd name="f152" fmla="*/ f6 1 f62"/>
                <a:gd name="f153" fmla="*/ 0 1 f63"/>
                <a:gd name="f154" fmla="*/ f7 1 f63"/>
                <a:gd name="f155" fmla="+- f107 0 f1"/>
                <a:gd name="f156" fmla="*/ f108 1 f62"/>
                <a:gd name="f157" fmla="*/ f109 1 f63"/>
                <a:gd name="f158" fmla="*/ f110 1 f63"/>
                <a:gd name="f159" fmla="*/ f111 1 f62"/>
                <a:gd name="f160" fmla="*/ f112 1 f63"/>
                <a:gd name="f161" fmla="*/ f113 1 f62"/>
                <a:gd name="f162" fmla="*/ f114 1 f62"/>
                <a:gd name="f163" fmla="*/ f115 1 f63"/>
                <a:gd name="f164" fmla="*/ f116 1 f62"/>
                <a:gd name="f165" fmla="*/ f117 1 f62"/>
                <a:gd name="f166" fmla="*/ f118 1 f62"/>
                <a:gd name="f167" fmla="*/ f119 1 f63"/>
                <a:gd name="f168" fmla="*/ f120 1 f62"/>
                <a:gd name="f169" fmla="*/ f121 1 f63"/>
                <a:gd name="f170" fmla="*/ f122 1 f62"/>
                <a:gd name="f171" fmla="*/ f123 1 f63"/>
                <a:gd name="f172" fmla="*/ f124 1 f63"/>
                <a:gd name="f173" fmla="*/ f125 1 f63"/>
                <a:gd name="f174" fmla="*/ f126 1 f63"/>
                <a:gd name="f175" fmla="*/ f127 1 f62"/>
                <a:gd name="f176" fmla="*/ f128 1 f63"/>
                <a:gd name="f177" fmla="*/ f129 1 f62"/>
                <a:gd name="f178" fmla="*/ f130 1 f63"/>
                <a:gd name="f179" fmla="*/ f131 1 f63"/>
                <a:gd name="f180" fmla="*/ f132 1 f63"/>
                <a:gd name="f181" fmla="*/ f133 1 f62"/>
                <a:gd name="f182" fmla="*/ f134 1 f63"/>
                <a:gd name="f183" fmla="*/ f135 1 f63"/>
                <a:gd name="f184" fmla="*/ f136 1 f62"/>
                <a:gd name="f185" fmla="*/ f137 1 f63"/>
                <a:gd name="f186" fmla="*/ f138 1 f62"/>
                <a:gd name="f187" fmla="*/ f139 1 f63"/>
                <a:gd name="f188" fmla="*/ f140 1 f63"/>
                <a:gd name="f189" fmla="*/ f141 1 f63"/>
                <a:gd name="f190" fmla="*/ f142 1 f62"/>
                <a:gd name="f191" fmla="*/ f143 1 f62"/>
                <a:gd name="f192" fmla="*/ f144 1 f63"/>
                <a:gd name="f193" fmla="*/ f145 1 f63"/>
                <a:gd name="f194" fmla="*/ f146 1 f62"/>
                <a:gd name="f195" fmla="*/ f147 1 f63"/>
                <a:gd name="f196" fmla="*/ f148 1 f62"/>
                <a:gd name="f197" fmla="*/ f149 1 f63"/>
                <a:gd name="f198" fmla="*/ f150 1 f63"/>
                <a:gd name="f199" fmla="*/ f151 f57 1"/>
                <a:gd name="f200" fmla="*/ f152 f57 1"/>
                <a:gd name="f201" fmla="*/ f154 f58 1"/>
                <a:gd name="f202" fmla="*/ f153 f58 1"/>
                <a:gd name="f203" fmla="*/ f156 f57 1"/>
                <a:gd name="f204" fmla="*/ f157 f58 1"/>
                <a:gd name="f205" fmla="*/ f158 f58 1"/>
                <a:gd name="f206" fmla="*/ f159 f57 1"/>
                <a:gd name="f207" fmla="*/ f160 f58 1"/>
                <a:gd name="f208" fmla="*/ f161 f57 1"/>
                <a:gd name="f209" fmla="*/ f162 f57 1"/>
                <a:gd name="f210" fmla="*/ f163 f58 1"/>
                <a:gd name="f211" fmla="*/ f164 f57 1"/>
                <a:gd name="f212" fmla="*/ f165 f57 1"/>
                <a:gd name="f213" fmla="*/ f166 f57 1"/>
                <a:gd name="f214" fmla="*/ f167 f58 1"/>
                <a:gd name="f215" fmla="*/ f168 f57 1"/>
                <a:gd name="f216" fmla="*/ f169 f58 1"/>
                <a:gd name="f217" fmla="*/ f170 f57 1"/>
                <a:gd name="f218" fmla="*/ f171 f58 1"/>
                <a:gd name="f219" fmla="*/ f172 f58 1"/>
                <a:gd name="f220" fmla="*/ f173 f58 1"/>
                <a:gd name="f221" fmla="*/ f174 f58 1"/>
                <a:gd name="f222" fmla="*/ f175 f57 1"/>
                <a:gd name="f223" fmla="*/ f176 f58 1"/>
                <a:gd name="f224" fmla="*/ f177 f57 1"/>
                <a:gd name="f225" fmla="*/ f178 f58 1"/>
                <a:gd name="f226" fmla="*/ f179 f58 1"/>
                <a:gd name="f227" fmla="*/ f180 f58 1"/>
                <a:gd name="f228" fmla="*/ f181 f57 1"/>
                <a:gd name="f229" fmla="*/ f182 f58 1"/>
                <a:gd name="f230" fmla="*/ f183 f58 1"/>
                <a:gd name="f231" fmla="*/ f184 f57 1"/>
                <a:gd name="f232" fmla="*/ f185 f58 1"/>
                <a:gd name="f233" fmla="*/ f186 f57 1"/>
                <a:gd name="f234" fmla="*/ f187 f58 1"/>
                <a:gd name="f235" fmla="*/ f188 f58 1"/>
                <a:gd name="f236" fmla="*/ f189 f58 1"/>
                <a:gd name="f237" fmla="*/ f190 f57 1"/>
                <a:gd name="f238" fmla="*/ f191 f57 1"/>
                <a:gd name="f239" fmla="*/ f192 f58 1"/>
                <a:gd name="f240" fmla="*/ f193 f58 1"/>
                <a:gd name="f241" fmla="*/ f194 f57 1"/>
                <a:gd name="f242" fmla="*/ f195 f58 1"/>
                <a:gd name="f243" fmla="*/ f196 f57 1"/>
                <a:gd name="f244" fmla="*/ f197 f58 1"/>
                <a:gd name="f245" fmla="*/ f198 f58 1"/>
              </a:gdLst>
              <a:ahLst/>
              <a:cxnLst>
                <a:cxn ang="3cd4">
                  <a:pos x="hc" y="t"/>
                </a:cxn>
                <a:cxn ang="0">
                  <a:pos x="r" y="vc"/>
                </a:cxn>
                <a:cxn ang="cd4">
                  <a:pos x="hc" y="b"/>
                </a:cxn>
                <a:cxn ang="cd2">
                  <a:pos x="l" y="vc"/>
                </a:cxn>
                <a:cxn ang="f155">
                  <a:pos x="f203" y="f204"/>
                </a:cxn>
                <a:cxn ang="f155">
                  <a:pos x="f203" y="f205"/>
                </a:cxn>
                <a:cxn ang="f155">
                  <a:pos x="f206" y="f207"/>
                </a:cxn>
                <a:cxn ang="f155">
                  <a:pos x="f208" y="f204"/>
                </a:cxn>
                <a:cxn ang="f155">
                  <a:pos x="f209" y="f210"/>
                </a:cxn>
                <a:cxn ang="f155">
                  <a:pos x="f211" y="f210"/>
                </a:cxn>
                <a:cxn ang="f155">
                  <a:pos x="f212" y="f204"/>
                </a:cxn>
                <a:cxn ang="f155">
                  <a:pos x="f213" y="f214"/>
                </a:cxn>
                <a:cxn ang="f155">
                  <a:pos x="f215" y="f216"/>
                </a:cxn>
                <a:cxn ang="f155">
                  <a:pos x="f217" y="f218"/>
                </a:cxn>
                <a:cxn ang="f155">
                  <a:pos x="f215" y="f219"/>
                </a:cxn>
                <a:cxn ang="f155">
                  <a:pos x="f213" y="f220"/>
                </a:cxn>
                <a:cxn ang="f155">
                  <a:pos x="f212" y="f221"/>
                </a:cxn>
                <a:cxn ang="f155">
                  <a:pos x="f222" y="f223"/>
                </a:cxn>
                <a:cxn ang="f155">
                  <a:pos x="f224" y="f223"/>
                </a:cxn>
                <a:cxn ang="f155">
                  <a:pos x="f208" y="f221"/>
                </a:cxn>
                <a:cxn ang="f155">
                  <a:pos x="f206" y="f225"/>
                </a:cxn>
                <a:cxn ang="f155">
                  <a:pos x="f203" y="f226"/>
                </a:cxn>
                <a:cxn ang="f155">
                  <a:pos x="f203" y="f227"/>
                </a:cxn>
                <a:cxn ang="f155">
                  <a:pos x="f228" y="f229"/>
                </a:cxn>
                <a:cxn ang="f155">
                  <a:pos x="f228" y="f204"/>
                </a:cxn>
                <a:cxn ang="f155">
                  <a:pos x="f203" y="f204"/>
                </a:cxn>
                <a:cxn ang="f155">
                  <a:pos x="f203" y="f230"/>
                </a:cxn>
                <a:cxn ang="f155">
                  <a:pos x="f231" y="f232"/>
                </a:cxn>
                <a:cxn ang="f155">
                  <a:pos x="f233" y="f234"/>
                </a:cxn>
                <a:cxn ang="f155">
                  <a:pos x="f224" y="f235"/>
                </a:cxn>
                <a:cxn ang="f155">
                  <a:pos x="f222" y="f236"/>
                </a:cxn>
                <a:cxn ang="f155">
                  <a:pos x="f212" y="f232"/>
                </a:cxn>
                <a:cxn ang="f155">
                  <a:pos x="f237" y="f218"/>
                </a:cxn>
                <a:cxn ang="f155">
                  <a:pos x="f238" y="f239"/>
                </a:cxn>
                <a:cxn ang="f155">
                  <a:pos x="f212" y="f240"/>
                </a:cxn>
                <a:cxn ang="f155">
                  <a:pos x="f241" y="f242"/>
                </a:cxn>
                <a:cxn ang="f155">
                  <a:pos x="f243" y="f244"/>
                </a:cxn>
                <a:cxn ang="f155">
                  <a:pos x="f224" y="f244"/>
                </a:cxn>
                <a:cxn ang="f155">
                  <a:pos x="f233" y="f242"/>
                </a:cxn>
                <a:cxn ang="f155">
                  <a:pos x="f231" y="f240"/>
                </a:cxn>
                <a:cxn ang="f155">
                  <a:pos x="f203" y="f245"/>
                </a:cxn>
                <a:cxn ang="f155">
                  <a:pos x="f203" y="f230"/>
                </a:cxn>
              </a:cxnLst>
              <a:rect l="f199" t="f202" r="f200" b="f201"/>
              <a:pathLst>
                <a:path w="32" h="54">
                  <a:moveTo>
                    <a:pt x="f8" y="f9"/>
                  </a:moveTo>
                  <a:cubicBezTo>
                    <a:pt x="f8" y="f10"/>
                    <a:pt x="f8" y="f10"/>
                    <a:pt x="f8" y="f10"/>
                  </a:cubicBezTo>
                  <a:cubicBezTo>
                    <a:pt x="f8" y="f10"/>
                    <a:pt x="f11" y="f12"/>
                    <a:pt x="f13" y="f12"/>
                  </a:cubicBezTo>
                  <a:cubicBezTo>
                    <a:pt x="f14" y="f15"/>
                    <a:pt x="f14" y="f15"/>
                    <a:pt x="f16" y="f9"/>
                  </a:cubicBezTo>
                  <a:cubicBezTo>
                    <a:pt x="f17" y="f9"/>
                    <a:pt x="f18" y="f7"/>
                    <a:pt x="f19" y="f7"/>
                  </a:cubicBezTo>
                  <a:cubicBezTo>
                    <a:pt x="f20" y="f7"/>
                    <a:pt x="f21" y="f7"/>
                    <a:pt x="f22" y="f7"/>
                  </a:cubicBezTo>
                  <a:cubicBezTo>
                    <a:pt x="f23" y="f7"/>
                    <a:pt x="f24" y="f7"/>
                    <a:pt x="f25" y="f9"/>
                  </a:cubicBezTo>
                  <a:cubicBezTo>
                    <a:pt x="f26" y="f15"/>
                    <a:pt x="f27" y="f12"/>
                    <a:pt x="f28" y="f29"/>
                  </a:cubicBezTo>
                  <a:cubicBezTo>
                    <a:pt x="f30" y="f31"/>
                    <a:pt x="f32" y="f33"/>
                    <a:pt x="f32" y="f34"/>
                  </a:cubicBezTo>
                  <a:cubicBezTo>
                    <a:pt x="f5" y="f35"/>
                    <a:pt x="f5" y="f36"/>
                    <a:pt x="f5" y="f37"/>
                  </a:cubicBezTo>
                  <a:cubicBezTo>
                    <a:pt x="f5" y="f38"/>
                    <a:pt x="f5" y="f39"/>
                    <a:pt x="f32" y="f40"/>
                  </a:cubicBezTo>
                  <a:cubicBezTo>
                    <a:pt x="f41" y="f13"/>
                    <a:pt x="f30" y="f16"/>
                    <a:pt x="f28" y="f17"/>
                  </a:cubicBezTo>
                  <a:cubicBezTo>
                    <a:pt x="f42" y="f19"/>
                    <a:pt x="f26" y="f20"/>
                    <a:pt x="f25" y="f21"/>
                  </a:cubicBezTo>
                  <a:cubicBezTo>
                    <a:pt x="f43" y="f22"/>
                    <a:pt x="f44" y="f22"/>
                    <a:pt x="f21" y="f22"/>
                  </a:cubicBezTo>
                  <a:cubicBezTo>
                    <a:pt x="f20" y="f22"/>
                    <a:pt x="f19" y="f22"/>
                    <a:pt x="f18" y="f22"/>
                  </a:cubicBezTo>
                  <a:cubicBezTo>
                    <a:pt x="f18" y="f21"/>
                    <a:pt x="f17" y="f21"/>
                    <a:pt x="f16" y="f21"/>
                  </a:cubicBezTo>
                  <a:cubicBezTo>
                    <a:pt x="f14" y="f20"/>
                    <a:pt x="f13" y="f20"/>
                    <a:pt x="f13" y="f19"/>
                  </a:cubicBezTo>
                  <a:cubicBezTo>
                    <a:pt x="f11" y="f19"/>
                    <a:pt x="f8" y="f18"/>
                    <a:pt x="f8" y="f18"/>
                  </a:cubicBezTo>
                  <a:cubicBezTo>
                    <a:pt x="f8" y="f28"/>
                    <a:pt x="f8" y="f28"/>
                    <a:pt x="f8" y="f28"/>
                  </a:cubicBezTo>
                  <a:cubicBezTo>
                    <a:pt x="f6" y="f5"/>
                    <a:pt x="f6" y="f5"/>
                    <a:pt x="f6" y="f5"/>
                  </a:cubicBezTo>
                  <a:cubicBezTo>
                    <a:pt x="f6" y="f9"/>
                    <a:pt x="f6" y="f9"/>
                    <a:pt x="f6" y="f9"/>
                  </a:cubicBezTo>
                  <a:lnTo>
                    <a:pt x="f8" y="f9"/>
                  </a:lnTo>
                  <a:close/>
                  <a:moveTo>
                    <a:pt x="f8" y="f45"/>
                  </a:moveTo>
                  <a:cubicBezTo>
                    <a:pt x="f8" y="f45"/>
                    <a:pt x="f11" y="f40"/>
                    <a:pt x="f11" y="f8"/>
                  </a:cubicBezTo>
                  <a:cubicBezTo>
                    <a:pt x="f13" y="f8"/>
                    <a:pt x="f13" y="f11"/>
                    <a:pt x="f14" y="f11"/>
                  </a:cubicBezTo>
                  <a:cubicBezTo>
                    <a:pt x="f16" y="f13"/>
                    <a:pt x="f17" y="f13"/>
                    <a:pt x="f18" y="f13"/>
                  </a:cubicBezTo>
                  <a:cubicBezTo>
                    <a:pt x="f19" y="f14"/>
                    <a:pt x="f20" y="f14"/>
                    <a:pt x="f21" y="f14"/>
                  </a:cubicBezTo>
                  <a:cubicBezTo>
                    <a:pt x="f44" y="f14"/>
                    <a:pt x="f43" y="f13"/>
                    <a:pt x="f25" y="f8"/>
                  </a:cubicBezTo>
                  <a:cubicBezTo>
                    <a:pt x="f46" y="f45"/>
                    <a:pt x="f26" y="f47"/>
                    <a:pt x="f26" y="f37"/>
                  </a:cubicBezTo>
                  <a:cubicBezTo>
                    <a:pt x="f26" y="f48"/>
                    <a:pt x="f26" y="f49"/>
                    <a:pt x="f46" y="f50"/>
                  </a:cubicBezTo>
                  <a:cubicBezTo>
                    <a:pt x="f46" y="f51"/>
                    <a:pt x="f25" y="f34"/>
                    <a:pt x="f25" y="f52"/>
                  </a:cubicBezTo>
                  <a:cubicBezTo>
                    <a:pt x="f24" y="f33"/>
                    <a:pt x="f43" y="f53"/>
                    <a:pt x="f23" y="f53"/>
                  </a:cubicBezTo>
                  <a:cubicBezTo>
                    <a:pt x="f44" y="f54"/>
                    <a:pt x="f22" y="f54"/>
                    <a:pt x="f20" y="f54"/>
                  </a:cubicBezTo>
                  <a:cubicBezTo>
                    <a:pt x="f19" y="f54"/>
                    <a:pt x="f18" y="f54"/>
                    <a:pt x="f18" y="f54"/>
                  </a:cubicBezTo>
                  <a:cubicBezTo>
                    <a:pt x="f17" y="f53"/>
                    <a:pt x="f16" y="f53"/>
                    <a:pt x="f14" y="f53"/>
                  </a:cubicBezTo>
                  <a:cubicBezTo>
                    <a:pt x="f14" y="f33"/>
                    <a:pt x="f13" y="f33"/>
                    <a:pt x="f11" y="f52"/>
                  </a:cubicBezTo>
                  <a:cubicBezTo>
                    <a:pt x="f11" y="f34"/>
                    <a:pt x="f8" y="f34"/>
                    <a:pt x="f8" y="f55"/>
                  </a:cubicBezTo>
                  <a:lnTo>
                    <a:pt x="f8" y="f4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3" name="Freeform 65">
              <a:extLst>
                <a:ext uri="{FF2B5EF4-FFF2-40B4-BE49-F238E27FC236}">
                  <a16:creationId xmlns:a16="http://schemas.microsoft.com/office/drawing/2014/main" id="{48D37255-5084-8BEA-230F-2786D9C2A60B}"/>
                </a:ext>
              </a:extLst>
            </p:cNvPr>
            <p:cNvSpPr/>
            <p:nvPr/>
          </p:nvSpPr>
          <p:spPr>
            <a:xfrm>
              <a:off x="2228465" y="6297417"/>
              <a:ext cx="121999" cy="97648"/>
            </a:xfrm>
            <a:custGeom>
              <a:avLst/>
              <a:gdLst>
                <a:gd name="f0" fmla="val 10800000"/>
                <a:gd name="f1" fmla="val 5400000"/>
                <a:gd name="f2" fmla="val 180"/>
                <a:gd name="f3" fmla="val w"/>
                <a:gd name="f4" fmla="val h"/>
                <a:gd name="f5" fmla="val 0"/>
                <a:gd name="f6" fmla="val 70"/>
                <a:gd name="f7" fmla="val 56"/>
                <a:gd name="f8" fmla="val 55"/>
                <a:gd name="f9" fmla="val 45"/>
                <a:gd name="f10" fmla="val 35"/>
                <a:gd name="f11" fmla="val 16"/>
                <a:gd name="f12" fmla="val 25"/>
                <a:gd name="f13" fmla="val 12"/>
                <a:gd name="f14" fmla="val 20"/>
                <a:gd name="f15" fmla="val 38"/>
                <a:gd name="f16" fmla="val 31"/>
                <a:gd name="f17" fmla="val 39"/>
                <a:gd name="f18" fmla="val 51"/>
                <a:gd name="f19" fmla="val 60"/>
                <a:gd name="f20" fmla="+- 0 0 -90"/>
                <a:gd name="f21" fmla="*/ f3 1 70"/>
                <a:gd name="f22" fmla="*/ f4 1 56"/>
                <a:gd name="f23" fmla="+- f7 0 f5"/>
                <a:gd name="f24" fmla="+- f6 0 f5"/>
                <a:gd name="f25" fmla="*/ f20 f0 1"/>
                <a:gd name="f26" fmla="*/ f24 1 70"/>
                <a:gd name="f27" fmla="*/ f23 1 56"/>
                <a:gd name="f28" fmla="*/ 55 f24 1"/>
                <a:gd name="f29" fmla="*/ 56 f23 1"/>
                <a:gd name="f30" fmla="*/ 45 f24 1"/>
                <a:gd name="f31" fmla="*/ 35 f24 1"/>
                <a:gd name="f32" fmla="*/ 16 f23 1"/>
                <a:gd name="f33" fmla="*/ 25 f24 1"/>
                <a:gd name="f34" fmla="*/ 16 f24 1"/>
                <a:gd name="f35" fmla="*/ 0 f24 1"/>
                <a:gd name="f36" fmla="*/ 0 f23 1"/>
                <a:gd name="f37" fmla="*/ 12 f24 1"/>
                <a:gd name="f38" fmla="*/ 20 f24 1"/>
                <a:gd name="f39" fmla="*/ 38 f23 1"/>
                <a:gd name="f40" fmla="*/ 31 f24 1"/>
                <a:gd name="f41" fmla="*/ 39 f24 1"/>
                <a:gd name="f42" fmla="*/ 51 f24 1"/>
                <a:gd name="f43" fmla="*/ 60 f24 1"/>
                <a:gd name="f44" fmla="*/ 70 f24 1"/>
                <a:gd name="f45" fmla="*/ f25 1 f2"/>
                <a:gd name="f46" fmla="*/ f28 1 70"/>
                <a:gd name="f47" fmla="*/ f29 1 56"/>
                <a:gd name="f48" fmla="*/ f30 1 70"/>
                <a:gd name="f49" fmla="*/ f31 1 70"/>
                <a:gd name="f50" fmla="*/ f32 1 56"/>
                <a:gd name="f51" fmla="*/ f33 1 70"/>
                <a:gd name="f52" fmla="*/ f34 1 70"/>
                <a:gd name="f53" fmla="*/ f35 1 70"/>
                <a:gd name="f54" fmla="*/ f36 1 56"/>
                <a:gd name="f55" fmla="*/ f37 1 70"/>
                <a:gd name="f56" fmla="*/ f38 1 70"/>
                <a:gd name="f57" fmla="*/ f39 1 56"/>
                <a:gd name="f58" fmla="*/ f40 1 70"/>
                <a:gd name="f59" fmla="*/ f41 1 70"/>
                <a:gd name="f60" fmla="*/ f42 1 70"/>
                <a:gd name="f61" fmla="*/ f43 1 70"/>
                <a:gd name="f62" fmla="*/ f44 1 70"/>
                <a:gd name="f63" fmla="*/ 0 1 f26"/>
                <a:gd name="f64" fmla="*/ f6 1 f26"/>
                <a:gd name="f65" fmla="*/ 0 1 f27"/>
                <a:gd name="f66" fmla="*/ f7 1 f27"/>
                <a:gd name="f67" fmla="+- f45 0 f1"/>
                <a:gd name="f68" fmla="*/ f46 1 f26"/>
                <a:gd name="f69" fmla="*/ f47 1 f27"/>
                <a:gd name="f70" fmla="*/ f48 1 f26"/>
                <a:gd name="f71" fmla="*/ f49 1 f26"/>
                <a:gd name="f72" fmla="*/ f50 1 f27"/>
                <a:gd name="f73" fmla="*/ f51 1 f26"/>
                <a:gd name="f74" fmla="*/ f52 1 f26"/>
                <a:gd name="f75" fmla="*/ f53 1 f26"/>
                <a:gd name="f76" fmla="*/ f54 1 f27"/>
                <a:gd name="f77" fmla="*/ f55 1 f26"/>
                <a:gd name="f78" fmla="*/ f56 1 f26"/>
                <a:gd name="f79" fmla="*/ f57 1 f27"/>
                <a:gd name="f80" fmla="*/ f58 1 f26"/>
                <a:gd name="f81" fmla="*/ f59 1 f26"/>
                <a:gd name="f82" fmla="*/ f60 1 f26"/>
                <a:gd name="f83" fmla="*/ f61 1 f26"/>
                <a:gd name="f84" fmla="*/ f62 1 f26"/>
                <a:gd name="f85" fmla="*/ f63 f21 1"/>
                <a:gd name="f86" fmla="*/ f64 f21 1"/>
                <a:gd name="f87" fmla="*/ f66 f22 1"/>
                <a:gd name="f88" fmla="*/ f65 f22 1"/>
                <a:gd name="f89" fmla="*/ f68 f21 1"/>
                <a:gd name="f90" fmla="*/ f69 f22 1"/>
                <a:gd name="f91" fmla="*/ f70 f21 1"/>
                <a:gd name="f92" fmla="*/ f71 f21 1"/>
                <a:gd name="f93" fmla="*/ f72 f22 1"/>
                <a:gd name="f94" fmla="*/ f73 f21 1"/>
                <a:gd name="f95" fmla="*/ f74 f21 1"/>
                <a:gd name="f96" fmla="*/ f75 f21 1"/>
                <a:gd name="f97" fmla="*/ f76 f22 1"/>
                <a:gd name="f98" fmla="*/ f77 f21 1"/>
                <a:gd name="f99" fmla="*/ f78 f21 1"/>
                <a:gd name="f100" fmla="*/ f79 f22 1"/>
                <a:gd name="f101" fmla="*/ f80 f21 1"/>
                <a:gd name="f102" fmla="*/ f81 f21 1"/>
                <a:gd name="f103" fmla="*/ f82 f21 1"/>
                <a:gd name="f104" fmla="*/ f83 f21 1"/>
                <a:gd name="f105" fmla="*/ f84 f21 1"/>
              </a:gdLst>
              <a:ahLst/>
              <a:cxnLst>
                <a:cxn ang="3cd4">
                  <a:pos x="hc" y="t"/>
                </a:cxn>
                <a:cxn ang="0">
                  <a:pos x="r" y="vc"/>
                </a:cxn>
                <a:cxn ang="cd4">
                  <a:pos x="hc" y="b"/>
                </a:cxn>
                <a:cxn ang="cd2">
                  <a:pos x="l" y="vc"/>
                </a:cxn>
                <a:cxn ang="f67">
                  <a:pos x="f89" y="f90"/>
                </a:cxn>
                <a:cxn ang="f67">
                  <a:pos x="f91" y="f90"/>
                </a:cxn>
                <a:cxn ang="f67">
                  <a:pos x="f92" y="f93"/>
                </a:cxn>
                <a:cxn ang="f67">
                  <a:pos x="f94" y="f90"/>
                </a:cxn>
                <a:cxn ang="f67">
                  <a:pos x="f95" y="f90"/>
                </a:cxn>
                <a:cxn ang="f67">
                  <a:pos x="f96" y="f97"/>
                </a:cxn>
                <a:cxn ang="f67">
                  <a:pos x="f98" y="f97"/>
                </a:cxn>
                <a:cxn ang="f67">
                  <a:pos x="f99" y="f100"/>
                </a:cxn>
                <a:cxn ang="f67">
                  <a:pos x="f101" y="f97"/>
                </a:cxn>
                <a:cxn ang="f67">
                  <a:pos x="f102" y="f97"/>
                </a:cxn>
                <a:cxn ang="f67">
                  <a:pos x="f103" y="f100"/>
                </a:cxn>
                <a:cxn ang="f67">
                  <a:pos x="f104" y="f97"/>
                </a:cxn>
                <a:cxn ang="f67">
                  <a:pos x="f105" y="f97"/>
                </a:cxn>
                <a:cxn ang="f67">
                  <a:pos x="f89" y="f90"/>
                </a:cxn>
              </a:cxnLst>
              <a:rect l="f85" t="f88" r="f86" b="f87"/>
              <a:pathLst>
                <a:path w="70" h="56">
                  <a:moveTo>
                    <a:pt x="f8" y="f7"/>
                  </a:moveTo>
                  <a:lnTo>
                    <a:pt x="f9" y="f7"/>
                  </a:lnTo>
                  <a:lnTo>
                    <a:pt x="f10" y="f11"/>
                  </a:lnTo>
                  <a:lnTo>
                    <a:pt x="f12" y="f7"/>
                  </a:lnTo>
                  <a:lnTo>
                    <a:pt x="f11" y="f7"/>
                  </a:lnTo>
                  <a:lnTo>
                    <a:pt x="f5" y="f5"/>
                  </a:lnTo>
                  <a:lnTo>
                    <a:pt x="f13" y="f5"/>
                  </a:lnTo>
                  <a:lnTo>
                    <a:pt x="f14" y="f15"/>
                  </a:lnTo>
                  <a:lnTo>
                    <a:pt x="f16" y="f5"/>
                  </a:lnTo>
                  <a:lnTo>
                    <a:pt x="f17" y="f5"/>
                  </a:lnTo>
                  <a:lnTo>
                    <a:pt x="f18" y="f15"/>
                  </a:lnTo>
                  <a:lnTo>
                    <a:pt x="f19" y="f5"/>
                  </a:lnTo>
                  <a:lnTo>
                    <a:pt x="f6" y="f5"/>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4" name="Freeform 66">
              <a:extLst>
                <a:ext uri="{FF2B5EF4-FFF2-40B4-BE49-F238E27FC236}">
                  <a16:creationId xmlns:a16="http://schemas.microsoft.com/office/drawing/2014/main" id="{53DCBD30-99CE-A542-D184-57F3697DEE6B}"/>
                </a:ext>
              </a:extLst>
            </p:cNvPr>
            <p:cNvSpPr/>
            <p:nvPr/>
          </p:nvSpPr>
          <p:spPr>
            <a:xfrm>
              <a:off x="2360916" y="6293924"/>
              <a:ext cx="88879" cy="102879"/>
            </a:xfrm>
            <a:custGeom>
              <a:avLst/>
              <a:gdLst>
                <a:gd name="f0" fmla="val 10800000"/>
                <a:gd name="f1" fmla="val 5400000"/>
                <a:gd name="f2" fmla="val 180"/>
                <a:gd name="f3" fmla="val w"/>
                <a:gd name="f4" fmla="val h"/>
                <a:gd name="f5" fmla="val 0"/>
                <a:gd name="f6" fmla="val 35"/>
                <a:gd name="f7" fmla="val 40"/>
                <a:gd name="f8" fmla="val 20"/>
                <a:gd name="f9" fmla="val 23"/>
                <a:gd name="f10" fmla="val 34"/>
                <a:gd name="f11" fmla="val 26"/>
                <a:gd name="f12" fmla="val 33"/>
                <a:gd name="f13" fmla="val 28"/>
                <a:gd name="f14" fmla="val 32"/>
                <a:gd name="f15" fmla="val 31"/>
                <a:gd name="f16" fmla="val 30"/>
                <a:gd name="f17" fmla="val 37"/>
                <a:gd name="f18" fmla="val 38"/>
                <a:gd name="f19" fmla="val 24"/>
                <a:gd name="f20" fmla="val 39"/>
                <a:gd name="f21" fmla="val 22"/>
                <a:gd name="f22" fmla="val 17"/>
                <a:gd name="f23" fmla="val 15"/>
                <a:gd name="f24" fmla="val 13"/>
                <a:gd name="f25" fmla="val 11"/>
                <a:gd name="f26" fmla="val 8"/>
                <a:gd name="f27" fmla="val 7"/>
                <a:gd name="f28" fmla="val 36"/>
                <a:gd name="f29" fmla="val 5"/>
                <a:gd name="f30" fmla="val 4"/>
                <a:gd name="f31" fmla="val 2"/>
                <a:gd name="f32" fmla="val 1"/>
                <a:gd name="f33" fmla="val 14"/>
                <a:gd name="f34" fmla="val 12"/>
                <a:gd name="f35" fmla="val 3"/>
                <a:gd name="f36" fmla="val 9"/>
                <a:gd name="f37" fmla="val 18"/>
                <a:gd name="f38" fmla="val 27"/>
                <a:gd name="f39" fmla="val 16"/>
                <a:gd name="f40" fmla="val 25"/>
                <a:gd name="f41" fmla="val 10"/>
                <a:gd name="f42" fmla="val 21"/>
                <a:gd name="f43" fmla="val 19"/>
                <a:gd name="f44" fmla="val 29"/>
                <a:gd name="f45" fmla="+- 0 0 -90"/>
                <a:gd name="f46" fmla="*/ f3 1 35"/>
                <a:gd name="f47" fmla="*/ f4 1 40"/>
                <a:gd name="f48" fmla="+- f7 0 f5"/>
                <a:gd name="f49" fmla="+- f6 0 f5"/>
                <a:gd name="f50" fmla="*/ f45 f0 1"/>
                <a:gd name="f51" fmla="*/ f49 1 35"/>
                <a:gd name="f52" fmla="*/ f48 1 40"/>
                <a:gd name="f53" fmla="*/ 35 f49 1"/>
                <a:gd name="f54" fmla="*/ 20 f48 1"/>
                <a:gd name="f55" fmla="*/ 33 f49 1"/>
                <a:gd name="f56" fmla="*/ 28 f48 1"/>
                <a:gd name="f57" fmla="*/ 30 f49 1"/>
                <a:gd name="f58" fmla="*/ 35 f48 1"/>
                <a:gd name="f59" fmla="*/ 24 f49 1"/>
                <a:gd name="f60" fmla="*/ 39 f48 1"/>
                <a:gd name="f61" fmla="*/ 17 f49 1"/>
                <a:gd name="f62" fmla="*/ 40 f48 1"/>
                <a:gd name="f63" fmla="*/ 11 f49 1"/>
                <a:gd name="f64" fmla="*/ 5 f49 1"/>
                <a:gd name="f65" fmla="*/ 2 f49 1"/>
                <a:gd name="f66" fmla="*/ 0 f49 1"/>
                <a:gd name="f67" fmla="*/ 12 f48 1"/>
                <a:gd name="f68" fmla="*/ 5 f48 1"/>
                <a:gd name="f69" fmla="*/ 1 f48 1"/>
                <a:gd name="f70" fmla="*/ 18 f49 1"/>
                <a:gd name="f71" fmla="*/ 0 f48 1"/>
                <a:gd name="f72" fmla="*/ 27 f49 1"/>
                <a:gd name="f73" fmla="*/ 26 f49 1"/>
                <a:gd name="f74" fmla="*/ 15 f48 1"/>
                <a:gd name="f75" fmla="*/ 11 f48 1"/>
                <a:gd name="f76" fmla="*/ 21 f49 1"/>
                <a:gd name="f77" fmla="*/ 8 f48 1"/>
                <a:gd name="f78" fmla="*/ 7 f48 1"/>
                <a:gd name="f79" fmla="*/ 13 f49 1"/>
                <a:gd name="f80" fmla="*/ 10 f49 1"/>
                <a:gd name="f81" fmla="*/ 9 f49 1"/>
                <a:gd name="f82" fmla="*/ 8 f49 1"/>
                <a:gd name="f83" fmla="*/ 26 f48 1"/>
                <a:gd name="f84" fmla="*/ 30 f48 1"/>
                <a:gd name="f85" fmla="*/ 14 f49 1"/>
                <a:gd name="f86" fmla="*/ 32 f48 1"/>
                <a:gd name="f87" fmla="*/ 33 f48 1"/>
                <a:gd name="f88" fmla="*/ 29 f48 1"/>
                <a:gd name="f89" fmla="*/ 25 f48 1"/>
                <a:gd name="f90" fmla="*/ f50 1 f2"/>
                <a:gd name="f91" fmla="*/ f53 1 35"/>
                <a:gd name="f92" fmla="*/ f54 1 40"/>
                <a:gd name="f93" fmla="*/ f55 1 35"/>
                <a:gd name="f94" fmla="*/ f56 1 40"/>
                <a:gd name="f95" fmla="*/ f57 1 35"/>
                <a:gd name="f96" fmla="*/ f58 1 40"/>
                <a:gd name="f97" fmla="*/ f59 1 35"/>
                <a:gd name="f98" fmla="*/ f60 1 40"/>
                <a:gd name="f99" fmla="*/ f61 1 35"/>
                <a:gd name="f100" fmla="*/ f62 1 40"/>
                <a:gd name="f101" fmla="*/ f63 1 35"/>
                <a:gd name="f102" fmla="*/ f64 1 35"/>
                <a:gd name="f103" fmla="*/ f65 1 35"/>
                <a:gd name="f104" fmla="*/ f66 1 35"/>
                <a:gd name="f105" fmla="*/ f67 1 40"/>
                <a:gd name="f106" fmla="*/ f68 1 40"/>
                <a:gd name="f107" fmla="*/ f69 1 40"/>
                <a:gd name="f108" fmla="*/ f70 1 35"/>
                <a:gd name="f109" fmla="*/ f71 1 40"/>
                <a:gd name="f110" fmla="*/ f72 1 35"/>
                <a:gd name="f111" fmla="*/ f73 1 35"/>
                <a:gd name="f112" fmla="*/ f74 1 40"/>
                <a:gd name="f113" fmla="*/ f75 1 40"/>
                <a:gd name="f114" fmla="*/ f76 1 35"/>
                <a:gd name="f115" fmla="*/ f77 1 40"/>
                <a:gd name="f116" fmla="*/ f78 1 40"/>
                <a:gd name="f117" fmla="*/ f79 1 35"/>
                <a:gd name="f118" fmla="*/ f80 1 35"/>
                <a:gd name="f119" fmla="*/ f81 1 35"/>
                <a:gd name="f120" fmla="*/ f82 1 35"/>
                <a:gd name="f121" fmla="*/ f83 1 40"/>
                <a:gd name="f122" fmla="*/ f84 1 40"/>
                <a:gd name="f123" fmla="*/ f85 1 35"/>
                <a:gd name="f124" fmla="*/ f86 1 40"/>
                <a:gd name="f125" fmla="*/ f87 1 40"/>
                <a:gd name="f126" fmla="*/ f88 1 40"/>
                <a:gd name="f127" fmla="*/ f89 1 40"/>
                <a:gd name="f128" fmla="*/ 0 1 f51"/>
                <a:gd name="f129" fmla="*/ f6 1 f51"/>
                <a:gd name="f130" fmla="*/ 0 1 f52"/>
                <a:gd name="f131" fmla="*/ f7 1 f52"/>
                <a:gd name="f132" fmla="+- f90 0 f1"/>
                <a:gd name="f133" fmla="*/ f91 1 f51"/>
                <a:gd name="f134" fmla="*/ f92 1 f52"/>
                <a:gd name="f135" fmla="*/ f93 1 f51"/>
                <a:gd name="f136" fmla="*/ f94 1 f52"/>
                <a:gd name="f137" fmla="*/ f95 1 f51"/>
                <a:gd name="f138" fmla="*/ f96 1 f52"/>
                <a:gd name="f139" fmla="*/ f97 1 f51"/>
                <a:gd name="f140" fmla="*/ f98 1 f52"/>
                <a:gd name="f141" fmla="*/ f99 1 f51"/>
                <a:gd name="f142" fmla="*/ f100 1 f52"/>
                <a:gd name="f143" fmla="*/ f101 1 f51"/>
                <a:gd name="f144" fmla="*/ f102 1 f51"/>
                <a:gd name="f145" fmla="*/ f103 1 f51"/>
                <a:gd name="f146" fmla="*/ f104 1 f51"/>
                <a:gd name="f147" fmla="*/ f105 1 f52"/>
                <a:gd name="f148" fmla="*/ f106 1 f52"/>
                <a:gd name="f149" fmla="*/ f107 1 f52"/>
                <a:gd name="f150" fmla="*/ f108 1 f51"/>
                <a:gd name="f151" fmla="*/ f109 1 f52"/>
                <a:gd name="f152" fmla="*/ f110 1 f51"/>
                <a:gd name="f153" fmla="*/ f111 1 f51"/>
                <a:gd name="f154" fmla="*/ f112 1 f52"/>
                <a:gd name="f155" fmla="*/ f113 1 f52"/>
                <a:gd name="f156" fmla="*/ f114 1 f51"/>
                <a:gd name="f157" fmla="*/ f115 1 f52"/>
                <a:gd name="f158" fmla="*/ f116 1 f52"/>
                <a:gd name="f159" fmla="*/ f117 1 f51"/>
                <a:gd name="f160" fmla="*/ f118 1 f51"/>
                <a:gd name="f161" fmla="*/ f119 1 f51"/>
                <a:gd name="f162" fmla="*/ f120 1 f51"/>
                <a:gd name="f163" fmla="*/ f121 1 f52"/>
                <a:gd name="f164" fmla="*/ f122 1 f52"/>
                <a:gd name="f165" fmla="*/ f123 1 f51"/>
                <a:gd name="f166" fmla="*/ f124 1 f52"/>
                <a:gd name="f167" fmla="*/ f125 1 f52"/>
                <a:gd name="f168" fmla="*/ f126 1 f52"/>
                <a:gd name="f169" fmla="*/ f127 1 f52"/>
                <a:gd name="f170" fmla="*/ f128 f46 1"/>
                <a:gd name="f171" fmla="*/ f129 f46 1"/>
                <a:gd name="f172" fmla="*/ f131 f47 1"/>
                <a:gd name="f173" fmla="*/ f130 f47 1"/>
                <a:gd name="f174" fmla="*/ f133 f46 1"/>
                <a:gd name="f175" fmla="*/ f134 f47 1"/>
                <a:gd name="f176" fmla="*/ f135 f46 1"/>
                <a:gd name="f177" fmla="*/ f136 f47 1"/>
                <a:gd name="f178" fmla="*/ f137 f46 1"/>
                <a:gd name="f179" fmla="*/ f138 f47 1"/>
                <a:gd name="f180" fmla="*/ f139 f46 1"/>
                <a:gd name="f181" fmla="*/ f140 f47 1"/>
                <a:gd name="f182" fmla="*/ f141 f46 1"/>
                <a:gd name="f183" fmla="*/ f142 f47 1"/>
                <a:gd name="f184" fmla="*/ f143 f46 1"/>
                <a:gd name="f185" fmla="*/ f144 f46 1"/>
                <a:gd name="f186" fmla="*/ f145 f46 1"/>
                <a:gd name="f187" fmla="*/ f146 f46 1"/>
                <a:gd name="f188" fmla="*/ f147 f47 1"/>
                <a:gd name="f189" fmla="*/ f148 f47 1"/>
                <a:gd name="f190" fmla="*/ f149 f47 1"/>
                <a:gd name="f191" fmla="*/ f150 f46 1"/>
                <a:gd name="f192" fmla="*/ f151 f47 1"/>
                <a:gd name="f193" fmla="*/ f152 f46 1"/>
                <a:gd name="f194" fmla="*/ f153 f46 1"/>
                <a:gd name="f195" fmla="*/ f154 f47 1"/>
                <a:gd name="f196" fmla="*/ f155 f47 1"/>
                <a:gd name="f197" fmla="*/ f156 f46 1"/>
                <a:gd name="f198" fmla="*/ f157 f47 1"/>
                <a:gd name="f199" fmla="*/ f158 f47 1"/>
                <a:gd name="f200" fmla="*/ f159 f46 1"/>
                <a:gd name="f201" fmla="*/ f160 f46 1"/>
                <a:gd name="f202" fmla="*/ f161 f46 1"/>
                <a:gd name="f203" fmla="*/ f162 f46 1"/>
                <a:gd name="f204" fmla="*/ f163 f47 1"/>
                <a:gd name="f205" fmla="*/ f164 f47 1"/>
                <a:gd name="f206" fmla="*/ f165 f46 1"/>
                <a:gd name="f207" fmla="*/ f166 f47 1"/>
                <a:gd name="f208" fmla="*/ f167 f47 1"/>
                <a:gd name="f209" fmla="*/ f168 f47 1"/>
                <a:gd name="f210" fmla="*/ f169 f47 1"/>
              </a:gdLst>
              <a:ahLst/>
              <a:cxnLst>
                <a:cxn ang="3cd4">
                  <a:pos x="hc" y="t"/>
                </a:cxn>
                <a:cxn ang="0">
                  <a:pos x="r" y="vc"/>
                </a:cxn>
                <a:cxn ang="cd4">
                  <a:pos x="hc" y="b"/>
                </a:cxn>
                <a:cxn ang="cd2">
                  <a:pos x="l" y="vc"/>
                </a:cxn>
                <a:cxn ang="f132">
                  <a:pos x="f174" y="f175"/>
                </a:cxn>
                <a:cxn ang="f132">
                  <a:pos x="f176" y="f177"/>
                </a:cxn>
                <a:cxn ang="f132">
                  <a:pos x="f178" y="f179"/>
                </a:cxn>
                <a:cxn ang="f132">
                  <a:pos x="f180" y="f181"/>
                </a:cxn>
                <a:cxn ang="f132">
                  <a:pos x="f182" y="f183"/>
                </a:cxn>
                <a:cxn ang="f132">
                  <a:pos x="f184" y="f181"/>
                </a:cxn>
                <a:cxn ang="f132">
                  <a:pos x="f185" y="f179"/>
                </a:cxn>
                <a:cxn ang="f132">
                  <a:pos x="f186" y="f177"/>
                </a:cxn>
                <a:cxn ang="f132">
                  <a:pos x="f187" y="f175"/>
                </a:cxn>
                <a:cxn ang="f132">
                  <a:pos x="f186" y="f188"/>
                </a:cxn>
                <a:cxn ang="f132">
                  <a:pos x="f185" y="f189"/>
                </a:cxn>
                <a:cxn ang="f132">
                  <a:pos x="f184" y="f190"/>
                </a:cxn>
                <a:cxn ang="f132">
                  <a:pos x="f191" y="f192"/>
                </a:cxn>
                <a:cxn ang="f132">
                  <a:pos x="f180" y="f190"/>
                </a:cxn>
                <a:cxn ang="f132">
                  <a:pos x="f178" y="f189"/>
                </a:cxn>
                <a:cxn ang="f132">
                  <a:pos x="f176" y="f188"/>
                </a:cxn>
                <a:cxn ang="f132">
                  <a:pos x="f174" y="f175"/>
                </a:cxn>
                <a:cxn ang="f132">
                  <a:pos x="f193" y="f175"/>
                </a:cxn>
                <a:cxn ang="f132">
                  <a:pos x="f194" y="f195"/>
                </a:cxn>
                <a:cxn ang="f132">
                  <a:pos x="f180" y="f196"/>
                </a:cxn>
                <a:cxn ang="f132">
                  <a:pos x="f197" y="f198"/>
                </a:cxn>
                <a:cxn ang="f132">
                  <a:pos x="f182" y="f199"/>
                </a:cxn>
                <a:cxn ang="f132">
                  <a:pos x="f200" y="f198"/>
                </a:cxn>
                <a:cxn ang="f132">
                  <a:pos x="f201" y="f196"/>
                </a:cxn>
                <a:cxn ang="f132">
                  <a:pos x="f202" y="f195"/>
                </a:cxn>
                <a:cxn ang="f132">
                  <a:pos x="f203" y="f175"/>
                </a:cxn>
                <a:cxn ang="f132">
                  <a:pos x="f202" y="f204"/>
                </a:cxn>
                <a:cxn ang="f132">
                  <a:pos x="f184" y="f205"/>
                </a:cxn>
                <a:cxn ang="f132">
                  <a:pos x="f206" y="f207"/>
                </a:cxn>
                <a:cxn ang="f132">
                  <a:pos x="f191" y="f208"/>
                </a:cxn>
                <a:cxn ang="f132">
                  <a:pos x="f197" y="f207"/>
                </a:cxn>
                <a:cxn ang="f132">
                  <a:pos x="f180" y="f209"/>
                </a:cxn>
                <a:cxn ang="f132">
                  <a:pos x="f194" y="f210"/>
                </a:cxn>
                <a:cxn ang="f132">
                  <a:pos x="f193" y="f175"/>
                </a:cxn>
              </a:cxnLst>
              <a:rect l="f170" t="f173" r="f171" b="f172"/>
              <a:pathLst>
                <a:path w="35" h="40">
                  <a:moveTo>
                    <a:pt x="f6" y="f8"/>
                  </a:moveTo>
                  <a:cubicBezTo>
                    <a:pt x="f6" y="f9"/>
                    <a:pt x="f10" y="f11"/>
                    <a:pt x="f12" y="f13"/>
                  </a:cubicBezTo>
                  <a:cubicBezTo>
                    <a:pt x="f14" y="f15"/>
                    <a:pt x="f15" y="f12"/>
                    <a:pt x="f16" y="f6"/>
                  </a:cubicBezTo>
                  <a:cubicBezTo>
                    <a:pt x="f13" y="f17"/>
                    <a:pt x="f11" y="f18"/>
                    <a:pt x="f19" y="f20"/>
                  </a:cubicBezTo>
                  <a:cubicBezTo>
                    <a:pt x="f21" y="f7"/>
                    <a:pt x="f8" y="f7"/>
                    <a:pt x="f22" y="f7"/>
                  </a:cubicBezTo>
                  <a:cubicBezTo>
                    <a:pt x="f23" y="f7"/>
                    <a:pt x="f24" y="f7"/>
                    <a:pt x="f25" y="f20"/>
                  </a:cubicBezTo>
                  <a:cubicBezTo>
                    <a:pt x="f26" y="f18"/>
                    <a:pt x="f27" y="f28"/>
                    <a:pt x="f29" y="f6"/>
                  </a:cubicBezTo>
                  <a:cubicBezTo>
                    <a:pt x="f30" y="f12"/>
                    <a:pt x="f31" y="f15"/>
                    <a:pt x="f31" y="f13"/>
                  </a:cubicBezTo>
                  <a:cubicBezTo>
                    <a:pt x="f32" y="f11"/>
                    <a:pt x="f5" y="f9"/>
                    <a:pt x="f5" y="f8"/>
                  </a:cubicBezTo>
                  <a:cubicBezTo>
                    <a:pt x="f5" y="f22"/>
                    <a:pt x="f32" y="f33"/>
                    <a:pt x="f31" y="f34"/>
                  </a:cubicBezTo>
                  <a:cubicBezTo>
                    <a:pt x="f35" y="f36"/>
                    <a:pt x="f30" y="f27"/>
                    <a:pt x="f29" y="f29"/>
                  </a:cubicBezTo>
                  <a:cubicBezTo>
                    <a:pt x="f27" y="f30"/>
                    <a:pt x="f36" y="f31"/>
                    <a:pt x="f25" y="f32"/>
                  </a:cubicBezTo>
                  <a:cubicBezTo>
                    <a:pt x="f24" y="f32"/>
                    <a:pt x="f23" y="f5"/>
                    <a:pt x="f37" y="f5"/>
                  </a:cubicBezTo>
                  <a:cubicBezTo>
                    <a:pt x="f8" y="f5"/>
                    <a:pt x="f21" y="f32"/>
                    <a:pt x="f19" y="f32"/>
                  </a:cubicBezTo>
                  <a:cubicBezTo>
                    <a:pt x="f11" y="f31"/>
                    <a:pt x="f13" y="f30"/>
                    <a:pt x="f16" y="f29"/>
                  </a:cubicBezTo>
                  <a:cubicBezTo>
                    <a:pt x="f15" y="f27"/>
                    <a:pt x="f14" y="f36"/>
                    <a:pt x="f12" y="f34"/>
                  </a:cubicBezTo>
                  <a:cubicBezTo>
                    <a:pt x="f10" y="f33"/>
                    <a:pt x="f6" y="f22"/>
                    <a:pt x="f6" y="f8"/>
                  </a:cubicBezTo>
                  <a:close/>
                  <a:moveTo>
                    <a:pt x="f38" y="f8"/>
                  </a:moveTo>
                  <a:cubicBezTo>
                    <a:pt x="f38" y="f37"/>
                    <a:pt x="f38" y="f39"/>
                    <a:pt x="f11" y="f23"/>
                  </a:cubicBezTo>
                  <a:cubicBezTo>
                    <a:pt x="f11" y="f24"/>
                    <a:pt x="f40" y="f34"/>
                    <a:pt x="f19" y="f25"/>
                  </a:cubicBezTo>
                  <a:cubicBezTo>
                    <a:pt x="f19" y="f41"/>
                    <a:pt x="f9" y="f36"/>
                    <a:pt x="f42" y="f26"/>
                  </a:cubicBezTo>
                  <a:cubicBezTo>
                    <a:pt x="f8" y="f26"/>
                    <a:pt x="f43" y="f27"/>
                    <a:pt x="f22" y="f27"/>
                  </a:cubicBezTo>
                  <a:cubicBezTo>
                    <a:pt x="f39" y="f27"/>
                    <a:pt x="f33" y="f26"/>
                    <a:pt x="f24" y="f26"/>
                  </a:cubicBezTo>
                  <a:cubicBezTo>
                    <a:pt x="f34" y="f36"/>
                    <a:pt x="f25" y="f41"/>
                    <a:pt x="f41" y="f25"/>
                  </a:cubicBezTo>
                  <a:cubicBezTo>
                    <a:pt x="f41" y="f34"/>
                    <a:pt x="f36" y="f24"/>
                    <a:pt x="f36" y="f23"/>
                  </a:cubicBezTo>
                  <a:cubicBezTo>
                    <a:pt x="f26" y="f39"/>
                    <a:pt x="f26" y="f37"/>
                    <a:pt x="f26" y="f8"/>
                  </a:cubicBezTo>
                  <a:cubicBezTo>
                    <a:pt x="f26" y="f21"/>
                    <a:pt x="f26" y="f19"/>
                    <a:pt x="f36" y="f11"/>
                  </a:cubicBezTo>
                  <a:cubicBezTo>
                    <a:pt x="f36" y="f38"/>
                    <a:pt x="f41" y="f13"/>
                    <a:pt x="f25" y="f16"/>
                  </a:cubicBezTo>
                  <a:cubicBezTo>
                    <a:pt x="f25" y="f15"/>
                    <a:pt x="f34" y="f14"/>
                    <a:pt x="f33" y="f14"/>
                  </a:cubicBezTo>
                  <a:cubicBezTo>
                    <a:pt x="f23" y="f12"/>
                    <a:pt x="f39" y="f12"/>
                    <a:pt x="f37" y="f12"/>
                  </a:cubicBezTo>
                  <a:cubicBezTo>
                    <a:pt x="f43" y="f12"/>
                    <a:pt x="f8" y="f12"/>
                    <a:pt x="f42" y="f14"/>
                  </a:cubicBezTo>
                  <a:cubicBezTo>
                    <a:pt x="f9" y="f15"/>
                    <a:pt x="f19" y="f16"/>
                    <a:pt x="f19" y="f44"/>
                  </a:cubicBezTo>
                  <a:cubicBezTo>
                    <a:pt x="f40" y="f13"/>
                    <a:pt x="f11" y="f38"/>
                    <a:pt x="f11" y="f40"/>
                  </a:cubicBezTo>
                  <a:cubicBezTo>
                    <a:pt x="f38" y="f19"/>
                    <a:pt x="f38" y="f21"/>
                    <a:pt x="f38"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5" name="Freeform 67">
              <a:extLst>
                <a:ext uri="{FF2B5EF4-FFF2-40B4-BE49-F238E27FC236}">
                  <a16:creationId xmlns:a16="http://schemas.microsoft.com/office/drawing/2014/main" id="{83561336-A87F-A319-A4FA-D29A5798F131}"/>
                </a:ext>
              </a:extLst>
            </p:cNvPr>
            <p:cNvSpPr/>
            <p:nvPr/>
          </p:nvSpPr>
          <p:spPr>
            <a:xfrm>
              <a:off x="2467224" y="6293924"/>
              <a:ext cx="59253" cy="101132"/>
            </a:xfrm>
            <a:custGeom>
              <a:avLst/>
              <a:gdLst>
                <a:gd name="f0" fmla="val 10800000"/>
                <a:gd name="f1" fmla="val 5400000"/>
                <a:gd name="f2" fmla="val 180"/>
                <a:gd name="f3" fmla="val w"/>
                <a:gd name="f4" fmla="val h"/>
                <a:gd name="f5" fmla="val 0"/>
                <a:gd name="f6" fmla="val 23"/>
                <a:gd name="f7" fmla="val 39"/>
                <a:gd name="f8" fmla="val 21"/>
                <a:gd name="f9" fmla="val 9"/>
                <a:gd name="f10" fmla="val 20"/>
                <a:gd name="f11" fmla="val 8"/>
                <a:gd name="f12" fmla="val 19"/>
                <a:gd name="f13" fmla="val 18"/>
                <a:gd name="f14" fmla="val 17"/>
                <a:gd name="f15" fmla="val 7"/>
                <a:gd name="f16" fmla="val 16"/>
                <a:gd name="f17" fmla="val 13"/>
                <a:gd name="f18" fmla="val 11"/>
                <a:gd name="f19" fmla="val 10"/>
                <a:gd name="f20" fmla="val 12"/>
                <a:gd name="f21" fmla="val 14"/>
                <a:gd name="f22" fmla="val 1"/>
                <a:gd name="f23" fmla="val 5"/>
                <a:gd name="f24" fmla="val 4"/>
                <a:gd name="f25" fmla="val 3"/>
                <a:gd name="f26" fmla="val 2"/>
                <a:gd name="f27" fmla="val 15"/>
                <a:gd name="f28" fmla="val 22"/>
                <a:gd name="f29" fmla="+- 0 0 -90"/>
                <a:gd name="f30" fmla="*/ f3 1 23"/>
                <a:gd name="f31" fmla="*/ f4 1 39"/>
                <a:gd name="f32" fmla="+- f7 0 f5"/>
                <a:gd name="f33" fmla="+- f6 0 f5"/>
                <a:gd name="f34" fmla="*/ f29 f0 1"/>
                <a:gd name="f35" fmla="*/ f33 1 23"/>
                <a:gd name="f36" fmla="*/ f32 1 39"/>
                <a:gd name="f37" fmla="*/ 21 f33 1"/>
                <a:gd name="f38" fmla="*/ 9 f32 1"/>
                <a:gd name="f39" fmla="*/ 19 f33 1"/>
                <a:gd name="f40" fmla="*/ 8 f32 1"/>
                <a:gd name="f41" fmla="*/ 16 f33 1"/>
                <a:gd name="f42" fmla="*/ 7 f32 1"/>
                <a:gd name="f43" fmla="*/ 10 f33 1"/>
                <a:gd name="f44" fmla="*/ 10 f32 1"/>
                <a:gd name="f45" fmla="*/ 8 f33 1"/>
                <a:gd name="f46" fmla="*/ 17 f32 1"/>
                <a:gd name="f47" fmla="*/ 39 f32 1"/>
                <a:gd name="f48" fmla="*/ 0 f33 1"/>
                <a:gd name="f49" fmla="*/ 1 f32 1"/>
                <a:gd name="f50" fmla="*/ 5 f32 1"/>
                <a:gd name="f51" fmla="*/ 3 f32 1"/>
                <a:gd name="f52" fmla="*/ 12 f33 1"/>
                <a:gd name="f53" fmla="*/ 14 f33 1"/>
                <a:gd name="f54" fmla="*/ 0 f32 1"/>
                <a:gd name="f55" fmla="*/ 17 f33 1"/>
                <a:gd name="f56" fmla="*/ 23 f33 1"/>
                <a:gd name="f57" fmla="*/ 2 f32 1"/>
                <a:gd name="f58" fmla="*/ f34 1 f2"/>
                <a:gd name="f59" fmla="*/ f37 1 23"/>
                <a:gd name="f60" fmla="*/ f38 1 39"/>
                <a:gd name="f61" fmla="*/ f39 1 23"/>
                <a:gd name="f62" fmla="*/ f40 1 39"/>
                <a:gd name="f63" fmla="*/ f41 1 23"/>
                <a:gd name="f64" fmla="*/ f42 1 39"/>
                <a:gd name="f65" fmla="*/ f43 1 23"/>
                <a:gd name="f66" fmla="*/ f44 1 39"/>
                <a:gd name="f67" fmla="*/ f45 1 23"/>
                <a:gd name="f68" fmla="*/ f46 1 39"/>
                <a:gd name="f69" fmla="*/ f47 1 39"/>
                <a:gd name="f70" fmla="*/ f48 1 23"/>
                <a:gd name="f71" fmla="*/ f49 1 39"/>
                <a:gd name="f72" fmla="*/ f50 1 39"/>
                <a:gd name="f73" fmla="*/ f51 1 39"/>
                <a:gd name="f74" fmla="*/ f52 1 23"/>
                <a:gd name="f75" fmla="*/ f53 1 23"/>
                <a:gd name="f76" fmla="*/ f54 1 39"/>
                <a:gd name="f77" fmla="*/ f55 1 23"/>
                <a:gd name="f78" fmla="*/ f56 1 23"/>
                <a:gd name="f79" fmla="*/ f57 1 39"/>
                <a:gd name="f80" fmla="*/ 0 1 f35"/>
                <a:gd name="f81" fmla="*/ f6 1 f35"/>
                <a:gd name="f82" fmla="*/ 0 1 f36"/>
                <a:gd name="f83" fmla="*/ f7 1 f36"/>
                <a:gd name="f84" fmla="+- f58 0 f1"/>
                <a:gd name="f85" fmla="*/ f59 1 f35"/>
                <a:gd name="f86" fmla="*/ f60 1 f36"/>
                <a:gd name="f87" fmla="*/ f61 1 f35"/>
                <a:gd name="f88" fmla="*/ f62 1 f36"/>
                <a:gd name="f89" fmla="*/ f63 1 f35"/>
                <a:gd name="f90" fmla="*/ f64 1 f36"/>
                <a:gd name="f91" fmla="*/ f65 1 f35"/>
                <a:gd name="f92" fmla="*/ f66 1 f36"/>
                <a:gd name="f93" fmla="*/ f67 1 f35"/>
                <a:gd name="f94" fmla="*/ f68 1 f36"/>
                <a:gd name="f95" fmla="*/ f69 1 f36"/>
                <a:gd name="f96" fmla="*/ f70 1 f35"/>
                <a:gd name="f97" fmla="*/ f71 1 f36"/>
                <a:gd name="f98" fmla="*/ f72 1 f36"/>
                <a:gd name="f99" fmla="*/ f73 1 f36"/>
                <a:gd name="f100" fmla="*/ f74 1 f35"/>
                <a:gd name="f101" fmla="*/ f75 1 f35"/>
                <a:gd name="f102" fmla="*/ f76 1 f36"/>
                <a:gd name="f103" fmla="*/ f77 1 f35"/>
                <a:gd name="f104" fmla="*/ f78 1 f35"/>
                <a:gd name="f105" fmla="*/ f79 1 f36"/>
                <a:gd name="f106" fmla="*/ f80 f30 1"/>
                <a:gd name="f107" fmla="*/ f81 f30 1"/>
                <a:gd name="f108" fmla="*/ f83 f31 1"/>
                <a:gd name="f109" fmla="*/ f82 f31 1"/>
                <a:gd name="f110" fmla="*/ f85 f30 1"/>
                <a:gd name="f111" fmla="*/ f86 f31 1"/>
                <a:gd name="f112" fmla="*/ f87 f30 1"/>
                <a:gd name="f113" fmla="*/ f88 f31 1"/>
                <a:gd name="f114" fmla="*/ f89 f30 1"/>
                <a:gd name="f115" fmla="*/ f90 f31 1"/>
                <a:gd name="f116" fmla="*/ f91 f30 1"/>
                <a:gd name="f117" fmla="*/ f92 f31 1"/>
                <a:gd name="f118" fmla="*/ f93 f30 1"/>
                <a:gd name="f119" fmla="*/ f94 f31 1"/>
                <a:gd name="f120" fmla="*/ f95 f31 1"/>
                <a:gd name="f121" fmla="*/ f96 f30 1"/>
                <a:gd name="f122" fmla="*/ f97 f31 1"/>
                <a:gd name="f123" fmla="*/ f98 f31 1"/>
                <a:gd name="f124" fmla="*/ f99 f31 1"/>
                <a:gd name="f125" fmla="*/ f100 f30 1"/>
                <a:gd name="f126" fmla="*/ f101 f30 1"/>
                <a:gd name="f127" fmla="*/ f102 f31 1"/>
                <a:gd name="f128" fmla="*/ f103 f30 1"/>
                <a:gd name="f129" fmla="*/ f104 f30 1"/>
                <a:gd name="f130" fmla="*/ f105 f31 1"/>
              </a:gdLst>
              <a:ahLst/>
              <a:cxnLst>
                <a:cxn ang="3cd4">
                  <a:pos x="hc" y="t"/>
                </a:cxn>
                <a:cxn ang="0">
                  <a:pos x="r" y="vc"/>
                </a:cxn>
                <a:cxn ang="cd4">
                  <a:pos x="hc" y="b"/>
                </a:cxn>
                <a:cxn ang="cd2">
                  <a:pos x="l" y="vc"/>
                </a:cxn>
                <a:cxn ang="f84">
                  <a:pos x="f110" y="f111"/>
                </a:cxn>
                <a:cxn ang="f84">
                  <a:pos x="f112" y="f113"/>
                </a:cxn>
                <a:cxn ang="f84">
                  <a:pos x="f114" y="f115"/>
                </a:cxn>
                <a:cxn ang="f84">
                  <a:pos x="f116" y="f117"/>
                </a:cxn>
                <a:cxn ang="f84">
                  <a:pos x="f118" y="f119"/>
                </a:cxn>
                <a:cxn ang="f84">
                  <a:pos x="f118" y="f120"/>
                </a:cxn>
                <a:cxn ang="f84">
                  <a:pos x="f121" y="f120"/>
                </a:cxn>
                <a:cxn ang="f84">
                  <a:pos x="f121" y="f122"/>
                </a:cxn>
                <a:cxn ang="f84">
                  <a:pos x="f118" y="f122"/>
                </a:cxn>
                <a:cxn ang="f84">
                  <a:pos x="f118" y="f123"/>
                </a:cxn>
                <a:cxn ang="f84">
                  <a:pos x="f116" y="f124"/>
                </a:cxn>
                <a:cxn ang="f84">
                  <a:pos x="f125" y="f122"/>
                </a:cxn>
                <a:cxn ang="f84">
                  <a:pos x="f126" y="f127"/>
                </a:cxn>
                <a:cxn ang="f84">
                  <a:pos x="f128" y="f127"/>
                </a:cxn>
                <a:cxn ang="f84">
                  <a:pos x="f110" y="f122"/>
                </a:cxn>
                <a:cxn ang="f84">
                  <a:pos x="f129" y="f130"/>
                </a:cxn>
                <a:cxn ang="f84">
                  <a:pos x="f110" y="f111"/>
                </a:cxn>
              </a:cxnLst>
              <a:rect l="f106" t="f109" r="f107" b="f108"/>
              <a:pathLst>
                <a:path w="23" h="39">
                  <a:moveTo>
                    <a:pt x="f8" y="f9"/>
                  </a:moveTo>
                  <a:cubicBezTo>
                    <a:pt x="f10" y="f11"/>
                    <a:pt x="f10" y="f11"/>
                    <a:pt x="f12" y="f11"/>
                  </a:cubicBezTo>
                  <a:cubicBezTo>
                    <a:pt x="f13" y="f11"/>
                    <a:pt x="f14" y="f15"/>
                    <a:pt x="f16" y="f15"/>
                  </a:cubicBezTo>
                  <a:cubicBezTo>
                    <a:pt x="f17" y="f15"/>
                    <a:pt x="f18" y="f11"/>
                    <a:pt x="f19" y="f19"/>
                  </a:cubicBezTo>
                  <a:cubicBezTo>
                    <a:pt x="f9" y="f20"/>
                    <a:pt x="f11" y="f21"/>
                    <a:pt x="f11" y="f14"/>
                  </a:cubicBezTo>
                  <a:cubicBezTo>
                    <a:pt x="f11" y="f7"/>
                    <a:pt x="f11" y="f7"/>
                    <a:pt x="f11" y="f7"/>
                  </a:cubicBezTo>
                  <a:cubicBezTo>
                    <a:pt x="f5" y="f7"/>
                    <a:pt x="f5" y="f7"/>
                    <a:pt x="f5" y="f7"/>
                  </a:cubicBezTo>
                  <a:cubicBezTo>
                    <a:pt x="f5" y="f22"/>
                    <a:pt x="f5" y="f22"/>
                    <a:pt x="f5" y="f22"/>
                  </a:cubicBezTo>
                  <a:cubicBezTo>
                    <a:pt x="f11" y="f22"/>
                    <a:pt x="f11" y="f22"/>
                    <a:pt x="f11" y="f22"/>
                  </a:cubicBezTo>
                  <a:cubicBezTo>
                    <a:pt x="f11" y="f23"/>
                    <a:pt x="f11" y="f23"/>
                    <a:pt x="f11" y="f23"/>
                  </a:cubicBezTo>
                  <a:cubicBezTo>
                    <a:pt x="f11" y="f24"/>
                    <a:pt x="f9" y="f25"/>
                    <a:pt x="f19" y="f25"/>
                  </a:cubicBezTo>
                  <a:cubicBezTo>
                    <a:pt x="f19" y="f26"/>
                    <a:pt x="f18" y="f26"/>
                    <a:pt x="f20" y="f22"/>
                  </a:cubicBezTo>
                  <a:cubicBezTo>
                    <a:pt x="f20" y="f22"/>
                    <a:pt x="f17" y="f22"/>
                    <a:pt x="f21" y="f5"/>
                  </a:cubicBezTo>
                  <a:cubicBezTo>
                    <a:pt x="f27" y="f5"/>
                    <a:pt x="f16" y="f5"/>
                    <a:pt x="f14" y="f5"/>
                  </a:cubicBezTo>
                  <a:cubicBezTo>
                    <a:pt x="f13" y="f5"/>
                    <a:pt x="f10" y="f5"/>
                    <a:pt x="f8" y="f22"/>
                  </a:cubicBezTo>
                  <a:cubicBezTo>
                    <a:pt x="f28" y="f22"/>
                    <a:pt x="f6" y="f22"/>
                    <a:pt x="f6" y="f26"/>
                  </a:cubicBez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6" name="Freeform 68">
              <a:extLst>
                <a:ext uri="{FF2B5EF4-FFF2-40B4-BE49-F238E27FC236}">
                  <a16:creationId xmlns:a16="http://schemas.microsoft.com/office/drawing/2014/main" id="{37B765FE-CD8E-B8F4-AAED-2E524FF4FB4C}"/>
                </a:ext>
              </a:extLst>
            </p:cNvPr>
            <p:cNvSpPr/>
            <p:nvPr/>
          </p:nvSpPr>
          <p:spPr>
            <a:xfrm>
              <a:off x="2543915" y="6259049"/>
              <a:ext cx="76681" cy="136007"/>
            </a:xfrm>
            <a:custGeom>
              <a:avLst/>
              <a:gdLst>
                <a:gd name="f0" fmla="val 10800000"/>
                <a:gd name="f1" fmla="val 5400000"/>
                <a:gd name="f2" fmla="val 180"/>
                <a:gd name="f3" fmla="val w"/>
                <a:gd name="f4" fmla="val h"/>
                <a:gd name="f5" fmla="val 0"/>
                <a:gd name="f6" fmla="val 44"/>
                <a:gd name="f7" fmla="val 78"/>
                <a:gd name="f8" fmla="val 31"/>
                <a:gd name="f9" fmla="val 19"/>
                <a:gd name="f10" fmla="val 50"/>
                <a:gd name="f11" fmla="val 10"/>
                <a:gd name="f12" fmla="val 61"/>
                <a:gd name="f13" fmla="val 6"/>
                <a:gd name="f14" fmla="val 47"/>
                <a:gd name="f15" fmla="val 28"/>
                <a:gd name="f16" fmla="val 22"/>
                <a:gd name="f17" fmla="val 41"/>
                <a:gd name="f18" fmla="val 26"/>
                <a:gd name="f19" fmla="+- 0 0 -90"/>
                <a:gd name="f20" fmla="*/ f3 1 44"/>
                <a:gd name="f21" fmla="*/ f4 1 78"/>
                <a:gd name="f22" fmla="+- f7 0 f5"/>
                <a:gd name="f23" fmla="+- f6 0 f5"/>
                <a:gd name="f24" fmla="*/ f19 f0 1"/>
                <a:gd name="f25" fmla="*/ f23 1 44"/>
                <a:gd name="f26" fmla="*/ f22 1 78"/>
                <a:gd name="f27" fmla="*/ 31 f23 1"/>
                <a:gd name="f28" fmla="*/ 78 f22 1"/>
                <a:gd name="f29" fmla="*/ 19 f23 1"/>
                <a:gd name="f30" fmla="*/ 50 f22 1"/>
                <a:gd name="f31" fmla="*/ 10 f23 1"/>
                <a:gd name="f32" fmla="*/ 61 f22 1"/>
                <a:gd name="f33" fmla="*/ 0 f23 1"/>
                <a:gd name="f34" fmla="*/ 6 f22 1"/>
                <a:gd name="f35" fmla="*/ 0 f22 1"/>
                <a:gd name="f36" fmla="*/ 47 f22 1"/>
                <a:gd name="f37" fmla="*/ 28 f23 1"/>
                <a:gd name="f38" fmla="*/ 22 f22 1"/>
                <a:gd name="f39" fmla="*/ 41 f23 1"/>
                <a:gd name="f40" fmla="*/ 26 f23 1"/>
                <a:gd name="f41" fmla="*/ 41 f22 1"/>
                <a:gd name="f42" fmla="*/ 44 f23 1"/>
                <a:gd name="f43" fmla="*/ f24 1 f2"/>
                <a:gd name="f44" fmla="*/ f27 1 44"/>
                <a:gd name="f45" fmla="*/ f28 1 78"/>
                <a:gd name="f46" fmla="*/ f29 1 44"/>
                <a:gd name="f47" fmla="*/ f30 1 78"/>
                <a:gd name="f48" fmla="*/ f31 1 44"/>
                <a:gd name="f49" fmla="*/ f32 1 78"/>
                <a:gd name="f50" fmla="*/ f33 1 44"/>
                <a:gd name="f51" fmla="*/ f34 1 78"/>
                <a:gd name="f52" fmla="*/ f35 1 78"/>
                <a:gd name="f53" fmla="*/ f36 1 78"/>
                <a:gd name="f54" fmla="*/ f37 1 44"/>
                <a:gd name="f55" fmla="*/ f38 1 78"/>
                <a:gd name="f56" fmla="*/ f39 1 44"/>
                <a:gd name="f57" fmla="*/ f40 1 44"/>
                <a:gd name="f58" fmla="*/ f41 1 78"/>
                <a:gd name="f59" fmla="*/ f42 1 44"/>
                <a:gd name="f60" fmla="*/ 0 1 f25"/>
                <a:gd name="f61" fmla="*/ f6 1 f25"/>
                <a:gd name="f62" fmla="*/ 0 1 f26"/>
                <a:gd name="f63" fmla="*/ f7 1 f26"/>
                <a:gd name="f64" fmla="+- f43 0 f1"/>
                <a:gd name="f65" fmla="*/ f44 1 f25"/>
                <a:gd name="f66" fmla="*/ f45 1 f26"/>
                <a:gd name="f67" fmla="*/ f46 1 f25"/>
                <a:gd name="f68" fmla="*/ f47 1 f26"/>
                <a:gd name="f69" fmla="*/ f48 1 f25"/>
                <a:gd name="f70" fmla="*/ f49 1 f26"/>
                <a:gd name="f71" fmla="*/ f50 1 f25"/>
                <a:gd name="f72" fmla="*/ f51 1 f26"/>
                <a:gd name="f73" fmla="*/ f52 1 f26"/>
                <a:gd name="f74" fmla="*/ f53 1 f26"/>
                <a:gd name="f75" fmla="*/ f54 1 f25"/>
                <a:gd name="f76" fmla="*/ f55 1 f26"/>
                <a:gd name="f77" fmla="*/ f56 1 f25"/>
                <a:gd name="f78" fmla="*/ f57 1 f25"/>
                <a:gd name="f79" fmla="*/ f58 1 f26"/>
                <a:gd name="f80" fmla="*/ f59 1 f25"/>
                <a:gd name="f81" fmla="*/ f60 f20 1"/>
                <a:gd name="f82" fmla="*/ f61 f20 1"/>
                <a:gd name="f83" fmla="*/ f63 f21 1"/>
                <a:gd name="f84" fmla="*/ f62 f21 1"/>
                <a:gd name="f85" fmla="*/ f65 f20 1"/>
                <a:gd name="f86" fmla="*/ f66 f21 1"/>
                <a:gd name="f87" fmla="*/ f67 f20 1"/>
                <a:gd name="f88" fmla="*/ f68 f21 1"/>
                <a:gd name="f89" fmla="*/ f69 f20 1"/>
                <a:gd name="f90" fmla="*/ f70 f21 1"/>
                <a:gd name="f91" fmla="*/ f71 f20 1"/>
                <a:gd name="f92" fmla="*/ f72 f21 1"/>
                <a:gd name="f93" fmla="*/ f73 f21 1"/>
                <a:gd name="f94" fmla="*/ f74 f21 1"/>
                <a:gd name="f95" fmla="*/ f75 f20 1"/>
                <a:gd name="f96" fmla="*/ f76 f21 1"/>
                <a:gd name="f97" fmla="*/ f77 f20 1"/>
                <a:gd name="f98" fmla="*/ f78 f20 1"/>
                <a:gd name="f99" fmla="*/ f79 f21 1"/>
                <a:gd name="f100" fmla="*/ f80 f20 1"/>
              </a:gdLst>
              <a:ahLst/>
              <a:cxnLst>
                <a:cxn ang="3cd4">
                  <a:pos x="hc" y="t"/>
                </a:cxn>
                <a:cxn ang="0">
                  <a:pos x="r" y="vc"/>
                </a:cxn>
                <a:cxn ang="cd4">
                  <a:pos x="hc" y="b"/>
                </a:cxn>
                <a:cxn ang="cd2">
                  <a:pos x="l" y="vc"/>
                </a:cxn>
                <a:cxn ang="f64">
                  <a:pos x="f85" y="f86"/>
                </a:cxn>
                <a:cxn ang="f64">
                  <a:pos x="f87" y="f88"/>
                </a:cxn>
                <a:cxn ang="f64">
                  <a:pos x="f89" y="f90"/>
                </a:cxn>
                <a:cxn ang="f64">
                  <a:pos x="f89" y="f86"/>
                </a:cxn>
                <a:cxn ang="f64">
                  <a:pos x="f91" y="f86"/>
                </a:cxn>
                <a:cxn ang="f64">
                  <a:pos x="f91" y="f92"/>
                </a:cxn>
                <a:cxn ang="f64">
                  <a:pos x="f89" y="f93"/>
                </a:cxn>
                <a:cxn ang="f64">
                  <a:pos x="f89" y="f94"/>
                </a:cxn>
                <a:cxn ang="f64">
                  <a:pos x="f95" y="f96"/>
                </a:cxn>
                <a:cxn ang="f64">
                  <a:pos x="f97" y="f96"/>
                </a:cxn>
                <a:cxn ang="f64">
                  <a:pos x="f98" y="f99"/>
                </a:cxn>
                <a:cxn ang="f64">
                  <a:pos x="f100" y="f86"/>
                </a:cxn>
                <a:cxn ang="f64">
                  <a:pos x="f85" y="f86"/>
                </a:cxn>
              </a:cxnLst>
              <a:rect l="f81" t="f84" r="f82" b="f83"/>
              <a:pathLst>
                <a:path w="44" h="78">
                  <a:moveTo>
                    <a:pt x="f8" y="f7"/>
                  </a:moveTo>
                  <a:lnTo>
                    <a:pt x="f9" y="f10"/>
                  </a:lnTo>
                  <a:lnTo>
                    <a:pt x="f11" y="f12"/>
                  </a:lnTo>
                  <a:lnTo>
                    <a:pt x="f11" y="f7"/>
                  </a:lnTo>
                  <a:lnTo>
                    <a:pt x="f5" y="f7"/>
                  </a:lnTo>
                  <a:lnTo>
                    <a:pt x="f5" y="f13"/>
                  </a:lnTo>
                  <a:lnTo>
                    <a:pt x="f11" y="f5"/>
                  </a:lnTo>
                  <a:lnTo>
                    <a:pt x="f11" y="f14"/>
                  </a:lnTo>
                  <a:lnTo>
                    <a:pt x="f15" y="f16"/>
                  </a:lnTo>
                  <a:lnTo>
                    <a:pt x="f17" y="f16"/>
                  </a:lnTo>
                  <a:lnTo>
                    <a:pt x="f18" y="f17"/>
                  </a:lnTo>
                  <a:lnTo>
                    <a:pt x="f6" y="f7"/>
                  </a:lnTo>
                  <a:lnTo>
                    <a:pt x="f8" y="f7"/>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7" name="Freeform 69">
              <a:extLst>
                <a:ext uri="{FF2B5EF4-FFF2-40B4-BE49-F238E27FC236}">
                  <a16:creationId xmlns:a16="http://schemas.microsoft.com/office/drawing/2014/main" id="{31147CF1-8D40-9DF7-49BB-5D47F341D50F}"/>
                </a:ext>
              </a:extLst>
            </p:cNvPr>
            <p:cNvSpPr/>
            <p:nvPr/>
          </p:nvSpPr>
          <p:spPr>
            <a:xfrm>
              <a:off x="2627564" y="6293924"/>
              <a:ext cx="74944" cy="102879"/>
            </a:xfrm>
            <a:custGeom>
              <a:avLst/>
              <a:gdLst>
                <a:gd name="f0" fmla="val 10800000"/>
                <a:gd name="f1" fmla="val 5400000"/>
                <a:gd name="f2" fmla="val 180"/>
                <a:gd name="f3" fmla="val w"/>
                <a:gd name="f4" fmla="val h"/>
                <a:gd name="f5" fmla="val 0"/>
                <a:gd name="f6" fmla="val 29"/>
                <a:gd name="f7" fmla="val 40"/>
                <a:gd name="f8" fmla="val 28"/>
                <a:gd name="f9" fmla="val 4"/>
                <a:gd name="f10" fmla="val 25"/>
                <a:gd name="f11" fmla="val 10"/>
                <a:gd name="f12" fmla="val 23"/>
                <a:gd name="f13" fmla="val 9"/>
                <a:gd name="f14" fmla="val 22"/>
                <a:gd name="f15" fmla="val 8"/>
                <a:gd name="f16" fmla="val 20"/>
                <a:gd name="f17" fmla="val 18"/>
                <a:gd name="f18" fmla="val 7"/>
                <a:gd name="f19" fmla="val 17"/>
                <a:gd name="f20" fmla="val 15"/>
                <a:gd name="f21" fmla="val 13"/>
                <a:gd name="f22" fmla="val 12"/>
                <a:gd name="f23" fmla="val 11"/>
                <a:gd name="f24" fmla="val 14"/>
                <a:gd name="f25" fmla="val 16"/>
                <a:gd name="f26" fmla="val 19"/>
                <a:gd name="f27" fmla="val 21"/>
                <a:gd name="f28" fmla="val 24"/>
                <a:gd name="f29" fmla="val 26"/>
                <a:gd name="f30" fmla="val 27"/>
                <a:gd name="f31" fmla="val 31"/>
                <a:gd name="f32" fmla="val 33"/>
                <a:gd name="f33" fmla="val 34"/>
                <a:gd name="f34" fmla="val 36"/>
                <a:gd name="f35" fmla="val 37"/>
                <a:gd name="f36" fmla="val 38"/>
                <a:gd name="f37" fmla="val 39"/>
                <a:gd name="f38" fmla="val 5"/>
                <a:gd name="f39" fmla="val 2"/>
                <a:gd name="f40" fmla="val 35"/>
                <a:gd name="f41" fmla="val 30"/>
                <a:gd name="f42" fmla="val 6"/>
                <a:gd name="f43" fmla="val 32"/>
                <a:gd name="f44" fmla="val 3"/>
                <a:gd name="f45" fmla="val 1"/>
                <a:gd name="f46" fmla="+- 0 0 -90"/>
                <a:gd name="f47" fmla="*/ f3 1 29"/>
                <a:gd name="f48" fmla="*/ f4 1 40"/>
                <a:gd name="f49" fmla="+- f7 0 f5"/>
                <a:gd name="f50" fmla="+- f6 0 f5"/>
                <a:gd name="f51" fmla="*/ f46 f0 1"/>
                <a:gd name="f52" fmla="*/ f50 1 29"/>
                <a:gd name="f53" fmla="*/ f49 1 40"/>
                <a:gd name="f54" fmla="*/ 28 f50 1"/>
                <a:gd name="f55" fmla="*/ 4 f49 1"/>
                <a:gd name="f56" fmla="*/ 25 f50 1"/>
                <a:gd name="f57" fmla="*/ 10 f49 1"/>
                <a:gd name="f58" fmla="*/ 20 f50 1"/>
                <a:gd name="f59" fmla="*/ 8 f49 1"/>
                <a:gd name="f60" fmla="*/ 15 f50 1"/>
                <a:gd name="f61" fmla="*/ 7 f49 1"/>
                <a:gd name="f62" fmla="*/ 11 f50 1"/>
                <a:gd name="f63" fmla="*/ 9 f50 1"/>
                <a:gd name="f64" fmla="*/ 10 f50 1"/>
                <a:gd name="f65" fmla="*/ 12 f49 1"/>
                <a:gd name="f66" fmla="*/ 13 f49 1"/>
                <a:gd name="f67" fmla="*/ 13 f50 1"/>
                <a:gd name="f68" fmla="*/ 14 f49 1"/>
                <a:gd name="f69" fmla="*/ 17 f50 1"/>
                <a:gd name="f70" fmla="*/ 16 f49 1"/>
                <a:gd name="f71" fmla="*/ 22 f50 1"/>
                <a:gd name="f72" fmla="*/ 18 f49 1"/>
                <a:gd name="f73" fmla="*/ 26 f50 1"/>
                <a:gd name="f74" fmla="*/ 21 f49 1"/>
                <a:gd name="f75" fmla="*/ 29 f50 1"/>
                <a:gd name="f76" fmla="*/ 24 f49 1"/>
                <a:gd name="f77" fmla="*/ 29 f49 1"/>
                <a:gd name="f78" fmla="*/ 34 f49 1"/>
                <a:gd name="f79" fmla="*/ 38 f49 1"/>
                <a:gd name="f80" fmla="*/ 21 f50 1"/>
                <a:gd name="f81" fmla="*/ 40 f49 1"/>
                <a:gd name="f82" fmla="*/ 7 f50 1"/>
                <a:gd name="f83" fmla="*/ 39 f49 1"/>
                <a:gd name="f84" fmla="*/ 0 f50 1"/>
                <a:gd name="f85" fmla="*/ 35 f49 1"/>
                <a:gd name="f86" fmla="*/ 4 f50 1"/>
                <a:gd name="f87" fmla="*/ 30 f49 1"/>
                <a:gd name="f88" fmla="*/ 32 f49 1"/>
                <a:gd name="f89" fmla="*/ 33 f49 1"/>
                <a:gd name="f90" fmla="*/ 27 f49 1"/>
                <a:gd name="f91" fmla="*/ 26 f49 1"/>
                <a:gd name="f92" fmla="*/ 23 f49 1"/>
                <a:gd name="f93" fmla="*/ 8 f50 1"/>
                <a:gd name="f94" fmla="*/ 20 f49 1"/>
                <a:gd name="f95" fmla="*/ 2 f50 1"/>
                <a:gd name="f96" fmla="*/ 15 f49 1"/>
                <a:gd name="f97" fmla="*/ 11 f49 1"/>
                <a:gd name="f98" fmla="*/ 3 f50 1"/>
                <a:gd name="f99" fmla="*/ 6 f49 1"/>
                <a:gd name="f100" fmla="*/ 6 f50 1"/>
                <a:gd name="f101" fmla="*/ 3 f49 1"/>
                <a:gd name="f102" fmla="*/ 1 f49 1"/>
                <a:gd name="f103" fmla="*/ 0 f49 1"/>
                <a:gd name="f104" fmla="*/ f51 1 f2"/>
                <a:gd name="f105" fmla="*/ f54 1 29"/>
                <a:gd name="f106" fmla="*/ f55 1 40"/>
                <a:gd name="f107" fmla="*/ f56 1 29"/>
                <a:gd name="f108" fmla="*/ f57 1 40"/>
                <a:gd name="f109" fmla="*/ f58 1 29"/>
                <a:gd name="f110" fmla="*/ f59 1 40"/>
                <a:gd name="f111" fmla="*/ f60 1 29"/>
                <a:gd name="f112" fmla="*/ f61 1 40"/>
                <a:gd name="f113" fmla="*/ f62 1 29"/>
                <a:gd name="f114" fmla="*/ f63 1 29"/>
                <a:gd name="f115" fmla="*/ f64 1 29"/>
                <a:gd name="f116" fmla="*/ f65 1 40"/>
                <a:gd name="f117" fmla="*/ f66 1 40"/>
                <a:gd name="f118" fmla="*/ f67 1 29"/>
                <a:gd name="f119" fmla="*/ f68 1 40"/>
                <a:gd name="f120" fmla="*/ f69 1 29"/>
                <a:gd name="f121" fmla="*/ f70 1 40"/>
                <a:gd name="f122" fmla="*/ f71 1 29"/>
                <a:gd name="f123" fmla="*/ f72 1 40"/>
                <a:gd name="f124" fmla="*/ f73 1 29"/>
                <a:gd name="f125" fmla="*/ f74 1 40"/>
                <a:gd name="f126" fmla="*/ f75 1 29"/>
                <a:gd name="f127" fmla="*/ f76 1 40"/>
                <a:gd name="f128" fmla="*/ f77 1 40"/>
                <a:gd name="f129" fmla="*/ f78 1 40"/>
                <a:gd name="f130" fmla="*/ f79 1 40"/>
                <a:gd name="f131" fmla="*/ f80 1 29"/>
                <a:gd name="f132" fmla="*/ f81 1 40"/>
                <a:gd name="f133" fmla="*/ f82 1 29"/>
                <a:gd name="f134" fmla="*/ f83 1 40"/>
                <a:gd name="f135" fmla="*/ f84 1 29"/>
                <a:gd name="f136" fmla="*/ f85 1 40"/>
                <a:gd name="f137" fmla="*/ f86 1 29"/>
                <a:gd name="f138" fmla="*/ f87 1 40"/>
                <a:gd name="f139" fmla="*/ f88 1 40"/>
                <a:gd name="f140" fmla="*/ f89 1 40"/>
                <a:gd name="f141" fmla="*/ f90 1 40"/>
                <a:gd name="f142" fmla="*/ f91 1 40"/>
                <a:gd name="f143" fmla="*/ f92 1 40"/>
                <a:gd name="f144" fmla="*/ f93 1 29"/>
                <a:gd name="f145" fmla="*/ f94 1 40"/>
                <a:gd name="f146" fmla="*/ f95 1 29"/>
                <a:gd name="f147" fmla="*/ f96 1 40"/>
                <a:gd name="f148" fmla="*/ f97 1 40"/>
                <a:gd name="f149" fmla="*/ f98 1 29"/>
                <a:gd name="f150" fmla="*/ f99 1 40"/>
                <a:gd name="f151" fmla="*/ f100 1 29"/>
                <a:gd name="f152" fmla="*/ f101 1 40"/>
                <a:gd name="f153" fmla="*/ f102 1 40"/>
                <a:gd name="f154" fmla="*/ f103 1 40"/>
                <a:gd name="f155" fmla="*/ 0 1 f52"/>
                <a:gd name="f156" fmla="*/ f6 1 f52"/>
                <a:gd name="f157" fmla="*/ 0 1 f53"/>
                <a:gd name="f158" fmla="*/ f7 1 f53"/>
                <a:gd name="f159" fmla="+- f104 0 f1"/>
                <a:gd name="f160" fmla="*/ f105 1 f52"/>
                <a:gd name="f161" fmla="*/ f106 1 f53"/>
                <a:gd name="f162" fmla="*/ f107 1 f52"/>
                <a:gd name="f163" fmla="*/ f108 1 f53"/>
                <a:gd name="f164" fmla="*/ f109 1 f52"/>
                <a:gd name="f165" fmla="*/ f110 1 f53"/>
                <a:gd name="f166" fmla="*/ f111 1 f52"/>
                <a:gd name="f167" fmla="*/ f112 1 f53"/>
                <a:gd name="f168" fmla="*/ f113 1 f52"/>
                <a:gd name="f169" fmla="*/ f114 1 f52"/>
                <a:gd name="f170" fmla="*/ f115 1 f52"/>
                <a:gd name="f171" fmla="*/ f116 1 f53"/>
                <a:gd name="f172" fmla="*/ f117 1 f53"/>
                <a:gd name="f173" fmla="*/ f118 1 f52"/>
                <a:gd name="f174" fmla="*/ f119 1 f53"/>
                <a:gd name="f175" fmla="*/ f120 1 f52"/>
                <a:gd name="f176" fmla="*/ f121 1 f53"/>
                <a:gd name="f177" fmla="*/ f122 1 f52"/>
                <a:gd name="f178" fmla="*/ f123 1 f53"/>
                <a:gd name="f179" fmla="*/ f124 1 f52"/>
                <a:gd name="f180" fmla="*/ f125 1 f53"/>
                <a:gd name="f181" fmla="*/ f126 1 f52"/>
                <a:gd name="f182" fmla="*/ f127 1 f53"/>
                <a:gd name="f183" fmla="*/ f128 1 f53"/>
                <a:gd name="f184" fmla="*/ f129 1 f53"/>
                <a:gd name="f185" fmla="*/ f130 1 f53"/>
                <a:gd name="f186" fmla="*/ f131 1 f52"/>
                <a:gd name="f187" fmla="*/ f132 1 f53"/>
                <a:gd name="f188" fmla="*/ f133 1 f52"/>
                <a:gd name="f189" fmla="*/ f134 1 f53"/>
                <a:gd name="f190" fmla="*/ f135 1 f52"/>
                <a:gd name="f191" fmla="*/ f136 1 f53"/>
                <a:gd name="f192" fmla="*/ f137 1 f52"/>
                <a:gd name="f193" fmla="*/ f138 1 f53"/>
                <a:gd name="f194" fmla="*/ f139 1 f53"/>
                <a:gd name="f195" fmla="*/ f140 1 f53"/>
                <a:gd name="f196" fmla="*/ f141 1 f53"/>
                <a:gd name="f197" fmla="*/ f142 1 f53"/>
                <a:gd name="f198" fmla="*/ f143 1 f53"/>
                <a:gd name="f199" fmla="*/ f144 1 f52"/>
                <a:gd name="f200" fmla="*/ f145 1 f53"/>
                <a:gd name="f201" fmla="*/ f146 1 f52"/>
                <a:gd name="f202" fmla="*/ f147 1 f53"/>
                <a:gd name="f203" fmla="*/ f148 1 f53"/>
                <a:gd name="f204" fmla="*/ f149 1 f52"/>
                <a:gd name="f205" fmla="*/ f150 1 f53"/>
                <a:gd name="f206" fmla="*/ f151 1 f52"/>
                <a:gd name="f207" fmla="*/ f152 1 f53"/>
                <a:gd name="f208" fmla="*/ f153 1 f53"/>
                <a:gd name="f209" fmla="*/ f154 1 f53"/>
                <a:gd name="f210" fmla="*/ f155 f47 1"/>
                <a:gd name="f211" fmla="*/ f156 f47 1"/>
                <a:gd name="f212" fmla="*/ f158 f48 1"/>
                <a:gd name="f213" fmla="*/ f157 f48 1"/>
                <a:gd name="f214" fmla="*/ f160 f47 1"/>
                <a:gd name="f215" fmla="*/ f161 f48 1"/>
                <a:gd name="f216" fmla="*/ f162 f47 1"/>
                <a:gd name="f217" fmla="*/ f163 f48 1"/>
                <a:gd name="f218" fmla="*/ f164 f47 1"/>
                <a:gd name="f219" fmla="*/ f165 f48 1"/>
                <a:gd name="f220" fmla="*/ f166 f47 1"/>
                <a:gd name="f221" fmla="*/ f167 f48 1"/>
                <a:gd name="f222" fmla="*/ f168 f47 1"/>
                <a:gd name="f223" fmla="*/ f169 f47 1"/>
                <a:gd name="f224" fmla="*/ f170 f47 1"/>
                <a:gd name="f225" fmla="*/ f171 f48 1"/>
                <a:gd name="f226" fmla="*/ f172 f48 1"/>
                <a:gd name="f227" fmla="*/ f173 f47 1"/>
                <a:gd name="f228" fmla="*/ f174 f48 1"/>
                <a:gd name="f229" fmla="*/ f175 f47 1"/>
                <a:gd name="f230" fmla="*/ f176 f48 1"/>
                <a:gd name="f231" fmla="*/ f177 f47 1"/>
                <a:gd name="f232" fmla="*/ f178 f48 1"/>
                <a:gd name="f233" fmla="*/ f179 f47 1"/>
                <a:gd name="f234" fmla="*/ f180 f48 1"/>
                <a:gd name="f235" fmla="*/ f181 f47 1"/>
                <a:gd name="f236" fmla="*/ f182 f48 1"/>
                <a:gd name="f237" fmla="*/ f183 f48 1"/>
                <a:gd name="f238" fmla="*/ f184 f48 1"/>
                <a:gd name="f239" fmla="*/ f185 f48 1"/>
                <a:gd name="f240" fmla="*/ f186 f47 1"/>
                <a:gd name="f241" fmla="*/ f187 f48 1"/>
                <a:gd name="f242" fmla="*/ f188 f47 1"/>
                <a:gd name="f243" fmla="*/ f189 f48 1"/>
                <a:gd name="f244" fmla="*/ f190 f47 1"/>
                <a:gd name="f245" fmla="*/ f191 f48 1"/>
                <a:gd name="f246" fmla="*/ f192 f47 1"/>
                <a:gd name="f247" fmla="*/ f193 f48 1"/>
                <a:gd name="f248" fmla="*/ f194 f48 1"/>
                <a:gd name="f249" fmla="*/ f195 f48 1"/>
                <a:gd name="f250" fmla="*/ f196 f48 1"/>
                <a:gd name="f251" fmla="*/ f197 f48 1"/>
                <a:gd name="f252" fmla="*/ f198 f48 1"/>
                <a:gd name="f253" fmla="*/ f199 f47 1"/>
                <a:gd name="f254" fmla="*/ f200 f48 1"/>
                <a:gd name="f255" fmla="*/ f201 f47 1"/>
                <a:gd name="f256" fmla="*/ f202 f48 1"/>
                <a:gd name="f257" fmla="*/ f203 f48 1"/>
                <a:gd name="f258" fmla="*/ f204 f47 1"/>
                <a:gd name="f259" fmla="*/ f205 f48 1"/>
                <a:gd name="f260" fmla="*/ f206 f47 1"/>
                <a:gd name="f261" fmla="*/ f207 f48 1"/>
                <a:gd name="f262" fmla="*/ f208 f48 1"/>
                <a:gd name="f263" fmla="*/ f209 f48 1"/>
              </a:gdLst>
              <a:ahLst/>
              <a:cxnLst>
                <a:cxn ang="3cd4">
                  <a:pos x="hc" y="t"/>
                </a:cxn>
                <a:cxn ang="0">
                  <a:pos x="r" y="vc"/>
                </a:cxn>
                <a:cxn ang="cd4">
                  <a:pos x="hc" y="b"/>
                </a:cxn>
                <a:cxn ang="cd2">
                  <a:pos x="l" y="vc"/>
                </a:cxn>
                <a:cxn ang="f159">
                  <a:pos x="f214" y="f215"/>
                </a:cxn>
                <a:cxn ang="f159">
                  <a:pos x="f216" y="f217"/>
                </a:cxn>
                <a:cxn ang="f159">
                  <a:pos x="f218" y="f219"/>
                </a:cxn>
                <a:cxn ang="f159">
                  <a:pos x="f220" y="f221"/>
                </a:cxn>
                <a:cxn ang="f159">
                  <a:pos x="f222" y="f219"/>
                </a:cxn>
                <a:cxn ang="f159">
                  <a:pos x="f223" y="f217"/>
                </a:cxn>
                <a:cxn ang="f159">
                  <a:pos x="f224" y="f225"/>
                </a:cxn>
                <a:cxn ang="f159">
                  <a:pos x="f222" y="f226"/>
                </a:cxn>
                <a:cxn ang="f159">
                  <a:pos x="f227" y="f228"/>
                </a:cxn>
                <a:cxn ang="f159">
                  <a:pos x="f229" y="f230"/>
                </a:cxn>
                <a:cxn ang="f159">
                  <a:pos x="f231" y="f232"/>
                </a:cxn>
                <a:cxn ang="f159">
                  <a:pos x="f233" y="f234"/>
                </a:cxn>
                <a:cxn ang="f159">
                  <a:pos x="f235" y="f236"/>
                </a:cxn>
                <a:cxn ang="f159">
                  <a:pos x="f235" y="f237"/>
                </a:cxn>
                <a:cxn ang="f159">
                  <a:pos x="f214" y="f238"/>
                </a:cxn>
                <a:cxn ang="f159">
                  <a:pos x="f216" y="f239"/>
                </a:cxn>
                <a:cxn ang="f159">
                  <a:pos x="f240" y="f241"/>
                </a:cxn>
                <a:cxn ang="f159">
                  <a:pos x="f220" y="f241"/>
                </a:cxn>
                <a:cxn ang="f159">
                  <a:pos x="f242" y="f243"/>
                </a:cxn>
                <a:cxn ang="f159">
                  <a:pos x="f244" y="f245"/>
                </a:cxn>
                <a:cxn ang="f159">
                  <a:pos x="f246" y="f247"/>
                </a:cxn>
                <a:cxn ang="f159">
                  <a:pos x="f223" y="f248"/>
                </a:cxn>
                <a:cxn ang="f159">
                  <a:pos x="f220" y="f249"/>
                </a:cxn>
                <a:cxn ang="f159">
                  <a:pos x="f218" y="f248"/>
                </a:cxn>
                <a:cxn ang="f159">
                  <a:pos x="f231" y="f237"/>
                </a:cxn>
                <a:cxn ang="f159">
                  <a:pos x="f240" y="f250"/>
                </a:cxn>
                <a:cxn ang="f159">
                  <a:pos x="f218" y="f251"/>
                </a:cxn>
                <a:cxn ang="f159">
                  <a:pos x="f229" y="f236"/>
                </a:cxn>
                <a:cxn ang="f159">
                  <a:pos x="f227" y="f252"/>
                </a:cxn>
                <a:cxn ang="f159">
                  <a:pos x="f253" y="f254"/>
                </a:cxn>
                <a:cxn ang="f159">
                  <a:pos x="f246" y="f232"/>
                </a:cxn>
                <a:cxn ang="f159">
                  <a:pos x="f255" y="f256"/>
                </a:cxn>
                <a:cxn ang="f159">
                  <a:pos x="f255" y="f257"/>
                </a:cxn>
                <a:cxn ang="f159">
                  <a:pos x="f258" y="f259"/>
                </a:cxn>
                <a:cxn ang="f159">
                  <a:pos x="f260" y="f261"/>
                </a:cxn>
                <a:cxn ang="f159">
                  <a:pos x="f224" y="f262"/>
                </a:cxn>
                <a:cxn ang="f159">
                  <a:pos x="f220" y="f263"/>
                </a:cxn>
                <a:cxn ang="f159">
                  <a:pos x="f231" y="f262"/>
                </a:cxn>
                <a:cxn ang="f159">
                  <a:pos x="f214" y="f215"/>
                </a:cxn>
              </a:cxnLst>
              <a:rect l="f210" t="f213" r="f211" b="f212"/>
              <a:pathLst>
                <a:path w="29" h="40">
                  <a:moveTo>
                    <a:pt x="f8" y="f9"/>
                  </a:moveTo>
                  <a:cubicBezTo>
                    <a:pt x="f10" y="f11"/>
                    <a:pt x="f10" y="f11"/>
                    <a:pt x="f10" y="f11"/>
                  </a:cubicBezTo>
                  <a:cubicBezTo>
                    <a:pt x="f12" y="f13"/>
                    <a:pt x="f14" y="f15"/>
                    <a:pt x="f16" y="f15"/>
                  </a:cubicBezTo>
                  <a:cubicBezTo>
                    <a:pt x="f17" y="f18"/>
                    <a:pt x="f19" y="f18"/>
                    <a:pt x="f20" y="f18"/>
                  </a:cubicBezTo>
                  <a:cubicBezTo>
                    <a:pt x="f21" y="f18"/>
                    <a:pt x="f22" y="f18"/>
                    <a:pt x="f23" y="f15"/>
                  </a:cubicBezTo>
                  <a:cubicBezTo>
                    <a:pt x="f11" y="f15"/>
                    <a:pt x="f13" y="f13"/>
                    <a:pt x="f13" y="f11"/>
                  </a:cubicBezTo>
                  <a:cubicBezTo>
                    <a:pt x="f13" y="f23"/>
                    <a:pt x="f11" y="f23"/>
                    <a:pt x="f11" y="f22"/>
                  </a:cubicBezTo>
                  <a:cubicBezTo>
                    <a:pt x="f11" y="f22"/>
                    <a:pt x="f11" y="f21"/>
                    <a:pt x="f23" y="f21"/>
                  </a:cubicBezTo>
                  <a:cubicBezTo>
                    <a:pt x="f23" y="f21"/>
                    <a:pt x="f22" y="f24"/>
                    <a:pt x="f21" y="f24"/>
                  </a:cubicBezTo>
                  <a:cubicBezTo>
                    <a:pt x="f24" y="f20"/>
                    <a:pt x="f20" y="f20"/>
                    <a:pt x="f19" y="f25"/>
                  </a:cubicBezTo>
                  <a:cubicBezTo>
                    <a:pt x="f26" y="f19"/>
                    <a:pt x="f27" y="f17"/>
                    <a:pt x="f14" y="f17"/>
                  </a:cubicBezTo>
                  <a:cubicBezTo>
                    <a:pt x="f28" y="f26"/>
                    <a:pt x="f10" y="f16"/>
                    <a:pt x="f29" y="f27"/>
                  </a:cubicBezTo>
                  <a:cubicBezTo>
                    <a:pt x="f30" y="f14"/>
                    <a:pt x="f8" y="f12"/>
                    <a:pt x="f6" y="f28"/>
                  </a:cubicBezTo>
                  <a:cubicBezTo>
                    <a:pt x="f6" y="f10"/>
                    <a:pt x="f6" y="f30"/>
                    <a:pt x="f6" y="f6"/>
                  </a:cubicBezTo>
                  <a:cubicBezTo>
                    <a:pt x="f6" y="f31"/>
                    <a:pt x="f6" y="f32"/>
                    <a:pt x="f8" y="f33"/>
                  </a:cubicBezTo>
                  <a:cubicBezTo>
                    <a:pt x="f8" y="f34"/>
                    <a:pt x="f29" y="f35"/>
                    <a:pt x="f10" y="f36"/>
                  </a:cubicBezTo>
                  <a:cubicBezTo>
                    <a:pt x="f28" y="f37"/>
                    <a:pt x="f14" y="f37"/>
                    <a:pt x="f27" y="f7"/>
                  </a:cubicBezTo>
                  <a:cubicBezTo>
                    <a:pt x="f26" y="f7"/>
                    <a:pt x="f19" y="f7"/>
                    <a:pt x="f20" y="f7"/>
                  </a:cubicBezTo>
                  <a:cubicBezTo>
                    <a:pt x="f21" y="f7"/>
                    <a:pt x="f11" y="f7"/>
                    <a:pt x="f18" y="f37"/>
                  </a:cubicBezTo>
                  <a:cubicBezTo>
                    <a:pt x="f38" y="f36"/>
                    <a:pt x="f39" y="f35"/>
                    <a:pt x="f5" y="f40"/>
                  </a:cubicBezTo>
                  <a:cubicBezTo>
                    <a:pt x="f9" y="f41"/>
                    <a:pt x="f9" y="f41"/>
                    <a:pt x="f9" y="f41"/>
                  </a:cubicBezTo>
                  <a:cubicBezTo>
                    <a:pt x="f42" y="f31"/>
                    <a:pt x="f18" y="f43"/>
                    <a:pt x="f13" y="f43"/>
                  </a:cubicBezTo>
                  <a:cubicBezTo>
                    <a:pt x="f23" y="f32"/>
                    <a:pt x="f21" y="f32"/>
                    <a:pt x="f20" y="f32"/>
                  </a:cubicBezTo>
                  <a:cubicBezTo>
                    <a:pt x="f19" y="f32"/>
                    <a:pt x="f26" y="f32"/>
                    <a:pt x="f16" y="f43"/>
                  </a:cubicBezTo>
                  <a:cubicBezTo>
                    <a:pt x="f27" y="f31"/>
                    <a:pt x="f14" y="f41"/>
                    <a:pt x="f14" y="f6"/>
                  </a:cubicBezTo>
                  <a:cubicBezTo>
                    <a:pt x="f14" y="f8"/>
                    <a:pt x="f14" y="f8"/>
                    <a:pt x="f27" y="f30"/>
                  </a:cubicBezTo>
                  <a:cubicBezTo>
                    <a:pt x="f27" y="f30"/>
                    <a:pt x="f16" y="f29"/>
                    <a:pt x="f16" y="f29"/>
                  </a:cubicBezTo>
                  <a:cubicBezTo>
                    <a:pt x="f26" y="f10"/>
                    <a:pt x="f17" y="f10"/>
                    <a:pt x="f19" y="f28"/>
                  </a:cubicBezTo>
                  <a:cubicBezTo>
                    <a:pt x="f25" y="f28"/>
                    <a:pt x="f20" y="f12"/>
                    <a:pt x="f21" y="f12"/>
                  </a:cubicBezTo>
                  <a:cubicBezTo>
                    <a:pt x="f23" y="f14"/>
                    <a:pt x="f13" y="f27"/>
                    <a:pt x="f15" y="f16"/>
                  </a:cubicBezTo>
                  <a:cubicBezTo>
                    <a:pt x="f42" y="f26"/>
                    <a:pt x="f38" y="f26"/>
                    <a:pt x="f9" y="f17"/>
                  </a:cubicBezTo>
                  <a:cubicBezTo>
                    <a:pt x="f44" y="f19"/>
                    <a:pt x="f44" y="f25"/>
                    <a:pt x="f39" y="f20"/>
                  </a:cubicBezTo>
                  <a:cubicBezTo>
                    <a:pt x="f39" y="f21"/>
                    <a:pt x="f39" y="f22"/>
                    <a:pt x="f39" y="f23"/>
                  </a:cubicBezTo>
                  <a:cubicBezTo>
                    <a:pt x="f39" y="f13"/>
                    <a:pt x="f39" y="f18"/>
                    <a:pt x="f44" y="f42"/>
                  </a:cubicBezTo>
                  <a:cubicBezTo>
                    <a:pt x="f44" y="f38"/>
                    <a:pt x="f9" y="f9"/>
                    <a:pt x="f42" y="f44"/>
                  </a:cubicBezTo>
                  <a:cubicBezTo>
                    <a:pt x="f18" y="f39"/>
                    <a:pt x="f15" y="f45"/>
                    <a:pt x="f11" y="f45"/>
                  </a:cubicBezTo>
                  <a:cubicBezTo>
                    <a:pt x="f23" y="f5"/>
                    <a:pt x="f21" y="f5"/>
                    <a:pt x="f20" y="f5"/>
                  </a:cubicBezTo>
                  <a:cubicBezTo>
                    <a:pt x="f19" y="f5"/>
                    <a:pt x="f16" y="f5"/>
                    <a:pt x="f14" y="f45"/>
                  </a:cubicBezTo>
                  <a:cubicBezTo>
                    <a:pt x="f28" y="f39"/>
                    <a:pt x="f29" y="f44"/>
                    <a:pt x="f8" y="f9"/>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sp>
          <p:nvSpPr>
            <p:cNvPr id="68" name="Freeform 70">
              <a:extLst>
                <a:ext uri="{FF2B5EF4-FFF2-40B4-BE49-F238E27FC236}">
                  <a16:creationId xmlns:a16="http://schemas.microsoft.com/office/drawing/2014/main" id="{3056B9D1-8696-2930-A9B9-1AE644CBD08F}"/>
                </a:ext>
              </a:extLst>
            </p:cNvPr>
            <p:cNvSpPr/>
            <p:nvPr/>
          </p:nvSpPr>
          <p:spPr>
            <a:xfrm>
              <a:off x="2721675" y="6365421"/>
              <a:ext cx="27880" cy="31391"/>
            </a:xfrm>
            <a:custGeom>
              <a:avLst/>
              <a:gdLst>
                <a:gd name="f0" fmla="val 10800000"/>
                <a:gd name="f1" fmla="val 5400000"/>
                <a:gd name="f2" fmla="val 180"/>
                <a:gd name="f3" fmla="val w"/>
                <a:gd name="f4" fmla="val h"/>
                <a:gd name="f5" fmla="val 0"/>
                <a:gd name="f6" fmla="val 11"/>
                <a:gd name="f7" fmla="val 12"/>
                <a:gd name="f8" fmla="val 6"/>
                <a:gd name="f9" fmla="val 7"/>
                <a:gd name="f10" fmla="val 8"/>
                <a:gd name="f11" fmla="val 9"/>
                <a:gd name="f12" fmla="val 10"/>
                <a:gd name="f13" fmla="val 5"/>
                <a:gd name="f14" fmla="val 4"/>
                <a:gd name="f15" fmla="val 3"/>
                <a:gd name="f16" fmla="val 2"/>
                <a:gd name="f17" fmla="val 1"/>
                <a:gd name="f18" fmla="+- 0 0 -90"/>
                <a:gd name="f19" fmla="*/ f3 1 11"/>
                <a:gd name="f20" fmla="*/ f4 1 12"/>
                <a:gd name="f21" fmla="+- f7 0 f5"/>
                <a:gd name="f22" fmla="+- f6 0 f5"/>
                <a:gd name="f23" fmla="*/ f18 f0 1"/>
                <a:gd name="f24" fmla="*/ f22 1 11"/>
                <a:gd name="f25" fmla="*/ f21 1 12"/>
                <a:gd name="f26" fmla="*/ 11 f22 1"/>
                <a:gd name="f27" fmla="*/ 6 f21 1"/>
                <a:gd name="f28" fmla="*/ 9 f21 1"/>
                <a:gd name="f29" fmla="*/ 10 f22 1"/>
                <a:gd name="f30" fmla="*/ 10 f21 1"/>
                <a:gd name="f31" fmla="*/ 8 f22 1"/>
                <a:gd name="f32" fmla="*/ 12 f21 1"/>
                <a:gd name="f33" fmla="*/ 6 f22 1"/>
                <a:gd name="f34" fmla="*/ 3 f22 1"/>
                <a:gd name="f35" fmla="*/ 1 f22 1"/>
                <a:gd name="f36" fmla="*/ 0 f22 1"/>
                <a:gd name="f37" fmla="*/ 4 f21 1"/>
                <a:gd name="f38" fmla="*/ 2 f21 1"/>
                <a:gd name="f39" fmla="*/ 1 f21 1"/>
                <a:gd name="f40" fmla="*/ 0 f21 1"/>
                <a:gd name="f41" fmla="*/ f23 1 f2"/>
                <a:gd name="f42" fmla="*/ f26 1 11"/>
                <a:gd name="f43" fmla="*/ f27 1 12"/>
                <a:gd name="f44" fmla="*/ f28 1 12"/>
                <a:gd name="f45" fmla="*/ f29 1 11"/>
                <a:gd name="f46" fmla="*/ f30 1 12"/>
                <a:gd name="f47" fmla="*/ f31 1 11"/>
                <a:gd name="f48" fmla="*/ f32 1 12"/>
                <a:gd name="f49" fmla="*/ f33 1 11"/>
                <a:gd name="f50" fmla="*/ f34 1 11"/>
                <a:gd name="f51" fmla="*/ f35 1 11"/>
                <a:gd name="f52" fmla="*/ f36 1 11"/>
                <a:gd name="f53" fmla="*/ f37 1 12"/>
                <a:gd name="f54" fmla="*/ f38 1 12"/>
                <a:gd name="f55" fmla="*/ f39 1 12"/>
                <a:gd name="f56" fmla="*/ f40 1 12"/>
                <a:gd name="f57" fmla="*/ 0 1 f24"/>
                <a:gd name="f58" fmla="*/ f6 1 f24"/>
                <a:gd name="f59" fmla="*/ 0 1 f25"/>
                <a:gd name="f60" fmla="*/ f7 1 f25"/>
                <a:gd name="f61" fmla="+- f41 0 f1"/>
                <a:gd name="f62" fmla="*/ f42 1 f24"/>
                <a:gd name="f63" fmla="*/ f43 1 f25"/>
                <a:gd name="f64" fmla="*/ f44 1 f25"/>
                <a:gd name="f65" fmla="*/ f45 1 f24"/>
                <a:gd name="f66" fmla="*/ f46 1 f25"/>
                <a:gd name="f67" fmla="*/ f47 1 f24"/>
                <a:gd name="f68" fmla="*/ f48 1 f25"/>
                <a:gd name="f69" fmla="*/ f49 1 f24"/>
                <a:gd name="f70" fmla="*/ f50 1 f24"/>
                <a:gd name="f71" fmla="*/ f51 1 f24"/>
                <a:gd name="f72" fmla="*/ f52 1 f24"/>
                <a:gd name="f73" fmla="*/ f53 1 f25"/>
                <a:gd name="f74" fmla="*/ f54 1 f25"/>
                <a:gd name="f75" fmla="*/ f55 1 f25"/>
                <a:gd name="f76" fmla="*/ f56 1 f25"/>
                <a:gd name="f77" fmla="*/ f57 f19 1"/>
                <a:gd name="f78" fmla="*/ f58 f19 1"/>
                <a:gd name="f79" fmla="*/ f60 f20 1"/>
                <a:gd name="f80" fmla="*/ f59 f20 1"/>
                <a:gd name="f81" fmla="*/ f62 f19 1"/>
                <a:gd name="f82" fmla="*/ f63 f20 1"/>
                <a:gd name="f83" fmla="*/ f64 f20 1"/>
                <a:gd name="f84" fmla="*/ f65 f19 1"/>
                <a:gd name="f85" fmla="*/ f66 f20 1"/>
                <a:gd name="f86" fmla="*/ f67 f19 1"/>
                <a:gd name="f87" fmla="*/ f68 f20 1"/>
                <a:gd name="f88" fmla="*/ f69 f19 1"/>
                <a:gd name="f89" fmla="*/ f70 f19 1"/>
                <a:gd name="f90" fmla="*/ f71 f19 1"/>
                <a:gd name="f91" fmla="*/ f72 f19 1"/>
                <a:gd name="f92" fmla="*/ f73 f20 1"/>
                <a:gd name="f93" fmla="*/ f74 f20 1"/>
                <a:gd name="f94" fmla="*/ f75 f20 1"/>
                <a:gd name="f95" fmla="*/ f76 f20 1"/>
              </a:gdLst>
              <a:ahLst/>
              <a:cxnLst>
                <a:cxn ang="3cd4">
                  <a:pos x="hc" y="t"/>
                </a:cxn>
                <a:cxn ang="0">
                  <a:pos x="r" y="vc"/>
                </a:cxn>
                <a:cxn ang="cd4">
                  <a:pos x="hc" y="b"/>
                </a:cxn>
                <a:cxn ang="cd2">
                  <a:pos x="l" y="vc"/>
                </a:cxn>
                <a:cxn ang="f61">
                  <a:pos x="f81" y="f82"/>
                </a:cxn>
                <a:cxn ang="f61">
                  <a:pos x="f81" y="f83"/>
                </a:cxn>
                <a:cxn ang="f61">
                  <a:pos x="f84" y="f85"/>
                </a:cxn>
                <a:cxn ang="f61">
                  <a:pos x="f86" y="f87"/>
                </a:cxn>
                <a:cxn ang="f61">
                  <a:pos x="f88" y="f87"/>
                </a:cxn>
                <a:cxn ang="f61">
                  <a:pos x="f89" y="f87"/>
                </a:cxn>
                <a:cxn ang="f61">
                  <a:pos x="f90" y="f85"/>
                </a:cxn>
                <a:cxn ang="f61">
                  <a:pos x="f91" y="f83"/>
                </a:cxn>
                <a:cxn ang="f61">
                  <a:pos x="f91" y="f82"/>
                </a:cxn>
                <a:cxn ang="f61">
                  <a:pos x="f91" y="f92"/>
                </a:cxn>
                <a:cxn ang="f61">
                  <a:pos x="f90" y="f93"/>
                </a:cxn>
                <a:cxn ang="f61">
                  <a:pos x="f89" y="f94"/>
                </a:cxn>
                <a:cxn ang="f61">
                  <a:pos x="f88" y="f95"/>
                </a:cxn>
                <a:cxn ang="f61">
                  <a:pos x="f86" y="f94"/>
                </a:cxn>
                <a:cxn ang="f61">
                  <a:pos x="f84" y="f93"/>
                </a:cxn>
                <a:cxn ang="f61">
                  <a:pos x="f81" y="f92"/>
                </a:cxn>
                <a:cxn ang="f61">
                  <a:pos x="f81" y="f82"/>
                </a:cxn>
              </a:cxnLst>
              <a:rect l="f77" t="f80" r="f78" b="f79"/>
              <a:pathLst>
                <a:path w="11" h="12">
                  <a:moveTo>
                    <a:pt x="f6" y="f8"/>
                  </a:moveTo>
                  <a:cubicBezTo>
                    <a:pt x="f6" y="f9"/>
                    <a:pt x="f6" y="f10"/>
                    <a:pt x="f6" y="f11"/>
                  </a:cubicBezTo>
                  <a:cubicBezTo>
                    <a:pt x="f6" y="f11"/>
                    <a:pt x="f12" y="f12"/>
                    <a:pt x="f12" y="f12"/>
                  </a:cubicBezTo>
                  <a:cubicBezTo>
                    <a:pt x="f11" y="f6"/>
                    <a:pt x="f11" y="f6"/>
                    <a:pt x="f10" y="f7"/>
                  </a:cubicBezTo>
                  <a:cubicBezTo>
                    <a:pt x="f9" y="f7"/>
                    <a:pt x="f8" y="f7"/>
                    <a:pt x="f8" y="f7"/>
                  </a:cubicBezTo>
                  <a:cubicBezTo>
                    <a:pt x="f13" y="f7"/>
                    <a:pt x="f14" y="f7"/>
                    <a:pt x="f15" y="f7"/>
                  </a:cubicBezTo>
                  <a:cubicBezTo>
                    <a:pt x="f15" y="f6"/>
                    <a:pt x="f16" y="f6"/>
                    <a:pt x="f17" y="f12"/>
                  </a:cubicBezTo>
                  <a:cubicBezTo>
                    <a:pt x="f17" y="f12"/>
                    <a:pt x="f17" y="f11"/>
                    <a:pt x="f5" y="f11"/>
                  </a:cubicBezTo>
                  <a:cubicBezTo>
                    <a:pt x="f5" y="f10"/>
                    <a:pt x="f5" y="f9"/>
                    <a:pt x="f5" y="f8"/>
                  </a:cubicBezTo>
                  <a:cubicBezTo>
                    <a:pt x="f5" y="f8"/>
                    <a:pt x="f5" y="f13"/>
                    <a:pt x="f5" y="f14"/>
                  </a:cubicBezTo>
                  <a:cubicBezTo>
                    <a:pt x="f17" y="f15"/>
                    <a:pt x="f17" y="f15"/>
                    <a:pt x="f17" y="f16"/>
                  </a:cubicBezTo>
                  <a:cubicBezTo>
                    <a:pt x="f16" y="f16"/>
                    <a:pt x="f15" y="f17"/>
                    <a:pt x="f15" y="f17"/>
                  </a:cubicBezTo>
                  <a:cubicBezTo>
                    <a:pt x="f14" y="f17"/>
                    <a:pt x="f13" y="f5"/>
                    <a:pt x="f8" y="f5"/>
                  </a:cubicBezTo>
                  <a:cubicBezTo>
                    <a:pt x="f8" y="f5"/>
                    <a:pt x="f9" y="f17"/>
                    <a:pt x="f10" y="f17"/>
                  </a:cubicBezTo>
                  <a:cubicBezTo>
                    <a:pt x="f11" y="f17"/>
                    <a:pt x="f11" y="f16"/>
                    <a:pt x="f12" y="f16"/>
                  </a:cubicBezTo>
                  <a:cubicBezTo>
                    <a:pt x="f12" y="f15"/>
                    <a:pt x="f6" y="f15"/>
                    <a:pt x="f6" y="f14"/>
                  </a:cubicBezTo>
                  <a:cubicBezTo>
                    <a:pt x="f6" y="f13"/>
                    <a:pt x="f6" y="f8"/>
                    <a:pt x="f6" y="f8"/>
                  </a:cubicBez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FFFFFF"/>
                </a:solidFill>
                <a:uFillTx/>
                <a:latin typeface="EYInterstate Light"/>
              </a:endParaRPr>
            </a:p>
          </p:txBody>
        </p:sp>
      </p:grpSp>
      <p:sp>
        <p:nvSpPr>
          <p:cNvPr id="69" name="Title 1">
            <a:extLst>
              <a:ext uri="{FF2B5EF4-FFF2-40B4-BE49-F238E27FC236}">
                <a16:creationId xmlns:a16="http://schemas.microsoft.com/office/drawing/2014/main" id="{75CBA8C7-60E1-0CB5-5409-DD711F66B591}"/>
              </a:ext>
            </a:extLst>
          </p:cNvPr>
          <p:cNvSpPr txBox="1">
            <a:spLocks noGrp="1"/>
          </p:cNvSpPr>
          <p:nvPr>
            <p:ph type="title"/>
          </p:nvPr>
        </p:nvSpPr>
        <p:spPr>
          <a:xfrm>
            <a:off x="944392" y="2158331"/>
            <a:ext cx="4781388" cy="860395"/>
          </a:xfrm>
        </p:spPr>
        <p:txBody>
          <a:bodyPr/>
          <a:lstStyle>
            <a:lvl1pPr>
              <a:defRPr sz="2999"/>
            </a:lvl1pPr>
          </a:lstStyle>
          <a:p>
            <a:pPr lvl="0"/>
            <a:r>
              <a:rPr lang="en-US"/>
              <a:t>Click to edit Master title style</a:t>
            </a:r>
            <a:endParaRPr lang="en-GB"/>
          </a:p>
        </p:txBody>
      </p:sp>
      <p:sp>
        <p:nvSpPr>
          <p:cNvPr id="70" name="Subtitle 2">
            <a:extLst>
              <a:ext uri="{FF2B5EF4-FFF2-40B4-BE49-F238E27FC236}">
                <a16:creationId xmlns:a16="http://schemas.microsoft.com/office/drawing/2014/main" id="{E5974698-D054-3B0C-EB8F-5D9641191408}"/>
              </a:ext>
            </a:extLst>
          </p:cNvPr>
          <p:cNvSpPr txBox="1">
            <a:spLocks noGrp="1"/>
          </p:cNvSpPr>
          <p:nvPr>
            <p:ph type="subTitle" idx="4294967295"/>
          </p:nvPr>
        </p:nvSpPr>
        <p:spPr>
          <a:xfrm>
            <a:off x="944584" y="3200326"/>
            <a:ext cx="4805528" cy="645740"/>
          </a:xfrm>
        </p:spPr>
        <p:txBody>
          <a:bodyPr/>
          <a:lstStyle>
            <a:lvl1pPr marL="0" indent="0">
              <a:buNone/>
              <a:defRPr>
                <a:cs typeface="Arial" pitchFamily="34"/>
              </a:defRPr>
            </a:lvl1pPr>
          </a:lstStyle>
          <a:p>
            <a:pPr lvl="0"/>
            <a:r>
              <a:rPr lang="en-US"/>
              <a:t>Click to edit Master subtitle style</a:t>
            </a:r>
            <a:endParaRPr lang="en-GB"/>
          </a:p>
        </p:txBody>
      </p:sp>
      <p:sp>
        <p:nvSpPr>
          <p:cNvPr id="71" name="Freeform: Shape 2">
            <a:extLst>
              <a:ext uri="{FF2B5EF4-FFF2-40B4-BE49-F238E27FC236}">
                <a16:creationId xmlns:a16="http://schemas.microsoft.com/office/drawing/2014/main" id="{3A36F378-B4AF-AF5C-6BF0-6D9229D958CB}"/>
              </a:ext>
            </a:extLst>
          </p:cNvPr>
          <p:cNvSpPr/>
          <p:nvPr/>
        </p:nvSpPr>
        <p:spPr>
          <a:xfrm>
            <a:off x="489112" y="723656"/>
            <a:ext cx="5677985" cy="3452893"/>
          </a:xfrm>
          <a:custGeom>
            <a:avLst/>
            <a:gdLst>
              <a:gd name="f0" fmla="val 10800000"/>
              <a:gd name="f1" fmla="val 5400000"/>
              <a:gd name="f2" fmla="val 180"/>
              <a:gd name="f3" fmla="val w"/>
              <a:gd name="f4" fmla="val h"/>
              <a:gd name="f5" fmla="val 0"/>
              <a:gd name="f6" fmla="val 5680945"/>
              <a:gd name="f7" fmla="val 3452894"/>
              <a:gd name="f8" fmla="val 8749"/>
              <a:gd name="f9" fmla="val 1021520"/>
              <a:gd name="f10" fmla="val 3164181"/>
              <a:gd name="f11" fmla="val 151414"/>
              <a:gd name="f12" fmla="val 1140155"/>
              <a:gd name="f13" fmla="val 5534897"/>
              <a:gd name="f14" fmla="val 179294"/>
              <a:gd name="f15" fmla="val 3306846"/>
              <a:gd name="f16" fmla="val 864624"/>
              <a:gd name="f17" fmla="val 3449395"/>
              <a:gd name="f18" fmla="val 5677562"/>
              <a:gd name="f19" fmla="+- 0 0 -90"/>
              <a:gd name="f20" fmla="*/ f3 1 5680945"/>
              <a:gd name="f21" fmla="*/ f4 1 3452894"/>
              <a:gd name="f22" fmla="+- f7 0 f5"/>
              <a:gd name="f23" fmla="+- f6 0 f5"/>
              <a:gd name="f24" fmla="*/ f19 f0 1"/>
              <a:gd name="f25" fmla="*/ f23 1 5680945"/>
              <a:gd name="f26" fmla="*/ f22 1 3452894"/>
              <a:gd name="f27" fmla="*/ 8749 f23 1"/>
              <a:gd name="f28" fmla="*/ 1021520 f22 1"/>
              <a:gd name="f29" fmla="*/ 3164181 f22 1"/>
              <a:gd name="f30" fmla="*/ 151414 f23 1"/>
              <a:gd name="f31" fmla="*/ 1140155 f22 1"/>
              <a:gd name="f32" fmla="*/ 5534897 f23 1"/>
              <a:gd name="f33" fmla="*/ 179294 f22 1"/>
              <a:gd name="f34" fmla="*/ 3306846 f22 1"/>
              <a:gd name="f35" fmla="*/ 864624 f23 1"/>
              <a:gd name="f36" fmla="*/ 3449395 f22 1"/>
              <a:gd name="f37" fmla="*/ 5677562 f23 1"/>
              <a:gd name="f38" fmla="*/ 8749 f22 1"/>
              <a:gd name="f39" fmla="*/ f24 1 f2"/>
              <a:gd name="f40" fmla="*/ f27 1 5680945"/>
              <a:gd name="f41" fmla="*/ f28 1 3452894"/>
              <a:gd name="f42" fmla="*/ f29 1 3452894"/>
              <a:gd name="f43" fmla="*/ f30 1 5680945"/>
              <a:gd name="f44" fmla="*/ f31 1 3452894"/>
              <a:gd name="f45" fmla="*/ f32 1 5680945"/>
              <a:gd name="f46" fmla="*/ f33 1 3452894"/>
              <a:gd name="f47" fmla="*/ f34 1 3452894"/>
              <a:gd name="f48" fmla="*/ f35 1 5680945"/>
              <a:gd name="f49" fmla="*/ f36 1 3452894"/>
              <a:gd name="f50" fmla="*/ f37 1 5680945"/>
              <a:gd name="f51" fmla="*/ f38 1 3452894"/>
              <a:gd name="f52" fmla="*/ f5 1 f25"/>
              <a:gd name="f53" fmla="*/ f6 1 f25"/>
              <a:gd name="f54" fmla="*/ f5 1 f26"/>
              <a:gd name="f55" fmla="*/ f7 1 f26"/>
              <a:gd name="f56" fmla="+- f39 0 f1"/>
              <a:gd name="f57" fmla="*/ f40 1 f25"/>
              <a:gd name="f58" fmla="*/ f41 1 f26"/>
              <a:gd name="f59" fmla="*/ f42 1 f26"/>
              <a:gd name="f60" fmla="*/ f43 1 f25"/>
              <a:gd name="f61" fmla="*/ f44 1 f26"/>
              <a:gd name="f62" fmla="*/ f45 1 f25"/>
              <a:gd name="f63" fmla="*/ f46 1 f26"/>
              <a:gd name="f64" fmla="*/ f47 1 f26"/>
              <a:gd name="f65" fmla="*/ f48 1 f25"/>
              <a:gd name="f66" fmla="*/ f49 1 f26"/>
              <a:gd name="f67" fmla="*/ f50 1 f25"/>
              <a:gd name="f68" fmla="*/ f51 1 f26"/>
              <a:gd name="f69" fmla="*/ f52 f20 1"/>
              <a:gd name="f70" fmla="*/ f53 f20 1"/>
              <a:gd name="f71" fmla="*/ f55 f21 1"/>
              <a:gd name="f72" fmla="*/ f54 f21 1"/>
              <a:gd name="f73" fmla="*/ f57 f20 1"/>
              <a:gd name="f74" fmla="*/ f58 f21 1"/>
              <a:gd name="f75" fmla="*/ f59 f21 1"/>
              <a:gd name="f76" fmla="*/ f60 f20 1"/>
              <a:gd name="f77" fmla="*/ f61 f21 1"/>
              <a:gd name="f78" fmla="*/ f62 f20 1"/>
              <a:gd name="f79" fmla="*/ f63 f21 1"/>
              <a:gd name="f80" fmla="*/ f64 f21 1"/>
              <a:gd name="f81" fmla="*/ f65 f20 1"/>
              <a:gd name="f82" fmla="*/ f66 f21 1"/>
              <a:gd name="f83" fmla="*/ f67 f20 1"/>
              <a:gd name="f84" fmla="*/ f68 f21 1"/>
            </a:gdLst>
            <a:ahLst/>
            <a:cxnLst>
              <a:cxn ang="3cd4">
                <a:pos x="hc" y="t"/>
              </a:cxn>
              <a:cxn ang="0">
                <a:pos x="r" y="vc"/>
              </a:cxn>
              <a:cxn ang="cd4">
                <a:pos x="hc" y="b"/>
              </a:cxn>
              <a:cxn ang="cd2">
                <a:pos x="l" y="vc"/>
              </a:cxn>
              <a:cxn ang="f56">
                <a:pos x="f73" y="f74"/>
              </a:cxn>
              <a:cxn ang="f56">
                <a:pos x="f73" y="f75"/>
              </a:cxn>
              <a:cxn ang="f56">
                <a:pos x="f76" y="f75"/>
              </a:cxn>
              <a:cxn ang="f56">
                <a:pos x="f76" y="f77"/>
              </a:cxn>
              <a:cxn ang="f56">
                <a:pos x="f78" y="f79"/>
              </a:cxn>
              <a:cxn ang="f56">
                <a:pos x="f78" y="f80"/>
              </a:cxn>
              <a:cxn ang="f56">
                <a:pos x="f81" y="f80"/>
              </a:cxn>
              <a:cxn ang="f56">
                <a:pos x="f81" y="f82"/>
              </a:cxn>
              <a:cxn ang="f56">
                <a:pos x="f83" y="f82"/>
              </a:cxn>
              <a:cxn ang="f56">
                <a:pos x="f83" y="f84"/>
              </a:cxn>
              <a:cxn ang="f56">
                <a:pos x="f73" y="f74"/>
              </a:cxn>
            </a:cxnLst>
            <a:rect l="f69" t="f72" r="f70" b="f71"/>
            <a:pathLst>
              <a:path w="5680945" h="3452894">
                <a:moveTo>
                  <a:pt x="f8" y="f9"/>
                </a:moveTo>
                <a:lnTo>
                  <a:pt x="f8" y="f10"/>
                </a:lnTo>
                <a:lnTo>
                  <a:pt x="f11" y="f10"/>
                </a:lnTo>
                <a:lnTo>
                  <a:pt x="f11" y="f12"/>
                </a:lnTo>
                <a:lnTo>
                  <a:pt x="f13" y="f14"/>
                </a:lnTo>
                <a:lnTo>
                  <a:pt x="f13" y="f15"/>
                </a:lnTo>
                <a:lnTo>
                  <a:pt x="f16" y="f15"/>
                </a:lnTo>
                <a:lnTo>
                  <a:pt x="f16" y="f17"/>
                </a:lnTo>
                <a:lnTo>
                  <a:pt x="f18" y="f17"/>
                </a:lnTo>
                <a:lnTo>
                  <a:pt x="f18" y="f8"/>
                </a:lnTo>
                <a:lnTo>
                  <a:pt x="f8" y="f9"/>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2" name="Freeform: Shape 3">
            <a:extLst>
              <a:ext uri="{FF2B5EF4-FFF2-40B4-BE49-F238E27FC236}">
                <a16:creationId xmlns:a16="http://schemas.microsoft.com/office/drawing/2014/main" id="{CB865AED-0774-C164-08B5-CEE58F950A13}"/>
              </a:ext>
            </a:extLst>
          </p:cNvPr>
          <p:cNvSpPr/>
          <p:nvPr/>
        </p:nvSpPr>
        <p:spPr>
          <a:xfrm>
            <a:off x="489112" y="4021759"/>
            <a:ext cx="151570" cy="151644"/>
          </a:xfrm>
          <a:custGeom>
            <a:avLst/>
            <a:gdLst>
              <a:gd name="f0" fmla="val 10800000"/>
              <a:gd name="f1" fmla="val 5400000"/>
              <a:gd name="f2" fmla="val 180"/>
              <a:gd name="f3" fmla="val w"/>
              <a:gd name="f4" fmla="val h"/>
              <a:gd name="f5" fmla="val 0"/>
              <a:gd name="f6" fmla="val 151647"/>
              <a:gd name="f7" fmla="val 8749"/>
              <a:gd name="f8" fmla="val 151414"/>
              <a:gd name="f9" fmla="+- 0 0 -90"/>
              <a:gd name="f10" fmla="*/ f3 1 151647"/>
              <a:gd name="f11" fmla="*/ f4 1 151647"/>
              <a:gd name="f12" fmla="+- f6 0 f5"/>
              <a:gd name="f13" fmla="*/ f9 f0 1"/>
              <a:gd name="f14" fmla="*/ f12 1 151647"/>
              <a:gd name="f15" fmla="*/ 8749 f12 1"/>
              <a:gd name="f16" fmla="*/ 151414 f12 1"/>
              <a:gd name="f17" fmla="*/ f13 1 f2"/>
              <a:gd name="f18" fmla="*/ f15 1 151647"/>
              <a:gd name="f19" fmla="*/ f16 1 151647"/>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51647" h="151647">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3" name="Freeform: Shape 4">
            <a:extLst>
              <a:ext uri="{FF2B5EF4-FFF2-40B4-BE49-F238E27FC236}">
                <a16:creationId xmlns:a16="http://schemas.microsoft.com/office/drawing/2014/main" id="{D4C38B3A-A483-2732-95AD-007510C0F27A}"/>
              </a:ext>
            </a:extLst>
          </p:cNvPr>
          <p:cNvSpPr/>
          <p:nvPr/>
        </p:nvSpPr>
        <p:spPr>
          <a:xfrm>
            <a:off x="774295" y="4021759"/>
            <a:ext cx="151570" cy="151644"/>
          </a:xfrm>
          <a:custGeom>
            <a:avLst/>
            <a:gdLst>
              <a:gd name="f0" fmla="val 10800000"/>
              <a:gd name="f1" fmla="val 5400000"/>
              <a:gd name="f2" fmla="val 180"/>
              <a:gd name="f3" fmla="val w"/>
              <a:gd name="f4" fmla="val h"/>
              <a:gd name="f5" fmla="val 0"/>
              <a:gd name="f6" fmla="val 151647"/>
              <a:gd name="f7" fmla="val 8749"/>
              <a:gd name="f8" fmla="val 151414"/>
              <a:gd name="f9" fmla="+- 0 0 -90"/>
              <a:gd name="f10" fmla="*/ f3 1 151647"/>
              <a:gd name="f11" fmla="*/ f4 1 151647"/>
              <a:gd name="f12" fmla="+- f6 0 f5"/>
              <a:gd name="f13" fmla="*/ f9 f0 1"/>
              <a:gd name="f14" fmla="*/ f12 1 151647"/>
              <a:gd name="f15" fmla="*/ 8749 f12 1"/>
              <a:gd name="f16" fmla="*/ 151414 f12 1"/>
              <a:gd name="f17" fmla="*/ f13 1 f2"/>
              <a:gd name="f18" fmla="*/ f15 1 151647"/>
              <a:gd name="f19" fmla="*/ f16 1 151647"/>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51647" h="151647">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4" name="Freeform: Shape 5">
            <a:extLst>
              <a:ext uri="{FF2B5EF4-FFF2-40B4-BE49-F238E27FC236}">
                <a16:creationId xmlns:a16="http://schemas.microsoft.com/office/drawing/2014/main" id="{34CFBCB3-09DC-9E47-6439-69A1DCED402A}"/>
              </a:ext>
            </a:extLst>
          </p:cNvPr>
          <p:cNvSpPr/>
          <p:nvPr/>
        </p:nvSpPr>
        <p:spPr>
          <a:xfrm>
            <a:off x="1059359" y="4021759"/>
            <a:ext cx="151570" cy="151644"/>
          </a:xfrm>
          <a:custGeom>
            <a:avLst/>
            <a:gdLst>
              <a:gd name="f0" fmla="val 10800000"/>
              <a:gd name="f1" fmla="val 5400000"/>
              <a:gd name="f2" fmla="val 180"/>
              <a:gd name="f3" fmla="val w"/>
              <a:gd name="f4" fmla="val h"/>
              <a:gd name="f5" fmla="val 0"/>
              <a:gd name="f6" fmla="val 151647"/>
              <a:gd name="f7" fmla="val 8749"/>
              <a:gd name="f8" fmla="val 151414"/>
              <a:gd name="f9" fmla="+- 0 0 -90"/>
              <a:gd name="f10" fmla="*/ f3 1 151647"/>
              <a:gd name="f11" fmla="*/ f4 1 151647"/>
              <a:gd name="f12" fmla="+- f6 0 f5"/>
              <a:gd name="f13" fmla="*/ f9 f0 1"/>
              <a:gd name="f14" fmla="*/ f12 1 151647"/>
              <a:gd name="f15" fmla="*/ 8749 f12 1"/>
              <a:gd name="f16" fmla="*/ 151414 f12 1"/>
              <a:gd name="f17" fmla="*/ f13 1 f2"/>
              <a:gd name="f18" fmla="*/ f15 1 151647"/>
              <a:gd name="f19" fmla="*/ f16 1 151647"/>
              <a:gd name="f20" fmla="*/ f5 1 f14"/>
              <a:gd name="f21" fmla="*/ f6 1 f14"/>
              <a:gd name="f22" fmla="+- f17 0 f1"/>
              <a:gd name="f23" fmla="*/ f18 1 f14"/>
              <a:gd name="f24" fmla="*/ f19 1 f14"/>
              <a:gd name="f25" fmla="*/ f20 f10 1"/>
              <a:gd name="f26" fmla="*/ f21 f10 1"/>
              <a:gd name="f27" fmla="*/ f21 f11 1"/>
              <a:gd name="f28" fmla="*/ f20 f11 1"/>
              <a:gd name="f29" fmla="*/ f23 f10 1"/>
              <a:gd name="f30" fmla="*/ f23 f11 1"/>
              <a:gd name="f31" fmla="*/ f24 f10 1"/>
              <a:gd name="f32" fmla="*/ f24 f11 1"/>
            </a:gdLst>
            <a:ahLst/>
            <a:cxnLst>
              <a:cxn ang="3cd4">
                <a:pos x="hc" y="t"/>
              </a:cxn>
              <a:cxn ang="0">
                <a:pos x="r" y="vc"/>
              </a:cxn>
              <a:cxn ang="cd4">
                <a:pos x="hc" y="b"/>
              </a:cxn>
              <a:cxn ang="cd2">
                <a:pos x="l" y="vc"/>
              </a:cxn>
              <a:cxn ang="f22">
                <a:pos x="f29" y="f30"/>
              </a:cxn>
              <a:cxn ang="f22">
                <a:pos x="f31" y="f30"/>
              </a:cxn>
              <a:cxn ang="f22">
                <a:pos x="f31" y="f32"/>
              </a:cxn>
              <a:cxn ang="f22">
                <a:pos x="f29" y="f32"/>
              </a:cxn>
            </a:cxnLst>
            <a:rect l="f25" t="f28" r="f26" b="f27"/>
            <a:pathLst>
              <a:path w="151647" h="151647">
                <a:moveTo>
                  <a:pt x="f7" y="f7"/>
                </a:moveTo>
                <a:lnTo>
                  <a:pt x="f8" y="f7"/>
                </a:lnTo>
                <a:lnTo>
                  <a:pt x="f8" y="f8"/>
                </a:lnTo>
                <a:lnTo>
                  <a:pt x="f7" y="f8"/>
                </a:lnTo>
                <a:close/>
              </a:path>
            </a:pathLst>
          </a:custGeom>
          <a:solidFill>
            <a:srgbClr val="FFE60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nvGrpSpPr>
          <p:cNvPr id="75" name="Group 4">
            <a:extLst>
              <a:ext uri="{FF2B5EF4-FFF2-40B4-BE49-F238E27FC236}">
                <a16:creationId xmlns:a16="http://schemas.microsoft.com/office/drawing/2014/main" id="{99FB035F-7A68-D617-EB58-BC0C267353B3}"/>
              </a:ext>
            </a:extLst>
          </p:cNvPr>
          <p:cNvGrpSpPr/>
          <p:nvPr/>
        </p:nvGrpSpPr>
        <p:grpSpPr>
          <a:xfrm>
            <a:off x="10359393" y="4960940"/>
            <a:ext cx="1224911" cy="1435105"/>
            <a:chOff x="10359393" y="4960940"/>
            <a:chExt cx="1224911" cy="1435105"/>
          </a:xfrm>
        </p:grpSpPr>
        <p:sp>
          <p:nvSpPr>
            <p:cNvPr id="76" name="Freeform 5">
              <a:extLst>
                <a:ext uri="{FF2B5EF4-FFF2-40B4-BE49-F238E27FC236}">
                  <a16:creationId xmlns:a16="http://schemas.microsoft.com/office/drawing/2014/main" id="{FC3938F6-AC7D-1698-FF19-751D04FFFC66}"/>
                </a:ext>
              </a:extLst>
            </p:cNvPr>
            <p:cNvSpPr/>
            <p:nvPr/>
          </p:nvSpPr>
          <p:spPr>
            <a:xfrm>
              <a:off x="10359393" y="4960940"/>
              <a:ext cx="982147" cy="358773"/>
            </a:xfrm>
            <a:custGeom>
              <a:avLst/>
              <a:gdLst>
                <a:gd name="f0" fmla="val 10800000"/>
                <a:gd name="f1" fmla="val 5400000"/>
                <a:gd name="f2" fmla="val 180"/>
                <a:gd name="f3" fmla="val w"/>
                <a:gd name="f4" fmla="val h"/>
                <a:gd name="f5" fmla="val 0"/>
                <a:gd name="f6" fmla="val 2473"/>
                <a:gd name="f7" fmla="val 902"/>
                <a:gd name="f8" fmla="val 466"/>
                <a:gd name="f9" fmla="+- 0 0 -90"/>
                <a:gd name="f10" fmla="*/ f3 1 2473"/>
                <a:gd name="f11" fmla="*/ f4 1 902"/>
                <a:gd name="f12" fmla="+- f7 0 f5"/>
                <a:gd name="f13" fmla="+- f6 0 f5"/>
                <a:gd name="f14" fmla="*/ f9 f0 1"/>
                <a:gd name="f15" fmla="*/ f13 1 2473"/>
                <a:gd name="f16" fmla="*/ f12 1 902"/>
                <a:gd name="f17" fmla="*/ 2473 f13 1"/>
                <a:gd name="f18" fmla="*/ 0 f12 1"/>
                <a:gd name="f19" fmla="*/ 0 f13 1"/>
                <a:gd name="f20" fmla="*/ 902 f12 1"/>
                <a:gd name="f21" fmla="*/ 466 f12 1"/>
                <a:gd name="f22" fmla="*/ f14 1 f2"/>
                <a:gd name="f23" fmla="*/ f17 1 2473"/>
                <a:gd name="f24" fmla="*/ f18 1 902"/>
                <a:gd name="f25" fmla="*/ f19 1 2473"/>
                <a:gd name="f26" fmla="*/ f20 1 902"/>
                <a:gd name="f27" fmla="*/ f21 1 902"/>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2473" h="902">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7" name="Freeform 6">
              <a:extLst>
                <a:ext uri="{FF2B5EF4-FFF2-40B4-BE49-F238E27FC236}">
                  <a16:creationId xmlns:a16="http://schemas.microsoft.com/office/drawing/2014/main" id="{EF8B8173-02BA-EE8B-AF12-A5D0CCE42A55}"/>
                </a:ext>
              </a:extLst>
            </p:cNvPr>
            <p:cNvSpPr/>
            <p:nvPr/>
          </p:nvSpPr>
          <p:spPr>
            <a:xfrm>
              <a:off x="10359393" y="5467353"/>
              <a:ext cx="1224911" cy="928692"/>
            </a:xfrm>
            <a:custGeom>
              <a:avLst/>
              <a:gdLst>
                <a:gd name="f0" fmla="val 10800000"/>
                <a:gd name="f1" fmla="val 5400000"/>
                <a:gd name="f2" fmla="val 180"/>
                <a:gd name="f3" fmla="val w"/>
                <a:gd name="f4" fmla="val h"/>
                <a:gd name="f5" fmla="val 0"/>
                <a:gd name="f6" fmla="val 3088"/>
                <a:gd name="f7" fmla="val 2339"/>
                <a:gd name="f8" fmla="val 257"/>
                <a:gd name="f9" fmla="val 1763"/>
                <a:gd name="f10" fmla="val 1755"/>
                <a:gd name="f11" fmla="val 256"/>
                <a:gd name="f12" fmla="val 1749"/>
                <a:gd name="f13" fmla="val 253"/>
                <a:gd name="f14" fmla="val 1736"/>
                <a:gd name="f15" fmla="val 247"/>
                <a:gd name="f16" fmla="val 1725"/>
                <a:gd name="f17" fmla="val 241"/>
                <a:gd name="f18" fmla="val 1716"/>
                <a:gd name="f19" fmla="val 233"/>
                <a:gd name="f20" fmla="val 1709"/>
                <a:gd name="f21" fmla="val 225"/>
                <a:gd name="f22" fmla="val 1704"/>
                <a:gd name="f23" fmla="val 219"/>
                <a:gd name="f24" fmla="val 1699"/>
                <a:gd name="f25" fmla="val 212"/>
                <a:gd name="f26" fmla="val 1696"/>
                <a:gd name="f27" fmla="val 220"/>
                <a:gd name="f28" fmla="val 1690"/>
                <a:gd name="f29" fmla="val 226"/>
                <a:gd name="f30" fmla="val 1685"/>
                <a:gd name="f31" fmla="val 232"/>
                <a:gd name="f32" fmla="val 1678"/>
                <a:gd name="f33" fmla="val 237"/>
                <a:gd name="f34" fmla="val 1671"/>
                <a:gd name="f35" fmla="val 242"/>
                <a:gd name="f36" fmla="val 1663"/>
                <a:gd name="f37" fmla="val 244"/>
                <a:gd name="f38" fmla="val 1654"/>
                <a:gd name="f39" fmla="val 246"/>
                <a:gd name="f40" fmla="val 1645"/>
                <a:gd name="f41" fmla="val 1635"/>
                <a:gd name="f42" fmla="val 1626"/>
                <a:gd name="f43" fmla="val 245"/>
                <a:gd name="f44" fmla="val 1618"/>
                <a:gd name="f45" fmla="val 243"/>
                <a:gd name="f46" fmla="val 1610"/>
                <a:gd name="f47" fmla="val 1602"/>
                <a:gd name="f48" fmla="val 1594"/>
                <a:gd name="f49" fmla="val 1588"/>
                <a:gd name="f50" fmla="val 227"/>
                <a:gd name="f51" fmla="val 1582"/>
                <a:gd name="f52" fmla="val 222"/>
                <a:gd name="f53" fmla="val 1577"/>
                <a:gd name="f54" fmla="val 215"/>
                <a:gd name="f55" fmla="val 1572"/>
                <a:gd name="f56" fmla="val 209"/>
                <a:gd name="f57" fmla="val 1568"/>
                <a:gd name="f58" fmla="val 201"/>
                <a:gd name="f59" fmla="val 1565"/>
                <a:gd name="f60" fmla="val 192"/>
                <a:gd name="f61" fmla="val 1561"/>
                <a:gd name="f62" fmla="val 183"/>
                <a:gd name="f63" fmla="val 1559"/>
                <a:gd name="f64" fmla="val 173"/>
                <a:gd name="f65" fmla="val 1557"/>
                <a:gd name="f66" fmla="val 163"/>
                <a:gd name="f67" fmla="val 152"/>
                <a:gd name="f68" fmla="val 1556"/>
                <a:gd name="f69" fmla="val 22"/>
                <a:gd name="f70" fmla="val 1860"/>
                <a:gd name="f71" fmla="val 151"/>
                <a:gd name="f72" fmla="val 174"/>
                <a:gd name="f73" fmla="val 1859"/>
                <a:gd name="f74" fmla="val 185"/>
                <a:gd name="f75" fmla="val 1857"/>
                <a:gd name="f76" fmla="val 195"/>
                <a:gd name="f77" fmla="val 1854"/>
                <a:gd name="f78" fmla="val 205"/>
                <a:gd name="f79" fmla="val 1850"/>
                <a:gd name="f80" fmla="val 214"/>
                <a:gd name="f81" fmla="val 1846"/>
                <a:gd name="f82" fmla="val 1840"/>
                <a:gd name="f83" fmla="val 228"/>
                <a:gd name="f84" fmla="val 1835"/>
                <a:gd name="f85" fmla="val 235"/>
                <a:gd name="f86" fmla="val 1828"/>
                <a:gd name="f87" fmla="val 1821"/>
                <a:gd name="f88" fmla="val 1813"/>
                <a:gd name="f89" fmla="val 249"/>
                <a:gd name="f90" fmla="val 1804"/>
                <a:gd name="f91" fmla="val 1795"/>
                <a:gd name="f92" fmla="val 255"/>
                <a:gd name="f93" fmla="val 1785"/>
                <a:gd name="f94" fmla="val 1774"/>
                <a:gd name="f95" fmla="val 1810"/>
                <a:gd name="f96" fmla="val 78"/>
                <a:gd name="f97" fmla="val 1722"/>
                <a:gd name="f98" fmla="val 162"/>
                <a:gd name="f99" fmla="val 1723"/>
                <a:gd name="f100" fmla="val 171"/>
                <a:gd name="f101" fmla="val 179"/>
                <a:gd name="f102" fmla="val 1728"/>
                <a:gd name="f103" fmla="val 1733"/>
                <a:gd name="f104" fmla="val 191"/>
                <a:gd name="f105" fmla="val 1739"/>
                <a:gd name="f106" fmla="val 194"/>
                <a:gd name="f107" fmla="val 1747"/>
                <a:gd name="f108" fmla="val 196"/>
                <a:gd name="f109" fmla="val 198"/>
                <a:gd name="f110" fmla="val 1765"/>
                <a:gd name="f111" fmla="val 1775"/>
                <a:gd name="f112" fmla="val 1784"/>
                <a:gd name="f113" fmla="val 190"/>
                <a:gd name="f114" fmla="val 1792"/>
                <a:gd name="f115" fmla="val 1797"/>
                <a:gd name="f116" fmla="val 1803"/>
                <a:gd name="f117" fmla="val 1806"/>
                <a:gd name="f118" fmla="val 161"/>
                <a:gd name="f119" fmla="val 1808"/>
                <a:gd name="f120" fmla="val 150"/>
                <a:gd name="f121" fmla="val 1673"/>
                <a:gd name="f122" fmla="val 1608"/>
                <a:gd name="f123" fmla="val 148"/>
                <a:gd name="f124" fmla="val 157"/>
                <a:gd name="f125" fmla="val 1609"/>
                <a:gd name="f126" fmla="val 166"/>
                <a:gd name="f127" fmla="val 172"/>
                <a:gd name="f128" fmla="val 1612"/>
                <a:gd name="f129" fmla="val 178"/>
                <a:gd name="f130" fmla="val 1615"/>
                <a:gd name="f131" fmla="val 182"/>
                <a:gd name="f132" fmla="val 1621"/>
                <a:gd name="f133" fmla="val 187"/>
                <a:gd name="f134" fmla="val 1633"/>
                <a:gd name="f135" fmla="val 188"/>
                <a:gd name="f136" fmla="val 1641"/>
                <a:gd name="f137" fmla="val 1646"/>
                <a:gd name="f138" fmla="val 1652"/>
                <a:gd name="f139" fmla="val 184"/>
                <a:gd name="f140" fmla="val 1657"/>
                <a:gd name="f141" fmla="val 181"/>
                <a:gd name="f142" fmla="val 1662"/>
                <a:gd name="f143" fmla="val 175"/>
                <a:gd name="f144" fmla="val 1666"/>
                <a:gd name="f145" fmla="val 169"/>
                <a:gd name="f146" fmla="val 1669"/>
                <a:gd name="f147" fmla="val 1672"/>
                <a:gd name="f148" fmla="val 296"/>
                <a:gd name="f149" fmla="val 1764"/>
                <a:gd name="f150" fmla="val 1639"/>
                <a:gd name="f151" fmla="val 351"/>
                <a:gd name="f152" fmla="val 1761"/>
                <a:gd name="f153" fmla="val 1773"/>
                <a:gd name="f154" fmla="val 353"/>
                <a:gd name="f155" fmla="val 356"/>
                <a:gd name="f156" fmla="val 1794"/>
                <a:gd name="f157" fmla="val 361"/>
                <a:gd name="f158" fmla="val 1802"/>
                <a:gd name="f159" fmla="val 366"/>
                <a:gd name="f160" fmla="val 1807"/>
                <a:gd name="f161" fmla="val 373"/>
                <a:gd name="f162" fmla="val 1812"/>
                <a:gd name="f163" fmla="val 382"/>
                <a:gd name="f164" fmla="val 1814"/>
                <a:gd name="f165" fmla="val 392"/>
                <a:gd name="f166" fmla="val 1815"/>
                <a:gd name="f167" fmla="val 402"/>
                <a:gd name="f168" fmla="val 409"/>
                <a:gd name="f169" fmla="val 417"/>
                <a:gd name="f170" fmla="val 423"/>
                <a:gd name="f171" fmla="val 427"/>
                <a:gd name="f172" fmla="val 430"/>
                <a:gd name="f173" fmla="val 433"/>
                <a:gd name="f174" fmla="val 488"/>
                <a:gd name="f175" fmla="val 1843"/>
                <a:gd name="f176" fmla="val 428"/>
                <a:gd name="f177" fmla="val 1848"/>
                <a:gd name="f178" fmla="val 422"/>
                <a:gd name="f179" fmla="val 1853"/>
                <a:gd name="f180" fmla="val 416"/>
                <a:gd name="f181" fmla="val 403"/>
                <a:gd name="f182" fmla="val 1862"/>
                <a:gd name="f183" fmla="val 395"/>
                <a:gd name="f184" fmla="val 1864"/>
                <a:gd name="f185" fmla="val 387"/>
                <a:gd name="f186" fmla="val 1865"/>
                <a:gd name="f187" fmla="val 380"/>
                <a:gd name="f188" fmla="val 1866"/>
                <a:gd name="f189" fmla="val 355"/>
                <a:gd name="f190" fmla="val 345"/>
                <a:gd name="f191" fmla="val 336"/>
                <a:gd name="f192" fmla="val 1855"/>
                <a:gd name="f193" fmla="val 328"/>
                <a:gd name="f194" fmla="val 1849"/>
                <a:gd name="f195" fmla="val 321"/>
                <a:gd name="f196" fmla="val 1844"/>
                <a:gd name="f197" fmla="val 316"/>
                <a:gd name="f198" fmla="val 1836"/>
                <a:gd name="f199" fmla="val 310"/>
                <a:gd name="f200" fmla="val 307"/>
                <a:gd name="f201" fmla="val 304"/>
                <a:gd name="f202" fmla="val 299"/>
                <a:gd name="f203" fmla="val 297"/>
                <a:gd name="f204" fmla="val 1779"/>
                <a:gd name="f205" fmla="val 1135"/>
                <a:gd name="f206" fmla="val 1079"/>
                <a:gd name="f207" fmla="val 1140"/>
                <a:gd name="f208" fmla="val 1146"/>
                <a:gd name="f209" fmla="val 1152"/>
                <a:gd name="f210" fmla="val 1643"/>
                <a:gd name="f211" fmla="val 1159"/>
                <a:gd name="f212" fmla="val 1640"/>
                <a:gd name="f213" fmla="val 1167"/>
                <a:gd name="f214" fmla="val 1636"/>
                <a:gd name="f215" fmla="val 1173"/>
                <a:gd name="f216" fmla="val 1182"/>
                <a:gd name="f217" fmla="val 1634"/>
                <a:gd name="f218" fmla="val 1190"/>
                <a:gd name="f219" fmla="val 1200"/>
                <a:gd name="f220" fmla="val 1208"/>
                <a:gd name="f221" fmla="val 1217"/>
                <a:gd name="f222" fmla="val 1637"/>
                <a:gd name="f223" fmla="val 1225"/>
                <a:gd name="f224" fmla="val 1233"/>
                <a:gd name="f225" fmla="val 1239"/>
                <a:gd name="f226" fmla="val 1648"/>
                <a:gd name="f227" fmla="val 1245"/>
                <a:gd name="f228" fmla="val 1653"/>
                <a:gd name="f229" fmla="val 1250"/>
                <a:gd name="f230" fmla="val 1659"/>
                <a:gd name="f231" fmla="val 1256"/>
                <a:gd name="f232" fmla="val 1259"/>
                <a:gd name="f233" fmla="val 1674"/>
                <a:gd name="f234" fmla="val 1264"/>
                <a:gd name="f235" fmla="val 1682"/>
                <a:gd name="f236" fmla="val 1266"/>
                <a:gd name="f237" fmla="val 1268"/>
                <a:gd name="f238" fmla="val 1700"/>
                <a:gd name="f239" fmla="val 1270"/>
                <a:gd name="f240" fmla="val 1711"/>
                <a:gd name="f241" fmla="val 1271"/>
                <a:gd name="f242" fmla="val 1734"/>
                <a:gd name="f243" fmla="val 1216"/>
                <a:gd name="f244" fmla="val 1738"/>
                <a:gd name="f245" fmla="val 1214"/>
                <a:gd name="f246" fmla="val 1714"/>
                <a:gd name="f247" fmla="val 1211"/>
                <a:gd name="f248" fmla="val 1705"/>
                <a:gd name="f249" fmla="val 1206"/>
                <a:gd name="f250" fmla="val 1697"/>
                <a:gd name="f251" fmla="val 1201"/>
                <a:gd name="f252" fmla="val 1691"/>
                <a:gd name="f253" fmla="val 1194"/>
                <a:gd name="f254" fmla="val 1687"/>
                <a:gd name="f255" fmla="val 1186"/>
                <a:gd name="f256" fmla="val 1176"/>
                <a:gd name="f257" fmla="val 1684"/>
                <a:gd name="f258" fmla="val 1158"/>
                <a:gd name="f259" fmla="val 1151"/>
                <a:gd name="f260" fmla="val 1137"/>
                <a:gd name="f261" fmla="val 1715"/>
                <a:gd name="f262" fmla="val 1726"/>
                <a:gd name="f263" fmla="val 593"/>
                <a:gd name="f264" fmla="val 1742"/>
                <a:gd name="f265" fmla="val 537"/>
                <a:gd name="f266" fmla="val 641"/>
                <a:gd name="f267" fmla="val 1573"/>
                <a:gd name="f268" fmla="val 696"/>
                <a:gd name="f269" fmla="val 1546"/>
                <a:gd name="f270" fmla="val 871"/>
                <a:gd name="f271" fmla="val 866"/>
                <a:gd name="f272" fmla="val 861"/>
                <a:gd name="f273" fmla="val 854"/>
                <a:gd name="f274" fmla="val 849"/>
                <a:gd name="f275" fmla="val 842"/>
                <a:gd name="f276" fmla="val 835"/>
                <a:gd name="f277" fmla="val 822"/>
                <a:gd name="f278" fmla="val 812"/>
                <a:gd name="f279" fmla="val 802"/>
                <a:gd name="f280" fmla="val 794"/>
                <a:gd name="f281" fmla="val 786"/>
                <a:gd name="f282" fmla="val 778"/>
                <a:gd name="f283" fmla="val 770"/>
                <a:gd name="f284" fmla="val 1651"/>
                <a:gd name="f285" fmla="val 764"/>
                <a:gd name="f286" fmla="val 758"/>
                <a:gd name="f287" fmla="val 1664"/>
                <a:gd name="f288" fmla="val 753"/>
                <a:gd name="f289" fmla="val 748"/>
                <a:gd name="f290" fmla="val 1680"/>
                <a:gd name="f291" fmla="val 744"/>
                <a:gd name="f292" fmla="val 1689"/>
                <a:gd name="f293" fmla="val 741"/>
                <a:gd name="f294" fmla="val 738"/>
                <a:gd name="f295" fmla="val 1710"/>
                <a:gd name="f296" fmla="val 736"/>
                <a:gd name="f297" fmla="val 735"/>
                <a:gd name="f298" fmla="val 1796"/>
                <a:gd name="f299" fmla="val 747"/>
                <a:gd name="f300" fmla="val 1817"/>
                <a:gd name="f301" fmla="val 752"/>
                <a:gd name="f302" fmla="val 1826"/>
                <a:gd name="f303" fmla="val 757"/>
                <a:gd name="f304" fmla="val 1834"/>
                <a:gd name="f305" fmla="val 1841"/>
                <a:gd name="f306" fmla="val 769"/>
                <a:gd name="f307" fmla="val 1847"/>
                <a:gd name="f308" fmla="val 777"/>
                <a:gd name="f309" fmla="val 785"/>
                <a:gd name="f310" fmla="val 792"/>
                <a:gd name="f311" fmla="val 801"/>
                <a:gd name="f312" fmla="val 811"/>
                <a:gd name="f313" fmla="val 821"/>
                <a:gd name="f314" fmla="val 828"/>
                <a:gd name="f315" fmla="val 834"/>
                <a:gd name="f316" fmla="val 841"/>
                <a:gd name="f317" fmla="val 848"/>
                <a:gd name="f318" fmla="val 853"/>
                <a:gd name="f319" fmla="val 860"/>
                <a:gd name="f320" fmla="val 865"/>
                <a:gd name="f321" fmla="val 926"/>
                <a:gd name="f322" fmla="val 832"/>
                <a:gd name="f323" fmla="val 826"/>
                <a:gd name="f324" fmla="val 818"/>
                <a:gd name="f325" fmla="val 805"/>
                <a:gd name="f326" fmla="val 799"/>
                <a:gd name="f327" fmla="val 1793"/>
                <a:gd name="f328" fmla="val 795"/>
                <a:gd name="f329" fmla="val 1781"/>
                <a:gd name="f330" fmla="val 791"/>
                <a:gd name="f331" fmla="val 790"/>
                <a:gd name="f332" fmla="val 1746"/>
                <a:gd name="f333" fmla="val 810"/>
                <a:gd name="f334" fmla="val 1686"/>
                <a:gd name="f335" fmla="val 824"/>
                <a:gd name="f336" fmla="val 839"/>
                <a:gd name="f337" fmla="val 845"/>
                <a:gd name="f338" fmla="val 852"/>
                <a:gd name="f339" fmla="val 1688"/>
                <a:gd name="f340" fmla="val 856"/>
                <a:gd name="f341" fmla="val 1695"/>
                <a:gd name="f342" fmla="val 1698"/>
                <a:gd name="f343" fmla="val 1706"/>
                <a:gd name="f344" fmla="val 864"/>
                <a:gd name="f345" fmla="val 1801"/>
                <a:gd name="f346" fmla="val 1811"/>
                <a:gd name="f347" fmla="val 840"/>
                <a:gd name="f348" fmla="val 2069"/>
                <a:gd name="f349" fmla="val 2064"/>
                <a:gd name="f350" fmla="val 2057"/>
                <a:gd name="f351" fmla="val 2044"/>
                <a:gd name="f352" fmla="val 2032"/>
                <a:gd name="f353" fmla="val 2021"/>
                <a:gd name="f354" fmla="val 1551"/>
                <a:gd name="f355" fmla="val 1966"/>
                <a:gd name="f356" fmla="val 1579"/>
                <a:gd name="f357" fmla="val 2025"/>
                <a:gd name="f358" fmla="val 2037"/>
                <a:gd name="f359" fmla="val 2049"/>
                <a:gd name="f360" fmla="val 2070"/>
                <a:gd name="f361" fmla="val 2080"/>
                <a:gd name="f362" fmla="val 2090"/>
                <a:gd name="f363" fmla="val 2099"/>
                <a:gd name="f364" fmla="val 1861"/>
                <a:gd name="f365" fmla="val 2108"/>
                <a:gd name="f366" fmla="val 2116"/>
                <a:gd name="f367" fmla="val 2122"/>
                <a:gd name="f368" fmla="val 2129"/>
                <a:gd name="f369" fmla="val 2134"/>
                <a:gd name="f370" fmla="val 2140"/>
                <a:gd name="f371" fmla="val 2144"/>
                <a:gd name="f372" fmla="val 2148"/>
                <a:gd name="f373" fmla="val 2151"/>
                <a:gd name="f374" fmla="val 2154"/>
                <a:gd name="f375" fmla="val 1786"/>
                <a:gd name="f376" fmla="val 2155"/>
                <a:gd name="f377" fmla="val 2157"/>
                <a:gd name="f378" fmla="val 2158"/>
                <a:gd name="f379" fmla="val 2153"/>
                <a:gd name="f380" fmla="val 2143"/>
                <a:gd name="f381" fmla="val 2139"/>
                <a:gd name="f382" fmla="val 2133"/>
                <a:gd name="f383" fmla="val 2128"/>
                <a:gd name="f384" fmla="val 2121"/>
                <a:gd name="f385" fmla="val 2113"/>
                <a:gd name="f386" fmla="val 2106"/>
                <a:gd name="f387" fmla="val 2098"/>
                <a:gd name="f388" fmla="val 2089"/>
                <a:gd name="f389" fmla="val 2079"/>
                <a:gd name="f390" fmla="val 2059"/>
                <a:gd name="f391" fmla="val 2067"/>
                <a:gd name="f392" fmla="val 2075"/>
                <a:gd name="f393" fmla="val 2081"/>
                <a:gd name="f394" fmla="val 2088"/>
                <a:gd name="f395" fmla="val 2094"/>
                <a:gd name="f396" fmla="val 2097"/>
                <a:gd name="f397" fmla="val 1717"/>
                <a:gd name="f398" fmla="val 2100"/>
                <a:gd name="f399" fmla="val 1730"/>
                <a:gd name="f400" fmla="val 2101"/>
                <a:gd name="f401" fmla="val 1762"/>
                <a:gd name="f402" fmla="val 1776"/>
                <a:gd name="f403" fmla="val 2096"/>
                <a:gd name="f404" fmla="val 1787"/>
                <a:gd name="f405" fmla="val 2091"/>
                <a:gd name="f406" fmla="val 2085"/>
                <a:gd name="f407" fmla="val 1805"/>
                <a:gd name="f408" fmla="val 2078"/>
                <a:gd name="f409" fmla="val 2061"/>
                <a:gd name="f410" fmla="val 2053"/>
                <a:gd name="f411" fmla="val 2046"/>
                <a:gd name="f412" fmla="val 2041"/>
                <a:gd name="f413" fmla="val 2035"/>
                <a:gd name="f414" fmla="val 2026"/>
                <a:gd name="f415" fmla="val 1800"/>
                <a:gd name="f416" fmla="val 2024"/>
                <a:gd name="f417" fmla="val 1701"/>
                <a:gd name="f418" fmla="val 2029"/>
                <a:gd name="f419" fmla="val 2033"/>
                <a:gd name="f420" fmla="val 1693"/>
                <a:gd name="f421" fmla="val 2043"/>
                <a:gd name="f422" fmla="val 2048"/>
                <a:gd name="f423" fmla="val 2054"/>
                <a:gd name="f424" fmla="val 1445"/>
                <a:gd name="f425" fmla="val 1440"/>
                <a:gd name="f426" fmla="val 1650"/>
                <a:gd name="f427" fmla="val 1435"/>
                <a:gd name="f428" fmla="val 1428"/>
                <a:gd name="f429" fmla="val 1642"/>
                <a:gd name="f430" fmla="val 1423"/>
                <a:gd name="f431" fmla="val 1416"/>
                <a:gd name="f432" fmla="val 1409"/>
                <a:gd name="f433" fmla="val 1403"/>
                <a:gd name="f434" fmla="val 1396"/>
                <a:gd name="f435" fmla="val 1386"/>
                <a:gd name="f436" fmla="val 1376"/>
                <a:gd name="f437" fmla="val 1367"/>
                <a:gd name="f438" fmla="val 1360"/>
                <a:gd name="f439" fmla="val 1352"/>
                <a:gd name="f440" fmla="val 1344"/>
                <a:gd name="f441" fmla="val 1338"/>
                <a:gd name="f442" fmla="val 1332"/>
                <a:gd name="f443" fmla="val 1327"/>
                <a:gd name="f444" fmla="val 1322"/>
                <a:gd name="f445" fmla="val 1318"/>
                <a:gd name="f446" fmla="val 1314"/>
                <a:gd name="f447" fmla="val 1312"/>
                <a:gd name="f448" fmla="val 1310"/>
                <a:gd name="f449" fmla="val 1309"/>
                <a:gd name="f450" fmla="val 1321"/>
                <a:gd name="f451" fmla="val 1331"/>
                <a:gd name="f452" fmla="val 1343"/>
                <a:gd name="f453" fmla="val 1351"/>
                <a:gd name="f454" fmla="val 1359"/>
                <a:gd name="f455" fmla="val 1366"/>
                <a:gd name="f456" fmla="val 1375"/>
                <a:gd name="f457" fmla="val 1385"/>
                <a:gd name="f458" fmla="val 1395"/>
                <a:gd name="f459" fmla="val 1402"/>
                <a:gd name="f460" fmla="val 1408"/>
                <a:gd name="f461" fmla="val 1415"/>
                <a:gd name="f462" fmla="val 1421"/>
                <a:gd name="f463" fmla="val 1434"/>
                <a:gd name="f464" fmla="val 1439"/>
                <a:gd name="f465" fmla="val 1858"/>
                <a:gd name="f466" fmla="val 1444"/>
                <a:gd name="f467" fmla="val 1868"/>
                <a:gd name="f468" fmla="val 1441"/>
                <a:gd name="f469" fmla="val 1878"/>
                <a:gd name="f470" fmla="val 1882"/>
                <a:gd name="f471" fmla="val 1436"/>
                <a:gd name="f472" fmla="val 1887"/>
                <a:gd name="f473" fmla="val 1433"/>
                <a:gd name="f474" fmla="val 1891"/>
                <a:gd name="f475" fmla="val 1896"/>
                <a:gd name="f476" fmla="val 1899"/>
                <a:gd name="f477" fmla="val 1901"/>
                <a:gd name="f478" fmla="val 1407"/>
                <a:gd name="f479" fmla="val 1904"/>
                <a:gd name="f480" fmla="val 1397"/>
                <a:gd name="f481" fmla="val 1905"/>
                <a:gd name="f482" fmla="val 1908"/>
                <a:gd name="f483" fmla="val 1374"/>
                <a:gd name="f484" fmla="val 1372"/>
                <a:gd name="f485" fmla="val 1391"/>
                <a:gd name="f486" fmla="val 1951"/>
                <a:gd name="f487" fmla="val 1392"/>
                <a:gd name="f488" fmla="val 1405"/>
                <a:gd name="f489" fmla="val 1417"/>
                <a:gd name="f490" fmla="val 1948"/>
                <a:gd name="f491" fmla="val 1429"/>
                <a:gd name="f492" fmla="val 1946"/>
                <a:gd name="f493" fmla="val 1943"/>
                <a:gd name="f494" fmla="val 1449"/>
                <a:gd name="f495" fmla="val 1940"/>
                <a:gd name="f496" fmla="val 1458"/>
                <a:gd name="f497" fmla="val 1935"/>
                <a:gd name="f498" fmla="val 1466"/>
                <a:gd name="f499" fmla="val 1929"/>
                <a:gd name="f500" fmla="val 1473"/>
                <a:gd name="f501" fmla="val 1923"/>
                <a:gd name="f502" fmla="val 1480"/>
                <a:gd name="f503" fmla="val 1915"/>
                <a:gd name="f504" fmla="val 1484"/>
                <a:gd name="f505" fmla="val 1907"/>
                <a:gd name="f506" fmla="val 1490"/>
                <a:gd name="f507" fmla="val 1898"/>
                <a:gd name="f508" fmla="val 1493"/>
                <a:gd name="f509" fmla="val 1888"/>
                <a:gd name="f510" fmla="val 1497"/>
                <a:gd name="f511" fmla="val 1877"/>
                <a:gd name="f512" fmla="val 1499"/>
                <a:gd name="f513" fmla="val 1500"/>
                <a:gd name="f514" fmla="val 1839"/>
                <a:gd name="f515" fmla="val 1438"/>
                <a:gd name="f516" fmla="val 1425"/>
                <a:gd name="f517" fmla="val 1419"/>
                <a:gd name="f518" fmla="val 1413"/>
                <a:gd name="f519" fmla="val 1406"/>
                <a:gd name="f520" fmla="val 1398"/>
                <a:gd name="f521" fmla="val 1384"/>
                <a:gd name="f522" fmla="val 1378"/>
                <a:gd name="f523" fmla="val 1373"/>
                <a:gd name="f524" fmla="val 1369"/>
                <a:gd name="f525" fmla="val 1365"/>
                <a:gd name="f526" fmla="val 1364"/>
                <a:gd name="f527" fmla="val 1426"/>
                <a:gd name="f528" fmla="val 1430"/>
                <a:gd name="f529" fmla="val 1712"/>
                <a:gd name="f530" fmla="val 1727"/>
                <a:gd name="f531" fmla="val 1677"/>
                <a:gd name="f532" fmla="val 1737"/>
                <a:gd name="f533" fmla="val 1745"/>
                <a:gd name="f534" fmla="val 1679"/>
                <a:gd name="f535" fmla="val 1751"/>
                <a:gd name="f536" fmla="val 1757"/>
                <a:gd name="f537" fmla="val 1767"/>
                <a:gd name="f538" fmla="val 1720"/>
                <a:gd name="f539" fmla="val 1719"/>
                <a:gd name="f540" fmla="val 1718"/>
                <a:gd name="f541" fmla="val 1667"/>
                <a:gd name="f542" fmla="val 1660"/>
                <a:gd name="f543" fmla="val 1649"/>
                <a:gd name="f544" fmla="val 1740"/>
                <a:gd name="f545" fmla="val 1752"/>
                <a:gd name="f546" fmla="val 1760"/>
                <a:gd name="f547" fmla="val 1769"/>
                <a:gd name="f548" fmla="val 1632"/>
                <a:gd name="f549" fmla="val 1778"/>
                <a:gd name="f550" fmla="val 1631"/>
                <a:gd name="f551" fmla="val 1824"/>
                <a:gd name="f552" fmla="val 1830"/>
                <a:gd name="f553" fmla="val 1837"/>
                <a:gd name="f554" fmla="val 1856"/>
                <a:gd name="f555" fmla="val 1748"/>
                <a:gd name="f556" fmla="val 1822"/>
                <a:gd name="f557" fmla="val 1694"/>
                <a:gd name="f558" fmla="val 1819"/>
                <a:gd name="f559" fmla="val 1809"/>
                <a:gd name="f560" fmla="val 1665"/>
                <a:gd name="f561" fmla="val 1798"/>
                <a:gd name="f562" fmla="val 1770"/>
                <a:gd name="f563" fmla="val 1753"/>
                <a:gd name="f564" fmla="val 1743"/>
                <a:gd name="f565" fmla="val 1721"/>
                <a:gd name="f566" fmla="val 1655"/>
                <a:gd name="f567" fmla="val 1780"/>
                <a:gd name="f568" fmla="val 1692"/>
                <a:gd name="f569" fmla="val 1768"/>
                <a:gd name="f570" fmla="val 1702"/>
                <a:gd name="f571" fmla="val 1708"/>
                <a:gd name="f572" fmla="val 1758"/>
                <a:gd name="f573" fmla="val 1724"/>
                <a:gd name="f574" fmla="val 1766"/>
                <a:gd name="f575" fmla="val 1756"/>
                <a:gd name="f576" fmla="val 1750"/>
                <a:gd name="f577" fmla="val 1816"/>
                <a:gd name="f578" fmla="val 1818"/>
                <a:gd name="f579" fmla="val 1732"/>
                <a:gd name="f580" fmla="val 2333"/>
                <a:gd name="f581" fmla="val 2325"/>
                <a:gd name="f582" fmla="val 2315"/>
                <a:gd name="f583" fmla="val 2310"/>
                <a:gd name="f584" fmla="val 2303"/>
                <a:gd name="f585" fmla="val 2297"/>
                <a:gd name="f586" fmla="val 2290"/>
                <a:gd name="f587" fmla="val 2285"/>
                <a:gd name="f588" fmla="val 2278"/>
                <a:gd name="f589" fmla="val 2270"/>
                <a:gd name="f590" fmla="val 2261"/>
                <a:gd name="f591" fmla="val 2254"/>
                <a:gd name="f592" fmla="val 2250"/>
                <a:gd name="f593" fmla="val 2247"/>
                <a:gd name="f594" fmla="val 2245"/>
                <a:gd name="f595" fmla="val 2243"/>
                <a:gd name="f596" fmla="val 2242"/>
                <a:gd name="f597" fmla="val 2240"/>
                <a:gd name="f598" fmla="val 2376"/>
                <a:gd name="f599" fmla="val 2377"/>
                <a:gd name="f600" fmla="val 2375"/>
                <a:gd name="f601" fmla="val 2374"/>
                <a:gd name="f602" fmla="val 2371"/>
                <a:gd name="f603" fmla="val 2367"/>
                <a:gd name="f604" fmla="val 2363"/>
                <a:gd name="f605" fmla="val 2357"/>
                <a:gd name="f606" fmla="val 2352"/>
                <a:gd name="f607" fmla="val 2345"/>
                <a:gd name="f608" fmla="val 2331"/>
                <a:gd name="f609" fmla="val 2322"/>
                <a:gd name="f610" fmla="val 2313"/>
                <a:gd name="f611" fmla="val 2304"/>
                <a:gd name="f612" fmla="val 2294"/>
                <a:gd name="f613" fmla="val 2283"/>
                <a:gd name="f614" fmla="val 2274"/>
                <a:gd name="f615" fmla="val 2264"/>
                <a:gd name="f616" fmla="val 2244"/>
                <a:gd name="f617" fmla="val 2235"/>
                <a:gd name="f618" fmla="val 2227"/>
                <a:gd name="f619" fmla="val 2219"/>
                <a:gd name="f620" fmla="val 1658"/>
                <a:gd name="f621" fmla="val 2213"/>
                <a:gd name="f622" fmla="val 2206"/>
                <a:gd name="f623" fmla="val 2201"/>
                <a:gd name="f624" fmla="val 1683"/>
                <a:gd name="f625" fmla="val 2196"/>
                <a:gd name="f626" fmla="val 2192"/>
                <a:gd name="f627" fmla="val 1703"/>
                <a:gd name="f628" fmla="val 2189"/>
                <a:gd name="f629" fmla="val 2186"/>
                <a:gd name="f630" fmla="val 2185"/>
                <a:gd name="f631" fmla="val 2184"/>
                <a:gd name="f632" fmla="val 2221"/>
                <a:gd name="f633" fmla="val 2228"/>
                <a:gd name="f634" fmla="val 2237"/>
                <a:gd name="f635" fmla="val 2246"/>
                <a:gd name="f636" fmla="val 2256"/>
                <a:gd name="f637" fmla="val 2267"/>
                <a:gd name="f638" fmla="val 2301"/>
                <a:gd name="f639" fmla="val 2311"/>
                <a:gd name="f640" fmla="val 2332"/>
                <a:gd name="f641" fmla="val 2342"/>
                <a:gd name="f642" fmla="val 1851"/>
                <a:gd name="f643" fmla="val 2351"/>
                <a:gd name="f644" fmla="val 2360"/>
                <a:gd name="f645" fmla="val 1838"/>
                <a:gd name="f646" fmla="val 2368"/>
                <a:gd name="f647" fmla="val 1707"/>
                <a:gd name="f648" fmla="val 2248"/>
                <a:gd name="f649" fmla="val 2259"/>
                <a:gd name="f650" fmla="val 2266"/>
                <a:gd name="f651" fmla="val 2282"/>
                <a:gd name="f652" fmla="val 2292"/>
                <a:gd name="f653" fmla="val 2308"/>
                <a:gd name="f654" fmla="val 2318"/>
                <a:gd name="f655" fmla="val 2321"/>
                <a:gd name="f656" fmla="val 2323"/>
                <a:gd name="f657" fmla="val 2324"/>
                <a:gd name="f658" fmla="val 2864"/>
                <a:gd name="f659" fmla="val 2855"/>
                <a:gd name="f660" fmla="val 2846"/>
                <a:gd name="f661" fmla="val 2840"/>
                <a:gd name="f662" fmla="val 2834"/>
                <a:gd name="f663" fmla="val 2828"/>
                <a:gd name="f664" fmla="val 2820"/>
                <a:gd name="f665" fmla="val 2814"/>
                <a:gd name="f666" fmla="val 2808"/>
                <a:gd name="f667" fmla="val 2800"/>
                <a:gd name="f668" fmla="val 2792"/>
                <a:gd name="f669" fmla="val 2784"/>
                <a:gd name="f670" fmla="val 2781"/>
                <a:gd name="f671" fmla="val 2778"/>
                <a:gd name="f672" fmla="val 2776"/>
                <a:gd name="f673" fmla="val 2773"/>
                <a:gd name="f674" fmla="val 2771"/>
                <a:gd name="f675" fmla="val 2770"/>
                <a:gd name="f676" fmla="val 2907"/>
                <a:gd name="f677" fmla="val 2908"/>
                <a:gd name="f678" fmla="val 2906"/>
                <a:gd name="f679" fmla="val 2904"/>
                <a:gd name="f680" fmla="val 2901"/>
                <a:gd name="f681" fmla="val 2897"/>
                <a:gd name="f682" fmla="val 2893"/>
                <a:gd name="f683" fmla="val 2888"/>
                <a:gd name="f684" fmla="val 2883"/>
                <a:gd name="f685" fmla="val 2876"/>
                <a:gd name="f686" fmla="val 2868"/>
                <a:gd name="f687" fmla="val 2861"/>
                <a:gd name="f688" fmla="val 2853"/>
                <a:gd name="f689" fmla="val 2844"/>
                <a:gd name="f690" fmla="val 2824"/>
                <a:gd name="f691" fmla="val 2803"/>
                <a:gd name="f692" fmla="val 2793"/>
                <a:gd name="f693" fmla="val 2783"/>
                <a:gd name="f694" fmla="val 2775"/>
                <a:gd name="f695" fmla="val 2766"/>
                <a:gd name="f696" fmla="val 2757"/>
                <a:gd name="f697" fmla="val 2750"/>
                <a:gd name="f698" fmla="val 2743"/>
                <a:gd name="f699" fmla="val 2736"/>
                <a:gd name="f700" fmla="val 2730"/>
                <a:gd name="f701" fmla="val 2726"/>
                <a:gd name="f702" fmla="val 2722"/>
                <a:gd name="f703" fmla="val 2719"/>
                <a:gd name="f704" fmla="val 2716"/>
                <a:gd name="f705" fmla="val 2715"/>
                <a:gd name="f706" fmla="val 2718"/>
                <a:gd name="f707" fmla="val 2732"/>
                <a:gd name="f708" fmla="val 2737"/>
                <a:gd name="f709" fmla="val 2744"/>
                <a:gd name="f710" fmla="val 2758"/>
                <a:gd name="f711" fmla="val 2767"/>
                <a:gd name="f712" fmla="val 2777"/>
                <a:gd name="f713" fmla="val 2787"/>
                <a:gd name="f714" fmla="val 2797"/>
                <a:gd name="f715" fmla="val 2809"/>
                <a:gd name="f716" fmla="val 2831"/>
                <a:gd name="f717" fmla="val 2842"/>
                <a:gd name="f718" fmla="val 2852"/>
                <a:gd name="f719" fmla="val 2862"/>
                <a:gd name="f720" fmla="val 2872"/>
                <a:gd name="f721" fmla="val 2882"/>
                <a:gd name="f722" fmla="val 2890"/>
                <a:gd name="f723" fmla="val 2898"/>
                <a:gd name="f724" fmla="val 2772"/>
                <a:gd name="f725" fmla="val 2779"/>
                <a:gd name="f726" fmla="val 2790"/>
                <a:gd name="f727" fmla="val 2804"/>
                <a:gd name="f728" fmla="val 2813"/>
                <a:gd name="f729" fmla="val 2823"/>
                <a:gd name="f730" fmla="val 2839"/>
                <a:gd name="f731" fmla="val 2849"/>
                <a:gd name="f732" fmla="val 2854"/>
                <a:gd name="f733" fmla="val 2639"/>
                <a:gd name="f734" fmla="val 1783"/>
                <a:gd name="f735" fmla="val 1791"/>
                <a:gd name="f736" fmla="val 2640"/>
                <a:gd name="f737" fmla="val 2642"/>
                <a:gd name="f738" fmla="val 2644"/>
                <a:gd name="f739" fmla="val 2648"/>
                <a:gd name="f740" fmla="val 2652"/>
                <a:gd name="f741" fmla="val 2656"/>
                <a:gd name="f742" fmla="val 2663"/>
                <a:gd name="f743" fmla="val 2671"/>
                <a:gd name="f744" fmla="val 2680"/>
                <a:gd name="f745" fmla="val 2688"/>
                <a:gd name="f746" fmla="val 2696"/>
                <a:gd name="f747" fmla="val 2690"/>
                <a:gd name="f748" fmla="val 2668"/>
                <a:gd name="f749" fmla="val 2655"/>
                <a:gd name="f750" fmla="val 2643"/>
                <a:gd name="f751" fmla="val 2636"/>
                <a:gd name="f752" fmla="val 2628"/>
                <a:gd name="f753" fmla="val 2621"/>
                <a:gd name="f754" fmla="val 2616"/>
                <a:gd name="f755" fmla="val 2610"/>
                <a:gd name="f756" fmla="val 2605"/>
                <a:gd name="f757" fmla="val 2601"/>
                <a:gd name="f758" fmla="val 2597"/>
                <a:gd name="f759" fmla="val 2591"/>
                <a:gd name="f760" fmla="val 1833"/>
                <a:gd name="f761" fmla="val 2587"/>
                <a:gd name="f762" fmla="val 2585"/>
                <a:gd name="f763" fmla="val 2584"/>
                <a:gd name="f764" fmla="val 2549"/>
                <a:gd name="f765" fmla="val 1581"/>
                <a:gd name="f766" fmla="val 1554"/>
                <a:gd name="f767" fmla="val 2532"/>
                <a:gd name="f768" fmla="val 2522"/>
                <a:gd name="f769" fmla="val 2511"/>
                <a:gd name="f770" fmla="val 2499"/>
                <a:gd name="f771" fmla="val 2487"/>
                <a:gd name="f772" fmla="val 2478"/>
                <a:gd name="f773" fmla="val 2471"/>
                <a:gd name="f774" fmla="val 2464"/>
                <a:gd name="f775" fmla="val 2458"/>
                <a:gd name="f776" fmla="val 2453"/>
                <a:gd name="f777" fmla="val 2448"/>
                <a:gd name="f778" fmla="val 2443"/>
                <a:gd name="f779" fmla="val 2440"/>
                <a:gd name="f780" fmla="val 2434"/>
                <a:gd name="f781" fmla="val 2430"/>
                <a:gd name="f782" fmla="val 2427"/>
                <a:gd name="f783" fmla="val 2393"/>
                <a:gd name="f784" fmla="val 2482"/>
                <a:gd name="f785" fmla="val 2528"/>
                <a:gd name="f786" fmla="val 2483"/>
                <a:gd name="f787" fmla="val 2485"/>
                <a:gd name="f788" fmla="val 2488"/>
                <a:gd name="f789" fmla="val 2491"/>
                <a:gd name="f790" fmla="val 2495"/>
                <a:gd name="f791" fmla="val 2500"/>
                <a:gd name="f792" fmla="val 2505"/>
                <a:gd name="f793" fmla="val 2514"/>
                <a:gd name="f794" fmla="val 2523"/>
                <a:gd name="f795" fmla="val 2531"/>
                <a:gd name="f796" fmla="val 2538"/>
                <a:gd name="f797" fmla="val 3074"/>
                <a:gd name="f798" fmla="val 3066"/>
                <a:gd name="f799" fmla="val 3057"/>
                <a:gd name="f800" fmla="val 3047"/>
                <a:gd name="f801" fmla="val 3037"/>
                <a:gd name="f802" fmla="val 3028"/>
                <a:gd name="f803" fmla="val 3020"/>
                <a:gd name="f804" fmla="val 3013"/>
                <a:gd name="f805" fmla="val 3007"/>
                <a:gd name="f806" fmla="val 3003"/>
                <a:gd name="f807" fmla="val 3001"/>
                <a:gd name="f808" fmla="val 2999"/>
                <a:gd name="f809" fmla="val 2998"/>
                <a:gd name="f810" fmla="val 2943"/>
                <a:gd name="f811" fmla="val 3009"/>
                <a:gd name="f812" fmla="val 3014"/>
                <a:gd name="f813" fmla="val 3021"/>
                <a:gd name="f814" fmla="val 3026"/>
                <a:gd name="f815" fmla="val 3033"/>
                <a:gd name="f816" fmla="val 3039"/>
                <a:gd name="f817" fmla="val 3058"/>
                <a:gd name="f818" fmla="val 3069"/>
                <a:gd name="f819" fmla="val 3079"/>
                <a:gd name="f820" fmla="val 1607"/>
                <a:gd name="f821" fmla="val 975"/>
                <a:gd name="f822" fmla="val 1030"/>
                <a:gd name="f823" fmla="val 2539"/>
                <a:gd name="f824" fmla="val 2042"/>
                <a:gd name="f825" fmla="val 2534"/>
                <a:gd name="f826" fmla="val 2038"/>
                <a:gd name="f827" fmla="val 2030"/>
                <a:gd name="f828" fmla="val 2516"/>
                <a:gd name="f829" fmla="val 2027"/>
                <a:gd name="f830" fmla="val 2504"/>
                <a:gd name="f831" fmla="val 2490"/>
                <a:gd name="f832" fmla="val 2480"/>
                <a:gd name="f833" fmla="val 2022"/>
                <a:gd name="f834" fmla="val 2462"/>
                <a:gd name="f835" fmla="val 2446"/>
                <a:gd name="f836" fmla="val 2439"/>
                <a:gd name="f837" fmla="val 2039"/>
                <a:gd name="f838" fmla="val 2432"/>
                <a:gd name="f839" fmla="val 2426"/>
                <a:gd name="f840" fmla="val 2052"/>
                <a:gd name="f841" fmla="val 2421"/>
                <a:gd name="f842" fmla="val 2060"/>
                <a:gd name="f843" fmla="val 2416"/>
                <a:gd name="f844" fmla="val 2413"/>
                <a:gd name="f845" fmla="val 2409"/>
                <a:gd name="f846" fmla="val 2406"/>
                <a:gd name="f847" fmla="val 2405"/>
                <a:gd name="f848" fmla="val 2111"/>
                <a:gd name="f849" fmla="val 2404"/>
                <a:gd name="f850" fmla="val 2123"/>
                <a:gd name="f851" fmla="val 2403"/>
                <a:gd name="f852" fmla="val 2136"/>
                <a:gd name="f853" fmla="val 2149"/>
                <a:gd name="f854" fmla="val 2161"/>
                <a:gd name="f855" fmla="val 2174"/>
                <a:gd name="f856" fmla="val 2411"/>
                <a:gd name="f857" fmla="val 2420"/>
                <a:gd name="f858" fmla="val 2214"/>
                <a:gd name="f859" fmla="val 2222"/>
                <a:gd name="f860" fmla="val 2431"/>
                <a:gd name="f861" fmla="val 2230"/>
                <a:gd name="f862" fmla="val 2438"/>
                <a:gd name="f863" fmla="val 2445"/>
                <a:gd name="f864" fmla="val 2241"/>
                <a:gd name="f865" fmla="val 2452"/>
                <a:gd name="f866" fmla="val 2461"/>
                <a:gd name="f867" fmla="val 2470"/>
                <a:gd name="f868" fmla="val 2252"/>
                <a:gd name="f869" fmla="val 2479"/>
                <a:gd name="f870" fmla="val 2253"/>
                <a:gd name="f871" fmla="val 2489"/>
                <a:gd name="f872" fmla="val 2503"/>
                <a:gd name="f873" fmla="val 2510"/>
                <a:gd name="f874" fmla="val 2251"/>
                <a:gd name="f875" fmla="val 2515"/>
                <a:gd name="f876" fmla="val 2249"/>
                <a:gd name="f877" fmla="val 2238"/>
                <a:gd name="f878" fmla="val 2232"/>
                <a:gd name="f879" fmla="val 2595"/>
                <a:gd name="f880" fmla="val 1934"/>
                <a:gd name="f881" fmla="val 1962"/>
                <a:gd name="f882" fmla="val 2501"/>
                <a:gd name="f883" fmla="val 2203"/>
                <a:gd name="f884" fmla="val 2493"/>
                <a:gd name="f885" fmla="val 2202"/>
                <a:gd name="f886" fmla="val 2200"/>
                <a:gd name="f887" fmla="val 2197"/>
                <a:gd name="f888" fmla="val 2472"/>
                <a:gd name="f889" fmla="val 2190"/>
                <a:gd name="f890" fmla="val 2467"/>
                <a:gd name="f891" fmla="val 2181"/>
                <a:gd name="f892" fmla="val 2169"/>
                <a:gd name="f893" fmla="val 2460"/>
                <a:gd name="f894" fmla="val 2459"/>
                <a:gd name="f895" fmla="val 2117"/>
                <a:gd name="f896" fmla="val 2103"/>
                <a:gd name="f897" fmla="val 2092"/>
                <a:gd name="f898" fmla="val 2084"/>
                <a:gd name="f899" fmla="val 2074"/>
                <a:gd name="f900" fmla="val 2073"/>
                <a:gd name="f901" fmla="val 2072"/>
                <a:gd name="f902" fmla="val 2507"/>
                <a:gd name="f903" fmla="val 2520"/>
                <a:gd name="f904" fmla="val 2076"/>
                <a:gd name="f905" fmla="val 2525"/>
                <a:gd name="f906" fmla="val 2530"/>
                <a:gd name="f907" fmla="val 2083"/>
                <a:gd name="f908" fmla="val 2086"/>
                <a:gd name="f909" fmla="val 2533"/>
                <a:gd name="f910" fmla="val 2199"/>
                <a:gd name="f911" fmla="val 672"/>
                <a:gd name="f912" fmla="val 664"/>
                <a:gd name="f913" fmla="val 656"/>
                <a:gd name="f914" fmla="val 646"/>
                <a:gd name="f915" fmla="val 636"/>
                <a:gd name="f916" fmla="val 627"/>
                <a:gd name="f917" fmla="val 618"/>
                <a:gd name="f918" fmla="val 611"/>
                <a:gd name="f919" fmla="val 606"/>
                <a:gd name="f920" fmla="val 601"/>
                <a:gd name="f921" fmla="val 599"/>
                <a:gd name="f922" fmla="val 2105"/>
                <a:gd name="f923" fmla="val 597"/>
                <a:gd name="f924" fmla="val 596"/>
                <a:gd name="f925" fmla="val 542"/>
                <a:gd name="f926" fmla="val 2040"/>
                <a:gd name="f927" fmla="val 607"/>
                <a:gd name="f928" fmla="val 613"/>
                <a:gd name="f929" fmla="val 2031"/>
                <a:gd name="f930" fmla="val 619"/>
                <a:gd name="f931" fmla="val 2028"/>
                <a:gd name="f932" fmla="val 625"/>
                <a:gd name="f933" fmla="val 631"/>
                <a:gd name="f934" fmla="val 639"/>
                <a:gd name="f935" fmla="val 657"/>
                <a:gd name="f936" fmla="val 668"/>
                <a:gd name="f937" fmla="val 679"/>
                <a:gd name="f938" fmla="val 688"/>
                <a:gd name="f939" fmla="val 2036"/>
                <a:gd name="f940" fmla="val 295"/>
                <a:gd name="f941" fmla="val 160"/>
                <a:gd name="f942" fmla="val 142"/>
                <a:gd name="f943" fmla="val 2132"/>
                <a:gd name="f944" fmla="val 136"/>
                <a:gd name="f945" fmla="val 110"/>
                <a:gd name="f946" fmla="val 63"/>
                <a:gd name="f947" fmla="val 57"/>
                <a:gd name="f948" fmla="val 77"/>
                <a:gd name="f949" fmla="val 2110"/>
                <a:gd name="f950" fmla="val 83"/>
                <a:gd name="f951" fmla="val 88"/>
                <a:gd name="f952" fmla="val 2164"/>
                <a:gd name="f953" fmla="val 95"/>
                <a:gd name="f954" fmla="val 102"/>
                <a:gd name="f955" fmla="val 125"/>
                <a:gd name="f956" fmla="val 202"/>
                <a:gd name="f957" fmla="val 2135"/>
                <a:gd name="f958" fmla="val 2165"/>
                <a:gd name="f959" fmla="val 213"/>
                <a:gd name="f960" fmla="val 406"/>
                <a:gd name="f961" fmla="val 396"/>
                <a:gd name="f962" fmla="val 385"/>
                <a:gd name="f963" fmla="val 375"/>
                <a:gd name="f964" fmla="val 358"/>
                <a:gd name="f965" fmla="val 349"/>
                <a:gd name="f966" fmla="val 341"/>
                <a:gd name="f967" fmla="val 2047"/>
                <a:gd name="f968" fmla="val 334"/>
                <a:gd name="f969" fmla="val 2062"/>
                <a:gd name="f970" fmla="val 322"/>
                <a:gd name="f971" fmla="val 2071"/>
                <a:gd name="f972" fmla="val 317"/>
                <a:gd name="f973" fmla="val 313"/>
                <a:gd name="f974" fmla="val 2102"/>
                <a:gd name="f975" fmla="val 308"/>
                <a:gd name="f976" fmla="val 306"/>
                <a:gd name="f977" fmla="val 2125"/>
                <a:gd name="f978" fmla="val 2138"/>
                <a:gd name="f979" fmla="val 2150"/>
                <a:gd name="f980" fmla="val 2163"/>
                <a:gd name="f981" fmla="val 2194"/>
                <a:gd name="f982" fmla="val 2204"/>
                <a:gd name="f983" fmla="val 2229"/>
                <a:gd name="f984" fmla="val 438"/>
                <a:gd name="f985" fmla="val 447"/>
                <a:gd name="f986" fmla="val 456"/>
                <a:gd name="f987" fmla="val 465"/>
                <a:gd name="f988" fmla="val 472"/>
                <a:gd name="f989" fmla="val 479"/>
                <a:gd name="f990" fmla="val 486"/>
                <a:gd name="f991" fmla="val 491"/>
                <a:gd name="f992" fmla="val 496"/>
                <a:gd name="f993" fmla="val 500"/>
                <a:gd name="f994" fmla="val 503"/>
                <a:gd name="f995" fmla="val 505"/>
                <a:gd name="f996" fmla="val 508"/>
                <a:gd name="f997" fmla="val 2198"/>
                <a:gd name="f998" fmla="val 381"/>
                <a:gd name="f999" fmla="val 374"/>
                <a:gd name="f1000" fmla="val 369"/>
                <a:gd name="f1001" fmla="val 2176"/>
                <a:gd name="f1002" fmla="val 364"/>
                <a:gd name="f1003" fmla="val 362"/>
                <a:gd name="f1004" fmla="val 2124"/>
                <a:gd name="f1005" fmla="val 425"/>
                <a:gd name="f1006" fmla="val 439"/>
                <a:gd name="f1007" fmla="val 445"/>
                <a:gd name="f1008" fmla="val 448"/>
                <a:gd name="f1009" fmla="val 450"/>
                <a:gd name="f1010" fmla="val 451"/>
                <a:gd name="f1011" fmla="val 2269"/>
                <a:gd name="f1012" fmla="val 2260"/>
                <a:gd name="f1013" fmla="val 2233"/>
                <a:gd name="f1014" fmla="val 2223"/>
                <a:gd name="f1015" fmla="val 2215"/>
                <a:gd name="f1016" fmla="val 2208"/>
                <a:gd name="f1017" fmla="val 2195"/>
                <a:gd name="f1018" fmla="val 2193"/>
                <a:gd name="f1019" fmla="val 2275"/>
                <a:gd name="f1020" fmla="val 1744"/>
                <a:gd name="f1021" fmla="val 1597"/>
                <a:gd name="f1022" fmla="val 2002"/>
                <a:gd name="f1023" fmla="val 1992"/>
                <a:gd name="f1024" fmla="val 1981"/>
                <a:gd name="f1025" fmla="val 1971"/>
                <a:gd name="f1026" fmla="val 1953"/>
                <a:gd name="f1027" fmla="val 1945"/>
                <a:gd name="f1028" fmla="val 1937"/>
                <a:gd name="f1029" fmla="val 1930"/>
                <a:gd name="f1030" fmla="val 1924"/>
                <a:gd name="f1031" fmla="val 1918"/>
                <a:gd name="f1032" fmla="val 1913"/>
                <a:gd name="f1033" fmla="val 1909"/>
                <a:gd name="f1034" fmla="val 1906"/>
                <a:gd name="f1035" fmla="val 1903"/>
                <a:gd name="f1036" fmla="val 2114"/>
                <a:gd name="f1037" fmla="val 1902"/>
                <a:gd name="f1038" fmla="val 2013"/>
                <a:gd name="f1039" fmla="val 2034"/>
                <a:gd name="f1040" fmla="val 2068"/>
                <a:gd name="f1041" fmla="val 2087"/>
                <a:gd name="f1042" fmla="val 2104"/>
                <a:gd name="f1043" fmla="val 1984"/>
                <a:gd name="f1044" fmla="val 1977"/>
                <a:gd name="f1045" fmla="val 1970"/>
                <a:gd name="f1046" fmla="val 1964"/>
                <a:gd name="f1047" fmla="val 1960"/>
                <a:gd name="f1048" fmla="val 1958"/>
                <a:gd name="f1049" fmla="val 2112"/>
                <a:gd name="f1050" fmla="val 2012"/>
                <a:gd name="f1051" fmla="val 837"/>
                <a:gd name="f1052" fmla="val 904"/>
                <a:gd name="f1053" fmla="val 843"/>
                <a:gd name="f1054" fmla="val 797"/>
                <a:gd name="f1055" fmla="val 2146"/>
                <a:gd name="f1056" fmla="val 767"/>
                <a:gd name="f1057" fmla="val 2182"/>
                <a:gd name="f1058" fmla="val 713"/>
                <a:gd name="f1059" fmla="val 788"/>
                <a:gd name="f1060" fmla="val 896"/>
                <a:gd name="f1061" fmla="val 1097"/>
                <a:gd name="f1062" fmla="val 1042"/>
                <a:gd name="f1063" fmla="val 1103"/>
                <a:gd name="f1064" fmla="val 1108"/>
                <a:gd name="f1065" fmla="val 1115"/>
                <a:gd name="f1066" fmla="val 1121"/>
                <a:gd name="f1067" fmla="val 1129"/>
                <a:gd name="f1068" fmla="val 1144"/>
                <a:gd name="f1069" fmla="val 1153"/>
                <a:gd name="f1070" fmla="val 1163"/>
                <a:gd name="f1071" fmla="val 1172"/>
                <a:gd name="f1072" fmla="val 1180"/>
                <a:gd name="f1073" fmla="val 1189"/>
                <a:gd name="f1074" fmla="val 1195"/>
                <a:gd name="f1075" fmla="val 1202"/>
                <a:gd name="f1076" fmla="val 1218"/>
                <a:gd name="f1077" fmla="val 1223"/>
                <a:gd name="f1078" fmla="val 1226"/>
                <a:gd name="f1079" fmla="val 1229"/>
                <a:gd name="f1080" fmla="val 1232"/>
                <a:gd name="f1081" fmla="val 1234"/>
                <a:gd name="f1082" fmla="val 1235"/>
                <a:gd name="f1083" fmla="val 2126"/>
                <a:gd name="f1084" fmla="val 1179"/>
                <a:gd name="f1085" fmla="val 1178"/>
                <a:gd name="f1086" fmla="val 1174"/>
                <a:gd name="f1087" fmla="val 2093"/>
                <a:gd name="f1088" fmla="val 1170"/>
                <a:gd name="f1089" fmla="val 1164"/>
                <a:gd name="f1090" fmla="val 1149"/>
                <a:gd name="f1091" fmla="val 1139"/>
                <a:gd name="f1092" fmla="val 1130"/>
                <a:gd name="f1093" fmla="val 1114"/>
                <a:gd name="f1094" fmla="val 1104"/>
                <a:gd name="f1095" fmla="val 1100"/>
                <a:gd name="f1096" fmla="val 1098"/>
                <a:gd name="f1097" fmla="val 1349"/>
                <a:gd name="f1098" fmla="val 1340"/>
                <a:gd name="f1099" fmla="val 1308"/>
                <a:gd name="f1100" fmla="val 1301"/>
                <a:gd name="f1101" fmla="val 1295"/>
                <a:gd name="f1102" fmla="val 1289"/>
                <a:gd name="f1103" fmla="val 1285"/>
                <a:gd name="f1104" fmla="val 1280"/>
                <a:gd name="f1105" fmla="val 1277"/>
                <a:gd name="f1106" fmla="val 1275"/>
                <a:gd name="f1107" fmla="val 1273"/>
                <a:gd name="f1108" fmla="val 1300"/>
                <a:gd name="f1109" fmla="val 1307"/>
                <a:gd name="f1110" fmla="val 1313"/>
                <a:gd name="f1111" fmla="val 1330"/>
                <a:gd name="f1112" fmla="val 1339"/>
                <a:gd name="f1113" fmla="val 1348"/>
                <a:gd name="f1114" fmla="val 1357"/>
                <a:gd name="f1115" fmla="val 1404"/>
                <a:gd name="f1116" fmla="val 2271"/>
                <a:gd name="f1117" fmla="val 1399"/>
                <a:gd name="f1118" fmla="val 2279"/>
                <a:gd name="f1119" fmla="val 2284"/>
                <a:gd name="f1120" fmla="val 2287"/>
                <a:gd name="f1121" fmla="val 1370"/>
                <a:gd name="f1122" fmla="val 2293"/>
                <a:gd name="f1123" fmla="val 1361"/>
                <a:gd name="f1124" fmla="val 2295"/>
                <a:gd name="f1125" fmla="val 1350"/>
                <a:gd name="f1126" fmla="val 2296"/>
                <a:gd name="f1127" fmla="val 1337"/>
                <a:gd name="f1128" fmla="val 1334"/>
                <a:gd name="f1129" fmla="val 1354"/>
                <a:gd name="f1130" fmla="val 1355"/>
                <a:gd name="f1131" fmla="val 1381"/>
                <a:gd name="f1132" fmla="val 2338"/>
                <a:gd name="f1133" fmla="val 2335"/>
                <a:gd name="f1134" fmla="val 2328"/>
                <a:gd name="f1135" fmla="val 1442"/>
                <a:gd name="f1136" fmla="val 1448"/>
                <a:gd name="f1137" fmla="val 1452"/>
                <a:gd name="f1138" fmla="val 2286"/>
                <a:gd name="f1139" fmla="val 1456"/>
                <a:gd name="f1140" fmla="val 2276"/>
                <a:gd name="f1141" fmla="val 1459"/>
                <a:gd name="f1142" fmla="val 1461"/>
                <a:gd name="f1143" fmla="val 1462"/>
                <a:gd name="f1144" fmla="val 1401"/>
                <a:gd name="f1145" fmla="val 1393"/>
                <a:gd name="f1146" fmla="val 1387"/>
                <a:gd name="f1147" fmla="val 1382"/>
                <a:gd name="f1148" fmla="val 1362"/>
                <a:gd name="f1149" fmla="val 1341"/>
                <a:gd name="f1150" fmla="val 1335"/>
                <a:gd name="f1151" fmla="val 1329"/>
                <a:gd name="f1152" fmla="val 1328"/>
                <a:gd name="f1153" fmla="val 1383"/>
                <a:gd name="f1154" fmla="val 1388"/>
                <a:gd name="f1155" fmla="val 1394"/>
                <a:gd name="f1156" fmla="val 938"/>
                <a:gd name="f1157" fmla="val 993"/>
                <a:gd name="f1158" fmla="val 1967"/>
                <a:gd name="f1159" fmla="val 1995"/>
                <a:gd name="f1160" fmla="val 2309"/>
                <a:gd name="f1161" fmla="val 2364"/>
                <a:gd name="f1162" fmla="val 2127"/>
                <a:gd name="f1163" fmla="val 397"/>
                <a:gd name="f1164" fmla="val 850"/>
                <a:gd name="f1165" fmla="val 495"/>
                <a:gd name="f1166" fmla="val 288"/>
                <a:gd name="f1167" fmla="val 898"/>
                <a:gd name="f1168" fmla="val 732"/>
                <a:gd name="f1169" fmla="val 1251"/>
                <a:gd name="f1170" fmla="val 1023"/>
                <a:gd name="f1171" fmla="val 963"/>
                <a:gd name="f1172" fmla="val 1477"/>
                <a:gd name="f1173" fmla="val 1265"/>
                <a:gd name="f1174" fmla="val 1287"/>
                <a:gd name="f1175" fmla="val 1661"/>
                <a:gd name="f1176" fmla="+- 0 0 -90"/>
                <a:gd name="f1177" fmla="*/ f3 1 3088"/>
                <a:gd name="f1178" fmla="*/ f4 1 2339"/>
                <a:gd name="f1179" fmla="+- f7 0 f5"/>
                <a:gd name="f1180" fmla="+- f6 0 f5"/>
                <a:gd name="f1181" fmla="*/ f1176 f0 1"/>
                <a:gd name="f1182" fmla="*/ f1180 1 3088"/>
                <a:gd name="f1183" fmla="*/ f1179 1 2339"/>
                <a:gd name="f1184" fmla="*/ 233 f1180 1"/>
                <a:gd name="f1185" fmla="*/ 1588 f1179 1"/>
                <a:gd name="f1186" fmla="*/ 253 f1180 1"/>
                <a:gd name="f1187" fmla="*/ 1795 f1179 1"/>
                <a:gd name="f1188" fmla="*/ 151 f1180 1"/>
                <a:gd name="f1189" fmla="*/ 1810 f1179 1"/>
                <a:gd name="f1190" fmla="*/ 351 f1180 1"/>
                <a:gd name="f1191" fmla="*/ 1761 f1179 1"/>
                <a:gd name="f1192" fmla="*/ 416 f1180 1"/>
                <a:gd name="f1193" fmla="*/ 1857 f1179 1"/>
                <a:gd name="f1194" fmla="*/ 1140 f1180 1"/>
                <a:gd name="f1195" fmla="*/ 1652 f1179 1"/>
                <a:gd name="f1196" fmla="*/ 1216 f1180 1"/>
                <a:gd name="f1197" fmla="*/ 1738 f1179 1"/>
                <a:gd name="f1198" fmla="*/ 696 f1180 1"/>
                <a:gd name="f1199" fmla="*/ 1546 f1179 1"/>
                <a:gd name="f1200" fmla="*/ 738 f1180 1"/>
                <a:gd name="f1201" fmla="*/ 1710 f1179 1"/>
                <a:gd name="f1202" fmla="*/ 860 f1180 1"/>
                <a:gd name="f1203" fmla="*/ 1854 f1179 1"/>
                <a:gd name="f1204" fmla="*/ 832 f1180 1"/>
                <a:gd name="f1205" fmla="*/ 1684 f1179 1"/>
                <a:gd name="f1206" fmla="*/ 2021 f1180 1"/>
                <a:gd name="f1207" fmla="*/ 1860 f1179 1"/>
                <a:gd name="f1208" fmla="*/ 2158 f1180 1"/>
                <a:gd name="f1209" fmla="*/ 1747 f1179 1"/>
                <a:gd name="f1210" fmla="*/ 2100 f1180 1"/>
                <a:gd name="f1211" fmla="*/ 1730 f1179 1"/>
                <a:gd name="f1212" fmla="*/ 2059 f1180 1"/>
                <a:gd name="f1213" fmla="*/ 1309 f1180 1"/>
                <a:gd name="f1214" fmla="*/ 1734 f1179 1"/>
                <a:gd name="f1215" fmla="*/ 1445 f1180 1"/>
                <a:gd name="f1216" fmla="*/ 1844 f1179 1"/>
                <a:gd name="f1217" fmla="*/ 1473 f1180 1"/>
                <a:gd name="f1218" fmla="*/ 1923 f1179 1"/>
                <a:gd name="f1219" fmla="*/ 1369 f1180 1"/>
                <a:gd name="f1220" fmla="*/ 1781 f1179 1"/>
                <a:gd name="f1221" fmla="*/ 1727 f1180 1"/>
                <a:gd name="f1222" fmla="*/ 1677 f1179 1"/>
                <a:gd name="f1223" fmla="*/ 1632 f1180 1"/>
                <a:gd name="f1224" fmla="*/ 1778 f1179 1"/>
                <a:gd name="f1225" fmla="*/ 1822 f1180 1"/>
                <a:gd name="f1226" fmla="*/ 1686 f1180 1"/>
                <a:gd name="f1227" fmla="*/ 1786 f1179 1"/>
                <a:gd name="f1228" fmla="*/ 1708 f1180 1"/>
                <a:gd name="f1229" fmla="*/ 1817 f1179 1"/>
                <a:gd name="f1230" fmla="*/ 2240 f1180 1"/>
                <a:gd name="f1231" fmla="*/ 1766 f1179 1"/>
                <a:gd name="f1232" fmla="*/ 2227 f1180 1"/>
                <a:gd name="f1233" fmla="*/ 1653 f1179 1"/>
                <a:gd name="f1234" fmla="*/ 2290 f1180 1"/>
                <a:gd name="f1235" fmla="*/ 1866 f1179 1"/>
                <a:gd name="f1236" fmla="*/ 2321 f1180 1"/>
                <a:gd name="f1237" fmla="*/ 1709 f1179 1"/>
                <a:gd name="f1238" fmla="*/ 2908 f1180 1"/>
                <a:gd name="f1239" fmla="*/ 1750 f1179 1"/>
                <a:gd name="f1240" fmla="*/ 2730 f1180 1"/>
                <a:gd name="f1241" fmla="*/ 1683 f1179 1"/>
                <a:gd name="f1242" fmla="*/ 2852 f1180 1"/>
                <a:gd name="f1243" fmla="*/ 2639 f1180 1"/>
                <a:gd name="f1244" fmla="*/ 1783 f1179 1"/>
                <a:gd name="f1245" fmla="*/ 2605 f1180 1"/>
                <a:gd name="f1246" fmla="*/ 1853 f1179 1"/>
                <a:gd name="f1247" fmla="*/ 2464 f1180 1"/>
                <a:gd name="f1248" fmla="*/ 1861 f1179 1"/>
                <a:gd name="f1249" fmla="*/ 2495 f1180 1"/>
                <a:gd name="f1250" fmla="*/ 1812 f1179 1"/>
                <a:gd name="f1251" fmla="*/ 2998 f1180 1"/>
                <a:gd name="f1252" fmla="*/ 1639 f1179 1"/>
                <a:gd name="f1253" fmla="*/ 975 f1180 1"/>
                <a:gd name="f1254" fmla="*/ 2416 f1180 1"/>
                <a:gd name="f1255" fmla="*/ 2069 f1179 1"/>
                <a:gd name="f1256" fmla="*/ 2510 f1180 1"/>
                <a:gd name="f1257" fmla="*/ 2251 f1179 1"/>
                <a:gd name="f1258" fmla="*/ 2485 f1180 1"/>
                <a:gd name="f1259" fmla="*/ 2074 f1179 1"/>
                <a:gd name="f1260" fmla="*/ 627 f1180 1"/>
                <a:gd name="f1261" fmla="*/ 2078 f1179 1"/>
                <a:gd name="f1262" fmla="*/ 672 f1180 1"/>
                <a:gd name="f1263" fmla="*/ 2089 f1179 1"/>
                <a:gd name="f1264" fmla="*/ 202 f1180 1"/>
                <a:gd name="f1265" fmla="*/ 2135 f1179 1"/>
                <a:gd name="f1266" fmla="*/ 310 f1180 1"/>
                <a:gd name="f1267" fmla="*/ 2174 f1179 1"/>
                <a:gd name="f1268" fmla="*/ 503 f1180 1"/>
                <a:gd name="f1269" fmla="*/ 374 f1180 1"/>
                <a:gd name="f1270" fmla="*/ 2185 f1179 1"/>
                <a:gd name="f1271" fmla="*/ 439 f1180 1"/>
                <a:gd name="f1272" fmla="*/ 2197 f1180 1"/>
                <a:gd name="f1273" fmla="*/ 2040 f1179 1"/>
                <a:gd name="f1274" fmla="*/ 1597 f1180 1"/>
                <a:gd name="f1275" fmla="*/ 2027 f1179 1"/>
                <a:gd name="f1276" fmla="*/ 1937 f1180 1"/>
                <a:gd name="f1277" fmla="*/ 2047 f1179 1"/>
                <a:gd name="f1278" fmla="*/ 2002 f1180 1"/>
                <a:gd name="f1279" fmla="*/ 2254 f1179 1"/>
                <a:gd name="f1280" fmla="*/ 2061 f1180 1"/>
                <a:gd name="f1281" fmla="*/ 2041 f1179 1"/>
                <a:gd name="f1282" fmla="*/ 2073 f1179 1"/>
                <a:gd name="f1283" fmla="*/ 767 f1180 1"/>
                <a:gd name="f1284" fmla="*/ 1934 f1179 1"/>
                <a:gd name="f1285" fmla="*/ 1202 f1180 1"/>
                <a:gd name="f1286" fmla="*/ 2037 f1179 1"/>
                <a:gd name="f1287" fmla="*/ 1108 f1180 1"/>
                <a:gd name="f1288" fmla="*/ 2086 f1179 1"/>
                <a:gd name="f1289" fmla="*/ 1280 f1180 1"/>
                <a:gd name="f1290" fmla="*/ 1385 f1180 1"/>
                <a:gd name="f1291" fmla="*/ 2249 f1179 1"/>
                <a:gd name="f1292" fmla="*/ 1403 f1180 1"/>
                <a:gd name="f1293" fmla="*/ 2332 f1179 1"/>
                <a:gd name="f1294" fmla="*/ 1354 f1180 1"/>
                <a:gd name="f1295" fmla="*/ 2200 f1179 1"/>
                <a:gd name="f1296" fmla="*/ 993 f1180 1"/>
                <a:gd name="f1297" fmla="*/ 2123 f1179 1"/>
                <a:gd name="f1298" fmla="*/ 397 f1180 1"/>
                <a:gd name="f1299" fmla="*/ 963 f1179 1"/>
                <a:gd name="f1300" fmla="*/ f1181 1 f2"/>
                <a:gd name="f1301" fmla="*/ f1184 1 3088"/>
                <a:gd name="f1302" fmla="*/ f1185 1 2339"/>
                <a:gd name="f1303" fmla="*/ f1186 1 3088"/>
                <a:gd name="f1304" fmla="*/ f1187 1 2339"/>
                <a:gd name="f1305" fmla="*/ f1188 1 3088"/>
                <a:gd name="f1306" fmla="*/ f1189 1 2339"/>
                <a:gd name="f1307" fmla="*/ f1190 1 3088"/>
                <a:gd name="f1308" fmla="*/ f1191 1 2339"/>
                <a:gd name="f1309" fmla="*/ f1192 1 3088"/>
                <a:gd name="f1310" fmla="*/ f1193 1 2339"/>
                <a:gd name="f1311" fmla="*/ f1194 1 3088"/>
                <a:gd name="f1312" fmla="*/ f1195 1 2339"/>
                <a:gd name="f1313" fmla="*/ f1196 1 3088"/>
                <a:gd name="f1314" fmla="*/ f1197 1 2339"/>
                <a:gd name="f1315" fmla="*/ f1198 1 3088"/>
                <a:gd name="f1316" fmla="*/ f1199 1 2339"/>
                <a:gd name="f1317" fmla="*/ f1200 1 3088"/>
                <a:gd name="f1318" fmla="*/ f1201 1 2339"/>
                <a:gd name="f1319" fmla="*/ f1202 1 3088"/>
                <a:gd name="f1320" fmla="*/ f1203 1 2339"/>
                <a:gd name="f1321" fmla="*/ f1204 1 3088"/>
                <a:gd name="f1322" fmla="*/ f1205 1 2339"/>
                <a:gd name="f1323" fmla="*/ f1206 1 3088"/>
                <a:gd name="f1324" fmla="*/ f1207 1 2339"/>
                <a:gd name="f1325" fmla="*/ f1208 1 3088"/>
                <a:gd name="f1326" fmla="*/ f1209 1 2339"/>
                <a:gd name="f1327" fmla="*/ f1210 1 3088"/>
                <a:gd name="f1328" fmla="*/ f1211 1 2339"/>
                <a:gd name="f1329" fmla="*/ f1212 1 3088"/>
                <a:gd name="f1330" fmla="*/ f1213 1 3088"/>
                <a:gd name="f1331" fmla="*/ f1214 1 2339"/>
                <a:gd name="f1332" fmla="*/ f1215 1 3088"/>
                <a:gd name="f1333" fmla="*/ f1216 1 2339"/>
                <a:gd name="f1334" fmla="*/ f1217 1 3088"/>
                <a:gd name="f1335" fmla="*/ f1218 1 2339"/>
                <a:gd name="f1336" fmla="*/ f1219 1 3088"/>
                <a:gd name="f1337" fmla="*/ f1220 1 2339"/>
                <a:gd name="f1338" fmla="*/ f1221 1 3088"/>
                <a:gd name="f1339" fmla="*/ f1222 1 2339"/>
                <a:gd name="f1340" fmla="*/ f1223 1 3088"/>
                <a:gd name="f1341" fmla="*/ f1224 1 2339"/>
                <a:gd name="f1342" fmla="*/ f1225 1 3088"/>
                <a:gd name="f1343" fmla="*/ f1226 1 3088"/>
                <a:gd name="f1344" fmla="*/ f1227 1 2339"/>
                <a:gd name="f1345" fmla="*/ f1228 1 3088"/>
                <a:gd name="f1346" fmla="*/ f1229 1 2339"/>
                <a:gd name="f1347" fmla="*/ f1230 1 3088"/>
                <a:gd name="f1348" fmla="*/ f1231 1 2339"/>
                <a:gd name="f1349" fmla="*/ f1232 1 3088"/>
                <a:gd name="f1350" fmla="*/ f1233 1 2339"/>
                <a:gd name="f1351" fmla="*/ f1234 1 3088"/>
                <a:gd name="f1352" fmla="*/ f1235 1 2339"/>
                <a:gd name="f1353" fmla="*/ f1236 1 3088"/>
                <a:gd name="f1354" fmla="*/ f1237 1 2339"/>
                <a:gd name="f1355" fmla="*/ f1238 1 3088"/>
                <a:gd name="f1356" fmla="*/ f1239 1 2339"/>
                <a:gd name="f1357" fmla="*/ f1240 1 3088"/>
                <a:gd name="f1358" fmla="*/ f1241 1 2339"/>
                <a:gd name="f1359" fmla="*/ f1242 1 3088"/>
                <a:gd name="f1360" fmla="*/ f1243 1 3088"/>
                <a:gd name="f1361" fmla="*/ f1244 1 2339"/>
                <a:gd name="f1362" fmla="*/ f1245 1 3088"/>
                <a:gd name="f1363" fmla="*/ f1246 1 2339"/>
                <a:gd name="f1364" fmla="*/ f1247 1 3088"/>
                <a:gd name="f1365" fmla="*/ f1248 1 2339"/>
                <a:gd name="f1366" fmla="*/ f1249 1 3088"/>
                <a:gd name="f1367" fmla="*/ f1250 1 2339"/>
                <a:gd name="f1368" fmla="*/ f1251 1 3088"/>
                <a:gd name="f1369" fmla="*/ f1252 1 2339"/>
                <a:gd name="f1370" fmla="*/ f1253 1 3088"/>
                <a:gd name="f1371" fmla="*/ f1254 1 3088"/>
                <a:gd name="f1372" fmla="*/ f1255 1 2339"/>
                <a:gd name="f1373" fmla="*/ f1256 1 3088"/>
                <a:gd name="f1374" fmla="*/ f1257 1 2339"/>
                <a:gd name="f1375" fmla="*/ f1258 1 3088"/>
                <a:gd name="f1376" fmla="*/ f1259 1 2339"/>
                <a:gd name="f1377" fmla="*/ f1260 1 3088"/>
                <a:gd name="f1378" fmla="*/ f1261 1 2339"/>
                <a:gd name="f1379" fmla="*/ f1262 1 3088"/>
                <a:gd name="f1380" fmla="*/ f1263 1 2339"/>
                <a:gd name="f1381" fmla="*/ f1264 1 3088"/>
                <a:gd name="f1382" fmla="*/ f1265 1 2339"/>
                <a:gd name="f1383" fmla="*/ f1266 1 3088"/>
                <a:gd name="f1384" fmla="*/ f1267 1 2339"/>
                <a:gd name="f1385" fmla="*/ f1268 1 3088"/>
                <a:gd name="f1386" fmla="*/ f1269 1 3088"/>
                <a:gd name="f1387" fmla="*/ f1270 1 2339"/>
                <a:gd name="f1388" fmla="*/ f1271 1 3088"/>
                <a:gd name="f1389" fmla="*/ f1272 1 3088"/>
                <a:gd name="f1390" fmla="*/ f1273 1 2339"/>
                <a:gd name="f1391" fmla="*/ f1274 1 3088"/>
                <a:gd name="f1392" fmla="*/ f1275 1 2339"/>
                <a:gd name="f1393" fmla="*/ f1276 1 3088"/>
                <a:gd name="f1394" fmla="*/ f1277 1 2339"/>
                <a:gd name="f1395" fmla="*/ f1278 1 3088"/>
                <a:gd name="f1396" fmla="*/ f1279 1 2339"/>
                <a:gd name="f1397" fmla="*/ f1280 1 3088"/>
                <a:gd name="f1398" fmla="*/ f1281 1 2339"/>
                <a:gd name="f1399" fmla="*/ f1282 1 2339"/>
                <a:gd name="f1400" fmla="*/ f1283 1 3088"/>
                <a:gd name="f1401" fmla="*/ f1284 1 2339"/>
                <a:gd name="f1402" fmla="*/ f1285 1 3088"/>
                <a:gd name="f1403" fmla="*/ f1286 1 2339"/>
                <a:gd name="f1404" fmla="*/ f1287 1 3088"/>
                <a:gd name="f1405" fmla="*/ f1288 1 2339"/>
                <a:gd name="f1406" fmla="*/ f1289 1 3088"/>
                <a:gd name="f1407" fmla="*/ f1290 1 3088"/>
                <a:gd name="f1408" fmla="*/ f1291 1 2339"/>
                <a:gd name="f1409" fmla="*/ f1292 1 3088"/>
                <a:gd name="f1410" fmla="*/ f1293 1 2339"/>
                <a:gd name="f1411" fmla="*/ f1294 1 3088"/>
                <a:gd name="f1412" fmla="*/ f1295 1 2339"/>
                <a:gd name="f1413" fmla="*/ f1296 1 3088"/>
                <a:gd name="f1414" fmla="*/ f1297 1 2339"/>
                <a:gd name="f1415" fmla="*/ f1298 1 3088"/>
                <a:gd name="f1416" fmla="*/ f1299 1 2339"/>
                <a:gd name="f1417" fmla="*/ 0 1 f1182"/>
                <a:gd name="f1418" fmla="*/ f6 1 f1182"/>
                <a:gd name="f1419" fmla="*/ 0 1 f1183"/>
                <a:gd name="f1420" fmla="*/ f7 1 f1183"/>
                <a:gd name="f1421" fmla="+- f1300 0 f1"/>
                <a:gd name="f1422" fmla="*/ f1301 1 f1182"/>
                <a:gd name="f1423" fmla="*/ f1302 1 f1183"/>
                <a:gd name="f1424" fmla="*/ f1303 1 f1182"/>
                <a:gd name="f1425" fmla="*/ f1304 1 f1183"/>
                <a:gd name="f1426" fmla="*/ f1305 1 f1182"/>
                <a:gd name="f1427" fmla="*/ f1306 1 f1183"/>
                <a:gd name="f1428" fmla="*/ f1307 1 f1182"/>
                <a:gd name="f1429" fmla="*/ f1308 1 f1183"/>
                <a:gd name="f1430" fmla="*/ f1309 1 f1182"/>
                <a:gd name="f1431" fmla="*/ f1310 1 f1183"/>
                <a:gd name="f1432" fmla="*/ f1311 1 f1182"/>
                <a:gd name="f1433" fmla="*/ f1312 1 f1183"/>
                <a:gd name="f1434" fmla="*/ f1313 1 f1182"/>
                <a:gd name="f1435" fmla="*/ f1314 1 f1183"/>
                <a:gd name="f1436" fmla="*/ f1315 1 f1182"/>
                <a:gd name="f1437" fmla="*/ f1316 1 f1183"/>
                <a:gd name="f1438" fmla="*/ f1317 1 f1182"/>
                <a:gd name="f1439" fmla="*/ f1318 1 f1183"/>
                <a:gd name="f1440" fmla="*/ f1319 1 f1182"/>
                <a:gd name="f1441" fmla="*/ f1320 1 f1183"/>
                <a:gd name="f1442" fmla="*/ f1321 1 f1182"/>
                <a:gd name="f1443" fmla="*/ f1322 1 f1183"/>
                <a:gd name="f1444" fmla="*/ f1323 1 f1182"/>
                <a:gd name="f1445" fmla="*/ f1324 1 f1183"/>
                <a:gd name="f1446" fmla="*/ f1325 1 f1182"/>
                <a:gd name="f1447" fmla="*/ f1326 1 f1183"/>
                <a:gd name="f1448" fmla="*/ f1327 1 f1182"/>
                <a:gd name="f1449" fmla="*/ f1328 1 f1183"/>
                <a:gd name="f1450" fmla="*/ f1329 1 f1182"/>
                <a:gd name="f1451" fmla="*/ f1330 1 f1182"/>
                <a:gd name="f1452" fmla="*/ f1331 1 f1183"/>
                <a:gd name="f1453" fmla="*/ f1332 1 f1182"/>
                <a:gd name="f1454" fmla="*/ f1333 1 f1183"/>
                <a:gd name="f1455" fmla="*/ f1334 1 f1182"/>
                <a:gd name="f1456" fmla="*/ f1335 1 f1183"/>
                <a:gd name="f1457" fmla="*/ f1336 1 f1182"/>
                <a:gd name="f1458" fmla="*/ f1337 1 f1183"/>
                <a:gd name="f1459" fmla="*/ f1338 1 f1182"/>
                <a:gd name="f1460" fmla="*/ f1339 1 f1183"/>
                <a:gd name="f1461" fmla="*/ f1340 1 f1182"/>
                <a:gd name="f1462" fmla="*/ f1341 1 f1183"/>
                <a:gd name="f1463" fmla="*/ f1342 1 f1182"/>
                <a:gd name="f1464" fmla="*/ f1343 1 f1182"/>
                <a:gd name="f1465" fmla="*/ f1344 1 f1183"/>
                <a:gd name="f1466" fmla="*/ f1345 1 f1182"/>
                <a:gd name="f1467" fmla="*/ f1346 1 f1183"/>
                <a:gd name="f1468" fmla="*/ f1347 1 f1182"/>
                <a:gd name="f1469" fmla="*/ f1348 1 f1183"/>
                <a:gd name="f1470" fmla="*/ f1349 1 f1182"/>
                <a:gd name="f1471" fmla="*/ f1350 1 f1183"/>
                <a:gd name="f1472" fmla="*/ f1351 1 f1182"/>
                <a:gd name="f1473" fmla="*/ f1352 1 f1183"/>
                <a:gd name="f1474" fmla="*/ f1353 1 f1182"/>
                <a:gd name="f1475" fmla="*/ f1354 1 f1183"/>
                <a:gd name="f1476" fmla="*/ f1355 1 f1182"/>
                <a:gd name="f1477" fmla="*/ f1356 1 f1183"/>
                <a:gd name="f1478" fmla="*/ f1357 1 f1182"/>
                <a:gd name="f1479" fmla="*/ f1358 1 f1183"/>
                <a:gd name="f1480" fmla="*/ f1359 1 f1182"/>
                <a:gd name="f1481" fmla="*/ f1360 1 f1182"/>
                <a:gd name="f1482" fmla="*/ f1361 1 f1183"/>
                <a:gd name="f1483" fmla="*/ f1362 1 f1182"/>
                <a:gd name="f1484" fmla="*/ f1363 1 f1183"/>
                <a:gd name="f1485" fmla="*/ f1364 1 f1182"/>
                <a:gd name="f1486" fmla="*/ f1365 1 f1183"/>
                <a:gd name="f1487" fmla="*/ f1366 1 f1182"/>
                <a:gd name="f1488" fmla="*/ f1367 1 f1183"/>
                <a:gd name="f1489" fmla="*/ f1368 1 f1182"/>
                <a:gd name="f1490" fmla="*/ f1369 1 f1183"/>
                <a:gd name="f1491" fmla="*/ f1370 1 f1182"/>
                <a:gd name="f1492" fmla="*/ f1371 1 f1182"/>
                <a:gd name="f1493" fmla="*/ f1372 1 f1183"/>
                <a:gd name="f1494" fmla="*/ f1373 1 f1182"/>
                <a:gd name="f1495" fmla="*/ f1374 1 f1183"/>
                <a:gd name="f1496" fmla="*/ f1375 1 f1182"/>
                <a:gd name="f1497" fmla="*/ f1376 1 f1183"/>
                <a:gd name="f1498" fmla="*/ f1377 1 f1182"/>
                <a:gd name="f1499" fmla="*/ f1378 1 f1183"/>
                <a:gd name="f1500" fmla="*/ f1379 1 f1182"/>
                <a:gd name="f1501" fmla="*/ f1380 1 f1183"/>
                <a:gd name="f1502" fmla="*/ f1381 1 f1182"/>
                <a:gd name="f1503" fmla="*/ f1382 1 f1183"/>
                <a:gd name="f1504" fmla="*/ f1383 1 f1182"/>
                <a:gd name="f1505" fmla="*/ f1384 1 f1183"/>
                <a:gd name="f1506" fmla="*/ f1385 1 f1182"/>
                <a:gd name="f1507" fmla="*/ f1386 1 f1182"/>
                <a:gd name="f1508" fmla="*/ f1387 1 f1183"/>
                <a:gd name="f1509" fmla="*/ f1388 1 f1182"/>
                <a:gd name="f1510" fmla="*/ f1389 1 f1182"/>
                <a:gd name="f1511" fmla="*/ f1390 1 f1183"/>
                <a:gd name="f1512" fmla="*/ f1391 1 f1182"/>
                <a:gd name="f1513" fmla="*/ f1392 1 f1183"/>
                <a:gd name="f1514" fmla="*/ f1393 1 f1182"/>
                <a:gd name="f1515" fmla="*/ f1394 1 f1183"/>
                <a:gd name="f1516" fmla="*/ f1395 1 f1182"/>
                <a:gd name="f1517" fmla="*/ f1396 1 f1183"/>
                <a:gd name="f1518" fmla="*/ f1397 1 f1182"/>
                <a:gd name="f1519" fmla="*/ f1398 1 f1183"/>
                <a:gd name="f1520" fmla="*/ f1399 1 f1183"/>
                <a:gd name="f1521" fmla="*/ f1400 1 f1182"/>
                <a:gd name="f1522" fmla="*/ f1401 1 f1183"/>
                <a:gd name="f1523" fmla="*/ f1402 1 f1182"/>
                <a:gd name="f1524" fmla="*/ f1403 1 f1183"/>
                <a:gd name="f1525" fmla="*/ f1404 1 f1182"/>
                <a:gd name="f1526" fmla="*/ f1405 1 f1183"/>
                <a:gd name="f1527" fmla="*/ f1406 1 f1182"/>
                <a:gd name="f1528" fmla="*/ f1407 1 f1182"/>
                <a:gd name="f1529" fmla="*/ f1408 1 f1183"/>
                <a:gd name="f1530" fmla="*/ f1409 1 f1182"/>
                <a:gd name="f1531" fmla="*/ f1410 1 f1183"/>
                <a:gd name="f1532" fmla="*/ f1411 1 f1182"/>
                <a:gd name="f1533" fmla="*/ f1412 1 f1183"/>
                <a:gd name="f1534" fmla="*/ f1413 1 f1182"/>
                <a:gd name="f1535" fmla="*/ f1414 1 f1183"/>
                <a:gd name="f1536" fmla="*/ f1415 1 f1182"/>
                <a:gd name="f1537" fmla="*/ f1416 1 f1183"/>
                <a:gd name="f1538" fmla="*/ f1417 f1177 1"/>
                <a:gd name="f1539" fmla="*/ f1418 f1177 1"/>
                <a:gd name="f1540" fmla="*/ f1420 f1178 1"/>
                <a:gd name="f1541" fmla="*/ f1419 f1178 1"/>
                <a:gd name="f1542" fmla="*/ f1422 f1177 1"/>
                <a:gd name="f1543" fmla="*/ f1423 f1178 1"/>
                <a:gd name="f1544" fmla="*/ f1424 f1177 1"/>
                <a:gd name="f1545" fmla="*/ f1425 f1178 1"/>
                <a:gd name="f1546" fmla="*/ f1426 f1177 1"/>
                <a:gd name="f1547" fmla="*/ f1427 f1178 1"/>
                <a:gd name="f1548" fmla="*/ f1428 f1177 1"/>
                <a:gd name="f1549" fmla="*/ f1429 f1178 1"/>
                <a:gd name="f1550" fmla="*/ f1430 f1177 1"/>
                <a:gd name="f1551" fmla="*/ f1431 f1178 1"/>
                <a:gd name="f1552" fmla="*/ f1432 f1177 1"/>
                <a:gd name="f1553" fmla="*/ f1433 f1178 1"/>
                <a:gd name="f1554" fmla="*/ f1434 f1177 1"/>
                <a:gd name="f1555" fmla="*/ f1435 f1178 1"/>
                <a:gd name="f1556" fmla="*/ f1436 f1177 1"/>
                <a:gd name="f1557" fmla="*/ f1437 f1178 1"/>
                <a:gd name="f1558" fmla="*/ f1438 f1177 1"/>
                <a:gd name="f1559" fmla="*/ f1439 f1178 1"/>
                <a:gd name="f1560" fmla="*/ f1440 f1177 1"/>
                <a:gd name="f1561" fmla="*/ f1441 f1178 1"/>
                <a:gd name="f1562" fmla="*/ f1442 f1177 1"/>
                <a:gd name="f1563" fmla="*/ f1443 f1178 1"/>
                <a:gd name="f1564" fmla="*/ f1444 f1177 1"/>
                <a:gd name="f1565" fmla="*/ f1445 f1178 1"/>
                <a:gd name="f1566" fmla="*/ f1446 f1177 1"/>
                <a:gd name="f1567" fmla="*/ f1447 f1178 1"/>
                <a:gd name="f1568" fmla="*/ f1448 f1177 1"/>
                <a:gd name="f1569" fmla="*/ f1449 f1178 1"/>
                <a:gd name="f1570" fmla="*/ f1450 f1177 1"/>
                <a:gd name="f1571" fmla="*/ f1451 f1177 1"/>
                <a:gd name="f1572" fmla="*/ f1452 f1178 1"/>
                <a:gd name="f1573" fmla="*/ f1453 f1177 1"/>
                <a:gd name="f1574" fmla="*/ f1454 f1178 1"/>
                <a:gd name="f1575" fmla="*/ f1455 f1177 1"/>
                <a:gd name="f1576" fmla="*/ f1456 f1178 1"/>
                <a:gd name="f1577" fmla="*/ f1457 f1177 1"/>
                <a:gd name="f1578" fmla="*/ f1458 f1178 1"/>
                <a:gd name="f1579" fmla="*/ f1459 f1177 1"/>
                <a:gd name="f1580" fmla="*/ f1460 f1178 1"/>
                <a:gd name="f1581" fmla="*/ f1461 f1177 1"/>
                <a:gd name="f1582" fmla="*/ f1462 f1178 1"/>
                <a:gd name="f1583" fmla="*/ f1463 f1177 1"/>
                <a:gd name="f1584" fmla="*/ f1464 f1177 1"/>
                <a:gd name="f1585" fmla="*/ f1465 f1178 1"/>
                <a:gd name="f1586" fmla="*/ f1466 f1177 1"/>
                <a:gd name="f1587" fmla="*/ f1467 f1178 1"/>
                <a:gd name="f1588" fmla="*/ f1468 f1177 1"/>
                <a:gd name="f1589" fmla="*/ f1469 f1178 1"/>
                <a:gd name="f1590" fmla="*/ f1470 f1177 1"/>
                <a:gd name="f1591" fmla="*/ f1471 f1178 1"/>
                <a:gd name="f1592" fmla="*/ f1472 f1177 1"/>
                <a:gd name="f1593" fmla="*/ f1473 f1178 1"/>
                <a:gd name="f1594" fmla="*/ f1474 f1177 1"/>
                <a:gd name="f1595" fmla="*/ f1475 f1178 1"/>
                <a:gd name="f1596" fmla="*/ f1476 f1177 1"/>
                <a:gd name="f1597" fmla="*/ f1477 f1178 1"/>
                <a:gd name="f1598" fmla="*/ f1478 f1177 1"/>
                <a:gd name="f1599" fmla="*/ f1479 f1178 1"/>
                <a:gd name="f1600" fmla="*/ f1480 f1177 1"/>
                <a:gd name="f1601" fmla="*/ f1481 f1177 1"/>
                <a:gd name="f1602" fmla="*/ f1482 f1178 1"/>
                <a:gd name="f1603" fmla="*/ f1483 f1177 1"/>
                <a:gd name="f1604" fmla="*/ f1484 f1178 1"/>
                <a:gd name="f1605" fmla="*/ f1485 f1177 1"/>
                <a:gd name="f1606" fmla="*/ f1486 f1178 1"/>
                <a:gd name="f1607" fmla="*/ f1487 f1177 1"/>
                <a:gd name="f1608" fmla="*/ f1488 f1178 1"/>
                <a:gd name="f1609" fmla="*/ f1489 f1177 1"/>
                <a:gd name="f1610" fmla="*/ f1490 f1178 1"/>
                <a:gd name="f1611" fmla="*/ f1491 f1177 1"/>
                <a:gd name="f1612" fmla="*/ f1492 f1177 1"/>
                <a:gd name="f1613" fmla="*/ f1493 f1178 1"/>
                <a:gd name="f1614" fmla="*/ f1494 f1177 1"/>
                <a:gd name="f1615" fmla="*/ f1495 f1178 1"/>
                <a:gd name="f1616" fmla="*/ f1496 f1177 1"/>
                <a:gd name="f1617" fmla="*/ f1497 f1178 1"/>
                <a:gd name="f1618" fmla="*/ f1498 f1177 1"/>
                <a:gd name="f1619" fmla="*/ f1499 f1178 1"/>
                <a:gd name="f1620" fmla="*/ f1500 f1177 1"/>
                <a:gd name="f1621" fmla="*/ f1501 f1178 1"/>
                <a:gd name="f1622" fmla="*/ f1502 f1177 1"/>
                <a:gd name="f1623" fmla="*/ f1503 f1178 1"/>
                <a:gd name="f1624" fmla="*/ f1504 f1177 1"/>
                <a:gd name="f1625" fmla="*/ f1505 f1178 1"/>
                <a:gd name="f1626" fmla="*/ f1506 f1177 1"/>
                <a:gd name="f1627" fmla="*/ f1507 f1177 1"/>
                <a:gd name="f1628" fmla="*/ f1508 f1178 1"/>
                <a:gd name="f1629" fmla="*/ f1509 f1177 1"/>
                <a:gd name="f1630" fmla="*/ f1510 f1177 1"/>
                <a:gd name="f1631" fmla="*/ f1511 f1178 1"/>
                <a:gd name="f1632" fmla="*/ f1512 f1177 1"/>
                <a:gd name="f1633" fmla="*/ f1513 f1178 1"/>
                <a:gd name="f1634" fmla="*/ f1514 f1177 1"/>
                <a:gd name="f1635" fmla="*/ f1515 f1178 1"/>
                <a:gd name="f1636" fmla="*/ f1516 f1177 1"/>
                <a:gd name="f1637" fmla="*/ f1517 f1178 1"/>
                <a:gd name="f1638" fmla="*/ f1518 f1177 1"/>
                <a:gd name="f1639" fmla="*/ f1519 f1178 1"/>
                <a:gd name="f1640" fmla="*/ f1520 f1178 1"/>
                <a:gd name="f1641" fmla="*/ f1521 f1177 1"/>
                <a:gd name="f1642" fmla="*/ f1522 f1178 1"/>
                <a:gd name="f1643" fmla="*/ f1523 f1177 1"/>
                <a:gd name="f1644" fmla="*/ f1524 f1178 1"/>
                <a:gd name="f1645" fmla="*/ f1525 f1177 1"/>
                <a:gd name="f1646" fmla="*/ f1526 f1178 1"/>
                <a:gd name="f1647" fmla="*/ f1527 f1177 1"/>
                <a:gd name="f1648" fmla="*/ f1528 f1177 1"/>
                <a:gd name="f1649" fmla="*/ f1529 f1178 1"/>
                <a:gd name="f1650" fmla="*/ f1530 f1177 1"/>
                <a:gd name="f1651" fmla="*/ f1531 f1178 1"/>
                <a:gd name="f1652" fmla="*/ f1532 f1177 1"/>
                <a:gd name="f1653" fmla="*/ f1533 f1178 1"/>
                <a:gd name="f1654" fmla="*/ f1534 f1177 1"/>
                <a:gd name="f1655" fmla="*/ f1535 f1178 1"/>
                <a:gd name="f1656" fmla="*/ f1536 f1177 1"/>
                <a:gd name="f1657" fmla="*/ f1537 f1178 1"/>
              </a:gdLst>
              <a:ahLst/>
              <a:cxnLst>
                <a:cxn ang="3cd4">
                  <a:pos x="hc" y="t"/>
                </a:cxn>
                <a:cxn ang="0">
                  <a:pos x="r" y="vc"/>
                </a:cxn>
                <a:cxn ang="cd4">
                  <a:pos x="hc" y="b"/>
                </a:cxn>
                <a:cxn ang="cd2">
                  <a:pos x="l" y="vc"/>
                </a:cxn>
                <a:cxn ang="f1421">
                  <a:pos x="f1542" y="f1543"/>
                </a:cxn>
                <a:cxn ang="f1421">
                  <a:pos x="f1544" y="f1545"/>
                </a:cxn>
                <a:cxn ang="f1421">
                  <a:pos x="f1546" y="f1547"/>
                </a:cxn>
                <a:cxn ang="f1421">
                  <a:pos x="f1548" y="f1549"/>
                </a:cxn>
                <a:cxn ang="f1421">
                  <a:pos x="f1550" y="f1551"/>
                </a:cxn>
                <a:cxn ang="f1421">
                  <a:pos x="f1552" y="f1553"/>
                </a:cxn>
                <a:cxn ang="f1421">
                  <a:pos x="f1554" y="f1555"/>
                </a:cxn>
                <a:cxn ang="f1421">
                  <a:pos x="f1556" y="f1557"/>
                </a:cxn>
                <a:cxn ang="f1421">
                  <a:pos x="f1558" y="f1559"/>
                </a:cxn>
                <a:cxn ang="f1421">
                  <a:pos x="f1560" y="f1561"/>
                </a:cxn>
                <a:cxn ang="f1421">
                  <a:pos x="f1562" y="f1563"/>
                </a:cxn>
                <a:cxn ang="f1421">
                  <a:pos x="f1564" y="f1565"/>
                </a:cxn>
                <a:cxn ang="f1421">
                  <a:pos x="f1566" y="f1567"/>
                </a:cxn>
                <a:cxn ang="f1421">
                  <a:pos x="f1568" y="f1569"/>
                </a:cxn>
                <a:cxn ang="f1421">
                  <a:pos x="f1570" y="f1563"/>
                </a:cxn>
                <a:cxn ang="f1421">
                  <a:pos x="f1571" y="f1572"/>
                </a:cxn>
                <a:cxn ang="f1421">
                  <a:pos x="f1573" y="f1574"/>
                </a:cxn>
                <a:cxn ang="f1421">
                  <a:pos x="f1575" y="f1576"/>
                </a:cxn>
                <a:cxn ang="f1421">
                  <a:pos x="f1577" y="f1578"/>
                </a:cxn>
                <a:cxn ang="f1421">
                  <a:pos x="f1579" y="f1580"/>
                </a:cxn>
                <a:cxn ang="f1421">
                  <a:pos x="f1581" y="f1582"/>
                </a:cxn>
                <a:cxn ang="f1421">
                  <a:pos x="f1583" y="f1559"/>
                </a:cxn>
                <a:cxn ang="f1421">
                  <a:pos x="f1584" y="f1585"/>
                </a:cxn>
                <a:cxn ang="f1421">
                  <a:pos x="f1586" y="f1587"/>
                </a:cxn>
                <a:cxn ang="f1421">
                  <a:pos x="f1588" y="f1589"/>
                </a:cxn>
                <a:cxn ang="f1421">
                  <a:pos x="f1590" y="f1591"/>
                </a:cxn>
                <a:cxn ang="f1421">
                  <a:pos x="f1592" y="f1593"/>
                </a:cxn>
                <a:cxn ang="f1421">
                  <a:pos x="f1594" y="f1595"/>
                </a:cxn>
                <a:cxn ang="f1421">
                  <a:pos x="f1596" y="f1597"/>
                </a:cxn>
                <a:cxn ang="f1421">
                  <a:pos x="f1598" y="f1599"/>
                </a:cxn>
                <a:cxn ang="f1421">
                  <a:pos x="f1600" y="f1565"/>
                </a:cxn>
                <a:cxn ang="f1421">
                  <a:pos x="f1601" y="f1602"/>
                </a:cxn>
                <a:cxn ang="f1421">
                  <a:pos x="f1603" y="f1604"/>
                </a:cxn>
                <a:cxn ang="f1421">
                  <a:pos x="f1605" y="f1606"/>
                </a:cxn>
                <a:cxn ang="f1421">
                  <a:pos x="f1607" y="f1608"/>
                </a:cxn>
                <a:cxn ang="f1421">
                  <a:pos x="f1609" y="f1610"/>
                </a:cxn>
                <a:cxn ang="f1421">
                  <a:pos x="f1611" y="f1565"/>
                </a:cxn>
                <a:cxn ang="f1421">
                  <a:pos x="f1612" y="f1613"/>
                </a:cxn>
                <a:cxn ang="f1421">
                  <a:pos x="f1614" y="f1615"/>
                </a:cxn>
                <a:cxn ang="f1421">
                  <a:pos x="f1616" y="f1617"/>
                </a:cxn>
                <a:cxn ang="f1421">
                  <a:pos x="f1618" y="f1619"/>
                </a:cxn>
                <a:cxn ang="f1421">
                  <a:pos x="f1620" y="f1621"/>
                </a:cxn>
                <a:cxn ang="f1421">
                  <a:pos x="f1622" y="f1623"/>
                </a:cxn>
                <a:cxn ang="f1421">
                  <a:pos x="f1624" y="f1625"/>
                </a:cxn>
                <a:cxn ang="f1421">
                  <a:pos x="f1626" y="f1625"/>
                </a:cxn>
                <a:cxn ang="f1421">
                  <a:pos x="f1627" y="f1628"/>
                </a:cxn>
                <a:cxn ang="f1421">
                  <a:pos x="f1629" y="f1628"/>
                </a:cxn>
                <a:cxn ang="f1421">
                  <a:pos x="f1630" y="f1631"/>
                </a:cxn>
                <a:cxn ang="f1421">
                  <a:pos x="f1632" y="f1633"/>
                </a:cxn>
                <a:cxn ang="f1421">
                  <a:pos x="f1634" y="f1635"/>
                </a:cxn>
                <a:cxn ang="f1421">
                  <a:pos x="f1636" y="f1637"/>
                </a:cxn>
                <a:cxn ang="f1421">
                  <a:pos x="f1638" y="f1639"/>
                </a:cxn>
                <a:cxn ang="f1421">
                  <a:pos x="f1636" y="f1640"/>
                </a:cxn>
                <a:cxn ang="f1421">
                  <a:pos x="f1641" y="f1642"/>
                </a:cxn>
                <a:cxn ang="f1421">
                  <a:pos x="f1643" y="f1644"/>
                </a:cxn>
                <a:cxn ang="f1421">
                  <a:pos x="f1645" y="f1646"/>
                </a:cxn>
                <a:cxn ang="f1421">
                  <a:pos x="f1647" y="f1619"/>
                </a:cxn>
                <a:cxn ang="f1421">
                  <a:pos x="f1648" y="f1649"/>
                </a:cxn>
                <a:cxn ang="f1421">
                  <a:pos x="f1650" y="f1651"/>
                </a:cxn>
                <a:cxn ang="f1421">
                  <a:pos x="f1652" y="f1653"/>
                </a:cxn>
                <a:cxn ang="f1421">
                  <a:pos x="f1654" y="f1655"/>
                </a:cxn>
                <a:cxn ang="f1421">
                  <a:pos x="f1656" y="f1657"/>
                </a:cxn>
              </a:cxnLst>
              <a:rect l="f1538" t="f1541" r="f1539" b="f1540"/>
              <a:pathLst>
                <a:path w="3088" h="2339">
                  <a:moveTo>
                    <a:pt x="f8" y="f9"/>
                  </a:moveTo>
                  <a:lnTo>
                    <a:pt x="f8" y="f9"/>
                  </a:lnTo>
                  <a:lnTo>
                    <a:pt x="f8" y="f10"/>
                  </a:lnTo>
                  <a:lnTo>
                    <a:pt x="f11" y="f12"/>
                  </a:lnTo>
                  <a:lnTo>
                    <a:pt x="f13" y="f14"/>
                  </a:lnTo>
                  <a:lnTo>
                    <a:pt x="f15" y="f16"/>
                  </a:lnTo>
                  <a:lnTo>
                    <a:pt x="f17" y="f18"/>
                  </a:lnTo>
                  <a:lnTo>
                    <a:pt x="f19" y="f20"/>
                  </a:lnTo>
                  <a:lnTo>
                    <a:pt x="f21" y="f22"/>
                  </a:lnTo>
                  <a:lnTo>
                    <a:pt x="f23" y="f24"/>
                  </a:lnTo>
                  <a:lnTo>
                    <a:pt x="f25" y="f26"/>
                  </a:lnTo>
                  <a:lnTo>
                    <a:pt x="f25" y="f26"/>
                  </a:lnTo>
                  <a:lnTo>
                    <a:pt x="f27" y="f28"/>
                  </a:lnTo>
                  <a:lnTo>
                    <a:pt x="f29" y="f30"/>
                  </a:lnTo>
                  <a:lnTo>
                    <a:pt x="f31" y="f32"/>
                  </a:lnTo>
                  <a:lnTo>
                    <a:pt x="f33" y="f34"/>
                  </a:lnTo>
                  <a:lnTo>
                    <a:pt x="f35" y="f36"/>
                  </a:lnTo>
                  <a:lnTo>
                    <a:pt x="f37" y="f38"/>
                  </a:lnTo>
                  <a:lnTo>
                    <a:pt x="f39" y="f40"/>
                  </a:lnTo>
                  <a:lnTo>
                    <a:pt x="f39" y="f41"/>
                  </a:lnTo>
                  <a:lnTo>
                    <a:pt x="f39" y="f41"/>
                  </a:lnTo>
                  <a:lnTo>
                    <a:pt x="f39" y="f42"/>
                  </a:lnTo>
                  <a:lnTo>
                    <a:pt x="f43" y="f44"/>
                  </a:lnTo>
                  <a:lnTo>
                    <a:pt x="f45" y="f46"/>
                  </a:lnTo>
                  <a:lnTo>
                    <a:pt x="f17" y="f47"/>
                  </a:lnTo>
                  <a:lnTo>
                    <a:pt x="f33" y="f48"/>
                  </a:lnTo>
                  <a:lnTo>
                    <a:pt x="f19" y="f49"/>
                  </a:lnTo>
                  <a:lnTo>
                    <a:pt x="f50" y="f51"/>
                  </a:lnTo>
                  <a:lnTo>
                    <a:pt x="f52" y="f53"/>
                  </a:lnTo>
                  <a:lnTo>
                    <a:pt x="f54" y="f55"/>
                  </a:lnTo>
                  <a:lnTo>
                    <a:pt x="f56" y="f57"/>
                  </a:lnTo>
                  <a:lnTo>
                    <a:pt x="f58" y="f59"/>
                  </a:lnTo>
                  <a:lnTo>
                    <a:pt x="f60" y="f61"/>
                  </a:lnTo>
                  <a:lnTo>
                    <a:pt x="f62" y="f63"/>
                  </a:lnTo>
                  <a:lnTo>
                    <a:pt x="f64" y="f65"/>
                  </a:lnTo>
                  <a:lnTo>
                    <a:pt x="f66" y="f65"/>
                  </a:lnTo>
                  <a:lnTo>
                    <a:pt x="f67" y="f68"/>
                  </a:lnTo>
                  <a:lnTo>
                    <a:pt x="f69" y="f68"/>
                  </a:lnTo>
                  <a:lnTo>
                    <a:pt x="f69" y="f70"/>
                  </a:lnTo>
                  <a:lnTo>
                    <a:pt x="f71" y="f70"/>
                  </a:lnTo>
                  <a:lnTo>
                    <a:pt x="f71" y="f70"/>
                  </a:lnTo>
                  <a:lnTo>
                    <a:pt x="f66" y="f70"/>
                  </a:lnTo>
                  <a:lnTo>
                    <a:pt x="f72" y="f73"/>
                  </a:lnTo>
                  <a:lnTo>
                    <a:pt x="f74" y="f75"/>
                  </a:lnTo>
                  <a:lnTo>
                    <a:pt x="f76" y="f77"/>
                  </a:lnTo>
                  <a:lnTo>
                    <a:pt x="f78" y="f79"/>
                  </a:lnTo>
                  <a:lnTo>
                    <a:pt x="f80" y="f81"/>
                  </a:lnTo>
                  <a:lnTo>
                    <a:pt x="f52" y="f82"/>
                  </a:lnTo>
                  <a:lnTo>
                    <a:pt x="f83" y="f84"/>
                  </a:lnTo>
                  <a:lnTo>
                    <a:pt x="f85" y="f86"/>
                  </a:lnTo>
                  <a:lnTo>
                    <a:pt x="f17" y="f87"/>
                  </a:lnTo>
                  <a:lnTo>
                    <a:pt x="f39" y="f88"/>
                  </a:lnTo>
                  <a:lnTo>
                    <a:pt x="f89" y="f90"/>
                  </a:lnTo>
                  <a:lnTo>
                    <a:pt x="f13" y="f91"/>
                  </a:lnTo>
                  <a:lnTo>
                    <a:pt x="f92" y="f93"/>
                  </a:lnTo>
                  <a:lnTo>
                    <a:pt x="f11" y="f94"/>
                  </a:lnTo>
                  <a:lnTo>
                    <a:pt x="f8" y="f9"/>
                  </a:lnTo>
                  <a:lnTo>
                    <a:pt x="f8" y="f9"/>
                  </a:lnTo>
                  <a:close/>
                  <a:moveTo>
                    <a:pt x="f71" y="f95"/>
                  </a:moveTo>
                  <a:lnTo>
                    <a:pt x="f96" y="f95"/>
                  </a:lnTo>
                  <a:lnTo>
                    <a:pt x="f96" y="f97"/>
                  </a:lnTo>
                  <a:lnTo>
                    <a:pt x="f71" y="f97"/>
                  </a:lnTo>
                  <a:lnTo>
                    <a:pt x="f71" y="f97"/>
                  </a:lnTo>
                  <a:lnTo>
                    <a:pt x="f98" y="f99"/>
                  </a:lnTo>
                  <a:lnTo>
                    <a:pt x="f100" y="f16"/>
                  </a:lnTo>
                  <a:lnTo>
                    <a:pt x="f101" y="f102"/>
                  </a:lnTo>
                  <a:lnTo>
                    <a:pt x="f74" y="f103"/>
                  </a:lnTo>
                  <a:lnTo>
                    <a:pt x="f104" y="f105"/>
                  </a:lnTo>
                  <a:lnTo>
                    <a:pt x="f106" y="f107"/>
                  </a:lnTo>
                  <a:lnTo>
                    <a:pt x="f108" y="f10"/>
                  </a:lnTo>
                  <a:lnTo>
                    <a:pt x="f109" y="f110"/>
                  </a:lnTo>
                  <a:lnTo>
                    <a:pt x="f109" y="f110"/>
                  </a:lnTo>
                  <a:lnTo>
                    <a:pt x="f108" y="f111"/>
                  </a:lnTo>
                  <a:lnTo>
                    <a:pt x="f106" y="f112"/>
                  </a:lnTo>
                  <a:lnTo>
                    <a:pt x="f113" y="f114"/>
                  </a:lnTo>
                  <a:lnTo>
                    <a:pt x="f74" y="f115"/>
                  </a:lnTo>
                  <a:lnTo>
                    <a:pt x="f101" y="f116"/>
                  </a:lnTo>
                  <a:lnTo>
                    <a:pt x="f100" y="f117"/>
                  </a:lnTo>
                  <a:lnTo>
                    <a:pt x="f118" y="f119"/>
                  </a:lnTo>
                  <a:lnTo>
                    <a:pt x="f71" y="f95"/>
                  </a:lnTo>
                  <a:lnTo>
                    <a:pt x="f71" y="f95"/>
                  </a:lnTo>
                  <a:close/>
                  <a:moveTo>
                    <a:pt x="f120" y="f121"/>
                  </a:moveTo>
                  <a:lnTo>
                    <a:pt x="f96" y="f121"/>
                  </a:lnTo>
                  <a:lnTo>
                    <a:pt x="f96" y="f122"/>
                  </a:lnTo>
                  <a:lnTo>
                    <a:pt x="f123" y="f122"/>
                  </a:lnTo>
                  <a:lnTo>
                    <a:pt x="f123" y="f122"/>
                  </a:lnTo>
                  <a:lnTo>
                    <a:pt x="f124" y="f125"/>
                  </a:lnTo>
                  <a:lnTo>
                    <a:pt x="f126" y="f46"/>
                  </a:lnTo>
                  <a:lnTo>
                    <a:pt x="f127" y="f128"/>
                  </a:lnTo>
                  <a:lnTo>
                    <a:pt x="f129" y="f130"/>
                  </a:lnTo>
                  <a:lnTo>
                    <a:pt x="f131" y="f132"/>
                  </a:lnTo>
                  <a:lnTo>
                    <a:pt x="f74" y="f42"/>
                  </a:lnTo>
                  <a:lnTo>
                    <a:pt x="f133" y="f134"/>
                  </a:lnTo>
                  <a:lnTo>
                    <a:pt x="f135" y="f136"/>
                  </a:lnTo>
                  <a:lnTo>
                    <a:pt x="f135" y="f136"/>
                  </a:lnTo>
                  <a:lnTo>
                    <a:pt x="f135" y="f137"/>
                  </a:lnTo>
                  <a:lnTo>
                    <a:pt x="f133" y="f138"/>
                  </a:lnTo>
                  <a:lnTo>
                    <a:pt x="f139" y="f140"/>
                  </a:lnTo>
                  <a:lnTo>
                    <a:pt x="f141" y="f142"/>
                  </a:lnTo>
                  <a:lnTo>
                    <a:pt x="f143" y="f144"/>
                  </a:lnTo>
                  <a:lnTo>
                    <a:pt x="f145" y="f146"/>
                  </a:lnTo>
                  <a:lnTo>
                    <a:pt x="f118" y="f147"/>
                  </a:lnTo>
                  <a:lnTo>
                    <a:pt x="f120" y="f121"/>
                  </a:lnTo>
                  <a:lnTo>
                    <a:pt x="f120" y="f121"/>
                  </a:lnTo>
                  <a:close/>
                  <a:moveTo>
                    <a:pt x="f148" y="f149"/>
                  </a:moveTo>
                  <a:lnTo>
                    <a:pt x="f148" y="f150"/>
                  </a:lnTo>
                  <a:lnTo>
                    <a:pt x="f151" y="f150"/>
                  </a:lnTo>
                  <a:lnTo>
                    <a:pt x="f151" y="f152"/>
                  </a:lnTo>
                  <a:lnTo>
                    <a:pt x="f151" y="f152"/>
                  </a:lnTo>
                  <a:lnTo>
                    <a:pt x="f151" y="f153"/>
                  </a:lnTo>
                  <a:lnTo>
                    <a:pt x="f154" y="f93"/>
                  </a:lnTo>
                  <a:lnTo>
                    <a:pt x="f155" y="f156"/>
                  </a:lnTo>
                  <a:lnTo>
                    <a:pt x="f157" y="f158"/>
                  </a:lnTo>
                  <a:lnTo>
                    <a:pt x="f159" y="f160"/>
                  </a:lnTo>
                  <a:lnTo>
                    <a:pt x="f161" y="f162"/>
                  </a:lnTo>
                  <a:lnTo>
                    <a:pt x="f163" y="f164"/>
                  </a:lnTo>
                  <a:lnTo>
                    <a:pt x="f165" y="f166"/>
                  </a:lnTo>
                  <a:lnTo>
                    <a:pt x="f165" y="f166"/>
                  </a:lnTo>
                  <a:lnTo>
                    <a:pt x="f167" y="f164"/>
                  </a:lnTo>
                  <a:lnTo>
                    <a:pt x="f168" y="f162"/>
                  </a:lnTo>
                  <a:lnTo>
                    <a:pt x="f169" y="f160"/>
                  </a:lnTo>
                  <a:lnTo>
                    <a:pt x="f170" y="f158"/>
                  </a:lnTo>
                  <a:lnTo>
                    <a:pt x="f171" y="f156"/>
                  </a:lnTo>
                  <a:lnTo>
                    <a:pt x="f172" y="f112"/>
                  </a:lnTo>
                  <a:lnTo>
                    <a:pt x="f173" y="f153"/>
                  </a:lnTo>
                  <a:lnTo>
                    <a:pt x="f173" y="f152"/>
                  </a:lnTo>
                  <a:lnTo>
                    <a:pt x="f173" y="f150"/>
                  </a:lnTo>
                  <a:lnTo>
                    <a:pt x="f174" y="f150"/>
                  </a:lnTo>
                  <a:lnTo>
                    <a:pt x="f174" y="f70"/>
                  </a:lnTo>
                  <a:lnTo>
                    <a:pt x="f173" y="f70"/>
                  </a:lnTo>
                  <a:lnTo>
                    <a:pt x="f173" y="f175"/>
                  </a:lnTo>
                  <a:lnTo>
                    <a:pt x="f173" y="f175"/>
                  </a:lnTo>
                  <a:lnTo>
                    <a:pt x="f176" y="f177"/>
                  </a:lnTo>
                  <a:lnTo>
                    <a:pt x="f178" y="f179"/>
                  </a:lnTo>
                  <a:lnTo>
                    <a:pt x="f180" y="f75"/>
                  </a:lnTo>
                  <a:lnTo>
                    <a:pt x="f168" y="f73"/>
                  </a:lnTo>
                  <a:lnTo>
                    <a:pt x="f181" y="f182"/>
                  </a:lnTo>
                  <a:lnTo>
                    <a:pt x="f183" y="f184"/>
                  </a:lnTo>
                  <a:lnTo>
                    <a:pt x="f185" y="f186"/>
                  </a:lnTo>
                  <a:lnTo>
                    <a:pt x="f187" y="f188"/>
                  </a:lnTo>
                  <a:lnTo>
                    <a:pt x="f187" y="f188"/>
                  </a:lnTo>
                  <a:lnTo>
                    <a:pt x="f159" y="f186"/>
                  </a:lnTo>
                  <a:lnTo>
                    <a:pt x="f189" y="f182"/>
                  </a:lnTo>
                  <a:lnTo>
                    <a:pt x="f190" y="f73"/>
                  </a:lnTo>
                  <a:lnTo>
                    <a:pt x="f191" y="f192"/>
                  </a:lnTo>
                  <a:lnTo>
                    <a:pt x="f193" y="f194"/>
                  </a:lnTo>
                  <a:lnTo>
                    <a:pt x="f195" y="f196"/>
                  </a:lnTo>
                  <a:lnTo>
                    <a:pt x="f197" y="f198"/>
                  </a:lnTo>
                  <a:lnTo>
                    <a:pt x="f199" y="f86"/>
                  </a:lnTo>
                  <a:lnTo>
                    <a:pt x="f200" y="f87"/>
                  </a:lnTo>
                  <a:lnTo>
                    <a:pt x="f201" y="f88"/>
                  </a:lnTo>
                  <a:lnTo>
                    <a:pt x="f202" y="f91"/>
                  </a:lnTo>
                  <a:lnTo>
                    <a:pt x="f203" y="f204"/>
                  </a:lnTo>
                  <a:lnTo>
                    <a:pt x="f148" y="f149"/>
                  </a:lnTo>
                  <a:lnTo>
                    <a:pt x="f148" y="f149"/>
                  </a:lnTo>
                  <a:close/>
                  <a:moveTo>
                    <a:pt x="f205" y="f70"/>
                  </a:moveTo>
                  <a:lnTo>
                    <a:pt x="f206" y="f70"/>
                  </a:lnTo>
                  <a:lnTo>
                    <a:pt x="f206" y="f150"/>
                  </a:lnTo>
                  <a:lnTo>
                    <a:pt x="f205" y="f150"/>
                  </a:lnTo>
                  <a:lnTo>
                    <a:pt x="f205" y="f140"/>
                  </a:lnTo>
                  <a:lnTo>
                    <a:pt x="f205" y="f140"/>
                  </a:lnTo>
                  <a:lnTo>
                    <a:pt x="f207" y="f138"/>
                  </a:lnTo>
                  <a:lnTo>
                    <a:pt x="f208" y="f137"/>
                  </a:lnTo>
                  <a:lnTo>
                    <a:pt x="f209" y="f210"/>
                  </a:lnTo>
                  <a:lnTo>
                    <a:pt x="f211" y="f212"/>
                  </a:lnTo>
                  <a:lnTo>
                    <a:pt x="f213" y="f214"/>
                  </a:lnTo>
                  <a:lnTo>
                    <a:pt x="f215" y="f41"/>
                  </a:lnTo>
                  <a:lnTo>
                    <a:pt x="f216" y="f217"/>
                  </a:lnTo>
                  <a:lnTo>
                    <a:pt x="f218" y="f134"/>
                  </a:lnTo>
                  <a:lnTo>
                    <a:pt x="f218" y="f134"/>
                  </a:lnTo>
                  <a:lnTo>
                    <a:pt x="f219" y="f217"/>
                  </a:lnTo>
                  <a:lnTo>
                    <a:pt x="f220" y="f41"/>
                  </a:lnTo>
                  <a:lnTo>
                    <a:pt x="f221" y="f222"/>
                  </a:lnTo>
                  <a:lnTo>
                    <a:pt x="f223" y="f212"/>
                  </a:lnTo>
                  <a:lnTo>
                    <a:pt x="f224" y="f210"/>
                  </a:lnTo>
                  <a:lnTo>
                    <a:pt x="f225" y="f226"/>
                  </a:lnTo>
                  <a:lnTo>
                    <a:pt x="f227" y="f228"/>
                  </a:lnTo>
                  <a:lnTo>
                    <a:pt x="f229" y="f230"/>
                  </a:lnTo>
                  <a:lnTo>
                    <a:pt x="f231" y="f144"/>
                  </a:lnTo>
                  <a:lnTo>
                    <a:pt x="f232" y="f233"/>
                  </a:lnTo>
                  <a:lnTo>
                    <a:pt x="f234" y="f235"/>
                  </a:lnTo>
                  <a:lnTo>
                    <a:pt x="f236" y="f28"/>
                  </a:lnTo>
                  <a:lnTo>
                    <a:pt x="f237" y="f238"/>
                  </a:lnTo>
                  <a:lnTo>
                    <a:pt x="f239" y="f240"/>
                  </a:lnTo>
                  <a:lnTo>
                    <a:pt x="f241" y="f97"/>
                  </a:lnTo>
                  <a:lnTo>
                    <a:pt x="f241" y="f242"/>
                  </a:lnTo>
                  <a:lnTo>
                    <a:pt x="f241" y="f70"/>
                  </a:lnTo>
                  <a:lnTo>
                    <a:pt x="f243" y="f70"/>
                  </a:lnTo>
                  <a:lnTo>
                    <a:pt x="f243" y="f244"/>
                  </a:lnTo>
                  <a:lnTo>
                    <a:pt x="f243" y="f244"/>
                  </a:lnTo>
                  <a:lnTo>
                    <a:pt x="f243" y="f16"/>
                  </a:lnTo>
                  <a:lnTo>
                    <a:pt x="f245" y="f246"/>
                  </a:lnTo>
                  <a:lnTo>
                    <a:pt x="f247" y="f248"/>
                  </a:lnTo>
                  <a:lnTo>
                    <a:pt x="f249" y="f250"/>
                  </a:lnTo>
                  <a:lnTo>
                    <a:pt x="f251" y="f252"/>
                  </a:lnTo>
                  <a:lnTo>
                    <a:pt x="f253" y="f254"/>
                  </a:lnTo>
                  <a:lnTo>
                    <a:pt x="f255" y="f30"/>
                  </a:lnTo>
                  <a:lnTo>
                    <a:pt x="f256" y="f257"/>
                  </a:lnTo>
                  <a:lnTo>
                    <a:pt x="f256" y="f257"/>
                  </a:lnTo>
                  <a:lnTo>
                    <a:pt x="f213" y="f30"/>
                  </a:lnTo>
                  <a:lnTo>
                    <a:pt x="f258" y="f254"/>
                  </a:lnTo>
                  <a:lnTo>
                    <a:pt x="f259" y="f252"/>
                  </a:lnTo>
                  <a:lnTo>
                    <a:pt x="f208" y="f250"/>
                  </a:lnTo>
                  <a:lnTo>
                    <a:pt x="f207" y="f248"/>
                  </a:lnTo>
                  <a:lnTo>
                    <a:pt x="f260" y="f261"/>
                  </a:lnTo>
                  <a:lnTo>
                    <a:pt x="f205" y="f262"/>
                  </a:lnTo>
                  <a:lnTo>
                    <a:pt x="f205" y="f244"/>
                  </a:lnTo>
                  <a:lnTo>
                    <a:pt x="f205" y="f70"/>
                  </a:lnTo>
                  <a:close/>
                  <a:moveTo>
                    <a:pt x="f263" y="f264"/>
                  </a:moveTo>
                  <a:lnTo>
                    <a:pt x="f263" y="f70"/>
                  </a:lnTo>
                  <a:lnTo>
                    <a:pt x="f265" y="f70"/>
                  </a:lnTo>
                  <a:lnTo>
                    <a:pt x="f265" y="f150"/>
                  </a:lnTo>
                  <a:lnTo>
                    <a:pt x="f263" y="f150"/>
                  </a:lnTo>
                  <a:lnTo>
                    <a:pt x="f263" y="f264"/>
                  </a:lnTo>
                  <a:close/>
                  <a:moveTo>
                    <a:pt x="f266" y="f267"/>
                  </a:moveTo>
                  <a:lnTo>
                    <a:pt x="f268" y="f269"/>
                  </a:lnTo>
                  <a:lnTo>
                    <a:pt x="f268" y="f107"/>
                  </a:lnTo>
                  <a:lnTo>
                    <a:pt x="f268" y="f70"/>
                  </a:lnTo>
                  <a:lnTo>
                    <a:pt x="f266" y="f70"/>
                  </a:lnTo>
                  <a:lnTo>
                    <a:pt x="f266" y="f267"/>
                  </a:lnTo>
                  <a:close/>
                  <a:moveTo>
                    <a:pt x="f270" y="f38"/>
                  </a:moveTo>
                  <a:lnTo>
                    <a:pt x="f270" y="f38"/>
                  </a:lnTo>
                  <a:lnTo>
                    <a:pt x="f271" y="f226"/>
                  </a:lnTo>
                  <a:lnTo>
                    <a:pt x="f272" y="f40"/>
                  </a:lnTo>
                  <a:lnTo>
                    <a:pt x="f273" y="f136"/>
                  </a:lnTo>
                  <a:lnTo>
                    <a:pt x="f274" y="f150"/>
                  </a:lnTo>
                  <a:lnTo>
                    <a:pt x="f275" y="f214"/>
                  </a:lnTo>
                  <a:lnTo>
                    <a:pt x="f276" y="f217"/>
                  </a:lnTo>
                  <a:lnTo>
                    <a:pt x="f277" y="f134"/>
                  </a:lnTo>
                  <a:lnTo>
                    <a:pt x="f277" y="f134"/>
                  </a:lnTo>
                  <a:lnTo>
                    <a:pt x="f278" y="f217"/>
                  </a:lnTo>
                  <a:lnTo>
                    <a:pt x="f279" y="f41"/>
                  </a:lnTo>
                  <a:lnTo>
                    <a:pt x="f280" y="f222"/>
                  </a:lnTo>
                  <a:lnTo>
                    <a:pt x="f281" y="f136"/>
                  </a:lnTo>
                  <a:lnTo>
                    <a:pt x="f282" y="f40"/>
                  </a:lnTo>
                  <a:lnTo>
                    <a:pt x="f283" y="f284"/>
                  </a:lnTo>
                  <a:lnTo>
                    <a:pt x="f285" y="f140"/>
                  </a:lnTo>
                  <a:lnTo>
                    <a:pt x="f286" y="f287"/>
                  </a:lnTo>
                  <a:lnTo>
                    <a:pt x="f288" y="f147"/>
                  </a:lnTo>
                  <a:lnTo>
                    <a:pt x="f289" y="f290"/>
                  </a:lnTo>
                  <a:lnTo>
                    <a:pt x="f291" y="f292"/>
                  </a:lnTo>
                  <a:lnTo>
                    <a:pt x="f293" y="f24"/>
                  </a:lnTo>
                  <a:lnTo>
                    <a:pt x="f294" y="f295"/>
                  </a:lnTo>
                  <a:lnTo>
                    <a:pt x="f296" y="f97"/>
                  </a:lnTo>
                  <a:lnTo>
                    <a:pt x="f297" y="f242"/>
                  </a:lnTo>
                  <a:lnTo>
                    <a:pt x="f297" y="f107"/>
                  </a:lnTo>
                  <a:lnTo>
                    <a:pt x="f297" y="f107"/>
                  </a:lnTo>
                  <a:lnTo>
                    <a:pt x="f297" y="f152"/>
                  </a:lnTo>
                  <a:lnTo>
                    <a:pt x="f296" y="f153"/>
                  </a:lnTo>
                  <a:lnTo>
                    <a:pt x="f294" y="f93"/>
                  </a:lnTo>
                  <a:lnTo>
                    <a:pt x="f293" y="f298"/>
                  </a:lnTo>
                  <a:lnTo>
                    <a:pt x="f291" y="f160"/>
                  </a:lnTo>
                  <a:lnTo>
                    <a:pt x="f299" y="f300"/>
                  </a:lnTo>
                  <a:lnTo>
                    <a:pt x="f301" y="f302"/>
                  </a:lnTo>
                  <a:lnTo>
                    <a:pt x="f303" y="f304"/>
                  </a:lnTo>
                  <a:lnTo>
                    <a:pt x="f285" y="f305"/>
                  </a:lnTo>
                  <a:lnTo>
                    <a:pt x="f306" y="f307"/>
                  </a:lnTo>
                  <a:lnTo>
                    <a:pt x="f308" y="f179"/>
                  </a:lnTo>
                  <a:lnTo>
                    <a:pt x="f309" y="f75"/>
                  </a:lnTo>
                  <a:lnTo>
                    <a:pt x="f310" y="f70"/>
                  </a:lnTo>
                  <a:lnTo>
                    <a:pt x="f311" y="f184"/>
                  </a:lnTo>
                  <a:lnTo>
                    <a:pt x="f312" y="f186"/>
                  </a:lnTo>
                  <a:lnTo>
                    <a:pt x="f313" y="f188"/>
                  </a:lnTo>
                  <a:lnTo>
                    <a:pt x="f313" y="f188"/>
                  </a:lnTo>
                  <a:lnTo>
                    <a:pt x="f314" y="f186"/>
                  </a:lnTo>
                  <a:lnTo>
                    <a:pt x="f315" y="f184"/>
                  </a:lnTo>
                  <a:lnTo>
                    <a:pt x="f316" y="f182"/>
                  </a:lnTo>
                  <a:lnTo>
                    <a:pt x="f317" y="f70"/>
                  </a:lnTo>
                  <a:lnTo>
                    <a:pt x="f318" y="f75"/>
                  </a:lnTo>
                  <a:lnTo>
                    <a:pt x="f319" y="f77"/>
                  </a:lnTo>
                  <a:lnTo>
                    <a:pt x="f320" y="f194"/>
                  </a:lnTo>
                  <a:lnTo>
                    <a:pt x="f270" y="f196"/>
                  </a:lnTo>
                  <a:lnTo>
                    <a:pt x="f270" y="f70"/>
                  </a:lnTo>
                  <a:lnTo>
                    <a:pt x="f321" y="f70"/>
                  </a:lnTo>
                  <a:lnTo>
                    <a:pt x="f321" y="f269"/>
                  </a:lnTo>
                  <a:lnTo>
                    <a:pt x="f270" y="f267"/>
                  </a:lnTo>
                  <a:lnTo>
                    <a:pt x="f270" y="f38"/>
                  </a:lnTo>
                  <a:close/>
                  <a:moveTo>
                    <a:pt x="f322" y="f166"/>
                  </a:moveTo>
                  <a:lnTo>
                    <a:pt x="f322" y="f166"/>
                  </a:lnTo>
                  <a:lnTo>
                    <a:pt x="f323" y="f164"/>
                  </a:lnTo>
                  <a:lnTo>
                    <a:pt x="f324" y="f162"/>
                  </a:lnTo>
                  <a:lnTo>
                    <a:pt x="f312" y="f119"/>
                  </a:lnTo>
                  <a:lnTo>
                    <a:pt x="f325" y="f158"/>
                  </a:lnTo>
                  <a:lnTo>
                    <a:pt x="f326" y="f327"/>
                  </a:lnTo>
                  <a:lnTo>
                    <a:pt x="f328" y="f329"/>
                  </a:lnTo>
                  <a:lnTo>
                    <a:pt x="f330" y="f110"/>
                  </a:lnTo>
                  <a:lnTo>
                    <a:pt x="f331" y="f332"/>
                  </a:lnTo>
                  <a:lnTo>
                    <a:pt x="f331" y="f332"/>
                  </a:lnTo>
                  <a:lnTo>
                    <a:pt x="f330" y="f102"/>
                  </a:lnTo>
                  <a:lnTo>
                    <a:pt x="f328" y="f261"/>
                  </a:lnTo>
                  <a:lnTo>
                    <a:pt x="f326" y="f22"/>
                  </a:lnTo>
                  <a:lnTo>
                    <a:pt x="f325" y="f26"/>
                  </a:lnTo>
                  <a:lnTo>
                    <a:pt x="f333" y="f292"/>
                  </a:lnTo>
                  <a:lnTo>
                    <a:pt x="f324" y="f334"/>
                  </a:lnTo>
                  <a:lnTo>
                    <a:pt x="f335" y="f257"/>
                  </a:lnTo>
                  <a:lnTo>
                    <a:pt x="f322" y="f257"/>
                  </a:lnTo>
                  <a:lnTo>
                    <a:pt x="f322" y="f257"/>
                  </a:lnTo>
                  <a:lnTo>
                    <a:pt x="f336" y="f257"/>
                  </a:lnTo>
                  <a:lnTo>
                    <a:pt x="f337" y="f334"/>
                  </a:lnTo>
                  <a:lnTo>
                    <a:pt x="f338" y="f339"/>
                  </a:lnTo>
                  <a:lnTo>
                    <a:pt x="f340" y="f252"/>
                  </a:lnTo>
                  <a:lnTo>
                    <a:pt x="f272" y="f341"/>
                  </a:lnTo>
                  <a:lnTo>
                    <a:pt x="f320" y="f342"/>
                  </a:lnTo>
                  <a:lnTo>
                    <a:pt x="f270" y="f343"/>
                  </a:lnTo>
                  <a:lnTo>
                    <a:pt x="f270" y="f327"/>
                  </a:lnTo>
                  <a:lnTo>
                    <a:pt x="f270" y="f327"/>
                  </a:lnTo>
                  <a:lnTo>
                    <a:pt x="f344" y="f345"/>
                  </a:lnTo>
                  <a:lnTo>
                    <a:pt x="f340" y="f160"/>
                  </a:lnTo>
                  <a:lnTo>
                    <a:pt x="f338" y="f346"/>
                  </a:lnTo>
                  <a:lnTo>
                    <a:pt x="f337" y="f88"/>
                  </a:lnTo>
                  <a:lnTo>
                    <a:pt x="f347" y="f164"/>
                  </a:lnTo>
                  <a:lnTo>
                    <a:pt x="f322" y="f166"/>
                  </a:lnTo>
                  <a:lnTo>
                    <a:pt x="f322" y="f166"/>
                  </a:lnTo>
                  <a:close/>
                  <a:moveTo>
                    <a:pt x="f348" y="f134"/>
                  </a:moveTo>
                  <a:lnTo>
                    <a:pt x="f348" y="f134"/>
                  </a:lnTo>
                  <a:lnTo>
                    <a:pt x="f349" y="f217"/>
                  </a:lnTo>
                  <a:lnTo>
                    <a:pt x="f350" y="f41"/>
                  </a:lnTo>
                  <a:lnTo>
                    <a:pt x="f351" y="f150"/>
                  </a:lnTo>
                  <a:lnTo>
                    <a:pt x="f352" y="f40"/>
                  </a:lnTo>
                  <a:lnTo>
                    <a:pt x="f353" y="f38"/>
                  </a:lnTo>
                  <a:lnTo>
                    <a:pt x="f353" y="f354"/>
                  </a:lnTo>
                  <a:lnTo>
                    <a:pt x="f355" y="f356"/>
                  </a:lnTo>
                  <a:lnTo>
                    <a:pt x="f355" y="f70"/>
                  </a:lnTo>
                  <a:lnTo>
                    <a:pt x="f353" y="f70"/>
                  </a:lnTo>
                  <a:lnTo>
                    <a:pt x="f353" y="f196"/>
                  </a:lnTo>
                  <a:lnTo>
                    <a:pt x="f353" y="f196"/>
                  </a:lnTo>
                  <a:lnTo>
                    <a:pt x="f357" y="f194"/>
                  </a:lnTo>
                  <a:lnTo>
                    <a:pt x="f352" y="f77"/>
                  </a:lnTo>
                  <a:lnTo>
                    <a:pt x="f358" y="f75"/>
                  </a:lnTo>
                  <a:lnTo>
                    <a:pt x="f351" y="f70"/>
                  </a:lnTo>
                  <a:lnTo>
                    <a:pt x="f359" y="f182"/>
                  </a:lnTo>
                  <a:lnTo>
                    <a:pt x="f350" y="f184"/>
                  </a:lnTo>
                  <a:lnTo>
                    <a:pt x="f349" y="f186"/>
                  </a:lnTo>
                  <a:lnTo>
                    <a:pt x="f360" y="f188"/>
                  </a:lnTo>
                  <a:lnTo>
                    <a:pt x="f360" y="f188"/>
                  </a:lnTo>
                  <a:lnTo>
                    <a:pt x="f361" y="f186"/>
                  </a:lnTo>
                  <a:lnTo>
                    <a:pt x="f362" y="f184"/>
                  </a:lnTo>
                  <a:lnTo>
                    <a:pt x="f363" y="f364"/>
                  </a:lnTo>
                  <a:lnTo>
                    <a:pt x="f365" y="f75"/>
                  </a:lnTo>
                  <a:lnTo>
                    <a:pt x="f366" y="f179"/>
                  </a:lnTo>
                  <a:lnTo>
                    <a:pt x="f367" y="f177"/>
                  </a:lnTo>
                  <a:lnTo>
                    <a:pt x="f368" y="f305"/>
                  </a:lnTo>
                  <a:lnTo>
                    <a:pt x="f369" y="f84"/>
                  </a:lnTo>
                  <a:lnTo>
                    <a:pt x="f370" y="f302"/>
                  </a:lnTo>
                  <a:lnTo>
                    <a:pt x="f371" y="f300"/>
                  </a:lnTo>
                  <a:lnTo>
                    <a:pt x="f372" y="f160"/>
                  </a:lnTo>
                  <a:lnTo>
                    <a:pt x="f373" y="f115"/>
                  </a:lnTo>
                  <a:lnTo>
                    <a:pt x="f374" y="f375"/>
                  </a:lnTo>
                  <a:lnTo>
                    <a:pt x="f376" y="f94"/>
                  </a:lnTo>
                  <a:lnTo>
                    <a:pt x="f377" y="f152"/>
                  </a:lnTo>
                  <a:lnTo>
                    <a:pt x="f378" y="f107"/>
                  </a:lnTo>
                  <a:lnTo>
                    <a:pt x="f378" y="f107"/>
                  </a:lnTo>
                  <a:lnTo>
                    <a:pt x="f377" y="f242"/>
                  </a:lnTo>
                  <a:lnTo>
                    <a:pt x="f376" y="f97"/>
                  </a:lnTo>
                  <a:lnTo>
                    <a:pt x="f379" y="f295"/>
                  </a:lnTo>
                  <a:lnTo>
                    <a:pt x="f373" y="f24"/>
                  </a:lnTo>
                  <a:lnTo>
                    <a:pt x="f372" y="f292"/>
                  </a:lnTo>
                  <a:lnTo>
                    <a:pt x="f380" y="f290"/>
                  </a:lnTo>
                  <a:lnTo>
                    <a:pt x="f381" y="f147"/>
                  </a:lnTo>
                  <a:lnTo>
                    <a:pt x="f382" y="f287"/>
                  </a:lnTo>
                  <a:lnTo>
                    <a:pt x="f383" y="f140"/>
                  </a:lnTo>
                  <a:lnTo>
                    <a:pt x="f384" y="f284"/>
                  </a:lnTo>
                  <a:lnTo>
                    <a:pt x="f385" y="f40"/>
                  </a:lnTo>
                  <a:lnTo>
                    <a:pt x="f386" y="f136"/>
                  </a:lnTo>
                  <a:lnTo>
                    <a:pt x="f387" y="f222"/>
                  </a:lnTo>
                  <a:lnTo>
                    <a:pt x="f388" y="f41"/>
                  </a:lnTo>
                  <a:lnTo>
                    <a:pt x="f389" y="f217"/>
                  </a:lnTo>
                  <a:lnTo>
                    <a:pt x="f348" y="f134"/>
                  </a:lnTo>
                  <a:lnTo>
                    <a:pt x="f348" y="f134"/>
                  </a:lnTo>
                  <a:close/>
                  <a:moveTo>
                    <a:pt x="f390" y="f257"/>
                  </a:moveTo>
                  <a:lnTo>
                    <a:pt x="f390" y="f257"/>
                  </a:lnTo>
                  <a:lnTo>
                    <a:pt x="f391" y="f30"/>
                  </a:lnTo>
                  <a:lnTo>
                    <a:pt x="f392" y="f254"/>
                  </a:lnTo>
                  <a:lnTo>
                    <a:pt x="f393" y="f252"/>
                  </a:lnTo>
                  <a:lnTo>
                    <a:pt x="f394" y="f342"/>
                  </a:lnTo>
                  <a:lnTo>
                    <a:pt x="f395" y="f343"/>
                  </a:lnTo>
                  <a:lnTo>
                    <a:pt x="f396" y="f397"/>
                  </a:lnTo>
                  <a:lnTo>
                    <a:pt x="f398" y="f399"/>
                  </a:lnTo>
                  <a:lnTo>
                    <a:pt x="f400" y="f332"/>
                  </a:lnTo>
                  <a:lnTo>
                    <a:pt x="f400" y="f332"/>
                  </a:lnTo>
                  <a:lnTo>
                    <a:pt x="f398" y="f401"/>
                  </a:lnTo>
                  <a:lnTo>
                    <a:pt x="f387" y="f402"/>
                  </a:lnTo>
                  <a:lnTo>
                    <a:pt x="f403" y="f404"/>
                  </a:lnTo>
                  <a:lnTo>
                    <a:pt x="f405" y="f115"/>
                  </a:lnTo>
                  <a:lnTo>
                    <a:pt x="f406" y="f407"/>
                  </a:lnTo>
                  <a:lnTo>
                    <a:pt x="f408" y="f346"/>
                  </a:lnTo>
                  <a:lnTo>
                    <a:pt x="f360" y="f164"/>
                  </a:lnTo>
                  <a:lnTo>
                    <a:pt x="f409" y="f166"/>
                  </a:lnTo>
                  <a:lnTo>
                    <a:pt x="f409" y="f166"/>
                  </a:lnTo>
                  <a:lnTo>
                    <a:pt x="f410" y="f164"/>
                  </a:lnTo>
                  <a:lnTo>
                    <a:pt x="f411" y="f88"/>
                  </a:lnTo>
                  <a:lnTo>
                    <a:pt x="f412" y="f95"/>
                  </a:lnTo>
                  <a:lnTo>
                    <a:pt x="f413" y="f160"/>
                  </a:lnTo>
                  <a:lnTo>
                    <a:pt x="f414" y="f415"/>
                  </a:lnTo>
                  <a:lnTo>
                    <a:pt x="f353" y="f156"/>
                  </a:lnTo>
                  <a:lnTo>
                    <a:pt x="f353" y="f343"/>
                  </a:lnTo>
                  <a:lnTo>
                    <a:pt x="f353" y="f343"/>
                  </a:lnTo>
                  <a:lnTo>
                    <a:pt x="f416" y="f417"/>
                  </a:lnTo>
                  <a:lnTo>
                    <a:pt x="f418" y="f250"/>
                  </a:lnTo>
                  <a:lnTo>
                    <a:pt x="f419" y="f420"/>
                  </a:lnTo>
                  <a:lnTo>
                    <a:pt x="f358" y="f292"/>
                  </a:lnTo>
                  <a:lnTo>
                    <a:pt x="f421" y="f254"/>
                  </a:lnTo>
                  <a:lnTo>
                    <a:pt x="f422" y="f30"/>
                  </a:lnTo>
                  <a:lnTo>
                    <a:pt x="f423" y="f257"/>
                  </a:lnTo>
                  <a:lnTo>
                    <a:pt x="f390" y="f257"/>
                  </a:lnTo>
                  <a:lnTo>
                    <a:pt x="f390" y="f257"/>
                  </a:lnTo>
                  <a:close/>
                  <a:moveTo>
                    <a:pt x="f424" y="f38"/>
                  </a:moveTo>
                  <a:lnTo>
                    <a:pt x="f424" y="f38"/>
                  </a:lnTo>
                  <a:lnTo>
                    <a:pt x="f425" y="f426"/>
                  </a:lnTo>
                  <a:lnTo>
                    <a:pt x="f427" y="f40"/>
                  </a:lnTo>
                  <a:lnTo>
                    <a:pt x="f428" y="f429"/>
                  </a:lnTo>
                  <a:lnTo>
                    <a:pt x="f430" y="f150"/>
                  </a:lnTo>
                  <a:lnTo>
                    <a:pt x="f431" y="f214"/>
                  </a:lnTo>
                  <a:lnTo>
                    <a:pt x="f432" y="f217"/>
                  </a:lnTo>
                  <a:lnTo>
                    <a:pt x="f433" y="f217"/>
                  </a:lnTo>
                  <a:lnTo>
                    <a:pt x="f434" y="f134"/>
                  </a:lnTo>
                  <a:lnTo>
                    <a:pt x="f434" y="f134"/>
                  </a:lnTo>
                  <a:lnTo>
                    <a:pt x="f435" y="f217"/>
                  </a:lnTo>
                  <a:lnTo>
                    <a:pt x="f436" y="f41"/>
                  </a:lnTo>
                  <a:lnTo>
                    <a:pt x="f437" y="f222"/>
                  </a:lnTo>
                  <a:lnTo>
                    <a:pt x="f438" y="f136"/>
                  </a:lnTo>
                  <a:lnTo>
                    <a:pt x="f439" y="f40"/>
                  </a:lnTo>
                  <a:lnTo>
                    <a:pt x="f440" y="f284"/>
                  </a:lnTo>
                  <a:lnTo>
                    <a:pt x="f441" y="f140"/>
                  </a:lnTo>
                  <a:lnTo>
                    <a:pt x="f442" y="f287"/>
                  </a:lnTo>
                  <a:lnTo>
                    <a:pt x="f443" y="f147"/>
                  </a:lnTo>
                  <a:lnTo>
                    <a:pt x="f444" y="f290"/>
                  </a:lnTo>
                  <a:lnTo>
                    <a:pt x="f445" y="f292"/>
                  </a:lnTo>
                  <a:lnTo>
                    <a:pt x="f446" y="f24"/>
                  </a:lnTo>
                  <a:lnTo>
                    <a:pt x="f447" y="f295"/>
                  </a:lnTo>
                  <a:lnTo>
                    <a:pt x="f448" y="f97"/>
                  </a:lnTo>
                  <a:lnTo>
                    <a:pt x="f449" y="f242"/>
                  </a:lnTo>
                  <a:lnTo>
                    <a:pt x="f449" y="f107"/>
                  </a:lnTo>
                  <a:lnTo>
                    <a:pt x="f449" y="f107"/>
                  </a:lnTo>
                  <a:lnTo>
                    <a:pt x="f449" y="f152"/>
                  </a:lnTo>
                  <a:lnTo>
                    <a:pt x="f448" y="f153"/>
                  </a:lnTo>
                  <a:lnTo>
                    <a:pt x="f447" y="f93"/>
                  </a:lnTo>
                  <a:lnTo>
                    <a:pt x="f446" y="f298"/>
                  </a:lnTo>
                  <a:lnTo>
                    <a:pt x="f445" y="f160"/>
                  </a:lnTo>
                  <a:lnTo>
                    <a:pt x="f450" y="f300"/>
                  </a:lnTo>
                  <a:lnTo>
                    <a:pt x="f443" y="f302"/>
                  </a:lnTo>
                  <a:lnTo>
                    <a:pt x="f451" y="f304"/>
                  </a:lnTo>
                  <a:lnTo>
                    <a:pt x="f441" y="f305"/>
                  </a:lnTo>
                  <a:lnTo>
                    <a:pt x="f452" y="f307"/>
                  </a:lnTo>
                  <a:lnTo>
                    <a:pt x="f453" y="f179"/>
                  </a:lnTo>
                  <a:lnTo>
                    <a:pt x="f454" y="f75"/>
                  </a:lnTo>
                  <a:lnTo>
                    <a:pt x="f455" y="f70"/>
                  </a:lnTo>
                  <a:lnTo>
                    <a:pt x="f456" y="f184"/>
                  </a:lnTo>
                  <a:lnTo>
                    <a:pt x="f457" y="f186"/>
                  </a:lnTo>
                  <a:lnTo>
                    <a:pt x="f458" y="f186"/>
                  </a:lnTo>
                  <a:lnTo>
                    <a:pt x="f458" y="f186"/>
                  </a:lnTo>
                  <a:lnTo>
                    <a:pt x="f459" y="f186"/>
                  </a:lnTo>
                  <a:lnTo>
                    <a:pt x="f460" y="f184"/>
                  </a:lnTo>
                  <a:lnTo>
                    <a:pt x="f461" y="f182"/>
                  </a:lnTo>
                  <a:lnTo>
                    <a:pt x="f462" y="f70"/>
                  </a:lnTo>
                  <a:lnTo>
                    <a:pt x="f428" y="f75"/>
                  </a:lnTo>
                  <a:lnTo>
                    <a:pt x="f463" y="f179"/>
                  </a:lnTo>
                  <a:lnTo>
                    <a:pt x="f464" y="f194"/>
                  </a:lnTo>
                  <a:lnTo>
                    <a:pt x="f424" y="f196"/>
                  </a:lnTo>
                  <a:lnTo>
                    <a:pt x="f424" y="f194"/>
                  </a:lnTo>
                  <a:lnTo>
                    <a:pt x="f424" y="f194"/>
                  </a:lnTo>
                  <a:lnTo>
                    <a:pt x="f424" y="f465"/>
                  </a:lnTo>
                  <a:lnTo>
                    <a:pt x="f466" y="f467"/>
                  </a:lnTo>
                  <a:lnTo>
                    <a:pt x="f468" y="f469"/>
                  </a:lnTo>
                  <a:lnTo>
                    <a:pt x="f464" y="f470"/>
                  </a:lnTo>
                  <a:lnTo>
                    <a:pt x="f471" y="f472"/>
                  </a:lnTo>
                  <a:lnTo>
                    <a:pt x="f473" y="f474"/>
                  </a:lnTo>
                  <a:lnTo>
                    <a:pt x="f428" y="f475"/>
                  </a:lnTo>
                  <a:lnTo>
                    <a:pt x="f462" y="f476"/>
                  </a:lnTo>
                  <a:lnTo>
                    <a:pt x="f461" y="f477"/>
                  </a:lnTo>
                  <a:lnTo>
                    <a:pt x="f478" y="f479"/>
                  </a:lnTo>
                  <a:lnTo>
                    <a:pt x="f480" y="f481"/>
                  </a:lnTo>
                  <a:lnTo>
                    <a:pt x="f435" y="f482"/>
                  </a:lnTo>
                  <a:lnTo>
                    <a:pt x="f483" y="f482"/>
                  </a:lnTo>
                  <a:lnTo>
                    <a:pt x="f484" y="f482"/>
                  </a:lnTo>
                  <a:lnTo>
                    <a:pt x="f485" y="f486"/>
                  </a:lnTo>
                  <a:lnTo>
                    <a:pt x="f487" y="f486"/>
                  </a:lnTo>
                  <a:lnTo>
                    <a:pt x="f487" y="f486"/>
                  </a:lnTo>
                  <a:lnTo>
                    <a:pt x="f488" y="f486"/>
                  </a:lnTo>
                  <a:lnTo>
                    <a:pt x="f489" y="f490"/>
                  </a:lnTo>
                  <a:lnTo>
                    <a:pt x="f491" y="f492"/>
                  </a:lnTo>
                  <a:lnTo>
                    <a:pt x="f464" y="f493"/>
                  </a:lnTo>
                  <a:lnTo>
                    <a:pt x="f494" y="f495"/>
                  </a:lnTo>
                  <a:lnTo>
                    <a:pt x="f496" y="f497"/>
                  </a:lnTo>
                  <a:lnTo>
                    <a:pt x="f498" y="f499"/>
                  </a:lnTo>
                  <a:lnTo>
                    <a:pt x="f500" y="f501"/>
                  </a:lnTo>
                  <a:lnTo>
                    <a:pt x="f502" y="f503"/>
                  </a:lnTo>
                  <a:lnTo>
                    <a:pt x="f504" y="f505"/>
                  </a:lnTo>
                  <a:lnTo>
                    <a:pt x="f506" y="f507"/>
                  </a:lnTo>
                  <a:lnTo>
                    <a:pt x="f508" y="f509"/>
                  </a:lnTo>
                  <a:lnTo>
                    <a:pt x="f510" y="f511"/>
                  </a:lnTo>
                  <a:lnTo>
                    <a:pt x="f512" y="f188"/>
                  </a:lnTo>
                  <a:lnTo>
                    <a:pt x="f513" y="f77"/>
                  </a:lnTo>
                  <a:lnTo>
                    <a:pt x="f513" y="f514"/>
                  </a:lnTo>
                  <a:lnTo>
                    <a:pt x="f513" y="f150"/>
                  </a:lnTo>
                  <a:lnTo>
                    <a:pt x="f424" y="f150"/>
                  </a:lnTo>
                  <a:lnTo>
                    <a:pt x="f424" y="f38"/>
                  </a:lnTo>
                  <a:close/>
                  <a:moveTo>
                    <a:pt x="f424" y="f343"/>
                  </a:moveTo>
                  <a:lnTo>
                    <a:pt x="f424" y="f327"/>
                  </a:lnTo>
                  <a:lnTo>
                    <a:pt x="f424" y="f327"/>
                  </a:lnTo>
                  <a:lnTo>
                    <a:pt x="f515" y="f345"/>
                  </a:lnTo>
                  <a:lnTo>
                    <a:pt x="f491" y="f119"/>
                  </a:lnTo>
                  <a:lnTo>
                    <a:pt x="f516" y="f346"/>
                  </a:lnTo>
                  <a:lnTo>
                    <a:pt x="f517" y="f88"/>
                  </a:lnTo>
                  <a:lnTo>
                    <a:pt x="f518" y="f164"/>
                  </a:lnTo>
                  <a:lnTo>
                    <a:pt x="f519" y="f166"/>
                  </a:lnTo>
                  <a:lnTo>
                    <a:pt x="f519" y="f166"/>
                  </a:lnTo>
                  <a:lnTo>
                    <a:pt x="f520" y="f164"/>
                  </a:lnTo>
                  <a:lnTo>
                    <a:pt x="f487" y="f162"/>
                  </a:lnTo>
                  <a:lnTo>
                    <a:pt x="f521" y="f160"/>
                  </a:lnTo>
                  <a:lnTo>
                    <a:pt x="f522" y="f158"/>
                  </a:lnTo>
                  <a:lnTo>
                    <a:pt x="f523" y="f327"/>
                  </a:lnTo>
                  <a:lnTo>
                    <a:pt x="f524" y="f329"/>
                  </a:lnTo>
                  <a:lnTo>
                    <a:pt x="f525" y="f110"/>
                  </a:lnTo>
                  <a:lnTo>
                    <a:pt x="f526" y="f332"/>
                  </a:lnTo>
                  <a:lnTo>
                    <a:pt x="f526" y="f332"/>
                  </a:lnTo>
                  <a:lnTo>
                    <a:pt x="f525" y="f102"/>
                  </a:lnTo>
                  <a:lnTo>
                    <a:pt x="f524" y="f261"/>
                  </a:lnTo>
                  <a:lnTo>
                    <a:pt x="f523" y="f22"/>
                  </a:lnTo>
                  <a:lnTo>
                    <a:pt x="f522" y="f26"/>
                  </a:lnTo>
                  <a:lnTo>
                    <a:pt x="f521" y="f292"/>
                  </a:lnTo>
                  <a:lnTo>
                    <a:pt x="f487" y="f334"/>
                  </a:lnTo>
                  <a:lnTo>
                    <a:pt x="f520" y="f257"/>
                  </a:lnTo>
                  <a:lnTo>
                    <a:pt x="f519" y="f257"/>
                  </a:lnTo>
                  <a:lnTo>
                    <a:pt x="f519" y="f257"/>
                  </a:lnTo>
                  <a:lnTo>
                    <a:pt x="f518" y="f257"/>
                  </a:lnTo>
                  <a:lnTo>
                    <a:pt x="f517" y="f334"/>
                  </a:lnTo>
                  <a:lnTo>
                    <a:pt x="f527" y="f339"/>
                  </a:lnTo>
                  <a:lnTo>
                    <a:pt x="f528" y="f28"/>
                  </a:lnTo>
                  <a:lnTo>
                    <a:pt x="f427" y="f341"/>
                  </a:lnTo>
                  <a:lnTo>
                    <a:pt x="f464" y="f342"/>
                  </a:lnTo>
                  <a:lnTo>
                    <a:pt x="f424" y="f343"/>
                  </a:lnTo>
                  <a:lnTo>
                    <a:pt x="f424" y="f343"/>
                  </a:lnTo>
                  <a:close/>
                  <a:moveTo>
                    <a:pt x="f34" y="f420"/>
                  </a:moveTo>
                  <a:lnTo>
                    <a:pt x="f34" y="f420"/>
                  </a:lnTo>
                  <a:lnTo>
                    <a:pt x="f257" y="f334"/>
                  </a:lnTo>
                  <a:lnTo>
                    <a:pt x="f250" y="f235"/>
                  </a:lnTo>
                  <a:lnTo>
                    <a:pt x="f529" y="f32"/>
                  </a:lnTo>
                  <a:lnTo>
                    <a:pt x="f530" y="f531"/>
                  </a:lnTo>
                  <a:lnTo>
                    <a:pt x="f530" y="f531"/>
                  </a:lnTo>
                  <a:lnTo>
                    <a:pt x="f532" y="f32"/>
                  </a:lnTo>
                  <a:lnTo>
                    <a:pt x="f533" y="f534"/>
                  </a:lnTo>
                  <a:lnTo>
                    <a:pt x="f535" y="f235"/>
                  </a:lnTo>
                  <a:lnTo>
                    <a:pt x="f536" y="f334"/>
                  </a:lnTo>
                  <a:lnTo>
                    <a:pt x="f152" y="f28"/>
                  </a:lnTo>
                  <a:lnTo>
                    <a:pt x="f110" y="f26"/>
                  </a:lnTo>
                  <a:lnTo>
                    <a:pt x="f537" y="f417"/>
                  </a:lnTo>
                  <a:lnTo>
                    <a:pt x="f537" y="f20"/>
                  </a:lnTo>
                  <a:lnTo>
                    <a:pt x="f537" y="f16"/>
                  </a:lnTo>
                  <a:lnTo>
                    <a:pt x="f537" y="f16"/>
                  </a:lnTo>
                  <a:lnTo>
                    <a:pt x="f536" y="f538"/>
                  </a:lnTo>
                  <a:lnTo>
                    <a:pt x="f533" y="f397"/>
                  </a:lnTo>
                  <a:lnTo>
                    <a:pt x="f103" y="f261"/>
                  </a:lnTo>
                  <a:lnTo>
                    <a:pt x="f539" y="f246"/>
                  </a:lnTo>
                  <a:lnTo>
                    <a:pt x="f539" y="f246"/>
                  </a:lnTo>
                  <a:lnTo>
                    <a:pt x="f22" y="f261"/>
                  </a:lnTo>
                  <a:lnTo>
                    <a:pt x="f292" y="f540"/>
                  </a:lnTo>
                  <a:lnTo>
                    <a:pt x="f233" y="f97"/>
                  </a:lnTo>
                  <a:lnTo>
                    <a:pt x="f541" y="f262"/>
                  </a:lnTo>
                  <a:lnTo>
                    <a:pt x="f542" y="f399"/>
                  </a:lnTo>
                  <a:lnTo>
                    <a:pt x="f38" y="f242"/>
                  </a:lnTo>
                  <a:lnTo>
                    <a:pt x="f543" y="f544"/>
                  </a:lnTo>
                  <a:lnTo>
                    <a:pt x="f210" y="f332"/>
                  </a:lnTo>
                  <a:lnTo>
                    <a:pt x="f150" y="f545"/>
                  </a:lnTo>
                  <a:lnTo>
                    <a:pt x="f214" y="f546"/>
                  </a:lnTo>
                  <a:lnTo>
                    <a:pt x="f134" y="f547"/>
                  </a:lnTo>
                  <a:lnTo>
                    <a:pt x="f548" y="f549"/>
                  </a:lnTo>
                  <a:lnTo>
                    <a:pt x="f550" y="f375"/>
                  </a:lnTo>
                  <a:lnTo>
                    <a:pt x="f550" y="f375"/>
                  </a:lnTo>
                  <a:lnTo>
                    <a:pt x="f548" y="f115"/>
                  </a:lnTo>
                  <a:lnTo>
                    <a:pt x="f134" y="f160"/>
                  </a:lnTo>
                  <a:lnTo>
                    <a:pt x="f214" y="f166"/>
                  </a:lnTo>
                  <a:lnTo>
                    <a:pt x="f150" y="f551"/>
                  </a:lnTo>
                  <a:lnTo>
                    <a:pt x="f429" y="f552"/>
                  </a:lnTo>
                  <a:lnTo>
                    <a:pt x="f226" y="f553"/>
                  </a:lnTo>
                  <a:lnTo>
                    <a:pt x="f138" y="f175"/>
                  </a:lnTo>
                  <a:lnTo>
                    <a:pt x="f230" y="f177"/>
                  </a:lnTo>
                  <a:lnTo>
                    <a:pt x="f287" y="f179"/>
                  </a:lnTo>
                  <a:lnTo>
                    <a:pt x="f34" y="f554"/>
                  </a:lnTo>
                  <a:lnTo>
                    <a:pt x="f30" y="f364"/>
                  </a:lnTo>
                  <a:lnTo>
                    <a:pt x="f238" y="f186"/>
                  </a:lnTo>
                  <a:lnTo>
                    <a:pt x="f246" y="f188"/>
                  </a:lnTo>
                  <a:lnTo>
                    <a:pt x="f246" y="f188"/>
                  </a:lnTo>
                  <a:lnTo>
                    <a:pt x="f262" y="f184"/>
                  </a:lnTo>
                  <a:lnTo>
                    <a:pt x="f242" y="f182"/>
                  </a:lnTo>
                  <a:lnTo>
                    <a:pt x="f544" y="f70"/>
                  </a:lnTo>
                  <a:lnTo>
                    <a:pt x="f555" y="f75"/>
                  </a:lnTo>
                  <a:lnTo>
                    <a:pt x="f10" y="f179"/>
                  </a:lnTo>
                  <a:lnTo>
                    <a:pt x="f152" y="f177"/>
                  </a:lnTo>
                  <a:lnTo>
                    <a:pt x="f537" y="f175"/>
                  </a:lnTo>
                  <a:lnTo>
                    <a:pt x="f537" y="f70"/>
                  </a:lnTo>
                  <a:lnTo>
                    <a:pt x="f556" y="f70"/>
                  </a:lnTo>
                  <a:lnTo>
                    <a:pt x="f556" y="f295"/>
                  </a:lnTo>
                  <a:lnTo>
                    <a:pt x="f556" y="f295"/>
                  </a:lnTo>
                  <a:lnTo>
                    <a:pt x="f556" y="f417"/>
                  </a:lnTo>
                  <a:lnTo>
                    <a:pt x="f87" y="f557"/>
                  </a:lnTo>
                  <a:lnTo>
                    <a:pt x="f558" y="f334"/>
                  </a:lnTo>
                  <a:lnTo>
                    <a:pt x="f300" y="f32"/>
                  </a:lnTo>
                  <a:lnTo>
                    <a:pt x="f162" y="f147"/>
                  </a:lnTo>
                  <a:lnTo>
                    <a:pt x="f559" y="f560"/>
                  </a:lnTo>
                  <a:lnTo>
                    <a:pt x="f116" y="f230"/>
                  </a:lnTo>
                  <a:lnTo>
                    <a:pt x="f561" y="f38"/>
                  </a:lnTo>
                  <a:lnTo>
                    <a:pt x="f114" y="f426"/>
                  </a:lnTo>
                  <a:lnTo>
                    <a:pt x="f375" y="f40"/>
                  </a:lnTo>
                  <a:lnTo>
                    <a:pt x="f549" y="f429"/>
                  </a:lnTo>
                  <a:lnTo>
                    <a:pt x="f562" y="f150"/>
                  </a:lnTo>
                  <a:lnTo>
                    <a:pt x="f152" y="f214"/>
                  </a:lnTo>
                  <a:lnTo>
                    <a:pt x="f563" y="f41"/>
                  </a:lnTo>
                  <a:lnTo>
                    <a:pt x="f564" y="f217"/>
                  </a:lnTo>
                  <a:lnTo>
                    <a:pt x="f103" y="f134"/>
                  </a:lnTo>
                  <a:lnTo>
                    <a:pt x="f103" y="f134"/>
                  </a:lnTo>
                  <a:lnTo>
                    <a:pt x="f565" y="f217"/>
                  </a:lnTo>
                  <a:lnTo>
                    <a:pt x="f240" y="f217"/>
                  </a:lnTo>
                  <a:lnTo>
                    <a:pt x="f238" y="f214"/>
                  </a:lnTo>
                  <a:lnTo>
                    <a:pt x="f292" y="f150"/>
                  </a:lnTo>
                  <a:lnTo>
                    <a:pt x="f534" y="f429"/>
                  </a:lnTo>
                  <a:lnTo>
                    <a:pt x="f146" y="f40"/>
                  </a:lnTo>
                  <a:lnTo>
                    <a:pt x="f230" y="f426"/>
                  </a:lnTo>
                  <a:lnTo>
                    <a:pt x="f543" y="f566"/>
                  </a:lnTo>
                  <a:lnTo>
                    <a:pt x="f34" y="f420"/>
                  </a:lnTo>
                  <a:close/>
                  <a:moveTo>
                    <a:pt x="f334" y="f375"/>
                  </a:moveTo>
                  <a:lnTo>
                    <a:pt x="f334" y="f375"/>
                  </a:lnTo>
                  <a:lnTo>
                    <a:pt x="f334" y="f567"/>
                  </a:lnTo>
                  <a:lnTo>
                    <a:pt x="f292" y="f153"/>
                  </a:lnTo>
                  <a:lnTo>
                    <a:pt x="f568" y="f569"/>
                  </a:lnTo>
                  <a:lnTo>
                    <a:pt x="f26" y="f9"/>
                  </a:lnTo>
                  <a:lnTo>
                    <a:pt x="f570" y="f546"/>
                  </a:lnTo>
                  <a:lnTo>
                    <a:pt x="f571" y="f572"/>
                  </a:lnTo>
                  <a:lnTo>
                    <a:pt x="f18" y="f10"/>
                  </a:lnTo>
                  <a:lnTo>
                    <a:pt x="f573" y="f10"/>
                  </a:lnTo>
                  <a:lnTo>
                    <a:pt x="f573" y="f10"/>
                  </a:lnTo>
                  <a:lnTo>
                    <a:pt x="f14" y="f10"/>
                  </a:lnTo>
                  <a:lnTo>
                    <a:pt x="f107" y="f572"/>
                  </a:lnTo>
                  <a:lnTo>
                    <a:pt x="f536" y="f152"/>
                  </a:lnTo>
                  <a:lnTo>
                    <a:pt x="f537" y="f574"/>
                  </a:lnTo>
                  <a:lnTo>
                    <a:pt x="f537" y="f298"/>
                  </a:lnTo>
                  <a:lnTo>
                    <a:pt x="f537" y="f298"/>
                  </a:lnTo>
                  <a:lnTo>
                    <a:pt x="f110" y="f345"/>
                  </a:lnTo>
                  <a:lnTo>
                    <a:pt x="f546" y="f407"/>
                  </a:lnTo>
                  <a:lnTo>
                    <a:pt x="f575" y="f95"/>
                  </a:lnTo>
                  <a:lnTo>
                    <a:pt x="f576" y="f88"/>
                  </a:lnTo>
                  <a:lnTo>
                    <a:pt x="f533" y="f577"/>
                  </a:lnTo>
                  <a:lnTo>
                    <a:pt x="f244" y="f578"/>
                  </a:lnTo>
                  <a:lnTo>
                    <a:pt x="f579" y="f558"/>
                  </a:lnTo>
                  <a:lnTo>
                    <a:pt x="f573" y="f87"/>
                  </a:lnTo>
                  <a:lnTo>
                    <a:pt x="f573" y="f87"/>
                  </a:lnTo>
                  <a:lnTo>
                    <a:pt x="f18" y="f558"/>
                  </a:lnTo>
                  <a:lnTo>
                    <a:pt x="f571" y="f300"/>
                  </a:lnTo>
                  <a:lnTo>
                    <a:pt x="f570" y="f166"/>
                  </a:lnTo>
                  <a:lnTo>
                    <a:pt x="f26" y="f346"/>
                  </a:lnTo>
                  <a:lnTo>
                    <a:pt x="f568" y="f117"/>
                  </a:lnTo>
                  <a:lnTo>
                    <a:pt x="f292" y="f345"/>
                  </a:lnTo>
                  <a:lnTo>
                    <a:pt x="f254" y="f156"/>
                  </a:lnTo>
                  <a:lnTo>
                    <a:pt x="f334" y="f375"/>
                  </a:lnTo>
                  <a:lnTo>
                    <a:pt x="f334" y="f375"/>
                  </a:lnTo>
                  <a:close/>
                  <a:moveTo>
                    <a:pt x="f580" y="f298"/>
                  </a:moveTo>
                  <a:lnTo>
                    <a:pt x="f580" y="f298"/>
                  </a:lnTo>
                  <a:lnTo>
                    <a:pt x="f581" y="f116"/>
                  </a:lnTo>
                  <a:lnTo>
                    <a:pt x="f582" y="f119"/>
                  </a:lnTo>
                  <a:lnTo>
                    <a:pt x="f583" y="f346"/>
                  </a:lnTo>
                  <a:lnTo>
                    <a:pt x="f584" y="f88"/>
                  </a:lnTo>
                  <a:lnTo>
                    <a:pt x="f585" y="f164"/>
                  </a:lnTo>
                  <a:lnTo>
                    <a:pt x="f586" y="f166"/>
                  </a:lnTo>
                  <a:lnTo>
                    <a:pt x="f586" y="f166"/>
                  </a:lnTo>
                  <a:lnTo>
                    <a:pt x="f587" y="f164"/>
                  </a:lnTo>
                  <a:lnTo>
                    <a:pt x="f588" y="f164"/>
                  </a:lnTo>
                  <a:lnTo>
                    <a:pt x="f589" y="f162"/>
                  </a:lnTo>
                  <a:lnTo>
                    <a:pt x="f590" y="f160"/>
                  </a:lnTo>
                  <a:lnTo>
                    <a:pt x="f591" y="f158"/>
                  </a:lnTo>
                  <a:lnTo>
                    <a:pt x="f592" y="f115"/>
                  </a:lnTo>
                  <a:lnTo>
                    <a:pt x="f593" y="f327"/>
                  </a:lnTo>
                  <a:lnTo>
                    <a:pt x="f594" y="f404"/>
                  </a:lnTo>
                  <a:lnTo>
                    <a:pt x="f595" y="f329"/>
                  </a:lnTo>
                  <a:lnTo>
                    <a:pt x="f596" y="f94"/>
                  </a:lnTo>
                  <a:lnTo>
                    <a:pt x="f597" y="f574"/>
                  </a:lnTo>
                  <a:lnTo>
                    <a:pt x="f598" y="f574"/>
                  </a:lnTo>
                  <a:lnTo>
                    <a:pt x="f598" y="f574"/>
                  </a:lnTo>
                  <a:lnTo>
                    <a:pt x="f599" y="f576"/>
                  </a:lnTo>
                  <a:lnTo>
                    <a:pt x="f599" y="f576"/>
                  </a:lnTo>
                  <a:lnTo>
                    <a:pt x="f599" y="f532"/>
                  </a:lnTo>
                  <a:lnTo>
                    <a:pt x="f600" y="f16"/>
                  </a:lnTo>
                  <a:lnTo>
                    <a:pt x="f601" y="f529"/>
                  </a:lnTo>
                  <a:lnTo>
                    <a:pt x="f602" y="f417"/>
                  </a:lnTo>
                  <a:lnTo>
                    <a:pt x="f603" y="f252"/>
                  </a:lnTo>
                  <a:lnTo>
                    <a:pt x="f604" y="f235"/>
                  </a:lnTo>
                  <a:lnTo>
                    <a:pt x="f605" y="f121"/>
                  </a:lnTo>
                  <a:lnTo>
                    <a:pt x="f606" y="f560"/>
                  </a:lnTo>
                  <a:lnTo>
                    <a:pt x="f607" y="f140"/>
                  </a:lnTo>
                  <a:lnTo>
                    <a:pt x="f7" y="f138"/>
                  </a:lnTo>
                  <a:lnTo>
                    <a:pt x="f608" y="f137"/>
                  </a:lnTo>
                  <a:lnTo>
                    <a:pt x="f609" y="f429"/>
                  </a:lnTo>
                  <a:lnTo>
                    <a:pt x="f610" y="f150"/>
                  </a:lnTo>
                  <a:lnTo>
                    <a:pt x="f611" y="f41"/>
                  </a:lnTo>
                  <a:lnTo>
                    <a:pt x="f612" y="f217"/>
                  </a:lnTo>
                  <a:lnTo>
                    <a:pt x="f613" y="f134"/>
                  </a:lnTo>
                  <a:lnTo>
                    <a:pt x="f613" y="f134"/>
                  </a:lnTo>
                  <a:lnTo>
                    <a:pt x="f614" y="f217"/>
                  </a:lnTo>
                  <a:lnTo>
                    <a:pt x="f615" y="f41"/>
                  </a:lnTo>
                  <a:lnTo>
                    <a:pt x="f591" y="f150"/>
                  </a:lnTo>
                  <a:lnTo>
                    <a:pt x="f616" y="f429"/>
                  </a:lnTo>
                  <a:lnTo>
                    <a:pt x="f617" y="f137"/>
                  </a:lnTo>
                  <a:lnTo>
                    <a:pt x="f618" y="f228"/>
                  </a:lnTo>
                  <a:lnTo>
                    <a:pt x="f619" y="f620"/>
                  </a:lnTo>
                  <a:lnTo>
                    <a:pt x="f621" y="f144"/>
                  </a:lnTo>
                  <a:lnTo>
                    <a:pt x="f622" y="f233"/>
                  </a:lnTo>
                  <a:lnTo>
                    <a:pt x="f623" y="f624"/>
                  </a:lnTo>
                  <a:lnTo>
                    <a:pt x="f625" y="f420"/>
                  </a:lnTo>
                  <a:lnTo>
                    <a:pt x="f626" y="f627"/>
                  </a:lnTo>
                  <a:lnTo>
                    <a:pt x="f628" y="f246"/>
                  </a:lnTo>
                  <a:lnTo>
                    <a:pt x="f629" y="f262"/>
                  </a:lnTo>
                  <a:lnTo>
                    <a:pt x="f630" y="f532"/>
                  </a:lnTo>
                  <a:lnTo>
                    <a:pt x="f631" y="f576"/>
                  </a:lnTo>
                  <a:lnTo>
                    <a:pt x="f631" y="f576"/>
                  </a:lnTo>
                  <a:lnTo>
                    <a:pt x="f630" y="f401"/>
                  </a:lnTo>
                  <a:lnTo>
                    <a:pt x="f629" y="f94"/>
                  </a:lnTo>
                  <a:lnTo>
                    <a:pt x="f628" y="f375"/>
                  </a:lnTo>
                  <a:lnTo>
                    <a:pt x="f626" y="f115"/>
                  </a:lnTo>
                  <a:lnTo>
                    <a:pt x="f625" y="f160"/>
                  </a:lnTo>
                  <a:lnTo>
                    <a:pt x="f623" y="f300"/>
                  </a:lnTo>
                  <a:lnTo>
                    <a:pt x="f622" y="f302"/>
                  </a:lnTo>
                  <a:lnTo>
                    <a:pt x="f621" y="f304"/>
                  </a:lnTo>
                  <a:lnTo>
                    <a:pt x="f632" y="f82"/>
                  </a:lnTo>
                  <a:lnTo>
                    <a:pt x="f633" y="f307"/>
                  </a:lnTo>
                  <a:lnTo>
                    <a:pt x="f634" y="f179"/>
                  </a:lnTo>
                  <a:lnTo>
                    <a:pt x="f635" y="f75"/>
                  </a:lnTo>
                  <a:lnTo>
                    <a:pt x="f636" y="f70"/>
                  </a:lnTo>
                  <a:lnTo>
                    <a:pt x="f637" y="f184"/>
                  </a:lnTo>
                  <a:lnTo>
                    <a:pt x="f588" y="f186"/>
                  </a:lnTo>
                  <a:lnTo>
                    <a:pt x="f586" y="f188"/>
                  </a:lnTo>
                  <a:lnTo>
                    <a:pt x="f586" y="f188"/>
                  </a:lnTo>
                  <a:lnTo>
                    <a:pt x="f638" y="f186"/>
                  </a:lnTo>
                  <a:lnTo>
                    <a:pt x="f639" y="f184"/>
                  </a:lnTo>
                  <a:lnTo>
                    <a:pt x="f609" y="f70"/>
                  </a:lnTo>
                  <a:lnTo>
                    <a:pt x="f640" y="f75"/>
                  </a:lnTo>
                  <a:lnTo>
                    <a:pt x="f641" y="f642"/>
                  </a:lnTo>
                  <a:lnTo>
                    <a:pt x="f643" y="f81"/>
                  </a:lnTo>
                  <a:lnTo>
                    <a:pt x="f644" y="f645"/>
                  </a:lnTo>
                  <a:lnTo>
                    <a:pt x="f646" y="f552"/>
                  </a:lnTo>
                  <a:lnTo>
                    <a:pt x="f580" y="f298"/>
                  </a:lnTo>
                  <a:close/>
                  <a:moveTo>
                    <a:pt x="f596" y="f262"/>
                  </a:moveTo>
                  <a:lnTo>
                    <a:pt x="f596" y="f262"/>
                  </a:lnTo>
                  <a:lnTo>
                    <a:pt x="f595" y="f18"/>
                  </a:lnTo>
                  <a:lnTo>
                    <a:pt x="f594" y="f647"/>
                  </a:lnTo>
                  <a:lnTo>
                    <a:pt x="f648" y="f24"/>
                  </a:lnTo>
                  <a:lnTo>
                    <a:pt x="f591" y="f420"/>
                  </a:lnTo>
                  <a:lnTo>
                    <a:pt x="f649" y="f254"/>
                  </a:lnTo>
                  <a:lnTo>
                    <a:pt x="f650" y="f257"/>
                  </a:lnTo>
                  <a:lnTo>
                    <a:pt x="f614" y="f290"/>
                  </a:lnTo>
                  <a:lnTo>
                    <a:pt x="f651" y="f290"/>
                  </a:lnTo>
                  <a:lnTo>
                    <a:pt x="f651" y="f290"/>
                  </a:lnTo>
                  <a:lnTo>
                    <a:pt x="f652" y="f235"/>
                  </a:lnTo>
                  <a:lnTo>
                    <a:pt x="f638" y="f257"/>
                  </a:lnTo>
                  <a:lnTo>
                    <a:pt x="f653" y="f339"/>
                  </a:lnTo>
                  <a:lnTo>
                    <a:pt x="f610" y="f341"/>
                  </a:lnTo>
                  <a:lnTo>
                    <a:pt x="f654" y="f417"/>
                  </a:lnTo>
                  <a:lnTo>
                    <a:pt x="f655" y="f20"/>
                  </a:lnTo>
                  <a:lnTo>
                    <a:pt x="f656" y="f540"/>
                  </a:lnTo>
                  <a:lnTo>
                    <a:pt x="f657" y="f262"/>
                  </a:lnTo>
                  <a:lnTo>
                    <a:pt x="f596" y="f262"/>
                  </a:lnTo>
                  <a:close/>
                  <a:moveTo>
                    <a:pt x="f658" y="f298"/>
                  </a:moveTo>
                  <a:lnTo>
                    <a:pt x="f658" y="f298"/>
                  </a:lnTo>
                  <a:lnTo>
                    <a:pt x="f659" y="f116"/>
                  </a:lnTo>
                  <a:lnTo>
                    <a:pt x="f660" y="f119"/>
                  </a:lnTo>
                  <a:lnTo>
                    <a:pt x="f661" y="f346"/>
                  </a:lnTo>
                  <a:lnTo>
                    <a:pt x="f662" y="f88"/>
                  </a:lnTo>
                  <a:lnTo>
                    <a:pt x="f663" y="f164"/>
                  </a:lnTo>
                  <a:lnTo>
                    <a:pt x="f664" y="f166"/>
                  </a:lnTo>
                  <a:lnTo>
                    <a:pt x="f664" y="f166"/>
                  </a:lnTo>
                  <a:lnTo>
                    <a:pt x="f665" y="f164"/>
                  </a:lnTo>
                  <a:lnTo>
                    <a:pt x="f666" y="f164"/>
                  </a:lnTo>
                  <a:lnTo>
                    <a:pt x="f667" y="f162"/>
                  </a:lnTo>
                  <a:lnTo>
                    <a:pt x="f668" y="f160"/>
                  </a:lnTo>
                  <a:lnTo>
                    <a:pt x="f669" y="f158"/>
                  </a:lnTo>
                  <a:lnTo>
                    <a:pt x="f670" y="f115"/>
                  </a:lnTo>
                  <a:lnTo>
                    <a:pt x="f671" y="f327"/>
                  </a:lnTo>
                  <a:lnTo>
                    <a:pt x="f672" y="f404"/>
                  </a:lnTo>
                  <a:lnTo>
                    <a:pt x="f673" y="f329"/>
                  </a:lnTo>
                  <a:lnTo>
                    <a:pt x="f674" y="f94"/>
                  </a:lnTo>
                  <a:lnTo>
                    <a:pt x="f675" y="f574"/>
                  </a:lnTo>
                  <a:lnTo>
                    <a:pt x="f676" y="f574"/>
                  </a:lnTo>
                  <a:lnTo>
                    <a:pt x="f676" y="f574"/>
                  </a:lnTo>
                  <a:lnTo>
                    <a:pt x="f677" y="f576"/>
                  </a:lnTo>
                  <a:lnTo>
                    <a:pt x="f677" y="f576"/>
                  </a:lnTo>
                  <a:lnTo>
                    <a:pt x="f676" y="f532"/>
                  </a:lnTo>
                  <a:lnTo>
                    <a:pt x="f678" y="f16"/>
                  </a:lnTo>
                  <a:lnTo>
                    <a:pt x="f679" y="f529"/>
                  </a:lnTo>
                  <a:lnTo>
                    <a:pt x="f680" y="f417"/>
                  </a:lnTo>
                  <a:lnTo>
                    <a:pt x="f681" y="f252"/>
                  </a:lnTo>
                  <a:lnTo>
                    <a:pt x="f682" y="f235"/>
                  </a:lnTo>
                  <a:lnTo>
                    <a:pt x="f683" y="f121"/>
                  </a:lnTo>
                  <a:lnTo>
                    <a:pt x="f684" y="f560"/>
                  </a:lnTo>
                  <a:lnTo>
                    <a:pt x="f685" y="f140"/>
                  </a:lnTo>
                  <a:lnTo>
                    <a:pt x="f686" y="f138"/>
                  </a:lnTo>
                  <a:lnTo>
                    <a:pt x="f687" y="f137"/>
                  </a:lnTo>
                  <a:lnTo>
                    <a:pt x="f688" y="f429"/>
                  </a:lnTo>
                  <a:lnTo>
                    <a:pt x="f689" y="f150"/>
                  </a:lnTo>
                  <a:lnTo>
                    <a:pt x="f662" y="f41"/>
                  </a:lnTo>
                  <a:lnTo>
                    <a:pt x="f690" y="f217"/>
                  </a:lnTo>
                  <a:lnTo>
                    <a:pt x="f665" y="f134"/>
                  </a:lnTo>
                  <a:lnTo>
                    <a:pt x="f665" y="f134"/>
                  </a:lnTo>
                  <a:lnTo>
                    <a:pt x="f691" y="f217"/>
                  </a:lnTo>
                  <a:lnTo>
                    <a:pt x="f692" y="f41"/>
                  </a:lnTo>
                  <a:lnTo>
                    <a:pt x="f693" y="f150"/>
                  </a:lnTo>
                  <a:lnTo>
                    <a:pt x="f694" y="f429"/>
                  </a:lnTo>
                  <a:lnTo>
                    <a:pt x="f695" y="f137"/>
                  </a:lnTo>
                  <a:lnTo>
                    <a:pt x="f696" y="f228"/>
                  </a:lnTo>
                  <a:lnTo>
                    <a:pt x="f697" y="f620"/>
                  </a:lnTo>
                  <a:lnTo>
                    <a:pt x="f698" y="f144"/>
                  </a:lnTo>
                  <a:lnTo>
                    <a:pt x="f699" y="f233"/>
                  </a:lnTo>
                  <a:lnTo>
                    <a:pt x="f700" y="f624"/>
                  </a:lnTo>
                  <a:lnTo>
                    <a:pt x="f701" y="f420"/>
                  </a:lnTo>
                  <a:lnTo>
                    <a:pt x="f702" y="f627"/>
                  </a:lnTo>
                  <a:lnTo>
                    <a:pt x="f703" y="f246"/>
                  </a:lnTo>
                  <a:lnTo>
                    <a:pt x="f704" y="f262"/>
                  </a:lnTo>
                  <a:lnTo>
                    <a:pt x="f705" y="f532"/>
                  </a:lnTo>
                  <a:lnTo>
                    <a:pt x="f705" y="f576"/>
                  </a:lnTo>
                  <a:lnTo>
                    <a:pt x="f705" y="f576"/>
                  </a:lnTo>
                  <a:lnTo>
                    <a:pt x="f705" y="f401"/>
                  </a:lnTo>
                  <a:lnTo>
                    <a:pt x="f704" y="f94"/>
                  </a:lnTo>
                  <a:lnTo>
                    <a:pt x="f706" y="f375"/>
                  </a:lnTo>
                  <a:lnTo>
                    <a:pt x="f702" y="f115"/>
                  </a:lnTo>
                  <a:lnTo>
                    <a:pt x="f701" y="f160"/>
                  </a:lnTo>
                  <a:lnTo>
                    <a:pt x="f707" y="f300"/>
                  </a:lnTo>
                  <a:lnTo>
                    <a:pt x="f708" y="f302"/>
                  </a:lnTo>
                  <a:lnTo>
                    <a:pt x="f709" y="f304"/>
                  </a:lnTo>
                  <a:lnTo>
                    <a:pt x="f697" y="f82"/>
                  </a:lnTo>
                  <a:lnTo>
                    <a:pt x="f710" y="f307"/>
                  </a:lnTo>
                  <a:lnTo>
                    <a:pt x="f711" y="f179"/>
                  </a:lnTo>
                  <a:lnTo>
                    <a:pt x="f712" y="f75"/>
                  </a:lnTo>
                  <a:lnTo>
                    <a:pt x="f713" y="f70"/>
                  </a:lnTo>
                  <a:lnTo>
                    <a:pt x="f714" y="f184"/>
                  </a:lnTo>
                  <a:lnTo>
                    <a:pt x="f715" y="f186"/>
                  </a:lnTo>
                  <a:lnTo>
                    <a:pt x="f664" y="f188"/>
                  </a:lnTo>
                  <a:lnTo>
                    <a:pt x="f664" y="f188"/>
                  </a:lnTo>
                  <a:lnTo>
                    <a:pt x="f716" y="f186"/>
                  </a:lnTo>
                  <a:lnTo>
                    <a:pt x="f717" y="f184"/>
                  </a:lnTo>
                  <a:lnTo>
                    <a:pt x="f718" y="f70"/>
                  </a:lnTo>
                  <a:lnTo>
                    <a:pt x="f719" y="f75"/>
                  </a:lnTo>
                  <a:lnTo>
                    <a:pt x="f720" y="f642"/>
                  </a:lnTo>
                  <a:lnTo>
                    <a:pt x="f721" y="f81"/>
                  </a:lnTo>
                  <a:lnTo>
                    <a:pt x="f722" y="f645"/>
                  </a:lnTo>
                  <a:lnTo>
                    <a:pt x="f723" y="f552"/>
                  </a:lnTo>
                  <a:lnTo>
                    <a:pt x="f658" y="f298"/>
                  </a:lnTo>
                  <a:close/>
                  <a:moveTo>
                    <a:pt x="f674" y="f262"/>
                  </a:moveTo>
                  <a:lnTo>
                    <a:pt x="f674" y="f262"/>
                  </a:lnTo>
                  <a:lnTo>
                    <a:pt x="f724" y="f18"/>
                  </a:lnTo>
                  <a:lnTo>
                    <a:pt x="f672" y="f647"/>
                  </a:lnTo>
                  <a:lnTo>
                    <a:pt x="f725" y="f24"/>
                  </a:lnTo>
                  <a:lnTo>
                    <a:pt x="f693" y="f420"/>
                  </a:lnTo>
                  <a:lnTo>
                    <a:pt x="f726" y="f254"/>
                  </a:lnTo>
                  <a:lnTo>
                    <a:pt x="f714" y="f257"/>
                  </a:lnTo>
                  <a:lnTo>
                    <a:pt x="f727" y="f290"/>
                  </a:lnTo>
                  <a:lnTo>
                    <a:pt x="f728" y="f290"/>
                  </a:lnTo>
                  <a:lnTo>
                    <a:pt x="f728" y="f290"/>
                  </a:lnTo>
                  <a:lnTo>
                    <a:pt x="f729" y="f235"/>
                  </a:lnTo>
                  <a:lnTo>
                    <a:pt x="f716" y="f257"/>
                  </a:lnTo>
                  <a:lnTo>
                    <a:pt x="f730" y="f339"/>
                  </a:lnTo>
                  <a:lnTo>
                    <a:pt x="f689" y="f341"/>
                  </a:lnTo>
                  <a:lnTo>
                    <a:pt x="f731" y="f417"/>
                  </a:lnTo>
                  <a:lnTo>
                    <a:pt x="f718" y="f20"/>
                  </a:lnTo>
                  <a:lnTo>
                    <a:pt x="f732" y="f540"/>
                  </a:lnTo>
                  <a:lnTo>
                    <a:pt x="f659" y="f262"/>
                  </a:lnTo>
                  <a:lnTo>
                    <a:pt x="f674" y="f262"/>
                  </a:lnTo>
                  <a:close/>
                  <a:moveTo>
                    <a:pt x="f733" y="f734"/>
                  </a:moveTo>
                  <a:lnTo>
                    <a:pt x="f733" y="f734"/>
                  </a:lnTo>
                  <a:lnTo>
                    <a:pt x="f733" y="f735"/>
                  </a:lnTo>
                  <a:lnTo>
                    <a:pt x="f736" y="f298"/>
                  </a:lnTo>
                  <a:lnTo>
                    <a:pt x="f737" y="f158"/>
                  </a:lnTo>
                  <a:lnTo>
                    <a:pt x="f738" y="f117"/>
                  </a:lnTo>
                  <a:lnTo>
                    <a:pt x="f739" y="f95"/>
                  </a:lnTo>
                  <a:lnTo>
                    <a:pt x="f740" y="f162"/>
                  </a:lnTo>
                  <a:lnTo>
                    <a:pt x="f741" y="f88"/>
                  </a:lnTo>
                  <a:lnTo>
                    <a:pt x="f742" y="f88"/>
                  </a:lnTo>
                  <a:lnTo>
                    <a:pt x="f742" y="f88"/>
                  </a:lnTo>
                  <a:lnTo>
                    <a:pt x="f743" y="f88"/>
                  </a:lnTo>
                  <a:lnTo>
                    <a:pt x="f744" y="f346"/>
                  </a:lnTo>
                  <a:lnTo>
                    <a:pt x="f745" y="f160"/>
                  </a:lnTo>
                  <a:lnTo>
                    <a:pt x="f746" y="f116"/>
                  </a:lnTo>
                  <a:lnTo>
                    <a:pt x="f747" y="f192"/>
                  </a:lnTo>
                  <a:lnTo>
                    <a:pt x="f747" y="f192"/>
                  </a:lnTo>
                  <a:lnTo>
                    <a:pt x="f744" y="f73"/>
                  </a:lnTo>
                  <a:lnTo>
                    <a:pt x="f748" y="f182"/>
                  </a:lnTo>
                  <a:lnTo>
                    <a:pt x="f749" y="f186"/>
                  </a:lnTo>
                  <a:lnTo>
                    <a:pt x="f750" y="f188"/>
                  </a:lnTo>
                  <a:lnTo>
                    <a:pt x="f750" y="f188"/>
                  </a:lnTo>
                  <a:lnTo>
                    <a:pt x="f751" y="f186"/>
                  </a:lnTo>
                  <a:lnTo>
                    <a:pt x="f752" y="f184"/>
                  </a:lnTo>
                  <a:lnTo>
                    <a:pt x="f753" y="f364"/>
                  </a:lnTo>
                  <a:lnTo>
                    <a:pt x="f754" y="f73"/>
                  </a:lnTo>
                  <a:lnTo>
                    <a:pt x="f755" y="f554"/>
                  </a:lnTo>
                  <a:lnTo>
                    <a:pt x="f756" y="f179"/>
                  </a:lnTo>
                  <a:lnTo>
                    <a:pt x="f757" y="f177"/>
                  </a:lnTo>
                  <a:lnTo>
                    <a:pt x="f758" y="f175"/>
                  </a:lnTo>
                  <a:lnTo>
                    <a:pt x="f759" y="f760"/>
                  </a:lnTo>
                  <a:lnTo>
                    <a:pt x="f761" y="f87"/>
                  </a:lnTo>
                  <a:lnTo>
                    <a:pt x="f762" y="f95"/>
                  </a:lnTo>
                  <a:lnTo>
                    <a:pt x="f763" y="f115"/>
                  </a:lnTo>
                  <a:lnTo>
                    <a:pt x="f763" y="f292"/>
                  </a:lnTo>
                  <a:lnTo>
                    <a:pt x="f764" y="f292"/>
                  </a:lnTo>
                  <a:lnTo>
                    <a:pt x="f764" y="f150"/>
                  </a:lnTo>
                  <a:lnTo>
                    <a:pt x="f763" y="f150"/>
                  </a:lnTo>
                  <a:lnTo>
                    <a:pt x="f763" y="f765"/>
                  </a:lnTo>
                  <a:lnTo>
                    <a:pt x="f733" y="f766"/>
                  </a:lnTo>
                  <a:lnTo>
                    <a:pt x="f733" y="f150"/>
                  </a:lnTo>
                  <a:lnTo>
                    <a:pt x="f745" y="f150"/>
                  </a:lnTo>
                  <a:lnTo>
                    <a:pt x="f745" y="f292"/>
                  </a:lnTo>
                  <a:lnTo>
                    <a:pt x="f733" y="f292"/>
                  </a:lnTo>
                  <a:lnTo>
                    <a:pt x="f733" y="f734"/>
                  </a:lnTo>
                  <a:close/>
                  <a:moveTo>
                    <a:pt x="f767" y="f192"/>
                  </a:moveTo>
                  <a:lnTo>
                    <a:pt x="f767" y="f192"/>
                  </a:lnTo>
                  <a:lnTo>
                    <a:pt x="f768" y="f73"/>
                  </a:lnTo>
                  <a:lnTo>
                    <a:pt x="f769" y="f182"/>
                  </a:lnTo>
                  <a:lnTo>
                    <a:pt x="f770" y="f186"/>
                  </a:lnTo>
                  <a:lnTo>
                    <a:pt x="f771" y="f188"/>
                  </a:lnTo>
                  <a:lnTo>
                    <a:pt x="f771" y="f188"/>
                  </a:lnTo>
                  <a:lnTo>
                    <a:pt x="f772" y="f186"/>
                  </a:lnTo>
                  <a:lnTo>
                    <a:pt x="f773" y="f184"/>
                  </a:lnTo>
                  <a:lnTo>
                    <a:pt x="f774" y="f364"/>
                  </a:lnTo>
                  <a:lnTo>
                    <a:pt x="f775" y="f73"/>
                  </a:lnTo>
                  <a:lnTo>
                    <a:pt x="f776" y="f554"/>
                  </a:lnTo>
                  <a:lnTo>
                    <a:pt x="f777" y="f179"/>
                  </a:lnTo>
                  <a:lnTo>
                    <a:pt x="f778" y="f177"/>
                  </a:lnTo>
                  <a:lnTo>
                    <a:pt x="f779" y="f175"/>
                  </a:lnTo>
                  <a:lnTo>
                    <a:pt x="f780" y="f760"/>
                  </a:lnTo>
                  <a:lnTo>
                    <a:pt x="f781" y="f87"/>
                  </a:lnTo>
                  <a:lnTo>
                    <a:pt x="f782" y="f95"/>
                  </a:lnTo>
                  <a:lnTo>
                    <a:pt x="f782" y="f115"/>
                  </a:lnTo>
                  <a:lnTo>
                    <a:pt x="f782" y="f292"/>
                  </a:lnTo>
                  <a:lnTo>
                    <a:pt x="f783" y="f292"/>
                  </a:lnTo>
                  <a:lnTo>
                    <a:pt x="f783" y="f150"/>
                  </a:lnTo>
                  <a:lnTo>
                    <a:pt x="f782" y="f150"/>
                  </a:lnTo>
                  <a:lnTo>
                    <a:pt x="f782" y="f765"/>
                  </a:lnTo>
                  <a:lnTo>
                    <a:pt x="f784" y="f766"/>
                  </a:lnTo>
                  <a:lnTo>
                    <a:pt x="f784" y="f150"/>
                  </a:lnTo>
                  <a:lnTo>
                    <a:pt x="f785" y="f150"/>
                  </a:lnTo>
                  <a:lnTo>
                    <a:pt x="f785" y="f292"/>
                  </a:lnTo>
                  <a:lnTo>
                    <a:pt x="f784" y="f292"/>
                  </a:lnTo>
                  <a:lnTo>
                    <a:pt x="f784" y="f734"/>
                  </a:lnTo>
                  <a:lnTo>
                    <a:pt x="f784" y="f734"/>
                  </a:lnTo>
                  <a:lnTo>
                    <a:pt x="f784" y="f735"/>
                  </a:lnTo>
                  <a:lnTo>
                    <a:pt x="f786" y="f298"/>
                  </a:lnTo>
                  <a:lnTo>
                    <a:pt x="f787" y="f158"/>
                  </a:lnTo>
                  <a:lnTo>
                    <a:pt x="f788" y="f117"/>
                  </a:lnTo>
                  <a:lnTo>
                    <a:pt x="f789" y="f95"/>
                  </a:lnTo>
                  <a:lnTo>
                    <a:pt x="f790" y="f162"/>
                  </a:lnTo>
                  <a:lnTo>
                    <a:pt x="f791" y="f88"/>
                  </a:lnTo>
                  <a:lnTo>
                    <a:pt x="f792" y="f88"/>
                  </a:lnTo>
                  <a:lnTo>
                    <a:pt x="f792" y="f88"/>
                  </a:lnTo>
                  <a:lnTo>
                    <a:pt x="f793" y="f88"/>
                  </a:lnTo>
                  <a:lnTo>
                    <a:pt x="f794" y="f346"/>
                  </a:lnTo>
                  <a:lnTo>
                    <a:pt x="f795" y="f160"/>
                  </a:lnTo>
                  <a:lnTo>
                    <a:pt x="f796" y="f116"/>
                  </a:lnTo>
                  <a:lnTo>
                    <a:pt x="f767" y="f192"/>
                  </a:lnTo>
                  <a:close/>
                  <a:moveTo>
                    <a:pt x="f797" y="f238"/>
                  </a:moveTo>
                  <a:lnTo>
                    <a:pt x="f797" y="f238"/>
                  </a:lnTo>
                  <a:lnTo>
                    <a:pt x="f798" y="f341"/>
                  </a:lnTo>
                  <a:lnTo>
                    <a:pt x="f799" y="f252"/>
                  </a:lnTo>
                  <a:lnTo>
                    <a:pt x="f800" y="f292"/>
                  </a:lnTo>
                  <a:lnTo>
                    <a:pt x="f801" y="f339"/>
                  </a:lnTo>
                  <a:lnTo>
                    <a:pt x="f801" y="f339"/>
                  </a:lnTo>
                  <a:lnTo>
                    <a:pt x="f802" y="f292"/>
                  </a:lnTo>
                  <a:lnTo>
                    <a:pt x="f803" y="f252"/>
                  </a:lnTo>
                  <a:lnTo>
                    <a:pt x="f804" y="f26"/>
                  </a:lnTo>
                  <a:lnTo>
                    <a:pt x="f805" y="f417"/>
                  </a:lnTo>
                  <a:lnTo>
                    <a:pt x="f806" y="f571"/>
                  </a:lnTo>
                  <a:lnTo>
                    <a:pt x="f807" y="f397"/>
                  </a:lnTo>
                  <a:lnTo>
                    <a:pt x="f808" y="f102"/>
                  </a:lnTo>
                  <a:lnTo>
                    <a:pt x="f809" y="f544"/>
                  </a:lnTo>
                  <a:lnTo>
                    <a:pt x="f809" y="f70"/>
                  </a:lnTo>
                  <a:lnTo>
                    <a:pt x="f810" y="f70"/>
                  </a:lnTo>
                  <a:lnTo>
                    <a:pt x="f810" y="f150"/>
                  </a:lnTo>
                  <a:lnTo>
                    <a:pt x="f809" y="f150"/>
                  </a:lnTo>
                  <a:lnTo>
                    <a:pt x="f809" y="f140"/>
                  </a:lnTo>
                  <a:lnTo>
                    <a:pt x="f809" y="f140"/>
                  </a:lnTo>
                  <a:lnTo>
                    <a:pt x="f806" y="f138"/>
                  </a:lnTo>
                  <a:lnTo>
                    <a:pt x="f811" y="f137"/>
                  </a:lnTo>
                  <a:lnTo>
                    <a:pt x="f812" y="f210"/>
                  </a:lnTo>
                  <a:lnTo>
                    <a:pt x="f813" y="f212"/>
                  </a:lnTo>
                  <a:lnTo>
                    <a:pt x="f814" y="f214"/>
                  </a:lnTo>
                  <a:lnTo>
                    <a:pt x="f815" y="f41"/>
                  </a:lnTo>
                  <a:lnTo>
                    <a:pt x="f816" y="f217"/>
                  </a:lnTo>
                  <a:lnTo>
                    <a:pt x="f800" y="f134"/>
                  </a:lnTo>
                  <a:lnTo>
                    <a:pt x="f800" y="f134"/>
                  </a:lnTo>
                  <a:lnTo>
                    <a:pt x="f817" y="f217"/>
                  </a:lnTo>
                  <a:lnTo>
                    <a:pt x="f818" y="f222"/>
                  </a:lnTo>
                  <a:lnTo>
                    <a:pt x="f819" y="f136"/>
                  </a:lnTo>
                  <a:lnTo>
                    <a:pt x="f6" y="f137"/>
                  </a:lnTo>
                  <a:lnTo>
                    <a:pt x="f797" y="f238"/>
                  </a:lnTo>
                  <a:close/>
                  <a:moveTo>
                    <a:pt x="f263" y="f356"/>
                  </a:moveTo>
                  <a:lnTo>
                    <a:pt x="f263" y="f820"/>
                  </a:lnTo>
                  <a:lnTo>
                    <a:pt x="f265" y="f820"/>
                  </a:lnTo>
                  <a:lnTo>
                    <a:pt x="f265" y="f354"/>
                  </a:lnTo>
                  <a:lnTo>
                    <a:pt x="f263" y="f354"/>
                  </a:lnTo>
                  <a:lnTo>
                    <a:pt x="f263" y="f356"/>
                  </a:lnTo>
                  <a:close/>
                  <a:moveTo>
                    <a:pt x="f821" y="f150"/>
                  </a:moveTo>
                  <a:lnTo>
                    <a:pt x="f822" y="f150"/>
                  </a:lnTo>
                  <a:lnTo>
                    <a:pt x="f822" y="f244"/>
                  </a:lnTo>
                  <a:lnTo>
                    <a:pt x="f822" y="f70"/>
                  </a:lnTo>
                  <a:lnTo>
                    <a:pt x="f821" y="f70"/>
                  </a:lnTo>
                  <a:lnTo>
                    <a:pt x="f821" y="f150"/>
                  </a:lnTo>
                  <a:close/>
                  <a:moveTo>
                    <a:pt x="f822" y="f356"/>
                  </a:moveTo>
                  <a:lnTo>
                    <a:pt x="f822" y="f820"/>
                  </a:lnTo>
                  <a:lnTo>
                    <a:pt x="f821" y="f820"/>
                  </a:lnTo>
                  <a:lnTo>
                    <a:pt x="f821" y="f354"/>
                  </a:lnTo>
                  <a:lnTo>
                    <a:pt x="f822" y="f354"/>
                  </a:lnTo>
                  <a:lnTo>
                    <a:pt x="f822" y="f356"/>
                  </a:lnTo>
                  <a:close/>
                  <a:moveTo>
                    <a:pt x="f823" y="f824"/>
                  </a:moveTo>
                  <a:lnTo>
                    <a:pt x="f823" y="f824"/>
                  </a:lnTo>
                  <a:lnTo>
                    <a:pt x="f825" y="f826"/>
                  </a:lnTo>
                  <a:lnTo>
                    <a:pt x="f785" y="f419"/>
                  </a:lnTo>
                  <a:lnTo>
                    <a:pt x="f794" y="f827"/>
                  </a:lnTo>
                  <a:lnTo>
                    <a:pt x="f828" y="f829"/>
                  </a:lnTo>
                  <a:lnTo>
                    <a:pt x="f769" y="f357"/>
                  </a:lnTo>
                  <a:lnTo>
                    <a:pt x="f830" y="f416"/>
                  </a:lnTo>
                  <a:lnTo>
                    <a:pt x="f831" y="f353"/>
                  </a:lnTo>
                  <a:lnTo>
                    <a:pt x="f831" y="f353"/>
                  </a:lnTo>
                  <a:lnTo>
                    <a:pt x="f832" y="f833"/>
                  </a:lnTo>
                  <a:lnTo>
                    <a:pt x="f773" y="f416"/>
                  </a:lnTo>
                  <a:lnTo>
                    <a:pt x="f834" y="f829"/>
                  </a:lnTo>
                  <a:lnTo>
                    <a:pt x="f776" y="f827"/>
                  </a:lnTo>
                  <a:lnTo>
                    <a:pt x="f835" y="f413"/>
                  </a:lnTo>
                  <a:lnTo>
                    <a:pt x="f836" y="f837"/>
                  </a:lnTo>
                  <a:lnTo>
                    <a:pt x="f838" y="f411"/>
                  </a:lnTo>
                  <a:lnTo>
                    <a:pt x="f839" y="f840"/>
                  </a:lnTo>
                  <a:lnTo>
                    <a:pt x="f841" y="f842"/>
                  </a:lnTo>
                  <a:lnTo>
                    <a:pt x="f843" y="f348"/>
                  </a:lnTo>
                  <a:lnTo>
                    <a:pt x="f844" y="f408"/>
                  </a:lnTo>
                  <a:lnTo>
                    <a:pt x="f845" y="f388"/>
                  </a:lnTo>
                  <a:lnTo>
                    <a:pt x="f846" y="f363"/>
                  </a:lnTo>
                  <a:lnTo>
                    <a:pt x="f847" y="f848"/>
                  </a:lnTo>
                  <a:lnTo>
                    <a:pt x="f849" y="f850"/>
                  </a:lnTo>
                  <a:lnTo>
                    <a:pt x="f851" y="f852"/>
                  </a:lnTo>
                  <a:lnTo>
                    <a:pt x="f851" y="f852"/>
                  </a:lnTo>
                  <a:lnTo>
                    <a:pt x="f849" y="f853"/>
                  </a:lnTo>
                  <a:lnTo>
                    <a:pt x="f847" y="f854"/>
                  </a:lnTo>
                  <a:lnTo>
                    <a:pt x="f846" y="f855"/>
                  </a:lnTo>
                  <a:lnTo>
                    <a:pt x="f845" y="f629"/>
                  </a:lnTo>
                  <a:lnTo>
                    <a:pt x="f856" y="f625"/>
                  </a:lnTo>
                  <a:lnTo>
                    <a:pt x="f843" y="f622"/>
                  </a:lnTo>
                  <a:lnTo>
                    <a:pt x="f857" y="f858"/>
                  </a:lnTo>
                  <a:lnTo>
                    <a:pt x="f839" y="f859"/>
                  </a:lnTo>
                  <a:lnTo>
                    <a:pt x="f860" y="f861"/>
                  </a:lnTo>
                  <a:lnTo>
                    <a:pt x="f862" y="f617"/>
                  </a:lnTo>
                  <a:lnTo>
                    <a:pt x="f863" y="f864"/>
                  </a:lnTo>
                  <a:lnTo>
                    <a:pt x="f865" y="f594"/>
                  </a:lnTo>
                  <a:lnTo>
                    <a:pt x="f866" y="f592"/>
                  </a:lnTo>
                  <a:lnTo>
                    <a:pt x="f867" y="f868"/>
                  </a:lnTo>
                  <a:lnTo>
                    <a:pt x="f869" y="f870"/>
                  </a:lnTo>
                  <a:lnTo>
                    <a:pt x="f871" y="f591"/>
                  </a:lnTo>
                  <a:lnTo>
                    <a:pt x="f871" y="f591"/>
                  </a:lnTo>
                  <a:lnTo>
                    <a:pt x="f790" y="f870"/>
                  </a:lnTo>
                  <a:lnTo>
                    <a:pt x="f872" y="f868"/>
                  </a:lnTo>
                  <a:lnTo>
                    <a:pt x="f873" y="f874"/>
                  </a:lnTo>
                  <a:lnTo>
                    <a:pt x="f875" y="f876"/>
                  </a:lnTo>
                  <a:lnTo>
                    <a:pt x="f768" y="f594"/>
                  </a:lnTo>
                  <a:lnTo>
                    <a:pt x="f785" y="f596"/>
                  </a:lnTo>
                  <a:lnTo>
                    <a:pt x="f825" y="f877"/>
                  </a:lnTo>
                  <a:lnTo>
                    <a:pt x="f823" y="f878"/>
                  </a:lnTo>
                  <a:lnTo>
                    <a:pt x="f823" y="f876"/>
                  </a:lnTo>
                  <a:lnTo>
                    <a:pt x="f879" y="f876"/>
                  </a:lnTo>
                  <a:lnTo>
                    <a:pt x="f879" y="f880"/>
                  </a:lnTo>
                  <a:lnTo>
                    <a:pt x="f823" y="f881"/>
                  </a:lnTo>
                  <a:lnTo>
                    <a:pt x="f823" y="f824"/>
                  </a:lnTo>
                  <a:close/>
                  <a:moveTo>
                    <a:pt x="f882" y="f883"/>
                  </a:moveTo>
                  <a:lnTo>
                    <a:pt x="f882" y="f883"/>
                  </a:lnTo>
                  <a:lnTo>
                    <a:pt x="f884" y="f885"/>
                  </a:lnTo>
                  <a:lnTo>
                    <a:pt x="f771" y="f886"/>
                  </a:lnTo>
                  <a:lnTo>
                    <a:pt x="f869" y="f887"/>
                  </a:lnTo>
                  <a:lnTo>
                    <a:pt x="f888" y="f889"/>
                  </a:lnTo>
                  <a:lnTo>
                    <a:pt x="f890" y="f891"/>
                  </a:lnTo>
                  <a:lnTo>
                    <a:pt x="f834" y="f892"/>
                  </a:lnTo>
                  <a:lnTo>
                    <a:pt x="f893" y="f374"/>
                  </a:lnTo>
                  <a:lnTo>
                    <a:pt x="f894" y="f369"/>
                  </a:lnTo>
                  <a:lnTo>
                    <a:pt x="f894" y="f369"/>
                  </a:lnTo>
                  <a:lnTo>
                    <a:pt x="f893" y="f895"/>
                  </a:lnTo>
                  <a:lnTo>
                    <a:pt x="f834" y="f896"/>
                  </a:lnTo>
                  <a:lnTo>
                    <a:pt x="f890" y="f897"/>
                  </a:lnTo>
                  <a:lnTo>
                    <a:pt x="f888" y="f898"/>
                  </a:lnTo>
                  <a:lnTo>
                    <a:pt x="f869" y="f389"/>
                  </a:lnTo>
                  <a:lnTo>
                    <a:pt x="f787" y="f899"/>
                  </a:lnTo>
                  <a:lnTo>
                    <a:pt x="f884" y="f900"/>
                  </a:lnTo>
                  <a:lnTo>
                    <a:pt x="f791" y="f901"/>
                  </a:lnTo>
                  <a:lnTo>
                    <a:pt x="f791" y="f901"/>
                  </a:lnTo>
                  <a:lnTo>
                    <a:pt x="f902" y="f900"/>
                  </a:lnTo>
                  <a:lnTo>
                    <a:pt x="f793" y="f899"/>
                  </a:lnTo>
                  <a:lnTo>
                    <a:pt x="f903" y="f904"/>
                  </a:lnTo>
                  <a:lnTo>
                    <a:pt x="f905" y="f361"/>
                  </a:lnTo>
                  <a:lnTo>
                    <a:pt x="f906" y="f907"/>
                  </a:lnTo>
                  <a:lnTo>
                    <a:pt x="f825" y="f908"/>
                  </a:lnTo>
                  <a:lnTo>
                    <a:pt x="f823" y="f395"/>
                  </a:lnTo>
                  <a:lnTo>
                    <a:pt x="f823" y="f891"/>
                  </a:lnTo>
                  <a:lnTo>
                    <a:pt x="f823" y="f891"/>
                  </a:lnTo>
                  <a:lnTo>
                    <a:pt x="f909" y="f628"/>
                  </a:lnTo>
                  <a:lnTo>
                    <a:pt x="f905" y="f625"/>
                  </a:lnTo>
                  <a:lnTo>
                    <a:pt x="f903" y="f910"/>
                  </a:lnTo>
                  <a:lnTo>
                    <a:pt x="f793" y="f623"/>
                  </a:lnTo>
                  <a:lnTo>
                    <a:pt x="f902" y="f885"/>
                  </a:lnTo>
                  <a:lnTo>
                    <a:pt x="f882" y="f883"/>
                  </a:lnTo>
                  <a:lnTo>
                    <a:pt x="f882" y="f883"/>
                  </a:lnTo>
                  <a:close/>
                  <a:moveTo>
                    <a:pt x="f911" y="f388"/>
                  </a:moveTo>
                  <a:lnTo>
                    <a:pt x="f911" y="f388"/>
                  </a:lnTo>
                  <a:lnTo>
                    <a:pt x="f912" y="f898"/>
                  </a:lnTo>
                  <a:lnTo>
                    <a:pt x="f913" y="f361"/>
                  </a:lnTo>
                  <a:lnTo>
                    <a:pt x="f914" y="f408"/>
                  </a:lnTo>
                  <a:lnTo>
                    <a:pt x="f915" y="f904"/>
                  </a:lnTo>
                  <a:lnTo>
                    <a:pt x="f915" y="f904"/>
                  </a:lnTo>
                  <a:lnTo>
                    <a:pt x="f916" y="f408"/>
                  </a:lnTo>
                  <a:lnTo>
                    <a:pt x="f917" y="f361"/>
                  </a:lnTo>
                  <a:lnTo>
                    <a:pt x="f918" y="f898"/>
                  </a:lnTo>
                  <a:lnTo>
                    <a:pt x="f919" y="f362"/>
                  </a:lnTo>
                  <a:lnTo>
                    <a:pt x="f920" y="f403"/>
                  </a:lnTo>
                  <a:lnTo>
                    <a:pt x="f921" y="f922"/>
                  </a:lnTo>
                  <a:lnTo>
                    <a:pt x="f923" y="f366"/>
                  </a:lnTo>
                  <a:lnTo>
                    <a:pt x="f924" y="f383"/>
                  </a:lnTo>
                  <a:lnTo>
                    <a:pt x="f924" y="f876"/>
                  </a:lnTo>
                  <a:lnTo>
                    <a:pt x="f925" y="f876"/>
                  </a:lnTo>
                  <a:lnTo>
                    <a:pt x="f925" y="f829"/>
                  </a:lnTo>
                  <a:lnTo>
                    <a:pt x="f924" y="f829"/>
                  </a:lnTo>
                  <a:lnTo>
                    <a:pt x="f924" y="f411"/>
                  </a:lnTo>
                  <a:lnTo>
                    <a:pt x="f924" y="f411"/>
                  </a:lnTo>
                  <a:lnTo>
                    <a:pt x="f920" y="f926"/>
                  </a:lnTo>
                  <a:lnTo>
                    <a:pt x="f927" y="f413"/>
                  </a:lnTo>
                  <a:lnTo>
                    <a:pt x="f928" y="f929"/>
                  </a:lnTo>
                  <a:lnTo>
                    <a:pt x="f930" y="f931"/>
                  </a:lnTo>
                  <a:lnTo>
                    <a:pt x="f932" y="f357"/>
                  </a:lnTo>
                  <a:lnTo>
                    <a:pt x="f933" y="f416"/>
                  </a:lnTo>
                  <a:lnTo>
                    <a:pt x="f934" y="f833"/>
                  </a:lnTo>
                  <a:lnTo>
                    <a:pt x="f914" y="f353"/>
                  </a:lnTo>
                  <a:lnTo>
                    <a:pt x="f914" y="f353"/>
                  </a:lnTo>
                  <a:lnTo>
                    <a:pt x="f935" y="f833"/>
                  </a:lnTo>
                  <a:lnTo>
                    <a:pt x="f936" y="f414"/>
                  </a:lnTo>
                  <a:lnTo>
                    <a:pt x="f937" y="f827"/>
                  </a:lnTo>
                  <a:lnTo>
                    <a:pt x="f938" y="f939"/>
                  </a:lnTo>
                  <a:lnTo>
                    <a:pt x="f911" y="f388"/>
                  </a:lnTo>
                  <a:close/>
                  <a:moveTo>
                    <a:pt x="f17" y="f829"/>
                  </a:moveTo>
                  <a:lnTo>
                    <a:pt x="f940" y="f829"/>
                  </a:lnTo>
                  <a:lnTo>
                    <a:pt x="f31" y="f876"/>
                  </a:lnTo>
                  <a:lnTo>
                    <a:pt x="f139" y="f876"/>
                  </a:lnTo>
                  <a:lnTo>
                    <a:pt x="f941" y="f377"/>
                  </a:lnTo>
                  <a:lnTo>
                    <a:pt x="f941" y="f377"/>
                  </a:lnTo>
                  <a:lnTo>
                    <a:pt x="f123" y="f365"/>
                  </a:lnTo>
                  <a:lnTo>
                    <a:pt x="f123" y="f365"/>
                  </a:lnTo>
                  <a:lnTo>
                    <a:pt x="f942" y="f943"/>
                  </a:lnTo>
                  <a:lnTo>
                    <a:pt x="f944" y="f378"/>
                  </a:lnTo>
                  <a:lnTo>
                    <a:pt x="f945" y="f876"/>
                  </a:lnTo>
                  <a:lnTo>
                    <a:pt x="f946" y="f876"/>
                  </a:lnTo>
                  <a:lnTo>
                    <a:pt x="f946" y="f593"/>
                  </a:lnTo>
                  <a:lnTo>
                    <a:pt x="f5" y="f829"/>
                  </a:lnTo>
                  <a:lnTo>
                    <a:pt x="f947" y="f829"/>
                  </a:lnTo>
                  <a:lnTo>
                    <a:pt x="f948" y="f949"/>
                  </a:lnTo>
                  <a:lnTo>
                    <a:pt x="f948" y="f949"/>
                  </a:lnTo>
                  <a:lnTo>
                    <a:pt x="f950" y="f852"/>
                  </a:lnTo>
                  <a:lnTo>
                    <a:pt x="f951" y="f952"/>
                  </a:lnTo>
                  <a:lnTo>
                    <a:pt x="f951" y="f952"/>
                  </a:lnTo>
                  <a:lnTo>
                    <a:pt x="f953" y="f852"/>
                  </a:lnTo>
                  <a:lnTo>
                    <a:pt x="f954" y="f365"/>
                  </a:lnTo>
                  <a:lnTo>
                    <a:pt x="f955" y="f829"/>
                  </a:lnTo>
                  <a:lnTo>
                    <a:pt x="f127" y="f829"/>
                  </a:lnTo>
                  <a:lnTo>
                    <a:pt x="f76" y="f365"/>
                  </a:lnTo>
                  <a:lnTo>
                    <a:pt x="f76" y="f365"/>
                  </a:lnTo>
                  <a:lnTo>
                    <a:pt x="f956" y="f957"/>
                  </a:lnTo>
                  <a:lnTo>
                    <a:pt x="f56" y="f958"/>
                  </a:lnTo>
                  <a:lnTo>
                    <a:pt x="f56" y="f958"/>
                  </a:lnTo>
                  <a:lnTo>
                    <a:pt x="f959" y="f381"/>
                  </a:lnTo>
                  <a:lnTo>
                    <a:pt x="f27" y="f365"/>
                  </a:lnTo>
                  <a:lnTo>
                    <a:pt x="f17" y="f829"/>
                  </a:lnTo>
                  <a:close/>
                  <a:moveTo>
                    <a:pt x="f960" y="f353"/>
                  </a:moveTo>
                  <a:lnTo>
                    <a:pt x="f960" y="f353"/>
                  </a:lnTo>
                  <a:lnTo>
                    <a:pt x="f961" y="f833"/>
                  </a:lnTo>
                  <a:lnTo>
                    <a:pt x="f962" y="f416"/>
                  </a:lnTo>
                  <a:lnTo>
                    <a:pt x="f963" y="f829"/>
                  </a:lnTo>
                  <a:lnTo>
                    <a:pt x="f159" y="f827"/>
                  </a:lnTo>
                  <a:lnTo>
                    <a:pt x="f964" y="f413"/>
                  </a:lnTo>
                  <a:lnTo>
                    <a:pt x="f965" y="f926"/>
                  </a:lnTo>
                  <a:lnTo>
                    <a:pt x="f966" y="f967"/>
                  </a:lnTo>
                  <a:lnTo>
                    <a:pt x="f968" y="f423"/>
                  </a:lnTo>
                  <a:lnTo>
                    <a:pt x="f193" y="f969"/>
                  </a:lnTo>
                  <a:lnTo>
                    <a:pt x="f970" y="f971"/>
                  </a:lnTo>
                  <a:lnTo>
                    <a:pt x="f972" y="f393"/>
                  </a:lnTo>
                  <a:lnTo>
                    <a:pt x="f973" y="f405"/>
                  </a:lnTo>
                  <a:lnTo>
                    <a:pt x="f199" y="f974"/>
                  </a:lnTo>
                  <a:lnTo>
                    <a:pt x="f975" y="f385"/>
                  </a:lnTo>
                  <a:lnTo>
                    <a:pt x="f976" y="f977"/>
                  </a:lnTo>
                  <a:lnTo>
                    <a:pt x="f976" y="f978"/>
                  </a:lnTo>
                  <a:lnTo>
                    <a:pt x="f976" y="f978"/>
                  </a:lnTo>
                  <a:lnTo>
                    <a:pt x="f976" y="f979"/>
                  </a:lnTo>
                  <a:lnTo>
                    <a:pt x="f975" y="f980"/>
                  </a:lnTo>
                  <a:lnTo>
                    <a:pt x="f199" y="f855"/>
                  </a:lnTo>
                  <a:lnTo>
                    <a:pt x="f973" y="f630"/>
                  </a:lnTo>
                  <a:lnTo>
                    <a:pt x="f972" y="f981"/>
                  </a:lnTo>
                  <a:lnTo>
                    <a:pt x="f970" y="f982"/>
                  </a:lnTo>
                  <a:lnTo>
                    <a:pt x="f193" y="f621"/>
                  </a:lnTo>
                  <a:lnTo>
                    <a:pt x="f968" y="f632"/>
                  </a:lnTo>
                  <a:lnTo>
                    <a:pt x="f966" y="f983"/>
                  </a:lnTo>
                  <a:lnTo>
                    <a:pt x="f965" y="f617"/>
                  </a:lnTo>
                  <a:lnTo>
                    <a:pt x="f964" y="f864"/>
                  </a:lnTo>
                  <a:lnTo>
                    <a:pt x="f159" y="f594"/>
                  </a:lnTo>
                  <a:lnTo>
                    <a:pt x="f963" y="f876"/>
                  </a:lnTo>
                  <a:lnTo>
                    <a:pt x="f962" y="f868"/>
                  </a:lnTo>
                  <a:lnTo>
                    <a:pt x="f961" y="f870"/>
                  </a:lnTo>
                  <a:lnTo>
                    <a:pt x="f960" y="f591"/>
                  </a:lnTo>
                  <a:lnTo>
                    <a:pt x="f960" y="f591"/>
                  </a:lnTo>
                  <a:lnTo>
                    <a:pt x="f169" y="f870"/>
                  </a:lnTo>
                  <a:lnTo>
                    <a:pt x="f176" y="f868"/>
                  </a:lnTo>
                  <a:lnTo>
                    <a:pt x="f984" y="f876"/>
                  </a:lnTo>
                  <a:lnTo>
                    <a:pt x="f985" y="f594"/>
                  </a:lnTo>
                  <a:lnTo>
                    <a:pt x="f986" y="f864"/>
                  </a:lnTo>
                  <a:lnTo>
                    <a:pt x="f987" y="f617"/>
                  </a:lnTo>
                  <a:lnTo>
                    <a:pt x="f988" y="f983"/>
                  </a:lnTo>
                  <a:lnTo>
                    <a:pt x="f989" y="f632"/>
                  </a:lnTo>
                  <a:lnTo>
                    <a:pt x="f990" y="f621"/>
                  </a:lnTo>
                  <a:lnTo>
                    <a:pt x="f991" y="f982"/>
                  </a:lnTo>
                  <a:lnTo>
                    <a:pt x="f992" y="f981"/>
                  </a:lnTo>
                  <a:lnTo>
                    <a:pt x="f993" y="f630"/>
                  </a:lnTo>
                  <a:lnTo>
                    <a:pt x="f994" y="f855"/>
                  </a:lnTo>
                  <a:lnTo>
                    <a:pt x="f995" y="f980"/>
                  </a:lnTo>
                  <a:lnTo>
                    <a:pt x="f996" y="f979"/>
                  </a:lnTo>
                  <a:lnTo>
                    <a:pt x="f996" y="f978"/>
                  </a:lnTo>
                  <a:lnTo>
                    <a:pt x="f996" y="f978"/>
                  </a:lnTo>
                  <a:lnTo>
                    <a:pt x="f996" y="f977"/>
                  </a:lnTo>
                  <a:lnTo>
                    <a:pt x="f995" y="f385"/>
                  </a:lnTo>
                  <a:lnTo>
                    <a:pt x="f994" y="f974"/>
                  </a:lnTo>
                  <a:lnTo>
                    <a:pt x="f993" y="f405"/>
                  </a:lnTo>
                  <a:lnTo>
                    <a:pt x="f992" y="f393"/>
                  </a:lnTo>
                  <a:lnTo>
                    <a:pt x="f991" y="f971"/>
                  </a:lnTo>
                  <a:lnTo>
                    <a:pt x="f990" y="f969"/>
                  </a:lnTo>
                  <a:lnTo>
                    <a:pt x="f989" y="f423"/>
                  </a:lnTo>
                  <a:lnTo>
                    <a:pt x="f988" y="f967"/>
                  </a:lnTo>
                  <a:lnTo>
                    <a:pt x="f987" y="f926"/>
                  </a:lnTo>
                  <a:lnTo>
                    <a:pt x="f986" y="f413"/>
                  </a:lnTo>
                  <a:lnTo>
                    <a:pt x="f985" y="f827"/>
                  </a:lnTo>
                  <a:lnTo>
                    <a:pt x="f984" y="f829"/>
                  </a:lnTo>
                  <a:lnTo>
                    <a:pt x="f176" y="f416"/>
                  </a:lnTo>
                  <a:lnTo>
                    <a:pt x="f169" y="f833"/>
                  </a:lnTo>
                  <a:lnTo>
                    <a:pt x="f960" y="f353"/>
                  </a:lnTo>
                  <a:lnTo>
                    <a:pt x="f960" y="f353"/>
                  </a:lnTo>
                  <a:close/>
                  <a:moveTo>
                    <a:pt x="f960" y="f885"/>
                  </a:moveTo>
                  <a:lnTo>
                    <a:pt x="f960" y="f885"/>
                  </a:lnTo>
                  <a:lnTo>
                    <a:pt x="f961" y="f623"/>
                  </a:lnTo>
                  <a:lnTo>
                    <a:pt x="f185" y="f997"/>
                  </a:lnTo>
                  <a:lnTo>
                    <a:pt x="f998" y="f626"/>
                  </a:lnTo>
                  <a:lnTo>
                    <a:pt x="f999" y="f630"/>
                  </a:lnTo>
                  <a:lnTo>
                    <a:pt x="f1000" y="f1001"/>
                  </a:lnTo>
                  <a:lnTo>
                    <a:pt x="f1002" y="f958"/>
                  </a:lnTo>
                  <a:lnTo>
                    <a:pt x="f1003" y="f373"/>
                  </a:lnTo>
                  <a:lnTo>
                    <a:pt x="f1003" y="f978"/>
                  </a:lnTo>
                  <a:lnTo>
                    <a:pt x="f1003" y="f978"/>
                  </a:lnTo>
                  <a:lnTo>
                    <a:pt x="f1003" y="f1004"/>
                  </a:lnTo>
                  <a:lnTo>
                    <a:pt x="f1002" y="f848"/>
                  </a:lnTo>
                  <a:lnTo>
                    <a:pt x="f1000" y="f400"/>
                  </a:lnTo>
                  <a:lnTo>
                    <a:pt x="f999" y="f405"/>
                  </a:lnTo>
                  <a:lnTo>
                    <a:pt x="f998" y="f907"/>
                  </a:lnTo>
                  <a:lnTo>
                    <a:pt x="f185" y="f408"/>
                  </a:lnTo>
                  <a:lnTo>
                    <a:pt x="f961" y="f899"/>
                  </a:lnTo>
                  <a:lnTo>
                    <a:pt x="f960" y="f900"/>
                  </a:lnTo>
                  <a:lnTo>
                    <a:pt x="f960" y="f900"/>
                  </a:lnTo>
                  <a:lnTo>
                    <a:pt x="f180" y="f899"/>
                  </a:lnTo>
                  <a:lnTo>
                    <a:pt x="f1005" y="f408"/>
                  </a:lnTo>
                  <a:lnTo>
                    <a:pt x="f173" y="f907"/>
                  </a:lnTo>
                  <a:lnTo>
                    <a:pt x="f1006" y="f405"/>
                  </a:lnTo>
                  <a:lnTo>
                    <a:pt x="f1007" y="f400"/>
                  </a:lnTo>
                  <a:lnTo>
                    <a:pt x="f1008" y="f848"/>
                  </a:lnTo>
                  <a:lnTo>
                    <a:pt x="f1009" y="f1004"/>
                  </a:lnTo>
                  <a:lnTo>
                    <a:pt x="f1010" y="f978"/>
                  </a:lnTo>
                  <a:lnTo>
                    <a:pt x="f1010" y="f978"/>
                  </a:lnTo>
                  <a:lnTo>
                    <a:pt x="f1009" y="f373"/>
                  </a:lnTo>
                  <a:lnTo>
                    <a:pt x="f1008" y="f958"/>
                  </a:lnTo>
                  <a:lnTo>
                    <a:pt x="f1007" y="f1001"/>
                  </a:lnTo>
                  <a:lnTo>
                    <a:pt x="f1006" y="f630"/>
                  </a:lnTo>
                  <a:lnTo>
                    <a:pt x="f173" y="f626"/>
                  </a:lnTo>
                  <a:lnTo>
                    <a:pt x="f1005" y="f997"/>
                  </a:lnTo>
                  <a:lnTo>
                    <a:pt x="f180" y="f623"/>
                  </a:lnTo>
                  <a:lnTo>
                    <a:pt x="f960" y="f885"/>
                  </a:lnTo>
                  <a:lnTo>
                    <a:pt x="f960" y="f885"/>
                  </a:lnTo>
                  <a:close/>
                  <a:moveTo>
                    <a:pt x="f1011" y="f388"/>
                  </a:moveTo>
                  <a:lnTo>
                    <a:pt x="f1011" y="f388"/>
                  </a:lnTo>
                  <a:lnTo>
                    <a:pt x="f1012" y="f898"/>
                  </a:lnTo>
                  <a:lnTo>
                    <a:pt x="f874" y="f361"/>
                  </a:lnTo>
                  <a:lnTo>
                    <a:pt x="f596" y="f408"/>
                  </a:lnTo>
                  <a:lnTo>
                    <a:pt x="f1013" y="f904"/>
                  </a:lnTo>
                  <a:lnTo>
                    <a:pt x="f1013" y="f904"/>
                  </a:lnTo>
                  <a:lnTo>
                    <a:pt x="f1014" y="f408"/>
                  </a:lnTo>
                  <a:lnTo>
                    <a:pt x="f1015" y="f361"/>
                  </a:lnTo>
                  <a:lnTo>
                    <a:pt x="f1016" y="f898"/>
                  </a:lnTo>
                  <a:lnTo>
                    <a:pt x="f883" y="f362"/>
                  </a:lnTo>
                  <a:lnTo>
                    <a:pt x="f997" y="f403"/>
                  </a:lnTo>
                  <a:lnTo>
                    <a:pt x="f1017" y="f922"/>
                  </a:lnTo>
                  <a:lnTo>
                    <a:pt x="f1018" y="f366"/>
                  </a:lnTo>
                  <a:lnTo>
                    <a:pt x="f1018" y="f383"/>
                  </a:lnTo>
                  <a:lnTo>
                    <a:pt x="f1018" y="f876"/>
                  </a:lnTo>
                  <a:lnTo>
                    <a:pt x="f978" y="f876"/>
                  </a:lnTo>
                  <a:lnTo>
                    <a:pt x="f978" y="f829"/>
                  </a:lnTo>
                  <a:lnTo>
                    <a:pt x="f1018" y="f829"/>
                  </a:lnTo>
                  <a:lnTo>
                    <a:pt x="f1018" y="f411"/>
                  </a:lnTo>
                  <a:lnTo>
                    <a:pt x="f1018" y="f411"/>
                  </a:lnTo>
                  <a:lnTo>
                    <a:pt x="f887" y="f926"/>
                  </a:lnTo>
                  <a:lnTo>
                    <a:pt x="f883" y="f413"/>
                  </a:lnTo>
                  <a:lnTo>
                    <a:pt x="f1016" y="f929"/>
                  </a:lnTo>
                  <a:lnTo>
                    <a:pt x="f1015" y="f931"/>
                  </a:lnTo>
                  <a:lnTo>
                    <a:pt x="f859" y="f357"/>
                  </a:lnTo>
                  <a:lnTo>
                    <a:pt x="f633" y="f416"/>
                  </a:lnTo>
                  <a:lnTo>
                    <a:pt x="f617" y="f833"/>
                  </a:lnTo>
                  <a:lnTo>
                    <a:pt x="f596" y="f353"/>
                  </a:lnTo>
                  <a:lnTo>
                    <a:pt x="f596" y="f353"/>
                  </a:lnTo>
                  <a:lnTo>
                    <a:pt x="f870" y="f833"/>
                  </a:lnTo>
                  <a:lnTo>
                    <a:pt x="f615" y="f414"/>
                  </a:lnTo>
                  <a:lnTo>
                    <a:pt x="f1019" y="f827"/>
                  </a:lnTo>
                  <a:lnTo>
                    <a:pt x="f613" y="f939"/>
                  </a:lnTo>
                  <a:lnTo>
                    <a:pt x="f1011" y="f388"/>
                  </a:lnTo>
                  <a:close/>
                  <a:moveTo>
                    <a:pt x="f198" y="f829"/>
                  </a:moveTo>
                  <a:lnTo>
                    <a:pt x="f474" y="f829"/>
                  </a:lnTo>
                  <a:lnTo>
                    <a:pt x="f86" y="f876"/>
                  </a:lnTo>
                  <a:lnTo>
                    <a:pt x="f567" y="f876"/>
                  </a:lnTo>
                  <a:lnTo>
                    <a:pt x="f575" y="f377"/>
                  </a:lnTo>
                  <a:lnTo>
                    <a:pt x="f575" y="f377"/>
                  </a:lnTo>
                  <a:lnTo>
                    <a:pt x="f1020" y="f365"/>
                  </a:lnTo>
                  <a:lnTo>
                    <a:pt x="f1020" y="f365"/>
                  </a:lnTo>
                  <a:lnTo>
                    <a:pt x="f244" y="f943"/>
                  </a:lnTo>
                  <a:lnTo>
                    <a:pt x="f579" y="f378"/>
                  </a:lnTo>
                  <a:lnTo>
                    <a:pt x="f647" y="f876"/>
                  </a:lnTo>
                  <a:lnTo>
                    <a:pt x="f542" y="f876"/>
                  </a:lnTo>
                  <a:lnTo>
                    <a:pt x="f230" y="f593"/>
                  </a:lnTo>
                  <a:lnTo>
                    <a:pt x="f1021" y="f829"/>
                  </a:lnTo>
                  <a:lnTo>
                    <a:pt x="f228" y="f829"/>
                  </a:lnTo>
                  <a:lnTo>
                    <a:pt x="f233" y="f949"/>
                  </a:lnTo>
                  <a:lnTo>
                    <a:pt x="f233" y="f949"/>
                  </a:lnTo>
                  <a:lnTo>
                    <a:pt x="f290" y="f852"/>
                  </a:lnTo>
                  <a:lnTo>
                    <a:pt x="f30" y="f952"/>
                  </a:lnTo>
                  <a:lnTo>
                    <a:pt x="f30" y="f952"/>
                  </a:lnTo>
                  <a:lnTo>
                    <a:pt x="f252" y="f852"/>
                  </a:lnTo>
                  <a:lnTo>
                    <a:pt x="f24" y="f365"/>
                  </a:lnTo>
                  <a:lnTo>
                    <a:pt x="f97" y="f829"/>
                  </a:lnTo>
                  <a:lnTo>
                    <a:pt x="f569" y="f829"/>
                  </a:lnTo>
                  <a:lnTo>
                    <a:pt x="f735" y="f365"/>
                  </a:lnTo>
                  <a:lnTo>
                    <a:pt x="f735" y="f365"/>
                  </a:lnTo>
                  <a:lnTo>
                    <a:pt x="f561" y="f957"/>
                  </a:lnTo>
                  <a:lnTo>
                    <a:pt x="f90" y="f958"/>
                  </a:lnTo>
                  <a:lnTo>
                    <a:pt x="f90" y="f958"/>
                  </a:lnTo>
                  <a:lnTo>
                    <a:pt x="f95" y="f381"/>
                  </a:lnTo>
                  <a:lnTo>
                    <a:pt x="f300" y="f365"/>
                  </a:lnTo>
                  <a:lnTo>
                    <a:pt x="f198" y="f829"/>
                  </a:lnTo>
                  <a:close/>
                  <a:moveTo>
                    <a:pt x="f1022" y="f353"/>
                  </a:moveTo>
                  <a:lnTo>
                    <a:pt x="f1022" y="f353"/>
                  </a:lnTo>
                  <a:lnTo>
                    <a:pt x="f1023" y="f833"/>
                  </a:lnTo>
                  <a:lnTo>
                    <a:pt x="f1024" y="f416"/>
                  </a:lnTo>
                  <a:lnTo>
                    <a:pt x="f1025" y="f829"/>
                  </a:lnTo>
                  <a:lnTo>
                    <a:pt x="f881" y="f827"/>
                  </a:lnTo>
                  <a:lnTo>
                    <a:pt x="f1026" y="f413"/>
                  </a:lnTo>
                  <a:lnTo>
                    <a:pt x="f1027" y="f412"/>
                  </a:lnTo>
                  <a:lnTo>
                    <a:pt x="f1028" y="f967"/>
                  </a:lnTo>
                  <a:lnTo>
                    <a:pt x="f1029" y="f423"/>
                  </a:lnTo>
                  <a:lnTo>
                    <a:pt x="f1030" y="f969"/>
                  </a:lnTo>
                  <a:lnTo>
                    <a:pt x="f1031" y="f971"/>
                  </a:lnTo>
                  <a:lnTo>
                    <a:pt x="f1032" y="f393"/>
                  </a:lnTo>
                  <a:lnTo>
                    <a:pt x="f1033" y="f405"/>
                  </a:lnTo>
                  <a:lnTo>
                    <a:pt x="f1034" y="f974"/>
                  </a:lnTo>
                  <a:lnTo>
                    <a:pt x="f1035" y="f1036"/>
                  </a:lnTo>
                  <a:lnTo>
                    <a:pt x="f1037" y="f977"/>
                  </a:lnTo>
                  <a:lnTo>
                    <a:pt x="f1037" y="f978"/>
                  </a:lnTo>
                  <a:lnTo>
                    <a:pt x="f1037" y="f978"/>
                  </a:lnTo>
                  <a:lnTo>
                    <a:pt x="f1037" y="f979"/>
                  </a:lnTo>
                  <a:lnTo>
                    <a:pt x="f1035" y="f980"/>
                  </a:lnTo>
                  <a:lnTo>
                    <a:pt x="f1034" y="f855"/>
                  </a:lnTo>
                  <a:lnTo>
                    <a:pt x="f1033" y="f630"/>
                  </a:lnTo>
                  <a:lnTo>
                    <a:pt x="f1032" y="f981"/>
                  </a:lnTo>
                  <a:lnTo>
                    <a:pt x="f1031" y="f982"/>
                  </a:lnTo>
                  <a:lnTo>
                    <a:pt x="f1030" y="f621"/>
                  </a:lnTo>
                  <a:lnTo>
                    <a:pt x="f1029" y="f632"/>
                  </a:lnTo>
                  <a:lnTo>
                    <a:pt x="f1028" y="f983"/>
                  </a:lnTo>
                  <a:lnTo>
                    <a:pt x="f1027" y="f617"/>
                  </a:lnTo>
                  <a:lnTo>
                    <a:pt x="f1026" y="f864"/>
                  </a:lnTo>
                  <a:lnTo>
                    <a:pt x="f881" y="f594"/>
                  </a:lnTo>
                  <a:lnTo>
                    <a:pt x="f1025" y="f876"/>
                  </a:lnTo>
                  <a:lnTo>
                    <a:pt x="f1024" y="f868"/>
                  </a:lnTo>
                  <a:lnTo>
                    <a:pt x="f1023" y="f870"/>
                  </a:lnTo>
                  <a:lnTo>
                    <a:pt x="f1022" y="f591"/>
                  </a:lnTo>
                  <a:lnTo>
                    <a:pt x="f1022" y="f591"/>
                  </a:lnTo>
                  <a:lnTo>
                    <a:pt x="f1038" y="f870"/>
                  </a:lnTo>
                  <a:lnTo>
                    <a:pt x="f416" y="f868"/>
                  </a:lnTo>
                  <a:lnTo>
                    <a:pt x="f1039" y="f876"/>
                  </a:lnTo>
                  <a:lnTo>
                    <a:pt x="f421" y="f594"/>
                  </a:lnTo>
                  <a:lnTo>
                    <a:pt x="f840" y="f864"/>
                  </a:lnTo>
                  <a:lnTo>
                    <a:pt x="f409" y="f617"/>
                  </a:lnTo>
                  <a:lnTo>
                    <a:pt x="f1040" y="f983"/>
                  </a:lnTo>
                  <a:lnTo>
                    <a:pt x="f392" y="f632"/>
                  </a:lnTo>
                  <a:lnTo>
                    <a:pt x="f393" y="f621"/>
                  </a:lnTo>
                  <a:lnTo>
                    <a:pt x="f1041" y="f982"/>
                  </a:lnTo>
                  <a:lnTo>
                    <a:pt x="f405" y="f981"/>
                  </a:lnTo>
                  <a:lnTo>
                    <a:pt x="f403" y="f630"/>
                  </a:lnTo>
                  <a:lnTo>
                    <a:pt x="f363" y="f855"/>
                  </a:lnTo>
                  <a:lnTo>
                    <a:pt x="f400" y="f980"/>
                  </a:lnTo>
                  <a:lnTo>
                    <a:pt x="f1042" y="f979"/>
                  </a:lnTo>
                  <a:lnTo>
                    <a:pt x="f1042" y="f978"/>
                  </a:lnTo>
                  <a:lnTo>
                    <a:pt x="f1042" y="f978"/>
                  </a:lnTo>
                  <a:lnTo>
                    <a:pt x="f1042" y="f977"/>
                  </a:lnTo>
                  <a:lnTo>
                    <a:pt x="f400" y="f1036"/>
                  </a:lnTo>
                  <a:lnTo>
                    <a:pt x="f363" y="f974"/>
                  </a:lnTo>
                  <a:lnTo>
                    <a:pt x="f403" y="f405"/>
                  </a:lnTo>
                  <a:lnTo>
                    <a:pt x="f405" y="f393"/>
                  </a:lnTo>
                  <a:lnTo>
                    <a:pt x="f1041" y="f971"/>
                  </a:lnTo>
                  <a:lnTo>
                    <a:pt x="f393" y="f969"/>
                  </a:lnTo>
                  <a:lnTo>
                    <a:pt x="f392" y="f423"/>
                  </a:lnTo>
                  <a:lnTo>
                    <a:pt x="f1040" y="f967"/>
                  </a:lnTo>
                  <a:lnTo>
                    <a:pt x="f409" y="f412"/>
                  </a:lnTo>
                  <a:lnTo>
                    <a:pt x="f840" y="f413"/>
                  </a:lnTo>
                  <a:lnTo>
                    <a:pt x="f421" y="f827"/>
                  </a:lnTo>
                  <a:lnTo>
                    <a:pt x="f1039" y="f829"/>
                  </a:lnTo>
                  <a:lnTo>
                    <a:pt x="f416" y="f416"/>
                  </a:lnTo>
                  <a:lnTo>
                    <a:pt x="f1038" y="f833"/>
                  </a:lnTo>
                  <a:lnTo>
                    <a:pt x="f1022" y="f353"/>
                  </a:lnTo>
                  <a:lnTo>
                    <a:pt x="f1022" y="f353"/>
                  </a:lnTo>
                  <a:close/>
                  <a:moveTo>
                    <a:pt x="f1022" y="f885"/>
                  </a:moveTo>
                  <a:lnTo>
                    <a:pt x="f1022" y="f885"/>
                  </a:lnTo>
                  <a:lnTo>
                    <a:pt x="f1023" y="f623"/>
                  </a:lnTo>
                  <a:lnTo>
                    <a:pt x="f1043" y="f997"/>
                  </a:lnTo>
                  <a:lnTo>
                    <a:pt x="f1044" y="f626"/>
                  </a:lnTo>
                  <a:lnTo>
                    <a:pt x="f1045" y="f630"/>
                  </a:lnTo>
                  <a:lnTo>
                    <a:pt x="f1046" y="f1001"/>
                  </a:lnTo>
                  <a:lnTo>
                    <a:pt x="f1047" y="f958"/>
                  </a:lnTo>
                  <a:lnTo>
                    <a:pt x="f1048" y="f373"/>
                  </a:lnTo>
                  <a:lnTo>
                    <a:pt x="f1048" y="f978"/>
                  </a:lnTo>
                  <a:lnTo>
                    <a:pt x="f1048" y="f978"/>
                  </a:lnTo>
                  <a:lnTo>
                    <a:pt x="f1048" y="f1004"/>
                  </a:lnTo>
                  <a:lnTo>
                    <a:pt x="f1047" y="f1049"/>
                  </a:lnTo>
                  <a:lnTo>
                    <a:pt x="f1046" y="f400"/>
                  </a:lnTo>
                  <a:lnTo>
                    <a:pt x="f1045" y="f405"/>
                  </a:lnTo>
                  <a:lnTo>
                    <a:pt x="f1044" y="f907"/>
                  </a:lnTo>
                  <a:lnTo>
                    <a:pt x="f1043" y="f408"/>
                  </a:lnTo>
                  <a:lnTo>
                    <a:pt x="f1023" y="f899"/>
                  </a:lnTo>
                  <a:lnTo>
                    <a:pt x="f1022" y="f900"/>
                  </a:lnTo>
                  <a:lnTo>
                    <a:pt x="f1022" y="f900"/>
                  </a:lnTo>
                  <a:lnTo>
                    <a:pt x="f1050" y="f899"/>
                  </a:lnTo>
                  <a:lnTo>
                    <a:pt x="f353" y="f408"/>
                  </a:lnTo>
                  <a:lnTo>
                    <a:pt x="f418" y="f907"/>
                  </a:lnTo>
                  <a:lnTo>
                    <a:pt x="f413" y="f405"/>
                  </a:lnTo>
                  <a:lnTo>
                    <a:pt x="f412" y="f400"/>
                  </a:lnTo>
                  <a:lnTo>
                    <a:pt x="f351" y="f1049"/>
                  </a:lnTo>
                  <a:lnTo>
                    <a:pt x="f411" y="f1004"/>
                  </a:lnTo>
                  <a:lnTo>
                    <a:pt x="f967" y="f978"/>
                  </a:lnTo>
                  <a:lnTo>
                    <a:pt x="f967" y="f978"/>
                  </a:lnTo>
                  <a:lnTo>
                    <a:pt x="f411" y="f373"/>
                  </a:lnTo>
                  <a:lnTo>
                    <a:pt x="f351" y="f958"/>
                  </a:lnTo>
                  <a:lnTo>
                    <a:pt x="f412" y="f1001"/>
                  </a:lnTo>
                  <a:lnTo>
                    <a:pt x="f413" y="f630"/>
                  </a:lnTo>
                  <a:lnTo>
                    <a:pt x="f418" y="f626"/>
                  </a:lnTo>
                  <a:lnTo>
                    <a:pt x="f353" y="f997"/>
                  </a:lnTo>
                  <a:lnTo>
                    <a:pt x="f1050" y="f623"/>
                  </a:lnTo>
                  <a:lnTo>
                    <a:pt x="f1022" y="f885"/>
                  </a:lnTo>
                  <a:lnTo>
                    <a:pt x="f1022" y="f885"/>
                  </a:lnTo>
                  <a:close/>
                  <a:moveTo>
                    <a:pt x="f1051" y="f398"/>
                  </a:moveTo>
                  <a:lnTo>
                    <a:pt x="f1052" y="f876"/>
                  </a:lnTo>
                  <a:lnTo>
                    <a:pt x="f1053" y="f876"/>
                  </a:lnTo>
                  <a:lnTo>
                    <a:pt x="f1054" y="f1055"/>
                  </a:lnTo>
                  <a:lnTo>
                    <a:pt x="f1056" y="f1057"/>
                  </a:lnTo>
                  <a:lnTo>
                    <a:pt x="f1056" y="f876"/>
                  </a:lnTo>
                  <a:lnTo>
                    <a:pt x="f1058" y="f876"/>
                  </a:lnTo>
                  <a:lnTo>
                    <a:pt x="f1058" y="f881"/>
                  </a:lnTo>
                  <a:lnTo>
                    <a:pt x="f1056" y="f880"/>
                  </a:lnTo>
                  <a:lnTo>
                    <a:pt x="f1056" y="f1049"/>
                  </a:lnTo>
                  <a:lnTo>
                    <a:pt x="f1056" y="f1049"/>
                  </a:lnTo>
                  <a:lnTo>
                    <a:pt x="f1059" y="f907"/>
                  </a:lnTo>
                  <a:lnTo>
                    <a:pt x="f322" y="f829"/>
                  </a:lnTo>
                  <a:lnTo>
                    <a:pt x="f1060" y="f829"/>
                  </a:lnTo>
                  <a:lnTo>
                    <a:pt x="f1051" y="f398"/>
                  </a:lnTo>
                  <a:close/>
                  <a:moveTo>
                    <a:pt x="f1061" y="f876"/>
                  </a:moveTo>
                  <a:lnTo>
                    <a:pt x="f1062" y="f876"/>
                  </a:lnTo>
                  <a:lnTo>
                    <a:pt x="f1062" y="f829"/>
                  </a:lnTo>
                  <a:lnTo>
                    <a:pt x="f1061" y="f829"/>
                  </a:lnTo>
                  <a:lnTo>
                    <a:pt x="f1061" y="f411"/>
                  </a:lnTo>
                  <a:lnTo>
                    <a:pt x="f1061" y="f411"/>
                  </a:lnTo>
                  <a:lnTo>
                    <a:pt x="f1063" y="f926"/>
                  </a:lnTo>
                  <a:lnTo>
                    <a:pt x="f1064" y="f939"/>
                  </a:lnTo>
                  <a:lnTo>
                    <a:pt x="f1065" y="f929"/>
                  </a:lnTo>
                  <a:lnTo>
                    <a:pt x="f1066" y="f931"/>
                  </a:lnTo>
                  <a:lnTo>
                    <a:pt x="f1067" y="f414"/>
                  </a:lnTo>
                  <a:lnTo>
                    <a:pt x="f260" y="f416"/>
                  </a:lnTo>
                  <a:lnTo>
                    <a:pt x="f1068" y="f833"/>
                  </a:lnTo>
                  <a:lnTo>
                    <a:pt x="f1069" y="f353"/>
                  </a:lnTo>
                  <a:lnTo>
                    <a:pt x="f1069" y="f353"/>
                  </a:lnTo>
                  <a:lnTo>
                    <a:pt x="f1070" y="f833"/>
                  </a:lnTo>
                  <a:lnTo>
                    <a:pt x="f1071" y="f416"/>
                  </a:lnTo>
                  <a:lnTo>
                    <a:pt x="f1072" y="f414"/>
                  </a:lnTo>
                  <a:lnTo>
                    <a:pt x="f1073" y="f931"/>
                  </a:lnTo>
                  <a:lnTo>
                    <a:pt x="f1074" y="f352"/>
                  </a:lnTo>
                  <a:lnTo>
                    <a:pt x="f1075" y="f358"/>
                  </a:lnTo>
                  <a:lnTo>
                    <a:pt x="f220" y="f412"/>
                  </a:lnTo>
                  <a:lnTo>
                    <a:pt x="f245" y="f422"/>
                  </a:lnTo>
                  <a:lnTo>
                    <a:pt x="f1076" y="f423"/>
                  </a:lnTo>
                  <a:lnTo>
                    <a:pt x="f1077" y="f969"/>
                  </a:lnTo>
                  <a:lnTo>
                    <a:pt x="f1078" y="f360"/>
                  </a:lnTo>
                  <a:lnTo>
                    <a:pt x="f1079" y="f361"/>
                  </a:lnTo>
                  <a:lnTo>
                    <a:pt x="f1080" y="f362"/>
                  </a:lnTo>
                  <a:lnTo>
                    <a:pt x="f224" y="f398"/>
                  </a:lnTo>
                  <a:lnTo>
                    <a:pt x="f1081" y="f848"/>
                  </a:lnTo>
                  <a:lnTo>
                    <a:pt x="f1082" y="f850"/>
                  </a:lnTo>
                  <a:lnTo>
                    <a:pt x="f1082" y="f876"/>
                  </a:lnTo>
                  <a:lnTo>
                    <a:pt x="f1072" y="f876"/>
                  </a:lnTo>
                  <a:lnTo>
                    <a:pt x="f1072" y="f1083"/>
                  </a:lnTo>
                  <a:lnTo>
                    <a:pt x="f1072" y="f1083"/>
                  </a:lnTo>
                  <a:lnTo>
                    <a:pt x="f1084" y="f1036"/>
                  </a:lnTo>
                  <a:lnTo>
                    <a:pt x="f1085" y="f974"/>
                  </a:lnTo>
                  <a:lnTo>
                    <a:pt x="f1086" y="f1087"/>
                  </a:lnTo>
                  <a:lnTo>
                    <a:pt x="f1088" y="f406"/>
                  </a:lnTo>
                  <a:lnTo>
                    <a:pt x="f1089" y="f361"/>
                  </a:lnTo>
                  <a:lnTo>
                    <a:pt x="f258" y="f392"/>
                  </a:lnTo>
                  <a:lnTo>
                    <a:pt x="f1090" y="f900"/>
                  </a:lnTo>
                  <a:lnTo>
                    <a:pt x="f1091" y="f901"/>
                  </a:lnTo>
                  <a:lnTo>
                    <a:pt x="f1091" y="f901"/>
                  </a:lnTo>
                  <a:lnTo>
                    <a:pt x="f1092" y="f900"/>
                  </a:lnTo>
                  <a:lnTo>
                    <a:pt x="f1066" y="f392"/>
                  </a:lnTo>
                  <a:lnTo>
                    <a:pt x="f1093" y="f361"/>
                  </a:lnTo>
                  <a:lnTo>
                    <a:pt x="f1064" y="f908"/>
                  </a:lnTo>
                  <a:lnTo>
                    <a:pt x="f1094" y="f1087"/>
                  </a:lnTo>
                  <a:lnTo>
                    <a:pt x="f1095" y="f896"/>
                  </a:lnTo>
                  <a:lnTo>
                    <a:pt x="f1096" y="f1036"/>
                  </a:lnTo>
                  <a:lnTo>
                    <a:pt x="f1061" y="f1083"/>
                  </a:lnTo>
                  <a:lnTo>
                    <a:pt x="f1061" y="f876"/>
                  </a:lnTo>
                  <a:close/>
                  <a:moveTo>
                    <a:pt x="f460" y="f824"/>
                  </a:moveTo>
                  <a:lnTo>
                    <a:pt x="f460" y="f824"/>
                  </a:lnTo>
                  <a:lnTo>
                    <a:pt x="f433" y="f826"/>
                  </a:lnTo>
                  <a:lnTo>
                    <a:pt x="f480" y="f419"/>
                  </a:lnTo>
                  <a:lnTo>
                    <a:pt x="f487" y="f827"/>
                  </a:lnTo>
                  <a:lnTo>
                    <a:pt x="f457" y="f829"/>
                  </a:lnTo>
                  <a:lnTo>
                    <a:pt x="f522" y="f357"/>
                  </a:lnTo>
                  <a:lnTo>
                    <a:pt x="f484" y="f416"/>
                  </a:lnTo>
                  <a:lnTo>
                    <a:pt x="f525" y="f833"/>
                  </a:lnTo>
                  <a:lnTo>
                    <a:pt x="f454" y="f353"/>
                  </a:lnTo>
                  <a:lnTo>
                    <a:pt x="f454" y="f353"/>
                  </a:lnTo>
                  <a:lnTo>
                    <a:pt x="f1097" y="f833"/>
                  </a:lnTo>
                  <a:lnTo>
                    <a:pt x="f1098" y="f416"/>
                  </a:lnTo>
                  <a:lnTo>
                    <a:pt x="f451" y="f414"/>
                  </a:lnTo>
                  <a:lnTo>
                    <a:pt x="f444" y="f827"/>
                  </a:lnTo>
                  <a:lnTo>
                    <a:pt x="f446" y="f419"/>
                  </a:lnTo>
                  <a:lnTo>
                    <a:pt x="f1099" y="f837"/>
                  </a:lnTo>
                  <a:lnTo>
                    <a:pt x="f1100" y="f411"/>
                  </a:lnTo>
                  <a:lnTo>
                    <a:pt x="f1101" y="f840"/>
                  </a:lnTo>
                  <a:lnTo>
                    <a:pt x="f1102" y="f842"/>
                  </a:lnTo>
                  <a:lnTo>
                    <a:pt x="f1103" y="f348"/>
                  </a:lnTo>
                  <a:lnTo>
                    <a:pt x="f1104" y="f408"/>
                  </a:lnTo>
                  <a:lnTo>
                    <a:pt x="f1105" y="f388"/>
                  </a:lnTo>
                  <a:lnTo>
                    <a:pt x="f1106" y="f363"/>
                  </a:lnTo>
                  <a:lnTo>
                    <a:pt x="f1107" y="f848"/>
                  </a:lnTo>
                  <a:lnTo>
                    <a:pt x="f241" y="f850"/>
                  </a:lnTo>
                  <a:lnTo>
                    <a:pt x="f241" y="f957"/>
                  </a:lnTo>
                  <a:lnTo>
                    <a:pt x="f241" y="f957"/>
                  </a:lnTo>
                  <a:lnTo>
                    <a:pt x="f241" y="f853"/>
                  </a:lnTo>
                  <a:lnTo>
                    <a:pt x="f1107" y="f854"/>
                  </a:lnTo>
                  <a:lnTo>
                    <a:pt x="f1106" y="f855"/>
                  </a:lnTo>
                  <a:lnTo>
                    <a:pt x="f1105" y="f629"/>
                  </a:lnTo>
                  <a:lnTo>
                    <a:pt x="f1104" y="f625"/>
                  </a:lnTo>
                  <a:lnTo>
                    <a:pt x="f1103" y="f622"/>
                  </a:lnTo>
                  <a:lnTo>
                    <a:pt x="f1102" y="f858"/>
                  </a:lnTo>
                  <a:lnTo>
                    <a:pt x="f1101" y="f859"/>
                  </a:lnTo>
                  <a:lnTo>
                    <a:pt x="f1108" y="f861"/>
                  </a:lnTo>
                  <a:lnTo>
                    <a:pt x="f1109" y="f617"/>
                  </a:lnTo>
                  <a:lnTo>
                    <a:pt x="f1110" y="f864"/>
                  </a:lnTo>
                  <a:lnTo>
                    <a:pt x="f450" y="f594"/>
                  </a:lnTo>
                  <a:lnTo>
                    <a:pt x="f1111" y="f876"/>
                  </a:lnTo>
                  <a:lnTo>
                    <a:pt x="f1112" y="f868"/>
                  </a:lnTo>
                  <a:lnTo>
                    <a:pt x="f1113" y="f870"/>
                  </a:lnTo>
                  <a:lnTo>
                    <a:pt x="f1114" y="f591"/>
                  </a:lnTo>
                  <a:lnTo>
                    <a:pt x="f1114" y="f591"/>
                  </a:lnTo>
                  <a:lnTo>
                    <a:pt x="f526" y="f870"/>
                  </a:lnTo>
                  <a:lnTo>
                    <a:pt x="f484" y="f868"/>
                  </a:lnTo>
                  <a:lnTo>
                    <a:pt x="f522" y="f874"/>
                  </a:lnTo>
                  <a:lnTo>
                    <a:pt x="f457" y="f876"/>
                  </a:lnTo>
                  <a:lnTo>
                    <a:pt x="f485" y="f594"/>
                  </a:lnTo>
                  <a:lnTo>
                    <a:pt x="f480" y="f596"/>
                  </a:lnTo>
                  <a:lnTo>
                    <a:pt x="f433" y="f877"/>
                  </a:lnTo>
                  <a:lnTo>
                    <a:pt x="f460" y="f878"/>
                  </a:lnTo>
                  <a:lnTo>
                    <a:pt x="f460" y="f877"/>
                  </a:lnTo>
                  <a:lnTo>
                    <a:pt x="f460" y="f877"/>
                  </a:lnTo>
                  <a:lnTo>
                    <a:pt x="f460" y="f635"/>
                  </a:lnTo>
                  <a:lnTo>
                    <a:pt x="f478" y="f636"/>
                  </a:lnTo>
                  <a:lnTo>
                    <a:pt x="f1115" y="f650"/>
                  </a:lnTo>
                  <a:lnTo>
                    <a:pt x="f459" y="f1116"/>
                  </a:lnTo>
                  <a:lnTo>
                    <a:pt x="f1117" y="f1019"/>
                  </a:lnTo>
                  <a:lnTo>
                    <a:pt x="f458" y="f1118"/>
                  </a:lnTo>
                  <a:lnTo>
                    <a:pt x="f485" y="f1119"/>
                  </a:lnTo>
                  <a:lnTo>
                    <a:pt x="f457" y="f1120"/>
                  </a:lnTo>
                  <a:lnTo>
                    <a:pt x="f522" y="f586"/>
                  </a:lnTo>
                  <a:lnTo>
                    <a:pt x="f1121" y="f1122"/>
                  </a:lnTo>
                  <a:lnTo>
                    <a:pt x="f1123" y="f1124"/>
                  </a:lnTo>
                  <a:lnTo>
                    <a:pt x="f1125" y="f1126"/>
                  </a:lnTo>
                  <a:lnTo>
                    <a:pt x="f1127" y="f1126"/>
                  </a:lnTo>
                  <a:lnTo>
                    <a:pt x="f1128" y="f1126"/>
                  </a:lnTo>
                  <a:lnTo>
                    <a:pt x="f1129" y="f7"/>
                  </a:lnTo>
                  <a:lnTo>
                    <a:pt x="f1130" y="f7"/>
                  </a:lnTo>
                  <a:lnTo>
                    <a:pt x="f1130" y="f7"/>
                  </a:lnTo>
                  <a:lnTo>
                    <a:pt x="f524" y="f7"/>
                  </a:lnTo>
                  <a:lnTo>
                    <a:pt x="f1131" y="f1132"/>
                  </a:lnTo>
                  <a:lnTo>
                    <a:pt x="f487" y="f1133"/>
                  </a:lnTo>
                  <a:lnTo>
                    <a:pt x="f433" y="f640"/>
                  </a:lnTo>
                  <a:lnTo>
                    <a:pt x="f518" y="f1134"/>
                  </a:lnTo>
                  <a:lnTo>
                    <a:pt x="f462" y="f657"/>
                  </a:lnTo>
                  <a:lnTo>
                    <a:pt x="f491" y="f654"/>
                  </a:lnTo>
                  <a:lnTo>
                    <a:pt x="f471" y="f639"/>
                  </a:lnTo>
                  <a:lnTo>
                    <a:pt x="f1135" y="f611"/>
                  </a:lnTo>
                  <a:lnTo>
                    <a:pt x="f1136" y="f1126"/>
                  </a:lnTo>
                  <a:lnTo>
                    <a:pt x="f1137" y="f1138"/>
                  </a:lnTo>
                  <a:lnTo>
                    <a:pt x="f1139" y="f1140"/>
                  </a:lnTo>
                  <a:lnTo>
                    <a:pt x="f1141" y="f650"/>
                  </a:lnTo>
                  <a:lnTo>
                    <a:pt x="f1142" y="f591"/>
                  </a:lnTo>
                  <a:lnTo>
                    <a:pt x="f1143" y="f596"/>
                  </a:lnTo>
                  <a:lnTo>
                    <a:pt x="f1143" y="f983"/>
                  </a:lnTo>
                  <a:lnTo>
                    <a:pt x="f1143" y="f829"/>
                  </a:lnTo>
                  <a:lnTo>
                    <a:pt x="f460" y="f829"/>
                  </a:lnTo>
                  <a:lnTo>
                    <a:pt x="f460" y="f824"/>
                  </a:lnTo>
                  <a:close/>
                  <a:moveTo>
                    <a:pt x="f460" y="f395"/>
                  </a:moveTo>
                  <a:lnTo>
                    <a:pt x="f460" y="f891"/>
                  </a:lnTo>
                  <a:lnTo>
                    <a:pt x="f460" y="f891"/>
                  </a:lnTo>
                  <a:lnTo>
                    <a:pt x="f1144" y="f628"/>
                  </a:lnTo>
                  <a:lnTo>
                    <a:pt x="f1145" y="f887"/>
                  </a:lnTo>
                  <a:lnTo>
                    <a:pt x="f1146" y="f910"/>
                  </a:lnTo>
                  <a:lnTo>
                    <a:pt x="f1147" y="f623"/>
                  </a:lnTo>
                  <a:lnTo>
                    <a:pt x="f436" y="f885"/>
                  </a:lnTo>
                  <a:lnTo>
                    <a:pt x="f524" y="f883"/>
                  </a:lnTo>
                  <a:lnTo>
                    <a:pt x="f524" y="f883"/>
                  </a:lnTo>
                  <a:lnTo>
                    <a:pt x="f1148" y="f885"/>
                  </a:lnTo>
                  <a:lnTo>
                    <a:pt x="f1129" y="f886"/>
                  </a:lnTo>
                  <a:lnTo>
                    <a:pt x="f1113" y="f887"/>
                  </a:lnTo>
                  <a:lnTo>
                    <a:pt x="f1149" y="f889"/>
                  </a:lnTo>
                  <a:lnTo>
                    <a:pt x="f1150" y="f891"/>
                  </a:lnTo>
                  <a:lnTo>
                    <a:pt x="f451" y="f892"/>
                  </a:lnTo>
                  <a:lnTo>
                    <a:pt x="f1151" y="f374"/>
                  </a:lnTo>
                  <a:lnTo>
                    <a:pt x="f1152" y="f369"/>
                  </a:lnTo>
                  <a:lnTo>
                    <a:pt x="f1152" y="f369"/>
                  </a:lnTo>
                  <a:lnTo>
                    <a:pt x="f1151" y="f895"/>
                  </a:lnTo>
                  <a:lnTo>
                    <a:pt x="f451" y="f896"/>
                  </a:lnTo>
                  <a:lnTo>
                    <a:pt x="f1150" y="f897"/>
                  </a:lnTo>
                  <a:lnTo>
                    <a:pt x="f1149" y="f898"/>
                  </a:lnTo>
                  <a:lnTo>
                    <a:pt x="f1113" y="f389"/>
                  </a:lnTo>
                  <a:lnTo>
                    <a:pt x="f1129" y="f899"/>
                  </a:lnTo>
                  <a:lnTo>
                    <a:pt x="f1148" y="f900"/>
                  </a:lnTo>
                  <a:lnTo>
                    <a:pt x="f524" y="f901"/>
                  </a:lnTo>
                  <a:lnTo>
                    <a:pt x="f524" y="f901"/>
                  </a:lnTo>
                  <a:lnTo>
                    <a:pt x="f436" y="f900"/>
                  </a:lnTo>
                  <a:lnTo>
                    <a:pt x="f1153" y="f899"/>
                  </a:lnTo>
                  <a:lnTo>
                    <a:pt x="f1154" y="f904"/>
                  </a:lnTo>
                  <a:lnTo>
                    <a:pt x="f1155" y="f361"/>
                  </a:lnTo>
                  <a:lnTo>
                    <a:pt x="f520" y="f907"/>
                  </a:lnTo>
                  <a:lnTo>
                    <a:pt x="f459" y="f908"/>
                  </a:lnTo>
                  <a:lnTo>
                    <a:pt x="f460" y="f395"/>
                  </a:lnTo>
                  <a:lnTo>
                    <a:pt x="f460" y="f395"/>
                  </a:lnTo>
                  <a:close/>
                  <a:moveTo>
                    <a:pt x="f1156" y="f829"/>
                  </a:moveTo>
                  <a:lnTo>
                    <a:pt x="f1157" y="f829"/>
                  </a:lnTo>
                  <a:lnTo>
                    <a:pt x="f1157" y="f850"/>
                  </a:lnTo>
                  <a:lnTo>
                    <a:pt x="f1157" y="f876"/>
                  </a:lnTo>
                  <a:lnTo>
                    <a:pt x="f1156" y="f876"/>
                  </a:lnTo>
                  <a:lnTo>
                    <a:pt x="f1156" y="f829"/>
                  </a:lnTo>
                  <a:close/>
                  <a:moveTo>
                    <a:pt x="f1157" y="f1158"/>
                  </a:moveTo>
                  <a:lnTo>
                    <a:pt x="f1157" y="f1159"/>
                  </a:lnTo>
                  <a:lnTo>
                    <a:pt x="f1156" y="f1159"/>
                  </a:lnTo>
                  <a:lnTo>
                    <a:pt x="f1156" y="f495"/>
                  </a:lnTo>
                  <a:lnTo>
                    <a:pt x="f1157" y="f495"/>
                  </a:lnTo>
                  <a:lnTo>
                    <a:pt x="f1157" y="f1158"/>
                  </a:lnTo>
                  <a:close/>
                  <a:moveTo>
                    <a:pt x="f1160" y="f881"/>
                  </a:moveTo>
                  <a:lnTo>
                    <a:pt x="f1161" y="f880"/>
                  </a:lnTo>
                  <a:lnTo>
                    <a:pt x="f1161" y="f1162"/>
                  </a:lnTo>
                  <a:lnTo>
                    <a:pt x="f1161" y="f876"/>
                  </a:lnTo>
                  <a:lnTo>
                    <a:pt x="f1160" y="f876"/>
                  </a:lnTo>
                  <a:lnTo>
                    <a:pt x="f1160" y="f881"/>
                  </a:lnTo>
                  <a:close/>
                  <a:moveTo>
                    <a:pt x="f1163" y="f303"/>
                  </a:moveTo>
                  <a:lnTo>
                    <a:pt x="f1164" y="f303"/>
                  </a:lnTo>
                  <a:lnTo>
                    <a:pt x="f1164" y="f1165"/>
                  </a:lnTo>
                  <a:lnTo>
                    <a:pt x="f1163" y="f1165"/>
                  </a:lnTo>
                  <a:lnTo>
                    <a:pt x="f1163" y="f1166"/>
                  </a:lnTo>
                  <a:lnTo>
                    <a:pt x="f1167" y="f1166"/>
                  </a:lnTo>
                  <a:lnTo>
                    <a:pt x="f1168" y="f5"/>
                  </a:lnTo>
                  <a:lnTo>
                    <a:pt x="f69" y="f5"/>
                  </a:lnTo>
                  <a:lnTo>
                    <a:pt x="f69" y="f1169"/>
                  </a:lnTo>
                  <a:lnTo>
                    <a:pt x="f1170" y="f1169"/>
                  </a:lnTo>
                  <a:lnTo>
                    <a:pt x="f1170" y="f1171"/>
                  </a:lnTo>
                  <a:lnTo>
                    <a:pt x="f1163" y="f1171"/>
                  </a:lnTo>
                  <a:lnTo>
                    <a:pt x="f1163" y="f303"/>
                  </a:lnTo>
                  <a:close/>
                  <a:moveTo>
                    <a:pt x="f28" y="f5"/>
                  </a:moveTo>
                  <a:lnTo>
                    <a:pt x="f1172" y="f168"/>
                  </a:lnTo>
                  <a:lnTo>
                    <a:pt x="f1173" y="f5"/>
                  </a:lnTo>
                  <a:lnTo>
                    <a:pt x="f1164" y="f5"/>
                  </a:lnTo>
                  <a:lnTo>
                    <a:pt x="f1174" y="f303"/>
                  </a:lnTo>
                  <a:lnTo>
                    <a:pt x="f1174" y="f1169"/>
                  </a:lnTo>
                  <a:lnTo>
                    <a:pt x="f1175" y="f1169"/>
                  </a:lnTo>
                  <a:lnTo>
                    <a:pt x="f1175" y="f303"/>
                  </a:lnTo>
                  <a:lnTo>
                    <a:pt x="f363" y="f5"/>
                  </a:lnTo>
                  <a:lnTo>
                    <a:pt x="f2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Tree>
    <p:extLst>
      <p:ext uri="{BB962C8B-B14F-4D97-AF65-F5344CB8AC3E}">
        <p14:creationId xmlns:p14="http://schemas.microsoft.com/office/powerpoint/2010/main" val="256485886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4_Standard slide_no bullets">
    <p:spTree>
      <p:nvGrpSpPr>
        <p:cNvPr id="1" name=""/>
        <p:cNvGrpSpPr/>
        <p:nvPr/>
      </p:nvGrpSpPr>
      <p:grpSpPr>
        <a:xfrm>
          <a:off x="0" y="0"/>
          <a:ext cx="0" cy="0"/>
          <a:chOff x="0" y="0"/>
          <a:chExt cx="0" cy="0"/>
        </a:xfrm>
      </p:grpSpPr>
      <p:sp>
        <p:nvSpPr>
          <p:cNvPr id="2" name="Table Placeholder 4">
            <a:extLst>
              <a:ext uri="{FF2B5EF4-FFF2-40B4-BE49-F238E27FC236}">
                <a16:creationId xmlns:a16="http://schemas.microsoft.com/office/drawing/2014/main" id="{DCC64FBE-EA99-BE51-898A-EC1C113C7186}"/>
              </a:ext>
            </a:extLst>
          </p:cNvPr>
          <p:cNvSpPr txBox="1">
            <a:spLocks noGrp="1"/>
          </p:cNvSpPr>
          <p:nvPr>
            <p:ph type="tbl" idx="4294967295"/>
          </p:nvPr>
        </p:nvSpPr>
        <p:spPr>
          <a:xfrm>
            <a:off x="609603" y="1137925"/>
            <a:ext cx="4954923" cy="4267459"/>
          </a:xfrm>
        </p:spPr>
        <p:txBody>
          <a:bodyPr/>
          <a:lstStyle>
            <a:lvl1pPr>
              <a:defRPr lang="en-IN"/>
            </a:lvl1pPr>
          </a:lstStyle>
          <a:p>
            <a:pPr lvl="0"/>
            <a:endParaRPr lang="en-IN"/>
          </a:p>
        </p:txBody>
      </p:sp>
      <p:sp>
        <p:nvSpPr>
          <p:cNvPr id="3" name="Text Placeholder 16">
            <a:extLst>
              <a:ext uri="{FF2B5EF4-FFF2-40B4-BE49-F238E27FC236}">
                <a16:creationId xmlns:a16="http://schemas.microsoft.com/office/drawing/2014/main" id="{10982525-4EFE-908C-51CD-060E0BDE05EB}"/>
              </a:ext>
            </a:extLst>
          </p:cNvPr>
          <p:cNvSpPr txBox="1">
            <a:spLocks noGrp="1"/>
          </p:cNvSpPr>
          <p:nvPr>
            <p:ph type="body" idx="4294967295"/>
          </p:nvPr>
        </p:nvSpPr>
        <p:spPr>
          <a:xfrm>
            <a:off x="7129750" y="3813285"/>
            <a:ext cx="3087663" cy="179999"/>
          </a:xfrm>
        </p:spPr>
        <p:txBody>
          <a:bodyPr/>
          <a:lstStyle>
            <a:lvl1pPr marL="0" indent="0">
              <a:spcBef>
                <a:spcPts val="300"/>
              </a:spcBef>
              <a:buNone/>
              <a:defRPr sz="1199"/>
            </a:lvl1pPr>
          </a:lstStyle>
          <a:p>
            <a:pPr lvl="0"/>
            <a:r>
              <a:rPr lang="en-US"/>
              <a:t>Name Surname</a:t>
            </a:r>
            <a:endParaRPr lang="en-GB"/>
          </a:p>
        </p:txBody>
      </p:sp>
      <p:sp>
        <p:nvSpPr>
          <p:cNvPr id="4" name="Text Placeholder 16">
            <a:extLst>
              <a:ext uri="{FF2B5EF4-FFF2-40B4-BE49-F238E27FC236}">
                <a16:creationId xmlns:a16="http://schemas.microsoft.com/office/drawing/2014/main" id="{87A67C6D-0E40-4079-724B-48AE77161D15}"/>
              </a:ext>
            </a:extLst>
          </p:cNvPr>
          <p:cNvSpPr txBox="1">
            <a:spLocks noGrp="1"/>
          </p:cNvSpPr>
          <p:nvPr>
            <p:ph type="body" idx="4294967295"/>
          </p:nvPr>
        </p:nvSpPr>
        <p:spPr>
          <a:xfrm>
            <a:off x="7129750" y="4055930"/>
            <a:ext cx="3087663" cy="179999"/>
          </a:xfrm>
        </p:spPr>
        <p:txBody>
          <a:bodyPr/>
          <a:lstStyle>
            <a:lvl1pPr marL="0" indent="0">
              <a:spcBef>
                <a:spcPts val="300"/>
              </a:spcBef>
              <a:buNone/>
              <a:defRPr sz="1199"/>
            </a:lvl1pPr>
          </a:lstStyle>
          <a:p>
            <a:pPr lvl="0"/>
            <a:r>
              <a:rPr lang="en-US"/>
              <a:t>Job Title to go here</a:t>
            </a:r>
            <a:endParaRPr lang="en-GB"/>
          </a:p>
        </p:txBody>
      </p:sp>
      <p:sp>
        <p:nvSpPr>
          <p:cNvPr id="5" name="Picture Placeholder 19">
            <a:extLst>
              <a:ext uri="{FF2B5EF4-FFF2-40B4-BE49-F238E27FC236}">
                <a16:creationId xmlns:a16="http://schemas.microsoft.com/office/drawing/2014/main" id="{5896470D-F005-989E-81E2-382C4C8659A6}"/>
              </a:ext>
            </a:extLst>
          </p:cNvPr>
          <p:cNvSpPr txBox="1">
            <a:spLocks noGrp="1"/>
          </p:cNvSpPr>
          <p:nvPr>
            <p:ph type="pic" idx="4294967295"/>
          </p:nvPr>
        </p:nvSpPr>
        <p:spPr>
          <a:xfrm>
            <a:off x="6119823" y="3578083"/>
            <a:ext cx="778556" cy="778959"/>
          </a:xfrm>
        </p:spPr>
        <p:txBody>
          <a:bodyPr anchor="ctr" anchorCtr="1"/>
          <a:lstStyle>
            <a:lvl1pPr marL="0" indent="0" algn="ctr">
              <a:spcBef>
                <a:spcPts val="200"/>
              </a:spcBef>
              <a:buNone/>
              <a:defRPr lang="en-GB" sz="900"/>
            </a:lvl1pPr>
          </a:lstStyle>
          <a:p>
            <a:pPr lvl="0"/>
            <a:endParaRPr lang="en-GB"/>
          </a:p>
        </p:txBody>
      </p:sp>
      <p:sp>
        <p:nvSpPr>
          <p:cNvPr id="6" name="Text Placeholder 8">
            <a:extLst>
              <a:ext uri="{FF2B5EF4-FFF2-40B4-BE49-F238E27FC236}">
                <a16:creationId xmlns:a16="http://schemas.microsoft.com/office/drawing/2014/main" id="{BC39E8F4-C9C9-738F-CD8F-28C2585C9DDC}"/>
              </a:ext>
            </a:extLst>
          </p:cNvPr>
          <p:cNvSpPr txBox="1">
            <a:spLocks noGrp="1"/>
          </p:cNvSpPr>
          <p:nvPr>
            <p:ph type="body" idx="4294967295"/>
          </p:nvPr>
        </p:nvSpPr>
        <p:spPr>
          <a:xfrm>
            <a:off x="6119823" y="1137925"/>
            <a:ext cx="5462579" cy="373806"/>
          </a:xfrm>
        </p:spPr>
        <p:txBody>
          <a:bodyPr/>
          <a:lstStyle>
            <a:lvl1pPr marL="0" indent="0">
              <a:buNone/>
              <a:defRPr/>
            </a:lvl1pPr>
          </a:lstStyle>
          <a:p>
            <a:pPr lvl="0"/>
            <a:r>
              <a:rPr lang="en-US"/>
              <a:t>Key Takeaways</a:t>
            </a:r>
          </a:p>
        </p:txBody>
      </p:sp>
      <p:sp>
        <p:nvSpPr>
          <p:cNvPr id="7" name="Text Placeholder 8">
            <a:extLst>
              <a:ext uri="{FF2B5EF4-FFF2-40B4-BE49-F238E27FC236}">
                <a16:creationId xmlns:a16="http://schemas.microsoft.com/office/drawing/2014/main" id="{1C3F8B88-E30D-AD29-5C8F-56586156667F}"/>
              </a:ext>
            </a:extLst>
          </p:cNvPr>
          <p:cNvSpPr txBox="1">
            <a:spLocks noGrp="1"/>
          </p:cNvSpPr>
          <p:nvPr>
            <p:ph type="body" idx="4294967295"/>
          </p:nvPr>
        </p:nvSpPr>
        <p:spPr>
          <a:xfrm>
            <a:off x="6119823" y="1635011"/>
            <a:ext cx="5462579" cy="1611556"/>
          </a:xfrm>
        </p:spPr>
        <p:txBody>
          <a:bodyPr/>
          <a:lstStyle>
            <a:lvl1pPr marL="0" indent="0">
              <a:spcBef>
                <a:spcPts val="400"/>
              </a:spcBef>
              <a:buNone/>
              <a:defRPr sz="1599"/>
            </a:lvl1pPr>
            <a:lvl2pPr marL="0" lvl="0" indent="0">
              <a:buNone/>
              <a:defRPr sz="1599"/>
            </a:lvl2pPr>
          </a:lstStyle>
          <a:p>
            <a:pPr lvl="0"/>
            <a:r>
              <a:rPr lang="en-US"/>
              <a:t>Content EY Interstate Light, 16pt, Lorem ipsum dolor, 12pt, Utinam nonumy abhorreant sead. Putant probatus id vis, ad his meis habemus repudiare, has an pericula tractatos. Nec debitis dissentias ad. Patrioque voluptatum sed ex, id admodum.</a:t>
            </a:r>
          </a:p>
          <a:p>
            <a:pPr lvl="0"/>
            <a:endParaRPr lang="en-US"/>
          </a:p>
        </p:txBody>
      </p:sp>
      <p:sp>
        <p:nvSpPr>
          <p:cNvPr id="8" name="Line 10">
            <a:extLst>
              <a:ext uri="{FF2B5EF4-FFF2-40B4-BE49-F238E27FC236}">
                <a16:creationId xmlns:a16="http://schemas.microsoft.com/office/drawing/2014/main" id="{154DD604-D315-3922-C339-241344C1BBAC}"/>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9" name="Date Placeholder 2">
            <a:extLst>
              <a:ext uri="{FF2B5EF4-FFF2-40B4-BE49-F238E27FC236}">
                <a16:creationId xmlns:a16="http://schemas.microsoft.com/office/drawing/2014/main" id="{F565DEDB-E14B-B31F-D977-90192031D72E}"/>
              </a:ext>
            </a:extLst>
          </p:cNvPr>
          <p:cNvSpPr txBox="1">
            <a:spLocks noGrp="1"/>
          </p:cNvSpPr>
          <p:nvPr>
            <p:ph type="dt" sz="half" idx="7"/>
          </p:nvPr>
        </p:nvSpPr>
        <p:spPr/>
        <p:txBody>
          <a:bodyPr/>
          <a:lstStyle>
            <a:lvl1pPr>
              <a:defRPr/>
            </a:lvl1pPr>
          </a:lstStyle>
          <a:p>
            <a:pPr lvl="0"/>
            <a:fld id="{80E31989-B4CC-4B3E-BD58-1F185BE185BE}" type="datetime3">
              <a:rPr lang="en-US"/>
              <a:pPr lvl="0"/>
              <a:t>27 November 2025</a:t>
            </a:fld>
            <a:endParaRPr lang="en-IN"/>
          </a:p>
        </p:txBody>
      </p:sp>
      <p:sp>
        <p:nvSpPr>
          <p:cNvPr id="10" name="Footer Placeholder 3">
            <a:extLst>
              <a:ext uri="{FF2B5EF4-FFF2-40B4-BE49-F238E27FC236}">
                <a16:creationId xmlns:a16="http://schemas.microsoft.com/office/drawing/2014/main" id="{8540873F-2605-2070-F0D0-F7F78572C38B}"/>
              </a:ext>
            </a:extLst>
          </p:cNvPr>
          <p:cNvSpPr txBox="1">
            <a:spLocks noGrp="1"/>
          </p:cNvSpPr>
          <p:nvPr>
            <p:ph type="ftr" sz="quarter" idx="9"/>
          </p:nvPr>
        </p:nvSpPr>
        <p:spPr/>
        <p:txBody>
          <a:bodyPr/>
          <a:lstStyle>
            <a:lvl1pPr>
              <a:defRPr lang="en-IN"/>
            </a:lvl1pPr>
          </a:lstStyle>
          <a:p>
            <a:pPr lvl="0"/>
            <a:r>
              <a:rPr lang="en-IN"/>
              <a:t>Presentation title</a:t>
            </a:r>
          </a:p>
        </p:txBody>
      </p:sp>
      <p:sp>
        <p:nvSpPr>
          <p:cNvPr id="11" name="Slide Number Placeholder 5">
            <a:extLst>
              <a:ext uri="{FF2B5EF4-FFF2-40B4-BE49-F238E27FC236}">
                <a16:creationId xmlns:a16="http://schemas.microsoft.com/office/drawing/2014/main" id="{BD52AEBD-3E6F-96E0-4E22-9103C7198E40}"/>
              </a:ext>
            </a:extLst>
          </p:cNvPr>
          <p:cNvSpPr txBox="1">
            <a:spLocks noGrp="1"/>
          </p:cNvSpPr>
          <p:nvPr>
            <p:ph type="sldNum" sz="quarter" idx="8"/>
          </p:nvPr>
        </p:nvSpPr>
        <p:spPr/>
        <p:txBody>
          <a:bodyPr/>
          <a:lstStyle>
            <a:lvl1pPr>
              <a:defRPr lang="en-IN"/>
            </a:lvl1pPr>
          </a:lstStyle>
          <a:p>
            <a:pPr lvl="0"/>
            <a:r>
              <a:rPr lang="en-IN"/>
              <a:t>Page </a:t>
            </a:r>
            <a:fld id="{E4B9D997-8AE1-42F2-88F5-12B23A735AD8}" type="slidenum">
              <a:t>‹#›</a:t>
            </a:fld>
            <a:endParaRPr lang="en-IN"/>
          </a:p>
        </p:txBody>
      </p:sp>
    </p:spTree>
    <p:extLst>
      <p:ext uri="{BB962C8B-B14F-4D97-AF65-F5344CB8AC3E}">
        <p14:creationId xmlns:p14="http://schemas.microsoft.com/office/powerpoint/2010/main" val="38735333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4_Standard slide">
    <p:spTree>
      <p:nvGrpSpPr>
        <p:cNvPr id="1" name=""/>
        <p:cNvGrpSpPr/>
        <p:nvPr/>
      </p:nvGrpSpPr>
      <p:grpSpPr>
        <a:xfrm>
          <a:off x="0" y="0"/>
          <a:ext cx="0" cy="0"/>
          <a:chOff x="0" y="0"/>
          <a:chExt cx="0" cy="0"/>
        </a:xfrm>
      </p:grpSpPr>
      <p:sp>
        <p:nvSpPr>
          <p:cNvPr id="2" name="Line 10">
            <a:extLst>
              <a:ext uri="{FF2B5EF4-FFF2-40B4-BE49-F238E27FC236}">
                <a16:creationId xmlns:a16="http://schemas.microsoft.com/office/drawing/2014/main" id="{11433E28-5EEB-4EE5-B865-BB6AD38ADAD3}"/>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Text Placeholder 2">
            <a:extLst>
              <a:ext uri="{FF2B5EF4-FFF2-40B4-BE49-F238E27FC236}">
                <a16:creationId xmlns:a16="http://schemas.microsoft.com/office/drawing/2014/main" id="{7EAE8A9F-2B49-0006-61D7-8BDE281BCDD9}"/>
              </a:ext>
            </a:extLst>
          </p:cNvPr>
          <p:cNvSpPr txBox="1">
            <a:spLocks noGrp="1"/>
          </p:cNvSpPr>
          <p:nvPr>
            <p:ph idx="4294967295"/>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2">
            <a:extLst>
              <a:ext uri="{FF2B5EF4-FFF2-40B4-BE49-F238E27FC236}">
                <a16:creationId xmlns:a16="http://schemas.microsoft.com/office/drawing/2014/main" id="{1AB89596-3D2B-872C-15FE-8710F432DB2D}"/>
              </a:ext>
            </a:extLst>
          </p:cNvPr>
          <p:cNvSpPr txBox="1">
            <a:spLocks noGrp="1"/>
          </p:cNvSpPr>
          <p:nvPr>
            <p:ph type="dt" sz="half" idx="7"/>
          </p:nvPr>
        </p:nvSpPr>
        <p:spPr/>
        <p:txBody>
          <a:bodyPr/>
          <a:lstStyle>
            <a:lvl1pPr>
              <a:defRPr/>
            </a:lvl1pPr>
          </a:lstStyle>
          <a:p>
            <a:pPr lvl="0"/>
            <a:fld id="{CC29AA2C-C047-4DDB-9114-4D926E165BFB}" type="datetime3">
              <a:rPr lang="en-US"/>
              <a:pPr lvl="0"/>
              <a:t>27 November 2025</a:t>
            </a:fld>
            <a:endParaRPr lang="en-IN"/>
          </a:p>
        </p:txBody>
      </p:sp>
      <p:sp>
        <p:nvSpPr>
          <p:cNvPr id="5" name="Footer Placeholder 3">
            <a:extLst>
              <a:ext uri="{FF2B5EF4-FFF2-40B4-BE49-F238E27FC236}">
                <a16:creationId xmlns:a16="http://schemas.microsoft.com/office/drawing/2014/main" id="{1A6D294E-7EB0-C813-890C-FD05BA08A496}"/>
              </a:ext>
            </a:extLst>
          </p:cNvPr>
          <p:cNvSpPr txBox="1">
            <a:spLocks noGrp="1"/>
          </p:cNvSpPr>
          <p:nvPr>
            <p:ph type="ftr" sz="quarter" idx="9"/>
          </p:nvPr>
        </p:nvSpPr>
        <p:spPr/>
        <p:txBody>
          <a:bodyPr/>
          <a:lstStyle>
            <a:lvl1pPr>
              <a:defRPr lang="en-IN"/>
            </a:lvl1pPr>
          </a:lstStyle>
          <a:p>
            <a:pPr lvl="0"/>
            <a:r>
              <a:rPr lang="en-IN"/>
              <a:t>Presentation title</a:t>
            </a:r>
          </a:p>
        </p:txBody>
      </p:sp>
      <p:sp>
        <p:nvSpPr>
          <p:cNvPr id="6" name="Slide Number Placeholder 4">
            <a:extLst>
              <a:ext uri="{FF2B5EF4-FFF2-40B4-BE49-F238E27FC236}">
                <a16:creationId xmlns:a16="http://schemas.microsoft.com/office/drawing/2014/main" id="{81CEF886-F009-8284-5784-9A7A1565D2F9}"/>
              </a:ext>
            </a:extLst>
          </p:cNvPr>
          <p:cNvSpPr txBox="1">
            <a:spLocks noGrp="1"/>
          </p:cNvSpPr>
          <p:nvPr>
            <p:ph type="sldNum" sz="quarter" idx="8"/>
          </p:nvPr>
        </p:nvSpPr>
        <p:spPr/>
        <p:txBody>
          <a:bodyPr/>
          <a:lstStyle>
            <a:lvl1pPr>
              <a:defRPr lang="en-IN"/>
            </a:lvl1pPr>
          </a:lstStyle>
          <a:p>
            <a:pPr lvl="0"/>
            <a:r>
              <a:rPr lang="en-IN"/>
              <a:t>Page </a:t>
            </a:r>
            <a:fld id="{082ECA51-140C-4D61-98DE-A73F0A062950}" type="slidenum">
              <a:t>‹#›</a:t>
            </a:fld>
            <a:endParaRPr lang="en-IN"/>
          </a:p>
        </p:txBody>
      </p:sp>
    </p:spTree>
    <p:extLst>
      <p:ext uri="{BB962C8B-B14F-4D97-AF65-F5344CB8AC3E}">
        <p14:creationId xmlns:p14="http://schemas.microsoft.com/office/powerpoint/2010/main" val="274284524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5_Standard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E4342A-6CB1-F73B-1A50-C24412B31236}"/>
              </a:ext>
            </a:extLst>
          </p:cNvPr>
          <p:cNvSpPr txBox="1">
            <a:spLocks noGrp="1"/>
          </p:cNvSpPr>
          <p:nvPr>
            <p:ph type="title"/>
          </p:nvPr>
        </p:nvSpPr>
        <p:spPr>
          <a:xfrm>
            <a:off x="609603" y="294199"/>
            <a:ext cx="7440545" cy="590400"/>
          </a:xfrm>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EAF274DF-AEA1-7063-480F-A20BE9BAB151}"/>
              </a:ext>
            </a:extLst>
          </p:cNvPr>
          <p:cNvSpPr txBox="1">
            <a:spLocks noGrp="1"/>
          </p:cNvSpPr>
          <p:nvPr>
            <p:ph idx="4294967295"/>
          </p:nvPr>
        </p:nvSpPr>
        <p:spPr>
          <a:xfrm>
            <a:off x="609603" y="1137925"/>
            <a:ext cx="7295842" cy="873764"/>
          </a:xfrm>
        </p:spPr>
        <p:txBody>
          <a:bodyPr/>
          <a:lstStyle>
            <a:lvl1pPr marL="0" indent="0">
              <a:spcBef>
                <a:spcPts val="400"/>
              </a:spcBef>
              <a:buNone/>
              <a:defRPr sz="1799"/>
            </a:lvl1pPr>
          </a:lstStyle>
          <a:p>
            <a:pPr lvl="0"/>
            <a:r>
              <a:rPr lang="en-US"/>
              <a:t>Text</a:t>
            </a:r>
          </a:p>
        </p:txBody>
      </p:sp>
      <p:sp>
        <p:nvSpPr>
          <p:cNvPr id="4" name="Content Placeholder 2">
            <a:extLst>
              <a:ext uri="{FF2B5EF4-FFF2-40B4-BE49-F238E27FC236}">
                <a16:creationId xmlns:a16="http://schemas.microsoft.com/office/drawing/2014/main" id="{AC707AEC-5399-FAEA-B4C3-435DAE16D740}"/>
              </a:ext>
            </a:extLst>
          </p:cNvPr>
          <p:cNvSpPr txBox="1">
            <a:spLocks noGrp="1"/>
          </p:cNvSpPr>
          <p:nvPr>
            <p:ph idx="4294967295"/>
          </p:nvPr>
        </p:nvSpPr>
        <p:spPr>
          <a:xfrm>
            <a:off x="609603" y="2311402"/>
            <a:ext cx="3578257" cy="3844704"/>
          </a:xfrm>
        </p:spPr>
        <p:txBody>
          <a:bodyPr/>
          <a:lstStyle>
            <a:lvl1pPr marL="0" indent="0">
              <a:spcBef>
                <a:spcPts val="300"/>
              </a:spcBef>
              <a:buNone/>
              <a:defRPr sz="1399"/>
            </a:lvl1pPr>
          </a:lstStyle>
          <a:p>
            <a:pPr lvl="0"/>
            <a:r>
              <a:rPr lang="en-US"/>
              <a:t>Text</a:t>
            </a:r>
          </a:p>
        </p:txBody>
      </p:sp>
      <p:sp>
        <p:nvSpPr>
          <p:cNvPr id="5" name="Content Placeholder 2">
            <a:extLst>
              <a:ext uri="{FF2B5EF4-FFF2-40B4-BE49-F238E27FC236}">
                <a16:creationId xmlns:a16="http://schemas.microsoft.com/office/drawing/2014/main" id="{5BB93094-4553-BD42-5251-EA2E67631511}"/>
              </a:ext>
            </a:extLst>
          </p:cNvPr>
          <p:cNvSpPr txBox="1">
            <a:spLocks noGrp="1"/>
          </p:cNvSpPr>
          <p:nvPr>
            <p:ph idx="4294967295"/>
          </p:nvPr>
        </p:nvSpPr>
        <p:spPr>
          <a:xfrm>
            <a:off x="4327187" y="2311402"/>
            <a:ext cx="3578257" cy="1254757"/>
          </a:xfrm>
        </p:spPr>
        <p:txBody>
          <a:bodyPr/>
          <a:lstStyle>
            <a:lvl1pPr marL="0" indent="0">
              <a:spcBef>
                <a:spcPts val="300"/>
              </a:spcBef>
              <a:buNone/>
              <a:defRPr sz="1399"/>
            </a:lvl1pPr>
          </a:lstStyle>
          <a:p>
            <a:pPr lvl="0"/>
            <a:r>
              <a:rPr lang="en-US"/>
              <a:t>Text</a:t>
            </a:r>
          </a:p>
        </p:txBody>
      </p:sp>
      <p:sp>
        <p:nvSpPr>
          <p:cNvPr id="6" name="Content Placeholder 2">
            <a:extLst>
              <a:ext uri="{FF2B5EF4-FFF2-40B4-BE49-F238E27FC236}">
                <a16:creationId xmlns:a16="http://schemas.microsoft.com/office/drawing/2014/main" id="{90CA0F98-5FAC-1C7E-A1A7-8E8076F7CB6D}"/>
              </a:ext>
            </a:extLst>
          </p:cNvPr>
          <p:cNvSpPr txBox="1">
            <a:spLocks noGrp="1"/>
          </p:cNvSpPr>
          <p:nvPr>
            <p:ph idx="4294967295"/>
          </p:nvPr>
        </p:nvSpPr>
        <p:spPr>
          <a:xfrm>
            <a:off x="4327187" y="4236716"/>
            <a:ext cx="3578257" cy="1944160"/>
          </a:xfrm>
        </p:spPr>
        <p:txBody>
          <a:bodyPr/>
          <a:lstStyle>
            <a:lvl1pPr marL="0" indent="0">
              <a:spcBef>
                <a:spcPts val="400"/>
              </a:spcBef>
              <a:buNone/>
              <a:defRPr sz="1799">
                <a:latin typeface="Georgia" pitchFamily="18"/>
              </a:defRPr>
            </a:lvl1pPr>
          </a:lstStyle>
          <a:p>
            <a:pPr lvl="0"/>
            <a:r>
              <a:rPr lang="en-US"/>
              <a:t>Quote</a:t>
            </a:r>
          </a:p>
        </p:txBody>
      </p:sp>
      <p:sp>
        <p:nvSpPr>
          <p:cNvPr id="7" name="Line 10">
            <a:extLst>
              <a:ext uri="{FF2B5EF4-FFF2-40B4-BE49-F238E27FC236}">
                <a16:creationId xmlns:a16="http://schemas.microsoft.com/office/drawing/2014/main" id="{B40ADF71-48AB-0E96-1F99-24984BEFC578}"/>
              </a:ext>
            </a:extLst>
          </p:cNvPr>
          <p:cNvSpPr/>
          <p:nvPr/>
        </p:nvSpPr>
        <p:spPr>
          <a:xfrm>
            <a:off x="609603" y="907752"/>
            <a:ext cx="771983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8" name="Date Placeholder 3">
            <a:extLst>
              <a:ext uri="{FF2B5EF4-FFF2-40B4-BE49-F238E27FC236}">
                <a16:creationId xmlns:a16="http://schemas.microsoft.com/office/drawing/2014/main" id="{0ECF7EB6-31E9-FBDF-C228-A879E8ABBD88}"/>
              </a:ext>
            </a:extLst>
          </p:cNvPr>
          <p:cNvSpPr txBox="1">
            <a:spLocks noGrp="1"/>
          </p:cNvSpPr>
          <p:nvPr>
            <p:ph type="dt" sz="half" idx="7"/>
          </p:nvPr>
        </p:nvSpPr>
        <p:spPr/>
        <p:txBody>
          <a:bodyPr/>
          <a:lstStyle>
            <a:lvl1pPr>
              <a:defRPr/>
            </a:lvl1pPr>
          </a:lstStyle>
          <a:p>
            <a:pPr lvl="0"/>
            <a:fld id="{260FE84E-8F8C-4ACE-98F5-88AE8C23C44E}" type="datetime3">
              <a:rPr lang="en-US"/>
              <a:pPr lvl="0"/>
              <a:t>27 November 2025</a:t>
            </a:fld>
            <a:endParaRPr lang="en-IN"/>
          </a:p>
        </p:txBody>
      </p:sp>
      <p:sp>
        <p:nvSpPr>
          <p:cNvPr id="9" name="Footer Placeholder 5">
            <a:extLst>
              <a:ext uri="{FF2B5EF4-FFF2-40B4-BE49-F238E27FC236}">
                <a16:creationId xmlns:a16="http://schemas.microsoft.com/office/drawing/2014/main" id="{8301DADA-C015-A1F6-AD98-47FB33741895}"/>
              </a:ext>
            </a:extLst>
          </p:cNvPr>
          <p:cNvSpPr txBox="1">
            <a:spLocks noGrp="1"/>
          </p:cNvSpPr>
          <p:nvPr>
            <p:ph type="ftr" sz="quarter" idx="9"/>
          </p:nvPr>
        </p:nvSpPr>
        <p:spPr/>
        <p:txBody>
          <a:bodyPr/>
          <a:lstStyle>
            <a:lvl1pPr>
              <a:defRPr lang="en-IN"/>
            </a:lvl1pPr>
          </a:lstStyle>
          <a:p>
            <a:pPr lvl="0"/>
            <a:r>
              <a:rPr lang="en-IN"/>
              <a:t>Presentation title</a:t>
            </a:r>
          </a:p>
        </p:txBody>
      </p:sp>
      <p:sp>
        <p:nvSpPr>
          <p:cNvPr id="10" name="Slide Number Placeholder 6">
            <a:extLst>
              <a:ext uri="{FF2B5EF4-FFF2-40B4-BE49-F238E27FC236}">
                <a16:creationId xmlns:a16="http://schemas.microsoft.com/office/drawing/2014/main" id="{154BEF98-2FC3-3D23-89DA-77453DC6DC90}"/>
              </a:ext>
            </a:extLst>
          </p:cNvPr>
          <p:cNvSpPr txBox="1">
            <a:spLocks noGrp="1"/>
          </p:cNvSpPr>
          <p:nvPr>
            <p:ph type="sldNum" sz="quarter" idx="8"/>
          </p:nvPr>
        </p:nvSpPr>
        <p:spPr/>
        <p:txBody>
          <a:bodyPr/>
          <a:lstStyle>
            <a:lvl1pPr>
              <a:defRPr lang="en-IN"/>
            </a:lvl1pPr>
          </a:lstStyle>
          <a:p>
            <a:pPr lvl="0"/>
            <a:r>
              <a:rPr lang="en-IN"/>
              <a:t>Page </a:t>
            </a:r>
            <a:fld id="{4A5A79E9-367B-493B-8551-18EBB2CB721F}" type="slidenum">
              <a:t>‹#›</a:t>
            </a:fld>
            <a:endParaRPr lang="en-IN"/>
          </a:p>
        </p:txBody>
      </p:sp>
    </p:spTree>
    <p:extLst>
      <p:ext uri="{BB962C8B-B14F-4D97-AF65-F5344CB8AC3E}">
        <p14:creationId xmlns:p14="http://schemas.microsoft.com/office/powerpoint/2010/main" val="120874253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6_Standard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18A304-59FF-42C3-D326-FDE5AFD296D0}"/>
              </a:ext>
            </a:extLst>
          </p:cNvPr>
          <p:cNvSpPr txBox="1">
            <a:spLocks noGrp="1"/>
          </p:cNvSpPr>
          <p:nvPr>
            <p:ph type="title"/>
          </p:nvPr>
        </p:nvSpPr>
        <p:spPr>
          <a:xfrm>
            <a:off x="2693895" y="294199"/>
            <a:ext cx="8887373" cy="590400"/>
          </a:xfrm>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31F658FF-9AC3-ADDA-69B7-66BA25771999}"/>
              </a:ext>
            </a:extLst>
          </p:cNvPr>
          <p:cNvSpPr txBox="1">
            <a:spLocks noGrp="1"/>
          </p:cNvSpPr>
          <p:nvPr>
            <p:ph idx="4294967295"/>
          </p:nvPr>
        </p:nvSpPr>
        <p:spPr>
          <a:xfrm>
            <a:off x="2693886" y="1137925"/>
            <a:ext cx="2741453" cy="5018181"/>
          </a:xfrm>
        </p:spPr>
        <p:txBody>
          <a:bodyPr/>
          <a:lstStyle>
            <a:lvl1pPr marL="0" indent="0">
              <a:spcBef>
                <a:spcPts val="400"/>
              </a:spcBef>
              <a:buNone/>
              <a:defRPr sz="1799"/>
            </a:lvl1pPr>
          </a:lstStyle>
          <a:p>
            <a:pPr lvl="0"/>
            <a:r>
              <a:rPr lang="en-US"/>
              <a:t>Text</a:t>
            </a:r>
          </a:p>
        </p:txBody>
      </p:sp>
      <p:sp>
        <p:nvSpPr>
          <p:cNvPr id="4" name="Content Placeholder 2">
            <a:extLst>
              <a:ext uri="{FF2B5EF4-FFF2-40B4-BE49-F238E27FC236}">
                <a16:creationId xmlns:a16="http://schemas.microsoft.com/office/drawing/2014/main" id="{52BA0B52-3D9A-93A4-A671-575C8B5EC280}"/>
              </a:ext>
            </a:extLst>
          </p:cNvPr>
          <p:cNvSpPr txBox="1">
            <a:spLocks noGrp="1"/>
          </p:cNvSpPr>
          <p:nvPr>
            <p:ph idx="4294967295"/>
          </p:nvPr>
        </p:nvSpPr>
        <p:spPr>
          <a:xfrm>
            <a:off x="5724098" y="1137925"/>
            <a:ext cx="2802379" cy="5018181"/>
          </a:xfrm>
        </p:spPr>
        <p:txBody>
          <a:bodyPr/>
          <a:lstStyle>
            <a:lvl1pPr marL="0" indent="0">
              <a:spcBef>
                <a:spcPts val="300"/>
              </a:spcBef>
              <a:buNone/>
              <a:defRPr sz="1399"/>
            </a:lvl1pPr>
          </a:lstStyle>
          <a:p>
            <a:pPr lvl="0"/>
            <a:r>
              <a:rPr lang="en-US"/>
              <a:t>Text</a:t>
            </a:r>
          </a:p>
        </p:txBody>
      </p:sp>
      <p:sp>
        <p:nvSpPr>
          <p:cNvPr id="5" name="Content Placeholder 2">
            <a:extLst>
              <a:ext uri="{FF2B5EF4-FFF2-40B4-BE49-F238E27FC236}">
                <a16:creationId xmlns:a16="http://schemas.microsoft.com/office/drawing/2014/main" id="{5B8A7174-8C23-F55F-7112-4A592C1961B2}"/>
              </a:ext>
            </a:extLst>
          </p:cNvPr>
          <p:cNvSpPr txBox="1">
            <a:spLocks noGrp="1"/>
          </p:cNvSpPr>
          <p:nvPr>
            <p:ph idx="4294967295"/>
          </p:nvPr>
        </p:nvSpPr>
        <p:spPr>
          <a:xfrm>
            <a:off x="8815236" y="1137925"/>
            <a:ext cx="2767157" cy="2796152"/>
          </a:xfrm>
        </p:spPr>
        <p:txBody>
          <a:bodyPr/>
          <a:lstStyle>
            <a:lvl1pPr marL="0" indent="0">
              <a:spcBef>
                <a:spcPts val="300"/>
              </a:spcBef>
              <a:buNone/>
              <a:defRPr sz="1399"/>
            </a:lvl1pPr>
          </a:lstStyle>
          <a:p>
            <a:pPr lvl="0"/>
            <a:r>
              <a:rPr lang="en-US"/>
              <a:t>Text</a:t>
            </a:r>
          </a:p>
        </p:txBody>
      </p:sp>
      <p:sp>
        <p:nvSpPr>
          <p:cNvPr id="6" name="Line 10">
            <a:extLst>
              <a:ext uri="{FF2B5EF4-FFF2-40B4-BE49-F238E27FC236}">
                <a16:creationId xmlns:a16="http://schemas.microsoft.com/office/drawing/2014/main" id="{EB92F29E-3307-75D9-176E-69AC5A2CBE96}"/>
              </a:ext>
            </a:extLst>
          </p:cNvPr>
          <p:cNvSpPr/>
          <p:nvPr/>
        </p:nvSpPr>
        <p:spPr>
          <a:xfrm>
            <a:off x="2693895" y="907752"/>
            <a:ext cx="8887373"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7" name="Date Placeholder 3">
            <a:extLst>
              <a:ext uri="{FF2B5EF4-FFF2-40B4-BE49-F238E27FC236}">
                <a16:creationId xmlns:a16="http://schemas.microsoft.com/office/drawing/2014/main" id="{AF1B2451-8BED-7F89-1141-B67CA4C9E7FD}"/>
              </a:ext>
            </a:extLst>
          </p:cNvPr>
          <p:cNvSpPr txBox="1">
            <a:spLocks noGrp="1"/>
          </p:cNvSpPr>
          <p:nvPr>
            <p:ph type="dt" sz="half" idx="7"/>
          </p:nvPr>
        </p:nvSpPr>
        <p:spPr/>
        <p:txBody>
          <a:bodyPr/>
          <a:lstStyle>
            <a:lvl1pPr>
              <a:defRPr/>
            </a:lvl1pPr>
          </a:lstStyle>
          <a:p>
            <a:pPr lvl="0"/>
            <a:fld id="{F610EF1C-F52F-410E-BB0E-62C61769A6A5}" type="datetime3">
              <a:rPr lang="en-US"/>
              <a:pPr lvl="0"/>
              <a:t>27 November 2025</a:t>
            </a:fld>
            <a:endParaRPr lang="en-IN"/>
          </a:p>
        </p:txBody>
      </p:sp>
      <p:sp>
        <p:nvSpPr>
          <p:cNvPr id="8" name="Footer Placeholder 5">
            <a:extLst>
              <a:ext uri="{FF2B5EF4-FFF2-40B4-BE49-F238E27FC236}">
                <a16:creationId xmlns:a16="http://schemas.microsoft.com/office/drawing/2014/main" id="{E74EB471-79C1-9F38-2D2C-ABDD8F2C0687}"/>
              </a:ext>
            </a:extLst>
          </p:cNvPr>
          <p:cNvSpPr txBox="1">
            <a:spLocks noGrp="1"/>
          </p:cNvSpPr>
          <p:nvPr>
            <p:ph type="ftr" sz="quarter" idx="9"/>
          </p:nvPr>
        </p:nvSpPr>
        <p:spPr/>
        <p:txBody>
          <a:bodyPr/>
          <a:lstStyle>
            <a:lvl1pPr>
              <a:defRPr lang="en-IN"/>
            </a:lvl1pPr>
          </a:lstStyle>
          <a:p>
            <a:pPr lvl="0"/>
            <a:r>
              <a:rPr lang="en-IN"/>
              <a:t>Presentation title</a:t>
            </a:r>
          </a:p>
        </p:txBody>
      </p:sp>
      <p:sp>
        <p:nvSpPr>
          <p:cNvPr id="9" name="Slide Number Placeholder 6">
            <a:extLst>
              <a:ext uri="{FF2B5EF4-FFF2-40B4-BE49-F238E27FC236}">
                <a16:creationId xmlns:a16="http://schemas.microsoft.com/office/drawing/2014/main" id="{C928986C-5E24-B352-36B1-C2B5D4A21714}"/>
              </a:ext>
            </a:extLst>
          </p:cNvPr>
          <p:cNvSpPr txBox="1">
            <a:spLocks noGrp="1"/>
          </p:cNvSpPr>
          <p:nvPr>
            <p:ph type="sldNum" sz="quarter" idx="8"/>
          </p:nvPr>
        </p:nvSpPr>
        <p:spPr/>
        <p:txBody>
          <a:bodyPr/>
          <a:lstStyle>
            <a:lvl1pPr>
              <a:defRPr lang="en-IN"/>
            </a:lvl1pPr>
          </a:lstStyle>
          <a:p>
            <a:pPr lvl="0"/>
            <a:r>
              <a:rPr lang="en-IN"/>
              <a:t>Page </a:t>
            </a:r>
            <a:fld id="{E703552B-C80A-4181-A8B8-154DBB8F7581}" type="slidenum">
              <a:t>‹#›</a:t>
            </a:fld>
            <a:endParaRPr lang="en-IN"/>
          </a:p>
        </p:txBody>
      </p:sp>
    </p:spTree>
    <p:extLst>
      <p:ext uri="{BB962C8B-B14F-4D97-AF65-F5344CB8AC3E}">
        <p14:creationId xmlns:p14="http://schemas.microsoft.com/office/powerpoint/2010/main" val="1451150464"/>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3_Standard slide_Quotes">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B6D7EBA7-39F6-8D4A-03C1-B9BB24B3002C}"/>
              </a:ext>
            </a:extLst>
          </p:cNvPr>
          <p:cNvSpPr txBox="1">
            <a:spLocks noGrp="1"/>
          </p:cNvSpPr>
          <p:nvPr>
            <p:ph type="body" idx="4294967295"/>
          </p:nvPr>
        </p:nvSpPr>
        <p:spPr>
          <a:xfrm>
            <a:off x="513078" y="2526761"/>
            <a:ext cx="5289246" cy="1799996"/>
          </a:xfrm>
        </p:spPr>
        <p:txBody>
          <a:bodyPr lIns="90004" tIns="46798" rIns="90004" bIns="46798"/>
          <a:lstStyle>
            <a:lvl1pPr>
              <a:spcBef>
                <a:spcPts val="0"/>
              </a:spcBef>
              <a:buNone/>
              <a:defRPr sz="2799">
                <a:latin typeface="Georgia" pitchFamily="18"/>
              </a:defRPr>
            </a:lvl1pPr>
          </a:lstStyle>
          <a:p>
            <a:pPr lvl="0"/>
            <a:r>
              <a:rPr lang="en-US"/>
              <a:t>Edit Master text styles</a:t>
            </a:r>
          </a:p>
        </p:txBody>
      </p:sp>
      <p:sp>
        <p:nvSpPr>
          <p:cNvPr id="3" name="Text Placeholder 6">
            <a:extLst>
              <a:ext uri="{FF2B5EF4-FFF2-40B4-BE49-F238E27FC236}">
                <a16:creationId xmlns:a16="http://schemas.microsoft.com/office/drawing/2014/main" id="{C7A9735D-4FFF-7B8A-286A-E0A2CF5F052B}"/>
              </a:ext>
            </a:extLst>
          </p:cNvPr>
          <p:cNvSpPr txBox="1">
            <a:spLocks noGrp="1"/>
          </p:cNvSpPr>
          <p:nvPr>
            <p:ph type="body" idx="4294967295"/>
          </p:nvPr>
        </p:nvSpPr>
        <p:spPr>
          <a:xfrm>
            <a:off x="513078" y="4632761"/>
            <a:ext cx="5289246" cy="316839"/>
          </a:xfrm>
        </p:spPr>
        <p:txBody>
          <a:bodyPr lIns="90004" tIns="46798" rIns="90004" bIns="46798"/>
          <a:lstStyle>
            <a:lvl1pPr marL="0" indent="0">
              <a:spcBef>
                <a:spcPts val="0"/>
              </a:spcBef>
              <a:spcAft>
                <a:spcPts val="600"/>
              </a:spcAft>
              <a:buNone/>
              <a:defRPr sz="1599">
                <a:solidFill>
                  <a:srgbClr val="2E2E38"/>
                </a:solidFill>
                <a:latin typeface="EYInterstate Light"/>
              </a:defRPr>
            </a:lvl1pPr>
          </a:lstStyle>
          <a:p>
            <a:pPr lvl="0"/>
            <a:r>
              <a:rPr lang="en-US"/>
              <a:t>Name Surname</a:t>
            </a:r>
          </a:p>
        </p:txBody>
      </p:sp>
      <p:sp>
        <p:nvSpPr>
          <p:cNvPr id="4" name="Text Placeholder 6">
            <a:extLst>
              <a:ext uri="{FF2B5EF4-FFF2-40B4-BE49-F238E27FC236}">
                <a16:creationId xmlns:a16="http://schemas.microsoft.com/office/drawing/2014/main" id="{1E33C425-3B02-11F4-D096-7F986D529734}"/>
              </a:ext>
            </a:extLst>
          </p:cNvPr>
          <p:cNvSpPr txBox="1">
            <a:spLocks noGrp="1"/>
          </p:cNvSpPr>
          <p:nvPr>
            <p:ph type="body" idx="4294967295"/>
          </p:nvPr>
        </p:nvSpPr>
        <p:spPr>
          <a:xfrm>
            <a:off x="513078" y="4971446"/>
            <a:ext cx="5289246" cy="316839"/>
          </a:xfrm>
        </p:spPr>
        <p:txBody>
          <a:bodyPr lIns="90004" tIns="46798" rIns="90004" bIns="46798"/>
          <a:lstStyle>
            <a:lvl1pPr marL="0" indent="0">
              <a:spcBef>
                <a:spcPts val="0"/>
              </a:spcBef>
              <a:spcAft>
                <a:spcPts val="600"/>
              </a:spcAft>
              <a:buNone/>
              <a:defRPr sz="1599">
                <a:solidFill>
                  <a:srgbClr val="2E2E38"/>
                </a:solidFill>
                <a:latin typeface="EYInterstate Light"/>
              </a:defRPr>
            </a:lvl1pPr>
          </a:lstStyle>
          <a:p>
            <a:pPr lvl="0"/>
            <a:r>
              <a:rPr lang="en-US"/>
              <a:t>Job Title</a:t>
            </a:r>
          </a:p>
        </p:txBody>
      </p:sp>
    </p:spTree>
    <p:extLst>
      <p:ext uri="{BB962C8B-B14F-4D97-AF65-F5344CB8AC3E}">
        <p14:creationId xmlns:p14="http://schemas.microsoft.com/office/powerpoint/2010/main" val="94967209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p:cSld name="4_Standard slide_Quotes">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848286D8-B90A-AEF0-360E-913F62B53F1B}"/>
              </a:ext>
            </a:extLst>
          </p:cNvPr>
          <p:cNvSpPr txBox="1">
            <a:spLocks noGrp="1"/>
          </p:cNvSpPr>
          <p:nvPr>
            <p:ph type="body" idx="4294967295"/>
          </p:nvPr>
        </p:nvSpPr>
        <p:spPr>
          <a:xfrm>
            <a:off x="3451375" y="5506681"/>
            <a:ext cx="5289246" cy="316839"/>
          </a:xfrm>
        </p:spPr>
        <p:txBody>
          <a:bodyPr anchorCtr="1"/>
          <a:lstStyle>
            <a:lvl1pPr algn="ctr">
              <a:spcBef>
                <a:spcPts val="0"/>
              </a:spcBef>
              <a:spcAft>
                <a:spcPts val="600"/>
              </a:spcAft>
              <a:buNone/>
              <a:defRPr sz="1599">
                <a:solidFill>
                  <a:srgbClr val="2E2E38"/>
                </a:solidFill>
                <a:latin typeface="EYInterstate Light"/>
              </a:defRPr>
            </a:lvl1pPr>
          </a:lstStyle>
          <a:p>
            <a:pPr lvl="0"/>
            <a:r>
              <a:rPr lang="en-US"/>
              <a:t>Name Surname</a:t>
            </a:r>
          </a:p>
        </p:txBody>
      </p:sp>
      <p:sp>
        <p:nvSpPr>
          <p:cNvPr id="3" name="Text Placeholder 6">
            <a:extLst>
              <a:ext uri="{FF2B5EF4-FFF2-40B4-BE49-F238E27FC236}">
                <a16:creationId xmlns:a16="http://schemas.microsoft.com/office/drawing/2014/main" id="{8B163830-C410-E349-5BFF-7A66B53F7B36}"/>
              </a:ext>
            </a:extLst>
          </p:cNvPr>
          <p:cNvSpPr txBox="1">
            <a:spLocks noGrp="1"/>
          </p:cNvSpPr>
          <p:nvPr>
            <p:ph type="body" idx="4294967295"/>
          </p:nvPr>
        </p:nvSpPr>
        <p:spPr>
          <a:xfrm>
            <a:off x="3451375" y="5818720"/>
            <a:ext cx="5289246" cy="316839"/>
          </a:xfrm>
        </p:spPr>
        <p:txBody>
          <a:bodyPr anchorCtr="1"/>
          <a:lstStyle>
            <a:lvl1pPr algn="ctr">
              <a:spcBef>
                <a:spcPts val="0"/>
              </a:spcBef>
              <a:spcAft>
                <a:spcPts val="600"/>
              </a:spcAft>
              <a:buNone/>
              <a:defRPr sz="1599">
                <a:solidFill>
                  <a:srgbClr val="2E2E38"/>
                </a:solidFill>
                <a:latin typeface="EYInterstate Light"/>
              </a:defRPr>
            </a:lvl1pPr>
          </a:lstStyle>
          <a:p>
            <a:pPr lvl="0"/>
            <a:r>
              <a:rPr lang="en-US"/>
              <a:t>Job Title</a:t>
            </a:r>
          </a:p>
        </p:txBody>
      </p:sp>
      <p:sp>
        <p:nvSpPr>
          <p:cNvPr id="4" name="Text Placeholder 11">
            <a:extLst>
              <a:ext uri="{FF2B5EF4-FFF2-40B4-BE49-F238E27FC236}">
                <a16:creationId xmlns:a16="http://schemas.microsoft.com/office/drawing/2014/main" id="{EBDE9EB8-C45D-CF9B-98F3-1A9108E2E226}"/>
              </a:ext>
            </a:extLst>
          </p:cNvPr>
          <p:cNvSpPr txBox="1"/>
          <p:nvPr/>
        </p:nvSpPr>
        <p:spPr>
          <a:xfrm>
            <a:off x="4927418" y="979788"/>
            <a:ext cx="2337169" cy="882688"/>
          </a:xfrm>
          <a:prstGeom prst="rect">
            <a:avLst/>
          </a:prstGeom>
          <a:noFill/>
          <a:ln cap="flat">
            <a:noFill/>
          </a:ln>
        </p:spPr>
        <p:txBody>
          <a:bodyPr vert="horz" wrap="square" lIns="0" tIns="0" rIns="0" bIns="0" anchor="t" anchorCtr="1" compatLnSpc="1">
            <a:noAutofit/>
          </a:bodyPr>
          <a:lstStyle/>
          <a:p>
            <a:pPr marL="0" marR="0" lvl="0" indent="0" algn="ctr" defTabSz="914400" rtl="0" fontAlgn="auto" hangingPunct="1">
              <a:lnSpc>
                <a:spcPct val="100000"/>
              </a:lnSpc>
              <a:spcBef>
                <a:spcPts val="2700"/>
              </a:spcBef>
              <a:spcAft>
                <a:spcPts val="0"/>
              </a:spcAft>
              <a:buNone/>
              <a:tabLst/>
              <a:defRPr sz="1800" b="0" i="0" u="none" strike="noStrike" kern="0" cap="none" spc="0" baseline="0">
                <a:solidFill>
                  <a:srgbClr val="000000"/>
                </a:solidFill>
                <a:uFillTx/>
              </a:defRPr>
            </a:pPr>
            <a:r>
              <a:rPr lang="en-GB" sz="11194" b="0" i="0" u="none" strike="noStrike" kern="1200" cap="none" spc="0" baseline="0">
                <a:solidFill>
                  <a:srgbClr val="FFE600"/>
                </a:solidFill>
                <a:uFillTx/>
                <a:latin typeface="Georgia" pitchFamily="18"/>
              </a:rPr>
              <a:t>“ </a:t>
            </a:r>
          </a:p>
        </p:txBody>
      </p:sp>
    </p:spTree>
    <p:extLst>
      <p:ext uri="{BB962C8B-B14F-4D97-AF65-F5344CB8AC3E}">
        <p14:creationId xmlns:p14="http://schemas.microsoft.com/office/powerpoint/2010/main" val="145518392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5_Standard slide_Quotes">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61303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1_Divider 3">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81DE0330-0986-2D07-CB2E-3CB3EE82D192}"/>
              </a:ext>
            </a:extLst>
          </p:cNvPr>
          <p:cNvSpPr txBox="1">
            <a:spLocks noGrp="1"/>
          </p:cNvSpPr>
          <p:nvPr>
            <p:ph type="ftr" sz="quarter" idx="9"/>
          </p:nvPr>
        </p:nvSpPr>
        <p:spPr/>
        <p:txBody>
          <a:bodyPr/>
          <a:lstStyle>
            <a:lvl1pPr>
              <a:defRPr lang="en-IN"/>
            </a:lvl1pPr>
          </a:lstStyle>
          <a:p>
            <a:pPr lvl="0"/>
            <a:r>
              <a:rPr lang="en-IN"/>
              <a:t>Presentation title</a:t>
            </a:r>
          </a:p>
        </p:txBody>
      </p:sp>
      <p:sp>
        <p:nvSpPr>
          <p:cNvPr id="3" name="Slide Number Placeholder 3">
            <a:extLst>
              <a:ext uri="{FF2B5EF4-FFF2-40B4-BE49-F238E27FC236}">
                <a16:creationId xmlns:a16="http://schemas.microsoft.com/office/drawing/2014/main" id="{C77D04F6-DE3C-E234-2267-4E90F7DCF6E6}"/>
              </a:ext>
            </a:extLst>
          </p:cNvPr>
          <p:cNvSpPr txBox="1">
            <a:spLocks noGrp="1"/>
          </p:cNvSpPr>
          <p:nvPr>
            <p:ph type="sldNum" sz="quarter" idx="8"/>
          </p:nvPr>
        </p:nvSpPr>
        <p:spPr/>
        <p:txBody>
          <a:bodyPr/>
          <a:lstStyle>
            <a:lvl1pPr>
              <a:defRPr lang="en-IN"/>
            </a:lvl1pPr>
          </a:lstStyle>
          <a:p>
            <a:pPr lvl="0"/>
            <a:r>
              <a:rPr lang="en-IN"/>
              <a:t>Page </a:t>
            </a:r>
            <a:fld id="{684E749C-2A8D-47C8-BAB8-3E591C0D65CB}" type="slidenum">
              <a:t>‹#›</a:t>
            </a:fld>
            <a:endParaRPr lang="en-IN"/>
          </a:p>
        </p:txBody>
      </p:sp>
    </p:spTree>
    <p:extLst>
      <p:ext uri="{BB962C8B-B14F-4D97-AF65-F5344CB8AC3E}">
        <p14:creationId xmlns:p14="http://schemas.microsoft.com/office/powerpoint/2010/main" val="65984684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2_Empty">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A4EC5CE-C6EF-CF9D-F913-6EF6A4DA916E}"/>
              </a:ext>
            </a:extLst>
          </p:cNvPr>
          <p:cNvSpPr txBox="1">
            <a:spLocks noGrp="1"/>
          </p:cNvSpPr>
          <p:nvPr>
            <p:ph type="dt" sz="half" idx="7"/>
          </p:nvPr>
        </p:nvSpPr>
        <p:spPr/>
        <p:txBody>
          <a:bodyPr/>
          <a:lstStyle>
            <a:lvl1pPr>
              <a:defRPr/>
            </a:lvl1pPr>
          </a:lstStyle>
          <a:p>
            <a:pPr lvl="0"/>
            <a:fld id="{66B38B50-6393-4843-AAA5-490C4BA6876F}" type="datetime3">
              <a:rPr lang="en-US"/>
              <a:pPr lvl="0"/>
              <a:t>27 November 2025</a:t>
            </a:fld>
            <a:endParaRPr lang="en-IN"/>
          </a:p>
        </p:txBody>
      </p:sp>
      <p:sp>
        <p:nvSpPr>
          <p:cNvPr id="3" name="Footer Placeholder 3">
            <a:extLst>
              <a:ext uri="{FF2B5EF4-FFF2-40B4-BE49-F238E27FC236}">
                <a16:creationId xmlns:a16="http://schemas.microsoft.com/office/drawing/2014/main" id="{336E819D-3362-E561-71BA-FABF56CEDB11}"/>
              </a:ext>
            </a:extLst>
          </p:cNvPr>
          <p:cNvSpPr txBox="1">
            <a:spLocks noGrp="1"/>
          </p:cNvSpPr>
          <p:nvPr>
            <p:ph type="ftr" sz="quarter" idx="9"/>
          </p:nvPr>
        </p:nvSpPr>
        <p:spPr/>
        <p:txBody>
          <a:bodyPr/>
          <a:lstStyle>
            <a:lvl1pPr>
              <a:defRPr lang="en-IN"/>
            </a:lvl1pPr>
          </a:lstStyle>
          <a:p>
            <a:pPr lvl="0"/>
            <a:r>
              <a:rPr lang="en-IN"/>
              <a:t>Presentation title</a:t>
            </a:r>
          </a:p>
        </p:txBody>
      </p:sp>
      <p:sp>
        <p:nvSpPr>
          <p:cNvPr id="4" name="Slide Number Placeholder 4">
            <a:extLst>
              <a:ext uri="{FF2B5EF4-FFF2-40B4-BE49-F238E27FC236}">
                <a16:creationId xmlns:a16="http://schemas.microsoft.com/office/drawing/2014/main" id="{201FB85D-8A50-0B16-12BE-92B16C612627}"/>
              </a:ext>
            </a:extLst>
          </p:cNvPr>
          <p:cNvSpPr txBox="1">
            <a:spLocks noGrp="1"/>
          </p:cNvSpPr>
          <p:nvPr>
            <p:ph type="sldNum" sz="quarter" idx="8"/>
          </p:nvPr>
        </p:nvSpPr>
        <p:spPr/>
        <p:txBody>
          <a:bodyPr/>
          <a:lstStyle>
            <a:lvl1pPr>
              <a:defRPr lang="en-IN"/>
            </a:lvl1pPr>
          </a:lstStyle>
          <a:p>
            <a:pPr lvl="0"/>
            <a:r>
              <a:rPr lang="en-IN"/>
              <a:t>Page </a:t>
            </a:r>
            <a:fld id="{D9569D3B-437C-483C-87B4-C19A5F63AD66}" type="slidenum">
              <a:t>‹#›</a:t>
            </a:fld>
            <a:endParaRPr lang="en-IN"/>
          </a:p>
        </p:txBody>
      </p:sp>
    </p:spTree>
    <p:extLst>
      <p:ext uri="{BB962C8B-B14F-4D97-AF65-F5344CB8AC3E}">
        <p14:creationId xmlns:p14="http://schemas.microsoft.com/office/powerpoint/2010/main" val="320550205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1_Key statement">
    <p:spTree>
      <p:nvGrpSpPr>
        <p:cNvPr id="1" name=""/>
        <p:cNvGrpSpPr/>
        <p:nvPr/>
      </p:nvGrpSpPr>
      <p:grpSpPr>
        <a:xfrm>
          <a:off x="0" y="0"/>
          <a:ext cx="0" cy="0"/>
          <a:chOff x="0" y="0"/>
          <a:chExt cx="0" cy="0"/>
        </a:xfrm>
      </p:grpSpPr>
      <p:sp>
        <p:nvSpPr>
          <p:cNvPr id="2" name="Footer Placeholder 5">
            <a:extLst>
              <a:ext uri="{FF2B5EF4-FFF2-40B4-BE49-F238E27FC236}">
                <a16:creationId xmlns:a16="http://schemas.microsoft.com/office/drawing/2014/main" id="{9C556F5E-A5D6-1798-FD5F-DF2E187C459E}"/>
              </a:ext>
            </a:extLst>
          </p:cNvPr>
          <p:cNvSpPr txBox="1">
            <a:spLocks noGrp="1"/>
          </p:cNvSpPr>
          <p:nvPr>
            <p:ph type="ftr" sz="quarter" idx="9"/>
          </p:nvPr>
        </p:nvSpPr>
        <p:spPr/>
        <p:txBody>
          <a:bodyPr/>
          <a:lstStyle>
            <a:lvl1pPr>
              <a:defRPr lang="en-IN"/>
            </a:lvl1pPr>
          </a:lstStyle>
          <a:p>
            <a:pPr lvl="0"/>
            <a:r>
              <a:rPr lang="en-IN"/>
              <a:t>Presentation title</a:t>
            </a:r>
          </a:p>
        </p:txBody>
      </p:sp>
      <p:sp>
        <p:nvSpPr>
          <p:cNvPr id="3" name="Slide Number Placeholder 6">
            <a:extLst>
              <a:ext uri="{FF2B5EF4-FFF2-40B4-BE49-F238E27FC236}">
                <a16:creationId xmlns:a16="http://schemas.microsoft.com/office/drawing/2014/main" id="{710C60CF-3C0F-920C-E739-01AE42FDEB4C}"/>
              </a:ext>
            </a:extLst>
          </p:cNvPr>
          <p:cNvSpPr txBox="1">
            <a:spLocks noGrp="1"/>
          </p:cNvSpPr>
          <p:nvPr>
            <p:ph type="sldNum" sz="quarter" idx="8"/>
          </p:nvPr>
        </p:nvSpPr>
        <p:spPr/>
        <p:txBody>
          <a:bodyPr/>
          <a:lstStyle>
            <a:lvl1pPr>
              <a:defRPr lang="en-IN"/>
            </a:lvl1pPr>
          </a:lstStyle>
          <a:p>
            <a:pPr lvl="0"/>
            <a:r>
              <a:rPr lang="en-IN"/>
              <a:t>Page </a:t>
            </a:r>
            <a:fld id="{BD963492-E9B6-4698-A163-50FD0D34D989}" type="slidenum">
              <a:t>‹#›</a:t>
            </a:fld>
            <a:endParaRPr lang="en-IN"/>
          </a:p>
        </p:txBody>
      </p:sp>
    </p:spTree>
    <p:extLst>
      <p:ext uri="{BB962C8B-B14F-4D97-AF65-F5344CB8AC3E}">
        <p14:creationId xmlns:p14="http://schemas.microsoft.com/office/powerpoint/2010/main" val="410969451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1_Focused data">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667A0B3F-45BB-A46D-9911-914472AD2628}"/>
              </a:ext>
            </a:extLst>
          </p:cNvPr>
          <p:cNvSpPr txBox="1">
            <a:spLocks noGrp="1"/>
          </p:cNvSpPr>
          <p:nvPr>
            <p:ph type="ftr" sz="quarter" idx="9"/>
          </p:nvPr>
        </p:nvSpPr>
        <p:spPr/>
        <p:txBody>
          <a:bodyPr/>
          <a:lstStyle>
            <a:lvl1pPr>
              <a:defRPr lang="en-IN"/>
            </a:lvl1pPr>
          </a:lstStyle>
          <a:p>
            <a:pPr lvl="0"/>
            <a:r>
              <a:rPr lang="en-IN"/>
              <a:t>Presentation title</a:t>
            </a:r>
          </a:p>
        </p:txBody>
      </p:sp>
      <p:sp>
        <p:nvSpPr>
          <p:cNvPr id="3" name="Slide Number Placeholder 3">
            <a:extLst>
              <a:ext uri="{FF2B5EF4-FFF2-40B4-BE49-F238E27FC236}">
                <a16:creationId xmlns:a16="http://schemas.microsoft.com/office/drawing/2014/main" id="{6E72580B-2533-831E-B1F4-6A0C3C15A165}"/>
              </a:ext>
            </a:extLst>
          </p:cNvPr>
          <p:cNvSpPr txBox="1">
            <a:spLocks noGrp="1"/>
          </p:cNvSpPr>
          <p:nvPr>
            <p:ph type="sldNum" sz="quarter" idx="8"/>
          </p:nvPr>
        </p:nvSpPr>
        <p:spPr/>
        <p:txBody>
          <a:bodyPr/>
          <a:lstStyle>
            <a:lvl1pPr>
              <a:defRPr lang="en-IN"/>
            </a:lvl1pPr>
          </a:lstStyle>
          <a:p>
            <a:pPr lvl="0"/>
            <a:r>
              <a:rPr lang="en-IN"/>
              <a:t>Page </a:t>
            </a:r>
            <a:fld id="{7183BF72-2638-425D-9784-51004DABCB97}" type="slidenum">
              <a:t>‹#›</a:t>
            </a:fld>
            <a:endParaRPr lang="en-IN"/>
          </a:p>
        </p:txBody>
      </p:sp>
    </p:spTree>
    <p:extLst>
      <p:ext uri="{BB962C8B-B14F-4D97-AF65-F5344CB8AC3E}">
        <p14:creationId xmlns:p14="http://schemas.microsoft.com/office/powerpoint/2010/main" val="249751381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7_Standard slide">
    <p:spTree>
      <p:nvGrpSpPr>
        <p:cNvPr id="1" name=""/>
        <p:cNvGrpSpPr/>
        <p:nvPr/>
      </p:nvGrpSpPr>
      <p:grpSpPr>
        <a:xfrm>
          <a:off x="0" y="0"/>
          <a:ext cx="0" cy="0"/>
          <a:chOff x="0" y="0"/>
          <a:chExt cx="0" cy="0"/>
        </a:xfrm>
      </p:grpSpPr>
      <p:sp>
        <p:nvSpPr>
          <p:cNvPr id="2" name="Line 10">
            <a:extLst>
              <a:ext uri="{FF2B5EF4-FFF2-40B4-BE49-F238E27FC236}">
                <a16:creationId xmlns:a16="http://schemas.microsoft.com/office/drawing/2014/main" id="{60ED758B-48BF-6A33-3EC9-C987BD751C6D}"/>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3" name="Date Placeholder 2">
            <a:extLst>
              <a:ext uri="{FF2B5EF4-FFF2-40B4-BE49-F238E27FC236}">
                <a16:creationId xmlns:a16="http://schemas.microsoft.com/office/drawing/2014/main" id="{9EE6EBB0-8A11-EF3C-898E-505518C73906}"/>
              </a:ext>
            </a:extLst>
          </p:cNvPr>
          <p:cNvSpPr txBox="1">
            <a:spLocks noGrp="1"/>
          </p:cNvSpPr>
          <p:nvPr>
            <p:ph type="dt" sz="half" idx="7"/>
          </p:nvPr>
        </p:nvSpPr>
        <p:spPr/>
        <p:txBody>
          <a:bodyPr/>
          <a:lstStyle>
            <a:lvl1pPr>
              <a:defRPr/>
            </a:lvl1pPr>
          </a:lstStyle>
          <a:p>
            <a:pPr lvl="0"/>
            <a:fld id="{0BB7C0B5-6BC7-4A73-90C6-2F2CA1F446CD}" type="datetime3">
              <a:rPr lang="en-US"/>
              <a:pPr lvl="0"/>
              <a:t>27 November 2025</a:t>
            </a:fld>
            <a:endParaRPr lang="en-IN"/>
          </a:p>
        </p:txBody>
      </p:sp>
      <p:sp>
        <p:nvSpPr>
          <p:cNvPr id="4" name="Footer Placeholder 3">
            <a:extLst>
              <a:ext uri="{FF2B5EF4-FFF2-40B4-BE49-F238E27FC236}">
                <a16:creationId xmlns:a16="http://schemas.microsoft.com/office/drawing/2014/main" id="{3E9A7B3B-154B-C884-2443-D74D411E332A}"/>
              </a:ext>
            </a:extLst>
          </p:cNvPr>
          <p:cNvSpPr txBox="1">
            <a:spLocks noGrp="1"/>
          </p:cNvSpPr>
          <p:nvPr>
            <p:ph type="ftr" sz="quarter" idx="9"/>
          </p:nvPr>
        </p:nvSpPr>
        <p:spPr/>
        <p:txBody>
          <a:bodyPr/>
          <a:lstStyle>
            <a:lvl1pPr>
              <a:defRPr lang="en-IN"/>
            </a:lvl1pPr>
          </a:lstStyle>
          <a:p>
            <a:pPr lvl="0"/>
            <a:r>
              <a:rPr lang="en-IN"/>
              <a:t>Presentation title</a:t>
            </a:r>
          </a:p>
        </p:txBody>
      </p:sp>
      <p:sp>
        <p:nvSpPr>
          <p:cNvPr id="5" name="Slide Number Placeholder 4">
            <a:extLst>
              <a:ext uri="{FF2B5EF4-FFF2-40B4-BE49-F238E27FC236}">
                <a16:creationId xmlns:a16="http://schemas.microsoft.com/office/drawing/2014/main" id="{77AD97B2-56DE-2637-6B76-6AACB5AC9929}"/>
              </a:ext>
            </a:extLst>
          </p:cNvPr>
          <p:cNvSpPr txBox="1">
            <a:spLocks noGrp="1"/>
          </p:cNvSpPr>
          <p:nvPr>
            <p:ph type="sldNum" sz="quarter" idx="8"/>
          </p:nvPr>
        </p:nvSpPr>
        <p:spPr/>
        <p:txBody>
          <a:bodyPr/>
          <a:lstStyle>
            <a:lvl1pPr>
              <a:defRPr lang="en-IN"/>
            </a:lvl1pPr>
          </a:lstStyle>
          <a:p>
            <a:pPr lvl="0"/>
            <a:r>
              <a:rPr lang="en-IN"/>
              <a:t>Page </a:t>
            </a:r>
            <a:fld id="{09FEB36D-8395-4ED6-B1A6-CB0C3D8DD032}" type="slidenum">
              <a:t>‹#›</a:t>
            </a:fld>
            <a:endParaRPr lang="en-IN"/>
          </a:p>
        </p:txBody>
      </p:sp>
    </p:spTree>
    <p:extLst>
      <p:ext uri="{BB962C8B-B14F-4D97-AF65-F5344CB8AC3E}">
        <p14:creationId xmlns:p14="http://schemas.microsoft.com/office/powerpoint/2010/main" val="202714808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1_Two columns with headings">
    <p:spTree>
      <p:nvGrpSpPr>
        <p:cNvPr id="1" name=""/>
        <p:cNvGrpSpPr/>
        <p:nvPr/>
      </p:nvGrpSpPr>
      <p:grpSpPr>
        <a:xfrm>
          <a:off x="0" y="0"/>
          <a:ext cx="0" cy="0"/>
          <a:chOff x="0" y="0"/>
          <a:chExt cx="0" cy="0"/>
        </a:xfrm>
      </p:grpSpPr>
      <p:sp>
        <p:nvSpPr>
          <p:cNvPr id="2" name="Content Placeholder 3">
            <a:extLst>
              <a:ext uri="{FF2B5EF4-FFF2-40B4-BE49-F238E27FC236}">
                <a16:creationId xmlns:a16="http://schemas.microsoft.com/office/drawing/2014/main" id="{93674204-E366-9B07-7CDF-1C208B26EDA5}"/>
              </a:ext>
            </a:extLst>
          </p:cNvPr>
          <p:cNvSpPr txBox="1">
            <a:spLocks noGrp="1"/>
          </p:cNvSpPr>
          <p:nvPr>
            <p:ph idx="4294967295"/>
          </p:nvPr>
        </p:nvSpPr>
        <p:spPr>
          <a:xfrm>
            <a:off x="6196404" y="1869445"/>
            <a:ext cx="5390397" cy="4256074"/>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Text Placeholder 9">
            <a:extLst>
              <a:ext uri="{FF2B5EF4-FFF2-40B4-BE49-F238E27FC236}">
                <a16:creationId xmlns:a16="http://schemas.microsoft.com/office/drawing/2014/main" id="{1AB559D0-21B9-B80B-1EAD-56688D34FC0E}"/>
              </a:ext>
            </a:extLst>
          </p:cNvPr>
          <p:cNvSpPr txBox="1">
            <a:spLocks noGrp="1"/>
          </p:cNvSpPr>
          <p:nvPr>
            <p:ph type="body" idx="4294967295"/>
          </p:nvPr>
        </p:nvSpPr>
        <p:spPr>
          <a:xfrm>
            <a:off x="609603" y="1137915"/>
            <a:ext cx="5390397" cy="640802"/>
          </a:xfrm>
        </p:spPr>
        <p:txBody>
          <a:bodyPr/>
          <a:lstStyle>
            <a:lvl1pPr>
              <a:buNone/>
              <a:defRPr lang="en-GB" b="1"/>
            </a:lvl1pPr>
          </a:lstStyle>
          <a:p>
            <a:pPr lvl="0"/>
            <a:endParaRPr lang="en-GB"/>
          </a:p>
        </p:txBody>
      </p:sp>
      <p:sp>
        <p:nvSpPr>
          <p:cNvPr id="4" name="Text Placeholder 9">
            <a:extLst>
              <a:ext uri="{FF2B5EF4-FFF2-40B4-BE49-F238E27FC236}">
                <a16:creationId xmlns:a16="http://schemas.microsoft.com/office/drawing/2014/main" id="{37EE2175-AA7E-1BB0-740D-9056C5C11451}"/>
              </a:ext>
            </a:extLst>
          </p:cNvPr>
          <p:cNvSpPr txBox="1">
            <a:spLocks noGrp="1"/>
          </p:cNvSpPr>
          <p:nvPr>
            <p:ph type="body" idx="4294967295"/>
          </p:nvPr>
        </p:nvSpPr>
        <p:spPr>
          <a:xfrm>
            <a:off x="6196404" y="1137915"/>
            <a:ext cx="5390397" cy="640802"/>
          </a:xfrm>
        </p:spPr>
        <p:txBody>
          <a:bodyPr/>
          <a:lstStyle>
            <a:lvl1pPr>
              <a:buNone/>
              <a:defRPr lang="en-GB" b="1"/>
            </a:lvl1pPr>
          </a:lstStyle>
          <a:p>
            <a:pPr lvl="0"/>
            <a:endParaRPr lang="en-GB"/>
          </a:p>
        </p:txBody>
      </p:sp>
      <p:sp>
        <p:nvSpPr>
          <p:cNvPr id="5" name="Title 1">
            <a:extLst>
              <a:ext uri="{FF2B5EF4-FFF2-40B4-BE49-F238E27FC236}">
                <a16:creationId xmlns:a16="http://schemas.microsoft.com/office/drawing/2014/main" id="{90A88B1C-8C36-6EC9-59E2-F0AF6AD70A75}"/>
              </a:ext>
            </a:extLst>
          </p:cNvPr>
          <p:cNvSpPr txBox="1">
            <a:spLocks noGrp="1"/>
          </p:cNvSpPr>
          <p:nvPr>
            <p:ph type="title"/>
          </p:nvPr>
        </p:nvSpPr>
        <p:spPr/>
        <p:txBody>
          <a:bodyPr/>
          <a:lstStyle>
            <a:lvl1pPr>
              <a:defRPr/>
            </a:lvl1pPr>
          </a:lstStyle>
          <a:p>
            <a:pPr lvl="0"/>
            <a:r>
              <a:rPr lang="en-US"/>
              <a:t>Click to edit Master title style</a:t>
            </a:r>
          </a:p>
        </p:txBody>
      </p:sp>
      <p:sp>
        <p:nvSpPr>
          <p:cNvPr id="6" name="Line 10">
            <a:extLst>
              <a:ext uri="{FF2B5EF4-FFF2-40B4-BE49-F238E27FC236}">
                <a16:creationId xmlns:a16="http://schemas.microsoft.com/office/drawing/2014/main" id="{BC527267-BA67-A9E4-D027-D9AEEF3FE1D9}"/>
              </a:ext>
            </a:extLst>
          </p:cNvPr>
          <p:cNvSpPr/>
          <p:nvPr/>
        </p:nvSpPr>
        <p:spPr>
          <a:xfrm>
            <a:off x="609603" y="907752"/>
            <a:ext cx="10974281"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9" b="0" i="0" u="none" strike="noStrike" kern="1200" cap="none" spc="0" baseline="0">
              <a:solidFill>
                <a:srgbClr val="FFFFFF"/>
              </a:solidFill>
              <a:uFillTx/>
              <a:latin typeface="EYInterstate Light"/>
            </a:endParaRPr>
          </a:p>
        </p:txBody>
      </p:sp>
      <p:sp>
        <p:nvSpPr>
          <p:cNvPr id="7" name="Date Placeholder 4">
            <a:extLst>
              <a:ext uri="{FF2B5EF4-FFF2-40B4-BE49-F238E27FC236}">
                <a16:creationId xmlns:a16="http://schemas.microsoft.com/office/drawing/2014/main" id="{BC1AC555-CE27-E237-07DA-AF85314A33A1}"/>
              </a:ext>
            </a:extLst>
          </p:cNvPr>
          <p:cNvSpPr txBox="1">
            <a:spLocks noGrp="1"/>
          </p:cNvSpPr>
          <p:nvPr>
            <p:ph type="dt" sz="half" idx="7"/>
          </p:nvPr>
        </p:nvSpPr>
        <p:spPr/>
        <p:txBody>
          <a:bodyPr/>
          <a:lstStyle>
            <a:lvl1pPr>
              <a:defRPr/>
            </a:lvl1pPr>
          </a:lstStyle>
          <a:p>
            <a:pPr lvl="0"/>
            <a:fld id="{C92657AC-76E0-456A-8CAA-707EAD1A5FE2}" type="datetime3">
              <a:rPr lang="en-US"/>
              <a:pPr lvl="0"/>
              <a:t>27 November 2025</a:t>
            </a:fld>
            <a:endParaRPr lang="en-IN"/>
          </a:p>
        </p:txBody>
      </p:sp>
      <p:sp>
        <p:nvSpPr>
          <p:cNvPr id="8" name="Footer Placeholder 5">
            <a:extLst>
              <a:ext uri="{FF2B5EF4-FFF2-40B4-BE49-F238E27FC236}">
                <a16:creationId xmlns:a16="http://schemas.microsoft.com/office/drawing/2014/main" id="{079BDCFB-CB77-EC93-050A-192D371703D9}"/>
              </a:ext>
            </a:extLst>
          </p:cNvPr>
          <p:cNvSpPr txBox="1">
            <a:spLocks noGrp="1"/>
          </p:cNvSpPr>
          <p:nvPr>
            <p:ph type="ftr" sz="quarter" idx="9"/>
          </p:nvPr>
        </p:nvSpPr>
        <p:spPr/>
        <p:txBody>
          <a:bodyPr/>
          <a:lstStyle>
            <a:lvl1pPr>
              <a:defRPr lang="en-IN"/>
            </a:lvl1pPr>
          </a:lstStyle>
          <a:p>
            <a:pPr lvl="0"/>
            <a:r>
              <a:rPr lang="en-IN"/>
              <a:t>Presentation title</a:t>
            </a:r>
          </a:p>
        </p:txBody>
      </p:sp>
      <p:sp>
        <p:nvSpPr>
          <p:cNvPr id="9" name="Slide Number Placeholder 6">
            <a:extLst>
              <a:ext uri="{FF2B5EF4-FFF2-40B4-BE49-F238E27FC236}">
                <a16:creationId xmlns:a16="http://schemas.microsoft.com/office/drawing/2014/main" id="{5CFF2FA8-74D8-71CA-017E-3668D98D84CD}"/>
              </a:ext>
            </a:extLst>
          </p:cNvPr>
          <p:cNvSpPr txBox="1">
            <a:spLocks noGrp="1"/>
          </p:cNvSpPr>
          <p:nvPr>
            <p:ph type="sldNum" sz="quarter" idx="8"/>
          </p:nvPr>
        </p:nvSpPr>
        <p:spPr/>
        <p:txBody>
          <a:bodyPr/>
          <a:lstStyle>
            <a:lvl1pPr>
              <a:defRPr lang="en-IN"/>
            </a:lvl1pPr>
          </a:lstStyle>
          <a:p>
            <a:pPr lvl="0"/>
            <a:r>
              <a:rPr lang="en-IN"/>
              <a:t>Page </a:t>
            </a:r>
            <a:fld id="{B7A1D267-2909-4120-8017-C90F8E655A78}" type="slidenum">
              <a:t>‹#›</a:t>
            </a:fld>
            <a:endParaRPr lang="en-IN"/>
          </a:p>
        </p:txBody>
      </p:sp>
    </p:spTree>
    <p:extLst>
      <p:ext uri="{BB962C8B-B14F-4D97-AF65-F5344CB8AC3E}">
        <p14:creationId xmlns:p14="http://schemas.microsoft.com/office/powerpoint/2010/main" val="84012311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5_Standard slide_no bullets">
    <p:spTree>
      <p:nvGrpSpPr>
        <p:cNvPr id="1" name=""/>
        <p:cNvGrpSpPr/>
        <p:nvPr/>
      </p:nvGrpSpPr>
      <p:grpSpPr>
        <a:xfrm>
          <a:off x="0" y="0"/>
          <a:ext cx="0" cy="0"/>
          <a:chOff x="0" y="0"/>
          <a:chExt cx="0" cy="0"/>
        </a:xfrm>
      </p:grpSpPr>
      <p:sp>
        <p:nvSpPr>
          <p:cNvPr id="2" name="Text Placeholder 4">
            <a:extLst>
              <a:ext uri="{FF2B5EF4-FFF2-40B4-BE49-F238E27FC236}">
                <a16:creationId xmlns:a16="http://schemas.microsoft.com/office/drawing/2014/main" id="{D99B3A52-3A4A-7072-D29B-F588965341E3}"/>
              </a:ext>
            </a:extLst>
          </p:cNvPr>
          <p:cNvSpPr txBox="1">
            <a:spLocks noGrp="1"/>
          </p:cNvSpPr>
          <p:nvPr>
            <p:ph type="body" idx="4294967295"/>
          </p:nvPr>
        </p:nvSpPr>
        <p:spPr>
          <a:xfrm>
            <a:off x="369509" y="2578745"/>
            <a:ext cx="4535597" cy="1055711"/>
          </a:xfrm>
        </p:spPr>
        <p:txBody>
          <a:bodyPr/>
          <a:lstStyle>
            <a:lvl1pPr marL="0" indent="0">
              <a:spcBef>
                <a:spcPts val="700"/>
              </a:spcBef>
              <a:buNone/>
              <a:defRPr lang="en-IN" sz="2999"/>
            </a:lvl1pPr>
            <a:lvl2pPr marL="0" lvl="0" indent="0">
              <a:spcBef>
                <a:spcPts val="700"/>
              </a:spcBef>
              <a:buNone/>
              <a:defRPr lang="en-IN" sz="2999"/>
            </a:lvl2pPr>
          </a:lstStyle>
          <a:p>
            <a:pPr lvl="0"/>
            <a:r>
              <a:rPr lang="en-IN"/>
              <a:t>Chapter Title</a:t>
            </a:r>
          </a:p>
          <a:p>
            <a:pPr lvl="0"/>
            <a:r>
              <a:rPr lang="en-IN"/>
              <a:t>EY Interstate Light</a:t>
            </a:r>
          </a:p>
        </p:txBody>
      </p:sp>
      <p:sp>
        <p:nvSpPr>
          <p:cNvPr id="3" name="Text Placeholder 4">
            <a:extLst>
              <a:ext uri="{FF2B5EF4-FFF2-40B4-BE49-F238E27FC236}">
                <a16:creationId xmlns:a16="http://schemas.microsoft.com/office/drawing/2014/main" id="{2DD29FFD-BE7C-5A00-4ABE-8C3322D6BF6E}"/>
              </a:ext>
            </a:extLst>
          </p:cNvPr>
          <p:cNvSpPr txBox="1">
            <a:spLocks noGrp="1"/>
          </p:cNvSpPr>
          <p:nvPr>
            <p:ph type="body" idx="4294967295"/>
          </p:nvPr>
        </p:nvSpPr>
        <p:spPr>
          <a:xfrm>
            <a:off x="369509" y="3840388"/>
            <a:ext cx="4535597" cy="1055711"/>
          </a:xfrm>
        </p:spPr>
        <p:txBody>
          <a:bodyPr/>
          <a:lstStyle>
            <a:lvl1pPr marL="0" indent="0">
              <a:spcBef>
                <a:spcPts val="400"/>
              </a:spcBef>
              <a:buNone/>
              <a:defRPr lang="en-IN" sz="1599"/>
            </a:lvl1pPr>
          </a:lstStyle>
          <a:p>
            <a:pPr lvl="0"/>
            <a:r>
              <a:rPr lang="en-IN"/>
              <a:t>text</a:t>
            </a:r>
          </a:p>
        </p:txBody>
      </p:sp>
      <p:sp>
        <p:nvSpPr>
          <p:cNvPr id="4" name="Date Placeholder 1">
            <a:extLst>
              <a:ext uri="{FF2B5EF4-FFF2-40B4-BE49-F238E27FC236}">
                <a16:creationId xmlns:a16="http://schemas.microsoft.com/office/drawing/2014/main" id="{78335FA6-48AD-7F41-CEBD-CA1E65DC2B9D}"/>
              </a:ext>
            </a:extLst>
          </p:cNvPr>
          <p:cNvSpPr txBox="1">
            <a:spLocks noGrp="1"/>
          </p:cNvSpPr>
          <p:nvPr>
            <p:ph type="dt" sz="half" idx="7"/>
          </p:nvPr>
        </p:nvSpPr>
        <p:spPr/>
        <p:txBody>
          <a:bodyPr/>
          <a:lstStyle>
            <a:lvl1pPr>
              <a:defRPr/>
            </a:lvl1pPr>
          </a:lstStyle>
          <a:p>
            <a:pPr lvl="0"/>
            <a:fld id="{EBFD0C0D-68C5-48F9-9DF9-0313A114C182}" type="datetime3">
              <a:rPr lang="en-US"/>
              <a:pPr lvl="0"/>
              <a:t>27 November 2025</a:t>
            </a:fld>
            <a:endParaRPr lang="en-IN"/>
          </a:p>
        </p:txBody>
      </p:sp>
      <p:sp>
        <p:nvSpPr>
          <p:cNvPr id="5" name="Footer Placeholder 2">
            <a:extLst>
              <a:ext uri="{FF2B5EF4-FFF2-40B4-BE49-F238E27FC236}">
                <a16:creationId xmlns:a16="http://schemas.microsoft.com/office/drawing/2014/main" id="{DE91DF42-A950-0FE1-ECA7-BF4334C3031A}"/>
              </a:ext>
            </a:extLst>
          </p:cNvPr>
          <p:cNvSpPr txBox="1">
            <a:spLocks noGrp="1"/>
          </p:cNvSpPr>
          <p:nvPr>
            <p:ph type="ftr" sz="quarter" idx="9"/>
          </p:nvPr>
        </p:nvSpPr>
        <p:spPr/>
        <p:txBody>
          <a:bodyPr/>
          <a:lstStyle>
            <a:lvl1pPr>
              <a:defRPr lang="en-IN"/>
            </a:lvl1pPr>
          </a:lstStyle>
          <a:p>
            <a:pPr lvl="0"/>
            <a:r>
              <a:rPr lang="en-IN"/>
              <a:t>Presentation title</a:t>
            </a:r>
          </a:p>
        </p:txBody>
      </p:sp>
      <p:sp>
        <p:nvSpPr>
          <p:cNvPr id="6" name="Slide Number Placeholder 3">
            <a:extLst>
              <a:ext uri="{FF2B5EF4-FFF2-40B4-BE49-F238E27FC236}">
                <a16:creationId xmlns:a16="http://schemas.microsoft.com/office/drawing/2014/main" id="{7296333B-3523-4C48-F6B0-71EDA5539CC4}"/>
              </a:ext>
            </a:extLst>
          </p:cNvPr>
          <p:cNvSpPr txBox="1">
            <a:spLocks noGrp="1"/>
          </p:cNvSpPr>
          <p:nvPr>
            <p:ph type="sldNum" sz="quarter" idx="8"/>
          </p:nvPr>
        </p:nvSpPr>
        <p:spPr/>
        <p:txBody>
          <a:bodyPr/>
          <a:lstStyle>
            <a:lvl1pPr>
              <a:defRPr lang="en-IN"/>
            </a:lvl1pPr>
          </a:lstStyle>
          <a:p>
            <a:pPr lvl="0"/>
            <a:r>
              <a:rPr lang="en-IN"/>
              <a:t>Page </a:t>
            </a:r>
            <a:fld id="{4A554B3A-1DA7-4064-8B7E-E8700E377579}" type="slidenum">
              <a:t>‹#›</a:t>
            </a:fld>
            <a:endParaRPr lang="en-IN"/>
          </a:p>
        </p:txBody>
      </p:sp>
    </p:spTree>
    <p:extLst>
      <p:ext uri="{BB962C8B-B14F-4D97-AF65-F5344CB8AC3E}">
        <p14:creationId xmlns:p14="http://schemas.microsoft.com/office/powerpoint/2010/main" val="25002501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6_Standard slide_no bullets">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4C58ABE-FA9F-7864-1B48-FB808427208F}"/>
              </a:ext>
            </a:extLst>
          </p:cNvPr>
          <p:cNvSpPr txBox="1">
            <a:spLocks noGrp="1"/>
          </p:cNvSpPr>
          <p:nvPr>
            <p:ph type="dt" sz="half" idx="7"/>
          </p:nvPr>
        </p:nvSpPr>
        <p:spPr/>
        <p:txBody>
          <a:bodyPr/>
          <a:lstStyle>
            <a:lvl1pPr>
              <a:defRPr/>
            </a:lvl1pPr>
          </a:lstStyle>
          <a:p>
            <a:pPr lvl="0"/>
            <a:fld id="{AFDC3B83-22DC-4DE0-BC6A-C09CE3DB6C7A}" type="datetime3">
              <a:rPr lang="en-US"/>
              <a:pPr lvl="0"/>
              <a:t>27 November 2025</a:t>
            </a:fld>
            <a:endParaRPr lang="en-IN"/>
          </a:p>
        </p:txBody>
      </p:sp>
      <p:sp>
        <p:nvSpPr>
          <p:cNvPr id="3" name="Footer Placeholder 2">
            <a:extLst>
              <a:ext uri="{FF2B5EF4-FFF2-40B4-BE49-F238E27FC236}">
                <a16:creationId xmlns:a16="http://schemas.microsoft.com/office/drawing/2014/main" id="{790414DE-D91A-312A-828A-33F22E481887}"/>
              </a:ext>
            </a:extLst>
          </p:cNvPr>
          <p:cNvSpPr txBox="1">
            <a:spLocks noGrp="1"/>
          </p:cNvSpPr>
          <p:nvPr>
            <p:ph type="ftr" sz="quarter" idx="9"/>
          </p:nvPr>
        </p:nvSpPr>
        <p:spPr/>
        <p:txBody>
          <a:bodyPr/>
          <a:lstStyle>
            <a:lvl1pPr>
              <a:defRPr lang="en-IN"/>
            </a:lvl1pPr>
          </a:lstStyle>
          <a:p>
            <a:pPr lvl="0"/>
            <a:r>
              <a:rPr lang="en-IN"/>
              <a:t>Presentation title</a:t>
            </a:r>
          </a:p>
        </p:txBody>
      </p:sp>
      <p:sp>
        <p:nvSpPr>
          <p:cNvPr id="4" name="Slide Number Placeholder 3">
            <a:extLst>
              <a:ext uri="{FF2B5EF4-FFF2-40B4-BE49-F238E27FC236}">
                <a16:creationId xmlns:a16="http://schemas.microsoft.com/office/drawing/2014/main" id="{DE7C71D1-5AD6-23EC-BC07-A09B5B2555BB}"/>
              </a:ext>
            </a:extLst>
          </p:cNvPr>
          <p:cNvSpPr txBox="1">
            <a:spLocks noGrp="1"/>
          </p:cNvSpPr>
          <p:nvPr>
            <p:ph type="sldNum" sz="quarter" idx="8"/>
          </p:nvPr>
        </p:nvSpPr>
        <p:spPr/>
        <p:txBody>
          <a:bodyPr/>
          <a:lstStyle>
            <a:lvl1pPr>
              <a:defRPr lang="en-IN"/>
            </a:lvl1pPr>
          </a:lstStyle>
          <a:p>
            <a:pPr lvl="0"/>
            <a:r>
              <a:rPr lang="en-IN"/>
              <a:t>Page </a:t>
            </a:r>
            <a:fld id="{C164EBB7-DB93-4236-90F0-D55403B37EA4}" type="slidenum">
              <a:t>‹#›</a:t>
            </a:fld>
            <a:endParaRPr lang="en-IN"/>
          </a:p>
        </p:txBody>
      </p:sp>
    </p:spTree>
    <p:extLst>
      <p:ext uri="{BB962C8B-B14F-4D97-AF65-F5344CB8AC3E}">
        <p14:creationId xmlns:p14="http://schemas.microsoft.com/office/powerpoint/2010/main" val="218087250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1_Divider 1">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A4108A37-C754-44BB-C1DF-1CF7FF5FC191}"/>
              </a:ext>
            </a:extLst>
          </p:cNvPr>
          <p:cNvSpPr txBox="1">
            <a:spLocks noGrp="1"/>
          </p:cNvSpPr>
          <p:nvPr>
            <p:ph type="ftr" sz="quarter" idx="9"/>
          </p:nvPr>
        </p:nvSpPr>
        <p:spPr/>
        <p:txBody>
          <a:bodyPr/>
          <a:lstStyle>
            <a:lvl1pPr>
              <a:defRPr lang="en-IN"/>
            </a:lvl1pPr>
          </a:lstStyle>
          <a:p>
            <a:pPr lvl="0"/>
            <a:r>
              <a:rPr lang="en-IN"/>
              <a:t>Presentation title</a:t>
            </a:r>
          </a:p>
        </p:txBody>
      </p:sp>
      <p:sp>
        <p:nvSpPr>
          <p:cNvPr id="3" name="Slide Number Placeholder 3">
            <a:extLst>
              <a:ext uri="{FF2B5EF4-FFF2-40B4-BE49-F238E27FC236}">
                <a16:creationId xmlns:a16="http://schemas.microsoft.com/office/drawing/2014/main" id="{71AF3FB4-87D0-366C-229E-CB857006126A}"/>
              </a:ext>
            </a:extLst>
          </p:cNvPr>
          <p:cNvSpPr txBox="1">
            <a:spLocks noGrp="1"/>
          </p:cNvSpPr>
          <p:nvPr>
            <p:ph type="sldNum" sz="quarter" idx="8"/>
          </p:nvPr>
        </p:nvSpPr>
        <p:spPr/>
        <p:txBody>
          <a:bodyPr/>
          <a:lstStyle>
            <a:lvl1pPr>
              <a:defRPr lang="en-IN"/>
            </a:lvl1pPr>
          </a:lstStyle>
          <a:p>
            <a:pPr lvl="0"/>
            <a:r>
              <a:rPr lang="en-IN"/>
              <a:t>Page </a:t>
            </a:r>
            <a:fld id="{11E7C9D0-0697-4193-A405-E3C0CC8516B5}" type="slidenum">
              <a:t>‹#›</a:t>
            </a:fld>
            <a:endParaRPr lang="en-IN"/>
          </a:p>
        </p:txBody>
      </p:sp>
    </p:spTree>
    <p:extLst>
      <p:ext uri="{BB962C8B-B14F-4D97-AF65-F5344CB8AC3E}">
        <p14:creationId xmlns:p14="http://schemas.microsoft.com/office/powerpoint/2010/main" val="6485868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p:cSld name="3_Final legal text">
    <p:spTree>
      <p:nvGrpSpPr>
        <p:cNvPr id="1" name=""/>
        <p:cNvGrpSpPr/>
        <p:nvPr/>
      </p:nvGrpSpPr>
      <p:grpSpPr>
        <a:xfrm>
          <a:off x="0" y="0"/>
          <a:ext cx="0" cy="0"/>
          <a:chOff x="0" y="0"/>
          <a:chExt cx="0" cy="0"/>
        </a:xfrm>
      </p:grpSpPr>
      <p:sp>
        <p:nvSpPr>
          <p:cNvPr id="2" name="Content Placeholder 2">
            <a:extLst>
              <a:ext uri="{FF2B5EF4-FFF2-40B4-BE49-F238E27FC236}">
                <a16:creationId xmlns:a16="http://schemas.microsoft.com/office/drawing/2014/main" id="{286D7D2C-1E12-57EF-7BFD-8002EFB9EFCD}"/>
              </a:ext>
            </a:extLst>
          </p:cNvPr>
          <p:cNvSpPr txBox="1">
            <a:spLocks noGrp="1"/>
          </p:cNvSpPr>
          <p:nvPr>
            <p:ph idx="4294967295"/>
          </p:nvPr>
        </p:nvSpPr>
        <p:spPr>
          <a:xfrm>
            <a:off x="607481" y="719139"/>
            <a:ext cx="4675199" cy="5210059"/>
          </a:xfrm>
        </p:spPr>
        <p:txBody>
          <a:bodyPr/>
          <a:lstStyle>
            <a:lvl1pPr marL="0" indent="0" defTabSz="994867">
              <a:spcBef>
                <a:spcPts val="1000"/>
              </a:spcBef>
              <a:buNone/>
              <a:defRPr sz="1199">
                <a:cs typeface="Arial" pitchFamily="34"/>
              </a:defRPr>
            </a:lvl1pPr>
            <a:lvl2pPr marL="0" indent="0" defTabSz="994867">
              <a:spcBef>
                <a:spcPts val="0"/>
              </a:spcBef>
              <a:buNone/>
              <a:defRPr sz="900" b="1">
                <a:cs typeface="Arial" pitchFamily="34"/>
              </a:defRPr>
            </a:lvl2pPr>
            <a:lvl3pPr marL="176122" indent="-176122" defTabSz="994867">
              <a:spcBef>
                <a:spcPts val="0"/>
              </a:spcBef>
              <a:buSzPct val="70000"/>
              <a:buFont typeface="Arial" pitchFamily="34"/>
              <a:buChar char="►"/>
              <a:defRPr sz="900" b="1">
                <a:cs typeface="Arial" pitchFamily="34"/>
              </a:defRPr>
            </a:lvl3pPr>
            <a:lvl4pPr marL="0" indent="0" defTabSz="994867">
              <a:spcBef>
                <a:spcPts val="0"/>
              </a:spcBef>
              <a:buNone/>
              <a:defRPr sz="800">
                <a:cs typeface="Arial" pitchFamily="34"/>
              </a:defRPr>
            </a:lvl4pPr>
            <a:lvl5pPr marL="188814" indent="-188814" defTabSz="994867">
              <a:spcBef>
                <a:spcPts val="0"/>
              </a:spcBef>
              <a:buSzPct val="70000"/>
              <a:buFont typeface="Arial" pitchFamily="34"/>
              <a:buChar char="►"/>
              <a:defRPr sz="800">
                <a:cs typeface="Arial" pitchFamily="34"/>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7862509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Multi Line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C5D353-FF17-A8D6-7F62-415367598023}"/>
              </a:ext>
            </a:extLst>
          </p:cNvPr>
          <p:cNvSpPr txBox="1">
            <a:spLocks noGrp="1"/>
          </p:cNvSpPr>
          <p:nvPr>
            <p:ph type="title"/>
          </p:nvPr>
        </p:nvSpPr>
        <p:spPr/>
        <p:txBody>
          <a:bodyPr/>
          <a:lstStyle>
            <a:lvl1pPr>
              <a:defRPr/>
            </a:lvl1pPr>
          </a:lstStyle>
          <a:p>
            <a:pPr lvl="0"/>
            <a:r>
              <a:rPr lang="en-US"/>
              <a:t>Multi line title text</a:t>
            </a:r>
          </a:p>
        </p:txBody>
      </p:sp>
      <p:sp>
        <p:nvSpPr>
          <p:cNvPr id="3" name="Line 10">
            <a:extLst>
              <a:ext uri="{FF2B5EF4-FFF2-40B4-BE49-F238E27FC236}">
                <a16:creationId xmlns:a16="http://schemas.microsoft.com/office/drawing/2014/main" id="{AFA60A5C-8BC7-C93D-B868-0C7D09465E79}"/>
              </a:ext>
            </a:extLst>
          </p:cNvPr>
          <p:cNvSpPr/>
          <p:nvPr/>
        </p:nvSpPr>
        <p:spPr>
          <a:xfrm>
            <a:off x="609603" y="1043997"/>
            <a:ext cx="10972800"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19046" cap="flat">
            <a:solidFill>
              <a:srgbClr val="FFE600"/>
            </a:solidFill>
            <a:prstDash val="solid"/>
            <a:round/>
          </a:ln>
        </p:spPr>
        <p:txBody>
          <a:bodyPr vert="horz" wrap="non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797" b="0" i="0" u="none" strike="noStrike" kern="1200" cap="none" spc="0" baseline="0">
              <a:solidFill>
                <a:srgbClr val="646464"/>
              </a:solidFill>
              <a:uFillTx/>
              <a:latin typeface="EYInterstate Light"/>
            </a:endParaRPr>
          </a:p>
        </p:txBody>
      </p:sp>
      <p:sp>
        <p:nvSpPr>
          <p:cNvPr id="4" name="Slide Number Placeholder 3">
            <a:extLst>
              <a:ext uri="{FF2B5EF4-FFF2-40B4-BE49-F238E27FC236}">
                <a16:creationId xmlns:a16="http://schemas.microsoft.com/office/drawing/2014/main" id="{F10AF508-0169-379A-271E-87B7B0E28278}"/>
              </a:ext>
            </a:extLst>
          </p:cNvPr>
          <p:cNvSpPr txBox="1">
            <a:spLocks noGrp="1"/>
          </p:cNvSpPr>
          <p:nvPr>
            <p:ph type="sldNum" sz="quarter" idx="8"/>
          </p:nvPr>
        </p:nvSpPr>
        <p:spPr/>
        <p:txBody>
          <a:bodyPr/>
          <a:lstStyle>
            <a:lvl1pPr>
              <a:defRPr lang="en-IN"/>
            </a:lvl1pPr>
          </a:lstStyle>
          <a:p>
            <a:pPr lvl="0"/>
            <a:r>
              <a:rPr lang="en-IN"/>
              <a:t>Page </a:t>
            </a:r>
            <a:fld id="{97B8F02F-762B-4F4C-81F3-D2AA47270163}" type="slidenum">
              <a:t>‹#›</a:t>
            </a:fld>
            <a:endParaRPr lang="en-IN"/>
          </a:p>
        </p:txBody>
      </p:sp>
    </p:spTree>
    <p:extLst>
      <p:ext uri="{BB962C8B-B14F-4D97-AF65-F5344CB8AC3E}">
        <p14:creationId xmlns:p14="http://schemas.microsoft.com/office/powerpoint/2010/main" val="129426847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8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60136" y="828675"/>
            <a:ext cx="10972800" cy="490538"/>
          </a:xfrm>
        </p:spPr>
        <p:txBody>
          <a:bodyPr/>
          <a:lstStyle>
            <a:lvl1pPr>
              <a:defRPr lang="en-US" sz="2399" b="0" kern="1200" dirty="0">
                <a:solidFill>
                  <a:schemeClr val="accent3">
                    <a:lumMod val="75000"/>
                  </a:schemeClr>
                </a:solidFill>
                <a:latin typeface="EYInterstate Light" panose="02000506000000020004" pitchFamily="2" charset="0"/>
                <a:ea typeface="+mj-ea"/>
                <a:cs typeface="Arial" pitchFamily="34" charset="0"/>
              </a:defRPr>
            </a:lvl1pPr>
          </a:lstStyle>
          <a:p>
            <a:r>
              <a:rPr lang="en-US"/>
              <a:t>Standard slide</a:t>
            </a:r>
            <a:endParaRPr lang="en-GB"/>
          </a:p>
        </p:txBody>
      </p:sp>
      <p:sp>
        <p:nvSpPr>
          <p:cNvPr id="4" name="Footer Placeholder 3">
            <a:extLst>
              <a:ext uri="{FF2B5EF4-FFF2-40B4-BE49-F238E27FC236}">
                <a16:creationId xmlns:a16="http://schemas.microsoft.com/office/drawing/2014/main" id="{D4EEA008-3E80-49A8-A128-C1EEB8A02F06}"/>
              </a:ext>
            </a:extLst>
          </p:cNvPr>
          <p:cNvSpPr>
            <a:spLocks noGrp="1"/>
          </p:cNvSpPr>
          <p:nvPr>
            <p:ph type="ftr" sz="quarter" idx="11"/>
          </p:nvPr>
        </p:nvSpPr>
        <p:spPr/>
        <p:txBody>
          <a:bodyPr/>
          <a:lstStyle/>
          <a:p>
            <a:r>
              <a:rPr lang="en-US">
                <a:solidFill>
                  <a:srgbClr val="747480"/>
                </a:solidFill>
              </a:rPr>
              <a:t>Proposal to serve Ball Corporation: Supporting information</a:t>
            </a:r>
            <a:endParaRPr lang="en-US" b="1">
              <a:solidFill>
                <a:srgbClr val="747480"/>
              </a:solidFill>
            </a:endParaRPr>
          </a:p>
        </p:txBody>
      </p:sp>
      <p:sp>
        <p:nvSpPr>
          <p:cNvPr id="5" name="Slide Number Placeholder 4">
            <a:extLst>
              <a:ext uri="{FF2B5EF4-FFF2-40B4-BE49-F238E27FC236}">
                <a16:creationId xmlns:a16="http://schemas.microsoft.com/office/drawing/2014/main" id="{0A192330-2E70-49F4-A5DA-F82320E7080E}"/>
              </a:ext>
            </a:extLst>
          </p:cNvPr>
          <p:cNvSpPr>
            <a:spLocks noGrp="1"/>
          </p:cNvSpPr>
          <p:nvPr>
            <p:ph type="sldNum" sz="quarter" idx="12"/>
          </p:nvPr>
        </p:nvSpPr>
        <p:spPr/>
        <p:txBody>
          <a:bodyPr/>
          <a:lstStyle/>
          <a:p>
            <a:fld id="{F1BC30E3-FFE5-4B91-AA19-87A149EBB9EE}" type="slidenum">
              <a:rPr smtClean="0"/>
              <a:pPr/>
              <a:t>‹#›</a:t>
            </a:fld>
            <a:endParaRPr/>
          </a:p>
        </p:txBody>
      </p:sp>
      <p:pic>
        <p:nvPicPr>
          <p:cNvPr id="23" name="Picture 22">
            <a:extLst>
              <a:ext uri="{FF2B5EF4-FFF2-40B4-BE49-F238E27FC236}">
                <a16:creationId xmlns:a16="http://schemas.microsoft.com/office/drawing/2014/main" id="{696AC6CA-37F9-4747-B054-4F8E0D7B3DCD}"/>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a:stretch/>
        </p:blipFill>
        <p:spPr>
          <a:xfrm>
            <a:off x="0" y="-1803"/>
            <a:ext cx="12192000" cy="492616"/>
          </a:xfrm>
          <a:prstGeom prst="rect">
            <a:avLst/>
          </a:prstGeom>
        </p:spPr>
      </p:pic>
      <p:graphicFrame>
        <p:nvGraphicFramePr>
          <p:cNvPr id="24" name="Table 16">
            <a:extLst>
              <a:ext uri="{FF2B5EF4-FFF2-40B4-BE49-F238E27FC236}">
                <a16:creationId xmlns:a16="http://schemas.microsoft.com/office/drawing/2014/main" id="{F93622E5-A96B-4881-AD82-5331188D472B}"/>
              </a:ext>
            </a:extLst>
          </p:cNvPr>
          <p:cNvGraphicFramePr>
            <a:graphicFrameLocks noGrp="1"/>
          </p:cNvGraphicFramePr>
          <p:nvPr userDrawn="1"/>
        </p:nvGraphicFramePr>
        <p:xfrm>
          <a:off x="-12" y="-1803"/>
          <a:ext cx="12192022" cy="494607"/>
        </p:xfrm>
        <a:graphic>
          <a:graphicData uri="http://schemas.openxmlformats.org/drawingml/2006/table">
            <a:tbl>
              <a:tblPr>
                <a:effectLst/>
                <a:tableStyleId>{5C22544A-7EE6-4342-B048-85BDC9FD1C3A}</a:tableStyleId>
              </a:tblPr>
              <a:tblGrid>
                <a:gridCol w="459847">
                  <a:extLst>
                    <a:ext uri="{9D8B030D-6E8A-4147-A177-3AD203B41FA5}">
                      <a16:colId xmlns:a16="http://schemas.microsoft.com/office/drawing/2014/main" val="2472937205"/>
                    </a:ext>
                  </a:extLst>
                </a:gridCol>
                <a:gridCol w="1610247">
                  <a:extLst>
                    <a:ext uri="{9D8B030D-6E8A-4147-A177-3AD203B41FA5}">
                      <a16:colId xmlns:a16="http://schemas.microsoft.com/office/drawing/2014/main" val="3945671174"/>
                    </a:ext>
                  </a:extLst>
                </a:gridCol>
                <a:gridCol w="1610247">
                  <a:extLst>
                    <a:ext uri="{9D8B030D-6E8A-4147-A177-3AD203B41FA5}">
                      <a16:colId xmlns:a16="http://schemas.microsoft.com/office/drawing/2014/main" val="2212031868"/>
                    </a:ext>
                  </a:extLst>
                </a:gridCol>
                <a:gridCol w="1610247">
                  <a:extLst>
                    <a:ext uri="{9D8B030D-6E8A-4147-A177-3AD203B41FA5}">
                      <a16:colId xmlns:a16="http://schemas.microsoft.com/office/drawing/2014/main" val="156889982"/>
                    </a:ext>
                  </a:extLst>
                </a:gridCol>
                <a:gridCol w="1610247">
                  <a:extLst>
                    <a:ext uri="{9D8B030D-6E8A-4147-A177-3AD203B41FA5}">
                      <a16:colId xmlns:a16="http://schemas.microsoft.com/office/drawing/2014/main" val="392569710"/>
                    </a:ext>
                  </a:extLst>
                </a:gridCol>
                <a:gridCol w="1610247">
                  <a:extLst>
                    <a:ext uri="{9D8B030D-6E8A-4147-A177-3AD203B41FA5}">
                      <a16:colId xmlns:a16="http://schemas.microsoft.com/office/drawing/2014/main" val="2966020886"/>
                    </a:ext>
                  </a:extLst>
                </a:gridCol>
                <a:gridCol w="1610247">
                  <a:extLst>
                    <a:ext uri="{9D8B030D-6E8A-4147-A177-3AD203B41FA5}">
                      <a16:colId xmlns:a16="http://schemas.microsoft.com/office/drawing/2014/main" val="860136919"/>
                    </a:ext>
                  </a:extLst>
                </a:gridCol>
                <a:gridCol w="1610247">
                  <a:extLst>
                    <a:ext uri="{9D8B030D-6E8A-4147-A177-3AD203B41FA5}">
                      <a16:colId xmlns:a16="http://schemas.microsoft.com/office/drawing/2014/main" val="2273652571"/>
                    </a:ext>
                  </a:extLst>
                </a:gridCol>
                <a:gridCol w="460446">
                  <a:extLst>
                    <a:ext uri="{9D8B030D-6E8A-4147-A177-3AD203B41FA5}">
                      <a16:colId xmlns:a16="http://schemas.microsoft.com/office/drawing/2014/main" val="4045979757"/>
                    </a:ext>
                  </a:extLst>
                </a:gridCol>
              </a:tblGrid>
              <a:tr h="494607">
                <a:tc>
                  <a:txBody>
                    <a:bodyPr/>
                    <a:lstStyle/>
                    <a:p>
                      <a:pPr algn="ctr"/>
                      <a:endParaRPr lang="en-US" sz="1000" b="1" cap="all" baseline="0">
                        <a:solidFill>
                          <a:schemeClr val="bg1"/>
                        </a:solidFill>
                      </a:endParaRPr>
                    </a:p>
                  </a:txBody>
                  <a:tcPr marL="91392" marR="91392" marB="27432" anchor="ctr">
                    <a:lnL w="6350" cap="flat" cmpd="sng" algn="ctr">
                      <a:noFill/>
                      <a:prstDash val="solid"/>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25000"/>
                      </a:schemeClr>
                    </a:soli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kern="1200">
                          <a:solidFill>
                            <a:schemeClr val="tx1"/>
                          </a:solidFill>
                          <a:latin typeface="+mn-lt"/>
                          <a:ea typeface="+mn-ea"/>
                          <a:cs typeface="+mn-cs"/>
                        </a:rPr>
                        <a:t>*</a:t>
                      </a:r>
                      <a:br>
                        <a:rPr lang="en-US" sz="700">
                          <a:solidFill>
                            <a:schemeClr val="tx1"/>
                          </a:solidFill>
                        </a:rPr>
                      </a:br>
                      <a:r>
                        <a:rPr lang="en-US" sz="700" b="1" kern="1200" cap="all" baseline="0">
                          <a:solidFill>
                            <a:schemeClr val="tx1"/>
                          </a:solidFill>
                          <a:latin typeface="+mn-lt"/>
                          <a:ea typeface="+mn-ea"/>
                          <a:cs typeface="+mn-cs"/>
                        </a:rPr>
                        <a:t>Executive summary</a:t>
                      </a:r>
                    </a:p>
                  </a:txBody>
                  <a:tcPr marL="0" marR="0"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40000"/>
                      </a:schemeClr>
                    </a:soli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kern="1200">
                          <a:solidFill>
                            <a:schemeClr val="tx1"/>
                          </a:solidFill>
                          <a:latin typeface="+mn-lt"/>
                          <a:ea typeface="+mn-ea"/>
                          <a:cs typeface="+mn-cs"/>
                        </a:rPr>
                        <a:t>01: </a:t>
                      </a:r>
                      <a:br>
                        <a:rPr lang="en-US" sz="700">
                          <a:solidFill>
                            <a:schemeClr val="tx1"/>
                          </a:solidFill>
                        </a:rPr>
                      </a:br>
                      <a:r>
                        <a:rPr lang="en-US" sz="700" b="1" kern="1200" cap="all" baseline="0">
                          <a:solidFill>
                            <a:schemeClr val="tx1"/>
                          </a:solidFill>
                          <a:latin typeface="+mn-lt"/>
                          <a:ea typeface="+mn-ea"/>
                          <a:cs typeface="+mn-cs"/>
                        </a:rPr>
                        <a:t>strategy</a:t>
                      </a:r>
                    </a:p>
                  </a:txBody>
                  <a:tcPr marL="91392" marR="91392"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40000"/>
                      </a:schemeClr>
                    </a:soli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kern="1200">
                          <a:solidFill>
                            <a:schemeClr val="tx1"/>
                          </a:solidFill>
                          <a:latin typeface="+mn-lt"/>
                          <a:ea typeface="+mn-ea"/>
                          <a:cs typeface="+mn-cs"/>
                        </a:rPr>
                        <a:t>02:</a:t>
                      </a:r>
                      <a:br>
                        <a:rPr lang="en-US" sz="700">
                          <a:solidFill>
                            <a:schemeClr val="tx1"/>
                          </a:solidFill>
                        </a:rPr>
                      </a:br>
                      <a:r>
                        <a:rPr lang="en-US" sz="700" b="1" kern="1200" cap="all" baseline="0">
                          <a:solidFill>
                            <a:schemeClr val="tx1"/>
                          </a:solidFill>
                          <a:latin typeface="+mn-lt"/>
                          <a:ea typeface="+mn-ea"/>
                          <a:cs typeface="+mn-cs"/>
                        </a:rPr>
                        <a:t>Execution</a:t>
                      </a:r>
                    </a:p>
                  </a:txBody>
                  <a:tcPr marL="91392" marR="91392"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gradFill>
                      <a:gsLst>
                        <a:gs pos="14000">
                          <a:schemeClr val="accent3">
                            <a:lumMod val="75000"/>
                          </a:schemeClr>
                        </a:gs>
                        <a:gs pos="48000">
                          <a:schemeClr val="accent3"/>
                        </a:gs>
                        <a:gs pos="100000">
                          <a:schemeClr val="accent2">
                            <a:lumMod val="60000"/>
                            <a:lumOff val="40000"/>
                          </a:schemeClr>
                        </a:gs>
                        <a:gs pos="74000">
                          <a:schemeClr val="accent3">
                            <a:lumMod val="60000"/>
                            <a:lumOff val="40000"/>
                          </a:schemeClr>
                        </a:gs>
                      </a:gsLst>
                      <a:lin ang="18000000" scaled="0"/>
                    </a:gra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kern="1200">
                          <a:solidFill>
                            <a:schemeClr val="tx1"/>
                          </a:solidFill>
                          <a:latin typeface="+mn-lt"/>
                          <a:ea typeface="+mn-ea"/>
                          <a:cs typeface="+mn-cs"/>
                        </a:rPr>
                        <a:t>03:</a:t>
                      </a:r>
                    </a:p>
                    <a:p>
                      <a:pPr marL="0" marR="0" lvl="0" indent="0" algn="ctr" defTabSz="959663" rtl="0" eaLnBrk="1" fontAlgn="auto" latinLnBrk="0" hangingPunct="1">
                        <a:lnSpc>
                          <a:spcPct val="100000"/>
                        </a:lnSpc>
                        <a:spcBef>
                          <a:spcPts val="0"/>
                        </a:spcBef>
                        <a:spcAft>
                          <a:spcPts val="0"/>
                        </a:spcAft>
                        <a:buClrTx/>
                        <a:buSzTx/>
                        <a:buFontTx/>
                        <a:buNone/>
                        <a:tabLst/>
                        <a:defRPr/>
                      </a:pPr>
                      <a:r>
                        <a:rPr lang="en-US" sz="700" b="1" kern="1200" cap="all" baseline="0">
                          <a:solidFill>
                            <a:schemeClr val="tx1"/>
                          </a:solidFill>
                          <a:latin typeface="+mn-lt"/>
                          <a:ea typeface="+mn-ea"/>
                          <a:cs typeface="+mn-cs"/>
                        </a:rPr>
                        <a:t>Governance</a:t>
                      </a:r>
                    </a:p>
                  </a:txBody>
                  <a:tcPr marL="91392" marR="91392"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40000"/>
                      </a:schemeClr>
                    </a:soli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kern="1200">
                          <a:solidFill>
                            <a:schemeClr val="tx1"/>
                          </a:solidFill>
                          <a:latin typeface="+mn-lt"/>
                          <a:ea typeface="+mn-ea"/>
                          <a:cs typeface="+mn-cs"/>
                        </a:rPr>
                        <a:t>04:</a:t>
                      </a:r>
                    </a:p>
                    <a:p>
                      <a:pPr marL="0" marR="0" lvl="0" indent="0" algn="ctr" defTabSz="959663" rtl="0" eaLnBrk="1" fontAlgn="auto" latinLnBrk="0" hangingPunct="1">
                        <a:lnSpc>
                          <a:spcPct val="100000"/>
                        </a:lnSpc>
                        <a:spcBef>
                          <a:spcPts val="0"/>
                        </a:spcBef>
                        <a:spcAft>
                          <a:spcPts val="0"/>
                        </a:spcAft>
                        <a:buClrTx/>
                        <a:buSzTx/>
                        <a:buFontTx/>
                        <a:buNone/>
                        <a:tabLst/>
                        <a:defRPr/>
                      </a:pPr>
                      <a:r>
                        <a:rPr lang="en-US" sz="700" b="1" kern="1200" cap="all" baseline="0" err="1">
                          <a:solidFill>
                            <a:schemeClr val="tx1"/>
                          </a:solidFill>
                          <a:latin typeface="+mn-lt"/>
                          <a:ea typeface="+mn-ea"/>
                          <a:cs typeface="+mn-cs"/>
                        </a:rPr>
                        <a:t>BTC</a:t>
                      </a:r>
                      <a:r>
                        <a:rPr lang="en-US" sz="700" b="1" kern="1200" cap="all" baseline="0">
                          <a:solidFill>
                            <a:schemeClr val="tx1"/>
                          </a:solidFill>
                          <a:latin typeface="+mn-lt"/>
                          <a:ea typeface="+mn-ea"/>
                          <a:cs typeface="+mn-cs"/>
                        </a:rPr>
                        <a:t> by EY</a:t>
                      </a:r>
                    </a:p>
                  </a:txBody>
                  <a:tcPr marL="91392" marR="91392"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40000"/>
                      </a:schemeClr>
                    </a:soli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kern="1200">
                          <a:solidFill>
                            <a:schemeClr val="tx1"/>
                          </a:solidFill>
                          <a:latin typeface="+mn-lt"/>
                          <a:ea typeface="+mn-ea"/>
                          <a:cs typeface="+mn-cs"/>
                        </a:rPr>
                        <a:t>05:</a:t>
                      </a:r>
                      <a:br>
                        <a:rPr lang="en-US" sz="700">
                          <a:solidFill>
                            <a:schemeClr val="tx1"/>
                          </a:solidFill>
                        </a:rPr>
                      </a:br>
                      <a:r>
                        <a:rPr lang="en-US" sz="700" b="1" kern="1200" cap="all" baseline="0">
                          <a:solidFill>
                            <a:schemeClr val="tx1"/>
                          </a:solidFill>
                          <a:latin typeface="+mn-lt"/>
                          <a:ea typeface="+mn-ea"/>
                          <a:cs typeface="+mn-cs"/>
                        </a:rPr>
                        <a:t>Commercials </a:t>
                      </a:r>
                    </a:p>
                  </a:txBody>
                  <a:tcPr marL="91392" marR="91392"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40000"/>
                      </a:schemeClr>
                    </a:solidFill>
                  </a:tcPr>
                </a:tc>
                <a:tc>
                  <a:txBody>
                    <a:bodyPr/>
                    <a:lstStyle/>
                    <a:p>
                      <a:pPr marL="0" marR="0" lvl="0" indent="0" algn="ctr" defTabSz="959663" rtl="0" eaLnBrk="1" fontAlgn="auto" latinLnBrk="0" hangingPunct="1">
                        <a:lnSpc>
                          <a:spcPct val="100000"/>
                        </a:lnSpc>
                        <a:spcBef>
                          <a:spcPts val="0"/>
                        </a:spcBef>
                        <a:spcAft>
                          <a:spcPts val="0"/>
                        </a:spcAft>
                        <a:buClrTx/>
                        <a:buSzTx/>
                        <a:buFontTx/>
                        <a:buNone/>
                        <a:tabLst/>
                        <a:defRPr/>
                      </a:pPr>
                      <a:r>
                        <a:rPr lang="en-US" sz="700" b="1" kern="1200" cap="all" baseline="0">
                          <a:solidFill>
                            <a:schemeClr val="tx1"/>
                          </a:solidFill>
                          <a:latin typeface="+mn-lt"/>
                          <a:ea typeface="+mn-ea"/>
                          <a:cs typeface="+mn-cs"/>
                        </a:rPr>
                        <a:t>06: </a:t>
                      </a:r>
                      <a:br>
                        <a:rPr lang="en-US" sz="700" b="1" kern="1200" cap="all" baseline="0">
                          <a:solidFill>
                            <a:schemeClr val="tx1"/>
                          </a:solidFill>
                          <a:latin typeface="+mn-lt"/>
                          <a:ea typeface="+mn-ea"/>
                          <a:cs typeface="+mn-cs"/>
                        </a:rPr>
                      </a:br>
                      <a:r>
                        <a:rPr lang="en-US" sz="700" b="1" kern="1200" cap="all" baseline="0">
                          <a:solidFill>
                            <a:schemeClr val="tx1"/>
                          </a:solidFill>
                          <a:latin typeface="+mn-lt"/>
                          <a:ea typeface="+mn-ea"/>
                          <a:cs typeface="+mn-cs"/>
                        </a:rPr>
                        <a:t>Appendix</a:t>
                      </a:r>
                    </a:p>
                  </a:txBody>
                  <a:tcPr marL="91392" marR="91392" anchor="ctr">
                    <a:lnL w="12700" cap="flat" cmpd="sng" algn="ctr">
                      <a:solidFill>
                        <a:srgbClr val="C4C4CD"/>
                      </a:solidFill>
                      <a:prstDash val="sysDot"/>
                      <a:round/>
                      <a:headEnd type="none" w="med" len="med"/>
                      <a:tailEnd type="none" w="med" len="med"/>
                    </a:lnL>
                    <a:lnR w="12700" cap="flat" cmpd="sng" algn="ctr">
                      <a:solidFill>
                        <a:srgbClr val="C4C4CD"/>
                      </a:solidFill>
                      <a:prstDash val="sysDot"/>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1" cap="all" baseline="0">
                        <a:solidFill>
                          <a:schemeClr val="bg1"/>
                        </a:solidFill>
                      </a:endParaRPr>
                    </a:p>
                  </a:txBody>
                  <a:tcPr marL="91392" marR="91392" marB="27432" anchor="ctr">
                    <a:lnL w="12700" cap="flat" cmpd="sng" algn="ctr">
                      <a:solidFill>
                        <a:srgbClr val="C4C4CD"/>
                      </a:solidFill>
                      <a:prstDash val="sysDot"/>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alpha val="25000"/>
                      </a:schemeClr>
                    </a:solidFill>
                  </a:tcPr>
                </a:tc>
                <a:extLst>
                  <a:ext uri="{0D108BD9-81ED-4DB2-BD59-A6C34878D82A}">
                    <a16:rowId xmlns:a16="http://schemas.microsoft.com/office/drawing/2014/main" val="765208673"/>
                  </a:ext>
                </a:extLst>
              </a:tr>
            </a:tbl>
          </a:graphicData>
        </a:graphic>
      </p:graphicFrame>
      <p:cxnSp>
        <p:nvCxnSpPr>
          <p:cNvPr id="25" name="Straight Connector 24">
            <a:extLst>
              <a:ext uri="{FF2B5EF4-FFF2-40B4-BE49-F238E27FC236}">
                <a16:creationId xmlns:a16="http://schemas.microsoft.com/office/drawing/2014/main" id="{D2093F07-6CDF-48AC-8B81-2A01E9529B25}"/>
              </a:ext>
            </a:extLst>
          </p:cNvPr>
          <p:cNvCxnSpPr>
            <a:cxnSpLocks/>
          </p:cNvCxnSpPr>
          <p:nvPr userDrawn="1"/>
        </p:nvCxnSpPr>
        <p:spPr>
          <a:xfrm>
            <a:off x="0" y="483281"/>
            <a:ext cx="12192014" cy="0"/>
          </a:xfrm>
          <a:prstGeom prst="line">
            <a:avLst/>
          </a:prstGeom>
          <a:ln w="31750">
            <a:gradFill flip="none" rotWithShape="1">
              <a:gsLst>
                <a:gs pos="50000">
                  <a:schemeClr val="accent3"/>
                </a:gs>
                <a:gs pos="25000">
                  <a:schemeClr val="accent3">
                    <a:lumMod val="75000"/>
                  </a:schemeClr>
                </a:gs>
                <a:gs pos="78000">
                  <a:schemeClr val="accent3">
                    <a:lumMod val="60000"/>
                    <a:lumOff val="40000"/>
                  </a:schemeClr>
                </a:gs>
                <a:gs pos="100000">
                  <a:schemeClr val="accent2">
                    <a:lumMod val="60000"/>
                    <a:lumOff val="40000"/>
                  </a:schemeClr>
                </a:gs>
              </a:gsLst>
              <a:lin ang="0" scaled="1"/>
              <a:tileRect/>
            </a:gradFill>
            <a:tailEnd type="none"/>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69A289CA-3C86-46CA-A345-9B4CF33FEA84}"/>
              </a:ext>
            </a:extLst>
          </p:cNvPr>
          <p:cNvGrpSpPr>
            <a:grpSpLocks noChangeAspect="1"/>
          </p:cNvGrpSpPr>
          <p:nvPr userDrawn="1"/>
        </p:nvGrpSpPr>
        <p:grpSpPr bwMode="auto">
          <a:xfrm>
            <a:off x="11824597" y="81486"/>
            <a:ext cx="270429" cy="277653"/>
            <a:chOff x="7110" y="4004"/>
            <a:chExt cx="191" cy="196"/>
          </a:xfrm>
        </p:grpSpPr>
        <p:sp>
          <p:nvSpPr>
            <p:cNvPr id="27" name="Freeform 5">
              <a:extLst>
                <a:ext uri="{FF2B5EF4-FFF2-40B4-BE49-F238E27FC236}">
                  <a16:creationId xmlns:a16="http://schemas.microsoft.com/office/drawing/2014/main" id="{C4D6ECDE-B2AB-4AB7-B532-E684184C0343}"/>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7"/>
            </a:p>
          </p:txBody>
        </p:sp>
        <p:sp>
          <p:nvSpPr>
            <p:cNvPr id="28" name="Freeform 6">
              <a:extLst>
                <a:ext uri="{FF2B5EF4-FFF2-40B4-BE49-F238E27FC236}">
                  <a16:creationId xmlns:a16="http://schemas.microsoft.com/office/drawing/2014/main" id="{3F8C32CB-E980-448A-AB43-A16CE7C3BB5A}"/>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7"/>
            </a:p>
          </p:txBody>
        </p:sp>
        <p:sp>
          <p:nvSpPr>
            <p:cNvPr id="29" name="Freeform 7">
              <a:extLst>
                <a:ext uri="{FF2B5EF4-FFF2-40B4-BE49-F238E27FC236}">
                  <a16:creationId xmlns:a16="http://schemas.microsoft.com/office/drawing/2014/main" id="{C9A62DB3-9657-4880-A6C6-1C8929EA6678}"/>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7"/>
            </a:p>
          </p:txBody>
        </p:sp>
      </p:grpSp>
      <p:pic>
        <p:nvPicPr>
          <p:cNvPr id="30" name="Graphic 29">
            <a:hlinkClick r:id="" action="ppaction://noaction"/>
            <a:extLst>
              <a:ext uri="{FF2B5EF4-FFF2-40B4-BE49-F238E27FC236}">
                <a16:creationId xmlns:a16="http://schemas.microsoft.com/office/drawing/2014/main" id="{8C906D4E-2478-47FB-9546-4DD88C4AE39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03244" y="141392"/>
            <a:ext cx="239205" cy="217574"/>
          </a:xfrm>
          <a:prstGeom prst="rect">
            <a:avLst/>
          </a:prstGeom>
        </p:spPr>
      </p:pic>
      <p:grpSp>
        <p:nvGrpSpPr>
          <p:cNvPr id="14" name="Group 13">
            <a:extLst>
              <a:ext uri="{FF2B5EF4-FFF2-40B4-BE49-F238E27FC236}">
                <a16:creationId xmlns:a16="http://schemas.microsoft.com/office/drawing/2014/main" id="{63C8648A-9373-4237-A417-9D488CF6FBA1}"/>
              </a:ext>
            </a:extLst>
          </p:cNvPr>
          <p:cNvGrpSpPr/>
          <p:nvPr userDrawn="1"/>
        </p:nvGrpSpPr>
        <p:grpSpPr>
          <a:xfrm>
            <a:off x="-2928" y="-11961"/>
            <a:ext cx="12194942" cy="502774"/>
            <a:chOff x="-8114" y="-559500"/>
            <a:chExt cx="12201294" cy="502774"/>
          </a:xfrm>
        </p:grpSpPr>
        <p:sp>
          <p:nvSpPr>
            <p:cNvPr id="15" name="Rectangle 14">
              <a:hlinkClick r:id="" action="ppaction://noaction"/>
              <a:extLst>
                <a:ext uri="{FF2B5EF4-FFF2-40B4-BE49-F238E27FC236}">
                  <a16:creationId xmlns:a16="http://schemas.microsoft.com/office/drawing/2014/main" id="{E67DF5B6-FE9A-408E-8E61-81E48F503CBC}"/>
                </a:ext>
              </a:extLst>
            </p:cNvPr>
            <p:cNvSpPr/>
            <p:nvPr userDrawn="1"/>
          </p:nvSpPr>
          <p:spPr>
            <a:xfrm>
              <a:off x="11736412" y="-559500"/>
              <a:ext cx="456768" cy="492804"/>
            </a:xfrm>
            <a:prstGeom prst="rect">
              <a:avLst/>
            </a:prstGeom>
            <a:solidFill>
              <a:srgbClr val="F2F2F2">
                <a:alpha val="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7">
                <a:solidFill>
                  <a:schemeClr val="tx1"/>
                </a:solidFill>
              </a:endParaRPr>
            </a:p>
          </p:txBody>
        </p:sp>
        <p:sp>
          <p:nvSpPr>
            <p:cNvPr id="16" name="Rectangle 15">
              <a:hlinkClick r:id="" action="ppaction://noaction"/>
              <a:extLst>
                <a:ext uri="{FF2B5EF4-FFF2-40B4-BE49-F238E27FC236}">
                  <a16:creationId xmlns:a16="http://schemas.microsoft.com/office/drawing/2014/main" id="{434FD525-2C7F-427B-9E32-F4A57E574D19}"/>
                </a:ext>
              </a:extLst>
            </p:cNvPr>
            <p:cNvSpPr/>
            <p:nvPr userDrawn="1"/>
          </p:nvSpPr>
          <p:spPr>
            <a:xfrm>
              <a:off x="-8114" y="-559500"/>
              <a:ext cx="456768" cy="502774"/>
            </a:xfrm>
            <a:prstGeom prst="rect">
              <a:avLst/>
            </a:prstGeom>
            <a:solidFill>
              <a:srgbClr val="F2F2F2">
                <a:alpha val="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7">
                <a:solidFill>
                  <a:schemeClr val="tx1"/>
                </a:solidFill>
              </a:endParaRPr>
            </a:p>
          </p:txBody>
        </p:sp>
        <p:sp>
          <p:nvSpPr>
            <p:cNvPr id="17" name="Rectangle 16">
              <a:hlinkClick r:id="" action="ppaction://noaction"/>
              <a:extLst>
                <a:ext uri="{FF2B5EF4-FFF2-40B4-BE49-F238E27FC236}">
                  <a16:creationId xmlns:a16="http://schemas.microsoft.com/office/drawing/2014/main" id="{191DDC19-F4C7-4FA1-A3ED-4BF293C0D68A}"/>
                </a:ext>
              </a:extLst>
            </p:cNvPr>
            <p:cNvSpPr/>
            <p:nvPr userDrawn="1"/>
          </p:nvSpPr>
          <p:spPr>
            <a:xfrm>
              <a:off x="521293" y="-54953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18" name="Rectangle 17">
              <a:hlinkClick r:id="" action="ppaction://noaction"/>
              <a:extLst>
                <a:ext uri="{FF2B5EF4-FFF2-40B4-BE49-F238E27FC236}">
                  <a16:creationId xmlns:a16="http://schemas.microsoft.com/office/drawing/2014/main" id="{3243228C-22F7-4596-8457-F8CFC0EF7E2A}"/>
                </a:ext>
              </a:extLst>
            </p:cNvPr>
            <p:cNvSpPr/>
            <p:nvPr userDrawn="1"/>
          </p:nvSpPr>
          <p:spPr>
            <a:xfrm>
              <a:off x="2117931" y="-55950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19" name="Rectangle 18">
              <a:hlinkClick r:id="" action="ppaction://noaction"/>
              <a:extLst>
                <a:ext uri="{FF2B5EF4-FFF2-40B4-BE49-F238E27FC236}">
                  <a16:creationId xmlns:a16="http://schemas.microsoft.com/office/drawing/2014/main" id="{FA20A92F-C1A0-4CE5-9036-437E3F3E35D6}"/>
                </a:ext>
              </a:extLst>
            </p:cNvPr>
            <p:cNvSpPr/>
            <p:nvPr userDrawn="1"/>
          </p:nvSpPr>
          <p:spPr>
            <a:xfrm>
              <a:off x="3748753" y="-54953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20" name="Rectangle 19">
              <a:hlinkClick r:id="" action="ppaction://noaction"/>
              <a:extLst>
                <a:ext uri="{FF2B5EF4-FFF2-40B4-BE49-F238E27FC236}">
                  <a16:creationId xmlns:a16="http://schemas.microsoft.com/office/drawing/2014/main" id="{E06C2740-AEBD-41B9-A721-18B0ACB03662}"/>
                </a:ext>
              </a:extLst>
            </p:cNvPr>
            <p:cNvSpPr/>
            <p:nvPr userDrawn="1"/>
          </p:nvSpPr>
          <p:spPr>
            <a:xfrm>
              <a:off x="5345391" y="-55950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21" name="Rectangle 20">
              <a:hlinkClick r:id="" action="ppaction://noaction"/>
              <a:extLst>
                <a:ext uri="{FF2B5EF4-FFF2-40B4-BE49-F238E27FC236}">
                  <a16:creationId xmlns:a16="http://schemas.microsoft.com/office/drawing/2014/main" id="{9D928E2C-296C-40C9-84C0-3FFB2810BCA3}"/>
                </a:ext>
              </a:extLst>
            </p:cNvPr>
            <p:cNvSpPr/>
            <p:nvPr userDrawn="1"/>
          </p:nvSpPr>
          <p:spPr>
            <a:xfrm>
              <a:off x="6959121" y="-54953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22" name="Rectangle 21">
              <a:hlinkClick r:id="" action="ppaction://noaction"/>
              <a:extLst>
                <a:ext uri="{FF2B5EF4-FFF2-40B4-BE49-F238E27FC236}">
                  <a16:creationId xmlns:a16="http://schemas.microsoft.com/office/drawing/2014/main" id="{62F02D84-AA52-48DA-8AD2-2E0C0C69E4D9}"/>
                </a:ext>
              </a:extLst>
            </p:cNvPr>
            <p:cNvSpPr/>
            <p:nvPr userDrawn="1"/>
          </p:nvSpPr>
          <p:spPr>
            <a:xfrm>
              <a:off x="8555759" y="-55950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32" name="Rectangle 31">
              <a:hlinkClick r:id="" action="ppaction://noaction"/>
              <a:extLst>
                <a:ext uri="{FF2B5EF4-FFF2-40B4-BE49-F238E27FC236}">
                  <a16:creationId xmlns:a16="http://schemas.microsoft.com/office/drawing/2014/main" id="{C36BD006-30B4-4776-AAF7-E54EB8590FA1}"/>
                </a:ext>
              </a:extLst>
            </p:cNvPr>
            <p:cNvSpPr/>
            <p:nvPr userDrawn="1"/>
          </p:nvSpPr>
          <p:spPr>
            <a:xfrm>
              <a:off x="10190336" y="-559500"/>
              <a:ext cx="1495514" cy="492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grpSp>
    </p:spTree>
    <p:extLst>
      <p:ext uri="{BB962C8B-B14F-4D97-AF65-F5344CB8AC3E}">
        <p14:creationId xmlns:p14="http://schemas.microsoft.com/office/powerpoint/2010/main" val="386669120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DDB7F0-C6E7-4074-8C9C-914626879AAF}"/>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CF5681EB-B686-4AFB-A7A4-DEC24079B51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428EC3AD-ABE4-4D2E-9A49-DD63CD6372FA}"/>
              </a:ext>
            </a:extLst>
          </p:cNvPr>
          <p:cNvSpPr>
            <a:spLocks noGrp="1"/>
          </p:cNvSpPr>
          <p:nvPr>
            <p:ph type="dt" sz="half" idx="10"/>
          </p:nvPr>
        </p:nvSpPr>
        <p:spPr/>
        <p:txBody>
          <a:bodyPr/>
          <a:lstStyle/>
          <a:p>
            <a:fld id="{4BD67755-1696-4646-B443-D5F1B6A85F81}" type="datetimeFigureOut">
              <a:rPr lang="en-IN" smtClean="0"/>
              <a:t>27-11-2025</a:t>
            </a:fld>
            <a:endParaRPr lang="en-IN"/>
          </a:p>
        </p:txBody>
      </p:sp>
      <p:sp>
        <p:nvSpPr>
          <p:cNvPr id="5" name="Footer Placeholder 4">
            <a:extLst>
              <a:ext uri="{FF2B5EF4-FFF2-40B4-BE49-F238E27FC236}">
                <a16:creationId xmlns:a16="http://schemas.microsoft.com/office/drawing/2014/main" id="{60BA4604-5386-4881-B214-8ADDF877E6F5}"/>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B57B6BDD-F820-4711-82C9-607202D8B10E}"/>
              </a:ext>
            </a:extLst>
          </p:cNvPr>
          <p:cNvSpPr>
            <a:spLocks noGrp="1"/>
          </p:cNvSpPr>
          <p:nvPr>
            <p:ph type="sldNum" sz="quarter" idx="12"/>
          </p:nvPr>
        </p:nvSpPr>
        <p:spPr/>
        <p:txBody>
          <a:bodyPr/>
          <a:lstStyle/>
          <a:p>
            <a:fld id="{F60A1568-8E3F-4EAB-B15A-7FAEB6FC5B7F}" type="slidenum">
              <a:rPr lang="en-IN" smtClean="0"/>
              <a:t>‹#›</a:t>
            </a:fld>
            <a:endParaRPr lang="en-IN"/>
          </a:p>
        </p:txBody>
      </p:sp>
    </p:spTree>
    <p:extLst>
      <p:ext uri="{BB962C8B-B14F-4D97-AF65-F5344CB8AC3E}">
        <p14:creationId xmlns:p14="http://schemas.microsoft.com/office/powerpoint/2010/main" val="126879340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B3C35AEC-478D-4BBF-9883-4CE09EB36AB9}"/>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
        <p:nvSpPr>
          <p:cNvPr id="8" name="Text Placeholder 2">
            <a:extLst>
              <a:ext uri="{FF2B5EF4-FFF2-40B4-BE49-F238E27FC236}">
                <a16:creationId xmlns:a16="http://schemas.microsoft.com/office/drawing/2014/main" id="{AC5F387F-0A77-424D-88D8-FFE5F0CA22D3}"/>
              </a:ext>
            </a:extLst>
          </p:cNvPr>
          <p:cNvSpPr>
            <a:spLocks noGrp="1"/>
          </p:cNvSpPr>
          <p:nvPr>
            <p:ph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19555257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7CD940-01C1-4DB3-BD0A-E112C60EB6EA}"/>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5849CEE3-B5EB-4C08-9575-2479AD16BD90}"/>
              </a:ext>
            </a:extLst>
          </p:cNvPr>
          <p:cNvSpPr>
            <a:spLocks noGrp="1"/>
          </p:cNvSpPr>
          <p:nvPr>
            <p:ph type="sldNum" sz="quarter" idx="10"/>
          </p:nvPr>
        </p:nvSpPr>
        <p:spPr/>
        <p:txBody>
          <a:bodyPr/>
          <a:lstStyle/>
          <a:p>
            <a:fld id="{54B9D3C5-5387-4512-99A7-F5295D2C2F6B}" type="slidenum">
              <a:rPr lang="en-US" smtClean="0"/>
              <a:pPr/>
              <a:t>‹#›</a:t>
            </a:fld>
            <a:endParaRPr lang="en-US"/>
          </a:p>
        </p:txBody>
      </p:sp>
    </p:spTree>
    <p:extLst>
      <p:ext uri="{BB962C8B-B14F-4D97-AF65-F5344CB8AC3E}">
        <p14:creationId xmlns:p14="http://schemas.microsoft.com/office/powerpoint/2010/main" val="359435076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2F4B0007-DA02-48C7-9137-9386DFC24A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16" name="Freeform 56">
            <a:extLst>
              <a:ext uri="{FF2B5EF4-FFF2-40B4-BE49-F238E27FC236}">
                <a16:creationId xmlns:a16="http://schemas.microsoft.com/office/drawing/2014/main" id="{13A7AC18-CF42-4EC5-8D40-441EAE30A06C}"/>
              </a:ext>
            </a:extLst>
          </p:cNvPr>
          <p:cNvSpPr/>
          <p:nvPr userDrawn="1"/>
        </p:nvSpPr>
        <p:spPr>
          <a:xfrm>
            <a:off x="49785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11" name="Title 1"/>
          <p:cNvSpPr>
            <a:spLocks noGrp="1"/>
          </p:cNvSpPr>
          <p:nvPr>
            <p:ph type="ctrTitle"/>
          </p:nvPr>
        </p:nvSpPr>
        <p:spPr>
          <a:xfrm>
            <a:off x="775100" y="1954221"/>
            <a:ext cx="4326679" cy="979702"/>
          </a:xfrm>
        </p:spPr>
        <p:txBody>
          <a:bodyPr/>
          <a:lstStyle>
            <a:lvl1pPr>
              <a:defRPr sz="2999" b="0">
                <a:solidFill>
                  <a:schemeClr val="tx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100" y="3046159"/>
            <a:ext cx="4326679" cy="1046323"/>
          </a:xfrm>
        </p:spPr>
        <p:txBody>
          <a:bodyPr/>
          <a:lstStyle>
            <a:lvl1pPr marL="0" indent="0" algn="l">
              <a:spcAft>
                <a:spcPts val="1199"/>
              </a:spcAft>
              <a:buNone/>
              <a:defRPr sz="1999">
                <a:solidFill>
                  <a:schemeClr val="tx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10359392" y="4960938"/>
            <a:ext cx="1224912"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544624869"/>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7856" y="5826613"/>
            <a:ext cx="3876004"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18" name="Title 1"/>
          <p:cNvSpPr>
            <a:spLocks noGrp="1"/>
          </p:cNvSpPr>
          <p:nvPr userDrawn="1">
            <p:ph type="ctrTitle"/>
          </p:nvPr>
        </p:nvSpPr>
        <p:spPr>
          <a:xfrm>
            <a:off x="944388" y="2158329"/>
            <a:ext cx="4781392"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4580" y="3200329"/>
            <a:ext cx="480552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112" y="723658"/>
            <a:ext cx="5677988"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sz="1799"/>
          </a:p>
        </p:txBody>
      </p:sp>
      <p:sp>
        <p:nvSpPr>
          <p:cNvPr id="4" name="Freeform: Shape 3">
            <a:extLst>
              <a:ext uri="{FF2B5EF4-FFF2-40B4-BE49-F238E27FC236}">
                <a16:creationId xmlns:a16="http://schemas.microsoft.com/office/drawing/2014/main" id="{15324C54-B75E-4AC0-90C2-FA558C7716F7}"/>
              </a:ext>
            </a:extLst>
          </p:cNvPr>
          <p:cNvSpPr/>
          <p:nvPr/>
        </p:nvSpPr>
        <p:spPr>
          <a:xfrm>
            <a:off x="489112"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5" name="Freeform: Shape 4">
            <a:extLst>
              <a:ext uri="{FF2B5EF4-FFF2-40B4-BE49-F238E27FC236}">
                <a16:creationId xmlns:a16="http://schemas.microsoft.com/office/drawing/2014/main" id="{CAA95478-C099-485F-AD95-A617656C6C7C}"/>
              </a:ext>
            </a:extLst>
          </p:cNvPr>
          <p:cNvSpPr/>
          <p:nvPr/>
        </p:nvSpPr>
        <p:spPr>
          <a:xfrm>
            <a:off x="774294"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6" name="Freeform: Shape 5">
            <a:extLst>
              <a:ext uri="{FF2B5EF4-FFF2-40B4-BE49-F238E27FC236}">
                <a16:creationId xmlns:a16="http://schemas.microsoft.com/office/drawing/2014/main" id="{D65680A1-86D1-44C2-AA38-0DF5735F1F26}"/>
              </a:ext>
            </a:extLst>
          </p:cNvPr>
          <p:cNvSpPr/>
          <p:nvPr/>
        </p:nvSpPr>
        <p:spPr>
          <a:xfrm>
            <a:off x="1059359"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grpSp>
        <p:nvGrpSpPr>
          <p:cNvPr id="104" name="Group 4">
            <a:extLst>
              <a:ext uri="{FF2B5EF4-FFF2-40B4-BE49-F238E27FC236}">
                <a16:creationId xmlns:a16="http://schemas.microsoft.com/office/drawing/2014/main" id="{89402076-F24D-44C5-B8A7-1127F9C4B9B7}"/>
              </a:ext>
            </a:extLst>
          </p:cNvPr>
          <p:cNvGrpSpPr>
            <a:grpSpLocks noChangeAspect="1"/>
          </p:cNvGrpSpPr>
          <p:nvPr userDrawn="1"/>
        </p:nvGrpSpPr>
        <p:grpSpPr bwMode="auto">
          <a:xfrm>
            <a:off x="10359392" y="4960938"/>
            <a:ext cx="1224912" cy="1435100"/>
            <a:chOff x="6529" y="3125"/>
            <a:chExt cx="772" cy="904"/>
          </a:xfrm>
        </p:grpSpPr>
        <p:sp>
          <p:nvSpPr>
            <p:cNvPr id="105" name="Freeform 5">
              <a:extLst>
                <a:ext uri="{FF2B5EF4-FFF2-40B4-BE49-F238E27FC236}">
                  <a16:creationId xmlns:a16="http://schemas.microsoft.com/office/drawing/2014/main" id="{A239DDBF-0740-4B20-9CF3-A05C2A0BF592}"/>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06" name="Freeform 6">
              <a:extLst>
                <a:ext uri="{FF2B5EF4-FFF2-40B4-BE49-F238E27FC236}">
                  <a16:creationId xmlns:a16="http://schemas.microsoft.com/office/drawing/2014/main" id="{380EECCA-3396-425E-AB04-F11ABB1B5092}"/>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1094661603"/>
      </p:ext>
    </p:extLst>
  </p:cSld>
  <p:clrMapOvr>
    <a:masterClrMapping/>
  </p:clrMapOvr>
  <p:extLst>
    <p:ext uri="{DCECCB84-F9BA-43D5-87BE-67443E8EF086}">
      <p15:sldGuideLst xmlns:p15="http://schemas.microsoft.com/office/powerpoint/2012/main"/>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pic>
        <p:nvPicPr>
          <p:cNvPr id="75" name="Picture 74">
            <a:extLst>
              <a:ext uri="{FF2B5EF4-FFF2-40B4-BE49-F238E27FC236}">
                <a16:creationId xmlns:a16="http://schemas.microsoft.com/office/drawing/2014/main" id="{32889845-07EE-48FB-A972-F8ECF1EF871A}"/>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85" name="Graphic 84">
            <a:extLst>
              <a:ext uri="{FF2B5EF4-FFF2-40B4-BE49-F238E27FC236}">
                <a16:creationId xmlns:a16="http://schemas.microsoft.com/office/drawing/2014/main" id="{819BCB30-E1AA-4383-BEF0-0BE30C6425DE}"/>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489111" y="869577"/>
            <a:ext cx="4845500" cy="3933825"/>
          </a:xfrm>
          <a:prstGeom prst="rect">
            <a:avLst/>
          </a:prstGeom>
        </p:spPr>
      </p:pic>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785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388" y="2158329"/>
            <a:ext cx="3998354"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4580" y="3200329"/>
            <a:ext cx="401853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82" name="Group 4">
            <a:extLst>
              <a:ext uri="{FF2B5EF4-FFF2-40B4-BE49-F238E27FC236}">
                <a16:creationId xmlns:a16="http://schemas.microsoft.com/office/drawing/2014/main" id="{A63454B3-EB4E-450A-98AA-6B5943D89732}"/>
              </a:ext>
            </a:extLst>
          </p:cNvPr>
          <p:cNvGrpSpPr>
            <a:grpSpLocks noChangeAspect="1"/>
          </p:cNvGrpSpPr>
          <p:nvPr userDrawn="1"/>
        </p:nvGrpSpPr>
        <p:grpSpPr bwMode="auto">
          <a:xfrm>
            <a:off x="10359392" y="4960938"/>
            <a:ext cx="1224912" cy="1435100"/>
            <a:chOff x="6529" y="3125"/>
            <a:chExt cx="772" cy="904"/>
          </a:xfrm>
        </p:grpSpPr>
        <p:sp>
          <p:nvSpPr>
            <p:cNvPr id="83" name="Freeform 5">
              <a:extLst>
                <a:ext uri="{FF2B5EF4-FFF2-40B4-BE49-F238E27FC236}">
                  <a16:creationId xmlns:a16="http://schemas.microsoft.com/office/drawing/2014/main" id="{C4ED221A-C963-42C0-91ED-C597F6BDAF9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84" name="Freeform 6">
              <a:extLst>
                <a:ext uri="{FF2B5EF4-FFF2-40B4-BE49-F238E27FC236}">
                  <a16:creationId xmlns:a16="http://schemas.microsoft.com/office/drawing/2014/main" id="{7956D1CB-5F24-4766-80AE-D7551538344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2017454796"/>
      </p:ext>
    </p:extLst>
  </p:cSld>
  <p:clrMapOvr>
    <a:masterClrMapping/>
  </p:clrMapOvr>
  <p:extLst>
    <p:ext uri="{DCECCB84-F9BA-43D5-87BE-67443E8EF086}">
      <p15:sldGuideLst xmlns:p15="http://schemas.microsoft.com/office/powerpoint/2012/main"/>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B3C35AEC-478D-4BBF-9883-4CE09EB36AB9}"/>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
        <p:nvSpPr>
          <p:cNvPr id="8" name="Text Placeholder 2">
            <a:extLst>
              <a:ext uri="{FF2B5EF4-FFF2-40B4-BE49-F238E27FC236}">
                <a16:creationId xmlns:a16="http://schemas.microsoft.com/office/drawing/2014/main" id="{AC5F387F-0A77-424D-88D8-FFE5F0CA22D3}"/>
              </a:ext>
            </a:extLst>
          </p:cNvPr>
          <p:cNvSpPr>
            <a:spLocks noGrp="1"/>
          </p:cNvSpPr>
          <p:nvPr>
            <p:ph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91391498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sz="2399">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Slide Number Placeholder 4">
            <a:extLst>
              <a:ext uri="{FF2B5EF4-FFF2-40B4-BE49-F238E27FC236}">
                <a16:creationId xmlns:a16="http://schemas.microsoft.com/office/drawing/2014/main" id="{2ABF873B-E40B-4AF7-8D2F-967775EB8EA6}"/>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72303469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616" y="2851522"/>
            <a:ext cx="4445485" cy="1202318"/>
          </a:xfrm>
        </p:spPr>
        <p:txBody>
          <a:bodyPr vert="horz" lIns="0" tIns="0" rIns="0" bIns="0" rtlCol="0" anchor="ctr" anchorCtr="0">
            <a:noAutofit/>
          </a:bodyPr>
          <a:lstStyle>
            <a:lvl1pPr marL="0" indent="0">
              <a:buNone/>
              <a:defRPr kumimoji="0" lang="en-IN" sz="3598"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356438" marR="0" lvl="0" indent="-356438" defTabSz="1007383" fontAlgn="auto">
              <a:lnSpc>
                <a:spcPct val="100000"/>
              </a:lnSpc>
              <a:spcBef>
                <a:spcPct val="0"/>
              </a:spcBef>
              <a:spcAft>
                <a:spcPts val="0"/>
              </a:spcAft>
              <a:buClrTx/>
              <a:buSzTx/>
              <a:tabLst/>
            </a:pPr>
            <a:r>
              <a:rPr lang="en-US"/>
              <a:t>Chapter Title</a:t>
            </a:r>
            <a:endParaRPr lang="en-IN"/>
          </a:p>
        </p:txBody>
      </p:sp>
      <p:sp>
        <p:nvSpPr>
          <p:cNvPr id="4" name="Slide Number Placeholder 3">
            <a:extLst>
              <a:ext uri="{FF2B5EF4-FFF2-40B4-BE49-F238E27FC236}">
                <a16:creationId xmlns:a16="http://schemas.microsoft.com/office/drawing/2014/main" id="{E499AB0A-887B-46B8-BA72-781970F002C7}"/>
              </a:ext>
            </a:extLst>
          </p:cNvPr>
          <p:cNvSpPr>
            <a:spLocks noGrp="1"/>
          </p:cNvSpPr>
          <p:nvPr>
            <p:ph type="sldNum" sz="quarter" idx="13"/>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80664555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600" y="1137921"/>
            <a:ext cx="4954924" cy="4267457"/>
          </a:xfrm>
        </p:spPr>
        <p:txBody>
          <a:bodyPr/>
          <a:lstStyle/>
          <a:p>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29748" y="3813288"/>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29748" y="4055931"/>
            <a:ext cx="3087667" cy="180000"/>
          </a:xfrm>
        </p:spPr>
        <p:txBody>
          <a:bodyPr/>
          <a:lstStyle>
            <a:lvl1pPr marL="0" indent="0">
              <a:buNone/>
              <a:defRPr sz="1199">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19820" y="3578084"/>
            <a:ext cx="778554" cy="778959"/>
          </a:xfrm>
          <a:prstGeom prst="ellipse">
            <a:avLst/>
          </a:prstGeom>
        </p:spPr>
        <p:txBody>
          <a:bodyPr anchor="ctr"/>
          <a:lstStyle>
            <a:lvl1pPr marL="0" indent="0" algn="ctr">
              <a:buNone/>
              <a:defRPr sz="900">
                <a:solidFill>
                  <a:schemeClr val="bg1"/>
                </a:solidFill>
              </a:defRPr>
            </a:lvl1pPr>
          </a:lstStyle>
          <a:p>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19821" y="1137921"/>
            <a:ext cx="5462580"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19821" y="1635009"/>
            <a:ext cx="5462580" cy="1611554"/>
          </a:xfrm>
        </p:spPr>
        <p:txBody>
          <a:bodyPr/>
          <a:lstStyle>
            <a:lvl1pPr marL="0" indent="0">
              <a:buNone/>
              <a:defRPr sz="1599"/>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5716ABDB-CF45-4001-9487-F3BA3DD8DACD}"/>
              </a:ext>
            </a:extLst>
          </p:cNvPr>
          <p:cNvSpPr>
            <a:spLocks noGrp="1"/>
          </p:cNvSpPr>
          <p:nvPr>
            <p:ph type="sldNum" sz="quarter" idx="21"/>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35722345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1378" y="2060235"/>
            <a:ext cx="5289245" cy="3025522"/>
          </a:xfrm>
        </p:spPr>
        <p:txBody>
          <a:bodyPr lIns="0" tIns="0" rIns="0" bIns="0">
            <a:noAutofit/>
          </a:bodyPr>
          <a:lstStyle>
            <a:lvl1pPr marL="0" indent="0" algn="ctr">
              <a:buNone/>
              <a:defRPr lang="en-US" sz="2799" dirty="0" smtClean="0">
                <a:latin typeface="Georgia" panose="02040502050405020303" pitchFamily="18" charset="0"/>
              </a:defRPr>
            </a:lvl1pPr>
          </a:lstStyle>
          <a:p>
            <a:pPr marL="356438" lvl="0" indent="-356438"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1378" y="5506678"/>
            <a:ext cx="5289245" cy="316838"/>
          </a:xfrm>
        </p:spPr>
        <p:txBody>
          <a:bodyPr lIns="0" tIns="0" rIns="0" bIns="0">
            <a:noAutofit/>
          </a:bodyPr>
          <a:lstStyle>
            <a:lvl1pPr marL="0" indent="0" algn="ctr">
              <a:buNone/>
              <a:defRPr lang="en-US" sz="1599" dirty="0" smtClean="0">
                <a:solidFill>
                  <a:srgbClr val="FFE600"/>
                </a:solidFill>
                <a:latin typeface="+mn-lt"/>
              </a:defRPr>
            </a:lvl1pPr>
          </a:lstStyle>
          <a:p>
            <a:pPr marL="356438" lvl="0" indent="-356438"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1378" y="5818717"/>
            <a:ext cx="5289245" cy="316838"/>
          </a:xfrm>
        </p:spPr>
        <p:txBody>
          <a:bodyPr vert="horz" lIns="0" tIns="0" rIns="0" bIns="0" rtlCol="0" anchor="t" anchorCtr="0">
            <a:noAutofit/>
          </a:bodyPr>
          <a:lstStyle>
            <a:lvl1pPr marL="0" indent="0" algn="ctr">
              <a:buNone/>
              <a:defRPr lang="en-US" sz="1599" dirty="0" smtClean="0">
                <a:latin typeface="+mn-lt"/>
              </a:defRPr>
            </a:lvl1pPr>
          </a:lstStyle>
          <a:p>
            <a:pPr marL="356438" lvl="0" indent="-356438"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194">
                <a:solidFill>
                  <a:schemeClr val="tx2"/>
                </a:solidFill>
                <a:latin typeface="Georgia" panose="02040502050405020303" pitchFamily="18" charset="0"/>
              </a:rPr>
              <a:t>“ </a:t>
            </a:r>
          </a:p>
        </p:txBody>
      </p:sp>
    </p:spTree>
    <p:extLst>
      <p:ext uri="{BB962C8B-B14F-4D97-AF65-F5344CB8AC3E}">
        <p14:creationId xmlns:p14="http://schemas.microsoft.com/office/powerpoint/2010/main" val="193296819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194">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083" y="2526765"/>
            <a:ext cx="5289245" cy="1800000"/>
          </a:xfrm>
        </p:spPr>
        <p:txBody>
          <a:bodyPr lIns="90000" tIns="46800" rIns="90000" bIns="46800"/>
          <a:lstStyle>
            <a:lvl1pPr marL="0" indent="0">
              <a:buNone/>
              <a:defRPr lang="en-US" sz="2799" dirty="0" smtClean="0">
                <a:latin typeface="Georgia" panose="02040502050405020303" pitchFamily="18" charset="0"/>
              </a:defRPr>
            </a:lvl1pPr>
          </a:lstStyle>
          <a:p>
            <a:pPr marL="356438" lvl="0" indent="-356438">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083" y="4632765"/>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tx2"/>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083" y="4971442"/>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bg1"/>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268458815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88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601" y="1137919"/>
            <a:ext cx="5384800" cy="4834800"/>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7601" y="1137919"/>
            <a:ext cx="5384800" cy="4834800"/>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7" name="Slide Number Placeholder 6">
            <a:extLst>
              <a:ext uri="{FF2B5EF4-FFF2-40B4-BE49-F238E27FC236}">
                <a16:creationId xmlns:a16="http://schemas.microsoft.com/office/drawing/2014/main" id="{E76E3B4B-D68B-4AFA-A20D-2ECE69120F7E}"/>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81773025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userDrawn="1">
  <p:cSld name="2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785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11" name="Title 1"/>
          <p:cNvSpPr>
            <a:spLocks noGrp="1"/>
          </p:cNvSpPr>
          <p:nvPr>
            <p:ph type="ctrTitle"/>
          </p:nvPr>
        </p:nvSpPr>
        <p:spPr>
          <a:xfrm>
            <a:off x="775100" y="1954221"/>
            <a:ext cx="4326679" cy="979702"/>
          </a:xfr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100" y="3046159"/>
            <a:ext cx="4326679" cy="1046323"/>
          </a:xfrm>
        </p:spPr>
        <p:txBody>
          <a:bodyPr/>
          <a:lstStyle>
            <a:lvl1pPr marL="0" indent="0" algn="l">
              <a:spcAft>
                <a:spcPts val="1199"/>
              </a:spcAft>
              <a:buNone/>
              <a:defRPr sz="1999">
                <a:solidFill>
                  <a:schemeClr val="bg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2490" y="5709060"/>
            <a:ext cx="8117873"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744" y="5605201"/>
            <a:ext cx="1044529" cy="197581"/>
          </a:xfrm>
          <a:prstGeom prst="rect">
            <a:avLst/>
          </a:prstGeom>
          <a:noFill/>
        </p:spPr>
        <p:txBody>
          <a:bodyPr wrap="square" lIns="0" tIns="0" rIns="0" bIns="0" rtlCol="0" anchor="ctr" anchorCtr="0">
            <a:noAutofit/>
          </a:bodyPr>
          <a:lstStyle/>
          <a:p>
            <a:r>
              <a:rPr lang="en-GB" sz="1199">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2490" y="6019189"/>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2490" y="6216807"/>
            <a:ext cx="3087667" cy="180000"/>
          </a:xfrm>
        </p:spPr>
        <p:txBody>
          <a:bodyPr/>
          <a:lstStyle>
            <a:lvl1pPr marL="0" indent="0">
              <a:buNone/>
              <a:defRPr sz="1199">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743" y="5914642"/>
            <a:ext cx="575700" cy="576000"/>
          </a:xfrm>
          <a:prstGeom prst="ellipse">
            <a:avLst/>
          </a:prstGeom>
        </p:spPr>
        <p:txBody>
          <a:bodyPr anchor="ctr"/>
          <a:lstStyle>
            <a:lvl1pPr marL="0" indent="0" algn="ctr">
              <a:buNone/>
              <a:defRPr sz="900">
                <a:solidFill>
                  <a:schemeClr val="bg1"/>
                </a:solidFill>
              </a:defRPr>
            </a:lvl1pPr>
          </a:lstStyle>
          <a:p>
            <a:endParaRPr lang="en-GB"/>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10359392" y="4960938"/>
            <a:ext cx="1224912"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4238488334"/>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userDrawn="1">
  <p:cSld name="1_Approved question 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785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388" y="2158329"/>
            <a:ext cx="3998354"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4580" y="3200329"/>
            <a:ext cx="401853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489112" y="876059"/>
            <a:ext cx="4852768"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sz="1799"/>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10359392" y="4960938"/>
            <a:ext cx="1224912"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3370484895"/>
      </p:ext>
    </p:extLst>
  </p:cSld>
  <p:clrMapOvr>
    <a:masterClrMapping/>
  </p:clrMapOvr>
  <p:extLst>
    <p:ext uri="{DCECCB84-F9BA-43D5-87BE-67443E8EF086}">
      <p15:sldGuideLst xmlns:p15="http://schemas.microsoft.com/office/powerpoint/2012/main"/>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3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194">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083" y="2526765"/>
            <a:ext cx="5289245" cy="1800000"/>
          </a:xfrm>
        </p:spPr>
        <p:txBody>
          <a:bodyPr lIns="90000" tIns="46800" rIns="90000" bIns="46800"/>
          <a:lstStyle>
            <a:lvl1pPr marL="0" indent="0">
              <a:buNone/>
              <a:defRPr lang="en-US" sz="2799" dirty="0" smtClean="0">
                <a:latin typeface="Georgia" panose="02040502050405020303" pitchFamily="18" charset="0"/>
              </a:defRPr>
            </a:lvl1pPr>
          </a:lstStyle>
          <a:p>
            <a:pPr marL="356438" lvl="0" indent="-356438">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083" y="4632765"/>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rgbClr val="2E2E38"/>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083" y="4971442"/>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rgbClr val="2E2E38"/>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153983057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4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1378" y="2060235"/>
            <a:ext cx="5289245" cy="3025522"/>
          </a:xfrm>
        </p:spPr>
        <p:txBody>
          <a:bodyPr lIns="0" tIns="0" rIns="0" bIns="0">
            <a:noAutofit/>
          </a:bodyPr>
          <a:lstStyle>
            <a:lvl1pPr marL="0" indent="0" algn="ctr">
              <a:buNone/>
              <a:defRPr lang="en-US" sz="2799" dirty="0" smtClean="0">
                <a:latin typeface="Georgia" panose="02040502050405020303" pitchFamily="18" charset="0"/>
              </a:defRPr>
            </a:lvl1pPr>
          </a:lstStyle>
          <a:p>
            <a:pPr marL="356438" lvl="0" indent="-356438"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1378" y="5506678"/>
            <a:ext cx="5289245" cy="316838"/>
          </a:xfrm>
        </p:spPr>
        <p:txBody>
          <a:bodyPr lIns="0" tIns="0" rIns="0" bIns="0">
            <a:noAutofit/>
          </a:bodyPr>
          <a:lstStyle>
            <a:lvl1pPr marL="0" indent="0" algn="ctr">
              <a:buNone/>
              <a:defRPr lang="en-US" sz="1599" dirty="0" smtClean="0">
                <a:solidFill>
                  <a:srgbClr val="2E2E38"/>
                </a:solidFill>
                <a:latin typeface="+mn-lt"/>
              </a:defRPr>
            </a:lvl1pPr>
          </a:lstStyle>
          <a:p>
            <a:pPr marL="356438" lvl="0" indent="-356438"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1378" y="5818717"/>
            <a:ext cx="5289245" cy="316838"/>
          </a:xfrm>
        </p:spPr>
        <p:txBody>
          <a:bodyPr vert="horz" lIns="0" tIns="0" rIns="0" bIns="0" rtlCol="0" anchor="t" anchorCtr="0">
            <a:noAutofit/>
          </a:bodyPr>
          <a:lstStyle>
            <a:lvl1pPr marL="0" indent="0" algn="ctr">
              <a:buNone/>
              <a:defRPr lang="en-US" sz="1599" dirty="0" smtClean="0">
                <a:solidFill>
                  <a:srgbClr val="2E2E38"/>
                </a:solidFill>
                <a:latin typeface="+mn-lt"/>
              </a:defRPr>
            </a:lvl1pPr>
          </a:lstStyle>
          <a:p>
            <a:pPr marL="356438" lvl="0" indent="-356438"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194">
                <a:solidFill>
                  <a:schemeClr val="tx2"/>
                </a:solidFill>
                <a:latin typeface="Georgia" panose="02040502050405020303" pitchFamily="18" charset="0"/>
              </a:rPr>
              <a:t>“ </a:t>
            </a:r>
          </a:p>
        </p:txBody>
      </p:sp>
    </p:spTree>
    <p:extLst>
      <p:ext uri="{BB962C8B-B14F-4D97-AF65-F5344CB8AC3E}">
        <p14:creationId xmlns:p14="http://schemas.microsoft.com/office/powerpoint/2010/main" val="352119654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7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sz="2399">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Slide Number Placeholder 4">
            <a:extLst>
              <a:ext uri="{FF2B5EF4-FFF2-40B4-BE49-F238E27FC236}">
                <a16:creationId xmlns:a16="http://schemas.microsoft.com/office/drawing/2014/main" id="{0A192330-2E70-49F4-A5DA-F82320E7080E}"/>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70265694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_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2329"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6405"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601" y="1137920"/>
            <a:ext cx="5390400"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6405" y="1137920"/>
            <a:ext cx="5390400" cy="640800"/>
          </a:xfrm>
        </p:spPr>
        <p:txBody>
          <a:bodyPr anchor="t" anchorCtr="0"/>
          <a:lstStyle>
            <a:lvl1pPr>
              <a:buNone/>
              <a:defRPr b="1">
                <a:solidFill>
                  <a:schemeClr val="bg1"/>
                </a:solidFill>
              </a:defRPr>
            </a:lvl1pPr>
          </a:lstStyle>
          <a:p>
            <a:pPr lvl="0"/>
            <a:endParaRPr lang="en-GB"/>
          </a:p>
        </p:txBody>
      </p:sp>
      <p:sp>
        <p:nvSpPr>
          <p:cNvPr id="2" name="Title 1"/>
          <p:cNvSpPr>
            <a:spLocks noGrp="1"/>
          </p:cNvSpPr>
          <p:nvPr>
            <p:ph type="title"/>
          </p:nvPr>
        </p:nvSpPr>
        <p:spPr>
          <a:xfrm>
            <a:off x="609601" y="294200"/>
            <a:ext cx="10972800" cy="590880"/>
          </a:xfrm>
        </p:spPr>
        <p:txBody>
          <a:bodyPr/>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7" name="Slide Number Placeholder 6">
            <a:extLst>
              <a:ext uri="{FF2B5EF4-FFF2-40B4-BE49-F238E27FC236}">
                <a16:creationId xmlns:a16="http://schemas.microsoft.com/office/drawing/2014/main" id="{24BE1C2B-4DA4-468F-9976-85F6CBF826F1}"/>
              </a:ext>
            </a:extLst>
          </p:cNvPr>
          <p:cNvSpPr>
            <a:spLocks noGrp="1"/>
          </p:cNvSpPr>
          <p:nvPr>
            <p:ph type="sldNum" sz="quarter" idx="16"/>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98300556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6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616" y="2851522"/>
            <a:ext cx="4445485" cy="1202318"/>
          </a:xfrm>
        </p:spPr>
        <p:txBody>
          <a:bodyPr vert="horz" lIns="0" tIns="0" rIns="0" bIns="0" rtlCol="0" anchor="ctr" anchorCtr="0">
            <a:noAutofit/>
          </a:bodyPr>
          <a:lstStyle>
            <a:lvl1pPr marL="0" indent="0">
              <a:buNone/>
              <a:defRPr kumimoji="0" lang="en-IN" sz="3598"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356438" marR="0" lvl="0" indent="-356438" defTabSz="1007383" fontAlgn="auto">
              <a:lnSpc>
                <a:spcPct val="100000"/>
              </a:lnSpc>
              <a:spcBef>
                <a:spcPct val="0"/>
              </a:spcBef>
              <a:spcAft>
                <a:spcPts val="0"/>
              </a:spcAft>
              <a:buClrTx/>
              <a:buSzTx/>
              <a:tabLst/>
            </a:pPr>
            <a:r>
              <a:rPr lang="en-US"/>
              <a:t>Chapter Title</a:t>
            </a:r>
            <a:endParaRPr lang="en-IN"/>
          </a:p>
        </p:txBody>
      </p:sp>
      <p:sp>
        <p:nvSpPr>
          <p:cNvPr id="4" name="Slide Number Placeholder 3">
            <a:extLst>
              <a:ext uri="{FF2B5EF4-FFF2-40B4-BE49-F238E27FC236}">
                <a16:creationId xmlns:a16="http://schemas.microsoft.com/office/drawing/2014/main" id="{C2CE5F90-7113-4FA1-AFCF-3BC8EF010002}"/>
              </a:ext>
            </a:extLst>
          </p:cNvPr>
          <p:cNvSpPr>
            <a:spLocks noGrp="1"/>
          </p:cNvSpPr>
          <p:nvPr>
            <p:ph type="sldNum" sz="quarter" idx="13"/>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406407844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601" y="1137920"/>
            <a:ext cx="8234455" cy="4834800"/>
          </a:xfrm>
        </p:spPr>
        <p:txBody>
          <a:bodyPr/>
          <a:lstStyle>
            <a:lvl1pPr marL="0" indent="0">
              <a:spcBef>
                <a:spcPts val="0"/>
              </a:spcBef>
              <a:buNone/>
              <a:defRPr>
                <a:solidFill>
                  <a:schemeClr val="bg1"/>
                </a:solidFill>
              </a:defRPr>
            </a:lvl1pPr>
            <a:lvl2pPr marL="0" indent="0">
              <a:spcBef>
                <a:spcPts val="0"/>
              </a:spcBef>
              <a:buNone/>
              <a:defRPr sz="1799">
                <a:solidFill>
                  <a:schemeClr val="bg1"/>
                </a:solidFill>
              </a:defRPr>
            </a:lvl2pPr>
            <a:lvl3pPr marL="0" indent="0">
              <a:spcBef>
                <a:spcPts val="0"/>
              </a:spcBef>
              <a:buNone/>
              <a:defRPr sz="1599">
                <a:solidFill>
                  <a:schemeClr val="bg1"/>
                </a:solidFill>
              </a:defRPr>
            </a:lvl3pPr>
            <a:lvl4pPr marL="0" indent="0">
              <a:spcBef>
                <a:spcPts val="0"/>
              </a:spcBef>
              <a:buNone/>
              <a:defRPr sz="1399">
                <a:solidFill>
                  <a:schemeClr val="bg1"/>
                </a:solidFill>
              </a:defRPr>
            </a:lvl4pPr>
            <a:lvl5pPr marL="0" indent="0">
              <a:spcBef>
                <a:spcPts val="0"/>
              </a:spcBef>
              <a:buNone/>
              <a:defRPr sz="1199">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2157043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2F4B0007-DA02-48C7-9137-9386DFC24A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16" name="Freeform 56">
            <a:extLst>
              <a:ext uri="{FF2B5EF4-FFF2-40B4-BE49-F238E27FC236}">
                <a16:creationId xmlns:a16="http://schemas.microsoft.com/office/drawing/2014/main" id="{13A7AC18-CF42-4EC5-8D40-441EAE30A06C}"/>
              </a:ext>
            </a:extLst>
          </p:cNvPr>
          <p:cNvSpPr/>
          <p:nvPr userDrawn="1"/>
        </p:nvSpPr>
        <p:spPr>
          <a:xfrm>
            <a:off x="49785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11" name="Title 1"/>
          <p:cNvSpPr>
            <a:spLocks noGrp="1"/>
          </p:cNvSpPr>
          <p:nvPr>
            <p:ph type="ctrTitle"/>
          </p:nvPr>
        </p:nvSpPr>
        <p:spPr>
          <a:xfrm>
            <a:off x="775100" y="1954221"/>
            <a:ext cx="4326679" cy="979702"/>
          </a:xfrm>
        </p:spPr>
        <p:txBody>
          <a:bodyPr/>
          <a:lstStyle>
            <a:lvl1pPr>
              <a:defRPr sz="2999" b="0">
                <a:solidFill>
                  <a:schemeClr val="tx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100" y="3046159"/>
            <a:ext cx="4326679" cy="1046323"/>
          </a:xfrm>
        </p:spPr>
        <p:txBody>
          <a:bodyPr/>
          <a:lstStyle>
            <a:lvl1pPr marL="0" indent="0" algn="l">
              <a:spcAft>
                <a:spcPts val="1199"/>
              </a:spcAft>
              <a:buNone/>
              <a:defRPr sz="1999">
                <a:solidFill>
                  <a:schemeClr val="tx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10359392" y="4960938"/>
            <a:ext cx="1224912"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544624869"/>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7856" y="5826613"/>
            <a:ext cx="3876004"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18" name="Title 1"/>
          <p:cNvSpPr>
            <a:spLocks noGrp="1"/>
          </p:cNvSpPr>
          <p:nvPr userDrawn="1">
            <p:ph type="ctrTitle"/>
          </p:nvPr>
        </p:nvSpPr>
        <p:spPr>
          <a:xfrm>
            <a:off x="944388" y="2158329"/>
            <a:ext cx="4781392"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4580" y="3200329"/>
            <a:ext cx="480552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112" y="723658"/>
            <a:ext cx="5677988"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sz="1799"/>
          </a:p>
        </p:txBody>
      </p:sp>
      <p:sp>
        <p:nvSpPr>
          <p:cNvPr id="4" name="Freeform: Shape 3">
            <a:extLst>
              <a:ext uri="{FF2B5EF4-FFF2-40B4-BE49-F238E27FC236}">
                <a16:creationId xmlns:a16="http://schemas.microsoft.com/office/drawing/2014/main" id="{15324C54-B75E-4AC0-90C2-FA558C7716F7}"/>
              </a:ext>
            </a:extLst>
          </p:cNvPr>
          <p:cNvSpPr/>
          <p:nvPr/>
        </p:nvSpPr>
        <p:spPr>
          <a:xfrm>
            <a:off x="489112"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5" name="Freeform: Shape 4">
            <a:extLst>
              <a:ext uri="{FF2B5EF4-FFF2-40B4-BE49-F238E27FC236}">
                <a16:creationId xmlns:a16="http://schemas.microsoft.com/office/drawing/2014/main" id="{CAA95478-C099-485F-AD95-A617656C6C7C}"/>
              </a:ext>
            </a:extLst>
          </p:cNvPr>
          <p:cNvSpPr/>
          <p:nvPr/>
        </p:nvSpPr>
        <p:spPr>
          <a:xfrm>
            <a:off x="774294"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6" name="Freeform: Shape 5">
            <a:extLst>
              <a:ext uri="{FF2B5EF4-FFF2-40B4-BE49-F238E27FC236}">
                <a16:creationId xmlns:a16="http://schemas.microsoft.com/office/drawing/2014/main" id="{D65680A1-86D1-44C2-AA38-0DF5735F1F26}"/>
              </a:ext>
            </a:extLst>
          </p:cNvPr>
          <p:cNvSpPr/>
          <p:nvPr/>
        </p:nvSpPr>
        <p:spPr>
          <a:xfrm>
            <a:off x="1059359"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grpSp>
        <p:nvGrpSpPr>
          <p:cNvPr id="104" name="Group 4">
            <a:extLst>
              <a:ext uri="{FF2B5EF4-FFF2-40B4-BE49-F238E27FC236}">
                <a16:creationId xmlns:a16="http://schemas.microsoft.com/office/drawing/2014/main" id="{89402076-F24D-44C5-B8A7-1127F9C4B9B7}"/>
              </a:ext>
            </a:extLst>
          </p:cNvPr>
          <p:cNvGrpSpPr>
            <a:grpSpLocks noChangeAspect="1"/>
          </p:cNvGrpSpPr>
          <p:nvPr userDrawn="1"/>
        </p:nvGrpSpPr>
        <p:grpSpPr bwMode="auto">
          <a:xfrm>
            <a:off x="10359392" y="4960938"/>
            <a:ext cx="1224912" cy="1435100"/>
            <a:chOff x="6529" y="3125"/>
            <a:chExt cx="772" cy="904"/>
          </a:xfrm>
        </p:grpSpPr>
        <p:sp>
          <p:nvSpPr>
            <p:cNvPr id="105" name="Freeform 5">
              <a:extLst>
                <a:ext uri="{FF2B5EF4-FFF2-40B4-BE49-F238E27FC236}">
                  <a16:creationId xmlns:a16="http://schemas.microsoft.com/office/drawing/2014/main" id="{A239DDBF-0740-4B20-9CF3-A05C2A0BF592}"/>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06" name="Freeform 6">
              <a:extLst>
                <a:ext uri="{FF2B5EF4-FFF2-40B4-BE49-F238E27FC236}">
                  <a16:creationId xmlns:a16="http://schemas.microsoft.com/office/drawing/2014/main" id="{380EECCA-3396-425E-AB04-F11ABB1B5092}"/>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1094661603"/>
      </p:ext>
    </p:extLst>
  </p:cSld>
  <p:clrMapOvr>
    <a:masterClrMapping/>
  </p:clrMapOvr>
  <p:extLst>
    <p:ext uri="{DCECCB84-F9BA-43D5-87BE-67443E8EF086}">
      <p15:sldGuideLst xmlns:p15="http://schemas.microsoft.com/office/powerpoint/2012/main"/>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pic>
        <p:nvPicPr>
          <p:cNvPr id="75" name="Picture 74">
            <a:extLst>
              <a:ext uri="{FF2B5EF4-FFF2-40B4-BE49-F238E27FC236}">
                <a16:creationId xmlns:a16="http://schemas.microsoft.com/office/drawing/2014/main" id="{32889845-07EE-48FB-A972-F8ECF1EF871A}"/>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85" name="Graphic 84">
            <a:extLst>
              <a:ext uri="{FF2B5EF4-FFF2-40B4-BE49-F238E27FC236}">
                <a16:creationId xmlns:a16="http://schemas.microsoft.com/office/drawing/2014/main" id="{819BCB30-E1AA-4383-BEF0-0BE30C6425DE}"/>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489111" y="869577"/>
            <a:ext cx="4845500" cy="3933825"/>
          </a:xfrm>
          <a:prstGeom prst="rect">
            <a:avLst/>
          </a:prstGeom>
        </p:spPr>
      </p:pic>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785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388" y="2158329"/>
            <a:ext cx="3998354"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4580" y="3200329"/>
            <a:ext cx="401853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82" name="Group 4">
            <a:extLst>
              <a:ext uri="{FF2B5EF4-FFF2-40B4-BE49-F238E27FC236}">
                <a16:creationId xmlns:a16="http://schemas.microsoft.com/office/drawing/2014/main" id="{A63454B3-EB4E-450A-98AA-6B5943D89732}"/>
              </a:ext>
            </a:extLst>
          </p:cNvPr>
          <p:cNvGrpSpPr>
            <a:grpSpLocks noChangeAspect="1"/>
          </p:cNvGrpSpPr>
          <p:nvPr userDrawn="1"/>
        </p:nvGrpSpPr>
        <p:grpSpPr bwMode="auto">
          <a:xfrm>
            <a:off x="10359392" y="4960938"/>
            <a:ext cx="1224912" cy="1435100"/>
            <a:chOff x="6529" y="3125"/>
            <a:chExt cx="772" cy="904"/>
          </a:xfrm>
        </p:grpSpPr>
        <p:sp>
          <p:nvSpPr>
            <p:cNvPr id="83" name="Freeform 5">
              <a:extLst>
                <a:ext uri="{FF2B5EF4-FFF2-40B4-BE49-F238E27FC236}">
                  <a16:creationId xmlns:a16="http://schemas.microsoft.com/office/drawing/2014/main" id="{C4ED221A-C963-42C0-91ED-C597F6BDAF9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84" name="Freeform 6">
              <a:extLst>
                <a:ext uri="{FF2B5EF4-FFF2-40B4-BE49-F238E27FC236}">
                  <a16:creationId xmlns:a16="http://schemas.microsoft.com/office/drawing/2014/main" id="{7956D1CB-5F24-4766-80AE-D7551538344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2017454796"/>
      </p:ext>
    </p:extLst>
  </p:cSld>
  <p:clrMapOvr>
    <a:masterClrMapping/>
  </p:clrMapOvr>
  <p:extLst>
    <p:ext uri="{DCECCB84-F9BA-43D5-87BE-67443E8EF086}">
      <p15:sldGuideLst xmlns:p15="http://schemas.microsoft.com/office/powerpoint/2012/main"/>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B3C35AEC-478D-4BBF-9883-4CE09EB36AB9}"/>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
        <p:nvSpPr>
          <p:cNvPr id="8" name="Text Placeholder 2">
            <a:extLst>
              <a:ext uri="{FF2B5EF4-FFF2-40B4-BE49-F238E27FC236}">
                <a16:creationId xmlns:a16="http://schemas.microsoft.com/office/drawing/2014/main" id="{AC5F387F-0A77-424D-88D8-FFE5F0CA22D3}"/>
              </a:ext>
            </a:extLst>
          </p:cNvPr>
          <p:cNvSpPr>
            <a:spLocks noGrp="1"/>
          </p:cNvSpPr>
          <p:nvPr>
            <p:ph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91391498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sz="2399">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Slide Number Placeholder 4">
            <a:extLst>
              <a:ext uri="{FF2B5EF4-FFF2-40B4-BE49-F238E27FC236}">
                <a16:creationId xmlns:a16="http://schemas.microsoft.com/office/drawing/2014/main" id="{2ABF873B-E40B-4AF7-8D2F-967775EB8EA6}"/>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72303469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3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616" y="2851522"/>
            <a:ext cx="4445485" cy="1202318"/>
          </a:xfrm>
        </p:spPr>
        <p:txBody>
          <a:bodyPr vert="horz" lIns="0" tIns="0" rIns="0" bIns="0" rtlCol="0" anchor="ctr" anchorCtr="0">
            <a:noAutofit/>
          </a:bodyPr>
          <a:lstStyle>
            <a:lvl1pPr marL="0" indent="0">
              <a:buNone/>
              <a:defRPr kumimoji="0" lang="en-IN" sz="3598"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356438" marR="0" lvl="0" indent="-356438" defTabSz="1007383" fontAlgn="auto">
              <a:lnSpc>
                <a:spcPct val="100000"/>
              </a:lnSpc>
              <a:spcBef>
                <a:spcPct val="0"/>
              </a:spcBef>
              <a:spcAft>
                <a:spcPts val="0"/>
              </a:spcAft>
              <a:buClrTx/>
              <a:buSzTx/>
              <a:tabLst/>
            </a:pPr>
            <a:r>
              <a:rPr lang="en-US"/>
              <a:t>Chapter Title</a:t>
            </a:r>
            <a:endParaRPr lang="en-IN"/>
          </a:p>
        </p:txBody>
      </p:sp>
      <p:sp>
        <p:nvSpPr>
          <p:cNvPr id="4" name="Slide Number Placeholder 3">
            <a:extLst>
              <a:ext uri="{FF2B5EF4-FFF2-40B4-BE49-F238E27FC236}">
                <a16:creationId xmlns:a16="http://schemas.microsoft.com/office/drawing/2014/main" id="{E499AB0A-887B-46B8-BA72-781970F002C7}"/>
              </a:ext>
            </a:extLst>
          </p:cNvPr>
          <p:cNvSpPr>
            <a:spLocks noGrp="1"/>
          </p:cNvSpPr>
          <p:nvPr>
            <p:ph type="sldNum" sz="quarter" idx="13"/>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80664555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600" y="1137921"/>
            <a:ext cx="4954924" cy="4267457"/>
          </a:xfrm>
        </p:spPr>
        <p:txBody>
          <a:bodyPr/>
          <a:lstStyle/>
          <a:p>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29748" y="3813288"/>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29748" y="4055931"/>
            <a:ext cx="3087667" cy="180000"/>
          </a:xfrm>
        </p:spPr>
        <p:txBody>
          <a:bodyPr/>
          <a:lstStyle>
            <a:lvl1pPr marL="0" indent="0">
              <a:buNone/>
              <a:defRPr sz="1199">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19820" y="3578084"/>
            <a:ext cx="778554" cy="778959"/>
          </a:xfrm>
          <a:prstGeom prst="ellipse">
            <a:avLst/>
          </a:prstGeom>
        </p:spPr>
        <p:txBody>
          <a:bodyPr anchor="ctr"/>
          <a:lstStyle>
            <a:lvl1pPr marL="0" indent="0" algn="ctr">
              <a:buNone/>
              <a:defRPr sz="900">
                <a:solidFill>
                  <a:schemeClr val="bg1"/>
                </a:solidFill>
              </a:defRPr>
            </a:lvl1pPr>
          </a:lstStyle>
          <a:p>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19821" y="1137921"/>
            <a:ext cx="5462580"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19821" y="1635009"/>
            <a:ext cx="5462580" cy="1611554"/>
          </a:xfrm>
        </p:spPr>
        <p:txBody>
          <a:bodyPr/>
          <a:lstStyle>
            <a:lvl1pPr marL="0" indent="0">
              <a:buNone/>
              <a:defRPr sz="1599"/>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5716ABDB-CF45-4001-9487-F3BA3DD8DACD}"/>
              </a:ext>
            </a:extLst>
          </p:cNvPr>
          <p:cNvSpPr>
            <a:spLocks noGrp="1"/>
          </p:cNvSpPr>
          <p:nvPr>
            <p:ph type="sldNum" sz="quarter" idx="21"/>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35722345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1378" y="2060235"/>
            <a:ext cx="5289245" cy="3025522"/>
          </a:xfrm>
        </p:spPr>
        <p:txBody>
          <a:bodyPr lIns="0" tIns="0" rIns="0" bIns="0">
            <a:noAutofit/>
          </a:bodyPr>
          <a:lstStyle>
            <a:lvl1pPr marL="0" indent="0" algn="ctr">
              <a:buNone/>
              <a:defRPr lang="en-US" sz="2799" dirty="0" smtClean="0">
                <a:latin typeface="Georgia" panose="02040502050405020303" pitchFamily="18" charset="0"/>
              </a:defRPr>
            </a:lvl1pPr>
          </a:lstStyle>
          <a:p>
            <a:pPr marL="356438" lvl="0" indent="-356438"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1378" y="5506678"/>
            <a:ext cx="5289245" cy="316838"/>
          </a:xfrm>
        </p:spPr>
        <p:txBody>
          <a:bodyPr lIns="0" tIns="0" rIns="0" bIns="0">
            <a:noAutofit/>
          </a:bodyPr>
          <a:lstStyle>
            <a:lvl1pPr marL="0" indent="0" algn="ctr">
              <a:buNone/>
              <a:defRPr lang="en-US" sz="1599" dirty="0" smtClean="0">
                <a:solidFill>
                  <a:srgbClr val="FFE600"/>
                </a:solidFill>
                <a:latin typeface="+mn-lt"/>
              </a:defRPr>
            </a:lvl1pPr>
          </a:lstStyle>
          <a:p>
            <a:pPr marL="356438" lvl="0" indent="-356438"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1378" y="5818717"/>
            <a:ext cx="5289245" cy="316838"/>
          </a:xfrm>
        </p:spPr>
        <p:txBody>
          <a:bodyPr vert="horz" lIns="0" tIns="0" rIns="0" bIns="0" rtlCol="0" anchor="t" anchorCtr="0">
            <a:noAutofit/>
          </a:bodyPr>
          <a:lstStyle>
            <a:lvl1pPr marL="0" indent="0" algn="ctr">
              <a:buNone/>
              <a:defRPr lang="en-US" sz="1599" dirty="0" smtClean="0">
                <a:latin typeface="+mn-lt"/>
              </a:defRPr>
            </a:lvl1pPr>
          </a:lstStyle>
          <a:p>
            <a:pPr marL="356438" lvl="0" indent="-356438"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194">
                <a:solidFill>
                  <a:schemeClr val="tx2"/>
                </a:solidFill>
                <a:latin typeface="Georgia" panose="02040502050405020303" pitchFamily="18" charset="0"/>
              </a:rPr>
              <a:t>“ </a:t>
            </a:r>
          </a:p>
        </p:txBody>
      </p:sp>
    </p:spTree>
    <p:extLst>
      <p:ext uri="{BB962C8B-B14F-4D97-AF65-F5344CB8AC3E}">
        <p14:creationId xmlns:p14="http://schemas.microsoft.com/office/powerpoint/2010/main" val="193296819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194">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083" y="2526765"/>
            <a:ext cx="5289245" cy="1800000"/>
          </a:xfrm>
        </p:spPr>
        <p:txBody>
          <a:bodyPr lIns="90000" tIns="46800" rIns="90000" bIns="46800"/>
          <a:lstStyle>
            <a:lvl1pPr marL="0" indent="0">
              <a:buNone/>
              <a:defRPr lang="en-US" sz="2799" dirty="0" smtClean="0">
                <a:latin typeface="Georgia" panose="02040502050405020303" pitchFamily="18" charset="0"/>
              </a:defRPr>
            </a:lvl1pPr>
          </a:lstStyle>
          <a:p>
            <a:pPr marL="356438" lvl="0" indent="-356438">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083" y="4632765"/>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tx2"/>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083" y="4971442"/>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bg1"/>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268458815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88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601" y="1137919"/>
            <a:ext cx="5384800" cy="4834800"/>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7601" y="1137919"/>
            <a:ext cx="5384800" cy="4834800"/>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7" name="Slide Number Placeholder 6">
            <a:extLst>
              <a:ext uri="{FF2B5EF4-FFF2-40B4-BE49-F238E27FC236}">
                <a16:creationId xmlns:a16="http://schemas.microsoft.com/office/drawing/2014/main" id="{E76E3B4B-D68B-4AFA-A20D-2ECE69120F7E}"/>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81773025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userDrawn="1">
  <p:cSld name="2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785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11" name="Title 1"/>
          <p:cNvSpPr>
            <a:spLocks noGrp="1"/>
          </p:cNvSpPr>
          <p:nvPr>
            <p:ph type="ctrTitle"/>
          </p:nvPr>
        </p:nvSpPr>
        <p:spPr>
          <a:xfrm>
            <a:off x="775100" y="1954221"/>
            <a:ext cx="4326679" cy="979702"/>
          </a:xfr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100" y="3046159"/>
            <a:ext cx="4326679" cy="1046323"/>
          </a:xfrm>
        </p:spPr>
        <p:txBody>
          <a:bodyPr/>
          <a:lstStyle>
            <a:lvl1pPr marL="0" indent="0" algn="l">
              <a:spcAft>
                <a:spcPts val="1199"/>
              </a:spcAft>
              <a:buNone/>
              <a:defRPr sz="1999">
                <a:solidFill>
                  <a:schemeClr val="bg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2490" y="5709060"/>
            <a:ext cx="8117873"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744" y="5605201"/>
            <a:ext cx="1044529" cy="197581"/>
          </a:xfrm>
          <a:prstGeom prst="rect">
            <a:avLst/>
          </a:prstGeom>
          <a:noFill/>
        </p:spPr>
        <p:txBody>
          <a:bodyPr wrap="square" lIns="0" tIns="0" rIns="0" bIns="0" rtlCol="0" anchor="ctr" anchorCtr="0">
            <a:noAutofit/>
          </a:bodyPr>
          <a:lstStyle/>
          <a:p>
            <a:r>
              <a:rPr lang="en-GB" sz="1199">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2490" y="6019189"/>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2490" y="6216807"/>
            <a:ext cx="3087667" cy="180000"/>
          </a:xfrm>
        </p:spPr>
        <p:txBody>
          <a:bodyPr/>
          <a:lstStyle>
            <a:lvl1pPr marL="0" indent="0">
              <a:buNone/>
              <a:defRPr sz="1199">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743" y="5914642"/>
            <a:ext cx="575700" cy="576000"/>
          </a:xfrm>
          <a:prstGeom prst="ellipse">
            <a:avLst/>
          </a:prstGeom>
        </p:spPr>
        <p:txBody>
          <a:bodyPr anchor="ctr"/>
          <a:lstStyle>
            <a:lvl1pPr marL="0" indent="0" algn="ctr">
              <a:buNone/>
              <a:defRPr sz="900">
                <a:solidFill>
                  <a:schemeClr val="bg1"/>
                </a:solidFill>
              </a:defRPr>
            </a:lvl1pPr>
          </a:lstStyle>
          <a:p>
            <a:endParaRPr lang="en-GB"/>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10359392" y="4960938"/>
            <a:ext cx="1224912"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4238488334"/>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userDrawn="1">
  <p:cSld name="1_Approved question 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785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388" y="2158329"/>
            <a:ext cx="3998354"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4580" y="3200329"/>
            <a:ext cx="401853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489112" y="876059"/>
            <a:ext cx="4852768"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sz="1799"/>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10359392" y="4960938"/>
            <a:ext cx="1224912"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3370484895"/>
      </p:ext>
    </p:extLst>
  </p:cSld>
  <p:clrMapOvr>
    <a:masterClrMapping/>
  </p:clrMapOvr>
  <p:extLst>
    <p:ext uri="{DCECCB84-F9BA-43D5-87BE-67443E8EF086}">
      <p15:sldGuideLst xmlns:p15="http://schemas.microsoft.com/office/powerpoint/2012/main"/>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194">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083" y="2526765"/>
            <a:ext cx="5289245" cy="1800000"/>
          </a:xfrm>
        </p:spPr>
        <p:txBody>
          <a:bodyPr lIns="90000" tIns="46800" rIns="90000" bIns="46800"/>
          <a:lstStyle>
            <a:lvl1pPr marL="0" indent="0">
              <a:buNone/>
              <a:defRPr lang="en-US" sz="2799" dirty="0" smtClean="0">
                <a:latin typeface="Georgia" panose="02040502050405020303" pitchFamily="18" charset="0"/>
              </a:defRPr>
            </a:lvl1pPr>
          </a:lstStyle>
          <a:p>
            <a:pPr marL="356438" lvl="0" indent="-356438">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083" y="4632765"/>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rgbClr val="2E2E38"/>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083" y="4971442"/>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rgbClr val="2E2E38"/>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153983057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4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1378" y="2060235"/>
            <a:ext cx="5289245" cy="3025522"/>
          </a:xfrm>
        </p:spPr>
        <p:txBody>
          <a:bodyPr lIns="0" tIns="0" rIns="0" bIns="0">
            <a:noAutofit/>
          </a:bodyPr>
          <a:lstStyle>
            <a:lvl1pPr marL="0" indent="0" algn="ctr">
              <a:buNone/>
              <a:defRPr lang="en-US" sz="2799" dirty="0" smtClean="0">
                <a:latin typeface="Georgia" panose="02040502050405020303" pitchFamily="18" charset="0"/>
              </a:defRPr>
            </a:lvl1pPr>
          </a:lstStyle>
          <a:p>
            <a:pPr marL="356438" lvl="0" indent="-356438"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1378" y="5506678"/>
            <a:ext cx="5289245" cy="316838"/>
          </a:xfrm>
        </p:spPr>
        <p:txBody>
          <a:bodyPr lIns="0" tIns="0" rIns="0" bIns="0">
            <a:noAutofit/>
          </a:bodyPr>
          <a:lstStyle>
            <a:lvl1pPr marL="0" indent="0" algn="ctr">
              <a:buNone/>
              <a:defRPr lang="en-US" sz="1599" dirty="0" smtClean="0">
                <a:solidFill>
                  <a:srgbClr val="2E2E38"/>
                </a:solidFill>
                <a:latin typeface="+mn-lt"/>
              </a:defRPr>
            </a:lvl1pPr>
          </a:lstStyle>
          <a:p>
            <a:pPr marL="356438" lvl="0" indent="-356438"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1378" y="5818717"/>
            <a:ext cx="5289245" cy="316838"/>
          </a:xfrm>
        </p:spPr>
        <p:txBody>
          <a:bodyPr vert="horz" lIns="0" tIns="0" rIns="0" bIns="0" rtlCol="0" anchor="t" anchorCtr="0">
            <a:noAutofit/>
          </a:bodyPr>
          <a:lstStyle>
            <a:lvl1pPr marL="0" indent="0" algn="ctr">
              <a:buNone/>
              <a:defRPr lang="en-US" sz="1599" dirty="0" smtClean="0">
                <a:solidFill>
                  <a:srgbClr val="2E2E38"/>
                </a:solidFill>
                <a:latin typeface="+mn-lt"/>
              </a:defRPr>
            </a:lvl1pPr>
          </a:lstStyle>
          <a:p>
            <a:pPr marL="356438" lvl="0" indent="-356438"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194">
                <a:solidFill>
                  <a:schemeClr val="tx2"/>
                </a:solidFill>
                <a:latin typeface="Georgia" panose="02040502050405020303" pitchFamily="18" charset="0"/>
              </a:rPr>
              <a:t>“ </a:t>
            </a:r>
          </a:p>
        </p:txBody>
      </p:sp>
    </p:spTree>
    <p:extLst>
      <p:ext uri="{BB962C8B-B14F-4D97-AF65-F5344CB8AC3E}">
        <p14:creationId xmlns:p14="http://schemas.microsoft.com/office/powerpoint/2010/main" val="352119654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1_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2329"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6405"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601" y="1137920"/>
            <a:ext cx="5390400"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6405" y="1137920"/>
            <a:ext cx="5390400" cy="640800"/>
          </a:xfrm>
        </p:spPr>
        <p:txBody>
          <a:bodyPr anchor="t" anchorCtr="0"/>
          <a:lstStyle>
            <a:lvl1pPr>
              <a:buNone/>
              <a:defRPr b="1">
                <a:solidFill>
                  <a:schemeClr val="bg1"/>
                </a:solidFill>
              </a:defRPr>
            </a:lvl1pPr>
          </a:lstStyle>
          <a:p>
            <a:pPr lvl="0"/>
            <a:endParaRPr lang="en-GB"/>
          </a:p>
        </p:txBody>
      </p:sp>
      <p:sp>
        <p:nvSpPr>
          <p:cNvPr id="2" name="Title 1"/>
          <p:cNvSpPr>
            <a:spLocks noGrp="1"/>
          </p:cNvSpPr>
          <p:nvPr>
            <p:ph type="title"/>
          </p:nvPr>
        </p:nvSpPr>
        <p:spPr>
          <a:xfrm>
            <a:off x="609601" y="294200"/>
            <a:ext cx="10972800" cy="590880"/>
          </a:xfrm>
        </p:spPr>
        <p:txBody>
          <a:bodyPr/>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7" name="Slide Number Placeholder 6">
            <a:extLst>
              <a:ext uri="{FF2B5EF4-FFF2-40B4-BE49-F238E27FC236}">
                <a16:creationId xmlns:a16="http://schemas.microsoft.com/office/drawing/2014/main" id="{24BE1C2B-4DA4-468F-9976-85F6CBF826F1}"/>
              </a:ext>
            </a:extLst>
          </p:cNvPr>
          <p:cNvSpPr>
            <a:spLocks noGrp="1"/>
          </p:cNvSpPr>
          <p:nvPr>
            <p:ph type="sldNum" sz="quarter" idx="16"/>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98300556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6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616" y="2851522"/>
            <a:ext cx="4445485" cy="1202318"/>
          </a:xfrm>
        </p:spPr>
        <p:txBody>
          <a:bodyPr vert="horz" lIns="0" tIns="0" rIns="0" bIns="0" rtlCol="0" anchor="ctr" anchorCtr="0">
            <a:noAutofit/>
          </a:bodyPr>
          <a:lstStyle>
            <a:lvl1pPr marL="0" indent="0">
              <a:buNone/>
              <a:defRPr kumimoji="0" lang="en-IN" sz="3598"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356438" marR="0" lvl="0" indent="-356438" defTabSz="1007383" fontAlgn="auto">
              <a:lnSpc>
                <a:spcPct val="100000"/>
              </a:lnSpc>
              <a:spcBef>
                <a:spcPct val="0"/>
              </a:spcBef>
              <a:spcAft>
                <a:spcPts val="0"/>
              </a:spcAft>
              <a:buClrTx/>
              <a:buSzTx/>
              <a:tabLst/>
            </a:pPr>
            <a:r>
              <a:rPr lang="en-US"/>
              <a:t>Chapter Title</a:t>
            </a:r>
            <a:endParaRPr lang="en-IN"/>
          </a:p>
        </p:txBody>
      </p:sp>
      <p:sp>
        <p:nvSpPr>
          <p:cNvPr id="4" name="Slide Number Placeholder 3">
            <a:extLst>
              <a:ext uri="{FF2B5EF4-FFF2-40B4-BE49-F238E27FC236}">
                <a16:creationId xmlns:a16="http://schemas.microsoft.com/office/drawing/2014/main" id="{C2CE5F90-7113-4FA1-AFCF-3BC8EF010002}"/>
              </a:ext>
            </a:extLst>
          </p:cNvPr>
          <p:cNvSpPr>
            <a:spLocks noGrp="1"/>
          </p:cNvSpPr>
          <p:nvPr>
            <p:ph type="sldNum" sz="quarter" idx="13"/>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406407844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601" y="1137920"/>
            <a:ext cx="8234455" cy="4834800"/>
          </a:xfrm>
        </p:spPr>
        <p:txBody>
          <a:bodyPr/>
          <a:lstStyle>
            <a:lvl1pPr marL="0" indent="0">
              <a:spcBef>
                <a:spcPts val="0"/>
              </a:spcBef>
              <a:buNone/>
              <a:defRPr>
                <a:solidFill>
                  <a:schemeClr val="bg1"/>
                </a:solidFill>
              </a:defRPr>
            </a:lvl1pPr>
            <a:lvl2pPr marL="0" indent="0">
              <a:spcBef>
                <a:spcPts val="0"/>
              </a:spcBef>
              <a:buNone/>
              <a:defRPr sz="1799">
                <a:solidFill>
                  <a:schemeClr val="bg1"/>
                </a:solidFill>
              </a:defRPr>
            </a:lvl2pPr>
            <a:lvl3pPr marL="0" indent="0">
              <a:spcBef>
                <a:spcPts val="0"/>
              </a:spcBef>
              <a:buNone/>
              <a:defRPr sz="1599">
                <a:solidFill>
                  <a:schemeClr val="bg1"/>
                </a:solidFill>
              </a:defRPr>
            </a:lvl3pPr>
            <a:lvl4pPr marL="0" indent="0">
              <a:spcBef>
                <a:spcPts val="0"/>
              </a:spcBef>
              <a:buNone/>
              <a:defRPr sz="1399">
                <a:solidFill>
                  <a:schemeClr val="bg1"/>
                </a:solidFill>
              </a:defRPr>
            </a:lvl4pPr>
            <a:lvl5pPr marL="0" indent="0">
              <a:spcBef>
                <a:spcPts val="0"/>
              </a:spcBef>
              <a:buNone/>
              <a:defRPr sz="1199">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2157043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Leer">
    <p:bg>
      <p:bgPr>
        <a:solidFill>
          <a:schemeClr val="tx2"/>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1853261636"/>
              </p:ext>
            </p:extLst>
          </p:nvPr>
        </p:nvGraphicFramePr>
        <p:xfrm>
          <a:off x="1588" y="1589"/>
          <a:ext cx="1586" cy="1587"/>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2" name="Object 1" hidden="1"/>
                      <p:cNvPicPr/>
                      <p:nvPr/>
                    </p:nvPicPr>
                    <p:blipFill>
                      <a:blip r:embed="rId5"/>
                      <a:stretch>
                        <a:fillRect/>
                      </a:stretch>
                    </p:blipFill>
                    <p:spPr>
                      <a:xfrm>
                        <a:off x="1588" y="1589"/>
                        <a:ext cx="1586" cy="1587"/>
                      </a:xfrm>
                      <a:prstGeom prst="rect">
                        <a:avLst/>
                      </a:prstGeom>
                    </p:spPr>
                  </p:pic>
                </p:oleObj>
              </mc:Fallback>
            </mc:AlternateContent>
          </a:graphicData>
        </a:graphic>
      </p:graphicFrame>
      <p:sp>
        <p:nvSpPr>
          <p:cNvPr id="12" name="Rectangle 11" hidden="1">
            <a:extLst>
              <a:ext uri="{FF2B5EF4-FFF2-40B4-BE49-F238E27FC236}">
                <a16:creationId xmlns:a16="http://schemas.microsoft.com/office/drawing/2014/main" id="{6C93E99F-BB3F-478B-A921-70981C2073AA}"/>
              </a:ext>
            </a:extLst>
          </p:cNvPr>
          <p:cNvSpPr/>
          <p:nvPr userDrawn="1">
            <p:custDataLst>
              <p:tags r:id="rId2"/>
            </p:custDataLst>
          </p:nvPr>
        </p:nvSpPr>
        <p:spPr>
          <a:xfrm>
            <a:off x="0" y="0"/>
            <a:ext cx="158667" cy="158750"/>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t" anchorCtr="0">
            <a:noAutofit/>
          </a:bodyPr>
          <a:lstStyle/>
          <a:p>
            <a:pPr marL="0" lvl="0" indent="0" algn="ctr"/>
            <a:endParaRPr lang="en-US" sz="2799" b="1" i="0" baseline="0">
              <a:solidFill>
                <a:schemeClr val="tx1"/>
              </a:solidFill>
              <a:latin typeface="EYInterstate Light" panose="02000506000000020004" pitchFamily="2" charset="0"/>
              <a:ea typeface="+mj-ea"/>
              <a:cs typeface="Arial" panose="020B0604020202020204" pitchFamily="34" charset="0"/>
              <a:sym typeface="EYInterstate Light" panose="02000506000000020004" pitchFamily="2" charset="0"/>
            </a:endParaRPr>
          </a:p>
        </p:txBody>
      </p:sp>
      <p:sp>
        <p:nvSpPr>
          <p:cNvPr id="3" name="Title 2">
            <a:extLst>
              <a:ext uri="{FF2B5EF4-FFF2-40B4-BE49-F238E27FC236}">
                <a16:creationId xmlns:a16="http://schemas.microsoft.com/office/drawing/2014/main" id="{8454E3A5-FF33-4763-9AEE-ACACA11BDC48}"/>
              </a:ext>
            </a:extLst>
          </p:cNvPr>
          <p:cNvSpPr>
            <a:spLocks noGrp="1"/>
          </p:cNvSpPr>
          <p:nvPr>
            <p:ph type="title"/>
          </p:nvPr>
        </p:nvSpPr>
        <p:spPr/>
        <p:txBody>
          <a:bodyPr/>
          <a:lstStyle/>
          <a:p>
            <a:r>
              <a:rPr lang="en-US"/>
              <a:t>Click to edit Master title style</a:t>
            </a:r>
          </a:p>
        </p:txBody>
      </p:sp>
      <p:sp>
        <p:nvSpPr>
          <p:cNvPr id="6" name="Slide Number Placeholder 2">
            <a:extLst>
              <a:ext uri="{FF2B5EF4-FFF2-40B4-BE49-F238E27FC236}">
                <a16:creationId xmlns:a16="http://schemas.microsoft.com/office/drawing/2014/main" id="{1F42AAE7-26E5-43F7-A385-882A203BE218}"/>
              </a:ext>
            </a:extLst>
          </p:cNvPr>
          <p:cNvSpPr>
            <a:spLocks noGrp="1"/>
          </p:cNvSpPr>
          <p:nvPr>
            <p:ph type="sldNum" sz="quarter" idx="10"/>
          </p:nvPr>
        </p:nvSpPr>
        <p:spPr>
          <a:xfrm>
            <a:off x="124766" y="6363000"/>
            <a:ext cx="402294" cy="365125"/>
          </a:xfrm>
        </p:spPr>
        <p:txBody>
          <a:bodyPr/>
          <a:lstStyle/>
          <a:p>
            <a:fld id="{54B9D3C5-5387-4512-99A7-F5295D2C2F6B}" type="slidenum">
              <a:rPr lang="en-US" smtClean="0"/>
              <a:pPr/>
              <a:t>‹#›</a:t>
            </a:fld>
            <a:endParaRPr lang="en-US"/>
          </a:p>
        </p:txBody>
      </p:sp>
    </p:spTree>
    <p:extLst>
      <p:ext uri="{BB962C8B-B14F-4D97-AF65-F5344CB8AC3E}">
        <p14:creationId xmlns:p14="http://schemas.microsoft.com/office/powerpoint/2010/main" val="396358901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7CD940-01C1-4DB3-BD0A-E112C60EB6EA}"/>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5849CEE3-B5EB-4C08-9575-2479AD16BD90}"/>
              </a:ext>
            </a:extLst>
          </p:cNvPr>
          <p:cNvSpPr>
            <a:spLocks noGrp="1"/>
          </p:cNvSpPr>
          <p:nvPr>
            <p:ph type="sldNum" sz="quarter" idx="10"/>
          </p:nvPr>
        </p:nvSpPr>
        <p:spPr/>
        <p:txBody>
          <a:bodyPr/>
          <a:lstStyle/>
          <a:p>
            <a:fld id="{54B9D3C5-5387-4512-99A7-F5295D2C2F6B}" type="slidenum">
              <a:rPr lang="en-US" smtClean="0"/>
              <a:pPr/>
              <a:t>‹#›</a:t>
            </a:fld>
            <a:endParaRPr lang="en-US"/>
          </a:p>
        </p:txBody>
      </p:sp>
    </p:spTree>
    <p:extLst>
      <p:ext uri="{BB962C8B-B14F-4D97-AF65-F5344CB8AC3E}">
        <p14:creationId xmlns:p14="http://schemas.microsoft.com/office/powerpoint/2010/main" val="262717885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userDrawn="1">
  <p:cSld name="Nur Titel">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49FE2ED8-A528-439B-8BF3-4666DB755E91}"/>
              </a:ext>
            </a:extLst>
          </p:cNvPr>
          <p:cNvGraphicFramePr>
            <a:graphicFrameLocks noChangeAspect="1"/>
          </p:cNvGraphicFramePr>
          <p:nvPr userDrawn="1">
            <p:custDataLst>
              <p:tags r:id="rId1"/>
            </p:custData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4" name="Object 3" hidden="1">
                        <a:extLst>
                          <a:ext uri="{FF2B5EF4-FFF2-40B4-BE49-F238E27FC236}">
                            <a16:creationId xmlns:a16="http://schemas.microsoft.com/office/drawing/2014/main" id="{49FE2ED8-A528-439B-8BF3-4666DB755E91}"/>
                          </a:ext>
                        </a:extLst>
                      </p:cNvPr>
                      <p:cNvPicPr/>
                      <p:nvPr/>
                    </p:nvPicPr>
                    <p:blipFill>
                      <a:blip r:embed="rId4"/>
                      <a:stretch>
                        <a:fillRect/>
                      </a:stretch>
                    </p:blipFill>
                    <p:spPr>
                      <a:xfrm>
                        <a:off x="1589" y="1588"/>
                        <a:ext cx="1588" cy="1588"/>
                      </a:xfrm>
                      <a:prstGeom prst="rect">
                        <a:avLst/>
                      </a:prstGeom>
                    </p:spPr>
                  </p:pic>
                </p:oleObj>
              </mc:Fallback>
            </mc:AlternateContent>
          </a:graphicData>
        </a:graphic>
      </p:graphicFrame>
      <p:pic>
        <p:nvPicPr>
          <p:cNvPr id="9" name="Picture 8">
            <a:extLst>
              <a:ext uri="{FF2B5EF4-FFF2-40B4-BE49-F238E27FC236}">
                <a16:creationId xmlns:a16="http://schemas.microsoft.com/office/drawing/2014/main" id="{36118EA3-B362-4863-8C1A-9D02C0DD3013}"/>
              </a:ext>
            </a:extLst>
          </p:cNvPr>
          <p:cNvPicPr>
            <a:picLocks noChangeAspect="1"/>
          </p:cNvPicPr>
          <p:nvPr userDrawn="1"/>
        </p:nvPicPr>
        <p:blipFill>
          <a:blip r:embed="rId5" cstate="print">
            <a:extLst>
              <a:ext uri="{28A0092B-C50C-407E-A947-70E740481C1C}">
                <a14:useLocalDpi xmlns:a14="http://schemas.microsoft.com/office/drawing/2010/main"/>
              </a:ext>
            </a:extLst>
          </a:blip>
          <a:stretch>
            <a:fillRect/>
          </a:stretch>
        </p:blipFill>
        <p:spPr>
          <a:xfrm>
            <a:off x="11186430" y="6316644"/>
            <a:ext cx="402294" cy="411480"/>
          </a:xfrm>
          <a:prstGeom prst="rect">
            <a:avLst/>
          </a:prstGeom>
        </p:spPr>
      </p:pic>
      <p:sp>
        <p:nvSpPr>
          <p:cNvPr id="2" name="Slide Number Placeholder 1">
            <a:extLst>
              <a:ext uri="{FF2B5EF4-FFF2-40B4-BE49-F238E27FC236}">
                <a16:creationId xmlns:a16="http://schemas.microsoft.com/office/drawing/2014/main" id="{AD8AB13B-3A3E-4AD8-AF25-CA1878EFEAB2}"/>
              </a:ext>
            </a:extLst>
          </p:cNvPr>
          <p:cNvSpPr>
            <a:spLocks noGrp="1"/>
          </p:cNvSpPr>
          <p:nvPr>
            <p:ph type="sldNum" sz="quarter" idx="10"/>
          </p:nvPr>
        </p:nvSpPr>
        <p:spPr/>
        <p:txBody>
          <a:bodyPr/>
          <a:lstStyle/>
          <a:p>
            <a:fld id="{54B9D3C5-5387-4512-99A7-F5295D2C2F6B}" type="slidenum">
              <a:rPr lang="en-US" smtClean="0"/>
              <a:pPr/>
              <a:t>‹#›</a:t>
            </a:fld>
            <a:endParaRPr lang="en-US"/>
          </a:p>
        </p:txBody>
      </p:sp>
    </p:spTree>
    <p:extLst>
      <p:ext uri="{BB962C8B-B14F-4D97-AF65-F5344CB8AC3E}">
        <p14:creationId xmlns:p14="http://schemas.microsoft.com/office/powerpoint/2010/main" val="215215912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601" y="294200"/>
            <a:ext cx="10972800" cy="590400"/>
          </a:xfrm>
        </p:spPr>
        <p:txBody>
          <a:bodyPr/>
          <a:lstStyle>
            <a:lvl1pPr>
              <a:defRPr sz="2399">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600" y="1137921"/>
            <a:ext cx="10972800" cy="4834617"/>
          </a:xfrm>
        </p:spPr>
        <p:txBody>
          <a:bodyPr/>
          <a:lstStyle>
            <a:lvl1pPr marL="356438" marR="0"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sz="1799">
                <a:solidFill>
                  <a:schemeClr val="bg1"/>
                </a:solidFill>
              </a:defRPr>
            </a:lvl1pPr>
            <a:lvl2pPr marL="712875" marR="0"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sz="1599">
                <a:solidFill>
                  <a:schemeClr val="bg1"/>
                </a:solidFill>
              </a:defRPr>
            </a:lvl2pPr>
            <a:lvl3pPr marL="1069313" marR="0"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sz="1399">
                <a:solidFill>
                  <a:schemeClr val="bg1"/>
                </a:solidFill>
              </a:defRPr>
            </a:lvl3pPr>
            <a:lvl4pPr marL="1425751" marR="0"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sz="1199">
                <a:solidFill>
                  <a:schemeClr val="bg1"/>
                </a:solidFill>
              </a:defRPr>
            </a:lvl4pPr>
            <a:lvl5pPr marL="1782188" marR="0"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sz="1099">
                <a:solidFill>
                  <a:schemeClr val="bg1"/>
                </a:solidFill>
              </a:defRPr>
            </a:lvl5pPr>
          </a:lstStyle>
          <a:p>
            <a:pPr marL="356438" marR="0" lvl="0"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Arial"/>
                <a:ea typeface="+mn-ea"/>
                <a:cs typeface="+mn-cs"/>
              </a:rPr>
              <a:t>Click to edit Master text styles</a:t>
            </a:r>
          </a:p>
          <a:p>
            <a:pPr marL="712875" marR="0" lvl="1"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Arial"/>
                <a:ea typeface="+mn-ea"/>
                <a:cs typeface="+mn-cs"/>
              </a:rPr>
              <a:t>Second level</a:t>
            </a:r>
          </a:p>
          <a:p>
            <a:pPr marL="1069313" marR="0" lvl="2"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599" b="0" i="0" u="none" strike="noStrike" kern="1200" cap="none" spc="0" normalizeH="0" baseline="0" noProof="0">
                <a:ln>
                  <a:noFill/>
                </a:ln>
                <a:solidFill>
                  <a:prstClr val="white"/>
                </a:solidFill>
                <a:effectLst/>
                <a:uLnTx/>
                <a:uFillTx/>
                <a:latin typeface="Arial"/>
                <a:ea typeface="+mn-ea"/>
                <a:cs typeface="+mn-cs"/>
              </a:rPr>
              <a:t>Third level</a:t>
            </a:r>
          </a:p>
          <a:p>
            <a:pPr marL="1425751" marR="0" lvl="3"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399" b="0" i="0" u="none" strike="noStrike" kern="1200" cap="none" spc="0" normalizeH="0" baseline="0" noProof="0">
                <a:ln>
                  <a:noFill/>
                </a:ln>
                <a:solidFill>
                  <a:prstClr val="white"/>
                </a:solidFill>
                <a:effectLst/>
                <a:uLnTx/>
                <a:uFillTx/>
                <a:latin typeface="Arial"/>
                <a:ea typeface="+mn-ea"/>
                <a:cs typeface="+mn-cs"/>
              </a:rPr>
              <a:t>Fourth level</a:t>
            </a:r>
          </a:p>
          <a:p>
            <a:pPr marL="1782188" marR="0" lvl="4" indent="-356438" algn="l" defTabSz="913943"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199" b="0" i="0" u="none" strike="noStrike" kern="1200" cap="none" spc="0" normalizeH="0" baseline="0" noProof="0">
                <a:ln>
                  <a:noFill/>
                </a:ln>
                <a:solidFill>
                  <a:prstClr val="white"/>
                </a:solidFill>
                <a:effectLst/>
                <a:uLnTx/>
                <a:uFillTx/>
                <a:latin typeface="Arial"/>
                <a:ea typeface="+mn-ea"/>
                <a:cs typeface="+mn-cs"/>
              </a:rPr>
              <a:t>Fifth level</a:t>
            </a:r>
            <a:endParaRPr kumimoji="0" lang="en-GB" sz="1199" b="0" i="0" u="none" strike="noStrike" kern="1200" cap="none" spc="0" normalizeH="0" baseline="0" noProof="0">
              <a:ln>
                <a:noFill/>
              </a:ln>
              <a:solidFill>
                <a:prstClr val="white"/>
              </a:solidFill>
              <a:effectLst/>
              <a:uLnTx/>
              <a:uFillTx/>
              <a:latin typeface="Arial"/>
              <a:ea typeface="+mn-ea"/>
              <a:cs typeface="+mn-cs"/>
            </a:endParaRPr>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365974596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Cover">
    <p:spTree>
      <p:nvGrpSpPr>
        <p:cNvPr id="1" name=""/>
        <p:cNvGrpSpPr/>
        <p:nvPr/>
      </p:nvGrpSpPr>
      <p:grpSpPr>
        <a:xfrm>
          <a:off x="0" y="0"/>
          <a:ext cx="0" cy="0"/>
          <a:chOff x="0" y="0"/>
          <a:chExt cx="0" cy="0"/>
        </a:xfrm>
      </p:grpSpPr>
      <p:sp>
        <p:nvSpPr>
          <p:cNvPr id="13" name="Rectangle 1"/>
          <p:cNvSpPr>
            <a:spLocks noChangeAspect="1"/>
          </p:cNvSpPr>
          <p:nvPr userDrawn="1"/>
        </p:nvSpPr>
        <p:spPr>
          <a:xfrm>
            <a:off x="3851957" y="615950"/>
            <a:ext cx="7731797" cy="3575304"/>
          </a:xfrm>
          <a:custGeom>
            <a:avLst/>
            <a:gdLst>
              <a:gd name="connsiteX0" fmla="*/ 0 w 6753225"/>
              <a:gd name="connsiteY0" fmla="*/ 0 h 3400425"/>
              <a:gd name="connsiteX1" fmla="*/ 6753225 w 6753225"/>
              <a:gd name="connsiteY1" fmla="*/ 0 h 3400425"/>
              <a:gd name="connsiteX2" fmla="*/ 6753225 w 6753225"/>
              <a:gd name="connsiteY2" fmla="*/ 3400425 h 3400425"/>
              <a:gd name="connsiteX3" fmla="*/ 0 w 6753225"/>
              <a:gd name="connsiteY3" fmla="*/ 3400425 h 3400425"/>
              <a:gd name="connsiteX4" fmla="*/ 0 w 6753225"/>
              <a:gd name="connsiteY4" fmla="*/ 0 h 3400425"/>
              <a:gd name="connsiteX0" fmla="*/ 0 w 6755607"/>
              <a:gd name="connsiteY0" fmla="*/ 1197768 h 3400425"/>
              <a:gd name="connsiteX1" fmla="*/ 6755607 w 6755607"/>
              <a:gd name="connsiteY1" fmla="*/ 0 h 3400425"/>
              <a:gd name="connsiteX2" fmla="*/ 6755607 w 6755607"/>
              <a:gd name="connsiteY2" fmla="*/ 3400425 h 3400425"/>
              <a:gd name="connsiteX3" fmla="*/ 2382 w 6755607"/>
              <a:gd name="connsiteY3" fmla="*/ 3400425 h 3400425"/>
              <a:gd name="connsiteX4" fmla="*/ 0 w 6755607"/>
              <a:gd name="connsiteY4" fmla="*/ 1197768 h 3400425"/>
              <a:gd name="connsiteX0" fmla="*/ 3182 w 6753225"/>
              <a:gd name="connsiteY0" fmla="*/ 1312615 h 3400425"/>
              <a:gd name="connsiteX1" fmla="*/ 6753225 w 6753225"/>
              <a:gd name="connsiteY1" fmla="*/ 0 h 3400425"/>
              <a:gd name="connsiteX2" fmla="*/ 6753225 w 6753225"/>
              <a:gd name="connsiteY2" fmla="*/ 3400425 h 3400425"/>
              <a:gd name="connsiteX3" fmla="*/ 0 w 6753225"/>
              <a:gd name="connsiteY3" fmla="*/ 3400425 h 3400425"/>
              <a:gd name="connsiteX4" fmla="*/ 3182 w 6753225"/>
              <a:gd name="connsiteY4" fmla="*/ 1312615 h 3400425"/>
              <a:gd name="connsiteX0" fmla="*/ 3182 w 6753225"/>
              <a:gd name="connsiteY0" fmla="*/ 67426 h 2155236"/>
              <a:gd name="connsiteX1" fmla="*/ 6619689 w 6753225"/>
              <a:gd name="connsiteY1" fmla="*/ 0 h 2155236"/>
              <a:gd name="connsiteX2" fmla="*/ 6753225 w 6753225"/>
              <a:gd name="connsiteY2" fmla="*/ 2155236 h 2155236"/>
              <a:gd name="connsiteX3" fmla="*/ 0 w 6753225"/>
              <a:gd name="connsiteY3" fmla="*/ 2155236 h 2155236"/>
              <a:gd name="connsiteX4" fmla="*/ 3182 w 6753225"/>
              <a:gd name="connsiteY4" fmla="*/ 67426 h 2155236"/>
              <a:gd name="connsiteX0" fmla="*/ 3182 w 6769917"/>
              <a:gd name="connsiteY0" fmla="*/ 1306570 h 3394380"/>
              <a:gd name="connsiteX1" fmla="*/ 6769917 w 6769917"/>
              <a:gd name="connsiteY1" fmla="*/ 0 h 3394380"/>
              <a:gd name="connsiteX2" fmla="*/ 6753225 w 6769917"/>
              <a:gd name="connsiteY2" fmla="*/ 3394380 h 3394380"/>
              <a:gd name="connsiteX3" fmla="*/ 0 w 6769917"/>
              <a:gd name="connsiteY3" fmla="*/ 3394380 h 3394380"/>
              <a:gd name="connsiteX4" fmla="*/ 3182 w 6769917"/>
              <a:gd name="connsiteY4" fmla="*/ 1306570 h 3394380"/>
              <a:gd name="connsiteX0" fmla="*/ 223 w 6771131"/>
              <a:gd name="connsiteY0" fmla="*/ 1297504 h 3394380"/>
              <a:gd name="connsiteX1" fmla="*/ 6771131 w 6771131"/>
              <a:gd name="connsiteY1" fmla="*/ 0 h 3394380"/>
              <a:gd name="connsiteX2" fmla="*/ 6754439 w 6771131"/>
              <a:gd name="connsiteY2" fmla="*/ 3394380 h 3394380"/>
              <a:gd name="connsiteX3" fmla="*/ 1214 w 6771131"/>
              <a:gd name="connsiteY3" fmla="*/ 3394380 h 3394380"/>
              <a:gd name="connsiteX4" fmla="*/ 223 w 6771131"/>
              <a:gd name="connsiteY4" fmla="*/ 1297504 h 3394380"/>
              <a:gd name="connsiteX0" fmla="*/ 105 w 6775185"/>
              <a:gd name="connsiteY0" fmla="*/ 1297505 h 3394380"/>
              <a:gd name="connsiteX1" fmla="*/ 6775185 w 6775185"/>
              <a:gd name="connsiteY1" fmla="*/ 0 h 3394380"/>
              <a:gd name="connsiteX2" fmla="*/ 6758493 w 6775185"/>
              <a:gd name="connsiteY2" fmla="*/ 3394380 h 3394380"/>
              <a:gd name="connsiteX3" fmla="*/ 5268 w 6775185"/>
              <a:gd name="connsiteY3" fmla="*/ 3394380 h 3394380"/>
              <a:gd name="connsiteX4" fmla="*/ 105 w 6775185"/>
              <a:gd name="connsiteY4" fmla="*/ 1297505 h 3394380"/>
              <a:gd name="connsiteX0" fmla="*/ 105 w 6775185"/>
              <a:gd name="connsiteY0" fmla="*/ 1297505 h 3394380"/>
              <a:gd name="connsiteX1" fmla="*/ 6775185 w 6775185"/>
              <a:gd name="connsiteY1" fmla="*/ 0 h 3394380"/>
              <a:gd name="connsiteX2" fmla="*/ 6769621 w 6775185"/>
              <a:gd name="connsiteY2" fmla="*/ 3394380 h 3394380"/>
              <a:gd name="connsiteX3" fmla="*/ 5268 w 6775185"/>
              <a:gd name="connsiteY3" fmla="*/ 3394380 h 3394380"/>
              <a:gd name="connsiteX4" fmla="*/ 105 w 6775185"/>
              <a:gd name="connsiteY4" fmla="*/ 1297505 h 3394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5185" h="3394380">
                <a:moveTo>
                  <a:pt x="105" y="1297505"/>
                </a:moveTo>
                <a:lnTo>
                  <a:pt x="6775185" y="0"/>
                </a:lnTo>
                <a:cubicBezTo>
                  <a:pt x="6773330" y="1131460"/>
                  <a:pt x="6771476" y="2262920"/>
                  <a:pt x="6769621" y="3394380"/>
                </a:cubicBezTo>
                <a:lnTo>
                  <a:pt x="5268" y="3394380"/>
                </a:lnTo>
                <a:cubicBezTo>
                  <a:pt x="6329" y="2698443"/>
                  <a:pt x="-956" y="1993442"/>
                  <a:pt x="105" y="1297505"/>
                </a:cubicBez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199">
              <a:solidFill>
                <a:schemeClr val="tx1"/>
              </a:solidFill>
            </a:endParaRPr>
          </a:p>
        </p:txBody>
      </p:sp>
      <p:sp>
        <p:nvSpPr>
          <p:cNvPr id="14" name="Title 1"/>
          <p:cNvSpPr>
            <a:spLocks noGrp="1"/>
          </p:cNvSpPr>
          <p:nvPr>
            <p:ph type="ctrTitle"/>
          </p:nvPr>
        </p:nvSpPr>
        <p:spPr>
          <a:xfrm>
            <a:off x="4149215" y="2240280"/>
            <a:ext cx="7220000" cy="860400"/>
          </a:xfrm>
        </p:spPr>
        <p:txBody>
          <a:bodyPr/>
          <a:lstStyle>
            <a:lvl1pPr>
              <a:defRPr>
                <a:solidFill>
                  <a:srgbClr val="404040"/>
                </a:solidFill>
                <a:latin typeface="+mn-lt"/>
                <a:cs typeface="Arial" pitchFamily="34" charset="0"/>
              </a:defRPr>
            </a:lvl1pPr>
          </a:lstStyle>
          <a:p>
            <a:r>
              <a:rPr lang="en-US"/>
              <a:t>Click to edit Master title style</a:t>
            </a:r>
            <a:endParaRPr lang="en-GB"/>
          </a:p>
        </p:txBody>
      </p:sp>
      <p:sp>
        <p:nvSpPr>
          <p:cNvPr id="15" name="Subtitle 2"/>
          <p:cNvSpPr>
            <a:spLocks noGrp="1"/>
          </p:cNvSpPr>
          <p:nvPr>
            <p:ph type="subTitle" idx="1"/>
          </p:nvPr>
        </p:nvSpPr>
        <p:spPr>
          <a:xfrm>
            <a:off x="4149215" y="3218688"/>
            <a:ext cx="7220000" cy="645742"/>
          </a:xfrm>
        </p:spPr>
        <p:txBody>
          <a:bodyPr/>
          <a:lstStyle>
            <a:lvl1pPr marL="0" indent="0" algn="l">
              <a:buNone/>
              <a:defRPr sz="1999">
                <a:solidFill>
                  <a:srgbClr val="404040"/>
                </a:solidFill>
                <a:latin typeface="+mn-lt"/>
                <a:cs typeface="Arial" pitchFamily="34" charset="0"/>
              </a:defRPr>
            </a:lvl1pPr>
            <a:lvl2pPr marL="0" indent="0" algn="l">
              <a:buNone/>
              <a:defRPr sz="1599">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74101" y="5340096"/>
            <a:ext cx="987038" cy="1156968"/>
          </a:xfrm>
          <a:prstGeom prst="rect">
            <a:avLst/>
          </a:prstGeom>
        </p:spPr>
      </p:pic>
    </p:spTree>
    <p:extLst>
      <p:ext uri="{BB962C8B-B14F-4D97-AF65-F5344CB8AC3E}">
        <p14:creationId xmlns:p14="http://schemas.microsoft.com/office/powerpoint/2010/main" val="143258550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 preserve="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601"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9" name="Date Placeholder 8"/>
          <p:cNvSpPr>
            <a:spLocks noGrp="1"/>
          </p:cNvSpPr>
          <p:nvPr>
            <p:ph type="dt" sz="half" idx="10"/>
          </p:nvPr>
        </p:nvSpPr>
        <p:spPr/>
        <p:txBody>
          <a:bodyPr/>
          <a:lstStyle/>
          <a:p>
            <a:r>
              <a:rPr lang="en-US"/>
              <a:t>1 January 2014</a:t>
            </a:r>
          </a:p>
        </p:txBody>
      </p:sp>
      <p:sp>
        <p:nvSpPr>
          <p:cNvPr id="10" name="Footer Placeholder 9"/>
          <p:cNvSpPr>
            <a:spLocks noGrp="1"/>
          </p:cNvSpPr>
          <p:nvPr>
            <p:ph type="ftr" sz="quarter" idx="11"/>
          </p:nvPr>
        </p:nvSpPr>
        <p:spPr/>
        <p:txBody>
          <a:bodyPr/>
          <a:lstStyle/>
          <a:p>
            <a:r>
              <a:rPr lang="en-GB"/>
              <a:t>Presentation title</a:t>
            </a:r>
          </a:p>
        </p:txBody>
      </p:sp>
      <p:sp>
        <p:nvSpPr>
          <p:cNvPr id="11"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69756446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p:txBody>
          <a:bodyPr/>
          <a:lstStyle>
            <a:lvl1pPr marL="0" indent="0">
              <a:spcBef>
                <a:spcPts val="0"/>
              </a:spcBef>
              <a:buNone/>
              <a:defRPr/>
            </a:lvl1pPr>
            <a:lvl2pPr marL="0" indent="0">
              <a:spcBef>
                <a:spcPts val="0"/>
              </a:spcBef>
              <a:buNone/>
              <a:defRPr/>
            </a:lvl2pPr>
            <a:lvl3pPr marL="0" indent="0">
              <a:spcBef>
                <a:spcPts val="0"/>
              </a:spcBef>
              <a:buNone/>
              <a:defRPr/>
            </a:lvl3pPr>
            <a:lvl4pPr marL="0" indent="0">
              <a:spcBef>
                <a:spcPts val="0"/>
              </a:spcBef>
              <a:buNone/>
              <a:defRPr/>
            </a:lvl4pPr>
            <a:lvl5pPr marL="0" indent="0">
              <a:spcBef>
                <a:spcPts val="0"/>
              </a:spcBef>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601"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p:cNvSpPr>
            <a:spLocks noGrp="1"/>
          </p:cNvSpPr>
          <p:nvPr>
            <p:ph type="dt" sz="half" idx="10"/>
          </p:nvPr>
        </p:nvSpPr>
        <p:spPr/>
        <p:txBody>
          <a:bodyPr/>
          <a:lstStyle/>
          <a:p>
            <a:r>
              <a:rPr lang="en-US"/>
              <a:t>1 January 2014</a:t>
            </a:r>
          </a:p>
        </p:txBody>
      </p:sp>
      <p:sp>
        <p:nvSpPr>
          <p:cNvPr id="6" name="Footer Placeholder 5"/>
          <p:cNvSpPr>
            <a:spLocks noGrp="1"/>
          </p:cNvSpPr>
          <p:nvPr>
            <p:ph type="ftr" sz="quarter" idx="11"/>
          </p:nvPr>
        </p:nvSpPr>
        <p:spPr/>
        <p:txBody>
          <a:bodyPr/>
          <a:lstStyle/>
          <a:p>
            <a:r>
              <a:rPr lang="en-GB"/>
              <a:t>Presentation title</a:t>
            </a:r>
          </a:p>
        </p:txBody>
      </p:sp>
      <p:sp>
        <p:nvSpPr>
          <p:cNvPr id="9"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134641054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p:txBody>
          <a:bodyPr/>
          <a:lstStyle>
            <a:lvl1pPr marL="0" indent="0">
              <a:buNone/>
              <a:defRPr/>
            </a:lvl1pPr>
            <a:lvl2pPr marL="356438">
              <a:defRPr/>
            </a:lvl2pPr>
            <a:lvl3pPr marL="712875">
              <a:defRPr/>
            </a:lvl3pPr>
            <a:lvl4pPr marL="1069313">
              <a:defRPr/>
            </a:lvl4pPr>
            <a:lvl5pPr marL="1425751">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601"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p:cNvSpPr>
            <a:spLocks noGrp="1"/>
          </p:cNvSpPr>
          <p:nvPr>
            <p:ph type="dt" sz="half" idx="10"/>
          </p:nvPr>
        </p:nvSpPr>
        <p:spPr/>
        <p:txBody>
          <a:bodyPr/>
          <a:lstStyle/>
          <a:p>
            <a:r>
              <a:rPr lang="en-US"/>
              <a:t>1 January 2014</a:t>
            </a:r>
          </a:p>
        </p:txBody>
      </p:sp>
      <p:sp>
        <p:nvSpPr>
          <p:cNvPr id="6" name="Footer Placeholder 5"/>
          <p:cNvSpPr>
            <a:spLocks noGrp="1"/>
          </p:cNvSpPr>
          <p:nvPr>
            <p:ph type="ftr" sz="quarter" idx="11"/>
          </p:nvPr>
        </p:nvSpPr>
        <p:spPr/>
        <p:txBody>
          <a:bodyPr/>
          <a:lstStyle/>
          <a:p>
            <a:r>
              <a:rPr lang="en-GB"/>
              <a:t>Presentation title</a:t>
            </a:r>
          </a:p>
        </p:txBody>
      </p:sp>
      <p:sp>
        <p:nvSpPr>
          <p:cNvPr id="9"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222560570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7" name="Line 10"/>
          <p:cNvSpPr>
            <a:spLocks noChangeShapeType="1"/>
          </p:cNvSpPr>
          <p:nvPr userDrawn="1"/>
        </p:nvSpPr>
        <p:spPr bwMode="auto">
          <a:xfrm>
            <a:off x="609601"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6" name="Date Placeholder 5"/>
          <p:cNvSpPr>
            <a:spLocks noGrp="1"/>
          </p:cNvSpPr>
          <p:nvPr>
            <p:ph type="dt" sz="half" idx="10"/>
          </p:nvPr>
        </p:nvSpPr>
        <p:spPr/>
        <p:txBody>
          <a:bodyPr/>
          <a:lstStyle/>
          <a:p>
            <a:r>
              <a:rPr lang="en-US"/>
              <a:t>1 January 2014</a:t>
            </a:r>
          </a:p>
        </p:txBody>
      </p:sp>
      <p:sp>
        <p:nvSpPr>
          <p:cNvPr id="9" name="Footer Placeholder 8"/>
          <p:cNvSpPr>
            <a:spLocks noGrp="1"/>
          </p:cNvSpPr>
          <p:nvPr>
            <p:ph type="ftr" sz="quarter" idx="11"/>
          </p:nvPr>
        </p:nvSpPr>
        <p:spPr/>
        <p:txBody>
          <a:bodyPr/>
          <a:lstStyle/>
          <a:p>
            <a:r>
              <a:rPr lang="en-GB"/>
              <a:t>Presentation title</a:t>
            </a:r>
          </a:p>
        </p:txBody>
      </p:sp>
      <p:sp>
        <p:nvSpPr>
          <p:cNvPr id="10"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632363172"/>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6" name="Date Placeholder 5"/>
          <p:cNvSpPr>
            <a:spLocks noGrp="1"/>
          </p:cNvSpPr>
          <p:nvPr>
            <p:ph type="dt" sz="half" idx="10"/>
          </p:nvPr>
        </p:nvSpPr>
        <p:spPr/>
        <p:txBody>
          <a:bodyPr/>
          <a:lstStyle/>
          <a:p>
            <a:r>
              <a:rPr lang="en-US"/>
              <a:t>1 January 2014</a:t>
            </a:r>
          </a:p>
        </p:txBody>
      </p:sp>
      <p:sp>
        <p:nvSpPr>
          <p:cNvPr id="9" name="Footer Placeholder 8"/>
          <p:cNvSpPr>
            <a:spLocks noGrp="1"/>
          </p:cNvSpPr>
          <p:nvPr>
            <p:ph type="ftr" sz="quarter" idx="11"/>
          </p:nvPr>
        </p:nvSpPr>
        <p:spPr/>
        <p:txBody>
          <a:bodyPr/>
          <a:lstStyle/>
          <a:p>
            <a:r>
              <a:rPr lang="en-GB"/>
              <a:t>Presentation title</a:t>
            </a:r>
          </a:p>
        </p:txBody>
      </p:sp>
      <p:sp>
        <p:nvSpPr>
          <p:cNvPr id="7"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340986256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7961" y="1425575"/>
            <a:ext cx="5384800" cy="4719638"/>
          </a:xfrm>
        </p:spPr>
        <p:txBody>
          <a:bodyPr/>
          <a:lstStyle>
            <a:lvl1pPr>
              <a:defRPr sz="2399">
                <a:solidFill>
                  <a:schemeClr val="bg1"/>
                </a:solidFill>
              </a:defRPr>
            </a:lvl1pPr>
            <a:lvl2pPr>
              <a:defRPr sz="2399">
                <a:solidFill>
                  <a:schemeClr val="bg1"/>
                </a:solidFill>
              </a:defRPr>
            </a:lvl2pPr>
            <a:lvl3pPr>
              <a:defRPr sz="1999">
                <a:solidFill>
                  <a:schemeClr val="bg1"/>
                </a:solidFill>
              </a:defRPr>
            </a:lvl3pPr>
            <a:lvl4pPr>
              <a:defRPr sz="1799">
                <a:solidFill>
                  <a:schemeClr val="bg1"/>
                </a:solidFill>
              </a:defRPr>
            </a:lvl4pPr>
            <a:lvl5pPr>
              <a:defRPr sz="17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5962" y="1425575"/>
            <a:ext cx="5384800" cy="4719638"/>
          </a:xfrm>
        </p:spPr>
        <p:txBody>
          <a:bodyPr/>
          <a:lstStyle>
            <a:lvl1pPr>
              <a:defRPr sz="2399">
                <a:solidFill>
                  <a:schemeClr val="bg1"/>
                </a:solidFill>
              </a:defRPr>
            </a:lvl1pPr>
            <a:lvl2pPr>
              <a:defRPr sz="2399">
                <a:solidFill>
                  <a:schemeClr val="bg1"/>
                </a:solidFill>
              </a:defRPr>
            </a:lvl2pPr>
            <a:lvl3pPr>
              <a:defRPr sz="1999">
                <a:solidFill>
                  <a:schemeClr val="bg1"/>
                </a:solidFill>
              </a:defRPr>
            </a:lvl3pPr>
            <a:lvl4pPr>
              <a:defRPr sz="1799">
                <a:solidFill>
                  <a:schemeClr val="bg1"/>
                </a:solidFill>
              </a:defRPr>
            </a:lvl4pPr>
            <a:lvl5pPr>
              <a:defRPr sz="17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601"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9" name="Date Placeholder 8"/>
          <p:cNvSpPr>
            <a:spLocks noGrp="1"/>
          </p:cNvSpPr>
          <p:nvPr>
            <p:ph type="dt" sz="half" idx="10"/>
          </p:nvPr>
        </p:nvSpPr>
        <p:spPr/>
        <p:txBody>
          <a:bodyPr/>
          <a:lstStyle/>
          <a:p>
            <a:r>
              <a:rPr lang="en-US"/>
              <a:t>1 January 2014</a:t>
            </a:r>
          </a:p>
        </p:txBody>
      </p:sp>
      <p:sp>
        <p:nvSpPr>
          <p:cNvPr id="10" name="Footer Placeholder 9"/>
          <p:cNvSpPr>
            <a:spLocks noGrp="1"/>
          </p:cNvSpPr>
          <p:nvPr>
            <p:ph type="ftr" sz="quarter" idx="11"/>
          </p:nvPr>
        </p:nvSpPr>
        <p:spPr/>
        <p:txBody>
          <a:bodyPr/>
          <a:lstStyle/>
          <a:p>
            <a:r>
              <a:rPr lang="en-GB"/>
              <a:t>Presentation title</a:t>
            </a:r>
          </a:p>
        </p:txBody>
      </p:sp>
      <p:sp>
        <p:nvSpPr>
          <p:cNvPr id="11"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391247919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12329" y="2130553"/>
            <a:ext cx="5390400" cy="3994963"/>
          </a:xfrm>
        </p:spPr>
        <p:txBody>
          <a:bodyPr/>
          <a:lstStyle>
            <a:lvl1pPr>
              <a:defRPr sz="2399">
                <a:solidFill>
                  <a:schemeClr val="bg1"/>
                </a:solidFill>
              </a:defRPr>
            </a:lvl1pPr>
            <a:lvl2pPr>
              <a:defRPr sz="2399">
                <a:solidFill>
                  <a:schemeClr val="bg1"/>
                </a:solidFill>
              </a:defRPr>
            </a:lvl2pPr>
            <a:lvl3pPr>
              <a:defRPr sz="1999">
                <a:solidFill>
                  <a:schemeClr val="bg1"/>
                </a:solidFill>
              </a:defRPr>
            </a:lvl3pPr>
            <a:lvl4pPr>
              <a:defRPr sz="1799">
                <a:solidFill>
                  <a:schemeClr val="bg1"/>
                </a:solidFill>
              </a:defRPr>
            </a:lvl4pPr>
            <a:lvl5pPr>
              <a:defRPr sz="17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6405" y="2130553"/>
            <a:ext cx="5390400" cy="3994963"/>
          </a:xfrm>
        </p:spPr>
        <p:txBody>
          <a:bodyPr/>
          <a:lstStyle>
            <a:lvl1pPr>
              <a:defRPr sz="2399">
                <a:solidFill>
                  <a:schemeClr val="bg1"/>
                </a:solidFill>
              </a:defRPr>
            </a:lvl1pPr>
            <a:lvl2pPr>
              <a:defRPr sz="2399">
                <a:solidFill>
                  <a:schemeClr val="bg1"/>
                </a:solidFill>
              </a:defRPr>
            </a:lvl2pPr>
            <a:lvl3pPr>
              <a:defRPr sz="1999">
                <a:solidFill>
                  <a:schemeClr val="bg1"/>
                </a:solidFill>
              </a:defRPr>
            </a:lvl3pPr>
            <a:lvl4pPr>
              <a:defRPr sz="1799">
                <a:solidFill>
                  <a:schemeClr val="bg1"/>
                </a:solidFill>
              </a:defRPr>
            </a:lvl4pPr>
            <a:lvl5pPr>
              <a:defRPr sz="17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601"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10" name="Text Placeholder 9"/>
          <p:cNvSpPr>
            <a:spLocks noGrp="1"/>
          </p:cNvSpPr>
          <p:nvPr>
            <p:ph type="body" sz="quarter" idx="12"/>
          </p:nvPr>
        </p:nvSpPr>
        <p:spPr>
          <a:xfrm>
            <a:off x="612329" y="1425575"/>
            <a:ext cx="5390400"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6405" y="1425575"/>
            <a:ext cx="5390400" cy="640800"/>
          </a:xfrm>
        </p:spPr>
        <p:txBody>
          <a:bodyPr anchor="t" anchorCtr="0"/>
          <a:lstStyle>
            <a:lvl1pPr>
              <a:buNone/>
              <a:defRPr b="1">
                <a:solidFill>
                  <a:schemeClr val="bg1"/>
                </a:solidFill>
              </a:defRPr>
            </a:lvl1pPr>
          </a:lstStyle>
          <a:p>
            <a:pPr lvl="0"/>
            <a:endParaRPr lang="en-GB"/>
          </a:p>
        </p:txBody>
      </p:sp>
      <p:sp>
        <p:nvSpPr>
          <p:cNvPr id="12" name="Date Placeholder 11"/>
          <p:cNvSpPr>
            <a:spLocks noGrp="1"/>
          </p:cNvSpPr>
          <p:nvPr>
            <p:ph type="dt" sz="half" idx="14"/>
          </p:nvPr>
        </p:nvSpPr>
        <p:spPr/>
        <p:txBody>
          <a:bodyPr/>
          <a:lstStyle/>
          <a:p>
            <a:r>
              <a:rPr lang="en-US"/>
              <a:t>1 January 2014</a:t>
            </a:r>
          </a:p>
        </p:txBody>
      </p:sp>
      <p:sp>
        <p:nvSpPr>
          <p:cNvPr id="13" name="Footer Placeholder 12"/>
          <p:cNvSpPr>
            <a:spLocks noGrp="1"/>
          </p:cNvSpPr>
          <p:nvPr>
            <p:ph type="ftr" sz="quarter" idx="15"/>
          </p:nvPr>
        </p:nvSpPr>
        <p:spPr/>
        <p:txBody>
          <a:bodyPr/>
          <a:lstStyle/>
          <a:p>
            <a:r>
              <a:rPr lang="en-GB"/>
              <a:t>Presentation title</a:t>
            </a:r>
          </a:p>
        </p:txBody>
      </p:sp>
      <p:sp>
        <p:nvSpPr>
          <p:cNvPr id="14"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83059866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3" name="Text Placeholder 2"/>
          <p:cNvSpPr>
            <a:spLocks noGrp="1"/>
          </p:cNvSpPr>
          <p:nvPr>
            <p:ph type="body" sz="quarter" idx="11"/>
          </p:nvPr>
        </p:nvSpPr>
        <p:spPr>
          <a:xfrm>
            <a:off x="607486" y="1025527"/>
            <a:ext cx="10972800" cy="1643063"/>
          </a:xfrm>
        </p:spPr>
        <p:txBody>
          <a:bodyPr/>
          <a:lstStyle>
            <a:lvl1pPr marL="0" indent="0" algn="l">
              <a:lnSpc>
                <a:spcPct val="85000"/>
              </a:lnSpc>
              <a:spcBef>
                <a:spcPts val="0"/>
              </a:spcBef>
              <a:buNone/>
              <a:defRPr sz="4998" b="1">
                <a:solidFill>
                  <a:schemeClr val="bg2"/>
                </a:solidFill>
                <a:latin typeface="+mn-lt"/>
              </a:defRPr>
            </a:lvl1pPr>
            <a:lvl2pPr marL="0" indent="0">
              <a:buNone/>
              <a:defRPr/>
            </a:lvl2pPr>
            <a:lvl3pPr marL="0" indent="0">
              <a:buNone/>
              <a:defRPr/>
            </a:lvl3pPr>
            <a:lvl4pPr marL="0" indent="0">
              <a:buNone/>
              <a:defRPr/>
            </a:lvl4pPr>
            <a:lvl5pPr marL="0" indent="0">
              <a:buNone/>
              <a:defRPr/>
            </a:lvl5pPr>
          </a:lstStyle>
          <a:p>
            <a:pPr lvl="0"/>
            <a:r>
              <a:rPr lang="en-US"/>
              <a:t>Click to edit Master text styles</a:t>
            </a:r>
          </a:p>
        </p:txBody>
      </p:sp>
      <p:sp>
        <p:nvSpPr>
          <p:cNvPr id="6" name="Date Placeholder 5"/>
          <p:cNvSpPr>
            <a:spLocks noGrp="1"/>
          </p:cNvSpPr>
          <p:nvPr>
            <p:ph type="dt" sz="half" idx="12"/>
          </p:nvPr>
        </p:nvSpPr>
        <p:spPr/>
        <p:txBody>
          <a:bodyPr/>
          <a:lstStyle/>
          <a:p>
            <a:r>
              <a:rPr lang="en-US"/>
              <a:t>1 January 2014</a:t>
            </a:r>
          </a:p>
        </p:txBody>
      </p:sp>
      <p:sp>
        <p:nvSpPr>
          <p:cNvPr id="7" name="Footer Placeholder 6"/>
          <p:cNvSpPr>
            <a:spLocks noGrp="1"/>
          </p:cNvSpPr>
          <p:nvPr>
            <p:ph type="ftr" sz="quarter" idx="13"/>
          </p:nvPr>
        </p:nvSpPr>
        <p:spPr/>
        <p:txBody>
          <a:bodyPr/>
          <a:lstStyle/>
          <a:p>
            <a:r>
              <a:rPr lang="en-GB"/>
              <a:t>Presentation title</a:t>
            </a:r>
          </a:p>
        </p:txBody>
      </p:sp>
      <p:sp>
        <p:nvSpPr>
          <p:cNvPr id="8"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265068208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601" y="201168"/>
            <a:ext cx="10972800"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defRPr>
            </a:lvl1pPr>
          </a:lstStyle>
          <a:p>
            <a:pPr lvl="0" algn="l" fontAlgn="base">
              <a:lnSpc>
                <a:spcPct val="85000"/>
              </a:lnSpc>
              <a:spcAft>
                <a:spcPct val="0"/>
              </a:spcAft>
            </a:pPr>
            <a:r>
              <a:rPr lang="en-US"/>
              <a:t>Click to edit Master title style</a:t>
            </a:r>
          </a:p>
        </p:txBody>
      </p:sp>
      <p:sp>
        <p:nvSpPr>
          <p:cNvPr id="6" name="Freeform 6"/>
          <p:cNvSpPr>
            <a:spLocks/>
          </p:cNvSpPr>
          <p:nvPr userDrawn="1"/>
        </p:nvSpPr>
        <p:spPr bwMode="gray">
          <a:xfrm>
            <a:off x="598177" y="1057275"/>
            <a:ext cx="10987714" cy="5195888"/>
          </a:xfrm>
          <a:custGeom>
            <a:avLst/>
            <a:gdLst/>
            <a:ahLst/>
            <a:cxnLst>
              <a:cxn ang="0">
                <a:pos x="0" y="0"/>
              </a:cxn>
              <a:cxn ang="0">
                <a:pos x="6925" y="0"/>
              </a:cxn>
              <a:cxn ang="0">
                <a:pos x="6925" y="2053"/>
              </a:cxn>
              <a:cxn ang="0">
                <a:pos x="0" y="3273"/>
              </a:cxn>
              <a:cxn ang="0">
                <a:pos x="0" y="0"/>
              </a:cxn>
            </a:cxnLst>
            <a:rect l="0" t="0" r="r" b="b"/>
            <a:pathLst>
              <a:path w="6925" h="3273">
                <a:moveTo>
                  <a:pt x="0" y="0"/>
                </a:moveTo>
                <a:lnTo>
                  <a:pt x="6925" y="0"/>
                </a:lnTo>
                <a:lnTo>
                  <a:pt x="6925" y="2053"/>
                </a:lnTo>
                <a:lnTo>
                  <a:pt x="0" y="3273"/>
                </a:lnTo>
                <a:lnTo>
                  <a:pt x="0" y="0"/>
                </a:lnTo>
                <a:close/>
              </a:path>
            </a:pathLst>
          </a:custGeom>
          <a:solidFill>
            <a:schemeClr val="accent2"/>
          </a:solidFill>
          <a:ln w="9525">
            <a:noFill/>
            <a:round/>
            <a:headEnd/>
            <a:tailEnd/>
          </a:ln>
        </p:spPr>
        <p:txBody>
          <a:bodyPr vert="horz" wrap="square" lIns="91392" tIns="45696" rIns="91392" bIns="45696" numCol="1" anchor="t" anchorCtr="0" compatLnSpc="1">
            <a:prstTxWarp prst="textNoShape">
              <a:avLst/>
            </a:prstTxWarp>
          </a:bodyPr>
          <a:lstStyle/>
          <a:p>
            <a:endParaRPr lang="en-GB" sz="1799">
              <a:solidFill>
                <a:schemeClr val="bg1"/>
              </a:solidFill>
            </a:endParaRPr>
          </a:p>
        </p:txBody>
      </p:sp>
      <p:sp>
        <p:nvSpPr>
          <p:cNvPr id="5" name="Date Placeholder 4"/>
          <p:cNvSpPr>
            <a:spLocks noGrp="1"/>
          </p:cNvSpPr>
          <p:nvPr>
            <p:ph type="dt" sz="half" idx="10"/>
          </p:nvPr>
        </p:nvSpPr>
        <p:spPr/>
        <p:txBody>
          <a:bodyPr/>
          <a:lstStyle/>
          <a:p>
            <a:r>
              <a:rPr lang="en-US"/>
              <a:t>1 January 2014</a:t>
            </a:r>
          </a:p>
        </p:txBody>
      </p:sp>
      <p:sp>
        <p:nvSpPr>
          <p:cNvPr id="7" name="Footer Placeholder 6"/>
          <p:cNvSpPr>
            <a:spLocks noGrp="1"/>
          </p:cNvSpPr>
          <p:nvPr>
            <p:ph type="ftr" sz="quarter" idx="11"/>
          </p:nvPr>
        </p:nvSpPr>
        <p:spPr/>
        <p:txBody>
          <a:bodyPr/>
          <a:lstStyle/>
          <a:p>
            <a:r>
              <a:rPr lang="en-GB"/>
              <a:t>Presentation title</a:t>
            </a:r>
          </a:p>
        </p:txBody>
      </p:sp>
    </p:spTree>
    <p:extLst>
      <p:ext uri="{BB962C8B-B14F-4D97-AF65-F5344CB8AC3E}">
        <p14:creationId xmlns:p14="http://schemas.microsoft.com/office/powerpoint/2010/main" val="112309242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601" y="201168"/>
            <a:ext cx="10972800"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defRPr>
            </a:lvl1pPr>
          </a:lstStyle>
          <a:p>
            <a:pPr lvl="0" algn="l" fontAlgn="base">
              <a:lnSpc>
                <a:spcPct val="85000"/>
              </a:lnSpc>
              <a:spcAft>
                <a:spcPct val="0"/>
              </a:spcAft>
            </a:pPr>
            <a:r>
              <a:rPr lang="en-US"/>
              <a:t>Click to edit Master title style</a:t>
            </a:r>
          </a:p>
        </p:txBody>
      </p:sp>
      <p:sp>
        <p:nvSpPr>
          <p:cNvPr id="6" name="Freeform 5"/>
          <p:cNvSpPr>
            <a:spLocks/>
          </p:cNvSpPr>
          <p:nvPr userDrawn="1"/>
        </p:nvSpPr>
        <p:spPr bwMode="gray">
          <a:xfrm>
            <a:off x="598177" y="1057275"/>
            <a:ext cx="10987714" cy="5195888"/>
          </a:xfrm>
          <a:custGeom>
            <a:avLst/>
            <a:gdLst/>
            <a:ahLst/>
            <a:cxnLst>
              <a:cxn ang="0">
                <a:pos x="0" y="0"/>
              </a:cxn>
              <a:cxn ang="0">
                <a:pos x="6925" y="0"/>
              </a:cxn>
              <a:cxn ang="0">
                <a:pos x="6925" y="2053"/>
              </a:cxn>
              <a:cxn ang="0">
                <a:pos x="0" y="3273"/>
              </a:cxn>
              <a:cxn ang="0">
                <a:pos x="0" y="0"/>
              </a:cxn>
            </a:cxnLst>
            <a:rect l="0" t="0" r="r" b="b"/>
            <a:pathLst>
              <a:path w="6925" h="3273">
                <a:moveTo>
                  <a:pt x="0" y="0"/>
                </a:moveTo>
                <a:lnTo>
                  <a:pt x="6925" y="0"/>
                </a:lnTo>
                <a:lnTo>
                  <a:pt x="6925" y="2053"/>
                </a:lnTo>
                <a:lnTo>
                  <a:pt x="0" y="3273"/>
                </a:lnTo>
                <a:lnTo>
                  <a:pt x="0" y="0"/>
                </a:lnTo>
                <a:close/>
              </a:path>
            </a:pathLst>
          </a:custGeom>
          <a:solidFill>
            <a:schemeClr val="accent1"/>
          </a:solidFill>
          <a:ln w="9525">
            <a:noFill/>
            <a:round/>
            <a:headEnd/>
            <a:tailEnd/>
          </a:ln>
        </p:spPr>
        <p:txBody>
          <a:bodyPr vert="horz" wrap="square" lIns="91392" tIns="45696" rIns="91392" bIns="45696" numCol="1" anchor="t" anchorCtr="0" compatLnSpc="1">
            <a:prstTxWarp prst="textNoShape">
              <a:avLst/>
            </a:prstTxWarp>
          </a:bodyPr>
          <a:lstStyle/>
          <a:p>
            <a:endParaRPr lang="en-GB" sz="1799">
              <a:solidFill>
                <a:schemeClr val="bg1"/>
              </a:solidFill>
            </a:endParaRPr>
          </a:p>
        </p:txBody>
      </p:sp>
      <p:sp>
        <p:nvSpPr>
          <p:cNvPr id="5" name="Date Placeholder 4"/>
          <p:cNvSpPr>
            <a:spLocks noGrp="1"/>
          </p:cNvSpPr>
          <p:nvPr>
            <p:ph type="dt" sz="half" idx="10"/>
          </p:nvPr>
        </p:nvSpPr>
        <p:spPr/>
        <p:txBody>
          <a:bodyPr/>
          <a:lstStyle/>
          <a:p>
            <a:r>
              <a:rPr lang="en-US"/>
              <a:t>1 January 2014</a:t>
            </a:r>
          </a:p>
        </p:txBody>
      </p:sp>
      <p:sp>
        <p:nvSpPr>
          <p:cNvPr id="7" name="Footer Placeholder 6"/>
          <p:cNvSpPr>
            <a:spLocks noGrp="1"/>
          </p:cNvSpPr>
          <p:nvPr>
            <p:ph type="ftr" sz="quarter" idx="11"/>
          </p:nvPr>
        </p:nvSpPr>
        <p:spPr/>
        <p:txBody>
          <a:bodyPr/>
          <a:lstStyle/>
          <a:p>
            <a:r>
              <a:rPr lang="en-GB"/>
              <a:t>Presentation title</a:t>
            </a:r>
          </a:p>
        </p:txBody>
      </p:sp>
    </p:spTree>
    <p:extLst>
      <p:ext uri="{BB962C8B-B14F-4D97-AF65-F5344CB8AC3E}">
        <p14:creationId xmlns:p14="http://schemas.microsoft.com/office/powerpoint/2010/main" val="1434493946"/>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601" y="201168"/>
            <a:ext cx="10972800"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defRPr>
            </a:lvl1pPr>
          </a:lstStyle>
          <a:p>
            <a:pPr lvl="0" algn="l" fontAlgn="base">
              <a:lnSpc>
                <a:spcPct val="85000"/>
              </a:lnSpc>
              <a:spcAft>
                <a:spcPct val="0"/>
              </a:spcAft>
            </a:pPr>
            <a:r>
              <a:rPr lang="en-US"/>
              <a:t>Click to edit Master title style</a:t>
            </a:r>
          </a:p>
        </p:txBody>
      </p:sp>
      <p:sp>
        <p:nvSpPr>
          <p:cNvPr id="5" name="Freeform 4"/>
          <p:cNvSpPr>
            <a:spLocks/>
          </p:cNvSpPr>
          <p:nvPr userDrawn="1"/>
        </p:nvSpPr>
        <p:spPr bwMode="gray">
          <a:xfrm>
            <a:off x="594687" y="1057275"/>
            <a:ext cx="10987714" cy="5195888"/>
          </a:xfrm>
          <a:custGeom>
            <a:avLst/>
            <a:gdLst/>
            <a:ahLst/>
            <a:cxnLst>
              <a:cxn ang="0">
                <a:pos x="0" y="0"/>
              </a:cxn>
              <a:cxn ang="0">
                <a:pos x="6925" y="0"/>
              </a:cxn>
              <a:cxn ang="0">
                <a:pos x="6925" y="2053"/>
              </a:cxn>
              <a:cxn ang="0">
                <a:pos x="0" y="3273"/>
              </a:cxn>
              <a:cxn ang="0">
                <a:pos x="0" y="0"/>
              </a:cxn>
            </a:cxnLst>
            <a:rect l="0" t="0" r="r" b="b"/>
            <a:pathLst>
              <a:path w="6925" h="3273">
                <a:moveTo>
                  <a:pt x="0" y="0"/>
                </a:moveTo>
                <a:lnTo>
                  <a:pt x="6925" y="0"/>
                </a:lnTo>
                <a:lnTo>
                  <a:pt x="6925" y="2053"/>
                </a:lnTo>
                <a:lnTo>
                  <a:pt x="0" y="3273"/>
                </a:lnTo>
                <a:lnTo>
                  <a:pt x="0" y="0"/>
                </a:lnTo>
                <a:close/>
              </a:path>
            </a:pathLst>
          </a:custGeom>
          <a:blipFill dpi="0" rotWithShape="1">
            <a:blip r:embed="rId2" cstate="print"/>
            <a:srcRect/>
            <a:tile tx="0" ty="0" sx="100000" sy="100000" flip="none" algn="tl"/>
          </a:blipFill>
          <a:ln w="9525">
            <a:noFill/>
            <a:round/>
            <a:headEnd/>
            <a:tailEnd/>
          </a:ln>
        </p:spPr>
        <p:txBody>
          <a:bodyPr vert="horz" wrap="square" lIns="91392" tIns="45696" rIns="91392" bIns="45696" numCol="1" anchor="t" anchorCtr="0" compatLnSpc="1">
            <a:prstTxWarp prst="textNoShape">
              <a:avLst/>
            </a:prstTxWarp>
          </a:bodyPr>
          <a:lstStyle/>
          <a:p>
            <a:endParaRPr lang="en-GB" sz="1799">
              <a:solidFill>
                <a:schemeClr val="bg1"/>
              </a:solidFill>
            </a:endParaRPr>
          </a:p>
        </p:txBody>
      </p:sp>
      <p:sp>
        <p:nvSpPr>
          <p:cNvPr id="6" name="Date Placeholder 5"/>
          <p:cNvSpPr>
            <a:spLocks noGrp="1"/>
          </p:cNvSpPr>
          <p:nvPr>
            <p:ph type="dt" sz="half" idx="10"/>
          </p:nvPr>
        </p:nvSpPr>
        <p:spPr/>
        <p:txBody>
          <a:bodyPr/>
          <a:lstStyle/>
          <a:p>
            <a:r>
              <a:rPr lang="en-US"/>
              <a:t>1 January 2014</a:t>
            </a:r>
          </a:p>
        </p:txBody>
      </p:sp>
      <p:sp>
        <p:nvSpPr>
          <p:cNvPr id="7" name="Footer Placeholder 6"/>
          <p:cNvSpPr>
            <a:spLocks noGrp="1"/>
          </p:cNvSpPr>
          <p:nvPr>
            <p:ph type="ftr" sz="quarter" idx="11"/>
          </p:nvPr>
        </p:nvSpPr>
        <p:spPr/>
        <p:txBody>
          <a:bodyPr/>
          <a:lstStyle/>
          <a:p>
            <a:r>
              <a:rPr lang="en-GB"/>
              <a:t>Presentation title</a:t>
            </a:r>
          </a:p>
        </p:txBody>
      </p:sp>
    </p:spTree>
    <p:extLst>
      <p:ext uri="{BB962C8B-B14F-4D97-AF65-F5344CB8AC3E}">
        <p14:creationId xmlns:p14="http://schemas.microsoft.com/office/powerpoint/2010/main" val="4684514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r>
              <a:rPr lang="en-US"/>
              <a:t>1 January 2014</a:t>
            </a:r>
          </a:p>
        </p:txBody>
      </p:sp>
      <p:sp>
        <p:nvSpPr>
          <p:cNvPr id="5" name="Footer Placeholder 4"/>
          <p:cNvSpPr>
            <a:spLocks noGrp="1"/>
          </p:cNvSpPr>
          <p:nvPr>
            <p:ph type="ftr" sz="quarter" idx="11"/>
          </p:nvPr>
        </p:nvSpPr>
        <p:spPr/>
        <p:txBody>
          <a:bodyPr/>
          <a:lstStyle/>
          <a:p>
            <a:r>
              <a:rPr lang="en-GB"/>
              <a:t>Presentation title</a:t>
            </a:r>
          </a:p>
        </p:txBody>
      </p:sp>
      <p:sp>
        <p:nvSpPr>
          <p:cNvPr id="6" name="Line 11"/>
          <p:cNvSpPr>
            <a:spLocks noChangeShapeType="1"/>
          </p:cNvSpPr>
          <p:nvPr userDrawn="1"/>
        </p:nvSpPr>
        <p:spPr bwMode="auto">
          <a:xfrm>
            <a:off x="609601" y="6245352"/>
            <a:ext cx="10972800"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329766503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mn-lt"/>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mn-lt"/>
                <a:ea typeface="+mn-ea"/>
                <a:cs typeface="Arial" pitchFamily="34" charset="0"/>
              </a:defRPr>
            </a:lvl2pPr>
            <a:lvl3pPr marL="176125" indent="-176125" algn="l" defTabSz="994865" rtl="0" fontAlgn="base">
              <a:lnSpc>
                <a:spcPct val="100000"/>
              </a:lnSpc>
              <a:spcBef>
                <a:spcPct val="0"/>
              </a:spcBef>
              <a:spcAft>
                <a:spcPct val="0"/>
              </a:spcAft>
              <a:buClr>
                <a:schemeClr val="accent2"/>
              </a:buClr>
              <a:buSzPct val="70000"/>
              <a:buFont typeface="Arial" pitchFamily="34" charset="0"/>
              <a:buChar char="►"/>
              <a:defRPr lang="en-US" sz="900" b="1" kern="1200" noProof="0" dirty="0" smtClean="0">
                <a:solidFill>
                  <a:schemeClr val="bg1"/>
                </a:solidFill>
                <a:latin typeface="+mn-lt"/>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mn-lt"/>
                <a:ea typeface="+mn-ea"/>
                <a:cs typeface="Arial" pitchFamily="34" charset="0"/>
              </a:defRPr>
            </a:lvl4pPr>
            <a:lvl5pPr marL="188819" indent="-188819" algn="l" defTabSz="994865" rtl="0" fontAlgn="base">
              <a:lnSpc>
                <a:spcPct val="100000"/>
              </a:lnSpc>
              <a:spcBef>
                <a:spcPct val="0"/>
              </a:spcBef>
              <a:spcAft>
                <a:spcPct val="0"/>
              </a:spcAft>
              <a:buClr>
                <a:schemeClr val="accent2"/>
              </a:buClr>
              <a:buSzPct val="70000"/>
              <a:buFont typeface="Arial" pitchFamily="34" charset="0"/>
              <a:buChar char="►"/>
              <a:defRPr lang="en-US" sz="800" kern="1200" noProof="0" dirty="0">
                <a:solidFill>
                  <a:schemeClr val="bg1"/>
                </a:solidFill>
                <a:latin typeface="+mn-lt"/>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86235619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4363755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a:xfrm>
            <a:off x="302493" y="1997869"/>
            <a:ext cx="3773504" cy="4640704"/>
          </a:xfrm>
          <a:prstGeom prst="rect">
            <a:avLst/>
          </a:prstGeom>
        </p:spPr>
        <p:txBody>
          <a:bodyPr lIns="0" tIns="0" rIns="0" bIns="0"/>
          <a:lstStyle>
            <a:lvl1pPr marL="0" indent="0">
              <a:lnSpc>
                <a:spcPts val="1840"/>
              </a:lnSpc>
              <a:spcBef>
                <a:spcPts val="0"/>
              </a:spcBef>
              <a:spcAft>
                <a:spcPts val="818"/>
              </a:spcAft>
              <a:buNone/>
              <a:defRPr sz="1635">
                <a:solidFill>
                  <a:srgbClr val="808080"/>
                </a:solidFill>
                <a:latin typeface="EYInterstate Regular" pitchFamily="2" charset="0"/>
              </a:defRPr>
            </a:lvl1pPr>
            <a:lvl2pPr marL="3245" indent="0">
              <a:buNone/>
              <a:defRPr sz="1226">
                <a:latin typeface="EYInterstate Light" pitchFamily="2" charset="0"/>
              </a:defRPr>
            </a:lvl2pPr>
            <a:lvl3pPr>
              <a:defRPr sz="1226"/>
            </a:lvl3pPr>
            <a:lvl4pPr>
              <a:defRPr sz="1090"/>
            </a:lvl4pPr>
            <a:lvl5pPr>
              <a:defRPr sz="955"/>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665261571"/>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sz="2399">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40F0AABF-D862-4E52-856A-98A908BD81E4}"/>
              </a:ext>
            </a:extLst>
          </p:cNvPr>
          <p:cNvSpPr>
            <a:spLocks noGrp="1"/>
          </p:cNvSpPr>
          <p:nvPr>
            <p:ph type="dt" sz="half" idx="10"/>
          </p:nvPr>
        </p:nvSpPr>
        <p:spPr>
          <a:xfrm>
            <a:off x="1428184" y="6471244"/>
            <a:ext cx="1190638" cy="180000"/>
          </a:xfrm>
          <a:prstGeom prst="rect">
            <a:avLst/>
          </a:prstGeom>
        </p:spPr>
        <p:txBody>
          <a:bodyPr/>
          <a:lstStyle/>
          <a:p>
            <a:fld id="{EE19B0F1-44AD-42A5-9A37-2FB41F1EC903}" type="datetime3">
              <a:rPr lang="en-US" smtClean="0"/>
              <a:t>27 November 2025</a:t>
            </a:fld>
            <a:endParaRPr lang="en-IN"/>
          </a:p>
        </p:txBody>
      </p:sp>
      <p:sp>
        <p:nvSpPr>
          <p:cNvPr id="4" name="Footer Placeholder 3">
            <a:extLst>
              <a:ext uri="{FF2B5EF4-FFF2-40B4-BE49-F238E27FC236}">
                <a16:creationId xmlns:a16="http://schemas.microsoft.com/office/drawing/2014/main" id="{7F5FDC76-F946-4827-A773-FCD68068B859}"/>
              </a:ext>
            </a:extLst>
          </p:cNvPr>
          <p:cNvSpPr>
            <a:spLocks noGrp="1"/>
          </p:cNvSpPr>
          <p:nvPr>
            <p:ph type="ftr" sz="quarter" idx="11"/>
          </p:nvPr>
        </p:nvSpPr>
        <p:spPr>
          <a:xfrm>
            <a:off x="3237502" y="6471244"/>
            <a:ext cx="3084493" cy="180000"/>
          </a:xfrm>
          <a:prstGeom prst="rect">
            <a:avLst/>
          </a:prstGeom>
        </p:spPr>
        <p:txBody>
          <a:bodyPr/>
          <a:lstStyle/>
          <a:p>
            <a:r>
              <a:rPr lang="en-US"/>
              <a:t>Presentation title</a:t>
            </a:r>
          </a:p>
        </p:txBody>
      </p:sp>
      <p:sp>
        <p:nvSpPr>
          <p:cNvPr id="5" name="Slide Number Placeholder 4">
            <a:extLst>
              <a:ext uri="{FF2B5EF4-FFF2-40B4-BE49-F238E27FC236}">
                <a16:creationId xmlns:a16="http://schemas.microsoft.com/office/drawing/2014/main" id="{2ABF873B-E40B-4AF7-8D2F-967775EB8EA6}"/>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31046631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15_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201600"/>
            <a:ext cx="10972800" cy="419088"/>
          </a:xfrm>
        </p:spPr>
        <p:txBody>
          <a:bodyPr/>
          <a:lstStyle>
            <a:lvl1pPr>
              <a:defRPr>
                <a:solidFill>
                  <a:srgbClr val="646464"/>
                </a:solidFill>
              </a:defRPr>
            </a:lvl1pPr>
          </a:lstStyle>
          <a:p>
            <a:r>
              <a:rPr lang="en-US"/>
              <a:t>Click to edit Master title style</a:t>
            </a:r>
            <a:endParaRPr lang="en-GB"/>
          </a:p>
        </p:txBody>
      </p:sp>
      <p:sp>
        <p:nvSpPr>
          <p:cNvPr id="7" name="Line 10"/>
          <p:cNvSpPr>
            <a:spLocks noChangeShapeType="1"/>
          </p:cNvSpPr>
          <p:nvPr userDrawn="1"/>
        </p:nvSpPr>
        <p:spPr bwMode="auto">
          <a:xfrm>
            <a:off x="609600" y="1044000"/>
            <a:ext cx="10972800"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a:solidFill>
                <a:srgbClr val="646464"/>
              </a:solidFill>
            </a:endParaRPr>
          </a:p>
        </p:txBody>
      </p:sp>
      <p:sp>
        <p:nvSpPr>
          <p:cNvPr id="8" name="Line 11"/>
          <p:cNvSpPr>
            <a:spLocks noChangeShapeType="1"/>
          </p:cNvSpPr>
          <p:nvPr userDrawn="1"/>
        </p:nvSpPr>
        <p:spPr bwMode="auto">
          <a:xfrm>
            <a:off x="609600" y="6242400"/>
            <a:ext cx="10972800"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a:solidFill>
                <a:srgbClr val="646464"/>
              </a:solidFill>
            </a:endParaRPr>
          </a:p>
        </p:txBody>
      </p:sp>
      <p:sp>
        <p:nvSpPr>
          <p:cNvPr id="10" name="Text Placeholder 10"/>
          <p:cNvSpPr>
            <a:spLocks noGrp="1"/>
          </p:cNvSpPr>
          <p:nvPr>
            <p:ph type="body" sz="quarter" idx="11"/>
          </p:nvPr>
        </p:nvSpPr>
        <p:spPr>
          <a:xfrm>
            <a:off x="609600" y="620688"/>
            <a:ext cx="10972800" cy="442800"/>
          </a:xfrm>
        </p:spPr>
        <p:txBody>
          <a:bodyPr/>
          <a:lstStyle>
            <a:lvl1pPr marL="0" indent="0">
              <a:buNone/>
              <a:defRPr sz="2200"/>
            </a:lvl1pPr>
          </a:lstStyle>
          <a:p>
            <a:pPr lvl="0"/>
            <a:r>
              <a:rPr lang="en-US"/>
              <a:t>Click to edit Master</a:t>
            </a:r>
            <a:endParaRPr lang="en-IN"/>
          </a:p>
        </p:txBody>
      </p:sp>
    </p:spTree>
    <p:extLst>
      <p:ext uri="{BB962C8B-B14F-4D97-AF65-F5344CB8AC3E}">
        <p14:creationId xmlns:p14="http://schemas.microsoft.com/office/powerpoint/2010/main" val="3667890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cSld name="2_Final legal text">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52C72D4-8941-4841-A1D6-780403604C54}"/>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12500" r="12500"/>
          <a:stretch/>
        </p:blipFill>
        <p:spPr>
          <a:xfrm>
            <a:off x="0" y="0"/>
            <a:ext cx="12192000"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746124" rtl="0" fontAlgn="base">
              <a:lnSpc>
                <a:spcPct val="100000"/>
              </a:lnSpc>
              <a:spcBef>
                <a:spcPct val="70000"/>
              </a:spcBef>
              <a:spcAft>
                <a:spcPct val="0"/>
              </a:spcAft>
              <a:buSzPct val="100000"/>
              <a:buNone/>
              <a:defRPr lang="en-US" sz="900" kern="1200" noProof="0" dirty="0" smtClean="0">
                <a:solidFill>
                  <a:schemeClr val="bg1"/>
                </a:solidFill>
                <a:latin typeface="EYInterstate Light" panose="02000506000000020004" pitchFamily="2" charset="0"/>
                <a:ea typeface="+mn-ea"/>
                <a:cs typeface="Arial" pitchFamily="34" charset="0"/>
              </a:defRPr>
            </a:lvl1pPr>
            <a:lvl2pPr marL="0" indent="0" algn="l" defTabSz="746124" rtl="0" fontAlgn="base">
              <a:lnSpc>
                <a:spcPct val="100000"/>
              </a:lnSpc>
              <a:spcBef>
                <a:spcPct val="0"/>
              </a:spcBef>
              <a:spcAft>
                <a:spcPct val="0"/>
              </a:spcAft>
              <a:buSzPct val="100000"/>
              <a:buNone/>
              <a:defRPr lang="en-US" sz="675" b="1" kern="1200" noProof="0" dirty="0" smtClean="0">
                <a:solidFill>
                  <a:schemeClr val="bg1"/>
                </a:solidFill>
                <a:latin typeface="EYInterstate Light" panose="02000506000000020004" pitchFamily="2" charset="0"/>
                <a:ea typeface="+mn-ea"/>
                <a:cs typeface="Arial" pitchFamily="34" charset="0"/>
              </a:defRPr>
            </a:lvl2pPr>
            <a:lvl3pPr marL="132089" indent="-132089" algn="l" defTabSz="746124" rtl="0" fontAlgn="base">
              <a:lnSpc>
                <a:spcPct val="100000"/>
              </a:lnSpc>
              <a:spcBef>
                <a:spcPct val="0"/>
              </a:spcBef>
              <a:spcAft>
                <a:spcPct val="0"/>
              </a:spcAft>
              <a:buClr>
                <a:schemeClr val="tx2"/>
              </a:buClr>
              <a:buSzPct val="70000"/>
              <a:buFont typeface="Arial" pitchFamily="34" charset="0"/>
              <a:buChar char="►"/>
              <a:defRPr lang="en-US" sz="675" b="1" kern="1200" noProof="0" dirty="0" smtClean="0">
                <a:solidFill>
                  <a:schemeClr val="bg1"/>
                </a:solidFill>
                <a:latin typeface="EYInterstate Light" panose="02000506000000020004" pitchFamily="2" charset="0"/>
                <a:ea typeface="+mn-ea"/>
                <a:cs typeface="Arial" pitchFamily="34" charset="0"/>
              </a:defRPr>
            </a:lvl3pPr>
            <a:lvl4pPr marL="0" indent="0" algn="l" defTabSz="746124" rtl="0" fontAlgn="base">
              <a:lnSpc>
                <a:spcPct val="100000"/>
              </a:lnSpc>
              <a:spcBef>
                <a:spcPct val="0"/>
              </a:spcBef>
              <a:spcAft>
                <a:spcPct val="0"/>
              </a:spcAft>
              <a:buSzPct val="100000"/>
              <a:buNone/>
              <a:defRPr lang="en-US" sz="600" kern="1200" noProof="0" dirty="0" smtClean="0">
                <a:solidFill>
                  <a:schemeClr val="bg1"/>
                </a:solidFill>
                <a:latin typeface="EYInterstate Light" panose="02000506000000020004" pitchFamily="2" charset="0"/>
                <a:ea typeface="+mn-ea"/>
                <a:cs typeface="Arial" pitchFamily="34" charset="0"/>
              </a:defRPr>
            </a:lvl4pPr>
            <a:lvl5pPr marL="141609" indent="-141609" algn="l" defTabSz="746124" rtl="0" fontAlgn="base">
              <a:lnSpc>
                <a:spcPct val="100000"/>
              </a:lnSpc>
              <a:spcBef>
                <a:spcPct val="0"/>
              </a:spcBef>
              <a:spcAft>
                <a:spcPct val="0"/>
              </a:spcAft>
              <a:buClr>
                <a:schemeClr val="tx2"/>
              </a:buClr>
              <a:buSzPct val="70000"/>
              <a:buFont typeface="Arial" pitchFamily="34" charset="0"/>
              <a:buChar char="►"/>
              <a:defRPr lang="en-US" sz="600" kern="1200" noProof="0" dirty="0">
                <a:solidFill>
                  <a:schemeClr val="bg1"/>
                </a:solidFill>
                <a:latin typeface="EYInterstate Light" panose="02000506000000020004" pitchFamily="2" charset="0"/>
                <a:ea typeface="+mn-ea"/>
                <a:cs typeface="Arial" pitchFamily="34" charset="0"/>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03854330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D13D071C-48A3-4F9C-BF19-5ED074BF794C}"/>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4387" t="2467" r="1943" b="18497"/>
          <a:stretch/>
        </p:blipFill>
        <p:spPr>
          <a:xfrm>
            <a:off x="0" y="0"/>
            <a:ext cx="12192000" cy="6858000"/>
          </a:xfrm>
          <a:prstGeom prst="rect">
            <a:avLst/>
          </a:prstGeom>
        </p:spPr>
      </p:pic>
      <p:sp>
        <p:nvSpPr>
          <p:cNvPr id="9" name="Rectangle 8">
            <a:extLst>
              <a:ext uri="{FF2B5EF4-FFF2-40B4-BE49-F238E27FC236}">
                <a16:creationId xmlns:a16="http://schemas.microsoft.com/office/drawing/2014/main" id="{87468CCA-1CF4-4784-A1B5-516BAE5C044B}"/>
              </a:ext>
            </a:extLst>
          </p:cNvPr>
          <p:cNvSpPr/>
          <p:nvPr userDrawn="1"/>
        </p:nvSpPr>
        <p:spPr>
          <a:xfrm>
            <a:off x="0" y="-1"/>
            <a:ext cx="12191999" cy="6857999"/>
          </a:xfrm>
          <a:prstGeom prst="rect">
            <a:avLst/>
          </a:prstGeom>
          <a:solidFill>
            <a:srgbClr val="2E2E38">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EYInterstate Light" panose="02000506000000020004" pitchFamily="2" charset="0"/>
            </a:endParaRPr>
          </a:p>
        </p:txBody>
      </p:sp>
      <p:grpSp>
        <p:nvGrpSpPr>
          <p:cNvPr id="20" name="Group 4">
            <a:extLst>
              <a:ext uri="{FF2B5EF4-FFF2-40B4-BE49-F238E27FC236}">
                <a16:creationId xmlns:a16="http://schemas.microsoft.com/office/drawing/2014/main" id="{AFE40B1E-829A-4D17-BDF1-9B4717014E78}"/>
              </a:ext>
            </a:extLst>
          </p:cNvPr>
          <p:cNvGrpSpPr>
            <a:grpSpLocks noChangeAspect="1"/>
          </p:cNvGrpSpPr>
          <p:nvPr userDrawn="1"/>
        </p:nvGrpSpPr>
        <p:grpSpPr bwMode="auto">
          <a:xfrm>
            <a:off x="11287127" y="6399480"/>
            <a:ext cx="303213" cy="311150"/>
            <a:chOff x="7110" y="4004"/>
            <a:chExt cx="191" cy="196"/>
          </a:xfrm>
        </p:grpSpPr>
        <p:sp>
          <p:nvSpPr>
            <p:cNvPr id="21" name="Freeform 5">
              <a:extLst>
                <a:ext uri="{FF2B5EF4-FFF2-40B4-BE49-F238E27FC236}">
                  <a16:creationId xmlns:a16="http://schemas.microsoft.com/office/drawing/2014/main" id="{417B14FB-F911-43F2-B8A8-519AB7B08F24}"/>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IN" sz="1798" b="0" i="0" u="none" strike="noStrike" kern="0" cap="none" spc="0" normalizeH="0" baseline="0" noProof="0">
                <a:ln>
                  <a:noFill/>
                </a:ln>
                <a:solidFill>
                  <a:srgbClr val="FFFFFF"/>
                </a:solidFill>
                <a:effectLst/>
                <a:uLnTx/>
                <a:uFillTx/>
                <a:latin typeface="EYInterstate Light"/>
              </a:endParaRPr>
            </a:p>
          </p:txBody>
        </p:sp>
        <p:sp>
          <p:nvSpPr>
            <p:cNvPr id="22" name="Freeform 6">
              <a:extLst>
                <a:ext uri="{FF2B5EF4-FFF2-40B4-BE49-F238E27FC236}">
                  <a16:creationId xmlns:a16="http://schemas.microsoft.com/office/drawing/2014/main" id="{46BF2998-3246-49F9-A01D-27323E4AF84C}"/>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IN" sz="1798" b="0" i="0" u="none" strike="noStrike" kern="0" cap="none" spc="0" normalizeH="0" baseline="0" noProof="0">
                <a:ln>
                  <a:noFill/>
                </a:ln>
                <a:solidFill>
                  <a:srgbClr val="FFFFFF"/>
                </a:solidFill>
                <a:effectLst/>
                <a:uLnTx/>
                <a:uFillTx/>
                <a:latin typeface="EYInterstate Light"/>
              </a:endParaRPr>
            </a:p>
          </p:txBody>
        </p:sp>
        <p:sp>
          <p:nvSpPr>
            <p:cNvPr id="23" name="Freeform 7">
              <a:extLst>
                <a:ext uri="{FF2B5EF4-FFF2-40B4-BE49-F238E27FC236}">
                  <a16:creationId xmlns:a16="http://schemas.microsoft.com/office/drawing/2014/main" id="{628C3092-43C6-4395-8069-1A34973F3971}"/>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IN" sz="1798" b="0" i="0" u="none" strike="noStrike" kern="0" cap="none" spc="0" normalizeH="0" baseline="0" noProof="0">
                <a:ln>
                  <a:noFill/>
                </a:ln>
                <a:solidFill>
                  <a:srgbClr val="FFFFFF"/>
                </a:solidFill>
                <a:effectLst/>
                <a:uLnTx/>
                <a:uFillTx/>
                <a:latin typeface="EYInterstate Light"/>
              </a:endParaRPr>
            </a:p>
          </p:txBody>
        </p:sp>
      </p:grpSp>
      <p:sp>
        <p:nvSpPr>
          <p:cNvPr id="24" name="Slide Number Placeholder 4">
            <a:extLst>
              <a:ext uri="{FF2B5EF4-FFF2-40B4-BE49-F238E27FC236}">
                <a16:creationId xmlns:a16="http://schemas.microsoft.com/office/drawing/2014/main" id="{F7C77C55-FE38-4F8E-A3AF-9661BE9724AB}"/>
              </a:ext>
            </a:extLst>
          </p:cNvPr>
          <p:cNvSpPr txBox="1">
            <a:spLocks/>
          </p:cNvSpPr>
          <p:nvPr userDrawn="1"/>
        </p:nvSpPr>
        <p:spPr>
          <a:xfrm>
            <a:off x="609601" y="6471246"/>
            <a:ext cx="4754464" cy="196257"/>
          </a:xfrm>
          <a:prstGeom prst="rect">
            <a:avLst/>
          </a:prstGeom>
        </p:spPr>
        <p:txBody>
          <a:bodyPr lIns="0"/>
          <a:lstStyle>
            <a:defPPr>
              <a:defRPr lang="en-US"/>
            </a:defPPr>
            <a:lvl1pPr>
              <a:defRPr sz="800">
                <a:solidFill>
                  <a:schemeClr val="bg1"/>
                </a:solidFill>
                <a:latin typeface="EYInterstate" panose="02000503020000020004"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394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chemeClr val="tx1"/>
                </a:solidFill>
                <a:effectLst/>
                <a:uLnTx/>
                <a:uFillTx/>
                <a:latin typeface="EYInterstate" panose="02000503020000020004" pitchFamily="2" charset="0"/>
              </a:rPr>
              <a:t>Page </a:t>
            </a:r>
            <a:fld id="{D5B76411-544C-4F9A-8EDE-9EEB2BD21F95}" type="slidenum">
              <a:rPr kumimoji="0" lang="en-IN" sz="800" b="0" i="0" u="none" strike="noStrike" kern="0" cap="none" spc="0" normalizeH="0" baseline="0" noProof="0" smtClean="0">
                <a:ln>
                  <a:noFill/>
                </a:ln>
                <a:solidFill>
                  <a:schemeClr val="tx1"/>
                </a:solidFill>
                <a:effectLst/>
                <a:uLnTx/>
                <a:uFillTx/>
                <a:latin typeface="EYInterstate" panose="02000503020000020004" pitchFamily="2" charset="0"/>
              </a:rPr>
              <a:pPr marL="0" marR="0" lvl="0" indent="0" defTabSz="913943" eaLnBrk="1" fontAlgn="auto" latinLnBrk="0" hangingPunct="1">
                <a:lnSpc>
                  <a:spcPct val="100000"/>
                </a:lnSpc>
                <a:spcBef>
                  <a:spcPts val="0"/>
                </a:spcBef>
                <a:spcAft>
                  <a:spcPts val="0"/>
                </a:spcAft>
                <a:buClrTx/>
                <a:buSzTx/>
                <a:buFontTx/>
                <a:buNone/>
                <a:tabLst/>
                <a:defRPr/>
              </a:pPr>
              <a:t>‹#›</a:t>
            </a:fld>
            <a:r>
              <a:rPr kumimoji="0" lang="en-IN" sz="800" b="0" i="0" u="none" strike="noStrike" kern="0" cap="none" spc="0" normalizeH="0" baseline="0" noProof="0">
                <a:ln>
                  <a:noFill/>
                </a:ln>
                <a:solidFill>
                  <a:schemeClr val="tx1"/>
                </a:solidFill>
                <a:effectLst/>
                <a:uLnTx/>
                <a:uFillTx/>
                <a:latin typeface="EYInterstate" panose="02000503020000020004" pitchFamily="2" charset="0"/>
              </a:rPr>
              <a:t> | GDS PAS US FY 20 — Account Planning</a:t>
            </a:r>
            <a:endParaRPr kumimoji="0" sz="800" b="0" i="0" u="none" strike="noStrike" kern="0" cap="none" spc="0" normalizeH="0" baseline="0" noProof="0">
              <a:ln>
                <a:noFill/>
              </a:ln>
              <a:solidFill>
                <a:schemeClr val="tx1"/>
              </a:solidFill>
              <a:effectLst/>
              <a:uLnTx/>
              <a:uFillTx/>
              <a:latin typeface="EYInterstate" panose="02000503020000020004" pitchFamily="2" charset="0"/>
            </a:endParaRPr>
          </a:p>
        </p:txBody>
      </p:sp>
      <p:sp>
        <p:nvSpPr>
          <p:cNvPr id="27" name="Line 10">
            <a:extLst>
              <a:ext uri="{FF2B5EF4-FFF2-40B4-BE49-F238E27FC236}">
                <a16:creationId xmlns:a16="http://schemas.microsoft.com/office/drawing/2014/main" id="{AC171181-68B5-4E8C-BCBD-DC0228498251}"/>
              </a:ext>
            </a:extLst>
          </p:cNvPr>
          <p:cNvSpPr>
            <a:spLocks noChangeShapeType="1"/>
          </p:cNvSpPr>
          <p:nvPr userDrawn="1"/>
        </p:nvSpPr>
        <p:spPr bwMode="auto">
          <a:xfrm>
            <a:off x="609919" y="907750"/>
            <a:ext cx="10980000" cy="0"/>
          </a:xfrm>
          <a:prstGeom prst="line">
            <a:avLst/>
          </a:prstGeom>
          <a:noFill/>
          <a:ln w="19050">
            <a:solidFill>
              <a:srgbClr val="FFE60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latin typeface="EYInterstate Light" panose="02000506000000020004" pitchFamily="2" charset="0"/>
            </a:endParaRPr>
          </a:p>
        </p:txBody>
      </p:sp>
      <p:sp>
        <p:nvSpPr>
          <p:cNvPr id="10" name="Slide Number Placeholder 4">
            <a:extLst>
              <a:ext uri="{FF2B5EF4-FFF2-40B4-BE49-F238E27FC236}">
                <a16:creationId xmlns:a16="http://schemas.microsoft.com/office/drawing/2014/main" id="{CDB39146-44B3-4355-9CD4-19C382CFB422}"/>
              </a:ext>
            </a:extLst>
          </p:cNvPr>
          <p:cNvSpPr txBox="1">
            <a:spLocks/>
          </p:cNvSpPr>
          <p:nvPr userDrawn="1"/>
        </p:nvSpPr>
        <p:spPr>
          <a:xfrm>
            <a:off x="609284" y="6557896"/>
            <a:ext cx="4751989" cy="196257"/>
          </a:xfrm>
          <a:prstGeom prst="rect">
            <a:avLst/>
          </a:prstGeom>
        </p:spPr>
        <p:txBody>
          <a:bodyPr lIns="0"/>
          <a:lstStyle>
            <a:defPPr>
              <a:defRPr lang="en-US"/>
            </a:defPPr>
            <a:lvl1pPr>
              <a:defRPr sz="800">
                <a:solidFill>
                  <a:schemeClr val="bg1"/>
                </a:solidFill>
                <a:latin typeface="EYInterstate" panose="02000503020000020004"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394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effectLst/>
                <a:uLnTx/>
                <a:uFillTx/>
                <a:latin typeface="EYInterstate" panose="02000503020000020004" pitchFamily="2" charset="0"/>
              </a:rPr>
              <a:t>Page </a:t>
            </a:r>
            <a:fld id="{D5B76411-544C-4F9A-8EDE-9EEB2BD21F95}" type="slidenum">
              <a:rPr kumimoji="0" lang="en-IN" sz="800" b="0" i="0" u="none" strike="noStrike" kern="0" cap="none" spc="0" normalizeH="0" baseline="0" noProof="0" smtClean="0">
                <a:ln>
                  <a:noFill/>
                </a:ln>
                <a:effectLst/>
                <a:uLnTx/>
                <a:uFillTx/>
                <a:latin typeface="EYInterstate" panose="02000503020000020004" pitchFamily="2" charset="0"/>
              </a:rPr>
              <a:pPr marL="0" marR="0" lvl="0" indent="0" defTabSz="913943" eaLnBrk="1" fontAlgn="auto" latinLnBrk="0" hangingPunct="1">
                <a:lnSpc>
                  <a:spcPct val="100000"/>
                </a:lnSpc>
                <a:spcBef>
                  <a:spcPts val="0"/>
                </a:spcBef>
                <a:spcAft>
                  <a:spcPts val="0"/>
                </a:spcAft>
                <a:buClrTx/>
                <a:buSzTx/>
                <a:buFontTx/>
                <a:buNone/>
                <a:tabLst/>
                <a:defRPr/>
              </a:pPr>
              <a:t>‹#›</a:t>
            </a:fld>
            <a:br>
              <a:rPr kumimoji="0" lang="en-IN" sz="800" b="0" i="0" u="none" strike="noStrike" kern="0" cap="none" spc="0" normalizeH="0" baseline="0" noProof="0">
                <a:ln>
                  <a:noFill/>
                </a:ln>
                <a:effectLst/>
                <a:uLnTx/>
                <a:uFillTx/>
                <a:latin typeface="EYInterstate" panose="02000503020000020004" pitchFamily="2" charset="0"/>
              </a:rPr>
            </a:br>
            <a:endParaRPr kumimoji="0" sz="800" b="0" i="0" u="none" strike="noStrike" kern="0" cap="none" spc="0" normalizeH="0" baseline="0" noProof="0">
              <a:ln>
                <a:noFill/>
              </a:ln>
              <a:effectLst/>
              <a:uLnTx/>
              <a:uFillTx/>
              <a:latin typeface="EYInterstate" panose="02000503020000020004" pitchFamily="2" charset="0"/>
            </a:endParaRPr>
          </a:p>
        </p:txBody>
      </p:sp>
    </p:spTree>
    <p:extLst>
      <p:ext uri="{BB962C8B-B14F-4D97-AF65-F5344CB8AC3E}">
        <p14:creationId xmlns:p14="http://schemas.microsoft.com/office/powerpoint/2010/main" val="356180770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1_Cover">
    <p:spTree>
      <p:nvGrpSpPr>
        <p:cNvPr id="1" name=""/>
        <p:cNvGrpSpPr/>
        <p:nvPr/>
      </p:nvGrpSpPr>
      <p:grpSpPr>
        <a:xfrm>
          <a:off x="0" y="0"/>
          <a:ext cx="0" cy="0"/>
          <a:chOff x="0" y="0"/>
          <a:chExt cx="0" cy="0"/>
        </a:xfrm>
      </p:grpSpPr>
      <p:sp>
        <p:nvSpPr>
          <p:cNvPr id="2" name="Freeform 56">
            <a:extLst>
              <a:ext uri="{FF2B5EF4-FFF2-40B4-BE49-F238E27FC236}">
                <a16:creationId xmlns:a16="http://schemas.microsoft.com/office/drawing/2014/main" id="{13A7AC18-CF42-4EC5-8D40-441EAE30A06C}"/>
              </a:ext>
            </a:extLst>
          </p:cNvPr>
          <p:cNvSpPr/>
          <p:nvPr userDrawn="1"/>
        </p:nvSpPr>
        <p:spPr>
          <a:xfrm>
            <a:off x="62261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noProof="0"/>
          </a:p>
        </p:txBody>
      </p:sp>
      <p:sp>
        <p:nvSpPr>
          <p:cNvPr id="3" name="Title 1"/>
          <p:cNvSpPr>
            <a:spLocks noGrp="1"/>
          </p:cNvSpPr>
          <p:nvPr>
            <p:ph type="ctrTitle" hasCustomPrompt="1"/>
          </p:nvPr>
        </p:nvSpPr>
        <p:spPr>
          <a:xfrm>
            <a:off x="899860" y="1954221"/>
            <a:ext cx="4326679" cy="979702"/>
          </a:xfrm>
        </p:spPr>
        <p:txBody>
          <a:bodyPr/>
          <a:lstStyle>
            <a:lvl1pPr>
              <a:defRPr sz="2999" b="0">
                <a:solidFill>
                  <a:schemeClr val="tx1"/>
                </a:solidFill>
                <a:latin typeface="EYInterstate Light" panose="02000506000000020004" pitchFamily="2" charset="0"/>
                <a:cs typeface="Arial" pitchFamily="34" charset="0"/>
              </a:defRPr>
            </a:lvl1pPr>
          </a:lstStyle>
          <a:p>
            <a:r>
              <a:rPr lang="en-US" noProof="0"/>
              <a:t>Click to edit Master title style</a:t>
            </a:r>
          </a:p>
        </p:txBody>
      </p:sp>
      <p:sp>
        <p:nvSpPr>
          <p:cNvPr id="4" name="Subtitle 2"/>
          <p:cNvSpPr>
            <a:spLocks noGrp="1"/>
          </p:cNvSpPr>
          <p:nvPr>
            <p:ph type="subTitle" idx="1" hasCustomPrompt="1"/>
          </p:nvPr>
        </p:nvSpPr>
        <p:spPr>
          <a:xfrm>
            <a:off x="899860" y="3046159"/>
            <a:ext cx="4326679" cy="1046323"/>
          </a:xfrm>
          <a:prstGeom prst="rect">
            <a:avLst/>
          </a:prstGeom>
        </p:spPr>
        <p:txBody>
          <a:bodyPr>
            <a:noAutofit/>
          </a:bodyPr>
          <a:lstStyle>
            <a:lvl1pPr marL="0" indent="0" algn="l">
              <a:spcAft>
                <a:spcPts val="1199"/>
              </a:spcAft>
              <a:buNone/>
              <a:defRPr sz="1999">
                <a:solidFill>
                  <a:schemeClr val="tx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noProof="0"/>
              <a:t>Click to edit Master subtitle style</a:t>
            </a:r>
          </a:p>
        </p:txBody>
      </p:sp>
      <p:grpSp>
        <p:nvGrpSpPr>
          <p:cNvPr id="5" name="Group 4">
            <a:extLst>
              <a:ext uri="{FF2B5EF4-FFF2-40B4-BE49-F238E27FC236}">
                <a16:creationId xmlns:a16="http://schemas.microsoft.com/office/drawing/2014/main" id="{C8422AE9-8257-41A9-AB41-1F10585C886F}"/>
              </a:ext>
            </a:extLst>
          </p:cNvPr>
          <p:cNvGrpSpPr>
            <a:grpSpLocks noChangeAspect="1"/>
          </p:cNvGrpSpPr>
          <p:nvPr userDrawn="1"/>
        </p:nvGrpSpPr>
        <p:grpSpPr bwMode="invGray">
          <a:xfrm>
            <a:off x="10359392" y="4960938"/>
            <a:ext cx="1224912" cy="1435100"/>
            <a:chOff x="6529" y="3125"/>
            <a:chExt cx="772" cy="904"/>
          </a:xfrm>
        </p:grpSpPr>
        <p:sp>
          <p:nvSpPr>
            <p:cNvPr id="6" name="Freeform 5">
              <a:extLst>
                <a:ext uri="{FF2B5EF4-FFF2-40B4-BE49-F238E27FC236}">
                  <a16:creationId xmlns:a16="http://schemas.microsoft.com/office/drawing/2014/main" id="{D19659BD-653C-4300-9060-420AFAE39587}"/>
                </a:ext>
              </a:extLst>
            </p:cNvPr>
            <p:cNvSpPr>
              <a:spLocks/>
            </p:cNvSpPr>
            <p:nvPr userDrawn="1"/>
          </p:nvSpPr>
          <p:spPr bwMode="invGray">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7" name="Freeform 6">
              <a:extLst>
                <a:ext uri="{FF2B5EF4-FFF2-40B4-BE49-F238E27FC236}">
                  <a16:creationId xmlns:a16="http://schemas.microsoft.com/office/drawing/2014/main" id="{A4669336-72A1-4233-827A-C41AB4C1CC04}"/>
                </a:ext>
              </a:extLst>
            </p:cNvPr>
            <p:cNvSpPr>
              <a:spLocks noEditPoints="1"/>
            </p:cNvSpPr>
            <p:nvPr userDrawn="1"/>
          </p:nvSpPr>
          <p:spPr bwMode="invGray">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grpSp>
    </p:spTree>
    <p:extLst>
      <p:ext uri="{BB962C8B-B14F-4D97-AF65-F5344CB8AC3E}">
        <p14:creationId xmlns:p14="http://schemas.microsoft.com/office/powerpoint/2010/main" val="3938416401"/>
      </p:ext>
    </p:extLst>
  </p:cSld>
  <p:clrMapOvr>
    <a:masterClrMapping/>
  </p:clrMapOvr>
  <p:extLst>
    <p:ext uri="{DCECCB84-F9BA-43D5-87BE-67443E8EF086}">
      <p15:sldGuideLst xmlns:p15="http://schemas.microsoft.com/office/powerpoint/2012/main">
        <p15:guide id="1" orient="horz" pos="1230">
          <p15:clr>
            <a:srgbClr val="FBAE40"/>
          </p15:clr>
        </p15:guide>
        <p15:guide id="2" pos="553">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_Content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a:solidFill>
                  <a:schemeClr val="bg1"/>
                </a:solidFill>
              </a:defRPr>
            </a:lvl1pPr>
          </a:lstStyle>
          <a:p>
            <a:r>
              <a:rPr lang="en-US" noProof="0"/>
              <a:t>Click to edit Master title style</a:t>
            </a:r>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hasCustomPrompt="1"/>
          </p:nvPr>
        </p:nvSpPr>
        <p:spPr>
          <a:xfrm>
            <a:off x="609600" y="1137921"/>
            <a:ext cx="4954924" cy="4267457"/>
          </a:xfrm>
          <a:prstGeom prst="rect">
            <a:avLst/>
          </a:prstGeom>
        </p:spPr>
        <p:txBody>
          <a:bodyPr>
            <a:noAutofit/>
          </a:bodyPr>
          <a:lstStyle>
            <a:lvl1pPr marL="0" indent="0">
              <a:buNone/>
              <a:defRPr/>
            </a:lvl1pPr>
          </a:lstStyle>
          <a:p>
            <a:r>
              <a:rPr lang="en-US" noProof="0"/>
              <a:t>Click icon to add table</a:t>
            </a:r>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29748" y="3813288"/>
            <a:ext cx="3087667" cy="180000"/>
          </a:xfrm>
          <a:prstGeom prst="rect">
            <a:avLst/>
          </a:prstGeom>
        </p:spPr>
        <p:txBody>
          <a:bodyPr>
            <a:noAutofit/>
          </a:bodyPr>
          <a:lstStyle>
            <a:lvl1pPr marL="0" indent="0">
              <a:buNone/>
              <a:defRPr sz="1199">
                <a:solidFill>
                  <a:schemeClr val="tx2"/>
                </a:solidFill>
              </a:defRPr>
            </a:lvl1pPr>
          </a:lstStyle>
          <a:p>
            <a:pPr lvl="0"/>
            <a:r>
              <a:rPr lang="en-US" noProof="0"/>
              <a:t>Name Surname</a:t>
            </a:r>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29748" y="4055931"/>
            <a:ext cx="3087667" cy="180000"/>
          </a:xfrm>
          <a:prstGeom prst="rect">
            <a:avLst/>
          </a:prstGeom>
        </p:spPr>
        <p:txBody>
          <a:bodyPr>
            <a:noAutofit/>
          </a:bodyPr>
          <a:lstStyle>
            <a:lvl1pPr marL="0" indent="0">
              <a:buNone/>
              <a:defRPr sz="1199">
                <a:solidFill>
                  <a:schemeClr val="bg1"/>
                </a:solidFill>
              </a:defRPr>
            </a:lvl1pPr>
          </a:lstStyle>
          <a:p>
            <a:pPr lvl="0"/>
            <a:r>
              <a:rPr lang="en-US" noProof="0"/>
              <a:t>Job Title to go here</a:t>
            </a:r>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hasCustomPrompt="1"/>
          </p:nvPr>
        </p:nvSpPr>
        <p:spPr>
          <a:xfrm>
            <a:off x="6119820" y="3578084"/>
            <a:ext cx="778554" cy="778959"/>
          </a:xfrm>
          <a:prstGeom prst="ellipse">
            <a:avLst/>
          </a:prstGeom>
        </p:spPr>
        <p:txBody>
          <a:bodyPr anchor="ctr"/>
          <a:lstStyle>
            <a:lvl1pPr marL="0" indent="0" algn="ctr">
              <a:buNone/>
              <a:defRPr sz="900">
                <a:solidFill>
                  <a:schemeClr val="bg1"/>
                </a:solidFill>
              </a:defRPr>
            </a:lvl1pPr>
          </a:lstStyle>
          <a:p>
            <a:r>
              <a:rPr lang="en-US" noProof="0"/>
              <a:t>Click icon to add table</a:t>
            </a:r>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19821" y="1137921"/>
            <a:ext cx="5462580" cy="373807"/>
          </a:xfrm>
          <a:prstGeom prst="rect">
            <a:avLst/>
          </a:prstGeom>
        </p:spPr>
        <p:txBody>
          <a:bodyPr>
            <a:noAutofit/>
          </a:bodyPr>
          <a:lstStyle>
            <a:lvl1pPr marL="0" indent="0">
              <a:buNone/>
              <a:defRPr/>
            </a:lvl1pPr>
          </a:lstStyle>
          <a:p>
            <a:pPr lvl="0"/>
            <a:r>
              <a:rPr lang="en-US" noProof="0"/>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19821" y="1635009"/>
            <a:ext cx="5462580" cy="1611554"/>
          </a:xfrm>
          <a:prstGeom prst="rect">
            <a:avLst/>
          </a:prstGeom>
        </p:spPr>
        <p:txBody>
          <a:bodyPr>
            <a:noAutofit/>
          </a:bodyPr>
          <a:lstStyle>
            <a:lvl1pPr marL="0" indent="0">
              <a:buNone/>
              <a:defRPr sz="1599"/>
            </a:lvl1pPr>
          </a:lstStyle>
          <a:p>
            <a:pPr lvl="0"/>
            <a:r>
              <a:rPr lang="en-US" noProof="0"/>
              <a:t>Content EY Interstate Light, 16pt, Lorem ipsum dolor, 12pt, </a:t>
            </a:r>
            <a:r>
              <a:rPr lang="en-US" noProof="0" err="1"/>
              <a:t>Utinam</a:t>
            </a:r>
            <a:r>
              <a:rPr lang="en-US" noProof="0"/>
              <a:t> </a:t>
            </a:r>
            <a:r>
              <a:rPr lang="en-US" noProof="0" err="1"/>
              <a:t>nonumy</a:t>
            </a:r>
            <a:r>
              <a:rPr lang="en-US" noProof="0"/>
              <a:t> </a:t>
            </a:r>
            <a:r>
              <a:rPr lang="en-US" noProof="0" err="1"/>
              <a:t>abhorreant</a:t>
            </a:r>
            <a:r>
              <a:rPr lang="en-US" noProof="0"/>
              <a:t> </a:t>
            </a:r>
            <a:r>
              <a:rPr lang="en-US" noProof="0" err="1"/>
              <a:t>sead</a:t>
            </a:r>
            <a:r>
              <a:rPr lang="en-US" noProof="0"/>
              <a:t>. </a:t>
            </a:r>
            <a:r>
              <a:rPr lang="en-US" noProof="0" err="1"/>
              <a:t>Putant</a:t>
            </a:r>
            <a:r>
              <a:rPr lang="en-US" noProof="0"/>
              <a:t> </a:t>
            </a:r>
            <a:r>
              <a:rPr lang="en-US" noProof="0" err="1"/>
              <a:t>probatus</a:t>
            </a:r>
            <a:r>
              <a:rPr lang="en-US" noProof="0"/>
              <a:t> id vis, ad his </a:t>
            </a:r>
            <a:r>
              <a:rPr lang="en-US" noProof="0" err="1"/>
              <a:t>meis</a:t>
            </a:r>
            <a:r>
              <a:rPr lang="en-US" noProof="0"/>
              <a:t> </a:t>
            </a:r>
            <a:r>
              <a:rPr lang="en-US" noProof="0" err="1"/>
              <a:t>habemus</a:t>
            </a:r>
            <a:r>
              <a:rPr lang="en-US" noProof="0"/>
              <a:t> </a:t>
            </a:r>
            <a:r>
              <a:rPr lang="en-US" noProof="0" err="1"/>
              <a:t>repudiare</a:t>
            </a:r>
            <a:r>
              <a:rPr lang="en-US" noProof="0"/>
              <a:t>, has an </a:t>
            </a:r>
            <a:r>
              <a:rPr lang="en-US" noProof="0" err="1"/>
              <a:t>pericula</a:t>
            </a:r>
            <a:r>
              <a:rPr lang="en-US" noProof="0"/>
              <a:t> </a:t>
            </a:r>
            <a:r>
              <a:rPr lang="en-US" noProof="0" err="1"/>
              <a:t>tractatos</a:t>
            </a:r>
            <a:r>
              <a:rPr lang="en-US" noProof="0"/>
              <a:t>. </a:t>
            </a:r>
            <a:r>
              <a:rPr lang="en-US" noProof="0" err="1"/>
              <a:t>Nec</a:t>
            </a:r>
            <a:r>
              <a:rPr lang="en-US" noProof="0"/>
              <a:t> </a:t>
            </a:r>
            <a:r>
              <a:rPr lang="en-US" noProof="0" err="1"/>
              <a:t>debitis</a:t>
            </a:r>
            <a:r>
              <a:rPr lang="en-US" noProof="0"/>
              <a:t> </a:t>
            </a:r>
            <a:r>
              <a:rPr lang="en-US" noProof="0" err="1"/>
              <a:t>dissentias</a:t>
            </a:r>
            <a:r>
              <a:rPr lang="en-US" noProof="0"/>
              <a:t> ad. </a:t>
            </a:r>
            <a:r>
              <a:rPr lang="en-US" noProof="0" err="1"/>
              <a:t>Patrioque</a:t>
            </a:r>
            <a:r>
              <a:rPr lang="en-US" noProof="0"/>
              <a:t> </a:t>
            </a:r>
            <a:r>
              <a:rPr lang="en-US" noProof="0" err="1"/>
              <a:t>voluptatum</a:t>
            </a:r>
            <a:r>
              <a:rPr lang="en-US" noProof="0"/>
              <a:t> </a:t>
            </a:r>
            <a:r>
              <a:rPr lang="en-US" noProof="0" err="1"/>
              <a:t>sed</a:t>
            </a:r>
            <a:r>
              <a:rPr lang="en-US" noProof="0"/>
              <a:t> ex, id </a:t>
            </a:r>
            <a:r>
              <a:rPr lang="en-US" noProof="0" err="1"/>
              <a:t>admodum</a:t>
            </a:r>
            <a:r>
              <a:rPr lang="en-US" noProof="0"/>
              <a:t>.</a:t>
            </a:r>
          </a:p>
          <a:p>
            <a:pPr lvl="0"/>
            <a:endParaRPr lang="en-US" noProof="0"/>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C5822E28-B24F-4CF6-8F50-70ED7C22A114}"/>
              </a:ext>
            </a:extLst>
          </p:cNvPr>
          <p:cNvSpPr>
            <a:spLocks noGrp="1"/>
          </p:cNvSpPr>
          <p:nvPr>
            <p:ph type="dt" sz="half" idx="19"/>
          </p:nvPr>
        </p:nvSpPr>
        <p:spPr/>
        <p:txBody>
          <a:bodyPr/>
          <a:lstStyle/>
          <a:p>
            <a:fld id="{B9C240D9-3735-49C9-A196-6B66C851109A}" type="datetime3">
              <a:rPr lang="en-US" noProof="0" smtClean="0"/>
              <a:t>27 November 2025</a:t>
            </a:fld>
            <a:endParaRPr lang="en-US" noProof="0"/>
          </a:p>
        </p:txBody>
      </p:sp>
      <p:sp>
        <p:nvSpPr>
          <p:cNvPr id="4" name="Footer Placeholder 3">
            <a:extLst>
              <a:ext uri="{FF2B5EF4-FFF2-40B4-BE49-F238E27FC236}">
                <a16:creationId xmlns:a16="http://schemas.microsoft.com/office/drawing/2014/main" id="{6865E1CD-A05B-41DC-B488-E4BA204E7AE5}"/>
              </a:ext>
            </a:extLst>
          </p:cNvPr>
          <p:cNvSpPr>
            <a:spLocks noGrp="1"/>
          </p:cNvSpPr>
          <p:nvPr>
            <p:ph type="ftr" sz="quarter" idx="20"/>
          </p:nvPr>
        </p:nvSpPr>
        <p:spPr/>
        <p:txBody>
          <a:bodyPr/>
          <a:lstStyle/>
          <a:p>
            <a:r>
              <a:rPr lang="en-US" noProof="0"/>
              <a:t>Presentation title</a:t>
            </a:r>
          </a:p>
        </p:txBody>
      </p:sp>
      <p:sp>
        <p:nvSpPr>
          <p:cNvPr id="6" name="Slide Number Placeholder 5">
            <a:extLst>
              <a:ext uri="{FF2B5EF4-FFF2-40B4-BE49-F238E27FC236}">
                <a16:creationId xmlns:a16="http://schemas.microsoft.com/office/drawing/2014/main" id="{5716ABDB-CF45-4001-9487-F3BA3DD8DACD}"/>
              </a:ext>
            </a:extLst>
          </p:cNvPr>
          <p:cNvSpPr>
            <a:spLocks noGrp="1"/>
          </p:cNvSpPr>
          <p:nvPr>
            <p:ph type="sldNum" sz="quarter" idx="21"/>
          </p:nvPr>
        </p:nvSpPr>
        <p:spPr/>
        <p:txBody>
          <a:bodyPr/>
          <a:lstStyle/>
          <a:p>
            <a:r>
              <a:rPr lang="en-US" noProof="0"/>
              <a:t>Page </a:t>
            </a:r>
            <a:fld id="{F1BC30E3-FFE5-4B91-AA19-87A149EBB9EE}" type="slidenum">
              <a:rPr lang="en-US" noProof="0" smtClean="0"/>
              <a:pPr/>
              <a:t>‹#›</a:t>
            </a:fld>
            <a:endParaRPr lang="en-US" noProof="0"/>
          </a:p>
        </p:txBody>
      </p:sp>
    </p:spTree>
    <p:extLst>
      <p:ext uri="{BB962C8B-B14F-4D97-AF65-F5344CB8AC3E}">
        <p14:creationId xmlns:p14="http://schemas.microsoft.com/office/powerpoint/2010/main" val="4291401778"/>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3_Standard">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a:solidFill>
                  <a:schemeClr val="bg1"/>
                </a:solidFill>
              </a:defRPr>
            </a:lvl1pPr>
          </a:lstStyle>
          <a:p>
            <a:r>
              <a:rPr lang="en-US" noProof="0"/>
              <a:t>Click to edit Master title style</a:t>
            </a:r>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00869D6F-A030-48CA-9C7C-9FC3A6F1F671}"/>
              </a:ext>
            </a:extLst>
          </p:cNvPr>
          <p:cNvSpPr>
            <a:spLocks noGrp="1"/>
          </p:cNvSpPr>
          <p:nvPr>
            <p:ph type="dt" sz="half" idx="10"/>
          </p:nvPr>
        </p:nvSpPr>
        <p:spPr/>
        <p:txBody>
          <a:bodyPr/>
          <a:lstStyle/>
          <a:p>
            <a:fld id="{23EB5111-4321-4A8B-8136-0060A1CE4C12}" type="datetime3">
              <a:rPr lang="en-US" noProof="0" smtClean="0"/>
              <a:t>27 November 2025</a:t>
            </a:fld>
            <a:endParaRPr lang="en-US" noProof="0"/>
          </a:p>
        </p:txBody>
      </p:sp>
      <p:sp>
        <p:nvSpPr>
          <p:cNvPr id="5" name="Footer Placeholder 4">
            <a:extLst>
              <a:ext uri="{FF2B5EF4-FFF2-40B4-BE49-F238E27FC236}">
                <a16:creationId xmlns:a16="http://schemas.microsoft.com/office/drawing/2014/main" id="{2F02C3F7-BD0A-4AD4-95D8-328DA6F539AD}"/>
              </a:ext>
            </a:extLst>
          </p:cNvPr>
          <p:cNvSpPr>
            <a:spLocks noGrp="1"/>
          </p:cNvSpPr>
          <p:nvPr>
            <p:ph type="ftr" sz="quarter" idx="11"/>
          </p:nvPr>
        </p:nvSpPr>
        <p:spPr/>
        <p:txBody>
          <a:bodyPr/>
          <a:lstStyle/>
          <a:p>
            <a:r>
              <a:rPr lang="en-US" noProof="0"/>
              <a:t>Presentation title</a:t>
            </a: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p:txBody>
          <a:bodyPr/>
          <a:lstStyle/>
          <a:p>
            <a:r>
              <a:rPr lang="en-US" noProof="0"/>
              <a:t>Page </a:t>
            </a:r>
            <a:fld id="{F1BC30E3-FFE5-4B91-AA19-87A149EBB9EE}" type="slidenum">
              <a:rPr lang="en-US" noProof="0" smtClean="0"/>
              <a:pPr/>
              <a:t>‹#›</a:t>
            </a:fld>
            <a:endParaRPr lang="en-US" noProof="0"/>
          </a:p>
        </p:txBody>
      </p:sp>
      <p:sp>
        <p:nvSpPr>
          <p:cNvPr id="10" name="Textplatzhalter 9"/>
          <p:cNvSpPr>
            <a:spLocks noGrp="1"/>
          </p:cNvSpPr>
          <p:nvPr>
            <p:ph type="body" sz="quarter" idx="14" hasCustomPrompt="1"/>
          </p:nvPr>
        </p:nvSpPr>
        <p:spPr>
          <a:xfrm>
            <a:off x="609599" y="1137920"/>
            <a:ext cx="8250503" cy="4946400"/>
          </a:xfrm>
          <a:prstGeom prst="rect">
            <a:avLst/>
          </a:prstGeom>
        </p:spPr>
        <p:txBody>
          <a:bodyPr vert="horz" lIns="0" tIns="0" rIns="0" bIns="0" rtlCol="0">
            <a:noAutofit/>
          </a:bodyPr>
          <a:lst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lang="en-US" noProof="0" dirty="0" smtClean="0"/>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sz="1599" noProof="0" dirty="0" smtClean="0"/>
            </a:lvl2pPr>
            <a:lvl3pPr marL="510919" marR="0"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sz="1599" noProof="0" dirty="0" smtClean="0"/>
            </a:lvl3pPr>
            <a:lvl4pPr marL="745752" marR="0"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sz="1599" noProof="0" dirty="0" smtClean="0"/>
            </a:lvl4pPr>
            <a:lvl5pPr marL="944091" marR="0"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sz="1599" noProof="0" dirty="0" smtClean="0"/>
            </a:lvl5pPr>
          </a:lstStyle>
          <a:p>
            <a:pPr marL="0" marR="0" lvl="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Click to edit Master text styles</a:t>
            </a:r>
          </a:p>
          <a:p>
            <a:pPr marL="271327" marR="0" lvl="1"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Second level</a:t>
            </a:r>
          </a:p>
          <a:p>
            <a:pPr marL="510919" marR="0" lvl="2"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Third level</a:t>
            </a:r>
          </a:p>
          <a:p>
            <a:pPr marL="745752" marR="0" lvl="3"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5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Fourth level</a:t>
            </a:r>
          </a:p>
          <a:p>
            <a:pPr marL="944091" marR="0" lvl="4"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3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Text</a:t>
            </a:r>
          </a:p>
        </p:txBody>
      </p:sp>
    </p:spTree>
    <p:extLst>
      <p:ext uri="{BB962C8B-B14F-4D97-AF65-F5344CB8AC3E}">
        <p14:creationId xmlns:p14="http://schemas.microsoft.com/office/powerpoint/2010/main" val="402094452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4_Standard">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400"/>
          </a:xfrm>
        </p:spPr>
        <p:txBody>
          <a:bodyPr/>
          <a:lstStyle>
            <a:lvl1pPr>
              <a:defRPr>
                <a:solidFill>
                  <a:schemeClr val="bg1"/>
                </a:solidFill>
              </a:defRPr>
            </a:lvl1pPr>
          </a:lstStyle>
          <a:p>
            <a:r>
              <a:rPr lang="en-US" noProof="0"/>
              <a:t>Click to edit Master title style</a:t>
            </a:r>
          </a:p>
        </p:txBody>
      </p:sp>
      <p:sp>
        <p:nvSpPr>
          <p:cNvPr id="4" name="Date Placeholder 3">
            <a:extLst>
              <a:ext uri="{FF2B5EF4-FFF2-40B4-BE49-F238E27FC236}">
                <a16:creationId xmlns:a16="http://schemas.microsoft.com/office/drawing/2014/main" id="{00869D6F-A030-48CA-9C7C-9FC3A6F1F671}"/>
              </a:ext>
            </a:extLst>
          </p:cNvPr>
          <p:cNvSpPr>
            <a:spLocks noGrp="1"/>
          </p:cNvSpPr>
          <p:nvPr>
            <p:ph type="dt" sz="half" idx="10"/>
          </p:nvPr>
        </p:nvSpPr>
        <p:spPr/>
        <p:txBody>
          <a:bodyPr/>
          <a:lstStyle/>
          <a:p>
            <a:fld id="{23EB5111-4321-4A8B-8136-0060A1CE4C12}" type="datetime3">
              <a:rPr lang="en-US" noProof="0" smtClean="0"/>
              <a:t>27 November 2025</a:t>
            </a:fld>
            <a:endParaRPr lang="en-US" noProof="0"/>
          </a:p>
        </p:txBody>
      </p:sp>
      <p:sp>
        <p:nvSpPr>
          <p:cNvPr id="5" name="Footer Placeholder 4">
            <a:extLst>
              <a:ext uri="{FF2B5EF4-FFF2-40B4-BE49-F238E27FC236}">
                <a16:creationId xmlns:a16="http://schemas.microsoft.com/office/drawing/2014/main" id="{2F02C3F7-BD0A-4AD4-95D8-328DA6F539AD}"/>
              </a:ext>
            </a:extLst>
          </p:cNvPr>
          <p:cNvSpPr>
            <a:spLocks noGrp="1"/>
          </p:cNvSpPr>
          <p:nvPr>
            <p:ph type="ftr" sz="quarter" idx="11"/>
          </p:nvPr>
        </p:nvSpPr>
        <p:spPr/>
        <p:txBody>
          <a:bodyPr/>
          <a:lstStyle/>
          <a:p>
            <a:r>
              <a:rPr lang="en-US" noProof="0"/>
              <a:t>Presentation title</a:t>
            </a: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p:txBody>
          <a:bodyPr/>
          <a:lstStyle/>
          <a:p>
            <a:r>
              <a:rPr lang="en-US" noProof="0"/>
              <a:t>Page </a:t>
            </a:r>
            <a:fld id="{F1BC30E3-FFE5-4B91-AA19-87A149EBB9EE}" type="slidenum">
              <a:rPr lang="en-US" noProof="0" smtClean="0"/>
              <a:pPr/>
              <a:t>‹#›</a:t>
            </a:fld>
            <a:endParaRPr lang="en-US" noProof="0"/>
          </a:p>
        </p:txBody>
      </p:sp>
      <p:sp>
        <p:nvSpPr>
          <p:cNvPr id="10" name="Textplatzhalter 9"/>
          <p:cNvSpPr>
            <a:spLocks noGrp="1"/>
          </p:cNvSpPr>
          <p:nvPr>
            <p:ph type="body" sz="quarter" idx="14" hasCustomPrompt="1"/>
          </p:nvPr>
        </p:nvSpPr>
        <p:spPr>
          <a:xfrm>
            <a:off x="609599" y="1340769"/>
            <a:ext cx="8250503" cy="4743551"/>
          </a:xfrm>
          <a:prstGeom prst="rect">
            <a:avLst/>
          </a:prstGeom>
        </p:spPr>
        <p:txBody>
          <a:bodyPr vert="horz" lIns="0" tIns="0" rIns="0" bIns="0" rtlCol="0">
            <a:noAutofit/>
          </a:bodyPr>
          <a:lst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lang="en-US" sz="1799" noProof="0" dirty="0" smtClean="0"/>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sz="1599" noProof="0" dirty="0" smtClean="0"/>
            </a:lvl2pPr>
            <a:lvl3pPr marL="510919" marR="0"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sz="1599" noProof="0" dirty="0" smtClean="0"/>
            </a:lvl3pPr>
            <a:lvl4pPr marL="745752" marR="0"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dirty="0" smtClean="0"/>
            </a:lvl4pPr>
            <a:lvl5pPr marL="944091" marR="0"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dirty="0" smtClean="0"/>
            </a:lvl5pPr>
          </a:lstStyle>
          <a:p>
            <a:pPr marL="0" marR="0" lvl="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Click to edit Master text styles</a:t>
            </a:r>
          </a:p>
          <a:p>
            <a:pPr marL="271327" marR="0" lvl="1"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Second level</a:t>
            </a:r>
          </a:p>
          <a:p>
            <a:pPr marL="510919" marR="0" lvl="2"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Third level</a:t>
            </a:r>
          </a:p>
        </p:txBody>
      </p:sp>
      <p:sp>
        <p:nvSpPr>
          <p:cNvPr id="8" name="Line 10">
            <a:extLst>
              <a:ext uri="{FF2B5EF4-FFF2-40B4-BE49-F238E27FC236}">
                <a16:creationId xmlns:a16="http://schemas.microsoft.com/office/drawing/2014/main" id="{DD0D2D18-45D4-4612-90C6-BBE12D0AB614}"/>
              </a:ext>
            </a:extLst>
          </p:cNvPr>
          <p:cNvSpPr>
            <a:spLocks noChangeShapeType="1"/>
          </p:cNvSpPr>
          <p:nvPr userDrawn="1"/>
        </p:nvSpPr>
        <p:spPr bwMode="auto">
          <a:xfrm>
            <a:off x="609600" y="1047450"/>
            <a:ext cx="1079438" cy="0"/>
          </a:xfrm>
          <a:prstGeom prst="line">
            <a:avLst/>
          </a:prstGeom>
          <a:noFill/>
          <a:ln w="3810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205249074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4_Standard_picture_righ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hasCustomPrompt="1"/>
          </p:nvPr>
        </p:nvSpPr>
        <p:spPr>
          <a:xfrm>
            <a:off x="8194852" y="1"/>
            <a:ext cx="3997149" cy="6857999"/>
          </a:xfrm>
          <a:prstGeom prst="rect">
            <a:avLst/>
          </a:prstGeom>
        </p:spPr>
        <p:txBody>
          <a:bodyPr/>
          <a:lstStyle>
            <a:lvl1pPr marL="0" indent="0">
              <a:buFontTx/>
              <a:buNone/>
              <a:defRPr/>
            </a:lvl1pPr>
          </a:lstStyle>
          <a:p>
            <a:r>
              <a:rPr lang="en-US" noProof="0"/>
              <a:t>Click icon to add picture</a:t>
            </a:r>
          </a:p>
        </p:txBody>
      </p:sp>
      <p:sp>
        <p:nvSpPr>
          <p:cNvPr id="2" name="Title 1"/>
          <p:cNvSpPr>
            <a:spLocks noGrp="1"/>
          </p:cNvSpPr>
          <p:nvPr>
            <p:ph type="title" hasCustomPrompt="1"/>
          </p:nvPr>
        </p:nvSpPr>
        <p:spPr>
          <a:xfrm>
            <a:off x="609601" y="294200"/>
            <a:ext cx="7296999" cy="590400"/>
          </a:xfrm>
        </p:spPr>
        <p:txBody>
          <a:bodyPr/>
          <a:lstStyle>
            <a:lvl1pPr>
              <a:defRPr sz="2399">
                <a:solidFill>
                  <a:schemeClr val="bg1"/>
                </a:solidFill>
              </a:defRPr>
            </a:lvl1pPr>
          </a:lstStyle>
          <a:p>
            <a:r>
              <a:rPr lang="en-US" noProof="0"/>
              <a:t>Click to edit Master title style</a:t>
            </a:r>
          </a:p>
        </p:txBody>
      </p:sp>
      <p:sp>
        <p:nvSpPr>
          <p:cNvPr id="3" name="Content Placeholder 2"/>
          <p:cNvSpPr>
            <a:spLocks noGrp="1"/>
          </p:cNvSpPr>
          <p:nvPr>
            <p:ph idx="1" hasCustomPrompt="1"/>
          </p:nvPr>
        </p:nvSpPr>
        <p:spPr>
          <a:xfrm>
            <a:off x="609601" y="1137921"/>
            <a:ext cx="7295842" cy="873760"/>
          </a:xfrm>
          <a:prstGeom prst="rect">
            <a:avLst/>
          </a:prstGeom>
        </p:spPr>
        <p:txBody>
          <a:bodyPr>
            <a:noAutofit/>
          </a:bodyPr>
          <a:lstStyle>
            <a:lvl1pPr marL="0" indent="0">
              <a:buNone/>
              <a:defRPr sz="17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601" y="2311401"/>
            <a:ext cx="3578253" cy="3781424"/>
          </a:xfrm>
          <a:prstGeom prst="rect">
            <a:avLst/>
          </a:prstGeom>
        </p:spPr>
        <p:txBody>
          <a:bodyPr numCol="1">
            <a:noAutofit/>
          </a:bodyPr>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7190" y="2311402"/>
            <a:ext cx="3578253" cy="1254759"/>
          </a:xfrm>
          <a:prstGeom prst="rect">
            <a:avLst/>
          </a:prstGeom>
        </p:spPr>
        <p:txBody>
          <a:bodyPr numCol="1">
            <a:noAutofit/>
          </a:bodyPr>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7190" y="4236721"/>
            <a:ext cx="3578253" cy="1856104"/>
          </a:xfrm>
          <a:prstGeom prst="rect">
            <a:avLst/>
          </a:prstGeom>
        </p:spPr>
        <p:txBody>
          <a:bodyPr numCol="1">
            <a:noAutofit/>
          </a:bodyPr>
          <a:lstStyle>
            <a:lvl1pPr marL="0" indent="0">
              <a:buNone/>
              <a:defRPr sz="1799">
                <a:solidFill>
                  <a:schemeClr val="bg1"/>
                </a:solidFill>
                <a:latin typeface="Georgia" panose="02040502050405020303" pitchFamily="18" charset="0"/>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Quote</a:t>
            </a:r>
          </a:p>
        </p:txBody>
      </p:sp>
      <p:sp>
        <p:nvSpPr>
          <p:cNvPr id="4" name="Date Placeholder 3">
            <a:extLst>
              <a:ext uri="{FF2B5EF4-FFF2-40B4-BE49-F238E27FC236}">
                <a16:creationId xmlns:a16="http://schemas.microsoft.com/office/drawing/2014/main" id="{38FDA286-FC7C-4768-AFFF-1618056D687D}"/>
              </a:ext>
            </a:extLst>
          </p:cNvPr>
          <p:cNvSpPr>
            <a:spLocks noGrp="1"/>
          </p:cNvSpPr>
          <p:nvPr>
            <p:ph type="dt" sz="half" idx="14"/>
          </p:nvPr>
        </p:nvSpPr>
        <p:spPr/>
        <p:txBody>
          <a:bodyPr/>
          <a:lstStyle/>
          <a:p>
            <a:fld id="{2F83285F-A85E-48D5-A1E9-9EA175F117DB}" type="datetime3">
              <a:rPr lang="en-US" noProof="0" smtClean="0"/>
              <a:t>27 November 2025</a:t>
            </a:fld>
            <a:endParaRPr lang="en-US" noProof="0"/>
          </a:p>
        </p:txBody>
      </p:sp>
      <p:sp>
        <p:nvSpPr>
          <p:cNvPr id="6" name="Footer Placeholder 5">
            <a:extLst>
              <a:ext uri="{FF2B5EF4-FFF2-40B4-BE49-F238E27FC236}">
                <a16:creationId xmlns:a16="http://schemas.microsoft.com/office/drawing/2014/main" id="{69C73E4D-1EBD-404A-B8F4-9B8AD7336F33}"/>
              </a:ext>
            </a:extLst>
          </p:cNvPr>
          <p:cNvSpPr>
            <a:spLocks noGrp="1"/>
          </p:cNvSpPr>
          <p:nvPr>
            <p:ph type="ftr" sz="quarter" idx="15"/>
          </p:nvPr>
        </p:nvSpPr>
        <p:spPr/>
        <p:txBody>
          <a:bodyPr/>
          <a:lstStyle/>
          <a:p>
            <a:r>
              <a:rPr lang="en-US" noProof="0"/>
              <a:t>Presentation title</a:t>
            </a:r>
          </a:p>
        </p:txBody>
      </p:sp>
      <p:sp>
        <p:nvSpPr>
          <p:cNvPr id="7" name="Slide Number Placeholder 6">
            <a:extLst>
              <a:ext uri="{FF2B5EF4-FFF2-40B4-BE49-F238E27FC236}">
                <a16:creationId xmlns:a16="http://schemas.microsoft.com/office/drawing/2014/main" id="{D159C267-49E7-46A8-B353-C5EB81154AB5}"/>
              </a:ext>
            </a:extLst>
          </p:cNvPr>
          <p:cNvSpPr>
            <a:spLocks noGrp="1"/>
          </p:cNvSpPr>
          <p:nvPr>
            <p:ph type="sldNum" sz="quarter" idx="16"/>
          </p:nvPr>
        </p:nvSpPr>
        <p:spPr/>
        <p:txBody>
          <a:bodyPr/>
          <a:lstStyle/>
          <a:p>
            <a:r>
              <a:rPr lang="en-US" noProof="0"/>
              <a:t>Page </a:t>
            </a:r>
            <a:fld id="{F1BC30E3-FFE5-4B91-AA19-87A149EBB9EE}" type="slidenum">
              <a:rPr lang="en-US" noProof="0" smtClean="0"/>
              <a:pPr/>
              <a:t>‹#›</a:t>
            </a:fld>
            <a:endParaRPr lang="en-US" noProof="0"/>
          </a:p>
        </p:txBody>
      </p:sp>
      <p:sp>
        <p:nvSpPr>
          <p:cNvPr id="1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602" y="907750"/>
            <a:ext cx="7285687"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1340226944"/>
      </p:ext>
    </p:extLst>
  </p:cSld>
  <p:clrMapOvr>
    <a:masterClrMapping/>
  </p:clrMapOvr>
  <p:extLst>
    <p:ext uri="{DCECCB84-F9BA-43D5-87BE-67443E8EF086}">
      <p15:sldGuideLst xmlns:p15="http://schemas.microsoft.com/office/powerpoint/2012/main">
        <p15:guide id="1" pos="5157">
          <p15:clr>
            <a:srgbClr val="FBAE40"/>
          </p15:clr>
        </p15:guide>
        <p15:guide id="2" orient="horz" pos="1457">
          <p15:clr>
            <a:srgbClr val="FBAE40"/>
          </p15:clr>
        </p15:guide>
        <p15:guide id="3" pos="4976">
          <p15:clr>
            <a:srgbClr val="FBAE40"/>
          </p15:clr>
        </p15:guide>
        <p15:guide id="4" pos="2731">
          <p15:clr>
            <a:srgbClr val="FBAE40"/>
          </p15:clr>
        </p15:guide>
        <p15:guide id="5" pos="264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5_Standard_picture_lef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hasCustomPrompt="1"/>
          </p:nvPr>
        </p:nvSpPr>
        <p:spPr>
          <a:xfrm>
            <a:off x="0" y="1"/>
            <a:ext cx="2383219" cy="6857999"/>
          </a:xfrm>
          <a:prstGeom prst="rect">
            <a:avLst/>
          </a:prstGeom>
        </p:spPr>
        <p:txBody>
          <a:bodyPr/>
          <a:lstStyle>
            <a:lvl1pPr marL="0" indent="0">
              <a:buFontTx/>
              <a:buNone/>
              <a:defRPr/>
            </a:lvl1pPr>
          </a:lstStyle>
          <a:p>
            <a:r>
              <a:rPr lang="en-US" noProof="0"/>
              <a:t>Click icon to add picture</a:t>
            </a:r>
          </a:p>
        </p:txBody>
      </p:sp>
      <p:sp>
        <p:nvSpPr>
          <p:cNvPr id="2" name="Title 1"/>
          <p:cNvSpPr>
            <a:spLocks noGrp="1"/>
          </p:cNvSpPr>
          <p:nvPr>
            <p:ph type="title" hasCustomPrompt="1"/>
          </p:nvPr>
        </p:nvSpPr>
        <p:spPr>
          <a:xfrm>
            <a:off x="2693891" y="294200"/>
            <a:ext cx="8887371" cy="590400"/>
          </a:xfrm>
        </p:spPr>
        <p:txBody>
          <a:bodyPr/>
          <a:lstStyle>
            <a:lvl1pPr>
              <a:defRPr sz="2399">
                <a:solidFill>
                  <a:schemeClr val="bg1"/>
                </a:solidFill>
              </a:defRPr>
            </a:lvl1pPr>
          </a:lstStyle>
          <a:p>
            <a:r>
              <a:rPr lang="en-US" noProof="0"/>
              <a:t>Click to edit Master title style</a:t>
            </a:r>
          </a:p>
        </p:txBody>
      </p:sp>
      <p:sp>
        <p:nvSpPr>
          <p:cNvPr id="3" name="Content Placeholder 2"/>
          <p:cNvSpPr>
            <a:spLocks noGrp="1"/>
          </p:cNvSpPr>
          <p:nvPr>
            <p:ph idx="1" hasCustomPrompt="1"/>
          </p:nvPr>
        </p:nvSpPr>
        <p:spPr>
          <a:xfrm>
            <a:off x="2693890" y="1137921"/>
            <a:ext cx="2741454" cy="4954904"/>
          </a:xfrm>
          <a:prstGeom prst="rect">
            <a:avLst/>
          </a:prstGeom>
        </p:spPr>
        <p:txBody>
          <a:bodyPr>
            <a:noAutofit/>
          </a:bodyPr>
          <a:lstStyle>
            <a:lvl1pPr marL="0" indent="0">
              <a:buNone/>
              <a:defRPr sz="17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4102" y="1137921"/>
            <a:ext cx="2802382" cy="4954904"/>
          </a:xfrm>
          <a:prstGeom prst="rect">
            <a:avLst/>
          </a:prstGeom>
        </p:spPr>
        <p:txBody>
          <a:bodyPr numCol="1">
            <a:noAutofit/>
          </a:bodyPr>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5241" y="1137922"/>
            <a:ext cx="2767159" cy="2796151"/>
          </a:xfrm>
          <a:prstGeom prst="rect">
            <a:avLst/>
          </a:prstGeom>
        </p:spPr>
        <p:txBody>
          <a:bodyPr numCol="1">
            <a:noAutofit/>
          </a:bodyPr>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noProof="0"/>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3891" y="907750"/>
            <a:ext cx="8887371"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457DDD53-DA5D-4F66-8EAA-913A40461E30}"/>
              </a:ext>
            </a:extLst>
          </p:cNvPr>
          <p:cNvSpPr>
            <a:spLocks noGrp="1"/>
          </p:cNvSpPr>
          <p:nvPr>
            <p:ph type="dt" sz="half" idx="13"/>
          </p:nvPr>
        </p:nvSpPr>
        <p:spPr/>
        <p:txBody>
          <a:bodyPr/>
          <a:lstStyle/>
          <a:p>
            <a:fld id="{F80BBD3C-0F20-4269-B5A9-643E9AB4A672}" type="datetime3">
              <a:rPr lang="en-US" noProof="0" smtClean="0"/>
              <a:t>27 November 2025</a:t>
            </a:fld>
            <a:endParaRPr lang="en-US" noProof="0"/>
          </a:p>
        </p:txBody>
      </p:sp>
      <p:sp>
        <p:nvSpPr>
          <p:cNvPr id="6" name="Footer Placeholder 5">
            <a:extLst>
              <a:ext uri="{FF2B5EF4-FFF2-40B4-BE49-F238E27FC236}">
                <a16:creationId xmlns:a16="http://schemas.microsoft.com/office/drawing/2014/main" id="{89A18168-B280-402E-8310-35BC958D390B}"/>
              </a:ext>
            </a:extLst>
          </p:cNvPr>
          <p:cNvSpPr>
            <a:spLocks noGrp="1"/>
          </p:cNvSpPr>
          <p:nvPr>
            <p:ph type="ftr" sz="quarter" idx="14"/>
          </p:nvPr>
        </p:nvSpPr>
        <p:spPr/>
        <p:txBody>
          <a:bodyPr/>
          <a:lstStyle/>
          <a:p>
            <a:r>
              <a:rPr lang="en-US" noProof="0"/>
              <a:t>Presentation title</a:t>
            </a:r>
          </a:p>
        </p:txBody>
      </p:sp>
      <p:sp>
        <p:nvSpPr>
          <p:cNvPr id="7" name="Slide Number Placeholder 6">
            <a:extLst>
              <a:ext uri="{FF2B5EF4-FFF2-40B4-BE49-F238E27FC236}">
                <a16:creationId xmlns:a16="http://schemas.microsoft.com/office/drawing/2014/main" id="{97D562B9-5194-4705-ABBD-89576E2CC7A3}"/>
              </a:ext>
            </a:extLst>
          </p:cNvPr>
          <p:cNvSpPr>
            <a:spLocks noGrp="1"/>
          </p:cNvSpPr>
          <p:nvPr>
            <p:ph type="sldNum" sz="quarter" idx="15"/>
          </p:nvPr>
        </p:nvSpPr>
        <p:spPr/>
        <p:txBody>
          <a:bodyPr/>
          <a:lstStyle/>
          <a:p>
            <a:r>
              <a:rPr lang="en-US" noProof="0"/>
              <a:t>Page </a:t>
            </a:r>
            <a:fld id="{F1BC30E3-FFE5-4B91-AA19-87A149EBB9EE}" type="slidenum">
              <a:rPr lang="en-US" noProof="0" smtClean="0"/>
              <a:pPr/>
              <a:t>‹#›</a:t>
            </a:fld>
            <a:endParaRPr lang="en-US" noProof="0"/>
          </a:p>
        </p:txBody>
      </p:sp>
    </p:spTree>
    <p:extLst>
      <p:ext uri="{BB962C8B-B14F-4D97-AF65-F5344CB8AC3E}">
        <p14:creationId xmlns:p14="http://schemas.microsoft.com/office/powerpoint/2010/main" val="544106438"/>
      </p:ext>
    </p:extLst>
  </p:cSld>
  <p:clrMapOvr>
    <a:masterClrMapping/>
  </p:clrMapOvr>
  <p:extLst>
    <p:ext uri="{DCECCB84-F9BA-43D5-87BE-67443E8EF086}">
      <p15:sldGuideLst xmlns:p15="http://schemas.microsoft.com/office/powerpoint/2012/main">
        <p15:guide id="1" pos="1687">
          <p15:clr>
            <a:srgbClr val="FBAE40"/>
          </p15:clr>
        </p15:guide>
        <p15:guide id="3" pos="3434">
          <p15:clr>
            <a:srgbClr val="FBAE40"/>
          </p15:clr>
        </p15:guide>
        <p15:guide id="4" pos="3593">
          <p15:clr>
            <a:srgbClr val="FBAE40"/>
          </p15:clr>
        </p15:guide>
        <p15:guide id="6" pos="5566">
          <p15:clr>
            <a:srgbClr val="FBAE40"/>
          </p15:clr>
        </p15:guide>
        <p15:guide id="7" pos="5384">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6_Quote_left">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194" noProof="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hasCustomPrompt="1"/>
          </p:nvPr>
        </p:nvSpPr>
        <p:spPr>
          <a:xfrm>
            <a:off x="609283" y="2526765"/>
            <a:ext cx="5289245" cy="1800000"/>
          </a:xfrm>
          <a:prstGeom prst="rect">
            <a:avLst/>
          </a:prstGeom>
        </p:spPr>
        <p:txBody>
          <a:bodyPr lIns="0" tIns="46800" rIns="90000" bIns="46800">
            <a:noAutofit/>
          </a:bodyPr>
          <a:lstStyle>
            <a:lvl1pPr marL="356438" indent="-356438">
              <a:spcBef>
                <a:spcPts val="0"/>
              </a:spcBef>
              <a:buNone/>
              <a:defRPr lang="en-US" sz="2799" dirty="0" smtClean="0">
                <a:latin typeface="Georgia" panose="02040502050405020303" pitchFamily="18" charset="0"/>
              </a:defRPr>
            </a:lvl1pPr>
          </a:lstStyle>
          <a:p>
            <a:pPr marL="356438" lvl="0" indent="-356438">
              <a:spcBef>
                <a:spcPts val="0"/>
              </a:spcBef>
            </a:pPr>
            <a:r>
              <a:rPr lang="en-US" noProof="0"/>
              <a:t>Click to edit Master title style</a:t>
            </a:r>
            <a:endParaRPr lang="de-DE" noProof="0"/>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609283" y="4632765"/>
            <a:ext cx="5289245" cy="316838"/>
          </a:xfrm>
          <a:prstGeom prst="rect">
            <a:avLst/>
          </a:prstGeom>
        </p:spPr>
        <p:txBody>
          <a:bodyPr lIns="0" tIns="46800" rIns="90000" bIns="46800">
            <a:noAutofit/>
          </a:bodyPr>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tx2"/>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noProof="0"/>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609283" y="4971442"/>
            <a:ext cx="5289245" cy="316838"/>
          </a:xfrm>
          <a:prstGeom prst="rect">
            <a:avLst/>
          </a:prstGeom>
        </p:spPr>
        <p:txBody>
          <a:bodyPr lIns="0" tIns="46800" rIns="90000" bIns="46800">
            <a:noAutofit/>
          </a:bodyPr>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bg1"/>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noProof="0"/>
              <a:t>Job Title</a:t>
            </a:r>
          </a:p>
        </p:txBody>
      </p:sp>
    </p:spTree>
    <p:extLst>
      <p:ext uri="{BB962C8B-B14F-4D97-AF65-F5344CB8AC3E}">
        <p14:creationId xmlns:p14="http://schemas.microsoft.com/office/powerpoint/2010/main" val="282129491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7_Quote_centered">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hasCustomPrompt="1"/>
          </p:nvPr>
        </p:nvSpPr>
        <p:spPr>
          <a:xfrm>
            <a:off x="2281563" y="2060235"/>
            <a:ext cx="7628875" cy="3025522"/>
          </a:xfrm>
          <a:prstGeom prst="rect">
            <a:avLst/>
          </a:prstGeom>
        </p:spPr>
        <p:txBody>
          <a:bodyPr lIns="0" tIns="0" rIns="0" bIns="0">
            <a:noAutofit/>
          </a:bodyPr>
          <a:lstStyle>
            <a:lvl1pPr marL="356438" indent="-356438" algn="ctr">
              <a:spcBef>
                <a:spcPts val="0"/>
              </a:spcBef>
              <a:spcAft>
                <a:spcPts val="0"/>
              </a:spcAft>
              <a:buNone/>
              <a:defRPr lang="en-US" sz="2799" dirty="0" smtClean="0">
                <a:latin typeface="Georgia" panose="02040502050405020303" pitchFamily="18" charset="0"/>
              </a:defRPr>
            </a:lvl1pPr>
          </a:lstStyle>
          <a:p>
            <a:pPr marL="356438" lvl="0" indent="-356438" algn="ctr">
              <a:spcBef>
                <a:spcPts val="0"/>
              </a:spcBef>
            </a:pPr>
            <a:r>
              <a:rPr lang="en-US" noProof="0"/>
              <a:t>Click to edit Master title style</a:t>
            </a:r>
            <a:endParaRPr lang="de-DE" noProof="0"/>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2281563" y="5445367"/>
            <a:ext cx="7628875" cy="316838"/>
          </a:xfrm>
          <a:prstGeom prst="rect">
            <a:avLst/>
          </a:prstGeom>
        </p:spPr>
        <p:txBody>
          <a:bodyPr lIns="0" tIns="0" rIns="0" bIns="0" anchor="ctr">
            <a:noAutofit/>
          </a:bodyPr>
          <a:lstStyle>
            <a:lvl1pPr marL="0" indent="0" algn="ctr">
              <a:spcAft>
                <a:spcPts val="0"/>
              </a:spcAft>
              <a:buNone/>
              <a:defRPr lang="en-US" sz="1599" dirty="0" smtClean="0">
                <a:solidFill>
                  <a:srgbClr val="FFE600"/>
                </a:solidFill>
                <a:latin typeface="+mn-lt"/>
              </a:defRPr>
            </a:lvl1pPr>
          </a:lstStyle>
          <a:p>
            <a:pPr marL="356438" lvl="0" indent="-356438" algn="ctr">
              <a:spcBef>
                <a:spcPts val="0"/>
              </a:spcBef>
              <a:spcAft>
                <a:spcPts val="600"/>
              </a:spcAft>
            </a:pPr>
            <a:r>
              <a:rPr lang="en-US" noProof="0"/>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2281563" y="5780617"/>
            <a:ext cx="7628875" cy="316838"/>
          </a:xfrm>
          <a:prstGeom prst="rect">
            <a:avLst/>
          </a:prstGeom>
        </p:spPr>
        <p:txBody>
          <a:bodyPr vert="horz" lIns="0" tIns="0" rIns="0" bIns="0" rtlCol="0" anchor="ctr" anchorCtr="0">
            <a:noAutofit/>
          </a:bodyPr>
          <a:lstStyle>
            <a:lvl1pPr marL="0" indent="0" algn="ctr">
              <a:spcAft>
                <a:spcPts val="0"/>
              </a:spcAft>
              <a:buNone/>
              <a:defRPr lang="en-US" sz="1599" dirty="0" smtClean="0">
                <a:latin typeface="+mn-lt"/>
              </a:defRPr>
            </a:lvl1pPr>
          </a:lstStyle>
          <a:p>
            <a:pPr marL="356438" lvl="0" indent="-356438" algn="ctr">
              <a:spcBef>
                <a:spcPts val="0"/>
              </a:spcBef>
              <a:spcAft>
                <a:spcPts val="600"/>
              </a:spcAft>
            </a:pPr>
            <a:r>
              <a:rPr lang="en-US" noProof="0"/>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1194" noProof="0">
                <a:solidFill>
                  <a:schemeClr val="tx2"/>
                </a:solidFill>
                <a:latin typeface="Georgia" panose="02040502050405020303" pitchFamily="18" charset="0"/>
              </a:rPr>
              <a:t>“ </a:t>
            </a:r>
          </a:p>
        </p:txBody>
      </p:sp>
    </p:spTree>
    <p:extLst>
      <p:ext uri="{BB962C8B-B14F-4D97-AF65-F5344CB8AC3E}">
        <p14:creationId xmlns:p14="http://schemas.microsoft.com/office/powerpoint/2010/main" val="4030497385"/>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8_Key_statement">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8EDF149-816A-4257-A64D-E23E91A5063C}"/>
              </a:ext>
            </a:extLst>
          </p:cNvPr>
          <p:cNvSpPr>
            <a:spLocks noGrp="1"/>
          </p:cNvSpPr>
          <p:nvPr>
            <p:ph type="dt" sz="half" idx="10"/>
          </p:nvPr>
        </p:nvSpPr>
        <p:spPr/>
        <p:txBody>
          <a:bodyPr/>
          <a:lstStyle/>
          <a:p>
            <a:fld id="{A1DA559F-DADA-431C-A6FD-3B97C6CEA495}" type="datetime3">
              <a:rPr lang="en-US" noProof="0" smtClean="0"/>
              <a:t>27 November 2025</a:t>
            </a:fld>
            <a:endParaRPr lang="en-US" noProof="0"/>
          </a:p>
        </p:txBody>
      </p:sp>
      <p:sp>
        <p:nvSpPr>
          <p:cNvPr id="4" name="Footer Placeholder 3">
            <a:extLst>
              <a:ext uri="{FF2B5EF4-FFF2-40B4-BE49-F238E27FC236}">
                <a16:creationId xmlns:a16="http://schemas.microsoft.com/office/drawing/2014/main" id="{4678256F-B716-4FA1-B0CC-85D20C72FCE5}"/>
              </a:ext>
            </a:extLst>
          </p:cNvPr>
          <p:cNvSpPr>
            <a:spLocks noGrp="1"/>
          </p:cNvSpPr>
          <p:nvPr>
            <p:ph type="ftr" sz="quarter" idx="11"/>
          </p:nvPr>
        </p:nvSpPr>
        <p:spPr/>
        <p:txBody>
          <a:bodyPr/>
          <a:lstStyle/>
          <a:p>
            <a:r>
              <a:rPr lang="en-US" noProof="0"/>
              <a:t>Presentation title</a:t>
            </a:r>
          </a:p>
        </p:txBody>
      </p:sp>
      <p:sp>
        <p:nvSpPr>
          <p:cNvPr id="5" name="Slide Number Placeholder 4">
            <a:extLst>
              <a:ext uri="{FF2B5EF4-FFF2-40B4-BE49-F238E27FC236}">
                <a16:creationId xmlns:a16="http://schemas.microsoft.com/office/drawing/2014/main" id="{32344F6A-D6D0-4CE3-8495-873C004D38DC}"/>
              </a:ext>
            </a:extLst>
          </p:cNvPr>
          <p:cNvSpPr>
            <a:spLocks noGrp="1"/>
          </p:cNvSpPr>
          <p:nvPr>
            <p:ph type="sldNum" sz="quarter" idx="12"/>
          </p:nvPr>
        </p:nvSpPr>
        <p:spPr/>
        <p:txBody>
          <a:bodyPr/>
          <a:lstStyle/>
          <a:p>
            <a:r>
              <a:rPr lang="en-US" noProof="0"/>
              <a:t>Page </a:t>
            </a:r>
            <a:fld id="{F1BC30E3-FFE5-4B91-AA19-87A149EBB9EE}" type="slidenum">
              <a:rPr lang="en-US" noProof="0" smtClean="0"/>
              <a:pPr/>
              <a:t>‹#›</a:t>
            </a:fld>
            <a:endParaRPr lang="en-US" noProof="0"/>
          </a:p>
        </p:txBody>
      </p:sp>
      <p:sp>
        <p:nvSpPr>
          <p:cNvPr id="13" name="Textplatzhalter 12"/>
          <p:cNvSpPr>
            <a:spLocks noGrp="1"/>
          </p:cNvSpPr>
          <p:nvPr>
            <p:ph type="body" sz="quarter" idx="15" hasCustomPrompt="1"/>
          </p:nvPr>
        </p:nvSpPr>
        <p:spPr>
          <a:xfrm>
            <a:off x="1256646" y="2469061"/>
            <a:ext cx="9678709" cy="784225"/>
          </a:xfrm>
          <a:prstGeom prst="rect">
            <a:avLst/>
          </a:prstGeom>
        </p:spPr>
        <p:txBody>
          <a:bodyPr anchor="b">
            <a:noAutofit/>
          </a:bodyPr>
          <a:lstStyle>
            <a:lvl1pPr marL="0" indent="0" algn="ctr">
              <a:spcBef>
                <a:spcPts val="0"/>
              </a:spcBef>
              <a:buNone/>
              <a:defRPr sz="3198"/>
            </a:lvl1pPr>
            <a:lvl2pPr>
              <a:defRPr sz="3198"/>
            </a:lvl2pPr>
            <a:lvl3pPr>
              <a:defRPr sz="3198"/>
            </a:lvl3pPr>
            <a:lvl4pPr>
              <a:defRPr sz="3198"/>
            </a:lvl4pPr>
            <a:lvl5pPr>
              <a:defRPr sz="3198"/>
            </a:lvl5pPr>
          </a:lstStyle>
          <a:p>
            <a:pPr lvl="0"/>
            <a:r>
              <a:rPr lang="en-US" noProof="0"/>
              <a:t>Statement 32pt, EY Interstate Light</a:t>
            </a:r>
          </a:p>
        </p:txBody>
      </p:sp>
      <p:sp>
        <p:nvSpPr>
          <p:cNvPr id="15" name="Textplatzhalter 14"/>
          <p:cNvSpPr>
            <a:spLocks noGrp="1"/>
          </p:cNvSpPr>
          <p:nvPr>
            <p:ph type="body" sz="quarter" idx="16" hasCustomPrompt="1"/>
          </p:nvPr>
        </p:nvSpPr>
        <p:spPr>
          <a:xfrm>
            <a:off x="3109881" y="3605395"/>
            <a:ext cx="5972239" cy="1411287"/>
          </a:xfrm>
          <a:prstGeom prst="rect">
            <a:avLst/>
          </a:prstGeom>
        </p:spPr>
        <p:txBody>
          <a:bodyPr>
            <a:noAutofit/>
          </a:bodyPr>
          <a:lstStyle>
            <a:lvl1pPr marL="0" indent="0" algn="ctr">
              <a:spcBef>
                <a:spcPts val="0"/>
              </a:spcBef>
              <a:buFontTx/>
              <a:buNone/>
              <a:defRPr sz="1799"/>
            </a:lvl1pPr>
            <a:lvl2pPr marL="357008" indent="0" algn="ctr">
              <a:buFontTx/>
              <a:buNone/>
              <a:defRPr/>
            </a:lvl2pPr>
            <a:lvl3pPr marL="685457" indent="0" algn="ctr">
              <a:buFontTx/>
              <a:buNone/>
              <a:defRPr/>
            </a:lvl3pPr>
            <a:lvl4pPr marL="972651" indent="0" algn="ctr">
              <a:buFontTx/>
              <a:buNone/>
              <a:defRPr/>
            </a:lvl4pPr>
            <a:lvl5pPr marL="1425751" indent="0" algn="ctr">
              <a:buFontTx/>
              <a:buNone/>
              <a:defRPr/>
            </a:lvl5pPr>
          </a:lstStyle>
          <a:p>
            <a:pPr lvl="0"/>
            <a:r>
              <a:rPr lang="en-US" noProof="0"/>
              <a:t>Description 18pt, </a:t>
            </a:r>
            <a:r>
              <a:rPr lang="en-US" noProof="0" err="1"/>
              <a:t>EYInterstate</a:t>
            </a:r>
            <a:r>
              <a:rPr lang="en-US" noProof="0"/>
              <a:t> Light ipsum dolor sit </a:t>
            </a:r>
            <a:br>
              <a:rPr lang="en-US" noProof="0"/>
            </a:br>
            <a:r>
              <a:rPr lang="en-US" noProof="0" err="1"/>
              <a:t>amet</a:t>
            </a:r>
            <a:r>
              <a:rPr lang="en-US" noProof="0"/>
              <a:t>, </a:t>
            </a:r>
            <a:r>
              <a:rPr lang="en-US" noProof="0" err="1"/>
              <a:t>quas</a:t>
            </a:r>
            <a:r>
              <a:rPr lang="en-US" noProof="0"/>
              <a:t> </a:t>
            </a:r>
            <a:r>
              <a:rPr lang="en-US" noProof="0" err="1"/>
              <a:t>nostru</a:t>
            </a:r>
            <a:r>
              <a:rPr lang="en-US" noProof="0"/>
              <a:t> </a:t>
            </a:r>
            <a:r>
              <a:rPr lang="en-US" noProof="0" err="1"/>
              <a:t>xgfc</a:t>
            </a:r>
            <a:r>
              <a:rPr lang="en-US" noProof="0"/>
              <a:t> </a:t>
            </a:r>
            <a:r>
              <a:rPr lang="en-US" noProof="0" err="1"/>
              <a:t>laoreet</a:t>
            </a:r>
            <a:r>
              <a:rPr lang="en-US" noProof="0"/>
              <a:t> per.</a:t>
            </a:r>
          </a:p>
        </p:txBody>
      </p:sp>
    </p:spTree>
    <p:extLst>
      <p:ext uri="{BB962C8B-B14F-4D97-AF65-F5344CB8AC3E}">
        <p14:creationId xmlns:p14="http://schemas.microsoft.com/office/powerpoint/2010/main" val="291306854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twoObj" preserve="1">
  <p:cSld name="9_Two_columns_no_heading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601" y="294200"/>
            <a:ext cx="10972800" cy="590880"/>
          </a:xfrm>
        </p:spPr>
        <p:txBody>
          <a:bodyPr/>
          <a:lstStyle>
            <a:lvl1pPr>
              <a:defRPr>
                <a:solidFill>
                  <a:schemeClr val="bg1"/>
                </a:solidFill>
              </a:defRPr>
            </a:lvl1pPr>
          </a:lstStyle>
          <a:p>
            <a:r>
              <a:rPr lang="en-US" noProof="0"/>
              <a:t>Click to edit Master title style</a:t>
            </a:r>
          </a:p>
        </p:txBody>
      </p:sp>
      <p:sp>
        <p:nvSpPr>
          <p:cNvPr id="3" name="Content Placeholder 2"/>
          <p:cNvSpPr>
            <a:spLocks noGrp="1"/>
          </p:cNvSpPr>
          <p:nvPr>
            <p:ph sz="half" idx="1" hasCustomPrompt="1"/>
          </p:nvPr>
        </p:nvSpPr>
        <p:spPr>
          <a:xfrm>
            <a:off x="609601" y="1137919"/>
            <a:ext cx="5384800" cy="4954906"/>
          </a:xfrm>
          <a:prstGeom prst="rect">
            <a:avLst/>
          </a:prstGeom>
        </p:spPr>
        <p:txBody>
          <a:bodyPr vert="horz" lIns="0" tIns="0" rIns="0" bIns="0" rtlCol="0">
            <a:noAutofit/>
          </a:bodyPr>
          <a:lst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lang="en-US" noProof="0"/>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2pPr>
            <a:lvl3pPr marL="510919" marR="0"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3pPr>
            <a:lvl4pPr marL="745752" marR="0"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4pPr>
            <a:lvl5pPr marL="944091" marR="0"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lvl5pPr>
          </a:lstStyle>
          <a:p>
            <a:pPr marL="0" marR="0" lvl="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Click to edit Master text styles</a:t>
            </a:r>
          </a:p>
          <a:p>
            <a:pPr marL="271327" marR="0" lvl="1"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Second level</a:t>
            </a:r>
          </a:p>
          <a:p>
            <a:pPr marL="510919" marR="0" lvl="2"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Third level</a:t>
            </a:r>
          </a:p>
          <a:p>
            <a:pPr marL="745752" marR="0" lvl="3"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5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Fourth level</a:t>
            </a:r>
          </a:p>
          <a:p>
            <a:pPr marL="944091" marR="0" lvl="4"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3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Text</a:t>
            </a:r>
          </a:p>
        </p:txBody>
      </p:sp>
      <p:sp>
        <p:nvSpPr>
          <p:cNvPr id="4" name="Content Placeholder 3"/>
          <p:cNvSpPr>
            <a:spLocks noGrp="1"/>
          </p:cNvSpPr>
          <p:nvPr>
            <p:ph sz="half" idx="2" hasCustomPrompt="1"/>
          </p:nvPr>
        </p:nvSpPr>
        <p:spPr>
          <a:xfrm>
            <a:off x="6197601" y="1137919"/>
            <a:ext cx="5384800" cy="4954906"/>
          </a:xfrm>
          <a:prstGeom prst="rect">
            <a:avLst/>
          </a:prstGeom>
        </p:spPr>
        <p:txBody>
          <a:bodyPr vert="horz" lIns="0" tIns="0" rIns="0" bIns="0" rtlCol="0">
            <a:noAutofit/>
          </a:bodyPr>
          <a:lst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lang="en-US" noProof="0"/>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2pPr>
            <a:lvl3pPr marL="510919" marR="0"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3pPr>
            <a:lvl4pPr marL="745752" marR="0"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4pPr>
            <a:lvl5pPr marL="944091" marR="0"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lvl5pPr>
          </a:lstStyle>
          <a:p>
            <a:pPr marL="0" marR="0" lvl="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Click to edit Master text styles</a:t>
            </a:r>
          </a:p>
          <a:p>
            <a:pPr marL="271327" marR="0" lvl="1"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Second level</a:t>
            </a:r>
          </a:p>
          <a:p>
            <a:pPr marL="510919" marR="0" lvl="2"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Third level</a:t>
            </a:r>
          </a:p>
          <a:p>
            <a:pPr marL="745752" marR="0" lvl="3"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5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Fourth level</a:t>
            </a:r>
          </a:p>
          <a:p>
            <a:pPr marL="944091" marR="0" lvl="4"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3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Text</a:t>
            </a:r>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Date Placeholder 4">
            <a:extLst>
              <a:ext uri="{FF2B5EF4-FFF2-40B4-BE49-F238E27FC236}">
                <a16:creationId xmlns:a16="http://schemas.microsoft.com/office/drawing/2014/main" id="{B20B9B26-E95B-4DC1-A613-4C0C0933C72B}"/>
              </a:ext>
            </a:extLst>
          </p:cNvPr>
          <p:cNvSpPr>
            <a:spLocks noGrp="1"/>
          </p:cNvSpPr>
          <p:nvPr>
            <p:ph type="dt" sz="half" idx="10"/>
          </p:nvPr>
        </p:nvSpPr>
        <p:spPr/>
        <p:txBody>
          <a:bodyPr/>
          <a:lstStyle/>
          <a:p>
            <a:fld id="{988B4BAF-3AE0-44AC-9C71-C47D9E4DFFEC}" type="datetime3">
              <a:rPr lang="en-US" noProof="0" smtClean="0"/>
              <a:t>27 November 2025</a:t>
            </a:fld>
            <a:endParaRPr lang="en-US" noProof="0"/>
          </a:p>
        </p:txBody>
      </p:sp>
      <p:sp>
        <p:nvSpPr>
          <p:cNvPr id="6" name="Footer Placeholder 5">
            <a:extLst>
              <a:ext uri="{FF2B5EF4-FFF2-40B4-BE49-F238E27FC236}">
                <a16:creationId xmlns:a16="http://schemas.microsoft.com/office/drawing/2014/main" id="{ED7373D8-2AB5-4625-822C-B1F2B5CDC39C}"/>
              </a:ext>
            </a:extLst>
          </p:cNvPr>
          <p:cNvSpPr>
            <a:spLocks noGrp="1"/>
          </p:cNvSpPr>
          <p:nvPr>
            <p:ph type="ftr" sz="quarter" idx="11"/>
          </p:nvPr>
        </p:nvSpPr>
        <p:spPr/>
        <p:txBody>
          <a:bodyPr/>
          <a:lstStyle/>
          <a:p>
            <a:r>
              <a:rPr lang="en-US" noProof="0"/>
              <a:t>Presentation title</a:t>
            </a:r>
          </a:p>
        </p:txBody>
      </p:sp>
      <p:sp>
        <p:nvSpPr>
          <p:cNvPr id="7" name="Slide Number Placeholder 6">
            <a:extLst>
              <a:ext uri="{FF2B5EF4-FFF2-40B4-BE49-F238E27FC236}">
                <a16:creationId xmlns:a16="http://schemas.microsoft.com/office/drawing/2014/main" id="{E76E3B4B-D68B-4AFA-A20D-2ECE69120F7E}"/>
              </a:ext>
            </a:extLst>
          </p:cNvPr>
          <p:cNvSpPr>
            <a:spLocks noGrp="1"/>
          </p:cNvSpPr>
          <p:nvPr>
            <p:ph type="sldNum" sz="quarter" idx="12"/>
          </p:nvPr>
        </p:nvSpPr>
        <p:spPr/>
        <p:txBody>
          <a:bodyPr/>
          <a:lstStyle/>
          <a:p>
            <a:r>
              <a:rPr lang="en-US" noProof="0"/>
              <a:t>Page </a:t>
            </a:r>
            <a:fld id="{F1BC30E3-FFE5-4B91-AA19-87A149EBB9EE}" type="slidenum">
              <a:rPr lang="en-US" noProof="0" smtClean="0"/>
              <a:pPr/>
              <a:t>‹#›</a:t>
            </a:fld>
            <a:endParaRPr lang="en-US" noProof="0"/>
          </a:p>
        </p:txBody>
      </p:sp>
    </p:spTree>
    <p:extLst>
      <p:ext uri="{BB962C8B-B14F-4D97-AF65-F5344CB8AC3E}">
        <p14:creationId xmlns:p14="http://schemas.microsoft.com/office/powerpoint/2010/main" val="1442381663"/>
      </p:ext>
    </p:extLst>
  </p:cSld>
  <p:clrMapOvr>
    <a:masterClrMapping/>
  </p:clrMapOvr>
  <p:extLst>
    <p:ext uri="{DCECCB84-F9BA-43D5-87BE-67443E8EF086}">
      <p15:sldGuideLst xmlns:p15="http://schemas.microsoft.com/office/powerpoint/2012/main">
        <p15:guide id="1" pos="3774">
          <p15:clr>
            <a:srgbClr val="FBAE40"/>
          </p15:clr>
        </p15:guide>
        <p15:guide id="2" pos="3910">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0_Two_columns_with_headings">
    <p:spTree>
      <p:nvGrpSpPr>
        <p:cNvPr id="1" name=""/>
        <p:cNvGrpSpPr/>
        <p:nvPr/>
      </p:nvGrpSpPr>
      <p:grpSpPr>
        <a:xfrm>
          <a:off x="0" y="0"/>
          <a:ext cx="0" cy="0"/>
          <a:chOff x="0" y="0"/>
          <a:chExt cx="0" cy="0"/>
        </a:xfrm>
      </p:grpSpPr>
      <p:sp>
        <p:nvSpPr>
          <p:cNvPr id="3" name="Content Placeholder 2"/>
          <p:cNvSpPr>
            <a:spLocks noGrp="1"/>
          </p:cNvSpPr>
          <p:nvPr>
            <p:ph sz="half" idx="1" hasCustomPrompt="1"/>
          </p:nvPr>
        </p:nvSpPr>
        <p:spPr>
          <a:xfrm>
            <a:off x="612329" y="1869440"/>
            <a:ext cx="5390400" cy="4223385"/>
          </a:xfrm>
          <a:prstGeom prst="rect">
            <a:avLst/>
          </a:prstGeom>
        </p:spPr>
        <p:txBody>
          <a:bodyPr vert="horz" lIns="0" tIns="0" rIns="0" bIns="0" rtlCol="0">
            <a:noAutofit/>
          </a:bodyPr>
          <a:lst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lang="en-US" noProof="0"/>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2pPr>
            <a:lvl3pPr marL="510919" marR="0"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3pPr>
            <a:lvl4pPr marL="745752" marR="0"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4pPr>
            <a:lvl5pPr marL="944091" marR="0"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lvl5pPr>
          </a:lstStyle>
          <a:p>
            <a:pPr marL="0" marR="0" lvl="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Click to edit Master text styles</a:t>
            </a:r>
          </a:p>
          <a:p>
            <a:pPr marL="271327" marR="0" lvl="1"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Second level</a:t>
            </a:r>
          </a:p>
          <a:p>
            <a:pPr marL="510919" marR="0" lvl="2"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Third level</a:t>
            </a:r>
          </a:p>
          <a:p>
            <a:pPr marL="745752" marR="0" lvl="3"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5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Fourth level</a:t>
            </a:r>
          </a:p>
          <a:p>
            <a:pPr marL="944091" marR="0" lvl="4"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3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Text</a:t>
            </a:r>
          </a:p>
        </p:txBody>
      </p:sp>
      <p:sp>
        <p:nvSpPr>
          <p:cNvPr id="4" name="Content Placeholder 3"/>
          <p:cNvSpPr>
            <a:spLocks noGrp="1"/>
          </p:cNvSpPr>
          <p:nvPr>
            <p:ph sz="half" idx="2" hasCustomPrompt="1"/>
          </p:nvPr>
        </p:nvSpPr>
        <p:spPr>
          <a:xfrm>
            <a:off x="6196405" y="1869440"/>
            <a:ext cx="5390400" cy="4223385"/>
          </a:xfrm>
          <a:prstGeom prst="rect">
            <a:avLst/>
          </a:prstGeom>
        </p:spPr>
        <p:txBody>
          <a:bodyPr vert="horz" lIns="0" tIns="0" rIns="0" bIns="0" rtlCol="0">
            <a:noAutofit/>
          </a:bodyPr>
          <a:lst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lang="en-US" noProof="0"/>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2pPr>
            <a:lvl3pPr marL="510919" marR="0"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3pPr>
            <a:lvl4pPr marL="745752" marR="0"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lang="en-US" noProof="0"/>
            </a:lvl4pPr>
            <a:lvl5pPr marL="944091" marR="0"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lvl5pPr>
          </a:lstStyle>
          <a:p>
            <a:pPr marL="0" marR="0" lvl="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Click to edit Master text styles</a:t>
            </a:r>
          </a:p>
          <a:p>
            <a:pPr marL="271327" marR="0" lvl="1"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9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Second level</a:t>
            </a:r>
          </a:p>
          <a:p>
            <a:pPr marL="510919" marR="0" lvl="2" indent="-233246"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7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Third level</a:t>
            </a:r>
          </a:p>
          <a:p>
            <a:pPr marL="745752" marR="0" lvl="3" indent="-231659"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5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Fourth level</a:t>
            </a:r>
          </a:p>
          <a:p>
            <a:pPr marL="944091" marR="0" lvl="4" indent="-201512"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US" sz="1399" b="0"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Text</a:t>
            </a:r>
          </a:p>
        </p:txBody>
      </p:sp>
      <p:sp>
        <p:nvSpPr>
          <p:cNvPr id="10" name="Text Placeholder 9"/>
          <p:cNvSpPr>
            <a:spLocks noGrp="1"/>
          </p:cNvSpPr>
          <p:nvPr>
            <p:ph type="body" sz="quarter" idx="12" hasCustomPrompt="1"/>
          </p:nvPr>
        </p:nvSpPr>
        <p:spPr>
          <a:xfrm>
            <a:off x="609601" y="1137920"/>
            <a:ext cx="5390400" cy="640800"/>
          </a:xfrm>
          <a:prstGeom prst="rect">
            <a:avLst/>
          </a:prstGeom>
        </p:spPr>
        <p:txBody>
          <a:bodyPr anchor="t" anchorCtr="0">
            <a:noAutofit/>
          </a:bodyPr>
          <a:lstStyle>
            <a:lvl1pPr marL="0" indent="0">
              <a:buNone/>
              <a:defRPr b="1">
                <a:solidFill>
                  <a:schemeClr val="bg1"/>
                </a:solidFill>
              </a:defRPr>
            </a:lvl1pPr>
          </a:lstStyle>
          <a:p>
            <a:pPr lvl="0"/>
            <a:r>
              <a:rPr lang="en-US" noProof="0"/>
              <a:t>Click to edit</a:t>
            </a:r>
          </a:p>
        </p:txBody>
      </p:sp>
      <p:sp>
        <p:nvSpPr>
          <p:cNvPr id="11" name="Text Placeholder 9"/>
          <p:cNvSpPr>
            <a:spLocks noGrp="1"/>
          </p:cNvSpPr>
          <p:nvPr>
            <p:ph type="body" sz="quarter" idx="13" hasCustomPrompt="1"/>
          </p:nvPr>
        </p:nvSpPr>
        <p:spPr>
          <a:xfrm>
            <a:off x="6196405" y="1137920"/>
            <a:ext cx="5390400" cy="640800"/>
          </a:xfrm>
          <a:prstGeom prst="rect">
            <a:avLst/>
          </a:prstGeom>
        </p:spPr>
        <p:txBody>
          <a:bodyPr anchor="t" anchorCtr="0">
            <a:noAutofit/>
          </a:bodyPr>
          <a:lstStyle>
            <a:lvl1pPr marL="0" indent="0">
              <a:buNone/>
              <a:defRPr b="1">
                <a:solidFill>
                  <a:schemeClr val="bg1"/>
                </a:solidFill>
              </a:defRPr>
            </a:lvl1pPr>
          </a:lstStyle>
          <a:p>
            <a:pPr lvl="0"/>
            <a:r>
              <a:rPr lang="en-US" noProof="0"/>
              <a:t>Click to edit</a:t>
            </a:r>
          </a:p>
        </p:txBody>
      </p:sp>
      <p:sp>
        <p:nvSpPr>
          <p:cNvPr id="2" name="Title 1"/>
          <p:cNvSpPr>
            <a:spLocks noGrp="1"/>
          </p:cNvSpPr>
          <p:nvPr>
            <p:ph type="title" hasCustomPrompt="1"/>
          </p:nvPr>
        </p:nvSpPr>
        <p:spPr>
          <a:xfrm>
            <a:off x="609601" y="294200"/>
            <a:ext cx="10972800" cy="590880"/>
          </a:xfrm>
        </p:spPr>
        <p:txBody>
          <a:bodyPr/>
          <a:lstStyle>
            <a:lvl1pPr>
              <a:defRPr>
                <a:solidFill>
                  <a:schemeClr val="bg1"/>
                </a:solidFill>
              </a:defRPr>
            </a:lvl1pPr>
          </a:lstStyle>
          <a:p>
            <a:r>
              <a:rPr lang="en-US" noProof="0"/>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Date Placeholder 4">
            <a:extLst>
              <a:ext uri="{FF2B5EF4-FFF2-40B4-BE49-F238E27FC236}">
                <a16:creationId xmlns:a16="http://schemas.microsoft.com/office/drawing/2014/main" id="{409FCCF0-19BC-4024-9BCA-E14DB77EAF2F}"/>
              </a:ext>
            </a:extLst>
          </p:cNvPr>
          <p:cNvSpPr>
            <a:spLocks noGrp="1"/>
          </p:cNvSpPr>
          <p:nvPr>
            <p:ph type="dt" sz="half" idx="14"/>
          </p:nvPr>
        </p:nvSpPr>
        <p:spPr/>
        <p:txBody>
          <a:bodyPr/>
          <a:lstStyle/>
          <a:p>
            <a:fld id="{16510D6D-30BD-4075-B43B-6E2BF2FEC1F8}" type="datetime3">
              <a:rPr lang="en-US" noProof="0" smtClean="0"/>
              <a:t>27 November 2025</a:t>
            </a:fld>
            <a:endParaRPr lang="en-US" noProof="0"/>
          </a:p>
        </p:txBody>
      </p:sp>
      <p:sp>
        <p:nvSpPr>
          <p:cNvPr id="6" name="Footer Placeholder 5">
            <a:extLst>
              <a:ext uri="{FF2B5EF4-FFF2-40B4-BE49-F238E27FC236}">
                <a16:creationId xmlns:a16="http://schemas.microsoft.com/office/drawing/2014/main" id="{12B54F7E-BDC4-4386-B2E2-1FC66609D14F}"/>
              </a:ext>
            </a:extLst>
          </p:cNvPr>
          <p:cNvSpPr>
            <a:spLocks noGrp="1"/>
          </p:cNvSpPr>
          <p:nvPr>
            <p:ph type="ftr" sz="quarter" idx="15"/>
          </p:nvPr>
        </p:nvSpPr>
        <p:spPr/>
        <p:txBody>
          <a:bodyPr/>
          <a:lstStyle/>
          <a:p>
            <a:r>
              <a:rPr lang="en-US" noProof="0"/>
              <a:t>Presentation title</a:t>
            </a:r>
          </a:p>
        </p:txBody>
      </p:sp>
      <p:sp>
        <p:nvSpPr>
          <p:cNvPr id="7" name="Slide Number Placeholder 6">
            <a:extLst>
              <a:ext uri="{FF2B5EF4-FFF2-40B4-BE49-F238E27FC236}">
                <a16:creationId xmlns:a16="http://schemas.microsoft.com/office/drawing/2014/main" id="{B94FBF9A-EC9A-41E4-A24C-ECB5DC15CCD7}"/>
              </a:ext>
            </a:extLst>
          </p:cNvPr>
          <p:cNvSpPr>
            <a:spLocks noGrp="1"/>
          </p:cNvSpPr>
          <p:nvPr>
            <p:ph type="sldNum" sz="quarter" idx="16"/>
          </p:nvPr>
        </p:nvSpPr>
        <p:spPr/>
        <p:txBody>
          <a:bodyPr/>
          <a:lstStyle/>
          <a:p>
            <a:r>
              <a:rPr lang="en-US" noProof="0"/>
              <a:t>Page </a:t>
            </a:r>
            <a:fld id="{F1BC30E3-FFE5-4B91-AA19-87A149EBB9EE}" type="slidenum">
              <a:rPr lang="en-US" noProof="0" smtClean="0"/>
              <a:pPr/>
              <a:t>‹#›</a:t>
            </a:fld>
            <a:endParaRPr lang="en-US" noProof="0"/>
          </a:p>
        </p:txBody>
      </p:sp>
    </p:spTree>
    <p:extLst>
      <p:ext uri="{BB962C8B-B14F-4D97-AF65-F5344CB8AC3E}">
        <p14:creationId xmlns:p14="http://schemas.microsoft.com/office/powerpoint/2010/main" val="3593926658"/>
      </p:ext>
    </p:extLst>
  </p:cSld>
  <p:clrMapOvr>
    <a:masterClrMapping/>
  </p:clrMapOvr>
  <p:extLst>
    <p:ext uri="{DCECCB84-F9BA-43D5-87BE-67443E8EF086}">
      <p15:sldGuideLst xmlns:p15="http://schemas.microsoft.com/office/powerpoint/2012/main">
        <p15:guide id="1" pos="3909">
          <p15:clr>
            <a:srgbClr val="FBAE40"/>
          </p15:clr>
        </p15:guide>
        <p15:guide id="2" pos="3774">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1_Divider_1">
    <p:spTree>
      <p:nvGrpSpPr>
        <p:cNvPr id="1" name=""/>
        <p:cNvGrpSpPr/>
        <p:nvPr/>
      </p:nvGrpSpPr>
      <p:grpSpPr>
        <a:xfrm>
          <a:off x="0" y="0"/>
          <a:ext cx="0" cy="0"/>
          <a:chOff x="0" y="0"/>
          <a:chExt cx="0" cy="0"/>
        </a:xfrm>
      </p:grpSpPr>
      <p:sp>
        <p:nvSpPr>
          <p:cNvPr id="3" name="Datumsplatzhalter 2"/>
          <p:cNvSpPr>
            <a:spLocks noGrp="1"/>
          </p:cNvSpPr>
          <p:nvPr>
            <p:ph type="dt" sz="half" idx="10"/>
          </p:nvPr>
        </p:nvSpPr>
        <p:spPr/>
        <p:txBody>
          <a:bodyPr/>
          <a:lstStyle/>
          <a:p>
            <a:fld id="{42CAA955-C688-4D17-A718-E12620276EB6}" type="datetime3">
              <a:rPr lang="en-US" smtClean="0"/>
              <a:t>27 November 2025</a:t>
            </a:fld>
            <a:endParaRPr lang="en-US"/>
          </a:p>
        </p:txBody>
      </p:sp>
      <p:sp>
        <p:nvSpPr>
          <p:cNvPr id="4" name="Fußzeilenplatzhalter 3"/>
          <p:cNvSpPr>
            <a:spLocks noGrp="1"/>
          </p:cNvSpPr>
          <p:nvPr>
            <p:ph type="ftr" sz="quarter" idx="11"/>
          </p:nvPr>
        </p:nvSpPr>
        <p:spPr/>
        <p:txBody>
          <a:bodyPr/>
          <a:lstStyle/>
          <a:p>
            <a:r>
              <a:rPr lang="en-US"/>
              <a:t>Presentation title</a:t>
            </a:r>
          </a:p>
        </p:txBody>
      </p:sp>
      <p:sp>
        <p:nvSpPr>
          <p:cNvPr id="5" name="Foliennummernplatzhalter 4"/>
          <p:cNvSpPr>
            <a:spLocks noGrp="1"/>
          </p:cNvSpPr>
          <p:nvPr>
            <p:ph type="sldNum" sz="quarter" idx="12"/>
          </p:nvPr>
        </p:nvSpPr>
        <p:spPr/>
        <p:txBody>
          <a:bodyPr/>
          <a:lstStyle/>
          <a:p>
            <a:r>
              <a:rPr lang="en-US"/>
              <a:t>Page </a:t>
            </a:r>
            <a:fld id="{F1BC30E3-FFE5-4B91-AA19-87A149EBB9EE}" type="slidenum">
              <a:rPr lang="en-US" smtClean="0"/>
              <a:pPr/>
              <a:t>‹#›</a:t>
            </a:fld>
            <a:endParaRPr lang="en-US"/>
          </a:p>
        </p:txBody>
      </p:sp>
      <p:sp>
        <p:nvSpPr>
          <p:cNvPr id="6" name="Picture Placeholder 14">
            <a:extLst>
              <a:ext uri="{FF2B5EF4-FFF2-40B4-BE49-F238E27FC236}">
                <a16:creationId xmlns:a16="http://schemas.microsoft.com/office/drawing/2014/main" id="{628F8CDB-776D-4811-AE2C-217236ECDECA}"/>
              </a:ext>
            </a:extLst>
          </p:cNvPr>
          <p:cNvSpPr>
            <a:spLocks noGrp="1"/>
          </p:cNvSpPr>
          <p:nvPr>
            <p:ph type="pic" sz="quarter" idx="13" hasCustomPrompt="1"/>
          </p:nvPr>
        </p:nvSpPr>
        <p:spPr>
          <a:xfrm>
            <a:off x="6223938" y="0"/>
            <a:ext cx="5968062" cy="6858000"/>
          </a:xfrm>
          <a:prstGeom prst="rect">
            <a:avLst/>
          </a:prstGeom>
        </p:spPr>
        <p:txBody>
          <a:bodyPr/>
          <a:lstStyle>
            <a:lvl1pPr marL="0" indent="0">
              <a:buFontTx/>
              <a:buNone/>
              <a:defRPr/>
            </a:lvl1pPr>
          </a:lstStyle>
          <a:p>
            <a:r>
              <a:rPr lang="en-US" noProof="0"/>
              <a:t>Click icon to add picture</a:t>
            </a:r>
          </a:p>
        </p:txBody>
      </p:sp>
      <p:sp>
        <p:nvSpPr>
          <p:cNvPr id="7" name="Text Placeholder 4">
            <a:extLst>
              <a:ext uri="{FF2B5EF4-FFF2-40B4-BE49-F238E27FC236}">
                <a16:creationId xmlns:a16="http://schemas.microsoft.com/office/drawing/2014/main" id="{626E96BA-E9E4-496B-8CA5-6DA27B8AD7E4}"/>
              </a:ext>
            </a:extLst>
          </p:cNvPr>
          <p:cNvSpPr>
            <a:spLocks noGrp="1"/>
          </p:cNvSpPr>
          <p:nvPr>
            <p:ph type="body" sz="quarter" idx="14" hasCustomPrompt="1"/>
          </p:nvPr>
        </p:nvSpPr>
        <p:spPr>
          <a:xfrm>
            <a:off x="600398" y="2578743"/>
            <a:ext cx="4535597" cy="1055708"/>
          </a:xfrm>
          <a:prstGeom prst="rect">
            <a:avLst/>
          </a:prstGeom>
        </p:spPr>
        <p:txBody>
          <a:bodyPr>
            <a:noAutofit/>
          </a:bodyPr>
          <a:lstStyle>
            <a:lvl1pPr marL="0" indent="0">
              <a:buNone/>
              <a:defRPr sz="2999"/>
            </a:lvl1pPr>
          </a:lstStyle>
          <a:p>
            <a:pPr lvl="0"/>
            <a:r>
              <a:rPr lang="en-US" noProof="0"/>
              <a:t>Chapter Title</a:t>
            </a:r>
          </a:p>
          <a:p>
            <a:pPr lvl="0"/>
            <a:r>
              <a:rPr lang="en-US" noProof="0"/>
              <a:t>EY Interstate Light</a:t>
            </a:r>
          </a:p>
        </p:txBody>
      </p:sp>
      <p:sp>
        <p:nvSpPr>
          <p:cNvPr id="8" name="Text Placeholder 4">
            <a:extLst>
              <a:ext uri="{FF2B5EF4-FFF2-40B4-BE49-F238E27FC236}">
                <a16:creationId xmlns:a16="http://schemas.microsoft.com/office/drawing/2014/main" id="{1173C8A3-BA2F-497B-A214-45B02D73AF20}"/>
              </a:ext>
            </a:extLst>
          </p:cNvPr>
          <p:cNvSpPr>
            <a:spLocks noGrp="1"/>
          </p:cNvSpPr>
          <p:nvPr>
            <p:ph type="body" sz="quarter" idx="15" hasCustomPrompt="1"/>
          </p:nvPr>
        </p:nvSpPr>
        <p:spPr>
          <a:xfrm>
            <a:off x="600398" y="3840384"/>
            <a:ext cx="4535597" cy="1055708"/>
          </a:xfrm>
          <a:prstGeom prst="rect">
            <a:avLst/>
          </a:prstGeom>
        </p:spPr>
        <p:txBody>
          <a:bodyPr>
            <a:noAutofit/>
          </a:bodyPr>
          <a:lstStyle>
            <a:lvl1pPr marL="0" indent="0">
              <a:buNone/>
              <a:defRPr sz="1599"/>
            </a:lvl1pPr>
          </a:lstStyle>
          <a:p>
            <a:pPr lvl="0"/>
            <a:r>
              <a:rPr lang="en-US" noProof="0"/>
              <a:t>Click to edit</a:t>
            </a:r>
            <a:endParaRPr lang="de-DE" noProof="0"/>
          </a:p>
        </p:txBody>
      </p:sp>
    </p:spTree>
    <p:extLst>
      <p:ext uri="{BB962C8B-B14F-4D97-AF65-F5344CB8AC3E}">
        <p14:creationId xmlns:p14="http://schemas.microsoft.com/office/powerpoint/2010/main" val="1858746541"/>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12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8572158"/>
      </p:ext>
    </p:extLst>
  </p:cSld>
  <p:clrMapOvr>
    <a:masterClrMapping/>
  </p:clrMapOvr>
  <p:extLst>
    <p:ext uri="{DCECCB84-F9BA-43D5-87BE-67443E8EF086}">
      <p15:sldGuideLst xmlns:p15="http://schemas.microsoft.com/office/powerpoint/2012/main">
        <p15:guide id="1" orient="horz" pos="1230">
          <p15:clr>
            <a:srgbClr val="FBAE40"/>
          </p15:clr>
        </p15:guide>
        <p15:guide id="2" pos="553">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3_Blank_with_footer">
    <p:spTree>
      <p:nvGrpSpPr>
        <p:cNvPr id="1" name=""/>
        <p:cNvGrpSpPr/>
        <p:nvPr/>
      </p:nvGrpSpPr>
      <p:grpSpPr>
        <a:xfrm>
          <a:off x="0" y="0"/>
          <a:ext cx="0" cy="0"/>
          <a:chOff x="0" y="0"/>
          <a:chExt cx="0" cy="0"/>
        </a:xfrm>
      </p:grpSpPr>
      <p:sp>
        <p:nvSpPr>
          <p:cNvPr id="3" name="Datumsplatzhalter 2"/>
          <p:cNvSpPr>
            <a:spLocks noGrp="1"/>
          </p:cNvSpPr>
          <p:nvPr>
            <p:ph type="dt" sz="half" idx="10"/>
          </p:nvPr>
        </p:nvSpPr>
        <p:spPr/>
        <p:txBody>
          <a:bodyPr/>
          <a:lstStyle/>
          <a:p>
            <a:fld id="{42CAA955-C688-4D17-A718-E12620276EB6}" type="datetime3">
              <a:rPr lang="en-US" smtClean="0"/>
              <a:t>27 November 2025</a:t>
            </a:fld>
            <a:endParaRPr lang="en-US"/>
          </a:p>
        </p:txBody>
      </p:sp>
      <p:sp>
        <p:nvSpPr>
          <p:cNvPr id="4" name="Fußzeilenplatzhalter 3"/>
          <p:cNvSpPr>
            <a:spLocks noGrp="1"/>
          </p:cNvSpPr>
          <p:nvPr>
            <p:ph type="ftr" sz="quarter" idx="11"/>
          </p:nvPr>
        </p:nvSpPr>
        <p:spPr/>
        <p:txBody>
          <a:bodyPr/>
          <a:lstStyle/>
          <a:p>
            <a:r>
              <a:rPr lang="en-US"/>
              <a:t>Presentation title</a:t>
            </a:r>
          </a:p>
        </p:txBody>
      </p:sp>
      <p:sp>
        <p:nvSpPr>
          <p:cNvPr id="5" name="Foliennummernplatzhalter 4"/>
          <p:cNvSpPr>
            <a:spLocks noGrp="1"/>
          </p:cNvSpPr>
          <p:nvPr>
            <p:ph type="sldNum" sz="quarter" idx="12"/>
          </p:nvPr>
        </p:nvSpPr>
        <p:spPr/>
        <p:txBody>
          <a:bodyPr/>
          <a:lstStyle/>
          <a:p>
            <a:r>
              <a:rPr lang="en-US"/>
              <a:t>Page </a:t>
            </a:r>
            <a:fld id="{F1BC30E3-FFE5-4B91-AA19-87A149EBB9EE}" type="slidenum">
              <a:rPr lang="en-US" smtClean="0"/>
              <a:pPr/>
              <a:t>‹#›</a:t>
            </a:fld>
            <a:endParaRPr lang="en-US"/>
          </a:p>
        </p:txBody>
      </p:sp>
      <p:sp>
        <p:nvSpPr>
          <p:cNvPr id="6" name="Picture Placeholder 19">
            <a:extLst>
              <a:ext uri="{FF2B5EF4-FFF2-40B4-BE49-F238E27FC236}">
                <a16:creationId xmlns:a16="http://schemas.microsoft.com/office/drawing/2014/main" id="{00A15EA9-2372-4E06-83C2-1E13AB1FA626}"/>
              </a:ext>
            </a:extLst>
          </p:cNvPr>
          <p:cNvSpPr>
            <a:spLocks noGrp="1"/>
          </p:cNvSpPr>
          <p:nvPr>
            <p:ph type="pic" sz="quarter" idx="16" hasCustomPrompt="1"/>
          </p:nvPr>
        </p:nvSpPr>
        <p:spPr>
          <a:xfrm>
            <a:off x="609283" y="4207757"/>
            <a:ext cx="647663" cy="648000"/>
          </a:xfrm>
          <a:prstGeom prst="ellipse">
            <a:avLst/>
          </a:prstGeom>
        </p:spPr>
        <p:txBody>
          <a:bodyPr anchor="ctr"/>
          <a:lstStyle>
            <a:lvl1pPr marL="0" indent="0" algn="ctr">
              <a:buNone/>
              <a:defRPr sz="900">
                <a:solidFill>
                  <a:schemeClr val="bg1"/>
                </a:solidFill>
              </a:defRPr>
            </a:lvl1pPr>
          </a:lstStyle>
          <a:p>
            <a:r>
              <a:rPr lang="en-US" noProof="0"/>
              <a:t>Click icon to add picture</a:t>
            </a:r>
          </a:p>
        </p:txBody>
      </p:sp>
    </p:spTree>
    <p:extLst>
      <p:ext uri="{BB962C8B-B14F-4D97-AF65-F5344CB8AC3E}">
        <p14:creationId xmlns:p14="http://schemas.microsoft.com/office/powerpoint/2010/main" val="1227344567"/>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4_Video_full_screen">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2000" cy="6858000"/>
          </a:xfrm>
          <a:prstGeom prst="rect">
            <a:avLst/>
          </a:prstGeom>
        </p:spPr>
        <p:txBody>
          <a:bodyPr anchor="ctr"/>
          <a:lstStyle>
            <a:lvl1pPr marL="0" indent="0" algn="ctr">
              <a:buNone/>
              <a:defRPr/>
            </a:lvl1pPr>
          </a:lstStyle>
          <a:p>
            <a:r>
              <a:rPr lang="en-US" noProof="0"/>
              <a:t>Video</a:t>
            </a:r>
          </a:p>
        </p:txBody>
      </p:sp>
      <p:sp>
        <p:nvSpPr>
          <p:cNvPr id="2" name="Date Placeholder 1">
            <a:extLst>
              <a:ext uri="{FF2B5EF4-FFF2-40B4-BE49-F238E27FC236}">
                <a16:creationId xmlns:a16="http://schemas.microsoft.com/office/drawing/2014/main" id="{711B3654-4C35-482F-B580-02C23F975B92}"/>
              </a:ext>
            </a:extLst>
          </p:cNvPr>
          <p:cNvSpPr>
            <a:spLocks noGrp="1"/>
          </p:cNvSpPr>
          <p:nvPr>
            <p:ph type="dt" sz="half" idx="11"/>
          </p:nvPr>
        </p:nvSpPr>
        <p:spPr/>
        <p:txBody>
          <a:bodyPr/>
          <a:lstStyle/>
          <a:p>
            <a:fld id="{7D5E4DB0-3F0E-4299-A8C0-F6EFC443BC0A}" type="datetime3">
              <a:rPr lang="en-US" noProof="0" smtClean="0"/>
              <a:t>27 November 2025</a:t>
            </a:fld>
            <a:endParaRPr lang="en-US" noProof="0"/>
          </a:p>
        </p:txBody>
      </p:sp>
      <p:sp>
        <p:nvSpPr>
          <p:cNvPr id="4" name="Footer Placeholder 3">
            <a:extLst>
              <a:ext uri="{FF2B5EF4-FFF2-40B4-BE49-F238E27FC236}">
                <a16:creationId xmlns:a16="http://schemas.microsoft.com/office/drawing/2014/main" id="{162EFEC5-10C4-4E79-B06E-F14B8F305F91}"/>
              </a:ext>
            </a:extLst>
          </p:cNvPr>
          <p:cNvSpPr>
            <a:spLocks noGrp="1"/>
          </p:cNvSpPr>
          <p:nvPr>
            <p:ph type="ftr" sz="quarter" idx="12"/>
          </p:nvPr>
        </p:nvSpPr>
        <p:spPr/>
        <p:txBody>
          <a:bodyPr/>
          <a:lstStyle/>
          <a:p>
            <a:r>
              <a:rPr lang="en-US" noProof="0"/>
              <a:t>Presentation title</a:t>
            </a:r>
          </a:p>
        </p:txBody>
      </p:sp>
      <p:sp>
        <p:nvSpPr>
          <p:cNvPr id="5" name="Slide Number Placeholder 4">
            <a:extLst>
              <a:ext uri="{FF2B5EF4-FFF2-40B4-BE49-F238E27FC236}">
                <a16:creationId xmlns:a16="http://schemas.microsoft.com/office/drawing/2014/main" id="{0CC05763-C066-4818-A1DF-64ED4D64BE2E}"/>
              </a:ext>
            </a:extLst>
          </p:cNvPr>
          <p:cNvSpPr>
            <a:spLocks noGrp="1"/>
          </p:cNvSpPr>
          <p:nvPr>
            <p:ph type="sldNum" sz="quarter" idx="13"/>
          </p:nvPr>
        </p:nvSpPr>
        <p:spPr/>
        <p:txBody>
          <a:bodyPr/>
          <a:lstStyle/>
          <a:p>
            <a:r>
              <a:rPr lang="en-US" noProof="0"/>
              <a:t>Page </a:t>
            </a:r>
            <a:fld id="{F1BC30E3-FFE5-4B91-AA19-87A149EBB9EE}" type="slidenum">
              <a:rPr lang="en-US" noProof="0" smtClean="0"/>
              <a:pPr/>
              <a:t>‹#›</a:t>
            </a:fld>
            <a:endParaRPr lang="en-US" noProof="0"/>
          </a:p>
        </p:txBody>
      </p:sp>
    </p:spTree>
    <p:extLst>
      <p:ext uri="{BB962C8B-B14F-4D97-AF65-F5344CB8AC3E}">
        <p14:creationId xmlns:p14="http://schemas.microsoft.com/office/powerpoint/2010/main" val="190655201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userDrawn="1">
  <p:cSld name="15_Cover_approved_question_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bwMode="invGray">
          <a:xfrm>
            <a:off x="62261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invGray">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invGray">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invGray">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invGray">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invGray">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invGray">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invGray">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invGray">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invGray">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invGray">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invGray">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invGray">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invGray">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invGray">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invGray">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invGray">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invGray">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invGray">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invGray">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invGray">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invGray">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invGray">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invGray">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invGray">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invGray">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invGray">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invGray">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invGray">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invGray">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invGray">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invGray">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invGray">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invGray">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invGray">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invGray">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invGray">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invGray">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invGray">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invGray">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invGray">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invGray">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invGray">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invGray">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invGray">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invGray">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invGray">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invGray">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invGray">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invGray">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invGray">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invGray">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invGray">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invGray">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invGray">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invGray">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invGray">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invGray">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invGray">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invGray">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invGray">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invGray">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invGray">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invGray">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invGray">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invGray">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invGray">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hasCustomPrompt="1"/>
          </p:nvPr>
        </p:nvSpPr>
        <p:spPr>
          <a:xfrm>
            <a:off x="1069148" y="2158329"/>
            <a:ext cx="3998354"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noProof="0"/>
              <a:t>Click to edit Master title style</a:t>
            </a:r>
            <a:endParaRPr lang="de-DE" noProof="0"/>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hasCustomPrompt="1"/>
          </p:nvPr>
        </p:nvSpPr>
        <p:spPr>
          <a:xfrm>
            <a:off x="1069340" y="3200329"/>
            <a:ext cx="4018535" cy="645742"/>
          </a:xfrm>
          <a:prstGeom prst="rect">
            <a:avLst/>
          </a:prstGeom>
        </p:spPr>
        <p:txBody>
          <a:bodyPr>
            <a:noAutofit/>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noProof="0"/>
              <a:t>Click to edit Master subtitle style</a:t>
            </a:r>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613872" y="876059"/>
            <a:ext cx="4852768"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US" sz="1799" noProof="0"/>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US" sz="1799" noProof="0"/>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US" sz="1799" noProof="0"/>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US" sz="1799" noProof="0"/>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invGray">
          <a:xfrm>
            <a:off x="10359392" y="4960938"/>
            <a:ext cx="1224912"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invGray">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invGray">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grpSp>
      <p:sp>
        <p:nvSpPr>
          <p:cNvPr id="85" name="Rectangle 9">
            <a:extLst>
              <a:ext uri="{FF2B5EF4-FFF2-40B4-BE49-F238E27FC236}">
                <a16:creationId xmlns:a16="http://schemas.microsoft.com/office/drawing/2014/main" id="{F314F876-941A-40CD-B64C-56E5901EC54D}"/>
              </a:ext>
            </a:extLst>
          </p:cNvPr>
          <p:cNvSpPr/>
          <p:nvPr userDrawn="1"/>
        </p:nvSpPr>
        <p:spPr>
          <a:xfrm>
            <a:off x="-2053156" y="-8465"/>
            <a:ext cx="1951283" cy="244686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lIns="53944" tIns="53944" rIns="53944" bIns="53944" rtlCol="0" anchor="t" anchorCtr="0"/>
          <a:lstStyle/>
          <a:p>
            <a:pPr>
              <a:spcAft>
                <a:spcPts val="0"/>
              </a:spcAft>
            </a:pPr>
            <a:r>
              <a:rPr lang="en-US" sz="1199" b="1">
                <a:solidFill>
                  <a:srgbClr val="000000"/>
                </a:solidFill>
                <a:latin typeface="EYInterstate Light" panose="02000506000000020004" pitchFamily="2" charset="0"/>
              </a:rPr>
              <a:t>INSTRUCTIONS:</a:t>
            </a:r>
            <a:br>
              <a:rPr lang="en-US" sz="1199" b="1">
                <a:solidFill>
                  <a:srgbClr val="000000"/>
                </a:solidFill>
                <a:latin typeface="EYInterstate Light" panose="02000506000000020004" pitchFamily="2" charset="0"/>
              </a:rPr>
            </a:br>
            <a:r>
              <a:rPr lang="en-US" sz="1199">
                <a:solidFill>
                  <a:srgbClr val="000000"/>
                </a:solidFill>
              </a:rPr>
              <a:t>In order to use this frame cover template, </a:t>
            </a:r>
            <a:br>
              <a:rPr lang="en-US" sz="1199">
                <a:solidFill>
                  <a:srgbClr val="000000"/>
                </a:solidFill>
              </a:rPr>
            </a:br>
            <a:r>
              <a:rPr lang="en-US" sz="1199">
                <a:solidFill>
                  <a:srgbClr val="000000"/>
                </a:solidFill>
              </a:rPr>
              <a:t>an approved EY better question is required. See </a:t>
            </a:r>
            <a:r>
              <a:rPr lang="en-US" sz="1199" u="sng">
                <a:solidFill>
                  <a:srgbClr val="0563C1"/>
                </a:solidFill>
                <a:ea typeface="Calibri" panose="020F0502020204030204" pitchFamily="34" charset="0"/>
                <a:hlinkClick r:id="rId2"/>
              </a:rPr>
              <a:t>http://brandingzone.ey.net/national/bzcontest.nsf/controldocview/BetterQuestions/$file/fullpage.html#firstPage</a:t>
            </a:r>
            <a:r>
              <a:rPr lang="en-US" sz="1199">
                <a:ea typeface="Calibri" panose="020F0502020204030204" pitchFamily="34" charset="0"/>
              </a:rPr>
              <a:t> </a:t>
            </a:r>
            <a:r>
              <a:rPr lang="en-US" sz="1199">
                <a:solidFill>
                  <a:srgbClr val="000000"/>
                </a:solidFill>
              </a:rPr>
              <a:t>for information on how to formulate better questions.</a:t>
            </a:r>
            <a:endParaRPr lang="de-DE" sz="1199">
              <a:solidFill>
                <a:srgbClr val="000000"/>
              </a:solidFill>
            </a:endParaRPr>
          </a:p>
        </p:txBody>
      </p:sp>
    </p:spTree>
    <p:extLst>
      <p:ext uri="{BB962C8B-B14F-4D97-AF65-F5344CB8AC3E}">
        <p14:creationId xmlns:p14="http://schemas.microsoft.com/office/powerpoint/2010/main" val="685112650"/>
      </p:ext>
    </p:extLst>
  </p:cSld>
  <p:clrMapOvr>
    <a:masterClrMapping/>
  </p:clrMapOvr>
  <p:extLst>
    <p:ext uri="{DCECCB84-F9BA-43D5-87BE-67443E8EF086}">
      <p15:sldGuideLst xmlns:p15="http://schemas.microsoft.com/office/powerpoint/2012/main">
        <p15:guide id="1" pos="674">
          <p15:clr>
            <a:srgbClr val="FBAE40"/>
          </p15:clr>
        </p15:guide>
        <p15:guide id="2" orient="horz" pos="1350">
          <p15:clr>
            <a:srgbClr val="FBAE40"/>
          </p15:clr>
        </p15:guide>
        <p15:guide id="3" orient="horz" pos="2014">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userDrawn="1">
  <p:cSld name="16_Cover_approved_question_wide">
    <p:spTree>
      <p:nvGrpSpPr>
        <p:cNvPr id="1" name=""/>
        <p:cNvGrpSpPr/>
        <p:nvPr/>
      </p:nvGrpSpPr>
      <p:grpSpPr>
        <a:xfrm>
          <a:off x="0" y="0"/>
          <a:ext cx="0" cy="0"/>
          <a:chOff x="0" y="0"/>
          <a:chExt cx="0" cy="0"/>
        </a:xfrm>
      </p:grpSpPr>
      <p:graphicFrame>
        <p:nvGraphicFramePr>
          <p:cNvPr id="7" name="Objekt 6" hidden="1"/>
          <p:cNvGraphicFramePr>
            <a:graphicFrameLocks noChangeAspect="1"/>
          </p:cNvGraphicFramePr>
          <p:nvPr userDrawn="1">
            <p:custDataLst>
              <p:tags r:id="rId1"/>
            </p:custDataLst>
            <p:extLst>
              <p:ext uri="{D42A27DB-BD31-4B8C-83A1-F6EECF244321}">
                <p14:modId xmlns:p14="http://schemas.microsoft.com/office/powerpoint/2010/main" val="204469171"/>
              </p:ext>
            </p:extLst>
          </p:nvPr>
        </p:nvGraphicFramePr>
        <p:xfrm>
          <a:off x="1587" y="1588"/>
          <a:ext cx="1587" cy="1588"/>
        </p:xfrm>
        <a:graphic>
          <a:graphicData uri="http://schemas.openxmlformats.org/presentationml/2006/ole">
            <mc:AlternateContent xmlns:mc="http://schemas.openxmlformats.org/markup-compatibility/2006">
              <mc:Choice xmlns:v="urn:schemas-microsoft-com:vml" Requires="v">
                <p:oleObj name="think-cell Slide" r:id="rId4" imgW="352" imgH="353" progId="TCLayout.ActiveDocument.1">
                  <p:embed/>
                </p:oleObj>
              </mc:Choice>
              <mc:Fallback>
                <p:oleObj name="think-cell Slide" r:id="rId4" imgW="352" imgH="353" progId="TCLayout.ActiveDocument.1">
                  <p:embed/>
                  <p:pic>
                    <p:nvPicPr>
                      <p:cNvPr id="7" name="Objekt 6" hidden="1"/>
                      <p:cNvPicPr/>
                      <p:nvPr/>
                    </p:nvPicPr>
                    <p:blipFill>
                      <a:blip r:embed="rId5"/>
                      <a:stretch>
                        <a:fillRect/>
                      </a:stretch>
                    </p:blipFill>
                    <p:spPr>
                      <a:xfrm>
                        <a:off x="1587" y="1588"/>
                        <a:ext cx="1587" cy="1588"/>
                      </a:xfrm>
                      <a:prstGeom prst="rect">
                        <a:avLst/>
                      </a:prstGeom>
                    </p:spPr>
                  </p:pic>
                </p:oleObj>
              </mc:Fallback>
            </mc:AlternateContent>
          </a:graphicData>
        </a:graphic>
      </p:graphicFrame>
      <p:sp>
        <p:nvSpPr>
          <p:cNvPr id="2" name="Rechteck 1" hidden="1"/>
          <p:cNvSpPr/>
          <p:nvPr userDrawn="1">
            <p:custDataLst>
              <p:tags r:id="rId2"/>
            </p:custDataLst>
          </p:nvPr>
        </p:nvSpPr>
        <p:spPr>
          <a:xfrm>
            <a:off x="0" y="0"/>
            <a:ext cx="158667" cy="158750"/>
          </a:xfrm>
          <a:prstGeom prst="rect">
            <a:avLst/>
          </a:prstGeom>
          <a:solidFill>
            <a:srgbClr val="D2D2DA"/>
          </a:solidFill>
          <a:ln w="12700" cap="sq" cmpd="sng" algn="ctr">
            <a:noFill/>
            <a:prstDash val="solid"/>
            <a:miter lim="800000"/>
            <a:tailEnd type="none"/>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ct val="0"/>
              </a:spcBef>
              <a:spcAft>
                <a:spcPct val="0"/>
              </a:spcAft>
              <a:buClrTx/>
              <a:buSzTx/>
              <a:buFontTx/>
              <a:buNone/>
              <a:tabLst/>
            </a:pPr>
            <a:endParaRPr kumimoji="0" lang="en-US" sz="2999" b="0" i="0" u="none" strike="noStrike" kern="0" cap="none" spc="0" normalizeH="0" baseline="0" noProof="0">
              <a:ln>
                <a:noFill/>
              </a:ln>
              <a:solidFill>
                <a:srgbClr val="2E2E38"/>
              </a:solidFill>
              <a:effectLst/>
              <a:uLnTx/>
              <a:uFillTx/>
              <a:latin typeface="EYInterstate Light" panose="02000506000000020004" pitchFamily="2" charset="0"/>
              <a:ea typeface="+mj-ea"/>
              <a:cs typeface="Arial" panose="020B0604020202020204" pitchFamily="34" charset="0"/>
              <a:sym typeface="EYInterstate Light" panose="02000506000000020004" pitchFamily="2" charset="0"/>
            </a:endParaRPr>
          </a:p>
        </p:txBody>
      </p:sp>
      <p:grpSp>
        <p:nvGrpSpPr>
          <p:cNvPr id="235" name="Group 234">
            <a:extLst>
              <a:ext uri="{FF2B5EF4-FFF2-40B4-BE49-F238E27FC236}">
                <a16:creationId xmlns:a16="http://schemas.microsoft.com/office/drawing/2014/main" id="{5342E118-6F1D-4C46-956E-4CCCBCAA7952}"/>
              </a:ext>
            </a:extLst>
          </p:cNvPr>
          <p:cNvGrpSpPr/>
          <p:nvPr userDrawn="1"/>
        </p:nvGrpSpPr>
        <p:grpSpPr bwMode="invGray">
          <a:xfrm>
            <a:off x="622616" y="5826613"/>
            <a:ext cx="3876004"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invGray">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invGray">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invGray">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invGray">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invGray">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invGray">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invGray">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invGray">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invGray">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invGray">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invGray">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invGray">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invGray">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invGray">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invGray">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invGray">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invGray">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invGray">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invGray">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invGray">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invGray">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invGray">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invGray">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invGray">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invGray">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invGray">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invGray">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invGray">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invGray">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invGray">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invGray">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invGray">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invGray">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invGray">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invGray">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invGray">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invGray">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invGray">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invGray">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invGray">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invGray">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invGray">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invGray">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invGray">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invGray">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invGray">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invGray">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invGray">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invGray">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invGray">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invGray">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invGray">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invGray">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invGray">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invGray">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invGray">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invGray">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invGray">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invGray">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invGray">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invGray">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invGray">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invGray">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invGray">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invGray">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invGray">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799" noProof="0">
                <a:solidFill>
                  <a:schemeClr val="bg1"/>
                </a:solidFill>
              </a:endParaRPr>
            </a:p>
          </p:txBody>
        </p:sp>
      </p:grpSp>
      <p:sp>
        <p:nvSpPr>
          <p:cNvPr id="18" name="Title 1"/>
          <p:cNvSpPr>
            <a:spLocks noGrp="1"/>
          </p:cNvSpPr>
          <p:nvPr userDrawn="1">
            <p:ph type="ctrTitle" hasCustomPrompt="1"/>
          </p:nvPr>
        </p:nvSpPr>
        <p:spPr>
          <a:xfrm>
            <a:off x="1069148" y="2158329"/>
            <a:ext cx="4805717" cy="860400"/>
          </a:xfrm>
          <a:prstGeom prst="rect">
            <a:avLst/>
          </a:prstGeom>
        </p:spPr>
        <p:txBody>
          <a:bodyPr/>
          <a:lstStyle>
            <a:lvl1pPr>
              <a:defRPr sz="2999" b="0">
                <a:solidFill>
                  <a:schemeClr val="bg1"/>
                </a:solidFill>
                <a:latin typeface="EYInterstate Light" panose="02000506000000020004" pitchFamily="2" charset="0"/>
                <a:cs typeface="Arial" pitchFamily="34" charset="0"/>
              </a:defRPr>
            </a:lvl1pPr>
          </a:lstStyle>
          <a:p>
            <a:r>
              <a:rPr lang="en-US" noProof="0"/>
              <a:t>Click to edit Master title style</a:t>
            </a:r>
          </a:p>
        </p:txBody>
      </p:sp>
      <p:sp>
        <p:nvSpPr>
          <p:cNvPr id="19" name="Subtitle 2"/>
          <p:cNvSpPr>
            <a:spLocks noGrp="1"/>
          </p:cNvSpPr>
          <p:nvPr userDrawn="1">
            <p:ph type="subTitle" idx="1" hasCustomPrompt="1"/>
          </p:nvPr>
        </p:nvSpPr>
        <p:spPr>
          <a:xfrm>
            <a:off x="1069418" y="3200329"/>
            <a:ext cx="4805447" cy="645742"/>
          </a:xfrm>
          <a:prstGeom prst="rect">
            <a:avLst/>
          </a:prstGeom>
        </p:spPr>
        <p:txBody>
          <a:bodyPr>
            <a:noAutofit/>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noProof="0"/>
              <a:t>Click to edit Master subtitle style</a:t>
            </a:r>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613872" y="723658"/>
            <a:ext cx="5677988"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US" sz="1799" noProof="0"/>
          </a:p>
        </p:txBody>
      </p:sp>
      <p:sp>
        <p:nvSpPr>
          <p:cNvPr id="4" name="Freeform: Shape 3">
            <a:extLst>
              <a:ext uri="{FF2B5EF4-FFF2-40B4-BE49-F238E27FC236}">
                <a16:creationId xmlns:a16="http://schemas.microsoft.com/office/drawing/2014/main" id="{15324C54-B75E-4AC0-90C2-FA558C7716F7}"/>
              </a:ext>
            </a:extLst>
          </p:cNvPr>
          <p:cNvSpPr/>
          <p:nvPr/>
        </p:nvSpPr>
        <p:spPr>
          <a:xfrm>
            <a:off x="613872"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US" sz="1799" noProof="0"/>
          </a:p>
        </p:txBody>
      </p:sp>
      <p:sp>
        <p:nvSpPr>
          <p:cNvPr id="5" name="Freeform: Shape 4">
            <a:extLst>
              <a:ext uri="{FF2B5EF4-FFF2-40B4-BE49-F238E27FC236}">
                <a16:creationId xmlns:a16="http://schemas.microsoft.com/office/drawing/2014/main" id="{CAA95478-C099-485F-AD95-A617656C6C7C}"/>
              </a:ext>
            </a:extLst>
          </p:cNvPr>
          <p:cNvSpPr/>
          <p:nvPr/>
        </p:nvSpPr>
        <p:spPr>
          <a:xfrm>
            <a:off x="899054"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US" sz="1799" noProof="0"/>
          </a:p>
        </p:txBody>
      </p:sp>
      <p:sp>
        <p:nvSpPr>
          <p:cNvPr id="6" name="Freeform: Shape 5">
            <a:extLst>
              <a:ext uri="{FF2B5EF4-FFF2-40B4-BE49-F238E27FC236}">
                <a16:creationId xmlns:a16="http://schemas.microsoft.com/office/drawing/2014/main" id="{D65680A1-86D1-44C2-AA38-0DF5735F1F26}"/>
              </a:ext>
            </a:extLst>
          </p:cNvPr>
          <p:cNvSpPr/>
          <p:nvPr/>
        </p:nvSpPr>
        <p:spPr>
          <a:xfrm>
            <a:off x="1184119"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US" sz="1799" noProof="0"/>
          </a:p>
        </p:txBody>
      </p:sp>
      <p:grpSp>
        <p:nvGrpSpPr>
          <p:cNvPr id="76" name="Group 4">
            <a:extLst>
              <a:ext uri="{FF2B5EF4-FFF2-40B4-BE49-F238E27FC236}">
                <a16:creationId xmlns:a16="http://schemas.microsoft.com/office/drawing/2014/main" id="{9D60B6B0-F7ED-4B9F-A77C-632AC4EA661D}"/>
              </a:ext>
            </a:extLst>
          </p:cNvPr>
          <p:cNvGrpSpPr>
            <a:grpSpLocks noChangeAspect="1"/>
          </p:cNvGrpSpPr>
          <p:nvPr userDrawn="1"/>
        </p:nvGrpSpPr>
        <p:grpSpPr bwMode="invGray">
          <a:xfrm>
            <a:off x="10359392" y="4960938"/>
            <a:ext cx="1224912" cy="1435100"/>
            <a:chOff x="6529" y="3125"/>
            <a:chExt cx="772" cy="904"/>
          </a:xfrm>
        </p:grpSpPr>
        <p:sp>
          <p:nvSpPr>
            <p:cNvPr id="77" name="Freeform 5">
              <a:extLst>
                <a:ext uri="{FF2B5EF4-FFF2-40B4-BE49-F238E27FC236}">
                  <a16:creationId xmlns:a16="http://schemas.microsoft.com/office/drawing/2014/main" id="{CC1B45B9-64DF-4C5B-9711-FA69AD537071}"/>
                </a:ext>
              </a:extLst>
            </p:cNvPr>
            <p:cNvSpPr>
              <a:spLocks/>
            </p:cNvSpPr>
            <p:nvPr userDrawn="1"/>
          </p:nvSpPr>
          <p:spPr bwMode="invGray">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78" name="Freeform 6">
              <a:extLst>
                <a:ext uri="{FF2B5EF4-FFF2-40B4-BE49-F238E27FC236}">
                  <a16:creationId xmlns:a16="http://schemas.microsoft.com/office/drawing/2014/main" id="{BA55CB73-EE25-43B6-9720-855E16C4B153}"/>
                </a:ext>
              </a:extLst>
            </p:cNvPr>
            <p:cNvSpPr>
              <a:spLocks noEditPoints="1"/>
            </p:cNvSpPr>
            <p:nvPr userDrawn="1"/>
          </p:nvSpPr>
          <p:spPr bwMode="invGray">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grpSp>
      <p:sp>
        <p:nvSpPr>
          <p:cNvPr id="80" name="Rectangle 9">
            <a:extLst>
              <a:ext uri="{FF2B5EF4-FFF2-40B4-BE49-F238E27FC236}">
                <a16:creationId xmlns:a16="http://schemas.microsoft.com/office/drawing/2014/main" id="{F314F876-941A-40CD-B64C-56E5901EC54D}"/>
              </a:ext>
            </a:extLst>
          </p:cNvPr>
          <p:cNvSpPr/>
          <p:nvPr userDrawn="1"/>
        </p:nvSpPr>
        <p:spPr>
          <a:xfrm>
            <a:off x="-2053156" y="-8465"/>
            <a:ext cx="1951283" cy="244686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lIns="53944" tIns="53944" rIns="53944" bIns="53944" rtlCol="0" anchor="t" anchorCtr="0"/>
          <a:lstStyle/>
          <a:p>
            <a:pPr>
              <a:spcAft>
                <a:spcPts val="0"/>
              </a:spcAft>
            </a:pPr>
            <a:r>
              <a:rPr lang="en-US" sz="1199" b="1">
                <a:solidFill>
                  <a:srgbClr val="000000"/>
                </a:solidFill>
                <a:latin typeface="EYInterstate Light" panose="02000506000000020004" pitchFamily="2" charset="0"/>
              </a:rPr>
              <a:t>INSTRUCTIONS:</a:t>
            </a:r>
            <a:br>
              <a:rPr lang="en-US" sz="1199" b="1">
                <a:solidFill>
                  <a:srgbClr val="000000"/>
                </a:solidFill>
                <a:latin typeface="EYInterstate Light" panose="02000506000000020004" pitchFamily="2" charset="0"/>
              </a:rPr>
            </a:br>
            <a:r>
              <a:rPr lang="en-US" sz="1199">
                <a:solidFill>
                  <a:srgbClr val="000000"/>
                </a:solidFill>
              </a:rPr>
              <a:t>In order to use this frame cover template, </a:t>
            </a:r>
            <a:br>
              <a:rPr lang="en-US" sz="1199">
                <a:solidFill>
                  <a:srgbClr val="000000"/>
                </a:solidFill>
              </a:rPr>
            </a:br>
            <a:r>
              <a:rPr lang="en-US" sz="1199">
                <a:solidFill>
                  <a:srgbClr val="000000"/>
                </a:solidFill>
              </a:rPr>
              <a:t>an approved EY better question is required. See </a:t>
            </a:r>
            <a:r>
              <a:rPr lang="en-US" sz="1199" u="sng">
                <a:solidFill>
                  <a:srgbClr val="0563C1"/>
                </a:solidFill>
                <a:ea typeface="Calibri" panose="020F0502020204030204" pitchFamily="34" charset="0"/>
                <a:hlinkClick r:id="rId6"/>
              </a:rPr>
              <a:t>http://brandingzone.ey.net/national/bzcontest.nsf/controldocview/BetterQuestions/$file/fullpage.html#firstPage</a:t>
            </a:r>
            <a:r>
              <a:rPr lang="en-US" sz="1199">
                <a:ea typeface="Calibri" panose="020F0502020204030204" pitchFamily="34" charset="0"/>
              </a:rPr>
              <a:t> </a:t>
            </a:r>
            <a:r>
              <a:rPr lang="en-US" sz="1199">
                <a:solidFill>
                  <a:srgbClr val="000000"/>
                </a:solidFill>
              </a:rPr>
              <a:t>for information on how to formulate better questions.</a:t>
            </a:r>
            <a:endParaRPr lang="de-DE" sz="1199">
              <a:solidFill>
                <a:srgbClr val="000000"/>
              </a:solidFill>
            </a:endParaRPr>
          </a:p>
        </p:txBody>
      </p:sp>
    </p:spTree>
    <p:extLst>
      <p:ext uri="{BB962C8B-B14F-4D97-AF65-F5344CB8AC3E}">
        <p14:creationId xmlns:p14="http://schemas.microsoft.com/office/powerpoint/2010/main" val="1495180189"/>
      </p:ext>
    </p:extLst>
  </p:cSld>
  <p:clrMapOvr>
    <a:masterClrMapping/>
  </p:clrMapOvr>
  <p:extLst>
    <p:ext uri="{DCECCB84-F9BA-43D5-87BE-67443E8EF086}">
      <p15:sldGuideLst xmlns:p15="http://schemas.microsoft.com/office/powerpoint/2012/main">
        <p15:guide id="1" pos="674">
          <p15:clr>
            <a:srgbClr val="FBAE40"/>
          </p15:clr>
        </p15:guide>
        <p15:guide id="2" orient="horz" pos="1350">
          <p15:clr>
            <a:srgbClr val="FBAE40"/>
          </p15:clr>
        </p15:guide>
        <p15:guide id="3" orient="horz" pos="2014">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userDrawn="1">
  <p:cSld name="17_Cover_with_author_Neu">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62261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noProof="0"/>
          </a:p>
        </p:txBody>
      </p:sp>
      <p:sp>
        <p:nvSpPr>
          <p:cNvPr id="11" name="Title 1"/>
          <p:cNvSpPr>
            <a:spLocks noGrp="1"/>
          </p:cNvSpPr>
          <p:nvPr>
            <p:ph type="ctrTitle" hasCustomPrompt="1"/>
          </p:nvPr>
        </p:nvSpPr>
        <p:spPr>
          <a:xfrm>
            <a:off x="899860" y="1954221"/>
            <a:ext cx="4326679" cy="979702"/>
          </a:xfrm>
        </p:spPr>
        <p:txBody>
          <a:bodyPr/>
          <a:lstStyle>
            <a:lvl1pPr>
              <a:defRPr sz="2999" b="0">
                <a:solidFill>
                  <a:schemeClr val="tx1"/>
                </a:solidFill>
                <a:latin typeface="EYInterstate Light" panose="02000506000000020004" pitchFamily="2" charset="0"/>
                <a:cs typeface="Arial" pitchFamily="34" charset="0"/>
              </a:defRPr>
            </a:lvl1pPr>
          </a:lstStyle>
          <a:p>
            <a:r>
              <a:rPr lang="en-US" noProof="0"/>
              <a:t>Click to edit Master title style</a:t>
            </a:r>
          </a:p>
        </p:txBody>
      </p:sp>
      <p:sp>
        <p:nvSpPr>
          <p:cNvPr id="12" name="Subtitle 2"/>
          <p:cNvSpPr>
            <a:spLocks noGrp="1"/>
          </p:cNvSpPr>
          <p:nvPr>
            <p:ph type="subTitle" idx="1" hasCustomPrompt="1"/>
          </p:nvPr>
        </p:nvSpPr>
        <p:spPr>
          <a:xfrm>
            <a:off x="899860" y="3046159"/>
            <a:ext cx="4326679" cy="1046323"/>
          </a:xfrm>
          <a:prstGeom prst="rect">
            <a:avLst/>
          </a:prstGeom>
        </p:spPr>
        <p:txBody>
          <a:bodyPr>
            <a:noAutofit/>
          </a:bodyPr>
          <a:lstStyle>
            <a:lvl1pPr marL="0" indent="0" algn="l">
              <a:spcAft>
                <a:spcPts val="1199"/>
              </a:spcAft>
              <a:buNone/>
              <a:defRPr sz="1999">
                <a:solidFill>
                  <a:schemeClr val="tx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noProof="0"/>
              <a:t>Click to edit Master subtitle style</a:t>
            </a:r>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485811" y="5709060"/>
            <a:ext cx="8117873"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615064" y="5605201"/>
            <a:ext cx="1044529" cy="197581"/>
          </a:xfrm>
          <a:prstGeom prst="rect">
            <a:avLst/>
          </a:prstGeom>
          <a:noFill/>
        </p:spPr>
        <p:txBody>
          <a:bodyPr wrap="square" lIns="0" tIns="0" rIns="0" bIns="0" rtlCol="0" anchor="ctr" anchorCtr="0">
            <a:noAutofit/>
          </a:bodyPr>
          <a:lstStyle/>
          <a:p>
            <a:r>
              <a:rPr lang="en-US" sz="1199" noProof="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485811" y="6019189"/>
            <a:ext cx="3087667" cy="180000"/>
          </a:xfrm>
          <a:prstGeom prst="rect">
            <a:avLst/>
          </a:prstGeom>
        </p:spPr>
        <p:txBody>
          <a:bodyPr/>
          <a:lstStyle>
            <a:lvl1pPr marL="0" indent="0">
              <a:buNone/>
              <a:defRPr sz="1199">
                <a:solidFill>
                  <a:schemeClr val="tx2"/>
                </a:solidFill>
              </a:defRPr>
            </a:lvl1pPr>
          </a:lstStyle>
          <a:p>
            <a:pPr lvl="0"/>
            <a:r>
              <a:rPr lang="en-US" noProof="0"/>
              <a:t>Name Surname</a:t>
            </a:r>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485811" y="6216807"/>
            <a:ext cx="3087667" cy="180000"/>
          </a:xfrm>
          <a:prstGeom prst="rect">
            <a:avLst/>
          </a:prstGeom>
        </p:spPr>
        <p:txBody>
          <a:bodyPr/>
          <a:lstStyle>
            <a:lvl1pPr marL="0" indent="0">
              <a:buNone/>
              <a:defRPr sz="1199">
                <a:solidFill>
                  <a:schemeClr val="bg1"/>
                </a:solidFill>
              </a:defRPr>
            </a:lvl1pPr>
          </a:lstStyle>
          <a:p>
            <a:pPr lvl="0"/>
            <a:r>
              <a:rPr lang="en-US" noProof="0"/>
              <a:t>Job Title</a:t>
            </a:r>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hasCustomPrompt="1"/>
          </p:nvPr>
        </p:nvSpPr>
        <p:spPr>
          <a:xfrm>
            <a:off x="615063" y="5914642"/>
            <a:ext cx="575700" cy="576000"/>
          </a:xfrm>
          <a:prstGeom prst="ellipse">
            <a:avLst/>
          </a:prstGeom>
        </p:spPr>
        <p:txBody>
          <a:bodyPr anchor="ctr"/>
          <a:lstStyle>
            <a:lvl1pPr marL="0" indent="0" algn="ctr">
              <a:buNone/>
              <a:defRPr sz="900">
                <a:solidFill>
                  <a:schemeClr val="bg1"/>
                </a:solidFill>
              </a:defRPr>
            </a:lvl1pPr>
          </a:lstStyle>
          <a:p>
            <a:r>
              <a:rPr lang="en-US" noProof="0"/>
              <a:t>Click icon to add picture</a:t>
            </a:r>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invGray">
          <a:xfrm>
            <a:off x="10359392" y="4960938"/>
            <a:ext cx="1224912"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invGray">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invGray">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noProof="0"/>
            </a:p>
          </p:txBody>
        </p:sp>
      </p:grpSp>
    </p:spTree>
    <p:extLst>
      <p:ext uri="{BB962C8B-B14F-4D97-AF65-F5344CB8AC3E}">
        <p14:creationId xmlns:p14="http://schemas.microsoft.com/office/powerpoint/2010/main" val="427149553"/>
      </p:ext>
    </p:extLst>
  </p:cSld>
  <p:clrMapOvr>
    <a:masterClrMapping/>
  </p:clrMapOvr>
  <p:extLst>
    <p:ext uri="{DCECCB84-F9BA-43D5-87BE-67443E8EF086}">
      <p15:sldGuideLst xmlns:p15="http://schemas.microsoft.com/office/powerpoint/2012/main"/>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18_Final_legal_text">
    <p:spTree>
      <p:nvGrpSpPr>
        <p:cNvPr id="1" name=""/>
        <p:cNvGrpSpPr/>
        <p:nvPr/>
      </p:nvGrpSpPr>
      <p:grpSpPr>
        <a:xfrm>
          <a:off x="0" y="0"/>
          <a:ext cx="0" cy="0"/>
          <a:chOff x="0" y="0"/>
          <a:chExt cx="0" cy="0"/>
        </a:xfrm>
      </p:grpSpPr>
      <p:pic>
        <p:nvPicPr>
          <p:cNvPr id="5" name="Grafik 4"/>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bwMode="ltGray">
          <a:xfrm>
            <a:off x="1" y="-1"/>
            <a:ext cx="12191999" cy="6861931"/>
          </a:xfrm>
          <a:prstGeom prst="rect">
            <a:avLst/>
          </a:prstGeom>
        </p:spPr>
      </p:pic>
      <p:sp>
        <p:nvSpPr>
          <p:cNvPr id="6" name="Textplatzhalter 2"/>
          <p:cNvSpPr>
            <a:spLocks noGrp="1"/>
          </p:cNvSpPr>
          <p:nvPr>
            <p:ph type="body" sz="quarter" idx="10" hasCustomPrompt="1"/>
          </p:nvPr>
        </p:nvSpPr>
        <p:spPr bwMode="gray">
          <a:xfrm>
            <a:off x="628239" y="292414"/>
            <a:ext cx="3141164" cy="5210175"/>
          </a:xfrm>
          <a:prstGeom prst="rect">
            <a:avLst/>
          </a:prstGeom>
        </p:spPr>
        <p:txBody>
          <a:bodyPr>
            <a:noAutofit/>
          </a:bodyPr>
          <a:lstStyle>
            <a:lvl1pPr marL="0" marR="0" indent="0" algn="l" defTabSz="913943" rtl="0" eaLnBrk="1" fontAlgn="auto" latinLnBrk="0" hangingPunct="1">
              <a:lnSpc>
                <a:spcPct val="100000"/>
              </a:lnSpc>
              <a:spcBef>
                <a:spcPts val="0"/>
              </a:spcBef>
              <a:spcAft>
                <a:spcPts val="0"/>
              </a:spcAft>
              <a:buClr>
                <a:srgbClr val="FFD200"/>
              </a:buClr>
              <a:buSzPct val="70000"/>
              <a:buFontTx/>
              <a:buNone/>
              <a:tabLst/>
              <a:defRPr kumimoji="0" lang="de-DE" sz="1099" b="1" i="0" u="none" strike="noStrike" kern="0" cap="none" spc="0" normalizeH="0" baseline="0">
                <a:ln>
                  <a:noFill/>
                </a:ln>
                <a:solidFill>
                  <a:schemeClr val="bg1"/>
                </a:solidFill>
                <a:effectLst/>
                <a:uLnTx/>
                <a:uFillTx/>
                <a:latin typeface="+mn-lt"/>
                <a:ea typeface="+mn-ea"/>
                <a:cs typeface="+mn-cs"/>
              </a:defRPr>
            </a:lvl1pPr>
          </a:lstStyle>
          <a:p>
            <a:pPr marL="0" marR="0" lvl="0" indent="0" algn="l" defTabSz="913943" rtl="0" eaLnBrk="1" fontAlgn="auto" latinLnBrk="0" hangingPunct="1">
              <a:lnSpc>
                <a:spcPct val="100000"/>
              </a:lnSpc>
              <a:spcBef>
                <a:spcPts val="0"/>
              </a:spcBef>
              <a:spcAft>
                <a:spcPts val="600"/>
              </a:spcAft>
              <a:buClr>
                <a:srgbClr val="FFD200"/>
              </a:buClr>
              <a:buSzPct val="70000"/>
              <a:buFontTx/>
              <a:buNone/>
              <a:tabLst/>
              <a:defRPr/>
            </a:pPr>
            <a:r>
              <a:rPr kumimoji="0" lang="en-US" sz="999" b="1" i="0" u="none" strike="noStrike" kern="0" cap="none" spc="0" normalizeH="0" baseline="0" noProof="0">
                <a:ln>
                  <a:noFill/>
                </a:ln>
                <a:solidFill>
                  <a:prstClr val="white"/>
                </a:solidFill>
                <a:effectLst/>
                <a:uLnTx/>
                <a:uFillTx/>
                <a:latin typeface="+mn-lt"/>
                <a:ea typeface="+mn-ea"/>
                <a:cs typeface="+mn-cs"/>
              </a:rPr>
              <a:t>EY </a:t>
            </a:r>
            <a:r>
              <a:rPr kumimoji="0" lang="en-US" sz="999" b="0" i="0" u="none" strike="noStrike" kern="0" cap="none" spc="0" normalizeH="0" baseline="0" noProof="0">
                <a:ln>
                  <a:noFill/>
                </a:ln>
                <a:solidFill>
                  <a:prstClr val="white"/>
                </a:solidFill>
                <a:effectLst/>
                <a:uLnTx/>
                <a:uFillTx/>
                <a:latin typeface="+mn-lt"/>
                <a:ea typeface="+mn-ea"/>
                <a:cs typeface="+mn-cs"/>
              </a:rPr>
              <a:t> </a:t>
            </a:r>
            <a:r>
              <a:rPr kumimoji="0" lang="en-US" sz="999" b="0" i="0" u="none" strike="noStrike" kern="0" cap="none" spc="0" normalizeH="0" baseline="0" noProof="0">
                <a:ln>
                  <a:noFill/>
                </a:ln>
                <a:solidFill>
                  <a:prstClr val="white"/>
                </a:solidFill>
                <a:effectLst/>
                <a:uLnTx/>
                <a:uFillTx/>
                <a:latin typeface="+mn-lt"/>
                <a:ea typeface="+mn-ea"/>
                <a:cs typeface="Arial"/>
              </a:rPr>
              <a:t>|  Assurance | Tax | Transactions | Advisory </a:t>
            </a:r>
            <a:br>
              <a:rPr kumimoji="0" lang="en-US" sz="999" b="0" i="0" u="none" strike="noStrike" kern="0" cap="none" spc="0" normalizeH="0" baseline="0" noProof="0">
                <a:ln>
                  <a:noFill/>
                </a:ln>
                <a:solidFill>
                  <a:prstClr val="white"/>
                </a:solidFill>
                <a:effectLst/>
                <a:uLnTx/>
                <a:uFillTx/>
                <a:latin typeface="+mn-lt"/>
                <a:ea typeface="+mn-ea"/>
                <a:cs typeface="Arial"/>
              </a:rPr>
            </a:br>
            <a:br>
              <a:rPr kumimoji="0" lang="en-US" sz="999" b="0" i="0" u="none" strike="noStrike" kern="0" cap="none" spc="0" normalizeH="0" baseline="0" noProof="0">
                <a:ln>
                  <a:noFill/>
                </a:ln>
                <a:solidFill>
                  <a:prstClr val="white"/>
                </a:solidFill>
                <a:effectLst/>
                <a:uLnTx/>
                <a:uFillTx/>
                <a:latin typeface="+mn-lt"/>
                <a:ea typeface="+mn-ea"/>
                <a:cs typeface="Arial"/>
              </a:rPr>
            </a:br>
            <a:r>
              <a:rPr kumimoji="0" lang="en-US" sz="999" b="0" i="0" u="none" strike="noStrike" kern="0" cap="none" spc="0" normalizeH="0" baseline="0" noProof="0">
                <a:ln>
                  <a:noFill/>
                </a:ln>
                <a:solidFill>
                  <a:prstClr val="white"/>
                </a:solidFill>
                <a:effectLst/>
                <a:uLnTx/>
                <a:uFillTx/>
                <a:latin typeface="+mn-lt"/>
                <a:ea typeface="+mn-ea"/>
                <a:cs typeface="Arial"/>
              </a:rPr>
              <a:t>Refer to The Branding Zone for the latest boilerplate language. </a:t>
            </a:r>
          </a:p>
          <a:p>
            <a:pPr marL="0" marR="0" lvl="0" indent="0" algn="l" defTabSz="913943" rtl="0" eaLnBrk="1" fontAlgn="auto" latinLnBrk="0" hangingPunct="1">
              <a:lnSpc>
                <a:spcPct val="100000"/>
              </a:lnSpc>
              <a:spcBef>
                <a:spcPts val="0"/>
              </a:spcBef>
              <a:spcAft>
                <a:spcPts val="600"/>
              </a:spcAft>
              <a:buClr>
                <a:srgbClr val="FFD200"/>
              </a:buClr>
              <a:buSzPct val="70000"/>
              <a:buFontTx/>
              <a:buNone/>
              <a:tabLst/>
              <a:defRPr/>
            </a:pPr>
            <a:endParaRPr lang="de-DE"/>
          </a:p>
        </p:txBody>
      </p:sp>
    </p:spTree>
    <p:extLst>
      <p:ext uri="{BB962C8B-B14F-4D97-AF65-F5344CB8AC3E}">
        <p14:creationId xmlns:p14="http://schemas.microsoft.com/office/powerpoint/2010/main" val="3591137165"/>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532781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3_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603" y="294200"/>
            <a:ext cx="10972800" cy="590400"/>
          </a:xfrm>
        </p:spPr>
        <p:txBody>
          <a:bodyPr/>
          <a:lstStyle>
            <a:lvl1pPr>
              <a:defRPr sz="2397">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7" noProof="0">
              <a:solidFill>
                <a:schemeClr val="bg1"/>
              </a:solidFill>
            </a:endParaRPr>
          </a:p>
        </p:txBody>
      </p:sp>
      <p:sp>
        <p:nvSpPr>
          <p:cNvPr id="8" name="Text Placeholder 2">
            <a:extLst>
              <a:ext uri="{FF2B5EF4-FFF2-40B4-BE49-F238E27FC236}">
                <a16:creationId xmlns:a16="http://schemas.microsoft.com/office/drawing/2014/main" id="{90356C28-34FC-48BD-943E-82B485EB0C49}"/>
              </a:ext>
            </a:extLst>
          </p:cNvPr>
          <p:cNvSpPr>
            <a:spLocks noGrp="1"/>
          </p:cNvSpPr>
          <p:nvPr>
            <p:ph idx="1"/>
          </p:nvPr>
        </p:nvSpPr>
        <p:spPr>
          <a:xfrm>
            <a:off x="609603"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474839303"/>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theme" Target="../theme/theme1.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slideLayout" Target="../slideLayouts/slideLayout73.xml"/><Relationship Id="rId3" Type="http://schemas.openxmlformats.org/officeDocument/2006/relationships/slideLayout" Target="../slideLayouts/slideLayout58.xml"/><Relationship Id="rId21" Type="http://schemas.openxmlformats.org/officeDocument/2006/relationships/oleObject" Target="../embeddings/oleObject1.bin"/><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slideLayout" Target="../slideLayouts/slideLayout72.xml"/><Relationship Id="rId2" Type="http://schemas.openxmlformats.org/officeDocument/2006/relationships/slideLayout" Target="../slideLayouts/slideLayout57.xml"/><Relationship Id="rId16" Type="http://schemas.openxmlformats.org/officeDocument/2006/relationships/slideLayout" Target="../slideLayouts/slideLayout71.xml"/><Relationship Id="rId20" Type="http://schemas.openxmlformats.org/officeDocument/2006/relationships/tags" Target="../tags/tag1.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slideLayout" Target="../slideLayouts/slideLayout70.xml"/><Relationship Id="rId10" Type="http://schemas.openxmlformats.org/officeDocument/2006/relationships/slideLayout" Target="../slideLayouts/slideLayout65.xml"/><Relationship Id="rId19" Type="http://schemas.openxmlformats.org/officeDocument/2006/relationships/theme" Target="../theme/theme2.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slideLayout" Target="../slideLayouts/slideLayout69.xml"/><Relationship Id="rId22" Type="http://schemas.openxmlformats.org/officeDocument/2006/relationships/image" Target="../media/image11.emf"/></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81.xml"/><Relationship Id="rId13" Type="http://schemas.openxmlformats.org/officeDocument/2006/relationships/slideLayout" Target="../slideLayouts/slideLayout86.xml"/><Relationship Id="rId18" Type="http://schemas.openxmlformats.org/officeDocument/2006/relationships/theme" Target="../theme/theme3.xml"/><Relationship Id="rId3" Type="http://schemas.openxmlformats.org/officeDocument/2006/relationships/slideLayout" Target="../slideLayouts/slideLayout76.xml"/><Relationship Id="rId21" Type="http://schemas.openxmlformats.org/officeDocument/2006/relationships/image" Target="../media/image11.emf"/><Relationship Id="rId7" Type="http://schemas.openxmlformats.org/officeDocument/2006/relationships/slideLayout" Target="../slideLayouts/slideLayout80.xml"/><Relationship Id="rId12" Type="http://schemas.openxmlformats.org/officeDocument/2006/relationships/slideLayout" Target="../slideLayouts/slideLayout85.xml"/><Relationship Id="rId17" Type="http://schemas.openxmlformats.org/officeDocument/2006/relationships/slideLayout" Target="../slideLayouts/slideLayout90.xml"/><Relationship Id="rId2" Type="http://schemas.openxmlformats.org/officeDocument/2006/relationships/slideLayout" Target="../slideLayouts/slideLayout75.xml"/><Relationship Id="rId16" Type="http://schemas.openxmlformats.org/officeDocument/2006/relationships/slideLayout" Target="../slideLayouts/slideLayout89.xml"/><Relationship Id="rId20" Type="http://schemas.openxmlformats.org/officeDocument/2006/relationships/oleObject" Target="../embeddings/oleObject1.bin"/><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5" Type="http://schemas.openxmlformats.org/officeDocument/2006/relationships/slideLayout" Target="../slideLayouts/slideLayout88.xml"/><Relationship Id="rId10" Type="http://schemas.openxmlformats.org/officeDocument/2006/relationships/slideLayout" Target="../slideLayouts/slideLayout83.xml"/><Relationship Id="rId19" Type="http://schemas.openxmlformats.org/officeDocument/2006/relationships/tags" Target="../tags/tag2.xml"/><Relationship Id="rId4" Type="http://schemas.openxmlformats.org/officeDocument/2006/relationships/slideLayout" Target="../slideLayouts/slideLayout77.xml"/><Relationship Id="rId9" Type="http://schemas.openxmlformats.org/officeDocument/2006/relationships/slideLayout" Target="../slideLayouts/slideLayout82.xml"/><Relationship Id="rId14" Type="http://schemas.openxmlformats.org/officeDocument/2006/relationships/slideLayout" Target="../slideLayouts/slideLayout87.xml"/></Relationships>
</file>

<file path=ppt/slideMasters/_rels/slideMaster4.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slideLayout" Target="../slideLayouts/slideLayout93.xml"/><Relationship Id="rId7" Type="http://schemas.openxmlformats.org/officeDocument/2006/relationships/tags" Target="../tags/tag4.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tags" Target="../tags/tag3.xml"/><Relationship Id="rId5" Type="http://schemas.openxmlformats.org/officeDocument/2006/relationships/theme" Target="../theme/theme4.xml"/><Relationship Id="rId10" Type="http://schemas.openxmlformats.org/officeDocument/2006/relationships/image" Target="../media/image14.wmf"/><Relationship Id="rId4" Type="http://schemas.openxmlformats.org/officeDocument/2006/relationships/slideLayout" Target="../slideLayouts/slideLayout94.xml"/><Relationship Id="rId9" Type="http://schemas.openxmlformats.org/officeDocument/2006/relationships/image" Target="../media/image13.emf"/></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3" Type="http://schemas.openxmlformats.org/officeDocument/2006/relationships/slideLayout" Target="../slideLayouts/slideLayout97.xml"/><Relationship Id="rId21" Type="http://schemas.openxmlformats.org/officeDocument/2006/relationships/theme" Target="../theme/theme5.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5" Type="http://schemas.openxmlformats.org/officeDocument/2006/relationships/slideLayout" Target="../slideLayouts/slideLayout99.xml"/><Relationship Id="rId15" Type="http://schemas.openxmlformats.org/officeDocument/2006/relationships/slideLayout" Target="../slideLayouts/slideLayout109.xml"/><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image" Target="../media/image16.wmf"/></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22.xml"/><Relationship Id="rId13" Type="http://schemas.openxmlformats.org/officeDocument/2006/relationships/slideLayout" Target="../slideLayouts/slideLayout127.xml"/><Relationship Id="rId18" Type="http://schemas.openxmlformats.org/officeDocument/2006/relationships/slideLayout" Target="../slideLayouts/slideLayout132.xml"/><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slideLayout" Target="../slideLayouts/slideLayout126.xml"/><Relationship Id="rId17" Type="http://schemas.openxmlformats.org/officeDocument/2006/relationships/slideLayout" Target="../slideLayouts/slideLayout131.xml"/><Relationship Id="rId2" Type="http://schemas.openxmlformats.org/officeDocument/2006/relationships/slideLayout" Target="../slideLayouts/slideLayout116.xml"/><Relationship Id="rId16" Type="http://schemas.openxmlformats.org/officeDocument/2006/relationships/slideLayout" Target="../slideLayouts/slideLayout130.xml"/><Relationship Id="rId20" Type="http://schemas.openxmlformats.org/officeDocument/2006/relationships/theme" Target="../theme/theme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5" Type="http://schemas.openxmlformats.org/officeDocument/2006/relationships/slideLayout" Target="../slideLayouts/slideLayout129.xml"/><Relationship Id="rId10" Type="http://schemas.openxmlformats.org/officeDocument/2006/relationships/slideLayout" Target="../slideLayouts/slideLayout124.xml"/><Relationship Id="rId19" Type="http://schemas.openxmlformats.org/officeDocument/2006/relationships/slideLayout" Target="../slideLayouts/slideLayout133.xml"/><Relationship Id="rId4" Type="http://schemas.openxmlformats.org/officeDocument/2006/relationships/slideLayout" Target="../slideLayouts/slideLayout118.xml"/><Relationship Id="rId9" Type="http://schemas.openxmlformats.org/officeDocument/2006/relationships/slideLayout" Target="../slideLayouts/slideLayout123.xml"/><Relationship Id="rId14" Type="http://schemas.openxmlformats.org/officeDocument/2006/relationships/slideLayout" Target="../slideLayouts/slideLayout128.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134.xml"/></Relationships>
</file>

<file path=ppt/slideMasters/_rels/slideMaster8.xml.rels><?xml version="1.0" encoding="UTF-8" standalone="yes"?>
<Relationships xmlns="http://schemas.openxmlformats.org/package/2006/relationships"><Relationship Id="rId2" Type="http://schemas.openxmlformats.org/officeDocument/2006/relationships/theme" Target="../theme/theme8.xml"/><Relationship Id="rId1" Type="http://schemas.openxmlformats.org/officeDocument/2006/relationships/slideLayout" Target="../slideLayouts/slideLayout13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2E2E38"/>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79F76FC-E401-8D31-03C5-3B7CCCCAD6A6}"/>
              </a:ext>
            </a:extLst>
          </p:cNvPr>
          <p:cNvSpPr txBox="1">
            <a:spLocks noGrp="1"/>
          </p:cNvSpPr>
          <p:nvPr>
            <p:ph type="title"/>
          </p:nvPr>
        </p:nvSpPr>
        <p:spPr>
          <a:xfrm>
            <a:off x="609603" y="294199"/>
            <a:ext cx="10972800" cy="590876"/>
          </a:xfrm>
          <a:prstGeom prst="rect">
            <a:avLst/>
          </a:prstGeom>
          <a:noFill/>
          <a:ln>
            <a:noFill/>
          </a:ln>
        </p:spPr>
        <p:txBody>
          <a:bodyPr vert="horz" wrap="square" lIns="0" tIns="0" rIns="0" bIns="0" anchor="t" anchorCtr="0" compatLnSpc="1">
            <a:noAutofit/>
          </a:body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6D9D5059-5DC8-05D1-9D5C-8C71BFB49B10}"/>
              </a:ext>
            </a:extLst>
          </p:cNvPr>
          <p:cNvSpPr txBox="1">
            <a:spLocks noGrp="1"/>
          </p:cNvSpPr>
          <p:nvPr>
            <p:ph type="body" idx="1"/>
          </p:nvPr>
        </p:nvSpPr>
        <p:spPr>
          <a:xfrm>
            <a:off x="609603" y="1137915"/>
            <a:ext cx="10972800" cy="4947918"/>
          </a:xfrm>
          <a:prstGeom prst="rect">
            <a:avLst/>
          </a:prstGeom>
          <a:noFill/>
          <a:ln>
            <a:noFill/>
          </a:ln>
        </p:spPr>
        <p:txBody>
          <a:bodyPr vert="horz" wrap="square" lIns="0" tIns="0" rIns="0" bIns="0"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4" name="Group 4">
            <a:extLst>
              <a:ext uri="{FF2B5EF4-FFF2-40B4-BE49-F238E27FC236}">
                <a16:creationId xmlns:a16="http://schemas.microsoft.com/office/drawing/2014/main" id="{E448947D-B6E8-7922-2DCA-173FB906AD2A}"/>
              </a:ext>
            </a:extLst>
          </p:cNvPr>
          <p:cNvGrpSpPr/>
          <p:nvPr/>
        </p:nvGrpSpPr>
        <p:grpSpPr>
          <a:xfrm>
            <a:off x="11281254" y="6356351"/>
            <a:ext cx="303050" cy="311141"/>
            <a:chOff x="11281254" y="6356351"/>
            <a:chExt cx="303050" cy="311141"/>
          </a:xfrm>
        </p:grpSpPr>
        <p:sp>
          <p:nvSpPr>
            <p:cNvPr id="5" name="Freeform 5">
              <a:extLst>
                <a:ext uri="{FF2B5EF4-FFF2-40B4-BE49-F238E27FC236}">
                  <a16:creationId xmlns:a16="http://schemas.microsoft.com/office/drawing/2014/main" id="{A3A7FB63-431D-6C1B-0F01-C2DDCB138946}"/>
                </a:ext>
              </a:extLst>
            </p:cNvPr>
            <p:cNvSpPr/>
            <p:nvPr/>
          </p:nvSpPr>
          <p:spPr>
            <a:xfrm>
              <a:off x="11281254" y="6356351"/>
              <a:ext cx="303050" cy="111127"/>
            </a:xfrm>
            <a:custGeom>
              <a:avLst/>
              <a:gdLst>
                <a:gd name="f0" fmla="val 10800000"/>
                <a:gd name="f1" fmla="val 5400000"/>
                <a:gd name="f2" fmla="val 180"/>
                <a:gd name="f3" fmla="val w"/>
                <a:gd name="f4" fmla="val h"/>
                <a:gd name="f5" fmla="val 0"/>
                <a:gd name="f6" fmla="val 191"/>
                <a:gd name="f7" fmla="val 70"/>
                <a:gd name="f8" fmla="val 36"/>
                <a:gd name="f9" fmla="+- 0 0 -90"/>
                <a:gd name="f10" fmla="*/ f3 1 191"/>
                <a:gd name="f11" fmla="*/ f4 1 70"/>
                <a:gd name="f12" fmla="+- f7 0 f5"/>
                <a:gd name="f13" fmla="+- f6 0 f5"/>
                <a:gd name="f14" fmla="*/ f9 f0 1"/>
                <a:gd name="f15" fmla="*/ f13 1 191"/>
                <a:gd name="f16" fmla="*/ f12 1 70"/>
                <a:gd name="f17" fmla="*/ 191 f13 1"/>
                <a:gd name="f18" fmla="*/ 0 f12 1"/>
                <a:gd name="f19" fmla="*/ 0 f13 1"/>
                <a:gd name="f20" fmla="*/ 70 f12 1"/>
                <a:gd name="f21" fmla="*/ 36 f12 1"/>
                <a:gd name="f22" fmla="*/ f14 1 f2"/>
                <a:gd name="f23" fmla="*/ f17 1 191"/>
                <a:gd name="f24" fmla="*/ f18 1 70"/>
                <a:gd name="f25" fmla="*/ f19 1 191"/>
                <a:gd name="f26" fmla="*/ f20 1 70"/>
                <a:gd name="f27" fmla="*/ f21 1 70"/>
                <a:gd name="f28" fmla="*/ 0 1 f15"/>
                <a:gd name="f29" fmla="*/ f6 1 f15"/>
                <a:gd name="f30" fmla="*/ 0 1 f16"/>
                <a:gd name="f31" fmla="*/ f7 1 f16"/>
                <a:gd name="f32" fmla="+- f22 0 f1"/>
                <a:gd name="f33" fmla="*/ f23 1 f15"/>
                <a:gd name="f34" fmla="*/ f24 1 f16"/>
                <a:gd name="f35" fmla="*/ f25 1 f15"/>
                <a:gd name="f36" fmla="*/ f26 1 f16"/>
                <a:gd name="f37" fmla="*/ f27 1 f16"/>
                <a:gd name="f38" fmla="*/ f28 f10 1"/>
                <a:gd name="f39" fmla="*/ f29 f10 1"/>
                <a:gd name="f40" fmla="*/ f31 f11 1"/>
                <a:gd name="f41" fmla="*/ f30 f11 1"/>
                <a:gd name="f42" fmla="*/ f33 f10 1"/>
                <a:gd name="f43" fmla="*/ f34 f11 1"/>
                <a:gd name="f44" fmla="*/ f35 f10 1"/>
                <a:gd name="f45" fmla="*/ f36 f11 1"/>
                <a:gd name="f46" fmla="*/ f37 f11 1"/>
              </a:gdLst>
              <a:ahLst/>
              <a:cxnLst>
                <a:cxn ang="3cd4">
                  <a:pos x="hc" y="t"/>
                </a:cxn>
                <a:cxn ang="0">
                  <a:pos x="r" y="vc"/>
                </a:cxn>
                <a:cxn ang="cd4">
                  <a:pos x="hc" y="b"/>
                </a:cxn>
                <a:cxn ang="cd2">
                  <a:pos x="l" y="vc"/>
                </a:cxn>
                <a:cxn ang="f32">
                  <a:pos x="f42" y="f43"/>
                </a:cxn>
                <a:cxn ang="f32">
                  <a:pos x="f44" y="f45"/>
                </a:cxn>
                <a:cxn ang="f32">
                  <a:pos x="f42" y="f46"/>
                </a:cxn>
                <a:cxn ang="f32">
                  <a:pos x="f42" y="f43"/>
                </a:cxn>
              </a:cxnLst>
              <a:rect l="f38" t="f41" r="f39" b="f40"/>
              <a:pathLst>
                <a:path w="191" h="70">
                  <a:moveTo>
                    <a:pt x="f6" y="f5"/>
                  </a:moveTo>
                  <a:lnTo>
                    <a:pt x="f5" y="f7"/>
                  </a:lnTo>
                  <a:lnTo>
                    <a:pt x="f6" y="f8"/>
                  </a:lnTo>
                  <a:lnTo>
                    <a:pt x="f6" y="f5"/>
                  </a:lnTo>
                  <a:close/>
                </a:path>
              </a:pathLst>
            </a:custGeom>
            <a:solidFill>
              <a:srgbClr val="FFE600"/>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6" name="Freeform 6">
              <a:extLst>
                <a:ext uri="{FF2B5EF4-FFF2-40B4-BE49-F238E27FC236}">
                  <a16:creationId xmlns:a16="http://schemas.microsoft.com/office/drawing/2014/main" id="{11738B37-E7DF-43C2-AC13-A94928A30114}"/>
                </a:ext>
              </a:extLst>
            </p:cNvPr>
            <p:cNvSpPr/>
            <p:nvPr/>
          </p:nvSpPr>
          <p:spPr>
            <a:xfrm>
              <a:off x="11282836" y="6513508"/>
              <a:ext cx="123764" cy="153984"/>
            </a:xfrm>
            <a:custGeom>
              <a:avLst/>
              <a:gdLst>
                <a:gd name="f0" fmla="val 10800000"/>
                <a:gd name="f1" fmla="val 5400000"/>
                <a:gd name="f2" fmla="val 180"/>
                <a:gd name="f3" fmla="val w"/>
                <a:gd name="f4" fmla="val h"/>
                <a:gd name="f5" fmla="val 0"/>
                <a:gd name="f6" fmla="val 78"/>
                <a:gd name="f7" fmla="val 97"/>
                <a:gd name="f8" fmla="val 30"/>
                <a:gd name="f9" fmla="val 58"/>
                <a:gd name="f10" fmla="val 65"/>
                <a:gd name="f11" fmla="val 38"/>
                <a:gd name="f12" fmla="val 22"/>
                <a:gd name="f13" fmla="val 68"/>
                <a:gd name="f14" fmla="val 55"/>
                <a:gd name="f15" fmla="val 74"/>
                <a:gd name="f16" fmla="+- 0 0 -90"/>
                <a:gd name="f17" fmla="*/ f3 1 78"/>
                <a:gd name="f18" fmla="*/ f4 1 97"/>
                <a:gd name="f19" fmla="+- f7 0 f5"/>
                <a:gd name="f20" fmla="+- f6 0 f5"/>
                <a:gd name="f21" fmla="*/ f16 f0 1"/>
                <a:gd name="f22" fmla="*/ f20 1 78"/>
                <a:gd name="f23" fmla="*/ f19 1 97"/>
                <a:gd name="f24" fmla="*/ 30 f20 1"/>
                <a:gd name="f25" fmla="*/ 58 f19 1"/>
                <a:gd name="f26" fmla="*/ 65 f20 1"/>
                <a:gd name="f27" fmla="*/ 38 f19 1"/>
                <a:gd name="f28" fmla="*/ 22 f19 1"/>
                <a:gd name="f29" fmla="*/ 68 f20 1"/>
                <a:gd name="f30" fmla="*/ 55 f20 1"/>
                <a:gd name="f31" fmla="*/ 0 f19 1"/>
                <a:gd name="f32" fmla="*/ 0 f20 1"/>
                <a:gd name="f33" fmla="*/ 97 f19 1"/>
                <a:gd name="f34" fmla="*/ 78 f20 1"/>
                <a:gd name="f35" fmla="*/ 74 f19 1"/>
                <a:gd name="f36" fmla="*/ f21 1 f2"/>
                <a:gd name="f37" fmla="*/ f24 1 78"/>
                <a:gd name="f38" fmla="*/ f25 1 97"/>
                <a:gd name="f39" fmla="*/ f26 1 78"/>
                <a:gd name="f40" fmla="*/ f27 1 97"/>
                <a:gd name="f41" fmla="*/ f28 1 97"/>
                <a:gd name="f42" fmla="*/ f29 1 78"/>
                <a:gd name="f43" fmla="*/ f30 1 78"/>
                <a:gd name="f44" fmla="*/ f31 1 97"/>
                <a:gd name="f45" fmla="*/ f32 1 78"/>
                <a:gd name="f46" fmla="*/ f33 1 97"/>
                <a:gd name="f47" fmla="*/ f34 1 78"/>
                <a:gd name="f48" fmla="*/ f35 1 97"/>
                <a:gd name="f49" fmla="*/ 0 1 f22"/>
                <a:gd name="f50" fmla="*/ f6 1 f22"/>
                <a:gd name="f51" fmla="*/ 0 1 f23"/>
                <a:gd name="f52" fmla="*/ f7 1 f23"/>
                <a:gd name="f53" fmla="+- f36 0 f1"/>
                <a:gd name="f54" fmla="*/ f37 1 f22"/>
                <a:gd name="f55" fmla="*/ f38 1 f23"/>
                <a:gd name="f56" fmla="*/ f39 1 f22"/>
                <a:gd name="f57" fmla="*/ f40 1 f23"/>
                <a:gd name="f58" fmla="*/ f41 1 f23"/>
                <a:gd name="f59" fmla="*/ f42 1 f22"/>
                <a:gd name="f60" fmla="*/ f43 1 f22"/>
                <a:gd name="f61" fmla="*/ f44 1 f23"/>
                <a:gd name="f62" fmla="*/ f45 1 f22"/>
                <a:gd name="f63" fmla="*/ f46 1 f23"/>
                <a:gd name="f64" fmla="*/ f47 1 f22"/>
                <a:gd name="f65" fmla="*/ f48 1 f23"/>
                <a:gd name="f66" fmla="*/ f49 f17 1"/>
                <a:gd name="f67" fmla="*/ f50 f17 1"/>
                <a:gd name="f68" fmla="*/ f52 f18 1"/>
                <a:gd name="f69" fmla="*/ f51 f18 1"/>
                <a:gd name="f70" fmla="*/ f54 f17 1"/>
                <a:gd name="f71" fmla="*/ f55 f18 1"/>
                <a:gd name="f72" fmla="*/ f56 f17 1"/>
                <a:gd name="f73" fmla="*/ f57 f18 1"/>
                <a:gd name="f74" fmla="*/ f58 f18 1"/>
                <a:gd name="f75" fmla="*/ f59 f17 1"/>
                <a:gd name="f76" fmla="*/ f60 f17 1"/>
                <a:gd name="f77" fmla="*/ f61 f18 1"/>
                <a:gd name="f78" fmla="*/ f62 f17 1"/>
                <a:gd name="f79" fmla="*/ f63 f18 1"/>
                <a:gd name="f80" fmla="*/ f64 f17 1"/>
                <a:gd name="f81" fmla="*/ f65 f18 1"/>
              </a:gdLst>
              <a:ahLst/>
              <a:cxnLst>
                <a:cxn ang="3cd4">
                  <a:pos x="hc" y="t"/>
                </a:cxn>
                <a:cxn ang="0">
                  <a:pos x="r" y="vc"/>
                </a:cxn>
                <a:cxn ang="cd4">
                  <a:pos x="hc" y="b"/>
                </a:cxn>
                <a:cxn ang="cd2">
                  <a:pos x="l" y="vc"/>
                </a:cxn>
                <a:cxn ang="f53">
                  <a:pos x="f70" y="f71"/>
                </a:cxn>
                <a:cxn ang="f53">
                  <a:pos x="f72" y="f71"/>
                </a:cxn>
                <a:cxn ang="f53">
                  <a:pos x="f72" y="f73"/>
                </a:cxn>
                <a:cxn ang="f53">
                  <a:pos x="f70" y="f73"/>
                </a:cxn>
                <a:cxn ang="f53">
                  <a:pos x="f70" y="f74"/>
                </a:cxn>
                <a:cxn ang="f53">
                  <a:pos x="f75" y="f74"/>
                </a:cxn>
                <a:cxn ang="f53">
                  <a:pos x="f76" y="f77"/>
                </a:cxn>
                <a:cxn ang="f53">
                  <a:pos x="f78" y="f77"/>
                </a:cxn>
                <a:cxn ang="f53">
                  <a:pos x="f78" y="f79"/>
                </a:cxn>
                <a:cxn ang="f53">
                  <a:pos x="f80" y="f79"/>
                </a:cxn>
                <a:cxn ang="f53">
                  <a:pos x="f80" y="f81"/>
                </a:cxn>
                <a:cxn ang="f53">
                  <a:pos x="f70" y="f81"/>
                </a:cxn>
                <a:cxn ang="f53">
                  <a:pos x="f70" y="f71"/>
                </a:cxn>
              </a:cxnLst>
              <a:rect l="f66" t="f69" r="f67" b="f68"/>
              <a:pathLst>
                <a:path w="78" h="97">
                  <a:moveTo>
                    <a:pt x="f8" y="f9"/>
                  </a:moveTo>
                  <a:lnTo>
                    <a:pt x="f10" y="f9"/>
                  </a:lnTo>
                  <a:lnTo>
                    <a:pt x="f10" y="f11"/>
                  </a:lnTo>
                  <a:lnTo>
                    <a:pt x="f8" y="f11"/>
                  </a:lnTo>
                  <a:lnTo>
                    <a:pt x="f8" y="f12"/>
                  </a:lnTo>
                  <a:lnTo>
                    <a:pt x="f13" y="f12"/>
                  </a:lnTo>
                  <a:lnTo>
                    <a:pt x="f14" y="f5"/>
                  </a:lnTo>
                  <a:lnTo>
                    <a:pt x="f5" y="f5"/>
                  </a:lnTo>
                  <a:lnTo>
                    <a:pt x="f5" y="f7"/>
                  </a:lnTo>
                  <a:lnTo>
                    <a:pt x="f6" y="f7"/>
                  </a:lnTo>
                  <a:lnTo>
                    <a:pt x="f6" y="f15"/>
                  </a:lnTo>
                  <a:lnTo>
                    <a:pt x="f8" y="f15"/>
                  </a:lnTo>
                  <a:lnTo>
                    <a:pt x="f8" y="f9"/>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sp>
          <p:nvSpPr>
            <p:cNvPr id="7" name="Freeform 7">
              <a:extLst>
                <a:ext uri="{FF2B5EF4-FFF2-40B4-BE49-F238E27FC236}">
                  <a16:creationId xmlns:a16="http://schemas.microsoft.com/office/drawing/2014/main" id="{51629549-D838-E77F-7EAE-97A6CA4A79C8}"/>
                </a:ext>
              </a:extLst>
            </p:cNvPr>
            <p:cNvSpPr/>
            <p:nvPr/>
          </p:nvSpPr>
          <p:spPr>
            <a:xfrm>
              <a:off x="11385971" y="6513508"/>
              <a:ext cx="152320" cy="153984"/>
            </a:xfrm>
            <a:custGeom>
              <a:avLst/>
              <a:gdLst>
                <a:gd name="f0" fmla="val 10800000"/>
                <a:gd name="f1" fmla="val 5400000"/>
                <a:gd name="f2" fmla="val 180"/>
                <a:gd name="f3" fmla="val w"/>
                <a:gd name="f4" fmla="val h"/>
                <a:gd name="f5" fmla="val 0"/>
                <a:gd name="f6" fmla="val 96"/>
                <a:gd name="f7" fmla="val 97"/>
                <a:gd name="f8" fmla="val 64"/>
                <a:gd name="f9" fmla="val 48"/>
                <a:gd name="f10" fmla="val 32"/>
                <a:gd name="f11" fmla="val 33"/>
                <a:gd name="f12" fmla="val 58"/>
                <a:gd name="f13" fmla="val 62"/>
                <a:gd name="f14" fmla="+- 0 0 -90"/>
                <a:gd name="f15" fmla="*/ f3 1 96"/>
                <a:gd name="f16" fmla="*/ f4 1 97"/>
                <a:gd name="f17" fmla="+- f7 0 f5"/>
                <a:gd name="f18" fmla="+- f6 0 f5"/>
                <a:gd name="f19" fmla="*/ f14 f0 1"/>
                <a:gd name="f20" fmla="*/ f18 1 96"/>
                <a:gd name="f21" fmla="*/ f17 1 97"/>
                <a:gd name="f22" fmla="*/ 64 f18 1"/>
                <a:gd name="f23" fmla="*/ 0 f17 1"/>
                <a:gd name="f24" fmla="*/ 48 f18 1"/>
                <a:gd name="f25" fmla="*/ 32 f17 1"/>
                <a:gd name="f26" fmla="*/ 32 f18 1"/>
                <a:gd name="f27" fmla="*/ 0 f18 1"/>
                <a:gd name="f28" fmla="*/ 33 f18 1"/>
                <a:gd name="f29" fmla="*/ 58 f17 1"/>
                <a:gd name="f30" fmla="*/ 97 f17 1"/>
                <a:gd name="f31" fmla="*/ 62 f18 1"/>
                <a:gd name="f32" fmla="*/ 96 f18 1"/>
                <a:gd name="f33" fmla="*/ f19 1 f2"/>
                <a:gd name="f34" fmla="*/ f22 1 96"/>
                <a:gd name="f35" fmla="*/ f23 1 97"/>
                <a:gd name="f36" fmla="*/ f24 1 96"/>
                <a:gd name="f37" fmla="*/ f25 1 97"/>
                <a:gd name="f38" fmla="*/ f26 1 96"/>
                <a:gd name="f39" fmla="*/ f27 1 96"/>
                <a:gd name="f40" fmla="*/ f28 1 96"/>
                <a:gd name="f41" fmla="*/ f29 1 97"/>
                <a:gd name="f42" fmla="*/ f30 1 97"/>
                <a:gd name="f43" fmla="*/ f31 1 96"/>
                <a:gd name="f44" fmla="*/ f32 1 96"/>
                <a:gd name="f45" fmla="*/ 0 1 f20"/>
                <a:gd name="f46" fmla="*/ f6 1 f20"/>
                <a:gd name="f47" fmla="*/ 0 1 f21"/>
                <a:gd name="f48" fmla="*/ f7 1 f21"/>
                <a:gd name="f49" fmla="+- f33 0 f1"/>
                <a:gd name="f50" fmla="*/ f34 1 f20"/>
                <a:gd name="f51" fmla="*/ f35 1 f21"/>
                <a:gd name="f52" fmla="*/ f36 1 f20"/>
                <a:gd name="f53" fmla="*/ f37 1 f21"/>
                <a:gd name="f54" fmla="*/ f38 1 f20"/>
                <a:gd name="f55" fmla="*/ f39 1 f20"/>
                <a:gd name="f56" fmla="*/ f40 1 f20"/>
                <a:gd name="f57" fmla="*/ f41 1 f21"/>
                <a:gd name="f58" fmla="*/ f42 1 f21"/>
                <a:gd name="f59" fmla="*/ f43 1 f20"/>
                <a:gd name="f60" fmla="*/ f44 1 f20"/>
                <a:gd name="f61" fmla="*/ f45 f15 1"/>
                <a:gd name="f62" fmla="*/ f46 f15 1"/>
                <a:gd name="f63" fmla="*/ f48 f16 1"/>
                <a:gd name="f64" fmla="*/ f47 f16 1"/>
                <a:gd name="f65" fmla="*/ f50 f15 1"/>
                <a:gd name="f66" fmla="*/ f51 f16 1"/>
                <a:gd name="f67" fmla="*/ f52 f15 1"/>
                <a:gd name="f68" fmla="*/ f53 f16 1"/>
                <a:gd name="f69" fmla="*/ f54 f15 1"/>
                <a:gd name="f70" fmla="*/ f55 f15 1"/>
                <a:gd name="f71" fmla="*/ f56 f15 1"/>
                <a:gd name="f72" fmla="*/ f57 f16 1"/>
                <a:gd name="f73" fmla="*/ f58 f16 1"/>
                <a:gd name="f74" fmla="*/ f59 f15 1"/>
                <a:gd name="f75" fmla="*/ f60 f15 1"/>
              </a:gdLst>
              <a:ahLst/>
              <a:cxnLst>
                <a:cxn ang="3cd4">
                  <a:pos x="hc" y="t"/>
                </a:cxn>
                <a:cxn ang="0">
                  <a:pos x="r" y="vc"/>
                </a:cxn>
                <a:cxn ang="cd4">
                  <a:pos x="hc" y="b"/>
                </a:cxn>
                <a:cxn ang="cd2">
                  <a:pos x="l" y="vc"/>
                </a:cxn>
                <a:cxn ang="f49">
                  <a:pos x="f65" y="f66"/>
                </a:cxn>
                <a:cxn ang="f49">
                  <a:pos x="f67" y="f68"/>
                </a:cxn>
                <a:cxn ang="f49">
                  <a:pos x="f69" y="f66"/>
                </a:cxn>
                <a:cxn ang="f49">
                  <a:pos x="f70" y="f66"/>
                </a:cxn>
                <a:cxn ang="f49">
                  <a:pos x="f71" y="f72"/>
                </a:cxn>
                <a:cxn ang="f49">
                  <a:pos x="f71" y="f73"/>
                </a:cxn>
                <a:cxn ang="f49">
                  <a:pos x="f74" y="f73"/>
                </a:cxn>
                <a:cxn ang="f49">
                  <a:pos x="f74" y="f72"/>
                </a:cxn>
                <a:cxn ang="f49">
                  <a:pos x="f75" y="f66"/>
                </a:cxn>
                <a:cxn ang="f49">
                  <a:pos x="f65" y="f66"/>
                </a:cxn>
              </a:cxnLst>
              <a:rect l="f61" t="f64" r="f62" b="f63"/>
              <a:pathLst>
                <a:path w="96" h="97">
                  <a:moveTo>
                    <a:pt x="f8" y="f5"/>
                  </a:moveTo>
                  <a:lnTo>
                    <a:pt x="f9" y="f10"/>
                  </a:lnTo>
                  <a:lnTo>
                    <a:pt x="f10" y="f5"/>
                  </a:lnTo>
                  <a:lnTo>
                    <a:pt x="f5" y="f5"/>
                  </a:lnTo>
                  <a:lnTo>
                    <a:pt x="f11" y="f12"/>
                  </a:lnTo>
                  <a:lnTo>
                    <a:pt x="f11" y="f7"/>
                  </a:lnTo>
                  <a:lnTo>
                    <a:pt x="f13" y="f7"/>
                  </a:lnTo>
                  <a:lnTo>
                    <a:pt x="f13" y="f12"/>
                  </a:lnTo>
                  <a:lnTo>
                    <a:pt x="f6" y="f5"/>
                  </a:lnTo>
                  <a:lnTo>
                    <a:pt x="f8" y="f5"/>
                  </a:lnTo>
                  <a:close/>
                </a:path>
              </a:pathLst>
            </a:custGeom>
            <a:solidFill>
              <a:srgbClr val="FFFFFF"/>
            </a:solid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IN" sz="1799" b="0" i="0" u="none" strike="noStrike" kern="1200" cap="none" spc="0" baseline="0">
                <a:solidFill>
                  <a:srgbClr val="2E2E38"/>
                </a:solidFill>
                <a:uFillTx/>
                <a:latin typeface="EYInterstate Light"/>
              </a:endParaRPr>
            </a:p>
          </p:txBody>
        </p:sp>
      </p:grpSp>
      <p:sp>
        <p:nvSpPr>
          <p:cNvPr id="8" name="Date Placeholder 3">
            <a:extLst>
              <a:ext uri="{FF2B5EF4-FFF2-40B4-BE49-F238E27FC236}">
                <a16:creationId xmlns:a16="http://schemas.microsoft.com/office/drawing/2014/main" id="{BF541595-8AAF-843D-B9EE-DF43AD2E2C79}"/>
              </a:ext>
            </a:extLst>
          </p:cNvPr>
          <p:cNvSpPr txBox="1">
            <a:spLocks noGrp="1"/>
          </p:cNvSpPr>
          <p:nvPr>
            <p:ph type="dt" sz="half" idx="2"/>
          </p:nvPr>
        </p:nvSpPr>
        <p:spPr>
          <a:xfrm>
            <a:off x="1428183" y="6471245"/>
            <a:ext cx="1190640" cy="179999"/>
          </a:xfrm>
          <a:prstGeom prst="rect">
            <a:avLst/>
          </a:prstGeom>
          <a:noFill/>
          <a:ln>
            <a:noFill/>
          </a:ln>
        </p:spPr>
        <p:txBody>
          <a:bodyPr vert="horz" wrap="square" lIns="0" tIns="0" rIns="0" bIns="0" anchor="ctr" anchorCtr="0" compatLnSpc="1">
            <a:noAutofit/>
          </a:bodyPr>
          <a:lstStyle>
            <a:lvl1pPr marL="0" marR="0" lvl="0" indent="0" algn="l" defTabSz="913942" rtl="0" fontAlgn="auto" hangingPunct="1">
              <a:lnSpc>
                <a:spcPct val="100000"/>
              </a:lnSpc>
              <a:spcBef>
                <a:spcPts val="0"/>
              </a:spcBef>
              <a:spcAft>
                <a:spcPts val="0"/>
              </a:spcAft>
              <a:buNone/>
              <a:tabLst/>
              <a:defRPr lang="en-US" sz="800" b="0" i="0" u="none" strike="noStrike" kern="1200" cap="none" spc="0" baseline="0">
                <a:solidFill>
                  <a:srgbClr val="FFFFFF"/>
                </a:solidFill>
                <a:uFillTx/>
                <a:latin typeface="EYInterstate Regular" pitchFamily="2"/>
              </a:defRPr>
            </a:lvl1pPr>
          </a:lstStyle>
          <a:p>
            <a:pPr lvl="0"/>
            <a:fld id="{03793515-1156-4DD0-A4B4-196C66241A9F}" type="datetime3">
              <a:rPr lang="en-US"/>
              <a:pPr lvl="0"/>
              <a:t>27 November 2025</a:t>
            </a:fld>
            <a:endParaRPr lang="en-IN"/>
          </a:p>
        </p:txBody>
      </p:sp>
      <p:sp>
        <p:nvSpPr>
          <p:cNvPr id="9" name="Footer Placeholder 4">
            <a:extLst>
              <a:ext uri="{FF2B5EF4-FFF2-40B4-BE49-F238E27FC236}">
                <a16:creationId xmlns:a16="http://schemas.microsoft.com/office/drawing/2014/main" id="{FB233070-58E4-91A8-A77A-51A41EC7AE78}"/>
              </a:ext>
            </a:extLst>
          </p:cNvPr>
          <p:cNvSpPr txBox="1">
            <a:spLocks noGrp="1"/>
          </p:cNvSpPr>
          <p:nvPr>
            <p:ph type="ftr" sz="quarter" idx="3"/>
          </p:nvPr>
        </p:nvSpPr>
        <p:spPr>
          <a:xfrm>
            <a:off x="3237506" y="6471245"/>
            <a:ext cx="3084490" cy="179999"/>
          </a:xfrm>
          <a:prstGeom prst="rect">
            <a:avLst/>
          </a:prstGeom>
          <a:noFill/>
          <a:ln>
            <a:noFill/>
          </a:ln>
        </p:spPr>
        <p:txBody>
          <a:bodyPr vert="horz" wrap="square" lIns="0" tIns="0" rIns="0" bIns="0" anchor="ctr" anchorCtr="0" compatLnSpc="1">
            <a:noAutofit/>
          </a:bodyPr>
          <a:lstStyle>
            <a:lvl1pPr marL="0" marR="0" lvl="0" indent="0" algn="l" defTabSz="913942" rtl="0" fontAlgn="auto" hangingPunct="1">
              <a:lnSpc>
                <a:spcPct val="100000"/>
              </a:lnSpc>
              <a:spcBef>
                <a:spcPts val="0"/>
              </a:spcBef>
              <a:spcAft>
                <a:spcPts val="0"/>
              </a:spcAft>
              <a:buNone/>
              <a:tabLst/>
              <a:defRPr lang="en-US" sz="800" b="0" i="0" u="none" strike="noStrike" kern="1200" cap="none" spc="0" baseline="0">
                <a:solidFill>
                  <a:srgbClr val="FFFFFF"/>
                </a:solidFill>
                <a:uFillTx/>
                <a:latin typeface="EYInterstate Regular" pitchFamily="2"/>
              </a:defRPr>
            </a:lvl1pPr>
          </a:lstStyle>
          <a:p>
            <a:pPr lvl="0"/>
            <a:r>
              <a:rPr lang="en-US"/>
              <a:t>Presentation title</a:t>
            </a:r>
          </a:p>
        </p:txBody>
      </p:sp>
      <p:sp>
        <p:nvSpPr>
          <p:cNvPr id="10" name="Slide Number Placeholder 5">
            <a:extLst>
              <a:ext uri="{FF2B5EF4-FFF2-40B4-BE49-F238E27FC236}">
                <a16:creationId xmlns:a16="http://schemas.microsoft.com/office/drawing/2014/main" id="{2DF6D201-D201-1BC1-0B40-60510F63395B}"/>
              </a:ext>
            </a:extLst>
          </p:cNvPr>
          <p:cNvSpPr txBox="1">
            <a:spLocks noGrp="1"/>
          </p:cNvSpPr>
          <p:nvPr>
            <p:ph type="sldNum" sz="quarter" idx="4"/>
          </p:nvPr>
        </p:nvSpPr>
        <p:spPr>
          <a:xfrm>
            <a:off x="616899" y="6471245"/>
            <a:ext cx="662720" cy="179999"/>
          </a:xfrm>
          <a:prstGeom prst="rect">
            <a:avLst/>
          </a:prstGeom>
          <a:noFill/>
          <a:ln>
            <a:noFill/>
          </a:ln>
        </p:spPr>
        <p:txBody>
          <a:bodyPr vert="horz" wrap="square" lIns="0" tIns="0" rIns="0" bIns="0" anchor="ctr" anchorCtr="0" compatLnSpc="1">
            <a:noAutofit/>
          </a:bodyPr>
          <a:lstStyle>
            <a:lvl1pPr marL="0" marR="0" lvl="0" indent="0" algn="l" defTabSz="913942" rtl="0" fontAlgn="auto" hangingPunct="1">
              <a:lnSpc>
                <a:spcPct val="100000"/>
              </a:lnSpc>
              <a:spcBef>
                <a:spcPts val="0"/>
              </a:spcBef>
              <a:spcAft>
                <a:spcPts val="0"/>
              </a:spcAft>
              <a:buNone/>
              <a:tabLst/>
              <a:defRPr lang="en-GB" sz="800" b="0" i="0" u="none" strike="noStrike" kern="1200" cap="none" spc="0" baseline="0">
                <a:solidFill>
                  <a:srgbClr val="FFFFFF"/>
                </a:solidFill>
                <a:uFillTx/>
                <a:latin typeface="EYInterstate Regular" pitchFamily="2"/>
              </a:defRPr>
            </a:lvl1pPr>
          </a:lstStyle>
          <a:p>
            <a:pPr lvl="0"/>
            <a:r>
              <a:rPr lang="en-GB"/>
              <a:t>Page </a:t>
            </a:r>
            <a:fld id="{AD6AF913-4123-43E0-A0ED-F168197312B6}" type="slidenum">
              <a:t>‹#›</a:t>
            </a:fld>
            <a:endParaRPr lang="en-IN"/>
          </a:p>
        </p:txBody>
      </p:sp>
    </p:spTree>
    <p:extLst>
      <p:ext uri="{BB962C8B-B14F-4D97-AF65-F5344CB8AC3E}">
        <p14:creationId xmlns:p14="http://schemas.microsoft.com/office/powerpoint/2010/main" val="16247988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 id="2147483697" r:id="rId37"/>
    <p:sldLayoutId id="2147483698" r:id="rId38"/>
    <p:sldLayoutId id="2147483699" r:id="rId39"/>
    <p:sldLayoutId id="2147483700" r:id="rId40"/>
    <p:sldLayoutId id="2147483701" r:id="rId41"/>
    <p:sldLayoutId id="2147483702" r:id="rId42"/>
    <p:sldLayoutId id="2147483703" r:id="rId43"/>
    <p:sldLayoutId id="2147483704" r:id="rId44"/>
    <p:sldLayoutId id="2147483705" r:id="rId45"/>
    <p:sldLayoutId id="2147483706" r:id="rId46"/>
    <p:sldLayoutId id="2147483707" r:id="rId47"/>
    <p:sldLayoutId id="2147483708" r:id="rId48"/>
    <p:sldLayoutId id="2147483709" r:id="rId49"/>
    <p:sldLayoutId id="2147483710" r:id="rId50"/>
    <p:sldLayoutId id="2147483711" r:id="rId51"/>
    <p:sldLayoutId id="2147483763" r:id="rId52"/>
    <p:sldLayoutId id="2147483715" r:id="rId53"/>
    <p:sldLayoutId id="2147483736" r:id="rId54"/>
    <p:sldLayoutId id="2147483769" r:id="rId55"/>
  </p:sldLayoutIdLst>
  <p:txStyles>
    <p:titleStyle>
      <a:lvl1pPr marL="0" marR="0" lvl="0" indent="0" algn="l" defTabSz="913942" rtl="0" fontAlgn="auto" hangingPunct="1">
        <a:lnSpc>
          <a:spcPct val="85000"/>
        </a:lnSpc>
        <a:spcBef>
          <a:spcPts val="0"/>
        </a:spcBef>
        <a:spcAft>
          <a:spcPts val="0"/>
        </a:spcAft>
        <a:buNone/>
        <a:tabLst/>
        <a:defRPr lang="en-US" sz="2399" b="0" i="0" u="none" strike="noStrike" kern="1200" cap="none" spc="0" baseline="0">
          <a:solidFill>
            <a:srgbClr val="FFFFFF"/>
          </a:solidFill>
          <a:uFillTx/>
          <a:latin typeface="EYInterstate Light" pitchFamily="2"/>
          <a:cs typeface="Arial" pitchFamily="34"/>
        </a:defRPr>
      </a:lvl1pPr>
    </p:titleStyle>
    <p:bodyStyle>
      <a:lvl1pPr marL="356442" marR="0" lvl="0" indent="-356442" algn="l" defTabSz="913942" rtl="0" fontAlgn="auto" hangingPunct="1">
        <a:lnSpc>
          <a:spcPct val="100000"/>
        </a:lnSpc>
        <a:spcBef>
          <a:spcPts val="500"/>
        </a:spcBef>
        <a:spcAft>
          <a:spcPts val="0"/>
        </a:spcAft>
        <a:buClr>
          <a:srgbClr val="FFE600"/>
        </a:buClr>
        <a:buSzPct val="110000"/>
        <a:buFont typeface="EYInterstate Light" pitchFamily="2"/>
        <a:buChar char="•"/>
        <a:tabLst/>
        <a:defRPr lang="en-US" sz="1999" b="0" i="0" u="none" strike="noStrike" kern="1200" cap="none" spc="0" baseline="0">
          <a:solidFill>
            <a:srgbClr val="FFFFFF"/>
          </a:solidFill>
          <a:uFillTx/>
          <a:latin typeface="EYInterstate Light" pitchFamily="2"/>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A578C567-83BE-451B-9E2F-FDF994F176D5}"/>
              </a:ext>
            </a:extLst>
          </p:cNvPr>
          <p:cNvGraphicFramePr>
            <a:graphicFrameLocks noChangeAspect="1"/>
          </p:cNvGraphicFramePr>
          <p:nvPr userDrawn="1">
            <p:custDataLst>
              <p:tags r:id="rId20"/>
            </p:custDataLst>
            <p:extLst>
              <p:ext uri="{D42A27DB-BD31-4B8C-83A1-F6EECF244321}">
                <p14:modId xmlns:p14="http://schemas.microsoft.com/office/powerpoint/2010/main" val="1277215045"/>
              </p:ext>
            </p:extLst>
          </p:nvPr>
        </p:nvGraphicFramePr>
        <p:xfrm>
          <a:off x="1587" y="1588"/>
          <a:ext cx="1587" cy="1588"/>
        </p:xfrm>
        <a:graphic>
          <a:graphicData uri="http://schemas.openxmlformats.org/presentationml/2006/ole">
            <mc:AlternateContent xmlns:mc="http://schemas.openxmlformats.org/markup-compatibility/2006">
              <mc:Choice xmlns:v="urn:schemas-microsoft-com:vml" Requires="v">
                <p:oleObj name="think-cell Slide" r:id="rId21" imgW="395" imgH="396" progId="TCLayout.ActiveDocument.1">
                  <p:embed/>
                </p:oleObj>
              </mc:Choice>
              <mc:Fallback>
                <p:oleObj name="think-cell Slide" r:id="rId21" imgW="395" imgH="396" progId="TCLayout.ActiveDocument.1">
                  <p:embed/>
                  <p:pic>
                    <p:nvPicPr>
                      <p:cNvPr id="5" name="Object 4" hidden="1">
                        <a:extLst>
                          <a:ext uri="{FF2B5EF4-FFF2-40B4-BE49-F238E27FC236}">
                            <a16:creationId xmlns:a16="http://schemas.microsoft.com/office/drawing/2014/main" id="{A578C567-83BE-451B-9E2F-FDF994F176D5}"/>
                          </a:ext>
                        </a:extLst>
                      </p:cNvPr>
                      <p:cNvPicPr/>
                      <p:nvPr/>
                    </p:nvPicPr>
                    <p:blipFill>
                      <a:blip r:embed="rId22"/>
                      <a:stretch>
                        <a:fillRect/>
                      </a:stretch>
                    </p:blipFill>
                    <p:spPr>
                      <a:xfrm>
                        <a:off x="1587" y="1588"/>
                        <a:ext cx="1587" cy="1588"/>
                      </a:xfrm>
                      <a:prstGeom prst="rect">
                        <a:avLst/>
                      </a:prstGeom>
                    </p:spPr>
                  </p:pic>
                </p:oleObj>
              </mc:Fallback>
            </mc:AlternateContent>
          </a:graphicData>
        </a:graphic>
      </p:graphicFrame>
      <p:sp>
        <p:nvSpPr>
          <p:cNvPr id="2" name="Title Placeholder 1"/>
          <p:cNvSpPr>
            <a:spLocks noGrp="1"/>
          </p:cNvSpPr>
          <p:nvPr>
            <p:ph type="title"/>
          </p:nvPr>
        </p:nvSpPr>
        <p:spPr>
          <a:xfrm>
            <a:off x="609601" y="294200"/>
            <a:ext cx="10972800"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11281250" y="6356350"/>
            <a:ext cx="303055"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
        <p:nvSpPr>
          <p:cNvPr id="21" name="Slide Number Placeholder 5">
            <a:extLst>
              <a:ext uri="{FF2B5EF4-FFF2-40B4-BE49-F238E27FC236}">
                <a16:creationId xmlns:a16="http://schemas.microsoft.com/office/drawing/2014/main" id="{3B540F9A-D485-4BD0-B905-41F8A52593F8}"/>
              </a:ext>
            </a:extLst>
          </p:cNvPr>
          <p:cNvSpPr>
            <a:spLocks noGrp="1"/>
          </p:cNvSpPr>
          <p:nvPr>
            <p:ph type="sldNum" sz="quarter" idx="4"/>
          </p:nvPr>
        </p:nvSpPr>
        <p:spPr>
          <a:xfrm>
            <a:off x="616900" y="6471244"/>
            <a:ext cx="662721" cy="180000"/>
          </a:xfrm>
          <a:prstGeom prst="rect">
            <a:avLst/>
          </a:prstGeom>
        </p:spPr>
        <p:txBody>
          <a:bodyPr vert="horz" lIns="0" tIns="0" rIns="0" bIns="0" rtlCol="0" anchor="ctr"/>
          <a:lstStyle>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764143699"/>
      </p:ext>
    </p:extLst>
  </p:cSld>
  <p:clrMap bg1="lt1" tx1="dk1" bg2="lt2" tx2="dk2" accent1="accent1" accent2="accent2" accent3="accent3" accent4="accent4" accent5="accent5" accent6="accent6" hlink="hlink" folHlink="folHlink"/>
  <p:sldLayoutIdLst>
    <p:sldLayoutId id="2147483717" r:id="rId1"/>
    <p:sldLayoutId id="2147483718" r:id="rId2"/>
    <p:sldLayoutId id="2147483719" r:id="rId3"/>
    <p:sldLayoutId id="2147483720" r:id="rId4"/>
    <p:sldLayoutId id="2147483721" r:id="rId5"/>
    <p:sldLayoutId id="2147483722" r:id="rId6"/>
    <p:sldLayoutId id="2147483723" r:id="rId7"/>
    <p:sldLayoutId id="2147483724" r:id="rId8"/>
    <p:sldLayoutId id="2147483725" r:id="rId9"/>
    <p:sldLayoutId id="2147483726" r:id="rId10"/>
    <p:sldLayoutId id="2147483727" r:id="rId11"/>
    <p:sldLayoutId id="2147483728" r:id="rId12"/>
    <p:sldLayoutId id="2147483729" r:id="rId13"/>
    <p:sldLayoutId id="2147483730" r:id="rId14"/>
    <p:sldLayoutId id="2147483731" r:id="rId15"/>
    <p:sldLayoutId id="2147483732" r:id="rId16"/>
    <p:sldLayoutId id="2147483733" r:id="rId17"/>
    <p:sldLayoutId id="2147483734" r:id="rId18"/>
  </p:sldLayoutIdLst>
  <p:hf hdr="0"/>
  <p:txStyles>
    <p:titleStyle>
      <a:lvl1pPr algn="l" defTabSz="913943" rtl="0" eaLnBrk="1" latinLnBrk="0" hangingPunct="1">
        <a:lnSpc>
          <a:spcPct val="85000"/>
        </a:lnSpc>
        <a:spcBef>
          <a:spcPct val="0"/>
        </a:spcBef>
        <a:buNone/>
        <a:defRPr sz="2399" b="0" kern="1200">
          <a:solidFill>
            <a:schemeClr val="bg1"/>
          </a:solidFill>
          <a:latin typeface="EYInterstate Light" panose="02000506000000020004" pitchFamily="2" charset="0"/>
          <a:ea typeface="+mj-ea"/>
          <a:cs typeface="Arial" pitchFamily="34" charset="0"/>
        </a:defRPr>
      </a:lvl1pPr>
    </p:titleStyle>
    <p:bodyStyle>
      <a:lvl1pPr marL="356438" indent="-356438" algn="l" defTabSz="913943" rtl="0" eaLnBrk="1" latinLnBrk="0" hangingPunct="1">
        <a:spcBef>
          <a:spcPct val="20000"/>
        </a:spcBef>
        <a:buClr>
          <a:schemeClr val="tx2"/>
        </a:buClr>
        <a:buSzPct val="110000"/>
        <a:buFont typeface="EYInterstate Light" panose="02000506000000020004" pitchFamily="2" charset="0"/>
        <a:buChar char="•"/>
        <a:defRPr sz="1999" kern="1200">
          <a:solidFill>
            <a:schemeClr val="bg1"/>
          </a:solidFill>
          <a:latin typeface="EYInterstate Light" panose="02000506000000020004" pitchFamily="2" charset="0"/>
          <a:ea typeface="+mn-ea"/>
          <a:cs typeface="+mn-cs"/>
        </a:defRPr>
      </a:lvl1pPr>
      <a:lvl2pPr marL="712875" indent="-356438" algn="l" defTabSz="913943" rtl="0" eaLnBrk="1" latinLnBrk="0" hangingPunct="1">
        <a:spcBef>
          <a:spcPct val="20000"/>
        </a:spcBef>
        <a:buClr>
          <a:schemeClr val="tx2"/>
        </a:buClr>
        <a:buSzPct val="110000"/>
        <a:buFont typeface="EYInterstate Light" panose="02000506000000020004" pitchFamily="2" charset="0"/>
        <a:buChar char="•"/>
        <a:defRPr sz="1799" kern="1200">
          <a:solidFill>
            <a:schemeClr val="bg1"/>
          </a:solidFill>
          <a:latin typeface="EYInterstate Light" panose="02000506000000020004" pitchFamily="2" charset="0"/>
          <a:ea typeface="+mn-ea"/>
          <a:cs typeface="+mn-cs"/>
        </a:defRPr>
      </a:lvl2pPr>
      <a:lvl3pPr marL="1069313" indent="-356438" algn="l" defTabSz="913943" rtl="0" eaLnBrk="1" latinLnBrk="0" hangingPunct="1">
        <a:spcBef>
          <a:spcPct val="20000"/>
        </a:spcBef>
        <a:buClr>
          <a:schemeClr val="tx2"/>
        </a:buClr>
        <a:buSzPct val="110000"/>
        <a:buFont typeface="EYInterstate Light" panose="02000506000000020004" pitchFamily="2" charset="0"/>
        <a:buChar char="•"/>
        <a:defRPr sz="1599" kern="1200">
          <a:solidFill>
            <a:schemeClr val="bg1"/>
          </a:solidFill>
          <a:latin typeface="EYInterstate Light" panose="02000506000000020004" pitchFamily="2" charset="0"/>
          <a:ea typeface="+mn-ea"/>
          <a:cs typeface="+mn-cs"/>
        </a:defRPr>
      </a:lvl3pPr>
      <a:lvl4pPr marL="1425751" indent="-356438" algn="l" defTabSz="913943" rtl="0" eaLnBrk="1" latinLnBrk="0" hangingPunct="1">
        <a:spcBef>
          <a:spcPct val="20000"/>
        </a:spcBef>
        <a:buClr>
          <a:schemeClr val="tx2"/>
        </a:buClr>
        <a:buSzPct val="110000"/>
        <a:buFont typeface="EYInterstate Light" panose="02000506000000020004" pitchFamily="2" charset="0"/>
        <a:buChar char="•"/>
        <a:defRPr sz="1399" kern="1200">
          <a:solidFill>
            <a:schemeClr val="bg1"/>
          </a:solidFill>
          <a:latin typeface="EYInterstate Light" panose="02000506000000020004" pitchFamily="2" charset="0"/>
          <a:ea typeface="+mn-ea"/>
          <a:cs typeface="+mn-cs"/>
        </a:defRPr>
      </a:lvl4pPr>
      <a:lvl5pPr marL="1782188" indent="-356438" algn="l" defTabSz="913943" rtl="0" eaLnBrk="1" latinLnBrk="0" hangingPunct="1">
        <a:spcBef>
          <a:spcPct val="20000"/>
        </a:spcBef>
        <a:buClr>
          <a:schemeClr val="tx2"/>
        </a:buClr>
        <a:buSzPct val="110000"/>
        <a:buFont typeface="EYInterstate Light" panose="02000506000000020004" pitchFamily="2" charset="0"/>
        <a:buChar char="•"/>
        <a:defRPr sz="1199" kern="1200">
          <a:solidFill>
            <a:schemeClr val="bg1"/>
          </a:solidFill>
          <a:latin typeface="EYInterstate Light" panose="02000506000000020004" pitchFamily="2" charset="0"/>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A578C567-83BE-451B-9E2F-FDF994F176D5}"/>
              </a:ext>
            </a:extLst>
          </p:cNvPr>
          <p:cNvGraphicFramePr>
            <a:graphicFrameLocks noChangeAspect="1"/>
          </p:cNvGraphicFramePr>
          <p:nvPr userDrawn="1">
            <p:custDataLst>
              <p:tags r:id="rId19"/>
            </p:custDataLst>
          </p:nvPr>
        </p:nvGraphicFramePr>
        <p:xfrm>
          <a:off x="1587" y="1588"/>
          <a:ext cx="1587" cy="1588"/>
        </p:xfrm>
        <a:graphic>
          <a:graphicData uri="http://schemas.openxmlformats.org/presentationml/2006/ole">
            <mc:AlternateContent xmlns:mc="http://schemas.openxmlformats.org/markup-compatibility/2006">
              <mc:Choice xmlns:v="urn:schemas-microsoft-com:vml" Requires="v">
                <p:oleObj name="think-cell Slide" r:id="rId20" imgW="395" imgH="396" progId="TCLayout.ActiveDocument.1">
                  <p:embed/>
                </p:oleObj>
              </mc:Choice>
              <mc:Fallback>
                <p:oleObj name="think-cell Slide" r:id="rId20" imgW="395" imgH="396" progId="TCLayout.ActiveDocument.1">
                  <p:embed/>
                  <p:pic>
                    <p:nvPicPr>
                      <p:cNvPr id="5" name="Object 4" hidden="1">
                        <a:extLst>
                          <a:ext uri="{FF2B5EF4-FFF2-40B4-BE49-F238E27FC236}">
                            <a16:creationId xmlns:a16="http://schemas.microsoft.com/office/drawing/2014/main" id="{A578C567-83BE-451B-9E2F-FDF994F176D5}"/>
                          </a:ext>
                        </a:extLst>
                      </p:cNvPr>
                      <p:cNvPicPr/>
                      <p:nvPr/>
                    </p:nvPicPr>
                    <p:blipFill>
                      <a:blip r:embed="rId21"/>
                      <a:stretch>
                        <a:fillRect/>
                      </a:stretch>
                    </p:blipFill>
                    <p:spPr>
                      <a:xfrm>
                        <a:off x="1587" y="1588"/>
                        <a:ext cx="1587" cy="1588"/>
                      </a:xfrm>
                      <a:prstGeom prst="rect">
                        <a:avLst/>
                      </a:prstGeom>
                    </p:spPr>
                  </p:pic>
                </p:oleObj>
              </mc:Fallback>
            </mc:AlternateContent>
          </a:graphicData>
        </a:graphic>
      </p:graphicFrame>
      <p:sp>
        <p:nvSpPr>
          <p:cNvPr id="2" name="Title Placeholder 1"/>
          <p:cNvSpPr>
            <a:spLocks noGrp="1"/>
          </p:cNvSpPr>
          <p:nvPr>
            <p:ph type="title"/>
          </p:nvPr>
        </p:nvSpPr>
        <p:spPr>
          <a:xfrm>
            <a:off x="609601" y="294200"/>
            <a:ext cx="10972800"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11281250" y="6356350"/>
            <a:ext cx="303055"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
        <p:nvSpPr>
          <p:cNvPr id="21" name="Slide Number Placeholder 5">
            <a:extLst>
              <a:ext uri="{FF2B5EF4-FFF2-40B4-BE49-F238E27FC236}">
                <a16:creationId xmlns:a16="http://schemas.microsoft.com/office/drawing/2014/main" id="{3B540F9A-D485-4BD0-B905-41F8A52593F8}"/>
              </a:ext>
            </a:extLst>
          </p:cNvPr>
          <p:cNvSpPr>
            <a:spLocks noGrp="1"/>
          </p:cNvSpPr>
          <p:nvPr>
            <p:ph type="sldNum" sz="quarter" idx="4"/>
          </p:nvPr>
        </p:nvSpPr>
        <p:spPr>
          <a:xfrm>
            <a:off x="616900" y="6471244"/>
            <a:ext cx="662721" cy="180000"/>
          </a:xfrm>
          <a:prstGeom prst="rect">
            <a:avLst/>
          </a:prstGeom>
        </p:spPr>
        <p:txBody>
          <a:bodyPr vert="horz" lIns="0" tIns="0" rIns="0" bIns="0" rtlCol="0" anchor="ctr"/>
          <a:lstStyle>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764143699"/>
      </p:ext>
    </p:extLst>
  </p:cSld>
  <p:clrMap bg1="lt1" tx1="dk1" bg2="lt2" tx2="dk2" accent1="accent1" accent2="accent2" accent3="accent3" accent4="accent4" accent5="accent5" accent6="accent6" hlink="hlink" folHlink="folHlink"/>
  <p:sldLayoutIdLst>
    <p:sldLayoutId id="2147483738" r:id="rId1"/>
    <p:sldLayoutId id="2147483739" r:id="rId2"/>
    <p:sldLayoutId id="2147483768" r:id="rId3"/>
    <p:sldLayoutId id="2147483741" r:id="rId4"/>
    <p:sldLayoutId id="2147483742" r:id="rId5"/>
    <p:sldLayoutId id="2147483743" r:id="rId6"/>
    <p:sldLayoutId id="2147483744" r:id="rId7"/>
    <p:sldLayoutId id="2147483745" r:id="rId8"/>
    <p:sldLayoutId id="2147483746" r:id="rId9"/>
    <p:sldLayoutId id="2147483747" r:id="rId10"/>
    <p:sldLayoutId id="2147483748" r:id="rId11"/>
    <p:sldLayoutId id="2147483749" r:id="rId12"/>
    <p:sldLayoutId id="2147483750" r:id="rId13"/>
    <p:sldLayoutId id="2147483751" r:id="rId14"/>
    <p:sldLayoutId id="2147483753" r:id="rId15"/>
    <p:sldLayoutId id="2147483754" r:id="rId16"/>
    <p:sldLayoutId id="2147483755" r:id="rId17"/>
  </p:sldLayoutIdLst>
  <p:hf hdr="0"/>
  <p:txStyles>
    <p:titleStyle>
      <a:lvl1pPr algn="l" defTabSz="913943" rtl="0" eaLnBrk="1" latinLnBrk="0" hangingPunct="1">
        <a:lnSpc>
          <a:spcPct val="85000"/>
        </a:lnSpc>
        <a:spcBef>
          <a:spcPct val="0"/>
        </a:spcBef>
        <a:buNone/>
        <a:defRPr sz="2399" b="0" kern="1200">
          <a:solidFill>
            <a:schemeClr val="bg1"/>
          </a:solidFill>
          <a:latin typeface="EYInterstate Light" panose="02000506000000020004" pitchFamily="2" charset="0"/>
          <a:ea typeface="+mj-ea"/>
          <a:cs typeface="Arial" pitchFamily="34" charset="0"/>
        </a:defRPr>
      </a:lvl1pPr>
    </p:titleStyle>
    <p:bodyStyle>
      <a:lvl1pPr marL="356438" indent="-356438" algn="l" defTabSz="913943" rtl="0" eaLnBrk="1" latinLnBrk="0" hangingPunct="1">
        <a:spcBef>
          <a:spcPct val="20000"/>
        </a:spcBef>
        <a:buClr>
          <a:schemeClr val="tx2"/>
        </a:buClr>
        <a:buSzPct val="110000"/>
        <a:buFont typeface="EYInterstate Light" panose="02000506000000020004" pitchFamily="2" charset="0"/>
        <a:buChar char="•"/>
        <a:defRPr sz="1999" kern="1200">
          <a:solidFill>
            <a:schemeClr val="bg1"/>
          </a:solidFill>
          <a:latin typeface="EYInterstate Light" panose="02000506000000020004" pitchFamily="2" charset="0"/>
          <a:ea typeface="+mn-ea"/>
          <a:cs typeface="+mn-cs"/>
        </a:defRPr>
      </a:lvl1pPr>
      <a:lvl2pPr marL="712875" indent="-356438" algn="l" defTabSz="913943" rtl="0" eaLnBrk="1" latinLnBrk="0" hangingPunct="1">
        <a:spcBef>
          <a:spcPct val="20000"/>
        </a:spcBef>
        <a:buClr>
          <a:schemeClr val="tx2"/>
        </a:buClr>
        <a:buSzPct val="110000"/>
        <a:buFont typeface="EYInterstate Light" panose="02000506000000020004" pitchFamily="2" charset="0"/>
        <a:buChar char="•"/>
        <a:defRPr sz="1799" kern="1200">
          <a:solidFill>
            <a:schemeClr val="bg1"/>
          </a:solidFill>
          <a:latin typeface="EYInterstate Light" panose="02000506000000020004" pitchFamily="2" charset="0"/>
          <a:ea typeface="+mn-ea"/>
          <a:cs typeface="+mn-cs"/>
        </a:defRPr>
      </a:lvl2pPr>
      <a:lvl3pPr marL="1069313" indent="-356438" algn="l" defTabSz="913943" rtl="0" eaLnBrk="1" latinLnBrk="0" hangingPunct="1">
        <a:spcBef>
          <a:spcPct val="20000"/>
        </a:spcBef>
        <a:buClr>
          <a:schemeClr val="tx2"/>
        </a:buClr>
        <a:buSzPct val="110000"/>
        <a:buFont typeface="EYInterstate Light" panose="02000506000000020004" pitchFamily="2" charset="0"/>
        <a:buChar char="•"/>
        <a:defRPr sz="1599" kern="1200">
          <a:solidFill>
            <a:schemeClr val="bg1"/>
          </a:solidFill>
          <a:latin typeface="EYInterstate Light" panose="02000506000000020004" pitchFamily="2" charset="0"/>
          <a:ea typeface="+mn-ea"/>
          <a:cs typeface="+mn-cs"/>
        </a:defRPr>
      </a:lvl3pPr>
      <a:lvl4pPr marL="1425751" indent="-356438" algn="l" defTabSz="913943" rtl="0" eaLnBrk="1" latinLnBrk="0" hangingPunct="1">
        <a:spcBef>
          <a:spcPct val="20000"/>
        </a:spcBef>
        <a:buClr>
          <a:schemeClr val="tx2"/>
        </a:buClr>
        <a:buSzPct val="110000"/>
        <a:buFont typeface="EYInterstate Light" panose="02000506000000020004" pitchFamily="2" charset="0"/>
        <a:buChar char="•"/>
        <a:defRPr sz="1399" kern="1200">
          <a:solidFill>
            <a:schemeClr val="bg1"/>
          </a:solidFill>
          <a:latin typeface="EYInterstate Light" panose="02000506000000020004" pitchFamily="2" charset="0"/>
          <a:ea typeface="+mn-ea"/>
          <a:cs typeface="+mn-cs"/>
        </a:defRPr>
      </a:lvl4pPr>
      <a:lvl5pPr marL="1782188" indent="-356438" algn="l" defTabSz="913943" rtl="0" eaLnBrk="1" latinLnBrk="0" hangingPunct="1">
        <a:spcBef>
          <a:spcPct val="20000"/>
        </a:spcBef>
        <a:buClr>
          <a:schemeClr val="tx2"/>
        </a:buClr>
        <a:buSzPct val="110000"/>
        <a:buFont typeface="EYInterstate Light" panose="02000506000000020004" pitchFamily="2" charset="0"/>
        <a:buChar char="•"/>
        <a:defRPr sz="1199" kern="1200">
          <a:solidFill>
            <a:schemeClr val="bg1"/>
          </a:solidFill>
          <a:latin typeface="EYInterstate Light" panose="02000506000000020004" pitchFamily="2" charset="0"/>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6"/>
            </p:custDataLst>
            <p:extLst>
              <p:ext uri="{D42A27DB-BD31-4B8C-83A1-F6EECF244321}">
                <p14:modId xmlns:p14="http://schemas.microsoft.com/office/powerpoint/2010/main" val="2761970289"/>
              </p:ext>
            </p:extLst>
          </p:nvPr>
        </p:nvGraphicFramePr>
        <p:xfrm>
          <a:off x="1588" y="1589"/>
          <a:ext cx="1586" cy="1587"/>
        </p:xfrm>
        <a:graphic>
          <a:graphicData uri="http://schemas.openxmlformats.org/presentationml/2006/ole">
            <mc:AlternateContent xmlns:mc="http://schemas.openxmlformats.org/markup-compatibility/2006">
              <mc:Choice xmlns:v="urn:schemas-microsoft-com:vml" Requires="v">
                <p:oleObj name="think-cell Slide" r:id="rId8" imgW="270" imgH="270" progId="TCLayout.ActiveDocument.1">
                  <p:embed/>
                </p:oleObj>
              </mc:Choice>
              <mc:Fallback>
                <p:oleObj name="think-cell Slide" r:id="rId8" imgW="270" imgH="270" progId="TCLayout.ActiveDocument.1">
                  <p:embed/>
                  <p:pic>
                    <p:nvPicPr>
                      <p:cNvPr id="4" name="Object 3" hidden="1"/>
                      <p:cNvPicPr/>
                      <p:nvPr/>
                    </p:nvPicPr>
                    <p:blipFill>
                      <a:blip r:embed="rId9"/>
                      <a:stretch>
                        <a:fillRect/>
                      </a:stretch>
                    </p:blipFill>
                    <p:spPr>
                      <a:xfrm>
                        <a:off x="1588" y="1589"/>
                        <a:ext cx="1586"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59B8D8B0-2A73-4517-96B4-FDE7C3271D40}"/>
              </a:ext>
            </a:extLst>
          </p:cNvPr>
          <p:cNvSpPr/>
          <p:nvPr userDrawn="1">
            <p:custDataLst>
              <p:tags r:id="rId7"/>
            </p:custDataLst>
          </p:nvPr>
        </p:nvSpPr>
        <p:spPr>
          <a:xfrm>
            <a:off x="0" y="0"/>
            <a:ext cx="158667" cy="158750"/>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t" anchorCtr="0">
            <a:noAutofit/>
          </a:bodyPr>
          <a:lstStyle/>
          <a:p>
            <a:pPr marL="0" lvl="0" indent="0" algn="ctr" eaLnBrk="1">
              <a:lnSpc>
                <a:spcPct val="85000"/>
              </a:lnSpc>
              <a:spcBef>
                <a:spcPct val="0"/>
              </a:spcBef>
              <a:spcAft>
                <a:spcPct val="0"/>
              </a:spcAft>
            </a:pPr>
            <a:endParaRPr lang="en-US" sz="2799" b="1" i="0" baseline="0">
              <a:solidFill>
                <a:schemeClr val="tx1"/>
              </a:solidFill>
              <a:latin typeface="EYInterstate Light" panose="02000506000000020004" pitchFamily="2" charset="0"/>
              <a:ea typeface="+mj-ea"/>
              <a:cs typeface="Arial" panose="020B0604020202020204" pitchFamily="34" charset="0"/>
              <a:sym typeface="EYInterstate Light" panose="02000506000000020004" pitchFamily="2" charset="0"/>
            </a:endParaRPr>
          </a:p>
        </p:txBody>
      </p:sp>
      <p:sp>
        <p:nvSpPr>
          <p:cNvPr id="2" name="Title Placeholder 1"/>
          <p:cNvSpPr>
            <a:spLocks noGrp="1"/>
          </p:cNvSpPr>
          <p:nvPr>
            <p:ph type="title"/>
          </p:nvPr>
        </p:nvSpPr>
        <p:spPr>
          <a:xfrm>
            <a:off x="609601" y="201600"/>
            <a:ext cx="10972800" cy="860400"/>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609601" y="1425599"/>
            <a:ext cx="10972800" cy="4700016"/>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3" name="Picture 12">
            <a:extLst>
              <a:ext uri="{FF2B5EF4-FFF2-40B4-BE49-F238E27FC236}">
                <a16:creationId xmlns:a16="http://schemas.microsoft.com/office/drawing/2014/main" id="{201281BD-8AC4-4459-9BAA-58F9ABFB76E9}"/>
              </a:ext>
            </a:extLst>
          </p:cNvPr>
          <p:cNvPicPr>
            <a:picLocks noChangeAspect="1"/>
          </p:cNvPicPr>
          <p:nvPr userDrawn="1"/>
        </p:nvPicPr>
        <p:blipFill>
          <a:blip r:embed="rId10" cstate="print">
            <a:extLst>
              <a:ext uri="{28A0092B-C50C-407E-A947-70E740481C1C}">
                <a14:useLocalDpi xmlns:a14="http://schemas.microsoft.com/office/drawing/2010/main"/>
              </a:ext>
            </a:extLst>
          </a:blip>
          <a:stretch>
            <a:fillRect/>
          </a:stretch>
        </p:blipFill>
        <p:spPr>
          <a:xfrm>
            <a:off x="11186430" y="6316644"/>
            <a:ext cx="402294" cy="411480"/>
          </a:xfrm>
          <a:prstGeom prst="rect">
            <a:avLst/>
          </a:prstGeom>
        </p:spPr>
      </p:pic>
      <p:sp>
        <p:nvSpPr>
          <p:cNvPr id="9" name="Slide Number Placeholder 8">
            <a:extLst>
              <a:ext uri="{FF2B5EF4-FFF2-40B4-BE49-F238E27FC236}">
                <a16:creationId xmlns:a16="http://schemas.microsoft.com/office/drawing/2014/main" id="{298FECEF-5333-4573-A612-3EAABD20F5F0}"/>
              </a:ext>
            </a:extLst>
          </p:cNvPr>
          <p:cNvSpPr>
            <a:spLocks noGrp="1"/>
          </p:cNvSpPr>
          <p:nvPr>
            <p:ph type="sldNum" sz="quarter" idx="4"/>
          </p:nvPr>
        </p:nvSpPr>
        <p:spPr>
          <a:xfrm>
            <a:off x="124766" y="6363000"/>
            <a:ext cx="402294" cy="365125"/>
          </a:xfrm>
          <a:prstGeom prst="rect">
            <a:avLst/>
          </a:prstGeom>
        </p:spPr>
        <p:txBody>
          <a:bodyPr vert="horz" lIns="91440" tIns="45720" rIns="91440" bIns="45720" rtlCol="0" anchor="ctr"/>
          <a:lstStyle>
            <a:lvl1pPr algn="l">
              <a:defRPr sz="1099">
                <a:solidFill>
                  <a:schemeClr val="tx1">
                    <a:tint val="75000"/>
                  </a:schemeClr>
                </a:solidFill>
              </a:defRPr>
            </a:lvl1pPr>
          </a:lstStyle>
          <a:p>
            <a:fld id="{54B9D3C5-5387-4512-99A7-F5295D2C2F6B}" type="slidenum">
              <a:rPr lang="en-US" smtClean="0"/>
              <a:pPr/>
              <a:t>‹#›</a:t>
            </a:fld>
            <a:endParaRPr lang="en-US"/>
          </a:p>
        </p:txBody>
      </p:sp>
    </p:spTree>
    <p:extLst>
      <p:ext uri="{BB962C8B-B14F-4D97-AF65-F5344CB8AC3E}">
        <p14:creationId xmlns:p14="http://schemas.microsoft.com/office/powerpoint/2010/main" val="3294500655"/>
      </p:ext>
    </p:extLst>
  </p:cSld>
  <p:clrMap bg1="lt1" tx1="dk1" bg2="lt2" tx2="dk2" accent1="accent1" accent2="accent2" accent3="accent3" accent4="accent4" accent5="accent5" accent6="accent6" hlink="hlink" folHlink="folHlink"/>
  <p:sldLayoutIdLst>
    <p:sldLayoutId id="2147483771" r:id="rId1"/>
    <p:sldLayoutId id="2147483772" r:id="rId2"/>
    <p:sldLayoutId id="2147483773" r:id="rId3"/>
    <p:sldLayoutId id="2147483777" r:id="rId4"/>
  </p:sldLayoutIdLst>
  <p:hf hdr="0" dt="0"/>
  <p:txStyles>
    <p:titleStyle>
      <a:lvl1pPr algn="l" defTabSz="913943" rtl="0" eaLnBrk="1" latinLnBrk="0" hangingPunct="1">
        <a:lnSpc>
          <a:spcPct val="85000"/>
        </a:lnSpc>
        <a:spcBef>
          <a:spcPct val="0"/>
        </a:spcBef>
        <a:buNone/>
        <a:defRPr sz="2799" b="1" kern="1200">
          <a:solidFill>
            <a:schemeClr val="bg1"/>
          </a:solidFill>
          <a:latin typeface="+mn-lt"/>
          <a:ea typeface="+mj-ea"/>
          <a:cs typeface="Arial" pitchFamily="34" charset="0"/>
        </a:defRPr>
      </a:lvl1pPr>
    </p:titleStyle>
    <p:bodyStyle>
      <a:lvl1pPr marL="356438" indent="-356438" algn="l" defTabSz="913943" rtl="0" eaLnBrk="1" latinLnBrk="0" hangingPunct="1">
        <a:spcBef>
          <a:spcPct val="20000"/>
        </a:spcBef>
        <a:buClr>
          <a:schemeClr val="accent2"/>
        </a:buClr>
        <a:buSzPct val="70000"/>
        <a:buFont typeface="Arial" pitchFamily="34" charset="0"/>
        <a:buChar char="►"/>
        <a:defRPr sz="2399" kern="1200">
          <a:ln>
            <a:solidFill>
              <a:schemeClr val="bg1"/>
            </a:solidFill>
          </a:ln>
          <a:solidFill>
            <a:schemeClr val="bg1"/>
          </a:solidFill>
          <a:latin typeface="+mn-lt"/>
          <a:ea typeface="+mn-ea"/>
          <a:cs typeface="+mn-cs"/>
        </a:defRPr>
      </a:lvl1pPr>
      <a:lvl2pPr marL="712875" indent="-356438" algn="l" defTabSz="913943" rtl="0" eaLnBrk="1" latinLnBrk="0" hangingPunct="1">
        <a:spcBef>
          <a:spcPct val="20000"/>
        </a:spcBef>
        <a:buClr>
          <a:schemeClr val="accent2"/>
        </a:buClr>
        <a:buSzPct val="70000"/>
        <a:buFont typeface="Arial" pitchFamily="34" charset="0"/>
        <a:buChar char="►"/>
        <a:defRPr sz="1999" kern="1200">
          <a:ln>
            <a:solidFill>
              <a:schemeClr val="bg1"/>
            </a:solidFill>
          </a:ln>
          <a:solidFill>
            <a:schemeClr val="bg1"/>
          </a:solidFill>
          <a:latin typeface="+mn-lt"/>
          <a:ea typeface="+mn-ea"/>
          <a:cs typeface="+mn-cs"/>
        </a:defRPr>
      </a:lvl2pPr>
      <a:lvl3pPr marL="1069313" indent="-356438" algn="l" defTabSz="913943" rtl="0" eaLnBrk="1" latinLnBrk="0" hangingPunct="1">
        <a:spcBef>
          <a:spcPct val="20000"/>
        </a:spcBef>
        <a:buClr>
          <a:schemeClr val="accent2"/>
        </a:buClr>
        <a:buSzPct val="70000"/>
        <a:buFont typeface="Arial" pitchFamily="34" charset="0"/>
        <a:buChar char="►"/>
        <a:defRPr sz="1799" kern="1200">
          <a:ln>
            <a:solidFill>
              <a:schemeClr val="bg1"/>
            </a:solidFill>
          </a:ln>
          <a:solidFill>
            <a:schemeClr val="bg1"/>
          </a:solidFill>
          <a:latin typeface="+mn-lt"/>
          <a:ea typeface="+mn-ea"/>
          <a:cs typeface="+mn-cs"/>
        </a:defRPr>
      </a:lvl3pPr>
      <a:lvl4pPr marL="1425751" indent="-356438" algn="l" defTabSz="913943" rtl="0" eaLnBrk="1" latinLnBrk="0" hangingPunct="1">
        <a:spcBef>
          <a:spcPct val="20000"/>
        </a:spcBef>
        <a:buClr>
          <a:schemeClr val="accent2"/>
        </a:buClr>
        <a:buSzPct val="70000"/>
        <a:buFont typeface="Arial" pitchFamily="34" charset="0"/>
        <a:buChar char="►"/>
        <a:defRPr sz="1599" kern="1200">
          <a:ln>
            <a:solidFill>
              <a:schemeClr val="bg1"/>
            </a:solidFill>
          </a:ln>
          <a:solidFill>
            <a:schemeClr val="bg1"/>
          </a:solidFill>
          <a:latin typeface="+mn-lt"/>
          <a:ea typeface="+mn-ea"/>
          <a:cs typeface="+mn-cs"/>
        </a:defRPr>
      </a:lvl4pPr>
      <a:lvl5pPr marL="1782188" indent="-356438" algn="l" defTabSz="913943" rtl="0" eaLnBrk="1" latinLnBrk="0" hangingPunct="1">
        <a:spcBef>
          <a:spcPct val="20000"/>
        </a:spcBef>
        <a:buClr>
          <a:schemeClr val="accent2"/>
        </a:buClr>
        <a:buSzPct val="70000"/>
        <a:buFont typeface="Arial" pitchFamily="34" charset="0"/>
        <a:buChar char="►"/>
        <a:defRPr sz="1599" kern="1200">
          <a:ln>
            <a:solidFill>
              <a:schemeClr val="bg1"/>
            </a:solidFill>
          </a:ln>
          <a:solidFill>
            <a:schemeClr val="bg1"/>
          </a:solidFill>
          <a:latin typeface="+mn-lt"/>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1" y="201600"/>
            <a:ext cx="10972800" cy="86040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601" y="1425600"/>
            <a:ext cx="10972800" cy="469800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3"/>
          </p:nvPr>
        </p:nvSpPr>
        <p:spPr>
          <a:xfrm>
            <a:off x="3451201" y="6519672"/>
            <a:ext cx="4579200" cy="201168"/>
          </a:xfrm>
          <a:prstGeom prst="rect">
            <a:avLst/>
          </a:prstGeom>
        </p:spPr>
        <p:txBody>
          <a:bodyPr vert="horz" lIns="0" tIns="0" rIns="0" bIns="0" rtlCol="0" anchor="t" anchorCtr="0">
            <a:noAutofit/>
          </a:bodyPr>
          <a:lstStyle>
            <a:lvl1pPr algn="l">
              <a:defRPr sz="1099">
                <a:solidFill>
                  <a:schemeClr val="bg1"/>
                </a:solidFill>
                <a:latin typeface="+mn-lt"/>
              </a:defRPr>
            </a:lvl1pPr>
          </a:lstStyle>
          <a:p>
            <a:r>
              <a:rPr lang="en-GB"/>
              <a:t>Presentation title</a:t>
            </a:r>
          </a:p>
        </p:txBody>
      </p:sp>
      <p:sp>
        <p:nvSpPr>
          <p:cNvPr id="7" name="TextBox 6"/>
          <p:cNvSpPr txBox="1"/>
          <p:nvPr/>
        </p:nvSpPr>
        <p:spPr>
          <a:xfrm>
            <a:off x="609601" y="6519672"/>
            <a:ext cx="886506" cy="201168"/>
          </a:xfrm>
          <a:prstGeom prst="rect">
            <a:avLst/>
          </a:prstGeom>
          <a:noFill/>
        </p:spPr>
        <p:txBody>
          <a:bodyPr wrap="square" lIns="0" tIns="0" rIns="0" bIns="0" rtlCol="0" anchor="t" anchorCtr="0">
            <a:noAutofit/>
          </a:bodyPr>
          <a:lstStyle/>
          <a:p>
            <a:r>
              <a:rPr lang="en-GB" sz="1099">
                <a:solidFill>
                  <a:schemeClr val="bg1"/>
                </a:solidFill>
                <a:latin typeface="+mn-lt"/>
              </a:rPr>
              <a:t>Page </a:t>
            </a:r>
            <a:fld id="{9AE4D82F-B047-469B-AC52-A46321747EAF}" type="slidenum">
              <a:rPr lang="en-GB" sz="1099" smtClean="0">
                <a:solidFill>
                  <a:schemeClr val="bg1"/>
                </a:solidFill>
                <a:latin typeface="+mn-lt"/>
              </a:rPr>
              <a:pPr/>
              <a:t>‹#›</a:t>
            </a:fld>
            <a:endParaRPr lang="en-GB" sz="1099">
              <a:solidFill>
                <a:schemeClr val="bg1"/>
              </a:solidFill>
              <a:latin typeface="+mn-lt"/>
            </a:endParaRPr>
          </a:p>
        </p:txBody>
      </p:sp>
      <p:sp>
        <p:nvSpPr>
          <p:cNvPr id="12" name="Date Placeholder 3"/>
          <p:cNvSpPr>
            <a:spLocks noGrp="1"/>
          </p:cNvSpPr>
          <p:nvPr>
            <p:ph type="dt" sz="half" idx="2"/>
          </p:nvPr>
        </p:nvSpPr>
        <p:spPr>
          <a:xfrm>
            <a:off x="1494739" y="6519672"/>
            <a:ext cx="1370886" cy="201168"/>
          </a:xfrm>
          <a:prstGeom prst="rect">
            <a:avLst/>
          </a:prstGeom>
        </p:spPr>
        <p:txBody>
          <a:bodyPr vert="horz" wrap="none" lIns="0" tIns="0" rIns="0" bIns="0" rtlCol="0" anchor="t" anchorCtr="0"/>
          <a:lstStyle>
            <a:lvl1pPr algn="l">
              <a:defRPr sz="1099">
                <a:solidFill>
                  <a:schemeClr val="bg1"/>
                </a:solidFill>
                <a:latin typeface="+mn-lt"/>
              </a:defRPr>
            </a:lvl1pPr>
          </a:lstStyle>
          <a:p>
            <a:r>
              <a:rPr lang="en-US"/>
              <a:t>1 January 2014</a:t>
            </a:r>
          </a:p>
        </p:txBody>
      </p:sp>
      <p:pic>
        <p:nvPicPr>
          <p:cNvPr id="13" name="Picture 12"/>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186430" y="6327648"/>
            <a:ext cx="402294" cy="411480"/>
          </a:xfrm>
          <a:prstGeom prst="rect">
            <a:avLst/>
          </a:prstGeom>
        </p:spPr>
      </p:pic>
    </p:spTree>
    <p:extLst>
      <p:ext uri="{BB962C8B-B14F-4D97-AF65-F5344CB8AC3E}">
        <p14:creationId xmlns:p14="http://schemas.microsoft.com/office/powerpoint/2010/main" val="2588531316"/>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1" r:id="rId3"/>
    <p:sldLayoutId id="2147483782" r:id="rId4"/>
    <p:sldLayoutId id="2147483783" r:id="rId5"/>
    <p:sldLayoutId id="2147483784" r:id="rId6"/>
    <p:sldLayoutId id="2147483785" r:id="rId7"/>
    <p:sldLayoutId id="2147483786" r:id="rId8"/>
    <p:sldLayoutId id="2147483787" r:id="rId9"/>
    <p:sldLayoutId id="2147483788" r:id="rId10"/>
    <p:sldLayoutId id="2147483789" r:id="rId11"/>
    <p:sldLayoutId id="2147483790" r:id="rId12"/>
    <p:sldLayoutId id="2147483791" r:id="rId13"/>
    <p:sldLayoutId id="2147483792" r:id="rId14"/>
    <p:sldLayoutId id="2147483793" r:id="rId15"/>
    <p:sldLayoutId id="2147483794" r:id="rId16"/>
    <p:sldLayoutId id="2147483795" r:id="rId17"/>
    <p:sldLayoutId id="2147483796" r:id="rId18"/>
    <p:sldLayoutId id="2147483797" r:id="rId19"/>
    <p:sldLayoutId id="2147483798" r:id="rId20"/>
  </p:sldLayoutIdLst>
  <p:hf sldNum="0" hdr="0"/>
  <p:txStyles>
    <p:titleStyle>
      <a:lvl1pPr algn="l" defTabSz="913943" rtl="0" eaLnBrk="1" latinLnBrk="0" hangingPunct="1">
        <a:lnSpc>
          <a:spcPct val="85000"/>
        </a:lnSpc>
        <a:spcBef>
          <a:spcPct val="0"/>
        </a:spcBef>
        <a:buNone/>
        <a:defRPr sz="2999" b="1" kern="1200">
          <a:solidFill>
            <a:schemeClr val="bg1"/>
          </a:solidFill>
          <a:latin typeface="+mn-lt"/>
          <a:ea typeface="+mj-ea"/>
          <a:cs typeface="Arial" pitchFamily="34" charset="0"/>
        </a:defRPr>
      </a:lvl1pPr>
    </p:titleStyle>
    <p:bodyStyle>
      <a:lvl1pPr marL="356438" indent="-356438" algn="l" defTabSz="913943" rtl="0" eaLnBrk="1" latinLnBrk="0" hangingPunct="1">
        <a:spcBef>
          <a:spcPct val="20000"/>
        </a:spcBef>
        <a:buClr>
          <a:schemeClr val="accent2"/>
        </a:buClr>
        <a:buSzPct val="70000"/>
        <a:buFont typeface="Arial" pitchFamily="34" charset="0"/>
        <a:buChar char="►"/>
        <a:defRPr sz="2399" kern="1200">
          <a:solidFill>
            <a:schemeClr val="bg1"/>
          </a:solidFill>
          <a:latin typeface="+mn-lt"/>
          <a:ea typeface="+mn-ea"/>
          <a:cs typeface="+mn-cs"/>
        </a:defRPr>
      </a:lvl1pPr>
      <a:lvl2pPr marL="712875" indent="-356438" algn="l" defTabSz="913943" rtl="0" eaLnBrk="1" latinLnBrk="0" hangingPunct="1">
        <a:spcBef>
          <a:spcPct val="20000"/>
        </a:spcBef>
        <a:buClr>
          <a:schemeClr val="accent2"/>
        </a:buClr>
        <a:buSzPct val="70000"/>
        <a:buFont typeface="Arial" pitchFamily="34" charset="0"/>
        <a:buChar char="►"/>
        <a:defRPr sz="1999" kern="1200">
          <a:solidFill>
            <a:schemeClr val="bg1"/>
          </a:solidFill>
          <a:latin typeface="+mn-lt"/>
          <a:ea typeface="+mn-ea"/>
          <a:cs typeface="+mn-cs"/>
        </a:defRPr>
      </a:lvl2pPr>
      <a:lvl3pPr marL="1069313" indent="-356438" algn="l" defTabSz="913943" rtl="0" eaLnBrk="1" latinLnBrk="0" hangingPunct="1">
        <a:spcBef>
          <a:spcPct val="20000"/>
        </a:spcBef>
        <a:buClr>
          <a:schemeClr val="accent2"/>
        </a:buClr>
        <a:buSzPct val="70000"/>
        <a:buFont typeface="Arial" pitchFamily="34" charset="0"/>
        <a:buChar char="►"/>
        <a:defRPr sz="1799" kern="1200">
          <a:solidFill>
            <a:schemeClr val="bg1"/>
          </a:solidFill>
          <a:latin typeface="+mn-lt"/>
          <a:ea typeface="+mn-ea"/>
          <a:cs typeface="+mn-cs"/>
        </a:defRPr>
      </a:lvl3pPr>
      <a:lvl4pPr marL="1425751" indent="-356438" algn="l" defTabSz="913943" rtl="0" eaLnBrk="1" latinLnBrk="0" hangingPunct="1">
        <a:spcBef>
          <a:spcPct val="20000"/>
        </a:spcBef>
        <a:buClr>
          <a:schemeClr val="accent2"/>
        </a:buClr>
        <a:buSzPct val="70000"/>
        <a:buFont typeface="Arial" pitchFamily="34" charset="0"/>
        <a:buChar char="►"/>
        <a:defRPr sz="1599" kern="1200">
          <a:solidFill>
            <a:schemeClr val="bg1"/>
          </a:solidFill>
          <a:latin typeface="+mn-lt"/>
          <a:ea typeface="+mn-ea"/>
          <a:cs typeface="+mn-cs"/>
        </a:defRPr>
      </a:lvl4pPr>
      <a:lvl5pPr marL="1782188" indent="-356438" algn="l" defTabSz="913943" rtl="0" eaLnBrk="1" latinLnBrk="0" hangingPunct="1">
        <a:spcBef>
          <a:spcPct val="20000"/>
        </a:spcBef>
        <a:buClr>
          <a:schemeClr val="accent2"/>
        </a:buClr>
        <a:buSzPct val="70000"/>
        <a:buFont typeface="Arial" pitchFamily="34" charset="0"/>
        <a:buChar char="►"/>
        <a:defRPr sz="1599" kern="1200">
          <a:solidFill>
            <a:schemeClr val="bg1"/>
          </a:solidFill>
          <a:latin typeface="+mn-lt"/>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8" name="Textplatzhalter 27"/>
          <p:cNvSpPr>
            <a:spLocks noGrp="1"/>
          </p:cNvSpPr>
          <p:nvPr>
            <p:ph type="body" idx="1"/>
          </p:nvPr>
        </p:nvSpPr>
        <p:spPr>
          <a:xfrm>
            <a:off x="608083" y="1137600"/>
            <a:ext cx="10974284" cy="4351338"/>
          </a:xfrm>
          <a:prstGeom prst="rect">
            <a:avLst/>
          </a:prstGeom>
        </p:spPr>
        <p:txBody>
          <a:bodyPr vert="horz" lIns="0" tIns="0" rIns="0" bIns="0" rtlCol="0">
            <a:noAutofit/>
          </a:bodyPr>
          <a:lstStyle/>
          <a:p>
            <a:pPr marL="0" indent="0"/>
            <a:r>
              <a:rPr lang="en-US" noProof="0"/>
              <a:t>Click to edit Master text styles</a:t>
            </a:r>
          </a:p>
          <a:p>
            <a:pPr lvl="1"/>
            <a:r>
              <a:rPr lang="en-US" noProof="0"/>
              <a:t>Second level</a:t>
            </a:r>
          </a:p>
          <a:p>
            <a:pPr marL="510919" lvl="2" indent="-233246"/>
            <a:r>
              <a:rPr lang="en-US" noProof="0"/>
              <a:t>Third level</a:t>
            </a:r>
          </a:p>
        </p:txBody>
      </p:sp>
      <p:sp>
        <p:nvSpPr>
          <p:cNvPr id="2" name="Title Placeholder 1"/>
          <p:cNvSpPr>
            <a:spLocks noGrp="1"/>
          </p:cNvSpPr>
          <p:nvPr>
            <p:ph type="title"/>
          </p:nvPr>
        </p:nvSpPr>
        <p:spPr>
          <a:xfrm>
            <a:off x="609601" y="294200"/>
            <a:ext cx="10972800" cy="590880"/>
          </a:xfrm>
          <a:prstGeom prst="rect">
            <a:avLst/>
          </a:prstGeom>
        </p:spPr>
        <p:txBody>
          <a:bodyPr vert="horz" lIns="0" tIns="0" rIns="0" bIns="0" rtlCol="0" anchor="t" anchorCtr="0">
            <a:noAutofit/>
          </a:bodyPr>
          <a:lstStyle/>
          <a:p>
            <a:r>
              <a:rPr lang="en-US" noProof="0"/>
              <a:t>Click to edit Master title style</a:t>
            </a:r>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invGray">
          <a:xfrm>
            <a:off x="11281250" y="6356350"/>
            <a:ext cx="303055"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invGray">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nSpc>
                  <a:spcPct val="100000"/>
                </a:lnSpc>
              </a:pPr>
              <a:endParaRPr lang="en-US" sz="1799" noProof="0"/>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invGray">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nSpc>
                  <a:spcPct val="100000"/>
                </a:lnSpc>
              </a:pPr>
              <a:endParaRPr lang="en-US" sz="1799" noProof="0"/>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invGray">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nSpc>
                  <a:spcPct val="100000"/>
                </a:lnSpc>
              </a:pPr>
              <a:endParaRPr lang="en-US" sz="1799" noProof="0"/>
            </a:p>
          </p:txBody>
        </p:sp>
      </p:grpSp>
      <p:sp>
        <p:nvSpPr>
          <p:cNvPr id="19" name="Date Placeholder 3">
            <a:extLst>
              <a:ext uri="{FF2B5EF4-FFF2-40B4-BE49-F238E27FC236}">
                <a16:creationId xmlns:a16="http://schemas.microsoft.com/office/drawing/2014/main" id="{600772EA-C6B0-4F5D-AA59-01C0858EFADB}"/>
              </a:ext>
            </a:extLst>
          </p:cNvPr>
          <p:cNvSpPr>
            <a:spLocks noGrp="1"/>
          </p:cNvSpPr>
          <p:nvPr>
            <p:ph type="dt" sz="half" idx="2"/>
          </p:nvPr>
        </p:nvSpPr>
        <p:spPr>
          <a:xfrm>
            <a:off x="1428184" y="6471244"/>
            <a:ext cx="1190638" cy="180000"/>
          </a:xfrm>
          <a:prstGeom prst="rect">
            <a:avLst/>
          </a:prstGeom>
        </p:spPr>
        <p:txBody>
          <a:bodyPr vert="horz" lIns="0" tIns="0" rIns="0" bIns="0" rtlCol="0" anchor="ctr"/>
          <a:lstStyle>
            <a:lvl1pPr marL="0" algn="l" defTabSz="913943" rtl="0" eaLnBrk="1" latinLnBrk="0" hangingPunct="1">
              <a:lnSpc>
                <a:spcPct val="100000"/>
              </a:lnSpc>
              <a:defRPr lang="en-IN" sz="800" kern="1200" smtClean="0">
                <a:solidFill>
                  <a:schemeClr val="bg1"/>
                </a:solidFill>
                <a:latin typeface="EYInterstate" panose="02000503020000020004" pitchFamily="2" charset="0"/>
                <a:ea typeface="+mn-ea"/>
                <a:cs typeface="+mn-cs"/>
              </a:defRPr>
            </a:lvl1pPr>
          </a:lstStyle>
          <a:p>
            <a:fld id="{42CAA955-C688-4D17-A718-E12620276EB6}" type="datetime3">
              <a:rPr lang="en-US" noProof="0" smtClean="0"/>
              <a:t>27 November 2025</a:t>
            </a:fld>
            <a:endParaRPr lang="en-US" noProof="0"/>
          </a:p>
        </p:txBody>
      </p:sp>
      <p:sp>
        <p:nvSpPr>
          <p:cNvPr id="20" name="Footer Placeholder 4">
            <a:extLst>
              <a:ext uri="{FF2B5EF4-FFF2-40B4-BE49-F238E27FC236}">
                <a16:creationId xmlns:a16="http://schemas.microsoft.com/office/drawing/2014/main" id="{AC28FA70-87E4-49F4-AFDE-345AA28E0BE7}"/>
              </a:ext>
            </a:extLst>
          </p:cNvPr>
          <p:cNvSpPr>
            <a:spLocks noGrp="1"/>
          </p:cNvSpPr>
          <p:nvPr>
            <p:ph type="ftr" sz="quarter" idx="3"/>
          </p:nvPr>
        </p:nvSpPr>
        <p:spPr>
          <a:xfrm>
            <a:off x="3237502" y="6471244"/>
            <a:ext cx="3084493" cy="180000"/>
          </a:xfrm>
          <a:prstGeom prst="rect">
            <a:avLst/>
          </a:prstGeom>
        </p:spPr>
        <p:txBody>
          <a:bodyPr vert="horz" lIns="0" tIns="0" rIns="0" bIns="0" rtlCol="0" anchor="ctr"/>
          <a:lstStyle>
            <a:lvl1pPr marL="0" algn="l" defTabSz="913943" rtl="0" eaLnBrk="1" latinLnBrk="0" hangingPunct="1">
              <a:lnSpc>
                <a:spcPct val="100000"/>
              </a:lnSpc>
              <a:defRPr lang="en-IN" sz="800" kern="1200" dirty="0">
                <a:solidFill>
                  <a:schemeClr val="bg1"/>
                </a:solidFill>
                <a:latin typeface="EYInterstate" panose="02000503020000020004" pitchFamily="2" charset="0"/>
                <a:ea typeface="+mn-ea"/>
                <a:cs typeface="+mn-cs"/>
              </a:defRPr>
            </a:lvl1pPr>
          </a:lstStyle>
          <a:p>
            <a:r>
              <a:rPr lang="en-US" noProof="0"/>
              <a:t>Presentation title</a:t>
            </a:r>
          </a:p>
        </p:txBody>
      </p:sp>
      <p:sp>
        <p:nvSpPr>
          <p:cNvPr id="21" name="Slide Number Placeholder 5">
            <a:extLst>
              <a:ext uri="{FF2B5EF4-FFF2-40B4-BE49-F238E27FC236}">
                <a16:creationId xmlns:a16="http://schemas.microsoft.com/office/drawing/2014/main" id="{3B540F9A-D485-4BD0-B905-41F8A52593F8}"/>
              </a:ext>
            </a:extLst>
          </p:cNvPr>
          <p:cNvSpPr>
            <a:spLocks noGrp="1"/>
          </p:cNvSpPr>
          <p:nvPr>
            <p:ph type="sldNum" sz="quarter" idx="4"/>
          </p:nvPr>
        </p:nvSpPr>
        <p:spPr>
          <a:xfrm>
            <a:off x="616900" y="6471244"/>
            <a:ext cx="662721" cy="180000"/>
          </a:xfrm>
          <a:prstGeom prst="rect">
            <a:avLst/>
          </a:prstGeom>
        </p:spPr>
        <p:txBody>
          <a:bodyPr vert="horz" lIns="0" tIns="0" rIns="0" bIns="0" rtlCol="0" anchor="ctr"/>
          <a:lstStyle>
            <a:lvl1pPr marL="0" algn="l" defTabSz="913943" rtl="0" eaLnBrk="1" latinLnBrk="0" hangingPunct="1">
              <a:lnSpc>
                <a:spcPct val="100000"/>
              </a:lnSpc>
              <a:defRPr lang="en-IN" sz="800" kern="1200" smtClean="0">
                <a:solidFill>
                  <a:schemeClr val="bg1"/>
                </a:solidFill>
                <a:latin typeface="EYInterstate" panose="02000503020000020004" pitchFamily="2" charset="0"/>
                <a:ea typeface="+mn-ea"/>
                <a:cs typeface="+mn-cs"/>
              </a:defRPr>
            </a:lvl1pPr>
          </a:lstStyle>
          <a:p>
            <a:r>
              <a:rPr lang="en-US" noProof="0"/>
              <a:t>Page </a:t>
            </a:r>
            <a:fld id="{F1BC30E3-FFE5-4B91-AA19-87A149EBB9EE}" type="slidenum">
              <a:rPr lang="en-US" noProof="0" smtClean="0"/>
              <a:pPr/>
              <a:t>‹#›</a:t>
            </a:fld>
            <a:endParaRPr lang="en-US" noProof="0"/>
          </a:p>
        </p:txBody>
      </p:sp>
    </p:spTree>
    <p:extLst>
      <p:ext uri="{BB962C8B-B14F-4D97-AF65-F5344CB8AC3E}">
        <p14:creationId xmlns:p14="http://schemas.microsoft.com/office/powerpoint/2010/main" val="2493600454"/>
      </p:ext>
    </p:extLst>
  </p:cSld>
  <p:clrMap bg1="lt1" tx1="dk1" bg2="lt2" tx2="dk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 id="2147483808" r:id="rId9"/>
    <p:sldLayoutId id="2147483809" r:id="rId10"/>
    <p:sldLayoutId id="2147483810" r:id="rId11"/>
    <p:sldLayoutId id="2147483811" r:id="rId12"/>
    <p:sldLayoutId id="2147483812" r:id="rId13"/>
    <p:sldLayoutId id="2147483813" r:id="rId14"/>
    <p:sldLayoutId id="2147483814" r:id="rId15"/>
    <p:sldLayoutId id="2147483815" r:id="rId16"/>
    <p:sldLayoutId id="2147483816" r:id="rId17"/>
    <p:sldLayoutId id="2147483817" r:id="rId18"/>
    <p:sldLayoutId id="2147483818" r:id="rId19"/>
  </p:sldLayoutIdLst>
  <p:hf hdr="0" dt="0"/>
  <p:txStyles>
    <p:titleStyle>
      <a:lvl1pPr algn="l" defTabSz="913943" rtl="0" eaLnBrk="1" latinLnBrk="0" hangingPunct="1">
        <a:lnSpc>
          <a:spcPct val="100000"/>
        </a:lnSpc>
        <a:spcBef>
          <a:spcPct val="0"/>
        </a:spcBef>
        <a:buNone/>
        <a:defRPr sz="2399" b="0" kern="1200">
          <a:solidFill>
            <a:schemeClr val="bg1"/>
          </a:solidFill>
          <a:latin typeface="EYInterstate Light" panose="02000506000000020004" pitchFamily="2" charset="0"/>
          <a:ea typeface="+mj-ea"/>
          <a:cs typeface="Arial" pitchFamily="34" charset="0"/>
        </a:defRPr>
      </a:lvl1pPr>
    </p:titleStyle>
    <p:bodyStyle>
      <a:lvl1pPr marL="0" marR="0" indent="0" algn="l" defTabSz="913943" rtl="0" eaLnBrk="1" fontAlgn="auto" latinLnBrk="0" hangingPunct="1">
        <a:lnSpc>
          <a:spcPct val="100000"/>
        </a:lnSpc>
        <a:spcBef>
          <a:spcPts val="0"/>
        </a:spcBef>
        <a:spcAft>
          <a:spcPts val="600"/>
        </a:spcAft>
        <a:buClr>
          <a:srgbClr val="FFE600"/>
        </a:buClr>
        <a:buSzPct val="70000"/>
        <a:buFont typeface="Arial" pitchFamily="34" charset="0"/>
        <a:buNone/>
        <a:tabLst/>
        <a:defRPr kumimoji="0" lang="de-DE" sz="1799" b="0" i="0" u="none" strike="noStrike" kern="1200" cap="none" spc="0" normalizeH="0" baseline="0" noProof="0" dirty="0" smtClean="0">
          <a:ln>
            <a:noFill/>
          </a:ln>
          <a:solidFill>
            <a:schemeClr val="bg1"/>
          </a:solidFill>
          <a:effectLst/>
          <a:uLnTx/>
          <a:uFillTx/>
          <a:latin typeface="EYInterstate Light" panose="02000506000000020004" pitchFamily="2" charset="0"/>
          <a:ea typeface="+mn-ea"/>
          <a:cs typeface="+mn-cs"/>
        </a:defRPr>
      </a:lvl1pPr>
      <a:lvl2pPr marL="271327" marR="0" indent="-27132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kumimoji="0" lang="de-DE" sz="1599" b="0" i="0" u="none" strike="noStrike" kern="1200" cap="none" spc="0" normalizeH="0" baseline="0" noProof="0" dirty="0" smtClean="0">
          <a:ln>
            <a:noFill/>
          </a:ln>
          <a:solidFill>
            <a:schemeClr val="bg1"/>
          </a:solidFill>
          <a:effectLst/>
          <a:uLnTx/>
          <a:uFillTx/>
          <a:latin typeface="EYInterstate Light" panose="02000506000000020004" pitchFamily="2" charset="0"/>
          <a:ea typeface="+mn-ea"/>
          <a:cs typeface="+mn-cs"/>
        </a:defRPr>
      </a:lvl2pPr>
      <a:lvl3pPr marL="563280" marR="0" indent="-28560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kumimoji="0" lang="de-DE" sz="1399" b="0" i="0" u="none" strike="noStrike" kern="1200" cap="none" spc="0" normalizeH="0" baseline="0" noProof="0" dirty="0" smtClean="0">
          <a:ln>
            <a:noFill/>
          </a:ln>
          <a:solidFill>
            <a:schemeClr val="bg1"/>
          </a:solidFill>
          <a:effectLst/>
          <a:uLnTx/>
          <a:uFillTx/>
          <a:latin typeface="EYInterstate Light" panose="02000506000000020004" pitchFamily="2" charset="0"/>
          <a:ea typeface="+mn-ea"/>
          <a:cs typeface="+mn-cs"/>
        </a:defRPr>
      </a:lvl3pPr>
      <a:lvl4pPr marL="799700" marR="0" indent="-285607" algn="l" defTabSz="913943" rtl="0" eaLnBrk="1" fontAlgn="auto" latinLnBrk="0" hangingPunct="1">
        <a:lnSpc>
          <a:spcPct val="100000"/>
        </a:lnSpc>
        <a:spcBef>
          <a:spcPts val="0"/>
        </a:spcBef>
        <a:spcAft>
          <a:spcPts val="600"/>
        </a:spcAft>
        <a:buClr>
          <a:srgbClr val="FFE600"/>
        </a:buClr>
        <a:buSzPct val="70000"/>
        <a:buFont typeface="Arial" pitchFamily="34" charset="0"/>
        <a:buChar char="►"/>
        <a:tabLst/>
        <a:defRPr kumimoji="0" lang="de-DE" sz="1399" b="0" i="0" u="none" strike="noStrike" kern="1200" cap="none" spc="0" normalizeH="0" baseline="0" noProof="0" dirty="0" smtClean="0">
          <a:ln>
            <a:noFill/>
          </a:ln>
          <a:solidFill>
            <a:schemeClr val="bg1"/>
          </a:solidFill>
          <a:effectLst/>
          <a:uLnTx/>
          <a:uFillTx/>
          <a:latin typeface="EYInterstate Light" panose="02000506000000020004" pitchFamily="2" charset="0"/>
          <a:ea typeface="+mn-ea"/>
          <a:cs typeface="+mn-cs"/>
        </a:defRPr>
      </a:lvl4pPr>
      <a:lvl5pPr marL="944091" indent="-201512" algn="l" defTabSz="913943" rtl="0" eaLnBrk="1" latinLnBrk="0" hangingPunct="1">
        <a:lnSpc>
          <a:spcPct val="100000"/>
        </a:lnSpc>
        <a:spcBef>
          <a:spcPts val="0"/>
        </a:spcBef>
        <a:spcAft>
          <a:spcPts val="600"/>
        </a:spcAft>
        <a:buClr>
          <a:srgbClr val="FFE600"/>
        </a:buClr>
        <a:buSzPct val="70000"/>
        <a:buFont typeface="Arial" pitchFamily="34" charset="0"/>
        <a:buChar char="►"/>
        <a:tabLst/>
        <a:defRPr kumimoji="0" lang="de-DE" sz="1399" b="0" i="0" u="none" strike="noStrike" kern="1200" cap="none" spc="0" normalizeH="0" baseline="0" noProof="0" dirty="0">
          <a:ln>
            <a:noFill/>
          </a:ln>
          <a:solidFill>
            <a:schemeClr val="bg1"/>
          </a:solidFill>
          <a:effectLst/>
          <a:uLnTx/>
          <a:uFillTx/>
          <a:latin typeface="EYInterstate Light" panose="02000506000000020004" pitchFamily="2" charset="0"/>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extLst>
    <p:ext uri="{27BBF7A9-308A-43DC-89C8-2F10F3537804}">
      <p15:sldGuideLst xmlns:p15="http://schemas.microsoft.com/office/powerpoint/2012/main">
        <p15:guide id="3" pos="384">
          <p15:clr>
            <a:srgbClr val="F26B43"/>
          </p15:clr>
        </p15:guide>
        <p15:guide id="4" pos="7301">
          <p15:clr>
            <a:srgbClr val="F26B43"/>
          </p15:clr>
        </p15:guide>
        <p15:guide id="5" orient="horz" pos="187">
          <p15:clr>
            <a:srgbClr val="F26B43"/>
          </p15:clr>
        </p15:guide>
        <p15:guide id="6" orient="horz" pos="709">
          <p15:clr>
            <a:srgbClr val="F26B43"/>
          </p15:clr>
        </p15:guide>
        <p15:guide id="7" orient="horz" pos="3838">
          <p15:clr>
            <a:srgbClr val="F26B43"/>
          </p15:clr>
        </p15:guide>
        <p15:guide id="8" orient="horz" pos="4156">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0069573"/>
      </p:ext>
    </p:extLst>
  </p:cSld>
  <p:clrMap bg1="lt1" tx1="dk1" bg2="lt2" tx2="dk2" accent1="accent1" accent2="accent2" accent3="accent3" accent4="accent4" accent5="accent5" accent6="accent6" hlink="hlink" folHlink="folHlink"/>
  <p:sldLayoutIdLst>
    <p:sldLayoutId id="2147483820" r:id="rId1"/>
  </p:sldLayoutIdLst>
  <p:txStyles>
    <p:titleStyle/>
    <p:bodyStyle/>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3" y="294200"/>
            <a:ext cx="10972800"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603"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11281252" y="6356350"/>
            <a:ext cx="303055"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7"/>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7"/>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7"/>
            </a:p>
          </p:txBody>
        </p:sp>
      </p:grpSp>
      <p:sp>
        <p:nvSpPr>
          <p:cNvPr id="18" name="Footer Placeholder 2">
            <a:extLst>
              <a:ext uri="{FF2B5EF4-FFF2-40B4-BE49-F238E27FC236}">
                <a16:creationId xmlns:a16="http://schemas.microsoft.com/office/drawing/2014/main" id="{FE280278-22FE-4F3D-8D37-B8FB096E9C4C}"/>
              </a:ext>
            </a:extLst>
          </p:cNvPr>
          <p:cNvSpPr txBox="1">
            <a:spLocks/>
          </p:cNvSpPr>
          <p:nvPr userDrawn="1"/>
        </p:nvSpPr>
        <p:spPr>
          <a:xfrm>
            <a:off x="1272006" y="6471244"/>
            <a:ext cx="3084493" cy="180000"/>
          </a:xfrm>
          <a:prstGeom prst="rect">
            <a:avLst/>
          </a:prstGeom>
        </p:spPr>
        <p:txBody>
          <a:bodyPr/>
          <a:lstStyle>
            <a:defPPr>
              <a:defRPr lang="en-US"/>
            </a:defPPr>
            <a:lvl1pPr>
              <a:defRPr sz="800">
                <a:solidFill>
                  <a:schemeClr val="bg1"/>
                </a:solidFill>
                <a:latin typeface="EYInterstate" panose="02000503020000020004"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US" sz="800"/>
              <a:t>GDS Consulting FY24 webcast</a:t>
            </a:r>
          </a:p>
        </p:txBody>
      </p:sp>
      <p:sp>
        <p:nvSpPr>
          <p:cNvPr id="22" name="Slide Number Placeholder 4">
            <a:extLst>
              <a:ext uri="{FF2B5EF4-FFF2-40B4-BE49-F238E27FC236}">
                <a16:creationId xmlns:a16="http://schemas.microsoft.com/office/drawing/2014/main" id="{4093714F-0FA2-4BA1-B9F9-9CDFDB009BD4}"/>
              </a:ext>
            </a:extLst>
          </p:cNvPr>
          <p:cNvSpPr txBox="1">
            <a:spLocks/>
          </p:cNvSpPr>
          <p:nvPr userDrawn="1"/>
        </p:nvSpPr>
        <p:spPr>
          <a:xfrm>
            <a:off x="609285" y="6471244"/>
            <a:ext cx="662721" cy="180000"/>
          </a:xfrm>
          <a:prstGeom prst="rect">
            <a:avLst/>
          </a:prstGeom>
        </p:spPr>
        <p:txBody>
          <a:bodyPr lIns="0"/>
          <a:lstStyle>
            <a:defPPr>
              <a:defRPr lang="en-US"/>
            </a:defPPr>
            <a:lvl1pPr>
              <a:defRPr sz="800">
                <a:solidFill>
                  <a:schemeClr val="bg1"/>
                </a:solidFill>
                <a:latin typeface="EYInterstate" panose="02000503020000020004"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GB" sz="800"/>
              <a:t>Page </a:t>
            </a:r>
            <a:fld id="{D5B76411-544C-4F9A-8EDE-9EEB2BD21F95}" type="slidenum">
              <a:rPr lang="en-IN" sz="800" smtClean="0"/>
              <a:t>‹#›</a:t>
            </a:fld>
            <a:endParaRPr sz="800"/>
          </a:p>
        </p:txBody>
      </p:sp>
    </p:spTree>
    <p:extLst>
      <p:ext uri="{BB962C8B-B14F-4D97-AF65-F5344CB8AC3E}">
        <p14:creationId xmlns:p14="http://schemas.microsoft.com/office/powerpoint/2010/main" val="2183178510"/>
      </p:ext>
    </p:extLst>
  </p:cSld>
  <p:clrMap bg1="lt1" tx1="dk1" bg2="lt2" tx2="dk2" accent1="accent1" accent2="accent2" accent3="accent3" accent4="accent4" accent5="accent5" accent6="accent6" hlink="hlink" folHlink="folHlink"/>
  <p:sldLayoutIdLst>
    <p:sldLayoutId id="2147483822" r:id="rId1"/>
  </p:sldLayoutIdLst>
  <p:hf hdr="0"/>
  <p:txStyles>
    <p:titleStyle>
      <a:lvl1pPr algn="l" defTabSz="913029" rtl="0" eaLnBrk="1" latinLnBrk="0" hangingPunct="1">
        <a:lnSpc>
          <a:spcPct val="85000"/>
        </a:lnSpc>
        <a:spcBef>
          <a:spcPct val="0"/>
        </a:spcBef>
        <a:buNone/>
        <a:defRPr sz="2397" b="0" kern="1200">
          <a:solidFill>
            <a:schemeClr val="bg1"/>
          </a:solidFill>
          <a:latin typeface="EYInterstate Light" panose="02000506000000020004" pitchFamily="2" charset="0"/>
          <a:ea typeface="+mj-ea"/>
          <a:cs typeface="Arial" pitchFamily="34" charset="0"/>
        </a:defRPr>
      </a:lvl1pPr>
    </p:titleStyle>
    <p:bodyStyle>
      <a:lvl1pPr marL="356082" indent="-356082" algn="l" defTabSz="913029" rtl="0" eaLnBrk="1" latinLnBrk="0" hangingPunct="1">
        <a:spcBef>
          <a:spcPct val="20000"/>
        </a:spcBef>
        <a:buClr>
          <a:schemeClr val="tx2"/>
        </a:buClr>
        <a:buSzPct val="70000"/>
        <a:buFont typeface="Arial" pitchFamily="34" charset="0"/>
        <a:buChar char="►"/>
        <a:defRPr sz="1997" kern="1200">
          <a:solidFill>
            <a:schemeClr val="bg1"/>
          </a:solidFill>
          <a:latin typeface="EYInterstate Light" panose="02000506000000020004" pitchFamily="2" charset="0"/>
          <a:ea typeface="+mn-ea"/>
          <a:cs typeface="+mn-cs"/>
        </a:defRPr>
      </a:lvl1pPr>
      <a:lvl2pPr marL="712163" indent="-356082" algn="l" defTabSz="913029" rtl="0" eaLnBrk="1" latinLnBrk="0" hangingPunct="1">
        <a:spcBef>
          <a:spcPct val="20000"/>
        </a:spcBef>
        <a:buClr>
          <a:schemeClr val="tx2"/>
        </a:buClr>
        <a:buSzPct val="70000"/>
        <a:buFont typeface="Arial" pitchFamily="34" charset="0"/>
        <a:buChar char="►"/>
        <a:defRPr sz="1797" kern="1200">
          <a:solidFill>
            <a:schemeClr val="bg1"/>
          </a:solidFill>
          <a:latin typeface="EYInterstate Light" panose="02000506000000020004" pitchFamily="2" charset="0"/>
          <a:ea typeface="+mn-ea"/>
          <a:cs typeface="+mn-cs"/>
        </a:defRPr>
      </a:lvl2pPr>
      <a:lvl3pPr marL="1068244" indent="-356082" algn="l" defTabSz="913029" rtl="0" eaLnBrk="1" latinLnBrk="0" hangingPunct="1">
        <a:spcBef>
          <a:spcPct val="20000"/>
        </a:spcBef>
        <a:buClr>
          <a:schemeClr val="tx2"/>
        </a:buClr>
        <a:buSzPct val="70000"/>
        <a:buFont typeface="Arial" pitchFamily="34" charset="0"/>
        <a:buChar char="►"/>
        <a:defRPr sz="1597" kern="1200">
          <a:solidFill>
            <a:schemeClr val="bg1"/>
          </a:solidFill>
          <a:latin typeface="EYInterstate Light" panose="02000506000000020004" pitchFamily="2" charset="0"/>
          <a:ea typeface="+mn-ea"/>
          <a:cs typeface="+mn-cs"/>
        </a:defRPr>
      </a:lvl3pPr>
      <a:lvl4pPr marL="1424325" indent="-356082" algn="l" defTabSz="913029" rtl="0" eaLnBrk="1" latinLnBrk="0" hangingPunct="1">
        <a:spcBef>
          <a:spcPct val="20000"/>
        </a:spcBef>
        <a:buClr>
          <a:schemeClr val="tx2"/>
        </a:buClr>
        <a:buSzPct val="70000"/>
        <a:buFont typeface="Arial" pitchFamily="34" charset="0"/>
        <a:buChar char="►"/>
        <a:defRPr sz="1397" kern="1200">
          <a:solidFill>
            <a:schemeClr val="bg1"/>
          </a:solidFill>
          <a:latin typeface="EYInterstate Light" panose="02000506000000020004" pitchFamily="2" charset="0"/>
          <a:ea typeface="+mn-ea"/>
          <a:cs typeface="+mn-cs"/>
        </a:defRPr>
      </a:lvl4pPr>
      <a:lvl5pPr marL="1780406" indent="-356082" algn="l" defTabSz="913029" rtl="0" eaLnBrk="1" latinLnBrk="0" hangingPunct="1">
        <a:spcBef>
          <a:spcPct val="20000"/>
        </a:spcBef>
        <a:buClr>
          <a:schemeClr val="tx2"/>
        </a:buClr>
        <a:buSzPct val="70000"/>
        <a:buFont typeface="Arial" pitchFamily="34" charset="0"/>
        <a:buChar char="►"/>
        <a:defRPr sz="1197" kern="1200">
          <a:solidFill>
            <a:schemeClr val="bg1"/>
          </a:solidFill>
          <a:latin typeface="EYInterstate Light" panose="02000506000000020004" pitchFamily="2" charset="0"/>
          <a:ea typeface="+mn-ea"/>
          <a:cs typeface="+mn-cs"/>
        </a:defRPr>
      </a:lvl5pPr>
      <a:lvl6pPr marL="2510830" indent="-228258" algn="l" defTabSz="913029" rtl="0" eaLnBrk="1" latinLnBrk="0" hangingPunct="1">
        <a:spcBef>
          <a:spcPct val="20000"/>
        </a:spcBef>
        <a:buFont typeface="Arial" pitchFamily="34" charset="0"/>
        <a:buChar char="•"/>
        <a:defRPr sz="1997" kern="1200">
          <a:solidFill>
            <a:schemeClr val="tx1"/>
          </a:solidFill>
          <a:latin typeface="+mn-lt"/>
          <a:ea typeface="+mn-ea"/>
          <a:cs typeface="+mn-cs"/>
        </a:defRPr>
      </a:lvl6pPr>
      <a:lvl7pPr marL="2967345" indent="-228258" algn="l" defTabSz="913029" rtl="0" eaLnBrk="1" latinLnBrk="0" hangingPunct="1">
        <a:spcBef>
          <a:spcPct val="20000"/>
        </a:spcBef>
        <a:buFont typeface="Arial" pitchFamily="34" charset="0"/>
        <a:buChar char="•"/>
        <a:defRPr sz="1997" kern="1200">
          <a:solidFill>
            <a:schemeClr val="tx1"/>
          </a:solidFill>
          <a:latin typeface="+mn-lt"/>
          <a:ea typeface="+mn-ea"/>
          <a:cs typeface="+mn-cs"/>
        </a:defRPr>
      </a:lvl7pPr>
      <a:lvl8pPr marL="3423859" indent="-228258" algn="l" defTabSz="913029" rtl="0" eaLnBrk="1" latinLnBrk="0" hangingPunct="1">
        <a:spcBef>
          <a:spcPct val="20000"/>
        </a:spcBef>
        <a:buFont typeface="Arial" pitchFamily="34" charset="0"/>
        <a:buChar char="•"/>
        <a:defRPr sz="1997" kern="1200">
          <a:solidFill>
            <a:schemeClr val="tx1"/>
          </a:solidFill>
          <a:latin typeface="+mn-lt"/>
          <a:ea typeface="+mn-ea"/>
          <a:cs typeface="+mn-cs"/>
        </a:defRPr>
      </a:lvl8pPr>
      <a:lvl9pPr marL="3880374" indent="-228258" algn="l" defTabSz="913029" rtl="0" eaLnBrk="1" latinLnBrk="0" hangingPunct="1">
        <a:spcBef>
          <a:spcPct val="20000"/>
        </a:spcBef>
        <a:buFont typeface="Arial" pitchFamily="34" charset="0"/>
        <a:buChar char="•"/>
        <a:defRPr sz="1997" kern="1200">
          <a:solidFill>
            <a:schemeClr val="tx1"/>
          </a:solidFill>
          <a:latin typeface="+mn-lt"/>
          <a:ea typeface="+mn-ea"/>
          <a:cs typeface="+mn-cs"/>
        </a:defRPr>
      </a:lvl9pPr>
    </p:bodyStyle>
    <p:otherStyle>
      <a:defPPr>
        <a:defRPr lang="en-US"/>
      </a:defPPr>
      <a:lvl1pPr marL="0" algn="l" defTabSz="913029" rtl="0" eaLnBrk="1" latinLnBrk="0" hangingPunct="1">
        <a:defRPr sz="1797" kern="1200">
          <a:solidFill>
            <a:schemeClr val="tx1"/>
          </a:solidFill>
          <a:latin typeface="+mn-lt"/>
          <a:ea typeface="+mn-ea"/>
          <a:cs typeface="+mn-cs"/>
        </a:defRPr>
      </a:lvl1pPr>
      <a:lvl2pPr marL="456515" algn="l" defTabSz="913029" rtl="0" eaLnBrk="1" latinLnBrk="0" hangingPunct="1">
        <a:defRPr sz="1797" kern="1200">
          <a:solidFill>
            <a:schemeClr val="tx1"/>
          </a:solidFill>
          <a:latin typeface="+mn-lt"/>
          <a:ea typeface="+mn-ea"/>
          <a:cs typeface="+mn-cs"/>
        </a:defRPr>
      </a:lvl2pPr>
      <a:lvl3pPr marL="913029" algn="l" defTabSz="913029" rtl="0" eaLnBrk="1" latinLnBrk="0" hangingPunct="1">
        <a:defRPr sz="1797" kern="1200">
          <a:solidFill>
            <a:schemeClr val="tx1"/>
          </a:solidFill>
          <a:latin typeface="+mn-lt"/>
          <a:ea typeface="+mn-ea"/>
          <a:cs typeface="+mn-cs"/>
        </a:defRPr>
      </a:lvl3pPr>
      <a:lvl4pPr marL="1369544" algn="l" defTabSz="913029" rtl="0" eaLnBrk="1" latinLnBrk="0" hangingPunct="1">
        <a:defRPr sz="1797" kern="1200">
          <a:solidFill>
            <a:schemeClr val="tx1"/>
          </a:solidFill>
          <a:latin typeface="+mn-lt"/>
          <a:ea typeface="+mn-ea"/>
          <a:cs typeface="+mn-cs"/>
        </a:defRPr>
      </a:lvl4pPr>
      <a:lvl5pPr marL="1826059" algn="l" defTabSz="913029" rtl="0" eaLnBrk="1" latinLnBrk="0" hangingPunct="1">
        <a:defRPr sz="1797" kern="1200">
          <a:solidFill>
            <a:schemeClr val="tx1"/>
          </a:solidFill>
          <a:latin typeface="+mn-lt"/>
          <a:ea typeface="+mn-ea"/>
          <a:cs typeface="+mn-cs"/>
        </a:defRPr>
      </a:lvl5pPr>
      <a:lvl6pPr marL="2282573" algn="l" defTabSz="913029" rtl="0" eaLnBrk="1" latinLnBrk="0" hangingPunct="1">
        <a:defRPr sz="1797" kern="1200">
          <a:solidFill>
            <a:schemeClr val="tx1"/>
          </a:solidFill>
          <a:latin typeface="+mn-lt"/>
          <a:ea typeface="+mn-ea"/>
          <a:cs typeface="+mn-cs"/>
        </a:defRPr>
      </a:lvl6pPr>
      <a:lvl7pPr marL="2739087" algn="l" defTabSz="913029" rtl="0" eaLnBrk="1" latinLnBrk="0" hangingPunct="1">
        <a:defRPr sz="1797" kern="1200">
          <a:solidFill>
            <a:schemeClr val="tx1"/>
          </a:solidFill>
          <a:latin typeface="+mn-lt"/>
          <a:ea typeface="+mn-ea"/>
          <a:cs typeface="+mn-cs"/>
        </a:defRPr>
      </a:lvl7pPr>
      <a:lvl8pPr marL="3195602" algn="l" defTabSz="913029" rtl="0" eaLnBrk="1" latinLnBrk="0" hangingPunct="1">
        <a:defRPr sz="1797" kern="1200">
          <a:solidFill>
            <a:schemeClr val="tx1"/>
          </a:solidFill>
          <a:latin typeface="+mn-lt"/>
          <a:ea typeface="+mn-ea"/>
          <a:cs typeface="+mn-cs"/>
        </a:defRPr>
      </a:lvl8pPr>
      <a:lvl9pPr marL="3652116" algn="l" defTabSz="913029" rtl="0" eaLnBrk="1" latinLnBrk="0" hangingPunct="1">
        <a:defRPr sz="1797"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34.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35.xml"/><Relationship Id="rId1" Type="http://schemas.openxmlformats.org/officeDocument/2006/relationships/customXml" Target="../../customXml/item4.xml"/><Relationship Id="rId4" Type="http://schemas.openxmlformats.org/officeDocument/2006/relationships/image" Target="../media/image24.jpe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Layout" Target="../slideLayouts/slideLayout5.xml"/><Relationship Id="rId5" Type="http://schemas.openxmlformats.org/officeDocument/2006/relationships/image" Target="../media/image28.svg"/><Relationship Id="rId4" Type="http://schemas.openxmlformats.org/officeDocument/2006/relationships/image" Target="../media/image27.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40.svg"/><Relationship Id="rId18" Type="http://schemas.microsoft.com/office/2007/relationships/diagramDrawing" Target="../diagrams/drawing1.xml"/><Relationship Id="rId3" Type="http://schemas.openxmlformats.org/officeDocument/2006/relationships/image" Target="../media/image30.svg"/><Relationship Id="rId7" Type="http://schemas.openxmlformats.org/officeDocument/2006/relationships/image" Target="../media/image34.svg"/><Relationship Id="rId12" Type="http://schemas.openxmlformats.org/officeDocument/2006/relationships/image" Target="../media/image39.png"/><Relationship Id="rId17" Type="http://schemas.openxmlformats.org/officeDocument/2006/relationships/diagramColors" Target="../diagrams/colors1.xml"/><Relationship Id="rId2" Type="http://schemas.openxmlformats.org/officeDocument/2006/relationships/image" Target="../media/image29.png"/><Relationship Id="rId16" Type="http://schemas.openxmlformats.org/officeDocument/2006/relationships/diagramQuickStyle" Target="../diagrams/quickStyle1.xml"/><Relationship Id="rId20" Type="http://schemas.openxmlformats.org/officeDocument/2006/relationships/image" Target="../media/image41.emf"/><Relationship Id="rId1" Type="http://schemas.openxmlformats.org/officeDocument/2006/relationships/slideLayout" Target="../slideLayouts/slideLayout70.xml"/><Relationship Id="rId6" Type="http://schemas.openxmlformats.org/officeDocument/2006/relationships/image" Target="../media/image33.png"/><Relationship Id="rId11" Type="http://schemas.openxmlformats.org/officeDocument/2006/relationships/image" Target="../media/image38.svg"/><Relationship Id="rId5" Type="http://schemas.openxmlformats.org/officeDocument/2006/relationships/image" Target="../media/image32.svg"/><Relationship Id="rId15" Type="http://schemas.openxmlformats.org/officeDocument/2006/relationships/diagramLayout" Target="../diagrams/layout1.xml"/><Relationship Id="rId10" Type="http://schemas.openxmlformats.org/officeDocument/2006/relationships/image" Target="../media/image37.png"/><Relationship Id="rId19" Type="http://schemas.openxmlformats.org/officeDocument/2006/relationships/package" Target="../embeddings/Microsoft_Excel_Worksheet.xlsx"/><Relationship Id="rId4" Type="http://schemas.openxmlformats.org/officeDocument/2006/relationships/image" Target="../media/image31.png"/><Relationship Id="rId9" Type="http://schemas.openxmlformats.org/officeDocument/2006/relationships/image" Target="../media/image36.svg"/><Relationship Id="rId14" Type="http://schemas.openxmlformats.org/officeDocument/2006/relationships/diagramData" Target="../diagrams/data1.xml"/></Relationships>
</file>

<file path=ppt/slides/_rels/slide7.xml.rels><?xml version="1.0" encoding="UTF-8" standalone="yes"?>
<Relationships xmlns="http://schemas.openxmlformats.org/package/2006/relationships"><Relationship Id="rId3" Type="http://schemas.openxmlformats.org/officeDocument/2006/relationships/image" Target="../media/image43.svg"/><Relationship Id="rId2" Type="http://schemas.openxmlformats.org/officeDocument/2006/relationships/image" Target="../media/image42.png"/><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xml"/><Relationship Id="rId1" Type="http://schemas.openxmlformats.org/officeDocument/2006/relationships/slideLayout" Target="../slideLayouts/slideLayout5.xml"/><Relationship Id="rId4" Type="http://schemas.openxmlformats.org/officeDocument/2006/relationships/image" Target="../media/image45.sv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xml.rels><?xml version="1.0" encoding="UTF-8" standalone="yes"?>
<Relationships xmlns="http://schemas.openxmlformats.org/package/2006/relationships"><Relationship Id="rId8" Type="http://schemas.openxmlformats.org/officeDocument/2006/relationships/image" Target="../media/image52.svg"/><Relationship Id="rId13" Type="http://schemas.openxmlformats.org/officeDocument/2006/relationships/package" Target="../embeddings/Microsoft_Excel_Worksheet1.xlsx"/><Relationship Id="rId3" Type="http://schemas.openxmlformats.org/officeDocument/2006/relationships/image" Target="../media/image47.png"/><Relationship Id="rId7" Type="http://schemas.openxmlformats.org/officeDocument/2006/relationships/image" Target="../media/image51.png"/><Relationship Id="rId12" Type="http://schemas.openxmlformats.org/officeDocument/2006/relationships/image" Target="../media/image56.svg"/><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image" Target="../media/image50.svg"/><Relationship Id="rId11" Type="http://schemas.openxmlformats.org/officeDocument/2006/relationships/image" Target="../media/image55.png"/><Relationship Id="rId5" Type="http://schemas.openxmlformats.org/officeDocument/2006/relationships/image" Target="../media/image49.png"/><Relationship Id="rId10" Type="http://schemas.openxmlformats.org/officeDocument/2006/relationships/image" Target="../media/image54.svg"/><Relationship Id="rId4" Type="http://schemas.openxmlformats.org/officeDocument/2006/relationships/image" Target="../media/image48.svg"/><Relationship Id="rId9" Type="http://schemas.openxmlformats.org/officeDocument/2006/relationships/image" Target="../media/image53.png"/><Relationship Id="rId14" Type="http://schemas.openxmlformats.org/officeDocument/2006/relationships/image" Target="../media/image57.emf"/></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8" Type="http://schemas.openxmlformats.org/officeDocument/2006/relationships/image" Target="../media/image63.svg"/><Relationship Id="rId13" Type="http://schemas.openxmlformats.org/officeDocument/2006/relationships/image" Target="../media/image68.png"/><Relationship Id="rId3" Type="http://schemas.openxmlformats.org/officeDocument/2006/relationships/image" Target="../media/image58.png"/><Relationship Id="rId7" Type="http://schemas.openxmlformats.org/officeDocument/2006/relationships/image" Target="../media/image62.png"/><Relationship Id="rId12" Type="http://schemas.openxmlformats.org/officeDocument/2006/relationships/image" Target="../media/image67.svg"/><Relationship Id="rId2" Type="http://schemas.openxmlformats.org/officeDocument/2006/relationships/notesSlide" Target="../notesSlides/notesSlide10.xml"/><Relationship Id="rId1" Type="http://schemas.openxmlformats.org/officeDocument/2006/relationships/slideLayout" Target="../slideLayouts/slideLayout5.xml"/><Relationship Id="rId6" Type="http://schemas.openxmlformats.org/officeDocument/2006/relationships/image" Target="../media/image61.svg"/><Relationship Id="rId11" Type="http://schemas.openxmlformats.org/officeDocument/2006/relationships/image" Target="../media/image66.png"/><Relationship Id="rId5" Type="http://schemas.openxmlformats.org/officeDocument/2006/relationships/image" Target="../media/image60.png"/><Relationship Id="rId10" Type="http://schemas.openxmlformats.org/officeDocument/2006/relationships/image" Target="../media/image65.svg"/><Relationship Id="rId4" Type="http://schemas.openxmlformats.org/officeDocument/2006/relationships/image" Target="../media/image59.svg"/><Relationship Id="rId9" Type="http://schemas.openxmlformats.org/officeDocument/2006/relationships/image" Target="../media/image64.png"/><Relationship Id="rId14" Type="http://schemas.openxmlformats.org/officeDocument/2006/relationships/image" Target="../media/image69.sv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8" Type="http://schemas.openxmlformats.org/officeDocument/2006/relationships/diagramData" Target="../diagrams/data3.xml"/><Relationship Id="rId13" Type="http://schemas.openxmlformats.org/officeDocument/2006/relationships/diagramData" Target="../diagrams/data4.xml"/><Relationship Id="rId3" Type="http://schemas.openxmlformats.org/officeDocument/2006/relationships/diagramData" Target="../diagrams/data2.xml"/><Relationship Id="rId7" Type="http://schemas.microsoft.com/office/2007/relationships/diagramDrawing" Target="../diagrams/drawing2.xml"/><Relationship Id="rId12" Type="http://schemas.microsoft.com/office/2007/relationships/diagramDrawing" Target="../diagrams/drawing3.xml"/><Relationship Id="rId17" Type="http://schemas.microsoft.com/office/2007/relationships/diagramDrawing" Target="../diagrams/drawing4.xml"/><Relationship Id="rId2" Type="http://schemas.openxmlformats.org/officeDocument/2006/relationships/notesSlide" Target="../notesSlides/notesSlide13.xml"/><Relationship Id="rId16" Type="http://schemas.openxmlformats.org/officeDocument/2006/relationships/diagramColors" Target="../diagrams/colors4.xml"/><Relationship Id="rId1" Type="http://schemas.openxmlformats.org/officeDocument/2006/relationships/slideLayout" Target="../slideLayouts/slideLayout5.xml"/><Relationship Id="rId6" Type="http://schemas.openxmlformats.org/officeDocument/2006/relationships/diagramColors" Target="../diagrams/colors2.xml"/><Relationship Id="rId11" Type="http://schemas.openxmlformats.org/officeDocument/2006/relationships/diagramColors" Target="../diagrams/colors3.xml"/><Relationship Id="rId5" Type="http://schemas.openxmlformats.org/officeDocument/2006/relationships/diagramQuickStyle" Target="../diagrams/quickStyle2.xml"/><Relationship Id="rId15" Type="http://schemas.openxmlformats.org/officeDocument/2006/relationships/diagramQuickStyle" Target="../diagrams/quickStyle4.xml"/><Relationship Id="rId10" Type="http://schemas.openxmlformats.org/officeDocument/2006/relationships/diagramQuickStyle" Target="../diagrams/quickStyle3.xml"/><Relationship Id="rId4" Type="http://schemas.openxmlformats.org/officeDocument/2006/relationships/diagramLayout" Target="../diagrams/layout2.xml"/><Relationship Id="rId9" Type="http://schemas.openxmlformats.org/officeDocument/2006/relationships/diagramLayout" Target="../diagrams/layout3.xml"/><Relationship Id="rId14" Type="http://schemas.openxmlformats.org/officeDocument/2006/relationships/diagramLayout" Target="../diagrams/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16.xml"/><Relationship Id="rId1" Type="http://schemas.openxmlformats.org/officeDocument/2006/relationships/slideLayout" Target="../slideLayouts/slideLayout5.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6.xml"/></Relationships>
</file>

<file path=ppt/slides/_rels/slide2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8.xml"/><Relationship Id="rId1" Type="http://schemas.openxmlformats.org/officeDocument/2006/relationships/slideLayout" Target="../slideLayouts/slideLayout46.xml"/><Relationship Id="rId4" Type="http://schemas.openxmlformats.org/officeDocument/2006/relationships/image" Target="../media/image71.sv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8" Type="http://schemas.microsoft.com/office/2007/relationships/diagramDrawing" Target="../diagrams/drawing6.xml"/><Relationship Id="rId3" Type="http://schemas.microsoft.com/office/2018/10/relationships/comments" Target="../comments/modernComment_7FFFFE0C_AB8F38D8.xml"/><Relationship Id="rId7" Type="http://schemas.openxmlformats.org/officeDocument/2006/relationships/diagramColors" Target="../diagrams/colors6.xml"/><Relationship Id="rId2" Type="http://schemas.openxmlformats.org/officeDocument/2006/relationships/notesSlide" Target="../notesSlides/notesSlide21.xml"/><Relationship Id="rId1" Type="http://schemas.openxmlformats.org/officeDocument/2006/relationships/slideLayout" Target="../slideLayouts/slideLayout5.xml"/><Relationship Id="rId6" Type="http://schemas.openxmlformats.org/officeDocument/2006/relationships/diagramQuickStyle" Target="../diagrams/quickStyle6.xml"/><Relationship Id="rId5" Type="http://schemas.openxmlformats.org/officeDocument/2006/relationships/diagramLayout" Target="../diagrams/layout6.xml"/><Relationship Id="rId4" Type="http://schemas.openxmlformats.org/officeDocument/2006/relationships/diagramData" Target="../diagrams/data6.xml"/></Relationships>
</file>

<file path=ppt/slides/_rels/slide32.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microsoft.com/office/2018/10/relationships/comments" Target="../comments/modernComment_7FFFFE0D_A5181625.xml"/><Relationship Id="rId1" Type="http://schemas.openxmlformats.org/officeDocument/2006/relationships/slideLayout" Target="../slideLayouts/slideLayout5.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33.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22.xml"/><Relationship Id="rId1" Type="http://schemas.openxmlformats.org/officeDocument/2006/relationships/slideLayout" Target="../slideLayouts/slideLayout5.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3" Type="http://schemas.microsoft.com/office/2018/10/relationships/comments" Target="../comments/modernComment_7FFFFDFF_67083434.xml"/><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26.xml"/><Relationship Id="rId1" Type="http://schemas.openxmlformats.org/officeDocument/2006/relationships/slideLayout" Target="../slideLayouts/slideLayout5.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38.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notesSlide" Target="../notesSlides/notesSlide27.xml"/><Relationship Id="rId1" Type="http://schemas.openxmlformats.org/officeDocument/2006/relationships/slideLayout" Target="../slideLayouts/slideLayout5.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39.xml.rels><?xml version="1.0" encoding="UTF-8" standalone="yes"?>
<Relationships xmlns="http://schemas.openxmlformats.org/package/2006/relationships"><Relationship Id="rId8" Type="http://schemas.openxmlformats.org/officeDocument/2006/relationships/diagramData" Target="../diagrams/data12.xml"/><Relationship Id="rId3" Type="http://schemas.openxmlformats.org/officeDocument/2006/relationships/diagramData" Target="../diagrams/data11.xml"/><Relationship Id="rId7" Type="http://schemas.microsoft.com/office/2007/relationships/diagramDrawing" Target="../diagrams/drawing11.xml"/><Relationship Id="rId12" Type="http://schemas.microsoft.com/office/2007/relationships/diagramDrawing" Target="../diagrams/drawing12.xml"/><Relationship Id="rId2" Type="http://schemas.openxmlformats.org/officeDocument/2006/relationships/notesSlide" Target="../notesSlides/notesSlide28.xml"/><Relationship Id="rId1" Type="http://schemas.openxmlformats.org/officeDocument/2006/relationships/slideLayout" Target="../slideLayouts/slideLayout5.xml"/><Relationship Id="rId6" Type="http://schemas.openxmlformats.org/officeDocument/2006/relationships/diagramColors" Target="../diagrams/colors11.xml"/><Relationship Id="rId11" Type="http://schemas.openxmlformats.org/officeDocument/2006/relationships/diagramColors" Target="../diagrams/colors12.xml"/><Relationship Id="rId5" Type="http://schemas.openxmlformats.org/officeDocument/2006/relationships/diagramQuickStyle" Target="../diagrams/quickStyle11.xml"/><Relationship Id="rId10" Type="http://schemas.openxmlformats.org/officeDocument/2006/relationships/diagramQuickStyle" Target="../diagrams/quickStyle12.xml"/><Relationship Id="rId4" Type="http://schemas.openxmlformats.org/officeDocument/2006/relationships/diagramLayout" Target="../diagrams/layout11.xml"/><Relationship Id="rId9" Type="http://schemas.openxmlformats.org/officeDocument/2006/relationships/diagramLayout" Target="../diagrams/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3" Type="http://schemas.openxmlformats.org/officeDocument/2006/relationships/image" Target="../media/image80.svg"/><Relationship Id="rId2" Type="http://schemas.openxmlformats.org/officeDocument/2006/relationships/image" Target="../media/image79.png"/><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8" Type="http://schemas.openxmlformats.org/officeDocument/2006/relationships/diagramData" Target="../diagrams/data14.xml"/><Relationship Id="rId13" Type="http://schemas.openxmlformats.org/officeDocument/2006/relationships/diagramData" Target="../diagrams/data15.xml"/><Relationship Id="rId18" Type="http://schemas.openxmlformats.org/officeDocument/2006/relationships/image" Target="../media/image84.png"/><Relationship Id="rId3" Type="http://schemas.openxmlformats.org/officeDocument/2006/relationships/diagramData" Target="../diagrams/data13.xml"/><Relationship Id="rId21" Type="http://schemas.openxmlformats.org/officeDocument/2006/relationships/image" Target="../media/image87.svg"/><Relationship Id="rId7" Type="http://schemas.microsoft.com/office/2007/relationships/diagramDrawing" Target="../diagrams/drawing13.xml"/><Relationship Id="rId12" Type="http://schemas.microsoft.com/office/2007/relationships/diagramDrawing" Target="../diagrams/drawing14.xml"/><Relationship Id="rId17" Type="http://schemas.microsoft.com/office/2007/relationships/diagramDrawing" Target="../diagrams/drawing15.xml"/><Relationship Id="rId2" Type="http://schemas.openxmlformats.org/officeDocument/2006/relationships/notesSlide" Target="../notesSlides/notesSlide30.xml"/><Relationship Id="rId16" Type="http://schemas.openxmlformats.org/officeDocument/2006/relationships/diagramColors" Target="../diagrams/colors15.xml"/><Relationship Id="rId20" Type="http://schemas.openxmlformats.org/officeDocument/2006/relationships/image" Target="../media/image86.png"/><Relationship Id="rId1" Type="http://schemas.openxmlformats.org/officeDocument/2006/relationships/slideLayout" Target="../slideLayouts/slideLayout5.xml"/><Relationship Id="rId6" Type="http://schemas.openxmlformats.org/officeDocument/2006/relationships/diagramColors" Target="../diagrams/colors13.xml"/><Relationship Id="rId11" Type="http://schemas.openxmlformats.org/officeDocument/2006/relationships/diagramColors" Target="../diagrams/colors14.xml"/><Relationship Id="rId5" Type="http://schemas.openxmlformats.org/officeDocument/2006/relationships/diagramQuickStyle" Target="../diagrams/quickStyle13.xml"/><Relationship Id="rId15" Type="http://schemas.openxmlformats.org/officeDocument/2006/relationships/diagramQuickStyle" Target="../diagrams/quickStyle15.xml"/><Relationship Id="rId23" Type="http://schemas.openxmlformats.org/officeDocument/2006/relationships/image" Target="../media/image89.svg"/><Relationship Id="rId10" Type="http://schemas.openxmlformats.org/officeDocument/2006/relationships/diagramQuickStyle" Target="../diagrams/quickStyle14.xml"/><Relationship Id="rId19" Type="http://schemas.openxmlformats.org/officeDocument/2006/relationships/image" Target="../media/image85.svg"/><Relationship Id="rId4" Type="http://schemas.openxmlformats.org/officeDocument/2006/relationships/diagramLayout" Target="../diagrams/layout13.xml"/><Relationship Id="rId9" Type="http://schemas.openxmlformats.org/officeDocument/2006/relationships/diagramLayout" Target="../diagrams/layout14.xml"/><Relationship Id="rId14" Type="http://schemas.openxmlformats.org/officeDocument/2006/relationships/diagramLayout" Target="../diagrams/layout15.xml"/><Relationship Id="rId22" Type="http://schemas.openxmlformats.org/officeDocument/2006/relationships/image" Target="../media/image88.png"/></Relationships>
</file>

<file path=ppt/slides/_rels/slide56.xml.rels><?xml version="1.0" encoding="UTF-8" standalone="yes"?>
<Relationships xmlns="http://schemas.openxmlformats.org/package/2006/relationships"><Relationship Id="rId8" Type="http://schemas.openxmlformats.org/officeDocument/2006/relationships/diagramLayout" Target="../diagrams/layout17.xml"/><Relationship Id="rId13" Type="http://schemas.openxmlformats.org/officeDocument/2006/relationships/image" Target="../media/image91.svg"/><Relationship Id="rId3" Type="http://schemas.openxmlformats.org/officeDocument/2006/relationships/diagramLayout" Target="../diagrams/layout16.xml"/><Relationship Id="rId7" Type="http://schemas.openxmlformats.org/officeDocument/2006/relationships/diagramData" Target="../diagrams/data17.xml"/><Relationship Id="rId12" Type="http://schemas.openxmlformats.org/officeDocument/2006/relationships/image" Target="../media/image90.png"/><Relationship Id="rId2" Type="http://schemas.openxmlformats.org/officeDocument/2006/relationships/diagramData" Target="../diagrams/data16.xml"/><Relationship Id="rId1" Type="http://schemas.openxmlformats.org/officeDocument/2006/relationships/slideLayout" Target="../slideLayouts/slideLayout70.xml"/><Relationship Id="rId6" Type="http://schemas.microsoft.com/office/2007/relationships/diagramDrawing" Target="../diagrams/drawing16.xml"/><Relationship Id="rId11" Type="http://schemas.microsoft.com/office/2007/relationships/diagramDrawing" Target="../diagrams/drawing17.xml"/><Relationship Id="rId5" Type="http://schemas.openxmlformats.org/officeDocument/2006/relationships/diagramColors" Target="../diagrams/colors16.xml"/><Relationship Id="rId10" Type="http://schemas.openxmlformats.org/officeDocument/2006/relationships/diagramColors" Target="../diagrams/colors17.xml"/><Relationship Id="rId4" Type="http://schemas.openxmlformats.org/officeDocument/2006/relationships/diagramQuickStyle" Target="../diagrams/quickStyle16.xml"/><Relationship Id="rId9" Type="http://schemas.openxmlformats.org/officeDocument/2006/relationships/diagramQuickStyle" Target="../diagrams/quickStyle1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7.xml"/></Relationships>
</file>

<file path=ppt/slides/_rels/slide60.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8/10/relationships/comments" Target="../comments/modernComment_7FFFED6E_63A45AD2.xml"/><Relationship Id="rId1" Type="http://schemas.openxmlformats.org/officeDocument/2006/relationships/slideLayout" Target="../slideLayouts/slideLayout5.xml"/><Relationship Id="rId4" Type="http://schemas.openxmlformats.org/officeDocument/2006/relationships/image" Target="../media/image92.emf"/></Relationships>
</file>

<file path=ppt/slides/_rels/slide61.xml.rels><?xml version="1.0" encoding="UTF-8" standalone="yes"?>
<Relationships xmlns="http://schemas.openxmlformats.org/package/2006/relationships"><Relationship Id="rId8" Type="http://schemas.openxmlformats.org/officeDocument/2006/relationships/image" Target="../media/image98.svg"/><Relationship Id="rId13" Type="http://schemas.openxmlformats.org/officeDocument/2006/relationships/image" Target="../media/image103.png"/><Relationship Id="rId3" Type="http://schemas.openxmlformats.org/officeDocument/2006/relationships/image" Target="../media/image93.png"/><Relationship Id="rId7" Type="http://schemas.openxmlformats.org/officeDocument/2006/relationships/image" Target="../media/image97.png"/><Relationship Id="rId12" Type="http://schemas.openxmlformats.org/officeDocument/2006/relationships/image" Target="../media/image102.svg"/><Relationship Id="rId2" Type="http://schemas.openxmlformats.org/officeDocument/2006/relationships/notesSlide" Target="../notesSlides/notesSlide33.xml"/><Relationship Id="rId1" Type="http://schemas.openxmlformats.org/officeDocument/2006/relationships/slideLayout" Target="../slideLayouts/slideLayout5.xml"/><Relationship Id="rId6" Type="http://schemas.openxmlformats.org/officeDocument/2006/relationships/image" Target="../media/image96.svg"/><Relationship Id="rId11" Type="http://schemas.openxmlformats.org/officeDocument/2006/relationships/image" Target="../media/image101.png"/><Relationship Id="rId5" Type="http://schemas.openxmlformats.org/officeDocument/2006/relationships/image" Target="../media/image95.png"/><Relationship Id="rId10" Type="http://schemas.openxmlformats.org/officeDocument/2006/relationships/image" Target="../media/image100.svg"/><Relationship Id="rId4" Type="http://schemas.openxmlformats.org/officeDocument/2006/relationships/image" Target="../media/image94.svg"/><Relationship Id="rId9" Type="http://schemas.openxmlformats.org/officeDocument/2006/relationships/image" Target="../media/image99.png"/><Relationship Id="rId14" Type="http://schemas.openxmlformats.org/officeDocument/2006/relationships/image" Target="../media/image104.svg"/></Relationships>
</file>

<file path=ppt/slides/_rels/slide62.xml.rels><?xml version="1.0" encoding="UTF-8" standalone="yes"?>
<Relationships xmlns="http://schemas.openxmlformats.org/package/2006/relationships"><Relationship Id="rId8" Type="http://schemas.openxmlformats.org/officeDocument/2006/relationships/image" Target="../media/image105.jpeg"/><Relationship Id="rId3" Type="http://schemas.openxmlformats.org/officeDocument/2006/relationships/diagramData" Target="../diagrams/data18.xml"/><Relationship Id="rId7" Type="http://schemas.microsoft.com/office/2007/relationships/diagramDrawing" Target="../diagrams/drawing18.xml"/><Relationship Id="rId2" Type="http://schemas.openxmlformats.org/officeDocument/2006/relationships/notesSlide" Target="../notesSlides/notesSlide34.xml"/><Relationship Id="rId1" Type="http://schemas.openxmlformats.org/officeDocument/2006/relationships/slideLayout" Target="../slideLayouts/slideLayout5.xml"/><Relationship Id="rId6" Type="http://schemas.openxmlformats.org/officeDocument/2006/relationships/diagramColors" Target="../diagrams/colors18.xml"/><Relationship Id="rId5" Type="http://schemas.openxmlformats.org/officeDocument/2006/relationships/diagramQuickStyle" Target="../diagrams/quickStyle18.xml"/><Relationship Id="rId4" Type="http://schemas.openxmlformats.org/officeDocument/2006/relationships/diagramLayout" Target="../diagrams/layout18.xml"/><Relationship Id="rId9" Type="http://schemas.openxmlformats.org/officeDocument/2006/relationships/image" Target="../media/image106.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openxmlformats.org/officeDocument/2006/relationships/image" Target="../media/image107.png"/><Relationship Id="rId1" Type="http://schemas.openxmlformats.org/officeDocument/2006/relationships/slideLayout" Target="../slideLayouts/slideLayout5.xml"/><Relationship Id="rId5" Type="http://schemas.openxmlformats.org/officeDocument/2006/relationships/image" Target="../media/image109.png"/><Relationship Id="rId4" Type="http://schemas.openxmlformats.org/officeDocument/2006/relationships/image" Target="../media/image108.emf"/></Relationships>
</file>

<file path=ppt/slides/_rels/slide65.xml.rels><?xml version="1.0" encoding="UTF-8" standalone="yes"?>
<Relationships xmlns="http://schemas.openxmlformats.org/package/2006/relationships"><Relationship Id="rId8" Type="http://schemas.openxmlformats.org/officeDocument/2006/relationships/diagramData" Target="../diagrams/data20.xml"/><Relationship Id="rId13" Type="http://schemas.openxmlformats.org/officeDocument/2006/relationships/diagramData" Target="../diagrams/data21.xml"/><Relationship Id="rId18" Type="http://schemas.openxmlformats.org/officeDocument/2006/relationships/diagramData" Target="../diagrams/data22.xml"/><Relationship Id="rId3" Type="http://schemas.openxmlformats.org/officeDocument/2006/relationships/diagramData" Target="../diagrams/data19.xml"/><Relationship Id="rId21" Type="http://schemas.openxmlformats.org/officeDocument/2006/relationships/diagramColors" Target="../diagrams/colors22.xml"/><Relationship Id="rId7" Type="http://schemas.microsoft.com/office/2007/relationships/diagramDrawing" Target="../diagrams/drawing19.xml"/><Relationship Id="rId12" Type="http://schemas.microsoft.com/office/2007/relationships/diagramDrawing" Target="../diagrams/drawing20.xml"/><Relationship Id="rId17" Type="http://schemas.microsoft.com/office/2007/relationships/diagramDrawing" Target="../diagrams/drawing21.xml"/><Relationship Id="rId2" Type="http://schemas.openxmlformats.org/officeDocument/2006/relationships/notesSlide" Target="../notesSlides/notesSlide35.xml"/><Relationship Id="rId16" Type="http://schemas.openxmlformats.org/officeDocument/2006/relationships/diagramColors" Target="../diagrams/colors21.xml"/><Relationship Id="rId20" Type="http://schemas.openxmlformats.org/officeDocument/2006/relationships/diagramQuickStyle" Target="../diagrams/quickStyle22.xml"/><Relationship Id="rId1" Type="http://schemas.openxmlformats.org/officeDocument/2006/relationships/slideLayout" Target="../slideLayouts/slideLayout5.xml"/><Relationship Id="rId6" Type="http://schemas.openxmlformats.org/officeDocument/2006/relationships/diagramColors" Target="../diagrams/colors19.xml"/><Relationship Id="rId11" Type="http://schemas.openxmlformats.org/officeDocument/2006/relationships/diagramColors" Target="../diagrams/colors20.xml"/><Relationship Id="rId5" Type="http://schemas.openxmlformats.org/officeDocument/2006/relationships/diagramQuickStyle" Target="../diagrams/quickStyle19.xml"/><Relationship Id="rId15" Type="http://schemas.openxmlformats.org/officeDocument/2006/relationships/diagramQuickStyle" Target="../diagrams/quickStyle21.xml"/><Relationship Id="rId23" Type="http://schemas.openxmlformats.org/officeDocument/2006/relationships/image" Target="../media/image124.png"/><Relationship Id="rId10" Type="http://schemas.openxmlformats.org/officeDocument/2006/relationships/diagramQuickStyle" Target="../diagrams/quickStyle20.xml"/><Relationship Id="rId19" Type="http://schemas.openxmlformats.org/officeDocument/2006/relationships/diagramLayout" Target="../diagrams/layout22.xml"/><Relationship Id="rId4" Type="http://schemas.openxmlformats.org/officeDocument/2006/relationships/diagramLayout" Target="../diagrams/layout19.xml"/><Relationship Id="rId9" Type="http://schemas.openxmlformats.org/officeDocument/2006/relationships/diagramLayout" Target="../diagrams/layout20.xml"/><Relationship Id="rId14" Type="http://schemas.openxmlformats.org/officeDocument/2006/relationships/diagramLayout" Target="../diagrams/layout21.xml"/><Relationship Id="rId22" Type="http://schemas.microsoft.com/office/2007/relationships/diagramDrawing" Target="../diagrams/drawing22.xml"/></Relationships>
</file>

<file path=ppt/slides/_rels/slide66.xml.rels><?xml version="1.0" encoding="UTF-8" standalone="yes"?>
<Relationships xmlns="http://schemas.openxmlformats.org/package/2006/relationships"><Relationship Id="rId8" Type="http://schemas.microsoft.com/office/2007/relationships/diagramDrawing" Target="../diagrams/drawing23.xml"/><Relationship Id="rId13" Type="http://schemas.microsoft.com/office/2007/relationships/diagramDrawing" Target="../diagrams/drawing24.xml"/><Relationship Id="rId18" Type="http://schemas.openxmlformats.org/officeDocument/2006/relationships/diagramColors" Target="../diagrams/colors25.xml"/><Relationship Id="rId3" Type="http://schemas.openxmlformats.org/officeDocument/2006/relationships/image" Target="../media/image125.png"/><Relationship Id="rId7" Type="http://schemas.openxmlformats.org/officeDocument/2006/relationships/diagramColors" Target="../diagrams/colors23.xml"/><Relationship Id="rId12" Type="http://schemas.openxmlformats.org/officeDocument/2006/relationships/diagramColors" Target="../diagrams/colors24.xml"/><Relationship Id="rId17" Type="http://schemas.openxmlformats.org/officeDocument/2006/relationships/diagramQuickStyle" Target="../diagrams/quickStyle25.xml"/><Relationship Id="rId2" Type="http://schemas.openxmlformats.org/officeDocument/2006/relationships/notesSlide" Target="../notesSlides/notesSlide36.xml"/><Relationship Id="rId16" Type="http://schemas.openxmlformats.org/officeDocument/2006/relationships/diagramLayout" Target="../diagrams/layout25.xml"/><Relationship Id="rId1" Type="http://schemas.openxmlformats.org/officeDocument/2006/relationships/slideLayout" Target="../slideLayouts/slideLayout5.xml"/><Relationship Id="rId6" Type="http://schemas.openxmlformats.org/officeDocument/2006/relationships/diagramQuickStyle" Target="../diagrams/quickStyle23.xml"/><Relationship Id="rId11" Type="http://schemas.openxmlformats.org/officeDocument/2006/relationships/diagramQuickStyle" Target="../diagrams/quickStyle24.xml"/><Relationship Id="rId5" Type="http://schemas.openxmlformats.org/officeDocument/2006/relationships/diagramLayout" Target="../diagrams/layout23.xml"/><Relationship Id="rId15" Type="http://schemas.openxmlformats.org/officeDocument/2006/relationships/diagramData" Target="../diagrams/data25.xml"/><Relationship Id="rId10" Type="http://schemas.openxmlformats.org/officeDocument/2006/relationships/diagramLayout" Target="../diagrams/layout24.xml"/><Relationship Id="rId19" Type="http://schemas.microsoft.com/office/2007/relationships/diagramDrawing" Target="../diagrams/drawing25.xml"/><Relationship Id="rId4" Type="http://schemas.openxmlformats.org/officeDocument/2006/relationships/diagramData" Target="../diagrams/data23.xml"/><Relationship Id="rId9" Type="http://schemas.openxmlformats.org/officeDocument/2006/relationships/diagramData" Target="../diagrams/data24.xml"/><Relationship Id="rId14" Type="http://schemas.openxmlformats.org/officeDocument/2006/relationships/image" Target="../media/image142.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8" Type="http://schemas.openxmlformats.org/officeDocument/2006/relationships/diagramData" Target="../diagrams/data27.xml"/><Relationship Id="rId3" Type="http://schemas.openxmlformats.org/officeDocument/2006/relationships/diagramData" Target="../diagrams/data26.xml"/><Relationship Id="rId7" Type="http://schemas.microsoft.com/office/2007/relationships/diagramDrawing" Target="../diagrams/drawing26.xml"/><Relationship Id="rId12" Type="http://schemas.microsoft.com/office/2007/relationships/diagramDrawing" Target="../diagrams/drawing27.xml"/><Relationship Id="rId2" Type="http://schemas.openxmlformats.org/officeDocument/2006/relationships/notesSlide" Target="../notesSlides/notesSlide38.xml"/><Relationship Id="rId1" Type="http://schemas.openxmlformats.org/officeDocument/2006/relationships/slideLayout" Target="../slideLayouts/slideLayout5.xml"/><Relationship Id="rId6" Type="http://schemas.openxmlformats.org/officeDocument/2006/relationships/diagramColors" Target="../diagrams/colors26.xml"/><Relationship Id="rId11" Type="http://schemas.openxmlformats.org/officeDocument/2006/relationships/diagramColors" Target="../diagrams/colors27.xml"/><Relationship Id="rId5" Type="http://schemas.openxmlformats.org/officeDocument/2006/relationships/diagramQuickStyle" Target="../diagrams/quickStyle26.xml"/><Relationship Id="rId10" Type="http://schemas.openxmlformats.org/officeDocument/2006/relationships/diagramQuickStyle" Target="../diagrams/quickStyle27.xml"/><Relationship Id="rId4" Type="http://schemas.openxmlformats.org/officeDocument/2006/relationships/diagramLayout" Target="../diagrams/layout26.xml"/><Relationship Id="rId9" Type="http://schemas.openxmlformats.org/officeDocument/2006/relationships/diagramLayout" Target="../diagrams/layout27.xml"/></Relationships>
</file>

<file path=ppt/slides/_rels/slide69.xml.rels><?xml version="1.0" encoding="UTF-8" standalone="yes"?>
<Relationships xmlns="http://schemas.openxmlformats.org/package/2006/relationships"><Relationship Id="rId8" Type="http://schemas.openxmlformats.org/officeDocument/2006/relationships/diagramLayout" Target="../diagrams/layout29.xml"/><Relationship Id="rId3" Type="http://schemas.openxmlformats.org/officeDocument/2006/relationships/diagramLayout" Target="../diagrams/layout28.xml"/><Relationship Id="rId7" Type="http://schemas.openxmlformats.org/officeDocument/2006/relationships/diagramData" Target="../diagrams/data29.xml"/><Relationship Id="rId2" Type="http://schemas.openxmlformats.org/officeDocument/2006/relationships/diagramData" Target="../diagrams/data28.xml"/><Relationship Id="rId1" Type="http://schemas.openxmlformats.org/officeDocument/2006/relationships/slideLayout" Target="../slideLayouts/slideLayout5.xml"/><Relationship Id="rId6" Type="http://schemas.microsoft.com/office/2007/relationships/diagramDrawing" Target="../diagrams/drawing28.xml"/><Relationship Id="rId11" Type="http://schemas.microsoft.com/office/2007/relationships/diagramDrawing" Target="../diagrams/drawing29.xml"/><Relationship Id="rId5" Type="http://schemas.openxmlformats.org/officeDocument/2006/relationships/diagramColors" Target="../diagrams/colors28.xml"/><Relationship Id="rId10" Type="http://schemas.openxmlformats.org/officeDocument/2006/relationships/diagramColors" Target="../diagrams/colors29.xml"/><Relationship Id="rId4" Type="http://schemas.openxmlformats.org/officeDocument/2006/relationships/diagramQuickStyle" Target="../diagrams/quickStyle28.xml"/><Relationship Id="rId9" Type="http://schemas.openxmlformats.org/officeDocument/2006/relationships/diagramQuickStyle" Target="../diagrams/quickStyle29.xml"/></Relationships>
</file>

<file path=ppt/slides/_rels/slide70.xml.rels><?xml version="1.0" encoding="UTF-8" standalone="yes"?>
<Relationships xmlns="http://schemas.openxmlformats.org/package/2006/relationships"><Relationship Id="rId8" Type="http://schemas.openxmlformats.org/officeDocument/2006/relationships/diagramLayout" Target="../diagrams/layout31.xml"/><Relationship Id="rId3" Type="http://schemas.openxmlformats.org/officeDocument/2006/relationships/diagramLayout" Target="../diagrams/layout30.xml"/><Relationship Id="rId7" Type="http://schemas.openxmlformats.org/officeDocument/2006/relationships/diagramData" Target="../diagrams/data31.xml"/><Relationship Id="rId2" Type="http://schemas.openxmlformats.org/officeDocument/2006/relationships/diagramData" Target="../diagrams/data30.xml"/><Relationship Id="rId1" Type="http://schemas.openxmlformats.org/officeDocument/2006/relationships/slideLayout" Target="../slideLayouts/slideLayout70.xml"/><Relationship Id="rId6" Type="http://schemas.microsoft.com/office/2007/relationships/diagramDrawing" Target="../diagrams/drawing30.xml"/><Relationship Id="rId11" Type="http://schemas.microsoft.com/office/2007/relationships/diagramDrawing" Target="../diagrams/drawing31.xml"/><Relationship Id="rId5" Type="http://schemas.openxmlformats.org/officeDocument/2006/relationships/diagramColors" Target="../diagrams/colors30.xml"/><Relationship Id="rId10" Type="http://schemas.openxmlformats.org/officeDocument/2006/relationships/diagramColors" Target="../diagrams/colors31.xml"/><Relationship Id="rId4" Type="http://schemas.openxmlformats.org/officeDocument/2006/relationships/diagramQuickStyle" Target="../diagrams/quickStyle30.xml"/><Relationship Id="rId9" Type="http://schemas.openxmlformats.org/officeDocument/2006/relationships/diagramQuickStyle" Target="../diagrams/quickStyle3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72.xml.rels><?xml version="1.0" encoding="UTF-8" standalone="yes"?>
<Relationships xmlns="http://schemas.openxmlformats.org/package/2006/relationships"><Relationship Id="rId3" Type="http://schemas.openxmlformats.org/officeDocument/2006/relationships/diagramLayout" Target="../diagrams/layout32.xml"/><Relationship Id="rId2" Type="http://schemas.openxmlformats.org/officeDocument/2006/relationships/diagramData" Target="../diagrams/data32.xml"/><Relationship Id="rId1" Type="http://schemas.openxmlformats.org/officeDocument/2006/relationships/slideLayout" Target="../slideLayouts/slideLayout70.xml"/><Relationship Id="rId6" Type="http://schemas.microsoft.com/office/2007/relationships/diagramDrawing" Target="../diagrams/drawing32.xml"/><Relationship Id="rId5" Type="http://schemas.openxmlformats.org/officeDocument/2006/relationships/diagramColors" Target="../diagrams/colors32.xml"/><Relationship Id="rId4" Type="http://schemas.openxmlformats.org/officeDocument/2006/relationships/diagramQuickStyle" Target="../diagrams/quickStyle32.xml"/></Relationships>
</file>

<file path=ppt/slides/_rels/slide73.xml.rels><?xml version="1.0" encoding="UTF-8" standalone="yes"?>
<Relationships xmlns="http://schemas.openxmlformats.org/package/2006/relationships"><Relationship Id="rId8" Type="http://schemas.openxmlformats.org/officeDocument/2006/relationships/image" Target="../media/image161.png"/><Relationship Id="rId3" Type="http://schemas.openxmlformats.org/officeDocument/2006/relationships/image" Target="../media/image158.png"/><Relationship Id="rId7" Type="http://schemas.microsoft.com/office/2007/relationships/hdphoto" Target="../media/hdphoto2.wdp"/><Relationship Id="rId2" Type="http://schemas.openxmlformats.org/officeDocument/2006/relationships/image" Target="../media/image157.png"/><Relationship Id="rId1" Type="http://schemas.openxmlformats.org/officeDocument/2006/relationships/slideLayout" Target="../slideLayouts/slideLayout70.xml"/><Relationship Id="rId6" Type="http://schemas.openxmlformats.org/officeDocument/2006/relationships/image" Target="../media/image160.png"/><Relationship Id="rId5" Type="http://schemas.microsoft.com/office/2007/relationships/hdphoto" Target="../media/hdphoto1.wdp"/><Relationship Id="rId4" Type="http://schemas.openxmlformats.org/officeDocument/2006/relationships/image" Target="../media/image159.png"/></Relationships>
</file>

<file path=ppt/slides/_rels/slide74.xml.rels><?xml version="1.0" encoding="UTF-8" standalone="yes"?>
<Relationships xmlns="http://schemas.openxmlformats.org/package/2006/relationships"><Relationship Id="rId3" Type="http://schemas.openxmlformats.org/officeDocument/2006/relationships/diagramLayout" Target="../diagrams/layout33.xml"/><Relationship Id="rId2" Type="http://schemas.openxmlformats.org/officeDocument/2006/relationships/diagramData" Target="../diagrams/data33.xml"/><Relationship Id="rId1" Type="http://schemas.openxmlformats.org/officeDocument/2006/relationships/slideLayout" Target="../slideLayouts/slideLayout70.xml"/><Relationship Id="rId6" Type="http://schemas.microsoft.com/office/2007/relationships/diagramDrawing" Target="../diagrams/drawing33.xml"/><Relationship Id="rId5" Type="http://schemas.openxmlformats.org/officeDocument/2006/relationships/diagramColors" Target="../diagrams/colors33.xml"/><Relationship Id="rId4" Type="http://schemas.openxmlformats.org/officeDocument/2006/relationships/diagramQuickStyle" Target="../diagrams/quickStyle3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Freeform 100"/>
          <p:cNvSpPr/>
          <p:nvPr/>
        </p:nvSpPr>
        <p:spPr>
          <a:xfrm>
            <a:off x="0" y="0"/>
            <a:ext cx="12192000" cy="6858000"/>
          </a:xfrm>
          <a:custGeom>
            <a:avLst/>
            <a:gdLst/>
            <a:ahLst/>
            <a:cxnLst/>
            <a:rect l="0" t="0" r="0" b="0"/>
            <a:pathLst>
              <a:path w="12192000" h="6858000">
                <a:moveTo>
                  <a:pt x="0" y="6858000"/>
                </a:moveTo>
                <a:lnTo>
                  <a:pt x="12192000" y="6858000"/>
                </a:lnTo>
                <a:lnTo>
                  <a:pt x="12192000" y="0"/>
                </a:lnTo>
                <a:lnTo>
                  <a:pt x="0" y="0"/>
                </a:lnTo>
                <a:lnTo>
                  <a:pt x="0" y="6858000"/>
                </a:lnTo>
                <a:close/>
              </a:path>
            </a:pathLst>
          </a:custGeom>
          <a:solidFill>
            <a:srgbClr val="2E2E38">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01" name="Freeform 101"/>
          <p:cNvSpPr/>
          <p:nvPr/>
        </p:nvSpPr>
        <p:spPr>
          <a:xfrm>
            <a:off x="11280647" y="6355081"/>
            <a:ext cx="304800" cy="112776"/>
          </a:xfrm>
          <a:custGeom>
            <a:avLst/>
            <a:gdLst/>
            <a:ahLst/>
            <a:cxnLst/>
            <a:rect l="0" t="0" r="0" b="0"/>
            <a:pathLst>
              <a:path w="304800" h="112776">
                <a:moveTo>
                  <a:pt x="304800" y="0"/>
                </a:moveTo>
                <a:lnTo>
                  <a:pt x="0" y="112776"/>
                </a:lnTo>
                <a:lnTo>
                  <a:pt x="304800" y="58000"/>
                </a:lnTo>
                <a:lnTo>
                  <a:pt x="304800" y="0"/>
                </a:lnTo>
                <a:close/>
                <a:moveTo>
                  <a:pt x="-10777728" y="502919"/>
                </a:moveTo>
              </a:path>
            </a:pathLst>
          </a:custGeom>
          <a:solidFill>
            <a:srgbClr val="FFE600">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02" name="Freeform 102"/>
          <p:cNvSpPr/>
          <p:nvPr/>
        </p:nvSpPr>
        <p:spPr>
          <a:xfrm>
            <a:off x="11283695" y="6513576"/>
            <a:ext cx="121921" cy="155448"/>
          </a:xfrm>
          <a:custGeom>
            <a:avLst/>
            <a:gdLst/>
            <a:ahLst/>
            <a:cxnLst/>
            <a:rect l="0" t="0" r="0" b="0"/>
            <a:pathLst>
              <a:path w="121921" h="155448">
                <a:moveTo>
                  <a:pt x="46863" y="92952"/>
                </a:moveTo>
                <a:lnTo>
                  <a:pt x="101600" y="92952"/>
                </a:lnTo>
                <a:lnTo>
                  <a:pt x="101600" y="60897"/>
                </a:lnTo>
                <a:lnTo>
                  <a:pt x="46863" y="60897"/>
                </a:lnTo>
                <a:lnTo>
                  <a:pt x="46863" y="35256"/>
                </a:lnTo>
                <a:lnTo>
                  <a:pt x="106299" y="35256"/>
                </a:lnTo>
                <a:lnTo>
                  <a:pt x="85980" y="0"/>
                </a:lnTo>
                <a:lnTo>
                  <a:pt x="0" y="0"/>
                </a:lnTo>
                <a:lnTo>
                  <a:pt x="0" y="155448"/>
                </a:lnTo>
                <a:lnTo>
                  <a:pt x="121921" y="155448"/>
                </a:lnTo>
                <a:lnTo>
                  <a:pt x="121921" y="118593"/>
                </a:lnTo>
                <a:lnTo>
                  <a:pt x="46863" y="118593"/>
                </a:lnTo>
                <a:lnTo>
                  <a:pt x="46863" y="92952"/>
                </a:lnTo>
                <a:close/>
                <a:moveTo>
                  <a:pt x="-11032223" y="344424"/>
                </a:moveTo>
              </a:path>
            </a:pathLst>
          </a:custGeom>
          <a:solidFill>
            <a:srgbClr val="FFFFFF">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03" name="Freeform 103"/>
          <p:cNvSpPr/>
          <p:nvPr/>
        </p:nvSpPr>
        <p:spPr>
          <a:xfrm>
            <a:off x="11387328" y="6513576"/>
            <a:ext cx="152400" cy="155448"/>
          </a:xfrm>
          <a:custGeom>
            <a:avLst/>
            <a:gdLst/>
            <a:ahLst/>
            <a:cxnLst/>
            <a:rect l="0" t="0" r="0" b="0"/>
            <a:pathLst>
              <a:path w="152400" h="155448">
                <a:moveTo>
                  <a:pt x="101600" y="0"/>
                </a:moveTo>
                <a:lnTo>
                  <a:pt x="76200" y="51283"/>
                </a:lnTo>
                <a:lnTo>
                  <a:pt x="50800" y="0"/>
                </a:lnTo>
                <a:lnTo>
                  <a:pt x="0" y="0"/>
                </a:lnTo>
                <a:lnTo>
                  <a:pt x="52324" y="92952"/>
                </a:lnTo>
                <a:lnTo>
                  <a:pt x="52324" y="155448"/>
                </a:lnTo>
                <a:lnTo>
                  <a:pt x="98425" y="155448"/>
                </a:lnTo>
                <a:lnTo>
                  <a:pt x="98425" y="92952"/>
                </a:lnTo>
                <a:lnTo>
                  <a:pt x="152400" y="0"/>
                </a:lnTo>
                <a:lnTo>
                  <a:pt x="101600" y="0"/>
                </a:lnTo>
                <a:close/>
                <a:moveTo>
                  <a:pt x="-11042904" y="344424"/>
                </a:moveTo>
              </a:path>
            </a:pathLst>
          </a:custGeom>
          <a:solidFill>
            <a:srgbClr val="FFFFFF">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pic>
        <p:nvPicPr>
          <p:cNvPr id="104" name="Picture 10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a:xfrm rot="10800000" flipV="1">
            <a:off x="3048" y="0"/>
            <a:ext cx="12195047" cy="6858000"/>
          </a:xfrm>
          <a:prstGeom prst="rect">
            <a:avLst/>
          </a:prstGeom>
          <a:noFill/>
        </p:spPr>
      </p:pic>
      <p:sp>
        <p:nvSpPr>
          <p:cNvPr id="105" name="Freeform 105"/>
          <p:cNvSpPr/>
          <p:nvPr/>
        </p:nvSpPr>
        <p:spPr>
          <a:xfrm>
            <a:off x="3047" y="0"/>
            <a:ext cx="12195046" cy="6858000"/>
          </a:xfrm>
          <a:custGeom>
            <a:avLst/>
            <a:gdLst/>
            <a:ahLst/>
            <a:cxnLst/>
            <a:rect l="0" t="0" r="0" b="0"/>
            <a:pathLst>
              <a:path w="12198096" h="6857999">
                <a:moveTo>
                  <a:pt x="0" y="6857999"/>
                </a:moveTo>
                <a:lnTo>
                  <a:pt x="12198096" y="6857999"/>
                </a:lnTo>
                <a:lnTo>
                  <a:pt x="12198096" y="0"/>
                </a:lnTo>
                <a:lnTo>
                  <a:pt x="0" y="0"/>
                </a:lnTo>
                <a:lnTo>
                  <a:pt x="0" y="6857999"/>
                </a:lnTo>
                <a:close/>
              </a:path>
            </a:pathLst>
          </a:custGeom>
          <a:solidFill>
            <a:srgbClr val="2E2E38">
              <a:alpha val="47058"/>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06" name="Freeform 106"/>
          <p:cNvSpPr/>
          <p:nvPr/>
        </p:nvSpPr>
        <p:spPr>
          <a:xfrm>
            <a:off x="609822" y="4672388"/>
            <a:ext cx="1132461" cy="413654"/>
          </a:xfrm>
          <a:custGeom>
            <a:avLst/>
            <a:gdLst/>
            <a:ahLst/>
            <a:cxnLst/>
            <a:rect l="0" t="0" r="0" b="0"/>
            <a:pathLst>
              <a:path w="7105778" h="2590800">
                <a:moveTo>
                  <a:pt x="7105778" y="0"/>
                </a:moveTo>
                <a:lnTo>
                  <a:pt x="0" y="2590800"/>
                </a:lnTo>
                <a:lnTo>
                  <a:pt x="7105778" y="1336548"/>
                </a:lnTo>
                <a:close/>
                <a:moveTo>
                  <a:pt x="10384919" y="10386314"/>
                </a:moveTo>
              </a:path>
            </a:pathLst>
          </a:custGeom>
          <a:solidFill>
            <a:srgbClr val="FEE600">
              <a:alpha val="100000"/>
            </a:srgbClr>
          </a:solidFill>
          <a:ln w="2024">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pic>
        <p:nvPicPr>
          <p:cNvPr id="107" name="Picture 107"/>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a:xfrm>
            <a:off x="609317" y="5257993"/>
            <a:ext cx="1413942" cy="1072085"/>
          </a:xfrm>
          <a:prstGeom prst="rect">
            <a:avLst/>
          </a:prstGeom>
          <a:noFill/>
        </p:spPr>
      </p:pic>
      <p:sp>
        <p:nvSpPr>
          <p:cNvPr id="108" name="Freeform 108"/>
          <p:cNvSpPr/>
          <p:nvPr/>
        </p:nvSpPr>
        <p:spPr>
          <a:xfrm>
            <a:off x="589191" y="2561593"/>
            <a:ext cx="224193" cy="762000"/>
          </a:xfrm>
          <a:custGeom>
            <a:avLst/>
            <a:gdLst/>
            <a:ahLst/>
            <a:cxnLst/>
            <a:rect l="0" t="0" r="0" b="0"/>
            <a:pathLst>
              <a:path w="224193" h="762000">
                <a:moveTo>
                  <a:pt x="0" y="762000"/>
                </a:moveTo>
                <a:lnTo>
                  <a:pt x="224193" y="762000"/>
                </a:lnTo>
                <a:lnTo>
                  <a:pt x="224193" y="0"/>
                </a:lnTo>
                <a:lnTo>
                  <a:pt x="0" y="0"/>
                </a:lnTo>
                <a:lnTo>
                  <a:pt x="0" y="762000"/>
                </a:lnTo>
                <a:close/>
              </a:path>
            </a:pathLst>
          </a:custGeom>
          <a:solidFill>
            <a:srgbClr val="FFE600">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09" name="Freeform 109"/>
          <p:cNvSpPr/>
          <p:nvPr/>
        </p:nvSpPr>
        <p:spPr>
          <a:xfrm>
            <a:off x="813396" y="2554352"/>
            <a:ext cx="10621264" cy="762000"/>
          </a:xfrm>
          <a:custGeom>
            <a:avLst/>
            <a:gdLst/>
            <a:ahLst/>
            <a:cxnLst/>
            <a:rect l="0" t="0" r="0" b="0"/>
            <a:pathLst>
              <a:path w="10621264" h="762000">
                <a:moveTo>
                  <a:pt x="0" y="762000"/>
                </a:moveTo>
                <a:lnTo>
                  <a:pt x="10621264" y="762000"/>
                </a:lnTo>
                <a:lnTo>
                  <a:pt x="10621264" y="0"/>
                </a:lnTo>
                <a:lnTo>
                  <a:pt x="0" y="0"/>
                </a:lnTo>
                <a:lnTo>
                  <a:pt x="0" y="762000"/>
                </a:lnTo>
                <a:close/>
              </a:path>
            </a:pathLst>
          </a:custGeom>
          <a:solidFill>
            <a:srgbClr val="000000">
              <a:alpha val="50195"/>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10" name="Freeform 110"/>
          <p:cNvSpPr/>
          <p:nvPr/>
        </p:nvSpPr>
        <p:spPr>
          <a:xfrm>
            <a:off x="589191" y="3316352"/>
            <a:ext cx="224193" cy="396240"/>
          </a:xfrm>
          <a:custGeom>
            <a:avLst/>
            <a:gdLst/>
            <a:ahLst/>
            <a:cxnLst/>
            <a:rect l="0" t="0" r="0" b="0"/>
            <a:pathLst>
              <a:path w="224193" h="396240">
                <a:moveTo>
                  <a:pt x="0" y="396240"/>
                </a:moveTo>
                <a:lnTo>
                  <a:pt x="224193" y="396240"/>
                </a:lnTo>
                <a:lnTo>
                  <a:pt x="224193" y="0"/>
                </a:lnTo>
                <a:lnTo>
                  <a:pt x="0" y="0"/>
                </a:lnTo>
                <a:lnTo>
                  <a:pt x="0" y="396240"/>
                </a:lnTo>
                <a:close/>
              </a:path>
            </a:pathLst>
          </a:custGeom>
          <a:solidFill>
            <a:srgbClr val="A5A5B5">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11" name="Freeform 111"/>
          <p:cNvSpPr/>
          <p:nvPr/>
        </p:nvSpPr>
        <p:spPr>
          <a:xfrm>
            <a:off x="813396" y="3316352"/>
            <a:ext cx="10621264" cy="396240"/>
          </a:xfrm>
          <a:custGeom>
            <a:avLst/>
            <a:gdLst/>
            <a:ahLst/>
            <a:cxnLst/>
            <a:rect l="0" t="0" r="0" b="0"/>
            <a:pathLst>
              <a:path w="10621264" h="396240">
                <a:moveTo>
                  <a:pt x="0" y="396240"/>
                </a:moveTo>
                <a:lnTo>
                  <a:pt x="10621264" y="396240"/>
                </a:lnTo>
                <a:lnTo>
                  <a:pt x="10621264" y="0"/>
                </a:lnTo>
                <a:lnTo>
                  <a:pt x="0" y="0"/>
                </a:lnTo>
                <a:lnTo>
                  <a:pt x="0" y="396240"/>
                </a:lnTo>
                <a:close/>
              </a:path>
            </a:pathLst>
          </a:custGeom>
          <a:solidFill>
            <a:srgbClr val="000000">
              <a:alpha val="2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a:ea typeface="+mn-ea"/>
              <a:cs typeface="+mn-cs"/>
            </a:endParaRPr>
          </a:p>
        </p:txBody>
      </p:sp>
      <p:sp>
        <p:nvSpPr>
          <p:cNvPr id="112" name="Rectangle 112"/>
          <p:cNvSpPr/>
          <p:nvPr/>
        </p:nvSpPr>
        <p:spPr>
          <a:xfrm>
            <a:off x="996061" y="2615312"/>
            <a:ext cx="6858000" cy="640080"/>
          </a:xfrm>
          <a:prstGeom prst="rect">
            <a:avLst/>
          </a:prstGeom>
        </p:spPr>
        <p:txBody>
          <a:bodyPr wrap="none" lIns="91440" tIns="45720" rIns="91440" bIns="45720" anchor="ctr" anchorCtr="0">
            <a:no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EYInterstate-LightBold"/>
              </a:rPr>
              <a:t>RTR- R2R Training Academy</a:t>
            </a:r>
          </a:p>
        </p:txBody>
      </p:sp>
      <p:sp>
        <p:nvSpPr>
          <p:cNvPr id="114" name="Rectangle 114"/>
          <p:cNvSpPr/>
          <p:nvPr/>
        </p:nvSpPr>
        <p:spPr>
          <a:xfrm>
            <a:off x="996061" y="3354452"/>
            <a:ext cx="2743200" cy="320040"/>
          </a:xfrm>
          <a:prstGeom prst="rect">
            <a:avLst/>
          </a:prstGeom>
        </p:spPr>
        <p:txBody>
          <a:bodyPr wrap="none" lIns="91440" tIns="45720" rIns="91440" bIns="45720" anchor="ctr" anchorCtr="0">
            <a:noAutofit/>
          </a:bodyPr>
          <a:lstStyle/>
          <a:p>
            <a:pPr lvl="0">
              <a:defRPr/>
            </a:pPr>
            <a:r>
              <a:rPr lang="en-US" sz="2000" b="1" kern="0">
                <a:solidFill>
                  <a:srgbClr val="FFFFFF"/>
                </a:solidFill>
                <a:effectLst>
                  <a:outerShdw blurRad="38100" dist="38100" dir="2700000" algn="tl">
                    <a:srgbClr val="000000">
                      <a:alpha val="43137"/>
                    </a:srgbClr>
                  </a:outerShdw>
                </a:effectLst>
                <a:latin typeface="EYInterstate-LightBold"/>
              </a:rPr>
              <a:t>Leading Practices and Enablers – October 2025</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D0019D-2EE1-A7CE-CF69-C6E450D3C325}"/>
              </a:ext>
            </a:extLst>
          </p:cNvPr>
          <p:cNvSpPr>
            <a:spLocks noGrp="1"/>
          </p:cNvSpPr>
          <p:nvPr>
            <p:ph type="title"/>
          </p:nvPr>
        </p:nvSpPr>
        <p:spPr>
          <a:xfrm>
            <a:off x="3829737" y="299094"/>
            <a:ext cx="6400800" cy="589479"/>
          </a:xfrm>
        </p:spPr>
        <p:txBody>
          <a:bodyPr/>
          <a:lstStyle/>
          <a:p>
            <a:r>
              <a:rPr lang="en-IN">
                <a:effectLst>
                  <a:outerShdw blurRad="38100" dist="38100" dir="2700000" algn="tl">
                    <a:srgbClr val="000000">
                      <a:alpha val="43137"/>
                    </a:srgbClr>
                  </a:outerShdw>
                </a:effectLst>
              </a:rPr>
              <a:t>Tower 2</a:t>
            </a:r>
            <a:br>
              <a:rPr lang="en-IN">
                <a:effectLst>
                  <a:outerShdw blurRad="38100" dist="38100" dir="2700000" algn="tl">
                    <a:srgbClr val="000000">
                      <a:alpha val="43137"/>
                    </a:srgbClr>
                  </a:outerShdw>
                </a:effectLst>
              </a:rPr>
            </a:br>
            <a:endParaRPr lang="en-IN">
              <a:effectLst>
                <a:outerShdw blurRad="38100" dist="38100" dir="2700000" algn="tl">
                  <a:srgbClr val="000000">
                    <a:alpha val="43137"/>
                  </a:srgbClr>
                </a:outerShdw>
              </a:effectLst>
            </a:endParaRPr>
          </a:p>
        </p:txBody>
      </p:sp>
      <p:pic>
        <p:nvPicPr>
          <p:cNvPr id="5" name="Picture 4">
            <a:extLst>
              <a:ext uri="{FF2B5EF4-FFF2-40B4-BE49-F238E27FC236}">
                <a16:creationId xmlns:a16="http://schemas.microsoft.com/office/drawing/2014/main" id="{79F17BB5-AB60-2061-302A-8ACD6A3DD598}"/>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52603" r="12715"/>
          <a:stretch/>
        </p:blipFill>
        <p:spPr>
          <a:xfrm flipH="1">
            <a:off x="-1" y="0"/>
            <a:ext cx="3566160" cy="6858000"/>
          </a:xfrm>
          <a:prstGeom prst="rect">
            <a:avLst/>
          </a:prstGeom>
        </p:spPr>
      </p:pic>
      <p:sp>
        <p:nvSpPr>
          <p:cNvPr id="16" name="Oval 15">
            <a:extLst>
              <a:ext uri="{FF2B5EF4-FFF2-40B4-BE49-F238E27FC236}">
                <a16:creationId xmlns:a16="http://schemas.microsoft.com/office/drawing/2014/main" id="{6FF64433-65B8-02F6-FCE3-0789E830020F}"/>
              </a:ext>
            </a:extLst>
          </p:cNvPr>
          <p:cNvSpPr/>
          <p:nvPr/>
        </p:nvSpPr>
        <p:spPr>
          <a:xfrm>
            <a:off x="4108629" y="1420680"/>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kumimoji="0" lang="en-US"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1</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9" name="TextBox 28">
            <a:extLst>
              <a:ext uri="{FF2B5EF4-FFF2-40B4-BE49-F238E27FC236}">
                <a16:creationId xmlns:a16="http://schemas.microsoft.com/office/drawing/2014/main" id="{CE1BC785-B637-7CC2-2AA5-9D059FDC0108}"/>
              </a:ext>
            </a:extLst>
          </p:cNvPr>
          <p:cNvSpPr txBox="1"/>
          <p:nvPr/>
        </p:nvSpPr>
        <p:spPr>
          <a:xfrm>
            <a:off x="4630177" y="4443059"/>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Order Creation</a:t>
            </a:r>
          </a:p>
        </p:txBody>
      </p:sp>
      <p:sp>
        <p:nvSpPr>
          <p:cNvPr id="4" name="TextBox 3">
            <a:extLst>
              <a:ext uri="{FF2B5EF4-FFF2-40B4-BE49-F238E27FC236}">
                <a16:creationId xmlns:a16="http://schemas.microsoft.com/office/drawing/2014/main" id="{D8AFCF40-11BF-81EA-EA35-9B3186856404}"/>
              </a:ext>
            </a:extLst>
          </p:cNvPr>
          <p:cNvSpPr txBox="1"/>
          <p:nvPr/>
        </p:nvSpPr>
        <p:spPr>
          <a:xfrm>
            <a:off x="4630177" y="3829600"/>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Intercompany Accounting</a:t>
            </a:r>
          </a:p>
        </p:txBody>
      </p:sp>
      <p:sp>
        <p:nvSpPr>
          <p:cNvPr id="6" name="TextBox 5">
            <a:extLst>
              <a:ext uri="{FF2B5EF4-FFF2-40B4-BE49-F238E27FC236}">
                <a16:creationId xmlns:a16="http://schemas.microsoft.com/office/drawing/2014/main" id="{6E3D4084-F214-0F29-B597-F4DE3B6D4357}"/>
              </a:ext>
            </a:extLst>
          </p:cNvPr>
          <p:cNvSpPr txBox="1"/>
          <p:nvPr/>
        </p:nvSpPr>
        <p:spPr>
          <a:xfrm>
            <a:off x="4630177" y="3216141"/>
            <a:ext cx="5715000" cy="411480"/>
          </a:xfrm>
          <a:prstGeom prst="rect">
            <a:avLst/>
          </a:prstGeom>
          <a:noFill/>
        </p:spPr>
        <p:txBody>
          <a:bodyPr wrap="square" anchor="ctr" anchorCtr="0">
            <a:noAutofit/>
          </a:bodyPr>
          <a:lstStyle/>
          <a:p>
            <a:pPr lvl="0" defTabSz="912572">
              <a:defRPr/>
            </a:pPr>
            <a:r>
              <a:rPr lang="en-IN" sz="1600" b="1">
                <a:solidFill>
                  <a:prstClr val="white"/>
                </a:solidFill>
                <a:latin typeface="EYInterstate Light" panose="02000506000000020004" pitchFamily="2" charset="0"/>
              </a:rPr>
              <a:t>Fixed Assets Accounting</a:t>
            </a:r>
          </a:p>
        </p:txBody>
      </p:sp>
      <p:sp>
        <p:nvSpPr>
          <p:cNvPr id="7" name="TextBox 6">
            <a:extLst>
              <a:ext uri="{FF2B5EF4-FFF2-40B4-BE49-F238E27FC236}">
                <a16:creationId xmlns:a16="http://schemas.microsoft.com/office/drawing/2014/main" id="{CE03A788-C973-5296-F0F4-BDFA007D8CB4}"/>
              </a:ext>
            </a:extLst>
          </p:cNvPr>
          <p:cNvSpPr txBox="1"/>
          <p:nvPr/>
        </p:nvSpPr>
        <p:spPr>
          <a:xfrm>
            <a:off x="4630177" y="2602682"/>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General Accounting</a:t>
            </a:r>
          </a:p>
        </p:txBody>
      </p:sp>
      <p:sp>
        <p:nvSpPr>
          <p:cNvPr id="9" name="TextBox 8">
            <a:extLst>
              <a:ext uri="{FF2B5EF4-FFF2-40B4-BE49-F238E27FC236}">
                <a16:creationId xmlns:a16="http://schemas.microsoft.com/office/drawing/2014/main" id="{F5C1F754-5D0A-1601-271F-2AE81CDEE9AA}"/>
              </a:ext>
            </a:extLst>
          </p:cNvPr>
          <p:cNvSpPr txBox="1"/>
          <p:nvPr/>
        </p:nvSpPr>
        <p:spPr>
          <a:xfrm>
            <a:off x="4630177" y="1989223"/>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Close Preparation</a:t>
            </a:r>
          </a:p>
        </p:txBody>
      </p:sp>
      <p:sp>
        <p:nvSpPr>
          <p:cNvPr id="12" name="TextBox 11">
            <a:extLst>
              <a:ext uri="{FF2B5EF4-FFF2-40B4-BE49-F238E27FC236}">
                <a16:creationId xmlns:a16="http://schemas.microsoft.com/office/drawing/2014/main" id="{6854DB35-4552-4C7D-34D6-77C989F36646}"/>
              </a:ext>
            </a:extLst>
          </p:cNvPr>
          <p:cNvSpPr txBox="1"/>
          <p:nvPr/>
        </p:nvSpPr>
        <p:spPr>
          <a:xfrm>
            <a:off x="4630177" y="1375764"/>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Master Data &amp;  Governance</a:t>
            </a:r>
          </a:p>
        </p:txBody>
      </p:sp>
      <p:sp>
        <p:nvSpPr>
          <p:cNvPr id="13" name="Oval 12">
            <a:extLst>
              <a:ext uri="{FF2B5EF4-FFF2-40B4-BE49-F238E27FC236}">
                <a16:creationId xmlns:a16="http://schemas.microsoft.com/office/drawing/2014/main" id="{844596E9-F5DE-A9D7-74DD-43CD35644089}"/>
              </a:ext>
            </a:extLst>
          </p:cNvPr>
          <p:cNvSpPr/>
          <p:nvPr/>
        </p:nvSpPr>
        <p:spPr>
          <a:xfrm>
            <a:off x="4108629" y="2030661"/>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2</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14" name="Oval 13">
            <a:extLst>
              <a:ext uri="{FF2B5EF4-FFF2-40B4-BE49-F238E27FC236}">
                <a16:creationId xmlns:a16="http://schemas.microsoft.com/office/drawing/2014/main" id="{7CC51566-89E6-9A8D-0496-DD8931C8563D}"/>
              </a:ext>
            </a:extLst>
          </p:cNvPr>
          <p:cNvSpPr/>
          <p:nvPr/>
        </p:nvSpPr>
        <p:spPr>
          <a:xfrm>
            <a:off x="4108629" y="2640642"/>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3</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15" name="Oval 14">
            <a:extLst>
              <a:ext uri="{FF2B5EF4-FFF2-40B4-BE49-F238E27FC236}">
                <a16:creationId xmlns:a16="http://schemas.microsoft.com/office/drawing/2014/main" id="{C3829195-5AEE-9A29-9D66-B3EF36DB3E4C}"/>
              </a:ext>
            </a:extLst>
          </p:cNvPr>
          <p:cNvSpPr/>
          <p:nvPr/>
        </p:nvSpPr>
        <p:spPr>
          <a:xfrm>
            <a:off x="4108629" y="3250623"/>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4</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17" name="Oval 16">
            <a:extLst>
              <a:ext uri="{FF2B5EF4-FFF2-40B4-BE49-F238E27FC236}">
                <a16:creationId xmlns:a16="http://schemas.microsoft.com/office/drawing/2014/main" id="{4CEBBE47-AA9B-5B47-538C-C56B79FC5811}"/>
              </a:ext>
            </a:extLst>
          </p:cNvPr>
          <p:cNvSpPr/>
          <p:nvPr/>
        </p:nvSpPr>
        <p:spPr>
          <a:xfrm>
            <a:off x="4108629" y="3860604"/>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5</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2" name="Oval 21">
            <a:extLst>
              <a:ext uri="{FF2B5EF4-FFF2-40B4-BE49-F238E27FC236}">
                <a16:creationId xmlns:a16="http://schemas.microsoft.com/office/drawing/2014/main" id="{BA25069C-8D62-48B9-74BC-D4550C6D6385}"/>
              </a:ext>
            </a:extLst>
          </p:cNvPr>
          <p:cNvSpPr/>
          <p:nvPr/>
        </p:nvSpPr>
        <p:spPr>
          <a:xfrm>
            <a:off x="4108629" y="4470585"/>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6</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4" name="Oval 23">
            <a:extLst>
              <a:ext uri="{FF2B5EF4-FFF2-40B4-BE49-F238E27FC236}">
                <a16:creationId xmlns:a16="http://schemas.microsoft.com/office/drawing/2014/main" id="{A2E7370A-86EE-18AD-27D1-E580388BD64A}"/>
              </a:ext>
            </a:extLst>
          </p:cNvPr>
          <p:cNvSpPr/>
          <p:nvPr/>
        </p:nvSpPr>
        <p:spPr>
          <a:xfrm>
            <a:off x="4108629" y="5080566"/>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7</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5" name="Oval 24">
            <a:extLst>
              <a:ext uri="{FF2B5EF4-FFF2-40B4-BE49-F238E27FC236}">
                <a16:creationId xmlns:a16="http://schemas.microsoft.com/office/drawing/2014/main" id="{04EE248B-0045-4624-6603-8325D81195E2}"/>
              </a:ext>
            </a:extLst>
          </p:cNvPr>
          <p:cNvSpPr/>
          <p:nvPr/>
        </p:nvSpPr>
        <p:spPr>
          <a:xfrm>
            <a:off x="4108629" y="5690547"/>
            <a:ext cx="396000" cy="396000"/>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029" rtl="0" eaLnBrk="1" fontAlgn="auto" latinLnBrk="0" hangingPunct="1">
              <a:lnSpc>
                <a:spcPct val="100000"/>
              </a:lnSpc>
              <a:spcBef>
                <a:spcPts val="0"/>
              </a:spcBef>
              <a:spcAft>
                <a:spcPts val="0"/>
              </a:spcAft>
              <a:buClrTx/>
              <a:buSzTx/>
              <a:buFontTx/>
              <a:buNone/>
              <a:tabLst/>
              <a:defRPr/>
            </a:pPr>
            <a:r>
              <a:rPr lang="en-US" sz="1998" b="1">
                <a:solidFill>
                  <a:srgbClr val="2E2E38"/>
                </a:solidFill>
                <a:latin typeface="EYInterstate Light" panose="02000506000000020004" pitchFamily="2" charset="0"/>
              </a:rPr>
              <a:t>8</a:t>
            </a:r>
            <a:endParaRPr kumimoji="0" lang="en-IN" sz="1998"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7" name="TextBox 26">
            <a:extLst>
              <a:ext uri="{FF2B5EF4-FFF2-40B4-BE49-F238E27FC236}">
                <a16:creationId xmlns:a16="http://schemas.microsoft.com/office/drawing/2014/main" id="{DF6245B7-D906-1E7F-0175-A8B004CCB33D}"/>
              </a:ext>
            </a:extLst>
          </p:cNvPr>
          <p:cNvSpPr txBox="1"/>
          <p:nvPr/>
        </p:nvSpPr>
        <p:spPr>
          <a:xfrm>
            <a:off x="4630177" y="5056518"/>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Balance Sheet Reconciliation</a:t>
            </a:r>
          </a:p>
        </p:txBody>
      </p:sp>
      <p:sp>
        <p:nvSpPr>
          <p:cNvPr id="28" name="TextBox 27">
            <a:extLst>
              <a:ext uri="{FF2B5EF4-FFF2-40B4-BE49-F238E27FC236}">
                <a16:creationId xmlns:a16="http://schemas.microsoft.com/office/drawing/2014/main" id="{870783F2-0F0A-FC98-C302-FDA145428AE3}"/>
              </a:ext>
            </a:extLst>
          </p:cNvPr>
          <p:cNvSpPr txBox="1"/>
          <p:nvPr/>
        </p:nvSpPr>
        <p:spPr>
          <a:xfrm>
            <a:off x="4630177" y="5669977"/>
            <a:ext cx="5715000" cy="411480"/>
          </a:xfrm>
          <a:prstGeom prst="rect">
            <a:avLst/>
          </a:prstGeom>
          <a:noFill/>
        </p:spPr>
        <p:txBody>
          <a:bodyPr wrap="square" anchor="ctr" anchorCtr="0">
            <a:noAutofit/>
          </a:bodyPr>
          <a:lstStyle/>
          <a:p>
            <a:pPr marL="0" marR="0" lvl="0" indent="0" algn="l" defTabSz="912572"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EYInterstate Light" panose="02000506000000020004" pitchFamily="2" charset="0"/>
                <a:ea typeface="+mn-ea"/>
                <a:cs typeface="+mn-cs"/>
              </a:rPr>
              <a:t>Compliance</a:t>
            </a:r>
          </a:p>
        </p:txBody>
      </p:sp>
    </p:spTree>
    <p:custDataLst>
      <p:custData r:id="rId1"/>
    </p:custDataLst>
    <p:extLst>
      <p:ext uri="{BB962C8B-B14F-4D97-AF65-F5344CB8AC3E}">
        <p14:creationId xmlns:p14="http://schemas.microsoft.com/office/powerpoint/2010/main" val="33652971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C85747-AB8C-E7BC-4A02-4D94C6B9032A}"/>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926A7B18-303D-89EF-458A-2190898D10D4}"/>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1FCFEF4A-7CD6-94FB-ABA0-ED73269B1BA3}"/>
              </a:ext>
            </a:extLst>
          </p:cNvPr>
          <p:cNvSpPr txBox="1"/>
          <p:nvPr/>
        </p:nvSpPr>
        <p:spPr>
          <a:xfrm>
            <a:off x="929639" y="2181301"/>
            <a:ext cx="4503620" cy="1446550"/>
          </a:xfrm>
          <a:prstGeom prst="rect">
            <a:avLst/>
          </a:prstGeom>
          <a:noFill/>
        </p:spPr>
        <p:txBody>
          <a:bodyPr wrap="square" rtlCol="0">
            <a:spAutoFit/>
          </a:bodyPr>
          <a:lstStyle/>
          <a:p>
            <a:r>
              <a:rPr lang="en-IN" sz="4400">
                <a:solidFill>
                  <a:srgbClr val="FFE600"/>
                </a:solidFill>
                <a:latin typeface="EYInterstate" panose="02000503020000020004" pitchFamily="2" charset="0"/>
              </a:rPr>
              <a:t>Master Data &amp;  Governance</a:t>
            </a:r>
          </a:p>
        </p:txBody>
      </p:sp>
    </p:spTree>
    <p:extLst>
      <p:ext uri="{BB962C8B-B14F-4D97-AF65-F5344CB8AC3E}">
        <p14:creationId xmlns:p14="http://schemas.microsoft.com/office/powerpoint/2010/main" val="372977933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116D50-FCD8-FF5E-7EBC-BF38294E066F}"/>
            </a:ext>
          </a:extLst>
        </p:cNvPr>
        <p:cNvGrpSpPr/>
        <p:nvPr/>
      </p:nvGrpSpPr>
      <p:grpSpPr>
        <a:xfrm>
          <a:off x="0" y="0"/>
          <a:ext cx="0" cy="0"/>
          <a:chOff x="0" y="0"/>
          <a:chExt cx="0" cy="0"/>
        </a:xfrm>
      </p:grpSpPr>
      <p:sp>
        <p:nvSpPr>
          <p:cNvPr id="13" name="Rectangle 12">
            <a:extLst>
              <a:ext uri="{FF2B5EF4-FFF2-40B4-BE49-F238E27FC236}">
                <a16:creationId xmlns:a16="http://schemas.microsoft.com/office/drawing/2014/main" id="{272444D7-BB8A-E3BD-DAC6-F0AA589E203E}"/>
              </a:ext>
            </a:extLst>
          </p:cNvPr>
          <p:cNvSpPr/>
          <p:nvPr/>
        </p:nvSpPr>
        <p:spPr>
          <a:xfrm>
            <a:off x="6714272" y="6438900"/>
            <a:ext cx="2963128" cy="35686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 name="TextBox 11">
            <a:extLst>
              <a:ext uri="{FF2B5EF4-FFF2-40B4-BE49-F238E27FC236}">
                <a16:creationId xmlns:a16="http://schemas.microsoft.com/office/drawing/2014/main" id="{76BB97CA-3117-5C0A-30FB-B3F636222995}"/>
              </a:ext>
            </a:extLst>
          </p:cNvPr>
          <p:cNvSpPr txBox="1"/>
          <p:nvPr/>
        </p:nvSpPr>
        <p:spPr>
          <a:xfrm>
            <a:off x="6889750" y="6496050"/>
            <a:ext cx="3136900" cy="261610"/>
          </a:xfrm>
          <a:prstGeom prst="rect">
            <a:avLst/>
          </a:prstGeom>
          <a:noFill/>
        </p:spPr>
        <p:txBody>
          <a:bodyPr wrap="square" rtlCol="0">
            <a:spAutoFit/>
          </a:bodyPr>
          <a:lstStyle/>
          <a:p>
            <a:r>
              <a:rPr lang="en-IN" sz="1100">
                <a:solidFill>
                  <a:schemeClr val="bg1"/>
                </a:solidFill>
                <a:latin typeface="EY interstate"/>
              </a:rPr>
              <a:t>High Risk	Medium Risk	    Low Risk</a:t>
            </a:r>
          </a:p>
        </p:txBody>
      </p:sp>
      <p:sp>
        <p:nvSpPr>
          <p:cNvPr id="2" name="Title 1">
            <a:extLst>
              <a:ext uri="{FF2B5EF4-FFF2-40B4-BE49-F238E27FC236}">
                <a16:creationId xmlns:a16="http://schemas.microsoft.com/office/drawing/2014/main" id="{667876BF-E962-141E-074C-0425853CA92D}"/>
              </a:ext>
            </a:extLst>
          </p:cNvPr>
          <p:cNvSpPr txBox="1">
            <a:spLocks noGrp="1"/>
          </p:cNvSpPr>
          <p:nvPr>
            <p:ph type="title"/>
          </p:nvPr>
        </p:nvSpPr>
        <p:spPr>
          <a:xfrm>
            <a:off x="536160" y="0"/>
            <a:ext cx="11580912" cy="590400"/>
          </a:xfrm>
          <a:prstGeom prst="rect">
            <a:avLst/>
          </a:prstGeom>
        </p:spPr>
        <p:txBody>
          <a:bodyPr/>
          <a:lstStyle/>
          <a:p>
            <a:pPr>
              <a:lnSpc>
                <a:spcPct val="100000"/>
              </a:lnSpc>
              <a:spcBef>
                <a:spcPts val="500"/>
              </a:spcBef>
              <a:buClr>
                <a:srgbClr val="FFE600"/>
              </a:buClr>
              <a:buSzPct val="110000"/>
              <a:buFont typeface="EYInterstate Light" pitchFamily="2"/>
            </a:pPr>
            <a:br>
              <a:rPr lang="en-US" sz="2400" b="1">
                <a:solidFill>
                  <a:srgbClr val="FFE600"/>
                </a:solidFill>
                <a:latin typeface="EY interstate heading"/>
                <a:ea typeface="+mn-ea"/>
                <a:cs typeface="+mn-cs"/>
              </a:rPr>
            </a:br>
            <a:r>
              <a:rPr lang="en-US" sz="2400" b="1">
                <a:solidFill>
                  <a:srgbClr val="FFE600"/>
                </a:solidFill>
                <a:latin typeface="EY interstate heading"/>
                <a:ea typeface="+mn-ea"/>
                <a:cs typeface="+mn-cs"/>
              </a:rPr>
              <a:t>Monthly close calendarized checklist and validations</a:t>
            </a:r>
          </a:p>
        </p:txBody>
      </p:sp>
      <p:sp>
        <p:nvSpPr>
          <p:cNvPr id="136" name="Freeform: Shape 135">
            <a:extLst>
              <a:ext uri="{FF2B5EF4-FFF2-40B4-BE49-F238E27FC236}">
                <a16:creationId xmlns:a16="http://schemas.microsoft.com/office/drawing/2014/main" id="{212EB6BE-B2BB-F8CB-F004-7A99802F2847}"/>
              </a:ext>
            </a:extLst>
          </p:cNvPr>
          <p:cNvSpPr/>
          <p:nvPr/>
        </p:nvSpPr>
        <p:spPr>
          <a:xfrm>
            <a:off x="8753" y="3303713"/>
            <a:ext cx="12176753" cy="1028980"/>
          </a:xfrm>
          <a:custGeom>
            <a:avLst/>
            <a:gdLst>
              <a:gd name="connsiteX0" fmla="*/ 11424625 w 12176753"/>
              <a:gd name="connsiteY0" fmla="*/ 642555 h 1028980"/>
              <a:gd name="connsiteX1" fmla="*/ 10672516 w 12176753"/>
              <a:gd name="connsiteY1" fmla="*/ 642555 h 1028980"/>
              <a:gd name="connsiteX2" fmla="*/ 10531574 w 12176753"/>
              <a:gd name="connsiteY2" fmla="*/ 626978 h 1028980"/>
              <a:gd name="connsiteX3" fmla="*/ 10404131 w 12176753"/>
              <a:gd name="connsiteY3" fmla="*/ 577404 h 1028980"/>
              <a:gd name="connsiteX4" fmla="*/ 10154360 w 12176753"/>
              <a:gd name="connsiteY4" fmla="*/ 378282 h 1028980"/>
              <a:gd name="connsiteX5" fmla="*/ 10001346 w 12176753"/>
              <a:gd name="connsiteY5" fmla="*/ 238979 h 1028980"/>
              <a:gd name="connsiteX6" fmla="*/ 9816872 w 12176753"/>
              <a:gd name="connsiteY6" fmla="*/ 112825 h 1028980"/>
              <a:gd name="connsiteX7" fmla="*/ 9594933 w 12176753"/>
              <a:gd name="connsiteY7" fmla="*/ 26589 h 1028980"/>
              <a:gd name="connsiteX8" fmla="*/ 9363002 w 12176753"/>
              <a:gd name="connsiteY8" fmla="*/ 115 h 1028980"/>
              <a:gd name="connsiteX9" fmla="*/ 9363002 w 12176753"/>
              <a:gd name="connsiteY9" fmla="*/ 115 h 1028980"/>
              <a:gd name="connsiteX10" fmla="*/ 9131072 w 12176753"/>
              <a:gd name="connsiteY10" fmla="*/ 26589 h 1028980"/>
              <a:gd name="connsiteX11" fmla="*/ 8909132 w 12176753"/>
              <a:gd name="connsiteY11" fmla="*/ 112825 h 1028980"/>
              <a:gd name="connsiteX12" fmla="*/ 8724302 w 12176753"/>
              <a:gd name="connsiteY12" fmla="*/ 238742 h 1028980"/>
              <a:gd name="connsiteX13" fmla="*/ 8571288 w 12176753"/>
              <a:gd name="connsiteY13" fmla="*/ 378045 h 1028980"/>
              <a:gd name="connsiteX14" fmla="*/ 8321874 w 12176753"/>
              <a:gd name="connsiteY14" fmla="*/ 577168 h 1028980"/>
              <a:gd name="connsiteX15" fmla="*/ 8194372 w 12176753"/>
              <a:gd name="connsiteY15" fmla="*/ 627037 h 1028980"/>
              <a:gd name="connsiteX16" fmla="*/ 8052954 w 12176753"/>
              <a:gd name="connsiteY16" fmla="*/ 642555 h 1028980"/>
              <a:gd name="connsiteX17" fmla="*/ 7912011 w 12176753"/>
              <a:gd name="connsiteY17" fmla="*/ 626978 h 1028980"/>
              <a:gd name="connsiteX18" fmla="*/ 7784509 w 12176753"/>
              <a:gd name="connsiteY18" fmla="*/ 577404 h 1028980"/>
              <a:gd name="connsiteX19" fmla="*/ 7535095 w 12176753"/>
              <a:gd name="connsiteY19" fmla="*/ 378282 h 1028980"/>
              <a:gd name="connsiteX20" fmla="*/ 7382080 w 12176753"/>
              <a:gd name="connsiteY20" fmla="*/ 238979 h 1028980"/>
              <a:gd name="connsiteX21" fmla="*/ 7197250 w 12176753"/>
              <a:gd name="connsiteY21" fmla="*/ 113062 h 1028980"/>
              <a:gd name="connsiteX22" fmla="*/ 6975311 w 12176753"/>
              <a:gd name="connsiteY22" fmla="*/ 26589 h 1028980"/>
              <a:gd name="connsiteX23" fmla="*/ 6511034 w 12176753"/>
              <a:gd name="connsiteY23" fmla="*/ 26589 h 1028980"/>
              <a:gd name="connsiteX24" fmla="*/ 6289035 w 12176753"/>
              <a:gd name="connsiteY24" fmla="*/ 112825 h 1028980"/>
              <a:gd name="connsiteX25" fmla="*/ 6104264 w 12176753"/>
              <a:gd name="connsiteY25" fmla="*/ 238742 h 1028980"/>
              <a:gd name="connsiteX26" fmla="*/ 5951368 w 12176753"/>
              <a:gd name="connsiteY26" fmla="*/ 378045 h 1028980"/>
              <a:gd name="connsiteX27" fmla="*/ 5701597 w 12176753"/>
              <a:gd name="connsiteY27" fmla="*/ 577404 h 1028980"/>
              <a:gd name="connsiteX28" fmla="*/ 5574096 w 12176753"/>
              <a:gd name="connsiteY28" fmla="*/ 627274 h 1028980"/>
              <a:gd name="connsiteX29" fmla="*/ 5433331 w 12176753"/>
              <a:gd name="connsiteY29" fmla="*/ 642555 h 1028980"/>
              <a:gd name="connsiteX30" fmla="*/ 5292389 w 12176753"/>
              <a:gd name="connsiteY30" fmla="*/ 626978 h 1028980"/>
              <a:gd name="connsiteX31" fmla="*/ 5164947 w 12176753"/>
              <a:gd name="connsiteY31" fmla="*/ 577404 h 1028980"/>
              <a:gd name="connsiteX32" fmla="*/ 4915176 w 12176753"/>
              <a:gd name="connsiteY32" fmla="*/ 378282 h 1028980"/>
              <a:gd name="connsiteX33" fmla="*/ 4762161 w 12176753"/>
              <a:gd name="connsiteY33" fmla="*/ 238979 h 1028980"/>
              <a:gd name="connsiteX34" fmla="*/ 4577628 w 12176753"/>
              <a:gd name="connsiteY34" fmla="*/ 112825 h 1028980"/>
              <a:gd name="connsiteX35" fmla="*/ 4355688 w 12176753"/>
              <a:gd name="connsiteY35" fmla="*/ 26589 h 1028980"/>
              <a:gd name="connsiteX36" fmla="*/ 3891411 w 12176753"/>
              <a:gd name="connsiteY36" fmla="*/ 26589 h 1028980"/>
              <a:gd name="connsiteX37" fmla="*/ 3669472 w 12176753"/>
              <a:gd name="connsiteY37" fmla="*/ 112825 h 1028980"/>
              <a:gd name="connsiteX38" fmla="*/ 3484642 w 12176753"/>
              <a:gd name="connsiteY38" fmla="*/ 238742 h 1028980"/>
              <a:gd name="connsiteX39" fmla="*/ 3331627 w 12176753"/>
              <a:gd name="connsiteY39" fmla="*/ 378045 h 1028980"/>
              <a:gd name="connsiteX40" fmla="*/ 3082213 w 12176753"/>
              <a:gd name="connsiteY40" fmla="*/ 577168 h 1028980"/>
              <a:gd name="connsiteX41" fmla="*/ 2954711 w 12176753"/>
              <a:gd name="connsiteY41" fmla="*/ 627037 h 1028980"/>
              <a:gd name="connsiteX42" fmla="*/ 2813769 w 12176753"/>
              <a:gd name="connsiteY42" fmla="*/ 642555 h 1028980"/>
              <a:gd name="connsiteX43" fmla="*/ 2672826 w 12176753"/>
              <a:gd name="connsiteY43" fmla="*/ 626978 h 1028980"/>
              <a:gd name="connsiteX44" fmla="*/ 2545324 w 12176753"/>
              <a:gd name="connsiteY44" fmla="*/ 577404 h 1028980"/>
              <a:gd name="connsiteX45" fmla="*/ 2295910 w 12176753"/>
              <a:gd name="connsiteY45" fmla="*/ 378282 h 1028980"/>
              <a:gd name="connsiteX46" fmla="*/ 2142836 w 12176753"/>
              <a:gd name="connsiteY46" fmla="*/ 238979 h 1028980"/>
              <a:gd name="connsiteX47" fmla="*/ 1958065 w 12176753"/>
              <a:gd name="connsiteY47" fmla="*/ 113062 h 1028980"/>
              <a:gd name="connsiteX48" fmla="*/ 1736126 w 12176753"/>
              <a:gd name="connsiteY48" fmla="*/ 26589 h 1028980"/>
              <a:gd name="connsiteX49" fmla="*/ 1504195 w 12176753"/>
              <a:gd name="connsiteY49" fmla="*/ 115 h 1028980"/>
              <a:gd name="connsiteX50" fmla="*/ -199 w 12176753"/>
              <a:gd name="connsiteY50" fmla="*/ 115 h 1028980"/>
              <a:gd name="connsiteX51" fmla="*/ -199 w 12176753"/>
              <a:gd name="connsiteY51" fmla="*/ 386278 h 1028980"/>
              <a:gd name="connsiteX52" fmla="*/ 1503957 w 12176753"/>
              <a:gd name="connsiteY52" fmla="*/ 386278 h 1028980"/>
              <a:gd name="connsiteX53" fmla="*/ 1644900 w 12176753"/>
              <a:gd name="connsiteY53" fmla="*/ 401914 h 1028980"/>
              <a:gd name="connsiteX54" fmla="*/ 1772283 w 12176753"/>
              <a:gd name="connsiteY54" fmla="*/ 451783 h 1028980"/>
              <a:gd name="connsiteX55" fmla="*/ 2022054 w 12176753"/>
              <a:gd name="connsiteY55" fmla="*/ 651083 h 1028980"/>
              <a:gd name="connsiteX56" fmla="*/ 2175128 w 12176753"/>
              <a:gd name="connsiteY56" fmla="*/ 790386 h 1028980"/>
              <a:gd name="connsiteX57" fmla="*/ 2360018 w 12176753"/>
              <a:gd name="connsiteY57" fmla="*/ 916244 h 1028980"/>
              <a:gd name="connsiteX58" fmla="*/ 2581957 w 12176753"/>
              <a:gd name="connsiteY58" fmla="*/ 1002420 h 1028980"/>
              <a:gd name="connsiteX59" fmla="*/ 2813887 w 12176753"/>
              <a:gd name="connsiteY59" fmla="*/ 1028836 h 1028980"/>
              <a:gd name="connsiteX60" fmla="*/ 3045818 w 12176753"/>
              <a:gd name="connsiteY60" fmla="*/ 1002420 h 1028980"/>
              <a:gd name="connsiteX61" fmla="*/ 3267757 w 12176753"/>
              <a:gd name="connsiteY61" fmla="*/ 916244 h 1028980"/>
              <a:gd name="connsiteX62" fmla="*/ 3452707 w 12176753"/>
              <a:gd name="connsiteY62" fmla="*/ 790623 h 1028980"/>
              <a:gd name="connsiteX63" fmla="*/ 3605840 w 12176753"/>
              <a:gd name="connsiteY63" fmla="*/ 651320 h 1028980"/>
              <a:gd name="connsiteX64" fmla="*/ 3855254 w 12176753"/>
              <a:gd name="connsiteY64" fmla="*/ 452020 h 1028980"/>
              <a:gd name="connsiteX65" fmla="*/ 3982935 w 12176753"/>
              <a:gd name="connsiteY65" fmla="*/ 401914 h 1028980"/>
              <a:gd name="connsiteX66" fmla="*/ 4264700 w 12176753"/>
              <a:gd name="connsiteY66" fmla="*/ 401914 h 1028980"/>
              <a:gd name="connsiteX67" fmla="*/ 4392143 w 12176753"/>
              <a:gd name="connsiteY67" fmla="*/ 451783 h 1028980"/>
              <a:gd name="connsiteX68" fmla="*/ 4641557 w 12176753"/>
              <a:gd name="connsiteY68" fmla="*/ 651083 h 1028980"/>
              <a:gd name="connsiteX69" fmla="*/ 4794691 w 12176753"/>
              <a:gd name="connsiteY69" fmla="*/ 790386 h 1028980"/>
              <a:gd name="connsiteX70" fmla="*/ 4979581 w 12176753"/>
              <a:gd name="connsiteY70" fmla="*/ 916244 h 1028980"/>
              <a:gd name="connsiteX71" fmla="*/ 5201520 w 12176753"/>
              <a:gd name="connsiteY71" fmla="*/ 1002420 h 1028980"/>
              <a:gd name="connsiteX72" fmla="*/ 5433451 w 12176753"/>
              <a:gd name="connsiteY72" fmla="*/ 1028836 h 1028980"/>
              <a:gd name="connsiteX73" fmla="*/ 5665381 w 12176753"/>
              <a:gd name="connsiteY73" fmla="*/ 1002420 h 1028980"/>
              <a:gd name="connsiteX74" fmla="*/ 5887320 w 12176753"/>
              <a:gd name="connsiteY74" fmla="*/ 916244 h 1028980"/>
              <a:gd name="connsiteX75" fmla="*/ 6072269 w 12176753"/>
              <a:gd name="connsiteY75" fmla="*/ 790623 h 1028980"/>
              <a:gd name="connsiteX76" fmla="*/ 6225403 w 12176753"/>
              <a:gd name="connsiteY76" fmla="*/ 651320 h 1028980"/>
              <a:gd name="connsiteX77" fmla="*/ 6474698 w 12176753"/>
              <a:gd name="connsiteY77" fmla="*/ 451783 h 1028980"/>
              <a:gd name="connsiteX78" fmla="*/ 6602141 w 12176753"/>
              <a:gd name="connsiteY78" fmla="*/ 401914 h 1028980"/>
              <a:gd name="connsiteX79" fmla="*/ 6883965 w 12176753"/>
              <a:gd name="connsiteY79" fmla="*/ 401914 h 1028980"/>
              <a:gd name="connsiteX80" fmla="*/ 7011349 w 12176753"/>
              <a:gd name="connsiteY80" fmla="*/ 451783 h 1028980"/>
              <a:gd name="connsiteX81" fmla="*/ 7260763 w 12176753"/>
              <a:gd name="connsiteY81" fmla="*/ 651083 h 1028980"/>
              <a:gd name="connsiteX82" fmla="*/ 7413956 w 12176753"/>
              <a:gd name="connsiteY82" fmla="*/ 790386 h 1028980"/>
              <a:gd name="connsiteX83" fmla="*/ 7598668 w 12176753"/>
              <a:gd name="connsiteY83" fmla="*/ 916244 h 1028980"/>
              <a:gd name="connsiteX84" fmla="*/ 7820607 w 12176753"/>
              <a:gd name="connsiteY84" fmla="*/ 1002420 h 1028980"/>
              <a:gd name="connsiteX85" fmla="*/ 8052537 w 12176753"/>
              <a:gd name="connsiteY85" fmla="*/ 1028836 h 1028980"/>
              <a:gd name="connsiteX86" fmla="*/ 8284467 w 12176753"/>
              <a:gd name="connsiteY86" fmla="*/ 1002420 h 1028980"/>
              <a:gd name="connsiteX87" fmla="*/ 8506407 w 12176753"/>
              <a:gd name="connsiteY87" fmla="*/ 916244 h 1028980"/>
              <a:gd name="connsiteX88" fmla="*/ 8691891 w 12176753"/>
              <a:gd name="connsiteY88" fmla="*/ 790623 h 1028980"/>
              <a:gd name="connsiteX89" fmla="*/ 8845024 w 12176753"/>
              <a:gd name="connsiteY89" fmla="*/ 651320 h 1028980"/>
              <a:gd name="connsiteX90" fmla="*/ 9094379 w 12176753"/>
              <a:gd name="connsiteY90" fmla="*/ 452020 h 1028980"/>
              <a:gd name="connsiteX91" fmla="*/ 9221822 w 12176753"/>
              <a:gd name="connsiteY91" fmla="*/ 402151 h 1028980"/>
              <a:gd name="connsiteX92" fmla="*/ 9503647 w 12176753"/>
              <a:gd name="connsiteY92" fmla="*/ 402151 h 1028980"/>
              <a:gd name="connsiteX93" fmla="*/ 9631090 w 12176753"/>
              <a:gd name="connsiteY93" fmla="*/ 452020 h 1028980"/>
              <a:gd name="connsiteX94" fmla="*/ 9880504 w 12176753"/>
              <a:gd name="connsiteY94" fmla="*/ 651320 h 1028980"/>
              <a:gd name="connsiteX95" fmla="*/ 10033577 w 12176753"/>
              <a:gd name="connsiteY95" fmla="*/ 790623 h 1028980"/>
              <a:gd name="connsiteX96" fmla="*/ 10218528 w 12176753"/>
              <a:gd name="connsiteY96" fmla="*/ 916481 h 1028980"/>
              <a:gd name="connsiteX97" fmla="*/ 10440467 w 12176753"/>
              <a:gd name="connsiteY97" fmla="*/ 1002657 h 1028980"/>
              <a:gd name="connsiteX98" fmla="*/ 10672397 w 12176753"/>
              <a:gd name="connsiteY98" fmla="*/ 1029073 h 1028980"/>
              <a:gd name="connsiteX99" fmla="*/ 12176554 w 12176753"/>
              <a:gd name="connsiteY99" fmla="*/ 1029073 h 1028980"/>
              <a:gd name="connsiteX100" fmla="*/ 12176554 w 12176753"/>
              <a:gd name="connsiteY100" fmla="*/ 642555 h 102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2176753" h="1028980">
                <a:moveTo>
                  <a:pt x="11424625" y="642555"/>
                </a:moveTo>
                <a:lnTo>
                  <a:pt x="10672516" y="642555"/>
                </a:lnTo>
                <a:cubicBezTo>
                  <a:pt x="10625060" y="642980"/>
                  <a:pt x="10577781" y="637750"/>
                  <a:pt x="10531574" y="626978"/>
                </a:cubicBezTo>
                <a:cubicBezTo>
                  <a:pt x="10487090" y="616112"/>
                  <a:pt x="10444213" y="599444"/>
                  <a:pt x="10404131" y="577404"/>
                </a:cubicBezTo>
                <a:cubicBezTo>
                  <a:pt x="10320874" y="532392"/>
                  <a:pt x="10237617" y="460312"/>
                  <a:pt x="10154360" y="378282"/>
                </a:cubicBezTo>
                <a:cubicBezTo>
                  <a:pt x="10106785" y="330900"/>
                  <a:pt x="10056711" y="284170"/>
                  <a:pt x="10001346" y="238979"/>
                </a:cubicBezTo>
                <a:cubicBezTo>
                  <a:pt x="9943898" y="191312"/>
                  <a:pt x="9882169" y="149078"/>
                  <a:pt x="9816872" y="112825"/>
                </a:cubicBezTo>
                <a:cubicBezTo>
                  <a:pt x="9746995" y="74494"/>
                  <a:pt x="9672421" y="45500"/>
                  <a:pt x="9594933" y="26589"/>
                </a:cubicBezTo>
                <a:cubicBezTo>
                  <a:pt x="9518931" y="8608"/>
                  <a:pt x="9441086" y="-276"/>
                  <a:pt x="9363002" y="115"/>
                </a:cubicBezTo>
                <a:lnTo>
                  <a:pt x="9363002" y="115"/>
                </a:lnTo>
                <a:cubicBezTo>
                  <a:pt x="9284919" y="-276"/>
                  <a:pt x="9207073" y="8608"/>
                  <a:pt x="9131072" y="26589"/>
                </a:cubicBezTo>
                <a:cubicBezTo>
                  <a:pt x="9053584" y="45504"/>
                  <a:pt x="8979009" y="74499"/>
                  <a:pt x="8909132" y="112825"/>
                </a:cubicBezTo>
                <a:cubicBezTo>
                  <a:pt x="8843716" y="148998"/>
                  <a:pt x="8781868" y="191153"/>
                  <a:pt x="8724302" y="238742"/>
                </a:cubicBezTo>
                <a:cubicBezTo>
                  <a:pt x="8668936" y="283933"/>
                  <a:pt x="8618804" y="330900"/>
                  <a:pt x="8571288" y="378045"/>
                </a:cubicBezTo>
                <a:cubicBezTo>
                  <a:pt x="8488685" y="460075"/>
                  <a:pt x="8405190" y="532036"/>
                  <a:pt x="8321874" y="577168"/>
                </a:cubicBezTo>
                <a:cubicBezTo>
                  <a:pt x="8281791" y="599320"/>
                  <a:pt x="8238914" y="616089"/>
                  <a:pt x="8194372" y="627037"/>
                </a:cubicBezTo>
                <a:cubicBezTo>
                  <a:pt x="8148045" y="637827"/>
                  <a:pt x="8100529" y="643037"/>
                  <a:pt x="8052954" y="642555"/>
                </a:cubicBezTo>
                <a:cubicBezTo>
                  <a:pt x="8005497" y="642980"/>
                  <a:pt x="7958219" y="637750"/>
                  <a:pt x="7912011" y="626978"/>
                </a:cubicBezTo>
                <a:cubicBezTo>
                  <a:pt x="7867528" y="616123"/>
                  <a:pt x="7824651" y="599454"/>
                  <a:pt x="7784509" y="577404"/>
                </a:cubicBezTo>
                <a:cubicBezTo>
                  <a:pt x="7701252" y="532392"/>
                  <a:pt x="7617995" y="460312"/>
                  <a:pt x="7535095" y="378282"/>
                </a:cubicBezTo>
                <a:cubicBezTo>
                  <a:pt x="7487520" y="330900"/>
                  <a:pt x="7437446" y="284170"/>
                  <a:pt x="7382080" y="238979"/>
                </a:cubicBezTo>
                <a:cubicBezTo>
                  <a:pt x="7324514" y="191376"/>
                  <a:pt x="7262666" y="149221"/>
                  <a:pt x="7197250" y="113062"/>
                </a:cubicBezTo>
                <a:cubicBezTo>
                  <a:pt x="7127433" y="74654"/>
                  <a:pt x="7052799" y="45580"/>
                  <a:pt x="6975311" y="26589"/>
                </a:cubicBezTo>
                <a:cubicBezTo>
                  <a:pt x="6822593" y="-8710"/>
                  <a:pt x="6663751" y="-8710"/>
                  <a:pt x="6511034" y="26589"/>
                </a:cubicBezTo>
                <a:cubicBezTo>
                  <a:pt x="6433545" y="45504"/>
                  <a:pt x="6358912" y="74499"/>
                  <a:pt x="6289035" y="112825"/>
                </a:cubicBezTo>
                <a:cubicBezTo>
                  <a:pt x="6223678" y="148984"/>
                  <a:pt x="6161771" y="191139"/>
                  <a:pt x="6104264" y="238742"/>
                </a:cubicBezTo>
                <a:cubicBezTo>
                  <a:pt x="6048898" y="283933"/>
                  <a:pt x="5998944" y="330900"/>
                  <a:pt x="5951368" y="378045"/>
                </a:cubicBezTo>
                <a:cubicBezTo>
                  <a:pt x="5868587" y="460075"/>
                  <a:pt x="5784854" y="532155"/>
                  <a:pt x="5701597" y="577404"/>
                </a:cubicBezTo>
                <a:cubicBezTo>
                  <a:pt x="5661456" y="599538"/>
                  <a:pt x="5618638" y="616305"/>
                  <a:pt x="5574096" y="627274"/>
                </a:cubicBezTo>
                <a:cubicBezTo>
                  <a:pt x="5527947" y="637930"/>
                  <a:pt x="5480669" y="643060"/>
                  <a:pt x="5433331" y="642555"/>
                </a:cubicBezTo>
                <a:cubicBezTo>
                  <a:pt x="5385875" y="642980"/>
                  <a:pt x="5338597" y="637750"/>
                  <a:pt x="5292389" y="626978"/>
                </a:cubicBezTo>
                <a:cubicBezTo>
                  <a:pt x="5247906" y="616123"/>
                  <a:pt x="5205029" y="599454"/>
                  <a:pt x="5164947" y="577404"/>
                </a:cubicBezTo>
                <a:cubicBezTo>
                  <a:pt x="5081690" y="532392"/>
                  <a:pt x="4998433" y="460312"/>
                  <a:pt x="4915176" y="378282"/>
                </a:cubicBezTo>
                <a:cubicBezTo>
                  <a:pt x="4867600" y="330900"/>
                  <a:pt x="4817527" y="284170"/>
                  <a:pt x="4762161" y="238979"/>
                </a:cubicBezTo>
                <a:cubicBezTo>
                  <a:pt x="4704719" y="191309"/>
                  <a:pt x="4642943" y="149075"/>
                  <a:pt x="4577628" y="112825"/>
                </a:cubicBezTo>
                <a:cubicBezTo>
                  <a:pt x="4507769" y="74499"/>
                  <a:pt x="4433147" y="45504"/>
                  <a:pt x="4355688" y="26589"/>
                </a:cubicBezTo>
                <a:cubicBezTo>
                  <a:pt x="4202959" y="-8710"/>
                  <a:pt x="4044141" y="-8710"/>
                  <a:pt x="3891411" y="26589"/>
                </a:cubicBezTo>
                <a:cubicBezTo>
                  <a:pt x="3813953" y="45504"/>
                  <a:pt x="3739331" y="74499"/>
                  <a:pt x="3669472" y="112825"/>
                </a:cubicBezTo>
                <a:cubicBezTo>
                  <a:pt x="3604068" y="148984"/>
                  <a:pt x="3542190" y="191139"/>
                  <a:pt x="3484642" y="238742"/>
                </a:cubicBezTo>
                <a:cubicBezTo>
                  <a:pt x="3429276" y="283933"/>
                  <a:pt x="3379143" y="330900"/>
                  <a:pt x="3331627" y="378045"/>
                </a:cubicBezTo>
                <a:cubicBezTo>
                  <a:pt x="3249024" y="460075"/>
                  <a:pt x="3165529" y="532036"/>
                  <a:pt x="3082213" y="577168"/>
                </a:cubicBezTo>
                <a:cubicBezTo>
                  <a:pt x="3042107" y="599320"/>
                  <a:pt x="2999235" y="616089"/>
                  <a:pt x="2954711" y="627037"/>
                </a:cubicBezTo>
                <a:cubicBezTo>
                  <a:pt x="2908521" y="637789"/>
                  <a:pt x="2861201" y="642999"/>
                  <a:pt x="2813769" y="642555"/>
                </a:cubicBezTo>
                <a:cubicBezTo>
                  <a:pt x="2766330" y="642980"/>
                  <a:pt x="2719016" y="637750"/>
                  <a:pt x="2672826" y="626978"/>
                </a:cubicBezTo>
                <a:cubicBezTo>
                  <a:pt x="2628320" y="616123"/>
                  <a:pt x="2585442" y="599454"/>
                  <a:pt x="2545324" y="577404"/>
                </a:cubicBezTo>
                <a:cubicBezTo>
                  <a:pt x="2462067" y="532392"/>
                  <a:pt x="2378810" y="460312"/>
                  <a:pt x="2295910" y="378282"/>
                </a:cubicBezTo>
                <a:cubicBezTo>
                  <a:pt x="2248335" y="330900"/>
                  <a:pt x="2198262" y="284170"/>
                  <a:pt x="2142836" y="238979"/>
                </a:cubicBezTo>
                <a:cubicBezTo>
                  <a:pt x="2085323" y="191363"/>
                  <a:pt x="2023463" y="149207"/>
                  <a:pt x="1958065" y="113062"/>
                </a:cubicBezTo>
                <a:cubicBezTo>
                  <a:pt x="1888218" y="74654"/>
                  <a:pt x="1813596" y="45580"/>
                  <a:pt x="1736126" y="26589"/>
                </a:cubicBezTo>
                <a:cubicBezTo>
                  <a:pt x="1660148" y="8608"/>
                  <a:pt x="1582290" y="-276"/>
                  <a:pt x="1504195" y="115"/>
                </a:cubicBezTo>
                <a:lnTo>
                  <a:pt x="-199" y="115"/>
                </a:lnTo>
                <a:lnTo>
                  <a:pt x="-199" y="386278"/>
                </a:lnTo>
                <a:lnTo>
                  <a:pt x="1503957" y="386278"/>
                </a:lnTo>
                <a:cubicBezTo>
                  <a:pt x="1551396" y="385872"/>
                  <a:pt x="1598716" y="391121"/>
                  <a:pt x="1644900" y="401914"/>
                </a:cubicBezTo>
                <a:cubicBezTo>
                  <a:pt x="1689371" y="412911"/>
                  <a:pt x="1732195" y="429678"/>
                  <a:pt x="1772283" y="451783"/>
                </a:cubicBezTo>
                <a:cubicBezTo>
                  <a:pt x="1855540" y="496855"/>
                  <a:pt x="1938797" y="569053"/>
                  <a:pt x="2022054" y="651083"/>
                </a:cubicBezTo>
                <a:cubicBezTo>
                  <a:pt x="2069629" y="698465"/>
                  <a:pt x="2119703" y="745196"/>
                  <a:pt x="2175128" y="790386"/>
                </a:cubicBezTo>
                <a:cubicBezTo>
                  <a:pt x="2232682" y="837990"/>
                  <a:pt x="2294584" y="880126"/>
                  <a:pt x="2360018" y="916244"/>
                </a:cubicBezTo>
                <a:cubicBezTo>
                  <a:pt x="2429900" y="954501"/>
                  <a:pt x="2504516" y="983473"/>
                  <a:pt x="2581957" y="1002420"/>
                </a:cubicBezTo>
                <a:cubicBezTo>
                  <a:pt x="2657947" y="1020330"/>
                  <a:pt x="2735798" y="1029197"/>
                  <a:pt x="2813887" y="1028836"/>
                </a:cubicBezTo>
                <a:cubicBezTo>
                  <a:pt x="2891977" y="1029197"/>
                  <a:pt x="2969828" y="1020330"/>
                  <a:pt x="3045818" y="1002420"/>
                </a:cubicBezTo>
                <a:cubicBezTo>
                  <a:pt x="3123259" y="983463"/>
                  <a:pt x="3197869" y="954491"/>
                  <a:pt x="3267757" y="916244"/>
                </a:cubicBezTo>
                <a:cubicBezTo>
                  <a:pt x="3333203" y="880205"/>
                  <a:pt x="3395122" y="838147"/>
                  <a:pt x="3452707" y="790623"/>
                </a:cubicBezTo>
                <a:cubicBezTo>
                  <a:pt x="3508132" y="745433"/>
                  <a:pt x="3558265" y="698465"/>
                  <a:pt x="3605840" y="651320"/>
                </a:cubicBezTo>
                <a:cubicBezTo>
                  <a:pt x="3688502" y="569290"/>
                  <a:pt x="3771938" y="497329"/>
                  <a:pt x="3855254" y="452020"/>
                </a:cubicBezTo>
                <a:cubicBezTo>
                  <a:pt x="3895414" y="429791"/>
                  <a:pt x="3938345" y="412944"/>
                  <a:pt x="3982935" y="401914"/>
                </a:cubicBezTo>
                <a:cubicBezTo>
                  <a:pt x="4075689" y="381066"/>
                  <a:pt x="4171946" y="381066"/>
                  <a:pt x="4264700" y="401914"/>
                </a:cubicBezTo>
                <a:cubicBezTo>
                  <a:pt x="4309195" y="412899"/>
                  <a:pt x="4352043" y="429666"/>
                  <a:pt x="4392143" y="451783"/>
                </a:cubicBezTo>
                <a:cubicBezTo>
                  <a:pt x="4475400" y="496855"/>
                  <a:pt x="4558657" y="569053"/>
                  <a:pt x="4641557" y="651083"/>
                </a:cubicBezTo>
                <a:cubicBezTo>
                  <a:pt x="4689133" y="698465"/>
                  <a:pt x="4739265" y="745196"/>
                  <a:pt x="4794691" y="790386"/>
                </a:cubicBezTo>
                <a:cubicBezTo>
                  <a:pt x="4852257" y="837990"/>
                  <a:pt x="4914164" y="880126"/>
                  <a:pt x="4979581" y="916244"/>
                </a:cubicBezTo>
                <a:cubicBezTo>
                  <a:pt x="5049457" y="954501"/>
                  <a:pt x="5124091" y="983473"/>
                  <a:pt x="5201520" y="1002420"/>
                </a:cubicBezTo>
                <a:cubicBezTo>
                  <a:pt x="5277521" y="1020330"/>
                  <a:pt x="5355367" y="1029197"/>
                  <a:pt x="5433451" y="1028836"/>
                </a:cubicBezTo>
                <a:cubicBezTo>
                  <a:pt x="5511534" y="1029197"/>
                  <a:pt x="5589379" y="1020330"/>
                  <a:pt x="5665381" y="1002420"/>
                </a:cubicBezTo>
                <a:cubicBezTo>
                  <a:pt x="5742810" y="983473"/>
                  <a:pt x="5817443" y="954501"/>
                  <a:pt x="5887320" y="916244"/>
                </a:cubicBezTo>
                <a:cubicBezTo>
                  <a:pt x="5952796" y="880205"/>
                  <a:pt x="6014703" y="838147"/>
                  <a:pt x="6072269" y="790623"/>
                </a:cubicBezTo>
                <a:cubicBezTo>
                  <a:pt x="6127695" y="745433"/>
                  <a:pt x="6177827" y="698465"/>
                  <a:pt x="6225403" y="651320"/>
                </a:cubicBezTo>
                <a:cubicBezTo>
                  <a:pt x="6308184" y="569053"/>
                  <a:pt x="6391441" y="496855"/>
                  <a:pt x="6474698" y="451783"/>
                </a:cubicBezTo>
                <a:cubicBezTo>
                  <a:pt x="6514780" y="429666"/>
                  <a:pt x="6557657" y="412899"/>
                  <a:pt x="6602141" y="401914"/>
                </a:cubicBezTo>
                <a:cubicBezTo>
                  <a:pt x="6694913" y="381066"/>
                  <a:pt x="6791193" y="381066"/>
                  <a:pt x="6883965" y="401914"/>
                </a:cubicBezTo>
                <a:cubicBezTo>
                  <a:pt x="6928449" y="412900"/>
                  <a:pt x="6971267" y="429666"/>
                  <a:pt x="7011349" y="451783"/>
                </a:cubicBezTo>
                <a:cubicBezTo>
                  <a:pt x="7094606" y="496855"/>
                  <a:pt x="7177863" y="569053"/>
                  <a:pt x="7260763" y="651083"/>
                </a:cubicBezTo>
                <a:cubicBezTo>
                  <a:pt x="7308339" y="698465"/>
                  <a:pt x="7358471" y="745196"/>
                  <a:pt x="7413956" y="790386"/>
                </a:cubicBezTo>
                <a:cubicBezTo>
                  <a:pt x="7471463" y="837983"/>
                  <a:pt x="7533311" y="880119"/>
                  <a:pt x="7598668" y="916244"/>
                </a:cubicBezTo>
                <a:cubicBezTo>
                  <a:pt x="7668544" y="954501"/>
                  <a:pt x="7743178" y="983473"/>
                  <a:pt x="7820607" y="1002420"/>
                </a:cubicBezTo>
                <a:cubicBezTo>
                  <a:pt x="7896609" y="1020330"/>
                  <a:pt x="7974454" y="1029197"/>
                  <a:pt x="8052537" y="1028836"/>
                </a:cubicBezTo>
                <a:cubicBezTo>
                  <a:pt x="8130620" y="1029197"/>
                  <a:pt x="8208466" y="1020330"/>
                  <a:pt x="8284467" y="1002420"/>
                </a:cubicBezTo>
                <a:cubicBezTo>
                  <a:pt x="8361896" y="983463"/>
                  <a:pt x="8436530" y="954491"/>
                  <a:pt x="8506407" y="916244"/>
                </a:cubicBezTo>
                <a:cubicBezTo>
                  <a:pt x="8572001" y="880218"/>
                  <a:pt x="8634147" y="838161"/>
                  <a:pt x="8691891" y="790623"/>
                </a:cubicBezTo>
                <a:cubicBezTo>
                  <a:pt x="8747317" y="745433"/>
                  <a:pt x="8797449" y="698465"/>
                  <a:pt x="8845024" y="651320"/>
                </a:cubicBezTo>
                <a:cubicBezTo>
                  <a:pt x="8927687" y="569290"/>
                  <a:pt x="9011122" y="497329"/>
                  <a:pt x="9094379" y="452020"/>
                </a:cubicBezTo>
                <a:cubicBezTo>
                  <a:pt x="9134462" y="429922"/>
                  <a:pt x="9177339" y="413156"/>
                  <a:pt x="9221822" y="402151"/>
                </a:cubicBezTo>
                <a:cubicBezTo>
                  <a:pt x="9314594" y="381303"/>
                  <a:pt x="9410875" y="381303"/>
                  <a:pt x="9503647" y="402151"/>
                </a:cubicBezTo>
                <a:cubicBezTo>
                  <a:pt x="9548130" y="413136"/>
                  <a:pt x="9591008" y="429903"/>
                  <a:pt x="9631090" y="452020"/>
                </a:cubicBezTo>
                <a:cubicBezTo>
                  <a:pt x="9714347" y="497092"/>
                  <a:pt x="9797604" y="569290"/>
                  <a:pt x="9880504" y="651320"/>
                </a:cubicBezTo>
                <a:cubicBezTo>
                  <a:pt x="9928079" y="698702"/>
                  <a:pt x="9978212" y="745433"/>
                  <a:pt x="10033577" y="790623"/>
                </a:cubicBezTo>
                <a:cubicBezTo>
                  <a:pt x="10091144" y="838214"/>
                  <a:pt x="10153052" y="880349"/>
                  <a:pt x="10218528" y="916481"/>
                </a:cubicBezTo>
                <a:cubicBezTo>
                  <a:pt x="10288404" y="954738"/>
                  <a:pt x="10363037" y="983710"/>
                  <a:pt x="10440467" y="1002657"/>
                </a:cubicBezTo>
                <a:cubicBezTo>
                  <a:pt x="10516469" y="1020567"/>
                  <a:pt x="10594314" y="1029434"/>
                  <a:pt x="10672397" y="1029073"/>
                </a:cubicBezTo>
                <a:lnTo>
                  <a:pt x="12176554" y="1029073"/>
                </a:lnTo>
                <a:lnTo>
                  <a:pt x="12176554" y="642555"/>
                </a:lnTo>
                <a:close/>
              </a:path>
            </a:pathLst>
          </a:custGeom>
          <a:solidFill>
            <a:schemeClr val="bg1">
              <a:lumMod val="75000"/>
            </a:schemeClr>
          </a:solidFill>
          <a:ln w="5944" cap="flat">
            <a:noFill/>
            <a:prstDash val="solid"/>
            <a:miter/>
          </a:ln>
        </p:spPr>
        <p:txBody>
          <a:bodyPr rtlCol="0" anchor="ctr"/>
          <a:lstStyle/>
          <a:p>
            <a:endParaRPr lang="en-IN">
              <a:latin typeface="EY interstate"/>
            </a:endParaRPr>
          </a:p>
        </p:txBody>
      </p:sp>
      <p:sp>
        <p:nvSpPr>
          <p:cNvPr id="137" name="Freeform: Shape 136">
            <a:extLst>
              <a:ext uri="{FF2B5EF4-FFF2-40B4-BE49-F238E27FC236}">
                <a16:creationId xmlns:a16="http://schemas.microsoft.com/office/drawing/2014/main" id="{037C106C-C087-A595-3F14-731CE450CFB7}"/>
              </a:ext>
            </a:extLst>
          </p:cNvPr>
          <p:cNvSpPr/>
          <p:nvPr/>
        </p:nvSpPr>
        <p:spPr>
          <a:xfrm>
            <a:off x="8753" y="3303713"/>
            <a:ext cx="9362963" cy="1028743"/>
          </a:xfrm>
          <a:custGeom>
            <a:avLst/>
            <a:gdLst>
              <a:gd name="connsiteX0" fmla="*/ 8908657 w 9362963"/>
              <a:gd name="connsiteY0" fmla="*/ 112825 h 1028743"/>
              <a:gd name="connsiteX1" fmla="*/ 8723826 w 9362963"/>
              <a:gd name="connsiteY1" fmla="*/ 238742 h 1028743"/>
              <a:gd name="connsiteX2" fmla="*/ 8570812 w 9362963"/>
              <a:gd name="connsiteY2" fmla="*/ 378045 h 1028743"/>
              <a:gd name="connsiteX3" fmla="*/ 8321398 w 9362963"/>
              <a:gd name="connsiteY3" fmla="*/ 577168 h 1028743"/>
              <a:gd name="connsiteX4" fmla="*/ 8193895 w 9362963"/>
              <a:gd name="connsiteY4" fmla="*/ 627037 h 1028743"/>
              <a:gd name="connsiteX5" fmla="*/ 8052954 w 9362963"/>
              <a:gd name="connsiteY5" fmla="*/ 642555 h 1028743"/>
              <a:gd name="connsiteX6" fmla="*/ 7912011 w 9362963"/>
              <a:gd name="connsiteY6" fmla="*/ 626978 h 1028743"/>
              <a:gd name="connsiteX7" fmla="*/ 7784509 w 9362963"/>
              <a:gd name="connsiteY7" fmla="*/ 577404 h 1028743"/>
              <a:gd name="connsiteX8" fmla="*/ 7535095 w 9362963"/>
              <a:gd name="connsiteY8" fmla="*/ 378282 h 1028743"/>
              <a:gd name="connsiteX9" fmla="*/ 7382080 w 9362963"/>
              <a:gd name="connsiteY9" fmla="*/ 238979 h 1028743"/>
              <a:gd name="connsiteX10" fmla="*/ 7197250 w 9362963"/>
              <a:gd name="connsiteY10" fmla="*/ 113062 h 1028743"/>
              <a:gd name="connsiteX11" fmla="*/ 6975311 w 9362963"/>
              <a:gd name="connsiteY11" fmla="*/ 26589 h 1028743"/>
              <a:gd name="connsiteX12" fmla="*/ 6511034 w 9362963"/>
              <a:gd name="connsiteY12" fmla="*/ 26589 h 1028743"/>
              <a:gd name="connsiteX13" fmla="*/ 6289035 w 9362963"/>
              <a:gd name="connsiteY13" fmla="*/ 112825 h 1028743"/>
              <a:gd name="connsiteX14" fmla="*/ 6104264 w 9362963"/>
              <a:gd name="connsiteY14" fmla="*/ 238742 h 1028743"/>
              <a:gd name="connsiteX15" fmla="*/ 5951368 w 9362963"/>
              <a:gd name="connsiteY15" fmla="*/ 378045 h 1028743"/>
              <a:gd name="connsiteX16" fmla="*/ 5701597 w 9362963"/>
              <a:gd name="connsiteY16" fmla="*/ 577404 h 1028743"/>
              <a:gd name="connsiteX17" fmla="*/ 5574096 w 9362963"/>
              <a:gd name="connsiteY17" fmla="*/ 627274 h 1028743"/>
              <a:gd name="connsiteX18" fmla="*/ 5433331 w 9362963"/>
              <a:gd name="connsiteY18" fmla="*/ 642555 h 1028743"/>
              <a:gd name="connsiteX19" fmla="*/ 5292389 w 9362963"/>
              <a:gd name="connsiteY19" fmla="*/ 626978 h 1028743"/>
              <a:gd name="connsiteX20" fmla="*/ 5164947 w 9362963"/>
              <a:gd name="connsiteY20" fmla="*/ 577404 h 1028743"/>
              <a:gd name="connsiteX21" fmla="*/ 4915176 w 9362963"/>
              <a:gd name="connsiteY21" fmla="*/ 378282 h 1028743"/>
              <a:gd name="connsiteX22" fmla="*/ 4762161 w 9362963"/>
              <a:gd name="connsiteY22" fmla="*/ 238979 h 1028743"/>
              <a:gd name="connsiteX23" fmla="*/ 4577628 w 9362963"/>
              <a:gd name="connsiteY23" fmla="*/ 112825 h 1028743"/>
              <a:gd name="connsiteX24" fmla="*/ 4355688 w 9362963"/>
              <a:gd name="connsiteY24" fmla="*/ 26589 h 1028743"/>
              <a:gd name="connsiteX25" fmla="*/ 3891411 w 9362963"/>
              <a:gd name="connsiteY25" fmla="*/ 26589 h 1028743"/>
              <a:gd name="connsiteX26" fmla="*/ 3669472 w 9362963"/>
              <a:gd name="connsiteY26" fmla="*/ 112825 h 1028743"/>
              <a:gd name="connsiteX27" fmla="*/ 3484642 w 9362963"/>
              <a:gd name="connsiteY27" fmla="*/ 238742 h 1028743"/>
              <a:gd name="connsiteX28" fmla="*/ 3331627 w 9362963"/>
              <a:gd name="connsiteY28" fmla="*/ 378045 h 1028743"/>
              <a:gd name="connsiteX29" fmla="*/ 3082213 w 9362963"/>
              <a:gd name="connsiteY29" fmla="*/ 577168 h 1028743"/>
              <a:gd name="connsiteX30" fmla="*/ 2954711 w 9362963"/>
              <a:gd name="connsiteY30" fmla="*/ 627037 h 1028743"/>
              <a:gd name="connsiteX31" fmla="*/ 2813769 w 9362963"/>
              <a:gd name="connsiteY31" fmla="*/ 642555 h 1028743"/>
              <a:gd name="connsiteX32" fmla="*/ 2672826 w 9362963"/>
              <a:gd name="connsiteY32" fmla="*/ 626978 h 1028743"/>
              <a:gd name="connsiteX33" fmla="*/ 2545324 w 9362963"/>
              <a:gd name="connsiteY33" fmla="*/ 577404 h 1028743"/>
              <a:gd name="connsiteX34" fmla="*/ 2295910 w 9362963"/>
              <a:gd name="connsiteY34" fmla="*/ 378282 h 1028743"/>
              <a:gd name="connsiteX35" fmla="*/ 2142836 w 9362963"/>
              <a:gd name="connsiteY35" fmla="*/ 238979 h 1028743"/>
              <a:gd name="connsiteX36" fmla="*/ 1958065 w 9362963"/>
              <a:gd name="connsiteY36" fmla="*/ 113062 h 1028743"/>
              <a:gd name="connsiteX37" fmla="*/ 1736126 w 9362963"/>
              <a:gd name="connsiteY37" fmla="*/ 26589 h 1028743"/>
              <a:gd name="connsiteX38" fmla="*/ 1504195 w 9362963"/>
              <a:gd name="connsiteY38" fmla="*/ 115 h 1028743"/>
              <a:gd name="connsiteX39" fmla="*/ -199 w 9362963"/>
              <a:gd name="connsiteY39" fmla="*/ 115 h 1028743"/>
              <a:gd name="connsiteX40" fmla="*/ -199 w 9362963"/>
              <a:gd name="connsiteY40" fmla="*/ 386278 h 1028743"/>
              <a:gd name="connsiteX41" fmla="*/ 1503957 w 9362963"/>
              <a:gd name="connsiteY41" fmla="*/ 386278 h 1028743"/>
              <a:gd name="connsiteX42" fmla="*/ 1644900 w 9362963"/>
              <a:gd name="connsiteY42" fmla="*/ 401914 h 1028743"/>
              <a:gd name="connsiteX43" fmla="*/ 1772283 w 9362963"/>
              <a:gd name="connsiteY43" fmla="*/ 451783 h 1028743"/>
              <a:gd name="connsiteX44" fmla="*/ 2022054 w 9362963"/>
              <a:gd name="connsiteY44" fmla="*/ 651083 h 1028743"/>
              <a:gd name="connsiteX45" fmla="*/ 2175128 w 9362963"/>
              <a:gd name="connsiteY45" fmla="*/ 790386 h 1028743"/>
              <a:gd name="connsiteX46" fmla="*/ 2360018 w 9362963"/>
              <a:gd name="connsiteY46" fmla="*/ 916244 h 1028743"/>
              <a:gd name="connsiteX47" fmla="*/ 2581957 w 9362963"/>
              <a:gd name="connsiteY47" fmla="*/ 1002420 h 1028743"/>
              <a:gd name="connsiteX48" fmla="*/ 2813887 w 9362963"/>
              <a:gd name="connsiteY48" fmla="*/ 1028836 h 1028743"/>
              <a:gd name="connsiteX49" fmla="*/ 3045818 w 9362963"/>
              <a:gd name="connsiteY49" fmla="*/ 1002420 h 1028743"/>
              <a:gd name="connsiteX50" fmla="*/ 3267757 w 9362963"/>
              <a:gd name="connsiteY50" fmla="*/ 916244 h 1028743"/>
              <a:gd name="connsiteX51" fmla="*/ 3452707 w 9362963"/>
              <a:gd name="connsiteY51" fmla="*/ 790623 h 1028743"/>
              <a:gd name="connsiteX52" fmla="*/ 3605840 w 9362963"/>
              <a:gd name="connsiteY52" fmla="*/ 651320 h 1028743"/>
              <a:gd name="connsiteX53" fmla="*/ 3855254 w 9362963"/>
              <a:gd name="connsiteY53" fmla="*/ 452020 h 1028743"/>
              <a:gd name="connsiteX54" fmla="*/ 3982935 w 9362963"/>
              <a:gd name="connsiteY54" fmla="*/ 401914 h 1028743"/>
              <a:gd name="connsiteX55" fmla="*/ 4264700 w 9362963"/>
              <a:gd name="connsiteY55" fmla="*/ 401914 h 1028743"/>
              <a:gd name="connsiteX56" fmla="*/ 4392143 w 9362963"/>
              <a:gd name="connsiteY56" fmla="*/ 451783 h 1028743"/>
              <a:gd name="connsiteX57" fmla="*/ 4641557 w 9362963"/>
              <a:gd name="connsiteY57" fmla="*/ 651083 h 1028743"/>
              <a:gd name="connsiteX58" fmla="*/ 4794691 w 9362963"/>
              <a:gd name="connsiteY58" fmla="*/ 790386 h 1028743"/>
              <a:gd name="connsiteX59" fmla="*/ 4979581 w 9362963"/>
              <a:gd name="connsiteY59" fmla="*/ 916244 h 1028743"/>
              <a:gd name="connsiteX60" fmla="*/ 5201520 w 9362963"/>
              <a:gd name="connsiteY60" fmla="*/ 1002420 h 1028743"/>
              <a:gd name="connsiteX61" fmla="*/ 5433451 w 9362963"/>
              <a:gd name="connsiteY61" fmla="*/ 1028836 h 1028743"/>
              <a:gd name="connsiteX62" fmla="*/ 5665381 w 9362963"/>
              <a:gd name="connsiteY62" fmla="*/ 1002420 h 1028743"/>
              <a:gd name="connsiteX63" fmla="*/ 5887320 w 9362963"/>
              <a:gd name="connsiteY63" fmla="*/ 916244 h 1028743"/>
              <a:gd name="connsiteX64" fmla="*/ 6072269 w 9362963"/>
              <a:gd name="connsiteY64" fmla="*/ 790623 h 1028743"/>
              <a:gd name="connsiteX65" fmla="*/ 6225403 w 9362963"/>
              <a:gd name="connsiteY65" fmla="*/ 651320 h 1028743"/>
              <a:gd name="connsiteX66" fmla="*/ 6474698 w 9362963"/>
              <a:gd name="connsiteY66" fmla="*/ 451783 h 1028743"/>
              <a:gd name="connsiteX67" fmla="*/ 6602141 w 9362963"/>
              <a:gd name="connsiteY67" fmla="*/ 401914 h 1028743"/>
              <a:gd name="connsiteX68" fmla="*/ 6883965 w 9362963"/>
              <a:gd name="connsiteY68" fmla="*/ 401914 h 1028743"/>
              <a:gd name="connsiteX69" fmla="*/ 7011349 w 9362963"/>
              <a:gd name="connsiteY69" fmla="*/ 451783 h 1028743"/>
              <a:gd name="connsiteX70" fmla="*/ 7260763 w 9362963"/>
              <a:gd name="connsiteY70" fmla="*/ 651083 h 1028743"/>
              <a:gd name="connsiteX71" fmla="*/ 7413956 w 9362963"/>
              <a:gd name="connsiteY71" fmla="*/ 790386 h 1028743"/>
              <a:gd name="connsiteX72" fmla="*/ 7598668 w 9362963"/>
              <a:gd name="connsiteY72" fmla="*/ 916244 h 1028743"/>
              <a:gd name="connsiteX73" fmla="*/ 7820607 w 9362963"/>
              <a:gd name="connsiteY73" fmla="*/ 1002420 h 1028743"/>
              <a:gd name="connsiteX74" fmla="*/ 8052537 w 9362963"/>
              <a:gd name="connsiteY74" fmla="*/ 1028836 h 1028743"/>
              <a:gd name="connsiteX75" fmla="*/ 8284467 w 9362963"/>
              <a:gd name="connsiteY75" fmla="*/ 1002420 h 1028743"/>
              <a:gd name="connsiteX76" fmla="*/ 8506407 w 9362963"/>
              <a:gd name="connsiteY76" fmla="*/ 916244 h 1028743"/>
              <a:gd name="connsiteX77" fmla="*/ 8691891 w 9362963"/>
              <a:gd name="connsiteY77" fmla="*/ 790623 h 1028743"/>
              <a:gd name="connsiteX78" fmla="*/ 8845024 w 9362963"/>
              <a:gd name="connsiteY78" fmla="*/ 651320 h 1028743"/>
              <a:gd name="connsiteX79" fmla="*/ 9094379 w 9362963"/>
              <a:gd name="connsiteY79" fmla="*/ 452020 h 1028743"/>
              <a:gd name="connsiteX80" fmla="*/ 9221822 w 9362963"/>
              <a:gd name="connsiteY80" fmla="*/ 402151 h 1028743"/>
              <a:gd name="connsiteX81" fmla="*/ 9362764 w 9362963"/>
              <a:gd name="connsiteY81" fmla="*/ 386515 h 1028743"/>
              <a:gd name="connsiteX82" fmla="*/ 9362764 w 9362963"/>
              <a:gd name="connsiteY82" fmla="*/ 352 h 1028743"/>
              <a:gd name="connsiteX83" fmla="*/ 9130834 w 9362963"/>
              <a:gd name="connsiteY83" fmla="*/ 26826 h 1028743"/>
              <a:gd name="connsiteX84" fmla="*/ 8908657 w 9362963"/>
              <a:gd name="connsiteY84" fmla="*/ 112825 h 102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362963" h="1028743">
                <a:moveTo>
                  <a:pt x="8908657" y="112825"/>
                </a:moveTo>
                <a:cubicBezTo>
                  <a:pt x="8843241" y="148998"/>
                  <a:pt x="8781393" y="191153"/>
                  <a:pt x="8723826" y="238742"/>
                </a:cubicBezTo>
                <a:cubicBezTo>
                  <a:pt x="8668460" y="283933"/>
                  <a:pt x="8618328" y="330900"/>
                  <a:pt x="8570812" y="378045"/>
                </a:cubicBezTo>
                <a:cubicBezTo>
                  <a:pt x="8488209" y="460075"/>
                  <a:pt x="8404714" y="532036"/>
                  <a:pt x="8321398" y="577168"/>
                </a:cubicBezTo>
                <a:cubicBezTo>
                  <a:pt x="8281316" y="599320"/>
                  <a:pt x="8238438" y="616089"/>
                  <a:pt x="8193895" y="627037"/>
                </a:cubicBezTo>
                <a:cubicBezTo>
                  <a:pt x="8147688" y="637789"/>
                  <a:pt x="8100410" y="642999"/>
                  <a:pt x="8052954" y="642555"/>
                </a:cubicBezTo>
                <a:cubicBezTo>
                  <a:pt x="8005497" y="642980"/>
                  <a:pt x="7958219" y="637750"/>
                  <a:pt x="7912011" y="626978"/>
                </a:cubicBezTo>
                <a:cubicBezTo>
                  <a:pt x="7867528" y="616123"/>
                  <a:pt x="7824651" y="599454"/>
                  <a:pt x="7784509" y="577404"/>
                </a:cubicBezTo>
                <a:cubicBezTo>
                  <a:pt x="7701252" y="532392"/>
                  <a:pt x="7617995" y="460312"/>
                  <a:pt x="7535095" y="378282"/>
                </a:cubicBezTo>
                <a:cubicBezTo>
                  <a:pt x="7487520" y="330900"/>
                  <a:pt x="7437446" y="284170"/>
                  <a:pt x="7382080" y="238979"/>
                </a:cubicBezTo>
                <a:cubicBezTo>
                  <a:pt x="7324514" y="191376"/>
                  <a:pt x="7262666" y="149221"/>
                  <a:pt x="7197250" y="113062"/>
                </a:cubicBezTo>
                <a:cubicBezTo>
                  <a:pt x="7127433" y="74654"/>
                  <a:pt x="7052799" y="45580"/>
                  <a:pt x="6975311" y="26589"/>
                </a:cubicBezTo>
                <a:cubicBezTo>
                  <a:pt x="6822593" y="-8710"/>
                  <a:pt x="6663751" y="-8710"/>
                  <a:pt x="6511034" y="26589"/>
                </a:cubicBezTo>
                <a:cubicBezTo>
                  <a:pt x="6433545" y="45504"/>
                  <a:pt x="6358912" y="74499"/>
                  <a:pt x="6289035" y="112825"/>
                </a:cubicBezTo>
                <a:cubicBezTo>
                  <a:pt x="6223678" y="148984"/>
                  <a:pt x="6161771" y="191139"/>
                  <a:pt x="6104264" y="238742"/>
                </a:cubicBezTo>
                <a:cubicBezTo>
                  <a:pt x="6048898" y="283933"/>
                  <a:pt x="5998944" y="330900"/>
                  <a:pt x="5951368" y="378045"/>
                </a:cubicBezTo>
                <a:cubicBezTo>
                  <a:pt x="5868587" y="460075"/>
                  <a:pt x="5784854" y="532155"/>
                  <a:pt x="5701597" y="577404"/>
                </a:cubicBezTo>
                <a:cubicBezTo>
                  <a:pt x="5661456" y="599538"/>
                  <a:pt x="5618638" y="616305"/>
                  <a:pt x="5574096" y="627274"/>
                </a:cubicBezTo>
                <a:cubicBezTo>
                  <a:pt x="5527947" y="637930"/>
                  <a:pt x="5480669" y="643060"/>
                  <a:pt x="5433331" y="642555"/>
                </a:cubicBezTo>
                <a:cubicBezTo>
                  <a:pt x="5385875" y="642980"/>
                  <a:pt x="5338597" y="637750"/>
                  <a:pt x="5292389" y="626978"/>
                </a:cubicBezTo>
                <a:cubicBezTo>
                  <a:pt x="5247906" y="616123"/>
                  <a:pt x="5205029" y="599454"/>
                  <a:pt x="5164947" y="577404"/>
                </a:cubicBezTo>
                <a:cubicBezTo>
                  <a:pt x="5081690" y="532392"/>
                  <a:pt x="4998433" y="460312"/>
                  <a:pt x="4915176" y="378282"/>
                </a:cubicBezTo>
                <a:cubicBezTo>
                  <a:pt x="4867600" y="330900"/>
                  <a:pt x="4817527" y="284170"/>
                  <a:pt x="4762161" y="238979"/>
                </a:cubicBezTo>
                <a:cubicBezTo>
                  <a:pt x="4704719" y="191309"/>
                  <a:pt x="4642943" y="149075"/>
                  <a:pt x="4577628" y="112825"/>
                </a:cubicBezTo>
                <a:cubicBezTo>
                  <a:pt x="4507769" y="74499"/>
                  <a:pt x="4433147" y="45504"/>
                  <a:pt x="4355688" y="26589"/>
                </a:cubicBezTo>
                <a:cubicBezTo>
                  <a:pt x="4202959" y="-8710"/>
                  <a:pt x="4044141" y="-8710"/>
                  <a:pt x="3891411" y="26589"/>
                </a:cubicBezTo>
                <a:cubicBezTo>
                  <a:pt x="3813953" y="45504"/>
                  <a:pt x="3739331" y="74499"/>
                  <a:pt x="3669472" y="112825"/>
                </a:cubicBezTo>
                <a:cubicBezTo>
                  <a:pt x="3604068" y="148984"/>
                  <a:pt x="3542190" y="191139"/>
                  <a:pt x="3484642" y="238742"/>
                </a:cubicBezTo>
                <a:cubicBezTo>
                  <a:pt x="3429276" y="283933"/>
                  <a:pt x="3379143" y="330900"/>
                  <a:pt x="3331627" y="378045"/>
                </a:cubicBezTo>
                <a:cubicBezTo>
                  <a:pt x="3249024" y="460075"/>
                  <a:pt x="3165529" y="532036"/>
                  <a:pt x="3082213" y="577168"/>
                </a:cubicBezTo>
                <a:cubicBezTo>
                  <a:pt x="3042107" y="599320"/>
                  <a:pt x="2999235" y="616089"/>
                  <a:pt x="2954711" y="627037"/>
                </a:cubicBezTo>
                <a:cubicBezTo>
                  <a:pt x="2908521" y="637789"/>
                  <a:pt x="2861201" y="642999"/>
                  <a:pt x="2813769" y="642555"/>
                </a:cubicBezTo>
                <a:cubicBezTo>
                  <a:pt x="2766330" y="642980"/>
                  <a:pt x="2719016" y="637750"/>
                  <a:pt x="2672826" y="626978"/>
                </a:cubicBezTo>
                <a:cubicBezTo>
                  <a:pt x="2628320" y="616123"/>
                  <a:pt x="2585442" y="599454"/>
                  <a:pt x="2545324" y="577404"/>
                </a:cubicBezTo>
                <a:cubicBezTo>
                  <a:pt x="2462067" y="532392"/>
                  <a:pt x="2378810" y="460312"/>
                  <a:pt x="2295910" y="378282"/>
                </a:cubicBezTo>
                <a:cubicBezTo>
                  <a:pt x="2248335" y="330900"/>
                  <a:pt x="2198262" y="284170"/>
                  <a:pt x="2142836" y="238979"/>
                </a:cubicBezTo>
                <a:cubicBezTo>
                  <a:pt x="2085323" y="191363"/>
                  <a:pt x="2023463" y="149207"/>
                  <a:pt x="1958065" y="113062"/>
                </a:cubicBezTo>
                <a:cubicBezTo>
                  <a:pt x="1888218" y="74654"/>
                  <a:pt x="1813596" y="45580"/>
                  <a:pt x="1736126" y="26589"/>
                </a:cubicBezTo>
                <a:cubicBezTo>
                  <a:pt x="1660148" y="8608"/>
                  <a:pt x="1582290" y="-276"/>
                  <a:pt x="1504195" y="115"/>
                </a:cubicBezTo>
                <a:lnTo>
                  <a:pt x="-199" y="115"/>
                </a:lnTo>
                <a:lnTo>
                  <a:pt x="-199" y="386278"/>
                </a:lnTo>
                <a:lnTo>
                  <a:pt x="1503957" y="386278"/>
                </a:lnTo>
                <a:cubicBezTo>
                  <a:pt x="1551396" y="385872"/>
                  <a:pt x="1598716" y="391121"/>
                  <a:pt x="1644900" y="401914"/>
                </a:cubicBezTo>
                <a:cubicBezTo>
                  <a:pt x="1689371" y="412911"/>
                  <a:pt x="1732195" y="429678"/>
                  <a:pt x="1772283" y="451783"/>
                </a:cubicBezTo>
                <a:cubicBezTo>
                  <a:pt x="1855540" y="496855"/>
                  <a:pt x="1938797" y="569053"/>
                  <a:pt x="2022054" y="651083"/>
                </a:cubicBezTo>
                <a:cubicBezTo>
                  <a:pt x="2069629" y="698465"/>
                  <a:pt x="2119703" y="745196"/>
                  <a:pt x="2175128" y="790386"/>
                </a:cubicBezTo>
                <a:cubicBezTo>
                  <a:pt x="2232682" y="837990"/>
                  <a:pt x="2294584" y="880126"/>
                  <a:pt x="2360018" y="916244"/>
                </a:cubicBezTo>
                <a:cubicBezTo>
                  <a:pt x="2429900" y="954501"/>
                  <a:pt x="2504516" y="983473"/>
                  <a:pt x="2581957" y="1002420"/>
                </a:cubicBezTo>
                <a:cubicBezTo>
                  <a:pt x="2657947" y="1020330"/>
                  <a:pt x="2735798" y="1029197"/>
                  <a:pt x="2813887" y="1028836"/>
                </a:cubicBezTo>
                <a:cubicBezTo>
                  <a:pt x="2891977" y="1029197"/>
                  <a:pt x="2969828" y="1020330"/>
                  <a:pt x="3045818" y="1002420"/>
                </a:cubicBezTo>
                <a:cubicBezTo>
                  <a:pt x="3123259" y="983463"/>
                  <a:pt x="3197869" y="954491"/>
                  <a:pt x="3267757" y="916244"/>
                </a:cubicBezTo>
                <a:cubicBezTo>
                  <a:pt x="3333203" y="880205"/>
                  <a:pt x="3395122" y="838147"/>
                  <a:pt x="3452707" y="790623"/>
                </a:cubicBezTo>
                <a:cubicBezTo>
                  <a:pt x="3508132" y="745433"/>
                  <a:pt x="3558265" y="698465"/>
                  <a:pt x="3605840" y="651320"/>
                </a:cubicBezTo>
                <a:cubicBezTo>
                  <a:pt x="3688502" y="569290"/>
                  <a:pt x="3771938" y="497329"/>
                  <a:pt x="3855254" y="452020"/>
                </a:cubicBezTo>
                <a:cubicBezTo>
                  <a:pt x="3895414" y="429791"/>
                  <a:pt x="3938345" y="412944"/>
                  <a:pt x="3982935" y="401914"/>
                </a:cubicBezTo>
                <a:cubicBezTo>
                  <a:pt x="4075689" y="381066"/>
                  <a:pt x="4171946" y="381066"/>
                  <a:pt x="4264700" y="401914"/>
                </a:cubicBezTo>
                <a:cubicBezTo>
                  <a:pt x="4309195" y="412899"/>
                  <a:pt x="4352043" y="429666"/>
                  <a:pt x="4392143" y="451783"/>
                </a:cubicBezTo>
                <a:cubicBezTo>
                  <a:pt x="4475400" y="496855"/>
                  <a:pt x="4558657" y="569053"/>
                  <a:pt x="4641557" y="651083"/>
                </a:cubicBezTo>
                <a:cubicBezTo>
                  <a:pt x="4689133" y="698465"/>
                  <a:pt x="4739265" y="745196"/>
                  <a:pt x="4794691" y="790386"/>
                </a:cubicBezTo>
                <a:cubicBezTo>
                  <a:pt x="4852257" y="837990"/>
                  <a:pt x="4914164" y="880126"/>
                  <a:pt x="4979581" y="916244"/>
                </a:cubicBezTo>
                <a:cubicBezTo>
                  <a:pt x="5049457" y="954501"/>
                  <a:pt x="5124091" y="983473"/>
                  <a:pt x="5201520" y="1002420"/>
                </a:cubicBezTo>
                <a:cubicBezTo>
                  <a:pt x="5277521" y="1020330"/>
                  <a:pt x="5355367" y="1029197"/>
                  <a:pt x="5433451" y="1028836"/>
                </a:cubicBezTo>
                <a:cubicBezTo>
                  <a:pt x="5511534" y="1029197"/>
                  <a:pt x="5589379" y="1020330"/>
                  <a:pt x="5665381" y="1002420"/>
                </a:cubicBezTo>
                <a:cubicBezTo>
                  <a:pt x="5742810" y="983473"/>
                  <a:pt x="5817443" y="954501"/>
                  <a:pt x="5887320" y="916244"/>
                </a:cubicBezTo>
                <a:cubicBezTo>
                  <a:pt x="5952796" y="880205"/>
                  <a:pt x="6014703" y="838147"/>
                  <a:pt x="6072269" y="790623"/>
                </a:cubicBezTo>
                <a:cubicBezTo>
                  <a:pt x="6127695" y="745433"/>
                  <a:pt x="6177827" y="698465"/>
                  <a:pt x="6225403" y="651320"/>
                </a:cubicBezTo>
                <a:cubicBezTo>
                  <a:pt x="6308184" y="569053"/>
                  <a:pt x="6391441" y="496855"/>
                  <a:pt x="6474698" y="451783"/>
                </a:cubicBezTo>
                <a:cubicBezTo>
                  <a:pt x="6514780" y="429666"/>
                  <a:pt x="6557657" y="412899"/>
                  <a:pt x="6602141" y="401914"/>
                </a:cubicBezTo>
                <a:cubicBezTo>
                  <a:pt x="6694913" y="381066"/>
                  <a:pt x="6791193" y="381066"/>
                  <a:pt x="6883965" y="401914"/>
                </a:cubicBezTo>
                <a:cubicBezTo>
                  <a:pt x="6928449" y="412900"/>
                  <a:pt x="6971267" y="429666"/>
                  <a:pt x="7011349" y="451783"/>
                </a:cubicBezTo>
                <a:cubicBezTo>
                  <a:pt x="7094606" y="496855"/>
                  <a:pt x="7177863" y="569053"/>
                  <a:pt x="7260763" y="651083"/>
                </a:cubicBezTo>
                <a:cubicBezTo>
                  <a:pt x="7308339" y="698465"/>
                  <a:pt x="7358471" y="745196"/>
                  <a:pt x="7413956" y="790386"/>
                </a:cubicBezTo>
                <a:cubicBezTo>
                  <a:pt x="7471463" y="837983"/>
                  <a:pt x="7533311" y="880119"/>
                  <a:pt x="7598668" y="916244"/>
                </a:cubicBezTo>
                <a:cubicBezTo>
                  <a:pt x="7668544" y="954501"/>
                  <a:pt x="7743178" y="983473"/>
                  <a:pt x="7820607" y="1002420"/>
                </a:cubicBezTo>
                <a:cubicBezTo>
                  <a:pt x="7896609" y="1020330"/>
                  <a:pt x="7974454" y="1029197"/>
                  <a:pt x="8052537" y="1028836"/>
                </a:cubicBezTo>
                <a:cubicBezTo>
                  <a:pt x="8130620" y="1029197"/>
                  <a:pt x="8208466" y="1020330"/>
                  <a:pt x="8284467" y="1002420"/>
                </a:cubicBezTo>
                <a:cubicBezTo>
                  <a:pt x="8361896" y="983463"/>
                  <a:pt x="8436530" y="954491"/>
                  <a:pt x="8506407" y="916244"/>
                </a:cubicBezTo>
                <a:cubicBezTo>
                  <a:pt x="8572001" y="880218"/>
                  <a:pt x="8634147" y="838161"/>
                  <a:pt x="8691891" y="790623"/>
                </a:cubicBezTo>
                <a:cubicBezTo>
                  <a:pt x="8747317" y="745433"/>
                  <a:pt x="8797449" y="698465"/>
                  <a:pt x="8845024" y="651320"/>
                </a:cubicBezTo>
                <a:cubicBezTo>
                  <a:pt x="8927687" y="569290"/>
                  <a:pt x="9011122" y="497329"/>
                  <a:pt x="9094379" y="452020"/>
                </a:cubicBezTo>
                <a:cubicBezTo>
                  <a:pt x="9134462" y="429922"/>
                  <a:pt x="9177339" y="413156"/>
                  <a:pt x="9221822" y="402151"/>
                </a:cubicBezTo>
                <a:cubicBezTo>
                  <a:pt x="9268029" y="391358"/>
                  <a:pt x="9315308" y="386109"/>
                  <a:pt x="9362764" y="386515"/>
                </a:cubicBezTo>
                <a:lnTo>
                  <a:pt x="9362764" y="352"/>
                </a:lnTo>
                <a:cubicBezTo>
                  <a:pt x="9284681" y="-39"/>
                  <a:pt x="9206836" y="8845"/>
                  <a:pt x="9130834" y="26826"/>
                </a:cubicBezTo>
                <a:cubicBezTo>
                  <a:pt x="9053286" y="45647"/>
                  <a:pt x="8978593" y="74562"/>
                  <a:pt x="8908657" y="112825"/>
                </a:cubicBezTo>
                <a:close/>
              </a:path>
            </a:pathLst>
          </a:custGeom>
          <a:noFill/>
          <a:ln w="5944" cap="flat">
            <a:noFill/>
            <a:prstDash val="solid"/>
            <a:miter/>
          </a:ln>
        </p:spPr>
        <p:txBody>
          <a:bodyPr rtlCol="0" anchor="ctr"/>
          <a:lstStyle/>
          <a:p>
            <a:endParaRPr lang="en-IN">
              <a:latin typeface="EY interstate"/>
            </a:endParaRPr>
          </a:p>
        </p:txBody>
      </p:sp>
      <p:sp>
        <p:nvSpPr>
          <p:cNvPr id="138" name="Freeform: Shape 137">
            <a:extLst>
              <a:ext uri="{FF2B5EF4-FFF2-40B4-BE49-F238E27FC236}">
                <a16:creationId xmlns:a16="http://schemas.microsoft.com/office/drawing/2014/main" id="{7A6A3312-FF17-A66B-B7ED-7F611B162E9A}"/>
              </a:ext>
            </a:extLst>
          </p:cNvPr>
          <p:cNvSpPr/>
          <p:nvPr/>
        </p:nvSpPr>
        <p:spPr>
          <a:xfrm>
            <a:off x="9371954" y="3303713"/>
            <a:ext cx="2813789" cy="1028743"/>
          </a:xfrm>
          <a:custGeom>
            <a:avLst/>
            <a:gdLst>
              <a:gd name="connsiteX0" fmla="*/ 2061423 w 2813789"/>
              <a:gd name="connsiteY0" fmla="*/ 642555 h 1028743"/>
              <a:gd name="connsiteX1" fmla="*/ 1309314 w 2813789"/>
              <a:gd name="connsiteY1" fmla="*/ 642555 h 1028743"/>
              <a:gd name="connsiteX2" fmla="*/ 1168372 w 2813789"/>
              <a:gd name="connsiteY2" fmla="*/ 626978 h 1028743"/>
              <a:gd name="connsiteX3" fmla="*/ 1040929 w 2813789"/>
              <a:gd name="connsiteY3" fmla="*/ 577404 h 1028743"/>
              <a:gd name="connsiteX4" fmla="*/ 791158 w 2813789"/>
              <a:gd name="connsiteY4" fmla="*/ 378282 h 1028743"/>
              <a:gd name="connsiteX5" fmla="*/ 638144 w 2813789"/>
              <a:gd name="connsiteY5" fmla="*/ 238979 h 1028743"/>
              <a:gd name="connsiteX6" fmla="*/ 453670 w 2813789"/>
              <a:gd name="connsiteY6" fmla="*/ 112825 h 1028743"/>
              <a:gd name="connsiteX7" fmla="*/ 231731 w 2813789"/>
              <a:gd name="connsiteY7" fmla="*/ 26589 h 1028743"/>
              <a:gd name="connsiteX8" fmla="*/ -199 w 2813789"/>
              <a:gd name="connsiteY8" fmla="*/ 115 h 1028743"/>
              <a:gd name="connsiteX9" fmla="*/ -199 w 2813789"/>
              <a:gd name="connsiteY9" fmla="*/ 386278 h 1028743"/>
              <a:gd name="connsiteX10" fmla="*/ 140683 w 2813789"/>
              <a:gd name="connsiteY10" fmla="*/ 401914 h 1028743"/>
              <a:gd name="connsiteX11" fmla="*/ 268126 w 2813789"/>
              <a:gd name="connsiteY11" fmla="*/ 451783 h 1028743"/>
              <a:gd name="connsiteX12" fmla="*/ 517540 w 2813789"/>
              <a:gd name="connsiteY12" fmla="*/ 651083 h 1028743"/>
              <a:gd name="connsiteX13" fmla="*/ 670614 w 2813789"/>
              <a:gd name="connsiteY13" fmla="*/ 790386 h 1028743"/>
              <a:gd name="connsiteX14" fmla="*/ 855563 w 2813789"/>
              <a:gd name="connsiteY14" fmla="*/ 916244 h 1028743"/>
              <a:gd name="connsiteX15" fmla="*/ 1077503 w 2813789"/>
              <a:gd name="connsiteY15" fmla="*/ 1002420 h 1028743"/>
              <a:gd name="connsiteX16" fmla="*/ 1309433 w 2813789"/>
              <a:gd name="connsiteY16" fmla="*/ 1028836 h 1028743"/>
              <a:gd name="connsiteX17" fmla="*/ 2813590 w 2813789"/>
              <a:gd name="connsiteY17" fmla="*/ 1028836 h 1028743"/>
              <a:gd name="connsiteX18" fmla="*/ 2813590 w 2813789"/>
              <a:gd name="connsiteY18" fmla="*/ 642555 h 102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13789" h="1028743">
                <a:moveTo>
                  <a:pt x="2061423" y="642555"/>
                </a:moveTo>
                <a:lnTo>
                  <a:pt x="1309314" y="642555"/>
                </a:lnTo>
                <a:cubicBezTo>
                  <a:pt x="1261858" y="642980"/>
                  <a:pt x="1214579" y="637750"/>
                  <a:pt x="1168372" y="626978"/>
                </a:cubicBezTo>
                <a:cubicBezTo>
                  <a:pt x="1123889" y="616112"/>
                  <a:pt x="1081012" y="599444"/>
                  <a:pt x="1040929" y="577404"/>
                </a:cubicBezTo>
                <a:cubicBezTo>
                  <a:pt x="957672" y="532392"/>
                  <a:pt x="874415" y="460312"/>
                  <a:pt x="791158" y="378282"/>
                </a:cubicBezTo>
                <a:cubicBezTo>
                  <a:pt x="743583" y="330900"/>
                  <a:pt x="693509" y="284170"/>
                  <a:pt x="638144" y="238979"/>
                </a:cubicBezTo>
                <a:cubicBezTo>
                  <a:pt x="580696" y="191312"/>
                  <a:pt x="518967" y="149078"/>
                  <a:pt x="453670" y="112825"/>
                </a:cubicBezTo>
                <a:cubicBezTo>
                  <a:pt x="383794" y="74494"/>
                  <a:pt x="309219" y="45500"/>
                  <a:pt x="231731" y="26589"/>
                </a:cubicBezTo>
                <a:cubicBezTo>
                  <a:pt x="155729" y="8608"/>
                  <a:pt x="77884" y="-276"/>
                  <a:pt x="-199" y="115"/>
                </a:cubicBezTo>
                <a:lnTo>
                  <a:pt x="-199" y="386278"/>
                </a:lnTo>
                <a:cubicBezTo>
                  <a:pt x="47198" y="385870"/>
                  <a:pt x="94535" y="391119"/>
                  <a:pt x="140683" y="401914"/>
                </a:cubicBezTo>
                <a:cubicBezTo>
                  <a:pt x="185166" y="412899"/>
                  <a:pt x="228044" y="429666"/>
                  <a:pt x="268126" y="451783"/>
                </a:cubicBezTo>
                <a:cubicBezTo>
                  <a:pt x="351383" y="496855"/>
                  <a:pt x="434640" y="569053"/>
                  <a:pt x="517540" y="651083"/>
                </a:cubicBezTo>
                <a:cubicBezTo>
                  <a:pt x="565115" y="698465"/>
                  <a:pt x="615248" y="745196"/>
                  <a:pt x="670614" y="790386"/>
                </a:cubicBezTo>
                <a:cubicBezTo>
                  <a:pt x="728181" y="837977"/>
                  <a:pt x="790088" y="880112"/>
                  <a:pt x="855563" y="916244"/>
                </a:cubicBezTo>
                <a:cubicBezTo>
                  <a:pt x="925440" y="954501"/>
                  <a:pt x="1000074" y="983473"/>
                  <a:pt x="1077503" y="1002420"/>
                </a:cubicBezTo>
                <a:cubicBezTo>
                  <a:pt x="1153505" y="1020330"/>
                  <a:pt x="1231350" y="1029197"/>
                  <a:pt x="1309433" y="1028836"/>
                </a:cubicBezTo>
                <a:lnTo>
                  <a:pt x="2813590" y="1028836"/>
                </a:lnTo>
                <a:lnTo>
                  <a:pt x="2813590" y="642555"/>
                </a:lnTo>
                <a:close/>
              </a:path>
            </a:pathLst>
          </a:custGeom>
          <a:noFill/>
          <a:ln w="5944" cap="flat">
            <a:noFill/>
            <a:prstDash val="solid"/>
            <a:miter/>
          </a:ln>
        </p:spPr>
        <p:txBody>
          <a:bodyPr rtlCol="0" anchor="ctr"/>
          <a:lstStyle/>
          <a:p>
            <a:endParaRPr lang="en-IN">
              <a:latin typeface="EY interstate"/>
            </a:endParaRPr>
          </a:p>
        </p:txBody>
      </p:sp>
      <p:sp>
        <p:nvSpPr>
          <p:cNvPr id="139" name="Freeform: Shape 138">
            <a:extLst>
              <a:ext uri="{FF2B5EF4-FFF2-40B4-BE49-F238E27FC236}">
                <a16:creationId xmlns:a16="http://schemas.microsoft.com/office/drawing/2014/main" id="{7A88B5FA-87CF-822C-0DD0-0968357F0F73}"/>
              </a:ext>
            </a:extLst>
          </p:cNvPr>
          <p:cNvSpPr/>
          <p:nvPr/>
        </p:nvSpPr>
        <p:spPr>
          <a:xfrm>
            <a:off x="7484524" y="3891019"/>
            <a:ext cx="65136" cy="58634"/>
          </a:xfrm>
          <a:custGeom>
            <a:avLst/>
            <a:gdLst>
              <a:gd name="connsiteX0" fmla="*/ 1043 w 65136"/>
              <a:gd name="connsiteY0" fmla="*/ 13375 h 58634"/>
              <a:gd name="connsiteX1" fmla="*/ 26733 w 65136"/>
              <a:gd name="connsiteY1" fmla="*/ 35882 h 58634"/>
              <a:gd name="connsiteX2" fmla="*/ 52900 w 65136"/>
              <a:gd name="connsiteY2" fmla="*/ 57736 h 58634"/>
              <a:gd name="connsiteX3" fmla="*/ 57717 w 65136"/>
              <a:gd name="connsiteY3" fmla="*/ 57760 h 58634"/>
              <a:gd name="connsiteX4" fmla="*/ 57717 w 65136"/>
              <a:gd name="connsiteY4" fmla="*/ 57736 h 58634"/>
              <a:gd name="connsiteX5" fmla="*/ 64318 w 65136"/>
              <a:gd name="connsiteY5" fmla="*/ 49681 h 58634"/>
              <a:gd name="connsiteX6" fmla="*/ 63545 w 65136"/>
              <a:gd name="connsiteY6" fmla="*/ 45003 h 58634"/>
              <a:gd name="connsiteX7" fmla="*/ 37617 w 65136"/>
              <a:gd name="connsiteY7" fmla="*/ 23385 h 58634"/>
              <a:gd name="connsiteX8" fmla="*/ 12223 w 65136"/>
              <a:gd name="connsiteY8" fmla="*/ 1056 h 58634"/>
              <a:gd name="connsiteX9" fmla="*/ 7406 w 65136"/>
              <a:gd name="connsiteY9" fmla="*/ 1056 h 58634"/>
              <a:gd name="connsiteX10" fmla="*/ 448 w 65136"/>
              <a:gd name="connsiteY10" fmla="*/ 8815 h 58634"/>
              <a:gd name="connsiteX11" fmla="*/ 1043 w 65136"/>
              <a:gd name="connsiteY11" fmla="*/ 13375 h 5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36" h="58634">
                <a:moveTo>
                  <a:pt x="1043" y="13375"/>
                </a:moveTo>
                <a:lnTo>
                  <a:pt x="26733" y="35882"/>
                </a:lnTo>
                <a:cubicBezTo>
                  <a:pt x="35178" y="43522"/>
                  <a:pt x="44218" y="50451"/>
                  <a:pt x="52900" y="57736"/>
                </a:cubicBezTo>
                <a:cubicBezTo>
                  <a:pt x="54208" y="59061"/>
                  <a:pt x="56350" y="59072"/>
                  <a:pt x="57717" y="57760"/>
                </a:cubicBezTo>
                <a:cubicBezTo>
                  <a:pt x="57717" y="57752"/>
                  <a:pt x="57717" y="57744"/>
                  <a:pt x="57717" y="57736"/>
                </a:cubicBezTo>
                <a:lnTo>
                  <a:pt x="64318" y="49681"/>
                </a:lnTo>
                <a:cubicBezTo>
                  <a:pt x="65388" y="48174"/>
                  <a:pt x="65032" y="46089"/>
                  <a:pt x="63545" y="45003"/>
                </a:cubicBezTo>
                <a:cubicBezTo>
                  <a:pt x="54863" y="37777"/>
                  <a:pt x="45704" y="30906"/>
                  <a:pt x="37617" y="23385"/>
                </a:cubicBezTo>
                <a:lnTo>
                  <a:pt x="12223" y="1056"/>
                </a:lnTo>
                <a:cubicBezTo>
                  <a:pt x="10855" y="-215"/>
                  <a:pt x="8774" y="-215"/>
                  <a:pt x="7406" y="1056"/>
                </a:cubicBezTo>
                <a:lnTo>
                  <a:pt x="448" y="8815"/>
                </a:lnTo>
                <a:cubicBezTo>
                  <a:pt x="-622" y="10247"/>
                  <a:pt x="-325" y="12261"/>
                  <a:pt x="1043" y="1337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0" name="Freeform: Shape 139">
            <a:extLst>
              <a:ext uri="{FF2B5EF4-FFF2-40B4-BE49-F238E27FC236}">
                <a16:creationId xmlns:a16="http://schemas.microsoft.com/office/drawing/2014/main" id="{05FCCCB6-A7D4-D6A5-7EC5-EC3954FCD209}"/>
              </a:ext>
            </a:extLst>
          </p:cNvPr>
          <p:cNvSpPr/>
          <p:nvPr/>
        </p:nvSpPr>
        <p:spPr>
          <a:xfrm>
            <a:off x="7601893" y="3985322"/>
            <a:ext cx="69185" cy="52519"/>
          </a:xfrm>
          <a:custGeom>
            <a:avLst/>
            <a:gdLst>
              <a:gd name="connsiteX0" fmla="*/ 1304 w 69185"/>
              <a:gd name="connsiteY0" fmla="*/ 14251 h 52519"/>
              <a:gd name="connsiteX1" fmla="*/ 29493 w 69185"/>
              <a:gd name="connsiteY1" fmla="*/ 33736 h 52519"/>
              <a:gd name="connsiteX2" fmla="*/ 58514 w 69185"/>
              <a:gd name="connsiteY2" fmla="*/ 51978 h 52519"/>
              <a:gd name="connsiteX3" fmla="*/ 63152 w 69185"/>
              <a:gd name="connsiteY3" fmla="*/ 51268 h 52519"/>
              <a:gd name="connsiteX4" fmla="*/ 63211 w 69185"/>
              <a:gd name="connsiteY4" fmla="*/ 51208 h 52519"/>
              <a:gd name="connsiteX5" fmla="*/ 68623 w 69185"/>
              <a:gd name="connsiteY5" fmla="*/ 42324 h 52519"/>
              <a:gd name="connsiteX6" fmla="*/ 67196 w 69185"/>
              <a:gd name="connsiteY6" fmla="*/ 37764 h 52519"/>
              <a:gd name="connsiteX7" fmla="*/ 38710 w 69185"/>
              <a:gd name="connsiteY7" fmla="*/ 19996 h 52519"/>
              <a:gd name="connsiteX8" fmla="*/ 11058 w 69185"/>
              <a:gd name="connsiteY8" fmla="*/ 865 h 52519"/>
              <a:gd name="connsiteX9" fmla="*/ 6240 w 69185"/>
              <a:gd name="connsiteY9" fmla="*/ 1339 h 52519"/>
              <a:gd name="connsiteX10" fmla="*/ 293 w 69185"/>
              <a:gd name="connsiteY10" fmla="*/ 9749 h 52519"/>
              <a:gd name="connsiteX11" fmla="*/ 1304 w 69185"/>
              <a:gd name="connsiteY11" fmla="*/ 14251 h 52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185" h="52519">
                <a:moveTo>
                  <a:pt x="1304" y="14251"/>
                </a:moveTo>
                <a:lnTo>
                  <a:pt x="29493" y="33736"/>
                </a:lnTo>
                <a:cubicBezTo>
                  <a:pt x="39067" y="39955"/>
                  <a:pt x="48820" y="45878"/>
                  <a:pt x="58514" y="51978"/>
                </a:cubicBezTo>
                <a:cubicBezTo>
                  <a:pt x="60001" y="53062"/>
                  <a:pt x="62082" y="52744"/>
                  <a:pt x="63152" y="51268"/>
                </a:cubicBezTo>
                <a:cubicBezTo>
                  <a:pt x="63211" y="51248"/>
                  <a:pt x="63211" y="51229"/>
                  <a:pt x="63211" y="51208"/>
                </a:cubicBezTo>
                <a:lnTo>
                  <a:pt x="68623" y="42324"/>
                </a:lnTo>
                <a:cubicBezTo>
                  <a:pt x="69456" y="40669"/>
                  <a:pt x="68802" y="38652"/>
                  <a:pt x="67196" y="37764"/>
                </a:cubicBezTo>
                <a:cubicBezTo>
                  <a:pt x="57741" y="31841"/>
                  <a:pt x="48166" y="25918"/>
                  <a:pt x="38710" y="19996"/>
                </a:cubicBezTo>
                <a:lnTo>
                  <a:pt x="11058" y="865"/>
                </a:lnTo>
                <a:cubicBezTo>
                  <a:pt x="9571" y="-314"/>
                  <a:pt x="7429" y="-103"/>
                  <a:pt x="6240" y="1339"/>
                </a:cubicBezTo>
                <a:lnTo>
                  <a:pt x="293" y="9749"/>
                </a:lnTo>
                <a:cubicBezTo>
                  <a:pt x="-658" y="11276"/>
                  <a:pt x="-182" y="13267"/>
                  <a:pt x="1304" y="14251"/>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1" name="Freeform: Shape 140">
            <a:extLst>
              <a:ext uri="{FF2B5EF4-FFF2-40B4-BE49-F238E27FC236}">
                <a16:creationId xmlns:a16="http://schemas.microsoft.com/office/drawing/2014/main" id="{336A1E25-C4CF-491A-5ABB-1D61DA27DA8B}"/>
              </a:ext>
            </a:extLst>
          </p:cNvPr>
          <p:cNvSpPr/>
          <p:nvPr/>
        </p:nvSpPr>
        <p:spPr>
          <a:xfrm>
            <a:off x="7731659" y="4061090"/>
            <a:ext cx="73630" cy="42408"/>
          </a:xfrm>
          <a:custGeom>
            <a:avLst/>
            <a:gdLst>
              <a:gd name="connsiteX0" fmla="*/ 1895 w 73630"/>
              <a:gd name="connsiteY0" fmla="*/ 15478 h 42408"/>
              <a:gd name="connsiteX1" fmla="*/ 17416 w 73630"/>
              <a:gd name="connsiteY1" fmla="*/ 22882 h 42408"/>
              <a:gd name="connsiteX2" fmla="*/ 33295 w 73630"/>
              <a:gd name="connsiteY2" fmla="*/ 29515 h 42408"/>
              <a:gd name="connsiteX3" fmla="*/ 49174 w 73630"/>
              <a:gd name="connsiteY3" fmla="*/ 36030 h 42408"/>
              <a:gd name="connsiteX4" fmla="*/ 65230 w 73630"/>
              <a:gd name="connsiteY4" fmla="*/ 42249 h 42408"/>
              <a:gd name="connsiteX5" fmla="*/ 69750 w 73630"/>
              <a:gd name="connsiteY5" fmla="*/ 40472 h 42408"/>
              <a:gd name="connsiteX6" fmla="*/ 73318 w 73630"/>
              <a:gd name="connsiteY6" fmla="*/ 30700 h 42408"/>
              <a:gd name="connsiteX7" fmla="*/ 70939 w 73630"/>
              <a:gd name="connsiteY7" fmla="*/ 26613 h 42408"/>
              <a:gd name="connsiteX8" fmla="*/ 55298 w 73630"/>
              <a:gd name="connsiteY8" fmla="*/ 20690 h 42408"/>
              <a:gd name="connsiteX9" fmla="*/ 39777 w 73630"/>
              <a:gd name="connsiteY9" fmla="*/ 14294 h 42408"/>
              <a:gd name="connsiteX10" fmla="*/ 24256 w 73630"/>
              <a:gd name="connsiteY10" fmla="*/ 7838 h 42408"/>
              <a:gd name="connsiteX11" fmla="*/ 9091 w 73630"/>
              <a:gd name="connsiteY11" fmla="*/ 553 h 42408"/>
              <a:gd name="connsiteX12" fmla="*/ 4512 w 73630"/>
              <a:gd name="connsiteY12" fmla="*/ 1752 h 42408"/>
              <a:gd name="connsiteX13" fmla="*/ 4512 w 73630"/>
              <a:gd name="connsiteY13" fmla="*/ 1797 h 42408"/>
              <a:gd name="connsiteX14" fmla="*/ -8 w 73630"/>
              <a:gd name="connsiteY14" fmla="*/ 11155 h 42408"/>
              <a:gd name="connsiteX15" fmla="*/ 1895 w 73630"/>
              <a:gd name="connsiteY15" fmla="*/ 15478 h 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630" h="42408">
                <a:moveTo>
                  <a:pt x="1895" y="15478"/>
                </a:moveTo>
                <a:lnTo>
                  <a:pt x="17416" y="22882"/>
                </a:lnTo>
                <a:cubicBezTo>
                  <a:pt x="22650" y="25251"/>
                  <a:pt x="28002" y="27324"/>
                  <a:pt x="33295" y="29515"/>
                </a:cubicBezTo>
                <a:lnTo>
                  <a:pt x="49174" y="36030"/>
                </a:lnTo>
                <a:cubicBezTo>
                  <a:pt x="54526" y="38221"/>
                  <a:pt x="59759" y="40531"/>
                  <a:pt x="65230" y="42249"/>
                </a:cubicBezTo>
                <a:cubicBezTo>
                  <a:pt x="66955" y="42960"/>
                  <a:pt x="68977" y="42175"/>
                  <a:pt x="69750" y="40472"/>
                </a:cubicBezTo>
                <a:lnTo>
                  <a:pt x="73318" y="30700"/>
                </a:lnTo>
                <a:cubicBezTo>
                  <a:pt x="73794" y="28920"/>
                  <a:pt x="72723" y="27104"/>
                  <a:pt x="70939" y="26613"/>
                </a:cubicBezTo>
                <a:cubicBezTo>
                  <a:pt x="65587" y="25014"/>
                  <a:pt x="60473" y="22704"/>
                  <a:pt x="55298" y="20690"/>
                </a:cubicBezTo>
                <a:lnTo>
                  <a:pt x="39777" y="14294"/>
                </a:lnTo>
                <a:cubicBezTo>
                  <a:pt x="34603" y="12102"/>
                  <a:pt x="29370" y="10148"/>
                  <a:pt x="24256" y="7838"/>
                </a:cubicBezTo>
                <a:lnTo>
                  <a:pt x="9091" y="553"/>
                </a:lnTo>
                <a:cubicBezTo>
                  <a:pt x="7485" y="-368"/>
                  <a:pt x="5464" y="168"/>
                  <a:pt x="4512" y="1752"/>
                </a:cubicBezTo>
                <a:cubicBezTo>
                  <a:pt x="4512" y="1766"/>
                  <a:pt x="4512" y="1782"/>
                  <a:pt x="4512" y="1797"/>
                </a:cubicBezTo>
                <a:lnTo>
                  <a:pt x="-8" y="11155"/>
                </a:lnTo>
                <a:cubicBezTo>
                  <a:pt x="-602" y="12870"/>
                  <a:pt x="230" y="14768"/>
                  <a:pt x="1895" y="1547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2" name="Freeform: Shape 141">
            <a:extLst>
              <a:ext uri="{FF2B5EF4-FFF2-40B4-BE49-F238E27FC236}">
                <a16:creationId xmlns:a16="http://schemas.microsoft.com/office/drawing/2014/main" id="{21D61C77-3C63-625B-7A4C-73B667F57C3C}"/>
              </a:ext>
            </a:extLst>
          </p:cNvPr>
          <p:cNvSpPr/>
          <p:nvPr/>
        </p:nvSpPr>
        <p:spPr>
          <a:xfrm>
            <a:off x="8024083" y="4130164"/>
            <a:ext cx="37822" cy="17493"/>
          </a:xfrm>
          <a:custGeom>
            <a:avLst/>
            <a:gdLst>
              <a:gd name="connsiteX0" fmla="*/ 3309 w 37822"/>
              <a:gd name="connsiteY0" fmla="*/ 16707 h 17493"/>
              <a:gd name="connsiteX1" fmla="*/ 37623 w 37822"/>
              <a:gd name="connsiteY1" fmla="*/ 17596 h 17493"/>
              <a:gd name="connsiteX2" fmla="*/ 37623 w 37822"/>
              <a:gd name="connsiteY2" fmla="*/ 953 h 17493"/>
              <a:gd name="connsiteX3" fmla="*/ 3904 w 37822"/>
              <a:gd name="connsiteY3" fmla="*/ 124 h 17493"/>
              <a:gd name="connsiteX4" fmla="*/ 217 w 37822"/>
              <a:gd name="connsiteY4" fmla="*/ 3047 h 17493"/>
              <a:gd name="connsiteX5" fmla="*/ 217 w 37822"/>
              <a:gd name="connsiteY5" fmla="*/ 3085 h 17493"/>
              <a:gd name="connsiteX6" fmla="*/ -199 w 37822"/>
              <a:gd name="connsiteY6" fmla="*/ 13450 h 17493"/>
              <a:gd name="connsiteX7" fmla="*/ 3309 w 37822"/>
              <a:gd name="connsiteY7" fmla="*/ 16707 h 17493"/>
              <a:gd name="connsiteX8" fmla="*/ 3309 w 37822"/>
              <a:gd name="connsiteY8" fmla="*/ 16707 h 17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22" h="17493">
                <a:moveTo>
                  <a:pt x="3309" y="16707"/>
                </a:moveTo>
                <a:lnTo>
                  <a:pt x="37623" y="17596"/>
                </a:lnTo>
                <a:lnTo>
                  <a:pt x="37623" y="953"/>
                </a:lnTo>
                <a:lnTo>
                  <a:pt x="3904" y="124"/>
                </a:lnTo>
                <a:cubicBezTo>
                  <a:pt x="2061" y="-82"/>
                  <a:pt x="455" y="1227"/>
                  <a:pt x="217" y="3047"/>
                </a:cubicBezTo>
                <a:cubicBezTo>
                  <a:pt x="217" y="3060"/>
                  <a:pt x="217" y="3073"/>
                  <a:pt x="217" y="3085"/>
                </a:cubicBezTo>
                <a:lnTo>
                  <a:pt x="-199" y="13450"/>
                </a:lnTo>
                <a:cubicBezTo>
                  <a:pt x="-140" y="15313"/>
                  <a:pt x="1407" y="16772"/>
                  <a:pt x="3309" y="16707"/>
                </a:cubicBezTo>
                <a:cubicBezTo>
                  <a:pt x="3309" y="16707"/>
                  <a:pt x="3309" y="16707"/>
                  <a:pt x="3309" y="1670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3" name="Freeform: Shape 142">
            <a:extLst>
              <a:ext uri="{FF2B5EF4-FFF2-40B4-BE49-F238E27FC236}">
                <a16:creationId xmlns:a16="http://schemas.microsoft.com/office/drawing/2014/main" id="{415445C9-9B69-3273-8D75-5C50731E4FC1}"/>
              </a:ext>
            </a:extLst>
          </p:cNvPr>
          <p:cNvSpPr/>
          <p:nvPr/>
        </p:nvSpPr>
        <p:spPr>
          <a:xfrm>
            <a:off x="7874116" y="4110958"/>
            <a:ext cx="75933" cy="28663"/>
          </a:xfrm>
          <a:custGeom>
            <a:avLst/>
            <a:gdLst>
              <a:gd name="connsiteX0" fmla="*/ 2640 w 75933"/>
              <a:gd name="connsiteY0" fmla="*/ 16368 h 28663"/>
              <a:gd name="connsiteX1" fmla="*/ 36359 w 75933"/>
              <a:gd name="connsiteY1" fmla="*/ 23297 h 28663"/>
              <a:gd name="connsiteX2" fmla="*/ 44804 w 75933"/>
              <a:gd name="connsiteY2" fmla="*/ 25015 h 28663"/>
              <a:gd name="connsiteX3" fmla="*/ 53308 w 75933"/>
              <a:gd name="connsiteY3" fmla="*/ 26259 h 28663"/>
              <a:gd name="connsiteX4" fmla="*/ 70316 w 75933"/>
              <a:gd name="connsiteY4" fmla="*/ 28687 h 28663"/>
              <a:gd name="connsiteX5" fmla="*/ 74360 w 75933"/>
              <a:gd name="connsiteY5" fmla="*/ 26112 h 28663"/>
              <a:gd name="connsiteX6" fmla="*/ 74360 w 75933"/>
              <a:gd name="connsiteY6" fmla="*/ 26081 h 28663"/>
              <a:gd name="connsiteX7" fmla="*/ 75727 w 75933"/>
              <a:gd name="connsiteY7" fmla="*/ 15835 h 28663"/>
              <a:gd name="connsiteX8" fmla="*/ 72576 w 75933"/>
              <a:gd name="connsiteY8" fmla="*/ 12223 h 28663"/>
              <a:gd name="connsiteX9" fmla="*/ 72576 w 75933"/>
              <a:gd name="connsiteY9" fmla="*/ 12222 h 28663"/>
              <a:gd name="connsiteX10" fmla="*/ 55984 w 75933"/>
              <a:gd name="connsiteY10" fmla="*/ 9853 h 28663"/>
              <a:gd name="connsiteX11" fmla="*/ 47658 w 75933"/>
              <a:gd name="connsiteY11" fmla="*/ 8668 h 28663"/>
              <a:gd name="connsiteX12" fmla="*/ 39451 w 75933"/>
              <a:gd name="connsiteY12" fmla="*/ 6951 h 28663"/>
              <a:gd name="connsiteX13" fmla="*/ 6505 w 75933"/>
              <a:gd name="connsiteY13" fmla="*/ 258 h 28663"/>
              <a:gd name="connsiteX14" fmla="*/ 2283 w 75933"/>
              <a:gd name="connsiteY14" fmla="*/ 2390 h 28663"/>
              <a:gd name="connsiteX15" fmla="*/ -156 w 75933"/>
              <a:gd name="connsiteY15" fmla="*/ 12518 h 28663"/>
              <a:gd name="connsiteX16" fmla="*/ 2640 w 75933"/>
              <a:gd name="connsiteY16" fmla="*/ 16368 h 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933" h="28663">
                <a:moveTo>
                  <a:pt x="2640" y="16368"/>
                </a:moveTo>
                <a:lnTo>
                  <a:pt x="36359" y="23297"/>
                </a:lnTo>
                <a:lnTo>
                  <a:pt x="44804" y="25015"/>
                </a:lnTo>
                <a:cubicBezTo>
                  <a:pt x="47598" y="25489"/>
                  <a:pt x="50453" y="25844"/>
                  <a:pt x="53308" y="26259"/>
                </a:cubicBezTo>
                <a:lnTo>
                  <a:pt x="70316" y="28687"/>
                </a:lnTo>
                <a:cubicBezTo>
                  <a:pt x="72159" y="29086"/>
                  <a:pt x="73944" y="27934"/>
                  <a:pt x="74360" y="26112"/>
                </a:cubicBezTo>
                <a:cubicBezTo>
                  <a:pt x="74360" y="26102"/>
                  <a:pt x="74360" y="26092"/>
                  <a:pt x="74360" y="26081"/>
                </a:cubicBezTo>
                <a:lnTo>
                  <a:pt x="75727" y="15835"/>
                </a:lnTo>
                <a:cubicBezTo>
                  <a:pt x="75846" y="13975"/>
                  <a:pt x="74479" y="12358"/>
                  <a:pt x="72576" y="12223"/>
                </a:cubicBezTo>
                <a:cubicBezTo>
                  <a:pt x="72576" y="12222"/>
                  <a:pt x="72576" y="12222"/>
                  <a:pt x="72576" y="12222"/>
                </a:cubicBezTo>
                <a:lnTo>
                  <a:pt x="55984" y="9853"/>
                </a:lnTo>
                <a:cubicBezTo>
                  <a:pt x="53189" y="9497"/>
                  <a:pt x="50393" y="9142"/>
                  <a:pt x="47658" y="8668"/>
                </a:cubicBezTo>
                <a:lnTo>
                  <a:pt x="39451" y="6951"/>
                </a:lnTo>
                <a:lnTo>
                  <a:pt x="6505" y="258"/>
                </a:lnTo>
                <a:cubicBezTo>
                  <a:pt x="4721" y="-290"/>
                  <a:pt x="2877" y="656"/>
                  <a:pt x="2283" y="2390"/>
                </a:cubicBezTo>
                <a:lnTo>
                  <a:pt x="-156" y="12518"/>
                </a:lnTo>
                <a:cubicBezTo>
                  <a:pt x="-452" y="14347"/>
                  <a:pt x="796" y="16065"/>
                  <a:pt x="2640" y="1636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4" name="Freeform: Shape 143">
            <a:extLst>
              <a:ext uri="{FF2B5EF4-FFF2-40B4-BE49-F238E27FC236}">
                <a16:creationId xmlns:a16="http://schemas.microsoft.com/office/drawing/2014/main" id="{074F2611-CDE8-538B-BCB6-641272B02990}"/>
              </a:ext>
            </a:extLst>
          </p:cNvPr>
          <p:cNvSpPr/>
          <p:nvPr/>
        </p:nvSpPr>
        <p:spPr>
          <a:xfrm>
            <a:off x="6752094" y="3488515"/>
            <a:ext cx="37822" cy="17487"/>
          </a:xfrm>
          <a:custGeom>
            <a:avLst/>
            <a:gdLst>
              <a:gd name="connsiteX0" fmla="*/ 33461 w 37822"/>
              <a:gd name="connsiteY0" fmla="*/ 17575 h 17487"/>
              <a:gd name="connsiteX1" fmla="*/ 37266 w 37822"/>
              <a:gd name="connsiteY1" fmla="*/ 14554 h 17487"/>
              <a:gd name="connsiteX2" fmla="*/ 37623 w 37822"/>
              <a:gd name="connsiteY2" fmla="*/ 4189 h 17487"/>
              <a:gd name="connsiteX3" fmla="*/ 34174 w 37822"/>
              <a:gd name="connsiteY3" fmla="*/ 988 h 17487"/>
              <a:gd name="connsiteX4" fmla="*/ 34115 w 37822"/>
              <a:gd name="connsiteY4" fmla="*/ 991 h 17487"/>
              <a:gd name="connsiteX5" fmla="*/ -199 w 37822"/>
              <a:gd name="connsiteY5" fmla="*/ 102 h 17487"/>
              <a:gd name="connsiteX6" fmla="*/ -199 w 37822"/>
              <a:gd name="connsiteY6" fmla="*/ 16686 h 1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22" h="17487">
                <a:moveTo>
                  <a:pt x="33461" y="17575"/>
                </a:moveTo>
                <a:cubicBezTo>
                  <a:pt x="35363" y="17750"/>
                  <a:pt x="37029" y="16416"/>
                  <a:pt x="37266" y="14554"/>
                </a:cubicBezTo>
                <a:lnTo>
                  <a:pt x="37623" y="4189"/>
                </a:lnTo>
                <a:cubicBezTo>
                  <a:pt x="37564" y="2358"/>
                  <a:pt x="36017" y="925"/>
                  <a:pt x="34174" y="988"/>
                </a:cubicBezTo>
                <a:cubicBezTo>
                  <a:pt x="34174" y="988"/>
                  <a:pt x="34115" y="990"/>
                  <a:pt x="34115" y="991"/>
                </a:cubicBezTo>
                <a:lnTo>
                  <a:pt x="-199" y="102"/>
                </a:lnTo>
                <a:lnTo>
                  <a:pt x="-199" y="16686"/>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5" name="Freeform: Shape 144">
            <a:extLst>
              <a:ext uri="{FF2B5EF4-FFF2-40B4-BE49-F238E27FC236}">
                <a16:creationId xmlns:a16="http://schemas.microsoft.com/office/drawing/2014/main" id="{7DD23F4D-609D-091E-E51D-B05A9FD4513F}"/>
              </a:ext>
            </a:extLst>
          </p:cNvPr>
          <p:cNvSpPr/>
          <p:nvPr/>
        </p:nvSpPr>
        <p:spPr>
          <a:xfrm>
            <a:off x="6863948" y="3496499"/>
            <a:ext cx="75978" cy="28729"/>
          </a:xfrm>
          <a:custGeom>
            <a:avLst/>
            <a:gdLst>
              <a:gd name="connsiteX0" fmla="*/ 2900 w 75978"/>
              <a:gd name="connsiteY0" fmla="*/ 16698 h 28729"/>
              <a:gd name="connsiteX1" fmla="*/ 19612 w 75978"/>
              <a:gd name="connsiteY1" fmla="*/ 19008 h 28729"/>
              <a:gd name="connsiteX2" fmla="*/ 27878 w 75978"/>
              <a:gd name="connsiteY2" fmla="*/ 20251 h 28729"/>
              <a:gd name="connsiteX3" fmla="*/ 36144 w 75978"/>
              <a:gd name="connsiteY3" fmla="*/ 21969 h 28729"/>
              <a:gd name="connsiteX4" fmla="*/ 69030 w 75978"/>
              <a:gd name="connsiteY4" fmla="*/ 28662 h 28729"/>
              <a:gd name="connsiteX5" fmla="*/ 73253 w 75978"/>
              <a:gd name="connsiteY5" fmla="*/ 26562 h 28729"/>
              <a:gd name="connsiteX6" fmla="*/ 73253 w 75978"/>
              <a:gd name="connsiteY6" fmla="*/ 26529 h 28729"/>
              <a:gd name="connsiteX7" fmla="*/ 75750 w 75978"/>
              <a:gd name="connsiteY7" fmla="*/ 16402 h 28729"/>
              <a:gd name="connsiteX8" fmla="*/ 72896 w 75978"/>
              <a:gd name="connsiteY8" fmla="*/ 12493 h 28729"/>
              <a:gd name="connsiteX9" fmla="*/ 39177 w 75978"/>
              <a:gd name="connsiteY9" fmla="*/ 5563 h 28729"/>
              <a:gd name="connsiteX10" fmla="*/ 30732 w 75978"/>
              <a:gd name="connsiteY10" fmla="*/ 3845 h 28729"/>
              <a:gd name="connsiteX11" fmla="*/ 22287 w 75978"/>
              <a:gd name="connsiteY11" fmla="*/ 2542 h 28729"/>
              <a:gd name="connsiteX12" fmla="*/ 5220 w 75978"/>
              <a:gd name="connsiteY12" fmla="*/ 173 h 28729"/>
              <a:gd name="connsiteX13" fmla="*/ 1176 w 75978"/>
              <a:gd name="connsiteY13" fmla="*/ 2720 h 28729"/>
              <a:gd name="connsiteX14" fmla="*/ -192 w 75978"/>
              <a:gd name="connsiteY14" fmla="*/ 13026 h 28729"/>
              <a:gd name="connsiteX15" fmla="*/ 2900 w 75978"/>
              <a:gd name="connsiteY15" fmla="*/ 16698 h 2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978" h="28729">
                <a:moveTo>
                  <a:pt x="2900" y="16698"/>
                </a:moveTo>
                <a:lnTo>
                  <a:pt x="19612" y="19008"/>
                </a:lnTo>
                <a:cubicBezTo>
                  <a:pt x="22347" y="19422"/>
                  <a:pt x="25142" y="19778"/>
                  <a:pt x="27878" y="20251"/>
                </a:cubicBezTo>
                <a:lnTo>
                  <a:pt x="36144" y="21969"/>
                </a:lnTo>
                <a:lnTo>
                  <a:pt x="69030" y="28662"/>
                </a:lnTo>
                <a:cubicBezTo>
                  <a:pt x="70755" y="29240"/>
                  <a:pt x="72658" y="28300"/>
                  <a:pt x="73253" y="26562"/>
                </a:cubicBezTo>
                <a:cubicBezTo>
                  <a:pt x="73253" y="26551"/>
                  <a:pt x="73253" y="26540"/>
                  <a:pt x="73253" y="26529"/>
                </a:cubicBezTo>
                <a:lnTo>
                  <a:pt x="75750" y="16402"/>
                </a:lnTo>
                <a:cubicBezTo>
                  <a:pt x="75988" y="14548"/>
                  <a:pt x="74740" y="12824"/>
                  <a:pt x="72896" y="12493"/>
                </a:cubicBezTo>
                <a:lnTo>
                  <a:pt x="39177" y="5563"/>
                </a:lnTo>
                <a:lnTo>
                  <a:pt x="30732" y="3845"/>
                </a:lnTo>
                <a:cubicBezTo>
                  <a:pt x="27937" y="3312"/>
                  <a:pt x="24785" y="3016"/>
                  <a:pt x="22287" y="2542"/>
                </a:cubicBezTo>
                <a:lnTo>
                  <a:pt x="5220" y="173"/>
                </a:lnTo>
                <a:cubicBezTo>
                  <a:pt x="3377" y="-198"/>
                  <a:pt x="1592" y="927"/>
                  <a:pt x="1176" y="2720"/>
                </a:cubicBezTo>
                <a:lnTo>
                  <a:pt x="-192" y="13026"/>
                </a:lnTo>
                <a:cubicBezTo>
                  <a:pt x="-310" y="14882"/>
                  <a:pt x="1057" y="16511"/>
                  <a:pt x="2900" y="1669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6" name="Freeform: Shape 145">
            <a:extLst>
              <a:ext uri="{FF2B5EF4-FFF2-40B4-BE49-F238E27FC236}">
                <a16:creationId xmlns:a16="http://schemas.microsoft.com/office/drawing/2014/main" id="{C33B7BB8-FDA6-135C-A1DD-A65D2CA0129B}"/>
              </a:ext>
            </a:extLst>
          </p:cNvPr>
          <p:cNvSpPr/>
          <p:nvPr/>
        </p:nvSpPr>
        <p:spPr>
          <a:xfrm>
            <a:off x="7009080" y="3533130"/>
            <a:ext cx="73588" cy="42231"/>
          </a:xfrm>
          <a:custGeom>
            <a:avLst/>
            <a:gdLst>
              <a:gd name="connsiteX0" fmla="*/ 1863 w 73588"/>
              <a:gd name="connsiteY0" fmla="*/ 15485 h 42231"/>
              <a:gd name="connsiteX1" fmla="*/ 17563 w 73588"/>
              <a:gd name="connsiteY1" fmla="*/ 21408 h 42231"/>
              <a:gd name="connsiteX2" fmla="*/ 33382 w 73588"/>
              <a:gd name="connsiteY2" fmla="*/ 28160 h 42231"/>
              <a:gd name="connsiteX3" fmla="*/ 48903 w 73588"/>
              <a:gd name="connsiteY3" fmla="*/ 34616 h 42231"/>
              <a:gd name="connsiteX4" fmla="*/ 64009 w 73588"/>
              <a:gd name="connsiteY4" fmla="*/ 41900 h 42231"/>
              <a:gd name="connsiteX5" fmla="*/ 68648 w 73588"/>
              <a:gd name="connsiteY5" fmla="*/ 40657 h 42231"/>
              <a:gd name="connsiteX6" fmla="*/ 73167 w 73588"/>
              <a:gd name="connsiteY6" fmla="*/ 31299 h 42231"/>
              <a:gd name="connsiteX7" fmla="*/ 71264 w 73588"/>
              <a:gd name="connsiteY7" fmla="*/ 26928 h 42231"/>
              <a:gd name="connsiteX8" fmla="*/ 71204 w 73588"/>
              <a:gd name="connsiteY8" fmla="*/ 26916 h 42231"/>
              <a:gd name="connsiteX9" fmla="*/ 55742 w 73588"/>
              <a:gd name="connsiteY9" fmla="*/ 19453 h 42231"/>
              <a:gd name="connsiteX10" fmla="*/ 39864 w 73588"/>
              <a:gd name="connsiteY10" fmla="*/ 12820 h 42231"/>
              <a:gd name="connsiteX11" fmla="*/ 23927 w 73588"/>
              <a:gd name="connsiteY11" fmla="*/ 6305 h 42231"/>
              <a:gd name="connsiteX12" fmla="*/ 7929 w 73588"/>
              <a:gd name="connsiteY12" fmla="*/ 382 h 42231"/>
              <a:gd name="connsiteX13" fmla="*/ 3409 w 73588"/>
              <a:gd name="connsiteY13" fmla="*/ 2159 h 42231"/>
              <a:gd name="connsiteX14" fmla="*/ -159 w 73588"/>
              <a:gd name="connsiteY14" fmla="*/ 11872 h 42231"/>
              <a:gd name="connsiteX15" fmla="*/ 1863 w 73588"/>
              <a:gd name="connsiteY15" fmla="*/ 15485 h 4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88" h="42231">
                <a:moveTo>
                  <a:pt x="1863" y="15485"/>
                </a:moveTo>
                <a:cubicBezTo>
                  <a:pt x="7215" y="17143"/>
                  <a:pt x="12389" y="19453"/>
                  <a:pt x="17563" y="21408"/>
                </a:cubicBezTo>
                <a:lnTo>
                  <a:pt x="33382" y="28160"/>
                </a:lnTo>
                <a:cubicBezTo>
                  <a:pt x="38556" y="30292"/>
                  <a:pt x="43789" y="32246"/>
                  <a:pt x="48903" y="34616"/>
                </a:cubicBezTo>
                <a:lnTo>
                  <a:pt x="64009" y="41900"/>
                </a:lnTo>
                <a:cubicBezTo>
                  <a:pt x="65615" y="42803"/>
                  <a:pt x="67696" y="42252"/>
                  <a:pt x="68648" y="40657"/>
                </a:cubicBezTo>
                <a:lnTo>
                  <a:pt x="73167" y="31299"/>
                </a:lnTo>
                <a:cubicBezTo>
                  <a:pt x="73821" y="29561"/>
                  <a:pt x="72989" y="27605"/>
                  <a:pt x="71264" y="26928"/>
                </a:cubicBezTo>
                <a:cubicBezTo>
                  <a:pt x="71204" y="26924"/>
                  <a:pt x="71204" y="26920"/>
                  <a:pt x="71204" y="26916"/>
                </a:cubicBezTo>
                <a:lnTo>
                  <a:pt x="55742" y="19453"/>
                </a:lnTo>
                <a:cubicBezTo>
                  <a:pt x="50509" y="17084"/>
                  <a:pt x="45157" y="15070"/>
                  <a:pt x="39864" y="12820"/>
                </a:cubicBezTo>
                <a:lnTo>
                  <a:pt x="23927" y="6305"/>
                </a:lnTo>
                <a:cubicBezTo>
                  <a:pt x="18634" y="4173"/>
                  <a:pt x="13400" y="1863"/>
                  <a:pt x="7929" y="382"/>
                </a:cubicBezTo>
                <a:cubicBezTo>
                  <a:pt x="6205" y="-362"/>
                  <a:pt x="4182" y="431"/>
                  <a:pt x="3409" y="2159"/>
                </a:cubicBezTo>
                <a:lnTo>
                  <a:pt x="-159" y="11872"/>
                </a:lnTo>
                <a:cubicBezTo>
                  <a:pt x="-397" y="13395"/>
                  <a:pt x="436" y="14881"/>
                  <a:pt x="1863" y="1548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7" name="Freeform: Shape 146">
            <a:extLst>
              <a:ext uri="{FF2B5EF4-FFF2-40B4-BE49-F238E27FC236}">
                <a16:creationId xmlns:a16="http://schemas.microsoft.com/office/drawing/2014/main" id="{D24CE54A-A8B9-A816-6038-7D2AF5B09C59}"/>
              </a:ext>
            </a:extLst>
          </p:cNvPr>
          <p:cNvSpPr/>
          <p:nvPr/>
        </p:nvSpPr>
        <p:spPr>
          <a:xfrm>
            <a:off x="7142658" y="3598602"/>
            <a:ext cx="69385" cy="52657"/>
          </a:xfrm>
          <a:custGeom>
            <a:avLst/>
            <a:gdLst>
              <a:gd name="connsiteX0" fmla="*/ 1794 w 69385"/>
              <a:gd name="connsiteY0" fmla="*/ 15045 h 52657"/>
              <a:gd name="connsiteX1" fmla="*/ 30279 w 69385"/>
              <a:gd name="connsiteY1" fmla="*/ 32813 h 52657"/>
              <a:gd name="connsiteX2" fmla="*/ 57992 w 69385"/>
              <a:gd name="connsiteY2" fmla="*/ 52003 h 52657"/>
              <a:gd name="connsiteX3" fmla="*/ 62750 w 69385"/>
              <a:gd name="connsiteY3" fmla="*/ 51529 h 52657"/>
              <a:gd name="connsiteX4" fmla="*/ 68697 w 69385"/>
              <a:gd name="connsiteY4" fmla="*/ 43118 h 52657"/>
              <a:gd name="connsiteX5" fmla="*/ 67626 w 69385"/>
              <a:gd name="connsiteY5" fmla="*/ 38556 h 52657"/>
              <a:gd name="connsiteX6" fmla="*/ 67507 w 69385"/>
              <a:gd name="connsiteY6" fmla="*/ 38499 h 52657"/>
              <a:gd name="connsiteX7" fmla="*/ 39378 w 69385"/>
              <a:gd name="connsiteY7" fmla="*/ 19013 h 52657"/>
              <a:gd name="connsiteX8" fmla="*/ 10357 w 69385"/>
              <a:gd name="connsiteY8" fmla="*/ 771 h 52657"/>
              <a:gd name="connsiteX9" fmla="*/ 5600 w 69385"/>
              <a:gd name="connsiteY9" fmla="*/ 1463 h 52657"/>
              <a:gd name="connsiteX10" fmla="*/ 5600 w 69385"/>
              <a:gd name="connsiteY10" fmla="*/ 1482 h 52657"/>
              <a:gd name="connsiteX11" fmla="*/ 188 w 69385"/>
              <a:gd name="connsiteY11" fmla="*/ 10366 h 52657"/>
              <a:gd name="connsiteX12" fmla="*/ 1675 w 69385"/>
              <a:gd name="connsiteY12" fmla="*/ 14990 h 52657"/>
              <a:gd name="connsiteX13" fmla="*/ 1794 w 69385"/>
              <a:gd name="connsiteY13" fmla="*/ 15045 h 5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85" h="52657">
                <a:moveTo>
                  <a:pt x="1794" y="15045"/>
                </a:moveTo>
                <a:cubicBezTo>
                  <a:pt x="11309" y="20967"/>
                  <a:pt x="20883" y="26890"/>
                  <a:pt x="30279" y="32813"/>
                </a:cubicBezTo>
                <a:lnTo>
                  <a:pt x="57992" y="52003"/>
                </a:lnTo>
                <a:cubicBezTo>
                  <a:pt x="59419" y="53175"/>
                  <a:pt x="61560" y="52963"/>
                  <a:pt x="62750" y="51529"/>
                </a:cubicBezTo>
                <a:lnTo>
                  <a:pt x="68697" y="43118"/>
                </a:lnTo>
                <a:cubicBezTo>
                  <a:pt x="69648" y="41558"/>
                  <a:pt x="69172" y="39515"/>
                  <a:pt x="67626" y="38556"/>
                </a:cubicBezTo>
                <a:cubicBezTo>
                  <a:pt x="67566" y="38536"/>
                  <a:pt x="67566" y="38517"/>
                  <a:pt x="67507" y="38499"/>
                </a:cubicBezTo>
                <a:lnTo>
                  <a:pt x="39378" y="19013"/>
                </a:lnTo>
                <a:cubicBezTo>
                  <a:pt x="29804" y="12794"/>
                  <a:pt x="19991" y="6871"/>
                  <a:pt x="10357" y="771"/>
                </a:cubicBezTo>
                <a:cubicBezTo>
                  <a:pt x="8870" y="-343"/>
                  <a:pt x="6729" y="-33"/>
                  <a:pt x="5600" y="1463"/>
                </a:cubicBezTo>
                <a:cubicBezTo>
                  <a:pt x="5600" y="1468"/>
                  <a:pt x="5600" y="1475"/>
                  <a:pt x="5600" y="1482"/>
                </a:cubicBezTo>
                <a:lnTo>
                  <a:pt x="188" y="10366"/>
                </a:lnTo>
                <a:cubicBezTo>
                  <a:pt x="-704" y="12054"/>
                  <a:pt x="9" y="14124"/>
                  <a:pt x="1675" y="14990"/>
                </a:cubicBezTo>
                <a:cubicBezTo>
                  <a:pt x="1734" y="15009"/>
                  <a:pt x="1734" y="15027"/>
                  <a:pt x="1794" y="1504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8" name="Freeform: Shape 147">
            <a:extLst>
              <a:ext uri="{FF2B5EF4-FFF2-40B4-BE49-F238E27FC236}">
                <a16:creationId xmlns:a16="http://schemas.microsoft.com/office/drawing/2014/main" id="{CAD4B066-338A-D57A-8AA6-6B53700B1E34}"/>
              </a:ext>
            </a:extLst>
          </p:cNvPr>
          <p:cNvSpPr/>
          <p:nvPr/>
        </p:nvSpPr>
        <p:spPr>
          <a:xfrm>
            <a:off x="7375671" y="3787433"/>
            <a:ext cx="62592" cy="61517"/>
          </a:xfrm>
          <a:custGeom>
            <a:avLst/>
            <a:gdLst>
              <a:gd name="connsiteX0" fmla="*/ 948 w 62592"/>
              <a:gd name="connsiteY0" fmla="*/ 13076 h 61517"/>
              <a:gd name="connsiteX1" fmla="*/ 25153 w 62592"/>
              <a:gd name="connsiteY1" fmla="*/ 36767 h 61517"/>
              <a:gd name="connsiteX2" fmla="*/ 49535 w 62592"/>
              <a:gd name="connsiteY2" fmla="*/ 60458 h 61517"/>
              <a:gd name="connsiteX3" fmla="*/ 54293 w 62592"/>
              <a:gd name="connsiteY3" fmla="*/ 60813 h 61517"/>
              <a:gd name="connsiteX4" fmla="*/ 61607 w 62592"/>
              <a:gd name="connsiteY4" fmla="*/ 53351 h 61517"/>
              <a:gd name="connsiteX5" fmla="*/ 61191 w 62592"/>
              <a:gd name="connsiteY5" fmla="*/ 48613 h 61517"/>
              <a:gd name="connsiteX6" fmla="*/ 36987 w 62592"/>
              <a:gd name="connsiteY6" fmla="*/ 24922 h 61517"/>
              <a:gd name="connsiteX7" fmla="*/ 12605 w 62592"/>
              <a:gd name="connsiteY7" fmla="*/ 1231 h 61517"/>
              <a:gd name="connsiteX8" fmla="*/ 7847 w 62592"/>
              <a:gd name="connsiteY8" fmla="*/ 934 h 61517"/>
              <a:gd name="connsiteX9" fmla="*/ 592 w 62592"/>
              <a:gd name="connsiteY9" fmla="*/ 8397 h 61517"/>
              <a:gd name="connsiteX10" fmla="*/ 948 w 62592"/>
              <a:gd name="connsiteY10" fmla="*/ 13076 h 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592" h="61517">
                <a:moveTo>
                  <a:pt x="948" y="13076"/>
                </a:moveTo>
                <a:lnTo>
                  <a:pt x="25153" y="36767"/>
                </a:lnTo>
                <a:lnTo>
                  <a:pt x="49535" y="60458"/>
                </a:lnTo>
                <a:cubicBezTo>
                  <a:pt x="50784" y="61856"/>
                  <a:pt x="52866" y="62015"/>
                  <a:pt x="54293" y="60813"/>
                </a:cubicBezTo>
                <a:lnTo>
                  <a:pt x="61607" y="53351"/>
                </a:lnTo>
                <a:cubicBezTo>
                  <a:pt x="62796" y="51926"/>
                  <a:pt x="62619" y="49810"/>
                  <a:pt x="61191" y="48613"/>
                </a:cubicBezTo>
                <a:lnTo>
                  <a:pt x="36987" y="24922"/>
                </a:lnTo>
                <a:lnTo>
                  <a:pt x="12605" y="1231"/>
                </a:lnTo>
                <a:cubicBezTo>
                  <a:pt x="11355" y="-149"/>
                  <a:pt x="9274" y="-281"/>
                  <a:pt x="7847" y="934"/>
                </a:cubicBezTo>
                <a:lnTo>
                  <a:pt x="592" y="8397"/>
                </a:lnTo>
                <a:cubicBezTo>
                  <a:pt x="-597" y="9798"/>
                  <a:pt x="-419" y="11867"/>
                  <a:pt x="948" y="1307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49" name="Freeform: Shape 148">
            <a:extLst>
              <a:ext uri="{FF2B5EF4-FFF2-40B4-BE49-F238E27FC236}">
                <a16:creationId xmlns:a16="http://schemas.microsoft.com/office/drawing/2014/main" id="{15FE83D4-7770-9ECF-E71F-2DC446C60C7C}"/>
              </a:ext>
            </a:extLst>
          </p:cNvPr>
          <p:cNvSpPr/>
          <p:nvPr/>
        </p:nvSpPr>
        <p:spPr>
          <a:xfrm>
            <a:off x="7264184" y="3686583"/>
            <a:ext cx="65273" cy="58776"/>
          </a:xfrm>
          <a:custGeom>
            <a:avLst/>
            <a:gdLst>
              <a:gd name="connsiteX0" fmla="*/ 1347 w 65273"/>
              <a:gd name="connsiteY0" fmla="*/ 13950 h 58776"/>
              <a:gd name="connsiteX1" fmla="*/ 27216 w 65273"/>
              <a:gd name="connsiteY1" fmla="*/ 35627 h 58776"/>
              <a:gd name="connsiteX2" fmla="*/ 52549 w 65273"/>
              <a:gd name="connsiteY2" fmla="*/ 57897 h 58776"/>
              <a:gd name="connsiteX3" fmla="*/ 57426 w 65273"/>
              <a:gd name="connsiteY3" fmla="*/ 57897 h 58776"/>
              <a:gd name="connsiteX4" fmla="*/ 64384 w 65273"/>
              <a:gd name="connsiteY4" fmla="*/ 50197 h 58776"/>
              <a:gd name="connsiteX5" fmla="*/ 63789 w 65273"/>
              <a:gd name="connsiteY5" fmla="*/ 45547 h 58776"/>
              <a:gd name="connsiteX6" fmla="*/ 63730 w 65273"/>
              <a:gd name="connsiteY6" fmla="*/ 45518 h 58776"/>
              <a:gd name="connsiteX7" fmla="*/ 38098 w 65273"/>
              <a:gd name="connsiteY7" fmla="*/ 23012 h 58776"/>
              <a:gd name="connsiteX8" fmla="*/ 11873 w 65273"/>
              <a:gd name="connsiteY8" fmla="*/ 1098 h 58776"/>
              <a:gd name="connsiteX9" fmla="*/ 7174 w 65273"/>
              <a:gd name="connsiteY9" fmla="*/ 1050 h 58776"/>
              <a:gd name="connsiteX10" fmla="*/ 7115 w 65273"/>
              <a:gd name="connsiteY10" fmla="*/ 1098 h 58776"/>
              <a:gd name="connsiteX11" fmla="*/ 514 w 65273"/>
              <a:gd name="connsiteY11" fmla="*/ 9094 h 58776"/>
              <a:gd name="connsiteX12" fmla="*/ 1049 w 65273"/>
              <a:gd name="connsiteY12" fmla="*/ 13752 h 58776"/>
              <a:gd name="connsiteX13" fmla="*/ 1347 w 65273"/>
              <a:gd name="connsiteY13" fmla="*/ 13950 h 5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73" h="58776">
                <a:moveTo>
                  <a:pt x="1347" y="13950"/>
                </a:moveTo>
                <a:cubicBezTo>
                  <a:pt x="9910" y="21235"/>
                  <a:pt x="19187" y="28046"/>
                  <a:pt x="27216" y="35627"/>
                </a:cubicBezTo>
                <a:lnTo>
                  <a:pt x="52549" y="57897"/>
                </a:lnTo>
                <a:cubicBezTo>
                  <a:pt x="53917" y="59206"/>
                  <a:pt x="56058" y="59206"/>
                  <a:pt x="57426" y="57897"/>
                </a:cubicBezTo>
                <a:lnTo>
                  <a:pt x="64384" y="50197"/>
                </a:lnTo>
                <a:cubicBezTo>
                  <a:pt x="65514" y="48744"/>
                  <a:pt x="65216" y="46662"/>
                  <a:pt x="63789" y="45547"/>
                </a:cubicBezTo>
                <a:cubicBezTo>
                  <a:pt x="63730" y="45537"/>
                  <a:pt x="63730" y="45528"/>
                  <a:pt x="63730" y="45518"/>
                </a:cubicBezTo>
                <a:lnTo>
                  <a:pt x="38098" y="23012"/>
                </a:lnTo>
                <a:cubicBezTo>
                  <a:pt x="29713" y="15372"/>
                  <a:pt x="20615" y="8383"/>
                  <a:pt x="11873" y="1098"/>
                </a:cubicBezTo>
                <a:cubicBezTo>
                  <a:pt x="10565" y="-210"/>
                  <a:pt x="8483" y="-232"/>
                  <a:pt x="7174" y="1050"/>
                </a:cubicBezTo>
                <a:cubicBezTo>
                  <a:pt x="7174" y="1066"/>
                  <a:pt x="7115" y="1082"/>
                  <a:pt x="7115" y="1098"/>
                </a:cubicBezTo>
                <a:lnTo>
                  <a:pt x="514" y="9094"/>
                </a:lnTo>
                <a:cubicBezTo>
                  <a:pt x="-616" y="10532"/>
                  <a:pt x="-378" y="12617"/>
                  <a:pt x="1049" y="13752"/>
                </a:cubicBezTo>
                <a:cubicBezTo>
                  <a:pt x="1168" y="13823"/>
                  <a:pt x="1227" y="13889"/>
                  <a:pt x="1347" y="13950"/>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0" name="Freeform: Shape 149">
            <a:extLst>
              <a:ext uri="{FF2B5EF4-FFF2-40B4-BE49-F238E27FC236}">
                <a16:creationId xmlns:a16="http://schemas.microsoft.com/office/drawing/2014/main" id="{43A3F1CC-07D0-2D29-BB4E-86486354F1B2}"/>
              </a:ext>
            </a:extLst>
          </p:cNvPr>
          <p:cNvSpPr/>
          <p:nvPr/>
        </p:nvSpPr>
        <p:spPr>
          <a:xfrm>
            <a:off x="6752094" y="3324277"/>
            <a:ext cx="1309572" cy="659319"/>
          </a:xfrm>
          <a:custGeom>
            <a:avLst/>
            <a:gdLst>
              <a:gd name="connsiteX0" fmla="*/ 354119 w 1309572"/>
              <a:gd name="connsiteY0" fmla="*/ 85627 h 659319"/>
              <a:gd name="connsiteX1" fmla="*/ 512010 w 1309572"/>
              <a:gd name="connsiteY1" fmla="*/ 170677 h 659319"/>
              <a:gd name="connsiteX2" fmla="*/ 647183 w 1309572"/>
              <a:gd name="connsiteY2" fmla="*/ 273733 h 659319"/>
              <a:gd name="connsiteX3" fmla="*/ 678048 w 1309572"/>
              <a:gd name="connsiteY3" fmla="*/ 300859 h 659319"/>
              <a:gd name="connsiteX4" fmla="*/ 707782 w 1309572"/>
              <a:gd name="connsiteY4" fmla="*/ 328400 h 659319"/>
              <a:gd name="connsiteX5" fmla="*/ 722650 w 1309572"/>
              <a:gd name="connsiteY5" fmla="*/ 342141 h 659319"/>
              <a:gd name="connsiteX6" fmla="*/ 736922 w 1309572"/>
              <a:gd name="connsiteY6" fmla="*/ 356059 h 659319"/>
              <a:gd name="connsiteX7" fmla="*/ 765468 w 1309572"/>
              <a:gd name="connsiteY7" fmla="*/ 383896 h 659319"/>
              <a:gd name="connsiteX8" fmla="*/ 790683 w 1309572"/>
              <a:gd name="connsiteY8" fmla="*/ 408476 h 659319"/>
              <a:gd name="connsiteX9" fmla="*/ 803290 w 1309572"/>
              <a:gd name="connsiteY9" fmla="*/ 420736 h 659319"/>
              <a:gd name="connsiteX10" fmla="*/ 815957 w 1309572"/>
              <a:gd name="connsiteY10" fmla="*/ 432581 h 659319"/>
              <a:gd name="connsiteX11" fmla="*/ 841410 w 1309572"/>
              <a:gd name="connsiteY11" fmla="*/ 456272 h 659319"/>
              <a:gd name="connsiteX12" fmla="*/ 866982 w 1309572"/>
              <a:gd name="connsiteY12" fmla="*/ 478719 h 659319"/>
              <a:gd name="connsiteX13" fmla="*/ 970637 w 1309572"/>
              <a:gd name="connsiteY13" fmla="*/ 558143 h 659319"/>
              <a:gd name="connsiteX14" fmla="*/ 1077087 w 1309572"/>
              <a:gd name="connsiteY14" fmla="*/ 615535 h 659319"/>
              <a:gd name="connsiteX15" fmla="*/ 1188354 w 1309572"/>
              <a:gd name="connsiteY15" fmla="*/ 648761 h 659319"/>
              <a:gd name="connsiteX16" fmla="*/ 1309374 w 1309572"/>
              <a:gd name="connsiteY16" fmla="*/ 659422 h 659319"/>
              <a:gd name="connsiteX17" fmla="*/ 1309374 w 1309572"/>
              <a:gd name="connsiteY17" fmla="*/ 642838 h 659319"/>
              <a:gd name="connsiteX18" fmla="*/ 1191446 w 1309572"/>
              <a:gd name="connsiteY18" fmla="*/ 632414 h 659319"/>
              <a:gd name="connsiteX19" fmla="*/ 1083034 w 1309572"/>
              <a:gd name="connsiteY19" fmla="*/ 599958 h 659319"/>
              <a:gd name="connsiteX20" fmla="*/ 979379 w 1309572"/>
              <a:gd name="connsiteY20" fmla="*/ 543988 h 659319"/>
              <a:gd name="connsiteX21" fmla="*/ 877389 w 1309572"/>
              <a:gd name="connsiteY21" fmla="*/ 465867 h 659319"/>
              <a:gd name="connsiteX22" fmla="*/ 852114 w 1309572"/>
              <a:gd name="connsiteY22" fmla="*/ 443657 h 659319"/>
              <a:gd name="connsiteX23" fmla="*/ 826899 w 1309572"/>
              <a:gd name="connsiteY23" fmla="*/ 420439 h 659319"/>
              <a:gd name="connsiteX24" fmla="*/ 814292 w 1309572"/>
              <a:gd name="connsiteY24" fmla="*/ 408594 h 659319"/>
              <a:gd name="connsiteX25" fmla="*/ 801804 w 1309572"/>
              <a:gd name="connsiteY25" fmla="*/ 396452 h 659319"/>
              <a:gd name="connsiteX26" fmla="*/ 776767 w 1309572"/>
              <a:gd name="connsiteY26" fmla="*/ 372051 h 659319"/>
              <a:gd name="connsiteX27" fmla="*/ 748281 w 1309572"/>
              <a:gd name="connsiteY27" fmla="*/ 344155 h 659319"/>
              <a:gd name="connsiteX28" fmla="*/ 733889 w 1309572"/>
              <a:gd name="connsiteY28" fmla="*/ 330118 h 659319"/>
              <a:gd name="connsiteX29" fmla="*/ 718962 w 1309572"/>
              <a:gd name="connsiteY29" fmla="*/ 316258 h 659319"/>
              <a:gd name="connsiteX30" fmla="*/ 689228 w 1309572"/>
              <a:gd name="connsiteY30" fmla="*/ 288540 h 659319"/>
              <a:gd name="connsiteX31" fmla="*/ 658066 w 1309572"/>
              <a:gd name="connsiteY31" fmla="*/ 261177 h 659319"/>
              <a:gd name="connsiteX32" fmla="*/ 521287 w 1309572"/>
              <a:gd name="connsiteY32" fmla="*/ 156877 h 659319"/>
              <a:gd name="connsiteX33" fmla="*/ 360720 w 1309572"/>
              <a:gd name="connsiteY33" fmla="*/ 70346 h 659319"/>
              <a:gd name="connsiteX34" fmla="*/ 181361 w 1309572"/>
              <a:gd name="connsiteY34" fmla="*/ 16627 h 659319"/>
              <a:gd name="connsiteX35" fmla="*/ -199 w 1309572"/>
              <a:gd name="connsiteY35" fmla="*/ 102 h 659319"/>
              <a:gd name="connsiteX36" fmla="*/ -199 w 1309572"/>
              <a:gd name="connsiteY36" fmla="*/ 16745 h 659319"/>
              <a:gd name="connsiteX37" fmla="*/ 178209 w 1309572"/>
              <a:gd name="connsiteY37" fmla="*/ 32737 h 659319"/>
              <a:gd name="connsiteX38" fmla="*/ 354119 w 1309572"/>
              <a:gd name="connsiteY38" fmla="*/ 85627 h 65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572" h="659319">
                <a:moveTo>
                  <a:pt x="354119" y="85627"/>
                </a:moveTo>
                <a:cubicBezTo>
                  <a:pt x="409247" y="109136"/>
                  <a:pt x="462115" y="137604"/>
                  <a:pt x="512010" y="170677"/>
                </a:cubicBezTo>
                <a:cubicBezTo>
                  <a:pt x="559109" y="202301"/>
                  <a:pt x="604247" y="236715"/>
                  <a:pt x="647183" y="273733"/>
                </a:cubicBezTo>
                <a:lnTo>
                  <a:pt x="678048" y="300859"/>
                </a:lnTo>
                <a:cubicBezTo>
                  <a:pt x="688277" y="309980"/>
                  <a:pt x="697911" y="319220"/>
                  <a:pt x="707782" y="328400"/>
                </a:cubicBezTo>
                <a:lnTo>
                  <a:pt x="722650" y="342141"/>
                </a:lnTo>
                <a:lnTo>
                  <a:pt x="736922" y="356059"/>
                </a:lnTo>
                <a:lnTo>
                  <a:pt x="765468" y="383896"/>
                </a:lnTo>
                <a:lnTo>
                  <a:pt x="790683" y="408476"/>
                </a:lnTo>
                <a:lnTo>
                  <a:pt x="803290" y="420736"/>
                </a:lnTo>
                <a:lnTo>
                  <a:pt x="815957" y="432581"/>
                </a:lnTo>
                <a:cubicBezTo>
                  <a:pt x="824462" y="440399"/>
                  <a:pt x="832846" y="448454"/>
                  <a:pt x="841410" y="456272"/>
                </a:cubicBezTo>
                <a:lnTo>
                  <a:pt x="866982" y="478719"/>
                </a:lnTo>
                <a:cubicBezTo>
                  <a:pt x="899928" y="507199"/>
                  <a:pt x="934539" y="533720"/>
                  <a:pt x="970637" y="558143"/>
                </a:cubicBezTo>
                <a:cubicBezTo>
                  <a:pt x="1004297" y="580470"/>
                  <a:pt x="1039919" y="599681"/>
                  <a:pt x="1077087" y="615535"/>
                </a:cubicBezTo>
                <a:cubicBezTo>
                  <a:pt x="1112769" y="630768"/>
                  <a:pt x="1150115" y="641915"/>
                  <a:pt x="1188354" y="648761"/>
                </a:cubicBezTo>
                <a:cubicBezTo>
                  <a:pt x="1228317" y="655706"/>
                  <a:pt x="1268816" y="659272"/>
                  <a:pt x="1309374" y="659422"/>
                </a:cubicBezTo>
                <a:lnTo>
                  <a:pt x="1309374" y="642838"/>
                </a:lnTo>
                <a:cubicBezTo>
                  <a:pt x="1269827" y="642693"/>
                  <a:pt x="1230398" y="639206"/>
                  <a:pt x="1191446" y="632414"/>
                </a:cubicBezTo>
                <a:cubicBezTo>
                  <a:pt x="1154159" y="625738"/>
                  <a:pt x="1117823" y="614849"/>
                  <a:pt x="1083034" y="599958"/>
                </a:cubicBezTo>
                <a:cubicBezTo>
                  <a:pt x="1046876" y="584465"/>
                  <a:pt x="1012146" y="565731"/>
                  <a:pt x="979379" y="543988"/>
                </a:cubicBezTo>
                <a:cubicBezTo>
                  <a:pt x="943876" y="519936"/>
                  <a:pt x="909859" y="493851"/>
                  <a:pt x="877389" y="465867"/>
                </a:cubicBezTo>
                <a:lnTo>
                  <a:pt x="852114" y="443657"/>
                </a:lnTo>
                <a:cubicBezTo>
                  <a:pt x="843670" y="436135"/>
                  <a:pt x="835344" y="428139"/>
                  <a:pt x="826899" y="420439"/>
                </a:cubicBezTo>
                <a:lnTo>
                  <a:pt x="814292" y="408594"/>
                </a:lnTo>
                <a:lnTo>
                  <a:pt x="801804" y="396452"/>
                </a:lnTo>
                <a:lnTo>
                  <a:pt x="776767" y="372051"/>
                </a:lnTo>
                <a:lnTo>
                  <a:pt x="748281" y="344155"/>
                </a:lnTo>
                <a:lnTo>
                  <a:pt x="733889" y="330118"/>
                </a:lnTo>
                <a:lnTo>
                  <a:pt x="718962" y="316258"/>
                </a:lnTo>
                <a:cubicBezTo>
                  <a:pt x="708972" y="307019"/>
                  <a:pt x="699219" y="297720"/>
                  <a:pt x="689228" y="288540"/>
                </a:cubicBezTo>
                <a:lnTo>
                  <a:pt x="658066" y="261177"/>
                </a:lnTo>
                <a:cubicBezTo>
                  <a:pt x="614594" y="223727"/>
                  <a:pt x="568922" y="188899"/>
                  <a:pt x="521287" y="156877"/>
                </a:cubicBezTo>
                <a:cubicBezTo>
                  <a:pt x="470560" y="123193"/>
                  <a:pt x="416799" y="94227"/>
                  <a:pt x="360720" y="70346"/>
                </a:cubicBezTo>
                <a:cubicBezTo>
                  <a:pt x="303154" y="45825"/>
                  <a:pt x="242971" y="27807"/>
                  <a:pt x="181361" y="16627"/>
                </a:cubicBezTo>
                <a:cubicBezTo>
                  <a:pt x="121415" y="5856"/>
                  <a:pt x="60697" y="326"/>
                  <a:pt x="-199" y="102"/>
                </a:cubicBezTo>
                <a:lnTo>
                  <a:pt x="-199" y="16745"/>
                </a:lnTo>
                <a:cubicBezTo>
                  <a:pt x="59627" y="16873"/>
                  <a:pt x="119334" y="22224"/>
                  <a:pt x="178209" y="32737"/>
                </a:cubicBezTo>
                <a:cubicBezTo>
                  <a:pt x="238630" y="43832"/>
                  <a:pt x="297623" y="61571"/>
                  <a:pt x="354119" y="85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51" name="Freeform: Shape 150">
            <a:extLst>
              <a:ext uri="{FF2B5EF4-FFF2-40B4-BE49-F238E27FC236}">
                <a16:creationId xmlns:a16="http://schemas.microsoft.com/office/drawing/2014/main" id="{6B425F3A-BC72-B022-8E56-A4A694BC7909}"/>
              </a:ext>
            </a:extLst>
          </p:cNvPr>
          <p:cNvSpPr/>
          <p:nvPr/>
        </p:nvSpPr>
        <p:spPr>
          <a:xfrm>
            <a:off x="6752094" y="3652457"/>
            <a:ext cx="1309811" cy="659438"/>
          </a:xfrm>
          <a:custGeom>
            <a:avLst/>
            <a:gdLst>
              <a:gd name="connsiteX0" fmla="*/ 117907 w 1309811"/>
              <a:gd name="connsiteY0" fmla="*/ 27288 h 659438"/>
              <a:gd name="connsiteX1" fmla="*/ 226200 w 1309811"/>
              <a:gd name="connsiteY1" fmla="*/ 59744 h 659438"/>
              <a:gd name="connsiteX2" fmla="*/ 329855 w 1309811"/>
              <a:gd name="connsiteY2" fmla="*/ 115774 h 659438"/>
              <a:gd name="connsiteX3" fmla="*/ 431845 w 1309811"/>
              <a:gd name="connsiteY3" fmla="*/ 194013 h 659438"/>
              <a:gd name="connsiteX4" fmla="*/ 456882 w 1309811"/>
              <a:gd name="connsiteY4" fmla="*/ 216105 h 659438"/>
              <a:gd name="connsiteX5" fmla="*/ 482097 w 1309811"/>
              <a:gd name="connsiteY5" fmla="*/ 239381 h 659438"/>
              <a:gd name="connsiteX6" fmla="*/ 494704 w 1309811"/>
              <a:gd name="connsiteY6" fmla="*/ 251227 h 659438"/>
              <a:gd name="connsiteX7" fmla="*/ 507192 w 1309811"/>
              <a:gd name="connsiteY7" fmla="*/ 263428 h 659438"/>
              <a:gd name="connsiteX8" fmla="*/ 532348 w 1309811"/>
              <a:gd name="connsiteY8" fmla="*/ 287888 h 659438"/>
              <a:gd name="connsiteX9" fmla="*/ 561012 w 1309811"/>
              <a:gd name="connsiteY9" fmla="*/ 315903 h 659438"/>
              <a:gd name="connsiteX10" fmla="*/ 575463 w 1309811"/>
              <a:gd name="connsiteY10" fmla="*/ 329881 h 659438"/>
              <a:gd name="connsiteX11" fmla="*/ 590390 w 1309811"/>
              <a:gd name="connsiteY11" fmla="*/ 343799 h 659438"/>
              <a:gd name="connsiteX12" fmla="*/ 620125 w 1309811"/>
              <a:gd name="connsiteY12" fmla="*/ 371458 h 659438"/>
              <a:gd name="connsiteX13" fmla="*/ 651346 w 1309811"/>
              <a:gd name="connsiteY13" fmla="*/ 398821 h 659438"/>
              <a:gd name="connsiteX14" fmla="*/ 788125 w 1309811"/>
              <a:gd name="connsiteY14" fmla="*/ 503121 h 659438"/>
              <a:gd name="connsiteX15" fmla="*/ 948692 w 1309811"/>
              <a:gd name="connsiteY15" fmla="*/ 589534 h 659438"/>
              <a:gd name="connsiteX16" fmla="*/ 1128171 w 1309811"/>
              <a:gd name="connsiteY16" fmla="*/ 643253 h 659438"/>
              <a:gd name="connsiteX17" fmla="*/ 1309612 w 1309811"/>
              <a:gd name="connsiteY17" fmla="*/ 659541 h 659438"/>
              <a:gd name="connsiteX18" fmla="*/ 1309612 w 1309811"/>
              <a:gd name="connsiteY18" fmla="*/ 642957 h 659438"/>
              <a:gd name="connsiteX19" fmla="*/ 1131204 w 1309811"/>
              <a:gd name="connsiteY19" fmla="*/ 626965 h 659438"/>
              <a:gd name="connsiteX20" fmla="*/ 955353 w 1309811"/>
              <a:gd name="connsiteY20" fmla="*/ 574253 h 659438"/>
              <a:gd name="connsiteX21" fmla="*/ 797403 w 1309811"/>
              <a:gd name="connsiteY21" fmla="*/ 489262 h 659438"/>
              <a:gd name="connsiteX22" fmla="*/ 662467 w 1309811"/>
              <a:gd name="connsiteY22" fmla="*/ 386147 h 659438"/>
              <a:gd name="connsiteX23" fmla="*/ 631543 w 1309811"/>
              <a:gd name="connsiteY23" fmla="*/ 359080 h 659438"/>
              <a:gd name="connsiteX24" fmla="*/ 601808 w 1309811"/>
              <a:gd name="connsiteY24" fmla="*/ 331598 h 659438"/>
              <a:gd name="connsiteX25" fmla="*/ 586941 w 1309811"/>
              <a:gd name="connsiteY25" fmla="*/ 317502 h 659438"/>
              <a:gd name="connsiteX26" fmla="*/ 572668 w 1309811"/>
              <a:gd name="connsiteY26" fmla="*/ 303584 h 659438"/>
              <a:gd name="connsiteX27" fmla="*/ 544123 w 1309811"/>
              <a:gd name="connsiteY27" fmla="*/ 276043 h 659438"/>
              <a:gd name="connsiteX28" fmla="*/ 518849 w 1309811"/>
              <a:gd name="connsiteY28" fmla="*/ 251404 h 659438"/>
              <a:gd name="connsiteX29" fmla="*/ 506241 w 1309811"/>
              <a:gd name="connsiteY29" fmla="*/ 239144 h 659438"/>
              <a:gd name="connsiteX30" fmla="*/ 493574 w 1309811"/>
              <a:gd name="connsiteY30" fmla="*/ 227299 h 659438"/>
              <a:gd name="connsiteX31" fmla="*/ 468181 w 1309811"/>
              <a:gd name="connsiteY31" fmla="*/ 203608 h 659438"/>
              <a:gd name="connsiteX32" fmla="*/ 442549 w 1309811"/>
              <a:gd name="connsiteY32" fmla="*/ 181279 h 659438"/>
              <a:gd name="connsiteX33" fmla="*/ 338954 w 1309811"/>
              <a:gd name="connsiteY33" fmla="*/ 101796 h 659438"/>
              <a:gd name="connsiteX34" fmla="*/ 232504 w 1309811"/>
              <a:gd name="connsiteY34" fmla="*/ 44345 h 659438"/>
              <a:gd name="connsiteX35" fmla="*/ 120821 w 1309811"/>
              <a:gd name="connsiteY35" fmla="*/ 10823 h 659438"/>
              <a:gd name="connsiteX36" fmla="*/ -199 w 1309811"/>
              <a:gd name="connsiteY36" fmla="*/ 102 h 659438"/>
              <a:gd name="connsiteX37" fmla="*/ -199 w 1309811"/>
              <a:gd name="connsiteY37" fmla="*/ 16745 h 659438"/>
              <a:gd name="connsiteX38" fmla="*/ 117907 w 1309811"/>
              <a:gd name="connsiteY38" fmla="*/ 27288 h 6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811" h="659438">
                <a:moveTo>
                  <a:pt x="117907" y="27288"/>
                </a:moveTo>
                <a:cubicBezTo>
                  <a:pt x="155135" y="33956"/>
                  <a:pt x="191470" y="44846"/>
                  <a:pt x="226200" y="59744"/>
                </a:cubicBezTo>
                <a:cubicBezTo>
                  <a:pt x="262358" y="75269"/>
                  <a:pt x="297088" y="94022"/>
                  <a:pt x="329855" y="115774"/>
                </a:cubicBezTo>
                <a:cubicBezTo>
                  <a:pt x="365358" y="139834"/>
                  <a:pt x="399434" y="165959"/>
                  <a:pt x="431845" y="194013"/>
                </a:cubicBezTo>
                <a:lnTo>
                  <a:pt x="456882" y="216105"/>
                </a:lnTo>
                <a:cubicBezTo>
                  <a:pt x="465327" y="223627"/>
                  <a:pt x="473652" y="231622"/>
                  <a:pt x="482097" y="239381"/>
                </a:cubicBezTo>
                <a:lnTo>
                  <a:pt x="494704" y="251227"/>
                </a:lnTo>
                <a:lnTo>
                  <a:pt x="507192" y="263428"/>
                </a:lnTo>
                <a:lnTo>
                  <a:pt x="532348" y="287888"/>
                </a:lnTo>
                <a:lnTo>
                  <a:pt x="561012" y="315903"/>
                </a:lnTo>
                <a:lnTo>
                  <a:pt x="575463" y="329881"/>
                </a:lnTo>
                <a:lnTo>
                  <a:pt x="590390" y="343799"/>
                </a:lnTo>
                <a:cubicBezTo>
                  <a:pt x="600381" y="352979"/>
                  <a:pt x="610134" y="362278"/>
                  <a:pt x="620125" y="371458"/>
                </a:cubicBezTo>
                <a:lnTo>
                  <a:pt x="651346" y="398821"/>
                </a:lnTo>
                <a:cubicBezTo>
                  <a:pt x="694818" y="436285"/>
                  <a:pt x="740490" y="471114"/>
                  <a:pt x="788125" y="503121"/>
                </a:cubicBezTo>
                <a:cubicBezTo>
                  <a:pt x="838853" y="536762"/>
                  <a:pt x="892613" y="565687"/>
                  <a:pt x="948692" y="589534"/>
                </a:cubicBezTo>
                <a:cubicBezTo>
                  <a:pt x="1006318" y="614040"/>
                  <a:pt x="1066501" y="632057"/>
                  <a:pt x="1128171" y="643253"/>
                </a:cubicBezTo>
                <a:cubicBezTo>
                  <a:pt x="1188056" y="653968"/>
                  <a:pt x="1248775" y="659419"/>
                  <a:pt x="1309612" y="659541"/>
                </a:cubicBezTo>
                <a:lnTo>
                  <a:pt x="1309612" y="642957"/>
                </a:lnTo>
                <a:cubicBezTo>
                  <a:pt x="1249785" y="642800"/>
                  <a:pt x="1190079" y="637449"/>
                  <a:pt x="1131204" y="626965"/>
                </a:cubicBezTo>
                <a:cubicBezTo>
                  <a:pt x="1070783" y="615973"/>
                  <a:pt x="1011790" y="598293"/>
                  <a:pt x="955353" y="574253"/>
                </a:cubicBezTo>
                <a:cubicBezTo>
                  <a:pt x="900225" y="550789"/>
                  <a:pt x="847357" y="522340"/>
                  <a:pt x="797403" y="489262"/>
                </a:cubicBezTo>
                <a:cubicBezTo>
                  <a:pt x="750422" y="457594"/>
                  <a:pt x="705345" y="423161"/>
                  <a:pt x="662467" y="386147"/>
                </a:cubicBezTo>
                <a:lnTo>
                  <a:pt x="631543" y="359080"/>
                </a:lnTo>
                <a:cubicBezTo>
                  <a:pt x="621374" y="350018"/>
                  <a:pt x="611740" y="340719"/>
                  <a:pt x="601808" y="331598"/>
                </a:cubicBezTo>
                <a:lnTo>
                  <a:pt x="586941" y="317502"/>
                </a:lnTo>
                <a:lnTo>
                  <a:pt x="572668" y="303584"/>
                </a:lnTo>
                <a:lnTo>
                  <a:pt x="544123" y="276043"/>
                </a:lnTo>
                <a:lnTo>
                  <a:pt x="518849" y="251404"/>
                </a:lnTo>
                <a:lnTo>
                  <a:pt x="506241" y="239144"/>
                </a:lnTo>
                <a:lnTo>
                  <a:pt x="493574" y="227299"/>
                </a:lnTo>
                <a:cubicBezTo>
                  <a:pt x="485070" y="219481"/>
                  <a:pt x="476685" y="211367"/>
                  <a:pt x="468181" y="203608"/>
                </a:cubicBezTo>
                <a:lnTo>
                  <a:pt x="442549" y="181279"/>
                </a:lnTo>
                <a:cubicBezTo>
                  <a:pt x="409604" y="152795"/>
                  <a:pt x="374992" y="126256"/>
                  <a:pt x="338954" y="101796"/>
                </a:cubicBezTo>
                <a:cubicBezTo>
                  <a:pt x="305294" y="79485"/>
                  <a:pt x="269672" y="60256"/>
                  <a:pt x="232504" y="44345"/>
                </a:cubicBezTo>
                <a:cubicBezTo>
                  <a:pt x="196704" y="28984"/>
                  <a:pt x="159178" y="17737"/>
                  <a:pt x="120821" y="10823"/>
                </a:cubicBezTo>
                <a:cubicBezTo>
                  <a:pt x="80857" y="3826"/>
                  <a:pt x="40359" y="239"/>
                  <a:pt x="-199" y="102"/>
                </a:cubicBezTo>
                <a:lnTo>
                  <a:pt x="-199" y="16745"/>
                </a:lnTo>
                <a:cubicBezTo>
                  <a:pt x="39408" y="16890"/>
                  <a:pt x="78895" y="20417"/>
                  <a:pt x="117907" y="27288"/>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52" name="Freeform: Shape 151">
            <a:extLst>
              <a:ext uri="{FF2B5EF4-FFF2-40B4-BE49-F238E27FC236}">
                <a16:creationId xmlns:a16="http://schemas.microsoft.com/office/drawing/2014/main" id="{4160EC59-DB73-76A2-2FF6-7D8D0BE6833B}"/>
              </a:ext>
            </a:extLst>
          </p:cNvPr>
          <p:cNvSpPr/>
          <p:nvPr/>
        </p:nvSpPr>
        <p:spPr>
          <a:xfrm>
            <a:off x="8574149" y="3890899"/>
            <a:ext cx="65201" cy="58695"/>
          </a:xfrm>
          <a:custGeom>
            <a:avLst/>
            <a:gdLst>
              <a:gd name="connsiteX0" fmla="*/ 52515 w 65201"/>
              <a:gd name="connsiteY0" fmla="*/ 1116 h 58695"/>
              <a:gd name="connsiteX1" fmla="*/ 27121 w 65201"/>
              <a:gd name="connsiteY1" fmla="*/ 23445 h 58695"/>
              <a:gd name="connsiteX2" fmla="*/ 1193 w 65201"/>
              <a:gd name="connsiteY2" fmla="*/ 45063 h 58695"/>
              <a:gd name="connsiteX3" fmla="*/ 420 w 65201"/>
              <a:gd name="connsiteY3" fmla="*/ 49742 h 58695"/>
              <a:gd name="connsiteX4" fmla="*/ 7021 w 65201"/>
              <a:gd name="connsiteY4" fmla="*/ 57797 h 58695"/>
              <a:gd name="connsiteX5" fmla="*/ 11838 w 65201"/>
              <a:gd name="connsiteY5" fmla="*/ 57820 h 58695"/>
              <a:gd name="connsiteX6" fmla="*/ 11838 w 65201"/>
              <a:gd name="connsiteY6" fmla="*/ 57797 h 58695"/>
              <a:gd name="connsiteX7" fmla="*/ 38004 w 65201"/>
              <a:gd name="connsiteY7" fmla="*/ 35942 h 58695"/>
              <a:gd name="connsiteX8" fmla="*/ 63636 w 65201"/>
              <a:gd name="connsiteY8" fmla="*/ 13436 h 58695"/>
              <a:gd name="connsiteX9" fmla="*/ 64409 w 65201"/>
              <a:gd name="connsiteY9" fmla="*/ 8891 h 58695"/>
              <a:gd name="connsiteX10" fmla="*/ 64290 w 65201"/>
              <a:gd name="connsiteY10" fmla="*/ 8757 h 58695"/>
              <a:gd name="connsiteX11" fmla="*/ 57332 w 65201"/>
              <a:gd name="connsiteY11" fmla="*/ 998 h 58695"/>
              <a:gd name="connsiteX12" fmla="*/ 52515 w 65201"/>
              <a:gd name="connsiteY12" fmla="*/ 1116 h 5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201" h="58695">
                <a:moveTo>
                  <a:pt x="52515" y="1116"/>
                </a:moveTo>
                <a:lnTo>
                  <a:pt x="27121" y="23445"/>
                </a:lnTo>
                <a:cubicBezTo>
                  <a:pt x="18796" y="30967"/>
                  <a:pt x="9875" y="37837"/>
                  <a:pt x="1193" y="45063"/>
                </a:cubicBezTo>
                <a:cubicBezTo>
                  <a:pt x="-294" y="46150"/>
                  <a:pt x="-651" y="48234"/>
                  <a:pt x="420" y="49742"/>
                </a:cubicBezTo>
                <a:lnTo>
                  <a:pt x="7021" y="57797"/>
                </a:lnTo>
                <a:cubicBezTo>
                  <a:pt x="8329" y="59122"/>
                  <a:pt x="10470" y="59132"/>
                  <a:pt x="11838" y="57820"/>
                </a:cubicBezTo>
                <a:cubicBezTo>
                  <a:pt x="11838" y="57813"/>
                  <a:pt x="11838" y="57805"/>
                  <a:pt x="11838" y="57797"/>
                </a:cubicBezTo>
                <a:cubicBezTo>
                  <a:pt x="20580" y="50512"/>
                  <a:pt x="29679" y="43583"/>
                  <a:pt x="38004" y="35942"/>
                </a:cubicBezTo>
                <a:lnTo>
                  <a:pt x="63636" y="13436"/>
                </a:lnTo>
                <a:cubicBezTo>
                  <a:pt x="65122" y="12389"/>
                  <a:pt x="65420" y="10354"/>
                  <a:pt x="64409" y="8891"/>
                </a:cubicBezTo>
                <a:cubicBezTo>
                  <a:pt x="64349" y="8845"/>
                  <a:pt x="64349" y="8801"/>
                  <a:pt x="64290" y="8757"/>
                </a:cubicBezTo>
                <a:lnTo>
                  <a:pt x="57332" y="998"/>
                </a:lnTo>
                <a:cubicBezTo>
                  <a:pt x="55964" y="-240"/>
                  <a:pt x="53823" y="-188"/>
                  <a:pt x="52515" y="111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3" name="Freeform: Shape 152">
            <a:extLst>
              <a:ext uri="{FF2B5EF4-FFF2-40B4-BE49-F238E27FC236}">
                <a16:creationId xmlns:a16="http://schemas.microsoft.com/office/drawing/2014/main" id="{3581141F-03B2-34AE-029F-AB1BD46A55E1}"/>
              </a:ext>
            </a:extLst>
          </p:cNvPr>
          <p:cNvSpPr/>
          <p:nvPr/>
        </p:nvSpPr>
        <p:spPr>
          <a:xfrm>
            <a:off x="8452732" y="3984773"/>
            <a:ext cx="69359" cy="52653"/>
          </a:xfrm>
          <a:custGeom>
            <a:avLst/>
            <a:gdLst>
              <a:gd name="connsiteX0" fmla="*/ 57789 w 69359"/>
              <a:gd name="connsiteY0" fmla="*/ 1000 h 52653"/>
              <a:gd name="connsiteX1" fmla="*/ 30076 w 69359"/>
              <a:gd name="connsiteY1" fmla="*/ 20130 h 52653"/>
              <a:gd name="connsiteX2" fmla="*/ 1590 w 69359"/>
              <a:gd name="connsiteY2" fmla="*/ 37898 h 52653"/>
              <a:gd name="connsiteX3" fmla="*/ 163 w 69359"/>
              <a:gd name="connsiteY3" fmla="*/ 42459 h 52653"/>
              <a:gd name="connsiteX4" fmla="*/ 5574 w 69359"/>
              <a:gd name="connsiteY4" fmla="*/ 51343 h 52653"/>
              <a:gd name="connsiteX5" fmla="*/ 10213 w 69359"/>
              <a:gd name="connsiteY5" fmla="*/ 52155 h 52653"/>
              <a:gd name="connsiteX6" fmla="*/ 10273 w 69359"/>
              <a:gd name="connsiteY6" fmla="*/ 52113 h 52653"/>
              <a:gd name="connsiteX7" fmla="*/ 39294 w 69359"/>
              <a:gd name="connsiteY7" fmla="*/ 33871 h 52653"/>
              <a:gd name="connsiteX8" fmla="*/ 67482 w 69359"/>
              <a:gd name="connsiteY8" fmla="*/ 14385 h 52653"/>
              <a:gd name="connsiteX9" fmla="*/ 68731 w 69359"/>
              <a:gd name="connsiteY9" fmla="*/ 9862 h 52653"/>
              <a:gd name="connsiteX10" fmla="*/ 68671 w 69359"/>
              <a:gd name="connsiteY10" fmla="*/ 9765 h 52653"/>
              <a:gd name="connsiteX11" fmla="*/ 62724 w 69359"/>
              <a:gd name="connsiteY11" fmla="*/ 1355 h 52653"/>
              <a:gd name="connsiteX12" fmla="*/ 57967 w 69359"/>
              <a:gd name="connsiteY12" fmla="*/ 854 h 52653"/>
              <a:gd name="connsiteX13" fmla="*/ 57789 w 69359"/>
              <a:gd name="connsiteY13" fmla="*/ 1000 h 52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59" h="52653">
                <a:moveTo>
                  <a:pt x="57789" y="1000"/>
                </a:moveTo>
                <a:lnTo>
                  <a:pt x="30076" y="20130"/>
                </a:lnTo>
                <a:cubicBezTo>
                  <a:pt x="20680" y="26053"/>
                  <a:pt x="11046" y="31975"/>
                  <a:pt x="1590" y="37898"/>
                </a:cubicBezTo>
                <a:cubicBezTo>
                  <a:pt x="-15" y="38786"/>
                  <a:pt x="-669" y="40804"/>
                  <a:pt x="163" y="42459"/>
                </a:cubicBezTo>
                <a:lnTo>
                  <a:pt x="5574" y="51343"/>
                </a:lnTo>
                <a:cubicBezTo>
                  <a:pt x="6645" y="52843"/>
                  <a:pt x="8726" y="53207"/>
                  <a:pt x="10213" y="52155"/>
                </a:cubicBezTo>
                <a:cubicBezTo>
                  <a:pt x="10213" y="52141"/>
                  <a:pt x="10273" y="52127"/>
                  <a:pt x="10273" y="52113"/>
                </a:cubicBezTo>
                <a:cubicBezTo>
                  <a:pt x="19966" y="46190"/>
                  <a:pt x="29719" y="40267"/>
                  <a:pt x="39294" y="33871"/>
                </a:cubicBezTo>
                <a:lnTo>
                  <a:pt x="67482" y="14385"/>
                </a:lnTo>
                <a:cubicBezTo>
                  <a:pt x="69088" y="13479"/>
                  <a:pt x="69623" y="11454"/>
                  <a:pt x="68731" y="9862"/>
                </a:cubicBezTo>
                <a:cubicBezTo>
                  <a:pt x="68731" y="9829"/>
                  <a:pt x="68671" y="9797"/>
                  <a:pt x="68671" y="9765"/>
                </a:cubicBezTo>
                <a:lnTo>
                  <a:pt x="62724" y="1355"/>
                </a:lnTo>
                <a:cubicBezTo>
                  <a:pt x="61535" y="-94"/>
                  <a:pt x="59394" y="-319"/>
                  <a:pt x="57967" y="854"/>
                </a:cubicBezTo>
                <a:cubicBezTo>
                  <a:pt x="57908" y="901"/>
                  <a:pt x="57848" y="949"/>
                  <a:pt x="57789" y="1000"/>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4" name="Freeform: Shape 153">
            <a:extLst>
              <a:ext uri="{FF2B5EF4-FFF2-40B4-BE49-F238E27FC236}">
                <a16:creationId xmlns:a16="http://schemas.microsoft.com/office/drawing/2014/main" id="{61690204-24E6-C092-99BE-A187E5C5FA72}"/>
              </a:ext>
            </a:extLst>
          </p:cNvPr>
          <p:cNvSpPr/>
          <p:nvPr/>
        </p:nvSpPr>
        <p:spPr>
          <a:xfrm>
            <a:off x="8318521" y="4061075"/>
            <a:ext cx="73653" cy="42423"/>
          </a:xfrm>
          <a:custGeom>
            <a:avLst/>
            <a:gdLst>
              <a:gd name="connsiteX0" fmla="*/ 64081 w 73653"/>
              <a:gd name="connsiteY0" fmla="*/ 568 h 42423"/>
              <a:gd name="connsiteX1" fmla="*/ 48976 w 73653"/>
              <a:gd name="connsiteY1" fmla="*/ 7853 h 42423"/>
              <a:gd name="connsiteX2" fmla="*/ 33454 w 73653"/>
              <a:gd name="connsiteY2" fmla="*/ 14309 h 42423"/>
              <a:gd name="connsiteX3" fmla="*/ 17933 w 73653"/>
              <a:gd name="connsiteY3" fmla="*/ 20705 h 42423"/>
              <a:gd name="connsiteX4" fmla="*/ 2292 w 73653"/>
              <a:gd name="connsiteY4" fmla="*/ 26628 h 42423"/>
              <a:gd name="connsiteX5" fmla="*/ -86 w 73653"/>
              <a:gd name="connsiteY5" fmla="*/ 30715 h 42423"/>
              <a:gd name="connsiteX6" fmla="*/ 3482 w 73653"/>
              <a:gd name="connsiteY6" fmla="*/ 40487 h 42423"/>
              <a:gd name="connsiteX7" fmla="*/ 8002 w 73653"/>
              <a:gd name="connsiteY7" fmla="*/ 42264 h 42423"/>
              <a:gd name="connsiteX8" fmla="*/ 24058 w 73653"/>
              <a:gd name="connsiteY8" fmla="*/ 36045 h 42423"/>
              <a:gd name="connsiteX9" fmla="*/ 39996 w 73653"/>
              <a:gd name="connsiteY9" fmla="*/ 29530 h 42423"/>
              <a:gd name="connsiteX10" fmla="*/ 55815 w 73653"/>
              <a:gd name="connsiteY10" fmla="*/ 22897 h 42423"/>
              <a:gd name="connsiteX11" fmla="*/ 71277 w 73653"/>
              <a:gd name="connsiteY11" fmla="*/ 15493 h 42423"/>
              <a:gd name="connsiteX12" fmla="*/ 73239 w 73653"/>
              <a:gd name="connsiteY12" fmla="*/ 11143 h 42423"/>
              <a:gd name="connsiteX13" fmla="*/ 73239 w 73653"/>
              <a:gd name="connsiteY13" fmla="*/ 11111 h 42423"/>
              <a:gd name="connsiteX14" fmla="*/ 68660 w 73653"/>
              <a:gd name="connsiteY14" fmla="*/ 1753 h 42423"/>
              <a:gd name="connsiteX15" fmla="*/ 64081 w 73653"/>
              <a:gd name="connsiteY15" fmla="*/ 553 h 42423"/>
              <a:gd name="connsiteX16" fmla="*/ 64081 w 73653"/>
              <a:gd name="connsiteY16" fmla="*/ 568 h 4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653" h="42423">
                <a:moveTo>
                  <a:pt x="64081" y="568"/>
                </a:moveTo>
                <a:lnTo>
                  <a:pt x="48976" y="7853"/>
                </a:lnTo>
                <a:cubicBezTo>
                  <a:pt x="43861" y="10163"/>
                  <a:pt x="38628" y="12117"/>
                  <a:pt x="33454" y="14309"/>
                </a:cubicBezTo>
                <a:lnTo>
                  <a:pt x="17933" y="20705"/>
                </a:lnTo>
                <a:cubicBezTo>
                  <a:pt x="12699" y="22778"/>
                  <a:pt x="7645" y="25088"/>
                  <a:pt x="2292" y="26628"/>
                </a:cubicBezTo>
                <a:cubicBezTo>
                  <a:pt x="509" y="27119"/>
                  <a:pt x="-562" y="28935"/>
                  <a:pt x="-86" y="30715"/>
                </a:cubicBezTo>
                <a:lnTo>
                  <a:pt x="3482" y="40487"/>
                </a:lnTo>
                <a:cubicBezTo>
                  <a:pt x="4255" y="42191"/>
                  <a:pt x="6277" y="42975"/>
                  <a:pt x="8002" y="42264"/>
                </a:cubicBezTo>
                <a:cubicBezTo>
                  <a:pt x="13472" y="40547"/>
                  <a:pt x="18706" y="38237"/>
                  <a:pt x="24058" y="36045"/>
                </a:cubicBezTo>
                <a:lnTo>
                  <a:pt x="39996" y="29530"/>
                </a:lnTo>
                <a:cubicBezTo>
                  <a:pt x="45230" y="27339"/>
                  <a:pt x="50581" y="25266"/>
                  <a:pt x="55815" y="22897"/>
                </a:cubicBezTo>
                <a:lnTo>
                  <a:pt x="71277" y="15493"/>
                </a:lnTo>
                <a:cubicBezTo>
                  <a:pt x="73001" y="14835"/>
                  <a:pt x="73893" y="12887"/>
                  <a:pt x="73239" y="11143"/>
                </a:cubicBezTo>
                <a:cubicBezTo>
                  <a:pt x="73239" y="11132"/>
                  <a:pt x="73239" y="11121"/>
                  <a:pt x="73239" y="11111"/>
                </a:cubicBezTo>
                <a:lnTo>
                  <a:pt x="68660" y="1753"/>
                </a:lnTo>
                <a:cubicBezTo>
                  <a:pt x="67708" y="169"/>
                  <a:pt x="65687" y="-368"/>
                  <a:pt x="64081" y="553"/>
                </a:cubicBezTo>
                <a:cubicBezTo>
                  <a:pt x="64081" y="558"/>
                  <a:pt x="64081" y="563"/>
                  <a:pt x="64081" y="56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5" name="Freeform: Shape 154">
            <a:extLst>
              <a:ext uri="{FF2B5EF4-FFF2-40B4-BE49-F238E27FC236}">
                <a16:creationId xmlns:a16="http://schemas.microsoft.com/office/drawing/2014/main" id="{32C0AB19-660C-E873-71B2-4C6E27665473}"/>
              </a:ext>
            </a:extLst>
          </p:cNvPr>
          <p:cNvSpPr/>
          <p:nvPr/>
        </p:nvSpPr>
        <p:spPr>
          <a:xfrm>
            <a:off x="8061905" y="4130155"/>
            <a:ext cx="37822" cy="17383"/>
          </a:xfrm>
          <a:custGeom>
            <a:avLst/>
            <a:gdLst>
              <a:gd name="connsiteX0" fmla="*/ 33461 w 37822"/>
              <a:gd name="connsiteY0" fmla="*/ 133 h 17383"/>
              <a:gd name="connsiteX1" fmla="*/ -199 w 37822"/>
              <a:gd name="connsiteY1" fmla="*/ 962 h 17383"/>
              <a:gd name="connsiteX2" fmla="*/ -199 w 37822"/>
              <a:gd name="connsiteY2" fmla="*/ 17486 h 17383"/>
              <a:gd name="connsiteX3" fmla="*/ 34115 w 37822"/>
              <a:gd name="connsiteY3" fmla="*/ 16598 h 17383"/>
              <a:gd name="connsiteX4" fmla="*/ 37623 w 37822"/>
              <a:gd name="connsiteY4" fmla="*/ 13345 h 17383"/>
              <a:gd name="connsiteX5" fmla="*/ 37623 w 37822"/>
              <a:gd name="connsiteY5" fmla="*/ 13340 h 17383"/>
              <a:gd name="connsiteX6" fmla="*/ 37207 w 37822"/>
              <a:gd name="connsiteY6" fmla="*/ 2976 h 17383"/>
              <a:gd name="connsiteX7" fmla="*/ 33461 w 37822"/>
              <a:gd name="connsiteY7" fmla="*/ 133 h 17383"/>
              <a:gd name="connsiteX8" fmla="*/ 33461 w 37822"/>
              <a:gd name="connsiteY8" fmla="*/ 133 h 1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22" h="17383">
                <a:moveTo>
                  <a:pt x="33461" y="133"/>
                </a:moveTo>
                <a:lnTo>
                  <a:pt x="-199" y="962"/>
                </a:lnTo>
                <a:lnTo>
                  <a:pt x="-199" y="17486"/>
                </a:lnTo>
                <a:lnTo>
                  <a:pt x="34115" y="16598"/>
                </a:lnTo>
                <a:cubicBezTo>
                  <a:pt x="35958" y="16664"/>
                  <a:pt x="37564" y="15208"/>
                  <a:pt x="37623" y="13345"/>
                </a:cubicBezTo>
                <a:cubicBezTo>
                  <a:pt x="37623" y="13343"/>
                  <a:pt x="37623" y="13342"/>
                  <a:pt x="37623" y="13340"/>
                </a:cubicBezTo>
                <a:lnTo>
                  <a:pt x="37207" y="2976"/>
                </a:lnTo>
                <a:cubicBezTo>
                  <a:pt x="36969" y="1160"/>
                  <a:pt x="35304" y="-112"/>
                  <a:pt x="33461" y="133"/>
                </a:cubicBezTo>
                <a:cubicBezTo>
                  <a:pt x="33461" y="133"/>
                  <a:pt x="33461" y="133"/>
                  <a:pt x="33461" y="133"/>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6" name="Freeform: Shape 155">
            <a:extLst>
              <a:ext uri="{FF2B5EF4-FFF2-40B4-BE49-F238E27FC236}">
                <a16:creationId xmlns:a16="http://schemas.microsoft.com/office/drawing/2014/main" id="{7F9C1956-DF32-BAFC-6375-0F49C9E1F891}"/>
              </a:ext>
            </a:extLst>
          </p:cNvPr>
          <p:cNvSpPr/>
          <p:nvPr/>
        </p:nvSpPr>
        <p:spPr>
          <a:xfrm>
            <a:off x="8173760" y="4110969"/>
            <a:ext cx="75933" cy="28771"/>
          </a:xfrm>
          <a:custGeom>
            <a:avLst/>
            <a:gdLst>
              <a:gd name="connsiteX0" fmla="*/ 69030 w 75933"/>
              <a:gd name="connsiteY0" fmla="*/ 247 h 28771"/>
              <a:gd name="connsiteX1" fmla="*/ 36084 w 75933"/>
              <a:gd name="connsiteY1" fmla="*/ 7058 h 28771"/>
              <a:gd name="connsiteX2" fmla="*/ 27878 w 75933"/>
              <a:gd name="connsiteY2" fmla="*/ 8776 h 28771"/>
              <a:gd name="connsiteX3" fmla="*/ 19552 w 75933"/>
              <a:gd name="connsiteY3" fmla="*/ 9961 h 28771"/>
              <a:gd name="connsiteX4" fmla="*/ 2960 w 75933"/>
              <a:gd name="connsiteY4" fmla="*/ 12330 h 28771"/>
              <a:gd name="connsiteX5" fmla="*/ -192 w 75933"/>
              <a:gd name="connsiteY5" fmla="*/ 15926 h 28771"/>
              <a:gd name="connsiteX6" fmla="*/ -192 w 75933"/>
              <a:gd name="connsiteY6" fmla="*/ 15943 h 28771"/>
              <a:gd name="connsiteX7" fmla="*/ 1176 w 75933"/>
              <a:gd name="connsiteY7" fmla="*/ 26189 h 28771"/>
              <a:gd name="connsiteX8" fmla="*/ 5160 w 75933"/>
              <a:gd name="connsiteY8" fmla="*/ 28801 h 28771"/>
              <a:gd name="connsiteX9" fmla="*/ 5220 w 75933"/>
              <a:gd name="connsiteY9" fmla="*/ 28795 h 28771"/>
              <a:gd name="connsiteX10" fmla="*/ 22228 w 75933"/>
              <a:gd name="connsiteY10" fmla="*/ 26367 h 28771"/>
              <a:gd name="connsiteX11" fmla="*/ 30732 w 75933"/>
              <a:gd name="connsiteY11" fmla="*/ 25123 h 28771"/>
              <a:gd name="connsiteX12" fmla="*/ 39176 w 75933"/>
              <a:gd name="connsiteY12" fmla="*/ 23405 h 28771"/>
              <a:gd name="connsiteX13" fmla="*/ 72896 w 75933"/>
              <a:gd name="connsiteY13" fmla="*/ 16476 h 28771"/>
              <a:gd name="connsiteX14" fmla="*/ 75691 w 75933"/>
              <a:gd name="connsiteY14" fmla="*/ 12626 h 28771"/>
              <a:gd name="connsiteX15" fmla="*/ 73253 w 75933"/>
              <a:gd name="connsiteY15" fmla="*/ 2498 h 28771"/>
              <a:gd name="connsiteX16" fmla="*/ 69030 w 75933"/>
              <a:gd name="connsiteY16" fmla="*/ 247 h 2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933" h="28771">
                <a:moveTo>
                  <a:pt x="69030" y="247"/>
                </a:moveTo>
                <a:lnTo>
                  <a:pt x="36084" y="7058"/>
                </a:lnTo>
                <a:lnTo>
                  <a:pt x="27878" y="8776"/>
                </a:lnTo>
                <a:cubicBezTo>
                  <a:pt x="25142" y="9250"/>
                  <a:pt x="22347" y="9605"/>
                  <a:pt x="19552" y="9961"/>
                </a:cubicBezTo>
                <a:lnTo>
                  <a:pt x="2960" y="12330"/>
                </a:lnTo>
                <a:cubicBezTo>
                  <a:pt x="1117" y="12456"/>
                  <a:pt x="-311" y="14066"/>
                  <a:pt x="-192" y="15926"/>
                </a:cubicBezTo>
                <a:cubicBezTo>
                  <a:pt x="-192" y="15931"/>
                  <a:pt x="-192" y="15937"/>
                  <a:pt x="-192" y="15943"/>
                </a:cubicBezTo>
                <a:lnTo>
                  <a:pt x="1176" y="26189"/>
                </a:lnTo>
                <a:cubicBezTo>
                  <a:pt x="1532" y="28014"/>
                  <a:pt x="3376" y="29183"/>
                  <a:pt x="5160" y="28801"/>
                </a:cubicBezTo>
                <a:cubicBezTo>
                  <a:pt x="5220" y="28800"/>
                  <a:pt x="5220" y="28797"/>
                  <a:pt x="5220" y="28795"/>
                </a:cubicBezTo>
                <a:lnTo>
                  <a:pt x="22228" y="26367"/>
                </a:lnTo>
                <a:cubicBezTo>
                  <a:pt x="25082" y="25952"/>
                  <a:pt x="28175" y="25597"/>
                  <a:pt x="30732" y="25123"/>
                </a:cubicBezTo>
                <a:lnTo>
                  <a:pt x="39176" y="23405"/>
                </a:lnTo>
                <a:lnTo>
                  <a:pt x="72896" y="16476"/>
                </a:lnTo>
                <a:cubicBezTo>
                  <a:pt x="74740" y="16173"/>
                  <a:pt x="75988" y="14455"/>
                  <a:pt x="75691" y="12626"/>
                </a:cubicBezTo>
                <a:lnTo>
                  <a:pt x="73253" y="2498"/>
                </a:lnTo>
                <a:cubicBezTo>
                  <a:pt x="72717" y="716"/>
                  <a:pt x="70814" y="-291"/>
                  <a:pt x="69030" y="24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7" name="Freeform: Shape 156">
            <a:extLst>
              <a:ext uri="{FF2B5EF4-FFF2-40B4-BE49-F238E27FC236}">
                <a16:creationId xmlns:a16="http://schemas.microsoft.com/office/drawing/2014/main" id="{9B15F44D-4055-D850-EB45-EBF7DA1610F8}"/>
              </a:ext>
            </a:extLst>
          </p:cNvPr>
          <p:cNvSpPr/>
          <p:nvPr/>
        </p:nvSpPr>
        <p:spPr>
          <a:xfrm>
            <a:off x="9333894" y="3488515"/>
            <a:ext cx="37822" cy="17486"/>
          </a:xfrm>
          <a:custGeom>
            <a:avLst/>
            <a:gdLst>
              <a:gd name="connsiteX0" fmla="*/ 3309 w 37822"/>
              <a:gd name="connsiteY0" fmla="*/ 991 h 17486"/>
              <a:gd name="connsiteX1" fmla="*/ -199 w 37822"/>
              <a:gd name="connsiteY1" fmla="*/ 4123 h 17486"/>
              <a:gd name="connsiteX2" fmla="*/ -199 w 37822"/>
              <a:gd name="connsiteY2" fmla="*/ 4189 h 17486"/>
              <a:gd name="connsiteX3" fmla="*/ 217 w 37822"/>
              <a:gd name="connsiteY3" fmla="*/ 14554 h 17486"/>
              <a:gd name="connsiteX4" fmla="*/ 3904 w 37822"/>
              <a:gd name="connsiteY4" fmla="*/ 17575 h 17486"/>
              <a:gd name="connsiteX5" fmla="*/ 37623 w 37822"/>
              <a:gd name="connsiteY5" fmla="*/ 16686 h 17486"/>
              <a:gd name="connsiteX6" fmla="*/ 37623 w 37822"/>
              <a:gd name="connsiteY6" fmla="*/ 102 h 1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22" h="17486">
                <a:moveTo>
                  <a:pt x="3309" y="991"/>
                </a:moveTo>
                <a:cubicBezTo>
                  <a:pt x="1466" y="892"/>
                  <a:pt x="-80" y="2294"/>
                  <a:pt x="-199" y="4123"/>
                </a:cubicBezTo>
                <a:cubicBezTo>
                  <a:pt x="-199" y="4145"/>
                  <a:pt x="-199" y="4167"/>
                  <a:pt x="-199" y="4189"/>
                </a:cubicBezTo>
                <a:lnTo>
                  <a:pt x="217" y="14554"/>
                </a:lnTo>
                <a:cubicBezTo>
                  <a:pt x="395" y="16398"/>
                  <a:pt x="2061" y="17747"/>
                  <a:pt x="3904" y="17575"/>
                </a:cubicBezTo>
                <a:lnTo>
                  <a:pt x="37623" y="16686"/>
                </a:lnTo>
                <a:lnTo>
                  <a:pt x="37623" y="102"/>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8" name="Freeform: Shape 157">
            <a:extLst>
              <a:ext uri="{FF2B5EF4-FFF2-40B4-BE49-F238E27FC236}">
                <a16:creationId xmlns:a16="http://schemas.microsoft.com/office/drawing/2014/main" id="{F078B4AB-BFE6-F18D-405E-317F770B8C5D}"/>
              </a:ext>
            </a:extLst>
          </p:cNvPr>
          <p:cNvSpPr/>
          <p:nvPr/>
        </p:nvSpPr>
        <p:spPr>
          <a:xfrm>
            <a:off x="9183927" y="3496546"/>
            <a:ext cx="75933" cy="28682"/>
          </a:xfrm>
          <a:custGeom>
            <a:avLst/>
            <a:gdLst>
              <a:gd name="connsiteX0" fmla="*/ 70257 w 75933"/>
              <a:gd name="connsiteY0" fmla="*/ 185 h 28682"/>
              <a:gd name="connsiteX1" fmla="*/ 53308 w 75933"/>
              <a:gd name="connsiteY1" fmla="*/ 2555 h 28682"/>
              <a:gd name="connsiteX2" fmla="*/ 44804 w 75933"/>
              <a:gd name="connsiteY2" fmla="*/ 3858 h 28682"/>
              <a:gd name="connsiteX3" fmla="*/ 36359 w 75933"/>
              <a:gd name="connsiteY3" fmla="*/ 5575 h 28682"/>
              <a:gd name="connsiteX4" fmla="*/ 2640 w 75933"/>
              <a:gd name="connsiteY4" fmla="*/ 12445 h 28682"/>
              <a:gd name="connsiteX5" fmla="*/ -156 w 75933"/>
              <a:gd name="connsiteY5" fmla="*/ 16320 h 28682"/>
              <a:gd name="connsiteX6" fmla="*/ -156 w 75933"/>
              <a:gd name="connsiteY6" fmla="*/ 16355 h 28682"/>
              <a:gd name="connsiteX7" fmla="*/ 2283 w 75933"/>
              <a:gd name="connsiteY7" fmla="*/ 26482 h 28682"/>
              <a:gd name="connsiteX8" fmla="*/ 6446 w 75933"/>
              <a:gd name="connsiteY8" fmla="*/ 28625 h 28682"/>
              <a:gd name="connsiteX9" fmla="*/ 6505 w 75933"/>
              <a:gd name="connsiteY9" fmla="*/ 28615 h 28682"/>
              <a:gd name="connsiteX10" fmla="*/ 39392 w 75933"/>
              <a:gd name="connsiteY10" fmla="*/ 21922 h 28682"/>
              <a:gd name="connsiteX11" fmla="*/ 47658 w 75933"/>
              <a:gd name="connsiteY11" fmla="*/ 20204 h 28682"/>
              <a:gd name="connsiteX12" fmla="*/ 55984 w 75933"/>
              <a:gd name="connsiteY12" fmla="*/ 18960 h 28682"/>
              <a:gd name="connsiteX13" fmla="*/ 72636 w 75933"/>
              <a:gd name="connsiteY13" fmla="*/ 16651 h 28682"/>
              <a:gd name="connsiteX14" fmla="*/ 75727 w 75933"/>
              <a:gd name="connsiteY14" fmla="*/ 13038 h 28682"/>
              <a:gd name="connsiteX15" fmla="*/ 74360 w 75933"/>
              <a:gd name="connsiteY15" fmla="*/ 2732 h 28682"/>
              <a:gd name="connsiteX16" fmla="*/ 70257 w 75933"/>
              <a:gd name="connsiteY16" fmla="*/ 185 h 2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933" h="28682">
                <a:moveTo>
                  <a:pt x="70257" y="185"/>
                </a:moveTo>
                <a:lnTo>
                  <a:pt x="53308" y="2555"/>
                </a:lnTo>
                <a:cubicBezTo>
                  <a:pt x="50453" y="3028"/>
                  <a:pt x="47361" y="3324"/>
                  <a:pt x="44804" y="3858"/>
                </a:cubicBezTo>
                <a:lnTo>
                  <a:pt x="36359" y="5575"/>
                </a:lnTo>
                <a:lnTo>
                  <a:pt x="2640" y="12445"/>
                </a:lnTo>
                <a:cubicBezTo>
                  <a:pt x="796" y="12745"/>
                  <a:pt x="-452" y="14480"/>
                  <a:pt x="-156" y="16320"/>
                </a:cubicBezTo>
                <a:cubicBezTo>
                  <a:pt x="-156" y="16331"/>
                  <a:pt x="-156" y="16343"/>
                  <a:pt x="-156" y="16355"/>
                </a:cubicBezTo>
                <a:lnTo>
                  <a:pt x="2283" y="26482"/>
                </a:lnTo>
                <a:cubicBezTo>
                  <a:pt x="2818" y="28226"/>
                  <a:pt x="4721" y="29186"/>
                  <a:pt x="6446" y="28625"/>
                </a:cubicBezTo>
                <a:cubicBezTo>
                  <a:pt x="6505" y="28622"/>
                  <a:pt x="6505" y="28618"/>
                  <a:pt x="6505" y="28615"/>
                </a:cubicBezTo>
                <a:lnTo>
                  <a:pt x="39392" y="21922"/>
                </a:lnTo>
                <a:lnTo>
                  <a:pt x="47658" y="20204"/>
                </a:lnTo>
                <a:cubicBezTo>
                  <a:pt x="50393" y="19730"/>
                  <a:pt x="53189" y="19375"/>
                  <a:pt x="55984" y="18960"/>
                </a:cubicBezTo>
                <a:lnTo>
                  <a:pt x="72636" y="16651"/>
                </a:lnTo>
                <a:cubicBezTo>
                  <a:pt x="74479" y="16463"/>
                  <a:pt x="75846" y="14872"/>
                  <a:pt x="75727" y="13038"/>
                </a:cubicBezTo>
                <a:lnTo>
                  <a:pt x="74360" y="2732"/>
                </a:lnTo>
                <a:cubicBezTo>
                  <a:pt x="73944" y="911"/>
                  <a:pt x="72100" y="-222"/>
                  <a:pt x="70257" y="18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59" name="Freeform: Shape 158">
            <a:extLst>
              <a:ext uri="{FF2B5EF4-FFF2-40B4-BE49-F238E27FC236}">
                <a16:creationId xmlns:a16="http://schemas.microsoft.com/office/drawing/2014/main" id="{19BBFC9D-DBCF-8719-B616-9BFB682A8315}"/>
              </a:ext>
            </a:extLst>
          </p:cNvPr>
          <p:cNvSpPr/>
          <p:nvPr/>
        </p:nvSpPr>
        <p:spPr>
          <a:xfrm>
            <a:off x="9041414" y="3532636"/>
            <a:ext cx="73630" cy="42246"/>
          </a:xfrm>
          <a:custGeom>
            <a:avLst/>
            <a:gdLst>
              <a:gd name="connsiteX0" fmla="*/ 65286 w 73630"/>
              <a:gd name="connsiteY0" fmla="*/ 402 h 42246"/>
              <a:gd name="connsiteX1" fmla="*/ 49289 w 73630"/>
              <a:gd name="connsiteY1" fmla="*/ 6324 h 42246"/>
              <a:gd name="connsiteX2" fmla="*/ 33351 w 73630"/>
              <a:gd name="connsiteY2" fmla="*/ 12840 h 42246"/>
              <a:gd name="connsiteX3" fmla="*/ 17472 w 73630"/>
              <a:gd name="connsiteY3" fmla="*/ 19473 h 42246"/>
              <a:gd name="connsiteX4" fmla="*/ 1951 w 73630"/>
              <a:gd name="connsiteY4" fmla="*/ 26936 h 42246"/>
              <a:gd name="connsiteX5" fmla="*/ 48 w 73630"/>
              <a:gd name="connsiteY5" fmla="*/ 31317 h 42246"/>
              <a:gd name="connsiteX6" fmla="*/ 48 w 73630"/>
              <a:gd name="connsiteY6" fmla="*/ 31318 h 42246"/>
              <a:gd name="connsiteX7" fmla="*/ 4568 w 73630"/>
              <a:gd name="connsiteY7" fmla="*/ 40676 h 42246"/>
              <a:gd name="connsiteX8" fmla="*/ 9147 w 73630"/>
              <a:gd name="connsiteY8" fmla="*/ 41920 h 42246"/>
              <a:gd name="connsiteX9" fmla="*/ 24311 w 73630"/>
              <a:gd name="connsiteY9" fmla="*/ 34635 h 42246"/>
              <a:gd name="connsiteX10" fmla="*/ 39832 w 73630"/>
              <a:gd name="connsiteY10" fmla="*/ 28179 h 42246"/>
              <a:gd name="connsiteX11" fmla="*/ 55354 w 73630"/>
              <a:gd name="connsiteY11" fmla="*/ 21783 h 42246"/>
              <a:gd name="connsiteX12" fmla="*/ 71054 w 73630"/>
              <a:gd name="connsiteY12" fmla="*/ 15860 h 42246"/>
              <a:gd name="connsiteX13" fmla="*/ 73314 w 73630"/>
              <a:gd name="connsiteY13" fmla="*/ 11853 h 42246"/>
              <a:gd name="connsiteX14" fmla="*/ 73314 w 73630"/>
              <a:gd name="connsiteY14" fmla="*/ 11773 h 42246"/>
              <a:gd name="connsiteX15" fmla="*/ 69805 w 73630"/>
              <a:gd name="connsiteY15" fmla="*/ 2060 h 42246"/>
              <a:gd name="connsiteX16" fmla="*/ 65286 w 73630"/>
              <a:gd name="connsiteY16" fmla="*/ 402 h 4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630" h="42246">
                <a:moveTo>
                  <a:pt x="65286" y="402"/>
                </a:moveTo>
                <a:cubicBezTo>
                  <a:pt x="59814" y="2119"/>
                  <a:pt x="54581" y="4429"/>
                  <a:pt x="49289" y="6324"/>
                </a:cubicBezTo>
                <a:lnTo>
                  <a:pt x="33351" y="12840"/>
                </a:lnTo>
                <a:cubicBezTo>
                  <a:pt x="28058" y="15090"/>
                  <a:pt x="22705" y="17104"/>
                  <a:pt x="17472" y="19473"/>
                </a:cubicBezTo>
                <a:lnTo>
                  <a:pt x="1951" y="26936"/>
                </a:lnTo>
                <a:cubicBezTo>
                  <a:pt x="226" y="27622"/>
                  <a:pt x="-666" y="29584"/>
                  <a:pt x="48" y="31317"/>
                </a:cubicBezTo>
                <a:cubicBezTo>
                  <a:pt x="48" y="31318"/>
                  <a:pt x="48" y="31318"/>
                  <a:pt x="48" y="31318"/>
                </a:cubicBezTo>
                <a:lnTo>
                  <a:pt x="4568" y="40676"/>
                </a:lnTo>
                <a:cubicBezTo>
                  <a:pt x="5519" y="42264"/>
                  <a:pt x="7541" y="42816"/>
                  <a:pt x="9147" y="41920"/>
                </a:cubicBezTo>
                <a:lnTo>
                  <a:pt x="24311" y="34635"/>
                </a:lnTo>
                <a:cubicBezTo>
                  <a:pt x="29425" y="32266"/>
                  <a:pt x="34659" y="30312"/>
                  <a:pt x="39832" y="28179"/>
                </a:cubicBezTo>
                <a:lnTo>
                  <a:pt x="55354" y="21783"/>
                </a:lnTo>
                <a:cubicBezTo>
                  <a:pt x="60528" y="19710"/>
                  <a:pt x="65702" y="17400"/>
                  <a:pt x="71054" y="15860"/>
                </a:cubicBezTo>
                <a:cubicBezTo>
                  <a:pt x="72779" y="15382"/>
                  <a:pt x="73790" y="13588"/>
                  <a:pt x="73314" y="11853"/>
                </a:cubicBezTo>
                <a:cubicBezTo>
                  <a:pt x="73314" y="11827"/>
                  <a:pt x="73314" y="11800"/>
                  <a:pt x="73314" y="11773"/>
                </a:cubicBezTo>
                <a:lnTo>
                  <a:pt x="69805" y="2060"/>
                </a:lnTo>
                <a:cubicBezTo>
                  <a:pt x="68973" y="377"/>
                  <a:pt x="67010" y="-358"/>
                  <a:pt x="65286" y="40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0" name="Freeform: Shape 159">
            <a:extLst>
              <a:ext uri="{FF2B5EF4-FFF2-40B4-BE49-F238E27FC236}">
                <a16:creationId xmlns:a16="http://schemas.microsoft.com/office/drawing/2014/main" id="{047C31B6-8609-54B8-CDA6-5EA7A74F6835}"/>
              </a:ext>
            </a:extLst>
          </p:cNvPr>
          <p:cNvSpPr/>
          <p:nvPr/>
        </p:nvSpPr>
        <p:spPr>
          <a:xfrm>
            <a:off x="8911606" y="3598821"/>
            <a:ext cx="69223" cy="52557"/>
          </a:xfrm>
          <a:custGeom>
            <a:avLst/>
            <a:gdLst>
              <a:gd name="connsiteX0" fmla="*/ 58671 w 69223"/>
              <a:gd name="connsiteY0" fmla="*/ 671 h 52557"/>
              <a:gd name="connsiteX1" fmla="*/ 29591 w 69223"/>
              <a:gd name="connsiteY1" fmla="*/ 18913 h 52557"/>
              <a:gd name="connsiteX2" fmla="*/ 1462 w 69223"/>
              <a:gd name="connsiteY2" fmla="*/ 38398 h 52557"/>
              <a:gd name="connsiteX3" fmla="*/ 272 w 69223"/>
              <a:gd name="connsiteY3" fmla="*/ 42940 h 52557"/>
              <a:gd name="connsiteX4" fmla="*/ 332 w 69223"/>
              <a:gd name="connsiteY4" fmla="*/ 43018 h 52557"/>
              <a:gd name="connsiteX5" fmla="*/ 6279 w 69223"/>
              <a:gd name="connsiteY5" fmla="*/ 51428 h 52557"/>
              <a:gd name="connsiteX6" fmla="*/ 11036 w 69223"/>
              <a:gd name="connsiteY6" fmla="*/ 51902 h 52557"/>
              <a:gd name="connsiteX7" fmla="*/ 38749 w 69223"/>
              <a:gd name="connsiteY7" fmla="*/ 32713 h 52557"/>
              <a:gd name="connsiteX8" fmla="*/ 67235 w 69223"/>
              <a:gd name="connsiteY8" fmla="*/ 14944 h 52557"/>
              <a:gd name="connsiteX9" fmla="*/ 68662 w 69223"/>
              <a:gd name="connsiteY9" fmla="*/ 10384 h 52557"/>
              <a:gd name="connsiteX10" fmla="*/ 63250 w 69223"/>
              <a:gd name="connsiteY10" fmla="*/ 1500 h 52557"/>
              <a:gd name="connsiteX11" fmla="*/ 58671 w 69223"/>
              <a:gd name="connsiteY11" fmla="*/ 671 h 52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223" h="52557">
                <a:moveTo>
                  <a:pt x="58671" y="671"/>
                </a:moveTo>
                <a:cubicBezTo>
                  <a:pt x="48978" y="6593"/>
                  <a:pt x="39225" y="12516"/>
                  <a:pt x="29591" y="18913"/>
                </a:cubicBezTo>
                <a:lnTo>
                  <a:pt x="1462" y="38398"/>
                </a:lnTo>
                <a:cubicBezTo>
                  <a:pt x="-144" y="39329"/>
                  <a:pt x="-680" y="41362"/>
                  <a:pt x="272" y="42940"/>
                </a:cubicBezTo>
                <a:cubicBezTo>
                  <a:pt x="272" y="42966"/>
                  <a:pt x="332" y="42992"/>
                  <a:pt x="332" y="43018"/>
                </a:cubicBezTo>
                <a:lnTo>
                  <a:pt x="6279" y="51428"/>
                </a:lnTo>
                <a:cubicBezTo>
                  <a:pt x="7468" y="52863"/>
                  <a:pt x="9609" y="53075"/>
                  <a:pt x="11036" y="51902"/>
                </a:cubicBezTo>
                <a:lnTo>
                  <a:pt x="38749" y="32713"/>
                </a:lnTo>
                <a:cubicBezTo>
                  <a:pt x="48145" y="26790"/>
                  <a:pt x="57720" y="20867"/>
                  <a:pt x="67235" y="14944"/>
                </a:cubicBezTo>
                <a:cubicBezTo>
                  <a:pt x="68840" y="14056"/>
                  <a:pt x="69494" y="12039"/>
                  <a:pt x="68662" y="10384"/>
                </a:cubicBezTo>
                <a:lnTo>
                  <a:pt x="63250" y="1500"/>
                </a:lnTo>
                <a:cubicBezTo>
                  <a:pt x="62180" y="31"/>
                  <a:pt x="60158" y="-338"/>
                  <a:pt x="58671" y="671"/>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1" name="Freeform: Shape 160">
            <a:extLst>
              <a:ext uri="{FF2B5EF4-FFF2-40B4-BE49-F238E27FC236}">
                <a16:creationId xmlns:a16="http://schemas.microsoft.com/office/drawing/2014/main" id="{C9F3538F-4F33-1927-0197-A207CBEFBE27}"/>
              </a:ext>
            </a:extLst>
          </p:cNvPr>
          <p:cNvSpPr/>
          <p:nvPr/>
        </p:nvSpPr>
        <p:spPr>
          <a:xfrm>
            <a:off x="8685547" y="3787340"/>
            <a:ext cx="62612" cy="61550"/>
          </a:xfrm>
          <a:custGeom>
            <a:avLst/>
            <a:gdLst>
              <a:gd name="connsiteX0" fmla="*/ 49589 w 62612"/>
              <a:gd name="connsiteY0" fmla="*/ 1264 h 61550"/>
              <a:gd name="connsiteX1" fmla="*/ 25207 w 62612"/>
              <a:gd name="connsiteY1" fmla="*/ 24955 h 61550"/>
              <a:gd name="connsiteX2" fmla="*/ 1003 w 62612"/>
              <a:gd name="connsiteY2" fmla="*/ 48646 h 61550"/>
              <a:gd name="connsiteX3" fmla="*/ 587 w 62612"/>
              <a:gd name="connsiteY3" fmla="*/ 53384 h 61550"/>
              <a:gd name="connsiteX4" fmla="*/ 7842 w 62612"/>
              <a:gd name="connsiteY4" fmla="*/ 60847 h 61550"/>
              <a:gd name="connsiteX5" fmla="*/ 12600 w 62612"/>
              <a:gd name="connsiteY5" fmla="*/ 60492 h 61550"/>
              <a:gd name="connsiteX6" fmla="*/ 36982 w 62612"/>
              <a:gd name="connsiteY6" fmla="*/ 36801 h 61550"/>
              <a:gd name="connsiteX7" fmla="*/ 61245 w 62612"/>
              <a:gd name="connsiteY7" fmla="*/ 13110 h 61550"/>
              <a:gd name="connsiteX8" fmla="*/ 61602 w 62612"/>
              <a:gd name="connsiteY8" fmla="*/ 8372 h 61550"/>
              <a:gd name="connsiteX9" fmla="*/ 54347 w 62612"/>
              <a:gd name="connsiteY9" fmla="*/ 909 h 61550"/>
              <a:gd name="connsiteX10" fmla="*/ 49589 w 62612"/>
              <a:gd name="connsiteY10" fmla="*/ 1264 h 6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12" h="61550">
                <a:moveTo>
                  <a:pt x="49589" y="1264"/>
                </a:moveTo>
                <a:lnTo>
                  <a:pt x="25207" y="24955"/>
                </a:lnTo>
                <a:lnTo>
                  <a:pt x="1003" y="48646"/>
                </a:lnTo>
                <a:cubicBezTo>
                  <a:pt x="-424" y="49844"/>
                  <a:pt x="-603" y="51959"/>
                  <a:pt x="587" y="53384"/>
                </a:cubicBezTo>
                <a:lnTo>
                  <a:pt x="7842" y="60847"/>
                </a:lnTo>
                <a:cubicBezTo>
                  <a:pt x="9269" y="62048"/>
                  <a:pt x="11350" y="61889"/>
                  <a:pt x="12600" y="60492"/>
                </a:cubicBezTo>
                <a:lnTo>
                  <a:pt x="36982" y="36801"/>
                </a:lnTo>
                <a:lnTo>
                  <a:pt x="61245" y="13110"/>
                </a:lnTo>
                <a:cubicBezTo>
                  <a:pt x="62672" y="11895"/>
                  <a:pt x="62791" y="9781"/>
                  <a:pt x="61602" y="8372"/>
                </a:cubicBezTo>
                <a:lnTo>
                  <a:pt x="54347" y="909"/>
                </a:lnTo>
                <a:cubicBezTo>
                  <a:pt x="52919" y="-292"/>
                  <a:pt x="50838" y="-134"/>
                  <a:pt x="49589" y="1264"/>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2" name="Freeform: Shape 161">
            <a:extLst>
              <a:ext uri="{FF2B5EF4-FFF2-40B4-BE49-F238E27FC236}">
                <a16:creationId xmlns:a16="http://schemas.microsoft.com/office/drawing/2014/main" id="{D046D718-2FD8-C90D-774F-9B0B4AEA4C6A}"/>
              </a:ext>
            </a:extLst>
          </p:cNvPr>
          <p:cNvSpPr/>
          <p:nvPr/>
        </p:nvSpPr>
        <p:spPr>
          <a:xfrm>
            <a:off x="8794356" y="3686728"/>
            <a:ext cx="65185" cy="58685"/>
          </a:xfrm>
          <a:custGeom>
            <a:avLst/>
            <a:gdLst>
              <a:gd name="connsiteX0" fmla="*/ 52999 w 65185"/>
              <a:gd name="connsiteY0" fmla="*/ 1012 h 58685"/>
              <a:gd name="connsiteX1" fmla="*/ 26772 w 65185"/>
              <a:gd name="connsiteY1" fmla="*/ 22927 h 58685"/>
              <a:gd name="connsiteX2" fmla="*/ 1141 w 65185"/>
              <a:gd name="connsiteY2" fmla="*/ 45433 h 58685"/>
              <a:gd name="connsiteX3" fmla="*/ 487 w 65185"/>
              <a:gd name="connsiteY3" fmla="*/ 50074 h 58685"/>
              <a:gd name="connsiteX4" fmla="*/ 487 w 65185"/>
              <a:gd name="connsiteY4" fmla="*/ 50112 h 58685"/>
              <a:gd name="connsiteX5" fmla="*/ 7445 w 65185"/>
              <a:gd name="connsiteY5" fmla="*/ 57812 h 58685"/>
              <a:gd name="connsiteX6" fmla="*/ 12262 w 65185"/>
              <a:gd name="connsiteY6" fmla="*/ 57812 h 58685"/>
              <a:gd name="connsiteX7" fmla="*/ 37656 w 65185"/>
              <a:gd name="connsiteY7" fmla="*/ 35542 h 58685"/>
              <a:gd name="connsiteX8" fmla="*/ 63525 w 65185"/>
              <a:gd name="connsiteY8" fmla="*/ 13865 h 58685"/>
              <a:gd name="connsiteX9" fmla="*/ 64417 w 65185"/>
              <a:gd name="connsiteY9" fmla="*/ 9258 h 58685"/>
              <a:gd name="connsiteX10" fmla="*/ 64357 w 65185"/>
              <a:gd name="connsiteY10" fmla="*/ 9186 h 58685"/>
              <a:gd name="connsiteX11" fmla="*/ 57756 w 65185"/>
              <a:gd name="connsiteY11" fmla="*/ 1190 h 58685"/>
              <a:gd name="connsiteX12" fmla="*/ 53058 w 65185"/>
              <a:gd name="connsiteY12" fmla="*/ 963 h 58685"/>
              <a:gd name="connsiteX13" fmla="*/ 52999 w 65185"/>
              <a:gd name="connsiteY13" fmla="*/ 1012 h 5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185" h="58685">
                <a:moveTo>
                  <a:pt x="52999" y="1012"/>
                </a:moveTo>
                <a:cubicBezTo>
                  <a:pt x="44257" y="8297"/>
                  <a:pt x="35158" y="15286"/>
                  <a:pt x="26772" y="22927"/>
                </a:cubicBezTo>
                <a:lnTo>
                  <a:pt x="1141" y="45433"/>
                </a:lnTo>
                <a:cubicBezTo>
                  <a:pt x="-345" y="46527"/>
                  <a:pt x="-643" y="48605"/>
                  <a:pt x="487" y="50074"/>
                </a:cubicBezTo>
                <a:cubicBezTo>
                  <a:pt x="487" y="50087"/>
                  <a:pt x="487" y="50100"/>
                  <a:pt x="487" y="50112"/>
                </a:cubicBezTo>
                <a:lnTo>
                  <a:pt x="7445" y="57812"/>
                </a:lnTo>
                <a:cubicBezTo>
                  <a:pt x="8813" y="59113"/>
                  <a:pt x="10895" y="59113"/>
                  <a:pt x="12262" y="57812"/>
                </a:cubicBezTo>
                <a:lnTo>
                  <a:pt x="37656" y="35542"/>
                </a:lnTo>
                <a:cubicBezTo>
                  <a:pt x="46040" y="27961"/>
                  <a:pt x="54961" y="21150"/>
                  <a:pt x="63525" y="13865"/>
                </a:cubicBezTo>
                <a:cubicBezTo>
                  <a:pt x="65071" y="12835"/>
                  <a:pt x="65427" y="10773"/>
                  <a:pt x="64417" y="9258"/>
                </a:cubicBezTo>
                <a:cubicBezTo>
                  <a:pt x="64417" y="9233"/>
                  <a:pt x="64357" y="9210"/>
                  <a:pt x="64357" y="9186"/>
                </a:cubicBezTo>
                <a:lnTo>
                  <a:pt x="57756" y="1190"/>
                </a:lnTo>
                <a:cubicBezTo>
                  <a:pt x="56507" y="-166"/>
                  <a:pt x="54426" y="-268"/>
                  <a:pt x="53058" y="963"/>
                </a:cubicBezTo>
                <a:cubicBezTo>
                  <a:pt x="53058" y="979"/>
                  <a:pt x="52999" y="996"/>
                  <a:pt x="52999" y="101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3" name="Freeform: Shape 162">
            <a:extLst>
              <a:ext uri="{FF2B5EF4-FFF2-40B4-BE49-F238E27FC236}">
                <a16:creationId xmlns:a16="http://schemas.microsoft.com/office/drawing/2014/main" id="{66974EA5-9371-33DC-6AA7-9D9302738D05}"/>
              </a:ext>
            </a:extLst>
          </p:cNvPr>
          <p:cNvSpPr/>
          <p:nvPr/>
        </p:nvSpPr>
        <p:spPr>
          <a:xfrm>
            <a:off x="8062084" y="3652575"/>
            <a:ext cx="1309632" cy="659082"/>
          </a:xfrm>
          <a:custGeom>
            <a:avLst/>
            <a:gdLst>
              <a:gd name="connsiteX0" fmla="*/ 1076730 w 1309632"/>
              <a:gd name="connsiteY0" fmla="*/ 44286 h 659082"/>
              <a:gd name="connsiteX1" fmla="*/ 970280 w 1309632"/>
              <a:gd name="connsiteY1" fmla="*/ 101737 h 659082"/>
              <a:gd name="connsiteX2" fmla="*/ 866684 w 1309632"/>
              <a:gd name="connsiteY2" fmla="*/ 181161 h 659082"/>
              <a:gd name="connsiteX3" fmla="*/ 841053 w 1309632"/>
              <a:gd name="connsiteY3" fmla="*/ 203608 h 659082"/>
              <a:gd name="connsiteX4" fmla="*/ 815660 w 1309632"/>
              <a:gd name="connsiteY4" fmla="*/ 227299 h 659082"/>
              <a:gd name="connsiteX5" fmla="*/ 802993 w 1309632"/>
              <a:gd name="connsiteY5" fmla="*/ 239144 h 659082"/>
              <a:gd name="connsiteX6" fmla="*/ 790326 w 1309632"/>
              <a:gd name="connsiteY6" fmla="*/ 251404 h 659082"/>
              <a:gd name="connsiteX7" fmla="*/ 765170 w 1309632"/>
              <a:gd name="connsiteY7" fmla="*/ 275925 h 659082"/>
              <a:gd name="connsiteX8" fmla="*/ 736566 w 1309632"/>
              <a:gd name="connsiteY8" fmla="*/ 303702 h 659082"/>
              <a:gd name="connsiteX9" fmla="*/ 722293 w 1309632"/>
              <a:gd name="connsiteY9" fmla="*/ 317621 h 659082"/>
              <a:gd name="connsiteX10" fmla="*/ 707485 w 1309632"/>
              <a:gd name="connsiteY10" fmla="*/ 331421 h 659082"/>
              <a:gd name="connsiteX11" fmla="*/ 677751 w 1309632"/>
              <a:gd name="connsiteY11" fmla="*/ 358902 h 659082"/>
              <a:gd name="connsiteX12" fmla="*/ 646886 w 1309632"/>
              <a:gd name="connsiteY12" fmla="*/ 385969 h 659082"/>
              <a:gd name="connsiteX13" fmla="*/ 511831 w 1309632"/>
              <a:gd name="connsiteY13" fmla="*/ 489143 h 659082"/>
              <a:gd name="connsiteX14" fmla="*/ 354119 w 1309632"/>
              <a:gd name="connsiteY14" fmla="*/ 573898 h 659082"/>
              <a:gd name="connsiteX15" fmla="*/ 178209 w 1309632"/>
              <a:gd name="connsiteY15" fmla="*/ 626610 h 659082"/>
              <a:gd name="connsiteX16" fmla="*/ -199 w 1309632"/>
              <a:gd name="connsiteY16" fmla="*/ 642602 h 659082"/>
              <a:gd name="connsiteX17" fmla="*/ -199 w 1309632"/>
              <a:gd name="connsiteY17" fmla="*/ 659185 h 659082"/>
              <a:gd name="connsiteX18" fmla="*/ 181063 w 1309632"/>
              <a:gd name="connsiteY18" fmla="*/ 643135 h 659082"/>
              <a:gd name="connsiteX19" fmla="*/ 360363 w 1309632"/>
              <a:gd name="connsiteY19" fmla="*/ 589474 h 659082"/>
              <a:gd name="connsiteX20" fmla="*/ 520930 w 1309632"/>
              <a:gd name="connsiteY20" fmla="*/ 503062 h 659082"/>
              <a:gd name="connsiteX21" fmla="*/ 657710 w 1309632"/>
              <a:gd name="connsiteY21" fmla="*/ 398762 h 659082"/>
              <a:gd name="connsiteX22" fmla="*/ 688871 w 1309632"/>
              <a:gd name="connsiteY22" fmla="*/ 371399 h 659082"/>
              <a:gd name="connsiteX23" fmla="*/ 718606 w 1309632"/>
              <a:gd name="connsiteY23" fmla="*/ 343740 h 659082"/>
              <a:gd name="connsiteX24" fmla="*/ 733533 w 1309632"/>
              <a:gd name="connsiteY24" fmla="*/ 329821 h 659082"/>
              <a:gd name="connsiteX25" fmla="*/ 747984 w 1309632"/>
              <a:gd name="connsiteY25" fmla="*/ 315844 h 659082"/>
              <a:gd name="connsiteX26" fmla="*/ 776945 w 1309632"/>
              <a:gd name="connsiteY26" fmla="*/ 287770 h 659082"/>
              <a:gd name="connsiteX27" fmla="*/ 801982 w 1309632"/>
              <a:gd name="connsiteY27" fmla="*/ 263309 h 659082"/>
              <a:gd name="connsiteX28" fmla="*/ 814530 w 1309632"/>
              <a:gd name="connsiteY28" fmla="*/ 251108 h 659082"/>
              <a:gd name="connsiteX29" fmla="*/ 827078 w 1309632"/>
              <a:gd name="connsiteY29" fmla="*/ 239263 h 659082"/>
              <a:gd name="connsiteX30" fmla="*/ 852293 w 1309632"/>
              <a:gd name="connsiteY30" fmla="*/ 215986 h 659082"/>
              <a:gd name="connsiteX31" fmla="*/ 877567 w 1309632"/>
              <a:gd name="connsiteY31" fmla="*/ 193835 h 659082"/>
              <a:gd name="connsiteX32" fmla="*/ 979498 w 1309632"/>
              <a:gd name="connsiteY32" fmla="*/ 115596 h 659082"/>
              <a:gd name="connsiteX33" fmla="*/ 1083212 w 1309632"/>
              <a:gd name="connsiteY33" fmla="*/ 59567 h 659082"/>
              <a:gd name="connsiteX34" fmla="*/ 1191506 w 1309632"/>
              <a:gd name="connsiteY34" fmla="*/ 27169 h 659082"/>
              <a:gd name="connsiteX35" fmla="*/ 1309433 w 1309632"/>
              <a:gd name="connsiteY35" fmla="*/ 16745 h 659082"/>
              <a:gd name="connsiteX36" fmla="*/ 1309433 w 1309632"/>
              <a:gd name="connsiteY36" fmla="*/ 102 h 659082"/>
              <a:gd name="connsiteX37" fmla="*/ 1188413 w 1309632"/>
              <a:gd name="connsiteY37" fmla="*/ 10823 h 659082"/>
              <a:gd name="connsiteX38" fmla="*/ 1076730 w 1309632"/>
              <a:gd name="connsiteY38" fmla="*/ 44286 h 65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632" h="659082">
                <a:moveTo>
                  <a:pt x="1076730" y="44286"/>
                </a:moveTo>
                <a:cubicBezTo>
                  <a:pt x="1039562" y="60197"/>
                  <a:pt x="1003940" y="79426"/>
                  <a:pt x="970280" y="101737"/>
                </a:cubicBezTo>
                <a:cubicBezTo>
                  <a:pt x="934242" y="126177"/>
                  <a:pt x="899630" y="152697"/>
                  <a:pt x="866684" y="181161"/>
                </a:cubicBezTo>
                <a:lnTo>
                  <a:pt x="841053" y="203608"/>
                </a:lnTo>
                <a:cubicBezTo>
                  <a:pt x="832608" y="211189"/>
                  <a:pt x="824164" y="219303"/>
                  <a:pt x="815660" y="227299"/>
                </a:cubicBezTo>
                <a:lnTo>
                  <a:pt x="802993" y="239144"/>
                </a:lnTo>
                <a:lnTo>
                  <a:pt x="790326" y="251404"/>
                </a:lnTo>
                <a:lnTo>
                  <a:pt x="765170" y="275925"/>
                </a:lnTo>
                <a:lnTo>
                  <a:pt x="736566" y="303702"/>
                </a:lnTo>
                <a:lnTo>
                  <a:pt x="722293" y="317621"/>
                </a:lnTo>
                <a:lnTo>
                  <a:pt x="707485" y="331421"/>
                </a:lnTo>
                <a:cubicBezTo>
                  <a:pt x="697494" y="340542"/>
                  <a:pt x="687860" y="349840"/>
                  <a:pt x="677751" y="358902"/>
                </a:cubicBezTo>
                <a:lnTo>
                  <a:pt x="646886" y="385969"/>
                </a:lnTo>
                <a:cubicBezTo>
                  <a:pt x="603949" y="422993"/>
                  <a:pt x="558872" y="457446"/>
                  <a:pt x="511831" y="489143"/>
                </a:cubicBezTo>
                <a:cubicBezTo>
                  <a:pt x="461996" y="522126"/>
                  <a:pt x="409187" y="550496"/>
                  <a:pt x="354119" y="573898"/>
                </a:cubicBezTo>
                <a:cubicBezTo>
                  <a:pt x="297623" y="597938"/>
                  <a:pt x="238629" y="615618"/>
                  <a:pt x="178209" y="626610"/>
                </a:cubicBezTo>
                <a:cubicBezTo>
                  <a:pt x="119334" y="637096"/>
                  <a:pt x="59627" y="642447"/>
                  <a:pt x="-199" y="642602"/>
                </a:cubicBezTo>
                <a:lnTo>
                  <a:pt x="-199" y="659185"/>
                </a:lnTo>
                <a:cubicBezTo>
                  <a:pt x="60578" y="659134"/>
                  <a:pt x="121237" y="653763"/>
                  <a:pt x="181063" y="643135"/>
                </a:cubicBezTo>
                <a:cubicBezTo>
                  <a:pt x="242673" y="631945"/>
                  <a:pt x="302797" y="613947"/>
                  <a:pt x="360363" y="589474"/>
                </a:cubicBezTo>
                <a:cubicBezTo>
                  <a:pt x="416442" y="565628"/>
                  <a:pt x="470203" y="536702"/>
                  <a:pt x="520930" y="503062"/>
                </a:cubicBezTo>
                <a:cubicBezTo>
                  <a:pt x="568565" y="471040"/>
                  <a:pt x="614237" y="436212"/>
                  <a:pt x="657710" y="398762"/>
                </a:cubicBezTo>
                <a:lnTo>
                  <a:pt x="688871" y="371399"/>
                </a:lnTo>
                <a:cubicBezTo>
                  <a:pt x="699159" y="362219"/>
                  <a:pt x="708913" y="352920"/>
                  <a:pt x="718606" y="343740"/>
                </a:cubicBezTo>
                <a:lnTo>
                  <a:pt x="733533" y="329821"/>
                </a:lnTo>
                <a:lnTo>
                  <a:pt x="747984" y="315844"/>
                </a:lnTo>
                <a:lnTo>
                  <a:pt x="776945" y="287770"/>
                </a:lnTo>
                <a:lnTo>
                  <a:pt x="801982" y="263309"/>
                </a:lnTo>
                <a:lnTo>
                  <a:pt x="814530" y="251108"/>
                </a:lnTo>
                <a:lnTo>
                  <a:pt x="827078" y="239263"/>
                </a:lnTo>
                <a:cubicBezTo>
                  <a:pt x="835463" y="231504"/>
                  <a:pt x="843848" y="223508"/>
                  <a:pt x="852293" y="215986"/>
                </a:cubicBezTo>
                <a:lnTo>
                  <a:pt x="877567" y="193835"/>
                </a:lnTo>
                <a:cubicBezTo>
                  <a:pt x="909978" y="165796"/>
                  <a:pt x="943994" y="139672"/>
                  <a:pt x="979498" y="115596"/>
                </a:cubicBezTo>
                <a:cubicBezTo>
                  <a:pt x="1012325" y="93855"/>
                  <a:pt x="1046995" y="75103"/>
                  <a:pt x="1083212" y="59567"/>
                </a:cubicBezTo>
                <a:cubicBezTo>
                  <a:pt x="1117942" y="44688"/>
                  <a:pt x="1154278" y="33819"/>
                  <a:pt x="1191506" y="27169"/>
                </a:cubicBezTo>
                <a:cubicBezTo>
                  <a:pt x="1230458" y="20349"/>
                  <a:pt x="1269886" y="16861"/>
                  <a:pt x="1309433" y="16745"/>
                </a:cubicBezTo>
                <a:lnTo>
                  <a:pt x="1309433" y="102"/>
                </a:lnTo>
                <a:cubicBezTo>
                  <a:pt x="1268875" y="243"/>
                  <a:pt x="1228377" y="3830"/>
                  <a:pt x="1188413" y="10823"/>
                </a:cubicBezTo>
                <a:cubicBezTo>
                  <a:pt x="1150055" y="17718"/>
                  <a:pt x="1112590" y="28945"/>
                  <a:pt x="1076730" y="44286"/>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64" name="Freeform: Shape 163">
            <a:extLst>
              <a:ext uri="{FF2B5EF4-FFF2-40B4-BE49-F238E27FC236}">
                <a16:creationId xmlns:a16="http://schemas.microsoft.com/office/drawing/2014/main" id="{CE7F243A-2125-D155-1E9B-8C41481D1414}"/>
              </a:ext>
            </a:extLst>
          </p:cNvPr>
          <p:cNvSpPr/>
          <p:nvPr/>
        </p:nvSpPr>
        <p:spPr>
          <a:xfrm>
            <a:off x="8061726" y="3324277"/>
            <a:ext cx="1309751" cy="659319"/>
          </a:xfrm>
          <a:custGeom>
            <a:avLst/>
            <a:gdLst>
              <a:gd name="connsiteX0" fmla="*/ 1128290 w 1309751"/>
              <a:gd name="connsiteY0" fmla="*/ 16627 h 659319"/>
              <a:gd name="connsiteX1" fmla="*/ 949169 w 1309751"/>
              <a:gd name="connsiteY1" fmla="*/ 70346 h 659319"/>
              <a:gd name="connsiteX2" fmla="*/ 788602 w 1309751"/>
              <a:gd name="connsiteY2" fmla="*/ 156877 h 659319"/>
              <a:gd name="connsiteX3" fmla="*/ 651822 w 1309751"/>
              <a:gd name="connsiteY3" fmla="*/ 261177 h 659319"/>
              <a:gd name="connsiteX4" fmla="*/ 620660 w 1309751"/>
              <a:gd name="connsiteY4" fmla="*/ 288540 h 659319"/>
              <a:gd name="connsiteX5" fmla="*/ 590926 w 1309751"/>
              <a:gd name="connsiteY5" fmla="*/ 316258 h 659319"/>
              <a:gd name="connsiteX6" fmla="*/ 575999 w 1309751"/>
              <a:gd name="connsiteY6" fmla="*/ 330118 h 659319"/>
              <a:gd name="connsiteX7" fmla="*/ 561607 w 1309751"/>
              <a:gd name="connsiteY7" fmla="*/ 344155 h 659319"/>
              <a:gd name="connsiteX8" fmla="*/ 532884 w 1309751"/>
              <a:gd name="connsiteY8" fmla="*/ 372110 h 659319"/>
              <a:gd name="connsiteX9" fmla="*/ 507847 w 1309751"/>
              <a:gd name="connsiteY9" fmla="*/ 396571 h 659319"/>
              <a:gd name="connsiteX10" fmla="*/ 495002 w 1309751"/>
              <a:gd name="connsiteY10" fmla="*/ 408772 h 659319"/>
              <a:gd name="connsiteX11" fmla="*/ 482454 w 1309751"/>
              <a:gd name="connsiteY11" fmla="*/ 420617 h 659319"/>
              <a:gd name="connsiteX12" fmla="*/ 457239 w 1309751"/>
              <a:gd name="connsiteY12" fmla="*/ 443834 h 659319"/>
              <a:gd name="connsiteX13" fmla="*/ 431786 w 1309751"/>
              <a:gd name="connsiteY13" fmla="*/ 465867 h 659319"/>
              <a:gd name="connsiteX14" fmla="*/ 329796 w 1309751"/>
              <a:gd name="connsiteY14" fmla="*/ 543988 h 659319"/>
              <a:gd name="connsiteX15" fmla="*/ 226141 w 1309751"/>
              <a:gd name="connsiteY15" fmla="*/ 599958 h 659319"/>
              <a:gd name="connsiteX16" fmla="*/ 117728 w 1309751"/>
              <a:gd name="connsiteY16" fmla="*/ 632414 h 659319"/>
              <a:gd name="connsiteX17" fmla="*/ -199 w 1309751"/>
              <a:gd name="connsiteY17" fmla="*/ 642838 h 659319"/>
              <a:gd name="connsiteX18" fmla="*/ -199 w 1309751"/>
              <a:gd name="connsiteY18" fmla="*/ 659422 h 659319"/>
              <a:gd name="connsiteX19" fmla="*/ 120821 w 1309751"/>
              <a:gd name="connsiteY19" fmla="*/ 648761 h 659319"/>
              <a:gd name="connsiteX20" fmla="*/ 232564 w 1309751"/>
              <a:gd name="connsiteY20" fmla="*/ 615238 h 659319"/>
              <a:gd name="connsiteX21" fmla="*/ 339014 w 1309751"/>
              <a:gd name="connsiteY21" fmla="*/ 557847 h 659319"/>
              <a:gd name="connsiteX22" fmla="*/ 442668 w 1309751"/>
              <a:gd name="connsiteY22" fmla="*/ 478423 h 659319"/>
              <a:gd name="connsiteX23" fmla="*/ 468240 w 1309751"/>
              <a:gd name="connsiteY23" fmla="*/ 455976 h 659319"/>
              <a:gd name="connsiteX24" fmla="*/ 493634 w 1309751"/>
              <a:gd name="connsiteY24" fmla="*/ 432285 h 659319"/>
              <a:gd name="connsiteX25" fmla="*/ 506361 w 1309751"/>
              <a:gd name="connsiteY25" fmla="*/ 420439 h 659319"/>
              <a:gd name="connsiteX26" fmla="*/ 518968 w 1309751"/>
              <a:gd name="connsiteY26" fmla="*/ 408179 h 659319"/>
              <a:gd name="connsiteX27" fmla="*/ 544183 w 1309751"/>
              <a:gd name="connsiteY27" fmla="*/ 383600 h 659319"/>
              <a:gd name="connsiteX28" fmla="*/ 572728 w 1309751"/>
              <a:gd name="connsiteY28" fmla="*/ 355763 h 659319"/>
              <a:gd name="connsiteX29" fmla="*/ 587060 w 1309751"/>
              <a:gd name="connsiteY29" fmla="*/ 341845 h 659319"/>
              <a:gd name="connsiteX30" fmla="*/ 601808 w 1309751"/>
              <a:gd name="connsiteY30" fmla="*/ 328104 h 659319"/>
              <a:gd name="connsiteX31" fmla="*/ 631543 w 1309751"/>
              <a:gd name="connsiteY31" fmla="*/ 300563 h 659319"/>
              <a:gd name="connsiteX32" fmla="*/ 662467 w 1309751"/>
              <a:gd name="connsiteY32" fmla="*/ 273437 h 659319"/>
              <a:gd name="connsiteX33" fmla="*/ 797284 w 1309751"/>
              <a:gd name="connsiteY33" fmla="*/ 170381 h 659319"/>
              <a:gd name="connsiteX34" fmla="*/ 955175 w 1309751"/>
              <a:gd name="connsiteY34" fmla="*/ 85331 h 659319"/>
              <a:gd name="connsiteX35" fmla="*/ 1131145 w 1309751"/>
              <a:gd name="connsiteY35" fmla="*/ 32618 h 659319"/>
              <a:gd name="connsiteX36" fmla="*/ 1309552 w 1309751"/>
              <a:gd name="connsiteY36" fmla="*/ 16627 h 659319"/>
              <a:gd name="connsiteX37" fmla="*/ 1309552 w 1309751"/>
              <a:gd name="connsiteY37" fmla="*/ 102 h 659319"/>
              <a:gd name="connsiteX38" fmla="*/ 1128290 w 1309751"/>
              <a:gd name="connsiteY38" fmla="*/ 16627 h 65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751" h="659319">
                <a:moveTo>
                  <a:pt x="1128290" y="16627"/>
                </a:moveTo>
                <a:cubicBezTo>
                  <a:pt x="1066740" y="27834"/>
                  <a:pt x="1006676" y="45852"/>
                  <a:pt x="949169" y="70346"/>
                </a:cubicBezTo>
                <a:cubicBezTo>
                  <a:pt x="893089" y="94243"/>
                  <a:pt x="839329" y="123208"/>
                  <a:pt x="788602" y="156877"/>
                </a:cubicBezTo>
                <a:cubicBezTo>
                  <a:pt x="740967" y="188912"/>
                  <a:pt x="695295" y="223740"/>
                  <a:pt x="651822" y="261177"/>
                </a:cubicBezTo>
                <a:lnTo>
                  <a:pt x="620660" y="288540"/>
                </a:lnTo>
                <a:cubicBezTo>
                  <a:pt x="610432" y="297720"/>
                  <a:pt x="600679" y="307019"/>
                  <a:pt x="590926" y="316258"/>
                </a:cubicBezTo>
                <a:lnTo>
                  <a:pt x="575999" y="330118"/>
                </a:lnTo>
                <a:lnTo>
                  <a:pt x="561607" y="344155"/>
                </a:lnTo>
                <a:lnTo>
                  <a:pt x="532884" y="372110"/>
                </a:lnTo>
                <a:lnTo>
                  <a:pt x="507847" y="396571"/>
                </a:lnTo>
                <a:lnTo>
                  <a:pt x="495002" y="408772"/>
                </a:lnTo>
                <a:lnTo>
                  <a:pt x="482454" y="420617"/>
                </a:lnTo>
                <a:cubicBezTo>
                  <a:pt x="474009" y="428317"/>
                  <a:pt x="465683" y="436312"/>
                  <a:pt x="457239" y="443834"/>
                </a:cubicBezTo>
                <a:lnTo>
                  <a:pt x="431786" y="465867"/>
                </a:lnTo>
                <a:cubicBezTo>
                  <a:pt x="399375" y="493865"/>
                  <a:pt x="365299" y="519950"/>
                  <a:pt x="329796" y="543988"/>
                </a:cubicBezTo>
                <a:cubicBezTo>
                  <a:pt x="297028" y="565719"/>
                  <a:pt x="262298" y="584452"/>
                  <a:pt x="226141" y="599958"/>
                </a:cubicBezTo>
                <a:cubicBezTo>
                  <a:pt x="191351" y="614857"/>
                  <a:pt x="155015" y="625746"/>
                  <a:pt x="117728" y="632414"/>
                </a:cubicBezTo>
                <a:cubicBezTo>
                  <a:pt x="78776" y="639206"/>
                  <a:pt x="39348" y="642693"/>
                  <a:pt x="-199" y="642838"/>
                </a:cubicBezTo>
                <a:lnTo>
                  <a:pt x="-199" y="659422"/>
                </a:lnTo>
                <a:cubicBezTo>
                  <a:pt x="40359" y="659275"/>
                  <a:pt x="80857" y="655709"/>
                  <a:pt x="120821" y="648761"/>
                </a:cubicBezTo>
                <a:cubicBezTo>
                  <a:pt x="159238" y="641855"/>
                  <a:pt x="196704" y="630608"/>
                  <a:pt x="232564" y="615238"/>
                </a:cubicBezTo>
                <a:cubicBezTo>
                  <a:pt x="269732" y="599385"/>
                  <a:pt x="305354" y="580174"/>
                  <a:pt x="339014" y="557847"/>
                </a:cubicBezTo>
                <a:cubicBezTo>
                  <a:pt x="375111" y="533424"/>
                  <a:pt x="409723" y="506903"/>
                  <a:pt x="442668" y="478423"/>
                </a:cubicBezTo>
                <a:lnTo>
                  <a:pt x="468240" y="455976"/>
                </a:lnTo>
                <a:cubicBezTo>
                  <a:pt x="476804" y="448395"/>
                  <a:pt x="485189" y="440340"/>
                  <a:pt x="493634" y="432285"/>
                </a:cubicBezTo>
                <a:lnTo>
                  <a:pt x="506361" y="420439"/>
                </a:lnTo>
                <a:lnTo>
                  <a:pt x="518968" y="408179"/>
                </a:lnTo>
                <a:lnTo>
                  <a:pt x="544183" y="383600"/>
                </a:lnTo>
                <a:lnTo>
                  <a:pt x="572728" y="355763"/>
                </a:lnTo>
                <a:lnTo>
                  <a:pt x="587060" y="341845"/>
                </a:lnTo>
                <a:lnTo>
                  <a:pt x="601808" y="328104"/>
                </a:lnTo>
                <a:cubicBezTo>
                  <a:pt x="611799" y="318924"/>
                  <a:pt x="621493" y="309684"/>
                  <a:pt x="631543" y="300563"/>
                </a:cubicBezTo>
                <a:lnTo>
                  <a:pt x="662467" y="273437"/>
                </a:lnTo>
                <a:cubicBezTo>
                  <a:pt x="705285" y="236442"/>
                  <a:pt x="750304" y="202029"/>
                  <a:pt x="797284" y="170381"/>
                </a:cubicBezTo>
                <a:cubicBezTo>
                  <a:pt x="847238" y="137320"/>
                  <a:pt x="900047" y="108852"/>
                  <a:pt x="955175" y="85331"/>
                </a:cubicBezTo>
                <a:cubicBezTo>
                  <a:pt x="1011730" y="61352"/>
                  <a:pt x="1070724" y="43674"/>
                  <a:pt x="1131145" y="32618"/>
                </a:cubicBezTo>
                <a:cubicBezTo>
                  <a:pt x="1190019" y="22105"/>
                  <a:pt x="1249727" y="16754"/>
                  <a:pt x="1309552" y="16627"/>
                </a:cubicBezTo>
                <a:lnTo>
                  <a:pt x="1309552" y="102"/>
                </a:lnTo>
                <a:cubicBezTo>
                  <a:pt x="1248775" y="344"/>
                  <a:pt x="1188117" y="5873"/>
                  <a:pt x="1128290" y="16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65" name="Freeform: Shape 164">
            <a:extLst>
              <a:ext uri="{FF2B5EF4-FFF2-40B4-BE49-F238E27FC236}">
                <a16:creationId xmlns:a16="http://schemas.microsoft.com/office/drawing/2014/main" id="{FC6B5248-295E-C5DE-008C-AB812BB584F1}"/>
              </a:ext>
            </a:extLst>
          </p:cNvPr>
          <p:cNvSpPr/>
          <p:nvPr/>
        </p:nvSpPr>
        <p:spPr>
          <a:xfrm>
            <a:off x="4864830" y="3891019"/>
            <a:ext cx="65110" cy="58629"/>
          </a:xfrm>
          <a:custGeom>
            <a:avLst/>
            <a:gdLst>
              <a:gd name="connsiteX0" fmla="*/ 1055 w 65110"/>
              <a:gd name="connsiteY0" fmla="*/ 13375 h 58629"/>
              <a:gd name="connsiteX1" fmla="*/ 26687 w 65110"/>
              <a:gd name="connsiteY1" fmla="*/ 35882 h 58629"/>
              <a:gd name="connsiteX2" fmla="*/ 52912 w 65110"/>
              <a:gd name="connsiteY2" fmla="*/ 57736 h 58629"/>
              <a:gd name="connsiteX3" fmla="*/ 57611 w 65110"/>
              <a:gd name="connsiteY3" fmla="*/ 57784 h 58629"/>
              <a:gd name="connsiteX4" fmla="*/ 57670 w 65110"/>
              <a:gd name="connsiteY4" fmla="*/ 57736 h 58629"/>
              <a:gd name="connsiteX5" fmla="*/ 64271 w 65110"/>
              <a:gd name="connsiteY5" fmla="*/ 49681 h 58629"/>
              <a:gd name="connsiteX6" fmla="*/ 63558 w 65110"/>
              <a:gd name="connsiteY6" fmla="*/ 45045 h 58629"/>
              <a:gd name="connsiteX7" fmla="*/ 63498 w 65110"/>
              <a:gd name="connsiteY7" fmla="*/ 45003 h 58629"/>
              <a:gd name="connsiteX8" fmla="*/ 37570 w 65110"/>
              <a:gd name="connsiteY8" fmla="*/ 23385 h 58629"/>
              <a:gd name="connsiteX9" fmla="*/ 12236 w 65110"/>
              <a:gd name="connsiteY9" fmla="*/ 1056 h 58629"/>
              <a:gd name="connsiteX10" fmla="*/ 7419 w 65110"/>
              <a:gd name="connsiteY10" fmla="*/ 1056 h 58629"/>
              <a:gd name="connsiteX11" fmla="*/ 401 w 65110"/>
              <a:gd name="connsiteY11" fmla="*/ 8815 h 58629"/>
              <a:gd name="connsiteX12" fmla="*/ 1055 w 65110"/>
              <a:gd name="connsiteY12" fmla="*/ 13375 h 5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110" h="58629">
                <a:moveTo>
                  <a:pt x="1055" y="13375"/>
                </a:moveTo>
                <a:lnTo>
                  <a:pt x="26687" y="35882"/>
                </a:lnTo>
                <a:cubicBezTo>
                  <a:pt x="35131" y="43522"/>
                  <a:pt x="44171" y="50451"/>
                  <a:pt x="52912" y="57736"/>
                </a:cubicBezTo>
                <a:cubicBezTo>
                  <a:pt x="54221" y="59045"/>
                  <a:pt x="56303" y="59066"/>
                  <a:pt x="57611" y="57784"/>
                </a:cubicBezTo>
                <a:cubicBezTo>
                  <a:pt x="57611" y="57769"/>
                  <a:pt x="57670" y="57753"/>
                  <a:pt x="57670" y="57736"/>
                </a:cubicBezTo>
                <a:lnTo>
                  <a:pt x="64271" y="49681"/>
                </a:lnTo>
                <a:cubicBezTo>
                  <a:pt x="65342" y="48205"/>
                  <a:pt x="65044" y="46129"/>
                  <a:pt x="63558" y="45045"/>
                </a:cubicBezTo>
                <a:cubicBezTo>
                  <a:pt x="63558" y="45031"/>
                  <a:pt x="63498" y="45016"/>
                  <a:pt x="63498" y="45003"/>
                </a:cubicBezTo>
                <a:cubicBezTo>
                  <a:pt x="54875" y="37777"/>
                  <a:pt x="45955" y="30906"/>
                  <a:pt x="37570" y="23385"/>
                </a:cubicBezTo>
                <a:lnTo>
                  <a:pt x="12236" y="1056"/>
                </a:lnTo>
                <a:cubicBezTo>
                  <a:pt x="10868" y="-215"/>
                  <a:pt x="8786" y="-215"/>
                  <a:pt x="7419" y="1056"/>
                </a:cubicBezTo>
                <a:lnTo>
                  <a:pt x="401" y="8815"/>
                </a:lnTo>
                <a:cubicBezTo>
                  <a:pt x="-610" y="10270"/>
                  <a:pt x="-312" y="12262"/>
                  <a:pt x="1055" y="1337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6" name="Freeform: Shape 165">
            <a:extLst>
              <a:ext uri="{FF2B5EF4-FFF2-40B4-BE49-F238E27FC236}">
                <a16:creationId xmlns:a16="http://schemas.microsoft.com/office/drawing/2014/main" id="{E0342D6B-B30A-E646-7DB4-EB5AEEDD4174}"/>
              </a:ext>
            </a:extLst>
          </p:cNvPr>
          <p:cNvSpPr/>
          <p:nvPr/>
        </p:nvSpPr>
        <p:spPr>
          <a:xfrm>
            <a:off x="4982274" y="3985345"/>
            <a:ext cx="69242" cy="52501"/>
          </a:xfrm>
          <a:custGeom>
            <a:avLst/>
            <a:gdLst>
              <a:gd name="connsiteX0" fmla="*/ 1361 w 69242"/>
              <a:gd name="connsiteY0" fmla="*/ 14228 h 52501"/>
              <a:gd name="connsiteX1" fmla="*/ 29490 w 69242"/>
              <a:gd name="connsiteY1" fmla="*/ 33714 h 52501"/>
              <a:gd name="connsiteX2" fmla="*/ 58511 w 69242"/>
              <a:gd name="connsiteY2" fmla="*/ 51956 h 52501"/>
              <a:gd name="connsiteX3" fmla="*/ 63268 w 69242"/>
              <a:gd name="connsiteY3" fmla="*/ 51216 h 52501"/>
              <a:gd name="connsiteX4" fmla="*/ 63268 w 69242"/>
              <a:gd name="connsiteY4" fmla="*/ 51186 h 52501"/>
              <a:gd name="connsiteX5" fmla="*/ 68680 w 69242"/>
              <a:gd name="connsiteY5" fmla="*/ 42302 h 52501"/>
              <a:gd name="connsiteX6" fmla="*/ 67253 w 69242"/>
              <a:gd name="connsiteY6" fmla="*/ 37741 h 52501"/>
              <a:gd name="connsiteX7" fmla="*/ 38708 w 69242"/>
              <a:gd name="connsiteY7" fmla="*/ 19973 h 52501"/>
              <a:gd name="connsiteX8" fmla="*/ 11055 w 69242"/>
              <a:gd name="connsiteY8" fmla="*/ 842 h 52501"/>
              <a:gd name="connsiteX9" fmla="*/ 6238 w 69242"/>
              <a:gd name="connsiteY9" fmla="*/ 1316 h 52501"/>
              <a:gd name="connsiteX10" fmla="*/ 291 w 69242"/>
              <a:gd name="connsiteY10" fmla="*/ 9727 h 52501"/>
              <a:gd name="connsiteX11" fmla="*/ 1361 w 69242"/>
              <a:gd name="connsiteY11" fmla="*/ 14228 h 5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242" h="52501">
                <a:moveTo>
                  <a:pt x="1361" y="14228"/>
                </a:moveTo>
                <a:lnTo>
                  <a:pt x="29490" y="33714"/>
                </a:lnTo>
                <a:cubicBezTo>
                  <a:pt x="39065" y="39933"/>
                  <a:pt x="48877" y="45855"/>
                  <a:pt x="58511" y="51956"/>
                </a:cubicBezTo>
                <a:cubicBezTo>
                  <a:pt x="59998" y="53054"/>
                  <a:pt x="62139" y="52723"/>
                  <a:pt x="63268" y="51216"/>
                </a:cubicBezTo>
                <a:cubicBezTo>
                  <a:pt x="63268" y="51206"/>
                  <a:pt x="63268" y="51196"/>
                  <a:pt x="63268" y="51186"/>
                </a:cubicBezTo>
                <a:lnTo>
                  <a:pt x="68680" y="42302"/>
                </a:lnTo>
                <a:cubicBezTo>
                  <a:pt x="69513" y="40647"/>
                  <a:pt x="68859" y="38629"/>
                  <a:pt x="67253" y="37741"/>
                </a:cubicBezTo>
                <a:cubicBezTo>
                  <a:pt x="57738" y="31818"/>
                  <a:pt x="48164" y="25896"/>
                  <a:pt x="38708" y="19973"/>
                </a:cubicBezTo>
                <a:lnTo>
                  <a:pt x="11055" y="842"/>
                </a:lnTo>
                <a:cubicBezTo>
                  <a:pt x="9568" y="-305"/>
                  <a:pt x="7486" y="-96"/>
                  <a:pt x="6238" y="1316"/>
                </a:cubicBezTo>
                <a:lnTo>
                  <a:pt x="291" y="9727"/>
                </a:lnTo>
                <a:cubicBezTo>
                  <a:pt x="-661" y="11268"/>
                  <a:pt x="-185" y="13264"/>
                  <a:pt x="1361" y="1422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7" name="Freeform: Shape 166">
            <a:extLst>
              <a:ext uri="{FF2B5EF4-FFF2-40B4-BE49-F238E27FC236}">
                <a16:creationId xmlns:a16="http://schemas.microsoft.com/office/drawing/2014/main" id="{F29A30AC-FF09-155A-3540-445779FE3454}"/>
              </a:ext>
            </a:extLst>
          </p:cNvPr>
          <p:cNvSpPr/>
          <p:nvPr/>
        </p:nvSpPr>
        <p:spPr>
          <a:xfrm>
            <a:off x="5112044" y="4061090"/>
            <a:ext cx="73627" cy="42408"/>
          </a:xfrm>
          <a:custGeom>
            <a:avLst/>
            <a:gdLst>
              <a:gd name="connsiteX0" fmla="*/ 1948 w 73627"/>
              <a:gd name="connsiteY0" fmla="*/ 15478 h 42408"/>
              <a:gd name="connsiteX1" fmla="*/ 17409 w 73627"/>
              <a:gd name="connsiteY1" fmla="*/ 22882 h 42408"/>
              <a:gd name="connsiteX2" fmla="*/ 33288 w 73627"/>
              <a:gd name="connsiteY2" fmla="*/ 29515 h 42408"/>
              <a:gd name="connsiteX3" fmla="*/ 49226 w 73627"/>
              <a:gd name="connsiteY3" fmla="*/ 36030 h 42408"/>
              <a:gd name="connsiteX4" fmla="*/ 65283 w 73627"/>
              <a:gd name="connsiteY4" fmla="*/ 42249 h 42408"/>
              <a:gd name="connsiteX5" fmla="*/ 69802 w 73627"/>
              <a:gd name="connsiteY5" fmla="*/ 40472 h 42408"/>
              <a:gd name="connsiteX6" fmla="*/ 73311 w 73627"/>
              <a:gd name="connsiteY6" fmla="*/ 30700 h 42408"/>
              <a:gd name="connsiteX7" fmla="*/ 70991 w 73627"/>
              <a:gd name="connsiteY7" fmla="*/ 26614 h 42408"/>
              <a:gd name="connsiteX8" fmla="*/ 70991 w 73627"/>
              <a:gd name="connsiteY8" fmla="*/ 26613 h 42408"/>
              <a:gd name="connsiteX9" fmla="*/ 55351 w 73627"/>
              <a:gd name="connsiteY9" fmla="*/ 20690 h 42408"/>
              <a:gd name="connsiteX10" fmla="*/ 39770 w 73627"/>
              <a:gd name="connsiteY10" fmla="*/ 14294 h 42408"/>
              <a:gd name="connsiteX11" fmla="*/ 24308 w 73627"/>
              <a:gd name="connsiteY11" fmla="*/ 7838 h 42408"/>
              <a:gd name="connsiteX12" fmla="*/ 9144 w 73627"/>
              <a:gd name="connsiteY12" fmla="*/ 553 h 42408"/>
              <a:gd name="connsiteX13" fmla="*/ 4565 w 73627"/>
              <a:gd name="connsiteY13" fmla="*/ 1752 h 42408"/>
              <a:gd name="connsiteX14" fmla="*/ 4565 w 73627"/>
              <a:gd name="connsiteY14" fmla="*/ 1797 h 42408"/>
              <a:gd name="connsiteX15" fmla="*/ -15 w 73627"/>
              <a:gd name="connsiteY15" fmla="*/ 11155 h 42408"/>
              <a:gd name="connsiteX16" fmla="*/ 1948 w 73627"/>
              <a:gd name="connsiteY16" fmla="*/ 15478 h 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627" h="42408">
                <a:moveTo>
                  <a:pt x="1948" y="15478"/>
                </a:moveTo>
                <a:lnTo>
                  <a:pt x="17409" y="22882"/>
                </a:lnTo>
                <a:cubicBezTo>
                  <a:pt x="22643" y="25251"/>
                  <a:pt x="27995" y="27324"/>
                  <a:pt x="33288" y="29515"/>
                </a:cubicBezTo>
                <a:lnTo>
                  <a:pt x="49226" y="36030"/>
                </a:lnTo>
                <a:cubicBezTo>
                  <a:pt x="54519" y="38221"/>
                  <a:pt x="59752" y="40531"/>
                  <a:pt x="65283" y="42249"/>
                </a:cubicBezTo>
                <a:cubicBezTo>
                  <a:pt x="67007" y="42960"/>
                  <a:pt x="69029" y="42175"/>
                  <a:pt x="69802" y="40472"/>
                </a:cubicBezTo>
                <a:lnTo>
                  <a:pt x="73311" y="30700"/>
                </a:lnTo>
                <a:cubicBezTo>
                  <a:pt x="73787" y="28935"/>
                  <a:pt x="72776" y="27106"/>
                  <a:pt x="70991" y="26614"/>
                </a:cubicBezTo>
                <a:cubicBezTo>
                  <a:pt x="70991" y="26614"/>
                  <a:pt x="70991" y="26613"/>
                  <a:pt x="70991" y="26613"/>
                </a:cubicBezTo>
                <a:cubicBezTo>
                  <a:pt x="65640" y="25014"/>
                  <a:pt x="60525" y="22704"/>
                  <a:pt x="55351" y="20690"/>
                </a:cubicBezTo>
                <a:lnTo>
                  <a:pt x="39770" y="14294"/>
                </a:lnTo>
                <a:cubicBezTo>
                  <a:pt x="34596" y="12102"/>
                  <a:pt x="29363" y="10148"/>
                  <a:pt x="24308" y="7838"/>
                </a:cubicBezTo>
                <a:lnTo>
                  <a:pt x="9144" y="553"/>
                </a:lnTo>
                <a:cubicBezTo>
                  <a:pt x="7538" y="-368"/>
                  <a:pt x="5516" y="168"/>
                  <a:pt x="4565" y="1752"/>
                </a:cubicBezTo>
                <a:cubicBezTo>
                  <a:pt x="4565" y="1766"/>
                  <a:pt x="4565" y="1782"/>
                  <a:pt x="4565" y="1797"/>
                </a:cubicBezTo>
                <a:lnTo>
                  <a:pt x="-15" y="11155"/>
                </a:lnTo>
                <a:cubicBezTo>
                  <a:pt x="-609" y="12885"/>
                  <a:pt x="282" y="14768"/>
                  <a:pt x="1948" y="1547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8" name="Freeform: Shape 167">
            <a:extLst>
              <a:ext uri="{FF2B5EF4-FFF2-40B4-BE49-F238E27FC236}">
                <a16:creationId xmlns:a16="http://schemas.microsoft.com/office/drawing/2014/main" id="{8B34AD1D-2326-F5D3-B0FB-3E5EC17874C8}"/>
              </a:ext>
            </a:extLst>
          </p:cNvPr>
          <p:cNvSpPr/>
          <p:nvPr/>
        </p:nvSpPr>
        <p:spPr>
          <a:xfrm>
            <a:off x="5404461" y="4130169"/>
            <a:ext cx="37822" cy="17487"/>
          </a:xfrm>
          <a:custGeom>
            <a:avLst/>
            <a:gdLst>
              <a:gd name="connsiteX0" fmla="*/ 3309 w 37822"/>
              <a:gd name="connsiteY0" fmla="*/ 16702 h 17487"/>
              <a:gd name="connsiteX1" fmla="*/ 37623 w 37822"/>
              <a:gd name="connsiteY1" fmla="*/ 17590 h 17487"/>
              <a:gd name="connsiteX2" fmla="*/ 37623 w 37822"/>
              <a:gd name="connsiteY2" fmla="*/ 947 h 17487"/>
              <a:gd name="connsiteX3" fmla="*/ 3963 w 37822"/>
              <a:gd name="connsiteY3" fmla="*/ 118 h 17487"/>
              <a:gd name="connsiteX4" fmla="*/ 217 w 37822"/>
              <a:gd name="connsiteY4" fmla="*/ 3080 h 17487"/>
              <a:gd name="connsiteX5" fmla="*/ -199 w 37822"/>
              <a:gd name="connsiteY5" fmla="*/ 13444 h 17487"/>
              <a:gd name="connsiteX6" fmla="*/ 3309 w 37822"/>
              <a:gd name="connsiteY6" fmla="*/ 16702 h 1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22" h="17487">
                <a:moveTo>
                  <a:pt x="3309" y="16702"/>
                </a:moveTo>
                <a:lnTo>
                  <a:pt x="37623" y="17590"/>
                </a:lnTo>
                <a:lnTo>
                  <a:pt x="37623" y="947"/>
                </a:lnTo>
                <a:lnTo>
                  <a:pt x="3963" y="118"/>
                </a:lnTo>
                <a:cubicBezTo>
                  <a:pt x="2120" y="-58"/>
                  <a:pt x="455" y="1250"/>
                  <a:pt x="217" y="3080"/>
                </a:cubicBezTo>
                <a:lnTo>
                  <a:pt x="-199" y="13444"/>
                </a:lnTo>
                <a:cubicBezTo>
                  <a:pt x="-80" y="15295"/>
                  <a:pt x="1466" y="16736"/>
                  <a:pt x="3309" y="1670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69" name="Freeform: Shape 168">
            <a:extLst>
              <a:ext uri="{FF2B5EF4-FFF2-40B4-BE49-F238E27FC236}">
                <a16:creationId xmlns:a16="http://schemas.microsoft.com/office/drawing/2014/main" id="{53EDE3C0-C43C-EEAF-67F9-C3AFBA1FF42E}"/>
              </a:ext>
            </a:extLst>
          </p:cNvPr>
          <p:cNvSpPr/>
          <p:nvPr/>
        </p:nvSpPr>
        <p:spPr>
          <a:xfrm>
            <a:off x="5254627" y="4111079"/>
            <a:ext cx="75860" cy="28543"/>
          </a:xfrm>
          <a:custGeom>
            <a:avLst/>
            <a:gdLst>
              <a:gd name="connsiteX0" fmla="*/ 2567 w 75860"/>
              <a:gd name="connsiteY0" fmla="*/ 16247 h 28543"/>
              <a:gd name="connsiteX1" fmla="*/ 36286 w 75860"/>
              <a:gd name="connsiteY1" fmla="*/ 23177 h 28543"/>
              <a:gd name="connsiteX2" fmla="*/ 44671 w 75860"/>
              <a:gd name="connsiteY2" fmla="*/ 24894 h 28543"/>
              <a:gd name="connsiteX3" fmla="*/ 53175 w 75860"/>
              <a:gd name="connsiteY3" fmla="*/ 26138 h 28543"/>
              <a:gd name="connsiteX4" fmla="*/ 70184 w 75860"/>
              <a:gd name="connsiteY4" fmla="*/ 28566 h 28543"/>
              <a:gd name="connsiteX5" fmla="*/ 74227 w 75860"/>
              <a:gd name="connsiteY5" fmla="*/ 25992 h 28543"/>
              <a:gd name="connsiteX6" fmla="*/ 74227 w 75860"/>
              <a:gd name="connsiteY6" fmla="*/ 25960 h 28543"/>
              <a:gd name="connsiteX7" fmla="*/ 75654 w 75860"/>
              <a:gd name="connsiteY7" fmla="*/ 15714 h 28543"/>
              <a:gd name="connsiteX8" fmla="*/ 72503 w 75860"/>
              <a:gd name="connsiteY8" fmla="*/ 12101 h 28543"/>
              <a:gd name="connsiteX9" fmla="*/ 55851 w 75860"/>
              <a:gd name="connsiteY9" fmla="*/ 9732 h 28543"/>
              <a:gd name="connsiteX10" fmla="*/ 47585 w 75860"/>
              <a:gd name="connsiteY10" fmla="*/ 8548 h 28543"/>
              <a:gd name="connsiteX11" fmla="*/ 39438 w 75860"/>
              <a:gd name="connsiteY11" fmla="*/ 6948 h 28543"/>
              <a:gd name="connsiteX12" fmla="*/ 6491 w 75860"/>
              <a:gd name="connsiteY12" fmla="*/ 256 h 28543"/>
              <a:gd name="connsiteX13" fmla="*/ 2329 w 75860"/>
              <a:gd name="connsiteY13" fmla="*/ 2388 h 28543"/>
              <a:gd name="connsiteX14" fmla="*/ -169 w 75860"/>
              <a:gd name="connsiteY14" fmla="*/ 12516 h 28543"/>
              <a:gd name="connsiteX15" fmla="*/ 2567 w 75860"/>
              <a:gd name="connsiteY15" fmla="*/ 16247 h 28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860" h="28543">
                <a:moveTo>
                  <a:pt x="2567" y="16247"/>
                </a:moveTo>
                <a:lnTo>
                  <a:pt x="36286" y="23177"/>
                </a:lnTo>
                <a:lnTo>
                  <a:pt x="44671" y="24894"/>
                </a:lnTo>
                <a:lnTo>
                  <a:pt x="53175" y="26138"/>
                </a:lnTo>
                <a:lnTo>
                  <a:pt x="70184" y="28566"/>
                </a:lnTo>
                <a:cubicBezTo>
                  <a:pt x="72027" y="28966"/>
                  <a:pt x="73811" y="27813"/>
                  <a:pt x="74227" y="25992"/>
                </a:cubicBezTo>
                <a:cubicBezTo>
                  <a:pt x="74227" y="25982"/>
                  <a:pt x="74227" y="25971"/>
                  <a:pt x="74227" y="25960"/>
                </a:cubicBezTo>
                <a:lnTo>
                  <a:pt x="75654" y="15714"/>
                </a:lnTo>
                <a:cubicBezTo>
                  <a:pt x="75773" y="13859"/>
                  <a:pt x="74346" y="12259"/>
                  <a:pt x="72503" y="12101"/>
                </a:cubicBezTo>
                <a:lnTo>
                  <a:pt x="55851" y="9732"/>
                </a:lnTo>
                <a:cubicBezTo>
                  <a:pt x="53116" y="9377"/>
                  <a:pt x="50320" y="9021"/>
                  <a:pt x="47585" y="8548"/>
                </a:cubicBezTo>
                <a:lnTo>
                  <a:pt x="39438" y="6948"/>
                </a:lnTo>
                <a:lnTo>
                  <a:pt x="6491" y="256"/>
                </a:lnTo>
                <a:cubicBezTo>
                  <a:pt x="4767" y="-289"/>
                  <a:pt x="2923" y="662"/>
                  <a:pt x="2329" y="2388"/>
                </a:cubicBezTo>
                <a:lnTo>
                  <a:pt x="-169" y="12516"/>
                </a:lnTo>
                <a:cubicBezTo>
                  <a:pt x="-406" y="14284"/>
                  <a:pt x="783" y="15917"/>
                  <a:pt x="2567" y="1624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0" name="Freeform: Shape 169">
            <a:extLst>
              <a:ext uri="{FF2B5EF4-FFF2-40B4-BE49-F238E27FC236}">
                <a16:creationId xmlns:a16="http://schemas.microsoft.com/office/drawing/2014/main" id="{792199C2-5392-083A-952D-C02BF50D1140}"/>
              </a:ext>
            </a:extLst>
          </p:cNvPr>
          <p:cNvSpPr/>
          <p:nvPr/>
        </p:nvSpPr>
        <p:spPr>
          <a:xfrm>
            <a:off x="4132531" y="3488515"/>
            <a:ext cx="37822" cy="17482"/>
          </a:xfrm>
          <a:custGeom>
            <a:avLst/>
            <a:gdLst>
              <a:gd name="connsiteX0" fmla="*/ 33460 w 37822"/>
              <a:gd name="connsiteY0" fmla="*/ 17575 h 17482"/>
              <a:gd name="connsiteX1" fmla="*/ 37207 w 37822"/>
              <a:gd name="connsiteY1" fmla="*/ 14554 h 17482"/>
              <a:gd name="connsiteX2" fmla="*/ 37623 w 37822"/>
              <a:gd name="connsiteY2" fmla="*/ 4189 h 17482"/>
              <a:gd name="connsiteX3" fmla="*/ 34180 w 37822"/>
              <a:gd name="connsiteY3" fmla="*/ 988 h 17482"/>
              <a:gd name="connsiteX4" fmla="*/ 34114 w 37822"/>
              <a:gd name="connsiteY4" fmla="*/ 991 h 17482"/>
              <a:gd name="connsiteX5" fmla="*/ -199 w 37822"/>
              <a:gd name="connsiteY5" fmla="*/ 102 h 17482"/>
              <a:gd name="connsiteX6" fmla="*/ -199 w 37822"/>
              <a:gd name="connsiteY6" fmla="*/ 16686 h 1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22" h="17482">
                <a:moveTo>
                  <a:pt x="33460" y="17575"/>
                </a:moveTo>
                <a:cubicBezTo>
                  <a:pt x="35316" y="17717"/>
                  <a:pt x="36957" y="16391"/>
                  <a:pt x="37207" y="14554"/>
                </a:cubicBezTo>
                <a:lnTo>
                  <a:pt x="37623" y="4189"/>
                </a:lnTo>
                <a:cubicBezTo>
                  <a:pt x="37558" y="2358"/>
                  <a:pt x="36017" y="925"/>
                  <a:pt x="34180" y="988"/>
                </a:cubicBezTo>
                <a:cubicBezTo>
                  <a:pt x="34156" y="988"/>
                  <a:pt x="34138" y="990"/>
                  <a:pt x="34114" y="991"/>
                </a:cubicBezTo>
                <a:lnTo>
                  <a:pt x="-199" y="102"/>
                </a:lnTo>
                <a:lnTo>
                  <a:pt x="-199" y="16686"/>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1" name="Freeform: Shape 170">
            <a:extLst>
              <a:ext uri="{FF2B5EF4-FFF2-40B4-BE49-F238E27FC236}">
                <a16:creationId xmlns:a16="http://schemas.microsoft.com/office/drawing/2014/main" id="{E15BFC90-E310-3F85-7A8C-9F7AE2342362}"/>
              </a:ext>
            </a:extLst>
          </p:cNvPr>
          <p:cNvSpPr/>
          <p:nvPr/>
        </p:nvSpPr>
        <p:spPr>
          <a:xfrm>
            <a:off x="4244329" y="3496488"/>
            <a:ext cx="76106" cy="28725"/>
          </a:xfrm>
          <a:custGeom>
            <a:avLst/>
            <a:gdLst>
              <a:gd name="connsiteX0" fmla="*/ 3076 w 76106"/>
              <a:gd name="connsiteY0" fmla="*/ 16709 h 28725"/>
              <a:gd name="connsiteX1" fmla="*/ 19728 w 76106"/>
              <a:gd name="connsiteY1" fmla="*/ 19019 h 28725"/>
              <a:gd name="connsiteX2" fmla="*/ 27994 w 76106"/>
              <a:gd name="connsiteY2" fmla="*/ 20262 h 28725"/>
              <a:gd name="connsiteX3" fmla="*/ 36260 w 76106"/>
              <a:gd name="connsiteY3" fmla="*/ 21980 h 28725"/>
              <a:gd name="connsiteX4" fmla="*/ 69206 w 76106"/>
              <a:gd name="connsiteY4" fmla="*/ 28673 h 28725"/>
              <a:gd name="connsiteX5" fmla="*/ 73429 w 76106"/>
              <a:gd name="connsiteY5" fmla="*/ 26540 h 28725"/>
              <a:gd name="connsiteX6" fmla="*/ 75867 w 76106"/>
              <a:gd name="connsiteY6" fmla="*/ 16413 h 28725"/>
              <a:gd name="connsiteX7" fmla="*/ 73012 w 76106"/>
              <a:gd name="connsiteY7" fmla="*/ 12504 h 28725"/>
              <a:gd name="connsiteX8" fmla="*/ 39234 w 76106"/>
              <a:gd name="connsiteY8" fmla="*/ 5574 h 28725"/>
              <a:gd name="connsiteX9" fmla="*/ 30789 w 76106"/>
              <a:gd name="connsiteY9" fmla="*/ 3856 h 28725"/>
              <a:gd name="connsiteX10" fmla="*/ 22285 w 76106"/>
              <a:gd name="connsiteY10" fmla="*/ 2553 h 28725"/>
              <a:gd name="connsiteX11" fmla="*/ 5277 w 76106"/>
              <a:gd name="connsiteY11" fmla="*/ 184 h 28725"/>
              <a:gd name="connsiteX12" fmla="*/ 1233 w 76106"/>
              <a:gd name="connsiteY12" fmla="*/ 2731 h 28725"/>
              <a:gd name="connsiteX13" fmla="*/ -194 w 76106"/>
              <a:gd name="connsiteY13" fmla="*/ 13037 h 28725"/>
              <a:gd name="connsiteX14" fmla="*/ 3076 w 76106"/>
              <a:gd name="connsiteY14" fmla="*/ 16709 h 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106" h="28725">
                <a:moveTo>
                  <a:pt x="3076" y="16709"/>
                </a:moveTo>
                <a:lnTo>
                  <a:pt x="19728" y="19019"/>
                </a:lnTo>
                <a:cubicBezTo>
                  <a:pt x="22523" y="19433"/>
                  <a:pt x="25258" y="19789"/>
                  <a:pt x="27994" y="20262"/>
                </a:cubicBezTo>
                <a:lnTo>
                  <a:pt x="36260" y="21980"/>
                </a:lnTo>
                <a:lnTo>
                  <a:pt x="69206" y="28673"/>
                </a:lnTo>
                <a:cubicBezTo>
                  <a:pt x="70961" y="29221"/>
                  <a:pt x="72834" y="28275"/>
                  <a:pt x="73429" y="26540"/>
                </a:cubicBezTo>
                <a:lnTo>
                  <a:pt x="75867" y="16413"/>
                </a:lnTo>
                <a:cubicBezTo>
                  <a:pt x="76153" y="14551"/>
                  <a:pt x="74880" y="12807"/>
                  <a:pt x="73012" y="12504"/>
                </a:cubicBezTo>
                <a:lnTo>
                  <a:pt x="39234" y="5574"/>
                </a:lnTo>
                <a:lnTo>
                  <a:pt x="30789" y="3856"/>
                </a:lnTo>
                <a:cubicBezTo>
                  <a:pt x="27935" y="3323"/>
                  <a:pt x="25140" y="3027"/>
                  <a:pt x="22285" y="2553"/>
                </a:cubicBezTo>
                <a:lnTo>
                  <a:pt x="5277" y="184"/>
                </a:lnTo>
                <a:cubicBezTo>
                  <a:pt x="3457" y="-221"/>
                  <a:pt x="1649" y="918"/>
                  <a:pt x="1233" y="2731"/>
                </a:cubicBezTo>
                <a:lnTo>
                  <a:pt x="-194" y="13037"/>
                </a:lnTo>
                <a:cubicBezTo>
                  <a:pt x="-296" y="14946"/>
                  <a:pt x="1161" y="16582"/>
                  <a:pt x="3076" y="16709"/>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2" name="Freeform: Shape 171">
            <a:extLst>
              <a:ext uri="{FF2B5EF4-FFF2-40B4-BE49-F238E27FC236}">
                <a16:creationId xmlns:a16="http://schemas.microsoft.com/office/drawing/2014/main" id="{A178B3B4-7E05-7D91-1D8A-F4D936100197}"/>
              </a:ext>
            </a:extLst>
          </p:cNvPr>
          <p:cNvSpPr/>
          <p:nvPr/>
        </p:nvSpPr>
        <p:spPr>
          <a:xfrm>
            <a:off x="4389230" y="3533130"/>
            <a:ext cx="73536" cy="42248"/>
          </a:xfrm>
          <a:custGeom>
            <a:avLst/>
            <a:gdLst>
              <a:gd name="connsiteX0" fmla="*/ 2151 w 73536"/>
              <a:gd name="connsiteY0" fmla="*/ 15485 h 42248"/>
              <a:gd name="connsiteX1" fmla="*/ 17791 w 73536"/>
              <a:gd name="connsiteY1" fmla="*/ 21408 h 42248"/>
              <a:gd name="connsiteX2" fmla="*/ 33372 w 73536"/>
              <a:gd name="connsiteY2" fmla="*/ 28160 h 42248"/>
              <a:gd name="connsiteX3" fmla="*/ 48834 w 73536"/>
              <a:gd name="connsiteY3" fmla="*/ 34616 h 42248"/>
              <a:gd name="connsiteX4" fmla="*/ 63999 w 73536"/>
              <a:gd name="connsiteY4" fmla="*/ 41900 h 42248"/>
              <a:gd name="connsiteX5" fmla="*/ 68554 w 73536"/>
              <a:gd name="connsiteY5" fmla="*/ 40702 h 42248"/>
              <a:gd name="connsiteX6" fmla="*/ 68578 w 73536"/>
              <a:gd name="connsiteY6" fmla="*/ 40657 h 42248"/>
              <a:gd name="connsiteX7" fmla="*/ 73098 w 73536"/>
              <a:gd name="connsiteY7" fmla="*/ 31299 h 42248"/>
              <a:gd name="connsiteX8" fmla="*/ 71195 w 73536"/>
              <a:gd name="connsiteY8" fmla="*/ 26917 h 42248"/>
              <a:gd name="connsiteX9" fmla="*/ 71195 w 73536"/>
              <a:gd name="connsiteY9" fmla="*/ 26916 h 42248"/>
              <a:gd name="connsiteX10" fmla="*/ 55673 w 73536"/>
              <a:gd name="connsiteY10" fmla="*/ 19453 h 42248"/>
              <a:gd name="connsiteX11" fmla="*/ 39854 w 73536"/>
              <a:gd name="connsiteY11" fmla="*/ 12820 h 42248"/>
              <a:gd name="connsiteX12" fmla="*/ 23916 w 73536"/>
              <a:gd name="connsiteY12" fmla="*/ 6305 h 42248"/>
              <a:gd name="connsiteX13" fmla="*/ 7860 w 73536"/>
              <a:gd name="connsiteY13" fmla="*/ 382 h 42248"/>
              <a:gd name="connsiteX14" fmla="*/ 3340 w 73536"/>
              <a:gd name="connsiteY14" fmla="*/ 2159 h 42248"/>
              <a:gd name="connsiteX15" fmla="*/ -169 w 73536"/>
              <a:gd name="connsiteY15" fmla="*/ 11872 h 42248"/>
              <a:gd name="connsiteX16" fmla="*/ 2151 w 73536"/>
              <a:gd name="connsiteY16" fmla="*/ 15485 h 4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536" h="42248">
                <a:moveTo>
                  <a:pt x="2151" y="15485"/>
                </a:moveTo>
                <a:cubicBezTo>
                  <a:pt x="7503" y="17143"/>
                  <a:pt x="12617" y="19453"/>
                  <a:pt x="17791" y="21408"/>
                </a:cubicBezTo>
                <a:lnTo>
                  <a:pt x="33372" y="28160"/>
                </a:lnTo>
                <a:cubicBezTo>
                  <a:pt x="38487" y="30292"/>
                  <a:pt x="43720" y="32246"/>
                  <a:pt x="48834" y="34616"/>
                </a:cubicBezTo>
                <a:lnTo>
                  <a:pt x="63999" y="41900"/>
                </a:lnTo>
                <a:cubicBezTo>
                  <a:pt x="65587" y="42821"/>
                  <a:pt x="67626" y="42285"/>
                  <a:pt x="68554" y="40702"/>
                </a:cubicBezTo>
                <a:cubicBezTo>
                  <a:pt x="68560" y="40687"/>
                  <a:pt x="68572" y="40671"/>
                  <a:pt x="68578" y="40657"/>
                </a:cubicBezTo>
                <a:lnTo>
                  <a:pt x="73098" y="31299"/>
                </a:lnTo>
                <a:cubicBezTo>
                  <a:pt x="73787" y="29566"/>
                  <a:pt x="72937" y="27604"/>
                  <a:pt x="71195" y="26917"/>
                </a:cubicBezTo>
                <a:cubicBezTo>
                  <a:pt x="71195" y="26916"/>
                  <a:pt x="71195" y="26916"/>
                  <a:pt x="71195" y="26916"/>
                </a:cubicBezTo>
                <a:lnTo>
                  <a:pt x="55673" y="19453"/>
                </a:lnTo>
                <a:cubicBezTo>
                  <a:pt x="50499" y="17084"/>
                  <a:pt x="45147" y="15070"/>
                  <a:pt x="39854" y="12820"/>
                </a:cubicBezTo>
                <a:lnTo>
                  <a:pt x="23916" y="6305"/>
                </a:lnTo>
                <a:cubicBezTo>
                  <a:pt x="18624" y="4173"/>
                  <a:pt x="13331" y="1863"/>
                  <a:pt x="7860" y="382"/>
                </a:cubicBezTo>
                <a:cubicBezTo>
                  <a:pt x="6117" y="-362"/>
                  <a:pt x="4101" y="431"/>
                  <a:pt x="3340" y="2159"/>
                </a:cubicBezTo>
                <a:lnTo>
                  <a:pt x="-169" y="11872"/>
                </a:lnTo>
                <a:cubicBezTo>
                  <a:pt x="-388" y="13479"/>
                  <a:pt x="593" y="15007"/>
                  <a:pt x="2151" y="1548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3" name="Freeform: Shape 172">
            <a:extLst>
              <a:ext uri="{FF2B5EF4-FFF2-40B4-BE49-F238E27FC236}">
                <a16:creationId xmlns:a16="http://schemas.microsoft.com/office/drawing/2014/main" id="{F575151C-E8DC-4652-BC16-3AB2FF5675A2}"/>
              </a:ext>
            </a:extLst>
          </p:cNvPr>
          <p:cNvSpPr/>
          <p:nvPr/>
        </p:nvSpPr>
        <p:spPr>
          <a:xfrm>
            <a:off x="4523262" y="3598720"/>
            <a:ext cx="69222" cy="52544"/>
          </a:xfrm>
          <a:custGeom>
            <a:avLst/>
            <a:gdLst>
              <a:gd name="connsiteX0" fmla="*/ 1626 w 69222"/>
              <a:gd name="connsiteY0" fmla="*/ 14926 h 52544"/>
              <a:gd name="connsiteX1" fmla="*/ 30112 w 69222"/>
              <a:gd name="connsiteY1" fmla="*/ 32694 h 52544"/>
              <a:gd name="connsiteX2" fmla="*/ 57765 w 69222"/>
              <a:gd name="connsiteY2" fmla="*/ 51884 h 52544"/>
              <a:gd name="connsiteX3" fmla="*/ 62582 w 69222"/>
              <a:gd name="connsiteY3" fmla="*/ 51410 h 52544"/>
              <a:gd name="connsiteX4" fmla="*/ 68529 w 69222"/>
              <a:gd name="connsiteY4" fmla="*/ 43000 h 52544"/>
              <a:gd name="connsiteX5" fmla="*/ 67435 w 69222"/>
              <a:gd name="connsiteY5" fmla="*/ 38437 h 52544"/>
              <a:gd name="connsiteX6" fmla="*/ 67340 w 69222"/>
              <a:gd name="connsiteY6" fmla="*/ 38380 h 52544"/>
              <a:gd name="connsiteX7" fmla="*/ 39330 w 69222"/>
              <a:gd name="connsiteY7" fmla="*/ 19013 h 52544"/>
              <a:gd name="connsiteX8" fmla="*/ 10309 w 69222"/>
              <a:gd name="connsiteY8" fmla="*/ 771 h 52544"/>
              <a:gd name="connsiteX9" fmla="*/ 5563 w 69222"/>
              <a:gd name="connsiteY9" fmla="*/ 1463 h 52544"/>
              <a:gd name="connsiteX10" fmla="*/ 5551 w 69222"/>
              <a:gd name="connsiteY10" fmla="*/ 1482 h 52544"/>
              <a:gd name="connsiteX11" fmla="*/ 140 w 69222"/>
              <a:gd name="connsiteY11" fmla="*/ 10366 h 52544"/>
              <a:gd name="connsiteX12" fmla="*/ 1626 w 69222"/>
              <a:gd name="connsiteY12" fmla="*/ 14926 h 5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222" h="52544">
                <a:moveTo>
                  <a:pt x="1626" y="14926"/>
                </a:moveTo>
                <a:cubicBezTo>
                  <a:pt x="11082" y="20849"/>
                  <a:pt x="20716" y="26772"/>
                  <a:pt x="30112" y="32694"/>
                </a:cubicBezTo>
                <a:lnTo>
                  <a:pt x="57765" y="51884"/>
                </a:lnTo>
                <a:cubicBezTo>
                  <a:pt x="59228" y="53063"/>
                  <a:pt x="61375" y="52852"/>
                  <a:pt x="62582" y="51410"/>
                </a:cubicBezTo>
                <a:lnTo>
                  <a:pt x="68529" y="43000"/>
                </a:lnTo>
                <a:cubicBezTo>
                  <a:pt x="69493" y="41439"/>
                  <a:pt x="69005" y="39397"/>
                  <a:pt x="67435" y="38437"/>
                </a:cubicBezTo>
                <a:cubicBezTo>
                  <a:pt x="67405" y="38418"/>
                  <a:pt x="67370" y="38399"/>
                  <a:pt x="67340" y="38380"/>
                </a:cubicBezTo>
                <a:lnTo>
                  <a:pt x="39330" y="19013"/>
                </a:lnTo>
                <a:cubicBezTo>
                  <a:pt x="29755" y="12794"/>
                  <a:pt x="20002" y="6871"/>
                  <a:pt x="10309" y="771"/>
                </a:cubicBezTo>
                <a:cubicBezTo>
                  <a:pt x="8804" y="-343"/>
                  <a:pt x="6681" y="-33"/>
                  <a:pt x="5563" y="1463"/>
                </a:cubicBezTo>
                <a:cubicBezTo>
                  <a:pt x="5563" y="1468"/>
                  <a:pt x="5557" y="1475"/>
                  <a:pt x="5551" y="1482"/>
                </a:cubicBezTo>
                <a:lnTo>
                  <a:pt x="140" y="10366"/>
                </a:lnTo>
                <a:cubicBezTo>
                  <a:pt x="-657" y="12038"/>
                  <a:pt x="-3" y="14038"/>
                  <a:pt x="1626" y="1492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4" name="Freeform: Shape 173">
            <a:extLst>
              <a:ext uri="{FF2B5EF4-FFF2-40B4-BE49-F238E27FC236}">
                <a16:creationId xmlns:a16="http://schemas.microsoft.com/office/drawing/2014/main" id="{962254C1-53B7-5618-233E-95224B1256A2}"/>
              </a:ext>
            </a:extLst>
          </p:cNvPr>
          <p:cNvSpPr/>
          <p:nvPr/>
        </p:nvSpPr>
        <p:spPr>
          <a:xfrm>
            <a:off x="4756082" y="3787433"/>
            <a:ext cx="62584" cy="61517"/>
          </a:xfrm>
          <a:custGeom>
            <a:avLst/>
            <a:gdLst>
              <a:gd name="connsiteX0" fmla="*/ 975 w 62584"/>
              <a:gd name="connsiteY0" fmla="*/ 13076 h 61517"/>
              <a:gd name="connsiteX1" fmla="*/ 25179 w 62584"/>
              <a:gd name="connsiteY1" fmla="*/ 36767 h 61517"/>
              <a:gd name="connsiteX2" fmla="*/ 49561 w 62584"/>
              <a:gd name="connsiteY2" fmla="*/ 60458 h 61517"/>
              <a:gd name="connsiteX3" fmla="*/ 54318 w 62584"/>
              <a:gd name="connsiteY3" fmla="*/ 60813 h 61517"/>
              <a:gd name="connsiteX4" fmla="*/ 61574 w 62584"/>
              <a:gd name="connsiteY4" fmla="*/ 53351 h 61517"/>
              <a:gd name="connsiteX5" fmla="*/ 61217 w 62584"/>
              <a:gd name="connsiteY5" fmla="*/ 48613 h 61517"/>
              <a:gd name="connsiteX6" fmla="*/ 36953 w 62584"/>
              <a:gd name="connsiteY6" fmla="*/ 24922 h 61517"/>
              <a:gd name="connsiteX7" fmla="*/ 12571 w 62584"/>
              <a:gd name="connsiteY7" fmla="*/ 1231 h 61517"/>
              <a:gd name="connsiteX8" fmla="*/ 7813 w 62584"/>
              <a:gd name="connsiteY8" fmla="*/ 934 h 61517"/>
              <a:gd name="connsiteX9" fmla="*/ 558 w 62584"/>
              <a:gd name="connsiteY9" fmla="*/ 8397 h 61517"/>
              <a:gd name="connsiteX10" fmla="*/ 975 w 62584"/>
              <a:gd name="connsiteY10" fmla="*/ 13076 h 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584" h="61517">
                <a:moveTo>
                  <a:pt x="975" y="13076"/>
                </a:moveTo>
                <a:lnTo>
                  <a:pt x="25179" y="36767"/>
                </a:lnTo>
                <a:lnTo>
                  <a:pt x="49561" y="60458"/>
                </a:lnTo>
                <a:cubicBezTo>
                  <a:pt x="50810" y="61856"/>
                  <a:pt x="52891" y="62015"/>
                  <a:pt x="54318" y="60813"/>
                </a:cubicBezTo>
                <a:lnTo>
                  <a:pt x="61574" y="53351"/>
                </a:lnTo>
                <a:cubicBezTo>
                  <a:pt x="62763" y="51941"/>
                  <a:pt x="62644" y="49827"/>
                  <a:pt x="61217" y="48613"/>
                </a:cubicBezTo>
                <a:lnTo>
                  <a:pt x="36953" y="24922"/>
                </a:lnTo>
                <a:lnTo>
                  <a:pt x="12571" y="1231"/>
                </a:lnTo>
                <a:cubicBezTo>
                  <a:pt x="11334" y="-149"/>
                  <a:pt x="9211" y="-281"/>
                  <a:pt x="7813" y="934"/>
                </a:cubicBezTo>
                <a:lnTo>
                  <a:pt x="558" y="8397"/>
                </a:lnTo>
                <a:cubicBezTo>
                  <a:pt x="-596" y="9813"/>
                  <a:pt x="-411" y="11884"/>
                  <a:pt x="975" y="1307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5" name="Freeform: Shape 174">
            <a:extLst>
              <a:ext uri="{FF2B5EF4-FFF2-40B4-BE49-F238E27FC236}">
                <a16:creationId xmlns:a16="http://schemas.microsoft.com/office/drawing/2014/main" id="{CA1666B5-DBA2-FF3D-DCC7-422E9F19777D}"/>
              </a:ext>
            </a:extLst>
          </p:cNvPr>
          <p:cNvSpPr/>
          <p:nvPr/>
        </p:nvSpPr>
        <p:spPr>
          <a:xfrm>
            <a:off x="4644528" y="3686578"/>
            <a:ext cx="65268" cy="58775"/>
          </a:xfrm>
          <a:custGeom>
            <a:avLst/>
            <a:gdLst>
              <a:gd name="connsiteX0" fmla="*/ 1322 w 65268"/>
              <a:gd name="connsiteY0" fmla="*/ 13955 h 58775"/>
              <a:gd name="connsiteX1" fmla="*/ 27191 w 65268"/>
              <a:gd name="connsiteY1" fmla="*/ 35632 h 58775"/>
              <a:gd name="connsiteX2" fmla="*/ 52584 w 65268"/>
              <a:gd name="connsiteY2" fmla="*/ 57902 h 58775"/>
              <a:gd name="connsiteX3" fmla="*/ 57401 w 65268"/>
              <a:gd name="connsiteY3" fmla="*/ 57902 h 58775"/>
              <a:gd name="connsiteX4" fmla="*/ 64359 w 65268"/>
              <a:gd name="connsiteY4" fmla="*/ 50202 h 58775"/>
              <a:gd name="connsiteX5" fmla="*/ 63794 w 65268"/>
              <a:gd name="connsiteY5" fmla="*/ 45546 h 58775"/>
              <a:gd name="connsiteX6" fmla="*/ 63764 w 65268"/>
              <a:gd name="connsiteY6" fmla="*/ 45523 h 58775"/>
              <a:gd name="connsiteX7" fmla="*/ 38074 w 65268"/>
              <a:gd name="connsiteY7" fmla="*/ 23017 h 58775"/>
              <a:gd name="connsiteX8" fmla="*/ 11907 w 65268"/>
              <a:gd name="connsiteY8" fmla="*/ 1103 h 58775"/>
              <a:gd name="connsiteX9" fmla="*/ 7114 w 65268"/>
              <a:gd name="connsiteY9" fmla="*/ 1080 h 58775"/>
              <a:gd name="connsiteX10" fmla="*/ 7090 w 65268"/>
              <a:gd name="connsiteY10" fmla="*/ 1103 h 58775"/>
              <a:gd name="connsiteX11" fmla="*/ 489 w 65268"/>
              <a:gd name="connsiteY11" fmla="*/ 9099 h 58775"/>
              <a:gd name="connsiteX12" fmla="*/ 1143 w 65268"/>
              <a:gd name="connsiteY12" fmla="*/ 13828 h 58775"/>
              <a:gd name="connsiteX13" fmla="*/ 1322 w 65268"/>
              <a:gd name="connsiteY13" fmla="*/ 13955 h 5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68" h="58775">
                <a:moveTo>
                  <a:pt x="1322" y="13955"/>
                </a:moveTo>
                <a:cubicBezTo>
                  <a:pt x="9945" y="21240"/>
                  <a:pt x="19162" y="28051"/>
                  <a:pt x="27191" y="35632"/>
                </a:cubicBezTo>
                <a:lnTo>
                  <a:pt x="52584" y="57902"/>
                </a:lnTo>
                <a:cubicBezTo>
                  <a:pt x="53922" y="59204"/>
                  <a:pt x="56063" y="59204"/>
                  <a:pt x="57401" y="57902"/>
                </a:cubicBezTo>
                <a:lnTo>
                  <a:pt x="64359" y="50202"/>
                </a:lnTo>
                <a:cubicBezTo>
                  <a:pt x="65495" y="48761"/>
                  <a:pt x="65239" y="46676"/>
                  <a:pt x="63794" y="45546"/>
                </a:cubicBezTo>
                <a:cubicBezTo>
                  <a:pt x="63782" y="45538"/>
                  <a:pt x="63776" y="45531"/>
                  <a:pt x="63764" y="45523"/>
                </a:cubicBezTo>
                <a:lnTo>
                  <a:pt x="38074" y="23017"/>
                </a:lnTo>
                <a:cubicBezTo>
                  <a:pt x="29689" y="15377"/>
                  <a:pt x="20649" y="8388"/>
                  <a:pt x="11907" y="1103"/>
                </a:cubicBezTo>
                <a:cubicBezTo>
                  <a:pt x="10593" y="-222"/>
                  <a:pt x="8446" y="-232"/>
                  <a:pt x="7114" y="1080"/>
                </a:cubicBezTo>
                <a:cubicBezTo>
                  <a:pt x="7108" y="1087"/>
                  <a:pt x="7096" y="1095"/>
                  <a:pt x="7090" y="1103"/>
                </a:cubicBezTo>
                <a:lnTo>
                  <a:pt x="489" y="9099"/>
                </a:lnTo>
                <a:cubicBezTo>
                  <a:pt x="-641" y="10584"/>
                  <a:pt x="-349" y="12702"/>
                  <a:pt x="1143" y="13828"/>
                </a:cubicBezTo>
                <a:cubicBezTo>
                  <a:pt x="1203" y="13873"/>
                  <a:pt x="1262" y="13915"/>
                  <a:pt x="1322" y="1395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6" name="Freeform: Shape 175">
            <a:extLst>
              <a:ext uri="{FF2B5EF4-FFF2-40B4-BE49-F238E27FC236}">
                <a16:creationId xmlns:a16="http://schemas.microsoft.com/office/drawing/2014/main" id="{20989837-F35E-202A-ACB4-683123A2A0AE}"/>
              </a:ext>
            </a:extLst>
          </p:cNvPr>
          <p:cNvSpPr/>
          <p:nvPr/>
        </p:nvSpPr>
        <p:spPr>
          <a:xfrm>
            <a:off x="4132531" y="3324277"/>
            <a:ext cx="1309691" cy="659615"/>
          </a:xfrm>
          <a:custGeom>
            <a:avLst/>
            <a:gdLst>
              <a:gd name="connsiteX0" fmla="*/ 354119 w 1309691"/>
              <a:gd name="connsiteY0" fmla="*/ 85627 h 659615"/>
              <a:gd name="connsiteX1" fmla="*/ 512010 w 1309691"/>
              <a:gd name="connsiteY1" fmla="*/ 170677 h 659615"/>
              <a:gd name="connsiteX2" fmla="*/ 646886 w 1309691"/>
              <a:gd name="connsiteY2" fmla="*/ 273733 h 659615"/>
              <a:gd name="connsiteX3" fmla="*/ 677751 w 1309691"/>
              <a:gd name="connsiteY3" fmla="*/ 300859 h 659615"/>
              <a:gd name="connsiteX4" fmla="*/ 707485 w 1309691"/>
              <a:gd name="connsiteY4" fmla="*/ 328400 h 659615"/>
              <a:gd name="connsiteX5" fmla="*/ 722293 w 1309691"/>
              <a:gd name="connsiteY5" fmla="*/ 342141 h 659615"/>
              <a:gd name="connsiteX6" fmla="*/ 736625 w 1309691"/>
              <a:gd name="connsiteY6" fmla="*/ 356059 h 659615"/>
              <a:gd name="connsiteX7" fmla="*/ 765111 w 1309691"/>
              <a:gd name="connsiteY7" fmla="*/ 383896 h 659615"/>
              <a:gd name="connsiteX8" fmla="*/ 790326 w 1309691"/>
              <a:gd name="connsiteY8" fmla="*/ 408476 h 659615"/>
              <a:gd name="connsiteX9" fmla="*/ 802933 w 1309691"/>
              <a:gd name="connsiteY9" fmla="*/ 420736 h 659615"/>
              <a:gd name="connsiteX10" fmla="*/ 815660 w 1309691"/>
              <a:gd name="connsiteY10" fmla="*/ 432581 h 659615"/>
              <a:gd name="connsiteX11" fmla="*/ 841053 w 1309691"/>
              <a:gd name="connsiteY11" fmla="*/ 456272 h 659615"/>
              <a:gd name="connsiteX12" fmla="*/ 866625 w 1309691"/>
              <a:gd name="connsiteY12" fmla="*/ 478719 h 659615"/>
              <a:gd name="connsiteX13" fmla="*/ 970280 w 1309691"/>
              <a:gd name="connsiteY13" fmla="*/ 558143 h 659615"/>
              <a:gd name="connsiteX14" fmla="*/ 1076730 w 1309691"/>
              <a:gd name="connsiteY14" fmla="*/ 615535 h 659615"/>
              <a:gd name="connsiteX15" fmla="*/ 1188533 w 1309691"/>
              <a:gd name="connsiteY15" fmla="*/ 649057 h 659615"/>
              <a:gd name="connsiteX16" fmla="*/ 1309493 w 1309691"/>
              <a:gd name="connsiteY16" fmla="*/ 659718 h 659615"/>
              <a:gd name="connsiteX17" fmla="*/ 1309493 w 1309691"/>
              <a:gd name="connsiteY17" fmla="*/ 642838 h 659615"/>
              <a:gd name="connsiteX18" fmla="*/ 1191566 w 1309691"/>
              <a:gd name="connsiteY18" fmla="*/ 632414 h 659615"/>
              <a:gd name="connsiteX19" fmla="*/ 1083212 w 1309691"/>
              <a:gd name="connsiteY19" fmla="*/ 599958 h 659615"/>
              <a:gd name="connsiteX20" fmla="*/ 979498 w 1309691"/>
              <a:gd name="connsiteY20" fmla="*/ 543988 h 659615"/>
              <a:gd name="connsiteX21" fmla="*/ 877508 w 1309691"/>
              <a:gd name="connsiteY21" fmla="*/ 465867 h 659615"/>
              <a:gd name="connsiteX22" fmla="*/ 852293 w 1309691"/>
              <a:gd name="connsiteY22" fmla="*/ 443657 h 659615"/>
              <a:gd name="connsiteX23" fmla="*/ 827138 w 1309691"/>
              <a:gd name="connsiteY23" fmla="*/ 420439 h 659615"/>
              <a:gd name="connsiteX24" fmla="*/ 814530 w 1309691"/>
              <a:gd name="connsiteY24" fmla="*/ 408594 h 659615"/>
              <a:gd name="connsiteX25" fmla="*/ 802042 w 1309691"/>
              <a:gd name="connsiteY25" fmla="*/ 396452 h 659615"/>
              <a:gd name="connsiteX26" fmla="*/ 777005 w 1309691"/>
              <a:gd name="connsiteY26" fmla="*/ 372051 h 659615"/>
              <a:gd name="connsiteX27" fmla="*/ 748281 w 1309691"/>
              <a:gd name="connsiteY27" fmla="*/ 344036 h 659615"/>
              <a:gd name="connsiteX28" fmla="*/ 733890 w 1309691"/>
              <a:gd name="connsiteY28" fmla="*/ 329999 h 659615"/>
              <a:gd name="connsiteX29" fmla="*/ 718963 w 1309691"/>
              <a:gd name="connsiteY29" fmla="*/ 316140 h 659615"/>
              <a:gd name="connsiteX30" fmla="*/ 688931 w 1309691"/>
              <a:gd name="connsiteY30" fmla="*/ 288422 h 659615"/>
              <a:gd name="connsiteX31" fmla="*/ 657769 w 1309691"/>
              <a:gd name="connsiteY31" fmla="*/ 261058 h 659615"/>
              <a:gd name="connsiteX32" fmla="*/ 520989 w 1309691"/>
              <a:gd name="connsiteY32" fmla="*/ 156759 h 659615"/>
              <a:gd name="connsiteX33" fmla="*/ 360422 w 1309691"/>
              <a:gd name="connsiteY33" fmla="*/ 70228 h 659615"/>
              <a:gd name="connsiteX34" fmla="*/ 181063 w 1309691"/>
              <a:gd name="connsiteY34" fmla="*/ 16508 h 659615"/>
              <a:gd name="connsiteX35" fmla="*/ -199 w 1309691"/>
              <a:gd name="connsiteY35" fmla="*/ 102 h 659615"/>
              <a:gd name="connsiteX36" fmla="*/ -199 w 1309691"/>
              <a:gd name="connsiteY36" fmla="*/ 16745 h 659615"/>
              <a:gd name="connsiteX37" fmla="*/ 178209 w 1309691"/>
              <a:gd name="connsiteY37" fmla="*/ 32737 h 659615"/>
              <a:gd name="connsiteX38" fmla="*/ 354119 w 1309691"/>
              <a:gd name="connsiteY38" fmla="*/ 85627 h 6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691" h="659615">
                <a:moveTo>
                  <a:pt x="354119" y="85627"/>
                </a:moveTo>
                <a:cubicBezTo>
                  <a:pt x="409235" y="109136"/>
                  <a:pt x="462085" y="137604"/>
                  <a:pt x="512010" y="170677"/>
                </a:cubicBezTo>
                <a:cubicBezTo>
                  <a:pt x="558978" y="202340"/>
                  <a:pt x="604014" y="236752"/>
                  <a:pt x="646886" y="273733"/>
                </a:cubicBezTo>
                <a:lnTo>
                  <a:pt x="677751" y="300859"/>
                </a:lnTo>
                <a:cubicBezTo>
                  <a:pt x="687920" y="309980"/>
                  <a:pt x="697613" y="319220"/>
                  <a:pt x="707485" y="328400"/>
                </a:cubicBezTo>
                <a:lnTo>
                  <a:pt x="722293" y="342141"/>
                </a:lnTo>
                <a:lnTo>
                  <a:pt x="736625" y="356059"/>
                </a:lnTo>
                <a:lnTo>
                  <a:pt x="765111" y="383896"/>
                </a:lnTo>
                <a:lnTo>
                  <a:pt x="790326" y="408476"/>
                </a:lnTo>
                <a:lnTo>
                  <a:pt x="802933" y="420736"/>
                </a:lnTo>
                <a:lnTo>
                  <a:pt x="815660" y="432581"/>
                </a:lnTo>
                <a:cubicBezTo>
                  <a:pt x="824164" y="440399"/>
                  <a:pt x="832549" y="448454"/>
                  <a:pt x="841053" y="456272"/>
                </a:cubicBezTo>
                <a:lnTo>
                  <a:pt x="866625" y="478719"/>
                </a:lnTo>
                <a:cubicBezTo>
                  <a:pt x="899630" y="507171"/>
                  <a:pt x="934242" y="533691"/>
                  <a:pt x="970280" y="558143"/>
                </a:cubicBezTo>
                <a:cubicBezTo>
                  <a:pt x="1003940" y="580458"/>
                  <a:pt x="1039562" y="599668"/>
                  <a:pt x="1076730" y="615535"/>
                </a:cubicBezTo>
                <a:cubicBezTo>
                  <a:pt x="1112590" y="630896"/>
                  <a:pt x="1150115" y="642143"/>
                  <a:pt x="1188533" y="649057"/>
                </a:cubicBezTo>
                <a:cubicBezTo>
                  <a:pt x="1228496" y="656002"/>
                  <a:pt x="1268935" y="659568"/>
                  <a:pt x="1309493" y="659718"/>
                </a:cubicBezTo>
                <a:lnTo>
                  <a:pt x="1309493" y="642838"/>
                </a:lnTo>
                <a:cubicBezTo>
                  <a:pt x="1269946" y="642690"/>
                  <a:pt x="1230517" y="639203"/>
                  <a:pt x="1191566" y="632414"/>
                </a:cubicBezTo>
                <a:cubicBezTo>
                  <a:pt x="1154338" y="625738"/>
                  <a:pt x="1118002" y="614848"/>
                  <a:pt x="1083212" y="599958"/>
                </a:cubicBezTo>
                <a:cubicBezTo>
                  <a:pt x="1046995" y="584466"/>
                  <a:pt x="1012325" y="565732"/>
                  <a:pt x="979498" y="543988"/>
                </a:cubicBezTo>
                <a:cubicBezTo>
                  <a:pt x="943995" y="519936"/>
                  <a:pt x="909978" y="493851"/>
                  <a:pt x="877508" y="465867"/>
                </a:cubicBezTo>
                <a:lnTo>
                  <a:pt x="852293" y="443657"/>
                </a:lnTo>
                <a:cubicBezTo>
                  <a:pt x="843908" y="436135"/>
                  <a:pt x="835523" y="428139"/>
                  <a:pt x="827138" y="420439"/>
                </a:cubicBezTo>
                <a:lnTo>
                  <a:pt x="814530" y="408594"/>
                </a:lnTo>
                <a:lnTo>
                  <a:pt x="802042" y="396452"/>
                </a:lnTo>
                <a:lnTo>
                  <a:pt x="777005" y="372051"/>
                </a:lnTo>
                <a:lnTo>
                  <a:pt x="748281" y="344036"/>
                </a:lnTo>
                <a:lnTo>
                  <a:pt x="733890" y="329999"/>
                </a:lnTo>
                <a:lnTo>
                  <a:pt x="718963" y="316140"/>
                </a:lnTo>
                <a:cubicBezTo>
                  <a:pt x="708913" y="306900"/>
                  <a:pt x="699219" y="297602"/>
                  <a:pt x="688931" y="288422"/>
                </a:cubicBezTo>
                <a:lnTo>
                  <a:pt x="657769" y="261058"/>
                </a:lnTo>
                <a:cubicBezTo>
                  <a:pt x="614314" y="223594"/>
                  <a:pt x="568642" y="188764"/>
                  <a:pt x="520989" y="156759"/>
                </a:cubicBezTo>
                <a:cubicBezTo>
                  <a:pt x="470244" y="123077"/>
                  <a:pt x="416496" y="94112"/>
                  <a:pt x="360422" y="70228"/>
                </a:cubicBezTo>
                <a:cubicBezTo>
                  <a:pt x="302838" y="45707"/>
                  <a:pt x="242673" y="27688"/>
                  <a:pt x="181063" y="16508"/>
                </a:cubicBezTo>
                <a:cubicBezTo>
                  <a:pt x="121237" y="5794"/>
                  <a:pt x="60584" y="304"/>
                  <a:pt x="-199" y="102"/>
                </a:cubicBezTo>
                <a:lnTo>
                  <a:pt x="-199" y="16745"/>
                </a:lnTo>
                <a:cubicBezTo>
                  <a:pt x="59627" y="16876"/>
                  <a:pt x="119322" y="22226"/>
                  <a:pt x="178209" y="32737"/>
                </a:cubicBezTo>
                <a:cubicBezTo>
                  <a:pt x="238629" y="43841"/>
                  <a:pt x="297623" y="61579"/>
                  <a:pt x="354119" y="85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77" name="Freeform: Shape 176">
            <a:extLst>
              <a:ext uri="{FF2B5EF4-FFF2-40B4-BE49-F238E27FC236}">
                <a16:creationId xmlns:a16="http://schemas.microsoft.com/office/drawing/2014/main" id="{8C11BACB-9510-2A0B-0509-C300A4653A97}"/>
              </a:ext>
            </a:extLst>
          </p:cNvPr>
          <p:cNvSpPr/>
          <p:nvPr/>
        </p:nvSpPr>
        <p:spPr>
          <a:xfrm>
            <a:off x="4132591" y="3652516"/>
            <a:ext cx="1309692" cy="659378"/>
          </a:xfrm>
          <a:custGeom>
            <a:avLst/>
            <a:gdLst>
              <a:gd name="connsiteX0" fmla="*/ 117669 w 1309692"/>
              <a:gd name="connsiteY0" fmla="*/ 27229 h 659378"/>
              <a:gd name="connsiteX1" fmla="*/ 225903 w 1309692"/>
              <a:gd name="connsiteY1" fmla="*/ 59685 h 659378"/>
              <a:gd name="connsiteX2" fmla="*/ 329618 w 1309692"/>
              <a:gd name="connsiteY2" fmla="*/ 115714 h 659378"/>
              <a:gd name="connsiteX3" fmla="*/ 431548 w 1309692"/>
              <a:gd name="connsiteY3" fmla="*/ 193954 h 659378"/>
              <a:gd name="connsiteX4" fmla="*/ 456882 w 1309692"/>
              <a:gd name="connsiteY4" fmla="*/ 216105 h 659378"/>
              <a:gd name="connsiteX5" fmla="*/ 482037 w 1309692"/>
              <a:gd name="connsiteY5" fmla="*/ 239381 h 659378"/>
              <a:gd name="connsiteX6" fmla="*/ 494645 w 1309692"/>
              <a:gd name="connsiteY6" fmla="*/ 251227 h 659378"/>
              <a:gd name="connsiteX7" fmla="*/ 507312 w 1309692"/>
              <a:gd name="connsiteY7" fmla="*/ 263191 h 659378"/>
              <a:gd name="connsiteX8" fmla="*/ 532230 w 1309692"/>
              <a:gd name="connsiteY8" fmla="*/ 287829 h 659378"/>
              <a:gd name="connsiteX9" fmla="*/ 560834 w 1309692"/>
              <a:gd name="connsiteY9" fmla="*/ 315666 h 659378"/>
              <a:gd name="connsiteX10" fmla="*/ 575226 w 1309692"/>
              <a:gd name="connsiteY10" fmla="*/ 329644 h 659378"/>
              <a:gd name="connsiteX11" fmla="*/ 590569 w 1309692"/>
              <a:gd name="connsiteY11" fmla="*/ 343562 h 659378"/>
              <a:gd name="connsiteX12" fmla="*/ 620304 w 1309692"/>
              <a:gd name="connsiteY12" fmla="*/ 371221 h 659378"/>
              <a:gd name="connsiteX13" fmla="*/ 651465 w 1309692"/>
              <a:gd name="connsiteY13" fmla="*/ 398585 h 659378"/>
              <a:gd name="connsiteX14" fmla="*/ 788245 w 1309692"/>
              <a:gd name="connsiteY14" fmla="*/ 502884 h 659378"/>
              <a:gd name="connsiteX15" fmla="*/ 948812 w 1309692"/>
              <a:gd name="connsiteY15" fmla="*/ 589297 h 659378"/>
              <a:gd name="connsiteX16" fmla="*/ 1128052 w 1309692"/>
              <a:gd name="connsiteY16" fmla="*/ 643194 h 659378"/>
              <a:gd name="connsiteX17" fmla="*/ 1309493 w 1309692"/>
              <a:gd name="connsiteY17" fmla="*/ 659481 h 659378"/>
              <a:gd name="connsiteX18" fmla="*/ 1309493 w 1309692"/>
              <a:gd name="connsiteY18" fmla="*/ 642898 h 659378"/>
              <a:gd name="connsiteX19" fmla="*/ 1131085 w 1309692"/>
              <a:gd name="connsiteY19" fmla="*/ 626906 h 659378"/>
              <a:gd name="connsiteX20" fmla="*/ 955175 w 1309692"/>
              <a:gd name="connsiteY20" fmla="*/ 574194 h 659378"/>
              <a:gd name="connsiteX21" fmla="*/ 797284 w 1309692"/>
              <a:gd name="connsiteY21" fmla="*/ 489202 h 659378"/>
              <a:gd name="connsiteX22" fmla="*/ 662408 w 1309692"/>
              <a:gd name="connsiteY22" fmla="*/ 386088 h 659378"/>
              <a:gd name="connsiteX23" fmla="*/ 631484 w 1309692"/>
              <a:gd name="connsiteY23" fmla="*/ 358902 h 659378"/>
              <a:gd name="connsiteX24" fmla="*/ 601749 w 1309692"/>
              <a:gd name="connsiteY24" fmla="*/ 331421 h 659378"/>
              <a:gd name="connsiteX25" fmla="*/ 586882 w 1309692"/>
              <a:gd name="connsiteY25" fmla="*/ 317443 h 659378"/>
              <a:gd name="connsiteX26" fmla="*/ 572728 w 1309692"/>
              <a:gd name="connsiteY26" fmla="*/ 303702 h 659378"/>
              <a:gd name="connsiteX27" fmla="*/ 544004 w 1309692"/>
              <a:gd name="connsiteY27" fmla="*/ 275984 h 659378"/>
              <a:gd name="connsiteX28" fmla="*/ 518789 w 1309692"/>
              <a:gd name="connsiteY28" fmla="*/ 251345 h 659378"/>
              <a:gd name="connsiteX29" fmla="*/ 506182 w 1309692"/>
              <a:gd name="connsiteY29" fmla="*/ 239085 h 659378"/>
              <a:gd name="connsiteX30" fmla="*/ 493455 w 1309692"/>
              <a:gd name="connsiteY30" fmla="*/ 227240 h 659378"/>
              <a:gd name="connsiteX31" fmla="*/ 468062 w 1309692"/>
              <a:gd name="connsiteY31" fmla="*/ 203549 h 659378"/>
              <a:gd name="connsiteX32" fmla="*/ 442490 w 1309692"/>
              <a:gd name="connsiteY32" fmla="*/ 181220 h 659378"/>
              <a:gd name="connsiteX33" fmla="*/ 338835 w 1309692"/>
              <a:gd name="connsiteY33" fmla="*/ 101737 h 659378"/>
              <a:gd name="connsiteX34" fmla="*/ 232445 w 1309692"/>
              <a:gd name="connsiteY34" fmla="*/ 44286 h 659378"/>
              <a:gd name="connsiteX35" fmla="*/ 120761 w 1309692"/>
              <a:gd name="connsiteY35" fmla="*/ 10823 h 659378"/>
              <a:gd name="connsiteX36" fmla="*/ -199 w 1309692"/>
              <a:gd name="connsiteY36" fmla="*/ 102 h 659378"/>
              <a:gd name="connsiteX37" fmla="*/ -199 w 1309692"/>
              <a:gd name="connsiteY37" fmla="*/ 16745 h 659378"/>
              <a:gd name="connsiteX38" fmla="*/ 117669 w 1309692"/>
              <a:gd name="connsiteY38" fmla="*/ 27229 h 65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692" h="659378">
                <a:moveTo>
                  <a:pt x="117669" y="27229"/>
                </a:moveTo>
                <a:cubicBezTo>
                  <a:pt x="154873" y="33905"/>
                  <a:pt x="191185" y="44795"/>
                  <a:pt x="225903" y="59685"/>
                </a:cubicBezTo>
                <a:cubicBezTo>
                  <a:pt x="262096" y="75222"/>
                  <a:pt x="296809" y="93974"/>
                  <a:pt x="329618" y="115714"/>
                </a:cubicBezTo>
                <a:cubicBezTo>
                  <a:pt x="365109" y="139776"/>
                  <a:pt x="399143" y="165901"/>
                  <a:pt x="431548" y="193954"/>
                </a:cubicBezTo>
                <a:lnTo>
                  <a:pt x="456882" y="216105"/>
                </a:lnTo>
                <a:cubicBezTo>
                  <a:pt x="465327" y="223627"/>
                  <a:pt x="473652" y="231622"/>
                  <a:pt x="482037" y="239381"/>
                </a:cubicBezTo>
                <a:lnTo>
                  <a:pt x="494645" y="251227"/>
                </a:lnTo>
                <a:lnTo>
                  <a:pt x="507312" y="263191"/>
                </a:lnTo>
                <a:lnTo>
                  <a:pt x="532230" y="287829"/>
                </a:lnTo>
                <a:lnTo>
                  <a:pt x="560834" y="315666"/>
                </a:lnTo>
                <a:lnTo>
                  <a:pt x="575226" y="329644"/>
                </a:lnTo>
                <a:lnTo>
                  <a:pt x="590569" y="343562"/>
                </a:lnTo>
                <a:cubicBezTo>
                  <a:pt x="600619" y="352743"/>
                  <a:pt x="610313" y="362041"/>
                  <a:pt x="620304" y="371221"/>
                </a:cubicBezTo>
                <a:lnTo>
                  <a:pt x="651465" y="398585"/>
                </a:lnTo>
                <a:cubicBezTo>
                  <a:pt x="694937" y="436020"/>
                  <a:pt x="740610" y="470848"/>
                  <a:pt x="788245" y="502884"/>
                </a:cubicBezTo>
                <a:cubicBezTo>
                  <a:pt x="839032" y="536512"/>
                  <a:pt x="892733" y="565437"/>
                  <a:pt x="948812" y="589297"/>
                </a:cubicBezTo>
                <a:cubicBezTo>
                  <a:pt x="1006378" y="613830"/>
                  <a:pt x="1066502" y="631907"/>
                  <a:pt x="1128052" y="643194"/>
                </a:cubicBezTo>
                <a:cubicBezTo>
                  <a:pt x="1187938" y="653909"/>
                  <a:pt x="1248656" y="659360"/>
                  <a:pt x="1309493" y="659481"/>
                </a:cubicBezTo>
                <a:lnTo>
                  <a:pt x="1309493" y="642898"/>
                </a:lnTo>
                <a:cubicBezTo>
                  <a:pt x="1249667" y="642741"/>
                  <a:pt x="1189960" y="637391"/>
                  <a:pt x="1131085" y="626906"/>
                </a:cubicBezTo>
                <a:cubicBezTo>
                  <a:pt x="1070664" y="615914"/>
                  <a:pt x="1011671" y="598234"/>
                  <a:pt x="955175" y="574194"/>
                </a:cubicBezTo>
                <a:cubicBezTo>
                  <a:pt x="900047" y="550715"/>
                  <a:pt x="847179" y="522266"/>
                  <a:pt x="797284" y="489202"/>
                </a:cubicBezTo>
                <a:cubicBezTo>
                  <a:pt x="750303" y="457535"/>
                  <a:pt x="705285" y="423102"/>
                  <a:pt x="662408" y="386088"/>
                </a:cubicBezTo>
                <a:lnTo>
                  <a:pt x="631484" y="358902"/>
                </a:lnTo>
                <a:cubicBezTo>
                  <a:pt x="621314" y="349840"/>
                  <a:pt x="611621" y="340542"/>
                  <a:pt x="601749" y="331421"/>
                </a:cubicBezTo>
                <a:lnTo>
                  <a:pt x="586882" y="317443"/>
                </a:lnTo>
                <a:lnTo>
                  <a:pt x="572728" y="303702"/>
                </a:lnTo>
                <a:lnTo>
                  <a:pt x="544004" y="275984"/>
                </a:lnTo>
                <a:lnTo>
                  <a:pt x="518789" y="251345"/>
                </a:lnTo>
                <a:lnTo>
                  <a:pt x="506182" y="239085"/>
                </a:lnTo>
                <a:lnTo>
                  <a:pt x="493455" y="227240"/>
                </a:lnTo>
                <a:cubicBezTo>
                  <a:pt x="485011" y="219422"/>
                  <a:pt x="476566" y="211307"/>
                  <a:pt x="468062" y="203549"/>
                </a:cubicBezTo>
                <a:lnTo>
                  <a:pt x="442490" y="181220"/>
                </a:lnTo>
                <a:cubicBezTo>
                  <a:pt x="409515" y="152749"/>
                  <a:pt x="374903" y="126210"/>
                  <a:pt x="338835" y="101737"/>
                </a:cubicBezTo>
                <a:cubicBezTo>
                  <a:pt x="305182" y="79439"/>
                  <a:pt x="269572" y="60211"/>
                  <a:pt x="232445" y="44286"/>
                </a:cubicBezTo>
                <a:cubicBezTo>
                  <a:pt x="196615" y="28941"/>
                  <a:pt x="159143" y="17714"/>
                  <a:pt x="120761" y="10823"/>
                </a:cubicBezTo>
                <a:cubicBezTo>
                  <a:pt x="80822" y="3828"/>
                  <a:pt x="40353" y="242"/>
                  <a:pt x="-199" y="102"/>
                </a:cubicBezTo>
                <a:lnTo>
                  <a:pt x="-199" y="16745"/>
                </a:lnTo>
                <a:cubicBezTo>
                  <a:pt x="39318" y="16887"/>
                  <a:pt x="78752" y="20394"/>
                  <a:pt x="117669" y="27229"/>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78" name="Freeform: Shape 177">
            <a:extLst>
              <a:ext uri="{FF2B5EF4-FFF2-40B4-BE49-F238E27FC236}">
                <a16:creationId xmlns:a16="http://schemas.microsoft.com/office/drawing/2014/main" id="{34A90DA2-541D-F35B-B8FC-E23BA8305633}"/>
              </a:ext>
            </a:extLst>
          </p:cNvPr>
          <p:cNvSpPr/>
          <p:nvPr/>
        </p:nvSpPr>
        <p:spPr>
          <a:xfrm>
            <a:off x="5954531" y="3890905"/>
            <a:ext cx="65206" cy="58689"/>
          </a:xfrm>
          <a:custGeom>
            <a:avLst/>
            <a:gdLst>
              <a:gd name="connsiteX0" fmla="*/ 52571 w 65206"/>
              <a:gd name="connsiteY0" fmla="*/ 1111 h 58689"/>
              <a:gd name="connsiteX1" fmla="*/ 27177 w 65206"/>
              <a:gd name="connsiteY1" fmla="*/ 23440 h 58689"/>
              <a:gd name="connsiteX2" fmla="*/ 1249 w 65206"/>
              <a:gd name="connsiteY2" fmla="*/ 45058 h 58689"/>
              <a:gd name="connsiteX3" fmla="*/ 416 w 65206"/>
              <a:gd name="connsiteY3" fmla="*/ 49737 h 58689"/>
              <a:gd name="connsiteX4" fmla="*/ 7017 w 65206"/>
              <a:gd name="connsiteY4" fmla="*/ 57791 h 58689"/>
              <a:gd name="connsiteX5" fmla="*/ 11835 w 65206"/>
              <a:gd name="connsiteY5" fmla="*/ 57815 h 58689"/>
              <a:gd name="connsiteX6" fmla="*/ 11835 w 65206"/>
              <a:gd name="connsiteY6" fmla="*/ 57791 h 58689"/>
              <a:gd name="connsiteX7" fmla="*/ 38060 w 65206"/>
              <a:gd name="connsiteY7" fmla="*/ 35937 h 58689"/>
              <a:gd name="connsiteX8" fmla="*/ 63692 w 65206"/>
              <a:gd name="connsiteY8" fmla="*/ 13430 h 58689"/>
              <a:gd name="connsiteX9" fmla="*/ 64346 w 65206"/>
              <a:gd name="connsiteY9" fmla="*/ 8751 h 58689"/>
              <a:gd name="connsiteX10" fmla="*/ 57328 w 65206"/>
              <a:gd name="connsiteY10" fmla="*/ 992 h 58689"/>
              <a:gd name="connsiteX11" fmla="*/ 52571 w 65206"/>
              <a:gd name="connsiteY11" fmla="*/ 1111 h 5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206" h="58689">
                <a:moveTo>
                  <a:pt x="52571" y="1111"/>
                </a:moveTo>
                <a:lnTo>
                  <a:pt x="27177" y="23440"/>
                </a:lnTo>
                <a:cubicBezTo>
                  <a:pt x="18792" y="30961"/>
                  <a:pt x="9872" y="37832"/>
                  <a:pt x="1249" y="45058"/>
                </a:cubicBezTo>
                <a:cubicBezTo>
                  <a:pt x="-297" y="46126"/>
                  <a:pt x="-655" y="48213"/>
                  <a:pt x="416" y="49737"/>
                </a:cubicBezTo>
                <a:lnTo>
                  <a:pt x="7017" y="57791"/>
                </a:lnTo>
                <a:cubicBezTo>
                  <a:pt x="8325" y="59116"/>
                  <a:pt x="10466" y="59127"/>
                  <a:pt x="11835" y="57815"/>
                </a:cubicBezTo>
                <a:cubicBezTo>
                  <a:pt x="11835" y="57807"/>
                  <a:pt x="11835" y="57799"/>
                  <a:pt x="11835" y="57791"/>
                </a:cubicBezTo>
                <a:cubicBezTo>
                  <a:pt x="20576" y="50506"/>
                  <a:pt x="29675" y="43577"/>
                  <a:pt x="38060" y="35937"/>
                </a:cubicBezTo>
                <a:lnTo>
                  <a:pt x="63692" y="13430"/>
                </a:lnTo>
                <a:cubicBezTo>
                  <a:pt x="65178" y="12307"/>
                  <a:pt x="65416" y="10228"/>
                  <a:pt x="64346" y="8751"/>
                </a:cubicBezTo>
                <a:lnTo>
                  <a:pt x="57328" y="992"/>
                </a:lnTo>
                <a:cubicBezTo>
                  <a:pt x="55960" y="-239"/>
                  <a:pt x="53879" y="-186"/>
                  <a:pt x="52571" y="1111"/>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79" name="Freeform: Shape 178">
            <a:extLst>
              <a:ext uri="{FF2B5EF4-FFF2-40B4-BE49-F238E27FC236}">
                <a16:creationId xmlns:a16="http://schemas.microsoft.com/office/drawing/2014/main" id="{535AA620-C576-5F1A-B164-D69609F40C72}"/>
              </a:ext>
            </a:extLst>
          </p:cNvPr>
          <p:cNvSpPr/>
          <p:nvPr/>
        </p:nvSpPr>
        <p:spPr>
          <a:xfrm>
            <a:off x="5833110" y="3984902"/>
            <a:ext cx="69419" cy="52524"/>
          </a:xfrm>
          <a:custGeom>
            <a:avLst/>
            <a:gdLst>
              <a:gd name="connsiteX0" fmla="*/ 57789 w 69419"/>
              <a:gd name="connsiteY0" fmla="*/ 870 h 52524"/>
              <a:gd name="connsiteX1" fmla="*/ 30135 w 69419"/>
              <a:gd name="connsiteY1" fmla="*/ 20001 h 52524"/>
              <a:gd name="connsiteX2" fmla="*/ 1590 w 69419"/>
              <a:gd name="connsiteY2" fmla="*/ 37769 h 52524"/>
              <a:gd name="connsiteX3" fmla="*/ 163 w 69419"/>
              <a:gd name="connsiteY3" fmla="*/ 42330 h 52524"/>
              <a:gd name="connsiteX4" fmla="*/ 5574 w 69419"/>
              <a:gd name="connsiteY4" fmla="*/ 51214 h 52524"/>
              <a:gd name="connsiteX5" fmla="*/ 10213 w 69419"/>
              <a:gd name="connsiteY5" fmla="*/ 52026 h 52524"/>
              <a:gd name="connsiteX6" fmla="*/ 10273 w 69419"/>
              <a:gd name="connsiteY6" fmla="*/ 51984 h 52524"/>
              <a:gd name="connsiteX7" fmla="*/ 39353 w 69419"/>
              <a:gd name="connsiteY7" fmla="*/ 33742 h 52524"/>
              <a:gd name="connsiteX8" fmla="*/ 67542 w 69419"/>
              <a:gd name="connsiteY8" fmla="*/ 14670 h 52524"/>
              <a:gd name="connsiteX9" fmla="*/ 68790 w 69419"/>
              <a:gd name="connsiteY9" fmla="*/ 10147 h 52524"/>
              <a:gd name="connsiteX10" fmla="*/ 68731 w 69419"/>
              <a:gd name="connsiteY10" fmla="*/ 10051 h 52524"/>
              <a:gd name="connsiteX11" fmla="*/ 62784 w 69419"/>
              <a:gd name="connsiteY11" fmla="*/ 1640 h 52524"/>
              <a:gd name="connsiteX12" fmla="*/ 58086 w 69419"/>
              <a:gd name="connsiteY12" fmla="*/ 647 h 52524"/>
              <a:gd name="connsiteX13" fmla="*/ 57789 w 69419"/>
              <a:gd name="connsiteY13" fmla="*/ 870 h 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419" h="52524">
                <a:moveTo>
                  <a:pt x="57789" y="870"/>
                </a:moveTo>
                <a:lnTo>
                  <a:pt x="30135" y="20001"/>
                </a:lnTo>
                <a:cubicBezTo>
                  <a:pt x="20680" y="25924"/>
                  <a:pt x="11105" y="31846"/>
                  <a:pt x="1590" y="37769"/>
                </a:cubicBezTo>
                <a:cubicBezTo>
                  <a:pt x="-15" y="38657"/>
                  <a:pt x="-669" y="40675"/>
                  <a:pt x="163" y="42330"/>
                </a:cubicBezTo>
                <a:lnTo>
                  <a:pt x="5574" y="51214"/>
                </a:lnTo>
                <a:cubicBezTo>
                  <a:pt x="6645" y="52714"/>
                  <a:pt x="8726" y="53078"/>
                  <a:pt x="10213" y="52026"/>
                </a:cubicBezTo>
                <a:cubicBezTo>
                  <a:pt x="10213" y="52012"/>
                  <a:pt x="10273" y="51998"/>
                  <a:pt x="10273" y="51984"/>
                </a:cubicBezTo>
                <a:cubicBezTo>
                  <a:pt x="19966" y="46061"/>
                  <a:pt x="29719" y="40138"/>
                  <a:pt x="39353" y="33742"/>
                </a:cubicBezTo>
                <a:lnTo>
                  <a:pt x="67542" y="14670"/>
                </a:lnTo>
                <a:cubicBezTo>
                  <a:pt x="69148" y="13764"/>
                  <a:pt x="69683" y="11739"/>
                  <a:pt x="68790" y="10147"/>
                </a:cubicBezTo>
                <a:cubicBezTo>
                  <a:pt x="68790" y="10115"/>
                  <a:pt x="68731" y="10083"/>
                  <a:pt x="68731" y="10051"/>
                </a:cubicBezTo>
                <a:lnTo>
                  <a:pt x="62784" y="1640"/>
                </a:lnTo>
                <a:cubicBezTo>
                  <a:pt x="61773" y="77"/>
                  <a:pt x="59692" y="-368"/>
                  <a:pt x="58086" y="647"/>
                </a:cubicBezTo>
                <a:cubicBezTo>
                  <a:pt x="57967" y="716"/>
                  <a:pt x="57908" y="790"/>
                  <a:pt x="57789" y="870"/>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0" name="Freeform: Shape 179">
            <a:extLst>
              <a:ext uri="{FF2B5EF4-FFF2-40B4-BE49-F238E27FC236}">
                <a16:creationId xmlns:a16="http://schemas.microsoft.com/office/drawing/2014/main" id="{903AF207-8ADF-E7D3-56C8-AB3F1B6F80F8}"/>
              </a:ext>
            </a:extLst>
          </p:cNvPr>
          <p:cNvSpPr/>
          <p:nvPr/>
        </p:nvSpPr>
        <p:spPr>
          <a:xfrm>
            <a:off x="5698954" y="4061075"/>
            <a:ext cx="73630" cy="42423"/>
          </a:xfrm>
          <a:custGeom>
            <a:avLst/>
            <a:gdLst>
              <a:gd name="connsiteX0" fmla="*/ 64086 w 73630"/>
              <a:gd name="connsiteY0" fmla="*/ 568 h 42423"/>
              <a:gd name="connsiteX1" fmla="*/ 48921 w 73630"/>
              <a:gd name="connsiteY1" fmla="*/ 7853 h 42423"/>
              <a:gd name="connsiteX2" fmla="*/ 33459 w 73630"/>
              <a:gd name="connsiteY2" fmla="*/ 14309 h 42423"/>
              <a:gd name="connsiteX3" fmla="*/ 17937 w 73630"/>
              <a:gd name="connsiteY3" fmla="*/ 20705 h 42423"/>
              <a:gd name="connsiteX4" fmla="*/ 2237 w 73630"/>
              <a:gd name="connsiteY4" fmla="*/ 26628 h 42423"/>
              <a:gd name="connsiteX5" fmla="*/ -82 w 73630"/>
              <a:gd name="connsiteY5" fmla="*/ 30709 h 42423"/>
              <a:gd name="connsiteX6" fmla="*/ -82 w 73630"/>
              <a:gd name="connsiteY6" fmla="*/ 30715 h 42423"/>
              <a:gd name="connsiteX7" fmla="*/ 3427 w 73630"/>
              <a:gd name="connsiteY7" fmla="*/ 40487 h 42423"/>
              <a:gd name="connsiteX8" fmla="*/ 7947 w 73630"/>
              <a:gd name="connsiteY8" fmla="*/ 42264 h 42423"/>
              <a:gd name="connsiteX9" fmla="*/ 24003 w 73630"/>
              <a:gd name="connsiteY9" fmla="*/ 36045 h 42423"/>
              <a:gd name="connsiteX10" fmla="*/ 39941 w 73630"/>
              <a:gd name="connsiteY10" fmla="*/ 29530 h 42423"/>
              <a:gd name="connsiteX11" fmla="*/ 55819 w 73630"/>
              <a:gd name="connsiteY11" fmla="*/ 22897 h 42423"/>
              <a:gd name="connsiteX12" fmla="*/ 71281 w 73630"/>
              <a:gd name="connsiteY12" fmla="*/ 15493 h 42423"/>
              <a:gd name="connsiteX13" fmla="*/ 73185 w 73630"/>
              <a:gd name="connsiteY13" fmla="*/ 11112 h 42423"/>
              <a:gd name="connsiteX14" fmla="*/ 73185 w 73630"/>
              <a:gd name="connsiteY14" fmla="*/ 11111 h 42423"/>
              <a:gd name="connsiteX15" fmla="*/ 68665 w 73630"/>
              <a:gd name="connsiteY15" fmla="*/ 1753 h 42423"/>
              <a:gd name="connsiteX16" fmla="*/ 64086 w 73630"/>
              <a:gd name="connsiteY16" fmla="*/ 553 h 42423"/>
              <a:gd name="connsiteX17" fmla="*/ 64086 w 73630"/>
              <a:gd name="connsiteY17" fmla="*/ 568 h 4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630" h="42423">
                <a:moveTo>
                  <a:pt x="64086" y="568"/>
                </a:moveTo>
                <a:lnTo>
                  <a:pt x="48921" y="7853"/>
                </a:lnTo>
                <a:cubicBezTo>
                  <a:pt x="43806" y="10163"/>
                  <a:pt x="38633" y="12117"/>
                  <a:pt x="33459" y="14309"/>
                </a:cubicBezTo>
                <a:lnTo>
                  <a:pt x="17937" y="20705"/>
                </a:lnTo>
                <a:cubicBezTo>
                  <a:pt x="12704" y="22778"/>
                  <a:pt x="7590" y="25088"/>
                  <a:pt x="2237" y="26628"/>
                </a:cubicBezTo>
                <a:cubicBezTo>
                  <a:pt x="454" y="27117"/>
                  <a:pt x="-558" y="28945"/>
                  <a:pt x="-82" y="30709"/>
                </a:cubicBezTo>
                <a:cubicBezTo>
                  <a:pt x="-82" y="30711"/>
                  <a:pt x="-82" y="30713"/>
                  <a:pt x="-82" y="30715"/>
                </a:cubicBezTo>
                <a:lnTo>
                  <a:pt x="3427" y="40487"/>
                </a:lnTo>
                <a:cubicBezTo>
                  <a:pt x="4200" y="42191"/>
                  <a:pt x="6222" y="42975"/>
                  <a:pt x="7947" y="42264"/>
                </a:cubicBezTo>
                <a:cubicBezTo>
                  <a:pt x="13477" y="40547"/>
                  <a:pt x="18710" y="38237"/>
                  <a:pt x="24003" y="36045"/>
                </a:cubicBezTo>
                <a:lnTo>
                  <a:pt x="39941" y="29530"/>
                </a:lnTo>
                <a:cubicBezTo>
                  <a:pt x="45175" y="27339"/>
                  <a:pt x="50586" y="25266"/>
                  <a:pt x="55819" y="22897"/>
                </a:cubicBezTo>
                <a:lnTo>
                  <a:pt x="71281" y="15493"/>
                </a:lnTo>
                <a:cubicBezTo>
                  <a:pt x="73006" y="14807"/>
                  <a:pt x="73898" y="12845"/>
                  <a:pt x="73185" y="11112"/>
                </a:cubicBezTo>
                <a:cubicBezTo>
                  <a:pt x="73185" y="11111"/>
                  <a:pt x="73185" y="11111"/>
                  <a:pt x="73185" y="11111"/>
                </a:cubicBezTo>
                <a:lnTo>
                  <a:pt x="68665" y="1753"/>
                </a:lnTo>
                <a:cubicBezTo>
                  <a:pt x="67713" y="169"/>
                  <a:pt x="65691" y="-368"/>
                  <a:pt x="64086" y="553"/>
                </a:cubicBezTo>
                <a:cubicBezTo>
                  <a:pt x="64086" y="558"/>
                  <a:pt x="64086" y="563"/>
                  <a:pt x="64086" y="56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1" name="Freeform: Shape 180">
            <a:extLst>
              <a:ext uri="{FF2B5EF4-FFF2-40B4-BE49-F238E27FC236}">
                <a16:creationId xmlns:a16="http://schemas.microsoft.com/office/drawing/2014/main" id="{547FBA14-6D8B-70AB-0218-4874529DEB91}"/>
              </a:ext>
            </a:extLst>
          </p:cNvPr>
          <p:cNvSpPr/>
          <p:nvPr/>
        </p:nvSpPr>
        <p:spPr>
          <a:xfrm>
            <a:off x="5442283" y="4130162"/>
            <a:ext cx="37881" cy="17376"/>
          </a:xfrm>
          <a:custGeom>
            <a:avLst/>
            <a:gdLst>
              <a:gd name="connsiteX0" fmla="*/ 33520 w 37881"/>
              <a:gd name="connsiteY0" fmla="*/ 125 h 17376"/>
              <a:gd name="connsiteX1" fmla="*/ -199 w 37881"/>
              <a:gd name="connsiteY1" fmla="*/ 954 h 17376"/>
              <a:gd name="connsiteX2" fmla="*/ -199 w 37881"/>
              <a:gd name="connsiteY2" fmla="*/ 17479 h 17376"/>
              <a:gd name="connsiteX3" fmla="*/ 34115 w 37881"/>
              <a:gd name="connsiteY3" fmla="*/ 16591 h 17376"/>
              <a:gd name="connsiteX4" fmla="*/ 37683 w 37881"/>
              <a:gd name="connsiteY4" fmla="*/ 13333 h 17376"/>
              <a:gd name="connsiteX5" fmla="*/ 37207 w 37881"/>
              <a:gd name="connsiteY5" fmla="*/ 2968 h 17376"/>
              <a:gd name="connsiteX6" fmla="*/ 33520 w 37881"/>
              <a:gd name="connsiteY6" fmla="*/ 125 h 1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81" h="17376">
                <a:moveTo>
                  <a:pt x="33520" y="125"/>
                </a:moveTo>
                <a:lnTo>
                  <a:pt x="-199" y="954"/>
                </a:lnTo>
                <a:lnTo>
                  <a:pt x="-199" y="17479"/>
                </a:lnTo>
                <a:lnTo>
                  <a:pt x="34115" y="16591"/>
                </a:lnTo>
                <a:cubicBezTo>
                  <a:pt x="36017" y="16657"/>
                  <a:pt x="37564" y="15207"/>
                  <a:pt x="37683" y="13333"/>
                </a:cubicBezTo>
                <a:lnTo>
                  <a:pt x="37207" y="2968"/>
                </a:lnTo>
                <a:cubicBezTo>
                  <a:pt x="36969" y="1179"/>
                  <a:pt x="35304" y="-85"/>
                  <a:pt x="33520" y="12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2" name="Freeform: Shape 181">
            <a:extLst>
              <a:ext uri="{FF2B5EF4-FFF2-40B4-BE49-F238E27FC236}">
                <a16:creationId xmlns:a16="http://schemas.microsoft.com/office/drawing/2014/main" id="{A88D9AFB-F0E0-8AD5-8308-99F65FBE67C7}"/>
              </a:ext>
            </a:extLst>
          </p:cNvPr>
          <p:cNvSpPr/>
          <p:nvPr/>
        </p:nvSpPr>
        <p:spPr>
          <a:xfrm>
            <a:off x="5554137" y="4110971"/>
            <a:ext cx="75933" cy="28769"/>
          </a:xfrm>
          <a:custGeom>
            <a:avLst/>
            <a:gdLst>
              <a:gd name="connsiteX0" fmla="*/ 69090 w 75933"/>
              <a:gd name="connsiteY0" fmla="*/ 245 h 28769"/>
              <a:gd name="connsiteX1" fmla="*/ 36144 w 75933"/>
              <a:gd name="connsiteY1" fmla="*/ 7057 h 28769"/>
              <a:gd name="connsiteX2" fmla="*/ 27937 w 75933"/>
              <a:gd name="connsiteY2" fmla="*/ 8774 h 28769"/>
              <a:gd name="connsiteX3" fmla="*/ 19611 w 75933"/>
              <a:gd name="connsiteY3" fmla="*/ 9959 h 28769"/>
              <a:gd name="connsiteX4" fmla="*/ 2960 w 75933"/>
              <a:gd name="connsiteY4" fmla="*/ 12328 h 28769"/>
              <a:gd name="connsiteX5" fmla="*/ -192 w 75933"/>
              <a:gd name="connsiteY5" fmla="*/ 15941 h 28769"/>
              <a:gd name="connsiteX6" fmla="*/ 1235 w 75933"/>
              <a:gd name="connsiteY6" fmla="*/ 26187 h 28769"/>
              <a:gd name="connsiteX7" fmla="*/ 5220 w 75933"/>
              <a:gd name="connsiteY7" fmla="*/ 28799 h 28769"/>
              <a:gd name="connsiteX8" fmla="*/ 5279 w 75933"/>
              <a:gd name="connsiteY8" fmla="*/ 28793 h 28769"/>
              <a:gd name="connsiteX9" fmla="*/ 22287 w 75933"/>
              <a:gd name="connsiteY9" fmla="*/ 26365 h 28769"/>
              <a:gd name="connsiteX10" fmla="*/ 30792 w 75933"/>
              <a:gd name="connsiteY10" fmla="*/ 25121 h 28769"/>
              <a:gd name="connsiteX11" fmla="*/ 39176 w 75933"/>
              <a:gd name="connsiteY11" fmla="*/ 23403 h 28769"/>
              <a:gd name="connsiteX12" fmla="*/ 72896 w 75933"/>
              <a:gd name="connsiteY12" fmla="*/ 16474 h 28769"/>
              <a:gd name="connsiteX13" fmla="*/ 75691 w 75933"/>
              <a:gd name="connsiteY13" fmla="*/ 12709 h 28769"/>
              <a:gd name="connsiteX14" fmla="*/ 75691 w 75933"/>
              <a:gd name="connsiteY14" fmla="*/ 12624 h 28769"/>
              <a:gd name="connsiteX15" fmla="*/ 73253 w 75933"/>
              <a:gd name="connsiteY15" fmla="*/ 2496 h 28769"/>
              <a:gd name="connsiteX16" fmla="*/ 69149 w 75933"/>
              <a:gd name="connsiteY16" fmla="*/ 235 h 28769"/>
              <a:gd name="connsiteX17" fmla="*/ 69090 w 75933"/>
              <a:gd name="connsiteY17" fmla="*/ 245 h 2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933" h="28769">
                <a:moveTo>
                  <a:pt x="69090" y="245"/>
                </a:moveTo>
                <a:lnTo>
                  <a:pt x="36144" y="7057"/>
                </a:lnTo>
                <a:lnTo>
                  <a:pt x="27937" y="8774"/>
                </a:lnTo>
                <a:cubicBezTo>
                  <a:pt x="25142" y="9248"/>
                  <a:pt x="22347" y="9603"/>
                  <a:pt x="19611" y="9959"/>
                </a:cubicBezTo>
                <a:lnTo>
                  <a:pt x="2960" y="12328"/>
                </a:lnTo>
                <a:cubicBezTo>
                  <a:pt x="1117" y="12485"/>
                  <a:pt x="-311" y="14086"/>
                  <a:pt x="-192" y="15941"/>
                </a:cubicBezTo>
                <a:lnTo>
                  <a:pt x="1235" y="26187"/>
                </a:lnTo>
                <a:cubicBezTo>
                  <a:pt x="1592" y="28012"/>
                  <a:pt x="3436" y="29182"/>
                  <a:pt x="5220" y="28799"/>
                </a:cubicBezTo>
                <a:cubicBezTo>
                  <a:pt x="5279" y="28798"/>
                  <a:pt x="5279" y="28795"/>
                  <a:pt x="5279" y="28793"/>
                </a:cubicBezTo>
                <a:lnTo>
                  <a:pt x="22287" y="26365"/>
                </a:lnTo>
                <a:lnTo>
                  <a:pt x="30792" y="25121"/>
                </a:lnTo>
                <a:lnTo>
                  <a:pt x="39176" y="23403"/>
                </a:lnTo>
                <a:lnTo>
                  <a:pt x="72896" y="16474"/>
                </a:lnTo>
                <a:cubicBezTo>
                  <a:pt x="74740" y="16207"/>
                  <a:pt x="75988" y="14521"/>
                  <a:pt x="75691" y="12709"/>
                </a:cubicBezTo>
                <a:cubicBezTo>
                  <a:pt x="75691" y="12680"/>
                  <a:pt x="75691" y="12652"/>
                  <a:pt x="75691" y="12624"/>
                </a:cubicBezTo>
                <a:lnTo>
                  <a:pt x="73253" y="2496"/>
                </a:lnTo>
                <a:cubicBezTo>
                  <a:pt x="72717" y="737"/>
                  <a:pt x="70874" y="-276"/>
                  <a:pt x="69149" y="235"/>
                </a:cubicBezTo>
                <a:cubicBezTo>
                  <a:pt x="69090" y="238"/>
                  <a:pt x="69090" y="242"/>
                  <a:pt x="69090" y="24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3" name="Freeform: Shape 182">
            <a:extLst>
              <a:ext uri="{FF2B5EF4-FFF2-40B4-BE49-F238E27FC236}">
                <a16:creationId xmlns:a16="http://schemas.microsoft.com/office/drawing/2014/main" id="{2B106E51-D4B5-1C99-29C8-6916E372804B}"/>
              </a:ext>
            </a:extLst>
          </p:cNvPr>
          <p:cNvSpPr/>
          <p:nvPr/>
        </p:nvSpPr>
        <p:spPr>
          <a:xfrm>
            <a:off x="6714272" y="3488515"/>
            <a:ext cx="37822" cy="17486"/>
          </a:xfrm>
          <a:custGeom>
            <a:avLst/>
            <a:gdLst>
              <a:gd name="connsiteX0" fmla="*/ 3309 w 37822"/>
              <a:gd name="connsiteY0" fmla="*/ 991 h 17486"/>
              <a:gd name="connsiteX1" fmla="*/ -199 w 37822"/>
              <a:gd name="connsiteY1" fmla="*/ 4189 h 17486"/>
              <a:gd name="connsiteX2" fmla="*/ 276 w 37822"/>
              <a:gd name="connsiteY2" fmla="*/ 14554 h 17486"/>
              <a:gd name="connsiteX3" fmla="*/ 3963 w 37822"/>
              <a:gd name="connsiteY3" fmla="*/ 17575 h 17486"/>
              <a:gd name="connsiteX4" fmla="*/ 37623 w 37822"/>
              <a:gd name="connsiteY4" fmla="*/ 16686 h 17486"/>
              <a:gd name="connsiteX5" fmla="*/ 37623 w 37822"/>
              <a:gd name="connsiteY5" fmla="*/ 102 h 1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22" h="17486">
                <a:moveTo>
                  <a:pt x="3309" y="991"/>
                </a:moveTo>
                <a:cubicBezTo>
                  <a:pt x="1466" y="924"/>
                  <a:pt x="-80" y="2348"/>
                  <a:pt x="-199" y="4189"/>
                </a:cubicBezTo>
                <a:lnTo>
                  <a:pt x="276" y="14554"/>
                </a:lnTo>
                <a:cubicBezTo>
                  <a:pt x="455" y="16398"/>
                  <a:pt x="2120" y="17747"/>
                  <a:pt x="3963" y="17575"/>
                </a:cubicBezTo>
                <a:lnTo>
                  <a:pt x="37623" y="16686"/>
                </a:lnTo>
                <a:lnTo>
                  <a:pt x="37623" y="102"/>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4" name="Freeform: Shape 183">
            <a:extLst>
              <a:ext uri="{FF2B5EF4-FFF2-40B4-BE49-F238E27FC236}">
                <a16:creationId xmlns:a16="http://schemas.microsoft.com/office/drawing/2014/main" id="{1C1CA856-29EC-809D-A0D4-129121126388}"/>
              </a:ext>
            </a:extLst>
          </p:cNvPr>
          <p:cNvSpPr/>
          <p:nvPr/>
        </p:nvSpPr>
        <p:spPr>
          <a:xfrm>
            <a:off x="6564365" y="3496560"/>
            <a:ext cx="75933" cy="28654"/>
          </a:xfrm>
          <a:custGeom>
            <a:avLst/>
            <a:gdLst>
              <a:gd name="connsiteX0" fmla="*/ 70316 w 75933"/>
              <a:gd name="connsiteY0" fmla="*/ 172 h 28654"/>
              <a:gd name="connsiteX1" fmla="*/ 53248 w 75933"/>
              <a:gd name="connsiteY1" fmla="*/ 2541 h 28654"/>
              <a:gd name="connsiteX2" fmla="*/ 44744 w 75933"/>
              <a:gd name="connsiteY2" fmla="*/ 3844 h 28654"/>
              <a:gd name="connsiteX3" fmla="*/ 36299 w 75933"/>
              <a:gd name="connsiteY3" fmla="*/ 5562 h 28654"/>
              <a:gd name="connsiteX4" fmla="*/ 2640 w 75933"/>
              <a:gd name="connsiteY4" fmla="*/ 12432 h 28654"/>
              <a:gd name="connsiteX5" fmla="*/ -156 w 75933"/>
              <a:gd name="connsiteY5" fmla="*/ 16307 h 28654"/>
              <a:gd name="connsiteX6" fmla="*/ -156 w 75933"/>
              <a:gd name="connsiteY6" fmla="*/ 16341 h 28654"/>
              <a:gd name="connsiteX7" fmla="*/ 2223 w 75933"/>
              <a:gd name="connsiteY7" fmla="*/ 26469 h 28654"/>
              <a:gd name="connsiteX8" fmla="*/ 6445 w 75933"/>
              <a:gd name="connsiteY8" fmla="*/ 28601 h 28654"/>
              <a:gd name="connsiteX9" fmla="*/ 39392 w 75933"/>
              <a:gd name="connsiteY9" fmla="*/ 21908 h 28654"/>
              <a:gd name="connsiteX10" fmla="*/ 47598 w 75933"/>
              <a:gd name="connsiteY10" fmla="*/ 20191 h 28654"/>
              <a:gd name="connsiteX11" fmla="*/ 55924 w 75933"/>
              <a:gd name="connsiteY11" fmla="*/ 18947 h 28654"/>
              <a:gd name="connsiteX12" fmla="*/ 72576 w 75933"/>
              <a:gd name="connsiteY12" fmla="*/ 16637 h 28654"/>
              <a:gd name="connsiteX13" fmla="*/ 75727 w 75933"/>
              <a:gd name="connsiteY13" fmla="*/ 13024 h 28654"/>
              <a:gd name="connsiteX14" fmla="*/ 74300 w 75933"/>
              <a:gd name="connsiteY14" fmla="*/ 2719 h 28654"/>
              <a:gd name="connsiteX15" fmla="*/ 70316 w 75933"/>
              <a:gd name="connsiteY15" fmla="*/ 172 h 28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933" h="28654">
                <a:moveTo>
                  <a:pt x="70316" y="172"/>
                </a:moveTo>
                <a:lnTo>
                  <a:pt x="53248" y="2541"/>
                </a:lnTo>
                <a:cubicBezTo>
                  <a:pt x="50453" y="3015"/>
                  <a:pt x="47302" y="3311"/>
                  <a:pt x="44744" y="3844"/>
                </a:cubicBezTo>
                <a:lnTo>
                  <a:pt x="36299" y="5562"/>
                </a:lnTo>
                <a:lnTo>
                  <a:pt x="2640" y="12432"/>
                </a:lnTo>
                <a:cubicBezTo>
                  <a:pt x="796" y="12732"/>
                  <a:pt x="-452" y="14467"/>
                  <a:pt x="-156" y="16307"/>
                </a:cubicBezTo>
                <a:cubicBezTo>
                  <a:pt x="-156" y="16318"/>
                  <a:pt x="-156" y="16330"/>
                  <a:pt x="-156" y="16341"/>
                </a:cubicBezTo>
                <a:lnTo>
                  <a:pt x="2223" y="26469"/>
                </a:lnTo>
                <a:cubicBezTo>
                  <a:pt x="2818" y="28203"/>
                  <a:pt x="4662" y="29149"/>
                  <a:pt x="6445" y="28601"/>
                </a:cubicBezTo>
                <a:lnTo>
                  <a:pt x="39392" y="21908"/>
                </a:lnTo>
                <a:lnTo>
                  <a:pt x="47598" y="20191"/>
                </a:lnTo>
                <a:lnTo>
                  <a:pt x="55924" y="18947"/>
                </a:lnTo>
                <a:lnTo>
                  <a:pt x="72576" y="16637"/>
                </a:lnTo>
                <a:cubicBezTo>
                  <a:pt x="74419" y="16480"/>
                  <a:pt x="75846" y="14879"/>
                  <a:pt x="75727" y="13024"/>
                </a:cubicBezTo>
                <a:lnTo>
                  <a:pt x="74300" y="2719"/>
                </a:lnTo>
                <a:cubicBezTo>
                  <a:pt x="73884" y="934"/>
                  <a:pt x="72100" y="-196"/>
                  <a:pt x="70316" y="17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5" name="Freeform: Shape 184">
            <a:extLst>
              <a:ext uri="{FF2B5EF4-FFF2-40B4-BE49-F238E27FC236}">
                <a16:creationId xmlns:a16="http://schemas.microsoft.com/office/drawing/2014/main" id="{D6EDF37C-4C37-136D-C4B9-4B0914B8BBFC}"/>
              </a:ext>
            </a:extLst>
          </p:cNvPr>
          <p:cNvSpPr/>
          <p:nvPr/>
        </p:nvSpPr>
        <p:spPr>
          <a:xfrm>
            <a:off x="6421855" y="3532636"/>
            <a:ext cx="73626" cy="42250"/>
          </a:xfrm>
          <a:custGeom>
            <a:avLst/>
            <a:gdLst>
              <a:gd name="connsiteX0" fmla="*/ 65222 w 73626"/>
              <a:gd name="connsiteY0" fmla="*/ 402 h 42250"/>
              <a:gd name="connsiteX1" fmla="*/ 49226 w 73626"/>
              <a:gd name="connsiteY1" fmla="*/ 6324 h 42250"/>
              <a:gd name="connsiteX2" fmla="*/ 33287 w 73626"/>
              <a:gd name="connsiteY2" fmla="*/ 12840 h 42250"/>
              <a:gd name="connsiteX3" fmla="*/ 17468 w 73626"/>
              <a:gd name="connsiteY3" fmla="*/ 19473 h 42250"/>
              <a:gd name="connsiteX4" fmla="*/ 2007 w 73626"/>
              <a:gd name="connsiteY4" fmla="*/ 26936 h 42250"/>
              <a:gd name="connsiteX5" fmla="*/ -15 w 73626"/>
              <a:gd name="connsiteY5" fmla="*/ 31318 h 42250"/>
              <a:gd name="connsiteX6" fmla="*/ 4564 w 73626"/>
              <a:gd name="connsiteY6" fmla="*/ 40676 h 42250"/>
              <a:gd name="connsiteX7" fmla="*/ 9202 w 73626"/>
              <a:gd name="connsiteY7" fmla="*/ 41920 h 42250"/>
              <a:gd name="connsiteX8" fmla="*/ 24308 w 73626"/>
              <a:gd name="connsiteY8" fmla="*/ 34635 h 42250"/>
              <a:gd name="connsiteX9" fmla="*/ 39769 w 73626"/>
              <a:gd name="connsiteY9" fmla="*/ 28179 h 42250"/>
              <a:gd name="connsiteX10" fmla="*/ 55350 w 73626"/>
              <a:gd name="connsiteY10" fmla="*/ 21783 h 42250"/>
              <a:gd name="connsiteX11" fmla="*/ 70991 w 73626"/>
              <a:gd name="connsiteY11" fmla="*/ 15860 h 42250"/>
              <a:gd name="connsiteX12" fmla="*/ 73310 w 73626"/>
              <a:gd name="connsiteY12" fmla="*/ 11779 h 42250"/>
              <a:gd name="connsiteX13" fmla="*/ 73310 w 73626"/>
              <a:gd name="connsiteY13" fmla="*/ 11773 h 42250"/>
              <a:gd name="connsiteX14" fmla="*/ 69742 w 73626"/>
              <a:gd name="connsiteY14" fmla="*/ 2060 h 42250"/>
              <a:gd name="connsiteX15" fmla="*/ 65222 w 73626"/>
              <a:gd name="connsiteY15" fmla="*/ 402 h 4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626" h="42250">
                <a:moveTo>
                  <a:pt x="65222" y="402"/>
                </a:moveTo>
                <a:cubicBezTo>
                  <a:pt x="59751" y="2119"/>
                  <a:pt x="54518" y="4429"/>
                  <a:pt x="49226" y="6324"/>
                </a:cubicBezTo>
                <a:lnTo>
                  <a:pt x="33287" y="12840"/>
                </a:lnTo>
                <a:cubicBezTo>
                  <a:pt x="27995" y="15090"/>
                  <a:pt x="22642" y="17104"/>
                  <a:pt x="17468" y="19473"/>
                </a:cubicBezTo>
                <a:lnTo>
                  <a:pt x="2007" y="26936"/>
                </a:lnTo>
                <a:cubicBezTo>
                  <a:pt x="282" y="27625"/>
                  <a:pt x="-610" y="29554"/>
                  <a:pt x="-15" y="31318"/>
                </a:cubicBezTo>
                <a:lnTo>
                  <a:pt x="4564" y="40676"/>
                </a:lnTo>
                <a:cubicBezTo>
                  <a:pt x="5515" y="42271"/>
                  <a:pt x="7597" y="42822"/>
                  <a:pt x="9202" y="41920"/>
                </a:cubicBezTo>
                <a:lnTo>
                  <a:pt x="24308" y="34635"/>
                </a:lnTo>
                <a:cubicBezTo>
                  <a:pt x="29362" y="32266"/>
                  <a:pt x="34655" y="30312"/>
                  <a:pt x="39769" y="28179"/>
                </a:cubicBezTo>
                <a:lnTo>
                  <a:pt x="55350" y="21783"/>
                </a:lnTo>
                <a:cubicBezTo>
                  <a:pt x="60524" y="19710"/>
                  <a:pt x="65639" y="17400"/>
                  <a:pt x="70991" y="15860"/>
                </a:cubicBezTo>
                <a:cubicBezTo>
                  <a:pt x="72775" y="15371"/>
                  <a:pt x="73786" y="13544"/>
                  <a:pt x="73310" y="11779"/>
                </a:cubicBezTo>
                <a:cubicBezTo>
                  <a:pt x="73310" y="11777"/>
                  <a:pt x="73310" y="11775"/>
                  <a:pt x="73310" y="11773"/>
                </a:cubicBezTo>
                <a:lnTo>
                  <a:pt x="69742" y="2060"/>
                </a:lnTo>
                <a:cubicBezTo>
                  <a:pt x="68909" y="377"/>
                  <a:pt x="66947" y="-358"/>
                  <a:pt x="65222" y="40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6" name="Freeform: Shape 185">
            <a:extLst>
              <a:ext uri="{FF2B5EF4-FFF2-40B4-BE49-F238E27FC236}">
                <a16:creationId xmlns:a16="http://schemas.microsoft.com/office/drawing/2014/main" id="{FF048D1B-20D8-4BC7-1346-00A1C55FA4D2}"/>
              </a:ext>
            </a:extLst>
          </p:cNvPr>
          <p:cNvSpPr/>
          <p:nvPr/>
        </p:nvSpPr>
        <p:spPr>
          <a:xfrm>
            <a:off x="6292026" y="3598821"/>
            <a:ext cx="69181" cy="52557"/>
          </a:xfrm>
          <a:custGeom>
            <a:avLst/>
            <a:gdLst>
              <a:gd name="connsiteX0" fmla="*/ 58630 w 69181"/>
              <a:gd name="connsiteY0" fmla="*/ 671 h 52557"/>
              <a:gd name="connsiteX1" fmla="*/ 29609 w 69181"/>
              <a:gd name="connsiteY1" fmla="*/ 18913 h 52557"/>
              <a:gd name="connsiteX2" fmla="*/ 1480 w 69181"/>
              <a:gd name="connsiteY2" fmla="*/ 38398 h 52557"/>
              <a:gd name="connsiteX3" fmla="*/ 230 w 69181"/>
              <a:gd name="connsiteY3" fmla="*/ 42922 h 52557"/>
              <a:gd name="connsiteX4" fmla="*/ 290 w 69181"/>
              <a:gd name="connsiteY4" fmla="*/ 43018 h 52557"/>
              <a:gd name="connsiteX5" fmla="*/ 6237 w 69181"/>
              <a:gd name="connsiteY5" fmla="*/ 51428 h 52557"/>
              <a:gd name="connsiteX6" fmla="*/ 10995 w 69181"/>
              <a:gd name="connsiteY6" fmla="*/ 51902 h 52557"/>
              <a:gd name="connsiteX7" fmla="*/ 38707 w 69181"/>
              <a:gd name="connsiteY7" fmla="*/ 32713 h 52557"/>
              <a:gd name="connsiteX8" fmla="*/ 67193 w 69181"/>
              <a:gd name="connsiteY8" fmla="*/ 14944 h 52557"/>
              <a:gd name="connsiteX9" fmla="*/ 68620 w 69181"/>
              <a:gd name="connsiteY9" fmla="*/ 10384 h 52557"/>
              <a:gd name="connsiteX10" fmla="*/ 63208 w 69181"/>
              <a:gd name="connsiteY10" fmla="*/ 1500 h 52557"/>
              <a:gd name="connsiteX11" fmla="*/ 58630 w 69181"/>
              <a:gd name="connsiteY11" fmla="*/ 671 h 52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181" h="52557">
                <a:moveTo>
                  <a:pt x="58630" y="671"/>
                </a:moveTo>
                <a:cubicBezTo>
                  <a:pt x="48936" y="6593"/>
                  <a:pt x="39183" y="12516"/>
                  <a:pt x="29609" y="18913"/>
                </a:cubicBezTo>
                <a:lnTo>
                  <a:pt x="1480" y="38398"/>
                </a:lnTo>
                <a:cubicBezTo>
                  <a:pt x="-126" y="39305"/>
                  <a:pt x="-662" y="41330"/>
                  <a:pt x="230" y="42922"/>
                </a:cubicBezTo>
                <a:cubicBezTo>
                  <a:pt x="230" y="42954"/>
                  <a:pt x="290" y="42986"/>
                  <a:pt x="290" y="43018"/>
                </a:cubicBezTo>
                <a:lnTo>
                  <a:pt x="6237" y="51428"/>
                </a:lnTo>
                <a:cubicBezTo>
                  <a:pt x="7427" y="52863"/>
                  <a:pt x="9568" y="53075"/>
                  <a:pt x="10995" y="51902"/>
                </a:cubicBezTo>
                <a:lnTo>
                  <a:pt x="38707" y="32713"/>
                </a:lnTo>
                <a:cubicBezTo>
                  <a:pt x="48104" y="26790"/>
                  <a:pt x="57738" y="20867"/>
                  <a:pt x="67193" y="14944"/>
                </a:cubicBezTo>
                <a:cubicBezTo>
                  <a:pt x="68799" y="14056"/>
                  <a:pt x="69453" y="12039"/>
                  <a:pt x="68620" y="10384"/>
                </a:cubicBezTo>
                <a:lnTo>
                  <a:pt x="63208" y="1500"/>
                </a:lnTo>
                <a:cubicBezTo>
                  <a:pt x="62138" y="31"/>
                  <a:pt x="60116" y="-338"/>
                  <a:pt x="58630" y="671"/>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7" name="Freeform: Shape 186">
            <a:extLst>
              <a:ext uri="{FF2B5EF4-FFF2-40B4-BE49-F238E27FC236}">
                <a16:creationId xmlns:a16="http://schemas.microsoft.com/office/drawing/2014/main" id="{2EFE0DEB-35CC-7CAB-A83A-8F68645B786F}"/>
              </a:ext>
            </a:extLst>
          </p:cNvPr>
          <p:cNvSpPr/>
          <p:nvPr/>
        </p:nvSpPr>
        <p:spPr>
          <a:xfrm>
            <a:off x="6065924" y="3787340"/>
            <a:ext cx="62646" cy="61550"/>
          </a:xfrm>
          <a:custGeom>
            <a:avLst/>
            <a:gdLst>
              <a:gd name="connsiteX0" fmla="*/ 49649 w 62646"/>
              <a:gd name="connsiteY0" fmla="*/ 1264 h 61550"/>
              <a:gd name="connsiteX1" fmla="*/ 25267 w 62646"/>
              <a:gd name="connsiteY1" fmla="*/ 24955 h 61550"/>
              <a:gd name="connsiteX2" fmla="*/ 1003 w 62646"/>
              <a:gd name="connsiteY2" fmla="*/ 48646 h 61550"/>
              <a:gd name="connsiteX3" fmla="*/ 587 w 62646"/>
              <a:gd name="connsiteY3" fmla="*/ 53319 h 61550"/>
              <a:gd name="connsiteX4" fmla="*/ 646 w 62646"/>
              <a:gd name="connsiteY4" fmla="*/ 53384 h 61550"/>
              <a:gd name="connsiteX5" fmla="*/ 7901 w 62646"/>
              <a:gd name="connsiteY5" fmla="*/ 60847 h 61550"/>
              <a:gd name="connsiteX6" fmla="*/ 12659 w 62646"/>
              <a:gd name="connsiteY6" fmla="*/ 60492 h 61550"/>
              <a:gd name="connsiteX7" fmla="*/ 37042 w 62646"/>
              <a:gd name="connsiteY7" fmla="*/ 36801 h 61550"/>
              <a:gd name="connsiteX8" fmla="*/ 61245 w 62646"/>
              <a:gd name="connsiteY8" fmla="*/ 13110 h 61550"/>
              <a:gd name="connsiteX9" fmla="*/ 61662 w 62646"/>
              <a:gd name="connsiteY9" fmla="*/ 8372 h 61550"/>
              <a:gd name="connsiteX10" fmla="*/ 54406 w 62646"/>
              <a:gd name="connsiteY10" fmla="*/ 909 h 61550"/>
              <a:gd name="connsiteX11" fmla="*/ 49649 w 62646"/>
              <a:gd name="connsiteY11" fmla="*/ 1264 h 6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46" h="61550">
                <a:moveTo>
                  <a:pt x="49649" y="1264"/>
                </a:moveTo>
                <a:lnTo>
                  <a:pt x="25267" y="24955"/>
                </a:lnTo>
                <a:lnTo>
                  <a:pt x="1003" y="48646"/>
                </a:lnTo>
                <a:cubicBezTo>
                  <a:pt x="-424" y="49822"/>
                  <a:pt x="-603" y="51914"/>
                  <a:pt x="587" y="53319"/>
                </a:cubicBezTo>
                <a:cubicBezTo>
                  <a:pt x="587" y="53341"/>
                  <a:pt x="646" y="53362"/>
                  <a:pt x="646" y="53384"/>
                </a:cubicBezTo>
                <a:lnTo>
                  <a:pt x="7901" y="60847"/>
                </a:lnTo>
                <a:cubicBezTo>
                  <a:pt x="9329" y="62048"/>
                  <a:pt x="11410" y="61889"/>
                  <a:pt x="12659" y="60492"/>
                </a:cubicBezTo>
                <a:lnTo>
                  <a:pt x="37042" y="36801"/>
                </a:lnTo>
                <a:lnTo>
                  <a:pt x="61245" y="13110"/>
                </a:lnTo>
                <a:cubicBezTo>
                  <a:pt x="62672" y="11912"/>
                  <a:pt x="62851" y="9797"/>
                  <a:pt x="61662" y="8372"/>
                </a:cubicBezTo>
                <a:lnTo>
                  <a:pt x="54406" y="909"/>
                </a:lnTo>
                <a:cubicBezTo>
                  <a:pt x="52979" y="-292"/>
                  <a:pt x="50838" y="-134"/>
                  <a:pt x="49649" y="1264"/>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8" name="Freeform: Shape 187">
            <a:extLst>
              <a:ext uri="{FF2B5EF4-FFF2-40B4-BE49-F238E27FC236}">
                <a16:creationId xmlns:a16="http://schemas.microsoft.com/office/drawing/2014/main" id="{557DAD3E-75E5-26A4-CB2B-5E03AF2A3FC1}"/>
              </a:ext>
            </a:extLst>
          </p:cNvPr>
          <p:cNvSpPr/>
          <p:nvPr/>
        </p:nvSpPr>
        <p:spPr>
          <a:xfrm>
            <a:off x="6174768" y="3686723"/>
            <a:ext cx="65154" cy="58690"/>
          </a:xfrm>
          <a:custGeom>
            <a:avLst/>
            <a:gdLst>
              <a:gd name="connsiteX0" fmla="*/ 52964 w 65154"/>
              <a:gd name="connsiteY0" fmla="*/ 1017 h 58690"/>
              <a:gd name="connsiteX1" fmla="*/ 26738 w 65154"/>
              <a:gd name="connsiteY1" fmla="*/ 22931 h 58690"/>
              <a:gd name="connsiteX2" fmla="*/ 1167 w 65154"/>
              <a:gd name="connsiteY2" fmla="*/ 45438 h 58690"/>
              <a:gd name="connsiteX3" fmla="*/ 394 w 65154"/>
              <a:gd name="connsiteY3" fmla="*/ 49983 h 58690"/>
              <a:gd name="connsiteX4" fmla="*/ 513 w 65154"/>
              <a:gd name="connsiteY4" fmla="*/ 50117 h 58690"/>
              <a:gd name="connsiteX5" fmla="*/ 7470 w 65154"/>
              <a:gd name="connsiteY5" fmla="*/ 57816 h 58690"/>
              <a:gd name="connsiteX6" fmla="*/ 12288 w 65154"/>
              <a:gd name="connsiteY6" fmla="*/ 57816 h 58690"/>
              <a:gd name="connsiteX7" fmla="*/ 37681 w 65154"/>
              <a:gd name="connsiteY7" fmla="*/ 35547 h 58690"/>
              <a:gd name="connsiteX8" fmla="*/ 63550 w 65154"/>
              <a:gd name="connsiteY8" fmla="*/ 13870 h 58690"/>
              <a:gd name="connsiteX9" fmla="*/ 64383 w 65154"/>
              <a:gd name="connsiteY9" fmla="*/ 9250 h 58690"/>
              <a:gd name="connsiteX10" fmla="*/ 64323 w 65154"/>
              <a:gd name="connsiteY10" fmla="*/ 9191 h 58690"/>
              <a:gd name="connsiteX11" fmla="*/ 57782 w 65154"/>
              <a:gd name="connsiteY11" fmla="*/ 1195 h 58690"/>
              <a:gd name="connsiteX12" fmla="*/ 52964 w 65154"/>
              <a:gd name="connsiteY12" fmla="*/ 992 h 58690"/>
              <a:gd name="connsiteX13" fmla="*/ 52964 w 65154"/>
              <a:gd name="connsiteY13" fmla="*/ 1017 h 5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154" h="58690">
                <a:moveTo>
                  <a:pt x="52964" y="1017"/>
                </a:moveTo>
                <a:cubicBezTo>
                  <a:pt x="44223" y="8302"/>
                  <a:pt x="35124" y="15291"/>
                  <a:pt x="26738" y="22931"/>
                </a:cubicBezTo>
                <a:lnTo>
                  <a:pt x="1167" y="45438"/>
                </a:lnTo>
                <a:cubicBezTo>
                  <a:pt x="-320" y="46485"/>
                  <a:pt x="-617" y="48520"/>
                  <a:pt x="394" y="49983"/>
                </a:cubicBezTo>
                <a:cubicBezTo>
                  <a:pt x="453" y="50029"/>
                  <a:pt x="453" y="50073"/>
                  <a:pt x="513" y="50117"/>
                </a:cubicBezTo>
                <a:lnTo>
                  <a:pt x="7470" y="57816"/>
                </a:lnTo>
                <a:cubicBezTo>
                  <a:pt x="8838" y="59118"/>
                  <a:pt x="10920" y="59118"/>
                  <a:pt x="12288" y="57816"/>
                </a:cubicBezTo>
                <a:lnTo>
                  <a:pt x="37681" y="35547"/>
                </a:lnTo>
                <a:cubicBezTo>
                  <a:pt x="46006" y="27966"/>
                  <a:pt x="54927" y="21155"/>
                  <a:pt x="63550" y="13870"/>
                </a:cubicBezTo>
                <a:cubicBezTo>
                  <a:pt x="65037" y="12818"/>
                  <a:pt x="65393" y="10750"/>
                  <a:pt x="64383" y="9250"/>
                </a:cubicBezTo>
                <a:cubicBezTo>
                  <a:pt x="64323" y="9230"/>
                  <a:pt x="64323" y="9210"/>
                  <a:pt x="64323" y="9191"/>
                </a:cubicBezTo>
                <a:lnTo>
                  <a:pt x="57782" y="1195"/>
                </a:lnTo>
                <a:cubicBezTo>
                  <a:pt x="56532" y="-178"/>
                  <a:pt x="54392" y="-269"/>
                  <a:pt x="52964" y="992"/>
                </a:cubicBezTo>
                <a:cubicBezTo>
                  <a:pt x="52964" y="1000"/>
                  <a:pt x="52964" y="1009"/>
                  <a:pt x="52964" y="101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89" name="Freeform: Shape 188">
            <a:extLst>
              <a:ext uri="{FF2B5EF4-FFF2-40B4-BE49-F238E27FC236}">
                <a16:creationId xmlns:a16="http://schemas.microsoft.com/office/drawing/2014/main" id="{C28FD64F-156D-F97C-206C-905A782F548E}"/>
              </a:ext>
            </a:extLst>
          </p:cNvPr>
          <p:cNvSpPr/>
          <p:nvPr/>
        </p:nvSpPr>
        <p:spPr>
          <a:xfrm>
            <a:off x="5442164" y="3652575"/>
            <a:ext cx="1309930" cy="659201"/>
          </a:xfrm>
          <a:custGeom>
            <a:avLst/>
            <a:gdLst>
              <a:gd name="connsiteX0" fmla="*/ 1076968 w 1309930"/>
              <a:gd name="connsiteY0" fmla="*/ 44286 h 659201"/>
              <a:gd name="connsiteX1" fmla="*/ 970518 w 1309930"/>
              <a:gd name="connsiteY1" fmla="*/ 101737 h 659201"/>
              <a:gd name="connsiteX2" fmla="*/ 866982 w 1309930"/>
              <a:gd name="connsiteY2" fmla="*/ 181161 h 659201"/>
              <a:gd name="connsiteX3" fmla="*/ 841410 w 1309930"/>
              <a:gd name="connsiteY3" fmla="*/ 203608 h 659201"/>
              <a:gd name="connsiteX4" fmla="*/ 815957 w 1309930"/>
              <a:gd name="connsiteY4" fmla="*/ 227299 h 659201"/>
              <a:gd name="connsiteX5" fmla="*/ 803350 w 1309930"/>
              <a:gd name="connsiteY5" fmla="*/ 239144 h 659201"/>
              <a:gd name="connsiteX6" fmla="*/ 790683 w 1309930"/>
              <a:gd name="connsiteY6" fmla="*/ 251404 h 659201"/>
              <a:gd name="connsiteX7" fmla="*/ 765468 w 1309930"/>
              <a:gd name="connsiteY7" fmla="*/ 275925 h 659201"/>
              <a:gd name="connsiteX8" fmla="*/ 736922 w 1309930"/>
              <a:gd name="connsiteY8" fmla="*/ 303702 h 659201"/>
              <a:gd name="connsiteX9" fmla="*/ 722591 w 1309930"/>
              <a:gd name="connsiteY9" fmla="*/ 317384 h 659201"/>
              <a:gd name="connsiteX10" fmla="*/ 707783 w 1309930"/>
              <a:gd name="connsiteY10" fmla="*/ 331184 h 659201"/>
              <a:gd name="connsiteX11" fmla="*/ 678048 w 1309930"/>
              <a:gd name="connsiteY11" fmla="*/ 358665 h 659201"/>
              <a:gd name="connsiteX12" fmla="*/ 647183 w 1309930"/>
              <a:gd name="connsiteY12" fmla="*/ 385732 h 659201"/>
              <a:gd name="connsiteX13" fmla="*/ 512010 w 1309930"/>
              <a:gd name="connsiteY13" fmla="*/ 489143 h 659201"/>
              <a:gd name="connsiteX14" fmla="*/ 354119 w 1309930"/>
              <a:gd name="connsiteY14" fmla="*/ 574016 h 659201"/>
              <a:gd name="connsiteX15" fmla="*/ 178209 w 1309930"/>
              <a:gd name="connsiteY15" fmla="*/ 626729 h 659201"/>
              <a:gd name="connsiteX16" fmla="*/ -199 w 1309930"/>
              <a:gd name="connsiteY16" fmla="*/ 642720 h 659201"/>
              <a:gd name="connsiteX17" fmla="*/ -199 w 1309930"/>
              <a:gd name="connsiteY17" fmla="*/ 659304 h 659201"/>
              <a:gd name="connsiteX18" fmla="*/ 181361 w 1309930"/>
              <a:gd name="connsiteY18" fmla="*/ 643135 h 659201"/>
              <a:gd name="connsiteX19" fmla="*/ 360720 w 1309930"/>
              <a:gd name="connsiteY19" fmla="*/ 589474 h 659201"/>
              <a:gd name="connsiteX20" fmla="*/ 521287 w 1309930"/>
              <a:gd name="connsiteY20" fmla="*/ 503062 h 659201"/>
              <a:gd name="connsiteX21" fmla="*/ 658067 w 1309930"/>
              <a:gd name="connsiteY21" fmla="*/ 398762 h 659201"/>
              <a:gd name="connsiteX22" fmla="*/ 689229 w 1309930"/>
              <a:gd name="connsiteY22" fmla="*/ 371399 h 659201"/>
              <a:gd name="connsiteX23" fmla="*/ 718963 w 1309930"/>
              <a:gd name="connsiteY23" fmla="*/ 343740 h 659201"/>
              <a:gd name="connsiteX24" fmla="*/ 733949 w 1309930"/>
              <a:gd name="connsiteY24" fmla="*/ 329821 h 659201"/>
              <a:gd name="connsiteX25" fmla="*/ 748341 w 1309930"/>
              <a:gd name="connsiteY25" fmla="*/ 315844 h 659201"/>
              <a:gd name="connsiteX26" fmla="*/ 777243 w 1309930"/>
              <a:gd name="connsiteY26" fmla="*/ 287770 h 659201"/>
              <a:gd name="connsiteX27" fmla="*/ 802280 w 1309930"/>
              <a:gd name="connsiteY27" fmla="*/ 263309 h 659201"/>
              <a:gd name="connsiteX28" fmla="*/ 814828 w 1309930"/>
              <a:gd name="connsiteY28" fmla="*/ 251108 h 659201"/>
              <a:gd name="connsiteX29" fmla="*/ 827435 w 1309930"/>
              <a:gd name="connsiteY29" fmla="*/ 239263 h 659201"/>
              <a:gd name="connsiteX30" fmla="*/ 852591 w 1309930"/>
              <a:gd name="connsiteY30" fmla="*/ 215986 h 659201"/>
              <a:gd name="connsiteX31" fmla="*/ 877865 w 1309930"/>
              <a:gd name="connsiteY31" fmla="*/ 193835 h 659201"/>
              <a:gd name="connsiteX32" fmla="*/ 979855 w 1309930"/>
              <a:gd name="connsiteY32" fmla="*/ 115596 h 659201"/>
              <a:gd name="connsiteX33" fmla="*/ 1083510 w 1309930"/>
              <a:gd name="connsiteY33" fmla="*/ 59567 h 659201"/>
              <a:gd name="connsiteX34" fmla="*/ 1191862 w 1309930"/>
              <a:gd name="connsiteY34" fmla="*/ 27169 h 659201"/>
              <a:gd name="connsiteX35" fmla="*/ 1309731 w 1309930"/>
              <a:gd name="connsiteY35" fmla="*/ 16745 h 659201"/>
              <a:gd name="connsiteX36" fmla="*/ 1309731 w 1309930"/>
              <a:gd name="connsiteY36" fmla="*/ 102 h 659201"/>
              <a:gd name="connsiteX37" fmla="*/ 1188771 w 1309930"/>
              <a:gd name="connsiteY37" fmla="*/ 10823 h 659201"/>
              <a:gd name="connsiteX38" fmla="*/ 1076968 w 1309930"/>
              <a:gd name="connsiteY38" fmla="*/ 44286 h 65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930" h="659201">
                <a:moveTo>
                  <a:pt x="1076968" y="44286"/>
                </a:moveTo>
                <a:cubicBezTo>
                  <a:pt x="1039800" y="60197"/>
                  <a:pt x="1004178" y="79426"/>
                  <a:pt x="970518" y="101737"/>
                </a:cubicBezTo>
                <a:cubicBezTo>
                  <a:pt x="934480" y="126195"/>
                  <a:pt x="899928" y="152714"/>
                  <a:pt x="866982" y="181161"/>
                </a:cubicBezTo>
                <a:lnTo>
                  <a:pt x="841410" y="203608"/>
                </a:lnTo>
                <a:cubicBezTo>
                  <a:pt x="832906" y="211189"/>
                  <a:pt x="824462" y="219303"/>
                  <a:pt x="815957" y="227299"/>
                </a:cubicBezTo>
                <a:lnTo>
                  <a:pt x="803350" y="239144"/>
                </a:lnTo>
                <a:lnTo>
                  <a:pt x="790683" y="251404"/>
                </a:lnTo>
                <a:lnTo>
                  <a:pt x="765468" y="275925"/>
                </a:lnTo>
                <a:lnTo>
                  <a:pt x="736922" y="303702"/>
                </a:lnTo>
                <a:lnTo>
                  <a:pt x="722591" y="317384"/>
                </a:lnTo>
                <a:lnTo>
                  <a:pt x="707783" y="331184"/>
                </a:lnTo>
                <a:cubicBezTo>
                  <a:pt x="697851" y="340305"/>
                  <a:pt x="688158" y="349603"/>
                  <a:pt x="678048" y="358665"/>
                </a:cubicBezTo>
                <a:lnTo>
                  <a:pt x="647183" y="385732"/>
                </a:lnTo>
                <a:cubicBezTo>
                  <a:pt x="604247" y="422854"/>
                  <a:pt x="559110" y="457386"/>
                  <a:pt x="512010" y="489143"/>
                </a:cubicBezTo>
                <a:cubicBezTo>
                  <a:pt x="462115" y="522181"/>
                  <a:pt x="409247" y="550591"/>
                  <a:pt x="354119" y="574016"/>
                </a:cubicBezTo>
                <a:cubicBezTo>
                  <a:pt x="297623" y="598057"/>
                  <a:pt x="238630" y="615737"/>
                  <a:pt x="178209" y="626729"/>
                </a:cubicBezTo>
                <a:cubicBezTo>
                  <a:pt x="119334" y="637212"/>
                  <a:pt x="59627" y="642563"/>
                  <a:pt x="-199" y="642720"/>
                </a:cubicBezTo>
                <a:lnTo>
                  <a:pt x="-199" y="659304"/>
                </a:lnTo>
                <a:cubicBezTo>
                  <a:pt x="60697" y="659233"/>
                  <a:pt x="121415" y="653823"/>
                  <a:pt x="181361" y="643135"/>
                </a:cubicBezTo>
                <a:cubicBezTo>
                  <a:pt x="242971" y="631946"/>
                  <a:pt x="303094" y="613948"/>
                  <a:pt x="360720" y="589474"/>
                </a:cubicBezTo>
                <a:cubicBezTo>
                  <a:pt x="416799" y="565615"/>
                  <a:pt x="470500" y="536690"/>
                  <a:pt x="521287" y="503062"/>
                </a:cubicBezTo>
                <a:cubicBezTo>
                  <a:pt x="568922" y="471026"/>
                  <a:pt x="614594" y="436197"/>
                  <a:pt x="658067" y="398762"/>
                </a:cubicBezTo>
                <a:lnTo>
                  <a:pt x="689229" y="371399"/>
                </a:lnTo>
                <a:cubicBezTo>
                  <a:pt x="699517" y="362219"/>
                  <a:pt x="709210" y="352920"/>
                  <a:pt x="718963" y="343740"/>
                </a:cubicBezTo>
                <a:lnTo>
                  <a:pt x="733949" y="329821"/>
                </a:lnTo>
                <a:lnTo>
                  <a:pt x="748341" y="315844"/>
                </a:lnTo>
                <a:lnTo>
                  <a:pt x="777243" y="287770"/>
                </a:lnTo>
                <a:lnTo>
                  <a:pt x="802280" y="263309"/>
                </a:lnTo>
                <a:lnTo>
                  <a:pt x="814828" y="251108"/>
                </a:lnTo>
                <a:lnTo>
                  <a:pt x="827435" y="239263"/>
                </a:lnTo>
                <a:cubicBezTo>
                  <a:pt x="835820" y="231504"/>
                  <a:pt x="844205" y="223508"/>
                  <a:pt x="852591" y="215986"/>
                </a:cubicBezTo>
                <a:lnTo>
                  <a:pt x="877865" y="193835"/>
                </a:lnTo>
                <a:cubicBezTo>
                  <a:pt x="910275" y="165795"/>
                  <a:pt x="944351" y="139671"/>
                  <a:pt x="979855" y="115596"/>
                </a:cubicBezTo>
                <a:cubicBezTo>
                  <a:pt x="1012623" y="93857"/>
                  <a:pt x="1047352" y="75105"/>
                  <a:pt x="1083510" y="59567"/>
                </a:cubicBezTo>
                <a:cubicBezTo>
                  <a:pt x="1118299" y="44697"/>
                  <a:pt x="1154635" y="33827"/>
                  <a:pt x="1191862" y="27169"/>
                </a:cubicBezTo>
                <a:cubicBezTo>
                  <a:pt x="1230756" y="20349"/>
                  <a:pt x="1270243" y="16861"/>
                  <a:pt x="1309731" y="16745"/>
                </a:cubicBezTo>
                <a:lnTo>
                  <a:pt x="1309731" y="102"/>
                </a:lnTo>
                <a:cubicBezTo>
                  <a:pt x="1269172" y="242"/>
                  <a:pt x="1228734" y="3828"/>
                  <a:pt x="1188771" y="10823"/>
                </a:cubicBezTo>
                <a:cubicBezTo>
                  <a:pt x="1150353" y="17710"/>
                  <a:pt x="1112828" y="28937"/>
                  <a:pt x="1076968" y="44286"/>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90" name="Freeform: Shape 189">
            <a:extLst>
              <a:ext uri="{FF2B5EF4-FFF2-40B4-BE49-F238E27FC236}">
                <a16:creationId xmlns:a16="http://schemas.microsoft.com/office/drawing/2014/main" id="{CC1ED8CA-D305-1F9C-73A9-2183E94812C4}"/>
              </a:ext>
            </a:extLst>
          </p:cNvPr>
          <p:cNvSpPr/>
          <p:nvPr/>
        </p:nvSpPr>
        <p:spPr>
          <a:xfrm>
            <a:off x="5442580" y="3324277"/>
            <a:ext cx="1309454" cy="659319"/>
          </a:xfrm>
          <a:custGeom>
            <a:avLst/>
            <a:gdLst>
              <a:gd name="connsiteX0" fmla="*/ 1127874 w 1309454"/>
              <a:gd name="connsiteY0" fmla="*/ 16627 h 659319"/>
              <a:gd name="connsiteX1" fmla="*/ 948515 w 1309454"/>
              <a:gd name="connsiteY1" fmla="*/ 70346 h 659319"/>
              <a:gd name="connsiteX2" fmla="*/ 787947 w 1309454"/>
              <a:gd name="connsiteY2" fmla="*/ 156877 h 659319"/>
              <a:gd name="connsiteX3" fmla="*/ 651168 w 1309454"/>
              <a:gd name="connsiteY3" fmla="*/ 261177 h 659319"/>
              <a:gd name="connsiteX4" fmla="*/ 620006 w 1309454"/>
              <a:gd name="connsiteY4" fmla="*/ 288540 h 659319"/>
              <a:gd name="connsiteX5" fmla="*/ 590272 w 1309454"/>
              <a:gd name="connsiteY5" fmla="*/ 316258 h 659319"/>
              <a:gd name="connsiteX6" fmla="*/ 575345 w 1309454"/>
              <a:gd name="connsiteY6" fmla="*/ 330118 h 659319"/>
              <a:gd name="connsiteX7" fmla="*/ 560954 w 1309454"/>
              <a:gd name="connsiteY7" fmla="*/ 344155 h 659319"/>
              <a:gd name="connsiteX8" fmla="*/ 532230 w 1309454"/>
              <a:gd name="connsiteY8" fmla="*/ 372110 h 659319"/>
              <a:gd name="connsiteX9" fmla="*/ 507193 w 1309454"/>
              <a:gd name="connsiteY9" fmla="*/ 396571 h 659319"/>
              <a:gd name="connsiteX10" fmla="*/ 494705 w 1309454"/>
              <a:gd name="connsiteY10" fmla="*/ 408712 h 659319"/>
              <a:gd name="connsiteX11" fmla="*/ 481859 w 1309454"/>
              <a:gd name="connsiteY11" fmla="*/ 420617 h 659319"/>
              <a:gd name="connsiteX12" fmla="*/ 456704 w 1309454"/>
              <a:gd name="connsiteY12" fmla="*/ 443834 h 659319"/>
              <a:gd name="connsiteX13" fmla="*/ 431429 w 1309454"/>
              <a:gd name="connsiteY13" fmla="*/ 466045 h 659319"/>
              <a:gd name="connsiteX14" fmla="*/ 329439 w 1309454"/>
              <a:gd name="connsiteY14" fmla="*/ 544166 h 659319"/>
              <a:gd name="connsiteX15" fmla="*/ 226141 w 1309454"/>
              <a:gd name="connsiteY15" fmla="*/ 599958 h 659319"/>
              <a:gd name="connsiteX16" fmla="*/ 117788 w 1309454"/>
              <a:gd name="connsiteY16" fmla="*/ 632414 h 659319"/>
              <a:gd name="connsiteX17" fmla="*/ -199 w 1309454"/>
              <a:gd name="connsiteY17" fmla="*/ 642838 h 659319"/>
              <a:gd name="connsiteX18" fmla="*/ -199 w 1309454"/>
              <a:gd name="connsiteY18" fmla="*/ 659422 h 659319"/>
              <a:gd name="connsiteX19" fmla="*/ 120821 w 1309454"/>
              <a:gd name="connsiteY19" fmla="*/ 648761 h 659319"/>
              <a:gd name="connsiteX20" fmla="*/ 232088 w 1309454"/>
              <a:gd name="connsiteY20" fmla="*/ 615238 h 659319"/>
              <a:gd name="connsiteX21" fmla="*/ 338538 w 1309454"/>
              <a:gd name="connsiteY21" fmla="*/ 557847 h 659319"/>
              <a:gd name="connsiteX22" fmla="*/ 442193 w 1309454"/>
              <a:gd name="connsiteY22" fmla="*/ 478423 h 659319"/>
              <a:gd name="connsiteX23" fmla="*/ 467765 w 1309454"/>
              <a:gd name="connsiteY23" fmla="*/ 455976 h 659319"/>
              <a:gd name="connsiteX24" fmla="*/ 493158 w 1309454"/>
              <a:gd name="connsiteY24" fmla="*/ 432285 h 659319"/>
              <a:gd name="connsiteX25" fmla="*/ 505825 w 1309454"/>
              <a:gd name="connsiteY25" fmla="*/ 420439 h 659319"/>
              <a:gd name="connsiteX26" fmla="*/ 518730 w 1309454"/>
              <a:gd name="connsiteY26" fmla="*/ 408772 h 659319"/>
              <a:gd name="connsiteX27" fmla="*/ 543945 w 1309454"/>
              <a:gd name="connsiteY27" fmla="*/ 384192 h 659319"/>
              <a:gd name="connsiteX28" fmla="*/ 572490 w 1309454"/>
              <a:gd name="connsiteY28" fmla="*/ 356355 h 659319"/>
              <a:gd name="connsiteX29" fmla="*/ 586763 w 1309454"/>
              <a:gd name="connsiteY29" fmla="*/ 342437 h 659319"/>
              <a:gd name="connsiteX30" fmla="*/ 601571 w 1309454"/>
              <a:gd name="connsiteY30" fmla="*/ 328696 h 659319"/>
              <a:gd name="connsiteX31" fmla="*/ 631306 w 1309454"/>
              <a:gd name="connsiteY31" fmla="*/ 301155 h 659319"/>
              <a:gd name="connsiteX32" fmla="*/ 662170 w 1309454"/>
              <a:gd name="connsiteY32" fmla="*/ 274029 h 659319"/>
              <a:gd name="connsiteX33" fmla="*/ 797046 w 1309454"/>
              <a:gd name="connsiteY33" fmla="*/ 170677 h 659319"/>
              <a:gd name="connsiteX34" fmla="*/ 954938 w 1309454"/>
              <a:gd name="connsiteY34" fmla="*/ 85627 h 659319"/>
              <a:gd name="connsiteX35" fmla="*/ 1130848 w 1309454"/>
              <a:gd name="connsiteY35" fmla="*/ 32914 h 659319"/>
              <a:gd name="connsiteX36" fmla="*/ 1309255 w 1309454"/>
              <a:gd name="connsiteY36" fmla="*/ 16923 h 659319"/>
              <a:gd name="connsiteX37" fmla="*/ 1309255 w 1309454"/>
              <a:gd name="connsiteY37" fmla="*/ 102 h 659319"/>
              <a:gd name="connsiteX38" fmla="*/ 1127874 w 1309454"/>
              <a:gd name="connsiteY38" fmla="*/ 16627 h 65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454" h="659319">
                <a:moveTo>
                  <a:pt x="1127874" y="16627"/>
                </a:moveTo>
                <a:cubicBezTo>
                  <a:pt x="1066264" y="27807"/>
                  <a:pt x="1006081" y="45825"/>
                  <a:pt x="948515" y="70346"/>
                </a:cubicBezTo>
                <a:cubicBezTo>
                  <a:pt x="892435" y="94243"/>
                  <a:pt x="838675" y="123208"/>
                  <a:pt x="787947" y="156877"/>
                </a:cubicBezTo>
                <a:cubicBezTo>
                  <a:pt x="740312" y="188883"/>
                  <a:pt x="694640" y="223712"/>
                  <a:pt x="651168" y="261177"/>
                </a:cubicBezTo>
                <a:lnTo>
                  <a:pt x="620006" y="288540"/>
                </a:lnTo>
                <a:cubicBezTo>
                  <a:pt x="609718" y="297720"/>
                  <a:pt x="599965" y="307019"/>
                  <a:pt x="590272" y="316258"/>
                </a:cubicBezTo>
                <a:lnTo>
                  <a:pt x="575345" y="330118"/>
                </a:lnTo>
                <a:lnTo>
                  <a:pt x="560954" y="344155"/>
                </a:lnTo>
                <a:lnTo>
                  <a:pt x="532230" y="372110"/>
                </a:lnTo>
                <a:lnTo>
                  <a:pt x="507193" y="396571"/>
                </a:lnTo>
                <a:lnTo>
                  <a:pt x="494705" y="408712"/>
                </a:lnTo>
                <a:lnTo>
                  <a:pt x="481859" y="420617"/>
                </a:lnTo>
                <a:cubicBezTo>
                  <a:pt x="473474" y="428317"/>
                  <a:pt x="465148" y="436312"/>
                  <a:pt x="456704" y="443834"/>
                </a:cubicBezTo>
                <a:lnTo>
                  <a:pt x="431429" y="466045"/>
                </a:lnTo>
                <a:cubicBezTo>
                  <a:pt x="398959" y="494029"/>
                  <a:pt x="364942" y="520113"/>
                  <a:pt x="329439" y="544166"/>
                </a:cubicBezTo>
                <a:cubicBezTo>
                  <a:pt x="296731" y="565814"/>
                  <a:pt x="262180" y="584487"/>
                  <a:pt x="226141" y="599958"/>
                </a:cubicBezTo>
                <a:cubicBezTo>
                  <a:pt x="191411" y="614848"/>
                  <a:pt x="155016" y="625738"/>
                  <a:pt x="117788" y="632414"/>
                </a:cubicBezTo>
                <a:cubicBezTo>
                  <a:pt x="78836" y="639206"/>
                  <a:pt x="39348" y="642693"/>
                  <a:pt x="-199" y="642838"/>
                </a:cubicBezTo>
                <a:lnTo>
                  <a:pt x="-199" y="659422"/>
                </a:lnTo>
                <a:cubicBezTo>
                  <a:pt x="40359" y="659275"/>
                  <a:pt x="80857" y="655709"/>
                  <a:pt x="120821" y="648761"/>
                </a:cubicBezTo>
                <a:cubicBezTo>
                  <a:pt x="159060" y="641807"/>
                  <a:pt x="196407" y="630561"/>
                  <a:pt x="232088" y="615238"/>
                </a:cubicBezTo>
                <a:cubicBezTo>
                  <a:pt x="269256" y="599372"/>
                  <a:pt x="304879" y="580162"/>
                  <a:pt x="338538" y="557847"/>
                </a:cubicBezTo>
                <a:cubicBezTo>
                  <a:pt x="374576" y="533394"/>
                  <a:pt x="409188" y="506875"/>
                  <a:pt x="442193" y="478423"/>
                </a:cubicBezTo>
                <a:lnTo>
                  <a:pt x="467765" y="455976"/>
                </a:lnTo>
                <a:cubicBezTo>
                  <a:pt x="476269" y="448395"/>
                  <a:pt x="484654" y="440340"/>
                  <a:pt x="493158" y="432285"/>
                </a:cubicBezTo>
                <a:lnTo>
                  <a:pt x="505825" y="420439"/>
                </a:lnTo>
                <a:lnTo>
                  <a:pt x="518730" y="408772"/>
                </a:lnTo>
                <a:lnTo>
                  <a:pt x="543945" y="384192"/>
                </a:lnTo>
                <a:lnTo>
                  <a:pt x="572490" y="356355"/>
                </a:lnTo>
                <a:lnTo>
                  <a:pt x="586763" y="342437"/>
                </a:lnTo>
                <a:lnTo>
                  <a:pt x="601571" y="328696"/>
                </a:lnTo>
                <a:cubicBezTo>
                  <a:pt x="611503" y="319516"/>
                  <a:pt x="621196" y="310276"/>
                  <a:pt x="631306" y="301155"/>
                </a:cubicBezTo>
                <a:lnTo>
                  <a:pt x="662170" y="274029"/>
                </a:lnTo>
                <a:cubicBezTo>
                  <a:pt x="705048" y="236933"/>
                  <a:pt x="750066" y="202421"/>
                  <a:pt x="797046" y="170677"/>
                </a:cubicBezTo>
                <a:cubicBezTo>
                  <a:pt x="847001" y="137616"/>
                  <a:pt x="899810" y="109148"/>
                  <a:pt x="954938" y="85627"/>
                </a:cubicBezTo>
                <a:cubicBezTo>
                  <a:pt x="1011433" y="61640"/>
                  <a:pt x="1070427" y="43962"/>
                  <a:pt x="1130848" y="32914"/>
                </a:cubicBezTo>
                <a:cubicBezTo>
                  <a:pt x="1189722" y="22402"/>
                  <a:pt x="1249429" y="17050"/>
                  <a:pt x="1309255" y="16923"/>
                </a:cubicBezTo>
                <a:lnTo>
                  <a:pt x="1309255" y="102"/>
                </a:lnTo>
                <a:cubicBezTo>
                  <a:pt x="1248418" y="333"/>
                  <a:pt x="1187759" y="5863"/>
                  <a:pt x="1127874" y="16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191" name="Freeform: Shape 190">
            <a:extLst>
              <a:ext uri="{FF2B5EF4-FFF2-40B4-BE49-F238E27FC236}">
                <a16:creationId xmlns:a16="http://schemas.microsoft.com/office/drawing/2014/main" id="{9F2D4391-77D4-2428-6459-94E7356E9579}"/>
              </a:ext>
            </a:extLst>
          </p:cNvPr>
          <p:cNvSpPr/>
          <p:nvPr/>
        </p:nvSpPr>
        <p:spPr>
          <a:xfrm>
            <a:off x="2245305" y="3890960"/>
            <a:ext cx="65154" cy="58693"/>
          </a:xfrm>
          <a:custGeom>
            <a:avLst/>
            <a:gdLst>
              <a:gd name="connsiteX0" fmla="*/ 1078 w 65154"/>
              <a:gd name="connsiteY0" fmla="*/ 13434 h 58693"/>
              <a:gd name="connsiteX1" fmla="*/ 26769 w 65154"/>
              <a:gd name="connsiteY1" fmla="*/ 35941 h 58693"/>
              <a:gd name="connsiteX2" fmla="*/ 52935 w 65154"/>
              <a:gd name="connsiteY2" fmla="*/ 57796 h 58693"/>
              <a:gd name="connsiteX3" fmla="*/ 57728 w 65154"/>
              <a:gd name="connsiteY3" fmla="*/ 57819 h 58693"/>
              <a:gd name="connsiteX4" fmla="*/ 57752 w 65154"/>
              <a:gd name="connsiteY4" fmla="*/ 57796 h 58693"/>
              <a:gd name="connsiteX5" fmla="*/ 64353 w 65154"/>
              <a:gd name="connsiteY5" fmla="*/ 49741 h 58693"/>
              <a:gd name="connsiteX6" fmla="*/ 63521 w 65154"/>
              <a:gd name="connsiteY6" fmla="*/ 45062 h 58693"/>
              <a:gd name="connsiteX7" fmla="*/ 37651 w 65154"/>
              <a:gd name="connsiteY7" fmla="*/ 23385 h 58693"/>
              <a:gd name="connsiteX8" fmla="*/ 12258 w 65154"/>
              <a:gd name="connsiteY8" fmla="*/ 1056 h 58693"/>
              <a:gd name="connsiteX9" fmla="*/ 7441 w 65154"/>
              <a:gd name="connsiteY9" fmla="*/ 1056 h 58693"/>
              <a:gd name="connsiteX10" fmla="*/ 483 w 65154"/>
              <a:gd name="connsiteY10" fmla="*/ 8815 h 58693"/>
              <a:gd name="connsiteX11" fmla="*/ 1078 w 65154"/>
              <a:gd name="connsiteY11" fmla="*/ 13434 h 5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54" h="58693">
                <a:moveTo>
                  <a:pt x="1078" y="13434"/>
                </a:moveTo>
                <a:lnTo>
                  <a:pt x="26769" y="35941"/>
                </a:lnTo>
                <a:cubicBezTo>
                  <a:pt x="35154" y="43581"/>
                  <a:pt x="44253" y="50511"/>
                  <a:pt x="52935" y="57796"/>
                </a:cubicBezTo>
                <a:cubicBezTo>
                  <a:pt x="54249" y="59120"/>
                  <a:pt x="56396" y="59131"/>
                  <a:pt x="57728" y="57819"/>
                </a:cubicBezTo>
                <a:cubicBezTo>
                  <a:pt x="57734" y="57811"/>
                  <a:pt x="57746" y="57803"/>
                  <a:pt x="57752" y="57796"/>
                </a:cubicBezTo>
                <a:lnTo>
                  <a:pt x="64353" y="49741"/>
                </a:lnTo>
                <a:cubicBezTo>
                  <a:pt x="65412" y="48218"/>
                  <a:pt x="65037" y="46130"/>
                  <a:pt x="63521" y="45062"/>
                </a:cubicBezTo>
                <a:cubicBezTo>
                  <a:pt x="54897" y="37540"/>
                  <a:pt x="45977" y="30906"/>
                  <a:pt x="37651" y="23385"/>
                </a:cubicBezTo>
                <a:lnTo>
                  <a:pt x="12258" y="1056"/>
                </a:lnTo>
                <a:cubicBezTo>
                  <a:pt x="10908" y="-215"/>
                  <a:pt x="8791" y="-215"/>
                  <a:pt x="7441" y="1056"/>
                </a:cubicBezTo>
                <a:lnTo>
                  <a:pt x="483" y="8815"/>
                </a:lnTo>
                <a:cubicBezTo>
                  <a:pt x="-623" y="10257"/>
                  <a:pt x="-356" y="12315"/>
                  <a:pt x="1078" y="13434"/>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2" name="Freeform: Shape 191">
            <a:extLst>
              <a:ext uri="{FF2B5EF4-FFF2-40B4-BE49-F238E27FC236}">
                <a16:creationId xmlns:a16="http://schemas.microsoft.com/office/drawing/2014/main" id="{BB67486C-01C5-F2D3-EBC4-6D9CAB8D1185}"/>
              </a:ext>
            </a:extLst>
          </p:cNvPr>
          <p:cNvSpPr/>
          <p:nvPr/>
        </p:nvSpPr>
        <p:spPr>
          <a:xfrm>
            <a:off x="2362426" y="3985031"/>
            <a:ext cx="69237" cy="52514"/>
          </a:xfrm>
          <a:custGeom>
            <a:avLst/>
            <a:gdLst>
              <a:gd name="connsiteX0" fmla="*/ 1587 w 69237"/>
              <a:gd name="connsiteY0" fmla="*/ 14542 h 52514"/>
              <a:gd name="connsiteX1" fmla="*/ 29537 w 69237"/>
              <a:gd name="connsiteY1" fmla="*/ 33731 h 52514"/>
              <a:gd name="connsiteX2" fmla="*/ 58558 w 69237"/>
              <a:gd name="connsiteY2" fmla="*/ 51973 h 52514"/>
              <a:gd name="connsiteX3" fmla="*/ 63215 w 69237"/>
              <a:gd name="connsiteY3" fmla="*/ 51263 h 52514"/>
              <a:gd name="connsiteX4" fmla="*/ 63256 w 69237"/>
              <a:gd name="connsiteY4" fmla="*/ 51203 h 52514"/>
              <a:gd name="connsiteX5" fmla="*/ 68668 w 69237"/>
              <a:gd name="connsiteY5" fmla="*/ 42319 h 52514"/>
              <a:gd name="connsiteX6" fmla="*/ 67241 w 69237"/>
              <a:gd name="connsiteY6" fmla="*/ 37759 h 52514"/>
              <a:gd name="connsiteX7" fmla="*/ 38755 w 69237"/>
              <a:gd name="connsiteY7" fmla="*/ 19991 h 52514"/>
              <a:gd name="connsiteX8" fmla="*/ 11042 w 69237"/>
              <a:gd name="connsiteY8" fmla="*/ 860 h 52514"/>
              <a:gd name="connsiteX9" fmla="*/ 6285 w 69237"/>
              <a:gd name="connsiteY9" fmla="*/ 1334 h 52514"/>
              <a:gd name="connsiteX10" fmla="*/ 338 w 69237"/>
              <a:gd name="connsiteY10" fmla="*/ 9744 h 52514"/>
              <a:gd name="connsiteX11" fmla="*/ 1361 w 69237"/>
              <a:gd name="connsiteY11" fmla="*/ 14409 h 52514"/>
              <a:gd name="connsiteX12" fmla="*/ 1587 w 69237"/>
              <a:gd name="connsiteY12" fmla="*/ 14542 h 5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237" h="52514">
                <a:moveTo>
                  <a:pt x="1587" y="14542"/>
                </a:moveTo>
                <a:lnTo>
                  <a:pt x="29537" y="33731"/>
                </a:lnTo>
                <a:cubicBezTo>
                  <a:pt x="39112" y="39950"/>
                  <a:pt x="48865" y="45873"/>
                  <a:pt x="58558" y="51973"/>
                </a:cubicBezTo>
                <a:cubicBezTo>
                  <a:pt x="60039" y="53057"/>
                  <a:pt x="62126" y="52739"/>
                  <a:pt x="63215" y="51263"/>
                </a:cubicBezTo>
                <a:cubicBezTo>
                  <a:pt x="63227" y="51243"/>
                  <a:pt x="63245" y="51224"/>
                  <a:pt x="63256" y="51203"/>
                </a:cubicBezTo>
                <a:lnTo>
                  <a:pt x="68668" y="42319"/>
                </a:lnTo>
                <a:cubicBezTo>
                  <a:pt x="69507" y="40665"/>
                  <a:pt x="68876" y="38647"/>
                  <a:pt x="67241" y="37759"/>
                </a:cubicBezTo>
                <a:cubicBezTo>
                  <a:pt x="57726" y="31836"/>
                  <a:pt x="48151" y="25913"/>
                  <a:pt x="38755" y="19991"/>
                </a:cubicBezTo>
                <a:lnTo>
                  <a:pt x="11042" y="860"/>
                </a:lnTo>
                <a:cubicBezTo>
                  <a:pt x="9597" y="-313"/>
                  <a:pt x="7468" y="-101"/>
                  <a:pt x="6285" y="1334"/>
                </a:cubicBezTo>
                <a:lnTo>
                  <a:pt x="338" y="9744"/>
                </a:lnTo>
                <a:cubicBezTo>
                  <a:pt x="-673" y="11313"/>
                  <a:pt x="-215" y="13402"/>
                  <a:pt x="1361" y="14409"/>
                </a:cubicBezTo>
                <a:cubicBezTo>
                  <a:pt x="1432" y="14456"/>
                  <a:pt x="1509" y="14500"/>
                  <a:pt x="1587" y="1454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3" name="Freeform: Shape 192">
            <a:extLst>
              <a:ext uri="{FF2B5EF4-FFF2-40B4-BE49-F238E27FC236}">
                <a16:creationId xmlns:a16="http://schemas.microsoft.com/office/drawing/2014/main" id="{DB699A66-FBFF-4CE4-D60F-3097DD646725}"/>
              </a:ext>
            </a:extLst>
          </p:cNvPr>
          <p:cNvSpPr/>
          <p:nvPr/>
        </p:nvSpPr>
        <p:spPr>
          <a:xfrm>
            <a:off x="2492448" y="4061090"/>
            <a:ext cx="73652" cy="42408"/>
          </a:xfrm>
          <a:custGeom>
            <a:avLst/>
            <a:gdLst>
              <a:gd name="connsiteX0" fmla="*/ 1922 w 73652"/>
              <a:gd name="connsiteY0" fmla="*/ 15478 h 42408"/>
              <a:gd name="connsiteX1" fmla="*/ 17443 w 73652"/>
              <a:gd name="connsiteY1" fmla="*/ 22882 h 42408"/>
              <a:gd name="connsiteX2" fmla="*/ 33322 w 73652"/>
              <a:gd name="connsiteY2" fmla="*/ 29515 h 42408"/>
              <a:gd name="connsiteX3" fmla="*/ 49200 w 73652"/>
              <a:gd name="connsiteY3" fmla="*/ 36030 h 42408"/>
              <a:gd name="connsiteX4" fmla="*/ 65257 w 73652"/>
              <a:gd name="connsiteY4" fmla="*/ 42249 h 42408"/>
              <a:gd name="connsiteX5" fmla="*/ 69776 w 73652"/>
              <a:gd name="connsiteY5" fmla="*/ 40472 h 42408"/>
              <a:gd name="connsiteX6" fmla="*/ 73344 w 73652"/>
              <a:gd name="connsiteY6" fmla="*/ 30700 h 42408"/>
              <a:gd name="connsiteX7" fmla="*/ 71025 w 73652"/>
              <a:gd name="connsiteY7" fmla="*/ 26613 h 42408"/>
              <a:gd name="connsiteX8" fmla="*/ 55325 w 73652"/>
              <a:gd name="connsiteY8" fmla="*/ 20690 h 42408"/>
              <a:gd name="connsiteX9" fmla="*/ 39804 w 73652"/>
              <a:gd name="connsiteY9" fmla="*/ 14294 h 42408"/>
              <a:gd name="connsiteX10" fmla="*/ 24282 w 73652"/>
              <a:gd name="connsiteY10" fmla="*/ 7838 h 42408"/>
              <a:gd name="connsiteX11" fmla="*/ 9118 w 73652"/>
              <a:gd name="connsiteY11" fmla="*/ 553 h 42408"/>
              <a:gd name="connsiteX12" fmla="*/ 4562 w 73652"/>
              <a:gd name="connsiteY12" fmla="*/ 1752 h 42408"/>
              <a:gd name="connsiteX13" fmla="*/ 4538 w 73652"/>
              <a:gd name="connsiteY13" fmla="*/ 1797 h 42408"/>
              <a:gd name="connsiteX14" fmla="*/ 19 w 73652"/>
              <a:gd name="connsiteY14" fmla="*/ 11155 h 42408"/>
              <a:gd name="connsiteX15" fmla="*/ 1922 w 73652"/>
              <a:gd name="connsiteY15" fmla="*/ 15478 h 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652" h="42408">
                <a:moveTo>
                  <a:pt x="1922" y="15478"/>
                </a:moveTo>
                <a:lnTo>
                  <a:pt x="17443" y="22882"/>
                </a:lnTo>
                <a:cubicBezTo>
                  <a:pt x="22677" y="25251"/>
                  <a:pt x="27969" y="27324"/>
                  <a:pt x="33322" y="29515"/>
                </a:cubicBezTo>
                <a:lnTo>
                  <a:pt x="49200" y="36030"/>
                </a:lnTo>
                <a:cubicBezTo>
                  <a:pt x="54552" y="38221"/>
                  <a:pt x="59785" y="40531"/>
                  <a:pt x="65257" y="42249"/>
                </a:cubicBezTo>
                <a:cubicBezTo>
                  <a:pt x="66999" y="42960"/>
                  <a:pt x="68991" y="42175"/>
                  <a:pt x="69776" y="40472"/>
                </a:cubicBezTo>
                <a:lnTo>
                  <a:pt x="73344" y="30700"/>
                </a:lnTo>
                <a:cubicBezTo>
                  <a:pt x="73802" y="28938"/>
                  <a:pt x="72779" y="27129"/>
                  <a:pt x="71025" y="26613"/>
                </a:cubicBezTo>
                <a:cubicBezTo>
                  <a:pt x="65613" y="25014"/>
                  <a:pt x="60499" y="22704"/>
                  <a:pt x="55325" y="20690"/>
                </a:cubicBezTo>
                <a:lnTo>
                  <a:pt x="39804" y="14294"/>
                </a:lnTo>
                <a:cubicBezTo>
                  <a:pt x="34630" y="12102"/>
                  <a:pt x="29337" y="10148"/>
                  <a:pt x="24282" y="7838"/>
                </a:cubicBezTo>
                <a:lnTo>
                  <a:pt x="9118" y="553"/>
                </a:lnTo>
                <a:cubicBezTo>
                  <a:pt x="7530" y="-368"/>
                  <a:pt x="5490" y="168"/>
                  <a:pt x="4562" y="1752"/>
                </a:cubicBezTo>
                <a:cubicBezTo>
                  <a:pt x="4556" y="1766"/>
                  <a:pt x="4544" y="1782"/>
                  <a:pt x="4538" y="1797"/>
                </a:cubicBezTo>
                <a:lnTo>
                  <a:pt x="19" y="11155"/>
                </a:lnTo>
                <a:cubicBezTo>
                  <a:pt x="-629" y="12872"/>
                  <a:pt x="215" y="14792"/>
                  <a:pt x="1922" y="1547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4" name="Freeform: Shape 193">
            <a:extLst>
              <a:ext uri="{FF2B5EF4-FFF2-40B4-BE49-F238E27FC236}">
                <a16:creationId xmlns:a16="http://schemas.microsoft.com/office/drawing/2014/main" id="{DC1EED5F-AE3F-1FD0-EC1F-3D7B936A8B6E}"/>
              </a:ext>
            </a:extLst>
          </p:cNvPr>
          <p:cNvSpPr/>
          <p:nvPr/>
        </p:nvSpPr>
        <p:spPr>
          <a:xfrm>
            <a:off x="2784660" y="4130156"/>
            <a:ext cx="38060" cy="17500"/>
          </a:xfrm>
          <a:custGeom>
            <a:avLst/>
            <a:gdLst>
              <a:gd name="connsiteX0" fmla="*/ 3547 w 38060"/>
              <a:gd name="connsiteY0" fmla="*/ 16715 h 17500"/>
              <a:gd name="connsiteX1" fmla="*/ 37861 w 38060"/>
              <a:gd name="connsiteY1" fmla="*/ 17603 h 17500"/>
              <a:gd name="connsiteX2" fmla="*/ 37861 w 38060"/>
              <a:gd name="connsiteY2" fmla="*/ 960 h 17500"/>
              <a:gd name="connsiteX3" fmla="*/ 4201 w 38060"/>
              <a:gd name="connsiteY3" fmla="*/ 131 h 17500"/>
              <a:gd name="connsiteX4" fmla="*/ 467 w 38060"/>
              <a:gd name="connsiteY4" fmla="*/ 2989 h 17500"/>
              <a:gd name="connsiteX5" fmla="*/ 455 w 38060"/>
              <a:gd name="connsiteY5" fmla="*/ 3092 h 17500"/>
              <a:gd name="connsiteX6" fmla="*/ -199 w 38060"/>
              <a:gd name="connsiteY6" fmla="*/ 13457 h 17500"/>
              <a:gd name="connsiteX7" fmla="*/ 3291 w 38060"/>
              <a:gd name="connsiteY7" fmla="*/ 16732 h 17500"/>
              <a:gd name="connsiteX8" fmla="*/ 3547 w 38060"/>
              <a:gd name="connsiteY8" fmla="*/ 16715 h 1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60" h="17500">
                <a:moveTo>
                  <a:pt x="3547" y="16715"/>
                </a:moveTo>
                <a:lnTo>
                  <a:pt x="37861" y="17603"/>
                </a:lnTo>
                <a:lnTo>
                  <a:pt x="37861" y="960"/>
                </a:lnTo>
                <a:lnTo>
                  <a:pt x="4201" y="131"/>
                </a:lnTo>
                <a:cubicBezTo>
                  <a:pt x="2376" y="-107"/>
                  <a:pt x="705" y="1173"/>
                  <a:pt x="467" y="2989"/>
                </a:cubicBezTo>
                <a:cubicBezTo>
                  <a:pt x="461" y="3023"/>
                  <a:pt x="461" y="3058"/>
                  <a:pt x="455" y="3092"/>
                </a:cubicBezTo>
                <a:lnTo>
                  <a:pt x="-199" y="13457"/>
                </a:lnTo>
                <a:cubicBezTo>
                  <a:pt x="-146" y="15321"/>
                  <a:pt x="1418" y="16787"/>
                  <a:pt x="3291" y="16732"/>
                </a:cubicBezTo>
                <a:cubicBezTo>
                  <a:pt x="3375" y="16729"/>
                  <a:pt x="3464" y="16724"/>
                  <a:pt x="3547" y="1671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5" name="Freeform: Shape 194">
            <a:extLst>
              <a:ext uri="{FF2B5EF4-FFF2-40B4-BE49-F238E27FC236}">
                <a16:creationId xmlns:a16="http://schemas.microsoft.com/office/drawing/2014/main" id="{82EE8683-1A91-E31B-2839-084CAE3FB323}"/>
              </a:ext>
            </a:extLst>
          </p:cNvPr>
          <p:cNvSpPr/>
          <p:nvPr/>
        </p:nvSpPr>
        <p:spPr>
          <a:xfrm>
            <a:off x="2635214" y="4110958"/>
            <a:ext cx="75832" cy="28663"/>
          </a:xfrm>
          <a:custGeom>
            <a:avLst/>
            <a:gdLst>
              <a:gd name="connsiteX0" fmla="*/ 2358 w 75832"/>
              <a:gd name="connsiteY0" fmla="*/ 16368 h 28663"/>
              <a:gd name="connsiteX1" fmla="*/ 36255 w 75832"/>
              <a:gd name="connsiteY1" fmla="*/ 23297 h 28663"/>
              <a:gd name="connsiteX2" fmla="*/ 44700 w 75832"/>
              <a:gd name="connsiteY2" fmla="*/ 25015 h 28663"/>
              <a:gd name="connsiteX3" fmla="*/ 53204 w 75832"/>
              <a:gd name="connsiteY3" fmla="*/ 26259 h 28663"/>
              <a:gd name="connsiteX4" fmla="*/ 70212 w 75832"/>
              <a:gd name="connsiteY4" fmla="*/ 28687 h 28663"/>
              <a:gd name="connsiteX5" fmla="*/ 74250 w 75832"/>
              <a:gd name="connsiteY5" fmla="*/ 26112 h 28663"/>
              <a:gd name="connsiteX6" fmla="*/ 74256 w 75832"/>
              <a:gd name="connsiteY6" fmla="*/ 26081 h 28663"/>
              <a:gd name="connsiteX7" fmla="*/ 75624 w 75832"/>
              <a:gd name="connsiteY7" fmla="*/ 15835 h 28663"/>
              <a:gd name="connsiteX8" fmla="*/ 72531 w 75832"/>
              <a:gd name="connsiteY8" fmla="*/ 12222 h 28663"/>
              <a:gd name="connsiteX9" fmla="*/ 55880 w 75832"/>
              <a:gd name="connsiteY9" fmla="*/ 9853 h 28663"/>
              <a:gd name="connsiteX10" fmla="*/ 47555 w 75832"/>
              <a:gd name="connsiteY10" fmla="*/ 8668 h 28663"/>
              <a:gd name="connsiteX11" fmla="*/ 39169 w 75832"/>
              <a:gd name="connsiteY11" fmla="*/ 7069 h 28663"/>
              <a:gd name="connsiteX12" fmla="*/ 6521 w 75832"/>
              <a:gd name="connsiteY12" fmla="*/ 258 h 28663"/>
              <a:gd name="connsiteX13" fmla="*/ 2298 w 75832"/>
              <a:gd name="connsiteY13" fmla="*/ 2390 h 28663"/>
              <a:gd name="connsiteX14" fmla="*/ -140 w 75832"/>
              <a:gd name="connsiteY14" fmla="*/ 12518 h 28663"/>
              <a:gd name="connsiteX15" fmla="*/ 2358 w 75832"/>
              <a:gd name="connsiteY15" fmla="*/ 16368 h 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832" h="28663">
                <a:moveTo>
                  <a:pt x="2358" y="16368"/>
                </a:moveTo>
                <a:lnTo>
                  <a:pt x="36255" y="23297"/>
                </a:lnTo>
                <a:lnTo>
                  <a:pt x="44700" y="25015"/>
                </a:lnTo>
                <a:cubicBezTo>
                  <a:pt x="47495" y="25489"/>
                  <a:pt x="50647" y="25844"/>
                  <a:pt x="53204" y="26259"/>
                </a:cubicBezTo>
                <a:lnTo>
                  <a:pt x="70212" y="28687"/>
                </a:lnTo>
                <a:cubicBezTo>
                  <a:pt x="72044" y="29086"/>
                  <a:pt x="73846" y="27934"/>
                  <a:pt x="74250" y="26112"/>
                </a:cubicBezTo>
                <a:cubicBezTo>
                  <a:pt x="74250" y="26102"/>
                  <a:pt x="74256" y="26092"/>
                  <a:pt x="74256" y="26081"/>
                </a:cubicBezTo>
                <a:lnTo>
                  <a:pt x="75624" y="15835"/>
                </a:lnTo>
                <a:cubicBezTo>
                  <a:pt x="75761" y="13990"/>
                  <a:pt x="74381" y="12379"/>
                  <a:pt x="72531" y="12222"/>
                </a:cubicBezTo>
                <a:lnTo>
                  <a:pt x="55880" y="9853"/>
                </a:lnTo>
                <a:cubicBezTo>
                  <a:pt x="53085" y="9497"/>
                  <a:pt x="50290" y="9142"/>
                  <a:pt x="47555" y="8668"/>
                </a:cubicBezTo>
                <a:lnTo>
                  <a:pt x="39169" y="7069"/>
                </a:lnTo>
                <a:lnTo>
                  <a:pt x="6521" y="258"/>
                </a:lnTo>
                <a:cubicBezTo>
                  <a:pt x="4766" y="-290"/>
                  <a:pt x="2893" y="656"/>
                  <a:pt x="2298" y="2390"/>
                </a:cubicBezTo>
                <a:lnTo>
                  <a:pt x="-140" y="12518"/>
                </a:lnTo>
                <a:cubicBezTo>
                  <a:pt x="-473" y="14260"/>
                  <a:pt x="627" y="15956"/>
                  <a:pt x="2358" y="1636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6" name="Freeform: Shape 195">
            <a:extLst>
              <a:ext uri="{FF2B5EF4-FFF2-40B4-BE49-F238E27FC236}">
                <a16:creationId xmlns:a16="http://schemas.microsoft.com/office/drawing/2014/main" id="{0DB8097D-1541-46A2-6399-A56DC338E3D7}"/>
              </a:ext>
            </a:extLst>
          </p:cNvPr>
          <p:cNvSpPr/>
          <p:nvPr/>
        </p:nvSpPr>
        <p:spPr>
          <a:xfrm>
            <a:off x="1512909" y="3488515"/>
            <a:ext cx="37822" cy="17486"/>
          </a:xfrm>
          <a:custGeom>
            <a:avLst/>
            <a:gdLst>
              <a:gd name="connsiteX0" fmla="*/ 33520 w 37822"/>
              <a:gd name="connsiteY0" fmla="*/ 17575 h 17486"/>
              <a:gd name="connsiteX1" fmla="*/ 37207 w 37822"/>
              <a:gd name="connsiteY1" fmla="*/ 14554 h 17486"/>
              <a:gd name="connsiteX2" fmla="*/ 37623 w 37822"/>
              <a:gd name="connsiteY2" fmla="*/ 4189 h 17486"/>
              <a:gd name="connsiteX3" fmla="*/ 34180 w 37822"/>
              <a:gd name="connsiteY3" fmla="*/ 988 h 17486"/>
              <a:gd name="connsiteX4" fmla="*/ 34115 w 37822"/>
              <a:gd name="connsiteY4" fmla="*/ 991 h 17486"/>
              <a:gd name="connsiteX5" fmla="*/ -199 w 37822"/>
              <a:gd name="connsiteY5" fmla="*/ 102 h 17486"/>
              <a:gd name="connsiteX6" fmla="*/ -199 w 37822"/>
              <a:gd name="connsiteY6" fmla="*/ 16686 h 1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22" h="17486">
                <a:moveTo>
                  <a:pt x="33520" y="17575"/>
                </a:moveTo>
                <a:cubicBezTo>
                  <a:pt x="35375" y="17747"/>
                  <a:pt x="37017" y="16398"/>
                  <a:pt x="37207" y="14554"/>
                </a:cubicBezTo>
                <a:lnTo>
                  <a:pt x="37623" y="4189"/>
                </a:lnTo>
                <a:cubicBezTo>
                  <a:pt x="37558" y="2358"/>
                  <a:pt x="36018" y="925"/>
                  <a:pt x="34180" y="988"/>
                </a:cubicBezTo>
                <a:cubicBezTo>
                  <a:pt x="34156" y="988"/>
                  <a:pt x="34138" y="990"/>
                  <a:pt x="34115" y="991"/>
                </a:cubicBezTo>
                <a:lnTo>
                  <a:pt x="-199" y="102"/>
                </a:lnTo>
                <a:lnTo>
                  <a:pt x="-199" y="16686"/>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7" name="Freeform: Shape 196">
            <a:extLst>
              <a:ext uri="{FF2B5EF4-FFF2-40B4-BE49-F238E27FC236}">
                <a16:creationId xmlns:a16="http://schemas.microsoft.com/office/drawing/2014/main" id="{10A5D651-086E-6255-0478-4F3EAC3901D5}"/>
              </a:ext>
            </a:extLst>
          </p:cNvPr>
          <p:cNvSpPr/>
          <p:nvPr/>
        </p:nvSpPr>
        <p:spPr>
          <a:xfrm>
            <a:off x="1624997" y="3496499"/>
            <a:ext cx="75697" cy="28729"/>
          </a:xfrm>
          <a:custGeom>
            <a:avLst/>
            <a:gdLst>
              <a:gd name="connsiteX0" fmla="*/ 2667 w 75697"/>
              <a:gd name="connsiteY0" fmla="*/ 16698 h 28729"/>
              <a:gd name="connsiteX1" fmla="*/ 19319 w 75697"/>
              <a:gd name="connsiteY1" fmla="*/ 19008 h 28729"/>
              <a:gd name="connsiteX2" fmla="*/ 27644 w 75697"/>
              <a:gd name="connsiteY2" fmla="*/ 20251 h 28729"/>
              <a:gd name="connsiteX3" fmla="*/ 35911 w 75697"/>
              <a:gd name="connsiteY3" fmla="*/ 21969 h 28729"/>
              <a:gd name="connsiteX4" fmla="*/ 68797 w 75697"/>
              <a:gd name="connsiteY4" fmla="*/ 28662 h 28729"/>
              <a:gd name="connsiteX5" fmla="*/ 73008 w 75697"/>
              <a:gd name="connsiteY5" fmla="*/ 26562 h 28729"/>
              <a:gd name="connsiteX6" fmla="*/ 73019 w 75697"/>
              <a:gd name="connsiteY6" fmla="*/ 26529 h 28729"/>
              <a:gd name="connsiteX7" fmla="*/ 75458 w 75697"/>
              <a:gd name="connsiteY7" fmla="*/ 16402 h 28729"/>
              <a:gd name="connsiteX8" fmla="*/ 72663 w 75697"/>
              <a:gd name="connsiteY8" fmla="*/ 12493 h 28729"/>
              <a:gd name="connsiteX9" fmla="*/ 38943 w 75697"/>
              <a:gd name="connsiteY9" fmla="*/ 5563 h 28729"/>
              <a:gd name="connsiteX10" fmla="*/ 30499 w 75697"/>
              <a:gd name="connsiteY10" fmla="*/ 3845 h 28729"/>
              <a:gd name="connsiteX11" fmla="*/ 22054 w 75697"/>
              <a:gd name="connsiteY11" fmla="*/ 2542 h 28729"/>
              <a:gd name="connsiteX12" fmla="*/ 4987 w 75697"/>
              <a:gd name="connsiteY12" fmla="*/ 173 h 28729"/>
              <a:gd name="connsiteX13" fmla="*/ 943 w 75697"/>
              <a:gd name="connsiteY13" fmla="*/ 2720 h 28729"/>
              <a:gd name="connsiteX14" fmla="*/ -187 w 75697"/>
              <a:gd name="connsiteY14" fmla="*/ 13085 h 28729"/>
              <a:gd name="connsiteX15" fmla="*/ 2667 w 75697"/>
              <a:gd name="connsiteY15" fmla="*/ 16698 h 2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697" h="28729">
                <a:moveTo>
                  <a:pt x="2667" y="16698"/>
                </a:moveTo>
                <a:lnTo>
                  <a:pt x="19319" y="19008"/>
                </a:lnTo>
                <a:cubicBezTo>
                  <a:pt x="22114" y="19422"/>
                  <a:pt x="24909" y="19778"/>
                  <a:pt x="27644" y="20251"/>
                </a:cubicBezTo>
                <a:lnTo>
                  <a:pt x="35911" y="21969"/>
                </a:lnTo>
                <a:lnTo>
                  <a:pt x="68797" y="28662"/>
                </a:lnTo>
                <a:cubicBezTo>
                  <a:pt x="70540" y="29240"/>
                  <a:pt x="72431" y="28300"/>
                  <a:pt x="73008" y="26562"/>
                </a:cubicBezTo>
                <a:cubicBezTo>
                  <a:pt x="73013" y="26551"/>
                  <a:pt x="73013" y="26540"/>
                  <a:pt x="73019" y="26529"/>
                </a:cubicBezTo>
                <a:lnTo>
                  <a:pt x="75458" y="16402"/>
                </a:lnTo>
                <a:cubicBezTo>
                  <a:pt x="75743" y="14559"/>
                  <a:pt x="74506" y="12824"/>
                  <a:pt x="72663" y="12493"/>
                </a:cubicBezTo>
                <a:lnTo>
                  <a:pt x="38943" y="5563"/>
                </a:lnTo>
                <a:lnTo>
                  <a:pt x="30499" y="3845"/>
                </a:lnTo>
                <a:cubicBezTo>
                  <a:pt x="27704" y="3312"/>
                  <a:pt x="24552" y="3016"/>
                  <a:pt x="22054" y="2542"/>
                </a:cubicBezTo>
                <a:lnTo>
                  <a:pt x="4987" y="173"/>
                </a:lnTo>
                <a:cubicBezTo>
                  <a:pt x="3173" y="-198"/>
                  <a:pt x="1383" y="927"/>
                  <a:pt x="943" y="2720"/>
                </a:cubicBezTo>
                <a:lnTo>
                  <a:pt x="-187" y="13085"/>
                </a:lnTo>
                <a:cubicBezTo>
                  <a:pt x="-336" y="14848"/>
                  <a:pt x="913" y="16424"/>
                  <a:pt x="2667" y="1669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8" name="Freeform: Shape 197">
            <a:extLst>
              <a:ext uri="{FF2B5EF4-FFF2-40B4-BE49-F238E27FC236}">
                <a16:creationId xmlns:a16="http://schemas.microsoft.com/office/drawing/2014/main" id="{6BBB9EE7-57BF-266E-6A46-77BB93300750}"/>
              </a:ext>
            </a:extLst>
          </p:cNvPr>
          <p:cNvSpPr/>
          <p:nvPr/>
        </p:nvSpPr>
        <p:spPr>
          <a:xfrm>
            <a:off x="1769840" y="3533130"/>
            <a:ext cx="73576" cy="42248"/>
          </a:xfrm>
          <a:custGeom>
            <a:avLst/>
            <a:gdLst>
              <a:gd name="connsiteX0" fmla="*/ 1918 w 73576"/>
              <a:gd name="connsiteY0" fmla="*/ 15485 h 42248"/>
              <a:gd name="connsiteX1" fmla="*/ 17618 w 73576"/>
              <a:gd name="connsiteY1" fmla="*/ 21408 h 42248"/>
              <a:gd name="connsiteX2" fmla="*/ 33377 w 73576"/>
              <a:gd name="connsiteY2" fmla="*/ 28160 h 42248"/>
              <a:gd name="connsiteX3" fmla="*/ 48899 w 73576"/>
              <a:gd name="connsiteY3" fmla="*/ 34616 h 42248"/>
              <a:gd name="connsiteX4" fmla="*/ 64004 w 73576"/>
              <a:gd name="connsiteY4" fmla="*/ 41900 h 42248"/>
              <a:gd name="connsiteX5" fmla="*/ 68559 w 73576"/>
              <a:gd name="connsiteY5" fmla="*/ 40702 h 42248"/>
              <a:gd name="connsiteX6" fmla="*/ 68583 w 73576"/>
              <a:gd name="connsiteY6" fmla="*/ 40657 h 42248"/>
              <a:gd name="connsiteX7" fmla="*/ 73162 w 73576"/>
              <a:gd name="connsiteY7" fmla="*/ 31299 h 42248"/>
              <a:gd name="connsiteX8" fmla="*/ 71200 w 73576"/>
              <a:gd name="connsiteY8" fmla="*/ 26916 h 42248"/>
              <a:gd name="connsiteX9" fmla="*/ 55738 w 73576"/>
              <a:gd name="connsiteY9" fmla="*/ 19453 h 42248"/>
              <a:gd name="connsiteX10" fmla="*/ 39859 w 73576"/>
              <a:gd name="connsiteY10" fmla="*/ 12820 h 42248"/>
              <a:gd name="connsiteX11" fmla="*/ 23981 w 73576"/>
              <a:gd name="connsiteY11" fmla="*/ 6305 h 42248"/>
              <a:gd name="connsiteX12" fmla="*/ 7924 w 73576"/>
              <a:gd name="connsiteY12" fmla="*/ 382 h 42248"/>
              <a:gd name="connsiteX13" fmla="*/ 3405 w 73576"/>
              <a:gd name="connsiteY13" fmla="*/ 2159 h 42248"/>
              <a:gd name="connsiteX14" fmla="*/ -163 w 73576"/>
              <a:gd name="connsiteY14" fmla="*/ 11872 h 42248"/>
              <a:gd name="connsiteX15" fmla="*/ 1918 w 73576"/>
              <a:gd name="connsiteY15" fmla="*/ 15485 h 4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76" h="42248">
                <a:moveTo>
                  <a:pt x="1918" y="15485"/>
                </a:moveTo>
                <a:cubicBezTo>
                  <a:pt x="7330" y="17143"/>
                  <a:pt x="12444" y="19453"/>
                  <a:pt x="17618" y="21408"/>
                </a:cubicBezTo>
                <a:lnTo>
                  <a:pt x="33377" y="28160"/>
                </a:lnTo>
                <a:cubicBezTo>
                  <a:pt x="38551" y="30292"/>
                  <a:pt x="43784" y="32246"/>
                  <a:pt x="48899" y="34616"/>
                </a:cubicBezTo>
                <a:lnTo>
                  <a:pt x="64004" y="41900"/>
                </a:lnTo>
                <a:cubicBezTo>
                  <a:pt x="65592" y="42821"/>
                  <a:pt x="67632" y="42285"/>
                  <a:pt x="68559" y="40702"/>
                </a:cubicBezTo>
                <a:cubicBezTo>
                  <a:pt x="68565" y="40687"/>
                  <a:pt x="68577" y="40671"/>
                  <a:pt x="68583" y="40657"/>
                </a:cubicBezTo>
                <a:lnTo>
                  <a:pt x="73162" y="31299"/>
                </a:lnTo>
                <a:cubicBezTo>
                  <a:pt x="73811" y="29549"/>
                  <a:pt x="72942" y="27604"/>
                  <a:pt x="71200" y="26916"/>
                </a:cubicBezTo>
                <a:lnTo>
                  <a:pt x="55738" y="19453"/>
                </a:lnTo>
                <a:cubicBezTo>
                  <a:pt x="50504" y="17084"/>
                  <a:pt x="45152" y="15070"/>
                  <a:pt x="39859" y="12820"/>
                </a:cubicBezTo>
                <a:lnTo>
                  <a:pt x="23981" y="6305"/>
                </a:lnTo>
                <a:cubicBezTo>
                  <a:pt x="18629" y="4173"/>
                  <a:pt x="13396" y="1863"/>
                  <a:pt x="7924" y="382"/>
                </a:cubicBezTo>
                <a:cubicBezTo>
                  <a:pt x="6182" y="-362"/>
                  <a:pt x="4166" y="431"/>
                  <a:pt x="3405" y="2159"/>
                </a:cubicBezTo>
                <a:lnTo>
                  <a:pt x="-163" y="11872"/>
                </a:lnTo>
                <a:cubicBezTo>
                  <a:pt x="-389" y="13410"/>
                  <a:pt x="473" y="14901"/>
                  <a:pt x="1918" y="1548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199" name="Freeform: Shape 198">
            <a:extLst>
              <a:ext uri="{FF2B5EF4-FFF2-40B4-BE49-F238E27FC236}">
                <a16:creationId xmlns:a16="http://schemas.microsoft.com/office/drawing/2014/main" id="{F9746268-5BDC-B062-6DAE-2A0B54540D37}"/>
              </a:ext>
            </a:extLst>
          </p:cNvPr>
          <p:cNvSpPr/>
          <p:nvPr/>
        </p:nvSpPr>
        <p:spPr>
          <a:xfrm>
            <a:off x="1903480" y="3598602"/>
            <a:ext cx="69360" cy="52657"/>
          </a:xfrm>
          <a:custGeom>
            <a:avLst/>
            <a:gdLst>
              <a:gd name="connsiteX0" fmla="*/ 1787 w 69360"/>
              <a:gd name="connsiteY0" fmla="*/ 15045 h 52657"/>
              <a:gd name="connsiteX1" fmla="*/ 30273 w 69360"/>
              <a:gd name="connsiteY1" fmla="*/ 32813 h 52657"/>
              <a:gd name="connsiteX2" fmla="*/ 57986 w 69360"/>
              <a:gd name="connsiteY2" fmla="*/ 52003 h 52657"/>
              <a:gd name="connsiteX3" fmla="*/ 62743 w 69360"/>
              <a:gd name="connsiteY3" fmla="*/ 51529 h 52657"/>
              <a:gd name="connsiteX4" fmla="*/ 68690 w 69360"/>
              <a:gd name="connsiteY4" fmla="*/ 43118 h 52657"/>
              <a:gd name="connsiteX5" fmla="*/ 67501 w 69360"/>
              <a:gd name="connsiteY5" fmla="*/ 38499 h 52657"/>
              <a:gd name="connsiteX6" fmla="*/ 39372 w 69360"/>
              <a:gd name="connsiteY6" fmla="*/ 19013 h 52657"/>
              <a:gd name="connsiteX7" fmla="*/ 10351 w 69360"/>
              <a:gd name="connsiteY7" fmla="*/ 771 h 52657"/>
              <a:gd name="connsiteX8" fmla="*/ 5605 w 69360"/>
              <a:gd name="connsiteY8" fmla="*/ 1463 h 52657"/>
              <a:gd name="connsiteX9" fmla="*/ 5593 w 69360"/>
              <a:gd name="connsiteY9" fmla="*/ 1482 h 52657"/>
              <a:gd name="connsiteX10" fmla="*/ 182 w 69360"/>
              <a:gd name="connsiteY10" fmla="*/ 10366 h 52657"/>
              <a:gd name="connsiteX11" fmla="*/ 1674 w 69360"/>
              <a:gd name="connsiteY11" fmla="*/ 14990 h 52657"/>
              <a:gd name="connsiteX12" fmla="*/ 1787 w 69360"/>
              <a:gd name="connsiteY12" fmla="*/ 15045 h 5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60" h="52657">
                <a:moveTo>
                  <a:pt x="1787" y="15045"/>
                </a:moveTo>
                <a:cubicBezTo>
                  <a:pt x="11302" y="20967"/>
                  <a:pt x="20877" y="26890"/>
                  <a:pt x="30273" y="32813"/>
                </a:cubicBezTo>
                <a:lnTo>
                  <a:pt x="57986" y="52003"/>
                </a:lnTo>
                <a:cubicBezTo>
                  <a:pt x="59431" y="53175"/>
                  <a:pt x="61560" y="52963"/>
                  <a:pt x="62743" y="51529"/>
                </a:cubicBezTo>
                <a:lnTo>
                  <a:pt x="68690" y="43118"/>
                </a:lnTo>
                <a:cubicBezTo>
                  <a:pt x="69642" y="41515"/>
                  <a:pt x="69106" y="39449"/>
                  <a:pt x="67501" y="38499"/>
                </a:cubicBezTo>
                <a:lnTo>
                  <a:pt x="39372" y="19013"/>
                </a:lnTo>
                <a:cubicBezTo>
                  <a:pt x="29797" y="12794"/>
                  <a:pt x="19985" y="6871"/>
                  <a:pt x="10351" y="771"/>
                </a:cubicBezTo>
                <a:cubicBezTo>
                  <a:pt x="8846" y="-343"/>
                  <a:pt x="6723" y="-33"/>
                  <a:pt x="5605" y="1463"/>
                </a:cubicBezTo>
                <a:cubicBezTo>
                  <a:pt x="5605" y="1468"/>
                  <a:pt x="5599" y="1475"/>
                  <a:pt x="5593" y="1482"/>
                </a:cubicBezTo>
                <a:lnTo>
                  <a:pt x="182" y="10366"/>
                </a:lnTo>
                <a:cubicBezTo>
                  <a:pt x="-687" y="12054"/>
                  <a:pt x="-21" y="14124"/>
                  <a:pt x="1674" y="14990"/>
                </a:cubicBezTo>
                <a:cubicBezTo>
                  <a:pt x="1710" y="15009"/>
                  <a:pt x="1751" y="15027"/>
                  <a:pt x="1787" y="1504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0" name="Freeform: Shape 199">
            <a:extLst>
              <a:ext uri="{FF2B5EF4-FFF2-40B4-BE49-F238E27FC236}">
                <a16:creationId xmlns:a16="http://schemas.microsoft.com/office/drawing/2014/main" id="{85ED3417-CBEA-5FFA-D2A9-8C3871B7F2E9}"/>
              </a:ext>
            </a:extLst>
          </p:cNvPr>
          <p:cNvSpPr/>
          <p:nvPr/>
        </p:nvSpPr>
        <p:spPr>
          <a:xfrm>
            <a:off x="2136471" y="3787428"/>
            <a:ext cx="62604" cy="61527"/>
          </a:xfrm>
          <a:custGeom>
            <a:avLst/>
            <a:gdLst>
              <a:gd name="connsiteX0" fmla="*/ 963 w 62604"/>
              <a:gd name="connsiteY0" fmla="*/ 13081 h 61527"/>
              <a:gd name="connsiteX1" fmla="*/ 25227 w 62604"/>
              <a:gd name="connsiteY1" fmla="*/ 36772 h 61527"/>
              <a:gd name="connsiteX2" fmla="*/ 49550 w 62604"/>
              <a:gd name="connsiteY2" fmla="*/ 60463 h 61527"/>
              <a:gd name="connsiteX3" fmla="*/ 54367 w 62604"/>
              <a:gd name="connsiteY3" fmla="*/ 60819 h 61527"/>
              <a:gd name="connsiteX4" fmla="*/ 61622 w 62604"/>
              <a:gd name="connsiteY4" fmla="*/ 53356 h 61527"/>
              <a:gd name="connsiteX5" fmla="*/ 61206 w 62604"/>
              <a:gd name="connsiteY5" fmla="*/ 48618 h 61527"/>
              <a:gd name="connsiteX6" fmla="*/ 37002 w 62604"/>
              <a:gd name="connsiteY6" fmla="*/ 24927 h 61527"/>
              <a:gd name="connsiteX7" fmla="*/ 12619 w 62604"/>
              <a:gd name="connsiteY7" fmla="*/ 1236 h 61527"/>
              <a:gd name="connsiteX8" fmla="*/ 7802 w 62604"/>
              <a:gd name="connsiteY8" fmla="*/ 940 h 61527"/>
              <a:gd name="connsiteX9" fmla="*/ 607 w 62604"/>
              <a:gd name="connsiteY9" fmla="*/ 8402 h 61527"/>
              <a:gd name="connsiteX10" fmla="*/ 963 w 62604"/>
              <a:gd name="connsiteY10" fmla="*/ 13080 h 61527"/>
              <a:gd name="connsiteX11" fmla="*/ 963 w 62604"/>
              <a:gd name="connsiteY11" fmla="*/ 13081 h 61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4" h="61527">
                <a:moveTo>
                  <a:pt x="963" y="13081"/>
                </a:moveTo>
                <a:lnTo>
                  <a:pt x="25227" y="36772"/>
                </a:lnTo>
                <a:lnTo>
                  <a:pt x="49550" y="60463"/>
                </a:lnTo>
                <a:cubicBezTo>
                  <a:pt x="50793" y="61869"/>
                  <a:pt x="52934" y="62026"/>
                  <a:pt x="54367" y="60819"/>
                </a:cubicBezTo>
                <a:lnTo>
                  <a:pt x="61622" y="53356"/>
                </a:lnTo>
                <a:cubicBezTo>
                  <a:pt x="62811" y="51931"/>
                  <a:pt x="62627" y="49815"/>
                  <a:pt x="61206" y="48618"/>
                </a:cubicBezTo>
                <a:lnTo>
                  <a:pt x="37002" y="24927"/>
                </a:lnTo>
                <a:lnTo>
                  <a:pt x="12619" y="1236"/>
                </a:lnTo>
                <a:cubicBezTo>
                  <a:pt x="11364" y="-151"/>
                  <a:pt x="9224" y="-283"/>
                  <a:pt x="7802" y="940"/>
                </a:cubicBezTo>
                <a:lnTo>
                  <a:pt x="607" y="8402"/>
                </a:lnTo>
                <a:cubicBezTo>
                  <a:pt x="-595" y="9791"/>
                  <a:pt x="-434" y="11886"/>
                  <a:pt x="963" y="13080"/>
                </a:cubicBezTo>
                <a:cubicBezTo>
                  <a:pt x="963" y="13080"/>
                  <a:pt x="963" y="13081"/>
                  <a:pt x="963" y="13081"/>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1" name="Freeform: Shape 200">
            <a:extLst>
              <a:ext uri="{FF2B5EF4-FFF2-40B4-BE49-F238E27FC236}">
                <a16:creationId xmlns:a16="http://schemas.microsoft.com/office/drawing/2014/main" id="{8FF42150-0E0C-DFF4-594F-02B5C4D1C914}"/>
              </a:ext>
            </a:extLst>
          </p:cNvPr>
          <p:cNvSpPr/>
          <p:nvPr/>
        </p:nvSpPr>
        <p:spPr>
          <a:xfrm>
            <a:off x="2025003" y="3686583"/>
            <a:ext cx="65267" cy="58765"/>
          </a:xfrm>
          <a:custGeom>
            <a:avLst/>
            <a:gdLst>
              <a:gd name="connsiteX0" fmla="*/ 1284 w 65267"/>
              <a:gd name="connsiteY0" fmla="*/ 13950 h 58765"/>
              <a:gd name="connsiteX1" fmla="*/ 27212 w 65267"/>
              <a:gd name="connsiteY1" fmla="*/ 35627 h 58765"/>
              <a:gd name="connsiteX2" fmla="*/ 52606 w 65267"/>
              <a:gd name="connsiteY2" fmla="*/ 57897 h 58765"/>
              <a:gd name="connsiteX3" fmla="*/ 57363 w 65267"/>
              <a:gd name="connsiteY3" fmla="*/ 57897 h 58765"/>
              <a:gd name="connsiteX4" fmla="*/ 64381 w 65267"/>
              <a:gd name="connsiteY4" fmla="*/ 50197 h 58765"/>
              <a:gd name="connsiteX5" fmla="*/ 63762 w 65267"/>
              <a:gd name="connsiteY5" fmla="*/ 45547 h 58765"/>
              <a:gd name="connsiteX6" fmla="*/ 63727 w 65267"/>
              <a:gd name="connsiteY6" fmla="*/ 45518 h 58765"/>
              <a:gd name="connsiteX7" fmla="*/ 38095 w 65267"/>
              <a:gd name="connsiteY7" fmla="*/ 23012 h 58765"/>
              <a:gd name="connsiteX8" fmla="*/ 11869 w 65267"/>
              <a:gd name="connsiteY8" fmla="*/ 1098 h 58765"/>
              <a:gd name="connsiteX9" fmla="*/ 7159 w 65267"/>
              <a:gd name="connsiteY9" fmla="*/ 1050 h 58765"/>
              <a:gd name="connsiteX10" fmla="*/ 7112 w 65267"/>
              <a:gd name="connsiteY10" fmla="*/ 1098 h 58765"/>
              <a:gd name="connsiteX11" fmla="*/ 511 w 65267"/>
              <a:gd name="connsiteY11" fmla="*/ 9094 h 58765"/>
              <a:gd name="connsiteX12" fmla="*/ 1117 w 65267"/>
              <a:gd name="connsiteY12" fmla="*/ 13829 h 58765"/>
              <a:gd name="connsiteX13" fmla="*/ 1284 w 65267"/>
              <a:gd name="connsiteY13" fmla="*/ 13950 h 5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67" h="58765">
                <a:moveTo>
                  <a:pt x="1284" y="13950"/>
                </a:moveTo>
                <a:cubicBezTo>
                  <a:pt x="9907" y="21235"/>
                  <a:pt x="19125" y="28046"/>
                  <a:pt x="27212" y="35627"/>
                </a:cubicBezTo>
                <a:lnTo>
                  <a:pt x="52606" y="57897"/>
                </a:lnTo>
                <a:cubicBezTo>
                  <a:pt x="53926" y="59192"/>
                  <a:pt x="56043" y="59192"/>
                  <a:pt x="57363" y="57897"/>
                </a:cubicBezTo>
                <a:lnTo>
                  <a:pt x="64381" y="50197"/>
                </a:lnTo>
                <a:cubicBezTo>
                  <a:pt x="65499" y="48744"/>
                  <a:pt x="65225" y="46662"/>
                  <a:pt x="63762" y="45547"/>
                </a:cubicBezTo>
                <a:cubicBezTo>
                  <a:pt x="63750" y="45537"/>
                  <a:pt x="63739" y="45528"/>
                  <a:pt x="63727" y="45518"/>
                </a:cubicBezTo>
                <a:lnTo>
                  <a:pt x="38095" y="23012"/>
                </a:lnTo>
                <a:cubicBezTo>
                  <a:pt x="29651" y="15372"/>
                  <a:pt x="20611" y="8383"/>
                  <a:pt x="11869" y="1098"/>
                </a:cubicBezTo>
                <a:cubicBezTo>
                  <a:pt x="10585" y="-210"/>
                  <a:pt x="8474" y="-232"/>
                  <a:pt x="7159" y="1050"/>
                </a:cubicBezTo>
                <a:cubicBezTo>
                  <a:pt x="7142" y="1066"/>
                  <a:pt x="7130" y="1082"/>
                  <a:pt x="7112" y="1098"/>
                </a:cubicBezTo>
                <a:lnTo>
                  <a:pt x="511" y="9094"/>
                </a:lnTo>
                <a:cubicBezTo>
                  <a:pt x="-637" y="10568"/>
                  <a:pt x="-364" y="12689"/>
                  <a:pt x="1117" y="13829"/>
                </a:cubicBezTo>
                <a:cubicBezTo>
                  <a:pt x="1171" y="13871"/>
                  <a:pt x="1224" y="13912"/>
                  <a:pt x="1284" y="13950"/>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2" name="Freeform: Shape 201">
            <a:extLst>
              <a:ext uri="{FF2B5EF4-FFF2-40B4-BE49-F238E27FC236}">
                <a16:creationId xmlns:a16="http://schemas.microsoft.com/office/drawing/2014/main" id="{ECB787B8-7B13-4ACC-2040-9C7821A88AEF}"/>
              </a:ext>
            </a:extLst>
          </p:cNvPr>
          <p:cNvSpPr/>
          <p:nvPr/>
        </p:nvSpPr>
        <p:spPr>
          <a:xfrm>
            <a:off x="1512909" y="3324277"/>
            <a:ext cx="1309811" cy="659319"/>
          </a:xfrm>
          <a:custGeom>
            <a:avLst/>
            <a:gdLst>
              <a:gd name="connsiteX0" fmla="*/ 354119 w 1309811"/>
              <a:gd name="connsiteY0" fmla="*/ 85627 h 659319"/>
              <a:gd name="connsiteX1" fmla="*/ 512010 w 1309811"/>
              <a:gd name="connsiteY1" fmla="*/ 170677 h 659319"/>
              <a:gd name="connsiteX2" fmla="*/ 647124 w 1309811"/>
              <a:gd name="connsiteY2" fmla="*/ 273733 h 659319"/>
              <a:gd name="connsiteX3" fmla="*/ 678048 w 1309811"/>
              <a:gd name="connsiteY3" fmla="*/ 300859 h 659319"/>
              <a:gd name="connsiteX4" fmla="*/ 707783 w 1309811"/>
              <a:gd name="connsiteY4" fmla="*/ 328400 h 659319"/>
              <a:gd name="connsiteX5" fmla="*/ 722591 w 1309811"/>
              <a:gd name="connsiteY5" fmla="*/ 342141 h 659319"/>
              <a:gd name="connsiteX6" fmla="*/ 736923 w 1309811"/>
              <a:gd name="connsiteY6" fmla="*/ 356059 h 659319"/>
              <a:gd name="connsiteX7" fmla="*/ 765468 w 1309811"/>
              <a:gd name="connsiteY7" fmla="*/ 383896 h 659319"/>
              <a:gd name="connsiteX8" fmla="*/ 790445 w 1309811"/>
              <a:gd name="connsiteY8" fmla="*/ 408772 h 659319"/>
              <a:gd name="connsiteX9" fmla="*/ 803052 w 1309811"/>
              <a:gd name="connsiteY9" fmla="*/ 420617 h 659319"/>
              <a:gd name="connsiteX10" fmla="*/ 815779 w 1309811"/>
              <a:gd name="connsiteY10" fmla="*/ 432463 h 659319"/>
              <a:gd name="connsiteX11" fmla="*/ 841172 w 1309811"/>
              <a:gd name="connsiteY11" fmla="*/ 456154 h 659319"/>
              <a:gd name="connsiteX12" fmla="*/ 866744 w 1309811"/>
              <a:gd name="connsiteY12" fmla="*/ 478601 h 659319"/>
              <a:gd name="connsiteX13" fmla="*/ 970399 w 1309811"/>
              <a:gd name="connsiteY13" fmla="*/ 557847 h 659319"/>
              <a:gd name="connsiteX14" fmla="*/ 1076849 w 1309811"/>
              <a:gd name="connsiteY14" fmla="*/ 615238 h 659319"/>
              <a:gd name="connsiteX15" fmla="*/ 1188592 w 1309811"/>
              <a:gd name="connsiteY15" fmla="*/ 648761 h 659319"/>
              <a:gd name="connsiteX16" fmla="*/ 1309612 w 1309811"/>
              <a:gd name="connsiteY16" fmla="*/ 659422 h 659319"/>
              <a:gd name="connsiteX17" fmla="*/ 1309612 w 1309811"/>
              <a:gd name="connsiteY17" fmla="*/ 642838 h 659319"/>
              <a:gd name="connsiteX18" fmla="*/ 1191625 w 1309811"/>
              <a:gd name="connsiteY18" fmla="*/ 632414 h 659319"/>
              <a:gd name="connsiteX19" fmla="*/ 1083331 w 1309811"/>
              <a:gd name="connsiteY19" fmla="*/ 599958 h 659319"/>
              <a:gd name="connsiteX20" fmla="*/ 979617 w 1309811"/>
              <a:gd name="connsiteY20" fmla="*/ 543988 h 659319"/>
              <a:gd name="connsiteX21" fmla="*/ 877627 w 1309811"/>
              <a:gd name="connsiteY21" fmla="*/ 465867 h 659319"/>
              <a:gd name="connsiteX22" fmla="*/ 852293 w 1309811"/>
              <a:gd name="connsiteY22" fmla="*/ 443657 h 659319"/>
              <a:gd name="connsiteX23" fmla="*/ 827138 w 1309811"/>
              <a:gd name="connsiteY23" fmla="*/ 420439 h 659319"/>
              <a:gd name="connsiteX24" fmla="*/ 814589 w 1309811"/>
              <a:gd name="connsiteY24" fmla="*/ 408594 h 659319"/>
              <a:gd name="connsiteX25" fmla="*/ 802041 w 1309811"/>
              <a:gd name="connsiteY25" fmla="*/ 396452 h 659319"/>
              <a:gd name="connsiteX26" fmla="*/ 777005 w 1309811"/>
              <a:gd name="connsiteY26" fmla="*/ 372051 h 659319"/>
              <a:gd name="connsiteX27" fmla="*/ 748222 w 1309811"/>
              <a:gd name="connsiteY27" fmla="*/ 344155 h 659319"/>
              <a:gd name="connsiteX28" fmla="*/ 733830 w 1309811"/>
              <a:gd name="connsiteY28" fmla="*/ 330118 h 659319"/>
              <a:gd name="connsiteX29" fmla="*/ 718904 w 1309811"/>
              <a:gd name="connsiteY29" fmla="*/ 316258 h 659319"/>
              <a:gd name="connsiteX30" fmla="*/ 689169 w 1309811"/>
              <a:gd name="connsiteY30" fmla="*/ 288540 h 659319"/>
              <a:gd name="connsiteX31" fmla="*/ 658007 w 1309811"/>
              <a:gd name="connsiteY31" fmla="*/ 261177 h 659319"/>
              <a:gd name="connsiteX32" fmla="*/ 521228 w 1309811"/>
              <a:gd name="connsiteY32" fmla="*/ 156877 h 659319"/>
              <a:gd name="connsiteX33" fmla="*/ 360661 w 1309811"/>
              <a:gd name="connsiteY33" fmla="*/ 70346 h 659319"/>
              <a:gd name="connsiteX34" fmla="*/ 181361 w 1309811"/>
              <a:gd name="connsiteY34" fmla="*/ 16627 h 659319"/>
              <a:gd name="connsiteX35" fmla="*/ -199 w 1309811"/>
              <a:gd name="connsiteY35" fmla="*/ 102 h 659319"/>
              <a:gd name="connsiteX36" fmla="*/ -199 w 1309811"/>
              <a:gd name="connsiteY36" fmla="*/ 16745 h 659319"/>
              <a:gd name="connsiteX37" fmla="*/ 178209 w 1309811"/>
              <a:gd name="connsiteY37" fmla="*/ 32737 h 659319"/>
              <a:gd name="connsiteX38" fmla="*/ 354119 w 1309811"/>
              <a:gd name="connsiteY38" fmla="*/ 85627 h 65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811" h="659319">
                <a:moveTo>
                  <a:pt x="354119" y="85627"/>
                </a:moveTo>
                <a:cubicBezTo>
                  <a:pt x="409235" y="109136"/>
                  <a:pt x="462085" y="137604"/>
                  <a:pt x="512010" y="170677"/>
                </a:cubicBezTo>
                <a:cubicBezTo>
                  <a:pt x="559080" y="202303"/>
                  <a:pt x="604199" y="236717"/>
                  <a:pt x="647124" y="273733"/>
                </a:cubicBezTo>
                <a:lnTo>
                  <a:pt x="678048" y="300859"/>
                </a:lnTo>
                <a:cubicBezTo>
                  <a:pt x="688217" y="309980"/>
                  <a:pt x="697852" y="319220"/>
                  <a:pt x="707783" y="328400"/>
                </a:cubicBezTo>
                <a:lnTo>
                  <a:pt x="722591" y="342141"/>
                </a:lnTo>
                <a:lnTo>
                  <a:pt x="736923" y="356059"/>
                </a:lnTo>
                <a:lnTo>
                  <a:pt x="765468" y="383896"/>
                </a:lnTo>
                <a:lnTo>
                  <a:pt x="790445" y="408772"/>
                </a:lnTo>
                <a:lnTo>
                  <a:pt x="803052" y="420617"/>
                </a:lnTo>
                <a:lnTo>
                  <a:pt x="815779" y="432463"/>
                </a:lnTo>
                <a:cubicBezTo>
                  <a:pt x="824224" y="440281"/>
                  <a:pt x="832609" y="448336"/>
                  <a:pt x="841172" y="456154"/>
                </a:cubicBezTo>
                <a:lnTo>
                  <a:pt x="866744" y="478601"/>
                </a:lnTo>
                <a:cubicBezTo>
                  <a:pt x="899702" y="507020"/>
                  <a:pt x="934313" y="533481"/>
                  <a:pt x="970399" y="557847"/>
                </a:cubicBezTo>
                <a:cubicBezTo>
                  <a:pt x="1004047" y="580174"/>
                  <a:pt x="1039681" y="599385"/>
                  <a:pt x="1076849" y="615238"/>
                </a:cubicBezTo>
                <a:cubicBezTo>
                  <a:pt x="1112697" y="630608"/>
                  <a:pt x="1150187" y="641855"/>
                  <a:pt x="1188592" y="648761"/>
                </a:cubicBezTo>
                <a:cubicBezTo>
                  <a:pt x="1228555" y="655709"/>
                  <a:pt x="1269042" y="659275"/>
                  <a:pt x="1309612" y="659422"/>
                </a:cubicBezTo>
                <a:lnTo>
                  <a:pt x="1309612" y="642838"/>
                </a:lnTo>
                <a:cubicBezTo>
                  <a:pt x="1270059" y="642690"/>
                  <a:pt x="1230589" y="639203"/>
                  <a:pt x="1191625" y="632414"/>
                </a:cubicBezTo>
                <a:cubicBezTo>
                  <a:pt x="1154403" y="625737"/>
                  <a:pt x="1118073" y="614848"/>
                  <a:pt x="1083331" y="599958"/>
                </a:cubicBezTo>
                <a:cubicBezTo>
                  <a:pt x="1047126" y="584479"/>
                  <a:pt x="1012408" y="565745"/>
                  <a:pt x="979617" y="543988"/>
                </a:cubicBezTo>
                <a:cubicBezTo>
                  <a:pt x="944119" y="519950"/>
                  <a:pt x="910068" y="493865"/>
                  <a:pt x="877627" y="465867"/>
                </a:cubicBezTo>
                <a:lnTo>
                  <a:pt x="852293" y="443657"/>
                </a:lnTo>
                <a:cubicBezTo>
                  <a:pt x="843908" y="436135"/>
                  <a:pt x="835582" y="428139"/>
                  <a:pt x="827138" y="420439"/>
                </a:cubicBezTo>
                <a:lnTo>
                  <a:pt x="814589" y="408594"/>
                </a:lnTo>
                <a:lnTo>
                  <a:pt x="802041" y="396452"/>
                </a:lnTo>
                <a:lnTo>
                  <a:pt x="777005" y="372051"/>
                </a:lnTo>
                <a:lnTo>
                  <a:pt x="748222" y="344155"/>
                </a:lnTo>
                <a:lnTo>
                  <a:pt x="733830" y="330118"/>
                </a:lnTo>
                <a:lnTo>
                  <a:pt x="718904" y="316258"/>
                </a:lnTo>
                <a:cubicBezTo>
                  <a:pt x="708913" y="307019"/>
                  <a:pt x="699160" y="297720"/>
                  <a:pt x="689169" y="288540"/>
                </a:cubicBezTo>
                <a:lnTo>
                  <a:pt x="658007" y="261177"/>
                </a:lnTo>
                <a:cubicBezTo>
                  <a:pt x="614529" y="223740"/>
                  <a:pt x="568856" y="188912"/>
                  <a:pt x="521228" y="156877"/>
                </a:cubicBezTo>
                <a:cubicBezTo>
                  <a:pt x="470477" y="123198"/>
                  <a:pt x="416728" y="94233"/>
                  <a:pt x="360661" y="70346"/>
                </a:cubicBezTo>
                <a:cubicBezTo>
                  <a:pt x="303094" y="45830"/>
                  <a:pt x="242953" y="27811"/>
                  <a:pt x="181361" y="16627"/>
                </a:cubicBezTo>
                <a:cubicBezTo>
                  <a:pt x="121439" y="5856"/>
                  <a:pt x="60691" y="326"/>
                  <a:pt x="-199" y="102"/>
                </a:cubicBezTo>
                <a:lnTo>
                  <a:pt x="-199" y="16745"/>
                </a:lnTo>
                <a:cubicBezTo>
                  <a:pt x="59627" y="16873"/>
                  <a:pt x="119322" y="22224"/>
                  <a:pt x="178209" y="32737"/>
                </a:cubicBezTo>
                <a:cubicBezTo>
                  <a:pt x="238629" y="43841"/>
                  <a:pt x="297623" y="61579"/>
                  <a:pt x="354119" y="85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03" name="Freeform: Shape 202">
            <a:extLst>
              <a:ext uri="{FF2B5EF4-FFF2-40B4-BE49-F238E27FC236}">
                <a16:creationId xmlns:a16="http://schemas.microsoft.com/office/drawing/2014/main" id="{ADEAD1C8-2F5D-7D4F-B72C-EF30ACAFDC59}"/>
              </a:ext>
            </a:extLst>
          </p:cNvPr>
          <p:cNvSpPr/>
          <p:nvPr/>
        </p:nvSpPr>
        <p:spPr>
          <a:xfrm>
            <a:off x="1512909" y="3652457"/>
            <a:ext cx="1309811" cy="659438"/>
          </a:xfrm>
          <a:custGeom>
            <a:avLst/>
            <a:gdLst>
              <a:gd name="connsiteX0" fmla="*/ 117847 w 1309811"/>
              <a:gd name="connsiteY0" fmla="*/ 27288 h 659438"/>
              <a:gd name="connsiteX1" fmla="*/ 226141 w 1309811"/>
              <a:gd name="connsiteY1" fmla="*/ 59744 h 659438"/>
              <a:gd name="connsiteX2" fmla="*/ 329796 w 1309811"/>
              <a:gd name="connsiteY2" fmla="*/ 115774 h 659438"/>
              <a:gd name="connsiteX3" fmla="*/ 431786 w 1309811"/>
              <a:gd name="connsiteY3" fmla="*/ 194013 h 659438"/>
              <a:gd name="connsiteX4" fmla="*/ 456822 w 1309811"/>
              <a:gd name="connsiteY4" fmla="*/ 216105 h 659438"/>
              <a:gd name="connsiteX5" fmla="*/ 481978 w 1309811"/>
              <a:gd name="connsiteY5" fmla="*/ 239381 h 659438"/>
              <a:gd name="connsiteX6" fmla="*/ 494585 w 1309811"/>
              <a:gd name="connsiteY6" fmla="*/ 251227 h 659438"/>
              <a:gd name="connsiteX7" fmla="*/ 507252 w 1309811"/>
              <a:gd name="connsiteY7" fmla="*/ 263250 h 659438"/>
              <a:gd name="connsiteX8" fmla="*/ 532289 w 1309811"/>
              <a:gd name="connsiteY8" fmla="*/ 287888 h 659438"/>
              <a:gd name="connsiteX9" fmla="*/ 561013 w 1309811"/>
              <a:gd name="connsiteY9" fmla="*/ 315903 h 659438"/>
              <a:gd name="connsiteX10" fmla="*/ 575761 w 1309811"/>
              <a:gd name="connsiteY10" fmla="*/ 329703 h 659438"/>
              <a:gd name="connsiteX11" fmla="*/ 590628 w 1309811"/>
              <a:gd name="connsiteY11" fmla="*/ 343621 h 659438"/>
              <a:gd name="connsiteX12" fmla="*/ 620363 w 1309811"/>
              <a:gd name="connsiteY12" fmla="*/ 371281 h 659438"/>
              <a:gd name="connsiteX13" fmla="*/ 651584 w 1309811"/>
              <a:gd name="connsiteY13" fmla="*/ 398644 h 659438"/>
              <a:gd name="connsiteX14" fmla="*/ 788364 w 1309811"/>
              <a:gd name="connsiteY14" fmla="*/ 502943 h 659438"/>
              <a:gd name="connsiteX15" fmla="*/ 948931 w 1309811"/>
              <a:gd name="connsiteY15" fmla="*/ 589356 h 659438"/>
              <a:gd name="connsiteX16" fmla="*/ 1128171 w 1309811"/>
              <a:gd name="connsiteY16" fmla="*/ 643253 h 659438"/>
              <a:gd name="connsiteX17" fmla="*/ 1309612 w 1309811"/>
              <a:gd name="connsiteY17" fmla="*/ 659541 h 659438"/>
              <a:gd name="connsiteX18" fmla="*/ 1309612 w 1309811"/>
              <a:gd name="connsiteY18" fmla="*/ 642957 h 659438"/>
              <a:gd name="connsiteX19" fmla="*/ 1131204 w 1309811"/>
              <a:gd name="connsiteY19" fmla="*/ 626965 h 659438"/>
              <a:gd name="connsiteX20" fmla="*/ 955353 w 1309811"/>
              <a:gd name="connsiteY20" fmla="*/ 574253 h 659438"/>
              <a:gd name="connsiteX21" fmla="*/ 797403 w 1309811"/>
              <a:gd name="connsiteY21" fmla="*/ 489262 h 659438"/>
              <a:gd name="connsiteX22" fmla="*/ 662467 w 1309811"/>
              <a:gd name="connsiteY22" fmla="*/ 386147 h 659438"/>
              <a:gd name="connsiteX23" fmla="*/ 631603 w 1309811"/>
              <a:gd name="connsiteY23" fmla="*/ 358961 h 659438"/>
              <a:gd name="connsiteX24" fmla="*/ 601868 w 1309811"/>
              <a:gd name="connsiteY24" fmla="*/ 331480 h 659438"/>
              <a:gd name="connsiteX25" fmla="*/ 587001 w 1309811"/>
              <a:gd name="connsiteY25" fmla="*/ 317502 h 659438"/>
              <a:gd name="connsiteX26" fmla="*/ 572668 w 1309811"/>
              <a:gd name="connsiteY26" fmla="*/ 303584 h 659438"/>
              <a:gd name="connsiteX27" fmla="*/ 544123 w 1309811"/>
              <a:gd name="connsiteY27" fmla="*/ 276043 h 659438"/>
              <a:gd name="connsiteX28" fmla="*/ 518849 w 1309811"/>
              <a:gd name="connsiteY28" fmla="*/ 251404 h 659438"/>
              <a:gd name="connsiteX29" fmla="*/ 506241 w 1309811"/>
              <a:gd name="connsiteY29" fmla="*/ 239144 h 659438"/>
              <a:gd name="connsiteX30" fmla="*/ 493574 w 1309811"/>
              <a:gd name="connsiteY30" fmla="*/ 227299 h 659438"/>
              <a:gd name="connsiteX31" fmla="*/ 468122 w 1309811"/>
              <a:gd name="connsiteY31" fmla="*/ 203608 h 659438"/>
              <a:gd name="connsiteX32" fmla="*/ 442550 w 1309811"/>
              <a:gd name="connsiteY32" fmla="*/ 181279 h 659438"/>
              <a:gd name="connsiteX33" fmla="*/ 338954 w 1309811"/>
              <a:gd name="connsiteY33" fmla="*/ 101796 h 659438"/>
              <a:gd name="connsiteX34" fmla="*/ 232504 w 1309811"/>
              <a:gd name="connsiteY34" fmla="*/ 44345 h 659438"/>
              <a:gd name="connsiteX35" fmla="*/ 120821 w 1309811"/>
              <a:gd name="connsiteY35" fmla="*/ 10823 h 659438"/>
              <a:gd name="connsiteX36" fmla="*/ -199 w 1309811"/>
              <a:gd name="connsiteY36" fmla="*/ 102 h 659438"/>
              <a:gd name="connsiteX37" fmla="*/ -199 w 1309811"/>
              <a:gd name="connsiteY37" fmla="*/ 16745 h 659438"/>
              <a:gd name="connsiteX38" fmla="*/ 117847 w 1309811"/>
              <a:gd name="connsiteY38" fmla="*/ 27288 h 6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811" h="659438">
                <a:moveTo>
                  <a:pt x="117847" y="27288"/>
                </a:moveTo>
                <a:cubicBezTo>
                  <a:pt x="155069" y="33956"/>
                  <a:pt x="191405" y="44846"/>
                  <a:pt x="226141" y="59744"/>
                </a:cubicBezTo>
                <a:cubicBezTo>
                  <a:pt x="262316" y="75269"/>
                  <a:pt x="297011" y="94022"/>
                  <a:pt x="329796" y="115774"/>
                </a:cubicBezTo>
                <a:cubicBezTo>
                  <a:pt x="365305" y="139834"/>
                  <a:pt x="399363" y="165959"/>
                  <a:pt x="431786" y="194013"/>
                </a:cubicBezTo>
                <a:lnTo>
                  <a:pt x="456822" y="216105"/>
                </a:lnTo>
                <a:cubicBezTo>
                  <a:pt x="465267" y="223627"/>
                  <a:pt x="473593" y="231622"/>
                  <a:pt x="481978" y="239381"/>
                </a:cubicBezTo>
                <a:lnTo>
                  <a:pt x="494585" y="251227"/>
                </a:lnTo>
                <a:lnTo>
                  <a:pt x="507252" y="263250"/>
                </a:lnTo>
                <a:lnTo>
                  <a:pt x="532289" y="287888"/>
                </a:lnTo>
                <a:lnTo>
                  <a:pt x="561013" y="315903"/>
                </a:lnTo>
                <a:lnTo>
                  <a:pt x="575761" y="329703"/>
                </a:lnTo>
                <a:lnTo>
                  <a:pt x="590628" y="343621"/>
                </a:lnTo>
                <a:cubicBezTo>
                  <a:pt x="600679" y="352802"/>
                  <a:pt x="610432" y="362100"/>
                  <a:pt x="620363" y="371281"/>
                </a:cubicBezTo>
                <a:lnTo>
                  <a:pt x="651584" y="398644"/>
                </a:lnTo>
                <a:cubicBezTo>
                  <a:pt x="695050" y="436093"/>
                  <a:pt x="740723" y="470922"/>
                  <a:pt x="788364" y="502943"/>
                </a:cubicBezTo>
                <a:cubicBezTo>
                  <a:pt x="839115" y="536584"/>
                  <a:pt x="892863" y="565509"/>
                  <a:pt x="948931" y="589356"/>
                </a:cubicBezTo>
                <a:cubicBezTo>
                  <a:pt x="1006479" y="613906"/>
                  <a:pt x="1066597" y="631983"/>
                  <a:pt x="1128171" y="643253"/>
                </a:cubicBezTo>
                <a:cubicBezTo>
                  <a:pt x="1188057" y="653971"/>
                  <a:pt x="1248769" y="659421"/>
                  <a:pt x="1309612" y="659541"/>
                </a:cubicBezTo>
                <a:lnTo>
                  <a:pt x="1309612" y="642957"/>
                </a:lnTo>
                <a:cubicBezTo>
                  <a:pt x="1249792" y="642800"/>
                  <a:pt x="1190096" y="637449"/>
                  <a:pt x="1131204" y="626965"/>
                </a:cubicBezTo>
                <a:cubicBezTo>
                  <a:pt x="1070801" y="615973"/>
                  <a:pt x="1011813" y="598293"/>
                  <a:pt x="955353" y="574253"/>
                </a:cubicBezTo>
                <a:cubicBezTo>
                  <a:pt x="900213" y="550778"/>
                  <a:pt x="847339" y="522328"/>
                  <a:pt x="797403" y="489262"/>
                </a:cubicBezTo>
                <a:cubicBezTo>
                  <a:pt x="750404" y="457594"/>
                  <a:pt x="705344" y="423161"/>
                  <a:pt x="662467" y="386147"/>
                </a:cubicBezTo>
                <a:lnTo>
                  <a:pt x="631603" y="358961"/>
                </a:lnTo>
                <a:cubicBezTo>
                  <a:pt x="621374" y="349900"/>
                  <a:pt x="611740" y="340601"/>
                  <a:pt x="601868" y="331480"/>
                </a:cubicBezTo>
                <a:lnTo>
                  <a:pt x="587001" y="317502"/>
                </a:lnTo>
                <a:lnTo>
                  <a:pt x="572668" y="303584"/>
                </a:lnTo>
                <a:lnTo>
                  <a:pt x="544123" y="276043"/>
                </a:lnTo>
                <a:lnTo>
                  <a:pt x="518849" y="251404"/>
                </a:lnTo>
                <a:lnTo>
                  <a:pt x="506241" y="239144"/>
                </a:lnTo>
                <a:lnTo>
                  <a:pt x="493574" y="227299"/>
                </a:lnTo>
                <a:cubicBezTo>
                  <a:pt x="485070" y="219481"/>
                  <a:pt x="476626" y="211367"/>
                  <a:pt x="468122" y="203608"/>
                </a:cubicBezTo>
                <a:lnTo>
                  <a:pt x="442550" y="181279"/>
                </a:lnTo>
                <a:cubicBezTo>
                  <a:pt x="409604" y="152795"/>
                  <a:pt x="375010" y="126256"/>
                  <a:pt x="338954" y="101796"/>
                </a:cubicBezTo>
                <a:cubicBezTo>
                  <a:pt x="305283" y="79485"/>
                  <a:pt x="269655" y="60256"/>
                  <a:pt x="232504" y="44345"/>
                </a:cubicBezTo>
                <a:cubicBezTo>
                  <a:pt x="196674" y="28984"/>
                  <a:pt x="159208" y="17737"/>
                  <a:pt x="120821" y="10823"/>
                </a:cubicBezTo>
                <a:cubicBezTo>
                  <a:pt x="80863" y="3826"/>
                  <a:pt x="40371" y="239"/>
                  <a:pt x="-199" y="102"/>
                </a:cubicBezTo>
                <a:lnTo>
                  <a:pt x="-199" y="16745"/>
                </a:lnTo>
                <a:cubicBezTo>
                  <a:pt x="39378" y="16894"/>
                  <a:pt x="78871" y="20421"/>
                  <a:pt x="117847" y="27288"/>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04" name="Freeform: Shape 203">
            <a:extLst>
              <a:ext uri="{FF2B5EF4-FFF2-40B4-BE49-F238E27FC236}">
                <a16:creationId xmlns:a16="http://schemas.microsoft.com/office/drawing/2014/main" id="{DF11B1E4-DA3D-514B-AE73-2F90D26FFE4E}"/>
              </a:ext>
            </a:extLst>
          </p:cNvPr>
          <p:cNvSpPr/>
          <p:nvPr/>
        </p:nvSpPr>
        <p:spPr>
          <a:xfrm>
            <a:off x="3334985" y="3890935"/>
            <a:ext cx="65157" cy="58658"/>
          </a:xfrm>
          <a:custGeom>
            <a:avLst/>
            <a:gdLst>
              <a:gd name="connsiteX0" fmla="*/ 52494 w 65157"/>
              <a:gd name="connsiteY0" fmla="*/ 1080 h 58658"/>
              <a:gd name="connsiteX1" fmla="*/ 27101 w 65157"/>
              <a:gd name="connsiteY1" fmla="*/ 23409 h 58658"/>
              <a:gd name="connsiteX2" fmla="*/ 1172 w 65157"/>
              <a:gd name="connsiteY2" fmla="*/ 45027 h 58658"/>
              <a:gd name="connsiteX3" fmla="*/ 399 w 65157"/>
              <a:gd name="connsiteY3" fmla="*/ 49706 h 58658"/>
              <a:gd name="connsiteX4" fmla="*/ 7000 w 65157"/>
              <a:gd name="connsiteY4" fmla="*/ 57761 h 58658"/>
              <a:gd name="connsiteX5" fmla="*/ 11794 w 65157"/>
              <a:gd name="connsiteY5" fmla="*/ 57784 h 58658"/>
              <a:gd name="connsiteX6" fmla="*/ 11817 w 65157"/>
              <a:gd name="connsiteY6" fmla="*/ 57761 h 58658"/>
              <a:gd name="connsiteX7" fmla="*/ 37984 w 65157"/>
              <a:gd name="connsiteY7" fmla="*/ 35906 h 58658"/>
              <a:gd name="connsiteX8" fmla="*/ 63615 w 65157"/>
              <a:gd name="connsiteY8" fmla="*/ 13399 h 58658"/>
              <a:gd name="connsiteX9" fmla="*/ 64299 w 65157"/>
              <a:gd name="connsiteY9" fmla="*/ 8758 h 58658"/>
              <a:gd name="connsiteX10" fmla="*/ 64269 w 65157"/>
              <a:gd name="connsiteY10" fmla="*/ 8720 h 58658"/>
              <a:gd name="connsiteX11" fmla="*/ 57252 w 65157"/>
              <a:gd name="connsiteY11" fmla="*/ 1021 h 58658"/>
              <a:gd name="connsiteX12" fmla="*/ 52494 w 65157"/>
              <a:gd name="connsiteY12" fmla="*/ 1080 h 58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157" h="58658">
                <a:moveTo>
                  <a:pt x="52494" y="1080"/>
                </a:moveTo>
                <a:lnTo>
                  <a:pt x="27101" y="23409"/>
                </a:lnTo>
                <a:cubicBezTo>
                  <a:pt x="18775" y="30931"/>
                  <a:pt x="9855" y="37801"/>
                  <a:pt x="1172" y="45027"/>
                </a:cubicBezTo>
                <a:cubicBezTo>
                  <a:pt x="-297" y="46131"/>
                  <a:pt x="-636" y="48191"/>
                  <a:pt x="399" y="49706"/>
                </a:cubicBezTo>
                <a:lnTo>
                  <a:pt x="7000" y="57761"/>
                </a:lnTo>
                <a:cubicBezTo>
                  <a:pt x="8314" y="59086"/>
                  <a:pt x="10461" y="59096"/>
                  <a:pt x="11794" y="57784"/>
                </a:cubicBezTo>
                <a:cubicBezTo>
                  <a:pt x="11799" y="57776"/>
                  <a:pt x="11811" y="57769"/>
                  <a:pt x="11817" y="57761"/>
                </a:cubicBezTo>
                <a:cubicBezTo>
                  <a:pt x="20500" y="50476"/>
                  <a:pt x="29658" y="43546"/>
                  <a:pt x="37984" y="35906"/>
                </a:cubicBezTo>
                <a:lnTo>
                  <a:pt x="63615" y="13399"/>
                </a:lnTo>
                <a:cubicBezTo>
                  <a:pt x="65090" y="12306"/>
                  <a:pt x="65399" y="10228"/>
                  <a:pt x="64299" y="8758"/>
                </a:cubicBezTo>
                <a:cubicBezTo>
                  <a:pt x="64287" y="8746"/>
                  <a:pt x="64281" y="8733"/>
                  <a:pt x="64269" y="8720"/>
                </a:cubicBezTo>
                <a:lnTo>
                  <a:pt x="57252" y="1021"/>
                </a:lnTo>
                <a:cubicBezTo>
                  <a:pt x="55902" y="-226"/>
                  <a:pt x="53808" y="-200"/>
                  <a:pt x="52494" y="1080"/>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5" name="Freeform: Shape 204">
            <a:extLst>
              <a:ext uri="{FF2B5EF4-FFF2-40B4-BE49-F238E27FC236}">
                <a16:creationId xmlns:a16="http://schemas.microsoft.com/office/drawing/2014/main" id="{0677E2AD-AB0B-0F91-3BB2-D02255D4DF4F}"/>
              </a:ext>
            </a:extLst>
          </p:cNvPr>
          <p:cNvSpPr/>
          <p:nvPr/>
        </p:nvSpPr>
        <p:spPr>
          <a:xfrm>
            <a:off x="3213539" y="3984964"/>
            <a:ext cx="69315" cy="52463"/>
          </a:xfrm>
          <a:custGeom>
            <a:avLst/>
            <a:gdLst>
              <a:gd name="connsiteX0" fmla="*/ 57797 w 69315"/>
              <a:gd name="connsiteY0" fmla="*/ 809 h 52463"/>
              <a:gd name="connsiteX1" fmla="*/ 30085 w 69315"/>
              <a:gd name="connsiteY1" fmla="*/ 19939 h 52463"/>
              <a:gd name="connsiteX2" fmla="*/ 1599 w 69315"/>
              <a:gd name="connsiteY2" fmla="*/ 37707 h 52463"/>
              <a:gd name="connsiteX3" fmla="*/ 171 w 69315"/>
              <a:gd name="connsiteY3" fmla="*/ 42268 h 52463"/>
              <a:gd name="connsiteX4" fmla="*/ 5583 w 69315"/>
              <a:gd name="connsiteY4" fmla="*/ 51152 h 52463"/>
              <a:gd name="connsiteX5" fmla="*/ 10222 w 69315"/>
              <a:gd name="connsiteY5" fmla="*/ 51965 h 52463"/>
              <a:gd name="connsiteX6" fmla="*/ 10281 w 69315"/>
              <a:gd name="connsiteY6" fmla="*/ 51922 h 52463"/>
              <a:gd name="connsiteX7" fmla="*/ 39302 w 69315"/>
              <a:gd name="connsiteY7" fmla="*/ 33680 h 52463"/>
              <a:gd name="connsiteX8" fmla="*/ 67431 w 69315"/>
              <a:gd name="connsiteY8" fmla="*/ 14609 h 52463"/>
              <a:gd name="connsiteX9" fmla="*/ 68680 w 69315"/>
              <a:gd name="connsiteY9" fmla="*/ 10086 h 52463"/>
              <a:gd name="connsiteX10" fmla="*/ 68621 w 69315"/>
              <a:gd name="connsiteY10" fmla="*/ 9989 h 52463"/>
              <a:gd name="connsiteX11" fmla="*/ 62674 w 69315"/>
              <a:gd name="connsiteY11" fmla="*/ 1579 h 52463"/>
              <a:gd name="connsiteX12" fmla="*/ 57964 w 69315"/>
              <a:gd name="connsiteY12" fmla="*/ 688 h 52463"/>
              <a:gd name="connsiteX13" fmla="*/ 57797 w 69315"/>
              <a:gd name="connsiteY13" fmla="*/ 809 h 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15" h="52463">
                <a:moveTo>
                  <a:pt x="57797" y="809"/>
                </a:moveTo>
                <a:lnTo>
                  <a:pt x="30085" y="19939"/>
                </a:lnTo>
                <a:cubicBezTo>
                  <a:pt x="20629" y="25862"/>
                  <a:pt x="11054" y="31785"/>
                  <a:pt x="1599" y="37707"/>
                </a:cubicBezTo>
                <a:cubicBezTo>
                  <a:pt x="-37" y="38595"/>
                  <a:pt x="-667" y="40613"/>
                  <a:pt x="171" y="42268"/>
                </a:cubicBezTo>
                <a:lnTo>
                  <a:pt x="5583" y="51152"/>
                </a:lnTo>
                <a:cubicBezTo>
                  <a:pt x="6642" y="52652"/>
                  <a:pt x="8717" y="53016"/>
                  <a:pt x="10222" y="51965"/>
                </a:cubicBezTo>
                <a:cubicBezTo>
                  <a:pt x="10239" y="51950"/>
                  <a:pt x="10263" y="51936"/>
                  <a:pt x="10281" y="51922"/>
                </a:cubicBezTo>
                <a:cubicBezTo>
                  <a:pt x="19915" y="45999"/>
                  <a:pt x="29728" y="40077"/>
                  <a:pt x="39302" y="33680"/>
                </a:cubicBezTo>
                <a:lnTo>
                  <a:pt x="67431" y="14609"/>
                </a:lnTo>
                <a:cubicBezTo>
                  <a:pt x="69031" y="13703"/>
                  <a:pt x="69590" y="11678"/>
                  <a:pt x="68680" y="10086"/>
                </a:cubicBezTo>
                <a:cubicBezTo>
                  <a:pt x="68662" y="10053"/>
                  <a:pt x="68638" y="10021"/>
                  <a:pt x="68621" y="9989"/>
                </a:cubicBezTo>
                <a:lnTo>
                  <a:pt x="62674" y="1579"/>
                </a:lnTo>
                <a:cubicBezTo>
                  <a:pt x="61621" y="38"/>
                  <a:pt x="59510" y="-361"/>
                  <a:pt x="57964" y="688"/>
                </a:cubicBezTo>
                <a:cubicBezTo>
                  <a:pt x="57904" y="726"/>
                  <a:pt x="57851" y="767"/>
                  <a:pt x="57797" y="809"/>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6" name="Freeform: Shape 205">
            <a:extLst>
              <a:ext uri="{FF2B5EF4-FFF2-40B4-BE49-F238E27FC236}">
                <a16:creationId xmlns:a16="http://schemas.microsoft.com/office/drawing/2014/main" id="{4D481F85-371F-138E-1B4F-A3D66A09A5D3}"/>
              </a:ext>
            </a:extLst>
          </p:cNvPr>
          <p:cNvSpPr/>
          <p:nvPr/>
        </p:nvSpPr>
        <p:spPr>
          <a:xfrm>
            <a:off x="3079343" y="4061092"/>
            <a:ext cx="73663" cy="42406"/>
          </a:xfrm>
          <a:custGeom>
            <a:avLst/>
            <a:gdLst>
              <a:gd name="connsiteX0" fmla="*/ 64075 w 73663"/>
              <a:gd name="connsiteY0" fmla="*/ 551 h 42406"/>
              <a:gd name="connsiteX1" fmla="*/ 48970 w 73663"/>
              <a:gd name="connsiteY1" fmla="*/ 7836 h 42406"/>
              <a:gd name="connsiteX2" fmla="*/ 33448 w 73663"/>
              <a:gd name="connsiteY2" fmla="*/ 14291 h 42406"/>
              <a:gd name="connsiteX3" fmla="*/ 17926 w 73663"/>
              <a:gd name="connsiteY3" fmla="*/ 20688 h 42406"/>
              <a:gd name="connsiteX4" fmla="*/ 2286 w 73663"/>
              <a:gd name="connsiteY4" fmla="*/ 26611 h 42406"/>
              <a:gd name="connsiteX5" fmla="*/ -93 w 73663"/>
              <a:gd name="connsiteY5" fmla="*/ 30697 h 42406"/>
              <a:gd name="connsiteX6" fmla="*/ 3475 w 73663"/>
              <a:gd name="connsiteY6" fmla="*/ 40470 h 42406"/>
              <a:gd name="connsiteX7" fmla="*/ 7995 w 73663"/>
              <a:gd name="connsiteY7" fmla="*/ 42247 h 42406"/>
              <a:gd name="connsiteX8" fmla="*/ 24052 w 73663"/>
              <a:gd name="connsiteY8" fmla="*/ 36028 h 42406"/>
              <a:gd name="connsiteX9" fmla="*/ 39930 w 73663"/>
              <a:gd name="connsiteY9" fmla="*/ 29513 h 42406"/>
              <a:gd name="connsiteX10" fmla="*/ 55808 w 73663"/>
              <a:gd name="connsiteY10" fmla="*/ 22879 h 42406"/>
              <a:gd name="connsiteX11" fmla="*/ 71271 w 73663"/>
              <a:gd name="connsiteY11" fmla="*/ 15476 h 42406"/>
              <a:gd name="connsiteX12" fmla="*/ 73245 w 73663"/>
              <a:gd name="connsiteY12" fmla="*/ 11126 h 42406"/>
              <a:gd name="connsiteX13" fmla="*/ 73233 w 73663"/>
              <a:gd name="connsiteY13" fmla="*/ 11093 h 42406"/>
              <a:gd name="connsiteX14" fmla="*/ 68713 w 73663"/>
              <a:gd name="connsiteY14" fmla="*/ 1735 h 42406"/>
              <a:gd name="connsiteX15" fmla="*/ 64075 w 73663"/>
              <a:gd name="connsiteY15" fmla="*/ 551 h 4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663" h="42406">
                <a:moveTo>
                  <a:pt x="64075" y="551"/>
                </a:moveTo>
                <a:lnTo>
                  <a:pt x="48970" y="7836"/>
                </a:lnTo>
                <a:cubicBezTo>
                  <a:pt x="43855" y="10146"/>
                  <a:pt x="38622" y="12100"/>
                  <a:pt x="33448" y="14291"/>
                </a:cubicBezTo>
                <a:lnTo>
                  <a:pt x="17926" y="20688"/>
                </a:lnTo>
                <a:cubicBezTo>
                  <a:pt x="12753" y="22761"/>
                  <a:pt x="7638" y="25071"/>
                  <a:pt x="2286" y="26611"/>
                </a:cubicBezTo>
                <a:cubicBezTo>
                  <a:pt x="508" y="27102"/>
                  <a:pt x="-551" y="28918"/>
                  <a:pt x="-93" y="30697"/>
                </a:cubicBezTo>
                <a:lnTo>
                  <a:pt x="3475" y="40470"/>
                </a:lnTo>
                <a:cubicBezTo>
                  <a:pt x="4261" y="42173"/>
                  <a:pt x="6253" y="42958"/>
                  <a:pt x="7995" y="42247"/>
                </a:cubicBezTo>
                <a:cubicBezTo>
                  <a:pt x="13466" y="40529"/>
                  <a:pt x="18700" y="38219"/>
                  <a:pt x="24052" y="36028"/>
                </a:cubicBezTo>
                <a:lnTo>
                  <a:pt x="39930" y="29513"/>
                </a:lnTo>
                <a:cubicBezTo>
                  <a:pt x="45223" y="27322"/>
                  <a:pt x="50575" y="25249"/>
                  <a:pt x="55808" y="22879"/>
                </a:cubicBezTo>
                <a:lnTo>
                  <a:pt x="71271" y="15476"/>
                </a:lnTo>
                <a:cubicBezTo>
                  <a:pt x="73025" y="14818"/>
                  <a:pt x="73905" y="12870"/>
                  <a:pt x="73245" y="11126"/>
                </a:cubicBezTo>
                <a:cubicBezTo>
                  <a:pt x="73239" y="11115"/>
                  <a:pt x="73239" y="11104"/>
                  <a:pt x="73233" y="11093"/>
                </a:cubicBezTo>
                <a:lnTo>
                  <a:pt x="68713" y="1735"/>
                </a:lnTo>
                <a:cubicBezTo>
                  <a:pt x="67738" y="162"/>
                  <a:pt x="65686" y="-362"/>
                  <a:pt x="64075" y="551"/>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7" name="Freeform: Shape 206">
            <a:extLst>
              <a:ext uri="{FF2B5EF4-FFF2-40B4-BE49-F238E27FC236}">
                <a16:creationId xmlns:a16="http://schemas.microsoft.com/office/drawing/2014/main" id="{5FD81C01-C09A-B6DD-E586-6808CB234FE6}"/>
              </a:ext>
            </a:extLst>
          </p:cNvPr>
          <p:cNvSpPr/>
          <p:nvPr/>
        </p:nvSpPr>
        <p:spPr>
          <a:xfrm>
            <a:off x="2822720" y="4130155"/>
            <a:ext cx="37822" cy="17383"/>
          </a:xfrm>
          <a:custGeom>
            <a:avLst/>
            <a:gdLst>
              <a:gd name="connsiteX0" fmla="*/ 33460 w 37822"/>
              <a:gd name="connsiteY0" fmla="*/ 133 h 17383"/>
              <a:gd name="connsiteX1" fmla="*/ -199 w 37822"/>
              <a:gd name="connsiteY1" fmla="*/ 962 h 17383"/>
              <a:gd name="connsiteX2" fmla="*/ -199 w 37822"/>
              <a:gd name="connsiteY2" fmla="*/ 17486 h 17383"/>
              <a:gd name="connsiteX3" fmla="*/ 34114 w 37822"/>
              <a:gd name="connsiteY3" fmla="*/ 16598 h 17383"/>
              <a:gd name="connsiteX4" fmla="*/ 37623 w 37822"/>
              <a:gd name="connsiteY4" fmla="*/ 13345 h 17383"/>
              <a:gd name="connsiteX5" fmla="*/ 37623 w 37822"/>
              <a:gd name="connsiteY5" fmla="*/ 13340 h 17383"/>
              <a:gd name="connsiteX6" fmla="*/ 37207 w 37822"/>
              <a:gd name="connsiteY6" fmla="*/ 2976 h 17383"/>
              <a:gd name="connsiteX7" fmla="*/ 33460 w 37822"/>
              <a:gd name="connsiteY7" fmla="*/ 133 h 17383"/>
              <a:gd name="connsiteX8" fmla="*/ 33460 w 37822"/>
              <a:gd name="connsiteY8" fmla="*/ 133 h 1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22" h="17383">
                <a:moveTo>
                  <a:pt x="33460" y="133"/>
                </a:moveTo>
                <a:lnTo>
                  <a:pt x="-199" y="962"/>
                </a:lnTo>
                <a:lnTo>
                  <a:pt x="-199" y="17486"/>
                </a:lnTo>
                <a:lnTo>
                  <a:pt x="34114" y="16598"/>
                </a:lnTo>
                <a:cubicBezTo>
                  <a:pt x="35988" y="16664"/>
                  <a:pt x="37558" y="15208"/>
                  <a:pt x="37623" y="13345"/>
                </a:cubicBezTo>
                <a:cubicBezTo>
                  <a:pt x="37623" y="13343"/>
                  <a:pt x="37623" y="13342"/>
                  <a:pt x="37623" y="13340"/>
                </a:cubicBezTo>
                <a:lnTo>
                  <a:pt x="37207" y="2976"/>
                </a:lnTo>
                <a:cubicBezTo>
                  <a:pt x="36963" y="1160"/>
                  <a:pt x="35286" y="-112"/>
                  <a:pt x="33460" y="133"/>
                </a:cubicBezTo>
                <a:cubicBezTo>
                  <a:pt x="33460" y="133"/>
                  <a:pt x="33460" y="133"/>
                  <a:pt x="33460" y="133"/>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8" name="Freeform: Shape 207">
            <a:extLst>
              <a:ext uri="{FF2B5EF4-FFF2-40B4-BE49-F238E27FC236}">
                <a16:creationId xmlns:a16="http://schemas.microsoft.com/office/drawing/2014/main" id="{E0AB31AD-CAB4-FA00-D95F-A58400C4743B}"/>
              </a:ext>
            </a:extLst>
          </p:cNvPr>
          <p:cNvSpPr/>
          <p:nvPr/>
        </p:nvSpPr>
        <p:spPr>
          <a:xfrm>
            <a:off x="2934573" y="4110969"/>
            <a:ext cx="75939" cy="28771"/>
          </a:xfrm>
          <a:custGeom>
            <a:avLst/>
            <a:gdLst>
              <a:gd name="connsiteX0" fmla="*/ 69032 w 75939"/>
              <a:gd name="connsiteY0" fmla="*/ 247 h 28771"/>
              <a:gd name="connsiteX1" fmla="*/ 36146 w 75939"/>
              <a:gd name="connsiteY1" fmla="*/ 7058 h 28771"/>
              <a:gd name="connsiteX2" fmla="*/ 27879 w 75939"/>
              <a:gd name="connsiteY2" fmla="*/ 8776 h 28771"/>
              <a:gd name="connsiteX3" fmla="*/ 19554 w 75939"/>
              <a:gd name="connsiteY3" fmla="*/ 9961 h 28771"/>
              <a:gd name="connsiteX4" fmla="*/ 2902 w 75939"/>
              <a:gd name="connsiteY4" fmla="*/ 12330 h 28771"/>
              <a:gd name="connsiteX5" fmla="*/ -190 w 75939"/>
              <a:gd name="connsiteY5" fmla="*/ 15943 h 28771"/>
              <a:gd name="connsiteX6" fmla="*/ 1178 w 75939"/>
              <a:gd name="connsiteY6" fmla="*/ 26189 h 28771"/>
              <a:gd name="connsiteX7" fmla="*/ 5192 w 75939"/>
              <a:gd name="connsiteY7" fmla="*/ 28801 h 28771"/>
              <a:gd name="connsiteX8" fmla="*/ 5222 w 75939"/>
              <a:gd name="connsiteY8" fmla="*/ 28795 h 28771"/>
              <a:gd name="connsiteX9" fmla="*/ 22230 w 75939"/>
              <a:gd name="connsiteY9" fmla="*/ 26367 h 28771"/>
              <a:gd name="connsiteX10" fmla="*/ 30734 w 75939"/>
              <a:gd name="connsiteY10" fmla="*/ 25123 h 28771"/>
              <a:gd name="connsiteX11" fmla="*/ 39179 w 75939"/>
              <a:gd name="connsiteY11" fmla="*/ 23405 h 28771"/>
              <a:gd name="connsiteX12" fmla="*/ 72898 w 75939"/>
              <a:gd name="connsiteY12" fmla="*/ 16476 h 28771"/>
              <a:gd name="connsiteX13" fmla="*/ 75705 w 75939"/>
              <a:gd name="connsiteY13" fmla="*/ 12710 h 28771"/>
              <a:gd name="connsiteX14" fmla="*/ 75693 w 75939"/>
              <a:gd name="connsiteY14" fmla="*/ 12626 h 28771"/>
              <a:gd name="connsiteX15" fmla="*/ 73255 w 75939"/>
              <a:gd name="connsiteY15" fmla="*/ 2498 h 28771"/>
              <a:gd name="connsiteX16" fmla="*/ 69032 w 75939"/>
              <a:gd name="connsiteY16" fmla="*/ 247 h 2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939" h="28771">
                <a:moveTo>
                  <a:pt x="69032" y="247"/>
                </a:moveTo>
                <a:lnTo>
                  <a:pt x="36146" y="7058"/>
                </a:lnTo>
                <a:lnTo>
                  <a:pt x="27879" y="8776"/>
                </a:lnTo>
                <a:cubicBezTo>
                  <a:pt x="25144" y="9250"/>
                  <a:pt x="22349" y="9605"/>
                  <a:pt x="19554" y="9961"/>
                </a:cubicBezTo>
                <a:lnTo>
                  <a:pt x="2902" y="12330"/>
                </a:lnTo>
                <a:cubicBezTo>
                  <a:pt x="1053" y="12487"/>
                  <a:pt x="-327" y="14098"/>
                  <a:pt x="-190" y="15943"/>
                </a:cubicBezTo>
                <a:lnTo>
                  <a:pt x="1178" y="26189"/>
                </a:lnTo>
                <a:cubicBezTo>
                  <a:pt x="1564" y="28014"/>
                  <a:pt x="3360" y="29183"/>
                  <a:pt x="5192" y="28801"/>
                </a:cubicBezTo>
                <a:cubicBezTo>
                  <a:pt x="5198" y="28800"/>
                  <a:pt x="5210" y="28797"/>
                  <a:pt x="5222" y="28795"/>
                </a:cubicBezTo>
                <a:lnTo>
                  <a:pt x="22230" y="26367"/>
                </a:lnTo>
                <a:cubicBezTo>
                  <a:pt x="25085" y="25952"/>
                  <a:pt x="28177" y="25597"/>
                  <a:pt x="30734" y="25123"/>
                </a:cubicBezTo>
                <a:lnTo>
                  <a:pt x="39179" y="23405"/>
                </a:lnTo>
                <a:lnTo>
                  <a:pt x="72898" y="16476"/>
                </a:lnTo>
                <a:cubicBezTo>
                  <a:pt x="74718" y="16208"/>
                  <a:pt x="75972" y="14523"/>
                  <a:pt x="75705" y="12710"/>
                </a:cubicBezTo>
                <a:cubicBezTo>
                  <a:pt x="75705" y="12682"/>
                  <a:pt x="75699" y="12654"/>
                  <a:pt x="75693" y="12626"/>
                </a:cubicBezTo>
                <a:lnTo>
                  <a:pt x="73255" y="2498"/>
                </a:lnTo>
                <a:cubicBezTo>
                  <a:pt x="72713" y="716"/>
                  <a:pt x="70822" y="-291"/>
                  <a:pt x="69032" y="24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09" name="Freeform: Shape 208">
            <a:extLst>
              <a:ext uri="{FF2B5EF4-FFF2-40B4-BE49-F238E27FC236}">
                <a16:creationId xmlns:a16="http://schemas.microsoft.com/office/drawing/2014/main" id="{2F971B2A-7E42-3100-0BD0-0301C403515C}"/>
              </a:ext>
            </a:extLst>
          </p:cNvPr>
          <p:cNvSpPr/>
          <p:nvPr/>
        </p:nvSpPr>
        <p:spPr>
          <a:xfrm>
            <a:off x="4094650" y="3488515"/>
            <a:ext cx="37881" cy="17486"/>
          </a:xfrm>
          <a:custGeom>
            <a:avLst/>
            <a:gdLst>
              <a:gd name="connsiteX0" fmla="*/ 3369 w 37881"/>
              <a:gd name="connsiteY0" fmla="*/ 991 h 17486"/>
              <a:gd name="connsiteX1" fmla="*/ -199 w 37881"/>
              <a:gd name="connsiteY1" fmla="*/ 4180 h 17486"/>
              <a:gd name="connsiteX2" fmla="*/ -199 w 37881"/>
              <a:gd name="connsiteY2" fmla="*/ 4189 h 17486"/>
              <a:gd name="connsiteX3" fmla="*/ 276 w 37881"/>
              <a:gd name="connsiteY3" fmla="*/ 14554 h 17486"/>
              <a:gd name="connsiteX4" fmla="*/ 3963 w 37881"/>
              <a:gd name="connsiteY4" fmla="*/ 17575 h 17486"/>
              <a:gd name="connsiteX5" fmla="*/ 37683 w 37881"/>
              <a:gd name="connsiteY5" fmla="*/ 16686 h 17486"/>
              <a:gd name="connsiteX6" fmla="*/ 37683 w 37881"/>
              <a:gd name="connsiteY6" fmla="*/ 102 h 1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81" h="17486">
                <a:moveTo>
                  <a:pt x="3369" y="991"/>
                </a:moveTo>
                <a:cubicBezTo>
                  <a:pt x="1501" y="890"/>
                  <a:pt x="-98" y="2318"/>
                  <a:pt x="-199" y="4180"/>
                </a:cubicBezTo>
                <a:cubicBezTo>
                  <a:pt x="-199" y="4183"/>
                  <a:pt x="-199" y="4186"/>
                  <a:pt x="-199" y="4189"/>
                </a:cubicBezTo>
                <a:lnTo>
                  <a:pt x="276" y="14554"/>
                </a:lnTo>
                <a:cubicBezTo>
                  <a:pt x="467" y="16398"/>
                  <a:pt x="2108" y="17747"/>
                  <a:pt x="3963" y="17575"/>
                </a:cubicBezTo>
                <a:lnTo>
                  <a:pt x="37683" y="16686"/>
                </a:lnTo>
                <a:lnTo>
                  <a:pt x="37683" y="102"/>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0" name="Freeform: Shape 209">
            <a:extLst>
              <a:ext uri="{FF2B5EF4-FFF2-40B4-BE49-F238E27FC236}">
                <a16:creationId xmlns:a16="http://schemas.microsoft.com/office/drawing/2014/main" id="{82E751B4-079B-52AD-C9B8-EF3A7867EC8B}"/>
              </a:ext>
            </a:extLst>
          </p:cNvPr>
          <p:cNvSpPr/>
          <p:nvPr/>
        </p:nvSpPr>
        <p:spPr>
          <a:xfrm>
            <a:off x="3944746" y="3496558"/>
            <a:ext cx="75929" cy="28670"/>
          </a:xfrm>
          <a:custGeom>
            <a:avLst/>
            <a:gdLst>
              <a:gd name="connsiteX0" fmla="*/ 70313 w 75929"/>
              <a:gd name="connsiteY0" fmla="*/ 173 h 28670"/>
              <a:gd name="connsiteX1" fmla="*/ 53305 w 75929"/>
              <a:gd name="connsiteY1" fmla="*/ 2542 h 28670"/>
              <a:gd name="connsiteX2" fmla="*/ 44741 w 75929"/>
              <a:gd name="connsiteY2" fmla="*/ 3845 h 28670"/>
              <a:gd name="connsiteX3" fmla="*/ 36356 w 75929"/>
              <a:gd name="connsiteY3" fmla="*/ 5563 h 28670"/>
              <a:gd name="connsiteX4" fmla="*/ 2637 w 75929"/>
              <a:gd name="connsiteY4" fmla="*/ 12433 h 28670"/>
              <a:gd name="connsiteX5" fmla="*/ -158 w 75929"/>
              <a:gd name="connsiteY5" fmla="*/ 16342 h 28670"/>
              <a:gd name="connsiteX6" fmla="*/ 2280 w 75929"/>
              <a:gd name="connsiteY6" fmla="*/ 26470 h 28670"/>
              <a:gd name="connsiteX7" fmla="*/ 6466 w 75929"/>
              <a:gd name="connsiteY7" fmla="*/ 28613 h 28670"/>
              <a:gd name="connsiteX8" fmla="*/ 6502 w 75929"/>
              <a:gd name="connsiteY8" fmla="*/ 28602 h 28670"/>
              <a:gd name="connsiteX9" fmla="*/ 39389 w 75929"/>
              <a:gd name="connsiteY9" fmla="*/ 21910 h 28670"/>
              <a:gd name="connsiteX10" fmla="*/ 47655 w 75929"/>
              <a:gd name="connsiteY10" fmla="*/ 20192 h 28670"/>
              <a:gd name="connsiteX11" fmla="*/ 55981 w 75929"/>
              <a:gd name="connsiteY11" fmla="*/ 18948 h 28670"/>
              <a:gd name="connsiteX12" fmla="*/ 72573 w 75929"/>
              <a:gd name="connsiteY12" fmla="*/ 16638 h 28670"/>
              <a:gd name="connsiteX13" fmla="*/ 75725 w 75929"/>
              <a:gd name="connsiteY13" fmla="*/ 13026 h 28670"/>
              <a:gd name="connsiteX14" fmla="*/ 74357 w 75929"/>
              <a:gd name="connsiteY14" fmla="*/ 2720 h 28670"/>
              <a:gd name="connsiteX15" fmla="*/ 70313 w 75929"/>
              <a:gd name="connsiteY15" fmla="*/ 173 h 2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929" h="28670">
                <a:moveTo>
                  <a:pt x="70313" y="173"/>
                </a:moveTo>
                <a:lnTo>
                  <a:pt x="53305" y="2542"/>
                </a:lnTo>
                <a:cubicBezTo>
                  <a:pt x="50450" y="3016"/>
                  <a:pt x="47358" y="3312"/>
                  <a:pt x="44741" y="3845"/>
                </a:cubicBezTo>
                <a:lnTo>
                  <a:pt x="36356" y="5563"/>
                </a:lnTo>
                <a:lnTo>
                  <a:pt x="2637" y="12433"/>
                </a:lnTo>
                <a:cubicBezTo>
                  <a:pt x="793" y="12765"/>
                  <a:pt x="-444" y="14500"/>
                  <a:pt x="-158" y="16342"/>
                </a:cubicBezTo>
                <a:lnTo>
                  <a:pt x="2280" y="26470"/>
                </a:lnTo>
                <a:cubicBezTo>
                  <a:pt x="2845" y="28214"/>
                  <a:pt x="4718" y="29173"/>
                  <a:pt x="6466" y="28613"/>
                </a:cubicBezTo>
                <a:cubicBezTo>
                  <a:pt x="6478" y="28610"/>
                  <a:pt x="6490" y="28606"/>
                  <a:pt x="6502" y="28602"/>
                </a:cubicBezTo>
                <a:lnTo>
                  <a:pt x="39389" y="21910"/>
                </a:lnTo>
                <a:lnTo>
                  <a:pt x="47655" y="20192"/>
                </a:lnTo>
                <a:cubicBezTo>
                  <a:pt x="50391" y="19718"/>
                  <a:pt x="53186" y="19363"/>
                  <a:pt x="55981" y="18948"/>
                </a:cubicBezTo>
                <a:lnTo>
                  <a:pt x="72573" y="16638"/>
                </a:lnTo>
                <a:cubicBezTo>
                  <a:pt x="74434" y="16481"/>
                  <a:pt x="75826" y="14881"/>
                  <a:pt x="75725" y="13026"/>
                </a:cubicBezTo>
                <a:lnTo>
                  <a:pt x="74357" y="2720"/>
                </a:lnTo>
                <a:cubicBezTo>
                  <a:pt x="73917" y="927"/>
                  <a:pt x="72126" y="-198"/>
                  <a:pt x="70313" y="173"/>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1" name="Freeform: Shape 210">
            <a:extLst>
              <a:ext uri="{FF2B5EF4-FFF2-40B4-BE49-F238E27FC236}">
                <a16:creationId xmlns:a16="http://schemas.microsoft.com/office/drawing/2014/main" id="{AC6BCF4F-7C52-CE25-A72D-C8A03F3B2F3A}"/>
              </a:ext>
            </a:extLst>
          </p:cNvPr>
          <p:cNvSpPr/>
          <p:nvPr/>
        </p:nvSpPr>
        <p:spPr>
          <a:xfrm>
            <a:off x="3802246" y="3532636"/>
            <a:ext cx="73674" cy="42268"/>
          </a:xfrm>
          <a:custGeom>
            <a:avLst/>
            <a:gdLst>
              <a:gd name="connsiteX0" fmla="*/ 65270 w 73674"/>
              <a:gd name="connsiteY0" fmla="*/ 402 h 42268"/>
              <a:gd name="connsiteX1" fmla="*/ 49213 w 73674"/>
              <a:gd name="connsiteY1" fmla="*/ 6324 h 42268"/>
              <a:gd name="connsiteX2" fmla="*/ 33335 w 73674"/>
              <a:gd name="connsiteY2" fmla="*/ 12840 h 42268"/>
              <a:gd name="connsiteX3" fmla="*/ 17457 w 73674"/>
              <a:gd name="connsiteY3" fmla="*/ 19473 h 42268"/>
              <a:gd name="connsiteX4" fmla="*/ 1994 w 73674"/>
              <a:gd name="connsiteY4" fmla="*/ 26936 h 42268"/>
              <a:gd name="connsiteX5" fmla="*/ 20 w 73674"/>
              <a:gd name="connsiteY5" fmla="*/ 31286 h 42268"/>
              <a:gd name="connsiteX6" fmla="*/ 32 w 73674"/>
              <a:gd name="connsiteY6" fmla="*/ 31318 h 42268"/>
              <a:gd name="connsiteX7" fmla="*/ 4611 w 73674"/>
              <a:gd name="connsiteY7" fmla="*/ 40676 h 42268"/>
              <a:gd name="connsiteX8" fmla="*/ 9143 w 73674"/>
              <a:gd name="connsiteY8" fmla="*/ 41946 h 42268"/>
              <a:gd name="connsiteX9" fmla="*/ 9190 w 73674"/>
              <a:gd name="connsiteY9" fmla="*/ 41920 h 42268"/>
              <a:gd name="connsiteX10" fmla="*/ 24295 w 73674"/>
              <a:gd name="connsiteY10" fmla="*/ 34635 h 42268"/>
              <a:gd name="connsiteX11" fmla="*/ 39817 w 73674"/>
              <a:gd name="connsiteY11" fmla="*/ 28179 h 42268"/>
              <a:gd name="connsiteX12" fmla="*/ 55338 w 73674"/>
              <a:gd name="connsiteY12" fmla="*/ 21783 h 42268"/>
              <a:gd name="connsiteX13" fmla="*/ 70979 w 73674"/>
              <a:gd name="connsiteY13" fmla="*/ 15860 h 42268"/>
              <a:gd name="connsiteX14" fmla="*/ 73369 w 73674"/>
              <a:gd name="connsiteY14" fmla="*/ 11819 h 42268"/>
              <a:gd name="connsiteX15" fmla="*/ 73357 w 73674"/>
              <a:gd name="connsiteY15" fmla="*/ 11773 h 42268"/>
              <a:gd name="connsiteX16" fmla="*/ 69789 w 73674"/>
              <a:gd name="connsiteY16" fmla="*/ 2060 h 42268"/>
              <a:gd name="connsiteX17" fmla="*/ 65270 w 73674"/>
              <a:gd name="connsiteY17" fmla="*/ 402 h 4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674" h="42268">
                <a:moveTo>
                  <a:pt x="65270" y="402"/>
                </a:moveTo>
                <a:cubicBezTo>
                  <a:pt x="59799" y="2119"/>
                  <a:pt x="54506" y="4429"/>
                  <a:pt x="49213" y="6324"/>
                </a:cubicBezTo>
                <a:lnTo>
                  <a:pt x="33335" y="12840"/>
                </a:lnTo>
                <a:cubicBezTo>
                  <a:pt x="28042" y="15090"/>
                  <a:pt x="22690" y="17104"/>
                  <a:pt x="17457" y="19473"/>
                </a:cubicBezTo>
                <a:lnTo>
                  <a:pt x="1994" y="26936"/>
                </a:lnTo>
                <a:cubicBezTo>
                  <a:pt x="240" y="27594"/>
                  <a:pt x="-640" y="29542"/>
                  <a:pt x="20" y="31286"/>
                </a:cubicBezTo>
                <a:cubicBezTo>
                  <a:pt x="26" y="31297"/>
                  <a:pt x="26" y="31308"/>
                  <a:pt x="32" y="31318"/>
                </a:cubicBezTo>
                <a:lnTo>
                  <a:pt x="4611" y="40676"/>
                </a:lnTo>
                <a:cubicBezTo>
                  <a:pt x="5509" y="42274"/>
                  <a:pt x="7543" y="42842"/>
                  <a:pt x="9143" y="41946"/>
                </a:cubicBezTo>
                <a:cubicBezTo>
                  <a:pt x="9160" y="41937"/>
                  <a:pt x="9172" y="41929"/>
                  <a:pt x="9190" y="41920"/>
                </a:cubicBezTo>
                <a:lnTo>
                  <a:pt x="24295" y="34635"/>
                </a:lnTo>
                <a:cubicBezTo>
                  <a:pt x="29410" y="32266"/>
                  <a:pt x="34643" y="30312"/>
                  <a:pt x="39817" y="28179"/>
                </a:cubicBezTo>
                <a:lnTo>
                  <a:pt x="55338" y="21783"/>
                </a:lnTo>
                <a:cubicBezTo>
                  <a:pt x="60512" y="19710"/>
                  <a:pt x="65626" y="17400"/>
                  <a:pt x="70979" y="15860"/>
                </a:cubicBezTo>
                <a:cubicBezTo>
                  <a:pt x="72757" y="15402"/>
                  <a:pt x="73827" y="13592"/>
                  <a:pt x="73369" y="11819"/>
                </a:cubicBezTo>
                <a:cubicBezTo>
                  <a:pt x="73364" y="11804"/>
                  <a:pt x="73364" y="11789"/>
                  <a:pt x="73357" y="11773"/>
                </a:cubicBezTo>
                <a:lnTo>
                  <a:pt x="69789" y="2060"/>
                </a:lnTo>
                <a:cubicBezTo>
                  <a:pt x="68987" y="377"/>
                  <a:pt x="66976" y="-358"/>
                  <a:pt x="65270" y="40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2" name="Freeform: Shape 211">
            <a:extLst>
              <a:ext uri="{FF2B5EF4-FFF2-40B4-BE49-F238E27FC236}">
                <a16:creationId xmlns:a16="http://schemas.microsoft.com/office/drawing/2014/main" id="{CB89C558-EC53-4919-EDFC-1FC54870E4F2}"/>
              </a:ext>
            </a:extLst>
          </p:cNvPr>
          <p:cNvSpPr/>
          <p:nvPr/>
        </p:nvSpPr>
        <p:spPr>
          <a:xfrm>
            <a:off x="3672397" y="3598847"/>
            <a:ext cx="69196" cy="52530"/>
          </a:xfrm>
          <a:custGeom>
            <a:avLst/>
            <a:gdLst>
              <a:gd name="connsiteX0" fmla="*/ 58695 w 69196"/>
              <a:gd name="connsiteY0" fmla="*/ 644 h 52530"/>
              <a:gd name="connsiteX1" fmla="*/ 29674 w 69196"/>
              <a:gd name="connsiteY1" fmla="*/ 18886 h 52530"/>
              <a:gd name="connsiteX2" fmla="*/ 1486 w 69196"/>
              <a:gd name="connsiteY2" fmla="*/ 38372 h 52530"/>
              <a:gd name="connsiteX3" fmla="*/ 237 w 69196"/>
              <a:gd name="connsiteY3" fmla="*/ 42895 h 52530"/>
              <a:gd name="connsiteX4" fmla="*/ 297 w 69196"/>
              <a:gd name="connsiteY4" fmla="*/ 42991 h 52530"/>
              <a:gd name="connsiteX5" fmla="*/ 6243 w 69196"/>
              <a:gd name="connsiteY5" fmla="*/ 51402 h 52530"/>
              <a:gd name="connsiteX6" fmla="*/ 11001 w 69196"/>
              <a:gd name="connsiteY6" fmla="*/ 51876 h 52530"/>
              <a:gd name="connsiteX7" fmla="*/ 38714 w 69196"/>
              <a:gd name="connsiteY7" fmla="*/ 32686 h 52530"/>
              <a:gd name="connsiteX8" fmla="*/ 67199 w 69196"/>
              <a:gd name="connsiteY8" fmla="*/ 14918 h 52530"/>
              <a:gd name="connsiteX9" fmla="*/ 68627 w 69196"/>
              <a:gd name="connsiteY9" fmla="*/ 10357 h 52530"/>
              <a:gd name="connsiteX10" fmla="*/ 63215 w 69196"/>
              <a:gd name="connsiteY10" fmla="*/ 1473 h 52530"/>
              <a:gd name="connsiteX11" fmla="*/ 58695 w 69196"/>
              <a:gd name="connsiteY11" fmla="*/ 644 h 5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196" h="52530">
                <a:moveTo>
                  <a:pt x="58695" y="644"/>
                </a:moveTo>
                <a:cubicBezTo>
                  <a:pt x="49002" y="6567"/>
                  <a:pt x="39190" y="12489"/>
                  <a:pt x="29674" y="18886"/>
                </a:cubicBezTo>
                <a:lnTo>
                  <a:pt x="1486" y="38372"/>
                </a:lnTo>
                <a:cubicBezTo>
                  <a:pt x="-114" y="39278"/>
                  <a:pt x="-673" y="41303"/>
                  <a:pt x="237" y="42895"/>
                </a:cubicBezTo>
                <a:cubicBezTo>
                  <a:pt x="255" y="42927"/>
                  <a:pt x="279" y="42959"/>
                  <a:pt x="297" y="42991"/>
                </a:cubicBezTo>
                <a:lnTo>
                  <a:pt x="6243" y="51402"/>
                </a:lnTo>
                <a:cubicBezTo>
                  <a:pt x="7427" y="52836"/>
                  <a:pt x="9556" y="53048"/>
                  <a:pt x="11001" y="51876"/>
                </a:cubicBezTo>
                <a:lnTo>
                  <a:pt x="38714" y="32686"/>
                </a:lnTo>
                <a:cubicBezTo>
                  <a:pt x="48110" y="26763"/>
                  <a:pt x="57685" y="20840"/>
                  <a:pt x="67199" y="14918"/>
                </a:cubicBezTo>
                <a:cubicBezTo>
                  <a:pt x="68835" y="14030"/>
                  <a:pt x="69465" y="12012"/>
                  <a:pt x="68627" y="10357"/>
                </a:cubicBezTo>
                <a:lnTo>
                  <a:pt x="63215" y="1473"/>
                </a:lnTo>
                <a:cubicBezTo>
                  <a:pt x="62174" y="40"/>
                  <a:pt x="60182" y="-325"/>
                  <a:pt x="58695" y="644"/>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3" name="Freeform: Shape 212">
            <a:extLst>
              <a:ext uri="{FF2B5EF4-FFF2-40B4-BE49-F238E27FC236}">
                <a16:creationId xmlns:a16="http://schemas.microsoft.com/office/drawing/2014/main" id="{91573710-E8A3-54F0-A206-7DCCDF8FCC3B}"/>
              </a:ext>
            </a:extLst>
          </p:cNvPr>
          <p:cNvSpPr/>
          <p:nvPr/>
        </p:nvSpPr>
        <p:spPr>
          <a:xfrm>
            <a:off x="3446364" y="3787340"/>
            <a:ext cx="62609" cy="61550"/>
          </a:xfrm>
          <a:custGeom>
            <a:avLst/>
            <a:gdLst>
              <a:gd name="connsiteX0" fmla="*/ 49587 w 62609"/>
              <a:gd name="connsiteY0" fmla="*/ 1264 h 61550"/>
              <a:gd name="connsiteX1" fmla="*/ 25205 w 62609"/>
              <a:gd name="connsiteY1" fmla="*/ 24955 h 61550"/>
              <a:gd name="connsiteX2" fmla="*/ 1001 w 62609"/>
              <a:gd name="connsiteY2" fmla="*/ 48646 h 61550"/>
              <a:gd name="connsiteX3" fmla="*/ 585 w 62609"/>
              <a:gd name="connsiteY3" fmla="*/ 53384 h 61550"/>
              <a:gd name="connsiteX4" fmla="*/ 7840 w 62609"/>
              <a:gd name="connsiteY4" fmla="*/ 60847 h 61550"/>
              <a:gd name="connsiteX5" fmla="*/ 12597 w 62609"/>
              <a:gd name="connsiteY5" fmla="*/ 60492 h 61550"/>
              <a:gd name="connsiteX6" fmla="*/ 36980 w 62609"/>
              <a:gd name="connsiteY6" fmla="*/ 36801 h 61550"/>
              <a:gd name="connsiteX7" fmla="*/ 61243 w 62609"/>
              <a:gd name="connsiteY7" fmla="*/ 13110 h 61550"/>
              <a:gd name="connsiteX8" fmla="*/ 61600 w 62609"/>
              <a:gd name="connsiteY8" fmla="*/ 8372 h 61550"/>
              <a:gd name="connsiteX9" fmla="*/ 54345 w 62609"/>
              <a:gd name="connsiteY9" fmla="*/ 909 h 61550"/>
              <a:gd name="connsiteX10" fmla="*/ 49587 w 62609"/>
              <a:gd name="connsiteY10" fmla="*/ 1264 h 6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09" h="61550">
                <a:moveTo>
                  <a:pt x="49587" y="1264"/>
                </a:moveTo>
                <a:lnTo>
                  <a:pt x="25205" y="24955"/>
                </a:lnTo>
                <a:lnTo>
                  <a:pt x="1001" y="48646"/>
                </a:lnTo>
                <a:cubicBezTo>
                  <a:pt x="-420" y="49844"/>
                  <a:pt x="-605" y="51959"/>
                  <a:pt x="585" y="53384"/>
                </a:cubicBezTo>
                <a:lnTo>
                  <a:pt x="7840" y="60847"/>
                </a:lnTo>
                <a:cubicBezTo>
                  <a:pt x="9255" y="62048"/>
                  <a:pt x="11378" y="61889"/>
                  <a:pt x="12597" y="60492"/>
                </a:cubicBezTo>
                <a:lnTo>
                  <a:pt x="36980" y="36801"/>
                </a:lnTo>
                <a:lnTo>
                  <a:pt x="61243" y="13110"/>
                </a:lnTo>
                <a:cubicBezTo>
                  <a:pt x="62647" y="11895"/>
                  <a:pt x="62807" y="9781"/>
                  <a:pt x="61600" y="8372"/>
                </a:cubicBezTo>
                <a:lnTo>
                  <a:pt x="54345" y="909"/>
                </a:lnTo>
                <a:cubicBezTo>
                  <a:pt x="52930" y="-292"/>
                  <a:pt x="50806" y="-134"/>
                  <a:pt x="49587" y="1264"/>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4" name="Freeform: Shape 213">
            <a:extLst>
              <a:ext uri="{FF2B5EF4-FFF2-40B4-BE49-F238E27FC236}">
                <a16:creationId xmlns:a16="http://schemas.microsoft.com/office/drawing/2014/main" id="{1AB9BC53-CF6B-5703-4802-D7AC95383708}"/>
              </a:ext>
            </a:extLst>
          </p:cNvPr>
          <p:cNvSpPr/>
          <p:nvPr/>
        </p:nvSpPr>
        <p:spPr>
          <a:xfrm>
            <a:off x="3555193" y="3686723"/>
            <a:ext cx="65156" cy="58684"/>
          </a:xfrm>
          <a:custGeom>
            <a:avLst/>
            <a:gdLst>
              <a:gd name="connsiteX0" fmla="*/ 52917 w 65156"/>
              <a:gd name="connsiteY0" fmla="*/ 1017 h 58684"/>
              <a:gd name="connsiteX1" fmla="*/ 26750 w 65156"/>
              <a:gd name="connsiteY1" fmla="*/ 22931 h 58684"/>
              <a:gd name="connsiteX2" fmla="*/ 1119 w 65156"/>
              <a:gd name="connsiteY2" fmla="*/ 45438 h 58684"/>
              <a:gd name="connsiteX3" fmla="*/ 465 w 65156"/>
              <a:gd name="connsiteY3" fmla="*/ 50117 h 58684"/>
              <a:gd name="connsiteX4" fmla="*/ 7482 w 65156"/>
              <a:gd name="connsiteY4" fmla="*/ 57816 h 58684"/>
              <a:gd name="connsiteX5" fmla="*/ 12240 w 65156"/>
              <a:gd name="connsiteY5" fmla="*/ 57816 h 58684"/>
              <a:gd name="connsiteX6" fmla="*/ 37633 w 65156"/>
              <a:gd name="connsiteY6" fmla="*/ 35547 h 58684"/>
              <a:gd name="connsiteX7" fmla="*/ 63562 w 65156"/>
              <a:gd name="connsiteY7" fmla="*/ 13870 h 58684"/>
              <a:gd name="connsiteX8" fmla="*/ 64335 w 65156"/>
              <a:gd name="connsiteY8" fmla="*/ 9191 h 58684"/>
              <a:gd name="connsiteX9" fmla="*/ 57734 w 65156"/>
              <a:gd name="connsiteY9" fmla="*/ 1195 h 58684"/>
              <a:gd name="connsiteX10" fmla="*/ 52947 w 65156"/>
              <a:gd name="connsiteY10" fmla="*/ 992 h 58684"/>
              <a:gd name="connsiteX11" fmla="*/ 52917 w 65156"/>
              <a:gd name="connsiteY11" fmla="*/ 1017 h 5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56" h="58684">
                <a:moveTo>
                  <a:pt x="52917" y="1017"/>
                </a:moveTo>
                <a:cubicBezTo>
                  <a:pt x="44234" y="8302"/>
                  <a:pt x="35076" y="15291"/>
                  <a:pt x="26750" y="22931"/>
                </a:cubicBezTo>
                <a:lnTo>
                  <a:pt x="1119" y="45438"/>
                </a:lnTo>
                <a:cubicBezTo>
                  <a:pt x="-344" y="46561"/>
                  <a:pt x="-629" y="48640"/>
                  <a:pt x="465" y="50117"/>
                </a:cubicBezTo>
                <a:lnTo>
                  <a:pt x="7482" y="57816"/>
                </a:lnTo>
                <a:cubicBezTo>
                  <a:pt x="8802" y="59111"/>
                  <a:pt x="10920" y="59111"/>
                  <a:pt x="12240" y="57816"/>
                </a:cubicBezTo>
                <a:lnTo>
                  <a:pt x="37633" y="35547"/>
                </a:lnTo>
                <a:cubicBezTo>
                  <a:pt x="46019" y="27966"/>
                  <a:pt x="54939" y="21155"/>
                  <a:pt x="63562" y="13870"/>
                </a:cubicBezTo>
                <a:cubicBezTo>
                  <a:pt x="65060" y="12783"/>
                  <a:pt x="65405" y="10699"/>
                  <a:pt x="64335" y="9191"/>
                </a:cubicBezTo>
                <a:lnTo>
                  <a:pt x="57734" y="1195"/>
                </a:lnTo>
                <a:cubicBezTo>
                  <a:pt x="56467" y="-178"/>
                  <a:pt x="54326" y="-269"/>
                  <a:pt x="52947" y="992"/>
                </a:cubicBezTo>
                <a:cubicBezTo>
                  <a:pt x="52935" y="1000"/>
                  <a:pt x="52929" y="1009"/>
                  <a:pt x="52917" y="101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5" name="Freeform: Shape 214">
            <a:extLst>
              <a:ext uri="{FF2B5EF4-FFF2-40B4-BE49-F238E27FC236}">
                <a16:creationId xmlns:a16="http://schemas.microsoft.com/office/drawing/2014/main" id="{B5AF79DF-2D10-3B4F-8CBC-41D49B3F12EB}"/>
              </a:ext>
            </a:extLst>
          </p:cNvPr>
          <p:cNvSpPr/>
          <p:nvPr/>
        </p:nvSpPr>
        <p:spPr>
          <a:xfrm>
            <a:off x="2822839" y="3652575"/>
            <a:ext cx="1309692" cy="659082"/>
          </a:xfrm>
          <a:custGeom>
            <a:avLst/>
            <a:gdLst>
              <a:gd name="connsiteX0" fmla="*/ 1076790 w 1309692"/>
              <a:gd name="connsiteY0" fmla="*/ 44286 h 659082"/>
              <a:gd name="connsiteX1" fmla="*/ 970399 w 1309692"/>
              <a:gd name="connsiteY1" fmla="*/ 101737 h 659082"/>
              <a:gd name="connsiteX2" fmla="*/ 866685 w 1309692"/>
              <a:gd name="connsiteY2" fmla="*/ 181161 h 659082"/>
              <a:gd name="connsiteX3" fmla="*/ 841113 w 1309692"/>
              <a:gd name="connsiteY3" fmla="*/ 203608 h 659082"/>
              <a:gd name="connsiteX4" fmla="*/ 815720 w 1309692"/>
              <a:gd name="connsiteY4" fmla="*/ 227299 h 659082"/>
              <a:gd name="connsiteX5" fmla="*/ 803053 w 1309692"/>
              <a:gd name="connsiteY5" fmla="*/ 239144 h 659082"/>
              <a:gd name="connsiteX6" fmla="*/ 790445 w 1309692"/>
              <a:gd name="connsiteY6" fmla="*/ 251404 h 659082"/>
              <a:gd name="connsiteX7" fmla="*/ 765171 w 1309692"/>
              <a:gd name="connsiteY7" fmla="*/ 275925 h 659082"/>
              <a:gd name="connsiteX8" fmla="*/ 736625 w 1309692"/>
              <a:gd name="connsiteY8" fmla="*/ 303702 h 659082"/>
              <a:gd name="connsiteX9" fmla="*/ 722293 w 1309692"/>
              <a:gd name="connsiteY9" fmla="*/ 317384 h 659082"/>
              <a:gd name="connsiteX10" fmla="*/ 707545 w 1309692"/>
              <a:gd name="connsiteY10" fmla="*/ 331184 h 659082"/>
              <a:gd name="connsiteX11" fmla="*/ 677810 w 1309692"/>
              <a:gd name="connsiteY11" fmla="*/ 358665 h 659082"/>
              <a:gd name="connsiteX12" fmla="*/ 646946 w 1309692"/>
              <a:gd name="connsiteY12" fmla="*/ 385732 h 659082"/>
              <a:gd name="connsiteX13" fmla="*/ 511891 w 1309692"/>
              <a:gd name="connsiteY13" fmla="*/ 489143 h 659082"/>
              <a:gd name="connsiteX14" fmla="*/ 354119 w 1309692"/>
              <a:gd name="connsiteY14" fmla="*/ 573898 h 659082"/>
              <a:gd name="connsiteX15" fmla="*/ 178209 w 1309692"/>
              <a:gd name="connsiteY15" fmla="*/ 626610 h 659082"/>
              <a:gd name="connsiteX16" fmla="*/ -199 w 1309692"/>
              <a:gd name="connsiteY16" fmla="*/ 642602 h 659082"/>
              <a:gd name="connsiteX17" fmla="*/ -199 w 1309692"/>
              <a:gd name="connsiteY17" fmla="*/ 659185 h 659082"/>
              <a:gd name="connsiteX18" fmla="*/ 181123 w 1309692"/>
              <a:gd name="connsiteY18" fmla="*/ 643135 h 659082"/>
              <a:gd name="connsiteX19" fmla="*/ 360423 w 1309692"/>
              <a:gd name="connsiteY19" fmla="*/ 589474 h 659082"/>
              <a:gd name="connsiteX20" fmla="*/ 520990 w 1309692"/>
              <a:gd name="connsiteY20" fmla="*/ 503062 h 659082"/>
              <a:gd name="connsiteX21" fmla="*/ 657769 w 1309692"/>
              <a:gd name="connsiteY21" fmla="*/ 398762 h 659082"/>
              <a:gd name="connsiteX22" fmla="*/ 688931 w 1309692"/>
              <a:gd name="connsiteY22" fmla="*/ 371399 h 659082"/>
              <a:gd name="connsiteX23" fmla="*/ 718963 w 1309692"/>
              <a:gd name="connsiteY23" fmla="*/ 343740 h 659082"/>
              <a:gd name="connsiteX24" fmla="*/ 733890 w 1309692"/>
              <a:gd name="connsiteY24" fmla="*/ 329821 h 659082"/>
              <a:gd name="connsiteX25" fmla="*/ 748341 w 1309692"/>
              <a:gd name="connsiteY25" fmla="*/ 315844 h 659082"/>
              <a:gd name="connsiteX26" fmla="*/ 777005 w 1309692"/>
              <a:gd name="connsiteY26" fmla="*/ 287770 h 659082"/>
              <a:gd name="connsiteX27" fmla="*/ 802042 w 1309692"/>
              <a:gd name="connsiteY27" fmla="*/ 263131 h 659082"/>
              <a:gd name="connsiteX28" fmla="*/ 814590 w 1309692"/>
              <a:gd name="connsiteY28" fmla="*/ 250931 h 659082"/>
              <a:gd name="connsiteX29" fmla="*/ 827138 w 1309692"/>
              <a:gd name="connsiteY29" fmla="*/ 239085 h 659082"/>
              <a:gd name="connsiteX30" fmla="*/ 852353 w 1309692"/>
              <a:gd name="connsiteY30" fmla="*/ 215809 h 659082"/>
              <a:gd name="connsiteX31" fmla="*/ 877449 w 1309692"/>
              <a:gd name="connsiteY31" fmla="*/ 193835 h 659082"/>
              <a:gd name="connsiteX32" fmla="*/ 979439 w 1309692"/>
              <a:gd name="connsiteY32" fmla="*/ 115596 h 659082"/>
              <a:gd name="connsiteX33" fmla="*/ 1083094 w 1309692"/>
              <a:gd name="connsiteY33" fmla="*/ 59567 h 659082"/>
              <a:gd name="connsiteX34" fmla="*/ 1191566 w 1309692"/>
              <a:gd name="connsiteY34" fmla="*/ 27169 h 659082"/>
              <a:gd name="connsiteX35" fmla="*/ 1309493 w 1309692"/>
              <a:gd name="connsiteY35" fmla="*/ 16745 h 659082"/>
              <a:gd name="connsiteX36" fmla="*/ 1309493 w 1309692"/>
              <a:gd name="connsiteY36" fmla="*/ 102 h 659082"/>
              <a:gd name="connsiteX37" fmla="*/ 1188533 w 1309692"/>
              <a:gd name="connsiteY37" fmla="*/ 10823 h 659082"/>
              <a:gd name="connsiteX38" fmla="*/ 1076790 w 1309692"/>
              <a:gd name="connsiteY38" fmla="*/ 44286 h 65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692" h="659082">
                <a:moveTo>
                  <a:pt x="1076790" y="44286"/>
                </a:moveTo>
                <a:cubicBezTo>
                  <a:pt x="1039651" y="60185"/>
                  <a:pt x="1004041" y="79414"/>
                  <a:pt x="970399" y="101737"/>
                </a:cubicBezTo>
                <a:cubicBezTo>
                  <a:pt x="934301" y="126176"/>
                  <a:pt x="899672" y="152695"/>
                  <a:pt x="866685" y="181161"/>
                </a:cubicBezTo>
                <a:lnTo>
                  <a:pt x="841113" y="203608"/>
                </a:lnTo>
                <a:cubicBezTo>
                  <a:pt x="832668" y="211189"/>
                  <a:pt x="824224" y="219303"/>
                  <a:pt x="815720" y="227299"/>
                </a:cubicBezTo>
                <a:lnTo>
                  <a:pt x="803053" y="239144"/>
                </a:lnTo>
                <a:lnTo>
                  <a:pt x="790445" y="251404"/>
                </a:lnTo>
                <a:lnTo>
                  <a:pt x="765171" y="275925"/>
                </a:lnTo>
                <a:lnTo>
                  <a:pt x="736625" y="303702"/>
                </a:lnTo>
                <a:lnTo>
                  <a:pt x="722293" y="317384"/>
                </a:lnTo>
                <a:lnTo>
                  <a:pt x="707545" y="331184"/>
                </a:lnTo>
                <a:cubicBezTo>
                  <a:pt x="697554" y="340305"/>
                  <a:pt x="687920" y="349603"/>
                  <a:pt x="677810" y="358665"/>
                </a:cubicBezTo>
                <a:lnTo>
                  <a:pt x="646946" y="385732"/>
                </a:lnTo>
                <a:cubicBezTo>
                  <a:pt x="604027" y="422838"/>
                  <a:pt x="558925" y="457369"/>
                  <a:pt x="511891" y="489143"/>
                </a:cubicBezTo>
                <a:cubicBezTo>
                  <a:pt x="462002" y="522119"/>
                  <a:pt x="409188" y="550488"/>
                  <a:pt x="354119" y="573898"/>
                </a:cubicBezTo>
                <a:cubicBezTo>
                  <a:pt x="297635" y="597938"/>
                  <a:pt x="238635" y="615618"/>
                  <a:pt x="178209" y="626610"/>
                </a:cubicBezTo>
                <a:cubicBezTo>
                  <a:pt x="119316" y="637096"/>
                  <a:pt x="59621" y="642447"/>
                  <a:pt x="-199" y="642602"/>
                </a:cubicBezTo>
                <a:lnTo>
                  <a:pt x="-199" y="659185"/>
                </a:lnTo>
                <a:cubicBezTo>
                  <a:pt x="60596" y="659135"/>
                  <a:pt x="121273" y="653764"/>
                  <a:pt x="181123" y="643135"/>
                </a:cubicBezTo>
                <a:cubicBezTo>
                  <a:pt x="242709" y="631945"/>
                  <a:pt x="302844" y="613947"/>
                  <a:pt x="360423" y="589474"/>
                </a:cubicBezTo>
                <a:cubicBezTo>
                  <a:pt x="416490" y="565628"/>
                  <a:pt x="470239" y="536702"/>
                  <a:pt x="520990" y="503062"/>
                </a:cubicBezTo>
                <a:cubicBezTo>
                  <a:pt x="568637" y="471055"/>
                  <a:pt x="614315" y="436225"/>
                  <a:pt x="657769" y="398762"/>
                </a:cubicBezTo>
                <a:lnTo>
                  <a:pt x="688931" y="371399"/>
                </a:lnTo>
                <a:cubicBezTo>
                  <a:pt x="699219" y="362219"/>
                  <a:pt x="708972" y="352920"/>
                  <a:pt x="718963" y="343740"/>
                </a:cubicBezTo>
                <a:lnTo>
                  <a:pt x="733890" y="329821"/>
                </a:lnTo>
                <a:lnTo>
                  <a:pt x="748341" y="315844"/>
                </a:lnTo>
                <a:lnTo>
                  <a:pt x="777005" y="287770"/>
                </a:lnTo>
                <a:lnTo>
                  <a:pt x="802042" y="263131"/>
                </a:lnTo>
                <a:lnTo>
                  <a:pt x="814590" y="250931"/>
                </a:lnTo>
                <a:lnTo>
                  <a:pt x="827138" y="239085"/>
                </a:lnTo>
                <a:cubicBezTo>
                  <a:pt x="835582" y="231326"/>
                  <a:pt x="843908" y="223331"/>
                  <a:pt x="852353" y="215809"/>
                </a:cubicBezTo>
                <a:lnTo>
                  <a:pt x="877449" y="193835"/>
                </a:lnTo>
                <a:cubicBezTo>
                  <a:pt x="909871" y="165781"/>
                  <a:pt x="943929" y="139656"/>
                  <a:pt x="979439" y="115596"/>
                </a:cubicBezTo>
                <a:cubicBezTo>
                  <a:pt x="1012230" y="93857"/>
                  <a:pt x="1046924" y="75105"/>
                  <a:pt x="1083094" y="59567"/>
                </a:cubicBezTo>
                <a:cubicBezTo>
                  <a:pt x="1117889" y="44676"/>
                  <a:pt x="1154284" y="33805"/>
                  <a:pt x="1191566" y="27169"/>
                </a:cubicBezTo>
                <a:cubicBezTo>
                  <a:pt x="1230506" y="20349"/>
                  <a:pt x="1269958" y="16861"/>
                  <a:pt x="1309493" y="16745"/>
                </a:cubicBezTo>
                <a:lnTo>
                  <a:pt x="1309493" y="102"/>
                </a:lnTo>
                <a:cubicBezTo>
                  <a:pt x="1268941" y="237"/>
                  <a:pt x="1228472" y="3823"/>
                  <a:pt x="1188533" y="10823"/>
                </a:cubicBezTo>
                <a:cubicBezTo>
                  <a:pt x="1150127" y="17710"/>
                  <a:pt x="1112638" y="28937"/>
                  <a:pt x="1076790" y="44286"/>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16" name="Freeform: Shape 215">
            <a:extLst>
              <a:ext uri="{FF2B5EF4-FFF2-40B4-BE49-F238E27FC236}">
                <a16:creationId xmlns:a16="http://schemas.microsoft.com/office/drawing/2014/main" id="{53EA80F6-66E1-1274-E64D-1D1383AD881E}"/>
              </a:ext>
            </a:extLst>
          </p:cNvPr>
          <p:cNvSpPr/>
          <p:nvPr/>
        </p:nvSpPr>
        <p:spPr>
          <a:xfrm>
            <a:off x="2822720" y="3324277"/>
            <a:ext cx="1309811" cy="659319"/>
          </a:xfrm>
          <a:custGeom>
            <a:avLst/>
            <a:gdLst>
              <a:gd name="connsiteX0" fmla="*/ 1128112 w 1309811"/>
              <a:gd name="connsiteY0" fmla="*/ 16627 h 659319"/>
              <a:gd name="connsiteX1" fmla="*/ 948930 w 1309811"/>
              <a:gd name="connsiteY1" fmla="*/ 70346 h 659319"/>
              <a:gd name="connsiteX2" fmla="*/ 788363 w 1309811"/>
              <a:gd name="connsiteY2" fmla="*/ 156877 h 659319"/>
              <a:gd name="connsiteX3" fmla="*/ 651584 w 1309811"/>
              <a:gd name="connsiteY3" fmla="*/ 261177 h 659319"/>
              <a:gd name="connsiteX4" fmla="*/ 620422 w 1309811"/>
              <a:gd name="connsiteY4" fmla="*/ 288540 h 659319"/>
              <a:gd name="connsiteX5" fmla="*/ 590688 w 1309811"/>
              <a:gd name="connsiteY5" fmla="*/ 316258 h 659319"/>
              <a:gd name="connsiteX6" fmla="*/ 575761 w 1309811"/>
              <a:gd name="connsiteY6" fmla="*/ 330118 h 659319"/>
              <a:gd name="connsiteX7" fmla="*/ 561369 w 1309811"/>
              <a:gd name="connsiteY7" fmla="*/ 344155 h 659319"/>
              <a:gd name="connsiteX8" fmla="*/ 532645 w 1309811"/>
              <a:gd name="connsiteY8" fmla="*/ 372110 h 659319"/>
              <a:gd name="connsiteX9" fmla="*/ 507609 w 1309811"/>
              <a:gd name="connsiteY9" fmla="*/ 396571 h 659319"/>
              <a:gd name="connsiteX10" fmla="*/ 494823 w 1309811"/>
              <a:gd name="connsiteY10" fmla="*/ 408772 h 659319"/>
              <a:gd name="connsiteX11" fmla="*/ 482216 w 1309811"/>
              <a:gd name="connsiteY11" fmla="*/ 420617 h 659319"/>
              <a:gd name="connsiteX12" fmla="*/ 457060 w 1309811"/>
              <a:gd name="connsiteY12" fmla="*/ 443834 h 659319"/>
              <a:gd name="connsiteX13" fmla="*/ 431548 w 1309811"/>
              <a:gd name="connsiteY13" fmla="*/ 465867 h 659319"/>
              <a:gd name="connsiteX14" fmla="*/ 329796 w 1309811"/>
              <a:gd name="connsiteY14" fmla="*/ 543988 h 659319"/>
              <a:gd name="connsiteX15" fmla="*/ 226081 w 1309811"/>
              <a:gd name="connsiteY15" fmla="*/ 599958 h 659319"/>
              <a:gd name="connsiteX16" fmla="*/ 117728 w 1309811"/>
              <a:gd name="connsiteY16" fmla="*/ 632414 h 659319"/>
              <a:gd name="connsiteX17" fmla="*/ -199 w 1309811"/>
              <a:gd name="connsiteY17" fmla="*/ 642838 h 659319"/>
              <a:gd name="connsiteX18" fmla="*/ -199 w 1309811"/>
              <a:gd name="connsiteY18" fmla="*/ 659422 h 659319"/>
              <a:gd name="connsiteX19" fmla="*/ 120821 w 1309811"/>
              <a:gd name="connsiteY19" fmla="*/ 648761 h 659319"/>
              <a:gd name="connsiteX20" fmla="*/ 232563 w 1309811"/>
              <a:gd name="connsiteY20" fmla="*/ 615238 h 659319"/>
              <a:gd name="connsiteX21" fmla="*/ 339013 w 1309811"/>
              <a:gd name="connsiteY21" fmla="*/ 557847 h 659319"/>
              <a:gd name="connsiteX22" fmla="*/ 442668 w 1309811"/>
              <a:gd name="connsiteY22" fmla="*/ 478423 h 659319"/>
              <a:gd name="connsiteX23" fmla="*/ 468240 w 1309811"/>
              <a:gd name="connsiteY23" fmla="*/ 455976 h 659319"/>
              <a:gd name="connsiteX24" fmla="*/ 493693 w 1309811"/>
              <a:gd name="connsiteY24" fmla="*/ 432285 h 659319"/>
              <a:gd name="connsiteX25" fmla="*/ 506360 w 1309811"/>
              <a:gd name="connsiteY25" fmla="*/ 420439 h 659319"/>
              <a:gd name="connsiteX26" fmla="*/ 518968 w 1309811"/>
              <a:gd name="connsiteY26" fmla="*/ 408772 h 659319"/>
              <a:gd name="connsiteX27" fmla="*/ 544183 w 1309811"/>
              <a:gd name="connsiteY27" fmla="*/ 384192 h 659319"/>
              <a:gd name="connsiteX28" fmla="*/ 572728 w 1309811"/>
              <a:gd name="connsiteY28" fmla="*/ 356355 h 659319"/>
              <a:gd name="connsiteX29" fmla="*/ 587060 w 1309811"/>
              <a:gd name="connsiteY29" fmla="*/ 342437 h 659319"/>
              <a:gd name="connsiteX30" fmla="*/ 601868 w 1309811"/>
              <a:gd name="connsiteY30" fmla="*/ 328696 h 659319"/>
              <a:gd name="connsiteX31" fmla="*/ 631602 w 1309811"/>
              <a:gd name="connsiteY31" fmla="*/ 301155 h 659319"/>
              <a:gd name="connsiteX32" fmla="*/ 662527 w 1309811"/>
              <a:gd name="connsiteY32" fmla="*/ 274029 h 659319"/>
              <a:gd name="connsiteX33" fmla="*/ 797343 w 1309811"/>
              <a:gd name="connsiteY33" fmla="*/ 170974 h 659319"/>
              <a:gd name="connsiteX34" fmla="*/ 955234 w 1309811"/>
              <a:gd name="connsiteY34" fmla="*/ 85923 h 659319"/>
              <a:gd name="connsiteX35" fmla="*/ 1131204 w 1309811"/>
              <a:gd name="connsiteY35" fmla="*/ 33211 h 659319"/>
              <a:gd name="connsiteX36" fmla="*/ 1309612 w 1309811"/>
              <a:gd name="connsiteY36" fmla="*/ 17219 h 659319"/>
              <a:gd name="connsiteX37" fmla="*/ 1309612 w 1309811"/>
              <a:gd name="connsiteY37" fmla="*/ 102 h 659319"/>
              <a:gd name="connsiteX38" fmla="*/ 1128112 w 1309811"/>
              <a:gd name="connsiteY38" fmla="*/ 16627 h 65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811" h="659319">
                <a:moveTo>
                  <a:pt x="1128112" y="16627"/>
                </a:moveTo>
                <a:cubicBezTo>
                  <a:pt x="1066561" y="27830"/>
                  <a:pt x="1006461" y="45848"/>
                  <a:pt x="948930" y="70346"/>
                </a:cubicBezTo>
                <a:cubicBezTo>
                  <a:pt x="892863" y="94243"/>
                  <a:pt x="839120" y="123208"/>
                  <a:pt x="788363" y="156877"/>
                </a:cubicBezTo>
                <a:cubicBezTo>
                  <a:pt x="740735" y="188912"/>
                  <a:pt x="695062" y="223740"/>
                  <a:pt x="651584" y="261177"/>
                </a:cubicBezTo>
                <a:lnTo>
                  <a:pt x="620422" y="288540"/>
                </a:lnTo>
                <a:cubicBezTo>
                  <a:pt x="610193" y="297720"/>
                  <a:pt x="600441" y="307019"/>
                  <a:pt x="590688" y="316258"/>
                </a:cubicBezTo>
                <a:lnTo>
                  <a:pt x="575761" y="330118"/>
                </a:lnTo>
                <a:lnTo>
                  <a:pt x="561369" y="344155"/>
                </a:lnTo>
                <a:lnTo>
                  <a:pt x="532645" y="372110"/>
                </a:lnTo>
                <a:lnTo>
                  <a:pt x="507609" y="396571"/>
                </a:lnTo>
                <a:lnTo>
                  <a:pt x="494823" y="408772"/>
                </a:lnTo>
                <a:lnTo>
                  <a:pt x="482216" y="420617"/>
                </a:lnTo>
                <a:cubicBezTo>
                  <a:pt x="473830" y="428317"/>
                  <a:pt x="465505" y="436312"/>
                  <a:pt x="457060" y="443834"/>
                </a:cubicBezTo>
                <a:lnTo>
                  <a:pt x="431548" y="465867"/>
                </a:lnTo>
                <a:cubicBezTo>
                  <a:pt x="399184" y="493858"/>
                  <a:pt x="365210" y="519943"/>
                  <a:pt x="329796" y="543988"/>
                </a:cubicBezTo>
                <a:cubicBezTo>
                  <a:pt x="297004" y="565745"/>
                  <a:pt x="262286" y="584479"/>
                  <a:pt x="226081" y="599958"/>
                </a:cubicBezTo>
                <a:cubicBezTo>
                  <a:pt x="191328" y="614856"/>
                  <a:pt x="154968" y="625746"/>
                  <a:pt x="117728" y="632414"/>
                </a:cubicBezTo>
                <a:cubicBezTo>
                  <a:pt x="78788" y="639206"/>
                  <a:pt x="39336" y="642693"/>
                  <a:pt x="-199" y="642838"/>
                </a:cubicBezTo>
                <a:lnTo>
                  <a:pt x="-199" y="659422"/>
                </a:lnTo>
                <a:cubicBezTo>
                  <a:pt x="40370" y="659272"/>
                  <a:pt x="80857" y="655706"/>
                  <a:pt x="120821" y="648761"/>
                </a:cubicBezTo>
                <a:cubicBezTo>
                  <a:pt x="159226" y="641855"/>
                  <a:pt x="196715" y="630608"/>
                  <a:pt x="232563" y="615238"/>
                </a:cubicBezTo>
                <a:cubicBezTo>
                  <a:pt x="269732" y="599385"/>
                  <a:pt x="305366" y="580174"/>
                  <a:pt x="339013" y="557847"/>
                </a:cubicBezTo>
                <a:cubicBezTo>
                  <a:pt x="375099" y="533424"/>
                  <a:pt x="409716" y="506903"/>
                  <a:pt x="442668" y="478423"/>
                </a:cubicBezTo>
                <a:lnTo>
                  <a:pt x="468240" y="455976"/>
                </a:lnTo>
                <a:cubicBezTo>
                  <a:pt x="476744" y="448395"/>
                  <a:pt x="485189" y="440340"/>
                  <a:pt x="493693" y="432285"/>
                </a:cubicBezTo>
                <a:lnTo>
                  <a:pt x="506360" y="420439"/>
                </a:lnTo>
                <a:lnTo>
                  <a:pt x="518968" y="408772"/>
                </a:lnTo>
                <a:lnTo>
                  <a:pt x="544183" y="384192"/>
                </a:lnTo>
                <a:lnTo>
                  <a:pt x="572728" y="356355"/>
                </a:lnTo>
                <a:lnTo>
                  <a:pt x="587060" y="342437"/>
                </a:lnTo>
                <a:lnTo>
                  <a:pt x="601868" y="328696"/>
                </a:lnTo>
                <a:cubicBezTo>
                  <a:pt x="611799" y="319516"/>
                  <a:pt x="621433" y="310276"/>
                  <a:pt x="631602" y="301155"/>
                </a:cubicBezTo>
                <a:lnTo>
                  <a:pt x="662527" y="274029"/>
                </a:lnTo>
                <a:cubicBezTo>
                  <a:pt x="705368" y="237035"/>
                  <a:pt x="750386" y="202622"/>
                  <a:pt x="797343" y="170974"/>
                </a:cubicBezTo>
                <a:cubicBezTo>
                  <a:pt x="847274" y="137912"/>
                  <a:pt x="900124" y="109445"/>
                  <a:pt x="955234" y="85923"/>
                </a:cubicBezTo>
                <a:cubicBezTo>
                  <a:pt x="1011760" y="61944"/>
                  <a:pt x="1070777" y="44266"/>
                  <a:pt x="1131204" y="33211"/>
                </a:cubicBezTo>
                <a:cubicBezTo>
                  <a:pt x="1190090" y="22698"/>
                  <a:pt x="1249786" y="17347"/>
                  <a:pt x="1309612" y="17219"/>
                </a:cubicBezTo>
                <a:lnTo>
                  <a:pt x="1309612" y="102"/>
                </a:lnTo>
                <a:cubicBezTo>
                  <a:pt x="1248745" y="330"/>
                  <a:pt x="1188015" y="5859"/>
                  <a:pt x="1128112" y="16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17" name="Freeform: Shape 216">
            <a:extLst>
              <a:ext uri="{FF2B5EF4-FFF2-40B4-BE49-F238E27FC236}">
                <a16:creationId xmlns:a16="http://schemas.microsoft.com/office/drawing/2014/main" id="{4ECC8A59-3C1D-619F-4614-DC8FB63AFF4C}"/>
              </a:ext>
            </a:extLst>
          </p:cNvPr>
          <p:cNvSpPr/>
          <p:nvPr/>
        </p:nvSpPr>
        <p:spPr>
          <a:xfrm>
            <a:off x="10104075" y="3891019"/>
            <a:ext cx="65103" cy="58629"/>
          </a:xfrm>
          <a:custGeom>
            <a:avLst/>
            <a:gdLst>
              <a:gd name="connsiteX0" fmla="*/ 1055 w 65103"/>
              <a:gd name="connsiteY0" fmla="*/ 13375 h 58629"/>
              <a:gd name="connsiteX1" fmla="*/ 26687 w 65103"/>
              <a:gd name="connsiteY1" fmla="*/ 35882 h 58629"/>
              <a:gd name="connsiteX2" fmla="*/ 52912 w 65103"/>
              <a:gd name="connsiteY2" fmla="*/ 57736 h 58629"/>
              <a:gd name="connsiteX3" fmla="*/ 57611 w 65103"/>
              <a:gd name="connsiteY3" fmla="*/ 57784 h 58629"/>
              <a:gd name="connsiteX4" fmla="*/ 57670 w 65103"/>
              <a:gd name="connsiteY4" fmla="*/ 57736 h 58629"/>
              <a:gd name="connsiteX5" fmla="*/ 64331 w 65103"/>
              <a:gd name="connsiteY5" fmla="*/ 49681 h 58629"/>
              <a:gd name="connsiteX6" fmla="*/ 63498 w 65103"/>
              <a:gd name="connsiteY6" fmla="*/ 45003 h 58629"/>
              <a:gd name="connsiteX7" fmla="*/ 37570 w 65103"/>
              <a:gd name="connsiteY7" fmla="*/ 23385 h 58629"/>
              <a:gd name="connsiteX8" fmla="*/ 12236 w 65103"/>
              <a:gd name="connsiteY8" fmla="*/ 1056 h 58629"/>
              <a:gd name="connsiteX9" fmla="*/ 7418 w 65103"/>
              <a:gd name="connsiteY9" fmla="*/ 1056 h 58629"/>
              <a:gd name="connsiteX10" fmla="*/ 401 w 65103"/>
              <a:gd name="connsiteY10" fmla="*/ 8815 h 58629"/>
              <a:gd name="connsiteX11" fmla="*/ 1055 w 65103"/>
              <a:gd name="connsiteY11" fmla="*/ 13375 h 5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03" h="58629">
                <a:moveTo>
                  <a:pt x="1055" y="13375"/>
                </a:moveTo>
                <a:lnTo>
                  <a:pt x="26687" y="35882"/>
                </a:lnTo>
                <a:cubicBezTo>
                  <a:pt x="35131" y="43522"/>
                  <a:pt x="44171" y="50451"/>
                  <a:pt x="52912" y="57736"/>
                </a:cubicBezTo>
                <a:cubicBezTo>
                  <a:pt x="54221" y="59045"/>
                  <a:pt x="56303" y="59066"/>
                  <a:pt x="57611" y="57784"/>
                </a:cubicBezTo>
                <a:cubicBezTo>
                  <a:pt x="57611" y="57769"/>
                  <a:pt x="57670" y="57753"/>
                  <a:pt x="57670" y="57736"/>
                </a:cubicBezTo>
                <a:lnTo>
                  <a:pt x="64331" y="49681"/>
                </a:lnTo>
                <a:cubicBezTo>
                  <a:pt x="65342" y="48151"/>
                  <a:pt x="64985" y="46089"/>
                  <a:pt x="63498" y="45003"/>
                </a:cubicBezTo>
                <a:cubicBezTo>
                  <a:pt x="54875" y="37777"/>
                  <a:pt x="45657" y="30906"/>
                  <a:pt x="37570" y="23385"/>
                </a:cubicBezTo>
                <a:lnTo>
                  <a:pt x="12236" y="1056"/>
                </a:lnTo>
                <a:cubicBezTo>
                  <a:pt x="10868" y="-215"/>
                  <a:pt x="8787" y="-215"/>
                  <a:pt x="7418" y="1056"/>
                </a:cubicBezTo>
                <a:lnTo>
                  <a:pt x="401" y="8815"/>
                </a:lnTo>
                <a:cubicBezTo>
                  <a:pt x="-610" y="10270"/>
                  <a:pt x="-312" y="12262"/>
                  <a:pt x="1055" y="1337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8" name="Freeform: Shape 217">
            <a:extLst>
              <a:ext uri="{FF2B5EF4-FFF2-40B4-BE49-F238E27FC236}">
                <a16:creationId xmlns:a16="http://schemas.microsoft.com/office/drawing/2014/main" id="{A47DEA5C-E7BD-A2CA-2DBB-4049950ABA9C}"/>
              </a:ext>
            </a:extLst>
          </p:cNvPr>
          <p:cNvSpPr/>
          <p:nvPr/>
        </p:nvSpPr>
        <p:spPr>
          <a:xfrm>
            <a:off x="10221458" y="3985327"/>
            <a:ext cx="69242" cy="52518"/>
          </a:xfrm>
          <a:custGeom>
            <a:avLst/>
            <a:gdLst>
              <a:gd name="connsiteX0" fmla="*/ 1361 w 69242"/>
              <a:gd name="connsiteY0" fmla="*/ 14246 h 52518"/>
              <a:gd name="connsiteX1" fmla="*/ 29490 w 69242"/>
              <a:gd name="connsiteY1" fmla="*/ 33731 h 52518"/>
              <a:gd name="connsiteX2" fmla="*/ 58511 w 69242"/>
              <a:gd name="connsiteY2" fmla="*/ 51973 h 52518"/>
              <a:gd name="connsiteX3" fmla="*/ 63268 w 69242"/>
              <a:gd name="connsiteY3" fmla="*/ 51234 h 52518"/>
              <a:gd name="connsiteX4" fmla="*/ 63268 w 69242"/>
              <a:gd name="connsiteY4" fmla="*/ 51203 h 52518"/>
              <a:gd name="connsiteX5" fmla="*/ 68680 w 69242"/>
              <a:gd name="connsiteY5" fmla="*/ 42319 h 52518"/>
              <a:gd name="connsiteX6" fmla="*/ 67253 w 69242"/>
              <a:gd name="connsiteY6" fmla="*/ 37759 h 52518"/>
              <a:gd name="connsiteX7" fmla="*/ 38767 w 69242"/>
              <a:gd name="connsiteY7" fmla="*/ 19991 h 52518"/>
              <a:gd name="connsiteX8" fmla="*/ 10995 w 69242"/>
              <a:gd name="connsiteY8" fmla="*/ 860 h 52518"/>
              <a:gd name="connsiteX9" fmla="*/ 6238 w 69242"/>
              <a:gd name="connsiteY9" fmla="*/ 1334 h 52518"/>
              <a:gd name="connsiteX10" fmla="*/ 291 w 69242"/>
              <a:gd name="connsiteY10" fmla="*/ 9744 h 52518"/>
              <a:gd name="connsiteX11" fmla="*/ 1361 w 69242"/>
              <a:gd name="connsiteY11" fmla="*/ 14246 h 52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242" h="52518">
                <a:moveTo>
                  <a:pt x="1361" y="14246"/>
                </a:moveTo>
                <a:lnTo>
                  <a:pt x="29490" y="33731"/>
                </a:lnTo>
                <a:cubicBezTo>
                  <a:pt x="39065" y="39950"/>
                  <a:pt x="48877" y="45873"/>
                  <a:pt x="58511" y="51973"/>
                </a:cubicBezTo>
                <a:cubicBezTo>
                  <a:pt x="59998" y="53071"/>
                  <a:pt x="62139" y="52740"/>
                  <a:pt x="63268" y="51234"/>
                </a:cubicBezTo>
                <a:cubicBezTo>
                  <a:pt x="63268" y="51224"/>
                  <a:pt x="63268" y="51213"/>
                  <a:pt x="63268" y="51203"/>
                </a:cubicBezTo>
                <a:lnTo>
                  <a:pt x="68680" y="42319"/>
                </a:lnTo>
                <a:cubicBezTo>
                  <a:pt x="69513" y="40665"/>
                  <a:pt x="68859" y="38647"/>
                  <a:pt x="67253" y="37759"/>
                </a:cubicBezTo>
                <a:cubicBezTo>
                  <a:pt x="57738" y="31836"/>
                  <a:pt x="48164" y="25913"/>
                  <a:pt x="38767" y="19991"/>
                </a:cubicBezTo>
                <a:lnTo>
                  <a:pt x="10995" y="860"/>
                </a:lnTo>
                <a:cubicBezTo>
                  <a:pt x="9568" y="-313"/>
                  <a:pt x="7427" y="-101"/>
                  <a:pt x="6238" y="1334"/>
                </a:cubicBezTo>
                <a:lnTo>
                  <a:pt x="291" y="9744"/>
                </a:lnTo>
                <a:cubicBezTo>
                  <a:pt x="-661" y="11286"/>
                  <a:pt x="-185" y="13281"/>
                  <a:pt x="1361" y="1424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19" name="Freeform: Shape 218">
            <a:extLst>
              <a:ext uri="{FF2B5EF4-FFF2-40B4-BE49-F238E27FC236}">
                <a16:creationId xmlns:a16="http://schemas.microsoft.com/office/drawing/2014/main" id="{2BA3BE97-1FB5-4CB2-4F66-5EA00035A329}"/>
              </a:ext>
            </a:extLst>
          </p:cNvPr>
          <p:cNvSpPr/>
          <p:nvPr/>
        </p:nvSpPr>
        <p:spPr>
          <a:xfrm>
            <a:off x="10351250" y="4061090"/>
            <a:ext cx="73605" cy="42408"/>
          </a:xfrm>
          <a:custGeom>
            <a:avLst/>
            <a:gdLst>
              <a:gd name="connsiteX0" fmla="*/ 1926 w 73605"/>
              <a:gd name="connsiteY0" fmla="*/ 15478 h 42408"/>
              <a:gd name="connsiteX1" fmla="*/ 17389 w 73605"/>
              <a:gd name="connsiteY1" fmla="*/ 22882 h 42408"/>
              <a:gd name="connsiteX2" fmla="*/ 33326 w 73605"/>
              <a:gd name="connsiteY2" fmla="*/ 29515 h 42408"/>
              <a:gd name="connsiteX3" fmla="*/ 49205 w 73605"/>
              <a:gd name="connsiteY3" fmla="*/ 36030 h 42408"/>
              <a:gd name="connsiteX4" fmla="*/ 65261 w 73605"/>
              <a:gd name="connsiteY4" fmla="*/ 42249 h 42408"/>
              <a:gd name="connsiteX5" fmla="*/ 69781 w 73605"/>
              <a:gd name="connsiteY5" fmla="*/ 40472 h 42408"/>
              <a:gd name="connsiteX6" fmla="*/ 73289 w 73605"/>
              <a:gd name="connsiteY6" fmla="*/ 30700 h 42408"/>
              <a:gd name="connsiteX7" fmla="*/ 70970 w 73605"/>
              <a:gd name="connsiteY7" fmla="*/ 26614 h 42408"/>
              <a:gd name="connsiteX8" fmla="*/ 70970 w 73605"/>
              <a:gd name="connsiteY8" fmla="*/ 26613 h 42408"/>
              <a:gd name="connsiteX9" fmla="*/ 55329 w 73605"/>
              <a:gd name="connsiteY9" fmla="*/ 20690 h 42408"/>
              <a:gd name="connsiteX10" fmla="*/ 39748 w 73605"/>
              <a:gd name="connsiteY10" fmla="*/ 14294 h 42408"/>
              <a:gd name="connsiteX11" fmla="*/ 24287 w 73605"/>
              <a:gd name="connsiteY11" fmla="*/ 7838 h 42408"/>
              <a:gd name="connsiteX12" fmla="*/ 9122 w 73605"/>
              <a:gd name="connsiteY12" fmla="*/ 553 h 42408"/>
              <a:gd name="connsiteX13" fmla="*/ 4543 w 73605"/>
              <a:gd name="connsiteY13" fmla="*/ 1752 h 42408"/>
              <a:gd name="connsiteX14" fmla="*/ 4543 w 73605"/>
              <a:gd name="connsiteY14" fmla="*/ 1797 h 42408"/>
              <a:gd name="connsiteX15" fmla="*/ 23 w 73605"/>
              <a:gd name="connsiteY15" fmla="*/ 11155 h 42408"/>
              <a:gd name="connsiteX16" fmla="*/ 1926 w 73605"/>
              <a:gd name="connsiteY16" fmla="*/ 15478 h 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605" h="42408">
                <a:moveTo>
                  <a:pt x="1926" y="15478"/>
                </a:moveTo>
                <a:lnTo>
                  <a:pt x="17389" y="22882"/>
                </a:lnTo>
                <a:cubicBezTo>
                  <a:pt x="22621" y="25251"/>
                  <a:pt x="28033" y="27324"/>
                  <a:pt x="33326" y="29515"/>
                </a:cubicBezTo>
                <a:lnTo>
                  <a:pt x="49205" y="36030"/>
                </a:lnTo>
                <a:cubicBezTo>
                  <a:pt x="54497" y="38221"/>
                  <a:pt x="59790" y="40531"/>
                  <a:pt x="65261" y="42249"/>
                </a:cubicBezTo>
                <a:cubicBezTo>
                  <a:pt x="66986" y="42960"/>
                  <a:pt x="69008" y="42175"/>
                  <a:pt x="69781" y="40472"/>
                </a:cubicBezTo>
                <a:lnTo>
                  <a:pt x="73289" y="30700"/>
                </a:lnTo>
                <a:cubicBezTo>
                  <a:pt x="73765" y="28935"/>
                  <a:pt x="72754" y="27106"/>
                  <a:pt x="70970" y="26614"/>
                </a:cubicBezTo>
                <a:cubicBezTo>
                  <a:pt x="70970" y="26614"/>
                  <a:pt x="70970" y="26613"/>
                  <a:pt x="70970" y="26613"/>
                </a:cubicBezTo>
                <a:cubicBezTo>
                  <a:pt x="65618" y="25014"/>
                  <a:pt x="60504" y="22704"/>
                  <a:pt x="55329" y="20690"/>
                </a:cubicBezTo>
                <a:lnTo>
                  <a:pt x="39748" y="14294"/>
                </a:lnTo>
                <a:cubicBezTo>
                  <a:pt x="34575" y="12102"/>
                  <a:pt x="29341" y="10148"/>
                  <a:pt x="24287" y="7838"/>
                </a:cubicBezTo>
                <a:lnTo>
                  <a:pt x="9122" y="553"/>
                </a:lnTo>
                <a:cubicBezTo>
                  <a:pt x="7517" y="-368"/>
                  <a:pt x="5495" y="168"/>
                  <a:pt x="4543" y="1752"/>
                </a:cubicBezTo>
                <a:cubicBezTo>
                  <a:pt x="4543" y="1766"/>
                  <a:pt x="4543" y="1782"/>
                  <a:pt x="4543" y="1797"/>
                </a:cubicBezTo>
                <a:lnTo>
                  <a:pt x="23" y="11155"/>
                </a:lnTo>
                <a:cubicBezTo>
                  <a:pt x="-631" y="12872"/>
                  <a:pt x="202" y="14792"/>
                  <a:pt x="1926" y="15478"/>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0" name="Freeform: Shape 219">
            <a:extLst>
              <a:ext uri="{FF2B5EF4-FFF2-40B4-BE49-F238E27FC236}">
                <a16:creationId xmlns:a16="http://schemas.microsoft.com/office/drawing/2014/main" id="{ACC8BCD6-519C-7D14-35BE-B6F77582AB68}"/>
              </a:ext>
            </a:extLst>
          </p:cNvPr>
          <p:cNvSpPr/>
          <p:nvPr/>
        </p:nvSpPr>
        <p:spPr>
          <a:xfrm>
            <a:off x="10643705" y="4130164"/>
            <a:ext cx="37762" cy="17493"/>
          </a:xfrm>
          <a:custGeom>
            <a:avLst/>
            <a:gdLst>
              <a:gd name="connsiteX0" fmla="*/ 3309 w 37762"/>
              <a:gd name="connsiteY0" fmla="*/ 16707 h 17493"/>
              <a:gd name="connsiteX1" fmla="*/ 37564 w 37762"/>
              <a:gd name="connsiteY1" fmla="*/ 17596 h 17493"/>
              <a:gd name="connsiteX2" fmla="*/ 37564 w 37762"/>
              <a:gd name="connsiteY2" fmla="*/ 953 h 17493"/>
              <a:gd name="connsiteX3" fmla="*/ 3904 w 37762"/>
              <a:gd name="connsiteY3" fmla="*/ 124 h 17493"/>
              <a:gd name="connsiteX4" fmla="*/ 217 w 37762"/>
              <a:gd name="connsiteY4" fmla="*/ 3047 h 17493"/>
              <a:gd name="connsiteX5" fmla="*/ 217 w 37762"/>
              <a:gd name="connsiteY5" fmla="*/ 3085 h 17493"/>
              <a:gd name="connsiteX6" fmla="*/ -199 w 37762"/>
              <a:gd name="connsiteY6" fmla="*/ 13450 h 17493"/>
              <a:gd name="connsiteX7" fmla="*/ 3309 w 37762"/>
              <a:gd name="connsiteY7" fmla="*/ 16707 h 17493"/>
              <a:gd name="connsiteX8" fmla="*/ 3309 w 37762"/>
              <a:gd name="connsiteY8" fmla="*/ 16707 h 17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62" h="17493">
                <a:moveTo>
                  <a:pt x="3309" y="16707"/>
                </a:moveTo>
                <a:lnTo>
                  <a:pt x="37564" y="17596"/>
                </a:lnTo>
                <a:lnTo>
                  <a:pt x="37564" y="953"/>
                </a:lnTo>
                <a:lnTo>
                  <a:pt x="3904" y="124"/>
                </a:lnTo>
                <a:cubicBezTo>
                  <a:pt x="2061" y="-82"/>
                  <a:pt x="455" y="1227"/>
                  <a:pt x="217" y="3047"/>
                </a:cubicBezTo>
                <a:cubicBezTo>
                  <a:pt x="217" y="3060"/>
                  <a:pt x="217" y="3073"/>
                  <a:pt x="217" y="3085"/>
                </a:cubicBezTo>
                <a:lnTo>
                  <a:pt x="-199" y="13450"/>
                </a:lnTo>
                <a:cubicBezTo>
                  <a:pt x="-140" y="15313"/>
                  <a:pt x="1407" y="16772"/>
                  <a:pt x="3309" y="16707"/>
                </a:cubicBezTo>
                <a:cubicBezTo>
                  <a:pt x="3309" y="16707"/>
                  <a:pt x="3309" y="16707"/>
                  <a:pt x="3309" y="1670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1" name="Freeform: Shape 220">
            <a:extLst>
              <a:ext uri="{FF2B5EF4-FFF2-40B4-BE49-F238E27FC236}">
                <a16:creationId xmlns:a16="http://schemas.microsoft.com/office/drawing/2014/main" id="{D452C445-BCA4-E55E-CAB9-D8A7BD4536F3}"/>
              </a:ext>
            </a:extLst>
          </p:cNvPr>
          <p:cNvSpPr/>
          <p:nvPr/>
        </p:nvSpPr>
        <p:spPr>
          <a:xfrm>
            <a:off x="10493871" y="4111079"/>
            <a:ext cx="75801" cy="28542"/>
          </a:xfrm>
          <a:custGeom>
            <a:avLst/>
            <a:gdLst>
              <a:gd name="connsiteX0" fmla="*/ 2507 w 75801"/>
              <a:gd name="connsiteY0" fmla="*/ 16247 h 28542"/>
              <a:gd name="connsiteX1" fmla="*/ 36167 w 75801"/>
              <a:gd name="connsiteY1" fmla="*/ 23177 h 28542"/>
              <a:gd name="connsiteX2" fmla="*/ 44671 w 75801"/>
              <a:gd name="connsiteY2" fmla="*/ 24894 h 28542"/>
              <a:gd name="connsiteX3" fmla="*/ 53116 w 75801"/>
              <a:gd name="connsiteY3" fmla="*/ 26138 h 28542"/>
              <a:gd name="connsiteX4" fmla="*/ 70184 w 75801"/>
              <a:gd name="connsiteY4" fmla="*/ 28566 h 28542"/>
              <a:gd name="connsiteX5" fmla="*/ 74168 w 75801"/>
              <a:gd name="connsiteY5" fmla="*/ 26040 h 28542"/>
              <a:gd name="connsiteX6" fmla="*/ 74168 w 75801"/>
              <a:gd name="connsiteY6" fmla="*/ 25960 h 28542"/>
              <a:gd name="connsiteX7" fmla="*/ 75595 w 75801"/>
              <a:gd name="connsiteY7" fmla="*/ 15714 h 28542"/>
              <a:gd name="connsiteX8" fmla="*/ 72443 w 75801"/>
              <a:gd name="connsiteY8" fmla="*/ 12102 h 28542"/>
              <a:gd name="connsiteX9" fmla="*/ 72443 w 75801"/>
              <a:gd name="connsiteY9" fmla="*/ 12101 h 28542"/>
              <a:gd name="connsiteX10" fmla="*/ 55792 w 75801"/>
              <a:gd name="connsiteY10" fmla="*/ 9732 h 28542"/>
              <a:gd name="connsiteX11" fmla="*/ 47525 w 75801"/>
              <a:gd name="connsiteY11" fmla="*/ 8548 h 28542"/>
              <a:gd name="connsiteX12" fmla="*/ 39438 w 75801"/>
              <a:gd name="connsiteY12" fmla="*/ 6948 h 28542"/>
              <a:gd name="connsiteX13" fmla="*/ 6491 w 75801"/>
              <a:gd name="connsiteY13" fmla="*/ 256 h 28542"/>
              <a:gd name="connsiteX14" fmla="*/ 2329 w 75801"/>
              <a:gd name="connsiteY14" fmla="*/ 2388 h 28542"/>
              <a:gd name="connsiteX15" fmla="*/ -169 w 75801"/>
              <a:gd name="connsiteY15" fmla="*/ 12516 h 28542"/>
              <a:gd name="connsiteX16" fmla="*/ 2507 w 75801"/>
              <a:gd name="connsiteY16" fmla="*/ 16247 h 2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01" h="28542">
                <a:moveTo>
                  <a:pt x="2507" y="16247"/>
                </a:moveTo>
                <a:lnTo>
                  <a:pt x="36167" y="23177"/>
                </a:lnTo>
                <a:lnTo>
                  <a:pt x="44671" y="24894"/>
                </a:lnTo>
                <a:cubicBezTo>
                  <a:pt x="47466" y="25368"/>
                  <a:pt x="50320" y="25724"/>
                  <a:pt x="53116" y="26138"/>
                </a:cubicBezTo>
                <a:lnTo>
                  <a:pt x="70184" y="28566"/>
                </a:lnTo>
                <a:cubicBezTo>
                  <a:pt x="71967" y="28960"/>
                  <a:pt x="73752" y="27828"/>
                  <a:pt x="74168" y="26040"/>
                </a:cubicBezTo>
                <a:cubicBezTo>
                  <a:pt x="74168" y="26013"/>
                  <a:pt x="74168" y="25987"/>
                  <a:pt x="74168" y="25960"/>
                </a:cubicBezTo>
                <a:lnTo>
                  <a:pt x="75595" y="15714"/>
                </a:lnTo>
                <a:cubicBezTo>
                  <a:pt x="75714" y="13854"/>
                  <a:pt x="74346" y="12237"/>
                  <a:pt x="72443" y="12102"/>
                </a:cubicBezTo>
                <a:cubicBezTo>
                  <a:pt x="72443" y="12102"/>
                  <a:pt x="72443" y="12102"/>
                  <a:pt x="72443" y="12101"/>
                </a:cubicBezTo>
                <a:lnTo>
                  <a:pt x="55792" y="9732"/>
                </a:lnTo>
                <a:cubicBezTo>
                  <a:pt x="53056" y="9377"/>
                  <a:pt x="50261" y="9021"/>
                  <a:pt x="47525" y="8548"/>
                </a:cubicBezTo>
                <a:lnTo>
                  <a:pt x="39438" y="6948"/>
                </a:lnTo>
                <a:lnTo>
                  <a:pt x="6491" y="256"/>
                </a:lnTo>
                <a:cubicBezTo>
                  <a:pt x="4767" y="-289"/>
                  <a:pt x="2923" y="662"/>
                  <a:pt x="2329" y="2388"/>
                </a:cubicBezTo>
                <a:lnTo>
                  <a:pt x="-169" y="12516"/>
                </a:lnTo>
                <a:cubicBezTo>
                  <a:pt x="-406" y="14265"/>
                  <a:pt x="783" y="15890"/>
                  <a:pt x="2507" y="16247"/>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2" name="Freeform: Shape 221">
            <a:extLst>
              <a:ext uri="{FF2B5EF4-FFF2-40B4-BE49-F238E27FC236}">
                <a16:creationId xmlns:a16="http://schemas.microsoft.com/office/drawing/2014/main" id="{19B5E075-2CD4-6A31-6A3E-16CFA2B4D268}"/>
              </a:ext>
            </a:extLst>
          </p:cNvPr>
          <p:cNvSpPr/>
          <p:nvPr/>
        </p:nvSpPr>
        <p:spPr>
          <a:xfrm>
            <a:off x="9371716" y="3488515"/>
            <a:ext cx="37822" cy="17486"/>
          </a:xfrm>
          <a:custGeom>
            <a:avLst/>
            <a:gdLst>
              <a:gd name="connsiteX0" fmla="*/ 33461 w 37822"/>
              <a:gd name="connsiteY0" fmla="*/ 17575 h 17486"/>
              <a:gd name="connsiteX1" fmla="*/ 37148 w 37822"/>
              <a:gd name="connsiteY1" fmla="*/ 14554 h 17486"/>
              <a:gd name="connsiteX2" fmla="*/ 37623 w 37822"/>
              <a:gd name="connsiteY2" fmla="*/ 4189 h 17486"/>
              <a:gd name="connsiteX3" fmla="*/ 34174 w 37822"/>
              <a:gd name="connsiteY3" fmla="*/ 988 h 17486"/>
              <a:gd name="connsiteX4" fmla="*/ 34115 w 37822"/>
              <a:gd name="connsiteY4" fmla="*/ 991 h 17486"/>
              <a:gd name="connsiteX5" fmla="*/ -199 w 37822"/>
              <a:gd name="connsiteY5" fmla="*/ 102 h 17486"/>
              <a:gd name="connsiteX6" fmla="*/ -199 w 37822"/>
              <a:gd name="connsiteY6" fmla="*/ 16686 h 1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22" h="17486">
                <a:moveTo>
                  <a:pt x="33461" y="17575"/>
                </a:moveTo>
                <a:cubicBezTo>
                  <a:pt x="35304" y="17747"/>
                  <a:pt x="36969" y="16398"/>
                  <a:pt x="37148" y="14554"/>
                </a:cubicBezTo>
                <a:lnTo>
                  <a:pt x="37623" y="4189"/>
                </a:lnTo>
                <a:cubicBezTo>
                  <a:pt x="37564" y="2358"/>
                  <a:pt x="36017" y="925"/>
                  <a:pt x="34174" y="988"/>
                </a:cubicBezTo>
                <a:cubicBezTo>
                  <a:pt x="34174" y="988"/>
                  <a:pt x="34115" y="990"/>
                  <a:pt x="34115" y="991"/>
                </a:cubicBezTo>
                <a:lnTo>
                  <a:pt x="-199" y="102"/>
                </a:lnTo>
                <a:lnTo>
                  <a:pt x="-199" y="16686"/>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3" name="Freeform: Shape 222">
            <a:extLst>
              <a:ext uri="{FF2B5EF4-FFF2-40B4-BE49-F238E27FC236}">
                <a16:creationId xmlns:a16="http://schemas.microsoft.com/office/drawing/2014/main" id="{F352B70E-E635-8056-36F2-32A8A29E0972}"/>
              </a:ext>
            </a:extLst>
          </p:cNvPr>
          <p:cNvSpPr/>
          <p:nvPr/>
        </p:nvSpPr>
        <p:spPr>
          <a:xfrm>
            <a:off x="9483561" y="3496488"/>
            <a:ext cx="76063" cy="28725"/>
          </a:xfrm>
          <a:custGeom>
            <a:avLst/>
            <a:gdLst>
              <a:gd name="connsiteX0" fmla="*/ 3088 w 76063"/>
              <a:gd name="connsiteY0" fmla="*/ 16709 h 28725"/>
              <a:gd name="connsiteX1" fmla="*/ 19740 w 76063"/>
              <a:gd name="connsiteY1" fmla="*/ 19019 h 28725"/>
              <a:gd name="connsiteX2" fmla="*/ 28065 w 76063"/>
              <a:gd name="connsiteY2" fmla="*/ 20262 h 28725"/>
              <a:gd name="connsiteX3" fmla="*/ 36272 w 76063"/>
              <a:gd name="connsiteY3" fmla="*/ 21980 h 28725"/>
              <a:gd name="connsiteX4" fmla="*/ 69218 w 76063"/>
              <a:gd name="connsiteY4" fmla="*/ 28673 h 28725"/>
              <a:gd name="connsiteX5" fmla="*/ 73440 w 76063"/>
              <a:gd name="connsiteY5" fmla="*/ 26540 h 28725"/>
              <a:gd name="connsiteX6" fmla="*/ 75819 w 76063"/>
              <a:gd name="connsiteY6" fmla="*/ 16413 h 28725"/>
              <a:gd name="connsiteX7" fmla="*/ 73084 w 76063"/>
              <a:gd name="connsiteY7" fmla="*/ 12509 h 28725"/>
              <a:gd name="connsiteX8" fmla="*/ 73024 w 76063"/>
              <a:gd name="connsiteY8" fmla="*/ 12504 h 28725"/>
              <a:gd name="connsiteX9" fmla="*/ 39186 w 76063"/>
              <a:gd name="connsiteY9" fmla="*/ 5574 h 28725"/>
              <a:gd name="connsiteX10" fmla="*/ 30741 w 76063"/>
              <a:gd name="connsiteY10" fmla="*/ 3856 h 28725"/>
              <a:gd name="connsiteX11" fmla="*/ 22237 w 76063"/>
              <a:gd name="connsiteY11" fmla="*/ 2553 h 28725"/>
              <a:gd name="connsiteX12" fmla="*/ 5229 w 76063"/>
              <a:gd name="connsiteY12" fmla="*/ 184 h 28725"/>
              <a:gd name="connsiteX13" fmla="*/ 1185 w 76063"/>
              <a:gd name="connsiteY13" fmla="*/ 2731 h 28725"/>
              <a:gd name="connsiteX14" fmla="*/ -183 w 76063"/>
              <a:gd name="connsiteY14" fmla="*/ 13037 h 28725"/>
              <a:gd name="connsiteX15" fmla="*/ 2790 w 76063"/>
              <a:gd name="connsiteY15" fmla="*/ 16690 h 28725"/>
              <a:gd name="connsiteX16" fmla="*/ 3088 w 76063"/>
              <a:gd name="connsiteY16" fmla="*/ 16709 h 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063" h="28725">
                <a:moveTo>
                  <a:pt x="3088" y="16709"/>
                </a:moveTo>
                <a:lnTo>
                  <a:pt x="19740" y="19019"/>
                </a:lnTo>
                <a:cubicBezTo>
                  <a:pt x="22475" y="19433"/>
                  <a:pt x="25330" y="19789"/>
                  <a:pt x="28065" y="20262"/>
                </a:cubicBezTo>
                <a:lnTo>
                  <a:pt x="36272" y="21980"/>
                </a:lnTo>
                <a:lnTo>
                  <a:pt x="69218" y="28673"/>
                </a:lnTo>
                <a:cubicBezTo>
                  <a:pt x="71002" y="29221"/>
                  <a:pt x="72845" y="28275"/>
                  <a:pt x="73440" y="26540"/>
                </a:cubicBezTo>
                <a:lnTo>
                  <a:pt x="75819" y="16413"/>
                </a:lnTo>
                <a:cubicBezTo>
                  <a:pt x="76117" y="14575"/>
                  <a:pt x="74927" y="12828"/>
                  <a:pt x="73084" y="12509"/>
                </a:cubicBezTo>
                <a:cubicBezTo>
                  <a:pt x="73024" y="12507"/>
                  <a:pt x="73024" y="12505"/>
                  <a:pt x="73024" y="12504"/>
                </a:cubicBezTo>
                <a:lnTo>
                  <a:pt x="39186" y="5574"/>
                </a:lnTo>
                <a:lnTo>
                  <a:pt x="30741" y="3856"/>
                </a:lnTo>
                <a:cubicBezTo>
                  <a:pt x="27947" y="3323"/>
                  <a:pt x="24794" y="3027"/>
                  <a:pt x="22237" y="2553"/>
                </a:cubicBezTo>
                <a:lnTo>
                  <a:pt x="5229" y="184"/>
                </a:lnTo>
                <a:cubicBezTo>
                  <a:pt x="3386" y="-221"/>
                  <a:pt x="1601" y="918"/>
                  <a:pt x="1185" y="2731"/>
                </a:cubicBezTo>
                <a:lnTo>
                  <a:pt x="-183" y="13037"/>
                </a:lnTo>
                <a:cubicBezTo>
                  <a:pt x="-361" y="14858"/>
                  <a:pt x="947" y="16494"/>
                  <a:pt x="2790" y="16690"/>
                </a:cubicBezTo>
                <a:cubicBezTo>
                  <a:pt x="2850" y="16701"/>
                  <a:pt x="2969" y="16708"/>
                  <a:pt x="3088" y="16709"/>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4" name="Freeform: Shape 223">
            <a:extLst>
              <a:ext uri="{FF2B5EF4-FFF2-40B4-BE49-F238E27FC236}">
                <a16:creationId xmlns:a16="http://schemas.microsoft.com/office/drawing/2014/main" id="{72111D04-4A52-F36A-96BB-B1C3D189C10F}"/>
              </a:ext>
            </a:extLst>
          </p:cNvPr>
          <p:cNvSpPr/>
          <p:nvPr/>
        </p:nvSpPr>
        <p:spPr>
          <a:xfrm>
            <a:off x="9628352" y="3532774"/>
            <a:ext cx="73606" cy="42248"/>
          </a:xfrm>
          <a:custGeom>
            <a:avLst/>
            <a:gdLst>
              <a:gd name="connsiteX0" fmla="*/ 2213 w 73606"/>
              <a:gd name="connsiteY0" fmla="*/ 15840 h 42248"/>
              <a:gd name="connsiteX1" fmla="*/ 17913 w 73606"/>
              <a:gd name="connsiteY1" fmla="*/ 21763 h 42248"/>
              <a:gd name="connsiteX2" fmla="*/ 33434 w 73606"/>
              <a:gd name="connsiteY2" fmla="*/ 28160 h 42248"/>
              <a:gd name="connsiteX3" fmla="*/ 48897 w 73606"/>
              <a:gd name="connsiteY3" fmla="*/ 34615 h 42248"/>
              <a:gd name="connsiteX4" fmla="*/ 64061 w 73606"/>
              <a:gd name="connsiteY4" fmla="*/ 41900 h 42248"/>
              <a:gd name="connsiteX5" fmla="*/ 68640 w 73606"/>
              <a:gd name="connsiteY5" fmla="*/ 40702 h 42248"/>
              <a:gd name="connsiteX6" fmla="*/ 68640 w 73606"/>
              <a:gd name="connsiteY6" fmla="*/ 40657 h 42248"/>
              <a:gd name="connsiteX7" fmla="*/ 73160 w 73606"/>
              <a:gd name="connsiteY7" fmla="*/ 31299 h 42248"/>
              <a:gd name="connsiteX8" fmla="*/ 71257 w 73606"/>
              <a:gd name="connsiteY8" fmla="*/ 26917 h 42248"/>
              <a:gd name="connsiteX9" fmla="*/ 71257 w 73606"/>
              <a:gd name="connsiteY9" fmla="*/ 26916 h 42248"/>
              <a:gd name="connsiteX10" fmla="*/ 55735 w 73606"/>
              <a:gd name="connsiteY10" fmla="*/ 19453 h 42248"/>
              <a:gd name="connsiteX11" fmla="*/ 39917 w 73606"/>
              <a:gd name="connsiteY11" fmla="*/ 12820 h 42248"/>
              <a:gd name="connsiteX12" fmla="*/ 23979 w 73606"/>
              <a:gd name="connsiteY12" fmla="*/ 6305 h 42248"/>
              <a:gd name="connsiteX13" fmla="*/ 7982 w 73606"/>
              <a:gd name="connsiteY13" fmla="*/ 382 h 42248"/>
              <a:gd name="connsiteX14" fmla="*/ 3462 w 73606"/>
              <a:gd name="connsiteY14" fmla="*/ 2159 h 42248"/>
              <a:gd name="connsiteX15" fmla="*/ -106 w 73606"/>
              <a:gd name="connsiteY15" fmla="*/ 11872 h 42248"/>
              <a:gd name="connsiteX16" fmla="*/ 2213 w 73606"/>
              <a:gd name="connsiteY16" fmla="*/ 15840 h 4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606" h="42248">
                <a:moveTo>
                  <a:pt x="2213" y="15840"/>
                </a:moveTo>
                <a:cubicBezTo>
                  <a:pt x="7565" y="17499"/>
                  <a:pt x="12680" y="19809"/>
                  <a:pt x="17913" y="21763"/>
                </a:cubicBezTo>
                <a:lnTo>
                  <a:pt x="33434" y="28160"/>
                </a:lnTo>
                <a:cubicBezTo>
                  <a:pt x="38549" y="30292"/>
                  <a:pt x="43841" y="32246"/>
                  <a:pt x="48897" y="34615"/>
                </a:cubicBezTo>
                <a:lnTo>
                  <a:pt x="64061" y="41900"/>
                </a:lnTo>
                <a:cubicBezTo>
                  <a:pt x="65667" y="42821"/>
                  <a:pt x="67689" y="42285"/>
                  <a:pt x="68640" y="40702"/>
                </a:cubicBezTo>
                <a:cubicBezTo>
                  <a:pt x="68640" y="40687"/>
                  <a:pt x="68640" y="40672"/>
                  <a:pt x="68640" y="40657"/>
                </a:cubicBezTo>
                <a:lnTo>
                  <a:pt x="73160" y="31299"/>
                </a:lnTo>
                <a:cubicBezTo>
                  <a:pt x="73874" y="29566"/>
                  <a:pt x="72982" y="27604"/>
                  <a:pt x="71257" y="26917"/>
                </a:cubicBezTo>
                <a:cubicBezTo>
                  <a:pt x="71257" y="26916"/>
                  <a:pt x="71257" y="26916"/>
                  <a:pt x="71257" y="26916"/>
                </a:cubicBezTo>
                <a:lnTo>
                  <a:pt x="55735" y="19453"/>
                </a:lnTo>
                <a:cubicBezTo>
                  <a:pt x="50562" y="17084"/>
                  <a:pt x="45210" y="15070"/>
                  <a:pt x="39917" y="12820"/>
                </a:cubicBezTo>
                <a:lnTo>
                  <a:pt x="23979" y="6305"/>
                </a:lnTo>
                <a:cubicBezTo>
                  <a:pt x="18686" y="4173"/>
                  <a:pt x="13453" y="1863"/>
                  <a:pt x="7982" y="382"/>
                </a:cubicBezTo>
                <a:cubicBezTo>
                  <a:pt x="6257" y="-362"/>
                  <a:pt x="4235" y="431"/>
                  <a:pt x="3462" y="2159"/>
                </a:cubicBezTo>
                <a:lnTo>
                  <a:pt x="-106" y="11872"/>
                </a:lnTo>
                <a:cubicBezTo>
                  <a:pt x="-522" y="13600"/>
                  <a:pt x="489" y="15351"/>
                  <a:pt x="2213" y="15840"/>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5" name="Freeform: Shape 224">
            <a:extLst>
              <a:ext uri="{FF2B5EF4-FFF2-40B4-BE49-F238E27FC236}">
                <a16:creationId xmlns:a16="http://schemas.microsoft.com/office/drawing/2014/main" id="{313D3E72-F24F-26C2-C4FD-30C44FF7B1BB}"/>
              </a:ext>
            </a:extLst>
          </p:cNvPr>
          <p:cNvSpPr/>
          <p:nvPr/>
        </p:nvSpPr>
        <p:spPr>
          <a:xfrm>
            <a:off x="9762492" y="3598725"/>
            <a:ext cx="69171" cy="52539"/>
          </a:xfrm>
          <a:custGeom>
            <a:avLst/>
            <a:gdLst>
              <a:gd name="connsiteX0" fmla="*/ 1582 w 69171"/>
              <a:gd name="connsiteY0" fmla="*/ 14922 h 52539"/>
              <a:gd name="connsiteX1" fmla="*/ 30067 w 69171"/>
              <a:gd name="connsiteY1" fmla="*/ 32690 h 52539"/>
              <a:gd name="connsiteX2" fmla="*/ 57721 w 69171"/>
              <a:gd name="connsiteY2" fmla="*/ 51880 h 52539"/>
              <a:gd name="connsiteX3" fmla="*/ 62538 w 69171"/>
              <a:gd name="connsiteY3" fmla="*/ 51406 h 52539"/>
              <a:gd name="connsiteX4" fmla="*/ 68485 w 69171"/>
              <a:gd name="connsiteY4" fmla="*/ 42995 h 52539"/>
              <a:gd name="connsiteX5" fmla="*/ 67355 w 69171"/>
              <a:gd name="connsiteY5" fmla="*/ 38376 h 52539"/>
              <a:gd name="connsiteX6" fmla="*/ 39345 w 69171"/>
              <a:gd name="connsiteY6" fmla="*/ 19008 h 52539"/>
              <a:gd name="connsiteX7" fmla="*/ 10324 w 69171"/>
              <a:gd name="connsiteY7" fmla="*/ 766 h 52539"/>
              <a:gd name="connsiteX8" fmla="*/ 5685 w 69171"/>
              <a:gd name="connsiteY8" fmla="*/ 1429 h 52539"/>
              <a:gd name="connsiteX9" fmla="*/ 5626 w 69171"/>
              <a:gd name="connsiteY9" fmla="*/ 1477 h 52539"/>
              <a:gd name="connsiteX10" fmla="*/ 214 w 69171"/>
              <a:gd name="connsiteY10" fmla="*/ 10361 h 52539"/>
              <a:gd name="connsiteX11" fmla="*/ 1582 w 69171"/>
              <a:gd name="connsiteY11" fmla="*/ 14922 h 5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171" h="52539">
                <a:moveTo>
                  <a:pt x="1582" y="14922"/>
                </a:moveTo>
                <a:cubicBezTo>
                  <a:pt x="11037" y="20844"/>
                  <a:pt x="20671" y="26767"/>
                  <a:pt x="30067" y="32690"/>
                </a:cubicBezTo>
                <a:lnTo>
                  <a:pt x="57721" y="51880"/>
                </a:lnTo>
                <a:cubicBezTo>
                  <a:pt x="59207" y="53059"/>
                  <a:pt x="61348" y="52848"/>
                  <a:pt x="62538" y="51406"/>
                </a:cubicBezTo>
                <a:lnTo>
                  <a:pt x="68485" y="42995"/>
                </a:lnTo>
                <a:cubicBezTo>
                  <a:pt x="69437" y="41408"/>
                  <a:pt x="68960" y="39345"/>
                  <a:pt x="67355" y="38376"/>
                </a:cubicBezTo>
                <a:lnTo>
                  <a:pt x="39345" y="19008"/>
                </a:lnTo>
                <a:cubicBezTo>
                  <a:pt x="29770" y="12789"/>
                  <a:pt x="20017" y="6867"/>
                  <a:pt x="10324" y="766"/>
                </a:cubicBezTo>
                <a:cubicBezTo>
                  <a:pt x="8837" y="-333"/>
                  <a:pt x="6756" y="-36"/>
                  <a:pt x="5685" y="1429"/>
                </a:cubicBezTo>
                <a:cubicBezTo>
                  <a:pt x="5626" y="1445"/>
                  <a:pt x="5626" y="1461"/>
                  <a:pt x="5626" y="1477"/>
                </a:cubicBezTo>
                <a:lnTo>
                  <a:pt x="214" y="10361"/>
                </a:lnTo>
                <a:cubicBezTo>
                  <a:pt x="-678" y="11997"/>
                  <a:pt x="-83" y="14034"/>
                  <a:pt x="1582" y="14922"/>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6" name="Freeform: Shape 225">
            <a:extLst>
              <a:ext uri="{FF2B5EF4-FFF2-40B4-BE49-F238E27FC236}">
                <a16:creationId xmlns:a16="http://schemas.microsoft.com/office/drawing/2014/main" id="{31A28634-A78D-0C68-9C5C-EA662F887954}"/>
              </a:ext>
            </a:extLst>
          </p:cNvPr>
          <p:cNvSpPr/>
          <p:nvPr/>
        </p:nvSpPr>
        <p:spPr>
          <a:xfrm>
            <a:off x="9995283" y="3787433"/>
            <a:ext cx="62568" cy="61517"/>
          </a:xfrm>
          <a:custGeom>
            <a:avLst/>
            <a:gdLst>
              <a:gd name="connsiteX0" fmla="*/ 958 w 62568"/>
              <a:gd name="connsiteY0" fmla="*/ 13076 h 61517"/>
              <a:gd name="connsiteX1" fmla="*/ 25163 w 62568"/>
              <a:gd name="connsiteY1" fmla="*/ 36767 h 61517"/>
              <a:gd name="connsiteX2" fmla="*/ 49545 w 62568"/>
              <a:gd name="connsiteY2" fmla="*/ 60458 h 61517"/>
              <a:gd name="connsiteX3" fmla="*/ 54303 w 62568"/>
              <a:gd name="connsiteY3" fmla="*/ 60813 h 61517"/>
              <a:gd name="connsiteX4" fmla="*/ 61558 w 62568"/>
              <a:gd name="connsiteY4" fmla="*/ 53351 h 61517"/>
              <a:gd name="connsiteX5" fmla="*/ 61201 w 62568"/>
              <a:gd name="connsiteY5" fmla="*/ 48613 h 61517"/>
              <a:gd name="connsiteX6" fmla="*/ 36938 w 62568"/>
              <a:gd name="connsiteY6" fmla="*/ 24922 h 61517"/>
              <a:gd name="connsiteX7" fmla="*/ 12555 w 62568"/>
              <a:gd name="connsiteY7" fmla="*/ 1231 h 61517"/>
              <a:gd name="connsiteX8" fmla="*/ 7798 w 62568"/>
              <a:gd name="connsiteY8" fmla="*/ 934 h 61517"/>
              <a:gd name="connsiteX9" fmla="*/ 542 w 62568"/>
              <a:gd name="connsiteY9" fmla="*/ 8397 h 61517"/>
              <a:gd name="connsiteX10" fmla="*/ 958 w 62568"/>
              <a:gd name="connsiteY10" fmla="*/ 13076 h 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568" h="61517">
                <a:moveTo>
                  <a:pt x="958" y="13076"/>
                </a:moveTo>
                <a:lnTo>
                  <a:pt x="25163" y="36767"/>
                </a:lnTo>
                <a:lnTo>
                  <a:pt x="49545" y="60458"/>
                </a:lnTo>
                <a:cubicBezTo>
                  <a:pt x="50794" y="61856"/>
                  <a:pt x="52876" y="62015"/>
                  <a:pt x="54303" y="60813"/>
                </a:cubicBezTo>
                <a:lnTo>
                  <a:pt x="61558" y="53351"/>
                </a:lnTo>
                <a:cubicBezTo>
                  <a:pt x="62747" y="51941"/>
                  <a:pt x="62629" y="49827"/>
                  <a:pt x="61201" y="48613"/>
                </a:cubicBezTo>
                <a:lnTo>
                  <a:pt x="36938" y="24922"/>
                </a:lnTo>
                <a:lnTo>
                  <a:pt x="12555" y="1231"/>
                </a:lnTo>
                <a:cubicBezTo>
                  <a:pt x="11307" y="-149"/>
                  <a:pt x="9225" y="-281"/>
                  <a:pt x="7798" y="934"/>
                </a:cubicBezTo>
                <a:lnTo>
                  <a:pt x="542" y="8397"/>
                </a:lnTo>
                <a:cubicBezTo>
                  <a:pt x="-587" y="9813"/>
                  <a:pt x="-409" y="11884"/>
                  <a:pt x="958" y="1307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7" name="Freeform: Shape 226">
            <a:extLst>
              <a:ext uri="{FF2B5EF4-FFF2-40B4-BE49-F238E27FC236}">
                <a16:creationId xmlns:a16="http://schemas.microsoft.com/office/drawing/2014/main" id="{EA6195B9-6799-827A-88A4-DF3EF48003BF}"/>
              </a:ext>
            </a:extLst>
          </p:cNvPr>
          <p:cNvSpPr/>
          <p:nvPr/>
        </p:nvSpPr>
        <p:spPr>
          <a:xfrm>
            <a:off x="9883788" y="3686578"/>
            <a:ext cx="65251" cy="58775"/>
          </a:xfrm>
          <a:custGeom>
            <a:avLst/>
            <a:gdLst>
              <a:gd name="connsiteX0" fmla="*/ 1306 w 65251"/>
              <a:gd name="connsiteY0" fmla="*/ 13955 h 58775"/>
              <a:gd name="connsiteX1" fmla="*/ 27175 w 65251"/>
              <a:gd name="connsiteY1" fmla="*/ 35632 h 58775"/>
              <a:gd name="connsiteX2" fmla="*/ 52568 w 65251"/>
              <a:gd name="connsiteY2" fmla="*/ 57902 h 58775"/>
              <a:gd name="connsiteX3" fmla="*/ 57386 w 65251"/>
              <a:gd name="connsiteY3" fmla="*/ 57902 h 58775"/>
              <a:gd name="connsiteX4" fmla="*/ 64343 w 65251"/>
              <a:gd name="connsiteY4" fmla="*/ 50202 h 58775"/>
              <a:gd name="connsiteX5" fmla="*/ 63748 w 65251"/>
              <a:gd name="connsiteY5" fmla="*/ 45546 h 58775"/>
              <a:gd name="connsiteX6" fmla="*/ 63748 w 65251"/>
              <a:gd name="connsiteY6" fmla="*/ 45523 h 58775"/>
              <a:gd name="connsiteX7" fmla="*/ 38117 w 65251"/>
              <a:gd name="connsiteY7" fmla="*/ 23017 h 58775"/>
              <a:gd name="connsiteX8" fmla="*/ 11891 w 65251"/>
              <a:gd name="connsiteY8" fmla="*/ 1103 h 58775"/>
              <a:gd name="connsiteX9" fmla="*/ 7074 w 65251"/>
              <a:gd name="connsiteY9" fmla="*/ 1080 h 58775"/>
              <a:gd name="connsiteX10" fmla="*/ 7074 w 65251"/>
              <a:gd name="connsiteY10" fmla="*/ 1103 h 58775"/>
              <a:gd name="connsiteX11" fmla="*/ 533 w 65251"/>
              <a:gd name="connsiteY11" fmla="*/ 9099 h 58775"/>
              <a:gd name="connsiteX12" fmla="*/ 1068 w 65251"/>
              <a:gd name="connsiteY12" fmla="*/ 13762 h 58775"/>
              <a:gd name="connsiteX13" fmla="*/ 1306 w 65251"/>
              <a:gd name="connsiteY13" fmla="*/ 13955 h 5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51" h="58775">
                <a:moveTo>
                  <a:pt x="1306" y="13955"/>
                </a:moveTo>
                <a:cubicBezTo>
                  <a:pt x="9928" y="21240"/>
                  <a:pt x="19147" y="28051"/>
                  <a:pt x="27175" y="35632"/>
                </a:cubicBezTo>
                <a:lnTo>
                  <a:pt x="52568" y="57902"/>
                </a:lnTo>
                <a:cubicBezTo>
                  <a:pt x="53936" y="59204"/>
                  <a:pt x="56017" y="59204"/>
                  <a:pt x="57386" y="57902"/>
                </a:cubicBezTo>
                <a:lnTo>
                  <a:pt x="64343" y="50202"/>
                </a:lnTo>
                <a:cubicBezTo>
                  <a:pt x="65473" y="48761"/>
                  <a:pt x="65235" y="46676"/>
                  <a:pt x="63748" y="45546"/>
                </a:cubicBezTo>
                <a:cubicBezTo>
                  <a:pt x="63748" y="45538"/>
                  <a:pt x="63748" y="45531"/>
                  <a:pt x="63748" y="45523"/>
                </a:cubicBezTo>
                <a:lnTo>
                  <a:pt x="38117" y="23017"/>
                </a:lnTo>
                <a:cubicBezTo>
                  <a:pt x="29673" y="15377"/>
                  <a:pt x="20633" y="8388"/>
                  <a:pt x="11891" y="1103"/>
                </a:cubicBezTo>
                <a:cubicBezTo>
                  <a:pt x="10583" y="-222"/>
                  <a:pt x="8442" y="-232"/>
                  <a:pt x="7074" y="1080"/>
                </a:cubicBezTo>
                <a:cubicBezTo>
                  <a:pt x="7074" y="1087"/>
                  <a:pt x="7074" y="1095"/>
                  <a:pt x="7074" y="1103"/>
                </a:cubicBezTo>
                <a:lnTo>
                  <a:pt x="533" y="9099"/>
                </a:lnTo>
                <a:cubicBezTo>
                  <a:pt x="-597" y="10525"/>
                  <a:pt x="-419" y="12613"/>
                  <a:pt x="1068" y="13762"/>
                </a:cubicBezTo>
                <a:cubicBezTo>
                  <a:pt x="1127" y="13831"/>
                  <a:pt x="1187" y="13895"/>
                  <a:pt x="1306" y="1395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28" name="Freeform: Shape 227">
            <a:extLst>
              <a:ext uri="{FF2B5EF4-FFF2-40B4-BE49-F238E27FC236}">
                <a16:creationId xmlns:a16="http://schemas.microsoft.com/office/drawing/2014/main" id="{185217BE-091B-1C74-1AD4-0C47B536DCA9}"/>
              </a:ext>
            </a:extLst>
          </p:cNvPr>
          <p:cNvSpPr/>
          <p:nvPr/>
        </p:nvSpPr>
        <p:spPr>
          <a:xfrm>
            <a:off x="9371716" y="3324277"/>
            <a:ext cx="1309691" cy="659615"/>
          </a:xfrm>
          <a:custGeom>
            <a:avLst/>
            <a:gdLst>
              <a:gd name="connsiteX0" fmla="*/ 354119 w 1309691"/>
              <a:gd name="connsiteY0" fmla="*/ 85627 h 659615"/>
              <a:gd name="connsiteX1" fmla="*/ 512010 w 1309691"/>
              <a:gd name="connsiteY1" fmla="*/ 170677 h 659615"/>
              <a:gd name="connsiteX2" fmla="*/ 646886 w 1309691"/>
              <a:gd name="connsiteY2" fmla="*/ 273733 h 659615"/>
              <a:gd name="connsiteX3" fmla="*/ 677751 w 1309691"/>
              <a:gd name="connsiteY3" fmla="*/ 300859 h 659615"/>
              <a:gd name="connsiteX4" fmla="*/ 707485 w 1309691"/>
              <a:gd name="connsiteY4" fmla="*/ 328400 h 659615"/>
              <a:gd name="connsiteX5" fmla="*/ 722293 w 1309691"/>
              <a:gd name="connsiteY5" fmla="*/ 342141 h 659615"/>
              <a:gd name="connsiteX6" fmla="*/ 736566 w 1309691"/>
              <a:gd name="connsiteY6" fmla="*/ 356059 h 659615"/>
              <a:gd name="connsiteX7" fmla="*/ 765111 w 1309691"/>
              <a:gd name="connsiteY7" fmla="*/ 383896 h 659615"/>
              <a:gd name="connsiteX8" fmla="*/ 790385 w 1309691"/>
              <a:gd name="connsiteY8" fmla="*/ 408476 h 659615"/>
              <a:gd name="connsiteX9" fmla="*/ 802993 w 1309691"/>
              <a:gd name="connsiteY9" fmla="*/ 420736 h 659615"/>
              <a:gd name="connsiteX10" fmla="*/ 815660 w 1309691"/>
              <a:gd name="connsiteY10" fmla="*/ 432581 h 659615"/>
              <a:gd name="connsiteX11" fmla="*/ 841053 w 1309691"/>
              <a:gd name="connsiteY11" fmla="*/ 456272 h 659615"/>
              <a:gd name="connsiteX12" fmla="*/ 866625 w 1309691"/>
              <a:gd name="connsiteY12" fmla="*/ 478719 h 659615"/>
              <a:gd name="connsiteX13" fmla="*/ 970280 w 1309691"/>
              <a:gd name="connsiteY13" fmla="*/ 558143 h 659615"/>
              <a:gd name="connsiteX14" fmla="*/ 1076730 w 1309691"/>
              <a:gd name="connsiteY14" fmla="*/ 615535 h 659615"/>
              <a:gd name="connsiteX15" fmla="*/ 1188533 w 1309691"/>
              <a:gd name="connsiteY15" fmla="*/ 649057 h 659615"/>
              <a:gd name="connsiteX16" fmla="*/ 1309493 w 1309691"/>
              <a:gd name="connsiteY16" fmla="*/ 659718 h 659615"/>
              <a:gd name="connsiteX17" fmla="*/ 1309493 w 1309691"/>
              <a:gd name="connsiteY17" fmla="*/ 642838 h 659615"/>
              <a:gd name="connsiteX18" fmla="*/ 1191566 w 1309691"/>
              <a:gd name="connsiteY18" fmla="*/ 632414 h 659615"/>
              <a:gd name="connsiteX19" fmla="*/ 1083212 w 1309691"/>
              <a:gd name="connsiteY19" fmla="*/ 599958 h 659615"/>
              <a:gd name="connsiteX20" fmla="*/ 979557 w 1309691"/>
              <a:gd name="connsiteY20" fmla="*/ 543988 h 659615"/>
              <a:gd name="connsiteX21" fmla="*/ 877508 w 1309691"/>
              <a:gd name="connsiteY21" fmla="*/ 465867 h 659615"/>
              <a:gd name="connsiteX22" fmla="*/ 852352 w 1309691"/>
              <a:gd name="connsiteY22" fmla="*/ 443657 h 659615"/>
              <a:gd name="connsiteX23" fmla="*/ 827197 w 1309691"/>
              <a:gd name="connsiteY23" fmla="*/ 420439 h 659615"/>
              <a:gd name="connsiteX24" fmla="*/ 814590 w 1309691"/>
              <a:gd name="connsiteY24" fmla="*/ 408594 h 659615"/>
              <a:gd name="connsiteX25" fmla="*/ 802101 w 1309691"/>
              <a:gd name="connsiteY25" fmla="*/ 396452 h 659615"/>
              <a:gd name="connsiteX26" fmla="*/ 777064 w 1309691"/>
              <a:gd name="connsiteY26" fmla="*/ 372051 h 659615"/>
              <a:gd name="connsiteX27" fmla="*/ 748341 w 1309691"/>
              <a:gd name="connsiteY27" fmla="*/ 344036 h 659615"/>
              <a:gd name="connsiteX28" fmla="*/ 733949 w 1309691"/>
              <a:gd name="connsiteY28" fmla="*/ 329999 h 659615"/>
              <a:gd name="connsiteX29" fmla="*/ 719022 w 1309691"/>
              <a:gd name="connsiteY29" fmla="*/ 316140 h 659615"/>
              <a:gd name="connsiteX30" fmla="*/ 689287 w 1309691"/>
              <a:gd name="connsiteY30" fmla="*/ 288422 h 659615"/>
              <a:gd name="connsiteX31" fmla="*/ 658126 w 1309691"/>
              <a:gd name="connsiteY31" fmla="*/ 261058 h 659615"/>
              <a:gd name="connsiteX32" fmla="*/ 521346 w 1309691"/>
              <a:gd name="connsiteY32" fmla="*/ 156759 h 659615"/>
              <a:gd name="connsiteX33" fmla="*/ 360779 w 1309691"/>
              <a:gd name="connsiteY33" fmla="*/ 70228 h 659615"/>
              <a:gd name="connsiteX34" fmla="*/ 181479 w 1309691"/>
              <a:gd name="connsiteY34" fmla="*/ 16508 h 659615"/>
              <a:gd name="connsiteX35" fmla="*/ -199 w 1309691"/>
              <a:gd name="connsiteY35" fmla="*/ 102 h 659615"/>
              <a:gd name="connsiteX36" fmla="*/ -199 w 1309691"/>
              <a:gd name="connsiteY36" fmla="*/ 16745 h 659615"/>
              <a:gd name="connsiteX37" fmla="*/ 178209 w 1309691"/>
              <a:gd name="connsiteY37" fmla="*/ 32737 h 659615"/>
              <a:gd name="connsiteX38" fmla="*/ 354119 w 1309691"/>
              <a:gd name="connsiteY38" fmla="*/ 85627 h 6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691" h="659615">
                <a:moveTo>
                  <a:pt x="354119" y="85627"/>
                </a:moveTo>
                <a:cubicBezTo>
                  <a:pt x="409247" y="109136"/>
                  <a:pt x="462115" y="137604"/>
                  <a:pt x="512010" y="170677"/>
                </a:cubicBezTo>
                <a:cubicBezTo>
                  <a:pt x="558991" y="202325"/>
                  <a:pt x="604009" y="236739"/>
                  <a:pt x="646886" y="273733"/>
                </a:cubicBezTo>
                <a:lnTo>
                  <a:pt x="677751" y="300859"/>
                </a:lnTo>
                <a:cubicBezTo>
                  <a:pt x="687920" y="309980"/>
                  <a:pt x="697613" y="319220"/>
                  <a:pt x="707485" y="328400"/>
                </a:cubicBezTo>
                <a:lnTo>
                  <a:pt x="722293" y="342141"/>
                </a:lnTo>
                <a:lnTo>
                  <a:pt x="736566" y="356059"/>
                </a:lnTo>
                <a:lnTo>
                  <a:pt x="765111" y="383896"/>
                </a:lnTo>
                <a:lnTo>
                  <a:pt x="790385" y="408476"/>
                </a:lnTo>
                <a:lnTo>
                  <a:pt x="802993" y="420736"/>
                </a:lnTo>
                <a:lnTo>
                  <a:pt x="815660" y="432581"/>
                </a:lnTo>
                <a:cubicBezTo>
                  <a:pt x="824164" y="440399"/>
                  <a:pt x="832549" y="448454"/>
                  <a:pt x="841053" y="456272"/>
                </a:cubicBezTo>
                <a:lnTo>
                  <a:pt x="866625" y="478719"/>
                </a:lnTo>
                <a:cubicBezTo>
                  <a:pt x="899630" y="507171"/>
                  <a:pt x="934242" y="533691"/>
                  <a:pt x="970280" y="558143"/>
                </a:cubicBezTo>
                <a:cubicBezTo>
                  <a:pt x="1003940" y="580458"/>
                  <a:pt x="1039562" y="599668"/>
                  <a:pt x="1076730" y="615535"/>
                </a:cubicBezTo>
                <a:cubicBezTo>
                  <a:pt x="1112590" y="630896"/>
                  <a:pt x="1150115" y="642143"/>
                  <a:pt x="1188533" y="649057"/>
                </a:cubicBezTo>
                <a:cubicBezTo>
                  <a:pt x="1228496" y="656002"/>
                  <a:pt x="1268935" y="659568"/>
                  <a:pt x="1309493" y="659718"/>
                </a:cubicBezTo>
                <a:lnTo>
                  <a:pt x="1309493" y="642838"/>
                </a:lnTo>
                <a:cubicBezTo>
                  <a:pt x="1269946" y="642688"/>
                  <a:pt x="1230517" y="639200"/>
                  <a:pt x="1191566" y="632414"/>
                </a:cubicBezTo>
                <a:cubicBezTo>
                  <a:pt x="1154338" y="625738"/>
                  <a:pt x="1118002" y="614848"/>
                  <a:pt x="1083212" y="599958"/>
                </a:cubicBezTo>
                <a:cubicBezTo>
                  <a:pt x="1047055" y="584465"/>
                  <a:pt x="1012325" y="565731"/>
                  <a:pt x="979557" y="543988"/>
                </a:cubicBezTo>
                <a:cubicBezTo>
                  <a:pt x="944054" y="519951"/>
                  <a:pt x="909978" y="493866"/>
                  <a:pt x="877508" y="465867"/>
                </a:cubicBezTo>
                <a:lnTo>
                  <a:pt x="852352" y="443657"/>
                </a:lnTo>
                <a:cubicBezTo>
                  <a:pt x="843967" y="436135"/>
                  <a:pt x="835641" y="428139"/>
                  <a:pt x="827197" y="420439"/>
                </a:cubicBezTo>
                <a:lnTo>
                  <a:pt x="814590" y="408594"/>
                </a:lnTo>
                <a:lnTo>
                  <a:pt x="802101" y="396452"/>
                </a:lnTo>
                <a:lnTo>
                  <a:pt x="777064" y="372051"/>
                </a:lnTo>
                <a:lnTo>
                  <a:pt x="748341" y="344036"/>
                </a:lnTo>
                <a:lnTo>
                  <a:pt x="733949" y="329999"/>
                </a:lnTo>
                <a:lnTo>
                  <a:pt x="719022" y="316140"/>
                </a:lnTo>
                <a:cubicBezTo>
                  <a:pt x="709032" y="306900"/>
                  <a:pt x="699279" y="297602"/>
                  <a:pt x="689287" y="288422"/>
                </a:cubicBezTo>
                <a:lnTo>
                  <a:pt x="658126" y="261058"/>
                </a:lnTo>
                <a:cubicBezTo>
                  <a:pt x="614654" y="223594"/>
                  <a:pt x="568981" y="188764"/>
                  <a:pt x="521346" y="156759"/>
                </a:cubicBezTo>
                <a:cubicBezTo>
                  <a:pt x="470619" y="123077"/>
                  <a:pt x="416859" y="94112"/>
                  <a:pt x="360779" y="70228"/>
                </a:cubicBezTo>
                <a:cubicBezTo>
                  <a:pt x="303213" y="45717"/>
                  <a:pt x="243090" y="27698"/>
                  <a:pt x="181479" y="16508"/>
                </a:cubicBezTo>
                <a:cubicBezTo>
                  <a:pt x="121534" y="5773"/>
                  <a:pt x="60697" y="283"/>
                  <a:pt x="-199" y="102"/>
                </a:cubicBezTo>
                <a:lnTo>
                  <a:pt x="-199" y="16745"/>
                </a:lnTo>
                <a:cubicBezTo>
                  <a:pt x="59627" y="16873"/>
                  <a:pt x="119334" y="22224"/>
                  <a:pt x="178209" y="32737"/>
                </a:cubicBezTo>
                <a:cubicBezTo>
                  <a:pt x="238630" y="43848"/>
                  <a:pt x="297623" y="61586"/>
                  <a:pt x="354119" y="85627"/>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29" name="Freeform: Shape 228">
            <a:extLst>
              <a:ext uri="{FF2B5EF4-FFF2-40B4-BE49-F238E27FC236}">
                <a16:creationId xmlns:a16="http://schemas.microsoft.com/office/drawing/2014/main" id="{33560563-7775-1B3B-022C-98CF252B1B78}"/>
              </a:ext>
            </a:extLst>
          </p:cNvPr>
          <p:cNvSpPr/>
          <p:nvPr/>
        </p:nvSpPr>
        <p:spPr>
          <a:xfrm>
            <a:off x="9371835" y="3652516"/>
            <a:ext cx="1309632" cy="659378"/>
          </a:xfrm>
          <a:custGeom>
            <a:avLst/>
            <a:gdLst>
              <a:gd name="connsiteX0" fmla="*/ 117550 w 1309632"/>
              <a:gd name="connsiteY0" fmla="*/ 27229 h 659378"/>
              <a:gd name="connsiteX1" fmla="*/ 225844 w 1309632"/>
              <a:gd name="connsiteY1" fmla="*/ 59685 h 659378"/>
              <a:gd name="connsiteX2" fmla="*/ 329558 w 1309632"/>
              <a:gd name="connsiteY2" fmla="*/ 115714 h 659378"/>
              <a:gd name="connsiteX3" fmla="*/ 431548 w 1309632"/>
              <a:gd name="connsiteY3" fmla="*/ 193954 h 659378"/>
              <a:gd name="connsiteX4" fmla="*/ 456822 w 1309632"/>
              <a:gd name="connsiteY4" fmla="*/ 216105 h 659378"/>
              <a:gd name="connsiteX5" fmla="*/ 481978 w 1309632"/>
              <a:gd name="connsiteY5" fmla="*/ 239381 h 659378"/>
              <a:gd name="connsiteX6" fmla="*/ 494585 w 1309632"/>
              <a:gd name="connsiteY6" fmla="*/ 251227 h 659378"/>
              <a:gd name="connsiteX7" fmla="*/ 507311 w 1309632"/>
              <a:gd name="connsiteY7" fmla="*/ 263191 h 659378"/>
              <a:gd name="connsiteX8" fmla="*/ 532170 w 1309632"/>
              <a:gd name="connsiteY8" fmla="*/ 287829 h 659378"/>
              <a:gd name="connsiteX9" fmla="*/ 560834 w 1309632"/>
              <a:gd name="connsiteY9" fmla="*/ 315666 h 659378"/>
              <a:gd name="connsiteX10" fmla="*/ 575226 w 1309632"/>
              <a:gd name="connsiteY10" fmla="*/ 329644 h 659378"/>
              <a:gd name="connsiteX11" fmla="*/ 590153 w 1309632"/>
              <a:gd name="connsiteY11" fmla="*/ 343562 h 659378"/>
              <a:gd name="connsiteX12" fmla="*/ 619887 w 1309632"/>
              <a:gd name="connsiteY12" fmla="*/ 371221 h 659378"/>
              <a:gd name="connsiteX13" fmla="*/ 651049 w 1309632"/>
              <a:gd name="connsiteY13" fmla="*/ 398585 h 659378"/>
              <a:gd name="connsiteX14" fmla="*/ 787828 w 1309632"/>
              <a:gd name="connsiteY14" fmla="*/ 502884 h 659378"/>
              <a:gd name="connsiteX15" fmla="*/ 948395 w 1309632"/>
              <a:gd name="connsiteY15" fmla="*/ 589297 h 659378"/>
              <a:gd name="connsiteX16" fmla="*/ 1128052 w 1309632"/>
              <a:gd name="connsiteY16" fmla="*/ 643194 h 659378"/>
              <a:gd name="connsiteX17" fmla="*/ 1309433 w 1309632"/>
              <a:gd name="connsiteY17" fmla="*/ 659481 h 659378"/>
              <a:gd name="connsiteX18" fmla="*/ 1309433 w 1309632"/>
              <a:gd name="connsiteY18" fmla="*/ 642898 h 659378"/>
              <a:gd name="connsiteX19" fmla="*/ 1131025 w 1309632"/>
              <a:gd name="connsiteY19" fmla="*/ 626906 h 659378"/>
              <a:gd name="connsiteX20" fmla="*/ 955116 w 1309632"/>
              <a:gd name="connsiteY20" fmla="*/ 574194 h 659378"/>
              <a:gd name="connsiteX21" fmla="*/ 797224 w 1309632"/>
              <a:gd name="connsiteY21" fmla="*/ 489202 h 659378"/>
              <a:gd name="connsiteX22" fmla="*/ 662289 w 1309632"/>
              <a:gd name="connsiteY22" fmla="*/ 386088 h 659378"/>
              <a:gd name="connsiteX23" fmla="*/ 631424 w 1309632"/>
              <a:gd name="connsiteY23" fmla="*/ 358902 h 659378"/>
              <a:gd name="connsiteX24" fmla="*/ 601689 w 1309632"/>
              <a:gd name="connsiteY24" fmla="*/ 331421 h 659378"/>
              <a:gd name="connsiteX25" fmla="*/ 586822 w 1309632"/>
              <a:gd name="connsiteY25" fmla="*/ 317443 h 659378"/>
              <a:gd name="connsiteX26" fmla="*/ 572728 w 1309632"/>
              <a:gd name="connsiteY26" fmla="*/ 303702 h 659378"/>
              <a:gd name="connsiteX27" fmla="*/ 543945 w 1309632"/>
              <a:gd name="connsiteY27" fmla="*/ 275984 h 659378"/>
              <a:gd name="connsiteX28" fmla="*/ 518730 w 1309632"/>
              <a:gd name="connsiteY28" fmla="*/ 251345 h 659378"/>
              <a:gd name="connsiteX29" fmla="*/ 506122 w 1309632"/>
              <a:gd name="connsiteY29" fmla="*/ 239085 h 659378"/>
              <a:gd name="connsiteX30" fmla="*/ 493396 w 1309632"/>
              <a:gd name="connsiteY30" fmla="*/ 227240 h 659378"/>
              <a:gd name="connsiteX31" fmla="*/ 468002 w 1309632"/>
              <a:gd name="connsiteY31" fmla="*/ 203549 h 659378"/>
              <a:gd name="connsiteX32" fmla="*/ 442430 w 1309632"/>
              <a:gd name="connsiteY32" fmla="*/ 181101 h 659378"/>
              <a:gd name="connsiteX33" fmla="*/ 338776 w 1309632"/>
              <a:gd name="connsiteY33" fmla="*/ 101618 h 659378"/>
              <a:gd name="connsiteX34" fmla="*/ 232385 w 1309632"/>
              <a:gd name="connsiteY34" fmla="*/ 44168 h 659378"/>
              <a:gd name="connsiteX35" fmla="*/ 120761 w 1309632"/>
              <a:gd name="connsiteY35" fmla="*/ 10823 h 659378"/>
              <a:gd name="connsiteX36" fmla="*/ -199 w 1309632"/>
              <a:gd name="connsiteY36" fmla="*/ 102 h 659378"/>
              <a:gd name="connsiteX37" fmla="*/ -199 w 1309632"/>
              <a:gd name="connsiteY37" fmla="*/ 16745 h 659378"/>
              <a:gd name="connsiteX38" fmla="*/ 117550 w 1309632"/>
              <a:gd name="connsiteY38" fmla="*/ 27229 h 65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9632" h="659378">
                <a:moveTo>
                  <a:pt x="117550" y="27229"/>
                </a:moveTo>
                <a:cubicBezTo>
                  <a:pt x="154777" y="33897"/>
                  <a:pt x="191113" y="44787"/>
                  <a:pt x="225844" y="59685"/>
                </a:cubicBezTo>
                <a:cubicBezTo>
                  <a:pt x="262060" y="75209"/>
                  <a:pt x="296731" y="93962"/>
                  <a:pt x="329558" y="115714"/>
                </a:cubicBezTo>
                <a:cubicBezTo>
                  <a:pt x="365061" y="139789"/>
                  <a:pt x="399137" y="165914"/>
                  <a:pt x="431548" y="193954"/>
                </a:cubicBezTo>
                <a:lnTo>
                  <a:pt x="456822" y="216105"/>
                </a:lnTo>
                <a:cubicBezTo>
                  <a:pt x="465207" y="223627"/>
                  <a:pt x="473592" y="231622"/>
                  <a:pt x="481978" y="239381"/>
                </a:cubicBezTo>
                <a:lnTo>
                  <a:pt x="494585" y="251227"/>
                </a:lnTo>
                <a:lnTo>
                  <a:pt x="507311" y="263191"/>
                </a:lnTo>
                <a:lnTo>
                  <a:pt x="532170" y="287829"/>
                </a:lnTo>
                <a:lnTo>
                  <a:pt x="560834" y="315666"/>
                </a:lnTo>
                <a:lnTo>
                  <a:pt x="575226" y="329644"/>
                </a:lnTo>
                <a:lnTo>
                  <a:pt x="590153" y="343562"/>
                </a:lnTo>
                <a:cubicBezTo>
                  <a:pt x="600203" y="352743"/>
                  <a:pt x="609896" y="362041"/>
                  <a:pt x="619887" y="371221"/>
                </a:cubicBezTo>
                <a:lnTo>
                  <a:pt x="651049" y="398585"/>
                </a:lnTo>
                <a:cubicBezTo>
                  <a:pt x="694521" y="436020"/>
                  <a:pt x="740193" y="470848"/>
                  <a:pt x="787828" y="502884"/>
                </a:cubicBezTo>
                <a:cubicBezTo>
                  <a:pt x="838615" y="536512"/>
                  <a:pt x="892316" y="565437"/>
                  <a:pt x="948395" y="589297"/>
                </a:cubicBezTo>
                <a:cubicBezTo>
                  <a:pt x="1006080" y="613872"/>
                  <a:pt x="1066323" y="631950"/>
                  <a:pt x="1128052" y="643194"/>
                </a:cubicBezTo>
                <a:cubicBezTo>
                  <a:pt x="1187937" y="653912"/>
                  <a:pt x="1248596" y="659362"/>
                  <a:pt x="1309433" y="659481"/>
                </a:cubicBezTo>
                <a:lnTo>
                  <a:pt x="1309433" y="642898"/>
                </a:lnTo>
                <a:cubicBezTo>
                  <a:pt x="1249607" y="642741"/>
                  <a:pt x="1189900" y="637391"/>
                  <a:pt x="1131025" y="626906"/>
                </a:cubicBezTo>
                <a:cubicBezTo>
                  <a:pt x="1070604" y="615907"/>
                  <a:pt x="1011611" y="598226"/>
                  <a:pt x="955116" y="574194"/>
                </a:cubicBezTo>
                <a:cubicBezTo>
                  <a:pt x="899987" y="550715"/>
                  <a:pt x="847119" y="522266"/>
                  <a:pt x="797224" y="489202"/>
                </a:cubicBezTo>
                <a:cubicBezTo>
                  <a:pt x="750243" y="457520"/>
                  <a:pt x="705166" y="423088"/>
                  <a:pt x="662289" y="386088"/>
                </a:cubicBezTo>
                <a:lnTo>
                  <a:pt x="631424" y="358902"/>
                </a:lnTo>
                <a:cubicBezTo>
                  <a:pt x="621255" y="349840"/>
                  <a:pt x="611561" y="340542"/>
                  <a:pt x="601689" y="331421"/>
                </a:cubicBezTo>
                <a:lnTo>
                  <a:pt x="586822" y="317443"/>
                </a:lnTo>
                <a:lnTo>
                  <a:pt x="572728" y="303702"/>
                </a:lnTo>
                <a:lnTo>
                  <a:pt x="543945" y="275984"/>
                </a:lnTo>
                <a:lnTo>
                  <a:pt x="518730" y="251345"/>
                </a:lnTo>
                <a:lnTo>
                  <a:pt x="506122" y="239085"/>
                </a:lnTo>
                <a:lnTo>
                  <a:pt x="493396" y="227240"/>
                </a:lnTo>
                <a:cubicBezTo>
                  <a:pt x="484951" y="219422"/>
                  <a:pt x="476506" y="211307"/>
                  <a:pt x="468002" y="203549"/>
                </a:cubicBezTo>
                <a:lnTo>
                  <a:pt x="442430" y="181101"/>
                </a:lnTo>
                <a:cubicBezTo>
                  <a:pt x="409425" y="152631"/>
                  <a:pt x="374814" y="126092"/>
                  <a:pt x="338776" y="101618"/>
                </a:cubicBezTo>
                <a:cubicBezTo>
                  <a:pt x="305116" y="79320"/>
                  <a:pt x="269494" y="60092"/>
                  <a:pt x="232385" y="44168"/>
                </a:cubicBezTo>
                <a:cubicBezTo>
                  <a:pt x="196584" y="28876"/>
                  <a:pt x="159119" y="17689"/>
                  <a:pt x="120761" y="10823"/>
                </a:cubicBezTo>
                <a:cubicBezTo>
                  <a:pt x="80798" y="3828"/>
                  <a:pt x="40359" y="242"/>
                  <a:pt x="-199" y="102"/>
                </a:cubicBezTo>
                <a:lnTo>
                  <a:pt x="-199" y="16745"/>
                </a:lnTo>
                <a:cubicBezTo>
                  <a:pt x="39288" y="16888"/>
                  <a:pt x="78657" y="20395"/>
                  <a:pt x="117550" y="27229"/>
                </a:cubicBez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30" name="Freeform: Shape 229">
            <a:extLst>
              <a:ext uri="{FF2B5EF4-FFF2-40B4-BE49-F238E27FC236}">
                <a16:creationId xmlns:a16="http://schemas.microsoft.com/office/drawing/2014/main" id="{919CB8AF-E544-1774-4D7F-FD5DBCB39C70}"/>
              </a:ext>
            </a:extLst>
          </p:cNvPr>
          <p:cNvSpPr/>
          <p:nvPr/>
        </p:nvSpPr>
        <p:spPr>
          <a:xfrm>
            <a:off x="873674" y="3488506"/>
            <a:ext cx="75228" cy="16602"/>
          </a:xfrm>
          <a:custGeom>
            <a:avLst/>
            <a:gdLst>
              <a:gd name="connsiteX0" fmla="*/ 3428 w 75228"/>
              <a:gd name="connsiteY0" fmla="*/ 16695 h 16602"/>
              <a:gd name="connsiteX1" fmla="*/ 71402 w 75228"/>
              <a:gd name="connsiteY1" fmla="*/ 16695 h 16602"/>
              <a:gd name="connsiteX2" fmla="*/ 75029 w 75228"/>
              <a:gd name="connsiteY2" fmla="*/ 13616 h 16602"/>
              <a:gd name="connsiteX3" fmla="*/ 75029 w 75228"/>
              <a:gd name="connsiteY3" fmla="*/ 3192 h 16602"/>
              <a:gd name="connsiteX4" fmla="*/ 71402 w 75228"/>
              <a:gd name="connsiteY4" fmla="*/ 112 h 16602"/>
              <a:gd name="connsiteX5" fmla="*/ 3428 w 75228"/>
              <a:gd name="connsiteY5" fmla="*/ 112 h 16602"/>
              <a:gd name="connsiteX6" fmla="*/ -199 w 75228"/>
              <a:gd name="connsiteY6" fmla="*/ 3192 h 16602"/>
              <a:gd name="connsiteX7" fmla="*/ -199 w 75228"/>
              <a:gd name="connsiteY7" fmla="*/ 13556 h 16602"/>
              <a:gd name="connsiteX8" fmla="*/ 3411 w 75228"/>
              <a:gd name="connsiteY8" fmla="*/ 16697 h 16602"/>
              <a:gd name="connsiteX9" fmla="*/ 3428 w 75228"/>
              <a:gd name="connsiteY9"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8" h="16602">
                <a:moveTo>
                  <a:pt x="3428" y="16695"/>
                </a:moveTo>
                <a:lnTo>
                  <a:pt x="71402" y="16695"/>
                </a:lnTo>
                <a:cubicBezTo>
                  <a:pt x="73251" y="16832"/>
                  <a:pt x="74869" y="15459"/>
                  <a:pt x="75029" y="13616"/>
                </a:cubicBezTo>
                <a:lnTo>
                  <a:pt x="75029" y="3192"/>
                </a:lnTo>
                <a:cubicBezTo>
                  <a:pt x="74869" y="1348"/>
                  <a:pt x="73251" y="-24"/>
                  <a:pt x="71402" y="112"/>
                </a:cubicBezTo>
                <a:lnTo>
                  <a:pt x="3428" y="112"/>
                </a:lnTo>
                <a:cubicBezTo>
                  <a:pt x="1579" y="-24"/>
                  <a:pt x="-39" y="1348"/>
                  <a:pt x="-199" y="3192"/>
                </a:cubicBezTo>
                <a:lnTo>
                  <a:pt x="-199" y="13556"/>
                </a:lnTo>
                <a:cubicBezTo>
                  <a:pt x="-74" y="15417"/>
                  <a:pt x="1543" y="16823"/>
                  <a:pt x="3411" y="16697"/>
                </a:cubicBezTo>
                <a:cubicBezTo>
                  <a:pt x="3417" y="16696"/>
                  <a:pt x="3423" y="16696"/>
                  <a:pt x="3428"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1" name="Freeform: Shape 230">
            <a:extLst>
              <a:ext uri="{FF2B5EF4-FFF2-40B4-BE49-F238E27FC236}">
                <a16:creationId xmlns:a16="http://schemas.microsoft.com/office/drawing/2014/main" id="{40BA8F10-6F9F-8A81-B7D3-595AD00B1E76}"/>
              </a:ext>
            </a:extLst>
          </p:cNvPr>
          <p:cNvSpPr/>
          <p:nvPr/>
        </p:nvSpPr>
        <p:spPr>
          <a:xfrm>
            <a:off x="1024072" y="3488506"/>
            <a:ext cx="75287" cy="16602"/>
          </a:xfrm>
          <a:custGeom>
            <a:avLst/>
            <a:gdLst>
              <a:gd name="connsiteX0" fmla="*/ 3428 w 75287"/>
              <a:gd name="connsiteY0" fmla="*/ 16695 h 16602"/>
              <a:gd name="connsiteX1" fmla="*/ 71461 w 75287"/>
              <a:gd name="connsiteY1" fmla="*/ 16695 h 16602"/>
              <a:gd name="connsiteX2" fmla="*/ 75089 w 75287"/>
              <a:gd name="connsiteY2" fmla="*/ 13616 h 16602"/>
              <a:gd name="connsiteX3" fmla="*/ 75089 w 75287"/>
              <a:gd name="connsiteY3" fmla="*/ 3192 h 16602"/>
              <a:gd name="connsiteX4" fmla="*/ 71461 w 75287"/>
              <a:gd name="connsiteY4" fmla="*/ 112 h 16602"/>
              <a:gd name="connsiteX5" fmla="*/ 3428 w 75287"/>
              <a:gd name="connsiteY5" fmla="*/ 112 h 16602"/>
              <a:gd name="connsiteX6" fmla="*/ -199 w 75287"/>
              <a:gd name="connsiteY6" fmla="*/ 3192 h 16602"/>
              <a:gd name="connsiteX7" fmla="*/ -199 w 75287"/>
              <a:gd name="connsiteY7" fmla="*/ 13556 h 16602"/>
              <a:gd name="connsiteX8" fmla="*/ 3411 w 75287"/>
              <a:gd name="connsiteY8" fmla="*/ 16697 h 16602"/>
              <a:gd name="connsiteX9" fmla="*/ 3428 w 75287"/>
              <a:gd name="connsiteY9"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87" h="16602">
                <a:moveTo>
                  <a:pt x="3428" y="16695"/>
                </a:moveTo>
                <a:lnTo>
                  <a:pt x="71461" y="16695"/>
                </a:lnTo>
                <a:cubicBezTo>
                  <a:pt x="73311" y="16832"/>
                  <a:pt x="74928" y="15459"/>
                  <a:pt x="75089" y="13616"/>
                </a:cubicBezTo>
                <a:lnTo>
                  <a:pt x="75089" y="3192"/>
                </a:lnTo>
                <a:cubicBezTo>
                  <a:pt x="74928" y="1348"/>
                  <a:pt x="73311" y="-24"/>
                  <a:pt x="71461" y="112"/>
                </a:cubicBezTo>
                <a:lnTo>
                  <a:pt x="3428" y="112"/>
                </a:lnTo>
                <a:cubicBezTo>
                  <a:pt x="1579" y="-24"/>
                  <a:pt x="-39" y="1348"/>
                  <a:pt x="-199" y="3192"/>
                </a:cubicBezTo>
                <a:lnTo>
                  <a:pt x="-199" y="13556"/>
                </a:lnTo>
                <a:cubicBezTo>
                  <a:pt x="-74" y="15417"/>
                  <a:pt x="1543" y="16823"/>
                  <a:pt x="3411" y="16697"/>
                </a:cubicBezTo>
                <a:cubicBezTo>
                  <a:pt x="3417" y="16696"/>
                  <a:pt x="3422" y="16696"/>
                  <a:pt x="3428"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2" name="Freeform: Shape 231">
            <a:extLst>
              <a:ext uri="{FF2B5EF4-FFF2-40B4-BE49-F238E27FC236}">
                <a16:creationId xmlns:a16="http://schemas.microsoft.com/office/drawing/2014/main" id="{1BBF2BEB-9462-0F4C-6EF2-8E6A9C4CE782}"/>
              </a:ext>
            </a:extLst>
          </p:cNvPr>
          <p:cNvSpPr/>
          <p:nvPr/>
        </p:nvSpPr>
        <p:spPr>
          <a:xfrm>
            <a:off x="1174469" y="3488506"/>
            <a:ext cx="75228" cy="16602"/>
          </a:xfrm>
          <a:custGeom>
            <a:avLst/>
            <a:gdLst>
              <a:gd name="connsiteX0" fmla="*/ 3429 w 75228"/>
              <a:gd name="connsiteY0" fmla="*/ 16695 h 16602"/>
              <a:gd name="connsiteX1" fmla="*/ 71402 w 75228"/>
              <a:gd name="connsiteY1" fmla="*/ 16695 h 16602"/>
              <a:gd name="connsiteX2" fmla="*/ 75030 w 75228"/>
              <a:gd name="connsiteY2" fmla="*/ 13616 h 16602"/>
              <a:gd name="connsiteX3" fmla="*/ 75030 w 75228"/>
              <a:gd name="connsiteY3" fmla="*/ 3192 h 16602"/>
              <a:gd name="connsiteX4" fmla="*/ 71402 w 75228"/>
              <a:gd name="connsiteY4" fmla="*/ 112 h 16602"/>
              <a:gd name="connsiteX5" fmla="*/ 3429 w 75228"/>
              <a:gd name="connsiteY5" fmla="*/ 112 h 16602"/>
              <a:gd name="connsiteX6" fmla="*/ -199 w 75228"/>
              <a:gd name="connsiteY6" fmla="*/ 3192 h 16602"/>
              <a:gd name="connsiteX7" fmla="*/ -199 w 75228"/>
              <a:gd name="connsiteY7" fmla="*/ 13556 h 16602"/>
              <a:gd name="connsiteX8" fmla="*/ 3411 w 75228"/>
              <a:gd name="connsiteY8" fmla="*/ 16697 h 16602"/>
              <a:gd name="connsiteX9" fmla="*/ 3429 w 75228"/>
              <a:gd name="connsiteY9"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8" h="16602">
                <a:moveTo>
                  <a:pt x="3429" y="16695"/>
                </a:moveTo>
                <a:lnTo>
                  <a:pt x="71402" y="16695"/>
                </a:lnTo>
                <a:cubicBezTo>
                  <a:pt x="73251" y="16832"/>
                  <a:pt x="74869" y="15459"/>
                  <a:pt x="75030" y="13616"/>
                </a:cubicBezTo>
                <a:lnTo>
                  <a:pt x="75030" y="3192"/>
                </a:lnTo>
                <a:cubicBezTo>
                  <a:pt x="74869" y="1348"/>
                  <a:pt x="73251" y="-24"/>
                  <a:pt x="71402" y="112"/>
                </a:cubicBezTo>
                <a:lnTo>
                  <a:pt x="3429" y="112"/>
                </a:lnTo>
                <a:cubicBezTo>
                  <a:pt x="1579" y="-24"/>
                  <a:pt x="-39" y="1348"/>
                  <a:pt x="-199" y="3192"/>
                </a:cubicBezTo>
                <a:lnTo>
                  <a:pt x="-199" y="13556"/>
                </a:lnTo>
                <a:cubicBezTo>
                  <a:pt x="-74" y="15417"/>
                  <a:pt x="1543" y="16823"/>
                  <a:pt x="3411" y="16697"/>
                </a:cubicBezTo>
                <a:cubicBezTo>
                  <a:pt x="3417" y="16696"/>
                  <a:pt x="3423" y="16696"/>
                  <a:pt x="3429"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3" name="Freeform: Shape 232">
            <a:extLst>
              <a:ext uri="{FF2B5EF4-FFF2-40B4-BE49-F238E27FC236}">
                <a16:creationId xmlns:a16="http://schemas.microsoft.com/office/drawing/2014/main" id="{4CBAC4CB-C20F-A641-AD54-FE97EE443220}"/>
              </a:ext>
            </a:extLst>
          </p:cNvPr>
          <p:cNvSpPr/>
          <p:nvPr/>
        </p:nvSpPr>
        <p:spPr>
          <a:xfrm>
            <a:off x="1475325" y="3488506"/>
            <a:ext cx="37584" cy="16602"/>
          </a:xfrm>
          <a:custGeom>
            <a:avLst/>
            <a:gdLst>
              <a:gd name="connsiteX0" fmla="*/ 3429 w 37584"/>
              <a:gd name="connsiteY0" fmla="*/ 16695 h 16602"/>
              <a:gd name="connsiteX1" fmla="*/ 37385 w 37584"/>
              <a:gd name="connsiteY1" fmla="*/ 16695 h 16602"/>
              <a:gd name="connsiteX2" fmla="*/ 37385 w 37584"/>
              <a:gd name="connsiteY2" fmla="*/ 112 h 16602"/>
              <a:gd name="connsiteX3" fmla="*/ 3429 w 37584"/>
              <a:gd name="connsiteY3" fmla="*/ 112 h 16602"/>
              <a:gd name="connsiteX4" fmla="*/ -199 w 37584"/>
              <a:gd name="connsiteY4" fmla="*/ 3192 h 16602"/>
              <a:gd name="connsiteX5" fmla="*/ -199 w 37584"/>
              <a:gd name="connsiteY5" fmla="*/ 13556 h 16602"/>
              <a:gd name="connsiteX6" fmla="*/ 3411 w 37584"/>
              <a:gd name="connsiteY6" fmla="*/ 16697 h 16602"/>
              <a:gd name="connsiteX7" fmla="*/ 3429 w 37584"/>
              <a:gd name="connsiteY7"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84" h="16602">
                <a:moveTo>
                  <a:pt x="3429" y="16695"/>
                </a:moveTo>
                <a:lnTo>
                  <a:pt x="37385" y="16695"/>
                </a:lnTo>
                <a:lnTo>
                  <a:pt x="37385" y="112"/>
                </a:lnTo>
                <a:lnTo>
                  <a:pt x="3429" y="112"/>
                </a:lnTo>
                <a:cubicBezTo>
                  <a:pt x="1579" y="-24"/>
                  <a:pt x="-39" y="1348"/>
                  <a:pt x="-199" y="3192"/>
                </a:cubicBezTo>
                <a:lnTo>
                  <a:pt x="-199" y="13556"/>
                </a:lnTo>
                <a:cubicBezTo>
                  <a:pt x="-74" y="15417"/>
                  <a:pt x="1543" y="16823"/>
                  <a:pt x="3411" y="16697"/>
                </a:cubicBezTo>
                <a:cubicBezTo>
                  <a:pt x="3417" y="16696"/>
                  <a:pt x="3423" y="16696"/>
                  <a:pt x="3429"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4" name="Freeform: Shape 233">
            <a:extLst>
              <a:ext uri="{FF2B5EF4-FFF2-40B4-BE49-F238E27FC236}">
                <a16:creationId xmlns:a16="http://schemas.microsoft.com/office/drawing/2014/main" id="{33D1558E-E135-78F9-C881-4D7C9472C4DC}"/>
              </a:ext>
            </a:extLst>
          </p:cNvPr>
          <p:cNvSpPr/>
          <p:nvPr/>
        </p:nvSpPr>
        <p:spPr>
          <a:xfrm>
            <a:off x="1324927" y="3488506"/>
            <a:ext cx="75169" cy="16602"/>
          </a:xfrm>
          <a:custGeom>
            <a:avLst/>
            <a:gdLst>
              <a:gd name="connsiteX0" fmla="*/ 3369 w 75169"/>
              <a:gd name="connsiteY0" fmla="*/ 16695 h 16602"/>
              <a:gd name="connsiteX1" fmla="*/ 71342 w 75169"/>
              <a:gd name="connsiteY1" fmla="*/ 16695 h 16602"/>
              <a:gd name="connsiteX2" fmla="*/ 74970 w 75169"/>
              <a:gd name="connsiteY2" fmla="*/ 13616 h 16602"/>
              <a:gd name="connsiteX3" fmla="*/ 74970 w 75169"/>
              <a:gd name="connsiteY3" fmla="*/ 3192 h 16602"/>
              <a:gd name="connsiteX4" fmla="*/ 71342 w 75169"/>
              <a:gd name="connsiteY4" fmla="*/ 112 h 16602"/>
              <a:gd name="connsiteX5" fmla="*/ 3369 w 75169"/>
              <a:gd name="connsiteY5" fmla="*/ 112 h 16602"/>
              <a:gd name="connsiteX6" fmla="*/ -199 w 75169"/>
              <a:gd name="connsiteY6" fmla="*/ 3175 h 16602"/>
              <a:gd name="connsiteX7" fmla="*/ -199 w 75169"/>
              <a:gd name="connsiteY7" fmla="*/ 3192 h 16602"/>
              <a:gd name="connsiteX8" fmla="*/ -199 w 75169"/>
              <a:gd name="connsiteY8" fmla="*/ 13556 h 16602"/>
              <a:gd name="connsiteX9" fmla="*/ 3297 w 75169"/>
              <a:gd name="connsiteY9" fmla="*/ 16700 h 16602"/>
              <a:gd name="connsiteX10" fmla="*/ 3369 w 75169"/>
              <a:gd name="connsiteY10"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169" h="16602">
                <a:moveTo>
                  <a:pt x="3369" y="16695"/>
                </a:moveTo>
                <a:lnTo>
                  <a:pt x="71342" y="16695"/>
                </a:lnTo>
                <a:cubicBezTo>
                  <a:pt x="73192" y="16832"/>
                  <a:pt x="74809" y="15459"/>
                  <a:pt x="74970" y="13616"/>
                </a:cubicBezTo>
                <a:lnTo>
                  <a:pt x="74970" y="3192"/>
                </a:lnTo>
                <a:cubicBezTo>
                  <a:pt x="74809" y="1348"/>
                  <a:pt x="73192" y="-24"/>
                  <a:pt x="71342" y="112"/>
                </a:cubicBezTo>
                <a:lnTo>
                  <a:pt x="3369" y="112"/>
                </a:lnTo>
                <a:cubicBezTo>
                  <a:pt x="1537" y="-23"/>
                  <a:pt x="-63" y="1348"/>
                  <a:pt x="-199" y="3175"/>
                </a:cubicBezTo>
                <a:cubicBezTo>
                  <a:pt x="-199" y="3180"/>
                  <a:pt x="-199" y="3186"/>
                  <a:pt x="-199" y="3192"/>
                </a:cubicBezTo>
                <a:lnTo>
                  <a:pt x="-199" y="13556"/>
                </a:lnTo>
                <a:cubicBezTo>
                  <a:pt x="-104" y="15386"/>
                  <a:pt x="1460" y="16793"/>
                  <a:pt x="3297" y="16700"/>
                </a:cubicBezTo>
                <a:cubicBezTo>
                  <a:pt x="3321" y="16698"/>
                  <a:pt x="3345" y="16697"/>
                  <a:pt x="3369"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5" name="Freeform: Shape 234">
            <a:extLst>
              <a:ext uri="{FF2B5EF4-FFF2-40B4-BE49-F238E27FC236}">
                <a16:creationId xmlns:a16="http://schemas.microsoft.com/office/drawing/2014/main" id="{3671D21E-D5C2-BE30-C232-AFBF683AB98E}"/>
              </a:ext>
            </a:extLst>
          </p:cNvPr>
          <p:cNvSpPr/>
          <p:nvPr/>
        </p:nvSpPr>
        <p:spPr>
          <a:xfrm>
            <a:off x="8753" y="3488506"/>
            <a:ext cx="37644" cy="16602"/>
          </a:xfrm>
          <a:custGeom>
            <a:avLst/>
            <a:gdLst>
              <a:gd name="connsiteX0" fmla="*/ 33817 w 37644"/>
              <a:gd name="connsiteY0" fmla="*/ 16695 h 16602"/>
              <a:gd name="connsiteX1" fmla="*/ 37445 w 37644"/>
              <a:gd name="connsiteY1" fmla="*/ 13616 h 16602"/>
              <a:gd name="connsiteX2" fmla="*/ 37445 w 37644"/>
              <a:gd name="connsiteY2" fmla="*/ 3192 h 16602"/>
              <a:gd name="connsiteX3" fmla="*/ 33817 w 37644"/>
              <a:gd name="connsiteY3" fmla="*/ 112 h 16602"/>
              <a:gd name="connsiteX4" fmla="*/ -199 w 37644"/>
              <a:gd name="connsiteY4" fmla="*/ 112 h 16602"/>
              <a:gd name="connsiteX5" fmla="*/ -199 w 37644"/>
              <a:gd name="connsiteY5"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44" h="16602">
                <a:moveTo>
                  <a:pt x="33817" y="16695"/>
                </a:moveTo>
                <a:cubicBezTo>
                  <a:pt x="35667" y="16832"/>
                  <a:pt x="37284" y="15459"/>
                  <a:pt x="37445" y="13616"/>
                </a:cubicBezTo>
                <a:lnTo>
                  <a:pt x="37445" y="3192"/>
                </a:lnTo>
                <a:cubicBezTo>
                  <a:pt x="37284" y="1348"/>
                  <a:pt x="35667" y="-24"/>
                  <a:pt x="33817" y="112"/>
                </a:cubicBezTo>
                <a:lnTo>
                  <a:pt x="-199" y="112"/>
                </a:lnTo>
                <a:lnTo>
                  <a:pt x="-199" y="16695"/>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6" name="Freeform: Shape 235">
            <a:extLst>
              <a:ext uri="{FF2B5EF4-FFF2-40B4-BE49-F238E27FC236}">
                <a16:creationId xmlns:a16="http://schemas.microsoft.com/office/drawing/2014/main" id="{56AA0C73-78BF-738B-C451-C21DE1B8C3D5}"/>
              </a:ext>
            </a:extLst>
          </p:cNvPr>
          <p:cNvSpPr/>
          <p:nvPr/>
        </p:nvSpPr>
        <p:spPr>
          <a:xfrm>
            <a:off x="121625" y="3488506"/>
            <a:ext cx="75169" cy="16602"/>
          </a:xfrm>
          <a:custGeom>
            <a:avLst/>
            <a:gdLst>
              <a:gd name="connsiteX0" fmla="*/ 3369 w 75169"/>
              <a:gd name="connsiteY0" fmla="*/ 16695 h 16602"/>
              <a:gd name="connsiteX1" fmla="*/ 71342 w 75169"/>
              <a:gd name="connsiteY1" fmla="*/ 16695 h 16602"/>
              <a:gd name="connsiteX2" fmla="*/ 74970 w 75169"/>
              <a:gd name="connsiteY2" fmla="*/ 13616 h 16602"/>
              <a:gd name="connsiteX3" fmla="*/ 74970 w 75169"/>
              <a:gd name="connsiteY3" fmla="*/ 3192 h 16602"/>
              <a:gd name="connsiteX4" fmla="*/ 71342 w 75169"/>
              <a:gd name="connsiteY4" fmla="*/ 112 h 16602"/>
              <a:gd name="connsiteX5" fmla="*/ 3369 w 75169"/>
              <a:gd name="connsiteY5" fmla="*/ 112 h 16602"/>
              <a:gd name="connsiteX6" fmla="*/ -199 w 75169"/>
              <a:gd name="connsiteY6" fmla="*/ 3175 h 16602"/>
              <a:gd name="connsiteX7" fmla="*/ -199 w 75169"/>
              <a:gd name="connsiteY7" fmla="*/ 3192 h 16602"/>
              <a:gd name="connsiteX8" fmla="*/ -199 w 75169"/>
              <a:gd name="connsiteY8" fmla="*/ 13556 h 16602"/>
              <a:gd name="connsiteX9" fmla="*/ 3298 w 75169"/>
              <a:gd name="connsiteY9" fmla="*/ 16700 h 16602"/>
              <a:gd name="connsiteX10" fmla="*/ 3369 w 75169"/>
              <a:gd name="connsiteY10"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169" h="16602">
                <a:moveTo>
                  <a:pt x="3369" y="16695"/>
                </a:moveTo>
                <a:lnTo>
                  <a:pt x="71342" y="16695"/>
                </a:lnTo>
                <a:cubicBezTo>
                  <a:pt x="73192" y="16832"/>
                  <a:pt x="74809" y="15459"/>
                  <a:pt x="74970" y="13616"/>
                </a:cubicBezTo>
                <a:lnTo>
                  <a:pt x="74970" y="3192"/>
                </a:lnTo>
                <a:cubicBezTo>
                  <a:pt x="74809" y="1348"/>
                  <a:pt x="73192" y="-24"/>
                  <a:pt x="71342" y="112"/>
                </a:cubicBezTo>
                <a:lnTo>
                  <a:pt x="3369" y="112"/>
                </a:lnTo>
                <a:cubicBezTo>
                  <a:pt x="1537" y="-23"/>
                  <a:pt x="-62" y="1348"/>
                  <a:pt x="-199" y="3175"/>
                </a:cubicBezTo>
                <a:cubicBezTo>
                  <a:pt x="-199" y="3180"/>
                  <a:pt x="-199" y="3186"/>
                  <a:pt x="-199" y="3192"/>
                </a:cubicBezTo>
                <a:lnTo>
                  <a:pt x="-199" y="13556"/>
                </a:lnTo>
                <a:cubicBezTo>
                  <a:pt x="-104" y="15386"/>
                  <a:pt x="1460" y="16793"/>
                  <a:pt x="3298" y="16700"/>
                </a:cubicBezTo>
                <a:cubicBezTo>
                  <a:pt x="3321" y="16698"/>
                  <a:pt x="3345" y="16697"/>
                  <a:pt x="3369"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7" name="Freeform: Shape 236">
            <a:extLst>
              <a:ext uri="{FF2B5EF4-FFF2-40B4-BE49-F238E27FC236}">
                <a16:creationId xmlns:a16="http://schemas.microsoft.com/office/drawing/2014/main" id="{516CD357-7D9F-EFB5-A2F5-CDADF55BE4E8}"/>
              </a:ext>
            </a:extLst>
          </p:cNvPr>
          <p:cNvSpPr/>
          <p:nvPr/>
        </p:nvSpPr>
        <p:spPr>
          <a:xfrm>
            <a:off x="272023" y="3488506"/>
            <a:ext cx="75169" cy="16602"/>
          </a:xfrm>
          <a:custGeom>
            <a:avLst/>
            <a:gdLst>
              <a:gd name="connsiteX0" fmla="*/ 3428 w 75169"/>
              <a:gd name="connsiteY0" fmla="*/ 16695 h 16602"/>
              <a:gd name="connsiteX1" fmla="*/ 71402 w 75169"/>
              <a:gd name="connsiteY1" fmla="*/ 16695 h 16602"/>
              <a:gd name="connsiteX2" fmla="*/ 74970 w 75169"/>
              <a:gd name="connsiteY2" fmla="*/ 13632 h 16602"/>
              <a:gd name="connsiteX3" fmla="*/ 74970 w 75169"/>
              <a:gd name="connsiteY3" fmla="*/ 13616 h 16602"/>
              <a:gd name="connsiteX4" fmla="*/ 74970 w 75169"/>
              <a:gd name="connsiteY4" fmla="*/ 3192 h 16602"/>
              <a:gd name="connsiteX5" fmla="*/ 71420 w 75169"/>
              <a:gd name="connsiteY5" fmla="*/ 111 h 16602"/>
              <a:gd name="connsiteX6" fmla="*/ 71402 w 75169"/>
              <a:gd name="connsiteY6" fmla="*/ 112 h 16602"/>
              <a:gd name="connsiteX7" fmla="*/ 3428 w 75169"/>
              <a:gd name="connsiteY7" fmla="*/ 112 h 16602"/>
              <a:gd name="connsiteX8" fmla="*/ -199 w 75169"/>
              <a:gd name="connsiteY8" fmla="*/ 3192 h 16602"/>
              <a:gd name="connsiteX9" fmla="*/ -199 w 75169"/>
              <a:gd name="connsiteY9" fmla="*/ 13556 h 16602"/>
              <a:gd name="connsiteX10" fmla="*/ 3411 w 75169"/>
              <a:gd name="connsiteY10" fmla="*/ 16697 h 16602"/>
              <a:gd name="connsiteX11" fmla="*/ 3428 w 75169"/>
              <a:gd name="connsiteY11"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69" h="16602">
                <a:moveTo>
                  <a:pt x="3428" y="16695"/>
                </a:moveTo>
                <a:lnTo>
                  <a:pt x="71402" y="16695"/>
                </a:lnTo>
                <a:cubicBezTo>
                  <a:pt x="73233" y="16831"/>
                  <a:pt x="74833" y="15459"/>
                  <a:pt x="74970" y="13632"/>
                </a:cubicBezTo>
                <a:cubicBezTo>
                  <a:pt x="74970" y="13627"/>
                  <a:pt x="74970" y="13621"/>
                  <a:pt x="74970" y="13616"/>
                </a:cubicBezTo>
                <a:lnTo>
                  <a:pt x="74970" y="3192"/>
                </a:lnTo>
                <a:cubicBezTo>
                  <a:pt x="74845" y="1364"/>
                  <a:pt x="73251" y="-16"/>
                  <a:pt x="71420" y="111"/>
                </a:cubicBezTo>
                <a:cubicBezTo>
                  <a:pt x="71414" y="111"/>
                  <a:pt x="71408" y="111"/>
                  <a:pt x="71402" y="112"/>
                </a:cubicBezTo>
                <a:lnTo>
                  <a:pt x="3428" y="112"/>
                </a:lnTo>
                <a:cubicBezTo>
                  <a:pt x="1579" y="-24"/>
                  <a:pt x="-39" y="1348"/>
                  <a:pt x="-199" y="3192"/>
                </a:cubicBezTo>
                <a:lnTo>
                  <a:pt x="-199" y="13556"/>
                </a:lnTo>
                <a:cubicBezTo>
                  <a:pt x="-74" y="15417"/>
                  <a:pt x="1543" y="16823"/>
                  <a:pt x="3411" y="16697"/>
                </a:cubicBezTo>
                <a:cubicBezTo>
                  <a:pt x="3417" y="16696"/>
                  <a:pt x="3422" y="16696"/>
                  <a:pt x="3428"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8" name="Freeform: Shape 237">
            <a:extLst>
              <a:ext uri="{FF2B5EF4-FFF2-40B4-BE49-F238E27FC236}">
                <a16:creationId xmlns:a16="http://schemas.microsoft.com/office/drawing/2014/main" id="{630B7939-3A70-72F7-F74E-776BC4A46998}"/>
              </a:ext>
            </a:extLst>
          </p:cNvPr>
          <p:cNvSpPr/>
          <p:nvPr/>
        </p:nvSpPr>
        <p:spPr>
          <a:xfrm>
            <a:off x="422421" y="3488506"/>
            <a:ext cx="75228" cy="16602"/>
          </a:xfrm>
          <a:custGeom>
            <a:avLst/>
            <a:gdLst>
              <a:gd name="connsiteX0" fmla="*/ 3429 w 75228"/>
              <a:gd name="connsiteY0" fmla="*/ 16695 h 16602"/>
              <a:gd name="connsiteX1" fmla="*/ 71402 w 75228"/>
              <a:gd name="connsiteY1" fmla="*/ 16695 h 16602"/>
              <a:gd name="connsiteX2" fmla="*/ 75029 w 75228"/>
              <a:gd name="connsiteY2" fmla="*/ 13616 h 16602"/>
              <a:gd name="connsiteX3" fmla="*/ 75029 w 75228"/>
              <a:gd name="connsiteY3" fmla="*/ 3192 h 16602"/>
              <a:gd name="connsiteX4" fmla="*/ 71402 w 75228"/>
              <a:gd name="connsiteY4" fmla="*/ 112 h 16602"/>
              <a:gd name="connsiteX5" fmla="*/ 3429 w 75228"/>
              <a:gd name="connsiteY5" fmla="*/ 112 h 16602"/>
              <a:gd name="connsiteX6" fmla="*/ -199 w 75228"/>
              <a:gd name="connsiteY6" fmla="*/ 3192 h 16602"/>
              <a:gd name="connsiteX7" fmla="*/ -199 w 75228"/>
              <a:gd name="connsiteY7" fmla="*/ 13556 h 16602"/>
              <a:gd name="connsiteX8" fmla="*/ 3411 w 75228"/>
              <a:gd name="connsiteY8" fmla="*/ 16697 h 16602"/>
              <a:gd name="connsiteX9" fmla="*/ 3429 w 75228"/>
              <a:gd name="connsiteY9"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8" h="16602">
                <a:moveTo>
                  <a:pt x="3429" y="16695"/>
                </a:moveTo>
                <a:lnTo>
                  <a:pt x="71402" y="16695"/>
                </a:lnTo>
                <a:cubicBezTo>
                  <a:pt x="73251" y="16832"/>
                  <a:pt x="74869" y="15459"/>
                  <a:pt x="75029" y="13616"/>
                </a:cubicBezTo>
                <a:lnTo>
                  <a:pt x="75029" y="3192"/>
                </a:lnTo>
                <a:cubicBezTo>
                  <a:pt x="74869" y="1348"/>
                  <a:pt x="73251" y="-24"/>
                  <a:pt x="71402" y="112"/>
                </a:cubicBezTo>
                <a:lnTo>
                  <a:pt x="3429" y="112"/>
                </a:lnTo>
                <a:cubicBezTo>
                  <a:pt x="1579" y="-24"/>
                  <a:pt x="-39" y="1348"/>
                  <a:pt x="-199" y="3192"/>
                </a:cubicBezTo>
                <a:lnTo>
                  <a:pt x="-199" y="13556"/>
                </a:lnTo>
                <a:cubicBezTo>
                  <a:pt x="-74" y="15417"/>
                  <a:pt x="1543" y="16823"/>
                  <a:pt x="3411" y="16697"/>
                </a:cubicBezTo>
                <a:cubicBezTo>
                  <a:pt x="3417" y="16696"/>
                  <a:pt x="3423" y="16696"/>
                  <a:pt x="3429"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39" name="Freeform: Shape 238">
            <a:extLst>
              <a:ext uri="{FF2B5EF4-FFF2-40B4-BE49-F238E27FC236}">
                <a16:creationId xmlns:a16="http://schemas.microsoft.com/office/drawing/2014/main" id="{0D84846A-D4F6-2772-77B4-9ACAA3F2DC71}"/>
              </a:ext>
            </a:extLst>
          </p:cNvPr>
          <p:cNvSpPr/>
          <p:nvPr/>
        </p:nvSpPr>
        <p:spPr>
          <a:xfrm>
            <a:off x="723395" y="3488446"/>
            <a:ext cx="74990" cy="16661"/>
          </a:xfrm>
          <a:custGeom>
            <a:avLst/>
            <a:gdLst>
              <a:gd name="connsiteX0" fmla="*/ 3428 w 74990"/>
              <a:gd name="connsiteY0" fmla="*/ 16755 h 16661"/>
              <a:gd name="connsiteX1" fmla="*/ 71223 w 74990"/>
              <a:gd name="connsiteY1" fmla="*/ 16755 h 16661"/>
              <a:gd name="connsiteX2" fmla="*/ 74791 w 74990"/>
              <a:gd name="connsiteY2" fmla="*/ 13616 h 16661"/>
              <a:gd name="connsiteX3" fmla="*/ 74791 w 74990"/>
              <a:gd name="connsiteY3" fmla="*/ 3192 h 16661"/>
              <a:gd name="connsiteX4" fmla="*/ 71164 w 74990"/>
              <a:gd name="connsiteY4" fmla="*/ 112 h 16661"/>
              <a:gd name="connsiteX5" fmla="*/ 3428 w 74990"/>
              <a:gd name="connsiteY5" fmla="*/ 112 h 16661"/>
              <a:gd name="connsiteX6" fmla="*/ -199 w 74990"/>
              <a:gd name="connsiteY6" fmla="*/ 3192 h 16661"/>
              <a:gd name="connsiteX7" fmla="*/ -199 w 74990"/>
              <a:gd name="connsiteY7" fmla="*/ 13616 h 16661"/>
              <a:gd name="connsiteX8" fmla="*/ 3411 w 74990"/>
              <a:gd name="connsiteY8" fmla="*/ 16756 h 16661"/>
              <a:gd name="connsiteX9" fmla="*/ 3428 w 74990"/>
              <a:gd name="connsiteY9" fmla="*/ 16755 h 16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990" h="16661">
                <a:moveTo>
                  <a:pt x="3428" y="16755"/>
                </a:moveTo>
                <a:lnTo>
                  <a:pt x="71223" y="16755"/>
                </a:lnTo>
                <a:cubicBezTo>
                  <a:pt x="73073" y="16856"/>
                  <a:pt x="74667" y="15458"/>
                  <a:pt x="74791" y="13616"/>
                </a:cubicBezTo>
                <a:lnTo>
                  <a:pt x="74791" y="3192"/>
                </a:lnTo>
                <a:cubicBezTo>
                  <a:pt x="74631" y="1348"/>
                  <a:pt x="73013" y="-24"/>
                  <a:pt x="71164" y="112"/>
                </a:cubicBezTo>
                <a:lnTo>
                  <a:pt x="3428" y="112"/>
                </a:lnTo>
                <a:cubicBezTo>
                  <a:pt x="1579" y="-24"/>
                  <a:pt x="-39" y="1348"/>
                  <a:pt x="-199" y="3192"/>
                </a:cubicBezTo>
                <a:lnTo>
                  <a:pt x="-199" y="13616"/>
                </a:lnTo>
                <a:cubicBezTo>
                  <a:pt x="-74" y="15476"/>
                  <a:pt x="1543" y="16882"/>
                  <a:pt x="3411" y="16756"/>
                </a:cubicBezTo>
                <a:cubicBezTo>
                  <a:pt x="3416" y="16755"/>
                  <a:pt x="3422" y="16755"/>
                  <a:pt x="3428" y="1675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40" name="Freeform: Shape 239">
            <a:extLst>
              <a:ext uri="{FF2B5EF4-FFF2-40B4-BE49-F238E27FC236}">
                <a16:creationId xmlns:a16="http://schemas.microsoft.com/office/drawing/2014/main" id="{8B74E655-0C25-2A7A-DDBF-547CB8E66135}"/>
              </a:ext>
            </a:extLst>
          </p:cNvPr>
          <p:cNvSpPr/>
          <p:nvPr/>
        </p:nvSpPr>
        <p:spPr>
          <a:xfrm>
            <a:off x="572819" y="3488506"/>
            <a:ext cx="75228" cy="16602"/>
          </a:xfrm>
          <a:custGeom>
            <a:avLst/>
            <a:gdLst>
              <a:gd name="connsiteX0" fmla="*/ 3428 w 75228"/>
              <a:gd name="connsiteY0" fmla="*/ 16695 h 16602"/>
              <a:gd name="connsiteX1" fmla="*/ 71402 w 75228"/>
              <a:gd name="connsiteY1" fmla="*/ 16695 h 16602"/>
              <a:gd name="connsiteX2" fmla="*/ 75029 w 75228"/>
              <a:gd name="connsiteY2" fmla="*/ 13616 h 16602"/>
              <a:gd name="connsiteX3" fmla="*/ 75029 w 75228"/>
              <a:gd name="connsiteY3" fmla="*/ 3192 h 16602"/>
              <a:gd name="connsiteX4" fmla="*/ 71402 w 75228"/>
              <a:gd name="connsiteY4" fmla="*/ 112 h 16602"/>
              <a:gd name="connsiteX5" fmla="*/ 3428 w 75228"/>
              <a:gd name="connsiteY5" fmla="*/ 112 h 16602"/>
              <a:gd name="connsiteX6" fmla="*/ -199 w 75228"/>
              <a:gd name="connsiteY6" fmla="*/ 3192 h 16602"/>
              <a:gd name="connsiteX7" fmla="*/ -199 w 75228"/>
              <a:gd name="connsiteY7" fmla="*/ 13556 h 16602"/>
              <a:gd name="connsiteX8" fmla="*/ 3411 w 75228"/>
              <a:gd name="connsiteY8" fmla="*/ 16697 h 16602"/>
              <a:gd name="connsiteX9" fmla="*/ 3428 w 75228"/>
              <a:gd name="connsiteY9" fmla="*/ 16695 h 1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8" h="16602">
                <a:moveTo>
                  <a:pt x="3428" y="16695"/>
                </a:moveTo>
                <a:lnTo>
                  <a:pt x="71402" y="16695"/>
                </a:lnTo>
                <a:cubicBezTo>
                  <a:pt x="73251" y="16832"/>
                  <a:pt x="74869" y="15459"/>
                  <a:pt x="75029" y="13616"/>
                </a:cubicBezTo>
                <a:lnTo>
                  <a:pt x="75029" y="3192"/>
                </a:lnTo>
                <a:cubicBezTo>
                  <a:pt x="74869" y="1348"/>
                  <a:pt x="73251" y="-24"/>
                  <a:pt x="71402" y="112"/>
                </a:cubicBezTo>
                <a:lnTo>
                  <a:pt x="3428" y="112"/>
                </a:lnTo>
                <a:cubicBezTo>
                  <a:pt x="1579" y="-24"/>
                  <a:pt x="-39" y="1348"/>
                  <a:pt x="-199" y="3192"/>
                </a:cubicBezTo>
                <a:lnTo>
                  <a:pt x="-199" y="13556"/>
                </a:lnTo>
                <a:cubicBezTo>
                  <a:pt x="-74" y="15417"/>
                  <a:pt x="1543" y="16823"/>
                  <a:pt x="3411" y="16697"/>
                </a:cubicBezTo>
                <a:cubicBezTo>
                  <a:pt x="3417" y="16696"/>
                  <a:pt x="3422" y="16696"/>
                  <a:pt x="3428" y="16695"/>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41" name="Freeform: Shape 240">
            <a:extLst>
              <a:ext uri="{FF2B5EF4-FFF2-40B4-BE49-F238E27FC236}">
                <a16:creationId xmlns:a16="http://schemas.microsoft.com/office/drawing/2014/main" id="{7C6F769D-3D31-C952-768F-B7800557C0BE}"/>
              </a:ext>
            </a:extLst>
          </p:cNvPr>
          <p:cNvSpPr/>
          <p:nvPr/>
        </p:nvSpPr>
        <p:spPr>
          <a:xfrm>
            <a:off x="8753" y="3324455"/>
            <a:ext cx="1504156" cy="16642"/>
          </a:xfrm>
          <a:custGeom>
            <a:avLst/>
            <a:gdLst>
              <a:gd name="connsiteX0" fmla="*/ 300855 w 1504156"/>
              <a:gd name="connsiteY0" fmla="*/ 16643 h 16642"/>
              <a:gd name="connsiteX1" fmla="*/ 451253 w 1504156"/>
              <a:gd name="connsiteY1" fmla="*/ 16643 h 16642"/>
              <a:gd name="connsiteX2" fmla="*/ 601651 w 1504156"/>
              <a:gd name="connsiteY2" fmla="*/ 16643 h 16642"/>
              <a:gd name="connsiteX3" fmla="*/ 752049 w 1504156"/>
              <a:gd name="connsiteY3" fmla="*/ 16643 h 16642"/>
              <a:gd name="connsiteX4" fmla="*/ 902506 w 1504156"/>
              <a:gd name="connsiteY4" fmla="*/ 16643 h 16642"/>
              <a:gd name="connsiteX5" fmla="*/ 1052904 w 1504156"/>
              <a:gd name="connsiteY5" fmla="*/ 16643 h 16642"/>
              <a:gd name="connsiteX6" fmla="*/ 1203302 w 1504156"/>
              <a:gd name="connsiteY6" fmla="*/ 16643 h 16642"/>
              <a:gd name="connsiteX7" fmla="*/ 1353699 w 1504156"/>
              <a:gd name="connsiteY7" fmla="*/ 16643 h 16642"/>
              <a:gd name="connsiteX8" fmla="*/ 1504157 w 1504156"/>
              <a:gd name="connsiteY8" fmla="*/ 16643 h 16642"/>
              <a:gd name="connsiteX9" fmla="*/ 1504157 w 1504156"/>
              <a:gd name="connsiteY9" fmla="*/ 0 h 16642"/>
              <a:gd name="connsiteX10" fmla="*/ 1353699 w 1504156"/>
              <a:gd name="connsiteY10" fmla="*/ 0 h 16642"/>
              <a:gd name="connsiteX11" fmla="*/ 1203302 w 1504156"/>
              <a:gd name="connsiteY11" fmla="*/ 0 h 16642"/>
              <a:gd name="connsiteX12" fmla="*/ 1052904 w 1504156"/>
              <a:gd name="connsiteY12" fmla="*/ 0 h 16642"/>
              <a:gd name="connsiteX13" fmla="*/ 902506 w 1504156"/>
              <a:gd name="connsiteY13" fmla="*/ 0 h 16642"/>
              <a:gd name="connsiteX14" fmla="*/ 752049 w 1504156"/>
              <a:gd name="connsiteY14" fmla="*/ 0 h 16642"/>
              <a:gd name="connsiteX15" fmla="*/ 601651 w 1504156"/>
              <a:gd name="connsiteY15" fmla="*/ 0 h 16642"/>
              <a:gd name="connsiteX16" fmla="*/ 451253 w 1504156"/>
              <a:gd name="connsiteY16" fmla="*/ 0 h 16642"/>
              <a:gd name="connsiteX17" fmla="*/ 300855 w 1504156"/>
              <a:gd name="connsiteY17" fmla="*/ 0 h 16642"/>
              <a:gd name="connsiteX18" fmla="*/ 150457 w 1504156"/>
              <a:gd name="connsiteY18" fmla="*/ 0 h 16642"/>
              <a:gd name="connsiteX19" fmla="*/ 0 w 1504156"/>
              <a:gd name="connsiteY19" fmla="*/ 0 h 16642"/>
              <a:gd name="connsiteX20" fmla="*/ 0 w 1504156"/>
              <a:gd name="connsiteY20" fmla="*/ 16643 h 16642"/>
              <a:gd name="connsiteX21" fmla="*/ 150457 w 1504156"/>
              <a:gd name="connsiteY21" fmla="*/ 16643 h 16642"/>
              <a:gd name="connsiteX22" fmla="*/ 300855 w 1504156"/>
              <a:gd name="connsiteY22" fmla="*/ 16643 h 16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04156" h="16642">
                <a:moveTo>
                  <a:pt x="300855" y="16643"/>
                </a:moveTo>
                <a:lnTo>
                  <a:pt x="451253" y="16643"/>
                </a:lnTo>
                <a:lnTo>
                  <a:pt x="601651" y="16643"/>
                </a:lnTo>
                <a:lnTo>
                  <a:pt x="752049" y="16643"/>
                </a:lnTo>
                <a:lnTo>
                  <a:pt x="902506" y="16643"/>
                </a:lnTo>
                <a:lnTo>
                  <a:pt x="1052904" y="16643"/>
                </a:lnTo>
                <a:lnTo>
                  <a:pt x="1203302" y="16643"/>
                </a:lnTo>
                <a:lnTo>
                  <a:pt x="1353699" y="16643"/>
                </a:lnTo>
                <a:lnTo>
                  <a:pt x="1504157" y="16643"/>
                </a:lnTo>
                <a:lnTo>
                  <a:pt x="1504157" y="0"/>
                </a:lnTo>
                <a:lnTo>
                  <a:pt x="1353699" y="0"/>
                </a:lnTo>
                <a:lnTo>
                  <a:pt x="1203302" y="0"/>
                </a:lnTo>
                <a:lnTo>
                  <a:pt x="1052904" y="0"/>
                </a:lnTo>
                <a:lnTo>
                  <a:pt x="902506" y="0"/>
                </a:lnTo>
                <a:lnTo>
                  <a:pt x="752049" y="0"/>
                </a:lnTo>
                <a:lnTo>
                  <a:pt x="601651" y="0"/>
                </a:lnTo>
                <a:lnTo>
                  <a:pt x="451253" y="0"/>
                </a:lnTo>
                <a:lnTo>
                  <a:pt x="300855" y="0"/>
                </a:lnTo>
                <a:lnTo>
                  <a:pt x="150457" y="0"/>
                </a:lnTo>
                <a:lnTo>
                  <a:pt x="0" y="0"/>
                </a:lnTo>
                <a:lnTo>
                  <a:pt x="0" y="16643"/>
                </a:lnTo>
                <a:lnTo>
                  <a:pt x="150457" y="16643"/>
                </a:lnTo>
                <a:lnTo>
                  <a:pt x="300855" y="16643"/>
                </a:lnTo>
                <a:close/>
              </a:path>
            </a:pathLst>
          </a:custGeom>
          <a:solidFill>
            <a:srgbClr val="FFFFFF"/>
          </a:solidFill>
          <a:ln w="5944" cap="flat">
            <a:noFill/>
            <a:prstDash val="solid"/>
            <a:miter/>
          </a:ln>
        </p:spPr>
        <p:txBody>
          <a:bodyPr rtlCol="0" anchor="ctr"/>
          <a:lstStyle/>
          <a:p>
            <a:endParaRPr lang="en-IN">
              <a:latin typeface="EY interstate"/>
            </a:endParaRPr>
          </a:p>
        </p:txBody>
      </p:sp>
      <p:sp>
        <p:nvSpPr>
          <p:cNvPr id="242" name="Freeform: Shape 241">
            <a:extLst>
              <a:ext uri="{FF2B5EF4-FFF2-40B4-BE49-F238E27FC236}">
                <a16:creationId xmlns:a16="http://schemas.microsoft.com/office/drawing/2014/main" id="{B76C4238-C467-E910-9A14-31CFA8A1020C}"/>
              </a:ext>
            </a:extLst>
          </p:cNvPr>
          <p:cNvSpPr/>
          <p:nvPr/>
        </p:nvSpPr>
        <p:spPr>
          <a:xfrm>
            <a:off x="8753" y="3652516"/>
            <a:ext cx="1504156" cy="16642"/>
          </a:xfrm>
          <a:custGeom>
            <a:avLst/>
            <a:gdLst>
              <a:gd name="connsiteX0" fmla="*/ 150457 w 1504156"/>
              <a:gd name="connsiteY0" fmla="*/ 16643 h 16642"/>
              <a:gd name="connsiteX1" fmla="*/ 300855 w 1504156"/>
              <a:gd name="connsiteY1" fmla="*/ 16643 h 16642"/>
              <a:gd name="connsiteX2" fmla="*/ 451253 w 1504156"/>
              <a:gd name="connsiteY2" fmla="*/ 16643 h 16642"/>
              <a:gd name="connsiteX3" fmla="*/ 601651 w 1504156"/>
              <a:gd name="connsiteY3" fmla="*/ 16643 h 16642"/>
              <a:gd name="connsiteX4" fmla="*/ 752049 w 1504156"/>
              <a:gd name="connsiteY4" fmla="*/ 16643 h 16642"/>
              <a:gd name="connsiteX5" fmla="*/ 902506 w 1504156"/>
              <a:gd name="connsiteY5" fmla="*/ 16643 h 16642"/>
              <a:gd name="connsiteX6" fmla="*/ 1052904 w 1504156"/>
              <a:gd name="connsiteY6" fmla="*/ 16643 h 16642"/>
              <a:gd name="connsiteX7" fmla="*/ 1203302 w 1504156"/>
              <a:gd name="connsiteY7" fmla="*/ 16643 h 16642"/>
              <a:gd name="connsiteX8" fmla="*/ 1353699 w 1504156"/>
              <a:gd name="connsiteY8" fmla="*/ 16643 h 16642"/>
              <a:gd name="connsiteX9" fmla="*/ 1504157 w 1504156"/>
              <a:gd name="connsiteY9" fmla="*/ 16643 h 16642"/>
              <a:gd name="connsiteX10" fmla="*/ 1504157 w 1504156"/>
              <a:gd name="connsiteY10" fmla="*/ 0 h 16642"/>
              <a:gd name="connsiteX11" fmla="*/ 1353699 w 1504156"/>
              <a:gd name="connsiteY11" fmla="*/ 0 h 16642"/>
              <a:gd name="connsiteX12" fmla="*/ 1203302 w 1504156"/>
              <a:gd name="connsiteY12" fmla="*/ 0 h 16642"/>
              <a:gd name="connsiteX13" fmla="*/ 1052904 w 1504156"/>
              <a:gd name="connsiteY13" fmla="*/ 0 h 16642"/>
              <a:gd name="connsiteX14" fmla="*/ 902506 w 1504156"/>
              <a:gd name="connsiteY14" fmla="*/ 0 h 16642"/>
              <a:gd name="connsiteX15" fmla="*/ 752049 w 1504156"/>
              <a:gd name="connsiteY15" fmla="*/ 0 h 16642"/>
              <a:gd name="connsiteX16" fmla="*/ 601651 w 1504156"/>
              <a:gd name="connsiteY16" fmla="*/ 0 h 16642"/>
              <a:gd name="connsiteX17" fmla="*/ 451253 w 1504156"/>
              <a:gd name="connsiteY17" fmla="*/ 0 h 16642"/>
              <a:gd name="connsiteX18" fmla="*/ 300855 w 1504156"/>
              <a:gd name="connsiteY18" fmla="*/ 0 h 16642"/>
              <a:gd name="connsiteX19" fmla="*/ 150457 w 1504156"/>
              <a:gd name="connsiteY19" fmla="*/ 0 h 16642"/>
              <a:gd name="connsiteX20" fmla="*/ 0 w 1504156"/>
              <a:gd name="connsiteY20" fmla="*/ 0 h 16642"/>
              <a:gd name="connsiteX21" fmla="*/ 0 w 1504156"/>
              <a:gd name="connsiteY21" fmla="*/ 16643 h 16642"/>
              <a:gd name="connsiteX22" fmla="*/ 150457 w 1504156"/>
              <a:gd name="connsiteY22" fmla="*/ 16643 h 16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04156" h="16642">
                <a:moveTo>
                  <a:pt x="150457" y="16643"/>
                </a:moveTo>
                <a:lnTo>
                  <a:pt x="300855" y="16643"/>
                </a:lnTo>
                <a:lnTo>
                  <a:pt x="451253" y="16643"/>
                </a:lnTo>
                <a:lnTo>
                  <a:pt x="601651" y="16643"/>
                </a:lnTo>
                <a:lnTo>
                  <a:pt x="752049" y="16643"/>
                </a:lnTo>
                <a:lnTo>
                  <a:pt x="902506" y="16643"/>
                </a:lnTo>
                <a:lnTo>
                  <a:pt x="1052904" y="16643"/>
                </a:lnTo>
                <a:lnTo>
                  <a:pt x="1203302" y="16643"/>
                </a:lnTo>
                <a:lnTo>
                  <a:pt x="1353699" y="16643"/>
                </a:lnTo>
                <a:lnTo>
                  <a:pt x="1504157" y="16643"/>
                </a:lnTo>
                <a:lnTo>
                  <a:pt x="1504157" y="0"/>
                </a:lnTo>
                <a:lnTo>
                  <a:pt x="1353699" y="0"/>
                </a:lnTo>
                <a:lnTo>
                  <a:pt x="1203302" y="0"/>
                </a:lnTo>
                <a:lnTo>
                  <a:pt x="1052904" y="0"/>
                </a:lnTo>
                <a:lnTo>
                  <a:pt x="902506" y="0"/>
                </a:lnTo>
                <a:lnTo>
                  <a:pt x="752049" y="0"/>
                </a:lnTo>
                <a:lnTo>
                  <a:pt x="601651" y="0"/>
                </a:lnTo>
                <a:lnTo>
                  <a:pt x="451253" y="0"/>
                </a:lnTo>
                <a:lnTo>
                  <a:pt x="300855" y="0"/>
                </a:lnTo>
                <a:lnTo>
                  <a:pt x="150457" y="0"/>
                </a:lnTo>
                <a:lnTo>
                  <a:pt x="0" y="0"/>
                </a:lnTo>
                <a:lnTo>
                  <a:pt x="0" y="16643"/>
                </a:lnTo>
                <a:lnTo>
                  <a:pt x="150457" y="16643"/>
                </a:ln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43" name="Freeform: Shape 242">
            <a:extLst>
              <a:ext uri="{FF2B5EF4-FFF2-40B4-BE49-F238E27FC236}">
                <a16:creationId xmlns:a16="http://schemas.microsoft.com/office/drawing/2014/main" id="{1FFEA0EA-5FBF-F582-67E7-31F071D8A1A5}"/>
              </a:ext>
            </a:extLst>
          </p:cNvPr>
          <p:cNvSpPr/>
          <p:nvPr/>
        </p:nvSpPr>
        <p:spPr>
          <a:xfrm>
            <a:off x="10681468" y="3967013"/>
            <a:ext cx="1504156" cy="16642"/>
          </a:xfrm>
          <a:custGeom>
            <a:avLst/>
            <a:gdLst>
              <a:gd name="connsiteX0" fmla="*/ 300795 w 1504156"/>
              <a:gd name="connsiteY0" fmla="*/ 16643 h 16642"/>
              <a:gd name="connsiteX1" fmla="*/ 451253 w 1504156"/>
              <a:gd name="connsiteY1" fmla="*/ 16643 h 16642"/>
              <a:gd name="connsiteX2" fmla="*/ 601650 w 1504156"/>
              <a:gd name="connsiteY2" fmla="*/ 16643 h 16642"/>
              <a:gd name="connsiteX3" fmla="*/ 752048 w 1504156"/>
              <a:gd name="connsiteY3" fmla="*/ 16643 h 16642"/>
              <a:gd name="connsiteX4" fmla="*/ 902506 w 1504156"/>
              <a:gd name="connsiteY4" fmla="*/ 16643 h 16642"/>
              <a:gd name="connsiteX5" fmla="*/ 1052903 w 1504156"/>
              <a:gd name="connsiteY5" fmla="*/ 16643 h 16642"/>
              <a:gd name="connsiteX6" fmla="*/ 1203301 w 1504156"/>
              <a:gd name="connsiteY6" fmla="*/ 16643 h 16642"/>
              <a:gd name="connsiteX7" fmla="*/ 1353759 w 1504156"/>
              <a:gd name="connsiteY7" fmla="*/ 16643 h 16642"/>
              <a:gd name="connsiteX8" fmla="*/ 1504156 w 1504156"/>
              <a:gd name="connsiteY8" fmla="*/ 16643 h 16642"/>
              <a:gd name="connsiteX9" fmla="*/ 1504156 w 1504156"/>
              <a:gd name="connsiteY9" fmla="*/ 0 h 16642"/>
              <a:gd name="connsiteX10" fmla="*/ 1353759 w 1504156"/>
              <a:gd name="connsiteY10" fmla="*/ 0 h 16642"/>
              <a:gd name="connsiteX11" fmla="*/ 1203301 w 1504156"/>
              <a:gd name="connsiteY11" fmla="*/ 0 h 16642"/>
              <a:gd name="connsiteX12" fmla="*/ 1052903 w 1504156"/>
              <a:gd name="connsiteY12" fmla="*/ 0 h 16642"/>
              <a:gd name="connsiteX13" fmla="*/ 902506 w 1504156"/>
              <a:gd name="connsiteY13" fmla="*/ 0 h 16642"/>
              <a:gd name="connsiteX14" fmla="*/ 752048 w 1504156"/>
              <a:gd name="connsiteY14" fmla="*/ 0 h 16642"/>
              <a:gd name="connsiteX15" fmla="*/ 601650 w 1504156"/>
              <a:gd name="connsiteY15" fmla="*/ 0 h 16642"/>
              <a:gd name="connsiteX16" fmla="*/ 451253 w 1504156"/>
              <a:gd name="connsiteY16" fmla="*/ 0 h 16642"/>
              <a:gd name="connsiteX17" fmla="*/ 300795 w 1504156"/>
              <a:gd name="connsiteY17" fmla="*/ 0 h 16642"/>
              <a:gd name="connsiteX18" fmla="*/ 150397 w 1504156"/>
              <a:gd name="connsiteY18" fmla="*/ 0 h 16642"/>
              <a:gd name="connsiteX19" fmla="*/ 0 w 1504156"/>
              <a:gd name="connsiteY19" fmla="*/ 0 h 16642"/>
              <a:gd name="connsiteX20" fmla="*/ 0 w 1504156"/>
              <a:gd name="connsiteY20" fmla="*/ 16643 h 16642"/>
              <a:gd name="connsiteX21" fmla="*/ 150397 w 1504156"/>
              <a:gd name="connsiteY21" fmla="*/ 16643 h 16642"/>
              <a:gd name="connsiteX22" fmla="*/ 300795 w 1504156"/>
              <a:gd name="connsiteY22" fmla="*/ 16643 h 16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04156" h="16642">
                <a:moveTo>
                  <a:pt x="300795" y="16643"/>
                </a:moveTo>
                <a:lnTo>
                  <a:pt x="451253" y="16643"/>
                </a:lnTo>
                <a:lnTo>
                  <a:pt x="601650" y="16643"/>
                </a:lnTo>
                <a:lnTo>
                  <a:pt x="752048" y="16643"/>
                </a:lnTo>
                <a:lnTo>
                  <a:pt x="902506" y="16643"/>
                </a:lnTo>
                <a:lnTo>
                  <a:pt x="1052903" y="16643"/>
                </a:lnTo>
                <a:lnTo>
                  <a:pt x="1203301" y="16643"/>
                </a:lnTo>
                <a:lnTo>
                  <a:pt x="1353759" y="16643"/>
                </a:lnTo>
                <a:lnTo>
                  <a:pt x="1504156" y="16643"/>
                </a:lnTo>
                <a:lnTo>
                  <a:pt x="1504156" y="0"/>
                </a:lnTo>
                <a:lnTo>
                  <a:pt x="1353759" y="0"/>
                </a:lnTo>
                <a:lnTo>
                  <a:pt x="1203301" y="0"/>
                </a:lnTo>
                <a:lnTo>
                  <a:pt x="1052903" y="0"/>
                </a:lnTo>
                <a:lnTo>
                  <a:pt x="902506" y="0"/>
                </a:lnTo>
                <a:lnTo>
                  <a:pt x="752048" y="0"/>
                </a:lnTo>
                <a:lnTo>
                  <a:pt x="601650" y="0"/>
                </a:lnTo>
                <a:lnTo>
                  <a:pt x="451253" y="0"/>
                </a:lnTo>
                <a:lnTo>
                  <a:pt x="300795" y="0"/>
                </a:lnTo>
                <a:lnTo>
                  <a:pt x="150397" y="0"/>
                </a:lnTo>
                <a:lnTo>
                  <a:pt x="0" y="0"/>
                </a:lnTo>
                <a:lnTo>
                  <a:pt x="0" y="16643"/>
                </a:lnTo>
                <a:lnTo>
                  <a:pt x="150397" y="16643"/>
                </a:lnTo>
                <a:lnTo>
                  <a:pt x="300795" y="16643"/>
                </a:ln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44" name="Freeform: Shape 243">
            <a:extLst>
              <a:ext uri="{FF2B5EF4-FFF2-40B4-BE49-F238E27FC236}">
                <a16:creationId xmlns:a16="http://schemas.microsoft.com/office/drawing/2014/main" id="{F3AF1263-D6D4-8610-9044-0D0AF7A4004C}"/>
              </a:ext>
            </a:extLst>
          </p:cNvPr>
          <p:cNvSpPr/>
          <p:nvPr/>
        </p:nvSpPr>
        <p:spPr>
          <a:xfrm>
            <a:off x="10681468" y="4295074"/>
            <a:ext cx="1504156" cy="16583"/>
          </a:xfrm>
          <a:custGeom>
            <a:avLst/>
            <a:gdLst>
              <a:gd name="connsiteX0" fmla="*/ 150397 w 1504156"/>
              <a:gd name="connsiteY0" fmla="*/ 16584 h 16583"/>
              <a:gd name="connsiteX1" fmla="*/ 300795 w 1504156"/>
              <a:gd name="connsiteY1" fmla="*/ 16584 h 16583"/>
              <a:gd name="connsiteX2" fmla="*/ 451253 w 1504156"/>
              <a:gd name="connsiteY2" fmla="*/ 16584 h 16583"/>
              <a:gd name="connsiteX3" fmla="*/ 601650 w 1504156"/>
              <a:gd name="connsiteY3" fmla="*/ 16584 h 16583"/>
              <a:gd name="connsiteX4" fmla="*/ 752048 w 1504156"/>
              <a:gd name="connsiteY4" fmla="*/ 16584 h 16583"/>
              <a:gd name="connsiteX5" fmla="*/ 902506 w 1504156"/>
              <a:gd name="connsiteY5" fmla="*/ 16584 h 16583"/>
              <a:gd name="connsiteX6" fmla="*/ 1052903 w 1504156"/>
              <a:gd name="connsiteY6" fmla="*/ 16584 h 16583"/>
              <a:gd name="connsiteX7" fmla="*/ 1203301 w 1504156"/>
              <a:gd name="connsiteY7" fmla="*/ 16584 h 16583"/>
              <a:gd name="connsiteX8" fmla="*/ 1353759 w 1504156"/>
              <a:gd name="connsiteY8" fmla="*/ 16584 h 16583"/>
              <a:gd name="connsiteX9" fmla="*/ 1504156 w 1504156"/>
              <a:gd name="connsiteY9" fmla="*/ 16584 h 16583"/>
              <a:gd name="connsiteX10" fmla="*/ 1504156 w 1504156"/>
              <a:gd name="connsiteY10" fmla="*/ 0 h 16583"/>
              <a:gd name="connsiteX11" fmla="*/ 1353759 w 1504156"/>
              <a:gd name="connsiteY11" fmla="*/ 0 h 16583"/>
              <a:gd name="connsiteX12" fmla="*/ 1203301 w 1504156"/>
              <a:gd name="connsiteY12" fmla="*/ 0 h 16583"/>
              <a:gd name="connsiteX13" fmla="*/ 1052903 w 1504156"/>
              <a:gd name="connsiteY13" fmla="*/ 0 h 16583"/>
              <a:gd name="connsiteX14" fmla="*/ 902506 w 1504156"/>
              <a:gd name="connsiteY14" fmla="*/ 0 h 16583"/>
              <a:gd name="connsiteX15" fmla="*/ 752048 w 1504156"/>
              <a:gd name="connsiteY15" fmla="*/ 0 h 16583"/>
              <a:gd name="connsiteX16" fmla="*/ 601650 w 1504156"/>
              <a:gd name="connsiteY16" fmla="*/ 0 h 16583"/>
              <a:gd name="connsiteX17" fmla="*/ 451253 w 1504156"/>
              <a:gd name="connsiteY17" fmla="*/ 0 h 16583"/>
              <a:gd name="connsiteX18" fmla="*/ 300795 w 1504156"/>
              <a:gd name="connsiteY18" fmla="*/ 0 h 16583"/>
              <a:gd name="connsiteX19" fmla="*/ 150397 w 1504156"/>
              <a:gd name="connsiteY19" fmla="*/ 0 h 16583"/>
              <a:gd name="connsiteX20" fmla="*/ 0 w 1504156"/>
              <a:gd name="connsiteY20" fmla="*/ 0 h 16583"/>
              <a:gd name="connsiteX21" fmla="*/ 0 w 1504156"/>
              <a:gd name="connsiteY21" fmla="*/ 16584 h 16583"/>
              <a:gd name="connsiteX22" fmla="*/ 150397 w 1504156"/>
              <a:gd name="connsiteY22" fmla="*/ 16584 h 16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04156" h="16583">
                <a:moveTo>
                  <a:pt x="150397" y="16584"/>
                </a:moveTo>
                <a:lnTo>
                  <a:pt x="300795" y="16584"/>
                </a:lnTo>
                <a:lnTo>
                  <a:pt x="451253" y="16584"/>
                </a:lnTo>
                <a:lnTo>
                  <a:pt x="601650" y="16584"/>
                </a:lnTo>
                <a:lnTo>
                  <a:pt x="752048" y="16584"/>
                </a:lnTo>
                <a:lnTo>
                  <a:pt x="902506" y="16584"/>
                </a:lnTo>
                <a:lnTo>
                  <a:pt x="1052903" y="16584"/>
                </a:lnTo>
                <a:lnTo>
                  <a:pt x="1203301" y="16584"/>
                </a:lnTo>
                <a:lnTo>
                  <a:pt x="1353759" y="16584"/>
                </a:lnTo>
                <a:lnTo>
                  <a:pt x="1504156" y="16584"/>
                </a:lnTo>
                <a:lnTo>
                  <a:pt x="1504156" y="0"/>
                </a:lnTo>
                <a:lnTo>
                  <a:pt x="1353759" y="0"/>
                </a:lnTo>
                <a:lnTo>
                  <a:pt x="1203301" y="0"/>
                </a:lnTo>
                <a:lnTo>
                  <a:pt x="1052903" y="0"/>
                </a:lnTo>
                <a:lnTo>
                  <a:pt x="902506" y="0"/>
                </a:lnTo>
                <a:lnTo>
                  <a:pt x="752048" y="0"/>
                </a:lnTo>
                <a:lnTo>
                  <a:pt x="601650" y="0"/>
                </a:lnTo>
                <a:lnTo>
                  <a:pt x="451253" y="0"/>
                </a:lnTo>
                <a:lnTo>
                  <a:pt x="300795" y="0"/>
                </a:lnTo>
                <a:lnTo>
                  <a:pt x="150397" y="0"/>
                </a:lnTo>
                <a:lnTo>
                  <a:pt x="0" y="0"/>
                </a:lnTo>
                <a:lnTo>
                  <a:pt x="0" y="16584"/>
                </a:lnTo>
                <a:lnTo>
                  <a:pt x="150397" y="16584"/>
                </a:lnTo>
                <a:close/>
              </a:path>
            </a:pathLst>
          </a:custGeom>
          <a:solidFill>
            <a:schemeClr val="bg1"/>
          </a:solidFill>
          <a:ln w="5944" cap="flat">
            <a:solidFill>
              <a:schemeClr val="bg1"/>
            </a:solidFill>
            <a:prstDash val="solid"/>
            <a:miter/>
          </a:ln>
        </p:spPr>
        <p:txBody>
          <a:bodyPr rtlCol="0" anchor="ctr"/>
          <a:lstStyle/>
          <a:p>
            <a:endParaRPr lang="en-IN">
              <a:latin typeface="EY interstate"/>
            </a:endParaRPr>
          </a:p>
        </p:txBody>
      </p:sp>
      <p:sp>
        <p:nvSpPr>
          <p:cNvPr id="245" name="Freeform: Shape 244">
            <a:extLst>
              <a:ext uri="{FF2B5EF4-FFF2-40B4-BE49-F238E27FC236}">
                <a16:creationId xmlns:a16="http://schemas.microsoft.com/office/drawing/2014/main" id="{D3F4B13C-9949-AA1D-A840-561115254728}"/>
              </a:ext>
            </a:extLst>
          </p:cNvPr>
          <p:cNvSpPr/>
          <p:nvPr/>
        </p:nvSpPr>
        <p:spPr>
          <a:xfrm>
            <a:off x="11546389" y="4131005"/>
            <a:ext cx="75168" cy="16543"/>
          </a:xfrm>
          <a:custGeom>
            <a:avLst/>
            <a:gdLst>
              <a:gd name="connsiteX0" fmla="*/ 3428 w 75168"/>
              <a:gd name="connsiteY0" fmla="*/ 16636 h 16543"/>
              <a:gd name="connsiteX1" fmla="*/ 71343 w 75168"/>
              <a:gd name="connsiteY1" fmla="*/ 16636 h 16543"/>
              <a:gd name="connsiteX2" fmla="*/ 74969 w 75168"/>
              <a:gd name="connsiteY2" fmla="*/ 13514 h 16543"/>
              <a:gd name="connsiteX3" fmla="*/ 74969 w 75168"/>
              <a:gd name="connsiteY3" fmla="*/ 13497 h 16543"/>
              <a:gd name="connsiteX4" fmla="*/ 74969 w 75168"/>
              <a:gd name="connsiteY4" fmla="*/ 3251 h 16543"/>
              <a:gd name="connsiteX5" fmla="*/ 71343 w 75168"/>
              <a:gd name="connsiteY5" fmla="*/ 110 h 16543"/>
              <a:gd name="connsiteX6" fmla="*/ 71343 w 75168"/>
              <a:gd name="connsiteY6" fmla="*/ 112 h 16543"/>
              <a:gd name="connsiteX7" fmla="*/ 3428 w 75168"/>
              <a:gd name="connsiteY7" fmla="*/ 112 h 16543"/>
              <a:gd name="connsiteX8" fmla="*/ -199 w 75168"/>
              <a:gd name="connsiteY8" fmla="*/ 3234 h 16543"/>
              <a:gd name="connsiteX9" fmla="*/ -199 w 75168"/>
              <a:gd name="connsiteY9" fmla="*/ 3251 h 16543"/>
              <a:gd name="connsiteX10" fmla="*/ -199 w 75168"/>
              <a:gd name="connsiteY10" fmla="*/ 13615 h 16543"/>
              <a:gd name="connsiteX11" fmla="*/ 3428 w 75168"/>
              <a:gd name="connsiteY11" fmla="*/ 16636 h 1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68" h="16543">
                <a:moveTo>
                  <a:pt x="3428" y="16636"/>
                </a:moveTo>
                <a:lnTo>
                  <a:pt x="71343" y="16636"/>
                </a:lnTo>
                <a:cubicBezTo>
                  <a:pt x="73185" y="16771"/>
                  <a:pt x="74850" y="15373"/>
                  <a:pt x="74969" y="13514"/>
                </a:cubicBezTo>
                <a:cubicBezTo>
                  <a:pt x="74969" y="13508"/>
                  <a:pt x="74969" y="13502"/>
                  <a:pt x="74969" y="13497"/>
                </a:cubicBezTo>
                <a:lnTo>
                  <a:pt x="74969" y="3251"/>
                </a:lnTo>
                <a:cubicBezTo>
                  <a:pt x="74850" y="1390"/>
                  <a:pt x="73244" y="-16"/>
                  <a:pt x="71343" y="110"/>
                </a:cubicBezTo>
                <a:cubicBezTo>
                  <a:pt x="71343" y="111"/>
                  <a:pt x="71343" y="111"/>
                  <a:pt x="71343" y="112"/>
                </a:cubicBezTo>
                <a:lnTo>
                  <a:pt x="3428" y="112"/>
                </a:lnTo>
                <a:cubicBezTo>
                  <a:pt x="1585" y="-24"/>
                  <a:pt x="-80" y="1374"/>
                  <a:pt x="-199" y="3234"/>
                </a:cubicBezTo>
                <a:cubicBezTo>
                  <a:pt x="-199" y="3239"/>
                  <a:pt x="-199" y="3245"/>
                  <a:pt x="-199" y="3251"/>
                </a:cubicBezTo>
                <a:lnTo>
                  <a:pt x="-199" y="13615"/>
                </a:lnTo>
                <a:cubicBezTo>
                  <a:pt x="-21" y="15435"/>
                  <a:pt x="1585" y="16774"/>
                  <a:pt x="3428"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46" name="Freeform: Shape 245">
            <a:extLst>
              <a:ext uri="{FF2B5EF4-FFF2-40B4-BE49-F238E27FC236}">
                <a16:creationId xmlns:a16="http://schemas.microsoft.com/office/drawing/2014/main" id="{DD2F69CA-5D7A-C75F-46B6-1E4474C9F521}"/>
              </a:ext>
            </a:extLst>
          </p:cNvPr>
          <p:cNvSpPr/>
          <p:nvPr/>
        </p:nvSpPr>
        <p:spPr>
          <a:xfrm>
            <a:off x="11696787" y="4131005"/>
            <a:ext cx="75228" cy="16543"/>
          </a:xfrm>
          <a:custGeom>
            <a:avLst/>
            <a:gdLst>
              <a:gd name="connsiteX0" fmla="*/ 3428 w 75228"/>
              <a:gd name="connsiteY0" fmla="*/ 16636 h 16543"/>
              <a:gd name="connsiteX1" fmla="*/ 71401 w 75228"/>
              <a:gd name="connsiteY1" fmla="*/ 16636 h 16543"/>
              <a:gd name="connsiteX2" fmla="*/ 75029 w 75228"/>
              <a:gd name="connsiteY2" fmla="*/ 13514 h 16543"/>
              <a:gd name="connsiteX3" fmla="*/ 75029 w 75228"/>
              <a:gd name="connsiteY3" fmla="*/ 13497 h 16543"/>
              <a:gd name="connsiteX4" fmla="*/ 75029 w 75228"/>
              <a:gd name="connsiteY4" fmla="*/ 3251 h 16543"/>
              <a:gd name="connsiteX5" fmla="*/ 71401 w 75228"/>
              <a:gd name="connsiteY5" fmla="*/ 110 h 16543"/>
              <a:gd name="connsiteX6" fmla="*/ 71401 w 75228"/>
              <a:gd name="connsiteY6" fmla="*/ 112 h 16543"/>
              <a:gd name="connsiteX7" fmla="*/ 3428 w 75228"/>
              <a:gd name="connsiteY7" fmla="*/ 112 h 16543"/>
              <a:gd name="connsiteX8" fmla="*/ -199 w 75228"/>
              <a:gd name="connsiteY8" fmla="*/ 3234 h 16543"/>
              <a:gd name="connsiteX9" fmla="*/ -199 w 75228"/>
              <a:gd name="connsiteY9" fmla="*/ 3251 h 16543"/>
              <a:gd name="connsiteX10" fmla="*/ -199 w 75228"/>
              <a:gd name="connsiteY10" fmla="*/ 13615 h 16543"/>
              <a:gd name="connsiteX11" fmla="*/ 3428 w 75228"/>
              <a:gd name="connsiteY11" fmla="*/ 16636 h 1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228" h="16543">
                <a:moveTo>
                  <a:pt x="3428" y="16636"/>
                </a:moveTo>
                <a:lnTo>
                  <a:pt x="71401" y="16636"/>
                </a:lnTo>
                <a:cubicBezTo>
                  <a:pt x="73244" y="16771"/>
                  <a:pt x="74910" y="15373"/>
                  <a:pt x="75029" y="13514"/>
                </a:cubicBezTo>
                <a:cubicBezTo>
                  <a:pt x="75029" y="13508"/>
                  <a:pt x="75029" y="13502"/>
                  <a:pt x="75029" y="13497"/>
                </a:cubicBezTo>
                <a:lnTo>
                  <a:pt x="75029" y="3251"/>
                </a:lnTo>
                <a:cubicBezTo>
                  <a:pt x="74910" y="1390"/>
                  <a:pt x="73304" y="-16"/>
                  <a:pt x="71401" y="110"/>
                </a:cubicBezTo>
                <a:cubicBezTo>
                  <a:pt x="71401" y="111"/>
                  <a:pt x="71401" y="111"/>
                  <a:pt x="71401" y="112"/>
                </a:cubicBezTo>
                <a:lnTo>
                  <a:pt x="3428" y="112"/>
                </a:lnTo>
                <a:cubicBezTo>
                  <a:pt x="1584" y="-24"/>
                  <a:pt x="-82" y="1374"/>
                  <a:pt x="-199" y="3234"/>
                </a:cubicBezTo>
                <a:cubicBezTo>
                  <a:pt x="-199" y="3239"/>
                  <a:pt x="-199" y="3245"/>
                  <a:pt x="-199" y="3251"/>
                </a:cubicBezTo>
                <a:lnTo>
                  <a:pt x="-199" y="13615"/>
                </a:lnTo>
                <a:cubicBezTo>
                  <a:pt x="-22" y="15435"/>
                  <a:pt x="1584" y="16774"/>
                  <a:pt x="3428"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47" name="Freeform: Shape 246">
            <a:extLst>
              <a:ext uri="{FF2B5EF4-FFF2-40B4-BE49-F238E27FC236}">
                <a16:creationId xmlns:a16="http://schemas.microsoft.com/office/drawing/2014/main" id="{47F3730D-73C9-0924-7875-D23B3E8B5EE4}"/>
              </a:ext>
            </a:extLst>
          </p:cNvPr>
          <p:cNvSpPr/>
          <p:nvPr/>
        </p:nvSpPr>
        <p:spPr>
          <a:xfrm>
            <a:off x="11847243" y="4131005"/>
            <a:ext cx="75169" cy="16543"/>
          </a:xfrm>
          <a:custGeom>
            <a:avLst/>
            <a:gdLst>
              <a:gd name="connsiteX0" fmla="*/ 3370 w 75169"/>
              <a:gd name="connsiteY0" fmla="*/ 16636 h 16543"/>
              <a:gd name="connsiteX1" fmla="*/ 71343 w 75169"/>
              <a:gd name="connsiteY1" fmla="*/ 16636 h 16543"/>
              <a:gd name="connsiteX2" fmla="*/ 74971 w 75169"/>
              <a:gd name="connsiteY2" fmla="*/ 13514 h 16543"/>
              <a:gd name="connsiteX3" fmla="*/ 74971 w 75169"/>
              <a:gd name="connsiteY3" fmla="*/ 13497 h 16543"/>
              <a:gd name="connsiteX4" fmla="*/ 74971 w 75169"/>
              <a:gd name="connsiteY4" fmla="*/ 3251 h 16543"/>
              <a:gd name="connsiteX5" fmla="*/ 71343 w 75169"/>
              <a:gd name="connsiteY5" fmla="*/ 110 h 16543"/>
              <a:gd name="connsiteX6" fmla="*/ 71343 w 75169"/>
              <a:gd name="connsiteY6" fmla="*/ 112 h 16543"/>
              <a:gd name="connsiteX7" fmla="*/ 3370 w 75169"/>
              <a:gd name="connsiteY7" fmla="*/ 112 h 16543"/>
              <a:gd name="connsiteX8" fmla="*/ -199 w 75169"/>
              <a:gd name="connsiteY8" fmla="*/ 3178 h 16543"/>
              <a:gd name="connsiteX9" fmla="*/ -199 w 75169"/>
              <a:gd name="connsiteY9" fmla="*/ 3251 h 16543"/>
              <a:gd name="connsiteX10" fmla="*/ -199 w 75169"/>
              <a:gd name="connsiteY10" fmla="*/ 13615 h 16543"/>
              <a:gd name="connsiteX11" fmla="*/ 3370 w 75169"/>
              <a:gd name="connsiteY11" fmla="*/ 16636 h 1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69" h="16543">
                <a:moveTo>
                  <a:pt x="3370" y="16636"/>
                </a:moveTo>
                <a:lnTo>
                  <a:pt x="71343" y="16636"/>
                </a:lnTo>
                <a:cubicBezTo>
                  <a:pt x="73186" y="16771"/>
                  <a:pt x="74852" y="15373"/>
                  <a:pt x="74971" y="13514"/>
                </a:cubicBezTo>
                <a:cubicBezTo>
                  <a:pt x="74971" y="13508"/>
                  <a:pt x="74971" y="13502"/>
                  <a:pt x="74971" y="13497"/>
                </a:cubicBezTo>
                <a:lnTo>
                  <a:pt x="74971" y="3251"/>
                </a:lnTo>
                <a:cubicBezTo>
                  <a:pt x="74852" y="1390"/>
                  <a:pt x="73246" y="-16"/>
                  <a:pt x="71343" y="110"/>
                </a:cubicBezTo>
                <a:cubicBezTo>
                  <a:pt x="71343" y="111"/>
                  <a:pt x="71343" y="111"/>
                  <a:pt x="71343" y="112"/>
                </a:cubicBezTo>
                <a:lnTo>
                  <a:pt x="3370" y="112"/>
                </a:lnTo>
                <a:cubicBezTo>
                  <a:pt x="1526" y="-22"/>
                  <a:pt x="-80" y="1351"/>
                  <a:pt x="-199" y="3178"/>
                </a:cubicBezTo>
                <a:cubicBezTo>
                  <a:pt x="-199" y="3203"/>
                  <a:pt x="-199" y="3226"/>
                  <a:pt x="-199" y="3251"/>
                </a:cubicBezTo>
                <a:lnTo>
                  <a:pt x="-199" y="13615"/>
                </a:lnTo>
                <a:cubicBezTo>
                  <a:pt x="-21" y="15426"/>
                  <a:pt x="1526" y="16773"/>
                  <a:pt x="3370"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48" name="Freeform: Shape 247">
            <a:extLst>
              <a:ext uri="{FF2B5EF4-FFF2-40B4-BE49-F238E27FC236}">
                <a16:creationId xmlns:a16="http://schemas.microsoft.com/office/drawing/2014/main" id="{E72DC9BC-DDEA-F43B-125F-AF2928CE806D}"/>
              </a:ext>
            </a:extLst>
          </p:cNvPr>
          <p:cNvSpPr/>
          <p:nvPr/>
        </p:nvSpPr>
        <p:spPr>
          <a:xfrm>
            <a:off x="12148040" y="4131005"/>
            <a:ext cx="37584" cy="16543"/>
          </a:xfrm>
          <a:custGeom>
            <a:avLst/>
            <a:gdLst>
              <a:gd name="connsiteX0" fmla="*/ 3429 w 37584"/>
              <a:gd name="connsiteY0" fmla="*/ 16636 h 16543"/>
              <a:gd name="connsiteX1" fmla="*/ 37386 w 37584"/>
              <a:gd name="connsiteY1" fmla="*/ 16636 h 16543"/>
              <a:gd name="connsiteX2" fmla="*/ 37386 w 37584"/>
              <a:gd name="connsiteY2" fmla="*/ 111 h 16543"/>
              <a:gd name="connsiteX3" fmla="*/ 3429 w 37584"/>
              <a:gd name="connsiteY3" fmla="*/ 111 h 16543"/>
              <a:gd name="connsiteX4" fmla="*/ -199 w 37584"/>
              <a:gd name="connsiteY4" fmla="*/ 3234 h 16543"/>
              <a:gd name="connsiteX5" fmla="*/ -199 w 37584"/>
              <a:gd name="connsiteY5" fmla="*/ 3251 h 16543"/>
              <a:gd name="connsiteX6" fmla="*/ -199 w 37584"/>
              <a:gd name="connsiteY6" fmla="*/ 13615 h 16543"/>
              <a:gd name="connsiteX7" fmla="*/ 3429 w 37584"/>
              <a:gd name="connsiteY7" fmla="*/ 16636 h 1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84" h="16543">
                <a:moveTo>
                  <a:pt x="3429" y="16636"/>
                </a:moveTo>
                <a:lnTo>
                  <a:pt x="37386" y="16636"/>
                </a:lnTo>
                <a:lnTo>
                  <a:pt x="37386" y="111"/>
                </a:lnTo>
                <a:lnTo>
                  <a:pt x="3429" y="111"/>
                </a:lnTo>
                <a:cubicBezTo>
                  <a:pt x="1585" y="-24"/>
                  <a:pt x="-80" y="1374"/>
                  <a:pt x="-199" y="3234"/>
                </a:cubicBezTo>
                <a:cubicBezTo>
                  <a:pt x="-199" y="3239"/>
                  <a:pt x="-199" y="3245"/>
                  <a:pt x="-199" y="3251"/>
                </a:cubicBezTo>
                <a:lnTo>
                  <a:pt x="-199" y="13615"/>
                </a:lnTo>
                <a:cubicBezTo>
                  <a:pt x="-21" y="15435"/>
                  <a:pt x="1585" y="16774"/>
                  <a:pt x="3429"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49" name="Freeform: Shape 248">
            <a:extLst>
              <a:ext uri="{FF2B5EF4-FFF2-40B4-BE49-F238E27FC236}">
                <a16:creationId xmlns:a16="http://schemas.microsoft.com/office/drawing/2014/main" id="{C9296DD8-8403-2584-8970-E6C89B93B41A}"/>
              </a:ext>
            </a:extLst>
          </p:cNvPr>
          <p:cNvSpPr/>
          <p:nvPr/>
        </p:nvSpPr>
        <p:spPr>
          <a:xfrm>
            <a:off x="11997582" y="4131005"/>
            <a:ext cx="75229" cy="16542"/>
          </a:xfrm>
          <a:custGeom>
            <a:avLst/>
            <a:gdLst>
              <a:gd name="connsiteX0" fmla="*/ 3429 w 75229"/>
              <a:gd name="connsiteY0" fmla="*/ 16636 h 16542"/>
              <a:gd name="connsiteX1" fmla="*/ 71402 w 75229"/>
              <a:gd name="connsiteY1" fmla="*/ 16636 h 16542"/>
              <a:gd name="connsiteX2" fmla="*/ 75030 w 75229"/>
              <a:gd name="connsiteY2" fmla="*/ 13514 h 16542"/>
              <a:gd name="connsiteX3" fmla="*/ 75030 w 75229"/>
              <a:gd name="connsiteY3" fmla="*/ 13497 h 16542"/>
              <a:gd name="connsiteX4" fmla="*/ 75030 w 75229"/>
              <a:gd name="connsiteY4" fmla="*/ 3251 h 16542"/>
              <a:gd name="connsiteX5" fmla="*/ 71402 w 75229"/>
              <a:gd name="connsiteY5" fmla="*/ 110 h 16542"/>
              <a:gd name="connsiteX6" fmla="*/ 71402 w 75229"/>
              <a:gd name="connsiteY6" fmla="*/ 112 h 16542"/>
              <a:gd name="connsiteX7" fmla="*/ 3429 w 75229"/>
              <a:gd name="connsiteY7" fmla="*/ 112 h 16542"/>
              <a:gd name="connsiteX8" fmla="*/ -199 w 75229"/>
              <a:gd name="connsiteY8" fmla="*/ 3251 h 16542"/>
              <a:gd name="connsiteX9" fmla="*/ -199 w 75229"/>
              <a:gd name="connsiteY9" fmla="*/ 13615 h 16542"/>
              <a:gd name="connsiteX10" fmla="*/ 3429 w 75229"/>
              <a:gd name="connsiteY10" fmla="*/ 16636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29" h="16542">
                <a:moveTo>
                  <a:pt x="3429" y="16636"/>
                </a:moveTo>
                <a:lnTo>
                  <a:pt x="71402" y="16636"/>
                </a:lnTo>
                <a:cubicBezTo>
                  <a:pt x="73246" y="16771"/>
                  <a:pt x="74911" y="15373"/>
                  <a:pt x="75030" y="13514"/>
                </a:cubicBezTo>
                <a:cubicBezTo>
                  <a:pt x="75030" y="13508"/>
                  <a:pt x="75030" y="13502"/>
                  <a:pt x="75030" y="13497"/>
                </a:cubicBezTo>
                <a:lnTo>
                  <a:pt x="75030" y="3251"/>
                </a:lnTo>
                <a:cubicBezTo>
                  <a:pt x="74911" y="1390"/>
                  <a:pt x="73305" y="-16"/>
                  <a:pt x="71402" y="110"/>
                </a:cubicBezTo>
                <a:cubicBezTo>
                  <a:pt x="71402" y="111"/>
                  <a:pt x="71402" y="111"/>
                  <a:pt x="71402" y="112"/>
                </a:cubicBezTo>
                <a:lnTo>
                  <a:pt x="3429" y="112"/>
                </a:lnTo>
                <a:cubicBezTo>
                  <a:pt x="1585" y="8"/>
                  <a:pt x="-21" y="1399"/>
                  <a:pt x="-199" y="3251"/>
                </a:cubicBezTo>
                <a:lnTo>
                  <a:pt x="-199" y="13615"/>
                </a:lnTo>
                <a:cubicBezTo>
                  <a:pt x="39" y="15419"/>
                  <a:pt x="1585" y="16743"/>
                  <a:pt x="3429"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50" name="Freeform: Shape 249">
            <a:extLst>
              <a:ext uri="{FF2B5EF4-FFF2-40B4-BE49-F238E27FC236}">
                <a16:creationId xmlns:a16="http://schemas.microsoft.com/office/drawing/2014/main" id="{827C94CE-F2DB-AB02-861A-A57867C9D14A}"/>
              </a:ext>
            </a:extLst>
          </p:cNvPr>
          <p:cNvSpPr/>
          <p:nvPr/>
        </p:nvSpPr>
        <p:spPr>
          <a:xfrm>
            <a:off x="10681468" y="4131005"/>
            <a:ext cx="37643" cy="16542"/>
          </a:xfrm>
          <a:custGeom>
            <a:avLst/>
            <a:gdLst>
              <a:gd name="connsiteX0" fmla="*/ 33817 w 37643"/>
              <a:gd name="connsiteY0" fmla="*/ 16636 h 16542"/>
              <a:gd name="connsiteX1" fmla="*/ 37445 w 37643"/>
              <a:gd name="connsiteY1" fmla="*/ 13514 h 16542"/>
              <a:gd name="connsiteX2" fmla="*/ 37445 w 37643"/>
              <a:gd name="connsiteY2" fmla="*/ 13497 h 16542"/>
              <a:gd name="connsiteX3" fmla="*/ 37445 w 37643"/>
              <a:gd name="connsiteY3" fmla="*/ 3251 h 16542"/>
              <a:gd name="connsiteX4" fmla="*/ 33817 w 37643"/>
              <a:gd name="connsiteY4" fmla="*/ 110 h 16542"/>
              <a:gd name="connsiteX5" fmla="*/ 33817 w 37643"/>
              <a:gd name="connsiteY5" fmla="*/ 112 h 16542"/>
              <a:gd name="connsiteX6" fmla="*/ -199 w 37643"/>
              <a:gd name="connsiteY6" fmla="*/ 112 h 16542"/>
              <a:gd name="connsiteX7" fmla="*/ -199 w 37643"/>
              <a:gd name="connsiteY7" fmla="*/ 16636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43" h="16542">
                <a:moveTo>
                  <a:pt x="33817" y="16636"/>
                </a:moveTo>
                <a:cubicBezTo>
                  <a:pt x="35661" y="16771"/>
                  <a:pt x="37326" y="15373"/>
                  <a:pt x="37445" y="13514"/>
                </a:cubicBezTo>
                <a:cubicBezTo>
                  <a:pt x="37445" y="13508"/>
                  <a:pt x="37445" y="13502"/>
                  <a:pt x="37445" y="13497"/>
                </a:cubicBezTo>
                <a:lnTo>
                  <a:pt x="37445" y="3251"/>
                </a:lnTo>
                <a:cubicBezTo>
                  <a:pt x="37326" y="1390"/>
                  <a:pt x="35720" y="-16"/>
                  <a:pt x="33817" y="110"/>
                </a:cubicBezTo>
                <a:cubicBezTo>
                  <a:pt x="33817" y="111"/>
                  <a:pt x="33817" y="111"/>
                  <a:pt x="33817" y="112"/>
                </a:cubicBezTo>
                <a:lnTo>
                  <a:pt x="-199" y="112"/>
                </a:lnTo>
                <a:lnTo>
                  <a:pt x="-199" y="16636"/>
                </a:ln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51" name="Freeform: Shape 250">
            <a:extLst>
              <a:ext uri="{FF2B5EF4-FFF2-40B4-BE49-F238E27FC236}">
                <a16:creationId xmlns:a16="http://schemas.microsoft.com/office/drawing/2014/main" id="{E5C84B45-BE75-D3C0-5F7A-4730B139E4FA}"/>
              </a:ext>
            </a:extLst>
          </p:cNvPr>
          <p:cNvSpPr/>
          <p:nvPr/>
        </p:nvSpPr>
        <p:spPr>
          <a:xfrm>
            <a:off x="10794340" y="4131005"/>
            <a:ext cx="75169" cy="16542"/>
          </a:xfrm>
          <a:custGeom>
            <a:avLst/>
            <a:gdLst>
              <a:gd name="connsiteX0" fmla="*/ 3369 w 75169"/>
              <a:gd name="connsiteY0" fmla="*/ 16636 h 16542"/>
              <a:gd name="connsiteX1" fmla="*/ 71343 w 75169"/>
              <a:gd name="connsiteY1" fmla="*/ 16636 h 16542"/>
              <a:gd name="connsiteX2" fmla="*/ 74970 w 75169"/>
              <a:gd name="connsiteY2" fmla="*/ 13514 h 16542"/>
              <a:gd name="connsiteX3" fmla="*/ 74970 w 75169"/>
              <a:gd name="connsiteY3" fmla="*/ 13497 h 16542"/>
              <a:gd name="connsiteX4" fmla="*/ 74970 w 75169"/>
              <a:gd name="connsiteY4" fmla="*/ 3251 h 16542"/>
              <a:gd name="connsiteX5" fmla="*/ 71343 w 75169"/>
              <a:gd name="connsiteY5" fmla="*/ 110 h 16542"/>
              <a:gd name="connsiteX6" fmla="*/ 71343 w 75169"/>
              <a:gd name="connsiteY6" fmla="*/ 112 h 16542"/>
              <a:gd name="connsiteX7" fmla="*/ 3369 w 75169"/>
              <a:gd name="connsiteY7" fmla="*/ 112 h 16542"/>
              <a:gd name="connsiteX8" fmla="*/ -199 w 75169"/>
              <a:gd name="connsiteY8" fmla="*/ 3251 h 16542"/>
              <a:gd name="connsiteX9" fmla="*/ -199 w 75169"/>
              <a:gd name="connsiteY9" fmla="*/ 13615 h 16542"/>
              <a:gd name="connsiteX10" fmla="*/ 3369 w 75169"/>
              <a:gd name="connsiteY10" fmla="*/ 16636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169" h="16542">
                <a:moveTo>
                  <a:pt x="3369" y="16636"/>
                </a:moveTo>
                <a:lnTo>
                  <a:pt x="71343" y="16636"/>
                </a:lnTo>
                <a:cubicBezTo>
                  <a:pt x="73186" y="16771"/>
                  <a:pt x="74851" y="15373"/>
                  <a:pt x="74970" y="13514"/>
                </a:cubicBezTo>
                <a:cubicBezTo>
                  <a:pt x="74970" y="13508"/>
                  <a:pt x="74970" y="13502"/>
                  <a:pt x="74970" y="13497"/>
                </a:cubicBezTo>
                <a:lnTo>
                  <a:pt x="74970" y="3251"/>
                </a:lnTo>
                <a:cubicBezTo>
                  <a:pt x="74851" y="1390"/>
                  <a:pt x="73245" y="-16"/>
                  <a:pt x="71343" y="110"/>
                </a:cubicBezTo>
                <a:cubicBezTo>
                  <a:pt x="71343" y="111"/>
                  <a:pt x="71343" y="111"/>
                  <a:pt x="71343" y="112"/>
                </a:cubicBezTo>
                <a:lnTo>
                  <a:pt x="3369" y="112"/>
                </a:lnTo>
                <a:cubicBezTo>
                  <a:pt x="1526" y="10"/>
                  <a:pt x="-80" y="1409"/>
                  <a:pt x="-199" y="3251"/>
                </a:cubicBezTo>
                <a:lnTo>
                  <a:pt x="-199" y="13615"/>
                </a:lnTo>
                <a:cubicBezTo>
                  <a:pt x="-21" y="15410"/>
                  <a:pt x="1585" y="16741"/>
                  <a:pt x="3369"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52" name="Freeform: Shape 251">
            <a:extLst>
              <a:ext uri="{FF2B5EF4-FFF2-40B4-BE49-F238E27FC236}">
                <a16:creationId xmlns:a16="http://schemas.microsoft.com/office/drawing/2014/main" id="{B0749277-458D-ECEF-68E8-61D463A3C30D}"/>
              </a:ext>
            </a:extLst>
          </p:cNvPr>
          <p:cNvSpPr/>
          <p:nvPr/>
        </p:nvSpPr>
        <p:spPr>
          <a:xfrm>
            <a:off x="10944738" y="4131005"/>
            <a:ext cx="75169" cy="16542"/>
          </a:xfrm>
          <a:custGeom>
            <a:avLst/>
            <a:gdLst>
              <a:gd name="connsiteX0" fmla="*/ 3369 w 75169"/>
              <a:gd name="connsiteY0" fmla="*/ 16636 h 16542"/>
              <a:gd name="connsiteX1" fmla="*/ 71342 w 75169"/>
              <a:gd name="connsiteY1" fmla="*/ 16636 h 16542"/>
              <a:gd name="connsiteX2" fmla="*/ 74970 w 75169"/>
              <a:gd name="connsiteY2" fmla="*/ 13514 h 16542"/>
              <a:gd name="connsiteX3" fmla="*/ 74970 w 75169"/>
              <a:gd name="connsiteY3" fmla="*/ 13497 h 16542"/>
              <a:gd name="connsiteX4" fmla="*/ 74970 w 75169"/>
              <a:gd name="connsiteY4" fmla="*/ 3251 h 16542"/>
              <a:gd name="connsiteX5" fmla="*/ 71342 w 75169"/>
              <a:gd name="connsiteY5" fmla="*/ 110 h 16542"/>
              <a:gd name="connsiteX6" fmla="*/ 71342 w 75169"/>
              <a:gd name="connsiteY6" fmla="*/ 112 h 16542"/>
              <a:gd name="connsiteX7" fmla="*/ 3369 w 75169"/>
              <a:gd name="connsiteY7" fmla="*/ 112 h 16542"/>
              <a:gd name="connsiteX8" fmla="*/ -199 w 75169"/>
              <a:gd name="connsiteY8" fmla="*/ 3251 h 16542"/>
              <a:gd name="connsiteX9" fmla="*/ -199 w 75169"/>
              <a:gd name="connsiteY9" fmla="*/ 13615 h 16542"/>
              <a:gd name="connsiteX10" fmla="*/ 3369 w 75169"/>
              <a:gd name="connsiteY10" fmla="*/ 16636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169" h="16542">
                <a:moveTo>
                  <a:pt x="3369" y="16636"/>
                </a:moveTo>
                <a:lnTo>
                  <a:pt x="71342" y="16636"/>
                </a:lnTo>
                <a:cubicBezTo>
                  <a:pt x="73186" y="16771"/>
                  <a:pt x="74851" y="15373"/>
                  <a:pt x="74970" y="13514"/>
                </a:cubicBezTo>
                <a:cubicBezTo>
                  <a:pt x="74970" y="13508"/>
                  <a:pt x="74970" y="13502"/>
                  <a:pt x="74970" y="13497"/>
                </a:cubicBezTo>
                <a:lnTo>
                  <a:pt x="74970" y="3251"/>
                </a:lnTo>
                <a:cubicBezTo>
                  <a:pt x="74851" y="1390"/>
                  <a:pt x="73245" y="-16"/>
                  <a:pt x="71342" y="110"/>
                </a:cubicBezTo>
                <a:cubicBezTo>
                  <a:pt x="71342" y="111"/>
                  <a:pt x="71342" y="111"/>
                  <a:pt x="71342" y="112"/>
                </a:cubicBezTo>
                <a:lnTo>
                  <a:pt x="3369" y="112"/>
                </a:lnTo>
                <a:cubicBezTo>
                  <a:pt x="1525" y="10"/>
                  <a:pt x="-80" y="1409"/>
                  <a:pt x="-199" y="3251"/>
                </a:cubicBezTo>
                <a:lnTo>
                  <a:pt x="-199" y="13615"/>
                </a:lnTo>
                <a:cubicBezTo>
                  <a:pt x="-21" y="15410"/>
                  <a:pt x="1584" y="16741"/>
                  <a:pt x="3369"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53" name="Freeform: Shape 252">
            <a:extLst>
              <a:ext uri="{FF2B5EF4-FFF2-40B4-BE49-F238E27FC236}">
                <a16:creationId xmlns:a16="http://schemas.microsoft.com/office/drawing/2014/main" id="{F4B7558E-BC22-D323-E8B0-7C5BCAB2A35B}"/>
              </a:ext>
            </a:extLst>
          </p:cNvPr>
          <p:cNvSpPr/>
          <p:nvPr/>
        </p:nvSpPr>
        <p:spPr>
          <a:xfrm>
            <a:off x="11095136" y="4131005"/>
            <a:ext cx="75229" cy="16543"/>
          </a:xfrm>
          <a:custGeom>
            <a:avLst/>
            <a:gdLst>
              <a:gd name="connsiteX0" fmla="*/ 3429 w 75229"/>
              <a:gd name="connsiteY0" fmla="*/ 16636 h 16543"/>
              <a:gd name="connsiteX1" fmla="*/ 71402 w 75229"/>
              <a:gd name="connsiteY1" fmla="*/ 16636 h 16543"/>
              <a:gd name="connsiteX2" fmla="*/ 75030 w 75229"/>
              <a:gd name="connsiteY2" fmla="*/ 13497 h 16543"/>
              <a:gd name="connsiteX3" fmla="*/ 75030 w 75229"/>
              <a:gd name="connsiteY3" fmla="*/ 3251 h 16543"/>
              <a:gd name="connsiteX4" fmla="*/ 71402 w 75229"/>
              <a:gd name="connsiteY4" fmla="*/ 111 h 16543"/>
              <a:gd name="connsiteX5" fmla="*/ 3429 w 75229"/>
              <a:gd name="connsiteY5" fmla="*/ 111 h 16543"/>
              <a:gd name="connsiteX6" fmla="*/ -199 w 75229"/>
              <a:gd name="connsiteY6" fmla="*/ 3234 h 16543"/>
              <a:gd name="connsiteX7" fmla="*/ -199 w 75229"/>
              <a:gd name="connsiteY7" fmla="*/ 3251 h 16543"/>
              <a:gd name="connsiteX8" fmla="*/ -199 w 75229"/>
              <a:gd name="connsiteY8" fmla="*/ 13615 h 16543"/>
              <a:gd name="connsiteX9" fmla="*/ 3429 w 75229"/>
              <a:gd name="connsiteY9" fmla="*/ 16636 h 1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9" h="16543">
                <a:moveTo>
                  <a:pt x="3429" y="16636"/>
                </a:moveTo>
                <a:lnTo>
                  <a:pt x="71402" y="16636"/>
                </a:lnTo>
                <a:cubicBezTo>
                  <a:pt x="73246" y="16739"/>
                  <a:pt x="74852" y="15348"/>
                  <a:pt x="75030" y="13497"/>
                </a:cubicBezTo>
                <a:lnTo>
                  <a:pt x="75030" y="3251"/>
                </a:lnTo>
                <a:cubicBezTo>
                  <a:pt x="74852" y="1399"/>
                  <a:pt x="73246" y="8"/>
                  <a:pt x="71402" y="111"/>
                </a:cubicBezTo>
                <a:lnTo>
                  <a:pt x="3429" y="111"/>
                </a:lnTo>
                <a:cubicBezTo>
                  <a:pt x="1585" y="-24"/>
                  <a:pt x="-80" y="1374"/>
                  <a:pt x="-199" y="3234"/>
                </a:cubicBezTo>
                <a:cubicBezTo>
                  <a:pt x="-199" y="3239"/>
                  <a:pt x="-199" y="3245"/>
                  <a:pt x="-199" y="3251"/>
                </a:cubicBezTo>
                <a:lnTo>
                  <a:pt x="-199" y="13615"/>
                </a:lnTo>
                <a:cubicBezTo>
                  <a:pt x="-21" y="15435"/>
                  <a:pt x="1585" y="16774"/>
                  <a:pt x="3429"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54" name="Freeform: Shape 253">
            <a:extLst>
              <a:ext uri="{FF2B5EF4-FFF2-40B4-BE49-F238E27FC236}">
                <a16:creationId xmlns:a16="http://schemas.microsoft.com/office/drawing/2014/main" id="{BB7CFD2C-2AD2-015D-EC1D-71E0C868A822}"/>
              </a:ext>
            </a:extLst>
          </p:cNvPr>
          <p:cNvSpPr/>
          <p:nvPr/>
        </p:nvSpPr>
        <p:spPr>
          <a:xfrm>
            <a:off x="11395932" y="4131005"/>
            <a:ext cx="75228" cy="16542"/>
          </a:xfrm>
          <a:custGeom>
            <a:avLst/>
            <a:gdLst>
              <a:gd name="connsiteX0" fmla="*/ 3428 w 75228"/>
              <a:gd name="connsiteY0" fmla="*/ 16636 h 16542"/>
              <a:gd name="connsiteX1" fmla="*/ 71402 w 75228"/>
              <a:gd name="connsiteY1" fmla="*/ 16636 h 16542"/>
              <a:gd name="connsiteX2" fmla="*/ 75029 w 75228"/>
              <a:gd name="connsiteY2" fmla="*/ 13514 h 16542"/>
              <a:gd name="connsiteX3" fmla="*/ 75029 w 75228"/>
              <a:gd name="connsiteY3" fmla="*/ 13497 h 16542"/>
              <a:gd name="connsiteX4" fmla="*/ 75029 w 75228"/>
              <a:gd name="connsiteY4" fmla="*/ 3251 h 16542"/>
              <a:gd name="connsiteX5" fmla="*/ 71402 w 75228"/>
              <a:gd name="connsiteY5" fmla="*/ 110 h 16542"/>
              <a:gd name="connsiteX6" fmla="*/ 71402 w 75228"/>
              <a:gd name="connsiteY6" fmla="*/ 112 h 16542"/>
              <a:gd name="connsiteX7" fmla="*/ 3428 w 75228"/>
              <a:gd name="connsiteY7" fmla="*/ 112 h 16542"/>
              <a:gd name="connsiteX8" fmla="*/ -199 w 75228"/>
              <a:gd name="connsiteY8" fmla="*/ 3251 h 16542"/>
              <a:gd name="connsiteX9" fmla="*/ -199 w 75228"/>
              <a:gd name="connsiteY9" fmla="*/ 13615 h 16542"/>
              <a:gd name="connsiteX10" fmla="*/ 3428 w 75228"/>
              <a:gd name="connsiteY10" fmla="*/ 16636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28" h="16542">
                <a:moveTo>
                  <a:pt x="3428" y="16636"/>
                </a:moveTo>
                <a:lnTo>
                  <a:pt x="71402" y="16636"/>
                </a:lnTo>
                <a:cubicBezTo>
                  <a:pt x="73246" y="16771"/>
                  <a:pt x="74910" y="15373"/>
                  <a:pt x="75029" y="13514"/>
                </a:cubicBezTo>
                <a:cubicBezTo>
                  <a:pt x="75029" y="13508"/>
                  <a:pt x="75029" y="13502"/>
                  <a:pt x="75029" y="13497"/>
                </a:cubicBezTo>
                <a:lnTo>
                  <a:pt x="75029" y="3251"/>
                </a:lnTo>
                <a:cubicBezTo>
                  <a:pt x="74910" y="1390"/>
                  <a:pt x="73304" y="-16"/>
                  <a:pt x="71402" y="110"/>
                </a:cubicBezTo>
                <a:cubicBezTo>
                  <a:pt x="71402" y="111"/>
                  <a:pt x="71402" y="111"/>
                  <a:pt x="71402" y="112"/>
                </a:cubicBezTo>
                <a:lnTo>
                  <a:pt x="3428" y="112"/>
                </a:lnTo>
                <a:cubicBezTo>
                  <a:pt x="1585" y="8"/>
                  <a:pt x="-21" y="1399"/>
                  <a:pt x="-199" y="3251"/>
                </a:cubicBezTo>
                <a:lnTo>
                  <a:pt x="-199" y="13615"/>
                </a:lnTo>
                <a:cubicBezTo>
                  <a:pt x="39" y="15419"/>
                  <a:pt x="1585" y="16743"/>
                  <a:pt x="3428"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255" name="Freeform: Shape 254">
            <a:extLst>
              <a:ext uri="{FF2B5EF4-FFF2-40B4-BE49-F238E27FC236}">
                <a16:creationId xmlns:a16="http://schemas.microsoft.com/office/drawing/2014/main" id="{34198B2D-2C62-6C84-43F0-E13B75D7AAF4}"/>
              </a:ext>
            </a:extLst>
          </p:cNvPr>
          <p:cNvSpPr/>
          <p:nvPr/>
        </p:nvSpPr>
        <p:spPr>
          <a:xfrm>
            <a:off x="11245534" y="4131005"/>
            <a:ext cx="75228" cy="16542"/>
          </a:xfrm>
          <a:custGeom>
            <a:avLst/>
            <a:gdLst>
              <a:gd name="connsiteX0" fmla="*/ 3429 w 75228"/>
              <a:gd name="connsiteY0" fmla="*/ 16636 h 16542"/>
              <a:gd name="connsiteX1" fmla="*/ 71402 w 75228"/>
              <a:gd name="connsiteY1" fmla="*/ 16636 h 16542"/>
              <a:gd name="connsiteX2" fmla="*/ 75029 w 75228"/>
              <a:gd name="connsiteY2" fmla="*/ 13514 h 16542"/>
              <a:gd name="connsiteX3" fmla="*/ 75029 w 75228"/>
              <a:gd name="connsiteY3" fmla="*/ 13497 h 16542"/>
              <a:gd name="connsiteX4" fmla="*/ 75029 w 75228"/>
              <a:gd name="connsiteY4" fmla="*/ 3251 h 16542"/>
              <a:gd name="connsiteX5" fmla="*/ 71402 w 75228"/>
              <a:gd name="connsiteY5" fmla="*/ 110 h 16542"/>
              <a:gd name="connsiteX6" fmla="*/ 71402 w 75228"/>
              <a:gd name="connsiteY6" fmla="*/ 112 h 16542"/>
              <a:gd name="connsiteX7" fmla="*/ 3429 w 75228"/>
              <a:gd name="connsiteY7" fmla="*/ 112 h 16542"/>
              <a:gd name="connsiteX8" fmla="*/ -199 w 75228"/>
              <a:gd name="connsiteY8" fmla="*/ 3251 h 16542"/>
              <a:gd name="connsiteX9" fmla="*/ -199 w 75228"/>
              <a:gd name="connsiteY9" fmla="*/ 13615 h 16542"/>
              <a:gd name="connsiteX10" fmla="*/ 3429 w 75228"/>
              <a:gd name="connsiteY10" fmla="*/ 16636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28" h="16542">
                <a:moveTo>
                  <a:pt x="3429" y="16636"/>
                </a:moveTo>
                <a:lnTo>
                  <a:pt x="71402" y="16636"/>
                </a:lnTo>
                <a:cubicBezTo>
                  <a:pt x="73246" y="16771"/>
                  <a:pt x="74911" y="15373"/>
                  <a:pt x="75029" y="13514"/>
                </a:cubicBezTo>
                <a:cubicBezTo>
                  <a:pt x="75029" y="13508"/>
                  <a:pt x="75029" y="13502"/>
                  <a:pt x="75029" y="13497"/>
                </a:cubicBezTo>
                <a:lnTo>
                  <a:pt x="75029" y="3251"/>
                </a:lnTo>
                <a:cubicBezTo>
                  <a:pt x="74911" y="1390"/>
                  <a:pt x="73305" y="-16"/>
                  <a:pt x="71402" y="110"/>
                </a:cubicBezTo>
                <a:cubicBezTo>
                  <a:pt x="71402" y="111"/>
                  <a:pt x="71402" y="111"/>
                  <a:pt x="71402" y="112"/>
                </a:cubicBezTo>
                <a:lnTo>
                  <a:pt x="3429" y="112"/>
                </a:lnTo>
                <a:cubicBezTo>
                  <a:pt x="1585" y="8"/>
                  <a:pt x="-21" y="1399"/>
                  <a:pt x="-199" y="3251"/>
                </a:cubicBezTo>
                <a:lnTo>
                  <a:pt x="-199" y="13615"/>
                </a:lnTo>
                <a:cubicBezTo>
                  <a:pt x="39" y="15419"/>
                  <a:pt x="1585" y="16743"/>
                  <a:pt x="3429" y="16636"/>
                </a:cubicBezTo>
                <a:close/>
              </a:path>
            </a:pathLst>
          </a:custGeom>
          <a:solidFill>
            <a:srgbClr val="FFD400"/>
          </a:solidFill>
          <a:ln w="5944" cap="flat">
            <a:noFill/>
            <a:prstDash val="solid"/>
            <a:miter/>
          </a:ln>
        </p:spPr>
        <p:txBody>
          <a:bodyPr rtlCol="0" anchor="ctr"/>
          <a:lstStyle/>
          <a:p>
            <a:endParaRPr lang="en-IN">
              <a:latin typeface="EY interstate"/>
            </a:endParaRPr>
          </a:p>
        </p:txBody>
      </p:sp>
      <p:sp>
        <p:nvSpPr>
          <p:cNvPr id="74" name="Rectangular Callout 14">
            <a:extLst>
              <a:ext uri="{FF2B5EF4-FFF2-40B4-BE49-F238E27FC236}">
                <a16:creationId xmlns:a16="http://schemas.microsoft.com/office/drawing/2014/main" id="{EEE7621B-8581-889B-0386-AFF9B7BA1F62}"/>
              </a:ext>
            </a:extLst>
          </p:cNvPr>
          <p:cNvSpPr/>
          <p:nvPr/>
        </p:nvSpPr>
        <p:spPr>
          <a:xfrm>
            <a:off x="55835" y="1044349"/>
            <a:ext cx="2597667" cy="2008145"/>
          </a:xfrm>
          <a:prstGeom prst="rect">
            <a:avLst/>
          </a:prstGeom>
          <a:noFill/>
          <a:ln w="12700" cap="flat" cmpd="sng" algn="ctr">
            <a:solidFill>
              <a:schemeClr val="bg1"/>
            </a:solidFill>
            <a:prstDash val="solid"/>
          </a:ln>
          <a:effectLst/>
        </p:spPr>
        <p:txBody>
          <a:bodyPr wrap="square" lIns="27404" tIns="91392" rIns="27404" bIns="91392" rtlCol="0" anchor="ctr">
            <a:spAutoFit/>
          </a:bodyPr>
          <a:lstStyle/>
          <a:p>
            <a:pPr algn="ctr" defTabSz="913029">
              <a:spcAft>
                <a:spcPts val="300"/>
              </a:spcAft>
              <a:defRPr/>
            </a:pPr>
            <a:r>
              <a:rPr lang="en-US" sz="1100" b="1" kern="0">
                <a:solidFill>
                  <a:schemeClr val="bg1"/>
                </a:solidFill>
                <a:latin typeface="EY interstate"/>
              </a:rPr>
              <a:t>Pre-close validations</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Close all transactions</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Confirm cut-off timelines &amp; communicate</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Completeness and accuracy validation</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Reconcile and confirm </a:t>
            </a:r>
            <a:r>
              <a:rPr lang="en-US" sz="900" kern="0" err="1">
                <a:solidFill>
                  <a:schemeClr val="bg1"/>
                </a:solidFill>
                <a:latin typeface="EY interstate"/>
              </a:rPr>
              <a:t>interco</a:t>
            </a:r>
            <a:r>
              <a:rPr lang="en-US" sz="900" kern="0">
                <a:solidFill>
                  <a:schemeClr val="bg1"/>
                </a:solidFill>
                <a:latin typeface="EY interstate"/>
              </a:rPr>
              <a:t> balances and posting</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Review and clear open suspense a/c</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Check Assets add, disposal and depreciations settings</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Validate exchange rates for revaluation and translation</a:t>
            </a:r>
          </a:p>
        </p:txBody>
      </p:sp>
      <p:grpSp>
        <p:nvGrpSpPr>
          <p:cNvPr id="75" name="Group 74">
            <a:extLst>
              <a:ext uri="{FF2B5EF4-FFF2-40B4-BE49-F238E27FC236}">
                <a16:creationId xmlns:a16="http://schemas.microsoft.com/office/drawing/2014/main" id="{EFB0EA92-934A-6161-3A18-DCF11A557D78}"/>
              </a:ext>
            </a:extLst>
          </p:cNvPr>
          <p:cNvGrpSpPr/>
          <p:nvPr/>
        </p:nvGrpSpPr>
        <p:grpSpPr>
          <a:xfrm>
            <a:off x="259030" y="3377017"/>
            <a:ext cx="238941" cy="238941"/>
            <a:chOff x="741223" y="3981869"/>
            <a:chExt cx="239190" cy="239190"/>
          </a:xfrm>
        </p:grpSpPr>
        <p:sp>
          <p:nvSpPr>
            <p:cNvPr id="76" name="Oval 75">
              <a:extLst>
                <a:ext uri="{FF2B5EF4-FFF2-40B4-BE49-F238E27FC236}">
                  <a16:creationId xmlns:a16="http://schemas.microsoft.com/office/drawing/2014/main" id="{24FBB4AE-06A1-6DE4-FB11-C0D94493E621}"/>
                </a:ext>
              </a:extLst>
            </p:cNvPr>
            <p:cNvSpPr/>
            <p:nvPr/>
          </p:nvSpPr>
          <p:spPr>
            <a:xfrm>
              <a:off x="741223" y="3981869"/>
              <a:ext cx="239190" cy="239190"/>
            </a:xfrm>
            <a:prstGeom prst="ellipse">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defRPr/>
              </a:pPr>
              <a:endParaRPr lang="en-US" sz="1198">
                <a:solidFill>
                  <a:schemeClr val="bg1"/>
                </a:solidFill>
                <a:latin typeface="EY interstate"/>
              </a:endParaRPr>
            </a:p>
          </p:txBody>
        </p:sp>
        <p:sp>
          <p:nvSpPr>
            <p:cNvPr id="77" name="Freeform 55">
              <a:extLst>
                <a:ext uri="{FF2B5EF4-FFF2-40B4-BE49-F238E27FC236}">
                  <a16:creationId xmlns:a16="http://schemas.microsoft.com/office/drawing/2014/main" id="{D7BC0940-5C24-A176-0CF2-D200A68CEC42}"/>
                </a:ext>
              </a:extLst>
            </p:cNvPr>
            <p:cNvSpPr/>
            <p:nvPr/>
          </p:nvSpPr>
          <p:spPr>
            <a:xfrm rot="1204644">
              <a:off x="822452" y="4017086"/>
              <a:ext cx="76732" cy="168757"/>
            </a:xfrm>
            <a:custGeom>
              <a:avLst/>
              <a:gdLst>
                <a:gd name="connsiteX0" fmla="*/ 35718 w 192881"/>
                <a:gd name="connsiteY0" fmla="*/ 26194 h 316706"/>
                <a:gd name="connsiteX1" fmla="*/ 164306 w 192881"/>
                <a:gd name="connsiteY1" fmla="*/ 0 h 316706"/>
                <a:gd name="connsiteX2" fmla="*/ 121443 w 192881"/>
                <a:gd name="connsiteY2" fmla="*/ 169069 h 316706"/>
                <a:gd name="connsiteX3" fmla="*/ 192881 w 192881"/>
                <a:gd name="connsiteY3" fmla="*/ 145256 h 316706"/>
                <a:gd name="connsiteX4" fmla="*/ 104775 w 192881"/>
                <a:gd name="connsiteY4" fmla="*/ 316706 h 316706"/>
                <a:gd name="connsiteX5" fmla="*/ 114300 w 192881"/>
                <a:gd name="connsiteY5" fmla="*/ 219075 h 316706"/>
                <a:gd name="connsiteX6" fmla="*/ 0 w 192881"/>
                <a:gd name="connsiteY6" fmla="*/ 226219 h 316706"/>
                <a:gd name="connsiteX7" fmla="*/ 35718 w 192881"/>
                <a:gd name="connsiteY7" fmla="*/ 26194 h 316706"/>
                <a:gd name="connsiteX0" fmla="*/ 76199 w 192881"/>
                <a:gd name="connsiteY0" fmla="*/ 23813 h 316706"/>
                <a:gd name="connsiteX1" fmla="*/ 164306 w 192881"/>
                <a:gd name="connsiteY1" fmla="*/ 0 h 316706"/>
                <a:gd name="connsiteX2" fmla="*/ 121443 w 192881"/>
                <a:gd name="connsiteY2" fmla="*/ 169069 h 316706"/>
                <a:gd name="connsiteX3" fmla="*/ 192881 w 192881"/>
                <a:gd name="connsiteY3" fmla="*/ 145256 h 316706"/>
                <a:gd name="connsiteX4" fmla="*/ 104775 w 192881"/>
                <a:gd name="connsiteY4" fmla="*/ 316706 h 316706"/>
                <a:gd name="connsiteX5" fmla="*/ 114300 w 192881"/>
                <a:gd name="connsiteY5" fmla="*/ 219075 h 316706"/>
                <a:gd name="connsiteX6" fmla="*/ 0 w 192881"/>
                <a:gd name="connsiteY6" fmla="*/ 226219 h 316706"/>
                <a:gd name="connsiteX7" fmla="*/ 76199 w 192881"/>
                <a:gd name="connsiteY7" fmla="*/ 23813 h 316706"/>
                <a:gd name="connsiteX0" fmla="*/ 30955 w 147637"/>
                <a:gd name="connsiteY0" fmla="*/ 23813 h 316706"/>
                <a:gd name="connsiteX1" fmla="*/ 119062 w 147637"/>
                <a:gd name="connsiteY1" fmla="*/ 0 h 316706"/>
                <a:gd name="connsiteX2" fmla="*/ 76199 w 147637"/>
                <a:gd name="connsiteY2" fmla="*/ 169069 h 316706"/>
                <a:gd name="connsiteX3" fmla="*/ 147637 w 147637"/>
                <a:gd name="connsiteY3" fmla="*/ 145256 h 316706"/>
                <a:gd name="connsiteX4" fmla="*/ 59531 w 147637"/>
                <a:gd name="connsiteY4" fmla="*/ 316706 h 316706"/>
                <a:gd name="connsiteX5" fmla="*/ 69056 w 147637"/>
                <a:gd name="connsiteY5" fmla="*/ 219075 h 316706"/>
                <a:gd name="connsiteX6" fmla="*/ 0 w 147637"/>
                <a:gd name="connsiteY6" fmla="*/ 226219 h 316706"/>
                <a:gd name="connsiteX7" fmla="*/ 30955 w 147637"/>
                <a:gd name="connsiteY7" fmla="*/ 23813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637" h="316706">
                  <a:moveTo>
                    <a:pt x="30955" y="23813"/>
                  </a:moveTo>
                  <a:lnTo>
                    <a:pt x="119062" y="0"/>
                  </a:lnTo>
                  <a:lnTo>
                    <a:pt x="76199" y="169069"/>
                  </a:lnTo>
                  <a:lnTo>
                    <a:pt x="147637" y="145256"/>
                  </a:lnTo>
                  <a:lnTo>
                    <a:pt x="59531" y="316706"/>
                  </a:lnTo>
                  <a:lnTo>
                    <a:pt x="69056" y="219075"/>
                  </a:lnTo>
                  <a:lnTo>
                    <a:pt x="0" y="226219"/>
                  </a:lnTo>
                  <a:lnTo>
                    <a:pt x="30955" y="23813"/>
                  </a:lnTo>
                  <a:close/>
                </a:path>
              </a:pathLst>
            </a:custGeom>
            <a:solidFill>
              <a:schemeClr val="bg2"/>
            </a:solidFill>
            <a:ln w="12700" cap="flat" cmpd="sng" algn="ctr">
              <a:solidFill>
                <a:schemeClr val="bg2"/>
              </a:solidFill>
              <a:prstDash val="solid"/>
            </a:ln>
            <a:effectLst/>
          </p:spPr>
          <p:txBody>
            <a:bodyPr rtlCol="0" anchor="t" anchorCtr="0"/>
            <a:lstStyle/>
            <a:p>
              <a:pPr algn="ctr" defTabSz="913029">
                <a:spcAft>
                  <a:spcPts val="300"/>
                </a:spcAft>
                <a:defRPr/>
              </a:pPr>
              <a:endParaRPr lang="en-IN" sz="1197" kern="0">
                <a:solidFill>
                  <a:schemeClr val="bg1"/>
                </a:solidFill>
                <a:latin typeface="EY interstate"/>
              </a:endParaRPr>
            </a:p>
          </p:txBody>
        </p:sp>
      </p:grpSp>
      <p:sp>
        <p:nvSpPr>
          <p:cNvPr id="82" name="Arrow: Pentagon 81">
            <a:extLst>
              <a:ext uri="{FF2B5EF4-FFF2-40B4-BE49-F238E27FC236}">
                <a16:creationId xmlns:a16="http://schemas.microsoft.com/office/drawing/2014/main" id="{56869DA8-9E8D-D323-0276-846336C378DE}"/>
              </a:ext>
            </a:extLst>
          </p:cNvPr>
          <p:cNvSpPr/>
          <p:nvPr/>
        </p:nvSpPr>
        <p:spPr>
          <a:xfrm>
            <a:off x="687560" y="3377196"/>
            <a:ext cx="473013" cy="238941"/>
          </a:xfrm>
          <a:prstGeom prst="homePlate">
            <a:avLst>
              <a:gd name="adj" fmla="val 25688"/>
            </a:avLst>
          </a:prstGeom>
          <a:solidFill>
            <a:schemeClr val="tx1"/>
          </a:solidFill>
          <a:ln w="9525">
            <a:solidFill>
              <a:srgbClr val="0A095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defTabSz="913029">
              <a:defRPr/>
            </a:pPr>
            <a:r>
              <a:rPr lang="en-US" sz="800" b="1">
                <a:solidFill>
                  <a:schemeClr val="bg1"/>
                </a:solidFill>
                <a:latin typeface="EY interstate"/>
              </a:rPr>
              <a:t>START</a:t>
            </a:r>
          </a:p>
        </p:txBody>
      </p:sp>
      <p:cxnSp>
        <p:nvCxnSpPr>
          <p:cNvPr id="83" name="Connector: Elbow 82">
            <a:extLst>
              <a:ext uri="{FF2B5EF4-FFF2-40B4-BE49-F238E27FC236}">
                <a16:creationId xmlns:a16="http://schemas.microsoft.com/office/drawing/2014/main" id="{6A417A1F-E700-EBED-5763-3FE8AFE1205F}"/>
              </a:ext>
            </a:extLst>
          </p:cNvPr>
          <p:cNvCxnSpPr>
            <a:cxnSpLocks/>
            <a:stCxn id="76" idx="0"/>
            <a:endCxn id="74" idx="2"/>
          </p:cNvCxnSpPr>
          <p:nvPr/>
        </p:nvCxnSpPr>
        <p:spPr>
          <a:xfrm rot="5400000" flipH="1" flipV="1">
            <a:off x="704324" y="2726672"/>
            <a:ext cx="324523" cy="976168"/>
          </a:xfrm>
          <a:prstGeom prst="bentConnector3">
            <a:avLst>
              <a:gd name="adj1" fmla="val 50000"/>
            </a:avLst>
          </a:prstGeom>
          <a:ln w="12700">
            <a:solidFill>
              <a:schemeClr val="bg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graphicFrame>
        <p:nvGraphicFramePr>
          <p:cNvPr id="109" name="Table 149">
            <a:extLst>
              <a:ext uri="{FF2B5EF4-FFF2-40B4-BE49-F238E27FC236}">
                <a16:creationId xmlns:a16="http://schemas.microsoft.com/office/drawing/2014/main" id="{655743EF-5802-8B14-409B-D2605855062C}"/>
              </a:ext>
            </a:extLst>
          </p:cNvPr>
          <p:cNvGraphicFramePr>
            <a:graphicFrameLocks noGrp="1"/>
          </p:cNvGraphicFramePr>
          <p:nvPr>
            <p:extLst>
              <p:ext uri="{D42A27DB-BD31-4B8C-83A1-F6EECF244321}">
                <p14:modId xmlns:p14="http://schemas.microsoft.com/office/powerpoint/2010/main" val="849740745"/>
              </p:ext>
            </p:extLst>
          </p:nvPr>
        </p:nvGraphicFramePr>
        <p:xfrm>
          <a:off x="8476335" y="972866"/>
          <a:ext cx="1837106" cy="1486870"/>
        </p:xfrm>
        <a:graphic>
          <a:graphicData uri="http://schemas.openxmlformats.org/drawingml/2006/table">
            <a:tbl>
              <a:tblPr firstRow="1" bandRow="1">
                <a:tableStyleId>{5C22544A-7EE6-4342-B048-85BDC9FD1C3A}</a:tableStyleId>
              </a:tblPr>
              <a:tblGrid>
                <a:gridCol w="1837106">
                  <a:extLst>
                    <a:ext uri="{9D8B030D-6E8A-4147-A177-3AD203B41FA5}">
                      <a16:colId xmlns:a16="http://schemas.microsoft.com/office/drawing/2014/main" val="3196103460"/>
                    </a:ext>
                  </a:extLst>
                </a:gridCol>
              </a:tblGrid>
              <a:tr h="277808">
                <a:tc>
                  <a:txBody>
                    <a:bodyPr/>
                    <a:lstStyle/>
                    <a:p>
                      <a:pPr algn="ctr"/>
                      <a:r>
                        <a:rPr lang="en-US" sz="1400" b="1">
                          <a:solidFill>
                            <a:schemeClr val="tx1"/>
                          </a:solidFill>
                          <a:latin typeface="EY interstate"/>
                        </a:rPr>
                        <a:t>On due date</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397996582"/>
                  </a:ext>
                </a:extLst>
              </a:tr>
              <a:tr h="1209062">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Submit financials to consolidation</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Review SOX controls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Conduct month-end review meetings</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pSp>
        <p:nvGrpSpPr>
          <p:cNvPr id="113" name="Group 112">
            <a:extLst>
              <a:ext uri="{FF2B5EF4-FFF2-40B4-BE49-F238E27FC236}">
                <a16:creationId xmlns:a16="http://schemas.microsoft.com/office/drawing/2014/main" id="{6CF06511-CFCA-769D-828C-9E22888E650A}"/>
              </a:ext>
            </a:extLst>
          </p:cNvPr>
          <p:cNvGrpSpPr/>
          <p:nvPr/>
        </p:nvGrpSpPr>
        <p:grpSpPr>
          <a:xfrm rot="10800000">
            <a:off x="9238362" y="2920737"/>
            <a:ext cx="298436" cy="436176"/>
            <a:chOff x="7911880" y="5002973"/>
            <a:chExt cx="298747" cy="436630"/>
          </a:xfrm>
          <a:solidFill>
            <a:srgbClr val="9BE600"/>
          </a:solidFill>
        </p:grpSpPr>
        <p:pic>
          <p:nvPicPr>
            <p:cNvPr id="114" name="Graphic 113">
              <a:extLst>
                <a:ext uri="{FF2B5EF4-FFF2-40B4-BE49-F238E27FC236}">
                  <a16:creationId xmlns:a16="http://schemas.microsoft.com/office/drawing/2014/main" id="{72523667-E321-6BEF-29C7-5BB6A36DD08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10800000">
              <a:off x="7911880" y="5002973"/>
              <a:ext cx="298747" cy="436630"/>
            </a:xfrm>
            <a:prstGeom prst="rect">
              <a:avLst/>
            </a:prstGeom>
          </p:spPr>
        </p:pic>
        <p:sp>
          <p:nvSpPr>
            <p:cNvPr id="115" name="Oval 114">
              <a:extLst>
                <a:ext uri="{FF2B5EF4-FFF2-40B4-BE49-F238E27FC236}">
                  <a16:creationId xmlns:a16="http://schemas.microsoft.com/office/drawing/2014/main" id="{29A305EF-CC62-E390-8909-721986A67118}"/>
                </a:ext>
              </a:extLst>
            </p:cNvPr>
            <p:cNvSpPr/>
            <p:nvPr/>
          </p:nvSpPr>
          <p:spPr>
            <a:xfrm rot="10800000">
              <a:off x="7931640" y="5157251"/>
              <a:ext cx="259346" cy="259346"/>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defRPr/>
              </a:pPr>
              <a:r>
                <a:rPr lang="en-US" sz="1398" b="1">
                  <a:solidFill>
                    <a:schemeClr val="tx1"/>
                  </a:solidFill>
                  <a:latin typeface="EY interstate"/>
                </a:rPr>
                <a:t>6</a:t>
              </a:r>
            </a:p>
          </p:txBody>
        </p:sp>
      </p:grpSp>
      <p:grpSp>
        <p:nvGrpSpPr>
          <p:cNvPr id="132" name="Group 131">
            <a:extLst>
              <a:ext uri="{FF2B5EF4-FFF2-40B4-BE49-F238E27FC236}">
                <a16:creationId xmlns:a16="http://schemas.microsoft.com/office/drawing/2014/main" id="{A99F43A7-8372-A233-9843-5D0650EDED3A}"/>
              </a:ext>
            </a:extLst>
          </p:cNvPr>
          <p:cNvGrpSpPr/>
          <p:nvPr/>
        </p:nvGrpSpPr>
        <p:grpSpPr>
          <a:xfrm>
            <a:off x="11653158" y="4019675"/>
            <a:ext cx="238941" cy="238941"/>
            <a:chOff x="741223" y="3981869"/>
            <a:chExt cx="239190" cy="239190"/>
          </a:xfrm>
        </p:grpSpPr>
        <p:sp>
          <p:nvSpPr>
            <p:cNvPr id="133" name="Oval 132">
              <a:extLst>
                <a:ext uri="{FF2B5EF4-FFF2-40B4-BE49-F238E27FC236}">
                  <a16:creationId xmlns:a16="http://schemas.microsoft.com/office/drawing/2014/main" id="{D9A89EF6-3CAB-3D32-9AF0-2DCD70184AE0}"/>
                </a:ext>
              </a:extLst>
            </p:cNvPr>
            <p:cNvSpPr/>
            <p:nvPr/>
          </p:nvSpPr>
          <p:spPr>
            <a:xfrm>
              <a:off x="741223" y="3981869"/>
              <a:ext cx="239190" cy="239190"/>
            </a:xfrm>
            <a:prstGeom prst="ellipse">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defRPr/>
              </a:pPr>
              <a:endParaRPr lang="en-US" sz="1198">
                <a:solidFill>
                  <a:schemeClr val="bg1"/>
                </a:solidFill>
                <a:latin typeface="EY interstate"/>
              </a:endParaRPr>
            </a:p>
          </p:txBody>
        </p:sp>
        <p:sp>
          <p:nvSpPr>
            <p:cNvPr id="134" name="Freeform 55">
              <a:extLst>
                <a:ext uri="{FF2B5EF4-FFF2-40B4-BE49-F238E27FC236}">
                  <a16:creationId xmlns:a16="http://schemas.microsoft.com/office/drawing/2014/main" id="{3AC0A636-E260-3AE6-2E4B-F8F43053BE6A}"/>
                </a:ext>
              </a:extLst>
            </p:cNvPr>
            <p:cNvSpPr/>
            <p:nvPr/>
          </p:nvSpPr>
          <p:spPr>
            <a:xfrm rot="1204644">
              <a:off x="822452" y="4017086"/>
              <a:ext cx="76732" cy="168757"/>
            </a:xfrm>
            <a:custGeom>
              <a:avLst/>
              <a:gdLst>
                <a:gd name="connsiteX0" fmla="*/ 35718 w 192881"/>
                <a:gd name="connsiteY0" fmla="*/ 26194 h 316706"/>
                <a:gd name="connsiteX1" fmla="*/ 164306 w 192881"/>
                <a:gd name="connsiteY1" fmla="*/ 0 h 316706"/>
                <a:gd name="connsiteX2" fmla="*/ 121443 w 192881"/>
                <a:gd name="connsiteY2" fmla="*/ 169069 h 316706"/>
                <a:gd name="connsiteX3" fmla="*/ 192881 w 192881"/>
                <a:gd name="connsiteY3" fmla="*/ 145256 h 316706"/>
                <a:gd name="connsiteX4" fmla="*/ 104775 w 192881"/>
                <a:gd name="connsiteY4" fmla="*/ 316706 h 316706"/>
                <a:gd name="connsiteX5" fmla="*/ 114300 w 192881"/>
                <a:gd name="connsiteY5" fmla="*/ 219075 h 316706"/>
                <a:gd name="connsiteX6" fmla="*/ 0 w 192881"/>
                <a:gd name="connsiteY6" fmla="*/ 226219 h 316706"/>
                <a:gd name="connsiteX7" fmla="*/ 35718 w 192881"/>
                <a:gd name="connsiteY7" fmla="*/ 26194 h 316706"/>
                <a:gd name="connsiteX0" fmla="*/ 76199 w 192881"/>
                <a:gd name="connsiteY0" fmla="*/ 23813 h 316706"/>
                <a:gd name="connsiteX1" fmla="*/ 164306 w 192881"/>
                <a:gd name="connsiteY1" fmla="*/ 0 h 316706"/>
                <a:gd name="connsiteX2" fmla="*/ 121443 w 192881"/>
                <a:gd name="connsiteY2" fmla="*/ 169069 h 316706"/>
                <a:gd name="connsiteX3" fmla="*/ 192881 w 192881"/>
                <a:gd name="connsiteY3" fmla="*/ 145256 h 316706"/>
                <a:gd name="connsiteX4" fmla="*/ 104775 w 192881"/>
                <a:gd name="connsiteY4" fmla="*/ 316706 h 316706"/>
                <a:gd name="connsiteX5" fmla="*/ 114300 w 192881"/>
                <a:gd name="connsiteY5" fmla="*/ 219075 h 316706"/>
                <a:gd name="connsiteX6" fmla="*/ 0 w 192881"/>
                <a:gd name="connsiteY6" fmla="*/ 226219 h 316706"/>
                <a:gd name="connsiteX7" fmla="*/ 76199 w 192881"/>
                <a:gd name="connsiteY7" fmla="*/ 23813 h 316706"/>
                <a:gd name="connsiteX0" fmla="*/ 30955 w 147637"/>
                <a:gd name="connsiteY0" fmla="*/ 23813 h 316706"/>
                <a:gd name="connsiteX1" fmla="*/ 119062 w 147637"/>
                <a:gd name="connsiteY1" fmla="*/ 0 h 316706"/>
                <a:gd name="connsiteX2" fmla="*/ 76199 w 147637"/>
                <a:gd name="connsiteY2" fmla="*/ 169069 h 316706"/>
                <a:gd name="connsiteX3" fmla="*/ 147637 w 147637"/>
                <a:gd name="connsiteY3" fmla="*/ 145256 h 316706"/>
                <a:gd name="connsiteX4" fmla="*/ 59531 w 147637"/>
                <a:gd name="connsiteY4" fmla="*/ 316706 h 316706"/>
                <a:gd name="connsiteX5" fmla="*/ 69056 w 147637"/>
                <a:gd name="connsiteY5" fmla="*/ 219075 h 316706"/>
                <a:gd name="connsiteX6" fmla="*/ 0 w 147637"/>
                <a:gd name="connsiteY6" fmla="*/ 226219 h 316706"/>
                <a:gd name="connsiteX7" fmla="*/ 30955 w 147637"/>
                <a:gd name="connsiteY7" fmla="*/ 23813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637" h="316706">
                  <a:moveTo>
                    <a:pt x="30955" y="23813"/>
                  </a:moveTo>
                  <a:lnTo>
                    <a:pt x="119062" y="0"/>
                  </a:lnTo>
                  <a:lnTo>
                    <a:pt x="76199" y="169069"/>
                  </a:lnTo>
                  <a:lnTo>
                    <a:pt x="147637" y="145256"/>
                  </a:lnTo>
                  <a:lnTo>
                    <a:pt x="59531" y="316706"/>
                  </a:lnTo>
                  <a:lnTo>
                    <a:pt x="69056" y="219075"/>
                  </a:lnTo>
                  <a:lnTo>
                    <a:pt x="0" y="226219"/>
                  </a:lnTo>
                  <a:lnTo>
                    <a:pt x="30955" y="23813"/>
                  </a:lnTo>
                  <a:close/>
                </a:path>
              </a:pathLst>
            </a:custGeom>
            <a:solidFill>
              <a:schemeClr val="bg2"/>
            </a:solidFill>
            <a:ln w="12700" cap="flat" cmpd="sng" algn="ctr">
              <a:solidFill>
                <a:schemeClr val="bg2"/>
              </a:solidFill>
              <a:prstDash val="solid"/>
            </a:ln>
            <a:effectLst/>
          </p:spPr>
          <p:txBody>
            <a:bodyPr rtlCol="0" anchor="t" anchorCtr="0"/>
            <a:lstStyle/>
            <a:p>
              <a:pPr algn="ctr" defTabSz="913029">
                <a:spcAft>
                  <a:spcPts val="300"/>
                </a:spcAft>
                <a:defRPr/>
              </a:pPr>
              <a:endParaRPr lang="en-IN" sz="1197" kern="0">
                <a:solidFill>
                  <a:schemeClr val="bg1"/>
                </a:solidFill>
                <a:latin typeface="EY interstate"/>
              </a:endParaRPr>
            </a:p>
          </p:txBody>
        </p:sp>
      </p:grpSp>
      <p:sp>
        <p:nvSpPr>
          <p:cNvPr id="258" name="Arrow: Pentagon 257">
            <a:extLst>
              <a:ext uri="{FF2B5EF4-FFF2-40B4-BE49-F238E27FC236}">
                <a16:creationId xmlns:a16="http://schemas.microsoft.com/office/drawing/2014/main" id="{7F18238D-C0C5-DBCE-E8AB-805337248180}"/>
              </a:ext>
            </a:extLst>
          </p:cNvPr>
          <p:cNvSpPr/>
          <p:nvPr/>
        </p:nvSpPr>
        <p:spPr>
          <a:xfrm>
            <a:off x="10820523" y="4019375"/>
            <a:ext cx="473013" cy="238941"/>
          </a:xfrm>
          <a:prstGeom prst="homePlate">
            <a:avLst>
              <a:gd name="adj" fmla="val 25688"/>
            </a:avLst>
          </a:prstGeom>
          <a:solidFill>
            <a:schemeClr val="tx1"/>
          </a:solidFill>
          <a:ln w="9525">
            <a:solidFill>
              <a:srgbClr val="0A095A"/>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defTabSz="913029">
              <a:defRPr/>
            </a:pPr>
            <a:r>
              <a:rPr lang="en-US" sz="800" b="1">
                <a:solidFill>
                  <a:schemeClr val="bg1"/>
                </a:solidFill>
                <a:latin typeface="EY interstate"/>
              </a:rPr>
              <a:t>END</a:t>
            </a:r>
          </a:p>
        </p:txBody>
      </p:sp>
      <p:cxnSp>
        <p:nvCxnSpPr>
          <p:cNvPr id="264" name="Straight Arrow Connector 263">
            <a:extLst>
              <a:ext uri="{FF2B5EF4-FFF2-40B4-BE49-F238E27FC236}">
                <a16:creationId xmlns:a16="http://schemas.microsoft.com/office/drawing/2014/main" id="{CBD6AF49-97DA-0441-3779-D86E1D151879}"/>
              </a:ext>
            </a:extLst>
          </p:cNvPr>
          <p:cNvCxnSpPr>
            <a:cxnSpLocks/>
            <a:stCxn id="109" idx="2"/>
          </p:cNvCxnSpPr>
          <p:nvPr/>
        </p:nvCxnSpPr>
        <p:spPr>
          <a:xfrm flipH="1">
            <a:off x="9387521" y="2459736"/>
            <a:ext cx="7367" cy="483983"/>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267" name="Table 149">
            <a:extLst>
              <a:ext uri="{FF2B5EF4-FFF2-40B4-BE49-F238E27FC236}">
                <a16:creationId xmlns:a16="http://schemas.microsoft.com/office/drawing/2014/main" id="{DCFFD7D4-DDFF-FFA3-E103-F322E6A273FC}"/>
              </a:ext>
            </a:extLst>
          </p:cNvPr>
          <p:cNvGraphicFramePr>
            <a:graphicFrameLocks noGrp="1"/>
          </p:cNvGraphicFramePr>
          <p:nvPr>
            <p:extLst>
              <p:ext uri="{D42A27DB-BD31-4B8C-83A1-F6EECF244321}">
                <p14:modId xmlns:p14="http://schemas.microsoft.com/office/powerpoint/2010/main" val="3856584115"/>
              </p:ext>
            </p:extLst>
          </p:nvPr>
        </p:nvGraphicFramePr>
        <p:xfrm>
          <a:off x="7133235" y="5024042"/>
          <a:ext cx="1837106" cy="1320107"/>
        </p:xfrm>
        <a:graphic>
          <a:graphicData uri="http://schemas.openxmlformats.org/drawingml/2006/table">
            <a:tbl>
              <a:tblPr firstRow="1" bandRow="1">
                <a:tableStyleId>{5C22544A-7EE6-4342-B048-85BDC9FD1C3A}</a:tableStyleId>
              </a:tblPr>
              <a:tblGrid>
                <a:gridCol w="1837106">
                  <a:extLst>
                    <a:ext uri="{9D8B030D-6E8A-4147-A177-3AD203B41FA5}">
                      <a16:colId xmlns:a16="http://schemas.microsoft.com/office/drawing/2014/main" val="3196103460"/>
                    </a:ext>
                  </a:extLst>
                </a:gridCol>
              </a:tblGrid>
              <a:tr h="333078">
                <a:tc>
                  <a:txBody>
                    <a:bodyPr/>
                    <a:lstStyle/>
                    <a:p>
                      <a:pPr algn="ctr"/>
                      <a:r>
                        <a:rPr lang="en-US" sz="1400" b="1">
                          <a:solidFill>
                            <a:schemeClr val="tx1"/>
                          </a:solidFill>
                          <a:latin typeface="EY interstate"/>
                        </a:rPr>
                        <a:t>One day before due date</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987029">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Prepare P&amp;L and Balance Sheet reports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Variance analysis</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pSp>
        <p:nvGrpSpPr>
          <p:cNvPr id="268" name="Group 267">
            <a:extLst>
              <a:ext uri="{FF2B5EF4-FFF2-40B4-BE49-F238E27FC236}">
                <a16:creationId xmlns:a16="http://schemas.microsoft.com/office/drawing/2014/main" id="{4243FCA5-EE98-1DA7-0347-77EF39EAFE4C}"/>
              </a:ext>
            </a:extLst>
          </p:cNvPr>
          <p:cNvGrpSpPr/>
          <p:nvPr/>
        </p:nvGrpSpPr>
        <p:grpSpPr>
          <a:xfrm rot="10800000">
            <a:off x="7900937" y="4302406"/>
            <a:ext cx="298436" cy="436176"/>
            <a:chOff x="3997213" y="3429000"/>
            <a:chExt cx="298747" cy="436630"/>
          </a:xfrm>
          <a:solidFill>
            <a:srgbClr val="FFE600"/>
          </a:solidFill>
        </p:grpSpPr>
        <p:pic>
          <p:nvPicPr>
            <p:cNvPr id="269" name="Graphic 268">
              <a:extLst>
                <a:ext uri="{FF2B5EF4-FFF2-40B4-BE49-F238E27FC236}">
                  <a16:creationId xmlns:a16="http://schemas.microsoft.com/office/drawing/2014/main" id="{5DC90138-74A5-8077-1A4F-7579565E7BE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997213" y="3429000"/>
              <a:ext cx="298747" cy="436630"/>
            </a:xfrm>
            <a:prstGeom prst="rect">
              <a:avLst/>
            </a:prstGeom>
          </p:spPr>
        </p:pic>
        <p:sp>
          <p:nvSpPr>
            <p:cNvPr id="270" name="Oval 269">
              <a:extLst>
                <a:ext uri="{FF2B5EF4-FFF2-40B4-BE49-F238E27FC236}">
                  <a16:creationId xmlns:a16="http://schemas.microsoft.com/office/drawing/2014/main" id="{865D7DBC-DF55-E2C5-6AA2-089D41120FCA}"/>
                </a:ext>
              </a:extLst>
            </p:cNvPr>
            <p:cNvSpPr/>
            <p:nvPr/>
          </p:nvSpPr>
          <p:spPr>
            <a:xfrm rot="10800000">
              <a:off x="4018505" y="3451035"/>
              <a:ext cx="259346" cy="259346"/>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defRPr/>
              </a:pPr>
              <a:r>
                <a:rPr lang="en-US" sz="1398" b="1">
                  <a:solidFill>
                    <a:schemeClr val="tx1"/>
                  </a:solidFill>
                  <a:latin typeface="EY interstate"/>
                </a:rPr>
                <a:t>5</a:t>
              </a:r>
            </a:p>
          </p:txBody>
        </p:sp>
      </p:grpSp>
      <p:cxnSp>
        <p:nvCxnSpPr>
          <p:cNvPr id="271" name="Straight Arrow Connector 270">
            <a:extLst>
              <a:ext uri="{FF2B5EF4-FFF2-40B4-BE49-F238E27FC236}">
                <a16:creationId xmlns:a16="http://schemas.microsoft.com/office/drawing/2014/main" id="{45A6E33D-0B46-7F40-1B0D-F6BEAFADC915}"/>
              </a:ext>
            </a:extLst>
          </p:cNvPr>
          <p:cNvCxnSpPr>
            <a:cxnSpLocks/>
            <a:stCxn id="267" idx="0"/>
          </p:cNvCxnSpPr>
          <p:nvPr/>
        </p:nvCxnSpPr>
        <p:spPr>
          <a:xfrm flipH="1" flipV="1">
            <a:off x="8050155" y="4738582"/>
            <a:ext cx="1633" cy="285460"/>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274" name="Table 149">
            <a:extLst>
              <a:ext uri="{FF2B5EF4-FFF2-40B4-BE49-F238E27FC236}">
                <a16:creationId xmlns:a16="http://schemas.microsoft.com/office/drawing/2014/main" id="{832FFDAA-C80E-80D0-63E5-EBF130886C6D}"/>
              </a:ext>
            </a:extLst>
          </p:cNvPr>
          <p:cNvGraphicFramePr>
            <a:graphicFrameLocks noGrp="1"/>
          </p:cNvGraphicFramePr>
          <p:nvPr>
            <p:extLst>
              <p:ext uri="{D42A27DB-BD31-4B8C-83A1-F6EECF244321}">
                <p14:modId xmlns:p14="http://schemas.microsoft.com/office/powerpoint/2010/main" val="1145787639"/>
              </p:ext>
            </p:extLst>
          </p:nvPr>
        </p:nvGraphicFramePr>
        <p:xfrm>
          <a:off x="5650684" y="964347"/>
          <a:ext cx="2275426" cy="1537553"/>
        </p:xfrm>
        <a:graphic>
          <a:graphicData uri="http://schemas.openxmlformats.org/drawingml/2006/table">
            <a:tbl>
              <a:tblPr firstRow="1" bandRow="1">
                <a:tableStyleId>{5C22544A-7EE6-4342-B048-85BDC9FD1C3A}</a:tableStyleId>
              </a:tblPr>
              <a:tblGrid>
                <a:gridCol w="2275426">
                  <a:extLst>
                    <a:ext uri="{9D8B030D-6E8A-4147-A177-3AD203B41FA5}">
                      <a16:colId xmlns:a16="http://schemas.microsoft.com/office/drawing/2014/main" val="3196103460"/>
                    </a:ext>
                  </a:extLst>
                </a:gridCol>
              </a:tblGrid>
              <a:tr h="283693">
                <a:tc>
                  <a:txBody>
                    <a:bodyPr/>
                    <a:lstStyle/>
                    <a:p>
                      <a:pPr algn="ctr"/>
                      <a:r>
                        <a:rPr lang="en-US" sz="1400" b="1">
                          <a:solidFill>
                            <a:schemeClr val="tx1"/>
                          </a:solidFill>
                          <a:latin typeface="EY interstate"/>
                        </a:rPr>
                        <a:t>Two days before due date</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397996582"/>
                  </a:ext>
                </a:extLst>
              </a:tr>
              <a:tr h="1253860">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Clear suspense accounts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Reconcile bank accounts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Balance sheet account reconciliations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Sub-ledger to GL reconciliations</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pSp>
        <p:nvGrpSpPr>
          <p:cNvPr id="275" name="Group 274">
            <a:extLst>
              <a:ext uri="{FF2B5EF4-FFF2-40B4-BE49-F238E27FC236}">
                <a16:creationId xmlns:a16="http://schemas.microsoft.com/office/drawing/2014/main" id="{49605B28-90FA-4291-CAB4-490F01E1C167}"/>
              </a:ext>
            </a:extLst>
          </p:cNvPr>
          <p:cNvGrpSpPr/>
          <p:nvPr/>
        </p:nvGrpSpPr>
        <p:grpSpPr>
          <a:xfrm rot="10800000">
            <a:off x="6641490" y="2918779"/>
            <a:ext cx="298436" cy="436176"/>
            <a:chOff x="7911880" y="5002973"/>
            <a:chExt cx="298747" cy="436630"/>
          </a:xfrm>
          <a:solidFill>
            <a:srgbClr val="9BE600"/>
          </a:solidFill>
        </p:grpSpPr>
        <p:pic>
          <p:nvPicPr>
            <p:cNvPr id="276" name="Graphic 275">
              <a:extLst>
                <a:ext uri="{FF2B5EF4-FFF2-40B4-BE49-F238E27FC236}">
                  <a16:creationId xmlns:a16="http://schemas.microsoft.com/office/drawing/2014/main" id="{0D62C387-63FC-FED9-2730-FA7C81015D3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10800000">
              <a:off x="7911880" y="5002973"/>
              <a:ext cx="298747" cy="436630"/>
            </a:xfrm>
            <a:prstGeom prst="rect">
              <a:avLst/>
            </a:prstGeom>
          </p:spPr>
        </p:pic>
        <p:sp>
          <p:nvSpPr>
            <p:cNvPr id="277" name="Oval 276">
              <a:extLst>
                <a:ext uri="{FF2B5EF4-FFF2-40B4-BE49-F238E27FC236}">
                  <a16:creationId xmlns:a16="http://schemas.microsoft.com/office/drawing/2014/main" id="{3B9EB442-69C5-48ED-E21E-2A8B19DD8ACB}"/>
                </a:ext>
              </a:extLst>
            </p:cNvPr>
            <p:cNvSpPr/>
            <p:nvPr/>
          </p:nvSpPr>
          <p:spPr>
            <a:xfrm rot="10800000">
              <a:off x="7931640" y="5157251"/>
              <a:ext cx="259346" cy="259346"/>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defRPr/>
              </a:pPr>
              <a:r>
                <a:rPr lang="en-US" sz="1398" b="1">
                  <a:solidFill>
                    <a:schemeClr val="tx1"/>
                  </a:solidFill>
                  <a:latin typeface="EY interstate"/>
                </a:rPr>
                <a:t>4</a:t>
              </a:r>
            </a:p>
          </p:txBody>
        </p:sp>
      </p:grpSp>
      <p:cxnSp>
        <p:nvCxnSpPr>
          <p:cNvPr id="278" name="Straight Arrow Connector 277">
            <a:extLst>
              <a:ext uri="{FF2B5EF4-FFF2-40B4-BE49-F238E27FC236}">
                <a16:creationId xmlns:a16="http://schemas.microsoft.com/office/drawing/2014/main" id="{8DFB4AC5-29D1-CC98-5EBF-6CDB35B9A090}"/>
              </a:ext>
            </a:extLst>
          </p:cNvPr>
          <p:cNvCxnSpPr>
            <a:cxnSpLocks/>
            <a:stCxn id="274" idx="2"/>
          </p:cNvCxnSpPr>
          <p:nvPr/>
        </p:nvCxnSpPr>
        <p:spPr>
          <a:xfrm>
            <a:off x="6788397" y="2501900"/>
            <a:ext cx="2252" cy="439861"/>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279" name="Table 149">
            <a:extLst>
              <a:ext uri="{FF2B5EF4-FFF2-40B4-BE49-F238E27FC236}">
                <a16:creationId xmlns:a16="http://schemas.microsoft.com/office/drawing/2014/main" id="{EDCC287F-5739-C352-292D-FC8A8A0B59FA}"/>
              </a:ext>
            </a:extLst>
          </p:cNvPr>
          <p:cNvGraphicFramePr>
            <a:graphicFrameLocks noGrp="1"/>
          </p:cNvGraphicFramePr>
          <p:nvPr>
            <p:extLst>
              <p:ext uri="{D42A27DB-BD31-4B8C-83A1-F6EECF244321}">
                <p14:modId xmlns:p14="http://schemas.microsoft.com/office/powerpoint/2010/main" val="407285209"/>
              </p:ext>
            </p:extLst>
          </p:nvPr>
        </p:nvGraphicFramePr>
        <p:xfrm>
          <a:off x="4521354" y="5025506"/>
          <a:ext cx="1837106" cy="1468557"/>
        </p:xfrm>
        <a:graphic>
          <a:graphicData uri="http://schemas.openxmlformats.org/drawingml/2006/table">
            <a:tbl>
              <a:tblPr firstRow="1" bandRow="1">
                <a:tableStyleId>{5C22544A-7EE6-4342-B048-85BDC9FD1C3A}</a:tableStyleId>
              </a:tblPr>
              <a:tblGrid>
                <a:gridCol w="1837106">
                  <a:extLst>
                    <a:ext uri="{9D8B030D-6E8A-4147-A177-3AD203B41FA5}">
                      <a16:colId xmlns:a16="http://schemas.microsoft.com/office/drawing/2014/main" val="3196103460"/>
                    </a:ext>
                  </a:extLst>
                </a:gridCol>
              </a:tblGrid>
              <a:tr h="333078">
                <a:tc>
                  <a:txBody>
                    <a:bodyPr/>
                    <a:lstStyle/>
                    <a:p>
                      <a:pPr algn="ctr"/>
                      <a:r>
                        <a:rPr lang="en-US" sz="1400" b="1">
                          <a:solidFill>
                            <a:schemeClr val="tx1"/>
                          </a:solidFill>
                          <a:latin typeface="EY interstate"/>
                        </a:rPr>
                        <a:t>Three days before due date</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987029">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Post accruals and prepayments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Perform FX revaluation</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Run depreciation for fixed assets</a:t>
                      </a:r>
                      <a:endParaRPr lang="en-US" sz="1100" b="0" kern="0">
                        <a:solidFill>
                          <a:schemeClr val="bg1"/>
                        </a:solidFill>
                        <a:latin typeface="EY interstate"/>
                      </a:endParaRP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pSp>
        <p:nvGrpSpPr>
          <p:cNvPr id="280" name="Group 279">
            <a:extLst>
              <a:ext uri="{FF2B5EF4-FFF2-40B4-BE49-F238E27FC236}">
                <a16:creationId xmlns:a16="http://schemas.microsoft.com/office/drawing/2014/main" id="{9DD550F3-8AE6-90B3-DA8A-E08047681E85}"/>
              </a:ext>
            </a:extLst>
          </p:cNvPr>
          <p:cNvGrpSpPr/>
          <p:nvPr/>
        </p:nvGrpSpPr>
        <p:grpSpPr>
          <a:xfrm rot="10800000">
            <a:off x="5282802" y="4298559"/>
            <a:ext cx="298436" cy="436176"/>
            <a:chOff x="3997213" y="3429000"/>
            <a:chExt cx="298747" cy="436630"/>
          </a:xfrm>
          <a:solidFill>
            <a:srgbClr val="FFE600"/>
          </a:solidFill>
        </p:grpSpPr>
        <p:pic>
          <p:nvPicPr>
            <p:cNvPr id="281" name="Graphic 280">
              <a:extLst>
                <a:ext uri="{FF2B5EF4-FFF2-40B4-BE49-F238E27FC236}">
                  <a16:creationId xmlns:a16="http://schemas.microsoft.com/office/drawing/2014/main" id="{AA03A5FB-018B-1321-28D1-2A7FB5426D3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997213" y="3429000"/>
              <a:ext cx="298747" cy="436630"/>
            </a:xfrm>
            <a:prstGeom prst="rect">
              <a:avLst/>
            </a:prstGeom>
          </p:spPr>
        </p:pic>
        <p:sp>
          <p:nvSpPr>
            <p:cNvPr id="282" name="Oval 281">
              <a:extLst>
                <a:ext uri="{FF2B5EF4-FFF2-40B4-BE49-F238E27FC236}">
                  <a16:creationId xmlns:a16="http://schemas.microsoft.com/office/drawing/2014/main" id="{1DD855E4-B980-23A2-B2D5-F24E4A8019C7}"/>
                </a:ext>
              </a:extLst>
            </p:cNvPr>
            <p:cNvSpPr/>
            <p:nvPr/>
          </p:nvSpPr>
          <p:spPr>
            <a:xfrm rot="10800000">
              <a:off x="4018505" y="3451035"/>
              <a:ext cx="259346" cy="259346"/>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defRPr/>
              </a:pPr>
              <a:r>
                <a:rPr lang="en-US" sz="1398" b="1">
                  <a:solidFill>
                    <a:schemeClr val="tx1"/>
                  </a:solidFill>
                  <a:latin typeface="EY interstate"/>
                </a:rPr>
                <a:t>3</a:t>
              </a:r>
            </a:p>
          </p:txBody>
        </p:sp>
      </p:grpSp>
      <p:cxnSp>
        <p:nvCxnSpPr>
          <p:cNvPr id="283" name="Straight Arrow Connector 282">
            <a:extLst>
              <a:ext uri="{FF2B5EF4-FFF2-40B4-BE49-F238E27FC236}">
                <a16:creationId xmlns:a16="http://schemas.microsoft.com/office/drawing/2014/main" id="{405B645A-2DB2-94E9-698E-33E43CF0C172}"/>
              </a:ext>
            </a:extLst>
          </p:cNvPr>
          <p:cNvCxnSpPr>
            <a:cxnSpLocks/>
            <a:stCxn id="279" idx="0"/>
          </p:cNvCxnSpPr>
          <p:nvPr/>
        </p:nvCxnSpPr>
        <p:spPr>
          <a:xfrm flipH="1" flipV="1">
            <a:off x="5432020" y="4734735"/>
            <a:ext cx="7887" cy="290771"/>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284" name="Table 149">
            <a:extLst>
              <a:ext uri="{FF2B5EF4-FFF2-40B4-BE49-F238E27FC236}">
                <a16:creationId xmlns:a16="http://schemas.microsoft.com/office/drawing/2014/main" id="{9CB47719-5C5A-4C0F-EC0B-66E5004C7F26}"/>
              </a:ext>
            </a:extLst>
          </p:cNvPr>
          <p:cNvGraphicFramePr>
            <a:graphicFrameLocks noGrp="1"/>
          </p:cNvGraphicFramePr>
          <p:nvPr>
            <p:extLst>
              <p:ext uri="{D42A27DB-BD31-4B8C-83A1-F6EECF244321}">
                <p14:modId xmlns:p14="http://schemas.microsoft.com/office/powerpoint/2010/main" val="2661856618"/>
              </p:ext>
            </p:extLst>
          </p:nvPr>
        </p:nvGraphicFramePr>
        <p:xfrm>
          <a:off x="3284319" y="972859"/>
          <a:ext cx="1837106" cy="1343832"/>
        </p:xfrm>
        <a:graphic>
          <a:graphicData uri="http://schemas.openxmlformats.org/drawingml/2006/table">
            <a:tbl>
              <a:tblPr firstRow="1" bandRow="1">
                <a:tableStyleId>{5C22544A-7EE6-4342-B048-85BDC9FD1C3A}</a:tableStyleId>
              </a:tblPr>
              <a:tblGrid>
                <a:gridCol w="1837106">
                  <a:extLst>
                    <a:ext uri="{9D8B030D-6E8A-4147-A177-3AD203B41FA5}">
                      <a16:colId xmlns:a16="http://schemas.microsoft.com/office/drawing/2014/main" val="3196103460"/>
                    </a:ext>
                  </a:extLst>
                </a:gridCol>
              </a:tblGrid>
              <a:tr h="286439">
                <a:tc>
                  <a:txBody>
                    <a:bodyPr/>
                    <a:lstStyle/>
                    <a:p>
                      <a:pPr algn="ctr"/>
                      <a:r>
                        <a:rPr lang="en-US" sz="1400" b="1">
                          <a:solidFill>
                            <a:schemeClr val="tx1"/>
                          </a:solidFill>
                          <a:latin typeface="EY interstate"/>
                        </a:rPr>
                        <a:t>Four days before due date</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397996582"/>
                  </a:ext>
                </a:extLst>
              </a:tr>
              <a:tr h="862304">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Communicate cut-off timelines</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pSp>
        <p:nvGrpSpPr>
          <p:cNvPr id="285" name="Group 284">
            <a:extLst>
              <a:ext uri="{FF2B5EF4-FFF2-40B4-BE49-F238E27FC236}">
                <a16:creationId xmlns:a16="http://schemas.microsoft.com/office/drawing/2014/main" id="{310D6E97-84DB-C261-7141-BC2D9D63C55E}"/>
              </a:ext>
            </a:extLst>
          </p:cNvPr>
          <p:cNvGrpSpPr/>
          <p:nvPr/>
        </p:nvGrpSpPr>
        <p:grpSpPr>
          <a:xfrm rot="10800000">
            <a:off x="4054602" y="2908810"/>
            <a:ext cx="298436" cy="436176"/>
            <a:chOff x="7911880" y="5002973"/>
            <a:chExt cx="298747" cy="436630"/>
          </a:xfrm>
          <a:solidFill>
            <a:srgbClr val="9BE600"/>
          </a:solidFill>
        </p:grpSpPr>
        <p:pic>
          <p:nvPicPr>
            <p:cNvPr id="286" name="Graphic 285">
              <a:extLst>
                <a:ext uri="{FF2B5EF4-FFF2-40B4-BE49-F238E27FC236}">
                  <a16:creationId xmlns:a16="http://schemas.microsoft.com/office/drawing/2014/main" id="{2B32465B-BBE3-BD33-B540-BA0FAD68460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10800000">
              <a:off x="7911880" y="5002973"/>
              <a:ext cx="298747" cy="436630"/>
            </a:xfrm>
            <a:prstGeom prst="rect">
              <a:avLst/>
            </a:prstGeom>
          </p:spPr>
        </p:pic>
        <p:sp>
          <p:nvSpPr>
            <p:cNvPr id="287" name="Oval 286">
              <a:extLst>
                <a:ext uri="{FF2B5EF4-FFF2-40B4-BE49-F238E27FC236}">
                  <a16:creationId xmlns:a16="http://schemas.microsoft.com/office/drawing/2014/main" id="{37199C05-0690-04FC-E1C3-2DDE80DFEFAA}"/>
                </a:ext>
              </a:extLst>
            </p:cNvPr>
            <p:cNvSpPr/>
            <p:nvPr/>
          </p:nvSpPr>
          <p:spPr>
            <a:xfrm rot="10800000">
              <a:off x="7931640" y="5157251"/>
              <a:ext cx="259346" cy="259346"/>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defRPr/>
              </a:pPr>
              <a:r>
                <a:rPr lang="en-US" sz="1398" b="1">
                  <a:solidFill>
                    <a:schemeClr val="tx1"/>
                  </a:solidFill>
                  <a:latin typeface="EY interstate"/>
                </a:rPr>
                <a:t>2</a:t>
              </a:r>
            </a:p>
          </p:txBody>
        </p:sp>
      </p:grpSp>
      <p:cxnSp>
        <p:nvCxnSpPr>
          <p:cNvPr id="288" name="Straight Arrow Connector 287">
            <a:extLst>
              <a:ext uri="{FF2B5EF4-FFF2-40B4-BE49-F238E27FC236}">
                <a16:creationId xmlns:a16="http://schemas.microsoft.com/office/drawing/2014/main" id="{606DF6C1-3917-E0B4-F26B-1730101C1FAD}"/>
              </a:ext>
            </a:extLst>
          </p:cNvPr>
          <p:cNvCxnSpPr>
            <a:cxnSpLocks/>
            <a:stCxn id="284" idx="2"/>
          </p:cNvCxnSpPr>
          <p:nvPr/>
        </p:nvCxnSpPr>
        <p:spPr>
          <a:xfrm>
            <a:off x="4202872" y="2316691"/>
            <a:ext cx="889" cy="615101"/>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291" name="Table 149">
            <a:extLst>
              <a:ext uri="{FF2B5EF4-FFF2-40B4-BE49-F238E27FC236}">
                <a16:creationId xmlns:a16="http://schemas.microsoft.com/office/drawing/2014/main" id="{1B539FA0-5150-4AC3-246A-1150655D1571}"/>
              </a:ext>
            </a:extLst>
          </p:cNvPr>
          <p:cNvGraphicFramePr>
            <a:graphicFrameLocks noGrp="1"/>
          </p:cNvGraphicFramePr>
          <p:nvPr>
            <p:extLst>
              <p:ext uri="{D42A27DB-BD31-4B8C-83A1-F6EECF244321}">
                <p14:modId xmlns:p14="http://schemas.microsoft.com/office/powerpoint/2010/main" val="3492897614"/>
              </p:ext>
            </p:extLst>
          </p:nvPr>
        </p:nvGraphicFramePr>
        <p:xfrm>
          <a:off x="1788079" y="5021742"/>
          <a:ext cx="1837106" cy="1468557"/>
        </p:xfrm>
        <a:graphic>
          <a:graphicData uri="http://schemas.openxmlformats.org/drawingml/2006/table">
            <a:tbl>
              <a:tblPr firstRow="1" bandRow="1">
                <a:tableStyleId>{5C22544A-7EE6-4342-B048-85BDC9FD1C3A}</a:tableStyleId>
              </a:tblPr>
              <a:tblGrid>
                <a:gridCol w="1837106">
                  <a:extLst>
                    <a:ext uri="{9D8B030D-6E8A-4147-A177-3AD203B41FA5}">
                      <a16:colId xmlns:a16="http://schemas.microsoft.com/office/drawing/2014/main" val="3196103460"/>
                    </a:ext>
                  </a:extLst>
                </a:gridCol>
              </a:tblGrid>
              <a:tr h="333078">
                <a:tc>
                  <a:txBody>
                    <a:bodyPr/>
                    <a:lstStyle/>
                    <a:p>
                      <a:pPr algn="ctr"/>
                      <a:r>
                        <a:rPr lang="en-US" sz="1400" b="1">
                          <a:solidFill>
                            <a:schemeClr val="tx1"/>
                          </a:solidFill>
                          <a:latin typeface="EY interstate"/>
                        </a:rPr>
                        <a:t>Five days before due date</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987029">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Review open items in sub-ledgers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Ensure all transactions are posted</a:t>
                      </a:r>
                      <a:endParaRPr lang="en-US" sz="1100" b="0" kern="0">
                        <a:solidFill>
                          <a:schemeClr val="bg1"/>
                        </a:solidFill>
                        <a:latin typeface="EY interstate"/>
                      </a:endParaRP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pSp>
        <p:nvGrpSpPr>
          <p:cNvPr id="292" name="Group 291">
            <a:extLst>
              <a:ext uri="{FF2B5EF4-FFF2-40B4-BE49-F238E27FC236}">
                <a16:creationId xmlns:a16="http://schemas.microsoft.com/office/drawing/2014/main" id="{272D9BFB-1F2A-7C90-2E32-C29AD3D836CD}"/>
              </a:ext>
            </a:extLst>
          </p:cNvPr>
          <p:cNvGrpSpPr/>
          <p:nvPr/>
        </p:nvGrpSpPr>
        <p:grpSpPr>
          <a:xfrm rot="10800000">
            <a:off x="2567141" y="4294360"/>
            <a:ext cx="298436" cy="436176"/>
            <a:chOff x="3997213" y="3429000"/>
            <a:chExt cx="298747" cy="436630"/>
          </a:xfrm>
          <a:solidFill>
            <a:srgbClr val="FFE600"/>
          </a:solidFill>
        </p:grpSpPr>
        <p:pic>
          <p:nvPicPr>
            <p:cNvPr id="293" name="Graphic 292">
              <a:extLst>
                <a:ext uri="{FF2B5EF4-FFF2-40B4-BE49-F238E27FC236}">
                  <a16:creationId xmlns:a16="http://schemas.microsoft.com/office/drawing/2014/main" id="{6B46AABE-D6F7-4C6A-7FC9-EA1A6B96F7B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997213" y="3429000"/>
              <a:ext cx="298747" cy="436630"/>
            </a:xfrm>
            <a:prstGeom prst="rect">
              <a:avLst/>
            </a:prstGeom>
          </p:spPr>
        </p:pic>
        <p:sp>
          <p:nvSpPr>
            <p:cNvPr id="294" name="Oval 293">
              <a:extLst>
                <a:ext uri="{FF2B5EF4-FFF2-40B4-BE49-F238E27FC236}">
                  <a16:creationId xmlns:a16="http://schemas.microsoft.com/office/drawing/2014/main" id="{FB492E41-D66E-676B-38EE-358552CF05FB}"/>
                </a:ext>
              </a:extLst>
            </p:cNvPr>
            <p:cNvSpPr/>
            <p:nvPr/>
          </p:nvSpPr>
          <p:spPr>
            <a:xfrm rot="10800000">
              <a:off x="4018505" y="3451035"/>
              <a:ext cx="259346" cy="259346"/>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defRPr/>
              </a:pPr>
              <a:r>
                <a:rPr lang="en-US" sz="1398" b="1">
                  <a:solidFill>
                    <a:schemeClr val="tx1"/>
                  </a:solidFill>
                  <a:latin typeface="EY interstate"/>
                </a:rPr>
                <a:t>1</a:t>
              </a:r>
            </a:p>
          </p:txBody>
        </p:sp>
      </p:grpSp>
      <p:cxnSp>
        <p:nvCxnSpPr>
          <p:cNvPr id="295" name="Straight Arrow Connector 294">
            <a:extLst>
              <a:ext uri="{FF2B5EF4-FFF2-40B4-BE49-F238E27FC236}">
                <a16:creationId xmlns:a16="http://schemas.microsoft.com/office/drawing/2014/main" id="{531E7E50-1743-0D8A-0EDC-1AE26A0B2D85}"/>
              </a:ext>
            </a:extLst>
          </p:cNvPr>
          <p:cNvCxnSpPr>
            <a:cxnSpLocks/>
            <a:stCxn id="291" idx="0"/>
          </p:cNvCxnSpPr>
          <p:nvPr/>
        </p:nvCxnSpPr>
        <p:spPr>
          <a:xfrm flipV="1">
            <a:off x="2706632" y="4730536"/>
            <a:ext cx="9727" cy="291206"/>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sp>
        <p:nvSpPr>
          <p:cNvPr id="308" name="Oval 307">
            <a:extLst>
              <a:ext uri="{FF2B5EF4-FFF2-40B4-BE49-F238E27FC236}">
                <a16:creationId xmlns:a16="http://schemas.microsoft.com/office/drawing/2014/main" id="{20B73652-BBEB-8B5D-1B52-707E42461F79}"/>
              </a:ext>
            </a:extLst>
          </p:cNvPr>
          <p:cNvSpPr/>
          <p:nvPr/>
        </p:nvSpPr>
        <p:spPr>
          <a:xfrm>
            <a:off x="2465016" y="5852164"/>
            <a:ext cx="73652" cy="82296"/>
          </a:xfrm>
          <a:prstGeom prst="ellipse">
            <a:avLst/>
          </a:prstGeom>
          <a:solidFill>
            <a:srgbClr val="FFE6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1" name="Oval 310">
            <a:extLst>
              <a:ext uri="{FF2B5EF4-FFF2-40B4-BE49-F238E27FC236}">
                <a16:creationId xmlns:a16="http://schemas.microsoft.com/office/drawing/2014/main" id="{E456D853-29F6-D558-EF83-8E038DEC9FFB}"/>
              </a:ext>
            </a:extLst>
          </p:cNvPr>
          <p:cNvSpPr/>
          <p:nvPr/>
        </p:nvSpPr>
        <p:spPr>
          <a:xfrm>
            <a:off x="2469909" y="6229994"/>
            <a:ext cx="73652" cy="82296"/>
          </a:xfrm>
          <a:prstGeom prst="ellipse">
            <a:avLst/>
          </a:prstGeom>
          <a:solidFill>
            <a:srgbClr val="FFE6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2" name="Oval 311">
            <a:extLst>
              <a:ext uri="{FF2B5EF4-FFF2-40B4-BE49-F238E27FC236}">
                <a16:creationId xmlns:a16="http://schemas.microsoft.com/office/drawing/2014/main" id="{CDDC17E5-3984-7F9B-248E-F8D71DEED376}"/>
              </a:ext>
            </a:extLst>
          </p:cNvPr>
          <p:cNvSpPr/>
          <p:nvPr/>
        </p:nvSpPr>
        <p:spPr>
          <a:xfrm>
            <a:off x="4095705" y="1949657"/>
            <a:ext cx="73652" cy="82296"/>
          </a:xfrm>
          <a:prstGeom prst="ellipse">
            <a:avLst/>
          </a:prstGeom>
          <a:solidFill>
            <a:srgbClr val="92D05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3" name="Oval 312">
            <a:extLst>
              <a:ext uri="{FF2B5EF4-FFF2-40B4-BE49-F238E27FC236}">
                <a16:creationId xmlns:a16="http://schemas.microsoft.com/office/drawing/2014/main" id="{BA8B7239-0BE2-58F4-43A4-D13E997C902A}"/>
              </a:ext>
            </a:extLst>
          </p:cNvPr>
          <p:cNvSpPr/>
          <p:nvPr/>
        </p:nvSpPr>
        <p:spPr>
          <a:xfrm>
            <a:off x="5517311" y="5764326"/>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4" name="Oval 313">
            <a:extLst>
              <a:ext uri="{FF2B5EF4-FFF2-40B4-BE49-F238E27FC236}">
                <a16:creationId xmlns:a16="http://schemas.microsoft.com/office/drawing/2014/main" id="{D2895054-A887-6706-7EA5-1D621D967ED0}"/>
              </a:ext>
            </a:extLst>
          </p:cNvPr>
          <p:cNvSpPr/>
          <p:nvPr/>
        </p:nvSpPr>
        <p:spPr>
          <a:xfrm>
            <a:off x="6091369" y="5959059"/>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5" name="Oval 314">
            <a:extLst>
              <a:ext uri="{FF2B5EF4-FFF2-40B4-BE49-F238E27FC236}">
                <a16:creationId xmlns:a16="http://schemas.microsoft.com/office/drawing/2014/main" id="{27EE8512-F5C0-0E67-91D1-A36574E45FB2}"/>
              </a:ext>
            </a:extLst>
          </p:cNvPr>
          <p:cNvSpPr/>
          <p:nvPr/>
        </p:nvSpPr>
        <p:spPr>
          <a:xfrm>
            <a:off x="5133047" y="6314660"/>
            <a:ext cx="73652" cy="82296"/>
          </a:xfrm>
          <a:prstGeom prst="ellipse">
            <a:avLst/>
          </a:prstGeom>
          <a:solidFill>
            <a:srgbClr val="FFE6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6" name="Oval 315">
            <a:extLst>
              <a:ext uri="{FF2B5EF4-FFF2-40B4-BE49-F238E27FC236}">
                <a16:creationId xmlns:a16="http://schemas.microsoft.com/office/drawing/2014/main" id="{38FEB19A-64CC-3D95-FCAC-40EB004F9BC5}"/>
              </a:ext>
            </a:extLst>
          </p:cNvPr>
          <p:cNvSpPr/>
          <p:nvPr/>
        </p:nvSpPr>
        <p:spPr>
          <a:xfrm>
            <a:off x="7401437" y="1446325"/>
            <a:ext cx="73652" cy="82296"/>
          </a:xfrm>
          <a:prstGeom prst="ellipse">
            <a:avLst/>
          </a:prstGeom>
          <a:solidFill>
            <a:srgbClr val="FF0000"/>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7" name="Oval 316">
            <a:extLst>
              <a:ext uri="{FF2B5EF4-FFF2-40B4-BE49-F238E27FC236}">
                <a16:creationId xmlns:a16="http://schemas.microsoft.com/office/drawing/2014/main" id="{4BBF4CA9-42A8-5F07-4676-7A77924F3E22}"/>
              </a:ext>
            </a:extLst>
          </p:cNvPr>
          <p:cNvSpPr/>
          <p:nvPr/>
        </p:nvSpPr>
        <p:spPr>
          <a:xfrm>
            <a:off x="7395770" y="1649526"/>
            <a:ext cx="73652" cy="82296"/>
          </a:xfrm>
          <a:prstGeom prst="ellipse">
            <a:avLst/>
          </a:prstGeom>
          <a:solidFill>
            <a:srgbClr val="FFE6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8" name="Oval 317">
            <a:extLst>
              <a:ext uri="{FF2B5EF4-FFF2-40B4-BE49-F238E27FC236}">
                <a16:creationId xmlns:a16="http://schemas.microsoft.com/office/drawing/2014/main" id="{2D21034A-ADDA-36AD-9478-759F2B87124E}"/>
              </a:ext>
            </a:extLst>
          </p:cNvPr>
          <p:cNvSpPr/>
          <p:nvPr/>
        </p:nvSpPr>
        <p:spPr>
          <a:xfrm>
            <a:off x="6775196" y="2015019"/>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9" name="Oval 318">
            <a:extLst>
              <a:ext uri="{FF2B5EF4-FFF2-40B4-BE49-F238E27FC236}">
                <a16:creationId xmlns:a16="http://schemas.microsoft.com/office/drawing/2014/main" id="{8120C64A-F281-84D4-02ED-57608CDAEBC6}"/>
              </a:ext>
            </a:extLst>
          </p:cNvPr>
          <p:cNvSpPr/>
          <p:nvPr/>
        </p:nvSpPr>
        <p:spPr>
          <a:xfrm>
            <a:off x="7807757" y="2233725"/>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0" name="Oval 319">
            <a:extLst>
              <a:ext uri="{FF2B5EF4-FFF2-40B4-BE49-F238E27FC236}">
                <a16:creationId xmlns:a16="http://schemas.microsoft.com/office/drawing/2014/main" id="{181F9E29-05BF-5668-0F07-DD27C6D77072}"/>
              </a:ext>
            </a:extLst>
          </p:cNvPr>
          <p:cNvSpPr/>
          <p:nvPr/>
        </p:nvSpPr>
        <p:spPr>
          <a:xfrm>
            <a:off x="8173760" y="5789726"/>
            <a:ext cx="73652" cy="82296"/>
          </a:xfrm>
          <a:prstGeom prst="ellipse">
            <a:avLst/>
          </a:prstGeom>
          <a:solidFill>
            <a:srgbClr val="FFE6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1" name="Oval 320">
            <a:extLst>
              <a:ext uri="{FF2B5EF4-FFF2-40B4-BE49-F238E27FC236}">
                <a16:creationId xmlns:a16="http://schemas.microsoft.com/office/drawing/2014/main" id="{ECE7FEA9-3951-5CA0-ABF1-4FD265C12B70}"/>
              </a:ext>
            </a:extLst>
          </p:cNvPr>
          <p:cNvSpPr/>
          <p:nvPr/>
        </p:nvSpPr>
        <p:spPr>
          <a:xfrm>
            <a:off x="8355347" y="5999276"/>
            <a:ext cx="73652" cy="82296"/>
          </a:xfrm>
          <a:prstGeom prst="ellipse">
            <a:avLst/>
          </a:prstGeom>
          <a:solidFill>
            <a:srgbClr val="FFE600"/>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2" name="Oval 321">
            <a:extLst>
              <a:ext uri="{FF2B5EF4-FFF2-40B4-BE49-F238E27FC236}">
                <a16:creationId xmlns:a16="http://schemas.microsoft.com/office/drawing/2014/main" id="{FE6554E3-116F-E7E6-8EF3-EB231D07276F}"/>
              </a:ext>
            </a:extLst>
          </p:cNvPr>
          <p:cNvSpPr/>
          <p:nvPr/>
        </p:nvSpPr>
        <p:spPr>
          <a:xfrm>
            <a:off x="9501170" y="1624124"/>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3" name="Oval 322">
            <a:extLst>
              <a:ext uri="{FF2B5EF4-FFF2-40B4-BE49-F238E27FC236}">
                <a16:creationId xmlns:a16="http://schemas.microsoft.com/office/drawing/2014/main" id="{028C56F8-41DE-BE2B-8F3B-130E7457A07A}"/>
              </a:ext>
            </a:extLst>
          </p:cNvPr>
          <p:cNvSpPr/>
          <p:nvPr/>
        </p:nvSpPr>
        <p:spPr>
          <a:xfrm>
            <a:off x="9899104" y="1835791"/>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4" name="Oval 323">
            <a:extLst>
              <a:ext uri="{FF2B5EF4-FFF2-40B4-BE49-F238E27FC236}">
                <a16:creationId xmlns:a16="http://schemas.microsoft.com/office/drawing/2014/main" id="{4AEEBFB6-527A-2085-83CC-1C6DC9F4B4F5}"/>
              </a:ext>
            </a:extLst>
          </p:cNvPr>
          <p:cNvSpPr/>
          <p:nvPr/>
        </p:nvSpPr>
        <p:spPr>
          <a:xfrm>
            <a:off x="9742972" y="2167758"/>
            <a:ext cx="73652" cy="82296"/>
          </a:xfrm>
          <a:prstGeom prst="ellipse">
            <a:avLst/>
          </a:prstGeom>
          <a:solidFill>
            <a:srgbClr val="92D05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5" name="Oval 324">
            <a:extLst>
              <a:ext uri="{FF2B5EF4-FFF2-40B4-BE49-F238E27FC236}">
                <a16:creationId xmlns:a16="http://schemas.microsoft.com/office/drawing/2014/main" id="{3C12A65D-17A6-B74D-2685-CABB460919E5}"/>
              </a:ext>
            </a:extLst>
          </p:cNvPr>
          <p:cNvSpPr/>
          <p:nvPr/>
        </p:nvSpPr>
        <p:spPr>
          <a:xfrm>
            <a:off x="8826948" y="6585707"/>
            <a:ext cx="73652" cy="82296"/>
          </a:xfrm>
          <a:prstGeom prst="ellipse">
            <a:avLst/>
          </a:prstGeom>
          <a:solidFill>
            <a:srgbClr val="92D05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6" name="Oval 325">
            <a:extLst>
              <a:ext uri="{FF2B5EF4-FFF2-40B4-BE49-F238E27FC236}">
                <a16:creationId xmlns:a16="http://schemas.microsoft.com/office/drawing/2014/main" id="{6E2C7490-E9E5-43E5-59F4-05991463D151}"/>
              </a:ext>
            </a:extLst>
          </p:cNvPr>
          <p:cNvSpPr/>
          <p:nvPr/>
        </p:nvSpPr>
        <p:spPr>
          <a:xfrm>
            <a:off x="7776323" y="6585707"/>
            <a:ext cx="73652" cy="82296"/>
          </a:xfrm>
          <a:prstGeom prst="ellipse">
            <a:avLst/>
          </a:prstGeom>
          <a:solidFill>
            <a:srgbClr val="FFE6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7" name="Oval 326">
            <a:extLst>
              <a:ext uri="{FF2B5EF4-FFF2-40B4-BE49-F238E27FC236}">
                <a16:creationId xmlns:a16="http://schemas.microsoft.com/office/drawing/2014/main" id="{C3E8FA7C-E433-C958-BA91-CEE06F3BA587}"/>
              </a:ext>
            </a:extLst>
          </p:cNvPr>
          <p:cNvSpPr/>
          <p:nvPr/>
        </p:nvSpPr>
        <p:spPr>
          <a:xfrm>
            <a:off x="6874581" y="6585707"/>
            <a:ext cx="73652" cy="82296"/>
          </a:xfrm>
          <a:prstGeom prst="ellipse">
            <a:avLst/>
          </a:prstGeom>
          <a:solidFill>
            <a:srgbClr val="FF0000"/>
          </a:solid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 name="Rectangular Callout 14">
            <a:extLst>
              <a:ext uri="{FF2B5EF4-FFF2-40B4-BE49-F238E27FC236}">
                <a16:creationId xmlns:a16="http://schemas.microsoft.com/office/drawing/2014/main" id="{E9C9DEC9-758A-6D41-9FD6-9243CA5908ED}"/>
              </a:ext>
            </a:extLst>
          </p:cNvPr>
          <p:cNvSpPr/>
          <p:nvPr/>
        </p:nvSpPr>
        <p:spPr>
          <a:xfrm>
            <a:off x="9115044" y="4427276"/>
            <a:ext cx="2962637" cy="1908118"/>
          </a:xfrm>
          <a:prstGeom prst="rect">
            <a:avLst/>
          </a:prstGeom>
          <a:noFill/>
          <a:ln w="12700" cap="flat" cmpd="sng" algn="ctr">
            <a:solidFill>
              <a:schemeClr val="bg1"/>
            </a:solidFill>
            <a:prstDash val="solid"/>
          </a:ln>
          <a:effectLst/>
        </p:spPr>
        <p:txBody>
          <a:bodyPr wrap="square" lIns="27404" tIns="91392" rIns="27404" bIns="91392" rtlCol="0" anchor="t">
            <a:spAutoFit/>
          </a:bodyPr>
          <a:lstStyle/>
          <a:p>
            <a:pPr algn="ctr" defTabSz="913029">
              <a:spcAft>
                <a:spcPts val="300"/>
              </a:spcAft>
              <a:defRPr/>
            </a:pPr>
            <a:r>
              <a:rPr lang="en-US" sz="1100" b="1" kern="0">
                <a:solidFill>
                  <a:schemeClr val="bg1"/>
                </a:solidFill>
                <a:latin typeface="EY interstate"/>
              </a:rPr>
              <a:t>Post-close validations</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Review exceptions and anomalies</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Confirm reconciliation of bank, GL, sub-ledger</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Validate accuracy of financial statements</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Compare actuals vs budget and analyze the variance</a:t>
            </a:r>
          </a:p>
          <a:p>
            <a:pPr marL="171450" indent="-171450" algn="ctr" defTabSz="913029">
              <a:spcAft>
                <a:spcPts val="300"/>
              </a:spcAft>
              <a:buFont typeface="Arial" panose="020B0604020202020204" pitchFamily="34" charset="0"/>
              <a:buChar char="•"/>
              <a:defRPr/>
            </a:pPr>
            <a:r>
              <a:rPr lang="en-US" sz="900" kern="0">
                <a:solidFill>
                  <a:schemeClr val="bg1"/>
                </a:solidFill>
                <a:latin typeface="EY interstate"/>
              </a:rPr>
              <a:t>Ensure timely &amp; accurate submission to grp consolidation</a:t>
            </a:r>
          </a:p>
          <a:p>
            <a:pPr marL="171450" indent="-171450" algn="ctr" defTabSz="913029">
              <a:spcAft>
                <a:spcPts val="300"/>
              </a:spcAft>
              <a:buFont typeface="Arial" panose="020B0604020202020204" pitchFamily="34" charset="0"/>
              <a:buChar char="•"/>
              <a:defRPr/>
            </a:pPr>
            <a:r>
              <a:rPr lang="en-IN" sz="900" kern="0">
                <a:solidFill>
                  <a:schemeClr val="bg1"/>
                </a:solidFill>
                <a:latin typeface="EY interstate"/>
              </a:rPr>
              <a:t>Control execution and documentation for audit trail</a:t>
            </a:r>
            <a:endParaRPr lang="en-US" sz="900" kern="0">
              <a:solidFill>
                <a:schemeClr val="bg1"/>
              </a:solidFill>
              <a:latin typeface="EY interstate"/>
            </a:endParaRPr>
          </a:p>
          <a:p>
            <a:pPr marL="171450" indent="-171450" algn="ctr" defTabSz="913029">
              <a:spcAft>
                <a:spcPts val="300"/>
              </a:spcAft>
              <a:buFont typeface="Arial" panose="020B0604020202020204" pitchFamily="34" charset="0"/>
              <a:buChar char="•"/>
              <a:defRPr/>
            </a:pPr>
            <a:r>
              <a:rPr lang="en-IN" sz="900" kern="0">
                <a:solidFill>
                  <a:schemeClr val="bg1"/>
                </a:solidFill>
                <a:latin typeface="EY interstate"/>
              </a:rPr>
              <a:t>Conduct post-close review with stakeholders to discuss issues and improvements</a:t>
            </a:r>
          </a:p>
          <a:p>
            <a:pPr marL="171450" indent="-171450" algn="ctr" defTabSz="913029">
              <a:spcAft>
                <a:spcPts val="300"/>
              </a:spcAft>
              <a:buFont typeface="Arial" panose="020B0604020202020204" pitchFamily="34" charset="0"/>
              <a:buChar char="•"/>
              <a:defRPr/>
            </a:pPr>
            <a:r>
              <a:rPr lang="en-IN" sz="900" kern="0">
                <a:solidFill>
                  <a:schemeClr val="bg1"/>
                </a:solidFill>
                <a:latin typeface="EY interstate"/>
              </a:rPr>
              <a:t>Archive supporting documents and close reports</a:t>
            </a:r>
            <a:endParaRPr lang="en-US" sz="900" kern="0">
              <a:solidFill>
                <a:schemeClr val="bg1"/>
              </a:solidFill>
              <a:latin typeface="EY interstate"/>
            </a:endParaRPr>
          </a:p>
        </p:txBody>
      </p:sp>
      <p:cxnSp>
        <p:nvCxnSpPr>
          <p:cNvPr id="257" name="Connector: Elbow 256">
            <a:extLst>
              <a:ext uri="{FF2B5EF4-FFF2-40B4-BE49-F238E27FC236}">
                <a16:creationId xmlns:a16="http://schemas.microsoft.com/office/drawing/2014/main" id="{5D0755CC-911F-1B50-2FFD-AFBD224F9595}"/>
              </a:ext>
            </a:extLst>
          </p:cNvPr>
          <p:cNvCxnSpPr>
            <a:cxnSpLocks/>
            <a:stCxn id="4" idx="0"/>
            <a:endCxn id="244" idx="6"/>
          </p:cNvCxnSpPr>
          <p:nvPr/>
        </p:nvCxnSpPr>
        <p:spPr>
          <a:xfrm rot="5400000" flipH="1" flipV="1">
            <a:off x="11107558" y="3800463"/>
            <a:ext cx="115618" cy="1138008"/>
          </a:xfrm>
          <a:prstGeom prst="bentConnector4">
            <a:avLst>
              <a:gd name="adj1" fmla="val 50000"/>
              <a:gd name="adj2" fmla="val 120088"/>
            </a:avLst>
          </a:prstGeom>
          <a:ln w="9525">
            <a:solidFill>
              <a:schemeClr val="bg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900188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E83598-B38C-87C0-A29C-3B55A73BBFDE}"/>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873313DF-B62D-2D8B-35B4-4B56CF3C84E1}"/>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817846C3-2AC0-FB18-3054-21341FA00508}"/>
              </a:ext>
            </a:extLst>
          </p:cNvPr>
          <p:cNvSpPr txBox="1"/>
          <p:nvPr/>
        </p:nvSpPr>
        <p:spPr>
          <a:xfrm>
            <a:off x="929639" y="2181301"/>
            <a:ext cx="4503620" cy="1446550"/>
          </a:xfrm>
          <a:prstGeom prst="rect">
            <a:avLst/>
          </a:prstGeom>
          <a:noFill/>
        </p:spPr>
        <p:txBody>
          <a:bodyPr wrap="square" rtlCol="0">
            <a:spAutoFit/>
          </a:bodyPr>
          <a:lstStyle/>
          <a:p>
            <a:r>
              <a:rPr lang="en-IN" sz="4400">
                <a:solidFill>
                  <a:srgbClr val="FFE600"/>
                </a:solidFill>
                <a:latin typeface="EYInterstate" panose="02000503020000020004" pitchFamily="2" charset="0"/>
              </a:rPr>
              <a:t>Close Preparation</a:t>
            </a:r>
          </a:p>
        </p:txBody>
      </p:sp>
    </p:spTree>
    <p:extLst>
      <p:ext uri="{BB962C8B-B14F-4D97-AF65-F5344CB8AC3E}">
        <p14:creationId xmlns:p14="http://schemas.microsoft.com/office/powerpoint/2010/main" val="341246322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BEA940-10CD-7140-5A8A-A573C158D818}"/>
              </a:ext>
            </a:extLst>
          </p:cNvPr>
          <p:cNvSpPr>
            <a:spLocks noGrp="1"/>
          </p:cNvSpPr>
          <p:nvPr>
            <p:ph type="title"/>
          </p:nvPr>
        </p:nvSpPr>
        <p:spPr>
          <a:xfrm>
            <a:off x="590750" y="403743"/>
            <a:ext cx="10972800" cy="590400"/>
          </a:xfrm>
        </p:spPr>
        <p:txBody>
          <a:bodyPr/>
          <a:lstStyle/>
          <a:p>
            <a:pPr defTabSz="913942">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Close Calendar Operating System — Best Practices</a:t>
            </a:r>
          </a:p>
        </p:txBody>
      </p:sp>
      <p:sp>
        <p:nvSpPr>
          <p:cNvPr id="5" name="Slide Number Placeholder 4">
            <a:extLst>
              <a:ext uri="{FF2B5EF4-FFF2-40B4-BE49-F238E27FC236}">
                <a16:creationId xmlns:a16="http://schemas.microsoft.com/office/drawing/2014/main" id="{EDD20011-E114-55AB-2250-8510DC94072B}"/>
              </a:ext>
            </a:extLst>
          </p:cNvPr>
          <p:cNvSpPr>
            <a:spLocks noGrp="1"/>
          </p:cNvSpPr>
          <p:nvPr>
            <p:ph type="sldNum" sz="quarter" idx="12"/>
          </p:nvPr>
        </p:nvSpPr>
        <p:spPr/>
        <p:txBody>
          <a:bodyPr/>
          <a:lstStyle/>
          <a:p>
            <a:r>
              <a:rPr lang="en-US" noProof="0"/>
              <a:t>Page </a:t>
            </a:r>
            <a:fld id="{F1BC30E3-FFE5-4B91-AA19-87A149EBB9EE}" type="slidenum">
              <a:rPr lang="en-US" noProof="0" smtClean="0"/>
              <a:pPr/>
              <a:t>6</a:t>
            </a:fld>
            <a:endParaRPr lang="en-US" noProof="0"/>
          </a:p>
        </p:txBody>
      </p:sp>
      <p:sp>
        <p:nvSpPr>
          <p:cNvPr id="4" name="Footer Placeholder 3">
            <a:extLst>
              <a:ext uri="{FF2B5EF4-FFF2-40B4-BE49-F238E27FC236}">
                <a16:creationId xmlns:a16="http://schemas.microsoft.com/office/drawing/2014/main" id="{CAEB1BE4-44F4-214B-F3FB-0753E3F0A634}"/>
              </a:ext>
            </a:extLst>
          </p:cNvPr>
          <p:cNvSpPr>
            <a:spLocks noGrp="1"/>
          </p:cNvSpPr>
          <p:nvPr>
            <p:ph type="ftr" sz="quarter" idx="4294967295"/>
          </p:nvPr>
        </p:nvSpPr>
        <p:spPr>
          <a:xfrm>
            <a:off x="0" y="6470650"/>
            <a:ext cx="3084513" cy="180975"/>
          </a:xfrm>
          <a:prstGeom prst="rect">
            <a:avLst/>
          </a:prstGeom>
        </p:spPr>
        <p:txBody>
          <a:bodyPr/>
          <a:lstStyle/>
          <a:p>
            <a:r>
              <a:rPr lang="en-US" noProof="0"/>
              <a:t>Presentation title</a:t>
            </a:r>
          </a:p>
        </p:txBody>
      </p:sp>
      <p:sp>
        <p:nvSpPr>
          <p:cNvPr id="6" name="Rectangle: Rounded Corners 5">
            <a:extLst>
              <a:ext uri="{FF2B5EF4-FFF2-40B4-BE49-F238E27FC236}">
                <a16:creationId xmlns:a16="http://schemas.microsoft.com/office/drawing/2014/main" id="{AFCA2601-1AFC-8668-BC1E-989413854B99}"/>
              </a:ext>
            </a:extLst>
          </p:cNvPr>
          <p:cNvSpPr/>
          <p:nvPr/>
        </p:nvSpPr>
        <p:spPr>
          <a:xfrm>
            <a:off x="3998616" y="1016000"/>
            <a:ext cx="3801869" cy="4385733"/>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
        <p:nvSpPr>
          <p:cNvPr id="7" name="Rectangle: Rounded Corners 6">
            <a:extLst>
              <a:ext uri="{FF2B5EF4-FFF2-40B4-BE49-F238E27FC236}">
                <a16:creationId xmlns:a16="http://schemas.microsoft.com/office/drawing/2014/main" id="{97D6CEF8-44CD-49D9-DBEA-78DF59D3D70F}"/>
              </a:ext>
            </a:extLst>
          </p:cNvPr>
          <p:cNvSpPr/>
          <p:nvPr/>
        </p:nvSpPr>
        <p:spPr>
          <a:xfrm>
            <a:off x="156652" y="1016001"/>
            <a:ext cx="3715614" cy="4385732"/>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
        <p:nvSpPr>
          <p:cNvPr id="8" name="Rectangle: Rounded Corners 7">
            <a:extLst>
              <a:ext uri="{FF2B5EF4-FFF2-40B4-BE49-F238E27FC236}">
                <a16:creationId xmlns:a16="http://schemas.microsoft.com/office/drawing/2014/main" id="{79927C9F-A438-0BFC-0BC9-04893B44863D}"/>
              </a:ext>
            </a:extLst>
          </p:cNvPr>
          <p:cNvSpPr/>
          <p:nvPr/>
        </p:nvSpPr>
        <p:spPr>
          <a:xfrm>
            <a:off x="7926835" y="994228"/>
            <a:ext cx="3801870" cy="4407505"/>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
        <p:nvSpPr>
          <p:cNvPr id="13" name="TextBox 12">
            <a:extLst>
              <a:ext uri="{FF2B5EF4-FFF2-40B4-BE49-F238E27FC236}">
                <a16:creationId xmlns:a16="http://schemas.microsoft.com/office/drawing/2014/main" id="{44D05878-1DA8-9670-1EEE-C5E9D5393C02}"/>
              </a:ext>
            </a:extLst>
          </p:cNvPr>
          <p:cNvSpPr txBox="1"/>
          <p:nvPr/>
        </p:nvSpPr>
        <p:spPr>
          <a:xfrm>
            <a:off x="411262" y="1170850"/>
            <a:ext cx="3461004" cy="307777"/>
          </a:xfrm>
          <a:prstGeom prst="rect">
            <a:avLst/>
          </a:prstGeom>
          <a:noFill/>
        </p:spPr>
        <p:txBody>
          <a:bodyPr wrap="square">
            <a:spAutoFit/>
          </a:bodyPr>
          <a:lstStyle/>
          <a:p>
            <a:pPr algn="ctr"/>
            <a:r>
              <a:rPr lang="en-IN" sz="1400">
                <a:solidFill>
                  <a:schemeClr val="bg1"/>
                </a:solidFill>
                <a:highlight>
                  <a:srgbClr val="C0C0C0"/>
                </a:highlight>
              </a:rPr>
              <a:t>    </a:t>
            </a:r>
            <a:r>
              <a:rPr lang="en-IN" sz="1400">
                <a:solidFill>
                  <a:schemeClr val="bg2"/>
                </a:solidFill>
                <a:highlight>
                  <a:srgbClr val="C0C0C0"/>
                </a:highlight>
              </a:rPr>
              <a:t>Governance &amp; Operating Model</a:t>
            </a:r>
          </a:p>
        </p:txBody>
      </p:sp>
      <p:pic>
        <p:nvPicPr>
          <p:cNvPr id="15" name="Graphic 14" descr="Address Book with solid fill">
            <a:extLst>
              <a:ext uri="{FF2B5EF4-FFF2-40B4-BE49-F238E27FC236}">
                <a16:creationId xmlns:a16="http://schemas.microsoft.com/office/drawing/2014/main" id="{26EB7A50-7EC3-F3EB-EEAC-F6EF2731EC4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7273" y="1163206"/>
            <a:ext cx="519254" cy="421068"/>
          </a:xfrm>
          <a:prstGeom prst="rect">
            <a:avLst/>
          </a:prstGeom>
        </p:spPr>
      </p:pic>
      <p:sp>
        <p:nvSpPr>
          <p:cNvPr id="25" name="TextBox 24">
            <a:extLst>
              <a:ext uri="{FF2B5EF4-FFF2-40B4-BE49-F238E27FC236}">
                <a16:creationId xmlns:a16="http://schemas.microsoft.com/office/drawing/2014/main" id="{4BB20E79-F4DF-463D-B504-18672F4BB03F}"/>
              </a:ext>
            </a:extLst>
          </p:cNvPr>
          <p:cNvSpPr txBox="1"/>
          <p:nvPr/>
        </p:nvSpPr>
        <p:spPr>
          <a:xfrm>
            <a:off x="216313" y="1665845"/>
            <a:ext cx="3543300" cy="1331134"/>
          </a:xfrm>
          <a:prstGeom prst="rect">
            <a:avLst/>
          </a:prstGeom>
          <a:noFill/>
        </p:spPr>
        <p:txBody>
          <a:bodyPr wrap="square">
            <a:spAutoFit/>
          </a:bodyPr>
          <a:lstStyle/>
          <a:p>
            <a:pPr marL="171450" indent="-171450">
              <a:buFont typeface="Wingdings" panose="05000000000000000000" pitchFamily="2" charset="2"/>
              <a:buChar char="ü"/>
              <a:defRPr sz="1150">
                <a:solidFill>
                  <a:srgbClr val="161C24"/>
                </a:solidFill>
              </a:defRPr>
            </a:pPr>
            <a:r>
              <a:rPr lang="en-IN">
                <a:solidFill>
                  <a:schemeClr val="bg1"/>
                </a:solidFill>
              </a:rPr>
              <a:t>Close Owner + Close Council </a:t>
            </a:r>
          </a:p>
          <a:p>
            <a:pPr marL="171450" indent="-171450">
              <a:buFont typeface="Wingdings" panose="05000000000000000000" pitchFamily="2" charset="2"/>
              <a:buChar char="ü"/>
              <a:defRPr sz="1150">
                <a:solidFill>
                  <a:srgbClr val="161C24"/>
                </a:solidFill>
              </a:defRPr>
            </a:pPr>
            <a:r>
              <a:rPr lang="en-IN">
                <a:solidFill>
                  <a:schemeClr val="bg1"/>
                </a:solidFill>
              </a:rPr>
              <a:t>Policy stack: Close Policy, Close Charter, desk procedures per workstream</a:t>
            </a:r>
          </a:p>
          <a:p>
            <a:pPr marL="171450" indent="-171450">
              <a:buFont typeface="Wingdings" panose="05000000000000000000" pitchFamily="2" charset="2"/>
              <a:buChar char="ü"/>
              <a:defRPr sz="1150">
                <a:solidFill>
                  <a:srgbClr val="161C24"/>
                </a:solidFill>
              </a:defRPr>
            </a:pPr>
            <a:r>
              <a:rPr lang="en-IN">
                <a:solidFill>
                  <a:schemeClr val="bg1"/>
                </a:solidFill>
              </a:rPr>
              <a:t>RACI &amp; backups per task; escalation paths published</a:t>
            </a:r>
          </a:p>
          <a:p>
            <a:pPr marL="171450" indent="-171450">
              <a:buFont typeface="Wingdings" panose="05000000000000000000" pitchFamily="2" charset="2"/>
              <a:buChar char="ü"/>
              <a:defRPr sz="1150">
                <a:solidFill>
                  <a:srgbClr val="161C24"/>
                </a:solidFill>
              </a:defRPr>
            </a:pPr>
            <a:r>
              <a:rPr lang="en-IN">
                <a:solidFill>
                  <a:schemeClr val="bg1"/>
                </a:solidFill>
              </a:rPr>
              <a:t>Entity tiering (Tier 1/2/3) — differentiated SLAs, documentation, review rigor</a:t>
            </a:r>
          </a:p>
        </p:txBody>
      </p:sp>
      <p:pic>
        <p:nvPicPr>
          <p:cNvPr id="27" name="Graphic 26" descr="Clipboard Checked with solid fill">
            <a:extLst>
              <a:ext uri="{FF2B5EF4-FFF2-40B4-BE49-F238E27FC236}">
                <a16:creationId xmlns:a16="http://schemas.microsoft.com/office/drawing/2014/main" id="{0C699A66-8052-D389-DBAA-311C8EDCC13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11855" y="3355196"/>
            <a:ext cx="457847" cy="457847"/>
          </a:xfrm>
          <a:prstGeom prst="rect">
            <a:avLst/>
          </a:prstGeom>
        </p:spPr>
      </p:pic>
      <p:sp>
        <p:nvSpPr>
          <p:cNvPr id="28" name="TextBox 27">
            <a:extLst>
              <a:ext uri="{FF2B5EF4-FFF2-40B4-BE49-F238E27FC236}">
                <a16:creationId xmlns:a16="http://schemas.microsoft.com/office/drawing/2014/main" id="{8D89230B-9B21-7820-7EEC-2B54BC01CCCF}"/>
              </a:ext>
            </a:extLst>
          </p:cNvPr>
          <p:cNvSpPr txBox="1"/>
          <p:nvPr/>
        </p:nvSpPr>
        <p:spPr>
          <a:xfrm>
            <a:off x="8154296" y="3351923"/>
            <a:ext cx="3548918" cy="523220"/>
          </a:xfrm>
          <a:prstGeom prst="rect">
            <a:avLst/>
          </a:prstGeom>
          <a:noFill/>
        </p:spPr>
        <p:txBody>
          <a:bodyPr wrap="square">
            <a:spAutoFit/>
          </a:bodyPr>
          <a:lstStyle/>
          <a:p>
            <a:pPr algn="ctr"/>
            <a:r>
              <a:rPr lang="en-IN" sz="1400">
                <a:solidFill>
                  <a:schemeClr val="bg2"/>
                </a:solidFill>
                <a:highlight>
                  <a:srgbClr val="C0C0C0"/>
                </a:highlight>
              </a:rPr>
              <a:t>Special Situations &amp; Continuous Improvement</a:t>
            </a:r>
          </a:p>
        </p:txBody>
      </p:sp>
      <p:sp>
        <p:nvSpPr>
          <p:cNvPr id="29" name="TextBox 28">
            <a:extLst>
              <a:ext uri="{FF2B5EF4-FFF2-40B4-BE49-F238E27FC236}">
                <a16:creationId xmlns:a16="http://schemas.microsoft.com/office/drawing/2014/main" id="{A17F1FEC-E3F4-FF21-0162-B07407E17BEF}"/>
              </a:ext>
            </a:extLst>
          </p:cNvPr>
          <p:cNvSpPr txBox="1"/>
          <p:nvPr/>
        </p:nvSpPr>
        <p:spPr>
          <a:xfrm>
            <a:off x="8267701" y="1163206"/>
            <a:ext cx="3461004" cy="307777"/>
          </a:xfrm>
          <a:prstGeom prst="rect">
            <a:avLst/>
          </a:prstGeom>
          <a:noFill/>
        </p:spPr>
        <p:txBody>
          <a:bodyPr wrap="square">
            <a:spAutoFit/>
          </a:bodyPr>
          <a:lstStyle/>
          <a:p>
            <a:pPr algn="ctr"/>
            <a:r>
              <a:rPr lang="en-IN" sz="1400">
                <a:solidFill>
                  <a:schemeClr val="bg1"/>
                </a:solidFill>
                <a:highlight>
                  <a:srgbClr val="C0C0C0"/>
                </a:highlight>
              </a:rPr>
              <a:t>    </a:t>
            </a:r>
            <a:r>
              <a:rPr lang="en-IN" sz="1400">
                <a:solidFill>
                  <a:schemeClr val="bg2"/>
                </a:solidFill>
                <a:highlight>
                  <a:srgbClr val="C0C0C0"/>
                </a:highlight>
              </a:rPr>
              <a:t>Data, Systems &amp; Automation</a:t>
            </a:r>
          </a:p>
        </p:txBody>
      </p:sp>
      <p:sp>
        <p:nvSpPr>
          <p:cNvPr id="30" name="TextBox 29">
            <a:extLst>
              <a:ext uri="{FF2B5EF4-FFF2-40B4-BE49-F238E27FC236}">
                <a16:creationId xmlns:a16="http://schemas.microsoft.com/office/drawing/2014/main" id="{2F02C82B-7DF7-77A2-30C4-A388014B3CD3}"/>
              </a:ext>
            </a:extLst>
          </p:cNvPr>
          <p:cNvSpPr txBox="1"/>
          <p:nvPr/>
        </p:nvSpPr>
        <p:spPr>
          <a:xfrm>
            <a:off x="240830" y="3349503"/>
            <a:ext cx="3461004" cy="307777"/>
          </a:xfrm>
          <a:prstGeom prst="rect">
            <a:avLst/>
          </a:prstGeom>
          <a:noFill/>
        </p:spPr>
        <p:txBody>
          <a:bodyPr wrap="square">
            <a:spAutoFit/>
          </a:bodyPr>
          <a:lstStyle/>
          <a:p>
            <a:pPr algn="ctr"/>
            <a:r>
              <a:rPr lang="en-IN" sz="1400">
                <a:solidFill>
                  <a:schemeClr val="bg1"/>
                </a:solidFill>
                <a:highlight>
                  <a:srgbClr val="C0C0C0"/>
                </a:highlight>
              </a:rPr>
              <a:t>    </a:t>
            </a:r>
            <a:r>
              <a:rPr lang="en-IN" sz="1400">
                <a:solidFill>
                  <a:schemeClr val="bg2"/>
                </a:solidFill>
                <a:highlight>
                  <a:srgbClr val="C0C0C0"/>
                </a:highlight>
              </a:rPr>
              <a:t>Calendar Design Principles</a:t>
            </a:r>
          </a:p>
        </p:txBody>
      </p:sp>
      <p:sp>
        <p:nvSpPr>
          <p:cNvPr id="31" name="TextBox 30">
            <a:extLst>
              <a:ext uri="{FF2B5EF4-FFF2-40B4-BE49-F238E27FC236}">
                <a16:creationId xmlns:a16="http://schemas.microsoft.com/office/drawing/2014/main" id="{3C7989B1-A2FD-C79E-5DA2-BB2E61B76BB9}"/>
              </a:ext>
            </a:extLst>
          </p:cNvPr>
          <p:cNvSpPr txBox="1"/>
          <p:nvPr/>
        </p:nvSpPr>
        <p:spPr>
          <a:xfrm>
            <a:off x="4295398" y="1170850"/>
            <a:ext cx="3461004" cy="307777"/>
          </a:xfrm>
          <a:prstGeom prst="rect">
            <a:avLst/>
          </a:prstGeom>
          <a:noFill/>
        </p:spPr>
        <p:txBody>
          <a:bodyPr wrap="square">
            <a:spAutoFit/>
          </a:bodyPr>
          <a:lstStyle/>
          <a:p>
            <a:pPr algn="ctr"/>
            <a:r>
              <a:rPr lang="en-IN" sz="1400">
                <a:solidFill>
                  <a:schemeClr val="bg1"/>
                </a:solidFill>
                <a:highlight>
                  <a:srgbClr val="C0C0C0"/>
                </a:highlight>
              </a:rPr>
              <a:t>    </a:t>
            </a:r>
            <a:r>
              <a:rPr lang="en-IN" sz="1400">
                <a:solidFill>
                  <a:schemeClr val="bg2"/>
                </a:solidFill>
                <a:highlight>
                  <a:srgbClr val="C0C0C0"/>
                </a:highlight>
              </a:rPr>
              <a:t>Standardized Work &amp; Checklists</a:t>
            </a:r>
          </a:p>
        </p:txBody>
      </p:sp>
      <p:sp>
        <p:nvSpPr>
          <p:cNvPr id="32" name="TextBox 31">
            <a:extLst>
              <a:ext uri="{FF2B5EF4-FFF2-40B4-BE49-F238E27FC236}">
                <a16:creationId xmlns:a16="http://schemas.microsoft.com/office/drawing/2014/main" id="{8829FCDD-D516-406D-0A0D-9AF98EE0B4D9}"/>
              </a:ext>
            </a:extLst>
          </p:cNvPr>
          <p:cNvSpPr txBox="1"/>
          <p:nvPr/>
        </p:nvSpPr>
        <p:spPr>
          <a:xfrm>
            <a:off x="4254757" y="3355196"/>
            <a:ext cx="3682485" cy="307777"/>
          </a:xfrm>
          <a:prstGeom prst="rect">
            <a:avLst/>
          </a:prstGeom>
          <a:noFill/>
        </p:spPr>
        <p:txBody>
          <a:bodyPr wrap="square">
            <a:spAutoFit/>
          </a:bodyPr>
          <a:lstStyle/>
          <a:p>
            <a:pPr algn="ctr"/>
            <a:r>
              <a:rPr lang="en-IN" sz="1400">
                <a:solidFill>
                  <a:schemeClr val="bg1"/>
                </a:solidFill>
                <a:highlight>
                  <a:srgbClr val="C0C0C0"/>
                </a:highlight>
              </a:rPr>
              <a:t>    </a:t>
            </a:r>
            <a:r>
              <a:rPr lang="en-IN" sz="1400">
                <a:solidFill>
                  <a:schemeClr val="bg2"/>
                </a:solidFill>
                <a:highlight>
                  <a:srgbClr val="C0C0C0"/>
                </a:highlight>
              </a:rPr>
              <a:t>Controls &amp; Compliance (SOX/COSO/IIA)</a:t>
            </a:r>
          </a:p>
        </p:txBody>
      </p:sp>
      <p:pic>
        <p:nvPicPr>
          <p:cNvPr id="36" name="Graphic 35" descr="Presentation with checklist with solid fill">
            <a:extLst>
              <a:ext uri="{FF2B5EF4-FFF2-40B4-BE49-F238E27FC236}">
                <a16:creationId xmlns:a16="http://schemas.microsoft.com/office/drawing/2014/main" id="{E8290413-C1C7-D5E9-E0BE-FC27C8298D9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167910" y="1148730"/>
            <a:ext cx="508693" cy="508693"/>
          </a:xfrm>
          <a:prstGeom prst="rect">
            <a:avLst/>
          </a:prstGeom>
        </p:spPr>
      </p:pic>
      <p:pic>
        <p:nvPicPr>
          <p:cNvPr id="38" name="Graphic 37" descr="Comment Like outline">
            <a:extLst>
              <a:ext uri="{FF2B5EF4-FFF2-40B4-BE49-F238E27FC236}">
                <a16:creationId xmlns:a16="http://schemas.microsoft.com/office/drawing/2014/main" id="{784D320B-B033-D167-E13A-E3BF0996F98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984463" y="3304350"/>
            <a:ext cx="508693" cy="508693"/>
          </a:xfrm>
          <a:prstGeom prst="rect">
            <a:avLst/>
          </a:prstGeom>
        </p:spPr>
      </p:pic>
      <p:pic>
        <p:nvPicPr>
          <p:cNvPr id="40" name="Graphic 39" descr="Cloud outline">
            <a:extLst>
              <a:ext uri="{FF2B5EF4-FFF2-40B4-BE49-F238E27FC236}">
                <a16:creationId xmlns:a16="http://schemas.microsoft.com/office/drawing/2014/main" id="{0171A3BB-35C8-18C6-7CE7-0E9B4C1842F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129826" y="1060514"/>
            <a:ext cx="528447" cy="528447"/>
          </a:xfrm>
          <a:prstGeom prst="rect">
            <a:avLst/>
          </a:prstGeom>
        </p:spPr>
      </p:pic>
      <p:sp>
        <p:nvSpPr>
          <p:cNvPr id="41" name="TextBox 40">
            <a:extLst>
              <a:ext uri="{FF2B5EF4-FFF2-40B4-BE49-F238E27FC236}">
                <a16:creationId xmlns:a16="http://schemas.microsoft.com/office/drawing/2014/main" id="{6CD721EA-BD20-3A20-643F-F503D03AC090}"/>
              </a:ext>
            </a:extLst>
          </p:cNvPr>
          <p:cNvSpPr txBox="1"/>
          <p:nvPr/>
        </p:nvSpPr>
        <p:spPr>
          <a:xfrm>
            <a:off x="156652" y="3864593"/>
            <a:ext cx="3543300" cy="1154162"/>
          </a:xfrm>
          <a:prstGeom prst="rect">
            <a:avLst/>
          </a:prstGeom>
          <a:noFill/>
        </p:spPr>
        <p:txBody>
          <a:bodyPr wrap="square">
            <a:spAutoFit/>
          </a:bodyPr>
          <a:lstStyle/>
          <a:p>
            <a:pPr marL="171450" indent="-171450">
              <a:buFont typeface="Wingdings" panose="05000000000000000000" pitchFamily="2" charset="2"/>
              <a:buChar char="ü"/>
              <a:defRPr sz="1150">
                <a:solidFill>
                  <a:srgbClr val="161C24"/>
                </a:solidFill>
              </a:defRPr>
            </a:pPr>
            <a:r>
              <a:rPr lang="en-IN">
                <a:solidFill>
                  <a:schemeClr val="bg1"/>
                </a:solidFill>
              </a:rPr>
              <a:t>Backward schedule from external reporting/board deadlines; derive critical path.</a:t>
            </a:r>
          </a:p>
          <a:p>
            <a:pPr marL="171450" indent="-171450">
              <a:buFont typeface="Wingdings" panose="05000000000000000000" pitchFamily="2" charset="2"/>
              <a:buChar char="ü"/>
              <a:defRPr sz="1150">
                <a:solidFill>
                  <a:srgbClr val="161C24"/>
                </a:solidFill>
              </a:defRPr>
            </a:pPr>
            <a:r>
              <a:rPr lang="en-IN">
                <a:solidFill>
                  <a:schemeClr val="bg1"/>
                </a:solidFill>
              </a:rPr>
              <a:t>Use wave‑based, follow‑the‑sun scheduling for global teams.</a:t>
            </a:r>
          </a:p>
          <a:p>
            <a:pPr marL="171450" indent="-171450">
              <a:buFont typeface="Wingdings" panose="05000000000000000000" pitchFamily="2" charset="2"/>
              <a:buChar char="ü"/>
              <a:defRPr sz="1150">
                <a:solidFill>
                  <a:srgbClr val="161C24"/>
                </a:solidFill>
              </a:defRPr>
            </a:pPr>
            <a:r>
              <a:rPr lang="en-IN">
                <a:solidFill>
                  <a:schemeClr val="bg1"/>
                </a:solidFill>
              </a:rPr>
              <a:t>Enforce freeze windows &amp; Late Adjustment Policy with thresholds and approvals.</a:t>
            </a:r>
          </a:p>
        </p:txBody>
      </p:sp>
      <p:sp>
        <p:nvSpPr>
          <p:cNvPr id="42" name="TextBox 41">
            <a:extLst>
              <a:ext uri="{FF2B5EF4-FFF2-40B4-BE49-F238E27FC236}">
                <a16:creationId xmlns:a16="http://schemas.microsoft.com/office/drawing/2014/main" id="{758E8718-96EB-FF34-62A7-EFB016187C7E}"/>
              </a:ext>
            </a:extLst>
          </p:cNvPr>
          <p:cNvSpPr txBox="1"/>
          <p:nvPr/>
        </p:nvSpPr>
        <p:spPr>
          <a:xfrm>
            <a:off x="7980882" y="1639961"/>
            <a:ext cx="3543300" cy="1154162"/>
          </a:xfrm>
          <a:prstGeom prst="rect">
            <a:avLst/>
          </a:prstGeom>
          <a:noFill/>
        </p:spPr>
        <p:txBody>
          <a:bodyPr wrap="square">
            <a:spAutoFit/>
          </a:bodyPr>
          <a:lstStyle/>
          <a:p>
            <a:pPr marL="171450" indent="-171450">
              <a:buFont typeface="Wingdings" panose="05000000000000000000" pitchFamily="2" charset="2"/>
              <a:buChar char="ü"/>
              <a:defRPr sz="1150">
                <a:solidFill>
                  <a:srgbClr val="161C24"/>
                </a:solidFill>
              </a:defRPr>
            </a:pPr>
            <a:r>
              <a:rPr lang="en-IN">
                <a:solidFill>
                  <a:schemeClr val="bg1"/>
                </a:solidFill>
              </a:rPr>
              <a:t>Deploy close orchestration tools integrated with ERP and consolidation systems.</a:t>
            </a:r>
          </a:p>
          <a:p>
            <a:pPr marL="171450" indent="-171450">
              <a:buFont typeface="Wingdings" panose="05000000000000000000" pitchFamily="2" charset="2"/>
              <a:buChar char="ü"/>
              <a:defRPr sz="1150">
                <a:solidFill>
                  <a:srgbClr val="161C24"/>
                </a:solidFill>
              </a:defRPr>
            </a:pPr>
            <a:r>
              <a:rPr lang="en-IN">
                <a:solidFill>
                  <a:schemeClr val="bg1"/>
                </a:solidFill>
              </a:rPr>
              <a:t>Automate high‑volume recs, IC matching/ </a:t>
            </a:r>
            <a:r>
              <a:rPr lang="en-IN" err="1">
                <a:solidFill>
                  <a:schemeClr val="bg1"/>
                </a:solidFill>
              </a:rPr>
              <a:t>elims</a:t>
            </a:r>
            <a:r>
              <a:rPr lang="en-IN">
                <a:solidFill>
                  <a:schemeClr val="bg1"/>
                </a:solidFill>
              </a:rPr>
              <a:t>, recurring JEs, variance alerts.</a:t>
            </a:r>
          </a:p>
          <a:p>
            <a:pPr marL="171450" indent="-171450">
              <a:buFont typeface="Wingdings" panose="05000000000000000000" pitchFamily="2" charset="2"/>
              <a:buChar char="ü"/>
              <a:defRPr sz="1150">
                <a:solidFill>
                  <a:srgbClr val="161C24"/>
                </a:solidFill>
              </a:defRPr>
            </a:pPr>
            <a:r>
              <a:rPr lang="en-IN">
                <a:solidFill>
                  <a:schemeClr val="bg1"/>
                </a:solidFill>
              </a:rPr>
              <a:t>Standardize COA, entity attributes, calendars with master data governance.</a:t>
            </a:r>
          </a:p>
        </p:txBody>
      </p:sp>
      <p:sp>
        <p:nvSpPr>
          <p:cNvPr id="43" name="TextBox 42">
            <a:extLst>
              <a:ext uri="{FF2B5EF4-FFF2-40B4-BE49-F238E27FC236}">
                <a16:creationId xmlns:a16="http://schemas.microsoft.com/office/drawing/2014/main" id="{10F47E0E-1EEF-6C0F-C874-29F3D30CD526}"/>
              </a:ext>
            </a:extLst>
          </p:cNvPr>
          <p:cNvSpPr txBox="1"/>
          <p:nvPr/>
        </p:nvSpPr>
        <p:spPr>
          <a:xfrm>
            <a:off x="4098773" y="1679543"/>
            <a:ext cx="3543300" cy="1331134"/>
          </a:xfrm>
          <a:prstGeom prst="rect">
            <a:avLst/>
          </a:prstGeom>
          <a:noFill/>
        </p:spPr>
        <p:txBody>
          <a:bodyPr wrap="square">
            <a:spAutoFit/>
          </a:bodyPr>
          <a:lstStyle/>
          <a:p>
            <a:pPr marL="171450" indent="-171450">
              <a:buFont typeface="Wingdings" panose="05000000000000000000" pitchFamily="2" charset="2"/>
              <a:buChar char="ü"/>
              <a:defRPr sz="1150">
                <a:solidFill>
                  <a:srgbClr val="161C24"/>
                </a:solidFill>
              </a:defRPr>
            </a:pPr>
            <a:r>
              <a:rPr lang="en-IN">
                <a:solidFill>
                  <a:schemeClr val="bg1"/>
                </a:solidFill>
              </a:rPr>
              <a:t>Master WBS: task templates, durations, dependencies, evidence</a:t>
            </a:r>
          </a:p>
          <a:p>
            <a:pPr marL="171450" indent="-171450">
              <a:buFont typeface="Wingdings" panose="05000000000000000000" pitchFamily="2" charset="2"/>
              <a:buChar char="ü"/>
              <a:defRPr sz="1150">
                <a:solidFill>
                  <a:srgbClr val="161C24"/>
                </a:solidFill>
              </a:defRPr>
            </a:pPr>
            <a:r>
              <a:rPr lang="en-IN">
                <a:solidFill>
                  <a:schemeClr val="bg1"/>
                </a:solidFill>
              </a:rPr>
              <a:t>Pre‑close: GR/IR &amp; suspense clean‑up; recurring JEs; unbilled/unearned review</a:t>
            </a:r>
          </a:p>
          <a:p>
            <a:pPr marL="171450" indent="-171450">
              <a:buFont typeface="Wingdings" panose="05000000000000000000" pitchFamily="2" charset="2"/>
              <a:buChar char="ü"/>
              <a:defRPr sz="1150">
                <a:solidFill>
                  <a:srgbClr val="161C24"/>
                </a:solidFill>
              </a:defRPr>
            </a:pPr>
            <a:r>
              <a:rPr lang="en-IN">
                <a:solidFill>
                  <a:schemeClr val="bg1"/>
                </a:solidFill>
              </a:rPr>
              <a:t>Close‑day: regional cutoffs, subledger locks, interface monitors, rate/freeze updates</a:t>
            </a:r>
          </a:p>
          <a:p>
            <a:pPr>
              <a:defRPr sz="1150">
                <a:solidFill>
                  <a:srgbClr val="161C24"/>
                </a:solidFill>
              </a:defRPr>
            </a:pPr>
            <a:endParaRPr lang="en-IN">
              <a:solidFill>
                <a:schemeClr val="bg1"/>
              </a:solidFill>
            </a:endParaRPr>
          </a:p>
        </p:txBody>
      </p:sp>
      <p:sp>
        <p:nvSpPr>
          <p:cNvPr id="44" name="TextBox 43">
            <a:extLst>
              <a:ext uri="{FF2B5EF4-FFF2-40B4-BE49-F238E27FC236}">
                <a16:creationId xmlns:a16="http://schemas.microsoft.com/office/drawing/2014/main" id="{CC00A396-C2FB-0FDE-BF1E-7E7ECA8440BB}"/>
              </a:ext>
            </a:extLst>
          </p:cNvPr>
          <p:cNvSpPr txBox="1"/>
          <p:nvPr/>
        </p:nvSpPr>
        <p:spPr>
          <a:xfrm>
            <a:off x="4098773" y="3892583"/>
            <a:ext cx="3543300" cy="1154162"/>
          </a:xfrm>
          <a:prstGeom prst="rect">
            <a:avLst/>
          </a:prstGeom>
          <a:noFill/>
        </p:spPr>
        <p:txBody>
          <a:bodyPr wrap="square">
            <a:spAutoFit/>
          </a:bodyPr>
          <a:lstStyle/>
          <a:p>
            <a:pPr marL="171450" indent="-171450">
              <a:buFont typeface="Wingdings" panose="05000000000000000000" pitchFamily="2" charset="2"/>
              <a:buChar char="ü"/>
              <a:defRPr sz="1150">
                <a:solidFill>
                  <a:srgbClr val="161C24"/>
                </a:solidFill>
              </a:defRPr>
            </a:pPr>
            <a:r>
              <a:rPr lang="en-IN">
                <a:solidFill>
                  <a:schemeClr val="bg1"/>
                </a:solidFill>
              </a:rPr>
              <a:t>Strict period management: open/close controls, role‑based posting, dual approvals.</a:t>
            </a:r>
          </a:p>
          <a:p>
            <a:pPr marL="171450" indent="-171450">
              <a:buFont typeface="Wingdings" panose="05000000000000000000" pitchFamily="2" charset="2"/>
              <a:buChar char="ü"/>
              <a:defRPr sz="1150">
                <a:solidFill>
                  <a:srgbClr val="161C24"/>
                </a:solidFill>
              </a:defRPr>
            </a:pPr>
            <a:r>
              <a:rPr lang="en-IN">
                <a:solidFill>
                  <a:schemeClr val="bg1"/>
                </a:solidFill>
              </a:rPr>
              <a:t>Segregation of duties for JEs, recs, approvals; automate SOD checks.</a:t>
            </a:r>
          </a:p>
          <a:p>
            <a:pPr marL="171450" indent="-171450">
              <a:buFont typeface="Wingdings" panose="05000000000000000000" pitchFamily="2" charset="2"/>
              <a:buChar char="ü"/>
              <a:defRPr sz="1150">
                <a:solidFill>
                  <a:srgbClr val="161C24"/>
                </a:solidFill>
              </a:defRPr>
            </a:pPr>
            <a:r>
              <a:rPr lang="en-IN">
                <a:solidFill>
                  <a:schemeClr val="bg1"/>
                </a:solidFill>
              </a:rPr>
              <a:t>Centralize evidence repository aligned to PBC and SOX/COSO standards.</a:t>
            </a:r>
          </a:p>
        </p:txBody>
      </p:sp>
      <p:sp>
        <p:nvSpPr>
          <p:cNvPr id="45" name="TextBox 44">
            <a:extLst>
              <a:ext uri="{FF2B5EF4-FFF2-40B4-BE49-F238E27FC236}">
                <a16:creationId xmlns:a16="http://schemas.microsoft.com/office/drawing/2014/main" id="{34028165-94E5-5CB9-FCDE-B2A1B0B3B4EA}"/>
              </a:ext>
            </a:extLst>
          </p:cNvPr>
          <p:cNvSpPr txBox="1"/>
          <p:nvPr/>
        </p:nvSpPr>
        <p:spPr>
          <a:xfrm>
            <a:off x="8026065" y="3941579"/>
            <a:ext cx="3543300" cy="1154162"/>
          </a:xfrm>
          <a:prstGeom prst="rect">
            <a:avLst/>
          </a:prstGeom>
          <a:noFill/>
        </p:spPr>
        <p:txBody>
          <a:bodyPr wrap="square">
            <a:spAutoFit/>
          </a:bodyPr>
          <a:lstStyle/>
          <a:p>
            <a:pPr marL="171450" indent="-171450">
              <a:buFont typeface="Wingdings" panose="05000000000000000000" pitchFamily="2" charset="2"/>
              <a:buChar char="ü"/>
              <a:defRPr sz="1150">
                <a:solidFill>
                  <a:srgbClr val="161C24"/>
                </a:solidFill>
              </a:defRPr>
            </a:pPr>
            <a:r>
              <a:rPr lang="en-IN">
                <a:solidFill>
                  <a:schemeClr val="bg1"/>
                </a:solidFill>
              </a:rPr>
              <a:t>For quarter/year‑end, enforce stricter thresholds and enhanced evidence.</a:t>
            </a:r>
          </a:p>
          <a:p>
            <a:pPr marL="171450" indent="-171450">
              <a:buFont typeface="Wingdings" panose="05000000000000000000" pitchFamily="2" charset="2"/>
              <a:buChar char="ü"/>
              <a:defRPr sz="1150">
                <a:solidFill>
                  <a:srgbClr val="161C24"/>
                </a:solidFill>
              </a:defRPr>
            </a:pPr>
            <a:r>
              <a:rPr lang="en-IN">
                <a:solidFill>
                  <a:schemeClr val="bg1"/>
                </a:solidFill>
              </a:rPr>
              <a:t>For M&amp;A/reorgs, use ring‑fenced calendars and trial consolidations.</a:t>
            </a:r>
          </a:p>
          <a:p>
            <a:pPr marL="171450" indent="-171450">
              <a:buFont typeface="Wingdings" panose="05000000000000000000" pitchFamily="2" charset="2"/>
              <a:buChar char="ü"/>
              <a:defRPr sz="1150">
                <a:solidFill>
                  <a:srgbClr val="161C24"/>
                </a:solidFill>
              </a:defRPr>
            </a:pPr>
            <a:r>
              <a:rPr lang="en-IN">
                <a:solidFill>
                  <a:schemeClr val="bg1"/>
                </a:solidFill>
              </a:rPr>
              <a:t>For multi‑GAAP/currency, define rate freeze and translation cutoffs early.</a:t>
            </a:r>
          </a:p>
        </p:txBody>
      </p:sp>
      <p:pic>
        <p:nvPicPr>
          <p:cNvPr id="47" name="Graphic 46" descr="Business Growth with solid fill">
            <a:extLst>
              <a:ext uri="{FF2B5EF4-FFF2-40B4-BE49-F238E27FC236}">
                <a16:creationId xmlns:a16="http://schemas.microsoft.com/office/drawing/2014/main" id="{B3FD93E0-BDDC-0539-6579-8B53B348C1D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8056626" y="3317862"/>
            <a:ext cx="399638" cy="399638"/>
          </a:xfrm>
          <a:prstGeom prst="rect">
            <a:avLst/>
          </a:prstGeom>
        </p:spPr>
      </p:pic>
      <p:graphicFrame>
        <p:nvGraphicFramePr>
          <p:cNvPr id="48" name="Diagram 47">
            <a:extLst>
              <a:ext uri="{FF2B5EF4-FFF2-40B4-BE49-F238E27FC236}">
                <a16:creationId xmlns:a16="http://schemas.microsoft.com/office/drawing/2014/main" id="{F3A7B76F-08C3-6DFE-54FE-C6D9F0CA89BD}"/>
              </a:ext>
            </a:extLst>
          </p:cNvPr>
          <p:cNvGraphicFramePr/>
          <p:nvPr>
            <p:extLst>
              <p:ext uri="{D42A27DB-BD31-4B8C-83A1-F6EECF244321}">
                <p14:modId xmlns:p14="http://schemas.microsoft.com/office/powerpoint/2010/main" val="3561858520"/>
              </p:ext>
            </p:extLst>
          </p:nvPr>
        </p:nvGraphicFramePr>
        <p:xfrm>
          <a:off x="1730227" y="5508583"/>
          <a:ext cx="8198528" cy="1096225"/>
        </p:xfrm>
        <a:graphic>
          <a:graphicData uri="http://schemas.openxmlformats.org/drawingml/2006/diagram">
            <dgm:relIds xmlns:dgm="http://schemas.openxmlformats.org/drawingml/2006/diagram" xmlns:r="http://schemas.openxmlformats.org/officeDocument/2006/relationships" r:dm="rId14" r:lo="rId15" r:qs="rId16" r:cs="rId17"/>
          </a:graphicData>
        </a:graphic>
      </p:graphicFrame>
      <p:sp>
        <p:nvSpPr>
          <p:cNvPr id="53" name="TextBox 52">
            <a:extLst>
              <a:ext uri="{FF2B5EF4-FFF2-40B4-BE49-F238E27FC236}">
                <a16:creationId xmlns:a16="http://schemas.microsoft.com/office/drawing/2014/main" id="{A9349BD0-5CED-1A3E-F131-2541B3CFB284}"/>
              </a:ext>
            </a:extLst>
          </p:cNvPr>
          <p:cNvSpPr txBox="1"/>
          <p:nvPr/>
        </p:nvSpPr>
        <p:spPr>
          <a:xfrm>
            <a:off x="234401" y="5759950"/>
            <a:ext cx="1161345" cy="512014"/>
          </a:xfrm>
          <a:prstGeom prst="rect">
            <a:avLst/>
          </a:prstGeom>
          <a:solidFill>
            <a:srgbClr val="FFE600"/>
          </a:solidFill>
          <a:ln>
            <a:solidFill>
              <a:schemeClr val="bg1"/>
            </a:solidFill>
          </a:ln>
        </p:spPr>
        <p:style>
          <a:lnRef idx="1">
            <a:schemeClr val="accent1"/>
          </a:lnRef>
          <a:fillRef idx="2">
            <a:schemeClr val="accent1"/>
          </a:fillRef>
          <a:effectRef idx="1">
            <a:schemeClr val="accent1"/>
          </a:effectRef>
          <a:fontRef idx="minor">
            <a:schemeClr val="dk1"/>
          </a:fontRef>
        </p:style>
        <p:txBody>
          <a:bodyPr wrap="square" lIns="0" tIns="36576" rIns="0" bIns="0" rtlCol="0">
            <a:spAutoFit/>
          </a:bodyPr>
          <a:lstStyle/>
          <a:p>
            <a:pPr marL="356616" indent="-356616">
              <a:lnSpc>
                <a:spcPct val="85000"/>
              </a:lnSpc>
              <a:spcAft>
                <a:spcPts val="600"/>
              </a:spcAft>
              <a:buClr>
                <a:schemeClr val="accent2"/>
              </a:buClr>
              <a:buSzPct val="70000"/>
              <a:buFont typeface="Arial" pitchFamily="34" charset="0"/>
              <a:buChar char="►"/>
            </a:pPr>
            <a:endParaRPr lang="en-IN" sz="1200" err="1">
              <a:solidFill>
                <a:schemeClr val="bg1"/>
              </a:solidFill>
            </a:endParaRPr>
          </a:p>
        </p:txBody>
      </p:sp>
      <p:sp>
        <p:nvSpPr>
          <p:cNvPr id="49" name="TextBox 48">
            <a:extLst>
              <a:ext uri="{FF2B5EF4-FFF2-40B4-BE49-F238E27FC236}">
                <a16:creationId xmlns:a16="http://schemas.microsoft.com/office/drawing/2014/main" id="{EA86CB3A-64D5-C34C-10B4-B09920BC0D6F}"/>
              </a:ext>
            </a:extLst>
          </p:cNvPr>
          <p:cNvSpPr txBox="1"/>
          <p:nvPr/>
        </p:nvSpPr>
        <p:spPr>
          <a:xfrm>
            <a:off x="-13935" y="5879235"/>
            <a:ext cx="1409681" cy="193899"/>
          </a:xfrm>
          <a:prstGeom prst="rect">
            <a:avLst/>
          </a:prstGeom>
          <a:noFill/>
        </p:spPr>
        <p:txBody>
          <a:bodyPr wrap="square" lIns="0" tIns="36576" rIns="0" bIns="0" rtlCol="0">
            <a:spAutoFit/>
          </a:bodyPr>
          <a:lstStyle/>
          <a:p>
            <a:pPr marL="356616" indent="-356616">
              <a:lnSpc>
                <a:spcPct val="85000"/>
              </a:lnSpc>
              <a:spcAft>
                <a:spcPts val="600"/>
              </a:spcAft>
              <a:buClr>
                <a:schemeClr val="accent2"/>
              </a:buClr>
              <a:buSzPct val="70000"/>
              <a:buFont typeface="Arial" pitchFamily="34" charset="0"/>
              <a:buChar char="►"/>
            </a:pPr>
            <a:r>
              <a:rPr lang="en-IN" sz="1200">
                <a:solidFill>
                  <a:srgbClr val="2E2E38"/>
                </a:solidFill>
                <a:latin typeface="EYInterstate" panose="02000503020000020004" pitchFamily="2" charset="0"/>
              </a:rPr>
              <a:t>ENABLERS</a:t>
            </a:r>
          </a:p>
        </p:txBody>
      </p:sp>
      <p:graphicFrame>
        <p:nvGraphicFramePr>
          <p:cNvPr id="3" name="Object 2">
            <a:extLst>
              <a:ext uri="{FF2B5EF4-FFF2-40B4-BE49-F238E27FC236}">
                <a16:creationId xmlns:a16="http://schemas.microsoft.com/office/drawing/2014/main" id="{3879E720-A2A2-1947-8AB8-68332D256401}"/>
              </a:ext>
            </a:extLst>
          </p:cNvPr>
          <p:cNvGraphicFramePr>
            <a:graphicFrameLocks noChangeAspect="1"/>
          </p:cNvGraphicFramePr>
          <p:nvPr>
            <p:extLst>
              <p:ext uri="{D42A27DB-BD31-4B8C-83A1-F6EECF244321}">
                <p14:modId xmlns:p14="http://schemas.microsoft.com/office/powerpoint/2010/main" val="467214944"/>
              </p:ext>
            </p:extLst>
          </p:nvPr>
        </p:nvGraphicFramePr>
        <p:xfrm>
          <a:off x="10263236" y="5689016"/>
          <a:ext cx="914400" cy="806450"/>
        </p:xfrm>
        <a:graphic>
          <a:graphicData uri="http://schemas.openxmlformats.org/presentationml/2006/ole">
            <mc:AlternateContent xmlns:mc="http://schemas.openxmlformats.org/markup-compatibility/2006">
              <mc:Choice xmlns:v="urn:schemas-microsoft-com:vml" Requires="v">
                <p:oleObj name="Worksheet" showAsIcon="1" r:id="rId19" imgW="914400" imgH="806585" progId="Excel.Sheet.12">
                  <p:embed/>
                </p:oleObj>
              </mc:Choice>
              <mc:Fallback>
                <p:oleObj name="Worksheet" showAsIcon="1" r:id="rId19" imgW="914400" imgH="806585" progId="Excel.Sheet.12">
                  <p:embed/>
                  <p:pic>
                    <p:nvPicPr>
                      <p:cNvPr id="3" name="Object 2">
                        <a:extLst>
                          <a:ext uri="{FF2B5EF4-FFF2-40B4-BE49-F238E27FC236}">
                            <a16:creationId xmlns:a16="http://schemas.microsoft.com/office/drawing/2014/main" id="{3879E720-A2A2-1947-8AB8-68332D256401}"/>
                          </a:ext>
                        </a:extLst>
                      </p:cNvPr>
                      <p:cNvPicPr/>
                      <p:nvPr/>
                    </p:nvPicPr>
                    <p:blipFill>
                      <a:blip r:embed="rId20"/>
                      <a:stretch>
                        <a:fillRect/>
                      </a:stretch>
                    </p:blipFill>
                    <p:spPr>
                      <a:xfrm>
                        <a:off x="10263236" y="5689016"/>
                        <a:ext cx="914400" cy="806450"/>
                      </a:xfrm>
                      <a:prstGeom prst="rect">
                        <a:avLst/>
                      </a:prstGeom>
                      <a:solidFill>
                        <a:schemeClr val="bg1"/>
                      </a:solidFill>
                    </p:spPr>
                  </p:pic>
                </p:oleObj>
              </mc:Fallback>
            </mc:AlternateContent>
          </a:graphicData>
        </a:graphic>
      </p:graphicFrame>
    </p:spTree>
    <p:extLst>
      <p:ext uri="{BB962C8B-B14F-4D97-AF65-F5344CB8AC3E}">
        <p14:creationId xmlns:p14="http://schemas.microsoft.com/office/powerpoint/2010/main" val="60991514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EBF5F1-C0BD-1BE1-8C7B-4A0EC159A750}"/>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BC61C55D-8F3A-C288-4092-A3738CCB2FFD}"/>
              </a:ext>
            </a:extLst>
          </p:cNvPr>
          <p:cNvSpPr txBox="1"/>
          <p:nvPr/>
        </p:nvSpPr>
        <p:spPr>
          <a:xfrm>
            <a:off x="555869" y="325043"/>
            <a:ext cx="9851133" cy="461665"/>
          </a:xfrm>
          <a:prstGeom prst="rect">
            <a:avLst/>
          </a:prstGeom>
        </p:spPr>
        <p:txBody>
          <a:bodyPr vert="horz" lIns="0" tIns="0" rIns="0" bIns="0" rtlCol="0" anchor="t" anchorCtr="0">
            <a:noAutofit/>
          </a:bodyPr>
          <a:lstStyle>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IN"/>
              <a:t>Tiered best‑practice targets — entity‑level vs group‑level close days</a:t>
            </a:r>
          </a:p>
        </p:txBody>
      </p:sp>
      <p:grpSp>
        <p:nvGrpSpPr>
          <p:cNvPr id="23" name="Group 22">
            <a:extLst>
              <a:ext uri="{FF2B5EF4-FFF2-40B4-BE49-F238E27FC236}">
                <a16:creationId xmlns:a16="http://schemas.microsoft.com/office/drawing/2014/main" id="{6BCD9094-88BB-48EE-6C02-FB17EF9EE604}"/>
              </a:ext>
            </a:extLst>
          </p:cNvPr>
          <p:cNvGrpSpPr/>
          <p:nvPr/>
        </p:nvGrpSpPr>
        <p:grpSpPr>
          <a:xfrm>
            <a:off x="271234" y="1537937"/>
            <a:ext cx="3448676" cy="4059124"/>
            <a:chOff x="420802" y="1568011"/>
            <a:chExt cx="3757794" cy="4279896"/>
          </a:xfrm>
        </p:grpSpPr>
        <p:grpSp>
          <p:nvGrpSpPr>
            <p:cNvPr id="20" name="Group 19">
              <a:extLst>
                <a:ext uri="{FF2B5EF4-FFF2-40B4-BE49-F238E27FC236}">
                  <a16:creationId xmlns:a16="http://schemas.microsoft.com/office/drawing/2014/main" id="{26A1292D-F590-71BC-BC5A-1C2165E3D71E}"/>
                </a:ext>
              </a:extLst>
            </p:cNvPr>
            <p:cNvGrpSpPr/>
            <p:nvPr/>
          </p:nvGrpSpPr>
          <p:grpSpPr>
            <a:xfrm>
              <a:off x="420802" y="1568011"/>
              <a:ext cx="3757794" cy="4279896"/>
              <a:chOff x="420802" y="1568011"/>
              <a:chExt cx="3757794" cy="4279896"/>
            </a:xfrm>
          </p:grpSpPr>
          <p:sp>
            <p:nvSpPr>
              <p:cNvPr id="9" name="Cube 8">
                <a:extLst>
                  <a:ext uri="{FF2B5EF4-FFF2-40B4-BE49-F238E27FC236}">
                    <a16:creationId xmlns:a16="http://schemas.microsoft.com/office/drawing/2014/main" id="{ADC4C333-0C3D-2003-20C9-377A042C7A82}"/>
                  </a:ext>
                </a:extLst>
              </p:cNvPr>
              <p:cNvSpPr/>
              <p:nvPr/>
            </p:nvSpPr>
            <p:spPr>
              <a:xfrm>
                <a:off x="420802" y="4098611"/>
                <a:ext cx="3757794" cy="1749296"/>
              </a:xfrm>
              <a:prstGeom prst="cube">
                <a:avLst/>
              </a:prstGeom>
              <a:solidFill>
                <a:schemeClr val="tx1">
                  <a:lumMod val="65000"/>
                  <a:lumOff val="35000"/>
                </a:schemeClr>
              </a:solid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 name="Cube 6">
                <a:extLst>
                  <a:ext uri="{FF2B5EF4-FFF2-40B4-BE49-F238E27FC236}">
                    <a16:creationId xmlns:a16="http://schemas.microsoft.com/office/drawing/2014/main" id="{74CCA84E-926B-D7C4-4A08-700E10ED5EBB}"/>
                  </a:ext>
                </a:extLst>
              </p:cNvPr>
              <p:cNvSpPr/>
              <p:nvPr/>
            </p:nvSpPr>
            <p:spPr>
              <a:xfrm>
                <a:off x="1047400" y="2941028"/>
                <a:ext cx="2440079" cy="1592848"/>
              </a:xfrm>
              <a:prstGeom prst="cube">
                <a:avLst/>
              </a:prstGeom>
              <a:solidFill>
                <a:schemeClr val="tx1">
                  <a:lumMod val="65000"/>
                  <a:lumOff val="35000"/>
                </a:schemeClr>
              </a:solid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 name="Cube 2">
                <a:extLst>
                  <a:ext uri="{FF2B5EF4-FFF2-40B4-BE49-F238E27FC236}">
                    <a16:creationId xmlns:a16="http://schemas.microsoft.com/office/drawing/2014/main" id="{B4861503-7C78-EECC-3D57-9567B2D8EF53}"/>
                  </a:ext>
                </a:extLst>
              </p:cNvPr>
              <p:cNvSpPr/>
              <p:nvPr/>
            </p:nvSpPr>
            <p:spPr>
              <a:xfrm>
                <a:off x="1606410" y="1568011"/>
                <a:ext cx="1386577" cy="1749296"/>
              </a:xfrm>
              <a:prstGeom prst="cube">
                <a:avLst/>
              </a:prstGeom>
              <a:solidFill>
                <a:schemeClr val="tx1">
                  <a:lumMod val="65000"/>
                  <a:lumOff val="35000"/>
                </a:schemeClr>
              </a:solid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11" name="Graphic 10" descr="Trophy with solid fill">
                <a:extLst>
                  <a:ext uri="{FF2B5EF4-FFF2-40B4-BE49-F238E27FC236}">
                    <a16:creationId xmlns:a16="http://schemas.microsoft.com/office/drawing/2014/main" id="{786BCD62-0EE5-1B8A-3CB1-4FF72843691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553480" y="2024714"/>
                <a:ext cx="1148218" cy="996737"/>
              </a:xfrm>
              <a:prstGeom prst="rect">
                <a:avLst/>
              </a:prstGeom>
            </p:spPr>
          </p:pic>
        </p:grpSp>
        <p:sp>
          <p:nvSpPr>
            <p:cNvPr id="21" name="TextBox 20">
              <a:extLst>
                <a:ext uri="{FF2B5EF4-FFF2-40B4-BE49-F238E27FC236}">
                  <a16:creationId xmlns:a16="http://schemas.microsoft.com/office/drawing/2014/main" id="{33368A87-ED37-5CF0-6BAA-E0F3AF56A946}"/>
                </a:ext>
              </a:extLst>
            </p:cNvPr>
            <p:cNvSpPr txBox="1"/>
            <p:nvPr/>
          </p:nvSpPr>
          <p:spPr>
            <a:xfrm>
              <a:off x="958454" y="4675796"/>
              <a:ext cx="3028755" cy="1015663"/>
            </a:xfrm>
            <a:prstGeom prst="rect">
              <a:avLst/>
            </a:prstGeom>
            <a:noFill/>
          </p:spPr>
          <p:txBody>
            <a:bodyPr wrap="square" rtlCol="0">
              <a:spAutoFit/>
            </a:bodyPr>
            <a:lstStyle/>
            <a:p>
              <a:r>
                <a:rPr lang="en-IN" sz="6000">
                  <a:solidFill>
                    <a:srgbClr val="FFE600"/>
                  </a:solidFill>
                  <a:latin typeface="EY interstate"/>
                </a:rPr>
                <a:t>Tier 3</a:t>
              </a:r>
            </a:p>
          </p:txBody>
        </p:sp>
        <p:sp>
          <p:nvSpPr>
            <p:cNvPr id="22" name="TextBox 21">
              <a:extLst>
                <a:ext uri="{FF2B5EF4-FFF2-40B4-BE49-F238E27FC236}">
                  <a16:creationId xmlns:a16="http://schemas.microsoft.com/office/drawing/2014/main" id="{E6E201BE-EB3C-F3C3-EA57-74E61D9742C9}"/>
                </a:ext>
              </a:extLst>
            </p:cNvPr>
            <p:cNvSpPr txBox="1"/>
            <p:nvPr/>
          </p:nvSpPr>
          <p:spPr>
            <a:xfrm>
              <a:off x="1199937" y="3478154"/>
              <a:ext cx="1855303" cy="830997"/>
            </a:xfrm>
            <a:prstGeom prst="rect">
              <a:avLst/>
            </a:prstGeom>
            <a:noFill/>
          </p:spPr>
          <p:txBody>
            <a:bodyPr wrap="square" rtlCol="0">
              <a:spAutoFit/>
            </a:bodyPr>
            <a:lstStyle/>
            <a:p>
              <a:r>
                <a:rPr lang="en-IN" sz="4800">
                  <a:solidFill>
                    <a:srgbClr val="FFE600"/>
                  </a:solidFill>
                  <a:latin typeface="EY interstate"/>
                </a:rPr>
                <a:t>Tier 2</a:t>
              </a:r>
            </a:p>
          </p:txBody>
        </p:sp>
      </p:grpSp>
      <p:grpSp>
        <p:nvGrpSpPr>
          <p:cNvPr id="2" name="Group 1">
            <a:extLst>
              <a:ext uri="{FF2B5EF4-FFF2-40B4-BE49-F238E27FC236}">
                <a16:creationId xmlns:a16="http://schemas.microsoft.com/office/drawing/2014/main" id="{92121D94-3C09-31CA-8E11-24BA8E53FDBC}"/>
              </a:ext>
            </a:extLst>
          </p:cNvPr>
          <p:cNvGrpSpPr/>
          <p:nvPr/>
        </p:nvGrpSpPr>
        <p:grpSpPr>
          <a:xfrm>
            <a:off x="3906003" y="1225930"/>
            <a:ext cx="7998918" cy="4232632"/>
            <a:chOff x="3981505" y="987438"/>
            <a:chExt cx="7998918" cy="4232632"/>
          </a:xfrm>
        </p:grpSpPr>
        <p:sp>
          <p:nvSpPr>
            <p:cNvPr id="25" name="Rectangle: Rounded Corners 24">
              <a:extLst>
                <a:ext uri="{FF2B5EF4-FFF2-40B4-BE49-F238E27FC236}">
                  <a16:creationId xmlns:a16="http://schemas.microsoft.com/office/drawing/2014/main" id="{8B9D4BF1-2709-C521-9153-56F3D65F6926}"/>
                </a:ext>
              </a:extLst>
            </p:cNvPr>
            <p:cNvSpPr/>
            <p:nvPr/>
          </p:nvSpPr>
          <p:spPr>
            <a:xfrm>
              <a:off x="3981505" y="987438"/>
              <a:ext cx="1583351" cy="496899"/>
            </a:xfrm>
            <a:prstGeom prst="roundRect">
              <a:avLst/>
            </a:prstGeom>
            <a:solidFill>
              <a:srgbClr val="FFE600"/>
            </a:solid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effectLst/>
                  <a:uLnTx/>
                  <a:uFillTx/>
                  <a:latin typeface="EYInterstate Light"/>
                  <a:ea typeface="+mn-ea"/>
                  <a:cs typeface="+mn-cs"/>
                </a:rPr>
                <a:t>Tier</a:t>
              </a:r>
            </a:p>
          </p:txBody>
        </p:sp>
        <p:sp>
          <p:nvSpPr>
            <p:cNvPr id="26" name="Rectangle: Rounded Corners 25">
              <a:extLst>
                <a:ext uri="{FF2B5EF4-FFF2-40B4-BE49-F238E27FC236}">
                  <a16:creationId xmlns:a16="http://schemas.microsoft.com/office/drawing/2014/main" id="{47F9DB80-5C05-2A4F-3273-F4D03D6455FE}"/>
                </a:ext>
              </a:extLst>
            </p:cNvPr>
            <p:cNvSpPr/>
            <p:nvPr/>
          </p:nvSpPr>
          <p:spPr>
            <a:xfrm>
              <a:off x="5953166" y="996205"/>
              <a:ext cx="1583351" cy="496899"/>
            </a:xfrm>
            <a:prstGeom prst="roundRect">
              <a:avLst/>
            </a:prstGeom>
            <a:solidFill>
              <a:srgbClr val="FFE600"/>
            </a:solid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effectLst/>
                  <a:uLnTx/>
                  <a:uFillTx/>
                  <a:latin typeface="EYInterstate Light"/>
                  <a:ea typeface="+mn-ea"/>
                  <a:cs typeface="+mn-cs"/>
                </a:rPr>
                <a:t>Entity (Local ledger) target</a:t>
              </a:r>
            </a:p>
          </p:txBody>
        </p:sp>
        <p:sp>
          <p:nvSpPr>
            <p:cNvPr id="27" name="Rectangle: Rounded Corners 26">
              <a:extLst>
                <a:ext uri="{FF2B5EF4-FFF2-40B4-BE49-F238E27FC236}">
                  <a16:creationId xmlns:a16="http://schemas.microsoft.com/office/drawing/2014/main" id="{67E42B55-B7F0-C332-921F-C4C89E5A37CC}"/>
                </a:ext>
              </a:extLst>
            </p:cNvPr>
            <p:cNvSpPr/>
            <p:nvPr/>
          </p:nvSpPr>
          <p:spPr>
            <a:xfrm>
              <a:off x="7924827" y="996205"/>
              <a:ext cx="1583351" cy="496899"/>
            </a:xfrm>
            <a:prstGeom prst="roundRect">
              <a:avLst/>
            </a:prstGeom>
            <a:solidFill>
              <a:srgbClr val="FFE600"/>
            </a:solid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algn="ctr" defTabSz="913943">
                <a:defRPr/>
              </a:pPr>
              <a:r>
                <a:rPr lang="pl-PL" sz="1100" b="1" kern="0">
                  <a:latin typeface="EYInterstate Light"/>
                </a:rPr>
                <a:t>Group consolidation &amp; reporting target</a:t>
              </a:r>
            </a:p>
          </p:txBody>
        </p:sp>
        <p:sp>
          <p:nvSpPr>
            <p:cNvPr id="28" name="Rectangle: Rounded Corners 27">
              <a:extLst>
                <a:ext uri="{FF2B5EF4-FFF2-40B4-BE49-F238E27FC236}">
                  <a16:creationId xmlns:a16="http://schemas.microsoft.com/office/drawing/2014/main" id="{F7C7CC3F-7C99-3F34-7F93-A20C82DAD61C}"/>
                </a:ext>
              </a:extLst>
            </p:cNvPr>
            <p:cNvSpPr/>
            <p:nvPr/>
          </p:nvSpPr>
          <p:spPr>
            <a:xfrm>
              <a:off x="9896488" y="996205"/>
              <a:ext cx="2015802" cy="496899"/>
            </a:xfrm>
            <a:prstGeom prst="roundRect">
              <a:avLst/>
            </a:prstGeom>
            <a:solidFill>
              <a:srgbClr val="FFE600"/>
            </a:solid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effectLst/>
                  <a:uLnTx/>
                  <a:uFillTx/>
                  <a:latin typeface="EYInterstate Light"/>
                  <a:ea typeface="+mn-ea"/>
                  <a:cs typeface="+mn-cs"/>
                </a:rPr>
                <a:t>When to use</a:t>
              </a:r>
              <a:r>
                <a:rPr lang="en-IN" sz="1399" b="1" kern="0">
                  <a:latin typeface="EYInterstate Light"/>
                </a:rPr>
                <a:t>/ </a:t>
              </a:r>
              <a:r>
                <a:rPr kumimoji="0" lang="en-IN" sz="1399" b="1" i="0" u="none" strike="noStrike" kern="0" cap="none" spc="0" normalizeH="0" baseline="0" noProof="0">
                  <a:ln>
                    <a:noFill/>
                  </a:ln>
                  <a:effectLst/>
                  <a:uLnTx/>
                  <a:uFillTx/>
                  <a:latin typeface="EYInterstate Light"/>
                  <a:ea typeface="+mn-ea"/>
                  <a:cs typeface="+mn-cs"/>
                </a:rPr>
                <a:t>Application</a:t>
              </a:r>
              <a:endParaRPr kumimoji="0" lang="pl-PL" sz="1399" b="1" i="0" u="none" strike="noStrike" kern="0" cap="none" spc="0" normalizeH="0" baseline="0" noProof="0">
                <a:ln>
                  <a:noFill/>
                </a:ln>
                <a:effectLst/>
                <a:uLnTx/>
                <a:uFillTx/>
                <a:latin typeface="EYInterstate Light"/>
                <a:ea typeface="+mn-ea"/>
                <a:cs typeface="+mn-cs"/>
              </a:endParaRPr>
            </a:p>
          </p:txBody>
        </p:sp>
        <p:sp>
          <p:nvSpPr>
            <p:cNvPr id="30" name="Rectangle: Rounded Corners 29">
              <a:extLst>
                <a:ext uri="{FF2B5EF4-FFF2-40B4-BE49-F238E27FC236}">
                  <a16:creationId xmlns:a16="http://schemas.microsoft.com/office/drawing/2014/main" id="{EF09BF0B-9D32-BCAA-8692-7E9FD7942334}"/>
                </a:ext>
              </a:extLst>
            </p:cNvPr>
            <p:cNvSpPr/>
            <p:nvPr/>
          </p:nvSpPr>
          <p:spPr>
            <a:xfrm>
              <a:off x="5953166" y="3005977"/>
              <a:ext cx="1574449"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WD4–5</a:t>
              </a:r>
            </a:p>
          </p:txBody>
        </p:sp>
        <p:sp>
          <p:nvSpPr>
            <p:cNvPr id="31" name="Rectangle: Rounded Corners 30">
              <a:extLst>
                <a:ext uri="{FF2B5EF4-FFF2-40B4-BE49-F238E27FC236}">
                  <a16:creationId xmlns:a16="http://schemas.microsoft.com/office/drawing/2014/main" id="{4419FA20-2625-FB9E-1CC2-9F9250A8982A}"/>
                </a:ext>
              </a:extLst>
            </p:cNvPr>
            <p:cNvSpPr/>
            <p:nvPr/>
          </p:nvSpPr>
          <p:spPr>
            <a:xfrm>
              <a:off x="5986312" y="1780106"/>
              <a:ext cx="1499254"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WD2–3 entity sign‑off</a:t>
              </a:r>
            </a:p>
          </p:txBody>
        </p:sp>
        <p:sp>
          <p:nvSpPr>
            <p:cNvPr id="32" name="Rectangle: Rounded Corners 31">
              <a:extLst>
                <a:ext uri="{FF2B5EF4-FFF2-40B4-BE49-F238E27FC236}">
                  <a16:creationId xmlns:a16="http://schemas.microsoft.com/office/drawing/2014/main" id="{D69CFE7F-47EB-A333-437F-5CDCCDC3A388}"/>
                </a:ext>
              </a:extLst>
            </p:cNvPr>
            <p:cNvSpPr/>
            <p:nvPr/>
          </p:nvSpPr>
          <p:spPr>
            <a:xfrm>
              <a:off x="7918273" y="1780106"/>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IN" sz="1200" b="1" i="0" u="none" strike="noStrike" kern="0" cap="none" spc="0" normalizeH="0" baseline="0" noProof="0">
                  <a:ln>
                    <a:noFill/>
                  </a:ln>
                  <a:solidFill>
                    <a:schemeClr val="bg1"/>
                  </a:solidFill>
                  <a:effectLst/>
                  <a:uLnTx/>
                  <a:uFillTx/>
                  <a:latin typeface="EYInterstate Light"/>
                  <a:ea typeface="+mn-ea"/>
                  <a:cs typeface="+mn-cs"/>
                </a:rPr>
                <a:t>CD ≤5 (or WD3–5) for consolidated FS &amp; management pack</a:t>
              </a:r>
            </a:p>
          </p:txBody>
        </p:sp>
        <p:sp>
          <p:nvSpPr>
            <p:cNvPr id="33" name="Rectangle: Rounded Corners 32">
              <a:extLst>
                <a:ext uri="{FF2B5EF4-FFF2-40B4-BE49-F238E27FC236}">
                  <a16:creationId xmlns:a16="http://schemas.microsoft.com/office/drawing/2014/main" id="{24A07912-47FC-6B6E-E89C-E709EF574222}"/>
                </a:ext>
              </a:extLst>
            </p:cNvPr>
            <p:cNvSpPr/>
            <p:nvPr/>
          </p:nvSpPr>
          <p:spPr>
            <a:xfrm>
              <a:off x="9873810" y="1780106"/>
              <a:ext cx="2015802" cy="956007"/>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IN" sz="1050" b="1" i="0" u="none" strike="noStrike" kern="0" cap="none" spc="0" normalizeH="0" baseline="0" noProof="0">
                  <a:ln>
                    <a:noFill/>
                  </a:ln>
                  <a:solidFill>
                    <a:schemeClr val="bg1"/>
                  </a:solidFill>
                  <a:effectLst/>
                  <a:uLnTx/>
                  <a:uFillTx/>
                  <a:latin typeface="EYInterstate Light"/>
                  <a:ea typeface="+mn-ea"/>
                  <a:cs typeface="+mn-cs"/>
                </a:rPr>
                <a:t>Mature data governance, standardized COA, heavy automation, “move‑left” culture. Anchored to APQC top quartile and EY 6‑WD performers</a:t>
              </a:r>
              <a:endParaRPr kumimoji="0" lang="pl-PL" sz="1050" b="1" i="0" u="none" strike="noStrike" kern="0" cap="none" spc="0" normalizeH="0" baseline="0" noProof="0">
                <a:ln>
                  <a:noFill/>
                </a:ln>
                <a:solidFill>
                  <a:schemeClr val="bg1"/>
                </a:solidFill>
                <a:effectLst/>
                <a:uLnTx/>
                <a:uFillTx/>
                <a:latin typeface="EYInterstate Light"/>
                <a:ea typeface="+mn-ea"/>
                <a:cs typeface="+mn-cs"/>
              </a:endParaRPr>
            </a:p>
          </p:txBody>
        </p:sp>
        <p:sp>
          <p:nvSpPr>
            <p:cNvPr id="34" name="Rectangle: Rounded Corners 33">
              <a:extLst>
                <a:ext uri="{FF2B5EF4-FFF2-40B4-BE49-F238E27FC236}">
                  <a16:creationId xmlns:a16="http://schemas.microsoft.com/office/drawing/2014/main" id="{8B01D461-A34B-67B4-B851-77D0A17B2771}"/>
                </a:ext>
              </a:extLst>
            </p:cNvPr>
            <p:cNvSpPr/>
            <p:nvPr/>
          </p:nvSpPr>
          <p:spPr>
            <a:xfrm>
              <a:off x="3981506" y="1780106"/>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Tier 1 – Leader</a:t>
              </a:r>
            </a:p>
          </p:txBody>
        </p:sp>
        <p:sp>
          <p:nvSpPr>
            <p:cNvPr id="35" name="Rectangle: Rounded Corners 34">
              <a:extLst>
                <a:ext uri="{FF2B5EF4-FFF2-40B4-BE49-F238E27FC236}">
                  <a16:creationId xmlns:a16="http://schemas.microsoft.com/office/drawing/2014/main" id="{B4C5E9B9-55F3-FB35-96C9-914469D07644}"/>
                </a:ext>
              </a:extLst>
            </p:cNvPr>
            <p:cNvSpPr/>
            <p:nvPr/>
          </p:nvSpPr>
          <p:spPr>
            <a:xfrm>
              <a:off x="3981507" y="3005977"/>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Tier 2 – Progressing</a:t>
              </a:r>
            </a:p>
          </p:txBody>
        </p:sp>
        <p:sp>
          <p:nvSpPr>
            <p:cNvPr id="36" name="Rectangle: Rounded Corners 35">
              <a:extLst>
                <a:ext uri="{FF2B5EF4-FFF2-40B4-BE49-F238E27FC236}">
                  <a16:creationId xmlns:a16="http://schemas.microsoft.com/office/drawing/2014/main" id="{DCF13F83-B50B-BC1B-EDD9-E86EB4867482}"/>
                </a:ext>
              </a:extLst>
            </p:cNvPr>
            <p:cNvSpPr/>
            <p:nvPr/>
          </p:nvSpPr>
          <p:spPr>
            <a:xfrm>
              <a:off x="7915923" y="2963949"/>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CD 6–8 (or WD6–8)</a:t>
              </a:r>
            </a:p>
          </p:txBody>
        </p:sp>
        <p:sp>
          <p:nvSpPr>
            <p:cNvPr id="37" name="Rectangle: Rounded Corners 36">
              <a:extLst>
                <a:ext uri="{FF2B5EF4-FFF2-40B4-BE49-F238E27FC236}">
                  <a16:creationId xmlns:a16="http://schemas.microsoft.com/office/drawing/2014/main" id="{4CBD2686-B956-F5CA-CCDD-AABFDA8A6FAE}"/>
                </a:ext>
              </a:extLst>
            </p:cNvPr>
            <p:cNvSpPr/>
            <p:nvPr/>
          </p:nvSpPr>
          <p:spPr>
            <a:xfrm>
              <a:off x="3981508" y="4289968"/>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Tier 3 – Baseline</a:t>
              </a:r>
            </a:p>
          </p:txBody>
        </p:sp>
        <p:sp>
          <p:nvSpPr>
            <p:cNvPr id="39" name="Rectangle: Rounded Corners 38">
              <a:extLst>
                <a:ext uri="{FF2B5EF4-FFF2-40B4-BE49-F238E27FC236}">
                  <a16:creationId xmlns:a16="http://schemas.microsoft.com/office/drawing/2014/main" id="{D665EF63-A76E-6B4C-D652-DAAC117DD8B1}"/>
                </a:ext>
              </a:extLst>
            </p:cNvPr>
            <p:cNvSpPr/>
            <p:nvPr/>
          </p:nvSpPr>
          <p:spPr>
            <a:xfrm>
              <a:off x="9887582" y="2946544"/>
              <a:ext cx="209284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IN" sz="1200" b="1" i="0" u="none" strike="noStrike" kern="0" cap="none" spc="0" normalizeH="0" baseline="0" noProof="0">
                  <a:ln>
                    <a:noFill/>
                  </a:ln>
                  <a:solidFill>
                    <a:schemeClr val="bg1"/>
                  </a:solidFill>
                  <a:effectLst/>
                  <a:uLnTx/>
                  <a:uFillTx/>
                  <a:latin typeface="EYInterstate Light"/>
                  <a:ea typeface="+mn-ea"/>
                  <a:cs typeface="+mn-cs"/>
                </a:rPr>
                <a:t>Some standardization/automation; a few complex entities or IC frictions</a:t>
              </a:r>
              <a:endParaRPr kumimoji="0" lang="pl-PL" sz="1200" b="1" i="0" u="none" strike="noStrike" kern="0" cap="none" spc="0" normalizeH="0" baseline="0" noProof="0">
                <a:ln>
                  <a:noFill/>
                </a:ln>
                <a:solidFill>
                  <a:schemeClr val="bg1"/>
                </a:solidFill>
                <a:effectLst/>
                <a:uLnTx/>
                <a:uFillTx/>
                <a:latin typeface="EYInterstate Light"/>
                <a:ea typeface="+mn-ea"/>
                <a:cs typeface="+mn-cs"/>
              </a:endParaRPr>
            </a:p>
          </p:txBody>
        </p:sp>
        <p:sp>
          <p:nvSpPr>
            <p:cNvPr id="41" name="Rectangle: Rounded Corners 40">
              <a:extLst>
                <a:ext uri="{FF2B5EF4-FFF2-40B4-BE49-F238E27FC236}">
                  <a16:creationId xmlns:a16="http://schemas.microsoft.com/office/drawing/2014/main" id="{C09B1800-E833-8BB6-DFC4-42F8C26FC63A}"/>
                </a:ext>
              </a:extLst>
            </p:cNvPr>
            <p:cNvSpPr/>
            <p:nvPr/>
          </p:nvSpPr>
          <p:spPr>
            <a:xfrm>
              <a:off x="7954442" y="4284467"/>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CD 9–12</a:t>
              </a:r>
            </a:p>
          </p:txBody>
        </p:sp>
        <p:sp>
          <p:nvSpPr>
            <p:cNvPr id="43" name="Rectangle: Rounded Corners 42">
              <a:extLst>
                <a:ext uri="{FF2B5EF4-FFF2-40B4-BE49-F238E27FC236}">
                  <a16:creationId xmlns:a16="http://schemas.microsoft.com/office/drawing/2014/main" id="{DAD3ABF9-8959-FE41-B310-8DD441F9BE44}"/>
                </a:ext>
              </a:extLst>
            </p:cNvPr>
            <p:cNvSpPr/>
            <p:nvPr/>
          </p:nvSpPr>
          <p:spPr>
            <a:xfrm>
              <a:off x="9873809" y="4284467"/>
              <a:ext cx="2106613"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IN" sz="1200" b="1" i="0" u="none" strike="noStrike" kern="0" cap="none" spc="0" normalizeH="0" baseline="0" noProof="0">
                  <a:ln>
                    <a:noFill/>
                  </a:ln>
                  <a:solidFill>
                    <a:schemeClr val="bg1"/>
                  </a:solidFill>
                  <a:effectLst/>
                  <a:uLnTx/>
                  <a:uFillTx/>
                  <a:latin typeface="EYInterstate Light"/>
                  <a:ea typeface="+mn-ea"/>
                  <a:cs typeface="+mn-cs"/>
                </a:rPr>
                <a:t>Fragmented systems, manual reconciliations; use as interim baseline while transforming</a:t>
              </a:r>
              <a:r>
                <a:rPr kumimoji="0" lang="en-IN" sz="1399" b="1" i="0" u="none" strike="noStrike" kern="0" cap="none" spc="0" normalizeH="0" baseline="0" noProof="0">
                  <a:ln>
                    <a:noFill/>
                  </a:ln>
                  <a:solidFill>
                    <a:schemeClr val="bg1"/>
                  </a:solidFill>
                  <a:effectLst/>
                  <a:uLnTx/>
                  <a:uFillTx/>
                  <a:latin typeface="EYInterstate Light"/>
                  <a:ea typeface="+mn-ea"/>
                  <a:cs typeface="+mn-cs"/>
                </a:rPr>
                <a:t>.</a:t>
              </a:r>
            </a:p>
          </p:txBody>
        </p:sp>
        <p:sp>
          <p:nvSpPr>
            <p:cNvPr id="44" name="Rectangle: Rounded Corners 43">
              <a:extLst>
                <a:ext uri="{FF2B5EF4-FFF2-40B4-BE49-F238E27FC236}">
                  <a16:creationId xmlns:a16="http://schemas.microsoft.com/office/drawing/2014/main" id="{DC1FB52E-8DD8-46E8-32C3-A90C5A5B9A33}"/>
                </a:ext>
              </a:extLst>
            </p:cNvPr>
            <p:cNvSpPr/>
            <p:nvPr/>
          </p:nvSpPr>
          <p:spPr>
            <a:xfrm>
              <a:off x="5944264" y="4289968"/>
              <a:ext cx="1583351" cy="930102"/>
            </a:xfrm>
            <a:prstGeom prst="roundRect">
              <a:avLst/>
            </a:prstGeom>
            <a:noFill/>
            <a:ln w="12700" cap="sq" cmpd="sng" algn="ctr">
              <a:solidFill>
                <a:srgbClr val="FFE600"/>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chemeClr val="bg1"/>
                  </a:solidFill>
                  <a:effectLst/>
                  <a:uLnTx/>
                  <a:uFillTx/>
                  <a:latin typeface="EYInterstate Light"/>
                  <a:ea typeface="+mn-ea"/>
                  <a:cs typeface="+mn-cs"/>
                </a:rPr>
                <a:t>WD6–8</a:t>
              </a:r>
            </a:p>
          </p:txBody>
        </p:sp>
      </p:grpSp>
      <p:sp>
        <p:nvSpPr>
          <p:cNvPr id="45" name="TextBox 44">
            <a:extLst>
              <a:ext uri="{FF2B5EF4-FFF2-40B4-BE49-F238E27FC236}">
                <a16:creationId xmlns:a16="http://schemas.microsoft.com/office/drawing/2014/main" id="{43CAA160-78CC-CD0D-17EA-0BC03139324F}"/>
              </a:ext>
            </a:extLst>
          </p:cNvPr>
          <p:cNvSpPr txBox="1"/>
          <p:nvPr/>
        </p:nvSpPr>
        <p:spPr>
          <a:xfrm>
            <a:off x="287079" y="6348291"/>
            <a:ext cx="4391247" cy="369332"/>
          </a:xfrm>
          <a:prstGeom prst="rect">
            <a:avLst/>
          </a:prstGeom>
          <a:noFill/>
        </p:spPr>
        <p:txBody>
          <a:bodyPr wrap="square" rtlCol="0">
            <a:spAutoFit/>
          </a:bodyPr>
          <a:lstStyle/>
          <a:p>
            <a:r>
              <a:rPr lang="en-IN">
                <a:solidFill>
                  <a:schemeClr val="bg1"/>
                </a:solidFill>
                <a:latin typeface="EY interstate"/>
              </a:rPr>
              <a:t>WD – Working Days, CD-  Calendar Days</a:t>
            </a:r>
          </a:p>
        </p:txBody>
      </p:sp>
    </p:spTree>
    <p:extLst>
      <p:ext uri="{BB962C8B-B14F-4D97-AF65-F5344CB8AC3E}">
        <p14:creationId xmlns:p14="http://schemas.microsoft.com/office/powerpoint/2010/main" val="372993816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B69A52-A87A-F9EF-00A9-90230BE38A5B}"/>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84F6BF1E-EDD6-DD52-1D88-74C0ED473705}"/>
              </a:ext>
            </a:extLst>
          </p:cNvPr>
          <p:cNvSpPr txBox="1"/>
          <p:nvPr/>
        </p:nvSpPr>
        <p:spPr>
          <a:xfrm>
            <a:off x="585077" y="381820"/>
            <a:ext cx="9851133" cy="461665"/>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IN"/>
              <a:t>Tiered best‑practice targets — entity‑level vs group‑level close days</a:t>
            </a:r>
          </a:p>
        </p:txBody>
      </p:sp>
      <p:grpSp>
        <p:nvGrpSpPr>
          <p:cNvPr id="40" name="Group 39">
            <a:extLst>
              <a:ext uri="{FF2B5EF4-FFF2-40B4-BE49-F238E27FC236}">
                <a16:creationId xmlns:a16="http://schemas.microsoft.com/office/drawing/2014/main" id="{0AE145EC-B15F-5138-B644-637BE9993FFC}"/>
              </a:ext>
            </a:extLst>
          </p:cNvPr>
          <p:cNvGrpSpPr/>
          <p:nvPr/>
        </p:nvGrpSpPr>
        <p:grpSpPr>
          <a:xfrm>
            <a:off x="6268069" y="2241130"/>
            <a:ext cx="5360599" cy="2753415"/>
            <a:chOff x="6679658" y="2281479"/>
            <a:chExt cx="5242253" cy="2725596"/>
          </a:xfrm>
        </p:grpSpPr>
        <p:sp>
          <p:nvSpPr>
            <p:cNvPr id="41" name="Rectangle: Rounded Corners 40">
              <a:extLst>
                <a:ext uri="{FF2B5EF4-FFF2-40B4-BE49-F238E27FC236}">
                  <a16:creationId xmlns:a16="http://schemas.microsoft.com/office/drawing/2014/main" id="{0678ED18-8D9F-1626-4E26-5D32F2C7F774}"/>
                </a:ext>
              </a:extLst>
            </p:cNvPr>
            <p:cNvSpPr/>
            <p:nvPr/>
          </p:nvSpPr>
          <p:spPr>
            <a:xfrm>
              <a:off x="6679658" y="2281479"/>
              <a:ext cx="1527907" cy="1710541"/>
            </a:xfrm>
            <a:prstGeom prst="roundRect">
              <a:avLst>
                <a:gd name="adj" fmla="val 10000"/>
              </a:avLst>
            </a:prstGeom>
            <a:solidFill>
              <a:schemeClr val="tx1">
                <a:lumMod val="50000"/>
                <a:lumOff val="50000"/>
              </a:schemeClr>
            </a:solidFill>
            <a:ln>
              <a:solidFill>
                <a:schemeClr val="tx1"/>
              </a:solidFill>
            </a:ln>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IN"/>
            </a:p>
          </p:txBody>
        </p:sp>
        <p:sp>
          <p:nvSpPr>
            <p:cNvPr id="42" name="Freeform: Shape 41">
              <a:extLst>
                <a:ext uri="{FF2B5EF4-FFF2-40B4-BE49-F238E27FC236}">
                  <a16:creationId xmlns:a16="http://schemas.microsoft.com/office/drawing/2014/main" id="{EC342E26-F146-66D0-DD20-B37F56E4D0D3}"/>
                </a:ext>
              </a:extLst>
            </p:cNvPr>
            <p:cNvSpPr/>
            <p:nvPr/>
          </p:nvSpPr>
          <p:spPr>
            <a:xfrm>
              <a:off x="7290019" y="3984314"/>
              <a:ext cx="897733" cy="1022761"/>
            </a:xfrm>
            <a:custGeom>
              <a:avLst/>
              <a:gdLst>
                <a:gd name="connsiteX0" fmla="*/ 0 w 1055762"/>
                <a:gd name="connsiteY0" fmla="*/ 105576 h 1089451"/>
                <a:gd name="connsiteX1" fmla="*/ 105576 w 1055762"/>
                <a:gd name="connsiteY1" fmla="*/ 0 h 1089451"/>
                <a:gd name="connsiteX2" fmla="*/ 950186 w 1055762"/>
                <a:gd name="connsiteY2" fmla="*/ 0 h 1089451"/>
                <a:gd name="connsiteX3" fmla="*/ 1055762 w 1055762"/>
                <a:gd name="connsiteY3" fmla="*/ 105576 h 1089451"/>
                <a:gd name="connsiteX4" fmla="*/ 1055762 w 1055762"/>
                <a:gd name="connsiteY4" fmla="*/ 983875 h 1089451"/>
                <a:gd name="connsiteX5" fmla="*/ 950186 w 1055762"/>
                <a:gd name="connsiteY5" fmla="*/ 1089451 h 1089451"/>
                <a:gd name="connsiteX6" fmla="*/ 105576 w 1055762"/>
                <a:gd name="connsiteY6" fmla="*/ 1089451 h 1089451"/>
                <a:gd name="connsiteX7" fmla="*/ 0 w 1055762"/>
                <a:gd name="connsiteY7" fmla="*/ 983875 h 1089451"/>
                <a:gd name="connsiteX8" fmla="*/ 0 w 1055762"/>
                <a:gd name="connsiteY8" fmla="*/ 105576 h 108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5762" h="1089451">
                  <a:moveTo>
                    <a:pt x="0" y="105576"/>
                  </a:moveTo>
                  <a:cubicBezTo>
                    <a:pt x="0" y="47268"/>
                    <a:pt x="47268" y="0"/>
                    <a:pt x="105576" y="0"/>
                  </a:cubicBezTo>
                  <a:lnTo>
                    <a:pt x="950186" y="0"/>
                  </a:lnTo>
                  <a:cubicBezTo>
                    <a:pt x="1008494" y="0"/>
                    <a:pt x="1055762" y="47268"/>
                    <a:pt x="1055762" y="105576"/>
                  </a:cubicBezTo>
                  <a:lnTo>
                    <a:pt x="1055762" y="983875"/>
                  </a:lnTo>
                  <a:cubicBezTo>
                    <a:pt x="1055762" y="1042183"/>
                    <a:pt x="1008494" y="1089451"/>
                    <a:pt x="950186" y="1089451"/>
                  </a:cubicBezTo>
                  <a:lnTo>
                    <a:pt x="105576" y="1089451"/>
                  </a:lnTo>
                  <a:cubicBezTo>
                    <a:pt x="47268" y="1089451"/>
                    <a:pt x="0" y="1042183"/>
                    <a:pt x="0" y="983875"/>
                  </a:cubicBezTo>
                  <a:lnTo>
                    <a:pt x="0" y="105576"/>
                  </a:lnTo>
                  <a:close/>
                </a:path>
              </a:pathLst>
            </a:custGeom>
            <a:solidFill>
              <a:srgbClr val="FFE600"/>
            </a:solidFill>
            <a:ln>
              <a:solidFill>
                <a:schemeClr val="tx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76642" tIns="76642" rIns="76642" bIns="76642" numCol="1" spcCol="1270" anchor="t" anchorCtr="0">
              <a:noAutofit/>
            </a:bodyPr>
            <a:lstStyle/>
            <a:p>
              <a:pPr marL="0" lvl="0" indent="0" algn="l" defTabSz="533400">
                <a:lnSpc>
                  <a:spcPct val="90000"/>
                </a:lnSpc>
                <a:spcBef>
                  <a:spcPct val="0"/>
                </a:spcBef>
                <a:spcAft>
                  <a:spcPct val="35000"/>
                </a:spcAft>
                <a:buNone/>
              </a:pPr>
              <a:r>
                <a:rPr lang="en-IN" sz="1200" b="1" kern="1200">
                  <a:solidFill>
                    <a:schemeClr val="tx1"/>
                  </a:solidFill>
                  <a:latin typeface="EY interstate"/>
                </a:rPr>
                <a:t>D+3 </a:t>
              </a:r>
              <a:endParaRPr lang="en-IN" sz="1200" kern="1200">
                <a:solidFill>
                  <a:schemeClr val="tx1"/>
                </a:solidFill>
                <a:latin typeface="EY interstate"/>
              </a:endParaRPr>
            </a:p>
            <a:p>
              <a:pPr marL="114300" lvl="1" indent="-114300" algn="l" defTabSz="533400">
                <a:lnSpc>
                  <a:spcPct val="90000"/>
                </a:lnSpc>
                <a:spcBef>
                  <a:spcPct val="0"/>
                </a:spcBef>
                <a:spcAft>
                  <a:spcPct val="15000"/>
                </a:spcAft>
                <a:buNone/>
              </a:pPr>
              <a:r>
                <a:rPr lang="en-IN" sz="1050" b="1" kern="1200">
                  <a:solidFill>
                    <a:schemeClr val="tx1"/>
                  </a:solidFill>
                  <a:latin typeface="EY interstate"/>
                </a:rPr>
                <a:t>Group</a:t>
              </a:r>
              <a:endParaRPr lang="en-IN" sz="1050" kern="1200">
                <a:solidFill>
                  <a:schemeClr val="tx1"/>
                </a:solidFill>
                <a:latin typeface="EY interstate"/>
              </a:endParaRPr>
            </a:p>
            <a:p>
              <a:pPr marL="114300" lvl="1" indent="-114300" algn="l" defTabSz="533400">
                <a:lnSpc>
                  <a:spcPct val="90000"/>
                </a:lnSpc>
                <a:spcBef>
                  <a:spcPct val="0"/>
                </a:spcBef>
                <a:spcAft>
                  <a:spcPct val="15000"/>
                </a:spcAft>
                <a:buNone/>
              </a:pPr>
              <a:r>
                <a:rPr lang="en-IN" sz="1050" b="1" kern="1200">
                  <a:solidFill>
                    <a:schemeClr val="tx1"/>
                  </a:solidFill>
                  <a:latin typeface="EY interstate"/>
                </a:rPr>
                <a:t>Consolidation</a:t>
              </a:r>
              <a:endParaRPr lang="en-IN" sz="1050" kern="1200">
                <a:solidFill>
                  <a:schemeClr val="tx1"/>
                </a:solidFill>
                <a:latin typeface="EY interstate"/>
              </a:endParaRPr>
            </a:p>
          </p:txBody>
        </p:sp>
        <p:sp>
          <p:nvSpPr>
            <p:cNvPr id="44" name="Rectangle: Rounded Corners 43">
              <a:extLst>
                <a:ext uri="{FF2B5EF4-FFF2-40B4-BE49-F238E27FC236}">
                  <a16:creationId xmlns:a16="http://schemas.microsoft.com/office/drawing/2014/main" id="{C2E49F6F-9235-0F6B-7386-FA2576440E59}"/>
                </a:ext>
              </a:extLst>
            </p:cNvPr>
            <p:cNvSpPr/>
            <p:nvPr/>
          </p:nvSpPr>
          <p:spPr>
            <a:xfrm>
              <a:off x="8496892" y="2298418"/>
              <a:ext cx="1527907" cy="1710541"/>
            </a:xfrm>
            <a:prstGeom prst="roundRect">
              <a:avLst>
                <a:gd name="adj" fmla="val 10000"/>
              </a:avLst>
            </a:prstGeom>
            <a:solidFill>
              <a:schemeClr val="tx1">
                <a:lumMod val="50000"/>
                <a:lumOff val="50000"/>
              </a:schemeClr>
            </a:solidFill>
            <a:ln>
              <a:solidFill>
                <a:schemeClr val="tx1"/>
              </a:solidFill>
            </a:ln>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IN"/>
            </a:p>
          </p:txBody>
        </p:sp>
        <p:sp>
          <p:nvSpPr>
            <p:cNvPr id="45" name="Freeform: Shape 44">
              <a:extLst>
                <a:ext uri="{FF2B5EF4-FFF2-40B4-BE49-F238E27FC236}">
                  <a16:creationId xmlns:a16="http://schemas.microsoft.com/office/drawing/2014/main" id="{427075BF-9983-B7B8-3B46-F155D88F7F57}"/>
                </a:ext>
              </a:extLst>
            </p:cNvPr>
            <p:cNvSpPr/>
            <p:nvPr/>
          </p:nvSpPr>
          <p:spPr>
            <a:xfrm>
              <a:off x="9142209" y="3965903"/>
              <a:ext cx="897733" cy="1022761"/>
            </a:xfrm>
            <a:custGeom>
              <a:avLst/>
              <a:gdLst>
                <a:gd name="connsiteX0" fmla="*/ 0 w 1055762"/>
                <a:gd name="connsiteY0" fmla="*/ 105576 h 1055762"/>
                <a:gd name="connsiteX1" fmla="*/ 105576 w 1055762"/>
                <a:gd name="connsiteY1" fmla="*/ 0 h 1055762"/>
                <a:gd name="connsiteX2" fmla="*/ 950186 w 1055762"/>
                <a:gd name="connsiteY2" fmla="*/ 0 h 1055762"/>
                <a:gd name="connsiteX3" fmla="*/ 1055762 w 1055762"/>
                <a:gd name="connsiteY3" fmla="*/ 105576 h 1055762"/>
                <a:gd name="connsiteX4" fmla="*/ 1055762 w 1055762"/>
                <a:gd name="connsiteY4" fmla="*/ 950186 h 1055762"/>
                <a:gd name="connsiteX5" fmla="*/ 950186 w 1055762"/>
                <a:gd name="connsiteY5" fmla="*/ 1055762 h 1055762"/>
                <a:gd name="connsiteX6" fmla="*/ 105576 w 1055762"/>
                <a:gd name="connsiteY6" fmla="*/ 1055762 h 1055762"/>
                <a:gd name="connsiteX7" fmla="*/ 0 w 1055762"/>
                <a:gd name="connsiteY7" fmla="*/ 950186 h 1055762"/>
                <a:gd name="connsiteX8" fmla="*/ 0 w 1055762"/>
                <a:gd name="connsiteY8" fmla="*/ 105576 h 10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5762" h="1055762">
                  <a:moveTo>
                    <a:pt x="0" y="105576"/>
                  </a:moveTo>
                  <a:cubicBezTo>
                    <a:pt x="0" y="47268"/>
                    <a:pt x="47268" y="0"/>
                    <a:pt x="105576" y="0"/>
                  </a:cubicBezTo>
                  <a:lnTo>
                    <a:pt x="950186" y="0"/>
                  </a:lnTo>
                  <a:cubicBezTo>
                    <a:pt x="1008494" y="0"/>
                    <a:pt x="1055762" y="47268"/>
                    <a:pt x="1055762" y="105576"/>
                  </a:cubicBezTo>
                  <a:lnTo>
                    <a:pt x="1055762" y="950186"/>
                  </a:lnTo>
                  <a:cubicBezTo>
                    <a:pt x="1055762" y="1008494"/>
                    <a:pt x="1008494" y="1055762"/>
                    <a:pt x="950186" y="1055762"/>
                  </a:cubicBezTo>
                  <a:lnTo>
                    <a:pt x="105576" y="1055762"/>
                  </a:lnTo>
                  <a:cubicBezTo>
                    <a:pt x="47268" y="1055762"/>
                    <a:pt x="0" y="1008494"/>
                    <a:pt x="0" y="950186"/>
                  </a:cubicBezTo>
                  <a:lnTo>
                    <a:pt x="0" y="105576"/>
                  </a:lnTo>
                  <a:close/>
                </a:path>
              </a:pathLst>
            </a:custGeom>
            <a:solidFill>
              <a:srgbClr val="FFE600"/>
            </a:solidFill>
            <a:ln>
              <a:solidFill>
                <a:schemeClr val="tx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76642" tIns="76642" rIns="76642" bIns="76642" numCol="1" spcCol="1270" anchor="t" anchorCtr="0">
              <a:noAutofit/>
            </a:bodyPr>
            <a:lstStyle/>
            <a:p>
              <a:pPr marL="0" lvl="0" indent="0" algn="l" defTabSz="533400">
                <a:lnSpc>
                  <a:spcPct val="90000"/>
                </a:lnSpc>
                <a:spcBef>
                  <a:spcPct val="0"/>
                </a:spcBef>
                <a:spcAft>
                  <a:spcPct val="35000"/>
                </a:spcAft>
                <a:buNone/>
              </a:pPr>
              <a:r>
                <a:rPr lang="en-IN" sz="1200" b="1" kern="1200">
                  <a:solidFill>
                    <a:schemeClr val="tx1"/>
                  </a:solidFill>
                  <a:latin typeface="EY interstate"/>
                </a:rPr>
                <a:t>D+4</a:t>
              </a:r>
              <a:endParaRPr lang="en-IN" sz="1200" kern="1200">
                <a:solidFill>
                  <a:schemeClr val="tx1"/>
                </a:solidFill>
                <a:latin typeface="EY interstate"/>
              </a:endParaRPr>
            </a:p>
            <a:p>
              <a:pPr marL="114300" lvl="1" indent="-114300" algn="l" defTabSz="533400">
                <a:lnSpc>
                  <a:spcPct val="90000"/>
                </a:lnSpc>
                <a:spcBef>
                  <a:spcPct val="0"/>
                </a:spcBef>
                <a:spcAft>
                  <a:spcPct val="15000"/>
                </a:spcAft>
                <a:buNone/>
              </a:pPr>
              <a:r>
                <a:rPr lang="en-IN" sz="1200" b="1" kern="1200">
                  <a:solidFill>
                    <a:schemeClr val="tx1"/>
                  </a:solidFill>
                  <a:latin typeface="EY interstate"/>
                </a:rPr>
                <a:t>Review &amp; Analysis</a:t>
              </a:r>
              <a:endParaRPr lang="en-IN" sz="1200" kern="1200">
                <a:solidFill>
                  <a:schemeClr val="tx1"/>
                </a:solidFill>
                <a:latin typeface="EY interstate"/>
              </a:endParaRPr>
            </a:p>
          </p:txBody>
        </p:sp>
        <p:sp>
          <p:nvSpPr>
            <p:cNvPr id="47" name="Rectangle: Rounded Corners 46">
              <a:extLst>
                <a:ext uri="{FF2B5EF4-FFF2-40B4-BE49-F238E27FC236}">
                  <a16:creationId xmlns:a16="http://schemas.microsoft.com/office/drawing/2014/main" id="{20324F0D-184C-73AE-1C59-AD09FFD45B31}"/>
                </a:ext>
              </a:extLst>
            </p:cNvPr>
            <p:cNvSpPr/>
            <p:nvPr/>
          </p:nvSpPr>
          <p:spPr>
            <a:xfrm>
              <a:off x="10378703" y="2290680"/>
              <a:ext cx="1527907" cy="1710541"/>
            </a:xfrm>
            <a:prstGeom prst="roundRect">
              <a:avLst>
                <a:gd name="adj" fmla="val 10000"/>
              </a:avLst>
            </a:prstGeom>
            <a:solidFill>
              <a:schemeClr val="tx1">
                <a:lumMod val="50000"/>
                <a:lumOff val="50000"/>
              </a:schemeClr>
            </a:solidFill>
            <a:ln>
              <a:solidFill>
                <a:schemeClr val="tx1"/>
              </a:solidFill>
            </a:ln>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IN"/>
            </a:p>
          </p:txBody>
        </p:sp>
        <p:sp>
          <p:nvSpPr>
            <p:cNvPr id="48" name="Freeform: Shape 47">
              <a:extLst>
                <a:ext uri="{FF2B5EF4-FFF2-40B4-BE49-F238E27FC236}">
                  <a16:creationId xmlns:a16="http://schemas.microsoft.com/office/drawing/2014/main" id="{FFEAD182-D755-F61F-260B-F7CCCCF5C6C2}"/>
                </a:ext>
              </a:extLst>
            </p:cNvPr>
            <p:cNvSpPr/>
            <p:nvPr/>
          </p:nvSpPr>
          <p:spPr>
            <a:xfrm>
              <a:off x="11024178" y="3963924"/>
              <a:ext cx="897733" cy="1022761"/>
            </a:xfrm>
            <a:custGeom>
              <a:avLst/>
              <a:gdLst>
                <a:gd name="connsiteX0" fmla="*/ 0 w 1055762"/>
                <a:gd name="connsiteY0" fmla="*/ 105576 h 1055762"/>
                <a:gd name="connsiteX1" fmla="*/ 105576 w 1055762"/>
                <a:gd name="connsiteY1" fmla="*/ 0 h 1055762"/>
                <a:gd name="connsiteX2" fmla="*/ 950186 w 1055762"/>
                <a:gd name="connsiteY2" fmla="*/ 0 h 1055762"/>
                <a:gd name="connsiteX3" fmla="*/ 1055762 w 1055762"/>
                <a:gd name="connsiteY3" fmla="*/ 105576 h 1055762"/>
                <a:gd name="connsiteX4" fmla="*/ 1055762 w 1055762"/>
                <a:gd name="connsiteY4" fmla="*/ 950186 h 1055762"/>
                <a:gd name="connsiteX5" fmla="*/ 950186 w 1055762"/>
                <a:gd name="connsiteY5" fmla="*/ 1055762 h 1055762"/>
                <a:gd name="connsiteX6" fmla="*/ 105576 w 1055762"/>
                <a:gd name="connsiteY6" fmla="*/ 1055762 h 1055762"/>
                <a:gd name="connsiteX7" fmla="*/ 0 w 1055762"/>
                <a:gd name="connsiteY7" fmla="*/ 950186 h 1055762"/>
                <a:gd name="connsiteX8" fmla="*/ 0 w 1055762"/>
                <a:gd name="connsiteY8" fmla="*/ 105576 h 10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5762" h="1055762">
                  <a:moveTo>
                    <a:pt x="0" y="105576"/>
                  </a:moveTo>
                  <a:cubicBezTo>
                    <a:pt x="0" y="47268"/>
                    <a:pt x="47268" y="0"/>
                    <a:pt x="105576" y="0"/>
                  </a:cubicBezTo>
                  <a:lnTo>
                    <a:pt x="950186" y="0"/>
                  </a:lnTo>
                  <a:cubicBezTo>
                    <a:pt x="1008494" y="0"/>
                    <a:pt x="1055762" y="47268"/>
                    <a:pt x="1055762" y="105576"/>
                  </a:cubicBezTo>
                  <a:lnTo>
                    <a:pt x="1055762" y="950186"/>
                  </a:lnTo>
                  <a:cubicBezTo>
                    <a:pt x="1055762" y="1008494"/>
                    <a:pt x="1008494" y="1055762"/>
                    <a:pt x="950186" y="1055762"/>
                  </a:cubicBezTo>
                  <a:lnTo>
                    <a:pt x="105576" y="1055762"/>
                  </a:lnTo>
                  <a:cubicBezTo>
                    <a:pt x="47268" y="1055762"/>
                    <a:pt x="0" y="1008494"/>
                    <a:pt x="0" y="950186"/>
                  </a:cubicBezTo>
                  <a:lnTo>
                    <a:pt x="0" y="105576"/>
                  </a:lnTo>
                  <a:close/>
                </a:path>
              </a:pathLst>
            </a:custGeom>
            <a:solidFill>
              <a:srgbClr val="FFE600"/>
            </a:solidFill>
            <a:ln>
              <a:solidFill>
                <a:schemeClr val="tx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76642" tIns="76642" rIns="76642" bIns="76642" numCol="1" spcCol="1270" anchor="t" anchorCtr="0">
              <a:noAutofit/>
            </a:bodyPr>
            <a:lstStyle/>
            <a:p>
              <a:pPr marL="0" lvl="0" indent="0" algn="l" defTabSz="533400">
                <a:lnSpc>
                  <a:spcPct val="90000"/>
                </a:lnSpc>
                <a:spcBef>
                  <a:spcPct val="0"/>
                </a:spcBef>
                <a:spcAft>
                  <a:spcPct val="35000"/>
                </a:spcAft>
                <a:buNone/>
              </a:pPr>
              <a:r>
                <a:rPr lang="en-IN" sz="1200" b="1" kern="1200">
                  <a:solidFill>
                    <a:schemeClr val="tx1"/>
                  </a:solidFill>
                  <a:latin typeface="EY interstate"/>
                </a:rPr>
                <a:t>D+5</a:t>
              </a:r>
              <a:endParaRPr lang="en-IN" sz="1200" kern="1200">
                <a:solidFill>
                  <a:schemeClr val="tx1"/>
                </a:solidFill>
                <a:latin typeface="EY interstate"/>
              </a:endParaRPr>
            </a:p>
            <a:p>
              <a:pPr marL="114300" lvl="1" indent="-114300" algn="l" defTabSz="533400">
                <a:lnSpc>
                  <a:spcPct val="90000"/>
                </a:lnSpc>
                <a:spcBef>
                  <a:spcPct val="0"/>
                </a:spcBef>
                <a:spcAft>
                  <a:spcPct val="15000"/>
                </a:spcAft>
                <a:buNone/>
              </a:pPr>
              <a:r>
                <a:rPr lang="en-IN" sz="1200" b="1" kern="1200">
                  <a:solidFill>
                    <a:schemeClr val="tx1"/>
                  </a:solidFill>
                  <a:latin typeface="EY interstate"/>
                </a:rPr>
                <a:t>Publish</a:t>
              </a:r>
              <a:endParaRPr lang="en-IN" sz="1200" kern="1200">
                <a:solidFill>
                  <a:schemeClr val="tx1"/>
                </a:solidFill>
                <a:latin typeface="EY interstate"/>
              </a:endParaRPr>
            </a:p>
          </p:txBody>
        </p:sp>
      </p:grpSp>
      <p:sp>
        <p:nvSpPr>
          <p:cNvPr id="8" name="Rectangular Callout 14">
            <a:extLst>
              <a:ext uri="{FF2B5EF4-FFF2-40B4-BE49-F238E27FC236}">
                <a16:creationId xmlns:a16="http://schemas.microsoft.com/office/drawing/2014/main" id="{9F3FA88B-0134-8DA3-CA23-C1003746C5CA}"/>
              </a:ext>
            </a:extLst>
          </p:cNvPr>
          <p:cNvSpPr/>
          <p:nvPr/>
        </p:nvSpPr>
        <p:spPr>
          <a:xfrm>
            <a:off x="651515" y="1065535"/>
            <a:ext cx="10582655" cy="846289"/>
          </a:xfrm>
          <a:prstGeom prst="rect">
            <a:avLst/>
          </a:prstGeom>
          <a:noFill/>
          <a:ln w="12700" cap="flat" cmpd="sng" algn="ctr">
            <a:solidFill>
              <a:schemeClr val="bg1"/>
            </a:solidFill>
            <a:prstDash val="solid"/>
          </a:ln>
          <a:effectLst/>
        </p:spPr>
        <p:txBody>
          <a:bodyPr wrap="square" lIns="27404" tIns="91392" rIns="27404" bIns="91392" rtlCol="0" anchor="ctr">
            <a:spAutoFit/>
          </a:bodyPr>
          <a:lstStyle/>
          <a:p>
            <a:pPr algn="ctr" defTabSz="913029">
              <a:spcAft>
                <a:spcPts val="300"/>
              </a:spcAft>
              <a:defRPr/>
            </a:pPr>
            <a:r>
              <a:rPr lang="en-US" sz="1600" b="1" u="sng" kern="0">
                <a:solidFill>
                  <a:schemeClr val="bg1"/>
                </a:solidFill>
                <a:latin typeface="EY interstate"/>
              </a:rPr>
              <a:t>Pre‑close (D‑5 to D‑1, rolling)</a:t>
            </a:r>
          </a:p>
          <a:p>
            <a:pPr marL="171450" indent="-171450" algn="ctr" defTabSz="913029">
              <a:spcAft>
                <a:spcPts val="300"/>
              </a:spcAft>
              <a:buClr>
                <a:srgbClr val="FFE600"/>
              </a:buClr>
              <a:buFont typeface="Wingdings" panose="05000000000000000000" pitchFamily="2" charset="2"/>
              <a:buChar char="ü"/>
              <a:defRPr/>
            </a:pPr>
            <a:r>
              <a:rPr lang="en-US" sz="1100" b="1" kern="0">
                <a:solidFill>
                  <a:schemeClr val="bg1"/>
                </a:solidFill>
                <a:latin typeface="EY interstate"/>
              </a:rPr>
              <a:t>Daily/weekly reconciliations of cash, AR, AP; auto‑post recurring JEs; subledger hygiene; exception queues triaged. </a:t>
            </a:r>
          </a:p>
          <a:p>
            <a:pPr marL="171450" indent="-171450" algn="ctr" defTabSz="913029">
              <a:spcAft>
                <a:spcPts val="300"/>
              </a:spcAft>
              <a:buClr>
                <a:srgbClr val="FFE600"/>
              </a:buClr>
              <a:buFont typeface="Wingdings" panose="05000000000000000000" pitchFamily="2" charset="2"/>
              <a:buChar char="ü"/>
              <a:defRPr/>
            </a:pPr>
            <a:r>
              <a:rPr lang="en-US" sz="1100" b="1" kern="0">
                <a:solidFill>
                  <a:schemeClr val="bg1"/>
                </a:solidFill>
                <a:latin typeface="EY interstate"/>
              </a:rPr>
              <a:t>Lock master data changes; confirm cutoffs with Operations/Procurement; freeze posting calendars per entity.</a:t>
            </a:r>
            <a:endParaRPr lang="en-US" sz="900" kern="0">
              <a:solidFill>
                <a:schemeClr val="bg1"/>
              </a:solidFill>
              <a:latin typeface="EY interstate"/>
            </a:endParaRPr>
          </a:p>
        </p:txBody>
      </p:sp>
      <p:grpSp>
        <p:nvGrpSpPr>
          <p:cNvPr id="26" name="Group 25">
            <a:extLst>
              <a:ext uri="{FF2B5EF4-FFF2-40B4-BE49-F238E27FC236}">
                <a16:creationId xmlns:a16="http://schemas.microsoft.com/office/drawing/2014/main" id="{DA2E70B9-3AF8-D31C-CBD8-9984E7814E2A}"/>
              </a:ext>
            </a:extLst>
          </p:cNvPr>
          <p:cNvGrpSpPr/>
          <p:nvPr/>
        </p:nvGrpSpPr>
        <p:grpSpPr>
          <a:xfrm>
            <a:off x="385996" y="2255781"/>
            <a:ext cx="5257607" cy="2739948"/>
            <a:chOff x="385996" y="2255781"/>
            <a:chExt cx="5935297" cy="2739948"/>
          </a:xfrm>
        </p:grpSpPr>
        <p:sp>
          <p:nvSpPr>
            <p:cNvPr id="28" name="Rectangle: Rounded Corners 27">
              <a:extLst>
                <a:ext uri="{FF2B5EF4-FFF2-40B4-BE49-F238E27FC236}">
                  <a16:creationId xmlns:a16="http://schemas.microsoft.com/office/drawing/2014/main" id="{2E87FCD5-E7A7-2B46-76E8-1B984B63EF0E}"/>
                </a:ext>
              </a:extLst>
            </p:cNvPr>
            <p:cNvSpPr/>
            <p:nvPr/>
          </p:nvSpPr>
          <p:spPr>
            <a:xfrm>
              <a:off x="385996" y="2255781"/>
              <a:ext cx="1764000" cy="1728000"/>
            </a:xfrm>
            <a:prstGeom prst="roundRect">
              <a:avLst>
                <a:gd name="adj" fmla="val 10000"/>
              </a:avLst>
            </a:prstGeom>
            <a:solidFill>
              <a:schemeClr val="tx1">
                <a:lumMod val="50000"/>
                <a:lumOff val="50000"/>
              </a:schemeClr>
            </a:solidFill>
            <a:ln>
              <a:solidFill>
                <a:schemeClr val="tx1"/>
              </a:solidFill>
            </a:ln>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IN"/>
            </a:p>
          </p:txBody>
        </p:sp>
        <p:sp>
          <p:nvSpPr>
            <p:cNvPr id="32" name="Freeform: Shape 31">
              <a:extLst>
                <a:ext uri="{FF2B5EF4-FFF2-40B4-BE49-F238E27FC236}">
                  <a16:creationId xmlns:a16="http://schemas.microsoft.com/office/drawing/2014/main" id="{0B3727D6-35B0-0542-3A6B-F208D5FE2550}"/>
                </a:ext>
              </a:extLst>
            </p:cNvPr>
            <p:cNvSpPr/>
            <p:nvPr/>
          </p:nvSpPr>
          <p:spPr>
            <a:xfrm>
              <a:off x="1075259" y="3940747"/>
              <a:ext cx="1034384" cy="1034384"/>
            </a:xfrm>
            <a:custGeom>
              <a:avLst/>
              <a:gdLst>
                <a:gd name="connsiteX0" fmla="*/ 0 w 1034384"/>
                <a:gd name="connsiteY0" fmla="*/ 103438 h 1034384"/>
                <a:gd name="connsiteX1" fmla="*/ 103438 w 1034384"/>
                <a:gd name="connsiteY1" fmla="*/ 0 h 1034384"/>
                <a:gd name="connsiteX2" fmla="*/ 930946 w 1034384"/>
                <a:gd name="connsiteY2" fmla="*/ 0 h 1034384"/>
                <a:gd name="connsiteX3" fmla="*/ 1034384 w 1034384"/>
                <a:gd name="connsiteY3" fmla="*/ 103438 h 1034384"/>
                <a:gd name="connsiteX4" fmla="*/ 1034384 w 1034384"/>
                <a:gd name="connsiteY4" fmla="*/ 930946 h 1034384"/>
                <a:gd name="connsiteX5" fmla="*/ 930946 w 1034384"/>
                <a:gd name="connsiteY5" fmla="*/ 1034384 h 1034384"/>
                <a:gd name="connsiteX6" fmla="*/ 103438 w 1034384"/>
                <a:gd name="connsiteY6" fmla="*/ 1034384 h 1034384"/>
                <a:gd name="connsiteX7" fmla="*/ 0 w 1034384"/>
                <a:gd name="connsiteY7" fmla="*/ 930946 h 1034384"/>
                <a:gd name="connsiteX8" fmla="*/ 0 w 1034384"/>
                <a:gd name="connsiteY8" fmla="*/ 103438 h 103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4384" h="1034384">
                  <a:moveTo>
                    <a:pt x="0" y="103438"/>
                  </a:moveTo>
                  <a:cubicBezTo>
                    <a:pt x="0" y="46311"/>
                    <a:pt x="46311" y="0"/>
                    <a:pt x="103438" y="0"/>
                  </a:cubicBezTo>
                  <a:lnTo>
                    <a:pt x="930946" y="0"/>
                  </a:lnTo>
                  <a:cubicBezTo>
                    <a:pt x="988073" y="0"/>
                    <a:pt x="1034384" y="46311"/>
                    <a:pt x="1034384" y="103438"/>
                  </a:cubicBezTo>
                  <a:lnTo>
                    <a:pt x="1034384" y="930946"/>
                  </a:lnTo>
                  <a:cubicBezTo>
                    <a:pt x="1034384" y="988073"/>
                    <a:pt x="988073" y="1034384"/>
                    <a:pt x="930946" y="1034384"/>
                  </a:cubicBezTo>
                  <a:lnTo>
                    <a:pt x="103438" y="1034384"/>
                  </a:lnTo>
                  <a:cubicBezTo>
                    <a:pt x="46311" y="1034384"/>
                    <a:pt x="0" y="988073"/>
                    <a:pt x="0" y="930946"/>
                  </a:cubicBezTo>
                  <a:lnTo>
                    <a:pt x="0" y="103438"/>
                  </a:lnTo>
                  <a:close/>
                </a:path>
              </a:pathLst>
            </a:custGeom>
            <a:solidFill>
              <a:srgbClr val="FFE600"/>
            </a:solidFill>
            <a:ln>
              <a:solidFill>
                <a:schemeClr val="tx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87446" tIns="87446" rIns="87446" bIns="87446" numCol="1" spcCol="1270" anchor="t" anchorCtr="0">
              <a:noAutofit/>
            </a:bodyPr>
            <a:lstStyle/>
            <a:p>
              <a:pPr marL="0" lvl="0" indent="0" algn="l" defTabSz="666750">
                <a:lnSpc>
                  <a:spcPct val="90000"/>
                </a:lnSpc>
                <a:spcBef>
                  <a:spcPct val="0"/>
                </a:spcBef>
                <a:spcAft>
                  <a:spcPct val="35000"/>
                </a:spcAft>
                <a:buNone/>
              </a:pPr>
              <a:r>
                <a:rPr lang="en-IN" sz="1500" b="1" kern="1200">
                  <a:solidFill>
                    <a:schemeClr val="tx1"/>
                  </a:solidFill>
                  <a:latin typeface="EY interstate"/>
                </a:rPr>
                <a:t>Day 0</a:t>
              </a:r>
              <a:endParaRPr lang="en-IN" sz="1500" kern="1200">
                <a:solidFill>
                  <a:schemeClr val="tx1"/>
                </a:solidFill>
                <a:latin typeface="EY interstate"/>
              </a:endParaRPr>
            </a:p>
            <a:p>
              <a:pPr marL="114300" lvl="1" indent="-114300" algn="l" defTabSz="533400">
                <a:lnSpc>
                  <a:spcPct val="90000"/>
                </a:lnSpc>
                <a:spcBef>
                  <a:spcPct val="0"/>
                </a:spcBef>
                <a:spcAft>
                  <a:spcPct val="15000"/>
                </a:spcAft>
                <a:buChar char="•"/>
              </a:pPr>
              <a:r>
                <a:rPr lang="en-IN" sz="1200" b="1" kern="1200">
                  <a:solidFill>
                    <a:schemeClr val="tx1"/>
                  </a:solidFill>
                  <a:latin typeface="EY interstate"/>
                </a:rPr>
                <a:t>Month</a:t>
              </a:r>
            </a:p>
            <a:p>
              <a:pPr marL="0" lvl="1" algn="l" defTabSz="533400">
                <a:lnSpc>
                  <a:spcPct val="90000"/>
                </a:lnSpc>
                <a:spcBef>
                  <a:spcPct val="0"/>
                </a:spcBef>
                <a:spcAft>
                  <a:spcPct val="15000"/>
                </a:spcAft>
              </a:pPr>
              <a:r>
                <a:rPr lang="en-IN" sz="1200" b="1" kern="1200">
                  <a:solidFill>
                    <a:schemeClr val="tx1"/>
                  </a:solidFill>
                  <a:latin typeface="EY interstate"/>
                </a:rPr>
                <a:t>end Cutoff</a:t>
              </a:r>
            </a:p>
          </p:txBody>
        </p:sp>
        <p:sp>
          <p:nvSpPr>
            <p:cNvPr id="35" name="Rectangle: Rounded Corners 34">
              <a:extLst>
                <a:ext uri="{FF2B5EF4-FFF2-40B4-BE49-F238E27FC236}">
                  <a16:creationId xmlns:a16="http://schemas.microsoft.com/office/drawing/2014/main" id="{3D7B73F1-D6B0-FB9D-7338-7C629CACA3DF}"/>
                </a:ext>
              </a:extLst>
            </p:cNvPr>
            <p:cNvSpPr/>
            <p:nvPr/>
          </p:nvSpPr>
          <p:spPr>
            <a:xfrm>
              <a:off x="2471362" y="2255781"/>
              <a:ext cx="1764000" cy="1728000"/>
            </a:xfrm>
            <a:prstGeom prst="roundRect">
              <a:avLst>
                <a:gd name="adj" fmla="val 10000"/>
              </a:avLst>
            </a:prstGeom>
            <a:solidFill>
              <a:schemeClr val="tx1">
                <a:lumMod val="50000"/>
                <a:lumOff val="50000"/>
              </a:schemeClr>
            </a:solidFill>
            <a:ln>
              <a:solidFill>
                <a:schemeClr val="tx1"/>
              </a:solidFill>
            </a:ln>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IN"/>
            </a:p>
          </p:txBody>
        </p:sp>
        <p:sp>
          <p:nvSpPr>
            <p:cNvPr id="36" name="Freeform: Shape 35">
              <a:extLst>
                <a:ext uri="{FF2B5EF4-FFF2-40B4-BE49-F238E27FC236}">
                  <a16:creationId xmlns:a16="http://schemas.microsoft.com/office/drawing/2014/main" id="{E5D9D3D8-9779-B108-F6BC-0EE437FD5F50}"/>
                </a:ext>
              </a:extLst>
            </p:cNvPr>
            <p:cNvSpPr/>
            <p:nvPr/>
          </p:nvSpPr>
          <p:spPr>
            <a:xfrm>
              <a:off x="3213396" y="3961345"/>
              <a:ext cx="1034384" cy="1034384"/>
            </a:xfrm>
            <a:custGeom>
              <a:avLst/>
              <a:gdLst>
                <a:gd name="connsiteX0" fmla="*/ 0 w 1034384"/>
                <a:gd name="connsiteY0" fmla="*/ 103438 h 1034384"/>
                <a:gd name="connsiteX1" fmla="*/ 103438 w 1034384"/>
                <a:gd name="connsiteY1" fmla="*/ 0 h 1034384"/>
                <a:gd name="connsiteX2" fmla="*/ 930946 w 1034384"/>
                <a:gd name="connsiteY2" fmla="*/ 0 h 1034384"/>
                <a:gd name="connsiteX3" fmla="*/ 1034384 w 1034384"/>
                <a:gd name="connsiteY3" fmla="*/ 103438 h 1034384"/>
                <a:gd name="connsiteX4" fmla="*/ 1034384 w 1034384"/>
                <a:gd name="connsiteY4" fmla="*/ 930946 h 1034384"/>
                <a:gd name="connsiteX5" fmla="*/ 930946 w 1034384"/>
                <a:gd name="connsiteY5" fmla="*/ 1034384 h 1034384"/>
                <a:gd name="connsiteX6" fmla="*/ 103438 w 1034384"/>
                <a:gd name="connsiteY6" fmla="*/ 1034384 h 1034384"/>
                <a:gd name="connsiteX7" fmla="*/ 0 w 1034384"/>
                <a:gd name="connsiteY7" fmla="*/ 930946 h 1034384"/>
                <a:gd name="connsiteX8" fmla="*/ 0 w 1034384"/>
                <a:gd name="connsiteY8" fmla="*/ 103438 h 103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4384" h="1034384">
                  <a:moveTo>
                    <a:pt x="0" y="103438"/>
                  </a:moveTo>
                  <a:cubicBezTo>
                    <a:pt x="0" y="46311"/>
                    <a:pt x="46311" y="0"/>
                    <a:pt x="103438" y="0"/>
                  </a:cubicBezTo>
                  <a:lnTo>
                    <a:pt x="930946" y="0"/>
                  </a:lnTo>
                  <a:cubicBezTo>
                    <a:pt x="988073" y="0"/>
                    <a:pt x="1034384" y="46311"/>
                    <a:pt x="1034384" y="103438"/>
                  </a:cubicBezTo>
                  <a:lnTo>
                    <a:pt x="1034384" y="930946"/>
                  </a:lnTo>
                  <a:cubicBezTo>
                    <a:pt x="1034384" y="988073"/>
                    <a:pt x="988073" y="1034384"/>
                    <a:pt x="930946" y="1034384"/>
                  </a:cubicBezTo>
                  <a:lnTo>
                    <a:pt x="103438" y="1034384"/>
                  </a:lnTo>
                  <a:cubicBezTo>
                    <a:pt x="46311" y="1034384"/>
                    <a:pt x="0" y="988073"/>
                    <a:pt x="0" y="930946"/>
                  </a:cubicBezTo>
                  <a:lnTo>
                    <a:pt x="0" y="103438"/>
                  </a:lnTo>
                  <a:close/>
                </a:path>
              </a:pathLst>
            </a:custGeom>
            <a:solidFill>
              <a:srgbClr val="FFE600"/>
            </a:solidFill>
            <a:ln>
              <a:solidFill>
                <a:schemeClr val="tx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87446" tIns="87446" rIns="87446" bIns="87446" numCol="1" spcCol="1270" anchor="t" anchorCtr="0">
              <a:noAutofit/>
            </a:bodyPr>
            <a:lstStyle/>
            <a:p>
              <a:pPr marL="0" lvl="0" indent="0" algn="l" defTabSz="666750">
                <a:lnSpc>
                  <a:spcPct val="90000"/>
                </a:lnSpc>
                <a:spcBef>
                  <a:spcPct val="0"/>
                </a:spcBef>
                <a:spcAft>
                  <a:spcPct val="35000"/>
                </a:spcAft>
                <a:buNone/>
              </a:pPr>
              <a:r>
                <a:rPr lang="en-IN" sz="1500" b="1" kern="1200">
                  <a:solidFill>
                    <a:schemeClr val="tx1"/>
                  </a:solidFill>
                  <a:latin typeface="EY interstate"/>
                </a:rPr>
                <a:t>D+1</a:t>
              </a:r>
              <a:endParaRPr lang="en-IN" sz="1500" kern="1200">
                <a:solidFill>
                  <a:schemeClr val="tx1"/>
                </a:solidFill>
                <a:latin typeface="EY interstate"/>
              </a:endParaRPr>
            </a:p>
            <a:p>
              <a:pPr marL="114300" lvl="1" indent="-114300" algn="l" defTabSz="533400">
                <a:lnSpc>
                  <a:spcPct val="90000"/>
                </a:lnSpc>
                <a:spcBef>
                  <a:spcPct val="0"/>
                </a:spcBef>
                <a:spcAft>
                  <a:spcPct val="15000"/>
                </a:spcAft>
                <a:buNone/>
              </a:pPr>
              <a:r>
                <a:rPr lang="en-IN" sz="1200" b="1" kern="1200">
                  <a:solidFill>
                    <a:schemeClr val="tx1"/>
                  </a:solidFill>
                  <a:latin typeface="EY interstate"/>
                </a:rPr>
                <a:t>Entity Focus</a:t>
              </a:r>
              <a:endParaRPr lang="en-IN" sz="1200" kern="1200">
                <a:solidFill>
                  <a:schemeClr val="tx1"/>
                </a:solidFill>
                <a:latin typeface="EY interstate"/>
              </a:endParaRPr>
            </a:p>
          </p:txBody>
        </p:sp>
        <p:sp>
          <p:nvSpPr>
            <p:cNvPr id="37" name="Freeform: Shape 36">
              <a:extLst>
                <a:ext uri="{FF2B5EF4-FFF2-40B4-BE49-F238E27FC236}">
                  <a16:creationId xmlns:a16="http://schemas.microsoft.com/office/drawing/2014/main" id="{C18F55CB-7715-F957-5104-F11FA3CBD0B6}"/>
                </a:ext>
              </a:extLst>
            </p:cNvPr>
            <p:cNvSpPr/>
            <p:nvPr/>
          </p:nvSpPr>
          <p:spPr>
            <a:xfrm rot="46396">
              <a:off x="4301540" y="2999409"/>
              <a:ext cx="216000" cy="248548"/>
            </a:xfrm>
            <a:custGeom>
              <a:avLst/>
              <a:gdLst>
                <a:gd name="connsiteX0" fmla="*/ 0 w 131513"/>
                <a:gd name="connsiteY0" fmla="*/ 49710 h 248548"/>
                <a:gd name="connsiteX1" fmla="*/ 65757 w 131513"/>
                <a:gd name="connsiteY1" fmla="*/ 49710 h 248548"/>
                <a:gd name="connsiteX2" fmla="*/ 65757 w 131513"/>
                <a:gd name="connsiteY2" fmla="*/ 0 h 248548"/>
                <a:gd name="connsiteX3" fmla="*/ 131513 w 131513"/>
                <a:gd name="connsiteY3" fmla="*/ 124274 h 248548"/>
                <a:gd name="connsiteX4" fmla="*/ 65757 w 131513"/>
                <a:gd name="connsiteY4" fmla="*/ 248548 h 248548"/>
                <a:gd name="connsiteX5" fmla="*/ 65757 w 131513"/>
                <a:gd name="connsiteY5" fmla="*/ 198838 h 248548"/>
                <a:gd name="connsiteX6" fmla="*/ 0 w 131513"/>
                <a:gd name="connsiteY6" fmla="*/ 198838 h 248548"/>
                <a:gd name="connsiteX7" fmla="*/ 0 w 131513"/>
                <a:gd name="connsiteY7" fmla="*/ 49710 h 24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513" h="248548">
                  <a:moveTo>
                    <a:pt x="0" y="49710"/>
                  </a:moveTo>
                  <a:lnTo>
                    <a:pt x="65757" y="49710"/>
                  </a:lnTo>
                  <a:lnTo>
                    <a:pt x="65757" y="0"/>
                  </a:lnTo>
                  <a:lnTo>
                    <a:pt x="131513" y="124274"/>
                  </a:lnTo>
                  <a:lnTo>
                    <a:pt x="65757" y="248548"/>
                  </a:lnTo>
                  <a:lnTo>
                    <a:pt x="65757" y="198838"/>
                  </a:lnTo>
                  <a:lnTo>
                    <a:pt x="0" y="198838"/>
                  </a:lnTo>
                  <a:lnTo>
                    <a:pt x="0" y="49710"/>
                  </a:lnTo>
                  <a:close/>
                </a:path>
              </a:pathLst>
            </a:custGeom>
            <a:solidFill>
              <a:schemeClr val="bg2">
                <a:lumMod val="90000"/>
              </a:schemeClr>
            </a:solidFill>
          </p:spPr>
          <p:style>
            <a:lnRef idx="0">
              <a:schemeClr val="accent1">
                <a:tint val="60000"/>
                <a:hueOff val="0"/>
                <a:satOff val="0"/>
                <a:lumOff val="0"/>
                <a:alphaOff val="0"/>
              </a:schemeClr>
            </a:lnRef>
            <a:fillRef idx="1">
              <a:scrgbClr r="0" g="0" b="0"/>
            </a:fillRef>
            <a:effectRef idx="0">
              <a:schemeClr val="accent1">
                <a:tint val="60000"/>
                <a:hueOff val="0"/>
                <a:satOff val="0"/>
                <a:lumOff val="0"/>
                <a:alphaOff val="0"/>
              </a:schemeClr>
            </a:effectRef>
            <a:fontRef idx="minor">
              <a:schemeClr val="lt1"/>
            </a:fontRef>
          </p:style>
          <p:txBody>
            <a:bodyPr spcFirstLastPara="0" vert="horz" wrap="square" lIns="0" tIns="49710" rIns="39453" bIns="49709" numCol="1" spcCol="1270" anchor="ctr" anchorCtr="0">
              <a:noAutofit/>
            </a:bodyPr>
            <a:lstStyle/>
            <a:p>
              <a:pPr marL="0" lvl="0" indent="0" algn="ctr" defTabSz="444500">
                <a:lnSpc>
                  <a:spcPct val="90000"/>
                </a:lnSpc>
                <a:spcBef>
                  <a:spcPct val="0"/>
                </a:spcBef>
                <a:spcAft>
                  <a:spcPct val="35000"/>
                </a:spcAft>
                <a:buNone/>
              </a:pPr>
              <a:endParaRPr lang="en-IN" sz="1000" kern="1200"/>
            </a:p>
          </p:txBody>
        </p:sp>
        <p:sp>
          <p:nvSpPr>
            <p:cNvPr id="38" name="Rectangle: Rounded Corners 37">
              <a:extLst>
                <a:ext uri="{FF2B5EF4-FFF2-40B4-BE49-F238E27FC236}">
                  <a16:creationId xmlns:a16="http://schemas.microsoft.com/office/drawing/2014/main" id="{8E369335-3AC7-31EC-B0A1-6095EB66D0E8}"/>
                </a:ext>
              </a:extLst>
            </p:cNvPr>
            <p:cNvSpPr/>
            <p:nvPr/>
          </p:nvSpPr>
          <p:spPr>
            <a:xfrm>
              <a:off x="4557293" y="2255781"/>
              <a:ext cx="1764000" cy="1728000"/>
            </a:xfrm>
            <a:prstGeom prst="roundRect">
              <a:avLst>
                <a:gd name="adj" fmla="val 10000"/>
              </a:avLst>
            </a:prstGeom>
            <a:solidFill>
              <a:schemeClr val="tx1">
                <a:lumMod val="50000"/>
                <a:lumOff val="50000"/>
              </a:schemeClr>
            </a:solidFill>
            <a:ln>
              <a:solidFill>
                <a:schemeClr val="tx1"/>
              </a:solidFill>
            </a:ln>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IN"/>
            </a:p>
          </p:txBody>
        </p:sp>
        <p:sp>
          <p:nvSpPr>
            <p:cNvPr id="39" name="Freeform: Shape 38">
              <a:extLst>
                <a:ext uri="{FF2B5EF4-FFF2-40B4-BE49-F238E27FC236}">
                  <a16:creationId xmlns:a16="http://schemas.microsoft.com/office/drawing/2014/main" id="{8CB2881E-067B-1139-64CD-4EED36612877}"/>
                </a:ext>
              </a:extLst>
            </p:cNvPr>
            <p:cNvSpPr/>
            <p:nvPr/>
          </p:nvSpPr>
          <p:spPr>
            <a:xfrm>
              <a:off x="5198748" y="3940747"/>
              <a:ext cx="1034384" cy="1034384"/>
            </a:xfrm>
            <a:custGeom>
              <a:avLst/>
              <a:gdLst>
                <a:gd name="connsiteX0" fmla="*/ 0 w 1034384"/>
                <a:gd name="connsiteY0" fmla="*/ 103438 h 1034384"/>
                <a:gd name="connsiteX1" fmla="*/ 103438 w 1034384"/>
                <a:gd name="connsiteY1" fmla="*/ 0 h 1034384"/>
                <a:gd name="connsiteX2" fmla="*/ 930946 w 1034384"/>
                <a:gd name="connsiteY2" fmla="*/ 0 h 1034384"/>
                <a:gd name="connsiteX3" fmla="*/ 1034384 w 1034384"/>
                <a:gd name="connsiteY3" fmla="*/ 103438 h 1034384"/>
                <a:gd name="connsiteX4" fmla="*/ 1034384 w 1034384"/>
                <a:gd name="connsiteY4" fmla="*/ 930946 h 1034384"/>
                <a:gd name="connsiteX5" fmla="*/ 930946 w 1034384"/>
                <a:gd name="connsiteY5" fmla="*/ 1034384 h 1034384"/>
                <a:gd name="connsiteX6" fmla="*/ 103438 w 1034384"/>
                <a:gd name="connsiteY6" fmla="*/ 1034384 h 1034384"/>
                <a:gd name="connsiteX7" fmla="*/ 0 w 1034384"/>
                <a:gd name="connsiteY7" fmla="*/ 930946 h 1034384"/>
                <a:gd name="connsiteX8" fmla="*/ 0 w 1034384"/>
                <a:gd name="connsiteY8" fmla="*/ 103438 h 103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4384" h="1034384">
                  <a:moveTo>
                    <a:pt x="0" y="103438"/>
                  </a:moveTo>
                  <a:cubicBezTo>
                    <a:pt x="0" y="46311"/>
                    <a:pt x="46311" y="0"/>
                    <a:pt x="103438" y="0"/>
                  </a:cubicBezTo>
                  <a:lnTo>
                    <a:pt x="930946" y="0"/>
                  </a:lnTo>
                  <a:cubicBezTo>
                    <a:pt x="988073" y="0"/>
                    <a:pt x="1034384" y="46311"/>
                    <a:pt x="1034384" y="103438"/>
                  </a:cubicBezTo>
                  <a:lnTo>
                    <a:pt x="1034384" y="930946"/>
                  </a:lnTo>
                  <a:cubicBezTo>
                    <a:pt x="1034384" y="988073"/>
                    <a:pt x="988073" y="1034384"/>
                    <a:pt x="930946" y="1034384"/>
                  </a:cubicBezTo>
                  <a:lnTo>
                    <a:pt x="103438" y="1034384"/>
                  </a:lnTo>
                  <a:cubicBezTo>
                    <a:pt x="46311" y="1034384"/>
                    <a:pt x="0" y="988073"/>
                    <a:pt x="0" y="930946"/>
                  </a:cubicBezTo>
                  <a:lnTo>
                    <a:pt x="0" y="103438"/>
                  </a:lnTo>
                  <a:close/>
                </a:path>
              </a:pathLst>
            </a:custGeom>
            <a:solidFill>
              <a:srgbClr val="FFE600"/>
            </a:solidFill>
            <a:ln>
              <a:solidFill>
                <a:schemeClr val="tx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87446" tIns="87446" rIns="87446" bIns="87446" numCol="1" spcCol="1270" anchor="t" anchorCtr="0">
              <a:noAutofit/>
            </a:bodyPr>
            <a:lstStyle/>
            <a:p>
              <a:pPr marL="0" lvl="0" indent="0" algn="l" defTabSz="666750">
                <a:lnSpc>
                  <a:spcPct val="90000"/>
                </a:lnSpc>
                <a:spcBef>
                  <a:spcPct val="0"/>
                </a:spcBef>
                <a:spcAft>
                  <a:spcPct val="35000"/>
                </a:spcAft>
                <a:buNone/>
              </a:pPr>
              <a:r>
                <a:rPr lang="en-IN" sz="1500" b="1" kern="1200">
                  <a:solidFill>
                    <a:schemeClr val="tx1"/>
                  </a:solidFill>
                  <a:latin typeface="EY interstate"/>
                </a:rPr>
                <a:t>D+2</a:t>
              </a:r>
              <a:endParaRPr lang="en-IN" sz="1500" kern="1200">
                <a:solidFill>
                  <a:schemeClr val="tx1"/>
                </a:solidFill>
                <a:latin typeface="EY interstate"/>
              </a:endParaRPr>
            </a:p>
            <a:p>
              <a:pPr marL="114300" lvl="1" indent="-114300" algn="l" defTabSz="533400">
                <a:lnSpc>
                  <a:spcPct val="90000"/>
                </a:lnSpc>
                <a:spcBef>
                  <a:spcPct val="0"/>
                </a:spcBef>
                <a:spcAft>
                  <a:spcPct val="15000"/>
                </a:spcAft>
                <a:buNone/>
              </a:pPr>
              <a:r>
                <a:rPr lang="en-IN" sz="1200" b="1" kern="1200">
                  <a:solidFill>
                    <a:schemeClr val="tx1"/>
                  </a:solidFill>
                  <a:latin typeface="EY interstate"/>
                </a:rPr>
                <a:t>Entity Sign‑off / group prep</a:t>
              </a:r>
              <a:r>
                <a:rPr lang="en-IN" sz="1200" b="1" kern="1200"/>
                <a:t>)</a:t>
              </a:r>
              <a:endParaRPr lang="en-IN" sz="1200" kern="1200"/>
            </a:p>
          </p:txBody>
        </p:sp>
      </p:grpSp>
      <p:sp>
        <p:nvSpPr>
          <p:cNvPr id="9" name="TextBox 8">
            <a:extLst>
              <a:ext uri="{FF2B5EF4-FFF2-40B4-BE49-F238E27FC236}">
                <a16:creationId xmlns:a16="http://schemas.microsoft.com/office/drawing/2014/main" id="{722BF0E2-B294-B3CF-C472-C8CB10EDD7EB}"/>
              </a:ext>
            </a:extLst>
          </p:cNvPr>
          <p:cNvSpPr txBox="1"/>
          <p:nvPr/>
        </p:nvSpPr>
        <p:spPr>
          <a:xfrm>
            <a:off x="409071" y="2421328"/>
            <a:ext cx="1466090" cy="1015663"/>
          </a:xfrm>
          <a:prstGeom prst="rect">
            <a:avLst/>
          </a:prstGeom>
          <a:noFill/>
        </p:spPr>
        <p:txBody>
          <a:bodyPr wrap="square" rtlCol="0">
            <a:spAutoFit/>
          </a:bodyPr>
          <a:lstStyle/>
          <a:p>
            <a:r>
              <a:rPr lang="en-IN" sz="1200">
                <a:solidFill>
                  <a:schemeClr val="bg1"/>
                </a:solidFill>
                <a:latin typeface="EY interstate"/>
              </a:rPr>
              <a:t>Final posting windows close per region/time zone; preliminary TB generated by entity</a:t>
            </a:r>
          </a:p>
        </p:txBody>
      </p:sp>
      <p:sp>
        <p:nvSpPr>
          <p:cNvPr id="10" name="TextBox 9">
            <a:extLst>
              <a:ext uri="{FF2B5EF4-FFF2-40B4-BE49-F238E27FC236}">
                <a16:creationId xmlns:a16="http://schemas.microsoft.com/office/drawing/2014/main" id="{884BB829-17C5-A147-5EC6-A6AD6CA74B5D}"/>
              </a:ext>
            </a:extLst>
          </p:cNvPr>
          <p:cNvSpPr txBox="1"/>
          <p:nvPr/>
        </p:nvSpPr>
        <p:spPr>
          <a:xfrm>
            <a:off x="2249727" y="2258768"/>
            <a:ext cx="1503372" cy="1754326"/>
          </a:xfrm>
          <a:prstGeom prst="rect">
            <a:avLst/>
          </a:prstGeom>
          <a:noFill/>
        </p:spPr>
        <p:txBody>
          <a:bodyPr wrap="square" rtlCol="0">
            <a:spAutoFit/>
          </a:bodyPr>
          <a:lstStyle/>
          <a:p>
            <a:r>
              <a:rPr lang="en-IN" sz="1200">
                <a:solidFill>
                  <a:schemeClr val="bg1"/>
                </a:solidFill>
                <a:latin typeface="EY interstate"/>
              </a:rPr>
              <a:t>Complete entity balance sheet recs (risk‑based priority); IC confirmations and auto‑match; FX revaluation for local ledgers; book standard accruals (materiality rules</a:t>
            </a:r>
          </a:p>
        </p:txBody>
      </p:sp>
      <p:sp>
        <p:nvSpPr>
          <p:cNvPr id="20" name="TextBox 19">
            <a:extLst>
              <a:ext uri="{FF2B5EF4-FFF2-40B4-BE49-F238E27FC236}">
                <a16:creationId xmlns:a16="http://schemas.microsoft.com/office/drawing/2014/main" id="{6E7C8D59-C809-7F4D-EC91-3EB71E83DF06}"/>
              </a:ext>
            </a:extLst>
          </p:cNvPr>
          <p:cNvSpPr txBox="1"/>
          <p:nvPr/>
        </p:nvSpPr>
        <p:spPr>
          <a:xfrm>
            <a:off x="4054244" y="2327662"/>
            <a:ext cx="1699257" cy="1384995"/>
          </a:xfrm>
          <a:prstGeom prst="rect">
            <a:avLst/>
          </a:prstGeom>
          <a:noFill/>
        </p:spPr>
        <p:txBody>
          <a:bodyPr wrap="square" rtlCol="0">
            <a:spAutoFit/>
          </a:bodyPr>
          <a:lstStyle/>
          <a:p>
            <a:r>
              <a:rPr lang="en-IN" sz="1200">
                <a:solidFill>
                  <a:schemeClr val="bg1"/>
                </a:solidFill>
                <a:latin typeface="EY interstate"/>
              </a:rPr>
              <a:t>Entity controller sign‑off; transmit reporting package (mapped to standard COA); IC disputes resolved within defined tolerance windows</a:t>
            </a:r>
          </a:p>
        </p:txBody>
      </p:sp>
      <p:grpSp>
        <p:nvGrpSpPr>
          <p:cNvPr id="25" name="Group 24">
            <a:extLst>
              <a:ext uri="{FF2B5EF4-FFF2-40B4-BE49-F238E27FC236}">
                <a16:creationId xmlns:a16="http://schemas.microsoft.com/office/drawing/2014/main" id="{F7D2A8D2-9278-F1C1-4257-4C2DE95F4F23}"/>
              </a:ext>
            </a:extLst>
          </p:cNvPr>
          <p:cNvGrpSpPr/>
          <p:nvPr/>
        </p:nvGrpSpPr>
        <p:grpSpPr>
          <a:xfrm>
            <a:off x="6268072" y="2421328"/>
            <a:ext cx="5198342" cy="1212100"/>
            <a:chOff x="6268072" y="2421328"/>
            <a:chExt cx="5198342" cy="1212100"/>
          </a:xfrm>
        </p:grpSpPr>
        <p:sp>
          <p:nvSpPr>
            <p:cNvPr id="12" name="TextBox 11">
              <a:extLst>
                <a:ext uri="{FF2B5EF4-FFF2-40B4-BE49-F238E27FC236}">
                  <a16:creationId xmlns:a16="http://schemas.microsoft.com/office/drawing/2014/main" id="{F1FB39B0-A674-B2BE-274D-531DB5A8D380}"/>
                </a:ext>
              </a:extLst>
            </p:cNvPr>
            <p:cNvSpPr txBox="1"/>
            <p:nvPr/>
          </p:nvSpPr>
          <p:spPr>
            <a:xfrm>
              <a:off x="6268072" y="2421328"/>
              <a:ext cx="1466090" cy="1015663"/>
            </a:xfrm>
            <a:prstGeom prst="rect">
              <a:avLst/>
            </a:prstGeom>
            <a:noFill/>
          </p:spPr>
          <p:txBody>
            <a:bodyPr wrap="square" rtlCol="0">
              <a:spAutoFit/>
            </a:bodyPr>
            <a:lstStyle/>
            <a:p>
              <a:r>
                <a:rPr lang="en-IN" sz="1200">
                  <a:solidFill>
                    <a:schemeClr val="bg1"/>
                  </a:solidFill>
                  <a:latin typeface="EY interstate"/>
                </a:rPr>
                <a:t>IC eliminations; minority interests; complex journals; consolidation run; first consolidated TB</a:t>
              </a:r>
            </a:p>
          </p:txBody>
        </p:sp>
        <p:sp>
          <p:nvSpPr>
            <p:cNvPr id="22" name="TextBox 21">
              <a:extLst>
                <a:ext uri="{FF2B5EF4-FFF2-40B4-BE49-F238E27FC236}">
                  <a16:creationId xmlns:a16="http://schemas.microsoft.com/office/drawing/2014/main" id="{25B6D610-AA97-9BD2-3897-1108F729D76E}"/>
                </a:ext>
              </a:extLst>
            </p:cNvPr>
            <p:cNvSpPr txBox="1"/>
            <p:nvPr/>
          </p:nvSpPr>
          <p:spPr>
            <a:xfrm>
              <a:off x="8105395" y="2443451"/>
              <a:ext cx="1670307" cy="1015663"/>
            </a:xfrm>
            <a:prstGeom prst="rect">
              <a:avLst/>
            </a:prstGeom>
            <a:noFill/>
          </p:spPr>
          <p:txBody>
            <a:bodyPr wrap="square" rtlCol="0">
              <a:spAutoFit/>
            </a:bodyPr>
            <a:lstStyle/>
            <a:p>
              <a:r>
                <a:rPr lang="en-IN" sz="1200">
                  <a:solidFill>
                    <a:schemeClr val="bg1"/>
                  </a:solidFill>
                  <a:latin typeface="EY interstate"/>
                </a:rPr>
                <a:t>Group variance/flux analysis; management commentary drafting in connected reporting workspace</a:t>
              </a:r>
            </a:p>
          </p:txBody>
        </p:sp>
        <p:sp>
          <p:nvSpPr>
            <p:cNvPr id="24" name="TextBox 23">
              <a:extLst>
                <a:ext uri="{FF2B5EF4-FFF2-40B4-BE49-F238E27FC236}">
                  <a16:creationId xmlns:a16="http://schemas.microsoft.com/office/drawing/2014/main" id="{5605DFF2-23C8-3982-A269-1D9B11DA21B5}"/>
                </a:ext>
              </a:extLst>
            </p:cNvPr>
            <p:cNvSpPr txBox="1"/>
            <p:nvPr/>
          </p:nvSpPr>
          <p:spPr>
            <a:xfrm>
              <a:off x="10050626" y="2433099"/>
              <a:ext cx="1415788" cy="1200329"/>
            </a:xfrm>
            <a:prstGeom prst="rect">
              <a:avLst/>
            </a:prstGeom>
            <a:noFill/>
          </p:spPr>
          <p:txBody>
            <a:bodyPr wrap="square" rtlCol="0">
              <a:spAutoFit/>
            </a:bodyPr>
            <a:lstStyle/>
            <a:p>
              <a:r>
                <a:rPr lang="en-IN" sz="1200">
                  <a:solidFill>
                    <a:schemeClr val="bg1"/>
                  </a:solidFill>
                  <a:latin typeface="EY interstate"/>
                </a:rPr>
                <a:t>Consolidated management pack released; KPIs updated; issues fed into continuous close backlog</a:t>
              </a:r>
            </a:p>
          </p:txBody>
        </p:sp>
      </p:grpSp>
      <p:sp>
        <p:nvSpPr>
          <p:cNvPr id="27" name="Rectangular Callout 14">
            <a:extLst>
              <a:ext uri="{FF2B5EF4-FFF2-40B4-BE49-F238E27FC236}">
                <a16:creationId xmlns:a16="http://schemas.microsoft.com/office/drawing/2014/main" id="{192D9569-8AFF-54A1-201D-96BBE06DBD7F}"/>
              </a:ext>
            </a:extLst>
          </p:cNvPr>
          <p:cNvSpPr/>
          <p:nvPr/>
        </p:nvSpPr>
        <p:spPr>
          <a:xfrm>
            <a:off x="801626" y="5093098"/>
            <a:ext cx="10216896" cy="677012"/>
          </a:xfrm>
          <a:prstGeom prst="rect">
            <a:avLst/>
          </a:prstGeom>
          <a:noFill/>
          <a:ln w="12700" cap="flat" cmpd="sng" algn="ctr">
            <a:solidFill>
              <a:schemeClr val="bg1"/>
            </a:solidFill>
            <a:prstDash val="solid"/>
          </a:ln>
          <a:effectLst/>
        </p:spPr>
        <p:txBody>
          <a:bodyPr wrap="square" lIns="27404" tIns="91392" rIns="27404" bIns="91392" rtlCol="0" anchor="ctr">
            <a:spAutoFit/>
          </a:bodyPr>
          <a:lstStyle/>
          <a:p>
            <a:pPr algn="ctr" defTabSz="913029">
              <a:spcAft>
                <a:spcPts val="300"/>
              </a:spcAft>
              <a:defRPr/>
            </a:pPr>
            <a:r>
              <a:rPr lang="en-IN" sz="1600" b="1" u="sng" kern="0">
                <a:solidFill>
                  <a:schemeClr val="bg1"/>
                </a:solidFill>
                <a:latin typeface="EY interstate"/>
              </a:rPr>
              <a:t>Managing this cadence at scale requires a task/workflow hub (owners, due dates, evidence, approvals, dashboards) and an explicit close calendar object tied to your entity hierarchy.</a:t>
            </a:r>
            <a:endParaRPr lang="en-US" sz="900" kern="0">
              <a:solidFill>
                <a:schemeClr val="bg1"/>
              </a:solidFill>
              <a:latin typeface="EY interstate"/>
            </a:endParaRPr>
          </a:p>
        </p:txBody>
      </p:sp>
      <p:sp>
        <p:nvSpPr>
          <p:cNvPr id="29" name="Arrow: Left-Right 28">
            <a:extLst>
              <a:ext uri="{FF2B5EF4-FFF2-40B4-BE49-F238E27FC236}">
                <a16:creationId xmlns:a16="http://schemas.microsoft.com/office/drawing/2014/main" id="{79A9BE8F-A82D-4ED3-DE74-657AD791ABBD}"/>
              </a:ext>
            </a:extLst>
          </p:cNvPr>
          <p:cNvSpPr/>
          <p:nvPr/>
        </p:nvSpPr>
        <p:spPr>
          <a:xfrm>
            <a:off x="379476" y="5787971"/>
            <a:ext cx="11433048" cy="475488"/>
          </a:xfrm>
          <a:prstGeom prst="leftRightArrow">
            <a:avLst/>
          </a:prstGeom>
          <a:solidFill>
            <a:schemeClr val="bg2">
              <a:lumMod val="50000"/>
            </a:schemeClr>
          </a:solid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0" name="TextBox 29">
            <a:extLst>
              <a:ext uri="{FF2B5EF4-FFF2-40B4-BE49-F238E27FC236}">
                <a16:creationId xmlns:a16="http://schemas.microsoft.com/office/drawing/2014/main" id="{3E2A40BF-D7E4-8FAA-D8C9-B08D785271AF}"/>
              </a:ext>
            </a:extLst>
          </p:cNvPr>
          <p:cNvSpPr txBox="1"/>
          <p:nvPr/>
        </p:nvSpPr>
        <p:spPr>
          <a:xfrm>
            <a:off x="5366003" y="5809061"/>
            <a:ext cx="3617976" cy="461665"/>
          </a:xfrm>
          <a:prstGeom prst="rect">
            <a:avLst/>
          </a:prstGeom>
          <a:noFill/>
        </p:spPr>
        <p:txBody>
          <a:bodyPr wrap="square" rtlCol="0">
            <a:spAutoFit/>
          </a:bodyPr>
          <a:lstStyle/>
          <a:p>
            <a:r>
              <a:rPr lang="en-IN" sz="2400">
                <a:solidFill>
                  <a:srgbClr val="FFE600"/>
                </a:solidFill>
                <a:latin typeface="EY interstate"/>
              </a:rPr>
              <a:t>OUTPUTS</a:t>
            </a:r>
          </a:p>
        </p:txBody>
      </p:sp>
      <p:sp>
        <p:nvSpPr>
          <p:cNvPr id="31" name="TextBox 30">
            <a:extLst>
              <a:ext uri="{FF2B5EF4-FFF2-40B4-BE49-F238E27FC236}">
                <a16:creationId xmlns:a16="http://schemas.microsoft.com/office/drawing/2014/main" id="{36386872-42DD-969E-A70A-1B62F8E01CBB}"/>
              </a:ext>
            </a:extLst>
          </p:cNvPr>
          <p:cNvSpPr txBox="1"/>
          <p:nvPr/>
        </p:nvSpPr>
        <p:spPr>
          <a:xfrm>
            <a:off x="3639311" y="6369279"/>
            <a:ext cx="7071361" cy="369332"/>
          </a:xfrm>
          <a:prstGeom prst="rect">
            <a:avLst/>
          </a:prstGeom>
          <a:noFill/>
        </p:spPr>
        <p:txBody>
          <a:bodyPr wrap="square" rtlCol="0">
            <a:spAutoFit/>
          </a:bodyPr>
          <a:lstStyle/>
          <a:p>
            <a:r>
              <a:rPr lang="en-IN">
                <a:solidFill>
                  <a:schemeClr val="bg1"/>
                </a:solidFill>
                <a:latin typeface="EY interstate"/>
              </a:rPr>
              <a:t>Powered by standardization and automation</a:t>
            </a:r>
          </a:p>
        </p:txBody>
      </p:sp>
      <p:pic>
        <p:nvPicPr>
          <p:cNvPr id="33" name="Graphic 32" descr="Cloud Computing outline">
            <a:extLst>
              <a:ext uri="{FF2B5EF4-FFF2-40B4-BE49-F238E27FC236}">
                <a16:creationId xmlns:a16="http://schemas.microsoft.com/office/drawing/2014/main" id="{457DE06D-FF99-A747-C518-C0A5D080DDB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07207" y="6269620"/>
            <a:ext cx="832104" cy="513582"/>
          </a:xfrm>
          <a:prstGeom prst="rect">
            <a:avLst/>
          </a:prstGeom>
        </p:spPr>
      </p:pic>
      <p:sp>
        <p:nvSpPr>
          <p:cNvPr id="49" name="Freeform: Shape 48">
            <a:extLst>
              <a:ext uri="{FF2B5EF4-FFF2-40B4-BE49-F238E27FC236}">
                <a16:creationId xmlns:a16="http://schemas.microsoft.com/office/drawing/2014/main" id="{FD28CC9C-4E41-C205-DCC0-AC1959EB6CDB}"/>
              </a:ext>
            </a:extLst>
          </p:cNvPr>
          <p:cNvSpPr/>
          <p:nvPr/>
        </p:nvSpPr>
        <p:spPr>
          <a:xfrm rot="46396">
            <a:off x="1994561" y="2997968"/>
            <a:ext cx="216000" cy="248548"/>
          </a:xfrm>
          <a:custGeom>
            <a:avLst/>
            <a:gdLst>
              <a:gd name="connsiteX0" fmla="*/ 0 w 131513"/>
              <a:gd name="connsiteY0" fmla="*/ 49710 h 248548"/>
              <a:gd name="connsiteX1" fmla="*/ 65757 w 131513"/>
              <a:gd name="connsiteY1" fmla="*/ 49710 h 248548"/>
              <a:gd name="connsiteX2" fmla="*/ 65757 w 131513"/>
              <a:gd name="connsiteY2" fmla="*/ 0 h 248548"/>
              <a:gd name="connsiteX3" fmla="*/ 131513 w 131513"/>
              <a:gd name="connsiteY3" fmla="*/ 124274 h 248548"/>
              <a:gd name="connsiteX4" fmla="*/ 65757 w 131513"/>
              <a:gd name="connsiteY4" fmla="*/ 248548 h 248548"/>
              <a:gd name="connsiteX5" fmla="*/ 65757 w 131513"/>
              <a:gd name="connsiteY5" fmla="*/ 198838 h 248548"/>
              <a:gd name="connsiteX6" fmla="*/ 0 w 131513"/>
              <a:gd name="connsiteY6" fmla="*/ 198838 h 248548"/>
              <a:gd name="connsiteX7" fmla="*/ 0 w 131513"/>
              <a:gd name="connsiteY7" fmla="*/ 49710 h 24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513" h="248548">
                <a:moveTo>
                  <a:pt x="0" y="49710"/>
                </a:moveTo>
                <a:lnTo>
                  <a:pt x="65757" y="49710"/>
                </a:lnTo>
                <a:lnTo>
                  <a:pt x="65757" y="0"/>
                </a:lnTo>
                <a:lnTo>
                  <a:pt x="131513" y="124274"/>
                </a:lnTo>
                <a:lnTo>
                  <a:pt x="65757" y="248548"/>
                </a:lnTo>
                <a:lnTo>
                  <a:pt x="65757" y="198838"/>
                </a:lnTo>
                <a:lnTo>
                  <a:pt x="0" y="198838"/>
                </a:lnTo>
                <a:lnTo>
                  <a:pt x="0" y="49710"/>
                </a:lnTo>
                <a:close/>
              </a:path>
            </a:pathLst>
          </a:custGeom>
          <a:solidFill>
            <a:schemeClr val="bg2">
              <a:lumMod val="90000"/>
            </a:schemeClr>
          </a:solidFill>
        </p:spPr>
        <p:style>
          <a:lnRef idx="0">
            <a:schemeClr val="accent1">
              <a:tint val="60000"/>
              <a:hueOff val="0"/>
              <a:satOff val="0"/>
              <a:lumOff val="0"/>
              <a:alphaOff val="0"/>
            </a:schemeClr>
          </a:lnRef>
          <a:fillRef idx="1">
            <a:scrgbClr r="0" g="0" b="0"/>
          </a:fillRef>
          <a:effectRef idx="0">
            <a:schemeClr val="accent1">
              <a:tint val="60000"/>
              <a:hueOff val="0"/>
              <a:satOff val="0"/>
              <a:lumOff val="0"/>
              <a:alphaOff val="0"/>
            </a:schemeClr>
          </a:effectRef>
          <a:fontRef idx="minor">
            <a:schemeClr val="lt1"/>
          </a:fontRef>
        </p:style>
        <p:txBody>
          <a:bodyPr spcFirstLastPara="0" vert="horz" wrap="square" lIns="0" tIns="49710" rIns="39453" bIns="49709" numCol="1" spcCol="1270" anchor="ctr" anchorCtr="0">
            <a:noAutofit/>
          </a:bodyPr>
          <a:lstStyle/>
          <a:p>
            <a:pPr marL="0" lvl="0" indent="0" algn="ctr" defTabSz="444500">
              <a:lnSpc>
                <a:spcPct val="90000"/>
              </a:lnSpc>
              <a:spcBef>
                <a:spcPct val="0"/>
              </a:spcBef>
              <a:spcAft>
                <a:spcPct val="35000"/>
              </a:spcAft>
              <a:buNone/>
            </a:pPr>
            <a:endParaRPr lang="en-IN" sz="1000" kern="1200"/>
          </a:p>
        </p:txBody>
      </p:sp>
      <p:sp>
        <p:nvSpPr>
          <p:cNvPr id="50" name="Freeform: Shape 49">
            <a:extLst>
              <a:ext uri="{FF2B5EF4-FFF2-40B4-BE49-F238E27FC236}">
                <a16:creationId xmlns:a16="http://schemas.microsoft.com/office/drawing/2014/main" id="{D087ACDF-9530-0939-B4DC-241C9D170132}"/>
              </a:ext>
            </a:extLst>
          </p:cNvPr>
          <p:cNvSpPr/>
          <p:nvPr/>
        </p:nvSpPr>
        <p:spPr>
          <a:xfrm rot="46396">
            <a:off x="5894498" y="3011999"/>
            <a:ext cx="216000" cy="248548"/>
          </a:xfrm>
          <a:custGeom>
            <a:avLst/>
            <a:gdLst>
              <a:gd name="connsiteX0" fmla="*/ 0 w 131513"/>
              <a:gd name="connsiteY0" fmla="*/ 49710 h 248548"/>
              <a:gd name="connsiteX1" fmla="*/ 65757 w 131513"/>
              <a:gd name="connsiteY1" fmla="*/ 49710 h 248548"/>
              <a:gd name="connsiteX2" fmla="*/ 65757 w 131513"/>
              <a:gd name="connsiteY2" fmla="*/ 0 h 248548"/>
              <a:gd name="connsiteX3" fmla="*/ 131513 w 131513"/>
              <a:gd name="connsiteY3" fmla="*/ 124274 h 248548"/>
              <a:gd name="connsiteX4" fmla="*/ 65757 w 131513"/>
              <a:gd name="connsiteY4" fmla="*/ 248548 h 248548"/>
              <a:gd name="connsiteX5" fmla="*/ 65757 w 131513"/>
              <a:gd name="connsiteY5" fmla="*/ 198838 h 248548"/>
              <a:gd name="connsiteX6" fmla="*/ 0 w 131513"/>
              <a:gd name="connsiteY6" fmla="*/ 198838 h 248548"/>
              <a:gd name="connsiteX7" fmla="*/ 0 w 131513"/>
              <a:gd name="connsiteY7" fmla="*/ 49710 h 24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513" h="248548">
                <a:moveTo>
                  <a:pt x="0" y="49710"/>
                </a:moveTo>
                <a:lnTo>
                  <a:pt x="65757" y="49710"/>
                </a:lnTo>
                <a:lnTo>
                  <a:pt x="65757" y="0"/>
                </a:lnTo>
                <a:lnTo>
                  <a:pt x="131513" y="124274"/>
                </a:lnTo>
                <a:lnTo>
                  <a:pt x="65757" y="248548"/>
                </a:lnTo>
                <a:lnTo>
                  <a:pt x="65757" y="198838"/>
                </a:lnTo>
                <a:lnTo>
                  <a:pt x="0" y="198838"/>
                </a:lnTo>
                <a:lnTo>
                  <a:pt x="0" y="49710"/>
                </a:lnTo>
                <a:close/>
              </a:path>
            </a:pathLst>
          </a:custGeom>
          <a:solidFill>
            <a:schemeClr val="bg2">
              <a:lumMod val="90000"/>
            </a:schemeClr>
          </a:solidFill>
        </p:spPr>
        <p:style>
          <a:lnRef idx="0">
            <a:schemeClr val="accent1">
              <a:tint val="60000"/>
              <a:hueOff val="0"/>
              <a:satOff val="0"/>
              <a:lumOff val="0"/>
              <a:alphaOff val="0"/>
            </a:schemeClr>
          </a:lnRef>
          <a:fillRef idx="1">
            <a:scrgbClr r="0" g="0" b="0"/>
          </a:fillRef>
          <a:effectRef idx="0">
            <a:schemeClr val="accent1">
              <a:tint val="60000"/>
              <a:hueOff val="0"/>
              <a:satOff val="0"/>
              <a:lumOff val="0"/>
              <a:alphaOff val="0"/>
            </a:schemeClr>
          </a:effectRef>
          <a:fontRef idx="minor">
            <a:schemeClr val="lt1"/>
          </a:fontRef>
        </p:style>
        <p:txBody>
          <a:bodyPr spcFirstLastPara="0" vert="horz" wrap="square" lIns="0" tIns="49710" rIns="39453" bIns="49709" numCol="1" spcCol="1270" anchor="ctr" anchorCtr="0">
            <a:noAutofit/>
          </a:bodyPr>
          <a:lstStyle/>
          <a:p>
            <a:pPr marL="0" lvl="0" indent="0" algn="ctr" defTabSz="444500">
              <a:lnSpc>
                <a:spcPct val="90000"/>
              </a:lnSpc>
              <a:spcBef>
                <a:spcPct val="0"/>
              </a:spcBef>
              <a:spcAft>
                <a:spcPct val="35000"/>
              </a:spcAft>
              <a:buNone/>
            </a:pPr>
            <a:endParaRPr lang="en-IN" sz="1000" kern="1200"/>
          </a:p>
        </p:txBody>
      </p:sp>
      <p:sp>
        <p:nvSpPr>
          <p:cNvPr id="51" name="Freeform: Shape 50">
            <a:extLst>
              <a:ext uri="{FF2B5EF4-FFF2-40B4-BE49-F238E27FC236}">
                <a16:creationId xmlns:a16="http://schemas.microsoft.com/office/drawing/2014/main" id="{4A336FAB-9835-2CA0-F985-0F9AD650FB90}"/>
              </a:ext>
            </a:extLst>
          </p:cNvPr>
          <p:cNvSpPr/>
          <p:nvPr/>
        </p:nvSpPr>
        <p:spPr>
          <a:xfrm rot="46396">
            <a:off x="7873520" y="2980856"/>
            <a:ext cx="216000" cy="248548"/>
          </a:xfrm>
          <a:custGeom>
            <a:avLst/>
            <a:gdLst>
              <a:gd name="connsiteX0" fmla="*/ 0 w 131513"/>
              <a:gd name="connsiteY0" fmla="*/ 49710 h 248548"/>
              <a:gd name="connsiteX1" fmla="*/ 65757 w 131513"/>
              <a:gd name="connsiteY1" fmla="*/ 49710 h 248548"/>
              <a:gd name="connsiteX2" fmla="*/ 65757 w 131513"/>
              <a:gd name="connsiteY2" fmla="*/ 0 h 248548"/>
              <a:gd name="connsiteX3" fmla="*/ 131513 w 131513"/>
              <a:gd name="connsiteY3" fmla="*/ 124274 h 248548"/>
              <a:gd name="connsiteX4" fmla="*/ 65757 w 131513"/>
              <a:gd name="connsiteY4" fmla="*/ 248548 h 248548"/>
              <a:gd name="connsiteX5" fmla="*/ 65757 w 131513"/>
              <a:gd name="connsiteY5" fmla="*/ 198838 h 248548"/>
              <a:gd name="connsiteX6" fmla="*/ 0 w 131513"/>
              <a:gd name="connsiteY6" fmla="*/ 198838 h 248548"/>
              <a:gd name="connsiteX7" fmla="*/ 0 w 131513"/>
              <a:gd name="connsiteY7" fmla="*/ 49710 h 24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513" h="248548">
                <a:moveTo>
                  <a:pt x="0" y="49710"/>
                </a:moveTo>
                <a:lnTo>
                  <a:pt x="65757" y="49710"/>
                </a:lnTo>
                <a:lnTo>
                  <a:pt x="65757" y="0"/>
                </a:lnTo>
                <a:lnTo>
                  <a:pt x="131513" y="124274"/>
                </a:lnTo>
                <a:lnTo>
                  <a:pt x="65757" y="248548"/>
                </a:lnTo>
                <a:lnTo>
                  <a:pt x="65757" y="198838"/>
                </a:lnTo>
                <a:lnTo>
                  <a:pt x="0" y="198838"/>
                </a:lnTo>
                <a:lnTo>
                  <a:pt x="0" y="49710"/>
                </a:lnTo>
                <a:close/>
              </a:path>
            </a:pathLst>
          </a:custGeom>
          <a:solidFill>
            <a:schemeClr val="bg2">
              <a:lumMod val="90000"/>
            </a:schemeClr>
          </a:solidFill>
        </p:spPr>
        <p:style>
          <a:lnRef idx="0">
            <a:schemeClr val="accent1">
              <a:tint val="60000"/>
              <a:hueOff val="0"/>
              <a:satOff val="0"/>
              <a:lumOff val="0"/>
              <a:alphaOff val="0"/>
            </a:schemeClr>
          </a:lnRef>
          <a:fillRef idx="1">
            <a:scrgbClr r="0" g="0" b="0"/>
          </a:fillRef>
          <a:effectRef idx="0">
            <a:schemeClr val="accent1">
              <a:tint val="60000"/>
              <a:hueOff val="0"/>
              <a:satOff val="0"/>
              <a:lumOff val="0"/>
              <a:alphaOff val="0"/>
            </a:schemeClr>
          </a:effectRef>
          <a:fontRef idx="minor">
            <a:schemeClr val="lt1"/>
          </a:fontRef>
        </p:style>
        <p:txBody>
          <a:bodyPr spcFirstLastPara="0" vert="horz" wrap="square" lIns="0" tIns="49710" rIns="39453" bIns="49709" numCol="1" spcCol="1270" anchor="ctr" anchorCtr="0">
            <a:noAutofit/>
          </a:bodyPr>
          <a:lstStyle/>
          <a:p>
            <a:pPr marL="0" lvl="0" indent="0" algn="ctr" defTabSz="444500">
              <a:lnSpc>
                <a:spcPct val="90000"/>
              </a:lnSpc>
              <a:spcBef>
                <a:spcPct val="0"/>
              </a:spcBef>
              <a:spcAft>
                <a:spcPct val="35000"/>
              </a:spcAft>
              <a:buNone/>
            </a:pPr>
            <a:endParaRPr lang="en-IN" sz="1000" kern="1200"/>
          </a:p>
        </p:txBody>
      </p:sp>
      <p:sp>
        <p:nvSpPr>
          <p:cNvPr id="52" name="Freeform: Shape 51">
            <a:extLst>
              <a:ext uri="{FF2B5EF4-FFF2-40B4-BE49-F238E27FC236}">
                <a16:creationId xmlns:a16="http://schemas.microsoft.com/office/drawing/2014/main" id="{DB87ADBA-1C88-572D-D654-4E6481CE1E48}"/>
              </a:ext>
            </a:extLst>
          </p:cNvPr>
          <p:cNvSpPr/>
          <p:nvPr/>
        </p:nvSpPr>
        <p:spPr>
          <a:xfrm rot="46396">
            <a:off x="9760687" y="3014138"/>
            <a:ext cx="216000" cy="248548"/>
          </a:xfrm>
          <a:custGeom>
            <a:avLst/>
            <a:gdLst>
              <a:gd name="connsiteX0" fmla="*/ 0 w 131513"/>
              <a:gd name="connsiteY0" fmla="*/ 49710 h 248548"/>
              <a:gd name="connsiteX1" fmla="*/ 65757 w 131513"/>
              <a:gd name="connsiteY1" fmla="*/ 49710 h 248548"/>
              <a:gd name="connsiteX2" fmla="*/ 65757 w 131513"/>
              <a:gd name="connsiteY2" fmla="*/ 0 h 248548"/>
              <a:gd name="connsiteX3" fmla="*/ 131513 w 131513"/>
              <a:gd name="connsiteY3" fmla="*/ 124274 h 248548"/>
              <a:gd name="connsiteX4" fmla="*/ 65757 w 131513"/>
              <a:gd name="connsiteY4" fmla="*/ 248548 h 248548"/>
              <a:gd name="connsiteX5" fmla="*/ 65757 w 131513"/>
              <a:gd name="connsiteY5" fmla="*/ 198838 h 248548"/>
              <a:gd name="connsiteX6" fmla="*/ 0 w 131513"/>
              <a:gd name="connsiteY6" fmla="*/ 198838 h 248548"/>
              <a:gd name="connsiteX7" fmla="*/ 0 w 131513"/>
              <a:gd name="connsiteY7" fmla="*/ 49710 h 24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513" h="248548">
                <a:moveTo>
                  <a:pt x="0" y="49710"/>
                </a:moveTo>
                <a:lnTo>
                  <a:pt x="65757" y="49710"/>
                </a:lnTo>
                <a:lnTo>
                  <a:pt x="65757" y="0"/>
                </a:lnTo>
                <a:lnTo>
                  <a:pt x="131513" y="124274"/>
                </a:lnTo>
                <a:lnTo>
                  <a:pt x="65757" y="248548"/>
                </a:lnTo>
                <a:lnTo>
                  <a:pt x="65757" y="198838"/>
                </a:lnTo>
                <a:lnTo>
                  <a:pt x="0" y="198838"/>
                </a:lnTo>
                <a:lnTo>
                  <a:pt x="0" y="49710"/>
                </a:lnTo>
                <a:close/>
              </a:path>
            </a:pathLst>
          </a:custGeom>
          <a:solidFill>
            <a:schemeClr val="bg2">
              <a:lumMod val="90000"/>
            </a:schemeClr>
          </a:solidFill>
        </p:spPr>
        <p:style>
          <a:lnRef idx="0">
            <a:schemeClr val="accent1">
              <a:tint val="60000"/>
              <a:hueOff val="0"/>
              <a:satOff val="0"/>
              <a:lumOff val="0"/>
              <a:alphaOff val="0"/>
            </a:schemeClr>
          </a:lnRef>
          <a:fillRef idx="1">
            <a:scrgbClr r="0" g="0" b="0"/>
          </a:fillRef>
          <a:effectRef idx="0">
            <a:schemeClr val="accent1">
              <a:tint val="60000"/>
              <a:hueOff val="0"/>
              <a:satOff val="0"/>
              <a:lumOff val="0"/>
              <a:alphaOff val="0"/>
            </a:schemeClr>
          </a:effectRef>
          <a:fontRef idx="minor">
            <a:schemeClr val="lt1"/>
          </a:fontRef>
        </p:style>
        <p:txBody>
          <a:bodyPr spcFirstLastPara="0" vert="horz" wrap="square" lIns="0" tIns="49710" rIns="39453" bIns="49709" numCol="1" spcCol="1270" anchor="ctr" anchorCtr="0">
            <a:noAutofit/>
          </a:bodyPr>
          <a:lstStyle/>
          <a:p>
            <a:pPr marL="0" lvl="0" indent="0" algn="ctr" defTabSz="444500">
              <a:lnSpc>
                <a:spcPct val="90000"/>
              </a:lnSpc>
              <a:spcBef>
                <a:spcPct val="0"/>
              </a:spcBef>
              <a:spcAft>
                <a:spcPct val="35000"/>
              </a:spcAft>
              <a:buNone/>
            </a:pPr>
            <a:endParaRPr lang="en-IN" sz="1000" kern="1200"/>
          </a:p>
        </p:txBody>
      </p:sp>
    </p:spTree>
    <p:extLst>
      <p:ext uri="{BB962C8B-B14F-4D97-AF65-F5344CB8AC3E}">
        <p14:creationId xmlns:p14="http://schemas.microsoft.com/office/powerpoint/2010/main" val="79874928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D41AC9-5105-C94F-9C9E-0D5F16E55109}"/>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F7CC53AA-C3A6-A25C-EBB1-32FD03D6E1C5}"/>
              </a:ext>
            </a:extLst>
          </p:cNvPr>
          <p:cNvSpPr txBox="1"/>
          <p:nvPr/>
        </p:nvSpPr>
        <p:spPr>
          <a:xfrm>
            <a:off x="563882" y="408355"/>
            <a:ext cx="9851133" cy="461665"/>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IN"/>
              <a:t>Controller‑Led vs. Automated Tasks — Ownership &amp; Coverage</a:t>
            </a:r>
          </a:p>
        </p:txBody>
      </p:sp>
      <p:sp>
        <p:nvSpPr>
          <p:cNvPr id="5" name="Rectangle 2">
            <a:extLst>
              <a:ext uri="{FF2B5EF4-FFF2-40B4-BE49-F238E27FC236}">
                <a16:creationId xmlns:a16="http://schemas.microsoft.com/office/drawing/2014/main" id="{9FB6C295-C607-59F0-B3FD-475E55A7B6B0}"/>
              </a:ext>
            </a:extLst>
          </p:cNvPr>
          <p:cNvSpPr>
            <a:spLocks noChangeArrowheads="1"/>
          </p:cNvSpPr>
          <p:nvPr/>
        </p:nvSpPr>
        <p:spPr bwMode="auto">
          <a:xfrm>
            <a:off x="588264" y="1076309"/>
            <a:ext cx="5410200" cy="588419"/>
          </a:xfrm>
          <a:prstGeom prst="homePlate">
            <a:avLst>
              <a:gd name="adj" fmla="val 55772"/>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3200" b="1" i="0" u="none" strike="noStrike" kern="1200" cap="none" spc="0" normalizeH="0" baseline="0" noProof="0">
                <a:ln>
                  <a:noFill/>
                </a:ln>
                <a:solidFill>
                  <a:schemeClr val="tx1"/>
                </a:solidFill>
                <a:effectLst/>
                <a:uLnTx/>
                <a:uFillTx/>
                <a:latin typeface="EY interstate"/>
                <a:cs typeface="Arial" panose="020B0604020202020204" pitchFamily="34" charset="0"/>
              </a:rPr>
              <a:t>Controller‑Led Tasks</a:t>
            </a:r>
          </a:p>
        </p:txBody>
      </p:sp>
      <p:sp>
        <p:nvSpPr>
          <p:cNvPr id="7" name="Rectangle 2">
            <a:extLst>
              <a:ext uri="{FF2B5EF4-FFF2-40B4-BE49-F238E27FC236}">
                <a16:creationId xmlns:a16="http://schemas.microsoft.com/office/drawing/2014/main" id="{68220E94-89BB-C912-F34B-D70E9FBEC2FA}"/>
              </a:ext>
            </a:extLst>
          </p:cNvPr>
          <p:cNvSpPr>
            <a:spLocks noChangeArrowheads="1"/>
          </p:cNvSpPr>
          <p:nvPr/>
        </p:nvSpPr>
        <p:spPr bwMode="auto">
          <a:xfrm>
            <a:off x="6366742" y="1076309"/>
            <a:ext cx="5410800" cy="588419"/>
          </a:xfrm>
          <a:prstGeom prst="homePlate">
            <a:avLst>
              <a:gd name="adj" fmla="val 55772"/>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algn="ctr">
              <a:spcAft>
                <a:spcPts val="300"/>
              </a:spcAft>
              <a:defRPr/>
            </a:pPr>
            <a:r>
              <a:rPr lang="en-US" sz="3200" b="1">
                <a:solidFill>
                  <a:schemeClr val="tx1"/>
                </a:solidFill>
                <a:latin typeface="EY interstate"/>
                <a:cs typeface="Arial" panose="020B0604020202020204" pitchFamily="34" charset="0"/>
              </a:rPr>
              <a:t>Automated Tasks</a:t>
            </a:r>
          </a:p>
        </p:txBody>
      </p:sp>
      <p:sp>
        <p:nvSpPr>
          <p:cNvPr id="8" name="TextBox 7">
            <a:extLst>
              <a:ext uri="{FF2B5EF4-FFF2-40B4-BE49-F238E27FC236}">
                <a16:creationId xmlns:a16="http://schemas.microsoft.com/office/drawing/2014/main" id="{3B3C5DAE-7441-FCA7-FFDF-0210AF987E08}"/>
              </a:ext>
            </a:extLst>
          </p:cNvPr>
          <p:cNvSpPr txBox="1"/>
          <p:nvPr/>
        </p:nvSpPr>
        <p:spPr>
          <a:xfrm>
            <a:off x="667512" y="1993392"/>
            <a:ext cx="5029200" cy="2862322"/>
          </a:xfrm>
          <a:prstGeom prst="rect">
            <a:avLst/>
          </a:prstGeom>
          <a:noFill/>
        </p:spPr>
        <p:txBody>
          <a:bodyPr wrap="square" rtlCol="0">
            <a:spAutoFit/>
          </a:bodyPr>
          <a:lstStyle/>
          <a:p>
            <a:pPr marL="285750" indent="-285750">
              <a:buClr>
                <a:srgbClr val="FFE600"/>
              </a:buClr>
              <a:buFont typeface="Wingdings" panose="05000000000000000000" pitchFamily="2" charset="2"/>
              <a:buChar char="q"/>
            </a:pPr>
            <a:r>
              <a:rPr lang="en-IN" b="1">
                <a:solidFill>
                  <a:schemeClr val="bg1"/>
                </a:solidFill>
                <a:latin typeface="EY interstate"/>
              </a:rPr>
              <a:t>Policy-driven decisions</a:t>
            </a:r>
            <a:r>
              <a:rPr lang="en-IN">
                <a:solidFill>
                  <a:schemeClr val="bg1"/>
                </a:solidFill>
                <a:latin typeface="EY interstate"/>
              </a:rPr>
              <a:t>: Materiality thresholds, accounting estimates, impairment reviews.</a:t>
            </a:r>
          </a:p>
          <a:p>
            <a:pPr marL="285750" indent="-285750">
              <a:buClr>
                <a:srgbClr val="FFE600"/>
              </a:buClr>
              <a:buFont typeface="Wingdings" panose="05000000000000000000" pitchFamily="2" charset="2"/>
              <a:buChar char="q"/>
            </a:pPr>
            <a:r>
              <a:rPr lang="en-IN" b="1">
                <a:solidFill>
                  <a:schemeClr val="bg1"/>
                </a:solidFill>
                <a:latin typeface="EY interstate"/>
              </a:rPr>
              <a:t>Complex journal entries: </a:t>
            </a:r>
            <a:r>
              <a:rPr lang="en-IN">
                <a:solidFill>
                  <a:schemeClr val="bg1"/>
                </a:solidFill>
                <a:latin typeface="EY interstate"/>
              </a:rPr>
              <a:t>Non-standard accruals, M&amp;A adjustments, tax provisions.</a:t>
            </a:r>
          </a:p>
          <a:p>
            <a:pPr marL="285750" indent="-285750">
              <a:buClr>
                <a:srgbClr val="FFE600"/>
              </a:buClr>
              <a:buFont typeface="Wingdings" panose="05000000000000000000" pitchFamily="2" charset="2"/>
              <a:buChar char="q"/>
            </a:pPr>
            <a:r>
              <a:rPr lang="en-IN" b="1">
                <a:solidFill>
                  <a:schemeClr val="bg1"/>
                </a:solidFill>
                <a:latin typeface="EY interstate"/>
              </a:rPr>
              <a:t>Variance analysis &amp; commentary: </a:t>
            </a:r>
            <a:r>
              <a:rPr lang="en-IN">
                <a:solidFill>
                  <a:schemeClr val="bg1"/>
                </a:solidFill>
                <a:latin typeface="EY interstate"/>
              </a:rPr>
              <a:t>Explaining flux, preparing management narratives.</a:t>
            </a:r>
          </a:p>
          <a:p>
            <a:pPr marL="285750" indent="-285750">
              <a:buClr>
                <a:srgbClr val="FFE600"/>
              </a:buClr>
              <a:buFont typeface="Wingdings" panose="05000000000000000000" pitchFamily="2" charset="2"/>
              <a:buChar char="q"/>
            </a:pPr>
            <a:r>
              <a:rPr lang="en-IN" b="1">
                <a:solidFill>
                  <a:schemeClr val="bg1"/>
                </a:solidFill>
                <a:latin typeface="EY interstate"/>
              </a:rPr>
              <a:t>Control sign-offs: </a:t>
            </a:r>
            <a:r>
              <a:rPr lang="en-IN">
                <a:solidFill>
                  <a:schemeClr val="bg1"/>
                </a:solidFill>
                <a:latin typeface="EY interstate"/>
              </a:rPr>
              <a:t>SOX/ICFR certifications, entity-level approvals.</a:t>
            </a:r>
          </a:p>
          <a:p>
            <a:pPr marL="285750" indent="-285750">
              <a:buClr>
                <a:srgbClr val="FFE600"/>
              </a:buClr>
              <a:buFont typeface="Wingdings" panose="05000000000000000000" pitchFamily="2" charset="2"/>
              <a:buChar char="q"/>
            </a:pPr>
            <a:r>
              <a:rPr lang="en-IN" b="1">
                <a:solidFill>
                  <a:schemeClr val="bg1"/>
                </a:solidFill>
                <a:latin typeface="EY interstate"/>
              </a:rPr>
              <a:t>Audit liaison:</a:t>
            </a:r>
            <a:r>
              <a:rPr lang="en-IN">
                <a:solidFill>
                  <a:schemeClr val="bg1"/>
                </a:solidFill>
                <a:latin typeface="EY interstate"/>
              </a:rPr>
              <a:t> Providing evidence, responding to queries.</a:t>
            </a:r>
          </a:p>
        </p:txBody>
      </p:sp>
      <p:sp>
        <p:nvSpPr>
          <p:cNvPr id="20" name="TextBox 19">
            <a:extLst>
              <a:ext uri="{FF2B5EF4-FFF2-40B4-BE49-F238E27FC236}">
                <a16:creationId xmlns:a16="http://schemas.microsoft.com/office/drawing/2014/main" id="{2F74D912-E212-89D8-5184-B4DCF04EB6A8}"/>
              </a:ext>
            </a:extLst>
          </p:cNvPr>
          <p:cNvSpPr txBox="1"/>
          <p:nvPr/>
        </p:nvSpPr>
        <p:spPr>
          <a:xfrm>
            <a:off x="6229350" y="1993392"/>
            <a:ext cx="5962650" cy="3416320"/>
          </a:xfrm>
          <a:prstGeom prst="rect">
            <a:avLst/>
          </a:prstGeom>
          <a:noFill/>
        </p:spPr>
        <p:txBody>
          <a:bodyPr wrap="square">
            <a:spAutoFit/>
          </a:bodyPr>
          <a:lstStyle/>
          <a:p>
            <a:pPr marL="285750" indent="-285750">
              <a:buClr>
                <a:srgbClr val="FFE600"/>
              </a:buClr>
              <a:buFont typeface="Wingdings" panose="05000000000000000000" pitchFamily="2" charset="2"/>
              <a:buChar char="q"/>
            </a:pPr>
            <a:r>
              <a:rPr lang="en-IN" b="1">
                <a:solidFill>
                  <a:schemeClr val="bg1"/>
                </a:solidFill>
                <a:latin typeface="EY interstate"/>
              </a:rPr>
              <a:t>High-volume, rules-based activities:</a:t>
            </a:r>
          </a:p>
          <a:p>
            <a:pPr>
              <a:buClr>
                <a:srgbClr val="FFE600"/>
              </a:buClr>
            </a:pPr>
            <a:r>
              <a:rPr lang="en-IN">
                <a:solidFill>
                  <a:schemeClr val="bg1"/>
                </a:solidFill>
                <a:latin typeface="EY interstate"/>
              </a:rPr>
              <a:t>     Account reconciliations (80%+ auto-certification possible).</a:t>
            </a:r>
          </a:p>
          <a:p>
            <a:pPr>
              <a:buClr>
                <a:srgbClr val="FFE600"/>
              </a:buClr>
            </a:pPr>
            <a:r>
              <a:rPr lang="en-IN">
                <a:solidFill>
                  <a:schemeClr val="bg1"/>
                </a:solidFill>
                <a:latin typeface="EY interstate"/>
              </a:rPr>
              <a:t>     Intercompany matching &amp; eliminations.</a:t>
            </a:r>
          </a:p>
          <a:p>
            <a:pPr>
              <a:buClr>
                <a:srgbClr val="FFE600"/>
              </a:buClr>
            </a:pPr>
            <a:r>
              <a:rPr lang="en-IN">
                <a:solidFill>
                  <a:schemeClr val="bg1"/>
                </a:solidFill>
                <a:latin typeface="EY interstate"/>
              </a:rPr>
              <a:t>     Standard recurring JEs (depreciation, amortization &amp; accruals).</a:t>
            </a:r>
          </a:p>
          <a:p>
            <a:pPr marL="285750" indent="-285750">
              <a:buClr>
                <a:srgbClr val="FFE600"/>
              </a:buClr>
              <a:buFont typeface="Wingdings" panose="05000000000000000000" pitchFamily="2" charset="2"/>
              <a:buChar char="q"/>
            </a:pPr>
            <a:r>
              <a:rPr lang="en-IN" b="1">
                <a:solidFill>
                  <a:schemeClr val="bg1"/>
                </a:solidFill>
                <a:latin typeface="EY interstate"/>
              </a:rPr>
              <a:t>Workflow orchestration:</a:t>
            </a:r>
          </a:p>
          <a:p>
            <a:pPr>
              <a:buClr>
                <a:srgbClr val="FFE600"/>
              </a:buClr>
            </a:pPr>
            <a:r>
              <a:rPr lang="en-IN">
                <a:solidFill>
                  <a:schemeClr val="bg1"/>
                </a:solidFill>
                <a:latin typeface="EY interstate"/>
              </a:rPr>
              <a:t>      Task assignment, reminders, escalations.</a:t>
            </a:r>
          </a:p>
          <a:p>
            <a:pPr>
              <a:buClr>
                <a:srgbClr val="FFE600"/>
              </a:buClr>
            </a:pPr>
            <a:r>
              <a:rPr lang="en-IN">
                <a:solidFill>
                  <a:schemeClr val="bg1"/>
                </a:solidFill>
                <a:latin typeface="EY interstate"/>
              </a:rPr>
              <a:t>       Real-time dashboards for status visibility.</a:t>
            </a:r>
          </a:p>
          <a:p>
            <a:pPr marL="285750" indent="-285750">
              <a:buClr>
                <a:srgbClr val="FFE600"/>
              </a:buClr>
              <a:buFont typeface="Wingdings" panose="05000000000000000000" pitchFamily="2" charset="2"/>
              <a:buChar char="q"/>
            </a:pPr>
            <a:r>
              <a:rPr lang="en-IN" b="1">
                <a:solidFill>
                  <a:schemeClr val="bg1"/>
                </a:solidFill>
                <a:latin typeface="EY interstate"/>
              </a:rPr>
              <a:t>Data pulls &amp; validations: </a:t>
            </a:r>
            <a:r>
              <a:rPr lang="en-IN">
                <a:solidFill>
                  <a:schemeClr val="bg1"/>
                </a:solidFill>
                <a:latin typeface="EY interstate"/>
              </a:rPr>
              <a:t>GL extracts, subledger tie-outs, bank feeds.</a:t>
            </a:r>
          </a:p>
          <a:p>
            <a:pPr marL="285750" indent="-285750">
              <a:buClr>
                <a:srgbClr val="FFE600"/>
              </a:buClr>
              <a:buFont typeface="Wingdings" panose="05000000000000000000" pitchFamily="2" charset="2"/>
              <a:buChar char="q"/>
            </a:pPr>
            <a:r>
              <a:rPr lang="en-IN" b="1">
                <a:solidFill>
                  <a:schemeClr val="bg1"/>
                </a:solidFill>
                <a:latin typeface="EY interstate"/>
              </a:rPr>
              <a:t>Exception handling: </a:t>
            </a:r>
            <a:r>
              <a:rPr lang="en-IN">
                <a:solidFill>
                  <a:schemeClr val="bg1"/>
                </a:solidFill>
                <a:latin typeface="EY interstate"/>
              </a:rPr>
              <a:t>Bots flag anomalies; humans review only exceptions.</a:t>
            </a:r>
          </a:p>
        </p:txBody>
      </p:sp>
      <p:graphicFrame>
        <p:nvGraphicFramePr>
          <p:cNvPr id="22" name="Table 21">
            <a:extLst>
              <a:ext uri="{FF2B5EF4-FFF2-40B4-BE49-F238E27FC236}">
                <a16:creationId xmlns:a16="http://schemas.microsoft.com/office/drawing/2014/main" id="{75DB7F3C-DAA3-0B38-CD56-C846ABC9E2A3}"/>
              </a:ext>
            </a:extLst>
          </p:cNvPr>
          <p:cNvGraphicFramePr>
            <a:graphicFrameLocks noGrp="1"/>
          </p:cNvGraphicFramePr>
          <p:nvPr>
            <p:extLst>
              <p:ext uri="{D42A27DB-BD31-4B8C-83A1-F6EECF244321}">
                <p14:modId xmlns:p14="http://schemas.microsoft.com/office/powerpoint/2010/main" val="3237300662"/>
              </p:ext>
            </p:extLst>
          </p:nvPr>
        </p:nvGraphicFramePr>
        <p:xfrm>
          <a:off x="713232" y="4976225"/>
          <a:ext cx="5175504" cy="1226058"/>
        </p:xfrm>
        <a:graphic>
          <a:graphicData uri="http://schemas.openxmlformats.org/drawingml/2006/table">
            <a:tbl>
              <a:tblPr>
                <a:tableStyleId>{9DCAF9ED-07DC-4A11-8D7F-57B35C25682E}</a:tableStyleId>
              </a:tblPr>
              <a:tblGrid>
                <a:gridCol w="2616828">
                  <a:extLst>
                    <a:ext uri="{9D8B030D-6E8A-4147-A177-3AD203B41FA5}">
                      <a16:colId xmlns:a16="http://schemas.microsoft.com/office/drawing/2014/main" val="460101566"/>
                    </a:ext>
                  </a:extLst>
                </a:gridCol>
                <a:gridCol w="2558676">
                  <a:extLst>
                    <a:ext uri="{9D8B030D-6E8A-4147-A177-3AD203B41FA5}">
                      <a16:colId xmlns:a16="http://schemas.microsoft.com/office/drawing/2014/main" val="1238420775"/>
                    </a:ext>
                  </a:extLst>
                </a:gridCol>
              </a:tblGrid>
              <a:tr h="190500">
                <a:tc>
                  <a:txBody>
                    <a:bodyPr/>
                    <a:lstStyle/>
                    <a:p>
                      <a:pPr algn="l" fontAlgn="base">
                        <a:lnSpc>
                          <a:spcPts val="975"/>
                        </a:lnSpc>
                        <a:buNone/>
                      </a:pPr>
                      <a:r>
                        <a:rPr lang="en-US" sz="1000" b="1" cap="all">
                          <a:solidFill>
                            <a:schemeClr val="tx1"/>
                          </a:solidFill>
                          <a:effectLst/>
                          <a:latin typeface="EY interstate"/>
                        </a:rPr>
                        <a:t>Task</a:t>
                      </a:r>
                      <a:r>
                        <a:rPr lang="en-US" sz="1000" b="1">
                          <a:solidFill>
                            <a:schemeClr val="tx1"/>
                          </a:solidFill>
                          <a:effectLst/>
                          <a:latin typeface="EY interstate"/>
                        </a:rPr>
                        <a:t>​</a:t>
                      </a:r>
                      <a:endParaRPr lang="en-US" sz="1000" b="1"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tc>
                  <a:txBody>
                    <a:bodyPr/>
                    <a:lstStyle/>
                    <a:p>
                      <a:pPr algn="l" fontAlgn="base">
                        <a:lnSpc>
                          <a:spcPts val="975"/>
                        </a:lnSpc>
                        <a:buNone/>
                      </a:pPr>
                      <a:r>
                        <a:rPr lang="en-US" sz="1000" b="1" cap="all">
                          <a:solidFill>
                            <a:schemeClr val="tx1"/>
                          </a:solidFill>
                          <a:effectLst/>
                          <a:latin typeface="EY interstate"/>
                        </a:rPr>
                        <a:t>Automation Coverage</a:t>
                      </a:r>
                      <a:r>
                        <a:rPr lang="en-US" sz="1000" b="1">
                          <a:solidFill>
                            <a:schemeClr val="tx1"/>
                          </a:solidFill>
                          <a:effectLst/>
                          <a:latin typeface="EY interstate"/>
                        </a:rPr>
                        <a:t>​</a:t>
                      </a:r>
                      <a:endParaRPr lang="en-US" sz="1000" b="1"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extLst>
                  <a:ext uri="{0D108BD9-81ED-4DB2-BD59-A6C34878D82A}">
                    <a16:rowId xmlns:a16="http://schemas.microsoft.com/office/drawing/2014/main" val="2533301808"/>
                  </a:ext>
                </a:extLst>
              </a:tr>
              <a:tr h="177800">
                <a:tc>
                  <a:txBody>
                    <a:bodyPr/>
                    <a:lstStyle/>
                    <a:p>
                      <a:pPr algn="l" fontAlgn="base">
                        <a:lnSpc>
                          <a:spcPts val="825"/>
                        </a:lnSpc>
                        <a:buNone/>
                      </a:pPr>
                      <a:r>
                        <a:rPr lang="en-US" sz="1000" b="1">
                          <a:solidFill>
                            <a:schemeClr val="tx1"/>
                          </a:solidFill>
                          <a:effectLst/>
                          <a:latin typeface="EY interstate"/>
                        </a:rPr>
                        <a:t>Account Reconciliations</a:t>
                      </a:r>
                      <a:r>
                        <a:rPr lang="en-US" sz="1000" b="0">
                          <a:solidFill>
                            <a:schemeClr val="tx1"/>
                          </a:solidFill>
                          <a:effectLst/>
                          <a:latin typeface="EY interstate"/>
                        </a:rPr>
                        <a:t>​</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tc>
                  <a:txBody>
                    <a:bodyPr/>
                    <a:lstStyle/>
                    <a:p>
                      <a:pPr algn="l" fontAlgn="base">
                        <a:lnSpc>
                          <a:spcPts val="825"/>
                        </a:lnSpc>
                        <a:buNone/>
                      </a:pPr>
                      <a:r>
                        <a:rPr lang="en-US" sz="1000" b="0">
                          <a:solidFill>
                            <a:schemeClr val="tx1"/>
                          </a:solidFill>
                          <a:effectLst/>
                          <a:latin typeface="EY interstate"/>
                        </a:rPr>
                        <a:t>High​</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extLst>
                  <a:ext uri="{0D108BD9-81ED-4DB2-BD59-A6C34878D82A}">
                    <a16:rowId xmlns:a16="http://schemas.microsoft.com/office/drawing/2014/main" val="3734984829"/>
                  </a:ext>
                </a:extLst>
              </a:tr>
              <a:tr h="177800">
                <a:tc>
                  <a:txBody>
                    <a:bodyPr/>
                    <a:lstStyle/>
                    <a:p>
                      <a:pPr algn="l" fontAlgn="base">
                        <a:lnSpc>
                          <a:spcPts val="825"/>
                        </a:lnSpc>
                        <a:buNone/>
                      </a:pPr>
                      <a:r>
                        <a:rPr lang="en-US" sz="1000" b="1">
                          <a:solidFill>
                            <a:schemeClr val="tx1"/>
                          </a:solidFill>
                          <a:effectLst/>
                          <a:latin typeface="EY interstate"/>
                        </a:rPr>
                        <a:t>Intercompany Matching/Eliminations</a:t>
                      </a:r>
                      <a:r>
                        <a:rPr lang="en-US" sz="1000" b="0">
                          <a:solidFill>
                            <a:schemeClr val="tx1"/>
                          </a:solidFill>
                          <a:effectLst/>
                          <a:latin typeface="EY interstate"/>
                        </a:rPr>
                        <a:t>​</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tc>
                  <a:txBody>
                    <a:bodyPr/>
                    <a:lstStyle/>
                    <a:p>
                      <a:pPr algn="l" fontAlgn="base">
                        <a:lnSpc>
                          <a:spcPts val="825"/>
                        </a:lnSpc>
                        <a:buNone/>
                      </a:pPr>
                      <a:r>
                        <a:rPr lang="en-US" sz="1000" b="0">
                          <a:solidFill>
                            <a:schemeClr val="tx1"/>
                          </a:solidFill>
                          <a:effectLst/>
                          <a:latin typeface="EY interstate"/>
                        </a:rPr>
                        <a:t>High​</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extLst>
                  <a:ext uri="{0D108BD9-81ED-4DB2-BD59-A6C34878D82A}">
                    <a16:rowId xmlns:a16="http://schemas.microsoft.com/office/drawing/2014/main" val="1256994041"/>
                  </a:ext>
                </a:extLst>
              </a:tr>
              <a:tr h="177800">
                <a:tc>
                  <a:txBody>
                    <a:bodyPr/>
                    <a:lstStyle/>
                    <a:p>
                      <a:pPr algn="l" fontAlgn="base">
                        <a:lnSpc>
                          <a:spcPts val="825"/>
                        </a:lnSpc>
                        <a:buNone/>
                      </a:pPr>
                      <a:r>
                        <a:rPr lang="en-US" sz="1000" b="1">
                          <a:solidFill>
                            <a:schemeClr val="tx1"/>
                          </a:solidFill>
                          <a:effectLst/>
                          <a:latin typeface="EY interstate"/>
                        </a:rPr>
                        <a:t>Recurring Journal Entries</a:t>
                      </a:r>
                      <a:r>
                        <a:rPr lang="en-US" sz="1000" b="0">
                          <a:solidFill>
                            <a:schemeClr val="tx1"/>
                          </a:solidFill>
                          <a:effectLst/>
                          <a:latin typeface="EY interstate"/>
                        </a:rPr>
                        <a:t>​</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tc>
                  <a:txBody>
                    <a:bodyPr/>
                    <a:lstStyle/>
                    <a:p>
                      <a:pPr algn="l" fontAlgn="base">
                        <a:lnSpc>
                          <a:spcPts val="825"/>
                        </a:lnSpc>
                        <a:buNone/>
                      </a:pPr>
                      <a:r>
                        <a:rPr lang="en-US" sz="1000" b="0">
                          <a:solidFill>
                            <a:schemeClr val="tx1"/>
                          </a:solidFill>
                          <a:effectLst/>
                          <a:latin typeface="EY interstate"/>
                        </a:rPr>
                        <a:t>High​</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extLst>
                  <a:ext uri="{0D108BD9-81ED-4DB2-BD59-A6C34878D82A}">
                    <a16:rowId xmlns:a16="http://schemas.microsoft.com/office/drawing/2014/main" val="49157951"/>
                  </a:ext>
                </a:extLst>
              </a:tr>
              <a:tr h="177800">
                <a:tc>
                  <a:txBody>
                    <a:bodyPr/>
                    <a:lstStyle/>
                    <a:p>
                      <a:pPr algn="l" fontAlgn="base">
                        <a:lnSpc>
                          <a:spcPts val="825"/>
                        </a:lnSpc>
                        <a:buNone/>
                      </a:pPr>
                      <a:r>
                        <a:rPr lang="en-US" sz="1000" b="1">
                          <a:solidFill>
                            <a:schemeClr val="tx1"/>
                          </a:solidFill>
                          <a:effectLst/>
                          <a:latin typeface="EY interstate"/>
                        </a:rPr>
                        <a:t>Close Orchestration &amp; Reminders</a:t>
                      </a:r>
                      <a:r>
                        <a:rPr lang="en-US" sz="1000" b="0">
                          <a:solidFill>
                            <a:schemeClr val="tx1"/>
                          </a:solidFill>
                          <a:effectLst/>
                          <a:latin typeface="EY interstate"/>
                        </a:rPr>
                        <a:t>​</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tc>
                  <a:txBody>
                    <a:bodyPr/>
                    <a:lstStyle/>
                    <a:p>
                      <a:pPr algn="l" fontAlgn="base">
                        <a:lnSpc>
                          <a:spcPts val="825"/>
                        </a:lnSpc>
                        <a:buNone/>
                      </a:pPr>
                      <a:r>
                        <a:rPr lang="en-US" sz="1000" b="0">
                          <a:solidFill>
                            <a:schemeClr val="tx1"/>
                          </a:solidFill>
                          <a:effectLst/>
                          <a:latin typeface="EY interstate"/>
                        </a:rPr>
                        <a:t>High​</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extLst>
                  <a:ext uri="{0D108BD9-81ED-4DB2-BD59-A6C34878D82A}">
                    <a16:rowId xmlns:a16="http://schemas.microsoft.com/office/drawing/2014/main" val="1225106776"/>
                  </a:ext>
                </a:extLst>
              </a:tr>
              <a:tr h="177800">
                <a:tc>
                  <a:txBody>
                    <a:bodyPr/>
                    <a:lstStyle/>
                    <a:p>
                      <a:pPr algn="l" fontAlgn="base">
                        <a:lnSpc>
                          <a:spcPts val="825"/>
                        </a:lnSpc>
                        <a:buNone/>
                      </a:pPr>
                      <a:r>
                        <a:rPr lang="en-US" sz="1000" b="1">
                          <a:solidFill>
                            <a:schemeClr val="tx1"/>
                          </a:solidFill>
                          <a:effectLst/>
                          <a:latin typeface="EY interstate"/>
                        </a:rPr>
                        <a:t>Variance Pre-screening &amp; Anomaly Detection</a:t>
                      </a:r>
                      <a:r>
                        <a:rPr lang="en-US" sz="1000" b="0">
                          <a:solidFill>
                            <a:schemeClr val="tx1"/>
                          </a:solidFill>
                          <a:effectLst/>
                          <a:latin typeface="EY interstate"/>
                        </a:rPr>
                        <a:t>​</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tc>
                  <a:txBody>
                    <a:bodyPr/>
                    <a:lstStyle/>
                    <a:p>
                      <a:pPr algn="l" fontAlgn="base">
                        <a:lnSpc>
                          <a:spcPts val="825"/>
                        </a:lnSpc>
                        <a:buNone/>
                      </a:pPr>
                      <a:r>
                        <a:rPr lang="en-US" sz="1000" b="0">
                          <a:solidFill>
                            <a:schemeClr val="tx1"/>
                          </a:solidFill>
                          <a:effectLst/>
                          <a:latin typeface="EY interstate"/>
                        </a:rPr>
                        <a:t>Medium​</a:t>
                      </a:r>
                      <a:endParaRPr lang="en-US" sz="1000" b="0" i="0">
                        <a:solidFill>
                          <a:schemeClr val="tx1"/>
                        </a:solidFill>
                        <a:effectLst/>
                        <a:latin typeface="EY interstate"/>
                      </a:endParaRPr>
                    </a:p>
                  </a:txBody>
                  <a:tcPr anchor="ctr">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tcPr>
                </a:tc>
                <a:extLst>
                  <a:ext uri="{0D108BD9-81ED-4DB2-BD59-A6C34878D82A}">
                    <a16:rowId xmlns:a16="http://schemas.microsoft.com/office/drawing/2014/main" val="3425921409"/>
                  </a:ext>
                </a:extLst>
              </a:tr>
            </a:tbl>
          </a:graphicData>
        </a:graphic>
      </p:graphicFrame>
      <p:sp>
        <p:nvSpPr>
          <p:cNvPr id="24" name="Rectangle 1">
            <a:extLst>
              <a:ext uri="{FF2B5EF4-FFF2-40B4-BE49-F238E27FC236}">
                <a16:creationId xmlns:a16="http://schemas.microsoft.com/office/drawing/2014/main" id="{9CB14F20-0649-E9EB-2C80-4E469D73D80D}"/>
              </a:ext>
            </a:extLst>
          </p:cNvPr>
          <p:cNvSpPr>
            <a:spLocks noChangeArrowheads="1"/>
          </p:cNvSpPr>
          <p:nvPr/>
        </p:nvSpPr>
        <p:spPr bwMode="auto">
          <a:xfrm>
            <a:off x="4683125" y="29210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Times New Roman" panose="02020603050405020304" pitchFamily="18" charset="0"/>
                <a:cs typeface="Times New Roman" panose="02020603050405020304" pitchFamily="18" charset="0"/>
              </a:rPr>
              <a:t> </a:t>
            </a:r>
            <a:endParaRPr kumimoji="0" lang="en-US" altLang="en-US" sz="1800" b="0" i="0" u="none" strike="noStrike" cap="none" normalizeH="0" baseline="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5" name="TextBox 24">
            <a:extLst>
              <a:ext uri="{FF2B5EF4-FFF2-40B4-BE49-F238E27FC236}">
                <a16:creationId xmlns:a16="http://schemas.microsoft.com/office/drawing/2014/main" id="{07281EE2-F18A-D3C1-F8B0-6779DEBBBE21}"/>
              </a:ext>
            </a:extLst>
          </p:cNvPr>
          <p:cNvSpPr txBox="1"/>
          <p:nvPr/>
        </p:nvSpPr>
        <p:spPr>
          <a:xfrm>
            <a:off x="1687103" y="1634990"/>
            <a:ext cx="4700016" cy="276999"/>
          </a:xfrm>
          <a:prstGeom prst="rect">
            <a:avLst/>
          </a:prstGeom>
          <a:noFill/>
        </p:spPr>
        <p:txBody>
          <a:bodyPr wrap="square" rtlCol="0">
            <a:spAutoFit/>
          </a:bodyPr>
          <a:lstStyle/>
          <a:p>
            <a:r>
              <a:rPr lang="en-IN" sz="1200">
                <a:highlight>
                  <a:srgbClr val="D9D9D9"/>
                </a:highlight>
                <a:latin typeface="EY interstate"/>
              </a:rPr>
              <a:t>Human judgement and involvement</a:t>
            </a:r>
          </a:p>
        </p:txBody>
      </p:sp>
      <p:sp>
        <p:nvSpPr>
          <p:cNvPr id="26" name="TextBox 25">
            <a:extLst>
              <a:ext uri="{FF2B5EF4-FFF2-40B4-BE49-F238E27FC236}">
                <a16:creationId xmlns:a16="http://schemas.microsoft.com/office/drawing/2014/main" id="{99076D17-F060-DB2A-8C57-51EB977B89F2}"/>
              </a:ext>
            </a:extLst>
          </p:cNvPr>
          <p:cNvSpPr txBox="1"/>
          <p:nvPr/>
        </p:nvSpPr>
        <p:spPr>
          <a:xfrm>
            <a:off x="8154889" y="1622552"/>
            <a:ext cx="4700016" cy="276999"/>
          </a:xfrm>
          <a:prstGeom prst="rect">
            <a:avLst/>
          </a:prstGeom>
          <a:noFill/>
        </p:spPr>
        <p:txBody>
          <a:bodyPr wrap="square" rtlCol="0">
            <a:spAutoFit/>
          </a:bodyPr>
          <a:lstStyle/>
          <a:p>
            <a:r>
              <a:rPr lang="en-IN" sz="1200">
                <a:highlight>
                  <a:srgbClr val="D9D9D9"/>
                </a:highlight>
                <a:latin typeface="EY interstate"/>
              </a:rPr>
              <a:t>Technology enabled</a:t>
            </a:r>
          </a:p>
        </p:txBody>
      </p:sp>
    </p:spTree>
    <p:extLst>
      <p:ext uri="{BB962C8B-B14F-4D97-AF65-F5344CB8AC3E}">
        <p14:creationId xmlns:p14="http://schemas.microsoft.com/office/powerpoint/2010/main" val="302510867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F7095C-64F0-0C6B-FF1C-3DBF8C73505A}"/>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B5A7D3E1-99F1-C7A4-D84A-5A6E1334DAD0}"/>
              </a:ext>
            </a:extLst>
          </p:cNvPr>
          <p:cNvSpPr txBox="1"/>
          <p:nvPr/>
        </p:nvSpPr>
        <p:spPr>
          <a:xfrm>
            <a:off x="543901" y="427606"/>
            <a:ext cx="9851133" cy="461665"/>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IN"/>
              <a:t>Task Management Overview</a:t>
            </a:r>
          </a:p>
        </p:txBody>
      </p:sp>
      <p:sp>
        <p:nvSpPr>
          <p:cNvPr id="24" name="Rectangle 1">
            <a:extLst>
              <a:ext uri="{FF2B5EF4-FFF2-40B4-BE49-F238E27FC236}">
                <a16:creationId xmlns:a16="http://schemas.microsoft.com/office/drawing/2014/main" id="{41CE4F60-FE00-3480-E2D7-29BAC45C7C66}"/>
              </a:ext>
            </a:extLst>
          </p:cNvPr>
          <p:cNvSpPr>
            <a:spLocks noChangeArrowheads="1"/>
          </p:cNvSpPr>
          <p:nvPr/>
        </p:nvSpPr>
        <p:spPr bwMode="auto">
          <a:xfrm>
            <a:off x="4683125" y="2597835"/>
            <a:ext cx="12192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EY interstate"/>
                <a:cs typeface="Times New Roman" panose="02020603050405020304" pitchFamily="18" charset="0"/>
              </a:rPr>
              <a:t> </a:t>
            </a:r>
            <a:endParaRPr kumimoji="0" lang="en-US" altLang="en-US" sz="1800" b="0" i="0" u="none" strike="noStrike" cap="none" normalizeH="0" baseline="0">
              <a:ln>
                <a:noFill/>
              </a:ln>
              <a:solidFill>
                <a:schemeClr val="tx1"/>
              </a:solidFill>
              <a:effectLst/>
              <a:latin typeface="EY interstate"/>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EY interstate"/>
            </a:endParaRPr>
          </a:p>
        </p:txBody>
      </p:sp>
      <p:grpSp>
        <p:nvGrpSpPr>
          <p:cNvPr id="2" name="Group 1">
            <a:extLst>
              <a:ext uri="{FF2B5EF4-FFF2-40B4-BE49-F238E27FC236}">
                <a16:creationId xmlns:a16="http://schemas.microsoft.com/office/drawing/2014/main" id="{17D35E31-7AE8-6C94-3453-AF15F90089BC}"/>
              </a:ext>
            </a:extLst>
          </p:cNvPr>
          <p:cNvGrpSpPr/>
          <p:nvPr/>
        </p:nvGrpSpPr>
        <p:grpSpPr>
          <a:xfrm>
            <a:off x="636801" y="2443461"/>
            <a:ext cx="10762667" cy="3652863"/>
            <a:chOff x="617221" y="2373800"/>
            <a:chExt cx="8301590" cy="2618948"/>
          </a:xfrm>
        </p:grpSpPr>
        <p:sp>
          <p:nvSpPr>
            <p:cNvPr id="3" name="Pentagon 2">
              <a:extLst>
                <a:ext uri="{FF2B5EF4-FFF2-40B4-BE49-F238E27FC236}">
                  <a16:creationId xmlns:a16="http://schemas.microsoft.com/office/drawing/2014/main" id="{E0F61DA5-382E-6C0D-A73F-481D7F68DC5B}"/>
                </a:ext>
              </a:extLst>
            </p:cNvPr>
            <p:cNvSpPr>
              <a:spLocks/>
            </p:cNvSpPr>
            <p:nvPr/>
          </p:nvSpPr>
          <p:spPr>
            <a:xfrm>
              <a:off x="617221" y="2373800"/>
              <a:ext cx="1222126" cy="822960"/>
            </a:xfrm>
            <a:prstGeom prst="homePlate">
              <a:avLst/>
            </a:prstGeom>
            <a:solidFill>
              <a:srgbClr val="FFE600"/>
            </a:solidFill>
            <a:ln w="12700" cap="flat" cmpd="sng" algn="ctr">
              <a:noFill/>
              <a:prstDash val="solid"/>
            </a:ln>
            <a:effectLst/>
            <a:extLst>
              <a:ext uri="{91240B29-F687-4F45-9708-019B960494DF}">
                <a14:hiddenLine xmlns:a14="http://schemas.microsoft.com/office/drawing/2010/main" w="12700" cap="flat" cmpd="sng" algn="ctr">
                  <a:solidFill>
                    <a:schemeClr val="bg1"/>
                  </a:solidFill>
                  <a:prstDash val="solid"/>
                </a14:hiddenLine>
              </a:ext>
            </a:extLst>
          </p:spPr>
          <p:txBody>
            <a:bodyPr lIns="46966" tIns="46966" rIns="46966" bIns="46966" rtlCol="0" anchor="ctr" anchorCtr="0"/>
            <a:lstStyle/>
            <a:p>
              <a:pPr lvl="0">
                <a:defRPr/>
              </a:pPr>
              <a:r>
                <a:rPr lang="en-AU" sz="1399" b="1">
                  <a:latin typeface="EY interstate"/>
                </a:rPr>
                <a:t>Central Management of Processes</a:t>
              </a:r>
            </a:p>
          </p:txBody>
        </p:sp>
        <p:sp>
          <p:nvSpPr>
            <p:cNvPr id="4" name="Pentagon 4">
              <a:extLst>
                <a:ext uri="{FF2B5EF4-FFF2-40B4-BE49-F238E27FC236}">
                  <a16:creationId xmlns:a16="http://schemas.microsoft.com/office/drawing/2014/main" id="{286B0781-ACA5-93C1-27A3-11FC3CC23DF5}"/>
                </a:ext>
              </a:extLst>
            </p:cNvPr>
            <p:cNvSpPr>
              <a:spLocks/>
            </p:cNvSpPr>
            <p:nvPr/>
          </p:nvSpPr>
          <p:spPr>
            <a:xfrm>
              <a:off x="617222" y="4169788"/>
              <a:ext cx="1200685" cy="822960"/>
            </a:xfrm>
            <a:prstGeom prst="homePlate">
              <a:avLst/>
            </a:prstGeom>
            <a:solidFill>
              <a:srgbClr val="FFE600"/>
            </a:solidFill>
            <a:ln w="12700" cap="flat" cmpd="sng" algn="ctr">
              <a:noFill/>
              <a:prstDash val="solid"/>
            </a:ln>
            <a:effectLst/>
            <a:extLst>
              <a:ext uri="{91240B29-F687-4F45-9708-019B960494DF}">
                <a14:hiddenLine xmlns:a14="http://schemas.microsoft.com/office/drawing/2010/main" w="12700" cap="flat" cmpd="sng" algn="ctr">
                  <a:solidFill>
                    <a:schemeClr val="bg1"/>
                  </a:solidFill>
                  <a:prstDash val="solid"/>
                </a14:hiddenLine>
              </a:ext>
            </a:extLst>
          </p:spPr>
          <p:txBody>
            <a:bodyPr lIns="46966" tIns="46966" rIns="46966" bIns="46966" rtlCol="0" anchor="ctr" anchorCtr="0"/>
            <a:lstStyle/>
            <a:p>
              <a:pPr lvl="0">
                <a:defRPr/>
              </a:pPr>
              <a:r>
                <a:rPr lang="en-AU" sz="1399" b="1">
                  <a:latin typeface="EY interstate"/>
                </a:rPr>
                <a:t>Real-Time Dashboards</a:t>
              </a:r>
            </a:p>
          </p:txBody>
        </p:sp>
        <p:sp>
          <p:nvSpPr>
            <p:cNvPr id="9" name="Round Diagonal Corner Rectangle 6">
              <a:extLst>
                <a:ext uri="{FF2B5EF4-FFF2-40B4-BE49-F238E27FC236}">
                  <a16:creationId xmlns:a16="http://schemas.microsoft.com/office/drawing/2014/main" id="{8EB0BF63-6FAD-3328-3223-1B8E95FC3324}"/>
                </a:ext>
              </a:extLst>
            </p:cNvPr>
            <p:cNvSpPr>
              <a:spLocks/>
            </p:cNvSpPr>
            <p:nvPr/>
          </p:nvSpPr>
          <p:spPr>
            <a:xfrm>
              <a:off x="1892951" y="2373800"/>
              <a:ext cx="7025860" cy="822960"/>
            </a:xfrm>
            <a:prstGeom prst="rect">
              <a:avLst/>
            </a:prstGeom>
            <a:solidFill>
              <a:srgbClr val="C4C4CD"/>
            </a:solidFill>
            <a:ln w="12700" cap="flat" cmpd="sng" algn="ctr">
              <a:noFill/>
              <a:prstDash val="solid"/>
            </a:ln>
            <a:effectLst/>
            <a:extLst>
              <a:ext uri="{91240B29-F687-4F45-9708-019B960494DF}">
                <a14:hiddenLine xmlns:a14="http://schemas.microsoft.com/office/drawing/2010/main" w="12700" cap="flat" cmpd="sng" algn="ctr">
                  <a:solidFill>
                    <a:schemeClr val="bg1"/>
                  </a:solidFill>
                  <a:prstDash val="solid"/>
                </a14:hiddenLine>
              </a:ext>
            </a:extLst>
          </p:spPr>
          <p:txBody>
            <a:bodyPr lIns="46966" tIns="46966" rIns="46966" bIns="46966" rtlCol="0" anchor="ctr" anchorCtr="0"/>
            <a:lstStyle/>
            <a:p>
              <a:pPr marL="182789" indent="-182789">
                <a:spcAft>
                  <a:spcPts val="300"/>
                </a:spcAft>
                <a:buClr>
                  <a:schemeClr val="tx1"/>
                </a:buClr>
                <a:buSzPct val="100000"/>
                <a:buFont typeface="EYInterstate" panose="02000503020000020004" pitchFamily="2" charset="0"/>
                <a:buChar char="•"/>
                <a:defRPr/>
              </a:pPr>
              <a:r>
                <a:rPr lang="en-IN" sz="1399">
                  <a:latin typeface="EY interstate"/>
                </a:rPr>
                <a:t>Task Management provides hierarchical task lists and workflows to control numerous manual processes across accounting and finance. </a:t>
              </a:r>
            </a:p>
            <a:p>
              <a:pPr marL="182789" indent="-182789">
                <a:spcAft>
                  <a:spcPts val="300"/>
                </a:spcAft>
                <a:buClr>
                  <a:schemeClr val="tx1"/>
                </a:buClr>
                <a:buSzPct val="100000"/>
                <a:buFont typeface="EYInterstate" panose="02000503020000020004" pitchFamily="2" charset="0"/>
                <a:buChar char="•"/>
                <a:defRPr/>
              </a:pPr>
              <a:r>
                <a:rPr lang="en-IN" sz="1399">
                  <a:latin typeface="EY interstate"/>
                </a:rPr>
                <a:t>Cross-product task dependencies, certifications, and email notifications ensure that tasks are established, assigned, communicated, and achieved ahead of deadlines.</a:t>
              </a:r>
            </a:p>
          </p:txBody>
        </p:sp>
        <p:sp>
          <p:nvSpPr>
            <p:cNvPr id="10" name="Round Diagonal Corner Rectangle 7">
              <a:extLst>
                <a:ext uri="{FF2B5EF4-FFF2-40B4-BE49-F238E27FC236}">
                  <a16:creationId xmlns:a16="http://schemas.microsoft.com/office/drawing/2014/main" id="{C31F0CE2-B9B3-96AE-F378-A19D2CE5A64C}"/>
                </a:ext>
              </a:extLst>
            </p:cNvPr>
            <p:cNvSpPr>
              <a:spLocks/>
            </p:cNvSpPr>
            <p:nvPr/>
          </p:nvSpPr>
          <p:spPr>
            <a:xfrm>
              <a:off x="1892950" y="3273774"/>
              <a:ext cx="7025861" cy="822960"/>
            </a:xfrm>
            <a:prstGeom prst="rect">
              <a:avLst/>
            </a:prstGeom>
            <a:solidFill>
              <a:srgbClr val="C4C4CD"/>
            </a:solidFill>
            <a:ln w="12700" cap="flat" cmpd="sng" algn="ctr">
              <a:noFill/>
              <a:prstDash val="solid"/>
            </a:ln>
            <a:effectLst/>
            <a:extLst>
              <a:ext uri="{91240B29-F687-4F45-9708-019B960494DF}">
                <a14:hiddenLine xmlns:a14="http://schemas.microsoft.com/office/drawing/2010/main" w="12700" cap="flat" cmpd="sng" algn="ctr">
                  <a:solidFill>
                    <a:schemeClr val="bg1"/>
                  </a:solidFill>
                  <a:prstDash val="solid"/>
                </a14:hiddenLine>
              </a:ext>
            </a:extLst>
          </p:spPr>
          <p:txBody>
            <a:bodyPr lIns="46966" tIns="46966" rIns="46966" bIns="46966" rtlCol="0" anchor="ctr" anchorCtr="0"/>
            <a:lstStyle/>
            <a:p>
              <a:pPr marL="182789" indent="-182789">
                <a:spcAft>
                  <a:spcPts val="300"/>
                </a:spcAft>
                <a:buClr>
                  <a:schemeClr val="tx1"/>
                </a:buClr>
                <a:buSzPct val="100000"/>
                <a:buFont typeface="EYInterstate" panose="02000503020000020004" pitchFamily="2" charset="0"/>
                <a:buChar char="•"/>
                <a:defRPr/>
              </a:pPr>
              <a:r>
                <a:rPr lang="en-IN" sz="1399">
                  <a:latin typeface="EY interstate"/>
                </a:rPr>
                <a:t>Tasks are configurable across BlackLine products and can be linked with reconciliations and journals, guaranteeing the correct sequence, flow, and rollup of related activities. </a:t>
              </a:r>
            </a:p>
            <a:p>
              <a:pPr marL="182789" indent="-182789">
                <a:spcAft>
                  <a:spcPts val="300"/>
                </a:spcAft>
                <a:buClr>
                  <a:schemeClr val="tx1"/>
                </a:buClr>
                <a:buSzPct val="100000"/>
                <a:buFont typeface="EYInterstate" panose="02000503020000020004" pitchFamily="2" charset="0"/>
                <a:buChar char="•"/>
                <a:defRPr/>
              </a:pPr>
              <a:r>
                <a:rPr lang="en-IN" sz="1399">
                  <a:latin typeface="EY interstate"/>
                </a:rPr>
                <a:t>Milestone tasks can be used to track activity and automatically certify when child tasks are executed. </a:t>
              </a:r>
            </a:p>
          </p:txBody>
        </p:sp>
        <p:sp>
          <p:nvSpPr>
            <p:cNvPr id="11" name="Round Diagonal Corner Rectangle 8">
              <a:extLst>
                <a:ext uri="{FF2B5EF4-FFF2-40B4-BE49-F238E27FC236}">
                  <a16:creationId xmlns:a16="http://schemas.microsoft.com/office/drawing/2014/main" id="{8B3EABC6-C30D-99AB-3B38-FEEB60184C8D}"/>
                </a:ext>
              </a:extLst>
            </p:cNvPr>
            <p:cNvSpPr>
              <a:spLocks/>
            </p:cNvSpPr>
            <p:nvPr/>
          </p:nvSpPr>
          <p:spPr>
            <a:xfrm>
              <a:off x="1892950" y="4169788"/>
              <a:ext cx="7025861" cy="822960"/>
            </a:xfrm>
            <a:prstGeom prst="rect">
              <a:avLst/>
            </a:prstGeom>
            <a:solidFill>
              <a:srgbClr val="C4C4CD"/>
            </a:solidFill>
            <a:ln w="12700" cap="flat" cmpd="sng" algn="ctr">
              <a:noFill/>
              <a:prstDash val="solid"/>
            </a:ln>
            <a:effectLst/>
            <a:extLst>
              <a:ext uri="{91240B29-F687-4F45-9708-019B960494DF}">
                <a14:hiddenLine xmlns:a14="http://schemas.microsoft.com/office/drawing/2010/main" w="12700" cap="flat" cmpd="sng" algn="ctr">
                  <a:solidFill>
                    <a:schemeClr val="bg1"/>
                  </a:solidFill>
                  <a:prstDash val="solid"/>
                </a14:hiddenLine>
              </a:ext>
            </a:extLst>
          </p:spPr>
          <p:txBody>
            <a:bodyPr lIns="46966" tIns="46966" rIns="46966" bIns="46966" rtlCol="0" anchor="ctr" anchorCtr="0"/>
            <a:lstStyle/>
            <a:p>
              <a:pPr marL="182789" indent="-182789">
                <a:spcAft>
                  <a:spcPts val="300"/>
                </a:spcAft>
                <a:buClr>
                  <a:schemeClr val="tx1"/>
                </a:buClr>
                <a:buSzPct val="100000"/>
                <a:buFont typeface="EYInterstate" panose="02000503020000020004" pitchFamily="2" charset="0"/>
                <a:buChar char="•"/>
                <a:defRPr/>
              </a:pPr>
              <a:r>
                <a:rPr lang="en-IN" sz="1399">
                  <a:latin typeface="EY interstate"/>
                </a:rPr>
                <a:t>Real-time dashboards and comprehensive reporting capabilities give accounting leaders immediate visibility into completed and outstanding items by task type, geographic location, and due date. </a:t>
              </a:r>
            </a:p>
            <a:p>
              <a:pPr marL="182789" indent="-182789">
                <a:spcAft>
                  <a:spcPts val="300"/>
                </a:spcAft>
                <a:buClr>
                  <a:schemeClr val="tx1"/>
                </a:buClr>
                <a:buSzPct val="100000"/>
                <a:buFont typeface="EYInterstate" panose="02000503020000020004" pitchFamily="2" charset="0"/>
                <a:buChar char="•"/>
                <a:defRPr/>
              </a:pPr>
              <a:r>
                <a:rPr lang="en-IN" sz="1399">
                  <a:latin typeface="EY interstate"/>
                </a:rPr>
                <a:t>Automatic notifications warn users of pending tasks and notify management of overdue tasks and bottlenecks.</a:t>
              </a:r>
            </a:p>
          </p:txBody>
        </p:sp>
        <p:sp>
          <p:nvSpPr>
            <p:cNvPr id="12" name="Pentagon 12">
              <a:extLst>
                <a:ext uri="{FF2B5EF4-FFF2-40B4-BE49-F238E27FC236}">
                  <a16:creationId xmlns:a16="http://schemas.microsoft.com/office/drawing/2014/main" id="{0E353220-CB33-F2EF-4FF8-4E0A7D488942}"/>
                </a:ext>
              </a:extLst>
            </p:cNvPr>
            <p:cNvSpPr>
              <a:spLocks/>
            </p:cNvSpPr>
            <p:nvPr/>
          </p:nvSpPr>
          <p:spPr>
            <a:xfrm>
              <a:off x="617222" y="3273774"/>
              <a:ext cx="1200685" cy="822960"/>
            </a:xfrm>
            <a:prstGeom prst="homePlate">
              <a:avLst/>
            </a:prstGeom>
            <a:solidFill>
              <a:srgbClr val="FFE600"/>
            </a:solidFill>
            <a:ln w="12700" cap="flat" cmpd="sng" algn="ctr">
              <a:noFill/>
              <a:prstDash val="solid"/>
            </a:ln>
            <a:effectLst/>
            <a:extLst>
              <a:ext uri="{91240B29-F687-4F45-9708-019B960494DF}">
                <a14:hiddenLine xmlns:a14="http://schemas.microsoft.com/office/drawing/2010/main" w="12700" cap="flat" cmpd="sng" algn="ctr">
                  <a:solidFill>
                    <a:schemeClr val="bg1"/>
                  </a:solidFill>
                  <a:prstDash val="solid"/>
                </a14:hiddenLine>
              </a:ext>
            </a:extLst>
          </p:spPr>
          <p:txBody>
            <a:bodyPr lIns="46966" tIns="46966" rIns="46966" bIns="46966" rtlCol="0" anchor="ctr" anchorCtr="0"/>
            <a:lstStyle/>
            <a:p>
              <a:pPr lvl="0">
                <a:defRPr/>
              </a:pPr>
              <a:r>
                <a:rPr lang="en-AU" sz="1399" b="1">
                  <a:latin typeface="EY interstate"/>
                </a:rPr>
                <a:t>Accelerated Accounting Process</a:t>
              </a:r>
            </a:p>
          </p:txBody>
        </p:sp>
      </p:grpSp>
      <p:sp>
        <p:nvSpPr>
          <p:cNvPr id="13" name="Content Placeholder 2">
            <a:extLst>
              <a:ext uri="{FF2B5EF4-FFF2-40B4-BE49-F238E27FC236}">
                <a16:creationId xmlns:a16="http://schemas.microsoft.com/office/drawing/2014/main" id="{83D91EA6-B4CF-A7AE-5EE4-42F09585C1B2}"/>
              </a:ext>
            </a:extLst>
          </p:cNvPr>
          <p:cNvSpPr txBox="1">
            <a:spLocks/>
          </p:cNvSpPr>
          <p:nvPr/>
        </p:nvSpPr>
        <p:spPr>
          <a:xfrm>
            <a:off x="534376" y="1150578"/>
            <a:ext cx="10971212" cy="1147850"/>
          </a:xfrm>
          <a:prstGeom prst="rect">
            <a:avLst/>
          </a:prstGeom>
        </p:spPr>
        <p:txBody>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EYInterstate Light" panose="02000506000000020004" pitchFamily="2" charset="0"/>
              <a:buNone/>
            </a:pPr>
            <a:r>
              <a:rPr lang="en-AU" sz="1600">
                <a:latin typeface="EY interstate"/>
              </a:rPr>
              <a:t>Task Management provides a configurable, web-based command centre where you can manage accounting and finance tasks. Utilising a hierarchical task list, role based workflow, and real-time dashboards, the task management product allows users to track and control a variety of task types, including month end close checklists, PBC lists, tax filings, and more. The key features of this module include:</a:t>
            </a:r>
          </a:p>
          <a:p>
            <a:pPr marL="0" indent="0">
              <a:buFont typeface="EYInterstate Light" panose="02000506000000020004" pitchFamily="2" charset="0"/>
              <a:buNone/>
            </a:pPr>
            <a:endParaRPr lang="en-AU" sz="1600">
              <a:solidFill>
                <a:schemeClr val="tx1"/>
              </a:solidFill>
              <a:latin typeface="EY interstate"/>
            </a:endParaRPr>
          </a:p>
        </p:txBody>
      </p:sp>
      <p:sp>
        <p:nvSpPr>
          <p:cNvPr id="14" name="TextBox 13">
            <a:extLst>
              <a:ext uri="{FF2B5EF4-FFF2-40B4-BE49-F238E27FC236}">
                <a16:creationId xmlns:a16="http://schemas.microsoft.com/office/drawing/2014/main" id="{D79ED5F5-AB61-23BB-8AEC-E716A2717E38}"/>
              </a:ext>
            </a:extLst>
          </p:cNvPr>
          <p:cNvSpPr txBox="1"/>
          <p:nvPr/>
        </p:nvSpPr>
        <p:spPr>
          <a:xfrm>
            <a:off x="12003123" y="6398343"/>
            <a:ext cx="108000" cy="215444"/>
          </a:xfrm>
          <a:prstGeom prst="rect">
            <a:avLst/>
          </a:prstGeom>
          <a:noFill/>
        </p:spPr>
        <p:txBody>
          <a:bodyPr wrap="square" lIns="0" tIns="0" rIns="0" bIns="0" rtlCol="0">
            <a:spAutoFit/>
          </a:bodyPr>
          <a:lstStyle/>
          <a:p>
            <a:pPr algn="l">
              <a:spcAft>
                <a:spcPts val="200"/>
              </a:spcAft>
            </a:pPr>
            <a:r>
              <a:rPr lang="en-IN" sz="1400">
                <a:solidFill>
                  <a:srgbClr val="FF21A5"/>
                </a:solidFill>
                <a:latin typeface="EY interstate"/>
              </a:rPr>
              <a:t>5</a:t>
            </a:r>
          </a:p>
        </p:txBody>
      </p:sp>
    </p:spTree>
    <p:extLst>
      <p:ext uri="{BB962C8B-B14F-4D97-AF65-F5344CB8AC3E}">
        <p14:creationId xmlns:p14="http://schemas.microsoft.com/office/powerpoint/2010/main" val="391087446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A5C50B-C41C-87DA-93DF-92A5BE309072}"/>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843141B6-94D2-C491-7A36-A6EEA82D2639}"/>
              </a:ext>
            </a:extLst>
          </p:cNvPr>
          <p:cNvSpPr txBox="1"/>
          <p:nvPr/>
        </p:nvSpPr>
        <p:spPr>
          <a:xfrm>
            <a:off x="639701" y="438738"/>
            <a:ext cx="9851133" cy="461665"/>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IN" err="1"/>
              <a:t>BlackLine</a:t>
            </a:r>
            <a:r>
              <a:rPr lang="en-IN"/>
              <a:t> Task Management – Architecture and Process</a:t>
            </a:r>
          </a:p>
        </p:txBody>
      </p:sp>
      <p:sp>
        <p:nvSpPr>
          <p:cNvPr id="24" name="Rectangle 1">
            <a:extLst>
              <a:ext uri="{FF2B5EF4-FFF2-40B4-BE49-F238E27FC236}">
                <a16:creationId xmlns:a16="http://schemas.microsoft.com/office/drawing/2014/main" id="{C5F3879C-F350-9BE7-8BE7-8728522171F9}"/>
              </a:ext>
            </a:extLst>
          </p:cNvPr>
          <p:cNvSpPr>
            <a:spLocks noChangeArrowheads="1"/>
          </p:cNvSpPr>
          <p:nvPr/>
        </p:nvSpPr>
        <p:spPr bwMode="auto">
          <a:xfrm>
            <a:off x="4683125" y="2597835"/>
            <a:ext cx="12192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EY interstate"/>
                <a:cs typeface="Times New Roman" panose="02020603050405020304" pitchFamily="18" charset="0"/>
              </a:rPr>
              <a:t> </a:t>
            </a:r>
            <a:endParaRPr kumimoji="0" lang="en-US" altLang="en-US" sz="1800" b="0" i="0" u="none" strike="noStrike" cap="none" normalizeH="0" baseline="0">
              <a:ln>
                <a:noFill/>
              </a:ln>
              <a:solidFill>
                <a:schemeClr val="tx1"/>
              </a:solidFill>
              <a:effectLst/>
              <a:latin typeface="EY interstate"/>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EY interstate"/>
            </a:endParaRPr>
          </a:p>
        </p:txBody>
      </p:sp>
      <p:sp>
        <p:nvSpPr>
          <p:cNvPr id="13" name="Content Placeholder 2">
            <a:extLst>
              <a:ext uri="{FF2B5EF4-FFF2-40B4-BE49-F238E27FC236}">
                <a16:creationId xmlns:a16="http://schemas.microsoft.com/office/drawing/2014/main" id="{794027FE-2A64-B774-C16D-411B1B3EC6E7}"/>
              </a:ext>
            </a:extLst>
          </p:cNvPr>
          <p:cNvSpPr txBox="1">
            <a:spLocks/>
          </p:cNvSpPr>
          <p:nvPr/>
        </p:nvSpPr>
        <p:spPr>
          <a:xfrm>
            <a:off x="534376" y="1026753"/>
            <a:ext cx="10971212" cy="1147850"/>
          </a:xfrm>
          <a:prstGeom prst="rect">
            <a:avLst/>
          </a:prstGeom>
        </p:spPr>
        <p:txBody>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EYInterstate Light" panose="02000506000000020004" pitchFamily="2" charset="0"/>
              <a:buNone/>
            </a:pPr>
            <a:r>
              <a:rPr lang="en-IN" sz="1600" err="1">
                <a:latin typeface="EY interstate"/>
              </a:rPr>
              <a:t>BlackLine</a:t>
            </a:r>
            <a:r>
              <a:rPr lang="en-IN" sz="1600">
                <a:latin typeface="EY interstate"/>
              </a:rPr>
              <a:t> Tasks module supports centralized web based solution to manage global, regional, corporate and team activities/tasks performed during a financial close cycle.</a:t>
            </a:r>
          </a:p>
        </p:txBody>
      </p:sp>
      <p:sp>
        <p:nvSpPr>
          <p:cNvPr id="14" name="TextBox 13">
            <a:extLst>
              <a:ext uri="{FF2B5EF4-FFF2-40B4-BE49-F238E27FC236}">
                <a16:creationId xmlns:a16="http://schemas.microsoft.com/office/drawing/2014/main" id="{274E4668-E02E-3501-FE32-9B39023D695F}"/>
              </a:ext>
            </a:extLst>
          </p:cNvPr>
          <p:cNvSpPr txBox="1"/>
          <p:nvPr/>
        </p:nvSpPr>
        <p:spPr>
          <a:xfrm>
            <a:off x="12003123" y="6398343"/>
            <a:ext cx="108000" cy="215444"/>
          </a:xfrm>
          <a:prstGeom prst="rect">
            <a:avLst/>
          </a:prstGeom>
          <a:noFill/>
        </p:spPr>
        <p:txBody>
          <a:bodyPr wrap="square" lIns="0" tIns="0" rIns="0" bIns="0" rtlCol="0">
            <a:spAutoFit/>
          </a:bodyPr>
          <a:lstStyle/>
          <a:p>
            <a:pPr algn="l">
              <a:spcAft>
                <a:spcPts val="200"/>
              </a:spcAft>
            </a:pPr>
            <a:r>
              <a:rPr lang="en-IN" sz="1400">
                <a:solidFill>
                  <a:srgbClr val="FF21A5"/>
                </a:solidFill>
                <a:latin typeface="EY interstate"/>
              </a:rPr>
              <a:t>5</a:t>
            </a:r>
          </a:p>
        </p:txBody>
      </p:sp>
      <p:sp>
        <p:nvSpPr>
          <p:cNvPr id="5" name="Rectangle 4">
            <a:extLst>
              <a:ext uri="{FF2B5EF4-FFF2-40B4-BE49-F238E27FC236}">
                <a16:creationId xmlns:a16="http://schemas.microsoft.com/office/drawing/2014/main" id="{F4DC7709-8E64-1959-AE91-17B182226EF8}"/>
              </a:ext>
            </a:extLst>
          </p:cNvPr>
          <p:cNvSpPr/>
          <p:nvPr/>
        </p:nvSpPr>
        <p:spPr bwMode="auto">
          <a:xfrm>
            <a:off x="1171739" y="3346079"/>
            <a:ext cx="8234714" cy="1643013"/>
          </a:xfrm>
          <a:prstGeom prst="rect">
            <a:avLst/>
          </a:prstGeom>
          <a:noFill/>
          <a:ln w="9525" cap="flat" cmpd="sng" algn="ctr">
            <a:solidFill>
              <a:srgbClr val="FF21A5"/>
            </a:solidFill>
            <a:prstDash val="solid"/>
            <a:round/>
            <a:headEnd type="none" w="med" len="med"/>
            <a:tailEnd type="none" w="med" len="me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endParaRPr lang="en-US" sz="700">
              <a:solidFill>
                <a:schemeClr val="bg1">
                  <a:lumMod val="50000"/>
                </a:schemeClr>
              </a:solidFill>
              <a:latin typeface="EY interstate"/>
              <a:cs typeface="Calibri" panose="020F0502020204030204" pitchFamily="34" charset="0"/>
            </a:endParaRPr>
          </a:p>
        </p:txBody>
      </p:sp>
      <p:sp>
        <p:nvSpPr>
          <p:cNvPr id="7" name="Rectangle 6">
            <a:extLst>
              <a:ext uri="{FF2B5EF4-FFF2-40B4-BE49-F238E27FC236}">
                <a16:creationId xmlns:a16="http://schemas.microsoft.com/office/drawing/2014/main" id="{4FD0EA43-C52C-7C60-498C-003BF1F34587}"/>
              </a:ext>
            </a:extLst>
          </p:cNvPr>
          <p:cNvSpPr/>
          <p:nvPr/>
        </p:nvSpPr>
        <p:spPr bwMode="auto">
          <a:xfrm>
            <a:off x="1171739" y="1628254"/>
            <a:ext cx="8234714" cy="1718358"/>
          </a:xfrm>
          <a:prstGeom prst="rect">
            <a:avLst/>
          </a:prstGeom>
          <a:noFill/>
          <a:ln w="9525" cap="flat" cmpd="sng" algn="ctr">
            <a:solidFill>
              <a:srgbClr val="FFE600"/>
            </a:solidFill>
            <a:prstDash val="solid"/>
            <a:round/>
            <a:headEnd type="none" w="med" len="med"/>
            <a:tailEnd type="none" w="med" len="me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endParaRPr lang="en-US" sz="700">
              <a:solidFill>
                <a:schemeClr val="bg1">
                  <a:lumMod val="50000"/>
                </a:schemeClr>
              </a:solidFill>
              <a:latin typeface="EY interstate"/>
              <a:cs typeface="Calibri" panose="020F0502020204030204" pitchFamily="34" charset="0"/>
            </a:endParaRPr>
          </a:p>
        </p:txBody>
      </p:sp>
      <p:sp>
        <p:nvSpPr>
          <p:cNvPr id="8" name="TextBox 108">
            <a:extLst>
              <a:ext uri="{FF2B5EF4-FFF2-40B4-BE49-F238E27FC236}">
                <a16:creationId xmlns:a16="http://schemas.microsoft.com/office/drawing/2014/main" id="{5DC8C8BC-27F8-4FBA-951F-525789BD3159}"/>
              </a:ext>
            </a:extLst>
          </p:cNvPr>
          <p:cNvSpPr txBox="1">
            <a:spLocks noChangeArrowheads="1"/>
          </p:cNvSpPr>
          <p:nvPr/>
        </p:nvSpPr>
        <p:spPr bwMode="auto">
          <a:xfrm rot="16200000">
            <a:off x="-67364" y="2106979"/>
            <a:ext cx="1718358" cy="759843"/>
          </a:xfrm>
          <a:prstGeom prst="rect">
            <a:avLst/>
          </a:prstGeom>
          <a:solidFill>
            <a:srgbClr val="FFE600"/>
          </a:solidFill>
          <a:ln w="9525">
            <a:solidFill>
              <a:schemeClr val="tx1"/>
            </a:solidFill>
            <a:miter lim="800000"/>
            <a:headEnd/>
            <a:tailEnd/>
          </a:ln>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r>
              <a:rPr lang="en-US" sz="999" b="1">
                <a:latin typeface="EY interstate"/>
                <a:cs typeface="Calibri" panose="020F0502020204030204" pitchFamily="34" charset="0"/>
              </a:rPr>
              <a:t>Workflow</a:t>
            </a:r>
          </a:p>
        </p:txBody>
      </p:sp>
      <p:sp>
        <p:nvSpPr>
          <p:cNvPr id="15" name="TextBox 109">
            <a:extLst>
              <a:ext uri="{FF2B5EF4-FFF2-40B4-BE49-F238E27FC236}">
                <a16:creationId xmlns:a16="http://schemas.microsoft.com/office/drawing/2014/main" id="{2F5EB05E-9333-0E39-22C6-96A61A7F1DE2}"/>
              </a:ext>
            </a:extLst>
          </p:cNvPr>
          <p:cNvSpPr txBox="1">
            <a:spLocks noChangeArrowheads="1"/>
          </p:cNvSpPr>
          <p:nvPr/>
        </p:nvSpPr>
        <p:spPr bwMode="auto">
          <a:xfrm rot="16200000">
            <a:off x="-29691" y="3787664"/>
            <a:ext cx="1643013" cy="759843"/>
          </a:xfrm>
          <a:prstGeom prst="rect">
            <a:avLst/>
          </a:prstGeom>
          <a:solidFill>
            <a:srgbClr val="FFE600"/>
          </a:solidFill>
          <a:ln w="9525">
            <a:solidFill>
              <a:schemeClr val="tx1"/>
            </a:solidFill>
            <a:miter lim="800000"/>
            <a:headEnd/>
            <a:tailEnd/>
          </a:ln>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r>
              <a:rPr lang="en-US" sz="999" b="1">
                <a:latin typeface="EY interstate"/>
                <a:cs typeface="Calibri" panose="020F0502020204030204" pitchFamily="34" charset="0"/>
              </a:rPr>
              <a:t>Admin &amp; Data Loads</a:t>
            </a:r>
          </a:p>
        </p:txBody>
      </p:sp>
      <p:sp>
        <p:nvSpPr>
          <p:cNvPr id="16" name="TextBox 110">
            <a:extLst>
              <a:ext uri="{FF2B5EF4-FFF2-40B4-BE49-F238E27FC236}">
                <a16:creationId xmlns:a16="http://schemas.microsoft.com/office/drawing/2014/main" id="{C9E841ED-C876-8979-6A9F-F955A42043E5}"/>
              </a:ext>
            </a:extLst>
          </p:cNvPr>
          <p:cNvSpPr txBox="1">
            <a:spLocks noChangeArrowheads="1"/>
          </p:cNvSpPr>
          <p:nvPr/>
        </p:nvSpPr>
        <p:spPr bwMode="auto">
          <a:xfrm rot="16200000">
            <a:off x="131374" y="5273792"/>
            <a:ext cx="1320882" cy="759843"/>
          </a:xfrm>
          <a:prstGeom prst="rect">
            <a:avLst/>
          </a:prstGeom>
          <a:solidFill>
            <a:srgbClr val="FFE600"/>
          </a:solidFill>
          <a:ln w="9525">
            <a:solidFill>
              <a:schemeClr val="tx1"/>
            </a:solidFill>
            <a:miter lim="800000"/>
            <a:headEnd/>
            <a:tailEnd/>
          </a:ln>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r>
              <a:rPr lang="en-US" sz="999" b="1">
                <a:latin typeface="EY interstate"/>
                <a:cs typeface="Calibri" panose="020F0502020204030204" pitchFamily="34" charset="0"/>
              </a:rPr>
              <a:t>Governance &amp; Reporting</a:t>
            </a:r>
          </a:p>
        </p:txBody>
      </p:sp>
      <p:sp>
        <p:nvSpPr>
          <p:cNvPr id="17" name="Rectangle 16">
            <a:extLst>
              <a:ext uri="{FF2B5EF4-FFF2-40B4-BE49-F238E27FC236}">
                <a16:creationId xmlns:a16="http://schemas.microsoft.com/office/drawing/2014/main" id="{041B2B60-5590-C9B5-B385-7ED3F60CA07E}"/>
              </a:ext>
            </a:extLst>
          </p:cNvPr>
          <p:cNvSpPr/>
          <p:nvPr/>
        </p:nvSpPr>
        <p:spPr bwMode="auto">
          <a:xfrm>
            <a:off x="1163614" y="4993272"/>
            <a:ext cx="8234714" cy="1320258"/>
          </a:xfrm>
          <a:prstGeom prst="rect">
            <a:avLst/>
          </a:prstGeom>
          <a:noFill/>
          <a:ln w="9525" cap="flat" cmpd="sng" algn="ctr">
            <a:solidFill>
              <a:srgbClr val="FFE600"/>
            </a:solidFill>
            <a:prstDash val="solid"/>
            <a:round/>
            <a:headEnd type="none" w="med" len="med"/>
            <a:tailEnd type="none" w="med" len="me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endParaRPr lang="en-US" sz="700">
              <a:solidFill>
                <a:schemeClr val="bg1">
                  <a:lumMod val="50000"/>
                </a:schemeClr>
              </a:solidFill>
              <a:latin typeface="EY interstate"/>
              <a:cs typeface="Calibri" panose="020F0502020204030204" pitchFamily="34" charset="0"/>
            </a:endParaRPr>
          </a:p>
        </p:txBody>
      </p:sp>
      <p:grpSp>
        <p:nvGrpSpPr>
          <p:cNvPr id="18" name="Group 17">
            <a:extLst>
              <a:ext uri="{FF2B5EF4-FFF2-40B4-BE49-F238E27FC236}">
                <a16:creationId xmlns:a16="http://schemas.microsoft.com/office/drawing/2014/main" id="{53B441C3-5D35-B8D4-CED4-24F269ADBE6D}"/>
              </a:ext>
            </a:extLst>
          </p:cNvPr>
          <p:cNvGrpSpPr>
            <a:grpSpLocks/>
          </p:cNvGrpSpPr>
          <p:nvPr/>
        </p:nvGrpSpPr>
        <p:grpSpPr bwMode="auto">
          <a:xfrm>
            <a:off x="1297343" y="2016826"/>
            <a:ext cx="1543603" cy="763845"/>
            <a:chOff x="762042" y="1801010"/>
            <a:chExt cx="1271502" cy="935481"/>
          </a:xfrm>
          <a:solidFill>
            <a:schemeClr val="bg1">
              <a:lumMod val="85000"/>
            </a:schemeClr>
          </a:solidFill>
        </p:grpSpPr>
        <p:sp>
          <p:nvSpPr>
            <p:cNvPr id="19" name="Rectangle 18">
              <a:extLst>
                <a:ext uri="{FF2B5EF4-FFF2-40B4-BE49-F238E27FC236}">
                  <a16:creationId xmlns:a16="http://schemas.microsoft.com/office/drawing/2014/main" id="{8C2CD42C-F759-FC6C-CC48-75CB20A180BB}"/>
                </a:ext>
              </a:extLst>
            </p:cNvPr>
            <p:cNvSpPr>
              <a:spLocks noChangeArrowheads="1"/>
            </p:cNvSpPr>
            <p:nvPr/>
          </p:nvSpPr>
          <p:spPr bwMode="auto">
            <a:xfrm>
              <a:off x="762042" y="2054929"/>
              <a:ext cx="1271383" cy="681562"/>
            </a:xfrm>
            <a:prstGeom prst="rect">
              <a:avLst/>
            </a:prstGeom>
            <a:grpFill/>
            <a:ln w="12700">
              <a:solidFill>
                <a:srgbClr val="FF21A5"/>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900">
                  <a:latin typeface="EY interstate"/>
                  <a:cs typeface="Calibri" panose="020F0502020204030204" pitchFamily="34" charset="0"/>
                </a:rPr>
                <a:t>Review task details, add comments, add documents </a:t>
              </a:r>
            </a:p>
          </p:txBody>
        </p:sp>
        <p:sp>
          <p:nvSpPr>
            <p:cNvPr id="20" name="Rectangle 19">
              <a:extLst>
                <a:ext uri="{FF2B5EF4-FFF2-40B4-BE49-F238E27FC236}">
                  <a16:creationId xmlns:a16="http://schemas.microsoft.com/office/drawing/2014/main" id="{EC8C59F9-C8B7-B675-2426-97F789F93168}"/>
                </a:ext>
              </a:extLst>
            </p:cNvPr>
            <p:cNvSpPr>
              <a:spLocks noChangeArrowheads="1"/>
            </p:cNvSpPr>
            <p:nvPr/>
          </p:nvSpPr>
          <p:spPr bwMode="auto">
            <a:xfrm>
              <a:off x="762161" y="1801010"/>
              <a:ext cx="1271383" cy="253094"/>
            </a:xfrm>
            <a:prstGeom prst="rect">
              <a:avLst/>
            </a:prstGeom>
            <a:grpFill/>
            <a:ln w="12700">
              <a:solidFill>
                <a:srgbClr val="FFE600"/>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49" b="1">
                  <a:latin typeface="EY interstate"/>
                  <a:cs typeface="Calibri" panose="020F0502020204030204" pitchFamily="34" charset="0"/>
                </a:rPr>
                <a:t>Preparer</a:t>
              </a:r>
            </a:p>
          </p:txBody>
        </p:sp>
      </p:grpSp>
      <p:grpSp>
        <p:nvGrpSpPr>
          <p:cNvPr id="21" name="Group 20">
            <a:extLst>
              <a:ext uri="{FF2B5EF4-FFF2-40B4-BE49-F238E27FC236}">
                <a16:creationId xmlns:a16="http://schemas.microsoft.com/office/drawing/2014/main" id="{3BC992FB-A75B-5D1F-B841-8CC0231A09E7}"/>
              </a:ext>
            </a:extLst>
          </p:cNvPr>
          <p:cNvGrpSpPr>
            <a:grpSpLocks/>
          </p:cNvGrpSpPr>
          <p:nvPr/>
        </p:nvGrpSpPr>
        <p:grpSpPr bwMode="auto">
          <a:xfrm>
            <a:off x="4395193" y="2028489"/>
            <a:ext cx="1545104" cy="763844"/>
            <a:chOff x="1574911" y="1815296"/>
            <a:chExt cx="1272739" cy="935480"/>
          </a:xfrm>
          <a:solidFill>
            <a:schemeClr val="bg1">
              <a:lumMod val="85000"/>
            </a:schemeClr>
          </a:solidFill>
        </p:grpSpPr>
        <p:sp>
          <p:nvSpPr>
            <p:cNvPr id="22" name="Rectangle 21">
              <a:extLst>
                <a:ext uri="{FF2B5EF4-FFF2-40B4-BE49-F238E27FC236}">
                  <a16:creationId xmlns:a16="http://schemas.microsoft.com/office/drawing/2014/main" id="{D27D8716-D10B-4232-50D9-FDC97EC289CC}"/>
                </a:ext>
              </a:extLst>
            </p:cNvPr>
            <p:cNvSpPr>
              <a:spLocks noChangeArrowheads="1"/>
            </p:cNvSpPr>
            <p:nvPr/>
          </p:nvSpPr>
          <p:spPr bwMode="auto">
            <a:xfrm>
              <a:off x="1574911" y="2069214"/>
              <a:ext cx="1272620" cy="681562"/>
            </a:xfrm>
            <a:prstGeom prst="rect">
              <a:avLst/>
            </a:prstGeom>
            <a:grpFill/>
            <a:ln w="12700">
              <a:solidFill>
                <a:schemeClr val="tx1"/>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900">
                  <a:latin typeface="EY interstate"/>
                  <a:cs typeface="Calibri" panose="020F0502020204030204" pitchFamily="34" charset="0"/>
                </a:rPr>
                <a:t>Complete tasks</a:t>
              </a:r>
            </a:p>
          </p:txBody>
        </p:sp>
        <p:sp>
          <p:nvSpPr>
            <p:cNvPr id="23" name="Rectangle 22">
              <a:extLst>
                <a:ext uri="{FF2B5EF4-FFF2-40B4-BE49-F238E27FC236}">
                  <a16:creationId xmlns:a16="http://schemas.microsoft.com/office/drawing/2014/main" id="{D8E2A427-C493-11F5-CB90-B8D0EF665CB8}"/>
                </a:ext>
              </a:extLst>
            </p:cNvPr>
            <p:cNvSpPr>
              <a:spLocks noChangeArrowheads="1"/>
            </p:cNvSpPr>
            <p:nvPr/>
          </p:nvSpPr>
          <p:spPr bwMode="auto">
            <a:xfrm>
              <a:off x="1576062" y="1815296"/>
              <a:ext cx="1271588" cy="254001"/>
            </a:xfrm>
            <a:prstGeom prst="rect">
              <a:avLst/>
            </a:prstGeom>
            <a:grpFill/>
            <a:ln w="12700">
              <a:solidFill>
                <a:schemeClr val="tx1"/>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49" b="1">
                  <a:latin typeface="EY interstate"/>
                  <a:cs typeface="Calibri" panose="020F0502020204030204" pitchFamily="34" charset="0"/>
                </a:rPr>
                <a:t>Preparer</a:t>
              </a:r>
            </a:p>
          </p:txBody>
        </p:sp>
      </p:grpSp>
      <p:grpSp>
        <p:nvGrpSpPr>
          <p:cNvPr id="25" name="Group 24">
            <a:extLst>
              <a:ext uri="{FF2B5EF4-FFF2-40B4-BE49-F238E27FC236}">
                <a16:creationId xmlns:a16="http://schemas.microsoft.com/office/drawing/2014/main" id="{1FB4EDC2-ADA0-07C5-45CA-EA8C07B1632E}"/>
              </a:ext>
            </a:extLst>
          </p:cNvPr>
          <p:cNvGrpSpPr>
            <a:grpSpLocks/>
          </p:cNvGrpSpPr>
          <p:nvPr/>
        </p:nvGrpSpPr>
        <p:grpSpPr bwMode="auto">
          <a:xfrm>
            <a:off x="7566219" y="2016826"/>
            <a:ext cx="1543866" cy="763846"/>
            <a:chOff x="762000" y="1801010"/>
            <a:chExt cx="1271719" cy="935482"/>
          </a:xfrm>
          <a:solidFill>
            <a:schemeClr val="bg1">
              <a:lumMod val="85000"/>
            </a:schemeClr>
          </a:solidFill>
        </p:grpSpPr>
        <p:sp>
          <p:nvSpPr>
            <p:cNvPr id="26" name="Rectangle 25">
              <a:extLst>
                <a:ext uri="{FF2B5EF4-FFF2-40B4-BE49-F238E27FC236}">
                  <a16:creationId xmlns:a16="http://schemas.microsoft.com/office/drawing/2014/main" id="{B3F32CD0-8281-24FF-A518-146B51AAFA14}"/>
                </a:ext>
              </a:extLst>
            </p:cNvPr>
            <p:cNvSpPr>
              <a:spLocks noChangeArrowheads="1"/>
            </p:cNvSpPr>
            <p:nvPr/>
          </p:nvSpPr>
          <p:spPr bwMode="auto">
            <a:xfrm>
              <a:off x="762336" y="2054930"/>
              <a:ext cx="1271383" cy="681562"/>
            </a:xfrm>
            <a:prstGeom prst="rect">
              <a:avLst/>
            </a:prstGeom>
            <a:grpFill/>
            <a:ln w="12700">
              <a:solidFill>
                <a:schemeClr val="tx1"/>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900">
                  <a:latin typeface="EY interstate"/>
                  <a:cs typeface="Calibri" panose="020F0502020204030204" pitchFamily="34" charset="0"/>
                </a:rPr>
                <a:t>Review documents, comments and approve </a:t>
              </a:r>
            </a:p>
          </p:txBody>
        </p:sp>
        <p:sp>
          <p:nvSpPr>
            <p:cNvPr id="27" name="Rectangle 26">
              <a:extLst>
                <a:ext uri="{FF2B5EF4-FFF2-40B4-BE49-F238E27FC236}">
                  <a16:creationId xmlns:a16="http://schemas.microsoft.com/office/drawing/2014/main" id="{C5CA9884-7756-53E1-6E19-E12851212852}"/>
                </a:ext>
              </a:extLst>
            </p:cNvPr>
            <p:cNvSpPr>
              <a:spLocks noChangeArrowheads="1"/>
            </p:cNvSpPr>
            <p:nvPr/>
          </p:nvSpPr>
          <p:spPr bwMode="auto">
            <a:xfrm>
              <a:off x="762000" y="1801010"/>
              <a:ext cx="1271588" cy="252537"/>
            </a:xfrm>
            <a:prstGeom prst="rect">
              <a:avLst/>
            </a:prstGeom>
            <a:grpFill/>
            <a:ln w="12700">
              <a:solidFill>
                <a:schemeClr val="tx1"/>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49" b="1">
                  <a:latin typeface="EY interstate"/>
                  <a:cs typeface="Calibri" panose="020F0502020204030204" pitchFamily="34" charset="0"/>
                </a:rPr>
                <a:t>Approver/Reviewer</a:t>
              </a:r>
            </a:p>
          </p:txBody>
        </p:sp>
      </p:grpSp>
      <p:sp>
        <p:nvSpPr>
          <p:cNvPr id="28" name="AutoShape 6">
            <a:extLst>
              <a:ext uri="{FF2B5EF4-FFF2-40B4-BE49-F238E27FC236}">
                <a16:creationId xmlns:a16="http://schemas.microsoft.com/office/drawing/2014/main" id="{B250510D-D09C-0048-FFC8-D86D7758CE32}"/>
              </a:ext>
            </a:extLst>
          </p:cNvPr>
          <p:cNvSpPr>
            <a:spLocks noChangeArrowheads="1"/>
          </p:cNvSpPr>
          <p:nvPr/>
        </p:nvSpPr>
        <p:spPr bwMode="auto">
          <a:xfrm>
            <a:off x="4274357" y="3615421"/>
            <a:ext cx="1779752" cy="1019213"/>
          </a:xfrm>
          <a:prstGeom prst="flowChartMagneticDisk">
            <a:avLst/>
          </a:prstGeom>
          <a:solidFill>
            <a:schemeClr val="bg1">
              <a:lumMod val="75000"/>
            </a:schemeClr>
          </a:solidFill>
          <a:ln w="38100">
            <a:solidFill>
              <a:schemeClr val="tx1"/>
            </a:solidFill>
            <a:round/>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99" b="1">
                <a:latin typeface="EY interstate"/>
                <a:cs typeface="Calibri" panose="020F0502020204030204" pitchFamily="34" charset="0"/>
              </a:rPr>
              <a:t>Blackline</a:t>
            </a:r>
          </a:p>
        </p:txBody>
      </p:sp>
      <p:cxnSp>
        <p:nvCxnSpPr>
          <p:cNvPr id="29" name="Shape 122">
            <a:extLst>
              <a:ext uri="{FF2B5EF4-FFF2-40B4-BE49-F238E27FC236}">
                <a16:creationId xmlns:a16="http://schemas.microsoft.com/office/drawing/2014/main" id="{B46AEFD5-70A9-C824-66A1-20914E9A1563}"/>
              </a:ext>
            </a:extLst>
          </p:cNvPr>
          <p:cNvCxnSpPr>
            <a:cxnSpLocks noChangeShapeType="1"/>
            <a:stCxn id="19" idx="2"/>
            <a:endCxn id="28" idx="1"/>
          </p:cNvCxnSpPr>
          <p:nvPr/>
        </p:nvCxnSpPr>
        <p:spPr bwMode="auto">
          <a:xfrm rot="16200000" flipH="1">
            <a:off x="3199279" y="1650464"/>
            <a:ext cx="834750" cy="3095161"/>
          </a:xfrm>
          <a:prstGeom prst="bentConnector3">
            <a:avLst>
              <a:gd name="adj1" fmla="val 50000"/>
            </a:avLst>
          </a:prstGeom>
          <a:noFill/>
          <a:ln w="9525" algn="ctr">
            <a:solidFill>
              <a:schemeClr val="tx1"/>
            </a:solidFill>
            <a:prstDash val="sysDash"/>
            <a:round/>
            <a:headEnd type="oval" w="med" len="med"/>
            <a:tailEnd type="oval" w="med" len="med"/>
          </a:ln>
        </p:spPr>
      </p:cxnSp>
      <p:cxnSp>
        <p:nvCxnSpPr>
          <p:cNvPr id="30" name="Shape 123">
            <a:extLst>
              <a:ext uri="{FF2B5EF4-FFF2-40B4-BE49-F238E27FC236}">
                <a16:creationId xmlns:a16="http://schemas.microsoft.com/office/drawing/2014/main" id="{6F4F031C-69C6-3D09-C8B7-649EDCF266A4}"/>
              </a:ext>
            </a:extLst>
          </p:cNvPr>
          <p:cNvCxnSpPr>
            <a:cxnSpLocks noChangeShapeType="1"/>
            <a:endCxn id="28" idx="1"/>
          </p:cNvCxnSpPr>
          <p:nvPr/>
        </p:nvCxnSpPr>
        <p:spPr bwMode="auto">
          <a:xfrm rot="5400000">
            <a:off x="4754409" y="3202157"/>
            <a:ext cx="823087" cy="3439"/>
          </a:xfrm>
          <a:prstGeom prst="bentConnector3">
            <a:avLst>
              <a:gd name="adj1" fmla="val 50000"/>
            </a:avLst>
          </a:prstGeom>
          <a:noFill/>
          <a:ln w="9525" algn="ctr">
            <a:solidFill>
              <a:schemeClr val="tx1"/>
            </a:solidFill>
            <a:prstDash val="sysDash"/>
            <a:round/>
            <a:headEnd type="oval" w="med" len="med"/>
            <a:tailEnd type="oval" w="med" len="med"/>
          </a:ln>
        </p:spPr>
      </p:cxnSp>
      <p:cxnSp>
        <p:nvCxnSpPr>
          <p:cNvPr id="31" name="Shape 123">
            <a:extLst>
              <a:ext uri="{FF2B5EF4-FFF2-40B4-BE49-F238E27FC236}">
                <a16:creationId xmlns:a16="http://schemas.microsoft.com/office/drawing/2014/main" id="{46EFB76A-EF80-231A-3346-07009AD779AA}"/>
              </a:ext>
            </a:extLst>
          </p:cNvPr>
          <p:cNvCxnSpPr>
            <a:cxnSpLocks noChangeShapeType="1"/>
            <a:endCxn id="28" idx="1"/>
          </p:cNvCxnSpPr>
          <p:nvPr/>
        </p:nvCxnSpPr>
        <p:spPr bwMode="auto">
          <a:xfrm rot="5400000">
            <a:off x="6333922" y="1610984"/>
            <a:ext cx="834750" cy="3174122"/>
          </a:xfrm>
          <a:prstGeom prst="bentConnector3">
            <a:avLst>
              <a:gd name="adj1" fmla="val 50000"/>
            </a:avLst>
          </a:prstGeom>
          <a:noFill/>
          <a:ln w="9525" algn="ctr">
            <a:solidFill>
              <a:schemeClr val="tx1"/>
            </a:solidFill>
            <a:prstDash val="sysDash"/>
            <a:round/>
            <a:headEnd type="oval" w="med" len="med"/>
            <a:tailEnd type="oval" w="med" len="med"/>
          </a:ln>
        </p:spPr>
      </p:cxnSp>
      <p:sp>
        <p:nvSpPr>
          <p:cNvPr id="32" name="Round Diagonal Corner Rectangle 82">
            <a:extLst>
              <a:ext uri="{FF2B5EF4-FFF2-40B4-BE49-F238E27FC236}">
                <a16:creationId xmlns:a16="http://schemas.microsoft.com/office/drawing/2014/main" id="{34602448-7DF5-DB2D-38E5-3711F87D66E3}"/>
              </a:ext>
            </a:extLst>
          </p:cNvPr>
          <p:cNvSpPr/>
          <p:nvPr/>
        </p:nvSpPr>
        <p:spPr bwMode="auto">
          <a:xfrm>
            <a:off x="1273604" y="3540448"/>
            <a:ext cx="2000464" cy="382813"/>
          </a:xfrm>
          <a:prstGeom prst="round2DiagRect">
            <a:avLst/>
          </a:prstGeom>
          <a:solidFill>
            <a:schemeClr val="bg1">
              <a:lumMod val="85000"/>
            </a:schemeClr>
          </a:solidFill>
          <a:ln w="9525" cap="flat" cmpd="sng" algn="ctr">
            <a:solidFill>
              <a:schemeClr val="tx1"/>
            </a:solidFill>
            <a:prstDash val="solid"/>
            <a:round/>
            <a:headEnd type="none" w="med" len="med"/>
            <a:tailEnd type="none" w="med" len="med"/>
          </a:ln>
          <a:effec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b="1">
                <a:latin typeface="EY interstate"/>
                <a:cs typeface="Calibri" panose="020F0502020204030204" pitchFamily="34" charset="0"/>
              </a:rPr>
              <a:t>Milestones</a:t>
            </a:r>
          </a:p>
        </p:txBody>
      </p:sp>
      <p:sp>
        <p:nvSpPr>
          <p:cNvPr id="33" name="Right Arrow 83">
            <a:extLst>
              <a:ext uri="{FF2B5EF4-FFF2-40B4-BE49-F238E27FC236}">
                <a16:creationId xmlns:a16="http://schemas.microsoft.com/office/drawing/2014/main" id="{BF21ECBA-4D2B-AF4E-D156-393F582C67A6}"/>
              </a:ext>
            </a:extLst>
          </p:cNvPr>
          <p:cNvSpPr>
            <a:spLocks noChangeArrowheads="1"/>
          </p:cNvSpPr>
          <p:nvPr/>
        </p:nvSpPr>
        <p:spPr bwMode="auto">
          <a:xfrm>
            <a:off x="3274068" y="3758288"/>
            <a:ext cx="992383" cy="127402"/>
          </a:xfrm>
          <a:prstGeom prst="rightArrow">
            <a:avLst>
              <a:gd name="adj1" fmla="val 50000"/>
              <a:gd name="adj2" fmla="val 50005"/>
            </a:avLst>
          </a:prstGeom>
          <a:noFill/>
          <a:ln w="9525" algn="ctr">
            <a:solidFill>
              <a:schemeClr val="tx1"/>
            </a:solidFill>
            <a:round/>
            <a:headEnd/>
            <a:tailE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endParaRPr lang="en-US" sz="700">
              <a:solidFill>
                <a:schemeClr val="bg1">
                  <a:lumMod val="50000"/>
                </a:schemeClr>
              </a:solidFill>
              <a:latin typeface="EY interstate"/>
              <a:cs typeface="Calibri" panose="020F0502020204030204" pitchFamily="34" charset="0"/>
            </a:endParaRPr>
          </a:p>
        </p:txBody>
      </p:sp>
      <p:grpSp>
        <p:nvGrpSpPr>
          <p:cNvPr id="34" name="Group 33">
            <a:extLst>
              <a:ext uri="{FF2B5EF4-FFF2-40B4-BE49-F238E27FC236}">
                <a16:creationId xmlns:a16="http://schemas.microsoft.com/office/drawing/2014/main" id="{9DC66E86-DBE9-50EE-B4D5-0C613EE38B01}"/>
              </a:ext>
            </a:extLst>
          </p:cNvPr>
          <p:cNvGrpSpPr>
            <a:grpSpLocks/>
          </p:cNvGrpSpPr>
          <p:nvPr/>
        </p:nvGrpSpPr>
        <p:grpSpPr bwMode="auto">
          <a:xfrm>
            <a:off x="6857455" y="3486270"/>
            <a:ext cx="2252041" cy="1018351"/>
            <a:chOff x="762000" y="1803399"/>
            <a:chExt cx="1448115" cy="1013332"/>
          </a:xfrm>
          <a:noFill/>
        </p:grpSpPr>
        <p:sp>
          <p:nvSpPr>
            <p:cNvPr id="35" name="Rectangle 34">
              <a:extLst>
                <a:ext uri="{FF2B5EF4-FFF2-40B4-BE49-F238E27FC236}">
                  <a16:creationId xmlns:a16="http://schemas.microsoft.com/office/drawing/2014/main" id="{8FDF830B-310A-CFE1-97F7-58A107A70D4E}"/>
                </a:ext>
              </a:extLst>
            </p:cNvPr>
            <p:cNvSpPr>
              <a:spLocks noChangeArrowheads="1"/>
            </p:cNvSpPr>
            <p:nvPr/>
          </p:nvSpPr>
          <p:spPr bwMode="auto">
            <a:xfrm>
              <a:off x="762000" y="2057449"/>
              <a:ext cx="1447938" cy="759282"/>
            </a:xfrm>
            <a:prstGeom prst="rect">
              <a:avLst/>
            </a:prstGeom>
            <a:grpFill/>
            <a:ln w="12700">
              <a:solidFill>
                <a:srgbClr val="FFE600"/>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14243" indent="-114243">
                <a:buFont typeface="Arial" pitchFamily="34" charset="0"/>
                <a:buChar char="•"/>
                <a:defRPr/>
              </a:pPr>
              <a:r>
                <a:rPr lang="en-US" sz="900">
                  <a:solidFill>
                    <a:schemeClr val="bg1">
                      <a:lumMod val="50000"/>
                    </a:schemeClr>
                  </a:solidFill>
                  <a:latin typeface="EY interstate"/>
                  <a:cs typeface="Calibri" panose="020F0502020204030204" pitchFamily="34" charset="0"/>
                </a:rPr>
                <a:t>Manage user security provisioning/authorization</a:t>
              </a:r>
            </a:p>
            <a:p>
              <a:pPr marL="114243" indent="-114243">
                <a:buFont typeface="Arial" pitchFamily="34" charset="0"/>
                <a:buChar char="•"/>
                <a:defRPr/>
              </a:pPr>
              <a:r>
                <a:rPr lang="en-US" sz="900">
                  <a:solidFill>
                    <a:schemeClr val="bg1">
                      <a:lumMod val="50000"/>
                    </a:schemeClr>
                  </a:solidFill>
                  <a:latin typeface="EY interstate"/>
                  <a:cs typeface="Calibri" panose="020F0502020204030204" pitchFamily="34" charset="0"/>
                </a:rPr>
                <a:t>Task profile updates</a:t>
              </a:r>
            </a:p>
            <a:p>
              <a:pPr marL="114243" indent="-114243">
                <a:buFont typeface="Arial" pitchFamily="34" charset="0"/>
                <a:buChar char="•"/>
                <a:defRPr/>
              </a:pPr>
              <a:r>
                <a:rPr lang="en-US" sz="900">
                  <a:solidFill>
                    <a:schemeClr val="bg1">
                      <a:lumMod val="50000"/>
                    </a:schemeClr>
                  </a:solidFill>
                  <a:latin typeface="EY interstate"/>
                  <a:cs typeface="Calibri" panose="020F0502020204030204" pitchFamily="34" charset="0"/>
                </a:rPr>
                <a:t>Template management</a:t>
              </a:r>
            </a:p>
            <a:p>
              <a:pPr marL="114243" indent="-114243">
                <a:buFont typeface="Arial" pitchFamily="34" charset="0"/>
                <a:buChar char="•"/>
                <a:defRPr/>
              </a:pPr>
              <a:r>
                <a:rPr lang="en-US" sz="900">
                  <a:solidFill>
                    <a:schemeClr val="bg1">
                      <a:lumMod val="50000"/>
                    </a:schemeClr>
                  </a:solidFill>
                  <a:latin typeface="EY interstate"/>
                  <a:cs typeface="Calibri" panose="020F0502020204030204" pitchFamily="34" charset="0"/>
                </a:rPr>
                <a:t>Schedule management</a:t>
              </a:r>
            </a:p>
          </p:txBody>
        </p:sp>
        <p:sp>
          <p:nvSpPr>
            <p:cNvPr id="36" name="Rectangle 35">
              <a:extLst>
                <a:ext uri="{FF2B5EF4-FFF2-40B4-BE49-F238E27FC236}">
                  <a16:creationId xmlns:a16="http://schemas.microsoft.com/office/drawing/2014/main" id="{A2DEA3CB-003F-E800-B6A4-46132D40217E}"/>
                </a:ext>
              </a:extLst>
            </p:cNvPr>
            <p:cNvSpPr>
              <a:spLocks noChangeArrowheads="1"/>
            </p:cNvSpPr>
            <p:nvPr/>
          </p:nvSpPr>
          <p:spPr bwMode="auto">
            <a:xfrm>
              <a:off x="762000" y="1803399"/>
              <a:ext cx="1448115" cy="254000"/>
            </a:xfrm>
            <a:prstGeom prst="rect">
              <a:avLst/>
            </a:prstGeom>
            <a:solidFill>
              <a:srgbClr val="FFE600"/>
            </a:solidFill>
            <a:ln w="12700">
              <a:solidFill>
                <a:srgbClr val="FFE600"/>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99" b="1">
                  <a:latin typeface="EY interstate"/>
                  <a:cs typeface="Calibri" panose="020F0502020204030204" pitchFamily="34" charset="0"/>
                </a:rPr>
                <a:t>Administrators</a:t>
              </a:r>
            </a:p>
          </p:txBody>
        </p:sp>
      </p:grpSp>
      <p:cxnSp>
        <p:nvCxnSpPr>
          <p:cNvPr id="37" name="Shape 123">
            <a:extLst>
              <a:ext uri="{FF2B5EF4-FFF2-40B4-BE49-F238E27FC236}">
                <a16:creationId xmlns:a16="http://schemas.microsoft.com/office/drawing/2014/main" id="{71627603-F508-AE4E-7F11-513BEBC4E33B}"/>
              </a:ext>
            </a:extLst>
          </p:cNvPr>
          <p:cNvCxnSpPr>
            <a:cxnSpLocks noChangeShapeType="1"/>
            <a:endCxn id="28" idx="4"/>
          </p:cNvCxnSpPr>
          <p:nvPr/>
        </p:nvCxnSpPr>
        <p:spPr bwMode="auto">
          <a:xfrm rot="10800000" flipV="1">
            <a:off x="6054109" y="4123100"/>
            <a:ext cx="803346" cy="1927"/>
          </a:xfrm>
          <a:prstGeom prst="bentConnector3">
            <a:avLst>
              <a:gd name="adj1" fmla="val 50000"/>
            </a:avLst>
          </a:prstGeom>
          <a:noFill/>
          <a:ln w="9525" algn="ctr">
            <a:solidFill>
              <a:srgbClr val="FFE600"/>
            </a:solidFill>
            <a:prstDash val="sysDash"/>
            <a:round/>
            <a:headEnd type="oval" w="med" len="med"/>
            <a:tailEnd type="oval" w="med" len="med"/>
          </a:ln>
        </p:spPr>
      </p:cxnSp>
      <p:sp>
        <p:nvSpPr>
          <p:cNvPr id="38" name="Round Diagonal Corner Rectangle 86">
            <a:extLst>
              <a:ext uri="{FF2B5EF4-FFF2-40B4-BE49-F238E27FC236}">
                <a16:creationId xmlns:a16="http://schemas.microsoft.com/office/drawing/2014/main" id="{DE262A8A-5A82-F3AE-1131-7E4AAE6E19CB}"/>
              </a:ext>
            </a:extLst>
          </p:cNvPr>
          <p:cNvSpPr/>
          <p:nvPr/>
        </p:nvSpPr>
        <p:spPr bwMode="auto">
          <a:xfrm>
            <a:off x="1273604" y="4337063"/>
            <a:ext cx="2000464" cy="437631"/>
          </a:xfrm>
          <a:prstGeom prst="round2DiagRect">
            <a:avLst/>
          </a:prstGeom>
          <a:solidFill>
            <a:schemeClr val="bg1">
              <a:lumMod val="85000"/>
            </a:schemeClr>
          </a:solidFill>
          <a:ln w="9525" cap="flat" cmpd="sng" algn="ctr">
            <a:solidFill>
              <a:schemeClr val="tx1"/>
            </a:solidFill>
            <a:prstDash val="solid"/>
            <a:round/>
            <a:headEnd type="none" w="med" len="med"/>
            <a:tailEnd type="none" w="med" len="med"/>
          </a:ln>
          <a:effec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b="1">
                <a:latin typeface="EY interstate"/>
                <a:cs typeface="Calibri" panose="020F0502020204030204" pitchFamily="34" charset="0"/>
              </a:rPr>
              <a:t>Metadata (due dates, ownership etc.)</a:t>
            </a:r>
          </a:p>
        </p:txBody>
      </p:sp>
      <p:sp>
        <p:nvSpPr>
          <p:cNvPr id="39" name="Right Arrow 87">
            <a:extLst>
              <a:ext uri="{FF2B5EF4-FFF2-40B4-BE49-F238E27FC236}">
                <a16:creationId xmlns:a16="http://schemas.microsoft.com/office/drawing/2014/main" id="{0E03E4B6-90B5-B28D-AE9A-4377B1115DA9}"/>
              </a:ext>
            </a:extLst>
          </p:cNvPr>
          <p:cNvSpPr>
            <a:spLocks noChangeArrowheads="1"/>
          </p:cNvSpPr>
          <p:nvPr/>
        </p:nvSpPr>
        <p:spPr bwMode="auto">
          <a:xfrm>
            <a:off x="3274068" y="4368317"/>
            <a:ext cx="992383" cy="127402"/>
          </a:xfrm>
          <a:prstGeom prst="rightArrow">
            <a:avLst>
              <a:gd name="adj1" fmla="val 50000"/>
              <a:gd name="adj2" fmla="val 50005"/>
            </a:avLst>
          </a:prstGeom>
          <a:noFill/>
          <a:ln w="9525" algn="ctr">
            <a:solidFill>
              <a:schemeClr val="tx1"/>
            </a:solidFill>
            <a:round/>
            <a:headEnd/>
            <a:tailE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endParaRPr lang="en-US" sz="700">
              <a:solidFill>
                <a:schemeClr val="bg1">
                  <a:lumMod val="50000"/>
                </a:schemeClr>
              </a:solidFill>
              <a:latin typeface="EY interstate"/>
              <a:cs typeface="Calibri" panose="020F0502020204030204" pitchFamily="34" charset="0"/>
            </a:endParaRPr>
          </a:p>
        </p:txBody>
      </p:sp>
      <p:grpSp>
        <p:nvGrpSpPr>
          <p:cNvPr id="40" name="Group 39">
            <a:extLst>
              <a:ext uri="{FF2B5EF4-FFF2-40B4-BE49-F238E27FC236}">
                <a16:creationId xmlns:a16="http://schemas.microsoft.com/office/drawing/2014/main" id="{EB1E67B7-6C9B-7502-A3CF-E85EE05C0939}"/>
              </a:ext>
            </a:extLst>
          </p:cNvPr>
          <p:cNvGrpSpPr/>
          <p:nvPr/>
        </p:nvGrpSpPr>
        <p:grpSpPr>
          <a:xfrm>
            <a:off x="1297344" y="5353091"/>
            <a:ext cx="2121312" cy="828911"/>
            <a:chOff x="988807" y="4910755"/>
            <a:chExt cx="1759155" cy="808671"/>
          </a:xfrm>
          <a:solidFill>
            <a:schemeClr val="bg1">
              <a:lumMod val="85000"/>
            </a:schemeClr>
          </a:solidFill>
        </p:grpSpPr>
        <p:sp>
          <p:nvSpPr>
            <p:cNvPr id="41" name="Rectangle 40">
              <a:extLst>
                <a:ext uri="{FF2B5EF4-FFF2-40B4-BE49-F238E27FC236}">
                  <a16:creationId xmlns:a16="http://schemas.microsoft.com/office/drawing/2014/main" id="{30B761B2-5B7F-A422-AC8F-5D14168BCABB}"/>
                </a:ext>
              </a:extLst>
            </p:cNvPr>
            <p:cNvSpPr>
              <a:spLocks noChangeArrowheads="1"/>
            </p:cNvSpPr>
            <p:nvPr/>
          </p:nvSpPr>
          <p:spPr bwMode="auto">
            <a:xfrm>
              <a:off x="988807" y="5113001"/>
              <a:ext cx="1758948" cy="606425"/>
            </a:xfrm>
            <a:prstGeom prst="rect">
              <a:avLst/>
            </a:prstGeom>
            <a:grpFill/>
            <a:ln w="12700">
              <a:solidFill>
                <a:schemeClr val="tx1"/>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14243" indent="-114243" algn="ctr">
                <a:defRPr/>
              </a:pPr>
              <a:r>
                <a:rPr lang="en-US" sz="900">
                  <a:latin typeface="EY interstate"/>
                  <a:cs typeface="Calibri" panose="020F0502020204030204" pitchFamily="34" charset="0"/>
                </a:rPr>
                <a:t>Status reports, dashboards and filters</a:t>
              </a:r>
            </a:p>
          </p:txBody>
        </p:sp>
        <p:sp>
          <p:nvSpPr>
            <p:cNvPr id="42" name="Rectangle 41">
              <a:extLst>
                <a:ext uri="{FF2B5EF4-FFF2-40B4-BE49-F238E27FC236}">
                  <a16:creationId xmlns:a16="http://schemas.microsoft.com/office/drawing/2014/main" id="{C8DD5AE5-0CD1-FF00-F12D-917600589A61}"/>
                </a:ext>
              </a:extLst>
            </p:cNvPr>
            <p:cNvSpPr>
              <a:spLocks noChangeArrowheads="1"/>
            </p:cNvSpPr>
            <p:nvPr/>
          </p:nvSpPr>
          <p:spPr bwMode="auto">
            <a:xfrm>
              <a:off x="988807" y="4910755"/>
              <a:ext cx="1759155" cy="202334"/>
            </a:xfrm>
            <a:prstGeom prst="rect">
              <a:avLst/>
            </a:prstGeom>
            <a:grpFill/>
            <a:ln w="12700">
              <a:solidFill>
                <a:schemeClr val="tx1"/>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99" b="1">
                  <a:latin typeface="EY interstate"/>
                  <a:cs typeface="Calibri" panose="020F0502020204030204" pitchFamily="34" charset="0"/>
                </a:rPr>
                <a:t>All Users</a:t>
              </a:r>
            </a:p>
          </p:txBody>
        </p:sp>
      </p:grpSp>
      <p:cxnSp>
        <p:nvCxnSpPr>
          <p:cNvPr id="43" name="Elbow Connector 89">
            <a:extLst>
              <a:ext uri="{FF2B5EF4-FFF2-40B4-BE49-F238E27FC236}">
                <a16:creationId xmlns:a16="http://schemas.microsoft.com/office/drawing/2014/main" id="{10F2372C-2CDE-F5F6-3A2D-3D60D3A32027}"/>
              </a:ext>
            </a:extLst>
          </p:cNvPr>
          <p:cNvCxnSpPr>
            <a:cxnSpLocks noChangeShapeType="1"/>
          </p:cNvCxnSpPr>
          <p:nvPr/>
        </p:nvCxnSpPr>
        <p:spPr bwMode="auto">
          <a:xfrm rot="5400000">
            <a:off x="3410709" y="3618385"/>
            <a:ext cx="700817" cy="2806233"/>
          </a:xfrm>
          <a:prstGeom prst="bentConnector3">
            <a:avLst>
              <a:gd name="adj1" fmla="val 50000"/>
            </a:avLst>
          </a:prstGeom>
          <a:noFill/>
          <a:ln w="9525" algn="ctr">
            <a:solidFill>
              <a:schemeClr val="tx1"/>
            </a:solidFill>
            <a:round/>
            <a:headEnd/>
            <a:tailEnd type="arrow" w="med" len="med"/>
          </a:ln>
        </p:spPr>
      </p:cxnSp>
      <p:grpSp>
        <p:nvGrpSpPr>
          <p:cNvPr id="44" name="Group 43">
            <a:extLst>
              <a:ext uri="{FF2B5EF4-FFF2-40B4-BE49-F238E27FC236}">
                <a16:creationId xmlns:a16="http://schemas.microsoft.com/office/drawing/2014/main" id="{320FF365-3AA4-5655-8EFE-46EBB8E57FF8}"/>
              </a:ext>
            </a:extLst>
          </p:cNvPr>
          <p:cNvGrpSpPr>
            <a:grpSpLocks/>
          </p:cNvGrpSpPr>
          <p:nvPr/>
        </p:nvGrpSpPr>
        <p:grpSpPr bwMode="auto">
          <a:xfrm>
            <a:off x="4142963" y="5362156"/>
            <a:ext cx="2121808" cy="828911"/>
            <a:chOff x="1055157" y="2010392"/>
            <a:chExt cx="1272087" cy="1015164"/>
          </a:xfrm>
          <a:noFill/>
        </p:grpSpPr>
        <p:sp>
          <p:nvSpPr>
            <p:cNvPr id="45" name="Rectangle 44">
              <a:extLst>
                <a:ext uri="{FF2B5EF4-FFF2-40B4-BE49-F238E27FC236}">
                  <a16:creationId xmlns:a16="http://schemas.microsoft.com/office/drawing/2014/main" id="{9E4C445B-998D-5139-D1A8-93D403360EDF}"/>
                </a:ext>
              </a:extLst>
            </p:cNvPr>
            <p:cNvSpPr>
              <a:spLocks noChangeArrowheads="1"/>
            </p:cNvSpPr>
            <p:nvPr/>
          </p:nvSpPr>
          <p:spPr bwMode="auto">
            <a:xfrm>
              <a:off x="1055603" y="2264281"/>
              <a:ext cx="1271641" cy="761275"/>
            </a:xfrm>
            <a:prstGeom prst="rect">
              <a:avLst/>
            </a:prstGeom>
            <a:grpFill/>
            <a:ln w="12700">
              <a:solidFill>
                <a:srgbClr val="FF21A5"/>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a:solidFill>
                    <a:schemeClr val="bg1">
                      <a:lumMod val="50000"/>
                    </a:schemeClr>
                  </a:solidFill>
                  <a:latin typeface="EY interstate"/>
                  <a:cs typeface="Calibri" panose="020F0502020204030204" pitchFamily="34" charset="0"/>
                </a:rPr>
                <a:t>Centralized</a:t>
              </a:r>
            </a:p>
            <a:p>
              <a:pPr algn="ctr">
                <a:defRPr/>
              </a:pPr>
              <a:r>
                <a:rPr lang="en-US" sz="900">
                  <a:solidFill>
                    <a:schemeClr val="bg1">
                      <a:lumMod val="50000"/>
                    </a:schemeClr>
                  </a:solidFill>
                  <a:latin typeface="EY interstate"/>
                  <a:cs typeface="Calibri" panose="020F0502020204030204" pitchFamily="34" charset="0"/>
                </a:rPr>
                <a:t>audit and QA</a:t>
              </a:r>
            </a:p>
          </p:txBody>
        </p:sp>
        <p:sp>
          <p:nvSpPr>
            <p:cNvPr id="46" name="Rectangle 45">
              <a:extLst>
                <a:ext uri="{FF2B5EF4-FFF2-40B4-BE49-F238E27FC236}">
                  <a16:creationId xmlns:a16="http://schemas.microsoft.com/office/drawing/2014/main" id="{4DBC6218-AF47-95B1-6471-5145F8783B75}"/>
                </a:ext>
              </a:extLst>
            </p:cNvPr>
            <p:cNvSpPr>
              <a:spLocks noChangeArrowheads="1"/>
            </p:cNvSpPr>
            <p:nvPr/>
          </p:nvSpPr>
          <p:spPr bwMode="auto">
            <a:xfrm>
              <a:off x="1055157" y="2010392"/>
              <a:ext cx="1271588" cy="254000"/>
            </a:xfrm>
            <a:prstGeom prst="rect">
              <a:avLst/>
            </a:prstGeom>
            <a:solidFill>
              <a:srgbClr val="FF21A5"/>
            </a:solidFill>
            <a:ln w="12700">
              <a:solidFill>
                <a:srgbClr val="FF21A5"/>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99" b="1">
                  <a:solidFill>
                    <a:schemeClr val="bg1"/>
                  </a:solidFill>
                  <a:latin typeface="EY interstate"/>
                  <a:cs typeface="Calibri" panose="020F0502020204030204" pitchFamily="34" charset="0"/>
                </a:rPr>
                <a:t>Auditors</a:t>
              </a:r>
            </a:p>
          </p:txBody>
        </p:sp>
      </p:grpSp>
      <p:grpSp>
        <p:nvGrpSpPr>
          <p:cNvPr id="47" name="Group 46">
            <a:extLst>
              <a:ext uri="{FF2B5EF4-FFF2-40B4-BE49-F238E27FC236}">
                <a16:creationId xmlns:a16="http://schemas.microsoft.com/office/drawing/2014/main" id="{07998265-10DB-81F2-8E75-083C8737DDF2}"/>
              </a:ext>
            </a:extLst>
          </p:cNvPr>
          <p:cNvGrpSpPr>
            <a:grpSpLocks/>
          </p:cNvGrpSpPr>
          <p:nvPr/>
        </p:nvGrpSpPr>
        <p:grpSpPr bwMode="auto">
          <a:xfrm>
            <a:off x="6988245" y="5353093"/>
            <a:ext cx="2120976" cy="828911"/>
            <a:chOff x="1277471" y="1999292"/>
            <a:chExt cx="1271588" cy="1015164"/>
          </a:xfrm>
          <a:solidFill>
            <a:schemeClr val="bg1">
              <a:lumMod val="85000"/>
            </a:schemeClr>
          </a:solidFill>
        </p:grpSpPr>
        <p:sp>
          <p:nvSpPr>
            <p:cNvPr id="48" name="Rectangle 47">
              <a:extLst>
                <a:ext uri="{FF2B5EF4-FFF2-40B4-BE49-F238E27FC236}">
                  <a16:creationId xmlns:a16="http://schemas.microsoft.com/office/drawing/2014/main" id="{7FCE7F4B-5C4F-B09D-FDFF-BD77E6CD4417}"/>
                </a:ext>
              </a:extLst>
            </p:cNvPr>
            <p:cNvSpPr>
              <a:spLocks noChangeArrowheads="1"/>
            </p:cNvSpPr>
            <p:nvPr/>
          </p:nvSpPr>
          <p:spPr bwMode="auto">
            <a:xfrm>
              <a:off x="1278566" y="2253181"/>
              <a:ext cx="1270493" cy="761275"/>
            </a:xfrm>
            <a:prstGeom prst="rect">
              <a:avLst/>
            </a:prstGeom>
            <a:grpFill/>
            <a:ln w="12700">
              <a:solidFill>
                <a:schemeClr val="tx1"/>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a:latin typeface="EY interstate"/>
                  <a:cs typeface="Calibri" panose="020F0502020204030204" pitchFamily="34" charset="0"/>
                </a:rPr>
                <a:t>Dashboards and Reporting</a:t>
              </a:r>
            </a:p>
            <a:p>
              <a:pPr algn="ctr">
                <a:defRPr/>
              </a:pPr>
              <a:r>
                <a:rPr lang="en-US" sz="900">
                  <a:latin typeface="EY interstate"/>
                  <a:cs typeface="Calibri" panose="020F0502020204030204" pitchFamily="34" charset="0"/>
                </a:rPr>
                <a:t>(Status Tracking, Analysis, etc</a:t>
              </a:r>
              <a:r>
                <a:rPr lang="en-US" sz="900" b="1">
                  <a:latin typeface="EY interstate"/>
                  <a:cs typeface="Calibri" panose="020F0502020204030204" pitchFamily="34" charset="0"/>
                </a:rPr>
                <a:t>)</a:t>
              </a:r>
            </a:p>
          </p:txBody>
        </p:sp>
        <p:sp>
          <p:nvSpPr>
            <p:cNvPr id="49" name="Rectangle 48">
              <a:extLst>
                <a:ext uri="{FF2B5EF4-FFF2-40B4-BE49-F238E27FC236}">
                  <a16:creationId xmlns:a16="http://schemas.microsoft.com/office/drawing/2014/main" id="{E0710238-B2C9-EC36-012B-D122D915055B}"/>
                </a:ext>
              </a:extLst>
            </p:cNvPr>
            <p:cNvSpPr>
              <a:spLocks noChangeArrowheads="1"/>
            </p:cNvSpPr>
            <p:nvPr/>
          </p:nvSpPr>
          <p:spPr bwMode="auto">
            <a:xfrm>
              <a:off x="1277471" y="1999292"/>
              <a:ext cx="1271588" cy="254000"/>
            </a:xfrm>
            <a:prstGeom prst="rect">
              <a:avLst/>
            </a:prstGeom>
            <a:grpFill/>
            <a:ln w="12700">
              <a:solidFill>
                <a:schemeClr val="tx1"/>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99" b="1">
                  <a:latin typeface="EY interstate"/>
                  <a:cs typeface="Calibri" panose="020F0502020204030204" pitchFamily="34" charset="0"/>
                </a:rPr>
                <a:t>Governance</a:t>
              </a:r>
            </a:p>
          </p:txBody>
        </p:sp>
      </p:grpSp>
      <p:cxnSp>
        <p:nvCxnSpPr>
          <p:cNvPr id="50" name="Elbow Connector 92">
            <a:extLst>
              <a:ext uri="{FF2B5EF4-FFF2-40B4-BE49-F238E27FC236}">
                <a16:creationId xmlns:a16="http://schemas.microsoft.com/office/drawing/2014/main" id="{33F4F3DF-A765-C62C-8734-528DF1A6E519}"/>
              </a:ext>
            </a:extLst>
          </p:cNvPr>
          <p:cNvCxnSpPr>
            <a:cxnSpLocks noChangeShapeType="1"/>
          </p:cNvCxnSpPr>
          <p:nvPr/>
        </p:nvCxnSpPr>
        <p:spPr bwMode="auto">
          <a:xfrm rot="16200000" flipH="1">
            <a:off x="4805006" y="4993862"/>
            <a:ext cx="718459" cy="2"/>
          </a:xfrm>
          <a:prstGeom prst="bentConnector3">
            <a:avLst>
              <a:gd name="adj1" fmla="val 50000"/>
            </a:avLst>
          </a:prstGeom>
          <a:noFill/>
          <a:ln w="9525" algn="ctr">
            <a:solidFill>
              <a:schemeClr val="tx1"/>
            </a:solidFill>
            <a:round/>
            <a:headEnd/>
            <a:tailEnd type="arrow" w="med" len="med"/>
          </a:ln>
        </p:spPr>
      </p:cxnSp>
      <p:cxnSp>
        <p:nvCxnSpPr>
          <p:cNvPr id="51" name="Elbow Connector 93">
            <a:extLst>
              <a:ext uri="{FF2B5EF4-FFF2-40B4-BE49-F238E27FC236}">
                <a16:creationId xmlns:a16="http://schemas.microsoft.com/office/drawing/2014/main" id="{67D97029-5002-18EC-F001-C6FEF05273CC}"/>
              </a:ext>
            </a:extLst>
          </p:cNvPr>
          <p:cNvCxnSpPr>
            <a:cxnSpLocks noChangeShapeType="1"/>
          </p:cNvCxnSpPr>
          <p:nvPr/>
        </p:nvCxnSpPr>
        <p:spPr bwMode="auto">
          <a:xfrm rot="16200000" flipH="1">
            <a:off x="6267528" y="3565369"/>
            <a:ext cx="700817" cy="2911081"/>
          </a:xfrm>
          <a:prstGeom prst="bentConnector3">
            <a:avLst>
              <a:gd name="adj1" fmla="val 50000"/>
            </a:avLst>
          </a:prstGeom>
          <a:noFill/>
          <a:ln w="9525" algn="ctr">
            <a:solidFill>
              <a:schemeClr val="tx1"/>
            </a:solidFill>
            <a:round/>
            <a:headEnd/>
            <a:tailEnd type="arrow" w="med" len="med"/>
          </a:ln>
        </p:spPr>
      </p:cxnSp>
      <p:sp>
        <p:nvSpPr>
          <p:cNvPr id="52" name="Round Diagonal Corner Rectangle 94">
            <a:extLst>
              <a:ext uri="{FF2B5EF4-FFF2-40B4-BE49-F238E27FC236}">
                <a16:creationId xmlns:a16="http://schemas.microsoft.com/office/drawing/2014/main" id="{234DDA02-772F-0B1E-FB12-ADE43D7CF1A8}"/>
              </a:ext>
            </a:extLst>
          </p:cNvPr>
          <p:cNvSpPr/>
          <p:nvPr/>
        </p:nvSpPr>
        <p:spPr bwMode="auto">
          <a:xfrm>
            <a:off x="1273604" y="3971815"/>
            <a:ext cx="2000464" cy="317310"/>
          </a:xfrm>
          <a:prstGeom prst="round2DiagRect">
            <a:avLst/>
          </a:prstGeom>
          <a:solidFill>
            <a:schemeClr val="bg1">
              <a:lumMod val="85000"/>
            </a:schemeClr>
          </a:solidFill>
          <a:ln w="9525" cap="flat" cmpd="sng" algn="ctr">
            <a:solidFill>
              <a:schemeClr val="tx1"/>
            </a:solidFill>
            <a:prstDash val="solid"/>
            <a:round/>
            <a:headEnd type="none" w="med" len="med"/>
            <a:tailEnd type="none" w="med" len="med"/>
          </a:ln>
          <a:effec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b="1">
                <a:latin typeface="EY interstate"/>
                <a:cs typeface="Calibri" panose="020F0502020204030204" pitchFamily="34" charset="0"/>
              </a:rPr>
              <a:t>Tasks</a:t>
            </a:r>
          </a:p>
        </p:txBody>
      </p:sp>
      <p:sp>
        <p:nvSpPr>
          <p:cNvPr id="53" name="Right Arrow 95">
            <a:extLst>
              <a:ext uri="{FF2B5EF4-FFF2-40B4-BE49-F238E27FC236}">
                <a16:creationId xmlns:a16="http://schemas.microsoft.com/office/drawing/2014/main" id="{E00019B8-3FFE-EC74-D472-1CC872E8D4E1}"/>
              </a:ext>
            </a:extLst>
          </p:cNvPr>
          <p:cNvSpPr>
            <a:spLocks noChangeArrowheads="1"/>
          </p:cNvSpPr>
          <p:nvPr/>
        </p:nvSpPr>
        <p:spPr bwMode="auto">
          <a:xfrm>
            <a:off x="3274066" y="4075733"/>
            <a:ext cx="992383" cy="127402"/>
          </a:xfrm>
          <a:prstGeom prst="rightArrow">
            <a:avLst>
              <a:gd name="adj1" fmla="val 50000"/>
              <a:gd name="adj2" fmla="val 50005"/>
            </a:avLst>
          </a:prstGeom>
          <a:noFill/>
          <a:ln w="9525" algn="ctr">
            <a:solidFill>
              <a:schemeClr val="tx1"/>
            </a:solidFill>
            <a:round/>
            <a:headEnd/>
            <a:tailEnd/>
          </a:ln>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defRPr/>
            </a:pPr>
            <a:endParaRPr lang="en-US" sz="700">
              <a:solidFill>
                <a:schemeClr val="bg1">
                  <a:lumMod val="50000"/>
                </a:schemeClr>
              </a:solidFill>
              <a:latin typeface="EY interstate"/>
              <a:cs typeface="Calibri" panose="020F0502020204030204" pitchFamily="34" charset="0"/>
            </a:endParaRPr>
          </a:p>
        </p:txBody>
      </p:sp>
      <p:cxnSp>
        <p:nvCxnSpPr>
          <p:cNvPr id="54" name="Elbow Connector 96">
            <a:extLst>
              <a:ext uri="{FF2B5EF4-FFF2-40B4-BE49-F238E27FC236}">
                <a16:creationId xmlns:a16="http://schemas.microsoft.com/office/drawing/2014/main" id="{5F971C8A-743B-6B52-2729-7C53F324C3A5}"/>
              </a:ext>
            </a:extLst>
          </p:cNvPr>
          <p:cNvCxnSpPr/>
          <p:nvPr/>
        </p:nvCxnSpPr>
        <p:spPr>
          <a:xfrm rot="16200000" flipH="1" flipV="1">
            <a:off x="5203309" y="-1115315"/>
            <a:ext cx="673" cy="6268856"/>
          </a:xfrm>
          <a:prstGeom prst="bentConnector3">
            <a:avLst>
              <a:gd name="adj1" fmla="val -24646119"/>
            </a:avLst>
          </a:prstGeom>
          <a:noFill/>
          <a:ln w="9525" cap="flat" cmpd="sng" algn="ctr">
            <a:solidFill>
              <a:schemeClr val="tx1"/>
            </a:solidFill>
            <a:prstDash val="dashDot"/>
            <a:tailEnd type="arrow"/>
          </a:ln>
          <a:effectLst/>
        </p:spPr>
      </p:cxnSp>
      <p:sp>
        <p:nvSpPr>
          <p:cNvPr id="55" name="TextBox 14">
            <a:extLst>
              <a:ext uri="{FF2B5EF4-FFF2-40B4-BE49-F238E27FC236}">
                <a16:creationId xmlns:a16="http://schemas.microsoft.com/office/drawing/2014/main" id="{D0B5E8C6-5FDB-BC2B-48B2-C6F524C5F68D}"/>
              </a:ext>
            </a:extLst>
          </p:cNvPr>
          <p:cNvSpPr txBox="1"/>
          <p:nvPr/>
        </p:nvSpPr>
        <p:spPr>
          <a:xfrm>
            <a:off x="4273316" y="1686302"/>
            <a:ext cx="1860656" cy="142520"/>
          </a:xfrm>
          <a:prstGeom prst="rect">
            <a:avLst/>
          </a:prstGeom>
          <a:noFill/>
          <a:ln>
            <a:solidFill>
              <a:srgbClr val="FFE600"/>
            </a:solidFill>
          </a:ln>
        </p:spPr>
        <p:txBody>
          <a:bodyPr wrap="square" lIns="0" tIns="36557"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85000"/>
              </a:lnSpc>
              <a:spcAft>
                <a:spcPts val="600"/>
              </a:spcAft>
              <a:buClr>
                <a:srgbClr val="FFE600"/>
              </a:buClr>
              <a:buSzPct val="70000"/>
              <a:defRPr/>
            </a:pPr>
            <a:r>
              <a:rPr lang="en-US" sz="800">
                <a:latin typeface="EY interstate"/>
                <a:cs typeface="Calibri" panose="020F0502020204030204" pitchFamily="34" charset="0"/>
              </a:rPr>
              <a:t>Reject back to Preparer</a:t>
            </a:r>
          </a:p>
        </p:txBody>
      </p:sp>
      <p:cxnSp>
        <p:nvCxnSpPr>
          <p:cNvPr id="56" name="Straight Arrow Connector 55">
            <a:extLst>
              <a:ext uri="{FF2B5EF4-FFF2-40B4-BE49-F238E27FC236}">
                <a16:creationId xmlns:a16="http://schemas.microsoft.com/office/drawing/2014/main" id="{715EAF71-A191-ACFD-DD7D-159DCD270D80}"/>
              </a:ext>
            </a:extLst>
          </p:cNvPr>
          <p:cNvCxnSpPr>
            <a:cxnSpLocks/>
          </p:cNvCxnSpPr>
          <p:nvPr/>
        </p:nvCxnSpPr>
        <p:spPr>
          <a:xfrm>
            <a:off x="2864380" y="2508032"/>
            <a:ext cx="1530813" cy="6045"/>
          </a:xfrm>
          <a:prstGeom prst="straightConnector1">
            <a:avLst/>
          </a:prstGeom>
          <a:noFill/>
          <a:ln w="9525" cap="flat" cmpd="sng" algn="ctr">
            <a:solidFill>
              <a:schemeClr val="tx1"/>
            </a:solidFill>
            <a:prstDash val="solid"/>
            <a:tailEnd type="arrow"/>
          </a:ln>
          <a:effectLst/>
        </p:spPr>
      </p:cxnSp>
      <p:cxnSp>
        <p:nvCxnSpPr>
          <p:cNvPr id="57" name="Straight Arrow Connector 56">
            <a:extLst>
              <a:ext uri="{FF2B5EF4-FFF2-40B4-BE49-F238E27FC236}">
                <a16:creationId xmlns:a16="http://schemas.microsoft.com/office/drawing/2014/main" id="{4C3A6ABE-CBAC-E589-807F-77EC686EDCCB}"/>
              </a:ext>
            </a:extLst>
          </p:cNvPr>
          <p:cNvCxnSpPr>
            <a:cxnSpLocks/>
          </p:cNvCxnSpPr>
          <p:nvPr/>
        </p:nvCxnSpPr>
        <p:spPr>
          <a:xfrm flipV="1">
            <a:off x="5940153" y="2502415"/>
            <a:ext cx="1626476" cy="11662"/>
          </a:xfrm>
          <a:prstGeom prst="straightConnector1">
            <a:avLst/>
          </a:prstGeom>
          <a:noFill/>
          <a:ln w="9525" cap="flat" cmpd="sng" algn="ctr">
            <a:solidFill>
              <a:schemeClr val="tx1"/>
            </a:solidFill>
            <a:prstDash val="solid"/>
            <a:tailEnd type="arrow"/>
          </a:ln>
          <a:effectLst/>
        </p:spPr>
      </p:cxnSp>
      <p:sp>
        <p:nvSpPr>
          <p:cNvPr id="58" name="Rectangle 57">
            <a:extLst>
              <a:ext uri="{FF2B5EF4-FFF2-40B4-BE49-F238E27FC236}">
                <a16:creationId xmlns:a16="http://schemas.microsoft.com/office/drawing/2014/main" id="{488F944B-7B8E-A2FF-6B39-1A0735657D49}"/>
              </a:ext>
            </a:extLst>
          </p:cNvPr>
          <p:cNvSpPr/>
          <p:nvPr/>
        </p:nvSpPr>
        <p:spPr>
          <a:xfrm>
            <a:off x="9417426" y="4002931"/>
            <a:ext cx="2400946" cy="2304000"/>
          </a:xfrm>
          <a:prstGeom prst="rect">
            <a:avLst/>
          </a:prstGeom>
          <a:solidFill>
            <a:schemeClr val="bg1">
              <a:lumMod val="95000"/>
            </a:schemeClr>
          </a:solidFill>
          <a:ln w="28575" cap="flat" cmpd="sng" algn="ctr">
            <a:solidFill>
              <a:srgbClr val="FFE600"/>
            </a:solidFill>
            <a:prstDash val="solid"/>
            <a:round/>
            <a:headEnd type="none" w="med" len="med"/>
            <a:tailEnd type="none" w="med" len="med"/>
          </a:ln>
          <a:effectLst/>
        </p:spPr>
        <p:txBody>
          <a:bodyPr wrap="squar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1" algn="ctr">
              <a:lnSpc>
                <a:spcPct val="85000"/>
              </a:lnSpc>
              <a:buSzPct val="70000"/>
              <a:defRPr/>
            </a:pPr>
            <a:endParaRPr lang="en-US" sz="1199">
              <a:solidFill>
                <a:schemeClr val="bg1">
                  <a:lumMod val="50000"/>
                </a:schemeClr>
              </a:solidFill>
              <a:latin typeface="EY interstate"/>
              <a:cs typeface="Calibri" panose="020F0502020204030204" pitchFamily="34" charset="0"/>
            </a:endParaRPr>
          </a:p>
          <a:p>
            <a:pPr marL="0" lvl="1" algn="ctr">
              <a:lnSpc>
                <a:spcPct val="85000"/>
              </a:lnSpc>
              <a:buSzPct val="70000"/>
              <a:defRPr/>
            </a:pPr>
            <a:r>
              <a:rPr lang="en-US" sz="1199" b="1" u="sng">
                <a:latin typeface="EY interstate"/>
                <a:cs typeface="Calibri" panose="020F0502020204030204" pitchFamily="34" charset="0"/>
              </a:rPr>
              <a:t>Control Points</a:t>
            </a:r>
          </a:p>
          <a:p>
            <a:pPr marL="0" lvl="1" algn="ctr">
              <a:lnSpc>
                <a:spcPct val="85000"/>
              </a:lnSpc>
              <a:buSzPct val="70000"/>
              <a:defRPr/>
            </a:pPr>
            <a:endParaRPr lang="en-US" sz="1199">
              <a:solidFill>
                <a:schemeClr val="bg1">
                  <a:lumMod val="50000"/>
                </a:schemeClr>
              </a:solidFill>
              <a:latin typeface="EY interstate"/>
              <a:cs typeface="Calibri" panose="020F0502020204030204" pitchFamily="34" charset="0"/>
            </a:endParaRPr>
          </a:p>
          <a:p>
            <a:pPr marL="171364" lvl="1" indent="-171364">
              <a:lnSpc>
                <a:spcPct val="85000"/>
              </a:lnSpc>
              <a:buSzPct val="70000"/>
              <a:buFont typeface="Arial" panose="020B0604020202020204" pitchFamily="34" charset="0"/>
              <a:buChar char="•"/>
              <a:defRPr/>
            </a:pPr>
            <a:r>
              <a:rPr lang="en-US" sz="1199">
                <a:solidFill>
                  <a:schemeClr val="tx1">
                    <a:lumMod val="50000"/>
                    <a:lumOff val="50000"/>
                  </a:schemeClr>
                </a:solidFill>
                <a:latin typeface="EY interstate"/>
                <a:cs typeface="Calibri" panose="020F0502020204030204" pitchFamily="34" charset="0"/>
              </a:rPr>
              <a:t>Segregation of duties</a:t>
            </a:r>
          </a:p>
          <a:p>
            <a:pPr marL="171364" lvl="1" indent="-171364">
              <a:lnSpc>
                <a:spcPct val="85000"/>
              </a:lnSpc>
              <a:buSzPct val="70000"/>
              <a:buFont typeface="Arial" panose="020B0604020202020204" pitchFamily="34" charset="0"/>
              <a:buChar char="•"/>
              <a:defRPr/>
            </a:pPr>
            <a:r>
              <a:rPr lang="en-US" sz="1199">
                <a:solidFill>
                  <a:schemeClr val="tx1">
                    <a:lumMod val="50000"/>
                    <a:lumOff val="50000"/>
                  </a:schemeClr>
                </a:solidFill>
                <a:latin typeface="EY interstate"/>
                <a:cs typeface="Calibri" panose="020F0502020204030204" pitchFamily="34" charset="0"/>
              </a:rPr>
              <a:t>Notification for: </a:t>
            </a:r>
          </a:p>
          <a:p>
            <a:pPr marL="0" lvl="1">
              <a:lnSpc>
                <a:spcPct val="85000"/>
              </a:lnSpc>
              <a:buSzPct val="70000"/>
              <a:defRPr/>
            </a:pPr>
            <a:r>
              <a:rPr lang="en-US" sz="1199">
                <a:solidFill>
                  <a:schemeClr val="tx1">
                    <a:lumMod val="50000"/>
                    <a:lumOff val="50000"/>
                  </a:schemeClr>
                </a:solidFill>
                <a:latin typeface="EY interstate"/>
                <a:cs typeface="Calibri" panose="020F0502020204030204" pitchFamily="34" charset="0"/>
              </a:rPr>
              <a:t>          Due Dates</a:t>
            </a:r>
          </a:p>
          <a:p>
            <a:pPr marL="0" lvl="1">
              <a:lnSpc>
                <a:spcPct val="85000"/>
              </a:lnSpc>
              <a:buSzPct val="70000"/>
              <a:defRPr/>
            </a:pPr>
            <a:r>
              <a:rPr lang="en-US" sz="1199">
                <a:solidFill>
                  <a:schemeClr val="tx1">
                    <a:lumMod val="50000"/>
                    <a:lumOff val="50000"/>
                  </a:schemeClr>
                </a:solidFill>
                <a:latin typeface="EY interstate"/>
                <a:cs typeface="Calibri" panose="020F0502020204030204" pitchFamily="34" charset="0"/>
              </a:rPr>
              <a:t>          Delinquent tasks</a:t>
            </a:r>
          </a:p>
          <a:p>
            <a:pPr marL="0" lvl="1">
              <a:lnSpc>
                <a:spcPct val="85000"/>
              </a:lnSpc>
              <a:buSzPct val="70000"/>
              <a:defRPr/>
            </a:pPr>
            <a:r>
              <a:rPr lang="en-US" sz="1199">
                <a:solidFill>
                  <a:schemeClr val="tx1">
                    <a:lumMod val="50000"/>
                    <a:lumOff val="50000"/>
                  </a:schemeClr>
                </a:solidFill>
                <a:latin typeface="EY interstate"/>
                <a:cs typeface="Calibri" panose="020F0502020204030204" pitchFamily="34" charset="0"/>
              </a:rPr>
              <a:t>          Rejections</a:t>
            </a:r>
          </a:p>
          <a:p>
            <a:pPr marL="171364" lvl="1" indent="-171364">
              <a:lnSpc>
                <a:spcPct val="85000"/>
              </a:lnSpc>
              <a:buSzPct val="70000"/>
              <a:buFont typeface="Arial" panose="020B0604020202020204" pitchFamily="34" charset="0"/>
              <a:buChar char="•"/>
              <a:defRPr/>
            </a:pPr>
            <a:r>
              <a:rPr lang="en-US" sz="1199">
                <a:solidFill>
                  <a:schemeClr val="tx1">
                    <a:lumMod val="50000"/>
                    <a:lumOff val="50000"/>
                  </a:schemeClr>
                </a:solidFill>
                <a:latin typeface="EY interstate"/>
                <a:cs typeface="Calibri" panose="020F0502020204030204" pitchFamily="34" charset="0"/>
              </a:rPr>
              <a:t>Role based assignment and access</a:t>
            </a:r>
          </a:p>
          <a:p>
            <a:pPr marL="171364" lvl="1" indent="-171364">
              <a:lnSpc>
                <a:spcPct val="85000"/>
              </a:lnSpc>
              <a:buSzPct val="70000"/>
              <a:buFont typeface="Arial" panose="020B0604020202020204" pitchFamily="34" charset="0"/>
              <a:buChar char="•"/>
              <a:defRPr/>
            </a:pPr>
            <a:r>
              <a:rPr lang="en-US" sz="1199">
                <a:solidFill>
                  <a:schemeClr val="tx1">
                    <a:lumMod val="50000"/>
                    <a:lumOff val="50000"/>
                  </a:schemeClr>
                </a:solidFill>
                <a:latin typeface="EY interstate"/>
                <a:cs typeface="Calibri" panose="020F0502020204030204" pitchFamily="34" charset="0"/>
              </a:rPr>
              <a:t> Visibility into bottlenecks</a:t>
            </a:r>
          </a:p>
          <a:p>
            <a:pPr marL="171364" lvl="1" indent="-171364">
              <a:lnSpc>
                <a:spcPct val="85000"/>
              </a:lnSpc>
              <a:buSzPct val="70000"/>
              <a:buFont typeface="Arial" panose="020B0604020202020204" pitchFamily="34" charset="0"/>
              <a:buChar char="•"/>
              <a:defRPr/>
            </a:pPr>
            <a:endParaRPr lang="en-US" sz="900">
              <a:solidFill>
                <a:schemeClr val="bg1">
                  <a:lumMod val="50000"/>
                </a:schemeClr>
              </a:solidFill>
              <a:latin typeface="EY interstate"/>
              <a:cs typeface="Calibri" panose="020F0502020204030204" pitchFamily="34" charset="0"/>
            </a:endParaRPr>
          </a:p>
        </p:txBody>
      </p:sp>
      <p:sp>
        <p:nvSpPr>
          <p:cNvPr id="59" name="Rectangle 58">
            <a:extLst>
              <a:ext uri="{FF2B5EF4-FFF2-40B4-BE49-F238E27FC236}">
                <a16:creationId xmlns:a16="http://schemas.microsoft.com/office/drawing/2014/main" id="{17C40207-5D27-6FFE-6DD8-D77A97025962}"/>
              </a:ext>
            </a:extLst>
          </p:cNvPr>
          <p:cNvSpPr/>
          <p:nvPr/>
        </p:nvSpPr>
        <p:spPr>
          <a:xfrm>
            <a:off x="9426271" y="1637552"/>
            <a:ext cx="2392102" cy="2304000"/>
          </a:xfrm>
          <a:prstGeom prst="rect">
            <a:avLst/>
          </a:prstGeom>
          <a:solidFill>
            <a:schemeClr val="bg1">
              <a:lumMod val="95000"/>
            </a:schemeClr>
          </a:solidFill>
          <a:ln w="28575" cap="flat" cmpd="sng" algn="ctr">
            <a:solidFill>
              <a:srgbClr val="FFE600"/>
            </a:solidFill>
            <a:prstDash val="solid"/>
            <a:round/>
            <a:headEnd type="none" w="med" len="med"/>
            <a:tailEnd type="none" w="med" len="med"/>
          </a:ln>
          <a:effectLst/>
        </p:spPr>
        <p:txBody>
          <a:bodyPr wrap="square" anchor="t"/>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buSzPct val="70000"/>
              <a:defRPr/>
            </a:pPr>
            <a:endParaRPr lang="en-US" sz="1199">
              <a:solidFill>
                <a:schemeClr val="bg1">
                  <a:lumMod val="50000"/>
                </a:schemeClr>
              </a:solidFill>
              <a:latin typeface="EY interstate"/>
              <a:cs typeface="Calibri" panose="020F0502020204030204" pitchFamily="34" charset="0"/>
            </a:endParaRPr>
          </a:p>
          <a:p>
            <a:pPr algn="ctr">
              <a:buSzPct val="70000"/>
              <a:defRPr/>
            </a:pPr>
            <a:endParaRPr lang="en-US" sz="1199">
              <a:solidFill>
                <a:schemeClr val="bg1">
                  <a:lumMod val="50000"/>
                </a:schemeClr>
              </a:solidFill>
              <a:latin typeface="EY interstate"/>
              <a:cs typeface="Calibri" panose="020F0502020204030204" pitchFamily="34" charset="0"/>
            </a:endParaRPr>
          </a:p>
          <a:p>
            <a:pPr algn="ctr">
              <a:buSzPct val="70000"/>
              <a:defRPr/>
            </a:pPr>
            <a:endParaRPr lang="en-US" sz="1199">
              <a:solidFill>
                <a:schemeClr val="bg1">
                  <a:lumMod val="50000"/>
                </a:schemeClr>
              </a:solidFill>
              <a:latin typeface="EY interstate"/>
              <a:cs typeface="Calibri" panose="020F0502020204030204" pitchFamily="34" charset="0"/>
            </a:endParaRPr>
          </a:p>
          <a:p>
            <a:pPr algn="ctr">
              <a:buSzPct val="70000"/>
              <a:defRPr/>
            </a:pPr>
            <a:r>
              <a:rPr lang="en-US" sz="1199" b="1" u="sng">
                <a:latin typeface="EY interstate"/>
                <a:cs typeface="Calibri" panose="020F0502020204030204" pitchFamily="34" charset="0"/>
              </a:rPr>
              <a:t>Expectations</a:t>
            </a:r>
          </a:p>
          <a:p>
            <a:pPr algn="ctr">
              <a:buSzPct val="70000"/>
              <a:defRPr/>
            </a:pPr>
            <a:endParaRPr lang="en-US" sz="1199">
              <a:solidFill>
                <a:schemeClr val="bg1">
                  <a:lumMod val="50000"/>
                </a:schemeClr>
              </a:solidFill>
              <a:latin typeface="EY interstate"/>
              <a:cs typeface="Calibri" panose="020F0502020204030204" pitchFamily="34" charset="0"/>
            </a:endParaRPr>
          </a:p>
          <a:p>
            <a:pPr marL="58709" indent="-58709">
              <a:buSzPct val="70000"/>
              <a:buFont typeface="Arial" panose="020B0604020202020204" pitchFamily="34" charset="0"/>
              <a:buChar char="•"/>
              <a:defRPr/>
            </a:pPr>
            <a:r>
              <a:rPr lang="en-US" sz="1199">
                <a:solidFill>
                  <a:schemeClr val="bg1">
                    <a:lumMod val="50000"/>
                  </a:schemeClr>
                </a:solidFill>
                <a:latin typeface="EY interstate"/>
                <a:cs typeface="Calibri" panose="020F0502020204030204" pitchFamily="34" charset="0"/>
              </a:rPr>
              <a:t>Move away from manual close processes</a:t>
            </a:r>
          </a:p>
          <a:p>
            <a:pPr marL="58709" indent="-58709">
              <a:buSzPct val="70000"/>
              <a:buFont typeface="Arial" panose="020B0604020202020204" pitchFamily="34" charset="0"/>
              <a:buChar char="•"/>
              <a:defRPr/>
            </a:pPr>
            <a:r>
              <a:rPr lang="en-US" sz="1199">
                <a:solidFill>
                  <a:schemeClr val="bg1">
                    <a:lumMod val="50000"/>
                  </a:schemeClr>
                </a:solidFill>
                <a:latin typeface="EY interstate"/>
                <a:cs typeface="Calibri" panose="020F0502020204030204" pitchFamily="34" charset="0"/>
              </a:rPr>
              <a:t>Approvals of tasks and milestones to be completed in BlackLine</a:t>
            </a:r>
          </a:p>
          <a:p>
            <a:pPr>
              <a:buSzPct val="70000"/>
              <a:defRPr/>
            </a:pPr>
            <a:endParaRPr lang="en-US" sz="900">
              <a:solidFill>
                <a:schemeClr val="bg1">
                  <a:lumMod val="50000"/>
                </a:schemeClr>
              </a:solidFill>
              <a:latin typeface="EY interstate"/>
              <a:cs typeface="Calibri" panose="020F0502020204030204" pitchFamily="34" charset="0"/>
            </a:endParaRPr>
          </a:p>
        </p:txBody>
      </p:sp>
      <p:grpSp>
        <p:nvGrpSpPr>
          <p:cNvPr id="60" name="Group 59">
            <a:extLst>
              <a:ext uri="{FF2B5EF4-FFF2-40B4-BE49-F238E27FC236}">
                <a16:creationId xmlns:a16="http://schemas.microsoft.com/office/drawing/2014/main" id="{C9363E81-202F-22ED-CEFB-23F65300958D}"/>
              </a:ext>
            </a:extLst>
          </p:cNvPr>
          <p:cNvGrpSpPr>
            <a:grpSpLocks/>
          </p:cNvGrpSpPr>
          <p:nvPr/>
        </p:nvGrpSpPr>
        <p:grpSpPr bwMode="auto">
          <a:xfrm>
            <a:off x="4142963" y="5358469"/>
            <a:ext cx="2121808" cy="828911"/>
            <a:chOff x="1055157" y="2010392"/>
            <a:chExt cx="1272087" cy="1015164"/>
          </a:xfrm>
          <a:solidFill>
            <a:schemeClr val="bg1">
              <a:lumMod val="85000"/>
            </a:schemeClr>
          </a:solidFill>
        </p:grpSpPr>
        <p:sp>
          <p:nvSpPr>
            <p:cNvPr id="61" name="Rectangle 60">
              <a:extLst>
                <a:ext uri="{FF2B5EF4-FFF2-40B4-BE49-F238E27FC236}">
                  <a16:creationId xmlns:a16="http://schemas.microsoft.com/office/drawing/2014/main" id="{ACE8EA2F-EC83-8D62-25CC-A74D867F6D73}"/>
                </a:ext>
              </a:extLst>
            </p:cNvPr>
            <p:cNvSpPr>
              <a:spLocks noChangeArrowheads="1"/>
            </p:cNvSpPr>
            <p:nvPr/>
          </p:nvSpPr>
          <p:spPr bwMode="auto">
            <a:xfrm>
              <a:off x="1055603" y="2264281"/>
              <a:ext cx="1271641" cy="761275"/>
            </a:xfrm>
            <a:prstGeom prst="rect">
              <a:avLst/>
            </a:prstGeom>
            <a:grpFill/>
            <a:ln w="12700">
              <a:solidFill>
                <a:schemeClr val="tx1"/>
              </a:solidFill>
              <a:miter lim="800000"/>
              <a:headEnd/>
              <a:tailEnd/>
            </a:ln>
            <a:effectLst/>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a:latin typeface="EY interstate"/>
                  <a:cs typeface="Calibri" panose="020F0502020204030204" pitchFamily="34" charset="0"/>
                </a:rPr>
                <a:t>Centralized</a:t>
              </a:r>
            </a:p>
            <a:p>
              <a:pPr algn="ctr">
                <a:defRPr/>
              </a:pPr>
              <a:r>
                <a:rPr lang="en-US" sz="900">
                  <a:latin typeface="EY interstate"/>
                  <a:cs typeface="Calibri" panose="020F0502020204030204" pitchFamily="34" charset="0"/>
                </a:rPr>
                <a:t>audit and QA</a:t>
              </a:r>
            </a:p>
          </p:txBody>
        </p:sp>
        <p:sp>
          <p:nvSpPr>
            <p:cNvPr id="62" name="Rectangle 61">
              <a:extLst>
                <a:ext uri="{FF2B5EF4-FFF2-40B4-BE49-F238E27FC236}">
                  <a16:creationId xmlns:a16="http://schemas.microsoft.com/office/drawing/2014/main" id="{440F7BF7-E0AF-5839-96CE-3BA6912E7D44}"/>
                </a:ext>
              </a:extLst>
            </p:cNvPr>
            <p:cNvSpPr>
              <a:spLocks noChangeArrowheads="1"/>
            </p:cNvSpPr>
            <p:nvPr/>
          </p:nvSpPr>
          <p:spPr bwMode="auto">
            <a:xfrm>
              <a:off x="1055157" y="2010392"/>
              <a:ext cx="1271588" cy="254000"/>
            </a:xfrm>
            <a:prstGeom prst="rect">
              <a:avLst/>
            </a:prstGeom>
            <a:grpFill/>
            <a:ln w="12700">
              <a:solidFill>
                <a:schemeClr val="tx1"/>
              </a:solidFill>
              <a:miter lim="800000"/>
              <a:headEnd/>
              <a:tailEnd/>
            </a:ln>
          </p:spPr>
          <p:txBody>
            <a:bodyPr lIns="45696" rIns="45696"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099" b="1">
                  <a:latin typeface="EY interstate"/>
                  <a:cs typeface="Calibri" panose="020F0502020204030204" pitchFamily="34" charset="0"/>
                </a:rPr>
                <a:t>Auditors</a:t>
              </a:r>
            </a:p>
          </p:txBody>
        </p:sp>
      </p:grpSp>
      <p:sp>
        <p:nvSpPr>
          <p:cNvPr id="63" name="TextBox 62">
            <a:extLst>
              <a:ext uri="{FF2B5EF4-FFF2-40B4-BE49-F238E27FC236}">
                <a16:creationId xmlns:a16="http://schemas.microsoft.com/office/drawing/2014/main" id="{031C10A2-8DED-EE13-1CC0-0E870CECCF1B}"/>
              </a:ext>
            </a:extLst>
          </p:cNvPr>
          <p:cNvSpPr txBox="1"/>
          <p:nvPr/>
        </p:nvSpPr>
        <p:spPr>
          <a:xfrm>
            <a:off x="11975691" y="6569793"/>
            <a:ext cx="108000" cy="215444"/>
          </a:xfrm>
          <a:prstGeom prst="rect">
            <a:avLst/>
          </a:prstGeom>
          <a:noFill/>
        </p:spPr>
        <p:txBody>
          <a:bodyPr wrap="square" lIns="0" tIns="0" rIns="0" bIns="0" rtlCol="0">
            <a:spAutoFit/>
          </a:bodyPr>
          <a:lstStyle/>
          <a:p>
            <a:pPr algn="l">
              <a:spcAft>
                <a:spcPts val="200"/>
              </a:spcAft>
            </a:pPr>
            <a:r>
              <a:rPr lang="en-IN" sz="1400">
                <a:solidFill>
                  <a:srgbClr val="FF21A5"/>
                </a:solidFill>
                <a:latin typeface="EY interstate"/>
              </a:rPr>
              <a:t>6</a:t>
            </a:r>
          </a:p>
        </p:txBody>
      </p:sp>
    </p:spTree>
    <p:extLst>
      <p:ext uri="{BB962C8B-B14F-4D97-AF65-F5344CB8AC3E}">
        <p14:creationId xmlns:p14="http://schemas.microsoft.com/office/powerpoint/2010/main" val="45839683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1266CB-C481-86B9-DD13-C5EA5F11ECEF}"/>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46B767F5-D790-41B0-BF63-D878B5DD9255}"/>
              </a:ext>
            </a:extLst>
          </p:cNvPr>
          <p:cNvSpPr txBox="1"/>
          <p:nvPr/>
        </p:nvSpPr>
        <p:spPr>
          <a:xfrm>
            <a:off x="639701" y="482757"/>
            <a:ext cx="9851133" cy="461665"/>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IN"/>
              <a:t>Task Management-Workflow</a:t>
            </a:r>
          </a:p>
        </p:txBody>
      </p:sp>
      <p:sp>
        <p:nvSpPr>
          <p:cNvPr id="24" name="Rectangle 1">
            <a:extLst>
              <a:ext uri="{FF2B5EF4-FFF2-40B4-BE49-F238E27FC236}">
                <a16:creationId xmlns:a16="http://schemas.microsoft.com/office/drawing/2014/main" id="{8BDBCD0A-C49E-097A-495A-45CB9657C26A}"/>
              </a:ext>
            </a:extLst>
          </p:cNvPr>
          <p:cNvSpPr>
            <a:spLocks noChangeArrowheads="1"/>
          </p:cNvSpPr>
          <p:nvPr/>
        </p:nvSpPr>
        <p:spPr bwMode="auto">
          <a:xfrm>
            <a:off x="4683125" y="2597835"/>
            <a:ext cx="12192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EY interstate"/>
                <a:cs typeface="Times New Roman" panose="02020603050405020304" pitchFamily="18" charset="0"/>
              </a:rPr>
              <a:t> </a:t>
            </a:r>
            <a:endParaRPr kumimoji="0" lang="en-US" altLang="en-US" sz="1800" b="0" i="0" u="none" strike="noStrike" cap="none" normalizeH="0" baseline="0">
              <a:ln>
                <a:noFill/>
              </a:ln>
              <a:solidFill>
                <a:schemeClr val="tx1"/>
              </a:solidFill>
              <a:effectLst/>
              <a:latin typeface="EY interstate"/>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EY interstate"/>
            </a:endParaRPr>
          </a:p>
        </p:txBody>
      </p:sp>
      <p:sp>
        <p:nvSpPr>
          <p:cNvPr id="13" name="Content Placeholder 2">
            <a:extLst>
              <a:ext uri="{FF2B5EF4-FFF2-40B4-BE49-F238E27FC236}">
                <a16:creationId xmlns:a16="http://schemas.microsoft.com/office/drawing/2014/main" id="{4F5FC0FF-D6FE-62F3-7584-706E222F9E96}"/>
              </a:ext>
            </a:extLst>
          </p:cNvPr>
          <p:cNvSpPr txBox="1">
            <a:spLocks/>
          </p:cNvSpPr>
          <p:nvPr/>
        </p:nvSpPr>
        <p:spPr>
          <a:xfrm>
            <a:off x="534376" y="1026753"/>
            <a:ext cx="10971212" cy="1147850"/>
          </a:xfrm>
          <a:prstGeom prst="rect">
            <a:avLst/>
          </a:prstGeom>
        </p:spPr>
        <p:txBody>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EYInterstate Light" panose="02000506000000020004" pitchFamily="2" charset="0"/>
              <a:buNone/>
            </a:pPr>
            <a:r>
              <a:rPr lang="en-IN" sz="1600">
                <a:latin typeface="EY interstate"/>
              </a:rPr>
              <a:t>Blackline Task Management supports a centralized web-based solution to manage month close activities / checklists at Global, Regional, Corporate, Entity and team level during a financial close cycle.</a:t>
            </a:r>
          </a:p>
        </p:txBody>
      </p:sp>
      <p:pic>
        <p:nvPicPr>
          <p:cNvPr id="2" name="Picture 1">
            <a:extLst>
              <a:ext uri="{FF2B5EF4-FFF2-40B4-BE49-F238E27FC236}">
                <a16:creationId xmlns:a16="http://schemas.microsoft.com/office/drawing/2014/main" id="{324EC353-153C-1FCB-B07E-C56AED9DC4DE}"/>
              </a:ext>
            </a:extLst>
          </p:cNvPr>
          <p:cNvPicPr>
            <a:picLocks noChangeAspect="1"/>
          </p:cNvPicPr>
          <p:nvPr/>
        </p:nvPicPr>
        <p:blipFill>
          <a:blip r:embed="rId2"/>
          <a:stretch>
            <a:fillRect/>
          </a:stretch>
        </p:blipFill>
        <p:spPr>
          <a:xfrm>
            <a:off x="219141" y="1959657"/>
            <a:ext cx="7062597" cy="4231281"/>
          </a:xfrm>
          <a:prstGeom prst="rect">
            <a:avLst/>
          </a:prstGeom>
          <a:ln>
            <a:noFill/>
          </a:ln>
        </p:spPr>
      </p:pic>
      <p:sp>
        <p:nvSpPr>
          <p:cNvPr id="3" name="Content Placeholder 1">
            <a:extLst>
              <a:ext uri="{FF2B5EF4-FFF2-40B4-BE49-F238E27FC236}">
                <a16:creationId xmlns:a16="http://schemas.microsoft.com/office/drawing/2014/main" id="{4044CF53-7299-217B-D04C-632D83CCBF41}"/>
              </a:ext>
            </a:extLst>
          </p:cNvPr>
          <p:cNvSpPr txBox="1">
            <a:spLocks/>
          </p:cNvSpPr>
          <p:nvPr/>
        </p:nvSpPr>
        <p:spPr>
          <a:xfrm>
            <a:off x="244591" y="2090266"/>
            <a:ext cx="11728268" cy="275677"/>
          </a:xfrm>
          <a:prstGeom prst="rect">
            <a:avLst/>
          </a:prstGeom>
          <a:noFill/>
          <a:ln w="19050">
            <a:noFill/>
          </a:ln>
        </p:spPr>
        <p:txBody>
          <a:bodyPr vert="horz" lIns="45720" tIns="45720" rIns="45720" bIns="45720" rtlCol="0">
            <a:normAutofit/>
          </a:bodyPr>
          <a:lstStyle>
            <a:lvl1pPr marL="204093" indent="-204093" algn="l" defTabSz="816372" rtl="0" eaLnBrk="1" latinLnBrk="0" hangingPunct="1">
              <a:spcBef>
                <a:spcPts val="1786"/>
              </a:spcBef>
              <a:buClr>
                <a:schemeClr val="accent1"/>
              </a:buClr>
              <a:buSzPct val="75000"/>
              <a:buFont typeface="Wingdings" pitchFamily="2" charset="2"/>
              <a:buChar char="n"/>
              <a:defRPr sz="1400" b="1" i="0" kern="1200">
                <a:solidFill>
                  <a:schemeClr val="tx1">
                    <a:lumMod val="65000"/>
                    <a:lumOff val="35000"/>
                  </a:schemeClr>
                </a:solidFill>
                <a:latin typeface="Arial"/>
                <a:ea typeface="+mn-ea"/>
                <a:cs typeface="Arial"/>
              </a:defRPr>
            </a:lvl1pPr>
            <a:lvl2pPr marL="408186" indent="-204093" algn="l" defTabSz="816372" rtl="0" eaLnBrk="1" latinLnBrk="0" hangingPunct="1">
              <a:spcBef>
                <a:spcPts val="536"/>
              </a:spcBef>
              <a:buClr>
                <a:schemeClr val="accent1">
                  <a:lumMod val="60000"/>
                  <a:lumOff val="40000"/>
                </a:schemeClr>
              </a:buClr>
              <a:buSzPct val="75000"/>
              <a:buFont typeface="Wingdings" pitchFamily="2" charset="2"/>
              <a:buChar char="n"/>
              <a:defRPr sz="1200" b="0" i="0" kern="1200">
                <a:solidFill>
                  <a:schemeClr val="tx1">
                    <a:lumMod val="65000"/>
                    <a:lumOff val="35000"/>
                  </a:schemeClr>
                </a:solidFill>
                <a:latin typeface="Arial"/>
                <a:ea typeface="+mn-ea"/>
                <a:cs typeface="Arial"/>
              </a:defRPr>
            </a:lvl2pPr>
            <a:lvl3pPr marL="612279" indent="-204093" algn="l" defTabSz="816372" rtl="0" eaLnBrk="1" latinLnBrk="0" hangingPunct="1">
              <a:spcBef>
                <a:spcPts val="536"/>
              </a:spcBef>
              <a:buClr>
                <a:schemeClr val="accent1"/>
              </a:buClr>
              <a:buSzPct val="75000"/>
              <a:buFont typeface="Wingdings" pitchFamily="2" charset="2"/>
              <a:buChar char="n"/>
              <a:defRPr sz="1200" b="0" i="0" kern="1200">
                <a:solidFill>
                  <a:schemeClr val="tx1">
                    <a:lumMod val="65000"/>
                    <a:lumOff val="35000"/>
                  </a:schemeClr>
                </a:solidFill>
                <a:latin typeface="Arial"/>
                <a:ea typeface="+mn-ea"/>
                <a:cs typeface="Arial"/>
              </a:defRPr>
            </a:lvl3pPr>
            <a:lvl4pPr marL="816372" indent="-204093" algn="l" defTabSz="816372" rtl="0" eaLnBrk="1" latinLnBrk="0" hangingPunct="1">
              <a:spcBef>
                <a:spcPts val="536"/>
              </a:spcBef>
              <a:buClr>
                <a:schemeClr val="accent1">
                  <a:lumMod val="60000"/>
                  <a:lumOff val="40000"/>
                </a:schemeClr>
              </a:buClr>
              <a:buSzPct val="75000"/>
              <a:buFont typeface="Wingdings" pitchFamily="2" charset="2"/>
              <a:buChar char="n"/>
              <a:defRPr sz="1200" b="0" i="0" kern="1200">
                <a:solidFill>
                  <a:schemeClr val="tx1">
                    <a:lumMod val="65000"/>
                    <a:lumOff val="35000"/>
                  </a:schemeClr>
                </a:solidFill>
                <a:latin typeface="Arial"/>
                <a:ea typeface="+mn-ea"/>
                <a:cs typeface="Arial"/>
              </a:defRPr>
            </a:lvl4pPr>
            <a:lvl5pPr marL="1020465" indent="-204093" algn="l" defTabSz="816372" rtl="0" eaLnBrk="1" latinLnBrk="0" hangingPunct="1">
              <a:spcBef>
                <a:spcPts val="536"/>
              </a:spcBef>
              <a:buClr>
                <a:schemeClr val="accent1"/>
              </a:buClr>
              <a:buSzPct val="75000"/>
              <a:buFont typeface="Wingdings" pitchFamily="2" charset="2"/>
              <a:buChar char="n"/>
              <a:defRPr sz="1200" b="0" i="0" kern="1200">
                <a:solidFill>
                  <a:schemeClr val="tx1">
                    <a:lumMod val="65000"/>
                    <a:lumOff val="35000"/>
                  </a:schemeClr>
                </a:solidFill>
                <a:latin typeface="Arial"/>
                <a:ea typeface="+mn-ea"/>
                <a:cs typeface="Arial"/>
              </a:defRPr>
            </a:lvl5pPr>
            <a:lvl6pPr marL="1230227" indent="-204093" algn="l" defTabSz="816372" rtl="0" eaLnBrk="1" latinLnBrk="0" hangingPunct="1">
              <a:spcBef>
                <a:spcPct val="20000"/>
              </a:spcBef>
              <a:buClr>
                <a:schemeClr val="accent1">
                  <a:lumMod val="60000"/>
                  <a:lumOff val="40000"/>
                </a:schemeClr>
              </a:buClr>
              <a:buSzPct val="75000"/>
              <a:buFont typeface="Wingdings" pitchFamily="2" charset="2"/>
              <a:buChar char=""/>
              <a:defRPr lang="en-US" sz="1600" kern="1200" dirty="0" smtClean="0">
                <a:solidFill>
                  <a:schemeClr val="tx1">
                    <a:lumMod val="65000"/>
                    <a:lumOff val="35000"/>
                  </a:schemeClr>
                </a:solidFill>
                <a:latin typeface="+mn-lt"/>
                <a:ea typeface="+mn-ea"/>
                <a:cs typeface="+mn-cs"/>
              </a:defRPr>
            </a:lvl6pPr>
            <a:lvl7pPr marL="1431486" indent="-204093" algn="l" defTabSz="816372" rtl="0" eaLnBrk="1" latinLnBrk="0" hangingPunct="1">
              <a:spcBef>
                <a:spcPct val="20000"/>
              </a:spcBef>
              <a:buClr>
                <a:schemeClr val="accent1"/>
              </a:buClr>
              <a:buSzPct val="75000"/>
              <a:buFont typeface="Wingdings" pitchFamily="2" charset="2"/>
              <a:buChar char=""/>
              <a:defRPr lang="en-US" sz="1600" kern="1200" baseline="0" dirty="0" smtClean="0">
                <a:solidFill>
                  <a:schemeClr val="tx1">
                    <a:lumMod val="65000"/>
                    <a:lumOff val="35000"/>
                  </a:schemeClr>
                </a:solidFill>
                <a:latin typeface="+mn-lt"/>
                <a:ea typeface="+mn-ea"/>
                <a:cs typeface="+mn-cs"/>
              </a:defRPr>
            </a:lvl7pPr>
            <a:lvl8pPr marL="1634162" indent="-204093" algn="l" defTabSz="816372" rtl="0" eaLnBrk="1" latinLnBrk="0" hangingPunct="1">
              <a:spcBef>
                <a:spcPct val="20000"/>
              </a:spcBef>
              <a:buClr>
                <a:schemeClr val="accent1">
                  <a:lumMod val="60000"/>
                  <a:lumOff val="40000"/>
                </a:schemeClr>
              </a:buClr>
              <a:buSzPct val="75000"/>
              <a:buFont typeface="Wingdings" pitchFamily="2" charset="2"/>
              <a:buChar char=""/>
              <a:defRPr lang="en-US" sz="1600" kern="1200" baseline="0" dirty="0" smtClean="0">
                <a:solidFill>
                  <a:schemeClr val="tx1">
                    <a:lumMod val="65000"/>
                    <a:lumOff val="35000"/>
                  </a:schemeClr>
                </a:solidFill>
                <a:latin typeface="+mn-lt"/>
                <a:ea typeface="+mn-ea"/>
                <a:cs typeface="+mn-cs"/>
              </a:defRPr>
            </a:lvl8pPr>
            <a:lvl9pPr marL="1836837" indent="-204093" algn="l" defTabSz="816372" rtl="0" eaLnBrk="1" latinLnBrk="0" hangingPunct="1">
              <a:spcBef>
                <a:spcPct val="20000"/>
              </a:spcBef>
              <a:buClr>
                <a:schemeClr val="accent1"/>
              </a:buClr>
              <a:buSzPct val="75000"/>
              <a:buFont typeface="Wingdings" pitchFamily="2" charset="2"/>
              <a:buChar char=""/>
              <a:defRPr lang="en-US" sz="1600" kern="1200" baseline="0" dirty="0">
                <a:solidFill>
                  <a:schemeClr val="tx1">
                    <a:lumMod val="65000"/>
                    <a:lumOff val="35000"/>
                  </a:schemeClr>
                </a:solidFill>
                <a:latin typeface="+mn-lt"/>
                <a:ea typeface="+mn-ea"/>
                <a:cs typeface="+mn-cs"/>
              </a:defRPr>
            </a:lvl9pPr>
          </a:lstStyle>
          <a:p>
            <a:pPr marL="0" indent="0">
              <a:spcBef>
                <a:spcPts val="0"/>
              </a:spcBef>
              <a:buNone/>
            </a:pPr>
            <a:endParaRPr lang="en-IN" sz="1200" b="0">
              <a:solidFill>
                <a:schemeClr val="accent1">
                  <a:lumMod val="90000"/>
                  <a:lumOff val="10000"/>
                </a:schemeClr>
              </a:solidFill>
              <a:latin typeface="EY interstate"/>
              <a:cs typeface="Arabic Typesetting" panose="03020402040406030203" pitchFamily="66" charset="-78"/>
            </a:endParaRPr>
          </a:p>
        </p:txBody>
      </p:sp>
      <p:sp>
        <p:nvSpPr>
          <p:cNvPr id="4" name="Rectangle 3">
            <a:extLst>
              <a:ext uri="{FF2B5EF4-FFF2-40B4-BE49-F238E27FC236}">
                <a16:creationId xmlns:a16="http://schemas.microsoft.com/office/drawing/2014/main" id="{A03F001C-0899-CB32-818F-AF28769DD01C}"/>
              </a:ext>
            </a:extLst>
          </p:cNvPr>
          <p:cNvSpPr/>
          <p:nvPr/>
        </p:nvSpPr>
        <p:spPr>
          <a:xfrm>
            <a:off x="7565883" y="2105661"/>
            <a:ext cx="4327761" cy="641057"/>
          </a:xfrm>
          <a:prstGeom prst="rect">
            <a:avLst/>
          </a:prstGeom>
          <a:solidFill>
            <a:srgbClr val="FFFFFF"/>
          </a:solidFill>
          <a:ln w="19050" cap="flat" cmpd="sng" algn="ctr">
            <a:solidFill>
              <a:srgbClr val="FFE600"/>
            </a:solidFill>
            <a:prstDash val="solid"/>
            <a:round/>
            <a:headEnd type="none" w="med" len="med"/>
            <a:tailEnd type="none" w="med" len="med"/>
          </a:ln>
          <a:effectLst/>
        </p:spPr>
        <p:txBody>
          <a:bodyPr wrap="square" anchor="t"/>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buSzPct val="70000"/>
              <a:defRPr/>
            </a:pPr>
            <a:r>
              <a:rPr lang="en-US" sz="1200">
                <a:latin typeface="EY interstate"/>
                <a:cs typeface="Calibri" panose="020F0502020204030204" pitchFamily="34" charset="0"/>
              </a:rPr>
              <a:t>System admin configures the Task calendar in Blackline, update holidays calendar, due dates &amp; configure other settings in Blackline like segment combination, entity structure etc.</a:t>
            </a:r>
          </a:p>
        </p:txBody>
      </p:sp>
      <p:sp>
        <p:nvSpPr>
          <p:cNvPr id="9" name="Rectangle 8">
            <a:extLst>
              <a:ext uri="{FF2B5EF4-FFF2-40B4-BE49-F238E27FC236}">
                <a16:creationId xmlns:a16="http://schemas.microsoft.com/office/drawing/2014/main" id="{A61DB402-B495-C69B-8F50-36E4763D2528}"/>
              </a:ext>
            </a:extLst>
          </p:cNvPr>
          <p:cNvSpPr/>
          <p:nvPr/>
        </p:nvSpPr>
        <p:spPr>
          <a:xfrm>
            <a:off x="7565882" y="2943165"/>
            <a:ext cx="4327762" cy="602657"/>
          </a:xfrm>
          <a:prstGeom prst="rect">
            <a:avLst/>
          </a:prstGeom>
          <a:solidFill>
            <a:srgbClr val="FFFFFF"/>
          </a:solidFill>
          <a:ln w="19050" cap="flat" cmpd="sng" algn="ctr">
            <a:solidFill>
              <a:srgbClr val="FFE600"/>
            </a:solidFill>
            <a:prstDash val="solid"/>
            <a:round/>
            <a:headEnd type="none" w="med" len="med"/>
            <a:tailEnd type="none" w="med" len="med"/>
          </a:ln>
          <a:effectLst/>
        </p:spPr>
        <p:txBody>
          <a:bodyPr wrap="squar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1" fontAlgn="auto">
              <a:lnSpc>
                <a:spcPct val="85000"/>
              </a:lnSpc>
              <a:spcBef>
                <a:spcPts val="0"/>
              </a:spcBef>
              <a:spcAft>
                <a:spcPts val="0"/>
              </a:spcAft>
              <a:buSzPct val="70000"/>
              <a:defRPr/>
            </a:pPr>
            <a:r>
              <a:rPr lang="en-US" sz="1200">
                <a:latin typeface="EY interstate"/>
                <a:cs typeface="Calibri" panose="020F0502020204030204" pitchFamily="34" charset="0"/>
              </a:rPr>
              <a:t>Preparer completes the tasks assigned to them, add comments &amp; supporting documents if required &amp; reviews the task details</a:t>
            </a:r>
          </a:p>
        </p:txBody>
      </p:sp>
      <p:sp>
        <p:nvSpPr>
          <p:cNvPr id="10" name="Rectangle 9">
            <a:extLst>
              <a:ext uri="{FF2B5EF4-FFF2-40B4-BE49-F238E27FC236}">
                <a16:creationId xmlns:a16="http://schemas.microsoft.com/office/drawing/2014/main" id="{DE914256-F9DD-A5F9-3E24-FC3EAE3CAECE}"/>
              </a:ext>
            </a:extLst>
          </p:cNvPr>
          <p:cNvSpPr/>
          <p:nvPr/>
        </p:nvSpPr>
        <p:spPr>
          <a:xfrm>
            <a:off x="7565882" y="3873341"/>
            <a:ext cx="4327762" cy="902529"/>
          </a:xfrm>
          <a:prstGeom prst="rect">
            <a:avLst/>
          </a:prstGeom>
          <a:solidFill>
            <a:srgbClr val="FFFFFF"/>
          </a:solidFill>
          <a:ln w="19050" cap="flat" cmpd="sng" algn="ctr">
            <a:solidFill>
              <a:srgbClr val="FFE600"/>
            </a:solidFill>
            <a:prstDash val="solid"/>
            <a:round/>
            <a:headEnd type="none" w="med" len="med"/>
            <a:tailEnd type="none" w="med" len="med"/>
          </a:ln>
          <a:effectLst/>
        </p:spPr>
        <p:txBody>
          <a:bodyPr wrap="squar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1" fontAlgn="auto">
              <a:lnSpc>
                <a:spcPct val="85000"/>
              </a:lnSpc>
              <a:spcBef>
                <a:spcPts val="0"/>
              </a:spcBef>
              <a:spcAft>
                <a:spcPts val="0"/>
              </a:spcAft>
              <a:buSzPct val="70000"/>
              <a:defRPr/>
            </a:pPr>
            <a:r>
              <a:rPr lang="en-US" sz="1200">
                <a:latin typeface="EY interstate"/>
                <a:cs typeface="Calibri" panose="020F0502020204030204" pitchFamily="34" charset="0"/>
              </a:rPr>
              <a:t>Approver reviews the tasks assigned to them. An auto certified task doesn’t need approver review. For the tasks assigned to them, an approver looks into the comments &amp; supporting documents attached by preparer and can approve or reject a task.</a:t>
            </a:r>
          </a:p>
          <a:p>
            <a:pPr marL="0" lvl="1" fontAlgn="auto">
              <a:lnSpc>
                <a:spcPct val="85000"/>
              </a:lnSpc>
              <a:spcBef>
                <a:spcPts val="0"/>
              </a:spcBef>
              <a:spcAft>
                <a:spcPts val="0"/>
              </a:spcAft>
              <a:buSzPct val="70000"/>
              <a:defRPr/>
            </a:pPr>
            <a:r>
              <a:rPr lang="en-US" sz="1200">
                <a:latin typeface="EY interstate"/>
                <a:cs typeface="Calibri" panose="020F0502020204030204" pitchFamily="34" charset="0"/>
              </a:rPr>
              <a:t>A task if rejected goes back to the preparer.</a:t>
            </a:r>
          </a:p>
        </p:txBody>
      </p:sp>
      <p:sp>
        <p:nvSpPr>
          <p:cNvPr id="11" name="Rectangle 10">
            <a:extLst>
              <a:ext uri="{FF2B5EF4-FFF2-40B4-BE49-F238E27FC236}">
                <a16:creationId xmlns:a16="http://schemas.microsoft.com/office/drawing/2014/main" id="{4ED9B23C-D00F-0AE7-9FD0-F38E08F9769D}"/>
              </a:ext>
            </a:extLst>
          </p:cNvPr>
          <p:cNvSpPr/>
          <p:nvPr/>
        </p:nvSpPr>
        <p:spPr>
          <a:xfrm>
            <a:off x="7565882" y="5222190"/>
            <a:ext cx="4327762" cy="824460"/>
          </a:xfrm>
          <a:prstGeom prst="rect">
            <a:avLst/>
          </a:prstGeom>
          <a:solidFill>
            <a:srgbClr val="FFFFFF"/>
          </a:solidFill>
          <a:ln w="19050" cap="flat" cmpd="sng" algn="ctr">
            <a:solidFill>
              <a:srgbClr val="FFE600"/>
            </a:solidFill>
            <a:prstDash val="solid"/>
            <a:round/>
            <a:headEnd type="none" w="med" len="med"/>
            <a:tailEnd type="none" w="med" len="med"/>
          </a:ln>
          <a:effectLst/>
        </p:spPr>
        <p:txBody>
          <a:bodyPr wrap="squar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1" fontAlgn="auto">
              <a:lnSpc>
                <a:spcPct val="85000"/>
              </a:lnSpc>
              <a:spcBef>
                <a:spcPts val="0"/>
              </a:spcBef>
              <a:spcAft>
                <a:spcPts val="0"/>
              </a:spcAft>
              <a:buSzPct val="70000"/>
              <a:defRPr/>
            </a:pPr>
            <a:r>
              <a:rPr lang="en-US" sz="1200">
                <a:latin typeface="EY interstate"/>
                <a:cs typeface="Calibri" panose="020F0502020204030204" pitchFamily="34" charset="0"/>
              </a:rPr>
              <a:t>A reviewer is an optional additional layer of review that an organization can keep. Once the tasks get assigned to the reviewer, they can either approve or reject the task after looking at the comments of preparer &amp; approver. A task if rejected goes back to the preparer.</a:t>
            </a:r>
          </a:p>
        </p:txBody>
      </p:sp>
      <p:cxnSp>
        <p:nvCxnSpPr>
          <p:cNvPr id="12" name="Straight Arrow Connector 11">
            <a:extLst>
              <a:ext uri="{FF2B5EF4-FFF2-40B4-BE49-F238E27FC236}">
                <a16:creationId xmlns:a16="http://schemas.microsoft.com/office/drawing/2014/main" id="{1F7FE34C-D671-1A7D-A473-8DC2609C629A}"/>
              </a:ext>
            </a:extLst>
          </p:cNvPr>
          <p:cNvCxnSpPr>
            <a:cxnSpLocks/>
          </p:cNvCxnSpPr>
          <p:nvPr/>
        </p:nvCxnSpPr>
        <p:spPr>
          <a:xfrm flipH="1" flipV="1">
            <a:off x="7189204" y="2472161"/>
            <a:ext cx="388212" cy="1"/>
          </a:xfrm>
          <a:prstGeom prst="straightConnector1">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6412D2CF-DE73-4926-91D8-00FA0E001AAD}"/>
              </a:ext>
            </a:extLst>
          </p:cNvPr>
          <p:cNvCxnSpPr>
            <a:cxnSpLocks/>
          </p:cNvCxnSpPr>
          <p:nvPr/>
        </p:nvCxnSpPr>
        <p:spPr>
          <a:xfrm flipH="1" flipV="1">
            <a:off x="7191704" y="3224163"/>
            <a:ext cx="388212" cy="1"/>
          </a:xfrm>
          <a:prstGeom prst="straightConnector1">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A1D685C4-D28F-30BA-7F62-8687108F8916}"/>
              </a:ext>
            </a:extLst>
          </p:cNvPr>
          <p:cNvCxnSpPr>
            <a:cxnSpLocks/>
          </p:cNvCxnSpPr>
          <p:nvPr/>
        </p:nvCxnSpPr>
        <p:spPr>
          <a:xfrm flipH="1" flipV="1">
            <a:off x="7191164" y="4315359"/>
            <a:ext cx="388212" cy="1"/>
          </a:xfrm>
          <a:prstGeom prst="straightConnector1">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C5C307DE-ADD5-48F7-4522-197BACCB02B3}"/>
              </a:ext>
            </a:extLst>
          </p:cNvPr>
          <p:cNvCxnSpPr>
            <a:cxnSpLocks/>
          </p:cNvCxnSpPr>
          <p:nvPr/>
        </p:nvCxnSpPr>
        <p:spPr>
          <a:xfrm flipH="1" flipV="1">
            <a:off x="7182517" y="5599108"/>
            <a:ext cx="388212" cy="1"/>
          </a:xfrm>
          <a:prstGeom prst="straightConnector1">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277929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C2719D7B-5D50-F35D-6688-B412C669DDFE}"/>
              </a:ext>
            </a:extLst>
          </p:cNvPr>
          <p:cNvSpPr txBox="1">
            <a:spLocks/>
          </p:cNvSpPr>
          <p:nvPr/>
        </p:nvSpPr>
        <p:spPr>
          <a:xfrm>
            <a:off x="486347" y="423227"/>
            <a:ext cx="10972800" cy="590093"/>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US"/>
              <a:t>Leading practices – Manual journal entries</a:t>
            </a:r>
          </a:p>
        </p:txBody>
      </p:sp>
      <p:sp>
        <p:nvSpPr>
          <p:cNvPr id="21" name="Freeform 1002">
            <a:extLst>
              <a:ext uri="{FF2B5EF4-FFF2-40B4-BE49-F238E27FC236}">
                <a16:creationId xmlns:a16="http://schemas.microsoft.com/office/drawing/2014/main" id="{73284367-D99B-E298-709E-5A2D82EEF5DF}"/>
              </a:ext>
            </a:extLst>
          </p:cNvPr>
          <p:cNvSpPr/>
          <p:nvPr/>
        </p:nvSpPr>
        <p:spPr>
          <a:xfrm>
            <a:off x="11279457" y="6511168"/>
            <a:ext cx="124869" cy="153804"/>
          </a:xfrm>
          <a:custGeom>
            <a:avLst/>
            <a:gdLst/>
            <a:ahLst/>
            <a:cxnLst/>
            <a:rect l="0" t="0" r="0" b="0"/>
            <a:pathLst>
              <a:path w="124967" h="153924">
                <a:moveTo>
                  <a:pt x="48005" y="92075"/>
                </a:moveTo>
                <a:lnTo>
                  <a:pt x="104139" y="92075"/>
                </a:lnTo>
                <a:lnTo>
                  <a:pt x="104139" y="60325"/>
                </a:lnTo>
                <a:lnTo>
                  <a:pt x="48005" y="60325"/>
                </a:lnTo>
                <a:lnTo>
                  <a:pt x="48005" y="34925"/>
                </a:lnTo>
                <a:lnTo>
                  <a:pt x="108965" y="34925"/>
                </a:lnTo>
                <a:lnTo>
                  <a:pt x="88138" y="0"/>
                </a:lnTo>
                <a:lnTo>
                  <a:pt x="0" y="0"/>
                </a:lnTo>
                <a:lnTo>
                  <a:pt x="0" y="153924"/>
                </a:lnTo>
                <a:lnTo>
                  <a:pt x="124967" y="153924"/>
                </a:lnTo>
                <a:lnTo>
                  <a:pt x="124967" y="117475"/>
                </a:lnTo>
                <a:lnTo>
                  <a:pt x="48005" y="117475"/>
                </a:lnTo>
                <a:lnTo>
                  <a:pt x="48005" y="92075"/>
                </a:lnTo>
                <a:close/>
              </a:path>
            </a:pathLst>
          </a:custGeom>
          <a:solidFill>
            <a:srgbClr val="2E2E38">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799"/>
          </a:p>
        </p:txBody>
      </p:sp>
      <p:sp>
        <p:nvSpPr>
          <p:cNvPr id="22" name="Freeform 1003">
            <a:extLst>
              <a:ext uri="{FF2B5EF4-FFF2-40B4-BE49-F238E27FC236}">
                <a16:creationId xmlns:a16="http://schemas.microsoft.com/office/drawing/2014/main" id="{BC03130E-D2A3-E244-704C-013D82B66CA4}"/>
              </a:ext>
            </a:extLst>
          </p:cNvPr>
          <p:cNvSpPr/>
          <p:nvPr/>
        </p:nvSpPr>
        <p:spPr>
          <a:xfrm>
            <a:off x="11383007" y="6511168"/>
            <a:ext cx="152281" cy="153804"/>
          </a:xfrm>
          <a:custGeom>
            <a:avLst/>
            <a:gdLst/>
            <a:ahLst/>
            <a:cxnLst/>
            <a:rect l="0" t="0" r="0" b="0"/>
            <a:pathLst>
              <a:path w="152400" h="153924">
                <a:moveTo>
                  <a:pt x="101600" y="0"/>
                </a:moveTo>
                <a:lnTo>
                  <a:pt x="76200" y="50800"/>
                </a:lnTo>
                <a:lnTo>
                  <a:pt x="50800" y="0"/>
                </a:lnTo>
                <a:lnTo>
                  <a:pt x="0" y="0"/>
                </a:lnTo>
                <a:lnTo>
                  <a:pt x="52323" y="92075"/>
                </a:lnTo>
                <a:lnTo>
                  <a:pt x="52323" y="153924"/>
                </a:lnTo>
                <a:lnTo>
                  <a:pt x="98425" y="153924"/>
                </a:lnTo>
                <a:lnTo>
                  <a:pt x="98425" y="92075"/>
                </a:lnTo>
                <a:lnTo>
                  <a:pt x="152400" y="0"/>
                </a:lnTo>
                <a:lnTo>
                  <a:pt x="101600" y="0"/>
                </a:lnTo>
                <a:close/>
              </a:path>
            </a:pathLst>
          </a:custGeom>
          <a:solidFill>
            <a:srgbClr val="2E2E38">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799"/>
          </a:p>
        </p:txBody>
      </p:sp>
      <p:sp>
        <p:nvSpPr>
          <p:cNvPr id="23" name="Freeform 1004">
            <a:extLst>
              <a:ext uri="{FF2B5EF4-FFF2-40B4-BE49-F238E27FC236}">
                <a16:creationId xmlns:a16="http://schemas.microsoft.com/office/drawing/2014/main" id="{85711A66-7307-EF75-F899-1DC25D706E34}"/>
              </a:ext>
            </a:extLst>
          </p:cNvPr>
          <p:cNvSpPr/>
          <p:nvPr/>
        </p:nvSpPr>
        <p:spPr>
          <a:xfrm>
            <a:off x="609887" y="911033"/>
            <a:ext cx="10971847" cy="0"/>
          </a:xfrm>
          <a:custGeom>
            <a:avLst/>
            <a:gdLst/>
            <a:ahLst/>
            <a:cxnLst/>
            <a:rect l="0" t="0" r="0" b="0"/>
            <a:pathLst>
              <a:path w="10980419">
                <a:moveTo>
                  <a:pt x="0" y="0"/>
                </a:moveTo>
                <a:lnTo>
                  <a:pt x="10980419" y="0"/>
                </a:lnTo>
              </a:path>
            </a:pathLst>
          </a:custGeom>
          <a:noFill/>
          <a:ln w="19811" cap="flat" cmpd="sng">
            <a:solidFill>
              <a:srgbClr val="FFE600">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799"/>
          </a:p>
        </p:txBody>
      </p:sp>
      <p:sp>
        <p:nvSpPr>
          <p:cNvPr id="24" name="Rectangle: Top Corners One Rounded and One Snipped 23">
            <a:extLst>
              <a:ext uri="{FF2B5EF4-FFF2-40B4-BE49-F238E27FC236}">
                <a16:creationId xmlns:a16="http://schemas.microsoft.com/office/drawing/2014/main" id="{14520F63-D34E-ADFB-3D6C-5C97E42AB858}"/>
              </a:ext>
            </a:extLst>
          </p:cNvPr>
          <p:cNvSpPr/>
          <p:nvPr/>
        </p:nvSpPr>
        <p:spPr>
          <a:xfrm>
            <a:off x="371283" y="1367107"/>
            <a:ext cx="3598436" cy="5136620"/>
          </a:xfrm>
          <a:prstGeom prst="snipRoundRect">
            <a:avLst>
              <a:gd name="adj1" fmla="val 6188"/>
              <a:gd name="adj2" fmla="val 0"/>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599"/>
          </a:p>
        </p:txBody>
      </p:sp>
      <p:sp>
        <p:nvSpPr>
          <p:cNvPr id="25" name="TextBox 24">
            <a:extLst>
              <a:ext uri="{FF2B5EF4-FFF2-40B4-BE49-F238E27FC236}">
                <a16:creationId xmlns:a16="http://schemas.microsoft.com/office/drawing/2014/main" id="{A9888DEC-055A-AB6C-9615-562ED4344714}"/>
              </a:ext>
            </a:extLst>
          </p:cNvPr>
          <p:cNvSpPr txBox="1"/>
          <p:nvPr/>
        </p:nvSpPr>
        <p:spPr>
          <a:xfrm>
            <a:off x="371283" y="1640654"/>
            <a:ext cx="3592641" cy="4027210"/>
          </a:xfrm>
          <a:prstGeom prst="rect">
            <a:avLst/>
          </a:prstGeom>
          <a:noFill/>
        </p:spPr>
        <p:txBody>
          <a:bodyPr wrap="square" rtlCol="0">
            <a:spAutoFit/>
          </a:bodyPr>
          <a:lstStyle/>
          <a:p>
            <a:pPr defTabSz="913943">
              <a:spcAft>
                <a:spcPts val="600"/>
              </a:spcAft>
              <a:buClr>
                <a:srgbClr val="2E2E38"/>
              </a:buClr>
              <a:buSzPct val="160000"/>
              <a:defRPr/>
            </a:pPr>
            <a:r>
              <a:rPr lang="en-IN" sz="1049" b="1">
                <a:solidFill>
                  <a:srgbClr val="2E2E38"/>
                </a:solidFill>
                <a:latin typeface="EYInterstate" panose="02000503020000020004" pitchFamily="2" charset="0"/>
              </a:rPr>
              <a:t>Global policies </a:t>
            </a:r>
            <a:r>
              <a:rPr lang="en-IN" sz="1049">
                <a:solidFill>
                  <a:srgbClr val="2E2E38"/>
                </a:solidFill>
                <a:latin typeface="EYInterstate Light"/>
              </a:rPr>
              <a:t>to be formulated and implemented across organization considering:</a:t>
            </a:r>
          </a:p>
          <a:p>
            <a:pPr marL="172951" indent="-172951" defTabSz="913943">
              <a:spcAft>
                <a:spcPts val="600"/>
              </a:spcAft>
              <a:buClr>
                <a:srgbClr val="2E2E38"/>
              </a:buClr>
              <a:buSzPct val="160000"/>
              <a:buFont typeface="EYInterstate Light" panose="02000506000000020004" pitchFamily="2" charset="0"/>
              <a:buChar char="•"/>
              <a:defRPr/>
            </a:pPr>
            <a:endParaRPr lang="en-IN" sz="100">
              <a:solidFill>
                <a:srgbClr val="2E2E38"/>
              </a:solidFill>
              <a:latin typeface="EYInterstate Light"/>
            </a:endParaRP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Assignment of </a:t>
            </a:r>
            <a:r>
              <a:rPr lang="en-IN" sz="1049" b="1">
                <a:solidFill>
                  <a:srgbClr val="2E2E38"/>
                </a:solidFill>
                <a:latin typeface="EYInterstate" panose="02000503020000020004" pitchFamily="2" charset="0"/>
              </a:rPr>
              <a:t>user access </a:t>
            </a:r>
            <a:r>
              <a:rPr lang="en-IN" sz="1049">
                <a:solidFill>
                  <a:srgbClr val="2E2E38"/>
                </a:solidFill>
                <a:latin typeface="EYInterstate Light"/>
              </a:rPr>
              <a:t>as a Journal Preparer or Approver requires requisite approvals depending upon the nature of posting and impacted teams</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Approver rights </a:t>
            </a:r>
            <a:r>
              <a:rPr lang="en-IN" sz="1049">
                <a:solidFill>
                  <a:srgbClr val="2E2E38"/>
                </a:solidFill>
                <a:latin typeface="EYInterstate Light"/>
              </a:rPr>
              <a:t>granted to only those who have formal responsibility for reviewing</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Segregation of duties </a:t>
            </a:r>
            <a:r>
              <a:rPr lang="en-IN" sz="1049">
                <a:solidFill>
                  <a:srgbClr val="2E2E38"/>
                </a:solidFill>
                <a:latin typeface="EYInterstate Light"/>
              </a:rPr>
              <a:t>between Preparer and Approver using business rules in the General Ledger system</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The level of </a:t>
            </a:r>
            <a:r>
              <a:rPr lang="en-IN" sz="1049" b="1">
                <a:solidFill>
                  <a:srgbClr val="2E2E38"/>
                </a:solidFill>
                <a:latin typeface="EYInterstate" panose="02000503020000020004" pitchFamily="2" charset="0"/>
              </a:rPr>
              <a:t>Chart of Accounts </a:t>
            </a:r>
            <a:r>
              <a:rPr lang="en-IN" sz="1049">
                <a:solidFill>
                  <a:srgbClr val="2E2E38"/>
                </a:solidFill>
                <a:latin typeface="EYInterstate Light"/>
              </a:rPr>
              <a:t>(COA) access assigned to all users</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Use of </a:t>
            </a:r>
            <a:r>
              <a:rPr lang="en-IN" sz="1049" b="1">
                <a:solidFill>
                  <a:srgbClr val="2E2E38"/>
                </a:solidFill>
                <a:latin typeface="EYInterstate" panose="02000503020000020004" pitchFamily="2" charset="0"/>
              </a:rPr>
              <a:t>manual adjustment accounts </a:t>
            </a:r>
            <a:r>
              <a:rPr lang="en-IN" sz="1049">
                <a:solidFill>
                  <a:srgbClr val="2E2E38"/>
                </a:solidFill>
                <a:latin typeface="EYInterstate Light"/>
              </a:rPr>
              <a:t>rather than posting directly to reconciliation accounts</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Define journal </a:t>
            </a:r>
            <a:r>
              <a:rPr lang="en-IN" sz="1049">
                <a:solidFill>
                  <a:srgbClr val="2E2E38"/>
                </a:solidFill>
                <a:latin typeface="EYInterstate" panose="02000503020000020004" pitchFamily="2" charset="0"/>
              </a:rPr>
              <a:t>posting thresholds </a:t>
            </a:r>
            <a:r>
              <a:rPr lang="en-IN" sz="1049">
                <a:solidFill>
                  <a:srgbClr val="2E2E38"/>
                </a:solidFill>
                <a:latin typeface="EYInterstate Light"/>
              </a:rPr>
              <a:t>(e.g. no posting below $1k)</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Create </a:t>
            </a:r>
            <a:r>
              <a:rPr lang="en-IN" sz="1049" b="1">
                <a:solidFill>
                  <a:srgbClr val="2E2E38"/>
                </a:solidFill>
                <a:latin typeface="EYInterstate" panose="02000503020000020004" pitchFamily="2" charset="0"/>
              </a:rPr>
              <a:t>approval matrix </a:t>
            </a:r>
            <a:r>
              <a:rPr lang="en-IN" sz="1049">
                <a:solidFill>
                  <a:srgbClr val="2E2E38"/>
                </a:solidFill>
                <a:latin typeface="EYInterstate Light"/>
              </a:rPr>
              <a:t>(e.g. one level approval till $10k, additional level approvals for more that $10k)</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Implement journal </a:t>
            </a:r>
            <a:r>
              <a:rPr lang="en-IN" sz="1049" b="1">
                <a:solidFill>
                  <a:srgbClr val="2E2E38"/>
                </a:solidFill>
                <a:latin typeface="EYInterstate" panose="02000503020000020004" pitchFamily="2" charset="0"/>
              </a:rPr>
              <a:t>thresholds</a:t>
            </a:r>
            <a:r>
              <a:rPr lang="en-IN" sz="1049">
                <a:solidFill>
                  <a:srgbClr val="2E2E38"/>
                </a:solidFill>
                <a:latin typeface="EYInterstate Light"/>
              </a:rPr>
              <a:t> during </a:t>
            </a:r>
            <a:r>
              <a:rPr lang="en-IN" sz="1049" b="1">
                <a:solidFill>
                  <a:srgbClr val="2E2E38"/>
                </a:solidFill>
                <a:latin typeface="EYInterstate" panose="02000503020000020004" pitchFamily="2" charset="0"/>
              </a:rPr>
              <a:t>period close </a:t>
            </a:r>
            <a:r>
              <a:rPr lang="en-IN" sz="1049">
                <a:solidFill>
                  <a:srgbClr val="2E2E38"/>
                </a:solidFill>
                <a:latin typeface="EYInterstate Light"/>
              </a:rPr>
              <a:t>(WD1 to WD5) </a:t>
            </a:r>
          </a:p>
        </p:txBody>
      </p:sp>
      <p:sp>
        <p:nvSpPr>
          <p:cNvPr id="26" name="Rectangle: Top Corners One Rounded and One Snipped 25">
            <a:extLst>
              <a:ext uri="{FF2B5EF4-FFF2-40B4-BE49-F238E27FC236}">
                <a16:creationId xmlns:a16="http://schemas.microsoft.com/office/drawing/2014/main" id="{840780BB-21CE-0CFB-8D8F-7538E89B584B}"/>
              </a:ext>
            </a:extLst>
          </p:cNvPr>
          <p:cNvSpPr/>
          <p:nvPr/>
        </p:nvSpPr>
        <p:spPr>
          <a:xfrm>
            <a:off x="4096069" y="1367107"/>
            <a:ext cx="3598436" cy="5136620"/>
          </a:xfrm>
          <a:prstGeom prst="snipRoundRect">
            <a:avLst>
              <a:gd name="adj1" fmla="val 6188"/>
              <a:gd name="adj2" fmla="val 0"/>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599"/>
          </a:p>
        </p:txBody>
      </p:sp>
      <p:sp>
        <p:nvSpPr>
          <p:cNvPr id="27" name="Rectangle: Top Corners One Rounded and One Snipped 26">
            <a:extLst>
              <a:ext uri="{FF2B5EF4-FFF2-40B4-BE49-F238E27FC236}">
                <a16:creationId xmlns:a16="http://schemas.microsoft.com/office/drawing/2014/main" id="{8624A835-3DE2-9506-A4FC-34DE50D55907}"/>
              </a:ext>
            </a:extLst>
          </p:cNvPr>
          <p:cNvSpPr/>
          <p:nvPr/>
        </p:nvSpPr>
        <p:spPr>
          <a:xfrm>
            <a:off x="7820856" y="1367107"/>
            <a:ext cx="3598436" cy="5136620"/>
          </a:xfrm>
          <a:prstGeom prst="snipRoundRect">
            <a:avLst>
              <a:gd name="adj1" fmla="val 6188"/>
              <a:gd name="adj2" fmla="val 0"/>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599"/>
          </a:p>
        </p:txBody>
      </p:sp>
      <p:sp>
        <p:nvSpPr>
          <p:cNvPr id="28" name="TextBox 27">
            <a:extLst>
              <a:ext uri="{FF2B5EF4-FFF2-40B4-BE49-F238E27FC236}">
                <a16:creationId xmlns:a16="http://schemas.microsoft.com/office/drawing/2014/main" id="{3844ADC4-2A16-F79A-F634-3CA68AAF82A9}"/>
              </a:ext>
            </a:extLst>
          </p:cNvPr>
          <p:cNvSpPr txBox="1"/>
          <p:nvPr/>
        </p:nvSpPr>
        <p:spPr>
          <a:xfrm>
            <a:off x="4096069" y="1640654"/>
            <a:ext cx="3592641" cy="4488379"/>
          </a:xfrm>
          <a:prstGeom prst="rect">
            <a:avLst/>
          </a:prstGeom>
          <a:noFill/>
        </p:spPr>
        <p:txBody>
          <a:bodyPr wrap="square" rtlCol="0">
            <a:spAutoFit/>
          </a:bodyPr>
          <a:lstStyle/>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Standardized Templates </a:t>
            </a:r>
            <a:r>
              <a:rPr lang="en-IN" sz="1049">
                <a:solidFill>
                  <a:srgbClr val="2E2E38"/>
                </a:solidFill>
                <a:latin typeface="EYInterstate Light"/>
              </a:rPr>
              <a:t>for JEs, Don’t fit every journal into ONE standard template</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GL Accounts </a:t>
            </a:r>
            <a:r>
              <a:rPr lang="en-IN" sz="1049">
                <a:solidFill>
                  <a:srgbClr val="2E2E38"/>
                </a:solidFill>
                <a:latin typeface="EYInterstate Light"/>
              </a:rPr>
              <a:t>should be </a:t>
            </a:r>
            <a:r>
              <a:rPr lang="en-IN" sz="1049" b="1">
                <a:solidFill>
                  <a:srgbClr val="2E2E38"/>
                </a:solidFill>
                <a:latin typeface="EYInterstate" panose="02000503020000020004" pitchFamily="2" charset="0"/>
              </a:rPr>
              <a:t>consistent</a:t>
            </a:r>
            <a:r>
              <a:rPr lang="en-IN" sz="1049">
                <a:solidFill>
                  <a:srgbClr val="2E2E38"/>
                </a:solidFill>
                <a:latin typeface="EYInterstate Light"/>
              </a:rPr>
              <a:t> across the enterprise including field attributes</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Add </a:t>
            </a:r>
            <a:r>
              <a:rPr lang="en-IN" sz="1049" b="1">
                <a:solidFill>
                  <a:srgbClr val="2E2E38"/>
                </a:solidFill>
                <a:latin typeface="EYInterstate" panose="02000503020000020004" pitchFamily="2" charset="0"/>
              </a:rPr>
              <a:t>validation rules </a:t>
            </a:r>
            <a:r>
              <a:rPr lang="en-IN" sz="1049">
                <a:solidFill>
                  <a:srgbClr val="2E2E38"/>
                </a:solidFill>
                <a:latin typeface="EYInterstate Light"/>
              </a:rPr>
              <a:t>within the JE template</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Integration</a:t>
            </a:r>
            <a:r>
              <a:rPr lang="en-IN" sz="1049">
                <a:solidFill>
                  <a:srgbClr val="2E2E38"/>
                </a:solidFill>
                <a:latin typeface="EYInterstate Light"/>
              </a:rPr>
              <a:t> of journal template and ERP</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Leverage </a:t>
            </a:r>
            <a:r>
              <a:rPr lang="en-IN" sz="1049" b="1">
                <a:solidFill>
                  <a:srgbClr val="2E2E38"/>
                </a:solidFill>
                <a:latin typeface="EYInterstate" panose="02000503020000020004" pitchFamily="2" charset="0"/>
              </a:rPr>
              <a:t>automated</a:t>
            </a:r>
            <a:r>
              <a:rPr lang="en-IN" sz="1049">
                <a:solidFill>
                  <a:srgbClr val="2E2E38"/>
                </a:solidFill>
                <a:latin typeface="EYInterstate Light"/>
              </a:rPr>
              <a:t> recurring entries and accruals along with approval workflow</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Address and solve Overdue Journals with Journal Entry Automation</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Add adequate </a:t>
            </a:r>
            <a:r>
              <a:rPr lang="en-IN" sz="1049" b="1">
                <a:solidFill>
                  <a:srgbClr val="2E2E38"/>
                </a:solidFill>
                <a:latin typeface="EYInterstate" panose="02000503020000020004" pitchFamily="2" charset="0"/>
              </a:rPr>
              <a:t>supporting documentation</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Apply </a:t>
            </a:r>
            <a:r>
              <a:rPr lang="en-IN" sz="1049" b="1">
                <a:solidFill>
                  <a:srgbClr val="2E2E38"/>
                </a:solidFill>
                <a:latin typeface="EYInterstate" panose="02000503020000020004" pitchFamily="2" charset="0"/>
              </a:rPr>
              <a:t>materiality thresholds </a:t>
            </a:r>
            <a:r>
              <a:rPr lang="en-IN" sz="1049">
                <a:solidFill>
                  <a:srgbClr val="2E2E38"/>
                </a:solidFill>
                <a:latin typeface="EYInterstate Light"/>
              </a:rPr>
              <a:t>accurately for manual journal entries: Review and confirm whether each manual JE is required separately or there is opportunity to combine entries</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Document the process </a:t>
            </a:r>
            <a:r>
              <a:rPr lang="en-IN" sz="1049">
                <a:solidFill>
                  <a:srgbClr val="2E2E38"/>
                </a:solidFill>
                <a:latin typeface="EYInterstate Light"/>
              </a:rPr>
              <a:t>for the specific journal entry posting </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Periodic review </a:t>
            </a:r>
            <a:r>
              <a:rPr lang="en-IN" sz="1049">
                <a:solidFill>
                  <a:srgbClr val="2E2E38"/>
                </a:solidFill>
                <a:latin typeface="EYInterstate Light"/>
              </a:rPr>
              <a:t>of manual journal entries to access for automation opportunities </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Journal Entries should have status, change history, audit trail and control documented in the system</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Maintain and review </a:t>
            </a:r>
            <a:r>
              <a:rPr lang="en-IN" sz="1049" b="1">
                <a:solidFill>
                  <a:srgbClr val="2E2E38"/>
                </a:solidFill>
                <a:latin typeface="EYInterstate" panose="02000503020000020004" pitchFamily="2" charset="0"/>
              </a:rPr>
              <a:t>accuracy tracker</a:t>
            </a:r>
          </a:p>
        </p:txBody>
      </p:sp>
      <p:sp>
        <p:nvSpPr>
          <p:cNvPr id="29" name="TextBox 28">
            <a:extLst>
              <a:ext uri="{FF2B5EF4-FFF2-40B4-BE49-F238E27FC236}">
                <a16:creationId xmlns:a16="http://schemas.microsoft.com/office/drawing/2014/main" id="{7D7F63E4-1CE1-EC93-54F5-D609B465260E}"/>
              </a:ext>
            </a:extLst>
          </p:cNvPr>
          <p:cNvSpPr txBox="1"/>
          <p:nvPr/>
        </p:nvSpPr>
        <p:spPr>
          <a:xfrm>
            <a:off x="7820855" y="1640654"/>
            <a:ext cx="3598435" cy="2090509"/>
          </a:xfrm>
          <a:prstGeom prst="rect">
            <a:avLst/>
          </a:prstGeom>
          <a:noFill/>
        </p:spPr>
        <p:txBody>
          <a:bodyPr wrap="square" rtlCol="0">
            <a:spAutoFit/>
          </a:bodyPr>
          <a:lstStyle/>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Centralized &amp; Automated </a:t>
            </a:r>
            <a:r>
              <a:rPr lang="en-IN" sz="1049">
                <a:solidFill>
                  <a:srgbClr val="2E2E38"/>
                </a:solidFill>
                <a:latin typeface="EYInterstate Light"/>
              </a:rPr>
              <a:t>Processes</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Enhance </a:t>
            </a:r>
            <a:r>
              <a:rPr lang="en-IN" sz="1049" b="1">
                <a:solidFill>
                  <a:srgbClr val="2E2E38"/>
                </a:solidFill>
                <a:latin typeface="EYInterstate" panose="02000503020000020004" pitchFamily="2" charset="0"/>
              </a:rPr>
              <a:t>Audit Readiness </a:t>
            </a:r>
            <a:r>
              <a:rPr lang="en-IN" sz="1049">
                <a:solidFill>
                  <a:srgbClr val="2E2E38"/>
                </a:solidFill>
                <a:latin typeface="EYInterstate Light"/>
              </a:rPr>
              <a:t>&amp; Collaboration</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Single, </a:t>
            </a:r>
            <a:r>
              <a:rPr lang="en-IN" sz="1049" b="1">
                <a:solidFill>
                  <a:srgbClr val="2E2E38"/>
                </a:solidFill>
                <a:latin typeface="EYInterstate" panose="02000503020000020004" pitchFamily="2" charset="0"/>
              </a:rPr>
              <a:t>global chart of accounts </a:t>
            </a:r>
            <a:r>
              <a:rPr lang="en-IN" sz="1049">
                <a:solidFill>
                  <a:srgbClr val="2E2E38"/>
                </a:solidFill>
                <a:latin typeface="EYInterstate Light"/>
              </a:rPr>
              <a:t>adopted to simplify mapping</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Use </a:t>
            </a:r>
            <a:r>
              <a:rPr lang="en-IN" sz="1049" b="1">
                <a:solidFill>
                  <a:srgbClr val="2E2E38"/>
                </a:solidFill>
                <a:latin typeface="EYInterstate" panose="02000503020000020004" pitchFamily="2" charset="0"/>
              </a:rPr>
              <a:t>parallel ledger </a:t>
            </a:r>
            <a:r>
              <a:rPr lang="en-IN" sz="1049">
                <a:solidFill>
                  <a:srgbClr val="2E2E38"/>
                </a:solidFill>
                <a:latin typeface="EYInterstate Light"/>
              </a:rPr>
              <a:t>to book statutory postings (as opposed to creating additional G/L accounts for statutory books)</a:t>
            </a:r>
          </a:p>
          <a:p>
            <a:pPr marL="172951" indent="-172951" defTabSz="913943">
              <a:spcAft>
                <a:spcPts val="600"/>
              </a:spcAft>
              <a:buClr>
                <a:srgbClr val="2E2E38"/>
              </a:buClr>
              <a:buSzPct val="160000"/>
              <a:buFont typeface="EYInterstate Light" panose="02000506000000020004" pitchFamily="2" charset="0"/>
              <a:buChar char="•"/>
              <a:defRPr/>
            </a:pPr>
            <a:r>
              <a:rPr lang="en-IN" sz="1049">
                <a:solidFill>
                  <a:srgbClr val="2E2E38"/>
                </a:solidFill>
                <a:latin typeface="EYInterstate Light"/>
              </a:rPr>
              <a:t>All the policy documents and training materials to be saved at common </a:t>
            </a:r>
            <a:r>
              <a:rPr lang="en-IN" sz="1049" b="1">
                <a:solidFill>
                  <a:srgbClr val="2E2E38"/>
                </a:solidFill>
                <a:latin typeface="EYInterstate" panose="02000503020000020004" pitchFamily="2" charset="0"/>
              </a:rPr>
              <a:t>share point </a:t>
            </a:r>
            <a:r>
              <a:rPr lang="en-IN" sz="1049">
                <a:solidFill>
                  <a:srgbClr val="2E2E38"/>
                </a:solidFill>
                <a:latin typeface="EYInterstate Light"/>
              </a:rPr>
              <a:t>with easy accessibility</a:t>
            </a:r>
          </a:p>
          <a:p>
            <a:pPr marL="172951" indent="-172951" defTabSz="913943">
              <a:spcAft>
                <a:spcPts val="600"/>
              </a:spcAft>
              <a:buClr>
                <a:srgbClr val="2E2E38"/>
              </a:buClr>
              <a:buSzPct val="160000"/>
              <a:buFont typeface="EYInterstate Light" panose="02000506000000020004" pitchFamily="2" charset="0"/>
              <a:buChar char="•"/>
              <a:defRPr/>
            </a:pPr>
            <a:r>
              <a:rPr lang="en-IN" sz="1049" b="1">
                <a:solidFill>
                  <a:srgbClr val="2E2E38"/>
                </a:solidFill>
                <a:latin typeface="EYInterstate" panose="02000503020000020004" pitchFamily="2" charset="0"/>
              </a:rPr>
              <a:t>Software/Tools</a:t>
            </a:r>
            <a:r>
              <a:rPr lang="en-IN" sz="1049">
                <a:solidFill>
                  <a:srgbClr val="2E2E38"/>
                </a:solidFill>
                <a:latin typeface="EYInterstate" panose="02000503020000020004" pitchFamily="2" charset="0"/>
              </a:rPr>
              <a:t>:</a:t>
            </a:r>
            <a:r>
              <a:rPr lang="en-IN" sz="1049">
                <a:solidFill>
                  <a:srgbClr val="2E2E38"/>
                </a:solidFill>
                <a:latin typeface="EYInterstate Light"/>
              </a:rPr>
              <a:t> </a:t>
            </a:r>
            <a:r>
              <a:rPr lang="en-IN" sz="1049" err="1">
                <a:solidFill>
                  <a:srgbClr val="2E2E38"/>
                </a:solidFill>
                <a:latin typeface="EYInterstate Light"/>
              </a:rPr>
              <a:t>BlackLine</a:t>
            </a:r>
            <a:r>
              <a:rPr lang="en-IN" sz="1049">
                <a:solidFill>
                  <a:srgbClr val="2E2E38"/>
                </a:solidFill>
                <a:latin typeface="EYInterstate Light"/>
              </a:rPr>
              <a:t>, </a:t>
            </a:r>
            <a:r>
              <a:rPr lang="en-IN" sz="1049" err="1">
                <a:solidFill>
                  <a:srgbClr val="2E2E38"/>
                </a:solidFill>
                <a:latin typeface="EYInterstate Light"/>
              </a:rPr>
              <a:t>Trintech</a:t>
            </a:r>
            <a:r>
              <a:rPr lang="en-IN" sz="1049">
                <a:solidFill>
                  <a:srgbClr val="2E2E38"/>
                </a:solidFill>
                <a:latin typeface="EYInterstate Light"/>
              </a:rPr>
              <a:t>, RPA etc.</a:t>
            </a:r>
          </a:p>
        </p:txBody>
      </p:sp>
      <p:grpSp>
        <p:nvGrpSpPr>
          <p:cNvPr id="30" name="Group 29">
            <a:extLst>
              <a:ext uri="{FF2B5EF4-FFF2-40B4-BE49-F238E27FC236}">
                <a16:creationId xmlns:a16="http://schemas.microsoft.com/office/drawing/2014/main" id="{66715542-FFE3-9ABE-E9F0-4939F48376F4}"/>
              </a:ext>
            </a:extLst>
          </p:cNvPr>
          <p:cNvGrpSpPr/>
          <p:nvPr/>
        </p:nvGrpSpPr>
        <p:grpSpPr>
          <a:xfrm>
            <a:off x="371282" y="1140740"/>
            <a:ext cx="10862747" cy="463872"/>
            <a:chOff x="371475" y="1139548"/>
            <a:chExt cx="10868405" cy="464114"/>
          </a:xfrm>
        </p:grpSpPr>
        <p:sp>
          <p:nvSpPr>
            <p:cNvPr id="31" name="Isosceles Triangle 30">
              <a:extLst>
                <a:ext uri="{FF2B5EF4-FFF2-40B4-BE49-F238E27FC236}">
                  <a16:creationId xmlns:a16="http://schemas.microsoft.com/office/drawing/2014/main" id="{4C9F1D32-9BA4-AA0F-2B7B-9EB8043B00AC}"/>
                </a:ext>
              </a:extLst>
            </p:cNvPr>
            <p:cNvSpPr/>
            <p:nvPr/>
          </p:nvSpPr>
          <p:spPr>
            <a:xfrm>
              <a:off x="3555582" y="1139548"/>
              <a:ext cx="230305" cy="233749"/>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2" name="Parallelogram 31">
              <a:extLst>
                <a:ext uri="{FF2B5EF4-FFF2-40B4-BE49-F238E27FC236}">
                  <a16:creationId xmlns:a16="http://schemas.microsoft.com/office/drawing/2014/main" id="{EDA7D8E7-1B1A-4EB4-226F-80E806CB4735}"/>
                </a:ext>
              </a:extLst>
            </p:cNvPr>
            <p:cNvSpPr/>
            <p:nvPr/>
          </p:nvSpPr>
          <p:spPr>
            <a:xfrm>
              <a:off x="949469" y="1139548"/>
              <a:ext cx="2720695" cy="464114"/>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3" name="Parallelogram 32">
              <a:extLst>
                <a:ext uri="{FF2B5EF4-FFF2-40B4-BE49-F238E27FC236}">
                  <a16:creationId xmlns:a16="http://schemas.microsoft.com/office/drawing/2014/main" id="{BE4CCD06-4A4F-197C-052F-4A6FC60B058C}"/>
                </a:ext>
              </a:extLst>
            </p:cNvPr>
            <p:cNvSpPr/>
            <p:nvPr/>
          </p:nvSpPr>
          <p:spPr>
            <a:xfrm>
              <a:off x="785015" y="1139548"/>
              <a:ext cx="2842376" cy="464114"/>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4" name="Rectangle: Top Corners One Rounded and One Snipped 33">
              <a:extLst>
                <a:ext uri="{FF2B5EF4-FFF2-40B4-BE49-F238E27FC236}">
                  <a16:creationId xmlns:a16="http://schemas.microsoft.com/office/drawing/2014/main" id="{E5A4FDF1-090F-B603-872D-92F68852913A}"/>
                </a:ext>
              </a:extLst>
            </p:cNvPr>
            <p:cNvSpPr/>
            <p:nvPr/>
          </p:nvSpPr>
          <p:spPr>
            <a:xfrm>
              <a:off x="371475" y="1139548"/>
              <a:ext cx="734278" cy="464114"/>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5" name="TextBox 34">
              <a:extLst>
                <a:ext uri="{FF2B5EF4-FFF2-40B4-BE49-F238E27FC236}">
                  <a16:creationId xmlns:a16="http://schemas.microsoft.com/office/drawing/2014/main" id="{BD5174CA-7FB8-2A4C-F38F-7C9DDCAD6376}"/>
                </a:ext>
              </a:extLst>
            </p:cNvPr>
            <p:cNvSpPr txBox="1"/>
            <p:nvPr/>
          </p:nvSpPr>
          <p:spPr>
            <a:xfrm>
              <a:off x="535594" y="1192793"/>
              <a:ext cx="2279545" cy="369332"/>
            </a:xfrm>
            <a:prstGeom prst="rect">
              <a:avLst/>
            </a:prstGeom>
            <a:noFill/>
          </p:spPr>
          <p:txBody>
            <a:bodyPr wrap="square" rtlCol="0">
              <a:spAutoFit/>
            </a:bodyPr>
            <a:lstStyle/>
            <a:p>
              <a:r>
                <a:rPr lang="en-IN" sz="1799">
                  <a:solidFill>
                    <a:schemeClr val="bg1"/>
                  </a:solidFill>
                  <a:latin typeface="EYInterstate" panose="02000503020000020004" pitchFamily="2" charset="0"/>
                </a:rPr>
                <a:t>Policies</a:t>
              </a:r>
            </a:p>
          </p:txBody>
        </p:sp>
        <p:sp>
          <p:nvSpPr>
            <p:cNvPr id="36" name="Isosceles Triangle 35">
              <a:extLst>
                <a:ext uri="{FF2B5EF4-FFF2-40B4-BE49-F238E27FC236}">
                  <a16:creationId xmlns:a16="http://schemas.microsoft.com/office/drawing/2014/main" id="{5F208D4D-4F92-F880-CF70-2F3BCCC6DECB}"/>
                </a:ext>
              </a:extLst>
            </p:cNvPr>
            <p:cNvSpPr/>
            <p:nvPr/>
          </p:nvSpPr>
          <p:spPr>
            <a:xfrm>
              <a:off x="7281497" y="1139548"/>
              <a:ext cx="230699" cy="233749"/>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7" name="Parallelogram 36">
              <a:extLst>
                <a:ext uri="{FF2B5EF4-FFF2-40B4-BE49-F238E27FC236}">
                  <a16:creationId xmlns:a16="http://schemas.microsoft.com/office/drawing/2014/main" id="{0B20A6CD-3559-121F-6C47-0E591913B6D1}"/>
                </a:ext>
              </a:extLst>
            </p:cNvPr>
            <p:cNvSpPr/>
            <p:nvPr/>
          </p:nvSpPr>
          <p:spPr>
            <a:xfrm>
              <a:off x="4676196" y="1139548"/>
              <a:ext cx="2720695" cy="464114"/>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8" name="Parallelogram 37">
              <a:extLst>
                <a:ext uri="{FF2B5EF4-FFF2-40B4-BE49-F238E27FC236}">
                  <a16:creationId xmlns:a16="http://schemas.microsoft.com/office/drawing/2014/main" id="{2460F5CD-E35D-70B9-3C59-41F081C2B77A}"/>
                </a:ext>
              </a:extLst>
            </p:cNvPr>
            <p:cNvSpPr/>
            <p:nvPr/>
          </p:nvSpPr>
          <p:spPr>
            <a:xfrm>
              <a:off x="4511741" y="1139548"/>
              <a:ext cx="2842375" cy="464114"/>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39" name="Rectangle: Top Corners One Rounded and One Snipped 38">
              <a:extLst>
                <a:ext uri="{FF2B5EF4-FFF2-40B4-BE49-F238E27FC236}">
                  <a16:creationId xmlns:a16="http://schemas.microsoft.com/office/drawing/2014/main" id="{1225B224-9968-59E4-C21F-864A21897883}"/>
                </a:ext>
              </a:extLst>
            </p:cNvPr>
            <p:cNvSpPr/>
            <p:nvPr/>
          </p:nvSpPr>
          <p:spPr>
            <a:xfrm>
              <a:off x="4098201" y="1139548"/>
              <a:ext cx="734278" cy="464114"/>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40" name="TextBox 39">
              <a:extLst>
                <a:ext uri="{FF2B5EF4-FFF2-40B4-BE49-F238E27FC236}">
                  <a16:creationId xmlns:a16="http://schemas.microsoft.com/office/drawing/2014/main" id="{AF463F83-5AA1-9117-BC20-C4470BE28FB1}"/>
                </a:ext>
              </a:extLst>
            </p:cNvPr>
            <p:cNvSpPr txBox="1"/>
            <p:nvPr/>
          </p:nvSpPr>
          <p:spPr>
            <a:xfrm>
              <a:off x="4213009" y="1192793"/>
              <a:ext cx="2124965" cy="369332"/>
            </a:xfrm>
            <a:prstGeom prst="rect">
              <a:avLst/>
            </a:prstGeom>
            <a:noFill/>
          </p:spPr>
          <p:txBody>
            <a:bodyPr wrap="square" rtlCol="0">
              <a:spAutoFit/>
            </a:bodyPr>
            <a:lstStyle/>
            <a:p>
              <a:r>
                <a:rPr lang="en-IN" sz="1799">
                  <a:solidFill>
                    <a:schemeClr val="bg1"/>
                  </a:solidFill>
                  <a:latin typeface="EYInterstate" panose="02000503020000020004" pitchFamily="2" charset="0"/>
                </a:rPr>
                <a:t> Process</a:t>
              </a:r>
            </a:p>
          </p:txBody>
        </p:sp>
        <p:sp>
          <p:nvSpPr>
            <p:cNvPr id="41" name="Isosceles Triangle 40">
              <a:extLst>
                <a:ext uri="{FF2B5EF4-FFF2-40B4-BE49-F238E27FC236}">
                  <a16:creationId xmlns:a16="http://schemas.microsoft.com/office/drawing/2014/main" id="{DE44AA63-59B8-00CF-5CEE-E6AB4AEA055A}"/>
                </a:ext>
              </a:extLst>
            </p:cNvPr>
            <p:cNvSpPr/>
            <p:nvPr/>
          </p:nvSpPr>
          <p:spPr>
            <a:xfrm>
              <a:off x="11009181" y="1139548"/>
              <a:ext cx="230699" cy="233749"/>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42" name="Parallelogram 41">
              <a:extLst>
                <a:ext uri="{FF2B5EF4-FFF2-40B4-BE49-F238E27FC236}">
                  <a16:creationId xmlns:a16="http://schemas.microsoft.com/office/drawing/2014/main" id="{108DC349-95EF-CD8A-CF35-48453B079C82}"/>
                </a:ext>
              </a:extLst>
            </p:cNvPr>
            <p:cNvSpPr/>
            <p:nvPr/>
          </p:nvSpPr>
          <p:spPr>
            <a:xfrm>
              <a:off x="8402922" y="1139548"/>
              <a:ext cx="2720695" cy="464114"/>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43" name="Parallelogram 42">
              <a:extLst>
                <a:ext uri="{FF2B5EF4-FFF2-40B4-BE49-F238E27FC236}">
                  <a16:creationId xmlns:a16="http://schemas.microsoft.com/office/drawing/2014/main" id="{8A311D68-ED7C-9D48-C5D0-F35F072864A1}"/>
                </a:ext>
              </a:extLst>
            </p:cNvPr>
            <p:cNvSpPr/>
            <p:nvPr/>
          </p:nvSpPr>
          <p:spPr>
            <a:xfrm>
              <a:off x="8238467" y="1139548"/>
              <a:ext cx="2842375" cy="464114"/>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44" name="Rectangle: Top Corners One Rounded and One Snipped 43">
              <a:extLst>
                <a:ext uri="{FF2B5EF4-FFF2-40B4-BE49-F238E27FC236}">
                  <a16:creationId xmlns:a16="http://schemas.microsoft.com/office/drawing/2014/main" id="{753C331A-8DD5-F929-8074-819E8C9F69CE}"/>
                </a:ext>
              </a:extLst>
            </p:cNvPr>
            <p:cNvSpPr/>
            <p:nvPr/>
          </p:nvSpPr>
          <p:spPr>
            <a:xfrm>
              <a:off x="7824928" y="1139548"/>
              <a:ext cx="734278" cy="464114"/>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499"/>
            </a:p>
          </p:txBody>
        </p:sp>
        <p:sp>
          <p:nvSpPr>
            <p:cNvPr id="45" name="TextBox 44">
              <a:extLst>
                <a:ext uri="{FF2B5EF4-FFF2-40B4-BE49-F238E27FC236}">
                  <a16:creationId xmlns:a16="http://schemas.microsoft.com/office/drawing/2014/main" id="{C9807225-06ED-857F-4F83-9BF84B26DCBE}"/>
                </a:ext>
              </a:extLst>
            </p:cNvPr>
            <p:cNvSpPr txBox="1"/>
            <p:nvPr/>
          </p:nvSpPr>
          <p:spPr>
            <a:xfrm>
              <a:off x="7938094" y="1192793"/>
              <a:ext cx="2284671" cy="369332"/>
            </a:xfrm>
            <a:prstGeom prst="rect">
              <a:avLst/>
            </a:prstGeom>
            <a:noFill/>
          </p:spPr>
          <p:txBody>
            <a:bodyPr wrap="square" rtlCol="0">
              <a:spAutoFit/>
            </a:bodyPr>
            <a:lstStyle/>
            <a:p>
              <a:r>
                <a:rPr lang="en-IN" sz="1799">
                  <a:solidFill>
                    <a:schemeClr val="bg1"/>
                  </a:solidFill>
                  <a:latin typeface="EYInterstate" panose="02000503020000020004" pitchFamily="2" charset="0"/>
                </a:rPr>
                <a:t>Technology</a:t>
              </a:r>
            </a:p>
          </p:txBody>
        </p:sp>
      </p:grpSp>
    </p:spTree>
    <p:extLst>
      <p:ext uri="{BB962C8B-B14F-4D97-AF65-F5344CB8AC3E}">
        <p14:creationId xmlns:p14="http://schemas.microsoft.com/office/powerpoint/2010/main" val="41870886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EFCFB1-F0EE-A0CC-CA6C-F0A4612D6FBE}"/>
            </a:ext>
          </a:extLst>
        </p:cNvPr>
        <p:cNvGrpSpPr/>
        <p:nvPr/>
      </p:nvGrpSpPr>
      <p:grpSpPr>
        <a:xfrm>
          <a:off x="0" y="0"/>
          <a:ext cx="0" cy="0"/>
          <a:chOff x="0" y="0"/>
          <a:chExt cx="0" cy="0"/>
        </a:xfrm>
      </p:grpSpPr>
      <p:sp>
        <p:nvSpPr>
          <p:cNvPr id="2" name="Title 2">
            <a:extLst>
              <a:ext uri="{FF2B5EF4-FFF2-40B4-BE49-F238E27FC236}">
                <a16:creationId xmlns:a16="http://schemas.microsoft.com/office/drawing/2014/main" id="{89807B35-8C83-6437-2AAA-269ABBC461A3}"/>
              </a:ext>
            </a:extLst>
          </p:cNvPr>
          <p:cNvSpPr txBox="1">
            <a:spLocks/>
          </p:cNvSpPr>
          <p:nvPr/>
        </p:nvSpPr>
        <p:spPr>
          <a:xfrm>
            <a:off x="577787" y="432371"/>
            <a:ext cx="10972800" cy="590093"/>
          </a:xfrm>
          <a:prstGeom prst="rect">
            <a:avLst/>
          </a:prstGeom>
        </p:spPr>
        <p:txBody>
          <a:bodyPr vert="horz" lIns="0" tIns="0" rIns="0" bIns="0" rtlCol="0" anchor="t" anchorCtr="0">
            <a:noAutofit/>
          </a:bodyPr>
          <a:lstStyle>
            <a:defPPr>
              <a:defRPr lang="en-US"/>
            </a:defPPr>
            <a:lvl1pPr defTabSz="913942">
              <a:lnSpc>
                <a:spcPct val="100000"/>
              </a:lnSpc>
              <a:spcBef>
                <a:spcPts val="500"/>
              </a:spcBef>
              <a:buClr>
                <a:srgbClr val="FFE600"/>
              </a:buClr>
              <a:buSzPct val="110000"/>
              <a:buFont typeface="EYInterstate Light" pitchFamily="2"/>
              <a:buNone/>
              <a:defRPr sz="2400" b="1">
                <a:solidFill>
                  <a:srgbClr val="FFE600"/>
                </a:solidFill>
                <a:latin typeface="EY interstate heading"/>
              </a:defRPr>
            </a:lvl1pPr>
          </a:lstStyle>
          <a:p>
            <a:r>
              <a:rPr lang="en-US"/>
              <a:t>Journal Entry Overview</a:t>
            </a:r>
          </a:p>
        </p:txBody>
      </p:sp>
      <p:sp>
        <p:nvSpPr>
          <p:cNvPr id="21" name="Freeform 1002">
            <a:extLst>
              <a:ext uri="{FF2B5EF4-FFF2-40B4-BE49-F238E27FC236}">
                <a16:creationId xmlns:a16="http://schemas.microsoft.com/office/drawing/2014/main" id="{4FF58097-E196-1F89-8952-15F58EBBA361}"/>
              </a:ext>
            </a:extLst>
          </p:cNvPr>
          <p:cNvSpPr/>
          <p:nvPr/>
        </p:nvSpPr>
        <p:spPr>
          <a:xfrm>
            <a:off x="11279457" y="6511168"/>
            <a:ext cx="124869" cy="153804"/>
          </a:xfrm>
          <a:custGeom>
            <a:avLst/>
            <a:gdLst/>
            <a:ahLst/>
            <a:cxnLst/>
            <a:rect l="0" t="0" r="0" b="0"/>
            <a:pathLst>
              <a:path w="124967" h="153924">
                <a:moveTo>
                  <a:pt x="48005" y="92075"/>
                </a:moveTo>
                <a:lnTo>
                  <a:pt x="104139" y="92075"/>
                </a:lnTo>
                <a:lnTo>
                  <a:pt x="104139" y="60325"/>
                </a:lnTo>
                <a:lnTo>
                  <a:pt x="48005" y="60325"/>
                </a:lnTo>
                <a:lnTo>
                  <a:pt x="48005" y="34925"/>
                </a:lnTo>
                <a:lnTo>
                  <a:pt x="108965" y="34925"/>
                </a:lnTo>
                <a:lnTo>
                  <a:pt x="88138" y="0"/>
                </a:lnTo>
                <a:lnTo>
                  <a:pt x="0" y="0"/>
                </a:lnTo>
                <a:lnTo>
                  <a:pt x="0" y="153924"/>
                </a:lnTo>
                <a:lnTo>
                  <a:pt x="124967" y="153924"/>
                </a:lnTo>
                <a:lnTo>
                  <a:pt x="124967" y="117475"/>
                </a:lnTo>
                <a:lnTo>
                  <a:pt x="48005" y="117475"/>
                </a:lnTo>
                <a:lnTo>
                  <a:pt x="48005" y="92075"/>
                </a:lnTo>
                <a:close/>
              </a:path>
            </a:pathLst>
          </a:custGeom>
          <a:solidFill>
            <a:srgbClr val="2E2E38">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799"/>
          </a:p>
        </p:txBody>
      </p:sp>
      <p:sp>
        <p:nvSpPr>
          <p:cNvPr id="22" name="Freeform 1003">
            <a:extLst>
              <a:ext uri="{FF2B5EF4-FFF2-40B4-BE49-F238E27FC236}">
                <a16:creationId xmlns:a16="http://schemas.microsoft.com/office/drawing/2014/main" id="{41F7606A-F6A2-85B1-6782-907331D011BA}"/>
              </a:ext>
            </a:extLst>
          </p:cNvPr>
          <p:cNvSpPr/>
          <p:nvPr/>
        </p:nvSpPr>
        <p:spPr>
          <a:xfrm>
            <a:off x="11383007" y="6511168"/>
            <a:ext cx="152281" cy="153804"/>
          </a:xfrm>
          <a:custGeom>
            <a:avLst/>
            <a:gdLst/>
            <a:ahLst/>
            <a:cxnLst/>
            <a:rect l="0" t="0" r="0" b="0"/>
            <a:pathLst>
              <a:path w="152400" h="153924">
                <a:moveTo>
                  <a:pt x="101600" y="0"/>
                </a:moveTo>
                <a:lnTo>
                  <a:pt x="76200" y="50800"/>
                </a:lnTo>
                <a:lnTo>
                  <a:pt x="50800" y="0"/>
                </a:lnTo>
                <a:lnTo>
                  <a:pt x="0" y="0"/>
                </a:lnTo>
                <a:lnTo>
                  <a:pt x="52323" y="92075"/>
                </a:lnTo>
                <a:lnTo>
                  <a:pt x="52323" y="153924"/>
                </a:lnTo>
                <a:lnTo>
                  <a:pt x="98425" y="153924"/>
                </a:lnTo>
                <a:lnTo>
                  <a:pt x="98425" y="92075"/>
                </a:lnTo>
                <a:lnTo>
                  <a:pt x="152400" y="0"/>
                </a:lnTo>
                <a:lnTo>
                  <a:pt x="101600" y="0"/>
                </a:lnTo>
                <a:close/>
              </a:path>
            </a:pathLst>
          </a:custGeom>
          <a:solidFill>
            <a:srgbClr val="2E2E38">
              <a:alpha val="10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799"/>
          </a:p>
        </p:txBody>
      </p:sp>
      <p:sp>
        <p:nvSpPr>
          <p:cNvPr id="23" name="Freeform 1004">
            <a:extLst>
              <a:ext uri="{FF2B5EF4-FFF2-40B4-BE49-F238E27FC236}">
                <a16:creationId xmlns:a16="http://schemas.microsoft.com/office/drawing/2014/main" id="{A24DD593-7EF2-F064-7689-48E7E264560D}"/>
              </a:ext>
            </a:extLst>
          </p:cNvPr>
          <p:cNvSpPr/>
          <p:nvPr/>
        </p:nvSpPr>
        <p:spPr>
          <a:xfrm>
            <a:off x="609887" y="911033"/>
            <a:ext cx="10971847" cy="0"/>
          </a:xfrm>
          <a:custGeom>
            <a:avLst/>
            <a:gdLst/>
            <a:ahLst/>
            <a:cxnLst/>
            <a:rect l="0" t="0" r="0" b="0"/>
            <a:pathLst>
              <a:path w="10980419">
                <a:moveTo>
                  <a:pt x="0" y="0"/>
                </a:moveTo>
                <a:lnTo>
                  <a:pt x="10980419" y="0"/>
                </a:lnTo>
              </a:path>
            </a:pathLst>
          </a:custGeom>
          <a:noFill/>
          <a:ln w="19811" cap="flat" cmpd="sng">
            <a:solidFill>
              <a:srgbClr val="FFE600">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799"/>
          </a:p>
        </p:txBody>
      </p:sp>
      <p:sp>
        <p:nvSpPr>
          <p:cNvPr id="3" name="Rectangle 2">
            <a:extLst>
              <a:ext uri="{FF2B5EF4-FFF2-40B4-BE49-F238E27FC236}">
                <a16:creationId xmlns:a16="http://schemas.microsoft.com/office/drawing/2014/main" id="{61C13EE1-5D77-6C9A-BFBF-BCB1575D3DAA}"/>
              </a:ext>
            </a:extLst>
          </p:cNvPr>
          <p:cNvSpPr/>
          <p:nvPr/>
        </p:nvSpPr>
        <p:spPr>
          <a:xfrm>
            <a:off x="125085" y="1999739"/>
            <a:ext cx="2394634" cy="1126426"/>
          </a:xfrm>
          <a:prstGeom prst="rect">
            <a:avLst/>
          </a:prstGeom>
          <a:solidFill>
            <a:srgbClr val="FFE600"/>
          </a:solidFill>
          <a:ln w="12700">
            <a:solidFill>
              <a:srgbClr val="234D65"/>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tx1"/>
                </a:solidFill>
                <a:effectLst/>
                <a:uLnTx/>
                <a:uFillTx/>
                <a:latin typeface="EY interstate"/>
              </a:rPr>
              <a:t>Common Journal</a:t>
            </a:r>
            <a:r>
              <a:rPr lang="en-US" sz="1200" b="1">
                <a:solidFill>
                  <a:schemeClr val="tx1"/>
                </a:solidFill>
                <a:latin typeface="EY interstate"/>
              </a:rPr>
              <a:t> Entry Types</a:t>
            </a:r>
            <a:endParaRPr kumimoji="0" lang="en-US" sz="1200" b="1" i="0" u="none" strike="noStrike" kern="1200" cap="none" spc="0" normalizeH="0" baseline="0" noProof="0">
              <a:ln>
                <a:noFill/>
              </a:ln>
              <a:solidFill>
                <a:schemeClr val="tx1"/>
              </a:solidFill>
              <a:effectLst/>
              <a:uLnTx/>
              <a:uFillTx/>
              <a:latin typeface="EY interstate"/>
            </a:endParaRPr>
          </a:p>
        </p:txBody>
      </p:sp>
      <p:sp>
        <p:nvSpPr>
          <p:cNvPr id="4" name="Rectangle 3">
            <a:extLst>
              <a:ext uri="{FF2B5EF4-FFF2-40B4-BE49-F238E27FC236}">
                <a16:creationId xmlns:a16="http://schemas.microsoft.com/office/drawing/2014/main" id="{1F197A74-62BE-0776-7F12-8FB9D4DE9456}"/>
              </a:ext>
            </a:extLst>
          </p:cNvPr>
          <p:cNvSpPr/>
          <p:nvPr/>
        </p:nvSpPr>
        <p:spPr>
          <a:xfrm>
            <a:off x="125051" y="3237731"/>
            <a:ext cx="2394702" cy="968400"/>
          </a:xfrm>
          <a:prstGeom prst="rect">
            <a:avLst/>
          </a:prstGeom>
          <a:solidFill>
            <a:srgbClr val="DCEEF8"/>
          </a:solidFill>
          <a:ln w="12700">
            <a:no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 marR="0" lvl="0" indent="0" algn="ctr" defTabSz="914400" rtl="0" eaLnBrk="1" fontAlgn="auto" latinLnBrk="0" hangingPunct="1">
              <a:lnSpc>
                <a:spcPct val="100000"/>
              </a:lnSpc>
              <a:spcBef>
                <a:spcPts val="0"/>
              </a:spcBef>
              <a:spcAft>
                <a:spcPts val="600"/>
              </a:spcAft>
              <a:buClrTx/>
              <a:buSzTx/>
              <a:buFontTx/>
              <a:buNone/>
              <a:tabLst/>
              <a:defRPr/>
            </a:pPr>
            <a:r>
              <a:rPr lang="en-US" sz="1200" b="1">
                <a:solidFill>
                  <a:schemeClr val="tx1"/>
                </a:solidFill>
                <a:latin typeface="EY interstate"/>
              </a:rPr>
              <a:t>Purpose</a:t>
            </a:r>
            <a:r>
              <a:rPr kumimoji="0" lang="en-US" sz="1200" b="1" i="0" u="none" strike="noStrike" kern="1200" cap="none" spc="0" normalizeH="0" baseline="0" noProof="0">
                <a:ln>
                  <a:noFill/>
                </a:ln>
                <a:solidFill>
                  <a:schemeClr val="tx1"/>
                </a:solidFill>
                <a:effectLst/>
                <a:uLnTx/>
                <a:uFillTx/>
                <a:latin typeface="EY interstate"/>
              </a:rPr>
              <a:t> of Journal Entry</a:t>
            </a:r>
          </a:p>
        </p:txBody>
      </p:sp>
      <p:sp>
        <p:nvSpPr>
          <p:cNvPr id="5" name="Rectangle 4">
            <a:extLst>
              <a:ext uri="{FF2B5EF4-FFF2-40B4-BE49-F238E27FC236}">
                <a16:creationId xmlns:a16="http://schemas.microsoft.com/office/drawing/2014/main" id="{04406E70-36CF-AEDE-3344-57772F664042}"/>
              </a:ext>
            </a:extLst>
          </p:cNvPr>
          <p:cNvSpPr/>
          <p:nvPr/>
        </p:nvSpPr>
        <p:spPr>
          <a:xfrm>
            <a:off x="2729622" y="3237731"/>
            <a:ext cx="9327953" cy="968400"/>
          </a:xfrm>
          <a:prstGeom prst="rect">
            <a:avLst/>
          </a:prstGeom>
          <a:noFill/>
          <a:ln w="12700">
            <a:solidFill>
              <a:srgbClr val="284D63"/>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2B5257"/>
              </a:buClr>
              <a:buSzPct val="70000"/>
              <a:buFont typeface="Arial" panose="020B0604020202020204" pitchFamily="34" charset="0"/>
              <a:buChar char="►"/>
              <a:tabLst/>
              <a:defRPr/>
            </a:pPr>
            <a:endParaRPr kumimoji="0" lang="en-IN" sz="1200" b="0" i="0" u="none" strike="noStrike" kern="0" cap="none" spc="0" normalizeH="0" baseline="0" noProof="0">
              <a:ln>
                <a:noFill/>
              </a:ln>
              <a:solidFill>
                <a:schemeClr val="bg1"/>
              </a:solidFill>
              <a:effectLst/>
              <a:uLnTx/>
              <a:uFillTx/>
              <a:latin typeface="EY interstate"/>
            </a:endParaRPr>
          </a:p>
        </p:txBody>
      </p:sp>
      <p:sp>
        <p:nvSpPr>
          <p:cNvPr id="6" name="Rectangle 5">
            <a:extLst>
              <a:ext uri="{FF2B5EF4-FFF2-40B4-BE49-F238E27FC236}">
                <a16:creationId xmlns:a16="http://schemas.microsoft.com/office/drawing/2014/main" id="{03A60EA6-1949-5355-81FA-763CFA6AD845}"/>
              </a:ext>
            </a:extLst>
          </p:cNvPr>
          <p:cNvSpPr/>
          <p:nvPr/>
        </p:nvSpPr>
        <p:spPr>
          <a:xfrm>
            <a:off x="125052" y="4297588"/>
            <a:ext cx="2394701" cy="968399"/>
          </a:xfrm>
          <a:prstGeom prst="rect">
            <a:avLst/>
          </a:prstGeom>
          <a:solidFill>
            <a:srgbClr val="FFE600"/>
          </a:solidFill>
          <a:ln w="12700">
            <a:no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 marR="0" lvl="0" indent="0" algn="ctr" defTabSz="914400" rtl="0" eaLnBrk="1" fontAlgn="auto" latinLnBrk="0" hangingPunct="1">
              <a:lnSpc>
                <a:spcPct val="100000"/>
              </a:lnSpc>
              <a:spcBef>
                <a:spcPts val="0"/>
              </a:spcBef>
              <a:spcAft>
                <a:spcPts val="600"/>
              </a:spcAft>
              <a:buClrTx/>
              <a:buSzTx/>
              <a:buFontTx/>
              <a:buNone/>
              <a:tabLst/>
              <a:defRPr/>
            </a:pPr>
            <a:r>
              <a:rPr lang="en-US" sz="1200" b="1">
                <a:solidFill>
                  <a:schemeClr val="tx1"/>
                </a:solidFill>
                <a:latin typeface="EY interstate"/>
              </a:rPr>
              <a:t>Functions of Journal Entry</a:t>
            </a:r>
            <a:endParaRPr kumimoji="0" lang="en-US" sz="1200" b="1" i="0" u="none" strike="noStrike" kern="1200" cap="none" spc="0" normalizeH="0" baseline="0" noProof="0">
              <a:ln>
                <a:noFill/>
              </a:ln>
              <a:solidFill>
                <a:schemeClr val="tx1"/>
              </a:solidFill>
              <a:effectLst/>
              <a:uLnTx/>
              <a:uFillTx/>
              <a:latin typeface="EY interstate"/>
            </a:endParaRPr>
          </a:p>
        </p:txBody>
      </p:sp>
      <p:sp>
        <p:nvSpPr>
          <p:cNvPr id="7" name="Rectangle 6">
            <a:extLst>
              <a:ext uri="{FF2B5EF4-FFF2-40B4-BE49-F238E27FC236}">
                <a16:creationId xmlns:a16="http://schemas.microsoft.com/office/drawing/2014/main" id="{566E1183-C9CC-959B-5E2A-40665D054E3F}"/>
              </a:ext>
            </a:extLst>
          </p:cNvPr>
          <p:cNvSpPr/>
          <p:nvPr/>
        </p:nvSpPr>
        <p:spPr>
          <a:xfrm>
            <a:off x="2629530" y="4267593"/>
            <a:ext cx="9509247" cy="1050223"/>
          </a:xfrm>
          <a:prstGeom prst="rect">
            <a:avLst/>
          </a:prstGeom>
          <a:noFill/>
          <a:ln w="12700">
            <a:solidFill>
              <a:srgbClr val="FFE600"/>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Clr>
                <a:srgbClr val="2B5257"/>
              </a:buClr>
              <a:buSzPct val="70000"/>
              <a:buFont typeface="Arial" panose="020B0604020202020204" pitchFamily="34" charset="0"/>
              <a:buChar char="►"/>
              <a:defRPr/>
            </a:pPr>
            <a:endParaRPr lang="en-IN" sz="1050" kern="0">
              <a:solidFill>
                <a:schemeClr val="bg1"/>
              </a:solidFill>
              <a:latin typeface="EY interstate"/>
            </a:endParaRPr>
          </a:p>
        </p:txBody>
      </p:sp>
      <p:sp>
        <p:nvSpPr>
          <p:cNvPr id="8" name="Rectangle 7">
            <a:extLst>
              <a:ext uri="{FF2B5EF4-FFF2-40B4-BE49-F238E27FC236}">
                <a16:creationId xmlns:a16="http://schemas.microsoft.com/office/drawing/2014/main" id="{0724BA60-5469-9CC1-8CA5-EFD81B92BBDE}"/>
              </a:ext>
            </a:extLst>
          </p:cNvPr>
          <p:cNvSpPr/>
          <p:nvPr/>
        </p:nvSpPr>
        <p:spPr>
          <a:xfrm>
            <a:off x="120068" y="5362668"/>
            <a:ext cx="2394634" cy="1148500"/>
          </a:xfrm>
          <a:prstGeom prst="rect">
            <a:avLst/>
          </a:prstGeom>
          <a:solidFill>
            <a:srgbClr val="DCEEF8"/>
          </a:solidFill>
          <a:ln w="12700">
            <a:no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 marR="0" lvl="0" indent="0" algn="ctr" defTabSz="914400" rtl="0" eaLnBrk="1" fontAlgn="auto" latinLnBrk="0" hangingPunct="1">
              <a:lnSpc>
                <a:spcPct val="100000"/>
              </a:lnSpc>
              <a:spcBef>
                <a:spcPts val="0"/>
              </a:spcBef>
              <a:spcAft>
                <a:spcPts val="600"/>
              </a:spcAft>
              <a:buClrTx/>
              <a:buSzTx/>
              <a:buFontTx/>
              <a:buNone/>
              <a:tabLst/>
              <a:defRPr/>
            </a:pPr>
            <a:r>
              <a:rPr lang="en-US" sz="1200" b="1">
                <a:solidFill>
                  <a:schemeClr val="tx1"/>
                </a:solidFill>
                <a:latin typeface="EY interstate"/>
              </a:rPr>
              <a:t>Characteristics of Journal Entry</a:t>
            </a:r>
            <a:endParaRPr kumimoji="0" lang="en-US" sz="1200" b="1" i="0" u="none" strike="noStrike" kern="1200" cap="none" spc="0" normalizeH="0" baseline="0" noProof="0">
              <a:ln>
                <a:noFill/>
              </a:ln>
              <a:solidFill>
                <a:schemeClr val="tx1"/>
              </a:solidFill>
              <a:effectLst/>
              <a:uLnTx/>
              <a:uFillTx/>
              <a:latin typeface="EY interstate"/>
            </a:endParaRPr>
          </a:p>
        </p:txBody>
      </p:sp>
      <p:sp>
        <p:nvSpPr>
          <p:cNvPr id="9" name="Rectangle 8">
            <a:extLst>
              <a:ext uri="{FF2B5EF4-FFF2-40B4-BE49-F238E27FC236}">
                <a16:creationId xmlns:a16="http://schemas.microsoft.com/office/drawing/2014/main" id="{7219C2D4-D13C-2BE1-D4B0-E7CD80A95A81}"/>
              </a:ext>
            </a:extLst>
          </p:cNvPr>
          <p:cNvSpPr/>
          <p:nvPr/>
        </p:nvSpPr>
        <p:spPr>
          <a:xfrm>
            <a:off x="2629530" y="5364822"/>
            <a:ext cx="9412925" cy="1099341"/>
          </a:xfrm>
          <a:prstGeom prst="rect">
            <a:avLst/>
          </a:prstGeom>
          <a:noFill/>
          <a:ln w="12700">
            <a:solidFill>
              <a:srgbClr val="FFE600"/>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Clr>
                <a:srgbClr val="2B5257"/>
              </a:buClr>
              <a:buSzPct val="70000"/>
              <a:buFont typeface="Arial" panose="020B0604020202020204" pitchFamily="34" charset="0"/>
              <a:buChar char="►"/>
              <a:defRPr/>
            </a:pPr>
            <a:endParaRPr lang="en-IN" sz="1050" kern="0">
              <a:solidFill>
                <a:schemeClr val="bg1"/>
              </a:solidFill>
              <a:latin typeface="EY interstate"/>
            </a:endParaRPr>
          </a:p>
        </p:txBody>
      </p:sp>
      <p:grpSp>
        <p:nvGrpSpPr>
          <p:cNvPr id="10" name="Group 9">
            <a:extLst>
              <a:ext uri="{FF2B5EF4-FFF2-40B4-BE49-F238E27FC236}">
                <a16:creationId xmlns:a16="http://schemas.microsoft.com/office/drawing/2014/main" id="{C6260DA5-9E26-D514-6FD6-CE06B163A579}"/>
              </a:ext>
            </a:extLst>
          </p:cNvPr>
          <p:cNvGrpSpPr/>
          <p:nvPr/>
        </p:nvGrpSpPr>
        <p:grpSpPr>
          <a:xfrm>
            <a:off x="2606203" y="1988786"/>
            <a:ext cx="9537822" cy="1137380"/>
            <a:chOff x="2729622" y="2018212"/>
            <a:chExt cx="9537822" cy="1343229"/>
          </a:xfrm>
        </p:grpSpPr>
        <p:sp>
          <p:nvSpPr>
            <p:cNvPr id="11" name="Rectangle 10">
              <a:extLst>
                <a:ext uri="{FF2B5EF4-FFF2-40B4-BE49-F238E27FC236}">
                  <a16:creationId xmlns:a16="http://schemas.microsoft.com/office/drawing/2014/main" id="{E5A90777-9DF5-B966-B722-B3652A46FFDC}"/>
                </a:ext>
              </a:extLst>
            </p:cNvPr>
            <p:cNvSpPr/>
            <p:nvPr/>
          </p:nvSpPr>
          <p:spPr>
            <a:xfrm>
              <a:off x="2729622" y="2018212"/>
              <a:ext cx="9327953" cy="1126426"/>
            </a:xfrm>
            <a:prstGeom prst="rect">
              <a:avLst/>
            </a:prstGeom>
            <a:noFill/>
            <a:ln w="12700">
              <a:no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l">
                <a:buClr>
                  <a:srgbClr val="175072"/>
                </a:buClr>
                <a:buSzPct val="60000"/>
                <a:buFont typeface="Arial" panose="020B0604020202020204" pitchFamily="34" charset="0"/>
                <a:buChar char="►"/>
              </a:pPr>
              <a:endParaRPr lang="en-IN" sz="1200" kern="0">
                <a:solidFill>
                  <a:schemeClr val="bg1"/>
                </a:solidFill>
                <a:latin typeface="EY interstate"/>
              </a:endParaRPr>
            </a:p>
          </p:txBody>
        </p:sp>
        <p:sp>
          <p:nvSpPr>
            <p:cNvPr id="12" name="TextBox 11">
              <a:extLst>
                <a:ext uri="{FF2B5EF4-FFF2-40B4-BE49-F238E27FC236}">
                  <a16:creationId xmlns:a16="http://schemas.microsoft.com/office/drawing/2014/main" id="{C22D0879-0A7B-9482-63FE-604AB7BBD080}"/>
                </a:ext>
              </a:extLst>
            </p:cNvPr>
            <p:cNvSpPr txBox="1"/>
            <p:nvPr/>
          </p:nvSpPr>
          <p:spPr>
            <a:xfrm>
              <a:off x="2758197" y="2018212"/>
              <a:ext cx="9509247" cy="1343229"/>
            </a:xfrm>
            <a:prstGeom prst="rect">
              <a:avLst/>
            </a:prstGeom>
            <a:ln>
              <a:solidFill>
                <a:srgbClr val="FFE600"/>
              </a:solidFill>
            </a:ln>
          </p:spPr>
          <p:txBody>
            <a:bodyPr vert="horz" wrap="square" lIns="0" tIns="0" rIns="91440" bIns="0" rtlCol="0" anchor="t">
              <a:noAutofit/>
            </a:bodyPr>
            <a:lstStyle/>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Adjusting entries are made at the end of an accounting period to record transactions that were not recognized during the period, such as accrued or deferred expenses, or to correct a mistake from the previous period.</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Compound entries reflect a transaction that has more than two lines, like a purchase that involves cash and a loan.</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A recurring Journal Entry is one that repeats in every reporting period for such expenses as monthly rent or depreciation on an asset.</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Reversing entries cancel entries from the previous reporting period.</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An unbalanced Journal Entry occurs when the debit and credit do not add up. This will have to be corrected before the financial statements are finalized.</a:t>
              </a:r>
            </a:p>
          </p:txBody>
        </p:sp>
      </p:grpSp>
      <p:sp>
        <p:nvSpPr>
          <p:cNvPr id="13" name="TextBox 12">
            <a:extLst>
              <a:ext uri="{FF2B5EF4-FFF2-40B4-BE49-F238E27FC236}">
                <a16:creationId xmlns:a16="http://schemas.microsoft.com/office/drawing/2014/main" id="{71AA5478-CFAB-4B87-6ABE-6F61A2164F43}"/>
              </a:ext>
            </a:extLst>
          </p:cNvPr>
          <p:cNvSpPr txBox="1"/>
          <p:nvPr/>
        </p:nvSpPr>
        <p:spPr>
          <a:xfrm>
            <a:off x="2758197" y="5409610"/>
            <a:ext cx="9284740" cy="706051"/>
          </a:xfrm>
          <a:prstGeom prst="rect">
            <a:avLst/>
          </a:prstGeom>
          <a:ln>
            <a:noFill/>
          </a:ln>
        </p:spPr>
        <p:txBody>
          <a:bodyPr vert="horz" wrap="square" lIns="0" tIns="0" rIns="91440" bIns="0" rtlCol="0" anchor="t">
            <a:noAutofit/>
          </a:bodyPr>
          <a:lstStyle/>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Chronology: The journal entries get recorded in a date-wise order, and it helps in checking the transactions much more quickly.</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Double Entry System: Journal entries follow a system where every transaction is entered both on the debit and credit sides. It is an example of a dual entry system. One account gets debited and the other gets credited with the same value.</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Daybook: A journal records transactions on a day-to-day basis for consistency and ease.</a:t>
            </a:r>
          </a:p>
          <a:p>
            <a:pPr marL="285750" indent="-285750">
              <a:lnSpc>
                <a:spcPct val="120000"/>
              </a:lnSpc>
              <a:buClr>
                <a:srgbClr val="175072"/>
              </a:buClr>
              <a:buSzPct val="60000"/>
              <a:buFont typeface="Arial" panose="020B0604020202020204" pitchFamily="34" charset="0"/>
              <a:buChar char="►"/>
              <a:defRPr/>
            </a:pPr>
            <a:r>
              <a:rPr lang="en-IN" sz="1050" kern="0">
                <a:solidFill>
                  <a:schemeClr val="bg1"/>
                </a:solidFill>
                <a:latin typeface="EY interstate"/>
              </a:rPr>
              <a:t>Compound Entry: A single entry can have two or more accounts on the same day, and a journal can also have more than one related transaction</a:t>
            </a:r>
          </a:p>
        </p:txBody>
      </p:sp>
      <p:sp>
        <p:nvSpPr>
          <p:cNvPr id="14" name="TextBox 13">
            <a:extLst>
              <a:ext uri="{FF2B5EF4-FFF2-40B4-BE49-F238E27FC236}">
                <a16:creationId xmlns:a16="http://schemas.microsoft.com/office/drawing/2014/main" id="{3F021A09-E206-8666-8706-211345315D7A}"/>
              </a:ext>
            </a:extLst>
          </p:cNvPr>
          <p:cNvSpPr txBox="1"/>
          <p:nvPr/>
        </p:nvSpPr>
        <p:spPr>
          <a:xfrm>
            <a:off x="2758197" y="4266800"/>
            <a:ext cx="9233835" cy="924229"/>
          </a:xfrm>
          <a:prstGeom prst="rect">
            <a:avLst/>
          </a:prstGeom>
          <a:ln>
            <a:noFill/>
          </a:ln>
        </p:spPr>
        <p:txBody>
          <a:bodyPr vert="horz" wrap="square" lIns="0" tIns="0" rIns="91440" bIns="0" rtlCol="0" anchor="t">
            <a:noAutofit/>
          </a:bodyPr>
          <a:lstStyle/>
          <a:p>
            <a:pPr marL="285750" indent="-285750">
              <a:lnSpc>
                <a:spcPct val="130000"/>
              </a:lnSpc>
              <a:buClr>
                <a:srgbClr val="175072"/>
              </a:buClr>
              <a:buSzPct val="60000"/>
              <a:buFont typeface="Arial" panose="020B0604020202020204" pitchFamily="34" charset="0"/>
              <a:buChar char="►"/>
              <a:defRPr/>
            </a:pPr>
            <a:r>
              <a:rPr lang="en-IN" sz="1050" kern="0">
                <a:solidFill>
                  <a:schemeClr val="bg1"/>
                </a:solidFill>
                <a:latin typeface="EY interstate"/>
              </a:rPr>
              <a:t>Analytical Function: While recording a transaction in the journal each transaction is analysed into the debit aspect and the credit aspect. This helps to find out how each transaction will financially affect the enterprise.</a:t>
            </a:r>
          </a:p>
          <a:p>
            <a:pPr marL="285750" indent="-285750">
              <a:lnSpc>
                <a:spcPct val="130000"/>
              </a:lnSpc>
              <a:buClr>
                <a:srgbClr val="175072"/>
              </a:buClr>
              <a:buSzPct val="60000"/>
              <a:buFont typeface="Arial" panose="020B0604020202020204" pitchFamily="34" charset="0"/>
              <a:buChar char="►"/>
              <a:defRPr/>
            </a:pPr>
            <a:r>
              <a:rPr lang="en-IN" sz="1050" kern="0">
                <a:solidFill>
                  <a:schemeClr val="bg1"/>
                </a:solidFill>
                <a:latin typeface="EY interstate"/>
              </a:rPr>
              <a:t>Recording Function: Accountancy is a business language which helps to keeps the record of the transactions based on the principles. Each such recording entry is supported by a brief narration, which explains, every transaction in simple language. </a:t>
            </a:r>
          </a:p>
          <a:p>
            <a:pPr marL="285750" indent="-285750">
              <a:lnSpc>
                <a:spcPct val="130000"/>
              </a:lnSpc>
              <a:buClr>
                <a:srgbClr val="175072"/>
              </a:buClr>
              <a:buSzPct val="60000"/>
              <a:buFont typeface="Arial" panose="020B0604020202020204" pitchFamily="34" charset="0"/>
              <a:buChar char="►"/>
              <a:defRPr/>
            </a:pPr>
            <a:r>
              <a:rPr lang="en-IN" sz="1050" kern="0">
                <a:solidFill>
                  <a:schemeClr val="bg1"/>
                </a:solidFill>
                <a:latin typeface="EY interstate"/>
              </a:rPr>
              <a:t>Historical Function: Journal book contains a chronological record of the transactions for future references.</a:t>
            </a:r>
          </a:p>
        </p:txBody>
      </p:sp>
      <p:sp>
        <p:nvSpPr>
          <p:cNvPr id="15" name="TextBox 14">
            <a:extLst>
              <a:ext uri="{FF2B5EF4-FFF2-40B4-BE49-F238E27FC236}">
                <a16:creationId xmlns:a16="http://schemas.microsoft.com/office/drawing/2014/main" id="{BB3F989C-7A4D-FD54-424F-7F397B918B59}"/>
              </a:ext>
            </a:extLst>
          </p:cNvPr>
          <p:cNvSpPr txBox="1"/>
          <p:nvPr/>
        </p:nvSpPr>
        <p:spPr>
          <a:xfrm>
            <a:off x="2629530" y="3238882"/>
            <a:ext cx="9509247" cy="967249"/>
          </a:xfrm>
          <a:prstGeom prst="rect">
            <a:avLst/>
          </a:prstGeom>
          <a:ln>
            <a:solidFill>
              <a:srgbClr val="FFE600"/>
            </a:solidFill>
          </a:ln>
        </p:spPr>
        <p:txBody>
          <a:bodyPr vert="horz" wrap="square" lIns="0" tIns="0" rIns="91440" bIns="0" rtlCol="0" anchor="t">
            <a:noAutofit/>
          </a:bodyPr>
          <a:lstStyle/>
          <a:p>
            <a:pPr marL="285750" indent="-285750" fontAlgn="base">
              <a:lnSpc>
                <a:spcPct val="140000"/>
              </a:lnSpc>
              <a:spcBef>
                <a:spcPts val="0"/>
              </a:spcBef>
              <a:spcAft>
                <a:spcPts val="0"/>
              </a:spcAft>
              <a:buClr>
                <a:srgbClr val="175072"/>
              </a:buClr>
              <a:buSzPct val="60000"/>
              <a:buFont typeface="Arial" panose="020B0604020202020204" pitchFamily="34" charset="0"/>
              <a:buChar char="►"/>
              <a:defRPr/>
            </a:pPr>
            <a:r>
              <a:rPr lang="en-IN" sz="1050" kern="0">
                <a:solidFill>
                  <a:schemeClr val="bg1"/>
                </a:solidFill>
                <a:latin typeface="EY interstate"/>
              </a:rPr>
              <a:t>Journal records all the financial transactions of a business in one place on a time and date basis.</a:t>
            </a:r>
          </a:p>
          <a:p>
            <a:pPr marL="285750" indent="-285750" fontAlgn="base">
              <a:lnSpc>
                <a:spcPct val="140000"/>
              </a:lnSpc>
              <a:buClr>
                <a:srgbClr val="175072"/>
              </a:buClr>
              <a:buSzPct val="60000"/>
              <a:buFont typeface="Arial" panose="020B0604020202020204" pitchFamily="34" charset="0"/>
              <a:buChar char="►"/>
              <a:defRPr/>
            </a:pPr>
            <a:r>
              <a:rPr lang="en-IN" sz="1050" kern="0">
                <a:solidFill>
                  <a:schemeClr val="bg1"/>
                </a:solidFill>
                <a:latin typeface="EY interstate"/>
              </a:rPr>
              <a:t>For each and every transaction which of the two concerned accounts will be debited and which account credited, are clearly written in journal. So, there is no possibility of committing any mistake in writing the ledger.</a:t>
            </a:r>
          </a:p>
          <a:p>
            <a:pPr marL="285750" indent="-285750" fontAlgn="base">
              <a:lnSpc>
                <a:spcPct val="140000"/>
              </a:lnSpc>
              <a:buClr>
                <a:srgbClr val="175072"/>
              </a:buClr>
              <a:buSzPct val="60000"/>
              <a:buFont typeface="Arial" panose="020B0604020202020204" pitchFamily="34" charset="0"/>
              <a:buChar char="►"/>
              <a:defRPr/>
            </a:pPr>
            <a:r>
              <a:rPr lang="en-IN" sz="1050" kern="0">
                <a:solidFill>
                  <a:schemeClr val="bg1"/>
                </a:solidFill>
                <a:latin typeface="EY interstate"/>
              </a:rPr>
              <a:t>Since all the debits of transaction are recorded in journal, it is not necessary to repeat them in ledger. As a result ledger is kept tidy and brief.</a:t>
            </a:r>
            <a:br>
              <a:rPr lang="en-IN" sz="1050">
                <a:solidFill>
                  <a:schemeClr val="bg1"/>
                </a:solidFill>
                <a:latin typeface="EY interstate"/>
              </a:rPr>
            </a:br>
            <a:endParaRPr lang="en-IN" sz="1050" kern="0">
              <a:solidFill>
                <a:schemeClr val="bg1"/>
              </a:solidFill>
              <a:latin typeface="EY interstate"/>
            </a:endParaRPr>
          </a:p>
          <a:p>
            <a:pPr marL="285750" indent="-285750" fontAlgn="base">
              <a:lnSpc>
                <a:spcPct val="130000"/>
              </a:lnSpc>
              <a:spcBef>
                <a:spcPts val="0"/>
              </a:spcBef>
              <a:spcAft>
                <a:spcPts val="0"/>
              </a:spcAft>
              <a:buClr>
                <a:srgbClr val="175072"/>
              </a:buClr>
              <a:buSzPct val="60000"/>
              <a:buFont typeface="Arial" panose="020B0604020202020204" pitchFamily="34" charset="0"/>
              <a:buChar char="►"/>
              <a:defRPr/>
            </a:pPr>
            <a:endParaRPr lang="en-IN" sz="1050" kern="0">
              <a:solidFill>
                <a:schemeClr val="bg1"/>
              </a:solidFill>
              <a:latin typeface="EY interstate"/>
            </a:endParaRPr>
          </a:p>
        </p:txBody>
      </p:sp>
      <p:sp>
        <p:nvSpPr>
          <p:cNvPr id="16" name="Rectangle 15">
            <a:extLst>
              <a:ext uri="{FF2B5EF4-FFF2-40B4-BE49-F238E27FC236}">
                <a16:creationId xmlns:a16="http://schemas.microsoft.com/office/drawing/2014/main" id="{C82AC414-1472-015E-9194-0A19EF92D552}"/>
              </a:ext>
            </a:extLst>
          </p:cNvPr>
          <p:cNvSpPr/>
          <p:nvPr/>
        </p:nvSpPr>
        <p:spPr>
          <a:xfrm>
            <a:off x="120068" y="1109808"/>
            <a:ext cx="11937507" cy="736805"/>
          </a:xfrm>
          <a:prstGeom prst="rect">
            <a:avLst/>
          </a:prstGeom>
          <a:ln>
            <a:noFill/>
          </a:ln>
        </p:spPr>
        <p:txBody>
          <a:bodyPr wrap="square">
            <a:spAutoFit/>
          </a:bodyPr>
          <a:lstStyle/>
          <a:p>
            <a:pPr>
              <a:lnSpc>
                <a:spcPct val="120000"/>
              </a:lnSpc>
              <a:spcBef>
                <a:spcPts val="200"/>
              </a:spcBef>
              <a:spcAft>
                <a:spcPts val="1200"/>
              </a:spcAft>
              <a:buClr>
                <a:srgbClr val="2B5257"/>
              </a:buClr>
              <a:buSzPct val="70000"/>
              <a:defRPr/>
            </a:pPr>
            <a:r>
              <a:rPr lang="en-IN" sz="1200" kern="0">
                <a:solidFill>
                  <a:schemeClr val="bg1"/>
                </a:solidFill>
                <a:latin typeface="EY interstate"/>
              </a:rPr>
              <a:t>Journal entries are the building blocks of an organization’s accounting system. All systems, whether they are paper-based, completely automated, or a hybrid of the two, are predicated on Journal Entries. Journal entries record all transactions for a business and are broadly defined as any financial activity that impacts the business. They are not limited to the buying and selling of goods and services, but include any exchange of monetary value, such as interest payments, depreciation, expenses, or payroll.</a:t>
            </a:r>
          </a:p>
        </p:txBody>
      </p:sp>
    </p:spTree>
    <p:extLst>
      <p:ext uri="{BB962C8B-B14F-4D97-AF65-F5344CB8AC3E}">
        <p14:creationId xmlns:p14="http://schemas.microsoft.com/office/powerpoint/2010/main" val="238477927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itle 1">
            <a:extLst>
              <a:ext uri="{FF2B5EF4-FFF2-40B4-BE49-F238E27FC236}">
                <a16:creationId xmlns:a16="http://schemas.microsoft.com/office/drawing/2014/main" id="{D58A8E02-7F09-371B-AD23-E4C3F60A514D}"/>
              </a:ext>
            </a:extLst>
          </p:cNvPr>
          <p:cNvSpPr>
            <a:spLocks noGrp="1"/>
          </p:cNvSpPr>
          <p:nvPr>
            <p:ph type="title" idx="4294967295"/>
          </p:nvPr>
        </p:nvSpPr>
        <p:spPr>
          <a:xfrm>
            <a:off x="573155" y="419789"/>
            <a:ext cx="10799064" cy="793750"/>
          </a:xfrm>
        </p:spPr>
        <p:txBody>
          <a:bodyPr vert="horz" lIns="0" tIns="0" rIns="0" bIns="0" rtlCol="0" anchor="t" anchorCtr="0">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Journal Entry Approval Matrix &amp; Template</a:t>
            </a:r>
          </a:p>
        </p:txBody>
      </p:sp>
      <p:sp>
        <p:nvSpPr>
          <p:cNvPr id="138" name="TextBox 137">
            <a:extLst>
              <a:ext uri="{FF2B5EF4-FFF2-40B4-BE49-F238E27FC236}">
                <a16:creationId xmlns:a16="http://schemas.microsoft.com/office/drawing/2014/main" id="{0EC18BCC-A4F2-000A-97BD-D09BA950B10D}"/>
              </a:ext>
            </a:extLst>
          </p:cNvPr>
          <p:cNvSpPr txBox="1"/>
          <p:nvPr/>
        </p:nvSpPr>
        <p:spPr>
          <a:xfrm>
            <a:off x="-25400" y="6688723"/>
            <a:ext cx="1549400" cy="169277"/>
          </a:xfrm>
          <a:prstGeom prst="rect">
            <a:avLst/>
          </a:prstGeom>
          <a:noFill/>
        </p:spPr>
        <p:txBody>
          <a:bodyPr wrap="square">
            <a:spAutoFit/>
          </a:bodyPr>
          <a:lstStyle/>
          <a:p>
            <a:r>
              <a:rPr lang="en-IN" sz="500" i="1">
                <a:solidFill>
                  <a:schemeClr val="bg1"/>
                </a:solidFill>
                <a:latin typeface="EYInterstate Light" panose="02000506000000020004" pitchFamily="2" charset="0"/>
              </a:rPr>
              <a:t>Source: EYQ, ChatGPT</a:t>
            </a:r>
          </a:p>
        </p:txBody>
      </p:sp>
      <p:graphicFrame>
        <p:nvGraphicFramePr>
          <p:cNvPr id="2" name="Table 1">
            <a:extLst>
              <a:ext uri="{FF2B5EF4-FFF2-40B4-BE49-F238E27FC236}">
                <a16:creationId xmlns:a16="http://schemas.microsoft.com/office/drawing/2014/main" id="{BE3534FC-0381-4ADD-943F-011B586E896F}"/>
              </a:ext>
            </a:extLst>
          </p:cNvPr>
          <p:cNvGraphicFramePr>
            <a:graphicFrameLocks noGrp="1"/>
          </p:cNvGraphicFramePr>
          <p:nvPr>
            <p:extLst>
              <p:ext uri="{D42A27DB-BD31-4B8C-83A1-F6EECF244321}">
                <p14:modId xmlns:p14="http://schemas.microsoft.com/office/powerpoint/2010/main" val="956716803"/>
              </p:ext>
            </p:extLst>
          </p:nvPr>
        </p:nvGraphicFramePr>
        <p:xfrm>
          <a:off x="552027" y="1213539"/>
          <a:ext cx="5420660" cy="4992616"/>
        </p:xfrm>
        <a:graphic>
          <a:graphicData uri="http://schemas.openxmlformats.org/drawingml/2006/table">
            <a:tbl>
              <a:tblPr/>
              <a:tblGrid>
                <a:gridCol w="1084132">
                  <a:extLst>
                    <a:ext uri="{9D8B030D-6E8A-4147-A177-3AD203B41FA5}">
                      <a16:colId xmlns:a16="http://schemas.microsoft.com/office/drawing/2014/main" val="440715312"/>
                    </a:ext>
                  </a:extLst>
                </a:gridCol>
                <a:gridCol w="1084132">
                  <a:extLst>
                    <a:ext uri="{9D8B030D-6E8A-4147-A177-3AD203B41FA5}">
                      <a16:colId xmlns:a16="http://schemas.microsoft.com/office/drawing/2014/main" val="4010411377"/>
                    </a:ext>
                  </a:extLst>
                </a:gridCol>
                <a:gridCol w="1084132">
                  <a:extLst>
                    <a:ext uri="{9D8B030D-6E8A-4147-A177-3AD203B41FA5}">
                      <a16:colId xmlns:a16="http://schemas.microsoft.com/office/drawing/2014/main" val="1830814029"/>
                    </a:ext>
                  </a:extLst>
                </a:gridCol>
                <a:gridCol w="1084132">
                  <a:extLst>
                    <a:ext uri="{9D8B030D-6E8A-4147-A177-3AD203B41FA5}">
                      <a16:colId xmlns:a16="http://schemas.microsoft.com/office/drawing/2014/main" val="2067029331"/>
                    </a:ext>
                  </a:extLst>
                </a:gridCol>
                <a:gridCol w="1084132">
                  <a:extLst>
                    <a:ext uri="{9D8B030D-6E8A-4147-A177-3AD203B41FA5}">
                      <a16:colId xmlns:a16="http://schemas.microsoft.com/office/drawing/2014/main" val="2734049535"/>
                    </a:ext>
                  </a:extLst>
                </a:gridCol>
              </a:tblGrid>
              <a:tr h="318087">
                <a:tc>
                  <a:txBody>
                    <a:bodyPr/>
                    <a:lstStyle/>
                    <a:p>
                      <a:pPr algn="ctr" fontAlgn="t">
                        <a:buNone/>
                      </a:pPr>
                      <a:r>
                        <a:rPr lang="en-IN" sz="900" b="1">
                          <a:solidFill>
                            <a:schemeClr val="bg1"/>
                          </a:solidFill>
                          <a:effectLst/>
                          <a:latin typeface="EY interstate"/>
                        </a:rPr>
                        <a:t>JE Category / Criteria</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1">
                          <a:solidFill>
                            <a:schemeClr val="bg1"/>
                          </a:solidFill>
                          <a:effectLst/>
                          <a:latin typeface="EY interstate"/>
                        </a:rPr>
                        <a:t>Preparer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1">
                          <a:solidFill>
                            <a:schemeClr val="bg1"/>
                          </a:solidFill>
                          <a:effectLst/>
                          <a:latin typeface="EY interstate"/>
                        </a:rPr>
                        <a:t>Reviewer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1">
                          <a:solidFill>
                            <a:schemeClr val="bg1"/>
                          </a:solidFill>
                          <a:effectLst/>
                          <a:latin typeface="EY interstate"/>
                        </a:rPr>
                        <a:t>Approver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1">
                          <a:solidFill>
                            <a:schemeClr val="bg1"/>
                          </a:solidFill>
                          <a:effectLst/>
                          <a:latin typeface="EY interstate"/>
                        </a:rPr>
                        <a:t>Compliance Notes</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21973141"/>
                  </a:ext>
                </a:extLst>
              </a:tr>
              <a:tr h="318087">
                <a:tc>
                  <a:txBody>
                    <a:bodyPr/>
                    <a:lstStyle/>
                    <a:p>
                      <a:pPr algn="ctr" fontAlgn="t">
                        <a:buNone/>
                      </a:pPr>
                      <a:r>
                        <a:rPr lang="en-IN" sz="900" b="1">
                          <a:solidFill>
                            <a:schemeClr val="bg1"/>
                          </a:solidFill>
                          <a:effectLst/>
                          <a:latin typeface="EY interstate"/>
                        </a:rPr>
                        <a:t>Low-Value JE (&lt; $10K)</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Accountant / Analyst</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Optional</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Auto-post or Team Lead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System validations must be in place</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2774359610"/>
                  </a:ext>
                </a:extLst>
              </a:tr>
              <a:tr h="453604">
                <a:tc>
                  <a:txBody>
                    <a:bodyPr/>
                    <a:lstStyle/>
                    <a:p>
                      <a:pPr algn="ctr" fontAlgn="t">
                        <a:buNone/>
                      </a:pPr>
                      <a:r>
                        <a:rPr lang="en-IN" sz="900" b="1">
                          <a:solidFill>
                            <a:schemeClr val="bg1"/>
                          </a:solidFill>
                          <a:effectLst/>
                          <a:latin typeface="EY interstate"/>
                        </a:rPr>
                        <a:t>Mid-Value JE ($10K–$100K)</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Accountant</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Senior Accountant / Team Lead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Manager / Controller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Backup documentation required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4241390469"/>
                  </a:ext>
                </a:extLst>
              </a:tr>
              <a:tr h="318087">
                <a:tc>
                  <a:txBody>
                    <a:bodyPr/>
                    <a:lstStyle/>
                    <a:p>
                      <a:pPr algn="ctr" fontAlgn="t">
                        <a:buNone/>
                      </a:pPr>
                      <a:r>
                        <a:rPr lang="en-IN" sz="900" b="1">
                          <a:solidFill>
                            <a:schemeClr val="bg1"/>
                          </a:solidFill>
                          <a:effectLst/>
                          <a:latin typeface="EY interstate"/>
                        </a:rPr>
                        <a:t>High-Value JE (&gt; $100K)</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Senior Accountant</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Manager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Controller / CFO</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Justification memo + audit trail</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253378960"/>
                  </a:ext>
                </a:extLst>
              </a:tr>
              <a:tr h="318087">
                <a:tc>
                  <a:txBody>
                    <a:bodyPr/>
                    <a:lstStyle/>
                    <a:p>
                      <a:pPr algn="ctr" fontAlgn="t">
                        <a:buNone/>
                      </a:pPr>
                      <a:r>
                        <a:rPr lang="en-IN" sz="900" b="1">
                          <a:solidFill>
                            <a:schemeClr val="bg1"/>
                          </a:solidFill>
                          <a:effectLst/>
                          <a:latin typeface="EY interstate"/>
                        </a:rPr>
                        <a:t>Accruals / Provisions</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Accountant</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Senior Accountant</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Manager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Reversal logic documented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773323652"/>
                  </a:ext>
                </a:extLst>
              </a:tr>
              <a:tr h="318087">
                <a:tc>
                  <a:txBody>
                    <a:bodyPr/>
                    <a:lstStyle/>
                    <a:p>
                      <a:pPr algn="ctr" fontAlgn="t">
                        <a:buNone/>
                      </a:pPr>
                      <a:r>
                        <a:rPr lang="en-IN" sz="900" b="1">
                          <a:solidFill>
                            <a:schemeClr val="bg1"/>
                          </a:solidFill>
                          <a:effectLst/>
                          <a:latin typeface="EY interstate"/>
                        </a:rPr>
                        <a:t>Adjustments / Corrections</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Original Preparer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Reviewer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Controller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Must reference original JE</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3910524150"/>
                  </a:ext>
                </a:extLst>
              </a:tr>
              <a:tr h="318087">
                <a:tc>
                  <a:txBody>
                    <a:bodyPr/>
                    <a:lstStyle/>
                    <a:p>
                      <a:pPr algn="ctr" fontAlgn="t">
                        <a:buNone/>
                      </a:pPr>
                      <a:r>
                        <a:rPr lang="en-IN" sz="900" b="1">
                          <a:solidFill>
                            <a:schemeClr val="bg1"/>
                          </a:solidFill>
                          <a:effectLst/>
                          <a:latin typeface="EY interstate"/>
                        </a:rPr>
                        <a:t>Intercompany JE</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Local Entity Accountant</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Regional Controller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Global Finance</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Must reconcile with counterparty</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543839185"/>
                  </a:ext>
                </a:extLst>
              </a:tr>
              <a:tr h="453604">
                <a:tc>
                  <a:txBody>
                    <a:bodyPr/>
                    <a:lstStyle/>
                    <a:p>
                      <a:pPr algn="ctr" fontAlgn="t">
                        <a:buNone/>
                      </a:pPr>
                      <a:r>
                        <a:rPr lang="en-IN" sz="900" b="1">
                          <a:solidFill>
                            <a:schemeClr val="bg1"/>
                          </a:solidFill>
                          <a:effectLst/>
                          <a:latin typeface="EY interstate"/>
                        </a:rPr>
                        <a:t>Manual JE (non-automated)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Preparer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Reviewer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Approver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Mandatory attachments and comments</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60029312"/>
                  </a:ext>
                </a:extLst>
              </a:tr>
              <a:tr h="318087">
                <a:tc>
                  <a:txBody>
                    <a:bodyPr/>
                    <a:lstStyle/>
                    <a:p>
                      <a:pPr algn="ctr" fontAlgn="t">
                        <a:buNone/>
                      </a:pPr>
                      <a:r>
                        <a:rPr lang="en-IN" sz="900" b="1">
                          <a:solidFill>
                            <a:schemeClr val="bg1"/>
                          </a:solidFill>
                          <a:effectLst/>
                          <a:latin typeface="EY interstate"/>
                        </a:rPr>
                        <a:t>Recurring JE</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System / Preparer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Reviewer (monthly)</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Approver (quarterly)</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Periodic revalidation required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879410286"/>
                  </a:ext>
                </a:extLst>
              </a:tr>
              <a:tr h="318087">
                <a:tc>
                  <a:txBody>
                    <a:bodyPr/>
                    <a:lstStyle/>
                    <a:p>
                      <a:pPr algn="ctr" fontAlgn="t">
                        <a:buNone/>
                      </a:pPr>
                      <a:r>
                        <a:rPr lang="nl-NL" sz="900" b="1">
                          <a:solidFill>
                            <a:schemeClr val="bg1"/>
                          </a:solidFill>
                          <a:effectLst/>
                          <a:latin typeface="EY interstate"/>
                        </a:rPr>
                        <a:t>JE impacting P&amp;L &gt; $50K</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Preparer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Reviewer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Controller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Financial impact analysis required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3237618025"/>
                  </a:ext>
                </a:extLst>
              </a:tr>
              <a:tr h="453604">
                <a:tc>
                  <a:txBody>
                    <a:bodyPr/>
                    <a:lstStyle/>
                    <a:p>
                      <a:pPr algn="ctr" fontAlgn="t">
                        <a:buNone/>
                      </a:pPr>
                      <a:r>
                        <a:rPr lang="en-IN" sz="900" b="1">
                          <a:solidFill>
                            <a:schemeClr val="bg1"/>
                          </a:solidFill>
                          <a:effectLst/>
                          <a:latin typeface="EY interstate"/>
                        </a:rPr>
                        <a:t>JE impacting Balance Sheet &gt; $250K</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Preparer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Reviewer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CFO / Head of Finance</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External audit visibility required</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2448911442"/>
                  </a:ext>
                </a:extLst>
              </a:tr>
              <a:tr h="589121">
                <a:tc>
                  <a:txBody>
                    <a:bodyPr/>
                    <a:lstStyle/>
                    <a:p>
                      <a:pPr algn="ctr" fontAlgn="t">
                        <a:buNone/>
                      </a:pPr>
                      <a:r>
                        <a:rPr lang="en-IN" sz="900" b="1">
                          <a:solidFill>
                            <a:schemeClr val="bg1"/>
                          </a:solidFill>
                          <a:effectLst/>
                          <a:latin typeface="EY interstate"/>
                        </a:rPr>
                        <a:t>JE involving regulatory accounts (e.g., tax, legal reserves)</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Tax / Legal Team</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Finance Controller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CFO / Compliance Officer</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Must comply with local GAAP/IFRS</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509491116"/>
                  </a:ext>
                </a:extLst>
              </a:tr>
              <a:tr h="453604">
                <a:tc>
                  <a:txBody>
                    <a:bodyPr/>
                    <a:lstStyle/>
                    <a:p>
                      <a:pPr algn="ctr" fontAlgn="t">
                        <a:buNone/>
                      </a:pPr>
                      <a:r>
                        <a:rPr lang="en-IN" sz="900" b="1">
                          <a:solidFill>
                            <a:schemeClr val="bg1"/>
                          </a:solidFill>
                          <a:effectLst/>
                          <a:latin typeface="EY interstate"/>
                        </a:rPr>
                        <a:t>JE during close period (blackout window)</a:t>
                      </a:r>
                    </a:p>
                  </a:txBody>
                  <a:tcPr marL="37643" marR="25096" marT="25096" marB="21959">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Preparer</a:t>
                      </a:r>
                    </a:p>
                  </a:txBody>
                  <a:tcPr marL="37643" marR="25096" marT="25096" marB="18822">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Reviewer</a:t>
                      </a:r>
                    </a:p>
                  </a:txBody>
                  <a:tcPr marL="37643" marR="25096" marT="25096" marB="18822">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CFO / Controller</a:t>
                      </a:r>
                    </a:p>
                  </a:txBody>
                  <a:tcPr marL="37643" marR="25096" marT="25096" marB="18822">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ctr" fontAlgn="t">
                        <a:buNone/>
                      </a:pPr>
                      <a:r>
                        <a:rPr lang="en-IN" sz="900" b="0">
                          <a:solidFill>
                            <a:schemeClr val="bg1"/>
                          </a:solidFill>
                          <a:effectLst/>
                          <a:latin typeface="EY interstate"/>
                        </a:rPr>
                        <a:t>Requires justification and exception approval</a:t>
                      </a:r>
                    </a:p>
                  </a:txBody>
                  <a:tcPr marL="37643" marR="25096" marT="25096" marB="18822">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52956338"/>
                  </a:ext>
                </a:extLst>
              </a:tr>
            </a:tbl>
          </a:graphicData>
        </a:graphic>
      </p:graphicFrame>
      <p:sp>
        <p:nvSpPr>
          <p:cNvPr id="10" name="TextBox 9">
            <a:extLst>
              <a:ext uri="{FF2B5EF4-FFF2-40B4-BE49-F238E27FC236}">
                <a16:creationId xmlns:a16="http://schemas.microsoft.com/office/drawing/2014/main" id="{E3201722-C34C-1D69-A290-B2FD14730A2E}"/>
              </a:ext>
            </a:extLst>
          </p:cNvPr>
          <p:cNvSpPr txBox="1"/>
          <p:nvPr/>
        </p:nvSpPr>
        <p:spPr>
          <a:xfrm>
            <a:off x="7727664" y="1213539"/>
            <a:ext cx="4226984" cy="2973827"/>
          </a:xfrm>
          <a:prstGeom prst="rect">
            <a:avLst/>
          </a:prstGeom>
          <a:noFill/>
        </p:spPr>
        <p:txBody>
          <a:bodyPr wrap="square">
            <a:spAutoFit/>
          </a:bodyPr>
          <a:lstStyle/>
          <a:p>
            <a:pPr>
              <a:lnSpc>
                <a:spcPct val="150000"/>
              </a:lnSpc>
              <a:spcBef>
                <a:spcPts val="975"/>
              </a:spcBef>
              <a:spcAft>
                <a:spcPts val="225"/>
              </a:spcAft>
              <a:buNone/>
            </a:pPr>
            <a:r>
              <a:rPr lang="en-IN" b="1" i="0">
                <a:solidFill>
                  <a:srgbClr val="FFE600"/>
                </a:solidFill>
                <a:effectLst/>
                <a:latin typeface="EY interstate"/>
              </a:rPr>
              <a:t>Embedded Controls &amp; Best Practices</a:t>
            </a:r>
          </a:p>
          <a:p>
            <a:pPr>
              <a:lnSpc>
                <a:spcPct val="200000"/>
              </a:lnSpc>
              <a:spcBef>
                <a:spcPts val="300"/>
              </a:spcBef>
              <a:spcAft>
                <a:spcPts val="300"/>
              </a:spcAft>
            </a:pPr>
            <a:r>
              <a:rPr lang="en-IN" sz="1400" i="0">
                <a:solidFill>
                  <a:schemeClr val="bg1"/>
                </a:solidFill>
                <a:effectLst/>
                <a:latin typeface="EY interstate"/>
              </a:rPr>
              <a:t>Segregation of Duties </a:t>
            </a:r>
          </a:p>
          <a:p>
            <a:pPr>
              <a:lnSpc>
                <a:spcPct val="200000"/>
              </a:lnSpc>
              <a:spcBef>
                <a:spcPts val="300"/>
              </a:spcBef>
              <a:spcAft>
                <a:spcPts val="300"/>
              </a:spcAft>
            </a:pPr>
            <a:r>
              <a:rPr lang="en-IN" sz="1400" i="0">
                <a:solidFill>
                  <a:schemeClr val="bg1"/>
                </a:solidFill>
                <a:effectLst/>
                <a:latin typeface="EY interstate"/>
              </a:rPr>
              <a:t>SOX Compliance</a:t>
            </a:r>
          </a:p>
          <a:p>
            <a:pPr>
              <a:lnSpc>
                <a:spcPct val="200000"/>
              </a:lnSpc>
              <a:spcBef>
                <a:spcPts val="300"/>
              </a:spcBef>
              <a:spcAft>
                <a:spcPts val="300"/>
              </a:spcAft>
            </a:pPr>
            <a:r>
              <a:rPr lang="en-IN" sz="1400" i="0">
                <a:solidFill>
                  <a:schemeClr val="bg1"/>
                </a:solidFill>
                <a:effectLst/>
                <a:latin typeface="EY interstate"/>
              </a:rPr>
              <a:t>System Integration</a:t>
            </a:r>
          </a:p>
          <a:p>
            <a:pPr>
              <a:lnSpc>
                <a:spcPct val="200000"/>
              </a:lnSpc>
              <a:spcBef>
                <a:spcPts val="300"/>
              </a:spcBef>
              <a:spcAft>
                <a:spcPts val="300"/>
              </a:spcAft>
            </a:pPr>
            <a:r>
              <a:rPr lang="en-IN" sz="1400" i="0">
                <a:solidFill>
                  <a:schemeClr val="bg1"/>
                </a:solidFill>
                <a:effectLst/>
                <a:latin typeface="EY interstate"/>
              </a:rPr>
              <a:t>Exception Handling</a:t>
            </a:r>
          </a:p>
          <a:p>
            <a:pPr>
              <a:lnSpc>
                <a:spcPct val="200000"/>
              </a:lnSpc>
              <a:spcBef>
                <a:spcPts val="300"/>
              </a:spcBef>
              <a:spcAft>
                <a:spcPts val="300"/>
              </a:spcAft>
            </a:pPr>
            <a:r>
              <a:rPr lang="en-IN" sz="1400" i="0">
                <a:solidFill>
                  <a:schemeClr val="bg1"/>
                </a:solidFill>
                <a:effectLst/>
                <a:latin typeface="EY interstate"/>
              </a:rPr>
              <a:t>Documentation</a:t>
            </a:r>
          </a:p>
        </p:txBody>
      </p:sp>
      <p:cxnSp>
        <p:nvCxnSpPr>
          <p:cNvPr id="133" name="Straight Connector 132">
            <a:extLst>
              <a:ext uri="{FF2B5EF4-FFF2-40B4-BE49-F238E27FC236}">
                <a16:creationId xmlns:a16="http://schemas.microsoft.com/office/drawing/2014/main" id="{F021B80D-BF2C-0FE0-D4D9-35ED75529B43}"/>
              </a:ext>
            </a:extLst>
          </p:cNvPr>
          <p:cNvCxnSpPr/>
          <p:nvPr/>
        </p:nvCxnSpPr>
        <p:spPr>
          <a:xfrm>
            <a:off x="6282267" y="1109134"/>
            <a:ext cx="0" cy="5181600"/>
          </a:xfrm>
          <a:prstGeom prst="line">
            <a:avLst/>
          </a:prstGeom>
          <a:ln>
            <a:solidFill>
              <a:srgbClr val="FFE600"/>
            </a:solidFill>
          </a:ln>
        </p:spPr>
        <p:style>
          <a:lnRef idx="2">
            <a:schemeClr val="accent1"/>
          </a:lnRef>
          <a:fillRef idx="0">
            <a:schemeClr val="accent1"/>
          </a:fillRef>
          <a:effectRef idx="1">
            <a:schemeClr val="accent1"/>
          </a:effectRef>
          <a:fontRef idx="minor">
            <a:schemeClr val="tx1"/>
          </a:fontRef>
        </p:style>
      </p:cxnSp>
      <p:pic>
        <p:nvPicPr>
          <p:cNvPr id="140" name="Graphic 139" descr="Flowchart with solid fill">
            <a:extLst>
              <a:ext uri="{FF2B5EF4-FFF2-40B4-BE49-F238E27FC236}">
                <a16:creationId xmlns:a16="http://schemas.microsoft.com/office/drawing/2014/main" id="{4133A91F-925D-D2B1-7823-7925C25D982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177481" y="1718458"/>
            <a:ext cx="533399" cy="533399"/>
          </a:xfrm>
          <a:prstGeom prst="rect">
            <a:avLst/>
          </a:prstGeom>
        </p:spPr>
      </p:pic>
      <p:pic>
        <p:nvPicPr>
          <p:cNvPr id="146" name="Graphic 145" descr="Gavel outline">
            <a:extLst>
              <a:ext uri="{FF2B5EF4-FFF2-40B4-BE49-F238E27FC236}">
                <a16:creationId xmlns:a16="http://schemas.microsoft.com/office/drawing/2014/main" id="{744166F4-4BBF-844B-0DA1-A220657A9A1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203667" y="2251857"/>
            <a:ext cx="481026" cy="481026"/>
          </a:xfrm>
          <a:prstGeom prst="rect">
            <a:avLst/>
          </a:prstGeom>
        </p:spPr>
      </p:pic>
      <p:pic>
        <p:nvPicPr>
          <p:cNvPr id="150" name="Graphic 149" descr="Plug with solid fill">
            <a:extLst>
              <a:ext uri="{FF2B5EF4-FFF2-40B4-BE49-F238E27FC236}">
                <a16:creationId xmlns:a16="http://schemas.microsoft.com/office/drawing/2014/main" id="{0A29178A-8B7C-4C17-ADE7-AD440AF23E6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297343" y="2878932"/>
            <a:ext cx="387350" cy="387350"/>
          </a:xfrm>
          <a:prstGeom prst="rect">
            <a:avLst/>
          </a:prstGeom>
        </p:spPr>
      </p:pic>
      <p:pic>
        <p:nvPicPr>
          <p:cNvPr id="163" name="Graphic 162" descr="Warning with solid fill">
            <a:extLst>
              <a:ext uri="{FF2B5EF4-FFF2-40B4-BE49-F238E27FC236}">
                <a16:creationId xmlns:a16="http://schemas.microsoft.com/office/drawing/2014/main" id="{B44E9998-E742-7BA9-6100-68B906D96CC5}"/>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331481" y="3298033"/>
            <a:ext cx="387350" cy="387350"/>
          </a:xfrm>
          <a:prstGeom prst="rect">
            <a:avLst/>
          </a:prstGeom>
        </p:spPr>
      </p:pic>
      <p:pic>
        <p:nvPicPr>
          <p:cNvPr id="165" name="Graphic 164" descr="List with solid fill">
            <a:extLst>
              <a:ext uri="{FF2B5EF4-FFF2-40B4-BE49-F238E27FC236}">
                <a16:creationId xmlns:a16="http://schemas.microsoft.com/office/drawing/2014/main" id="{BCDF7DFC-A319-CEBF-1E4E-6F7BF254A24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0286214" y="3833801"/>
            <a:ext cx="481027" cy="481027"/>
          </a:xfrm>
          <a:prstGeom prst="rect">
            <a:avLst/>
          </a:prstGeom>
        </p:spPr>
      </p:pic>
      <p:sp>
        <p:nvSpPr>
          <p:cNvPr id="166" name="Rectangle 165">
            <a:extLst>
              <a:ext uri="{FF2B5EF4-FFF2-40B4-BE49-F238E27FC236}">
                <a16:creationId xmlns:a16="http://schemas.microsoft.com/office/drawing/2014/main" id="{70A6E7FC-DE18-77D2-2107-511FEAB368F5}"/>
              </a:ext>
            </a:extLst>
          </p:cNvPr>
          <p:cNvSpPr/>
          <p:nvPr/>
        </p:nvSpPr>
        <p:spPr>
          <a:xfrm>
            <a:off x="10102850" y="1726004"/>
            <a:ext cx="711195" cy="2654300"/>
          </a:xfrm>
          <a:prstGeom prst="rect">
            <a:avLst/>
          </a:prstGeom>
          <a:no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7" name="Rectangle 166">
            <a:extLst>
              <a:ext uri="{FF2B5EF4-FFF2-40B4-BE49-F238E27FC236}">
                <a16:creationId xmlns:a16="http://schemas.microsoft.com/office/drawing/2014/main" id="{DA41A7F9-25BB-0F87-9668-388B27857F08}"/>
              </a:ext>
            </a:extLst>
          </p:cNvPr>
          <p:cNvSpPr/>
          <p:nvPr/>
        </p:nvSpPr>
        <p:spPr>
          <a:xfrm>
            <a:off x="7687524" y="1726004"/>
            <a:ext cx="3450376" cy="2654300"/>
          </a:xfrm>
          <a:prstGeom prst="rect">
            <a:avLst/>
          </a:prstGeom>
          <a:no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aphicFrame>
        <p:nvGraphicFramePr>
          <p:cNvPr id="169" name="Object 168">
            <a:extLst>
              <a:ext uri="{FF2B5EF4-FFF2-40B4-BE49-F238E27FC236}">
                <a16:creationId xmlns:a16="http://schemas.microsoft.com/office/drawing/2014/main" id="{B83DADBD-642B-CB9A-01C4-66A409B29512}"/>
              </a:ext>
            </a:extLst>
          </p:cNvPr>
          <p:cNvGraphicFramePr>
            <a:graphicFrameLocks noChangeAspect="1"/>
          </p:cNvGraphicFramePr>
          <p:nvPr>
            <p:extLst>
              <p:ext uri="{D42A27DB-BD31-4B8C-83A1-F6EECF244321}">
                <p14:modId xmlns:p14="http://schemas.microsoft.com/office/powerpoint/2010/main" val="4098389633"/>
              </p:ext>
            </p:extLst>
          </p:nvPr>
        </p:nvGraphicFramePr>
        <p:xfrm>
          <a:off x="9188450" y="4892769"/>
          <a:ext cx="914400" cy="806450"/>
        </p:xfrm>
        <a:graphic>
          <a:graphicData uri="http://schemas.openxmlformats.org/presentationml/2006/ole">
            <mc:AlternateContent xmlns:mc="http://schemas.openxmlformats.org/markup-compatibility/2006">
              <mc:Choice xmlns:v="urn:schemas-microsoft-com:vml" Requires="v">
                <p:oleObj name="Worksheet" showAsIcon="1" r:id="rId13" imgW="914400" imgH="806585" progId="Excel.Sheet.12">
                  <p:embed/>
                </p:oleObj>
              </mc:Choice>
              <mc:Fallback>
                <p:oleObj name="Worksheet" showAsIcon="1" r:id="rId13" imgW="914400" imgH="806585" progId="Excel.Sheet.12">
                  <p:embed/>
                  <p:pic>
                    <p:nvPicPr>
                      <p:cNvPr id="169" name="Object 168">
                        <a:extLst>
                          <a:ext uri="{FF2B5EF4-FFF2-40B4-BE49-F238E27FC236}">
                            <a16:creationId xmlns:a16="http://schemas.microsoft.com/office/drawing/2014/main" id="{B83DADBD-642B-CB9A-01C4-66A409B29512}"/>
                          </a:ext>
                        </a:extLst>
                      </p:cNvPr>
                      <p:cNvPicPr/>
                      <p:nvPr/>
                    </p:nvPicPr>
                    <p:blipFill>
                      <a:blip r:embed="rId14"/>
                      <a:stretch>
                        <a:fillRect/>
                      </a:stretch>
                    </p:blipFill>
                    <p:spPr>
                      <a:xfrm>
                        <a:off x="9188450" y="4892769"/>
                        <a:ext cx="914400" cy="806450"/>
                      </a:xfrm>
                      <a:prstGeom prst="rect">
                        <a:avLst/>
                      </a:prstGeom>
                      <a:solidFill>
                        <a:schemeClr val="bg1"/>
                      </a:solidFill>
                      <a:ln>
                        <a:solidFill>
                          <a:srgbClr val="FFE600"/>
                        </a:solidFill>
                      </a:ln>
                    </p:spPr>
                  </p:pic>
                </p:oleObj>
              </mc:Fallback>
            </mc:AlternateContent>
          </a:graphicData>
        </a:graphic>
      </p:graphicFrame>
    </p:spTree>
    <p:extLst>
      <p:ext uri="{BB962C8B-B14F-4D97-AF65-F5344CB8AC3E}">
        <p14:creationId xmlns:p14="http://schemas.microsoft.com/office/powerpoint/2010/main" val="208572689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1FC638-7149-C0E4-67EF-C7DB9E0C87E7}"/>
            </a:ext>
          </a:extLst>
        </p:cNvPr>
        <p:cNvGrpSpPr/>
        <p:nvPr/>
      </p:nvGrpSpPr>
      <p:grpSpPr>
        <a:xfrm>
          <a:off x="0" y="0"/>
          <a:ext cx="0" cy="0"/>
          <a:chOff x="0" y="0"/>
          <a:chExt cx="0" cy="0"/>
        </a:xfrm>
      </p:grpSpPr>
      <p:sp>
        <p:nvSpPr>
          <p:cNvPr id="132" name="Title 1">
            <a:extLst>
              <a:ext uri="{FF2B5EF4-FFF2-40B4-BE49-F238E27FC236}">
                <a16:creationId xmlns:a16="http://schemas.microsoft.com/office/drawing/2014/main" id="{7DF92C30-0E65-B5B4-2B6D-B14DA889C7A1}"/>
              </a:ext>
            </a:extLst>
          </p:cNvPr>
          <p:cNvSpPr>
            <a:spLocks noGrp="1"/>
          </p:cNvSpPr>
          <p:nvPr>
            <p:ph type="title" idx="4294967295"/>
          </p:nvPr>
        </p:nvSpPr>
        <p:spPr>
          <a:xfrm>
            <a:off x="601134" y="403341"/>
            <a:ext cx="10799064" cy="793750"/>
          </a:xfr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Journal Entry Approval Matrix &amp; Template</a:t>
            </a:r>
          </a:p>
        </p:txBody>
      </p:sp>
      <p:sp>
        <p:nvSpPr>
          <p:cNvPr id="138" name="TextBox 137">
            <a:extLst>
              <a:ext uri="{FF2B5EF4-FFF2-40B4-BE49-F238E27FC236}">
                <a16:creationId xmlns:a16="http://schemas.microsoft.com/office/drawing/2014/main" id="{1FEF1B16-CA83-3A0E-FF8C-1DF55AD00388}"/>
              </a:ext>
            </a:extLst>
          </p:cNvPr>
          <p:cNvSpPr txBox="1"/>
          <p:nvPr/>
        </p:nvSpPr>
        <p:spPr>
          <a:xfrm>
            <a:off x="-25400" y="6688723"/>
            <a:ext cx="1549400" cy="169277"/>
          </a:xfrm>
          <a:prstGeom prst="rect">
            <a:avLst/>
          </a:prstGeom>
          <a:noFill/>
        </p:spPr>
        <p:txBody>
          <a:bodyPr wrap="square">
            <a:spAutoFit/>
          </a:bodyPr>
          <a:lstStyle/>
          <a:p>
            <a:r>
              <a:rPr lang="en-IN" sz="500" i="1">
                <a:solidFill>
                  <a:schemeClr val="bg1"/>
                </a:solidFill>
                <a:latin typeface="EYInterstate Light" panose="02000506000000020004" pitchFamily="2" charset="0"/>
              </a:rPr>
              <a:t>Source: EYQ, ChatGPT</a:t>
            </a:r>
          </a:p>
        </p:txBody>
      </p:sp>
      <p:graphicFrame>
        <p:nvGraphicFramePr>
          <p:cNvPr id="2" name="Table 1">
            <a:extLst>
              <a:ext uri="{FF2B5EF4-FFF2-40B4-BE49-F238E27FC236}">
                <a16:creationId xmlns:a16="http://schemas.microsoft.com/office/drawing/2014/main" id="{86D82DD5-07AD-0D8A-71F4-0C6548EBD6CF}"/>
              </a:ext>
            </a:extLst>
          </p:cNvPr>
          <p:cNvGraphicFramePr>
            <a:graphicFrameLocks noGrp="1"/>
          </p:cNvGraphicFramePr>
          <p:nvPr>
            <p:extLst>
              <p:ext uri="{D42A27DB-BD31-4B8C-83A1-F6EECF244321}">
                <p14:modId xmlns:p14="http://schemas.microsoft.com/office/powerpoint/2010/main" val="518384728"/>
              </p:ext>
            </p:extLst>
          </p:nvPr>
        </p:nvGraphicFramePr>
        <p:xfrm>
          <a:off x="552027" y="1008476"/>
          <a:ext cx="11134005" cy="5471987"/>
        </p:xfrm>
        <a:graphic>
          <a:graphicData uri="http://schemas.openxmlformats.org/drawingml/2006/table">
            <a:tbl>
              <a:tblPr/>
              <a:tblGrid>
                <a:gridCol w="504087">
                  <a:extLst>
                    <a:ext uri="{9D8B030D-6E8A-4147-A177-3AD203B41FA5}">
                      <a16:colId xmlns:a16="http://schemas.microsoft.com/office/drawing/2014/main" val="440715312"/>
                    </a:ext>
                  </a:extLst>
                </a:gridCol>
                <a:gridCol w="2400318">
                  <a:extLst>
                    <a:ext uri="{9D8B030D-6E8A-4147-A177-3AD203B41FA5}">
                      <a16:colId xmlns:a16="http://schemas.microsoft.com/office/drawing/2014/main" val="4010411377"/>
                    </a:ext>
                  </a:extLst>
                </a:gridCol>
                <a:gridCol w="3054096">
                  <a:extLst>
                    <a:ext uri="{9D8B030D-6E8A-4147-A177-3AD203B41FA5}">
                      <a16:colId xmlns:a16="http://schemas.microsoft.com/office/drawing/2014/main" val="1830814029"/>
                    </a:ext>
                  </a:extLst>
                </a:gridCol>
                <a:gridCol w="2679192">
                  <a:extLst>
                    <a:ext uri="{9D8B030D-6E8A-4147-A177-3AD203B41FA5}">
                      <a16:colId xmlns:a16="http://schemas.microsoft.com/office/drawing/2014/main" val="3302992735"/>
                    </a:ext>
                  </a:extLst>
                </a:gridCol>
                <a:gridCol w="2496312">
                  <a:extLst>
                    <a:ext uri="{9D8B030D-6E8A-4147-A177-3AD203B41FA5}">
                      <a16:colId xmlns:a16="http://schemas.microsoft.com/office/drawing/2014/main" val="3856865934"/>
                    </a:ext>
                  </a:extLst>
                </a:gridCol>
              </a:tblGrid>
              <a:tr h="296209">
                <a:tc rowSpan="2">
                  <a:txBody>
                    <a:bodyPr/>
                    <a:lstStyle/>
                    <a:p>
                      <a:pPr algn="l" fontAlgn="t">
                        <a:buNone/>
                      </a:pPr>
                      <a:r>
                        <a:rPr lang="en-IN" sz="1400" b="1">
                          <a:solidFill>
                            <a:srgbClr val="FFE600"/>
                          </a:solidFill>
                          <a:effectLst/>
                          <a:latin typeface="EY interstate"/>
                        </a:rPr>
                        <a:t>Step</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gridSpan="2">
                  <a:txBody>
                    <a:bodyPr/>
                    <a:lstStyle/>
                    <a:p>
                      <a:pPr algn="l" fontAlgn="t">
                        <a:buNone/>
                      </a:pPr>
                      <a:r>
                        <a:rPr lang="en-IN" sz="1400" b="1">
                          <a:solidFill>
                            <a:srgbClr val="FFE600"/>
                          </a:solidFill>
                          <a:effectLst/>
                          <a:latin typeface="EY interstate"/>
                        </a:rPr>
                        <a:t>Preparation Checklist</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hMerge="1">
                  <a:txBody>
                    <a:bodyPr/>
                    <a:lstStyle/>
                    <a:p>
                      <a:pPr algn="l" fontAlgn="t">
                        <a:buNone/>
                      </a:pPr>
                      <a:endParaRPr lang="en-IN" sz="1400" b="0">
                        <a:effectLst/>
                        <a:latin typeface="EY interstate"/>
                      </a:endParaRP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grid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IN" sz="1400" b="1">
                          <a:solidFill>
                            <a:srgbClr val="FFE600"/>
                          </a:solidFill>
                          <a:effectLst/>
                          <a:latin typeface="EY interstate"/>
                        </a:rPr>
                        <a:t>Review Checklist</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hMerge="1">
                  <a:txBody>
                    <a:bodyPr/>
                    <a:lstStyle/>
                    <a:p>
                      <a:pPr algn="l" fontAlgn="t">
                        <a:buNone/>
                      </a:pPr>
                      <a:endParaRPr lang="en-IN" sz="1400" b="0">
                        <a:effectLst/>
                        <a:latin typeface="EY interstate"/>
                      </a:endParaRP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3981989457"/>
                  </a:ext>
                </a:extLst>
              </a:tr>
              <a:tr h="296209">
                <a:tc vMerge="1">
                  <a:txBody>
                    <a:bodyPr/>
                    <a:lstStyle/>
                    <a:p>
                      <a:endParaRP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400" b="1">
                          <a:solidFill>
                            <a:srgbClr val="FFE600"/>
                          </a:solidFill>
                          <a:effectLst/>
                          <a:latin typeface="EY interstate"/>
                        </a:rPr>
                        <a:t>Checklist Item</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400" b="1">
                          <a:solidFill>
                            <a:srgbClr val="FFE600"/>
                          </a:solidFill>
                          <a:effectLst/>
                          <a:latin typeface="EY interstate"/>
                        </a:rPr>
                        <a:t>Details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400" b="1">
                          <a:solidFill>
                            <a:srgbClr val="FFE600"/>
                          </a:solidFill>
                          <a:effectLst/>
                          <a:latin typeface="EY interstate"/>
                        </a:rPr>
                        <a:t>Checklist Item</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400" b="1">
                          <a:solidFill>
                            <a:srgbClr val="FFE600"/>
                          </a:solidFill>
                          <a:effectLst/>
                          <a:latin typeface="EY interstate"/>
                        </a:rPr>
                        <a:t>Details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21973141"/>
                  </a:ext>
                </a:extLst>
              </a:tr>
              <a:tr h="486068">
                <a:tc>
                  <a:txBody>
                    <a:bodyPr/>
                    <a:lstStyle/>
                    <a:p>
                      <a:pPr algn="l" fontAlgn="t">
                        <a:buNone/>
                      </a:pPr>
                      <a:r>
                        <a:rPr lang="en-IN" sz="1100" b="0">
                          <a:solidFill>
                            <a:schemeClr val="bg1"/>
                          </a:solidFill>
                          <a:effectLst/>
                          <a:latin typeface="EY interstate"/>
                        </a:rPr>
                        <a:t>1</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Entry Type Identified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Standard, Accrual, Intercompany, Manual, Recurring, etc.</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Segregation of Duties Maintained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Preparer ≠ Reviewer</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2774359610"/>
                  </a:ext>
                </a:extLst>
              </a:tr>
              <a:tr h="486068">
                <a:tc>
                  <a:txBody>
                    <a:bodyPr/>
                    <a:lstStyle/>
                    <a:p>
                      <a:pPr algn="l" fontAlgn="t">
                        <a:buNone/>
                      </a:pPr>
                      <a:r>
                        <a:rPr lang="en-IN" sz="1100" b="0">
                          <a:solidFill>
                            <a:schemeClr val="bg1"/>
                          </a:solidFill>
                          <a:effectLst/>
                          <a:latin typeface="EY interstate"/>
                        </a:rPr>
                        <a:t>2</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Supporting Documentation Attached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Invoices, schedules, contracts, calculations, etc.</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Documentation Verified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Backup is complete, relevant, and legible</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4241390469"/>
                  </a:ext>
                </a:extLst>
              </a:tr>
              <a:tr h="486068">
                <a:tc>
                  <a:txBody>
                    <a:bodyPr/>
                    <a:lstStyle/>
                    <a:p>
                      <a:pPr algn="l" fontAlgn="t">
                        <a:buNone/>
                      </a:pPr>
                      <a:r>
                        <a:rPr lang="en-IN" sz="1100" b="0">
                          <a:solidFill>
                            <a:schemeClr val="bg1"/>
                          </a:solidFill>
                          <a:effectLst/>
                          <a:latin typeface="EY interstate"/>
                        </a:rPr>
                        <a:t>3</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Correct Accounts Used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GL accounts mapped correctly per chart of accounts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Account Mapping Validated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GL accounts align with nature of transaction</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253378960"/>
                  </a:ext>
                </a:extLst>
              </a:tr>
              <a:tr h="486068">
                <a:tc>
                  <a:txBody>
                    <a:bodyPr/>
                    <a:lstStyle/>
                    <a:p>
                      <a:pPr algn="l" fontAlgn="t">
                        <a:buNone/>
                      </a:pPr>
                      <a:r>
                        <a:rPr lang="en-IN" sz="1100" b="0">
                          <a:solidFill>
                            <a:schemeClr val="bg1"/>
                          </a:solidFill>
                          <a:effectLst/>
                          <a:latin typeface="EY interstate"/>
                        </a:rPr>
                        <a:t>4</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Accurate Amounts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Verified calculations and currency conversions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Policy Compliance Checked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Entry complies with internal accounting policies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773323652"/>
                  </a:ext>
                </a:extLst>
              </a:tr>
              <a:tr h="486068">
                <a:tc>
                  <a:txBody>
                    <a:bodyPr/>
                    <a:lstStyle/>
                    <a:p>
                      <a:pPr algn="l" fontAlgn="t">
                        <a:buNone/>
                      </a:pPr>
                      <a:r>
                        <a:rPr lang="en-IN" sz="1100" b="0">
                          <a:solidFill>
                            <a:schemeClr val="bg1"/>
                          </a:solidFill>
                          <a:effectLst/>
                          <a:latin typeface="EY interstate"/>
                        </a:rPr>
                        <a:t>5</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Proper Period Selection</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Entry posted in correct accounting period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Materiality Assessed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High-value entries flagged for senior review</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3910524150"/>
                  </a:ext>
                </a:extLst>
              </a:tr>
              <a:tr h="486068">
                <a:tc>
                  <a:txBody>
                    <a:bodyPr/>
                    <a:lstStyle/>
                    <a:p>
                      <a:pPr algn="l" fontAlgn="t">
                        <a:buNone/>
                      </a:pPr>
                      <a:r>
                        <a:rPr lang="en-IN" sz="1100" b="0">
                          <a:solidFill>
                            <a:schemeClr val="bg1"/>
                          </a:solidFill>
                          <a:effectLst/>
                          <a:latin typeface="EY interstate"/>
                        </a:rPr>
                        <a:t>6</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JE Description Provided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Clear, concise, and informative</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Recurring Entry Validated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Matches approved schedule and logic</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543839185"/>
                  </a:ext>
                </a:extLst>
              </a:tr>
              <a:tr h="486068">
                <a:tc>
                  <a:txBody>
                    <a:bodyPr/>
                    <a:lstStyle/>
                    <a:p>
                      <a:pPr algn="l" fontAlgn="t">
                        <a:buNone/>
                      </a:pPr>
                      <a:r>
                        <a:rPr lang="en-IN" sz="1100" b="0">
                          <a:solidFill>
                            <a:schemeClr val="bg1"/>
                          </a:solidFill>
                          <a:effectLst/>
                          <a:latin typeface="EY interstate"/>
                        </a:rPr>
                        <a:t>7</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Reversal Logic (if applicable)</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Reversal date and method documented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Manual Entry Justified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Reason for manual posting clearly documented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60029312"/>
                  </a:ext>
                </a:extLst>
              </a:tr>
              <a:tr h="486068">
                <a:tc>
                  <a:txBody>
                    <a:bodyPr/>
                    <a:lstStyle/>
                    <a:p>
                      <a:pPr algn="l" fontAlgn="t">
                        <a:buNone/>
                      </a:pPr>
                      <a:r>
                        <a:rPr lang="en-IN" sz="1100" b="0">
                          <a:solidFill>
                            <a:schemeClr val="bg1"/>
                          </a:solidFill>
                          <a:effectLst/>
                          <a:latin typeface="EY interstate"/>
                        </a:rPr>
                        <a:t>8</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Compliance Tags Applied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SOX, tax, audit, regulatory flags if needed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Audit Trail Confirmed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Entry history and changes traceable</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1879410286"/>
                  </a:ext>
                </a:extLst>
              </a:tr>
              <a:tr h="486068">
                <a:tc>
                  <a:txBody>
                    <a:bodyPr/>
                    <a:lstStyle/>
                    <a:p>
                      <a:pPr algn="l" fontAlgn="t">
                        <a:buNone/>
                      </a:pPr>
                      <a:r>
                        <a:rPr lang="en-IN" sz="1100" b="0">
                          <a:solidFill>
                            <a:schemeClr val="bg1"/>
                          </a:solidFill>
                          <a:effectLst/>
                          <a:latin typeface="EY interstate"/>
                        </a:rPr>
                        <a:t>9</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Entry Balanced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Debits = Credits</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Impact Analysis Done</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For P&amp;L or Balance Sheet impact &gt; threshold</a:t>
                      </a:r>
                    </a:p>
                  </a:txBody>
                  <a:tcPr marL="76200" marR="50800" marT="50800" marB="4445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3237618025"/>
                  </a:ext>
                </a:extLst>
              </a:tr>
              <a:tr h="480155">
                <a:tc>
                  <a:txBody>
                    <a:bodyPr/>
                    <a:lstStyle/>
                    <a:p>
                      <a:pPr algn="l" fontAlgn="t">
                        <a:buNone/>
                      </a:pPr>
                      <a:r>
                        <a:rPr lang="en-IN" sz="1100" b="0">
                          <a:solidFill>
                            <a:schemeClr val="bg1"/>
                          </a:solidFill>
                          <a:effectLst/>
                          <a:latin typeface="EY interstate"/>
                        </a:rPr>
                        <a:t>10</a:t>
                      </a:r>
                    </a:p>
                  </a:txBody>
                  <a:tcPr marL="76200" marR="50800" marT="50800" marB="3810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ERP Validation Passed</a:t>
                      </a:r>
                    </a:p>
                  </a:txBody>
                  <a:tcPr marL="76200" marR="50800" marT="50800" marB="3810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Entry passes system checks (e.g., SAP, Oracle)</a:t>
                      </a:r>
                    </a:p>
                  </a:txBody>
                  <a:tcPr marL="76200" marR="50800" marT="50800" marB="3810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Reviewer Comments Added</a:t>
                      </a:r>
                    </a:p>
                  </a:txBody>
                  <a:tcPr marL="76200" marR="50800" marT="50800" marB="3810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tc>
                  <a:txBody>
                    <a:bodyPr/>
                    <a:lstStyle/>
                    <a:p>
                      <a:pPr algn="l" fontAlgn="t">
                        <a:buNone/>
                      </a:pPr>
                      <a:r>
                        <a:rPr lang="en-IN" sz="1100" b="0">
                          <a:solidFill>
                            <a:schemeClr val="bg1"/>
                          </a:solidFill>
                          <a:effectLst/>
                          <a:latin typeface="EY interstate"/>
                        </a:rPr>
                        <a:t>Notes for context or future reference</a:t>
                      </a:r>
                    </a:p>
                  </a:txBody>
                  <a:tcPr marL="76200" marR="50800" marT="50800" marB="38100">
                    <a:lnL w="12700" cap="flat" cmpd="sng" algn="ctr">
                      <a:solidFill>
                        <a:srgbClr val="FFE600"/>
                      </a:solidFill>
                      <a:prstDash val="solid"/>
                      <a:round/>
                      <a:headEnd type="none" w="med" len="med"/>
                      <a:tailEnd type="none" w="med" len="med"/>
                    </a:lnL>
                    <a:lnR w="12700" cap="flat" cmpd="sng" algn="ctr">
                      <a:solidFill>
                        <a:srgbClr val="FFE600"/>
                      </a:solidFill>
                      <a:prstDash val="solid"/>
                      <a:round/>
                      <a:headEnd type="none" w="med" len="med"/>
                      <a:tailEnd type="none" w="med" len="med"/>
                    </a:lnR>
                    <a:lnT w="12700" cap="flat" cmpd="sng" algn="ctr">
                      <a:solidFill>
                        <a:srgbClr val="FFE600"/>
                      </a:solidFill>
                      <a:prstDash val="solid"/>
                      <a:round/>
                      <a:headEnd type="none" w="med" len="med"/>
                      <a:tailEnd type="none" w="med" len="med"/>
                    </a:lnT>
                    <a:lnB w="12700" cap="flat" cmpd="sng" algn="ctr">
                      <a:solidFill>
                        <a:srgbClr val="FFE600"/>
                      </a:solidFill>
                      <a:prstDash val="solid"/>
                      <a:round/>
                      <a:headEnd type="none" w="med" len="med"/>
                      <a:tailEnd type="none" w="med" len="med"/>
                    </a:lnB>
                    <a:noFill/>
                  </a:tcPr>
                </a:tc>
                <a:extLst>
                  <a:ext uri="{0D108BD9-81ED-4DB2-BD59-A6C34878D82A}">
                    <a16:rowId xmlns:a16="http://schemas.microsoft.com/office/drawing/2014/main" val="2448911442"/>
                  </a:ext>
                </a:extLst>
              </a:tr>
            </a:tbl>
          </a:graphicData>
        </a:graphic>
      </p:graphicFrame>
    </p:spTree>
    <p:extLst>
      <p:ext uri="{BB962C8B-B14F-4D97-AF65-F5344CB8AC3E}">
        <p14:creationId xmlns:p14="http://schemas.microsoft.com/office/powerpoint/2010/main" val="178609457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FA279E-D52F-6B11-8603-20EF4F3DD25E}"/>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1CC560F0-8D05-A067-CF4E-DDAE8E83CF8C}"/>
              </a:ext>
            </a:extLst>
          </p:cNvPr>
          <p:cNvGraphicFramePr>
            <a:graphicFrameLocks noGrp="1"/>
          </p:cNvGraphicFramePr>
          <p:nvPr/>
        </p:nvGraphicFramePr>
        <p:xfrm>
          <a:off x="749300" y="1058620"/>
          <a:ext cx="10693400" cy="4782106"/>
        </p:xfrm>
        <a:graphic>
          <a:graphicData uri="http://schemas.openxmlformats.org/drawingml/2006/table">
            <a:tbl>
              <a:tblPr firstRow="1" bandRow="1">
                <a:tableStyleId>{5C22544A-7EE6-4342-B048-85BDC9FD1C3A}</a:tableStyleId>
              </a:tblPr>
              <a:tblGrid>
                <a:gridCol w="2138680">
                  <a:extLst>
                    <a:ext uri="{9D8B030D-6E8A-4147-A177-3AD203B41FA5}">
                      <a16:colId xmlns:a16="http://schemas.microsoft.com/office/drawing/2014/main" val="1311660617"/>
                    </a:ext>
                  </a:extLst>
                </a:gridCol>
                <a:gridCol w="2138680">
                  <a:extLst>
                    <a:ext uri="{9D8B030D-6E8A-4147-A177-3AD203B41FA5}">
                      <a16:colId xmlns:a16="http://schemas.microsoft.com/office/drawing/2014/main" val="3498304478"/>
                    </a:ext>
                  </a:extLst>
                </a:gridCol>
                <a:gridCol w="2138680">
                  <a:extLst>
                    <a:ext uri="{9D8B030D-6E8A-4147-A177-3AD203B41FA5}">
                      <a16:colId xmlns:a16="http://schemas.microsoft.com/office/drawing/2014/main" val="2626836103"/>
                    </a:ext>
                  </a:extLst>
                </a:gridCol>
                <a:gridCol w="2138680">
                  <a:extLst>
                    <a:ext uri="{9D8B030D-6E8A-4147-A177-3AD203B41FA5}">
                      <a16:colId xmlns:a16="http://schemas.microsoft.com/office/drawing/2014/main" val="4126821612"/>
                    </a:ext>
                  </a:extLst>
                </a:gridCol>
                <a:gridCol w="2138680">
                  <a:extLst>
                    <a:ext uri="{9D8B030D-6E8A-4147-A177-3AD203B41FA5}">
                      <a16:colId xmlns:a16="http://schemas.microsoft.com/office/drawing/2014/main" val="1323157667"/>
                    </a:ext>
                  </a:extLst>
                </a:gridCol>
              </a:tblGrid>
              <a:tr h="450446">
                <a:tc>
                  <a:txBody>
                    <a:bodyPr/>
                    <a:lstStyle/>
                    <a:p>
                      <a:pPr algn="ctr" fontAlgn="ctr"/>
                      <a:endParaRPr lang="en-IN" sz="1100" b="1" i="0" u="none" strike="noStrike">
                        <a:solidFill>
                          <a:schemeClr val="bg1">
                            <a:lumMod val="95000"/>
                          </a:schemeClr>
                        </a:solidFill>
                        <a:effectLst/>
                        <a:latin typeface="Aptos Narrow" panose="020B0004020202020204" pitchFamily="34" charset="0"/>
                      </a:endParaRP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fr-FR" sz="1100" b="1" i="0" u="none" strike="noStrike">
                          <a:solidFill>
                            <a:srgbClr val="FFE600"/>
                          </a:solidFill>
                          <a:effectLst/>
                          <a:latin typeface="Aptos Narrow" panose="020B0004020202020204" pitchFamily="34" charset="0"/>
                        </a:rPr>
                        <a:t>ERP Native </a:t>
                      </a:r>
                      <a:r>
                        <a:rPr lang="fr-FR" sz="1100" b="0" i="0" u="none" strike="noStrike">
                          <a:solidFill>
                            <a:srgbClr val="FFE600"/>
                          </a:solidFill>
                          <a:effectLst/>
                          <a:latin typeface="Aptos Narrow" panose="020B0004020202020204" pitchFamily="34" charset="0"/>
                        </a:rPr>
                        <a:t>(SAP/Oracle/NetSuite/D365)</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en-IN" sz="1100" b="1" i="0" u="none" strike="noStrike">
                          <a:solidFill>
                            <a:srgbClr val="FFE600"/>
                          </a:solidFill>
                          <a:effectLst/>
                          <a:latin typeface="Aptos Narrow" panose="020B0004020202020204" pitchFamily="34" charset="0"/>
                        </a:rPr>
                        <a:t>RPA Bots </a:t>
                      </a:r>
                    </a:p>
                    <a:p>
                      <a:pPr algn="ctr" fontAlgn="ctr"/>
                      <a:r>
                        <a:rPr lang="en-IN" sz="1100" b="0" i="0" u="none" strike="noStrike">
                          <a:solidFill>
                            <a:srgbClr val="FFE600"/>
                          </a:solidFill>
                          <a:effectLst/>
                          <a:latin typeface="Aptos Narrow" panose="020B0004020202020204" pitchFamily="34" charset="0"/>
                        </a:rPr>
                        <a:t>(UiPath/AA/Blue Prism</a:t>
                      </a:r>
                      <a:r>
                        <a:rPr lang="en-IN" sz="1100" b="0" i="0" u="none" strike="noStrike">
                          <a:solidFill>
                            <a:schemeClr val="bg1">
                              <a:lumMod val="95000"/>
                            </a:schemeClr>
                          </a:solidFill>
                          <a:effectLst/>
                          <a:latin typeface="Aptos Narrow" panose="020B0004020202020204" pitchFamily="34" charset="0"/>
                        </a:rPr>
                        <a:t>)</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en-IN" sz="1100" b="1" i="0" u="none" strike="noStrike">
                          <a:solidFill>
                            <a:srgbClr val="FFE600"/>
                          </a:solidFill>
                          <a:effectLst/>
                          <a:latin typeface="Aptos Narrow" panose="020B0004020202020204" pitchFamily="34" charset="0"/>
                        </a:rPr>
                        <a:t>Best-of-Breed R2R </a:t>
                      </a:r>
                      <a:r>
                        <a:rPr lang="en-IN" sz="1100" b="0" i="0" u="none" strike="noStrike">
                          <a:solidFill>
                            <a:srgbClr val="FFE600"/>
                          </a:solidFill>
                          <a:effectLst/>
                          <a:latin typeface="Aptos Narrow" panose="020B0004020202020204" pitchFamily="34" charset="0"/>
                        </a:rPr>
                        <a:t>(BlackLine/Trintech/HighRadius</a:t>
                      </a:r>
                      <a:r>
                        <a:rPr lang="en-IN" sz="1100" b="0" i="0" u="none" strike="noStrike">
                          <a:solidFill>
                            <a:schemeClr val="bg1">
                              <a:lumMod val="95000"/>
                            </a:schemeClr>
                          </a:solidFill>
                          <a:effectLst/>
                          <a:latin typeface="Aptos Narrow" panose="020B0004020202020204" pitchFamily="34" charset="0"/>
                        </a:rPr>
                        <a:t>)</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fr-FR" sz="1100" b="1" i="0" u="none" strike="noStrike">
                          <a:solidFill>
                            <a:srgbClr val="FFE600"/>
                          </a:solidFill>
                          <a:effectLst/>
                          <a:latin typeface="Aptos Narrow" panose="020B0004020202020204" pitchFamily="34" charset="0"/>
                        </a:rPr>
                        <a:t>GenAI JE Assistants </a:t>
                      </a:r>
                    </a:p>
                    <a:p>
                      <a:pPr algn="ctr" fontAlgn="ctr"/>
                      <a:r>
                        <a:rPr lang="fr-FR" sz="1100" b="0" i="0" u="none" strike="noStrike">
                          <a:solidFill>
                            <a:srgbClr val="FFE600"/>
                          </a:solidFill>
                          <a:effectLst/>
                          <a:latin typeface="Aptos Narrow" panose="020B0004020202020204" pitchFamily="34" charset="0"/>
                        </a:rPr>
                        <a:t>(SAP Joule/Oracle AI/HighRadius AI</a:t>
                      </a:r>
                      <a:r>
                        <a:rPr lang="fr-FR" sz="1100" b="0" i="0" u="none" strike="noStrike">
                          <a:solidFill>
                            <a:schemeClr val="bg1">
                              <a:lumMod val="95000"/>
                            </a:schemeClr>
                          </a:solidFill>
                          <a:effectLst/>
                          <a:latin typeface="Aptos Narrow" panose="020B0004020202020204" pitchFamily="34" charset="0"/>
                        </a:rPr>
                        <a:t>)</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448929835"/>
                  </a:ext>
                </a:extLst>
              </a:tr>
              <a:tr h="450446">
                <a:tc>
                  <a:txBody>
                    <a:bodyPr/>
                    <a:lstStyle/>
                    <a:p>
                      <a:pPr algn="l" fontAlgn="ctr"/>
                      <a:r>
                        <a:rPr lang="en-IN" sz="1100" b="0" i="0" u="none" strike="noStrike">
                          <a:solidFill>
                            <a:schemeClr val="bg1">
                              <a:lumMod val="95000"/>
                            </a:schemeClr>
                          </a:solidFill>
                          <a:effectLst/>
                          <a:latin typeface="Aptos Narrow" panose="020B0004020202020204" pitchFamily="34" charset="0"/>
                        </a:rPr>
                        <a:t>Standard JE Creation </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endParaRPr lang="fr-FR" sz="1100" b="1" i="0" u="none" strike="noStrike">
                        <a:solidFill>
                          <a:schemeClr val="bg1">
                            <a:lumMod val="95000"/>
                          </a:schemeClr>
                        </a:solidFill>
                        <a:effectLst/>
                        <a:latin typeface="Aptos Narrow" panose="020B0004020202020204" pitchFamily="34" charset="0"/>
                      </a:endParaRP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endParaRPr lang="en-IN" sz="1100" b="1" i="0" u="none" strike="noStrike">
                        <a:solidFill>
                          <a:schemeClr val="bg1">
                            <a:lumMod val="95000"/>
                          </a:schemeClr>
                        </a:solidFill>
                        <a:effectLst/>
                        <a:latin typeface="Aptos Narrow" panose="020B0004020202020204" pitchFamily="34" charset="0"/>
                      </a:endParaRP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endParaRPr lang="en-IN" sz="1100" b="1" i="0" u="none" strike="noStrike">
                        <a:solidFill>
                          <a:schemeClr val="bg1">
                            <a:lumMod val="95000"/>
                          </a:schemeClr>
                        </a:solidFill>
                        <a:effectLst/>
                        <a:latin typeface="Aptos Narrow" panose="020B0004020202020204" pitchFamily="34" charset="0"/>
                      </a:endParaRP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endParaRPr lang="fr-FR" sz="1100" b="1" i="0" u="none" strike="noStrike">
                        <a:solidFill>
                          <a:schemeClr val="bg1">
                            <a:lumMod val="95000"/>
                          </a:schemeClr>
                        </a:solidFill>
                        <a:effectLst/>
                        <a:latin typeface="Aptos Narrow" panose="020B0004020202020204" pitchFamily="34" charset="0"/>
                      </a:endParaRP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66594133"/>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Accrual Engine</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102673247"/>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Allocations</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523927511"/>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Intercompany JE Automation</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919892655"/>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Reversals</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410566409"/>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Adjustments &amp; One-offs</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52906085"/>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Compliance &amp; Audit Trail</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19094522"/>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AI/ML Recommendations</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528542781"/>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Scalability</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548794512"/>
                  </a:ext>
                </a:extLst>
              </a:tr>
              <a:tr h="431246">
                <a:tc>
                  <a:txBody>
                    <a:bodyPr/>
                    <a:lstStyle/>
                    <a:p>
                      <a:pPr algn="l" fontAlgn="ctr"/>
                      <a:r>
                        <a:rPr lang="en-IN" sz="1100" b="0" i="0" u="none" strike="noStrike">
                          <a:solidFill>
                            <a:schemeClr val="bg1">
                              <a:lumMod val="95000"/>
                            </a:schemeClr>
                          </a:solidFill>
                          <a:effectLst/>
                          <a:latin typeface="Aptos Narrow" panose="020B0004020202020204" pitchFamily="34" charset="0"/>
                        </a:rPr>
                        <a:t>User Experience </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endParaRPr lang="en-IN">
                        <a:solidFill>
                          <a:schemeClr val="bg1">
                            <a:lumMod val="95000"/>
                          </a:schemeClr>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94438474"/>
                  </a:ext>
                </a:extLst>
              </a:tr>
            </a:tbl>
          </a:graphicData>
        </a:graphic>
      </p:graphicFrame>
      <p:cxnSp>
        <p:nvCxnSpPr>
          <p:cNvPr id="5" name="Straight Connector 4">
            <a:extLst>
              <a:ext uri="{FF2B5EF4-FFF2-40B4-BE49-F238E27FC236}">
                <a16:creationId xmlns:a16="http://schemas.microsoft.com/office/drawing/2014/main" id="{ADE8FD6E-55B2-C969-8850-6E8E5CEAE951}"/>
              </a:ext>
            </a:extLst>
          </p:cNvPr>
          <p:cNvCxnSpPr>
            <a:cxnSpLocks/>
          </p:cNvCxnSpPr>
          <p:nvPr/>
        </p:nvCxnSpPr>
        <p:spPr>
          <a:xfrm flipV="1">
            <a:off x="749300" y="1058620"/>
            <a:ext cx="2097609" cy="382656"/>
          </a:xfrm>
          <a:prstGeom prst="line">
            <a:avLst/>
          </a:prstGeom>
          <a:ln>
            <a:solidFill>
              <a:schemeClr val="bg1"/>
            </a:solidFill>
            <a:tailEnd type="none"/>
          </a:ln>
        </p:spPr>
        <p:style>
          <a:lnRef idx="1">
            <a:schemeClr val="dk1"/>
          </a:lnRef>
          <a:fillRef idx="0">
            <a:schemeClr val="dk1"/>
          </a:fillRef>
          <a:effectRef idx="0">
            <a:schemeClr val="dk1"/>
          </a:effectRef>
          <a:fontRef idx="minor">
            <a:schemeClr val="tx1"/>
          </a:fontRef>
        </p:style>
      </p:cxnSp>
      <p:sp>
        <p:nvSpPr>
          <p:cNvPr id="6" name="TextBox 5">
            <a:extLst>
              <a:ext uri="{FF2B5EF4-FFF2-40B4-BE49-F238E27FC236}">
                <a16:creationId xmlns:a16="http://schemas.microsoft.com/office/drawing/2014/main" id="{7C63C121-FBBA-A215-FD0D-B554D2CAB5A9}"/>
              </a:ext>
            </a:extLst>
          </p:cNvPr>
          <p:cNvSpPr txBox="1"/>
          <p:nvPr/>
        </p:nvSpPr>
        <p:spPr>
          <a:xfrm>
            <a:off x="2120144" y="1132274"/>
            <a:ext cx="726765" cy="246221"/>
          </a:xfrm>
          <a:prstGeom prst="rect">
            <a:avLst/>
          </a:prstGeom>
          <a:noFill/>
        </p:spPr>
        <p:txBody>
          <a:bodyPr wrap="square">
            <a:spAutoFit/>
          </a:bodyPr>
          <a:lstStyle/>
          <a:p>
            <a:r>
              <a:rPr lang="en-IN" sz="1000">
                <a:solidFill>
                  <a:schemeClr val="bg1"/>
                </a:solidFill>
                <a:latin typeface="EYInterstate Light" panose="02000506000000020004" pitchFamily="2" charset="0"/>
              </a:rPr>
              <a:t>Tools </a:t>
            </a:r>
          </a:p>
        </p:txBody>
      </p:sp>
      <p:sp>
        <p:nvSpPr>
          <p:cNvPr id="7" name="TextBox 6">
            <a:extLst>
              <a:ext uri="{FF2B5EF4-FFF2-40B4-BE49-F238E27FC236}">
                <a16:creationId xmlns:a16="http://schemas.microsoft.com/office/drawing/2014/main" id="{A723DFC6-6D30-2664-7858-7D59B2809484}"/>
              </a:ext>
            </a:extLst>
          </p:cNvPr>
          <p:cNvSpPr txBox="1"/>
          <p:nvPr/>
        </p:nvSpPr>
        <p:spPr>
          <a:xfrm>
            <a:off x="918438" y="1017274"/>
            <a:ext cx="955369" cy="246221"/>
          </a:xfrm>
          <a:prstGeom prst="rect">
            <a:avLst/>
          </a:prstGeom>
          <a:noFill/>
        </p:spPr>
        <p:txBody>
          <a:bodyPr wrap="square">
            <a:spAutoFit/>
          </a:bodyPr>
          <a:lstStyle/>
          <a:p>
            <a:r>
              <a:rPr lang="en-IN" sz="1000">
                <a:solidFill>
                  <a:schemeClr val="bg1"/>
                </a:solidFill>
                <a:latin typeface="EYInterstate Light" panose="02000506000000020004" pitchFamily="2" charset="0"/>
              </a:rPr>
              <a:t>Capability</a:t>
            </a:r>
          </a:p>
        </p:txBody>
      </p:sp>
      <p:cxnSp>
        <p:nvCxnSpPr>
          <p:cNvPr id="8" name="Straight Arrow Connector 7">
            <a:extLst>
              <a:ext uri="{FF2B5EF4-FFF2-40B4-BE49-F238E27FC236}">
                <a16:creationId xmlns:a16="http://schemas.microsoft.com/office/drawing/2014/main" id="{8B068E95-5456-D58E-CC9D-E2538E6770AC}"/>
              </a:ext>
            </a:extLst>
          </p:cNvPr>
          <p:cNvCxnSpPr>
            <a:cxnSpLocks/>
          </p:cNvCxnSpPr>
          <p:nvPr/>
        </p:nvCxnSpPr>
        <p:spPr>
          <a:xfrm>
            <a:off x="2101583" y="1363348"/>
            <a:ext cx="648000" cy="0"/>
          </a:xfrm>
          <a:prstGeom prst="straightConnector1">
            <a:avLst/>
          </a:prstGeom>
          <a:ln w="2857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A9C43C2C-225C-D6BD-6AE5-D1AC9547A8DE}"/>
              </a:ext>
            </a:extLst>
          </p:cNvPr>
          <p:cNvCxnSpPr>
            <a:cxnSpLocks/>
          </p:cNvCxnSpPr>
          <p:nvPr/>
        </p:nvCxnSpPr>
        <p:spPr>
          <a:xfrm>
            <a:off x="918438" y="1064310"/>
            <a:ext cx="0" cy="324000"/>
          </a:xfrm>
          <a:prstGeom prst="straightConnector1">
            <a:avLst/>
          </a:prstGeom>
          <a:ln w="28575">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B06BB0A1-D67C-1156-D363-00A435BC84BB}"/>
              </a:ext>
            </a:extLst>
          </p:cNvPr>
          <p:cNvGrpSpPr/>
          <p:nvPr/>
        </p:nvGrpSpPr>
        <p:grpSpPr>
          <a:xfrm>
            <a:off x="3731682" y="1564298"/>
            <a:ext cx="318615" cy="300631"/>
            <a:chOff x="-496587" y="2336196"/>
            <a:chExt cx="318615" cy="300631"/>
          </a:xfrm>
          <a:solidFill>
            <a:srgbClr val="FFC000"/>
          </a:solidFill>
        </p:grpSpPr>
        <p:sp>
          <p:nvSpPr>
            <p:cNvPr id="13" name="Oval 12">
              <a:extLst>
                <a:ext uri="{FF2B5EF4-FFF2-40B4-BE49-F238E27FC236}">
                  <a16:creationId xmlns:a16="http://schemas.microsoft.com/office/drawing/2014/main" id="{263DD823-6AD5-31C5-37A0-34A8ECEF33FE}"/>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4" name="Arc 13">
              <a:extLst>
                <a:ext uri="{FF2B5EF4-FFF2-40B4-BE49-F238E27FC236}">
                  <a16:creationId xmlns:a16="http://schemas.microsoft.com/office/drawing/2014/main" id="{4589F052-1395-587C-71C5-73ABF69E4C1C}"/>
                </a:ext>
              </a:extLst>
            </p:cNvPr>
            <p:cNvSpPr/>
            <p:nvPr/>
          </p:nvSpPr>
          <p:spPr bwMode="gray">
            <a:xfrm>
              <a:off x="-496587" y="2336196"/>
              <a:ext cx="318615" cy="300631"/>
            </a:xfrm>
            <a:prstGeom prst="arc">
              <a:avLst>
                <a:gd name="adj1" fmla="val 14678338"/>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5" name="Group 14">
            <a:extLst>
              <a:ext uri="{FF2B5EF4-FFF2-40B4-BE49-F238E27FC236}">
                <a16:creationId xmlns:a16="http://schemas.microsoft.com/office/drawing/2014/main" id="{3F3C37B3-AD0B-1C51-0FE6-693B357EEC2F}"/>
              </a:ext>
            </a:extLst>
          </p:cNvPr>
          <p:cNvGrpSpPr/>
          <p:nvPr/>
        </p:nvGrpSpPr>
        <p:grpSpPr>
          <a:xfrm>
            <a:off x="3723216" y="2006258"/>
            <a:ext cx="318615" cy="300631"/>
            <a:chOff x="-496587" y="2336196"/>
            <a:chExt cx="318615" cy="300631"/>
          </a:xfrm>
        </p:grpSpPr>
        <p:sp>
          <p:nvSpPr>
            <p:cNvPr id="16" name="Oval 15">
              <a:extLst>
                <a:ext uri="{FF2B5EF4-FFF2-40B4-BE49-F238E27FC236}">
                  <a16:creationId xmlns:a16="http://schemas.microsoft.com/office/drawing/2014/main" id="{947FB581-D3BA-D241-B2A0-DADB9790A70D}"/>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7" name="Arc 16">
              <a:extLst>
                <a:ext uri="{FF2B5EF4-FFF2-40B4-BE49-F238E27FC236}">
                  <a16:creationId xmlns:a16="http://schemas.microsoft.com/office/drawing/2014/main" id="{7FCAD468-7C06-E764-0C8B-89FEDBE18101}"/>
                </a:ext>
              </a:extLst>
            </p:cNvPr>
            <p:cNvSpPr/>
            <p:nvPr/>
          </p:nvSpPr>
          <p:spPr bwMode="gray">
            <a:xfrm>
              <a:off x="-496587" y="2336196"/>
              <a:ext cx="318615" cy="300631"/>
            </a:xfrm>
            <a:prstGeom prst="arc">
              <a:avLst>
                <a:gd name="adj1" fmla="val 6962169"/>
                <a:gd name="adj2" fmla="val 16314943"/>
              </a:avLst>
            </a:prstGeom>
            <a:solidFill>
              <a:srgbClr val="FFC000"/>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8" name="Group 17">
            <a:extLst>
              <a:ext uri="{FF2B5EF4-FFF2-40B4-BE49-F238E27FC236}">
                <a16:creationId xmlns:a16="http://schemas.microsoft.com/office/drawing/2014/main" id="{B10CC05A-8F85-7D62-E137-375E4C52A149}"/>
              </a:ext>
            </a:extLst>
          </p:cNvPr>
          <p:cNvGrpSpPr/>
          <p:nvPr/>
        </p:nvGrpSpPr>
        <p:grpSpPr>
          <a:xfrm>
            <a:off x="3731681" y="2433825"/>
            <a:ext cx="318615" cy="300631"/>
            <a:chOff x="-496587" y="2336196"/>
            <a:chExt cx="318615" cy="300631"/>
          </a:xfrm>
        </p:grpSpPr>
        <p:sp>
          <p:nvSpPr>
            <p:cNvPr id="19" name="Oval 18">
              <a:extLst>
                <a:ext uri="{FF2B5EF4-FFF2-40B4-BE49-F238E27FC236}">
                  <a16:creationId xmlns:a16="http://schemas.microsoft.com/office/drawing/2014/main" id="{0F2D440D-66B6-8B97-C1B9-119B2C6734D8}"/>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20" name="Arc 19">
              <a:extLst>
                <a:ext uri="{FF2B5EF4-FFF2-40B4-BE49-F238E27FC236}">
                  <a16:creationId xmlns:a16="http://schemas.microsoft.com/office/drawing/2014/main" id="{B4DCBF5F-9579-7D69-AEEE-4A6B6C68473B}"/>
                </a:ext>
              </a:extLst>
            </p:cNvPr>
            <p:cNvSpPr/>
            <p:nvPr/>
          </p:nvSpPr>
          <p:spPr bwMode="gray">
            <a:xfrm>
              <a:off x="-496587" y="2336196"/>
              <a:ext cx="318615" cy="300631"/>
            </a:xfrm>
            <a:prstGeom prst="arc">
              <a:avLst>
                <a:gd name="adj1" fmla="val 10803010"/>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21" name="Group 20">
            <a:extLst>
              <a:ext uri="{FF2B5EF4-FFF2-40B4-BE49-F238E27FC236}">
                <a16:creationId xmlns:a16="http://schemas.microsoft.com/office/drawing/2014/main" id="{84083FEF-028C-094C-A252-F37C27668B27}"/>
              </a:ext>
            </a:extLst>
          </p:cNvPr>
          <p:cNvGrpSpPr/>
          <p:nvPr/>
        </p:nvGrpSpPr>
        <p:grpSpPr>
          <a:xfrm>
            <a:off x="3740148" y="2872097"/>
            <a:ext cx="318615" cy="300631"/>
            <a:chOff x="-496587" y="2336196"/>
            <a:chExt cx="318615" cy="300631"/>
          </a:xfrm>
        </p:grpSpPr>
        <p:sp>
          <p:nvSpPr>
            <p:cNvPr id="22" name="Oval 21">
              <a:extLst>
                <a:ext uri="{FF2B5EF4-FFF2-40B4-BE49-F238E27FC236}">
                  <a16:creationId xmlns:a16="http://schemas.microsoft.com/office/drawing/2014/main" id="{13671755-2715-5258-43CD-C3A11892B27E}"/>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23" name="Arc 22">
              <a:extLst>
                <a:ext uri="{FF2B5EF4-FFF2-40B4-BE49-F238E27FC236}">
                  <a16:creationId xmlns:a16="http://schemas.microsoft.com/office/drawing/2014/main" id="{CE8A278F-620D-046E-072E-6046DB434159}"/>
                </a:ext>
              </a:extLst>
            </p:cNvPr>
            <p:cNvSpPr/>
            <p:nvPr/>
          </p:nvSpPr>
          <p:spPr bwMode="gray">
            <a:xfrm>
              <a:off x="-496587" y="2336196"/>
              <a:ext cx="318615" cy="300631"/>
            </a:xfrm>
            <a:prstGeom prst="arc">
              <a:avLst>
                <a:gd name="adj1" fmla="val 6870633"/>
                <a:gd name="adj2" fmla="val 16314943"/>
              </a:avLst>
            </a:prstGeom>
            <a:solidFill>
              <a:srgbClr val="FFC000"/>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24" name="Group 23">
            <a:extLst>
              <a:ext uri="{FF2B5EF4-FFF2-40B4-BE49-F238E27FC236}">
                <a16:creationId xmlns:a16="http://schemas.microsoft.com/office/drawing/2014/main" id="{F94550E8-E547-B1BA-B3FF-E8BC2443CB47}"/>
              </a:ext>
            </a:extLst>
          </p:cNvPr>
          <p:cNvGrpSpPr/>
          <p:nvPr/>
        </p:nvGrpSpPr>
        <p:grpSpPr>
          <a:xfrm>
            <a:off x="3748613" y="3299357"/>
            <a:ext cx="318615" cy="300631"/>
            <a:chOff x="-496587" y="2336196"/>
            <a:chExt cx="318615" cy="300631"/>
          </a:xfrm>
          <a:solidFill>
            <a:srgbClr val="FFC000"/>
          </a:solidFill>
        </p:grpSpPr>
        <p:sp>
          <p:nvSpPr>
            <p:cNvPr id="25" name="Oval 24">
              <a:extLst>
                <a:ext uri="{FF2B5EF4-FFF2-40B4-BE49-F238E27FC236}">
                  <a16:creationId xmlns:a16="http://schemas.microsoft.com/office/drawing/2014/main" id="{688C0BD0-F507-4357-C16D-D71EADEF3C13}"/>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26" name="Arc 25">
              <a:extLst>
                <a:ext uri="{FF2B5EF4-FFF2-40B4-BE49-F238E27FC236}">
                  <a16:creationId xmlns:a16="http://schemas.microsoft.com/office/drawing/2014/main" id="{EFF5151D-C80C-5042-3B73-D231F2E84C4B}"/>
                </a:ext>
              </a:extLst>
            </p:cNvPr>
            <p:cNvSpPr/>
            <p:nvPr/>
          </p:nvSpPr>
          <p:spPr bwMode="gray">
            <a:xfrm>
              <a:off x="-496587" y="2336196"/>
              <a:ext cx="318615" cy="300631"/>
            </a:xfrm>
            <a:prstGeom prst="arc">
              <a:avLst>
                <a:gd name="adj1" fmla="val 16206353"/>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27" name="Group 26">
            <a:extLst>
              <a:ext uri="{FF2B5EF4-FFF2-40B4-BE49-F238E27FC236}">
                <a16:creationId xmlns:a16="http://schemas.microsoft.com/office/drawing/2014/main" id="{41EEF89E-4EEF-9672-FC58-90FDC7E40A65}"/>
              </a:ext>
            </a:extLst>
          </p:cNvPr>
          <p:cNvGrpSpPr/>
          <p:nvPr/>
        </p:nvGrpSpPr>
        <p:grpSpPr>
          <a:xfrm>
            <a:off x="3740147" y="3729839"/>
            <a:ext cx="318615" cy="300631"/>
            <a:chOff x="-496587" y="2336196"/>
            <a:chExt cx="318615" cy="300631"/>
          </a:xfrm>
        </p:grpSpPr>
        <p:sp>
          <p:nvSpPr>
            <p:cNvPr id="28" name="Oval 27">
              <a:extLst>
                <a:ext uri="{FF2B5EF4-FFF2-40B4-BE49-F238E27FC236}">
                  <a16:creationId xmlns:a16="http://schemas.microsoft.com/office/drawing/2014/main" id="{DE975508-3F12-0FE4-C1FC-916BB3F0BC30}"/>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29" name="Arc 28">
              <a:extLst>
                <a:ext uri="{FF2B5EF4-FFF2-40B4-BE49-F238E27FC236}">
                  <a16:creationId xmlns:a16="http://schemas.microsoft.com/office/drawing/2014/main" id="{033829F7-D7B0-43C3-59B0-B5E75A3CD7F0}"/>
                </a:ext>
              </a:extLst>
            </p:cNvPr>
            <p:cNvSpPr/>
            <p:nvPr/>
          </p:nvSpPr>
          <p:spPr bwMode="gray">
            <a:xfrm>
              <a:off x="-496587" y="2336196"/>
              <a:ext cx="318615" cy="300631"/>
            </a:xfrm>
            <a:prstGeom prst="arc">
              <a:avLst>
                <a:gd name="adj1" fmla="val 10828470"/>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30" name="Group 29">
            <a:extLst>
              <a:ext uri="{FF2B5EF4-FFF2-40B4-BE49-F238E27FC236}">
                <a16:creationId xmlns:a16="http://schemas.microsoft.com/office/drawing/2014/main" id="{7B595C93-E505-2098-CF9E-9DDFAFCCE556}"/>
              </a:ext>
            </a:extLst>
          </p:cNvPr>
          <p:cNvGrpSpPr/>
          <p:nvPr/>
        </p:nvGrpSpPr>
        <p:grpSpPr>
          <a:xfrm>
            <a:off x="3757080" y="4157754"/>
            <a:ext cx="318615" cy="300631"/>
            <a:chOff x="-496587" y="2336196"/>
            <a:chExt cx="318615" cy="300631"/>
          </a:xfrm>
        </p:grpSpPr>
        <p:sp>
          <p:nvSpPr>
            <p:cNvPr id="31" name="Oval 30">
              <a:extLst>
                <a:ext uri="{FF2B5EF4-FFF2-40B4-BE49-F238E27FC236}">
                  <a16:creationId xmlns:a16="http://schemas.microsoft.com/office/drawing/2014/main" id="{6311683D-488A-4AC4-4771-A32D3FAE50BE}"/>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32" name="Arc 31">
              <a:extLst>
                <a:ext uri="{FF2B5EF4-FFF2-40B4-BE49-F238E27FC236}">
                  <a16:creationId xmlns:a16="http://schemas.microsoft.com/office/drawing/2014/main" id="{B24DC2AA-9EAF-67F3-61E7-1E829E48E8FE}"/>
                </a:ext>
              </a:extLst>
            </p:cNvPr>
            <p:cNvSpPr/>
            <p:nvPr/>
          </p:nvSpPr>
          <p:spPr bwMode="gray">
            <a:xfrm>
              <a:off x="-496587" y="2336196"/>
              <a:ext cx="318615" cy="300631"/>
            </a:xfrm>
            <a:prstGeom prst="arc">
              <a:avLst>
                <a:gd name="adj1" fmla="val 11987270"/>
                <a:gd name="adj2" fmla="val 16314943"/>
              </a:avLst>
            </a:prstGeom>
            <a:solidFill>
              <a:srgbClr val="FFC000"/>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33" name="Group 32">
            <a:extLst>
              <a:ext uri="{FF2B5EF4-FFF2-40B4-BE49-F238E27FC236}">
                <a16:creationId xmlns:a16="http://schemas.microsoft.com/office/drawing/2014/main" id="{87B40C80-DE9E-A310-E21F-45C0FC3768D4}"/>
              </a:ext>
            </a:extLst>
          </p:cNvPr>
          <p:cNvGrpSpPr/>
          <p:nvPr/>
        </p:nvGrpSpPr>
        <p:grpSpPr>
          <a:xfrm>
            <a:off x="3765547" y="4619188"/>
            <a:ext cx="318615" cy="300631"/>
            <a:chOff x="-496587" y="2336196"/>
            <a:chExt cx="318615" cy="300631"/>
          </a:xfrm>
        </p:grpSpPr>
        <p:sp>
          <p:nvSpPr>
            <p:cNvPr id="34" name="Oval 33">
              <a:extLst>
                <a:ext uri="{FF2B5EF4-FFF2-40B4-BE49-F238E27FC236}">
                  <a16:creationId xmlns:a16="http://schemas.microsoft.com/office/drawing/2014/main" id="{0E571759-8E0A-087B-5C89-DC285FB123D9}"/>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35" name="Arc 34">
              <a:extLst>
                <a:ext uri="{FF2B5EF4-FFF2-40B4-BE49-F238E27FC236}">
                  <a16:creationId xmlns:a16="http://schemas.microsoft.com/office/drawing/2014/main" id="{5C7E33E9-AA9E-6A72-327D-D77D468AF5EF}"/>
                </a:ext>
              </a:extLst>
            </p:cNvPr>
            <p:cNvSpPr/>
            <p:nvPr/>
          </p:nvSpPr>
          <p:spPr bwMode="gray">
            <a:xfrm>
              <a:off x="-496587" y="2336196"/>
              <a:ext cx="318615" cy="300631"/>
            </a:xfrm>
            <a:prstGeom prst="arc">
              <a:avLst>
                <a:gd name="adj1" fmla="val 5437147"/>
                <a:gd name="adj2" fmla="val 1617092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36" name="Group 35">
            <a:extLst>
              <a:ext uri="{FF2B5EF4-FFF2-40B4-BE49-F238E27FC236}">
                <a16:creationId xmlns:a16="http://schemas.microsoft.com/office/drawing/2014/main" id="{09EE9823-9975-A138-7DF6-B480386D0D32}"/>
              </a:ext>
            </a:extLst>
          </p:cNvPr>
          <p:cNvGrpSpPr/>
          <p:nvPr/>
        </p:nvGrpSpPr>
        <p:grpSpPr>
          <a:xfrm>
            <a:off x="3774013" y="5019768"/>
            <a:ext cx="318615" cy="300631"/>
            <a:chOff x="-496587" y="2336196"/>
            <a:chExt cx="318615" cy="300631"/>
          </a:xfrm>
        </p:grpSpPr>
        <p:sp>
          <p:nvSpPr>
            <p:cNvPr id="37" name="Oval 36">
              <a:extLst>
                <a:ext uri="{FF2B5EF4-FFF2-40B4-BE49-F238E27FC236}">
                  <a16:creationId xmlns:a16="http://schemas.microsoft.com/office/drawing/2014/main" id="{891943F0-460F-6C2B-DFA9-098D86EA4E44}"/>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38" name="Arc 37">
              <a:extLst>
                <a:ext uri="{FF2B5EF4-FFF2-40B4-BE49-F238E27FC236}">
                  <a16:creationId xmlns:a16="http://schemas.microsoft.com/office/drawing/2014/main" id="{24B39E1D-F396-1657-B144-F35ECC0539F8}"/>
                </a:ext>
              </a:extLst>
            </p:cNvPr>
            <p:cNvSpPr/>
            <p:nvPr/>
          </p:nvSpPr>
          <p:spPr bwMode="gray">
            <a:xfrm>
              <a:off x="-496587" y="2336196"/>
              <a:ext cx="318615" cy="300631"/>
            </a:xfrm>
            <a:prstGeom prst="arc">
              <a:avLst>
                <a:gd name="adj1" fmla="val 14282566"/>
                <a:gd name="adj2" fmla="val 16314943"/>
              </a:avLst>
            </a:prstGeom>
            <a:solidFill>
              <a:srgbClr val="FFC000"/>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39" name="Group 38">
            <a:extLst>
              <a:ext uri="{FF2B5EF4-FFF2-40B4-BE49-F238E27FC236}">
                <a16:creationId xmlns:a16="http://schemas.microsoft.com/office/drawing/2014/main" id="{992148BA-C1EC-F6D1-05F4-C4C2A78AC491}"/>
              </a:ext>
            </a:extLst>
          </p:cNvPr>
          <p:cNvGrpSpPr/>
          <p:nvPr/>
        </p:nvGrpSpPr>
        <p:grpSpPr>
          <a:xfrm>
            <a:off x="3782480" y="5448543"/>
            <a:ext cx="318615" cy="300631"/>
            <a:chOff x="-496587" y="2336196"/>
            <a:chExt cx="318615" cy="300631"/>
          </a:xfrm>
        </p:grpSpPr>
        <p:sp>
          <p:nvSpPr>
            <p:cNvPr id="40" name="Oval 39">
              <a:extLst>
                <a:ext uri="{FF2B5EF4-FFF2-40B4-BE49-F238E27FC236}">
                  <a16:creationId xmlns:a16="http://schemas.microsoft.com/office/drawing/2014/main" id="{1ED34280-7C3C-D3BA-0083-56A56D25C008}"/>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41" name="Arc 40">
              <a:extLst>
                <a:ext uri="{FF2B5EF4-FFF2-40B4-BE49-F238E27FC236}">
                  <a16:creationId xmlns:a16="http://schemas.microsoft.com/office/drawing/2014/main" id="{E52408DC-A697-2B89-3E61-08483E5C5FAB}"/>
                </a:ext>
              </a:extLst>
            </p:cNvPr>
            <p:cNvSpPr/>
            <p:nvPr/>
          </p:nvSpPr>
          <p:spPr bwMode="gray">
            <a:xfrm>
              <a:off x="-496587" y="2336196"/>
              <a:ext cx="318615" cy="300631"/>
            </a:xfrm>
            <a:prstGeom prst="arc">
              <a:avLst>
                <a:gd name="adj1" fmla="val 6804919"/>
                <a:gd name="adj2" fmla="val 16314943"/>
              </a:avLst>
            </a:prstGeom>
            <a:solidFill>
              <a:srgbClr val="FFC000"/>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42" name="Group 41">
            <a:extLst>
              <a:ext uri="{FF2B5EF4-FFF2-40B4-BE49-F238E27FC236}">
                <a16:creationId xmlns:a16="http://schemas.microsoft.com/office/drawing/2014/main" id="{747C19D9-4CFF-E36A-C3C0-A14F7EC2BF70}"/>
              </a:ext>
            </a:extLst>
          </p:cNvPr>
          <p:cNvGrpSpPr/>
          <p:nvPr/>
        </p:nvGrpSpPr>
        <p:grpSpPr>
          <a:xfrm>
            <a:off x="5936692" y="1555831"/>
            <a:ext cx="318615" cy="300631"/>
            <a:chOff x="-496587" y="2336196"/>
            <a:chExt cx="318615" cy="300631"/>
          </a:xfrm>
        </p:grpSpPr>
        <p:sp>
          <p:nvSpPr>
            <p:cNvPr id="43" name="Oval 42">
              <a:extLst>
                <a:ext uri="{FF2B5EF4-FFF2-40B4-BE49-F238E27FC236}">
                  <a16:creationId xmlns:a16="http://schemas.microsoft.com/office/drawing/2014/main" id="{F187B436-28C1-4F45-F1D1-2BECC625A616}"/>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44" name="Arc 43">
              <a:extLst>
                <a:ext uri="{FF2B5EF4-FFF2-40B4-BE49-F238E27FC236}">
                  <a16:creationId xmlns:a16="http://schemas.microsoft.com/office/drawing/2014/main" id="{1553904D-89AE-0D26-2F60-CE3493CFB7F3}"/>
                </a:ext>
              </a:extLst>
            </p:cNvPr>
            <p:cNvSpPr/>
            <p:nvPr/>
          </p:nvSpPr>
          <p:spPr bwMode="gray">
            <a:xfrm>
              <a:off x="-496587" y="2336196"/>
              <a:ext cx="318615" cy="300631"/>
            </a:xfrm>
            <a:prstGeom prst="arc">
              <a:avLst>
                <a:gd name="adj1" fmla="val 5445219"/>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45" name="Group 44">
            <a:extLst>
              <a:ext uri="{FF2B5EF4-FFF2-40B4-BE49-F238E27FC236}">
                <a16:creationId xmlns:a16="http://schemas.microsoft.com/office/drawing/2014/main" id="{D847F7D2-E0A4-1170-9131-EF4139276A21}"/>
              </a:ext>
            </a:extLst>
          </p:cNvPr>
          <p:cNvGrpSpPr/>
          <p:nvPr/>
        </p:nvGrpSpPr>
        <p:grpSpPr>
          <a:xfrm>
            <a:off x="5936692" y="2006258"/>
            <a:ext cx="318615" cy="300631"/>
            <a:chOff x="-496587" y="2336196"/>
            <a:chExt cx="318615" cy="300631"/>
          </a:xfrm>
        </p:grpSpPr>
        <p:sp>
          <p:nvSpPr>
            <p:cNvPr id="46" name="Oval 45">
              <a:extLst>
                <a:ext uri="{FF2B5EF4-FFF2-40B4-BE49-F238E27FC236}">
                  <a16:creationId xmlns:a16="http://schemas.microsoft.com/office/drawing/2014/main" id="{7C6E5E6E-5975-B459-F81B-19355E3ACB7B}"/>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47" name="Arc 46">
              <a:extLst>
                <a:ext uri="{FF2B5EF4-FFF2-40B4-BE49-F238E27FC236}">
                  <a16:creationId xmlns:a16="http://schemas.microsoft.com/office/drawing/2014/main" id="{68663156-C37A-22A6-F6BB-2502EC3E9AB4}"/>
                </a:ext>
              </a:extLst>
            </p:cNvPr>
            <p:cNvSpPr/>
            <p:nvPr/>
          </p:nvSpPr>
          <p:spPr bwMode="gray">
            <a:xfrm>
              <a:off x="-496587" y="2336196"/>
              <a:ext cx="318615" cy="300631"/>
            </a:xfrm>
            <a:prstGeom prst="arc">
              <a:avLst>
                <a:gd name="adj1" fmla="val 21093"/>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48" name="Group 47">
            <a:extLst>
              <a:ext uri="{FF2B5EF4-FFF2-40B4-BE49-F238E27FC236}">
                <a16:creationId xmlns:a16="http://schemas.microsoft.com/office/drawing/2014/main" id="{635B137C-1CC1-94A9-B9A6-87024583329A}"/>
              </a:ext>
            </a:extLst>
          </p:cNvPr>
          <p:cNvGrpSpPr/>
          <p:nvPr/>
        </p:nvGrpSpPr>
        <p:grpSpPr>
          <a:xfrm>
            <a:off x="5936692" y="2450758"/>
            <a:ext cx="318615" cy="300631"/>
            <a:chOff x="-496587" y="2336196"/>
            <a:chExt cx="318615" cy="300631"/>
          </a:xfrm>
        </p:grpSpPr>
        <p:sp>
          <p:nvSpPr>
            <p:cNvPr id="49" name="Oval 48">
              <a:extLst>
                <a:ext uri="{FF2B5EF4-FFF2-40B4-BE49-F238E27FC236}">
                  <a16:creationId xmlns:a16="http://schemas.microsoft.com/office/drawing/2014/main" id="{8E7DBF93-62AC-E0FE-263F-2AF9CAB786D2}"/>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50" name="Arc 49">
              <a:extLst>
                <a:ext uri="{FF2B5EF4-FFF2-40B4-BE49-F238E27FC236}">
                  <a16:creationId xmlns:a16="http://schemas.microsoft.com/office/drawing/2014/main" id="{594BA6E1-A597-2A27-5999-3F14BEB067C7}"/>
                </a:ext>
              </a:extLst>
            </p:cNvPr>
            <p:cNvSpPr/>
            <p:nvPr/>
          </p:nvSpPr>
          <p:spPr bwMode="gray">
            <a:xfrm>
              <a:off x="-496587" y="2336196"/>
              <a:ext cx="318615" cy="300631"/>
            </a:xfrm>
            <a:prstGeom prst="arc">
              <a:avLst>
                <a:gd name="adj1" fmla="val 21502811"/>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51" name="Group 50">
            <a:extLst>
              <a:ext uri="{FF2B5EF4-FFF2-40B4-BE49-F238E27FC236}">
                <a16:creationId xmlns:a16="http://schemas.microsoft.com/office/drawing/2014/main" id="{642C7D77-0826-D377-AD99-F012F91DF83C}"/>
              </a:ext>
            </a:extLst>
          </p:cNvPr>
          <p:cNvGrpSpPr/>
          <p:nvPr/>
        </p:nvGrpSpPr>
        <p:grpSpPr>
          <a:xfrm>
            <a:off x="5936692" y="2880564"/>
            <a:ext cx="318615" cy="300631"/>
            <a:chOff x="-496587" y="2336196"/>
            <a:chExt cx="318615" cy="300631"/>
          </a:xfrm>
        </p:grpSpPr>
        <p:sp>
          <p:nvSpPr>
            <p:cNvPr id="52" name="Oval 51">
              <a:extLst>
                <a:ext uri="{FF2B5EF4-FFF2-40B4-BE49-F238E27FC236}">
                  <a16:creationId xmlns:a16="http://schemas.microsoft.com/office/drawing/2014/main" id="{0BF85702-6C10-0B84-6C1E-8BC9368B0515}"/>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53" name="Arc 52">
              <a:extLst>
                <a:ext uri="{FF2B5EF4-FFF2-40B4-BE49-F238E27FC236}">
                  <a16:creationId xmlns:a16="http://schemas.microsoft.com/office/drawing/2014/main" id="{625297AC-D0DE-4AEA-20CC-39F0BF136536}"/>
                </a:ext>
              </a:extLst>
            </p:cNvPr>
            <p:cNvSpPr/>
            <p:nvPr/>
          </p:nvSpPr>
          <p:spPr bwMode="gray">
            <a:xfrm>
              <a:off x="-496587" y="2336196"/>
              <a:ext cx="318615" cy="300631"/>
            </a:xfrm>
            <a:prstGeom prst="arc">
              <a:avLst>
                <a:gd name="adj1" fmla="val 5486396"/>
                <a:gd name="adj2" fmla="val 16174537"/>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54" name="Group 53">
            <a:extLst>
              <a:ext uri="{FF2B5EF4-FFF2-40B4-BE49-F238E27FC236}">
                <a16:creationId xmlns:a16="http://schemas.microsoft.com/office/drawing/2014/main" id="{F05CDFDE-FA93-F84B-3D17-305FD207DD43}"/>
              </a:ext>
            </a:extLst>
          </p:cNvPr>
          <p:cNvGrpSpPr/>
          <p:nvPr/>
        </p:nvGrpSpPr>
        <p:grpSpPr>
          <a:xfrm>
            <a:off x="5936692" y="3299357"/>
            <a:ext cx="318615" cy="300631"/>
            <a:chOff x="-496587" y="2336196"/>
            <a:chExt cx="318615" cy="300631"/>
          </a:xfrm>
        </p:grpSpPr>
        <p:sp>
          <p:nvSpPr>
            <p:cNvPr id="55" name="Oval 54">
              <a:extLst>
                <a:ext uri="{FF2B5EF4-FFF2-40B4-BE49-F238E27FC236}">
                  <a16:creationId xmlns:a16="http://schemas.microsoft.com/office/drawing/2014/main" id="{AB558011-F795-10DA-E5C3-726E1C988E7D}"/>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56" name="Arc 55">
              <a:extLst>
                <a:ext uri="{FF2B5EF4-FFF2-40B4-BE49-F238E27FC236}">
                  <a16:creationId xmlns:a16="http://schemas.microsoft.com/office/drawing/2014/main" id="{CCFBB427-EF92-076F-A115-966091CE36F7}"/>
                </a:ext>
              </a:extLst>
            </p:cNvPr>
            <p:cNvSpPr/>
            <p:nvPr/>
          </p:nvSpPr>
          <p:spPr bwMode="gray">
            <a:xfrm>
              <a:off x="-496587" y="2336196"/>
              <a:ext cx="318615" cy="300631"/>
            </a:xfrm>
            <a:prstGeom prst="arc">
              <a:avLst>
                <a:gd name="adj1" fmla="val 5448493"/>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57" name="Group 56">
            <a:extLst>
              <a:ext uri="{FF2B5EF4-FFF2-40B4-BE49-F238E27FC236}">
                <a16:creationId xmlns:a16="http://schemas.microsoft.com/office/drawing/2014/main" id="{6FEB768D-4913-61A1-6625-CB227401272D}"/>
              </a:ext>
            </a:extLst>
          </p:cNvPr>
          <p:cNvGrpSpPr/>
          <p:nvPr/>
        </p:nvGrpSpPr>
        <p:grpSpPr>
          <a:xfrm>
            <a:off x="5936692" y="3729839"/>
            <a:ext cx="318615" cy="300631"/>
            <a:chOff x="-496587" y="2336196"/>
            <a:chExt cx="318615" cy="300631"/>
          </a:xfrm>
        </p:grpSpPr>
        <p:sp>
          <p:nvSpPr>
            <p:cNvPr id="58" name="Oval 57">
              <a:extLst>
                <a:ext uri="{FF2B5EF4-FFF2-40B4-BE49-F238E27FC236}">
                  <a16:creationId xmlns:a16="http://schemas.microsoft.com/office/drawing/2014/main" id="{7E3495B3-FDC0-2D23-DC45-3817CE86FBC3}"/>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59" name="Arc 58">
              <a:extLst>
                <a:ext uri="{FF2B5EF4-FFF2-40B4-BE49-F238E27FC236}">
                  <a16:creationId xmlns:a16="http://schemas.microsoft.com/office/drawing/2014/main" id="{B7714471-5FC6-07AA-69E5-7F9E59A97CE9}"/>
                </a:ext>
              </a:extLst>
            </p:cNvPr>
            <p:cNvSpPr/>
            <p:nvPr/>
          </p:nvSpPr>
          <p:spPr bwMode="gray">
            <a:xfrm>
              <a:off x="-496587" y="2336196"/>
              <a:ext cx="318615" cy="300631"/>
            </a:xfrm>
            <a:prstGeom prst="arc">
              <a:avLst>
                <a:gd name="adj1" fmla="val 95715"/>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60" name="Group 59">
            <a:extLst>
              <a:ext uri="{FF2B5EF4-FFF2-40B4-BE49-F238E27FC236}">
                <a16:creationId xmlns:a16="http://schemas.microsoft.com/office/drawing/2014/main" id="{FED14F13-DC9A-19BF-C683-A37DBBA8EB29}"/>
              </a:ext>
            </a:extLst>
          </p:cNvPr>
          <p:cNvGrpSpPr/>
          <p:nvPr/>
        </p:nvGrpSpPr>
        <p:grpSpPr>
          <a:xfrm>
            <a:off x="5936692" y="4166221"/>
            <a:ext cx="318615" cy="300631"/>
            <a:chOff x="-496587" y="2336196"/>
            <a:chExt cx="318615" cy="300631"/>
          </a:xfrm>
        </p:grpSpPr>
        <p:sp>
          <p:nvSpPr>
            <p:cNvPr id="61" name="Oval 60">
              <a:extLst>
                <a:ext uri="{FF2B5EF4-FFF2-40B4-BE49-F238E27FC236}">
                  <a16:creationId xmlns:a16="http://schemas.microsoft.com/office/drawing/2014/main" id="{7D6C4EE4-BE1D-DACF-9961-5FFAF1244B45}"/>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62" name="Arc 61">
              <a:extLst>
                <a:ext uri="{FF2B5EF4-FFF2-40B4-BE49-F238E27FC236}">
                  <a16:creationId xmlns:a16="http://schemas.microsoft.com/office/drawing/2014/main" id="{DE12C7E7-F906-1021-7654-C21CC4C13E86}"/>
                </a:ext>
              </a:extLst>
            </p:cNvPr>
            <p:cNvSpPr/>
            <p:nvPr/>
          </p:nvSpPr>
          <p:spPr bwMode="gray">
            <a:xfrm>
              <a:off x="-496587" y="2336196"/>
              <a:ext cx="318615" cy="300631"/>
            </a:xfrm>
            <a:prstGeom prst="arc">
              <a:avLst>
                <a:gd name="adj1" fmla="val 5476261"/>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63" name="Group 62">
            <a:extLst>
              <a:ext uri="{FF2B5EF4-FFF2-40B4-BE49-F238E27FC236}">
                <a16:creationId xmlns:a16="http://schemas.microsoft.com/office/drawing/2014/main" id="{FB7762B9-17CA-8235-30A8-9F4E9F406ECD}"/>
              </a:ext>
            </a:extLst>
          </p:cNvPr>
          <p:cNvGrpSpPr/>
          <p:nvPr/>
        </p:nvGrpSpPr>
        <p:grpSpPr>
          <a:xfrm>
            <a:off x="5936692" y="4585321"/>
            <a:ext cx="318615" cy="300631"/>
            <a:chOff x="-496587" y="2336196"/>
            <a:chExt cx="318615" cy="300631"/>
          </a:xfrm>
        </p:grpSpPr>
        <p:sp>
          <p:nvSpPr>
            <p:cNvPr id="64" name="Oval 63">
              <a:extLst>
                <a:ext uri="{FF2B5EF4-FFF2-40B4-BE49-F238E27FC236}">
                  <a16:creationId xmlns:a16="http://schemas.microsoft.com/office/drawing/2014/main" id="{7816B838-D081-A094-88E8-6ACC0C006D81}"/>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65" name="Arc 64">
              <a:extLst>
                <a:ext uri="{FF2B5EF4-FFF2-40B4-BE49-F238E27FC236}">
                  <a16:creationId xmlns:a16="http://schemas.microsoft.com/office/drawing/2014/main" id="{94412556-B247-66C5-09CB-CF88FABE3AEF}"/>
                </a:ext>
              </a:extLst>
            </p:cNvPr>
            <p:cNvSpPr/>
            <p:nvPr/>
          </p:nvSpPr>
          <p:spPr bwMode="gray">
            <a:xfrm>
              <a:off x="-496587" y="2336196"/>
              <a:ext cx="318615" cy="300631"/>
            </a:xfrm>
            <a:prstGeom prst="arc">
              <a:avLst>
                <a:gd name="adj1" fmla="val 21582101"/>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66" name="Group 65">
            <a:extLst>
              <a:ext uri="{FF2B5EF4-FFF2-40B4-BE49-F238E27FC236}">
                <a16:creationId xmlns:a16="http://schemas.microsoft.com/office/drawing/2014/main" id="{66B1C2F5-7273-0B1E-D704-0E21E5CA39CA}"/>
              </a:ext>
            </a:extLst>
          </p:cNvPr>
          <p:cNvGrpSpPr/>
          <p:nvPr/>
        </p:nvGrpSpPr>
        <p:grpSpPr>
          <a:xfrm>
            <a:off x="5938457" y="5019769"/>
            <a:ext cx="318615" cy="300631"/>
            <a:chOff x="-496587" y="2336196"/>
            <a:chExt cx="318615" cy="300631"/>
          </a:xfrm>
        </p:grpSpPr>
        <p:sp>
          <p:nvSpPr>
            <p:cNvPr id="67" name="Oval 66">
              <a:extLst>
                <a:ext uri="{FF2B5EF4-FFF2-40B4-BE49-F238E27FC236}">
                  <a16:creationId xmlns:a16="http://schemas.microsoft.com/office/drawing/2014/main" id="{5501DDDF-BB02-D8F8-9BD4-3DCE678066BC}"/>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68" name="Arc 67">
              <a:extLst>
                <a:ext uri="{FF2B5EF4-FFF2-40B4-BE49-F238E27FC236}">
                  <a16:creationId xmlns:a16="http://schemas.microsoft.com/office/drawing/2014/main" id="{5AB20B31-73E2-8777-10C8-8AD317574121}"/>
                </a:ext>
              </a:extLst>
            </p:cNvPr>
            <p:cNvSpPr/>
            <p:nvPr/>
          </p:nvSpPr>
          <p:spPr bwMode="gray">
            <a:xfrm>
              <a:off x="-496587" y="2336196"/>
              <a:ext cx="318615" cy="300631"/>
            </a:xfrm>
            <a:prstGeom prst="arc">
              <a:avLst>
                <a:gd name="adj1" fmla="val 5419119"/>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69" name="Group 68">
            <a:extLst>
              <a:ext uri="{FF2B5EF4-FFF2-40B4-BE49-F238E27FC236}">
                <a16:creationId xmlns:a16="http://schemas.microsoft.com/office/drawing/2014/main" id="{F9AC6C31-DDBD-B6D3-BF09-D8FA03FE78AC}"/>
              </a:ext>
            </a:extLst>
          </p:cNvPr>
          <p:cNvGrpSpPr/>
          <p:nvPr/>
        </p:nvGrpSpPr>
        <p:grpSpPr>
          <a:xfrm>
            <a:off x="5936692" y="5453517"/>
            <a:ext cx="318615" cy="300631"/>
            <a:chOff x="-496587" y="2336196"/>
            <a:chExt cx="318615" cy="300631"/>
          </a:xfrm>
        </p:grpSpPr>
        <p:sp>
          <p:nvSpPr>
            <p:cNvPr id="70" name="Oval 69">
              <a:extLst>
                <a:ext uri="{FF2B5EF4-FFF2-40B4-BE49-F238E27FC236}">
                  <a16:creationId xmlns:a16="http://schemas.microsoft.com/office/drawing/2014/main" id="{F317B984-215D-15C8-ABFA-91C7088A96BD}"/>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71" name="Arc 70">
              <a:extLst>
                <a:ext uri="{FF2B5EF4-FFF2-40B4-BE49-F238E27FC236}">
                  <a16:creationId xmlns:a16="http://schemas.microsoft.com/office/drawing/2014/main" id="{CE8868D2-6BD6-5452-CA87-AD19DB9382D3}"/>
                </a:ext>
              </a:extLst>
            </p:cNvPr>
            <p:cNvSpPr/>
            <p:nvPr/>
          </p:nvSpPr>
          <p:spPr bwMode="gray">
            <a:xfrm>
              <a:off x="-496587" y="2336196"/>
              <a:ext cx="318615" cy="300631"/>
            </a:xfrm>
            <a:prstGeom prst="arc">
              <a:avLst>
                <a:gd name="adj1" fmla="val 5329550"/>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72" name="Group 71">
            <a:extLst>
              <a:ext uri="{FF2B5EF4-FFF2-40B4-BE49-F238E27FC236}">
                <a16:creationId xmlns:a16="http://schemas.microsoft.com/office/drawing/2014/main" id="{4A22EF27-4179-3B2E-9CB9-4C21616A718E}"/>
              </a:ext>
            </a:extLst>
          </p:cNvPr>
          <p:cNvGrpSpPr/>
          <p:nvPr/>
        </p:nvGrpSpPr>
        <p:grpSpPr>
          <a:xfrm>
            <a:off x="8140121" y="1564298"/>
            <a:ext cx="318615" cy="300631"/>
            <a:chOff x="-496587" y="2336196"/>
            <a:chExt cx="318615" cy="300631"/>
          </a:xfrm>
        </p:grpSpPr>
        <p:sp>
          <p:nvSpPr>
            <p:cNvPr id="73" name="Oval 72">
              <a:extLst>
                <a:ext uri="{FF2B5EF4-FFF2-40B4-BE49-F238E27FC236}">
                  <a16:creationId xmlns:a16="http://schemas.microsoft.com/office/drawing/2014/main" id="{53BDAA1B-7048-407C-2865-2391954B546C}"/>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74" name="Arc 73">
              <a:extLst>
                <a:ext uri="{FF2B5EF4-FFF2-40B4-BE49-F238E27FC236}">
                  <a16:creationId xmlns:a16="http://schemas.microsoft.com/office/drawing/2014/main" id="{9F81FCF7-EE50-5730-6BB1-8F6464CCAE97}"/>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75" name="Group 74">
            <a:extLst>
              <a:ext uri="{FF2B5EF4-FFF2-40B4-BE49-F238E27FC236}">
                <a16:creationId xmlns:a16="http://schemas.microsoft.com/office/drawing/2014/main" id="{C75D5156-153F-CA91-689B-80239BCAAF0C}"/>
              </a:ext>
            </a:extLst>
          </p:cNvPr>
          <p:cNvGrpSpPr/>
          <p:nvPr/>
        </p:nvGrpSpPr>
        <p:grpSpPr>
          <a:xfrm>
            <a:off x="8140121" y="1997791"/>
            <a:ext cx="318615" cy="300631"/>
            <a:chOff x="-496587" y="2336196"/>
            <a:chExt cx="318615" cy="300631"/>
          </a:xfrm>
        </p:grpSpPr>
        <p:sp>
          <p:nvSpPr>
            <p:cNvPr id="76" name="Oval 75">
              <a:extLst>
                <a:ext uri="{FF2B5EF4-FFF2-40B4-BE49-F238E27FC236}">
                  <a16:creationId xmlns:a16="http://schemas.microsoft.com/office/drawing/2014/main" id="{77675A2C-6071-E905-FB5E-FF89C4CDD2F1}"/>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77" name="Arc 76">
              <a:extLst>
                <a:ext uri="{FF2B5EF4-FFF2-40B4-BE49-F238E27FC236}">
                  <a16:creationId xmlns:a16="http://schemas.microsoft.com/office/drawing/2014/main" id="{652C0CEB-303D-07A5-5951-ECA009A6FC91}"/>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78" name="Group 77">
            <a:extLst>
              <a:ext uri="{FF2B5EF4-FFF2-40B4-BE49-F238E27FC236}">
                <a16:creationId xmlns:a16="http://schemas.microsoft.com/office/drawing/2014/main" id="{1F54BE12-A3A5-E416-E85A-6C96E05DF851}"/>
              </a:ext>
            </a:extLst>
          </p:cNvPr>
          <p:cNvGrpSpPr/>
          <p:nvPr/>
        </p:nvGrpSpPr>
        <p:grpSpPr>
          <a:xfrm>
            <a:off x="8140121" y="2433824"/>
            <a:ext cx="318615" cy="300631"/>
            <a:chOff x="-496587" y="2336196"/>
            <a:chExt cx="318615" cy="300631"/>
          </a:xfrm>
        </p:grpSpPr>
        <p:sp>
          <p:nvSpPr>
            <p:cNvPr id="79" name="Oval 78">
              <a:extLst>
                <a:ext uri="{FF2B5EF4-FFF2-40B4-BE49-F238E27FC236}">
                  <a16:creationId xmlns:a16="http://schemas.microsoft.com/office/drawing/2014/main" id="{3C792362-171E-716E-CEAB-625850E32DB6}"/>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80" name="Arc 79">
              <a:extLst>
                <a:ext uri="{FF2B5EF4-FFF2-40B4-BE49-F238E27FC236}">
                  <a16:creationId xmlns:a16="http://schemas.microsoft.com/office/drawing/2014/main" id="{5F16BF47-F936-9559-EC36-D8CB33962CE5}"/>
                </a:ext>
              </a:extLst>
            </p:cNvPr>
            <p:cNvSpPr/>
            <p:nvPr/>
          </p:nvSpPr>
          <p:spPr bwMode="gray">
            <a:xfrm>
              <a:off x="-496587" y="2336196"/>
              <a:ext cx="318615" cy="300631"/>
            </a:xfrm>
            <a:prstGeom prst="arc">
              <a:avLst>
                <a:gd name="adj1" fmla="val 12274289"/>
                <a:gd name="adj2" fmla="val 16314943"/>
              </a:avLst>
            </a:prstGeom>
            <a:solidFill>
              <a:srgbClr val="FFC000"/>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81" name="Group 80">
            <a:extLst>
              <a:ext uri="{FF2B5EF4-FFF2-40B4-BE49-F238E27FC236}">
                <a16:creationId xmlns:a16="http://schemas.microsoft.com/office/drawing/2014/main" id="{0E48F7AF-7265-8F0E-E95E-4231A1A258D9}"/>
              </a:ext>
            </a:extLst>
          </p:cNvPr>
          <p:cNvGrpSpPr/>
          <p:nvPr/>
        </p:nvGrpSpPr>
        <p:grpSpPr>
          <a:xfrm>
            <a:off x="8140121" y="2889030"/>
            <a:ext cx="318615" cy="300631"/>
            <a:chOff x="-496587" y="2336196"/>
            <a:chExt cx="318615" cy="300631"/>
          </a:xfrm>
          <a:solidFill>
            <a:srgbClr val="FFC000"/>
          </a:solidFill>
        </p:grpSpPr>
        <p:sp>
          <p:nvSpPr>
            <p:cNvPr id="82" name="Oval 81">
              <a:extLst>
                <a:ext uri="{FF2B5EF4-FFF2-40B4-BE49-F238E27FC236}">
                  <a16:creationId xmlns:a16="http://schemas.microsoft.com/office/drawing/2014/main" id="{2822346B-40D6-4F4C-9F22-C94C76D05BCC}"/>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83" name="Arc 82">
              <a:extLst>
                <a:ext uri="{FF2B5EF4-FFF2-40B4-BE49-F238E27FC236}">
                  <a16:creationId xmlns:a16="http://schemas.microsoft.com/office/drawing/2014/main" id="{2C259FC0-700F-1926-1B75-01CF3D0FF638}"/>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84" name="Group 83">
            <a:extLst>
              <a:ext uri="{FF2B5EF4-FFF2-40B4-BE49-F238E27FC236}">
                <a16:creationId xmlns:a16="http://schemas.microsoft.com/office/drawing/2014/main" id="{A740E5C1-E14C-44BF-C92A-A08F5D69BDFC}"/>
              </a:ext>
            </a:extLst>
          </p:cNvPr>
          <p:cNvGrpSpPr/>
          <p:nvPr/>
        </p:nvGrpSpPr>
        <p:grpSpPr>
          <a:xfrm>
            <a:off x="8140121" y="3299357"/>
            <a:ext cx="318615" cy="300631"/>
            <a:chOff x="-496587" y="2336196"/>
            <a:chExt cx="318615" cy="300631"/>
          </a:xfrm>
        </p:grpSpPr>
        <p:sp>
          <p:nvSpPr>
            <p:cNvPr id="85" name="Oval 84">
              <a:extLst>
                <a:ext uri="{FF2B5EF4-FFF2-40B4-BE49-F238E27FC236}">
                  <a16:creationId xmlns:a16="http://schemas.microsoft.com/office/drawing/2014/main" id="{AF74FDCD-E7A1-3A98-8C04-DE3B8E6F43CB}"/>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86" name="Arc 85">
              <a:extLst>
                <a:ext uri="{FF2B5EF4-FFF2-40B4-BE49-F238E27FC236}">
                  <a16:creationId xmlns:a16="http://schemas.microsoft.com/office/drawing/2014/main" id="{C832017C-D6ED-F47C-8E50-4E17A32D4806}"/>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87" name="Group 86">
            <a:extLst>
              <a:ext uri="{FF2B5EF4-FFF2-40B4-BE49-F238E27FC236}">
                <a16:creationId xmlns:a16="http://schemas.microsoft.com/office/drawing/2014/main" id="{2DAFC35E-7D2A-92A0-7BE0-E20B944B6319}"/>
              </a:ext>
            </a:extLst>
          </p:cNvPr>
          <p:cNvGrpSpPr/>
          <p:nvPr/>
        </p:nvGrpSpPr>
        <p:grpSpPr>
          <a:xfrm>
            <a:off x="8140121" y="3721373"/>
            <a:ext cx="318615" cy="300631"/>
            <a:chOff x="-496587" y="2336196"/>
            <a:chExt cx="318615" cy="300631"/>
          </a:xfrm>
        </p:grpSpPr>
        <p:sp>
          <p:nvSpPr>
            <p:cNvPr id="88" name="Oval 87">
              <a:extLst>
                <a:ext uri="{FF2B5EF4-FFF2-40B4-BE49-F238E27FC236}">
                  <a16:creationId xmlns:a16="http://schemas.microsoft.com/office/drawing/2014/main" id="{F1DD3457-228C-046D-4399-D83D2E2B43EC}"/>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89" name="Arc 88">
              <a:extLst>
                <a:ext uri="{FF2B5EF4-FFF2-40B4-BE49-F238E27FC236}">
                  <a16:creationId xmlns:a16="http://schemas.microsoft.com/office/drawing/2014/main" id="{D9B3D33B-2880-AC5D-C672-296A6EC2D122}"/>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90" name="Group 89">
            <a:extLst>
              <a:ext uri="{FF2B5EF4-FFF2-40B4-BE49-F238E27FC236}">
                <a16:creationId xmlns:a16="http://schemas.microsoft.com/office/drawing/2014/main" id="{F25243A8-DB6E-4851-AEFF-520585344AD6}"/>
              </a:ext>
            </a:extLst>
          </p:cNvPr>
          <p:cNvGrpSpPr/>
          <p:nvPr/>
        </p:nvGrpSpPr>
        <p:grpSpPr>
          <a:xfrm>
            <a:off x="8140121" y="4191621"/>
            <a:ext cx="318615" cy="300631"/>
            <a:chOff x="-496587" y="2336196"/>
            <a:chExt cx="318615" cy="300631"/>
          </a:xfrm>
          <a:solidFill>
            <a:srgbClr val="FFC000"/>
          </a:solidFill>
        </p:grpSpPr>
        <p:sp>
          <p:nvSpPr>
            <p:cNvPr id="91" name="Oval 90">
              <a:extLst>
                <a:ext uri="{FF2B5EF4-FFF2-40B4-BE49-F238E27FC236}">
                  <a16:creationId xmlns:a16="http://schemas.microsoft.com/office/drawing/2014/main" id="{6237EF19-DBDF-2009-7486-D63690F09EAD}"/>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92" name="Arc 91">
              <a:extLst>
                <a:ext uri="{FF2B5EF4-FFF2-40B4-BE49-F238E27FC236}">
                  <a16:creationId xmlns:a16="http://schemas.microsoft.com/office/drawing/2014/main" id="{02F53671-348A-04AC-3F72-4B57575D0CE6}"/>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93" name="Group 92">
            <a:extLst>
              <a:ext uri="{FF2B5EF4-FFF2-40B4-BE49-F238E27FC236}">
                <a16:creationId xmlns:a16="http://schemas.microsoft.com/office/drawing/2014/main" id="{5FE3E49A-17B2-A67A-3986-A783880ABDD9}"/>
              </a:ext>
            </a:extLst>
          </p:cNvPr>
          <p:cNvGrpSpPr/>
          <p:nvPr/>
        </p:nvGrpSpPr>
        <p:grpSpPr>
          <a:xfrm>
            <a:off x="8140121" y="4585321"/>
            <a:ext cx="318615" cy="300631"/>
            <a:chOff x="-496587" y="2336196"/>
            <a:chExt cx="318615" cy="300631"/>
          </a:xfrm>
        </p:grpSpPr>
        <p:sp>
          <p:nvSpPr>
            <p:cNvPr id="94" name="Oval 93">
              <a:extLst>
                <a:ext uri="{FF2B5EF4-FFF2-40B4-BE49-F238E27FC236}">
                  <a16:creationId xmlns:a16="http://schemas.microsoft.com/office/drawing/2014/main" id="{568A356A-3871-5272-C91A-3B466D362D31}"/>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95" name="Arc 94">
              <a:extLst>
                <a:ext uri="{FF2B5EF4-FFF2-40B4-BE49-F238E27FC236}">
                  <a16:creationId xmlns:a16="http://schemas.microsoft.com/office/drawing/2014/main" id="{8223EAF5-6294-C827-F3CC-48E0846E7B28}"/>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96" name="Group 95">
            <a:extLst>
              <a:ext uri="{FF2B5EF4-FFF2-40B4-BE49-F238E27FC236}">
                <a16:creationId xmlns:a16="http://schemas.microsoft.com/office/drawing/2014/main" id="{0C728B4F-5B82-5C24-F053-A8145B41476D}"/>
              </a:ext>
            </a:extLst>
          </p:cNvPr>
          <p:cNvGrpSpPr/>
          <p:nvPr/>
        </p:nvGrpSpPr>
        <p:grpSpPr>
          <a:xfrm>
            <a:off x="8140121" y="5019769"/>
            <a:ext cx="318615" cy="300631"/>
            <a:chOff x="-496587" y="2336196"/>
            <a:chExt cx="318615" cy="300631"/>
          </a:xfrm>
          <a:solidFill>
            <a:srgbClr val="FFC000"/>
          </a:solidFill>
        </p:grpSpPr>
        <p:sp>
          <p:nvSpPr>
            <p:cNvPr id="97" name="Oval 96">
              <a:extLst>
                <a:ext uri="{FF2B5EF4-FFF2-40B4-BE49-F238E27FC236}">
                  <a16:creationId xmlns:a16="http://schemas.microsoft.com/office/drawing/2014/main" id="{FF77E2AE-4CBF-1294-29AD-F84E1A2D6A76}"/>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98" name="Arc 97">
              <a:extLst>
                <a:ext uri="{FF2B5EF4-FFF2-40B4-BE49-F238E27FC236}">
                  <a16:creationId xmlns:a16="http://schemas.microsoft.com/office/drawing/2014/main" id="{C6538BFD-FDCA-32EC-E678-57CBD0F8FC60}"/>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99" name="Group 98">
            <a:extLst>
              <a:ext uri="{FF2B5EF4-FFF2-40B4-BE49-F238E27FC236}">
                <a16:creationId xmlns:a16="http://schemas.microsoft.com/office/drawing/2014/main" id="{B02DDFFB-E406-BF47-2A0C-DAC9D805DF73}"/>
              </a:ext>
            </a:extLst>
          </p:cNvPr>
          <p:cNvGrpSpPr/>
          <p:nvPr/>
        </p:nvGrpSpPr>
        <p:grpSpPr>
          <a:xfrm>
            <a:off x="8140121" y="5446214"/>
            <a:ext cx="318615" cy="300631"/>
            <a:chOff x="-496587" y="2336196"/>
            <a:chExt cx="318615" cy="300631"/>
          </a:xfrm>
        </p:grpSpPr>
        <p:sp>
          <p:nvSpPr>
            <p:cNvPr id="100" name="Oval 99">
              <a:extLst>
                <a:ext uri="{FF2B5EF4-FFF2-40B4-BE49-F238E27FC236}">
                  <a16:creationId xmlns:a16="http://schemas.microsoft.com/office/drawing/2014/main" id="{7D7F0F32-62EC-8E71-CF79-7FB277321A61}"/>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01" name="Arc 100">
              <a:extLst>
                <a:ext uri="{FF2B5EF4-FFF2-40B4-BE49-F238E27FC236}">
                  <a16:creationId xmlns:a16="http://schemas.microsoft.com/office/drawing/2014/main" id="{7C303113-CAD6-3FD5-DCCF-0F10D055456D}"/>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02" name="Group 101">
            <a:extLst>
              <a:ext uri="{FF2B5EF4-FFF2-40B4-BE49-F238E27FC236}">
                <a16:creationId xmlns:a16="http://schemas.microsoft.com/office/drawing/2014/main" id="{4B763C28-20B7-2583-FD46-C2AEDCA2E021}"/>
              </a:ext>
            </a:extLst>
          </p:cNvPr>
          <p:cNvGrpSpPr/>
          <p:nvPr/>
        </p:nvGrpSpPr>
        <p:grpSpPr>
          <a:xfrm>
            <a:off x="10219706" y="1555831"/>
            <a:ext cx="318615" cy="300631"/>
            <a:chOff x="-496587" y="2336196"/>
            <a:chExt cx="318615" cy="300631"/>
          </a:xfrm>
          <a:solidFill>
            <a:srgbClr val="FFC000"/>
          </a:solidFill>
        </p:grpSpPr>
        <p:sp>
          <p:nvSpPr>
            <p:cNvPr id="103" name="Oval 102">
              <a:extLst>
                <a:ext uri="{FF2B5EF4-FFF2-40B4-BE49-F238E27FC236}">
                  <a16:creationId xmlns:a16="http://schemas.microsoft.com/office/drawing/2014/main" id="{9127197C-483E-DD6C-2DFA-7BC0FA4C2C23}"/>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04" name="Arc 103">
              <a:extLst>
                <a:ext uri="{FF2B5EF4-FFF2-40B4-BE49-F238E27FC236}">
                  <a16:creationId xmlns:a16="http://schemas.microsoft.com/office/drawing/2014/main" id="{73ACAC3F-5943-5C75-0FDB-BFFAA5D431A0}"/>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05" name="Group 104">
            <a:extLst>
              <a:ext uri="{FF2B5EF4-FFF2-40B4-BE49-F238E27FC236}">
                <a16:creationId xmlns:a16="http://schemas.microsoft.com/office/drawing/2014/main" id="{6DF9EAA8-2E76-DA6D-B147-D9DDF2482607}"/>
              </a:ext>
            </a:extLst>
          </p:cNvPr>
          <p:cNvGrpSpPr/>
          <p:nvPr/>
        </p:nvGrpSpPr>
        <p:grpSpPr>
          <a:xfrm>
            <a:off x="10236639" y="1997791"/>
            <a:ext cx="318615" cy="300631"/>
            <a:chOff x="-496587" y="2336196"/>
            <a:chExt cx="318615" cy="300631"/>
          </a:xfrm>
          <a:solidFill>
            <a:srgbClr val="FFC000"/>
          </a:solidFill>
        </p:grpSpPr>
        <p:sp>
          <p:nvSpPr>
            <p:cNvPr id="106" name="Oval 105">
              <a:extLst>
                <a:ext uri="{FF2B5EF4-FFF2-40B4-BE49-F238E27FC236}">
                  <a16:creationId xmlns:a16="http://schemas.microsoft.com/office/drawing/2014/main" id="{398086CC-901B-EE2C-098E-0F91BA22CC7F}"/>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07" name="Arc 106">
              <a:extLst>
                <a:ext uri="{FF2B5EF4-FFF2-40B4-BE49-F238E27FC236}">
                  <a16:creationId xmlns:a16="http://schemas.microsoft.com/office/drawing/2014/main" id="{6A3B6260-A588-0C26-EAD9-83E2E41DCCE9}"/>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08" name="Group 107">
            <a:extLst>
              <a:ext uri="{FF2B5EF4-FFF2-40B4-BE49-F238E27FC236}">
                <a16:creationId xmlns:a16="http://schemas.microsoft.com/office/drawing/2014/main" id="{2BF1F107-65D3-CA32-7F2B-F200D77254A2}"/>
              </a:ext>
            </a:extLst>
          </p:cNvPr>
          <p:cNvGrpSpPr/>
          <p:nvPr/>
        </p:nvGrpSpPr>
        <p:grpSpPr>
          <a:xfrm>
            <a:off x="10253572" y="2425358"/>
            <a:ext cx="318615" cy="300631"/>
            <a:chOff x="-496587" y="2336196"/>
            <a:chExt cx="318615" cy="300631"/>
          </a:xfrm>
        </p:grpSpPr>
        <p:sp>
          <p:nvSpPr>
            <p:cNvPr id="109" name="Oval 108">
              <a:extLst>
                <a:ext uri="{FF2B5EF4-FFF2-40B4-BE49-F238E27FC236}">
                  <a16:creationId xmlns:a16="http://schemas.microsoft.com/office/drawing/2014/main" id="{88564B1B-F28A-56C5-5876-B87759902A95}"/>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10" name="Arc 109">
              <a:extLst>
                <a:ext uri="{FF2B5EF4-FFF2-40B4-BE49-F238E27FC236}">
                  <a16:creationId xmlns:a16="http://schemas.microsoft.com/office/drawing/2014/main" id="{BD4707BD-C9E5-F820-FB0F-253551857A14}"/>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11" name="Group 110">
            <a:extLst>
              <a:ext uri="{FF2B5EF4-FFF2-40B4-BE49-F238E27FC236}">
                <a16:creationId xmlns:a16="http://schemas.microsoft.com/office/drawing/2014/main" id="{AE11E4AE-04AC-88B7-86DF-05E80A671F10}"/>
              </a:ext>
            </a:extLst>
          </p:cNvPr>
          <p:cNvGrpSpPr/>
          <p:nvPr/>
        </p:nvGrpSpPr>
        <p:grpSpPr>
          <a:xfrm>
            <a:off x="10270505" y="2855164"/>
            <a:ext cx="318615" cy="300631"/>
            <a:chOff x="-496587" y="2336196"/>
            <a:chExt cx="318615" cy="300631"/>
          </a:xfrm>
        </p:grpSpPr>
        <p:sp>
          <p:nvSpPr>
            <p:cNvPr id="112" name="Oval 111">
              <a:extLst>
                <a:ext uri="{FF2B5EF4-FFF2-40B4-BE49-F238E27FC236}">
                  <a16:creationId xmlns:a16="http://schemas.microsoft.com/office/drawing/2014/main" id="{8E364706-C46A-206E-27E6-C905E026CD7C}"/>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13" name="Arc 112">
              <a:extLst>
                <a:ext uri="{FF2B5EF4-FFF2-40B4-BE49-F238E27FC236}">
                  <a16:creationId xmlns:a16="http://schemas.microsoft.com/office/drawing/2014/main" id="{79AB8878-8255-345F-6FAF-9FF4FE35449C}"/>
                </a:ext>
              </a:extLst>
            </p:cNvPr>
            <p:cNvSpPr/>
            <p:nvPr/>
          </p:nvSpPr>
          <p:spPr bwMode="gray">
            <a:xfrm>
              <a:off x="-496587" y="2336196"/>
              <a:ext cx="318615" cy="300631"/>
            </a:xfrm>
            <a:prstGeom prst="arc">
              <a:avLst>
                <a:gd name="adj1" fmla="val 1088741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14" name="Group 113">
            <a:extLst>
              <a:ext uri="{FF2B5EF4-FFF2-40B4-BE49-F238E27FC236}">
                <a16:creationId xmlns:a16="http://schemas.microsoft.com/office/drawing/2014/main" id="{FDB8835F-6115-F037-DE28-535CC42A241D}"/>
              </a:ext>
            </a:extLst>
          </p:cNvPr>
          <p:cNvGrpSpPr/>
          <p:nvPr/>
        </p:nvGrpSpPr>
        <p:grpSpPr>
          <a:xfrm>
            <a:off x="10270504" y="3299357"/>
            <a:ext cx="318615" cy="300631"/>
            <a:chOff x="-496587" y="2336196"/>
            <a:chExt cx="318615" cy="300631"/>
          </a:xfrm>
          <a:solidFill>
            <a:srgbClr val="FFC000"/>
          </a:solidFill>
        </p:grpSpPr>
        <p:sp>
          <p:nvSpPr>
            <p:cNvPr id="115" name="Oval 114">
              <a:extLst>
                <a:ext uri="{FF2B5EF4-FFF2-40B4-BE49-F238E27FC236}">
                  <a16:creationId xmlns:a16="http://schemas.microsoft.com/office/drawing/2014/main" id="{46CA7F84-35A8-791C-2AEF-30868ED4EFCE}"/>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16" name="Arc 115">
              <a:extLst>
                <a:ext uri="{FF2B5EF4-FFF2-40B4-BE49-F238E27FC236}">
                  <a16:creationId xmlns:a16="http://schemas.microsoft.com/office/drawing/2014/main" id="{0CA1A4DD-2C1E-E453-49EA-2FBBE38C18EF}"/>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17" name="Group 116">
            <a:extLst>
              <a:ext uri="{FF2B5EF4-FFF2-40B4-BE49-F238E27FC236}">
                <a16:creationId xmlns:a16="http://schemas.microsoft.com/office/drawing/2014/main" id="{7F264456-DB79-AEC3-7E36-586D0A707763}"/>
              </a:ext>
            </a:extLst>
          </p:cNvPr>
          <p:cNvGrpSpPr/>
          <p:nvPr/>
        </p:nvGrpSpPr>
        <p:grpSpPr>
          <a:xfrm>
            <a:off x="10253570" y="3746773"/>
            <a:ext cx="318615" cy="300631"/>
            <a:chOff x="-496587" y="2336196"/>
            <a:chExt cx="318615" cy="300631"/>
          </a:xfrm>
          <a:solidFill>
            <a:srgbClr val="FFC000"/>
          </a:solidFill>
        </p:grpSpPr>
        <p:sp>
          <p:nvSpPr>
            <p:cNvPr id="118" name="Oval 117">
              <a:extLst>
                <a:ext uri="{FF2B5EF4-FFF2-40B4-BE49-F238E27FC236}">
                  <a16:creationId xmlns:a16="http://schemas.microsoft.com/office/drawing/2014/main" id="{EB629BDD-1904-B404-BD3F-479F00F4F1B3}"/>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19" name="Arc 118">
              <a:extLst>
                <a:ext uri="{FF2B5EF4-FFF2-40B4-BE49-F238E27FC236}">
                  <a16:creationId xmlns:a16="http://schemas.microsoft.com/office/drawing/2014/main" id="{F1893377-AB1E-5DC8-F67F-FECE7FDBE330}"/>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20" name="Group 119">
            <a:extLst>
              <a:ext uri="{FF2B5EF4-FFF2-40B4-BE49-F238E27FC236}">
                <a16:creationId xmlns:a16="http://schemas.microsoft.com/office/drawing/2014/main" id="{128C44FC-0A80-6FEA-3D0C-A07FCD75109C}"/>
              </a:ext>
            </a:extLst>
          </p:cNvPr>
          <p:cNvGrpSpPr/>
          <p:nvPr/>
        </p:nvGrpSpPr>
        <p:grpSpPr>
          <a:xfrm>
            <a:off x="10270504" y="4166221"/>
            <a:ext cx="318615" cy="300631"/>
            <a:chOff x="-496587" y="2336196"/>
            <a:chExt cx="318615" cy="300631"/>
          </a:xfrm>
          <a:solidFill>
            <a:srgbClr val="FFC000"/>
          </a:solidFill>
        </p:grpSpPr>
        <p:sp>
          <p:nvSpPr>
            <p:cNvPr id="121" name="Oval 120">
              <a:extLst>
                <a:ext uri="{FF2B5EF4-FFF2-40B4-BE49-F238E27FC236}">
                  <a16:creationId xmlns:a16="http://schemas.microsoft.com/office/drawing/2014/main" id="{CB5BEE5A-A4E8-737B-18A8-C9441AAB1C81}"/>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22" name="Arc 121">
              <a:extLst>
                <a:ext uri="{FF2B5EF4-FFF2-40B4-BE49-F238E27FC236}">
                  <a16:creationId xmlns:a16="http://schemas.microsoft.com/office/drawing/2014/main" id="{E9C819BF-07D7-ABB7-938D-96D7140DD0C7}"/>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23" name="Group 122">
            <a:extLst>
              <a:ext uri="{FF2B5EF4-FFF2-40B4-BE49-F238E27FC236}">
                <a16:creationId xmlns:a16="http://schemas.microsoft.com/office/drawing/2014/main" id="{96A1BC31-F8C4-D100-F0EA-FC81078D1D4F}"/>
              </a:ext>
            </a:extLst>
          </p:cNvPr>
          <p:cNvGrpSpPr/>
          <p:nvPr/>
        </p:nvGrpSpPr>
        <p:grpSpPr>
          <a:xfrm>
            <a:off x="10262037" y="4619188"/>
            <a:ext cx="318615" cy="300631"/>
            <a:chOff x="-496587" y="2336196"/>
            <a:chExt cx="318615" cy="300631"/>
          </a:xfrm>
          <a:solidFill>
            <a:srgbClr val="FFC000"/>
          </a:solidFill>
        </p:grpSpPr>
        <p:sp>
          <p:nvSpPr>
            <p:cNvPr id="124" name="Oval 123">
              <a:extLst>
                <a:ext uri="{FF2B5EF4-FFF2-40B4-BE49-F238E27FC236}">
                  <a16:creationId xmlns:a16="http://schemas.microsoft.com/office/drawing/2014/main" id="{1FB166CD-9C23-CCF3-7D7E-B531DDE418DC}"/>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25" name="Arc 124">
              <a:extLst>
                <a:ext uri="{FF2B5EF4-FFF2-40B4-BE49-F238E27FC236}">
                  <a16:creationId xmlns:a16="http://schemas.microsoft.com/office/drawing/2014/main" id="{0F0B2900-8F6E-3AF6-4AC7-17B7EBE0FBBB}"/>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26" name="Group 125">
            <a:extLst>
              <a:ext uri="{FF2B5EF4-FFF2-40B4-BE49-F238E27FC236}">
                <a16:creationId xmlns:a16="http://schemas.microsoft.com/office/drawing/2014/main" id="{C05C9EEB-12A8-D722-EFD3-3F0789E2DBF7}"/>
              </a:ext>
            </a:extLst>
          </p:cNvPr>
          <p:cNvGrpSpPr/>
          <p:nvPr/>
        </p:nvGrpSpPr>
        <p:grpSpPr>
          <a:xfrm>
            <a:off x="10270505" y="5028235"/>
            <a:ext cx="318615" cy="300631"/>
            <a:chOff x="-496587" y="2336196"/>
            <a:chExt cx="318615" cy="300631"/>
          </a:xfrm>
          <a:solidFill>
            <a:srgbClr val="FFC000"/>
          </a:solidFill>
        </p:grpSpPr>
        <p:sp>
          <p:nvSpPr>
            <p:cNvPr id="127" name="Oval 126">
              <a:extLst>
                <a:ext uri="{FF2B5EF4-FFF2-40B4-BE49-F238E27FC236}">
                  <a16:creationId xmlns:a16="http://schemas.microsoft.com/office/drawing/2014/main" id="{382B5B79-5F45-1C8B-ED77-B7E181E22171}"/>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28" name="Arc 127">
              <a:extLst>
                <a:ext uri="{FF2B5EF4-FFF2-40B4-BE49-F238E27FC236}">
                  <a16:creationId xmlns:a16="http://schemas.microsoft.com/office/drawing/2014/main" id="{3CBE18E5-F114-65B4-3EEC-C7D1F793E315}"/>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29" name="Group 128">
            <a:extLst>
              <a:ext uri="{FF2B5EF4-FFF2-40B4-BE49-F238E27FC236}">
                <a16:creationId xmlns:a16="http://schemas.microsoft.com/office/drawing/2014/main" id="{F30A9518-6C13-66EB-43A9-4B03308F4A14}"/>
              </a:ext>
            </a:extLst>
          </p:cNvPr>
          <p:cNvGrpSpPr/>
          <p:nvPr/>
        </p:nvGrpSpPr>
        <p:grpSpPr>
          <a:xfrm>
            <a:off x="10338237" y="5480589"/>
            <a:ext cx="318615" cy="300631"/>
            <a:chOff x="-496587" y="2336196"/>
            <a:chExt cx="318615" cy="300631"/>
          </a:xfrm>
          <a:solidFill>
            <a:srgbClr val="FFC000"/>
          </a:solidFill>
        </p:grpSpPr>
        <p:sp>
          <p:nvSpPr>
            <p:cNvPr id="130" name="Oval 129">
              <a:extLst>
                <a:ext uri="{FF2B5EF4-FFF2-40B4-BE49-F238E27FC236}">
                  <a16:creationId xmlns:a16="http://schemas.microsoft.com/office/drawing/2014/main" id="{680450C2-D0C2-4E40-815D-9B98025562B8}"/>
                </a:ext>
              </a:extLst>
            </p:cNvPr>
            <p:cNvSpPr/>
            <p:nvPr/>
          </p:nvSpPr>
          <p:spPr bwMode="auto">
            <a:xfrm>
              <a:off x="-496587" y="2336197"/>
              <a:ext cx="318615" cy="300630"/>
            </a:xfrm>
            <a:prstGeom prst="ellipse">
              <a:avLst/>
            </a:prstGeom>
            <a:grp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31" name="Arc 130">
              <a:extLst>
                <a:ext uri="{FF2B5EF4-FFF2-40B4-BE49-F238E27FC236}">
                  <a16:creationId xmlns:a16="http://schemas.microsoft.com/office/drawing/2014/main" id="{B3C3C041-6A7A-E148-E208-018AF3D53E05}"/>
                </a:ext>
              </a:extLst>
            </p:cNvPr>
            <p:cNvSpPr/>
            <p:nvPr/>
          </p:nvSpPr>
          <p:spPr bwMode="gray">
            <a:xfrm>
              <a:off x="-496587" y="2336196"/>
              <a:ext cx="318615" cy="300631"/>
            </a:xfrm>
            <a:prstGeom prst="arc">
              <a:avLst>
                <a:gd name="adj1" fmla="val 10887412"/>
                <a:gd name="adj2" fmla="val 16314943"/>
              </a:avLst>
            </a:prstGeom>
            <a:grp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35" name="Group 134">
            <a:extLst>
              <a:ext uri="{FF2B5EF4-FFF2-40B4-BE49-F238E27FC236}">
                <a16:creationId xmlns:a16="http://schemas.microsoft.com/office/drawing/2014/main" id="{D967D980-A81C-979E-D190-E7CA020D5758}"/>
              </a:ext>
            </a:extLst>
          </p:cNvPr>
          <p:cNvGrpSpPr/>
          <p:nvPr/>
        </p:nvGrpSpPr>
        <p:grpSpPr>
          <a:xfrm>
            <a:off x="3528067" y="6177193"/>
            <a:ext cx="158400" cy="159456"/>
            <a:chOff x="-496587" y="2336196"/>
            <a:chExt cx="318615" cy="300631"/>
          </a:xfrm>
        </p:grpSpPr>
        <p:sp>
          <p:nvSpPr>
            <p:cNvPr id="148" name="Oval 147">
              <a:extLst>
                <a:ext uri="{FF2B5EF4-FFF2-40B4-BE49-F238E27FC236}">
                  <a16:creationId xmlns:a16="http://schemas.microsoft.com/office/drawing/2014/main" id="{BEB28AFF-836E-3103-BDD4-B55D86D6BCF0}"/>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49" name="Arc 148">
              <a:extLst>
                <a:ext uri="{FF2B5EF4-FFF2-40B4-BE49-F238E27FC236}">
                  <a16:creationId xmlns:a16="http://schemas.microsoft.com/office/drawing/2014/main" id="{F66CD379-54CD-C290-1609-7B9448488B06}"/>
                </a:ext>
              </a:extLst>
            </p:cNvPr>
            <p:cNvSpPr/>
            <p:nvPr/>
          </p:nvSpPr>
          <p:spPr bwMode="gray">
            <a:xfrm>
              <a:off x="-496587" y="2336196"/>
              <a:ext cx="318615" cy="300631"/>
            </a:xfrm>
            <a:prstGeom prst="arc">
              <a:avLst>
                <a:gd name="adj1" fmla="val 21552568"/>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37" name="Group 136">
            <a:extLst>
              <a:ext uri="{FF2B5EF4-FFF2-40B4-BE49-F238E27FC236}">
                <a16:creationId xmlns:a16="http://schemas.microsoft.com/office/drawing/2014/main" id="{10ECD54F-90D6-445F-0B15-B3BEC4CC193C}"/>
              </a:ext>
            </a:extLst>
          </p:cNvPr>
          <p:cNvGrpSpPr/>
          <p:nvPr/>
        </p:nvGrpSpPr>
        <p:grpSpPr>
          <a:xfrm>
            <a:off x="6868982" y="6146406"/>
            <a:ext cx="158400" cy="159456"/>
            <a:chOff x="-496587" y="2336196"/>
            <a:chExt cx="318615" cy="300631"/>
          </a:xfrm>
        </p:grpSpPr>
        <p:sp>
          <p:nvSpPr>
            <p:cNvPr id="144" name="Oval 143">
              <a:extLst>
                <a:ext uri="{FF2B5EF4-FFF2-40B4-BE49-F238E27FC236}">
                  <a16:creationId xmlns:a16="http://schemas.microsoft.com/office/drawing/2014/main" id="{FA24AC03-8423-9A97-B666-946BA5D7E5F2}"/>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45" name="Arc 144">
              <a:extLst>
                <a:ext uri="{FF2B5EF4-FFF2-40B4-BE49-F238E27FC236}">
                  <a16:creationId xmlns:a16="http://schemas.microsoft.com/office/drawing/2014/main" id="{34E9BC9C-87DB-39F9-7AED-2F5E02C4C3FA}"/>
                </a:ext>
              </a:extLst>
            </p:cNvPr>
            <p:cNvSpPr/>
            <p:nvPr/>
          </p:nvSpPr>
          <p:spPr bwMode="gray">
            <a:xfrm>
              <a:off x="-496587" y="2336196"/>
              <a:ext cx="318615" cy="300631"/>
            </a:xfrm>
            <a:prstGeom prst="arc">
              <a:avLst>
                <a:gd name="adj1" fmla="val 10842122"/>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sp>
        <p:nvSpPr>
          <p:cNvPr id="139" name="TextBox 138">
            <a:extLst>
              <a:ext uri="{FF2B5EF4-FFF2-40B4-BE49-F238E27FC236}">
                <a16:creationId xmlns:a16="http://schemas.microsoft.com/office/drawing/2014/main" id="{23AC9840-3BAC-7E59-D21D-BAF92012072B}"/>
              </a:ext>
            </a:extLst>
          </p:cNvPr>
          <p:cNvSpPr txBox="1"/>
          <p:nvPr/>
        </p:nvSpPr>
        <p:spPr>
          <a:xfrm>
            <a:off x="3660539" y="6115202"/>
            <a:ext cx="1789273" cy="307777"/>
          </a:xfrm>
          <a:prstGeom prst="rect">
            <a:avLst/>
          </a:prstGeom>
          <a:noFill/>
        </p:spPr>
        <p:txBody>
          <a:bodyPr wrap="square">
            <a:spAutoFit/>
          </a:bodyPr>
          <a:lstStyle/>
          <a:p>
            <a:r>
              <a:rPr lang="en-IN" sz="700">
                <a:solidFill>
                  <a:schemeClr val="bg1"/>
                </a:solidFill>
                <a:latin typeface="EYInterstate Light" panose="02000506000000020004" pitchFamily="2" charset="0"/>
              </a:rPr>
              <a:t>Tool Support Marginal Feature Of Capability</a:t>
            </a:r>
          </a:p>
        </p:txBody>
      </p:sp>
      <p:sp>
        <p:nvSpPr>
          <p:cNvPr id="141" name="TextBox 140">
            <a:extLst>
              <a:ext uri="{FF2B5EF4-FFF2-40B4-BE49-F238E27FC236}">
                <a16:creationId xmlns:a16="http://schemas.microsoft.com/office/drawing/2014/main" id="{696A4051-A2EA-9A8A-970C-8A6790959139}"/>
              </a:ext>
            </a:extLst>
          </p:cNvPr>
          <p:cNvSpPr txBox="1"/>
          <p:nvPr/>
        </p:nvSpPr>
        <p:spPr>
          <a:xfrm>
            <a:off x="6963019" y="6105254"/>
            <a:ext cx="1623454" cy="307777"/>
          </a:xfrm>
          <a:prstGeom prst="rect">
            <a:avLst/>
          </a:prstGeom>
          <a:noFill/>
        </p:spPr>
        <p:txBody>
          <a:bodyPr wrap="square">
            <a:spAutoFit/>
          </a:bodyPr>
          <a:lstStyle/>
          <a:p>
            <a:r>
              <a:rPr lang="en-IN" sz="700">
                <a:solidFill>
                  <a:schemeClr val="bg1"/>
                </a:solidFill>
                <a:latin typeface="EYInterstate Light" panose="02000506000000020004" pitchFamily="2" charset="0"/>
              </a:rPr>
              <a:t>Feature Fully Present In Naive State</a:t>
            </a:r>
          </a:p>
        </p:txBody>
      </p:sp>
      <p:sp>
        <p:nvSpPr>
          <p:cNvPr id="152" name="Oval 151">
            <a:extLst>
              <a:ext uri="{FF2B5EF4-FFF2-40B4-BE49-F238E27FC236}">
                <a16:creationId xmlns:a16="http://schemas.microsoft.com/office/drawing/2014/main" id="{271F1714-F26D-DD4F-FF44-7E9F510E7D21}"/>
              </a:ext>
            </a:extLst>
          </p:cNvPr>
          <p:cNvSpPr/>
          <p:nvPr/>
        </p:nvSpPr>
        <p:spPr bwMode="auto">
          <a:xfrm>
            <a:off x="8458736" y="6140707"/>
            <a:ext cx="158400" cy="159456"/>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53" name="TextBox 152">
            <a:extLst>
              <a:ext uri="{FF2B5EF4-FFF2-40B4-BE49-F238E27FC236}">
                <a16:creationId xmlns:a16="http://schemas.microsoft.com/office/drawing/2014/main" id="{8A9A7C84-A5E6-CA07-72AA-2D5B5258E733}"/>
              </a:ext>
            </a:extLst>
          </p:cNvPr>
          <p:cNvSpPr txBox="1"/>
          <p:nvPr/>
        </p:nvSpPr>
        <p:spPr>
          <a:xfrm>
            <a:off x="8604853" y="6105255"/>
            <a:ext cx="1029734" cy="307777"/>
          </a:xfrm>
          <a:prstGeom prst="rect">
            <a:avLst/>
          </a:prstGeom>
          <a:noFill/>
        </p:spPr>
        <p:txBody>
          <a:bodyPr wrap="square">
            <a:spAutoFit/>
          </a:bodyPr>
          <a:lstStyle/>
          <a:p>
            <a:r>
              <a:rPr lang="en-IN" sz="700">
                <a:solidFill>
                  <a:schemeClr val="bg1"/>
                </a:solidFill>
                <a:latin typeface="EYInterstate Light" panose="02000506000000020004" pitchFamily="2" charset="0"/>
              </a:rPr>
              <a:t>Feature Fully Present</a:t>
            </a:r>
          </a:p>
        </p:txBody>
      </p:sp>
      <p:grpSp>
        <p:nvGrpSpPr>
          <p:cNvPr id="154" name="Group 153">
            <a:extLst>
              <a:ext uri="{FF2B5EF4-FFF2-40B4-BE49-F238E27FC236}">
                <a16:creationId xmlns:a16="http://schemas.microsoft.com/office/drawing/2014/main" id="{91AACD8A-4BCF-23F4-43E2-98F8E17DC668}"/>
              </a:ext>
            </a:extLst>
          </p:cNvPr>
          <p:cNvGrpSpPr/>
          <p:nvPr/>
        </p:nvGrpSpPr>
        <p:grpSpPr>
          <a:xfrm>
            <a:off x="2645406" y="6170493"/>
            <a:ext cx="169138" cy="159456"/>
            <a:chOff x="-496587" y="2336196"/>
            <a:chExt cx="318615" cy="300631"/>
          </a:xfrm>
        </p:grpSpPr>
        <p:sp>
          <p:nvSpPr>
            <p:cNvPr id="155" name="Oval 154">
              <a:extLst>
                <a:ext uri="{FF2B5EF4-FFF2-40B4-BE49-F238E27FC236}">
                  <a16:creationId xmlns:a16="http://schemas.microsoft.com/office/drawing/2014/main" id="{C8300C37-7ED6-11E6-1D40-A394E714C95D}"/>
                </a:ext>
              </a:extLst>
            </p:cNvPr>
            <p:cNvSpPr/>
            <p:nvPr/>
          </p:nvSpPr>
          <p:spPr bwMode="auto">
            <a:xfrm>
              <a:off x="-496587" y="2336196"/>
              <a:ext cx="318615" cy="300631"/>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56" name="Arc 155">
              <a:extLst>
                <a:ext uri="{FF2B5EF4-FFF2-40B4-BE49-F238E27FC236}">
                  <a16:creationId xmlns:a16="http://schemas.microsoft.com/office/drawing/2014/main" id="{BBE40CDD-38D5-F5AA-47A1-E907EA969784}"/>
                </a:ext>
              </a:extLst>
            </p:cNvPr>
            <p:cNvSpPr/>
            <p:nvPr/>
          </p:nvSpPr>
          <p:spPr bwMode="gray">
            <a:xfrm>
              <a:off x="-496585" y="2336196"/>
              <a:ext cx="298387" cy="300631"/>
            </a:xfrm>
            <a:prstGeom prst="arc">
              <a:avLst>
                <a:gd name="adj1" fmla="val 16421818"/>
                <a:gd name="adj2" fmla="val 16186381"/>
              </a:avLst>
            </a:prstGeom>
            <a:solidFill>
              <a:srgbClr val="FFFFFF"/>
            </a:solidFill>
            <a:ln w="9525" cap="flat" cmpd="sng" algn="ctr">
              <a:solidFill>
                <a:schemeClr val="bg1"/>
              </a:solid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grpSp>
        <p:nvGrpSpPr>
          <p:cNvPr id="157" name="Group 156">
            <a:extLst>
              <a:ext uri="{FF2B5EF4-FFF2-40B4-BE49-F238E27FC236}">
                <a16:creationId xmlns:a16="http://schemas.microsoft.com/office/drawing/2014/main" id="{6D09199C-D418-CBA8-5E87-104B292EC6A4}"/>
              </a:ext>
            </a:extLst>
          </p:cNvPr>
          <p:cNvGrpSpPr/>
          <p:nvPr/>
        </p:nvGrpSpPr>
        <p:grpSpPr>
          <a:xfrm>
            <a:off x="5254860" y="6152451"/>
            <a:ext cx="159418" cy="159457"/>
            <a:chOff x="-496587" y="2336194"/>
            <a:chExt cx="318615" cy="300633"/>
          </a:xfrm>
        </p:grpSpPr>
        <p:sp>
          <p:nvSpPr>
            <p:cNvPr id="158" name="Oval 157">
              <a:extLst>
                <a:ext uri="{FF2B5EF4-FFF2-40B4-BE49-F238E27FC236}">
                  <a16:creationId xmlns:a16="http://schemas.microsoft.com/office/drawing/2014/main" id="{A626703E-AD61-AB07-69B0-13A99751D5A0}"/>
                </a:ext>
              </a:extLst>
            </p:cNvPr>
            <p:cNvSpPr/>
            <p:nvPr/>
          </p:nvSpPr>
          <p:spPr bwMode="auto">
            <a:xfrm>
              <a:off x="-496587" y="2336197"/>
              <a:ext cx="318615" cy="300630"/>
            </a:xfrm>
            <a:prstGeom prst="ellipse">
              <a:avLst/>
            </a:prstGeom>
            <a:solidFill>
              <a:srgbClr val="FFC000"/>
            </a:solidFill>
            <a:ln w="9525" cap="flat" cmpd="sng" algn="ctr">
              <a:noFill/>
              <a:prstDash val="solid"/>
              <a:round/>
              <a:headEnd type="none" w="med" len="med"/>
              <a:tailEnd type="none" w="med" len="med"/>
            </a:ln>
            <a:effectLst/>
          </p:spPr>
          <p:txBody>
            <a:bodyPr rtlCol="0" anchor="t" anchorCtr="0"/>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sp>
          <p:nvSpPr>
            <p:cNvPr id="159" name="Arc 158">
              <a:extLst>
                <a:ext uri="{FF2B5EF4-FFF2-40B4-BE49-F238E27FC236}">
                  <a16:creationId xmlns:a16="http://schemas.microsoft.com/office/drawing/2014/main" id="{B259F990-94E1-6788-FEAF-FCF37A133CC0}"/>
                </a:ext>
              </a:extLst>
            </p:cNvPr>
            <p:cNvSpPr/>
            <p:nvPr/>
          </p:nvSpPr>
          <p:spPr bwMode="gray">
            <a:xfrm>
              <a:off x="-496587" y="2336196"/>
              <a:ext cx="318615" cy="300631"/>
            </a:xfrm>
            <a:prstGeom prst="arc">
              <a:avLst>
                <a:gd name="adj1" fmla="val 5411397"/>
                <a:gd name="adj2" fmla="val 16314943"/>
              </a:avLst>
            </a:prstGeom>
            <a:solidFill>
              <a:srgbClr val="FFFFFF"/>
            </a:solidFill>
            <a:ln w="9525" cap="flat" cmpd="sng" algn="ctr">
              <a:noFill/>
              <a:prstDash val="solid"/>
              <a:round/>
              <a:headEnd type="none" w="med" len="med"/>
              <a:tailEnd type="none" w="med" len="med"/>
            </a:ln>
            <a:effectLst/>
          </p:spPr>
          <p:txBody>
            <a:bodyPr rtlCol="0" anchor="ctr"/>
            <a:lstStyle/>
            <a:p>
              <a:pPr marL="0" marR="0" lvl="0" indent="0" algn="ctr" defTabSz="913833" rtl="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FFFFFF"/>
                </a:solidFill>
                <a:effectLst/>
                <a:uLnTx/>
                <a:uFillTx/>
                <a:latin typeface="EYInterstate Light" panose="02000506000000020004" pitchFamily="2" charset="0"/>
                <a:cs typeface="Calibri" panose="020F0502020204030204" pitchFamily="34" charset="0"/>
              </a:endParaRPr>
            </a:p>
          </p:txBody>
        </p:sp>
      </p:grpSp>
      <p:sp>
        <p:nvSpPr>
          <p:cNvPr id="160" name="TextBox 159">
            <a:extLst>
              <a:ext uri="{FF2B5EF4-FFF2-40B4-BE49-F238E27FC236}">
                <a16:creationId xmlns:a16="http://schemas.microsoft.com/office/drawing/2014/main" id="{77584DCF-1EB9-F8F6-DA72-D6342679285F}"/>
              </a:ext>
            </a:extLst>
          </p:cNvPr>
          <p:cNvSpPr txBox="1"/>
          <p:nvPr/>
        </p:nvSpPr>
        <p:spPr>
          <a:xfrm>
            <a:off x="2766963" y="6159117"/>
            <a:ext cx="761137" cy="200055"/>
          </a:xfrm>
          <a:prstGeom prst="rect">
            <a:avLst/>
          </a:prstGeom>
          <a:noFill/>
        </p:spPr>
        <p:txBody>
          <a:bodyPr wrap="square">
            <a:spAutoFit/>
          </a:bodyPr>
          <a:lstStyle/>
          <a:p>
            <a:r>
              <a:rPr lang="en-IN" sz="700">
                <a:solidFill>
                  <a:schemeClr val="bg1"/>
                </a:solidFill>
                <a:latin typeface="EYInterstate Light" panose="02000506000000020004" pitchFamily="2" charset="0"/>
              </a:rPr>
              <a:t>No Capability</a:t>
            </a:r>
          </a:p>
        </p:txBody>
      </p:sp>
      <p:sp>
        <p:nvSpPr>
          <p:cNvPr id="161" name="TextBox 160">
            <a:extLst>
              <a:ext uri="{FF2B5EF4-FFF2-40B4-BE49-F238E27FC236}">
                <a16:creationId xmlns:a16="http://schemas.microsoft.com/office/drawing/2014/main" id="{6C5EB1F1-FC79-4E37-E4A1-35DB3587E4BC}"/>
              </a:ext>
            </a:extLst>
          </p:cNvPr>
          <p:cNvSpPr txBox="1"/>
          <p:nvPr/>
        </p:nvSpPr>
        <p:spPr>
          <a:xfrm>
            <a:off x="5385728" y="6105253"/>
            <a:ext cx="1341469" cy="307777"/>
          </a:xfrm>
          <a:prstGeom prst="rect">
            <a:avLst/>
          </a:prstGeom>
          <a:noFill/>
        </p:spPr>
        <p:txBody>
          <a:bodyPr wrap="square">
            <a:spAutoFit/>
          </a:bodyPr>
          <a:lstStyle/>
          <a:p>
            <a:r>
              <a:rPr lang="en-IN" sz="700">
                <a:solidFill>
                  <a:schemeClr val="bg1"/>
                </a:solidFill>
                <a:latin typeface="EYInterstate Light" panose="02000506000000020004" pitchFamily="2" charset="0"/>
              </a:rPr>
              <a:t>Feature Partially Present In Naive State</a:t>
            </a:r>
          </a:p>
        </p:txBody>
      </p:sp>
      <p:sp>
        <p:nvSpPr>
          <p:cNvPr id="162" name="Rectangle 161">
            <a:extLst>
              <a:ext uri="{FF2B5EF4-FFF2-40B4-BE49-F238E27FC236}">
                <a16:creationId xmlns:a16="http://schemas.microsoft.com/office/drawing/2014/main" id="{2A1374C7-FFA4-4BBF-7E3A-4667C02A60DA}"/>
              </a:ext>
            </a:extLst>
          </p:cNvPr>
          <p:cNvSpPr/>
          <p:nvPr/>
        </p:nvSpPr>
        <p:spPr>
          <a:xfrm>
            <a:off x="2479675" y="6022345"/>
            <a:ext cx="6861175" cy="518160"/>
          </a:xfrm>
          <a:prstGeom prst="rect">
            <a:avLst/>
          </a:prstGeom>
          <a:noFill/>
          <a:ln>
            <a:solidFill>
              <a:srgbClr val="FFC000"/>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Interstate Light" panose="02000506000000020004" pitchFamily="2" charset="0"/>
            </a:endParaRPr>
          </a:p>
        </p:txBody>
      </p:sp>
      <p:sp>
        <p:nvSpPr>
          <p:cNvPr id="132" name="Title 1">
            <a:extLst>
              <a:ext uri="{FF2B5EF4-FFF2-40B4-BE49-F238E27FC236}">
                <a16:creationId xmlns:a16="http://schemas.microsoft.com/office/drawing/2014/main" id="{74F38CE1-CB96-F2F9-916E-43C3FE8B4C66}"/>
              </a:ext>
            </a:extLst>
          </p:cNvPr>
          <p:cNvSpPr>
            <a:spLocks noGrp="1"/>
          </p:cNvSpPr>
          <p:nvPr>
            <p:ph type="title" idx="4294967295"/>
          </p:nvPr>
        </p:nvSpPr>
        <p:spPr>
          <a:xfrm>
            <a:off x="643636" y="427093"/>
            <a:ext cx="10799064" cy="793750"/>
          </a:xfr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Journal Entry Automation – Tool Maturity Matrix</a:t>
            </a:r>
          </a:p>
        </p:txBody>
      </p:sp>
      <p:sp>
        <p:nvSpPr>
          <p:cNvPr id="138" name="TextBox 137">
            <a:extLst>
              <a:ext uri="{FF2B5EF4-FFF2-40B4-BE49-F238E27FC236}">
                <a16:creationId xmlns:a16="http://schemas.microsoft.com/office/drawing/2014/main" id="{D21F0BAE-5F24-06D0-030E-344C6746B0F5}"/>
              </a:ext>
            </a:extLst>
          </p:cNvPr>
          <p:cNvSpPr txBox="1"/>
          <p:nvPr/>
        </p:nvSpPr>
        <p:spPr>
          <a:xfrm>
            <a:off x="-25400" y="6688723"/>
            <a:ext cx="1549400" cy="169277"/>
          </a:xfrm>
          <a:prstGeom prst="rect">
            <a:avLst/>
          </a:prstGeom>
          <a:noFill/>
        </p:spPr>
        <p:txBody>
          <a:bodyPr wrap="square">
            <a:spAutoFit/>
          </a:bodyPr>
          <a:lstStyle/>
          <a:p>
            <a:r>
              <a:rPr lang="en-IN" sz="500" i="1">
                <a:solidFill>
                  <a:schemeClr val="bg1"/>
                </a:solidFill>
                <a:latin typeface="EYInterstate Light" panose="02000506000000020004" pitchFamily="2" charset="0"/>
              </a:rPr>
              <a:t>Source: EYQ, ChatGPT</a:t>
            </a:r>
          </a:p>
        </p:txBody>
      </p:sp>
    </p:spTree>
    <p:extLst>
      <p:ext uri="{BB962C8B-B14F-4D97-AF65-F5344CB8AC3E}">
        <p14:creationId xmlns:p14="http://schemas.microsoft.com/office/powerpoint/2010/main" val="212638768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4E9A93-DB8E-DF04-B067-F4E9ABD1F6D2}"/>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615CC40E-E0C7-2617-60DF-E9211437D75D}"/>
              </a:ext>
            </a:extLst>
          </p:cNvPr>
          <p:cNvGraphicFramePr>
            <a:graphicFrameLocks noGrp="1"/>
          </p:cNvGraphicFramePr>
          <p:nvPr>
            <p:extLst>
              <p:ext uri="{D42A27DB-BD31-4B8C-83A1-F6EECF244321}">
                <p14:modId xmlns:p14="http://schemas.microsoft.com/office/powerpoint/2010/main" val="3384946045"/>
              </p:ext>
            </p:extLst>
          </p:nvPr>
        </p:nvGraphicFramePr>
        <p:xfrm>
          <a:off x="744871" y="1021458"/>
          <a:ext cx="10693396" cy="5567276"/>
        </p:xfrm>
        <a:graphic>
          <a:graphicData uri="http://schemas.openxmlformats.org/drawingml/2006/table">
            <a:tbl>
              <a:tblPr firstRow="1" bandRow="1">
                <a:tableStyleId>{5C22544A-7EE6-4342-B048-85BDC9FD1C3A}</a:tableStyleId>
              </a:tblPr>
              <a:tblGrid>
                <a:gridCol w="4533397">
                  <a:extLst>
                    <a:ext uri="{9D8B030D-6E8A-4147-A177-3AD203B41FA5}">
                      <a16:colId xmlns:a16="http://schemas.microsoft.com/office/drawing/2014/main" val="1311660617"/>
                    </a:ext>
                  </a:extLst>
                </a:gridCol>
                <a:gridCol w="1351132">
                  <a:extLst>
                    <a:ext uri="{9D8B030D-6E8A-4147-A177-3AD203B41FA5}">
                      <a16:colId xmlns:a16="http://schemas.microsoft.com/office/drawing/2014/main" val="3498304478"/>
                    </a:ext>
                  </a:extLst>
                </a:gridCol>
                <a:gridCol w="960120">
                  <a:extLst>
                    <a:ext uri="{9D8B030D-6E8A-4147-A177-3AD203B41FA5}">
                      <a16:colId xmlns:a16="http://schemas.microsoft.com/office/drawing/2014/main" val="2626836103"/>
                    </a:ext>
                  </a:extLst>
                </a:gridCol>
                <a:gridCol w="1042416">
                  <a:extLst>
                    <a:ext uri="{9D8B030D-6E8A-4147-A177-3AD203B41FA5}">
                      <a16:colId xmlns:a16="http://schemas.microsoft.com/office/drawing/2014/main" val="4126821612"/>
                    </a:ext>
                  </a:extLst>
                </a:gridCol>
                <a:gridCol w="914400">
                  <a:extLst>
                    <a:ext uri="{9D8B030D-6E8A-4147-A177-3AD203B41FA5}">
                      <a16:colId xmlns:a16="http://schemas.microsoft.com/office/drawing/2014/main" val="1323157667"/>
                    </a:ext>
                  </a:extLst>
                </a:gridCol>
                <a:gridCol w="996696">
                  <a:extLst>
                    <a:ext uri="{9D8B030D-6E8A-4147-A177-3AD203B41FA5}">
                      <a16:colId xmlns:a16="http://schemas.microsoft.com/office/drawing/2014/main" val="860910613"/>
                    </a:ext>
                  </a:extLst>
                </a:gridCol>
                <a:gridCol w="895235">
                  <a:extLst>
                    <a:ext uri="{9D8B030D-6E8A-4147-A177-3AD203B41FA5}">
                      <a16:colId xmlns:a16="http://schemas.microsoft.com/office/drawing/2014/main" val="262848366"/>
                    </a:ext>
                  </a:extLst>
                </a:gridCol>
              </a:tblGrid>
              <a:tr h="450446">
                <a:tc>
                  <a:txBody>
                    <a:bodyPr/>
                    <a:lstStyle/>
                    <a:p>
                      <a:pPr algn="ctr" fontAlgn="ctr"/>
                      <a:r>
                        <a:rPr lang="en-IN" sz="1100" b="1" i="0" u="none" strike="noStrike">
                          <a:solidFill>
                            <a:srgbClr val="FFE600"/>
                          </a:solidFill>
                          <a:effectLst/>
                          <a:latin typeface="Aptos Narrow" panose="020B0004020202020204" pitchFamily="34" charset="0"/>
                        </a:rPr>
                        <a:t>Measure Name</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en-IN" sz="1100" b="1" i="0" u="none" strike="noStrike">
                          <a:solidFill>
                            <a:srgbClr val="FFE600"/>
                          </a:solidFill>
                          <a:effectLst/>
                          <a:latin typeface="EY interstate"/>
                        </a:rPr>
                        <a:t>Unit of Measurement</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en-IN" sz="1100" b="1" i="0" u="none" strike="noStrike">
                          <a:solidFill>
                            <a:srgbClr val="FFE600"/>
                          </a:solidFill>
                          <a:effectLst/>
                          <a:latin typeface="EY interstate"/>
                        </a:rPr>
                        <a:t>   25</a:t>
                      </a:r>
                      <a:r>
                        <a:rPr lang="en-IN" sz="1100" b="1" i="0" u="none" strike="noStrike" baseline="30000">
                          <a:solidFill>
                            <a:srgbClr val="FFE600"/>
                          </a:solidFill>
                          <a:effectLst/>
                          <a:latin typeface="EY interstate"/>
                        </a:rPr>
                        <a:t>Th</a:t>
                      </a:r>
                      <a:r>
                        <a:rPr lang="en-IN" sz="1100" b="1" i="0" u="none" strike="noStrike">
                          <a:solidFill>
                            <a:srgbClr val="FFE600"/>
                          </a:solidFill>
                          <a:effectLst/>
                          <a:latin typeface="EY interstate"/>
                        </a:rPr>
                        <a:t> Percentile</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en-IN" sz="1100" b="1" i="0" u="none" strike="noStrike">
                          <a:solidFill>
                            <a:srgbClr val="FFE600"/>
                          </a:solidFill>
                          <a:effectLst/>
                          <a:latin typeface="EY interstate"/>
                        </a:rPr>
                        <a:t>Median</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fr-FR" sz="1100" b="0" i="0" u="none" strike="noStrike">
                          <a:solidFill>
                            <a:srgbClr val="FFE600"/>
                          </a:solidFill>
                          <a:effectLst/>
                          <a:latin typeface="EY interstate"/>
                        </a:rPr>
                        <a:t>75th Percentile</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fr-FR" sz="1100" b="0" i="0" u="none" strike="noStrike">
                          <a:solidFill>
                            <a:srgbClr val="FFE600"/>
                          </a:solidFill>
                          <a:effectLst/>
                          <a:latin typeface="EY interstate"/>
                        </a:rPr>
                        <a:t>Average</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r>
                        <a:rPr lang="fr-FR" sz="1100" b="0" i="0" u="none" strike="noStrike">
                          <a:solidFill>
                            <a:srgbClr val="FFE600"/>
                          </a:solidFill>
                          <a:effectLst/>
                          <a:latin typeface="EY interstate"/>
                        </a:rPr>
                        <a:t>Sample</a:t>
                      </a:r>
                    </a:p>
                  </a:txBody>
                  <a:tcPr marL="6350" marR="6350" marT="635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448929835"/>
                  </a:ext>
                </a:extLst>
              </a:tr>
              <a:tr h="0">
                <a:tc>
                  <a:txBody>
                    <a:bodyPr/>
                    <a:lstStyle/>
                    <a:p>
                      <a:pPr algn="l" fontAlgn="b"/>
                      <a:r>
                        <a:rPr lang="en-IN" sz="1100" b="0" i="0" u="none" strike="noStrike">
                          <a:solidFill>
                            <a:schemeClr val="bg1"/>
                          </a:solidFill>
                          <a:effectLst/>
                          <a:latin typeface="EY interstate"/>
                        </a:rPr>
                        <a:t>Percentage of journal entry line items that are automated and recurring</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32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30.92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738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66594133"/>
                  </a:ext>
                </a:extLst>
              </a:tr>
              <a:tr h="0">
                <a:tc>
                  <a:txBody>
                    <a:bodyPr/>
                    <a:lstStyle/>
                    <a:p>
                      <a:pPr algn="l" fontAlgn="b"/>
                      <a:r>
                        <a:rPr lang="en-IN" sz="1100" b="0" i="0" u="none" strike="noStrike">
                          <a:solidFill>
                            <a:schemeClr val="bg1"/>
                          </a:solidFill>
                          <a:effectLst/>
                          <a:latin typeface="EY interstate"/>
                        </a:rPr>
                        <a:t>Percentage of journal entry line items sourced through methods other than manual, direct link, or automated entry</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0.31</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686</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32710049"/>
                  </a:ext>
                </a:extLst>
              </a:tr>
              <a:tr h="0">
                <a:tc>
                  <a:txBody>
                    <a:bodyPr/>
                    <a:lstStyle/>
                    <a:p>
                      <a:pPr algn="l" fontAlgn="b"/>
                      <a:r>
                        <a:rPr lang="en-IN" sz="1100" b="0" i="0" u="none" strike="noStrike">
                          <a:solidFill>
                            <a:schemeClr val="bg1"/>
                          </a:solidFill>
                          <a:effectLst/>
                          <a:latin typeface="EY interstate"/>
                        </a:rPr>
                        <a:t>Percentage of journal entries processed automatically</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80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90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95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87.28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1612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379127671"/>
                  </a:ext>
                </a:extLst>
              </a:tr>
              <a:tr h="0">
                <a:tc>
                  <a:txBody>
                    <a:bodyPr/>
                    <a:lstStyle/>
                    <a:p>
                      <a:pPr algn="l" fontAlgn="b"/>
                      <a:r>
                        <a:rPr lang="en-IN" sz="1100" b="0" i="0" u="none" strike="noStrike">
                          <a:solidFill>
                            <a:schemeClr val="bg1"/>
                          </a:solidFill>
                          <a:effectLst/>
                          <a:latin typeface="EY interstate"/>
                        </a:rPr>
                        <a:t>Percentage of total accruals generated using a fully automated method</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54</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47.28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510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975463379"/>
                  </a:ext>
                </a:extLst>
              </a:tr>
              <a:tr h="0">
                <a:tc>
                  <a:txBody>
                    <a:bodyPr/>
                    <a:lstStyle/>
                    <a:p>
                      <a:pPr algn="l" fontAlgn="b"/>
                      <a:r>
                        <a:rPr lang="en-IN" sz="1100" b="0" i="0" u="none" strike="noStrike">
                          <a:solidFill>
                            <a:schemeClr val="bg1"/>
                          </a:solidFill>
                          <a:effectLst/>
                          <a:latin typeface="EY interstate"/>
                        </a:rPr>
                        <a:t>Percentage of total accruals generated using both automation and manual  methods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32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46</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39.48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678242556"/>
                  </a:ext>
                </a:extLst>
              </a:tr>
              <a:tr h="0">
                <a:tc>
                  <a:txBody>
                    <a:bodyPr/>
                    <a:lstStyle/>
                    <a:p>
                      <a:pPr algn="l" fontAlgn="b"/>
                      <a:r>
                        <a:rPr lang="en-IN" sz="1100" b="0" i="0" u="none" strike="noStrike">
                          <a:solidFill>
                            <a:schemeClr val="bg1"/>
                          </a:solidFill>
                          <a:effectLst/>
                          <a:latin typeface="EY interstate"/>
                        </a:rPr>
                        <a:t>Percentage of intercompany transactions processed using a fully automated method</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44</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56</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50.21</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589</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838897927"/>
                  </a:ext>
                </a:extLst>
              </a:tr>
              <a:tr h="0">
                <a:tc>
                  <a:txBody>
                    <a:bodyPr/>
                    <a:lstStyle/>
                    <a:p>
                      <a:pPr algn="l" fontAlgn="b"/>
                      <a:r>
                        <a:rPr lang="en-IN" sz="1100" b="0" i="0" u="none" strike="noStrike">
                          <a:solidFill>
                            <a:schemeClr val="bg1"/>
                          </a:solidFill>
                          <a:effectLst/>
                          <a:latin typeface="EY interstate"/>
                        </a:rPr>
                        <a:t>Percentage of Automated Journal Entries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60%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80%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65%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01091612"/>
                  </a:ext>
                </a:extLst>
              </a:tr>
              <a:tr h="0">
                <a:tc>
                  <a:txBody>
                    <a:bodyPr/>
                    <a:lstStyle/>
                    <a:p>
                      <a:pPr algn="l" fontAlgn="b"/>
                      <a:r>
                        <a:rPr lang="en-IN" sz="1100" b="0" i="0" u="none" strike="noStrike">
                          <a:solidFill>
                            <a:schemeClr val="bg1"/>
                          </a:solidFill>
                          <a:effectLst/>
                          <a:latin typeface="EY interstate"/>
                        </a:rPr>
                        <a:t>AI-Driven Journal Entry Automation Rate</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35%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862554063"/>
                  </a:ext>
                </a:extLst>
              </a:tr>
              <a:tr h="0">
                <a:tc>
                  <a:txBody>
                    <a:bodyPr/>
                    <a:lstStyle/>
                    <a:p>
                      <a:pPr algn="l" fontAlgn="b"/>
                      <a:r>
                        <a:rPr lang="en-IN" sz="1100" b="0" i="0" u="none" strike="noStrike">
                          <a:solidFill>
                            <a:schemeClr val="bg1"/>
                          </a:solidFill>
                          <a:effectLst/>
                          <a:latin typeface="EY interstate"/>
                        </a:rPr>
                        <a:t>Cycle Time for Journal Entry Processing</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1 day</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0.5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1.5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940724650"/>
                  </a:ext>
                </a:extLst>
              </a:tr>
              <a:tr h="0">
                <a:tc>
                  <a:txBody>
                    <a:bodyPr/>
                    <a:lstStyle/>
                    <a:p>
                      <a:pPr algn="l" fontAlgn="b"/>
                      <a:r>
                        <a:rPr lang="en-IN" sz="1100" b="0" i="0" u="none" strike="noStrike">
                          <a:solidFill>
                            <a:schemeClr val="bg1"/>
                          </a:solidFill>
                          <a:effectLst/>
                          <a:latin typeface="EY interstate"/>
                        </a:rPr>
                        <a:t>Error Rate in Journal Entries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6%</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558796328"/>
                  </a:ext>
                </a:extLst>
              </a:tr>
              <a:tr h="0">
                <a:tc>
                  <a:txBody>
                    <a:bodyPr/>
                    <a:lstStyle/>
                    <a:p>
                      <a:pPr algn="l" fontAlgn="b"/>
                      <a:r>
                        <a:rPr lang="en-IN" sz="1100" b="0" i="0" u="none" strike="noStrike">
                          <a:solidFill>
                            <a:schemeClr val="bg1"/>
                          </a:solidFill>
                          <a:effectLst/>
                          <a:latin typeface="EY interstate"/>
                        </a:rPr>
                        <a:t>Cost per Journal Entry Processed</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Currency (e.g., USD)</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$3</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$3.50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958744828"/>
                  </a:ext>
                </a:extLst>
              </a:tr>
              <a:tr h="0">
                <a:tc>
                  <a:txBody>
                    <a:bodyPr/>
                    <a:lstStyle/>
                    <a:p>
                      <a:pPr algn="l" fontAlgn="b"/>
                      <a:r>
                        <a:rPr lang="en-IN" sz="1100" b="0" i="0" u="none" strike="noStrike">
                          <a:solidFill>
                            <a:schemeClr val="bg1"/>
                          </a:solidFill>
                          <a:effectLst/>
                          <a:latin typeface="EY interstate"/>
                        </a:rPr>
                        <a:t>Time to Close Month-End Reporting</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10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7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6 days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056878551"/>
                  </a:ext>
                </a:extLst>
              </a:tr>
              <a:tr h="0">
                <a:tc>
                  <a:txBody>
                    <a:bodyPr/>
                    <a:lstStyle/>
                    <a:p>
                      <a:pPr algn="l" fontAlgn="b"/>
                      <a:r>
                        <a:rPr lang="en-IN" sz="1100" b="0" i="0" u="none" strike="noStrike">
                          <a:solidFill>
                            <a:schemeClr val="bg1"/>
                          </a:solidFill>
                          <a:effectLst/>
                          <a:latin typeface="EY interstate"/>
                        </a:rPr>
                        <a:t>AI Error Detection Rate</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30%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70%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55%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102673247"/>
                  </a:ext>
                </a:extLst>
              </a:tr>
              <a:tr h="0">
                <a:tc>
                  <a:txBody>
                    <a:bodyPr/>
                    <a:lstStyle/>
                    <a:p>
                      <a:pPr algn="l" fontAlgn="b"/>
                      <a:r>
                        <a:rPr lang="en-IN" sz="1100" b="0" i="0" u="none" strike="noStrike">
                          <a:solidFill>
                            <a:schemeClr val="bg1"/>
                          </a:solidFill>
                          <a:effectLst/>
                          <a:latin typeface="EY interstate"/>
                        </a:rPr>
                        <a:t>Reduction in Manual Intervention due to AI</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40%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60%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45%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523927511"/>
                  </a:ext>
                </a:extLst>
              </a:tr>
              <a:tr h="0">
                <a:tc>
                  <a:txBody>
                    <a:bodyPr/>
                    <a:lstStyle/>
                    <a:p>
                      <a:pPr algn="l" fontAlgn="b"/>
                      <a:r>
                        <a:rPr lang="en-IN" sz="1100" b="0" i="0" u="none" strike="noStrike">
                          <a:solidFill>
                            <a:schemeClr val="bg1"/>
                          </a:solidFill>
                          <a:effectLst/>
                          <a:latin typeface="EY interstate"/>
                        </a:rPr>
                        <a:t>Percentage of Journal Entries Reviewed by AI</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75%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60%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919892655"/>
                  </a:ext>
                </a:extLst>
              </a:tr>
              <a:tr h="0">
                <a:tc>
                  <a:txBody>
                    <a:bodyPr/>
                    <a:lstStyle/>
                    <a:p>
                      <a:pPr algn="l" fontAlgn="b"/>
                      <a:r>
                        <a:rPr lang="en-IN" sz="1100" b="0" i="0" u="none" strike="noStrike">
                          <a:solidFill>
                            <a:schemeClr val="bg1"/>
                          </a:solidFill>
                          <a:effectLst/>
                          <a:latin typeface="EY interstate"/>
                        </a:rPr>
                        <a:t>Time Saved per Journal Entry due to Automation</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0.5 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 hour</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1.5 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1 hour</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410566409"/>
                  </a:ext>
                </a:extLst>
              </a:tr>
              <a:tr h="0">
                <a:tc>
                  <a:txBody>
                    <a:bodyPr/>
                    <a:lstStyle/>
                    <a:p>
                      <a:pPr algn="l" fontAlgn="b"/>
                      <a:r>
                        <a:rPr lang="en-IN" sz="1100" b="0" i="0" u="none" strike="noStrike">
                          <a:solidFill>
                            <a:schemeClr val="bg1"/>
                          </a:solidFill>
                          <a:effectLst/>
                          <a:latin typeface="EY interstate"/>
                        </a:rPr>
                        <a:t>User Satisfaction Score for Automation Tools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Score (1-10)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7</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9</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7.5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52906085"/>
                  </a:ext>
                </a:extLst>
              </a:tr>
              <a:tr h="0">
                <a:tc>
                  <a:txBody>
                    <a:bodyPr/>
                    <a:lstStyle/>
                    <a:p>
                      <a:pPr algn="l" fontAlgn="b"/>
                      <a:r>
                        <a:rPr lang="en-IN" sz="1100" b="0" i="0" u="none" strike="noStrike">
                          <a:solidFill>
                            <a:schemeClr val="bg1"/>
                          </a:solidFill>
                          <a:effectLst/>
                          <a:latin typeface="EY interstate"/>
                        </a:rPr>
                        <a:t>Training Time for Staff on Automation Tools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4 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 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 hour</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2.5 hours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EY interstate"/>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19094522"/>
                  </a:ext>
                </a:extLst>
              </a:tr>
              <a:tr h="0">
                <a:tc>
                  <a:txBody>
                    <a:bodyPr/>
                    <a:lstStyle/>
                    <a:p>
                      <a:pPr algn="l" fontAlgn="b"/>
                      <a:r>
                        <a:rPr lang="en-IN" sz="1100" b="0" i="0" u="none" strike="noStrike">
                          <a:solidFill>
                            <a:schemeClr val="bg1"/>
                          </a:solidFill>
                          <a:effectLst/>
                          <a:latin typeface="EY interstate"/>
                        </a:rPr>
                        <a:t>Percentage of Compliance with Internal Controls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70%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85%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95%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80%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528542781"/>
                  </a:ext>
                </a:extLst>
              </a:tr>
              <a:tr h="0">
                <a:tc>
                  <a:txBody>
                    <a:bodyPr/>
                    <a:lstStyle/>
                    <a:p>
                      <a:pPr algn="l" fontAlgn="b"/>
                      <a:r>
                        <a:rPr lang="en-IN" sz="1100" b="0" i="0" u="none" strike="noStrike">
                          <a:solidFill>
                            <a:schemeClr val="bg1"/>
                          </a:solidFill>
                          <a:effectLst/>
                          <a:latin typeface="EY interstate"/>
                        </a:rPr>
                        <a:t>Integration Rate with ERP Systems</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60%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75%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90%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80%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548794512"/>
                  </a:ext>
                </a:extLst>
              </a:tr>
              <a:tr h="0">
                <a:tc>
                  <a:txBody>
                    <a:bodyPr/>
                    <a:lstStyle/>
                    <a:p>
                      <a:pPr algn="l" fontAlgn="b"/>
                      <a:r>
                        <a:rPr lang="en-IN" sz="1100" b="0" i="0" u="none" strike="noStrike">
                          <a:solidFill>
                            <a:schemeClr val="bg1"/>
                          </a:solidFill>
                          <a:effectLst/>
                          <a:latin typeface="Aptos Narrow" panose="020B0004020202020204" pitchFamily="34" charset="0"/>
                        </a:rPr>
                        <a:t>Percentage of Journal Entries Requiring Rework</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Percentage (%)</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10%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5%</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8%</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a:solidFill>
                            <a:schemeClr val="bg1"/>
                          </a:solidFill>
                          <a:effectLst/>
                          <a:latin typeface="Aptos Narrow" panose="020B0004020202020204" pitchFamily="34" charset="0"/>
                        </a:rPr>
                        <a:t>200</a:t>
                      </a:r>
                    </a:p>
                  </a:txBody>
                  <a:tcPr marL="6350" marR="6350" marT="635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94438474"/>
                  </a:ext>
                </a:extLst>
              </a:tr>
            </a:tbl>
          </a:graphicData>
        </a:graphic>
      </p:graphicFrame>
      <p:sp>
        <p:nvSpPr>
          <p:cNvPr id="132" name="Title 1">
            <a:extLst>
              <a:ext uri="{FF2B5EF4-FFF2-40B4-BE49-F238E27FC236}">
                <a16:creationId xmlns:a16="http://schemas.microsoft.com/office/drawing/2014/main" id="{AF10C3CF-C245-1BEA-AECF-A2D1855A68EB}"/>
              </a:ext>
            </a:extLst>
          </p:cNvPr>
          <p:cNvSpPr>
            <a:spLocks noGrp="1"/>
          </p:cNvSpPr>
          <p:nvPr>
            <p:ph type="title" idx="4294967295"/>
          </p:nvPr>
        </p:nvSpPr>
        <p:spPr>
          <a:xfrm>
            <a:off x="639203" y="411183"/>
            <a:ext cx="10799064" cy="793750"/>
          </a:xfr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Journal Entry Automation – Benchmarking</a:t>
            </a:r>
          </a:p>
        </p:txBody>
      </p:sp>
      <p:sp>
        <p:nvSpPr>
          <p:cNvPr id="138" name="TextBox 137">
            <a:extLst>
              <a:ext uri="{FF2B5EF4-FFF2-40B4-BE49-F238E27FC236}">
                <a16:creationId xmlns:a16="http://schemas.microsoft.com/office/drawing/2014/main" id="{49A0F933-F034-D720-57DF-16B561773B34}"/>
              </a:ext>
            </a:extLst>
          </p:cNvPr>
          <p:cNvSpPr txBox="1"/>
          <p:nvPr/>
        </p:nvSpPr>
        <p:spPr>
          <a:xfrm>
            <a:off x="-25400" y="6688723"/>
            <a:ext cx="1549400" cy="169277"/>
          </a:xfrm>
          <a:prstGeom prst="rect">
            <a:avLst/>
          </a:prstGeom>
          <a:noFill/>
        </p:spPr>
        <p:txBody>
          <a:bodyPr wrap="square">
            <a:spAutoFit/>
          </a:bodyPr>
          <a:lstStyle/>
          <a:p>
            <a:r>
              <a:rPr lang="en-IN" sz="500" i="1">
                <a:solidFill>
                  <a:schemeClr val="bg1"/>
                </a:solidFill>
                <a:latin typeface="EYInterstate Light" panose="02000506000000020004" pitchFamily="2" charset="0"/>
              </a:rPr>
              <a:t>Source: EYQ, ChatGPT</a:t>
            </a:r>
          </a:p>
        </p:txBody>
      </p:sp>
    </p:spTree>
    <p:extLst>
      <p:ext uri="{BB962C8B-B14F-4D97-AF65-F5344CB8AC3E}">
        <p14:creationId xmlns:p14="http://schemas.microsoft.com/office/powerpoint/2010/main" val="20675928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3FBF16-7F4D-6822-2E25-8CF1236AAE50}"/>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EBB3F137-870C-C9C8-E469-AAF5CC6D33D0}"/>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5DA6A66F-BAF9-BE73-6E30-DE8DB9040466}"/>
              </a:ext>
            </a:extLst>
          </p:cNvPr>
          <p:cNvSpPr txBox="1"/>
          <p:nvPr/>
        </p:nvSpPr>
        <p:spPr>
          <a:xfrm>
            <a:off x="929639" y="2181301"/>
            <a:ext cx="4503620" cy="1446550"/>
          </a:xfrm>
          <a:prstGeom prst="rect">
            <a:avLst/>
          </a:prstGeom>
          <a:noFill/>
        </p:spPr>
        <p:txBody>
          <a:bodyPr wrap="square" rtlCol="0">
            <a:spAutoFit/>
          </a:bodyPr>
          <a:lstStyle/>
          <a:p>
            <a:r>
              <a:rPr lang="en-IN" sz="4400">
                <a:solidFill>
                  <a:srgbClr val="FFE600"/>
                </a:solidFill>
                <a:latin typeface="EYInterstate" panose="02000503020000020004" pitchFamily="2" charset="0"/>
              </a:rPr>
              <a:t>General Accounting</a:t>
            </a:r>
          </a:p>
        </p:txBody>
      </p:sp>
    </p:spTree>
    <p:extLst>
      <p:ext uri="{BB962C8B-B14F-4D97-AF65-F5344CB8AC3E}">
        <p14:creationId xmlns:p14="http://schemas.microsoft.com/office/powerpoint/2010/main" val="216904914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D684E9-B756-73F9-97EF-9AA6F637936F}"/>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B0CE00EF-D5D0-3D1D-1A2D-668BC478D704}"/>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55" name="Title 1">
            <a:extLst>
              <a:ext uri="{FF2B5EF4-FFF2-40B4-BE49-F238E27FC236}">
                <a16:creationId xmlns:a16="http://schemas.microsoft.com/office/drawing/2014/main" id="{7080980C-6097-5618-942B-8420D59BF68D}"/>
              </a:ext>
            </a:extLst>
          </p:cNvPr>
          <p:cNvSpPr txBox="1">
            <a:spLocks/>
          </p:cNvSpPr>
          <p:nvPr/>
        </p:nvSpPr>
        <p:spPr>
          <a:xfrm>
            <a:off x="525581" y="100328"/>
            <a:ext cx="10972800" cy="860400"/>
          </a:xfrm>
          <a:prstGeom prst="rect">
            <a:avLst/>
          </a:prstGeom>
          <a:noFill/>
          <a:ln>
            <a:noFill/>
          </a:ln>
        </p:spPr>
        <p:txBody>
          <a:bodyPr vert="horz" wrap="square" lIns="0" tIns="0" rIns="0" bIns="0" rtlCol="0" anchor="t" anchorCtr="0" compatLnSpc="1">
            <a:noAutofit/>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1" i="0" u="none" strike="noStrike" cap="none" spc="0" baseline="0">
                <a:solidFill>
                  <a:srgbClr val="FFE600"/>
                </a:solidFill>
                <a:uFillTx/>
                <a:latin typeface="EY interstate heading"/>
              </a:defRPr>
            </a:lvl1pPr>
          </a:lstStyle>
          <a:p>
            <a:br>
              <a:rPr lang="pl-PL"/>
            </a:br>
            <a:r>
              <a:rPr lang="en-US"/>
              <a:t>Management of the Chart of Accounts</a:t>
            </a:r>
            <a:endParaRPr lang="pl-PL"/>
          </a:p>
        </p:txBody>
      </p:sp>
      <p:grpSp>
        <p:nvGrpSpPr>
          <p:cNvPr id="56" name="Group 55">
            <a:extLst>
              <a:ext uri="{FF2B5EF4-FFF2-40B4-BE49-F238E27FC236}">
                <a16:creationId xmlns:a16="http://schemas.microsoft.com/office/drawing/2014/main" id="{66968FC0-EF48-FD84-0370-92D766C2A3A2}"/>
              </a:ext>
            </a:extLst>
          </p:cNvPr>
          <p:cNvGrpSpPr/>
          <p:nvPr/>
        </p:nvGrpSpPr>
        <p:grpSpPr>
          <a:xfrm>
            <a:off x="1078896" y="1129006"/>
            <a:ext cx="9363872" cy="4488066"/>
            <a:chOff x="1078896" y="1129006"/>
            <a:chExt cx="9363872" cy="4488066"/>
          </a:xfrm>
        </p:grpSpPr>
        <p:sp>
          <p:nvSpPr>
            <p:cNvPr id="57" name="Rectangle: Rounded Corners 56">
              <a:extLst>
                <a:ext uri="{FF2B5EF4-FFF2-40B4-BE49-F238E27FC236}">
                  <a16:creationId xmlns:a16="http://schemas.microsoft.com/office/drawing/2014/main" id="{766553AB-E995-EAF9-43E8-458DBF9A1E5E}"/>
                </a:ext>
              </a:extLst>
            </p:cNvPr>
            <p:cNvSpPr/>
            <p:nvPr/>
          </p:nvSpPr>
          <p:spPr>
            <a:xfrm>
              <a:off x="6802341" y="2100564"/>
              <a:ext cx="3576027" cy="1308723"/>
            </a:xfrm>
            <a:prstGeom prst="roundRect">
              <a:avLst/>
            </a:prstGeom>
            <a:noFill/>
            <a:ln w="19050" cap="flat" cmpd="sng" algn="ctr">
              <a:solidFill>
                <a:srgbClr val="FFE600"/>
              </a:solidFill>
              <a:prstDash val="solid"/>
            </a:ln>
            <a:effectLst/>
          </p:spPr>
          <p:txBody>
            <a:bodyPr rot="0" spcFirstLastPara="0" vertOverflow="overflow" horzOverflow="overflow" vert="horz" wrap="square" lIns="71926" tIns="179812" rIns="71926" bIns="45672" numCol="1" spcCol="0" rtlCol="0" fromWordArt="0" anchor="ctr" anchorCtr="0" forceAA="0" compatLnSpc="1">
              <a:prstTxWarp prst="textNoShape">
                <a:avLst/>
              </a:prstTxWarp>
              <a:noAutofit/>
            </a:bodyPr>
            <a:lstStyle/>
            <a:p>
              <a:pPr marL="0" marR="0" lvl="0" indent="0" algn="ctr" defTabSz="913486" rtl="0" eaLnBrk="1" fontAlgn="auto" latinLnBrk="0" hangingPunct="1">
                <a:lnSpc>
                  <a:spcPct val="100000"/>
                </a:lnSpc>
                <a:spcBef>
                  <a:spcPts val="0"/>
                </a:spcBef>
                <a:spcAft>
                  <a:spcPts val="0"/>
                </a:spcAft>
                <a:buClrTx/>
                <a:buSzTx/>
                <a:buFontTx/>
                <a:buNone/>
                <a:tabLst/>
                <a:defRPr/>
              </a:pPr>
              <a:r>
                <a:rPr kumimoji="0" lang="en-US" sz="1150" b="1" i="0" u="none" strike="noStrike" kern="0" cap="none" spc="0" normalizeH="0" baseline="0" noProof="0">
                  <a:ln>
                    <a:noFill/>
                  </a:ln>
                  <a:solidFill>
                    <a:srgbClr val="FFFFFF"/>
                  </a:solidFill>
                  <a:effectLst/>
                  <a:uLnTx/>
                  <a:uFillTx/>
                  <a:latin typeface="EY interstate"/>
                </a:rPr>
                <a:t>Prerequisite for achieving a leading touch-less and automated </a:t>
              </a:r>
              <a:r>
                <a:rPr lang="en-US" sz="1150" b="1" kern="0">
                  <a:solidFill>
                    <a:srgbClr val="FFFFFF"/>
                  </a:solidFill>
                  <a:latin typeface="EY interstate"/>
                </a:rPr>
                <a:t>RTR</a:t>
              </a:r>
              <a:r>
                <a:rPr kumimoji="0" lang="en-US" sz="1150" b="1" i="0" u="none" strike="noStrike" kern="0" cap="none" spc="0" normalizeH="0" baseline="0" noProof="0">
                  <a:ln>
                    <a:noFill/>
                  </a:ln>
                  <a:solidFill>
                    <a:srgbClr val="FFFFFF"/>
                  </a:solidFill>
                  <a:effectLst/>
                  <a:uLnTx/>
                  <a:uFillTx/>
                  <a:latin typeface="EY interstate"/>
                </a:rPr>
                <a:t> process</a:t>
              </a:r>
            </a:p>
          </p:txBody>
        </p:sp>
        <p:sp>
          <p:nvSpPr>
            <p:cNvPr id="58" name="Rectangle: Rounded Corners 57">
              <a:extLst>
                <a:ext uri="{FF2B5EF4-FFF2-40B4-BE49-F238E27FC236}">
                  <a16:creationId xmlns:a16="http://schemas.microsoft.com/office/drawing/2014/main" id="{32C816FA-8AB4-90C4-4DD2-57CD31B4EC72}"/>
                </a:ext>
              </a:extLst>
            </p:cNvPr>
            <p:cNvSpPr/>
            <p:nvPr/>
          </p:nvSpPr>
          <p:spPr>
            <a:xfrm>
              <a:off x="6802341" y="4308349"/>
              <a:ext cx="3576027" cy="1308723"/>
            </a:xfrm>
            <a:prstGeom prst="roundRect">
              <a:avLst/>
            </a:prstGeom>
            <a:noFill/>
            <a:ln w="19050" cap="flat" cmpd="sng" algn="ctr">
              <a:solidFill>
                <a:srgbClr val="FFE600"/>
              </a:solidFill>
              <a:prstDash val="solid"/>
            </a:ln>
            <a:effectLst/>
          </p:spPr>
          <p:txBody>
            <a:bodyPr rot="0" spcFirstLastPara="0" vertOverflow="overflow" horzOverflow="overflow" vert="horz" wrap="square" lIns="71926" tIns="179812" rIns="71926" bIns="45672" numCol="1" spcCol="0" rtlCol="0" fromWordArt="0" anchor="ctr" anchorCtr="0" forceAA="0" compatLnSpc="1">
              <a:prstTxWarp prst="textNoShape">
                <a:avLst/>
              </a:prstTxWarp>
              <a:noAutofit/>
            </a:bodyPr>
            <a:lstStyle/>
            <a:p>
              <a:pPr algn="ctr" defTabSz="913486">
                <a:defRPr/>
              </a:pPr>
              <a:r>
                <a:rPr kumimoji="0" lang="en-US" sz="1150" b="1" i="0" u="none" strike="noStrike" kern="0" cap="none" spc="0" normalizeH="0" baseline="0" noProof="0">
                  <a:ln>
                    <a:noFill/>
                  </a:ln>
                  <a:solidFill>
                    <a:srgbClr val="FFFFFF"/>
                  </a:solidFill>
                  <a:effectLst/>
                  <a:uLnTx/>
                  <a:uFillTx/>
                  <a:latin typeface="EY interstate"/>
                </a:rPr>
                <a:t>Consistent management of CoA – Increased efficiency by reducing amount of manual and </a:t>
              </a:r>
              <a:r>
                <a:rPr lang="en-US" sz="1150" b="1" kern="0">
                  <a:solidFill>
                    <a:srgbClr val="FFFFFF"/>
                  </a:solidFill>
                  <a:latin typeface="EY interstate"/>
                </a:rPr>
                <a:t>time-consuming</a:t>
              </a:r>
              <a:r>
                <a:rPr kumimoji="0" lang="en-US" sz="1150" b="1" i="0" u="none" strike="noStrike" kern="0" cap="none" spc="0" normalizeH="0" baseline="0" noProof="0">
                  <a:ln>
                    <a:noFill/>
                  </a:ln>
                  <a:solidFill>
                    <a:srgbClr val="FFFFFF"/>
                  </a:solidFill>
                  <a:effectLst/>
                  <a:uLnTx/>
                  <a:uFillTx/>
                  <a:latin typeface="EY interstate"/>
                </a:rPr>
                <a:t> tasks</a:t>
              </a:r>
            </a:p>
          </p:txBody>
        </p:sp>
        <p:sp>
          <p:nvSpPr>
            <p:cNvPr id="59" name="Oval 58">
              <a:extLst>
                <a:ext uri="{FF2B5EF4-FFF2-40B4-BE49-F238E27FC236}">
                  <a16:creationId xmlns:a16="http://schemas.microsoft.com/office/drawing/2014/main" id="{B1C4D153-A7EC-6D6A-07D4-A349C04AEDFB}"/>
                </a:ext>
              </a:extLst>
            </p:cNvPr>
            <p:cNvSpPr/>
            <p:nvPr/>
          </p:nvSpPr>
          <p:spPr>
            <a:xfrm>
              <a:off x="8178923" y="3913891"/>
              <a:ext cx="822863" cy="778448"/>
            </a:xfrm>
            <a:prstGeom prst="ellipse">
              <a:avLst/>
            </a:prstGeom>
            <a:solidFill>
              <a:srgbClr val="FFE600"/>
            </a:solidFill>
            <a:ln w="28575" cap="flat" cmpd="sng" algn="ctr">
              <a:solidFill>
                <a:schemeClr val="tx2"/>
              </a:solidFill>
              <a:prstDash val="solid"/>
            </a:ln>
            <a:effectLst/>
          </p:spPr>
          <p:txBody>
            <a:bodyPr rtlCol="0" anchor="ctr" anchorCtr="0"/>
            <a:lstStyle/>
            <a:p>
              <a:pPr marL="0" marR="0" lvl="0" indent="0" algn="ctr" defTabSz="913486" rtl="0" eaLnBrk="1" fontAlgn="auto" latinLnBrk="0" hangingPunct="1">
                <a:lnSpc>
                  <a:spcPct val="100000"/>
                </a:lnSpc>
                <a:spcBef>
                  <a:spcPts val="0"/>
                </a:spcBef>
                <a:spcAft>
                  <a:spcPts val="0"/>
                </a:spcAft>
                <a:buClrTx/>
                <a:buSzTx/>
                <a:buFontTx/>
                <a:buNone/>
                <a:tabLst/>
                <a:defRPr/>
              </a:pPr>
              <a:endParaRPr kumimoji="0" lang="en-US" sz="1198" b="0" i="0" u="none" strike="noStrike" kern="0" cap="none" spc="0" normalizeH="0" baseline="0" noProof="0">
                <a:ln>
                  <a:noFill/>
                </a:ln>
                <a:solidFill>
                  <a:srgbClr val="FFFFFF"/>
                </a:solidFill>
                <a:effectLst/>
                <a:uLnTx/>
                <a:uFillTx/>
                <a:latin typeface="EY interstate"/>
              </a:endParaRPr>
            </a:p>
          </p:txBody>
        </p:sp>
        <p:grpSp>
          <p:nvGrpSpPr>
            <p:cNvPr id="60" name="Group 59">
              <a:extLst>
                <a:ext uri="{FF2B5EF4-FFF2-40B4-BE49-F238E27FC236}">
                  <a16:creationId xmlns:a16="http://schemas.microsoft.com/office/drawing/2014/main" id="{865B2BA9-BACB-BDAA-5629-5F06D90792FC}"/>
                </a:ext>
              </a:extLst>
            </p:cNvPr>
            <p:cNvGrpSpPr/>
            <p:nvPr/>
          </p:nvGrpSpPr>
          <p:grpSpPr>
            <a:xfrm>
              <a:off x="8333752" y="4127449"/>
              <a:ext cx="509362" cy="349719"/>
              <a:chOff x="8174104" y="7645866"/>
              <a:chExt cx="573088" cy="415925"/>
            </a:xfrm>
            <a:solidFill>
              <a:schemeClr val="tx2">
                <a:lumMod val="50000"/>
              </a:schemeClr>
            </a:solidFill>
          </p:grpSpPr>
          <p:sp>
            <p:nvSpPr>
              <p:cNvPr id="62" name="Freeform 323">
                <a:extLst>
                  <a:ext uri="{FF2B5EF4-FFF2-40B4-BE49-F238E27FC236}">
                    <a16:creationId xmlns:a16="http://schemas.microsoft.com/office/drawing/2014/main" id="{5BA5A06E-4307-DF62-4436-EF01400DD98C}"/>
                  </a:ext>
                </a:extLst>
              </p:cNvPr>
              <p:cNvSpPr>
                <a:spLocks/>
              </p:cNvSpPr>
              <p:nvPr/>
            </p:nvSpPr>
            <p:spPr bwMode="auto">
              <a:xfrm>
                <a:off x="8577329" y="7747466"/>
                <a:ext cx="93663" cy="41275"/>
              </a:xfrm>
              <a:custGeom>
                <a:avLst/>
                <a:gdLst>
                  <a:gd name="T0" fmla="*/ 59 w 59"/>
                  <a:gd name="T1" fmla="*/ 4 h 26"/>
                  <a:gd name="T2" fmla="*/ 12 w 59"/>
                  <a:gd name="T3" fmla="*/ 4 h 26"/>
                  <a:gd name="T4" fmla="*/ 4 w 59"/>
                  <a:gd name="T5" fmla="*/ 26 h 26"/>
                  <a:gd name="T6" fmla="*/ 0 w 59"/>
                  <a:gd name="T7" fmla="*/ 25 h 26"/>
                  <a:gd name="T8" fmla="*/ 8 w 59"/>
                  <a:gd name="T9" fmla="*/ 0 h 26"/>
                  <a:gd name="T10" fmla="*/ 59 w 59"/>
                  <a:gd name="T11" fmla="*/ 0 h 26"/>
                  <a:gd name="T12" fmla="*/ 59 w 59"/>
                  <a:gd name="T13" fmla="*/ 4 h 26"/>
                </a:gdLst>
                <a:ahLst/>
                <a:cxnLst>
                  <a:cxn ang="0">
                    <a:pos x="T0" y="T1"/>
                  </a:cxn>
                  <a:cxn ang="0">
                    <a:pos x="T2" y="T3"/>
                  </a:cxn>
                  <a:cxn ang="0">
                    <a:pos x="T4" y="T5"/>
                  </a:cxn>
                  <a:cxn ang="0">
                    <a:pos x="T6" y="T7"/>
                  </a:cxn>
                  <a:cxn ang="0">
                    <a:pos x="T8" y="T9"/>
                  </a:cxn>
                  <a:cxn ang="0">
                    <a:pos x="T10" y="T11"/>
                  </a:cxn>
                  <a:cxn ang="0">
                    <a:pos x="T12" y="T13"/>
                  </a:cxn>
                </a:cxnLst>
                <a:rect l="0" t="0" r="r" b="b"/>
                <a:pathLst>
                  <a:path w="59" h="26">
                    <a:moveTo>
                      <a:pt x="59" y="4"/>
                    </a:moveTo>
                    <a:lnTo>
                      <a:pt x="12" y="4"/>
                    </a:lnTo>
                    <a:lnTo>
                      <a:pt x="4" y="26"/>
                    </a:lnTo>
                    <a:lnTo>
                      <a:pt x="0" y="25"/>
                    </a:lnTo>
                    <a:lnTo>
                      <a:pt x="8" y="0"/>
                    </a:lnTo>
                    <a:lnTo>
                      <a:pt x="59" y="0"/>
                    </a:lnTo>
                    <a:lnTo>
                      <a:pt x="59" y="4"/>
                    </a:lnTo>
                    <a:close/>
                  </a:path>
                </a:pathLst>
              </a:cu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64" name="Freeform 324">
                <a:extLst>
                  <a:ext uri="{FF2B5EF4-FFF2-40B4-BE49-F238E27FC236}">
                    <a16:creationId xmlns:a16="http://schemas.microsoft.com/office/drawing/2014/main" id="{681A4D9B-2A92-F252-5B1A-4B16A7DB052F}"/>
                  </a:ext>
                </a:extLst>
              </p:cNvPr>
              <p:cNvSpPr>
                <a:spLocks noEditPoints="1"/>
              </p:cNvSpPr>
              <p:nvPr/>
            </p:nvSpPr>
            <p:spPr bwMode="auto">
              <a:xfrm>
                <a:off x="8315391" y="7695079"/>
                <a:ext cx="355600" cy="254000"/>
              </a:xfrm>
              <a:custGeom>
                <a:avLst/>
                <a:gdLst>
                  <a:gd name="T0" fmla="*/ 77 w 224"/>
                  <a:gd name="T1" fmla="*/ 84 h 160"/>
                  <a:gd name="T2" fmla="*/ 71 w 224"/>
                  <a:gd name="T3" fmla="*/ 62 h 160"/>
                  <a:gd name="T4" fmla="*/ 44 w 224"/>
                  <a:gd name="T5" fmla="*/ 61 h 160"/>
                  <a:gd name="T6" fmla="*/ 56 w 224"/>
                  <a:gd name="T7" fmla="*/ 88 h 160"/>
                  <a:gd name="T8" fmla="*/ 100 w 224"/>
                  <a:gd name="T9" fmla="*/ 99 h 160"/>
                  <a:gd name="T10" fmla="*/ 91 w 224"/>
                  <a:gd name="T11" fmla="*/ 76 h 160"/>
                  <a:gd name="T12" fmla="*/ 81 w 224"/>
                  <a:gd name="T13" fmla="*/ 100 h 160"/>
                  <a:gd name="T14" fmla="*/ 91 w 224"/>
                  <a:gd name="T15" fmla="*/ 133 h 160"/>
                  <a:gd name="T16" fmla="*/ 100 w 224"/>
                  <a:gd name="T17" fmla="*/ 107 h 160"/>
                  <a:gd name="T18" fmla="*/ 81 w 224"/>
                  <a:gd name="T19" fmla="*/ 109 h 160"/>
                  <a:gd name="T20" fmla="*/ 91 w 224"/>
                  <a:gd name="T21" fmla="*/ 133 h 160"/>
                  <a:gd name="T22" fmla="*/ 119 w 224"/>
                  <a:gd name="T23" fmla="*/ 59 h 160"/>
                  <a:gd name="T24" fmla="*/ 102 w 224"/>
                  <a:gd name="T25" fmla="*/ 77 h 160"/>
                  <a:gd name="T26" fmla="*/ 115 w 224"/>
                  <a:gd name="T27" fmla="*/ 92 h 160"/>
                  <a:gd name="T28" fmla="*/ 135 w 224"/>
                  <a:gd name="T29" fmla="*/ 68 h 160"/>
                  <a:gd name="T30" fmla="*/ 169 w 224"/>
                  <a:gd name="T31" fmla="*/ 127 h 160"/>
                  <a:gd name="T32" fmla="*/ 170 w 224"/>
                  <a:gd name="T33" fmla="*/ 87 h 160"/>
                  <a:gd name="T34" fmla="*/ 143 w 224"/>
                  <a:gd name="T35" fmla="*/ 62 h 160"/>
                  <a:gd name="T36" fmla="*/ 135 w 224"/>
                  <a:gd name="T37" fmla="*/ 85 h 160"/>
                  <a:gd name="T38" fmla="*/ 110 w 224"/>
                  <a:gd name="T39" fmla="*/ 105 h 160"/>
                  <a:gd name="T40" fmla="*/ 104 w 224"/>
                  <a:gd name="T41" fmla="*/ 125 h 160"/>
                  <a:gd name="T42" fmla="*/ 111 w 224"/>
                  <a:gd name="T43" fmla="*/ 149 h 160"/>
                  <a:gd name="T44" fmla="*/ 146 w 224"/>
                  <a:gd name="T45" fmla="*/ 147 h 160"/>
                  <a:gd name="T46" fmla="*/ 143 w 224"/>
                  <a:gd name="T47" fmla="*/ 109 h 160"/>
                  <a:gd name="T48" fmla="*/ 36 w 224"/>
                  <a:gd name="T49" fmla="*/ 63 h 160"/>
                  <a:gd name="T50" fmla="*/ 12 w 224"/>
                  <a:gd name="T51" fmla="*/ 87 h 160"/>
                  <a:gd name="T52" fmla="*/ 12 w 224"/>
                  <a:gd name="T53" fmla="*/ 122 h 160"/>
                  <a:gd name="T54" fmla="*/ 37 w 224"/>
                  <a:gd name="T55" fmla="*/ 147 h 160"/>
                  <a:gd name="T56" fmla="*/ 71 w 224"/>
                  <a:gd name="T57" fmla="*/ 149 h 160"/>
                  <a:gd name="T58" fmla="*/ 77 w 224"/>
                  <a:gd name="T59" fmla="*/ 125 h 160"/>
                  <a:gd name="T60" fmla="*/ 69 w 224"/>
                  <a:gd name="T61" fmla="*/ 105 h 160"/>
                  <a:gd name="T62" fmla="*/ 44 w 224"/>
                  <a:gd name="T63" fmla="*/ 85 h 160"/>
                  <a:gd name="T64" fmla="*/ 64 w 224"/>
                  <a:gd name="T65" fmla="*/ 158 h 160"/>
                  <a:gd name="T66" fmla="*/ 34 w 224"/>
                  <a:gd name="T67" fmla="*/ 155 h 160"/>
                  <a:gd name="T68" fmla="*/ 4 w 224"/>
                  <a:gd name="T69" fmla="*/ 125 h 160"/>
                  <a:gd name="T70" fmla="*/ 1 w 224"/>
                  <a:gd name="T71" fmla="*/ 95 h 160"/>
                  <a:gd name="T72" fmla="*/ 16 w 224"/>
                  <a:gd name="T73" fmla="*/ 66 h 160"/>
                  <a:gd name="T74" fmla="*/ 36 w 224"/>
                  <a:gd name="T75" fmla="*/ 54 h 160"/>
                  <a:gd name="T76" fmla="*/ 51 w 224"/>
                  <a:gd name="T77" fmla="*/ 17 h 160"/>
                  <a:gd name="T78" fmla="*/ 78 w 224"/>
                  <a:gd name="T79" fmla="*/ 2 h 160"/>
                  <a:gd name="T80" fmla="*/ 110 w 224"/>
                  <a:gd name="T81" fmla="*/ 4 h 160"/>
                  <a:gd name="T82" fmla="*/ 140 w 224"/>
                  <a:gd name="T83" fmla="*/ 35 h 160"/>
                  <a:gd name="T84" fmla="*/ 148 w 224"/>
                  <a:gd name="T85" fmla="*/ 55 h 160"/>
                  <a:gd name="T86" fmla="*/ 172 w 224"/>
                  <a:gd name="T87" fmla="*/ 74 h 160"/>
                  <a:gd name="T88" fmla="*/ 181 w 224"/>
                  <a:gd name="T89" fmla="*/ 105 h 160"/>
                  <a:gd name="T90" fmla="*/ 183 w 224"/>
                  <a:gd name="T91" fmla="*/ 139 h 160"/>
                  <a:gd name="T92" fmla="*/ 172 w 224"/>
                  <a:gd name="T93" fmla="*/ 136 h 160"/>
                  <a:gd name="T94" fmla="*/ 148 w 224"/>
                  <a:gd name="T95" fmla="*/ 155 h 160"/>
                  <a:gd name="T96" fmla="*/ 107 w 224"/>
                  <a:gd name="T97" fmla="*/ 155 h 160"/>
                  <a:gd name="T98" fmla="*/ 84 w 224"/>
                  <a:gd name="T99" fmla="*/ 151 h 160"/>
                  <a:gd name="T100" fmla="*/ 55 w 224"/>
                  <a:gd name="T101" fmla="*/ 51 h 160"/>
                  <a:gd name="T102" fmla="*/ 84 w 224"/>
                  <a:gd name="T103" fmla="*/ 59 h 160"/>
                  <a:gd name="T104" fmla="*/ 107 w 224"/>
                  <a:gd name="T105" fmla="*/ 55 h 160"/>
                  <a:gd name="T106" fmla="*/ 136 w 224"/>
                  <a:gd name="T107" fmla="*/ 51 h 160"/>
                  <a:gd name="T108" fmla="*/ 122 w 224"/>
                  <a:gd name="T109" fmla="*/ 22 h 160"/>
                  <a:gd name="T110" fmla="*/ 89 w 224"/>
                  <a:gd name="T111" fmla="*/ 8 h 160"/>
                  <a:gd name="T112" fmla="*/ 56 w 224"/>
                  <a:gd name="T113" fmla="*/ 22 h 160"/>
                  <a:gd name="T114" fmla="*/ 42 w 224"/>
                  <a:gd name="T115" fmla="*/ 5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4" h="160">
                    <a:moveTo>
                      <a:pt x="74" y="98"/>
                    </a:moveTo>
                    <a:lnTo>
                      <a:pt x="74" y="98"/>
                    </a:lnTo>
                    <a:lnTo>
                      <a:pt x="75" y="91"/>
                    </a:lnTo>
                    <a:lnTo>
                      <a:pt x="77" y="84"/>
                    </a:lnTo>
                    <a:lnTo>
                      <a:pt x="77" y="84"/>
                    </a:lnTo>
                    <a:lnTo>
                      <a:pt x="81" y="77"/>
                    </a:lnTo>
                    <a:lnTo>
                      <a:pt x="85" y="70"/>
                    </a:lnTo>
                    <a:lnTo>
                      <a:pt x="85" y="70"/>
                    </a:lnTo>
                    <a:lnTo>
                      <a:pt x="78" y="66"/>
                    </a:lnTo>
                    <a:lnTo>
                      <a:pt x="71" y="62"/>
                    </a:lnTo>
                    <a:lnTo>
                      <a:pt x="63" y="59"/>
                    </a:lnTo>
                    <a:lnTo>
                      <a:pt x="55" y="59"/>
                    </a:lnTo>
                    <a:lnTo>
                      <a:pt x="55" y="59"/>
                    </a:lnTo>
                    <a:lnTo>
                      <a:pt x="44" y="61"/>
                    </a:lnTo>
                    <a:lnTo>
                      <a:pt x="44" y="61"/>
                    </a:lnTo>
                    <a:lnTo>
                      <a:pt x="45" y="68"/>
                    </a:lnTo>
                    <a:lnTo>
                      <a:pt x="48" y="74"/>
                    </a:lnTo>
                    <a:lnTo>
                      <a:pt x="52" y="81"/>
                    </a:lnTo>
                    <a:lnTo>
                      <a:pt x="56" y="88"/>
                    </a:lnTo>
                    <a:lnTo>
                      <a:pt x="56" y="88"/>
                    </a:lnTo>
                    <a:lnTo>
                      <a:pt x="64" y="94"/>
                    </a:lnTo>
                    <a:lnTo>
                      <a:pt x="74" y="98"/>
                    </a:lnTo>
                    <a:lnTo>
                      <a:pt x="74" y="98"/>
                    </a:lnTo>
                    <a:close/>
                    <a:moveTo>
                      <a:pt x="100" y="99"/>
                    </a:moveTo>
                    <a:lnTo>
                      <a:pt x="100" y="99"/>
                    </a:lnTo>
                    <a:lnTo>
                      <a:pt x="99" y="94"/>
                    </a:lnTo>
                    <a:lnTo>
                      <a:pt x="97" y="87"/>
                    </a:lnTo>
                    <a:lnTo>
                      <a:pt x="95" y="81"/>
                    </a:lnTo>
                    <a:lnTo>
                      <a:pt x="91" y="76"/>
                    </a:lnTo>
                    <a:lnTo>
                      <a:pt x="91" y="76"/>
                    </a:lnTo>
                    <a:lnTo>
                      <a:pt x="88" y="81"/>
                    </a:lnTo>
                    <a:lnTo>
                      <a:pt x="84" y="88"/>
                    </a:lnTo>
                    <a:lnTo>
                      <a:pt x="82" y="94"/>
                    </a:lnTo>
                    <a:lnTo>
                      <a:pt x="81" y="100"/>
                    </a:lnTo>
                    <a:lnTo>
                      <a:pt x="81" y="100"/>
                    </a:lnTo>
                    <a:lnTo>
                      <a:pt x="89" y="100"/>
                    </a:lnTo>
                    <a:lnTo>
                      <a:pt x="89" y="100"/>
                    </a:lnTo>
                    <a:lnTo>
                      <a:pt x="100" y="99"/>
                    </a:lnTo>
                    <a:lnTo>
                      <a:pt x="100" y="99"/>
                    </a:lnTo>
                    <a:close/>
                    <a:moveTo>
                      <a:pt x="91" y="133"/>
                    </a:moveTo>
                    <a:lnTo>
                      <a:pt x="91" y="133"/>
                    </a:lnTo>
                    <a:lnTo>
                      <a:pt x="95" y="128"/>
                    </a:lnTo>
                    <a:lnTo>
                      <a:pt x="97" y="121"/>
                    </a:lnTo>
                    <a:lnTo>
                      <a:pt x="100" y="114"/>
                    </a:lnTo>
                    <a:lnTo>
                      <a:pt x="100" y="107"/>
                    </a:lnTo>
                    <a:lnTo>
                      <a:pt x="100" y="107"/>
                    </a:lnTo>
                    <a:lnTo>
                      <a:pt x="89" y="109"/>
                    </a:lnTo>
                    <a:lnTo>
                      <a:pt x="89" y="109"/>
                    </a:lnTo>
                    <a:lnTo>
                      <a:pt x="81" y="109"/>
                    </a:lnTo>
                    <a:lnTo>
                      <a:pt x="81" y="109"/>
                    </a:lnTo>
                    <a:lnTo>
                      <a:pt x="82" y="116"/>
                    </a:lnTo>
                    <a:lnTo>
                      <a:pt x="84" y="121"/>
                    </a:lnTo>
                    <a:lnTo>
                      <a:pt x="86" y="128"/>
                    </a:lnTo>
                    <a:lnTo>
                      <a:pt x="91" y="133"/>
                    </a:lnTo>
                    <a:lnTo>
                      <a:pt x="91" y="133"/>
                    </a:lnTo>
                    <a:close/>
                    <a:moveTo>
                      <a:pt x="136" y="59"/>
                    </a:moveTo>
                    <a:lnTo>
                      <a:pt x="136" y="59"/>
                    </a:lnTo>
                    <a:lnTo>
                      <a:pt x="128" y="59"/>
                    </a:lnTo>
                    <a:lnTo>
                      <a:pt x="128" y="59"/>
                    </a:lnTo>
                    <a:lnTo>
                      <a:pt x="119" y="59"/>
                    </a:lnTo>
                    <a:lnTo>
                      <a:pt x="111" y="62"/>
                    </a:lnTo>
                    <a:lnTo>
                      <a:pt x="103" y="66"/>
                    </a:lnTo>
                    <a:lnTo>
                      <a:pt x="96" y="70"/>
                    </a:lnTo>
                    <a:lnTo>
                      <a:pt x="96" y="70"/>
                    </a:lnTo>
                    <a:lnTo>
                      <a:pt x="102" y="77"/>
                    </a:lnTo>
                    <a:lnTo>
                      <a:pt x="104" y="84"/>
                    </a:lnTo>
                    <a:lnTo>
                      <a:pt x="104" y="84"/>
                    </a:lnTo>
                    <a:lnTo>
                      <a:pt x="108" y="96"/>
                    </a:lnTo>
                    <a:lnTo>
                      <a:pt x="108" y="96"/>
                    </a:lnTo>
                    <a:lnTo>
                      <a:pt x="115" y="92"/>
                    </a:lnTo>
                    <a:lnTo>
                      <a:pt x="122" y="88"/>
                    </a:lnTo>
                    <a:lnTo>
                      <a:pt x="122" y="88"/>
                    </a:lnTo>
                    <a:lnTo>
                      <a:pt x="128" y="81"/>
                    </a:lnTo>
                    <a:lnTo>
                      <a:pt x="132" y="74"/>
                    </a:lnTo>
                    <a:lnTo>
                      <a:pt x="135" y="68"/>
                    </a:lnTo>
                    <a:lnTo>
                      <a:pt x="136" y="59"/>
                    </a:lnTo>
                    <a:lnTo>
                      <a:pt x="136" y="59"/>
                    </a:lnTo>
                    <a:close/>
                    <a:moveTo>
                      <a:pt x="146" y="106"/>
                    </a:moveTo>
                    <a:lnTo>
                      <a:pt x="169" y="127"/>
                    </a:lnTo>
                    <a:lnTo>
                      <a:pt x="169" y="127"/>
                    </a:lnTo>
                    <a:lnTo>
                      <a:pt x="172" y="116"/>
                    </a:lnTo>
                    <a:lnTo>
                      <a:pt x="173" y="105"/>
                    </a:lnTo>
                    <a:lnTo>
                      <a:pt x="173" y="105"/>
                    </a:lnTo>
                    <a:lnTo>
                      <a:pt x="173" y="96"/>
                    </a:lnTo>
                    <a:lnTo>
                      <a:pt x="170" y="87"/>
                    </a:lnTo>
                    <a:lnTo>
                      <a:pt x="166" y="80"/>
                    </a:lnTo>
                    <a:lnTo>
                      <a:pt x="159" y="72"/>
                    </a:lnTo>
                    <a:lnTo>
                      <a:pt x="159" y="72"/>
                    </a:lnTo>
                    <a:lnTo>
                      <a:pt x="152" y="66"/>
                    </a:lnTo>
                    <a:lnTo>
                      <a:pt x="143" y="62"/>
                    </a:lnTo>
                    <a:lnTo>
                      <a:pt x="143" y="62"/>
                    </a:lnTo>
                    <a:lnTo>
                      <a:pt x="141" y="69"/>
                    </a:lnTo>
                    <a:lnTo>
                      <a:pt x="140" y="76"/>
                    </a:lnTo>
                    <a:lnTo>
                      <a:pt x="140" y="76"/>
                    </a:lnTo>
                    <a:lnTo>
                      <a:pt x="135" y="85"/>
                    </a:lnTo>
                    <a:lnTo>
                      <a:pt x="128" y="94"/>
                    </a:lnTo>
                    <a:lnTo>
                      <a:pt x="128" y="94"/>
                    </a:lnTo>
                    <a:lnTo>
                      <a:pt x="119" y="100"/>
                    </a:lnTo>
                    <a:lnTo>
                      <a:pt x="110" y="105"/>
                    </a:lnTo>
                    <a:lnTo>
                      <a:pt x="110" y="105"/>
                    </a:lnTo>
                    <a:lnTo>
                      <a:pt x="108" y="106"/>
                    </a:lnTo>
                    <a:lnTo>
                      <a:pt x="108" y="106"/>
                    </a:lnTo>
                    <a:lnTo>
                      <a:pt x="107" y="116"/>
                    </a:lnTo>
                    <a:lnTo>
                      <a:pt x="104" y="125"/>
                    </a:lnTo>
                    <a:lnTo>
                      <a:pt x="104" y="125"/>
                    </a:lnTo>
                    <a:lnTo>
                      <a:pt x="102" y="133"/>
                    </a:lnTo>
                    <a:lnTo>
                      <a:pt x="96" y="139"/>
                    </a:lnTo>
                    <a:lnTo>
                      <a:pt x="96" y="139"/>
                    </a:lnTo>
                    <a:lnTo>
                      <a:pt x="103" y="144"/>
                    </a:lnTo>
                    <a:lnTo>
                      <a:pt x="111" y="149"/>
                    </a:lnTo>
                    <a:lnTo>
                      <a:pt x="119" y="150"/>
                    </a:lnTo>
                    <a:lnTo>
                      <a:pt x="128" y="151"/>
                    </a:lnTo>
                    <a:lnTo>
                      <a:pt x="128" y="151"/>
                    </a:lnTo>
                    <a:lnTo>
                      <a:pt x="136" y="150"/>
                    </a:lnTo>
                    <a:lnTo>
                      <a:pt x="146" y="147"/>
                    </a:lnTo>
                    <a:lnTo>
                      <a:pt x="152" y="143"/>
                    </a:lnTo>
                    <a:lnTo>
                      <a:pt x="159" y="138"/>
                    </a:lnTo>
                    <a:lnTo>
                      <a:pt x="159" y="138"/>
                    </a:lnTo>
                    <a:lnTo>
                      <a:pt x="166" y="131"/>
                    </a:lnTo>
                    <a:lnTo>
                      <a:pt x="143" y="109"/>
                    </a:lnTo>
                    <a:lnTo>
                      <a:pt x="146" y="106"/>
                    </a:lnTo>
                    <a:close/>
                    <a:moveTo>
                      <a:pt x="40" y="76"/>
                    </a:moveTo>
                    <a:lnTo>
                      <a:pt x="40" y="76"/>
                    </a:lnTo>
                    <a:lnTo>
                      <a:pt x="36" y="63"/>
                    </a:lnTo>
                    <a:lnTo>
                      <a:pt x="36" y="63"/>
                    </a:lnTo>
                    <a:lnTo>
                      <a:pt x="29" y="68"/>
                    </a:lnTo>
                    <a:lnTo>
                      <a:pt x="22" y="72"/>
                    </a:lnTo>
                    <a:lnTo>
                      <a:pt x="22" y="72"/>
                    </a:lnTo>
                    <a:lnTo>
                      <a:pt x="16" y="80"/>
                    </a:lnTo>
                    <a:lnTo>
                      <a:pt x="12" y="87"/>
                    </a:lnTo>
                    <a:lnTo>
                      <a:pt x="10" y="96"/>
                    </a:lnTo>
                    <a:lnTo>
                      <a:pt x="8" y="105"/>
                    </a:lnTo>
                    <a:lnTo>
                      <a:pt x="8" y="105"/>
                    </a:lnTo>
                    <a:lnTo>
                      <a:pt x="10" y="114"/>
                    </a:lnTo>
                    <a:lnTo>
                      <a:pt x="12" y="122"/>
                    </a:lnTo>
                    <a:lnTo>
                      <a:pt x="16" y="131"/>
                    </a:lnTo>
                    <a:lnTo>
                      <a:pt x="22" y="138"/>
                    </a:lnTo>
                    <a:lnTo>
                      <a:pt x="22" y="138"/>
                    </a:lnTo>
                    <a:lnTo>
                      <a:pt x="29" y="143"/>
                    </a:lnTo>
                    <a:lnTo>
                      <a:pt x="37" y="147"/>
                    </a:lnTo>
                    <a:lnTo>
                      <a:pt x="45" y="150"/>
                    </a:lnTo>
                    <a:lnTo>
                      <a:pt x="55" y="151"/>
                    </a:lnTo>
                    <a:lnTo>
                      <a:pt x="55" y="151"/>
                    </a:lnTo>
                    <a:lnTo>
                      <a:pt x="63" y="150"/>
                    </a:lnTo>
                    <a:lnTo>
                      <a:pt x="71" y="149"/>
                    </a:lnTo>
                    <a:lnTo>
                      <a:pt x="78" y="144"/>
                    </a:lnTo>
                    <a:lnTo>
                      <a:pt x="85" y="139"/>
                    </a:lnTo>
                    <a:lnTo>
                      <a:pt x="85" y="139"/>
                    </a:lnTo>
                    <a:lnTo>
                      <a:pt x="81" y="133"/>
                    </a:lnTo>
                    <a:lnTo>
                      <a:pt x="77" y="125"/>
                    </a:lnTo>
                    <a:lnTo>
                      <a:pt x="77" y="125"/>
                    </a:lnTo>
                    <a:lnTo>
                      <a:pt x="74" y="117"/>
                    </a:lnTo>
                    <a:lnTo>
                      <a:pt x="73" y="106"/>
                    </a:lnTo>
                    <a:lnTo>
                      <a:pt x="73" y="106"/>
                    </a:lnTo>
                    <a:lnTo>
                      <a:pt x="69" y="105"/>
                    </a:lnTo>
                    <a:lnTo>
                      <a:pt x="69" y="105"/>
                    </a:lnTo>
                    <a:lnTo>
                      <a:pt x="59" y="100"/>
                    </a:lnTo>
                    <a:lnTo>
                      <a:pt x="51" y="94"/>
                    </a:lnTo>
                    <a:lnTo>
                      <a:pt x="51" y="94"/>
                    </a:lnTo>
                    <a:lnTo>
                      <a:pt x="44" y="85"/>
                    </a:lnTo>
                    <a:lnTo>
                      <a:pt x="40" y="76"/>
                    </a:lnTo>
                    <a:lnTo>
                      <a:pt x="40" y="76"/>
                    </a:lnTo>
                    <a:close/>
                    <a:moveTo>
                      <a:pt x="75" y="155"/>
                    </a:moveTo>
                    <a:lnTo>
                      <a:pt x="75" y="155"/>
                    </a:lnTo>
                    <a:lnTo>
                      <a:pt x="64" y="158"/>
                    </a:lnTo>
                    <a:lnTo>
                      <a:pt x="55" y="160"/>
                    </a:lnTo>
                    <a:lnTo>
                      <a:pt x="55" y="160"/>
                    </a:lnTo>
                    <a:lnTo>
                      <a:pt x="44" y="158"/>
                    </a:lnTo>
                    <a:lnTo>
                      <a:pt x="34" y="155"/>
                    </a:lnTo>
                    <a:lnTo>
                      <a:pt x="34" y="155"/>
                    </a:lnTo>
                    <a:lnTo>
                      <a:pt x="25" y="150"/>
                    </a:lnTo>
                    <a:lnTo>
                      <a:pt x="16" y="143"/>
                    </a:lnTo>
                    <a:lnTo>
                      <a:pt x="16" y="143"/>
                    </a:lnTo>
                    <a:lnTo>
                      <a:pt x="10" y="135"/>
                    </a:lnTo>
                    <a:lnTo>
                      <a:pt x="4" y="125"/>
                    </a:lnTo>
                    <a:lnTo>
                      <a:pt x="4" y="125"/>
                    </a:lnTo>
                    <a:lnTo>
                      <a:pt x="1" y="116"/>
                    </a:lnTo>
                    <a:lnTo>
                      <a:pt x="0" y="105"/>
                    </a:lnTo>
                    <a:lnTo>
                      <a:pt x="0" y="105"/>
                    </a:lnTo>
                    <a:lnTo>
                      <a:pt x="1" y="95"/>
                    </a:lnTo>
                    <a:lnTo>
                      <a:pt x="4" y="84"/>
                    </a:lnTo>
                    <a:lnTo>
                      <a:pt x="4" y="84"/>
                    </a:lnTo>
                    <a:lnTo>
                      <a:pt x="10" y="74"/>
                    </a:lnTo>
                    <a:lnTo>
                      <a:pt x="16" y="66"/>
                    </a:lnTo>
                    <a:lnTo>
                      <a:pt x="16" y="66"/>
                    </a:lnTo>
                    <a:lnTo>
                      <a:pt x="25" y="59"/>
                    </a:lnTo>
                    <a:lnTo>
                      <a:pt x="34" y="55"/>
                    </a:lnTo>
                    <a:lnTo>
                      <a:pt x="34" y="55"/>
                    </a:lnTo>
                    <a:lnTo>
                      <a:pt x="36" y="54"/>
                    </a:lnTo>
                    <a:lnTo>
                      <a:pt x="36" y="54"/>
                    </a:lnTo>
                    <a:lnTo>
                      <a:pt x="36" y="44"/>
                    </a:lnTo>
                    <a:lnTo>
                      <a:pt x="40" y="35"/>
                    </a:lnTo>
                    <a:lnTo>
                      <a:pt x="40" y="35"/>
                    </a:lnTo>
                    <a:lnTo>
                      <a:pt x="44" y="25"/>
                    </a:lnTo>
                    <a:lnTo>
                      <a:pt x="51" y="17"/>
                    </a:lnTo>
                    <a:lnTo>
                      <a:pt x="51" y="17"/>
                    </a:lnTo>
                    <a:lnTo>
                      <a:pt x="59" y="10"/>
                    </a:lnTo>
                    <a:lnTo>
                      <a:pt x="69" y="4"/>
                    </a:lnTo>
                    <a:lnTo>
                      <a:pt x="69" y="4"/>
                    </a:lnTo>
                    <a:lnTo>
                      <a:pt x="78" y="2"/>
                    </a:lnTo>
                    <a:lnTo>
                      <a:pt x="89" y="0"/>
                    </a:lnTo>
                    <a:lnTo>
                      <a:pt x="89" y="0"/>
                    </a:lnTo>
                    <a:lnTo>
                      <a:pt x="100" y="2"/>
                    </a:lnTo>
                    <a:lnTo>
                      <a:pt x="110" y="4"/>
                    </a:lnTo>
                    <a:lnTo>
                      <a:pt x="110" y="4"/>
                    </a:lnTo>
                    <a:lnTo>
                      <a:pt x="119" y="10"/>
                    </a:lnTo>
                    <a:lnTo>
                      <a:pt x="128" y="17"/>
                    </a:lnTo>
                    <a:lnTo>
                      <a:pt x="128" y="17"/>
                    </a:lnTo>
                    <a:lnTo>
                      <a:pt x="135" y="25"/>
                    </a:lnTo>
                    <a:lnTo>
                      <a:pt x="140" y="35"/>
                    </a:lnTo>
                    <a:lnTo>
                      <a:pt x="140" y="35"/>
                    </a:lnTo>
                    <a:lnTo>
                      <a:pt x="143" y="44"/>
                    </a:lnTo>
                    <a:lnTo>
                      <a:pt x="144" y="54"/>
                    </a:lnTo>
                    <a:lnTo>
                      <a:pt x="144" y="54"/>
                    </a:lnTo>
                    <a:lnTo>
                      <a:pt x="148" y="55"/>
                    </a:lnTo>
                    <a:lnTo>
                      <a:pt x="148" y="55"/>
                    </a:lnTo>
                    <a:lnTo>
                      <a:pt x="158" y="59"/>
                    </a:lnTo>
                    <a:lnTo>
                      <a:pt x="166" y="66"/>
                    </a:lnTo>
                    <a:lnTo>
                      <a:pt x="166" y="66"/>
                    </a:lnTo>
                    <a:lnTo>
                      <a:pt x="172" y="74"/>
                    </a:lnTo>
                    <a:lnTo>
                      <a:pt x="177" y="84"/>
                    </a:lnTo>
                    <a:lnTo>
                      <a:pt x="177" y="84"/>
                    </a:lnTo>
                    <a:lnTo>
                      <a:pt x="180" y="95"/>
                    </a:lnTo>
                    <a:lnTo>
                      <a:pt x="181" y="105"/>
                    </a:lnTo>
                    <a:lnTo>
                      <a:pt x="181" y="105"/>
                    </a:lnTo>
                    <a:lnTo>
                      <a:pt x="180" y="116"/>
                    </a:lnTo>
                    <a:lnTo>
                      <a:pt x="177" y="125"/>
                    </a:lnTo>
                    <a:lnTo>
                      <a:pt x="177" y="125"/>
                    </a:lnTo>
                    <a:lnTo>
                      <a:pt x="174" y="131"/>
                    </a:lnTo>
                    <a:lnTo>
                      <a:pt x="183" y="139"/>
                    </a:lnTo>
                    <a:lnTo>
                      <a:pt x="224" y="139"/>
                    </a:lnTo>
                    <a:lnTo>
                      <a:pt x="224" y="143"/>
                    </a:lnTo>
                    <a:lnTo>
                      <a:pt x="180" y="143"/>
                    </a:lnTo>
                    <a:lnTo>
                      <a:pt x="172" y="136"/>
                    </a:lnTo>
                    <a:lnTo>
                      <a:pt x="172" y="136"/>
                    </a:lnTo>
                    <a:lnTo>
                      <a:pt x="166" y="143"/>
                    </a:lnTo>
                    <a:lnTo>
                      <a:pt x="166" y="143"/>
                    </a:lnTo>
                    <a:lnTo>
                      <a:pt x="158" y="150"/>
                    </a:lnTo>
                    <a:lnTo>
                      <a:pt x="148" y="155"/>
                    </a:lnTo>
                    <a:lnTo>
                      <a:pt x="148" y="155"/>
                    </a:lnTo>
                    <a:lnTo>
                      <a:pt x="137" y="158"/>
                    </a:lnTo>
                    <a:lnTo>
                      <a:pt x="128" y="160"/>
                    </a:lnTo>
                    <a:lnTo>
                      <a:pt x="128" y="160"/>
                    </a:lnTo>
                    <a:lnTo>
                      <a:pt x="117" y="158"/>
                    </a:lnTo>
                    <a:lnTo>
                      <a:pt x="107" y="155"/>
                    </a:lnTo>
                    <a:lnTo>
                      <a:pt x="107" y="155"/>
                    </a:lnTo>
                    <a:lnTo>
                      <a:pt x="99" y="151"/>
                    </a:lnTo>
                    <a:lnTo>
                      <a:pt x="91" y="146"/>
                    </a:lnTo>
                    <a:lnTo>
                      <a:pt x="91" y="146"/>
                    </a:lnTo>
                    <a:lnTo>
                      <a:pt x="84" y="151"/>
                    </a:lnTo>
                    <a:lnTo>
                      <a:pt x="75" y="155"/>
                    </a:lnTo>
                    <a:lnTo>
                      <a:pt x="75" y="155"/>
                    </a:lnTo>
                    <a:close/>
                    <a:moveTo>
                      <a:pt x="42" y="52"/>
                    </a:moveTo>
                    <a:lnTo>
                      <a:pt x="42" y="52"/>
                    </a:lnTo>
                    <a:lnTo>
                      <a:pt x="55" y="51"/>
                    </a:lnTo>
                    <a:lnTo>
                      <a:pt x="55" y="51"/>
                    </a:lnTo>
                    <a:lnTo>
                      <a:pt x="64" y="52"/>
                    </a:lnTo>
                    <a:lnTo>
                      <a:pt x="75" y="55"/>
                    </a:lnTo>
                    <a:lnTo>
                      <a:pt x="75" y="55"/>
                    </a:lnTo>
                    <a:lnTo>
                      <a:pt x="84" y="59"/>
                    </a:lnTo>
                    <a:lnTo>
                      <a:pt x="91" y="65"/>
                    </a:lnTo>
                    <a:lnTo>
                      <a:pt x="91" y="65"/>
                    </a:lnTo>
                    <a:lnTo>
                      <a:pt x="99" y="59"/>
                    </a:lnTo>
                    <a:lnTo>
                      <a:pt x="107" y="55"/>
                    </a:lnTo>
                    <a:lnTo>
                      <a:pt x="107" y="55"/>
                    </a:lnTo>
                    <a:lnTo>
                      <a:pt x="117" y="52"/>
                    </a:lnTo>
                    <a:lnTo>
                      <a:pt x="128" y="51"/>
                    </a:lnTo>
                    <a:lnTo>
                      <a:pt x="128" y="51"/>
                    </a:lnTo>
                    <a:lnTo>
                      <a:pt x="136" y="51"/>
                    </a:lnTo>
                    <a:lnTo>
                      <a:pt x="136" y="51"/>
                    </a:lnTo>
                    <a:lnTo>
                      <a:pt x="135" y="43"/>
                    </a:lnTo>
                    <a:lnTo>
                      <a:pt x="132" y="36"/>
                    </a:lnTo>
                    <a:lnTo>
                      <a:pt x="128" y="29"/>
                    </a:lnTo>
                    <a:lnTo>
                      <a:pt x="122" y="22"/>
                    </a:lnTo>
                    <a:lnTo>
                      <a:pt x="122" y="22"/>
                    </a:lnTo>
                    <a:lnTo>
                      <a:pt x="115" y="17"/>
                    </a:lnTo>
                    <a:lnTo>
                      <a:pt x="107" y="13"/>
                    </a:lnTo>
                    <a:lnTo>
                      <a:pt x="99" y="10"/>
                    </a:lnTo>
                    <a:lnTo>
                      <a:pt x="89" y="8"/>
                    </a:lnTo>
                    <a:lnTo>
                      <a:pt x="89" y="8"/>
                    </a:lnTo>
                    <a:lnTo>
                      <a:pt x="80" y="10"/>
                    </a:lnTo>
                    <a:lnTo>
                      <a:pt x="71" y="13"/>
                    </a:lnTo>
                    <a:lnTo>
                      <a:pt x="63" y="17"/>
                    </a:lnTo>
                    <a:lnTo>
                      <a:pt x="56" y="22"/>
                    </a:lnTo>
                    <a:lnTo>
                      <a:pt x="56" y="22"/>
                    </a:lnTo>
                    <a:lnTo>
                      <a:pt x="51" y="29"/>
                    </a:lnTo>
                    <a:lnTo>
                      <a:pt x="47" y="36"/>
                    </a:lnTo>
                    <a:lnTo>
                      <a:pt x="44" y="44"/>
                    </a:lnTo>
                    <a:lnTo>
                      <a:pt x="42" y="52"/>
                    </a:lnTo>
                    <a:lnTo>
                      <a:pt x="42" y="52"/>
                    </a:lnTo>
                    <a:close/>
                  </a:path>
                </a:pathLst>
              </a:cu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68" name="Rectangle 325">
                <a:extLst>
                  <a:ext uri="{FF2B5EF4-FFF2-40B4-BE49-F238E27FC236}">
                    <a16:creationId xmlns:a16="http://schemas.microsoft.com/office/drawing/2014/main" id="{94B417F1-B7B1-7BF4-1173-49AA85C0F53D}"/>
                  </a:ext>
                </a:extLst>
              </p:cNvPr>
              <p:cNvSpPr>
                <a:spLocks noChangeArrowheads="1"/>
              </p:cNvSpPr>
              <p:nvPr/>
            </p:nvSpPr>
            <p:spPr bwMode="auto">
              <a:xfrm>
                <a:off x="8243954" y="7910979"/>
                <a:ext cx="58738" cy="15875"/>
              </a:xfrm>
              <a:prstGeom prst="rect">
                <a:avLst/>
              </a:pr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70" name="Rectangle 326">
                <a:extLst>
                  <a:ext uri="{FF2B5EF4-FFF2-40B4-BE49-F238E27FC236}">
                    <a16:creationId xmlns:a16="http://schemas.microsoft.com/office/drawing/2014/main" id="{442B239E-B941-87BC-AEFC-A49376ECCCF4}"/>
                  </a:ext>
                </a:extLst>
              </p:cNvPr>
              <p:cNvSpPr>
                <a:spLocks noChangeArrowheads="1"/>
              </p:cNvSpPr>
              <p:nvPr/>
            </p:nvSpPr>
            <p:spPr bwMode="auto">
              <a:xfrm>
                <a:off x="8243954" y="7874466"/>
                <a:ext cx="58738" cy="14288"/>
              </a:xfrm>
              <a:prstGeom prst="rect">
                <a:avLst/>
              </a:pr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72" name="Rectangle 327">
                <a:extLst>
                  <a:ext uri="{FF2B5EF4-FFF2-40B4-BE49-F238E27FC236}">
                    <a16:creationId xmlns:a16="http://schemas.microsoft.com/office/drawing/2014/main" id="{C4CA43E0-FD8E-21F9-BBC0-210B20201602}"/>
                  </a:ext>
                </a:extLst>
              </p:cNvPr>
              <p:cNvSpPr>
                <a:spLocks noChangeArrowheads="1"/>
              </p:cNvSpPr>
              <p:nvPr/>
            </p:nvSpPr>
            <p:spPr bwMode="auto">
              <a:xfrm>
                <a:off x="8243954" y="7836366"/>
                <a:ext cx="58738" cy="15875"/>
              </a:xfrm>
              <a:prstGeom prst="rect">
                <a:avLst/>
              </a:pr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74" name="Freeform 328">
                <a:extLst>
                  <a:ext uri="{FF2B5EF4-FFF2-40B4-BE49-F238E27FC236}">
                    <a16:creationId xmlns:a16="http://schemas.microsoft.com/office/drawing/2014/main" id="{DF1B60BA-7DAD-9F35-1E54-258E986776AF}"/>
                  </a:ext>
                </a:extLst>
              </p:cNvPr>
              <p:cNvSpPr>
                <a:spLocks noEditPoints="1"/>
              </p:cNvSpPr>
              <p:nvPr/>
            </p:nvSpPr>
            <p:spPr bwMode="auto">
              <a:xfrm>
                <a:off x="8204266" y="7645866"/>
                <a:ext cx="512763" cy="352425"/>
              </a:xfrm>
              <a:custGeom>
                <a:avLst/>
                <a:gdLst>
                  <a:gd name="T0" fmla="*/ 0 w 323"/>
                  <a:gd name="T1" fmla="*/ 0 h 222"/>
                  <a:gd name="T2" fmla="*/ 323 w 323"/>
                  <a:gd name="T3" fmla="*/ 0 h 222"/>
                  <a:gd name="T4" fmla="*/ 323 w 323"/>
                  <a:gd name="T5" fmla="*/ 222 h 222"/>
                  <a:gd name="T6" fmla="*/ 0 w 323"/>
                  <a:gd name="T7" fmla="*/ 222 h 222"/>
                  <a:gd name="T8" fmla="*/ 0 w 323"/>
                  <a:gd name="T9" fmla="*/ 0 h 222"/>
                  <a:gd name="T10" fmla="*/ 309 w 323"/>
                  <a:gd name="T11" fmla="*/ 13 h 222"/>
                  <a:gd name="T12" fmla="*/ 12 w 323"/>
                  <a:gd name="T13" fmla="*/ 13 h 222"/>
                  <a:gd name="T14" fmla="*/ 12 w 323"/>
                  <a:gd name="T15" fmla="*/ 208 h 222"/>
                  <a:gd name="T16" fmla="*/ 309 w 323"/>
                  <a:gd name="T17" fmla="*/ 208 h 222"/>
                  <a:gd name="T18" fmla="*/ 309 w 323"/>
                  <a:gd name="T19" fmla="*/ 1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22">
                    <a:moveTo>
                      <a:pt x="0" y="0"/>
                    </a:moveTo>
                    <a:lnTo>
                      <a:pt x="323" y="0"/>
                    </a:lnTo>
                    <a:lnTo>
                      <a:pt x="323" y="222"/>
                    </a:lnTo>
                    <a:lnTo>
                      <a:pt x="0" y="222"/>
                    </a:lnTo>
                    <a:lnTo>
                      <a:pt x="0" y="0"/>
                    </a:lnTo>
                    <a:close/>
                    <a:moveTo>
                      <a:pt x="309" y="13"/>
                    </a:moveTo>
                    <a:lnTo>
                      <a:pt x="12" y="13"/>
                    </a:lnTo>
                    <a:lnTo>
                      <a:pt x="12" y="208"/>
                    </a:lnTo>
                    <a:lnTo>
                      <a:pt x="309" y="208"/>
                    </a:lnTo>
                    <a:lnTo>
                      <a:pt x="309" y="13"/>
                    </a:lnTo>
                    <a:close/>
                  </a:path>
                </a:pathLst>
              </a:cu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77" name="Freeform 329">
                <a:extLst>
                  <a:ext uri="{FF2B5EF4-FFF2-40B4-BE49-F238E27FC236}">
                    <a16:creationId xmlns:a16="http://schemas.microsoft.com/office/drawing/2014/main" id="{88385610-CA96-C0A6-1042-65266E227734}"/>
                  </a:ext>
                </a:extLst>
              </p:cNvPr>
              <p:cNvSpPr>
                <a:spLocks/>
              </p:cNvSpPr>
              <p:nvPr/>
            </p:nvSpPr>
            <p:spPr bwMode="auto">
              <a:xfrm>
                <a:off x="8174104" y="8010991"/>
                <a:ext cx="573088" cy="28575"/>
              </a:xfrm>
              <a:custGeom>
                <a:avLst/>
                <a:gdLst>
                  <a:gd name="T0" fmla="*/ 254 w 361"/>
                  <a:gd name="T1" fmla="*/ 18 h 18"/>
                  <a:gd name="T2" fmla="*/ 105 w 361"/>
                  <a:gd name="T3" fmla="*/ 18 h 18"/>
                  <a:gd name="T4" fmla="*/ 0 w 361"/>
                  <a:gd name="T5" fmla="*/ 18 h 18"/>
                  <a:gd name="T6" fmla="*/ 19 w 361"/>
                  <a:gd name="T7" fmla="*/ 0 h 18"/>
                  <a:gd name="T8" fmla="*/ 180 w 361"/>
                  <a:gd name="T9" fmla="*/ 0 h 18"/>
                  <a:gd name="T10" fmla="*/ 342 w 361"/>
                  <a:gd name="T11" fmla="*/ 0 h 18"/>
                  <a:gd name="T12" fmla="*/ 361 w 361"/>
                  <a:gd name="T13" fmla="*/ 18 h 18"/>
                  <a:gd name="T14" fmla="*/ 254 w 361"/>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1" h="18">
                    <a:moveTo>
                      <a:pt x="254" y="18"/>
                    </a:moveTo>
                    <a:lnTo>
                      <a:pt x="105" y="18"/>
                    </a:lnTo>
                    <a:lnTo>
                      <a:pt x="0" y="18"/>
                    </a:lnTo>
                    <a:lnTo>
                      <a:pt x="19" y="0"/>
                    </a:lnTo>
                    <a:lnTo>
                      <a:pt x="180" y="0"/>
                    </a:lnTo>
                    <a:lnTo>
                      <a:pt x="342" y="0"/>
                    </a:lnTo>
                    <a:lnTo>
                      <a:pt x="361" y="18"/>
                    </a:lnTo>
                    <a:lnTo>
                      <a:pt x="254" y="18"/>
                    </a:lnTo>
                    <a:close/>
                  </a:path>
                </a:pathLst>
              </a:cu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sp>
            <p:nvSpPr>
              <p:cNvPr id="80" name="Freeform 330">
                <a:extLst>
                  <a:ext uri="{FF2B5EF4-FFF2-40B4-BE49-F238E27FC236}">
                    <a16:creationId xmlns:a16="http://schemas.microsoft.com/office/drawing/2014/main" id="{374B42EA-7143-839E-2DF0-C1AA9AF260AA}"/>
                  </a:ext>
                </a:extLst>
              </p:cNvPr>
              <p:cNvSpPr>
                <a:spLocks/>
              </p:cNvSpPr>
              <p:nvPr/>
            </p:nvSpPr>
            <p:spPr bwMode="auto">
              <a:xfrm>
                <a:off x="8174104" y="8045916"/>
                <a:ext cx="573088" cy="15875"/>
              </a:xfrm>
              <a:custGeom>
                <a:avLst/>
                <a:gdLst>
                  <a:gd name="T0" fmla="*/ 347 w 361"/>
                  <a:gd name="T1" fmla="*/ 10 h 10"/>
                  <a:gd name="T2" fmla="*/ 13 w 361"/>
                  <a:gd name="T3" fmla="*/ 10 h 10"/>
                  <a:gd name="T4" fmla="*/ 13 w 361"/>
                  <a:gd name="T5" fmla="*/ 10 h 10"/>
                  <a:gd name="T6" fmla="*/ 8 w 361"/>
                  <a:gd name="T7" fmla="*/ 10 h 10"/>
                  <a:gd name="T8" fmla="*/ 4 w 361"/>
                  <a:gd name="T9" fmla="*/ 7 h 10"/>
                  <a:gd name="T10" fmla="*/ 0 w 361"/>
                  <a:gd name="T11" fmla="*/ 6 h 10"/>
                  <a:gd name="T12" fmla="*/ 0 w 361"/>
                  <a:gd name="T13" fmla="*/ 2 h 10"/>
                  <a:gd name="T14" fmla="*/ 0 w 361"/>
                  <a:gd name="T15" fmla="*/ 0 h 10"/>
                  <a:gd name="T16" fmla="*/ 361 w 361"/>
                  <a:gd name="T17" fmla="*/ 0 h 10"/>
                  <a:gd name="T18" fmla="*/ 361 w 361"/>
                  <a:gd name="T19" fmla="*/ 2 h 10"/>
                  <a:gd name="T20" fmla="*/ 361 w 361"/>
                  <a:gd name="T21" fmla="*/ 2 h 10"/>
                  <a:gd name="T22" fmla="*/ 360 w 361"/>
                  <a:gd name="T23" fmla="*/ 6 h 10"/>
                  <a:gd name="T24" fmla="*/ 357 w 361"/>
                  <a:gd name="T25" fmla="*/ 7 h 10"/>
                  <a:gd name="T26" fmla="*/ 353 w 361"/>
                  <a:gd name="T27" fmla="*/ 10 h 10"/>
                  <a:gd name="T28" fmla="*/ 347 w 361"/>
                  <a:gd name="T29" fmla="*/ 10 h 10"/>
                  <a:gd name="T30" fmla="*/ 347 w 361"/>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1" h="10">
                    <a:moveTo>
                      <a:pt x="347" y="10"/>
                    </a:moveTo>
                    <a:lnTo>
                      <a:pt x="13" y="10"/>
                    </a:lnTo>
                    <a:lnTo>
                      <a:pt x="13" y="10"/>
                    </a:lnTo>
                    <a:lnTo>
                      <a:pt x="8" y="10"/>
                    </a:lnTo>
                    <a:lnTo>
                      <a:pt x="4" y="7"/>
                    </a:lnTo>
                    <a:lnTo>
                      <a:pt x="0" y="6"/>
                    </a:lnTo>
                    <a:lnTo>
                      <a:pt x="0" y="2"/>
                    </a:lnTo>
                    <a:lnTo>
                      <a:pt x="0" y="0"/>
                    </a:lnTo>
                    <a:lnTo>
                      <a:pt x="361" y="0"/>
                    </a:lnTo>
                    <a:lnTo>
                      <a:pt x="361" y="2"/>
                    </a:lnTo>
                    <a:lnTo>
                      <a:pt x="361" y="2"/>
                    </a:lnTo>
                    <a:lnTo>
                      <a:pt x="360" y="6"/>
                    </a:lnTo>
                    <a:lnTo>
                      <a:pt x="357" y="7"/>
                    </a:lnTo>
                    <a:lnTo>
                      <a:pt x="353" y="10"/>
                    </a:lnTo>
                    <a:lnTo>
                      <a:pt x="347" y="10"/>
                    </a:lnTo>
                    <a:lnTo>
                      <a:pt x="347" y="10"/>
                    </a:lnTo>
                    <a:close/>
                  </a:path>
                </a:pathLst>
              </a:custGeom>
              <a:grpFill/>
              <a:ln>
                <a:solidFill>
                  <a:schemeClr val="tx2"/>
                </a:solidFill>
              </a:ln>
            </p:spPr>
            <p:txBody>
              <a:bodyPr vert="horz" wrap="square" lIns="78150" tIns="39075" rIns="78150" bIns="39075" numCol="1" anchor="t" anchorCtr="0" compatLnSpc="1">
                <a:prstTxWarp prst="textNoShape">
                  <a:avLst/>
                </a:prstTxWarp>
              </a:bodyPr>
              <a:lstStyle/>
              <a:p>
                <a:pPr marL="0" marR="0" lvl="0" indent="0" algn="ctr" defTabSz="913943" rtl="0" eaLnBrk="1" fontAlgn="base" latinLnBrk="0" hangingPunct="1">
                  <a:lnSpc>
                    <a:spcPct val="100000"/>
                  </a:lnSpc>
                  <a:spcBef>
                    <a:spcPct val="0"/>
                  </a:spcBef>
                  <a:spcAft>
                    <a:spcPct val="0"/>
                  </a:spcAft>
                  <a:buClrTx/>
                  <a:buSzTx/>
                  <a:buFontTx/>
                  <a:buNone/>
                  <a:tabLst/>
                  <a:defRPr/>
                </a:pPr>
                <a:endParaRPr kumimoji="0" lang="en-US" sz="1367" b="0" i="0" u="none" strike="noStrike" kern="1200" cap="none" spc="0" normalizeH="0" baseline="0" noProof="0">
                  <a:ln>
                    <a:noFill/>
                  </a:ln>
                  <a:solidFill>
                    <a:srgbClr val="646464"/>
                  </a:solidFill>
                  <a:effectLst/>
                  <a:uLnTx/>
                  <a:uFillTx/>
                  <a:latin typeface="EY interstate"/>
                </a:endParaRPr>
              </a:p>
            </p:txBody>
          </p:sp>
        </p:grpSp>
        <p:sp>
          <p:nvSpPr>
            <p:cNvPr id="63" name="TextBox 62">
              <a:extLst>
                <a:ext uri="{FF2B5EF4-FFF2-40B4-BE49-F238E27FC236}">
                  <a16:creationId xmlns:a16="http://schemas.microsoft.com/office/drawing/2014/main" id="{B61DC5C3-5C54-53A6-0978-C94211F24700}"/>
                </a:ext>
              </a:extLst>
            </p:cNvPr>
            <p:cNvSpPr txBox="1"/>
            <p:nvPr/>
          </p:nvSpPr>
          <p:spPr>
            <a:xfrm>
              <a:off x="1879198" y="1547045"/>
              <a:ext cx="3510462" cy="738279"/>
            </a:xfrm>
            <a:prstGeom prst="rect">
              <a:avLst/>
            </a:prstGeom>
            <a:noFill/>
          </p:spPr>
          <p:txBody>
            <a:bodyPr wrap="square">
              <a:spAutoFit/>
            </a:bodyPr>
            <a:lstStyle/>
            <a:p>
              <a:pPr marL="0" marR="0" lvl="0" indent="0" algn="l" defTabSz="685457" rtl="0" eaLnBrk="1" fontAlgn="auto" latinLnBrk="0" hangingPunct="1">
                <a:lnSpc>
                  <a:spcPct val="100000"/>
                </a:lnSpc>
                <a:spcBef>
                  <a:spcPts val="0"/>
                </a:spcBef>
                <a:spcAft>
                  <a:spcPts val="0"/>
                </a:spcAft>
                <a:buClrTx/>
                <a:buSzTx/>
                <a:buFontTx/>
                <a:buNone/>
                <a:tabLst/>
                <a:defRPr/>
              </a:pPr>
              <a:r>
                <a:rPr kumimoji="0" lang="en-GB" sz="1399" b="0" i="0" u="none" strike="noStrike" kern="1200" cap="none" spc="0" normalizeH="0" baseline="0" noProof="0">
                  <a:ln>
                    <a:noFill/>
                  </a:ln>
                  <a:solidFill>
                    <a:srgbClr val="FFFFFF"/>
                  </a:solidFill>
                  <a:effectLst/>
                  <a:uLnTx/>
                  <a:uFillTx/>
                  <a:latin typeface="EY interstate"/>
                </a:rPr>
                <a:t>The CoA should be rationalised and fit-for-purpose, highly aligned &amp; consistently used across the ERP systems</a:t>
              </a:r>
            </a:p>
          </p:txBody>
        </p:sp>
        <p:pic>
          <p:nvPicPr>
            <p:cNvPr id="65" name="Graphic 64" descr="Bullseye with solid fill">
              <a:extLst>
                <a:ext uri="{FF2B5EF4-FFF2-40B4-BE49-F238E27FC236}">
                  <a16:creationId xmlns:a16="http://schemas.microsoft.com/office/drawing/2014/main" id="{39651656-12A1-12A9-5E00-E96DEFD22B8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02687" y="1609158"/>
              <a:ext cx="676510" cy="636558"/>
            </a:xfrm>
            <a:prstGeom prst="rect">
              <a:avLst/>
            </a:prstGeom>
          </p:spPr>
        </p:pic>
        <p:sp>
          <p:nvSpPr>
            <p:cNvPr id="67" name="TextBox 66">
              <a:extLst>
                <a:ext uri="{FF2B5EF4-FFF2-40B4-BE49-F238E27FC236}">
                  <a16:creationId xmlns:a16="http://schemas.microsoft.com/office/drawing/2014/main" id="{0CC45DD8-FAE5-6E72-CCFB-F2945AA3EFAC}"/>
                </a:ext>
              </a:extLst>
            </p:cNvPr>
            <p:cNvSpPr txBox="1"/>
            <p:nvPr/>
          </p:nvSpPr>
          <p:spPr>
            <a:xfrm>
              <a:off x="1873237" y="4663462"/>
              <a:ext cx="3510462" cy="953610"/>
            </a:xfrm>
            <a:prstGeom prst="rect">
              <a:avLst/>
            </a:prstGeom>
            <a:noFill/>
          </p:spPr>
          <p:txBody>
            <a:bodyPr wrap="square">
              <a:spAutoFit/>
            </a:bodyPr>
            <a:lstStyle/>
            <a:p>
              <a:pPr marL="0" marR="0" lvl="0" indent="0" algn="l" defTabSz="685457" rtl="0" eaLnBrk="1" fontAlgn="auto" latinLnBrk="0" hangingPunct="1">
                <a:lnSpc>
                  <a:spcPct val="100000"/>
                </a:lnSpc>
                <a:spcBef>
                  <a:spcPts val="0"/>
                </a:spcBef>
                <a:spcAft>
                  <a:spcPts val="0"/>
                </a:spcAft>
                <a:buClrTx/>
                <a:buSzTx/>
                <a:buFontTx/>
                <a:buNone/>
                <a:tabLst/>
                <a:defRPr/>
              </a:pPr>
              <a:r>
                <a:rPr kumimoji="0" lang="en-GB" sz="1399" b="0" i="0" u="none" strike="noStrike" kern="1200" cap="none" spc="0" normalizeH="0" baseline="0" noProof="0">
                  <a:ln>
                    <a:noFill/>
                  </a:ln>
                  <a:solidFill>
                    <a:srgbClr val="FFFFFF"/>
                  </a:solidFill>
                  <a:effectLst/>
                  <a:uLnTx/>
                  <a:uFillTx/>
                  <a:latin typeface="EY interstate"/>
                </a:rPr>
                <a:t>The dedicated team must challenge the need for new accounts, while being solely responsible for the creation and maintenance of the CoA setup</a:t>
              </a:r>
            </a:p>
          </p:txBody>
        </p:sp>
        <p:pic>
          <p:nvPicPr>
            <p:cNvPr id="69" name="Graphic 68" descr="Document outline">
              <a:extLst>
                <a:ext uri="{FF2B5EF4-FFF2-40B4-BE49-F238E27FC236}">
                  <a16:creationId xmlns:a16="http://schemas.microsoft.com/office/drawing/2014/main" id="{AA56F826-AB24-B6B9-7E4B-281003BCD02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93272" y="4722530"/>
              <a:ext cx="782189" cy="782189"/>
            </a:xfrm>
            <a:prstGeom prst="rect">
              <a:avLst/>
            </a:prstGeom>
          </p:spPr>
        </p:pic>
        <p:sp>
          <p:nvSpPr>
            <p:cNvPr id="66" name="TextBox 65">
              <a:extLst>
                <a:ext uri="{FF2B5EF4-FFF2-40B4-BE49-F238E27FC236}">
                  <a16:creationId xmlns:a16="http://schemas.microsoft.com/office/drawing/2014/main" id="{22CBE238-18D8-C973-6DAB-70ABA94E878F}"/>
                </a:ext>
              </a:extLst>
            </p:cNvPr>
            <p:cNvSpPr txBox="1"/>
            <p:nvPr/>
          </p:nvSpPr>
          <p:spPr>
            <a:xfrm>
              <a:off x="1873237" y="3551289"/>
              <a:ext cx="3510462" cy="738279"/>
            </a:xfrm>
            <a:prstGeom prst="rect">
              <a:avLst/>
            </a:prstGeom>
            <a:noFill/>
          </p:spPr>
          <p:txBody>
            <a:bodyPr wrap="square">
              <a:spAutoFit/>
            </a:bodyPr>
            <a:lstStyle/>
            <a:p>
              <a:pPr marL="0" marR="0" lvl="0" indent="0" algn="l" defTabSz="685457" rtl="0" eaLnBrk="1" fontAlgn="auto" latinLnBrk="0" hangingPunct="1">
                <a:lnSpc>
                  <a:spcPct val="100000"/>
                </a:lnSpc>
                <a:spcBef>
                  <a:spcPts val="0"/>
                </a:spcBef>
                <a:spcAft>
                  <a:spcPts val="0"/>
                </a:spcAft>
                <a:buClrTx/>
                <a:buSzTx/>
                <a:buFontTx/>
                <a:buNone/>
                <a:tabLst/>
                <a:defRPr/>
              </a:pPr>
              <a:r>
                <a:rPr kumimoji="0" lang="en-GB" sz="1399" b="0" i="0" u="none" strike="noStrike" kern="1200" cap="none" spc="0" normalizeH="0" baseline="0" noProof="0">
                  <a:ln>
                    <a:noFill/>
                  </a:ln>
                  <a:solidFill>
                    <a:srgbClr val="FFFFFF"/>
                  </a:solidFill>
                  <a:effectLst/>
                  <a:uLnTx/>
                  <a:uFillTx/>
                  <a:latin typeface="EY interstate"/>
                </a:rPr>
                <a:t>Ownership of CoA should be assigned </a:t>
              </a:r>
              <a:r>
                <a:rPr kumimoji="0" lang="en-GB" sz="1399" b="0" i="0" u="sng" strike="noStrike" kern="1200" cap="none" spc="0" normalizeH="0" baseline="0" noProof="0">
                  <a:ln>
                    <a:noFill/>
                  </a:ln>
                  <a:solidFill>
                    <a:srgbClr val="FFFFFF"/>
                  </a:solidFill>
                  <a:effectLst/>
                  <a:uLnTx/>
                  <a:uFillTx/>
                  <a:latin typeface="EY interstate"/>
                </a:rPr>
                <a:t>one</a:t>
              </a:r>
              <a:r>
                <a:rPr kumimoji="0" lang="en-GB" sz="1399" b="0" i="0" u="none" strike="noStrike" kern="1200" cap="none" spc="0" normalizeH="0" baseline="0" noProof="0">
                  <a:ln>
                    <a:noFill/>
                  </a:ln>
                  <a:solidFill>
                    <a:srgbClr val="FFFFFF"/>
                  </a:solidFill>
                  <a:effectLst/>
                  <a:uLnTx/>
                  <a:uFillTx/>
                  <a:latin typeface="EY interstate"/>
                </a:rPr>
                <a:t> team responsible for creating change and performing quality checks</a:t>
              </a:r>
            </a:p>
          </p:txBody>
        </p:sp>
        <p:grpSp>
          <p:nvGrpSpPr>
            <p:cNvPr id="82" name="Group 81">
              <a:extLst>
                <a:ext uri="{FF2B5EF4-FFF2-40B4-BE49-F238E27FC236}">
                  <a16:creationId xmlns:a16="http://schemas.microsoft.com/office/drawing/2014/main" id="{A9C4ACB1-84EB-2C9F-0824-BC6E253EF902}"/>
                </a:ext>
              </a:extLst>
            </p:cNvPr>
            <p:cNvGrpSpPr/>
            <p:nvPr/>
          </p:nvGrpSpPr>
          <p:grpSpPr>
            <a:xfrm>
              <a:off x="1078896" y="3509788"/>
              <a:ext cx="822863" cy="822863"/>
              <a:chOff x="531246" y="3799960"/>
              <a:chExt cx="823292" cy="823292"/>
            </a:xfrm>
            <a:solidFill>
              <a:srgbClr val="FFE600"/>
            </a:solidFill>
          </p:grpSpPr>
          <p:pic>
            <p:nvPicPr>
              <p:cNvPr id="73" name="Graphic 72" descr="Cycle with people with solid fill">
                <a:extLst>
                  <a:ext uri="{FF2B5EF4-FFF2-40B4-BE49-F238E27FC236}">
                    <a16:creationId xmlns:a16="http://schemas.microsoft.com/office/drawing/2014/main" id="{A3375603-169B-CC70-C92D-BC6B47323A6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31246" y="3799960"/>
                <a:ext cx="823292" cy="823292"/>
              </a:xfrm>
              <a:prstGeom prst="rect">
                <a:avLst/>
              </a:prstGeom>
            </p:spPr>
          </p:pic>
          <p:pic>
            <p:nvPicPr>
              <p:cNvPr id="71" name="Graphic 70" descr="Lock with solid fill">
                <a:extLst>
                  <a:ext uri="{FF2B5EF4-FFF2-40B4-BE49-F238E27FC236}">
                    <a16:creationId xmlns:a16="http://schemas.microsoft.com/office/drawing/2014/main" id="{EEA31E8E-F441-2B94-B857-719652C6704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35475" y="4177158"/>
                <a:ext cx="206646" cy="206646"/>
              </a:xfrm>
              <a:prstGeom prst="rect">
                <a:avLst/>
              </a:prstGeom>
            </p:spPr>
          </p:pic>
        </p:grpSp>
        <p:sp>
          <p:nvSpPr>
            <p:cNvPr id="75" name="TextBox 74">
              <a:extLst>
                <a:ext uri="{FF2B5EF4-FFF2-40B4-BE49-F238E27FC236}">
                  <a16:creationId xmlns:a16="http://schemas.microsoft.com/office/drawing/2014/main" id="{49967634-B4EC-19AF-C583-66B27E323421}"/>
                </a:ext>
              </a:extLst>
            </p:cNvPr>
            <p:cNvSpPr txBox="1"/>
            <p:nvPr/>
          </p:nvSpPr>
          <p:spPr>
            <a:xfrm>
              <a:off x="6927746" y="1129006"/>
              <a:ext cx="681084" cy="247934"/>
            </a:xfrm>
            <a:prstGeom prst="rect">
              <a:avLst/>
            </a:prstGeom>
            <a:noFill/>
          </p:spPr>
          <p:txBody>
            <a:bodyPr wrap="none" lIns="0" tIns="36557" rIns="0" bIns="0" rtlCol="0">
              <a:spAutoFit/>
            </a:bodyPr>
            <a:lstStyle/>
            <a:p>
              <a:pPr marL="0" marR="0" lvl="0" indent="0" algn="l" defTabSz="913943" rtl="0" eaLnBrk="1" fontAlgn="auto" latinLnBrk="0" hangingPunct="1">
                <a:lnSpc>
                  <a:spcPct val="85000"/>
                </a:lnSpc>
                <a:spcBef>
                  <a:spcPts val="0"/>
                </a:spcBef>
                <a:spcAft>
                  <a:spcPts val="600"/>
                </a:spcAft>
                <a:buClr>
                  <a:srgbClr val="FFE600"/>
                </a:buClr>
                <a:buSzPct val="70000"/>
                <a:buFontTx/>
                <a:buNone/>
                <a:tabLst/>
                <a:defRPr/>
              </a:pPr>
              <a:r>
                <a:rPr kumimoji="0" lang="en-US" sz="1599" b="0" i="0" u="none" strike="noStrike" kern="1200" cap="none" spc="0" normalizeH="0" baseline="0" noProof="0">
                  <a:ln>
                    <a:noFill/>
                  </a:ln>
                  <a:solidFill>
                    <a:srgbClr val="FFFFFF"/>
                  </a:solidFill>
                  <a:effectLst/>
                  <a:uLnTx/>
                  <a:uFillTx/>
                  <a:latin typeface="EY interstate"/>
                </a:rPr>
                <a:t>Benefits</a:t>
              </a:r>
            </a:p>
          </p:txBody>
        </p:sp>
        <p:sp>
          <p:nvSpPr>
            <p:cNvPr id="76" name="TextBox 75">
              <a:extLst>
                <a:ext uri="{FF2B5EF4-FFF2-40B4-BE49-F238E27FC236}">
                  <a16:creationId xmlns:a16="http://schemas.microsoft.com/office/drawing/2014/main" id="{838879ED-5139-E1DF-DC73-96684339FF5C}"/>
                </a:ext>
              </a:extLst>
            </p:cNvPr>
            <p:cNvSpPr txBox="1"/>
            <p:nvPr/>
          </p:nvSpPr>
          <p:spPr>
            <a:xfrm>
              <a:off x="1123794" y="1129006"/>
              <a:ext cx="1409040" cy="247934"/>
            </a:xfrm>
            <a:prstGeom prst="rect">
              <a:avLst/>
            </a:prstGeom>
            <a:noFill/>
          </p:spPr>
          <p:txBody>
            <a:bodyPr wrap="none" lIns="0" tIns="36557" rIns="0" bIns="0" rtlCol="0">
              <a:spAutoFit/>
            </a:bodyPr>
            <a:lstStyle/>
            <a:p>
              <a:pPr marL="0" marR="0" lvl="0" indent="0" algn="l" defTabSz="913943" rtl="0" eaLnBrk="1" fontAlgn="auto" latinLnBrk="0" hangingPunct="1">
                <a:lnSpc>
                  <a:spcPct val="85000"/>
                </a:lnSpc>
                <a:spcBef>
                  <a:spcPts val="0"/>
                </a:spcBef>
                <a:spcAft>
                  <a:spcPts val="600"/>
                </a:spcAft>
                <a:buClr>
                  <a:srgbClr val="FFE600"/>
                </a:buClr>
                <a:buSzPct val="70000"/>
                <a:buFontTx/>
                <a:buNone/>
                <a:tabLst/>
                <a:defRPr/>
              </a:pPr>
              <a:r>
                <a:rPr kumimoji="0" lang="en-US" sz="1599" b="0" i="0" u="none" strike="noStrike" kern="1200" cap="none" spc="0" normalizeH="0" baseline="0" noProof="0">
                  <a:ln>
                    <a:noFill/>
                  </a:ln>
                  <a:solidFill>
                    <a:srgbClr val="FFFFFF"/>
                  </a:solidFill>
                  <a:effectLst/>
                  <a:uLnTx/>
                  <a:uFillTx/>
                  <a:latin typeface="EY interstate"/>
                </a:rPr>
                <a:t>Design principles</a:t>
              </a:r>
            </a:p>
          </p:txBody>
        </p:sp>
        <p:cxnSp>
          <p:nvCxnSpPr>
            <p:cNvPr id="78" name="Straight Connector 77">
              <a:extLst>
                <a:ext uri="{FF2B5EF4-FFF2-40B4-BE49-F238E27FC236}">
                  <a16:creationId xmlns:a16="http://schemas.microsoft.com/office/drawing/2014/main" id="{072B1C53-0E77-653D-12E3-D7A54BEBA3E3}"/>
                </a:ext>
              </a:extLst>
            </p:cNvPr>
            <p:cNvCxnSpPr/>
            <p:nvPr/>
          </p:nvCxnSpPr>
          <p:spPr>
            <a:xfrm>
              <a:off x="1078896" y="1375080"/>
              <a:ext cx="4185360" cy="0"/>
            </a:xfrm>
            <a:prstGeom prst="line">
              <a:avLst/>
            </a:prstGeom>
            <a:ln w="9525">
              <a:solidFill>
                <a:schemeClr val="bg2"/>
              </a:solidFill>
              <a:tailEnd type="non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4ECDB0CF-C59E-E2C6-04C4-917A334A1FB4}"/>
                </a:ext>
              </a:extLst>
            </p:cNvPr>
            <p:cNvSpPr txBox="1"/>
            <p:nvPr/>
          </p:nvSpPr>
          <p:spPr>
            <a:xfrm>
              <a:off x="1873237" y="2559707"/>
              <a:ext cx="3510462" cy="738279"/>
            </a:xfrm>
            <a:prstGeom prst="rect">
              <a:avLst/>
            </a:prstGeom>
            <a:noFill/>
          </p:spPr>
          <p:txBody>
            <a:bodyPr wrap="square">
              <a:spAutoFit/>
            </a:bodyPr>
            <a:lstStyle/>
            <a:p>
              <a:pPr marL="0" marR="0" lvl="0" indent="0" algn="l" defTabSz="685457" rtl="0" eaLnBrk="1" fontAlgn="auto" latinLnBrk="0" hangingPunct="1">
                <a:lnSpc>
                  <a:spcPct val="100000"/>
                </a:lnSpc>
                <a:spcBef>
                  <a:spcPts val="0"/>
                </a:spcBef>
                <a:spcAft>
                  <a:spcPts val="0"/>
                </a:spcAft>
                <a:buClrTx/>
                <a:buSzTx/>
                <a:buFontTx/>
                <a:buNone/>
                <a:tabLst/>
                <a:defRPr/>
              </a:pPr>
              <a:r>
                <a:rPr kumimoji="0" lang="en-GB" sz="1399" b="0" i="0" u="none" strike="noStrike" kern="1200" cap="none" spc="0" normalizeH="0" baseline="0" noProof="0">
                  <a:ln>
                    <a:noFill/>
                  </a:ln>
                  <a:solidFill>
                    <a:srgbClr val="FFFFFF"/>
                  </a:solidFill>
                  <a:effectLst/>
                  <a:uLnTx/>
                  <a:uFillTx/>
                  <a:latin typeface="EY interstate"/>
                </a:rPr>
                <a:t>A global CoA should be applied to all entities, where possible, to reduce complexity in the RTR process</a:t>
              </a:r>
            </a:p>
          </p:txBody>
        </p:sp>
        <p:pic>
          <p:nvPicPr>
            <p:cNvPr id="81" name="Graphic 80" descr="Earth globe: Africa and Europe with solid fill">
              <a:extLst>
                <a:ext uri="{FF2B5EF4-FFF2-40B4-BE49-F238E27FC236}">
                  <a16:creationId xmlns:a16="http://schemas.microsoft.com/office/drawing/2014/main" id="{8D71C44B-06DE-2EF6-0EDA-84B4839B466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173357" y="2575836"/>
              <a:ext cx="676510" cy="676510"/>
            </a:xfrm>
            <a:prstGeom prst="rect">
              <a:avLst/>
            </a:prstGeom>
          </p:spPr>
        </p:pic>
        <p:cxnSp>
          <p:nvCxnSpPr>
            <p:cNvPr id="83" name="Straight Connector 82">
              <a:extLst>
                <a:ext uri="{FF2B5EF4-FFF2-40B4-BE49-F238E27FC236}">
                  <a16:creationId xmlns:a16="http://schemas.microsoft.com/office/drawing/2014/main" id="{5C385DEA-6662-D6C1-A19E-AC53DBD72D81}"/>
                </a:ext>
              </a:extLst>
            </p:cNvPr>
            <p:cNvCxnSpPr>
              <a:cxnSpLocks/>
            </p:cNvCxnSpPr>
            <p:nvPr/>
          </p:nvCxnSpPr>
          <p:spPr>
            <a:xfrm>
              <a:off x="6927746" y="1385085"/>
              <a:ext cx="3515022" cy="0"/>
            </a:xfrm>
            <a:prstGeom prst="line">
              <a:avLst/>
            </a:prstGeom>
            <a:ln w="9525">
              <a:solidFill>
                <a:schemeClr val="bg2"/>
              </a:solidFill>
              <a:tailEnd type="none"/>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123473F1-C9CA-A723-C5B0-F3F8BB351BA0}"/>
                </a:ext>
              </a:extLst>
            </p:cNvPr>
            <p:cNvGrpSpPr/>
            <p:nvPr/>
          </p:nvGrpSpPr>
          <p:grpSpPr>
            <a:xfrm>
              <a:off x="8176960" y="1701996"/>
              <a:ext cx="822863" cy="778448"/>
              <a:chOff x="6339976" y="4660128"/>
              <a:chExt cx="823292" cy="778853"/>
            </a:xfrm>
          </p:grpSpPr>
          <p:sp>
            <p:nvSpPr>
              <p:cNvPr id="61" name="Oval 60">
                <a:extLst>
                  <a:ext uri="{FF2B5EF4-FFF2-40B4-BE49-F238E27FC236}">
                    <a16:creationId xmlns:a16="http://schemas.microsoft.com/office/drawing/2014/main" id="{121A7656-A8FF-4BCC-7C62-8AD9F92F7F21}"/>
                  </a:ext>
                </a:extLst>
              </p:cNvPr>
              <p:cNvSpPr/>
              <p:nvPr/>
            </p:nvSpPr>
            <p:spPr>
              <a:xfrm>
                <a:off x="6339976" y="4660128"/>
                <a:ext cx="823292" cy="778853"/>
              </a:xfrm>
              <a:prstGeom prst="ellipse">
                <a:avLst/>
              </a:prstGeom>
              <a:solidFill>
                <a:srgbClr val="FFE600"/>
              </a:solidFill>
              <a:ln w="28575" cap="flat" cmpd="sng" algn="ctr">
                <a:solidFill>
                  <a:schemeClr val="tx2"/>
                </a:solidFill>
                <a:prstDash val="solid"/>
              </a:ln>
              <a:effectLst/>
            </p:spPr>
            <p:txBody>
              <a:bodyPr rtlCol="0" anchor="ctr" anchorCtr="0"/>
              <a:lstStyle/>
              <a:p>
                <a:pPr marL="0" marR="0" lvl="0" indent="0" algn="ctr" defTabSz="913486" rtl="0" eaLnBrk="1" fontAlgn="auto" latinLnBrk="0" hangingPunct="1">
                  <a:lnSpc>
                    <a:spcPct val="100000"/>
                  </a:lnSpc>
                  <a:spcBef>
                    <a:spcPts val="0"/>
                  </a:spcBef>
                  <a:spcAft>
                    <a:spcPts val="0"/>
                  </a:spcAft>
                  <a:buClrTx/>
                  <a:buSzTx/>
                  <a:buFontTx/>
                  <a:buNone/>
                  <a:tabLst/>
                  <a:defRPr/>
                </a:pPr>
                <a:endParaRPr kumimoji="0" lang="en-US" sz="1198" b="0" i="0" u="none" strike="noStrike" kern="0" cap="none" spc="0" normalizeH="0" baseline="0" noProof="0">
                  <a:ln>
                    <a:noFill/>
                  </a:ln>
                  <a:solidFill>
                    <a:srgbClr val="FFFFFF"/>
                  </a:solidFill>
                  <a:effectLst/>
                  <a:uLnTx/>
                  <a:uFillTx/>
                  <a:latin typeface="EY interstate"/>
                </a:endParaRPr>
              </a:p>
            </p:txBody>
          </p:sp>
          <p:pic>
            <p:nvPicPr>
              <p:cNvPr id="96" name="Graphic 95" descr="Cause And Effect with solid fill">
                <a:extLst>
                  <a:ext uri="{FF2B5EF4-FFF2-40B4-BE49-F238E27FC236}">
                    <a16:creationId xmlns:a16="http://schemas.microsoft.com/office/drawing/2014/main" id="{7CB1BDA9-6BB3-AA38-5951-CAF12AE8879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559444" y="4861995"/>
                <a:ext cx="415974" cy="415974"/>
              </a:xfrm>
              <a:prstGeom prst="rect">
                <a:avLst/>
              </a:prstGeom>
            </p:spPr>
          </p:pic>
        </p:grpSp>
      </p:grpSp>
    </p:spTree>
    <p:extLst>
      <p:ext uri="{BB962C8B-B14F-4D97-AF65-F5344CB8AC3E}">
        <p14:creationId xmlns:p14="http://schemas.microsoft.com/office/powerpoint/2010/main" val="15157033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C858A3-100A-2496-33E0-E11682AF8096}"/>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BCC43F0E-1A26-6603-830E-39EE7CC1288D}"/>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51" name="Content Placeholder 2">
            <a:extLst>
              <a:ext uri="{FF2B5EF4-FFF2-40B4-BE49-F238E27FC236}">
                <a16:creationId xmlns:a16="http://schemas.microsoft.com/office/drawing/2014/main" id="{C7CB8A7B-D3F0-D092-4980-1F4A080364A7}"/>
              </a:ext>
            </a:extLst>
          </p:cNvPr>
          <p:cNvSpPr txBox="1">
            <a:spLocks/>
          </p:cNvSpPr>
          <p:nvPr/>
        </p:nvSpPr>
        <p:spPr>
          <a:xfrm>
            <a:off x="609601" y="1074019"/>
            <a:ext cx="10972800" cy="5619750"/>
          </a:xfrm>
          <a:prstGeom prst="rect">
            <a:avLst/>
          </a:prstGeom>
        </p:spPr>
        <p:txBody>
          <a:bodyPr/>
          <a:lstStyle>
            <a:lvl1pPr marL="356442" marR="0" lvl="0" indent="-356442" algn="l" defTabSz="913942" rtl="0" fontAlgn="auto" hangingPunct="1">
              <a:lnSpc>
                <a:spcPct val="100000"/>
              </a:lnSpc>
              <a:spcBef>
                <a:spcPts val="500"/>
              </a:spcBef>
              <a:spcAft>
                <a:spcPts val="0"/>
              </a:spcAft>
              <a:buClr>
                <a:srgbClr val="FFE600"/>
              </a:buClr>
              <a:buSzPct val="110000"/>
              <a:buFont typeface="EYInterstate Light" pitchFamily="2"/>
              <a:buChar char="•"/>
              <a:tabLst/>
              <a:defRPr lang="en-US" sz="1999" b="0" i="0" u="none" strike="noStrike" kern="1200" cap="none" spc="0" baseline="0">
                <a:solidFill>
                  <a:srgbClr val="FFFFFF"/>
                </a:solidFill>
                <a:uFillTx/>
                <a:latin typeface="EYInterstate Light" pitchFamily="2"/>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l-PL" sz="2000">
                <a:latin typeface="EYInterstate" panose="02000503020000020004" pitchFamily="2" charset="0"/>
              </a:rPr>
              <a:t>Construction and division of accounts:</a:t>
            </a:r>
          </a:p>
          <a:p>
            <a:pPr>
              <a:buFont typeface="Wingdings" panose="05000000000000000000" pitchFamily="2" charset="2"/>
              <a:buChar char="Ø"/>
            </a:pPr>
            <a:r>
              <a:rPr lang="pl-PL" sz="1600">
                <a:latin typeface="EYInterstate" panose="02000503020000020004" pitchFamily="2" charset="0"/>
              </a:rPr>
              <a:t>The account should contain:</a:t>
            </a:r>
          </a:p>
          <a:p>
            <a:pPr lvl="1">
              <a:buFont typeface="Arial" panose="020B0604020202020204" pitchFamily="34" charset="0"/>
              <a:buChar char="•"/>
            </a:pPr>
            <a:r>
              <a:rPr lang="pl-PL" sz="1200">
                <a:latin typeface="EYInterstate" panose="02000503020000020004" pitchFamily="2" charset="0"/>
              </a:rPr>
              <a:t>The name and its digital symbol, which indicates its place into the company’s chart of account;</a:t>
            </a:r>
          </a:p>
          <a:p>
            <a:pPr lvl="1">
              <a:buFont typeface="Arial" panose="020B0604020202020204" pitchFamily="34" charset="0"/>
              <a:buChar char="•"/>
            </a:pPr>
            <a:r>
              <a:rPr lang="pl-PL" sz="1200">
                <a:latin typeface="EYInterstate" panose="02000503020000020004" pitchFamily="2" charset="0"/>
              </a:rPr>
              <a:t>The possibility of identifying the event (date of recording, number and type of evidence and content of the operation);</a:t>
            </a:r>
          </a:p>
          <a:p>
            <a:pPr lvl="1">
              <a:buFont typeface="Arial" panose="020B0604020202020204" pitchFamily="34" charset="0"/>
              <a:buChar char="•"/>
            </a:pPr>
            <a:r>
              <a:rPr lang="pl-PL" sz="1200">
                <a:latin typeface="EYInterstate" panose="02000503020000020004" pitchFamily="2" charset="0"/>
              </a:rPr>
              <a:t>Amount of operation;</a:t>
            </a:r>
          </a:p>
          <a:p>
            <a:pPr lvl="1">
              <a:buFont typeface="Arial" panose="020B0604020202020204" pitchFamily="34" charset="0"/>
              <a:buChar char="•"/>
            </a:pPr>
            <a:r>
              <a:rPr lang="pl-PL" sz="1200">
                <a:latin typeface="EYInterstate" panose="02000503020000020004" pitchFamily="2" charset="0"/>
              </a:rPr>
              <a:t>Two side of the account debit (Dt) and credit (Wn). Division of the account into the left side, in which for active accounts we record operation that increase their value. However, for passive accounts, the left side presents changes that reduce their value.</a:t>
            </a:r>
          </a:p>
          <a:p>
            <a:pPr lvl="1">
              <a:buFont typeface="Arial" panose="020B0604020202020204" pitchFamily="34" charset="0"/>
              <a:buChar char="•"/>
            </a:pPr>
            <a:r>
              <a:rPr lang="pl-PL" sz="1200">
                <a:latin typeface="EYInterstate" panose="02000503020000020004" pitchFamily="2" charset="0"/>
              </a:rPr>
              <a:t>Division of the account into a right side, in which we record a decrease in value for active accounts. Similarly, for passive accounts, it shows positive events.</a:t>
            </a:r>
          </a:p>
          <a:p>
            <a:pPr>
              <a:buFont typeface="Wingdings" panose="05000000000000000000" pitchFamily="2" charset="2"/>
              <a:buChar char="Ø"/>
            </a:pPr>
            <a:r>
              <a:rPr lang="pl-PL" sz="1600">
                <a:latin typeface="EYInterstate" panose="02000503020000020004" pitchFamily="2" charset="0"/>
              </a:rPr>
              <a:t>Construction of general ledger account are usually marked with 3 digits. There are usually 9 teams, marked from 0 to 8, as below:</a:t>
            </a:r>
          </a:p>
          <a:p>
            <a:pPr lvl="1">
              <a:buFont typeface="Arial" panose="020B0604020202020204" pitchFamily="34" charset="0"/>
              <a:buChar char="•"/>
            </a:pPr>
            <a:r>
              <a:rPr lang="pl-PL" sz="1200">
                <a:latin typeface="EYInterstate" panose="02000503020000020004" pitchFamily="2" charset="0"/>
              </a:rPr>
              <a:t>0 – Non-current assets, there include (for example: 010 – Fixed assets, 020 – Intangible assets, 070 – Write-off of fixed assets);</a:t>
            </a:r>
          </a:p>
          <a:p>
            <a:pPr lvl="1">
              <a:buFont typeface="Arial" panose="020B0604020202020204" pitchFamily="34" charset="0"/>
              <a:buChar char="•"/>
            </a:pPr>
            <a:r>
              <a:rPr lang="pl-PL" sz="1200">
                <a:latin typeface="EYInterstate" panose="02000503020000020004" pitchFamily="2" charset="0"/>
              </a:rPr>
              <a:t>1 – Cash in hand and bank account and other short term financing assets (for example: 100 – Cash, 130 – Current account, 145 – cash on the way)</a:t>
            </a:r>
          </a:p>
          <a:p>
            <a:pPr lvl="1">
              <a:buFont typeface="Arial" panose="020B0604020202020204" pitchFamily="34" charset="0"/>
              <a:buChar char="•"/>
            </a:pPr>
            <a:r>
              <a:rPr lang="pl-PL" sz="1200">
                <a:latin typeface="EYInterstate" panose="02000503020000020004" pitchFamily="2" charset="0"/>
              </a:rPr>
              <a:t>2 – Settlements and claims (for example: 200 – Receivable accounts, 220 – public settlements, 240 – other settlements</a:t>
            </a:r>
          </a:p>
          <a:p>
            <a:pPr lvl="1">
              <a:buFont typeface="Arial" panose="020B0604020202020204" pitchFamily="34" charset="0"/>
              <a:buChar char="•"/>
            </a:pPr>
            <a:r>
              <a:rPr lang="pl-PL" sz="1200">
                <a:latin typeface="EYInterstate" panose="02000503020000020004" pitchFamily="2" charset="0"/>
              </a:rPr>
              <a:t>3 – Materials and goods (for example: 301 – purchase of materials, 310 – materials, 390 external stocks);</a:t>
            </a:r>
          </a:p>
          <a:p>
            <a:pPr lvl="1">
              <a:buFont typeface="Arial" panose="020B0604020202020204" pitchFamily="34" charset="0"/>
              <a:buChar char="•"/>
            </a:pPr>
            <a:r>
              <a:rPr lang="pl-PL" sz="1200">
                <a:latin typeface="EYInterstate" panose="02000503020000020004" pitchFamily="2" charset="0"/>
              </a:rPr>
              <a:t>4 – Costs accounts (for example: 400 – depreciation, 402 – external services, 409 – other costs);</a:t>
            </a:r>
          </a:p>
          <a:p>
            <a:pPr lvl="1">
              <a:buFont typeface="Arial" panose="020B0604020202020204" pitchFamily="34" charset="0"/>
              <a:buChar char="•"/>
            </a:pPr>
            <a:r>
              <a:rPr lang="pl-PL" sz="1200">
                <a:latin typeface="EYInterstate" panose="02000503020000020004" pitchFamily="2" charset="0"/>
              </a:rPr>
              <a:t>5 – Costs by type of activity and settlement (for example: 500 – costs of core business, 522 – purchase costs, 550 – management costs);</a:t>
            </a:r>
          </a:p>
          <a:p>
            <a:pPr lvl="1">
              <a:buFont typeface="Arial" panose="020B0604020202020204" pitchFamily="34" charset="0"/>
              <a:buChar char="•"/>
            </a:pPr>
            <a:r>
              <a:rPr lang="pl-PL" sz="1200">
                <a:latin typeface="EYInterstate" panose="02000503020000020004" pitchFamily="2" charset="0"/>
              </a:rPr>
              <a:t>6 – Accruals (for example: 601 – finished products, 602 – semi-finished products, 603 – work in progress);</a:t>
            </a:r>
          </a:p>
          <a:p>
            <a:pPr lvl="1">
              <a:buFont typeface="Arial" panose="020B0604020202020204" pitchFamily="34" charset="0"/>
              <a:buChar char="•"/>
            </a:pPr>
            <a:r>
              <a:rPr lang="pl-PL" sz="1200">
                <a:latin typeface="EYInterstate" panose="02000503020000020004" pitchFamily="2" charset="0"/>
              </a:rPr>
              <a:t>7 – Revenues and costs related to their achievement (for example: 701 net revenues from the sale of finished products, 750 – financial revenues, 771 – extraordinary losses);</a:t>
            </a:r>
          </a:p>
          <a:p>
            <a:pPr lvl="1">
              <a:buFont typeface="Arial" panose="020B0604020202020204" pitchFamily="34" charset="0"/>
              <a:buChar char="•"/>
            </a:pPr>
            <a:r>
              <a:rPr lang="pl-PL" sz="1200">
                <a:latin typeface="EYInterstate" panose="02000503020000020004" pitchFamily="2" charset="0"/>
              </a:rPr>
              <a:t>8 – Equity, special funds and profit or loss (for example: 801 – share capital/owner, 840 – provisions, 860 – profit or loss).</a:t>
            </a:r>
          </a:p>
          <a:p>
            <a:pPr lvl="1">
              <a:buFont typeface="Arial" panose="020B0604020202020204" pitchFamily="34" charset="0"/>
              <a:buChar char="•"/>
            </a:pPr>
            <a:endParaRPr lang="pl-PL" sz="1200">
              <a:latin typeface="EYInterstate" panose="02000503020000020004" pitchFamily="2" charset="0"/>
            </a:endParaRPr>
          </a:p>
          <a:p>
            <a:pPr lvl="1">
              <a:buFont typeface="Arial" panose="020B0604020202020204" pitchFamily="34" charset="0"/>
              <a:buChar char="•"/>
            </a:pPr>
            <a:endParaRPr lang="pl-PL" sz="1200"/>
          </a:p>
          <a:p>
            <a:pPr lvl="1">
              <a:buFont typeface="Arial" panose="020B0604020202020204" pitchFamily="34" charset="0"/>
              <a:buChar char="•"/>
            </a:pPr>
            <a:endParaRPr lang="pl-PL"/>
          </a:p>
          <a:p>
            <a:pPr>
              <a:buFont typeface="Wingdings" panose="05000000000000000000" pitchFamily="2" charset="2"/>
              <a:buChar char="ü"/>
            </a:pPr>
            <a:endParaRPr lang="pl-PL"/>
          </a:p>
        </p:txBody>
      </p:sp>
      <p:sp>
        <p:nvSpPr>
          <p:cNvPr id="55" name="Title 1">
            <a:extLst>
              <a:ext uri="{FF2B5EF4-FFF2-40B4-BE49-F238E27FC236}">
                <a16:creationId xmlns:a16="http://schemas.microsoft.com/office/drawing/2014/main" id="{86259A70-2C60-8694-B8F0-618CC2F50882}"/>
              </a:ext>
            </a:extLst>
          </p:cNvPr>
          <p:cNvSpPr txBox="1">
            <a:spLocks/>
          </p:cNvSpPr>
          <p:nvPr/>
        </p:nvSpPr>
        <p:spPr>
          <a:xfrm>
            <a:off x="553013" y="91079"/>
            <a:ext cx="10972800" cy="860400"/>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br>
              <a:rPr lang="pl-PL"/>
            </a:br>
            <a:r>
              <a:rPr lang="pl-PL"/>
              <a:t>Chart of Account (Overview)</a:t>
            </a:r>
          </a:p>
        </p:txBody>
      </p:sp>
    </p:spTree>
    <p:extLst>
      <p:ext uri="{BB962C8B-B14F-4D97-AF65-F5344CB8AC3E}">
        <p14:creationId xmlns:p14="http://schemas.microsoft.com/office/powerpoint/2010/main" val="50895475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08BC8E-E658-1C9C-FB07-2581F1DDAE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EBB6F2A-C299-6A63-68F4-9ECE9FC9A49B}"/>
              </a:ext>
            </a:extLst>
          </p:cNvPr>
          <p:cNvSpPr txBox="1">
            <a:spLocks noGrp="1"/>
          </p:cNvSpPr>
          <p:nvPr>
            <p:ph type="title"/>
          </p:nvPr>
        </p:nvSpPr>
        <p:spPr>
          <a:xfrm>
            <a:off x="537954" y="426468"/>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Chart of Accounts(CoA)</a:t>
            </a:r>
          </a:p>
        </p:txBody>
      </p:sp>
      <p:sp>
        <p:nvSpPr>
          <p:cNvPr id="3" name="TextBox 2">
            <a:extLst>
              <a:ext uri="{FF2B5EF4-FFF2-40B4-BE49-F238E27FC236}">
                <a16:creationId xmlns:a16="http://schemas.microsoft.com/office/drawing/2014/main" id="{1E5CEAE1-AF63-D78C-0135-B1A83A6D6CF7}"/>
              </a:ext>
            </a:extLst>
          </p:cNvPr>
          <p:cNvSpPr txBox="1"/>
          <p:nvPr/>
        </p:nvSpPr>
        <p:spPr>
          <a:xfrm>
            <a:off x="564078" y="967387"/>
            <a:ext cx="5746044" cy="2092881"/>
          </a:xfrm>
          <a:prstGeom prst="rect">
            <a:avLst/>
          </a:prstGeom>
          <a:noFill/>
        </p:spPr>
        <p:txBody>
          <a:bodyPr wrap="square" rtlCol="0">
            <a:spAutoFit/>
          </a:bodyPr>
          <a:lstStyle/>
          <a:p>
            <a:pPr>
              <a:buClr>
                <a:srgbClr val="FFE600"/>
              </a:buClr>
            </a:pPr>
            <a:r>
              <a:rPr lang="en-IN" sz="1600" b="1">
                <a:solidFill>
                  <a:schemeClr val="bg1"/>
                </a:solidFill>
                <a:latin typeface="EY interstate"/>
              </a:rPr>
              <a:t>Overview:</a:t>
            </a:r>
            <a:endParaRPr lang="en-IN" sz="1600">
              <a:solidFill>
                <a:schemeClr val="bg1"/>
              </a:solidFill>
              <a:latin typeface="EY interstate"/>
            </a:endParaRPr>
          </a:p>
          <a:p>
            <a:pPr marL="285750" indent="-285750">
              <a:buClr>
                <a:srgbClr val="FFE600"/>
              </a:buClr>
              <a:buFont typeface="Arial" panose="020B0604020202020204" pitchFamily="34" charset="0"/>
              <a:buChar char="•"/>
            </a:pPr>
            <a:r>
              <a:rPr lang="en-IN" sz="1600">
                <a:solidFill>
                  <a:schemeClr val="bg1"/>
                </a:solidFill>
                <a:latin typeface="EY interstate"/>
              </a:rPr>
              <a:t>CoA is a structured list of all accounts used by a company to organize its financial data, enabling seamless tracking, analysis, and reporting of financial performance.</a:t>
            </a:r>
          </a:p>
          <a:p>
            <a:pPr marL="285750" indent="-285750">
              <a:buClr>
                <a:srgbClr val="FFE600"/>
              </a:buClr>
              <a:buFont typeface="Arial" panose="020B0604020202020204" pitchFamily="34" charset="0"/>
              <a:buChar char="•"/>
            </a:pPr>
            <a:r>
              <a:rPr lang="en-IN" sz="1600">
                <a:solidFill>
                  <a:schemeClr val="bg1"/>
                </a:solidFill>
                <a:latin typeface="EY interstate"/>
              </a:rPr>
              <a:t>It provides a standardized language for financial reporting, ensuring that stakeholders—from internal management to external auditors—can interpret financial data with clarity and precision</a:t>
            </a:r>
            <a:endParaRPr lang="en-IN" sz="1600">
              <a:latin typeface="EY interstate"/>
            </a:endParaRPr>
          </a:p>
        </p:txBody>
      </p:sp>
      <p:sp>
        <p:nvSpPr>
          <p:cNvPr id="11" name="TextBox 10">
            <a:extLst>
              <a:ext uri="{FF2B5EF4-FFF2-40B4-BE49-F238E27FC236}">
                <a16:creationId xmlns:a16="http://schemas.microsoft.com/office/drawing/2014/main" id="{7FD9EC8E-42F9-3330-4388-12A859C6CA6F}"/>
              </a:ext>
            </a:extLst>
          </p:cNvPr>
          <p:cNvSpPr txBox="1"/>
          <p:nvPr/>
        </p:nvSpPr>
        <p:spPr>
          <a:xfrm>
            <a:off x="564078" y="3119496"/>
            <a:ext cx="5404922" cy="1107996"/>
          </a:xfrm>
          <a:prstGeom prst="rect">
            <a:avLst/>
          </a:prstGeom>
          <a:noFill/>
        </p:spPr>
        <p:txBody>
          <a:bodyPr wrap="square" rtlCol="0">
            <a:spAutoFit/>
          </a:bodyPr>
          <a:lstStyle/>
          <a:p>
            <a:r>
              <a:rPr lang="en-IN" sz="1600" b="1">
                <a:solidFill>
                  <a:schemeClr val="bg1"/>
                </a:solidFill>
                <a:latin typeface="EY interstate"/>
              </a:rPr>
              <a:t>Purpose :</a:t>
            </a:r>
            <a:r>
              <a:rPr lang="en-IN" sz="1600">
                <a:solidFill>
                  <a:schemeClr val="bg1"/>
                </a:solidFill>
                <a:latin typeface="EY interstate"/>
              </a:rPr>
              <a:t>  </a:t>
            </a:r>
          </a:p>
          <a:p>
            <a:r>
              <a:rPr lang="en-IN" sz="1600">
                <a:solidFill>
                  <a:schemeClr val="bg1"/>
                </a:solidFill>
                <a:latin typeface="EY interstate"/>
              </a:rPr>
              <a:t>To provide a standardized structure for recording financial transactions, ensuring consistency, accuracy, and ease of reporting.</a:t>
            </a:r>
          </a:p>
        </p:txBody>
      </p:sp>
      <p:sp>
        <p:nvSpPr>
          <p:cNvPr id="13" name="TextBox 12">
            <a:extLst>
              <a:ext uri="{FF2B5EF4-FFF2-40B4-BE49-F238E27FC236}">
                <a16:creationId xmlns:a16="http://schemas.microsoft.com/office/drawing/2014/main" id="{D4895FE3-8461-707A-FBB0-BE6C0DCBAF1F}"/>
              </a:ext>
            </a:extLst>
          </p:cNvPr>
          <p:cNvSpPr txBox="1"/>
          <p:nvPr/>
        </p:nvSpPr>
        <p:spPr>
          <a:xfrm>
            <a:off x="6422896" y="999591"/>
            <a:ext cx="3927699" cy="338554"/>
          </a:xfrm>
          <a:prstGeom prst="rect">
            <a:avLst/>
          </a:prstGeom>
          <a:noFill/>
        </p:spPr>
        <p:txBody>
          <a:bodyPr wrap="square" rtlCol="0">
            <a:spAutoFit/>
          </a:bodyPr>
          <a:lstStyle/>
          <a:p>
            <a:r>
              <a:rPr lang="en-IN" sz="1600" b="1">
                <a:solidFill>
                  <a:schemeClr val="bg1"/>
                </a:solidFill>
                <a:latin typeface="EY interstate"/>
              </a:rPr>
              <a:t>Role of Best in Class CoA:</a:t>
            </a:r>
          </a:p>
        </p:txBody>
      </p:sp>
      <p:sp>
        <p:nvSpPr>
          <p:cNvPr id="10" name="TextBox 9">
            <a:extLst>
              <a:ext uri="{FF2B5EF4-FFF2-40B4-BE49-F238E27FC236}">
                <a16:creationId xmlns:a16="http://schemas.microsoft.com/office/drawing/2014/main" id="{6B5BC270-C3AA-9E88-43B0-610ACE078E48}"/>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0" name="TextBox 29">
            <a:extLst>
              <a:ext uri="{FF2B5EF4-FFF2-40B4-BE49-F238E27FC236}">
                <a16:creationId xmlns:a16="http://schemas.microsoft.com/office/drawing/2014/main" id="{3A8BAC80-843B-2158-D75B-17A1A29B0859}"/>
              </a:ext>
            </a:extLst>
          </p:cNvPr>
          <p:cNvSpPr txBox="1"/>
          <p:nvPr/>
        </p:nvSpPr>
        <p:spPr>
          <a:xfrm>
            <a:off x="6464494" y="1333355"/>
            <a:ext cx="3605019" cy="2908489"/>
          </a:xfrm>
          <a:prstGeom prst="rect">
            <a:avLst/>
          </a:prstGeom>
          <a:noFill/>
        </p:spPr>
        <p:txBody>
          <a:bodyPr wrap="square" lIns="91440" tIns="45720" rIns="91440" bIns="45720" numCol="1" rtlCol="0" anchor="t">
            <a:spAutoFit/>
          </a:bodyPr>
          <a:lstStyle/>
          <a:p>
            <a:pPr marL="285750" indent="-285750">
              <a:lnSpc>
                <a:spcPct val="150000"/>
              </a:lnSpc>
              <a:buClr>
                <a:srgbClr val="FFE600"/>
              </a:buClr>
              <a:buFont typeface="Arial" panose="020B0604020202020204" pitchFamily="34" charset="0"/>
              <a:buChar char="•"/>
            </a:pPr>
            <a:r>
              <a:rPr lang="en-IN" sz="1600">
                <a:solidFill>
                  <a:schemeClr val="bg1"/>
                </a:solidFill>
                <a:latin typeface="EY interstate"/>
              </a:rPr>
              <a:t>Accurate Financial Reporting </a:t>
            </a:r>
          </a:p>
          <a:p>
            <a:pPr marL="285750" indent="-285750">
              <a:lnSpc>
                <a:spcPct val="150000"/>
              </a:lnSpc>
              <a:buClr>
                <a:srgbClr val="FFE600"/>
              </a:buClr>
              <a:buFont typeface="Arial" panose="020B0604020202020204" pitchFamily="34" charset="0"/>
              <a:buChar char="•"/>
            </a:pPr>
            <a:r>
              <a:rPr lang="en-IN" sz="1600">
                <a:solidFill>
                  <a:schemeClr val="bg1"/>
                </a:solidFill>
                <a:latin typeface="EY interstate"/>
              </a:rPr>
              <a:t>Compliance and audit </a:t>
            </a:r>
          </a:p>
          <a:p>
            <a:pPr marL="285750" indent="-285750">
              <a:lnSpc>
                <a:spcPct val="150000"/>
              </a:lnSpc>
              <a:buClr>
                <a:srgbClr val="FFE600"/>
              </a:buClr>
              <a:buFont typeface="Arial" panose="020B0604020202020204" pitchFamily="34" charset="0"/>
              <a:buChar char="•"/>
            </a:pPr>
            <a:r>
              <a:rPr lang="en-IN" sz="1600">
                <a:solidFill>
                  <a:schemeClr val="bg1"/>
                </a:solidFill>
                <a:latin typeface="EY interstate"/>
              </a:rPr>
              <a:t>Facilitates Efficient Consolidation </a:t>
            </a:r>
          </a:p>
          <a:p>
            <a:pPr marL="285750" indent="-285750">
              <a:lnSpc>
                <a:spcPct val="150000"/>
              </a:lnSpc>
              <a:buClr>
                <a:srgbClr val="FFE600"/>
              </a:buClr>
              <a:buFont typeface="Arial" panose="020B0604020202020204" pitchFamily="34" charset="0"/>
              <a:buChar char="•"/>
            </a:pPr>
            <a:r>
              <a:rPr lang="en-IN" sz="1600">
                <a:solidFill>
                  <a:schemeClr val="bg1"/>
                </a:solidFill>
                <a:latin typeface="EY interstate"/>
              </a:rPr>
              <a:t>Data Analysis and Insight  </a:t>
            </a:r>
          </a:p>
          <a:p>
            <a:pPr marL="285750" indent="-285750">
              <a:lnSpc>
                <a:spcPct val="150000"/>
              </a:lnSpc>
              <a:buClr>
                <a:srgbClr val="FFE600"/>
              </a:buClr>
              <a:buFont typeface="Arial" panose="020B0604020202020204" pitchFamily="34" charset="0"/>
              <a:buChar char="•"/>
            </a:pPr>
            <a:r>
              <a:rPr lang="en-IN" sz="1600">
                <a:solidFill>
                  <a:schemeClr val="bg1"/>
                </a:solidFill>
                <a:latin typeface="EY interstate"/>
              </a:rPr>
              <a:t>ERP System Integration</a:t>
            </a:r>
          </a:p>
          <a:p>
            <a:pPr marL="285750" indent="-285750">
              <a:lnSpc>
                <a:spcPct val="150000"/>
              </a:lnSpc>
              <a:buClr>
                <a:srgbClr val="FFE600"/>
              </a:buClr>
              <a:buFont typeface="Arial" panose="020B0604020202020204" pitchFamily="34" charset="0"/>
              <a:buChar char="•"/>
            </a:pPr>
            <a:r>
              <a:rPr lang="en-IN" sz="1600">
                <a:solidFill>
                  <a:schemeClr val="bg1"/>
                </a:solidFill>
                <a:latin typeface="EY interstate"/>
              </a:rPr>
              <a:t>Cost Allocation</a:t>
            </a:r>
          </a:p>
          <a:p>
            <a:pPr marL="285750" indent="-285750">
              <a:buClr>
                <a:srgbClr val="FFE600"/>
              </a:buClr>
              <a:buFont typeface="Arial" panose="020B0604020202020204" pitchFamily="34" charset="0"/>
              <a:buChar char="•"/>
            </a:pPr>
            <a:endParaRPr lang="en-IN">
              <a:solidFill>
                <a:schemeClr val="bg1"/>
              </a:solidFill>
              <a:latin typeface="EY interstate"/>
            </a:endParaRPr>
          </a:p>
          <a:p>
            <a:pPr marL="285750" indent="-285750">
              <a:buClr>
                <a:srgbClr val="FFE600"/>
              </a:buClr>
              <a:buFont typeface="Arial" panose="020B0604020202020204" pitchFamily="34" charset="0"/>
              <a:buChar char="•"/>
            </a:pPr>
            <a:endParaRPr lang="en-IN">
              <a:solidFill>
                <a:schemeClr val="bg1"/>
              </a:solidFill>
              <a:latin typeface="EY interstate"/>
            </a:endParaRPr>
          </a:p>
        </p:txBody>
      </p:sp>
      <p:grpSp>
        <p:nvGrpSpPr>
          <p:cNvPr id="52" name="Group 51">
            <a:extLst>
              <a:ext uri="{FF2B5EF4-FFF2-40B4-BE49-F238E27FC236}">
                <a16:creationId xmlns:a16="http://schemas.microsoft.com/office/drawing/2014/main" id="{3A4B8E0F-D3E8-9987-40B4-B84E6F0DF8C9}"/>
              </a:ext>
            </a:extLst>
          </p:cNvPr>
          <p:cNvGrpSpPr/>
          <p:nvPr/>
        </p:nvGrpSpPr>
        <p:grpSpPr>
          <a:xfrm>
            <a:off x="564077" y="4516309"/>
            <a:ext cx="11097505" cy="1737881"/>
            <a:chOff x="1051648" y="6459699"/>
            <a:chExt cx="11097505" cy="1737881"/>
          </a:xfrm>
        </p:grpSpPr>
        <p:sp>
          <p:nvSpPr>
            <p:cNvPr id="4" name="Parallelogram 3">
              <a:extLst>
                <a:ext uri="{FF2B5EF4-FFF2-40B4-BE49-F238E27FC236}">
                  <a16:creationId xmlns:a16="http://schemas.microsoft.com/office/drawing/2014/main" id="{0AC8F4C0-1F6D-493D-BD59-D4A871D7898E}"/>
                </a:ext>
              </a:extLst>
            </p:cNvPr>
            <p:cNvSpPr/>
            <p:nvPr/>
          </p:nvSpPr>
          <p:spPr>
            <a:xfrm>
              <a:off x="1085740"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5" name="Parallelogram 4">
              <a:extLst>
                <a:ext uri="{FF2B5EF4-FFF2-40B4-BE49-F238E27FC236}">
                  <a16:creationId xmlns:a16="http://schemas.microsoft.com/office/drawing/2014/main" id="{3157B818-05A5-41C2-18EC-CEB2B04A9933}"/>
                </a:ext>
              </a:extLst>
            </p:cNvPr>
            <p:cNvSpPr/>
            <p:nvPr/>
          </p:nvSpPr>
          <p:spPr>
            <a:xfrm>
              <a:off x="2677811"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6" name="Parallelogram 5">
              <a:extLst>
                <a:ext uri="{FF2B5EF4-FFF2-40B4-BE49-F238E27FC236}">
                  <a16:creationId xmlns:a16="http://schemas.microsoft.com/office/drawing/2014/main" id="{7697B99E-7655-5137-D384-E87E655DEE08}"/>
                </a:ext>
              </a:extLst>
            </p:cNvPr>
            <p:cNvSpPr/>
            <p:nvPr/>
          </p:nvSpPr>
          <p:spPr>
            <a:xfrm>
              <a:off x="4269882"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7" name="Parallelogram 6">
              <a:extLst>
                <a:ext uri="{FF2B5EF4-FFF2-40B4-BE49-F238E27FC236}">
                  <a16:creationId xmlns:a16="http://schemas.microsoft.com/office/drawing/2014/main" id="{47ED45A6-E40A-30AA-B11C-558720A12B55}"/>
                </a:ext>
              </a:extLst>
            </p:cNvPr>
            <p:cNvSpPr/>
            <p:nvPr/>
          </p:nvSpPr>
          <p:spPr>
            <a:xfrm>
              <a:off x="5861951"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8" name="Parallelogram 7">
              <a:extLst>
                <a:ext uri="{FF2B5EF4-FFF2-40B4-BE49-F238E27FC236}">
                  <a16:creationId xmlns:a16="http://schemas.microsoft.com/office/drawing/2014/main" id="{8602DBD9-D301-A416-FD04-DF4D95A1A5D6}"/>
                </a:ext>
              </a:extLst>
            </p:cNvPr>
            <p:cNvSpPr/>
            <p:nvPr/>
          </p:nvSpPr>
          <p:spPr>
            <a:xfrm>
              <a:off x="1051650"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9" name="Parallelogram 8">
              <a:extLst>
                <a:ext uri="{FF2B5EF4-FFF2-40B4-BE49-F238E27FC236}">
                  <a16:creationId xmlns:a16="http://schemas.microsoft.com/office/drawing/2014/main" id="{41ECF52F-21C5-F2B9-AB6C-8714643DAC10}"/>
                </a:ext>
              </a:extLst>
            </p:cNvPr>
            <p:cNvSpPr/>
            <p:nvPr/>
          </p:nvSpPr>
          <p:spPr>
            <a:xfrm>
              <a:off x="2643720"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12" name="Parallelogram 11">
              <a:extLst>
                <a:ext uri="{FF2B5EF4-FFF2-40B4-BE49-F238E27FC236}">
                  <a16:creationId xmlns:a16="http://schemas.microsoft.com/office/drawing/2014/main" id="{F08BBCCB-5930-1A65-3B4F-364D806DD9F6}"/>
                </a:ext>
              </a:extLst>
            </p:cNvPr>
            <p:cNvSpPr/>
            <p:nvPr/>
          </p:nvSpPr>
          <p:spPr>
            <a:xfrm>
              <a:off x="4235789"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14" name="Parallelogram 13">
              <a:extLst>
                <a:ext uri="{FF2B5EF4-FFF2-40B4-BE49-F238E27FC236}">
                  <a16:creationId xmlns:a16="http://schemas.microsoft.com/office/drawing/2014/main" id="{B4522E15-33E9-3A16-FF6D-69AA0653CCA9}"/>
                </a:ext>
              </a:extLst>
            </p:cNvPr>
            <p:cNvSpPr/>
            <p:nvPr/>
          </p:nvSpPr>
          <p:spPr>
            <a:xfrm>
              <a:off x="5827859"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cxnSp>
          <p:nvCxnSpPr>
            <p:cNvPr id="15" name="Straight Arrow Connector 14">
              <a:extLst>
                <a:ext uri="{FF2B5EF4-FFF2-40B4-BE49-F238E27FC236}">
                  <a16:creationId xmlns:a16="http://schemas.microsoft.com/office/drawing/2014/main" id="{FB3EBE04-A29E-FD48-E9E0-6ABBC4E7B3CE}"/>
                </a:ext>
              </a:extLst>
            </p:cNvPr>
            <p:cNvCxnSpPr>
              <a:cxnSpLocks/>
            </p:cNvCxnSpPr>
            <p:nvPr/>
          </p:nvCxnSpPr>
          <p:spPr>
            <a:xfrm>
              <a:off x="2546108" y="7370148"/>
              <a:ext cx="143766" cy="0"/>
            </a:xfrm>
            <a:prstGeom prst="straightConnector1">
              <a:avLst/>
            </a:prstGeom>
            <a:ln w="28575">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D808899B-9567-E27B-E91A-80B5910A8E79}"/>
                </a:ext>
              </a:extLst>
            </p:cNvPr>
            <p:cNvCxnSpPr>
              <a:cxnSpLocks/>
            </p:cNvCxnSpPr>
            <p:nvPr/>
          </p:nvCxnSpPr>
          <p:spPr>
            <a:xfrm>
              <a:off x="4138178" y="7370148"/>
              <a:ext cx="143766" cy="0"/>
            </a:xfrm>
            <a:prstGeom prst="straightConnector1">
              <a:avLst/>
            </a:prstGeom>
            <a:ln w="28575">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BF6E79A1-01E1-85BC-24F5-39926619CE3C}"/>
                </a:ext>
              </a:extLst>
            </p:cNvPr>
            <p:cNvCxnSpPr>
              <a:cxnSpLocks/>
            </p:cNvCxnSpPr>
            <p:nvPr/>
          </p:nvCxnSpPr>
          <p:spPr>
            <a:xfrm>
              <a:off x="5730247" y="7370148"/>
              <a:ext cx="143766" cy="0"/>
            </a:xfrm>
            <a:prstGeom prst="straightConnector1">
              <a:avLst/>
            </a:prstGeom>
            <a:ln w="28575">
              <a:solidFill>
                <a:srgbClr val="747480"/>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82">
              <a:extLst>
                <a:ext uri="{FF2B5EF4-FFF2-40B4-BE49-F238E27FC236}">
                  <a16:creationId xmlns:a16="http://schemas.microsoft.com/office/drawing/2014/main" id="{8139F143-9EDE-9550-0ACC-1D4ECBA1B1B0}"/>
                </a:ext>
              </a:extLst>
            </p:cNvPr>
            <p:cNvSpPr txBox="1"/>
            <p:nvPr/>
          </p:nvSpPr>
          <p:spPr>
            <a:xfrm>
              <a:off x="1186856" y="7231650"/>
              <a:ext cx="1292460"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Legal entity</a:t>
              </a:r>
            </a:p>
          </p:txBody>
        </p:sp>
        <p:sp>
          <p:nvSpPr>
            <p:cNvPr id="19" name="TextBox 83">
              <a:extLst>
                <a:ext uri="{FF2B5EF4-FFF2-40B4-BE49-F238E27FC236}">
                  <a16:creationId xmlns:a16="http://schemas.microsoft.com/office/drawing/2014/main" id="{93AB9FC3-EBD3-BF9F-3840-93DA5E9581D6}"/>
                </a:ext>
              </a:extLst>
            </p:cNvPr>
            <p:cNvSpPr txBox="1"/>
            <p:nvPr/>
          </p:nvSpPr>
          <p:spPr>
            <a:xfrm>
              <a:off x="2781256" y="7231648"/>
              <a:ext cx="1292460"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Line of Business</a:t>
              </a:r>
            </a:p>
          </p:txBody>
        </p:sp>
        <p:sp>
          <p:nvSpPr>
            <p:cNvPr id="20" name="TextBox 84">
              <a:extLst>
                <a:ext uri="{FF2B5EF4-FFF2-40B4-BE49-F238E27FC236}">
                  <a16:creationId xmlns:a16="http://schemas.microsoft.com/office/drawing/2014/main" id="{89487FCE-DE71-B463-6E14-B896A8AB491F}"/>
                </a:ext>
              </a:extLst>
            </p:cNvPr>
            <p:cNvSpPr txBox="1"/>
            <p:nvPr/>
          </p:nvSpPr>
          <p:spPr>
            <a:xfrm>
              <a:off x="4337895" y="7231650"/>
              <a:ext cx="1292460"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Cost Center</a:t>
              </a:r>
            </a:p>
          </p:txBody>
        </p:sp>
        <p:sp>
          <p:nvSpPr>
            <p:cNvPr id="21" name="TextBox 85">
              <a:extLst>
                <a:ext uri="{FF2B5EF4-FFF2-40B4-BE49-F238E27FC236}">
                  <a16:creationId xmlns:a16="http://schemas.microsoft.com/office/drawing/2014/main" id="{1135E721-2337-4F98-8DED-09FCB441ACE2}"/>
                </a:ext>
              </a:extLst>
            </p:cNvPr>
            <p:cNvSpPr txBox="1"/>
            <p:nvPr/>
          </p:nvSpPr>
          <p:spPr>
            <a:xfrm>
              <a:off x="5932296" y="7231648"/>
              <a:ext cx="1292460"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Natural Account</a:t>
              </a:r>
            </a:p>
          </p:txBody>
        </p:sp>
        <p:sp>
          <p:nvSpPr>
            <p:cNvPr id="22" name="Parallelogram 21">
              <a:extLst>
                <a:ext uri="{FF2B5EF4-FFF2-40B4-BE49-F238E27FC236}">
                  <a16:creationId xmlns:a16="http://schemas.microsoft.com/office/drawing/2014/main" id="{F7A22AA1-A207-862F-C313-7DDB7B0FDC6B}"/>
                </a:ext>
              </a:extLst>
            </p:cNvPr>
            <p:cNvSpPr/>
            <p:nvPr/>
          </p:nvSpPr>
          <p:spPr>
            <a:xfrm>
              <a:off x="7458494"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23" name="Parallelogram 22">
              <a:extLst>
                <a:ext uri="{FF2B5EF4-FFF2-40B4-BE49-F238E27FC236}">
                  <a16:creationId xmlns:a16="http://schemas.microsoft.com/office/drawing/2014/main" id="{371AC691-3A99-C791-9873-DD3020A2EDB4}"/>
                </a:ext>
              </a:extLst>
            </p:cNvPr>
            <p:cNvSpPr/>
            <p:nvPr/>
          </p:nvSpPr>
          <p:spPr>
            <a:xfrm>
              <a:off x="9050564"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24" name="Parallelogram 23">
              <a:extLst>
                <a:ext uri="{FF2B5EF4-FFF2-40B4-BE49-F238E27FC236}">
                  <a16:creationId xmlns:a16="http://schemas.microsoft.com/office/drawing/2014/main" id="{259A14F5-CDB0-A6D9-213D-C5EE78BBD15C}"/>
                </a:ext>
              </a:extLst>
            </p:cNvPr>
            <p:cNvSpPr/>
            <p:nvPr/>
          </p:nvSpPr>
          <p:spPr>
            <a:xfrm>
              <a:off x="10642633" y="7101344"/>
              <a:ext cx="1506520" cy="537609"/>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25" name="Parallelogram 24">
              <a:extLst>
                <a:ext uri="{FF2B5EF4-FFF2-40B4-BE49-F238E27FC236}">
                  <a16:creationId xmlns:a16="http://schemas.microsoft.com/office/drawing/2014/main" id="{5FA55789-FAEE-F65D-4D29-FFF5FDAD9A00}"/>
                </a:ext>
              </a:extLst>
            </p:cNvPr>
            <p:cNvSpPr/>
            <p:nvPr/>
          </p:nvSpPr>
          <p:spPr>
            <a:xfrm>
              <a:off x="7424403"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26" name="Parallelogram 25">
              <a:extLst>
                <a:ext uri="{FF2B5EF4-FFF2-40B4-BE49-F238E27FC236}">
                  <a16:creationId xmlns:a16="http://schemas.microsoft.com/office/drawing/2014/main" id="{E125CF90-D52E-652A-2830-25D8CF462FE2}"/>
                </a:ext>
              </a:extLst>
            </p:cNvPr>
            <p:cNvSpPr/>
            <p:nvPr/>
          </p:nvSpPr>
          <p:spPr>
            <a:xfrm>
              <a:off x="9016472"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sp>
          <p:nvSpPr>
            <p:cNvPr id="27" name="Parallelogram 26">
              <a:extLst>
                <a:ext uri="{FF2B5EF4-FFF2-40B4-BE49-F238E27FC236}">
                  <a16:creationId xmlns:a16="http://schemas.microsoft.com/office/drawing/2014/main" id="{DD84523C-FDBE-DB56-76F4-521A2F27A4CC}"/>
                </a:ext>
              </a:extLst>
            </p:cNvPr>
            <p:cNvSpPr/>
            <p:nvPr/>
          </p:nvSpPr>
          <p:spPr>
            <a:xfrm>
              <a:off x="10608541" y="7101344"/>
              <a:ext cx="1506520" cy="537609"/>
            </a:xfrm>
            <a:prstGeom prst="parallelogram">
              <a:avLst/>
            </a:prstGeom>
            <a:solidFill>
              <a:schemeClr val="bg1">
                <a:lumMod val="75000"/>
              </a:schemeClr>
            </a:solid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sz="1000" b="1">
                <a:latin typeface="EY interstate"/>
              </a:endParaRPr>
            </a:p>
          </p:txBody>
        </p:sp>
        <p:cxnSp>
          <p:nvCxnSpPr>
            <p:cNvPr id="28" name="Straight Arrow Connector 27">
              <a:extLst>
                <a:ext uri="{FF2B5EF4-FFF2-40B4-BE49-F238E27FC236}">
                  <a16:creationId xmlns:a16="http://schemas.microsoft.com/office/drawing/2014/main" id="{7919A352-D872-2995-A44C-CB58DB956E93}"/>
                </a:ext>
              </a:extLst>
            </p:cNvPr>
            <p:cNvCxnSpPr>
              <a:cxnSpLocks/>
            </p:cNvCxnSpPr>
            <p:nvPr/>
          </p:nvCxnSpPr>
          <p:spPr>
            <a:xfrm>
              <a:off x="7326790" y="7370148"/>
              <a:ext cx="143766" cy="0"/>
            </a:xfrm>
            <a:prstGeom prst="straightConnector1">
              <a:avLst/>
            </a:prstGeom>
            <a:ln w="28575">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1DCABDB6-41F5-FA70-1CA1-DFA980982030}"/>
                </a:ext>
              </a:extLst>
            </p:cNvPr>
            <p:cNvCxnSpPr>
              <a:cxnSpLocks/>
            </p:cNvCxnSpPr>
            <p:nvPr/>
          </p:nvCxnSpPr>
          <p:spPr>
            <a:xfrm>
              <a:off x="8918860" y="7370148"/>
              <a:ext cx="143766" cy="0"/>
            </a:xfrm>
            <a:prstGeom prst="straightConnector1">
              <a:avLst/>
            </a:prstGeom>
            <a:ln w="28575">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5F38C9E9-24B0-73A6-280E-361B0657A61A}"/>
                </a:ext>
              </a:extLst>
            </p:cNvPr>
            <p:cNvCxnSpPr>
              <a:cxnSpLocks/>
            </p:cNvCxnSpPr>
            <p:nvPr/>
          </p:nvCxnSpPr>
          <p:spPr>
            <a:xfrm>
              <a:off x="10510929" y="7370148"/>
              <a:ext cx="143766" cy="0"/>
            </a:xfrm>
            <a:prstGeom prst="straightConnector1">
              <a:avLst/>
            </a:prstGeom>
            <a:ln w="28575">
              <a:solidFill>
                <a:srgbClr val="747480"/>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97">
              <a:extLst>
                <a:ext uri="{FF2B5EF4-FFF2-40B4-BE49-F238E27FC236}">
                  <a16:creationId xmlns:a16="http://schemas.microsoft.com/office/drawing/2014/main" id="{60411C07-F6FF-3002-EB89-8BCCB0836043}"/>
                </a:ext>
              </a:extLst>
            </p:cNvPr>
            <p:cNvSpPr txBox="1"/>
            <p:nvPr/>
          </p:nvSpPr>
          <p:spPr>
            <a:xfrm>
              <a:off x="7561939" y="7231648"/>
              <a:ext cx="1292460"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Product</a:t>
              </a:r>
            </a:p>
          </p:txBody>
        </p:sp>
        <p:sp>
          <p:nvSpPr>
            <p:cNvPr id="33" name="TextBox 98">
              <a:extLst>
                <a:ext uri="{FF2B5EF4-FFF2-40B4-BE49-F238E27FC236}">
                  <a16:creationId xmlns:a16="http://schemas.microsoft.com/office/drawing/2014/main" id="{7B76A9F7-4C50-E26E-5B57-7105485E24A0}"/>
                </a:ext>
              </a:extLst>
            </p:cNvPr>
            <p:cNvSpPr txBox="1"/>
            <p:nvPr/>
          </p:nvSpPr>
          <p:spPr>
            <a:xfrm>
              <a:off x="9118578" y="7231650"/>
              <a:ext cx="1292460"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Location</a:t>
              </a:r>
            </a:p>
          </p:txBody>
        </p:sp>
        <p:sp>
          <p:nvSpPr>
            <p:cNvPr id="34" name="TextBox 99">
              <a:extLst>
                <a:ext uri="{FF2B5EF4-FFF2-40B4-BE49-F238E27FC236}">
                  <a16:creationId xmlns:a16="http://schemas.microsoft.com/office/drawing/2014/main" id="{F2F3416D-D3F2-809F-CF9B-19A8C11A931D}"/>
                </a:ext>
              </a:extLst>
            </p:cNvPr>
            <p:cNvSpPr txBox="1"/>
            <p:nvPr/>
          </p:nvSpPr>
          <p:spPr>
            <a:xfrm>
              <a:off x="10712977" y="7222422"/>
              <a:ext cx="1402083" cy="276999"/>
            </a:xfrm>
            <a:prstGeom prst="rect">
              <a:avLst/>
            </a:prstGeom>
            <a:noFill/>
          </p:spPr>
          <p:txBody>
            <a:bodyPr wrap="square"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b="1">
                  <a:solidFill>
                    <a:schemeClr val="bg1"/>
                  </a:solidFill>
                  <a:latin typeface="EY interstate"/>
                </a:rPr>
                <a:t>Intercompany Type</a:t>
              </a:r>
            </a:p>
          </p:txBody>
        </p:sp>
        <p:sp>
          <p:nvSpPr>
            <p:cNvPr id="35" name="TextBox 102">
              <a:extLst>
                <a:ext uri="{FF2B5EF4-FFF2-40B4-BE49-F238E27FC236}">
                  <a16:creationId xmlns:a16="http://schemas.microsoft.com/office/drawing/2014/main" id="{67B884A5-8F28-0F25-B2E6-B0FC5F6D2051}"/>
                </a:ext>
              </a:extLst>
            </p:cNvPr>
            <p:cNvSpPr txBox="1"/>
            <p:nvPr/>
          </p:nvSpPr>
          <p:spPr>
            <a:xfrm>
              <a:off x="1634265" y="6459699"/>
              <a:ext cx="2017369" cy="276999"/>
            </a:xfrm>
            <a:prstGeom prst="snipRoundRect">
              <a:avLst>
                <a:gd name="adj1" fmla="val 0"/>
                <a:gd name="adj2" fmla="val 0"/>
              </a:avLst>
            </a:prstGeom>
            <a:solidFill>
              <a:schemeClr val="bg1">
                <a:lumMod val="75000"/>
              </a:schemeClr>
            </a:solidFill>
            <a:ln>
              <a:solidFill>
                <a:srgbClr val="FFE600"/>
              </a:solidFill>
            </a:ln>
          </p:spPr>
          <p:txBody>
            <a:bodyPr wrap="square" lIns="91440" tIns="45720" rIns="91440" bIns="4572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a:solidFill>
                    <a:schemeClr val="bg1"/>
                  </a:solidFill>
                  <a:latin typeface="EY interstate"/>
                </a:rPr>
                <a:t>Reporting Segment</a:t>
              </a:r>
            </a:p>
          </p:txBody>
        </p:sp>
        <p:cxnSp>
          <p:nvCxnSpPr>
            <p:cNvPr id="36" name="Connector: Elbow 35">
              <a:extLst>
                <a:ext uri="{FF2B5EF4-FFF2-40B4-BE49-F238E27FC236}">
                  <a16:creationId xmlns:a16="http://schemas.microsoft.com/office/drawing/2014/main" id="{C9A99C9B-D242-E2B6-7A7B-89928A8D5375}"/>
                </a:ext>
              </a:extLst>
            </p:cNvPr>
            <p:cNvCxnSpPr>
              <a:cxnSpLocks/>
            </p:cNvCxnSpPr>
            <p:nvPr/>
          </p:nvCxnSpPr>
          <p:spPr>
            <a:xfrm rot="5400000">
              <a:off x="2050984" y="6509377"/>
              <a:ext cx="345893" cy="838040"/>
            </a:xfrm>
            <a:prstGeom prst="bentConnector3">
              <a:avLst>
                <a:gd name="adj1" fmla="val 50000"/>
              </a:avLst>
            </a:prstGeom>
            <a:ln w="28575">
              <a:solidFill>
                <a:srgbClr val="C4C4CD"/>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or: Elbow 36">
              <a:extLst>
                <a:ext uri="{FF2B5EF4-FFF2-40B4-BE49-F238E27FC236}">
                  <a16:creationId xmlns:a16="http://schemas.microsoft.com/office/drawing/2014/main" id="{5D807EAE-B0D2-E254-4184-712EDC0F60D3}"/>
                </a:ext>
              </a:extLst>
            </p:cNvPr>
            <p:cNvCxnSpPr>
              <a:cxnSpLocks/>
            </p:cNvCxnSpPr>
            <p:nvPr/>
          </p:nvCxnSpPr>
          <p:spPr>
            <a:xfrm rot="16200000" flipH="1">
              <a:off x="2880619" y="6517781"/>
              <a:ext cx="345893" cy="821231"/>
            </a:xfrm>
            <a:prstGeom prst="bentConnector3">
              <a:avLst>
                <a:gd name="adj1" fmla="val 50000"/>
              </a:avLst>
            </a:prstGeom>
            <a:ln w="28575">
              <a:solidFill>
                <a:srgbClr val="C4C4CD"/>
              </a:solidFill>
              <a:tailEnd type="triangle"/>
            </a:ln>
          </p:spPr>
          <p:style>
            <a:lnRef idx="1">
              <a:schemeClr val="accent1"/>
            </a:lnRef>
            <a:fillRef idx="0">
              <a:schemeClr val="accent1"/>
            </a:fillRef>
            <a:effectRef idx="0">
              <a:schemeClr val="accent1"/>
            </a:effectRef>
            <a:fontRef idx="minor">
              <a:schemeClr val="tx1"/>
            </a:fontRef>
          </p:style>
        </p:cxnSp>
        <p:sp>
          <p:nvSpPr>
            <p:cNvPr id="38" name="TextBox 111">
              <a:extLst>
                <a:ext uri="{FF2B5EF4-FFF2-40B4-BE49-F238E27FC236}">
                  <a16:creationId xmlns:a16="http://schemas.microsoft.com/office/drawing/2014/main" id="{9ED66F76-2CE8-AC8C-EA50-CAB67AC94EE3}"/>
                </a:ext>
              </a:extLst>
            </p:cNvPr>
            <p:cNvSpPr txBox="1"/>
            <p:nvPr/>
          </p:nvSpPr>
          <p:spPr>
            <a:xfrm>
              <a:off x="4736059" y="6459699"/>
              <a:ext cx="2216006" cy="276999"/>
            </a:xfrm>
            <a:prstGeom prst="snipRoundRect">
              <a:avLst>
                <a:gd name="adj1" fmla="val 0"/>
                <a:gd name="adj2" fmla="val 0"/>
              </a:avLst>
            </a:prstGeom>
            <a:solidFill>
              <a:schemeClr val="bg1">
                <a:lumMod val="75000"/>
              </a:schemeClr>
            </a:solidFill>
            <a:ln>
              <a:solidFill>
                <a:srgbClr val="FFE600"/>
              </a:solidFill>
            </a:ln>
          </p:spPr>
          <p:txBody>
            <a:bodyPr wrap="square" lIns="91440" tIns="45720" rIns="91440" bIns="4572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a:solidFill>
                    <a:schemeClr val="bg1"/>
                  </a:solidFill>
                  <a:latin typeface="EY interstate"/>
                </a:rPr>
                <a:t>P&amp;L  Reporting Segment</a:t>
              </a:r>
            </a:p>
          </p:txBody>
        </p:sp>
        <p:cxnSp>
          <p:nvCxnSpPr>
            <p:cNvPr id="39" name="Connector: Elbow 38">
              <a:extLst>
                <a:ext uri="{FF2B5EF4-FFF2-40B4-BE49-F238E27FC236}">
                  <a16:creationId xmlns:a16="http://schemas.microsoft.com/office/drawing/2014/main" id="{C759F800-C51F-DA10-6FEB-E2A27641F2D6}"/>
                </a:ext>
              </a:extLst>
            </p:cNvPr>
            <p:cNvCxnSpPr>
              <a:cxnSpLocks/>
            </p:cNvCxnSpPr>
            <p:nvPr/>
          </p:nvCxnSpPr>
          <p:spPr>
            <a:xfrm rot="5400000">
              <a:off x="5243610" y="6500891"/>
              <a:ext cx="345893" cy="855013"/>
            </a:xfrm>
            <a:prstGeom prst="bentConnector3">
              <a:avLst>
                <a:gd name="adj1" fmla="val 50000"/>
              </a:avLst>
            </a:prstGeom>
            <a:ln w="28575">
              <a:solidFill>
                <a:srgbClr val="C4C4CD"/>
              </a:solidFill>
              <a:tailEnd type="triangle"/>
            </a:ln>
          </p:spPr>
          <p:style>
            <a:lnRef idx="1">
              <a:schemeClr val="accent1"/>
            </a:lnRef>
            <a:fillRef idx="0">
              <a:schemeClr val="accent1"/>
            </a:fillRef>
            <a:effectRef idx="0">
              <a:schemeClr val="accent1"/>
            </a:effectRef>
            <a:fontRef idx="minor">
              <a:schemeClr val="tx1"/>
            </a:fontRef>
          </p:style>
        </p:cxnSp>
        <p:cxnSp>
          <p:nvCxnSpPr>
            <p:cNvPr id="40" name="Connector: Elbow 39">
              <a:extLst>
                <a:ext uri="{FF2B5EF4-FFF2-40B4-BE49-F238E27FC236}">
                  <a16:creationId xmlns:a16="http://schemas.microsoft.com/office/drawing/2014/main" id="{BDC59E0D-17D5-CCE7-B46C-D9B8B92F174E}"/>
                </a:ext>
              </a:extLst>
            </p:cNvPr>
            <p:cNvCxnSpPr>
              <a:cxnSpLocks/>
            </p:cNvCxnSpPr>
            <p:nvPr/>
          </p:nvCxnSpPr>
          <p:spPr>
            <a:xfrm rot="16200000" flipH="1">
              <a:off x="6072948" y="6526566"/>
              <a:ext cx="345893" cy="804258"/>
            </a:xfrm>
            <a:prstGeom prst="bentConnector3">
              <a:avLst>
                <a:gd name="adj1" fmla="val 50000"/>
              </a:avLst>
            </a:prstGeom>
            <a:ln w="28575">
              <a:solidFill>
                <a:srgbClr val="C4C4CD"/>
              </a:solidFill>
              <a:tailEnd type="triangle"/>
            </a:ln>
          </p:spPr>
          <p:style>
            <a:lnRef idx="1">
              <a:schemeClr val="accent1"/>
            </a:lnRef>
            <a:fillRef idx="0">
              <a:schemeClr val="accent1"/>
            </a:fillRef>
            <a:effectRef idx="0">
              <a:schemeClr val="accent1"/>
            </a:effectRef>
            <a:fontRef idx="minor">
              <a:schemeClr val="tx1"/>
            </a:fontRef>
          </p:style>
        </p:cxnSp>
        <p:sp>
          <p:nvSpPr>
            <p:cNvPr id="41" name="TextBox 120">
              <a:extLst>
                <a:ext uri="{FF2B5EF4-FFF2-40B4-BE49-F238E27FC236}">
                  <a16:creationId xmlns:a16="http://schemas.microsoft.com/office/drawing/2014/main" id="{CE2151B3-20FC-378F-D4F5-DDA1E0DB35A6}"/>
                </a:ext>
              </a:extLst>
            </p:cNvPr>
            <p:cNvSpPr txBox="1"/>
            <p:nvPr/>
          </p:nvSpPr>
          <p:spPr>
            <a:xfrm>
              <a:off x="8750231" y="6459699"/>
              <a:ext cx="2216006" cy="276999"/>
            </a:xfrm>
            <a:prstGeom prst="snipRoundRect">
              <a:avLst>
                <a:gd name="adj1" fmla="val 0"/>
                <a:gd name="adj2" fmla="val 0"/>
              </a:avLst>
            </a:prstGeom>
            <a:solidFill>
              <a:schemeClr val="bg1">
                <a:lumMod val="75000"/>
              </a:schemeClr>
            </a:solidFill>
            <a:ln>
              <a:solidFill>
                <a:srgbClr val="FFE600"/>
              </a:solidFill>
            </a:ln>
          </p:spPr>
          <p:txBody>
            <a:bodyPr wrap="square" lIns="91440" tIns="45720" rIns="91440" bIns="4572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IN" sz="1200">
                  <a:solidFill>
                    <a:schemeClr val="bg1"/>
                  </a:solidFill>
                  <a:latin typeface="EY interstate"/>
                </a:rPr>
                <a:t>Management Reporting</a:t>
              </a:r>
            </a:p>
          </p:txBody>
        </p:sp>
        <p:cxnSp>
          <p:nvCxnSpPr>
            <p:cNvPr id="42" name="Connector: Elbow 41">
              <a:extLst>
                <a:ext uri="{FF2B5EF4-FFF2-40B4-BE49-F238E27FC236}">
                  <a16:creationId xmlns:a16="http://schemas.microsoft.com/office/drawing/2014/main" id="{D58418D4-F7EE-2209-C579-0A0C7AD66DC8}"/>
                </a:ext>
              </a:extLst>
            </p:cNvPr>
            <p:cNvCxnSpPr>
              <a:cxnSpLocks/>
            </p:cNvCxnSpPr>
            <p:nvPr/>
          </p:nvCxnSpPr>
          <p:spPr>
            <a:xfrm rot="5400000">
              <a:off x="8845003" y="6088112"/>
              <a:ext cx="345893" cy="1680571"/>
            </a:xfrm>
            <a:prstGeom prst="bentConnector3">
              <a:avLst>
                <a:gd name="adj1" fmla="val 50000"/>
              </a:avLst>
            </a:prstGeom>
            <a:ln w="28575">
              <a:solidFill>
                <a:srgbClr val="C4C4CD"/>
              </a:solidFill>
              <a:tailEnd type="triangle"/>
            </a:ln>
          </p:spPr>
          <p:style>
            <a:lnRef idx="1">
              <a:schemeClr val="accent1"/>
            </a:lnRef>
            <a:fillRef idx="0">
              <a:schemeClr val="accent1"/>
            </a:fillRef>
            <a:effectRef idx="0">
              <a:schemeClr val="accent1"/>
            </a:effectRef>
            <a:fontRef idx="minor">
              <a:schemeClr val="tx1"/>
            </a:fontRef>
          </p:style>
        </p:cxnSp>
        <p:cxnSp>
          <p:nvCxnSpPr>
            <p:cNvPr id="43" name="Connector: Elbow 42">
              <a:extLst>
                <a:ext uri="{FF2B5EF4-FFF2-40B4-BE49-F238E27FC236}">
                  <a16:creationId xmlns:a16="http://schemas.microsoft.com/office/drawing/2014/main" id="{76A2D779-D9D3-53E4-128C-67A790718689}"/>
                </a:ext>
              </a:extLst>
            </p:cNvPr>
            <p:cNvCxnSpPr>
              <a:cxnSpLocks/>
            </p:cNvCxnSpPr>
            <p:nvPr/>
          </p:nvCxnSpPr>
          <p:spPr>
            <a:xfrm rot="16200000" flipH="1">
              <a:off x="10437071" y="6176613"/>
              <a:ext cx="345893" cy="1503567"/>
            </a:xfrm>
            <a:prstGeom prst="bentConnector3">
              <a:avLst>
                <a:gd name="adj1" fmla="val 50000"/>
              </a:avLst>
            </a:prstGeom>
            <a:ln w="28575">
              <a:solidFill>
                <a:srgbClr val="C4C4CD"/>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125">
              <a:extLst>
                <a:ext uri="{FF2B5EF4-FFF2-40B4-BE49-F238E27FC236}">
                  <a16:creationId xmlns:a16="http://schemas.microsoft.com/office/drawing/2014/main" id="{7CD8913F-BBE0-1537-627A-FBD55CE81E3A}"/>
                </a:ext>
              </a:extLst>
            </p:cNvPr>
            <p:cNvSpPr txBox="1"/>
            <p:nvPr/>
          </p:nvSpPr>
          <p:spPr>
            <a:xfrm>
              <a:off x="1051648" y="7731765"/>
              <a:ext cx="1409865" cy="182101"/>
            </a:xfrm>
            <a:prstGeom prst="rect">
              <a:avLst/>
            </a:prstGeom>
            <a:noFill/>
            <a:ln>
              <a:solidFill>
                <a:schemeClr val="bg1"/>
              </a:solidFill>
            </a:ln>
          </p:spPr>
          <p:txBody>
            <a:bodyPr wrap="square" lIns="0" tIns="36576" rIns="0" bIns="0" rtlCol="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lang="pl-PL" sz="1100">
                  <a:solidFill>
                    <a:schemeClr val="bg1"/>
                  </a:solidFill>
                  <a:latin typeface="EY interstate"/>
                </a:rPr>
                <a:t>Business</a:t>
              </a:r>
              <a:r>
                <a:rPr kumimoji="0" lang="pl-PL" sz="1100" i="0" u="none" strike="noStrike" kern="1200" cap="none" spc="0" normalizeH="0" baseline="0" noProof="0">
                  <a:ln>
                    <a:noFill/>
                  </a:ln>
                  <a:solidFill>
                    <a:schemeClr val="bg1"/>
                  </a:solidFill>
                  <a:effectLst/>
                  <a:uLnTx/>
                  <a:uFillTx/>
                  <a:latin typeface="EY interstate"/>
                </a:rPr>
                <a:t> Unit</a:t>
              </a:r>
              <a:endParaRPr lang="en-US" sz="1100">
                <a:solidFill>
                  <a:schemeClr val="bg1"/>
                </a:solidFill>
                <a:latin typeface="EY interstate"/>
              </a:endParaRPr>
            </a:p>
          </p:txBody>
        </p:sp>
        <p:sp>
          <p:nvSpPr>
            <p:cNvPr id="45" name="TextBox 126">
              <a:extLst>
                <a:ext uri="{FF2B5EF4-FFF2-40B4-BE49-F238E27FC236}">
                  <a16:creationId xmlns:a16="http://schemas.microsoft.com/office/drawing/2014/main" id="{FF8CE14A-FEA3-3FCA-93CC-4E1AF77C2C8A}"/>
                </a:ext>
              </a:extLst>
            </p:cNvPr>
            <p:cNvSpPr txBox="1"/>
            <p:nvPr/>
          </p:nvSpPr>
          <p:spPr>
            <a:xfrm>
              <a:off x="2631326" y="7738194"/>
              <a:ext cx="1391661" cy="182101"/>
            </a:xfrm>
            <a:prstGeom prst="rect">
              <a:avLst/>
            </a:prstGeom>
            <a:noFill/>
            <a:ln>
              <a:solidFill>
                <a:schemeClr val="bg1"/>
              </a:solidFill>
            </a:ln>
          </p:spPr>
          <p:style>
            <a:lnRef idx="2">
              <a:schemeClr val="dk1"/>
            </a:lnRef>
            <a:fillRef idx="1">
              <a:schemeClr val="lt1"/>
            </a:fillRef>
            <a:effectRef idx="0">
              <a:schemeClr val="dk1"/>
            </a:effectRef>
            <a:fontRef idx="minor">
              <a:schemeClr val="dk1"/>
            </a:fontRef>
          </p:style>
          <p:txBody>
            <a:bodyPr wrap="square" lIns="0" tIns="36576" rIns="0" bIns="0" rtlCol="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kumimoji="0" lang="pl-PL" sz="1100" i="0" u="none" strike="noStrike" kern="1200" cap="none" spc="0" normalizeH="0" baseline="0" noProof="0">
                  <a:ln>
                    <a:noFill/>
                  </a:ln>
                  <a:solidFill>
                    <a:schemeClr val="bg1"/>
                  </a:solidFill>
                  <a:effectLst/>
                  <a:uLnTx/>
                  <a:uFillTx/>
                  <a:latin typeface="EY interstate"/>
                </a:rPr>
                <a:t>Department, Sub-dept</a:t>
              </a:r>
              <a:endParaRPr lang="en-US" sz="1100">
                <a:solidFill>
                  <a:schemeClr val="bg1"/>
                </a:solidFill>
                <a:latin typeface="EY interstate"/>
              </a:endParaRPr>
            </a:p>
          </p:txBody>
        </p:sp>
        <p:sp>
          <p:nvSpPr>
            <p:cNvPr id="46" name="TextBox 127">
              <a:extLst>
                <a:ext uri="{FF2B5EF4-FFF2-40B4-BE49-F238E27FC236}">
                  <a16:creationId xmlns:a16="http://schemas.microsoft.com/office/drawing/2014/main" id="{FD180EF6-2D97-1B64-35E9-7C4DC5B217B1}"/>
                </a:ext>
              </a:extLst>
            </p:cNvPr>
            <p:cNvSpPr txBox="1"/>
            <p:nvPr/>
          </p:nvSpPr>
          <p:spPr>
            <a:xfrm>
              <a:off x="4220490" y="7727708"/>
              <a:ext cx="1409865" cy="469872"/>
            </a:xfrm>
            <a:prstGeom prst="rect">
              <a:avLst/>
            </a:prstGeom>
            <a:noFill/>
            <a:ln>
              <a:solidFill>
                <a:schemeClr val="bg1"/>
              </a:solidFill>
            </a:ln>
          </p:spPr>
          <p:style>
            <a:lnRef idx="2">
              <a:schemeClr val="dk1"/>
            </a:lnRef>
            <a:fillRef idx="1">
              <a:schemeClr val="lt1"/>
            </a:fillRef>
            <a:effectRef idx="0">
              <a:schemeClr val="dk1"/>
            </a:effectRef>
            <a:fontRef idx="minor">
              <a:schemeClr val="dk1"/>
            </a:fontRef>
          </p:style>
          <p:txBody>
            <a:bodyPr wrap="square" lIns="0" tIns="36576"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kumimoji="0" lang="pl-PL" sz="1100" i="0" u="none" strike="noStrike" kern="1200" cap="none" spc="0" normalizeH="0" baseline="0" noProof="0">
                  <a:ln>
                    <a:noFill/>
                  </a:ln>
                  <a:solidFill>
                    <a:schemeClr val="bg1"/>
                  </a:solidFill>
                  <a:effectLst/>
                  <a:uLnTx/>
                  <a:uFillTx/>
                  <a:latin typeface="EY interstate"/>
                </a:rPr>
                <a:t>Areas within the organ. to which costs are assigned or allowed</a:t>
              </a:r>
            </a:p>
          </p:txBody>
        </p:sp>
        <p:sp>
          <p:nvSpPr>
            <p:cNvPr id="47" name="TextBox 128">
              <a:extLst>
                <a:ext uri="{FF2B5EF4-FFF2-40B4-BE49-F238E27FC236}">
                  <a16:creationId xmlns:a16="http://schemas.microsoft.com/office/drawing/2014/main" id="{00049D44-2DFA-E70D-0EAB-E8E1C6507E22}"/>
                </a:ext>
              </a:extLst>
            </p:cNvPr>
            <p:cNvSpPr txBox="1"/>
            <p:nvPr/>
          </p:nvSpPr>
          <p:spPr>
            <a:xfrm>
              <a:off x="5827858" y="7726474"/>
              <a:ext cx="1396898" cy="325986"/>
            </a:xfrm>
            <a:prstGeom prst="rect">
              <a:avLst/>
            </a:prstGeom>
            <a:noFill/>
            <a:ln>
              <a:solidFill>
                <a:schemeClr val="bg1"/>
              </a:solidFill>
            </a:ln>
          </p:spPr>
          <p:style>
            <a:lnRef idx="2">
              <a:schemeClr val="dk1"/>
            </a:lnRef>
            <a:fillRef idx="1">
              <a:schemeClr val="lt1"/>
            </a:fillRef>
            <a:effectRef idx="0">
              <a:schemeClr val="dk1"/>
            </a:effectRef>
            <a:fontRef idx="minor">
              <a:schemeClr val="dk1"/>
            </a:fontRef>
          </p:style>
          <p:txBody>
            <a:bodyPr wrap="square" lIns="0" tIns="36576"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kumimoji="0" lang="pl-PL" sz="1100" i="0" u="none" strike="noStrike" kern="1200" cap="none" spc="0" normalizeH="0" baseline="0" noProof="0">
                  <a:ln>
                    <a:noFill/>
                  </a:ln>
                  <a:solidFill>
                    <a:schemeClr val="bg1"/>
                  </a:solidFill>
                  <a:effectLst/>
                  <a:uLnTx/>
                  <a:uFillTx/>
                  <a:latin typeface="EY interstate"/>
                </a:rPr>
                <a:t>Account values &amp; hierarchies</a:t>
              </a:r>
            </a:p>
          </p:txBody>
        </p:sp>
        <p:sp>
          <p:nvSpPr>
            <p:cNvPr id="48" name="TextBox 129">
              <a:extLst>
                <a:ext uri="{FF2B5EF4-FFF2-40B4-BE49-F238E27FC236}">
                  <a16:creationId xmlns:a16="http://schemas.microsoft.com/office/drawing/2014/main" id="{8A6BAF05-31B8-B298-6AAA-719C9525036B}"/>
                </a:ext>
              </a:extLst>
            </p:cNvPr>
            <p:cNvSpPr txBox="1"/>
            <p:nvPr/>
          </p:nvSpPr>
          <p:spPr>
            <a:xfrm>
              <a:off x="7421412" y="7746753"/>
              <a:ext cx="1396898" cy="325987"/>
            </a:xfrm>
            <a:prstGeom prst="rect">
              <a:avLst/>
            </a:prstGeom>
            <a:noFill/>
            <a:ln>
              <a:solidFill>
                <a:schemeClr val="bg1"/>
              </a:solidFill>
            </a:ln>
          </p:spPr>
          <p:style>
            <a:lnRef idx="2">
              <a:schemeClr val="dk1"/>
            </a:lnRef>
            <a:fillRef idx="1">
              <a:schemeClr val="lt1"/>
            </a:fillRef>
            <a:effectRef idx="0">
              <a:schemeClr val="dk1"/>
            </a:effectRef>
            <a:fontRef idx="minor">
              <a:schemeClr val="dk1"/>
            </a:fontRef>
          </p:style>
          <p:txBody>
            <a:bodyPr wrap="square" lIns="0" tIns="36576"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kumimoji="0" lang="pl-PL" sz="1100" i="0" u="none" strike="noStrike" kern="1200" cap="none" spc="0" normalizeH="0" baseline="0" noProof="0">
                  <a:ln>
                    <a:noFill/>
                  </a:ln>
                  <a:solidFill>
                    <a:schemeClr val="bg1"/>
                  </a:solidFill>
                  <a:effectLst/>
                  <a:uLnTx/>
                  <a:uFillTx/>
                  <a:latin typeface="EY interstate"/>
                </a:rPr>
                <a:t>Product Category Values and hierarchy</a:t>
              </a:r>
            </a:p>
          </p:txBody>
        </p:sp>
        <p:sp>
          <p:nvSpPr>
            <p:cNvPr id="49" name="TextBox 130">
              <a:extLst>
                <a:ext uri="{FF2B5EF4-FFF2-40B4-BE49-F238E27FC236}">
                  <a16:creationId xmlns:a16="http://schemas.microsoft.com/office/drawing/2014/main" id="{1DB7C001-BC7E-478D-A624-51A4E6CBA395}"/>
                </a:ext>
              </a:extLst>
            </p:cNvPr>
            <p:cNvSpPr txBox="1"/>
            <p:nvPr/>
          </p:nvSpPr>
          <p:spPr>
            <a:xfrm>
              <a:off x="8997642" y="7746753"/>
              <a:ext cx="1396898" cy="182100"/>
            </a:xfrm>
            <a:prstGeom prst="rect">
              <a:avLst/>
            </a:prstGeom>
            <a:noFill/>
            <a:ln>
              <a:solidFill>
                <a:schemeClr val="bg1"/>
              </a:solidFill>
            </a:ln>
          </p:spPr>
          <p:style>
            <a:lnRef idx="2">
              <a:schemeClr val="dk1"/>
            </a:lnRef>
            <a:fillRef idx="1">
              <a:schemeClr val="lt1"/>
            </a:fillRef>
            <a:effectRef idx="0">
              <a:schemeClr val="dk1"/>
            </a:effectRef>
            <a:fontRef idx="minor">
              <a:schemeClr val="dk1"/>
            </a:fontRef>
          </p:style>
          <p:txBody>
            <a:bodyPr wrap="square" lIns="0" tIns="36576"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kumimoji="0" lang="pl-PL" sz="1100" i="0" u="none" strike="noStrike" kern="1200" cap="none" spc="0" normalizeH="0" baseline="0" noProof="0">
                  <a:ln>
                    <a:noFill/>
                  </a:ln>
                  <a:solidFill>
                    <a:schemeClr val="bg1"/>
                  </a:solidFill>
                  <a:effectLst/>
                  <a:uLnTx/>
                  <a:uFillTx/>
                  <a:latin typeface="EY interstate"/>
                </a:rPr>
                <a:t>Country, Region</a:t>
              </a:r>
            </a:p>
          </p:txBody>
        </p:sp>
        <p:sp>
          <p:nvSpPr>
            <p:cNvPr id="50" name="TextBox 131">
              <a:extLst>
                <a:ext uri="{FF2B5EF4-FFF2-40B4-BE49-F238E27FC236}">
                  <a16:creationId xmlns:a16="http://schemas.microsoft.com/office/drawing/2014/main" id="{251741C1-8BA6-40B6-602A-C263A49C9205}"/>
                </a:ext>
              </a:extLst>
            </p:cNvPr>
            <p:cNvSpPr txBox="1"/>
            <p:nvPr/>
          </p:nvSpPr>
          <p:spPr>
            <a:xfrm>
              <a:off x="10613869" y="7746753"/>
              <a:ext cx="1396898" cy="182100"/>
            </a:xfrm>
            <a:prstGeom prst="rect">
              <a:avLst/>
            </a:prstGeom>
            <a:noFill/>
            <a:ln>
              <a:solidFill>
                <a:schemeClr val="bg1"/>
              </a:solidFill>
            </a:ln>
          </p:spPr>
          <p:style>
            <a:lnRef idx="2">
              <a:schemeClr val="dk1"/>
            </a:lnRef>
            <a:fillRef idx="1">
              <a:schemeClr val="lt1"/>
            </a:fillRef>
            <a:effectRef idx="0">
              <a:schemeClr val="dk1"/>
            </a:effectRef>
            <a:fontRef idx="minor">
              <a:schemeClr val="dk1"/>
            </a:fontRef>
          </p:style>
          <p:txBody>
            <a:bodyPr wrap="square" lIns="0" tIns="36576"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85000"/>
                </a:lnSpc>
                <a:spcBef>
                  <a:spcPts val="0"/>
                </a:spcBef>
                <a:spcAft>
                  <a:spcPts val="600"/>
                </a:spcAft>
                <a:buClr>
                  <a:srgbClr val="747480"/>
                </a:buClr>
                <a:buSzPct val="130000"/>
                <a:tabLst/>
                <a:defRPr/>
              </a:pPr>
              <a:r>
                <a:rPr lang="pl-PL" sz="1100" err="1">
                  <a:solidFill>
                    <a:schemeClr val="bg1"/>
                  </a:solidFill>
                  <a:latin typeface="EY interstate"/>
                </a:rPr>
                <a:t>Affilliate</a:t>
              </a:r>
              <a:r>
                <a:rPr kumimoji="0" lang="pl-PL" sz="1100" i="0" u="none" strike="noStrike" kern="1200" cap="none" spc="0" normalizeH="0" baseline="0" noProof="0">
                  <a:ln>
                    <a:noFill/>
                  </a:ln>
                  <a:solidFill>
                    <a:schemeClr val="bg1"/>
                  </a:solidFill>
                  <a:effectLst/>
                  <a:uLnTx/>
                  <a:uFillTx/>
                  <a:latin typeface="EY interstate"/>
                </a:rPr>
                <a:t> </a:t>
              </a:r>
              <a:r>
                <a:rPr kumimoji="0" lang="pl-PL" sz="1100" i="0" u="none" strike="noStrike" kern="1200" cap="none" spc="0" normalizeH="0" baseline="0" noProof="0" err="1">
                  <a:ln>
                    <a:noFill/>
                  </a:ln>
                  <a:solidFill>
                    <a:schemeClr val="bg1"/>
                  </a:solidFill>
                  <a:effectLst/>
                  <a:uLnTx/>
                  <a:uFillTx/>
                  <a:latin typeface="EY interstate"/>
                </a:rPr>
                <a:t>Entity</a:t>
              </a:r>
            </a:p>
          </p:txBody>
        </p:sp>
      </p:grpSp>
      <p:cxnSp>
        <p:nvCxnSpPr>
          <p:cNvPr id="98" name="Straight Connector 97">
            <a:extLst>
              <a:ext uri="{FF2B5EF4-FFF2-40B4-BE49-F238E27FC236}">
                <a16:creationId xmlns:a16="http://schemas.microsoft.com/office/drawing/2014/main" id="{369ABF4E-35D1-4BE8-807E-5869FCD2D2E3}"/>
              </a:ext>
            </a:extLst>
          </p:cNvPr>
          <p:cNvCxnSpPr>
            <a:cxnSpLocks/>
          </p:cNvCxnSpPr>
          <p:nvPr/>
        </p:nvCxnSpPr>
        <p:spPr>
          <a:xfrm>
            <a:off x="6214872" y="1117600"/>
            <a:ext cx="0" cy="2971800"/>
          </a:xfrm>
          <a:prstGeom prst="line">
            <a:avLst/>
          </a:prstGeom>
          <a:ln>
            <a:solidFill>
              <a:srgbClr val="FFE600"/>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71811954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3A9321-60A1-E0C6-EAA4-698D7FCDE6B5}"/>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71D968FD-C47B-3966-62DB-8DF8D5AE20A0}"/>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99" name="Title 1">
            <a:extLst>
              <a:ext uri="{FF2B5EF4-FFF2-40B4-BE49-F238E27FC236}">
                <a16:creationId xmlns:a16="http://schemas.microsoft.com/office/drawing/2014/main" id="{D733E5A2-8AB4-C289-8445-348BE925DA94}"/>
              </a:ext>
            </a:extLst>
          </p:cNvPr>
          <p:cNvSpPr txBox="1">
            <a:spLocks/>
          </p:cNvSpPr>
          <p:nvPr/>
        </p:nvSpPr>
        <p:spPr>
          <a:xfrm>
            <a:off x="552811" y="456298"/>
            <a:ext cx="10972800" cy="911423"/>
          </a:xfrm>
          <a:prstGeom prst="rect">
            <a:avLst/>
          </a:prstGeom>
          <a:noFill/>
          <a:ln>
            <a:noFill/>
          </a:ln>
        </p:spPr>
        <p:txBody>
          <a:bodyPr vert="horz" wrap="square" lIns="0" tIns="0" rIns="0" bIns="0" rtlCol="0" anchor="t" anchorCtr="0" compatLnSpc="1">
            <a:noAutofit/>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1" i="0" u="none" strike="noStrike" cap="none" spc="0" baseline="0">
                <a:solidFill>
                  <a:srgbClr val="FFE600"/>
                </a:solidFill>
                <a:uFillTx/>
                <a:latin typeface="EY interstate heading"/>
              </a:defRPr>
            </a:lvl1pPr>
          </a:lstStyle>
          <a:p>
            <a:r>
              <a:rPr lang="pl-PL"/>
              <a:t>Chart of Account (Overview)</a:t>
            </a:r>
          </a:p>
        </p:txBody>
      </p:sp>
      <p:grpSp>
        <p:nvGrpSpPr>
          <p:cNvPr id="122" name="Group 121">
            <a:extLst>
              <a:ext uri="{FF2B5EF4-FFF2-40B4-BE49-F238E27FC236}">
                <a16:creationId xmlns:a16="http://schemas.microsoft.com/office/drawing/2014/main" id="{5A3CA6DB-6098-36DB-D1AB-C19FD975F08F}"/>
              </a:ext>
            </a:extLst>
          </p:cNvPr>
          <p:cNvGrpSpPr/>
          <p:nvPr/>
        </p:nvGrpSpPr>
        <p:grpSpPr>
          <a:xfrm>
            <a:off x="799644" y="1947272"/>
            <a:ext cx="10248900" cy="2121713"/>
            <a:chOff x="609600" y="1074711"/>
            <a:chExt cx="10248900" cy="2121713"/>
          </a:xfrm>
        </p:grpSpPr>
        <p:graphicFrame>
          <p:nvGraphicFramePr>
            <p:cNvPr id="100" name="Content Placeholder 4">
              <a:extLst>
                <a:ext uri="{FF2B5EF4-FFF2-40B4-BE49-F238E27FC236}">
                  <a16:creationId xmlns:a16="http://schemas.microsoft.com/office/drawing/2014/main" id="{770469C9-224A-D142-B23D-0D64770AD601}"/>
                </a:ext>
              </a:extLst>
            </p:cNvPr>
            <p:cNvGraphicFramePr>
              <a:graphicFrameLocks/>
            </p:cNvGraphicFramePr>
            <p:nvPr>
              <p:extLst>
                <p:ext uri="{D42A27DB-BD31-4B8C-83A1-F6EECF244321}">
                  <p14:modId xmlns:p14="http://schemas.microsoft.com/office/powerpoint/2010/main" val="155326967"/>
                </p:ext>
              </p:extLst>
            </p:nvPr>
          </p:nvGraphicFramePr>
          <p:xfrm>
            <a:off x="609600" y="1425575"/>
            <a:ext cx="4448175" cy="105092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01" name="Content Placeholder 4">
              <a:extLst>
                <a:ext uri="{FF2B5EF4-FFF2-40B4-BE49-F238E27FC236}">
                  <a16:creationId xmlns:a16="http://schemas.microsoft.com/office/drawing/2014/main" id="{6028A236-D0DD-807C-30FF-D4511C1291BD}"/>
                </a:ext>
              </a:extLst>
            </p:cNvPr>
            <p:cNvGraphicFramePr>
              <a:graphicFrameLocks/>
            </p:cNvGraphicFramePr>
            <p:nvPr>
              <p:extLst>
                <p:ext uri="{D42A27DB-BD31-4B8C-83A1-F6EECF244321}">
                  <p14:modId xmlns:p14="http://schemas.microsoft.com/office/powerpoint/2010/main" val="1436858913"/>
                </p:ext>
              </p:extLst>
            </p:nvPr>
          </p:nvGraphicFramePr>
          <p:xfrm>
            <a:off x="5181601" y="1311275"/>
            <a:ext cx="4095750" cy="127952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02" name="TextBox 101">
              <a:extLst>
                <a:ext uri="{FF2B5EF4-FFF2-40B4-BE49-F238E27FC236}">
                  <a16:creationId xmlns:a16="http://schemas.microsoft.com/office/drawing/2014/main" id="{44299912-F605-E927-92C1-F7349462E21A}"/>
                </a:ext>
              </a:extLst>
            </p:cNvPr>
            <p:cNvSpPr txBox="1"/>
            <p:nvPr/>
          </p:nvSpPr>
          <p:spPr>
            <a:xfrm>
              <a:off x="647702" y="2451744"/>
              <a:ext cx="1238250" cy="401648"/>
            </a:xfrm>
            <a:prstGeom prst="rect">
              <a:avLst/>
            </a:prstGeom>
            <a:noFill/>
          </p:spPr>
          <p:txBody>
            <a:bodyPr wrap="square" lIns="0" tIns="36576" rIns="0" bIns="0" rtlCol="0">
              <a:spAutoFit/>
            </a:bodyPr>
            <a:lstStyle/>
            <a:p>
              <a:pPr marL="356616" indent="-356616" algn="ctr">
                <a:lnSpc>
                  <a:spcPct val="85000"/>
                </a:lnSpc>
                <a:spcAft>
                  <a:spcPts val="600"/>
                </a:spcAft>
                <a:buClr>
                  <a:srgbClr val="FFD200"/>
                </a:buClr>
                <a:buSzPct val="70000"/>
                <a:buFont typeface="Arial" pitchFamily="34" charset="0"/>
                <a:buChar char="►"/>
                <a:defRPr/>
              </a:pPr>
              <a:r>
                <a:rPr lang="pl-PL" sz="1000">
                  <a:solidFill>
                    <a:srgbClr val="FFFFFF"/>
                  </a:solidFill>
                  <a:latin typeface="Arial"/>
                </a:rPr>
                <a:t>Business Unit</a:t>
              </a:r>
            </a:p>
            <a:p>
              <a:pPr marL="356616" indent="-356616">
                <a:lnSpc>
                  <a:spcPct val="85000"/>
                </a:lnSpc>
                <a:spcAft>
                  <a:spcPts val="600"/>
                </a:spcAft>
                <a:buClr>
                  <a:srgbClr val="FFD200"/>
                </a:buClr>
                <a:buSzPct val="70000"/>
                <a:buFont typeface="Arial" pitchFamily="34" charset="0"/>
                <a:buChar char="►"/>
                <a:defRPr/>
              </a:pPr>
              <a:endParaRPr lang="pl-PL" sz="1200">
                <a:solidFill>
                  <a:srgbClr val="FFFFFF"/>
                </a:solidFill>
                <a:latin typeface="Arial"/>
              </a:endParaRPr>
            </a:p>
          </p:txBody>
        </p:sp>
        <p:sp>
          <p:nvSpPr>
            <p:cNvPr id="103" name="TextBox 102">
              <a:extLst>
                <a:ext uri="{FF2B5EF4-FFF2-40B4-BE49-F238E27FC236}">
                  <a16:creationId xmlns:a16="http://schemas.microsoft.com/office/drawing/2014/main" id="{D19B4017-6E4F-D199-0272-FAF86F06A819}"/>
                </a:ext>
              </a:extLst>
            </p:cNvPr>
            <p:cNvSpPr txBox="1"/>
            <p:nvPr/>
          </p:nvSpPr>
          <p:spPr>
            <a:xfrm>
              <a:off x="2152651" y="2467942"/>
              <a:ext cx="1238250" cy="298543"/>
            </a:xfrm>
            <a:prstGeom prst="rect">
              <a:avLst/>
            </a:prstGeom>
            <a:noFill/>
          </p:spPr>
          <p:txBody>
            <a:bodyPr wrap="square" lIns="0" tIns="36576" rIns="0" bIns="0" rtlCol="0">
              <a:spAutoFit/>
            </a:bodyPr>
            <a:lstStyle/>
            <a:p>
              <a:pPr marL="356616" indent="-356616" algn="ctr">
                <a:lnSpc>
                  <a:spcPct val="85000"/>
                </a:lnSpc>
                <a:spcAft>
                  <a:spcPts val="600"/>
                </a:spcAft>
                <a:buClr>
                  <a:srgbClr val="FFD200"/>
                </a:buClr>
                <a:buSzPct val="70000"/>
                <a:buFont typeface="Arial" pitchFamily="34" charset="0"/>
                <a:buChar char="►"/>
                <a:defRPr/>
              </a:pPr>
              <a:r>
                <a:rPr lang="pl-PL" sz="1000">
                  <a:solidFill>
                    <a:srgbClr val="FFFFFF"/>
                  </a:solidFill>
                  <a:latin typeface="Arial"/>
                </a:rPr>
                <a:t>Department, Sub-dept</a:t>
              </a:r>
            </a:p>
          </p:txBody>
        </p:sp>
        <p:sp>
          <p:nvSpPr>
            <p:cNvPr id="104" name="TextBox 103">
              <a:extLst>
                <a:ext uri="{FF2B5EF4-FFF2-40B4-BE49-F238E27FC236}">
                  <a16:creationId xmlns:a16="http://schemas.microsoft.com/office/drawing/2014/main" id="{CD2AA881-CF70-19D1-D0D0-22D1A2CAC97D}"/>
                </a:ext>
              </a:extLst>
            </p:cNvPr>
            <p:cNvSpPr txBox="1"/>
            <p:nvPr/>
          </p:nvSpPr>
          <p:spPr>
            <a:xfrm>
              <a:off x="3657600" y="2457456"/>
              <a:ext cx="1371601" cy="690958"/>
            </a:xfrm>
            <a:prstGeom prst="rect">
              <a:avLst/>
            </a:prstGeom>
            <a:noFill/>
          </p:spPr>
          <p:txBody>
            <a:bodyPr wrap="square" lIns="0" tIns="36576" rIns="0" bIns="0" rtlCol="0">
              <a:spAutoFit/>
            </a:bodyPr>
            <a:lstStyle/>
            <a:p>
              <a:pPr marL="356616" indent="-356616">
                <a:lnSpc>
                  <a:spcPct val="85000"/>
                </a:lnSpc>
                <a:spcAft>
                  <a:spcPts val="600"/>
                </a:spcAft>
                <a:buClr>
                  <a:srgbClr val="FFD200"/>
                </a:buClr>
                <a:buSzPct val="70000"/>
                <a:buFont typeface="Arial" pitchFamily="34" charset="0"/>
                <a:buChar char="►"/>
                <a:defRPr/>
              </a:pPr>
              <a:r>
                <a:rPr lang="pl-PL" sz="1000">
                  <a:solidFill>
                    <a:srgbClr val="FFFFFF"/>
                  </a:solidFill>
                  <a:latin typeface="Arial"/>
                </a:rPr>
                <a:t>Areas within the organ. to which costs are assigned or allowed</a:t>
              </a:r>
            </a:p>
          </p:txBody>
        </p:sp>
        <p:sp>
          <p:nvSpPr>
            <p:cNvPr id="105" name="TextBox 104">
              <a:extLst>
                <a:ext uri="{FF2B5EF4-FFF2-40B4-BE49-F238E27FC236}">
                  <a16:creationId xmlns:a16="http://schemas.microsoft.com/office/drawing/2014/main" id="{CF61D1CC-B984-236E-0CE1-A393624079C2}"/>
                </a:ext>
              </a:extLst>
            </p:cNvPr>
            <p:cNvSpPr txBox="1"/>
            <p:nvPr/>
          </p:nvSpPr>
          <p:spPr>
            <a:xfrm>
              <a:off x="5238751" y="2456221"/>
              <a:ext cx="1447799" cy="740203"/>
            </a:xfrm>
            <a:prstGeom prst="rect">
              <a:avLst/>
            </a:prstGeom>
            <a:noFill/>
          </p:spPr>
          <p:txBody>
            <a:bodyPr wrap="square" lIns="0" tIns="36576" rIns="0" bIns="0" rtlCol="0">
              <a:spAutoFit/>
            </a:bodyPr>
            <a:lstStyle/>
            <a:p>
              <a:pPr marL="356616" indent="-356616">
                <a:lnSpc>
                  <a:spcPct val="85000"/>
                </a:lnSpc>
                <a:spcAft>
                  <a:spcPts val="600"/>
                </a:spcAft>
                <a:buClr>
                  <a:srgbClr val="FFD200"/>
                </a:buClr>
                <a:buSzPct val="70000"/>
                <a:buFont typeface="Arial" pitchFamily="34" charset="0"/>
                <a:buChar char="►"/>
                <a:defRPr/>
              </a:pPr>
              <a:r>
                <a:rPr lang="pl-PL" sz="1000">
                  <a:solidFill>
                    <a:srgbClr val="FFFFFF"/>
                  </a:solidFill>
                  <a:latin typeface="Arial"/>
                </a:rPr>
                <a:t>Account values &amp; hierarchies:</a:t>
              </a:r>
            </a:p>
            <a:p>
              <a:pPr marL="356616" indent="-356616">
                <a:lnSpc>
                  <a:spcPct val="85000"/>
                </a:lnSpc>
                <a:spcAft>
                  <a:spcPts val="600"/>
                </a:spcAft>
                <a:buClr>
                  <a:srgbClr val="FFD200"/>
                </a:buClr>
                <a:buSzPct val="70000"/>
                <a:buFont typeface="Wingdings" panose="05000000000000000000" pitchFamily="2" charset="2"/>
                <a:buChar char="§"/>
                <a:defRPr/>
              </a:pPr>
              <a:endParaRPr lang="pl-PL" sz="1000">
                <a:solidFill>
                  <a:srgbClr val="FFFFFF"/>
                </a:solidFill>
                <a:latin typeface="Arial"/>
              </a:endParaRPr>
            </a:p>
            <a:p>
              <a:pPr marL="356616" indent="-356616">
                <a:lnSpc>
                  <a:spcPct val="85000"/>
                </a:lnSpc>
                <a:spcAft>
                  <a:spcPts val="600"/>
                </a:spcAft>
                <a:buClr>
                  <a:srgbClr val="FFD200"/>
                </a:buClr>
                <a:buSzPct val="70000"/>
                <a:buFont typeface="Wingdings" panose="05000000000000000000" pitchFamily="2" charset="2"/>
                <a:buChar char="§"/>
                <a:defRPr/>
              </a:pPr>
              <a:endParaRPr lang="pl-PL" sz="1200">
                <a:solidFill>
                  <a:srgbClr val="FFFFFF"/>
                </a:solidFill>
                <a:latin typeface="Arial"/>
              </a:endParaRPr>
            </a:p>
          </p:txBody>
        </p:sp>
        <p:sp>
          <p:nvSpPr>
            <p:cNvPr id="106" name="TextBox 105">
              <a:extLst>
                <a:ext uri="{FF2B5EF4-FFF2-40B4-BE49-F238E27FC236}">
                  <a16:creationId xmlns:a16="http://schemas.microsoft.com/office/drawing/2014/main" id="{4FF1C69E-C09C-05BB-6ACF-52D5BE706C3E}"/>
                </a:ext>
              </a:extLst>
            </p:cNvPr>
            <p:cNvSpPr txBox="1"/>
            <p:nvPr/>
          </p:nvSpPr>
          <p:spPr>
            <a:xfrm>
              <a:off x="7059084" y="2476500"/>
              <a:ext cx="1133475" cy="560153"/>
            </a:xfrm>
            <a:prstGeom prst="rect">
              <a:avLst/>
            </a:prstGeom>
            <a:noFill/>
          </p:spPr>
          <p:txBody>
            <a:bodyPr wrap="square" lIns="0" tIns="36576" rIns="0" bIns="0" rtlCol="0">
              <a:spAutoFit/>
            </a:bodyPr>
            <a:lstStyle/>
            <a:p>
              <a:pPr marL="356616" indent="-356616">
                <a:lnSpc>
                  <a:spcPct val="85000"/>
                </a:lnSpc>
                <a:spcAft>
                  <a:spcPts val="600"/>
                </a:spcAft>
                <a:buClr>
                  <a:srgbClr val="FFD200"/>
                </a:buClr>
                <a:buSzPct val="70000"/>
                <a:buFont typeface="Arial" pitchFamily="34" charset="0"/>
                <a:buChar char="►"/>
                <a:defRPr/>
              </a:pPr>
              <a:r>
                <a:rPr lang="pl-PL" sz="1000">
                  <a:solidFill>
                    <a:srgbClr val="FFFFFF"/>
                  </a:solidFill>
                  <a:latin typeface="Arial"/>
                </a:rPr>
                <a:t>Product Category Values and hierarchy</a:t>
              </a:r>
            </a:p>
          </p:txBody>
        </p:sp>
        <p:sp>
          <p:nvSpPr>
            <p:cNvPr id="107" name="TextBox 106">
              <a:extLst>
                <a:ext uri="{FF2B5EF4-FFF2-40B4-BE49-F238E27FC236}">
                  <a16:creationId xmlns:a16="http://schemas.microsoft.com/office/drawing/2014/main" id="{FAE091D4-556E-BC1E-D0F6-DB946B158609}"/>
                </a:ext>
              </a:extLst>
            </p:cNvPr>
            <p:cNvSpPr txBox="1"/>
            <p:nvPr/>
          </p:nvSpPr>
          <p:spPr>
            <a:xfrm>
              <a:off x="8201025" y="2476500"/>
              <a:ext cx="1133475" cy="298543"/>
            </a:xfrm>
            <a:prstGeom prst="rect">
              <a:avLst/>
            </a:prstGeom>
            <a:noFill/>
          </p:spPr>
          <p:txBody>
            <a:bodyPr wrap="square" lIns="0" tIns="36576" rIns="0" bIns="0" rtlCol="0">
              <a:spAutoFit/>
            </a:bodyPr>
            <a:lstStyle/>
            <a:p>
              <a:pPr marL="356616" indent="-356616">
                <a:lnSpc>
                  <a:spcPct val="85000"/>
                </a:lnSpc>
                <a:spcAft>
                  <a:spcPts val="600"/>
                </a:spcAft>
                <a:buClr>
                  <a:srgbClr val="FFD200"/>
                </a:buClr>
                <a:buSzPct val="70000"/>
                <a:buFont typeface="Arial" pitchFamily="34" charset="0"/>
                <a:buChar char="►"/>
                <a:defRPr/>
              </a:pPr>
              <a:r>
                <a:rPr lang="pl-PL" sz="1000">
                  <a:solidFill>
                    <a:srgbClr val="FFFFFF"/>
                  </a:solidFill>
                  <a:latin typeface="Arial"/>
                </a:rPr>
                <a:t>Country, Region</a:t>
              </a:r>
            </a:p>
          </p:txBody>
        </p:sp>
        <p:graphicFrame>
          <p:nvGraphicFramePr>
            <p:cNvPr id="108" name="Content Placeholder 4">
              <a:extLst>
                <a:ext uri="{FF2B5EF4-FFF2-40B4-BE49-F238E27FC236}">
                  <a16:creationId xmlns:a16="http://schemas.microsoft.com/office/drawing/2014/main" id="{DDBFB748-8BE4-FCC2-F30A-7ED06058F77B}"/>
                </a:ext>
              </a:extLst>
            </p:cNvPr>
            <p:cNvGraphicFramePr>
              <a:graphicFrameLocks/>
            </p:cNvGraphicFramePr>
            <p:nvPr>
              <p:extLst>
                <p:ext uri="{D42A27DB-BD31-4B8C-83A1-F6EECF244321}">
                  <p14:modId xmlns:p14="http://schemas.microsoft.com/office/powerpoint/2010/main" val="2962196049"/>
                </p:ext>
              </p:extLst>
            </p:nvPr>
          </p:nvGraphicFramePr>
          <p:xfrm>
            <a:off x="9334500" y="1662440"/>
            <a:ext cx="1524000" cy="563497"/>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09" name="TextBox 108">
              <a:extLst>
                <a:ext uri="{FF2B5EF4-FFF2-40B4-BE49-F238E27FC236}">
                  <a16:creationId xmlns:a16="http://schemas.microsoft.com/office/drawing/2014/main" id="{F564A400-1CE6-5870-BEB5-40A34AAF2872}"/>
                </a:ext>
              </a:extLst>
            </p:cNvPr>
            <p:cNvSpPr txBox="1"/>
            <p:nvPr/>
          </p:nvSpPr>
          <p:spPr>
            <a:xfrm>
              <a:off x="9544050" y="2476500"/>
              <a:ext cx="1314450" cy="167738"/>
            </a:xfrm>
            <a:prstGeom prst="rect">
              <a:avLst/>
            </a:prstGeom>
            <a:noFill/>
          </p:spPr>
          <p:txBody>
            <a:bodyPr wrap="square" lIns="0" tIns="36576" rIns="0" bIns="0" rtlCol="0">
              <a:spAutoFit/>
            </a:bodyPr>
            <a:lstStyle/>
            <a:p>
              <a:pPr marL="356616" indent="-356616">
                <a:lnSpc>
                  <a:spcPct val="85000"/>
                </a:lnSpc>
                <a:spcAft>
                  <a:spcPts val="600"/>
                </a:spcAft>
                <a:buClr>
                  <a:srgbClr val="FFD200"/>
                </a:buClr>
                <a:buSzPct val="70000"/>
                <a:buFont typeface="Arial" pitchFamily="34" charset="0"/>
                <a:buChar char="►"/>
                <a:defRPr/>
              </a:pPr>
              <a:r>
                <a:rPr lang="pl-PL" sz="1000">
                  <a:solidFill>
                    <a:srgbClr val="FFFFFF"/>
                  </a:solidFill>
                  <a:latin typeface="Arial"/>
                </a:rPr>
                <a:t>Affilliate Entity</a:t>
              </a:r>
            </a:p>
          </p:txBody>
        </p:sp>
        <p:cxnSp>
          <p:nvCxnSpPr>
            <p:cNvPr id="110" name="Elbow Connector 82">
              <a:extLst>
                <a:ext uri="{FF2B5EF4-FFF2-40B4-BE49-F238E27FC236}">
                  <a16:creationId xmlns:a16="http://schemas.microsoft.com/office/drawing/2014/main" id="{FAEA7A7A-B8BD-A5AA-314E-08C5FC035CD7}"/>
                </a:ext>
              </a:extLst>
            </p:cNvPr>
            <p:cNvCxnSpPr>
              <a:cxnSpLocks/>
            </p:cNvCxnSpPr>
            <p:nvPr/>
          </p:nvCxnSpPr>
          <p:spPr>
            <a:xfrm rot="5400000">
              <a:off x="1455620" y="989313"/>
              <a:ext cx="232193" cy="876117"/>
            </a:xfrm>
            <a:prstGeom prst="bentConnector3">
              <a:avLst>
                <a:gd name="adj1" fmla="val 50000"/>
              </a:avLst>
            </a:prstGeom>
            <a:noFill/>
            <a:ln w="9525" cap="flat" cmpd="sng" algn="ctr">
              <a:solidFill>
                <a:srgbClr val="FFFFFF"/>
              </a:solidFill>
              <a:prstDash val="solid"/>
              <a:tailEnd type="triangle"/>
            </a:ln>
            <a:effectLst/>
          </p:spPr>
        </p:cxnSp>
        <p:cxnSp>
          <p:nvCxnSpPr>
            <p:cNvPr id="111" name="Elbow Connector 53">
              <a:extLst>
                <a:ext uri="{FF2B5EF4-FFF2-40B4-BE49-F238E27FC236}">
                  <a16:creationId xmlns:a16="http://schemas.microsoft.com/office/drawing/2014/main" id="{A6290C8E-2340-EBDF-5549-269351F5926D}"/>
                </a:ext>
              </a:extLst>
            </p:cNvPr>
            <p:cNvCxnSpPr>
              <a:cxnSpLocks/>
            </p:cNvCxnSpPr>
            <p:nvPr/>
          </p:nvCxnSpPr>
          <p:spPr>
            <a:xfrm rot="16200000" flipH="1">
              <a:off x="2525951" y="997383"/>
              <a:ext cx="232193" cy="891727"/>
            </a:xfrm>
            <a:prstGeom prst="bentConnector3">
              <a:avLst>
                <a:gd name="adj1" fmla="val 50000"/>
              </a:avLst>
            </a:prstGeom>
            <a:noFill/>
            <a:ln w="9525" cap="flat" cmpd="sng" algn="ctr">
              <a:solidFill>
                <a:srgbClr val="FFFFFF"/>
              </a:solidFill>
              <a:prstDash val="solid"/>
              <a:tailEnd type="triangle"/>
            </a:ln>
            <a:effectLst/>
          </p:spPr>
        </p:cxnSp>
        <p:sp>
          <p:nvSpPr>
            <p:cNvPr id="112" name="Rectangle 51">
              <a:extLst>
                <a:ext uri="{FF2B5EF4-FFF2-40B4-BE49-F238E27FC236}">
                  <a16:creationId xmlns:a16="http://schemas.microsoft.com/office/drawing/2014/main" id="{4EE974C4-CC93-823F-1043-FCA59DDCA9BE}"/>
                </a:ext>
              </a:extLst>
            </p:cNvPr>
            <p:cNvSpPr/>
            <p:nvPr/>
          </p:nvSpPr>
          <p:spPr>
            <a:xfrm>
              <a:off x="1377315" y="1074711"/>
              <a:ext cx="1584960" cy="252440"/>
            </a:xfrm>
            <a:prstGeom prst="rect">
              <a:avLst/>
            </a:prstGeom>
            <a:solidFill>
              <a:srgbClr val="FFD200"/>
            </a:solidFill>
            <a:ln w="25400" cap="flat" cmpd="sng" algn="ctr">
              <a:noFill/>
              <a:prstDash val="solid"/>
            </a:ln>
            <a:effectLst/>
          </p:spPr>
          <p:txBody>
            <a:bodyPr rtlCol="0" anchor="ctr"/>
            <a:lstStyle/>
            <a:p>
              <a:pPr marL="0" marR="0" lvl="0" indent="0" algn="ctr" defTabSz="1219139" eaLnBrk="1" fontAlgn="auto" latinLnBrk="0" hangingPunct="1">
                <a:lnSpc>
                  <a:spcPct val="100000"/>
                </a:lnSpc>
                <a:spcBef>
                  <a:spcPts val="0"/>
                </a:spcBef>
                <a:spcAft>
                  <a:spcPts val="0"/>
                </a:spcAft>
                <a:buClrTx/>
                <a:buSzTx/>
                <a:buFontTx/>
                <a:buNone/>
                <a:tabLst/>
                <a:defRPr/>
              </a:pPr>
              <a:r>
                <a:rPr kumimoji="0" lang="pl-PL" sz="10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Reporting Segment</a:t>
              </a:r>
              <a:endParaRPr kumimoji="0" lang="en-US" sz="10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13" name="Elbow Connector 82">
              <a:extLst>
                <a:ext uri="{FF2B5EF4-FFF2-40B4-BE49-F238E27FC236}">
                  <a16:creationId xmlns:a16="http://schemas.microsoft.com/office/drawing/2014/main" id="{3AE95197-E039-09C0-FC5C-F7749A5FF4E4}"/>
                </a:ext>
              </a:extLst>
            </p:cNvPr>
            <p:cNvCxnSpPr>
              <a:cxnSpLocks/>
            </p:cNvCxnSpPr>
            <p:nvPr/>
          </p:nvCxnSpPr>
          <p:spPr>
            <a:xfrm rot="5400000">
              <a:off x="4343415" y="1005188"/>
              <a:ext cx="232193" cy="876117"/>
            </a:xfrm>
            <a:prstGeom prst="bentConnector3">
              <a:avLst>
                <a:gd name="adj1" fmla="val 50000"/>
              </a:avLst>
            </a:prstGeom>
            <a:noFill/>
            <a:ln w="9525" cap="flat" cmpd="sng" algn="ctr">
              <a:solidFill>
                <a:srgbClr val="FFFFFF"/>
              </a:solidFill>
              <a:prstDash val="solid"/>
              <a:tailEnd type="triangle"/>
            </a:ln>
            <a:effectLst/>
          </p:spPr>
        </p:cxnSp>
        <p:cxnSp>
          <p:nvCxnSpPr>
            <p:cNvPr id="114" name="Elbow Connector 53">
              <a:extLst>
                <a:ext uri="{FF2B5EF4-FFF2-40B4-BE49-F238E27FC236}">
                  <a16:creationId xmlns:a16="http://schemas.microsoft.com/office/drawing/2014/main" id="{A26FF325-4856-0212-E528-5DAC393F9AE3}"/>
                </a:ext>
              </a:extLst>
            </p:cNvPr>
            <p:cNvCxnSpPr>
              <a:cxnSpLocks/>
            </p:cNvCxnSpPr>
            <p:nvPr/>
          </p:nvCxnSpPr>
          <p:spPr>
            <a:xfrm rot="16200000" flipH="1">
              <a:off x="5408449" y="1006411"/>
              <a:ext cx="232193" cy="891727"/>
            </a:xfrm>
            <a:prstGeom prst="bentConnector3">
              <a:avLst>
                <a:gd name="adj1" fmla="val 50000"/>
              </a:avLst>
            </a:prstGeom>
            <a:noFill/>
            <a:ln w="9525" cap="flat" cmpd="sng" algn="ctr">
              <a:solidFill>
                <a:srgbClr val="FFFFFF"/>
              </a:solidFill>
              <a:prstDash val="solid"/>
              <a:tailEnd type="triangle"/>
            </a:ln>
            <a:effectLst/>
          </p:spPr>
        </p:cxnSp>
        <p:sp>
          <p:nvSpPr>
            <p:cNvPr id="115" name="Rectangle 51">
              <a:extLst>
                <a:ext uri="{FF2B5EF4-FFF2-40B4-BE49-F238E27FC236}">
                  <a16:creationId xmlns:a16="http://schemas.microsoft.com/office/drawing/2014/main" id="{9284080A-0323-17C6-3BFD-229EA6F41773}"/>
                </a:ext>
              </a:extLst>
            </p:cNvPr>
            <p:cNvSpPr/>
            <p:nvPr/>
          </p:nvSpPr>
          <p:spPr>
            <a:xfrm>
              <a:off x="4103465" y="1100885"/>
              <a:ext cx="1766769" cy="226265"/>
            </a:xfrm>
            <a:prstGeom prst="rect">
              <a:avLst/>
            </a:prstGeom>
            <a:solidFill>
              <a:srgbClr val="FFD200"/>
            </a:solidFill>
            <a:ln w="25400" cap="flat" cmpd="sng" algn="ctr">
              <a:noFill/>
              <a:prstDash val="solid"/>
            </a:ln>
            <a:effectLst/>
          </p:spPr>
          <p:txBody>
            <a:bodyPr rtlCol="0" anchor="ctr"/>
            <a:lstStyle/>
            <a:p>
              <a:pPr marL="0" marR="0" lvl="0" indent="0" algn="ctr" defTabSz="1219139" eaLnBrk="1" fontAlgn="auto" latinLnBrk="0" hangingPunct="1">
                <a:lnSpc>
                  <a:spcPct val="100000"/>
                </a:lnSpc>
                <a:spcBef>
                  <a:spcPts val="0"/>
                </a:spcBef>
                <a:spcAft>
                  <a:spcPts val="0"/>
                </a:spcAft>
                <a:buClrTx/>
                <a:buSzTx/>
                <a:buFontTx/>
                <a:buNone/>
                <a:tabLst/>
                <a:defRPr/>
              </a:pPr>
              <a:r>
                <a:rPr kumimoji="0" lang="pl-PL" sz="10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P&amp;L  Reporting Segment</a:t>
              </a:r>
              <a:endParaRPr kumimoji="0" lang="en-US" sz="10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16" name="Elbow Connector 82">
              <a:extLst>
                <a:ext uri="{FF2B5EF4-FFF2-40B4-BE49-F238E27FC236}">
                  <a16:creationId xmlns:a16="http://schemas.microsoft.com/office/drawing/2014/main" id="{93EF6552-AA8B-AD1F-3DBC-71F07F4A1E8D}"/>
                </a:ext>
              </a:extLst>
            </p:cNvPr>
            <p:cNvCxnSpPr>
              <a:cxnSpLocks/>
            </p:cNvCxnSpPr>
            <p:nvPr/>
          </p:nvCxnSpPr>
          <p:spPr>
            <a:xfrm rot="5400000">
              <a:off x="7780128" y="1005188"/>
              <a:ext cx="232193" cy="876117"/>
            </a:xfrm>
            <a:prstGeom prst="bentConnector3">
              <a:avLst>
                <a:gd name="adj1" fmla="val 50000"/>
              </a:avLst>
            </a:prstGeom>
            <a:noFill/>
            <a:ln w="9525" cap="flat" cmpd="sng" algn="ctr">
              <a:solidFill>
                <a:srgbClr val="FFFFFF"/>
              </a:solidFill>
              <a:prstDash val="solid"/>
              <a:tailEnd type="triangle"/>
            </a:ln>
            <a:effectLst/>
          </p:spPr>
        </p:cxnSp>
        <p:cxnSp>
          <p:nvCxnSpPr>
            <p:cNvPr id="117" name="Elbow Connector 53">
              <a:extLst>
                <a:ext uri="{FF2B5EF4-FFF2-40B4-BE49-F238E27FC236}">
                  <a16:creationId xmlns:a16="http://schemas.microsoft.com/office/drawing/2014/main" id="{842AC322-1E42-3C09-2C5D-BE822F83AEC2}"/>
                </a:ext>
              </a:extLst>
            </p:cNvPr>
            <p:cNvCxnSpPr>
              <a:cxnSpLocks/>
            </p:cNvCxnSpPr>
            <p:nvPr/>
          </p:nvCxnSpPr>
          <p:spPr>
            <a:xfrm rot="16200000" flipH="1">
              <a:off x="9018517" y="1017412"/>
              <a:ext cx="232193" cy="891727"/>
            </a:xfrm>
            <a:prstGeom prst="bentConnector3">
              <a:avLst>
                <a:gd name="adj1" fmla="val 50000"/>
              </a:avLst>
            </a:prstGeom>
            <a:noFill/>
            <a:ln w="9525" cap="flat" cmpd="sng" algn="ctr">
              <a:solidFill>
                <a:srgbClr val="FFFFFF"/>
              </a:solidFill>
              <a:prstDash val="solid"/>
              <a:tailEnd type="triangle"/>
            </a:ln>
            <a:effectLst/>
          </p:spPr>
        </p:cxnSp>
        <p:sp>
          <p:nvSpPr>
            <p:cNvPr id="118" name="Rectangle 51">
              <a:extLst>
                <a:ext uri="{FF2B5EF4-FFF2-40B4-BE49-F238E27FC236}">
                  <a16:creationId xmlns:a16="http://schemas.microsoft.com/office/drawing/2014/main" id="{3C2FFE5D-9F49-AA9E-52E7-315D39218EF3}"/>
                </a:ext>
              </a:extLst>
            </p:cNvPr>
            <p:cNvSpPr/>
            <p:nvPr/>
          </p:nvSpPr>
          <p:spPr>
            <a:xfrm>
              <a:off x="7642768" y="1094897"/>
              <a:ext cx="1634583" cy="216377"/>
            </a:xfrm>
            <a:prstGeom prst="rect">
              <a:avLst/>
            </a:prstGeom>
            <a:solidFill>
              <a:srgbClr val="FFD200"/>
            </a:solidFill>
            <a:ln w="25400" cap="flat" cmpd="sng" algn="ctr">
              <a:noFill/>
              <a:prstDash val="solid"/>
            </a:ln>
            <a:effectLst/>
          </p:spPr>
          <p:txBody>
            <a:bodyPr rtlCol="0" anchor="ctr"/>
            <a:lstStyle/>
            <a:p>
              <a:pPr marL="0" marR="0" lvl="0" indent="0" algn="ctr" defTabSz="1219139" eaLnBrk="1" fontAlgn="auto" latinLnBrk="0" hangingPunct="1">
                <a:lnSpc>
                  <a:spcPct val="100000"/>
                </a:lnSpc>
                <a:spcBef>
                  <a:spcPts val="0"/>
                </a:spcBef>
                <a:spcAft>
                  <a:spcPts val="0"/>
                </a:spcAft>
                <a:buClrTx/>
                <a:buSzTx/>
                <a:buFontTx/>
                <a:buNone/>
                <a:tabLst/>
                <a:defRPr/>
              </a:pPr>
              <a:r>
                <a:rPr kumimoji="0" lang="pl-PL" sz="10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Management Reporting</a:t>
              </a:r>
              <a:endParaRPr kumimoji="0" lang="en-US" sz="10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19" name="Text Box 25">
            <a:extLst>
              <a:ext uri="{FF2B5EF4-FFF2-40B4-BE49-F238E27FC236}">
                <a16:creationId xmlns:a16="http://schemas.microsoft.com/office/drawing/2014/main" id="{E381F459-CC01-0635-E4D3-81C9D7FDD019}"/>
              </a:ext>
            </a:extLst>
          </p:cNvPr>
          <p:cNvSpPr txBox="1">
            <a:spLocks noChangeArrowheads="1"/>
          </p:cNvSpPr>
          <p:nvPr/>
        </p:nvSpPr>
        <p:spPr bwMode="auto">
          <a:xfrm>
            <a:off x="832049" y="4686658"/>
            <a:ext cx="3538787" cy="1949536"/>
          </a:xfrm>
          <a:prstGeom prst="rect">
            <a:avLst/>
          </a:prstGeom>
          <a:solidFill>
            <a:srgbClr val="FFD200">
              <a:lumMod val="20000"/>
              <a:lumOff val="80000"/>
            </a:srgbClr>
          </a:solidFill>
          <a:ln>
            <a:noFill/>
          </a:ln>
          <a:effectLst/>
        </p:spPr>
        <p:txBody>
          <a:bodyPr wrap="square">
            <a:noAutofit/>
          </a:bodyPr>
          <a:lstStyle>
            <a:lvl1pPr marL="228600" indent="-228600">
              <a:defRPr sz="2400">
                <a:solidFill>
                  <a:schemeClr val="tx1"/>
                </a:solidFill>
                <a:latin typeface="Times New Roman" panose="02020603050405020304" pitchFamily="18" charset="0"/>
              </a:defRPr>
            </a:lvl1pPr>
            <a:lvl2pPr marL="520700" indent="-177800">
              <a:defRPr sz="2400">
                <a:solidFill>
                  <a:schemeClr val="tx1"/>
                </a:solidFill>
                <a:latin typeface="Times New Roman" panose="02020603050405020304" pitchFamily="18" charset="0"/>
              </a:defRPr>
            </a:lvl2pPr>
            <a:lvl3pPr marL="798513" indent="-163513">
              <a:defRPr sz="2400">
                <a:solidFill>
                  <a:schemeClr val="tx1"/>
                </a:solidFill>
                <a:latin typeface="Times New Roman" panose="02020603050405020304" pitchFamily="18" charset="0"/>
              </a:defRPr>
            </a:lvl3pPr>
            <a:lvl4pPr marL="2120900" indent="-457200">
              <a:defRPr sz="2400">
                <a:solidFill>
                  <a:schemeClr val="tx1"/>
                </a:solidFill>
                <a:latin typeface="Times New Roman" panose="02020603050405020304" pitchFamily="18" charset="0"/>
              </a:defRPr>
            </a:lvl4pPr>
            <a:lvl5pPr marL="2692400" indent="-457200">
              <a:defRPr sz="2400">
                <a:solidFill>
                  <a:schemeClr val="tx1"/>
                </a:solidFill>
                <a:latin typeface="Times New Roman" panose="02020603050405020304" pitchFamily="18" charset="0"/>
              </a:defRPr>
            </a:lvl5pPr>
            <a:lvl6pPr marL="3149600" indent="-457200" eaLnBrk="0" fontAlgn="base" hangingPunct="0">
              <a:spcBef>
                <a:spcPct val="0"/>
              </a:spcBef>
              <a:spcAft>
                <a:spcPct val="0"/>
              </a:spcAft>
              <a:defRPr sz="2400">
                <a:solidFill>
                  <a:schemeClr val="tx1"/>
                </a:solidFill>
                <a:latin typeface="Times New Roman" panose="02020603050405020304" pitchFamily="18" charset="0"/>
              </a:defRPr>
            </a:lvl6pPr>
            <a:lvl7pPr marL="3606800" indent="-457200" eaLnBrk="0" fontAlgn="base" hangingPunct="0">
              <a:spcBef>
                <a:spcPct val="0"/>
              </a:spcBef>
              <a:spcAft>
                <a:spcPct val="0"/>
              </a:spcAft>
              <a:defRPr sz="2400">
                <a:solidFill>
                  <a:schemeClr val="tx1"/>
                </a:solidFill>
                <a:latin typeface="Times New Roman" panose="02020603050405020304" pitchFamily="18" charset="0"/>
              </a:defRPr>
            </a:lvl7pPr>
            <a:lvl8pPr marL="4064000" indent="-457200" eaLnBrk="0" fontAlgn="base" hangingPunct="0">
              <a:spcBef>
                <a:spcPct val="0"/>
              </a:spcBef>
              <a:spcAft>
                <a:spcPct val="0"/>
              </a:spcAft>
              <a:defRPr sz="2400">
                <a:solidFill>
                  <a:schemeClr val="tx1"/>
                </a:solidFill>
                <a:latin typeface="Times New Roman" panose="02020603050405020304" pitchFamily="18" charset="0"/>
              </a:defRPr>
            </a:lvl8pPr>
            <a:lvl9pPr marL="4521200" indent="-457200" eaLnBrk="0" fontAlgn="base" hangingPunct="0">
              <a:spcBef>
                <a:spcPct val="0"/>
              </a:spcBef>
              <a:spcAft>
                <a:spcPct val="0"/>
              </a:spcAft>
              <a:defRPr sz="2400">
                <a:solidFill>
                  <a:schemeClr val="tx1"/>
                </a:solidFill>
                <a:latin typeface="Times New Roman" panose="02020603050405020304" pitchFamily="18" charset="0"/>
              </a:defRPr>
            </a:lvl9pPr>
          </a:lstStyle>
          <a:p>
            <a:pPr marL="383098" marR="0" lvl="2" indent="0" defTabSz="1219139" eaLnBrk="1" fontAlgn="auto" latinLnBrk="0" hangingPunct="1">
              <a:lnSpc>
                <a:spcPct val="120000"/>
              </a:lnSpc>
              <a:spcBef>
                <a:spcPts val="0"/>
              </a:spcBef>
              <a:spcAft>
                <a:spcPts val="0"/>
              </a:spcAft>
              <a:buClrTx/>
              <a:buSzTx/>
              <a:buFontTx/>
              <a:buNone/>
              <a:tabLst/>
              <a:defRPr/>
            </a:pPr>
            <a:r>
              <a:rPr kumimoji="0" lang="pl-PL" altLang="en-US" sz="1100" b="1"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General Ledger - include limited volume of data and is covering only set of a diffrent master accounts, where:</a:t>
            </a:r>
          </a:p>
          <a:p>
            <a:pPr marL="554548" marR="0" lvl="2" indent="-171450" defTabSz="1219139" eaLnBrk="1" fontAlgn="auto" latinLnBrk="0" hangingPunct="1">
              <a:lnSpc>
                <a:spcPct val="12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All debit and credit entries of transactions and balances are recorded;</a:t>
            </a:r>
          </a:p>
          <a:p>
            <a:pPr marL="554548" marR="0" lvl="2" indent="-171450" defTabSz="1219139" eaLnBrk="1" fontAlgn="auto" latinLnBrk="0" hangingPunct="1">
              <a:lnSpc>
                <a:spcPct val="12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There is only one account for each category;</a:t>
            </a:r>
          </a:p>
          <a:p>
            <a:pPr marL="554548" marR="0" lvl="2" indent="-171450" defTabSz="1219139" eaLnBrk="1" fontAlgn="auto" latinLnBrk="0" hangingPunct="1">
              <a:lnSpc>
                <a:spcPct val="12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Contains only summary information;</a:t>
            </a:r>
          </a:p>
          <a:p>
            <a:pPr marL="554548" marR="0" lvl="2" indent="-171450" defTabSz="1219139" eaLnBrk="1" fontAlgn="auto" latinLnBrk="0" hangingPunct="1">
              <a:lnSpc>
                <a:spcPct val="12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There isn’t a balancing requirement.</a:t>
            </a:r>
            <a:endParaRPr kumimoji="0" lang="en-US"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lvl="2" indent="-226472" defTabSz="1219139">
              <a:buFont typeface="Arial" panose="020B0604020202020204" pitchFamily="34" charset="0"/>
              <a:buChar char="•"/>
              <a:defRPr/>
            </a:pPr>
            <a:r>
              <a:rPr lang="pl-PL" b="1">
                <a:solidFill>
                  <a:srgbClr val="FFFFFF"/>
                </a:solidFill>
                <a:latin typeface="Arial"/>
                <a:cs typeface="Arial" pitchFamily="34" charset="0"/>
              </a:rPr>
              <a:t>–</a:t>
            </a:r>
            <a:r>
              <a:rPr lang="pl-PL" sz="1200">
                <a:solidFill>
                  <a:srgbClr val="FFFFFF"/>
                </a:solidFill>
                <a:latin typeface="Arial"/>
                <a:cs typeface="Arial" pitchFamily="34" charset="0"/>
              </a:rPr>
              <a:t>:</a:t>
            </a:r>
            <a:br>
              <a:rPr lang="pl-PL" sz="1200">
                <a:solidFill>
                  <a:srgbClr val="FFFFFF"/>
                </a:solidFill>
                <a:latin typeface="Arial"/>
                <a:cs typeface="Arial" pitchFamily="34" charset="0"/>
              </a:rPr>
            </a:b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120" name="Text Box 25">
            <a:extLst>
              <a:ext uri="{FF2B5EF4-FFF2-40B4-BE49-F238E27FC236}">
                <a16:creationId xmlns:a16="http://schemas.microsoft.com/office/drawing/2014/main" id="{C73B2B74-5898-AEA2-B590-7FE06BC952CD}"/>
              </a:ext>
            </a:extLst>
          </p:cNvPr>
          <p:cNvSpPr txBox="1">
            <a:spLocks noChangeArrowheads="1"/>
          </p:cNvSpPr>
          <p:nvPr/>
        </p:nvSpPr>
        <p:spPr bwMode="auto">
          <a:xfrm>
            <a:off x="5989521" y="4660948"/>
            <a:ext cx="3652687" cy="1951489"/>
          </a:xfrm>
          <a:prstGeom prst="rect">
            <a:avLst/>
          </a:prstGeom>
          <a:solidFill>
            <a:srgbClr val="FFD200">
              <a:lumMod val="20000"/>
              <a:lumOff val="80000"/>
            </a:srgbClr>
          </a:solidFill>
          <a:ln>
            <a:noFill/>
          </a:ln>
          <a:effectLst/>
        </p:spPr>
        <p:txBody>
          <a:bodyPr wrap="square">
            <a:noAutofit/>
          </a:bodyPr>
          <a:lstStyle>
            <a:lvl1pPr marL="228600" indent="-228600">
              <a:defRPr sz="2400">
                <a:solidFill>
                  <a:schemeClr val="tx1"/>
                </a:solidFill>
                <a:latin typeface="Times New Roman" panose="02020603050405020304" pitchFamily="18" charset="0"/>
              </a:defRPr>
            </a:lvl1pPr>
            <a:lvl2pPr marL="520700" indent="-177800">
              <a:defRPr sz="2400">
                <a:solidFill>
                  <a:schemeClr val="tx1"/>
                </a:solidFill>
                <a:latin typeface="Times New Roman" panose="02020603050405020304" pitchFamily="18" charset="0"/>
              </a:defRPr>
            </a:lvl2pPr>
            <a:lvl3pPr marL="798513" indent="-163513">
              <a:defRPr sz="2400">
                <a:solidFill>
                  <a:schemeClr val="tx1"/>
                </a:solidFill>
                <a:latin typeface="Times New Roman" panose="02020603050405020304" pitchFamily="18" charset="0"/>
              </a:defRPr>
            </a:lvl3pPr>
            <a:lvl4pPr marL="2120900" indent="-457200">
              <a:defRPr sz="2400">
                <a:solidFill>
                  <a:schemeClr val="tx1"/>
                </a:solidFill>
                <a:latin typeface="Times New Roman" panose="02020603050405020304" pitchFamily="18" charset="0"/>
              </a:defRPr>
            </a:lvl4pPr>
            <a:lvl5pPr marL="2692400" indent="-457200">
              <a:defRPr sz="2400">
                <a:solidFill>
                  <a:schemeClr val="tx1"/>
                </a:solidFill>
                <a:latin typeface="Times New Roman" panose="02020603050405020304" pitchFamily="18" charset="0"/>
              </a:defRPr>
            </a:lvl5pPr>
            <a:lvl6pPr marL="3149600" indent="-457200" eaLnBrk="0" fontAlgn="base" hangingPunct="0">
              <a:spcBef>
                <a:spcPct val="0"/>
              </a:spcBef>
              <a:spcAft>
                <a:spcPct val="0"/>
              </a:spcAft>
              <a:defRPr sz="2400">
                <a:solidFill>
                  <a:schemeClr val="tx1"/>
                </a:solidFill>
                <a:latin typeface="Times New Roman" panose="02020603050405020304" pitchFamily="18" charset="0"/>
              </a:defRPr>
            </a:lvl6pPr>
            <a:lvl7pPr marL="3606800" indent="-457200" eaLnBrk="0" fontAlgn="base" hangingPunct="0">
              <a:spcBef>
                <a:spcPct val="0"/>
              </a:spcBef>
              <a:spcAft>
                <a:spcPct val="0"/>
              </a:spcAft>
              <a:defRPr sz="2400">
                <a:solidFill>
                  <a:schemeClr val="tx1"/>
                </a:solidFill>
                <a:latin typeface="Times New Roman" panose="02020603050405020304" pitchFamily="18" charset="0"/>
              </a:defRPr>
            </a:lvl7pPr>
            <a:lvl8pPr marL="4064000" indent="-457200" eaLnBrk="0" fontAlgn="base" hangingPunct="0">
              <a:spcBef>
                <a:spcPct val="0"/>
              </a:spcBef>
              <a:spcAft>
                <a:spcPct val="0"/>
              </a:spcAft>
              <a:defRPr sz="2400">
                <a:solidFill>
                  <a:schemeClr val="tx1"/>
                </a:solidFill>
                <a:latin typeface="Times New Roman" panose="02020603050405020304" pitchFamily="18" charset="0"/>
              </a:defRPr>
            </a:lvl8pPr>
            <a:lvl9pPr marL="4521200" indent="-457200" eaLnBrk="0" fontAlgn="base" hangingPunct="0">
              <a:spcBef>
                <a:spcPct val="0"/>
              </a:spcBef>
              <a:spcAft>
                <a:spcPct val="0"/>
              </a:spcAft>
              <a:defRPr sz="2400">
                <a:solidFill>
                  <a:schemeClr val="tx1"/>
                </a:solidFill>
                <a:latin typeface="Times New Roman" panose="02020603050405020304" pitchFamily="18" charset="0"/>
              </a:defRPr>
            </a:lvl9pPr>
          </a:lstStyle>
          <a:p>
            <a:pPr marL="383098" marR="0" lvl="2" indent="0" defTabSz="1219139" eaLnBrk="1" fontAlgn="auto" latinLnBrk="0" hangingPunct="1">
              <a:lnSpc>
                <a:spcPct val="100000"/>
              </a:lnSpc>
              <a:spcBef>
                <a:spcPts val="0"/>
              </a:spcBef>
              <a:spcAft>
                <a:spcPts val="0"/>
              </a:spcAft>
              <a:buClrTx/>
              <a:buSzTx/>
              <a:buFontTx/>
              <a:buNone/>
              <a:tabLst/>
              <a:defRPr/>
            </a:pPr>
            <a:r>
              <a:rPr kumimoji="0" lang="pl-PL" altLang="en-US" sz="1100" b="1"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Subledger – includes a large quantity of data, which is:</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Important for audits purposes;</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Helpful for reviewing financial statements;</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Giving more detailed view of where cash is being spent;</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Sub-ledger by each customer can help accountant to follow up on late payments;</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There are often several accounts for each of its corresponding general ledger accounts;</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pl-PL" altLang="en-US" sz="10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rPr>
              <a:t>Must total the amount displayed in the appropriate general ledger account.</a:t>
            </a: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endParaRPr kumimoji="0" lang="pl-PL" altLang="en-US" sz="12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endParaRPr>
          </a:p>
          <a:p>
            <a:pPr marL="554548" marR="0" lvl="2" indent="-171450" defTabSz="1219139" eaLnBrk="1" fontAlgn="auto" latinLnBrk="0" hangingPunct="1">
              <a:lnSpc>
                <a:spcPct val="100000"/>
              </a:lnSpc>
              <a:spcBef>
                <a:spcPts val="0"/>
              </a:spcBef>
              <a:spcAft>
                <a:spcPts val="0"/>
              </a:spcAft>
              <a:buClrTx/>
              <a:buSzTx/>
              <a:buFont typeface="Wingdings" panose="05000000000000000000" pitchFamily="2" charset="2"/>
              <a:buChar char="ü"/>
              <a:tabLst/>
              <a:defRPr/>
            </a:pPr>
            <a:endParaRPr kumimoji="0" lang="pl-PL" altLang="en-US" sz="12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333333"/>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609570" marR="0" lvl="2" indent="-226472" defTabSz="1219139"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en-US" sz="12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121" name="TextBox 120">
            <a:extLst>
              <a:ext uri="{FF2B5EF4-FFF2-40B4-BE49-F238E27FC236}">
                <a16:creationId xmlns:a16="http://schemas.microsoft.com/office/drawing/2014/main" id="{698FCB5A-15F8-D90E-A43F-5B830D8397BE}"/>
              </a:ext>
            </a:extLst>
          </p:cNvPr>
          <p:cNvSpPr txBox="1"/>
          <p:nvPr/>
        </p:nvSpPr>
        <p:spPr>
          <a:xfrm>
            <a:off x="832049" y="4045127"/>
            <a:ext cx="10895798" cy="507831"/>
          </a:xfrm>
          <a:prstGeom prst="rect">
            <a:avLst/>
          </a:prstGeom>
          <a:noFill/>
        </p:spPr>
        <p:txBody>
          <a:bodyPr wrap="square" lIns="0" tIns="36576" rIns="0" bIns="0" rtlCol="0">
            <a:spAutoFit/>
          </a:bodyPr>
          <a:lstStyle/>
          <a:p>
            <a:pPr>
              <a:lnSpc>
                <a:spcPct val="85000"/>
              </a:lnSpc>
              <a:spcAft>
                <a:spcPts val="600"/>
              </a:spcAft>
              <a:buClr>
                <a:srgbClr val="FFD200"/>
              </a:buClr>
              <a:buSzPct val="70000"/>
              <a:defRPr/>
            </a:pPr>
            <a:r>
              <a:rPr lang="pl-PL" sz="1200">
                <a:solidFill>
                  <a:srgbClr val="FFFFFF"/>
                </a:solidFill>
                <a:latin typeface="Arial"/>
              </a:rPr>
              <a:t>To record financial transactions there are used General and Sub-ledger. The part of Chart of Account is General Ledger, but to organized the general ledger for a large company maintaining multiple sources of revenue and debts is a subledger. The number of a subledger is reflected in the general ledger of an organization. The diffrence between general ledger and subledger:  </a:t>
            </a:r>
          </a:p>
        </p:txBody>
      </p:sp>
      <p:sp>
        <p:nvSpPr>
          <p:cNvPr id="124" name="TextBox 123">
            <a:extLst>
              <a:ext uri="{FF2B5EF4-FFF2-40B4-BE49-F238E27FC236}">
                <a16:creationId xmlns:a16="http://schemas.microsoft.com/office/drawing/2014/main" id="{68276F06-BBDB-B859-F46B-1B44E3C4505A}"/>
              </a:ext>
            </a:extLst>
          </p:cNvPr>
          <p:cNvSpPr txBox="1"/>
          <p:nvPr/>
        </p:nvSpPr>
        <p:spPr>
          <a:xfrm>
            <a:off x="571099" y="913938"/>
            <a:ext cx="9950190" cy="900246"/>
          </a:xfrm>
          <a:prstGeom prst="rect">
            <a:avLst/>
          </a:prstGeom>
          <a:noFill/>
        </p:spPr>
        <p:txBody>
          <a:bodyPr wrap="square" rtlCol="0">
            <a:spAutoFit/>
          </a:bodyPr>
          <a:lstStyle/>
          <a:p>
            <a:r>
              <a:rPr lang="pl-PL" sz="1050" b="1">
                <a:solidFill>
                  <a:srgbClr val="FFFFFF"/>
                </a:solidFill>
                <a:latin typeface="EYInterstate" panose="02000503020000020004" pitchFamily="2" charset="0"/>
                <a:cs typeface="Arial" pitchFamily="34" charset="0"/>
              </a:rPr>
              <a:t>l</a:t>
            </a:r>
            <a:r>
              <a:rPr lang="pl-PL" sz="1050">
                <a:solidFill>
                  <a:srgbClr val="FFFFFF"/>
                </a:solidFill>
                <a:latin typeface="EYInterstate" panose="02000503020000020004" pitchFamily="2" charset="0"/>
                <a:cs typeface="Arial" pitchFamily="34" charset="0"/>
              </a:rPr>
              <a:t>ists of all the GL accounts included in the financial statements of a company. Every account in the chart holds a number to facilitate its identification in the ledger. It helps organizations prepare, maintain, and monitore their financial accounts as per the standard accounting norms during a specific accounting period. Using incorrect account code or not having enough codes will limit or produce wrong FS. The accounts list may also include codes that are not require but is worth keeping for future use. There are 5 main account categories: Assets (Current and Non-Current Assets or Fixed Assets), Liabilities (Current and Non-Current or Long-term Liabilities), Equity, Revenues and Expenses. Below please find COA reporting segments</a:t>
            </a:r>
            <a:endParaRPr lang="en-IN" sz="1050">
              <a:latin typeface="EYInterstate" panose="02000503020000020004" pitchFamily="2" charset="0"/>
            </a:endParaRPr>
          </a:p>
        </p:txBody>
      </p:sp>
      <p:sp>
        <p:nvSpPr>
          <p:cNvPr id="125" name="Arrow: Right 124">
            <a:extLst>
              <a:ext uri="{FF2B5EF4-FFF2-40B4-BE49-F238E27FC236}">
                <a16:creationId xmlns:a16="http://schemas.microsoft.com/office/drawing/2014/main" id="{69B00A6C-3C99-5CC0-49B1-A6F5D96D44C7}"/>
              </a:ext>
            </a:extLst>
          </p:cNvPr>
          <p:cNvSpPr/>
          <p:nvPr/>
        </p:nvSpPr>
        <p:spPr>
          <a:xfrm>
            <a:off x="4693631" y="5321909"/>
            <a:ext cx="966523" cy="507831"/>
          </a:xfrm>
          <a:prstGeom prst="rightArrow">
            <a:avLst/>
          </a:prstGeom>
          <a:solidFill>
            <a:srgbClr val="FFE6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19058583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08CD61-B952-DF86-933A-8C05D2FE01F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AE7D2A4-7E8D-F8E8-9C74-8066EB318599}"/>
              </a:ext>
            </a:extLst>
          </p:cNvPr>
          <p:cNvSpPr txBox="1">
            <a:spLocks noGrp="1"/>
          </p:cNvSpPr>
          <p:nvPr>
            <p:ph type="title"/>
          </p:nvPr>
        </p:nvSpPr>
        <p:spPr>
          <a:xfrm>
            <a:off x="544927" y="491223"/>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Chart of Accounts(CoA)</a:t>
            </a:r>
          </a:p>
        </p:txBody>
      </p:sp>
      <p:sp>
        <p:nvSpPr>
          <p:cNvPr id="5" name="TextBox 4">
            <a:extLst>
              <a:ext uri="{FF2B5EF4-FFF2-40B4-BE49-F238E27FC236}">
                <a16:creationId xmlns:a16="http://schemas.microsoft.com/office/drawing/2014/main" id="{833C1B12-CE42-8104-8A39-362F8D25AC0E}"/>
              </a:ext>
            </a:extLst>
          </p:cNvPr>
          <p:cNvSpPr txBox="1"/>
          <p:nvPr/>
        </p:nvSpPr>
        <p:spPr>
          <a:xfrm>
            <a:off x="589042" y="808621"/>
            <a:ext cx="10343660" cy="147732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a:solidFill>
                <a:schemeClr val="bg1"/>
              </a:solidFill>
              <a:latin typeface="EY interstate"/>
            </a:endParaRPr>
          </a:p>
          <a:p>
            <a:r>
              <a:rPr lang="en-IN" u="sng">
                <a:solidFill>
                  <a:srgbClr val="FFE600"/>
                </a:solidFill>
                <a:latin typeface="EY interstate"/>
              </a:rPr>
              <a:t>Key Components </a:t>
            </a:r>
          </a:p>
          <a:p>
            <a:r>
              <a:rPr lang="en-IN">
                <a:solidFill>
                  <a:schemeClr val="bg1"/>
                </a:solidFill>
                <a:latin typeface="EY interstate"/>
              </a:rPr>
              <a:t>The CoA is typically organized into hierarchical tiers, each representing a level of granularity in financial data classification. It comprises the following key elements:</a:t>
            </a:r>
          </a:p>
          <a:p>
            <a:endParaRPr lang="en-US">
              <a:solidFill>
                <a:schemeClr val="bg1"/>
              </a:solidFill>
              <a:latin typeface="EY interstate"/>
            </a:endParaRPr>
          </a:p>
        </p:txBody>
      </p:sp>
      <p:sp>
        <p:nvSpPr>
          <p:cNvPr id="10" name="TextBox 9">
            <a:extLst>
              <a:ext uri="{FF2B5EF4-FFF2-40B4-BE49-F238E27FC236}">
                <a16:creationId xmlns:a16="http://schemas.microsoft.com/office/drawing/2014/main" id="{3B3DFE70-4584-CFDF-BE4F-01D30D9BEBBA}"/>
              </a:ext>
            </a:extLst>
          </p:cNvPr>
          <p:cNvSpPr txBox="1"/>
          <p:nvPr/>
        </p:nvSpPr>
        <p:spPr>
          <a:xfrm>
            <a:off x="589042" y="6340790"/>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cxnSp>
        <p:nvCxnSpPr>
          <p:cNvPr id="4" name="AutoShape 15">
            <a:extLst>
              <a:ext uri="{FF2B5EF4-FFF2-40B4-BE49-F238E27FC236}">
                <a16:creationId xmlns:a16="http://schemas.microsoft.com/office/drawing/2014/main" id="{864651B7-AFFF-84A5-5C2E-6BD60228A371}"/>
              </a:ext>
            </a:extLst>
          </p:cNvPr>
          <p:cNvCxnSpPr>
            <a:cxnSpLocks noChangeShapeType="1"/>
            <a:stCxn id="6" idx="3"/>
            <a:endCxn id="7" idx="1"/>
          </p:cNvCxnSpPr>
          <p:nvPr/>
        </p:nvCxnSpPr>
        <p:spPr bwMode="auto">
          <a:xfrm>
            <a:off x="2501899" y="3174460"/>
            <a:ext cx="1111476" cy="271353"/>
          </a:xfrm>
          <a:prstGeom prst="bentConnector3">
            <a:avLst>
              <a:gd name="adj1" fmla="val 50000"/>
            </a:avLst>
          </a:prstGeom>
          <a:noFill/>
          <a:ln w="9525">
            <a:solidFill>
              <a:schemeClr val="tx2"/>
            </a:solidFill>
            <a:round/>
            <a:headEnd/>
            <a:tailEnd/>
          </a:ln>
        </p:spPr>
      </p:cxnSp>
      <p:sp>
        <p:nvSpPr>
          <p:cNvPr id="6" name="Rectangle 4">
            <a:extLst>
              <a:ext uri="{FF2B5EF4-FFF2-40B4-BE49-F238E27FC236}">
                <a16:creationId xmlns:a16="http://schemas.microsoft.com/office/drawing/2014/main" id="{BB20A6C1-3003-D633-20DD-FA609EA17218}"/>
              </a:ext>
            </a:extLst>
          </p:cNvPr>
          <p:cNvSpPr>
            <a:spLocks noChangeArrowheads="1"/>
          </p:cNvSpPr>
          <p:nvPr/>
        </p:nvSpPr>
        <p:spPr bwMode="auto">
          <a:xfrm>
            <a:off x="653406" y="2859563"/>
            <a:ext cx="1848493" cy="629793"/>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ctr"/>
          <a:lstStyle/>
          <a:p>
            <a:pPr defTabSz="913943">
              <a:spcBef>
                <a:spcPts val="200"/>
              </a:spcBef>
              <a:defRPr/>
            </a:pPr>
            <a:r>
              <a:rPr lang="en-US" sz="1400" b="1" kern="0">
                <a:solidFill>
                  <a:srgbClr val="000000"/>
                </a:solidFill>
                <a:latin typeface="EY interstate"/>
                <a:ea typeface="ＭＳ Ｐゴシック" pitchFamily="50" charset="-128"/>
                <a:cs typeface="Arial" pitchFamily="34" charset="0"/>
              </a:rPr>
              <a:t>Account categories</a:t>
            </a:r>
          </a:p>
        </p:txBody>
      </p:sp>
      <p:sp>
        <p:nvSpPr>
          <p:cNvPr id="7" name="Rectangle 6">
            <a:extLst>
              <a:ext uri="{FF2B5EF4-FFF2-40B4-BE49-F238E27FC236}">
                <a16:creationId xmlns:a16="http://schemas.microsoft.com/office/drawing/2014/main" id="{BE33D009-6642-A7F3-D1D1-6CC63695C2E5}"/>
              </a:ext>
            </a:extLst>
          </p:cNvPr>
          <p:cNvSpPr>
            <a:spLocks noChangeArrowheads="1"/>
          </p:cNvSpPr>
          <p:nvPr/>
        </p:nvSpPr>
        <p:spPr bwMode="auto">
          <a:xfrm>
            <a:off x="3613375" y="3130916"/>
            <a:ext cx="1850400" cy="629793"/>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ctr"/>
          <a:lstStyle/>
          <a:p>
            <a:pPr defTabSz="913943">
              <a:spcBef>
                <a:spcPts val="200"/>
              </a:spcBef>
              <a:defRPr/>
            </a:pPr>
            <a:r>
              <a:rPr lang="en-US" sz="1400" b="1" kern="0">
                <a:solidFill>
                  <a:srgbClr val="000000"/>
                </a:solidFill>
                <a:latin typeface="EY interstate"/>
                <a:ea typeface="ＭＳ Ｐゴシック" pitchFamily="50" charset="-128"/>
                <a:cs typeface="Arial" pitchFamily="34" charset="0"/>
              </a:rPr>
              <a:t>Accounts types</a:t>
            </a:r>
          </a:p>
        </p:txBody>
      </p:sp>
      <p:sp>
        <p:nvSpPr>
          <p:cNvPr id="8" name="Rectangle 6">
            <a:extLst>
              <a:ext uri="{FF2B5EF4-FFF2-40B4-BE49-F238E27FC236}">
                <a16:creationId xmlns:a16="http://schemas.microsoft.com/office/drawing/2014/main" id="{FDBB0046-13CF-24E2-7CC4-26BDB2671F63}"/>
              </a:ext>
            </a:extLst>
          </p:cNvPr>
          <p:cNvSpPr>
            <a:spLocks noChangeArrowheads="1"/>
          </p:cNvSpPr>
          <p:nvPr/>
        </p:nvSpPr>
        <p:spPr bwMode="auto">
          <a:xfrm>
            <a:off x="6672026" y="3457125"/>
            <a:ext cx="1798874" cy="629792"/>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ctr"/>
          <a:lstStyle/>
          <a:p>
            <a:pPr defTabSz="913943">
              <a:spcBef>
                <a:spcPts val="200"/>
              </a:spcBef>
              <a:defRPr/>
            </a:pPr>
            <a:r>
              <a:rPr lang="en-US" sz="1400" b="1" kern="0">
                <a:solidFill>
                  <a:srgbClr val="000000"/>
                </a:solidFill>
                <a:latin typeface="EY interstate"/>
                <a:ea typeface="ＭＳ Ｐゴシック" pitchFamily="50" charset="-128"/>
                <a:cs typeface="Arial" pitchFamily="34" charset="0"/>
              </a:rPr>
              <a:t>Account Sub-types</a:t>
            </a:r>
          </a:p>
        </p:txBody>
      </p:sp>
      <p:sp>
        <p:nvSpPr>
          <p:cNvPr id="11" name="Rectangle 6">
            <a:extLst>
              <a:ext uri="{FF2B5EF4-FFF2-40B4-BE49-F238E27FC236}">
                <a16:creationId xmlns:a16="http://schemas.microsoft.com/office/drawing/2014/main" id="{506585C5-47DA-51FA-AE66-B323887D67EE}"/>
              </a:ext>
            </a:extLst>
          </p:cNvPr>
          <p:cNvSpPr>
            <a:spLocks noChangeArrowheads="1"/>
          </p:cNvSpPr>
          <p:nvPr/>
        </p:nvSpPr>
        <p:spPr bwMode="auto">
          <a:xfrm>
            <a:off x="9608671" y="3793722"/>
            <a:ext cx="1798874" cy="629792"/>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ctr"/>
          <a:lstStyle/>
          <a:p>
            <a:pPr defTabSz="913943">
              <a:spcBef>
                <a:spcPts val="200"/>
              </a:spcBef>
              <a:buClr>
                <a:srgbClr val="000000"/>
              </a:buClr>
              <a:buSzPct val="75000"/>
              <a:defRPr/>
            </a:pPr>
            <a:r>
              <a:rPr lang="en-US" sz="1400" b="1" kern="0">
                <a:solidFill>
                  <a:srgbClr val="000000"/>
                </a:solidFill>
                <a:latin typeface="EY interstate"/>
                <a:ea typeface="ＭＳ Ｐゴシック" pitchFamily="50" charset="-128"/>
                <a:cs typeface="Arial" pitchFamily="34" charset="0"/>
              </a:rPr>
              <a:t>Detailed Accounts</a:t>
            </a:r>
          </a:p>
        </p:txBody>
      </p:sp>
      <p:cxnSp>
        <p:nvCxnSpPr>
          <p:cNvPr id="12" name="AutoShape 19">
            <a:extLst>
              <a:ext uri="{FF2B5EF4-FFF2-40B4-BE49-F238E27FC236}">
                <a16:creationId xmlns:a16="http://schemas.microsoft.com/office/drawing/2014/main" id="{81262FDE-8B88-448B-5A61-268A642712D0}"/>
              </a:ext>
            </a:extLst>
          </p:cNvPr>
          <p:cNvCxnSpPr>
            <a:cxnSpLocks noChangeShapeType="1"/>
            <a:stCxn id="8" idx="3"/>
            <a:endCxn id="11" idx="1"/>
          </p:cNvCxnSpPr>
          <p:nvPr/>
        </p:nvCxnSpPr>
        <p:spPr bwMode="auto">
          <a:xfrm>
            <a:off x="8470900" y="3772021"/>
            <a:ext cx="1137771" cy="336597"/>
          </a:xfrm>
          <a:prstGeom prst="bentConnector3">
            <a:avLst>
              <a:gd name="adj1" fmla="val 50000"/>
            </a:avLst>
          </a:prstGeom>
          <a:noFill/>
          <a:ln w="9525">
            <a:solidFill>
              <a:schemeClr val="tx2"/>
            </a:solidFill>
            <a:miter lim="800000"/>
            <a:headEnd/>
            <a:tailEnd/>
          </a:ln>
        </p:spPr>
      </p:cxnSp>
      <p:sp>
        <p:nvSpPr>
          <p:cNvPr id="13" name="Arrow: Pentagon 12">
            <a:extLst>
              <a:ext uri="{FF2B5EF4-FFF2-40B4-BE49-F238E27FC236}">
                <a16:creationId xmlns:a16="http://schemas.microsoft.com/office/drawing/2014/main" id="{A8A66A16-8892-12E3-6A9C-4EE076C1752D}"/>
              </a:ext>
            </a:extLst>
          </p:cNvPr>
          <p:cNvSpPr/>
          <p:nvPr/>
        </p:nvSpPr>
        <p:spPr>
          <a:xfrm>
            <a:off x="623439" y="2208707"/>
            <a:ext cx="2073135" cy="438394"/>
          </a:xfrm>
          <a:prstGeom prst="homePlate">
            <a:avLst/>
          </a:prstGeom>
          <a:solidFill>
            <a:srgbClr val="FFE600"/>
          </a:solidFill>
          <a:ln w="9525" cap="flat" cmpd="sng" algn="ctr">
            <a:noFill/>
            <a:prstDash val="solid"/>
          </a:ln>
          <a:effectLst>
            <a:outerShdw blurRad="40000" dist="23000" dir="5400000" rotWithShape="0">
              <a:srgbClr val="000000">
                <a:alpha val="35000"/>
              </a:srgbClr>
            </a:outerShdw>
          </a:effectLst>
        </p:spPr>
        <p:txBody>
          <a:bodyPr lIns="0" rIns="0" rtlCol="0" anchor="ctr"/>
          <a:lstStyle/>
          <a:p>
            <a:pPr algn="ctr" defTabSz="913943">
              <a:defRPr/>
            </a:pPr>
            <a:r>
              <a:rPr lang="en-US" sz="1599" b="1" kern="0">
                <a:solidFill>
                  <a:srgbClr val="333333"/>
                </a:solidFill>
                <a:latin typeface="EY interstate"/>
              </a:rPr>
              <a:t>Level 1</a:t>
            </a:r>
          </a:p>
        </p:txBody>
      </p:sp>
      <p:sp>
        <p:nvSpPr>
          <p:cNvPr id="14" name="Arrow: Pentagon 13">
            <a:extLst>
              <a:ext uri="{FF2B5EF4-FFF2-40B4-BE49-F238E27FC236}">
                <a16:creationId xmlns:a16="http://schemas.microsoft.com/office/drawing/2014/main" id="{146F8CC3-FF2C-CA3C-0B73-4AC1171F19A7}"/>
              </a:ext>
            </a:extLst>
          </p:cNvPr>
          <p:cNvSpPr/>
          <p:nvPr/>
        </p:nvSpPr>
        <p:spPr>
          <a:xfrm>
            <a:off x="3613375" y="2208707"/>
            <a:ext cx="2073135" cy="438394"/>
          </a:xfrm>
          <a:prstGeom prst="homePlate">
            <a:avLst/>
          </a:prstGeom>
          <a:solidFill>
            <a:srgbClr val="FFE600"/>
          </a:solidFill>
          <a:ln w="9525" cap="flat" cmpd="sng" algn="ctr">
            <a:noFill/>
            <a:prstDash val="solid"/>
          </a:ln>
          <a:effectLst>
            <a:outerShdw blurRad="40000" dist="23000" dir="5400000" rotWithShape="0">
              <a:srgbClr val="000000">
                <a:alpha val="35000"/>
              </a:srgbClr>
            </a:outerShdw>
          </a:effectLst>
        </p:spPr>
        <p:txBody>
          <a:bodyPr rot="0" spcFirstLastPara="0" vertOverflow="overflow" horzOverflow="overflow" vert="horz" wrap="square" lIns="0" tIns="45696" rIns="0" bIns="45696" numCol="1" spcCol="0" rtlCol="0" fromWordArt="0" anchor="ctr" anchorCtr="0" forceAA="0" compatLnSpc="1">
            <a:prstTxWarp prst="textNoShape">
              <a:avLst/>
            </a:prstTxWarp>
            <a:noAutofit/>
          </a:bodyPr>
          <a:lstStyle/>
          <a:p>
            <a:pPr algn="ctr" defTabSz="913943">
              <a:defRPr/>
            </a:pPr>
            <a:r>
              <a:rPr lang="en-US" sz="1599" b="1" kern="0">
                <a:solidFill>
                  <a:srgbClr val="333333"/>
                </a:solidFill>
                <a:latin typeface="EY interstate"/>
              </a:rPr>
              <a:t>Level 2</a:t>
            </a:r>
          </a:p>
        </p:txBody>
      </p:sp>
      <p:sp>
        <p:nvSpPr>
          <p:cNvPr id="15" name="Arrow: Pentagon 14">
            <a:extLst>
              <a:ext uri="{FF2B5EF4-FFF2-40B4-BE49-F238E27FC236}">
                <a16:creationId xmlns:a16="http://schemas.microsoft.com/office/drawing/2014/main" id="{E2AC3592-BD30-316C-4213-6903E1AC7591}"/>
              </a:ext>
            </a:extLst>
          </p:cNvPr>
          <p:cNvSpPr/>
          <p:nvPr/>
        </p:nvSpPr>
        <p:spPr>
          <a:xfrm>
            <a:off x="6603311" y="2208707"/>
            <a:ext cx="2073135" cy="438394"/>
          </a:xfrm>
          <a:prstGeom prst="homePlate">
            <a:avLst/>
          </a:prstGeom>
          <a:solidFill>
            <a:srgbClr val="FFE600"/>
          </a:solidFill>
          <a:ln w="9525" cap="flat" cmpd="sng" algn="ctr">
            <a:noFill/>
            <a:prstDash val="solid"/>
          </a:ln>
          <a:effectLst>
            <a:outerShdw blurRad="40000" dist="23000" dir="5400000" rotWithShape="0">
              <a:srgbClr val="000000">
                <a:alpha val="35000"/>
              </a:srgbClr>
            </a:outerShdw>
          </a:effectLst>
        </p:spPr>
        <p:txBody>
          <a:bodyPr rot="0" spcFirstLastPara="0" vertOverflow="overflow" horzOverflow="overflow" vert="horz" wrap="square" lIns="0" tIns="45696" rIns="0" bIns="45696" numCol="1" spcCol="0" rtlCol="0" fromWordArt="0" anchor="ctr" anchorCtr="0" forceAA="0" compatLnSpc="1">
            <a:prstTxWarp prst="textNoShape">
              <a:avLst/>
            </a:prstTxWarp>
            <a:noAutofit/>
          </a:bodyPr>
          <a:lstStyle/>
          <a:p>
            <a:pPr algn="ctr" defTabSz="913943">
              <a:defRPr/>
            </a:pPr>
            <a:r>
              <a:rPr lang="en-US" sz="1599" b="1" kern="0">
                <a:solidFill>
                  <a:srgbClr val="333333"/>
                </a:solidFill>
                <a:latin typeface="EY interstate"/>
              </a:rPr>
              <a:t>Level 3</a:t>
            </a:r>
          </a:p>
        </p:txBody>
      </p:sp>
      <p:sp>
        <p:nvSpPr>
          <p:cNvPr id="16" name="Arrow: Pentagon 15">
            <a:extLst>
              <a:ext uri="{FF2B5EF4-FFF2-40B4-BE49-F238E27FC236}">
                <a16:creationId xmlns:a16="http://schemas.microsoft.com/office/drawing/2014/main" id="{8E35956C-8BE5-48BE-9892-D23C40E926AF}"/>
              </a:ext>
            </a:extLst>
          </p:cNvPr>
          <p:cNvSpPr/>
          <p:nvPr/>
        </p:nvSpPr>
        <p:spPr>
          <a:xfrm>
            <a:off x="9593246" y="2208707"/>
            <a:ext cx="2074607" cy="438394"/>
          </a:xfrm>
          <a:prstGeom prst="homePlate">
            <a:avLst/>
          </a:prstGeom>
          <a:solidFill>
            <a:srgbClr val="FFE600"/>
          </a:solidFill>
          <a:ln w="9525" cap="flat" cmpd="sng" algn="ctr">
            <a:noFill/>
            <a:prstDash val="solid"/>
          </a:ln>
          <a:effectLst>
            <a:outerShdw blurRad="40000" dist="23000" dir="5400000" rotWithShape="0">
              <a:srgbClr val="000000">
                <a:alpha val="35000"/>
              </a:srgbClr>
            </a:outerShdw>
          </a:effectLst>
        </p:spPr>
        <p:txBody>
          <a:bodyPr rot="0" spcFirstLastPara="0" vertOverflow="overflow" horzOverflow="overflow" vert="horz" wrap="square" lIns="0" tIns="45696" rIns="0" bIns="45696" numCol="1" spcCol="0" rtlCol="0" fromWordArt="0" anchor="ctr" anchorCtr="0" forceAA="0" compatLnSpc="1">
            <a:prstTxWarp prst="textNoShape">
              <a:avLst/>
            </a:prstTxWarp>
            <a:noAutofit/>
          </a:bodyPr>
          <a:lstStyle/>
          <a:p>
            <a:pPr algn="ctr" defTabSz="913943">
              <a:defRPr/>
            </a:pPr>
            <a:r>
              <a:rPr lang="en-US" sz="1599" b="1" kern="0">
                <a:solidFill>
                  <a:srgbClr val="333333"/>
                </a:solidFill>
                <a:latin typeface="EY interstate"/>
              </a:rPr>
              <a:t>Level 4</a:t>
            </a:r>
          </a:p>
        </p:txBody>
      </p:sp>
      <p:cxnSp>
        <p:nvCxnSpPr>
          <p:cNvPr id="24" name="Connector: Elbow 23">
            <a:extLst>
              <a:ext uri="{FF2B5EF4-FFF2-40B4-BE49-F238E27FC236}">
                <a16:creationId xmlns:a16="http://schemas.microsoft.com/office/drawing/2014/main" id="{4020A5D0-72E6-F56C-5490-748DE61E2BC0}"/>
              </a:ext>
            </a:extLst>
          </p:cNvPr>
          <p:cNvCxnSpPr>
            <a:cxnSpLocks/>
            <a:stCxn id="6" idx="3"/>
            <a:endCxn id="7" idx="1"/>
          </p:cNvCxnSpPr>
          <p:nvPr/>
        </p:nvCxnSpPr>
        <p:spPr>
          <a:xfrm>
            <a:off x="2501899" y="3174460"/>
            <a:ext cx="1111476" cy="271353"/>
          </a:xfrm>
          <a:prstGeom prst="bentConnector3">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25" name="Connector: Elbow 24">
            <a:extLst>
              <a:ext uri="{FF2B5EF4-FFF2-40B4-BE49-F238E27FC236}">
                <a16:creationId xmlns:a16="http://schemas.microsoft.com/office/drawing/2014/main" id="{18586588-AA46-EF5B-A487-932449238D74}"/>
              </a:ext>
            </a:extLst>
          </p:cNvPr>
          <p:cNvCxnSpPr>
            <a:cxnSpLocks/>
            <a:stCxn id="7" idx="3"/>
            <a:endCxn id="8" idx="1"/>
          </p:cNvCxnSpPr>
          <p:nvPr/>
        </p:nvCxnSpPr>
        <p:spPr>
          <a:xfrm>
            <a:off x="5463775" y="3445813"/>
            <a:ext cx="1208251" cy="326208"/>
          </a:xfrm>
          <a:prstGeom prst="bentConnector3">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28" name="Connector: Elbow 27">
            <a:extLst>
              <a:ext uri="{FF2B5EF4-FFF2-40B4-BE49-F238E27FC236}">
                <a16:creationId xmlns:a16="http://schemas.microsoft.com/office/drawing/2014/main" id="{DFF70E67-E5E0-3CD5-50EA-2EA03A5BE520}"/>
              </a:ext>
            </a:extLst>
          </p:cNvPr>
          <p:cNvCxnSpPr>
            <a:cxnSpLocks/>
            <a:stCxn id="8" idx="3"/>
            <a:endCxn id="11" idx="1"/>
          </p:cNvCxnSpPr>
          <p:nvPr/>
        </p:nvCxnSpPr>
        <p:spPr>
          <a:xfrm>
            <a:off x="8470900" y="3772021"/>
            <a:ext cx="1137771" cy="336597"/>
          </a:xfrm>
          <a:prstGeom prst="bentConnector3">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31" name="Rectangle 4">
            <a:extLst>
              <a:ext uri="{FF2B5EF4-FFF2-40B4-BE49-F238E27FC236}">
                <a16:creationId xmlns:a16="http://schemas.microsoft.com/office/drawing/2014/main" id="{4C96B4E4-7882-03A0-2464-484860B85A9C}"/>
              </a:ext>
            </a:extLst>
          </p:cNvPr>
          <p:cNvSpPr>
            <a:spLocks noChangeArrowheads="1"/>
          </p:cNvSpPr>
          <p:nvPr/>
        </p:nvSpPr>
        <p:spPr bwMode="auto">
          <a:xfrm>
            <a:off x="653405" y="3806766"/>
            <a:ext cx="1848493" cy="822057"/>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t"/>
          <a:lstStyle/>
          <a:p>
            <a:pPr algn="ctr" defTabSz="913943">
              <a:spcBef>
                <a:spcPts val="200"/>
              </a:spcBef>
              <a:defRPr/>
            </a:pPr>
            <a:r>
              <a:rPr lang="en-IN" sz="1400" b="1" kern="0">
                <a:solidFill>
                  <a:srgbClr val="000000"/>
                </a:solidFill>
                <a:latin typeface="EY interstate"/>
                <a:ea typeface="ＭＳ Ｐゴシック" pitchFamily="50" charset="-128"/>
                <a:cs typeface="Arial" pitchFamily="34" charset="0"/>
              </a:rPr>
              <a:t>(Assets)</a:t>
            </a:r>
          </a:p>
          <a:p>
            <a:pPr algn="ctr" defTabSz="913943">
              <a:spcBef>
                <a:spcPts val="200"/>
              </a:spcBef>
              <a:defRPr/>
            </a:pPr>
            <a:r>
              <a:rPr lang="en-IN" sz="1100" kern="0">
                <a:solidFill>
                  <a:srgbClr val="000000"/>
                </a:solidFill>
                <a:latin typeface="EY interstate"/>
                <a:ea typeface="ＭＳ Ｐゴシック" pitchFamily="50" charset="-128"/>
                <a:cs typeface="Arial" pitchFamily="34" charset="0"/>
              </a:rPr>
              <a:t>Broad financial categories that align with financial statements.</a:t>
            </a:r>
          </a:p>
        </p:txBody>
      </p:sp>
      <p:sp>
        <p:nvSpPr>
          <p:cNvPr id="42" name="Rectangle 4">
            <a:extLst>
              <a:ext uri="{FF2B5EF4-FFF2-40B4-BE49-F238E27FC236}">
                <a16:creationId xmlns:a16="http://schemas.microsoft.com/office/drawing/2014/main" id="{0211A9DE-F233-CCA4-5064-DE278BF1D74C}"/>
              </a:ext>
            </a:extLst>
          </p:cNvPr>
          <p:cNvSpPr>
            <a:spLocks noChangeArrowheads="1"/>
          </p:cNvSpPr>
          <p:nvPr/>
        </p:nvSpPr>
        <p:spPr bwMode="auto">
          <a:xfrm>
            <a:off x="3615282" y="4210899"/>
            <a:ext cx="1848493" cy="822057"/>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t"/>
          <a:lstStyle/>
          <a:p>
            <a:pPr algn="ctr" defTabSz="913943">
              <a:spcBef>
                <a:spcPts val="200"/>
              </a:spcBef>
              <a:defRPr/>
            </a:pPr>
            <a:r>
              <a:rPr lang="en-IN" sz="1400" b="1" kern="0">
                <a:solidFill>
                  <a:srgbClr val="000000"/>
                </a:solidFill>
                <a:latin typeface="EY interstate"/>
                <a:ea typeface="ＭＳ Ｐゴシック" pitchFamily="50" charset="-128"/>
                <a:cs typeface="Arial" pitchFamily="34" charset="0"/>
              </a:rPr>
              <a:t>(Current Assets)</a:t>
            </a:r>
            <a:endParaRPr lang="en-IN" sz="1400" kern="0">
              <a:solidFill>
                <a:srgbClr val="000000"/>
              </a:solidFill>
              <a:latin typeface="EY interstate"/>
              <a:ea typeface="ＭＳ Ｐゴシック" pitchFamily="50" charset="-128"/>
              <a:cs typeface="Arial" pitchFamily="34" charset="0"/>
            </a:endParaRPr>
          </a:p>
          <a:p>
            <a:pPr algn="ctr" defTabSz="913943">
              <a:spcBef>
                <a:spcPts val="200"/>
              </a:spcBef>
              <a:defRPr/>
            </a:pPr>
            <a:r>
              <a:rPr lang="en-IN" sz="1100" kern="0">
                <a:solidFill>
                  <a:srgbClr val="000000"/>
                </a:solidFill>
                <a:latin typeface="EY interstate"/>
                <a:ea typeface="ＭＳ Ｐゴシック" pitchFamily="50" charset="-128"/>
                <a:cs typeface="Arial" pitchFamily="34" charset="0"/>
              </a:rPr>
              <a:t>Sub-classifications within each category to provide more granularity.</a:t>
            </a:r>
          </a:p>
        </p:txBody>
      </p:sp>
      <p:sp>
        <p:nvSpPr>
          <p:cNvPr id="43" name="Rectangle 4">
            <a:extLst>
              <a:ext uri="{FF2B5EF4-FFF2-40B4-BE49-F238E27FC236}">
                <a16:creationId xmlns:a16="http://schemas.microsoft.com/office/drawing/2014/main" id="{471D5709-BE93-9C5F-6543-152A13E7BD83}"/>
              </a:ext>
            </a:extLst>
          </p:cNvPr>
          <p:cNvSpPr>
            <a:spLocks noChangeArrowheads="1"/>
          </p:cNvSpPr>
          <p:nvPr/>
        </p:nvSpPr>
        <p:spPr bwMode="auto">
          <a:xfrm>
            <a:off x="6672026" y="4628823"/>
            <a:ext cx="1848493" cy="1081370"/>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t"/>
          <a:lstStyle/>
          <a:p>
            <a:pPr algn="ctr" defTabSz="913943">
              <a:spcBef>
                <a:spcPts val="200"/>
              </a:spcBef>
              <a:defRPr/>
            </a:pPr>
            <a:r>
              <a:rPr lang="en-IN" sz="1400" b="1" kern="0">
                <a:solidFill>
                  <a:srgbClr val="000000"/>
                </a:solidFill>
                <a:latin typeface="EY interstate"/>
                <a:ea typeface="ＭＳ Ｐゴシック" pitchFamily="50" charset="-128"/>
                <a:cs typeface="Arial" pitchFamily="34" charset="0"/>
              </a:rPr>
              <a:t>(Cash &amp; Cash Equivalents)</a:t>
            </a:r>
            <a:endParaRPr lang="en-IN" sz="1400" kern="0">
              <a:solidFill>
                <a:srgbClr val="000000"/>
              </a:solidFill>
              <a:latin typeface="EY interstate"/>
              <a:ea typeface="ＭＳ Ｐゴシック" pitchFamily="50" charset="-128"/>
              <a:cs typeface="Arial" pitchFamily="34" charset="0"/>
            </a:endParaRPr>
          </a:p>
          <a:p>
            <a:pPr algn="ctr" defTabSz="913943">
              <a:spcBef>
                <a:spcPts val="200"/>
              </a:spcBef>
              <a:defRPr/>
            </a:pPr>
            <a:r>
              <a:rPr lang="en-IN" sz="1100" kern="0">
                <a:solidFill>
                  <a:srgbClr val="000000"/>
                </a:solidFill>
                <a:latin typeface="EY interstate"/>
                <a:ea typeface="ＭＳ Ｐゴシック" pitchFamily="50" charset="-128"/>
                <a:cs typeface="Arial" pitchFamily="34" charset="0"/>
              </a:rPr>
              <a:t>Deeper level of detail to track specific financial elements.</a:t>
            </a:r>
          </a:p>
        </p:txBody>
      </p:sp>
      <p:sp>
        <p:nvSpPr>
          <p:cNvPr id="44" name="Rectangle 4">
            <a:extLst>
              <a:ext uri="{FF2B5EF4-FFF2-40B4-BE49-F238E27FC236}">
                <a16:creationId xmlns:a16="http://schemas.microsoft.com/office/drawing/2014/main" id="{50496185-FC31-4FB4-352A-B421CCAB7B59}"/>
              </a:ext>
            </a:extLst>
          </p:cNvPr>
          <p:cNvSpPr>
            <a:spLocks noChangeArrowheads="1"/>
          </p:cNvSpPr>
          <p:nvPr/>
        </p:nvSpPr>
        <p:spPr bwMode="auto">
          <a:xfrm>
            <a:off x="9608671" y="5100739"/>
            <a:ext cx="1848493" cy="1251937"/>
          </a:xfrm>
          <a:prstGeom prst="rect">
            <a:avLst/>
          </a:prstGeom>
          <a:solidFill>
            <a:schemeClr val="bg1">
              <a:lumMod val="20000"/>
              <a:lumOff val="80000"/>
            </a:schemeClr>
          </a:solidFill>
          <a:ln w="19050" algn="ctr">
            <a:noFill/>
            <a:miter lim="800000"/>
            <a:headEnd type="none" w="sm" len="sm"/>
            <a:tailEnd type="none" w="med" len="lg"/>
          </a:ln>
        </p:spPr>
        <p:txBody>
          <a:bodyPr lIns="88854" tIns="88854" rIns="88854" bIns="88854" anchor="t"/>
          <a:lstStyle/>
          <a:p>
            <a:pPr algn="ctr" defTabSz="913943">
              <a:spcBef>
                <a:spcPts val="200"/>
              </a:spcBef>
              <a:defRPr/>
            </a:pPr>
            <a:r>
              <a:rPr lang="en-IN" sz="1400" b="1" kern="0">
                <a:solidFill>
                  <a:srgbClr val="000000"/>
                </a:solidFill>
                <a:latin typeface="EY interstate"/>
                <a:ea typeface="ＭＳ Ｐゴシック" pitchFamily="50" charset="-128"/>
                <a:cs typeface="Arial" pitchFamily="34" charset="0"/>
              </a:rPr>
              <a:t>(Bank-operating, Bank-Payroll, petty cash)</a:t>
            </a:r>
            <a:endParaRPr lang="en-IN" sz="1400" kern="0">
              <a:solidFill>
                <a:srgbClr val="000000"/>
              </a:solidFill>
              <a:latin typeface="EY interstate"/>
              <a:ea typeface="ＭＳ Ｐゴシック" pitchFamily="50" charset="-128"/>
              <a:cs typeface="Arial" pitchFamily="34" charset="0"/>
            </a:endParaRPr>
          </a:p>
          <a:p>
            <a:pPr algn="ctr" defTabSz="913943">
              <a:spcBef>
                <a:spcPts val="200"/>
              </a:spcBef>
              <a:defRPr/>
            </a:pPr>
            <a:r>
              <a:rPr lang="en-IN" sz="1100" kern="0">
                <a:solidFill>
                  <a:srgbClr val="000000"/>
                </a:solidFill>
                <a:latin typeface="EY interstate"/>
                <a:ea typeface="ＭＳ Ｐゴシック" pitchFamily="50" charset="-128"/>
                <a:cs typeface="Arial" pitchFamily="34" charset="0"/>
              </a:rPr>
              <a:t>Most granular level capturing individual transactions for actionable insights.</a:t>
            </a:r>
          </a:p>
        </p:txBody>
      </p:sp>
    </p:spTree>
    <p:extLst>
      <p:ext uri="{BB962C8B-B14F-4D97-AF65-F5344CB8AC3E}">
        <p14:creationId xmlns:p14="http://schemas.microsoft.com/office/powerpoint/2010/main" val="238084390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C2841B-1DC3-90E7-98F0-BFA4C212B597}"/>
            </a:ext>
          </a:extLst>
        </p:cNvPr>
        <p:cNvGrpSpPr/>
        <p:nvPr/>
      </p:nvGrpSpPr>
      <p:grpSpPr>
        <a:xfrm>
          <a:off x="0" y="0"/>
          <a:ext cx="0" cy="0"/>
          <a:chOff x="0" y="0"/>
          <a:chExt cx="0" cy="0"/>
        </a:xfrm>
      </p:grpSpPr>
      <p:sp>
        <p:nvSpPr>
          <p:cNvPr id="3" name="Title 3">
            <a:extLst>
              <a:ext uri="{FF2B5EF4-FFF2-40B4-BE49-F238E27FC236}">
                <a16:creationId xmlns:a16="http://schemas.microsoft.com/office/drawing/2014/main" id="{915F7CE9-4146-8D59-510D-23301B63CE0F}"/>
              </a:ext>
            </a:extLst>
          </p:cNvPr>
          <p:cNvSpPr txBox="1">
            <a:spLocks/>
          </p:cNvSpPr>
          <p:nvPr/>
        </p:nvSpPr>
        <p:spPr>
          <a:xfrm>
            <a:off x="509017" y="458859"/>
            <a:ext cx="10972800" cy="590880"/>
          </a:xfrm>
          <a:prstGeom prst="rect">
            <a:avLst/>
          </a:prstGeom>
          <a:noFill/>
          <a:ln>
            <a:noFill/>
          </a:ln>
        </p:spPr>
        <p:txBody>
          <a:bodyPr vert="horz" wrap="square" lIns="0" tIns="0" rIns="0" bIns="0" rtlCol="0" anchor="t" anchorCtr="0" compatLnSpc="1">
            <a:noAutofit/>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1" i="0" u="none" strike="noStrike" cap="none" spc="0" baseline="0">
                <a:solidFill>
                  <a:srgbClr val="FFE600"/>
                </a:solidFill>
                <a:uFillTx/>
                <a:latin typeface="EY interstate heading"/>
              </a:defRPr>
            </a:lvl1pPr>
          </a:lstStyle>
          <a:p>
            <a:r>
              <a:rPr lang="en-IN"/>
              <a:t>COA - Common numbering methods and structures</a:t>
            </a:r>
          </a:p>
        </p:txBody>
      </p:sp>
      <p:graphicFrame>
        <p:nvGraphicFramePr>
          <p:cNvPr id="9" name="Table 8">
            <a:extLst>
              <a:ext uri="{FF2B5EF4-FFF2-40B4-BE49-F238E27FC236}">
                <a16:creationId xmlns:a16="http://schemas.microsoft.com/office/drawing/2014/main" id="{F243015C-DD4E-2955-2FCF-6162F162C9CF}"/>
              </a:ext>
            </a:extLst>
          </p:cNvPr>
          <p:cNvGraphicFramePr>
            <a:graphicFrameLocks noGrp="1"/>
          </p:cNvGraphicFramePr>
          <p:nvPr/>
        </p:nvGraphicFramePr>
        <p:xfrm>
          <a:off x="6866825" y="1471047"/>
          <a:ext cx="4752405" cy="4569618"/>
        </p:xfrm>
        <a:graphic>
          <a:graphicData uri="http://schemas.openxmlformats.org/drawingml/2006/table">
            <a:tbl>
              <a:tblPr firstRow="1" bandRow="1"/>
              <a:tblGrid>
                <a:gridCol w="2284810">
                  <a:extLst>
                    <a:ext uri="{9D8B030D-6E8A-4147-A177-3AD203B41FA5}">
                      <a16:colId xmlns:a16="http://schemas.microsoft.com/office/drawing/2014/main" val="20000"/>
                    </a:ext>
                  </a:extLst>
                </a:gridCol>
                <a:gridCol w="2467595">
                  <a:extLst>
                    <a:ext uri="{9D8B030D-6E8A-4147-A177-3AD203B41FA5}">
                      <a16:colId xmlns:a16="http://schemas.microsoft.com/office/drawing/2014/main" val="20001"/>
                    </a:ext>
                  </a:extLst>
                </a:gridCol>
              </a:tblGrid>
              <a:tr h="404121">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ea typeface="Times New Roman"/>
                          <a:cs typeface="Times New Roman"/>
                        </a:rPr>
                        <a:t>Leading Practice</a:t>
                      </a:r>
                      <a:r>
                        <a:rPr lang="en-US" sz="1600" baseline="0">
                          <a:solidFill>
                            <a:schemeClr val="bg1"/>
                          </a:solidFill>
                          <a:latin typeface="EYInterstate" panose="02000503020000020004" pitchFamily="2" charset="0"/>
                          <a:ea typeface="Times New Roman"/>
                          <a:cs typeface="Times New Roman"/>
                        </a:rPr>
                        <a:t> COA Numbering</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hMerge="1">
                  <a:txBody>
                    <a:bodyPr/>
                    <a:lstStyle/>
                    <a:p>
                      <a:pPr marL="0" marR="0">
                        <a:spcBef>
                          <a:spcPts val="0"/>
                        </a:spcBef>
                        <a:spcAft>
                          <a:spcPts val="0"/>
                        </a:spcAft>
                      </a:pPr>
                      <a:endParaRPr lang="en-US" sz="1000">
                        <a:latin typeface="Arial"/>
                        <a:ea typeface="Times New Roman"/>
                        <a:cs typeface="Times New Roman"/>
                      </a:endParaRPr>
                    </a:p>
                  </a:txBody>
                  <a:tcPr marL="68580" marR="68580" marT="0" marB="0"/>
                </a:tc>
                <a:extLst>
                  <a:ext uri="{0D108BD9-81ED-4DB2-BD59-A6C34878D82A}">
                    <a16:rowId xmlns:a16="http://schemas.microsoft.com/office/drawing/2014/main" val="10000"/>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700"/>
                        </a:spcBef>
                        <a:spcAft>
                          <a:spcPts val="700"/>
                        </a:spcAft>
                      </a:pPr>
                      <a:r>
                        <a:rPr lang="en-US" sz="1600">
                          <a:solidFill>
                            <a:schemeClr val="bg1"/>
                          </a:solidFill>
                          <a:latin typeface="EYInterstate" panose="02000503020000020004" pitchFamily="2" charset="0"/>
                        </a:rPr>
                        <a:t>10000000-19999999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Assets</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20000000-29999999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Liabilities</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30000000-39999999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Equity</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40000000-49999999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Revenue</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50000000-59999999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COGS</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60000000-69999999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SG&amp;A</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70000000-79999999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Other Income &amp; Expense</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80000000-89999999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ea typeface="Times New Roman"/>
                          <a:cs typeface="Times New Roman"/>
                        </a:rPr>
                        <a:t>Open</a:t>
                      </a: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628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rPr>
                        <a:t>90000000-99999999</a:t>
                      </a:r>
                      <a:endParaRPr lang="en-US" sz="1600">
                        <a:solidFill>
                          <a:schemeClr val="bg1"/>
                        </a:solidFill>
                        <a:latin typeface="EYInterstate" panose="02000503020000020004" pitchFamily="2" charset="0"/>
                        <a:ea typeface="Times New Roman"/>
                        <a:cs typeface="Times New Roman"/>
                      </a:endParaRP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algn="ctr">
                        <a:spcBef>
                          <a:spcPts val="0"/>
                        </a:spcBef>
                        <a:spcAft>
                          <a:spcPts val="0"/>
                        </a:spcAft>
                      </a:pPr>
                      <a:r>
                        <a:rPr lang="en-US" sz="1600">
                          <a:solidFill>
                            <a:schemeClr val="bg1"/>
                          </a:solidFill>
                          <a:latin typeface="EYInterstate" panose="02000503020000020004" pitchFamily="2" charset="0"/>
                          <a:ea typeface="Times New Roman"/>
                          <a:cs typeface="Times New Roman"/>
                        </a:rPr>
                        <a:t>Statistical</a:t>
                      </a:r>
                    </a:p>
                  </a:txBody>
                  <a:tcPr marL="68544" marR="68544"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sp>
        <p:nvSpPr>
          <p:cNvPr id="17" name="Rectangle 16">
            <a:extLst>
              <a:ext uri="{FF2B5EF4-FFF2-40B4-BE49-F238E27FC236}">
                <a16:creationId xmlns:a16="http://schemas.microsoft.com/office/drawing/2014/main" id="{58B2BFD5-52E4-9857-7148-B80D6DBB7AFD}"/>
              </a:ext>
            </a:extLst>
          </p:cNvPr>
          <p:cNvSpPr/>
          <p:nvPr/>
        </p:nvSpPr>
        <p:spPr>
          <a:xfrm>
            <a:off x="610568" y="991457"/>
            <a:ext cx="4800987" cy="379103"/>
          </a:xfrm>
          <a:prstGeom prst="rect">
            <a:avLst/>
          </a:prstGeom>
        </p:spPr>
        <p:txBody>
          <a:bodyPr wrap="square" lIns="101261" tIns="50630" rIns="101261" bIns="50630">
            <a:spAutoFit/>
          </a:bodyPr>
          <a:lstStyle/>
          <a:p>
            <a:pPr defTabSz="1012719"/>
            <a:r>
              <a:rPr lang="en-US" sz="1799" b="1">
                <a:solidFill>
                  <a:srgbClr val="FFE600"/>
                </a:solidFill>
                <a:latin typeface="EY interstate"/>
              </a:rPr>
              <a:t>Use 6-8</a:t>
            </a:r>
            <a:r>
              <a:rPr lang="en-US" sz="1799" b="1">
                <a:solidFill>
                  <a:srgbClr val="FF0000"/>
                </a:solidFill>
                <a:latin typeface="EY interstate"/>
              </a:rPr>
              <a:t> </a:t>
            </a:r>
            <a:r>
              <a:rPr lang="en-US" sz="1799" b="1">
                <a:solidFill>
                  <a:srgbClr val="FFE600"/>
                </a:solidFill>
                <a:latin typeface="EY interstate"/>
              </a:rPr>
              <a:t>account digit alphanumeric codes</a:t>
            </a:r>
            <a:endParaRPr lang="en-AU" sz="1799" b="1">
              <a:solidFill>
                <a:srgbClr val="FFE600"/>
              </a:solidFill>
              <a:effectLst>
                <a:outerShdw blurRad="38100" dist="38100" dir="2700000" algn="tl">
                  <a:srgbClr val="000000">
                    <a:alpha val="43137"/>
                  </a:srgbClr>
                </a:outerShdw>
              </a:effectLst>
              <a:latin typeface="EY interstate"/>
              <a:sym typeface="Arial"/>
            </a:endParaRPr>
          </a:p>
        </p:txBody>
      </p:sp>
      <p:sp>
        <p:nvSpPr>
          <p:cNvPr id="18" name="Rectangle 17">
            <a:extLst>
              <a:ext uri="{FF2B5EF4-FFF2-40B4-BE49-F238E27FC236}">
                <a16:creationId xmlns:a16="http://schemas.microsoft.com/office/drawing/2014/main" id="{180B1588-8A4E-6350-18E5-7531B0669806}"/>
              </a:ext>
            </a:extLst>
          </p:cNvPr>
          <p:cNvSpPr/>
          <p:nvPr/>
        </p:nvSpPr>
        <p:spPr>
          <a:xfrm>
            <a:off x="610568" y="1325886"/>
            <a:ext cx="4815263" cy="748242"/>
          </a:xfrm>
          <a:prstGeom prst="rect">
            <a:avLst/>
          </a:prstGeom>
        </p:spPr>
        <p:txBody>
          <a:bodyPr wrap="square" lIns="101261" tIns="50630" rIns="101261" bIns="50630">
            <a:spAutoFit/>
          </a:bodyPr>
          <a:lstStyle/>
          <a:p>
            <a:pPr marL="228486" indent="-228486" defTabSz="1087869">
              <a:buClr>
                <a:srgbClr val="FFE600"/>
              </a:buClr>
              <a:buFont typeface="Wingdings 3" panose="05040102010807070707" pitchFamily="18" charset="2"/>
              <a:buChar char=""/>
              <a:defRPr/>
            </a:pPr>
            <a:r>
              <a:rPr lang="en-US" sz="1399" kern="0">
                <a:solidFill>
                  <a:srgbClr val="FFFFFF"/>
                </a:solidFill>
                <a:latin typeface="EY interstate"/>
              </a:rPr>
              <a:t>Creates ample “space”</a:t>
            </a:r>
          </a:p>
          <a:p>
            <a:pPr marL="228486" indent="-228486" defTabSz="1087869">
              <a:buClr>
                <a:srgbClr val="FFE600"/>
              </a:buClr>
              <a:buFont typeface="Wingdings 3" panose="05040102010807070707" pitchFamily="18" charset="2"/>
              <a:buChar char=""/>
              <a:defRPr/>
            </a:pPr>
            <a:r>
              <a:rPr lang="en-US" sz="1399" kern="0">
                <a:solidFill>
                  <a:srgbClr val="FFFFFF"/>
                </a:solidFill>
                <a:latin typeface="EY interstate"/>
              </a:rPr>
              <a:t>Easier for users to input transactions</a:t>
            </a:r>
          </a:p>
          <a:p>
            <a:pPr marL="228486" indent="-228486" defTabSz="1087869">
              <a:buClr>
                <a:srgbClr val="FFE600"/>
              </a:buClr>
              <a:buFont typeface="Wingdings 3" panose="05040102010807070707" pitchFamily="18" charset="2"/>
              <a:buChar char=""/>
              <a:defRPr/>
            </a:pPr>
            <a:r>
              <a:rPr lang="en-US" sz="1399" kern="0">
                <a:solidFill>
                  <a:srgbClr val="FFFFFF"/>
                </a:solidFill>
                <a:latin typeface="EY interstate"/>
              </a:rPr>
              <a:t>Minimized unnecessary digits for data entry</a:t>
            </a:r>
          </a:p>
        </p:txBody>
      </p:sp>
      <p:sp>
        <p:nvSpPr>
          <p:cNvPr id="19" name="Rectangle 18">
            <a:extLst>
              <a:ext uri="{FF2B5EF4-FFF2-40B4-BE49-F238E27FC236}">
                <a16:creationId xmlns:a16="http://schemas.microsoft.com/office/drawing/2014/main" id="{67A7C750-DD54-7EA2-147C-7E709B53FF4E}"/>
              </a:ext>
            </a:extLst>
          </p:cNvPr>
          <p:cNvSpPr/>
          <p:nvPr/>
        </p:nvSpPr>
        <p:spPr>
          <a:xfrm>
            <a:off x="596294" y="4082028"/>
            <a:ext cx="3821557" cy="379103"/>
          </a:xfrm>
          <a:prstGeom prst="rect">
            <a:avLst/>
          </a:prstGeom>
        </p:spPr>
        <p:txBody>
          <a:bodyPr wrap="square" lIns="101261" tIns="50630" rIns="101261" bIns="50630">
            <a:spAutoFit/>
          </a:bodyPr>
          <a:lstStyle/>
          <a:p>
            <a:pPr defTabSz="1012719"/>
            <a:r>
              <a:rPr lang="en-US" sz="1799" b="1">
                <a:solidFill>
                  <a:srgbClr val="FFE600"/>
                </a:solidFill>
                <a:latin typeface="EY interstate"/>
              </a:rPr>
              <a:t>No significant system issues</a:t>
            </a:r>
            <a:endParaRPr lang="en-AU" sz="1799" b="1">
              <a:solidFill>
                <a:srgbClr val="FFE600"/>
              </a:solidFill>
              <a:effectLst>
                <a:outerShdw blurRad="38100" dist="38100" dir="2700000" algn="tl">
                  <a:srgbClr val="000000">
                    <a:alpha val="43137"/>
                  </a:srgbClr>
                </a:outerShdw>
              </a:effectLst>
              <a:latin typeface="EY interstate"/>
              <a:sym typeface="Arial"/>
            </a:endParaRPr>
          </a:p>
        </p:txBody>
      </p:sp>
      <p:sp>
        <p:nvSpPr>
          <p:cNvPr id="20" name="Rectangle 19">
            <a:extLst>
              <a:ext uri="{FF2B5EF4-FFF2-40B4-BE49-F238E27FC236}">
                <a16:creationId xmlns:a16="http://schemas.microsoft.com/office/drawing/2014/main" id="{90F7A899-C39D-EF61-22C1-3CC2EB94DC9D}"/>
              </a:ext>
            </a:extLst>
          </p:cNvPr>
          <p:cNvSpPr/>
          <p:nvPr/>
        </p:nvSpPr>
        <p:spPr>
          <a:xfrm>
            <a:off x="609598" y="4403545"/>
            <a:ext cx="6146113" cy="963574"/>
          </a:xfrm>
          <a:prstGeom prst="rect">
            <a:avLst/>
          </a:prstGeom>
        </p:spPr>
        <p:txBody>
          <a:bodyPr wrap="square" lIns="101261" tIns="50630" rIns="101261" bIns="50630">
            <a:spAutoFit/>
          </a:bodyPr>
          <a:lstStyle/>
          <a:p>
            <a:pPr marL="228486" indent="-228486" defTabSz="1087869">
              <a:buClr>
                <a:srgbClr val="FFE600"/>
              </a:buClr>
              <a:buFont typeface="Wingdings 3" panose="05040102010807070707" pitchFamily="18" charset="2"/>
              <a:buChar char=""/>
            </a:pPr>
            <a:r>
              <a:rPr lang="en-US" sz="1399">
                <a:solidFill>
                  <a:srgbClr val="FFFFFF"/>
                </a:solidFill>
                <a:latin typeface="EY interstate"/>
              </a:rPr>
              <a:t>8 digit code vs shorter codes</a:t>
            </a:r>
          </a:p>
          <a:p>
            <a:pPr marL="228486" indent="-228486" defTabSz="1087869">
              <a:buClr>
                <a:srgbClr val="FFE600"/>
              </a:buClr>
              <a:buFont typeface="Wingdings 3" panose="05040102010807070707" pitchFamily="18" charset="2"/>
              <a:buChar char=""/>
            </a:pPr>
            <a:r>
              <a:rPr lang="en-US" sz="1399">
                <a:solidFill>
                  <a:srgbClr val="FFFFFF"/>
                </a:solidFill>
                <a:latin typeface="EY interstate"/>
              </a:rPr>
              <a:t>System does not deteriorate if using a longer code</a:t>
            </a:r>
          </a:p>
          <a:p>
            <a:pPr marL="228486" indent="-228486" defTabSz="1087869">
              <a:buClr>
                <a:srgbClr val="FFE600"/>
              </a:buClr>
              <a:buFont typeface="Wingdings 3" panose="05040102010807070707" pitchFamily="18" charset="2"/>
              <a:buChar char=""/>
            </a:pPr>
            <a:r>
              <a:rPr lang="en-US" sz="1399">
                <a:solidFill>
                  <a:srgbClr val="FFFFFF"/>
                </a:solidFill>
                <a:latin typeface="EY interstate"/>
              </a:rPr>
              <a:t>Excessively long codes can be </a:t>
            </a:r>
            <a:r>
              <a:rPr lang="en-US" sz="1399" u="sng">
                <a:solidFill>
                  <a:srgbClr val="FFFFFF"/>
                </a:solidFill>
                <a:latin typeface="EY interstate"/>
              </a:rPr>
              <a:t>unnecessarily tedious</a:t>
            </a:r>
            <a:r>
              <a:rPr lang="en-US" sz="1399">
                <a:solidFill>
                  <a:srgbClr val="FFFFFF"/>
                </a:solidFill>
                <a:latin typeface="EY interstate"/>
              </a:rPr>
              <a:t> for end-users, or create input errors</a:t>
            </a:r>
            <a:endParaRPr lang="en-AU" sz="1399">
              <a:solidFill>
                <a:srgbClr val="FFFFFF"/>
              </a:solidFill>
              <a:latin typeface="EY interstate"/>
              <a:cs typeface="Arial"/>
              <a:sym typeface="Arial"/>
              <a:rtl val="0"/>
            </a:endParaRPr>
          </a:p>
        </p:txBody>
      </p:sp>
      <p:sp>
        <p:nvSpPr>
          <p:cNvPr id="21" name="Rectangle 20">
            <a:extLst>
              <a:ext uri="{FF2B5EF4-FFF2-40B4-BE49-F238E27FC236}">
                <a16:creationId xmlns:a16="http://schemas.microsoft.com/office/drawing/2014/main" id="{A28BBBC5-9E58-2D8B-5D38-12C030D20422}"/>
              </a:ext>
            </a:extLst>
          </p:cNvPr>
          <p:cNvSpPr/>
          <p:nvPr/>
        </p:nvSpPr>
        <p:spPr>
          <a:xfrm>
            <a:off x="610569" y="5316547"/>
            <a:ext cx="5836301" cy="379103"/>
          </a:xfrm>
          <a:prstGeom prst="rect">
            <a:avLst/>
          </a:prstGeom>
        </p:spPr>
        <p:txBody>
          <a:bodyPr wrap="square" lIns="101261" tIns="50630" rIns="101261" bIns="50630">
            <a:spAutoFit/>
          </a:bodyPr>
          <a:lstStyle/>
          <a:p>
            <a:pPr defTabSz="1012719"/>
            <a:r>
              <a:rPr lang="en-US" sz="1799" b="1">
                <a:solidFill>
                  <a:srgbClr val="FFE600"/>
                </a:solidFill>
                <a:latin typeface="EY interstate"/>
              </a:rPr>
              <a:t>Global COA sets the standard for numbering ranges</a:t>
            </a:r>
            <a:endParaRPr lang="en-AU" sz="1799" b="1">
              <a:solidFill>
                <a:srgbClr val="FFE600"/>
              </a:solidFill>
              <a:effectLst>
                <a:outerShdw blurRad="38100" dist="38100" dir="2700000" algn="tl">
                  <a:srgbClr val="000000">
                    <a:alpha val="43137"/>
                  </a:srgbClr>
                </a:outerShdw>
              </a:effectLst>
              <a:latin typeface="EY interstate"/>
              <a:sym typeface="Arial"/>
            </a:endParaRPr>
          </a:p>
        </p:txBody>
      </p:sp>
      <p:sp>
        <p:nvSpPr>
          <p:cNvPr id="22" name="Rectangle 21">
            <a:extLst>
              <a:ext uri="{FF2B5EF4-FFF2-40B4-BE49-F238E27FC236}">
                <a16:creationId xmlns:a16="http://schemas.microsoft.com/office/drawing/2014/main" id="{03597714-5CFD-1289-1C9B-8B2F98864C3C}"/>
              </a:ext>
            </a:extLst>
          </p:cNvPr>
          <p:cNvSpPr/>
          <p:nvPr/>
        </p:nvSpPr>
        <p:spPr>
          <a:xfrm>
            <a:off x="625732" y="5688637"/>
            <a:ext cx="6129980" cy="532880"/>
          </a:xfrm>
          <a:prstGeom prst="rect">
            <a:avLst/>
          </a:prstGeom>
        </p:spPr>
        <p:txBody>
          <a:bodyPr wrap="square" lIns="101261" tIns="50630" rIns="101261" bIns="50630">
            <a:spAutoFit/>
          </a:bodyPr>
          <a:lstStyle/>
          <a:p>
            <a:pPr marL="228486" indent="-228486" defTabSz="1087869">
              <a:buClr>
                <a:srgbClr val="FFE600"/>
              </a:buClr>
              <a:buFont typeface="Wingdings 3" panose="05040102010807070707" pitchFamily="18" charset="2"/>
              <a:buChar char=""/>
            </a:pPr>
            <a:r>
              <a:rPr lang="en-US" sz="1399">
                <a:solidFill>
                  <a:srgbClr val="FFFFFF"/>
                </a:solidFill>
                <a:latin typeface="EY interstate"/>
                <a:cs typeface="Arial"/>
                <a:sym typeface="Arial"/>
                <a:rtl val="0"/>
              </a:rPr>
              <a:t>Varying country requirements for statutory reporting</a:t>
            </a:r>
          </a:p>
          <a:p>
            <a:pPr marL="228486" indent="-228486" defTabSz="1087869">
              <a:buClr>
                <a:srgbClr val="FFE600"/>
              </a:buClr>
              <a:buFont typeface="Wingdings 3" panose="05040102010807070707" pitchFamily="18" charset="2"/>
              <a:buChar char=""/>
            </a:pPr>
            <a:r>
              <a:rPr lang="en-US" sz="1399">
                <a:solidFill>
                  <a:srgbClr val="FFFFFF"/>
                </a:solidFill>
                <a:latin typeface="EY interstate"/>
                <a:cs typeface="Arial"/>
                <a:sym typeface="Arial"/>
                <a:rtl val="0"/>
              </a:rPr>
              <a:t>Accommodated via ERP’s alternate account functionality or local COA mapping</a:t>
            </a:r>
          </a:p>
        </p:txBody>
      </p:sp>
      <p:sp>
        <p:nvSpPr>
          <p:cNvPr id="23" name="Rectangle 22">
            <a:extLst>
              <a:ext uri="{FF2B5EF4-FFF2-40B4-BE49-F238E27FC236}">
                <a16:creationId xmlns:a16="http://schemas.microsoft.com/office/drawing/2014/main" id="{16793E3E-88B6-3258-0E2E-84C586632E72}"/>
              </a:ext>
            </a:extLst>
          </p:cNvPr>
          <p:cNvSpPr/>
          <p:nvPr/>
        </p:nvSpPr>
        <p:spPr>
          <a:xfrm>
            <a:off x="609600" y="2104926"/>
            <a:ext cx="6224963" cy="379103"/>
          </a:xfrm>
          <a:prstGeom prst="rect">
            <a:avLst/>
          </a:prstGeom>
        </p:spPr>
        <p:txBody>
          <a:bodyPr wrap="square" lIns="101261" tIns="50630" rIns="101261" bIns="50630">
            <a:spAutoFit/>
          </a:bodyPr>
          <a:lstStyle/>
          <a:p>
            <a:pPr defTabSz="1012719"/>
            <a:r>
              <a:rPr lang="en-US" sz="1799" b="1">
                <a:solidFill>
                  <a:srgbClr val="FFE600"/>
                </a:solidFill>
                <a:latin typeface="EY interstate"/>
              </a:rPr>
              <a:t>Last digit or even better the last 2 digits should be zero</a:t>
            </a:r>
            <a:endParaRPr lang="en-AU" sz="1799" b="1">
              <a:solidFill>
                <a:srgbClr val="FFE600"/>
              </a:solidFill>
              <a:effectLst>
                <a:outerShdw blurRad="38100" dist="38100" dir="2700000" algn="tl">
                  <a:srgbClr val="000000">
                    <a:alpha val="43137"/>
                  </a:srgbClr>
                </a:outerShdw>
              </a:effectLst>
              <a:latin typeface="EY interstate"/>
              <a:sym typeface="Arial"/>
            </a:endParaRPr>
          </a:p>
        </p:txBody>
      </p:sp>
      <p:sp>
        <p:nvSpPr>
          <p:cNvPr id="26" name="Rectangle 25">
            <a:extLst>
              <a:ext uri="{FF2B5EF4-FFF2-40B4-BE49-F238E27FC236}">
                <a16:creationId xmlns:a16="http://schemas.microsoft.com/office/drawing/2014/main" id="{521F1021-9F55-2181-45C3-FFA35EDCCEE6}"/>
              </a:ext>
            </a:extLst>
          </p:cNvPr>
          <p:cNvSpPr/>
          <p:nvPr/>
        </p:nvSpPr>
        <p:spPr>
          <a:xfrm>
            <a:off x="625731" y="2455249"/>
            <a:ext cx="4491786" cy="532911"/>
          </a:xfrm>
          <a:prstGeom prst="rect">
            <a:avLst/>
          </a:prstGeom>
        </p:spPr>
        <p:txBody>
          <a:bodyPr wrap="square" lIns="101261" tIns="50630" rIns="101261" bIns="50630">
            <a:spAutoFit/>
          </a:bodyPr>
          <a:lstStyle/>
          <a:p>
            <a:pPr marL="228486" indent="-228486" defTabSz="1087869">
              <a:buClr>
                <a:srgbClr val="FFE600"/>
              </a:buClr>
              <a:buFont typeface="Wingdings 3" panose="05040102010807070707" pitchFamily="18" charset="2"/>
              <a:buChar char=""/>
            </a:pPr>
            <a:r>
              <a:rPr lang="en-US" sz="1399">
                <a:solidFill>
                  <a:srgbClr val="FFFFFF"/>
                </a:solidFill>
                <a:latin typeface="EY interstate"/>
              </a:rPr>
              <a:t>Allows insertion of up to 9  or 99 more accounts</a:t>
            </a:r>
          </a:p>
          <a:p>
            <a:pPr marL="228486" indent="-228486" defTabSz="1087869">
              <a:buClr>
                <a:srgbClr val="FFE600"/>
              </a:buClr>
              <a:buFont typeface="Wingdings 3" panose="05040102010807070707" pitchFamily="18" charset="2"/>
              <a:buChar char=""/>
            </a:pPr>
            <a:r>
              <a:rPr lang="en-US" sz="1399" b="1">
                <a:solidFill>
                  <a:srgbClr val="FFFFFF"/>
                </a:solidFill>
                <a:latin typeface="EY interstate"/>
                <a:cs typeface="Arial"/>
                <a:sym typeface="Arial"/>
                <a:rtl val="0"/>
              </a:rPr>
              <a:t>Allows flexibility of future growth</a:t>
            </a:r>
            <a:endParaRPr lang="en-AU" sz="1399" b="1">
              <a:solidFill>
                <a:srgbClr val="FFFFFF"/>
              </a:solidFill>
              <a:latin typeface="EY interstate"/>
              <a:cs typeface="Arial"/>
              <a:sym typeface="Arial"/>
              <a:rtl val="0"/>
            </a:endParaRPr>
          </a:p>
        </p:txBody>
      </p:sp>
      <p:sp>
        <p:nvSpPr>
          <p:cNvPr id="27" name="Rectangle 26">
            <a:extLst>
              <a:ext uri="{FF2B5EF4-FFF2-40B4-BE49-F238E27FC236}">
                <a16:creationId xmlns:a16="http://schemas.microsoft.com/office/drawing/2014/main" id="{4AF40A90-C302-C3B0-7D63-AD826DACB88D}"/>
              </a:ext>
            </a:extLst>
          </p:cNvPr>
          <p:cNvSpPr/>
          <p:nvPr/>
        </p:nvSpPr>
        <p:spPr>
          <a:xfrm>
            <a:off x="625732" y="3045275"/>
            <a:ext cx="6224963" cy="379103"/>
          </a:xfrm>
          <a:prstGeom prst="rect">
            <a:avLst/>
          </a:prstGeom>
        </p:spPr>
        <p:txBody>
          <a:bodyPr wrap="square" lIns="101261" tIns="50630" rIns="101261" bIns="50630">
            <a:spAutoFit/>
          </a:bodyPr>
          <a:lstStyle/>
          <a:p>
            <a:pPr defTabSz="1012719"/>
            <a:r>
              <a:rPr lang="en-US" sz="1799" b="1">
                <a:solidFill>
                  <a:srgbClr val="FFE600"/>
                </a:solidFill>
                <a:latin typeface="EY interstate"/>
              </a:rPr>
              <a:t>Remain consistent in formatting and concise in language</a:t>
            </a:r>
            <a:endParaRPr lang="en-AU" sz="1799" b="1">
              <a:solidFill>
                <a:srgbClr val="FFE600"/>
              </a:solidFill>
              <a:effectLst>
                <a:outerShdw blurRad="38100" dist="38100" dir="2700000" algn="tl">
                  <a:srgbClr val="000000">
                    <a:alpha val="43137"/>
                  </a:srgbClr>
                </a:outerShdw>
              </a:effectLst>
              <a:latin typeface="EY interstate"/>
              <a:sym typeface="Arial"/>
            </a:endParaRPr>
          </a:p>
        </p:txBody>
      </p:sp>
      <p:sp>
        <p:nvSpPr>
          <p:cNvPr id="29" name="Rectangle 28">
            <a:extLst>
              <a:ext uri="{FF2B5EF4-FFF2-40B4-BE49-F238E27FC236}">
                <a16:creationId xmlns:a16="http://schemas.microsoft.com/office/drawing/2014/main" id="{D8A3769E-BA26-CAC4-35B5-491B983B0D06}"/>
              </a:ext>
            </a:extLst>
          </p:cNvPr>
          <p:cNvSpPr/>
          <p:nvPr/>
        </p:nvSpPr>
        <p:spPr>
          <a:xfrm>
            <a:off x="609600" y="3381735"/>
            <a:ext cx="6359201" cy="532880"/>
          </a:xfrm>
          <a:prstGeom prst="rect">
            <a:avLst/>
          </a:prstGeom>
        </p:spPr>
        <p:txBody>
          <a:bodyPr wrap="square" lIns="101261" tIns="50630" rIns="101261" bIns="50630">
            <a:spAutoFit/>
          </a:bodyPr>
          <a:lstStyle/>
          <a:p>
            <a:pPr marL="228486" indent="-228486" defTabSz="1087869">
              <a:buClr>
                <a:srgbClr val="FFE600"/>
              </a:buClr>
              <a:buFont typeface="Wingdings 3" panose="05040102010807070707" pitchFamily="18" charset="2"/>
              <a:buChar char=""/>
            </a:pPr>
            <a:r>
              <a:rPr lang="en-US" sz="1399">
                <a:solidFill>
                  <a:srgbClr val="FFFFFF"/>
                </a:solidFill>
                <a:latin typeface="EY interstate"/>
              </a:rPr>
              <a:t>Consistency across capitalization, use of symbols, abbreviations, etc.</a:t>
            </a:r>
          </a:p>
          <a:p>
            <a:pPr marL="228486" indent="-228486" defTabSz="1087869">
              <a:buClr>
                <a:srgbClr val="FFE600"/>
              </a:buClr>
              <a:buFont typeface="Wingdings 3" panose="05040102010807070707" pitchFamily="18" charset="2"/>
              <a:buChar char=""/>
            </a:pPr>
            <a:r>
              <a:rPr lang="en-US" sz="1399">
                <a:solidFill>
                  <a:srgbClr val="FFFFFF"/>
                </a:solidFill>
                <a:latin typeface="EY interstate"/>
                <a:cs typeface="Arial"/>
                <a:sym typeface="Arial"/>
                <a:rtl val="0"/>
              </a:rPr>
              <a:t>Names should provide enough information to understand the accounts purpose</a:t>
            </a:r>
            <a:endParaRPr lang="en-AU" sz="1399">
              <a:solidFill>
                <a:srgbClr val="FFFFFF"/>
              </a:solidFill>
              <a:latin typeface="EY interstate"/>
              <a:cs typeface="Arial"/>
              <a:sym typeface="Arial"/>
              <a:rtl val="0"/>
            </a:endParaRPr>
          </a:p>
        </p:txBody>
      </p:sp>
    </p:spTree>
    <p:extLst>
      <p:ext uri="{BB962C8B-B14F-4D97-AF65-F5344CB8AC3E}">
        <p14:creationId xmlns:p14="http://schemas.microsoft.com/office/powerpoint/2010/main" val="321939918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9BAC04-E55A-2710-80EA-780B370370A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FD12396-EFEA-7335-1CED-B18EF13ACDA7}"/>
              </a:ext>
            </a:extLst>
          </p:cNvPr>
          <p:cNvSpPr txBox="1">
            <a:spLocks noGrp="1"/>
          </p:cNvSpPr>
          <p:nvPr>
            <p:ph type="title"/>
          </p:nvPr>
        </p:nvSpPr>
        <p:spPr>
          <a:xfrm>
            <a:off x="522745" y="466101"/>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Chart of Accounts(CoA)</a:t>
            </a:r>
          </a:p>
        </p:txBody>
      </p:sp>
      <p:sp>
        <p:nvSpPr>
          <p:cNvPr id="3" name="TextBox 2">
            <a:extLst>
              <a:ext uri="{FF2B5EF4-FFF2-40B4-BE49-F238E27FC236}">
                <a16:creationId xmlns:a16="http://schemas.microsoft.com/office/drawing/2014/main" id="{82DEE9DD-A466-1481-ACB5-3EF5E61420C3}"/>
              </a:ext>
            </a:extLst>
          </p:cNvPr>
          <p:cNvSpPr txBox="1"/>
          <p:nvPr/>
        </p:nvSpPr>
        <p:spPr>
          <a:xfrm>
            <a:off x="589042" y="1093077"/>
            <a:ext cx="5037058" cy="5275740"/>
          </a:xfrm>
          <a:prstGeom prst="rect">
            <a:avLst/>
          </a:prstGeom>
          <a:noFill/>
          <a:ln>
            <a:solidFill>
              <a:schemeClr val="bg1"/>
            </a:solidFill>
          </a:ln>
        </p:spPr>
        <p:txBody>
          <a:bodyPr wrap="square" rtlCol="0">
            <a:spAutoFit/>
          </a:bodyPr>
          <a:lstStyle/>
          <a:p>
            <a:pPr>
              <a:buNone/>
            </a:pPr>
            <a:r>
              <a:rPr lang="en-IN" b="1">
                <a:solidFill>
                  <a:srgbClr val="FFE600"/>
                </a:solidFill>
                <a:latin typeface="EY interstate"/>
              </a:rPr>
              <a:t> </a:t>
            </a:r>
            <a:r>
              <a:rPr lang="en-IN" b="1" i="1">
                <a:solidFill>
                  <a:srgbClr val="FFE600"/>
                </a:solidFill>
                <a:latin typeface="EY interstate"/>
              </a:rPr>
              <a:t>Key features of Reporting enablement</a:t>
            </a:r>
            <a:endParaRPr lang="en-IN">
              <a:solidFill>
                <a:schemeClr val="bg1"/>
              </a:solidFill>
              <a:latin typeface="EY interstate"/>
            </a:endParaRPr>
          </a:p>
          <a:p>
            <a:pPr>
              <a:lnSpc>
                <a:spcPct val="150000"/>
              </a:lnSpc>
              <a:buFont typeface="+mj-lt"/>
              <a:buAutoNum type="arabicPeriod"/>
            </a:pPr>
            <a:r>
              <a:rPr lang="en-IN" sz="1400" b="1">
                <a:solidFill>
                  <a:schemeClr val="bg1"/>
                </a:solidFill>
                <a:latin typeface="EY interstate"/>
              </a:rPr>
              <a:t>Multi-Dimensional Reporting:</a:t>
            </a:r>
            <a:r>
              <a:rPr lang="en-IN">
                <a:solidFill>
                  <a:schemeClr val="bg1"/>
                </a:solidFill>
                <a:latin typeface="EY interstate"/>
              </a:rPr>
              <a:t> </a:t>
            </a:r>
            <a:r>
              <a:rPr lang="en-IN" sz="1400">
                <a:solidFill>
                  <a:schemeClr val="bg1"/>
                </a:solidFill>
                <a:latin typeface="EY interstate"/>
              </a:rPr>
              <a:t>Accounts are tagged with dimensions such as department, region, project, or cost centre to enable detailed analysis</a:t>
            </a:r>
            <a:endParaRPr lang="en-IN">
              <a:solidFill>
                <a:schemeClr val="bg1"/>
              </a:solidFill>
              <a:latin typeface="EY interstate"/>
            </a:endParaRPr>
          </a:p>
          <a:p>
            <a:pPr>
              <a:lnSpc>
                <a:spcPct val="150000"/>
              </a:lnSpc>
              <a:buFont typeface="+mj-lt"/>
              <a:buAutoNum type="arabicPeriod"/>
            </a:pPr>
            <a:r>
              <a:rPr lang="en-IN" sz="1400" b="1">
                <a:solidFill>
                  <a:schemeClr val="bg1"/>
                </a:solidFill>
                <a:latin typeface="EY interstate"/>
              </a:rPr>
              <a:t>Hierarchical Structure:</a:t>
            </a:r>
            <a:r>
              <a:rPr lang="en-IN" sz="1400">
                <a:solidFill>
                  <a:schemeClr val="bg1"/>
                </a:solidFill>
                <a:latin typeface="EY interstate"/>
              </a:rPr>
              <a:t> The CoA is organized in a hierarchical manner (e.g., 4-tier structure) to allow for both high-level summaries and granular details</a:t>
            </a:r>
          </a:p>
          <a:p>
            <a:pPr>
              <a:lnSpc>
                <a:spcPct val="150000"/>
              </a:lnSpc>
              <a:buFont typeface="+mj-lt"/>
              <a:buAutoNum type="arabicPeriod"/>
            </a:pPr>
            <a:r>
              <a:rPr lang="en-IN" sz="1400" b="1">
                <a:solidFill>
                  <a:schemeClr val="bg1"/>
                </a:solidFill>
                <a:latin typeface="EY interstate"/>
              </a:rPr>
              <a:t>Scalability:</a:t>
            </a:r>
            <a:r>
              <a:rPr lang="en-IN" sz="1400">
                <a:solidFill>
                  <a:schemeClr val="bg1"/>
                </a:solidFill>
                <a:latin typeface="EY interstate"/>
              </a:rPr>
              <a:t> The CoA is flexible and scalable to accommodate organizational growth, new business lines, or changes in reporting requirements</a:t>
            </a:r>
          </a:p>
          <a:p>
            <a:pPr>
              <a:lnSpc>
                <a:spcPct val="150000"/>
              </a:lnSpc>
            </a:pPr>
            <a:r>
              <a:rPr lang="en-IN" sz="1400">
                <a:solidFill>
                  <a:schemeClr val="bg1"/>
                </a:solidFill>
                <a:latin typeface="EY interstate"/>
              </a:rPr>
              <a:t>4.</a:t>
            </a:r>
            <a:r>
              <a:rPr lang="en-IN" sz="1400" b="1">
                <a:solidFill>
                  <a:schemeClr val="bg1"/>
                </a:solidFill>
                <a:latin typeface="EY interstate"/>
              </a:rPr>
              <a:t>Compliance:</a:t>
            </a:r>
            <a:r>
              <a:rPr lang="en-IN" sz="1400">
                <a:solidFill>
                  <a:schemeClr val="bg1"/>
                </a:solidFill>
                <a:latin typeface="EY interstate"/>
              </a:rPr>
              <a:t> The CoA is aligned with accounting standards (e.g., GAAP, IFRS) and regulatory requirements to ensure compliance</a:t>
            </a:r>
          </a:p>
          <a:p>
            <a:pPr>
              <a:lnSpc>
                <a:spcPct val="150000"/>
              </a:lnSpc>
            </a:pPr>
            <a:r>
              <a:rPr lang="en-IN" sz="1400">
                <a:solidFill>
                  <a:schemeClr val="bg1"/>
                </a:solidFill>
                <a:latin typeface="EY interstate"/>
              </a:rPr>
              <a:t>5.</a:t>
            </a:r>
            <a:r>
              <a:rPr lang="en-IN" sz="1400" b="1">
                <a:solidFill>
                  <a:schemeClr val="bg1"/>
                </a:solidFill>
                <a:latin typeface="EY interstate"/>
              </a:rPr>
              <a:t>Automation:</a:t>
            </a:r>
            <a:r>
              <a:rPr lang="en-IN" sz="1400">
                <a:solidFill>
                  <a:schemeClr val="bg1"/>
                </a:solidFill>
                <a:latin typeface="EY interstate"/>
              </a:rPr>
              <a:t> Integration with ERP systems (e.g., SAP, Oracle) enables automated data capture, reconciliation, and reporting</a:t>
            </a:r>
          </a:p>
          <a:p>
            <a:pPr>
              <a:lnSpc>
                <a:spcPct val="150000"/>
              </a:lnSpc>
            </a:pPr>
            <a:r>
              <a:rPr lang="en-IN" sz="1400">
                <a:solidFill>
                  <a:schemeClr val="bg1"/>
                </a:solidFill>
                <a:latin typeface="EY interstate"/>
              </a:rPr>
              <a:t>6.</a:t>
            </a:r>
            <a:r>
              <a:rPr lang="en-IN" sz="1400" b="1">
                <a:solidFill>
                  <a:schemeClr val="bg1"/>
                </a:solidFill>
                <a:latin typeface="EY interstate"/>
              </a:rPr>
              <a:t>Consistency: </a:t>
            </a:r>
            <a:r>
              <a:rPr lang="en-IN" sz="1400">
                <a:solidFill>
                  <a:schemeClr val="bg1"/>
                </a:solidFill>
                <a:latin typeface="EY interstate"/>
              </a:rPr>
              <a:t>Standardized naming conventions and numbering systems ensure consistency across the organization</a:t>
            </a:r>
          </a:p>
        </p:txBody>
      </p:sp>
      <p:sp>
        <p:nvSpPr>
          <p:cNvPr id="10" name="TextBox 9">
            <a:extLst>
              <a:ext uri="{FF2B5EF4-FFF2-40B4-BE49-F238E27FC236}">
                <a16:creationId xmlns:a16="http://schemas.microsoft.com/office/drawing/2014/main" id="{708CDB39-CFC9-1B98-9868-8A065A1F9274}"/>
              </a:ext>
            </a:extLst>
          </p:cNvPr>
          <p:cNvSpPr txBox="1"/>
          <p:nvPr/>
        </p:nvSpPr>
        <p:spPr>
          <a:xfrm>
            <a:off x="589042" y="6548180"/>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t> - </a:t>
            </a:r>
            <a:r>
              <a:rPr lang="en-IN" sz="600">
                <a:solidFill>
                  <a:schemeClr val="bg1"/>
                </a:solidFill>
                <a:latin typeface="EY interstate"/>
              </a:rPr>
              <a:t>EYQ</a:t>
            </a:r>
          </a:p>
        </p:txBody>
      </p:sp>
      <p:grpSp>
        <p:nvGrpSpPr>
          <p:cNvPr id="7" name="Group 6">
            <a:extLst>
              <a:ext uri="{FF2B5EF4-FFF2-40B4-BE49-F238E27FC236}">
                <a16:creationId xmlns:a16="http://schemas.microsoft.com/office/drawing/2014/main" id="{160B0308-08B5-42CA-60E3-4F8EB1601EBE}"/>
              </a:ext>
            </a:extLst>
          </p:cNvPr>
          <p:cNvGrpSpPr/>
          <p:nvPr/>
        </p:nvGrpSpPr>
        <p:grpSpPr>
          <a:xfrm>
            <a:off x="6360208" y="1169276"/>
            <a:ext cx="5036400" cy="5175988"/>
            <a:chOff x="6677708" y="1093077"/>
            <a:chExt cx="5273349" cy="5281436"/>
          </a:xfrm>
        </p:grpSpPr>
        <p:sp>
          <p:nvSpPr>
            <p:cNvPr id="4" name="TextBox 3">
              <a:extLst>
                <a:ext uri="{FF2B5EF4-FFF2-40B4-BE49-F238E27FC236}">
                  <a16:creationId xmlns:a16="http://schemas.microsoft.com/office/drawing/2014/main" id="{9E6A9492-902A-60CE-2A21-1F05B3BAAE1C}"/>
                </a:ext>
              </a:extLst>
            </p:cNvPr>
            <p:cNvSpPr txBox="1"/>
            <p:nvPr/>
          </p:nvSpPr>
          <p:spPr>
            <a:xfrm>
              <a:off x="6913999" y="1093077"/>
              <a:ext cx="5037058" cy="369332"/>
            </a:xfrm>
            <a:prstGeom prst="rect">
              <a:avLst/>
            </a:prstGeom>
            <a:noFill/>
          </p:spPr>
          <p:txBody>
            <a:bodyPr wrap="square" rtlCol="0">
              <a:spAutoFit/>
            </a:bodyPr>
            <a:lstStyle/>
            <a:p>
              <a:r>
                <a:rPr lang="en-IN" b="1">
                  <a:solidFill>
                    <a:srgbClr val="FFE600"/>
                  </a:solidFill>
                  <a:latin typeface="EY interstate"/>
                </a:rPr>
                <a:t>Best in Class Governance Model – Role played</a:t>
              </a:r>
            </a:p>
          </p:txBody>
        </p:sp>
        <p:graphicFrame>
          <p:nvGraphicFramePr>
            <p:cNvPr id="5" name="Diagram 4">
              <a:extLst>
                <a:ext uri="{FF2B5EF4-FFF2-40B4-BE49-F238E27FC236}">
                  <a16:creationId xmlns:a16="http://schemas.microsoft.com/office/drawing/2014/main" id="{889733CF-C5E2-8AB6-A3C9-F3C10E5091A5}"/>
                </a:ext>
              </a:extLst>
            </p:cNvPr>
            <p:cNvGraphicFramePr/>
            <p:nvPr>
              <p:extLst>
                <p:ext uri="{D42A27DB-BD31-4B8C-83A1-F6EECF244321}">
                  <p14:modId xmlns:p14="http://schemas.microsoft.com/office/powerpoint/2010/main" val="1695710317"/>
                </p:ext>
              </p:extLst>
            </p:nvPr>
          </p:nvGraphicFramePr>
          <p:xfrm>
            <a:off x="7428506" y="1560187"/>
            <a:ext cx="3663069" cy="259653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TextBox 5">
              <a:extLst>
                <a:ext uri="{FF2B5EF4-FFF2-40B4-BE49-F238E27FC236}">
                  <a16:creationId xmlns:a16="http://schemas.microsoft.com/office/drawing/2014/main" id="{0C990B50-63CD-D043-4678-55FB5582A6E4}"/>
                </a:ext>
              </a:extLst>
            </p:cNvPr>
            <p:cNvSpPr txBox="1"/>
            <p:nvPr/>
          </p:nvSpPr>
          <p:spPr>
            <a:xfrm>
              <a:off x="6677708" y="4150827"/>
              <a:ext cx="5164667" cy="2223686"/>
            </a:xfrm>
            <a:prstGeom prst="rect">
              <a:avLst/>
            </a:prstGeom>
            <a:noFill/>
          </p:spPr>
          <p:txBody>
            <a:bodyPr wrap="square" rtlCol="0">
              <a:spAutoFit/>
            </a:bodyPr>
            <a:lstStyle/>
            <a:p>
              <a:pPr defTabSz="913942">
                <a:spcBef>
                  <a:spcPts val="500"/>
                </a:spcBef>
                <a:buClr>
                  <a:srgbClr val="FFE600"/>
                </a:buClr>
                <a:buSzPct val="110000"/>
              </a:pPr>
              <a:r>
                <a:rPr lang="en-IN" sz="1400" b="1">
                  <a:solidFill>
                    <a:srgbClr val="FFE600"/>
                  </a:solidFill>
                  <a:latin typeface="EY interstate"/>
                </a:rPr>
                <a:t>How They Work Together</a:t>
              </a:r>
            </a:p>
            <a:p>
              <a:pPr marL="356235" indent="-356235" defTabSz="913942">
                <a:spcBef>
                  <a:spcPts val="500"/>
                </a:spcBef>
                <a:buClr>
                  <a:srgbClr val="FFE600"/>
                </a:buClr>
                <a:buSzPct val="110000"/>
                <a:buFont typeface="EYInterstate Light" pitchFamily="2"/>
                <a:buChar char="•"/>
              </a:pPr>
              <a:r>
                <a:rPr lang="en-IN" sz="1400" b="1">
                  <a:solidFill>
                    <a:srgbClr val="FFFFFF"/>
                  </a:solidFill>
                  <a:latin typeface="EY interstate"/>
                </a:rPr>
                <a:t>CoA as the Foundation</a:t>
              </a:r>
              <a:r>
                <a:rPr lang="en-IN" sz="1400">
                  <a:solidFill>
                    <a:srgbClr val="FFFFFF"/>
                  </a:solidFill>
                  <a:latin typeface="EY interstate"/>
                </a:rPr>
                <a:t>: The CoA provides the structure and granularity needed for financial processes.</a:t>
              </a:r>
            </a:p>
            <a:p>
              <a:pPr marL="356235" indent="-356235" defTabSz="913942">
                <a:spcBef>
                  <a:spcPts val="500"/>
                </a:spcBef>
                <a:buClr>
                  <a:srgbClr val="FFE600"/>
                </a:buClr>
                <a:buSzPct val="110000"/>
                <a:buFont typeface="EYInterstate Light" pitchFamily="2"/>
                <a:buChar char="•"/>
              </a:pPr>
              <a:r>
                <a:rPr lang="en-IN" sz="1400" b="1">
                  <a:solidFill>
                    <a:srgbClr val="FFFFFF"/>
                  </a:solidFill>
                  <a:latin typeface="EY interstate"/>
                </a:rPr>
                <a:t>Financial Processes as the Core: </a:t>
              </a:r>
              <a:r>
                <a:rPr lang="en-IN" sz="1400">
                  <a:solidFill>
                    <a:srgbClr val="FFFFFF"/>
                  </a:solidFill>
                  <a:latin typeface="EY interstate"/>
                </a:rPr>
                <a:t>These processes rely on the CoA for accurate data recording, reconciliation, and reporting.</a:t>
              </a:r>
            </a:p>
            <a:p>
              <a:pPr marL="356235" indent="-356235" defTabSz="913942">
                <a:spcBef>
                  <a:spcPts val="500"/>
                </a:spcBef>
                <a:buClr>
                  <a:srgbClr val="FFE600"/>
                </a:buClr>
                <a:buSzPct val="110000"/>
                <a:buFont typeface="EYInterstate Light" pitchFamily="2"/>
                <a:buChar char="•"/>
              </a:pPr>
              <a:r>
                <a:rPr lang="en-IN" sz="1400" b="1">
                  <a:solidFill>
                    <a:srgbClr val="FFFFFF"/>
                  </a:solidFill>
                  <a:latin typeface="EY interstate"/>
                </a:rPr>
                <a:t>Policies and Governance as the Framework: </a:t>
              </a:r>
              <a:r>
                <a:rPr lang="en-IN" sz="1400">
                  <a:solidFill>
                    <a:srgbClr val="FFFFFF"/>
                  </a:solidFill>
                  <a:latin typeface="EY interstate"/>
                </a:rPr>
                <a:t>Policies and governance ensure the CoA and financial processes are aligned, compliant, and effective.</a:t>
              </a:r>
            </a:p>
            <a:p>
              <a:endParaRPr lang="en-IN" sz="1400"/>
            </a:p>
          </p:txBody>
        </p:sp>
      </p:grpSp>
      <p:sp>
        <p:nvSpPr>
          <p:cNvPr id="8" name="Rectangle 7">
            <a:extLst>
              <a:ext uri="{FF2B5EF4-FFF2-40B4-BE49-F238E27FC236}">
                <a16:creationId xmlns:a16="http://schemas.microsoft.com/office/drawing/2014/main" id="{F7AD73B2-BD44-0164-9CEC-263C04AB3A7C}"/>
              </a:ext>
            </a:extLst>
          </p:cNvPr>
          <p:cNvSpPr/>
          <p:nvPr/>
        </p:nvSpPr>
        <p:spPr>
          <a:xfrm>
            <a:off x="6304057" y="1093077"/>
            <a:ext cx="5037058" cy="527574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39011828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7FEB6C0-E25A-B514-702B-CDCF436EB0A9}"/>
              </a:ext>
            </a:extLst>
          </p:cNvPr>
          <p:cNvSpPr txBox="1"/>
          <p:nvPr/>
        </p:nvSpPr>
        <p:spPr>
          <a:xfrm>
            <a:off x="563985" y="463904"/>
            <a:ext cx="9445534" cy="40895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Record to Report : Governance model</a:t>
            </a:r>
          </a:p>
        </p:txBody>
      </p:sp>
      <p:sp>
        <p:nvSpPr>
          <p:cNvPr id="139" name="Hexagon 138">
            <a:extLst>
              <a:ext uri="{FF2B5EF4-FFF2-40B4-BE49-F238E27FC236}">
                <a16:creationId xmlns:a16="http://schemas.microsoft.com/office/drawing/2014/main" id="{275CC399-1A31-A321-6A2C-CCCB14B91087}"/>
              </a:ext>
            </a:extLst>
          </p:cNvPr>
          <p:cNvSpPr/>
          <p:nvPr/>
        </p:nvSpPr>
        <p:spPr>
          <a:xfrm>
            <a:off x="4847056" y="2901043"/>
            <a:ext cx="2102602" cy="1852704"/>
          </a:xfrm>
          <a:prstGeom prst="hexagon">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40" name="Rectangle: Top Corners One Rounded and One Snipped 139">
            <a:extLst>
              <a:ext uri="{FF2B5EF4-FFF2-40B4-BE49-F238E27FC236}">
                <a16:creationId xmlns:a16="http://schemas.microsoft.com/office/drawing/2014/main" id="{66F92E80-87F8-3EA3-DB71-024B5AD2F744}"/>
              </a:ext>
            </a:extLst>
          </p:cNvPr>
          <p:cNvSpPr/>
          <p:nvPr/>
        </p:nvSpPr>
        <p:spPr>
          <a:xfrm>
            <a:off x="386715" y="1501636"/>
            <a:ext cx="3738502" cy="1261446"/>
          </a:xfrm>
          <a:prstGeom prst="snipRoundRect">
            <a:avLst>
              <a:gd name="adj1" fmla="val 6188"/>
              <a:gd name="adj2" fmla="val 0"/>
            </a:avLst>
          </a:prstGeom>
          <a:noFill/>
          <a:ln w="28575">
            <a:solidFill>
              <a:srgbClr val="7474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nvGrpSpPr>
          <p:cNvPr id="141" name="Group 140">
            <a:extLst>
              <a:ext uri="{FF2B5EF4-FFF2-40B4-BE49-F238E27FC236}">
                <a16:creationId xmlns:a16="http://schemas.microsoft.com/office/drawing/2014/main" id="{04782C72-174C-626E-A8C5-F54675D26DCA}"/>
              </a:ext>
            </a:extLst>
          </p:cNvPr>
          <p:cNvGrpSpPr/>
          <p:nvPr/>
        </p:nvGrpSpPr>
        <p:grpSpPr>
          <a:xfrm>
            <a:off x="371475" y="1286612"/>
            <a:ext cx="3251960" cy="431283"/>
            <a:chOff x="371475" y="1243745"/>
            <a:chExt cx="2921951" cy="512757"/>
          </a:xfrm>
        </p:grpSpPr>
        <p:sp>
          <p:nvSpPr>
            <p:cNvPr id="142" name="Isosceles Triangle 141">
              <a:extLst>
                <a:ext uri="{FF2B5EF4-FFF2-40B4-BE49-F238E27FC236}">
                  <a16:creationId xmlns:a16="http://schemas.microsoft.com/office/drawing/2014/main" id="{74C55BC9-DD9F-18F0-1B08-B86D03C47A4E}"/>
                </a:ext>
              </a:extLst>
            </p:cNvPr>
            <p:cNvSpPr/>
            <p:nvPr/>
          </p:nvSpPr>
          <p:spPr>
            <a:xfrm>
              <a:off x="3141620" y="1243745"/>
              <a:ext cx="151806" cy="258248"/>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43" name="Parallelogram 142">
              <a:extLst>
                <a:ext uri="{FF2B5EF4-FFF2-40B4-BE49-F238E27FC236}">
                  <a16:creationId xmlns:a16="http://schemas.microsoft.com/office/drawing/2014/main" id="{96EE6C41-CFC2-EE48-0A71-8E3E715B7933}"/>
                </a:ext>
              </a:extLst>
            </p:cNvPr>
            <p:cNvSpPr/>
            <p:nvPr/>
          </p:nvSpPr>
          <p:spPr>
            <a:xfrm>
              <a:off x="870072" y="1243745"/>
              <a:ext cx="2346960" cy="512757"/>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44" name="Parallelogram 143">
              <a:extLst>
                <a:ext uri="{FF2B5EF4-FFF2-40B4-BE49-F238E27FC236}">
                  <a16:creationId xmlns:a16="http://schemas.microsoft.com/office/drawing/2014/main" id="{7C860B76-B29E-BFDF-BB6B-FE39C8A6E769}"/>
                </a:ext>
              </a:extLst>
            </p:cNvPr>
            <p:cNvSpPr/>
            <p:nvPr/>
          </p:nvSpPr>
          <p:spPr>
            <a:xfrm>
              <a:off x="728208" y="1243745"/>
              <a:ext cx="2451926" cy="51275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45" name="Rectangle: Top Corners One Rounded and One Snipped 144">
              <a:extLst>
                <a:ext uri="{FF2B5EF4-FFF2-40B4-BE49-F238E27FC236}">
                  <a16:creationId xmlns:a16="http://schemas.microsoft.com/office/drawing/2014/main" id="{B3090A72-2DE1-8593-6E22-9DF2113AB17B}"/>
                </a:ext>
              </a:extLst>
            </p:cNvPr>
            <p:cNvSpPr/>
            <p:nvPr/>
          </p:nvSpPr>
          <p:spPr>
            <a:xfrm>
              <a:off x="371475" y="1243745"/>
              <a:ext cx="633412" cy="512757"/>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146" name="TextBox 145">
            <a:extLst>
              <a:ext uri="{FF2B5EF4-FFF2-40B4-BE49-F238E27FC236}">
                <a16:creationId xmlns:a16="http://schemas.microsoft.com/office/drawing/2014/main" id="{A0D2B8DD-BBCC-8CF5-EE71-674A0BC0C509}"/>
              </a:ext>
            </a:extLst>
          </p:cNvPr>
          <p:cNvSpPr txBox="1"/>
          <p:nvPr/>
        </p:nvSpPr>
        <p:spPr>
          <a:xfrm>
            <a:off x="472545" y="1330223"/>
            <a:ext cx="2556992" cy="337992"/>
          </a:xfrm>
          <a:prstGeom prst="rect">
            <a:avLst/>
          </a:prstGeom>
          <a:noFill/>
        </p:spPr>
        <p:txBody>
          <a:bodyPr wrap="square" rtlCol="0">
            <a:spAutoFit/>
          </a:bodyPr>
          <a:lstStyle/>
          <a:p>
            <a:r>
              <a:rPr lang="en-IN" sz="1600">
                <a:solidFill>
                  <a:schemeClr val="bg1"/>
                </a:solidFill>
                <a:latin typeface="EYInterstate" panose="02000503020000020004" pitchFamily="2" charset="0"/>
              </a:rPr>
              <a:t>Performance Metrics</a:t>
            </a:r>
          </a:p>
        </p:txBody>
      </p:sp>
      <p:sp>
        <p:nvSpPr>
          <p:cNvPr id="147" name="TextBox 146">
            <a:extLst>
              <a:ext uri="{FF2B5EF4-FFF2-40B4-BE49-F238E27FC236}">
                <a16:creationId xmlns:a16="http://schemas.microsoft.com/office/drawing/2014/main" id="{F8BAAAC5-DB3B-64AB-12CE-D43B7ACFBDA2}"/>
              </a:ext>
            </a:extLst>
          </p:cNvPr>
          <p:cNvSpPr txBox="1"/>
          <p:nvPr/>
        </p:nvSpPr>
        <p:spPr>
          <a:xfrm>
            <a:off x="472545" y="1726093"/>
            <a:ext cx="3581976" cy="646331"/>
          </a:xfrm>
          <a:prstGeom prst="rect">
            <a:avLst/>
          </a:prstGeom>
          <a:noFill/>
        </p:spPr>
        <p:txBody>
          <a:bodyPr wrap="square" rtlCol="0">
            <a:spAutoFit/>
          </a:bodyPr>
          <a:lstStyle/>
          <a:p>
            <a:pPr defTabSz="513836"/>
            <a:r>
              <a:rPr lang="en-IN" sz="1200" kern="0">
                <a:solidFill>
                  <a:schemeClr val="bg1"/>
                </a:solidFill>
                <a:latin typeface="EYInterstate Light"/>
              </a:rPr>
              <a:t>Development of key performance indicators (KPIs) to monitor and measure the effectiveness of CoA and identify deviations in reporting</a:t>
            </a:r>
          </a:p>
        </p:txBody>
      </p:sp>
      <p:sp>
        <p:nvSpPr>
          <p:cNvPr id="148" name="Rectangle: Top Corners One Rounded and One Snipped 147">
            <a:extLst>
              <a:ext uri="{FF2B5EF4-FFF2-40B4-BE49-F238E27FC236}">
                <a16:creationId xmlns:a16="http://schemas.microsoft.com/office/drawing/2014/main" id="{1D68F0C9-09CD-E74F-E2B8-713D3E04CD09}"/>
              </a:ext>
            </a:extLst>
          </p:cNvPr>
          <p:cNvSpPr/>
          <p:nvPr/>
        </p:nvSpPr>
        <p:spPr>
          <a:xfrm>
            <a:off x="386715" y="3191213"/>
            <a:ext cx="3738502" cy="1261446"/>
          </a:xfrm>
          <a:prstGeom prst="snipRoundRect">
            <a:avLst>
              <a:gd name="adj1" fmla="val 6188"/>
              <a:gd name="adj2" fmla="val 0"/>
            </a:avLst>
          </a:prstGeom>
          <a:noFill/>
          <a:ln w="28575">
            <a:solidFill>
              <a:srgbClr val="7474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nvGrpSpPr>
          <p:cNvPr id="149" name="Group 148">
            <a:extLst>
              <a:ext uri="{FF2B5EF4-FFF2-40B4-BE49-F238E27FC236}">
                <a16:creationId xmlns:a16="http://schemas.microsoft.com/office/drawing/2014/main" id="{FE8A90D5-616B-15A5-BBF6-1C5DF223A5B6}"/>
              </a:ext>
            </a:extLst>
          </p:cNvPr>
          <p:cNvGrpSpPr/>
          <p:nvPr/>
        </p:nvGrpSpPr>
        <p:grpSpPr>
          <a:xfrm>
            <a:off x="371474" y="2976189"/>
            <a:ext cx="3251426" cy="431283"/>
            <a:chOff x="371475" y="2936130"/>
            <a:chExt cx="2921477" cy="512757"/>
          </a:xfrm>
        </p:grpSpPr>
        <p:sp>
          <p:nvSpPr>
            <p:cNvPr id="150" name="Isosceles Triangle 149">
              <a:extLst>
                <a:ext uri="{FF2B5EF4-FFF2-40B4-BE49-F238E27FC236}">
                  <a16:creationId xmlns:a16="http://schemas.microsoft.com/office/drawing/2014/main" id="{D00043C9-F58E-C6EE-2448-29A6F9447F06}"/>
                </a:ext>
              </a:extLst>
            </p:cNvPr>
            <p:cNvSpPr/>
            <p:nvPr/>
          </p:nvSpPr>
          <p:spPr>
            <a:xfrm>
              <a:off x="3142092" y="2936130"/>
              <a:ext cx="150860" cy="258248"/>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51" name="Parallelogram 150">
              <a:extLst>
                <a:ext uri="{FF2B5EF4-FFF2-40B4-BE49-F238E27FC236}">
                  <a16:creationId xmlns:a16="http://schemas.microsoft.com/office/drawing/2014/main" id="{0D32C46E-74B2-604A-5957-4EBF06838EC3}"/>
                </a:ext>
              </a:extLst>
            </p:cNvPr>
            <p:cNvSpPr/>
            <p:nvPr/>
          </p:nvSpPr>
          <p:spPr>
            <a:xfrm>
              <a:off x="870072" y="2936130"/>
              <a:ext cx="2346960" cy="512757"/>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52" name="Parallelogram 151">
              <a:extLst>
                <a:ext uri="{FF2B5EF4-FFF2-40B4-BE49-F238E27FC236}">
                  <a16:creationId xmlns:a16="http://schemas.microsoft.com/office/drawing/2014/main" id="{9709B3E4-5457-4600-A7A2-037278411325}"/>
                </a:ext>
              </a:extLst>
            </p:cNvPr>
            <p:cNvSpPr/>
            <p:nvPr/>
          </p:nvSpPr>
          <p:spPr>
            <a:xfrm>
              <a:off x="728208" y="2936130"/>
              <a:ext cx="2451926" cy="51275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53" name="Rectangle: Top Corners One Rounded and One Snipped 152">
              <a:extLst>
                <a:ext uri="{FF2B5EF4-FFF2-40B4-BE49-F238E27FC236}">
                  <a16:creationId xmlns:a16="http://schemas.microsoft.com/office/drawing/2014/main" id="{3CC89C2F-726F-10B3-8345-9C55329D968E}"/>
                </a:ext>
              </a:extLst>
            </p:cNvPr>
            <p:cNvSpPr/>
            <p:nvPr/>
          </p:nvSpPr>
          <p:spPr>
            <a:xfrm>
              <a:off x="371475" y="2936130"/>
              <a:ext cx="633412" cy="512757"/>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154" name="TextBox 153">
            <a:extLst>
              <a:ext uri="{FF2B5EF4-FFF2-40B4-BE49-F238E27FC236}">
                <a16:creationId xmlns:a16="http://schemas.microsoft.com/office/drawing/2014/main" id="{DB04C57B-3E10-797B-6E8B-5D888EEF1DCC}"/>
              </a:ext>
            </a:extLst>
          </p:cNvPr>
          <p:cNvSpPr txBox="1"/>
          <p:nvPr/>
        </p:nvSpPr>
        <p:spPr>
          <a:xfrm>
            <a:off x="472545" y="3019800"/>
            <a:ext cx="2856707" cy="348332"/>
          </a:xfrm>
          <a:prstGeom prst="rect">
            <a:avLst/>
          </a:prstGeom>
          <a:noFill/>
        </p:spPr>
        <p:txBody>
          <a:bodyPr wrap="square" rtlCol="0">
            <a:spAutoFit/>
          </a:bodyPr>
          <a:lstStyle/>
          <a:p>
            <a:r>
              <a:rPr lang="en-IN" sz="1600">
                <a:solidFill>
                  <a:schemeClr val="bg1"/>
                </a:solidFill>
                <a:latin typeface="EYInterstate" panose="02000503020000020004" pitchFamily="2" charset="0"/>
              </a:rPr>
              <a:t>External Controls</a:t>
            </a:r>
          </a:p>
        </p:txBody>
      </p:sp>
      <p:sp>
        <p:nvSpPr>
          <p:cNvPr id="155" name="TextBox 154">
            <a:extLst>
              <a:ext uri="{FF2B5EF4-FFF2-40B4-BE49-F238E27FC236}">
                <a16:creationId xmlns:a16="http://schemas.microsoft.com/office/drawing/2014/main" id="{7A3BB4A0-A974-4220-0E3F-2FFC1DAC821D}"/>
              </a:ext>
            </a:extLst>
          </p:cNvPr>
          <p:cNvSpPr txBox="1"/>
          <p:nvPr/>
        </p:nvSpPr>
        <p:spPr>
          <a:xfrm>
            <a:off x="472545" y="3403257"/>
            <a:ext cx="3581976" cy="830997"/>
          </a:xfrm>
          <a:prstGeom prst="rect">
            <a:avLst/>
          </a:prstGeom>
          <a:noFill/>
        </p:spPr>
        <p:txBody>
          <a:bodyPr wrap="square" rtlCol="0">
            <a:spAutoFit/>
          </a:bodyPr>
          <a:lstStyle/>
          <a:p>
            <a:pPr defTabSz="513836"/>
            <a:r>
              <a:rPr lang="en-IN" sz="1200" kern="0">
                <a:solidFill>
                  <a:schemeClr val="bg1"/>
                </a:solidFill>
                <a:latin typeface="EYInterstate Light"/>
              </a:rPr>
              <a:t>Regular review and audit of CoA by designated personnel to identify areas for improvement and ensure compliance with regulatory requirements and adherence to any updates</a:t>
            </a:r>
          </a:p>
        </p:txBody>
      </p:sp>
      <p:sp>
        <p:nvSpPr>
          <p:cNvPr id="156" name="Rectangle: Top Corners One Rounded and One Snipped 155">
            <a:extLst>
              <a:ext uri="{FF2B5EF4-FFF2-40B4-BE49-F238E27FC236}">
                <a16:creationId xmlns:a16="http://schemas.microsoft.com/office/drawing/2014/main" id="{0BFB2CD1-CBA7-5E70-B4BB-4CD419F3EDC2}"/>
              </a:ext>
            </a:extLst>
          </p:cNvPr>
          <p:cNvSpPr/>
          <p:nvPr/>
        </p:nvSpPr>
        <p:spPr>
          <a:xfrm>
            <a:off x="386715" y="4867891"/>
            <a:ext cx="3738502" cy="1261446"/>
          </a:xfrm>
          <a:prstGeom prst="snipRoundRect">
            <a:avLst>
              <a:gd name="adj1" fmla="val 6188"/>
              <a:gd name="adj2" fmla="val 0"/>
            </a:avLst>
          </a:prstGeom>
          <a:noFill/>
          <a:ln w="28575">
            <a:solidFill>
              <a:srgbClr val="7474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nvGrpSpPr>
          <p:cNvPr id="157" name="Group 156">
            <a:extLst>
              <a:ext uri="{FF2B5EF4-FFF2-40B4-BE49-F238E27FC236}">
                <a16:creationId xmlns:a16="http://schemas.microsoft.com/office/drawing/2014/main" id="{CD6E8E0F-0F34-8969-D15C-743E14DBDCCB}"/>
              </a:ext>
            </a:extLst>
          </p:cNvPr>
          <p:cNvGrpSpPr/>
          <p:nvPr/>
        </p:nvGrpSpPr>
        <p:grpSpPr>
          <a:xfrm>
            <a:off x="371476" y="4652868"/>
            <a:ext cx="3255122" cy="431283"/>
            <a:chOff x="371475" y="4615595"/>
            <a:chExt cx="2924798" cy="512757"/>
          </a:xfrm>
        </p:grpSpPr>
        <p:sp>
          <p:nvSpPr>
            <p:cNvPr id="158" name="Isosceles Triangle 157">
              <a:extLst>
                <a:ext uri="{FF2B5EF4-FFF2-40B4-BE49-F238E27FC236}">
                  <a16:creationId xmlns:a16="http://schemas.microsoft.com/office/drawing/2014/main" id="{EA26DF62-6B4E-4464-6E9E-ED6C56DAA11C}"/>
                </a:ext>
              </a:extLst>
            </p:cNvPr>
            <p:cNvSpPr/>
            <p:nvPr/>
          </p:nvSpPr>
          <p:spPr>
            <a:xfrm>
              <a:off x="3138772" y="4615595"/>
              <a:ext cx="157501" cy="258248"/>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59" name="Parallelogram 158">
              <a:extLst>
                <a:ext uri="{FF2B5EF4-FFF2-40B4-BE49-F238E27FC236}">
                  <a16:creationId xmlns:a16="http://schemas.microsoft.com/office/drawing/2014/main" id="{16FDB751-3266-AF6C-4E4C-F371A386CCBC}"/>
                </a:ext>
              </a:extLst>
            </p:cNvPr>
            <p:cNvSpPr/>
            <p:nvPr/>
          </p:nvSpPr>
          <p:spPr>
            <a:xfrm>
              <a:off x="870072" y="4615595"/>
              <a:ext cx="2346960" cy="512757"/>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60" name="Parallelogram 159">
              <a:extLst>
                <a:ext uri="{FF2B5EF4-FFF2-40B4-BE49-F238E27FC236}">
                  <a16:creationId xmlns:a16="http://schemas.microsoft.com/office/drawing/2014/main" id="{0FE56E6E-4692-CCCB-4B20-5E5B015552E2}"/>
                </a:ext>
              </a:extLst>
            </p:cNvPr>
            <p:cNvSpPr/>
            <p:nvPr/>
          </p:nvSpPr>
          <p:spPr>
            <a:xfrm>
              <a:off x="728208" y="4615595"/>
              <a:ext cx="2451926" cy="51275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61" name="Rectangle: Top Corners One Rounded and One Snipped 160">
              <a:extLst>
                <a:ext uri="{FF2B5EF4-FFF2-40B4-BE49-F238E27FC236}">
                  <a16:creationId xmlns:a16="http://schemas.microsoft.com/office/drawing/2014/main" id="{8FB5C55D-749A-1F0E-B925-4AEA077A5E75}"/>
                </a:ext>
              </a:extLst>
            </p:cNvPr>
            <p:cNvSpPr/>
            <p:nvPr/>
          </p:nvSpPr>
          <p:spPr>
            <a:xfrm>
              <a:off x="371475" y="4615595"/>
              <a:ext cx="633412" cy="512757"/>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162" name="TextBox 161">
            <a:extLst>
              <a:ext uri="{FF2B5EF4-FFF2-40B4-BE49-F238E27FC236}">
                <a16:creationId xmlns:a16="http://schemas.microsoft.com/office/drawing/2014/main" id="{C35DEC18-B458-2C82-4F89-96B42537CBFF}"/>
              </a:ext>
            </a:extLst>
          </p:cNvPr>
          <p:cNvSpPr txBox="1"/>
          <p:nvPr/>
        </p:nvSpPr>
        <p:spPr>
          <a:xfrm>
            <a:off x="472545" y="4698325"/>
            <a:ext cx="2188481" cy="337992"/>
          </a:xfrm>
          <a:prstGeom prst="rect">
            <a:avLst/>
          </a:prstGeom>
          <a:noFill/>
        </p:spPr>
        <p:txBody>
          <a:bodyPr wrap="square" rtlCol="0">
            <a:spAutoFit/>
          </a:bodyPr>
          <a:lstStyle/>
          <a:p>
            <a:r>
              <a:rPr lang="en-IN" sz="1600">
                <a:solidFill>
                  <a:schemeClr val="bg1"/>
                </a:solidFill>
                <a:latin typeface="EYInterstate" panose="02000503020000020004" pitchFamily="2" charset="0"/>
              </a:rPr>
              <a:t>Internal Controls </a:t>
            </a:r>
          </a:p>
        </p:txBody>
      </p:sp>
      <p:sp>
        <p:nvSpPr>
          <p:cNvPr id="163" name="TextBox 162">
            <a:extLst>
              <a:ext uri="{FF2B5EF4-FFF2-40B4-BE49-F238E27FC236}">
                <a16:creationId xmlns:a16="http://schemas.microsoft.com/office/drawing/2014/main" id="{F752159D-2F8D-F256-A8A5-CC74099CCF3E}"/>
              </a:ext>
            </a:extLst>
          </p:cNvPr>
          <p:cNvSpPr txBox="1"/>
          <p:nvPr/>
        </p:nvSpPr>
        <p:spPr>
          <a:xfrm>
            <a:off x="472545" y="5080653"/>
            <a:ext cx="3592641" cy="1015663"/>
          </a:xfrm>
          <a:prstGeom prst="rect">
            <a:avLst/>
          </a:prstGeom>
          <a:noFill/>
        </p:spPr>
        <p:txBody>
          <a:bodyPr wrap="square" rtlCol="0">
            <a:spAutoFit/>
          </a:bodyPr>
          <a:lstStyle/>
          <a:p>
            <a:pPr defTabSz="513836"/>
            <a:r>
              <a:rPr lang="en-IN" sz="1200" kern="0">
                <a:solidFill>
                  <a:schemeClr val="bg1"/>
                </a:solidFill>
                <a:latin typeface="EYInterstate Light"/>
              </a:rPr>
              <a:t>Implementation of internal controls, such as access controls, GL creations and grouping, to ensure the accuracy and integrity of financial information and compliance with internal policies and procedures</a:t>
            </a:r>
          </a:p>
        </p:txBody>
      </p:sp>
      <p:sp>
        <p:nvSpPr>
          <p:cNvPr id="164" name="Rectangle: Top Corners One Rounded and One Snipped 163">
            <a:extLst>
              <a:ext uri="{FF2B5EF4-FFF2-40B4-BE49-F238E27FC236}">
                <a16:creationId xmlns:a16="http://schemas.microsoft.com/office/drawing/2014/main" id="{A3D8C6F4-D354-9A67-68C4-35EFD49C112D}"/>
              </a:ext>
            </a:extLst>
          </p:cNvPr>
          <p:cNvSpPr/>
          <p:nvPr/>
        </p:nvSpPr>
        <p:spPr>
          <a:xfrm>
            <a:off x="7699435" y="1501636"/>
            <a:ext cx="3738502" cy="1261446"/>
          </a:xfrm>
          <a:prstGeom prst="snipRoundRect">
            <a:avLst>
              <a:gd name="adj1" fmla="val 6188"/>
              <a:gd name="adj2" fmla="val 0"/>
            </a:avLst>
          </a:prstGeom>
          <a:noFill/>
          <a:ln w="28575">
            <a:solidFill>
              <a:srgbClr val="7474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nvGrpSpPr>
          <p:cNvPr id="165" name="Group 164">
            <a:extLst>
              <a:ext uri="{FF2B5EF4-FFF2-40B4-BE49-F238E27FC236}">
                <a16:creationId xmlns:a16="http://schemas.microsoft.com/office/drawing/2014/main" id="{128E35A7-3C4F-52EA-F998-267D89F44777}"/>
              </a:ext>
            </a:extLst>
          </p:cNvPr>
          <p:cNvGrpSpPr/>
          <p:nvPr/>
        </p:nvGrpSpPr>
        <p:grpSpPr>
          <a:xfrm>
            <a:off x="7686756" y="1286612"/>
            <a:ext cx="3271501" cy="431283"/>
            <a:chOff x="7910513" y="1243745"/>
            <a:chExt cx="2939502" cy="512757"/>
          </a:xfrm>
        </p:grpSpPr>
        <p:sp>
          <p:nvSpPr>
            <p:cNvPr id="166" name="Isosceles Triangle 165">
              <a:extLst>
                <a:ext uri="{FF2B5EF4-FFF2-40B4-BE49-F238E27FC236}">
                  <a16:creationId xmlns:a16="http://schemas.microsoft.com/office/drawing/2014/main" id="{9659B9B1-5D88-4964-7FC4-714AA3F66DC0}"/>
                </a:ext>
              </a:extLst>
            </p:cNvPr>
            <p:cNvSpPr/>
            <p:nvPr/>
          </p:nvSpPr>
          <p:spPr>
            <a:xfrm>
              <a:off x="10663108" y="1243745"/>
              <a:ext cx="186907" cy="258248"/>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67" name="Parallelogram 166">
              <a:extLst>
                <a:ext uri="{FF2B5EF4-FFF2-40B4-BE49-F238E27FC236}">
                  <a16:creationId xmlns:a16="http://schemas.microsoft.com/office/drawing/2014/main" id="{6681CE1E-51BB-7DB7-6C6F-C188735F85D0}"/>
                </a:ext>
              </a:extLst>
            </p:cNvPr>
            <p:cNvSpPr/>
            <p:nvPr/>
          </p:nvSpPr>
          <p:spPr>
            <a:xfrm>
              <a:off x="8409110" y="1243745"/>
              <a:ext cx="2346960" cy="512757"/>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68" name="Parallelogram 167">
              <a:extLst>
                <a:ext uri="{FF2B5EF4-FFF2-40B4-BE49-F238E27FC236}">
                  <a16:creationId xmlns:a16="http://schemas.microsoft.com/office/drawing/2014/main" id="{C038E7D4-9512-8963-6C8C-F1D80ADC3A99}"/>
                </a:ext>
              </a:extLst>
            </p:cNvPr>
            <p:cNvSpPr/>
            <p:nvPr/>
          </p:nvSpPr>
          <p:spPr>
            <a:xfrm>
              <a:off x="8267246" y="1243745"/>
              <a:ext cx="2451926" cy="51275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69" name="Rectangle: Top Corners One Rounded and One Snipped 168">
              <a:extLst>
                <a:ext uri="{FF2B5EF4-FFF2-40B4-BE49-F238E27FC236}">
                  <a16:creationId xmlns:a16="http://schemas.microsoft.com/office/drawing/2014/main" id="{0B6ABFFA-C66D-CB5C-976D-753B1B48B693}"/>
                </a:ext>
              </a:extLst>
            </p:cNvPr>
            <p:cNvSpPr/>
            <p:nvPr/>
          </p:nvSpPr>
          <p:spPr>
            <a:xfrm>
              <a:off x="7910513" y="1243745"/>
              <a:ext cx="633412" cy="512757"/>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170" name="TextBox 169">
            <a:extLst>
              <a:ext uri="{FF2B5EF4-FFF2-40B4-BE49-F238E27FC236}">
                <a16:creationId xmlns:a16="http://schemas.microsoft.com/office/drawing/2014/main" id="{5C77F4E2-6936-1019-3D4A-94B3400567A6}"/>
              </a:ext>
            </a:extLst>
          </p:cNvPr>
          <p:cNvSpPr txBox="1"/>
          <p:nvPr/>
        </p:nvSpPr>
        <p:spPr>
          <a:xfrm>
            <a:off x="7787806" y="1319583"/>
            <a:ext cx="2728850" cy="348633"/>
          </a:xfrm>
          <a:prstGeom prst="rect">
            <a:avLst/>
          </a:prstGeom>
          <a:noFill/>
        </p:spPr>
        <p:txBody>
          <a:bodyPr wrap="square" rtlCol="0">
            <a:spAutoFit/>
          </a:bodyPr>
          <a:lstStyle/>
          <a:p>
            <a:r>
              <a:rPr lang="en-IN" sz="1600">
                <a:solidFill>
                  <a:schemeClr val="bg1"/>
                </a:solidFill>
                <a:latin typeface="EYInterstate" panose="02000503020000020004" pitchFamily="2" charset="0"/>
              </a:rPr>
              <a:t>Policies and Procedures</a:t>
            </a:r>
          </a:p>
        </p:txBody>
      </p:sp>
      <p:sp>
        <p:nvSpPr>
          <p:cNvPr id="171" name="TextBox 170">
            <a:extLst>
              <a:ext uri="{FF2B5EF4-FFF2-40B4-BE49-F238E27FC236}">
                <a16:creationId xmlns:a16="http://schemas.microsoft.com/office/drawing/2014/main" id="{81E2DF25-AE33-F46D-3FB8-EC3BF44DA88F}"/>
              </a:ext>
            </a:extLst>
          </p:cNvPr>
          <p:cNvSpPr txBox="1"/>
          <p:nvPr/>
        </p:nvSpPr>
        <p:spPr>
          <a:xfrm>
            <a:off x="7787806" y="1726838"/>
            <a:ext cx="3581976" cy="830997"/>
          </a:xfrm>
          <a:prstGeom prst="rect">
            <a:avLst/>
          </a:prstGeom>
          <a:noFill/>
        </p:spPr>
        <p:txBody>
          <a:bodyPr wrap="square" rtlCol="0">
            <a:spAutoFit/>
          </a:bodyPr>
          <a:lstStyle/>
          <a:p>
            <a:pPr defTabSz="513836"/>
            <a:r>
              <a:rPr lang="en-IN" sz="1200" kern="0">
                <a:solidFill>
                  <a:schemeClr val="bg1"/>
                </a:solidFill>
                <a:latin typeface="EYInterstate Light"/>
              </a:rPr>
              <a:t>Development and implementation of policies and procedures that govern the applicability and implementation of CoA, including data privacy, data security, and internal controls</a:t>
            </a:r>
          </a:p>
        </p:txBody>
      </p:sp>
      <p:sp>
        <p:nvSpPr>
          <p:cNvPr id="172" name="Rectangle: Top Corners One Rounded and One Snipped 171">
            <a:extLst>
              <a:ext uri="{FF2B5EF4-FFF2-40B4-BE49-F238E27FC236}">
                <a16:creationId xmlns:a16="http://schemas.microsoft.com/office/drawing/2014/main" id="{3BAAD037-FAB2-D4B8-94D5-04A323D66D74}"/>
              </a:ext>
            </a:extLst>
          </p:cNvPr>
          <p:cNvSpPr/>
          <p:nvPr/>
        </p:nvSpPr>
        <p:spPr>
          <a:xfrm>
            <a:off x="7699435" y="3191213"/>
            <a:ext cx="3738502" cy="1261446"/>
          </a:xfrm>
          <a:prstGeom prst="snipRoundRect">
            <a:avLst>
              <a:gd name="adj1" fmla="val 6188"/>
              <a:gd name="adj2" fmla="val 0"/>
            </a:avLst>
          </a:prstGeom>
          <a:noFill/>
          <a:ln w="28575">
            <a:solidFill>
              <a:srgbClr val="7474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nvGrpSpPr>
          <p:cNvPr id="173" name="Group 172">
            <a:extLst>
              <a:ext uri="{FF2B5EF4-FFF2-40B4-BE49-F238E27FC236}">
                <a16:creationId xmlns:a16="http://schemas.microsoft.com/office/drawing/2014/main" id="{E3081BDC-E3C6-CC07-35BD-1D5BCC9E8313}"/>
              </a:ext>
            </a:extLst>
          </p:cNvPr>
          <p:cNvGrpSpPr/>
          <p:nvPr/>
        </p:nvGrpSpPr>
        <p:grpSpPr>
          <a:xfrm>
            <a:off x="7686729" y="2976189"/>
            <a:ext cx="3273667" cy="431283"/>
            <a:chOff x="7910513" y="2936130"/>
            <a:chExt cx="2941457" cy="512757"/>
          </a:xfrm>
        </p:grpSpPr>
        <p:sp>
          <p:nvSpPr>
            <p:cNvPr id="174" name="Isosceles Triangle 173">
              <a:extLst>
                <a:ext uri="{FF2B5EF4-FFF2-40B4-BE49-F238E27FC236}">
                  <a16:creationId xmlns:a16="http://schemas.microsoft.com/office/drawing/2014/main" id="{E6AC139F-813E-E34D-CB98-FE1B97F7DE26}"/>
                </a:ext>
              </a:extLst>
            </p:cNvPr>
            <p:cNvSpPr/>
            <p:nvPr/>
          </p:nvSpPr>
          <p:spPr>
            <a:xfrm>
              <a:off x="10661153" y="2936130"/>
              <a:ext cx="190817" cy="258248"/>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75" name="Parallelogram 174">
              <a:extLst>
                <a:ext uri="{FF2B5EF4-FFF2-40B4-BE49-F238E27FC236}">
                  <a16:creationId xmlns:a16="http://schemas.microsoft.com/office/drawing/2014/main" id="{5B3D9C8A-AF41-6265-0CC5-518EAA422886}"/>
                </a:ext>
              </a:extLst>
            </p:cNvPr>
            <p:cNvSpPr/>
            <p:nvPr/>
          </p:nvSpPr>
          <p:spPr>
            <a:xfrm>
              <a:off x="8409110" y="2936130"/>
              <a:ext cx="2346960" cy="512757"/>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76" name="Parallelogram 175">
              <a:extLst>
                <a:ext uri="{FF2B5EF4-FFF2-40B4-BE49-F238E27FC236}">
                  <a16:creationId xmlns:a16="http://schemas.microsoft.com/office/drawing/2014/main" id="{F98295F1-FBAC-7871-25A5-F40D16383AC1}"/>
                </a:ext>
              </a:extLst>
            </p:cNvPr>
            <p:cNvSpPr/>
            <p:nvPr/>
          </p:nvSpPr>
          <p:spPr>
            <a:xfrm>
              <a:off x="8267246" y="2936130"/>
              <a:ext cx="2451926" cy="51275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77" name="Rectangle: Top Corners One Rounded and One Snipped 176">
              <a:extLst>
                <a:ext uri="{FF2B5EF4-FFF2-40B4-BE49-F238E27FC236}">
                  <a16:creationId xmlns:a16="http://schemas.microsoft.com/office/drawing/2014/main" id="{998637AF-EC2A-D82E-68A8-02E343199CFE}"/>
                </a:ext>
              </a:extLst>
            </p:cNvPr>
            <p:cNvSpPr/>
            <p:nvPr/>
          </p:nvSpPr>
          <p:spPr>
            <a:xfrm>
              <a:off x="7910513" y="2936130"/>
              <a:ext cx="633412" cy="512757"/>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178" name="TextBox 177">
            <a:extLst>
              <a:ext uri="{FF2B5EF4-FFF2-40B4-BE49-F238E27FC236}">
                <a16:creationId xmlns:a16="http://schemas.microsoft.com/office/drawing/2014/main" id="{EB61078E-863A-6221-749F-09153FA11CBD}"/>
              </a:ext>
            </a:extLst>
          </p:cNvPr>
          <p:cNvSpPr txBox="1"/>
          <p:nvPr/>
        </p:nvSpPr>
        <p:spPr>
          <a:xfrm>
            <a:off x="7787806" y="3020374"/>
            <a:ext cx="2728849" cy="338554"/>
          </a:xfrm>
          <a:prstGeom prst="rect">
            <a:avLst/>
          </a:prstGeom>
          <a:noFill/>
        </p:spPr>
        <p:txBody>
          <a:bodyPr wrap="square" rtlCol="0">
            <a:spAutoFit/>
          </a:bodyPr>
          <a:lstStyle/>
          <a:p>
            <a:r>
              <a:rPr lang="en-IN" sz="1600">
                <a:solidFill>
                  <a:schemeClr val="bg1"/>
                </a:solidFill>
                <a:latin typeface="EYInterstate" panose="02000503020000020004" pitchFamily="2" charset="0"/>
              </a:rPr>
              <a:t>Organizational Structure</a:t>
            </a:r>
          </a:p>
        </p:txBody>
      </p:sp>
      <p:sp>
        <p:nvSpPr>
          <p:cNvPr id="179" name="TextBox 178">
            <a:extLst>
              <a:ext uri="{FF2B5EF4-FFF2-40B4-BE49-F238E27FC236}">
                <a16:creationId xmlns:a16="http://schemas.microsoft.com/office/drawing/2014/main" id="{5B62213E-361F-77F2-088E-22C36636D9A9}"/>
              </a:ext>
            </a:extLst>
          </p:cNvPr>
          <p:cNvSpPr txBox="1"/>
          <p:nvPr/>
        </p:nvSpPr>
        <p:spPr>
          <a:xfrm>
            <a:off x="7787806" y="3444536"/>
            <a:ext cx="3637429" cy="830997"/>
          </a:xfrm>
          <a:prstGeom prst="rect">
            <a:avLst/>
          </a:prstGeom>
          <a:noFill/>
        </p:spPr>
        <p:txBody>
          <a:bodyPr wrap="square" rtlCol="0">
            <a:spAutoFit/>
          </a:bodyPr>
          <a:lstStyle/>
          <a:p>
            <a:pPr defTabSz="513836"/>
            <a:r>
              <a:rPr lang="en-IN" sz="1200" kern="0">
                <a:solidFill>
                  <a:schemeClr val="bg1"/>
                </a:solidFill>
                <a:latin typeface="EYInterstate Light"/>
              </a:rPr>
              <a:t>Establish a well defined organization structure with ownership, responsibilities mentioned explicitly </a:t>
            </a:r>
            <a:r>
              <a:rPr lang="en-US" sz="1200" kern="0">
                <a:solidFill>
                  <a:schemeClr val="bg1"/>
                </a:solidFill>
                <a:latin typeface="EYInterstate Light"/>
              </a:rPr>
              <a:t>and reporting relationships for accountability</a:t>
            </a:r>
            <a:endParaRPr lang="en-IN" sz="1200" kern="0">
              <a:solidFill>
                <a:schemeClr val="bg1"/>
              </a:solidFill>
              <a:latin typeface="EYInterstate Light"/>
            </a:endParaRPr>
          </a:p>
        </p:txBody>
      </p:sp>
      <p:sp>
        <p:nvSpPr>
          <p:cNvPr id="180" name="Rectangle: Top Corners One Rounded and One Snipped 179">
            <a:extLst>
              <a:ext uri="{FF2B5EF4-FFF2-40B4-BE49-F238E27FC236}">
                <a16:creationId xmlns:a16="http://schemas.microsoft.com/office/drawing/2014/main" id="{CE2C5411-1330-EA7E-A044-61348C84601B}"/>
              </a:ext>
            </a:extLst>
          </p:cNvPr>
          <p:cNvSpPr/>
          <p:nvPr/>
        </p:nvSpPr>
        <p:spPr>
          <a:xfrm>
            <a:off x="7699435" y="4867891"/>
            <a:ext cx="3738502" cy="1261446"/>
          </a:xfrm>
          <a:prstGeom prst="snipRoundRect">
            <a:avLst>
              <a:gd name="adj1" fmla="val 6188"/>
              <a:gd name="adj2" fmla="val 0"/>
            </a:avLst>
          </a:prstGeom>
          <a:noFill/>
          <a:ln w="28575">
            <a:solidFill>
              <a:srgbClr val="74748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nvGrpSpPr>
          <p:cNvPr id="181" name="Group 180">
            <a:extLst>
              <a:ext uri="{FF2B5EF4-FFF2-40B4-BE49-F238E27FC236}">
                <a16:creationId xmlns:a16="http://schemas.microsoft.com/office/drawing/2014/main" id="{1D155422-3705-EA3F-F7AF-DA87FDCFAA72}"/>
              </a:ext>
            </a:extLst>
          </p:cNvPr>
          <p:cNvGrpSpPr/>
          <p:nvPr/>
        </p:nvGrpSpPr>
        <p:grpSpPr>
          <a:xfrm>
            <a:off x="7686719" y="4652868"/>
            <a:ext cx="3269313" cy="431283"/>
            <a:chOff x="7910513" y="4615595"/>
            <a:chExt cx="2937549" cy="512757"/>
          </a:xfrm>
        </p:grpSpPr>
        <p:sp>
          <p:nvSpPr>
            <p:cNvPr id="182" name="Isosceles Triangle 181">
              <a:extLst>
                <a:ext uri="{FF2B5EF4-FFF2-40B4-BE49-F238E27FC236}">
                  <a16:creationId xmlns:a16="http://schemas.microsoft.com/office/drawing/2014/main" id="{17FF6E01-FC28-EF42-6A5C-5347975F5AAD}"/>
                </a:ext>
              </a:extLst>
            </p:cNvPr>
            <p:cNvSpPr/>
            <p:nvPr/>
          </p:nvSpPr>
          <p:spPr>
            <a:xfrm>
              <a:off x="10665061" y="4615595"/>
              <a:ext cx="183001" cy="258248"/>
            </a:xfrm>
            <a:prstGeom prst="triangle">
              <a:avLst/>
            </a:prstGeom>
            <a:solidFill>
              <a:srgbClr val="C4C4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83" name="Parallelogram 182">
              <a:extLst>
                <a:ext uri="{FF2B5EF4-FFF2-40B4-BE49-F238E27FC236}">
                  <a16:creationId xmlns:a16="http://schemas.microsoft.com/office/drawing/2014/main" id="{FF759535-5761-ABC3-E4C6-13992757EF10}"/>
                </a:ext>
              </a:extLst>
            </p:cNvPr>
            <p:cNvSpPr/>
            <p:nvPr/>
          </p:nvSpPr>
          <p:spPr>
            <a:xfrm>
              <a:off x="8409110" y="4615595"/>
              <a:ext cx="2346960" cy="512757"/>
            </a:xfrm>
            <a:prstGeom prst="parallelogram">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84" name="Parallelogram 183">
              <a:extLst>
                <a:ext uri="{FF2B5EF4-FFF2-40B4-BE49-F238E27FC236}">
                  <a16:creationId xmlns:a16="http://schemas.microsoft.com/office/drawing/2014/main" id="{4F86EE67-F111-9823-C5C7-33D8C75678CD}"/>
                </a:ext>
              </a:extLst>
            </p:cNvPr>
            <p:cNvSpPr/>
            <p:nvPr/>
          </p:nvSpPr>
          <p:spPr>
            <a:xfrm>
              <a:off x="8267246" y="4615595"/>
              <a:ext cx="2451926" cy="51275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85" name="Rectangle: Top Corners One Rounded and One Snipped 184">
              <a:extLst>
                <a:ext uri="{FF2B5EF4-FFF2-40B4-BE49-F238E27FC236}">
                  <a16:creationId xmlns:a16="http://schemas.microsoft.com/office/drawing/2014/main" id="{FE2567D5-A997-CFE1-48D0-EEC7771E887E}"/>
                </a:ext>
              </a:extLst>
            </p:cNvPr>
            <p:cNvSpPr/>
            <p:nvPr/>
          </p:nvSpPr>
          <p:spPr>
            <a:xfrm>
              <a:off x="7910513" y="4615595"/>
              <a:ext cx="633412" cy="512757"/>
            </a:xfrm>
            <a:prstGeom prst="snipRoundRect">
              <a:avLst>
                <a:gd name="adj1" fmla="val 36900"/>
                <a:gd name="adj2" fmla="val 0"/>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186" name="TextBox 185">
            <a:extLst>
              <a:ext uri="{FF2B5EF4-FFF2-40B4-BE49-F238E27FC236}">
                <a16:creationId xmlns:a16="http://schemas.microsoft.com/office/drawing/2014/main" id="{3EBAA26F-D529-AF01-A9FA-97D747510BD7}"/>
              </a:ext>
            </a:extLst>
          </p:cNvPr>
          <p:cNvSpPr txBox="1"/>
          <p:nvPr/>
        </p:nvSpPr>
        <p:spPr>
          <a:xfrm>
            <a:off x="7787806" y="4698325"/>
            <a:ext cx="2638025" cy="337992"/>
          </a:xfrm>
          <a:prstGeom prst="rect">
            <a:avLst/>
          </a:prstGeom>
          <a:noFill/>
        </p:spPr>
        <p:txBody>
          <a:bodyPr wrap="square" rtlCol="0">
            <a:spAutoFit/>
          </a:bodyPr>
          <a:lstStyle/>
          <a:p>
            <a:r>
              <a:rPr lang="en-IN" sz="1600">
                <a:solidFill>
                  <a:schemeClr val="bg1"/>
                </a:solidFill>
                <a:latin typeface="EYInterstate" panose="02000503020000020004" pitchFamily="2" charset="0"/>
              </a:rPr>
              <a:t>Compliance </a:t>
            </a:r>
          </a:p>
        </p:txBody>
      </p:sp>
      <p:sp>
        <p:nvSpPr>
          <p:cNvPr id="187" name="TextBox 186">
            <a:extLst>
              <a:ext uri="{FF2B5EF4-FFF2-40B4-BE49-F238E27FC236}">
                <a16:creationId xmlns:a16="http://schemas.microsoft.com/office/drawing/2014/main" id="{08FBB690-2C5C-930A-0701-DBBE3B718A35}"/>
              </a:ext>
            </a:extLst>
          </p:cNvPr>
          <p:cNvSpPr txBox="1"/>
          <p:nvPr/>
        </p:nvSpPr>
        <p:spPr>
          <a:xfrm>
            <a:off x="7787806" y="5095314"/>
            <a:ext cx="3581976" cy="829618"/>
          </a:xfrm>
          <a:prstGeom prst="rect">
            <a:avLst/>
          </a:prstGeom>
          <a:noFill/>
        </p:spPr>
        <p:txBody>
          <a:bodyPr wrap="square" rtlCol="0">
            <a:spAutoFit/>
          </a:bodyPr>
          <a:lstStyle/>
          <a:p>
            <a:pPr defTabSz="513836"/>
            <a:r>
              <a:rPr lang="en-IN" sz="1200" kern="0">
                <a:solidFill>
                  <a:schemeClr val="bg1"/>
                </a:solidFill>
                <a:latin typeface="EYInterstate Light"/>
              </a:rPr>
              <a:t>Ensuring compliance with relevant accounting standards, tax laws, and regulatory requirements, including Sarbanes-Oxley, IFRS, and other local and international regulations</a:t>
            </a:r>
          </a:p>
        </p:txBody>
      </p:sp>
      <p:sp>
        <p:nvSpPr>
          <p:cNvPr id="188" name="TextBox 187">
            <a:extLst>
              <a:ext uri="{FF2B5EF4-FFF2-40B4-BE49-F238E27FC236}">
                <a16:creationId xmlns:a16="http://schemas.microsoft.com/office/drawing/2014/main" id="{813AE58E-2E9E-6B36-4E92-60074C0468C6}"/>
              </a:ext>
            </a:extLst>
          </p:cNvPr>
          <p:cNvSpPr txBox="1"/>
          <p:nvPr/>
        </p:nvSpPr>
        <p:spPr>
          <a:xfrm>
            <a:off x="5100604" y="3320736"/>
            <a:ext cx="1631792" cy="1077218"/>
          </a:xfrm>
          <a:prstGeom prst="rect">
            <a:avLst/>
          </a:prstGeom>
          <a:noFill/>
        </p:spPr>
        <p:txBody>
          <a:bodyPr wrap="square" rtlCol="0">
            <a:spAutoFit/>
          </a:bodyPr>
          <a:lstStyle/>
          <a:p>
            <a:pPr algn="ctr"/>
            <a:r>
              <a:rPr lang="en-IN" sz="1600">
                <a:solidFill>
                  <a:sysClr val="windowText" lastClr="000000"/>
                </a:solidFill>
                <a:latin typeface="EYInterstate" panose="02000503020000020004" pitchFamily="2" charset="0"/>
              </a:rPr>
              <a:t>Chart of Accounts GOVERNANCE MODEL</a:t>
            </a:r>
          </a:p>
        </p:txBody>
      </p:sp>
      <p:cxnSp>
        <p:nvCxnSpPr>
          <p:cNvPr id="189" name="Connector: Elbow 188">
            <a:extLst>
              <a:ext uri="{FF2B5EF4-FFF2-40B4-BE49-F238E27FC236}">
                <a16:creationId xmlns:a16="http://schemas.microsoft.com/office/drawing/2014/main" id="{71919A92-1C6B-0E96-AB96-30803944DF03}"/>
              </a:ext>
            </a:extLst>
          </p:cNvPr>
          <p:cNvCxnSpPr>
            <a:cxnSpLocks/>
            <a:stCxn id="139" idx="5"/>
            <a:endCxn id="164" idx="2"/>
          </p:cNvCxnSpPr>
          <p:nvPr/>
        </p:nvCxnSpPr>
        <p:spPr>
          <a:xfrm rot="5400000" flipH="1" flipV="1">
            <a:off x="6708616" y="1910225"/>
            <a:ext cx="768684" cy="1212953"/>
          </a:xfrm>
          <a:prstGeom prst="bentConnector2">
            <a:avLst/>
          </a:prstGeom>
          <a:ln w="38100">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Connector: Elbow 189">
            <a:extLst>
              <a:ext uri="{FF2B5EF4-FFF2-40B4-BE49-F238E27FC236}">
                <a16:creationId xmlns:a16="http://schemas.microsoft.com/office/drawing/2014/main" id="{4DADF197-7AAF-ABA7-A821-D9266685B495}"/>
              </a:ext>
            </a:extLst>
          </p:cNvPr>
          <p:cNvCxnSpPr>
            <a:stCxn id="139" idx="4"/>
            <a:endCxn id="140" idx="0"/>
          </p:cNvCxnSpPr>
          <p:nvPr/>
        </p:nvCxnSpPr>
        <p:spPr>
          <a:xfrm rot="16200000" flipV="1">
            <a:off x="4333383" y="1924193"/>
            <a:ext cx="768684" cy="1185015"/>
          </a:xfrm>
          <a:prstGeom prst="bentConnector2">
            <a:avLst/>
          </a:prstGeom>
          <a:ln w="38100">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91" name="Straight Arrow Connector 190">
            <a:extLst>
              <a:ext uri="{FF2B5EF4-FFF2-40B4-BE49-F238E27FC236}">
                <a16:creationId xmlns:a16="http://schemas.microsoft.com/office/drawing/2014/main" id="{8FA9E76B-949A-3DB1-E529-558FC323C334}"/>
              </a:ext>
            </a:extLst>
          </p:cNvPr>
          <p:cNvCxnSpPr>
            <a:stCxn id="139" idx="0"/>
            <a:endCxn id="172" idx="2"/>
          </p:cNvCxnSpPr>
          <p:nvPr/>
        </p:nvCxnSpPr>
        <p:spPr>
          <a:xfrm flipV="1">
            <a:off x="6949658" y="3821936"/>
            <a:ext cx="749777" cy="5459"/>
          </a:xfrm>
          <a:prstGeom prst="straightConnector1">
            <a:avLst/>
          </a:prstGeom>
          <a:ln w="38100">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Straight Arrow Connector 191">
            <a:extLst>
              <a:ext uri="{FF2B5EF4-FFF2-40B4-BE49-F238E27FC236}">
                <a16:creationId xmlns:a16="http://schemas.microsoft.com/office/drawing/2014/main" id="{2207AD0F-47CE-822E-DAC7-F404E08C7A75}"/>
              </a:ext>
            </a:extLst>
          </p:cNvPr>
          <p:cNvCxnSpPr>
            <a:cxnSpLocks/>
            <a:stCxn id="139" idx="3"/>
            <a:endCxn id="148" idx="0"/>
          </p:cNvCxnSpPr>
          <p:nvPr/>
        </p:nvCxnSpPr>
        <p:spPr>
          <a:xfrm flipH="1" flipV="1">
            <a:off x="4125217" y="3821936"/>
            <a:ext cx="721839" cy="5459"/>
          </a:xfrm>
          <a:prstGeom prst="straightConnector1">
            <a:avLst/>
          </a:prstGeom>
          <a:ln w="38100">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Connector: Elbow 192">
            <a:extLst>
              <a:ext uri="{FF2B5EF4-FFF2-40B4-BE49-F238E27FC236}">
                <a16:creationId xmlns:a16="http://schemas.microsoft.com/office/drawing/2014/main" id="{D310F416-82BB-F241-C3D7-E2DAF4491A81}"/>
              </a:ext>
            </a:extLst>
          </p:cNvPr>
          <p:cNvCxnSpPr>
            <a:cxnSpLocks/>
            <a:stCxn id="139" idx="1"/>
            <a:endCxn id="180" idx="2"/>
          </p:cNvCxnSpPr>
          <p:nvPr/>
        </p:nvCxnSpPr>
        <p:spPr>
          <a:xfrm rot="16200000" flipH="1">
            <a:off x="6720525" y="4519703"/>
            <a:ext cx="744867" cy="1212953"/>
          </a:xfrm>
          <a:prstGeom prst="bentConnector2">
            <a:avLst/>
          </a:prstGeom>
          <a:ln w="38100">
            <a:solidFill>
              <a:srgbClr val="747480"/>
            </a:solidFill>
            <a:tailEnd type="triangle"/>
          </a:ln>
        </p:spPr>
        <p:style>
          <a:lnRef idx="1">
            <a:schemeClr val="accent1"/>
          </a:lnRef>
          <a:fillRef idx="0">
            <a:schemeClr val="accent1"/>
          </a:fillRef>
          <a:effectRef idx="0">
            <a:schemeClr val="accent1"/>
          </a:effectRef>
          <a:fontRef idx="minor">
            <a:schemeClr val="tx1"/>
          </a:fontRef>
        </p:style>
      </p:cxnSp>
      <p:cxnSp>
        <p:nvCxnSpPr>
          <p:cNvPr id="194" name="Connector: Elbow 193">
            <a:extLst>
              <a:ext uri="{FF2B5EF4-FFF2-40B4-BE49-F238E27FC236}">
                <a16:creationId xmlns:a16="http://schemas.microsoft.com/office/drawing/2014/main" id="{A089236E-B852-794A-D52B-4445AA32A1E9}"/>
              </a:ext>
            </a:extLst>
          </p:cNvPr>
          <p:cNvCxnSpPr>
            <a:cxnSpLocks/>
            <a:stCxn id="139" idx="2"/>
            <a:endCxn id="156" idx="0"/>
          </p:cNvCxnSpPr>
          <p:nvPr/>
        </p:nvCxnSpPr>
        <p:spPr>
          <a:xfrm rot="5400000">
            <a:off x="4345292" y="4533673"/>
            <a:ext cx="744867" cy="1185015"/>
          </a:xfrm>
          <a:prstGeom prst="bentConnector2">
            <a:avLst/>
          </a:prstGeom>
          <a:ln w="38100">
            <a:solidFill>
              <a:srgbClr val="74748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759428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591F95-9984-0527-9239-7FBC2F6100FF}"/>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F6BB883A-17D2-5A8C-7772-D5C9AAD3DF7B}"/>
              </a:ext>
            </a:extLst>
          </p:cNvPr>
          <p:cNvSpPr>
            <a:spLocks noGrp="1"/>
          </p:cNvSpPr>
          <p:nvPr>
            <p:ph type="title"/>
          </p:nvPr>
        </p:nvSpPr>
        <p:spPr>
          <a:xfrm>
            <a:off x="583900" y="629138"/>
            <a:ext cx="9849908" cy="287771"/>
          </a:xfrm>
        </p:spPr>
        <p:txBody>
          <a:bodyPr/>
          <a:lstStyle/>
          <a:p>
            <a:r>
              <a:rPr lang="en-IN" sz="1800">
                <a:solidFill>
                  <a:srgbClr val="FFE600"/>
                </a:solidFill>
                <a:latin typeface="EY interstate"/>
                <a:cs typeface="Arial"/>
              </a:rPr>
              <a:t>Policy Lifecycle – Example </a:t>
            </a:r>
            <a:r>
              <a:rPr lang="en-IN" sz="1800" b="1">
                <a:solidFill>
                  <a:srgbClr val="FFE600"/>
                </a:solidFill>
                <a:latin typeface="EY interstate"/>
                <a:cs typeface="Arial"/>
              </a:rPr>
              <a:t>Governance Policy for CoA Design and Maintenance</a:t>
            </a:r>
            <a:endParaRPr lang="en-US">
              <a:solidFill>
                <a:srgbClr val="FFE600"/>
              </a:solidFill>
              <a:latin typeface="EY interstate"/>
            </a:endParaRPr>
          </a:p>
        </p:txBody>
      </p:sp>
      <p:sp>
        <p:nvSpPr>
          <p:cNvPr id="26" name="TextBox 25">
            <a:extLst>
              <a:ext uri="{FF2B5EF4-FFF2-40B4-BE49-F238E27FC236}">
                <a16:creationId xmlns:a16="http://schemas.microsoft.com/office/drawing/2014/main" id="{4FCC49AD-8E4F-B09F-F7E2-8D5D8018A912}"/>
              </a:ext>
            </a:extLst>
          </p:cNvPr>
          <p:cNvSpPr txBox="1">
            <a:spLocks/>
          </p:cNvSpPr>
          <p:nvPr/>
        </p:nvSpPr>
        <p:spPr>
          <a:xfrm>
            <a:off x="1007496" y="5255162"/>
            <a:ext cx="3031852" cy="1290975"/>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Publish</a:t>
            </a:r>
          </a:p>
          <a:p>
            <a:pPr algn="l"/>
            <a:r>
              <a:rPr lang="en-US" b="0">
                <a:latin typeface="EY interstate"/>
                <a:cs typeface="Arial"/>
              </a:rPr>
              <a:t>The updated CoA usage policy is published in the central repository, notifications are sent to stakeholders, and the catalog is updated. For major changes, the effective date is set at least 15 business days post-publish</a:t>
            </a:r>
            <a:endParaRPr lang="en-US" b="0">
              <a:latin typeface="EY interstate"/>
            </a:endParaRPr>
          </a:p>
          <a:p>
            <a:pPr algn="l"/>
            <a:endParaRPr lang="en-US">
              <a:latin typeface="EY interstate"/>
            </a:endParaRPr>
          </a:p>
        </p:txBody>
      </p:sp>
      <p:sp>
        <p:nvSpPr>
          <p:cNvPr id="2" name="TextBox 1">
            <a:extLst>
              <a:ext uri="{FF2B5EF4-FFF2-40B4-BE49-F238E27FC236}">
                <a16:creationId xmlns:a16="http://schemas.microsoft.com/office/drawing/2014/main" id="{31D0D1E1-7B57-B3F6-1B4F-51FEC088788E}"/>
              </a:ext>
            </a:extLst>
          </p:cNvPr>
          <p:cNvSpPr txBox="1"/>
          <p:nvPr/>
        </p:nvSpPr>
        <p:spPr>
          <a:xfrm>
            <a:off x="554877" y="169707"/>
            <a:ext cx="9445534" cy="369332"/>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US"/>
              <a:t>Best-in-class governance policies for Chart of Accounts (CoA)</a:t>
            </a:r>
          </a:p>
        </p:txBody>
      </p:sp>
      <p:sp>
        <p:nvSpPr>
          <p:cNvPr id="3" name="TextBox 2">
            <a:extLst>
              <a:ext uri="{FF2B5EF4-FFF2-40B4-BE49-F238E27FC236}">
                <a16:creationId xmlns:a16="http://schemas.microsoft.com/office/drawing/2014/main" id="{6E10B165-61A7-EE90-0294-65E37513C63D}"/>
              </a:ext>
            </a:extLst>
          </p:cNvPr>
          <p:cNvSpPr txBox="1">
            <a:spLocks/>
          </p:cNvSpPr>
          <p:nvPr/>
        </p:nvSpPr>
        <p:spPr>
          <a:xfrm>
            <a:off x="987715" y="3749478"/>
            <a:ext cx="2494458" cy="1366509"/>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endParaRPr lang="en-US">
              <a:latin typeface="EY interstate"/>
              <a:cs typeface="Arial"/>
            </a:endParaRPr>
          </a:p>
          <a:p>
            <a:pPr algn="l">
              <a:buClr>
                <a:schemeClr val="bg2"/>
              </a:buClr>
            </a:pPr>
            <a:r>
              <a:rPr lang="en-US">
                <a:solidFill>
                  <a:srgbClr val="FFE600"/>
                </a:solidFill>
                <a:latin typeface="EY interstate"/>
              </a:rPr>
              <a:t>Enable</a:t>
            </a:r>
            <a:endParaRPr lang="en-US" b="0">
              <a:solidFill>
                <a:srgbClr val="FFE600"/>
              </a:solidFill>
              <a:latin typeface="EY interstate"/>
              <a:cs typeface="Arial"/>
            </a:endParaRPr>
          </a:p>
          <a:p>
            <a:pPr algn="l">
              <a:buClr>
                <a:schemeClr val="bg2"/>
              </a:buClr>
            </a:pPr>
            <a:r>
              <a:rPr lang="en-US" b="0">
                <a:latin typeface="EY interstate"/>
                <a:cs typeface="Arial"/>
              </a:rPr>
              <a:t>Training sessions are conducted for finance teams, and controls are implemented to ensure consistent CoA usage across business units.</a:t>
            </a:r>
            <a:endParaRPr lang="en-US">
              <a:latin typeface="EY interstate"/>
            </a:endParaRPr>
          </a:p>
          <a:p>
            <a:pPr marL="171450" indent="-171450" algn="l">
              <a:buClr>
                <a:schemeClr val="bg2"/>
              </a:buClr>
              <a:buFont typeface="Arial" panose="020B0604020202020204" pitchFamily="34" charset="0"/>
              <a:buChar char="►"/>
            </a:pPr>
            <a:endParaRPr lang="en-US" b="0">
              <a:latin typeface="EY interstate"/>
              <a:cs typeface="Arial"/>
            </a:endParaRPr>
          </a:p>
        </p:txBody>
      </p:sp>
      <p:sp>
        <p:nvSpPr>
          <p:cNvPr id="4" name="TextBox 3">
            <a:extLst>
              <a:ext uri="{FF2B5EF4-FFF2-40B4-BE49-F238E27FC236}">
                <a16:creationId xmlns:a16="http://schemas.microsoft.com/office/drawing/2014/main" id="{F2E358B4-8370-A4AA-BD26-9EA5D70E646F}"/>
              </a:ext>
            </a:extLst>
          </p:cNvPr>
          <p:cNvSpPr txBox="1">
            <a:spLocks/>
          </p:cNvSpPr>
          <p:nvPr/>
        </p:nvSpPr>
        <p:spPr>
          <a:xfrm>
            <a:off x="1007496" y="2737369"/>
            <a:ext cx="2494458" cy="1290975"/>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Monitor</a:t>
            </a:r>
          </a:p>
          <a:p>
            <a:pPr algn="l"/>
            <a:r>
              <a:rPr lang="en-US" b="0">
                <a:latin typeface="EY interstate"/>
                <a:cs typeface="Arial"/>
              </a:rPr>
              <a:t>Adoption metrics (e.g., correct account usage) and exception trends (e.g., misclassification of transactions) are tracked to assess the effectiveness of the updated CoA usage policy.</a:t>
            </a:r>
            <a:endParaRPr lang="en-US">
              <a:latin typeface="EY interstate"/>
            </a:endParaRPr>
          </a:p>
          <a:p>
            <a:pPr algn="l"/>
            <a:endParaRPr lang="en-US">
              <a:latin typeface="EY interstate"/>
              <a:cs typeface="Arial"/>
            </a:endParaRPr>
          </a:p>
        </p:txBody>
      </p:sp>
      <p:sp>
        <p:nvSpPr>
          <p:cNvPr id="17" name="TextBox 16">
            <a:extLst>
              <a:ext uri="{FF2B5EF4-FFF2-40B4-BE49-F238E27FC236}">
                <a16:creationId xmlns:a16="http://schemas.microsoft.com/office/drawing/2014/main" id="{72E7D73F-74AD-15B0-19DF-FDAF3D9DB80D}"/>
              </a:ext>
            </a:extLst>
          </p:cNvPr>
          <p:cNvSpPr txBox="1">
            <a:spLocks/>
          </p:cNvSpPr>
          <p:nvPr/>
        </p:nvSpPr>
        <p:spPr>
          <a:xfrm>
            <a:off x="8568776" y="1180185"/>
            <a:ext cx="2494458" cy="898688"/>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Intake</a:t>
            </a:r>
          </a:p>
          <a:p>
            <a:pPr algn="l"/>
            <a:r>
              <a:rPr lang="en-US" b="0">
                <a:latin typeface="EY interstate"/>
                <a:cs typeface="Arial"/>
              </a:rPr>
              <a:t> A new business unit is introduced, requiring updates to the CoA to accommodate new account categories and reporting dimensions</a:t>
            </a:r>
          </a:p>
        </p:txBody>
      </p:sp>
      <p:sp>
        <p:nvSpPr>
          <p:cNvPr id="24" name="TextBox 23">
            <a:extLst>
              <a:ext uri="{FF2B5EF4-FFF2-40B4-BE49-F238E27FC236}">
                <a16:creationId xmlns:a16="http://schemas.microsoft.com/office/drawing/2014/main" id="{9A32BCDC-09AA-4008-487B-77642126D48A}"/>
              </a:ext>
            </a:extLst>
          </p:cNvPr>
          <p:cNvSpPr txBox="1">
            <a:spLocks/>
          </p:cNvSpPr>
          <p:nvPr/>
        </p:nvSpPr>
        <p:spPr>
          <a:xfrm>
            <a:off x="8689430" y="5218713"/>
            <a:ext cx="2307851" cy="1367919"/>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Approve</a:t>
            </a:r>
            <a:endParaRPr lang="en-US">
              <a:solidFill>
                <a:srgbClr val="FFE600"/>
              </a:solidFill>
              <a:latin typeface="EY interstate"/>
            </a:endParaRPr>
          </a:p>
          <a:p>
            <a:pPr algn="l"/>
            <a:r>
              <a:rPr lang="en-US" b="0">
                <a:latin typeface="EY interstate"/>
                <a:cs typeface="Arial"/>
              </a:rPr>
              <a:t>PDA approves the updated CoA usage policy, followed by Librarian QA to verify metadata, links, and consistency with the CoA repository.</a:t>
            </a:r>
            <a:endParaRPr lang="en-US">
              <a:latin typeface="EY interstate"/>
            </a:endParaRPr>
          </a:p>
          <a:p>
            <a:pPr marL="285750" indent="-285750" algn="l">
              <a:buFont typeface="Arial"/>
              <a:buChar char="•"/>
            </a:pPr>
            <a:endParaRPr lang="en-US">
              <a:latin typeface="EY interstate"/>
            </a:endParaRPr>
          </a:p>
          <a:p>
            <a:pPr algn="l"/>
            <a:endParaRPr lang="en-US">
              <a:latin typeface="EY interstate"/>
            </a:endParaRPr>
          </a:p>
        </p:txBody>
      </p:sp>
      <p:sp>
        <p:nvSpPr>
          <p:cNvPr id="27" name="TextBox 26">
            <a:extLst>
              <a:ext uri="{FF2B5EF4-FFF2-40B4-BE49-F238E27FC236}">
                <a16:creationId xmlns:a16="http://schemas.microsoft.com/office/drawing/2014/main" id="{B8F3ADCE-AAC0-3FAC-F73A-497B712AC029}"/>
              </a:ext>
            </a:extLst>
          </p:cNvPr>
          <p:cNvSpPr txBox="1">
            <a:spLocks/>
          </p:cNvSpPr>
          <p:nvPr/>
        </p:nvSpPr>
        <p:spPr>
          <a:xfrm>
            <a:off x="8587527" y="2164526"/>
            <a:ext cx="2494458" cy="1446531"/>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Draft</a:t>
            </a:r>
          </a:p>
          <a:p>
            <a:pPr algn="l"/>
            <a:r>
              <a:rPr lang="en-US" b="0">
                <a:latin typeface="EY interstate"/>
                <a:cs typeface="Arial"/>
              </a:rPr>
              <a:t>The policy owner drafts the updated CoA policy, consulting with the Global Process Owner (GPO) and Risk &amp; Compliance (R&amp;C) teams to ensure alignment with organizational goals and regulatory requirements.</a:t>
            </a:r>
            <a:endParaRPr lang="en-US">
              <a:latin typeface="EY interstate"/>
            </a:endParaRPr>
          </a:p>
          <a:p>
            <a:pPr algn="l"/>
            <a:endParaRPr lang="en-US">
              <a:latin typeface="EY interstate"/>
              <a:cs typeface="Arial"/>
            </a:endParaRPr>
          </a:p>
        </p:txBody>
      </p:sp>
      <p:sp>
        <p:nvSpPr>
          <p:cNvPr id="28" name="TextBox 27">
            <a:extLst>
              <a:ext uri="{FF2B5EF4-FFF2-40B4-BE49-F238E27FC236}">
                <a16:creationId xmlns:a16="http://schemas.microsoft.com/office/drawing/2014/main" id="{B0C298AD-4F01-B463-7BA0-FA85C352DAD2}"/>
              </a:ext>
            </a:extLst>
          </p:cNvPr>
          <p:cNvSpPr txBox="1">
            <a:spLocks/>
          </p:cNvSpPr>
          <p:nvPr/>
        </p:nvSpPr>
        <p:spPr>
          <a:xfrm>
            <a:off x="8614272" y="3546092"/>
            <a:ext cx="2508053" cy="1290975"/>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Review</a:t>
            </a:r>
            <a:endParaRPr lang="en-US">
              <a:solidFill>
                <a:srgbClr val="FFE600"/>
              </a:solidFill>
              <a:latin typeface="EY interstate"/>
            </a:endParaRPr>
          </a:p>
          <a:p>
            <a:pPr algn="l"/>
            <a:r>
              <a:rPr lang="en-US" b="0">
                <a:latin typeface="EY interstate"/>
                <a:cs typeface="Arial"/>
              </a:rPr>
              <a:t>Legal, Tax, and Local Process Owners (LPOs) conduct a peer review to ensure the updated CoA policy complies with accounting standards (e.g., GAAP, IFRS) and is operationally feasible.</a:t>
            </a:r>
            <a:endParaRPr lang="en-US">
              <a:latin typeface="EY interstate"/>
            </a:endParaRPr>
          </a:p>
          <a:p>
            <a:pPr algn="l"/>
            <a:endParaRPr lang="en-US">
              <a:latin typeface="EY interstate"/>
            </a:endParaRPr>
          </a:p>
        </p:txBody>
      </p:sp>
      <p:sp>
        <p:nvSpPr>
          <p:cNvPr id="5" name="TextBox 4">
            <a:extLst>
              <a:ext uri="{FF2B5EF4-FFF2-40B4-BE49-F238E27FC236}">
                <a16:creationId xmlns:a16="http://schemas.microsoft.com/office/drawing/2014/main" id="{872E396E-5B46-238B-1FBF-88D4A968C7BB}"/>
              </a:ext>
            </a:extLst>
          </p:cNvPr>
          <p:cNvSpPr txBox="1">
            <a:spLocks/>
          </p:cNvSpPr>
          <p:nvPr/>
        </p:nvSpPr>
        <p:spPr>
          <a:xfrm>
            <a:off x="1007496" y="1180185"/>
            <a:ext cx="2494458" cy="1446531"/>
          </a:xfrm>
          <a:prstGeom prst="rect">
            <a:avLst/>
          </a:prstGeom>
          <a:noFill/>
        </p:spPr>
        <p:txBody>
          <a:bodyPr wrap="square" lIns="0" tIns="36557" rIns="0" bIns="0" rtlCol="0" anchor="t">
            <a:spAutoFit/>
          </a:bodyPr>
          <a:lstStyle>
            <a:defPPr>
              <a:defRPr lang="en-US"/>
            </a:defPPr>
            <a:lvl1pPr marR="0" lvl="0" indent="0" algn="ctr" defTabSz="913943" fontAlgn="auto">
              <a:lnSpc>
                <a:spcPct val="85000"/>
              </a:lnSpc>
              <a:spcBef>
                <a:spcPts val="0"/>
              </a:spcBef>
              <a:spcAft>
                <a:spcPts val="600"/>
              </a:spcAft>
              <a:buClr>
                <a:srgbClr val="27ACAA"/>
              </a:buClr>
              <a:buSzPct val="70000"/>
              <a:buFontTx/>
              <a:buNone/>
              <a:tabLst/>
              <a:defRPr sz="1200" b="1">
                <a:solidFill>
                  <a:schemeClr val="bg2"/>
                </a:solidFill>
                <a:latin typeface="Arial" panose="020B0604020202020204" pitchFamily="34" charset="0"/>
                <a:cs typeface="Arial" panose="020B0604020202020204" pitchFamily="34" charset="0"/>
              </a:defRPr>
            </a:lvl1pPr>
          </a:lstStyle>
          <a:p>
            <a:pPr algn="l"/>
            <a:r>
              <a:rPr lang="en-US">
                <a:solidFill>
                  <a:srgbClr val="FFE600"/>
                </a:solidFill>
                <a:latin typeface="EY interstate"/>
                <a:cs typeface="Arial"/>
              </a:rPr>
              <a:t>Periodic Review</a:t>
            </a:r>
          </a:p>
          <a:p>
            <a:pPr algn="l"/>
            <a:r>
              <a:rPr lang="en-US" b="0">
                <a:latin typeface="EY interstate"/>
                <a:cs typeface="Arial"/>
              </a:rPr>
              <a:t>Annual reviews are conducted to ensure the CoA usage policy remains relevant and aligned with organizational goals. Trigger events, such as regulatory changes or audit findings, may prompt earlier reviews</a:t>
            </a:r>
            <a:endParaRPr lang="en-US">
              <a:latin typeface="EY interstate"/>
            </a:endParaRPr>
          </a:p>
          <a:p>
            <a:pPr algn="l"/>
            <a:endParaRPr lang="en-US" b="0">
              <a:latin typeface="EY interstate"/>
              <a:cs typeface="Arial"/>
            </a:endParaRPr>
          </a:p>
        </p:txBody>
      </p:sp>
      <p:grpSp>
        <p:nvGrpSpPr>
          <p:cNvPr id="136" name="Group 135">
            <a:extLst>
              <a:ext uri="{FF2B5EF4-FFF2-40B4-BE49-F238E27FC236}">
                <a16:creationId xmlns:a16="http://schemas.microsoft.com/office/drawing/2014/main" id="{72FF71E0-304F-7E82-7DE3-25E6F3A9FDE2}"/>
              </a:ext>
            </a:extLst>
          </p:cNvPr>
          <p:cNvGrpSpPr/>
          <p:nvPr/>
        </p:nvGrpSpPr>
        <p:grpSpPr>
          <a:xfrm>
            <a:off x="3606340" y="1485343"/>
            <a:ext cx="4750198" cy="4728603"/>
            <a:chOff x="3606340" y="1485343"/>
            <a:chExt cx="4750198" cy="4728603"/>
          </a:xfrm>
        </p:grpSpPr>
        <p:sp>
          <p:nvSpPr>
            <p:cNvPr id="118" name="Oval 117">
              <a:extLst>
                <a:ext uri="{FF2B5EF4-FFF2-40B4-BE49-F238E27FC236}">
                  <a16:creationId xmlns:a16="http://schemas.microsoft.com/office/drawing/2014/main" id="{79E55F55-83B7-2049-3A11-A818EE3DA186}"/>
                </a:ext>
              </a:extLst>
            </p:cNvPr>
            <p:cNvSpPr/>
            <p:nvPr/>
          </p:nvSpPr>
          <p:spPr>
            <a:xfrm>
              <a:off x="3629239" y="1533946"/>
              <a:ext cx="4716000" cy="4680000"/>
            </a:xfrm>
            <a:prstGeom prst="ellipse">
              <a:avLst/>
            </a:prstGeom>
            <a:solidFill>
              <a:srgbClr val="FFE6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 interstate"/>
              </a:endParaRPr>
            </a:p>
          </p:txBody>
        </p:sp>
        <p:sp>
          <p:nvSpPr>
            <p:cNvPr id="134" name="Oval 133">
              <a:extLst>
                <a:ext uri="{FF2B5EF4-FFF2-40B4-BE49-F238E27FC236}">
                  <a16:creationId xmlns:a16="http://schemas.microsoft.com/office/drawing/2014/main" id="{6E863E3F-64C4-F237-56B6-7B7D289BCD39}"/>
                </a:ext>
              </a:extLst>
            </p:cNvPr>
            <p:cNvSpPr/>
            <p:nvPr/>
          </p:nvSpPr>
          <p:spPr>
            <a:xfrm>
              <a:off x="5030595" y="2876699"/>
              <a:ext cx="1940461" cy="1921653"/>
            </a:xfrm>
            <a:prstGeom prst="ellipse">
              <a:avLst/>
            </a:prstGeom>
            <a:solidFill>
              <a:schemeClr val="tx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 interstate"/>
              </a:endParaRPr>
            </a:p>
          </p:txBody>
        </p:sp>
        <p:sp>
          <p:nvSpPr>
            <p:cNvPr id="133" name="Rectangle 132">
              <a:extLst>
                <a:ext uri="{FF2B5EF4-FFF2-40B4-BE49-F238E27FC236}">
                  <a16:creationId xmlns:a16="http://schemas.microsoft.com/office/drawing/2014/main" id="{988D0C2A-B20A-AF85-625D-02E8234D58B3}"/>
                </a:ext>
              </a:extLst>
            </p:cNvPr>
            <p:cNvSpPr/>
            <p:nvPr/>
          </p:nvSpPr>
          <p:spPr>
            <a:xfrm rot="4077791">
              <a:off x="5883411" y="1434541"/>
              <a:ext cx="145823" cy="469996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 interstate"/>
              </a:endParaRPr>
            </a:p>
          </p:txBody>
        </p:sp>
        <p:sp>
          <p:nvSpPr>
            <p:cNvPr id="132" name="Rectangle 131">
              <a:extLst>
                <a:ext uri="{FF2B5EF4-FFF2-40B4-BE49-F238E27FC236}">
                  <a16:creationId xmlns:a16="http://schemas.microsoft.com/office/drawing/2014/main" id="{D169E322-4034-F39B-CF07-3F9D39BA3DE4}"/>
                </a:ext>
              </a:extLst>
            </p:cNvPr>
            <p:cNvSpPr/>
            <p:nvPr/>
          </p:nvSpPr>
          <p:spPr>
            <a:xfrm rot="1540096">
              <a:off x="5841080" y="1485343"/>
              <a:ext cx="145823" cy="469996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 interstate"/>
              </a:endParaRPr>
            </a:p>
          </p:txBody>
        </p:sp>
        <p:sp>
          <p:nvSpPr>
            <p:cNvPr id="131" name="Rectangle 130">
              <a:extLst>
                <a:ext uri="{FF2B5EF4-FFF2-40B4-BE49-F238E27FC236}">
                  <a16:creationId xmlns:a16="http://schemas.microsoft.com/office/drawing/2014/main" id="{7E39D67E-6F91-1148-F598-73941D33BF13}"/>
                </a:ext>
              </a:extLst>
            </p:cNvPr>
            <p:cNvSpPr/>
            <p:nvPr/>
          </p:nvSpPr>
          <p:spPr>
            <a:xfrm rot="19948443">
              <a:off x="5969204" y="1512124"/>
              <a:ext cx="145823" cy="469996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 interstate"/>
              </a:endParaRPr>
            </a:p>
          </p:txBody>
        </p:sp>
        <p:sp>
          <p:nvSpPr>
            <p:cNvPr id="130" name="Rectangle 129">
              <a:extLst>
                <a:ext uri="{FF2B5EF4-FFF2-40B4-BE49-F238E27FC236}">
                  <a16:creationId xmlns:a16="http://schemas.microsoft.com/office/drawing/2014/main" id="{04E0B048-4EE4-9EF4-9FE8-34FE810DB661}"/>
                </a:ext>
              </a:extLst>
            </p:cNvPr>
            <p:cNvSpPr/>
            <p:nvPr/>
          </p:nvSpPr>
          <p:spPr>
            <a:xfrm rot="17338132">
              <a:off x="5933644" y="1466404"/>
              <a:ext cx="145823" cy="469996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latin typeface="EY interstate"/>
              </a:endParaRPr>
            </a:p>
          </p:txBody>
        </p:sp>
        <p:sp>
          <p:nvSpPr>
            <p:cNvPr id="30" name="TextBox 132">
              <a:extLst>
                <a:ext uri="{FF2B5EF4-FFF2-40B4-BE49-F238E27FC236}">
                  <a16:creationId xmlns:a16="http://schemas.microsoft.com/office/drawing/2014/main" id="{35F7AACF-587F-ED37-7668-3E48A7F8BF08}"/>
                </a:ext>
              </a:extLst>
            </p:cNvPr>
            <p:cNvSpPr txBox="1">
              <a:spLocks/>
            </p:cNvSpPr>
            <p:nvPr/>
          </p:nvSpPr>
          <p:spPr>
            <a:xfrm>
              <a:off x="7200591" y="3595729"/>
              <a:ext cx="884446" cy="197746"/>
            </a:xfrm>
            <a:prstGeom prst="rect">
              <a:avLst/>
            </a:prstGeom>
            <a:noFill/>
          </p:spPr>
          <p:txBody>
            <a:bodyPr wrap="square" lIns="0" tIns="36576" rIns="0" bIns="0" rtlCol="0">
              <a:spAutoFit/>
            </a:bodyPr>
            <a:lstStyle/>
            <a:p>
              <a:pPr algn="ctr">
                <a:lnSpc>
                  <a:spcPct val="110000"/>
                </a:lnSpc>
                <a:buClr>
                  <a:srgbClr val="FFD200"/>
                </a:buClr>
                <a:buSzPct val="70000"/>
                <a:defRPr/>
              </a:pPr>
              <a:r>
                <a:rPr lang="en-US" sz="1000" b="1" kern="0">
                  <a:latin typeface="EY interstate"/>
                  <a:cs typeface="Arial" panose="020B0604020202020204" pitchFamily="34" charset="0"/>
                </a:rPr>
                <a:t>Review</a:t>
              </a:r>
            </a:p>
          </p:txBody>
        </p:sp>
        <p:sp>
          <p:nvSpPr>
            <p:cNvPr id="31" name="TextBox 30">
              <a:extLst>
                <a:ext uri="{FF2B5EF4-FFF2-40B4-BE49-F238E27FC236}">
                  <a16:creationId xmlns:a16="http://schemas.microsoft.com/office/drawing/2014/main" id="{84BEB4E0-8A60-3EDB-5030-B9A34BDAD42F}"/>
                </a:ext>
              </a:extLst>
            </p:cNvPr>
            <p:cNvSpPr txBox="1">
              <a:spLocks/>
            </p:cNvSpPr>
            <p:nvPr/>
          </p:nvSpPr>
          <p:spPr>
            <a:xfrm>
              <a:off x="5540255" y="5242744"/>
              <a:ext cx="884446" cy="197746"/>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lang="en-US" sz="1000" b="1" kern="0">
                  <a:latin typeface="EY interstate"/>
                  <a:cs typeface="Arial" panose="020B0604020202020204" pitchFamily="34" charset="0"/>
                </a:rPr>
                <a:t>Publish</a:t>
              </a:r>
              <a:endParaRPr kumimoji="0" lang="en-US" sz="1000" b="1" u="none" strike="noStrike" kern="0" cap="none" spc="0" normalizeH="0" baseline="0" noProof="0">
                <a:ln>
                  <a:noFill/>
                </a:ln>
                <a:effectLst/>
                <a:uLnTx/>
                <a:uFillTx/>
                <a:latin typeface="EY interstate"/>
                <a:cs typeface="Arial" panose="020B0604020202020204" pitchFamily="34" charset="0"/>
              </a:endParaRPr>
            </a:p>
          </p:txBody>
        </p:sp>
        <p:sp>
          <p:nvSpPr>
            <p:cNvPr id="32" name="TextBox 31">
              <a:extLst>
                <a:ext uri="{FF2B5EF4-FFF2-40B4-BE49-F238E27FC236}">
                  <a16:creationId xmlns:a16="http://schemas.microsoft.com/office/drawing/2014/main" id="{FE1BF3AF-4C62-758A-2D84-D6896C4A040B}"/>
                </a:ext>
              </a:extLst>
            </p:cNvPr>
            <p:cNvSpPr txBox="1">
              <a:spLocks/>
            </p:cNvSpPr>
            <p:nvPr/>
          </p:nvSpPr>
          <p:spPr>
            <a:xfrm>
              <a:off x="6805737" y="4727841"/>
              <a:ext cx="884446" cy="197746"/>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kumimoji="0" lang="en-US" sz="1000" b="1" u="none" strike="noStrike" kern="0" cap="none" spc="0" normalizeH="0" baseline="0" noProof="0">
                  <a:ln>
                    <a:noFill/>
                  </a:ln>
                  <a:effectLst/>
                  <a:uLnTx/>
                  <a:uFillTx/>
                  <a:latin typeface="EY interstate"/>
                  <a:cs typeface="Arial" panose="020B0604020202020204" pitchFamily="34" charset="0"/>
                </a:rPr>
                <a:t>Approve</a:t>
              </a:r>
            </a:p>
          </p:txBody>
        </p:sp>
        <p:sp>
          <p:nvSpPr>
            <p:cNvPr id="35" name="TextBox 34">
              <a:extLst>
                <a:ext uri="{FF2B5EF4-FFF2-40B4-BE49-F238E27FC236}">
                  <a16:creationId xmlns:a16="http://schemas.microsoft.com/office/drawing/2014/main" id="{CD5603FE-DCEF-B785-04FF-A88D62FC5BE3}"/>
                </a:ext>
              </a:extLst>
            </p:cNvPr>
            <p:cNvSpPr txBox="1">
              <a:spLocks/>
            </p:cNvSpPr>
            <p:nvPr/>
          </p:nvSpPr>
          <p:spPr>
            <a:xfrm>
              <a:off x="3798054" y="3775476"/>
              <a:ext cx="884446" cy="197746"/>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lang="en-US" sz="1000" b="1" kern="0">
                  <a:latin typeface="EY interstate"/>
                  <a:cs typeface="Arial" panose="020B0604020202020204" pitchFamily="34" charset="0"/>
                </a:rPr>
                <a:t>Monitor</a:t>
              </a:r>
              <a:endParaRPr kumimoji="0" lang="en-US" sz="1000" b="1" u="none" strike="noStrike" kern="0" cap="none" spc="0" normalizeH="0" baseline="0" noProof="0">
                <a:ln>
                  <a:noFill/>
                </a:ln>
                <a:effectLst/>
                <a:uLnTx/>
                <a:uFillTx/>
                <a:latin typeface="EY interstate"/>
                <a:cs typeface="Arial" panose="020B0604020202020204" pitchFamily="34" charset="0"/>
              </a:endParaRPr>
            </a:p>
          </p:txBody>
        </p:sp>
        <p:grpSp>
          <p:nvGrpSpPr>
            <p:cNvPr id="38" name="Group 37">
              <a:extLst>
                <a:ext uri="{FF2B5EF4-FFF2-40B4-BE49-F238E27FC236}">
                  <a16:creationId xmlns:a16="http://schemas.microsoft.com/office/drawing/2014/main" id="{2EE6AF3E-3FC3-88AC-BA2B-C78B4513039D}"/>
                </a:ext>
              </a:extLst>
            </p:cNvPr>
            <p:cNvGrpSpPr/>
            <p:nvPr/>
          </p:nvGrpSpPr>
          <p:grpSpPr>
            <a:xfrm>
              <a:off x="4877083" y="2796724"/>
              <a:ext cx="2154443" cy="2154443"/>
              <a:chOff x="1822390" y="2494186"/>
              <a:chExt cx="2863932" cy="2863934"/>
            </a:xfrm>
          </p:grpSpPr>
          <p:sp>
            <p:nvSpPr>
              <p:cNvPr id="69" name="Oval 68">
                <a:extLst>
                  <a:ext uri="{FF2B5EF4-FFF2-40B4-BE49-F238E27FC236}">
                    <a16:creationId xmlns:a16="http://schemas.microsoft.com/office/drawing/2014/main" id="{FE314674-2E65-A0C4-F615-F2E2B31492E0}"/>
                  </a:ext>
                </a:extLst>
              </p:cNvPr>
              <p:cNvSpPr/>
              <p:nvPr/>
            </p:nvSpPr>
            <p:spPr>
              <a:xfrm>
                <a:off x="2137617" y="2704711"/>
                <a:ext cx="2326626" cy="2340209"/>
              </a:xfrm>
              <a:prstGeom prst="ellipse">
                <a:avLst/>
              </a:prstGeom>
              <a:solidFill>
                <a:srgbClr val="000000">
                  <a:lumMod val="50000"/>
                  <a:lumOff val="50000"/>
                </a:srgbClr>
              </a:solidFill>
              <a:ln w="12700" cap="sq" cmpd="sng" algn="ctr">
                <a:noFill/>
                <a:prstDash val="solid"/>
                <a:miter lim="800000"/>
                <a:tailEnd type="none"/>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effectLst/>
                    <a:uLnTx/>
                    <a:uFillTx/>
                    <a:latin typeface="EY interstate"/>
                    <a:cs typeface="Arial" panose="020B0604020202020204" pitchFamily="34" charset="0"/>
                  </a:rPr>
                  <a:t>Policy Lifecycle</a:t>
                </a:r>
              </a:p>
            </p:txBody>
          </p:sp>
          <p:pic>
            <p:nvPicPr>
              <p:cNvPr id="70" name="Graphic 69" descr="Arrow circle with solid fill">
                <a:extLst>
                  <a:ext uri="{FF2B5EF4-FFF2-40B4-BE49-F238E27FC236}">
                    <a16:creationId xmlns:a16="http://schemas.microsoft.com/office/drawing/2014/main" id="{7D2A3B58-7B40-3ECF-1DBD-E0BF1A580EEE}"/>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822390" y="2494186"/>
                <a:ext cx="2863932" cy="2863934"/>
              </a:xfrm>
              <a:prstGeom prst="rect">
                <a:avLst/>
              </a:prstGeom>
            </p:spPr>
          </p:pic>
        </p:grpSp>
        <p:sp>
          <p:nvSpPr>
            <p:cNvPr id="33" name="TextBox 32">
              <a:extLst>
                <a:ext uri="{FF2B5EF4-FFF2-40B4-BE49-F238E27FC236}">
                  <a16:creationId xmlns:a16="http://schemas.microsoft.com/office/drawing/2014/main" id="{5FBAF0C2-39D5-BF3B-548E-5E37236F83C3}"/>
                </a:ext>
              </a:extLst>
            </p:cNvPr>
            <p:cNvSpPr txBox="1">
              <a:spLocks/>
            </p:cNvSpPr>
            <p:nvPr/>
          </p:nvSpPr>
          <p:spPr>
            <a:xfrm>
              <a:off x="4273149" y="4872506"/>
              <a:ext cx="884446" cy="197746"/>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kumimoji="0" lang="en-US" sz="1000" b="1" u="none" strike="noStrike" kern="0" cap="none" spc="0" normalizeH="0" baseline="0" noProof="0">
                  <a:ln>
                    <a:noFill/>
                  </a:ln>
                  <a:effectLst/>
                  <a:uLnTx/>
                  <a:uFillTx/>
                  <a:latin typeface="EY interstate"/>
                  <a:cs typeface="Arial" panose="020B0604020202020204" pitchFamily="34" charset="0"/>
                </a:rPr>
                <a:t>Enable</a:t>
              </a:r>
            </a:p>
          </p:txBody>
        </p:sp>
        <p:sp>
          <p:nvSpPr>
            <p:cNvPr id="37" name="TextBox 36">
              <a:extLst>
                <a:ext uri="{FF2B5EF4-FFF2-40B4-BE49-F238E27FC236}">
                  <a16:creationId xmlns:a16="http://schemas.microsoft.com/office/drawing/2014/main" id="{A5EDBDDE-2600-4469-1F90-2C3B179C5DA0}"/>
                </a:ext>
              </a:extLst>
            </p:cNvPr>
            <p:cNvSpPr txBox="1">
              <a:spLocks/>
            </p:cNvSpPr>
            <p:nvPr/>
          </p:nvSpPr>
          <p:spPr>
            <a:xfrm>
              <a:off x="4228096" y="2472511"/>
              <a:ext cx="785565" cy="367024"/>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kumimoji="0" lang="en-US" sz="1000" b="1" u="none" strike="noStrike" kern="0" cap="none" spc="0" normalizeH="0" baseline="0" noProof="0">
                  <a:ln>
                    <a:noFill/>
                  </a:ln>
                  <a:effectLst/>
                  <a:uLnTx/>
                  <a:uFillTx/>
                  <a:latin typeface="EY interstate"/>
                  <a:cs typeface="Arial" panose="020B0604020202020204" pitchFamily="34" charset="0"/>
                </a:rPr>
                <a:t>Periodic review</a:t>
              </a:r>
            </a:p>
          </p:txBody>
        </p:sp>
        <p:sp>
          <p:nvSpPr>
            <p:cNvPr id="25" name="TextBox 132">
              <a:extLst>
                <a:ext uri="{FF2B5EF4-FFF2-40B4-BE49-F238E27FC236}">
                  <a16:creationId xmlns:a16="http://schemas.microsoft.com/office/drawing/2014/main" id="{62891FE2-3F75-570F-6328-678B9F505614}"/>
                </a:ext>
              </a:extLst>
            </p:cNvPr>
            <p:cNvSpPr txBox="1">
              <a:spLocks/>
            </p:cNvSpPr>
            <p:nvPr/>
          </p:nvSpPr>
          <p:spPr>
            <a:xfrm>
              <a:off x="5444707" y="2035787"/>
              <a:ext cx="928864" cy="197746"/>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kumimoji="0" lang="en-US" sz="1000" b="1" u="none" strike="noStrike" kern="0" cap="none" spc="0" normalizeH="0" baseline="0" noProof="0">
                  <a:ln>
                    <a:noFill/>
                  </a:ln>
                  <a:effectLst/>
                  <a:uLnTx/>
                  <a:uFillTx/>
                  <a:latin typeface="EY interstate"/>
                  <a:cs typeface="Arial" panose="020B0604020202020204" pitchFamily="34" charset="0"/>
                </a:rPr>
                <a:t>Intake</a:t>
              </a:r>
            </a:p>
          </p:txBody>
        </p:sp>
        <p:sp>
          <p:nvSpPr>
            <p:cNvPr id="29" name="TextBox 132">
              <a:extLst>
                <a:ext uri="{FF2B5EF4-FFF2-40B4-BE49-F238E27FC236}">
                  <a16:creationId xmlns:a16="http://schemas.microsoft.com/office/drawing/2014/main" id="{77F40883-3C28-F4DF-AC1C-1869064C41D8}"/>
                </a:ext>
              </a:extLst>
            </p:cNvPr>
            <p:cNvSpPr txBox="1">
              <a:spLocks/>
            </p:cNvSpPr>
            <p:nvPr/>
          </p:nvSpPr>
          <p:spPr>
            <a:xfrm>
              <a:off x="6739832" y="2422850"/>
              <a:ext cx="884446" cy="197746"/>
            </a:xfrm>
            <a:prstGeom prst="rect">
              <a:avLst/>
            </a:prstGeom>
            <a:noFill/>
          </p:spPr>
          <p:txBody>
            <a:bodyPr wrap="square" lIns="0" tIns="36576" rIns="0" bIns="0" rtlCol="0">
              <a:spAutoFit/>
            </a:bodyPr>
            <a:lstStyle/>
            <a:p>
              <a:pPr marL="0" marR="0" lvl="0" indent="0" algn="ctr" defTabSz="914400" eaLnBrk="1" fontAlgn="auto" latinLnBrk="0" hangingPunct="1">
                <a:lnSpc>
                  <a:spcPct val="110000"/>
                </a:lnSpc>
                <a:spcBef>
                  <a:spcPts val="0"/>
                </a:spcBef>
                <a:spcAft>
                  <a:spcPts val="0"/>
                </a:spcAft>
                <a:buClr>
                  <a:srgbClr val="FFD200"/>
                </a:buClr>
                <a:buSzPct val="70000"/>
                <a:buFontTx/>
                <a:buNone/>
                <a:tabLst/>
                <a:defRPr/>
              </a:pPr>
              <a:r>
                <a:rPr kumimoji="0" lang="en-US" sz="1000" b="1" u="none" strike="noStrike" kern="0" cap="none" spc="0" normalizeH="0" baseline="0" noProof="0">
                  <a:ln>
                    <a:noFill/>
                  </a:ln>
                  <a:effectLst/>
                  <a:uLnTx/>
                  <a:uFillTx/>
                  <a:latin typeface="EY interstate"/>
                  <a:cs typeface="Arial" panose="020B0604020202020204" pitchFamily="34" charset="0"/>
                </a:rPr>
                <a:t>Draft</a:t>
              </a:r>
              <a:endParaRPr kumimoji="0" lang="en-US" sz="1000" b="1" u="none" strike="noStrike" kern="0" cap="none" spc="0" normalizeH="0" baseline="0" noProof="0">
                <a:ln>
                  <a:noFill/>
                </a:ln>
                <a:solidFill>
                  <a:schemeClr val="bg2"/>
                </a:solidFill>
                <a:effectLst/>
                <a:uLnTx/>
                <a:uFillTx/>
                <a:latin typeface="EY interstate"/>
                <a:cs typeface="Arial" panose="020B0604020202020204" pitchFamily="34" charset="0"/>
              </a:endParaRPr>
            </a:p>
          </p:txBody>
        </p:sp>
      </p:grpSp>
    </p:spTree>
    <p:extLst>
      <p:ext uri="{BB962C8B-B14F-4D97-AF65-F5344CB8AC3E}">
        <p14:creationId xmlns:p14="http://schemas.microsoft.com/office/powerpoint/2010/main" val="345345559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735A77-9A32-53BE-6255-69E8954627A6}"/>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DA3A43AA-E27F-028B-74EB-4763688BF28F}"/>
              </a:ext>
            </a:extLst>
          </p:cNvPr>
          <p:cNvSpPr txBox="1"/>
          <p:nvPr/>
        </p:nvSpPr>
        <p:spPr>
          <a:xfrm>
            <a:off x="554877" y="471459"/>
            <a:ext cx="9445534" cy="369332"/>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US"/>
              <a:t>CoA Harmonization program and rollout plan</a:t>
            </a:r>
          </a:p>
        </p:txBody>
      </p:sp>
      <p:sp>
        <p:nvSpPr>
          <p:cNvPr id="57" name="Graphic 1">
            <a:extLst>
              <a:ext uri="{FF2B5EF4-FFF2-40B4-BE49-F238E27FC236}">
                <a16:creationId xmlns:a16="http://schemas.microsoft.com/office/drawing/2014/main" id="{09362DC3-593A-0C84-5127-7B7BB0DAC415}"/>
              </a:ext>
            </a:extLst>
          </p:cNvPr>
          <p:cNvSpPr/>
          <p:nvPr/>
        </p:nvSpPr>
        <p:spPr>
          <a:xfrm rot="21312618">
            <a:off x="-72420" y="2761337"/>
            <a:ext cx="12336838" cy="1218667"/>
          </a:xfrm>
          <a:custGeom>
            <a:avLst/>
            <a:gdLst>
              <a:gd name="connsiteX0" fmla="*/ 0 w 1756124"/>
              <a:gd name="connsiteY0" fmla="*/ 601502 h 604599"/>
              <a:gd name="connsiteX1" fmla="*/ 939737 w 1756124"/>
              <a:gd name="connsiteY1" fmla="*/ 285748 h 604599"/>
              <a:gd name="connsiteX2" fmla="*/ 1756124 w 1756124"/>
              <a:gd name="connsiteY2" fmla="*/ 56386 h 604599"/>
            </a:gdLst>
            <a:ahLst/>
            <a:cxnLst>
              <a:cxn ang="0">
                <a:pos x="connsiteX0" y="connsiteY0"/>
              </a:cxn>
              <a:cxn ang="0">
                <a:pos x="connsiteX1" y="connsiteY1"/>
              </a:cxn>
              <a:cxn ang="0">
                <a:pos x="connsiteX2" y="connsiteY2"/>
              </a:cxn>
            </a:cxnLst>
            <a:rect l="l" t="t" r="r" b="b"/>
            <a:pathLst>
              <a:path w="1756124" h="604599">
                <a:moveTo>
                  <a:pt x="0" y="601502"/>
                </a:moveTo>
                <a:cubicBezTo>
                  <a:pt x="0" y="601502"/>
                  <a:pt x="702945" y="658271"/>
                  <a:pt x="939737" y="285748"/>
                </a:cubicBezTo>
                <a:cubicBezTo>
                  <a:pt x="1176528" y="-86774"/>
                  <a:pt x="1652588" y="-12670"/>
                  <a:pt x="1756124" y="56386"/>
                </a:cubicBezTo>
              </a:path>
            </a:pathLst>
          </a:custGeom>
          <a:noFill/>
          <a:ln w="60325" cap="flat">
            <a:solidFill>
              <a:srgbClr val="C4C4CD"/>
            </a:solidFill>
            <a:prstDash val="solid"/>
            <a:miter/>
          </a:ln>
        </p:spPr>
        <p:txBody>
          <a:bodyPr rtlCol="0" anchor="ctr"/>
          <a:lstStyle/>
          <a:p>
            <a:pPr algn="l" rtl="0">
              <a:defRPr/>
            </a:pPr>
            <a:endParaRPr lang="en-US" kern="1200">
              <a:solidFill>
                <a:srgbClr val="2E2E38"/>
              </a:solidFill>
              <a:latin typeface="EY interstate"/>
            </a:endParaRPr>
          </a:p>
        </p:txBody>
      </p:sp>
      <p:grpSp>
        <p:nvGrpSpPr>
          <p:cNvPr id="59" name="Group 58">
            <a:extLst>
              <a:ext uri="{FF2B5EF4-FFF2-40B4-BE49-F238E27FC236}">
                <a16:creationId xmlns:a16="http://schemas.microsoft.com/office/drawing/2014/main" id="{4852BFD3-E6FC-15D3-B440-9DA226B7542E}"/>
              </a:ext>
            </a:extLst>
          </p:cNvPr>
          <p:cNvGrpSpPr/>
          <p:nvPr/>
        </p:nvGrpSpPr>
        <p:grpSpPr>
          <a:xfrm>
            <a:off x="131356" y="3809131"/>
            <a:ext cx="1232698" cy="1197864"/>
            <a:chOff x="9869382" y="943710"/>
            <a:chExt cx="1232698" cy="1197864"/>
          </a:xfrm>
        </p:grpSpPr>
        <p:sp>
          <p:nvSpPr>
            <p:cNvPr id="60" name="Oval 59">
              <a:extLst>
                <a:ext uri="{FF2B5EF4-FFF2-40B4-BE49-F238E27FC236}">
                  <a16:creationId xmlns:a16="http://schemas.microsoft.com/office/drawing/2014/main" id="{56EEB055-60FF-75F6-A3FD-CBDF660CAF93}"/>
                </a:ext>
              </a:extLst>
            </p:cNvPr>
            <p:cNvSpPr/>
            <p:nvPr/>
          </p:nvSpPr>
          <p:spPr>
            <a:xfrm>
              <a:off x="9869382" y="943710"/>
              <a:ext cx="1197864" cy="1197864"/>
            </a:xfrm>
            <a:prstGeom prst="ellipse">
              <a:avLst/>
            </a:prstGeom>
            <a:solidFill>
              <a:schemeClr val="bg2">
                <a:lumMod val="65000"/>
                <a:lumOff val="35000"/>
              </a:schemeClr>
            </a:solidFill>
            <a:ln w="190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61" name="Oval 60">
              <a:extLst>
                <a:ext uri="{FF2B5EF4-FFF2-40B4-BE49-F238E27FC236}">
                  <a16:creationId xmlns:a16="http://schemas.microsoft.com/office/drawing/2014/main" id="{DDB63A4D-899C-8E98-B04A-1BB644F5DBB7}"/>
                </a:ext>
              </a:extLst>
            </p:cNvPr>
            <p:cNvSpPr/>
            <p:nvPr/>
          </p:nvSpPr>
          <p:spPr>
            <a:xfrm>
              <a:off x="9929199" y="1002996"/>
              <a:ext cx="1068378" cy="1068376"/>
            </a:xfrm>
            <a:prstGeom prst="ellipse">
              <a:avLst/>
            </a:prstGeom>
            <a:noFill/>
            <a:ln w="63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62" name="TextBox 61">
              <a:extLst>
                <a:ext uri="{FF2B5EF4-FFF2-40B4-BE49-F238E27FC236}">
                  <a16:creationId xmlns:a16="http://schemas.microsoft.com/office/drawing/2014/main" id="{2C357EC0-3978-33BA-469C-8C441580110F}"/>
                </a:ext>
              </a:extLst>
            </p:cNvPr>
            <p:cNvSpPr txBox="1"/>
            <p:nvPr/>
          </p:nvSpPr>
          <p:spPr>
            <a:xfrm>
              <a:off x="9974711" y="1285073"/>
              <a:ext cx="1127369" cy="461665"/>
            </a:xfrm>
            <a:prstGeom prst="rect">
              <a:avLst/>
            </a:prstGeom>
            <a:noFill/>
          </p:spPr>
          <p:txBody>
            <a:bodyPr wrap="square" rtlCol="0">
              <a:spAutoFit/>
            </a:bodyPr>
            <a:lstStyle/>
            <a:p>
              <a:r>
                <a:rPr lang="en-IN" sz="1200" b="1"/>
                <a:t>Assessment &amp; Planning</a:t>
              </a:r>
            </a:p>
          </p:txBody>
        </p:sp>
      </p:grpSp>
      <p:grpSp>
        <p:nvGrpSpPr>
          <p:cNvPr id="63" name="Group 62">
            <a:extLst>
              <a:ext uri="{FF2B5EF4-FFF2-40B4-BE49-F238E27FC236}">
                <a16:creationId xmlns:a16="http://schemas.microsoft.com/office/drawing/2014/main" id="{A0D57A61-0DBC-ECDF-26B3-EAC21AE4B460}"/>
              </a:ext>
            </a:extLst>
          </p:cNvPr>
          <p:cNvGrpSpPr/>
          <p:nvPr/>
        </p:nvGrpSpPr>
        <p:grpSpPr>
          <a:xfrm>
            <a:off x="2880311" y="3551562"/>
            <a:ext cx="1380735" cy="1197864"/>
            <a:chOff x="9773020" y="943710"/>
            <a:chExt cx="1380735" cy="1197864"/>
          </a:xfrm>
        </p:grpSpPr>
        <p:sp>
          <p:nvSpPr>
            <p:cNvPr id="64" name="Oval 63">
              <a:extLst>
                <a:ext uri="{FF2B5EF4-FFF2-40B4-BE49-F238E27FC236}">
                  <a16:creationId xmlns:a16="http://schemas.microsoft.com/office/drawing/2014/main" id="{3316AFC7-7A98-5C53-D7F3-72EE56EB98F1}"/>
                </a:ext>
              </a:extLst>
            </p:cNvPr>
            <p:cNvSpPr/>
            <p:nvPr/>
          </p:nvSpPr>
          <p:spPr>
            <a:xfrm>
              <a:off x="9869382" y="943710"/>
              <a:ext cx="1197864" cy="1197864"/>
            </a:xfrm>
            <a:prstGeom prst="ellipse">
              <a:avLst/>
            </a:prstGeom>
            <a:solidFill>
              <a:schemeClr val="bg2">
                <a:lumMod val="65000"/>
                <a:lumOff val="35000"/>
              </a:schemeClr>
            </a:solidFill>
            <a:ln w="190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65" name="Oval 64">
              <a:extLst>
                <a:ext uri="{FF2B5EF4-FFF2-40B4-BE49-F238E27FC236}">
                  <a16:creationId xmlns:a16="http://schemas.microsoft.com/office/drawing/2014/main" id="{B56038A9-BDCB-4C69-56A3-FC40B1F73C2F}"/>
                </a:ext>
              </a:extLst>
            </p:cNvPr>
            <p:cNvSpPr/>
            <p:nvPr/>
          </p:nvSpPr>
          <p:spPr>
            <a:xfrm>
              <a:off x="9929199" y="1002996"/>
              <a:ext cx="1068378" cy="1068376"/>
            </a:xfrm>
            <a:prstGeom prst="ellipse">
              <a:avLst/>
            </a:prstGeom>
            <a:noFill/>
            <a:ln w="63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66" name="TextBox 65">
              <a:extLst>
                <a:ext uri="{FF2B5EF4-FFF2-40B4-BE49-F238E27FC236}">
                  <a16:creationId xmlns:a16="http://schemas.microsoft.com/office/drawing/2014/main" id="{7756B70D-55D8-E6C1-2263-94EC7C8B39FC}"/>
                </a:ext>
              </a:extLst>
            </p:cNvPr>
            <p:cNvSpPr txBox="1"/>
            <p:nvPr/>
          </p:nvSpPr>
          <p:spPr>
            <a:xfrm>
              <a:off x="9773020" y="1265442"/>
              <a:ext cx="1380735" cy="461665"/>
            </a:xfrm>
            <a:prstGeom prst="rect">
              <a:avLst/>
            </a:prstGeom>
            <a:noFill/>
          </p:spPr>
          <p:txBody>
            <a:bodyPr wrap="square" rtlCol="0">
              <a:spAutoFit/>
            </a:bodyPr>
            <a:lstStyle/>
            <a:p>
              <a:pPr algn="ctr">
                <a:defRPr/>
              </a:pPr>
              <a:r>
                <a:rPr lang="en-IN" sz="1200" b="1"/>
                <a:t>Design &amp; Blueprinting</a:t>
              </a:r>
              <a:endParaRPr lang="en-US" sz="1200" b="1" kern="1200">
                <a:solidFill>
                  <a:schemeClr val="tx2"/>
                </a:solidFill>
                <a:latin typeface="EY interstate"/>
              </a:endParaRPr>
            </a:p>
          </p:txBody>
        </p:sp>
      </p:grpSp>
      <p:grpSp>
        <p:nvGrpSpPr>
          <p:cNvPr id="67" name="Group 66">
            <a:extLst>
              <a:ext uri="{FF2B5EF4-FFF2-40B4-BE49-F238E27FC236}">
                <a16:creationId xmlns:a16="http://schemas.microsoft.com/office/drawing/2014/main" id="{E949C579-D5A7-CEFF-9ADC-BB2D3CE5A231}"/>
              </a:ext>
            </a:extLst>
          </p:cNvPr>
          <p:cNvGrpSpPr/>
          <p:nvPr/>
        </p:nvGrpSpPr>
        <p:grpSpPr>
          <a:xfrm>
            <a:off x="5705837" y="2701810"/>
            <a:ext cx="1376604" cy="1396601"/>
            <a:chOff x="9869382" y="943710"/>
            <a:chExt cx="1197864" cy="1197864"/>
          </a:xfrm>
        </p:grpSpPr>
        <p:sp>
          <p:nvSpPr>
            <p:cNvPr id="68" name="Oval 67">
              <a:extLst>
                <a:ext uri="{FF2B5EF4-FFF2-40B4-BE49-F238E27FC236}">
                  <a16:creationId xmlns:a16="http://schemas.microsoft.com/office/drawing/2014/main" id="{C11FB859-E470-213A-6362-05156B88E7E3}"/>
                </a:ext>
              </a:extLst>
            </p:cNvPr>
            <p:cNvSpPr/>
            <p:nvPr/>
          </p:nvSpPr>
          <p:spPr>
            <a:xfrm>
              <a:off x="9869382" y="943710"/>
              <a:ext cx="1197864" cy="1197864"/>
            </a:xfrm>
            <a:prstGeom prst="ellipse">
              <a:avLst/>
            </a:prstGeom>
            <a:solidFill>
              <a:schemeClr val="bg2">
                <a:lumMod val="65000"/>
                <a:lumOff val="35000"/>
              </a:schemeClr>
            </a:solidFill>
            <a:ln w="190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71" name="Oval 70">
              <a:extLst>
                <a:ext uri="{FF2B5EF4-FFF2-40B4-BE49-F238E27FC236}">
                  <a16:creationId xmlns:a16="http://schemas.microsoft.com/office/drawing/2014/main" id="{35BDFC6D-F312-5559-4D5D-3AC2AF6AFEC4}"/>
                </a:ext>
              </a:extLst>
            </p:cNvPr>
            <p:cNvSpPr/>
            <p:nvPr/>
          </p:nvSpPr>
          <p:spPr>
            <a:xfrm>
              <a:off x="9929199" y="1002996"/>
              <a:ext cx="1068378" cy="1068376"/>
            </a:xfrm>
            <a:prstGeom prst="ellipse">
              <a:avLst/>
            </a:prstGeom>
            <a:noFill/>
            <a:ln w="63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72" name="TextBox 71">
              <a:extLst>
                <a:ext uri="{FF2B5EF4-FFF2-40B4-BE49-F238E27FC236}">
                  <a16:creationId xmlns:a16="http://schemas.microsoft.com/office/drawing/2014/main" id="{37C97FB3-7E9D-6594-C975-5C59345F3AB7}"/>
                </a:ext>
              </a:extLst>
            </p:cNvPr>
            <p:cNvSpPr txBox="1"/>
            <p:nvPr/>
          </p:nvSpPr>
          <p:spPr>
            <a:xfrm>
              <a:off x="9893975" y="1356837"/>
              <a:ext cx="1138825" cy="237582"/>
            </a:xfrm>
            <a:prstGeom prst="rect">
              <a:avLst/>
            </a:prstGeom>
            <a:noFill/>
          </p:spPr>
          <p:txBody>
            <a:bodyPr wrap="none" rtlCol="0" anchor="ctr">
              <a:spAutoFit/>
            </a:bodyPr>
            <a:lstStyle/>
            <a:p>
              <a:pPr algn="ctr">
                <a:defRPr/>
              </a:pPr>
              <a:r>
                <a:rPr lang="en-IN" sz="1200" b="1"/>
                <a:t>Implementation</a:t>
              </a:r>
              <a:endParaRPr lang="en-US" sz="1200" b="1" kern="1200">
                <a:solidFill>
                  <a:schemeClr val="tx2"/>
                </a:solidFill>
                <a:latin typeface="EY interstate"/>
              </a:endParaRPr>
            </a:p>
          </p:txBody>
        </p:sp>
      </p:grpSp>
      <p:grpSp>
        <p:nvGrpSpPr>
          <p:cNvPr id="73" name="Group 72">
            <a:extLst>
              <a:ext uri="{FF2B5EF4-FFF2-40B4-BE49-F238E27FC236}">
                <a16:creationId xmlns:a16="http://schemas.microsoft.com/office/drawing/2014/main" id="{28912FC7-7A8F-C180-6221-4158F6F0987E}"/>
              </a:ext>
            </a:extLst>
          </p:cNvPr>
          <p:cNvGrpSpPr/>
          <p:nvPr/>
        </p:nvGrpSpPr>
        <p:grpSpPr>
          <a:xfrm>
            <a:off x="7853699" y="2132910"/>
            <a:ext cx="1590491" cy="1197864"/>
            <a:chOff x="9666836" y="943710"/>
            <a:chExt cx="1590491" cy="1197864"/>
          </a:xfrm>
        </p:grpSpPr>
        <p:sp>
          <p:nvSpPr>
            <p:cNvPr id="74" name="Oval 73">
              <a:extLst>
                <a:ext uri="{FF2B5EF4-FFF2-40B4-BE49-F238E27FC236}">
                  <a16:creationId xmlns:a16="http://schemas.microsoft.com/office/drawing/2014/main" id="{04CFB5CA-0D77-04E9-ED85-3B75F05E21B3}"/>
                </a:ext>
              </a:extLst>
            </p:cNvPr>
            <p:cNvSpPr/>
            <p:nvPr/>
          </p:nvSpPr>
          <p:spPr>
            <a:xfrm>
              <a:off x="9869382" y="943710"/>
              <a:ext cx="1197864" cy="1197864"/>
            </a:xfrm>
            <a:prstGeom prst="ellipse">
              <a:avLst/>
            </a:prstGeom>
            <a:solidFill>
              <a:schemeClr val="bg2">
                <a:lumMod val="65000"/>
                <a:lumOff val="35000"/>
              </a:schemeClr>
            </a:solidFill>
            <a:ln w="190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75" name="Oval 74">
              <a:extLst>
                <a:ext uri="{FF2B5EF4-FFF2-40B4-BE49-F238E27FC236}">
                  <a16:creationId xmlns:a16="http://schemas.microsoft.com/office/drawing/2014/main" id="{A35670FC-6871-B8CC-822E-CC2DD41B920E}"/>
                </a:ext>
              </a:extLst>
            </p:cNvPr>
            <p:cNvSpPr/>
            <p:nvPr/>
          </p:nvSpPr>
          <p:spPr>
            <a:xfrm>
              <a:off x="9929199" y="1002996"/>
              <a:ext cx="1068378" cy="1068376"/>
            </a:xfrm>
            <a:prstGeom prst="ellipse">
              <a:avLst/>
            </a:prstGeom>
            <a:noFill/>
            <a:ln w="63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76" name="TextBox 75">
              <a:extLst>
                <a:ext uri="{FF2B5EF4-FFF2-40B4-BE49-F238E27FC236}">
                  <a16:creationId xmlns:a16="http://schemas.microsoft.com/office/drawing/2014/main" id="{00E66388-4376-EFC3-B271-BC82192B1F61}"/>
                </a:ext>
              </a:extLst>
            </p:cNvPr>
            <p:cNvSpPr txBox="1"/>
            <p:nvPr/>
          </p:nvSpPr>
          <p:spPr>
            <a:xfrm>
              <a:off x="9666836" y="1136977"/>
              <a:ext cx="1590491" cy="646331"/>
            </a:xfrm>
            <a:prstGeom prst="rect">
              <a:avLst/>
            </a:prstGeom>
            <a:noFill/>
          </p:spPr>
          <p:txBody>
            <a:bodyPr wrap="square" rtlCol="0" anchor="ctr">
              <a:spAutoFit/>
            </a:bodyPr>
            <a:lstStyle/>
            <a:p>
              <a:pPr algn="ctr">
                <a:defRPr/>
              </a:pPr>
              <a:r>
                <a:rPr lang="en-IN" sz="1200" b="1"/>
                <a:t>Change Management &amp; Training</a:t>
              </a:r>
              <a:endParaRPr lang="en-US" sz="1200" b="1" kern="1200">
                <a:solidFill>
                  <a:schemeClr val="tx2"/>
                </a:solidFill>
                <a:latin typeface="EY interstate"/>
              </a:endParaRPr>
            </a:p>
          </p:txBody>
        </p:sp>
      </p:grpSp>
      <p:grpSp>
        <p:nvGrpSpPr>
          <p:cNvPr id="46" name="Group 45">
            <a:extLst>
              <a:ext uri="{FF2B5EF4-FFF2-40B4-BE49-F238E27FC236}">
                <a16:creationId xmlns:a16="http://schemas.microsoft.com/office/drawing/2014/main" id="{49BC783A-47B3-DC36-5024-42558C3DAA8A}"/>
              </a:ext>
            </a:extLst>
          </p:cNvPr>
          <p:cNvGrpSpPr/>
          <p:nvPr/>
        </p:nvGrpSpPr>
        <p:grpSpPr>
          <a:xfrm>
            <a:off x="10135525" y="1881714"/>
            <a:ext cx="1316121" cy="1197864"/>
            <a:chOff x="9805327" y="943710"/>
            <a:chExt cx="1316121" cy="1197864"/>
          </a:xfrm>
        </p:grpSpPr>
        <p:sp>
          <p:nvSpPr>
            <p:cNvPr id="47" name="Oval 46">
              <a:extLst>
                <a:ext uri="{FF2B5EF4-FFF2-40B4-BE49-F238E27FC236}">
                  <a16:creationId xmlns:a16="http://schemas.microsoft.com/office/drawing/2014/main" id="{A1FE254F-5144-6EED-6079-FCA62B3D908D}"/>
                </a:ext>
              </a:extLst>
            </p:cNvPr>
            <p:cNvSpPr/>
            <p:nvPr/>
          </p:nvSpPr>
          <p:spPr>
            <a:xfrm>
              <a:off x="9869382" y="943710"/>
              <a:ext cx="1197864" cy="1197864"/>
            </a:xfrm>
            <a:prstGeom prst="ellipse">
              <a:avLst/>
            </a:prstGeom>
            <a:solidFill>
              <a:schemeClr val="bg2">
                <a:lumMod val="65000"/>
                <a:lumOff val="35000"/>
              </a:schemeClr>
            </a:solidFill>
            <a:ln w="190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48" name="Oval 47">
              <a:extLst>
                <a:ext uri="{FF2B5EF4-FFF2-40B4-BE49-F238E27FC236}">
                  <a16:creationId xmlns:a16="http://schemas.microsoft.com/office/drawing/2014/main" id="{F60D6729-F3BC-1799-99BA-AA08256D7B7E}"/>
                </a:ext>
              </a:extLst>
            </p:cNvPr>
            <p:cNvSpPr/>
            <p:nvPr/>
          </p:nvSpPr>
          <p:spPr>
            <a:xfrm>
              <a:off x="9929199" y="1002996"/>
              <a:ext cx="1068378" cy="1068376"/>
            </a:xfrm>
            <a:prstGeom prst="ellipse">
              <a:avLst/>
            </a:prstGeom>
            <a:noFill/>
            <a:ln w="6350" cap="flat" cmpd="sng" algn="ctr">
              <a:solidFill>
                <a:schemeClr val="tx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EY interstate"/>
              </a:endParaRPr>
            </a:p>
          </p:txBody>
        </p:sp>
        <p:sp>
          <p:nvSpPr>
            <p:cNvPr id="49" name="TextBox 48">
              <a:extLst>
                <a:ext uri="{FF2B5EF4-FFF2-40B4-BE49-F238E27FC236}">
                  <a16:creationId xmlns:a16="http://schemas.microsoft.com/office/drawing/2014/main" id="{9D66EAAD-B377-E78D-081A-CB2E2EC386BD}"/>
                </a:ext>
              </a:extLst>
            </p:cNvPr>
            <p:cNvSpPr txBox="1"/>
            <p:nvPr/>
          </p:nvSpPr>
          <p:spPr>
            <a:xfrm>
              <a:off x="9805327" y="1207179"/>
              <a:ext cx="1316121" cy="646331"/>
            </a:xfrm>
            <a:prstGeom prst="rect">
              <a:avLst/>
            </a:prstGeom>
            <a:noFill/>
          </p:spPr>
          <p:txBody>
            <a:bodyPr wrap="square" rtlCol="0" anchor="ctr">
              <a:spAutoFit/>
            </a:bodyPr>
            <a:lstStyle/>
            <a:p>
              <a:pPr algn="ctr">
                <a:defRPr/>
              </a:pPr>
              <a:r>
                <a:rPr lang="en-IN" sz="1200" b="1"/>
                <a:t>Post-Go-Live Support &amp; Governance</a:t>
              </a:r>
              <a:endParaRPr lang="en-US" sz="1200" b="1" kern="1200">
                <a:solidFill>
                  <a:schemeClr val="tx2"/>
                </a:solidFill>
                <a:latin typeface="EY interstate"/>
              </a:endParaRPr>
            </a:p>
          </p:txBody>
        </p:sp>
      </p:grpSp>
      <p:sp>
        <p:nvSpPr>
          <p:cNvPr id="77" name="Freeform 44">
            <a:extLst>
              <a:ext uri="{FF2B5EF4-FFF2-40B4-BE49-F238E27FC236}">
                <a16:creationId xmlns:a16="http://schemas.microsoft.com/office/drawing/2014/main" id="{002BFD28-08B9-E7AF-F5CF-D28C5063BA8C}"/>
              </a:ext>
            </a:extLst>
          </p:cNvPr>
          <p:cNvSpPr>
            <a:spLocks/>
          </p:cNvSpPr>
          <p:nvPr/>
        </p:nvSpPr>
        <p:spPr bwMode="auto">
          <a:xfrm rot="16200000">
            <a:off x="10688773" y="3498940"/>
            <a:ext cx="2391550" cy="484155"/>
          </a:xfrm>
          <a:prstGeom prst="chevron">
            <a:avLst/>
          </a:prstGeom>
          <a:gradFill flip="none" rotWithShape="1">
            <a:gsLst>
              <a:gs pos="0">
                <a:schemeClr val="accent4">
                  <a:lumMod val="5000"/>
                  <a:lumOff val="95000"/>
                </a:schemeClr>
              </a:gs>
              <a:gs pos="0">
                <a:srgbClr val="FFE600"/>
              </a:gs>
              <a:gs pos="36000">
                <a:srgbClr val="99FF66"/>
              </a:gs>
              <a:gs pos="100000">
                <a:schemeClr val="accent6">
                  <a:lumMod val="20000"/>
                  <a:lumOff val="80000"/>
                </a:schemeClr>
              </a:gs>
            </a:gsLst>
            <a:path path="circle">
              <a:fillToRect l="100000" t="100000"/>
            </a:path>
            <a:tileRect r="-100000" b="-100000"/>
          </a:gradFill>
          <a:ln w="19050" cap="rnd" cmpd="sng">
            <a:solidFill>
              <a:schemeClr val="bg1"/>
            </a:solidFill>
            <a:prstDash val="solid"/>
            <a:round/>
            <a:headEnd type="none" w="med" len="med"/>
            <a:tailEnd type="none" w="med" len="med"/>
          </a:ln>
          <a:effectLst/>
        </p:spPr>
        <p:txBody>
          <a:bodyPr lIns="182880" rIns="45696"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EY interstate"/>
              </a:rPr>
              <a:t>Harmonization and Consolidation</a:t>
            </a:r>
          </a:p>
        </p:txBody>
      </p:sp>
      <p:graphicFrame>
        <p:nvGraphicFramePr>
          <p:cNvPr id="13" name="Table 149">
            <a:extLst>
              <a:ext uri="{FF2B5EF4-FFF2-40B4-BE49-F238E27FC236}">
                <a16:creationId xmlns:a16="http://schemas.microsoft.com/office/drawing/2014/main" id="{E329ECF8-3623-8BE0-5265-36AFD369CD11}"/>
              </a:ext>
            </a:extLst>
          </p:cNvPr>
          <p:cNvGraphicFramePr>
            <a:graphicFrameLocks noGrp="1"/>
          </p:cNvGraphicFramePr>
          <p:nvPr>
            <p:extLst>
              <p:ext uri="{D42A27DB-BD31-4B8C-83A1-F6EECF244321}">
                <p14:modId xmlns:p14="http://schemas.microsoft.com/office/powerpoint/2010/main" val="1080645568"/>
              </p:ext>
            </p:extLst>
          </p:nvPr>
        </p:nvGraphicFramePr>
        <p:xfrm>
          <a:off x="54768" y="2406888"/>
          <a:ext cx="1682145" cy="1197864"/>
        </p:xfrm>
        <a:graphic>
          <a:graphicData uri="http://schemas.openxmlformats.org/drawingml/2006/table">
            <a:tbl>
              <a:tblPr firstRow="1" bandRow="1">
                <a:tableStyleId>{5C22544A-7EE6-4342-B048-85BDC9FD1C3A}</a:tableStyleId>
              </a:tblPr>
              <a:tblGrid>
                <a:gridCol w="1682145">
                  <a:extLst>
                    <a:ext uri="{9D8B030D-6E8A-4147-A177-3AD203B41FA5}">
                      <a16:colId xmlns:a16="http://schemas.microsoft.com/office/drawing/2014/main" val="3196103460"/>
                    </a:ext>
                  </a:extLst>
                </a:gridCol>
              </a:tblGrid>
              <a:tr h="302235">
                <a:tc>
                  <a:txBody>
                    <a:bodyPr/>
                    <a:lstStyle/>
                    <a:p>
                      <a:pPr algn="ctr"/>
                      <a:r>
                        <a:rPr lang="en-US" sz="1400" b="1">
                          <a:solidFill>
                            <a:schemeClr val="tx1"/>
                          </a:solidFill>
                          <a:latin typeface="EY interstate"/>
                        </a:rPr>
                        <a:t>Phase 1</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895629">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Stakeholder Alignment</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Current State Analysis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Define Harmonization Goals</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aphicFrame>
        <p:nvGraphicFramePr>
          <p:cNvPr id="14" name="Table 149">
            <a:extLst>
              <a:ext uri="{FF2B5EF4-FFF2-40B4-BE49-F238E27FC236}">
                <a16:creationId xmlns:a16="http://schemas.microsoft.com/office/drawing/2014/main" id="{6D4174B5-BFE4-727C-332D-92ED497D17C3}"/>
              </a:ext>
            </a:extLst>
          </p:cNvPr>
          <p:cNvGraphicFramePr>
            <a:graphicFrameLocks noGrp="1"/>
          </p:cNvGraphicFramePr>
          <p:nvPr>
            <p:extLst>
              <p:ext uri="{D42A27DB-BD31-4B8C-83A1-F6EECF244321}">
                <p14:modId xmlns:p14="http://schemas.microsoft.com/office/powerpoint/2010/main" val="2258547580"/>
              </p:ext>
            </p:extLst>
          </p:nvPr>
        </p:nvGraphicFramePr>
        <p:xfrm>
          <a:off x="2973727" y="4896551"/>
          <a:ext cx="1720749" cy="1049719"/>
        </p:xfrm>
        <a:graphic>
          <a:graphicData uri="http://schemas.openxmlformats.org/drawingml/2006/table">
            <a:tbl>
              <a:tblPr firstRow="1" bandRow="1">
                <a:tableStyleId>{5C22544A-7EE6-4342-B048-85BDC9FD1C3A}</a:tableStyleId>
              </a:tblPr>
              <a:tblGrid>
                <a:gridCol w="1720749">
                  <a:extLst>
                    <a:ext uri="{9D8B030D-6E8A-4147-A177-3AD203B41FA5}">
                      <a16:colId xmlns:a16="http://schemas.microsoft.com/office/drawing/2014/main" val="3196103460"/>
                    </a:ext>
                  </a:extLst>
                </a:gridCol>
              </a:tblGrid>
              <a:tr h="263739">
                <a:tc>
                  <a:txBody>
                    <a:bodyPr/>
                    <a:lstStyle/>
                    <a:p>
                      <a:pPr algn="ctr"/>
                      <a:r>
                        <a:rPr lang="en-US" sz="1400" b="1">
                          <a:solidFill>
                            <a:schemeClr val="tx1"/>
                          </a:solidFill>
                          <a:latin typeface="EY interstate"/>
                        </a:rPr>
                        <a:t>Phase 2</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781551">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Design Principles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Standard CoA Structure</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Mapping Rules</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aphicFrame>
        <p:nvGraphicFramePr>
          <p:cNvPr id="15" name="Table 149">
            <a:extLst>
              <a:ext uri="{FF2B5EF4-FFF2-40B4-BE49-F238E27FC236}">
                <a16:creationId xmlns:a16="http://schemas.microsoft.com/office/drawing/2014/main" id="{81AAF3E1-89B1-09D1-3AE2-2B6C0896D67E}"/>
              </a:ext>
            </a:extLst>
          </p:cNvPr>
          <p:cNvGraphicFramePr>
            <a:graphicFrameLocks noGrp="1"/>
          </p:cNvGraphicFramePr>
          <p:nvPr>
            <p:extLst>
              <p:ext uri="{D42A27DB-BD31-4B8C-83A1-F6EECF244321}">
                <p14:modId xmlns:p14="http://schemas.microsoft.com/office/powerpoint/2010/main" val="2458286106"/>
              </p:ext>
            </p:extLst>
          </p:nvPr>
        </p:nvGraphicFramePr>
        <p:xfrm>
          <a:off x="5528919" y="1421857"/>
          <a:ext cx="1537381" cy="1057877"/>
        </p:xfrm>
        <a:graphic>
          <a:graphicData uri="http://schemas.openxmlformats.org/drawingml/2006/table">
            <a:tbl>
              <a:tblPr firstRow="1" bandRow="1">
                <a:tableStyleId>{5C22544A-7EE6-4342-B048-85BDC9FD1C3A}</a:tableStyleId>
              </a:tblPr>
              <a:tblGrid>
                <a:gridCol w="1537381">
                  <a:extLst>
                    <a:ext uri="{9D8B030D-6E8A-4147-A177-3AD203B41FA5}">
                      <a16:colId xmlns:a16="http://schemas.microsoft.com/office/drawing/2014/main" val="3196103460"/>
                    </a:ext>
                  </a:extLst>
                </a:gridCol>
              </a:tblGrid>
              <a:tr h="266492">
                <a:tc>
                  <a:txBody>
                    <a:bodyPr/>
                    <a:lstStyle/>
                    <a:p>
                      <a:pPr algn="ctr"/>
                      <a:r>
                        <a:rPr lang="en-US" sz="1400" b="1">
                          <a:solidFill>
                            <a:schemeClr val="tx1"/>
                          </a:solidFill>
                          <a:latin typeface="EY interstate"/>
                        </a:rPr>
                        <a:t>Phase 3</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789709">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System Configuration</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Data Migration</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Testing</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aphicFrame>
        <p:nvGraphicFramePr>
          <p:cNvPr id="16" name="Table 149">
            <a:extLst>
              <a:ext uri="{FF2B5EF4-FFF2-40B4-BE49-F238E27FC236}">
                <a16:creationId xmlns:a16="http://schemas.microsoft.com/office/drawing/2014/main" id="{EA60C1A4-6590-F9A3-9467-8B4F162B80D0}"/>
              </a:ext>
            </a:extLst>
          </p:cNvPr>
          <p:cNvGraphicFramePr>
            <a:graphicFrameLocks noGrp="1"/>
          </p:cNvGraphicFramePr>
          <p:nvPr>
            <p:extLst>
              <p:ext uri="{D42A27DB-BD31-4B8C-83A1-F6EECF244321}">
                <p14:modId xmlns:p14="http://schemas.microsoft.com/office/powerpoint/2010/main" val="1936741052"/>
              </p:ext>
            </p:extLst>
          </p:nvPr>
        </p:nvGraphicFramePr>
        <p:xfrm>
          <a:off x="8038903" y="3407422"/>
          <a:ext cx="1504043" cy="1068327"/>
        </p:xfrm>
        <a:graphic>
          <a:graphicData uri="http://schemas.openxmlformats.org/drawingml/2006/table">
            <a:tbl>
              <a:tblPr firstRow="1" bandRow="1">
                <a:tableStyleId>{5C22544A-7EE6-4342-B048-85BDC9FD1C3A}</a:tableStyleId>
              </a:tblPr>
              <a:tblGrid>
                <a:gridCol w="1504043">
                  <a:extLst>
                    <a:ext uri="{9D8B030D-6E8A-4147-A177-3AD203B41FA5}">
                      <a16:colId xmlns:a16="http://schemas.microsoft.com/office/drawing/2014/main" val="3196103460"/>
                    </a:ext>
                  </a:extLst>
                </a:gridCol>
              </a:tblGrid>
              <a:tr h="269551">
                <a:tc>
                  <a:txBody>
                    <a:bodyPr/>
                    <a:lstStyle/>
                    <a:p>
                      <a:pPr algn="ctr"/>
                      <a:r>
                        <a:rPr lang="en-US" sz="1400" b="1">
                          <a:solidFill>
                            <a:schemeClr val="tx1"/>
                          </a:solidFill>
                          <a:latin typeface="EY interstate"/>
                        </a:rPr>
                        <a:t>Phase 4</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798776">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Training Programs</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Documentation</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Communication</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graphicFrame>
        <p:nvGraphicFramePr>
          <p:cNvPr id="17" name="Table 149">
            <a:extLst>
              <a:ext uri="{FF2B5EF4-FFF2-40B4-BE49-F238E27FC236}">
                <a16:creationId xmlns:a16="http://schemas.microsoft.com/office/drawing/2014/main" id="{5FA21C02-48A6-D866-FE39-056BC36ADA47}"/>
              </a:ext>
            </a:extLst>
          </p:cNvPr>
          <p:cNvGraphicFramePr>
            <a:graphicFrameLocks noGrp="1"/>
          </p:cNvGraphicFramePr>
          <p:nvPr>
            <p:extLst>
              <p:ext uri="{D42A27DB-BD31-4B8C-83A1-F6EECF244321}">
                <p14:modId xmlns:p14="http://schemas.microsoft.com/office/powerpoint/2010/main" val="2628802338"/>
              </p:ext>
            </p:extLst>
          </p:nvPr>
        </p:nvGraphicFramePr>
        <p:xfrm>
          <a:off x="9912325" y="976981"/>
          <a:ext cx="1801019" cy="885034"/>
        </p:xfrm>
        <a:graphic>
          <a:graphicData uri="http://schemas.openxmlformats.org/drawingml/2006/table">
            <a:tbl>
              <a:tblPr firstRow="1" bandRow="1">
                <a:tableStyleId>{5C22544A-7EE6-4342-B048-85BDC9FD1C3A}</a:tableStyleId>
              </a:tblPr>
              <a:tblGrid>
                <a:gridCol w="1801019">
                  <a:extLst>
                    <a:ext uri="{9D8B030D-6E8A-4147-A177-3AD203B41FA5}">
                      <a16:colId xmlns:a16="http://schemas.microsoft.com/office/drawing/2014/main" val="3196103460"/>
                    </a:ext>
                  </a:extLst>
                </a:gridCol>
              </a:tblGrid>
              <a:tr h="213129">
                <a:tc>
                  <a:txBody>
                    <a:bodyPr/>
                    <a:lstStyle/>
                    <a:p>
                      <a:pPr algn="ctr"/>
                      <a:r>
                        <a:rPr lang="en-US" sz="1400" b="1">
                          <a:solidFill>
                            <a:schemeClr val="tx1"/>
                          </a:solidFill>
                          <a:latin typeface="EY interstate"/>
                        </a:rPr>
                        <a:t>Phase 5</a:t>
                      </a:r>
                    </a:p>
                  </a:txBody>
                  <a:tcPr marL="0" marR="0" marT="27404" marB="27404">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E600"/>
                    </a:solidFill>
                  </a:tcPr>
                </a:tc>
                <a:extLst>
                  <a:ext uri="{0D108BD9-81ED-4DB2-BD59-A6C34878D82A}">
                    <a16:rowId xmlns:a16="http://schemas.microsoft.com/office/drawing/2014/main" val="1397996582"/>
                  </a:ext>
                </a:extLst>
              </a:tr>
              <a:tr h="616866">
                <a:tc>
                  <a:txBody>
                    <a:bodyPr/>
                    <a:lstStyle/>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IN" sz="1100" b="0" kern="0">
                          <a:solidFill>
                            <a:schemeClr val="bg1"/>
                          </a:solidFill>
                          <a:latin typeface="EY interstate"/>
                        </a:rPr>
                        <a:t>Hypercare</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Governance Model</a:t>
                      </a:r>
                    </a:p>
                    <a:p>
                      <a:pPr marL="182789" marR="140852" lvl="0" indent="-182789" algn="l" defTabSz="910129">
                        <a:spcBef>
                          <a:spcPts val="100"/>
                        </a:spcBef>
                        <a:spcAft>
                          <a:spcPts val="100"/>
                        </a:spcAft>
                        <a:buClr>
                          <a:srgbClr val="FFFF00"/>
                        </a:buClr>
                        <a:buSzPct val="100000"/>
                        <a:buFont typeface="Wingdings" panose="05000000000000000000" pitchFamily="2" charset="2"/>
                        <a:buChar char="§"/>
                        <a:defRPr/>
                      </a:pPr>
                      <a:r>
                        <a:rPr lang="en-US" sz="1100" b="0" kern="0">
                          <a:solidFill>
                            <a:schemeClr val="bg1"/>
                          </a:solidFill>
                          <a:latin typeface="EY interstate"/>
                        </a:rPr>
                        <a:t>Continuous Improvement</a:t>
                      </a:r>
                    </a:p>
                  </a:txBody>
                  <a:tcPr marL="0" marR="0" marT="27404" marB="2740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623525"/>
                  </a:ext>
                </a:extLst>
              </a:tr>
            </a:tbl>
          </a:graphicData>
        </a:graphic>
      </p:graphicFrame>
      <p:sp>
        <p:nvSpPr>
          <p:cNvPr id="22" name="TextBox 21">
            <a:extLst>
              <a:ext uri="{FF2B5EF4-FFF2-40B4-BE49-F238E27FC236}">
                <a16:creationId xmlns:a16="http://schemas.microsoft.com/office/drawing/2014/main" id="{CF3E6C71-B1D7-FCED-05BA-39D286316F6F}"/>
              </a:ext>
            </a:extLst>
          </p:cNvPr>
          <p:cNvSpPr txBox="1"/>
          <p:nvPr/>
        </p:nvSpPr>
        <p:spPr>
          <a:xfrm>
            <a:off x="9331191" y="5034597"/>
            <a:ext cx="2628914" cy="1200329"/>
          </a:xfrm>
          <a:prstGeom prst="rect">
            <a:avLst/>
          </a:prstGeom>
          <a:noFill/>
          <a:ln>
            <a:solidFill>
              <a:schemeClr val="bg1"/>
            </a:solidFill>
          </a:ln>
        </p:spPr>
        <p:txBody>
          <a:bodyPr wrap="square" rtlCol="0">
            <a:spAutoFit/>
          </a:bodyPr>
          <a:lstStyle/>
          <a:p>
            <a:r>
              <a:rPr lang="en-IN" sz="1400">
                <a:solidFill>
                  <a:schemeClr val="bg1"/>
                </a:solidFill>
                <a:latin typeface="EY interstate"/>
              </a:rPr>
              <a:t>Successful harmonization Metrics:</a:t>
            </a:r>
          </a:p>
          <a:p>
            <a:pPr marL="285750" indent="-285750">
              <a:buClr>
                <a:srgbClr val="FFE600"/>
              </a:buClr>
              <a:buFont typeface="Wingdings" panose="05000000000000000000" pitchFamily="2" charset="2"/>
              <a:buChar char="§"/>
            </a:pPr>
            <a:r>
              <a:rPr lang="en-IN" sz="1100">
                <a:solidFill>
                  <a:schemeClr val="bg1"/>
                </a:solidFill>
                <a:latin typeface="EY interstate"/>
              </a:rPr>
              <a:t>Reduction in GL accounts by X%</a:t>
            </a:r>
          </a:p>
          <a:p>
            <a:pPr marL="285750" indent="-285750">
              <a:buClr>
                <a:srgbClr val="FFE600"/>
              </a:buClr>
              <a:buFont typeface="Wingdings" panose="05000000000000000000" pitchFamily="2" charset="2"/>
              <a:buChar char="§"/>
            </a:pPr>
            <a:r>
              <a:rPr lang="en-IN" sz="1100">
                <a:solidFill>
                  <a:schemeClr val="bg1"/>
                </a:solidFill>
                <a:latin typeface="EY interstate"/>
              </a:rPr>
              <a:t>Improved reporting cycle time</a:t>
            </a:r>
          </a:p>
          <a:p>
            <a:pPr marL="285750" indent="-285750">
              <a:buClr>
                <a:srgbClr val="FFE600"/>
              </a:buClr>
              <a:buFont typeface="Wingdings" panose="05000000000000000000" pitchFamily="2" charset="2"/>
              <a:buChar char="§"/>
            </a:pPr>
            <a:r>
              <a:rPr lang="en-IN" sz="1100">
                <a:solidFill>
                  <a:schemeClr val="bg1"/>
                </a:solidFill>
                <a:latin typeface="EY interstate"/>
              </a:rPr>
              <a:t>Enhanced audit readiness</a:t>
            </a:r>
          </a:p>
          <a:p>
            <a:pPr marL="285750" indent="-285750">
              <a:buClr>
                <a:srgbClr val="FFE600"/>
              </a:buClr>
              <a:buFont typeface="Wingdings" panose="05000000000000000000" pitchFamily="2" charset="2"/>
              <a:buChar char="§"/>
            </a:pPr>
            <a:r>
              <a:rPr lang="en-IN" sz="1100">
                <a:solidFill>
                  <a:schemeClr val="bg1"/>
                </a:solidFill>
                <a:latin typeface="EY interstate"/>
              </a:rPr>
              <a:t>Increased user satisfaction</a:t>
            </a:r>
          </a:p>
        </p:txBody>
      </p:sp>
    </p:spTree>
    <p:extLst>
      <p:ext uri="{BB962C8B-B14F-4D97-AF65-F5344CB8AC3E}">
        <p14:creationId xmlns:p14="http://schemas.microsoft.com/office/powerpoint/2010/main" val="311062117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2B1A33-8048-8A85-782D-081200C940EF}"/>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1148DACC-A67A-7EB4-8CC4-BF1D06DD0D6E}"/>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52AB02E6-2E72-7B3A-CDF7-B728E8462E76}"/>
              </a:ext>
            </a:extLst>
          </p:cNvPr>
          <p:cNvSpPr txBox="1"/>
          <p:nvPr/>
        </p:nvSpPr>
        <p:spPr>
          <a:xfrm>
            <a:off x="929639" y="2181301"/>
            <a:ext cx="4503620" cy="1446550"/>
          </a:xfrm>
          <a:prstGeom prst="rect">
            <a:avLst/>
          </a:prstGeom>
          <a:noFill/>
        </p:spPr>
        <p:txBody>
          <a:bodyPr wrap="square" rtlCol="0">
            <a:spAutoFit/>
          </a:bodyPr>
          <a:lstStyle/>
          <a:p>
            <a:r>
              <a:rPr lang="en-IN" sz="4400">
                <a:solidFill>
                  <a:srgbClr val="FFE600"/>
                </a:solidFill>
                <a:latin typeface="EYInterstate" panose="02000503020000020004" pitchFamily="2" charset="0"/>
              </a:rPr>
              <a:t>Fixed Assets Accounting</a:t>
            </a:r>
          </a:p>
        </p:txBody>
      </p:sp>
    </p:spTree>
    <p:extLst>
      <p:ext uri="{BB962C8B-B14F-4D97-AF65-F5344CB8AC3E}">
        <p14:creationId xmlns:p14="http://schemas.microsoft.com/office/powerpoint/2010/main" val="251187271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75776E-71B2-9063-7B29-C13508D6AD65}"/>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3A5381E7-8E80-A3F5-904F-016A33D704A6}"/>
              </a:ext>
            </a:extLst>
          </p:cNvPr>
          <p:cNvSpPr>
            <a:spLocks noGrp="1"/>
          </p:cNvSpPr>
          <p:nvPr>
            <p:ph idx="4294967295"/>
          </p:nvPr>
        </p:nvSpPr>
        <p:spPr>
          <a:xfrm>
            <a:off x="520995" y="1072687"/>
            <a:ext cx="11231171" cy="624187"/>
          </a:xfrm>
          <a:noFill/>
          <a:ln w="19050">
            <a:noFill/>
          </a:ln>
        </p:spPr>
        <p:txBody>
          <a:bodyPr/>
          <a:lstStyle/>
          <a:p>
            <a:pPr marL="0" indent="0">
              <a:buNone/>
            </a:pPr>
            <a:r>
              <a:rPr lang="en-IN" sz="1600" b="1" i="1" dirty="0">
                <a:solidFill>
                  <a:srgbClr val="FFE600"/>
                </a:solidFill>
              </a:rPr>
              <a:t>Fixed assets </a:t>
            </a:r>
            <a:r>
              <a:rPr lang="en-IN" sz="1600" b="1" i="1" dirty="0"/>
              <a:t>are long-term tangible and intangible resources owned by an organization, utilized in the production of goods and services. They are not intended for sale in the ordinary course of business</a:t>
            </a:r>
            <a:endParaRPr lang="en-IN" sz="1600" b="1" i="1" dirty="0">
              <a:solidFill>
                <a:srgbClr val="FFE600"/>
              </a:solidFill>
            </a:endParaRPr>
          </a:p>
          <a:p>
            <a:pPr marL="0" indent="0">
              <a:buNone/>
            </a:pPr>
            <a:r>
              <a:rPr lang="en-IN" sz="1600" b="1" i="1" dirty="0">
                <a:solidFill>
                  <a:srgbClr val="FFE600"/>
                </a:solidFill>
              </a:rPr>
              <a:t>Fixed Assets Usage </a:t>
            </a:r>
            <a:endParaRPr lang="en-IN" sz="1600" i="1" dirty="0">
              <a:solidFill>
                <a:srgbClr val="FFE600"/>
              </a:solidFill>
            </a:endParaRPr>
          </a:p>
          <a:p>
            <a:r>
              <a:rPr lang="en-IN" sz="1600" b="1" i="1" dirty="0"/>
              <a:t>Operational Efficiency: </a:t>
            </a:r>
            <a:r>
              <a:rPr lang="en-IN" sz="1600" i="1" dirty="0"/>
              <a:t>Critical for maintaining smooth operations and enhancing productivity.</a:t>
            </a:r>
          </a:p>
          <a:p>
            <a:r>
              <a:rPr lang="en-IN" sz="1600" b="1" i="1" dirty="0"/>
              <a:t>Financial Health: </a:t>
            </a:r>
            <a:r>
              <a:rPr lang="en-IN" sz="1600" i="1" dirty="0"/>
              <a:t>Significant portion of total assets, impacting profitability and investment decisions.</a:t>
            </a:r>
          </a:p>
          <a:p>
            <a:r>
              <a:rPr lang="en-IN" sz="1600" b="1" i="1" dirty="0"/>
              <a:t>Strategic Planning: </a:t>
            </a:r>
            <a:r>
              <a:rPr lang="en-IN" sz="1600" i="1" dirty="0"/>
              <a:t>Essential for informed decision-making regarding capital budgeting and resource allocation</a:t>
            </a:r>
          </a:p>
          <a:p>
            <a:pPr marL="0" indent="0">
              <a:buNone/>
            </a:pPr>
            <a:endParaRPr lang="en-IN" sz="1600" b="1" i="1" dirty="0">
              <a:solidFill>
                <a:schemeClr val="bg1"/>
              </a:solidFill>
              <a:latin typeface="EYInterstate" panose="02000503020000020004" pitchFamily="2" charset="0"/>
            </a:endParaRPr>
          </a:p>
        </p:txBody>
      </p:sp>
      <p:sp>
        <p:nvSpPr>
          <p:cNvPr id="3" name="TextBox 2">
            <a:extLst>
              <a:ext uri="{FF2B5EF4-FFF2-40B4-BE49-F238E27FC236}">
                <a16:creationId xmlns:a16="http://schemas.microsoft.com/office/drawing/2014/main" id="{E3E91066-1CAE-2CA9-397E-6E032B5787E3}"/>
              </a:ext>
            </a:extLst>
          </p:cNvPr>
          <p:cNvSpPr txBox="1"/>
          <p:nvPr/>
        </p:nvSpPr>
        <p:spPr>
          <a:xfrm>
            <a:off x="609600" y="431800"/>
            <a:ext cx="10893551" cy="369332"/>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Fixed asset Overview</a:t>
            </a:r>
          </a:p>
        </p:txBody>
      </p:sp>
      <p:grpSp>
        <p:nvGrpSpPr>
          <p:cNvPr id="13" name="Group 12">
            <a:extLst>
              <a:ext uri="{FF2B5EF4-FFF2-40B4-BE49-F238E27FC236}">
                <a16:creationId xmlns:a16="http://schemas.microsoft.com/office/drawing/2014/main" id="{0F0EBE74-FB5B-5611-39C0-D76D72A689F3}"/>
              </a:ext>
            </a:extLst>
          </p:cNvPr>
          <p:cNvGrpSpPr/>
          <p:nvPr/>
        </p:nvGrpSpPr>
        <p:grpSpPr>
          <a:xfrm>
            <a:off x="6713367" y="3429000"/>
            <a:ext cx="4890368" cy="2676769"/>
            <a:chOff x="0" y="3616864"/>
            <a:chExt cx="4890368" cy="2676769"/>
          </a:xfrm>
        </p:grpSpPr>
        <p:graphicFrame>
          <p:nvGraphicFramePr>
            <p:cNvPr id="4" name="Diagram 3">
              <a:extLst>
                <a:ext uri="{FF2B5EF4-FFF2-40B4-BE49-F238E27FC236}">
                  <a16:creationId xmlns:a16="http://schemas.microsoft.com/office/drawing/2014/main" id="{8E0BD266-4E70-4837-3637-DEF8108D30CD}"/>
                </a:ext>
              </a:extLst>
            </p:cNvPr>
            <p:cNvGraphicFramePr/>
            <p:nvPr/>
          </p:nvGraphicFramePr>
          <p:xfrm>
            <a:off x="0" y="4053676"/>
            <a:ext cx="4045777" cy="223995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TextBox 5">
              <a:extLst>
                <a:ext uri="{FF2B5EF4-FFF2-40B4-BE49-F238E27FC236}">
                  <a16:creationId xmlns:a16="http://schemas.microsoft.com/office/drawing/2014/main" id="{9B9ADC04-18BC-2F6F-DF7B-4FF66CBAA56C}"/>
                </a:ext>
              </a:extLst>
            </p:cNvPr>
            <p:cNvSpPr txBox="1"/>
            <p:nvPr/>
          </p:nvSpPr>
          <p:spPr>
            <a:xfrm>
              <a:off x="1449320" y="3616864"/>
              <a:ext cx="3147745" cy="369332"/>
            </a:xfrm>
            <a:prstGeom prst="rect">
              <a:avLst/>
            </a:prstGeom>
            <a:noFill/>
            <a:ln>
              <a:noFill/>
            </a:ln>
          </p:spPr>
          <p:txBody>
            <a:bodyPr vert="horz" wrap="square" lIns="0" tIns="0" rIns="0" bIns="0" rtlCol="0" anchor="t" anchorCtr="0" compatLnSpc="1">
              <a:noAutofit/>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0" i="0" u="none" strike="noStrike" cap="none" spc="0" baseline="0">
                  <a:solidFill>
                    <a:srgbClr val="FFE600"/>
                  </a:solidFill>
                  <a:uFillTx/>
                  <a:latin typeface="EY interstate"/>
                </a:defRPr>
              </a:lvl1pPr>
            </a:lstStyle>
            <a:p>
              <a:r>
                <a:rPr lang="en-IN" sz="1600" b="1">
                  <a:solidFill>
                    <a:srgbClr val="FFFF00"/>
                  </a:solidFill>
                  <a:latin typeface="EYInterstate Light" panose="02000506000000020004" pitchFamily="2" charset="0"/>
                </a:rPr>
                <a:t>Accounting Treatment</a:t>
              </a:r>
            </a:p>
          </p:txBody>
        </p:sp>
        <p:sp>
          <p:nvSpPr>
            <p:cNvPr id="7" name="TextBox 6">
              <a:extLst>
                <a:ext uri="{FF2B5EF4-FFF2-40B4-BE49-F238E27FC236}">
                  <a16:creationId xmlns:a16="http://schemas.microsoft.com/office/drawing/2014/main" id="{4B99D91D-21E4-FDE1-A31F-656A8FF7FE67}"/>
                </a:ext>
              </a:extLst>
            </p:cNvPr>
            <p:cNvSpPr txBox="1"/>
            <p:nvPr/>
          </p:nvSpPr>
          <p:spPr>
            <a:xfrm>
              <a:off x="1627698" y="4053676"/>
              <a:ext cx="1989702" cy="507831"/>
            </a:xfrm>
            <a:prstGeom prst="rect">
              <a:avLst/>
            </a:prstGeom>
            <a:noFill/>
          </p:spPr>
          <p:txBody>
            <a:bodyPr wrap="square" rtlCol="0">
              <a:spAutoFit/>
            </a:bodyPr>
            <a:lstStyle/>
            <a:p>
              <a:r>
                <a:rPr lang="en-IN" sz="900" dirty="0">
                  <a:solidFill>
                    <a:schemeClr val="bg1"/>
                  </a:solidFill>
                  <a:latin typeface="EYInterstate Light" panose="02000506000000020004" pitchFamily="2" charset="0"/>
                </a:rPr>
                <a:t>At cost (purchase price + directly attributable costs)</a:t>
              </a:r>
              <a:endParaRPr lang="en-IN" sz="900" dirty="0">
                <a:latin typeface="EYInterstate Light" panose="02000506000000020004" pitchFamily="2" charset="0"/>
              </a:endParaRPr>
            </a:p>
            <a:p>
              <a:endParaRPr lang="en-IN" sz="900" dirty="0">
                <a:latin typeface="EYInterstate Light" panose="02000506000000020004" pitchFamily="2" charset="0"/>
              </a:endParaRPr>
            </a:p>
          </p:txBody>
        </p:sp>
        <p:sp>
          <p:nvSpPr>
            <p:cNvPr id="10" name="TextBox 9">
              <a:extLst>
                <a:ext uri="{FF2B5EF4-FFF2-40B4-BE49-F238E27FC236}">
                  <a16:creationId xmlns:a16="http://schemas.microsoft.com/office/drawing/2014/main" id="{A881E53B-9A63-A1CD-3FEB-1596ADBE4A33}"/>
                </a:ext>
              </a:extLst>
            </p:cNvPr>
            <p:cNvSpPr txBox="1"/>
            <p:nvPr/>
          </p:nvSpPr>
          <p:spPr>
            <a:xfrm>
              <a:off x="3290804" y="5865708"/>
              <a:ext cx="1599564" cy="369332"/>
            </a:xfrm>
            <a:prstGeom prst="rect">
              <a:avLst/>
            </a:prstGeom>
            <a:noFill/>
          </p:spPr>
          <p:txBody>
            <a:bodyPr wrap="square" rtlCol="0">
              <a:spAutoFit/>
            </a:bodyPr>
            <a:lstStyle/>
            <a:p>
              <a:r>
                <a:rPr lang="en-IN" sz="900">
                  <a:solidFill>
                    <a:schemeClr val="bg1"/>
                  </a:solidFill>
                  <a:latin typeface="EYInterstate Light" panose="02000506000000020004" pitchFamily="2" charset="0"/>
                </a:rPr>
                <a:t>Derecognition when sold or scrapped</a:t>
              </a:r>
            </a:p>
          </p:txBody>
        </p:sp>
        <p:sp>
          <p:nvSpPr>
            <p:cNvPr id="11" name="TextBox 10">
              <a:extLst>
                <a:ext uri="{FF2B5EF4-FFF2-40B4-BE49-F238E27FC236}">
                  <a16:creationId xmlns:a16="http://schemas.microsoft.com/office/drawing/2014/main" id="{2E0172C9-59EB-3985-7807-A8D5AC749DCD}"/>
                </a:ext>
              </a:extLst>
            </p:cNvPr>
            <p:cNvSpPr txBox="1"/>
            <p:nvPr/>
          </p:nvSpPr>
          <p:spPr>
            <a:xfrm>
              <a:off x="2193528" y="4653840"/>
              <a:ext cx="2269521" cy="369332"/>
            </a:xfrm>
            <a:prstGeom prst="rect">
              <a:avLst/>
            </a:prstGeom>
            <a:noFill/>
          </p:spPr>
          <p:txBody>
            <a:bodyPr wrap="square" rtlCol="0">
              <a:spAutoFit/>
            </a:bodyPr>
            <a:lstStyle/>
            <a:p>
              <a:r>
                <a:rPr lang="en-IN" sz="900">
                  <a:solidFill>
                    <a:schemeClr val="bg1"/>
                  </a:solidFill>
                  <a:latin typeface="EYInterstate Light" panose="02000506000000020004" pitchFamily="2" charset="0"/>
                </a:rPr>
                <a:t>Systematic allocation of cost over useful life</a:t>
              </a:r>
            </a:p>
          </p:txBody>
        </p:sp>
        <p:sp>
          <p:nvSpPr>
            <p:cNvPr id="12" name="TextBox 11">
              <a:extLst>
                <a:ext uri="{FF2B5EF4-FFF2-40B4-BE49-F238E27FC236}">
                  <a16:creationId xmlns:a16="http://schemas.microsoft.com/office/drawing/2014/main" id="{CF762032-EAA3-2BE7-B2E6-5BD5F0C88870}"/>
                </a:ext>
              </a:extLst>
            </p:cNvPr>
            <p:cNvSpPr txBox="1"/>
            <p:nvPr/>
          </p:nvSpPr>
          <p:spPr>
            <a:xfrm>
              <a:off x="2810457" y="5275318"/>
              <a:ext cx="1923569" cy="230832"/>
            </a:xfrm>
            <a:prstGeom prst="rect">
              <a:avLst/>
            </a:prstGeom>
            <a:noFill/>
          </p:spPr>
          <p:txBody>
            <a:bodyPr wrap="square" rtlCol="0">
              <a:spAutoFit/>
            </a:bodyPr>
            <a:lstStyle/>
            <a:p>
              <a:r>
                <a:rPr lang="en-IN" sz="900">
                  <a:solidFill>
                    <a:schemeClr val="bg1"/>
                  </a:solidFill>
                  <a:latin typeface="EYInterstate Light" panose="02000506000000020004" pitchFamily="2" charset="0"/>
                </a:rPr>
                <a:t>Reduction in recoverable value</a:t>
              </a:r>
            </a:p>
          </p:txBody>
        </p:sp>
      </p:grpSp>
      <p:sp>
        <p:nvSpPr>
          <p:cNvPr id="5" name="TextBox 4">
            <a:extLst>
              <a:ext uri="{FF2B5EF4-FFF2-40B4-BE49-F238E27FC236}">
                <a16:creationId xmlns:a16="http://schemas.microsoft.com/office/drawing/2014/main" id="{5CF0DD89-0D16-FEC6-078C-9B221D434B02}"/>
              </a:ext>
            </a:extLst>
          </p:cNvPr>
          <p:cNvSpPr txBox="1"/>
          <p:nvPr/>
        </p:nvSpPr>
        <p:spPr>
          <a:xfrm>
            <a:off x="520995" y="2929606"/>
            <a:ext cx="4622084" cy="369332"/>
          </a:xfrm>
          <a:prstGeom prst="rect">
            <a:avLst/>
          </a:prstGeom>
          <a:noFill/>
          <a:ln>
            <a:noFill/>
          </a:ln>
        </p:spPr>
        <p:txBody>
          <a:bodyPr vert="horz" wrap="square" lIns="0" tIns="0" rIns="0" bIns="0" rtlCol="0" anchor="t" anchorCtr="0" compatLnSpc="1">
            <a:noAutofit/>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0" i="0" u="none" strike="noStrike" cap="none" spc="0" baseline="0">
                <a:solidFill>
                  <a:srgbClr val="FFE600"/>
                </a:solidFill>
                <a:uFillTx/>
                <a:latin typeface="EY interstate"/>
              </a:defRPr>
            </a:lvl1pPr>
          </a:lstStyle>
          <a:p>
            <a:r>
              <a:rPr lang="en-IN" sz="1600" b="1" i="1" dirty="0">
                <a:solidFill>
                  <a:srgbClr val="FFFF00"/>
                </a:solidFill>
                <a:latin typeface="EYInterstate Light" panose="02000506000000020004" pitchFamily="2" charset="0"/>
              </a:rPr>
              <a:t>Challenges in fixed asset accounting </a:t>
            </a:r>
          </a:p>
        </p:txBody>
      </p:sp>
      <p:sp>
        <p:nvSpPr>
          <p:cNvPr id="16" name="TextBox 15">
            <a:extLst>
              <a:ext uri="{FF2B5EF4-FFF2-40B4-BE49-F238E27FC236}">
                <a16:creationId xmlns:a16="http://schemas.microsoft.com/office/drawing/2014/main" id="{CE8927FC-AE65-2A9B-ED98-354F9B393010}"/>
              </a:ext>
            </a:extLst>
          </p:cNvPr>
          <p:cNvSpPr txBox="1"/>
          <p:nvPr/>
        </p:nvSpPr>
        <p:spPr>
          <a:xfrm>
            <a:off x="423258" y="3189210"/>
            <a:ext cx="6974238" cy="3293209"/>
          </a:xfrm>
          <a:prstGeom prst="rect">
            <a:avLst/>
          </a:prstGeom>
          <a:noFill/>
        </p:spPr>
        <p:txBody>
          <a:bodyPr wrap="square" lIns="91440" tIns="45720" rIns="91440" bIns="45720" anchor="t">
            <a:spAutoFit/>
          </a:bodyPr>
          <a:lstStyle/>
          <a:p>
            <a:pPr marL="285750" indent="-285750">
              <a:buClr>
                <a:srgbClr val="FFFF00"/>
              </a:buClr>
              <a:buFont typeface="EYInterstate Light" panose="02000506000000020004" pitchFamily="2" charset="0"/>
              <a:buChar char="•"/>
            </a:pPr>
            <a:r>
              <a:rPr lang="en-IN" sz="1600" b="1" i="1" dirty="0">
                <a:solidFill>
                  <a:schemeClr val="bg1"/>
                </a:solidFill>
                <a:latin typeface="EYInterstate Light" panose="02000506000000020004" pitchFamily="2" charset="0"/>
              </a:rPr>
              <a:t>Expense Misclassification : </a:t>
            </a:r>
            <a:r>
              <a:rPr lang="en-IN" sz="1600" i="1" dirty="0">
                <a:solidFill>
                  <a:schemeClr val="bg1"/>
                </a:solidFill>
                <a:latin typeface="EYInterstate Light" panose="02000506000000020004" pitchFamily="2" charset="0"/>
              </a:rPr>
              <a:t>Difficulty in distinguishing between capital and operating expenses leads to incorrect asset capitalization.</a:t>
            </a:r>
          </a:p>
          <a:p>
            <a:pPr marL="285750" indent="-285750">
              <a:buClr>
                <a:srgbClr val="FFFF00"/>
              </a:buClr>
              <a:buFont typeface="EYInterstate Light" panose="02000506000000020004" pitchFamily="2" charset="0"/>
              <a:buChar char="•"/>
            </a:pPr>
            <a:r>
              <a:rPr lang="en-IN" sz="1600" b="1" i="1" dirty="0">
                <a:solidFill>
                  <a:schemeClr val="bg1"/>
                </a:solidFill>
                <a:latin typeface="EYInterstate Light" panose="02000506000000020004" pitchFamily="2" charset="0"/>
              </a:rPr>
              <a:t>Delayed Asset Tagging : </a:t>
            </a:r>
            <a:r>
              <a:rPr lang="en-IN" sz="1600" i="1" dirty="0">
                <a:solidFill>
                  <a:schemeClr val="bg1"/>
                </a:solidFill>
                <a:latin typeface="EYInterstate Light" panose="02000506000000020004" pitchFamily="2" charset="0"/>
              </a:rPr>
              <a:t>Physical assets are often not tagged or recorded promptly, resulting in incomplete asset registers.</a:t>
            </a:r>
          </a:p>
          <a:p>
            <a:pPr marL="285750" indent="-285750">
              <a:buClr>
                <a:srgbClr val="FFFF00"/>
              </a:buClr>
              <a:buFont typeface="EYInterstate Light" panose="02000506000000020004" pitchFamily="2" charset="0"/>
              <a:buChar char="•"/>
            </a:pPr>
            <a:r>
              <a:rPr lang="en-IN" sz="1600" b="1" i="1" dirty="0">
                <a:solidFill>
                  <a:schemeClr val="bg1"/>
                </a:solidFill>
                <a:latin typeface="EYInterstate Light" panose="02000506000000020004" pitchFamily="2" charset="0"/>
              </a:rPr>
              <a:t>Depreciation Inaccuracies :</a:t>
            </a:r>
            <a:r>
              <a:rPr lang="en-IN" sz="1600" i="1" dirty="0">
                <a:solidFill>
                  <a:schemeClr val="bg1"/>
                </a:solidFill>
                <a:latin typeface="EYInterstate Light" panose="02000506000000020004" pitchFamily="2" charset="0"/>
              </a:rPr>
              <a:t> Errors in useful life, residual value, or asset usage updates cause incorrect depreciation calculations.</a:t>
            </a:r>
          </a:p>
          <a:p>
            <a:pPr marL="285750" indent="-285750">
              <a:buClr>
                <a:srgbClr val="FFFF00"/>
              </a:buClr>
              <a:buFont typeface="EYInterstate Light" panose="02000506000000020004" pitchFamily="2" charset="0"/>
              <a:buChar char="•"/>
            </a:pPr>
            <a:r>
              <a:rPr lang="en-IN" sz="1600" b="1" i="1" dirty="0">
                <a:solidFill>
                  <a:schemeClr val="bg1"/>
                </a:solidFill>
                <a:latin typeface="EYInterstate Light" panose="02000506000000020004" pitchFamily="2" charset="0"/>
              </a:rPr>
              <a:t>Process &amp; Compliance Gaps in Capitalization Lifecycle :</a:t>
            </a:r>
            <a:r>
              <a:rPr lang="en-IN" sz="1600" i="1" dirty="0">
                <a:solidFill>
                  <a:schemeClr val="bg1"/>
                </a:solidFill>
                <a:latin typeface="EYInterstate Light" panose="02000506000000020004" pitchFamily="2" charset="0"/>
              </a:rPr>
              <a:t> Inaccurate timing of capitalization, delayed AUC closure, and inclusion of non-capex items reflect weak controls and non-compliance with IAS 16.</a:t>
            </a:r>
          </a:p>
          <a:p>
            <a:pPr marL="285750" indent="-285750">
              <a:buClr>
                <a:srgbClr val="FFFF00"/>
              </a:buClr>
              <a:buFont typeface="EYInterstate Light" panose="02000506000000020004" pitchFamily="2" charset="0"/>
              <a:buChar char="•"/>
            </a:pPr>
            <a:r>
              <a:rPr lang="en-IN" sz="1600" b="1" i="1" dirty="0">
                <a:solidFill>
                  <a:schemeClr val="bg1"/>
                </a:solidFill>
                <a:latin typeface="EYInterstate Light" panose="02000506000000020004" pitchFamily="2" charset="0"/>
              </a:rPr>
              <a:t>Systemic &amp; Operational Fragmentation : </a:t>
            </a:r>
            <a:r>
              <a:rPr lang="en-IN" sz="1600" i="1" dirty="0">
                <a:solidFill>
                  <a:schemeClr val="bg1"/>
                </a:solidFill>
                <a:latin typeface="EYInterstate Light" panose="02000506000000020004" pitchFamily="2" charset="0"/>
              </a:rPr>
              <a:t>Disconnected systems across procurement, project management, and asset accounting result in poor cost tracking, manual reconciliations, and limited visibility into AUC balances and project status.</a:t>
            </a:r>
          </a:p>
        </p:txBody>
      </p:sp>
    </p:spTree>
    <p:extLst>
      <p:ext uri="{BB962C8B-B14F-4D97-AF65-F5344CB8AC3E}">
        <p14:creationId xmlns:p14="http://schemas.microsoft.com/office/powerpoint/2010/main" val="2878290136"/>
      </p:ext>
    </p:extLst>
  </p:cSld>
  <p:clrMapOvr>
    <a:masterClrMapping/>
  </p:clrMapOvr>
  <p:extLst>
    <p:ext uri="{6950BFC3-D8DA-4A85-94F7-54DA5524770B}">
      <p188:commentRel xmlns:p188="http://schemas.microsoft.com/office/powerpoint/2018/8/main" r:id="rId3"/>
    </p:ext>
  </p:extLs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7FA4668-B940-6384-7BE0-8BDE9D2F4750}"/>
              </a:ext>
            </a:extLst>
          </p:cNvPr>
          <p:cNvSpPr>
            <a:spLocks noGrp="1"/>
          </p:cNvSpPr>
          <p:nvPr>
            <p:ph idx="4294967295"/>
          </p:nvPr>
        </p:nvSpPr>
        <p:spPr>
          <a:xfrm>
            <a:off x="609602" y="1830569"/>
            <a:ext cx="5307493" cy="4947918"/>
          </a:xfrm>
        </p:spPr>
        <p:txBody>
          <a:bodyPr/>
          <a:lstStyle/>
          <a:p>
            <a:pPr marL="0" indent="0">
              <a:buNone/>
            </a:pPr>
            <a:r>
              <a:rPr lang="en-IN" sz="1100" b="1" i="1">
                <a:solidFill>
                  <a:srgbClr val="FFFF00"/>
                </a:solidFill>
              </a:rPr>
              <a:t>1. Policy &amp; Governance</a:t>
            </a:r>
          </a:p>
          <a:p>
            <a:pPr marL="0" indent="0">
              <a:buNone/>
            </a:pPr>
            <a:r>
              <a:rPr lang="en-IN" sz="1100" b="1" i="1"/>
              <a:t>Global Policy Harmonization</a:t>
            </a:r>
            <a:r>
              <a:rPr lang="en-IN" sz="1100" i="1"/>
              <a:t>: Standardize asset accounting policies across entities to enable automation and reduce manual exceptions.</a:t>
            </a:r>
          </a:p>
          <a:p>
            <a:pPr marL="0" indent="0">
              <a:buNone/>
            </a:pPr>
            <a:r>
              <a:rPr lang="en-IN" sz="1100" b="1" i="1"/>
              <a:t>AI-Driven Policy Compliance Checks</a:t>
            </a:r>
            <a:r>
              <a:rPr lang="en-IN" sz="1100" i="1"/>
              <a:t>: Use AI to scan transactions and flag non-compliance with capitalization or depreciation rules.</a:t>
            </a:r>
          </a:p>
          <a:p>
            <a:pPr marL="0" indent="0">
              <a:buNone/>
            </a:pPr>
            <a:r>
              <a:rPr lang="en-IN" sz="1100" b="1" i="1"/>
              <a:t>Digital Approval Workflows</a:t>
            </a:r>
            <a:r>
              <a:rPr lang="en-IN" sz="1100" i="1"/>
              <a:t>: Implement e-signature and workflow tools for asset-related approvals to ensure traceability.</a:t>
            </a:r>
          </a:p>
          <a:p>
            <a:pPr marL="0" indent="0">
              <a:buNone/>
            </a:pPr>
            <a:r>
              <a:rPr lang="en-IN" sz="1100" b="1" i="1">
                <a:solidFill>
                  <a:srgbClr val="FFFF00"/>
                </a:solidFill>
              </a:rPr>
              <a:t>2. Process &amp; Controls</a:t>
            </a:r>
          </a:p>
          <a:p>
            <a:pPr marL="0" indent="0">
              <a:buNone/>
            </a:pPr>
            <a:r>
              <a:rPr lang="en-IN" sz="1100" b="1" i="1"/>
              <a:t>Automated Asset Lifecycle Triggers</a:t>
            </a:r>
            <a:r>
              <a:rPr lang="en-IN" sz="1100" i="1"/>
              <a:t>: Use system events (e.g., GRN, project completion) to auto-initiate asset creation or capitalization.</a:t>
            </a:r>
          </a:p>
          <a:p>
            <a:pPr marL="0" indent="0">
              <a:buNone/>
            </a:pPr>
            <a:r>
              <a:rPr lang="en-IN" sz="1100" b="1" i="1"/>
              <a:t>AI for Expense Classification</a:t>
            </a:r>
            <a:r>
              <a:rPr lang="en-IN" sz="1100" i="1"/>
              <a:t>: Deploy machine learning models to classify costs as capital or expense based on historical patterns and policy rules.</a:t>
            </a:r>
          </a:p>
          <a:p>
            <a:pPr marL="0" indent="0">
              <a:buNone/>
            </a:pPr>
            <a:r>
              <a:rPr lang="en-IN" sz="1100" b="1" i="1"/>
              <a:t>Bot-Based Reconciliations</a:t>
            </a:r>
            <a:r>
              <a:rPr lang="en-IN" sz="1100" i="1"/>
              <a:t>: Use RPA bots to reconcile FA subledger with GL monthly, reducing manual effort and errors.</a:t>
            </a:r>
          </a:p>
          <a:p>
            <a:pPr marL="0" indent="0">
              <a:buNone/>
            </a:pPr>
            <a:r>
              <a:rPr lang="en-IN" sz="1100" b="1" i="1">
                <a:solidFill>
                  <a:srgbClr val="FFFF00"/>
                </a:solidFill>
              </a:rPr>
              <a:t>3. Data &amp; Systems</a:t>
            </a:r>
          </a:p>
          <a:p>
            <a:pPr marL="0" indent="0">
              <a:buNone/>
            </a:pPr>
            <a:r>
              <a:rPr lang="en-IN" sz="1100" b="1" i="1"/>
              <a:t>Centralized Asset Master Data Hub</a:t>
            </a:r>
            <a:r>
              <a:rPr lang="en-IN" sz="1100" i="1"/>
              <a:t>: Maintain a single source of truth for asset data across systems (ERP, EAM, etc.).</a:t>
            </a:r>
          </a:p>
          <a:p>
            <a:pPr marL="0" indent="0">
              <a:buNone/>
            </a:pPr>
            <a:r>
              <a:rPr lang="en-IN" sz="1100" b="1" i="1"/>
              <a:t>AI-Powered Data Cleansing</a:t>
            </a:r>
            <a:r>
              <a:rPr lang="en-IN" sz="1100" i="1"/>
              <a:t>: Use AI to detect duplicates, missing fields, or inconsistent asset tagging.</a:t>
            </a:r>
          </a:p>
          <a:p>
            <a:pPr marL="0" indent="0">
              <a:buNone/>
            </a:pPr>
            <a:r>
              <a:rPr lang="en-IN" sz="1100" b="1" i="1"/>
              <a:t>Predictive Maintenance Integration</a:t>
            </a:r>
            <a:r>
              <a:rPr lang="en-IN" sz="1100" i="1"/>
              <a:t>: Link asset accounting with IoT and predictive maintenance systems to inform impairment or useful life adjustments.</a:t>
            </a:r>
          </a:p>
        </p:txBody>
      </p:sp>
      <p:sp>
        <p:nvSpPr>
          <p:cNvPr id="3" name="TextBox 2">
            <a:extLst>
              <a:ext uri="{FF2B5EF4-FFF2-40B4-BE49-F238E27FC236}">
                <a16:creationId xmlns:a16="http://schemas.microsoft.com/office/drawing/2014/main" id="{5293A8C2-8999-DAE1-CF63-F6F5B62A19BE}"/>
              </a:ext>
            </a:extLst>
          </p:cNvPr>
          <p:cNvSpPr txBox="1"/>
          <p:nvPr/>
        </p:nvSpPr>
        <p:spPr>
          <a:xfrm>
            <a:off x="609600" y="431800"/>
            <a:ext cx="10893551" cy="369332"/>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Fixed Asset Capitalisation Best Practices</a:t>
            </a:r>
          </a:p>
        </p:txBody>
      </p:sp>
      <p:sp>
        <p:nvSpPr>
          <p:cNvPr id="4" name="Content Placeholder 1">
            <a:extLst>
              <a:ext uri="{FF2B5EF4-FFF2-40B4-BE49-F238E27FC236}">
                <a16:creationId xmlns:a16="http://schemas.microsoft.com/office/drawing/2014/main" id="{E3C94A47-5987-8C72-6BA7-3467D8CABBBD}"/>
              </a:ext>
            </a:extLst>
          </p:cNvPr>
          <p:cNvSpPr txBox="1">
            <a:spLocks/>
          </p:cNvSpPr>
          <p:nvPr/>
        </p:nvSpPr>
        <p:spPr>
          <a:xfrm>
            <a:off x="6202017" y="1830569"/>
            <a:ext cx="5380380" cy="4947918"/>
          </a:xfrm>
          <a:prstGeom prst="rect">
            <a:avLst/>
          </a:prstGeom>
          <a:noFill/>
          <a:ln>
            <a:noFill/>
          </a:ln>
        </p:spPr>
        <p:txBody>
          <a:bodyPr vert="horz" wrap="square" lIns="0" tIns="0" rIns="0" bIns="0" anchor="t" anchorCtr="0" compatLnSpc="1">
            <a:noAutofit/>
          </a:bodyPr>
          <a:lstStyle>
            <a:lvl1pPr marL="356442" marR="0" lvl="0" indent="-356442" algn="l" defTabSz="913942" rtl="0" fontAlgn="auto" hangingPunct="1">
              <a:lnSpc>
                <a:spcPct val="100000"/>
              </a:lnSpc>
              <a:spcBef>
                <a:spcPts val="500"/>
              </a:spcBef>
              <a:spcAft>
                <a:spcPts val="0"/>
              </a:spcAft>
              <a:buClr>
                <a:srgbClr val="FFE600"/>
              </a:buClr>
              <a:buSzPct val="110000"/>
              <a:buFont typeface="EYInterstate Light" pitchFamily="2"/>
              <a:buChar char="•"/>
              <a:tabLst/>
              <a:defRPr lang="en-US" sz="1999" b="0" i="0" u="none" strike="noStrike" kern="1200" cap="none" spc="0" baseline="0">
                <a:solidFill>
                  <a:srgbClr val="FFFFFF"/>
                </a:solidFill>
                <a:uFillTx/>
                <a:latin typeface="EYInterstate Light" pitchFamily="2"/>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EYInterstate Light" pitchFamily="2"/>
              <a:buNone/>
            </a:pPr>
            <a:r>
              <a:rPr lang="en-IN" sz="1100" b="1" i="1">
                <a:solidFill>
                  <a:srgbClr val="FFFF00"/>
                </a:solidFill>
              </a:rPr>
              <a:t>4. Accounting &amp; Reporting</a:t>
            </a:r>
          </a:p>
          <a:p>
            <a:pPr marL="0" indent="0">
              <a:buNone/>
            </a:pPr>
            <a:r>
              <a:rPr lang="en-IN" sz="1100" b="1" i="1"/>
              <a:t>Automated Depreciation Runs</a:t>
            </a:r>
            <a:r>
              <a:rPr lang="en-IN" sz="1100" i="1"/>
              <a:t>: Schedule and execute depreciation postings with zero manual intervention.</a:t>
            </a:r>
          </a:p>
          <a:p>
            <a:pPr marL="0" indent="0">
              <a:buNone/>
            </a:pPr>
            <a:r>
              <a:rPr lang="en-IN" sz="1100" b="1" i="1"/>
              <a:t>AI Forecasting Models</a:t>
            </a:r>
            <a:r>
              <a:rPr lang="en-IN" sz="1100" i="1"/>
              <a:t>: Use AI to project depreciation, impairment risks, and asset retirement timelines for planning and reporting.</a:t>
            </a:r>
          </a:p>
          <a:p>
            <a:pPr marL="0" indent="0">
              <a:buNone/>
            </a:pPr>
            <a:r>
              <a:rPr lang="en-IN" sz="1100" b="1" i="1"/>
              <a:t>Real-Time Dashboards</a:t>
            </a:r>
            <a:r>
              <a:rPr lang="en-IN" sz="1100" i="1"/>
              <a:t>: Implement Power BI or Tableau dashboards for asset movement, depreciation trends, and audit readiness.</a:t>
            </a:r>
          </a:p>
          <a:p>
            <a:pPr marL="0" indent="0">
              <a:buFont typeface="EYInterstate Light" pitchFamily="2"/>
              <a:buNone/>
            </a:pPr>
            <a:r>
              <a:rPr lang="en-IN" sz="1100" b="1" i="1">
                <a:solidFill>
                  <a:srgbClr val="FFFF00"/>
                </a:solidFill>
              </a:rPr>
              <a:t>5. Monitoring &amp; Compliance</a:t>
            </a:r>
          </a:p>
          <a:p>
            <a:pPr marL="0" indent="0">
              <a:buNone/>
            </a:pPr>
            <a:r>
              <a:rPr lang="en-IN" sz="1100" b="1" i="1"/>
              <a:t>Continuous Monitoring with AI</a:t>
            </a:r>
            <a:r>
              <a:rPr lang="en-IN" sz="1100" i="1"/>
              <a:t>: Use anomaly detection to flag unusual asset additions, disposals, or valuation changes.</a:t>
            </a:r>
          </a:p>
          <a:p>
            <a:pPr marL="0" indent="0">
              <a:buNone/>
            </a:pPr>
            <a:r>
              <a:rPr lang="en-IN" sz="1100" b="1" i="1"/>
              <a:t>Digital Audit Trails</a:t>
            </a:r>
            <a:r>
              <a:rPr lang="en-IN" sz="1100" i="1"/>
              <a:t>: Ensure every asset transaction is logged with user, timestamp, and system action for audit readiness.</a:t>
            </a:r>
          </a:p>
          <a:p>
            <a:pPr marL="0" indent="0">
              <a:buNone/>
            </a:pPr>
            <a:r>
              <a:rPr lang="en-IN" sz="1100" b="1" i="1"/>
              <a:t>Compliance Bots</a:t>
            </a:r>
            <a:r>
              <a:rPr lang="en-IN" sz="1100" i="1"/>
              <a:t>: Deploy bots to check IFRS/GAAP compliance across asset classes and geographies.</a:t>
            </a:r>
          </a:p>
          <a:p>
            <a:pPr marL="0" indent="0">
              <a:buFont typeface="EYInterstate Light" pitchFamily="2"/>
              <a:buNone/>
            </a:pPr>
            <a:r>
              <a:rPr lang="en-IN" sz="1100" b="1" i="1">
                <a:solidFill>
                  <a:srgbClr val="FFFF00"/>
                </a:solidFill>
              </a:rPr>
              <a:t>6. Special Scenarios</a:t>
            </a:r>
          </a:p>
          <a:p>
            <a:pPr marL="0" indent="0">
              <a:buNone/>
            </a:pPr>
            <a:r>
              <a:rPr lang="en-IN" sz="1100" b="1" i="1"/>
              <a:t>Lease Accounting Automation (IFRS 16)</a:t>
            </a:r>
            <a:r>
              <a:rPr lang="en-IN" sz="1100" i="1"/>
              <a:t>: Automate ROU asset creation, amortization, and lease liability tracking.</a:t>
            </a:r>
          </a:p>
          <a:p>
            <a:pPr marL="0" indent="0">
              <a:buNone/>
            </a:pPr>
            <a:r>
              <a:rPr lang="en-IN" sz="1100" b="1" i="1"/>
              <a:t>AI for Componentization</a:t>
            </a:r>
            <a:r>
              <a:rPr lang="en-IN" sz="1100" i="1"/>
              <a:t>: Use image recognition or engineering data to identify asset components for separate accounting.</a:t>
            </a:r>
          </a:p>
          <a:p>
            <a:pPr marL="0" indent="0">
              <a:buNone/>
            </a:pPr>
            <a:r>
              <a:rPr lang="en-IN" sz="1100" b="1" i="1"/>
              <a:t>Intercompany Transfer Automation</a:t>
            </a:r>
            <a:r>
              <a:rPr lang="en-IN" sz="1100" i="1"/>
              <a:t>: Automate asset transfer postings with correct valuation and depreciation resets across entities.</a:t>
            </a:r>
          </a:p>
          <a:p>
            <a:endParaRPr lang="en-IN" sz="1100" i="1"/>
          </a:p>
          <a:p>
            <a:endParaRPr lang="en-IN" sz="1100" i="1"/>
          </a:p>
          <a:p>
            <a:endParaRPr lang="en-IN" sz="1100" i="1"/>
          </a:p>
        </p:txBody>
      </p:sp>
      <p:graphicFrame>
        <p:nvGraphicFramePr>
          <p:cNvPr id="5" name="Diagram 4">
            <a:extLst>
              <a:ext uri="{FF2B5EF4-FFF2-40B4-BE49-F238E27FC236}">
                <a16:creationId xmlns:a16="http://schemas.microsoft.com/office/drawing/2014/main" id="{D2541D18-C6EB-2985-02B5-3191F43EBEE1}"/>
              </a:ext>
            </a:extLst>
          </p:cNvPr>
          <p:cNvGraphicFramePr/>
          <p:nvPr>
            <p:extLst>
              <p:ext uri="{D42A27DB-BD31-4B8C-83A1-F6EECF244321}">
                <p14:modId xmlns:p14="http://schemas.microsoft.com/office/powerpoint/2010/main" val="2666668149"/>
              </p:ext>
            </p:extLst>
          </p:nvPr>
        </p:nvGraphicFramePr>
        <p:xfrm>
          <a:off x="609601" y="1111095"/>
          <a:ext cx="10979426" cy="5130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769819173"/>
      </p:ext>
    </p:extLst>
  </p:cSld>
  <p:clrMapOvr>
    <a:masterClrMapping/>
  </p:clrMapOvr>
  <p:extLst>
    <p:ext uri="{6950BFC3-D8DA-4A85-94F7-54DA5524770B}">
      <p188:commentRel xmlns:p188="http://schemas.microsoft.com/office/powerpoint/2018/8/main" r:id="rId2"/>
    </p:ext>
  </p:extLs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931D9D-1AC2-7F87-A5C0-F553ED61DC8F}"/>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E31FEDA3-38F9-B35B-F6DF-F68AF6F2E603}"/>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51" name="Content Placeholder 2">
            <a:extLst>
              <a:ext uri="{FF2B5EF4-FFF2-40B4-BE49-F238E27FC236}">
                <a16:creationId xmlns:a16="http://schemas.microsoft.com/office/drawing/2014/main" id="{863E27A3-738F-1ED2-6695-F1349F3B10B4}"/>
              </a:ext>
            </a:extLst>
          </p:cNvPr>
          <p:cNvSpPr txBox="1">
            <a:spLocks/>
          </p:cNvSpPr>
          <p:nvPr/>
        </p:nvSpPr>
        <p:spPr>
          <a:xfrm>
            <a:off x="609601" y="1074019"/>
            <a:ext cx="10972800" cy="5619750"/>
          </a:xfrm>
          <a:prstGeom prst="rect">
            <a:avLst/>
          </a:prstGeom>
        </p:spPr>
        <p:txBody>
          <a:bodyPr/>
          <a:lstStyle>
            <a:lvl1pPr marL="356442" marR="0" lvl="0" indent="-356442" algn="l" defTabSz="913942" rtl="0" fontAlgn="auto" hangingPunct="1">
              <a:lnSpc>
                <a:spcPct val="100000"/>
              </a:lnSpc>
              <a:spcBef>
                <a:spcPts val="500"/>
              </a:spcBef>
              <a:spcAft>
                <a:spcPts val="0"/>
              </a:spcAft>
              <a:buClr>
                <a:srgbClr val="FFE600"/>
              </a:buClr>
              <a:buSzPct val="110000"/>
              <a:buFont typeface="EYInterstate Light" pitchFamily="2"/>
              <a:buChar char="•"/>
              <a:tabLst/>
              <a:defRPr lang="en-US" sz="1999" b="0" i="0" u="none" strike="noStrike" kern="1200" cap="none" spc="0" baseline="0">
                <a:solidFill>
                  <a:srgbClr val="FFFFFF"/>
                </a:solidFill>
                <a:uFillTx/>
                <a:latin typeface="EYInterstate Light" pitchFamily="2"/>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Arial" panose="020B0604020202020204" pitchFamily="34" charset="0"/>
              <a:buChar char="•"/>
            </a:pPr>
            <a:endParaRPr lang="pl-PL" sz="1200">
              <a:latin typeface="EYInterstate" panose="02000503020000020004" pitchFamily="2" charset="0"/>
            </a:endParaRPr>
          </a:p>
          <a:p>
            <a:pPr lvl="1">
              <a:buFont typeface="Arial" panose="020B0604020202020204" pitchFamily="34" charset="0"/>
              <a:buChar char="•"/>
            </a:pPr>
            <a:endParaRPr lang="pl-PL" sz="1200"/>
          </a:p>
          <a:p>
            <a:pPr lvl="1">
              <a:buFont typeface="Arial" panose="020B0604020202020204" pitchFamily="34" charset="0"/>
              <a:buChar char="•"/>
            </a:pPr>
            <a:endParaRPr lang="pl-PL"/>
          </a:p>
          <a:p>
            <a:pPr>
              <a:buFont typeface="Wingdings" panose="05000000000000000000" pitchFamily="2" charset="2"/>
              <a:buChar char="ü"/>
            </a:pPr>
            <a:endParaRPr lang="pl-PL"/>
          </a:p>
        </p:txBody>
      </p:sp>
      <p:sp>
        <p:nvSpPr>
          <p:cNvPr id="55" name="Title 1">
            <a:extLst>
              <a:ext uri="{FF2B5EF4-FFF2-40B4-BE49-F238E27FC236}">
                <a16:creationId xmlns:a16="http://schemas.microsoft.com/office/drawing/2014/main" id="{2715ED62-F807-B0C2-4BB5-2C1BCFD04E4A}"/>
              </a:ext>
            </a:extLst>
          </p:cNvPr>
          <p:cNvSpPr txBox="1">
            <a:spLocks/>
          </p:cNvSpPr>
          <p:nvPr/>
        </p:nvSpPr>
        <p:spPr>
          <a:xfrm>
            <a:off x="609601" y="201600"/>
            <a:ext cx="10972800" cy="860400"/>
          </a:xfrm>
          <a:prstGeom prst="rect">
            <a:avLst/>
          </a:prstGeom>
        </p:spPr>
        <p:txBody>
          <a:bodyPr/>
          <a:lstStyle>
            <a:lvl1pPr marL="0" marR="0" lvl="0" indent="0" algn="l" defTabSz="913942" rtl="0" fontAlgn="auto" hangingPunct="1">
              <a:lnSpc>
                <a:spcPct val="85000"/>
              </a:lnSpc>
              <a:spcBef>
                <a:spcPts val="0"/>
              </a:spcBef>
              <a:spcAft>
                <a:spcPts val="0"/>
              </a:spcAft>
              <a:buNone/>
              <a:tabLst/>
              <a:defRPr lang="en-US" sz="2399" b="0" i="0" u="none" strike="noStrike" kern="1200" cap="none" spc="0" baseline="0">
                <a:solidFill>
                  <a:srgbClr val="FFFFFF"/>
                </a:solidFill>
                <a:uFillTx/>
                <a:latin typeface="EYInterstate Light" pitchFamily="2"/>
                <a:cs typeface="Arial" pitchFamily="34"/>
              </a:defRPr>
            </a:lvl1pPr>
          </a:lstStyle>
          <a:p>
            <a:br>
              <a:rPr lang="pl-PL"/>
            </a:br>
            <a:endParaRPr lang="pl-PL">
              <a:latin typeface="EYInterstate" panose="02000503020000020004" pitchFamily="2" charset="0"/>
            </a:endParaRPr>
          </a:p>
        </p:txBody>
      </p:sp>
      <p:sp>
        <p:nvSpPr>
          <p:cNvPr id="2" name="Rectangle 1">
            <a:extLst>
              <a:ext uri="{FF2B5EF4-FFF2-40B4-BE49-F238E27FC236}">
                <a16:creationId xmlns:a16="http://schemas.microsoft.com/office/drawing/2014/main" id="{BC9B7607-D25F-7B69-62BB-990D2830807F}"/>
              </a:ext>
            </a:extLst>
          </p:cNvPr>
          <p:cNvSpPr>
            <a:spLocks noChangeArrowheads="1"/>
          </p:cNvSpPr>
          <p:nvPr/>
        </p:nvSpPr>
        <p:spPr bwMode="auto">
          <a:xfrm>
            <a:off x="609599" y="935651"/>
            <a:ext cx="521512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1" i="0" u="none" strike="noStrike" cap="none" normalizeH="0" baseline="0">
                <a:ln>
                  <a:noFill/>
                </a:ln>
                <a:solidFill>
                  <a:schemeClr val="bg1"/>
                </a:solidFill>
                <a:effectLst/>
                <a:latin typeface="EYInterstate" panose="02000503020000020004" pitchFamily="2" charset="0"/>
              </a:rPr>
              <a:t>KPI/analytics to monitor every close</a:t>
            </a:r>
          </a:p>
        </p:txBody>
      </p:sp>
      <p:sp>
        <p:nvSpPr>
          <p:cNvPr id="3" name="Rectangle 2">
            <a:extLst>
              <a:ext uri="{FF2B5EF4-FFF2-40B4-BE49-F238E27FC236}">
                <a16:creationId xmlns:a16="http://schemas.microsoft.com/office/drawing/2014/main" id="{0782BCF9-2807-9F47-B398-C5CA243A3D2E}"/>
              </a:ext>
            </a:extLst>
          </p:cNvPr>
          <p:cNvSpPr>
            <a:spLocks noChangeArrowheads="1"/>
          </p:cNvSpPr>
          <p:nvPr/>
        </p:nvSpPr>
        <p:spPr bwMode="auto">
          <a:xfrm>
            <a:off x="0" y="0"/>
            <a:ext cx="12192000" cy="15875"/>
          </a:xfrm>
          <a:prstGeom prst="rect">
            <a:avLst/>
          </a:prstGeom>
          <a:solidFill>
            <a:srgbClr val="000000"/>
          </a:solidFill>
          <a:ln w="9525">
            <a:solidFill>
              <a:schemeClr val="tx1"/>
            </a:solidFill>
            <a:prstDash val="solid"/>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N"/>
          </a:p>
        </p:txBody>
      </p:sp>
      <p:sp>
        <p:nvSpPr>
          <p:cNvPr id="7" name="TextBox 6">
            <a:extLst>
              <a:ext uri="{FF2B5EF4-FFF2-40B4-BE49-F238E27FC236}">
                <a16:creationId xmlns:a16="http://schemas.microsoft.com/office/drawing/2014/main" id="{8FEE2966-085B-D50B-77FF-DEFA77FBB8CE}"/>
              </a:ext>
            </a:extLst>
          </p:cNvPr>
          <p:cNvSpPr txBox="1"/>
          <p:nvPr/>
        </p:nvSpPr>
        <p:spPr>
          <a:xfrm>
            <a:off x="563854" y="451956"/>
            <a:ext cx="8424332" cy="461665"/>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Fixed Asset- Document Checklist </a:t>
            </a:r>
          </a:p>
        </p:txBody>
      </p:sp>
      <p:sp>
        <p:nvSpPr>
          <p:cNvPr id="11" name="TextBox 10">
            <a:extLst>
              <a:ext uri="{FF2B5EF4-FFF2-40B4-BE49-F238E27FC236}">
                <a16:creationId xmlns:a16="http://schemas.microsoft.com/office/drawing/2014/main" id="{184AEDEE-62C6-9CD7-4E1C-134D1168B557}"/>
              </a:ext>
            </a:extLst>
          </p:cNvPr>
          <p:cNvSpPr txBox="1"/>
          <p:nvPr/>
        </p:nvSpPr>
        <p:spPr>
          <a:xfrm>
            <a:off x="5938302" y="1278480"/>
            <a:ext cx="4027085" cy="307777"/>
          </a:xfrm>
          <a:prstGeom prst="rect">
            <a:avLst/>
          </a:prstGeom>
          <a:no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chemeClr val="bg1"/>
                </a:solidFill>
                <a:effectLst/>
                <a:latin typeface="EYInterstate" panose="02000503020000020004" pitchFamily="2" charset="0"/>
              </a:rPr>
              <a:t>Pre‑run (T‑5 to T‑1)</a:t>
            </a:r>
            <a:r>
              <a:rPr kumimoji="0" lang="en-US" altLang="en-US" sz="1400" b="0" i="0" u="none" strike="noStrike" cap="none" normalizeH="0" baseline="0">
                <a:ln>
                  <a:noFill/>
                </a:ln>
                <a:solidFill>
                  <a:schemeClr val="bg1"/>
                </a:solidFill>
                <a:effectLst/>
                <a:latin typeface="EYInterstate" panose="02000503020000020004" pitchFamily="2" charset="0"/>
              </a:rPr>
              <a:t>  </a:t>
            </a:r>
          </a:p>
        </p:txBody>
      </p:sp>
      <p:sp>
        <p:nvSpPr>
          <p:cNvPr id="21" name="TextBox 20">
            <a:extLst>
              <a:ext uri="{FF2B5EF4-FFF2-40B4-BE49-F238E27FC236}">
                <a16:creationId xmlns:a16="http://schemas.microsoft.com/office/drawing/2014/main" id="{DC42D76B-B663-ED36-068C-5EBF75820F73}"/>
              </a:ext>
            </a:extLst>
          </p:cNvPr>
          <p:cNvSpPr txBox="1"/>
          <p:nvPr/>
        </p:nvSpPr>
        <p:spPr>
          <a:xfrm>
            <a:off x="7048514" y="2763776"/>
            <a:ext cx="4446684" cy="369332"/>
          </a:xfrm>
          <a:prstGeom prst="rect">
            <a:avLst/>
          </a:prstGeom>
          <a:noFill/>
        </p:spPr>
        <p:txBody>
          <a:bodyPr wrap="square">
            <a:spAutoFit/>
          </a:bodyPr>
          <a:lstStyle/>
          <a:p>
            <a:r>
              <a:rPr kumimoji="0" lang="en-US" altLang="en-US" sz="1400" b="1" i="0" u="none" strike="noStrike" cap="none" normalizeH="0" baseline="0">
                <a:ln>
                  <a:noFill/>
                </a:ln>
                <a:solidFill>
                  <a:schemeClr val="bg1"/>
                </a:solidFill>
                <a:effectLst/>
                <a:latin typeface="EYInterstate" panose="02000503020000020004" pitchFamily="2" charset="0"/>
              </a:rPr>
              <a:t>Dry‑run (T‑1)</a:t>
            </a:r>
            <a:r>
              <a:rPr kumimoji="0" lang="en-US" altLang="en-US" sz="1400" b="0" i="0" u="none" strike="noStrike" cap="none" normalizeH="0" baseline="0">
                <a:ln>
                  <a:noFill/>
                </a:ln>
                <a:solidFill>
                  <a:schemeClr val="bg1"/>
                </a:solidFill>
                <a:effectLst/>
                <a:latin typeface="EYInterstate" panose="02000503020000020004" pitchFamily="2" charset="0"/>
              </a:rPr>
              <a:t> </a:t>
            </a:r>
            <a:r>
              <a:rPr kumimoji="0" lang="en-US" altLang="en-US" sz="1800" b="0" i="0" u="none" strike="noStrike" cap="none" normalizeH="0" baseline="0">
                <a:ln>
                  <a:noFill/>
                </a:ln>
                <a:solidFill>
                  <a:schemeClr val="bg1"/>
                </a:solidFill>
                <a:effectLst/>
                <a:latin typeface="Arial" panose="020B0604020202020204" pitchFamily="34" charset="0"/>
              </a:rPr>
              <a:t> </a:t>
            </a:r>
            <a:endParaRPr lang="en-IN"/>
          </a:p>
        </p:txBody>
      </p:sp>
      <p:sp>
        <p:nvSpPr>
          <p:cNvPr id="22" name="TextBox 21">
            <a:extLst>
              <a:ext uri="{FF2B5EF4-FFF2-40B4-BE49-F238E27FC236}">
                <a16:creationId xmlns:a16="http://schemas.microsoft.com/office/drawing/2014/main" id="{1A5291BB-E2C5-5E80-6FAD-85B9BABCE41F}"/>
              </a:ext>
            </a:extLst>
          </p:cNvPr>
          <p:cNvSpPr txBox="1"/>
          <p:nvPr/>
        </p:nvSpPr>
        <p:spPr>
          <a:xfrm>
            <a:off x="7048514" y="3833242"/>
            <a:ext cx="4811699" cy="584775"/>
          </a:xfrm>
          <a:prstGeom prst="rect">
            <a:avLst/>
          </a:prstGeom>
          <a:noFill/>
        </p:spPr>
        <p:txBody>
          <a:bodyPr wrap="square">
            <a:spAutoFit/>
          </a:bodyPr>
          <a:lstStyle/>
          <a:p>
            <a:pPr marR="0" lvl="0" indent="0" fontAlgn="base">
              <a:lnSpc>
                <a:spcPct val="100000"/>
              </a:lnSpc>
              <a:spcBef>
                <a:spcPct val="0"/>
              </a:spcBef>
              <a:spcAft>
                <a:spcPct val="0"/>
              </a:spcAft>
              <a:buClrTx/>
              <a:buSzTx/>
              <a:buFontTx/>
              <a:buNone/>
              <a:tabLst/>
            </a:pPr>
            <a:r>
              <a:rPr lang="en-US" altLang="en-US" sz="1400" b="1">
                <a:solidFill>
                  <a:schemeClr val="bg1"/>
                </a:solidFill>
                <a:latin typeface="EYInterstate" panose="02000503020000020004" pitchFamily="2" charset="0"/>
              </a:rPr>
              <a:t>Run (T)  </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chemeClr val="bg1"/>
                </a:solidFill>
                <a:effectLst/>
                <a:latin typeface="Arial" panose="020B0604020202020204" pitchFamily="34" charset="0"/>
              </a:rPr>
              <a:t>  </a:t>
            </a:r>
          </a:p>
        </p:txBody>
      </p:sp>
      <p:sp>
        <p:nvSpPr>
          <p:cNvPr id="23" name="Flowchart: Off-page Connector 22">
            <a:extLst>
              <a:ext uri="{FF2B5EF4-FFF2-40B4-BE49-F238E27FC236}">
                <a16:creationId xmlns:a16="http://schemas.microsoft.com/office/drawing/2014/main" id="{04C215DC-ED6A-A9A4-3E3A-4ABD796DD792}"/>
              </a:ext>
            </a:extLst>
          </p:cNvPr>
          <p:cNvSpPr/>
          <p:nvPr/>
        </p:nvSpPr>
        <p:spPr>
          <a:xfrm>
            <a:off x="7126551" y="5304334"/>
            <a:ext cx="4411138" cy="1341537"/>
          </a:xfrm>
          <a:prstGeom prst="flowChartOffpageConnector">
            <a:avLst/>
          </a:prstGeom>
          <a:noFill/>
          <a:ln>
            <a:solidFill>
              <a:srgbClr val="FFE600"/>
            </a:solidFill>
          </a:ln>
          <a:scene3d>
            <a:camera prst="perspectiveBelow"/>
            <a:lightRig rig="threePt" dir="t"/>
          </a:scene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4" name="TextBox 23">
            <a:extLst>
              <a:ext uri="{FF2B5EF4-FFF2-40B4-BE49-F238E27FC236}">
                <a16:creationId xmlns:a16="http://schemas.microsoft.com/office/drawing/2014/main" id="{4D3037EA-3B0D-BFA2-A97C-91D20D976329}"/>
              </a:ext>
            </a:extLst>
          </p:cNvPr>
          <p:cNvSpPr txBox="1"/>
          <p:nvPr/>
        </p:nvSpPr>
        <p:spPr>
          <a:xfrm>
            <a:off x="7049072" y="4987876"/>
            <a:ext cx="4829494" cy="369332"/>
          </a:xfrm>
          <a:prstGeom prst="rect">
            <a:avLst/>
          </a:prstGeom>
          <a:noFill/>
        </p:spPr>
        <p:txBody>
          <a:bodyPr wrap="square">
            <a:spAutoFit/>
          </a:bodyPr>
          <a:lstStyle/>
          <a:p>
            <a:pPr lvl="0" eaLnBrk="0" fontAlgn="base" hangingPunct="0">
              <a:spcBef>
                <a:spcPct val="0"/>
              </a:spcBef>
              <a:spcAft>
                <a:spcPct val="0"/>
              </a:spcAft>
            </a:pPr>
            <a:r>
              <a:rPr lang="en-US" altLang="en-US" sz="1400" b="1">
                <a:solidFill>
                  <a:schemeClr val="bg1"/>
                </a:solidFill>
                <a:latin typeface="EYInterstate" panose="02000503020000020004" pitchFamily="2" charset="0"/>
              </a:rPr>
              <a:t>Post‑run (T to T+1)  </a:t>
            </a:r>
            <a:r>
              <a:rPr lang="en-US" altLang="en-US">
                <a:solidFill>
                  <a:schemeClr val="bg1"/>
                </a:solidFill>
                <a:latin typeface="Arial" panose="020B0604020202020204" pitchFamily="34" charset="0"/>
              </a:rPr>
              <a:t> </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 name="TextBox 25">
            <a:extLst>
              <a:ext uri="{FF2B5EF4-FFF2-40B4-BE49-F238E27FC236}">
                <a16:creationId xmlns:a16="http://schemas.microsoft.com/office/drawing/2014/main" id="{62F8340C-3331-BA55-1D7D-14A8F30A61B6}"/>
              </a:ext>
            </a:extLst>
          </p:cNvPr>
          <p:cNvSpPr txBox="1"/>
          <p:nvPr/>
        </p:nvSpPr>
        <p:spPr>
          <a:xfrm>
            <a:off x="7031030" y="932558"/>
            <a:ext cx="5143701" cy="369332"/>
          </a:xfrm>
          <a:prstGeom prst="rect">
            <a:avLst/>
          </a:prstGeom>
          <a:noFill/>
        </p:spPr>
        <p:txBody>
          <a:bodyPr wrap="square" rtlCol="0">
            <a:spAutoFit/>
          </a:bodyPr>
          <a:lstStyle/>
          <a:p>
            <a:r>
              <a:rPr lang="en-IN" b="1" u="sng">
                <a:solidFill>
                  <a:schemeClr val="bg1"/>
                </a:solidFill>
                <a:latin typeface="EYInterstate" panose="02000503020000020004" pitchFamily="2" charset="0"/>
              </a:rPr>
              <a:t>Depreciation  Run Checklist</a:t>
            </a:r>
          </a:p>
        </p:txBody>
      </p:sp>
      <p:grpSp>
        <p:nvGrpSpPr>
          <p:cNvPr id="30" name="Group 29">
            <a:extLst>
              <a:ext uri="{FF2B5EF4-FFF2-40B4-BE49-F238E27FC236}">
                <a16:creationId xmlns:a16="http://schemas.microsoft.com/office/drawing/2014/main" id="{E0541865-1CB4-A168-8D0A-C41F6F1D1285}"/>
              </a:ext>
            </a:extLst>
          </p:cNvPr>
          <p:cNvGrpSpPr/>
          <p:nvPr/>
        </p:nvGrpSpPr>
        <p:grpSpPr>
          <a:xfrm>
            <a:off x="7111710" y="1580848"/>
            <a:ext cx="4439385" cy="1315026"/>
            <a:chOff x="7111710" y="1936957"/>
            <a:chExt cx="4439385" cy="1290954"/>
          </a:xfrm>
        </p:grpSpPr>
        <p:sp>
          <p:nvSpPr>
            <p:cNvPr id="28" name="Arrow: Curved Down 27">
              <a:extLst>
                <a:ext uri="{FF2B5EF4-FFF2-40B4-BE49-F238E27FC236}">
                  <a16:creationId xmlns:a16="http://schemas.microsoft.com/office/drawing/2014/main" id="{7063B08E-2553-1356-9E1A-3B2CA8BE7A62}"/>
                </a:ext>
              </a:extLst>
            </p:cNvPr>
            <p:cNvSpPr/>
            <p:nvPr/>
          </p:nvSpPr>
          <p:spPr>
            <a:xfrm>
              <a:off x="8936129" y="2877424"/>
              <a:ext cx="864361" cy="350487"/>
            </a:xfrm>
            <a:prstGeom prst="curvedDownArrow">
              <a:avLst/>
            </a:prstGeom>
            <a:solidFill>
              <a:srgbClr val="FFE6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tx1"/>
                </a:solidFill>
              </a:endParaRPr>
            </a:p>
          </p:txBody>
        </p:sp>
        <p:sp>
          <p:nvSpPr>
            <p:cNvPr id="27" name="Flowchart: Off-page Connector 26">
              <a:extLst>
                <a:ext uri="{FF2B5EF4-FFF2-40B4-BE49-F238E27FC236}">
                  <a16:creationId xmlns:a16="http://schemas.microsoft.com/office/drawing/2014/main" id="{2275B071-C568-04E0-3F9F-00961201E6BD}"/>
                </a:ext>
              </a:extLst>
            </p:cNvPr>
            <p:cNvSpPr/>
            <p:nvPr/>
          </p:nvSpPr>
          <p:spPr>
            <a:xfrm>
              <a:off x="7122917" y="1944600"/>
              <a:ext cx="4428178" cy="1143562"/>
            </a:xfrm>
            <a:prstGeom prst="flowChartOffpageConnector">
              <a:avLst/>
            </a:prstGeom>
            <a:noFill/>
            <a:ln>
              <a:solidFill>
                <a:srgbClr val="FFE600"/>
              </a:solidFill>
            </a:ln>
            <a:scene3d>
              <a:camera prst="perspectiveBelow"/>
              <a:lightRig rig="threePt" dir="t"/>
            </a:scene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9" name="TextBox 28">
              <a:extLst>
                <a:ext uri="{FF2B5EF4-FFF2-40B4-BE49-F238E27FC236}">
                  <a16:creationId xmlns:a16="http://schemas.microsoft.com/office/drawing/2014/main" id="{9EE8BD77-5ACC-DBB0-B955-5EBA1769788E}"/>
                </a:ext>
              </a:extLst>
            </p:cNvPr>
            <p:cNvSpPr txBox="1"/>
            <p:nvPr/>
          </p:nvSpPr>
          <p:spPr>
            <a:xfrm>
              <a:off x="7111710" y="1936957"/>
              <a:ext cx="4285325" cy="954107"/>
            </a:xfrm>
            <a:prstGeom prst="rect">
              <a:avLst/>
            </a:prstGeom>
            <a:noFill/>
          </p:spPr>
          <p:txBody>
            <a:bodyPr wrap="square" rtlCol="0">
              <a:spAutoFit/>
            </a:bodyPr>
            <a:lstStyle/>
            <a:p>
              <a:pPr marL="171450" marR="0" lvl="0" indent="-171450" algn="l" defTabSz="914400" rtl="0" eaLnBrk="0" fontAlgn="base" latinLnBrk="0" hangingPunct="0">
                <a:lnSpc>
                  <a:spcPct val="100000"/>
                </a:lnSpc>
                <a:spcBef>
                  <a:spcPct val="0"/>
                </a:spcBef>
                <a:spcAft>
                  <a:spcPct val="0"/>
                </a:spcAft>
                <a:buClr>
                  <a:srgbClr val="FFE600"/>
                </a:buClr>
                <a:buSzTx/>
                <a:buFont typeface="Courier New" panose="02070309020205020404" pitchFamily="49" charset="0"/>
                <a:buChar char="o"/>
                <a:tabLst/>
                <a:defRPr/>
              </a:pPr>
              <a:r>
                <a:rPr kumimoji="0" lang="en-US" altLang="en-US" sz="800" b="0" i="0" u="none" strike="noStrike" kern="1200" cap="none" spc="0" normalizeH="0" baseline="0" noProof="0">
                  <a:ln>
                    <a:noFill/>
                  </a:ln>
                  <a:solidFill>
                    <a:prstClr val="white"/>
                  </a:solidFill>
                  <a:effectLst/>
                  <a:uLnTx/>
                  <a:uFillTx/>
                  <a:latin typeface="EYInterstate" panose="02000503020000020004" pitchFamily="2" charset="0"/>
                </a:rPr>
                <a:t>All additions/CIP→FA, transfers, and retirements posted; ROU and ARO changes synchronized </a:t>
              </a:r>
            </a:p>
            <a:p>
              <a:pPr marL="171450" marR="0" lvl="0" indent="-171450" algn="l" defTabSz="914400" rtl="0" eaLnBrk="0" fontAlgn="base" latinLnBrk="0" hangingPunct="0">
                <a:lnSpc>
                  <a:spcPct val="100000"/>
                </a:lnSpc>
                <a:spcBef>
                  <a:spcPct val="0"/>
                </a:spcBef>
                <a:spcAft>
                  <a:spcPct val="0"/>
                </a:spcAft>
                <a:buClr>
                  <a:srgbClr val="FFE600"/>
                </a:buClr>
                <a:buSzTx/>
                <a:buFont typeface="Courier New" panose="02070309020205020404" pitchFamily="49" charset="0"/>
                <a:buChar char="o"/>
                <a:tabLst/>
                <a:defRPr/>
              </a:pPr>
              <a:r>
                <a:rPr kumimoji="0" lang="en-US" altLang="en-US" sz="800" b="0" i="0" u="none" strike="noStrike" kern="1200" cap="none" spc="0" normalizeH="0" baseline="0" noProof="0">
                  <a:ln>
                    <a:noFill/>
                  </a:ln>
                  <a:solidFill>
                    <a:prstClr val="white"/>
                  </a:solidFill>
                  <a:effectLst/>
                  <a:uLnTx/>
                  <a:uFillTx/>
                  <a:latin typeface="EYInterstate" panose="02000503020000020004" pitchFamily="2" charset="0"/>
                </a:rPr>
                <a:t> Life/method/residual reviewed; componentization verified; impairment triggers assessed.  </a:t>
              </a:r>
            </a:p>
            <a:p>
              <a:pPr marL="171450" marR="0" lvl="0" indent="-171450" algn="l" defTabSz="914400" rtl="0" eaLnBrk="0" fontAlgn="base" latinLnBrk="0" hangingPunct="0">
                <a:lnSpc>
                  <a:spcPct val="100000"/>
                </a:lnSpc>
                <a:spcBef>
                  <a:spcPct val="0"/>
                </a:spcBef>
                <a:spcAft>
                  <a:spcPct val="0"/>
                </a:spcAft>
                <a:buClr>
                  <a:srgbClr val="FFE600"/>
                </a:buClr>
                <a:buSzTx/>
                <a:buFont typeface="Courier New" panose="02070309020205020404" pitchFamily="49" charset="0"/>
                <a:buChar char="o"/>
                <a:tabLst/>
                <a:defRPr/>
              </a:pPr>
              <a:r>
                <a:rPr kumimoji="0" lang="en-US" altLang="en-US" sz="800" b="0" i="0" u="none" strike="noStrike" kern="1200" cap="none" spc="0" normalizeH="0" baseline="0" noProof="0">
                  <a:ln>
                    <a:noFill/>
                  </a:ln>
                  <a:solidFill>
                    <a:prstClr val="white"/>
                  </a:solidFill>
                  <a:effectLst/>
                  <a:uLnTx/>
                  <a:uFillTx/>
                  <a:latin typeface="EYInterstate" panose="02000503020000020004" pitchFamily="2" charset="0"/>
                </a:rPr>
                <a:t>Period open and calendars OK (corporate/tax); FX/hyperinflation considerations reviewed.  </a:t>
              </a:r>
            </a:p>
            <a:p>
              <a:pPr marL="171450" marR="0" lvl="0" indent="-171450" algn="l" defTabSz="914400" rtl="0" eaLnBrk="0" fontAlgn="base" latinLnBrk="0" hangingPunct="0">
                <a:lnSpc>
                  <a:spcPct val="100000"/>
                </a:lnSpc>
                <a:spcBef>
                  <a:spcPct val="0"/>
                </a:spcBef>
                <a:spcAft>
                  <a:spcPct val="0"/>
                </a:spcAft>
                <a:buClr>
                  <a:srgbClr val="FFE600"/>
                </a:buClr>
                <a:buSzTx/>
                <a:buFont typeface="Courier New" panose="02070309020205020404" pitchFamily="49" charset="0"/>
                <a:buChar char="o"/>
                <a:tabLst/>
                <a:defRPr/>
              </a:pPr>
              <a:r>
                <a:rPr kumimoji="0" lang="en-US" altLang="en-US" sz="800" b="0" i="0" u="none" strike="noStrike" kern="1200" cap="none" spc="0" normalizeH="0" baseline="0" noProof="0">
                  <a:ln>
                    <a:noFill/>
                  </a:ln>
                  <a:solidFill>
                    <a:prstClr val="white"/>
                  </a:solidFill>
                  <a:effectLst/>
                  <a:uLnTx/>
                  <a:uFillTx/>
                  <a:latin typeface="EYInterstate" panose="02000503020000020004" pitchFamily="2" charset="0"/>
                </a:rPr>
                <a:t>Controls: maker–checker approvals and completeness checks executed.</a:t>
              </a:r>
              <a:endParaRPr lang="en-IN" sz="800">
                <a:latin typeface="EYInterstate" panose="02000503020000020004" pitchFamily="2" charset="0"/>
              </a:endParaRPr>
            </a:p>
          </p:txBody>
        </p:sp>
      </p:grpSp>
      <p:grpSp>
        <p:nvGrpSpPr>
          <p:cNvPr id="35" name="Group 34">
            <a:extLst>
              <a:ext uri="{FF2B5EF4-FFF2-40B4-BE49-F238E27FC236}">
                <a16:creationId xmlns:a16="http://schemas.microsoft.com/office/drawing/2014/main" id="{4050715E-10EF-2356-4601-497E4EDEC7BD}"/>
              </a:ext>
            </a:extLst>
          </p:cNvPr>
          <p:cNvGrpSpPr/>
          <p:nvPr/>
        </p:nvGrpSpPr>
        <p:grpSpPr>
          <a:xfrm>
            <a:off x="7146089" y="3131368"/>
            <a:ext cx="4428178" cy="675397"/>
            <a:chOff x="7154221" y="3473811"/>
            <a:chExt cx="4428178" cy="1302544"/>
          </a:xfrm>
        </p:grpSpPr>
        <p:grpSp>
          <p:nvGrpSpPr>
            <p:cNvPr id="17" name="Group 16">
              <a:extLst>
                <a:ext uri="{FF2B5EF4-FFF2-40B4-BE49-F238E27FC236}">
                  <a16:creationId xmlns:a16="http://schemas.microsoft.com/office/drawing/2014/main" id="{9810BC99-B670-03CD-EAA7-300B55BBE35B}"/>
                </a:ext>
              </a:extLst>
            </p:cNvPr>
            <p:cNvGrpSpPr/>
            <p:nvPr/>
          </p:nvGrpSpPr>
          <p:grpSpPr>
            <a:xfrm>
              <a:off x="7154221" y="3473811"/>
              <a:ext cx="4428178" cy="1302544"/>
              <a:chOff x="7059168" y="4919472"/>
              <a:chExt cx="3694176" cy="1465453"/>
            </a:xfrm>
          </p:grpSpPr>
          <p:sp>
            <p:nvSpPr>
              <p:cNvPr id="18" name="Arrow: Curved Down 17">
                <a:extLst>
                  <a:ext uri="{FF2B5EF4-FFF2-40B4-BE49-F238E27FC236}">
                    <a16:creationId xmlns:a16="http://schemas.microsoft.com/office/drawing/2014/main" id="{827E3B81-3A7A-D36F-5BF3-EC5E55EB6115}"/>
                  </a:ext>
                </a:extLst>
              </p:cNvPr>
              <p:cNvSpPr/>
              <p:nvPr/>
            </p:nvSpPr>
            <p:spPr>
              <a:xfrm>
                <a:off x="8558772" y="5817173"/>
                <a:ext cx="708027" cy="567752"/>
              </a:xfrm>
              <a:prstGeom prst="curvedDownArrow">
                <a:avLst/>
              </a:prstGeom>
              <a:solidFill>
                <a:srgbClr val="FFE6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tx1"/>
                  </a:solidFill>
                </a:endParaRPr>
              </a:p>
            </p:txBody>
          </p:sp>
          <p:sp>
            <p:nvSpPr>
              <p:cNvPr id="19" name="Flowchart: Off-page Connector 18">
                <a:extLst>
                  <a:ext uri="{FF2B5EF4-FFF2-40B4-BE49-F238E27FC236}">
                    <a16:creationId xmlns:a16="http://schemas.microsoft.com/office/drawing/2014/main" id="{371770D3-6350-5530-C350-248A27169D2A}"/>
                  </a:ext>
                </a:extLst>
              </p:cNvPr>
              <p:cNvSpPr/>
              <p:nvPr/>
            </p:nvSpPr>
            <p:spPr>
              <a:xfrm>
                <a:off x="7059168" y="4919472"/>
                <a:ext cx="3694176" cy="1261872"/>
              </a:xfrm>
              <a:prstGeom prst="flowChartOffpageConnector">
                <a:avLst/>
              </a:prstGeom>
              <a:noFill/>
              <a:ln>
                <a:solidFill>
                  <a:srgbClr val="FFE600"/>
                </a:solidFill>
              </a:ln>
              <a:scene3d>
                <a:camera prst="perspectiveBelow"/>
                <a:lightRig rig="threePt" dir="t"/>
              </a:scene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34" name="TextBox 33">
              <a:extLst>
                <a:ext uri="{FF2B5EF4-FFF2-40B4-BE49-F238E27FC236}">
                  <a16:creationId xmlns:a16="http://schemas.microsoft.com/office/drawing/2014/main" id="{D6D2D4FF-7400-0290-9500-004B696A5D5D}"/>
                </a:ext>
              </a:extLst>
            </p:cNvPr>
            <p:cNvSpPr txBox="1"/>
            <p:nvPr/>
          </p:nvSpPr>
          <p:spPr>
            <a:xfrm>
              <a:off x="7259263" y="3609979"/>
              <a:ext cx="3549339" cy="771636"/>
            </a:xfrm>
            <a:prstGeom prst="rect">
              <a:avLst/>
            </a:prstGeom>
            <a:noFill/>
          </p:spPr>
          <p:txBody>
            <a:bodyPr wrap="square">
              <a:spAutoFit/>
            </a:bodyPr>
            <a:lstStyle/>
            <a:p>
              <a:pPr marL="171450" indent="-171450">
                <a:buClr>
                  <a:srgbClr val="FFE600"/>
                </a:buClr>
                <a:buFont typeface="Courier New" panose="02070309020205020404" pitchFamily="49" charset="0"/>
                <a:buChar char="o"/>
              </a:pPr>
              <a:r>
                <a:rPr kumimoji="0" lang="en-US" altLang="en-US" sz="1000" b="0" i="0" u="none" strike="noStrike" kern="1200" cap="none" spc="0" normalizeH="0" baseline="0" noProof="0">
                  <a:ln>
                    <a:noFill/>
                  </a:ln>
                  <a:solidFill>
                    <a:prstClr val="white"/>
                  </a:solidFill>
                  <a:effectLst/>
                  <a:uLnTx/>
                  <a:uFillTx/>
                  <a:latin typeface="EYInterstate" panose="02000503020000020004" pitchFamily="2" charset="0"/>
                </a:rPr>
                <a:t>Test run executed; exceptions cleared; variance analytics reviewed</a:t>
              </a:r>
              <a:endParaRPr lang="en-IN" sz="1000">
                <a:latin typeface="EYInterstate" panose="02000503020000020004" pitchFamily="2" charset="0"/>
              </a:endParaRPr>
            </a:p>
          </p:txBody>
        </p:sp>
      </p:grpSp>
      <p:grpSp>
        <p:nvGrpSpPr>
          <p:cNvPr id="46" name="Group 45">
            <a:extLst>
              <a:ext uri="{FF2B5EF4-FFF2-40B4-BE49-F238E27FC236}">
                <a16:creationId xmlns:a16="http://schemas.microsoft.com/office/drawing/2014/main" id="{E1B5A640-881E-35EA-35DF-6B6276D90078}"/>
              </a:ext>
            </a:extLst>
          </p:cNvPr>
          <p:cNvGrpSpPr/>
          <p:nvPr/>
        </p:nvGrpSpPr>
        <p:grpSpPr>
          <a:xfrm>
            <a:off x="7122917" y="4159470"/>
            <a:ext cx="4443832" cy="804875"/>
            <a:chOff x="7138566" y="4296545"/>
            <a:chExt cx="4443832" cy="804875"/>
          </a:xfrm>
        </p:grpSpPr>
        <p:sp>
          <p:nvSpPr>
            <p:cNvPr id="25" name="Arrow: Curved Down 24">
              <a:extLst>
                <a:ext uri="{FF2B5EF4-FFF2-40B4-BE49-F238E27FC236}">
                  <a16:creationId xmlns:a16="http://schemas.microsoft.com/office/drawing/2014/main" id="{4C62FC25-8118-635A-F90F-24238372EEF3}"/>
                </a:ext>
              </a:extLst>
            </p:cNvPr>
            <p:cNvSpPr/>
            <p:nvPr/>
          </p:nvSpPr>
          <p:spPr>
            <a:xfrm>
              <a:off x="9018277" y="4714890"/>
              <a:ext cx="818863" cy="386530"/>
            </a:xfrm>
            <a:prstGeom prst="curvedDownArrow">
              <a:avLst/>
            </a:prstGeom>
            <a:solidFill>
              <a:srgbClr val="FFE6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tx1"/>
                </a:solidFill>
              </a:endParaRPr>
            </a:p>
          </p:txBody>
        </p:sp>
        <p:sp>
          <p:nvSpPr>
            <p:cNvPr id="16" name="Flowchart: Off-page Connector 15">
              <a:extLst>
                <a:ext uri="{FF2B5EF4-FFF2-40B4-BE49-F238E27FC236}">
                  <a16:creationId xmlns:a16="http://schemas.microsoft.com/office/drawing/2014/main" id="{9F3C4561-B007-E4B7-09EF-58A4C5962FA7}"/>
                </a:ext>
              </a:extLst>
            </p:cNvPr>
            <p:cNvSpPr/>
            <p:nvPr/>
          </p:nvSpPr>
          <p:spPr>
            <a:xfrm>
              <a:off x="7169263" y="4296545"/>
              <a:ext cx="4413135" cy="584775"/>
            </a:xfrm>
            <a:prstGeom prst="flowChartOffpageConnector">
              <a:avLst/>
            </a:prstGeom>
            <a:noFill/>
            <a:ln>
              <a:solidFill>
                <a:srgbClr val="FFE600"/>
              </a:solidFill>
            </a:ln>
            <a:scene3d>
              <a:camera prst="perspectiveBelow"/>
              <a:lightRig rig="threePt" dir="t"/>
            </a:scene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9" name="TextBox 38">
              <a:extLst>
                <a:ext uri="{FF2B5EF4-FFF2-40B4-BE49-F238E27FC236}">
                  <a16:creationId xmlns:a16="http://schemas.microsoft.com/office/drawing/2014/main" id="{818D792B-D634-E8DD-8483-BEAA3118BCE2}"/>
                </a:ext>
              </a:extLst>
            </p:cNvPr>
            <p:cNvSpPr txBox="1"/>
            <p:nvPr/>
          </p:nvSpPr>
          <p:spPr>
            <a:xfrm>
              <a:off x="7138566" y="4382485"/>
              <a:ext cx="4266581" cy="400110"/>
            </a:xfrm>
            <a:prstGeom prst="rect">
              <a:avLst/>
            </a:prstGeom>
            <a:noFill/>
          </p:spPr>
          <p:txBody>
            <a:bodyPr wrap="square">
              <a:spAutoFit/>
            </a:bodyPr>
            <a:lstStyle/>
            <a:p>
              <a:pPr marL="171450" indent="-171450">
                <a:buClr>
                  <a:srgbClr val="FFE600"/>
                </a:buClr>
                <a:buFont typeface="Courier New" panose="02070309020205020404" pitchFamily="49" charset="0"/>
                <a:buChar char="o"/>
              </a:pPr>
              <a:r>
                <a:rPr kumimoji="0" lang="en-US" altLang="en-US" sz="800" b="0"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r>
                <a:rPr lang="en-US" altLang="en-US" sz="1000">
                  <a:solidFill>
                    <a:prstClr val="white"/>
                  </a:solidFill>
                  <a:latin typeface="EYInterstate" panose="02000503020000020004" pitchFamily="2" charset="0"/>
                </a:rPr>
                <a:t>Execute depreciation batch per ERP; monitor logs; ensure no concurrent postings</a:t>
              </a:r>
              <a:endParaRPr lang="en-IN" sz="1000">
                <a:solidFill>
                  <a:prstClr val="white"/>
                </a:solidFill>
                <a:latin typeface="EYInterstate" panose="02000503020000020004" pitchFamily="2" charset="0"/>
              </a:endParaRPr>
            </a:p>
          </p:txBody>
        </p:sp>
      </p:grpSp>
      <p:sp>
        <p:nvSpPr>
          <p:cNvPr id="45" name="TextBox 44">
            <a:extLst>
              <a:ext uri="{FF2B5EF4-FFF2-40B4-BE49-F238E27FC236}">
                <a16:creationId xmlns:a16="http://schemas.microsoft.com/office/drawing/2014/main" id="{25BE2774-8441-8859-7A47-622B6F089CA9}"/>
              </a:ext>
            </a:extLst>
          </p:cNvPr>
          <p:cNvSpPr txBox="1"/>
          <p:nvPr/>
        </p:nvSpPr>
        <p:spPr>
          <a:xfrm>
            <a:off x="7146088" y="5342508"/>
            <a:ext cx="4381831" cy="954107"/>
          </a:xfrm>
          <a:prstGeom prst="rect">
            <a:avLst/>
          </a:prstGeom>
          <a:noFill/>
        </p:spPr>
        <p:txBody>
          <a:bodyPr wrap="square">
            <a:spAutoFit/>
          </a:bodyPr>
          <a:lstStyle/>
          <a:p>
            <a:pPr marL="171450" indent="-171450" eaLnBrk="0" fontAlgn="base" hangingPunct="0">
              <a:spcBef>
                <a:spcPct val="0"/>
              </a:spcBef>
              <a:spcAft>
                <a:spcPct val="0"/>
              </a:spcAft>
              <a:buClr>
                <a:srgbClr val="FFE600"/>
              </a:buClr>
              <a:buFont typeface="Courier New" panose="02070309020205020404" pitchFamily="49" charset="0"/>
              <a:buChar char="o"/>
              <a:defRPr/>
            </a:pPr>
            <a:r>
              <a:rPr lang="en-US" altLang="en-US" sz="800">
                <a:solidFill>
                  <a:prstClr val="white"/>
                </a:solidFill>
                <a:latin typeface="EYInterstate" panose="02000503020000020004" pitchFamily="2" charset="0"/>
              </a:rPr>
              <a:t>Review exception logs; fix error assets; re‑post if required.  </a:t>
            </a:r>
          </a:p>
          <a:p>
            <a:pPr marL="171450" indent="-171450" eaLnBrk="0" fontAlgn="base" hangingPunct="0">
              <a:spcBef>
                <a:spcPct val="0"/>
              </a:spcBef>
              <a:spcAft>
                <a:spcPct val="0"/>
              </a:spcAft>
              <a:buClr>
                <a:srgbClr val="FFE600"/>
              </a:buClr>
              <a:buFont typeface="Courier New" panose="02070309020205020404" pitchFamily="49" charset="0"/>
              <a:buChar char="o"/>
              <a:defRPr/>
            </a:pPr>
            <a:r>
              <a:rPr lang="en-US" altLang="en-US" sz="800">
                <a:solidFill>
                  <a:prstClr val="white"/>
                </a:solidFill>
                <a:latin typeface="EYInterstate" panose="02000503020000020004" pitchFamily="2" charset="0"/>
              </a:rPr>
              <a:t>Post to GL and reconcile FA to GL (expense &amp; reserve). </a:t>
            </a:r>
          </a:p>
          <a:p>
            <a:pPr marL="171450" indent="-171450" eaLnBrk="0" fontAlgn="base" hangingPunct="0">
              <a:spcBef>
                <a:spcPct val="0"/>
              </a:spcBef>
              <a:spcAft>
                <a:spcPct val="0"/>
              </a:spcAft>
              <a:buClr>
                <a:srgbClr val="FFE600"/>
              </a:buClr>
              <a:buFont typeface="Courier New" panose="02070309020205020404" pitchFamily="49" charset="0"/>
              <a:buChar char="o"/>
              <a:defRPr/>
            </a:pPr>
            <a:r>
              <a:rPr lang="en-US" altLang="en-US" sz="800">
                <a:solidFill>
                  <a:prstClr val="white"/>
                </a:solidFill>
                <a:latin typeface="EYInterstate" panose="02000503020000020004" pitchFamily="2" charset="0"/>
              </a:rPr>
              <a:t> Multi‑book checks (tax vs corporate) and reports reviewed; close FA period (if policy). </a:t>
            </a:r>
          </a:p>
          <a:p>
            <a:pPr marL="171450" indent="-171450" eaLnBrk="0" fontAlgn="base" hangingPunct="0">
              <a:spcBef>
                <a:spcPct val="0"/>
              </a:spcBef>
              <a:spcAft>
                <a:spcPct val="0"/>
              </a:spcAft>
              <a:buClr>
                <a:srgbClr val="FFE600"/>
              </a:buClr>
              <a:buFont typeface="Courier New" panose="02070309020205020404" pitchFamily="49" charset="0"/>
              <a:buChar char="o"/>
              <a:defRPr/>
            </a:pPr>
            <a:r>
              <a:rPr lang="en-US" altLang="en-US" sz="800">
                <a:solidFill>
                  <a:prstClr val="white"/>
                </a:solidFill>
                <a:latin typeface="EYInterstate" panose="02000503020000020004" pitchFamily="2" charset="0"/>
              </a:rPr>
              <a:t> Special cases verified: revaluation, impairment, ARO remeasurements, group/composite. </a:t>
            </a:r>
          </a:p>
          <a:p>
            <a:pPr marL="171450" indent="-171450" eaLnBrk="0" fontAlgn="base" hangingPunct="0">
              <a:spcBef>
                <a:spcPct val="0"/>
              </a:spcBef>
              <a:spcAft>
                <a:spcPct val="0"/>
              </a:spcAft>
              <a:buClr>
                <a:srgbClr val="FFE600"/>
              </a:buClr>
              <a:buFont typeface="Courier New" panose="02070309020205020404" pitchFamily="49" charset="0"/>
              <a:buChar char="o"/>
              <a:defRPr/>
            </a:pPr>
            <a:r>
              <a:rPr lang="en-US" altLang="en-US" sz="800">
                <a:solidFill>
                  <a:prstClr val="white"/>
                </a:solidFill>
                <a:latin typeface="EYInterstate" panose="02000503020000020004" pitchFamily="2" charset="0"/>
              </a:rPr>
              <a:t> Documentation filed (run logs, reconciliations, memos) for SOX support</a:t>
            </a:r>
            <a:endParaRPr lang="en-IN" sz="800">
              <a:solidFill>
                <a:prstClr val="white"/>
              </a:solidFill>
              <a:latin typeface="EYInterstate" panose="02000503020000020004" pitchFamily="2" charset="0"/>
            </a:endParaRPr>
          </a:p>
        </p:txBody>
      </p:sp>
      <p:graphicFrame>
        <p:nvGraphicFramePr>
          <p:cNvPr id="49" name="Diagram 48">
            <a:extLst>
              <a:ext uri="{FF2B5EF4-FFF2-40B4-BE49-F238E27FC236}">
                <a16:creationId xmlns:a16="http://schemas.microsoft.com/office/drawing/2014/main" id="{7C2316D9-3EB3-3AD8-09D5-CB9129250D31}"/>
              </a:ext>
            </a:extLst>
          </p:cNvPr>
          <p:cNvGraphicFramePr/>
          <p:nvPr>
            <p:extLst>
              <p:ext uri="{D42A27DB-BD31-4B8C-83A1-F6EECF244321}">
                <p14:modId xmlns:p14="http://schemas.microsoft.com/office/powerpoint/2010/main" val="666876836"/>
              </p:ext>
            </p:extLst>
          </p:nvPr>
        </p:nvGraphicFramePr>
        <p:xfrm>
          <a:off x="635540" y="922115"/>
          <a:ext cx="5603943" cy="281945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0" name="TextBox 49">
            <a:extLst>
              <a:ext uri="{FF2B5EF4-FFF2-40B4-BE49-F238E27FC236}">
                <a16:creationId xmlns:a16="http://schemas.microsoft.com/office/drawing/2014/main" id="{C7E44B73-74B4-DB68-737D-42D5FDF4E4FF}"/>
              </a:ext>
            </a:extLst>
          </p:cNvPr>
          <p:cNvSpPr txBox="1"/>
          <p:nvPr/>
        </p:nvSpPr>
        <p:spPr>
          <a:xfrm>
            <a:off x="721125" y="1481147"/>
            <a:ext cx="1596545" cy="1015663"/>
          </a:xfrm>
          <a:prstGeom prst="rect">
            <a:avLst/>
          </a:prstGeom>
          <a:noFill/>
        </p:spPr>
        <p:txBody>
          <a:bodyPr wrap="square" rtlCol="0">
            <a:spAutoFit/>
          </a:bodyPr>
          <a:lstStyle/>
          <a:p>
            <a:r>
              <a:rPr kumimoji="0" lang="en-US" altLang="en-US" sz="1000" b="0" i="0" u="none" strike="noStrike" kern="1200" cap="none" spc="0" normalizeH="0" baseline="0" noProof="0">
                <a:ln>
                  <a:noFill/>
                </a:ln>
                <a:solidFill>
                  <a:schemeClr val="bg1"/>
                </a:solidFill>
                <a:effectLst/>
                <a:uLnTx/>
                <a:uFillTx/>
                <a:latin typeface="EYInterstate" panose="02000503020000020004" pitchFamily="2" charset="0"/>
              </a:rPr>
              <a:t>% assets posting without error/warning; target ≥ 98%. (APQC advocates measuring FA process efficiency &amp; quality</a:t>
            </a:r>
            <a:endParaRPr lang="en-IN" sz="1000">
              <a:solidFill>
                <a:schemeClr val="bg1"/>
              </a:solidFill>
              <a:latin typeface="EYInterstate" panose="02000503020000020004" pitchFamily="2" charset="0"/>
            </a:endParaRPr>
          </a:p>
        </p:txBody>
      </p:sp>
      <p:sp>
        <p:nvSpPr>
          <p:cNvPr id="52" name="TextBox 51">
            <a:extLst>
              <a:ext uri="{FF2B5EF4-FFF2-40B4-BE49-F238E27FC236}">
                <a16:creationId xmlns:a16="http://schemas.microsoft.com/office/drawing/2014/main" id="{66C996D0-5969-5625-0573-2BCC797EDEE1}"/>
              </a:ext>
            </a:extLst>
          </p:cNvPr>
          <p:cNvSpPr txBox="1"/>
          <p:nvPr/>
        </p:nvSpPr>
        <p:spPr>
          <a:xfrm>
            <a:off x="4406771" y="1419346"/>
            <a:ext cx="1732665" cy="1200329"/>
          </a:xfrm>
          <a:prstGeom prst="rect">
            <a:avLst/>
          </a:prstGeom>
          <a:noFill/>
        </p:spPr>
        <p:txBody>
          <a:bodyPr wrap="square" rtlCol="0">
            <a:spAutoFit/>
          </a:bodyPr>
          <a:lstStyle/>
          <a:p>
            <a:pPr marL="171450" indent="-171450">
              <a:buFont typeface="Arial" panose="020B0604020202020204" pitchFamily="34" charset="0"/>
              <a:buChar char="•"/>
            </a:pPr>
            <a:r>
              <a:rPr lang="en-US" altLang="en-US" sz="900">
                <a:solidFill>
                  <a:prstClr val="white"/>
                </a:solidFill>
                <a:latin typeface="EYInterstate" panose="02000503020000020004" pitchFamily="2" charset="0"/>
              </a:rPr>
              <a:t>M</a:t>
            </a:r>
            <a:r>
              <a:rPr kumimoji="0" lang="en-US" altLang="en-US" sz="900" b="0" i="0" u="none" strike="noStrike" kern="1200" cap="none" spc="0" normalizeH="0" baseline="0" noProof="0" err="1">
                <a:ln>
                  <a:noFill/>
                </a:ln>
                <a:solidFill>
                  <a:prstClr val="white"/>
                </a:solidFill>
                <a:effectLst/>
                <a:uLnTx/>
                <a:uFillTx/>
                <a:latin typeface="EYInterstate" panose="02000503020000020004" pitchFamily="2" charset="0"/>
              </a:rPr>
              <a:t>onth</a:t>
            </a:r>
            <a:r>
              <a:rPr kumimoji="0" lang="en-US" altLang="en-US" sz="900" b="0" i="0" u="none" strike="noStrike" kern="1200" cap="none" spc="0" normalizeH="0" baseline="0" noProof="0">
                <a:ln>
                  <a:noFill/>
                </a:ln>
                <a:solidFill>
                  <a:prstClr val="white"/>
                </a:solidFill>
                <a:effectLst/>
                <a:uLnTx/>
                <a:uFillTx/>
                <a:latin typeface="EYInterstate" panose="02000503020000020004" pitchFamily="2" charset="0"/>
              </a:rPr>
              <a:t>‑over</a:t>
            </a:r>
            <a:r>
              <a:rPr kumimoji="0" lang="en-US" altLang="en-US" sz="900" b="0" i="0" u="none" strike="noStrike" kern="1200" cap="none" spc="0" normalizeH="0" baseline="0" noProof="0">
                <a:ln>
                  <a:noFill/>
                </a:ln>
                <a:solidFill>
                  <a:prstClr val="white"/>
                </a:solidFill>
                <a:effectLst/>
                <a:uLnTx/>
                <a:uFillTx/>
                <a:latin typeface="Arial" panose="020B0604020202020204" pitchFamily="34" charset="0"/>
                <a:ea typeface="+mn-ea"/>
                <a:cs typeface="+mn-cs"/>
              </a:rPr>
              <a:t>‑</a:t>
            </a:r>
            <a:r>
              <a:rPr lang="en-US" altLang="en-US" sz="900">
                <a:solidFill>
                  <a:schemeClr val="bg1"/>
                </a:solidFill>
                <a:latin typeface="EYInterstate" panose="02000503020000020004" pitchFamily="2" charset="0"/>
              </a:rPr>
              <a:t>month depreciation change by class/location;</a:t>
            </a:r>
          </a:p>
          <a:p>
            <a:endParaRPr lang="en-US" altLang="en-US" sz="900">
              <a:solidFill>
                <a:schemeClr val="bg1"/>
              </a:solidFill>
              <a:latin typeface="EYInterstate" panose="02000503020000020004" pitchFamily="2" charset="0"/>
            </a:endParaRPr>
          </a:p>
          <a:p>
            <a:pPr marL="171450" indent="-171450">
              <a:buFont typeface="Arial" panose="020B0604020202020204" pitchFamily="34" charset="0"/>
              <a:buChar char="•"/>
            </a:pPr>
            <a:r>
              <a:rPr lang="en-US" altLang="en-US" sz="900">
                <a:solidFill>
                  <a:schemeClr val="bg1"/>
                </a:solidFill>
                <a:latin typeface="EYInterstate" panose="02000503020000020004" pitchFamily="2" charset="0"/>
              </a:rPr>
              <a:t>Tie major moves to business events (adds, retires, </a:t>
            </a:r>
            <a:r>
              <a:rPr lang="en-US" altLang="en-US" sz="900" err="1">
                <a:solidFill>
                  <a:schemeClr val="bg1"/>
                </a:solidFill>
                <a:latin typeface="EYInterstate" panose="02000503020000020004" pitchFamily="2" charset="0"/>
              </a:rPr>
              <a:t>revals</a:t>
            </a:r>
            <a:r>
              <a:rPr lang="en-US" altLang="en-US" sz="900">
                <a:solidFill>
                  <a:schemeClr val="bg1"/>
                </a:solidFill>
                <a:latin typeface="EYInterstate" panose="02000503020000020004" pitchFamily="2" charset="0"/>
              </a:rPr>
              <a:t>, impairments, lease mods)</a:t>
            </a:r>
            <a:endParaRPr lang="en-IN" sz="900">
              <a:solidFill>
                <a:schemeClr val="bg1"/>
              </a:solidFill>
              <a:latin typeface="EYInterstate" panose="02000503020000020004" pitchFamily="2" charset="0"/>
            </a:endParaRPr>
          </a:p>
        </p:txBody>
      </p:sp>
      <p:sp>
        <p:nvSpPr>
          <p:cNvPr id="53" name="TextBox 52">
            <a:extLst>
              <a:ext uri="{FF2B5EF4-FFF2-40B4-BE49-F238E27FC236}">
                <a16:creationId xmlns:a16="http://schemas.microsoft.com/office/drawing/2014/main" id="{2DC15783-D238-738E-C107-0ADB54346B55}"/>
              </a:ext>
            </a:extLst>
          </p:cNvPr>
          <p:cNvSpPr txBox="1"/>
          <p:nvPr/>
        </p:nvSpPr>
        <p:spPr>
          <a:xfrm>
            <a:off x="2582921" y="1519200"/>
            <a:ext cx="1447801" cy="1015663"/>
          </a:xfrm>
          <a:prstGeom prst="rect">
            <a:avLst/>
          </a:prstGeom>
          <a:noFill/>
        </p:spPr>
        <p:txBody>
          <a:bodyPr wrap="square" rtlCol="0">
            <a:spAutoFit/>
          </a:bodyPr>
          <a:lstStyle/>
          <a:p>
            <a:pPr marL="171450" indent="-171450">
              <a:buFont typeface="Arial" panose="020B0604020202020204" pitchFamily="34" charset="0"/>
              <a:buChar char="•"/>
            </a:pPr>
            <a:r>
              <a:rPr lang="en-US" altLang="en-US" sz="1000">
                <a:solidFill>
                  <a:prstClr val="white"/>
                </a:solidFill>
                <a:latin typeface="EYInterstate" panose="02000503020000020004" pitchFamily="2" charset="0"/>
              </a:rPr>
              <a:t>T</a:t>
            </a:r>
            <a:r>
              <a:rPr kumimoji="0" lang="en-US" altLang="en-US" sz="1000" b="0" i="0" u="none" strike="noStrike" kern="1200" cap="none" spc="0" normalizeH="0" baseline="0" noProof="0">
                <a:ln>
                  <a:noFill/>
                </a:ln>
                <a:solidFill>
                  <a:prstClr val="white"/>
                </a:solidFill>
                <a:effectLst/>
                <a:uLnTx/>
                <a:uFillTx/>
                <a:latin typeface="EYInterstate" panose="02000503020000020004" pitchFamily="2" charset="0"/>
              </a:rPr>
              <a:t>rigger→ posted depreciation;</a:t>
            </a:r>
          </a:p>
          <a:p>
            <a:pPr marL="171450" indent="-171450">
              <a:buFont typeface="Arial" panose="020B0604020202020204" pitchFamily="34" charset="0"/>
              <a:buChar char="•"/>
            </a:pPr>
            <a:endParaRPr kumimoji="0" lang="en-US" altLang="en-US" sz="1000" b="0" i="0" u="none" strike="noStrike" kern="1200" cap="none" spc="0" normalizeH="0" baseline="0" noProof="0">
              <a:ln>
                <a:noFill/>
              </a:ln>
              <a:solidFill>
                <a:prstClr val="white"/>
              </a:solidFill>
              <a:effectLst/>
              <a:uLnTx/>
              <a:uFillTx/>
              <a:latin typeface="EYInterstate" panose="02000503020000020004" pitchFamily="2" charset="0"/>
            </a:endParaRPr>
          </a:p>
          <a:p>
            <a:pPr marL="171450" indent="-171450">
              <a:buFont typeface="Arial" panose="020B0604020202020204" pitchFamily="34" charset="0"/>
              <a:buChar char="•"/>
            </a:pPr>
            <a:r>
              <a:rPr lang="en-US" altLang="en-US" sz="1000">
                <a:solidFill>
                  <a:prstClr val="white"/>
                </a:solidFill>
                <a:latin typeface="EYInterstate" panose="02000503020000020004" pitchFamily="2" charset="0"/>
              </a:rPr>
              <a:t>B</a:t>
            </a:r>
            <a:r>
              <a:rPr kumimoji="0" lang="en-US" altLang="en-US" sz="1000" b="0" i="0" u="none" strike="noStrike" kern="1200" cap="none" spc="0" normalizeH="0" baseline="0" noProof="0">
                <a:ln>
                  <a:noFill/>
                </a:ln>
                <a:solidFill>
                  <a:prstClr val="white"/>
                </a:solidFill>
                <a:effectLst/>
                <a:uLnTx/>
                <a:uFillTx/>
                <a:latin typeface="EYInterstate" panose="02000503020000020004" pitchFamily="2" charset="0"/>
              </a:rPr>
              <a:t>enchmark against APQC FA KPIs</a:t>
            </a:r>
            <a:endParaRPr lang="en-IN" sz="1000">
              <a:latin typeface="EYInterstate" panose="02000503020000020004" pitchFamily="2" charset="0"/>
            </a:endParaRPr>
          </a:p>
        </p:txBody>
      </p:sp>
      <p:sp>
        <p:nvSpPr>
          <p:cNvPr id="54" name="Rectangle: Rounded Corners 53">
            <a:extLst>
              <a:ext uri="{FF2B5EF4-FFF2-40B4-BE49-F238E27FC236}">
                <a16:creationId xmlns:a16="http://schemas.microsoft.com/office/drawing/2014/main" id="{1412515E-C3EB-DB76-0BAF-32DCCACD3DA0}"/>
              </a:ext>
            </a:extLst>
          </p:cNvPr>
          <p:cNvSpPr/>
          <p:nvPr/>
        </p:nvSpPr>
        <p:spPr>
          <a:xfrm>
            <a:off x="643363" y="3808633"/>
            <a:ext cx="5603943" cy="2860072"/>
          </a:xfrm>
          <a:prstGeom prst="roundRect">
            <a:avLst/>
          </a:prstGeom>
          <a:solidFill>
            <a:schemeClr val="bg2">
              <a:lumMod val="50000"/>
            </a:schemeClr>
          </a:solid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 name="Rectangle 3">
            <a:extLst>
              <a:ext uri="{FF2B5EF4-FFF2-40B4-BE49-F238E27FC236}">
                <a16:creationId xmlns:a16="http://schemas.microsoft.com/office/drawing/2014/main" id="{D12B5EC6-441B-AB28-4336-DC12BC011B09}"/>
              </a:ext>
            </a:extLst>
          </p:cNvPr>
          <p:cNvSpPr>
            <a:spLocks noChangeArrowheads="1"/>
          </p:cNvSpPr>
          <p:nvPr/>
        </p:nvSpPr>
        <p:spPr bwMode="auto">
          <a:xfrm>
            <a:off x="744002" y="3885871"/>
            <a:ext cx="5366439" cy="28315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EYInterstate" panose="02000503020000020004" pitchFamily="2" charset="0"/>
              </a:rPr>
              <a:t>SAP S/4HANA (New Asset Accounting)</a:t>
            </a:r>
            <a:endParaRPr kumimoji="0" lang="en-US" altLang="en-US" sz="1000" b="0" i="0" u="none" strike="noStrike" cap="none" normalizeH="0" baseline="0">
              <a:ln>
                <a:noFill/>
              </a:ln>
              <a:solidFill>
                <a:schemeClr val="bg1"/>
              </a:solidFill>
              <a:effectLst/>
              <a:latin typeface="EYInterstate" panose="02000503020000020004" pitchFamily="2"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000" b="0" i="0" u="none" strike="noStrike" cap="none" normalizeH="0" baseline="0">
                <a:ln>
                  <a:noFill/>
                </a:ln>
                <a:solidFill>
                  <a:schemeClr val="bg1"/>
                </a:solidFill>
                <a:effectLst/>
                <a:latin typeface="EYInterstate" panose="02000503020000020004" pitchFamily="2" charset="0"/>
              </a:rPr>
              <a:t>Program </a:t>
            </a:r>
            <a:r>
              <a:rPr kumimoji="0" lang="en-US" altLang="en-US" sz="1000" b="1" i="0" u="none" strike="noStrike" cap="none" normalizeH="0" baseline="0">
                <a:ln>
                  <a:noFill/>
                </a:ln>
                <a:solidFill>
                  <a:schemeClr val="bg1"/>
                </a:solidFill>
                <a:effectLst/>
                <a:latin typeface="EYInterstate" panose="02000503020000020004" pitchFamily="2" charset="0"/>
              </a:rPr>
              <a:t>FAA</a:t>
            </a:r>
            <a:r>
              <a:rPr kumimoji="0" lang="en-US" altLang="en-US" sz="1000" b="1" i="1" u="none" strike="noStrike" cap="none" normalizeH="0" baseline="0">
                <a:ln>
                  <a:noFill/>
                </a:ln>
                <a:solidFill>
                  <a:schemeClr val="bg1"/>
                </a:solidFill>
                <a:effectLst/>
                <a:latin typeface="EYInterstate" panose="02000503020000020004" pitchFamily="2" charset="0"/>
              </a:rPr>
              <a:t>DEPRECIATION</a:t>
            </a:r>
            <a:r>
              <a:rPr kumimoji="0" lang="en-US" altLang="en-US" sz="1000" b="1" i="0" u="none" strike="noStrike" cap="none" normalizeH="0" baseline="0">
                <a:ln>
                  <a:noFill/>
                </a:ln>
                <a:solidFill>
                  <a:schemeClr val="bg1"/>
                </a:solidFill>
                <a:effectLst/>
                <a:latin typeface="EYInterstate" panose="02000503020000020004" pitchFamily="2" charset="0"/>
              </a:rPr>
              <a:t>POST</a:t>
            </a:r>
            <a:r>
              <a:rPr kumimoji="0" lang="en-US" altLang="en-US" sz="1000" b="0" i="0" u="none" strike="noStrike" cap="none" normalizeH="0" baseline="0">
                <a:ln>
                  <a:noFill/>
                </a:ln>
                <a:solidFill>
                  <a:schemeClr val="bg1"/>
                </a:solidFill>
                <a:effectLst/>
                <a:latin typeface="EYInterstate" panose="02000503020000020004" pitchFamily="2" charset="0"/>
              </a:rPr>
              <a:t> (AFAB) posts </a:t>
            </a:r>
            <a:r>
              <a:rPr kumimoji="0" lang="en-US" altLang="en-US" sz="1000" b="1" i="0" u="none" strike="noStrike" cap="none" normalizeH="0" baseline="0">
                <a:ln>
                  <a:noFill/>
                </a:ln>
                <a:solidFill>
                  <a:schemeClr val="bg1"/>
                </a:solidFill>
                <a:effectLst/>
                <a:latin typeface="EYInterstate" panose="02000503020000020004" pitchFamily="2" charset="0"/>
              </a:rPr>
              <a:t>pre‑calculated planned values</a:t>
            </a:r>
            <a:r>
              <a:rPr kumimoji="0" lang="en-US" altLang="en-US" sz="1000" b="0" i="0" u="none" strike="noStrike" cap="none" normalizeH="0" baseline="0">
                <a:ln>
                  <a:noFill/>
                </a:ln>
                <a:solidFill>
                  <a:schemeClr val="bg1"/>
                </a:solidFill>
                <a:effectLst/>
                <a:latin typeface="EYInterstate" panose="02000503020000020004" pitchFamily="2" charset="0"/>
              </a:rPr>
              <a:t>; plan values updated on every master change/posting. Use background job for &gt;1,000 assets and select accounting principle as needed.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000" b="0" i="0" u="none" strike="noStrike" cap="none" normalizeH="0" baseline="0">
                <a:ln>
                  <a:noFill/>
                </a:ln>
                <a:solidFill>
                  <a:schemeClr val="bg1"/>
                </a:solidFill>
                <a:effectLst/>
                <a:latin typeface="EYInterstate" panose="02000503020000020004" pitchFamily="2" charset="0"/>
              </a:rPr>
              <a:t>If a prior period run failed, use </a:t>
            </a:r>
            <a:r>
              <a:rPr kumimoji="0" lang="en-US" altLang="en-US" sz="1000" b="1" i="0" u="none" strike="noStrike" cap="none" normalizeH="0" baseline="0">
                <a:ln>
                  <a:noFill/>
                </a:ln>
                <a:solidFill>
                  <a:schemeClr val="bg1"/>
                </a:solidFill>
                <a:effectLst/>
                <a:latin typeface="EYInterstate" panose="02000503020000020004" pitchFamily="2" charset="0"/>
              </a:rPr>
              <a:t>restart/repeat</a:t>
            </a:r>
            <a:r>
              <a:rPr kumimoji="0" lang="en-US" altLang="en-US" sz="1000" b="0" i="0" u="none" strike="noStrike" cap="none" normalizeH="0" baseline="0">
                <a:ln>
                  <a:noFill/>
                </a:ln>
                <a:solidFill>
                  <a:schemeClr val="bg1"/>
                </a:solidFill>
                <a:effectLst/>
                <a:latin typeface="EYInterstate" panose="02000503020000020004" pitchFamily="2" charset="0"/>
              </a:rPr>
              <a:t> logic per system guidance. </a:t>
            </a:r>
          </a:p>
          <a:p>
            <a:pPr marL="0" marR="0" lvl="0" indent="0" algn="l" defTabSz="914400" rtl="0" eaLnBrk="0" fontAlgn="base" latinLnBrk="0" hangingPunct="0">
              <a:lnSpc>
                <a:spcPct val="100000"/>
              </a:lnSpc>
              <a:spcBef>
                <a:spcPct val="0"/>
              </a:spcBef>
              <a:spcAft>
                <a:spcPct val="0"/>
              </a:spcAft>
              <a:buClrTx/>
              <a:buSzTx/>
              <a:tabLst/>
            </a:pPr>
            <a:r>
              <a:rPr kumimoji="0" lang="en-US" altLang="en-US" sz="1000" b="0" i="0" u="none" strike="noStrike" cap="none" normalizeH="0" baseline="0">
                <a:ln>
                  <a:noFill/>
                </a:ln>
                <a:solidFill>
                  <a:schemeClr val="bg1"/>
                </a:solidFill>
                <a:effectLst/>
                <a:latin typeface="EYInterstate" panose="02000503020000020004" pitchFamily="2"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EYInterstate" panose="02000503020000020004" pitchFamily="2" charset="0"/>
              </a:rPr>
              <a:t>Oracle Fusion Assets (Cloud)</a:t>
            </a:r>
            <a:endParaRPr kumimoji="0" lang="en-US" altLang="en-US" sz="1000" b="0" i="0" u="none" strike="noStrike" cap="none" normalizeH="0" baseline="0">
              <a:ln>
                <a:noFill/>
              </a:ln>
              <a:solidFill>
                <a:schemeClr val="bg1"/>
              </a:solidFill>
              <a:effectLst/>
              <a:latin typeface="EYInterstate" panose="02000503020000020004" pitchFamily="2"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000" b="0" i="0" u="none" strike="noStrike" cap="none" normalizeH="0" baseline="0">
                <a:ln>
                  <a:noFill/>
                </a:ln>
                <a:solidFill>
                  <a:schemeClr val="bg1"/>
                </a:solidFill>
                <a:effectLst/>
                <a:latin typeface="EYInterstate" panose="02000503020000020004" pitchFamily="2" charset="0"/>
              </a:rPr>
              <a:t>Use </a:t>
            </a:r>
            <a:r>
              <a:rPr kumimoji="0" lang="en-US" altLang="en-US" sz="1000" b="1" i="0" u="none" strike="noStrike" cap="none" normalizeH="0" baseline="0">
                <a:ln>
                  <a:noFill/>
                </a:ln>
                <a:solidFill>
                  <a:schemeClr val="bg1"/>
                </a:solidFill>
                <a:effectLst/>
                <a:latin typeface="EYInterstate" panose="02000503020000020004" pitchFamily="2" charset="0"/>
              </a:rPr>
              <a:t>Calculate Depreciation</a:t>
            </a:r>
            <a:r>
              <a:rPr kumimoji="0" lang="en-US" altLang="en-US" sz="1000" b="0" i="0" u="none" strike="noStrike" cap="none" normalizeH="0" baseline="0">
                <a:ln>
                  <a:noFill/>
                </a:ln>
                <a:solidFill>
                  <a:schemeClr val="bg1"/>
                </a:solidFill>
                <a:effectLst/>
                <a:latin typeface="EYInterstate" panose="02000503020000020004" pitchFamily="2" charset="0"/>
              </a:rPr>
              <a:t>; optionally </a:t>
            </a:r>
            <a:r>
              <a:rPr kumimoji="0" lang="en-US" altLang="en-US" sz="1000" b="1" i="0" u="none" strike="noStrike" cap="none" normalizeH="0" baseline="0">
                <a:ln>
                  <a:noFill/>
                </a:ln>
                <a:solidFill>
                  <a:schemeClr val="bg1"/>
                </a:solidFill>
                <a:effectLst/>
                <a:latin typeface="EYInterstate" panose="02000503020000020004" pitchFamily="2" charset="0"/>
              </a:rPr>
              <a:t>close period automatically</a:t>
            </a:r>
            <a:r>
              <a:rPr kumimoji="0" lang="en-US" altLang="en-US" sz="1000" b="0" i="0" u="none" strike="noStrike" cap="none" normalizeH="0" baseline="0">
                <a:ln>
                  <a:noFill/>
                </a:ln>
                <a:solidFill>
                  <a:schemeClr val="bg1"/>
                </a:solidFill>
                <a:effectLst/>
                <a:latin typeface="EYInterstate" panose="02000503020000020004" pitchFamily="2" charset="0"/>
              </a:rPr>
              <a:t> on success; review </a:t>
            </a:r>
            <a:r>
              <a:rPr kumimoji="0" lang="en-US" altLang="en-US" sz="1000" b="1" i="0" u="none" strike="noStrike" cap="none" normalizeH="0" baseline="0">
                <a:ln>
                  <a:noFill/>
                </a:ln>
                <a:solidFill>
                  <a:schemeClr val="bg1"/>
                </a:solidFill>
                <a:effectLst/>
                <a:latin typeface="EYInterstate" panose="02000503020000020004" pitchFamily="2" charset="0"/>
              </a:rPr>
              <a:t>Journal Entry Reserve Ledger</a:t>
            </a:r>
            <a:r>
              <a:rPr kumimoji="0" lang="en-US" altLang="en-US" sz="1000" b="0" i="0" u="none" strike="noStrike" cap="none" normalizeH="0" baseline="0">
                <a:ln>
                  <a:noFill/>
                </a:ln>
                <a:solidFill>
                  <a:schemeClr val="bg1"/>
                </a:solidFill>
                <a:effectLst/>
                <a:latin typeface="EYInterstate" panose="02000503020000020004" pitchFamily="2" charset="0"/>
              </a:rPr>
              <a:t> (corporate) / </a:t>
            </a:r>
            <a:r>
              <a:rPr kumimoji="0" lang="en-US" altLang="en-US" sz="1000" b="1" i="0" u="none" strike="noStrike" cap="none" normalizeH="0" baseline="0">
                <a:ln>
                  <a:noFill/>
                </a:ln>
                <a:solidFill>
                  <a:schemeClr val="bg1"/>
                </a:solidFill>
                <a:effectLst/>
                <a:latin typeface="EYInterstate" panose="02000503020000020004" pitchFamily="2" charset="0"/>
              </a:rPr>
              <a:t>Tax Reserve Ledger</a:t>
            </a:r>
            <a:r>
              <a:rPr kumimoji="0" lang="en-US" altLang="en-US" sz="1000" b="0" i="0" u="none" strike="noStrike" cap="none" normalizeH="0" baseline="0">
                <a:ln>
                  <a:noFill/>
                </a:ln>
                <a:solidFill>
                  <a:schemeClr val="bg1"/>
                </a:solidFill>
                <a:effectLst/>
                <a:latin typeface="EYInterstate" panose="02000503020000020004" pitchFamily="2" charset="0"/>
              </a:rPr>
              <a:t> (tax) reports; period cannot be re‑opened once closed.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000" b="0" i="0" u="none" strike="noStrike" cap="none" normalizeH="0" baseline="0">
                <a:ln>
                  <a:noFill/>
                </a:ln>
                <a:solidFill>
                  <a:schemeClr val="bg1"/>
                </a:solidFill>
                <a:effectLst/>
                <a:latin typeface="EYInterstate" panose="02000503020000020004" pitchFamily="2" charset="0"/>
              </a:rPr>
              <a:t>Ensure </a:t>
            </a:r>
            <a:r>
              <a:rPr kumimoji="0" lang="en-US" altLang="en-US" sz="1000" b="1" i="0" u="none" strike="noStrike" cap="none" normalizeH="0" baseline="0">
                <a:ln>
                  <a:noFill/>
                </a:ln>
                <a:solidFill>
                  <a:schemeClr val="bg1"/>
                </a:solidFill>
                <a:effectLst/>
                <a:latin typeface="EYInterstate" panose="02000503020000020004" pitchFamily="2" charset="0"/>
              </a:rPr>
              <a:t>mass additions</a:t>
            </a:r>
            <a:r>
              <a:rPr kumimoji="0" lang="en-US" altLang="en-US" sz="1000" b="0" i="0" u="none" strike="noStrike" cap="none" normalizeH="0" baseline="0">
                <a:ln>
                  <a:noFill/>
                </a:ln>
                <a:solidFill>
                  <a:schemeClr val="bg1"/>
                </a:solidFill>
                <a:effectLst/>
                <a:latin typeface="EYInterstate" panose="02000503020000020004" pitchFamily="2" charset="0"/>
              </a:rPr>
              <a:t> from AP and </a:t>
            </a:r>
            <a:r>
              <a:rPr kumimoji="0" lang="en-US" altLang="en-US" sz="1000" b="1" i="0" u="none" strike="noStrike" cap="none" normalizeH="0" baseline="0">
                <a:ln>
                  <a:noFill/>
                </a:ln>
                <a:solidFill>
                  <a:schemeClr val="bg1"/>
                </a:solidFill>
                <a:effectLst/>
                <a:latin typeface="EYInterstate" panose="02000503020000020004" pitchFamily="2" charset="0"/>
              </a:rPr>
              <a:t>create accounting</a:t>
            </a:r>
            <a:r>
              <a:rPr kumimoji="0" lang="en-US" altLang="en-US" sz="1000" b="0" i="0" u="none" strike="noStrike" cap="none" normalizeH="0" baseline="0">
                <a:ln>
                  <a:noFill/>
                </a:ln>
                <a:solidFill>
                  <a:schemeClr val="bg1"/>
                </a:solidFill>
                <a:effectLst/>
                <a:latin typeface="EYInterstate" panose="02000503020000020004" pitchFamily="2" charset="0"/>
              </a:rPr>
              <a:t> are cleared before depreciation/close.</a:t>
            </a:r>
          </a:p>
          <a:p>
            <a:pPr marL="0" marR="0" lvl="0" indent="0" algn="l" defTabSz="914400" rtl="0" eaLnBrk="0" fontAlgn="base" latinLnBrk="0" hangingPunct="0">
              <a:lnSpc>
                <a:spcPct val="100000"/>
              </a:lnSpc>
              <a:spcBef>
                <a:spcPct val="0"/>
              </a:spcBef>
              <a:spcAft>
                <a:spcPct val="0"/>
              </a:spcAft>
              <a:buClrTx/>
              <a:buSzTx/>
              <a:buFontTx/>
              <a:buChar char="•"/>
              <a:tabLst/>
            </a:pPr>
            <a:endParaRPr kumimoji="0" lang="en-US" altLang="en-US" sz="1000" b="0" i="0" u="none" strike="noStrike" cap="none" normalizeH="0" baseline="0">
              <a:ln>
                <a:noFill/>
              </a:ln>
              <a:solidFill>
                <a:schemeClr val="bg1"/>
              </a:solidFill>
              <a:effectLst/>
              <a:latin typeface="EYInterstate" panose="02000503020000020004" pitchFamily="2"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EYInterstate" panose="02000503020000020004" pitchFamily="2" charset="0"/>
              </a:rPr>
              <a:t>Microsoft Dynamics GP </a:t>
            </a:r>
            <a:endParaRPr kumimoji="0" lang="en-US" altLang="en-US" sz="1000" b="0" i="0" u="none" strike="noStrike" cap="none" normalizeH="0" baseline="0">
              <a:ln>
                <a:noFill/>
              </a:ln>
              <a:solidFill>
                <a:schemeClr val="bg1"/>
              </a:solidFill>
              <a:effectLst/>
              <a:latin typeface="EYInterstate" panose="02000503020000020004" pitchFamily="2"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n-US" altLang="en-US" sz="1000" b="0" i="0" u="none" strike="noStrike" cap="none" normalizeH="0" baseline="0">
                <a:ln>
                  <a:noFill/>
                </a:ln>
                <a:solidFill>
                  <a:schemeClr val="bg1"/>
                </a:solidFill>
                <a:effectLst/>
                <a:latin typeface="EYInterstate" panose="02000503020000020004" pitchFamily="2" charset="0"/>
              </a:rPr>
              <a:t>Depreciate through fiscal year end before FA year‑end close; FA module closes </a:t>
            </a:r>
            <a:r>
              <a:rPr kumimoji="0" lang="en-US" altLang="en-US" sz="1000" b="1" i="0" u="none" strike="noStrike" cap="none" normalizeH="0" baseline="0">
                <a:ln>
                  <a:noFill/>
                </a:ln>
                <a:solidFill>
                  <a:schemeClr val="bg1"/>
                </a:solidFill>
                <a:effectLst/>
                <a:latin typeface="EYInterstate" panose="02000503020000020004" pitchFamily="2" charset="0"/>
              </a:rPr>
              <a:t>before GL year‑end</a:t>
            </a:r>
            <a:r>
              <a:rPr kumimoji="0" lang="en-US" altLang="en-US" sz="1000" b="0" i="0" u="none" strike="noStrike" cap="none" normalizeH="0" baseline="0">
                <a:ln>
                  <a:noFill/>
                </a:ln>
                <a:solidFill>
                  <a:schemeClr val="bg1"/>
                </a:solidFill>
                <a:effectLst/>
                <a:latin typeface="EYInterstate" panose="02000503020000020004" pitchFamily="2" charset="0"/>
              </a:rPr>
              <a:t>; follow vendor’s FA year‑end procedures.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6" name="TextBox 55">
            <a:extLst>
              <a:ext uri="{FF2B5EF4-FFF2-40B4-BE49-F238E27FC236}">
                <a16:creationId xmlns:a16="http://schemas.microsoft.com/office/drawing/2014/main" id="{8782D49F-1515-0060-F7F2-E6E0C1499748}"/>
              </a:ext>
            </a:extLst>
          </p:cNvPr>
          <p:cNvSpPr txBox="1"/>
          <p:nvPr/>
        </p:nvSpPr>
        <p:spPr>
          <a:xfrm>
            <a:off x="661371" y="3408031"/>
            <a:ext cx="5143701" cy="369332"/>
          </a:xfrm>
          <a:prstGeom prst="rect">
            <a:avLst/>
          </a:prstGeom>
          <a:noFill/>
        </p:spPr>
        <p:txBody>
          <a:bodyPr wrap="square" rtlCol="0">
            <a:spAutoFit/>
          </a:bodyPr>
          <a:lstStyle/>
          <a:p>
            <a:r>
              <a:rPr lang="en-US" altLang="en-US" b="1">
                <a:solidFill>
                  <a:schemeClr val="bg1"/>
                </a:solidFill>
                <a:latin typeface="EYInterstate" panose="02000503020000020004" pitchFamily="2" charset="0"/>
              </a:rPr>
              <a:t>ERP‑specific quick tips</a:t>
            </a:r>
            <a:endParaRPr lang="en-IN" b="1" u="sng">
              <a:solidFill>
                <a:schemeClr val="bg1"/>
              </a:solidFill>
              <a:latin typeface="EYInterstate" panose="02000503020000020004" pitchFamily="2" charset="0"/>
            </a:endParaRPr>
          </a:p>
        </p:txBody>
      </p:sp>
      <p:cxnSp>
        <p:nvCxnSpPr>
          <p:cNvPr id="57" name="Straight Connector 56">
            <a:extLst>
              <a:ext uri="{FF2B5EF4-FFF2-40B4-BE49-F238E27FC236}">
                <a16:creationId xmlns:a16="http://schemas.microsoft.com/office/drawing/2014/main" id="{69914C6C-8899-D735-F9CC-68471849FBBA}"/>
              </a:ext>
            </a:extLst>
          </p:cNvPr>
          <p:cNvCxnSpPr>
            <a:cxnSpLocks/>
          </p:cNvCxnSpPr>
          <p:nvPr/>
        </p:nvCxnSpPr>
        <p:spPr>
          <a:xfrm flipV="1">
            <a:off x="6561935" y="1160287"/>
            <a:ext cx="0" cy="5348815"/>
          </a:xfrm>
          <a:prstGeom prst="line">
            <a:avLst/>
          </a:prstGeom>
          <a:ln w="19050" cap="flat" cmpd="sng" algn="ctr">
            <a:solidFill>
              <a:srgbClr val="FFE6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7989616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5F105C-13B7-4B0D-E121-976DA2072D30}"/>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6DCEA152-80D3-434F-1872-72DA700CEC22}"/>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51" name="Content Placeholder 2">
            <a:extLst>
              <a:ext uri="{FF2B5EF4-FFF2-40B4-BE49-F238E27FC236}">
                <a16:creationId xmlns:a16="http://schemas.microsoft.com/office/drawing/2014/main" id="{5E741E6C-5ECF-7E78-187D-0C921AF47C28}"/>
              </a:ext>
            </a:extLst>
          </p:cNvPr>
          <p:cNvSpPr txBox="1">
            <a:spLocks/>
          </p:cNvSpPr>
          <p:nvPr/>
        </p:nvSpPr>
        <p:spPr>
          <a:xfrm>
            <a:off x="349608" y="801132"/>
            <a:ext cx="3344332" cy="715981"/>
          </a:xfrm>
          <a:prstGeom prst="rect">
            <a:avLst/>
          </a:prstGeom>
        </p:spPr>
        <p:txBody>
          <a:bodyPr/>
          <a:lstStyle>
            <a:lvl1pPr marL="356442" marR="0" lvl="0" indent="-356442" algn="l" defTabSz="913942" rtl="0" fontAlgn="auto" hangingPunct="1">
              <a:lnSpc>
                <a:spcPct val="100000"/>
              </a:lnSpc>
              <a:spcBef>
                <a:spcPts val="500"/>
              </a:spcBef>
              <a:spcAft>
                <a:spcPts val="0"/>
              </a:spcAft>
              <a:buClr>
                <a:srgbClr val="FFE600"/>
              </a:buClr>
              <a:buSzPct val="110000"/>
              <a:buFont typeface="EYInterstate Light" pitchFamily="2"/>
              <a:buChar char="•"/>
              <a:tabLst/>
              <a:defRPr lang="en-US" sz="1999" b="0" i="0" u="none" strike="noStrike" kern="1200" cap="none" spc="0" baseline="0">
                <a:solidFill>
                  <a:srgbClr val="FFFFFF"/>
                </a:solidFill>
                <a:uFillTx/>
                <a:latin typeface="EYInterstate Light" pitchFamily="2"/>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Arial" panose="020B0604020202020204" pitchFamily="34" charset="0"/>
              <a:buChar char="•"/>
            </a:pPr>
            <a:endParaRPr lang="pl-PL" sz="1200">
              <a:latin typeface="EYInterstate" panose="02000503020000020004" pitchFamily="2" charset="0"/>
            </a:endParaRPr>
          </a:p>
          <a:p>
            <a:pPr lvl="1">
              <a:buFont typeface="Arial" panose="020B0604020202020204" pitchFamily="34" charset="0"/>
              <a:buChar char="•"/>
            </a:pPr>
            <a:endParaRPr lang="pl-PL" sz="1200"/>
          </a:p>
          <a:p>
            <a:pPr lvl="1">
              <a:buFont typeface="Arial" panose="020B0604020202020204" pitchFamily="34" charset="0"/>
              <a:buChar char="•"/>
            </a:pPr>
            <a:endParaRPr lang="pl-PL"/>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Master‑data and policy validations: Useful lives, residual values, and methods reviewed for reasonableness/consistency with class policy; reflect any estimate changes. Componentization in place for significant parts; parent–child links reconciled.  Impairment indicators assessed</a:t>
            </a:r>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endParaRPr kumimoji="0" lang="en-IN" sz="1000" b="0" i="0" u="none" strike="noStrike" kern="1200" cap="none" spc="0" normalizeH="0" baseline="0" noProof="0">
              <a:ln>
                <a:noFill/>
              </a:ln>
              <a:solidFill>
                <a:prstClr val="white"/>
              </a:solidFill>
              <a:effectLst/>
              <a:uLnTx/>
              <a:uFillTx/>
              <a:latin typeface="EYInterstate" panose="02000503020000020004" pitchFamily="2" charset="0"/>
            </a:endParaRPr>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Transaction completeness (period activity) Additions/CIP capitalization posted and “ready for intended use” dated correctly; stop interest capitalization and start depreciation at in‑service. Transfers/retirements/partial disposals posted and supported (gain/loss calculations where relevant). Lease events synchronized so ROU depreciation schedules are up‑to‑date</a:t>
            </a:r>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endParaRPr kumimoji="0" lang="en-IN" sz="1000" b="0" i="0" u="none" strike="noStrike" kern="1200" cap="none" spc="0" normalizeH="0" baseline="0" noProof="0">
              <a:ln>
                <a:noFill/>
              </a:ln>
              <a:solidFill>
                <a:prstClr val="white"/>
              </a:solidFill>
              <a:effectLst/>
              <a:uLnTx/>
              <a:uFillTx/>
              <a:latin typeface="EYInterstate" panose="02000503020000020004" pitchFamily="2" charset="0"/>
            </a:endParaRPr>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 Period &amp; calendar sanity checks Open period verified in FA subledger; confirm posting period/fiscal year and any multi‑book (corporate/tax) calendars. FX for entities with foreign currency books; ensure non‑monetary items remain at historical rates. </a:t>
            </a:r>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endParaRPr kumimoji="0" lang="en-IN" sz="1000" b="0" i="0" u="none" strike="noStrike" kern="1200" cap="none" spc="0" normalizeH="0" baseline="0" noProof="0">
              <a:ln>
                <a:noFill/>
              </a:ln>
              <a:solidFill>
                <a:prstClr val="white"/>
              </a:solidFill>
              <a:effectLst/>
              <a:uLnTx/>
              <a:uFillTx/>
              <a:latin typeface="EYInterstate" panose="02000503020000020004" pitchFamily="2" charset="0"/>
            </a:endParaRPr>
          </a:p>
          <a:p>
            <a:pPr marR="0" lvl="0" algn="l" defTabSz="914400" rtl="0" eaLnBrk="1" fontAlgn="auto" latinLnBrk="0" hangingPunct="1">
              <a:lnSpc>
                <a:spcPct val="100000"/>
              </a:lnSpc>
              <a:spcBef>
                <a:spcPts val="0"/>
              </a:spcBef>
              <a:spcAft>
                <a:spcPts val="0"/>
              </a:spcAft>
              <a:buSzTx/>
              <a:buFont typeface="Courier New" panose="02070309020205020404" pitchFamily="49" charset="0"/>
              <a:buChar char="o"/>
              <a:tabLst/>
              <a:defRPr/>
            </a:pP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Control environment (SOX/COSO)Maker–checker sign‑off for sensitive set‑ups (class life tables, depreciation keys, conventions). Completeness checks: tie‑out FA activity to upstream sources (AP mass additions, project settlements, lease subsystem).</a:t>
            </a:r>
            <a:endParaRPr kumimoji="0" lang="en-IN" sz="1000" b="0" i="0" u="none" strike="noStrike" kern="1200" cap="none" spc="0" normalizeH="0" baseline="0" noProof="0">
              <a:ln>
                <a:noFill/>
              </a:ln>
              <a:solidFill>
                <a:prstClr val="black"/>
              </a:solidFill>
              <a:effectLst/>
              <a:uLnTx/>
              <a:uFillTx/>
              <a:latin typeface="EYInterstate" panose="02000503020000020004" pitchFamily="2" charset="0"/>
            </a:endParaRPr>
          </a:p>
          <a:p>
            <a:pPr>
              <a:buFont typeface="Wingdings" panose="05000000000000000000" pitchFamily="2" charset="2"/>
              <a:buChar char="ü"/>
            </a:pPr>
            <a:endParaRPr lang="pl-PL"/>
          </a:p>
        </p:txBody>
      </p:sp>
      <p:sp>
        <p:nvSpPr>
          <p:cNvPr id="55" name="Title 1">
            <a:extLst>
              <a:ext uri="{FF2B5EF4-FFF2-40B4-BE49-F238E27FC236}">
                <a16:creationId xmlns:a16="http://schemas.microsoft.com/office/drawing/2014/main" id="{CA74AA7E-0AC5-8682-CE5B-A1F5C1D3F999}"/>
              </a:ext>
            </a:extLst>
          </p:cNvPr>
          <p:cNvSpPr txBox="1">
            <a:spLocks/>
          </p:cNvSpPr>
          <p:nvPr/>
        </p:nvSpPr>
        <p:spPr>
          <a:xfrm>
            <a:off x="609601" y="201600"/>
            <a:ext cx="10972800" cy="860400"/>
          </a:xfrm>
          <a:prstGeom prst="rect">
            <a:avLst/>
          </a:prstGeom>
        </p:spPr>
        <p:txBody>
          <a:bodyPr/>
          <a:lstStyle>
            <a:lvl1pPr marL="0" marR="0" lvl="0" indent="0" algn="l" defTabSz="913942" rtl="0" fontAlgn="auto" hangingPunct="1">
              <a:lnSpc>
                <a:spcPct val="85000"/>
              </a:lnSpc>
              <a:spcBef>
                <a:spcPts val="0"/>
              </a:spcBef>
              <a:spcAft>
                <a:spcPts val="0"/>
              </a:spcAft>
              <a:buNone/>
              <a:tabLst/>
              <a:defRPr lang="en-US" sz="2399" b="0" i="0" u="none" strike="noStrike" kern="1200" cap="none" spc="0" baseline="0">
                <a:solidFill>
                  <a:srgbClr val="FFFFFF"/>
                </a:solidFill>
                <a:uFillTx/>
                <a:latin typeface="EYInterstate Light" pitchFamily="2"/>
                <a:cs typeface="Arial" pitchFamily="34"/>
              </a:defRPr>
            </a:lvl1pPr>
          </a:lstStyle>
          <a:p>
            <a:br>
              <a:rPr lang="pl-PL"/>
            </a:br>
            <a:endParaRPr lang="pl-PL">
              <a:latin typeface="EYInterstate" panose="02000503020000020004" pitchFamily="2" charset="0"/>
            </a:endParaRPr>
          </a:p>
        </p:txBody>
      </p:sp>
      <p:sp>
        <p:nvSpPr>
          <p:cNvPr id="22" name="TextBox 21">
            <a:extLst>
              <a:ext uri="{FF2B5EF4-FFF2-40B4-BE49-F238E27FC236}">
                <a16:creationId xmlns:a16="http://schemas.microsoft.com/office/drawing/2014/main" id="{BC65E209-118A-E331-9A4A-FCFDAC99E074}"/>
              </a:ext>
            </a:extLst>
          </p:cNvPr>
          <p:cNvSpPr txBox="1"/>
          <p:nvPr/>
        </p:nvSpPr>
        <p:spPr>
          <a:xfrm>
            <a:off x="4230786" y="979912"/>
            <a:ext cx="3660267" cy="646331"/>
          </a:xfrm>
          <a:prstGeom prst="rect">
            <a:avLst/>
          </a:prstGeom>
          <a:noFill/>
        </p:spPr>
        <p:txBody>
          <a:bodyPr wrap="square">
            <a:spAutoFit/>
          </a:bodyPr>
          <a:lstStyle/>
          <a:p>
            <a:r>
              <a:rPr lang="en-IN" sz="1600" b="1">
                <a:solidFill>
                  <a:schemeClr val="bg1"/>
                </a:solidFill>
                <a:latin typeface="EYInterstate" panose="02000503020000020004" pitchFamily="2" charset="0"/>
              </a:rPr>
              <a:t>Dry‑run / simulation (Close −1 day)</a:t>
            </a:r>
          </a:p>
          <a:p>
            <a:endParaRPr lang="en-IN" sz="1000" b="1">
              <a:solidFill>
                <a:schemeClr val="bg1"/>
              </a:solidFill>
            </a:endParaRPr>
          </a:p>
          <a:p>
            <a:r>
              <a:rPr lang="en-IN" sz="1000">
                <a:solidFill>
                  <a:schemeClr val="bg1"/>
                </a:solidFill>
              </a:rPr>
              <a:t>  </a:t>
            </a:r>
          </a:p>
        </p:txBody>
      </p:sp>
      <p:sp>
        <p:nvSpPr>
          <p:cNvPr id="23" name="TextBox 22">
            <a:extLst>
              <a:ext uri="{FF2B5EF4-FFF2-40B4-BE49-F238E27FC236}">
                <a16:creationId xmlns:a16="http://schemas.microsoft.com/office/drawing/2014/main" id="{86320A05-6204-6F3D-A8A4-2553DD3AFDBC}"/>
              </a:ext>
            </a:extLst>
          </p:cNvPr>
          <p:cNvSpPr txBox="1"/>
          <p:nvPr/>
        </p:nvSpPr>
        <p:spPr>
          <a:xfrm>
            <a:off x="149425" y="1001187"/>
            <a:ext cx="3632298" cy="338554"/>
          </a:xfrm>
          <a:prstGeom prst="rect">
            <a:avLst/>
          </a:prstGeom>
          <a:noFill/>
        </p:spPr>
        <p:txBody>
          <a:bodyPr wrap="square" rtlCol="0">
            <a:spAutoFit/>
          </a:bodyPr>
          <a:lstStyle/>
          <a:p>
            <a:r>
              <a:rPr lang="en-IN" sz="1600" b="1">
                <a:solidFill>
                  <a:schemeClr val="bg1"/>
                </a:solidFill>
                <a:latin typeface="EYInterstate" panose="02000503020000020004" pitchFamily="2" charset="0"/>
              </a:rPr>
              <a:t>Pre‑run checks(Close −5 to −1 WD)</a:t>
            </a:r>
          </a:p>
        </p:txBody>
      </p:sp>
      <p:sp>
        <p:nvSpPr>
          <p:cNvPr id="45" name="TextBox 44">
            <a:extLst>
              <a:ext uri="{FF2B5EF4-FFF2-40B4-BE49-F238E27FC236}">
                <a16:creationId xmlns:a16="http://schemas.microsoft.com/office/drawing/2014/main" id="{84EDFB3D-06CA-FAC3-5200-A15D98380C61}"/>
              </a:ext>
            </a:extLst>
          </p:cNvPr>
          <p:cNvSpPr txBox="1"/>
          <p:nvPr/>
        </p:nvSpPr>
        <p:spPr>
          <a:xfrm>
            <a:off x="609601" y="431800"/>
            <a:ext cx="8424332" cy="369332"/>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Fixed Asset- Document Checklist</a:t>
            </a:r>
          </a:p>
        </p:txBody>
      </p:sp>
      <p:sp>
        <p:nvSpPr>
          <p:cNvPr id="6" name="TextBox 5">
            <a:extLst>
              <a:ext uri="{FF2B5EF4-FFF2-40B4-BE49-F238E27FC236}">
                <a16:creationId xmlns:a16="http://schemas.microsoft.com/office/drawing/2014/main" id="{D40007CC-8C0B-BA31-0D2E-1A2DB53E23BF}"/>
              </a:ext>
            </a:extLst>
          </p:cNvPr>
          <p:cNvSpPr txBox="1"/>
          <p:nvPr/>
        </p:nvSpPr>
        <p:spPr>
          <a:xfrm>
            <a:off x="4062367" y="3636670"/>
            <a:ext cx="10646944" cy="338554"/>
          </a:xfrm>
          <a:prstGeom prst="rect">
            <a:avLst/>
          </a:prstGeom>
          <a:noFill/>
        </p:spPr>
        <p:txBody>
          <a:bodyPr wrap="square" rtlCol="0">
            <a:spAutoFit/>
          </a:bodyPr>
          <a:lstStyle/>
          <a:p>
            <a:r>
              <a:rPr lang="en-IN" sz="1000" b="1">
                <a:solidFill>
                  <a:schemeClr val="bg1"/>
                </a:solidFill>
              </a:rPr>
              <a:t>  </a:t>
            </a:r>
            <a:r>
              <a:rPr lang="en-IN" sz="1600" b="1">
                <a:solidFill>
                  <a:schemeClr val="bg1"/>
                </a:solidFill>
                <a:latin typeface="EYInterstate" panose="02000503020000020004" pitchFamily="2" charset="0"/>
              </a:rPr>
              <a:t>Run depreciation (period close day)</a:t>
            </a:r>
          </a:p>
        </p:txBody>
      </p:sp>
      <p:sp>
        <p:nvSpPr>
          <p:cNvPr id="7" name="TextBox 6">
            <a:extLst>
              <a:ext uri="{FF2B5EF4-FFF2-40B4-BE49-F238E27FC236}">
                <a16:creationId xmlns:a16="http://schemas.microsoft.com/office/drawing/2014/main" id="{7EEB9519-F3E5-DBD5-5753-854F1D089DC7}"/>
              </a:ext>
            </a:extLst>
          </p:cNvPr>
          <p:cNvSpPr txBox="1"/>
          <p:nvPr/>
        </p:nvSpPr>
        <p:spPr>
          <a:xfrm>
            <a:off x="8007920" y="989845"/>
            <a:ext cx="5960755" cy="338554"/>
          </a:xfrm>
          <a:prstGeom prst="rect">
            <a:avLst/>
          </a:prstGeom>
          <a:noFill/>
        </p:spPr>
        <p:txBody>
          <a:bodyPr wrap="square" rtlCol="0">
            <a:spAutoFit/>
          </a:bodyPr>
          <a:lstStyle/>
          <a:p>
            <a:r>
              <a:rPr lang="en-IN" sz="1000">
                <a:solidFill>
                  <a:schemeClr val="bg1"/>
                </a:solidFill>
              </a:rPr>
              <a:t> </a:t>
            </a:r>
            <a:r>
              <a:rPr lang="en-IN" sz="1600" b="1">
                <a:solidFill>
                  <a:schemeClr val="bg1"/>
                </a:solidFill>
                <a:latin typeface="EYInterstate" panose="02000503020000020004" pitchFamily="2" charset="0"/>
              </a:rPr>
              <a:t>Post‑run controls &amp; reconciliations</a:t>
            </a:r>
          </a:p>
        </p:txBody>
      </p:sp>
      <p:sp>
        <p:nvSpPr>
          <p:cNvPr id="19" name="Rectangle: Rounded Corners 18">
            <a:extLst>
              <a:ext uri="{FF2B5EF4-FFF2-40B4-BE49-F238E27FC236}">
                <a16:creationId xmlns:a16="http://schemas.microsoft.com/office/drawing/2014/main" id="{6BCC69BC-8B46-4F3C-071B-6081F7E53243}"/>
              </a:ext>
            </a:extLst>
          </p:cNvPr>
          <p:cNvSpPr/>
          <p:nvPr/>
        </p:nvSpPr>
        <p:spPr>
          <a:xfrm>
            <a:off x="111756" y="1431331"/>
            <a:ext cx="3715614" cy="5150443"/>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
        <p:nvSpPr>
          <p:cNvPr id="20" name="Rectangle: Rounded Corners 19">
            <a:extLst>
              <a:ext uri="{FF2B5EF4-FFF2-40B4-BE49-F238E27FC236}">
                <a16:creationId xmlns:a16="http://schemas.microsoft.com/office/drawing/2014/main" id="{F81EC2E0-7172-963E-9386-49D82386E1CF}"/>
              </a:ext>
            </a:extLst>
          </p:cNvPr>
          <p:cNvSpPr/>
          <p:nvPr/>
        </p:nvSpPr>
        <p:spPr>
          <a:xfrm>
            <a:off x="4151099" y="1432848"/>
            <a:ext cx="3659458" cy="2146166"/>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
        <p:nvSpPr>
          <p:cNvPr id="28" name="Rectangle: Rounded Corners 27">
            <a:extLst>
              <a:ext uri="{FF2B5EF4-FFF2-40B4-BE49-F238E27FC236}">
                <a16:creationId xmlns:a16="http://schemas.microsoft.com/office/drawing/2014/main" id="{31A54F5A-6AF6-D2E6-487C-A4A19D5CE759}"/>
              </a:ext>
            </a:extLst>
          </p:cNvPr>
          <p:cNvSpPr/>
          <p:nvPr/>
        </p:nvSpPr>
        <p:spPr>
          <a:xfrm>
            <a:off x="7968146" y="1417786"/>
            <a:ext cx="3715614" cy="5091317"/>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
        <p:nvSpPr>
          <p:cNvPr id="29" name="TextBox 28">
            <a:extLst>
              <a:ext uri="{FF2B5EF4-FFF2-40B4-BE49-F238E27FC236}">
                <a16:creationId xmlns:a16="http://schemas.microsoft.com/office/drawing/2014/main" id="{19D7A481-291C-FD13-5708-C77196B26EB6}"/>
              </a:ext>
            </a:extLst>
          </p:cNvPr>
          <p:cNvSpPr txBox="1"/>
          <p:nvPr/>
        </p:nvSpPr>
        <p:spPr>
          <a:xfrm>
            <a:off x="4230786" y="1617743"/>
            <a:ext cx="3469787" cy="2062103"/>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FFE600"/>
              </a:buClr>
              <a:buSzTx/>
              <a:buFont typeface="Courier New" panose="02070309020205020404" pitchFamily="49" charset="0"/>
              <a:buChar char="o"/>
              <a:tabLst/>
              <a:defRPr/>
            </a:pP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Test run in ERP with detailed logs; inspect errors/warnings and large deltas vs prior period. (SAP: AFAB test; Oracle Fusion: “Calculate Depreciation” with period open; review logs.)  Threshold analytics: spot unusual depreciation spikes/drops by class/location/book; confirm drivers (big add/retire, revaluation, impairment, lease mod).  Fix before final: resolve blocked assets (missing cost </a:t>
            </a:r>
            <a:r>
              <a:rPr kumimoji="0" lang="en-IN" sz="1000" b="0" i="0" u="none" strike="noStrike" kern="1200" cap="none" spc="0" normalizeH="0" baseline="0" noProof="0" err="1">
                <a:ln>
                  <a:noFill/>
                </a:ln>
                <a:solidFill>
                  <a:prstClr val="white"/>
                </a:solidFill>
                <a:effectLst/>
                <a:uLnTx/>
                <a:uFillTx/>
                <a:latin typeface="EYInterstate" panose="02000503020000020004" pitchFamily="2" charset="0"/>
              </a:rPr>
              <a:t>center</a:t>
            </a: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/book, negative NBV, prior‑period restart needed). (SAP AFAB notes; Oracle logs.)</a:t>
            </a:r>
            <a:endParaRPr kumimoji="0" lang="en-IN" sz="1000" b="0" i="0" u="none" strike="noStrike" kern="1200" cap="none" spc="0" normalizeH="0" baseline="0" noProof="0">
              <a:ln>
                <a:noFill/>
              </a:ln>
              <a:solidFill>
                <a:prstClr val="black"/>
              </a:solidFill>
              <a:effectLst/>
              <a:uLnTx/>
              <a:uFillTx/>
              <a:latin typeface="EYInterstate" panose="02000503020000020004" pitchFamily="2" charset="0"/>
            </a:endParaRPr>
          </a:p>
          <a:p>
            <a:endParaRPr lang="en-IN"/>
          </a:p>
        </p:txBody>
      </p:sp>
      <p:sp>
        <p:nvSpPr>
          <p:cNvPr id="30" name="TextBox 29">
            <a:extLst>
              <a:ext uri="{FF2B5EF4-FFF2-40B4-BE49-F238E27FC236}">
                <a16:creationId xmlns:a16="http://schemas.microsoft.com/office/drawing/2014/main" id="{7D906F2C-8B71-52FA-5E14-9A482FC7F3EF}"/>
              </a:ext>
            </a:extLst>
          </p:cNvPr>
          <p:cNvSpPr txBox="1"/>
          <p:nvPr/>
        </p:nvSpPr>
        <p:spPr>
          <a:xfrm>
            <a:off x="4268455" y="4016113"/>
            <a:ext cx="3107267" cy="2677656"/>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FFE600"/>
              </a:buClr>
              <a:buSzTx/>
              <a:buFont typeface="Courier New" panose="02070309020205020404" pitchFamily="49" charset="0"/>
              <a:buChar char="o"/>
              <a:tabLst/>
              <a:defRPr/>
            </a:pPr>
            <a:r>
              <a:rPr lang="en-IN" sz="1000">
                <a:solidFill>
                  <a:prstClr val="white"/>
                </a:solidFill>
                <a:latin typeface="EYInterstate" panose="02000503020000020004" pitchFamily="2" charset="0"/>
              </a:rPr>
              <a:t> </a:t>
            </a: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ERP execution (illustrative)SAP S/4HANA: AFAB (program FAADEPRECIATIONPOST); schedule in background for volume; select accounting principle or run all ledgers; capture totals/detailed log.  Oracle Fusion: run Calculate Depreciation for the book/period; optionally enable close‑on‑success; review JERL/TRL reports produced.   Dynamics GP or others: ensure target date is last day of fiscal period and run depreciation for all active books. </a:t>
            </a:r>
          </a:p>
          <a:p>
            <a:pPr marL="171450" marR="0" lvl="0" indent="-171450" algn="l" defTabSz="914400" rtl="0" eaLnBrk="1" fontAlgn="auto" latinLnBrk="0" hangingPunct="1">
              <a:lnSpc>
                <a:spcPct val="100000"/>
              </a:lnSpc>
              <a:spcBef>
                <a:spcPts val="0"/>
              </a:spcBef>
              <a:spcAft>
                <a:spcPts val="0"/>
              </a:spcAft>
              <a:buClr>
                <a:srgbClr val="FFE600"/>
              </a:buClr>
              <a:buSzTx/>
              <a:buFont typeface="Courier New" panose="02070309020205020404" pitchFamily="49" charset="0"/>
              <a:buChar char="o"/>
              <a:tabLst/>
              <a:defRPr/>
            </a:pPr>
            <a:endParaRPr kumimoji="0" lang="en-IN" sz="1000" b="0" i="0" u="none" strike="noStrike" kern="1200" cap="none" spc="0" normalizeH="0" baseline="0" noProof="0">
              <a:ln>
                <a:noFill/>
              </a:ln>
              <a:solidFill>
                <a:prstClr val="white"/>
              </a:solidFill>
              <a:effectLst/>
              <a:uLnTx/>
              <a:uFillTx/>
              <a:latin typeface="EYInterstate" panose="02000503020000020004" pitchFamily="2" charset="0"/>
            </a:endParaRPr>
          </a:p>
          <a:p>
            <a:pPr marL="171450" marR="0" lvl="0" indent="-171450" algn="l" defTabSz="914400" rtl="0" eaLnBrk="1" fontAlgn="auto" latinLnBrk="0" hangingPunct="1">
              <a:lnSpc>
                <a:spcPct val="100000"/>
              </a:lnSpc>
              <a:spcBef>
                <a:spcPts val="0"/>
              </a:spcBef>
              <a:spcAft>
                <a:spcPts val="0"/>
              </a:spcAft>
              <a:buClr>
                <a:srgbClr val="FFE600"/>
              </a:buClr>
              <a:buSzTx/>
              <a:buFont typeface="Courier New" panose="02070309020205020404" pitchFamily="49" charset="0"/>
              <a:buChar char="o"/>
              <a:tabLst/>
              <a:defRPr/>
            </a:pPr>
            <a:r>
              <a:rPr kumimoji="0" lang="en-IN" sz="1000" b="0" i="0" u="none" strike="noStrike" kern="1200" cap="none" spc="0" normalizeH="0" baseline="0" noProof="0">
                <a:ln>
                  <a:noFill/>
                </a:ln>
                <a:solidFill>
                  <a:prstClr val="white"/>
                </a:solidFill>
                <a:effectLst/>
                <a:uLnTx/>
                <a:uFillTx/>
                <a:latin typeface="EYInterstate" panose="02000503020000020004" pitchFamily="2" charset="0"/>
              </a:rPr>
              <a:t> Concurrency &amp; locks Ensure no asset transactions are posted during the batch; some systems lock the book during run. </a:t>
            </a:r>
          </a:p>
          <a:p>
            <a:endParaRPr lang="en-IN"/>
          </a:p>
        </p:txBody>
      </p:sp>
      <p:sp>
        <p:nvSpPr>
          <p:cNvPr id="35" name="TextBox 34">
            <a:extLst>
              <a:ext uri="{FF2B5EF4-FFF2-40B4-BE49-F238E27FC236}">
                <a16:creationId xmlns:a16="http://schemas.microsoft.com/office/drawing/2014/main" id="{65725E36-D81E-70DF-FFE6-FFAE649A8A14}"/>
              </a:ext>
            </a:extLst>
          </p:cNvPr>
          <p:cNvSpPr txBox="1"/>
          <p:nvPr/>
        </p:nvSpPr>
        <p:spPr>
          <a:xfrm>
            <a:off x="8373828" y="1877132"/>
            <a:ext cx="2846621" cy="3939540"/>
          </a:xfrm>
          <a:prstGeom prst="rect">
            <a:avLst/>
          </a:prstGeom>
          <a:noFill/>
        </p:spPr>
        <p:txBody>
          <a:bodyPr wrap="square">
            <a:spAutoFit/>
          </a:bodyPr>
          <a:lstStyle/>
          <a:p>
            <a:pPr marL="171450" indent="-171450">
              <a:buClr>
                <a:srgbClr val="FFE600"/>
              </a:buClr>
              <a:buFont typeface="Courier New" panose="02070309020205020404" pitchFamily="49" charset="0"/>
              <a:buChar char="o"/>
              <a:defRPr/>
            </a:pPr>
            <a:r>
              <a:rPr lang="en-IN" sz="1000">
                <a:solidFill>
                  <a:prstClr val="white"/>
                </a:solidFill>
                <a:latin typeface="EYInterstate" panose="02000503020000020004" pitchFamily="2" charset="0"/>
              </a:rPr>
              <a:t>Subledger integrity Review logs &amp; exception lists (unposted assets, error assets, unusual manual depreciation) and remediate immediately. Depreciation roll‑forward by book/class vs prior period; investigate material variances.  </a:t>
            </a:r>
          </a:p>
          <a:p>
            <a:pPr>
              <a:buClr>
                <a:srgbClr val="FFE600"/>
              </a:buClr>
              <a:defRPr/>
            </a:pPr>
            <a:endParaRPr lang="en-IN" sz="1000">
              <a:solidFill>
                <a:prstClr val="white"/>
              </a:solidFill>
              <a:latin typeface="EYInterstate" panose="02000503020000020004" pitchFamily="2" charset="0"/>
            </a:endParaRPr>
          </a:p>
          <a:p>
            <a:pPr marL="171450" indent="-171450">
              <a:buClr>
                <a:srgbClr val="FFE600"/>
              </a:buClr>
              <a:buFont typeface="Courier New" panose="02070309020205020404" pitchFamily="49" charset="0"/>
              <a:buChar char="o"/>
              <a:defRPr/>
            </a:pPr>
            <a:r>
              <a:rPr lang="en-IN" sz="1000">
                <a:solidFill>
                  <a:prstClr val="white"/>
                </a:solidFill>
                <a:latin typeface="EYInterstate" panose="02000503020000020004" pitchFamily="2" charset="0"/>
              </a:rPr>
              <a:t> GL interface &amp; financial reporting Post FA to GL and reconcile subledger to GL (expense &amp; accumulated depreciation) with zero net variance. Presentation: ensure depreciation expense classified consistently (function/nature) and ROU amortization presented per lease policy.</a:t>
            </a:r>
          </a:p>
          <a:p>
            <a:pPr>
              <a:buClr>
                <a:srgbClr val="FFE600"/>
              </a:buClr>
              <a:defRPr/>
            </a:pPr>
            <a:r>
              <a:rPr lang="en-IN" sz="1000">
                <a:solidFill>
                  <a:prstClr val="white"/>
                </a:solidFill>
                <a:latin typeface="EYInterstate" panose="02000503020000020004" pitchFamily="2" charset="0"/>
              </a:rPr>
              <a:t> </a:t>
            </a:r>
          </a:p>
          <a:p>
            <a:pPr marL="171450" indent="-171450">
              <a:buClr>
                <a:srgbClr val="FFE600"/>
              </a:buClr>
              <a:buFont typeface="Courier New" panose="02070309020205020404" pitchFamily="49" charset="0"/>
              <a:buChar char="o"/>
              <a:defRPr/>
            </a:pPr>
            <a:r>
              <a:rPr lang="en-IN" sz="1000">
                <a:solidFill>
                  <a:prstClr val="white"/>
                </a:solidFill>
                <a:latin typeface="EYInterstate" panose="02000503020000020004" pitchFamily="2" charset="0"/>
              </a:rPr>
              <a:t> Multi‑book alignment (corporate vs tax)Validate tax book methods and conventions (e.g., MACRS environments) reconcile to corporate where needed; confirm period status per book.   </a:t>
            </a:r>
          </a:p>
          <a:p>
            <a:pPr marL="171450" indent="-171450">
              <a:buClr>
                <a:srgbClr val="FFE600"/>
              </a:buClr>
              <a:buFont typeface="Courier New" panose="02070309020205020404" pitchFamily="49" charset="0"/>
              <a:buChar char="o"/>
              <a:defRPr/>
            </a:pPr>
            <a:endParaRPr lang="en-IN" sz="1000">
              <a:solidFill>
                <a:prstClr val="white"/>
              </a:solidFill>
              <a:latin typeface="EYInterstate" panose="02000503020000020004" pitchFamily="2" charset="0"/>
            </a:endParaRPr>
          </a:p>
          <a:p>
            <a:pPr marL="171450" indent="-171450">
              <a:buClr>
                <a:srgbClr val="FFE600"/>
              </a:buClr>
              <a:buFont typeface="Courier New" panose="02070309020205020404" pitchFamily="49" charset="0"/>
              <a:buChar char="o"/>
              <a:defRPr/>
            </a:pPr>
            <a:r>
              <a:rPr lang="en-IN" sz="1000">
                <a:solidFill>
                  <a:prstClr val="white"/>
                </a:solidFill>
                <a:latin typeface="EYInterstate" panose="02000503020000020004" pitchFamily="2" charset="0"/>
              </a:rPr>
              <a:t>Close &amp; status If policy allows, auto‑close the FA period after a clean run; note that in some ERPs the period cannot be re‑opened—use caution</a:t>
            </a:r>
          </a:p>
        </p:txBody>
      </p:sp>
      <p:sp>
        <p:nvSpPr>
          <p:cNvPr id="36" name="Rectangle: Rounded Corners 35">
            <a:extLst>
              <a:ext uri="{FF2B5EF4-FFF2-40B4-BE49-F238E27FC236}">
                <a16:creationId xmlns:a16="http://schemas.microsoft.com/office/drawing/2014/main" id="{935852FF-5778-09E1-9EA8-6CD2B378E4C1}"/>
              </a:ext>
            </a:extLst>
          </p:cNvPr>
          <p:cNvSpPr/>
          <p:nvPr/>
        </p:nvSpPr>
        <p:spPr>
          <a:xfrm>
            <a:off x="4094943" y="3975224"/>
            <a:ext cx="3715614" cy="2516880"/>
          </a:xfrm>
          <a:prstGeom prst="roundRect">
            <a:avLst/>
          </a:prstGeom>
          <a:no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Tree>
    <p:extLst>
      <p:ext uri="{BB962C8B-B14F-4D97-AF65-F5344CB8AC3E}">
        <p14:creationId xmlns:p14="http://schemas.microsoft.com/office/powerpoint/2010/main" val="388005052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93FB8A-F2F8-1841-42EB-177E5EE3A194}"/>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BB9BFAC5-7506-EC54-F733-BAE5A2917F7F}"/>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55" name="Title 1">
            <a:extLst>
              <a:ext uri="{FF2B5EF4-FFF2-40B4-BE49-F238E27FC236}">
                <a16:creationId xmlns:a16="http://schemas.microsoft.com/office/drawing/2014/main" id="{719A3FF9-10F3-C447-6A82-AEB701523E17}"/>
              </a:ext>
            </a:extLst>
          </p:cNvPr>
          <p:cNvSpPr txBox="1">
            <a:spLocks/>
          </p:cNvSpPr>
          <p:nvPr/>
        </p:nvSpPr>
        <p:spPr>
          <a:xfrm>
            <a:off x="609601" y="201600"/>
            <a:ext cx="10972800" cy="860400"/>
          </a:xfrm>
          <a:prstGeom prst="rect">
            <a:avLst/>
          </a:prstGeom>
        </p:spPr>
        <p:txBody>
          <a:bodyPr/>
          <a:lstStyle>
            <a:lvl1pPr marL="0" marR="0" lvl="0" indent="0" algn="l" defTabSz="913942" rtl="0" fontAlgn="auto" hangingPunct="1">
              <a:lnSpc>
                <a:spcPct val="85000"/>
              </a:lnSpc>
              <a:spcBef>
                <a:spcPts val="0"/>
              </a:spcBef>
              <a:spcAft>
                <a:spcPts val="0"/>
              </a:spcAft>
              <a:buNone/>
              <a:tabLst/>
              <a:defRPr lang="en-US" sz="2399" b="0" i="0" u="none" strike="noStrike" kern="1200" cap="none" spc="0" baseline="0">
                <a:solidFill>
                  <a:srgbClr val="FFFFFF"/>
                </a:solidFill>
                <a:uFillTx/>
                <a:latin typeface="EYInterstate Light" pitchFamily="2"/>
                <a:cs typeface="Arial" pitchFamily="34"/>
              </a:defRPr>
            </a:lvl1pPr>
          </a:lstStyle>
          <a:p>
            <a:br>
              <a:rPr lang="pl-PL"/>
            </a:br>
            <a:endParaRPr lang="pl-PL">
              <a:latin typeface="EYInterstate" panose="02000503020000020004" pitchFamily="2" charset="0"/>
            </a:endParaRPr>
          </a:p>
        </p:txBody>
      </p:sp>
      <p:sp>
        <p:nvSpPr>
          <p:cNvPr id="45" name="TextBox 44">
            <a:extLst>
              <a:ext uri="{FF2B5EF4-FFF2-40B4-BE49-F238E27FC236}">
                <a16:creationId xmlns:a16="http://schemas.microsoft.com/office/drawing/2014/main" id="{68E64BEA-C62E-1502-21E8-CB52D05DA7B5}"/>
              </a:ext>
            </a:extLst>
          </p:cNvPr>
          <p:cNvSpPr txBox="1"/>
          <p:nvPr/>
        </p:nvSpPr>
        <p:spPr>
          <a:xfrm>
            <a:off x="609601" y="431800"/>
            <a:ext cx="8424332" cy="461665"/>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Fixed Asset- Master Creation</a:t>
            </a:r>
          </a:p>
        </p:txBody>
      </p:sp>
      <p:grpSp>
        <p:nvGrpSpPr>
          <p:cNvPr id="5" name="Group 4">
            <a:extLst>
              <a:ext uri="{FF2B5EF4-FFF2-40B4-BE49-F238E27FC236}">
                <a16:creationId xmlns:a16="http://schemas.microsoft.com/office/drawing/2014/main" id="{6DDCC060-E7D0-498F-10F4-429518F5917D}"/>
              </a:ext>
            </a:extLst>
          </p:cNvPr>
          <p:cNvGrpSpPr/>
          <p:nvPr/>
        </p:nvGrpSpPr>
        <p:grpSpPr>
          <a:xfrm>
            <a:off x="7506023" y="1710428"/>
            <a:ext cx="4285419" cy="4478149"/>
            <a:chOff x="311576" y="1613149"/>
            <a:chExt cx="4689260" cy="1911864"/>
          </a:xfrm>
        </p:grpSpPr>
        <p:sp>
          <p:nvSpPr>
            <p:cNvPr id="3" name="Rectangle: Rounded Corners 2">
              <a:extLst>
                <a:ext uri="{FF2B5EF4-FFF2-40B4-BE49-F238E27FC236}">
                  <a16:creationId xmlns:a16="http://schemas.microsoft.com/office/drawing/2014/main" id="{96A741E6-7BB6-F60D-FB6F-BEB77B5BB719}"/>
                </a:ext>
              </a:extLst>
            </p:cNvPr>
            <p:cNvSpPr/>
            <p:nvPr/>
          </p:nvSpPr>
          <p:spPr>
            <a:xfrm>
              <a:off x="311576" y="1613149"/>
              <a:ext cx="4687145" cy="1875317"/>
            </a:xfrm>
            <a:prstGeom prst="roundRect">
              <a:avLst/>
            </a:prstGeom>
            <a:solidFill>
              <a:srgbClr val="FFE600"/>
            </a:solid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 name="TextBox 5">
              <a:extLst>
                <a:ext uri="{FF2B5EF4-FFF2-40B4-BE49-F238E27FC236}">
                  <a16:creationId xmlns:a16="http://schemas.microsoft.com/office/drawing/2014/main" id="{351DB8E7-7F65-3879-1163-C2F9838770E5}"/>
                </a:ext>
              </a:extLst>
            </p:cNvPr>
            <p:cNvSpPr txBox="1"/>
            <p:nvPr/>
          </p:nvSpPr>
          <p:spPr>
            <a:xfrm>
              <a:off x="414305" y="1613149"/>
              <a:ext cx="4586531" cy="1911864"/>
            </a:xfrm>
            <a:prstGeom prst="rect">
              <a:avLst/>
            </a:prstGeom>
            <a:noFill/>
          </p:spPr>
          <p:txBody>
            <a:bodyPr wrap="square" lIns="91440" tIns="45720" rIns="91440" bIns="45720" rtlCol="0" anchor="t">
              <a:spAutoFit/>
            </a:bodyPr>
            <a:lstStyle/>
            <a:p>
              <a:endParaRPr lang="en-IN" sz="1100" b="1">
                <a:latin typeface="EY interstate"/>
              </a:endParaRPr>
            </a:p>
            <a:p>
              <a:pPr marL="171450" indent="-171450">
                <a:buFont typeface="Wingdings" panose="05000000000000000000" pitchFamily="2" charset="2"/>
                <a:buChar char="Ø"/>
              </a:pPr>
              <a:r>
                <a:rPr lang="en-IN" sz="1600" b="1">
                  <a:latin typeface="EY interstate"/>
                </a:rPr>
                <a:t>Right‑first‑time rate</a:t>
              </a:r>
              <a:r>
                <a:rPr lang="en-IN" sz="1600">
                  <a:latin typeface="EY interstate"/>
                </a:rPr>
                <a:t> (% new assets with </a:t>
              </a:r>
              <a:r>
                <a:rPr lang="en-IN" sz="1600" b="1">
                  <a:latin typeface="EY interstate"/>
                </a:rPr>
                <a:t>zero</a:t>
              </a:r>
              <a:r>
                <a:rPr lang="en-IN" sz="1600">
                  <a:latin typeface="EY interstate"/>
                </a:rPr>
                <a:t> post‑creation corrections): target ≥ 95%. </a:t>
              </a:r>
              <a:br>
                <a:rPr lang="en-IN" sz="1600">
                  <a:latin typeface="EY interstate"/>
                </a:rPr>
              </a:br>
              <a:endParaRPr lang="en-IN" sz="1600">
                <a:latin typeface="EY interstate"/>
              </a:endParaRPr>
            </a:p>
            <a:p>
              <a:pPr marL="171450" indent="-171450">
                <a:buFont typeface="Wingdings" panose="05000000000000000000" pitchFamily="2" charset="2"/>
                <a:buChar char="Ø"/>
              </a:pPr>
              <a:r>
                <a:rPr lang="en-IN" sz="1600" b="1">
                  <a:latin typeface="EY interstate"/>
                </a:rPr>
                <a:t>Cycle time</a:t>
              </a:r>
              <a:r>
                <a:rPr lang="en-IN" sz="1600">
                  <a:latin typeface="EY interstate"/>
                </a:rPr>
                <a:t> (</a:t>
              </a:r>
              <a:r>
                <a:rPr lang="en-IN" sz="1600" b="1">
                  <a:latin typeface="EY interstate"/>
                </a:rPr>
                <a:t>trigger</a:t>
              </a:r>
              <a:r>
                <a:rPr lang="en-IN" sz="1600">
                  <a:latin typeface="EY interstate"/>
                </a:rPr>
                <a:t>→ approved FAM): stratify by source (PO/CIP/Lease). </a:t>
              </a:r>
              <a:br>
                <a:rPr lang="en-IN" sz="1600">
                  <a:latin typeface="EY interstate"/>
                </a:rPr>
              </a:br>
              <a:endParaRPr lang="en-IN" sz="1600">
                <a:latin typeface="EY interstate"/>
              </a:endParaRPr>
            </a:p>
            <a:p>
              <a:pPr marL="171450" indent="-171450">
                <a:buFont typeface="Wingdings" panose="05000000000000000000" pitchFamily="2" charset="2"/>
                <a:buChar char="Ø"/>
              </a:pPr>
              <a:r>
                <a:rPr lang="en-IN" sz="1600" b="1">
                  <a:latin typeface="EY interstate"/>
                  <a:ea typeface="+mn-lt"/>
                  <a:cs typeface="+mn-lt"/>
                </a:rPr>
                <a:t>%</a:t>
              </a:r>
              <a:r>
                <a:rPr lang="en-IN" sz="1600" b="1">
                  <a:latin typeface="EY interstate"/>
                </a:rPr>
                <a:t> of automatic asset master creations-   </a:t>
              </a:r>
              <a:r>
                <a:rPr lang="en-IN" sz="1600">
                  <a:latin typeface="EY interstate"/>
                </a:rPr>
                <a:t>Auto‑created via integration </a:t>
              </a:r>
            </a:p>
            <a:p>
              <a:endParaRPr lang="en-IN" sz="1600">
                <a:latin typeface="EY interstate"/>
              </a:endParaRPr>
            </a:p>
            <a:p>
              <a:pPr marL="171450" indent="-171450">
                <a:buFont typeface="Wingdings" panose="05000000000000000000" pitchFamily="2" charset="2"/>
                <a:buChar char="Ø"/>
              </a:pPr>
              <a:r>
                <a:rPr lang="en-IN" sz="1600" b="1">
                  <a:latin typeface="EY interstate"/>
                </a:rPr>
                <a:t>Master records created per FTE (throughput) - </a:t>
              </a:r>
              <a:r>
                <a:rPr lang="en-IN" sz="1600">
                  <a:latin typeface="EY interstate"/>
                </a:rPr>
                <a:t>Completed master creations per period ÷ FTEs dedicated to asset master work.</a:t>
              </a:r>
            </a:p>
            <a:p>
              <a:pPr marL="171450" indent="-171450">
                <a:buFont typeface="Wingdings" panose="05000000000000000000" pitchFamily="2" charset="2"/>
                <a:buChar char="Ø"/>
              </a:pPr>
              <a:endParaRPr lang="en-IN" sz="1600" b="1">
                <a:latin typeface="EY interstate"/>
              </a:endParaRPr>
            </a:p>
            <a:p>
              <a:pPr marL="171450" indent="-171450">
                <a:buFont typeface="Wingdings" panose="05000000000000000000" pitchFamily="2" charset="2"/>
                <a:buChar char="Ø"/>
              </a:pPr>
              <a:r>
                <a:rPr lang="en-IN" sz="1600" b="1">
                  <a:latin typeface="EY interstate"/>
                </a:rPr>
                <a:t>Physical reconcile delta</a:t>
              </a:r>
              <a:r>
                <a:rPr lang="en-IN" sz="1600">
                  <a:latin typeface="EY interstate"/>
                </a:rPr>
                <a:t> (% assets not found/extra): target &lt; 1%. </a:t>
              </a:r>
              <a:br>
                <a:rPr lang="en-IN" sz="1600">
                  <a:latin typeface="EY interstate"/>
                </a:rPr>
              </a:br>
              <a:endParaRPr lang="en-IN" sz="1600">
                <a:latin typeface="EY interstate"/>
              </a:endParaRPr>
            </a:p>
            <a:p>
              <a:endParaRPr lang="en-IN"/>
            </a:p>
          </p:txBody>
        </p:sp>
      </p:grpSp>
      <p:sp>
        <p:nvSpPr>
          <p:cNvPr id="4" name="TextBox 3">
            <a:extLst>
              <a:ext uri="{FF2B5EF4-FFF2-40B4-BE49-F238E27FC236}">
                <a16:creationId xmlns:a16="http://schemas.microsoft.com/office/drawing/2014/main" id="{092BC65D-C508-CF6B-277C-F353B0BDC70E}"/>
              </a:ext>
            </a:extLst>
          </p:cNvPr>
          <p:cNvSpPr txBox="1"/>
          <p:nvPr/>
        </p:nvSpPr>
        <p:spPr>
          <a:xfrm>
            <a:off x="7603715" y="1062000"/>
            <a:ext cx="4503619" cy="646331"/>
          </a:xfrm>
          <a:prstGeom prst="rect">
            <a:avLst/>
          </a:prstGeom>
          <a:noFill/>
        </p:spPr>
        <p:txBody>
          <a:bodyPr wrap="square" rtlCol="0">
            <a:spAutoFit/>
          </a:bodyPr>
          <a:lstStyle/>
          <a:p>
            <a:r>
              <a:rPr lang="en-IN" b="1" u="sng">
                <a:solidFill>
                  <a:schemeClr val="bg2">
                    <a:lumMod val="90000"/>
                  </a:schemeClr>
                </a:solidFill>
                <a:latin typeface="EY interstate"/>
              </a:rPr>
              <a:t>KPIs &amp; SLAs for FAM creation (run monthly)</a:t>
            </a:r>
          </a:p>
          <a:p>
            <a:endParaRPr lang="en-IN"/>
          </a:p>
        </p:txBody>
      </p:sp>
      <p:pic>
        <p:nvPicPr>
          <p:cNvPr id="8" name="Picture 7">
            <a:extLst>
              <a:ext uri="{FF2B5EF4-FFF2-40B4-BE49-F238E27FC236}">
                <a16:creationId xmlns:a16="http://schemas.microsoft.com/office/drawing/2014/main" id="{503BF83E-04FA-B7EC-3A8E-CE19A8C996C0}"/>
              </a:ext>
            </a:extLst>
          </p:cNvPr>
          <p:cNvPicPr>
            <a:picLocks noChangeAspect="1"/>
          </p:cNvPicPr>
          <p:nvPr/>
        </p:nvPicPr>
        <p:blipFill>
          <a:blip r:embed="rId3"/>
          <a:srcRect l="4006" t="17053" r="4177" b="5306"/>
          <a:stretch>
            <a:fillRect/>
          </a:stretch>
        </p:blipFill>
        <p:spPr>
          <a:xfrm>
            <a:off x="465667" y="1515043"/>
            <a:ext cx="6425552" cy="4501710"/>
          </a:xfrm>
          <a:prstGeom prst="rect">
            <a:avLst/>
          </a:prstGeom>
          <a:ln w="57150">
            <a:solidFill>
              <a:srgbClr val="FFE600"/>
            </a:solidFill>
          </a:ln>
        </p:spPr>
      </p:pic>
      <p:sp>
        <p:nvSpPr>
          <p:cNvPr id="9" name="TextBox 8">
            <a:extLst>
              <a:ext uri="{FF2B5EF4-FFF2-40B4-BE49-F238E27FC236}">
                <a16:creationId xmlns:a16="http://schemas.microsoft.com/office/drawing/2014/main" id="{EEDB02FC-264B-21E0-2C04-DC49953873F1}"/>
              </a:ext>
            </a:extLst>
          </p:cNvPr>
          <p:cNvSpPr txBox="1"/>
          <p:nvPr/>
        </p:nvSpPr>
        <p:spPr>
          <a:xfrm>
            <a:off x="525581" y="1046495"/>
            <a:ext cx="4503619" cy="646331"/>
          </a:xfrm>
          <a:prstGeom prst="rect">
            <a:avLst/>
          </a:prstGeom>
          <a:noFill/>
        </p:spPr>
        <p:txBody>
          <a:bodyPr wrap="square" rtlCol="0">
            <a:spAutoFit/>
          </a:bodyPr>
          <a:lstStyle/>
          <a:p>
            <a:r>
              <a:rPr lang="en-IN" b="1" u="sng">
                <a:solidFill>
                  <a:schemeClr val="bg2">
                    <a:lumMod val="90000"/>
                  </a:schemeClr>
                </a:solidFill>
                <a:latin typeface="EY interstate"/>
              </a:rPr>
              <a:t>Master Creation workflow – Swimlane View</a:t>
            </a:r>
          </a:p>
          <a:p>
            <a:endParaRPr lang="en-IN"/>
          </a:p>
        </p:txBody>
      </p:sp>
      <p:cxnSp>
        <p:nvCxnSpPr>
          <p:cNvPr id="12" name="Straight Connector 11">
            <a:extLst>
              <a:ext uri="{FF2B5EF4-FFF2-40B4-BE49-F238E27FC236}">
                <a16:creationId xmlns:a16="http://schemas.microsoft.com/office/drawing/2014/main" id="{0C702008-EA9E-69EF-55AE-EB7863240C6F}"/>
              </a:ext>
            </a:extLst>
          </p:cNvPr>
          <p:cNvCxnSpPr/>
          <p:nvPr/>
        </p:nvCxnSpPr>
        <p:spPr>
          <a:xfrm>
            <a:off x="7255933" y="1219200"/>
            <a:ext cx="67734" cy="5223933"/>
          </a:xfrm>
          <a:prstGeom prst="line">
            <a:avLst/>
          </a:prstGeom>
          <a:ln w="19050" cap="flat" cmpd="sng" algn="ctr">
            <a:solidFill>
              <a:srgbClr val="FFE6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307966561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53F4E7-C1ED-3381-B4EA-BAB04F824A1A}"/>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11B06EAD-47EC-51F2-BF3F-5FAD3C8605A8}"/>
              </a:ext>
            </a:extLst>
          </p:cNvPr>
          <p:cNvSpPr txBox="1"/>
          <p:nvPr/>
        </p:nvSpPr>
        <p:spPr>
          <a:xfrm>
            <a:off x="609600" y="431800"/>
            <a:ext cx="10893551" cy="369332"/>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Lifecycle of Fixed Assets</a:t>
            </a:r>
          </a:p>
        </p:txBody>
      </p:sp>
      <p:graphicFrame>
        <p:nvGraphicFramePr>
          <p:cNvPr id="31" name="Table 30">
            <a:extLst>
              <a:ext uri="{FF2B5EF4-FFF2-40B4-BE49-F238E27FC236}">
                <a16:creationId xmlns:a16="http://schemas.microsoft.com/office/drawing/2014/main" id="{8E3754F8-A92F-CF83-94A8-7C4ADEC32CA2}"/>
              </a:ext>
            </a:extLst>
          </p:cNvPr>
          <p:cNvGraphicFramePr>
            <a:graphicFrameLocks noGrp="1"/>
          </p:cNvGraphicFramePr>
          <p:nvPr>
            <p:extLst>
              <p:ext uri="{D42A27DB-BD31-4B8C-83A1-F6EECF244321}">
                <p14:modId xmlns:p14="http://schemas.microsoft.com/office/powerpoint/2010/main" val="3825547838"/>
              </p:ext>
            </p:extLst>
          </p:nvPr>
        </p:nvGraphicFramePr>
        <p:xfrm>
          <a:off x="609599" y="905989"/>
          <a:ext cx="11057263" cy="5448430"/>
        </p:xfrm>
        <a:graphic>
          <a:graphicData uri="http://schemas.openxmlformats.org/drawingml/2006/table">
            <a:tbl>
              <a:tblPr>
                <a:tableStyleId>{5C22544A-7EE6-4342-B048-85BDC9FD1C3A}</a:tableStyleId>
              </a:tblPr>
              <a:tblGrid>
                <a:gridCol w="1147572">
                  <a:extLst>
                    <a:ext uri="{9D8B030D-6E8A-4147-A177-3AD203B41FA5}">
                      <a16:colId xmlns:a16="http://schemas.microsoft.com/office/drawing/2014/main" val="3646803868"/>
                    </a:ext>
                  </a:extLst>
                </a:gridCol>
                <a:gridCol w="1739880">
                  <a:extLst>
                    <a:ext uri="{9D8B030D-6E8A-4147-A177-3AD203B41FA5}">
                      <a16:colId xmlns:a16="http://schemas.microsoft.com/office/drawing/2014/main" val="854684414"/>
                    </a:ext>
                  </a:extLst>
                </a:gridCol>
                <a:gridCol w="2087959">
                  <a:extLst>
                    <a:ext uri="{9D8B030D-6E8A-4147-A177-3AD203B41FA5}">
                      <a16:colId xmlns:a16="http://schemas.microsoft.com/office/drawing/2014/main" val="3516807370"/>
                    </a:ext>
                  </a:extLst>
                </a:gridCol>
                <a:gridCol w="1830981">
                  <a:extLst>
                    <a:ext uri="{9D8B030D-6E8A-4147-A177-3AD203B41FA5}">
                      <a16:colId xmlns:a16="http://schemas.microsoft.com/office/drawing/2014/main" val="2277679799"/>
                    </a:ext>
                  </a:extLst>
                </a:gridCol>
                <a:gridCol w="2484136">
                  <a:extLst>
                    <a:ext uri="{9D8B030D-6E8A-4147-A177-3AD203B41FA5}">
                      <a16:colId xmlns:a16="http://schemas.microsoft.com/office/drawing/2014/main" val="2036147578"/>
                    </a:ext>
                  </a:extLst>
                </a:gridCol>
                <a:gridCol w="1766735">
                  <a:extLst>
                    <a:ext uri="{9D8B030D-6E8A-4147-A177-3AD203B41FA5}">
                      <a16:colId xmlns:a16="http://schemas.microsoft.com/office/drawing/2014/main" val="2758430950"/>
                    </a:ext>
                  </a:extLst>
                </a:gridCol>
              </a:tblGrid>
              <a:tr h="21992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endParaRPr lang="en-IN" sz="1200" b="0" i="0" u="none" strike="noStrike">
                        <a:solidFill>
                          <a:srgbClr val="FFFF00"/>
                        </a:solidFill>
                        <a:effectLst/>
                        <a:latin typeface="EYInterstate Light" panose="02000506000000020004" pitchFamily="2" charset="0"/>
                      </a:endParaRPr>
                    </a:p>
                  </a:txBody>
                  <a:tcPr marL="2612" marR="2612" marT="2612"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IN" sz="1200" b="0" i="0" u="none" strike="noStrike">
                          <a:solidFill>
                            <a:srgbClr val="FFFF00"/>
                          </a:solidFill>
                          <a:effectLst/>
                          <a:latin typeface="EYInterstate Light" panose="02000506000000020004" pitchFamily="2" charset="0"/>
                        </a:rPr>
                        <a:t>Description</a:t>
                      </a:r>
                    </a:p>
                  </a:txBody>
                  <a:tcPr marL="2612" marR="2612" marT="2612"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IN" sz="1200" u="none" strike="noStrike">
                          <a:solidFill>
                            <a:srgbClr val="FFFF00"/>
                          </a:solidFill>
                          <a:effectLst/>
                          <a:latin typeface="EYInterstate Light" panose="02000506000000020004" pitchFamily="2" charset="0"/>
                        </a:rPr>
                        <a:t>Detailed activities</a:t>
                      </a:r>
                      <a:endParaRPr lang="en-IN" sz="1200" b="0" i="0" u="none" strike="noStrike">
                        <a:solidFill>
                          <a:srgbClr val="FFFF00"/>
                        </a:solidFill>
                        <a:effectLst/>
                        <a:latin typeface="EYInterstate Light" panose="02000506000000020004" pitchFamily="2" charset="0"/>
                      </a:endParaRPr>
                    </a:p>
                  </a:txBody>
                  <a:tcPr marL="2612" marR="2612" marT="2612"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buNone/>
                      </a:pPr>
                      <a:r>
                        <a:rPr lang="en-IN" sz="1200" u="none" strike="noStrike">
                          <a:solidFill>
                            <a:srgbClr val="FFFF00"/>
                          </a:solidFill>
                          <a:effectLst/>
                          <a:latin typeface="EYInterstate Light" panose="02000506000000020004" pitchFamily="2" charset="0"/>
                        </a:rPr>
                        <a:t>Challenges</a:t>
                      </a:r>
                      <a:endParaRPr lang="en-IN" sz="1200" b="0" i="0" u="none" strike="noStrike">
                        <a:solidFill>
                          <a:srgbClr val="FFFF00"/>
                        </a:solidFill>
                        <a:effectLst/>
                        <a:latin typeface="EYInterstate Light" panose="02000506000000020004" pitchFamily="2" charset="0"/>
                      </a:endParaRPr>
                    </a:p>
                  </a:txBody>
                  <a:tcPr marL="2612" marR="2612" marT="2612"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buNone/>
                      </a:pPr>
                      <a:r>
                        <a:rPr lang="en-IN" sz="1200" u="none" strike="noStrike">
                          <a:solidFill>
                            <a:srgbClr val="FFFF00"/>
                          </a:solidFill>
                          <a:effectLst/>
                          <a:latin typeface="EYInterstate Light" panose="02000506000000020004" pitchFamily="2" charset="0"/>
                        </a:rPr>
                        <a:t>Strategic Approach</a:t>
                      </a:r>
                      <a:endParaRPr lang="en-IN" sz="1200" b="0" i="0" u="none" strike="noStrike">
                        <a:solidFill>
                          <a:srgbClr val="FFFF00"/>
                        </a:solidFill>
                        <a:effectLst/>
                        <a:latin typeface="EYInterstate Light" panose="02000506000000020004" pitchFamily="2" charset="0"/>
                      </a:endParaRPr>
                    </a:p>
                  </a:txBody>
                  <a:tcPr marL="2612" marR="2612" marT="2612"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buNone/>
                      </a:pPr>
                      <a:r>
                        <a:rPr lang="en-IN" sz="1200" u="none" strike="noStrike">
                          <a:solidFill>
                            <a:srgbClr val="FFFF00"/>
                          </a:solidFill>
                          <a:effectLst/>
                          <a:latin typeface="EYInterstate Light" panose="02000506000000020004" pitchFamily="2" charset="0"/>
                        </a:rPr>
                        <a:t>Outcome / Goal</a:t>
                      </a:r>
                      <a:endParaRPr lang="en-IN" sz="1200" b="0" i="0" u="none" strike="noStrike">
                        <a:solidFill>
                          <a:srgbClr val="FFFF00"/>
                        </a:solidFill>
                        <a:effectLst/>
                        <a:latin typeface="EYInterstate Light" panose="02000506000000020004" pitchFamily="2" charset="0"/>
                      </a:endParaRPr>
                    </a:p>
                  </a:txBody>
                  <a:tcPr marL="2612" marR="2612" marT="2612"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49056809"/>
                  </a:ext>
                </a:extLst>
              </a:tr>
              <a:tr h="246630">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Pre-Acquisition &amp; Acquisition</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Planning and procurement of assets based on operational needs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Identify asset requirement &amp; Budget Approval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Budget overruns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ERP-integrated budgeting tools + Predictive analytics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Ensure assets are acquired timely and in compliance with procurement policies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9685776"/>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fr-FR" sz="800" b="0" i="0" u="none" strike="noStrike">
                          <a:solidFill>
                            <a:schemeClr val="bg1"/>
                          </a:solidFill>
                          <a:effectLst/>
                          <a:latin typeface="EYInterstate Light" panose="02000506000000020004" pitchFamily="2" charset="0"/>
                        </a:rPr>
                        <a:t>Initiate procurement (PO, vendor selection)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Delays in procurement</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Vendor performance dashboards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60131582"/>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Asset delivery and inspection</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Incomplete documentation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digital document management with version control</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1364103"/>
                  </a:ext>
                </a:extLst>
              </a:tr>
              <a:tr h="282828">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Asset Capitalization</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Recording the asset in financial books and assigning relevant attributes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Asset tagging and classification</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Incorrect classification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Use smart templates and rule-based validation engines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Accurate and compliant asset register and financial records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557834"/>
                  </a:ext>
                </a:extLst>
              </a:tr>
              <a:tr h="229738">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Transfer from CWIP to active asset</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Missed capitalization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Automate CWIP-to-asset transfer schedule</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6508131"/>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Apply capitalization criteria (IAS 16 / IFRS 16)</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Manual errors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Enable barcode/RFID tagging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9584228"/>
                  </a:ext>
                </a:extLst>
              </a:tr>
              <a:tr h="246630">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Depreciation</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Systematic allocation of asset cost over its useful life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Apply correct method (SLM, WDV)</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Wrong depreciation method</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validate during asset setup using rule-based logic.</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Accurate expense recognition and financial reporting</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5496907"/>
                  </a:ext>
                </a:extLst>
              </a:tr>
              <a:tr h="282828">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Review useful life and residual value</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Missed or duplicate postings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Automate reconciliation and exception reporting</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990570"/>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Post depreciation to GL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Inconsistent useful life</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ML models to adjust useful life on asset performance.</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588477"/>
                  </a:ext>
                </a:extLst>
              </a:tr>
              <a:tr h="376435">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Maintenance, Enhancements &amp; Impairment</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Managing asset condition and value adjustments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Record maintenance activities</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Misclassification of repairs vs enhancements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Define repair vs enhancement rules in CMMS workflows.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Maintain asset integrity and reflect true value</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147592"/>
                  </a:ext>
                </a:extLst>
              </a:tr>
              <a:tr h="282828">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Perform impairment testing</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Missed impairment triggers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Use IoT and AI to detect asset impairments.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7209399"/>
                  </a:ext>
                </a:extLst>
              </a:tr>
              <a:tr h="189221">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Post impairment losses to GL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Lack of documentation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Maintain timestamped digital logs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48712540"/>
                  </a:ext>
                </a:extLst>
              </a:tr>
              <a:tr h="246630">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Asset Transfer</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Movement of assets across locations or entities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Initiate transfer request</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Lack of audit trail</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endParaRPr lang="en-IN" sz="800">
                        <a:solidFill>
                          <a:schemeClr val="bg1"/>
                        </a:solidFill>
                        <a:latin typeface="EYInterstate Light" panose="02000506000000020004" pitchFamily="2" charset="0"/>
                      </a:endParaRPr>
                    </a:p>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Automate transfers with GPS &amp; blockchain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Accurate tracking of asset movement and ownership</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02854322"/>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Update asset location and ownership</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Incorrect revaluation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Embed ERP revaluation logic with finance approval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8893657"/>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Post transfer entries to GL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Compliance gaps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Standardize transfer protocols &amp; automate entries.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73134"/>
                  </a:ext>
                </a:extLst>
              </a:tr>
              <a:tr h="189221">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Asset Disposal / Retirement</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Removal of asset from books due to sale, scrapping, or obsolescence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Identify asset for disposal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Missed disposal entries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Automate disposal requests with aging prompts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Clean asset register and accurate financial impact</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5861721"/>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Derecognize from asset register</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Incorrect gain/loss calculation</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Configure ERP to auto-calculate disposal gain/loss.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4236980"/>
                  </a:ext>
                </a:extLst>
              </a:tr>
              <a:tr h="189221">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Post disposal entries to GL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Incomplete audit trail</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Enforce disposal workflows with approvals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609040"/>
                  </a:ext>
                </a:extLst>
              </a:tr>
              <a:tr h="246630">
                <a:tc rowSpan="3">
                  <a:txBody>
                    <a:bodyPr/>
                    <a:lstStyle/>
                    <a:p>
                      <a:pPr marL="171450" indent="-171450" algn="l" fontAlgn="ctr">
                        <a:buFont typeface="Wingdings" panose="05000000000000000000" pitchFamily="2" charset="2"/>
                        <a:buChar char="§"/>
                      </a:pPr>
                      <a:r>
                        <a:rPr lang="en-IN" sz="1000" b="0" i="0" u="none" strike="noStrike">
                          <a:solidFill>
                            <a:srgbClr val="FFFF00"/>
                          </a:solidFill>
                          <a:effectLst/>
                          <a:latin typeface="EYInterstate Light" panose="02000506000000020004" pitchFamily="2" charset="0"/>
                        </a:rPr>
                        <a:t>Reporting &amp; Reconciliation</a:t>
                      </a:r>
                    </a:p>
                    <a:p>
                      <a:pPr marL="171450" indent="-171450" algn="l" fontAlgn="ctr">
                        <a:buFont typeface="Wingdings" panose="05000000000000000000" pitchFamily="2" charset="2"/>
                        <a:buChar char="§"/>
                      </a:pPr>
                      <a:endParaRPr lang="en-IN" sz="1000" b="0" i="0" u="none" strike="noStrike">
                        <a:solidFill>
                          <a:srgbClr val="FFFF00"/>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algn="l" fontAlgn="ctr">
                        <a:buNone/>
                      </a:pPr>
                      <a:r>
                        <a:rPr lang="en-IN" sz="800" b="0" i="0" u="none" strike="noStrike">
                          <a:solidFill>
                            <a:schemeClr val="bg1"/>
                          </a:solidFill>
                          <a:effectLst/>
                          <a:latin typeface="EYInterstate Light" panose="02000506000000020004" pitchFamily="2" charset="0"/>
                        </a:rPr>
                        <a:t>Ensuring financial accuracy and audit readiness </a:t>
                      </a:r>
                    </a:p>
                    <a:p>
                      <a:pPr algn="l" fontAlgn="ctr">
                        <a:buNone/>
                      </a:pP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Reconcile FA register with GL</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Data mismatches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Automate FA-GL reconciliation with monthly reviews.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171450" indent="-171450" algn="l" fontAlgn="ctr">
                        <a:buFont typeface="Arial" panose="020B0604020202020204" pitchFamily="34" charset="0"/>
                        <a:buChar char="•"/>
                      </a:pPr>
                      <a:r>
                        <a:rPr lang="en-IN" sz="800" u="none" strike="noStrike">
                          <a:solidFill>
                            <a:schemeClr val="bg1"/>
                          </a:solidFill>
                          <a:effectLst/>
                          <a:latin typeface="EYInterstate Light" panose="02000506000000020004" pitchFamily="2" charset="0"/>
                        </a:rPr>
                        <a:t>Transparent and compliant financial reporting</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2676418"/>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Prepare disclosures for financial statements</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Incomplete disclosures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b">
                        <a:buFont typeface="Wingdings" panose="05000000000000000000" pitchFamily="2" charset="2"/>
                        <a:buChar char="§"/>
                      </a:pPr>
                      <a:r>
                        <a:rPr lang="en-IN" sz="800">
                          <a:solidFill>
                            <a:schemeClr val="bg1"/>
                          </a:solidFill>
                          <a:latin typeface="EYInterstate Light" panose="02000506000000020004" pitchFamily="2" charset="0"/>
                        </a:rPr>
                        <a:t>Use BI dashboards for disclosure tracking and reporting. </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96685057"/>
                  </a:ext>
                </a:extLst>
              </a:tr>
              <a:tr h="246630">
                <a:tc vMerge="1">
                  <a:txBody>
                    <a:bodyPr/>
                    <a:lstStyle/>
                    <a:p>
                      <a:endParaRPr lang="en-IN"/>
                    </a:p>
                  </a:txBody>
                  <a:tcPr/>
                </a:tc>
                <a:tc vMerge="1">
                  <a:txBody>
                    <a:bodyPr/>
                    <a:lstStyle/>
                    <a:p>
                      <a:endParaRPr lang="en-IN"/>
                    </a:p>
                  </a:txBody>
                  <a:tcPr/>
                </a:tc>
                <a:tc>
                  <a:txBody>
                    <a:bodyPr/>
                    <a:lstStyle/>
                    <a:p>
                      <a:pPr marL="171450" indent="-171450" algn="l" fontAlgn="ctr">
                        <a:buFont typeface="Wingdings" panose="05000000000000000000" pitchFamily="2" charset="2"/>
                        <a:buChar char="§"/>
                      </a:pPr>
                      <a:r>
                        <a:rPr lang="en-IN" sz="800" b="0" i="0" u="none" strike="noStrike">
                          <a:solidFill>
                            <a:schemeClr val="bg1"/>
                          </a:solidFill>
                          <a:effectLst/>
                          <a:latin typeface="EYInterstate Light" panose="02000506000000020004" pitchFamily="2" charset="0"/>
                        </a:rPr>
                        <a:t>Support internal and external audits</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fontAlgn="ctr">
                        <a:buFont typeface="Wingdings" panose="05000000000000000000" pitchFamily="2" charset="2"/>
                        <a:buChar char="§"/>
                      </a:pPr>
                      <a:r>
                        <a:rPr lang="en-IN" sz="800" u="none" strike="noStrike">
                          <a:solidFill>
                            <a:schemeClr val="bg1"/>
                          </a:solidFill>
                          <a:effectLst/>
                          <a:latin typeface="EYInterstate Light" panose="02000506000000020004" pitchFamily="2" charset="0"/>
                        </a:rPr>
                        <a:t>Audit findings</a:t>
                      </a:r>
                      <a:endParaRPr lang="en-IN" sz="800" b="0" i="0" u="none" strike="noStrike">
                        <a:solidFill>
                          <a:schemeClr val="bg1"/>
                        </a:solidFill>
                        <a:effectLst/>
                        <a:latin typeface="EYInterstate Light" panose="02000506000000020004" pitchFamily="2" charset="0"/>
                      </a:endParaRP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Wingdings" panose="05000000000000000000" pitchFamily="2" charset="2"/>
                        <a:buChar char="§"/>
                      </a:pPr>
                      <a:r>
                        <a:rPr lang="en-IN" sz="800">
                          <a:solidFill>
                            <a:schemeClr val="bg1"/>
                          </a:solidFill>
                          <a:latin typeface="EYInterstate Light" panose="02000506000000020004" pitchFamily="2" charset="0"/>
                        </a:rPr>
                        <a:t>Maintain audit trails with automated dashboards.</a:t>
                      </a:r>
                    </a:p>
                  </a:txBody>
                  <a:tcPr marL="2612" marR="2612" marT="2612"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en-IN"/>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8924905"/>
                  </a:ext>
                </a:extLst>
              </a:tr>
            </a:tbl>
          </a:graphicData>
        </a:graphic>
      </p:graphicFrame>
    </p:spTree>
    <p:extLst>
      <p:ext uri="{BB962C8B-B14F-4D97-AF65-F5344CB8AC3E}">
        <p14:creationId xmlns:p14="http://schemas.microsoft.com/office/powerpoint/2010/main" val="1728590900"/>
      </p:ext>
    </p:extLst>
  </p:cSld>
  <p:clrMapOvr>
    <a:masterClrMapping/>
  </p:clrMapOvr>
  <p:extLst>
    <p:ext uri="{6950BFC3-D8DA-4A85-94F7-54DA5524770B}">
      <p188:commentRel xmlns:p188="http://schemas.microsoft.com/office/powerpoint/2018/8/main" r:id="rId3"/>
    </p:ext>
  </p:extLs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83AE13-E600-92BB-0490-C6A040341954}"/>
            </a:ext>
          </a:extLst>
        </p:cNvPr>
        <p:cNvGrpSpPr/>
        <p:nvPr/>
      </p:nvGrpSpPr>
      <p:grpSpPr>
        <a:xfrm>
          <a:off x="0" y="0"/>
          <a:ext cx="0" cy="0"/>
          <a:chOff x="0" y="0"/>
          <a:chExt cx="0" cy="0"/>
        </a:xfrm>
      </p:grpSpPr>
      <p:sp>
        <p:nvSpPr>
          <p:cNvPr id="3" name="Content Placeholder 1">
            <a:extLst>
              <a:ext uri="{FF2B5EF4-FFF2-40B4-BE49-F238E27FC236}">
                <a16:creationId xmlns:a16="http://schemas.microsoft.com/office/drawing/2014/main" id="{7F39D4CC-6F4F-1721-0CA9-AEB70525133E}"/>
              </a:ext>
            </a:extLst>
          </p:cNvPr>
          <p:cNvSpPr txBox="1">
            <a:spLocks/>
          </p:cNvSpPr>
          <p:nvPr/>
        </p:nvSpPr>
        <p:spPr>
          <a:xfrm>
            <a:off x="609602" y="393404"/>
            <a:ext cx="11225019" cy="87121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a:t>Revaluation &amp; Impairment Automation Guide</a:t>
            </a:r>
          </a:p>
        </p:txBody>
      </p:sp>
      <p:graphicFrame>
        <p:nvGraphicFramePr>
          <p:cNvPr id="5" name="Diagram 4">
            <a:extLst>
              <a:ext uri="{FF2B5EF4-FFF2-40B4-BE49-F238E27FC236}">
                <a16:creationId xmlns:a16="http://schemas.microsoft.com/office/drawing/2014/main" id="{D22EFF4D-D02F-4F5C-D5DD-07243D397394}"/>
              </a:ext>
            </a:extLst>
          </p:cNvPr>
          <p:cNvGraphicFramePr/>
          <p:nvPr>
            <p:extLst>
              <p:ext uri="{D42A27DB-BD31-4B8C-83A1-F6EECF244321}">
                <p14:modId xmlns:p14="http://schemas.microsoft.com/office/powerpoint/2010/main" val="2343126361"/>
              </p:ext>
            </p:extLst>
          </p:nvPr>
        </p:nvGraphicFramePr>
        <p:xfrm>
          <a:off x="690034" y="577129"/>
          <a:ext cx="11064154" cy="518020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TextBox 5">
            <a:extLst>
              <a:ext uri="{FF2B5EF4-FFF2-40B4-BE49-F238E27FC236}">
                <a16:creationId xmlns:a16="http://schemas.microsoft.com/office/drawing/2014/main" id="{26A5AAC4-3F4A-42D4-E1B0-690A290D5372}"/>
              </a:ext>
            </a:extLst>
          </p:cNvPr>
          <p:cNvSpPr txBox="1"/>
          <p:nvPr/>
        </p:nvSpPr>
        <p:spPr>
          <a:xfrm>
            <a:off x="2315634" y="2266561"/>
            <a:ext cx="1591733" cy="861774"/>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Scheduled revaluation (e.g., annually)</a:t>
            </a:r>
          </a:p>
          <a:p>
            <a:pPr marL="171450" lvl="0" indent="-171450">
              <a:buFont typeface="Wingdings" panose="05000000000000000000" pitchFamily="2" charset="2"/>
              <a:buChar char="ü"/>
            </a:pPr>
            <a:r>
              <a:rPr lang="en-IN" sz="1000">
                <a:solidFill>
                  <a:schemeClr val="bg1"/>
                </a:solidFill>
              </a:rPr>
              <a:t>Market indicators or valuation reports</a:t>
            </a:r>
          </a:p>
          <a:p>
            <a:endParaRPr lang="en-IN" sz="1000">
              <a:solidFill>
                <a:schemeClr val="bg1"/>
              </a:solidFill>
            </a:endParaRPr>
          </a:p>
        </p:txBody>
      </p:sp>
      <p:sp>
        <p:nvSpPr>
          <p:cNvPr id="8" name="TextBox 7">
            <a:extLst>
              <a:ext uri="{FF2B5EF4-FFF2-40B4-BE49-F238E27FC236}">
                <a16:creationId xmlns:a16="http://schemas.microsoft.com/office/drawing/2014/main" id="{3F1E85F6-8110-4FDA-0FB4-AEB622358AC7}"/>
              </a:ext>
            </a:extLst>
          </p:cNvPr>
          <p:cNvSpPr txBox="1"/>
          <p:nvPr/>
        </p:nvSpPr>
        <p:spPr>
          <a:xfrm>
            <a:off x="3941234" y="2264037"/>
            <a:ext cx="1591733" cy="1169551"/>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Automated feed from valuation systems or external sources</a:t>
            </a:r>
          </a:p>
          <a:p>
            <a:pPr marL="171450" lvl="0" indent="-171450">
              <a:buFont typeface="Wingdings" panose="05000000000000000000" pitchFamily="2" charset="2"/>
              <a:buChar char="ü"/>
            </a:pPr>
            <a:r>
              <a:rPr lang="en-IN" sz="1000">
                <a:solidFill>
                  <a:schemeClr val="bg1"/>
                </a:solidFill>
              </a:rPr>
              <a:t>Manual override option for finance team</a:t>
            </a:r>
          </a:p>
          <a:p>
            <a:endParaRPr lang="en-IN" sz="1000">
              <a:solidFill>
                <a:schemeClr val="bg1"/>
              </a:solidFill>
            </a:endParaRPr>
          </a:p>
        </p:txBody>
      </p:sp>
      <p:sp>
        <p:nvSpPr>
          <p:cNvPr id="9" name="TextBox 8">
            <a:extLst>
              <a:ext uri="{FF2B5EF4-FFF2-40B4-BE49-F238E27FC236}">
                <a16:creationId xmlns:a16="http://schemas.microsoft.com/office/drawing/2014/main" id="{3467A3ED-21AA-AF16-D251-CD2ABDD47399}"/>
              </a:ext>
            </a:extLst>
          </p:cNvPr>
          <p:cNvSpPr txBox="1"/>
          <p:nvPr/>
        </p:nvSpPr>
        <p:spPr>
          <a:xfrm>
            <a:off x="5507735" y="2264037"/>
            <a:ext cx="1591733" cy="1169551"/>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Increase → Credit Revaluation Reserve (OCI)             </a:t>
            </a:r>
          </a:p>
          <a:p>
            <a:pPr marL="171450" lvl="0" indent="-171450">
              <a:buFont typeface="Wingdings" panose="05000000000000000000" pitchFamily="2" charset="2"/>
              <a:buChar char="ü"/>
            </a:pPr>
            <a:r>
              <a:rPr lang="en-IN" sz="1000">
                <a:solidFill>
                  <a:schemeClr val="bg1"/>
                </a:solidFill>
              </a:rPr>
              <a:t>Decrease → Debit P&amp;L (unless reversing previous revaluation surplus)</a:t>
            </a:r>
          </a:p>
        </p:txBody>
      </p:sp>
      <p:sp>
        <p:nvSpPr>
          <p:cNvPr id="10" name="TextBox 9">
            <a:extLst>
              <a:ext uri="{FF2B5EF4-FFF2-40B4-BE49-F238E27FC236}">
                <a16:creationId xmlns:a16="http://schemas.microsoft.com/office/drawing/2014/main" id="{4628C117-12C0-398F-0CD2-0A2D2D253AAB}"/>
              </a:ext>
            </a:extLst>
          </p:cNvPr>
          <p:cNvSpPr txBox="1"/>
          <p:nvPr/>
        </p:nvSpPr>
        <p:spPr>
          <a:xfrm>
            <a:off x="7158567" y="2264037"/>
            <a:ext cx="1591733" cy="400110"/>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System generates journal entries</a:t>
            </a:r>
          </a:p>
        </p:txBody>
      </p:sp>
      <p:sp>
        <p:nvSpPr>
          <p:cNvPr id="11" name="TextBox 10">
            <a:extLst>
              <a:ext uri="{FF2B5EF4-FFF2-40B4-BE49-F238E27FC236}">
                <a16:creationId xmlns:a16="http://schemas.microsoft.com/office/drawing/2014/main" id="{0489E352-FAB1-1348-6DF0-F2482F05BB19}"/>
              </a:ext>
            </a:extLst>
          </p:cNvPr>
          <p:cNvSpPr txBox="1"/>
          <p:nvPr/>
        </p:nvSpPr>
        <p:spPr>
          <a:xfrm>
            <a:off x="8572500" y="2275940"/>
            <a:ext cx="1591733" cy="1015663"/>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Maintain valuation source, date, and method</a:t>
            </a:r>
          </a:p>
          <a:p>
            <a:pPr marL="171450" lvl="0" indent="-171450">
              <a:buFont typeface="Wingdings" panose="05000000000000000000" pitchFamily="2" charset="2"/>
              <a:buChar char="ü"/>
            </a:pPr>
            <a:r>
              <a:rPr lang="en-IN" sz="1000">
                <a:solidFill>
                  <a:schemeClr val="bg1"/>
                </a:solidFill>
              </a:rPr>
              <a:t>Automated reporting for auditors and compliance</a:t>
            </a:r>
          </a:p>
        </p:txBody>
      </p:sp>
      <p:sp>
        <p:nvSpPr>
          <p:cNvPr id="18" name="TextBox 17">
            <a:extLst>
              <a:ext uri="{FF2B5EF4-FFF2-40B4-BE49-F238E27FC236}">
                <a16:creationId xmlns:a16="http://schemas.microsoft.com/office/drawing/2014/main" id="{1DC0A76A-5502-5090-87D5-FF06BA268737}"/>
              </a:ext>
            </a:extLst>
          </p:cNvPr>
          <p:cNvSpPr txBox="1"/>
          <p:nvPr/>
        </p:nvSpPr>
        <p:spPr>
          <a:xfrm>
            <a:off x="2347722" y="4432151"/>
            <a:ext cx="1591733" cy="1015663"/>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Indicators of impairment (e.g., obsolescence, market decline)System flags based on KPIs or external feeds</a:t>
            </a:r>
          </a:p>
        </p:txBody>
      </p:sp>
      <p:sp>
        <p:nvSpPr>
          <p:cNvPr id="19" name="TextBox 18">
            <a:extLst>
              <a:ext uri="{FF2B5EF4-FFF2-40B4-BE49-F238E27FC236}">
                <a16:creationId xmlns:a16="http://schemas.microsoft.com/office/drawing/2014/main" id="{24277FA7-5179-5D20-4B01-CC64AA63D043}"/>
              </a:ext>
            </a:extLst>
          </p:cNvPr>
          <p:cNvSpPr txBox="1"/>
          <p:nvPr/>
        </p:nvSpPr>
        <p:spPr>
          <a:xfrm>
            <a:off x="4138422" y="4460988"/>
            <a:ext cx="1178983" cy="1015663"/>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Higher of: </a:t>
            </a:r>
          </a:p>
          <a:p>
            <a:pPr lvl="0"/>
            <a:r>
              <a:rPr lang="en-IN" sz="1000">
                <a:solidFill>
                  <a:schemeClr val="bg1"/>
                </a:solidFill>
              </a:rPr>
              <a:t>Fair Value less Costs to Sell OR Value in Use (discounted cash flows)</a:t>
            </a:r>
          </a:p>
        </p:txBody>
      </p:sp>
      <p:sp>
        <p:nvSpPr>
          <p:cNvPr id="20" name="TextBox 19">
            <a:extLst>
              <a:ext uri="{FF2B5EF4-FFF2-40B4-BE49-F238E27FC236}">
                <a16:creationId xmlns:a16="http://schemas.microsoft.com/office/drawing/2014/main" id="{17FC8B7F-51E5-9780-A8B5-E1A314DA6697}"/>
              </a:ext>
            </a:extLst>
          </p:cNvPr>
          <p:cNvSpPr txBox="1"/>
          <p:nvPr/>
        </p:nvSpPr>
        <p:spPr>
          <a:xfrm>
            <a:off x="5565223" y="4509095"/>
            <a:ext cx="1591733" cy="861774"/>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Compare recoverable amount vs. carrying amount</a:t>
            </a:r>
          </a:p>
          <a:p>
            <a:pPr marL="171450" lvl="0" indent="-171450">
              <a:buFont typeface="Wingdings" panose="05000000000000000000" pitchFamily="2" charset="2"/>
              <a:buChar char="ü"/>
            </a:pPr>
            <a:r>
              <a:rPr lang="en-IN" sz="1000">
                <a:solidFill>
                  <a:schemeClr val="bg1"/>
                </a:solidFill>
              </a:rPr>
              <a:t>If impaired → write down asset</a:t>
            </a:r>
          </a:p>
        </p:txBody>
      </p:sp>
      <p:sp>
        <p:nvSpPr>
          <p:cNvPr id="21" name="TextBox 20">
            <a:extLst>
              <a:ext uri="{FF2B5EF4-FFF2-40B4-BE49-F238E27FC236}">
                <a16:creationId xmlns:a16="http://schemas.microsoft.com/office/drawing/2014/main" id="{E102A026-3BD1-A542-547D-982BB787F4F0}"/>
              </a:ext>
            </a:extLst>
          </p:cNvPr>
          <p:cNvSpPr txBox="1"/>
          <p:nvPr/>
        </p:nvSpPr>
        <p:spPr>
          <a:xfrm>
            <a:off x="8570722" y="4501450"/>
            <a:ext cx="1591733" cy="1015663"/>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If conditions improve, reversal allowed (except goodwill)</a:t>
            </a:r>
          </a:p>
          <a:p>
            <a:pPr marL="171450" lvl="0" indent="-171450">
              <a:buFont typeface="Wingdings" panose="05000000000000000000" pitchFamily="2" charset="2"/>
              <a:buChar char="ü"/>
            </a:pPr>
            <a:r>
              <a:rPr lang="en-IN" sz="1000">
                <a:solidFill>
                  <a:schemeClr val="bg1"/>
                </a:solidFill>
              </a:rPr>
              <a:t>System checks periodically for reversal triggers</a:t>
            </a:r>
          </a:p>
        </p:txBody>
      </p:sp>
      <p:sp>
        <p:nvSpPr>
          <p:cNvPr id="22" name="TextBox 21">
            <a:extLst>
              <a:ext uri="{FF2B5EF4-FFF2-40B4-BE49-F238E27FC236}">
                <a16:creationId xmlns:a16="http://schemas.microsoft.com/office/drawing/2014/main" id="{3EAC73B4-3F69-DFA8-985F-D1D8FEE15F99}"/>
              </a:ext>
            </a:extLst>
          </p:cNvPr>
          <p:cNvSpPr txBox="1"/>
          <p:nvPr/>
        </p:nvSpPr>
        <p:spPr>
          <a:xfrm>
            <a:off x="10162455" y="4509095"/>
            <a:ext cx="1591733" cy="1015663"/>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Document assumptions, inputs, and calculations</a:t>
            </a:r>
          </a:p>
          <a:p>
            <a:pPr marL="171450" lvl="0" indent="-171450">
              <a:buFont typeface="Wingdings" panose="05000000000000000000" pitchFamily="2" charset="2"/>
              <a:buChar char="ü"/>
            </a:pPr>
            <a:r>
              <a:rPr lang="en-IN" sz="1000">
                <a:solidFill>
                  <a:schemeClr val="bg1"/>
                </a:solidFill>
              </a:rPr>
              <a:t>Automated logs for audit and SOX compliance</a:t>
            </a:r>
          </a:p>
        </p:txBody>
      </p:sp>
      <p:sp>
        <p:nvSpPr>
          <p:cNvPr id="23" name="TextBox 22">
            <a:extLst>
              <a:ext uri="{FF2B5EF4-FFF2-40B4-BE49-F238E27FC236}">
                <a16:creationId xmlns:a16="http://schemas.microsoft.com/office/drawing/2014/main" id="{25F6F8AA-3494-FF3D-2608-A81BF0CDBDEE}"/>
              </a:ext>
            </a:extLst>
          </p:cNvPr>
          <p:cNvSpPr txBox="1"/>
          <p:nvPr/>
        </p:nvSpPr>
        <p:spPr>
          <a:xfrm>
            <a:off x="7156956" y="4506284"/>
            <a:ext cx="1591733" cy="400110"/>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a:solidFill>
                  <a:schemeClr val="bg1"/>
                </a:solidFill>
              </a:rPr>
              <a:t>System generates journal entries</a:t>
            </a:r>
          </a:p>
        </p:txBody>
      </p:sp>
    </p:spTree>
    <p:extLst>
      <p:ext uri="{BB962C8B-B14F-4D97-AF65-F5344CB8AC3E}">
        <p14:creationId xmlns:p14="http://schemas.microsoft.com/office/powerpoint/2010/main" val="105558734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7C9D98-47FF-B41C-7EC0-8C81A31A4583}"/>
            </a:ext>
          </a:extLst>
        </p:cNvPr>
        <p:cNvGrpSpPr/>
        <p:nvPr/>
      </p:nvGrpSpPr>
      <p:grpSpPr>
        <a:xfrm>
          <a:off x="0" y="0"/>
          <a:ext cx="0" cy="0"/>
          <a:chOff x="0" y="0"/>
          <a:chExt cx="0" cy="0"/>
        </a:xfrm>
      </p:grpSpPr>
      <p:sp>
        <p:nvSpPr>
          <p:cNvPr id="3" name="Content Placeholder 1">
            <a:extLst>
              <a:ext uri="{FF2B5EF4-FFF2-40B4-BE49-F238E27FC236}">
                <a16:creationId xmlns:a16="http://schemas.microsoft.com/office/drawing/2014/main" id="{34454603-BA97-5385-8B1C-5FD751D21AEF}"/>
              </a:ext>
            </a:extLst>
          </p:cNvPr>
          <p:cNvSpPr txBox="1">
            <a:spLocks/>
          </p:cNvSpPr>
          <p:nvPr/>
        </p:nvSpPr>
        <p:spPr>
          <a:xfrm>
            <a:off x="609601" y="359324"/>
            <a:ext cx="11225019" cy="435609"/>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a:t>Depreciation &amp; Amortization automation Guide</a:t>
            </a:r>
          </a:p>
        </p:txBody>
      </p:sp>
      <p:graphicFrame>
        <p:nvGraphicFramePr>
          <p:cNvPr id="5" name="Diagram 4">
            <a:extLst>
              <a:ext uri="{FF2B5EF4-FFF2-40B4-BE49-F238E27FC236}">
                <a16:creationId xmlns:a16="http://schemas.microsoft.com/office/drawing/2014/main" id="{869CDDD3-8603-FB2D-727F-96F7099B543F}"/>
              </a:ext>
            </a:extLst>
          </p:cNvPr>
          <p:cNvGraphicFramePr/>
          <p:nvPr>
            <p:extLst>
              <p:ext uri="{D42A27DB-BD31-4B8C-83A1-F6EECF244321}">
                <p14:modId xmlns:p14="http://schemas.microsoft.com/office/powerpoint/2010/main" val="3545108321"/>
              </p:ext>
            </p:extLst>
          </p:nvPr>
        </p:nvGraphicFramePr>
        <p:xfrm>
          <a:off x="256032" y="-180172"/>
          <a:ext cx="11578588" cy="656268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TextBox 5">
            <a:extLst>
              <a:ext uri="{FF2B5EF4-FFF2-40B4-BE49-F238E27FC236}">
                <a16:creationId xmlns:a16="http://schemas.microsoft.com/office/drawing/2014/main" id="{D7432F40-8A02-33D6-3D6A-DCD92A8B2474}"/>
              </a:ext>
            </a:extLst>
          </p:cNvPr>
          <p:cNvSpPr txBox="1"/>
          <p:nvPr/>
        </p:nvSpPr>
        <p:spPr>
          <a:xfrm>
            <a:off x="2018199" y="2012246"/>
            <a:ext cx="1591733" cy="1477328"/>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Ensure completeness and accuracy of: Acquisition,  cost, Useful life, Residual value, Capitalization date</a:t>
            </a:r>
          </a:p>
          <a:p>
            <a:pPr marL="171450" lvl="0" indent="-171450">
              <a:buFont typeface="Wingdings" panose="05000000000000000000" pitchFamily="2" charset="2"/>
              <a:buChar char="ü"/>
            </a:pPr>
            <a:r>
              <a:rPr lang="en-IN" sz="1000" dirty="0">
                <a:solidFill>
                  <a:schemeClr val="bg1"/>
                </a:solidFill>
              </a:rPr>
              <a:t>Standardize data formats and mapping for GL accounts.</a:t>
            </a:r>
          </a:p>
        </p:txBody>
      </p:sp>
      <p:sp>
        <p:nvSpPr>
          <p:cNvPr id="8" name="TextBox 7">
            <a:extLst>
              <a:ext uri="{FF2B5EF4-FFF2-40B4-BE49-F238E27FC236}">
                <a16:creationId xmlns:a16="http://schemas.microsoft.com/office/drawing/2014/main" id="{2512CA74-7D32-B2AC-FAE7-C93F9B6093E0}"/>
              </a:ext>
            </a:extLst>
          </p:cNvPr>
          <p:cNvSpPr txBox="1"/>
          <p:nvPr/>
        </p:nvSpPr>
        <p:spPr>
          <a:xfrm>
            <a:off x="3550582" y="2036003"/>
            <a:ext cx="1591733" cy="1323439"/>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Define depreciation methods (Straight-line, Declining Balance, etc.) in ERP.</a:t>
            </a:r>
          </a:p>
          <a:p>
            <a:pPr marL="171450" lvl="0" indent="-171450">
              <a:buFont typeface="Wingdings" panose="05000000000000000000" pitchFamily="2" charset="2"/>
              <a:buChar char="ü"/>
            </a:pPr>
            <a:r>
              <a:rPr lang="en-IN" sz="1000" dirty="0">
                <a:solidFill>
                  <a:schemeClr val="bg1"/>
                </a:solidFill>
              </a:rPr>
              <a:t>Include logic for partial periods, additions, disposals, and impairments.</a:t>
            </a:r>
          </a:p>
        </p:txBody>
      </p:sp>
      <p:sp>
        <p:nvSpPr>
          <p:cNvPr id="9" name="TextBox 8">
            <a:extLst>
              <a:ext uri="{FF2B5EF4-FFF2-40B4-BE49-F238E27FC236}">
                <a16:creationId xmlns:a16="http://schemas.microsoft.com/office/drawing/2014/main" id="{6188AE6A-7ED8-E223-81DB-15AC34E48B0D}"/>
              </a:ext>
            </a:extLst>
          </p:cNvPr>
          <p:cNvSpPr txBox="1"/>
          <p:nvPr/>
        </p:nvSpPr>
        <p:spPr>
          <a:xfrm>
            <a:off x="5138420" y="2028358"/>
            <a:ext cx="1591733" cy="1477328"/>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Schedule jobs or use RPA to pull asset data from ERP.</a:t>
            </a:r>
          </a:p>
          <a:p>
            <a:pPr marL="171450" lvl="0" indent="-171450">
              <a:buFont typeface="Wingdings" panose="05000000000000000000" pitchFamily="2" charset="2"/>
              <a:buChar char="ü"/>
            </a:pPr>
            <a:r>
              <a:rPr lang="en-IN" sz="1000" dirty="0">
                <a:solidFill>
                  <a:schemeClr val="bg1"/>
                </a:solidFill>
              </a:rPr>
              <a:t>Validate extracted data against master records.</a:t>
            </a:r>
          </a:p>
          <a:p>
            <a:pPr marL="171450" lvl="0" indent="-171450">
              <a:buFont typeface="Wingdings" panose="05000000000000000000" pitchFamily="2" charset="2"/>
              <a:buChar char="ü"/>
            </a:pPr>
            <a:r>
              <a:rPr lang="en-IN" sz="1000" dirty="0">
                <a:solidFill>
                  <a:schemeClr val="bg1"/>
                </a:solidFill>
              </a:rPr>
              <a:t>Prepare structured input for calculation engine.</a:t>
            </a:r>
          </a:p>
        </p:txBody>
      </p:sp>
      <p:sp>
        <p:nvSpPr>
          <p:cNvPr id="10" name="TextBox 9">
            <a:extLst>
              <a:ext uri="{FF2B5EF4-FFF2-40B4-BE49-F238E27FC236}">
                <a16:creationId xmlns:a16="http://schemas.microsoft.com/office/drawing/2014/main" id="{85DAE332-F7CF-64A2-8203-80EA709F8AAB}"/>
              </a:ext>
            </a:extLst>
          </p:cNvPr>
          <p:cNvSpPr txBox="1"/>
          <p:nvPr/>
        </p:nvSpPr>
        <p:spPr>
          <a:xfrm>
            <a:off x="6789252" y="2028358"/>
            <a:ext cx="1591733" cy="1169551"/>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Apply formula</a:t>
            </a:r>
          </a:p>
          <a:p>
            <a:pPr marL="171450" lvl="0" indent="-171450">
              <a:buFont typeface="Wingdings" panose="05000000000000000000" pitchFamily="2" charset="2"/>
              <a:buChar char="ü"/>
            </a:pPr>
            <a:r>
              <a:rPr lang="en-IN" sz="1000" dirty="0">
                <a:solidFill>
                  <a:schemeClr val="bg1"/>
                </a:solidFill>
              </a:rPr>
              <a:t>Automate handling of: Mid-month acquisitionsTransfersRevaluations</a:t>
            </a:r>
          </a:p>
          <a:p>
            <a:pPr marL="171450" lvl="0" indent="-171450">
              <a:buFont typeface="Wingdings" panose="05000000000000000000" pitchFamily="2" charset="2"/>
              <a:buChar char="ü"/>
            </a:pPr>
            <a:r>
              <a:rPr lang="en-IN" sz="1000" dirty="0">
                <a:solidFill>
                  <a:schemeClr val="bg1"/>
                </a:solidFill>
              </a:rPr>
              <a:t>Generate calculation logs for audit.</a:t>
            </a:r>
          </a:p>
        </p:txBody>
      </p:sp>
      <p:sp>
        <p:nvSpPr>
          <p:cNvPr id="11" name="TextBox 10">
            <a:extLst>
              <a:ext uri="{FF2B5EF4-FFF2-40B4-BE49-F238E27FC236}">
                <a16:creationId xmlns:a16="http://schemas.microsoft.com/office/drawing/2014/main" id="{579A54D5-C376-D4AD-DB1D-E978AAADB476}"/>
              </a:ext>
            </a:extLst>
          </p:cNvPr>
          <p:cNvSpPr txBox="1"/>
          <p:nvPr/>
        </p:nvSpPr>
        <p:spPr>
          <a:xfrm>
            <a:off x="8203185" y="2040261"/>
            <a:ext cx="1591733" cy="1169551"/>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Automate GL postings</a:t>
            </a:r>
          </a:p>
          <a:p>
            <a:pPr marL="171450" lvl="0" indent="-171450">
              <a:buFont typeface="Wingdings" panose="05000000000000000000" pitchFamily="2" charset="2"/>
              <a:buChar char="ü"/>
            </a:pPr>
            <a:r>
              <a:rPr lang="en-IN" sz="1000" dirty="0">
                <a:solidFill>
                  <a:schemeClr val="bg1"/>
                </a:solidFill>
              </a:rPr>
              <a:t>Ensure integration with ERP and reconciliation reports</a:t>
            </a:r>
          </a:p>
          <a:p>
            <a:pPr marL="171450" lvl="0" indent="-171450">
              <a:buFont typeface="Wingdings" panose="05000000000000000000" pitchFamily="2" charset="2"/>
              <a:buChar char="ü"/>
            </a:pPr>
            <a:r>
              <a:rPr lang="en-IN" sz="1000" dirty="0">
                <a:solidFill>
                  <a:schemeClr val="bg1"/>
                </a:solidFill>
              </a:rPr>
              <a:t>.Implement error-handling for failed postings.</a:t>
            </a:r>
          </a:p>
        </p:txBody>
      </p:sp>
      <p:sp>
        <p:nvSpPr>
          <p:cNvPr id="18" name="TextBox 17">
            <a:extLst>
              <a:ext uri="{FF2B5EF4-FFF2-40B4-BE49-F238E27FC236}">
                <a16:creationId xmlns:a16="http://schemas.microsoft.com/office/drawing/2014/main" id="{AC420725-84EB-E43C-D524-92BB158FDDFE}"/>
              </a:ext>
            </a:extLst>
          </p:cNvPr>
          <p:cNvSpPr txBox="1"/>
          <p:nvPr/>
        </p:nvSpPr>
        <p:spPr>
          <a:xfrm>
            <a:off x="2123947" y="4378196"/>
            <a:ext cx="1591733" cy="1938992"/>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Gather all intangible assets (e.g., software licenses, patents, trademarks).</a:t>
            </a:r>
          </a:p>
          <a:p>
            <a:pPr marL="171450" lvl="0" indent="-171450">
              <a:buFont typeface="Wingdings" panose="05000000000000000000" pitchFamily="2" charset="2"/>
              <a:buChar char="ü"/>
            </a:pPr>
            <a:r>
              <a:rPr lang="en-IN" sz="1000" dirty="0">
                <a:solidFill>
                  <a:schemeClr val="bg1"/>
                </a:solidFill>
              </a:rPr>
              <a:t>Classify them as finite life (amortizable) or indefinite life (not amortized, only impairment tested).</a:t>
            </a:r>
          </a:p>
          <a:p>
            <a:pPr marL="171450" lvl="0" indent="-171450">
              <a:buFont typeface="Wingdings" panose="05000000000000000000" pitchFamily="2" charset="2"/>
              <a:buChar char="ü"/>
            </a:pPr>
            <a:r>
              <a:rPr lang="en-IN" sz="1000" dirty="0">
                <a:solidFill>
                  <a:schemeClr val="bg1"/>
                </a:solidFill>
              </a:rPr>
              <a:t>Validate supporting documentation for capitalization.</a:t>
            </a:r>
          </a:p>
        </p:txBody>
      </p:sp>
      <p:sp>
        <p:nvSpPr>
          <p:cNvPr id="19" name="TextBox 18">
            <a:extLst>
              <a:ext uri="{FF2B5EF4-FFF2-40B4-BE49-F238E27FC236}">
                <a16:creationId xmlns:a16="http://schemas.microsoft.com/office/drawing/2014/main" id="{537C4CB9-CFE2-4874-A5A3-B62B4F2731C5}"/>
              </a:ext>
            </a:extLst>
          </p:cNvPr>
          <p:cNvSpPr txBox="1"/>
          <p:nvPr/>
        </p:nvSpPr>
        <p:spPr>
          <a:xfrm>
            <a:off x="3715680" y="4399147"/>
            <a:ext cx="1516209" cy="1938992"/>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Amortization start date).Useful life based on contractual terms or expected economic benefit.</a:t>
            </a:r>
          </a:p>
          <a:p>
            <a:pPr marL="171450" lvl="0" indent="-171450">
              <a:buFont typeface="Wingdings" panose="05000000000000000000" pitchFamily="2" charset="2"/>
              <a:buChar char="ü"/>
            </a:pPr>
            <a:r>
              <a:rPr lang="en-IN" sz="1000" dirty="0">
                <a:solidFill>
                  <a:schemeClr val="bg1"/>
                </a:solidFill>
              </a:rPr>
              <a:t>Document policy for: Method, Treatment of residual </a:t>
            </a:r>
            <a:r>
              <a:rPr lang="en-IN" sz="1000" dirty="0" err="1">
                <a:solidFill>
                  <a:schemeClr val="bg1"/>
                </a:solidFill>
              </a:rPr>
              <a:t>value,Handling</a:t>
            </a:r>
            <a:r>
              <a:rPr lang="en-IN" sz="1000" dirty="0">
                <a:solidFill>
                  <a:schemeClr val="bg1"/>
                </a:solidFill>
              </a:rPr>
              <a:t> of changes in useful life or impairments.</a:t>
            </a:r>
          </a:p>
        </p:txBody>
      </p:sp>
      <p:sp>
        <p:nvSpPr>
          <p:cNvPr id="20" name="TextBox 19">
            <a:extLst>
              <a:ext uri="{FF2B5EF4-FFF2-40B4-BE49-F238E27FC236}">
                <a16:creationId xmlns:a16="http://schemas.microsoft.com/office/drawing/2014/main" id="{FE98F3A2-96D5-3B97-84D7-6BAFB4314431}"/>
              </a:ext>
            </a:extLst>
          </p:cNvPr>
          <p:cNvSpPr txBox="1"/>
          <p:nvPr/>
        </p:nvSpPr>
        <p:spPr>
          <a:xfrm>
            <a:off x="5125804" y="4426050"/>
            <a:ext cx="1735496" cy="1938992"/>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Set up amortization keys in ERP (SAP, Oracle, Dynamics).</a:t>
            </a:r>
          </a:p>
          <a:p>
            <a:pPr marL="171450" lvl="0" indent="-171450">
              <a:buFont typeface="Wingdings" panose="05000000000000000000" pitchFamily="2" charset="2"/>
              <a:buChar char="ü"/>
            </a:pPr>
            <a:r>
              <a:rPr lang="en-IN" sz="1000" dirty="0">
                <a:solidFill>
                  <a:schemeClr val="bg1"/>
                </a:solidFill>
              </a:rPr>
              <a:t>Define: Frequency, Posting logic for expense and accumulated amortization.</a:t>
            </a:r>
          </a:p>
          <a:p>
            <a:pPr marL="171450" lvl="0" indent="-171450">
              <a:buFont typeface="Wingdings" panose="05000000000000000000" pitchFamily="2" charset="2"/>
              <a:buChar char="ü"/>
            </a:pPr>
            <a:r>
              <a:rPr lang="en-IN" sz="1000" dirty="0">
                <a:solidFill>
                  <a:schemeClr val="bg1"/>
                </a:solidFill>
              </a:rPr>
              <a:t>Enable automated triggers for: New asset additions, Adjustments for impairments or write-offs.</a:t>
            </a:r>
          </a:p>
        </p:txBody>
      </p:sp>
      <p:sp>
        <p:nvSpPr>
          <p:cNvPr id="21" name="TextBox 20">
            <a:extLst>
              <a:ext uri="{FF2B5EF4-FFF2-40B4-BE49-F238E27FC236}">
                <a16:creationId xmlns:a16="http://schemas.microsoft.com/office/drawing/2014/main" id="{7B506714-C3B6-101D-8A17-255DA5A4B2DA}"/>
              </a:ext>
            </a:extLst>
          </p:cNvPr>
          <p:cNvSpPr txBox="1"/>
          <p:nvPr/>
        </p:nvSpPr>
        <p:spPr>
          <a:xfrm>
            <a:off x="8346947" y="4447495"/>
            <a:ext cx="1591733" cy="1323439"/>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Automate calculation</a:t>
            </a:r>
          </a:p>
          <a:p>
            <a:pPr marL="171450" lvl="0" indent="-171450">
              <a:buFont typeface="Wingdings" panose="05000000000000000000" pitchFamily="2" charset="2"/>
              <a:buChar char="ü"/>
            </a:pPr>
            <a:r>
              <a:rPr lang="en-IN" sz="1000" dirty="0">
                <a:solidFill>
                  <a:schemeClr val="bg1"/>
                </a:solidFill>
              </a:rPr>
              <a:t>Post entries automatically</a:t>
            </a:r>
          </a:p>
          <a:p>
            <a:pPr marL="171450" lvl="0" indent="-171450">
              <a:buFont typeface="Wingdings" panose="05000000000000000000" pitchFamily="2" charset="2"/>
              <a:buChar char="ü"/>
            </a:pPr>
            <a:r>
              <a:rPr lang="en-IN" sz="1000" dirty="0">
                <a:solidFill>
                  <a:schemeClr val="bg1"/>
                </a:solidFill>
              </a:rPr>
              <a:t>Include logic for Mid-period acquisitions &amp; Adjustments for impairments or revised useful life.</a:t>
            </a:r>
          </a:p>
        </p:txBody>
      </p:sp>
      <p:sp>
        <p:nvSpPr>
          <p:cNvPr id="22" name="TextBox 21">
            <a:extLst>
              <a:ext uri="{FF2B5EF4-FFF2-40B4-BE49-F238E27FC236}">
                <a16:creationId xmlns:a16="http://schemas.microsoft.com/office/drawing/2014/main" id="{8CC6FCDA-9BBD-1CCE-F432-1DFB77A28E00}"/>
              </a:ext>
            </a:extLst>
          </p:cNvPr>
          <p:cNvSpPr txBox="1"/>
          <p:nvPr/>
        </p:nvSpPr>
        <p:spPr>
          <a:xfrm>
            <a:off x="9794918" y="4455140"/>
            <a:ext cx="1735496" cy="2092881"/>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Generate Amortization schedules, Exception reports for changes in useful life or impairments.</a:t>
            </a:r>
          </a:p>
          <a:p>
            <a:pPr marL="171450" lvl="0" indent="-171450">
              <a:buFont typeface="Wingdings" panose="05000000000000000000" pitchFamily="2" charset="2"/>
              <a:buChar char="ü"/>
            </a:pPr>
            <a:r>
              <a:rPr lang="en-IN" sz="1000" dirty="0">
                <a:solidFill>
                  <a:schemeClr val="bg1"/>
                </a:solidFill>
              </a:rPr>
              <a:t>Implement controls to Ensure NBV never goes negative.</a:t>
            </a:r>
          </a:p>
          <a:p>
            <a:pPr marL="171450" lvl="0" indent="-171450">
              <a:buFont typeface="Wingdings" panose="05000000000000000000" pitchFamily="2" charset="2"/>
              <a:buChar char="ü"/>
            </a:pPr>
            <a:r>
              <a:rPr lang="en-IN" sz="1000" dirty="0">
                <a:solidFill>
                  <a:schemeClr val="bg1"/>
                </a:solidFill>
              </a:rPr>
              <a:t>Maintain audit trail for all automated postings.</a:t>
            </a:r>
          </a:p>
          <a:p>
            <a:pPr marL="171450" lvl="0" indent="-171450">
              <a:buFont typeface="Wingdings" panose="05000000000000000000" pitchFamily="2" charset="2"/>
              <a:buChar char="ü"/>
            </a:pPr>
            <a:r>
              <a:rPr lang="en-IN" sz="1000" dirty="0">
                <a:solidFill>
                  <a:schemeClr val="bg1"/>
                </a:solidFill>
              </a:rPr>
              <a:t>Align with IAS 38 and local GAAP for compliance.</a:t>
            </a:r>
          </a:p>
        </p:txBody>
      </p:sp>
      <p:sp>
        <p:nvSpPr>
          <p:cNvPr id="23" name="TextBox 22">
            <a:extLst>
              <a:ext uri="{FF2B5EF4-FFF2-40B4-BE49-F238E27FC236}">
                <a16:creationId xmlns:a16="http://schemas.microsoft.com/office/drawing/2014/main" id="{232B08CA-6C42-6091-DFE5-928D67B9659B}"/>
              </a:ext>
            </a:extLst>
          </p:cNvPr>
          <p:cNvSpPr txBox="1"/>
          <p:nvPr/>
        </p:nvSpPr>
        <p:spPr>
          <a:xfrm>
            <a:off x="6727697" y="4446996"/>
            <a:ext cx="1769701" cy="1631216"/>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Build automated workflows to Pull intangible asset data from sub -ledger.</a:t>
            </a:r>
          </a:p>
          <a:p>
            <a:pPr marL="171450" lvl="0" indent="-171450">
              <a:buFont typeface="Wingdings" panose="05000000000000000000" pitchFamily="2" charset="2"/>
              <a:buChar char="ü"/>
            </a:pPr>
            <a:r>
              <a:rPr lang="en-IN" sz="1000" dirty="0">
                <a:solidFill>
                  <a:schemeClr val="bg1"/>
                </a:solidFill>
              </a:rPr>
              <a:t>Validate completeness and accuracy.</a:t>
            </a:r>
          </a:p>
          <a:p>
            <a:pPr marL="171450" lvl="0" indent="-171450">
              <a:buFont typeface="Wingdings" panose="05000000000000000000" pitchFamily="2" charset="2"/>
              <a:buChar char="ü"/>
            </a:pPr>
            <a:r>
              <a:rPr lang="en-IN" sz="1000" dirty="0">
                <a:solidFill>
                  <a:schemeClr val="bg1"/>
                </a:solidFill>
              </a:rPr>
              <a:t>Ensure integration with General Ledger for postings &amp; Reporting tools for schedules.</a:t>
            </a:r>
          </a:p>
        </p:txBody>
      </p:sp>
      <p:sp>
        <p:nvSpPr>
          <p:cNvPr id="2" name="TextBox 1">
            <a:extLst>
              <a:ext uri="{FF2B5EF4-FFF2-40B4-BE49-F238E27FC236}">
                <a16:creationId xmlns:a16="http://schemas.microsoft.com/office/drawing/2014/main" id="{AD7B7C05-6B1B-5A32-4B3E-7C6465F6140F}"/>
              </a:ext>
            </a:extLst>
          </p:cNvPr>
          <p:cNvSpPr txBox="1"/>
          <p:nvPr/>
        </p:nvSpPr>
        <p:spPr>
          <a:xfrm>
            <a:off x="9862481" y="2040261"/>
            <a:ext cx="1591733" cy="1169551"/>
          </a:xfrm>
          <a:prstGeom prst="rect">
            <a:avLst/>
          </a:prstGeom>
          <a:noFill/>
          <a:ln>
            <a:noFill/>
          </a:ln>
        </p:spPr>
        <p:txBody>
          <a:bodyPr wrap="square" rtlCol="0">
            <a:spAutoFit/>
          </a:bodyPr>
          <a:lstStyle/>
          <a:p>
            <a:pPr marL="171450" lvl="0" indent="-171450">
              <a:buFont typeface="Wingdings" panose="05000000000000000000" pitchFamily="2" charset="2"/>
              <a:buChar char="ü"/>
            </a:pPr>
            <a:r>
              <a:rPr lang="en-IN" sz="1000" dirty="0">
                <a:solidFill>
                  <a:schemeClr val="bg1"/>
                </a:solidFill>
              </a:rPr>
              <a:t>Automate Monthly depreciation reports &amp; Exception logs</a:t>
            </a:r>
          </a:p>
          <a:p>
            <a:pPr marL="171450" lvl="0" indent="-171450">
              <a:buFont typeface="Wingdings" panose="05000000000000000000" pitchFamily="2" charset="2"/>
              <a:buChar char="ü"/>
            </a:pPr>
            <a:r>
              <a:rPr lang="en-IN" sz="1000" dirty="0">
                <a:solidFill>
                  <a:schemeClr val="bg1"/>
                </a:solidFill>
              </a:rPr>
              <a:t>Implement controls </a:t>
            </a:r>
          </a:p>
          <a:p>
            <a:pPr marL="171450" lvl="0" indent="-171450">
              <a:buFont typeface="Wingdings" panose="05000000000000000000" pitchFamily="2" charset="2"/>
              <a:buChar char="ü"/>
            </a:pPr>
            <a:r>
              <a:rPr lang="en-IN" sz="1000" dirty="0">
                <a:solidFill>
                  <a:schemeClr val="bg1"/>
                </a:solidFill>
              </a:rPr>
              <a:t>Use BI tools for visualization and trend analysis.</a:t>
            </a:r>
          </a:p>
        </p:txBody>
      </p:sp>
    </p:spTree>
    <p:extLst>
      <p:ext uri="{BB962C8B-B14F-4D97-AF65-F5344CB8AC3E}">
        <p14:creationId xmlns:p14="http://schemas.microsoft.com/office/powerpoint/2010/main" val="260143563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C0E384F-4022-F55A-2D69-BB5EBD548338}"/>
              </a:ext>
            </a:extLst>
          </p:cNvPr>
          <p:cNvSpPr>
            <a:spLocks noGrp="1"/>
          </p:cNvSpPr>
          <p:nvPr>
            <p:ph idx="4294967295"/>
          </p:nvPr>
        </p:nvSpPr>
        <p:spPr>
          <a:xfrm>
            <a:off x="609603" y="1137915"/>
            <a:ext cx="10972800" cy="622911"/>
          </a:xfrm>
        </p:spPr>
        <p:txBody>
          <a:bodyPr/>
          <a:lstStyle/>
          <a:p>
            <a:r>
              <a:rPr lang="en-IN" sz="1400"/>
              <a:t>An </a:t>
            </a:r>
            <a:r>
              <a:rPr lang="en-IN" sz="1400" b="1"/>
              <a:t>inter-entity transfer</a:t>
            </a:r>
            <a:r>
              <a:rPr lang="en-IN" sz="1400"/>
              <a:t> occurs when a fixed asset is moved from one legal entity to another within the same corporate group. This process must comply with international accounting standards to ensure accurate financial reporting and consolidation.</a:t>
            </a:r>
            <a:endParaRPr lang="en-US" sz="1400"/>
          </a:p>
        </p:txBody>
      </p:sp>
      <p:sp>
        <p:nvSpPr>
          <p:cNvPr id="3" name="Content Placeholder 1">
            <a:extLst>
              <a:ext uri="{FF2B5EF4-FFF2-40B4-BE49-F238E27FC236}">
                <a16:creationId xmlns:a16="http://schemas.microsoft.com/office/drawing/2014/main" id="{03F352E6-6B9C-CCC0-EFF8-F978FF9D96B5}"/>
              </a:ext>
            </a:extLst>
          </p:cNvPr>
          <p:cNvSpPr txBox="1">
            <a:spLocks/>
          </p:cNvSpPr>
          <p:nvPr/>
        </p:nvSpPr>
        <p:spPr>
          <a:xfrm>
            <a:off x="609602" y="402548"/>
            <a:ext cx="11225019" cy="87121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a:t>Inter-Entity Transfer</a:t>
            </a:r>
          </a:p>
        </p:txBody>
      </p:sp>
      <p:graphicFrame>
        <p:nvGraphicFramePr>
          <p:cNvPr id="5" name="Diagram 4">
            <a:extLst>
              <a:ext uri="{FF2B5EF4-FFF2-40B4-BE49-F238E27FC236}">
                <a16:creationId xmlns:a16="http://schemas.microsoft.com/office/drawing/2014/main" id="{FD7D0EE5-81F9-E9B0-FBEE-48FD178BE8CD}"/>
              </a:ext>
            </a:extLst>
          </p:cNvPr>
          <p:cNvGraphicFramePr/>
          <p:nvPr>
            <p:extLst>
              <p:ext uri="{D42A27DB-BD31-4B8C-83A1-F6EECF244321}">
                <p14:modId xmlns:p14="http://schemas.microsoft.com/office/powerpoint/2010/main" val="1663257733"/>
              </p:ext>
            </p:extLst>
          </p:nvPr>
        </p:nvGraphicFramePr>
        <p:xfrm>
          <a:off x="7836085" y="1577837"/>
          <a:ext cx="4290481" cy="414224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4" name="Diagram 13">
            <a:extLst>
              <a:ext uri="{FF2B5EF4-FFF2-40B4-BE49-F238E27FC236}">
                <a16:creationId xmlns:a16="http://schemas.microsoft.com/office/drawing/2014/main" id="{7525FB8A-8F3A-7494-3B5D-E1AD09EF5172}"/>
              </a:ext>
            </a:extLst>
          </p:cNvPr>
          <p:cNvGraphicFramePr/>
          <p:nvPr>
            <p:extLst>
              <p:ext uri="{D42A27DB-BD31-4B8C-83A1-F6EECF244321}">
                <p14:modId xmlns:p14="http://schemas.microsoft.com/office/powerpoint/2010/main" val="813682601"/>
              </p:ext>
            </p:extLst>
          </p:nvPr>
        </p:nvGraphicFramePr>
        <p:xfrm>
          <a:off x="4200002" y="4986107"/>
          <a:ext cx="7543800" cy="205268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5" name="TextBox 14">
            <a:extLst>
              <a:ext uri="{FF2B5EF4-FFF2-40B4-BE49-F238E27FC236}">
                <a16:creationId xmlns:a16="http://schemas.microsoft.com/office/drawing/2014/main" id="{7423A07F-0C76-1A55-7787-094A3DE061C8}"/>
              </a:ext>
            </a:extLst>
          </p:cNvPr>
          <p:cNvSpPr txBox="1"/>
          <p:nvPr/>
        </p:nvSpPr>
        <p:spPr>
          <a:xfrm>
            <a:off x="1659478" y="1709647"/>
            <a:ext cx="1184812" cy="307777"/>
          </a:xfrm>
          <a:prstGeom prst="rect">
            <a:avLst/>
          </a:prstGeom>
          <a:noFill/>
        </p:spPr>
        <p:txBody>
          <a:bodyPr wrap="none" rtlCol="0">
            <a:spAutoFit/>
          </a:bodyPr>
          <a:lstStyle/>
          <a:p>
            <a:r>
              <a:rPr lang="en-IN" sz="1400">
                <a:solidFill>
                  <a:srgbClr val="FFFF00"/>
                </a:solidFill>
                <a:latin typeface="EY interstate"/>
              </a:rPr>
              <a:t>Transfer Logic</a:t>
            </a:r>
          </a:p>
        </p:txBody>
      </p:sp>
      <p:sp>
        <p:nvSpPr>
          <p:cNvPr id="37" name="TextBox 36">
            <a:extLst>
              <a:ext uri="{FF2B5EF4-FFF2-40B4-BE49-F238E27FC236}">
                <a16:creationId xmlns:a16="http://schemas.microsoft.com/office/drawing/2014/main" id="{E4C54F2A-5CBA-1A64-9551-9DF08FC708E5}"/>
              </a:ext>
            </a:extLst>
          </p:cNvPr>
          <p:cNvSpPr txBox="1"/>
          <p:nvPr/>
        </p:nvSpPr>
        <p:spPr>
          <a:xfrm>
            <a:off x="5434899" y="2493943"/>
            <a:ext cx="1550254" cy="307777"/>
          </a:xfrm>
          <a:prstGeom prst="rect">
            <a:avLst/>
          </a:prstGeom>
          <a:noFill/>
        </p:spPr>
        <p:txBody>
          <a:bodyPr wrap="square" rtlCol="0">
            <a:spAutoFit/>
          </a:bodyPr>
          <a:lstStyle/>
          <a:p>
            <a:r>
              <a:rPr lang="en-IN" sz="1400" dirty="0">
                <a:solidFill>
                  <a:srgbClr val="FFFF00"/>
                </a:solidFill>
                <a:latin typeface="EY interstate"/>
              </a:rPr>
              <a:t>Best Practices</a:t>
            </a:r>
          </a:p>
        </p:txBody>
      </p:sp>
      <p:sp>
        <p:nvSpPr>
          <p:cNvPr id="38" name="Content Placeholder 1">
            <a:extLst>
              <a:ext uri="{FF2B5EF4-FFF2-40B4-BE49-F238E27FC236}">
                <a16:creationId xmlns:a16="http://schemas.microsoft.com/office/drawing/2014/main" id="{73CE57AA-BC25-13E9-D586-C844A94343AE}"/>
              </a:ext>
            </a:extLst>
          </p:cNvPr>
          <p:cNvSpPr>
            <a:spLocks noGrp="1"/>
          </p:cNvSpPr>
          <p:nvPr>
            <p:ph idx="4294967295"/>
          </p:nvPr>
        </p:nvSpPr>
        <p:spPr>
          <a:xfrm>
            <a:off x="4547944" y="2905284"/>
            <a:ext cx="3149292" cy="1758995"/>
          </a:xfrm>
        </p:spPr>
        <p:txBody>
          <a:bodyPr/>
          <a:lstStyle/>
          <a:p>
            <a:r>
              <a:rPr lang="en-IN" sz="1400">
                <a:latin typeface="EY interstate"/>
              </a:rPr>
              <a:t>Maintain audit trail of asset movement.</a:t>
            </a:r>
          </a:p>
          <a:p>
            <a:r>
              <a:rPr lang="en-IN" sz="1400">
                <a:latin typeface="EY interstate"/>
              </a:rPr>
              <a:t>Use automated workflows for approvals and accounting entries.</a:t>
            </a:r>
          </a:p>
          <a:p>
            <a:r>
              <a:rPr lang="en-IN" sz="1400">
                <a:latin typeface="EY interstate"/>
              </a:rPr>
              <a:t>Align with group accounting policies and ERP systems.</a:t>
            </a:r>
            <a:endParaRPr lang="en-US" sz="1400">
              <a:latin typeface="EY interstate"/>
            </a:endParaRPr>
          </a:p>
        </p:txBody>
      </p:sp>
      <p:sp>
        <p:nvSpPr>
          <p:cNvPr id="40" name="Rectangle: Rounded Corners 39">
            <a:extLst>
              <a:ext uri="{FF2B5EF4-FFF2-40B4-BE49-F238E27FC236}">
                <a16:creationId xmlns:a16="http://schemas.microsoft.com/office/drawing/2014/main" id="{0B23A40B-C2AC-CA13-D39C-8E7D5BA83CE0}"/>
              </a:ext>
            </a:extLst>
          </p:cNvPr>
          <p:cNvSpPr/>
          <p:nvPr/>
        </p:nvSpPr>
        <p:spPr>
          <a:xfrm>
            <a:off x="4301918" y="2258922"/>
            <a:ext cx="3382557" cy="2174677"/>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1" name="Rectangle: Rounded Corners 40">
            <a:extLst>
              <a:ext uri="{FF2B5EF4-FFF2-40B4-BE49-F238E27FC236}">
                <a16:creationId xmlns:a16="http://schemas.microsoft.com/office/drawing/2014/main" id="{870AECCE-774A-9EEB-940D-C77EF3320D09}"/>
              </a:ext>
            </a:extLst>
          </p:cNvPr>
          <p:cNvSpPr/>
          <p:nvPr/>
        </p:nvSpPr>
        <p:spPr>
          <a:xfrm>
            <a:off x="4396334" y="2351356"/>
            <a:ext cx="3382557" cy="2174677"/>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2" name="Rectangle: Rounded Corners 61">
            <a:extLst>
              <a:ext uri="{FF2B5EF4-FFF2-40B4-BE49-F238E27FC236}">
                <a16:creationId xmlns:a16="http://schemas.microsoft.com/office/drawing/2014/main" id="{DCE669CF-3F2D-92D7-396C-A6779B7E1469}"/>
              </a:ext>
            </a:extLst>
          </p:cNvPr>
          <p:cNvSpPr/>
          <p:nvPr/>
        </p:nvSpPr>
        <p:spPr>
          <a:xfrm>
            <a:off x="8854712" y="2380545"/>
            <a:ext cx="691203" cy="259959"/>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3" name="Rectangle: Rounded Corners 62">
            <a:extLst>
              <a:ext uri="{FF2B5EF4-FFF2-40B4-BE49-F238E27FC236}">
                <a16:creationId xmlns:a16="http://schemas.microsoft.com/office/drawing/2014/main" id="{7B0C8C6D-1F5C-7280-0EAB-3A31ED216E1F}"/>
              </a:ext>
            </a:extLst>
          </p:cNvPr>
          <p:cNvSpPr/>
          <p:nvPr/>
        </p:nvSpPr>
        <p:spPr>
          <a:xfrm>
            <a:off x="10490639" y="2404454"/>
            <a:ext cx="691203" cy="259959"/>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28" name="Group 27">
            <a:extLst>
              <a:ext uri="{FF2B5EF4-FFF2-40B4-BE49-F238E27FC236}">
                <a16:creationId xmlns:a16="http://schemas.microsoft.com/office/drawing/2014/main" id="{C3925B4E-BF74-A746-A676-E8972B2056F1}"/>
              </a:ext>
            </a:extLst>
          </p:cNvPr>
          <p:cNvGrpSpPr/>
          <p:nvPr/>
        </p:nvGrpSpPr>
        <p:grpSpPr>
          <a:xfrm>
            <a:off x="648515" y="2095026"/>
            <a:ext cx="3238632" cy="4620238"/>
            <a:chOff x="2670840" y="1112535"/>
            <a:chExt cx="1910953" cy="5780892"/>
          </a:xfrm>
        </p:grpSpPr>
        <p:grpSp>
          <p:nvGrpSpPr>
            <p:cNvPr id="7" name="Group 6">
              <a:extLst>
                <a:ext uri="{FF2B5EF4-FFF2-40B4-BE49-F238E27FC236}">
                  <a16:creationId xmlns:a16="http://schemas.microsoft.com/office/drawing/2014/main" id="{BA7EF726-A501-43C7-B1CD-88D1E40E429B}"/>
                </a:ext>
              </a:extLst>
            </p:cNvPr>
            <p:cNvGrpSpPr/>
            <p:nvPr/>
          </p:nvGrpSpPr>
          <p:grpSpPr>
            <a:xfrm>
              <a:off x="2670840" y="1112535"/>
              <a:ext cx="1910953" cy="4211196"/>
              <a:chOff x="2085624" y="1108659"/>
              <a:chExt cx="1910953" cy="4211196"/>
            </a:xfrm>
          </p:grpSpPr>
          <p:sp>
            <p:nvSpPr>
              <p:cNvPr id="8" name="Freeform: Shape 7">
                <a:extLst>
                  <a:ext uri="{FF2B5EF4-FFF2-40B4-BE49-F238E27FC236}">
                    <a16:creationId xmlns:a16="http://schemas.microsoft.com/office/drawing/2014/main" id="{7E616180-6F45-BBEB-3B06-D3D1CD2E8005}"/>
                  </a:ext>
                </a:extLst>
              </p:cNvPr>
              <p:cNvSpPr/>
              <p:nvPr/>
            </p:nvSpPr>
            <p:spPr>
              <a:xfrm>
                <a:off x="2625677" y="1108659"/>
                <a:ext cx="830848" cy="553899"/>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800" kern="1200">
                    <a:latin typeface="EY interstate"/>
                  </a:rPr>
                  <a:t>Inter-Entity Transfer Process</a:t>
                </a:r>
                <a:endParaRPr lang="en-IN" sz="800" kern="1200">
                  <a:latin typeface="EY interstate"/>
                </a:endParaRPr>
              </a:p>
            </p:txBody>
          </p:sp>
          <p:sp>
            <p:nvSpPr>
              <p:cNvPr id="9" name="Freeform: Shape 8">
                <a:extLst>
                  <a:ext uri="{FF2B5EF4-FFF2-40B4-BE49-F238E27FC236}">
                    <a16:creationId xmlns:a16="http://schemas.microsoft.com/office/drawing/2014/main" id="{A1DCCDFA-5792-00AB-01CA-093520E870A2}"/>
                  </a:ext>
                </a:extLst>
              </p:cNvPr>
              <p:cNvSpPr/>
              <p:nvPr/>
            </p:nvSpPr>
            <p:spPr>
              <a:xfrm>
                <a:off x="2995382" y="1678693"/>
                <a:ext cx="91440" cy="221559"/>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10" name="Freeform: Shape 9">
                <a:extLst>
                  <a:ext uri="{FF2B5EF4-FFF2-40B4-BE49-F238E27FC236}">
                    <a16:creationId xmlns:a16="http://schemas.microsoft.com/office/drawing/2014/main" id="{A1D5FE23-8AF8-A06F-49D7-662C7A700E19}"/>
                  </a:ext>
                </a:extLst>
              </p:cNvPr>
              <p:cNvSpPr/>
              <p:nvPr/>
            </p:nvSpPr>
            <p:spPr>
              <a:xfrm>
                <a:off x="2622112" y="1960751"/>
                <a:ext cx="830848" cy="553899"/>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800" kern="1200">
                    <a:latin typeface="EY interstate"/>
                  </a:rPr>
                  <a:t>Identify the Nature of Asset</a:t>
                </a:r>
                <a:endParaRPr lang="en-IN" sz="800" kern="1200">
                  <a:latin typeface="EY interstate"/>
                </a:endParaRPr>
              </a:p>
            </p:txBody>
          </p:sp>
          <p:sp>
            <p:nvSpPr>
              <p:cNvPr id="11" name="Freeform: Shape 10">
                <a:extLst>
                  <a:ext uri="{FF2B5EF4-FFF2-40B4-BE49-F238E27FC236}">
                    <a16:creationId xmlns:a16="http://schemas.microsoft.com/office/drawing/2014/main" id="{5F176322-8D4F-B6C8-DCEB-5D60D334EEE5}"/>
                  </a:ext>
                </a:extLst>
              </p:cNvPr>
              <p:cNvSpPr/>
              <p:nvPr/>
            </p:nvSpPr>
            <p:spPr>
              <a:xfrm>
                <a:off x="2995382" y="2542759"/>
                <a:ext cx="91440" cy="221561"/>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12" name="Freeform: Shape 11">
                <a:extLst>
                  <a:ext uri="{FF2B5EF4-FFF2-40B4-BE49-F238E27FC236}">
                    <a16:creationId xmlns:a16="http://schemas.microsoft.com/office/drawing/2014/main" id="{363404A8-16B5-6E33-8ACF-FBFAED357492}"/>
                  </a:ext>
                </a:extLst>
              </p:cNvPr>
              <p:cNvSpPr/>
              <p:nvPr/>
            </p:nvSpPr>
            <p:spPr>
              <a:xfrm>
                <a:off x="2625677" y="2836784"/>
                <a:ext cx="830848" cy="553898"/>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800" kern="1200">
                    <a:latin typeface="EY interstate"/>
                  </a:rPr>
                  <a:t>Determine the type of Transfer</a:t>
                </a:r>
                <a:endParaRPr lang="en-IN" sz="800" kern="1200">
                  <a:latin typeface="EY interstate"/>
                </a:endParaRPr>
              </a:p>
            </p:txBody>
          </p:sp>
          <p:sp>
            <p:nvSpPr>
              <p:cNvPr id="13" name="Freeform: Shape 12">
                <a:extLst>
                  <a:ext uri="{FF2B5EF4-FFF2-40B4-BE49-F238E27FC236}">
                    <a16:creationId xmlns:a16="http://schemas.microsoft.com/office/drawing/2014/main" id="{0319249E-C524-BDEA-36F2-013DE02A88A3}"/>
                  </a:ext>
                </a:extLst>
              </p:cNvPr>
              <p:cNvSpPr/>
              <p:nvPr/>
            </p:nvSpPr>
            <p:spPr>
              <a:xfrm>
                <a:off x="2497485" y="3405067"/>
                <a:ext cx="540051" cy="221559"/>
              </a:xfrm>
              <a:custGeom>
                <a:avLst/>
                <a:gdLst/>
                <a:ahLst/>
                <a:cxnLst/>
                <a:rect l="0" t="0" r="0" b="0"/>
                <a:pathLst>
                  <a:path>
                    <a:moveTo>
                      <a:pt x="540051" y="0"/>
                    </a:moveTo>
                    <a:lnTo>
                      <a:pt x="540051" y="110779"/>
                    </a:lnTo>
                    <a:lnTo>
                      <a:pt x="0" y="110779"/>
                    </a:lnTo>
                    <a:lnTo>
                      <a:pt x="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16" name="Freeform: Shape 15">
                <a:extLst>
                  <a:ext uri="{FF2B5EF4-FFF2-40B4-BE49-F238E27FC236}">
                    <a16:creationId xmlns:a16="http://schemas.microsoft.com/office/drawing/2014/main" id="{DA6FDB39-0B8D-9CE4-74D2-2506DBAF4EAD}"/>
                  </a:ext>
                </a:extLst>
              </p:cNvPr>
              <p:cNvSpPr/>
              <p:nvPr/>
            </p:nvSpPr>
            <p:spPr>
              <a:xfrm>
                <a:off x="2085624" y="3688877"/>
                <a:ext cx="830848" cy="553898"/>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800" kern="1200">
                    <a:latin typeface="EY interstate"/>
                  </a:rPr>
                  <a:t>IAS 16 (Owned Fixed Assets)</a:t>
                </a:r>
                <a:endParaRPr lang="en-IN" sz="800" kern="1200">
                  <a:latin typeface="EY interstate"/>
                </a:endParaRPr>
              </a:p>
            </p:txBody>
          </p:sp>
          <p:sp>
            <p:nvSpPr>
              <p:cNvPr id="17" name="Freeform: Shape 16">
                <a:extLst>
                  <a:ext uri="{FF2B5EF4-FFF2-40B4-BE49-F238E27FC236}">
                    <a16:creationId xmlns:a16="http://schemas.microsoft.com/office/drawing/2014/main" id="{04B54478-76B2-0B06-C3CE-EF9C8AC898BD}"/>
                  </a:ext>
                </a:extLst>
              </p:cNvPr>
              <p:cNvSpPr/>
              <p:nvPr/>
            </p:nvSpPr>
            <p:spPr>
              <a:xfrm>
                <a:off x="2455330" y="4230683"/>
                <a:ext cx="91440" cy="221559"/>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18" name="Freeform: Shape 17">
                <a:extLst>
                  <a:ext uri="{FF2B5EF4-FFF2-40B4-BE49-F238E27FC236}">
                    <a16:creationId xmlns:a16="http://schemas.microsoft.com/office/drawing/2014/main" id="{2B398BB3-5AF0-CFA0-F0BB-A74AF743152A}"/>
                  </a:ext>
                </a:extLst>
              </p:cNvPr>
              <p:cNvSpPr/>
              <p:nvPr/>
            </p:nvSpPr>
            <p:spPr>
              <a:xfrm>
                <a:off x="2085624" y="4499797"/>
                <a:ext cx="830848" cy="553898"/>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700" kern="1200">
                    <a:latin typeface="EY interstate"/>
                  </a:rPr>
                  <a:t>Derecognize the asset, Transfer at NBV if under common control, No gain/loss recognized under common control</a:t>
                </a:r>
                <a:endParaRPr lang="en-IN" sz="700" kern="1200">
                  <a:latin typeface="EY interstate"/>
                </a:endParaRPr>
              </a:p>
            </p:txBody>
          </p:sp>
          <p:sp>
            <p:nvSpPr>
              <p:cNvPr id="20" name="Freeform: Shape 19">
                <a:extLst>
                  <a:ext uri="{FF2B5EF4-FFF2-40B4-BE49-F238E27FC236}">
                    <a16:creationId xmlns:a16="http://schemas.microsoft.com/office/drawing/2014/main" id="{1A8E4F8D-1CA1-F8DA-0682-62D622707F48}"/>
                  </a:ext>
                </a:extLst>
              </p:cNvPr>
              <p:cNvSpPr/>
              <p:nvPr/>
            </p:nvSpPr>
            <p:spPr>
              <a:xfrm>
                <a:off x="2455330" y="5098296"/>
                <a:ext cx="91440" cy="221559"/>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21" name="Freeform: Shape 20">
                <a:extLst>
                  <a:ext uri="{FF2B5EF4-FFF2-40B4-BE49-F238E27FC236}">
                    <a16:creationId xmlns:a16="http://schemas.microsoft.com/office/drawing/2014/main" id="{24512946-0861-7F6B-236D-588E78684625}"/>
                  </a:ext>
                </a:extLst>
              </p:cNvPr>
              <p:cNvSpPr/>
              <p:nvPr/>
            </p:nvSpPr>
            <p:spPr>
              <a:xfrm>
                <a:off x="3265407" y="3400299"/>
                <a:ext cx="540051" cy="149097"/>
              </a:xfrm>
              <a:custGeom>
                <a:avLst/>
                <a:gdLst/>
                <a:ahLst/>
                <a:cxnLst/>
                <a:rect l="0" t="0" r="0" b="0"/>
                <a:pathLst>
                  <a:path>
                    <a:moveTo>
                      <a:pt x="0" y="0"/>
                    </a:moveTo>
                    <a:lnTo>
                      <a:pt x="0" y="110779"/>
                    </a:lnTo>
                    <a:lnTo>
                      <a:pt x="540051" y="110779"/>
                    </a:lnTo>
                    <a:lnTo>
                      <a:pt x="540051"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22" name="Freeform: Shape 21">
                <a:extLst>
                  <a:ext uri="{FF2B5EF4-FFF2-40B4-BE49-F238E27FC236}">
                    <a16:creationId xmlns:a16="http://schemas.microsoft.com/office/drawing/2014/main" id="{1EE7B364-DA1B-CA7A-C9E5-C52B7A93F1AA}"/>
                  </a:ext>
                </a:extLst>
              </p:cNvPr>
              <p:cNvSpPr/>
              <p:nvPr/>
            </p:nvSpPr>
            <p:spPr>
              <a:xfrm>
                <a:off x="3165729" y="3680355"/>
                <a:ext cx="830848" cy="553898"/>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800" kern="1200">
                    <a:latin typeface="EY interstate"/>
                  </a:rPr>
                  <a:t>IFRS 16 – Leased Assets</a:t>
                </a:r>
                <a:endParaRPr lang="en-IN" sz="800" kern="1200">
                  <a:latin typeface="EY interstate"/>
                </a:endParaRPr>
              </a:p>
            </p:txBody>
          </p:sp>
          <p:sp>
            <p:nvSpPr>
              <p:cNvPr id="23" name="Freeform: Shape 22">
                <a:extLst>
                  <a:ext uri="{FF2B5EF4-FFF2-40B4-BE49-F238E27FC236}">
                    <a16:creationId xmlns:a16="http://schemas.microsoft.com/office/drawing/2014/main" id="{688ADB3D-A022-46B4-871F-807426DDF5E4}"/>
                  </a:ext>
                </a:extLst>
              </p:cNvPr>
              <p:cNvSpPr/>
              <p:nvPr/>
            </p:nvSpPr>
            <p:spPr>
              <a:xfrm>
                <a:off x="3558638" y="4239069"/>
                <a:ext cx="91440" cy="221559"/>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24" name="Freeform: Shape 23">
                <a:extLst>
                  <a:ext uri="{FF2B5EF4-FFF2-40B4-BE49-F238E27FC236}">
                    <a16:creationId xmlns:a16="http://schemas.microsoft.com/office/drawing/2014/main" id="{BCC186F6-863C-AE26-25BA-FFFEED5B833C}"/>
                  </a:ext>
                </a:extLst>
              </p:cNvPr>
              <p:cNvSpPr/>
              <p:nvPr/>
            </p:nvSpPr>
            <p:spPr>
              <a:xfrm>
                <a:off x="3165729" y="4504489"/>
                <a:ext cx="830848" cy="553898"/>
              </a:xfrm>
              <a:custGeom>
                <a:avLst/>
                <a:gdLst>
                  <a:gd name="connsiteX0" fmla="*/ 0 w 830848"/>
                  <a:gd name="connsiteY0" fmla="*/ 55390 h 553899"/>
                  <a:gd name="connsiteX1" fmla="*/ 55390 w 830848"/>
                  <a:gd name="connsiteY1" fmla="*/ 0 h 553899"/>
                  <a:gd name="connsiteX2" fmla="*/ 775458 w 830848"/>
                  <a:gd name="connsiteY2" fmla="*/ 0 h 553899"/>
                  <a:gd name="connsiteX3" fmla="*/ 830848 w 830848"/>
                  <a:gd name="connsiteY3" fmla="*/ 55390 h 553899"/>
                  <a:gd name="connsiteX4" fmla="*/ 830848 w 830848"/>
                  <a:gd name="connsiteY4" fmla="*/ 498509 h 553899"/>
                  <a:gd name="connsiteX5" fmla="*/ 775458 w 830848"/>
                  <a:gd name="connsiteY5" fmla="*/ 553899 h 553899"/>
                  <a:gd name="connsiteX6" fmla="*/ 55390 w 830848"/>
                  <a:gd name="connsiteY6" fmla="*/ 553899 h 553899"/>
                  <a:gd name="connsiteX7" fmla="*/ 0 w 830848"/>
                  <a:gd name="connsiteY7" fmla="*/ 498509 h 553899"/>
                  <a:gd name="connsiteX8" fmla="*/ 0 w 830848"/>
                  <a:gd name="connsiteY8" fmla="*/ 55390 h 55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848" h="553899">
                    <a:moveTo>
                      <a:pt x="0" y="55390"/>
                    </a:moveTo>
                    <a:cubicBezTo>
                      <a:pt x="0" y="24799"/>
                      <a:pt x="24799" y="0"/>
                      <a:pt x="55390" y="0"/>
                    </a:cubicBezTo>
                    <a:lnTo>
                      <a:pt x="775458" y="0"/>
                    </a:lnTo>
                    <a:cubicBezTo>
                      <a:pt x="806049" y="0"/>
                      <a:pt x="830848" y="24799"/>
                      <a:pt x="830848" y="55390"/>
                    </a:cubicBezTo>
                    <a:lnTo>
                      <a:pt x="830848" y="498509"/>
                    </a:lnTo>
                    <a:cubicBezTo>
                      <a:pt x="830848" y="529100"/>
                      <a:pt x="806049" y="553899"/>
                      <a:pt x="775458" y="553899"/>
                    </a:cubicBezTo>
                    <a:lnTo>
                      <a:pt x="55390" y="553899"/>
                    </a:lnTo>
                    <a:cubicBezTo>
                      <a:pt x="24799" y="553899"/>
                      <a:pt x="0" y="529100"/>
                      <a:pt x="0" y="498509"/>
                    </a:cubicBezTo>
                    <a:lnTo>
                      <a:pt x="0" y="55390"/>
                    </a:lnTo>
                    <a:close/>
                  </a:path>
                </a:pathLst>
              </a:custGeom>
              <a:noFill/>
              <a:ln>
                <a:solidFill>
                  <a:srgbClr val="FFFF00"/>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5273" tIns="35273" rIns="35273" bIns="35273" numCol="1" spcCol="1270" anchor="ctr" anchorCtr="0">
                <a:noAutofit/>
              </a:bodyPr>
              <a:lstStyle/>
              <a:p>
                <a:pPr marL="0" lvl="0" indent="0" algn="ctr" defTabSz="222250">
                  <a:lnSpc>
                    <a:spcPct val="90000"/>
                  </a:lnSpc>
                  <a:spcBef>
                    <a:spcPct val="0"/>
                  </a:spcBef>
                  <a:spcAft>
                    <a:spcPct val="35000"/>
                  </a:spcAft>
                  <a:buNone/>
                </a:pPr>
                <a:r>
                  <a:rPr lang="en-US" sz="700" kern="1200">
                    <a:latin typeface="EY interstate"/>
                  </a:rPr>
                  <a:t>Transfer lease liability and ROU asset, Transfer at NBV (reassess ROU if needed), No gain/loss recognized under common control</a:t>
                </a:r>
                <a:endParaRPr lang="en-IN" sz="700" kern="1200">
                  <a:latin typeface="EY interstate"/>
                </a:endParaRPr>
              </a:p>
            </p:txBody>
          </p:sp>
          <p:sp>
            <p:nvSpPr>
              <p:cNvPr id="29" name="Freeform: Shape 28">
                <a:extLst>
                  <a:ext uri="{FF2B5EF4-FFF2-40B4-BE49-F238E27FC236}">
                    <a16:creationId xmlns:a16="http://schemas.microsoft.com/office/drawing/2014/main" id="{D597C6F0-5F47-EC09-2B0B-B1D99D9230A1}"/>
                  </a:ext>
                </a:extLst>
              </p:cNvPr>
              <p:cNvSpPr/>
              <p:nvPr/>
            </p:nvSpPr>
            <p:spPr>
              <a:xfrm>
                <a:off x="3563416" y="5090697"/>
                <a:ext cx="91440" cy="221559"/>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grpSp>
        <p:sp>
          <p:nvSpPr>
            <p:cNvPr id="25" name="Rectangle: Rounded Corners 24">
              <a:extLst>
                <a:ext uri="{FF2B5EF4-FFF2-40B4-BE49-F238E27FC236}">
                  <a16:creationId xmlns:a16="http://schemas.microsoft.com/office/drawing/2014/main" id="{BD4DADA7-A7FC-5112-4259-5A2E4549F171}"/>
                </a:ext>
              </a:extLst>
            </p:cNvPr>
            <p:cNvSpPr/>
            <p:nvPr/>
          </p:nvSpPr>
          <p:spPr>
            <a:xfrm>
              <a:off x="2770632" y="5425056"/>
              <a:ext cx="1746504" cy="546148"/>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6" name="TextBox 25">
              <a:extLst>
                <a:ext uri="{FF2B5EF4-FFF2-40B4-BE49-F238E27FC236}">
                  <a16:creationId xmlns:a16="http://schemas.microsoft.com/office/drawing/2014/main" id="{4F0F1327-47B6-DD85-8CB8-2CB1841AA938}"/>
                </a:ext>
              </a:extLst>
            </p:cNvPr>
            <p:cNvSpPr txBox="1"/>
            <p:nvPr/>
          </p:nvSpPr>
          <p:spPr>
            <a:xfrm>
              <a:off x="2975889" y="5531665"/>
              <a:ext cx="1541247" cy="269566"/>
            </a:xfrm>
            <a:prstGeom prst="rect">
              <a:avLst/>
            </a:prstGeom>
            <a:noFill/>
          </p:spPr>
          <p:txBody>
            <a:bodyPr wrap="square" rtlCol="0">
              <a:spAutoFit/>
            </a:bodyPr>
            <a:lstStyle/>
            <a:p>
              <a:r>
                <a:rPr lang="en-US" sz="800">
                  <a:solidFill>
                    <a:schemeClr val="bg1"/>
                  </a:solidFill>
                  <a:latin typeface="EY interstate"/>
                </a:rPr>
                <a:t>Intercompany Elimination (Consolidation Level)</a:t>
              </a:r>
              <a:endParaRPr lang="en-IN" sz="800">
                <a:solidFill>
                  <a:schemeClr val="bg1"/>
                </a:solidFill>
                <a:latin typeface="EY interstate"/>
              </a:endParaRPr>
            </a:p>
          </p:txBody>
        </p:sp>
        <p:sp>
          <p:nvSpPr>
            <p:cNvPr id="27" name="Rectangle: Rounded Corners 26">
              <a:extLst>
                <a:ext uri="{FF2B5EF4-FFF2-40B4-BE49-F238E27FC236}">
                  <a16:creationId xmlns:a16="http://schemas.microsoft.com/office/drawing/2014/main" id="{D0036479-B693-879A-DD20-07E3CEE534AA}"/>
                </a:ext>
              </a:extLst>
            </p:cNvPr>
            <p:cNvSpPr/>
            <p:nvPr/>
          </p:nvSpPr>
          <p:spPr>
            <a:xfrm>
              <a:off x="2786067" y="6347279"/>
              <a:ext cx="1746504" cy="546148"/>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30" name="Freeform: Shape 29">
            <a:extLst>
              <a:ext uri="{FF2B5EF4-FFF2-40B4-BE49-F238E27FC236}">
                <a16:creationId xmlns:a16="http://schemas.microsoft.com/office/drawing/2014/main" id="{C8026CE3-921B-CAA0-86CD-C9E05DE99A7A}"/>
              </a:ext>
            </a:extLst>
          </p:cNvPr>
          <p:cNvSpPr/>
          <p:nvPr/>
        </p:nvSpPr>
        <p:spPr>
          <a:xfrm>
            <a:off x="2251884" y="6012452"/>
            <a:ext cx="91440" cy="196138"/>
          </a:xfrm>
          <a:custGeom>
            <a:avLst/>
            <a:gdLst/>
            <a:ahLst/>
            <a:cxnLst/>
            <a:rect l="0" t="0" r="0" b="0"/>
            <a:pathLst>
              <a:path>
                <a:moveTo>
                  <a:pt x="45720" y="0"/>
                </a:moveTo>
                <a:lnTo>
                  <a:pt x="45720" y="221559"/>
                </a:lnTo>
              </a:path>
            </a:pathLst>
          </a:custGeom>
          <a:ln w="19050" cap="flat" cmpd="sng" algn="ctr">
            <a:solidFill>
              <a:srgbClr val="FFFF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txBody>
          <a:bodyPr/>
          <a:lstStyle/>
          <a:p>
            <a:endParaRPr lang="en-IN"/>
          </a:p>
        </p:txBody>
      </p:sp>
      <p:sp>
        <p:nvSpPr>
          <p:cNvPr id="31" name="TextBox 30">
            <a:extLst>
              <a:ext uri="{FF2B5EF4-FFF2-40B4-BE49-F238E27FC236}">
                <a16:creationId xmlns:a16="http://schemas.microsoft.com/office/drawing/2014/main" id="{2C4A26F9-0785-26E7-930E-14ABF3992295}"/>
              </a:ext>
            </a:extLst>
          </p:cNvPr>
          <p:cNvSpPr txBox="1"/>
          <p:nvPr/>
        </p:nvSpPr>
        <p:spPr>
          <a:xfrm>
            <a:off x="843799" y="6334549"/>
            <a:ext cx="2959928" cy="215444"/>
          </a:xfrm>
          <a:prstGeom prst="rect">
            <a:avLst/>
          </a:prstGeom>
          <a:noFill/>
        </p:spPr>
        <p:txBody>
          <a:bodyPr wrap="square" rtlCol="0">
            <a:spAutoFit/>
          </a:bodyPr>
          <a:lstStyle/>
          <a:p>
            <a:r>
              <a:rPr lang="en-US" sz="800">
                <a:solidFill>
                  <a:schemeClr val="bg1"/>
                </a:solidFill>
                <a:latin typeface="EY interstate"/>
              </a:rPr>
              <a:t>Eliminate Intercompany balances &amp; Ensure uniform policies</a:t>
            </a:r>
            <a:endParaRPr lang="en-IN" sz="800">
              <a:solidFill>
                <a:schemeClr val="bg1"/>
              </a:solidFill>
              <a:latin typeface="EY interstate"/>
            </a:endParaRPr>
          </a:p>
        </p:txBody>
      </p:sp>
      <p:sp>
        <p:nvSpPr>
          <p:cNvPr id="39" name="TextBox 38">
            <a:extLst>
              <a:ext uri="{FF2B5EF4-FFF2-40B4-BE49-F238E27FC236}">
                <a16:creationId xmlns:a16="http://schemas.microsoft.com/office/drawing/2014/main" id="{67F2867A-40E1-AA65-45A9-C355C602A70B}"/>
              </a:ext>
            </a:extLst>
          </p:cNvPr>
          <p:cNvSpPr txBox="1"/>
          <p:nvPr/>
        </p:nvSpPr>
        <p:spPr>
          <a:xfrm>
            <a:off x="6519713" y="5216787"/>
            <a:ext cx="2430409" cy="307777"/>
          </a:xfrm>
          <a:prstGeom prst="rect">
            <a:avLst/>
          </a:prstGeom>
          <a:noFill/>
        </p:spPr>
        <p:txBody>
          <a:bodyPr wrap="none" rtlCol="0">
            <a:spAutoFit/>
          </a:bodyPr>
          <a:lstStyle/>
          <a:p>
            <a:r>
              <a:rPr lang="en-IN" sz="1400">
                <a:solidFill>
                  <a:srgbClr val="FFFF00"/>
                </a:solidFill>
                <a:latin typeface="EY interstate"/>
              </a:rPr>
              <a:t>Key Accounting Considerations</a:t>
            </a:r>
          </a:p>
        </p:txBody>
      </p:sp>
      <p:sp>
        <p:nvSpPr>
          <p:cNvPr id="4" name="Rectangle: Rounded Corners 3">
            <a:extLst>
              <a:ext uri="{FF2B5EF4-FFF2-40B4-BE49-F238E27FC236}">
                <a16:creationId xmlns:a16="http://schemas.microsoft.com/office/drawing/2014/main" id="{6B4A4CEC-3AF9-185A-EBB2-187A7C6B7DC1}"/>
              </a:ext>
            </a:extLst>
          </p:cNvPr>
          <p:cNvSpPr/>
          <p:nvPr/>
        </p:nvSpPr>
        <p:spPr>
          <a:xfrm>
            <a:off x="524933" y="1678601"/>
            <a:ext cx="3608087" cy="5111666"/>
          </a:xfrm>
          <a:prstGeom prst="round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73068901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5ACDA1-1990-1D09-D29C-B777CDAD24EF}"/>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60338B0D-0371-47AF-3B2D-966B345C55CE}"/>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377F87B2-4918-2257-7A6A-C67BD9E068F1}"/>
              </a:ext>
            </a:extLst>
          </p:cNvPr>
          <p:cNvSpPr txBox="1"/>
          <p:nvPr/>
        </p:nvSpPr>
        <p:spPr>
          <a:xfrm>
            <a:off x="929639" y="2181301"/>
            <a:ext cx="4503620" cy="1446550"/>
          </a:xfrm>
          <a:prstGeom prst="rect">
            <a:avLst/>
          </a:prstGeom>
          <a:noFill/>
        </p:spPr>
        <p:txBody>
          <a:bodyPr wrap="square" rtlCol="0">
            <a:spAutoFit/>
          </a:bodyPr>
          <a:lstStyle/>
          <a:p>
            <a:r>
              <a:rPr lang="en-IN" sz="4400">
                <a:solidFill>
                  <a:srgbClr val="FFE600"/>
                </a:solidFill>
                <a:latin typeface="EYInterstate" panose="02000503020000020004" pitchFamily="2" charset="0"/>
              </a:rPr>
              <a:t>Intercompany Accounting</a:t>
            </a:r>
          </a:p>
        </p:txBody>
      </p:sp>
    </p:spTree>
    <p:extLst>
      <p:ext uri="{BB962C8B-B14F-4D97-AF65-F5344CB8AC3E}">
        <p14:creationId xmlns:p14="http://schemas.microsoft.com/office/powerpoint/2010/main" val="28608848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FF0888-15EE-23E0-1B13-0443E604291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79C9811-2EAE-4637-A9F2-2C09E38B88E0}"/>
              </a:ext>
            </a:extLst>
          </p:cNvPr>
          <p:cNvSpPr txBox="1">
            <a:spLocks noGrp="1"/>
          </p:cNvSpPr>
          <p:nvPr>
            <p:ph type="title"/>
          </p:nvPr>
        </p:nvSpPr>
        <p:spPr>
          <a:xfrm>
            <a:off x="575933" y="465483"/>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Intercompany matching logic</a:t>
            </a:r>
          </a:p>
        </p:txBody>
      </p:sp>
      <p:sp>
        <p:nvSpPr>
          <p:cNvPr id="6" name="Right Arrow 38">
            <a:extLst>
              <a:ext uri="{FF2B5EF4-FFF2-40B4-BE49-F238E27FC236}">
                <a16:creationId xmlns:a16="http://schemas.microsoft.com/office/drawing/2014/main" id="{06129146-4751-7766-1FE8-3A4D7D78E922}"/>
              </a:ext>
            </a:extLst>
          </p:cNvPr>
          <p:cNvSpPr/>
          <p:nvPr/>
        </p:nvSpPr>
        <p:spPr>
          <a:xfrm>
            <a:off x="137160" y="2541281"/>
            <a:ext cx="11959334" cy="1283743"/>
          </a:xfrm>
          <a:prstGeom prst="rightArrow">
            <a:avLst/>
          </a:prstGeom>
          <a:solidFill>
            <a:schemeClr val="bg1">
              <a:lumMod val="65000"/>
            </a:schemeClr>
          </a:solidFill>
          <a:ln w="9525" cap="flat" cmpd="sng" algn="ctr">
            <a:noFill/>
            <a:prstDash val="solid"/>
          </a:ln>
          <a:effectLst/>
        </p:spPr>
        <p:txBody>
          <a:bodyPr lIns="71963" tIns="71963" rIns="71963" bIns="71963" rtlCol="0" anchor="ctr"/>
          <a:lstStyle/>
          <a:p>
            <a:pPr algn="ctr" defTabSz="1042534">
              <a:defRPr/>
            </a:pPr>
            <a:endParaRPr lang="en-GB" sz="999" b="1" kern="0">
              <a:solidFill>
                <a:srgbClr val="FFFFFF"/>
              </a:solidFill>
              <a:latin typeface="EYInterstate Light" panose="02000506000000020004" pitchFamily="2" charset="0"/>
            </a:endParaRPr>
          </a:p>
        </p:txBody>
      </p:sp>
      <p:sp>
        <p:nvSpPr>
          <p:cNvPr id="9" name="Bevel 41">
            <a:extLst>
              <a:ext uri="{FF2B5EF4-FFF2-40B4-BE49-F238E27FC236}">
                <a16:creationId xmlns:a16="http://schemas.microsoft.com/office/drawing/2014/main" id="{972B00D7-874E-14AA-7AEF-41A3B94F8E9B}"/>
              </a:ext>
            </a:extLst>
          </p:cNvPr>
          <p:cNvSpPr/>
          <p:nvPr/>
        </p:nvSpPr>
        <p:spPr>
          <a:xfrm>
            <a:off x="887356" y="1060605"/>
            <a:ext cx="2880000" cy="4170514"/>
          </a:xfrm>
          <a:prstGeom prst="rect">
            <a:avLst/>
          </a:prstGeom>
          <a:solidFill>
            <a:schemeClr val="bg1">
              <a:lumMod val="75000"/>
            </a:schemeClr>
          </a:solidFill>
          <a:ln w="25400" cap="flat" cmpd="sng" algn="ctr">
            <a:solidFill>
              <a:srgbClr val="FFE600"/>
            </a:solidFill>
            <a:prstDash val="solid"/>
          </a:ln>
          <a:effectLst>
            <a:outerShdw blurRad="44450" dist="27940" dir="5400000" algn="ctr">
              <a:srgbClr val="000000">
                <a:alpha val="32000"/>
              </a:srgbClr>
            </a:outerShdw>
          </a:effectLst>
        </p:spPr>
        <p:txBody>
          <a:bodyPr rot="0" spcFirstLastPara="0" vertOverflow="overflow" horzOverflow="overflow" vert="horz" wrap="square" lIns="79342" tIns="79342" rIns="79342" bIns="79342" numCol="1" spcCol="0" rtlCol="0" fromWordArt="0" anchor="ctr" anchorCtr="0" forceAA="0" compatLnSpc="1">
            <a:prstTxWarp prst="textNoShape">
              <a:avLst/>
            </a:prstTxWarp>
            <a:noAutofit/>
          </a:bodyPr>
          <a:lstStyle/>
          <a:p>
            <a:pPr algn="ctr" defTabSz="1042534">
              <a:defRPr/>
            </a:pPr>
            <a:r>
              <a:rPr lang="en-GB" sz="1399" b="1" kern="0">
                <a:solidFill>
                  <a:srgbClr val="000000"/>
                </a:solidFill>
                <a:latin typeface="EYInterstate Light"/>
              </a:rPr>
              <a:t>Attribute based matching</a:t>
            </a:r>
          </a:p>
          <a:p>
            <a:pPr algn="ctr" defTabSz="1042534">
              <a:defRPr/>
            </a:pPr>
            <a:endParaRPr lang="en-GB" sz="1199" b="1" kern="0">
              <a:solidFill>
                <a:srgbClr val="000000"/>
              </a:solidFill>
              <a:latin typeface="EYInterstate Light"/>
            </a:endParaRPr>
          </a:p>
          <a:p>
            <a:pPr algn="ctr" defTabSz="1042534">
              <a:defRPr/>
            </a:pPr>
            <a:r>
              <a:rPr lang="en-IN" sz="1199">
                <a:solidFill>
                  <a:srgbClr val="000000"/>
                </a:solidFill>
                <a:latin typeface="EYInterstate Light"/>
              </a:rPr>
              <a:t>This is the most fundamental logic, where transactions are matched based on key fields:</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Company Code / Entity</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Counterparty Code</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Document Number / Reference Number</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Transaction Amount (with tolerance)</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Currency</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Transaction Date / Posting Date</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GL Account / Intercompany Account</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Invoice Number / PO Number</a:t>
            </a:r>
            <a:endParaRPr lang="en-GB" sz="1200" b="1" kern="0">
              <a:solidFill>
                <a:srgbClr val="000000"/>
              </a:solidFill>
              <a:latin typeface="EYInterstate Light"/>
            </a:endParaRPr>
          </a:p>
        </p:txBody>
      </p:sp>
      <p:sp>
        <p:nvSpPr>
          <p:cNvPr id="10" name="Bevel 42">
            <a:extLst>
              <a:ext uri="{FF2B5EF4-FFF2-40B4-BE49-F238E27FC236}">
                <a16:creationId xmlns:a16="http://schemas.microsoft.com/office/drawing/2014/main" id="{A30BBDDE-0738-19A5-91E9-E1D5337FC422}"/>
              </a:ext>
            </a:extLst>
          </p:cNvPr>
          <p:cNvSpPr/>
          <p:nvPr/>
        </p:nvSpPr>
        <p:spPr>
          <a:xfrm>
            <a:off x="4467609" y="1084557"/>
            <a:ext cx="2880000" cy="4146562"/>
          </a:xfrm>
          <a:prstGeom prst="rect">
            <a:avLst/>
          </a:prstGeom>
          <a:solidFill>
            <a:schemeClr val="bg1">
              <a:lumMod val="75000"/>
            </a:schemeClr>
          </a:solidFill>
          <a:ln w="25400" cap="flat" cmpd="sng" algn="ctr">
            <a:solidFill>
              <a:srgbClr val="FFE600"/>
            </a:solidFill>
            <a:prstDash val="solid"/>
          </a:ln>
          <a:effectLst>
            <a:outerShdw blurRad="44450" dist="27940" dir="5400000" algn="ctr">
              <a:srgbClr val="000000">
                <a:alpha val="32000"/>
              </a:srgbClr>
            </a:outerShdw>
          </a:effectLst>
        </p:spPr>
        <p:txBody>
          <a:bodyPr rot="0" spcFirstLastPara="0" vertOverflow="overflow" horzOverflow="overflow" vert="horz" wrap="square" lIns="79342" tIns="79342" rIns="79342" bIns="79342" numCol="1" spcCol="0" rtlCol="0" fromWordArt="0" anchor="ctr" anchorCtr="0" forceAA="0" compatLnSpc="1">
            <a:prstTxWarp prst="textNoShape">
              <a:avLst/>
            </a:prstTxWarp>
            <a:noAutofit/>
          </a:bodyPr>
          <a:lstStyle/>
          <a:p>
            <a:pPr algn="ctr" defTabSz="1042534"/>
            <a:r>
              <a:rPr lang="en-GB" sz="1399" b="1" kern="0">
                <a:solidFill>
                  <a:srgbClr val="000000"/>
                </a:solidFill>
                <a:latin typeface="EYInterstate Light"/>
              </a:rPr>
              <a:t>Rule- based matching</a:t>
            </a:r>
          </a:p>
          <a:p>
            <a:pPr algn="ctr" defTabSz="1042534"/>
            <a:endParaRPr lang="en-GB" sz="1399" b="1" kern="0">
              <a:solidFill>
                <a:srgbClr val="000000"/>
              </a:solidFill>
              <a:latin typeface="EYInterstate Light"/>
            </a:endParaRPr>
          </a:p>
          <a:p>
            <a:pPr algn="ctr" defTabSz="1042534">
              <a:defRPr/>
            </a:pPr>
            <a:r>
              <a:rPr lang="en-IN" sz="1199">
                <a:solidFill>
                  <a:srgbClr val="000000"/>
                </a:solidFill>
                <a:latin typeface="EYInterstate Light"/>
              </a:rPr>
              <a:t>Tools allow users to define custom rules to handle exceptions and variations:</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One-to-One Matching</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One-to-Many Matching</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Many-to-Many Matching</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Tolerance Rules</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Date Range Rules</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Currency Conversion Rules</a:t>
            </a:r>
          </a:p>
        </p:txBody>
      </p:sp>
      <p:sp>
        <p:nvSpPr>
          <p:cNvPr id="11" name="Bevel 43">
            <a:extLst>
              <a:ext uri="{FF2B5EF4-FFF2-40B4-BE49-F238E27FC236}">
                <a16:creationId xmlns:a16="http://schemas.microsoft.com/office/drawing/2014/main" id="{EFFBEE2A-3AAD-E220-CC1A-6203E9DF9209}"/>
              </a:ext>
            </a:extLst>
          </p:cNvPr>
          <p:cNvSpPr/>
          <p:nvPr/>
        </p:nvSpPr>
        <p:spPr>
          <a:xfrm>
            <a:off x="8047862" y="1085461"/>
            <a:ext cx="2880000" cy="4145658"/>
          </a:xfrm>
          <a:prstGeom prst="rect">
            <a:avLst/>
          </a:prstGeom>
          <a:solidFill>
            <a:schemeClr val="bg1">
              <a:lumMod val="75000"/>
            </a:schemeClr>
          </a:solidFill>
          <a:ln w="25400" cap="flat" cmpd="sng" algn="ctr">
            <a:solidFill>
              <a:srgbClr val="FFE600"/>
            </a:solidFill>
            <a:prstDash val="solid"/>
          </a:ln>
          <a:effectLst>
            <a:outerShdw blurRad="44450" dist="27940" dir="5400000" algn="ctr">
              <a:srgbClr val="000000">
                <a:alpha val="32000"/>
              </a:srgbClr>
            </a:outerShdw>
          </a:effectLst>
        </p:spPr>
        <p:txBody>
          <a:bodyPr rot="0" spcFirstLastPara="0" vertOverflow="overflow" horzOverflow="overflow" vert="horz" wrap="square" lIns="79342" tIns="79342" rIns="79342" bIns="79342" numCol="1" spcCol="0" rtlCol="0" fromWordArt="0" anchor="t" anchorCtr="0" forceAA="0" compatLnSpc="1">
            <a:prstTxWarp prst="textNoShape">
              <a:avLst/>
            </a:prstTxWarp>
            <a:noAutofit/>
          </a:bodyPr>
          <a:lstStyle/>
          <a:p>
            <a:pPr algn="ctr" defTabSz="1042534"/>
            <a:r>
              <a:rPr lang="en-GB" sz="1399" b="1" kern="0">
                <a:solidFill>
                  <a:srgbClr val="000000"/>
                </a:solidFill>
                <a:latin typeface="EYInterstate Light"/>
              </a:rPr>
              <a:t>Automated Matching Engine</a:t>
            </a:r>
          </a:p>
          <a:p>
            <a:pPr algn="ctr" defTabSz="1042534"/>
            <a:endParaRPr lang="en-GB" sz="1399" b="1" kern="0">
              <a:solidFill>
                <a:srgbClr val="000000"/>
              </a:solidFill>
              <a:latin typeface="EYInterstate Light"/>
            </a:endParaRPr>
          </a:p>
          <a:p>
            <a:pPr algn="ctr" defTabSz="1042534">
              <a:defRPr/>
            </a:pPr>
            <a:r>
              <a:rPr lang="en-IN" sz="1199">
                <a:solidFill>
                  <a:srgbClr val="000000"/>
                </a:solidFill>
                <a:latin typeface="EYInterstate Light"/>
              </a:rPr>
              <a:t>Tools like Black Line use automated matching engines that apply:</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Exact match logic</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Fuzzy match logic</a:t>
            </a:r>
          </a:p>
          <a:p>
            <a:pPr marL="171450" indent="-171450" algn="ctr" defTabSz="1042534">
              <a:lnSpc>
                <a:spcPct val="150000"/>
              </a:lnSpc>
              <a:buFont typeface="Wingdings" panose="05000000000000000000" pitchFamily="2" charset="2"/>
              <a:buChar char="§"/>
              <a:defRPr/>
            </a:pPr>
            <a:r>
              <a:rPr lang="en-IN" sz="1200" b="1" kern="0">
                <a:solidFill>
                  <a:srgbClr val="000000"/>
                </a:solidFill>
                <a:latin typeface="EYInterstate Light"/>
              </a:rPr>
              <a:t>Weighted matching</a:t>
            </a:r>
          </a:p>
          <a:p>
            <a:pPr algn="ctr" defTabSz="1042534">
              <a:defRPr/>
            </a:pPr>
            <a:endParaRPr lang="en-GB" sz="1199">
              <a:solidFill>
                <a:srgbClr val="000000"/>
              </a:solidFill>
              <a:latin typeface="EYInterstate Light"/>
            </a:endParaRPr>
          </a:p>
        </p:txBody>
      </p:sp>
      <p:sp>
        <p:nvSpPr>
          <p:cNvPr id="17" name="Action Button: Custom 69">
            <a:hlinkClick r:id="" action="ppaction://hlinkshowjump?jump=previousslide" highlightClick="1"/>
            <a:extLst>
              <a:ext uri="{FF2B5EF4-FFF2-40B4-BE49-F238E27FC236}">
                <a16:creationId xmlns:a16="http://schemas.microsoft.com/office/drawing/2014/main" id="{FF2F5CBF-B7D9-E937-2820-1D51CCB0E5B3}"/>
              </a:ext>
            </a:extLst>
          </p:cNvPr>
          <p:cNvSpPr/>
          <p:nvPr/>
        </p:nvSpPr>
        <p:spPr>
          <a:xfrm>
            <a:off x="251911" y="3918949"/>
            <a:ext cx="333166" cy="432399"/>
          </a:xfrm>
          <a:prstGeom prst="actionButtonBlank">
            <a:avLst/>
          </a:prstGeom>
          <a:noFill/>
          <a:ln w="9525" cap="flat" cmpd="sng" algn="ctr">
            <a:noFill/>
            <a:prstDash val="solid"/>
          </a:ln>
          <a:effectLst/>
        </p:spPr>
        <p:txBody>
          <a:bodyPr lIns="71963" tIns="71963" rIns="71963" bIns="71963" rtlCol="0" anchor="ctr"/>
          <a:lstStyle/>
          <a:p>
            <a:pPr algn="ctr" defTabSz="1042534">
              <a:defRPr/>
            </a:pPr>
            <a:endParaRPr lang="en-GB" sz="999" b="1" kern="0">
              <a:solidFill>
                <a:srgbClr val="FFFFFF"/>
              </a:solidFill>
              <a:latin typeface="EYInterstate Light" panose="02000506000000020004" pitchFamily="2" charset="0"/>
            </a:endParaRPr>
          </a:p>
        </p:txBody>
      </p:sp>
      <p:sp>
        <p:nvSpPr>
          <p:cNvPr id="34" name="Right Arrow 40">
            <a:extLst>
              <a:ext uri="{FF2B5EF4-FFF2-40B4-BE49-F238E27FC236}">
                <a16:creationId xmlns:a16="http://schemas.microsoft.com/office/drawing/2014/main" id="{957DC24A-2A49-13FA-BF95-A671275E2CED}"/>
              </a:ext>
            </a:extLst>
          </p:cNvPr>
          <p:cNvSpPr/>
          <p:nvPr/>
        </p:nvSpPr>
        <p:spPr>
          <a:xfrm>
            <a:off x="3851136" y="3034588"/>
            <a:ext cx="595234" cy="257252"/>
          </a:xfrm>
          <a:prstGeom prst="rightArrow">
            <a:avLst/>
          </a:prstGeom>
          <a:solidFill>
            <a:schemeClr val="bg1">
              <a:lumMod val="50000"/>
            </a:schemeClr>
          </a:solidFill>
          <a:ln w="9525" cap="flat" cmpd="sng" algn="ctr">
            <a:solidFill>
              <a:schemeClr val="tx2"/>
            </a:solidFill>
            <a:prstDash val="solid"/>
          </a:ln>
          <a:effectLst/>
        </p:spPr>
        <p:txBody>
          <a:bodyPr lIns="71963" tIns="71963" rIns="71963" bIns="71963" rtlCol="0" anchor="ctr"/>
          <a:lstStyle/>
          <a:p>
            <a:pPr algn="ctr" defTabSz="1042534">
              <a:defRPr/>
            </a:pPr>
            <a:endParaRPr lang="en-GB" sz="999" b="1" kern="0">
              <a:solidFill>
                <a:srgbClr val="FFFFFF"/>
              </a:solidFill>
              <a:latin typeface="EYInterstate Light" panose="02000506000000020004" pitchFamily="2" charset="0"/>
            </a:endParaRPr>
          </a:p>
        </p:txBody>
      </p:sp>
      <p:sp>
        <p:nvSpPr>
          <p:cNvPr id="35" name="Right Arrow 40">
            <a:extLst>
              <a:ext uri="{FF2B5EF4-FFF2-40B4-BE49-F238E27FC236}">
                <a16:creationId xmlns:a16="http://schemas.microsoft.com/office/drawing/2014/main" id="{E6AB21F4-D0BD-8A54-0EB7-57B429471EC7}"/>
              </a:ext>
            </a:extLst>
          </p:cNvPr>
          <p:cNvSpPr/>
          <p:nvPr/>
        </p:nvSpPr>
        <p:spPr>
          <a:xfrm>
            <a:off x="7418406" y="3054526"/>
            <a:ext cx="595234" cy="257252"/>
          </a:xfrm>
          <a:prstGeom prst="rightArrow">
            <a:avLst/>
          </a:prstGeom>
          <a:solidFill>
            <a:schemeClr val="bg1">
              <a:lumMod val="50000"/>
            </a:schemeClr>
          </a:solidFill>
          <a:ln w="9525" cap="flat" cmpd="sng" algn="ctr">
            <a:solidFill>
              <a:schemeClr val="tx2"/>
            </a:solidFill>
            <a:prstDash val="solid"/>
          </a:ln>
          <a:effectLst/>
        </p:spPr>
        <p:txBody>
          <a:bodyPr lIns="71963" tIns="71963" rIns="71963" bIns="71963" rtlCol="0" anchor="ctr"/>
          <a:lstStyle/>
          <a:p>
            <a:pPr algn="ctr" defTabSz="1042534">
              <a:defRPr/>
            </a:pPr>
            <a:endParaRPr lang="en-GB" sz="999" b="1" kern="0">
              <a:solidFill>
                <a:srgbClr val="FFFFFF"/>
              </a:solidFill>
              <a:latin typeface="EYInterstate Light" panose="02000506000000020004" pitchFamily="2" charset="0"/>
            </a:endParaRPr>
          </a:p>
        </p:txBody>
      </p:sp>
      <p:sp>
        <p:nvSpPr>
          <p:cNvPr id="36" name="Bevel 41">
            <a:extLst>
              <a:ext uri="{FF2B5EF4-FFF2-40B4-BE49-F238E27FC236}">
                <a16:creationId xmlns:a16="http://schemas.microsoft.com/office/drawing/2014/main" id="{0E2F0872-AB9F-149E-A958-564BAFA91DE4}"/>
              </a:ext>
            </a:extLst>
          </p:cNvPr>
          <p:cNvSpPr/>
          <p:nvPr/>
        </p:nvSpPr>
        <p:spPr>
          <a:xfrm>
            <a:off x="887356" y="5390159"/>
            <a:ext cx="2880000" cy="1321636"/>
          </a:xfrm>
          <a:prstGeom prst="rect">
            <a:avLst/>
          </a:prstGeom>
          <a:solidFill>
            <a:schemeClr val="bg1">
              <a:lumMod val="75000"/>
            </a:schemeClr>
          </a:solidFill>
          <a:ln w="25400" cap="flat" cmpd="sng" algn="ctr">
            <a:solidFill>
              <a:srgbClr val="FFE600"/>
            </a:solidFill>
            <a:prstDash val="solid"/>
          </a:ln>
          <a:effectLst>
            <a:outerShdw blurRad="44450" dist="27940" dir="5400000" algn="ctr">
              <a:srgbClr val="000000">
                <a:alpha val="32000"/>
              </a:srgbClr>
            </a:outerShdw>
          </a:effectLst>
        </p:spPr>
        <p:txBody>
          <a:bodyPr rot="0" spcFirstLastPara="0" vertOverflow="overflow" horzOverflow="overflow" vert="horz" wrap="square" lIns="79342" tIns="79342" rIns="79342" bIns="79342" numCol="1" spcCol="0" rtlCol="0" fromWordArt="0" anchor="ctr" anchorCtr="0" forceAA="0" compatLnSpc="1">
            <a:prstTxWarp prst="textNoShape">
              <a:avLst/>
            </a:prstTxWarp>
            <a:noAutofit/>
          </a:bodyPr>
          <a:lstStyle/>
          <a:p>
            <a:pPr algn="ctr" defTabSz="1042534">
              <a:defRPr/>
            </a:pPr>
            <a:r>
              <a:rPr lang="en-GB" sz="1399" b="1" kern="0">
                <a:solidFill>
                  <a:srgbClr val="000000"/>
                </a:solidFill>
                <a:latin typeface="EYInterstate Light"/>
              </a:rPr>
              <a:t>Example:</a:t>
            </a:r>
            <a:endParaRPr lang="en-GB" sz="1199" b="1" kern="0">
              <a:solidFill>
                <a:srgbClr val="000000"/>
              </a:solidFill>
              <a:latin typeface="EYInterstate Light"/>
            </a:endParaRPr>
          </a:p>
          <a:p>
            <a:pPr algn="ctr" defTabSz="1042534">
              <a:defRPr/>
            </a:pPr>
            <a:r>
              <a:rPr lang="en-IN" sz="1199">
                <a:solidFill>
                  <a:srgbClr val="000000"/>
                </a:solidFill>
                <a:latin typeface="EYInterstate Light"/>
              </a:rPr>
              <a:t>Match if Company A has a debit of ₹100,000 to Company B, and Company B has a credit of ₹100,000 to Company A, within ±₹500 tolerance and within 5 days of each other.</a:t>
            </a:r>
            <a:endParaRPr lang="en-GB" sz="1200" b="1" kern="0">
              <a:solidFill>
                <a:srgbClr val="000000"/>
              </a:solidFill>
              <a:latin typeface="EYInterstate Light"/>
            </a:endParaRPr>
          </a:p>
        </p:txBody>
      </p:sp>
      <p:sp>
        <p:nvSpPr>
          <p:cNvPr id="37" name="Bevel 41">
            <a:extLst>
              <a:ext uri="{FF2B5EF4-FFF2-40B4-BE49-F238E27FC236}">
                <a16:creationId xmlns:a16="http://schemas.microsoft.com/office/drawing/2014/main" id="{FC339644-4EAE-DAC0-4C54-E6F800B9EF85}"/>
              </a:ext>
            </a:extLst>
          </p:cNvPr>
          <p:cNvSpPr/>
          <p:nvPr/>
        </p:nvSpPr>
        <p:spPr>
          <a:xfrm>
            <a:off x="4467609" y="5390159"/>
            <a:ext cx="2880000" cy="1321636"/>
          </a:xfrm>
          <a:prstGeom prst="rect">
            <a:avLst/>
          </a:prstGeom>
          <a:solidFill>
            <a:schemeClr val="bg1">
              <a:lumMod val="75000"/>
            </a:schemeClr>
          </a:solidFill>
          <a:ln w="25400" cap="flat" cmpd="sng" algn="ctr">
            <a:solidFill>
              <a:srgbClr val="FFE600"/>
            </a:solidFill>
            <a:prstDash val="solid"/>
          </a:ln>
          <a:effectLst>
            <a:outerShdw blurRad="44450" dist="27940" dir="5400000" algn="ctr">
              <a:srgbClr val="000000">
                <a:alpha val="32000"/>
              </a:srgbClr>
            </a:outerShdw>
          </a:effectLst>
        </p:spPr>
        <p:txBody>
          <a:bodyPr rot="0" spcFirstLastPara="0" vertOverflow="overflow" horzOverflow="overflow" vert="horz" wrap="square" lIns="79342" tIns="79342" rIns="79342" bIns="79342" numCol="1" spcCol="0" rtlCol="0" fromWordArt="0" anchor="ctr" anchorCtr="0" forceAA="0" compatLnSpc="1">
            <a:prstTxWarp prst="textNoShape">
              <a:avLst/>
            </a:prstTxWarp>
            <a:noAutofit/>
          </a:bodyPr>
          <a:lstStyle/>
          <a:p>
            <a:pPr algn="ctr" defTabSz="1042534">
              <a:defRPr/>
            </a:pPr>
            <a:r>
              <a:rPr lang="en-GB" sz="1399" b="1" kern="0">
                <a:solidFill>
                  <a:srgbClr val="000000"/>
                </a:solidFill>
                <a:latin typeface="EYInterstate Light"/>
              </a:rPr>
              <a:t>Example:</a:t>
            </a:r>
            <a:endParaRPr lang="en-GB" sz="1199" b="1" kern="0">
              <a:solidFill>
                <a:srgbClr val="000000"/>
              </a:solidFill>
              <a:latin typeface="EYInterstate Light"/>
            </a:endParaRPr>
          </a:p>
          <a:p>
            <a:pPr algn="ctr" defTabSz="1042534">
              <a:defRPr/>
            </a:pPr>
            <a:r>
              <a:rPr lang="en-IN" sz="1199">
                <a:solidFill>
                  <a:srgbClr val="000000"/>
                </a:solidFill>
                <a:latin typeface="EYInterstate Light"/>
              </a:rPr>
              <a:t>Match if Company A has a 1 debit of ₹100,000 to Company B, and Company B has a 3 credits of ₹50,000, 30,000 and 20,000 to Company A, within ±₹500 tolerance and within 5 days of each other.</a:t>
            </a:r>
            <a:endParaRPr lang="en-GB" sz="1200" b="1" kern="0">
              <a:solidFill>
                <a:srgbClr val="000000"/>
              </a:solidFill>
              <a:latin typeface="EYInterstate Light"/>
            </a:endParaRPr>
          </a:p>
        </p:txBody>
      </p:sp>
      <p:sp>
        <p:nvSpPr>
          <p:cNvPr id="38" name="Bevel 41">
            <a:extLst>
              <a:ext uri="{FF2B5EF4-FFF2-40B4-BE49-F238E27FC236}">
                <a16:creationId xmlns:a16="http://schemas.microsoft.com/office/drawing/2014/main" id="{0B94E3A7-1EBA-4A3A-DD00-48759B3C0387}"/>
              </a:ext>
            </a:extLst>
          </p:cNvPr>
          <p:cNvSpPr/>
          <p:nvPr/>
        </p:nvSpPr>
        <p:spPr>
          <a:xfrm>
            <a:off x="8047862" y="5390159"/>
            <a:ext cx="2880000" cy="1321636"/>
          </a:xfrm>
          <a:prstGeom prst="rect">
            <a:avLst/>
          </a:prstGeom>
          <a:solidFill>
            <a:schemeClr val="bg1">
              <a:lumMod val="75000"/>
            </a:schemeClr>
          </a:solidFill>
          <a:ln w="25400" cap="flat" cmpd="sng" algn="ctr">
            <a:solidFill>
              <a:srgbClr val="FFE600"/>
            </a:solidFill>
            <a:prstDash val="solid"/>
          </a:ln>
          <a:effectLst>
            <a:outerShdw blurRad="44450" dist="27940" dir="5400000" algn="ctr">
              <a:srgbClr val="000000">
                <a:alpha val="32000"/>
              </a:srgbClr>
            </a:outerShdw>
          </a:effectLst>
        </p:spPr>
        <p:txBody>
          <a:bodyPr rot="0" spcFirstLastPara="0" vertOverflow="overflow" horzOverflow="overflow" vert="horz" wrap="square" lIns="79342" tIns="79342" rIns="79342" bIns="79342" numCol="1" spcCol="0" rtlCol="0" fromWordArt="0" anchor="ctr" anchorCtr="0" forceAA="0" compatLnSpc="1">
            <a:prstTxWarp prst="textNoShape">
              <a:avLst/>
            </a:prstTxWarp>
            <a:noAutofit/>
          </a:bodyPr>
          <a:lstStyle/>
          <a:p>
            <a:pPr algn="ctr" defTabSz="1042534">
              <a:defRPr/>
            </a:pPr>
            <a:r>
              <a:rPr lang="en-GB" sz="1399" b="1" kern="0">
                <a:solidFill>
                  <a:srgbClr val="000000"/>
                </a:solidFill>
                <a:latin typeface="EYInterstate Light"/>
              </a:rPr>
              <a:t>Example:</a:t>
            </a:r>
            <a:endParaRPr lang="en-GB" sz="1199" b="1" kern="0">
              <a:solidFill>
                <a:srgbClr val="000000"/>
              </a:solidFill>
              <a:latin typeface="EYInterstate Light"/>
            </a:endParaRPr>
          </a:p>
          <a:p>
            <a:pPr algn="ctr" defTabSz="1042534">
              <a:defRPr/>
            </a:pPr>
            <a:r>
              <a:rPr lang="en-IN" sz="1199">
                <a:solidFill>
                  <a:srgbClr val="000000"/>
                </a:solidFill>
                <a:latin typeface="EYInterstate Light"/>
              </a:rPr>
              <a:t>Uses fuzzy matching to detect similar invoice numbers. Applies weighted scoring: 70% invoice match, 20% amount match, 10% date proximity. Match score = 92% → above threshold</a:t>
            </a:r>
            <a:endParaRPr lang="en-GB" sz="1200" b="1" kern="0">
              <a:solidFill>
                <a:srgbClr val="000000"/>
              </a:solidFill>
              <a:latin typeface="EYInterstate Light"/>
            </a:endParaRPr>
          </a:p>
        </p:txBody>
      </p:sp>
    </p:spTree>
    <p:extLst>
      <p:ext uri="{BB962C8B-B14F-4D97-AF65-F5344CB8AC3E}">
        <p14:creationId xmlns:p14="http://schemas.microsoft.com/office/powerpoint/2010/main" val="269659485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B835B5-19DC-1C44-5568-46AB8F20AA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70897E2-A8F2-D0A7-00D2-70D9D49FBAD6}"/>
              </a:ext>
            </a:extLst>
          </p:cNvPr>
          <p:cNvSpPr txBox="1">
            <a:spLocks noGrp="1"/>
          </p:cNvSpPr>
          <p:nvPr>
            <p:ph type="title"/>
          </p:nvPr>
        </p:nvSpPr>
        <p:spPr>
          <a:xfrm>
            <a:off x="582169" y="431097"/>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Intercompany threshold configurations and escalation flows</a:t>
            </a:r>
          </a:p>
        </p:txBody>
      </p:sp>
      <p:graphicFrame>
        <p:nvGraphicFramePr>
          <p:cNvPr id="3" name="Table 2">
            <a:extLst>
              <a:ext uri="{FF2B5EF4-FFF2-40B4-BE49-F238E27FC236}">
                <a16:creationId xmlns:a16="http://schemas.microsoft.com/office/drawing/2014/main" id="{DBA11630-E43D-392E-076B-64827639913A}"/>
              </a:ext>
            </a:extLst>
          </p:cNvPr>
          <p:cNvGraphicFramePr>
            <a:graphicFrameLocks noGrp="1"/>
          </p:cNvGraphicFramePr>
          <p:nvPr>
            <p:extLst>
              <p:ext uri="{D42A27DB-BD31-4B8C-83A1-F6EECF244321}">
                <p14:modId xmlns:p14="http://schemas.microsoft.com/office/powerpoint/2010/main" val="675128682"/>
              </p:ext>
            </p:extLst>
          </p:nvPr>
        </p:nvGraphicFramePr>
        <p:xfrm>
          <a:off x="582169" y="1349677"/>
          <a:ext cx="4675632" cy="2942590"/>
        </p:xfrm>
        <a:graphic>
          <a:graphicData uri="http://schemas.openxmlformats.org/drawingml/2006/table">
            <a:tbl>
              <a:tblPr/>
              <a:tblGrid>
                <a:gridCol w="1558544">
                  <a:extLst>
                    <a:ext uri="{9D8B030D-6E8A-4147-A177-3AD203B41FA5}">
                      <a16:colId xmlns:a16="http://schemas.microsoft.com/office/drawing/2014/main" val="3342776036"/>
                    </a:ext>
                  </a:extLst>
                </a:gridCol>
                <a:gridCol w="1558544">
                  <a:extLst>
                    <a:ext uri="{9D8B030D-6E8A-4147-A177-3AD203B41FA5}">
                      <a16:colId xmlns:a16="http://schemas.microsoft.com/office/drawing/2014/main" val="156409417"/>
                    </a:ext>
                  </a:extLst>
                </a:gridCol>
                <a:gridCol w="1558544">
                  <a:extLst>
                    <a:ext uri="{9D8B030D-6E8A-4147-A177-3AD203B41FA5}">
                      <a16:colId xmlns:a16="http://schemas.microsoft.com/office/drawing/2014/main" val="4106488985"/>
                    </a:ext>
                  </a:extLst>
                </a:gridCol>
              </a:tblGrid>
              <a:tr h="0">
                <a:tc>
                  <a:txBody>
                    <a:bodyPr/>
                    <a:lstStyle/>
                    <a:p>
                      <a:pPr algn="l" fontAlgn="t"/>
                      <a:r>
                        <a:rPr lang="en-IN" sz="1200" b="1">
                          <a:solidFill>
                            <a:srgbClr val="FFE600"/>
                          </a:solidFill>
                          <a:effectLst/>
                          <a:latin typeface="EY interstate"/>
                        </a:rPr>
                        <a:t>Threshold Type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1">
                          <a:solidFill>
                            <a:srgbClr val="FFE600"/>
                          </a:solidFill>
                          <a:effectLst/>
                          <a:latin typeface="EY interstate"/>
                        </a:rPr>
                        <a:t>Purpose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1">
                          <a:solidFill>
                            <a:srgbClr val="FFE600"/>
                          </a:solidFill>
                          <a:effectLst/>
                          <a:latin typeface="EY interstate"/>
                        </a:rPr>
                        <a:t>Typical Configuration</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12019481"/>
                  </a:ext>
                </a:extLst>
              </a:tr>
              <a:tr h="0">
                <a:tc>
                  <a:txBody>
                    <a:bodyPr/>
                    <a:lstStyle/>
                    <a:p>
                      <a:pPr algn="l" fontAlgn="t"/>
                      <a:r>
                        <a:rPr lang="en-IN" sz="1200" b="0">
                          <a:solidFill>
                            <a:schemeClr val="bg1"/>
                          </a:solidFill>
                          <a:effectLst/>
                          <a:latin typeface="EY interstate"/>
                        </a:rPr>
                        <a:t>Amount Tolerance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Accept small differences in transaction amounts</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 ₹500 or ± 1% of transaction</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144322250"/>
                  </a:ext>
                </a:extLst>
              </a:tr>
              <a:tr h="0">
                <a:tc>
                  <a:txBody>
                    <a:bodyPr/>
                    <a:lstStyle/>
                    <a:p>
                      <a:pPr algn="l" fontAlgn="t"/>
                      <a:r>
                        <a:rPr lang="en-IN" sz="1200" b="0">
                          <a:solidFill>
                            <a:schemeClr val="bg1"/>
                          </a:solidFill>
                          <a:effectLst/>
                          <a:latin typeface="EY interstate"/>
                        </a:rPr>
                        <a:t>Date Tolerance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Allow matching within a date range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 3 to 7 days</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832214521"/>
                  </a:ext>
                </a:extLst>
              </a:tr>
              <a:tr h="0">
                <a:tc>
                  <a:txBody>
                    <a:bodyPr/>
                    <a:lstStyle/>
                    <a:p>
                      <a:pPr algn="l" fontAlgn="t"/>
                      <a:r>
                        <a:rPr lang="en-IN" sz="1200" b="0">
                          <a:solidFill>
                            <a:schemeClr val="bg1"/>
                          </a:solidFill>
                          <a:effectLst/>
                          <a:latin typeface="EY interstate"/>
                        </a:rPr>
                        <a:t>Currency Tolerance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Handle FX rate differences</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 0.5% of converted amount</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923616464"/>
                  </a:ext>
                </a:extLst>
              </a:tr>
              <a:tr h="0">
                <a:tc>
                  <a:txBody>
                    <a:bodyPr/>
                    <a:lstStyle/>
                    <a:p>
                      <a:pPr algn="l" fontAlgn="t"/>
                      <a:r>
                        <a:rPr lang="en-IN" sz="1200" b="0">
                          <a:solidFill>
                            <a:schemeClr val="bg1"/>
                          </a:solidFill>
                          <a:effectLst/>
                          <a:latin typeface="EY interstate"/>
                        </a:rPr>
                        <a:t>Invoice Number Variance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Allow fuzzy matching for typos</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err="1">
                          <a:solidFill>
                            <a:schemeClr val="bg1"/>
                          </a:solidFill>
                          <a:effectLst/>
                          <a:latin typeface="EY interstate"/>
                        </a:rPr>
                        <a:t>Levenshtein</a:t>
                      </a:r>
                      <a:r>
                        <a:rPr lang="en-IN" sz="1200" b="0">
                          <a:solidFill>
                            <a:schemeClr val="bg1"/>
                          </a:solidFill>
                          <a:effectLst/>
                          <a:latin typeface="EY interstate"/>
                        </a:rPr>
                        <a:t> distance ≤ 2</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759065677"/>
                  </a:ext>
                </a:extLst>
              </a:tr>
              <a:tr h="539909">
                <a:tc>
                  <a:txBody>
                    <a:bodyPr/>
                    <a:lstStyle/>
                    <a:p>
                      <a:pPr algn="l" fontAlgn="t"/>
                      <a:r>
                        <a:rPr lang="en-IN" sz="1200" b="0">
                          <a:solidFill>
                            <a:schemeClr val="bg1"/>
                          </a:solidFill>
                          <a:effectLst/>
                          <a:latin typeface="EY interstate"/>
                        </a:rPr>
                        <a:t>GL Account Mapping</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Accept mapped accounts across entities</a:t>
                      </a:r>
                    </a:p>
                  </a:txBody>
                  <a:tcPr marL="76200" marR="50800" marT="50800" marB="381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0">
                          <a:solidFill>
                            <a:schemeClr val="bg1"/>
                          </a:solidFill>
                          <a:effectLst/>
                          <a:latin typeface="EY interstate"/>
                        </a:rPr>
                        <a:t>Predefined account equivalence</a:t>
                      </a:r>
                    </a:p>
                  </a:txBody>
                  <a:tcPr marL="76200" marR="50800" marT="50800" marB="381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268974397"/>
                  </a:ext>
                </a:extLst>
              </a:tr>
            </a:tbl>
          </a:graphicData>
        </a:graphic>
      </p:graphicFrame>
      <p:sp>
        <p:nvSpPr>
          <p:cNvPr id="4" name="Rectangle 1">
            <a:extLst>
              <a:ext uri="{FF2B5EF4-FFF2-40B4-BE49-F238E27FC236}">
                <a16:creationId xmlns:a16="http://schemas.microsoft.com/office/drawing/2014/main" id="{E87128D7-743F-EF7F-E0FE-D24331BD9899}"/>
              </a:ext>
            </a:extLst>
          </p:cNvPr>
          <p:cNvSpPr>
            <a:spLocks noChangeArrowheads="1"/>
          </p:cNvSpPr>
          <p:nvPr/>
        </p:nvSpPr>
        <p:spPr bwMode="auto">
          <a:xfrm>
            <a:off x="1089802" y="871047"/>
            <a:ext cx="2754280" cy="708498"/>
          </a:xfrm>
          <a:prstGeom prst="rect">
            <a:avLst/>
          </a:prstGeom>
          <a:noFill/>
          <a:ln>
            <a:noFill/>
          </a:ln>
          <a:effectLst/>
        </p:spPr>
        <p:txBody>
          <a:bodyPr vert="horz" wrap="none" lIns="0" tIns="74589" rIns="0" bIns="17457"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a:ln>
                  <a:noFill/>
                </a:ln>
                <a:solidFill>
                  <a:srgbClr val="FFE600"/>
                </a:solidFill>
                <a:effectLst/>
                <a:latin typeface="EY interstate"/>
              </a:rPr>
              <a:t>Common Threshold Types</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2000" b="0" i="0" u="none" strike="noStrike" cap="none" normalizeH="0" baseline="0">
              <a:ln>
                <a:noFill/>
              </a:ln>
              <a:solidFill>
                <a:srgbClr val="FFE600"/>
              </a:solidFill>
              <a:effectLst/>
              <a:latin typeface="EY interstate"/>
            </a:endParaRPr>
          </a:p>
        </p:txBody>
      </p:sp>
      <p:cxnSp>
        <p:nvCxnSpPr>
          <p:cNvPr id="7" name="Straight Connector 6">
            <a:extLst>
              <a:ext uri="{FF2B5EF4-FFF2-40B4-BE49-F238E27FC236}">
                <a16:creationId xmlns:a16="http://schemas.microsoft.com/office/drawing/2014/main" id="{D8722658-A2C4-A214-0305-3ADC9F120AC2}"/>
              </a:ext>
            </a:extLst>
          </p:cNvPr>
          <p:cNvCxnSpPr/>
          <p:nvPr/>
        </p:nvCxnSpPr>
        <p:spPr>
          <a:xfrm>
            <a:off x="5446776" y="1225296"/>
            <a:ext cx="0" cy="5038344"/>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8" name="Rectangle 1">
            <a:extLst>
              <a:ext uri="{FF2B5EF4-FFF2-40B4-BE49-F238E27FC236}">
                <a16:creationId xmlns:a16="http://schemas.microsoft.com/office/drawing/2014/main" id="{24336353-770B-CDB0-60C1-4D0425E10CB9}"/>
              </a:ext>
            </a:extLst>
          </p:cNvPr>
          <p:cNvSpPr>
            <a:spLocks noChangeArrowheads="1"/>
          </p:cNvSpPr>
          <p:nvPr/>
        </p:nvSpPr>
        <p:spPr bwMode="auto">
          <a:xfrm>
            <a:off x="8217408" y="882848"/>
            <a:ext cx="1704441" cy="708498"/>
          </a:xfrm>
          <a:prstGeom prst="rect">
            <a:avLst/>
          </a:prstGeom>
          <a:noFill/>
          <a:ln>
            <a:noFill/>
          </a:ln>
          <a:effectLst/>
        </p:spPr>
        <p:txBody>
          <a:bodyPr vert="horz" wrap="none" lIns="0" tIns="74589" rIns="0" bIns="17457"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a:ln>
                  <a:noFill/>
                </a:ln>
                <a:solidFill>
                  <a:srgbClr val="FFE600"/>
                </a:solidFill>
                <a:effectLst/>
                <a:latin typeface="EY interstate"/>
              </a:rPr>
              <a:t>Escalation flows</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2000" b="0" i="0" u="none" strike="noStrike" cap="none" normalizeH="0" baseline="0">
              <a:ln>
                <a:noFill/>
              </a:ln>
              <a:solidFill>
                <a:srgbClr val="FFE600"/>
              </a:solidFill>
              <a:effectLst/>
              <a:latin typeface="EY interstate"/>
            </a:endParaRPr>
          </a:p>
        </p:txBody>
      </p:sp>
      <p:sp>
        <p:nvSpPr>
          <p:cNvPr id="14" name="TextBox 13">
            <a:extLst>
              <a:ext uri="{FF2B5EF4-FFF2-40B4-BE49-F238E27FC236}">
                <a16:creationId xmlns:a16="http://schemas.microsoft.com/office/drawing/2014/main" id="{695B54B8-F4A1-5C09-D447-02132ABF3D11}"/>
              </a:ext>
            </a:extLst>
          </p:cNvPr>
          <p:cNvSpPr txBox="1"/>
          <p:nvPr/>
        </p:nvSpPr>
        <p:spPr>
          <a:xfrm>
            <a:off x="5515354" y="1167922"/>
            <a:ext cx="6600443" cy="276999"/>
          </a:xfrm>
          <a:prstGeom prst="rect">
            <a:avLst/>
          </a:prstGeom>
          <a:noFill/>
        </p:spPr>
        <p:txBody>
          <a:bodyPr wrap="square">
            <a:spAutoFit/>
          </a:bodyPr>
          <a:lstStyle/>
          <a:p>
            <a:r>
              <a:rPr lang="en-IN" sz="1200" b="0" i="0">
                <a:solidFill>
                  <a:schemeClr val="bg1"/>
                </a:solidFill>
                <a:effectLst/>
                <a:latin typeface="EY interstate"/>
              </a:rPr>
              <a:t>When transactions </a:t>
            </a:r>
            <a:r>
              <a:rPr lang="en-IN" sz="1200" b="1" i="0">
                <a:solidFill>
                  <a:schemeClr val="bg1"/>
                </a:solidFill>
                <a:effectLst/>
                <a:latin typeface="EY interstate"/>
              </a:rPr>
              <a:t>fail to match</a:t>
            </a:r>
            <a:r>
              <a:rPr lang="en-IN" sz="1200" b="0" i="0">
                <a:solidFill>
                  <a:schemeClr val="bg1"/>
                </a:solidFill>
                <a:effectLst/>
                <a:latin typeface="EY interstate"/>
              </a:rPr>
              <a:t> or </a:t>
            </a:r>
            <a:r>
              <a:rPr lang="en-IN" sz="1200" b="1" i="0">
                <a:solidFill>
                  <a:schemeClr val="bg1"/>
                </a:solidFill>
                <a:effectLst/>
                <a:latin typeface="EY interstate"/>
              </a:rPr>
              <a:t>exceed thresholds</a:t>
            </a:r>
            <a:r>
              <a:rPr lang="en-IN" sz="1200" b="0" i="0">
                <a:solidFill>
                  <a:schemeClr val="bg1"/>
                </a:solidFill>
                <a:effectLst/>
                <a:latin typeface="EY interstate"/>
              </a:rPr>
              <a:t>, they follow an escalation path for resolution. </a:t>
            </a:r>
            <a:endParaRPr lang="en-IN" sz="1200">
              <a:solidFill>
                <a:schemeClr val="bg1"/>
              </a:solidFill>
              <a:latin typeface="EY interstate"/>
            </a:endParaRPr>
          </a:p>
        </p:txBody>
      </p:sp>
      <p:sp>
        <p:nvSpPr>
          <p:cNvPr id="16" name="TextBox 15">
            <a:extLst>
              <a:ext uri="{FF2B5EF4-FFF2-40B4-BE49-F238E27FC236}">
                <a16:creationId xmlns:a16="http://schemas.microsoft.com/office/drawing/2014/main" id="{DC182BE6-782B-057F-095D-EEE80CBAACF5}"/>
              </a:ext>
            </a:extLst>
          </p:cNvPr>
          <p:cNvSpPr txBox="1"/>
          <p:nvPr/>
        </p:nvSpPr>
        <p:spPr>
          <a:xfrm>
            <a:off x="5654040" y="1377109"/>
            <a:ext cx="6185916" cy="3377848"/>
          </a:xfrm>
          <a:prstGeom prst="rect">
            <a:avLst/>
          </a:prstGeom>
          <a:noFill/>
        </p:spPr>
        <p:txBody>
          <a:bodyPr wrap="square">
            <a:spAutoFit/>
          </a:bodyPr>
          <a:lstStyle/>
          <a:p>
            <a:pPr algn="l">
              <a:spcBef>
                <a:spcPts val="300"/>
              </a:spcBef>
              <a:spcAft>
                <a:spcPts val="600"/>
              </a:spcAft>
              <a:buFont typeface="+mj-lt"/>
              <a:buAutoNum type="arabicPeriod"/>
            </a:pPr>
            <a:r>
              <a:rPr lang="en-IN" sz="1200" b="1" i="0">
                <a:solidFill>
                  <a:srgbClr val="FFE600"/>
                </a:solidFill>
                <a:effectLst/>
                <a:latin typeface="EY interstate"/>
              </a:rPr>
              <a:t>Unmatched Transaction Identified</a:t>
            </a:r>
            <a:endParaRPr lang="en-IN" sz="1200" b="0" i="0">
              <a:solidFill>
                <a:srgbClr val="FFE600"/>
              </a:solidFill>
              <a:effectLst/>
              <a:latin typeface="EY interstate"/>
            </a:endParaRPr>
          </a:p>
          <a:p>
            <a:pPr lvl="1" algn="l">
              <a:spcBef>
                <a:spcPts val="300"/>
              </a:spcBef>
              <a:spcAft>
                <a:spcPts val="300"/>
              </a:spcAft>
            </a:pPr>
            <a:r>
              <a:rPr lang="en-IN" sz="1200" b="0" i="0">
                <a:solidFill>
                  <a:schemeClr val="bg1"/>
                </a:solidFill>
                <a:effectLst/>
                <a:latin typeface="EY interstate"/>
              </a:rPr>
              <a:t>Flagged by the matching engine. Categorized by reason (amount mismatch, missing invoice, etc.)</a:t>
            </a:r>
          </a:p>
          <a:p>
            <a:pPr algn="l">
              <a:spcBef>
                <a:spcPts val="300"/>
              </a:spcBef>
              <a:spcAft>
                <a:spcPts val="600"/>
              </a:spcAft>
              <a:buFont typeface="+mj-lt"/>
              <a:buAutoNum type="arabicPeriod"/>
            </a:pPr>
            <a:r>
              <a:rPr lang="en-IN" sz="1200" b="1" i="0">
                <a:solidFill>
                  <a:srgbClr val="FFE600"/>
                </a:solidFill>
                <a:effectLst/>
                <a:latin typeface="EY interstate"/>
              </a:rPr>
              <a:t>First-Level Review</a:t>
            </a:r>
            <a:endParaRPr lang="en-IN" sz="1200" b="0" i="0">
              <a:solidFill>
                <a:srgbClr val="FFE600"/>
              </a:solidFill>
              <a:effectLst/>
              <a:latin typeface="EY interstate"/>
            </a:endParaRPr>
          </a:p>
          <a:p>
            <a:pPr lvl="1" algn="l">
              <a:spcBef>
                <a:spcPts val="300"/>
              </a:spcBef>
              <a:spcAft>
                <a:spcPts val="300"/>
              </a:spcAft>
            </a:pPr>
            <a:r>
              <a:rPr lang="en-IN" sz="1200" b="0" i="0">
                <a:solidFill>
                  <a:schemeClr val="bg1"/>
                </a:solidFill>
                <a:effectLst/>
                <a:latin typeface="EY interstate"/>
              </a:rPr>
              <a:t>Assigned to </a:t>
            </a:r>
            <a:r>
              <a:rPr lang="en-IN" sz="1200" b="1" i="0">
                <a:solidFill>
                  <a:schemeClr val="bg1"/>
                </a:solidFill>
                <a:effectLst/>
                <a:latin typeface="EY interstate"/>
              </a:rPr>
              <a:t>Entity Accountant</a:t>
            </a:r>
            <a:r>
              <a:rPr lang="en-IN" sz="1200" b="0" i="0">
                <a:solidFill>
                  <a:schemeClr val="bg1"/>
                </a:solidFill>
                <a:effectLst/>
                <a:latin typeface="EY interstate"/>
              </a:rPr>
              <a:t> or </a:t>
            </a:r>
            <a:r>
              <a:rPr lang="en-IN" sz="1200" b="1" i="0">
                <a:solidFill>
                  <a:schemeClr val="bg1"/>
                </a:solidFill>
                <a:effectLst/>
                <a:latin typeface="EY interstate"/>
              </a:rPr>
              <a:t>Intercompany Analyst</a:t>
            </a:r>
            <a:r>
              <a:rPr lang="en-IN" sz="1200">
                <a:solidFill>
                  <a:schemeClr val="bg1"/>
                </a:solidFill>
                <a:latin typeface="EY interstate"/>
              </a:rPr>
              <a:t>. </a:t>
            </a:r>
            <a:r>
              <a:rPr lang="en-IN" sz="1200" b="0" i="0">
                <a:solidFill>
                  <a:schemeClr val="bg1"/>
                </a:solidFill>
                <a:effectLst/>
                <a:latin typeface="EY interstate"/>
              </a:rPr>
              <a:t>Can resolve, comment, or reclassify</a:t>
            </a:r>
          </a:p>
          <a:p>
            <a:pPr algn="l">
              <a:spcBef>
                <a:spcPts val="300"/>
              </a:spcBef>
              <a:spcAft>
                <a:spcPts val="600"/>
              </a:spcAft>
              <a:buFont typeface="+mj-lt"/>
              <a:buAutoNum type="arabicPeriod"/>
            </a:pPr>
            <a:r>
              <a:rPr lang="en-IN" sz="1200" b="1" i="0">
                <a:solidFill>
                  <a:srgbClr val="FFE600"/>
                </a:solidFill>
                <a:effectLst/>
                <a:latin typeface="EY interstate"/>
              </a:rPr>
              <a:t>Second-Level Escalation</a:t>
            </a:r>
            <a:endParaRPr lang="en-IN" sz="1200" b="0" i="0">
              <a:solidFill>
                <a:srgbClr val="FFE600"/>
              </a:solidFill>
              <a:effectLst/>
              <a:latin typeface="EY interstate"/>
            </a:endParaRPr>
          </a:p>
          <a:p>
            <a:pPr lvl="1" algn="l">
              <a:spcBef>
                <a:spcPts val="300"/>
              </a:spcBef>
              <a:spcAft>
                <a:spcPts val="300"/>
              </a:spcAft>
            </a:pPr>
            <a:r>
              <a:rPr lang="en-IN" sz="1200" b="0" i="0">
                <a:solidFill>
                  <a:schemeClr val="bg1"/>
                </a:solidFill>
                <a:effectLst/>
                <a:latin typeface="EY interstate"/>
              </a:rPr>
              <a:t>Routed to </a:t>
            </a:r>
            <a:r>
              <a:rPr lang="en-IN" sz="1200" b="1" i="0">
                <a:solidFill>
                  <a:schemeClr val="bg1"/>
                </a:solidFill>
                <a:effectLst/>
                <a:latin typeface="EY interstate"/>
              </a:rPr>
              <a:t>Manager</a:t>
            </a:r>
            <a:r>
              <a:rPr lang="en-IN" sz="1200" b="0" i="0">
                <a:solidFill>
                  <a:schemeClr val="bg1"/>
                </a:solidFill>
                <a:effectLst/>
                <a:latin typeface="EY interstate"/>
              </a:rPr>
              <a:t> . May involve dispute resolution or policy override</a:t>
            </a:r>
          </a:p>
          <a:p>
            <a:pPr algn="l">
              <a:spcBef>
                <a:spcPts val="300"/>
              </a:spcBef>
              <a:spcAft>
                <a:spcPts val="600"/>
              </a:spcAft>
              <a:buFont typeface="+mj-lt"/>
              <a:buAutoNum type="arabicPeriod"/>
            </a:pPr>
            <a:r>
              <a:rPr lang="en-IN" sz="1200" b="1" i="0">
                <a:solidFill>
                  <a:srgbClr val="FFE600"/>
                </a:solidFill>
                <a:effectLst/>
                <a:latin typeface="EY interstate"/>
              </a:rPr>
              <a:t>Third-Level Escalation</a:t>
            </a:r>
            <a:endParaRPr lang="en-IN" sz="1200" b="0" i="0">
              <a:solidFill>
                <a:srgbClr val="FFE600"/>
              </a:solidFill>
              <a:effectLst/>
              <a:latin typeface="EY interstate"/>
            </a:endParaRPr>
          </a:p>
          <a:p>
            <a:pPr lvl="1" algn="l">
              <a:spcBef>
                <a:spcPts val="300"/>
              </a:spcBef>
              <a:spcAft>
                <a:spcPts val="300"/>
              </a:spcAft>
            </a:pPr>
            <a:r>
              <a:rPr lang="en-IN" sz="1200" b="0" i="0">
                <a:solidFill>
                  <a:schemeClr val="bg1"/>
                </a:solidFill>
                <a:effectLst/>
                <a:latin typeface="EY interstate"/>
              </a:rPr>
              <a:t>Sent to </a:t>
            </a:r>
            <a:r>
              <a:rPr lang="en-IN" sz="1200" b="1" i="0">
                <a:solidFill>
                  <a:schemeClr val="bg1"/>
                </a:solidFill>
                <a:effectLst/>
                <a:latin typeface="EY interstate"/>
              </a:rPr>
              <a:t>Skip Manager / Finance Controller</a:t>
            </a:r>
            <a:r>
              <a:rPr lang="en-IN" sz="1200" b="0" i="0">
                <a:solidFill>
                  <a:schemeClr val="bg1"/>
                </a:solidFill>
                <a:effectLst/>
                <a:latin typeface="EY interstate"/>
              </a:rPr>
              <a:t>. Final decision authority for write-offs or adjustments</a:t>
            </a:r>
          </a:p>
          <a:p>
            <a:pPr algn="l">
              <a:spcBef>
                <a:spcPts val="300"/>
              </a:spcBef>
              <a:spcAft>
                <a:spcPts val="600"/>
              </a:spcAft>
              <a:buFont typeface="+mj-lt"/>
              <a:buAutoNum type="arabicPeriod"/>
            </a:pPr>
            <a:r>
              <a:rPr lang="en-IN" sz="1200" b="1" i="0">
                <a:solidFill>
                  <a:srgbClr val="FFE600"/>
                </a:solidFill>
                <a:effectLst/>
                <a:latin typeface="EY interstate"/>
              </a:rPr>
              <a:t>Audit Trail &amp; Certification</a:t>
            </a:r>
            <a:endParaRPr lang="en-IN" sz="1200" b="0" i="0">
              <a:solidFill>
                <a:srgbClr val="FFE600"/>
              </a:solidFill>
              <a:effectLst/>
              <a:latin typeface="EY interstate"/>
            </a:endParaRPr>
          </a:p>
          <a:p>
            <a:pPr lvl="1" algn="l">
              <a:spcBef>
                <a:spcPts val="300"/>
              </a:spcBef>
              <a:spcAft>
                <a:spcPts val="300"/>
              </a:spcAft>
            </a:pPr>
            <a:r>
              <a:rPr lang="en-IN" sz="1200" b="0" i="0">
                <a:solidFill>
                  <a:schemeClr val="bg1"/>
                </a:solidFill>
                <a:effectLst/>
                <a:latin typeface="EY interstate"/>
              </a:rPr>
              <a:t>All actions logged. Certified for period-end close</a:t>
            </a:r>
          </a:p>
        </p:txBody>
      </p:sp>
      <p:graphicFrame>
        <p:nvGraphicFramePr>
          <p:cNvPr id="18" name="Table 17">
            <a:extLst>
              <a:ext uri="{FF2B5EF4-FFF2-40B4-BE49-F238E27FC236}">
                <a16:creationId xmlns:a16="http://schemas.microsoft.com/office/drawing/2014/main" id="{E9D22D54-F66B-FF77-FC22-15D77D3DC78F}"/>
              </a:ext>
            </a:extLst>
          </p:cNvPr>
          <p:cNvGraphicFramePr>
            <a:graphicFrameLocks noGrp="1"/>
          </p:cNvGraphicFramePr>
          <p:nvPr>
            <p:extLst>
              <p:ext uri="{D42A27DB-BD31-4B8C-83A1-F6EECF244321}">
                <p14:modId xmlns:p14="http://schemas.microsoft.com/office/powerpoint/2010/main" val="328476833"/>
              </p:ext>
            </p:extLst>
          </p:nvPr>
        </p:nvGraphicFramePr>
        <p:xfrm>
          <a:off x="5832464" y="4798800"/>
          <a:ext cx="6185914" cy="1384300"/>
        </p:xfrm>
        <a:graphic>
          <a:graphicData uri="http://schemas.openxmlformats.org/drawingml/2006/table">
            <a:tbl>
              <a:tblPr/>
              <a:tblGrid>
                <a:gridCol w="2378590">
                  <a:extLst>
                    <a:ext uri="{9D8B030D-6E8A-4147-A177-3AD203B41FA5}">
                      <a16:colId xmlns:a16="http://schemas.microsoft.com/office/drawing/2014/main" val="1982114651"/>
                    </a:ext>
                  </a:extLst>
                </a:gridCol>
                <a:gridCol w="1745353">
                  <a:extLst>
                    <a:ext uri="{9D8B030D-6E8A-4147-A177-3AD203B41FA5}">
                      <a16:colId xmlns:a16="http://schemas.microsoft.com/office/drawing/2014/main" val="2743166683"/>
                    </a:ext>
                  </a:extLst>
                </a:gridCol>
                <a:gridCol w="2061971">
                  <a:extLst>
                    <a:ext uri="{9D8B030D-6E8A-4147-A177-3AD203B41FA5}">
                      <a16:colId xmlns:a16="http://schemas.microsoft.com/office/drawing/2014/main" val="548851230"/>
                    </a:ext>
                  </a:extLst>
                </a:gridCol>
              </a:tblGrid>
              <a:tr h="0">
                <a:tc>
                  <a:txBody>
                    <a:bodyPr/>
                    <a:lstStyle/>
                    <a:p>
                      <a:pPr algn="l" fontAlgn="t"/>
                      <a:r>
                        <a:rPr lang="en-IN" sz="1200" b="1">
                          <a:solidFill>
                            <a:srgbClr val="FFE600"/>
                          </a:solidFill>
                          <a:effectLst/>
                          <a:latin typeface="EY interstate"/>
                        </a:rPr>
                        <a:t>Trigger</a:t>
                      </a:r>
                      <a:endParaRPr lang="en-IN" sz="1200" b="0">
                        <a:solidFill>
                          <a:srgbClr val="FFE600"/>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1">
                          <a:solidFill>
                            <a:srgbClr val="FFE600"/>
                          </a:solidFill>
                          <a:effectLst/>
                          <a:latin typeface="EY interstate"/>
                        </a:rPr>
                        <a:t>Escalates To</a:t>
                      </a:r>
                      <a:endParaRPr lang="en-IN" sz="1200" b="0">
                        <a:solidFill>
                          <a:srgbClr val="FFE600"/>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b="1">
                          <a:solidFill>
                            <a:srgbClr val="FFE600"/>
                          </a:solidFill>
                          <a:effectLst/>
                          <a:latin typeface="EY interstate"/>
                        </a:rPr>
                        <a:t>Timeframe</a:t>
                      </a:r>
                      <a:endParaRPr lang="en-IN" sz="1200" b="0">
                        <a:solidFill>
                          <a:srgbClr val="FFE600"/>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195294989"/>
                  </a:ext>
                </a:extLst>
              </a:tr>
              <a:tr h="0">
                <a:tc>
                  <a:txBody>
                    <a:bodyPr/>
                    <a:lstStyle/>
                    <a:p>
                      <a:pPr algn="l" fontAlgn="t"/>
                      <a:r>
                        <a:rPr lang="en-IN" sz="1200">
                          <a:solidFill>
                            <a:schemeClr val="bg1"/>
                          </a:solidFill>
                          <a:effectLst/>
                          <a:latin typeface="EY interstate"/>
                        </a:rPr>
                        <a:t>Amount mismatch &gt; threshold</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Manager</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Within 2 days</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615177468"/>
                  </a:ext>
                </a:extLst>
              </a:tr>
              <a:tr h="0">
                <a:tc>
                  <a:txBody>
                    <a:bodyPr/>
                    <a:lstStyle/>
                    <a:p>
                      <a:pPr algn="l" fontAlgn="t"/>
                      <a:r>
                        <a:rPr lang="en-IN" sz="1200">
                          <a:solidFill>
                            <a:schemeClr val="bg1"/>
                          </a:solidFill>
                          <a:effectLst/>
                          <a:latin typeface="EY interstate"/>
                        </a:rPr>
                        <a:t>Missing counterparty transaction</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Analyst</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Immediate</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137950334"/>
                  </a:ext>
                </a:extLst>
              </a:tr>
              <a:tr h="0">
                <a:tc>
                  <a:txBody>
                    <a:bodyPr/>
                    <a:lstStyle/>
                    <a:p>
                      <a:pPr algn="l" fontAlgn="t"/>
                      <a:r>
                        <a:rPr lang="en-IN" sz="1200">
                          <a:solidFill>
                            <a:schemeClr val="bg1"/>
                          </a:solidFill>
                          <a:effectLst/>
                          <a:latin typeface="EY interstate"/>
                        </a:rPr>
                        <a:t>Repeated unmatched entries</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Controller / Skip Manager</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Monthly review</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155139653"/>
                  </a:ext>
                </a:extLst>
              </a:tr>
              <a:tr h="0">
                <a:tc>
                  <a:txBody>
                    <a:bodyPr/>
                    <a:lstStyle/>
                    <a:p>
                      <a:pPr algn="l" fontAlgn="t"/>
                      <a:r>
                        <a:rPr lang="en-IN" sz="1200">
                          <a:solidFill>
                            <a:schemeClr val="bg1"/>
                          </a:solidFill>
                          <a:effectLst/>
                          <a:latin typeface="EY interstate"/>
                        </a:rPr>
                        <a:t>Dispute flagged by entity</a:t>
                      </a:r>
                    </a:p>
                  </a:txBody>
                  <a:tcPr marL="76200" marR="50800" marT="50800" marB="381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Intercompany Lead</a:t>
                      </a:r>
                    </a:p>
                  </a:txBody>
                  <a:tcPr marL="76200" marR="50800" marT="50800" marB="381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r>
                        <a:rPr lang="en-IN" sz="1200">
                          <a:solidFill>
                            <a:schemeClr val="bg1"/>
                          </a:solidFill>
                          <a:effectLst/>
                          <a:latin typeface="EY interstate"/>
                        </a:rPr>
                        <a:t>Case-by-case</a:t>
                      </a:r>
                    </a:p>
                  </a:txBody>
                  <a:tcPr marL="76200" marR="50800" marT="50800" marB="381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22940031"/>
                  </a:ext>
                </a:extLst>
              </a:tr>
            </a:tbl>
          </a:graphicData>
        </a:graphic>
      </p:graphicFrame>
    </p:spTree>
    <p:extLst>
      <p:ext uri="{BB962C8B-B14F-4D97-AF65-F5344CB8AC3E}">
        <p14:creationId xmlns:p14="http://schemas.microsoft.com/office/powerpoint/2010/main" val="133428576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E17BBA-815B-B754-4B0B-2C60DBFA9AF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260D9BA-099F-2AD8-AD5B-465F9544E36B}"/>
              </a:ext>
            </a:extLst>
          </p:cNvPr>
          <p:cNvSpPr txBox="1">
            <a:spLocks noGrp="1"/>
          </p:cNvSpPr>
          <p:nvPr>
            <p:ph type="title"/>
          </p:nvPr>
        </p:nvSpPr>
        <p:spPr>
          <a:xfrm>
            <a:off x="588461" y="408949"/>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Intercompany Entity pair matrix for high volume reconciliations</a:t>
            </a:r>
          </a:p>
        </p:txBody>
      </p:sp>
      <p:sp>
        <p:nvSpPr>
          <p:cNvPr id="8" name="Rectangle 1">
            <a:extLst>
              <a:ext uri="{FF2B5EF4-FFF2-40B4-BE49-F238E27FC236}">
                <a16:creationId xmlns:a16="http://schemas.microsoft.com/office/drawing/2014/main" id="{0A6D361D-2741-F801-C7E0-31DD9C50A017}"/>
              </a:ext>
            </a:extLst>
          </p:cNvPr>
          <p:cNvSpPr>
            <a:spLocks noChangeArrowheads="1"/>
          </p:cNvSpPr>
          <p:nvPr/>
        </p:nvSpPr>
        <p:spPr bwMode="auto">
          <a:xfrm>
            <a:off x="5243780" y="882848"/>
            <a:ext cx="1704441" cy="708498"/>
          </a:xfrm>
          <a:prstGeom prst="rect">
            <a:avLst/>
          </a:prstGeom>
          <a:noFill/>
          <a:ln>
            <a:noFill/>
          </a:ln>
          <a:effectLst/>
        </p:spPr>
        <p:txBody>
          <a:bodyPr vert="horz" wrap="none" lIns="0" tIns="74589" rIns="0" bIns="17457"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a:ln>
                  <a:noFill/>
                </a:ln>
                <a:solidFill>
                  <a:srgbClr val="FFE600"/>
                </a:solidFill>
                <a:effectLst/>
                <a:latin typeface="EY interstate"/>
              </a:rPr>
              <a:t>Escalation flows</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2000" b="0" i="0" u="none" strike="noStrike" cap="none" normalizeH="0" baseline="0">
              <a:ln>
                <a:noFill/>
              </a:ln>
              <a:solidFill>
                <a:srgbClr val="FFE600"/>
              </a:solidFill>
              <a:effectLst/>
              <a:latin typeface="EY interstate"/>
            </a:endParaRPr>
          </a:p>
        </p:txBody>
      </p:sp>
      <p:grpSp>
        <p:nvGrpSpPr>
          <p:cNvPr id="5" name="Group 4">
            <a:extLst>
              <a:ext uri="{FF2B5EF4-FFF2-40B4-BE49-F238E27FC236}">
                <a16:creationId xmlns:a16="http://schemas.microsoft.com/office/drawing/2014/main" id="{4B187619-5576-17B9-46FA-817D5B3F7D2A}"/>
              </a:ext>
            </a:extLst>
          </p:cNvPr>
          <p:cNvGrpSpPr/>
          <p:nvPr/>
        </p:nvGrpSpPr>
        <p:grpSpPr>
          <a:xfrm>
            <a:off x="390143" y="1302315"/>
            <a:ext cx="11277601" cy="2418551"/>
            <a:chOff x="5515354" y="1167922"/>
            <a:chExt cx="6600443" cy="2039287"/>
          </a:xfrm>
        </p:grpSpPr>
        <p:sp>
          <p:nvSpPr>
            <p:cNvPr id="14" name="TextBox 13">
              <a:extLst>
                <a:ext uri="{FF2B5EF4-FFF2-40B4-BE49-F238E27FC236}">
                  <a16:creationId xmlns:a16="http://schemas.microsoft.com/office/drawing/2014/main" id="{134BF5A0-FF08-4139-99B7-F3D67CD91245}"/>
                </a:ext>
              </a:extLst>
            </p:cNvPr>
            <p:cNvSpPr txBox="1"/>
            <p:nvPr/>
          </p:nvSpPr>
          <p:spPr>
            <a:xfrm>
              <a:off x="5515354" y="1167922"/>
              <a:ext cx="6600443" cy="622830"/>
            </a:xfrm>
            <a:prstGeom prst="rect">
              <a:avLst/>
            </a:prstGeom>
            <a:noFill/>
          </p:spPr>
          <p:txBody>
            <a:bodyPr wrap="square">
              <a:spAutoFit/>
            </a:bodyPr>
            <a:lstStyle/>
            <a:p>
              <a:r>
                <a:rPr lang="en-IN" sz="1400" b="0" i="0">
                  <a:solidFill>
                    <a:schemeClr val="bg1"/>
                  </a:solidFill>
                  <a:effectLst/>
                  <a:latin typeface="EY interstate"/>
                </a:rPr>
                <a:t> Powerful tool for high-volume reconciliations, especially in financial operations, accounting, or data integration tasks where large datasets from different sources need to be matched and compared</a:t>
              </a:r>
              <a:endParaRPr lang="en-IN" sz="1400">
                <a:solidFill>
                  <a:schemeClr val="bg1"/>
                </a:solidFill>
                <a:latin typeface="EY interstate"/>
              </a:endParaRPr>
            </a:p>
          </p:txBody>
        </p:sp>
        <p:sp>
          <p:nvSpPr>
            <p:cNvPr id="16" name="TextBox 15">
              <a:extLst>
                <a:ext uri="{FF2B5EF4-FFF2-40B4-BE49-F238E27FC236}">
                  <a16:creationId xmlns:a16="http://schemas.microsoft.com/office/drawing/2014/main" id="{25F69654-909D-F758-8EA3-D92141F89410}"/>
                </a:ext>
              </a:extLst>
            </p:cNvPr>
            <p:cNvSpPr txBox="1"/>
            <p:nvPr/>
          </p:nvSpPr>
          <p:spPr>
            <a:xfrm>
              <a:off x="5515354" y="1831792"/>
              <a:ext cx="6185916" cy="1375417"/>
            </a:xfrm>
            <a:prstGeom prst="rect">
              <a:avLst/>
            </a:prstGeom>
            <a:noFill/>
          </p:spPr>
          <p:txBody>
            <a:bodyPr wrap="square">
              <a:spAutoFit/>
            </a:bodyPr>
            <a:lstStyle/>
            <a:p>
              <a:pPr algn="l">
                <a:spcBef>
                  <a:spcPts val="300"/>
                </a:spcBef>
                <a:spcAft>
                  <a:spcPts val="600"/>
                </a:spcAft>
              </a:pPr>
              <a:r>
                <a:rPr lang="en-IN" sz="1400" b="1" i="0">
                  <a:solidFill>
                    <a:srgbClr val="FFE600"/>
                  </a:solidFill>
                  <a:effectLst/>
                  <a:latin typeface="EY interstate"/>
                </a:rPr>
                <a:t>What is an Entity-Pair Matrix?</a:t>
              </a:r>
            </a:p>
            <a:p>
              <a:pPr algn="l">
                <a:spcBef>
                  <a:spcPts val="300"/>
                </a:spcBef>
                <a:spcAft>
                  <a:spcPts val="600"/>
                </a:spcAft>
              </a:pPr>
              <a:r>
                <a:rPr lang="en-IN" sz="1400" b="1">
                  <a:solidFill>
                    <a:srgbClr val="FFE600"/>
                  </a:solidFill>
                  <a:latin typeface="EY interstate"/>
                </a:rPr>
                <a:t>-</a:t>
              </a:r>
              <a:r>
                <a:rPr lang="en-IN" sz="1400" b="1">
                  <a:solidFill>
                    <a:schemeClr val="bg1"/>
                  </a:solidFill>
                  <a:latin typeface="EY interstate"/>
                </a:rPr>
                <a:t> </a:t>
              </a:r>
              <a:r>
                <a:rPr lang="en-IN" sz="1400" i="0">
                  <a:solidFill>
                    <a:schemeClr val="bg1"/>
                  </a:solidFill>
                  <a:effectLst/>
                  <a:latin typeface="EY interstate"/>
                </a:rPr>
                <a:t>An entity-pair matrix is a structured table where:</a:t>
              </a:r>
            </a:p>
            <a:p>
              <a:pPr algn="l">
                <a:spcBef>
                  <a:spcPts val="300"/>
                </a:spcBef>
                <a:spcAft>
                  <a:spcPts val="600"/>
                </a:spcAft>
                <a:buFont typeface="+mj-lt"/>
                <a:buAutoNum type="arabicPeriod"/>
              </a:pPr>
              <a:r>
                <a:rPr lang="en-IN" sz="1400" i="0">
                  <a:solidFill>
                    <a:schemeClr val="bg1"/>
                  </a:solidFill>
                  <a:effectLst/>
                  <a:latin typeface="EY interstate"/>
                </a:rPr>
                <a:t>Rows represent entities from Source A (e.g., internal records).</a:t>
              </a:r>
            </a:p>
            <a:p>
              <a:pPr algn="l">
                <a:spcBef>
                  <a:spcPts val="300"/>
                </a:spcBef>
                <a:spcAft>
                  <a:spcPts val="600"/>
                </a:spcAft>
                <a:buFont typeface="+mj-lt"/>
                <a:buAutoNum type="arabicPeriod"/>
              </a:pPr>
              <a:r>
                <a:rPr lang="en-IN" sz="1400" i="0">
                  <a:solidFill>
                    <a:schemeClr val="bg1"/>
                  </a:solidFill>
                  <a:effectLst/>
                  <a:latin typeface="EY interstate"/>
                </a:rPr>
                <a:t>Columns represent entities from Source B (e.g., external records).</a:t>
              </a:r>
            </a:p>
            <a:p>
              <a:pPr algn="l">
                <a:spcBef>
                  <a:spcPts val="300"/>
                </a:spcBef>
                <a:spcAft>
                  <a:spcPts val="600"/>
                </a:spcAft>
                <a:buFont typeface="+mj-lt"/>
                <a:buAutoNum type="arabicPeriod"/>
              </a:pPr>
              <a:r>
                <a:rPr lang="en-IN" sz="1400" i="0">
                  <a:solidFill>
                    <a:schemeClr val="bg1"/>
                  </a:solidFill>
                  <a:effectLst/>
                  <a:latin typeface="EY interstate"/>
                </a:rPr>
                <a:t>Cells contain a matching score or comparison result between the corresponding pair of entities.</a:t>
              </a:r>
            </a:p>
          </p:txBody>
        </p:sp>
      </p:grpSp>
      <p:graphicFrame>
        <p:nvGraphicFramePr>
          <p:cNvPr id="18" name="Table 17">
            <a:extLst>
              <a:ext uri="{FF2B5EF4-FFF2-40B4-BE49-F238E27FC236}">
                <a16:creationId xmlns:a16="http://schemas.microsoft.com/office/drawing/2014/main" id="{C01F73C7-3BA8-E349-03F0-1D07FADF74A7}"/>
              </a:ext>
            </a:extLst>
          </p:cNvPr>
          <p:cNvGraphicFramePr>
            <a:graphicFrameLocks noGrp="1"/>
          </p:cNvGraphicFramePr>
          <p:nvPr>
            <p:extLst>
              <p:ext uri="{D42A27DB-BD31-4B8C-83A1-F6EECF244321}">
                <p14:modId xmlns:p14="http://schemas.microsoft.com/office/powerpoint/2010/main" val="376372948"/>
              </p:ext>
            </p:extLst>
          </p:nvPr>
        </p:nvGraphicFramePr>
        <p:xfrm>
          <a:off x="588461" y="4687290"/>
          <a:ext cx="4285290" cy="1311172"/>
        </p:xfrm>
        <a:graphic>
          <a:graphicData uri="http://schemas.openxmlformats.org/drawingml/2006/table">
            <a:tbl>
              <a:tblPr/>
              <a:tblGrid>
                <a:gridCol w="1235826">
                  <a:extLst>
                    <a:ext uri="{9D8B030D-6E8A-4147-A177-3AD203B41FA5}">
                      <a16:colId xmlns:a16="http://schemas.microsoft.com/office/drawing/2014/main" val="1982114651"/>
                    </a:ext>
                  </a:extLst>
                </a:gridCol>
                <a:gridCol w="906820">
                  <a:extLst>
                    <a:ext uri="{9D8B030D-6E8A-4147-A177-3AD203B41FA5}">
                      <a16:colId xmlns:a16="http://schemas.microsoft.com/office/drawing/2014/main" val="2743166683"/>
                    </a:ext>
                  </a:extLst>
                </a:gridCol>
                <a:gridCol w="1071322">
                  <a:extLst>
                    <a:ext uri="{9D8B030D-6E8A-4147-A177-3AD203B41FA5}">
                      <a16:colId xmlns:a16="http://schemas.microsoft.com/office/drawing/2014/main" val="548851230"/>
                    </a:ext>
                  </a:extLst>
                </a:gridCol>
                <a:gridCol w="1071322">
                  <a:extLst>
                    <a:ext uri="{9D8B030D-6E8A-4147-A177-3AD203B41FA5}">
                      <a16:colId xmlns:a16="http://schemas.microsoft.com/office/drawing/2014/main" val="1560264886"/>
                    </a:ext>
                  </a:extLst>
                </a:gridCol>
              </a:tblGrid>
              <a:tr h="327793">
                <a:tc>
                  <a:txBody>
                    <a:bodyPr/>
                    <a:lstStyle/>
                    <a:p>
                      <a:pPr algn="l" fontAlgn="t">
                        <a:buNone/>
                      </a:pPr>
                      <a:endParaRPr lang="en-IN" sz="1400" b="0">
                        <a:solidFill>
                          <a:schemeClr val="bg1"/>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l" defTabSz="914400" rtl="0" eaLnBrk="1" fontAlgn="t" latinLnBrk="0" hangingPunct="1">
                        <a:buNone/>
                      </a:pPr>
                      <a:r>
                        <a:rPr lang="en-IN" sz="1400" b="1" kern="1200">
                          <a:solidFill>
                            <a:srgbClr val="FFE600"/>
                          </a:solidFill>
                          <a:effectLst/>
                          <a:latin typeface="EY interstate"/>
                          <a:ea typeface="+mn-ea"/>
                          <a:cs typeface="+mn-cs"/>
                        </a:rPr>
                        <a:t>Entity B1</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l" defTabSz="914400" rtl="0" eaLnBrk="1" fontAlgn="t" latinLnBrk="0" hangingPunct="1">
                        <a:buNone/>
                      </a:pPr>
                      <a:r>
                        <a:rPr lang="en-IN" sz="1400" b="1" kern="1200">
                          <a:solidFill>
                            <a:srgbClr val="FFE600"/>
                          </a:solidFill>
                          <a:effectLst/>
                          <a:latin typeface="EY interstate"/>
                          <a:ea typeface="+mn-ea"/>
                          <a:cs typeface="+mn-cs"/>
                        </a:rPr>
                        <a:t>Entity B2</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l" defTabSz="914400" rtl="0" eaLnBrk="1" fontAlgn="t" latinLnBrk="0" hangingPunct="1">
                        <a:buNone/>
                      </a:pPr>
                      <a:r>
                        <a:rPr lang="en-IN" sz="1400" b="1" kern="1200">
                          <a:solidFill>
                            <a:srgbClr val="FFE600"/>
                          </a:solidFill>
                          <a:effectLst/>
                          <a:latin typeface="EY interstate"/>
                          <a:ea typeface="+mn-ea"/>
                          <a:cs typeface="+mn-cs"/>
                        </a:rPr>
                        <a:t>Entity B3</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195294989"/>
                  </a:ext>
                </a:extLst>
              </a:tr>
              <a:tr h="327793">
                <a:tc>
                  <a:txBody>
                    <a:bodyPr/>
                    <a:lstStyle/>
                    <a:p>
                      <a:pPr algn="l" fontAlgn="t">
                        <a:buNone/>
                      </a:pPr>
                      <a:r>
                        <a:rPr lang="en-IN" sz="1400" b="1">
                          <a:solidFill>
                            <a:srgbClr val="FFE600"/>
                          </a:solidFill>
                          <a:effectLst/>
                          <a:latin typeface="EY interstate"/>
                        </a:rPr>
                        <a:t>Entity A1</a:t>
                      </a:r>
                      <a:endParaRPr lang="en-IN" sz="1400" b="0">
                        <a:solidFill>
                          <a:srgbClr val="FFE600"/>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0.98</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0.10</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0.00</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615177468"/>
                  </a:ext>
                </a:extLst>
              </a:tr>
              <a:tr h="327793">
                <a:tc>
                  <a:txBody>
                    <a:bodyPr/>
                    <a:lstStyle/>
                    <a:p>
                      <a:pPr algn="l" fontAlgn="t">
                        <a:buNone/>
                      </a:pPr>
                      <a:r>
                        <a:rPr lang="en-IN" sz="1400" b="1">
                          <a:solidFill>
                            <a:srgbClr val="FFE600"/>
                          </a:solidFill>
                          <a:effectLst/>
                          <a:latin typeface="EY interstate"/>
                        </a:rPr>
                        <a:t>Entity A2</a:t>
                      </a:r>
                      <a:endParaRPr lang="en-IN" sz="1400" b="0">
                        <a:solidFill>
                          <a:srgbClr val="FFE600"/>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0.05</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0.95</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0.20</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137950334"/>
                  </a:ext>
                </a:extLst>
              </a:tr>
              <a:tr h="327793">
                <a:tc>
                  <a:txBody>
                    <a:bodyPr/>
                    <a:lstStyle/>
                    <a:p>
                      <a:pPr algn="l" fontAlgn="t">
                        <a:buNone/>
                      </a:pPr>
                      <a:r>
                        <a:rPr lang="en-IN" sz="1400" b="1">
                          <a:solidFill>
                            <a:srgbClr val="FFE600"/>
                          </a:solidFill>
                          <a:effectLst/>
                          <a:latin typeface="EY interstate"/>
                        </a:rPr>
                        <a:t>Entity A3</a:t>
                      </a:r>
                      <a:endParaRPr lang="en-IN" sz="1400" b="0">
                        <a:solidFill>
                          <a:srgbClr val="FFE600"/>
                        </a:solidFill>
                        <a:effectLst/>
                        <a:latin typeface="EY interstate"/>
                      </a:endParaRP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0.00</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0.15</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l" fontAlgn="t">
                        <a:buNone/>
                      </a:pPr>
                      <a:r>
                        <a:rPr lang="en-IN" sz="1400">
                          <a:solidFill>
                            <a:schemeClr val="bg1"/>
                          </a:solidFill>
                          <a:effectLst/>
                          <a:latin typeface="EY interstate"/>
                        </a:rPr>
                        <a:t>0.99</a:t>
                      </a:r>
                    </a:p>
                  </a:txBody>
                  <a:tcPr marL="76200" marR="50800" marT="50800" marB="4445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155139653"/>
                  </a:ext>
                </a:extLst>
              </a:tr>
            </a:tbl>
          </a:graphicData>
        </a:graphic>
      </p:graphicFrame>
      <p:sp>
        <p:nvSpPr>
          <p:cNvPr id="3" name="TextBox 2">
            <a:extLst>
              <a:ext uri="{FF2B5EF4-FFF2-40B4-BE49-F238E27FC236}">
                <a16:creationId xmlns:a16="http://schemas.microsoft.com/office/drawing/2014/main" id="{5F036FCB-051C-AE16-A6C7-BFCEC0240332}"/>
              </a:ext>
            </a:extLst>
          </p:cNvPr>
          <p:cNvSpPr txBox="1"/>
          <p:nvPr/>
        </p:nvSpPr>
        <p:spPr>
          <a:xfrm>
            <a:off x="5674810" y="4071181"/>
            <a:ext cx="5413051" cy="2031325"/>
          </a:xfrm>
          <a:prstGeom prst="rect">
            <a:avLst/>
          </a:prstGeom>
          <a:noFill/>
        </p:spPr>
        <p:txBody>
          <a:bodyPr wrap="square" rtlCol="0">
            <a:spAutoFit/>
          </a:bodyPr>
          <a:lstStyle/>
          <a:p>
            <a:r>
              <a:rPr lang="en-IN" sz="1400" b="1">
                <a:solidFill>
                  <a:srgbClr val="FFE600"/>
                </a:solidFill>
                <a:latin typeface="EY interstate"/>
              </a:rPr>
              <a:t>How to Build One:</a:t>
            </a:r>
          </a:p>
          <a:p>
            <a:pPr marL="285750" indent="-285750">
              <a:buFont typeface="Wingdings" panose="05000000000000000000" pitchFamily="2" charset="2"/>
              <a:buChar char="§"/>
            </a:pPr>
            <a:r>
              <a:rPr lang="en-IN" sz="1400" b="1">
                <a:solidFill>
                  <a:srgbClr val="FFE600"/>
                </a:solidFill>
                <a:latin typeface="EY interstate"/>
              </a:rPr>
              <a:t>Extract</a:t>
            </a:r>
            <a:r>
              <a:rPr lang="en-IN" sz="1400">
                <a:solidFill>
                  <a:schemeClr val="bg1"/>
                </a:solidFill>
                <a:latin typeface="EY interstate"/>
              </a:rPr>
              <a:t> entities from both sources.</a:t>
            </a:r>
          </a:p>
          <a:p>
            <a:pPr marL="285750" indent="-285750">
              <a:buFont typeface="Wingdings" panose="05000000000000000000" pitchFamily="2" charset="2"/>
              <a:buChar char="§"/>
            </a:pPr>
            <a:r>
              <a:rPr lang="en-IN" sz="1400" b="1">
                <a:solidFill>
                  <a:srgbClr val="FFE600"/>
                </a:solidFill>
                <a:latin typeface="EY interstate"/>
              </a:rPr>
              <a:t>Normalize</a:t>
            </a:r>
            <a:r>
              <a:rPr lang="en-IN" sz="1400">
                <a:solidFill>
                  <a:schemeClr val="bg1"/>
                </a:solidFill>
                <a:latin typeface="EY interstate"/>
              </a:rPr>
              <a:t> data (e.g., trim spaces, unify formats).</a:t>
            </a:r>
          </a:p>
          <a:p>
            <a:pPr marL="285750" indent="-285750">
              <a:buFont typeface="Wingdings" panose="05000000000000000000" pitchFamily="2" charset="2"/>
              <a:buChar char="§"/>
            </a:pPr>
            <a:r>
              <a:rPr lang="en-IN" sz="1400" b="1">
                <a:solidFill>
                  <a:srgbClr val="FFE600"/>
                </a:solidFill>
                <a:latin typeface="EY interstate"/>
              </a:rPr>
              <a:t>Compare</a:t>
            </a:r>
            <a:r>
              <a:rPr lang="en-IN" sz="1400">
                <a:solidFill>
                  <a:schemeClr val="bg1"/>
                </a:solidFill>
                <a:latin typeface="EY interstate"/>
              </a:rPr>
              <a:t> each entity from Source A with each from Source B.</a:t>
            </a:r>
          </a:p>
          <a:p>
            <a:pPr marL="285750" indent="-285750">
              <a:buFont typeface="Wingdings" panose="05000000000000000000" pitchFamily="2" charset="2"/>
              <a:buChar char="§"/>
            </a:pPr>
            <a:r>
              <a:rPr lang="en-IN" sz="1400" b="1">
                <a:solidFill>
                  <a:srgbClr val="FFE600"/>
                </a:solidFill>
                <a:latin typeface="EY interstate"/>
              </a:rPr>
              <a:t>Score</a:t>
            </a:r>
            <a:r>
              <a:rPr lang="en-IN" sz="1400">
                <a:solidFill>
                  <a:schemeClr val="bg1"/>
                </a:solidFill>
                <a:latin typeface="EY interstate"/>
              </a:rPr>
              <a:t> each pair based on matching logic.</a:t>
            </a:r>
          </a:p>
          <a:p>
            <a:pPr marL="285750" indent="-285750">
              <a:buFont typeface="Wingdings" panose="05000000000000000000" pitchFamily="2" charset="2"/>
              <a:buChar char="§"/>
            </a:pPr>
            <a:r>
              <a:rPr lang="en-IN" sz="1400" b="1">
                <a:solidFill>
                  <a:srgbClr val="FFE600"/>
                </a:solidFill>
                <a:latin typeface="EY interstate"/>
              </a:rPr>
              <a:t>Populate</a:t>
            </a:r>
            <a:r>
              <a:rPr lang="en-IN" sz="1400">
                <a:solidFill>
                  <a:schemeClr val="bg1"/>
                </a:solidFill>
                <a:latin typeface="EY interstate"/>
              </a:rPr>
              <a:t> the matrix.</a:t>
            </a:r>
          </a:p>
          <a:p>
            <a:pPr marL="285750" indent="-285750">
              <a:buFont typeface="Wingdings" panose="05000000000000000000" pitchFamily="2" charset="2"/>
              <a:buChar char="§"/>
            </a:pPr>
            <a:r>
              <a:rPr lang="en-IN" sz="1400" b="1">
                <a:solidFill>
                  <a:srgbClr val="FFE600"/>
                </a:solidFill>
                <a:latin typeface="EY interstate"/>
              </a:rPr>
              <a:t>Apply thresholds</a:t>
            </a:r>
            <a:r>
              <a:rPr lang="en-IN" sz="1400">
                <a:solidFill>
                  <a:schemeClr val="bg1"/>
                </a:solidFill>
                <a:latin typeface="EY interstate"/>
              </a:rPr>
              <a:t> to classify matches (e.g., &gt;0.95 = match, 0.7–0.95 = potential match).</a:t>
            </a:r>
          </a:p>
          <a:p>
            <a:endParaRPr lang="en-IN" sz="1400">
              <a:latin typeface="EY interstate"/>
            </a:endParaRPr>
          </a:p>
        </p:txBody>
      </p:sp>
      <p:sp>
        <p:nvSpPr>
          <p:cNvPr id="4" name="Rectangle 3">
            <a:extLst>
              <a:ext uri="{FF2B5EF4-FFF2-40B4-BE49-F238E27FC236}">
                <a16:creationId xmlns:a16="http://schemas.microsoft.com/office/drawing/2014/main" id="{B5544938-6A0C-7E26-6823-BFB54C24FE07}"/>
              </a:ext>
            </a:extLst>
          </p:cNvPr>
          <p:cNvSpPr/>
          <p:nvPr/>
        </p:nvSpPr>
        <p:spPr>
          <a:xfrm>
            <a:off x="390143" y="4162621"/>
            <a:ext cx="4853637" cy="2031325"/>
          </a:xfrm>
          <a:prstGeom prst="rect">
            <a:avLst/>
          </a:prstGeom>
          <a:no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 name="Rectangle 5">
            <a:extLst>
              <a:ext uri="{FF2B5EF4-FFF2-40B4-BE49-F238E27FC236}">
                <a16:creationId xmlns:a16="http://schemas.microsoft.com/office/drawing/2014/main" id="{3496E1D4-1A28-6FEC-2189-B23444C8418A}"/>
              </a:ext>
            </a:extLst>
          </p:cNvPr>
          <p:cNvSpPr/>
          <p:nvPr/>
        </p:nvSpPr>
        <p:spPr>
          <a:xfrm>
            <a:off x="5674810" y="4022509"/>
            <a:ext cx="5672894" cy="2031325"/>
          </a:xfrm>
          <a:prstGeom prst="rect">
            <a:avLst/>
          </a:prstGeom>
          <a:noFill/>
          <a:ln>
            <a:solidFill>
              <a:srgbClr val="FFE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9" name="Graphic 8" descr="Pyramid with levels outline">
            <a:extLst>
              <a:ext uri="{FF2B5EF4-FFF2-40B4-BE49-F238E27FC236}">
                <a16:creationId xmlns:a16="http://schemas.microsoft.com/office/drawing/2014/main" id="{AC6E2884-6219-EC32-BA67-1FF4F5AB0CF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68096" y="4178153"/>
            <a:ext cx="455282" cy="455282"/>
          </a:xfrm>
          <a:prstGeom prst="rect">
            <a:avLst/>
          </a:prstGeom>
        </p:spPr>
      </p:pic>
      <p:sp>
        <p:nvSpPr>
          <p:cNvPr id="11" name="TextBox 10">
            <a:extLst>
              <a:ext uri="{FF2B5EF4-FFF2-40B4-BE49-F238E27FC236}">
                <a16:creationId xmlns:a16="http://schemas.microsoft.com/office/drawing/2014/main" id="{68370714-03DA-BA75-7188-D944D5325D10}"/>
              </a:ext>
            </a:extLst>
          </p:cNvPr>
          <p:cNvSpPr txBox="1"/>
          <p:nvPr/>
        </p:nvSpPr>
        <p:spPr>
          <a:xfrm>
            <a:off x="1417320" y="4178153"/>
            <a:ext cx="2798064" cy="369332"/>
          </a:xfrm>
          <a:prstGeom prst="rect">
            <a:avLst/>
          </a:prstGeom>
          <a:noFill/>
        </p:spPr>
        <p:txBody>
          <a:bodyPr wrap="square" rtlCol="0">
            <a:spAutoFit/>
          </a:bodyPr>
          <a:lstStyle/>
          <a:p>
            <a:r>
              <a:rPr lang="en-IN">
                <a:solidFill>
                  <a:srgbClr val="FFE600"/>
                </a:solidFill>
              </a:rPr>
              <a:t>Structure of the Matrix</a:t>
            </a:r>
          </a:p>
        </p:txBody>
      </p:sp>
    </p:spTree>
    <p:extLst>
      <p:ext uri="{BB962C8B-B14F-4D97-AF65-F5344CB8AC3E}">
        <p14:creationId xmlns:p14="http://schemas.microsoft.com/office/powerpoint/2010/main" val="333461939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0CED4-EC0D-F7E1-6EE1-43BBC61D67F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96FBEB1-8058-10D6-5AB4-B8BCF82F6AA2}"/>
              </a:ext>
            </a:extLst>
          </p:cNvPr>
          <p:cNvSpPr txBox="1">
            <a:spLocks noGrp="1"/>
          </p:cNvSpPr>
          <p:nvPr>
            <p:ph type="title"/>
          </p:nvPr>
        </p:nvSpPr>
        <p:spPr>
          <a:xfrm>
            <a:off x="611088" y="403041"/>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Life Cycle of Intercompany Transaction During a Typical Business Period</a:t>
            </a:r>
            <a:endParaRPr lang="en-US" sz="2400" b="1">
              <a:solidFill>
                <a:srgbClr val="FFE600"/>
              </a:solidFill>
              <a:latin typeface="EY interstate heading"/>
              <a:ea typeface="+mn-ea"/>
              <a:cs typeface="+mn-cs"/>
            </a:endParaRPr>
          </a:p>
        </p:txBody>
      </p:sp>
      <p:sp>
        <p:nvSpPr>
          <p:cNvPr id="7" name="Rectangle 2">
            <a:extLst>
              <a:ext uri="{FF2B5EF4-FFF2-40B4-BE49-F238E27FC236}">
                <a16:creationId xmlns:a16="http://schemas.microsoft.com/office/drawing/2014/main" id="{E9FEC60B-611E-0840-B4E3-7C184EE836CD}"/>
              </a:ext>
            </a:extLst>
          </p:cNvPr>
          <p:cNvSpPr>
            <a:spLocks noChangeArrowheads="1"/>
          </p:cNvSpPr>
          <p:nvPr/>
        </p:nvSpPr>
        <p:spPr bwMode="auto">
          <a:xfrm>
            <a:off x="1669774" y="1298813"/>
            <a:ext cx="1831748" cy="588419"/>
          </a:xfrm>
          <a:prstGeom prst="homePlate">
            <a:avLst>
              <a:gd name="adj" fmla="val 55772"/>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Establish IC policies &amp;</a:t>
            </a:r>
          </a:p>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governance</a:t>
            </a:r>
          </a:p>
        </p:txBody>
      </p:sp>
      <p:cxnSp>
        <p:nvCxnSpPr>
          <p:cNvPr id="10" name="Straight Connector 9">
            <a:extLst>
              <a:ext uri="{FF2B5EF4-FFF2-40B4-BE49-F238E27FC236}">
                <a16:creationId xmlns:a16="http://schemas.microsoft.com/office/drawing/2014/main" id="{E9A11F79-AEED-D450-D8E7-09B9DA2A3C44}"/>
              </a:ext>
            </a:extLst>
          </p:cNvPr>
          <p:cNvCxnSpPr/>
          <p:nvPr/>
        </p:nvCxnSpPr>
        <p:spPr>
          <a:xfrm>
            <a:off x="2788647" y="1659023"/>
            <a:ext cx="33054" cy="0"/>
          </a:xfrm>
          <a:prstGeom prst="line">
            <a:avLst/>
          </a:prstGeom>
          <a:ln w="9525">
            <a:solidFill>
              <a:schemeClr val="tx2"/>
            </a:solidFill>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99FA6CE-8DB2-DCC2-8FF8-762AA1DC3CE5}"/>
              </a:ext>
            </a:extLst>
          </p:cNvPr>
          <p:cNvCxnSpPr/>
          <p:nvPr/>
        </p:nvCxnSpPr>
        <p:spPr>
          <a:xfrm>
            <a:off x="6439716" y="1659023"/>
            <a:ext cx="35468" cy="0"/>
          </a:xfrm>
          <a:prstGeom prst="line">
            <a:avLst/>
          </a:prstGeom>
          <a:ln w="9525">
            <a:solidFill>
              <a:schemeClr val="tx2"/>
            </a:solidFill>
            <a:tailEnd type="non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D303D889-F7E1-8FA7-BD76-12FB94D5D220}"/>
              </a:ext>
            </a:extLst>
          </p:cNvPr>
          <p:cNvSpPr/>
          <p:nvPr/>
        </p:nvSpPr>
        <p:spPr>
          <a:xfrm>
            <a:off x="3471134" y="3271799"/>
            <a:ext cx="1795785" cy="2197035"/>
          </a:xfrm>
          <a:prstGeom prst="rect">
            <a:avLst/>
          </a:prstGeom>
          <a:solidFill>
            <a:srgbClr val="747480">
              <a:alpha val="30196"/>
            </a:srgbClr>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171450" marR="0" lvl="3" indent="-171450" algn="l" defTabSz="914400" rtl="0" eaLnBrk="1" fontAlgn="base" latinLnBrk="0" hangingPunct="1">
              <a:lnSpc>
                <a:spcPct val="100000"/>
              </a:lnSpc>
              <a:spcBef>
                <a:spcPts val="0"/>
              </a:spcBef>
              <a:spcAft>
                <a:spcPts val="300"/>
              </a:spcAft>
              <a:buClr>
                <a:srgbClr val="FFE600"/>
              </a:buClr>
              <a:buSzPct val="70000"/>
              <a:buFont typeface="Wingdings" panose="05000000000000000000" pitchFamily="2" charset="2"/>
              <a:buChar char="Ø"/>
              <a:tabLst>
                <a:tab pos="171496" algn="l"/>
              </a:tabLst>
              <a:defRPr/>
            </a:pP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IC Services (BlackLine Initiated)</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Wingdings" panose="05000000000000000000" pitchFamily="2" charset="2"/>
              <a:buChar char="Ø"/>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Cost Pools sourced from </a:t>
            </a:r>
            <a:r>
              <a:rPr lang="en-US" sz="1000">
                <a:solidFill>
                  <a:schemeClr val="bg1"/>
                </a:solidFill>
                <a:cs typeface="Arial" panose="020B0604020202020204" pitchFamily="34" charset="0"/>
              </a:rPr>
              <a:t>ERP</a:t>
            </a: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 (or other identified sources)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Wingdings" panose="05000000000000000000" pitchFamily="2" charset="2"/>
              <a:buChar char="Ø"/>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Allocations Keys and bases created in supporting tables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Wingdings" panose="05000000000000000000" pitchFamily="2" charset="2"/>
              <a:buChar char="Ø"/>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Services transactions initiated in BlackLine specified  Templates</a:t>
            </a:r>
          </a:p>
          <a:p>
            <a:pPr marL="171450" marR="0" lvl="3" indent="-171450" algn="l" defTabSz="914400" rtl="0" eaLnBrk="1" fontAlgn="base" latinLnBrk="0" hangingPunct="1">
              <a:lnSpc>
                <a:spcPct val="100000"/>
              </a:lnSpc>
              <a:spcBef>
                <a:spcPts val="0"/>
              </a:spcBef>
              <a:spcAft>
                <a:spcPts val="300"/>
              </a:spcAft>
              <a:buClr>
                <a:srgbClr val="FFE600"/>
              </a:buClr>
              <a:buSzPct val="70000"/>
              <a:buFont typeface="Wingdings" panose="05000000000000000000" pitchFamily="2" charset="2"/>
              <a:buChar char="Ø"/>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3AE8CA57-BA1F-1D66-5FD4-C4353B57B556}"/>
              </a:ext>
            </a:extLst>
          </p:cNvPr>
          <p:cNvSpPr/>
          <p:nvPr/>
        </p:nvSpPr>
        <p:spPr>
          <a:xfrm>
            <a:off x="5392965" y="3271798"/>
            <a:ext cx="1705702" cy="2197036"/>
          </a:xfrm>
          <a:prstGeom prst="rect">
            <a:avLst/>
          </a:prstGeom>
          <a:solidFill>
            <a:srgbClr val="747480">
              <a:alpha val="30196"/>
            </a:srgbClr>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0" marR="0" lvl="3" indent="0" algn="l" defTabSz="914400" rtl="0" eaLnBrk="1" fontAlgn="base" latinLnBrk="0" hangingPunct="1">
              <a:lnSpc>
                <a:spcPct val="100000"/>
              </a:lnSpc>
              <a:spcBef>
                <a:spcPts val="0"/>
              </a:spcBef>
              <a:spcAft>
                <a:spcPts val="300"/>
              </a:spcAft>
              <a:buClr>
                <a:srgbClr val="005A8C"/>
              </a:buClr>
              <a:buSzPct val="70000"/>
              <a:buFontTx/>
              <a:buNone/>
              <a:tabLst>
                <a:tab pos="171496" algn="l"/>
              </a:tabLst>
              <a:defRPr/>
            </a:pP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IC Services (BlackLine initiated)</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BlackLine controlled Approval Workflow</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Auto-certification for established thresholds and IC relationships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Double sided JE postings to create balanced IC journals for entity and counter party</a:t>
            </a:r>
          </a:p>
        </p:txBody>
      </p:sp>
      <p:sp>
        <p:nvSpPr>
          <p:cNvPr id="17" name="Rectangle 16">
            <a:extLst>
              <a:ext uri="{FF2B5EF4-FFF2-40B4-BE49-F238E27FC236}">
                <a16:creationId xmlns:a16="http://schemas.microsoft.com/office/drawing/2014/main" id="{9482486F-AC63-F6AA-E59A-1D3440598D09}"/>
              </a:ext>
            </a:extLst>
          </p:cNvPr>
          <p:cNvSpPr/>
          <p:nvPr/>
        </p:nvSpPr>
        <p:spPr>
          <a:xfrm>
            <a:off x="7189762" y="1994812"/>
            <a:ext cx="1795786" cy="3468159"/>
          </a:xfrm>
          <a:prstGeom prst="rect">
            <a:avLst/>
          </a:prstGeom>
          <a:solidFill>
            <a:srgbClr val="747480">
              <a:alpha val="30196"/>
            </a:srgbClr>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0" marR="0" lvl="3" indent="0" algn="l" defTabSz="914400" rtl="0" eaLnBrk="1" fontAlgn="base" latinLnBrk="0" hangingPunct="1">
              <a:lnSpc>
                <a:spcPct val="100000"/>
              </a:lnSpc>
              <a:spcBef>
                <a:spcPts val="0"/>
              </a:spcBef>
              <a:spcAft>
                <a:spcPts val="300"/>
              </a:spcAft>
              <a:buClr>
                <a:srgbClr val="005A8C"/>
              </a:buClr>
              <a:buSzPct val="70000"/>
              <a:buFontTx/>
              <a:buNone/>
              <a:tabLst>
                <a:tab pos="171496" algn="l"/>
              </a:tabLst>
              <a:defRPr/>
            </a:pP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IC Goods and IC Services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Matching logic created according to business scenarios to match AP and AR transactions for goods and services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IC matching and reconciliation process can be run more frequently (and near real time) as transactions are imported to matching data source</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Approval workflow for transactions with increased visibility to minimize disputes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Timely reporting to identify disputes earlier in the process rather than at period end (continuous accounting process)</a:t>
            </a:r>
          </a:p>
          <a:p>
            <a:pPr marL="0" marR="0" lvl="3" indent="0" algn="l" defTabSz="914400" rtl="0" eaLnBrk="1" fontAlgn="base" latinLnBrk="0" hangingPunct="1">
              <a:lnSpc>
                <a:spcPct val="100000"/>
              </a:lnSpc>
              <a:spcBef>
                <a:spcPts val="0"/>
              </a:spcBef>
              <a:spcAft>
                <a:spcPts val="300"/>
              </a:spcAft>
              <a:buClrTx/>
              <a:buSzPct val="70000"/>
              <a:buFontTx/>
              <a:buNone/>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EDCCC329-4FC6-1894-85D8-AD2184BBA99E}"/>
              </a:ext>
            </a:extLst>
          </p:cNvPr>
          <p:cNvSpPr/>
          <p:nvPr/>
        </p:nvSpPr>
        <p:spPr>
          <a:xfrm>
            <a:off x="9161214" y="4676734"/>
            <a:ext cx="1678345" cy="1444511"/>
          </a:xfrm>
          <a:prstGeom prst="rect">
            <a:avLst/>
          </a:prstGeom>
          <a:solidFill>
            <a:srgbClr val="747480"/>
          </a:solidFill>
          <a:ln w="19050">
            <a:solidFill>
              <a:schemeClr val="accent6">
                <a:lumMod val="25000"/>
              </a:schemeClr>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Substantiation of IC Trade accounts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Trading Partner Balancing Resolution</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FX variances resolved and eliminations performed in consolidation tool</a:t>
            </a:r>
          </a:p>
          <a:p>
            <a:pPr marL="0" marR="0" lvl="3" indent="0" algn="l" defTabSz="914400" rtl="0" eaLnBrk="1" fontAlgn="base" latinLnBrk="0" hangingPunct="1">
              <a:lnSpc>
                <a:spcPct val="100000"/>
              </a:lnSpc>
              <a:spcBef>
                <a:spcPts val="0"/>
              </a:spcBef>
              <a:spcAft>
                <a:spcPts val="300"/>
              </a:spcAft>
              <a:buClrTx/>
              <a:buSzPct val="70000"/>
              <a:buFontTx/>
              <a:buNone/>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a:p>
            <a:pPr marL="171450" marR="0" lvl="3" indent="-173736" algn="l" defTabSz="914400" rtl="0" eaLnBrk="1" fontAlgn="base" latinLnBrk="0" hangingPunct="1">
              <a:lnSpc>
                <a:spcPct val="100000"/>
              </a:lnSpc>
              <a:spcBef>
                <a:spcPts val="0"/>
              </a:spcBef>
              <a:spcAft>
                <a:spcPts val="300"/>
              </a:spcAft>
              <a:buClrTx/>
              <a:buSzPct val="70000"/>
              <a:buFont typeface="Arial" pitchFamily="34" charset="0"/>
              <a:buChar char="►"/>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09E6CDB5-3BEA-851C-20FD-D7CE692C1325}"/>
              </a:ext>
            </a:extLst>
          </p:cNvPr>
          <p:cNvSpPr>
            <a:spLocks/>
          </p:cNvSpPr>
          <p:nvPr/>
        </p:nvSpPr>
        <p:spPr>
          <a:xfrm>
            <a:off x="9146989" y="1994812"/>
            <a:ext cx="1706794" cy="1775560"/>
          </a:xfrm>
          <a:prstGeom prst="rect">
            <a:avLst/>
          </a:prstGeom>
          <a:solidFill>
            <a:srgbClr val="747480">
              <a:alpha val="30196"/>
            </a:srgbClr>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0" marR="0" lvl="3" indent="0" algn="l" defTabSz="914400" rtl="0" eaLnBrk="1" fontAlgn="base" latinLnBrk="0" hangingPunct="1">
              <a:lnSpc>
                <a:spcPct val="100000"/>
              </a:lnSpc>
              <a:spcBef>
                <a:spcPts val="0"/>
              </a:spcBef>
              <a:spcAft>
                <a:spcPts val="300"/>
              </a:spcAft>
              <a:buClrTx/>
              <a:buSzPct val="70000"/>
              <a:buFontTx/>
              <a:buNone/>
              <a:tabLst>
                <a:tab pos="171496" algn="l"/>
              </a:tabLst>
              <a:defRPr/>
            </a:pP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IC Goods and IC Services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Netting and Settlement of payments in Quantum</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Reconciled transactions can serve as a payment source for settlement in Quantum</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a:p>
            <a:pPr marL="171450" marR="0" lvl="3" indent="-173736" algn="l" defTabSz="914400" rtl="0" eaLnBrk="1" fontAlgn="base" latinLnBrk="0" hangingPunct="1">
              <a:lnSpc>
                <a:spcPct val="100000"/>
              </a:lnSpc>
              <a:spcBef>
                <a:spcPts val="0"/>
              </a:spcBef>
              <a:spcAft>
                <a:spcPts val="300"/>
              </a:spcAft>
              <a:buClrTx/>
              <a:buSzPct val="70000"/>
              <a:buFont typeface="Arial" pitchFamily="34" charset="0"/>
              <a:buChar char="►"/>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3F653256-949A-01FF-6279-CE6EC4A67DEE}"/>
              </a:ext>
            </a:extLst>
          </p:cNvPr>
          <p:cNvSpPr/>
          <p:nvPr/>
        </p:nvSpPr>
        <p:spPr>
          <a:xfrm>
            <a:off x="1669774" y="2000675"/>
            <a:ext cx="1711413" cy="3468159"/>
          </a:xfrm>
          <a:prstGeom prst="rect">
            <a:avLst/>
          </a:prstGeom>
          <a:solidFill>
            <a:srgbClr val="747480">
              <a:alpha val="30196"/>
            </a:srgbClr>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Master Data integrated from </a:t>
            </a:r>
            <a:r>
              <a:rPr lang="en-US" sz="1000">
                <a:solidFill>
                  <a:schemeClr val="bg1"/>
                </a:solidFill>
                <a:cs typeface="Arial" panose="020B0604020202020204" pitchFamily="34" charset="0"/>
              </a:rPr>
              <a:t>ERP</a:t>
            </a: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 via established Connector/FTP integrations or flat file import </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Intercompany trading relationships maintained in BlackLine</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Transfer pricing and tax logic and/or tables input maintained in BlackLine</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Intercompany Global Process Ownership and regional team oversight of ICH processes and maintenance and monitoring of KPIs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22" name="Arrow: Chevron 21">
            <a:extLst>
              <a:ext uri="{FF2B5EF4-FFF2-40B4-BE49-F238E27FC236}">
                <a16:creationId xmlns:a16="http://schemas.microsoft.com/office/drawing/2014/main" id="{9C2A1DA6-419D-9478-D6EA-6286B5690B3B}"/>
              </a:ext>
            </a:extLst>
          </p:cNvPr>
          <p:cNvSpPr/>
          <p:nvPr/>
        </p:nvSpPr>
        <p:spPr>
          <a:xfrm>
            <a:off x="3525653" y="1298812"/>
            <a:ext cx="1831988" cy="588420"/>
          </a:xfrm>
          <a:prstGeom prst="chevron">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Initiate IC transactions</a:t>
            </a:r>
          </a:p>
        </p:txBody>
      </p:sp>
      <p:sp>
        <p:nvSpPr>
          <p:cNvPr id="23" name="Arrow: Chevron 22">
            <a:extLst>
              <a:ext uri="{FF2B5EF4-FFF2-40B4-BE49-F238E27FC236}">
                <a16:creationId xmlns:a16="http://schemas.microsoft.com/office/drawing/2014/main" id="{D828E348-D8CB-8D41-4BB4-45BEE0005970}"/>
              </a:ext>
            </a:extLst>
          </p:cNvPr>
          <p:cNvSpPr/>
          <p:nvPr/>
        </p:nvSpPr>
        <p:spPr>
          <a:xfrm>
            <a:off x="5381772" y="1297822"/>
            <a:ext cx="1831748" cy="590400"/>
          </a:xfrm>
          <a:prstGeom prst="chevron">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Record IC transactions</a:t>
            </a:r>
          </a:p>
        </p:txBody>
      </p:sp>
      <p:sp>
        <p:nvSpPr>
          <p:cNvPr id="24" name="Arrow: Chevron 23">
            <a:extLst>
              <a:ext uri="{FF2B5EF4-FFF2-40B4-BE49-F238E27FC236}">
                <a16:creationId xmlns:a16="http://schemas.microsoft.com/office/drawing/2014/main" id="{53143A76-4B50-E5CE-463E-92E9AE626EF3}"/>
              </a:ext>
            </a:extLst>
          </p:cNvPr>
          <p:cNvSpPr/>
          <p:nvPr/>
        </p:nvSpPr>
        <p:spPr>
          <a:xfrm>
            <a:off x="7237651" y="1297822"/>
            <a:ext cx="1831749" cy="590400"/>
          </a:xfrm>
          <a:prstGeom prst="chevron">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Reconcile IC transactions</a:t>
            </a:r>
          </a:p>
        </p:txBody>
      </p:sp>
      <p:sp>
        <p:nvSpPr>
          <p:cNvPr id="25" name="Rectangle 2">
            <a:extLst>
              <a:ext uri="{FF2B5EF4-FFF2-40B4-BE49-F238E27FC236}">
                <a16:creationId xmlns:a16="http://schemas.microsoft.com/office/drawing/2014/main" id="{BE92F8BD-4DC4-13BE-9B14-74D931B50590}"/>
              </a:ext>
            </a:extLst>
          </p:cNvPr>
          <p:cNvSpPr>
            <a:spLocks noChangeArrowheads="1"/>
          </p:cNvSpPr>
          <p:nvPr/>
        </p:nvSpPr>
        <p:spPr bwMode="auto">
          <a:xfrm>
            <a:off x="9146988" y="4034619"/>
            <a:ext cx="1706796" cy="575173"/>
          </a:xfrm>
          <a:prstGeom prst="homePlate">
            <a:avLst>
              <a:gd name="adj" fmla="val 55772"/>
            </a:avLst>
          </a:prstGeom>
          <a:solidFill>
            <a:srgbClr val="FFE600"/>
          </a:solidFill>
          <a:ln w="19050">
            <a:no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a:solidFill>
                  <a:schemeClr val="tx1"/>
                </a:solidFill>
                <a:cs typeface="Arial" panose="020B0604020202020204" pitchFamily="34" charset="0"/>
              </a:rPr>
              <a:t>Period End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Financial</a:t>
            </a:r>
            <a:r>
              <a:rPr kumimoji="0" lang="en-US" sz="1000" b="1" i="0" u="none" strike="noStrike" kern="1200" cap="none" spc="0" normalizeH="0" baseline="0" noProof="0">
                <a:ln>
                  <a:noFill/>
                </a:ln>
                <a:solidFill>
                  <a:schemeClr val="tx1"/>
                </a:solidFill>
                <a:effectLst/>
                <a:uLnTx/>
                <a:uFillTx/>
                <a:ea typeface="+mn-ea"/>
                <a:cs typeface="Arial" panose="020B0604020202020204" pitchFamily="34" charset="0"/>
              </a:rPr>
              <a:t> Close</a:t>
            </a:r>
          </a:p>
        </p:txBody>
      </p:sp>
      <p:sp>
        <p:nvSpPr>
          <p:cNvPr id="26" name="Rectangle 25">
            <a:extLst>
              <a:ext uri="{FF2B5EF4-FFF2-40B4-BE49-F238E27FC236}">
                <a16:creationId xmlns:a16="http://schemas.microsoft.com/office/drawing/2014/main" id="{F7ABD446-37E4-1FBD-5320-EF4668479690}"/>
              </a:ext>
            </a:extLst>
          </p:cNvPr>
          <p:cNvSpPr/>
          <p:nvPr/>
        </p:nvSpPr>
        <p:spPr>
          <a:xfrm>
            <a:off x="3473382" y="1994812"/>
            <a:ext cx="1795785" cy="1181192"/>
          </a:xfrm>
          <a:prstGeom prst="rect">
            <a:avLst/>
          </a:prstGeom>
          <a:solidFill>
            <a:srgbClr val="747480"/>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0" marR="0" lvl="3" indent="0" algn="l" defTabSz="914400" rtl="0" eaLnBrk="1" fontAlgn="base" latinLnBrk="0" hangingPunct="1">
              <a:lnSpc>
                <a:spcPct val="100000"/>
              </a:lnSpc>
              <a:spcBef>
                <a:spcPts val="0"/>
              </a:spcBef>
              <a:spcAft>
                <a:spcPts val="300"/>
              </a:spcAft>
              <a:buClr>
                <a:srgbClr val="005A8C"/>
              </a:buClr>
              <a:buSzPct val="70000"/>
              <a:buFontTx/>
              <a:buNone/>
              <a:tabLst>
                <a:tab pos="171496" algn="l"/>
              </a:tabLst>
              <a:defRPr/>
            </a:pP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IC Goods (</a:t>
            </a:r>
            <a:r>
              <a:rPr lang="en-US" sz="1000" b="1" u="sng">
                <a:solidFill>
                  <a:schemeClr val="bg1"/>
                </a:solidFill>
                <a:cs typeface="Arial" panose="020B0604020202020204" pitchFamily="34" charset="0"/>
              </a:rPr>
              <a:t>ERP</a:t>
            </a: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 Sourced)</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Transactions Initiated by the businesses via PO/ Invoice</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GR/IR transactions</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GR/NI transactions</a:t>
            </a:r>
          </a:p>
          <a:p>
            <a:pPr marL="171450" marR="0" lvl="3" indent="-173736" algn="l" defTabSz="914400" rtl="0" eaLnBrk="1" fontAlgn="base" latinLnBrk="0" hangingPunct="1">
              <a:lnSpc>
                <a:spcPct val="100000"/>
              </a:lnSpc>
              <a:spcBef>
                <a:spcPts val="0"/>
              </a:spcBef>
              <a:spcAft>
                <a:spcPts val="300"/>
              </a:spcAft>
              <a:buClr>
                <a:srgbClr val="005A8C"/>
              </a:buClr>
              <a:buSzPct val="70000"/>
              <a:buFont typeface="Arial" pitchFamily="34" charset="0"/>
              <a:buChar char="►"/>
              <a:tabLst>
                <a:tab pos="171496" algn="l"/>
              </a:tabLst>
              <a:defRPr/>
            </a:pPr>
            <a:endParaRPr kumimoji="0" lang="en-US" sz="1000" b="1" i="0" u="sng" strike="noStrike" kern="1200" cap="none" spc="0" normalizeH="0" baseline="0" noProof="0">
              <a:ln>
                <a:noFill/>
              </a:ln>
              <a:solidFill>
                <a:schemeClr val="bg1"/>
              </a:solidFill>
              <a:effectLst/>
              <a:uLnTx/>
              <a:uFillTx/>
              <a:ea typeface="+mn-ea"/>
              <a:cs typeface="Arial" panose="020B0604020202020204" pitchFamily="34" charset="0"/>
            </a:endParaRPr>
          </a:p>
          <a:p>
            <a:pPr marL="171450" marR="0" lvl="3" indent="-173736" algn="l" defTabSz="914400" rtl="0" eaLnBrk="1" fontAlgn="base" latinLnBrk="0" hangingPunct="1">
              <a:lnSpc>
                <a:spcPct val="100000"/>
              </a:lnSpc>
              <a:spcBef>
                <a:spcPts val="0"/>
              </a:spcBef>
              <a:spcAft>
                <a:spcPts val="300"/>
              </a:spcAft>
              <a:buClr>
                <a:srgbClr val="005A8C"/>
              </a:buClr>
              <a:buSzPct val="70000"/>
              <a:buFont typeface="Arial" pitchFamily="34" charset="0"/>
              <a:buChar char="►"/>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E8E59-68DC-CC3A-024F-B846DB5B9970}"/>
              </a:ext>
            </a:extLst>
          </p:cNvPr>
          <p:cNvSpPr/>
          <p:nvPr/>
        </p:nvSpPr>
        <p:spPr>
          <a:xfrm>
            <a:off x="5387253" y="1994812"/>
            <a:ext cx="1711414" cy="1181192"/>
          </a:xfrm>
          <a:prstGeom prst="rect">
            <a:avLst/>
          </a:prstGeom>
          <a:solidFill>
            <a:srgbClr val="747480"/>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0" marR="0" lvl="3" indent="0" algn="l" defTabSz="914400" rtl="0" eaLnBrk="1" fontAlgn="base" latinLnBrk="0" hangingPunct="1">
              <a:lnSpc>
                <a:spcPct val="100000"/>
              </a:lnSpc>
              <a:spcBef>
                <a:spcPts val="0"/>
              </a:spcBef>
              <a:spcAft>
                <a:spcPts val="300"/>
              </a:spcAft>
              <a:buClr>
                <a:srgbClr val="005A8C"/>
              </a:buClr>
              <a:buSzPct val="70000"/>
              <a:buFontTx/>
              <a:buNone/>
              <a:tabLst>
                <a:tab pos="171496" algn="l"/>
              </a:tabLst>
              <a:defRPr/>
            </a:pP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IC Goods (</a:t>
            </a:r>
            <a:r>
              <a:rPr lang="en-US" sz="1000" b="1" u="sng">
                <a:solidFill>
                  <a:schemeClr val="bg1"/>
                </a:solidFill>
                <a:cs typeface="Arial" panose="020B0604020202020204" pitchFamily="34" charset="0"/>
              </a:rPr>
              <a:t>ERP</a:t>
            </a:r>
            <a:r>
              <a:rPr kumimoji="0" lang="en-US" sz="1000" b="1" i="0" u="sng" strike="noStrike" kern="1200" cap="none" spc="0" normalizeH="0" baseline="0" noProof="0">
                <a:ln>
                  <a:noFill/>
                </a:ln>
                <a:solidFill>
                  <a:schemeClr val="bg1"/>
                </a:solidFill>
                <a:effectLst/>
                <a:uLnTx/>
                <a:uFillTx/>
                <a:ea typeface="+mn-ea"/>
                <a:cs typeface="Arial" panose="020B0604020202020204" pitchFamily="34" charset="0"/>
              </a:rPr>
              <a:t> Sourced)</a:t>
            </a: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Transactions booked to intercompany AR &amp; AP accounts in </a:t>
            </a:r>
            <a:r>
              <a:rPr lang="en-US" sz="1000">
                <a:solidFill>
                  <a:schemeClr val="bg1"/>
                </a:solidFill>
                <a:cs typeface="Arial" panose="020B0604020202020204" pitchFamily="34" charset="0"/>
              </a:rPr>
              <a:t>ERP</a:t>
            </a: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a:p>
            <a:pPr marL="171450" marR="0" lvl="3" indent="-173736" algn="l" defTabSz="914400" rtl="0" eaLnBrk="1" fontAlgn="base" latinLnBrk="0" hangingPunct="1">
              <a:lnSpc>
                <a:spcPct val="100000"/>
              </a:lnSpc>
              <a:spcBef>
                <a:spcPts val="0"/>
              </a:spcBef>
              <a:spcAft>
                <a:spcPts val="300"/>
              </a:spcAft>
              <a:buClr>
                <a:srgbClr val="FFE600"/>
              </a:buClr>
              <a:buSzPct val="70000"/>
              <a:buFont typeface="Arial" pitchFamily="34" charset="0"/>
              <a:buChar char="►"/>
              <a:tabLst>
                <a:tab pos="171496" algn="l"/>
              </a:tabLst>
              <a:defRPr/>
            </a:pPr>
            <a:r>
              <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rPr>
              <a:t>Adjusting journal entries booked to GL </a:t>
            </a:r>
            <a:endParaRPr kumimoji="0" lang="en-US" sz="1000" b="1" i="0" u="sng"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113C527D-7F28-CE80-603F-5BC176603B22}"/>
              </a:ext>
            </a:extLst>
          </p:cNvPr>
          <p:cNvSpPr>
            <a:spLocks/>
          </p:cNvSpPr>
          <p:nvPr/>
        </p:nvSpPr>
        <p:spPr>
          <a:xfrm>
            <a:off x="1712815" y="5734549"/>
            <a:ext cx="489554" cy="217690"/>
          </a:xfrm>
          <a:prstGeom prst="rect">
            <a:avLst/>
          </a:prstGeom>
          <a:solidFill>
            <a:srgbClr val="747480">
              <a:alpha val="30196"/>
            </a:srgbClr>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0" marR="0" lvl="3" indent="0" algn="l" defTabSz="914400" rtl="0" eaLnBrk="1" fontAlgn="base" latinLnBrk="0" hangingPunct="1">
              <a:lnSpc>
                <a:spcPct val="100000"/>
              </a:lnSpc>
              <a:spcBef>
                <a:spcPts val="0"/>
              </a:spcBef>
              <a:spcAft>
                <a:spcPts val="300"/>
              </a:spcAft>
              <a:buClrTx/>
              <a:buSzPct val="70000"/>
              <a:buFontTx/>
              <a:buNone/>
              <a:tabLst>
                <a:tab pos="171496" algn="l"/>
              </a:tabLst>
              <a:defRPr/>
            </a:pPr>
            <a:endParaRPr kumimoji="0" lang="en-US" sz="1000" b="0"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29" name="TextBox 28">
            <a:extLst>
              <a:ext uri="{FF2B5EF4-FFF2-40B4-BE49-F238E27FC236}">
                <a16:creationId xmlns:a16="http://schemas.microsoft.com/office/drawing/2014/main" id="{BD95E17E-B9C7-0E17-7BB5-9AE6B8833626}"/>
              </a:ext>
            </a:extLst>
          </p:cNvPr>
          <p:cNvSpPr txBox="1"/>
          <p:nvPr/>
        </p:nvSpPr>
        <p:spPr>
          <a:xfrm>
            <a:off x="2226230" y="5727978"/>
            <a:ext cx="724526"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ea typeface="+mn-ea"/>
                <a:cs typeface="Arial" panose="020B0604020202020204" pitchFamily="34" charset="0"/>
              </a:rPr>
              <a:t>BlackLine</a:t>
            </a:r>
          </a:p>
        </p:txBody>
      </p:sp>
      <p:sp>
        <p:nvSpPr>
          <p:cNvPr id="30" name="Rectangle 29">
            <a:extLst>
              <a:ext uri="{FF2B5EF4-FFF2-40B4-BE49-F238E27FC236}">
                <a16:creationId xmlns:a16="http://schemas.microsoft.com/office/drawing/2014/main" id="{B69851A7-1967-F37A-CBE2-E6534BF23FC2}"/>
              </a:ext>
            </a:extLst>
          </p:cNvPr>
          <p:cNvSpPr/>
          <p:nvPr/>
        </p:nvSpPr>
        <p:spPr>
          <a:xfrm>
            <a:off x="3088506" y="5734549"/>
            <a:ext cx="485192" cy="217690"/>
          </a:xfrm>
          <a:prstGeom prst="rect">
            <a:avLst/>
          </a:prstGeom>
          <a:solidFill>
            <a:srgbClr val="747480"/>
          </a:solidFill>
          <a:ln w="19050">
            <a:solidFill>
              <a:schemeClr val="tx2"/>
            </a:solidFill>
          </a:ln>
          <a:effectLst>
            <a:outerShdw blurRad="50800" dist="50800" dir="5400000" algn="ctr" rotWithShape="0">
              <a:srgbClr val="000000">
                <a:alpha val="49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rtlCol="0" anchor="t"/>
          <a:lstStyle/>
          <a:p>
            <a:pPr marL="171450" marR="0" lvl="3" indent="-173736" algn="l" defTabSz="914400" rtl="0" eaLnBrk="1" fontAlgn="base" latinLnBrk="0" hangingPunct="1">
              <a:lnSpc>
                <a:spcPct val="100000"/>
              </a:lnSpc>
              <a:spcBef>
                <a:spcPts val="0"/>
              </a:spcBef>
              <a:spcAft>
                <a:spcPts val="300"/>
              </a:spcAft>
              <a:buClr>
                <a:srgbClr val="005A8C"/>
              </a:buClr>
              <a:buSzPct val="70000"/>
              <a:buFont typeface="Arial" pitchFamily="34" charset="0"/>
              <a:buChar char="►"/>
              <a:tabLst>
                <a:tab pos="171496" algn="l"/>
              </a:tabLst>
              <a:defRPr/>
            </a:pPr>
            <a:endParaRPr kumimoji="0" lang="en-US" sz="1000" b="1" i="0" u="sng"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31" name="TextBox 30">
            <a:extLst>
              <a:ext uri="{FF2B5EF4-FFF2-40B4-BE49-F238E27FC236}">
                <a16:creationId xmlns:a16="http://schemas.microsoft.com/office/drawing/2014/main" id="{09A2E81B-C4E8-32E5-14AF-FBA7142E50AF}"/>
              </a:ext>
            </a:extLst>
          </p:cNvPr>
          <p:cNvSpPr txBox="1"/>
          <p:nvPr/>
        </p:nvSpPr>
        <p:spPr>
          <a:xfrm>
            <a:off x="3573698" y="5727978"/>
            <a:ext cx="1229077"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ea typeface="+mn-ea"/>
                <a:cs typeface="Arial" panose="020B0604020202020204" pitchFamily="34" charset="0"/>
              </a:rPr>
              <a:t>ERP or Formal Tool</a:t>
            </a:r>
          </a:p>
        </p:txBody>
      </p:sp>
      <p:sp>
        <p:nvSpPr>
          <p:cNvPr id="32" name="Arrow: Chevron 31">
            <a:extLst>
              <a:ext uri="{FF2B5EF4-FFF2-40B4-BE49-F238E27FC236}">
                <a16:creationId xmlns:a16="http://schemas.microsoft.com/office/drawing/2014/main" id="{C99B3AEF-1D81-E899-6041-61BF8884CC52}"/>
              </a:ext>
            </a:extLst>
          </p:cNvPr>
          <p:cNvSpPr/>
          <p:nvPr/>
        </p:nvSpPr>
        <p:spPr>
          <a:xfrm>
            <a:off x="9084512" y="1297822"/>
            <a:ext cx="1831749" cy="590400"/>
          </a:xfrm>
          <a:prstGeom prst="chevron">
            <a:avLst/>
          </a:prstGeom>
          <a:solidFill>
            <a:srgbClr val="FFE600"/>
          </a:solidFill>
          <a:ln w="28575">
            <a:noFill/>
            <a:prstDash val="dash"/>
            <a:headEnd/>
            <a:tailEnd/>
          </a:ln>
          <a:effectLst/>
        </p:spPr>
        <p:style>
          <a:lnRef idx="1">
            <a:schemeClr val="accent4"/>
          </a:lnRef>
          <a:fillRef idx="3">
            <a:schemeClr val="accent4"/>
          </a:fillRef>
          <a:effectRef idx="2">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Net and settle IC transactions</a:t>
            </a:r>
          </a:p>
        </p:txBody>
      </p:sp>
      <p:cxnSp>
        <p:nvCxnSpPr>
          <p:cNvPr id="33" name="Connector: Elbow 32">
            <a:extLst>
              <a:ext uri="{FF2B5EF4-FFF2-40B4-BE49-F238E27FC236}">
                <a16:creationId xmlns:a16="http://schemas.microsoft.com/office/drawing/2014/main" id="{5F032ADF-F847-FB01-A040-B9FB04DA46BD}"/>
              </a:ext>
            </a:extLst>
          </p:cNvPr>
          <p:cNvCxnSpPr>
            <a:cxnSpLocks/>
            <a:stCxn id="32" idx="3"/>
            <a:endCxn id="25" idx="0"/>
          </p:cNvCxnSpPr>
          <p:nvPr/>
        </p:nvCxnSpPr>
        <p:spPr>
          <a:xfrm flipH="1">
            <a:off x="9839993" y="1593022"/>
            <a:ext cx="1076268" cy="2441597"/>
          </a:xfrm>
          <a:prstGeom prst="bentConnector4">
            <a:avLst>
              <a:gd name="adj1" fmla="val -21240"/>
              <a:gd name="adj2" fmla="val 95667"/>
            </a:avLst>
          </a:prstGeom>
          <a:ln w="28575">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or: Elbow 33">
            <a:extLst>
              <a:ext uri="{FF2B5EF4-FFF2-40B4-BE49-F238E27FC236}">
                <a16:creationId xmlns:a16="http://schemas.microsoft.com/office/drawing/2014/main" id="{BE1F797E-CBE4-2AE8-BE45-D5AF4FF9A106}"/>
              </a:ext>
            </a:extLst>
          </p:cNvPr>
          <p:cNvCxnSpPr>
            <a:cxnSpLocks/>
            <a:stCxn id="25" idx="3"/>
            <a:endCxn id="7" idx="1"/>
          </p:cNvCxnSpPr>
          <p:nvPr/>
        </p:nvCxnSpPr>
        <p:spPr>
          <a:xfrm flipH="1" flipV="1">
            <a:off x="1669774" y="1593023"/>
            <a:ext cx="9184010" cy="2729183"/>
          </a:xfrm>
          <a:prstGeom prst="bentConnector5">
            <a:avLst>
              <a:gd name="adj1" fmla="val -2489"/>
              <a:gd name="adj2" fmla="val -76638"/>
              <a:gd name="adj3" fmla="val 102489"/>
            </a:avLst>
          </a:prstGeom>
          <a:ln w="28575">
            <a:solidFill>
              <a:srgbClr val="FFE6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032842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9C26AC-7CFB-B2A9-4971-4AFBEA1E52F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598F938-DA47-1752-9DA6-51596E96C1C2}"/>
              </a:ext>
            </a:extLst>
          </p:cNvPr>
          <p:cNvSpPr txBox="1">
            <a:spLocks noGrp="1"/>
          </p:cNvSpPr>
          <p:nvPr>
            <p:ph type="title"/>
          </p:nvPr>
        </p:nvSpPr>
        <p:spPr>
          <a:xfrm>
            <a:off x="559150" y="438384"/>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Intercompany Process Flow</a:t>
            </a:r>
            <a:endParaRPr lang="en-US" sz="2400" b="1">
              <a:solidFill>
                <a:srgbClr val="FFE600"/>
              </a:solidFill>
              <a:latin typeface="EY interstate heading"/>
              <a:ea typeface="+mn-ea"/>
              <a:cs typeface="+mn-cs"/>
            </a:endParaRPr>
          </a:p>
        </p:txBody>
      </p:sp>
      <p:graphicFrame>
        <p:nvGraphicFramePr>
          <p:cNvPr id="3" name="Table 14">
            <a:extLst>
              <a:ext uri="{FF2B5EF4-FFF2-40B4-BE49-F238E27FC236}">
                <a16:creationId xmlns:a16="http://schemas.microsoft.com/office/drawing/2014/main" id="{D64C88F2-844F-DC5F-C212-929C8BC3C913}"/>
              </a:ext>
            </a:extLst>
          </p:cNvPr>
          <p:cNvGraphicFramePr>
            <a:graphicFrameLocks noGrp="1"/>
          </p:cNvGraphicFramePr>
          <p:nvPr>
            <p:extLst>
              <p:ext uri="{D42A27DB-BD31-4B8C-83A1-F6EECF244321}">
                <p14:modId xmlns:p14="http://schemas.microsoft.com/office/powerpoint/2010/main" val="1222945965"/>
              </p:ext>
            </p:extLst>
          </p:nvPr>
        </p:nvGraphicFramePr>
        <p:xfrm>
          <a:off x="866805" y="1099018"/>
          <a:ext cx="9926046" cy="640080"/>
        </p:xfrm>
        <a:graphic>
          <a:graphicData uri="http://schemas.openxmlformats.org/drawingml/2006/table">
            <a:tbl>
              <a:tblPr firstRow="1" bandRow="1"/>
              <a:tblGrid>
                <a:gridCol w="1102894">
                  <a:extLst>
                    <a:ext uri="{9D8B030D-6E8A-4147-A177-3AD203B41FA5}">
                      <a16:colId xmlns:a16="http://schemas.microsoft.com/office/drawing/2014/main" val="1633153458"/>
                    </a:ext>
                  </a:extLst>
                </a:gridCol>
                <a:gridCol w="1102894">
                  <a:extLst>
                    <a:ext uri="{9D8B030D-6E8A-4147-A177-3AD203B41FA5}">
                      <a16:colId xmlns:a16="http://schemas.microsoft.com/office/drawing/2014/main" val="2843873286"/>
                    </a:ext>
                  </a:extLst>
                </a:gridCol>
                <a:gridCol w="1102894">
                  <a:extLst>
                    <a:ext uri="{9D8B030D-6E8A-4147-A177-3AD203B41FA5}">
                      <a16:colId xmlns:a16="http://schemas.microsoft.com/office/drawing/2014/main" val="1300043312"/>
                    </a:ext>
                  </a:extLst>
                </a:gridCol>
                <a:gridCol w="1102894">
                  <a:extLst>
                    <a:ext uri="{9D8B030D-6E8A-4147-A177-3AD203B41FA5}">
                      <a16:colId xmlns:a16="http://schemas.microsoft.com/office/drawing/2014/main" val="709925055"/>
                    </a:ext>
                  </a:extLst>
                </a:gridCol>
                <a:gridCol w="1102894">
                  <a:extLst>
                    <a:ext uri="{9D8B030D-6E8A-4147-A177-3AD203B41FA5}">
                      <a16:colId xmlns:a16="http://schemas.microsoft.com/office/drawing/2014/main" val="2077430905"/>
                    </a:ext>
                  </a:extLst>
                </a:gridCol>
                <a:gridCol w="1102894">
                  <a:extLst>
                    <a:ext uri="{9D8B030D-6E8A-4147-A177-3AD203B41FA5}">
                      <a16:colId xmlns:a16="http://schemas.microsoft.com/office/drawing/2014/main" val="3776990715"/>
                    </a:ext>
                  </a:extLst>
                </a:gridCol>
                <a:gridCol w="1102894">
                  <a:extLst>
                    <a:ext uri="{9D8B030D-6E8A-4147-A177-3AD203B41FA5}">
                      <a16:colId xmlns:a16="http://schemas.microsoft.com/office/drawing/2014/main" val="734042108"/>
                    </a:ext>
                  </a:extLst>
                </a:gridCol>
                <a:gridCol w="1102894">
                  <a:extLst>
                    <a:ext uri="{9D8B030D-6E8A-4147-A177-3AD203B41FA5}">
                      <a16:colId xmlns:a16="http://schemas.microsoft.com/office/drawing/2014/main" val="1156728980"/>
                    </a:ext>
                  </a:extLst>
                </a:gridCol>
                <a:gridCol w="1102894">
                  <a:extLst>
                    <a:ext uri="{9D8B030D-6E8A-4147-A177-3AD203B41FA5}">
                      <a16:colId xmlns:a16="http://schemas.microsoft.com/office/drawing/2014/main" val="2715364562"/>
                    </a:ext>
                  </a:extLst>
                </a:gridCol>
              </a:tblGrid>
              <a:tr h="473776">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bg1"/>
                          </a:solidFill>
                        </a:rPr>
                        <a:t>ERP(S)</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2E2E38"/>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Import Definition</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Data Source(s)</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Match Set</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ICH Processes (AIT)</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ICH Transaction</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Actions</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Journals</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rPr>
                        <a:t>Reporting by Relationship or Actions</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910659470"/>
                  </a:ext>
                </a:extLst>
              </a:tr>
            </a:tbl>
          </a:graphicData>
        </a:graphic>
      </p:graphicFrame>
      <p:grpSp>
        <p:nvGrpSpPr>
          <p:cNvPr id="4" name="Group 3">
            <a:extLst>
              <a:ext uri="{FF2B5EF4-FFF2-40B4-BE49-F238E27FC236}">
                <a16:creationId xmlns:a16="http://schemas.microsoft.com/office/drawing/2014/main" id="{5503E1BF-33A6-1610-361B-BE9D72AC64FF}"/>
              </a:ext>
            </a:extLst>
          </p:cNvPr>
          <p:cNvGrpSpPr/>
          <p:nvPr/>
        </p:nvGrpSpPr>
        <p:grpSpPr>
          <a:xfrm>
            <a:off x="866805" y="1899732"/>
            <a:ext cx="9827576" cy="4399167"/>
            <a:chOff x="609301" y="1985818"/>
            <a:chExt cx="10647584" cy="4399167"/>
          </a:xfrm>
        </p:grpSpPr>
        <p:sp>
          <p:nvSpPr>
            <p:cNvPr id="5" name="Flowchart: Magnetic Disk 4">
              <a:extLst>
                <a:ext uri="{FF2B5EF4-FFF2-40B4-BE49-F238E27FC236}">
                  <a16:creationId xmlns:a16="http://schemas.microsoft.com/office/drawing/2014/main" id="{4AB09543-3E8B-468E-0876-5C9898003A30}"/>
                </a:ext>
              </a:extLst>
            </p:cNvPr>
            <p:cNvSpPr/>
            <p:nvPr/>
          </p:nvSpPr>
          <p:spPr>
            <a:xfrm>
              <a:off x="609301" y="2610444"/>
              <a:ext cx="934201" cy="739290"/>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6" name="TextBox 5">
              <a:extLst>
                <a:ext uri="{FF2B5EF4-FFF2-40B4-BE49-F238E27FC236}">
                  <a16:creationId xmlns:a16="http://schemas.microsoft.com/office/drawing/2014/main" id="{8AAB4C07-434D-2303-C6B0-D485A465B887}"/>
                </a:ext>
              </a:extLst>
            </p:cNvPr>
            <p:cNvSpPr txBox="1"/>
            <p:nvPr/>
          </p:nvSpPr>
          <p:spPr>
            <a:xfrm>
              <a:off x="640538" y="2862454"/>
              <a:ext cx="902964" cy="299697"/>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 Transactions (AR/AP)</a:t>
              </a:r>
            </a:p>
          </p:txBody>
        </p:sp>
        <p:sp>
          <p:nvSpPr>
            <p:cNvPr id="8" name="Hexagon 7">
              <a:extLst>
                <a:ext uri="{FF2B5EF4-FFF2-40B4-BE49-F238E27FC236}">
                  <a16:creationId xmlns:a16="http://schemas.microsoft.com/office/drawing/2014/main" id="{81539EB0-11AF-800C-564B-5379682AC01E}"/>
                </a:ext>
              </a:extLst>
            </p:cNvPr>
            <p:cNvSpPr/>
            <p:nvPr/>
          </p:nvSpPr>
          <p:spPr>
            <a:xfrm>
              <a:off x="1764874" y="2647911"/>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9" name="TextBox 8">
              <a:extLst>
                <a:ext uri="{FF2B5EF4-FFF2-40B4-BE49-F238E27FC236}">
                  <a16:creationId xmlns:a16="http://schemas.microsoft.com/office/drawing/2014/main" id="{2E281124-DF76-6CE0-150B-93D5F376236B}"/>
                </a:ext>
              </a:extLst>
            </p:cNvPr>
            <p:cNvSpPr txBox="1"/>
            <p:nvPr/>
          </p:nvSpPr>
          <p:spPr>
            <a:xfrm>
              <a:off x="1893374" y="2899928"/>
              <a:ext cx="918016"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BL Import</a:t>
              </a:r>
            </a:p>
          </p:txBody>
        </p:sp>
        <p:sp>
          <p:nvSpPr>
            <p:cNvPr id="11" name="Flowchart: Magnetic Disk 10">
              <a:extLst>
                <a:ext uri="{FF2B5EF4-FFF2-40B4-BE49-F238E27FC236}">
                  <a16:creationId xmlns:a16="http://schemas.microsoft.com/office/drawing/2014/main" id="{AED1ADDC-42D8-5149-9778-7887697A1CD2}"/>
                </a:ext>
              </a:extLst>
            </p:cNvPr>
            <p:cNvSpPr/>
            <p:nvPr/>
          </p:nvSpPr>
          <p:spPr>
            <a:xfrm>
              <a:off x="1893374" y="4024918"/>
              <a:ext cx="918016" cy="784823"/>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14" name="TextBox 13">
              <a:extLst>
                <a:ext uri="{FF2B5EF4-FFF2-40B4-BE49-F238E27FC236}">
                  <a16:creationId xmlns:a16="http://schemas.microsoft.com/office/drawing/2014/main" id="{759D3E8E-0CA2-FCD4-207A-94DAE41C476A}"/>
                </a:ext>
              </a:extLst>
            </p:cNvPr>
            <p:cNvSpPr txBox="1"/>
            <p:nvPr/>
          </p:nvSpPr>
          <p:spPr>
            <a:xfrm>
              <a:off x="1919058" y="4316617"/>
              <a:ext cx="896670"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ICH Balancing Stage (IR/IP)</a:t>
              </a:r>
            </a:p>
          </p:txBody>
        </p:sp>
        <p:sp>
          <p:nvSpPr>
            <p:cNvPr id="16" name="Flowchart: Magnetic Disk 15">
              <a:extLst>
                <a:ext uri="{FF2B5EF4-FFF2-40B4-BE49-F238E27FC236}">
                  <a16:creationId xmlns:a16="http://schemas.microsoft.com/office/drawing/2014/main" id="{4C27C03C-DC43-662A-63D5-94CFB9B02C0E}"/>
                </a:ext>
              </a:extLst>
            </p:cNvPr>
            <p:cNvSpPr/>
            <p:nvPr/>
          </p:nvSpPr>
          <p:spPr>
            <a:xfrm>
              <a:off x="3040892" y="3217246"/>
              <a:ext cx="996798" cy="784823"/>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18" name="Flowchart: Magnetic Disk 17">
              <a:extLst>
                <a:ext uri="{FF2B5EF4-FFF2-40B4-BE49-F238E27FC236}">
                  <a16:creationId xmlns:a16="http://schemas.microsoft.com/office/drawing/2014/main" id="{2796C4C8-4ADA-0032-7375-286A22950CE0}"/>
                </a:ext>
              </a:extLst>
            </p:cNvPr>
            <p:cNvSpPr/>
            <p:nvPr/>
          </p:nvSpPr>
          <p:spPr>
            <a:xfrm>
              <a:off x="3040892" y="4545456"/>
              <a:ext cx="996798" cy="784823"/>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35" name="TextBox 34">
              <a:extLst>
                <a:ext uri="{FF2B5EF4-FFF2-40B4-BE49-F238E27FC236}">
                  <a16:creationId xmlns:a16="http://schemas.microsoft.com/office/drawing/2014/main" id="{1232A5F3-43D9-B6CC-4FE0-3992B7FF576D}"/>
                </a:ext>
              </a:extLst>
            </p:cNvPr>
            <p:cNvSpPr txBox="1"/>
            <p:nvPr/>
          </p:nvSpPr>
          <p:spPr>
            <a:xfrm>
              <a:off x="3062427" y="3526280"/>
              <a:ext cx="975263" cy="299697"/>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ICH Balancing Error Log (IR/IP)</a:t>
              </a:r>
            </a:p>
          </p:txBody>
        </p:sp>
        <p:sp>
          <p:nvSpPr>
            <p:cNvPr id="36" name="TextBox 35">
              <a:extLst>
                <a:ext uri="{FF2B5EF4-FFF2-40B4-BE49-F238E27FC236}">
                  <a16:creationId xmlns:a16="http://schemas.microsoft.com/office/drawing/2014/main" id="{6BF4ABA0-37AC-29C2-C9E9-99F51EFB2858}"/>
                </a:ext>
              </a:extLst>
            </p:cNvPr>
            <p:cNvSpPr txBox="1"/>
            <p:nvPr/>
          </p:nvSpPr>
          <p:spPr>
            <a:xfrm>
              <a:off x="3040892" y="4904878"/>
              <a:ext cx="996799"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ICH Balancing (IR/IP)</a:t>
              </a:r>
            </a:p>
          </p:txBody>
        </p:sp>
        <p:sp>
          <p:nvSpPr>
            <p:cNvPr id="37" name="Hexagon 36">
              <a:extLst>
                <a:ext uri="{FF2B5EF4-FFF2-40B4-BE49-F238E27FC236}">
                  <a16:creationId xmlns:a16="http://schemas.microsoft.com/office/drawing/2014/main" id="{89712C6E-840C-7AF7-E6BF-C3C9741BB4AA}"/>
                </a:ext>
              </a:extLst>
            </p:cNvPr>
            <p:cNvSpPr/>
            <p:nvPr/>
          </p:nvSpPr>
          <p:spPr>
            <a:xfrm>
              <a:off x="4220440" y="4611434"/>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38" name="TextBox 37">
              <a:extLst>
                <a:ext uri="{FF2B5EF4-FFF2-40B4-BE49-F238E27FC236}">
                  <a16:creationId xmlns:a16="http://schemas.microsoft.com/office/drawing/2014/main" id="{265CD231-ACBC-6BB5-E769-6CC06D40B2AF}"/>
                </a:ext>
              </a:extLst>
            </p:cNvPr>
            <p:cNvSpPr txBox="1"/>
            <p:nvPr/>
          </p:nvSpPr>
          <p:spPr>
            <a:xfrm>
              <a:off x="4310321" y="4893834"/>
              <a:ext cx="918016"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Match Rules</a:t>
              </a:r>
            </a:p>
          </p:txBody>
        </p:sp>
        <p:sp>
          <p:nvSpPr>
            <p:cNvPr id="39" name="Hexagon 38">
              <a:extLst>
                <a:ext uri="{FF2B5EF4-FFF2-40B4-BE49-F238E27FC236}">
                  <a16:creationId xmlns:a16="http://schemas.microsoft.com/office/drawing/2014/main" id="{1342C5AE-E248-B85F-7922-AEF82F4283AF}"/>
                </a:ext>
              </a:extLst>
            </p:cNvPr>
            <p:cNvSpPr/>
            <p:nvPr/>
          </p:nvSpPr>
          <p:spPr>
            <a:xfrm>
              <a:off x="5453278" y="2951811"/>
              <a:ext cx="1155716" cy="671337"/>
            </a:xfrm>
            <a:prstGeom prst="hexagon">
              <a:avLst/>
            </a:prstGeom>
            <a:solidFill>
              <a:schemeClr val="tx1">
                <a:lumMod val="60000"/>
                <a:lumOff val="40000"/>
              </a:scheme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40" name="TextBox 39">
              <a:extLst>
                <a:ext uri="{FF2B5EF4-FFF2-40B4-BE49-F238E27FC236}">
                  <a16:creationId xmlns:a16="http://schemas.microsoft.com/office/drawing/2014/main" id="{4DC59BC6-26FE-28B5-B38C-EC9F9797DFA9}"/>
                </a:ext>
              </a:extLst>
            </p:cNvPr>
            <p:cNvSpPr txBox="1"/>
            <p:nvPr/>
          </p:nvSpPr>
          <p:spPr>
            <a:xfrm>
              <a:off x="5572127" y="3232738"/>
              <a:ext cx="918016"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Interim</a:t>
              </a:r>
            </a:p>
          </p:txBody>
        </p:sp>
        <p:sp>
          <p:nvSpPr>
            <p:cNvPr id="41" name="Hexagon 40">
              <a:extLst>
                <a:ext uri="{FF2B5EF4-FFF2-40B4-BE49-F238E27FC236}">
                  <a16:creationId xmlns:a16="http://schemas.microsoft.com/office/drawing/2014/main" id="{2EB8EE86-2212-86C0-56F7-938D24AFB8D1}"/>
                </a:ext>
              </a:extLst>
            </p:cNvPr>
            <p:cNvSpPr/>
            <p:nvPr/>
          </p:nvSpPr>
          <p:spPr>
            <a:xfrm>
              <a:off x="5443628" y="5674488"/>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42" name="TextBox 41">
              <a:extLst>
                <a:ext uri="{FF2B5EF4-FFF2-40B4-BE49-F238E27FC236}">
                  <a16:creationId xmlns:a16="http://schemas.microsoft.com/office/drawing/2014/main" id="{E2B9273B-D0B5-DFD3-FA16-BC024EECB882}"/>
                </a:ext>
              </a:extLst>
            </p:cNvPr>
            <p:cNvSpPr txBox="1"/>
            <p:nvPr/>
          </p:nvSpPr>
          <p:spPr>
            <a:xfrm>
              <a:off x="5562477" y="5955415"/>
              <a:ext cx="918016"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Month End</a:t>
              </a:r>
            </a:p>
          </p:txBody>
        </p:sp>
        <p:sp>
          <p:nvSpPr>
            <p:cNvPr id="43" name="TextBox 42">
              <a:extLst>
                <a:ext uri="{FF2B5EF4-FFF2-40B4-BE49-F238E27FC236}">
                  <a16:creationId xmlns:a16="http://schemas.microsoft.com/office/drawing/2014/main" id="{26C170F6-2A3E-4F49-463A-EC2A1AACC8ED}"/>
                </a:ext>
              </a:extLst>
            </p:cNvPr>
            <p:cNvSpPr txBox="1"/>
            <p:nvPr/>
          </p:nvSpPr>
          <p:spPr>
            <a:xfrm>
              <a:off x="6915587" y="3217246"/>
              <a:ext cx="996799" cy="299697"/>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ICH  Transaction Interim</a:t>
              </a:r>
            </a:p>
          </p:txBody>
        </p:sp>
        <p:sp>
          <p:nvSpPr>
            <p:cNvPr id="44" name="Flowchart: Magnetic Disk 43">
              <a:extLst>
                <a:ext uri="{FF2B5EF4-FFF2-40B4-BE49-F238E27FC236}">
                  <a16:creationId xmlns:a16="http://schemas.microsoft.com/office/drawing/2014/main" id="{2B48147E-9576-2CE7-1836-D72B7BACFF45}"/>
                </a:ext>
              </a:extLst>
            </p:cNvPr>
            <p:cNvSpPr/>
            <p:nvPr/>
          </p:nvSpPr>
          <p:spPr>
            <a:xfrm>
              <a:off x="6751538" y="5600162"/>
              <a:ext cx="996798" cy="784823"/>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45" name="TextBox 44">
              <a:extLst>
                <a:ext uri="{FF2B5EF4-FFF2-40B4-BE49-F238E27FC236}">
                  <a16:creationId xmlns:a16="http://schemas.microsoft.com/office/drawing/2014/main" id="{D3DEEF77-725C-5F24-AA99-2F7A5BB04FF9}"/>
                </a:ext>
              </a:extLst>
            </p:cNvPr>
            <p:cNvSpPr txBox="1"/>
            <p:nvPr/>
          </p:nvSpPr>
          <p:spPr>
            <a:xfrm>
              <a:off x="6751538" y="5904805"/>
              <a:ext cx="996799" cy="299697"/>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ICH  Transaction Month End</a:t>
              </a:r>
            </a:p>
          </p:txBody>
        </p:sp>
        <p:sp>
          <p:nvSpPr>
            <p:cNvPr id="46" name="Hexagon 45">
              <a:extLst>
                <a:ext uri="{FF2B5EF4-FFF2-40B4-BE49-F238E27FC236}">
                  <a16:creationId xmlns:a16="http://schemas.microsoft.com/office/drawing/2014/main" id="{1DF27D32-6C23-D254-D2F6-0FCCF97380EF}"/>
                </a:ext>
              </a:extLst>
            </p:cNvPr>
            <p:cNvSpPr/>
            <p:nvPr/>
          </p:nvSpPr>
          <p:spPr>
            <a:xfrm>
              <a:off x="7902580" y="2196823"/>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47" name="TextBox 46">
              <a:extLst>
                <a:ext uri="{FF2B5EF4-FFF2-40B4-BE49-F238E27FC236}">
                  <a16:creationId xmlns:a16="http://schemas.microsoft.com/office/drawing/2014/main" id="{B7929CD3-309D-0BAE-1DB7-F4E7197E43A5}"/>
                </a:ext>
              </a:extLst>
            </p:cNvPr>
            <p:cNvSpPr txBox="1"/>
            <p:nvPr/>
          </p:nvSpPr>
          <p:spPr>
            <a:xfrm>
              <a:off x="8021430" y="2477750"/>
              <a:ext cx="918016"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Match</a:t>
              </a:r>
            </a:p>
          </p:txBody>
        </p:sp>
        <p:sp>
          <p:nvSpPr>
            <p:cNvPr id="48" name="Hexagon 47">
              <a:extLst>
                <a:ext uri="{FF2B5EF4-FFF2-40B4-BE49-F238E27FC236}">
                  <a16:creationId xmlns:a16="http://schemas.microsoft.com/office/drawing/2014/main" id="{4C9F25FE-15F3-EE36-0A25-77404990CFA0}"/>
                </a:ext>
              </a:extLst>
            </p:cNvPr>
            <p:cNvSpPr/>
            <p:nvPr/>
          </p:nvSpPr>
          <p:spPr>
            <a:xfrm>
              <a:off x="7902580" y="2967171"/>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49" name="TextBox 48">
              <a:extLst>
                <a:ext uri="{FF2B5EF4-FFF2-40B4-BE49-F238E27FC236}">
                  <a16:creationId xmlns:a16="http://schemas.microsoft.com/office/drawing/2014/main" id="{9088C4BE-EF36-BCF2-EC71-BB838FB1333B}"/>
                </a:ext>
              </a:extLst>
            </p:cNvPr>
            <p:cNvSpPr txBox="1"/>
            <p:nvPr/>
          </p:nvSpPr>
          <p:spPr>
            <a:xfrm>
              <a:off x="8021430" y="3224887"/>
              <a:ext cx="918016"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Book / </a:t>
              </a:r>
              <a:r>
                <a:rPr kumimoji="0" lang="en-IN" sz="1000" b="0" i="0" u="none" strike="noStrike" kern="0" cap="none" spc="0" normalizeH="0" baseline="0" noProof="0" err="1">
                  <a:ln>
                    <a:noFill/>
                  </a:ln>
                  <a:solidFill>
                    <a:srgbClr val="FFFFFF"/>
                  </a:solidFill>
                  <a:effectLst/>
                  <a:uLnTx/>
                  <a:uFillTx/>
                  <a:latin typeface="EY interstate"/>
                </a:rPr>
                <a:t>Adj</a:t>
              </a:r>
              <a:endParaRPr kumimoji="0" lang="en-IN" sz="1000" b="0" i="0" u="none" strike="noStrike" kern="0" cap="none" spc="0" normalizeH="0" baseline="0" noProof="0">
                <a:ln>
                  <a:noFill/>
                </a:ln>
                <a:solidFill>
                  <a:srgbClr val="FFFFFF"/>
                </a:solidFill>
                <a:effectLst/>
                <a:uLnTx/>
                <a:uFillTx/>
                <a:latin typeface="EY interstate"/>
              </a:endParaRPr>
            </a:p>
          </p:txBody>
        </p:sp>
        <p:sp>
          <p:nvSpPr>
            <p:cNvPr id="50" name="Hexagon 49">
              <a:extLst>
                <a:ext uri="{FF2B5EF4-FFF2-40B4-BE49-F238E27FC236}">
                  <a16:creationId xmlns:a16="http://schemas.microsoft.com/office/drawing/2014/main" id="{2D90A9BD-981D-8C7F-5BC8-1EB05B8A0AA9}"/>
                </a:ext>
              </a:extLst>
            </p:cNvPr>
            <p:cNvSpPr/>
            <p:nvPr/>
          </p:nvSpPr>
          <p:spPr>
            <a:xfrm>
              <a:off x="7902580" y="3719716"/>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51" name="TextBox 50">
              <a:extLst>
                <a:ext uri="{FF2B5EF4-FFF2-40B4-BE49-F238E27FC236}">
                  <a16:creationId xmlns:a16="http://schemas.microsoft.com/office/drawing/2014/main" id="{A80710C7-6E5B-FA41-259D-C4B5A45C28F0}"/>
                </a:ext>
              </a:extLst>
            </p:cNvPr>
            <p:cNvSpPr txBox="1"/>
            <p:nvPr/>
          </p:nvSpPr>
          <p:spPr>
            <a:xfrm>
              <a:off x="8021430" y="3850526"/>
              <a:ext cx="918016" cy="42934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Dispute, Investigate, TP to Resolve</a:t>
              </a:r>
            </a:p>
          </p:txBody>
        </p:sp>
        <p:sp>
          <p:nvSpPr>
            <p:cNvPr id="52" name="Hexagon 51">
              <a:extLst>
                <a:ext uri="{FF2B5EF4-FFF2-40B4-BE49-F238E27FC236}">
                  <a16:creationId xmlns:a16="http://schemas.microsoft.com/office/drawing/2014/main" id="{B8A2B827-B6BC-D37F-1082-0A845CB368E4}"/>
                </a:ext>
              </a:extLst>
            </p:cNvPr>
            <p:cNvSpPr/>
            <p:nvPr/>
          </p:nvSpPr>
          <p:spPr>
            <a:xfrm>
              <a:off x="7902580" y="5663479"/>
              <a:ext cx="1155716" cy="671337"/>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53" name="TextBox 52">
              <a:extLst>
                <a:ext uri="{FF2B5EF4-FFF2-40B4-BE49-F238E27FC236}">
                  <a16:creationId xmlns:a16="http://schemas.microsoft.com/office/drawing/2014/main" id="{88522D62-8427-083F-472F-631D72B1C432}"/>
                </a:ext>
              </a:extLst>
            </p:cNvPr>
            <p:cNvSpPr txBox="1"/>
            <p:nvPr/>
          </p:nvSpPr>
          <p:spPr>
            <a:xfrm>
              <a:off x="8005932" y="5870771"/>
              <a:ext cx="918016"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Month End Accrual</a:t>
              </a:r>
            </a:p>
          </p:txBody>
        </p:sp>
        <p:sp>
          <p:nvSpPr>
            <p:cNvPr id="54" name="Flowchart: Magnetic Disk 53">
              <a:extLst>
                <a:ext uri="{FF2B5EF4-FFF2-40B4-BE49-F238E27FC236}">
                  <a16:creationId xmlns:a16="http://schemas.microsoft.com/office/drawing/2014/main" id="{2B825E5B-9C71-369C-B824-BC28917CDC46}"/>
                </a:ext>
              </a:extLst>
            </p:cNvPr>
            <p:cNvSpPr/>
            <p:nvPr/>
          </p:nvSpPr>
          <p:spPr>
            <a:xfrm>
              <a:off x="9194341" y="2951811"/>
              <a:ext cx="996798" cy="784823"/>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55" name="TextBox 54">
              <a:extLst>
                <a:ext uri="{FF2B5EF4-FFF2-40B4-BE49-F238E27FC236}">
                  <a16:creationId xmlns:a16="http://schemas.microsoft.com/office/drawing/2014/main" id="{3C5D6577-C943-0110-F078-EB51C550A818}"/>
                </a:ext>
              </a:extLst>
            </p:cNvPr>
            <p:cNvSpPr txBox="1"/>
            <p:nvPr/>
          </p:nvSpPr>
          <p:spPr>
            <a:xfrm>
              <a:off x="9276448" y="3287479"/>
              <a:ext cx="862068"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Book or Adjust IP / IR</a:t>
              </a:r>
            </a:p>
          </p:txBody>
        </p:sp>
        <p:pic>
          <p:nvPicPr>
            <p:cNvPr id="56" name="Picture 2" descr="Paper icon PNG and SVG Vector Free Download">
              <a:extLst>
                <a:ext uri="{FF2B5EF4-FFF2-40B4-BE49-F238E27FC236}">
                  <a16:creationId xmlns:a16="http://schemas.microsoft.com/office/drawing/2014/main" id="{35FA02D4-1090-6329-87C8-F1E6FACE64AA}"/>
                </a:ext>
              </a:extLst>
            </p:cNvPr>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639031" y="2555702"/>
              <a:ext cx="617854" cy="784823"/>
            </a:xfrm>
            <a:prstGeom prst="rect">
              <a:avLst/>
            </a:prstGeom>
            <a:noFill/>
            <a:extLst>
              <a:ext uri="{909E8E84-426E-40DD-AFC4-6F175D3DCCD1}">
                <a14:hiddenFill xmlns:a14="http://schemas.microsoft.com/office/drawing/2010/main">
                  <a:solidFill>
                    <a:srgbClr val="FFFFFF"/>
                  </a:solidFill>
                </a14:hiddenFill>
              </a:ext>
            </a:extLst>
          </p:spPr>
        </p:pic>
        <p:cxnSp>
          <p:nvCxnSpPr>
            <p:cNvPr id="57" name="Straight Arrow Connector 56">
              <a:extLst>
                <a:ext uri="{FF2B5EF4-FFF2-40B4-BE49-F238E27FC236}">
                  <a16:creationId xmlns:a16="http://schemas.microsoft.com/office/drawing/2014/main" id="{4CE16801-25D1-D2A6-E9D2-255CA4BD8CAD}"/>
                </a:ext>
              </a:extLst>
            </p:cNvPr>
            <p:cNvCxnSpPr>
              <a:cxnSpLocks/>
              <a:stCxn id="5" idx="4"/>
              <a:endCxn id="8" idx="3"/>
            </p:cNvCxnSpPr>
            <p:nvPr/>
          </p:nvCxnSpPr>
          <p:spPr>
            <a:xfrm>
              <a:off x="1543502" y="2980089"/>
              <a:ext cx="221372" cy="3491"/>
            </a:xfrm>
            <a:prstGeom prst="straightConnector1">
              <a:avLst/>
            </a:prstGeom>
            <a:noFill/>
            <a:ln w="9525" cap="flat" cmpd="sng" algn="ctr">
              <a:solidFill>
                <a:srgbClr val="FFE600"/>
              </a:solidFill>
              <a:prstDash val="solid"/>
              <a:tailEnd type="triangle"/>
            </a:ln>
            <a:effectLst/>
          </p:spPr>
        </p:cxnSp>
        <p:cxnSp>
          <p:nvCxnSpPr>
            <p:cNvPr id="58" name="Straight Arrow Connector 57">
              <a:extLst>
                <a:ext uri="{FF2B5EF4-FFF2-40B4-BE49-F238E27FC236}">
                  <a16:creationId xmlns:a16="http://schemas.microsoft.com/office/drawing/2014/main" id="{CCEBB5DC-D5F5-5A9B-42DA-25969D8707E0}"/>
                </a:ext>
              </a:extLst>
            </p:cNvPr>
            <p:cNvCxnSpPr>
              <a:endCxn id="11" idx="1"/>
            </p:cNvCxnSpPr>
            <p:nvPr/>
          </p:nvCxnSpPr>
          <p:spPr>
            <a:xfrm flipH="1">
              <a:off x="2352382" y="3310691"/>
              <a:ext cx="5807" cy="714227"/>
            </a:xfrm>
            <a:prstGeom prst="straightConnector1">
              <a:avLst/>
            </a:prstGeom>
            <a:noFill/>
            <a:ln w="9525" cap="flat" cmpd="sng" algn="ctr">
              <a:solidFill>
                <a:srgbClr val="FFE600"/>
              </a:solidFill>
              <a:prstDash val="solid"/>
              <a:tailEnd type="triangle"/>
            </a:ln>
            <a:effectLst/>
          </p:spPr>
        </p:cxnSp>
        <p:cxnSp>
          <p:nvCxnSpPr>
            <p:cNvPr id="59" name="Connector: Elbow 58">
              <a:extLst>
                <a:ext uri="{FF2B5EF4-FFF2-40B4-BE49-F238E27FC236}">
                  <a16:creationId xmlns:a16="http://schemas.microsoft.com/office/drawing/2014/main" id="{C0B8D003-0DE5-FB77-C81E-3D4A0F76CE38}"/>
                </a:ext>
              </a:extLst>
            </p:cNvPr>
            <p:cNvCxnSpPr>
              <a:cxnSpLocks/>
            </p:cNvCxnSpPr>
            <p:nvPr/>
          </p:nvCxnSpPr>
          <p:spPr>
            <a:xfrm>
              <a:off x="2811390" y="4364062"/>
              <a:ext cx="229503" cy="626933"/>
            </a:xfrm>
            <a:prstGeom prst="bentConnector3">
              <a:avLst/>
            </a:prstGeom>
            <a:noFill/>
            <a:ln w="9525" cap="flat" cmpd="sng" algn="ctr">
              <a:solidFill>
                <a:srgbClr val="FFE600"/>
              </a:solidFill>
              <a:prstDash val="solid"/>
              <a:tailEnd type="triangle"/>
            </a:ln>
            <a:effectLst/>
          </p:spPr>
        </p:cxnSp>
        <p:cxnSp>
          <p:nvCxnSpPr>
            <p:cNvPr id="60" name="Connector: Elbow 59">
              <a:extLst>
                <a:ext uri="{FF2B5EF4-FFF2-40B4-BE49-F238E27FC236}">
                  <a16:creationId xmlns:a16="http://schemas.microsoft.com/office/drawing/2014/main" id="{9E4D368C-484E-D807-633D-CEEC320C9BFE}"/>
                </a:ext>
              </a:extLst>
            </p:cNvPr>
            <p:cNvCxnSpPr>
              <a:cxnSpLocks/>
            </p:cNvCxnSpPr>
            <p:nvPr/>
          </p:nvCxnSpPr>
          <p:spPr>
            <a:xfrm rot="5400000" flipH="1" flipV="1">
              <a:off x="2469001" y="4053802"/>
              <a:ext cx="1053916" cy="132936"/>
            </a:xfrm>
            <a:prstGeom prst="bentConnector2">
              <a:avLst/>
            </a:prstGeom>
            <a:noFill/>
            <a:ln w="9525" cap="flat" cmpd="sng" algn="ctr">
              <a:solidFill>
                <a:srgbClr val="FFE600"/>
              </a:solidFill>
              <a:prstDash val="solid"/>
              <a:tailEnd type="triangle"/>
            </a:ln>
            <a:effectLst/>
          </p:spPr>
        </p:cxnSp>
        <p:cxnSp>
          <p:nvCxnSpPr>
            <p:cNvPr id="61" name="Connector: Elbow 60">
              <a:extLst>
                <a:ext uri="{FF2B5EF4-FFF2-40B4-BE49-F238E27FC236}">
                  <a16:creationId xmlns:a16="http://schemas.microsoft.com/office/drawing/2014/main" id="{CCB2051C-1F6A-796A-FCFD-BA0D4343F01B}"/>
                </a:ext>
              </a:extLst>
            </p:cNvPr>
            <p:cNvCxnSpPr>
              <a:cxnSpLocks/>
              <a:stCxn id="18" idx="3"/>
              <a:endCxn id="56" idx="2"/>
            </p:cNvCxnSpPr>
            <p:nvPr/>
          </p:nvCxnSpPr>
          <p:spPr>
            <a:xfrm rot="5400000" flipH="1" flipV="1">
              <a:off x="6248748" y="631069"/>
              <a:ext cx="1989754" cy="7408666"/>
            </a:xfrm>
            <a:prstGeom prst="bentConnector3">
              <a:avLst>
                <a:gd name="adj1" fmla="val -62040"/>
              </a:avLst>
            </a:prstGeom>
            <a:noFill/>
            <a:ln w="9525" cap="flat" cmpd="sng" algn="ctr">
              <a:solidFill>
                <a:srgbClr val="FFE600"/>
              </a:solidFill>
              <a:prstDash val="solid"/>
              <a:tailEnd type="triangle"/>
            </a:ln>
            <a:effectLst/>
          </p:spPr>
        </p:cxnSp>
        <p:cxnSp>
          <p:nvCxnSpPr>
            <p:cNvPr id="62" name="Connector: Elbow 61">
              <a:extLst>
                <a:ext uri="{FF2B5EF4-FFF2-40B4-BE49-F238E27FC236}">
                  <a16:creationId xmlns:a16="http://schemas.microsoft.com/office/drawing/2014/main" id="{5DD7BD5E-B1D4-472C-1BAF-D5EA28E0657A}"/>
                </a:ext>
              </a:extLst>
            </p:cNvPr>
            <p:cNvCxnSpPr>
              <a:stCxn id="16" idx="1"/>
              <a:endCxn id="56" idx="0"/>
            </p:cNvCxnSpPr>
            <p:nvPr/>
          </p:nvCxnSpPr>
          <p:spPr>
            <a:xfrm rot="5400000" flipH="1" flipV="1">
              <a:off x="6912853" y="-817859"/>
              <a:ext cx="661544" cy="7408666"/>
            </a:xfrm>
            <a:prstGeom prst="bentConnector3">
              <a:avLst>
                <a:gd name="adj1" fmla="val 188309"/>
              </a:avLst>
            </a:prstGeom>
            <a:noFill/>
            <a:ln w="9525" cap="flat" cmpd="sng" algn="ctr">
              <a:solidFill>
                <a:srgbClr val="FFE600"/>
              </a:solidFill>
              <a:prstDash val="solid"/>
              <a:tailEnd type="triangle"/>
            </a:ln>
            <a:effectLst/>
          </p:spPr>
        </p:cxnSp>
        <p:cxnSp>
          <p:nvCxnSpPr>
            <p:cNvPr id="63" name="Connector: Elbow 62">
              <a:extLst>
                <a:ext uri="{FF2B5EF4-FFF2-40B4-BE49-F238E27FC236}">
                  <a16:creationId xmlns:a16="http://schemas.microsoft.com/office/drawing/2014/main" id="{98ECCC86-98F5-23A9-9DBF-906E9D03A041}"/>
                </a:ext>
              </a:extLst>
            </p:cNvPr>
            <p:cNvCxnSpPr>
              <a:cxnSpLocks/>
            </p:cNvCxnSpPr>
            <p:nvPr/>
          </p:nvCxnSpPr>
          <p:spPr>
            <a:xfrm rot="5400000">
              <a:off x="2587417" y="3009555"/>
              <a:ext cx="2458804" cy="613000"/>
            </a:xfrm>
            <a:prstGeom prst="bentConnector3">
              <a:avLst>
                <a:gd name="adj1" fmla="val 83268"/>
              </a:avLst>
            </a:prstGeom>
            <a:noFill/>
            <a:ln w="9525" cap="flat" cmpd="sng" algn="ctr">
              <a:solidFill>
                <a:srgbClr val="FFE600"/>
              </a:solidFill>
              <a:prstDash val="solid"/>
              <a:tailEnd type="triangle"/>
            </a:ln>
            <a:effectLst/>
          </p:spPr>
        </p:cxnSp>
        <p:cxnSp>
          <p:nvCxnSpPr>
            <p:cNvPr id="64" name="Straight Connector 63">
              <a:extLst>
                <a:ext uri="{FF2B5EF4-FFF2-40B4-BE49-F238E27FC236}">
                  <a16:creationId xmlns:a16="http://schemas.microsoft.com/office/drawing/2014/main" id="{4E3D3AF4-A5AF-AD49-87F6-2E13AEBCB419}"/>
                </a:ext>
              </a:extLst>
            </p:cNvPr>
            <p:cNvCxnSpPr>
              <a:cxnSpLocks/>
            </p:cNvCxnSpPr>
            <p:nvPr/>
          </p:nvCxnSpPr>
          <p:spPr>
            <a:xfrm>
              <a:off x="4116278" y="2094914"/>
              <a:ext cx="4348662" cy="0"/>
            </a:xfrm>
            <a:prstGeom prst="line">
              <a:avLst/>
            </a:prstGeom>
            <a:noFill/>
            <a:ln w="9525" cap="flat" cmpd="sng" algn="ctr">
              <a:solidFill>
                <a:srgbClr val="FFE600"/>
              </a:solidFill>
              <a:prstDash val="solid"/>
              <a:tailEnd type="none"/>
            </a:ln>
            <a:effectLst/>
          </p:spPr>
        </p:cxnSp>
        <p:cxnSp>
          <p:nvCxnSpPr>
            <p:cNvPr id="65" name="Straight Connector 64">
              <a:extLst>
                <a:ext uri="{FF2B5EF4-FFF2-40B4-BE49-F238E27FC236}">
                  <a16:creationId xmlns:a16="http://schemas.microsoft.com/office/drawing/2014/main" id="{F491AE93-14FE-51C4-06B1-C4CC61143589}"/>
                </a:ext>
              </a:extLst>
            </p:cNvPr>
            <p:cNvCxnSpPr/>
            <p:nvPr/>
          </p:nvCxnSpPr>
          <p:spPr>
            <a:xfrm>
              <a:off x="8464940" y="2094914"/>
              <a:ext cx="0" cy="101909"/>
            </a:xfrm>
            <a:prstGeom prst="line">
              <a:avLst/>
            </a:prstGeom>
            <a:noFill/>
            <a:ln w="9525" cap="flat" cmpd="sng" algn="ctr">
              <a:solidFill>
                <a:srgbClr val="FFE600"/>
              </a:solidFill>
              <a:prstDash val="solid"/>
              <a:tailEnd type="none"/>
            </a:ln>
            <a:effectLst/>
          </p:spPr>
        </p:cxnSp>
        <p:cxnSp>
          <p:nvCxnSpPr>
            <p:cNvPr id="66" name="Straight Arrow Connector 65">
              <a:extLst>
                <a:ext uri="{FF2B5EF4-FFF2-40B4-BE49-F238E27FC236}">
                  <a16:creationId xmlns:a16="http://schemas.microsoft.com/office/drawing/2014/main" id="{79CA543B-7B8B-00AB-F61F-127C5FA83D05}"/>
                </a:ext>
              </a:extLst>
            </p:cNvPr>
            <p:cNvCxnSpPr>
              <a:cxnSpLocks/>
              <a:endCxn id="37" idx="3"/>
            </p:cNvCxnSpPr>
            <p:nvPr/>
          </p:nvCxnSpPr>
          <p:spPr>
            <a:xfrm>
              <a:off x="4015227" y="4947102"/>
              <a:ext cx="205213" cy="1"/>
            </a:xfrm>
            <a:prstGeom prst="straightConnector1">
              <a:avLst/>
            </a:prstGeom>
            <a:noFill/>
            <a:ln w="9525" cap="flat" cmpd="sng" algn="ctr">
              <a:solidFill>
                <a:srgbClr val="FFE600"/>
              </a:solidFill>
              <a:prstDash val="solid"/>
              <a:tailEnd type="triangle"/>
            </a:ln>
            <a:effectLst/>
          </p:spPr>
        </p:cxnSp>
        <p:cxnSp>
          <p:nvCxnSpPr>
            <p:cNvPr id="67" name="Connector: Elbow 66">
              <a:extLst>
                <a:ext uri="{FF2B5EF4-FFF2-40B4-BE49-F238E27FC236}">
                  <a16:creationId xmlns:a16="http://schemas.microsoft.com/office/drawing/2014/main" id="{80256630-167E-45F9-C4DA-2A9665DA08B4}"/>
                </a:ext>
              </a:extLst>
            </p:cNvPr>
            <p:cNvCxnSpPr>
              <a:cxnSpLocks/>
            </p:cNvCxnSpPr>
            <p:nvPr/>
          </p:nvCxnSpPr>
          <p:spPr>
            <a:xfrm>
              <a:off x="5337146" y="4948575"/>
              <a:ext cx="86771" cy="1061581"/>
            </a:xfrm>
            <a:prstGeom prst="bentConnector3">
              <a:avLst>
                <a:gd name="adj1" fmla="val 83363"/>
              </a:avLst>
            </a:prstGeom>
            <a:noFill/>
            <a:ln w="9525" cap="flat" cmpd="sng" algn="ctr">
              <a:solidFill>
                <a:srgbClr val="FFE600"/>
              </a:solidFill>
              <a:prstDash val="solid"/>
              <a:tailEnd type="triangle"/>
            </a:ln>
            <a:effectLst/>
          </p:spPr>
        </p:cxnSp>
        <p:cxnSp>
          <p:nvCxnSpPr>
            <p:cNvPr id="68" name="Connector: Elbow 67">
              <a:extLst>
                <a:ext uri="{FF2B5EF4-FFF2-40B4-BE49-F238E27FC236}">
                  <a16:creationId xmlns:a16="http://schemas.microsoft.com/office/drawing/2014/main" id="{C2750385-0F99-9747-B474-3E8066460485}"/>
                </a:ext>
              </a:extLst>
            </p:cNvPr>
            <p:cNvCxnSpPr>
              <a:stCxn id="37" idx="0"/>
              <a:endCxn id="39" idx="3"/>
            </p:cNvCxnSpPr>
            <p:nvPr/>
          </p:nvCxnSpPr>
          <p:spPr>
            <a:xfrm flipV="1">
              <a:off x="5376156" y="3287480"/>
              <a:ext cx="77121" cy="1659623"/>
            </a:xfrm>
            <a:prstGeom prst="bentConnector3">
              <a:avLst/>
            </a:prstGeom>
            <a:noFill/>
            <a:ln w="9525" cap="flat" cmpd="sng" algn="ctr">
              <a:solidFill>
                <a:srgbClr val="FFE600"/>
              </a:solidFill>
              <a:prstDash val="solid"/>
              <a:tailEnd type="triangle"/>
            </a:ln>
            <a:effectLst/>
          </p:spPr>
        </p:cxnSp>
        <p:cxnSp>
          <p:nvCxnSpPr>
            <p:cNvPr id="69" name="Straight Arrow Connector 68">
              <a:extLst>
                <a:ext uri="{FF2B5EF4-FFF2-40B4-BE49-F238E27FC236}">
                  <a16:creationId xmlns:a16="http://schemas.microsoft.com/office/drawing/2014/main" id="{5EE76F85-BC44-6C41-6CF5-E15956C06D5F}"/>
                </a:ext>
              </a:extLst>
            </p:cNvPr>
            <p:cNvCxnSpPr>
              <a:cxnSpLocks/>
            </p:cNvCxnSpPr>
            <p:nvPr/>
          </p:nvCxnSpPr>
          <p:spPr>
            <a:xfrm>
              <a:off x="6599344" y="3300108"/>
              <a:ext cx="229394" cy="0"/>
            </a:xfrm>
            <a:prstGeom prst="straightConnector1">
              <a:avLst/>
            </a:prstGeom>
            <a:noFill/>
            <a:ln w="9525" cap="flat" cmpd="sng" algn="ctr">
              <a:solidFill>
                <a:srgbClr val="FFE600"/>
              </a:solidFill>
              <a:prstDash val="solid"/>
              <a:tailEnd type="triangle"/>
            </a:ln>
            <a:effectLst/>
          </p:spPr>
        </p:cxnSp>
        <p:cxnSp>
          <p:nvCxnSpPr>
            <p:cNvPr id="70" name="Straight Arrow Connector 69">
              <a:extLst>
                <a:ext uri="{FF2B5EF4-FFF2-40B4-BE49-F238E27FC236}">
                  <a16:creationId xmlns:a16="http://schemas.microsoft.com/office/drawing/2014/main" id="{F8C580EC-1D73-0688-18E3-E3789E5AA709}"/>
                </a:ext>
              </a:extLst>
            </p:cNvPr>
            <p:cNvCxnSpPr>
              <a:cxnSpLocks/>
              <a:stCxn id="41" idx="0"/>
            </p:cNvCxnSpPr>
            <p:nvPr/>
          </p:nvCxnSpPr>
          <p:spPr>
            <a:xfrm>
              <a:off x="6599344" y="6010157"/>
              <a:ext cx="152195" cy="0"/>
            </a:xfrm>
            <a:prstGeom prst="straightConnector1">
              <a:avLst/>
            </a:prstGeom>
            <a:noFill/>
            <a:ln w="9525" cap="flat" cmpd="sng" algn="ctr">
              <a:solidFill>
                <a:srgbClr val="FFE600"/>
              </a:solidFill>
              <a:prstDash val="solid"/>
              <a:tailEnd type="triangle"/>
            </a:ln>
            <a:effectLst/>
          </p:spPr>
        </p:cxnSp>
        <p:cxnSp>
          <p:nvCxnSpPr>
            <p:cNvPr id="71" name="Straight Arrow Connector 70">
              <a:extLst>
                <a:ext uri="{FF2B5EF4-FFF2-40B4-BE49-F238E27FC236}">
                  <a16:creationId xmlns:a16="http://schemas.microsoft.com/office/drawing/2014/main" id="{F9DDBF6E-10EF-8539-F553-53FE1A6FCCDC}"/>
                </a:ext>
              </a:extLst>
            </p:cNvPr>
            <p:cNvCxnSpPr>
              <a:cxnSpLocks/>
              <a:endCxn id="52" idx="3"/>
            </p:cNvCxnSpPr>
            <p:nvPr/>
          </p:nvCxnSpPr>
          <p:spPr>
            <a:xfrm>
              <a:off x="7748337" y="5992573"/>
              <a:ext cx="154244" cy="0"/>
            </a:xfrm>
            <a:prstGeom prst="straightConnector1">
              <a:avLst/>
            </a:prstGeom>
            <a:noFill/>
            <a:ln w="9525" cap="flat" cmpd="sng" algn="ctr">
              <a:solidFill>
                <a:srgbClr val="FFE600"/>
              </a:solidFill>
              <a:prstDash val="solid"/>
              <a:tailEnd type="triangle"/>
            </a:ln>
            <a:effectLst/>
          </p:spPr>
        </p:cxnSp>
        <p:cxnSp>
          <p:nvCxnSpPr>
            <p:cNvPr id="72" name="Straight Connector 71">
              <a:extLst>
                <a:ext uri="{FF2B5EF4-FFF2-40B4-BE49-F238E27FC236}">
                  <a16:creationId xmlns:a16="http://schemas.microsoft.com/office/drawing/2014/main" id="{DC141013-6015-43DC-A696-0F11F5F4726F}"/>
                </a:ext>
              </a:extLst>
            </p:cNvPr>
            <p:cNvCxnSpPr>
              <a:cxnSpLocks/>
            </p:cNvCxnSpPr>
            <p:nvPr/>
          </p:nvCxnSpPr>
          <p:spPr>
            <a:xfrm flipH="1" flipV="1">
              <a:off x="7413986" y="1985818"/>
              <a:ext cx="1" cy="924609"/>
            </a:xfrm>
            <a:prstGeom prst="line">
              <a:avLst/>
            </a:prstGeom>
            <a:noFill/>
            <a:ln w="9525" cap="flat" cmpd="sng" algn="ctr">
              <a:solidFill>
                <a:srgbClr val="FFE600"/>
              </a:solidFill>
              <a:prstDash val="solid"/>
              <a:tailEnd type="none"/>
            </a:ln>
            <a:effectLst/>
          </p:spPr>
        </p:cxnSp>
        <p:cxnSp>
          <p:nvCxnSpPr>
            <p:cNvPr id="73" name="Connector: Elbow 72">
              <a:extLst>
                <a:ext uri="{FF2B5EF4-FFF2-40B4-BE49-F238E27FC236}">
                  <a16:creationId xmlns:a16="http://schemas.microsoft.com/office/drawing/2014/main" id="{52882290-9FFB-9597-9C63-B998285D6156}"/>
                </a:ext>
              </a:extLst>
            </p:cNvPr>
            <p:cNvCxnSpPr>
              <a:cxnSpLocks/>
              <a:endCxn id="50" idx="3"/>
            </p:cNvCxnSpPr>
            <p:nvPr/>
          </p:nvCxnSpPr>
          <p:spPr>
            <a:xfrm>
              <a:off x="7729037" y="3418064"/>
              <a:ext cx="173543" cy="637321"/>
            </a:xfrm>
            <a:prstGeom prst="bentConnector3">
              <a:avLst/>
            </a:prstGeom>
            <a:noFill/>
            <a:ln w="9525" cap="flat" cmpd="sng" algn="ctr">
              <a:solidFill>
                <a:srgbClr val="FFE600"/>
              </a:solidFill>
              <a:prstDash val="solid"/>
              <a:tailEnd type="triangle"/>
            </a:ln>
            <a:effectLst/>
          </p:spPr>
        </p:cxnSp>
        <p:cxnSp>
          <p:nvCxnSpPr>
            <p:cNvPr id="74" name="Connector: Elbow 73">
              <a:extLst>
                <a:ext uri="{FF2B5EF4-FFF2-40B4-BE49-F238E27FC236}">
                  <a16:creationId xmlns:a16="http://schemas.microsoft.com/office/drawing/2014/main" id="{F84F8F0F-5AE5-7910-E363-7B29A121DDF8}"/>
                </a:ext>
              </a:extLst>
            </p:cNvPr>
            <p:cNvCxnSpPr>
              <a:cxnSpLocks/>
              <a:endCxn id="46" idx="3"/>
            </p:cNvCxnSpPr>
            <p:nvPr/>
          </p:nvCxnSpPr>
          <p:spPr>
            <a:xfrm flipV="1">
              <a:off x="7729037" y="2532492"/>
              <a:ext cx="173543" cy="885572"/>
            </a:xfrm>
            <a:prstGeom prst="bentConnector3">
              <a:avLst/>
            </a:prstGeom>
            <a:noFill/>
            <a:ln w="9525" cap="flat" cmpd="sng" algn="ctr">
              <a:solidFill>
                <a:srgbClr val="FFE600"/>
              </a:solidFill>
              <a:prstDash val="solid"/>
              <a:tailEnd type="triangle"/>
            </a:ln>
            <a:effectLst/>
          </p:spPr>
        </p:cxnSp>
        <p:cxnSp>
          <p:nvCxnSpPr>
            <p:cNvPr id="75" name="Straight Arrow Connector 74">
              <a:extLst>
                <a:ext uri="{FF2B5EF4-FFF2-40B4-BE49-F238E27FC236}">
                  <a16:creationId xmlns:a16="http://schemas.microsoft.com/office/drawing/2014/main" id="{DD275473-798C-7981-A2BD-578E18AA466A}"/>
                </a:ext>
              </a:extLst>
            </p:cNvPr>
            <p:cNvCxnSpPr>
              <a:endCxn id="48" idx="3"/>
            </p:cNvCxnSpPr>
            <p:nvPr/>
          </p:nvCxnSpPr>
          <p:spPr>
            <a:xfrm>
              <a:off x="7815808" y="3300108"/>
              <a:ext cx="86771" cy="2732"/>
            </a:xfrm>
            <a:prstGeom prst="straightConnector1">
              <a:avLst/>
            </a:prstGeom>
            <a:noFill/>
            <a:ln w="9525" cap="flat" cmpd="sng" algn="ctr">
              <a:solidFill>
                <a:srgbClr val="FFE600"/>
              </a:solidFill>
              <a:prstDash val="solid"/>
              <a:tailEnd type="triangle"/>
            </a:ln>
            <a:effectLst/>
          </p:spPr>
        </p:cxnSp>
        <p:sp>
          <p:nvSpPr>
            <p:cNvPr id="76" name="Flowchart: Magnetic Disk 75">
              <a:extLst>
                <a:ext uri="{FF2B5EF4-FFF2-40B4-BE49-F238E27FC236}">
                  <a16:creationId xmlns:a16="http://schemas.microsoft.com/office/drawing/2014/main" id="{8AA73B8D-1F1C-AED6-E766-BD978F246096}"/>
                </a:ext>
              </a:extLst>
            </p:cNvPr>
            <p:cNvSpPr/>
            <p:nvPr/>
          </p:nvSpPr>
          <p:spPr>
            <a:xfrm>
              <a:off x="6751538" y="2910427"/>
              <a:ext cx="996798" cy="784823"/>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endParaRPr>
            </a:p>
          </p:txBody>
        </p:sp>
        <p:sp>
          <p:nvSpPr>
            <p:cNvPr id="77" name="TextBox 76">
              <a:extLst>
                <a:ext uri="{FF2B5EF4-FFF2-40B4-BE49-F238E27FC236}">
                  <a16:creationId xmlns:a16="http://schemas.microsoft.com/office/drawing/2014/main" id="{8ECFCB3F-9BBD-6F7A-2664-4C782B80BE8A}"/>
                </a:ext>
              </a:extLst>
            </p:cNvPr>
            <p:cNvSpPr txBox="1"/>
            <p:nvPr/>
          </p:nvSpPr>
          <p:spPr>
            <a:xfrm>
              <a:off x="6751538" y="3214997"/>
              <a:ext cx="996799" cy="299697"/>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rPr>
                <a:t>ICH  Transaction Interim</a:t>
              </a:r>
            </a:p>
          </p:txBody>
        </p:sp>
        <p:cxnSp>
          <p:nvCxnSpPr>
            <p:cNvPr id="78" name="Straight Arrow Connector 77">
              <a:extLst>
                <a:ext uri="{FF2B5EF4-FFF2-40B4-BE49-F238E27FC236}">
                  <a16:creationId xmlns:a16="http://schemas.microsoft.com/office/drawing/2014/main" id="{18813A70-9C61-80C5-56F7-978FBA54D4DE}"/>
                </a:ext>
              </a:extLst>
            </p:cNvPr>
            <p:cNvCxnSpPr>
              <a:stCxn id="48" idx="0"/>
              <a:endCxn id="54" idx="2"/>
            </p:cNvCxnSpPr>
            <p:nvPr/>
          </p:nvCxnSpPr>
          <p:spPr>
            <a:xfrm>
              <a:off x="9058296" y="3302840"/>
              <a:ext cx="136045" cy="0"/>
            </a:xfrm>
            <a:prstGeom prst="straightConnector1">
              <a:avLst/>
            </a:prstGeom>
            <a:noFill/>
            <a:ln w="9525" cap="flat" cmpd="sng" algn="ctr">
              <a:solidFill>
                <a:srgbClr val="FFE600"/>
              </a:solidFill>
              <a:prstDash val="solid"/>
              <a:tailEnd type="triangle"/>
            </a:ln>
            <a:effectLst/>
          </p:spPr>
        </p:cxnSp>
        <p:cxnSp>
          <p:nvCxnSpPr>
            <p:cNvPr id="79" name="Connector: Elbow 78">
              <a:extLst>
                <a:ext uri="{FF2B5EF4-FFF2-40B4-BE49-F238E27FC236}">
                  <a16:creationId xmlns:a16="http://schemas.microsoft.com/office/drawing/2014/main" id="{48D5E5F7-DF3C-DBA4-8503-3C6F2A60F36B}"/>
                </a:ext>
              </a:extLst>
            </p:cNvPr>
            <p:cNvCxnSpPr>
              <a:stCxn id="52" idx="0"/>
              <a:endCxn id="54" idx="3"/>
            </p:cNvCxnSpPr>
            <p:nvPr/>
          </p:nvCxnSpPr>
          <p:spPr>
            <a:xfrm flipV="1">
              <a:off x="9058296" y="3736634"/>
              <a:ext cx="634444" cy="2262514"/>
            </a:xfrm>
            <a:prstGeom prst="bentConnector2">
              <a:avLst/>
            </a:prstGeom>
            <a:noFill/>
            <a:ln w="9525" cap="flat" cmpd="sng" algn="ctr">
              <a:solidFill>
                <a:srgbClr val="FFE600"/>
              </a:solidFill>
              <a:prstDash val="solid"/>
              <a:tailEnd type="triangle"/>
            </a:ln>
            <a:effectLst/>
          </p:spPr>
        </p:cxnSp>
        <p:cxnSp>
          <p:nvCxnSpPr>
            <p:cNvPr id="80" name="Connector: Elbow 79">
              <a:extLst>
                <a:ext uri="{FF2B5EF4-FFF2-40B4-BE49-F238E27FC236}">
                  <a16:creationId xmlns:a16="http://schemas.microsoft.com/office/drawing/2014/main" id="{664F3E9D-7758-9E18-AA27-700E2F47AEC2}"/>
                </a:ext>
              </a:extLst>
            </p:cNvPr>
            <p:cNvCxnSpPr>
              <a:stCxn id="54" idx="1"/>
              <a:endCxn id="5" idx="1"/>
            </p:cNvCxnSpPr>
            <p:nvPr/>
          </p:nvCxnSpPr>
          <p:spPr>
            <a:xfrm rot="16200000" flipV="1">
              <a:off x="5213888" y="-1527041"/>
              <a:ext cx="341367" cy="8616339"/>
            </a:xfrm>
            <a:prstGeom prst="bentConnector3">
              <a:avLst>
                <a:gd name="adj1" fmla="val 305363"/>
              </a:avLst>
            </a:prstGeom>
            <a:noFill/>
            <a:ln w="9525" cap="flat" cmpd="sng" algn="ctr">
              <a:solidFill>
                <a:srgbClr val="FFE600"/>
              </a:solidFill>
              <a:prstDash val="solid"/>
              <a:tailEnd type="triangle"/>
            </a:ln>
            <a:effectLst/>
          </p:spPr>
        </p:cxnSp>
      </p:grpSp>
    </p:spTree>
    <p:extLst>
      <p:ext uri="{BB962C8B-B14F-4D97-AF65-F5344CB8AC3E}">
        <p14:creationId xmlns:p14="http://schemas.microsoft.com/office/powerpoint/2010/main" val="319261459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58BF64-E179-8AE6-958F-7144D0421E8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98AB6DB-1653-707B-07DA-1108F9DEAAFF}"/>
              </a:ext>
            </a:extLst>
          </p:cNvPr>
          <p:cNvSpPr txBox="1">
            <a:spLocks noGrp="1"/>
          </p:cNvSpPr>
          <p:nvPr>
            <p:ph type="title"/>
          </p:nvPr>
        </p:nvSpPr>
        <p:spPr>
          <a:xfrm>
            <a:off x="611088" y="419389"/>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Intercompany Balancing Data Flow</a:t>
            </a:r>
            <a:endParaRPr lang="en-US" sz="2400" b="1">
              <a:solidFill>
                <a:srgbClr val="FFE600"/>
              </a:solidFill>
              <a:latin typeface="EY interstate heading"/>
              <a:ea typeface="+mn-ea"/>
              <a:cs typeface="+mn-cs"/>
            </a:endParaRPr>
          </a:p>
        </p:txBody>
      </p:sp>
      <p:graphicFrame>
        <p:nvGraphicFramePr>
          <p:cNvPr id="7" name="Table 24">
            <a:extLst>
              <a:ext uri="{FF2B5EF4-FFF2-40B4-BE49-F238E27FC236}">
                <a16:creationId xmlns:a16="http://schemas.microsoft.com/office/drawing/2014/main" id="{0D29352D-1A01-4059-80CC-294BB50E0FBA}"/>
              </a:ext>
            </a:extLst>
          </p:cNvPr>
          <p:cNvGraphicFramePr>
            <a:graphicFrameLocks noGrp="1"/>
          </p:cNvGraphicFramePr>
          <p:nvPr>
            <p:extLst>
              <p:ext uri="{D42A27DB-BD31-4B8C-83A1-F6EECF244321}">
                <p14:modId xmlns:p14="http://schemas.microsoft.com/office/powerpoint/2010/main" val="2358241002"/>
              </p:ext>
            </p:extLst>
          </p:nvPr>
        </p:nvGraphicFramePr>
        <p:xfrm>
          <a:off x="1078945" y="2313626"/>
          <a:ext cx="9791240" cy="370840"/>
        </p:xfrm>
        <a:graphic>
          <a:graphicData uri="http://schemas.openxmlformats.org/drawingml/2006/table">
            <a:tbl>
              <a:tblPr firstRow="1" bandRow="1"/>
              <a:tblGrid>
                <a:gridCol w="2447810">
                  <a:extLst>
                    <a:ext uri="{9D8B030D-6E8A-4147-A177-3AD203B41FA5}">
                      <a16:colId xmlns:a16="http://schemas.microsoft.com/office/drawing/2014/main" val="4008285795"/>
                    </a:ext>
                  </a:extLst>
                </a:gridCol>
                <a:gridCol w="2570202">
                  <a:extLst>
                    <a:ext uri="{9D8B030D-6E8A-4147-A177-3AD203B41FA5}">
                      <a16:colId xmlns:a16="http://schemas.microsoft.com/office/drawing/2014/main" val="3517257811"/>
                    </a:ext>
                  </a:extLst>
                </a:gridCol>
                <a:gridCol w="2752077">
                  <a:extLst>
                    <a:ext uri="{9D8B030D-6E8A-4147-A177-3AD203B41FA5}">
                      <a16:colId xmlns:a16="http://schemas.microsoft.com/office/drawing/2014/main" val="2482677735"/>
                    </a:ext>
                  </a:extLst>
                </a:gridCol>
                <a:gridCol w="2021151">
                  <a:extLst>
                    <a:ext uri="{9D8B030D-6E8A-4147-A177-3AD203B41FA5}">
                      <a16:colId xmlns:a16="http://schemas.microsoft.com/office/drawing/2014/main" val="2742387515"/>
                    </a:ext>
                  </a:extLst>
                </a:gridCol>
              </a:tblGrid>
              <a:tr h="370840">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ERP(S)</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Import Definition (BL)</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Balancing Stage Table (BL)</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Balancing tables (BL)</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3267643578"/>
                  </a:ext>
                </a:extLst>
              </a:tr>
            </a:tbl>
          </a:graphicData>
        </a:graphic>
      </p:graphicFrame>
      <p:sp>
        <p:nvSpPr>
          <p:cNvPr id="10" name="Flowchart: Magnetic Disk 9">
            <a:extLst>
              <a:ext uri="{FF2B5EF4-FFF2-40B4-BE49-F238E27FC236}">
                <a16:creationId xmlns:a16="http://schemas.microsoft.com/office/drawing/2014/main" id="{102F2D23-2E8C-4B6B-BDC0-910038D1C8F3}"/>
              </a:ext>
            </a:extLst>
          </p:cNvPr>
          <p:cNvSpPr/>
          <p:nvPr/>
        </p:nvSpPr>
        <p:spPr>
          <a:xfrm>
            <a:off x="1201150" y="2798552"/>
            <a:ext cx="1634595" cy="625725"/>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12" name="Hexagon 11">
            <a:extLst>
              <a:ext uri="{FF2B5EF4-FFF2-40B4-BE49-F238E27FC236}">
                <a16:creationId xmlns:a16="http://schemas.microsoft.com/office/drawing/2014/main" id="{1985F57C-7496-4249-B47A-2F6CC2A74064}"/>
              </a:ext>
            </a:extLst>
          </p:cNvPr>
          <p:cNvSpPr/>
          <p:nvPr/>
        </p:nvSpPr>
        <p:spPr>
          <a:xfrm>
            <a:off x="4112841" y="2798552"/>
            <a:ext cx="1491955" cy="628210"/>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13" name="TextBox 12">
            <a:extLst>
              <a:ext uri="{FF2B5EF4-FFF2-40B4-BE49-F238E27FC236}">
                <a16:creationId xmlns:a16="http://schemas.microsoft.com/office/drawing/2014/main" id="{8D833BA3-8CEC-4759-9FAA-AF21DE2D36A6}"/>
              </a:ext>
            </a:extLst>
          </p:cNvPr>
          <p:cNvSpPr txBox="1"/>
          <p:nvPr/>
        </p:nvSpPr>
        <p:spPr>
          <a:xfrm>
            <a:off x="1201150" y="3011850"/>
            <a:ext cx="1634595" cy="38856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 Transactions (AR/AP)</a:t>
            </a:r>
          </a:p>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Non SAP</a:t>
            </a:r>
          </a:p>
        </p:txBody>
      </p:sp>
      <p:sp>
        <p:nvSpPr>
          <p:cNvPr id="15" name="TextBox 14">
            <a:extLst>
              <a:ext uri="{FF2B5EF4-FFF2-40B4-BE49-F238E27FC236}">
                <a16:creationId xmlns:a16="http://schemas.microsoft.com/office/drawing/2014/main" id="{35007633-97E4-4C00-A590-0077DAFF719C}"/>
              </a:ext>
            </a:extLst>
          </p:cNvPr>
          <p:cNvSpPr txBox="1"/>
          <p:nvPr/>
        </p:nvSpPr>
        <p:spPr>
          <a:xfrm>
            <a:off x="4297208" y="2967460"/>
            <a:ext cx="1185099"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Import Definition Standard</a:t>
            </a:r>
          </a:p>
        </p:txBody>
      </p:sp>
      <p:sp>
        <p:nvSpPr>
          <p:cNvPr id="17" name="Flowchart: Magnetic Disk 16">
            <a:extLst>
              <a:ext uri="{FF2B5EF4-FFF2-40B4-BE49-F238E27FC236}">
                <a16:creationId xmlns:a16="http://schemas.microsoft.com/office/drawing/2014/main" id="{062EF983-551E-49B1-A762-9E963131F8D8}"/>
              </a:ext>
            </a:extLst>
          </p:cNvPr>
          <p:cNvSpPr/>
          <p:nvPr/>
        </p:nvSpPr>
        <p:spPr>
          <a:xfrm>
            <a:off x="1193939" y="3589408"/>
            <a:ext cx="1606276" cy="664264"/>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19" name="TextBox 18">
            <a:extLst>
              <a:ext uri="{FF2B5EF4-FFF2-40B4-BE49-F238E27FC236}">
                <a16:creationId xmlns:a16="http://schemas.microsoft.com/office/drawing/2014/main" id="{8D974FED-A9EF-462B-9BCB-36EA7B321AAD}"/>
              </a:ext>
            </a:extLst>
          </p:cNvPr>
          <p:cNvSpPr txBox="1"/>
          <p:nvPr/>
        </p:nvSpPr>
        <p:spPr>
          <a:xfrm>
            <a:off x="1193939" y="3853022"/>
            <a:ext cx="1622460" cy="168892"/>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 Transactions (AR/AP) SAP</a:t>
            </a:r>
          </a:p>
        </p:txBody>
      </p:sp>
      <p:sp>
        <p:nvSpPr>
          <p:cNvPr id="20" name="Flowchart: Magnetic Disk 19">
            <a:extLst>
              <a:ext uri="{FF2B5EF4-FFF2-40B4-BE49-F238E27FC236}">
                <a16:creationId xmlns:a16="http://schemas.microsoft.com/office/drawing/2014/main" id="{35387853-E9B8-4F76-8C83-55254F356DF5}"/>
              </a:ext>
            </a:extLst>
          </p:cNvPr>
          <p:cNvSpPr/>
          <p:nvPr/>
        </p:nvSpPr>
        <p:spPr>
          <a:xfrm>
            <a:off x="7730926" y="2814012"/>
            <a:ext cx="1022142" cy="664264"/>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21" name="Flowchart: Magnetic Disk 20">
            <a:extLst>
              <a:ext uri="{FF2B5EF4-FFF2-40B4-BE49-F238E27FC236}">
                <a16:creationId xmlns:a16="http://schemas.microsoft.com/office/drawing/2014/main" id="{EF33DA30-4A25-496F-8F23-14B9BC221EE2}"/>
              </a:ext>
            </a:extLst>
          </p:cNvPr>
          <p:cNvSpPr/>
          <p:nvPr/>
        </p:nvSpPr>
        <p:spPr>
          <a:xfrm>
            <a:off x="6455763" y="3658699"/>
            <a:ext cx="1022142" cy="664264"/>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22" name="TextBox 21">
            <a:extLst>
              <a:ext uri="{FF2B5EF4-FFF2-40B4-BE49-F238E27FC236}">
                <a16:creationId xmlns:a16="http://schemas.microsoft.com/office/drawing/2014/main" id="{2ECF9A5A-F57C-411D-8135-9EB5F438542D}"/>
              </a:ext>
            </a:extLst>
          </p:cNvPr>
          <p:cNvSpPr txBox="1"/>
          <p:nvPr/>
        </p:nvSpPr>
        <p:spPr>
          <a:xfrm>
            <a:off x="7753008" y="3088714"/>
            <a:ext cx="1000060"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Stage (IR/IP)</a:t>
            </a:r>
          </a:p>
        </p:txBody>
      </p:sp>
      <p:sp>
        <p:nvSpPr>
          <p:cNvPr id="23" name="TextBox 22">
            <a:extLst>
              <a:ext uri="{FF2B5EF4-FFF2-40B4-BE49-F238E27FC236}">
                <a16:creationId xmlns:a16="http://schemas.microsoft.com/office/drawing/2014/main" id="{A2AC630B-0D9E-43B3-9A03-03CD550AF875}"/>
              </a:ext>
            </a:extLst>
          </p:cNvPr>
          <p:cNvSpPr txBox="1"/>
          <p:nvPr/>
        </p:nvSpPr>
        <p:spPr>
          <a:xfrm>
            <a:off x="6455763" y="3878412"/>
            <a:ext cx="1022142"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Stage SAP (IR/IP)</a:t>
            </a:r>
          </a:p>
        </p:txBody>
      </p:sp>
      <p:sp>
        <p:nvSpPr>
          <p:cNvPr id="24" name="Hexagon 23">
            <a:extLst>
              <a:ext uri="{FF2B5EF4-FFF2-40B4-BE49-F238E27FC236}">
                <a16:creationId xmlns:a16="http://schemas.microsoft.com/office/drawing/2014/main" id="{B3FBF96F-81B6-402A-A586-81021D4EBA5E}"/>
              </a:ext>
            </a:extLst>
          </p:cNvPr>
          <p:cNvSpPr/>
          <p:nvPr/>
        </p:nvSpPr>
        <p:spPr>
          <a:xfrm>
            <a:off x="4109970" y="3688090"/>
            <a:ext cx="1491955" cy="568211"/>
          </a:xfrm>
          <a:prstGeom prst="hexagon">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25" name="TextBox 24">
            <a:extLst>
              <a:ext uri="{FF2B5EF4-FFF2-40B4-BE49-F238E27FC236}">
                <a16:creationId xmlns:a16="http://schemas.microsoft.com/office/drawing/2014/main" id="{F1CDBD02-AA1C-40FB-8511-F8CF3AD2DF70}"/>
              </a:ext>
            </a:extLst>
          </p:cNvPr>
          <p:cNvSpPr txBox="1"/>
          <p:nvPr/>
        </p:nvSpPr>
        <p:spPr>
          <a:xfrm>
            <a:off x="4268733" y="3829207"/>
            <a:ext cx="1185099" cy="168892"/>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Import Definition SAP</a:t>
            </a:r>
          </a:p>
        </p:txBody>
      </p:sp>
      <p:cxnSp>
        <p:nvCxnSpPr>
          <p:cNvPr id="26" name="Straight Arrow Connector 25">
            <a:extLst>
              <a:ext uri="{FF2B5EF4-FFF2-40B4-BE49-F238E27FC236}">
                <a16:creationId xmlns:a16="http://schemas.microsoft.com/office/drawing/2014/main" id="{59112E1F-3E48-4E37-9E15-B2A86C025C64}"/>
              </a:ext>
            </a:extLst>
          </p:cNvPr>
          <p:cNvCxnSpPr>
            <a:cxnSpLocks/>
            <a:stCxn id="10" idx="4"/>
            <a:endCxn id="12" idx="3"/>
          </p:cNvCxnSpPr>
          <p:nvPr/>
        </p:nvCxnSpPr>
        <p:spPr>
          <a:xfrm>
            <a:off x="2835745" y="3111415"/>
            <a:ext cx="1277096" cy="1242"/>
          </a:xfrm>
          <a:prstGeom prst="straightConnector1">
            <a:avLst/>
          </a:prstGeom>
          <a:noFill/>
          <a:ln w="9525" cap="flat" cmpd="sng" algn="ctr">
            <a:solidFill>
              <a:srgbClr val="FFE600"/>
            </a:solidFill>
            <a:prstDash val="solid"/>
            <a:tailEnd type="triangle"/>
          </a:ln>
          <a:effectLst/>
        </p:spPr>
      </p:cxnSp>
      <p:cxnSp>
        <p:nvCxnSpPr>
          <p:cNvPr id="27" name="Straight Arrow Connector 26">
            <a:extLst>
              <a:ext uri="{FF2B5EF4-FFF2-40B4-BE49-F238E27FC236}">
                <a16:creationId xmlns:a16="http://schemas.microsoft.com/office/drawing/2014/main" id="{44B2630C-A72A-4EE0-B56F-6B12FF8C3671}"/>
              </a:ext>
            </a:extLst>
          </p:cNvPr>
          <p:cNvCxnSpPr>
            <a:cxnSpLocks/>
            <a:stCxn id="19" idx="3"/>
            <a:endCxn id="24" idx="3"/>
          </p:cNvCxnSpPr>
          <p:nvPr/>
        </p:nvCxnSpPr>
        <p:spPr>
          <a:xfrm>
            <a:off x="2816399" y="3937468"/>
            <a:ext cx="1293571" cy="34728"/>
          </a:xfrm>
          <a:prstGeom prst="straightConnector1">
            <a:avLst/>
          </a:prstGeom>
          <a:noFill/>
          <a:ln w="9525" cap="flat" cmpd="sng" algn="ctr">
            <a:solidFill>
              <a:srgbClr val="FFE600"/>
            </a:solidFill>
            <a:prstDash val="solid"/>
            <a:tailEnd type="triangle"/>
          </a:ln>
          <a:effectLst/>
        </p:spPr>
      </p:cxnSp>
      <p:sp>
        <p:nvSpPr>
          <p:cNvPr id="28" name="Flowchart: Magnetic Disk 27">
            <a:extLst>
              <a:ext uri="{FF2B5EF4-FFF2-40B4-BE49-F238E27FC236}">
                <a16:creationId xmlns:a16="http://schemas.microsoft.com/office/drawing/2014/main" id="{5667C168-91BB-47D5-961C-0C88B80F1E15}"/>
              </a:ext>
            </a:extLst>
          </p:cNvPr>
          <p:cNvSpPr/>
          <p:nvPr/>
        </p:nvSpPr>
        <p:spPr>
          <a:xfrm>
            <a:off x="9733048" y="2843403"/>
            <a:ext cx="1022142" cy="664264"/>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29" name="TextBox 28">
            <a:extLst>
              <a:ext uri="{FF2B5EF4-FFF2-40B4-BE49-F238E27FC236}">
                <a16:creationId xmlns:a16="http://schemas.microsoft.com/office/drawing/2014/main" id="{2F218E8E-1414-42CE-A6A5-F7466E8E3C46}"/>
              </a:ext>
            </a:extLst>
          </p:cNvPr>
          <p:cNvSpPr txBox="1"/>
          <p:nvPr/>
        </p:nvSpPr>
        <p:spPr>
          <a:xfrm>
            <a:off x="9755130" y="3126982"/>
            <a:ext cx="1000060"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(IR/IP)</a:t>
            </a:r>
          </a:p>
        </p:txBody>
      </p:sp>
      <p:sp>
        <p:nvSpPr>
          <p:cNvPr id="30" name="Flowchart: Magnetic Disk 29">
            <a:extLst>
              <a:ext uri="{FF2B5EF4-FFF2-40B4-BE49-F238E27FC236}">
                <a16:creationId xmlns:a16="http://schemas.microsoft.com/office/drawing/2014/main" id="{67FF6DB9-D9B9-41FD-A810-B8999ECB5866}"/>
              </a:ext>
            </a:extLst>
          </p:cNvPr>
          <p:cNvSpPr/>
          <p:nvPr/>
        </p:nvSpPr>
        <p:spPr>
          <a:xfrm>
            <a:off x="9585859" y="4086348"/>
            <a:ext cx="1157526" cy="664264"/>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31" name="TextBox 30">
            <a:extLst>
              <a:ext uri="{FF2B5EF4-FFF2-40B4-BE49-F238E27FC236}">
                <a16:creationId xmlns:a16="http://schemas.microsoft.com/office/drawing/2014/main" id="{0E59BEF9-34C6-4C10-B7D9-025CE8AD260B}"/>
              </a:ext>
            </a:extLst>
          </p:cNvPr>
          <p:cNvSpPr txBox="1"/>
          <p:nvPr/>
        </p:nvSpPr>
        <p:spPr>
          <a:xfrm>
            <a:off x="9610866" y="4298446"/>
            <a:ext cx="1132519" cy="42934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Error Log</a:t>
            </a:r>
          </a:p>
          <a:p>
            <a:pPr marL="0" marR="0" lvl="0" indent="0" algn="ctr" defTabSz="914400" eaLnBrk="1" fontAlgn="auto" latinLnBrk="0" hangingPunct="1">
              <a:lnSpc>
                <a:spcPct val="85000"/>
              </a:lnSpc>
              <a:spcBef>
                <a:spcPts val="0"/>
              </a:spcBef>
              <a:spcAft>
                <a:spcPts val="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(IR/IP)</a:t>
            </a:r>
          </a:p>
        </p:txBody>
      </p:sp>
      <p:cxnSp>
        <p:nvCxnSpPr>
          <p:cNvPr id="32" name="Straight Arrow Connector 31">
            <a:extLst>
              <a:ext uri="{FF2B5EF4-FFF2-40B4-BE49-F238E27FC236}">
                <a16:creationId xmlns:a16="http://schemas.microsoft.com/office/drawing/2014/main" id="{5532C285-0E37-4E6D-A21C-A370025344F5}"/>
              </a:ext>
            </a:extLst>
          </p:cNvPr>
          <p:cNvCxnSpPr>
            <a:cxnSpLocks/>
            <a:stCxn id="12" idx="0"/>
            <a:endCxn id="20" idx="2"/>
          </p:cNvCxnSpPr>
          <p:nvPr/>
        </p:nvCxnSpPr>
        <p:spPr>
          <a:xfrm>
            <a:off x="5604796" y="3112657"/>
            <a:ext cx="2126130" cy="0"/>
          </a:xfrm>
          <a:prstGeom prst="straightConnector1">
            <a:avLst/>
          </a:prstGeom>
          <a:noFill/>
          <a:ln w="9525" cap="flat" cmpd="sng" algn="ctr">
            <a:solidFill>
              <a:srgbClr val="FFE600"/>
            </a:solidFill>
            <a:prstDash val="solid"/>
            <a:tailEnd type="triangle"/>
          </a:ln>
          <a:effectLst/>
        </p:spPr>
      </p:cxnSp>
      <p:cxnSp>
        <p:nvCxnSpPr>
          <p:cNvPr id="33" name="Straight Arrow Connector 32">
            <a:extLst>
              <a:ext uri="{FF2B5EF4-FFF2-40B4-BE49-F238E27FC236}">
                <a16:creationId xmlns:a16="http://schemas.microsoft.com/office/drawing/2014/main" id="{0447E022-C706-4BEB-804A-4A37CE99E439}"/>
              </a:ext>
            </a:extLst>
          </p:cNvPr>
          <p:cNvCxnSpPr>
            <a:cxnSpLocks/>
          </p:cNvCxnSpPr>
          <p:nvPr/>
        </p:nvCxnSpPr>
        <p:spPr>
          <a:xfrm>
            <a:off x="5601925" y="3972195"/>
            <a:ext cx="853838" cy="0"/>
          </a:xfrm>
          <a:prstGeom prst="straightConnector1">
            <a:avLst/>
          </a:prstGeom>
          <a:noFill/>
          <a:ln w="9525" cap="flat" cmpd="sng" algn="ctr">
            <a:solidFill>
              <a:srgbClr val="FFE600"/>
            </a:solidFill>
            <a:prstDash val="solid"/>
            <a:tailEnd type="triangle"/>
          </a:ln>
          <a:effectLst/>
        </p:spPr>
      </p:cxnSp>
      <p:cxnSp>
        <p:nvCxnSpPr>
          <p:cNvPr id="34" name="Straight Arrow Connector 33">
            <a:extLst>
              <a:ext uri="{FF2B5EF4-FFF2-40B4-BE49-F238E27FC236}">
                <a16:creationId xmlns:a16="http://schemas.microsoft.com/office/drawing/2014/main" id="{88B0529A-2DF1-4D40-8043-16B584D7FA86}"/>
              </a:ext>
            </a:extLst>
          </p:cNvPr>
          <p:cNvCxnSpPr>
            <a:cxnSpLocks/>
            <a:stCxn id="20" idx="4"/>
          </p:cNvCxnSpPr>
          <p:nvPr/>
        </p:nvCxnSpPr>
        <p:spPr>
          <a:xfrm flipV="1">
            <a:off x="8753068" y="3143727"/>
            <a:ext cx="968175" cy="2417"/>
          </a:xfrm>
          <a:prstGeom prst="straightConnector1">
            <a:avLst/>
          </a:prstGeom>
          <a:noFill/>
          <a:ln w="9525" cap="flat" cmpd="sng" algn="ctr">
            <a:solidFill>
              <a:srgbClr val="FFE600"/>
            </a:solidFill>
            <a:prstDash val="solid"/>
            <a:tailEnd type="triangle"/>
          </a:ln>
          <a:effectLst/>
        </p:spPr>
      </p:cxnSp>
      <p:cxnSp>
        <p:nvCxnSpPr>
          <p:cNvPr id="81" name="Connector: Elbow 80">
            <a:extLst>
              <a:ext uri="{FF2B5EF4-FFF2-40B4-BE49-F238E27FC236}">
                <a16:creationId xmlns:a16="http://schemas.microsoft.com/office/drawing/2014/main" id="{F33194FF-5F20-47D0-AF84-7F89F03A7A1A}"/>
              </a:ext>
            </a:extLst>
          </p:cNvPr>
          <p:cNvCxnSpPr>
            <a:cxnSpLocks/>
            <a:stCxn id="20" idx="3"/>
          </p:cNvCxnSpPr>
          <p:nvPr/>
        </p:nvCxnSpPr>
        <p:spPr>
          <a:xfrm rot="16200000" flipH="1">
            <a:off x="8401572" y="3318701"/>
            <a:ext cx="1024712" cy="1343862"/>
          </a:xfrm>
          <a:prstGeom prst="bentConnector2">
            <a:avLst/>
          </a:prstGeom>
          <a:noFill/>
          <a:ln w="9525" cap="flat" cmpd="sng" algn="ctr">
            <a:solidFill>
              <a:srgbClr val="FFE600"/>
            </a:solidFill>
            <a:prstDash val="solid"/>
            <a:tailEnd type="triangle"/>
          </a:ln>
          <a:effectLst/>
        </p:spPr>
      </p:cxnSp>
      <p:cxnSp>
        <p:nvCxnSpPr>
          <p:cNvPr id="82" name="Straight Connector 81">
            <a:extLst>
              <a:ext uri="{FF2B5EF4-FFF2-40B4-BE49-F238E27FC236}">
                <a16:creationId xmlns:a16="http://schemas.microsoft.com/office/drawing/2014/main" id="{63B6208D-67F7-4E61-A9F3-CD1A8CA63AFD}"/>
              </a:ext>
            </a:extLst>
          </p:cNvPr>
          <p:cNvCxnSpPr>
            <a:cxnSpLocks/>
          </p:cNvCxnSpPr>
          <p:nvPr/>
        </p:nvCxnSpPr>
        <p:spPr>
          <a:xfrm>
            <a:off x="6966833" y="3107388"/>
            <a:ext cx="1" cy="561107"/>
          </a:xfrm>
          <a:prstGeom prst="line">
            <a:avLst/>
          </a:prstGeom>
          <a:noFill/>
          <a:ln w="9525" cap="flat" cmpd="sng" algn="ctr">
            <a:solidFill>
              <a:srgbClr val="FFE600"/>
            </a:solidFill>
            <a:prstDash val="solid"/>
            <a:tailEnd type="none"/>
          </a:ln>
          <a:effectLst/>
        </p:spPr>
      </p:cxnSp>
    </p:spTree>
    <p:extLst>
      <p:ext uri="{BB962C8B-B14F-4D97-AF65-F5344CB8AC3E}">
        <p14:creationId xmlns:p14="http://schemas.microsoft.com/office/powerpoint/2010/main" val="42837309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8ADCCD-85DA-F607-123C-C9D4E34410D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AEB03F8-1425-02FB-2812-35542CC436DA}"/>
              </a:ext>
            </a:extLst>
          </p:cNvPr>
          <p:cNvSpPr txBox="1">
            <a:spLocks noGrp="1"/>
          </p:cNvSpPr>
          <p:nvPr>
            <p:ph type="title"/>
          </p:nvPr>
        </p:nvSpPr>
        <p:spPr>
          <a:xfrm>
            <a:off x="572359" y="428459"/>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ICH Balancing Automated Intercompany Transactions (AIT)</a:t>
            </a:r>
            <a:endParaRPr lang="en-US" sz="2400" b="1">
              <a:solidFill>
                <a:srgbClr val="FFE600"/>
              </a:solidFill>
              <a:latin typeface="EY interstate heading"/>
              <a:ea typeface="+mn-ea"/>
              <a:cs typeface="+mn-cs"/>
            </a:endParaRPr>
          </a:p>
        </p:txBody>
      </p:sp>
      <p:sp>
        <p:nvSpPr>
          <p:cNvPr id="3" name="Rectangle 2">
            <a:extLst>
              <a:ext uri="{FF2B5EF4-FFF2-40B4-BE49-F238E27FC236}">
                <a16:creationId xmlns:a16="http://schemas.microsoft.com/office/drawing/2014/main" id="{28CA2B1C-101E-FCFE-EEFC-02EE8521BDC6}"/>
              </a:ext>
            </a:extLst>
          </p:cNvPr>
          <p:cNvSpPr>
            <a:spLocks/>
          </p:cNvSpPr>
          <p:nvPr/>
        </p:nvSpPr>
        <p:spPr bwMode="gray">
          <a:xfrm>
            <a:off x="1314523" y="1056884"/>
            <a:ext cx="9072973" cy="556279"/>
          </a:xfrm>
          <a:prstGeom prst="rect">
            <a:avLst/>
          </a:prstGeom>
          <a:solidFill>
            <a:srgbClr val="FFD200"/>
          </a:solidFill>
          <a:ln w="19050">
            <a:noFill/>
          </a:ln>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effectLst/>
              <a:uLnTx/>
              <a:uFillTx/>
              <a:latin typeface="EY interstate"/>
              <a:cs typeface="Arial" panose="020B0604020202020204" pitchFamily="34" charset="0"/>
            </a:endParaRPr>
          </a:p>
        </p:txBody>
      </p:sp>
      <p:sp>
        <p:nvSpPr>
          <p:cNvPr id="4" name="Rounded Rectangle 37">
            <a:extLst>
              <a:ext uri="{FF2B5EF4-FFF2-40B4-BE49-F238E27FC236}">
                <a16:creationId xmlns:a16="http://schemas.microsoft.com/office/drawing/2014/main" id="{6379A346-9271-CFB6-EC24-1BF1E7FFF2A6}"/>
              </a:ext>
            </a:extLst>
          </p:cNvPr>
          <p:cNvSpPr>
            <a:spLocks/>
          </p:cNvSpPr>
          <p:nvPr/>
        </p:nvSpPr>
        <p:spPr bwMode="gray">
          <a:xfrm>
            <a:off x="940664" y="1125909"/>
            <a:ext cx="9824730" cy="2666582"/>
          </a:xfrm>
          <a:prstGeom prst="roundRect">
            <a:avLst>
              <a:gd name="adj" fmla="val 5259"/>
            </a:avLst>
          </a:prstGeom>
          <a:solidFill>
            <a:srgbClr val="FFFFFF"/>
          </a:solidFill>
          <a:ln w="19050">
            <a:solidFill>
              <a:schemeClr val="bg2">
                <a:lumMod val="50000"/>
                <a:lumOff val="50000"/>
              </a:schemeClr>
            </a:solidFill>
          </a:ln>
        </p:spPr>
        <p:txBody>
          <a:bodyPr numCol="1">
            <a:noAutofit/>
          </a:bodyPr>
          <a:lstStyle/>
          <a:p>
            <a:pPr marL="742950" lvl="1" indent="-285750">
              <a:lnSpc>
                <a:spcPct val="150000"/>
              </a:lnSpc>
              <a:spcAft>
                <a:spcPts val="600"/>
              </a:spcAft>
              <a:buClr>
                <a:srgbClr val="FFE600"/>
              </a:buClr>
              <a:buSzPct val="70000"/>
              <a:buFont typeface="Arial" panose="020B0604020202020204" pitchFamily="34" charset="0"/>
              <a:buChar char="►"/>
              <a:defRPr/>
            </a:pPr>
            <a:endParaRPr lang="en-IN" sz="1100">
              <a:latin typeface="EY interstate"/>
              <a:cs typeface="Arial" panose="020B0604020202020204" pitchFamily="34" charset="0"/>
            </a:endParaRPr>
          </a:p>
        </p:txBody>
      </p:sp>
      <p:sp>
        <p:nvSpPr>
          <p:cNvPr id="5" name="TextBox 4">
            <a:extLst>
              <a:ext uri="{FF2B5EF4-FFF2-40B4-BE49-F238E27FC236}">
                <a16:creationId xmlns:a16="http://schemas.microsoft.com/office/drawing/2014/main" id="{FD171359-D86F-26BA-DDF2-10FD26189615}"/>
              </a:ext>
            </a:extLst>
          </p:cNvPr>
          <p:cNvSpPr txBox="1"/>
          <p:nvPr/>
        </p:nvSpPr>
        <p:spPr>
          <a:xfrm>
            <a:off x="626479" y="1223188"/>
            <a:ext cx="10072508" cy="2318327"/>
          </a:xfrm>
          <a:prstGeom prst="rect">
            <a:avLst/>
          </a:prstGeom>
          <a:noFill/>
        </p:spPr>
        <p:txBody>
          <a:bodyPr wrap="square" lIns="0" tIns="36576" rIns="0" bIns="0" rtlCol="0">
            <a:spAutoFit/>
          </a:bodyPr>
          <a:lstStyle/>
          <a:p>
            <a:pPr marL="742950" lvl="1" indent="-285750">
              <a:lnSpc>
                <a:spcPct val="150000"/>
              </a:lnSpc>
              <a:spcAft>
                <a:spcPts val="600"/>
              </a:spcAft>
              <a:buClr>
                <a:srgbClr val="FFE600"/>
              </a:buClr>
              <a:buSzPct val="70000"/>
              <a:buFont typeface="Arial" panose="020B0604020202020204" pitchFamily="34" charset="0"/>
              <a:buChar char="►"/>
              <a:defRPr/>
            </a:pPr>
            <a:r>
              <a:rPr lang="en-US" sz="1000">
                <a:latin typeface="EY interstate"/>
                <a:cs typeface="Arial" panose="020B0604020202020204" pitchFamily="34" charset="0"/>
              </a:rPr>
              <a:t>Automated Intercompany Transactions (AIT) serve as an engine to create Intercompany Transactions based on Matching or ICH data sources</a:t>
            </a:r>
          </a:p>
          <a:p>
            <a:pPr marL="742950" lvl="1" indent="-285750">
              <a:lnSpc>
                <a:spcPct val="150000"/>
              </a:lnSpc>
              <a:spcAft>
                <a:spcPts val="600"/>
              </a:spcAft>
              <a:buClr>
                <a:srgbClr val="FFE600"/>
              </a:buClr>
              <a:buSzPct val="70000"/>
              <a:buFont typeface="Arial" panose="020B0604020202020204" pitchFamily="34" charset="0"/>
              <a:buChar char="►"/>
              <a:defRPr/>
            </a:pPr>
            <a:r>
              <a:rPr lang="en-US" sz="1000">
                <a:latin typeface="EY interstate"/>
                <a:cs typeface="Arial" panose="020B0604020202020204" pitchFamily="34" charset="0"/>
              </a:rPr>
              <a:t>These transactions can be set to auto-certify </a:t>
            </a:r>
            <a:r>
              <a:rPr lang="en-US" sz="1000">
                <a:solidFill>
                  <a:schemeClr val="bg2"/>
                </a:solidFill>
                <a:latin typeface="EY interstate"/>
                <a:cs typeface="Arial" panose="020B0604020202020204" pitchFamily="34" charset="0"/>
              </a:rPr>
              <a:t>and facilitate the posting of both party journal entries or set to flow through a designed workflow</a:t>
            </a:r>
          </a:p>
          <a:p>
            <a:pPr marL="742950" lvl="1" indent="-285750">
              <a:lnSpc>
                <a:spcPct val="150000"/>
              </a:lnSpc>
              <a:spcAft>
                <a:spcPts val="600"/>
              </a:spcAft>
              <a:buClr>
                <a:srgbClr val="FFE600"/>
              </a:buClr>
              <a:buSzPct val="70000"/>
              <a:buFont typeface="Arial" panose="020B0604020202020204" pitchFamily="34" charset="0"/>
              <a:buChar char="►"/>
              <a:defRPr/>
            </a:pPr>
            <a:r>
              <a:rPr lang="en-US" sz="1000">
                <a:latin typeface="EY interstate"/>
                <a:cs typeface="Arial" panose="020B0604020202020204" pitchFamily="34" charset="0"/>
              </a:rPr>
              <a:t>These can be cloned or created from scratch </a:t>
            </a:r>
          </a:p>
          <a:p>
            <a:pPr marL="742950" lvl="1" indent="-285750">
              <a:lnSpc>
                <a:spcPct val="150000"/>
              </a:lnSpc>
              <a:spcAft>
                <a:spcPts val="600"/>
              </a:spcAft>
              <a:buClr>
                <a:srgbClr val="FFE600"/>
              </a:buClr>
              <a:buSzPct val="70000"/>
              <a:buFont typeface="Arial" panose="020B0604020202020204" pitchFamily="34" charset="0"/>
              <a:buChar char="►"/>
              <a:defRPr/>
            </a:pPr>
            <a:r>
              <a:rPr lang="en-US" sz="1000">
                <a:latin typeface="EY interstate"/>
                <a:cs typeface="Arial" panose="020B0604020202020204" pitchFamily="34" charset="0"/>
              </a:rPr>
              <a:t>Automated Intercompany Transaction (AIT) definitions to create ICH Transactions from the ICH-Balancing Data Source</a:t>
            </a:r>
            <a:endParaRPr lang="en-IN" sz="1000">
              <a:latin typeface="EY interstate"/>
              <a:cs typeface="Arial" panose="020B0604020202020204" pitchFamily="34" charset="0"/>
            </a:endParaRPr>
          </a:p>
          <a:p>
            <a:pPr marL="1200150" lvl="2" indent="-285750">
              <a:lnSpc>
                <a:spcPct val="150000"/>
              </a:lnSpc>
              <a:spcAft>
                <a:spcPts val="600"/>
              </a:spcAft>
              <a:buClr>
                <a:srgbClr val="FFE600"/>
              </a:buClr>
              <a:buSzPct val="70000"/>
              <a:buFont typeface="Arial" panose="020B0604020202020204" pitchFamily="34" charset="0"/>
              <a:buChar char="►"/>
              <a:defRPr/>
            </a:pPr>
            <a:r>
              <a:rPr lang="en-US" sz="1000" b="1" err="1">
                <a:latin typeface="EY interstate"/>
                <a:cs typeface="Arial" panose="020B0604020202020204" pitchFamily="34" charset="0"/>
              </a:rPr>
              <a:t>ICH_Balancing_Interim</a:t>
            </a:r>
            <a:r>
              <a:rPr lang="en-US" sz="1000" b="1">
                <a:latin typeface="EY interstate"/>
                <a:cs typeface="Arial" panose="020B0604020202020204" pitchFamily="34" charset="0"/>
              </a:rPr>
              <a:t> </a:t>
            </a:r>
            <a:r>
              <a:rPr lang="en-US" sz="1000">
                <a:latin typeface="EY interstate"/>
                <a:cs typeface="Arial" panose="020B0604020202020204" pitchFamily="34" charset="0"/>
              </a:rPr>
              <a:t>– These transactions will be created at an interval defined (daily based on the data load in BL) for researching &amp; taking appropriate resolution ‘Actions’</a:t>
            </a:r>
            <a:endParaRPr lang="en-IN" sz="1000">
              <a:latin typeface="EY interstate"/>
              <a:cs typeface="Arial" panose="020B0604020202020204" pitchFamily="34" charset="0"/>
            </a:endParaRPr>
          </a:p>
          <a:p>
            <a:pPr marL="1200150" lvl="2" indent="-285750">
              <a:lnSpc>
                <a:spcPct val="150000"/>
              </a:lnSpc>
              <a:spcAft>
                <a:spcPts val="600"/>
              </a:spcAft>
              <a:buClr>
                <a:srgbClr val="FFE600"/>
              </a:buClr>
              <a:buSzPct val="70000"/>
              <a:buFont typeface="Arial" panose="020B0604020202020204" pitchFamily="34" charset="0"/>
              <a:buChar char="►"/>
              <a:defRPr/>
            </a:pPr>
            <a:r>
              <a:rPr lang="en-US" sz="1000" b="1" err="1">
                <a:latin typeface="EY interstate"/>
                <a:cs typeface="Arial" panose="020B0604020202020204" pitchFamily="34" charset="0"/>
              </a:rPr>
              <a:t>ICH_Balancing_Month</a:t>
            </a:r>
            <a:r>
              <a:rPr lang="en-US" sz="1000" b="1">
                <a:latin typeface="EY interstate"/>
                <a:cs typeface="Arial" panose="020B0604020202020204" pitchFamily="34" charset="0"/>
              </a:rPr>
              <a:t> End Accrual</a:t>
            </a:r>
            <a:r>
              <a:rPr lang="en-US" sz="1000">
                <a:latin typeface="EY interstate"/>
                <a:cs typeface="Arial" panose="020B0604020202020204" pitchFamily="34" charset="0"/>
              </a:rPr>
              <a:t>– These transactions will be timed to be the last ICH transaction for the period</a:t>
            </a:r>
          </a:p>
          <a:p>
            <a:pPr marL="742950" lvl="1" indent="-285750">
              <a:lnSpc>
                <a:spcPct val="150000"/>
              </a:lnSpc>
              <a:spcAft>
                <a:spcPts val="600"/>
              </a:spcAft>
              <a:buClr>
                <a:srgbClr val="FFE600"/>
              </a:buClr>
              <a:buSzPct val="70000"/>
              <a:buFont typeface="Arial" panose="020B0604020202020204" pitchFamily="34" charset="0"/>
              <a:buChar char="►"/>
              <a:defRPr/>
            </a:pPr>
            <a:r>
              <a:rPr lang="en-US" sz="1000">
                <a:latin typeface="EY interstate"/>
                <a:cs typeface="Arial" panose="020B0604020202020204" pitchFamily="34" charset="0"/>
              </a:rPr>
              <a:t>AIT can be configured to group the transactions and create one single Intercompany transaction using any field from data source (e.g. trading relationship)</a:t>
            </a:r>
            <a:endParaRPr lang="en-IN" sz="1000" err="1">
              <a:solidFill>
                <a:schemeClr val="bg1"/>
              </a:solidFill>
              <a:latin typeface="EY interstate"/>
            </a:endParaRPr>
          </a:p>
        </p:txBody>
      </p:sp>
      <p:graphicFrame>
        <p:nvGraphicFramePr>
          <p:cNvPr id="6" name="Table 24">
            <a:extLst>
              <a:ext uri="{FF2B5EF4-FFF2-40B4-BE49-F238E27FC236}">
                <a16:creationId xmlns:a16="http://schemas.microsoft.com/office/drawing/2014/main" id="{9E75ED70-97B6-B5A7-10BE-8ECD47D8D656}"/>
              </a:ext>
            </a:extLst>
          </p:cNvPr>
          <p:cNvGraphicFramePr>
            <a:graphicFrameLocks noGrp="1"/>
          </p:cNvGraphicFramePr>
          <p:nvPr>
            <p:extLst>
              <p:ext uri="{D42A27DB-BD31-4B8C-83A1-F6EECF244321}">
                <p14:modId xmlns:p14="http://schemas.microsoft.com/office/powerpoint/2010/main" val="864991176"/>
              </p:ext>
            </p:extLst>
          </p:nvPr>
        </p:nvGraphicFramePr>
        <p:xfrm>
          <a:off x="940664" y="4248270"/>
          <a:ext cx="9736154" cy="370840"/>
        </p:xfrm>
        <a:graphic>
          <a:graphicData uri="http://schemas.openxmlformats.org/drawingml/2006/table">
            <a:tbl>
              <a:tblPr firstRow="1" bandRow="1"/>
              <a:tblGrid>
                <a:gridCol w="3067179">
                  <a:extLst>
                    <a:ext uri="{9D8B030D-6E8A-4147-A177-3AD203B41FA5}">
                      <a16:colId xmlns:a16="http://schemas.microsoft.com/office/drawing/2014/main" val="4008285795"/>
                    </a:ext>
                  </a:extLst>
                </a:gridCol>
                <a:gridCol w="3337075">
                  <a:extLst>
                    <a:ext uri="{9D8B030D-6E8A-4147-A177-3AD203B41FA5}">
                      <a16:colId xmlns:a16="http://schemas.microsoft.com/office/drawing/2014/main" val="3517257811"/>
                    </a:ext>
                  </a:extLst>
                </a:gridCol>
                <a:gridCol w="3331900">
                  <a:extLst>
                    <a:ext uri="{9D8B030D-6E8A-4147-A177-3AD203B41FA5}">
                      <a16:colId xmlns:a16="http://schemas.microsoft.com/office/drawing/2014/main" val="2482677735"/>
                    </a:ext>
                  </a:extLst>
                </a:gridCol>
              </a:tblGrid>
              <a:tr h="370840">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Balancing Stage Table (BL)</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Automated Intercompany Transaction (AIT)</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r>
                        <a:rPr lang="en-IN" sz="1200">
                          <a:solidFill>
                            <a:schemeClr val="tx1"/>
                          </a:solidFill>
                          <a:latin typeface="+mj-lt"/>
                          <a:cs typeface="Arial" panose="020B0604020202020204" pitchFamily="34" charset="0"/>
                        </a:rPr>
                        <a:t>ICH Transaction (2.0 – Balancing)</a:t>
                      </a:r>
                    </a:p>
                  </a:txBody>
                  <a:tcPr anchor="ctr">
                    <a:lnL w="12700" cmpd="sng">
                      <a:solidFill>
                        <a:srgbClr val="2E2E38"/>
                      </a:solidFill>
                    </a:lnL>
                    <a:lnR w="12700" cmpd="sng">
                      <a:solidFill>
                        <a:srgbClr val="2E2E38"/>
                      </a:solidFill>
                    </a:lnR>
                    <a:lnT w="12700" cmpd="sng">
                      <a:solidFill>
                        <a:srgbClr val="2E2E38"/>
                      </a:solidFill>
                    </a:lnT>
                    <a:lnB w="38100" cmpd="sng">
                      <a:solidFill>
                        <a:srgbClr val="2E2E38"/>
                      </a:solidFill>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3267643578"/>
                  </a:ext>
                </a:extLst>
              </a:tr>
            </a:tbl>
          </a:graphicData>
        </a:graphic>
      </p:graphicFrame>
      <p:sp>
        <p:nvSpPr>
          <p:cNvPr id="8" name="Flowchart: Magnetic Disk 7">
            <a:extLst>
              <a:ext uri="{FF2B5EF4-FFF2-40B4-BE49-F238E27FC236}">
                <a16:creationId xmlns:a16="http://schemas.microsoft.com/office/drawing/2014/main" id="{608C3F4F-7C87-6E95-39D2-FE13D4911DBB}"/>
              </a:ext>
            </a:extLst>
          </p:cNvPr>
          <p:cNvSpPr/>
          <p:nvPr/>
        </p:nvSpPr>
        <p:spPr>
          <a:xfrm>
            <a:off x="1666711" y="5164543"/>
            <a:ext cx="1634595" cy="625725"/>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9" name="Rectangle: Rounded Corners 8">
            <a:extLst>
              <a:ext uri="{FF2B5EF4-FFF2-40B4-BE49-F238E27FC236}">
                <a16:creationId xmlns:a16="http://schemas.microsoft.com/office/drawing/2014/main" id="{76E3A7C3-715D-F0ED-1AA5-53CD4DC7BF85}"/>
              </a:ext>
            </a:extLst>
          </p:cNvPr>
          <p:cNvSpPr/>
          <p:nvPr/>
        </p:nvSpPr>
        <p:spPr>
          <a:xfrm>
            <a:off x="4585204" y="4798059"/>
            <a:ext cx="1491955" cy="628210"/>
          </a:xfrm>
          <a:prstGeom prst="roundRect">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11" name="TextBox 10">
            <a:extLst>
              <a:ext uri="{FF2B5EF4-FFF2-40B4-BE49-F238E27FC236}">
                <a16:creationId xmlns:a16="http://schemas.microsoft.com/office/drawing/2014/main" id="{DD91B685-5609-F5A0-801B-B9F85790BD4F}"/>
              </a:ext>
            </a:extLst>
          </p:cNvPr>
          <p:cNvSpPr txBox="1"/>
          <p:nvPr/>
        </p:nvSpPr>
        <p:spPr>
          <a:xfrm>
            <a:off x="1666711" y="5459559"/>
            <a:ext cx="1634595" cy="174278"/>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(IR/IP)</a:t>
            </a:r>
          </a:p>
        </p:txBody>
      </p:sp>
      <p:sp>
        <p:nvSpPr>
          <p:cNvPr id="14" name="TextBox 13">
            <a:extLst>
              <a:ext uri="{FF2B5EF4-FFF2-40B4-BE49-F238E27FC236}">
                <a16:creationId xmlns:a16="http://schemas.microsoft.com/office/drawing/2014/main" id="{1DE99267-2B57-46E3-AF11-2BB1B8E458FC}"/>
              </a:ext>
            </a:extLst>
          </p:cNvPr>
          <p:cNvSpPr txBox="1"/>
          <p:nvPr/>
        </p:nvSpPr>
        <p:spPr>
          <a:xfrm>
            <a:off x="4772442" y="4966967"/>
            <a:ext cx="1185099" cy="168892"/>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err="1">
                <a:ln>
                  <a:noFill/>
                </a:ln>
                <a:solidFill>
                  <a:srgbClr val="FFFFFF"/>
                </a:solidFill>
                <a:effectLst/>
                <a:uLnTx/>
                <a:uFillTx/>
                <a:latin typeface="EY interstate"/>
                <a:cs typeface="Arial" panose="020B0604020202020204" pitchFamily="34" charset="0"/>
              </a:rPr>
              <a:t>ICH_Balancing</a:t>
            </a: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 Interim</a:t>
            </a:r>
          </a:p>
        </p:txBody>
      </p:sp>
      <p:sp>
        <p:nvSpPr>
          <p:cNvPr id="16" name="Rectangle: Rounded Corners 15">
            <a:extLst>
              <a:ext uri="{FF2B5EF4-FFF2-40B4-BE49-F238E27FC236}">
                <a16:creationId xmlns:a16="http://schemas.microsoft.com/office/drawing/2014/main" id="{69732A34-F696-A2C3-0EBC-F2B255ACD9F9}"/>
              </a:ext>
            </a:extLst>
          </p:cNvPr>
          <p:cNvSpPr/>
          <p:nvPr/>
        </p:nvSpPr>
        <p:spPr>
          <a:xfrm>
            <a:off x="4585204" y="5687597"/>
            <a:ext cx="1491955" cy="568211"/>
          </a:xfrm>
          <a:prstGeom prst="roundRect">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18" name="TextBox 17">
            <a:extLst>
              <a:ext uri="{FF2B5EF4-FFF2-40B4-BE49-F238E27FC236}">
                <a16:creationId xmlns:a16="http://schemas.microsoft.com/office/drawing/2014/main" id="{2B63F5AD-AD7E-BA2D-1705-5EF6BB835D89}"/>
              </a:ext>
            </a:extLst>
          </p:cNvPr>
          <p:cNvSpPr txBox="1"/>
          <p:nvPr/>
        </p:nvSpPr>
        <p:spPr>
          <a:xfrm>
            <a:off x="4610725" y="5828714"/>
            <a:ext cx="1466434"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err="1">
                <a:ln>
                  <a:noFill/>
                </a:ln>
                <a:solidFill>
                  <a:srgbClr val="FFFFFF"/>
                </a:solidFill>
                <a:effectLst/>
                <a:uLnTx/>
                <a:uFillTx/>
                <a:latin typeface="EY interstate"/>
                <a:cs typeface="Arial" panose="020B0604020202020204" pitchFamily="34" charset="0"/>
              </a:rPr>
              <a:t>ICH_Balancing_Month</a:t>
            </a: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 End Accrual</a:t>
            </a:r>
          </a:p>
        </p:txBody>
      </p:sp>
      <p:cxnSp>
        <p:nvCxnSpPr>
          <p:cNvPr id="35" name="Connector: Elbow 34">
            <a:extLst>
              <a:ext uri="{FF2B5EF4-FFF2-40B4-BE49-F238E27FC236}">
                <a16:creationId xmlns:a16="http://schemas.microsoft.com/office/drawing/2014/main" id="{DCCF8BCC-1884-2120-C39E-DFEEB3420B75}"/>
              </a:ext>
            </a:extLst>
          </p:cNvPr>
          <p:cNvCxnSpPr>
            <a:stCxn id="8" idx="4"/>
            <a:endCxn id="9" idx="1"/>
          </p:cNvCxnSpPr>
          <p:nvPr/>
        </p:nvCxnSpPr>
        <p:spPr>
          <a:xfrm flipV="1">
            <a:off x="3301306" y="5112164"/>
            <a:ext cx="1283898" cy="365242"/>
          </a:xfrm>
          <a:prstGeom prst="bentConnector3">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or: Elbow 35">
            <a:extLst>
              <a:ext uri="{FF2B5EF4-FFF2-40B4-BE49-F238E27FC236}">
                <a16:creationId xmlns:a16="http://schemas.microsoft.com/office/drawing/2014/main" id="{74DA3858-D32B-9DD4-4260-1049E094C4CC}"/>
              </a:ext>
            </a:extLst>
          </p:cNvPr>
          <p:cNvCxnSpPr>
            <a:cxnSpLocks/>
            <a:endCxn id="18" idx="1"/>
          </p:cNvCxnSpPr>
          <p:nvPr/>
        </p:nvCxnSpPr>
        <p:spPr>
          <a:xfrm>
            <a:off x="3943255" y="5477405"/>
            <a:ext cx="667470" cy="500581"/>
          </a:xfrm>
          <a:prstGeom prst="bentConnector3">
            <a:avLst>
              <a:gd name="adj1" fmla="val 50000"/>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sp>
        <p:nvSpPr>
          <p:cNvPr id="37" name="Flowchart: Magnetic Disk 36">
            <a:extLst>
              <a:ext uri="{FF2B5EF4-FFF2-40B4-BE49-F238E27FC236}">
                <a16:creationId xmlns:a16="http://schemas.microsoft.com/office/drawing/2014/main" id="{D633A86A-AB3F-D850-B1B9-3C5D8B461955}"/>
              </a:ext>
            </a:extLst>
          </p:cNvPr>
          <p:cNvSpPr/>
          <p:nvPr/>
        </p:nvSpPr>
        <p:spPr>
          <a:xfrm>
            <a:off x="8203968" y="4817973"/>
            <a:ext cx="1634595" cy="625725"/>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38" name="TextBox 37">
            <a:extLst>
              <a:ext uri="{FF2B5EF4-FFF2-40B4-BE49-F238E27FC236}">
                <a16:creationId xmlns:a16="http://schemas.microsoft.com/office/drawing/2014/main" id="{391F3883-48A9-91E9-B52D-EAE2A2D6334A}"/>
              </a:ext>
            </a:extLst>
          </p:cNvPr>
          <p:cNvSpPr txBox="1"/>
          <p:nvPr/>
        </p:nvSpPr>
        <p:spPr>
          <a:xfrm>
            <a:off x="8203968" y="5074889"/>
            <a:ext cx="1634595"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Transaction ‘Interim’</a:t>
            </a:r>
          </a:p>
        </p:txBody>
      </p:sp>
      <p:sp>
        <p:nvSpPr>
          <p:cNvPr id="39" name="Flowchart: Magnetic Disk 38">
            <a:extLst>
              <a:ext uri="{FF2B5EF4-FFF2-40B4-BE49-F238E27FC236}">
                <a16:creationId xmlns:a16="http://schemas.microsoft.com/office/drawing/2014/main" id="{BAB94B9D-F404-7A5C-798F-693C0C0C4486}"/>
              </a:ext>
            </a:extLst>
          </p:cNvPr>
          <p:cNvSpPr/>
          <p:nvPr/>
        </p:nvSpPr>
        <p:spPr>
          <a:xfrm>
            <a:off x="8203968" y="5732092"/>
            <a:ext cx="1634595" cy="625725"/>
          </a:xfrm>
          <a:prstGeom prst="flowChartMagneticDisk">
            <a:avLst/>
          </a:prstGeom>
          <a:solidFill>
            <a:srgbClr val="2E2E38">
              <a:lumMod val="60000"/>
              <a:lumOff val="40000"/>
            </a:srgbClr>
          </a:solidFill>
          <a:ln w="9525" cap="flat" cmpd="sng" algn="ctr">
            <a:solidFill>
              <a:srgbClr val="FFE600"/>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endParaRPr>
          </a:p>
        </p:txBody>
      </p:sp>
      <p:sp>
        <p:nvSpPr>
          <p:cNvPr id="40" name="TextBox 39">
            <a:extLst>
              <a:ext uri="{FF2B5EF4-FFF2-40B4-BE49-F238E27FC236}">
                <a16:creationId xmlns:a16="http://schemas.microsoft.com/office/drawing/2014/main" id="{5DC51F9E-8111-5F62-B44A-B844B44B214A}"/>
              </a:ext>
            </a:extLst>
          </p:cNvPr>
          <p:cNvSpPr txBox="1"/>
          <p:nvPr/>
        </p:nvSpPr>
        <p:spPr>
          <a:xfrm>
            <a:off x="8203968" y="5981239"/>
            <a:ext cx="1634595" cy="298543"/>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000" b="0" i="0" u="none" strike="noStrike" kern="0" cap="none" spc="0" normalizeH="0" baseline="0" noProof="0">
                <a:ln>
                  <a:noFill/>
                </a:ln>
                <a:solidFill>
                  <a:srgbClr val="FFFFFF"/>
                </a:solidFill>
                <a:effectLst/>
                <a:uLnTx/>
                <a:uFillTx/>
                <a:latin typeface="EY interstate"/>
                <a:cs typeface="Arial" panose="020B0604020202020204" pitchFamily="34" charset="0"/>
              </a:rPr>
              <a:t>ICH Balancing Transaction ‘Month-End Accrual’</a:t>
            </a:r>
          </a:p>
        </p:txBody>
      </p:sp>
      <p:cxnSp>
        <p:nvCxnSpPr>
          <p:cNvPr id="41" name="Straight Arrow Connector 40">
            <a:extLst>
              <a:ext uri="{FF2B5EF4-FFF2-40B4-BE49-F238E27FC236}">
                <a16:creationId xmlns:a16="http://schemas.microsoft.com/office/drawing/2014/main" id="{509CE60D-AE69-3E1C-A868-B33D99F3FA05}"/>
              </a:ext>
            </a:extLst>
          </p:cNvPr>
          <p:cNvCxnSpPr>
            <a:stCxn id="9" idx="3"/>
          </p:cNvCxnSpPr>
          <p:nvPr/>
        </p:nvCxnSpPr>
        <p:spPr>
          <a:xfrm>
            <a:off x="6077159" y="5112164"/>
            <a:ext cx="2111248" cy="0"/>
          </a:xfrm>
          <a:prstGeom prst="straightConnector1">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99E2DBB1-3E3A-696F-43BB-099FCEC709CC}"/>
              </a:ext>
            </a:extLst>
          </p:cNvPr>
          <p:cNvCxnSpPr>
            <a:stCxn id="18" idx="3"/>
          </p:cNvCxnSpPr>
          <p:nvPr/>
        </p:nvCxnSpPr>
        <p:spPr>
          <a:xfrm>
            <a:off x="6077159" y="5977986"/>
            <a:ext cx="2111248" cy="3253"/>
          </a:xfrm>
          <a:prstGeom prst="straightConnector1">
            <a:avLst/>
          </a:prstGeom>
          <a:ln w="9525">
            <a:solidFill>
              <a:srgbClr val="FFE6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443840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862153-B51B-72A5-E8D1-A95F9A84034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F4E772-E686-785A-0FB1-14D1242A9E6E}"/>
              </a:ext>
            </a:extLst>
          </p:cNvPr>
          <p:cNvSpPr txBox="1">
            <a:spLocks noGrp="1"/>
          </p:cNvSpPr>
          <p:nvPr>
            <p:ph type="title"/>
          </p:nvPr>
        </p:nvSpPr>
        <p:spPr>
          <a:xfrm>
            <a:off x="611088" y="458749"/>
            <a:ext cx="11580912" cy="590400"/>
          </a:xfrm>
          <a:prstGeom prst="rect">
            <a:avLst/>
          </a:prstGeom>
          <a:noFill/>
          <a:ln>
            <a:noFill/>
          </a:ln>
        </p:spPr>
        <p:txBody>
          <a:bodyPr vert="horz" wrap="square" lIns="0" tIns="0" rIns="0" bIns="0" rtlCol="0" anchor="t" anchorCtr="0" compatLnSpc="1">
            <a:noAutofit/>
          </a:bodyPr>
          <a:lstStyle/>
          <a:p>
            <a:pPr>
              <a:lnSpc>
                <a:spcPct val="100000"/>
              </a:lnSpc>
              <a:spcBef>
                <a:spcPts val="500"/>
              </a:spcBef>
              <a:buClr>
                <a:srgbClr val="FFE600"/>
              </a:buClr>
              <a:buSzPct val="110000"/>
              <a:buFont typeface="EYInterstate Light" pitchFamily="2"/>
            </a:pPr>
            <a:r>
              <a:rPr lang="en-IN" sz="2400" b="1">
                <a:solidFill>
                  <a:srgbClr val="FFE600"/>
                </a:solidFill>
                <a:latin typeface="EY interstate heading"/>
                <a:ea typeface="+mn-ea"/>
                <a:cs typeface="+mn-cs"/>
              </a:rPr>
              <a:t>ICH Balancing Transactions</a:t>
            </a:r>
            <a:endParaRPr lang="en-US" sz="2400" b="1">
              <a:solidFill>
                <a:srgbClr val="FFE600"/>
              </a:solidFill>
              <a:latin typeface="EY interstate heading"/>
              <a:ea typeface="+mn-ea"/>
              <a:cs typeface="+mn-cs"/>
            </a:endParaRPr>
          </a:p>
        </p:txBody>
      </p:sp>
      <p:sp>
        <p:nvSpPr>
          <p:cNvPr id="7" name="Rectangle 6">
            <a:extLst>
              <a:ext uri="{FF2B5EF4-FFF2-40B4-BE49-F238E27FC236}">
                <a16:creationId xmlns:a16="http://schemas.microsoft.com/office/drawing/2014/main" id="{98251691-3125-D8D8-3767-B34E06AAD31E}"/>
              </a:ext>
            </a:extLst>
          </p:cNvPr>
          <p:cNvSpPr/>
          <p:nvPr/>
        </p:nvSpPr>
        <p:spPr bwMode="gray">
          <a:xfrm>
            <a:off x="6209350" y="1266410"/>
            <a:ext cx="4702712" cy="2600307"/>
          </a:xfrm>
          <a:prstGeom prst="rect">
            <a:avLst/>
          </a:prstGeom>
          <a:solidFill>
            <a:srgbClr val="C4C4CD"/>
          </a:solidFill>
          <a:ln w="9525" cap="flat" cmpd="sng" algn="ctr">
            <a:noFill/>
            <a:prstDash val="solid"/>
          </a:ln>
          <a:effectLst/>
        </p:spPr>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pic>
        <p:nvPicPr>
          <p:cNvPr id="10" name="Picture 2">
            <a:extLst>
              <a:ext uri="{FF2B5EF4-FFF2-40B4-BE49-F238E27FC236}">
                <a16:creationId xmlns:a16="http://schemas.microsoft.com/office/drawing/2014/main" id="{24280B6E-F8AF-8362-F881-311B697364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97471" y="1386469"/>
            <a:ext cx="4510836" cy="2369684"/>
          </a:xfrm>
          <a:prstGeom prst="rect">
            <a:avLst/>
          </a:prstGeom>
          <a:extLst>
            <a:ext uri="{909E8E84-426E-40DD-AFC4-6F175D3DCCD1}">
              <a14:hiddenFill xmlns:a14="http://schemas.microsoft.com/office/drawing/2010/main">
                <a:solidFill>
                  <a:srgbClr val="FFFFFF"/>
                </a:solidFill>
              </a14:hiddenFill>
            </a:ext>
          </a:extLst>
        </p:spPr>
      </p:pic>
      <p:grpSp>
        <p:nvGrpSpPr>
          <p:cNvPr id="12" name="Group 11">
            <a:extLst>
              <a:ext uri="{FF2B5EF4-FFF2-40B4-BE49-F238E27FC236}">
                <a16:creationId xmlns:a16="http://schemas.microsoft.com/office/drawing/2014/main" id="{A9849578-6193-F1B4-A1C9-CA9E85A30DDF}"/>
              </a:ext>
            </a:extLst>
          </p:cNvPr>
          <p:cNvGrpSpPr/>
          <p:nvPr/>
        </p:nvGrpSpPr>
        <p:grpSpPr>
          <a:xfrm>
            <a:off x="6333607" y="4663174"/>
            <a:ext cx="4382437" cy="1731600"/>
            <a:chOff x="6955399" y="4094816"/>
            <a:chExt cx="4382437" cy="2105276"/>
          </a:xfrm>
        </p:grpSpPr>
        <p:grpSp>
          <p:nvGrpSpPr>
            <p:cNvPr id="13" name="Group 12">
              <a:extLst>
                <a:ext uri="{FF2B5EF4-FFF2-40B4-BE49-F238E27FC236}">
                  <a16:creationId xmlns:a16="http://schemas.microsoft.com/office/drawing/2014/main" id="{11BAAA22-2902-64EB-C284-350822CC37B0}"/>
                </a:ext>
              </a:extLst>
            </p:cNvPr>
            <p:cNvGrpSpPr/>
            <p:nvPr/>
          </p:nvGrpSpPr>
          <p:grpSpPr bwMode="gray">
            <a:xfrm>
              <a:off x="6955399" y="4094816"/>
              <a:ext cx="4382437" cy="2105276"/>
              <a:chOff x="6588760" y="1766956"/>
              <a:chExt cx="4490635" cy="1208598"/>
            </a:xfrm>
          </p:grpSpPr>
          <p:sp>
            <p:nvSpPr>
              <p:cNvPr id="17" name="Oval 16">
                <a:extLst>
                  <a:ext uri="{FF2B5EF4-FFF2-40B4-BE49-F238E27FC236}">
                    <a16:creationId xmlns:a16="http://schemas.microsoft.com/office/drawing/2014/main" id="{1A60495B-FC5D-1143-F7E8-095AAD4F0307}"/>
                  </a:ext>
                </a:extLst>
              </p:cNvPr>
              <p:cNvSpPr>
                <a:spLocks/>
              </p:cNvSpPr>
              <p:nvPr/>
            </p:nvSpPr>
            <p:spPr bwMode="gray">
              <a:xfrm>
                <a:off x="9848851" y="1777886"/>
                <a:ext cx="1230544" cy="1186738"/>
              </a:xfrm>
              <a:prstGeom prst="ellipse">
                <a:avLst/>
              </a:prstGeom>
              <a:solidFill>
                <a:srgbClr val="FFE600"/>
              </a:solidFill>
              <a:ln w="9525" cap="flat" cmpd="sng" algn="ctr">
                <a:noFill/>
                <a:prstDash val="solid"/>
              </a:ln>
              <a:effectLst/>
            </p:spPr>
            <p:txBody>
              <a:bodyPr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sp>
            <p:nvSpPr>
              <p:cNvPr id="19" name="Rectangle 18">
                <a:extLst>
                  <a:ext uri="{FF2B5EF4-FFF2-40B4-BE49-F238E27FC236}">
                    <a16:creationId xmlns:a16="http://schemas.microsoft.com/office/drawing/2014/main" id="{0DFBF22A-D603-85FF-9E0A-4D2AF754B8C7}"/>
                  </a:ext>
                </a:extLst>
              </p:cNvPr>
              <p:cNvSpPr>
                <a:spLocks/>
              </p:cNvSpPr>
              <p:nvPr/>
            </p:nvSpPr>
            <p:spPr bwMode="gray">
              <a:xfrm>
                <a:off x="6588760" y="1766956"/>
                <a:ext cx="4362740" cy="1208598"/>
              </a:xfrm>
              <a:prstGeom prst="rect">
                <a:avLst/>
              </a:prstGeom>
              <a:solidFill>
                <a:srgbClr val="747480"/>
              </a:solidFill>
              <a:ln w="9525" cap="flat" cmpd="sng" algn="ctr">
                <a:noFill/>
                <a:prstDash val="solid"/>
              </a:ln>
              <a:effectLst/>
            </p:spPr>
            <p:txBody>
              <a:bodyPr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grpSp>
        <p:sp>
          <p:nvSpPr>
            <p:cNvPr id="15" name="Rectangle 14">
              <a:extLst>
                <a:ext uri="{FF2B5EF4-FFF2-40B4-BE49-F238E27FC236}">
                  <a16:creationId xmlns:a16="http://schemas.microsoft.com/office/drawing/2014/main" id="{1CFCB2E7-9A22-8E1B-830C-8A5EAF6A0535}"/>
                </a:ext>
              </a:extLst>
            </p:cNvPr>
            <p:cNvSpPr>
              <a:spLocks/>
            </p:cNvSpPr>
            <p:nvPr/>
          </p:nvSpPr>
          <p:spPr bwMode="gray">
            <a:xfrm>
              <a:off x="7042551" y="4136115"/>
              <a:ext cx="3824726" cy="1991893"/>
            </a:xfrm>
            <a:prstGeom prst="rect">
              <a:avLst/>
            </a:prstGeom>
            <a:noFill/>
            <a:ln w="9525" cap="flat" cmpd="sng" algn="ctr">
              <a:noFill/>
              <a:prstDash val="solid"/>
            </a:ln>
            <a:effectLst/>
          </p:spPr>
          <p:txBody>
            <a:bodyPr wrap="square" lIns="72000" tIns="72000" rIns="72000" bIns="72000" rtlCol="0" anchor="t" anchorCtr="0">
              <a:noAutofit/>
            </a:bodyPr>
            <a:lstStyle/>
            <a:p>
              <a:pPr marL="171450" marR="0" lvl="0" indent="-171450" algn="l" defTabSz="914400" rtl="0" eaLnBrk="1" fontAlgn="auto" latinLnBrk="0" hangingPunct="1">
                <a:lnSpc>
                  <a:spcPct val="150000"/>
                </a:lnSpc>
                <a:spcBef>
                  <a:spcPts val="0"/>
                </a:spcBef>
                <a:spcAft>
                  <a:spcPts val="200"/>
                </a:spcAft>
                <a:buClr>
                  <a:srgbClr val="FFE600"/>
                </a:buClr>
                <a:buSzPct val="70000"/>
                <a:buFont typeface="Arial" panose="020B0604020202020204" pitchFamily="34" charset="0"/>
                <a:buChar char="►"/>
                <a:tabLst/>
                <a:defRPr/>
              </a:pPr>
              <a:r>
                <a:rPr lang="en-US" sz="1000" kern="0">
                  <a:solidFill>
                    <a:schemeClr val="bg1"/>
                  </a:solidFill>
                  <a:latin typeface="EY interstate"/>
                  <a:cs typeface="Arial" panose="020B0604020202020204" pitchFamily="34" charset="0"/>
                </a:rPr>
                <a:t>Should be the last transaction created to close out the month</a:t>
              </a:r>
            </a:p>
            <a:p>
              <a:pPr marL="171450" marR="0" lvl="0" indent="-171450" algn="l" defTabSz="914400" rtl="0" eaLnBrk="1" fontAlgn="auto" latinLnBrk="0" hangingPunct="1">
                <a:lnSpc>
                  <a:spcPct val="150000"/>
                </a:lnSpc>
                <a:spcBef>
                  <a:spcPts val="0"/>
                </a:spcBef>
                <a:spcAft>
                  <a:spcPts val="200"/>
                </a:spcAft>
                <a:buClr>
                  <a:srgbClr val="FFE600"/>
                </a:buClr>
                <a:buSzPct val="70000"/>
                <a:buFont typeface="Arial" panose="020B0604020202020204" pitchFamily="34" charset="0"/>
                <a:buChar char="►"/>
                <a:tabLst/>
                <a:defRPr/>
              </a:pPr>
              <a:r>
                <a:rPr lang="en-US" sz="1000" kern="0">
                  <a:solidFill>
                    <a:schemeClr val="bg1"/>
                  </a:solidFill>
                  <a:latin typeface="EY interstate"/>
                  <a:cs typeface="Arial" panose="020B0604020202020204" pitchFamily="34" charset="0"/>
                </a:rPr>
                <a:t>Out-of-Balance Relationships will automatically book ‘IP’ Adjustment to equal ‘IR’ balances</a:t>
              </a:r>
            </a:p>
            <a:p>
              <a:pPr marL="171450" marR="0" lvl="0" indent="-171450" algn="l" defTabSz="914400" rtl="0" eaLnBrk="1" fontAlgn="auto" latinLnBrk="0" hangingPunct="1">
                <a:lnSpc>
                  <a:spcPct val="150000"/>
                </a:lnSpc>
                <a:spcBef>
                  <a:spcPts val="0"/>
                </a:spcBef>
                <a:spcAft>
                  <a:spcPts val="200"/>
                </a:spcAft>
                <a:buClr>
                  <a:srgbClr val="FFE600"/>
                </a:buClr>
                <a:buSzPct val="70000"/>
                <a:buFont typeface="Arial" panose="020B0604020202020204" pitchFamily="34" charset="0"/>
                <a:buChar char="►"/>
                <a:tabLst/>
                <a:defRPr/>
              </a:pPr>
              <a:r>
                <a:rPr lang="en-US" sz="1000" kern="0">
                  <a:solidFill>
                    <a:schemeClr val="bg1"/>
                  </a:solidFill>
                  <a:latin typeface="EY interstate"/>
                  <a:cs typeface="Arial" panose="020B0604020202020204" pitchFamily="34" charset="0"/>
                </a:rPr>
                <a:t>Auto populate “Actions” to automate and accelerate the process</a:t>
              </a:r>
            </a:p>
          </p:txBody>
        </p:sp>
      </p:grpSp>
      <p:sp>
        <p:nvSpPr>
          <p:cNvPr id="20" name="Rectangle 19">
            <a:extLst>
              <a:ext uri="{FF2B5EF4-FFF2-40B4-BE49-F238E27FC236}">
                <a16:creationId xmlns:a16="http://schemas.microsoft.com/office/drawing/2014/main" id="{ECBEB2D7-43A9-AC1B-1906-79F2ACA7CB32}"/>
              </a:ext>
            </a:extLst>
          </p:cNvPr>
          <p:cNvSpPr/>
          <p:nvPr/>
        </p:nvSpPr>
        <p:spPr bwMode="gray">
          <a:xfrm>
            <a:off x="1053917" y="1103849"/>
            <a:ext cx="5063372" cy="2996573"/>
          </a:xfrm>
          <a:prstGeom prst="rect">
            <a:avLst/>
          </a:prstGeom>
          <a:solidFill>
            <a:srgbClr val="C4C4CD"/>
          </a:solidFill>
          <a:ln w="9525" cap="flat" cmpd="sng" algn="ctr">
            <a:noFill/>
            <a:prstDash val="solid"/>
          </a:ln>
          <a:effectLst/>
        </p:spPr>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pic>
        <p:nvPicPr>
          <p:cNvPr id="21" name="Picture 20">
            <a:extLst>
              <a:ext uri="{FF2B5EF4-FFF2-40B4-BE49-F238E27FC236}">
                <a16:creationId xmlns:a16="http://schemas.microsoft.com/office/drawing/2014/main" id="{2CB59ED4-FAD8-3EE9-E3FC-1E104DEA2DFE}"/>
              </a:ext>
            </a:extLst>
          </p:cNvPr>
          <p:cNvPicPr>
            <a:picLocks noChangeAspect="1"/>
          </p:cNvPicPr>
          <p:nvPr/>
        </p:nvPicPr>
        <p:blipFill>
          <a:blip r:embed="rId3"/>
          <a:stretch>
            <a:fillRect/>
          </a:stretch>
        </p:blipFill>
        <p:spPr>
          <a:xfrm>
            <a:off x="1179980" y="1223908"/>
            <a:ext cx="4834105" cy="2766960"/>
          </a:xfrm>
          <a:prstGeom prst="rect">
            <a:avLst/>
          </a:prstGeom>
        </p:spPr>
      </p:pic>
      <p:grpSp>
        <p:nvGrpSpPr>
          <p:cNvPr id="22" name="Group 21">
            <a:extLst>
              <a:ext uri="{FF2B5EF4-FFF2-40B4-BE49-F238E27FC236}">
                <a16:creationId xmlns:a16="http://schemas.microsoft.com/office/drawing/2014/main" id="{5F0357CE-925E-E367-D4CE-6C0D81B007EE}"/>
              </a:ext>
            </a:extLst>
          </p:cNvPr>
          <p:cNvGrpSpPr/>
          <p:nvPr/>
        </p:nvGrpSpPr>
        <p:grpSpPr>
          <a:xfrm>
            <a:off x="1220976" y="4662960"/>
            <a:ext cx="4731384" cy="1731814"/>
            <a:chOff x="1842768" y="4486543"/>
            <a:chExt cx="4731384" cy="1731814"/>
          </a:xfrm>
        </p:grpSpPr>
        <p:grpSp>
          <p:nvGrpSpPr>
            <p:cNvPr id="23" name="Group 22">
              <a:extLst>
                <a:ext uri="{FF2B5EF4-FFF2-40B4-BE49-F238E27FC236}">
                  <a16:creationId xmlns:a16="http://schemas.microsoft.com/office/drawing/2014/main" id="{DE01579F-D90F-8B61-0181-0AD28083D218}"/>
                </a:ext>
              </a:extLst>
            </p:cNvPr>
            <p:cNvGrpSpPr/>
            <p:nvPr/>
          </p:nvGrpSpPr>
          <p:grpSpPr bwMode="gray">
            <a:xfrm>
              <a:off x="1842768" y="4486543"/>
              <a:ext cx="4731384" cy="1731814"/>
              <a:chOff x="6588760" y="1766956"/>
              <a:chExt cx="4490635" cy="1208598"/>
            </a:xfrm>
          </p:grpSpPr>
          <p:sp>
            <p:nvSpPr>
              <p:cNvPr id="25" name="Oval 24">
                <a:extLst>
                  <a:ext uri="{FF2B5EF4-FFF2-40B4-BE49-F238E27FC236}">
                    <a16:creationId xmlns:a16="http://schemas.microsoft.com/office/drawing/2014/main" id="{919DEE9D-F809-DC93-AEB0-949BF7340C43}"/>
                  </a:ext>
                </a:extLst>
              </p:cNvPr>
              <p:cNvSpPr>
                <a:spLocks/>
              </p:cNvSpPr>
              <p:nvPr/>
            </p:nvSpPr>
            <p:spPr bwMode="gray">
              <a:xfrm>
                <a:off x="9848851" y="1777886"/>
                <a:ext cx="1230544" cy="1186738"/>
              </a:xfrm>
              <a:prstGeom prst="ellipse">
                <a:avLst/>
              </a:prstGeom>
              <a:solidFill>
                <a:srgbClr val="FFE600"/>
              </a:solidFill>
              <a:ln w="9525" cap="flat" cmpd="sng" algn="ctr">
                <a:noFill/>
                <a:prstDash val="solid"/>
              </a:ln>
              <a:effectLst/>
            </p:spPr>
            <p:txBody>
              <a:bodyPr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sp>
            <p:nvSpPr>
              <p:cNvPr id="26" name="Rectangle 25">
                <a:extLst>
                  <a:ext uri="{FF2B5EF4-FFF2-40B4-BE49-F238E27FC236}">
                    <a16:creationId xmlns:a16="http://schemas.microsoft.com/office/drawing/2014/main" id="{3F037993-6FD0-07BC-DC84-AB728AD393D9}"/>
                  </a:ext>
                </a:extLst>
              </p:cNvPr>
              <p:cNvSpPr>
                <a:spLocks/>
              </p:cNvSpPr>
              <p:nvPr/>
            </p:nvSpPr>
            <p:spPr bwMode="gray">
              <a:xfrm>
                <a:off x="6588760" y="1766956"/>
                <a:ext cx="4362740" cy="1208598"/>
              </a:xfrm>
              <a:prstGeom prst="rect">
                <a:avLst/>
              </a:prstGeom>
              <a:solidFill>
                <a:srgbClr val="747480"/>
              </a:solidFill>
              <a:ln w="9525" cap="flat" cmpd="sng" algn="ctr">
                <a:noFill/>
                <a:prstDash val="solid"/>
              </a:ln>
              <a:effectLst/>
            </p:spPr>
            <p:txBody>
              <a:bodyPr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grpSp>
        <p:sp>
          <p:nvSpPr>
            <p:cNvPr id="24" name="Rectangle 23">
              <a:extLst>
                <a:ext uri="{FF2B5EF4-FFF2-40B4-BE49-F238E27FC236}">
                  <a16:creationId xmlns:a16="http://schemas.microsoft.com/office/drawing/2014/main" id="{8A0C275B-49D0-FA76-20CA-29930F01B9F8}"/>
                </a:ext>
              </a:extLst>
            </p:cNvPr>
            <p:cNvSpPr>
              <a:spLocks/>
            </p:cNvSpPr>
            <p:nvPr/>
          </p:nvSpPr>
          <p:spPr bwMode="gray">
            <a:xfrm>
              <a:off x="1936858" y="4548587"/>
              <a:ext cx="4129266" cy="1607466"/>
            </a:xfrm>
            <a:prstGeom prst="rect">
              <a:avLst/>
            </a:prstGeom>
            <a:noFill/>
            <a:ln w="9525" cap="flat" cmpd="sng" algn="ctr">
              <a:noFill/>
              <a:prstDash val="solid"/>
            </a:ln>
            <a:effectLst/>
          </p:spPr>
          <p:txBody>
            <a:bodyPr wrap="square" lIns="72000" tIns="72000" rIns="72000" bIns="72000" rtlCol="0" anchor="t" anchorCtr="0">
              <a:noAutofit/>
            </a:bodyPr>
            <a:lstStyle/>
            <a:p>
              <a:pPr marL="171450" indent="-171450">
                <a:lnSpc>
                  <a:spcPct val="150000"/>
                </a:lnSpc>
                <a:spcAft>
                  <a:spcPts val="200"/>
                </a:spcAft>
                <a:buClr>
                  <a:srgbClr val="FFE600"/>
                </a:buClr>
                <a:buSzPct val="70000"/>
                <a:buFont typeface="Arial" panose="020B0604020202020204" pitchFamily="34" charset="0"/>
                <a:buChar char="►"/>
                <a:defRPr/>
              </a:pPr>
              <a:r>
                <a:rPr lang="en-US" sz="1000" kern="0">
                  <a:solidFill>
                    <a:schemeClr val="bg1"/>
                  </a:solidFill>
                  <a:latin typeface="EY interstate"/>
                  <a:cs typeface="Arial" panose="020B0604020202020204" pitchFamily="34" charset="0"/>
                </a:rPr>
                <a:t>Each newly created relationship transaction will be the ‘active’ transaction</a:t>
              </a:r>
            </a:p>
            <a:p>
              <a:pPr marL="171450" indent="-171450">
                <a:lnSpc>
                  <a:spcPct val="150000"/>
                </a:lnSpc>
                <a:spcAft>
                  <a:spcPts val="200"/>
                </a:spcAft>
                <a:buClr>
                  <a:srgbClr val="FFE600"/>
                </a:buClr>
                <a:buSzPct val="70000"/>
                <a:buFont typeface="Arial" panose="020B0604020202020204" pitchFamily="34" charset="0"/>
                <a:buChar char="►"/>
                <a:defRPr/>
              </a:pPr>
              <a:r>
                <a:rPr lang="en-US" sz="1000" kern="0">
                  <a:solidFill>
                    <a:schemeClr val="bg1"/>
                  </a:solidFill>
                  <a:latin typeface="EY interstate"/>
                  <a:cs typeface="Arial" panose="020B0604020202020204" pitchFamily="34" charset="0"/>
                </a:rPr>
                <a:t>Any Action will move with the record until the record has been resolved</a:t>
              </a:r>
            </a:p>
            <a:p>
              <a:pPr marL="171450" indent="-171450">
                <a:lnSpc>
                  <a:spcPct val="150000"/>
                </a:lnSpc>
                <a:spcAft>
                  <a:spcPts val="200"/>
                </a:spcAft>
                <a:buClr>
                  <a:srgbClr val="FFE600"/>
                </a:buClr>
                <a:buSzPct val="70000"/>
                <a:buFont typeface="Arial" panose="020B0604020202020204" pitchFamily="34" charset="0"/>
                <a:buChar char="►"/>
                <a:defRPr/>
              </a:pPr>
              <a:r>
                <a:rPr lang="en-US" sz="1000" kern="0">
                  <a:solidFill>
                    <a:schemeClr val="bg1"/>
                  </a:solidFill>
                  <a:latin typeface="EY interstate"/>
                  <a:cs typeface="Arial" panose="020B0604020202020204" pitchFamily="34" charset="0"/>
                </a:rPr>
                <a:t>Prior created relationship transactions will be marked as ‘inactive’</a:t>
              </a:r>
            </a:p>
            <a:p>
              <a:pPr marL="171450" indent="-171450">
                <a:lnSpc>
                  <a:spcPct val="150000"/>
                </a:lnSpc>
                <a:spcAft>
                  <a:spcPts val="200"/>
                </a:spcAft>
                <a:buClr>
                  <a:srgbClr val="FFE600"/>
                </a:buClr>
                <a:buSzPct val="70000"/>
                <a:buFont typeface="Arial" panose="020B0604020202020204" pitchFamily="34" charset="0"/>
                <a:buChar char="►"/>
                <a:defRPr/>
              </a:pPr>
              <a:r>
                <a:rPr lang="en-US" sz="1000" kern="0">
                  <a:solidFill>
                    <a:schemeClr val="bg1"/>
                  </a:solidFill>
                  <a:latin typeface="EY interstate"/>
                  <a:cs typeface="Arial" panose="020B0604020202020204" pitchFamily="34" charset="0"/>
                </a:rPr>
                <a:t>Drop down list to select “Actions”</a:t>
              </a:r>
            </a:p>
            <a:p>
              <a:pPr>
                <a:lnSpc>
                  <a:spcPct val="150000"/>
                </a:lnSpc>
                <a:spcAft>
                  <a:spcPts val="200"/>
                </a:spcAft>
                <a:buClr>
                  <a:srgbClr val="FFE600"/>
                </a:buClr>
                <a:buSzPct val="70000"/>
                <a:defRPr/>
              </a:pPr>
              <a:endParaRPr lang="en-US" sz="1000" kern="0">
                <a:solidFill>
                  <a:schemeClr val="bg1"/>
                </a:solidFill>
                <a:latin typeface="EY interstate"/>
                <a:cs typeface="Arial" panose="020B0604020202020204" pitchFamily="34" charset="0"/>
              </a:endParaRPr>
            </a:p>
          </p:txBody>
        </p:sp>
      </p:grpSp>
      <p:grpSp>
        <p:nvGrpSpPr>
          <p:cNvPr id="27" name="Group 26">
            <a:extLst>
              <a:ext uri="{FF2B5EF4-FFF2-40B4-BE49-F238E27FC236}">
                <a16:creationId xmlns:a16="http://schemas.microsoft.com/office/drawing/2014/main" id="{C3805A08-5644-A851-B55B-26B9AD8D1380}"/>
              </a:ext>
            </a:extLst>
          </p:cNvPr>
          <p:cNvGrpSpPr/>
          <p:nvPr/>
        </p:nvGrpSpPr>
        <p:grpSpPr bwMode="gray">
          <a:xfrm>
            <a:off x="1192602" y="4247130"/>
            <a:ext cx="4063478" cy="289224"/>
            <a:chOff x="6588759" y="1329992"/>
            <a:chExt cx="4391110" cy="319929"/>
          </a:xfrm>
        </p:grpSpPr>
        <p:sp>
          <p:nvSpPr>
            <p:cNvPr id="28" name="Rounded Rectangle 103">
              <a:extLst>
                <a:ext uri="{FF2B5EF4-FFF2-40B4-BE49-F238E27FC236}">
                  <a16:creationId xmlns:a16="http://schemas.microsoft.com/office/drawing/2014/main" id="{2BCD7A93-6874-FDB3-2BF9-D0F7EB8288A8}"/>
                </a:ext>
              </a:extLst>
            </p:cNvPr>
            <p:cNvSpPr/>
            <p:nvPr/>
          </p:nvSpPr>
          <p:spPr bwMode="gray">
            <a:xfrm>
              <a:off x="6588759" y="1329992"/>
              <a:ext cx="2264834" cy="319929"/>
            </a:xfrm>
            <a:prstGeom prst="roundRect">
              <a:avLst>
                <a:gd name="adj" fmla="val 50000"/>
              </a:avLst>
            </a:prstGeom>
            <a:solidFill>
              <a:srgbClr val="FFE600"/>
            </a:solidFill>
            <a:ln w="9525" cap="flat" cmpd="sng" algn="ctr">
              <a:noFill/>
              <a:prstDash val="solid"/>
            </a:ln>
            <a:effectLst/>
          </p:spPr>
          <p:txBody>
            <a:bodyPr lIns="72000" tIns="36000" rIns="72000" bIns="36000" rtlCol="0" anchor="ctr" anchorCtr="0">
              <a:noAutofit/>
            </a:bodyPr>
            <a:lstStyle/>
            <a:p>
              <a:pPr marR="0" algn="l" rtl="0"/>
              <a:r>
                <a:rPr lang="en-US" sz="1200" b="1" i="0" strike="noStrike" baseline="0">
                  <a:solidFill>
                    <a:schemeClr val="bg2"/>
                  </a:solidFill>
                  <a:latin typeface="EY interstate"/>
                  <a:cs typeface="Heebo" panose="00000500000000000000" pitchFamily="2" charset="-79"/>
                </a:rPr>
                <a:t>Interim Transactions</a:t>
              </a:r>
            </a:p>
          </p:txBody>
        </p:sp>
        <p:cxnSp>
          <p:nvCxnSpPr>
            <p:cNvPr id="29" name="Straight Connector 28">
              <a:extLst>
                <a:ext uri="{FF2B5EF4-FFF2-40B4-BE49-F238E27FC236}">
                  <a16:creationId xmlns:a16="http://schemas.microsoft.com/office/drawing/2014/main" id="{E81BA704-F3B6-A593-ED65-A74606C0DFEE}"/>
                </a:ext>
              </a:extLst>
            </p:cNvPr>
            <p:cNvCxnSpPr>
              <a:cxnSpLocks/>
              <a:stCxn id="28" idx="3"/>
            </p:cNvCxnSpPr>
            <p:nvPr/>
          </p:nvCxnSpPr>
          <p:spPr bwMode="gray">
            <a:xfrm>
              <a:off x="8853593" y="1489956"/>
              <a:ext cx="2126276" cy="6100"/>
            </a:xfrm>
            <a:prstGeom prst="line">
              <a:avLst/>
            </a:prstGeom>
            <a:noFill/>
            <a:ln w="12700" cap="flat" cmpd="sng" algn="ctr">
              <a:solidFill>
                <a:srgbClr val="FFD200"/>
              </a:solidFill>
              <a:prstDash val="solid"/>
              <a:tailEnd type="none"/>
            </a:ln>
            <a:effectLst/>
          </p:spPr>
        </p:cxnSp>
      </p:grpSp>
      <p:sp>
        <p:nvSpPr>
          <p:cNvPr id="30" name="Oval 29">
            <a:extLst>
              <a:ext uri="{FF2B5EF4-FFF2-40B4-BE49-F238E27FC236}">
                <a16:creationId xmlns:a16="http://schemas.microsoft.com/office/drawing/2014/main" id="{423DDB64-FAB0-6442-0F2E-E0E180D70908}"/>
              </a:ext>
            </a:extLst>
          </p:cNvPr>
          <p:cNvSpPr/>
          <p:nvPr/>
        </p:nvSpPr>
        <p:spPr bwMode="gray">
          <a:xfrm>
            <a:off x="5247103" y="4329204"/>
            <a:ext cx="143015" cy="130097"/>
          </a:xfrm>
          <a:prstGeom prst="ellipse">
            <a:avLst/>
          </a:prstGeom>
          <a:solidFill>
            <a:srgbClr val="FFE600"/>
          </a:solidFill>
          <a:ln w="9525" cap="flat" cmpd="sng" algn="ctr">
            <a:noFill/>
            <a:prstDash val="solid"/>
          </a:ln>
          <a:effectLst/>
        </p:spPr>
        <p:txBody>
          <a:bodyPr lIns="72000" tIns="36000" rIns="72000" bIns="3600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grpSp>
        <p:nvGrpSpPr>
          <p:cNvPr id="31" name="Group 30">
            <a:extLst>
              <a:ext uri="{FF2B5EF4-FFF2-40B4-BE49-F238E27FC236}">
                <a16:creationId xmlns:a16="http://schemas.microsoft.com/office/drawing/2014/main" id="{A26454EE-C17B-9475-A493-BF9A1D61B5C8}"/>
              </a:ext>
            </a:extLst>
          </p:cNvPr>
          <p:cNvGrpSpPr/>
          <p:nvPr/>
        </p:nvGrpSpPr>
        <p:grpSpPr bwMode="gray">
          <a:xfrm>
            <a:off x="1183625" y="4246318"/>
            <a:ext cx="4063478" cy="289224"/>
            <a:chOff x="6588759" y="1329992"/>
            <a:chExt cx="4391110" cy="319929"/>
          </a:xfrm>
        </p:grpSpPr>
        <p:sp>
          <p:nvSpPr>
            <p:cNvPr id="32" name="Rounded Rectangle 103">
              <a:extLst>
                <a:ext uri="{FF2B5EF4-FFF2-40B4-BE49-F238E27FC236}">
                  <a16:creationId xmlns:a16="http://schemas.microsoft.com/office/drawing/2014/main" id="{B2F6C91C-E34F-A235-24E9-791D9FB54102}"/>
                </a:ext>
              </a:extLst>
            </p:cNvPr>
            <p:cNvSpPr/>
            <p:nvPr/>
          </p:nvSpPr>
          <p:spPr bwMode="gray">
            <a:xfrm>
              <a:off x="6588759" y="1329992"/>
              <a:ext cx="2264834" cy="319929"/>
            </a:xfrm>
            <a:prstGeom prst="roundRect">
              <a:avLst>
                <a:gd name="adj" fmla="val 50000"/>
              </a:avLst>
            </a:prstGeom>
            <a:solidFill>
              <a:srgbClr val="FFE600"/>
            </a:solidFill>
            <a:ln w="9525" cap="flat" cmpd="sng" algn="ctr">
              <a:noFill/>
              <a:prstDash val="solid"/>
            </a:ln>
            <a:effectLst/>
          </p:spPr>
          <p:txBody>
            <a:bodyPr lIns="72000" tIns="36000" rIns="72000" bIns="36000" rtlCol="0" anchor="ctr" anchorCtr="0">
              <a:noAutofit/>
            </a:bodyPr>
            <a:lstStyle/>
            <a:p>
              <a:pPr marR="0" algn="l" rtl="0"/>
              <a:r>
                <a:rPr lang="en-US" sz="1200" b="1" i="0" strike="noStrike" baseline="0">
                  <a:solidFill>
                    <a:schemeClr val="bg2"/>
                  </a:solidFill>
                  <a:latin typeface="EY interstate"/>
                  <a:cs typeface="Heebo" panose="00000500000000000000" pitchFamily="2" charset="-79"/>
                </a:rPr>
                <a:t>Interim Transactions</a:t>
              </a:r>
            </a:p>
          </p:txBody>
        </p:sp>
        <p:cxnSp>
          <p:nvCxnSpPr>
            <p:cNvPr id="33" name="Straight Connector 32">
              <a:extLst>
                <a:ext uri="{FF2B5EF4-FFF2-40B4-BE49-F238E27FC236}">
                  <a16:creationId xmlns:a16="http://schemas.microsoft.com/office/drawing/2014/main" id="{2965B4B5-366F-A636-8451-09A0ADB08262}"/>
                </a:ext>
              </a:extLst>
            </p:cNvPr>
            <p:cNvCxnSpPr>
              <a:cxnSpLocks/>
              <a:stCxn id="32" idx="3"/>
            </p:cNvCxnSpPr>
            <p:nvPr/>
          </p:nvCxnSpPr>
          <p:spPr bwMode="gray">
            <a:xfrm>
              <a:off x="8853593" y="1489956"/>
              <a:ext cx="2126276" cy="6100"/>
            </a:xfrm>
            <a:prstGeom prst="line">
              <a:avLst/>
            </a:prstGeom>
            <a:noFill/>
            <a:ln w="12700" cap="flat" cmpd="sng" algn="ctr">
              <a:solidFill>
                <a:srgbClr val="FFD200"/>
              </a:solidFill>
              <a:prstDash val="solid"/>
              <a:tailEnd type="none"/>
            </a:ln>
            <a:effectLst/>
          </p:spPr>
        </p:cxnSp>
      </p:grpSp>
      <p:grpSp>
        <p:nvGrpSpPr>
          <p:cNvPr id="34" name="Group 33">
            <a:extLst>
              <a:ext uri="{FF2B5EF4-FFF2-40B4-BE49-F238E27FC236}">
                <a16:creationId xmlns:a16="http://schemas.microsoft.com/office/drawing/2014/main" id="{3AD5FE2D-DBFD-E1BD-1F84-CA113D568BF2}"/>
              </a:ext>
            </a:extLst>
          </p:cNvPr>
          <p:cNvGrpSpPr/>
          <p:nvPr/>
        </p:nvGrpSpPr>
        <p:grpSpPr>
          <a:xfrm>
            <a:off x="6324630" y="4246318"/>
            <a:ext cx="4197516" cy="289224"/>
            <a:chOff x="6955399" y="3702279"/>
            <a:chExt cx="4197516" cy="289224"/>
          </a:xfrm>
        </p:grpSpPr>
        <p:sp>
          <p:nvSpPr>
            <p:cNvPr id="43" name="Rounded Rectangle 103">
              <a:extLst>
                <a:ext uri="{FF2B5EF4-FFF2-40B4-BE49-F238E27FC236}">
                  <a16:creationId xmlns:a16="http://schemas.microsoft.com/office/drawing/2014/main" id="{FFC6C447-82AC-3536-35BC-6D14B046F6C5}"/>
                </a:ext>
              </a:extLst>
            </p:cNvPr>
            <p:cNvSpPr/>
            <p:nvPr/>
          </p:nvSpPr>
          <p:spPr bwMode="gray">
            <a:xfrm>
              <a:off x="6955399" y="3702279"/>
              <a:ext cx="2095849" cy="289224"/>
            </a:xfrm>
            <a:prstGeom prst="roundRect">
              <a:avLst>
                <a:gd name="adj" fmla="val 50000"/>
              </a:avLst>
            </a:prstGeom>
            <a:solidFill>
              <a:srgbClr val="FFE600"/>
            </a:solidFill>
            <a:ln w="9525" cap="flat" cmpd="sng" algn="ctr">
              <a:noFill/>
              <a:prstDash val="solid"/>
            </a:ln>
            <a:effectLst/>
          </p:spPr>
          <p:txBody>
            <a:bodyPr lIns="72000" tIns="36000" rIns="72000" bIns="36000" rtlCol="0" anchor="ctr" anchorCtr="0">
              <a:noAutofit/>
            </a:bodyPr>
            <a:lstStyle/>
            <a:p>
              <a:pPr marR="0" algn="l" rtl="0"/>
              <a:r>
                <a:rPr lang="en-US" sz="1200" b="1" i="0" strike="noStrike" baseline="0">
                  <a:solidFill>
                    <a:schemeClr val="bg2"/>
                  </a:solidFill>
                  <a:latin typeface="EY interstate"/>
                  <a:cs typeface="Heebo" panose="00000500000000000000" pitchFamily="2" charset="-79"/>
                </a:rPr>
                <a:t>Month End Transactions</a:t>
              </a:r>
            </a:p>
          </p:txBody>
        </p:sp>
        <p:cxnSp>
          <p:nvCxnSpPr>
            <p:cNvPr id="44" name="Straight Connector 43">
              <a:extLst>
                <a:ext uri="{FF2B5EF4-FFF2-40B4-BE49-F238E27FC236}">
                  <a16:creationId xmlns:a16="http://schemas.microsoft.com/office/drawing/2014/main" id="{1AE840F0-FB73-4315-FE34-42A7D740FC1B}"/>
                </a:ext>
              </a:extLst>
            </p:cNvPr>
            <p:cNvCxnSpPr>
              <a:cxnSpLocks/>
              <a:stCxn id="43" idx="3"/>
            </p:cNvCxnSpPr>
            <p:nvPr/>
          </p:nvCxnSpPr>
          <p:spPr bwMode="gray">
            <a:xfrm>
              <a:off x="9051248" y="3846891"/>
              <a:ext cx="1967629" cy="5515"/>
            </a:xfrm>
            <a:prstGeom prst="line">
              <a:avLst/>
            </a:prstGeom>
            <a:noFill/>
            <a:ln w="12700" cap="flat" cmpd="sng" algn="ctr">
              <a:solidFill>
                <a:srgbClr val="FFD200"/>
              </a:solidFill>
              <a:prstDash val="solid"/>
              <a:tailEnd type="none"/>
            </a:ln>
            <a:effectLst/>
          </p:spPr>
        </p:cxnSp>
        <p:sp>
          <p:nvSpPr>
            <p:cNvPr id="45" name="Oval 44">
              <a:extLst>
                <a:ext uri="{FF2B5EF4-FFF2-40B4-BE49-F238E27FC236}">
                  <a16:creationId xmlns:a16="http://schemas.microsoft.com/office/drawing/2014/main" id="{0B3E0BFE-E1F7-724A-9FE7-53919EC2EB30}"/>
                </a:ext>
              </a:extLst>
            </p:cNvPr>
            <p:cNvSpPr/>
            <p:nvPr/>
          </p:nvSpPr>
          <p:spPr bwMode="gray">
            <a:xfrm>
              <a:off x="11009900" y="3784353"/>
              <a:ext cx="143015" cy="130097"/>
            </a:xfrm>
            <a:prstGeom prst="ellipse">
              <a:avLst/>
            </a:prstGeom>
            <a:solidFill>
              <a:srgbClr val="FFE600"/>
            </a:solidFill>
            <a:ln w="9525" cap="flat" cmpd="sng" algn="ctr">
              <a:noFill/>
              <a:prstDash val="solid"/>
            </a:ln>
            <a:effectLst/>
          </p:spPr>
          <p:txBody>
            <a:bodyPr lIns="72000" tIns="36000" rIns="72000" bIns="3600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sp>
          <p:nvSpPr>
            <p:cNvPr id="46" name="Oval 45">
              <a:extLst>
                <a:ext uri="{FF2B5EF4-FFF2-40B4-BE49-F238E27FC236}">
                  <a16:creationId xmlns:a16="http://schemas.microsoft.com/office/drawing/2014/main" id="{A77652CA-B7A3-F6F0-6661-64789E021D75}"/>
                </a:ext>
              </a:extLst>
            </p:cNvPr>
            <p:cNvSpPr/>
            <p:nvPr/>
          </p:nvSpPr>
          <p:spPr bwMode="gray">
            <a:xfrm>
              <a:off x="11004082" y="3781842"/>
              <a:ext cx="143015" cy="130097"/>
            </a:xfrm>
            <a:prstGeom prst="ellipse">
              <a:avLst/>
            </a:prstGeom>
            <a:solidFill>
              <a:srgbClr val="FFE600"/>
            </a:solidFill>
            <a:ln w="9525" cap="flat" cmpd="sng" algn="ctr">
              <a:noFill/>
              <a:prstDash val="solid"/>
            </a:ln>
            <a:effectLst/>
          </p:spPr>
          <p:txBody>
            <a:bodyPr lIns="72000" tIns="36000" rIns="72000" bIns="3600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rgbClr val="000000"/>
                </a:solidFill>
                <a:effectLst/>
                <a:uLnTx/>
                <a:uFillTx/>
                <a:latin typeface="EY interstate"/>
              </a:endParaRPr>
            </a:p>
          </p:txBody>
        </p:sp>
      </p:grpSp>
      <p:grpSp>
        <p:nvGrpSpPr>
          <p:cNvPr id="47" name="Group 46">
            <a:extLst>
              <a:ext uri="{FF2B5EF4-FFF2-40B4-BE49-F238E27FC236}">
                <a16:creationId xmlns:a16="http://schemas.microsoft.com/office/drawing/2014/main" id="{C139D509-512E-D176-78DD-2EE90A5DA3E6}"/>
              </a:ext>
            </a:extLst>
          </p:cNvPr>
          <p:cNvGrpSpPr/>
          <p:nvPr/>
        </p:nvGrpSpPr>
        <p:grpSpPr bwMode="gray">
          <a:xfrm>
            <a:off x="1183625" y="4247130"/>
            <a:ext cx="4063478" cy="289224"/>
            <a:chOff x="6588759" y="1329992"/>
            <a:chExt cx="4391110" cy="319929"/>
          </a:xfrm>
        </p:grpSpPr>
        <p:sp>
          <p:nvSpPr>
            <p:cNvPr id="48" name="Rounded Rectangle 103">
              <a:extLst>
                <a:ext uri="{FF2B5EF4-FFF2-40B4-BE49-F238E27FC236}">
                  <a16:creationId xmlns:a16="http://schemas.microsoft.com/office/drawing/2014/main" id="{AFCFB4D1-9A5F-17B1-FC39-A517E00B4DF7}"/>
                </a:ext>
              </a:extLst>
            </p:cNvPr>
            <p:cNvSpPr/>
            <p:nvPr/>
          </p:nvSpPr>
          <p:spPr bwMode="gray">
            <a:xfrm>
              <a:off x="6588759" y="1329992"/>
              <a:ext cx="2264834" cy="319929"/>
            </a:xfrm>
            <a:prstGeom prst="roundRect">
              <a:avLst>
                <a:gd name="adj" fmla="val 50000"/>
              </a:avLst>
            </a:prstGeom>
            <a:solidFill>
              <a:srgbClr val="FFE600"/>
            </a:solidFill>
            <a:ln w="9525" cap="flat" cmpd="sng" algn="ctr">
              <a:noFill/>
              <a:prstDash val="solid"/>
            </a:ln>
            <a:effectLst/>
          </p:spPr>
          <p:txBody>
            <a:bodyPr lIns="72000" tIns="36000" rIns="72000" bIns="36000" rtlCol="0" anchor="ctr" anchorCtr="0">
              <a:noAutofit/>
            </a:bodyPr>
            <a:lstStyle/>
            <a:p>
              <a:pPr marR="0" algn="l" rtl="0"/>
              <a:r>
                <a:rPr lang="en-US" sz="1200" b="1" i="0" strike="noStrike" baseline="0">
                  <a:latin typeface="EY interstate"/>
                  <a:cs typeface="Heebo" panose="00000500000000000000" pitchFamily="2" charset="-79"/>
                </a:rPr>
                <a:t>Interim Transactions</a:t>
              </a:r>
            </a:p>
          </p:txBody>
        </p:sp>
        <p:cxnSp>
          <p:nvCxnSpPr>
            <p:cNvPr id="49" name="Straight Connector 48">
              <a:extLst>
                <a:ext uri="{FF2B5EF4-FFF2-40B4-BE49-F238E27FC236}">
                  <a16:creationId xmlns:a16="http://schemas.microsoft.com/office/drawing/2014/main" id="{4AC8E16F-B989-5600-4572-E175DA7EB5B1}"/>
                </a:ext>
              </a:extLst>
            </p:cNvPr>
            <p:cNvCxnSpPr>
              <a:cxnSpLocks/>
              <a:stCxn id="48" idx="3"/>
            </p:cNvCxnSpPr>
            <p:nvPr/>
          </p:nvCxnSpPr>
          <p:spPr bwMode="gray">
            <a:xfrm>
              <a:off x="8853593" y="1489956"/>
              <a:ext cx="2126276" cy="6100"/>
            </a:xfrm>
            <a:prstGeom prst="line">
              <a:avLst/>
            </a:prstGeom>
            <a:noFill/>
            <a:ln w="12700" cap="flat" cmpd="sng" algn="ctr">
              <a:solidFill>
                <a:srgbClr val="FFD200"/>
              </a:solidFill>
              <a:prstDash val="solid"/>
              <a:tailEnd type="none"/>
            </a:ln>
            <a:effectLst/>
          </p:spPr>
        </p:cxnSp>
      </p:grpSp>
      <p:grpSp>
        <p:nvGrpSpPr>
          <p:cNvPr id="50" name="Group 49">
            <a:extLst>
              <a:ext uri="{FF2B5EF4-FFF2-40B4-BE49-F238E27FC236}">
                <a16:creationId xmlns:a16="http://schemas.microsoft.com/office/drawing/2014/main" id="{669A6955-98E2-6BCA-98D7-A73F9AE29E83}"/>
              </a:ext>
            </a:extLst>
          </p:cNvPr>
          <p:cNvGrpSpPr/>
          <p:nvPr/>
        </p:nvGrpSpPr>
        <p:grpSpPr>
          <a:xfrm>
            <a:off x="6324630" y="4247130"/>
            <a:ext cx="4197516" cy="289224"/>
            <a:chOff x="6955399" y="3702279"/>
            <a:chExt cx="4197516" cy="289224"/>
          </a:xfrm>
        </p:grpSpPr>
        <p:sp>
          <p:nvSpPr>
            <p:cNvPr id="51" name="Rounded Rectangle 103">
              <a:extLst>
                <a:ext uri="{FF2B5EF4-FFF2-40B4-BE49-F238E27FC236}">
                  <a16:creationId xmlns:a16="http://schemas.microsoft.com/office/drawing/2014/main" id="{A4870B8D-E7DF-4864-0273-A9DEEFF52601}"/>
                </a:ext>
              </a:extLst>
            </p:cNvPr>
            <p:cNvSpPr/>
            <p:nvPr/>
          </p:nvSpPr>
          <p:spPr bwMode="gray">
            <a:xfrm>
              <a:off x="6955399" y="3702279"/>
              <a:ext cx="2095849" cy="289224"/>
            </a:xfrm>
            <a:prstGeom prst="roundRect">
              <a:avLst>
                <a:gd name="adj" fmla="val 50000"/>
              </a:avLst>
            </a:prstGeom>
            <a:solidFill>
              <a:srgbClr val="FFE600"/>
            </a:solidFill>
            <a:ln w="9525" cap="flat" cmpd="sng" algn="ctr">
              <a:noFill/>
              <a:prstDash val="solid"/>
            </a:ln>
            <a:effectLst/>
          </p:spPr>
          <p:txBody>
            <a:bodyPr lIns="72000" tIns="36000" rIns="72000" bIns="36000" rtlCol="0" anchor="ctr" anchorCtr="0">
              <a:noAutofit/>
            </a:bodyPr>
            <a:lstStyle/>
            <a:p>
              <a:pPr marR="0" algn="l" rtl="0"/>
              <a:r>
                <a:rPr lang="en-US" sz="1200" b="1" i="0" strike="noStrike" baseline="0">
                  <a:latin typeface="EY interstate"/>
                  <a:cs typeface="Heebo" panose="00000500000000000000" pitchFamily="2" charset="-79"/>
                </a:rPr>
                <a:t>Month End Transactions</a:t>
              </a:r>
            </a:p>
          </p:txBody>
        </p:sp>
        <p:cxnSp>
          <p:nvCxnSpPr>
            <p:cNvPr id="52" name="Straight Connector 51">
              <a:extLst>
                <a:ext uri="{FF2B5EF4-FFF2-40B4-BE49-F238E27FC236}">
                  <a16:creationId xmlns:a16="http://schemas.microsoft.com/office/drawing/2014/main" id="{EEBA9E6B-AC29-B471-9ABA-461642FC2ECA}"/>
                </a:ext>
              </a:extLst>
            </p:cNvPr>
            <p:cNvCxnSpPr>
              <a:cxnSpLocks/>
              <a:stCxn id="51" idx="3"/>
            </p:cNvCxnSpPr>
            <p:nvPr/>
          </p:nvCxnSpPr>
          <p:spPr bwMode="gray">
            <a:xfrm>
              <a:off x="9051248" y="3846891"/>
              <a:ext cx="1967629" cy="5515"/>
            </a:xfrm>
            <a:prstGeom prst="line">
              <a:avLst/>
            </a:prstGeom>
            <a:noFill/>
            <a:ln w="12700" cap="flat" cmpd="sng" algn="ctr">
              <a:solidFill>
                <a:srgbClr val="FFD200"/>
              </a:solidFill>
              <a:prstDash val="solid"/>
              <a:tailEnd type="none"/>
            </a:ln>
            <a:effectLst/>
          </p:spPr>
        </p:cxnSp>
        <p:sp>
          <p:nvSpPr>
            <p:cNvPr id="53" name="Oval 52">
              <a:extLst>
                <a:ext uri="{FF2B5EF4-FFF2-40B4-BE49-F238E27FC236}">
                  <a16:creationId xmlns:a16="http://schemas.microsoft.com/office/drawing/2014/main" id="{B7C6FE3A-3101-5E6B-83D5-DCCE7364BED8}"/>
                </a:ext>
              </a:extLst>
            </p:cNvPr>
            <p:cNvSpPr/>
            <p:nvPr/>
          </p:nvSpPr>
          <p:spPr bwMode="gray">
            <a:xfrm>
              <a:off x="11009900" y="3784353"/>
              <a:ext cx="143015" cy="130097"/>
            </a:xfrm>
            <a:prstGeom prst="ellipse">
              <a:avLst/>
            </a:prstGeom>
            <a:solidFill>
              <a:srgbClr val="FFE600"/>
            </a:solidFill>
            <a:ln w="9525" cap="flat" cmpd="sng" algn="ctr">
              <a:noFill/>
              <a:prstDash val="solid"/>
            </a:ln>
            <a:effectLst/>
          </p:spPr>
          <p:txBody>
            <a:bodyPr lIns="72000" tIns="36000" rIns="72000" bIns="3600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effectLst/>
                <a:uLnTx/>
                <a:uFillTx/>
                <a:latin typeface="EY interstate"/>
              </a:endParaRPr>
            </a:p>
          </p:txBody>
        </p:sp>
        <p:sp>
          <p:nvSpPr>
            <p:cNvPr id="54" name="Oval 53">
              <a:extLst>
                <a:ext uri="{FF2B5EF4-FFF2-40B4-BE49-F238E27FC236}">
                  <a16:creationId xmlns:a16="http://schemas.microsoft.com/office/drawing/2014/main" id="{5FCBFB42-FFE3-A6B5-592C-3CF0AE7EF95E}"/>
                </a:ext>
              </a:extLst>
            </p:cNvPr>
            <p:cNvSpPr/>
            <p:nvPr/>
          </p:nvSpPr>
          <p:spPr bwMode="gray">
            <a:xfrm>
              <a:off x="11004082" y="3781842"/>
              <a:ext cx="143015" cy="130097"/>
            </a:xfrm>
            <a:prstGeom prst="ellipse">
              <a:avLst/>
            </a:prstGeom>
            <a:solidFill>
              <a:srgbClr val="FFE600"/>
            </a:solidFill>
            <a:ln w="9525" cap="flat" cmpd="sng" algn="ctr">
              <a:noFill/>
              <a:prstDash val="solid"/>
            </a:ln>
            <a:effectLst/>
          </p:spPr>
          <p:txBody>
            <a:bodyPr lIns="72000" tIns="36000" rIns="72000" bIns="3600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effectLst/>
                <a:uLnTx/>
                <a:uFillTx/>
                <a:latin typeface="EY interstate"/>
              </a:endParaRPr>
            </a:p>
          </p:txBody>
        </p:sp>
      </p:grpSp>
      <p:sp>
        <p:nvSpPr>
          <p:cNvPr id="55" name="Oval 54">
            <a:extLst>
              <a:ext uri="{FF2B5EF4-FFF2-40B4-BE49-F238E27FC236}">
                <a16:creationId xmlns:a16="http://schemas.microsoft.com/office/drawing/2014/main" id="{D9E5E44F-1DE6-921B-08F6-C41033CABE79}"/>
              </a:ext>
            </a:extLst>
          </p:cNvPr>
          <p:cNvSpPr/>
          <p:nvPr/>
        </p:nvSpPr>
        <p:spPr>
          <a:xfrm>
            <a:off x="8806688" y="2560660"/>
            <a:ext cx="50800" cy="45719"/>
          </a:xfrm>
          <a:prstGeom prst="ellipse">
            <a:avLst/>
          </a:prstGeom>
          <a:solidFill>
            <a:srgbClr val="4672C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latin typeface="EY interstate"/>
            </a:endParaRPr>
          </a:p>
        </p:txBody>
      </p:sp>
    </p:spTree>
    <p:extLst>
      <p:ext uri="{BB962C8B-B14F-4D97-AF65-F5344CB8AC3E}">
        <p14:creationId xmlns:p14="http://schemas.microsoft.com/office/powerpoint/2010/main" val="303719267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E573D2-FD35-A398-4202-0D295701764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A5DE635-9A3F-1E6B-D0AE-24413777760D}"/>
              </a:ext>
            </a:extLst>
          </p:cNvPr>
          <p:cNvSpPr txBox="1">
            <a:spLocks/>
          </p:cNvSpPr>
          <p:nvPr/>
        </p:nvSpPr>
        <p:spPr>
          <a:xfrm>
            <a:off x="566174" y="184011"/>
            <a:ext cx="8244486" cy="330724"/>
          </a:xfrm>
          <a:prstGeom prst="rect">
            <a:avLst/>
          </a:prstGeom>
          <a:noFill/>
          <a:ln>
            <a:noFill/>
          </a:ln>
        </p:spPr>
        <p:txBody>
          <a:bodyPr vert="horz" wrap="square" lIns="0" tIns="0" rIns="0" bIns="0" rtlCol="0" anchor="t" anchorCtr="0" compatLnSpc="1">
            <a:noAutofit/>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1" i="0" u="none" strike="noStrike" cap="none" spc="0" baseline="0">
                <a:solidFill>
                  <a:srgbClr val="FFE600"/>
                </a:solidFill>
                <a:uFillTx/>
                <a:latin typeface="EY interstate heading"/>
              </a:defRPr>
            </a:lvl1pPr>
          </a:lstStyle>
          <a:p>
            <a:r>
              <a:rPr lang="en-IN"/>
              <a:t>Best Practices of Managing Inter Company Processes in Distributed ERP Landscape</a:t>
            </a:r>
          </a:p>
        </p:txBody>
      </p:sp>
      <p:sp>
        <p:nvSpPr>
          <p:cNvPr id="4" name="Rectangle 3">
            <a:extLst>
              <a:ext uri="{FF2B5EF4-FFF2-40B4-BE49-F238E27FC236}">
                <a16:creationId xmlns:a16="http://schemas.microsoft.com/office/drawing/2014/main" id="{B3FABB91-E020-30E6-61B4-12BC217391B7}"/>
              </a:ext>
            </a:extLst>
          </p:cNvPr>
          <p:cNvSpPr/>
          <p:nvPr/>
        </p:nvSpPr>
        <p:spPr>
          <a:xfrm>
            <a:off x="951079" y="1355579"/>
            <a:ext cx="10289841" cy="327782"/>
          </a:xfrm>
          <a:prstGeom prst="rect">
            <a:avLst/>
          </a:prstGeom>
        </p:spPr>
        <p:txBody>
          <a:bodyPr wrap="square">
            <a:spAutoFit/>
          </a:bodyPr>
          <a:lstStyle/>
          <a:p>
            <a:pPr marL="0" marR="0" lvl="0" indent="0" algn="l" defTabSz="914400" rtl="0" eaLnBrk="1" fontAlgn="auto" latinLnBrk="0" hangingPunct="1">
              <a:lnSpc>
                <a:spcPct val="85000"/>
              </a:lnSpc>
              <a:spcBef>
                <a:spcPts val="0"/>
              </a:spcBef>
              <a:spcAft>
                <a:spcPts val="600"/>
              </a:spcAft>
              <a:buClr>
                <a:srgbClr val="FFE600"/>
              </a:buClr>
              <a:buSzPct val="70000"/>
              <a:buFontTx/>
              <a:buNone/>
              <a:tabLst/>
              <a:defRPr/>
            </a:pPr>
            <a:r>
              <a:rPr kumimoji="0" lang="en-US" altLang="en-US" b="0" i="0" u="none" strike="noStrike" kern="1200" cap="none" spc="0" normalizeH="0" baseline="0" noProof="0">
                <a:ln>
                  <a:noFill/>
                </a:ln>
                <a:solidFill>
                  <a:schemeClr val="bg1"/>
                </a:solidFill>
                <a:effectLst/>
                <a:uLnTx/>
                <a:uFillTx/>
                <a:latin typeface="EY interstate"/>
                <a:cs typeface="Arial" panose="020B0604020202020204" pitchFamily="34" charset="0"/>
              </a:rPr>
              <a:t>A</a:t>
            </a:r>
            <a:r>
              <a:rPr kumimoji="0" lang="en-US" altLang="en-US" b="0" i="0" u="none" strike="noStrike" kern="1200" cap="none" spc="0" normalizeH="0" baseline="0" noProof="0">
                <a:ln>
                  <a:noFill/>
                </a:ln>
                <a:solidFill>
                  <a:schemeClr val="bg1"/>
                </a:solidFill>
                <a:effectLst/>
                <a:uLnTx/>
                <a:uFillTx/>
                <a:latin typeface="EY interstate"/>
              </a:rPr>
              <a:t> </a:t>
            </a:r>
            <a:r>
              <a:rPr kumimoji="0" lang="en-US" altLang="en-US" b="0" i="0" u="none" strike="noStrike" kern="1200" cap="none" spc="0" normalizeH="0" baseline="0" noProof="0">
                <a:ln>
                  <a:noFill/>
                </a:ln>
                <a:solidFill>
                  <a:schemeClr val="bg1"/>
                </a:solidFill>
                <a:effectLst/>
                <a:uLnTx/>
                <a:uFillTx/>
                <a:latin typeface="EY interstate"/>
                <a:cs typeface="Arial" panose="020B0604020202020204" pitchFamily="34" charset="0"/>
              </a:rPr>
              <a:t>combination of SAP and BlackLine capabilities can drive the best in class intercompany process</a:t>
            </a:r>
          </a:p>
        </p:txBody>
      </p:sp>
      <p:sp>
        <p:nvSpPr>
          <p:cNvPr id="5" name="Rectangle 4">
            <a:extLst>
              <a:ext uri="{FF2B5EF4-FFF2-40B4-BE49-F238E27FC236}">
                <a16:creationId xmlns:a16="http://schemas.microsoft.com/office/drawing/2014/main" id="{821BF3B6-A807-E480-D72D-D1B837284DDF}"/>
              </a:ext>
            </a:extLst>
          </p:cNvPr>
          <p:cNvSpPr>
            <a:spLocks noChangeArrowheads="1"/>
          </p:cNvSpPr>
          <p:nvPr/>
        </p:nvSpPr>
        <p:spPr bwMode="auto">
          <a:xfrm>
            <a:off x="834253" y="1771066"/>
            <a:ext cx="891772"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Establish IC  Policies &amp;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Data Setup</a:t>
            </a:r>
          </a:p>
        </p:txBody>
      </p:sp>
      <p:cxnSp>
        <p:nvCxnSpPr>
          <p:cNvPr id="6" name="Straight Connector 56">
            <a:extLst>
              <a:ext uri="{FF2B5EF4-FFF2-40B4-BE49-F238E27FC236}">
                <a16:creationId xmlns:a16="http://schemas.microsoft.com/office/drawing/2014/main" id="{56153996-FEDE-8B74-C5B5-D4130C1A565B}"/>
              </a:ext>
            </a:extLst>
          </p:cNvPr>
          <p:cNvCxnSpPr/>
          <p:nvPr/>
        </p:nvCxnSpPr>
        <p:spPr>
          <a:xfrm>
            <a:off x="1726025" y="2079757"/>
            <a:ext cx="1252790" cy="0"/>
          </a:xfrm>
          <a:prstGeom prst="line">
            <a:avLst/>
          </a:prstGeom>
          <a:ln>
            <a:solidFill>
              <a:schemeClr val="bg1"/>
            </a:solidFill>
            <a:tailEnd type="none"/>
          </a:ln>
        </p:spPr>
        <p:style>
          <a:lnRef idx="1">
            <a:schemeClr val="accent5"/>
          </a:lnRef>
          <a:fillRef idx="0">
            <a:schemeClr val="accent5"/>
          </a:fillRef>
          <a:effectRef idx="0">
            <a:schemeClr val="accent5"/>
          </a:effectRef>
          <a:fontRef idx="minor">
            <a:schemeClr val="tx1"/>
          </a:fontRef>
        </p:style>
      </p:cxnSp>
      <p:sp>
        <p:nvSpPr>
          <p:cNvPr id="8" name="Rectangle 2">
            <a:extLst>
              <a:ext uri="{FF2B5EF4-FFF2-40B4-BE49-F238E27FC236}">
                <a16:creationId xmlns:a16="http://schemas.microsoft.com/office/drawing/2014/main" id="{1DDC2955-7FEF-F37A-C609-72BDF5C40885}"/>
              </a:ext>
            </a:extLst>
          </p:cNvPr>
          <p:cNvSpPr>
            <a:spLocks noChangeArrowheads="1"/>
          </p:cNvSpPr>
          <p:nvPr/>
        </p:nvSpPr>
        <p:spPr bwMode="auto">
          <a:xfrm>
            <a:off x="2978815" y="1771066"/>
            <a:ext cx="891772"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Initiate 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Transactions</a:t>
            </a:r>
          </a:p>
        </p:txBody>
      </p:sp>
      <p:cxnSp>
        <p:nvCxnSpPr>
          <p:cNvPr id="9" name="Straight Connector 59">
            <a:extLst>
              <a:ext uri="{FF2B5EF4-FFF2-40B4-BE49-F238E27FC236}">
                <a16:creationId xmlns:a16="http://schemas.microsoft.com/office/drawing/2014/main" id="{4C3C8679-ABD4-FEDB-EAA2-BC859B44E554}"/>
              </a:ext>
            </a:extLst>
          </p:cNvPr>
          <p:cNvCxnSpPr/>
          <p:nvPr/>
        </p:nvCxnSpPr>
        <p:spPr>
          <a:xfrm>
            <a:off x="3870587" y="2079757"/>
            <a:ext cx="1319504" cy="0"/>
          </a:xfrm>
          <a:prstGeom prst="line">
            <a:avLst/>
          </a:prstGeom>
          <a:ln>
            <a:solidFill>
              <a:schemeClr val="bg1"/>
            </a:solidFill>
            <a:tailEnd type="none"/>
          </a:ln>
        </p:spPr>
        <p:style>
          <a:lnRef idx="1">
            <a:schemeClr val="accent5"/>
          </a:lnRef>
          <a:fillRef idx="0">
            <a:schemeClr val="accent5"/>
          </a:fillRef>
          <a:effectRef idx="0">
            <a:schemeClr val="accent5"/>
          </a:effectRef>
          <a:fontRef idx="minor">
            <a:schemeClr val="tx1"/>
          </a:fontRef>
        </p:style>
      </p:cxnSp>
      <p:sp>
        <p:nvSpPr>
          <p:cNvPr id="11" name="Rectangle 2">
            <a:extLst>
              <a:ext uri="{FF2B5EF4-FFF2-40B4-BE49-F238E27FC236}">
                <a16:creationId xmlns:a16="http://schemas.microsoft.com/office/drawing/2014/main" id="{5C722846-8F8F-DA4D-98A2-379922BB9FC6}"/>
              </a:ext>
            </a:extLst>
          </p:cNvPr>
          <p:cNvSpPr>
            <a:spLocks noChangeArrowheads="1"/>
          </p:cNvSpPr>
          <p:nvPr/>
        </p:nvSpPr>
        <p:spPr bwMode="auto">
          <a:xfrm>
            <a:off x="5190091" y="1771066"/>
            <a:ext cx="891772"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Book IC Transactions </a:t>
            </a:r>
          </a:p>
        </p:txBody>
      </p:sp>
      <p:cxnSp>
        <p:nvCxnSpPr>
          <p:cNvPr id="14" name="Straight Connector 62">
            <a:extLst>
              <a:ext uri="{FF2B5EF4-FFF2-40B4-BE49-F238E27FC236}">
                <a16:creationId xmlns:a16="http://schemas.microsoft.com/office/drawing/2014/main" id="{D6468686-8BED-AC98-997C-18AF4CCF5431}"/>
              </a:ext>
            </a:extLst>
          </p:cNvPr>
          <p:cNvCxnSpPr>
            <a:cxnSpLocks/>
          </p:cNvCxnSpPr>
          <p:nvPr/>
        </p:nvCxnSpPr>
        <p:spPr>
          <a:xfrm>
            <a:off x="6081863" y="2079756"/>
            <a:ext cx="942234" cy="0"/>
          </a:xfrm>
          <a:prstGeom prst="line">
            <a:avLst/>
          </a:prstGeom>
          <a:ln>
            <a:solidFill>
              <a:schemeClr val="bg1"/>
            </a:solidFill>
            <a:tailEnd type="none"/>
          </a:ln>
        </p:spPr>
        <p:style>
          <a:lnRef idx="1">
            <a:schemeClr val="accent5"/>
          </a:lnRef>
          <a:fillRef idx="0">
            <a:schemeClr val="accent5"/>
          </a:fillRef>
          <a:effectRef idx="0">
            <a:schemeClr val="accent5"/>
          </a:effectRef>
          <a:fontRef idx="minor">
            <a:schemeClr val="tx1"/>
          </a:fontRef>
        </p:style>
      </p:cxnSp>
      <p:sp>
        <p:nvSpPr>
          <p:cNvPr id="16" name="Rectangle 2">
            <a:extLst>
              <a:ext uri="{FF2B5EF4-FFF2-40B4-BE49-F238E27FC236}">
                <a16:creationId xmlns:a16="http://schemas.microsoft.com/office/drawing/2014/main" id="{A24E6BD5-D875-96E0-52F7-BC2C69B8080B}"/>
              </a:ext>
            </a:extLst>
          </p:cNvPr>
          <p:cNvSpPr>
            <a:spLocks noChangeArrowheads="1"/>
          </p:cNvSpPr>
          <p:nvPr/>
        </p:nvSpPr>
        <p:spPr bwMode="auto">
          <a:xfrm>
            <a:off x="7024097" y="1771066"/>
            <a:ext cx="993835"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Perform IC Matching and Reconciliation</a:t>
            </a:r>
          </a:p>
        </p:txBody>
      </p:sp>
      <p:cxnSp>
        <p:nvCxnSpPr>
          <p:cNvPr id="18" name="Straight Connector 67">
            <a:extLst>
              <a:ext uri="{FF2B5EF4-FFF2-40B4-BE49-F238E27FC236}">
                <a16:creationId xmlns:a16="http://schemas.microsoft.com/office/drawing/2014/main" id="{0883B3AA-FEFD-230C-4DBF-07E0A3F5F7A1}"/>
              </a:ext>
            </a:extLst>
          </p:cNvPr>
          <p:cNvCxnSpPr>
            <a:cxnSpLocks/>
          </p:cNvCxnSpPr>
          <p:nvPr/>
        </p:nvCxnSpPr>
        <p:spPr>
          <a:xfrm>
            <a:off x="8017932" y="2079757"/>
            <a:ext cx="454985" cy="0"/>
          </a:xfrm>
          <a:prstGeom prst="line">
            <a:avLst/>
          </a:prstGeom>
          <a:ln>
            <a:solidFill>
              <a:schemeClr val="bg1"/>
            </a:solidFill>
            <a:tailEnd type="none"/>
          </a:ln>
        </p:spPr>
        <p:style>
          <a:lnRef idx="1">
            <a:schemeClr val="accent5"/>
          </a:lnRef>
          <a:fillRef idx="0">
            <a:schemeClr val="accent5"/>
          </a:fillRef>
          <a:effectRef idx="0">
            <a:schemeClr val="accent5"/>
          </a:effectRef>
          <a:fontRef idx="minor">
            <a:schemeClr val="tx1"/>
          </a:fontRef>
        </p:style>
      </p:cxnSp>
      <p:sp>
        <p:nvSpPr>
          <p:cNvPr id="35" name="Rectangle 2">
            <a:extLst>
              <a:ext uri="{FF2B5EF4-FFF2-40B4-BE49-F238E27FC236}">
                <a16:creationId xmlns:a16="http://schemas.microsoft.com/office/drawing/2014/main" id="{E1DCF3B7-F104-4C4F-BF50-975C5969BA1C}"/>
              </a:ext>
            </a:extLst>
          </p:cNvPr>
          <p:cNvSpPr>
            <a:spLocks noChangeArrowheads="1"/>
          </p:cNvSpPr>
          <p:nvPr/>
        </p:nvSpPr>
        <p:spPr bwMode="auto">
          <a:xfrm>
            <a:off x="8472917" y="1771066"/>
            <a:ext cx="2014392"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Prepare Elimination Entries,  Consolidate &amp; Report</a:t>
            </a:r>
          </a:p>
        </p:txBody>
      </p:sp>
      <p:sp>
        <p:nvSpPr>
          <p:cNvPr id="36" name="TextBox 2">
            <a:extLst>
              <a:ext uri="{FF2B5EF4-FFF2-40B4-BE49-F238E27FC236}">
                <a16:creationId xmlns:a16="http://schemas.microsoft.com/office/drawing/2014/main" id="{6099E15A-4AA5-F486-2523-B24212D9A714}"/>
              </a:ext>
            </a:extLst>
          </p:cNvPr>
          <p:cNvSpPr txBox="1"/>
          <p:nvPr/>
        </p:nvSpPr>
        <p:spPr>
          <a:xfrm>
            <a:off x="550162" y="2508768"/>
            <a:ext cx="2114631" cy="2252924"/>
          </a:xfrm>
          <a:prstGeom prst="rect">
            <a:avLst/>
          </a:prstGeom>
          <a:solidFill>
            <a:schemeClr val="bg2"/>
          </a:solidFill>
        </p:spPr>
        <p:txBody>
          <a:bodyPr wrap="square" lIns="0" tIns="36576" rIns="0" bIns="0" rtlCol="0">
            <a:spAutoFit/>
          </a:bodyPr>
          <a:lstStyle/>
          <a:p>
            <a:pPr marL="111125" lvl="1" algn="ctr">
              <a:buClr>
                <a:srgbClr val="646464"/>
              </a:buClr>
              <a:buSzPct val="70000"/>
              <a:defRPr/>
            </a:pPr>
            <a:r>
              <a:rPr lang="en-US" sz="900" b="1">
                <a:solidFill>
                  <a:srgbClr val="000000"/>
                </a:solidFill>
                <a:latin typeface="EY interstate"/>
                <a:cs typeface="Arial" panose="020B0604020202020204" pitchFamily="34" charset="0"/>
              </a:rPr>
              <a:t>SAP: </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Company Code = Legal Entity set up</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Business Partner setup – Customer &amp; Vendor</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Establish relationships for dual posting</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Setup VAT, WHT, other Indirect Taxes</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COA – specific IC accounts</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Material Master</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SKU/Product cost</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Transfer Pricing Markup</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FX – can handle multiple currencies</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Interfaces set-up</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Policies – built into process</a:t>
            </a:r>
          </a:p>
          <a:p>
            <a:pPr marL="282575" lvl="1" indent="-171450">
              <a:buClr>
                <a:srgbClr val="646464"/>
              </a:buClr>
              <a:buSzPct val="75000"/>
              <a:buFont typeface="Arial" panose="020B0604020202020204" pitchFamily="34" charset="0"/>
              <a:buChar char="►"/>
              <a:defRPr/>
            </a:pPr>
            <a:r>
              <a:rPr lang="en-US" sz="900">
                <a:solidFill>
                  <a:srgbClr val="000000"/>
                </a:solidFill>
                <a:latin typeface="EY interstate"/>
                <a:cs typeface="Arial" panose="020B0604020202020204" pitchFamily="34" charset="0"/>
              </a:rPr>
              <a:t>Revenue Recognition – PGI/GR/Other that aligns with Rev Rec pronouncements</a:t>
            </a:r>
          </a:p>
        </p:txBody>
      </p:sp>
      <p:sp>
        <p:nvSpPr>
          <p:cNvPr id="37" name="TextBox 18">
            <a:extLst>
              <a:ext uri="{FF2B5EF4-FFF2-40B4-BE49-F238E27FC236}">
                <a16:creationId xmlns:a16="http://schemas.microsoft.com/office/drawing/2014/main" id="{23BBCB87-55D5-1B08-A60D-961F68784ADE}"/>
              </a:ext>
            </a:extLst>
          </p:cNvPr>
          <p:cNvSpPr txBox="1"/>
          <p:nvPr/>
        </p:nvSpPr>
        <p:spPr>
          <a:xfrm>
            <a:off x="2825538" y="2521407"/>
            <a:ext cx="1977088" cy="1698927"/>
          </a:xfrm>
          <a:prstGeom prst="rect">
            <a:avLst/>
          </a:prstGeom>
          <a:solidFill>
            <a:schemeClr val="bg2"/>
          </a:solidFill>
        </p:spPr>
        <p:txBody>
          <a:bodyPr wrap="square" lIns="0" tIns="36576" rIns="0" bIns="0" rtlCol="0">
            <a:spAutoFit/>
          </a:bodyPr>
          <a:lstStyle>
            <a:defPPr>
              <a:defRPr lang="en-US"/>
            </a:defPPr>
            <a:lvl1pPr marL="117475" indent="-117475">
              <a:buClr>
                <a:schemeClr val="bg2"/>
              </a:buClr>
              <a:buSzPct val="70000"/>
              <a:buFont typeface="Arial" panose="020B0604020202020204" pitchFamily="34" charset="0"/>
              <a:buChar char="•"/>
              <a:defRPr sz="700">
                <a:solidFill>
                  <a:schemeClr val="bg1"/>
                </a:solidFill>
              </a:defRPr>
            </a:lvl1pPr>
            <a:lvl2pPr marL="228600" lvl="1" indent="-117475">
              <a:buClr>
                <a:schemeClr val="bg2"/>
              </a:buClr>
              <a:buSzPct val="70000"/>
              <a:buFont typeface="Arial" panose="020B0604020202020204" pitchFamily="34" charset="0"/>
              <a:buChar char="•"/>
              <a:defRPr sz="700">
                <a:solidFill>
                  <a:schemeClr val="bg1"/>
                </a:solidFill>
              </a:defRPr>
            </a:lvl2pPr>
            <a:lvl3pPr marL="173038" lvl="2" indent="-55563">
              <a:buClr>
                <a:schemeClr val="bg2"/>
              </a:buClr>
              <a:buSzPct val="70000"/>
              <a:buFont typeface="Arial" panose="020B0604020202020204" pitchFamily="34" charset="0"/>
              <a:buChar char="•"/>
              <a:defRPr sz="700">
                <a:solidFill>
                  <a:schemeClr val="bg1"/>
                </a:solidFill>
              </a:defRPr>
            </a:lvl3pPr>
          </a:lstStyle>
          <a:p>
            <a:pPr marL="0" marR="0" lvl="0" indent="0" algn="ctr" defTabSz="914400" rtl="0" eaLnBrk="1" fontAlgn="auto" latinLnBrk="0" hangingPunct="1">
              <a:lnSpc>
                <a:spcPct val="100000"/>
              </a:lnSpc>
              <a:spcBef>
                <a:spcPts val="0"/>
              </a:spcBef>
              <a:spcAft>
                <a:spcPts val="0"/>
              </a:spcAft>
              <a:buClr>
                <a:srgbClr val="646464"/>
              </a:buClr>
              <a:buSzPct val="70000"/>
              <a:buNone/>
              <a:tabLst/>
              <a:defRPr/>
            </a:pPr>
            <a:r>
              <a:rPr kumimoji="0" lang="en-US" sz="900" b="1" i="0" u="none" strike="noStrike" kern="1200" cap="none" spc="0" normalizeH="0" baseline="0" noProof="0">
                <a:ln>
                  <a:noFill/>
                </a:ln>
                <a:solidFill>
                  <a:srgbClr val="000000"/>
                </a:solidFill>
                <a:effectLst/>
                <a:uLnTx/>
                <a:uFillTx/>
                <a:latin typeface="EY interstate"/>
                <a:cs typeface="Arial" panose="020B0604020202020204" pitchFamily="34" charset="0"/>
              </a:rPr>
              <a:t>SAP: </a:t>
            </a:r>
          </a:p>
          <a:p>
            <a:pPr marR="0" lvl="1"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TRADE (i.e. Supply Chain impacts should be done in SAP). PO (ISTO) driven for goods &amp; services including drop shipments</a:t>
            </a:r>
          </a:p>
          <a:p>
            <a:pPr marR="0" lvl="1"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For service companies Project Systems provides IC functionality but it is complicated</a:t>
            </a:r>
          </a:p>
          <a:p>
            <a:pPr marR="0" lvl="1"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External feeds (Banks, Vendors, Customers)</a:t>
            </a:r>
          </a:p>
          <a:p>
            <a:pPr marR="0" lvl="1"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RPA</a:t>
            </a:r>
          </a:p>
          <a:p>
            <a:pPr marR="0" lvl="1"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Blockchain</a:t>
            </a:r>
          </a:p>
        </p:txBody>
      </p:sp>
      <p:sp>
        <p:nvSpPr>
          <p:cNvPr id="38" name="TextBox 26">
            <a:extLst>
              <a:ext uri="{FF2B5EF4-FFF2-40B4-BE49-F238E27FC236}">
                <a16:creationId xmlns:a16="http://schemas.microsoft.com/office/drawing/2014/main" id="{647FA9EC-0592-0AF8-E678-E850F6819260}"/>
              </a:ext>
            </a:extLst>
          </p:cNvPr>
          <p:cNvSpPr txBox="1"/>
          <p:nvPr/>
        </p:nvSpPr>
        <p:spPr>
          <a:xfrm>
            <a:off x="4983170" y="2508768"/>
            <a:ext cx="1660737" cy="1668149"/>
          </a:xfrm>
          <a:prstGeom prst="rect">
            <a:avLst/>
          </a:prstGeom>
          <a:solidFill>
            <a:schemeClr val="bg2"/>
          </a:solidFill>
        </p:spPr>
        <p:txBody>
          <a:bodyPr wrap="square" lIns="0" tIns="36576" rIns="0" bIns="0" rtlCol="0">
            <a:spAutoFit/>
          </a:bodyPr>
          <a:lstStyle>
            <a:defPPr>
              <a:defRPr lang="en-US"/>
            </a:defPPr>
            <a:lvl1pPr marL="117475" indent="-117475">
              <a:buClr>
                <a:schemeClr val="bg2"/>
              </a:buClr>
              <a:buSzPct val="70000"/>
              <a:buFont typeface="Arial" panose="020B0604020202020204" pitchFamily="34" charset="0"/>
              <a:buChar char="•"/>
              <a:defRPr sz="700">
                <a:solidFill>
                  <a:schemeClr val="bg1"/>
                </a:solidFill>
              </a:defRPr>
            </a:lvl1pPr>
            <a:lvl2pPr marL="228600" lvl="1" indent="-117475">
              <a:buClr>
                <a:schemeClr val="bg2"/>
              </a:buClr>
              <a:buSzPct val="70000"/>
              <a:buFont typeface="Arial" panose="020B0604020202020204" pitchFamily="34" charset="0"/>
              <a:buChar char="•"/>
              <a:defRPr sz="700">
                <a:solidFill>
                  <a:schemeClr val="bg1"/>
                </a:solidFill>
              </a:defRPr>
            </a:lvl2pPr>
            <a:lvl3pPr marL="173038" lvl="2" indent="-55563">
              <a:buClr>
                <a:schemeClr val="bg2"/>
              </a:buClr>
              <a:buSzPct val="70000"/>
              <a:buFont typeface="Arial" panose="020B0604020202020204" pitchFamily="34" charset="0"/>
              <a:buChar char="•"/>
              <a:defRPr sz="700">
                <a:solidFill>
                  <a:schemeClr val="bg1"/>
                </a:solidFill>
              </a:defRPr>
            </a:lvl3pPr>
          </a:lstStyle>
          <a:p>
            <a:pPr marL="0" marR="0" lvl="0" indent="0" algn="ctr" defTabSz="914400" rtl="0" eaLnBrk="1" fontAlgn="auto" latinLnBrk="0" hangingPunct="1">
              <a:lnSpc>
                <a:spcPct val="100000"/>
              </a:lnSpc>
              <a:spcBef>
                <a:spcPts val="0"/>
              </a:spcBef>
              <a:spcAft>
                <a:spcPts val="0"/>
              </a:spcAft>
              <a:buClr>
                <a:srgbClr val="646464"/>
              </a:buClr>
              <a:buSzPct val="70000"/>
              <a:buFont typeface="Arial" panose="020B0604020202020204" pitchFamily="34" charset="0"/>
              <a:buNone/>
              <a:tabLst/>
              <a:defRPr/>
            </a:pPr>
            <a:r>
              <a:rPr kumimoji="0" lang="en-US" sz="900" b="1" i="0" u="none" strike="noStrike" kern="1200" cap="none" spc="0" normalizeH="0" baseline="0" noProof="0">
                <a:ln>
                  <a:noFill/>
                </a:ln>
                <a:solidFill>
                  <a:srgbClr val="000000"/>
                </a:solidFill>
                <a:effectLst/>
                <a:uLnTx/>
                <a:uFillTx/>
                <a:latin typeface="EY interstate"/>
                <a:cs typeface="Arial" panose="020B0604020202020204" pitchFamily="34" charset="0"/>
              </a:rPr>
              <a:t>SAP:</a:t>
            </a:r>
            <a:endPar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endParaRPr>
          </a:p>
          <a:p>
            <a:pPr marL="282575"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Must update the book of record</a:t>
            </a:r>
          </a:p>
          <a:p>
            <a:pPr marL="282575"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Anything that requires payment/settlement must be booked to IC customer/vendor accounts</a:t>
            </a:r>
            <a:r>
              <a:rPr kumimoji="0" lang="en-US" sz="900" b="0" i="0" u="none" strike="noStrike" kern="1200" cap="none" spc="0" normalizeH="0" baseline="0" noProof="0">
                <a:ln>
                  <a:noFill/>
                </a:ln>
                <a:solidFill>
                  <a:srgbClr val="646464"/>
                </a:solidFill>
                <a:effectLst/>
                <a:uLnTx/>
                <a:uFillTx/>
                <a:latin typeface="EY interstate"/>
                <a:cs typeface="Arial" panose="020B0604020202020204" pitchFamily="34" charset="0"/>
              </a:rPr>
              <a:t> </a:t>
            </a:r>
          </a:p>
          <a:p>
            <a:pPr marL="282575" indent="-171450">
              <a:buClr>
                <a:srgbClr val="646464"/>
              </a:buClr>
              <a:buSzPct val="75000"/>
              <a:buFont typeface="Arial" panose="020B0604020202020204" pitchFamily="34" charset="0"/>
              <a:buChar char="►"/>
            </a:pPr>
            <a:r>
              <a:rPr lang="en-US" sz="900">
                <a:solidFill>
                  <a:srgbClr val="000000"/>
                </a:solidFill>
                <a:latin typeface="EY interstate"/>
                <a:cs typeface="Arial" panose="020B0604020202020204" pitchFamily="34" charset="0"/>
              </a:rPr>
              <a:t>The timing of the ERP uploads &amp; cut-off synchronized through policy &amp; ERP.</a:t>
            </a:r>
          </a:p>
          <a:p>
            <a:pPr marL="117475" marR="0" lvl="0" indent="-117475" algn="l" defTabSz="914400" rtl="0" eaLnBrk="1" fontAlgn="auto" latinLnBrk="0" hangingPunct="1">
              <a:lnSpc>
                <a:spcPct val="100000"/>
              </a:lnSpc>
              <a:spcBef>
                <a:spcPts val="0"/>
              </a:spcBef>
              <a:spcAft>
                <a:spcPts val="0"/>
              </a:spcAft>
              <a:buClr>
                <a:srgbClr val="646464"/>
              </a:buClr>
              <a:buSzPct val="70000"/>
              <a:buFont typeface="Arial" panose="020B0604020202020204" pitchFamily="34" charset="0"/>
              <a:buChar char="•"/>
              <a:tabLst/>
              <a:defRPr/>
            </a:pPr>
            <a:endParaRPr kumimoji="0" lang="en-US" sz="700" b="0" i="0" u="none" strike="noStrike" kern="1200" cap="none" spc="0" normalizeH="0" baseline="0" noProof="0">
              <a:ln>
                <a:noFill/>
              </a:ln>
              <a:solidFill>
                <a:srgbClr val="646464"/>
              </a:solidFill>
              <a:effectLst/>
              <a:uLnTx/>
              <a:uFillTx/>
              <a:latin typeface="EY interstate"/>
            </a:endParaRPr>
          </a:p>
        </p:txBody>
      </p:sp>
      <p:cxnSp>
        <p:nvCxnSpPr>
          <p:cNvPr id="39" name="Straight Connector 68">
            <a:extLst>
              <a:ext uri="{FF2B5EF4-FFF2-40B4-BE49-F238E27FC236}">
                <a16:creationId xmlns:a16="http://schemas.microsoft.com/office/drawing/2014/main" id="{85F0C6C9-FDFC-0748-0E3D-43A68191A9F3}"/>
              </a:ext>
            </a:extLst>
          </p:cNvPr>
          <p:cNvCxnSpPr>
            <a:cxnSpLocks/>
          </p:cNvCxnSpPr>
          <p:nvPr/>
        </p:nvCxnSpPr>
        <p:spPr>
          <a:xfrm>
            <a:off x="7521015" y="2388447"/>
            <a:ext cx="1202479" cy="1551403"/>
          </a:xfrm>
          <a:prstGeom prst="line">
            <a:avLst/>
          </a:prstGeom>
          <a:ln>
            <a:solidFill>
              <a:schemeClr val="bg1"/>
            </a:solidFill>
            <a:tailEnd type="none"/>
          </a:ln>
        </p:spPr>
        <p:style>
          <a:lnRef idx="1">
            <a:schemeClr val="accent5"/>
          </a:lnRef>
          <a:fillRef idx="0">
            <a:schemeClr val="accent5"/>
          </a:fillRef>
          <a:effectRef idx="0">
            <a:schemeClr val="accent5"/>
          </a:effectRef>
          <a:fontRef idx="minor">
            <a:schemeClr val="tx1"/>
          </a:fontRef>
        </p:style>
      </p:cxnSp>
      <p:sp>
        <p:nvSpPr>
          <p:cNvPr id="40" name="TextBox 39">
            <a:extLst>
              <a:ext uri="{FF2B5EF4-FFF2-40B4-BE49-F238E27FC236}">
                <a16:creationId xmlns:a16="http://schemas.microsoft.com/office/drawing/2014/main" id="{A0AD17DC-19A9-00B4-2FA4-18F8E4B4A4A3}"/>
              </a:ext>
            </a:extLst>
          </p:cNvPr>
          <p:cNvSpPr txBox="1"/>
          <p:nvPr/>
        </p:nvSpPr>
        <p:spPr>
          <a:xfrm>
            <a:off x="8468289" y="2441625"/>
            <a:ext cx="2718787" cy="1144929"/>
          </a:xfrm>
          <a:prstGeom prst="rect">
            <a:avLst/>
          </a:prstGeom>
          <a:solidFill>
            <a:schemeClr val="bg2"/>
          </a:solidFill>
        </p:spPr>
        <p:txBody>
          <a:bodyPr wrap="square" lIns="0" tIns="36576" rIns="0" bIns="0" rtlCol="0">
            <a:spAutoFit/>
          </a:bodyPr>
          <a:lstStyle/>
          <a:p>
            <a:pPr lvl="0" algn="ctr">
              <a:buClr>
                <a:srgbClr val="646464"/>
              </a:buClr>
              <a:buSzPct val="70000"/>
            </a:pPr>
            <a:r>
              <a:rPr lang="en-US" sz="900" b="1">
                <a:solidFill>
                  <a:srgbClr val="000000"/>
                </a:solidFill>
                <a:latin typeface="EY interstate"/>
                <a:cs typeface="Arial" panose="020B0604020202020204" pitchFamily="34" charset="0"/>
              </a:rPr>
              <a:t>SAP:</a:t>
            </a:r>
            <a:endPar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endParaRPr>
          </a:p>
          <a:p>
            <a:pPr marL="228600" indent="-171450">
              <a:buClr>
                <a:srgbClr val="646464"/>
              </a:buClr>
              <a:buSzPct val="75000"/>
              <a:buFont typeface="Arial" panose="020B0604020202020204" pitchFamily="34" charset="0"/>
              <a:buChar char="►"/>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Currency conversion and intercompany elimination in Group Reporting</a:t>
            </a:r>
          </a:p>
          <a:p>
            <a:pPr marL="228600" indent="-171450">
              <a:buClr>
                <a:srgbClr val="646464"/>
              </a:buClr>
              <a:buSzPct val="75000"/>
              <a:buFont typeface="Arial" panose="020B0604020202020204" pitchFamily="34" charset="0"/>
              <a:buChar char="►"/>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Gross Profit in Inventory/Transfer Pricing Markup can be calculated at the SKU level and summarized for booking purposes</a:t>
            </a:r>
          </a:p>
          <a:p>
            <a:pPr marL="228600" indent="-171450">
              <a:buClr>
                <a:srgbClr val="646464"/>
              </a:buClr>
              <a:buSzPct val="75000"/>
              <a:buFont typeface="Arial" panose="020B0604020202020204" pitchFamily="34" charset="0"/>
              <a:buChar char="►"/>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Parallel valuations can help with reporting before month-end is completed</a:t>
            </a:r>
          </a:p>
        </p:txBody>
      </p:sp>
      <p:sp>
        <p:nvSpPr>
          <p:cNvPr id="41" name="Rectangle 2">
            <a:extLst>
              <a:ext uri="{FF2B5EF4-FFF2-40B4-BE49-F238E27FC236}">
                <a16:creationId xmlns:a16="http://schemas.microsoft.com/office/drawing/2014/main" id="{ACE7FFB0-60EC-B897-A5B6-4C77718F611A}"/>
              </a:ext>
            </a:extLst>
          </p:cNvPr>
          <p:cNvSpPr>
            <a:spLocks noChangeArrowheads="1"/>
          </p:cNvSpPr>
          <p:nvPr/>
        </p:nvSpPr>
        <p:spPr bwMode="auto">
          <a:xfrm>
            <a:off x="10041423" y="3631159"/>
            <a:ext cx="891772"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Settle IC Accounts</a:t>
            </a:r>
          </a:p>
        </p:txBody>
      </p:sp>
      <p:sp>
        <p:nvSpPr>
          <p:cNvPr id="42" name="Rectangle 2">
            <a:extLst>
              <a:ext uri="{FF2B5EF4-FFF2-40B4-BE49-F238E27FC236}">
                <a16:creationId xmlns:a16="http://schemas.microsoft.com/office/drawing/2014/main" id="{E9BFC319-2160-0EC2-6B9F-7C03B745DC42}"/>
              </a:ext>
            </a:extLst>
          </p:cNvPr>
          <p:cNvSpPr>
            <a:spLocks noChangeArrowheads="1"/>
          </p:cNvSpPr>
          <p:nvPr/>
        </p:nvSpPr>
        <p:spPr bwMode="auto">
          <a:xfrm>
            <a:off x="8729735" y="3631159"/>
            <a:ext cx="891772" cy="617381"/>
          </a:xfrm>
          <a:prstGeom prst="rect">
            <a:avLst/>
          </a:prstGeom>
          <a:solidFill>
            <a:srgbClr val="008080"/>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EY interstate"/>
              </a:rPr>
              <a:t>Manage and Resolve  IC Disputes </a:t>
            </a:r>
          </a:p>
        </p:txBody>
      </p:sp>
      <p:cxnSp>
        <p:nvCxnSpPr>
          <p:cNvPr id="56" name="Straight Connector 66">
            <a:extLst>
              <a:ext uri="{FF2B5EF4-FFF2-40B4-BE49-F238E27FC236}">
                <a16:creationId xmlns:a16="http://schemas.microsoft.com/office/drawing/2014/main" id="{EFA426BD-8A78-7620-2E92-E539A246E284}"/>
              </a:ext>
            </a:extLst>
          </p:cNvPr>
          <p:cNvCxnSpPr/>
          <p:nvPr/>
        </p:nvCxnSpPr>
        <p:spPr>
          <a:xfrm>
            <a:off x="9621507" y="3939850"/>
            <a:ext cx="419916" cy="0"/>
          </a:xfrm>
          <a:prstGeom prst="line">
            <a:avLst/>
          </a:prstGeom>
          <a:ln>
            <a:solidFill>
              <a:schemeClr val="tx1"/>
            </a:solidFill>
            <a:tailEnd type="none"/>
          </a:ln>
        </p:spPr>
        <p:style>
          <a:lnRef idx="1">
            <a:schemeClr val="accent5"/>
          </a:lnRef>
          <a:fillRef idx="0">
            <a:schemeClr val="accent5"/>
          </a:fillRef>
          <a:effectRef idx="0">
            <a:schemeClr val="accent5"/>
          </a:effectRef>
          <a:fontRef idx="minor">
            <a:schemeClr val="tx1"/>
          </a:fontRef>
        </p:style>
      </p:cxnSp>
      <p:sp>
        <p:nvSpPr>
          <p:cNvPr id="57" name="TextBox 56">
            <a:extLst>
              <a:ext uri="{FF2B5EF4-FFF2-40B4-BE49-F238E27FC236}">
                <a16:creationId xmlns:a16="http://schemas.microsoft.com/office/drawing/2014/main" id="{D1F7CB81-70E1-B79F-E083-C68C87C46DB0}"/>
              </a:ext>
            </a:extLst>
          </p:cNvPr>
          <p:cNvSpPr txBox="1"/>
          <p:nvPr/>
        </p:nvSpPr>
        <p:spPr>
          <a:xfrm>
            <a:off x="6704474" y="3511259"/>
            <a:ext cx="1685454" cy="1144929"/>
          </a:xfrm>
          <a:prstGeom prst="rect">
            <a:avLst/>
          </a:prstGeom>
          <a:solidFill>
            <a:schemeClr val="bg2"/>
          </a:solidFill>
        </p:spPr>
        <p:txBody>
          <a:bodyPr wrap="square" lIns="0" tIns="36576" rIns="0" bIns="0" rtlCol="0">
            <a:spAutoFit/>
          </a:bodyPr>
          <a:lstStyle/>
          <a:p>
            <a:pPr marL="0" marR="0" lvl="0" indent="0" algn="ctr" defTabSz="914400" rtl="0" eaLnBrk="1" fontAlgn="auto" latinLnBrk="0" hangingPunct="1">
              <a:lnSpc>
                <a:spcPct val="100000"/>
              </a:lnSpc>
              <a:spcBef>
                <a:spcPts val="0"/>
              </a:spcBef>
              <a:spcAft>
                <a:spcPts val="0"/>
              </a:spcAft>
              <a:buClr>
                <a:srgbClr val="646464"/>
              </a:buClr>
              <a:buSzPct val="70000"/>
              <a:buFontTx/>
              <a:buNone/>
              <a:tabLst/>
              <a:defRPr/>
            </a:pPr>
            <a:r>
              <a:rPr kumimoji="0" lang="en-US" sz="900" b="1" i="0" u="none" strike="noStrike" kern="1200" cap="none" spc="0" normalizeH="0" baseline="0" noProof="0">
                <a:ln>
                  <a:noFill/>
                </a:ln>
                <a:solidFill>
                  <a:srgbClr val="000000"/>
                </a:solidFill>
                <a:effectLst/>
                <a:uLnTx/>
                <a:uFillTx/>
                <a:latin typeface="EY interstate"/>
                <a:cs typeface="Arial" panose="020B0604020202020204" pitchFamily="34" charset="0"/>
              </a:rPr>
              <a:t>BlackLine: </a:t>
            </a: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Intercompany Matching can be configured to bring in data from other source ERPs and other instances of SAP</a:t>
            </a: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Transaction Matching capabilities with flexible search criteria and matching logic</a:t>
            </a:r>
            <a:endParaRPr kumimoji="0" lang="en-US" sz="900" b="0" i="0" u="none" strike="noStrike" kern="1200" cap="none" spc="0" normalizeH="0" baseline="0" noProof="0">
              <a:ln>
                <a:noFill/>
              </a:ln>
              <a:solidFill>
                <a:srgbClr val="646464"/>
              </a:solidFill>
              <a:effectLst/>
              <a:uLnTx/>
              <a:uFillTx/>
              <a:latin typeface="EY interstate"/>
              <a:cs typeface="Arial" panose="020B0604020202020204" pitchFamily="34" charset="0"/>
            </a:endParaRPr>
          </a:p>
        </p:txBody>
      </p:sp>
      <p:sp>
        <p:nvSpPr>
          <p:cNvPr id="58" name="TextBox 57">
            <a:extLst>
              <a:ext uri="{FF2B5EF4-FFF2-40B4-BE49-F238E27FC236}">
                <a16:creationId xmlns:a16="http://schemas.microsoft.com/office/drawing/2014/main" id="{F978E9F2-2635-68E9-467D-7D14C04AA38E}"/>
              </a:ext>
            </a:extLst>
          </p:cNvPr>
          <p:cNvSpPr txBox="1"/>
          <p:nvPr/>
        </p:nvSpPr>
        <p:spPr>
          <a:xfrm>
            <a:off x="8468289" y="4350707"/>
            <a:ext cx="1257749" cy="1144929"/>
          </a:xfrm>
          <a:prstGeom prst="rect">
            <a:avLst/>
          </a:prstGeom>
          <a:solidFill>
            <a:schemeClr val="bg2"/>
          </a:solidFill>
        </p:spPr>
        <p:txBody>
          <a:bodyPr wrap="square" lIns="0" tIns="36576" rIns="0" bIns="0" rtlCol="0">
            <a:spAutoFit/>
          </a:bodyPr>
          <a:lstStyle/>
          <a:p>
            <a:pPr marL="0" marR="0" lvl="0" indent="0" algn="ctr" defTabSz="914400" rtl="0" eaLnBrk="1" fontAlgn="auto" latinLnBrk="0" hangingPunct="1">
              <a:lnSpc>
                <a:spcPct val="100000"/>
              </a:lnSpc>
              <a:spcBef>
                <a:spcPts val="0"/>
              </a:spcBef>
              <a:spcAft>
                <a:spcPts val="0"/>
              </a:spcAft>
              <a:buClr>
                <a:srgbClr val="646464"/>
              </a:buClr>
              <a:buSzPct val="70000"/>
              <a:buFontTx/>
              <a:buNone/>
              <a:tabLst/>
              <a:defRPr/>
            </a:pPr>
            <a:r>
              <a:rPr kumimoji="0" lang="en-US" sz="900" b="1" i="0" u="none" strike="noStrike" kern="1200" cap="none" spc="0" normalizeH="0" baseline="0" noProof="0">
                <a:ln>
                  <a:noFill/>
                </a:ln>
                <a:effectLst/>
                <a:uLnTx/>
                <a:uFillTx/>
                <a:latin typeface="EY interstate"/>
                <a:cs typeface="Arial" panose="020B0604020202020204" pitchFamily="34" charset="0"/>
              </a:rPr>
              <a:t>BlackLine:</a:t>
            </a:r>
            <a:endParaRPr kumimoji="0" lang="en-US" sz="900" b="0" i="0" u="none" strike="noStrike" kern="1200" cap="none" spc="0" normalizeH="0" baseline="0" noProof="0">
              <a:ln>
                <a:noFill/>
              </a:ln>
              <a:effectLst/>
              <a:uLnTx/>
              <a:uFillTx/>
              <a:latin typeface="EY interstate"/>
              <a:cs typeface="Arial" panose="020B0604020202020204" pitchFamily="34" charset="0"/>
            </a:endParaRP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Governance process with thresholds</a:t>
            </a: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lang="en-US" sz="900">
                <a:latin typeface="EY interstate"/>
                <a:cs typeface="Arial" panose="020B0604020202020204" pitchFamily="34" charset="0"/>
              </a:rPr>
              <a:t>Automated corrections with booking to SAP</a:t>
            </a:r>
            <a:endParaRPr kumimoji="0" lang="en-US" sz="900" b="0" i="0" u="none" strike="noStrike" kern="1200" cap="none" spc="0" normalizeH="0" baseline="0" noProof="0">
              <a:ln>
                <a:noFill/>
              </a:ln>
              <a:effectLst/>
              <a:uLnTx/>
              <a:uFillTx/>
              <a:latin typeface="EY interstate"/>
              <a:cs typeface="Arial" panose="020B0604020202020204" pitchFamily="34" charset="0"/>
            </a:endParaRP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Can set up some workflow</a:t>
            </a:r>
            <a:endParaRPr kumimoji="0" lang="en-US" sz="900" b="0" i="0" u="none" strike="noStrike" kern="1200" cap="none" spc="0" normalizeH="0" baseline="0" noProof="0">
              <a:ln>
                <a:noFill/>
              </a:ln>
              <a:solidFill>
                <a:srgbClr val="646464"/>
              </a:solidFill>
              <a:effectLst/>
              <a:uLnTx/>
              <a:uFillTx/>
              <a:latin typeface="EY interstate"/>
              <a:cs typeface="Arial" panose="020B0604020202020204" pitchFamily="34" charset="0"/>
            </a:endParaRPr>
          </a:p>
        </p:txBody>
      </p:sp>
      <p:sp>
        <p:nvSpPr>
          <p:cNvPr id="59" name="TextBox 58">
            <a:extLst>
              <a:ext uri="{FF2B5EF4-FFF2-40B4-BE49-F238E27FC236}">
                <a16:creationId xmlns:a16="http://schemas.microsoft.com/office/drawing/2014/main" id="{DBCAE95F-25FC-068E-F0E2-D9F79A7FE1FA}"/>
              </a:ext>
            </a:extLst>
          </p:cNvPr>
          <p:cNvSpPr txBox="1"/>
          <p:nvPr/>
        </p:nvSpPr>
        <p:spPr>
          <a:xfrm>
            <a:off x="9804399" y="4343258"/>
            <a:ext cx="1782233" cy="1114151"/>
          </a:xfrm>
          <a:prstGeom prst="rect">
            <a:avLst/>
          </a:prstGeom>
          <a:solidFill>
            <a:schemeClr val="bg2"/>
          </a:solidFill>
        </p:spPr>
        <p:txBody>
          <a:bodyPr wrap="square" lIns="0" tIns="36576" rIns="0" bIns="0" rtlCol="0">
            <a:spAutoFit/>
          </a:bodyPr>
          <a:lstStyle/>
          <a:p>
            <a:pPr lvl="0" algn="ctr">
              <a:buClr>
                <a:srgbClr val="646464"/>
              </a:buClr>
              <a:buSzPct val="70000"/>
            </a:pPr>
            <a:r>
              <a:rPr lang="en-US" sz="900" b="1">
                <a:latin typeface="EY interstate"/>
                <a:cs typeface="Arial" panose="020B0604020202020204" pitchFamily="34" charset="0"/>
              </a:rPr>
              <a:t>BlackLine:</a:t>
            </a:r>
            <a:endParaRPr kumimoji="0" lang="en-US" sz="900" b="0" i="0" u="none" strike="noStrike" kern="1200" cap="none" spc="0" normalizeH="0" baseline="0" noProof="0">
              <a:ln>
                <a:noFill/>
              </a:ln>
              <a:effectLst/>
              <a:uLnTx/>
              <a:uFillTx/>
              <a:latin typeface="EY interstate"/>
              <a:cs typeface="Arial" panose="020B0604020202020204" pitchFamily="34" charset="0"/>
            </a:endParaRP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Multi-lateral settlement can be accomplished </a:t>
            </a: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Netting is calculated based on reconciled intercompany data</a:t>
            </a: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Clearing files and treasury instructions can be created</a:t>
            </a:r>
          </a:p>
          <a:p>
            <a:pPr marL="117475" marR="0" lvl="0" indent="-117475" algn="l" defTabSz="914400" rtl="0" eaLnBrk="1" fontAlgn="auto" latinLnBrk="0" hangingPunct="1">
              <a:lnSpc>
                <a:spcPct val="100000"/>
              </a:lnSpc>
              <a:spcBef>
                <a:spcPts val="0"/>
              </a:spcBef>
              <a:spcAft>
                <a:spcPts val="0"/>
              </a:spcAft>
              <a:buClr>
                <a:srgbClr val="646464"/>
              </a:buClr>
              <a:buSzPct val="70000"/>
              <a:buFont typeface="Arial" panose="020B0604020202020204" pitchFamily="34" charset="0"/>
              <a:buChar char="•"/>
              <a:tabLst/>
              <a:defRPr/>
            </a:pPr>
            <a:endParaRPr kumimoji="0" lang="en-US" sz="700" b="0" i="0" u="none" strike="noStrike" kern="1200" cap="none" spc="0" normalizeH="0" baseline="0" noProof="0">
              <a:ln>
                <a:noFill/>
              </a:ln>
              <a:solidFill>
                <a:srgbClr val="646464"/>
              </a:solidFill>
              <a:effectLst/>
              <a:uLnTx/>
              <a:uFillTx/>
              <a:latin typeface="EY interstate"/>
            </a:endParaRPr>
          </a:p>
        </p:txBody>
      </p:sp>
      <p:sp>
        <p:nvSpPr>
          <p:cNvPr id="60" name="TextBox 27">
            <a:extLst>
              <a:ext uri="{FF2B5EF4-FFF2-40B4-BE49-F238E27FC236}">
                <a16:creationId xmlns:a16="http://schemas.microsoft.com/office/drawing/2014/main" id="{BB6389D9-6CC9-BFD7-BD01-D3263FE1EA22}"/>
              </a:ext>
            </a:extLst>
          </p:cNvPr>
          <p:cNvSpPr txBox="1"/>
          <p:nvPr/>
        </p:nvSpPr>
        <p:spPr>
          <a:xfrm>
            <a:off x="9804399" y="5494351"/>
            <a:ext cx="1782234" cy="867930"/>
          </a:xfrm>
          <a:prstGeom prst="rect">
            <a:avLst/>
          </a:prstGeom>
          <a:solidFill>
            <a:schemeClr val="bg2"/>
          </a:solidFill>
        </p:spPr>
        <p:txBody>
          <a:bodyPr wrap="square" lIns="0" tIns="36576" rIns="0" bIns="0" rtlCol="0">
            <a:spAutoFit/>
          </a:bodyPr>
          <a:lstStyle/>
          <a:p>
            <a:pPr lvl="0" algn="ctr">
              <a:buClr>
                <a:srgbClr val="646464"/>
              </a:buClr>
              <a:buSzPct val="70000"/>
            </a:pPr>
            <a:r>
              <a:rPr lang="en-US" sz="900" b="1">
                <a:solidFill>
                  <a:srgbClr val="000000"/>
                </a:solidFill>
                <a:latin typeface="EY interstate"/>
                <a:cs typeface="Arial" panose="020B0604020202020204" pitchFamily="34" charset="0"/>
              </a:rPr>
              <a:t>SAP:</a:t>
            </a:r>
            <a:endPar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endParaRP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Open item clearing</a:t>
            </a: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lang="en-US" sz="900">
                <a:solidFill>
                  <a:srgbClr val="000000"/>
                </a:solidFill>
                <a:latin typeface="EY interstate"/>
                <a:cs typeface="Arial" panose="020B0604020202020204" pitchFamily="34" charset="0"/>
              </a:rPr>
              <a:t>Fund</a:t>
            </a: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 movements between bank accounts</a:t>
            </a:r>
            <a:endParaRPr lang="en-US" sz="900">
              <a:solidFill>
                <a:srgbClr val="000000"/>
              </a:solidFill>
              <a:latin typeface="EY interstate"/>
              <a:cs typeface="Arial" panose="020B0604020202020204" pitchFamily="34" charset="0"/>
            </a:endParaRPr>
          </a:p>
          <a:p>
            <a:pPr marL="228600" marR="0" lvl="0"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lang="en-US" sz="900">
                <a:solidFill>
                  <a:srgbClr val="000000"/>
                </a:solidFill>
                <a:latin typeface="EY interstate"/>
                <a:cs typeface="Arial" panose="020B0604020202020204" pitchFamily="34" charset="0"/>
              </a:rPr>
              <a:t>Intercompany balances updated as the source to Group Reporting</a:t>
            </a:r>
            <a:endPar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endParaRPr>
          </a:p>
        </p:txBody>
      </p:sp>
      <p:sp>
        <p:nvSpPr>
          <p:cNvPr id="61" name="TextBox 24">
            <a:extLst>
              <a:ext uri="{FF2B5EF4-FFF2-40B4-BE49-F238E27FC236}">
                <a16:creationId xmlns:a16="http://schemas.microsoft.com/office/drawing/2014/main" id="{5852A683-1A1E-6553-B57E-E222F101CA14}"/>
              </a:ext>
            </a:extLst>
          </p:cNvPr>
          <p:cNvSpPr txBox="1"/>
          <p:nvPr/>
        </p:nvSpPr>
        <p:spPr>
          <a:xfrm>
            <a:off x="566174" y="5261971"/>
            <a:ext cx="2114631" cy="837152"/>
          </a:xfrm>
          <a:prstGeom prst="rect">
            <a:avLst/>
          </a:prstGeom>
          <a:solidFill>
            <a:schemeClr val="bg2"/>
          </a:solidFill>
        </p:spPr>
        <p:txBody>
          <a:bodyPr wrap="square" lIns="0" tIns="36576" rIns="0" bIns="0" rtlCol="0">
            <a:spAutoFit/>
          </a:bodyPr>
          <a:lstStyle/>
          <a:p>
            <a:pPr marR="0" lvl="0" algn="ctr" defTabSz="914400" rtl="0" eaLnBrk="1" fontAlgn="auto" latinLnBrk="0" hangingPunct="1">
              <a:lnSpc>
                <a:spcPct val="100000"/>
              </a:lnSpc>
              <a:spcBef>
                <a:spcPts val="0"/>
              </a:spcBef>
              <a:spcAft>
                <a:spcPts val="0"/>
              </a:spcAft>
              <a:buClr>
                <a:srgbClr val="646464"/>
              </a:buClr>
              <a:buSzPct val="70000"/>
              <a:tabLst/>
              <a:defRPr/>
            </a:pPr>
            <a:r>
              <a:rPr kumimoji="0" lang="en-US" sz="900" b="1" i="0" u="none" strike="noStrike" kern="1200" cap="none" spc="0" normalizeH="0" baseline="0" noProof="0">
                <a:ln>
                  <a:noFill/>
                </a:ln>
                <a:solidFill>
                  <a:srgbClr val="000000"/>
                </a:solidFill>
                <a:effectLst/>
                <a:uLnTx/>
                <a:uFillTx/>
                <a:latin typeface="EY interstate"/>
                <a:cs typeface="Arial" panose="020B0604020202020204" pitchFamily="34" charset="0"/>
              </a:rPr>
              <a:t>BlackLine: </a:t>
            </a:r>
          </a:p>
          <a:p>
            <a:pPr marL="228600"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Policies – built into agreements</a:t>
            </a:r>
          </a:p>
          <a:p>
            <a:pPr marL="228600"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Specific arrangements – built into contracts</a:t>
            </a:r>
          </a:p>
          <a:p>
            <a:pPr marL="228600"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solidFill>
                  <a:srgbClr val="000000"/>
                </a:solidFill>
                <a:effectLst/>
                <a:uLnTx/>
                <a:uFillTx/>
                <a:latin typeface="EY interstate"/>
                <a:cs typeface="Arial" panose="020B0604020202020204" pitchFamily="34" charset="0"/>
              </a:rPr>
              <a:t>Preventive or detective controls</a:t>
            </a:r>
          </a:p>
          <a:p>
            <a:pPr marL="117475" marR="0" lvl="0" indent="-117475" algn="l" defTabSz="914400" rtl="0" eaLnBrk="1" fontAlgn="auto" latinLnBrk="0" hangingPunct="1">
              <a:lnSpc>
                <a:spcPct val="100000"/>
              </a:lnSpc>
              <a:spcBef>
                <a:spcPts val="0"/>
              </a:spcBef>
              <a:spcAft>
                <a:spcPts val="0"/>
              </a:spcAft>
              <a:buClr>
                <a:srgbClr val="646464"/>
              </a:buClr>
              <a:buSzPct val="70000"/>
              <a:buFont typeface="Arial" panose="020B0604020202020204" pitchFamily="34" charset="0"/>
              <a:buChar char="•"/>
              <a:tabLst/>
              <a:defRPr/>
            </a:pPr>
            <a:endParaRPr kumimoji="0" lang="en-US" sz="700" b="0" i="0" u="none" strike="noStrike" kern="1200" cap="none" spc="0" normalizeH="0" baseline="0" noProof="0">
              <a:ln>
                <a:noFill/>
              </a:ln>
              <a:solidFill>
                <a:srgbClr val="646464"/>
              </a:solidFill>
              <a:effectLst/>
              <a:uLnTx/>
              <a:uFillTx/>
              <a:latin typeface="EY interstate"/>
            </a:endParaRPr>
          </a:p>
        </p:txBody>
      </p:sp>
      <p:sp>
        <p:nvSpPr>
          <p:cNvPr id="62" name="TextBox 25">
            <a:extLst>
              <a:ext uri="{FF2B5EF4-FFF2-40B4-BE49-F238E27FC236}">
                <a16:creationId xmlns:a16="http://schemas.microsoft.com/office/drawing/2014/main" id="{BFCCDDDE-6665-789D-5ADA-32370EB26CE8}"/>
              </a:ext>
            </a:extLst>
          </p:cNvPr>
          <p:cNvSpPr txBox="1"/>
          <p:nvPr/>
        </p:nvSpPr>
        <p:spPr>
          <a:xfrm>
            <a:off x="2835437" y="4261697"/>
            <a:ext cx="1977088" cy="1698927"/>
          </a:xfrm>
          <a:prstGeom prst="rect">
            <a:avLst/>
          </a:prstGeom>
          <a:solidFill>
            <a:schemeClr val="bg2"/>
          </a:solidFill>
        </p:spPr>
        <p:txBody>
          <a:bodyPr wrap="square" lIns="0" tIns="36576" rIns="0" bIns="0" rtlCol="0">
            <a:spAutoFit/>
          </a:bodyPr>
          <a:lstStyle/>
          <a:p>
            <a:pPr marL="0" marR="0" lvl="0" indent="0" algn="ctr" defTabSz="914400" rtl="0" eaLnBrk="1" fontAlgn="auto" latinLnBrk="0" hangingPunct="1">
              <a:lnSpc>
                <a:spcPct val="100000"/>
              </a:lnSpc>
              <a:spcBef>
                <a:spcPts val="0"/>
              </a:spcBef>
              <a:spcAft>
                <a:spcPts val="0"/>
              </a:spcAft>
              <a:buClr>
                <a:srgbClr val="646464"/>
              </a:buClr>
              <a:buSzPct val="70000"/>
              <a:buFontTx/>
              <a:buNone/>
              <a:tabLst/>
              <a:defRPr/>
            </a:pPr>
            <a:r>
              <a:rPr kumimoji="0" lang="en-US" sz="900" b="1" i="0" u="none" strike="noStrike" kern="1200" cap="none" spc="0" normalizeH="0" baseline="0" noProof="0">
                <a:ln>
                  <a:noFill/>
                </a:ln>
                <a:solidFill>
                  <a:srgbClr val="000000"/>
                </a:solidFill>
                <a:effectLst/>
                <a:uLnTx/>
                <a:uFillTx/>
                <a:latin typeface="EY interstate"/>
                <a:cs typeface="Arial" panose="020B0604020202020204" pitchFamily="34" charset="0"/>
              </a:rPr>
              <a:t>BlackLine: </a:t>
            </a:r>
          </a:p>
          <a:p>
            <a:pPr marL="282575"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Non-Trade (no PO) can be handled with dual posting with other automation capabilities across ERPs.  </a:t>
            </a:r>
          </a:p>
          <a:p>
            <a:pPr marL="282575"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Non-PO can be driven by:</a:t>
            </a:r>
          </a:p>
          <a:p>
            <a:pPr marL="282575"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Manual input</a:t>
            </a:r>
          </a:p>
          <a:p>
            <a:pPr marL="282575"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Automated entries – one-time setup same amount OR different amounts</a:t>
            </a:r>
          </a:p>
          <a:p>
            <a:pPr marL="282575"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Excel Uploads</a:t>
            </a:r>
          </a:p>
          <a:p>
            <a:pPr marL="282575" marR="0" lvl="1" indent="-171450" algn="l" defTabSz="914400" rtl="0" eaLnBrk="1" fontAlgn="auto" latinLnBrk="0" hangingPunct="1">
              <a:lnSpc>
                <a:spcPct val="100000"/>
              </a:lnSpc>
              <a:spcBef>
                <a:spcPts val="0"/>
              </a:spcBef>
              <a:spcAft>
                <a:spcPts val="0"/>
              </a:spcAft>
              <a:buClr>
                <a:srgbClr val="646464"/>
              </a:buClr>
              <a:buSzPct val="75000"/>
              <a:buFont typeface="Arial" panose="020B0604020202020204" pitchFamily="34" charset="0"/>
              <a:buChar char="►"/>
              <a:tabLst/>
              <a:defRPr/>
            </a:pPr>
            <a:r>
              <a:rPr kumimoji="0" lang="en-US" sz="900" b="0" i="0" u="none" strike="noStrike" kern="1200" cap="none" spc="0" normalizeH="0" baseline="0" noProof="0">
                <a:ln>
                  <a:noFill/>
                </a:ln>
                <a:effectLst/>
                <a:uLnTx/>
                <a:uFillTx/>
                <a:latin typeface="EY interstate"/>
                <a:cs typeface="Arial" panose="020B0604020202020204" pitchFamily="34" charset="0"/>
              </a:rPr>
              <a:t>Approval workflow or driven by contract</a:t>
            </a:r>
          </a:p>
        </p:txBody>
      </p:sp>
    </p:spTree>
    <p:extLst>
      <p:ext uri="{BB962C8B-B14F-4D97-AF65-F5344CB8AC3E}">
        <p14:creationId xmlns:p14="http://schemas.microsoft.com/office/powerpoint/2010/main" val="78260481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D5AD37-DA20-7B93-917F-3BDAA96C2EFC}"/>
            </a:ext>
          </a:extLst>
        </p:cNvPr>
        <p:cNvGrpSpPr/>
        <p:nvPr/>
      </p:nvGrpSpPr>
      <p:grpSpPr>
        <a:xfrm>
          <a:off x="0" y="0"/>
          <a:ext cx="0" cy="0"/>
          <a:chOff x="0" y="0"/>
          <a:chExt cx="0" cy="0"/>
        </a:xfrm>
      </p:grpSpPr>
      <p:sp>
        <p:nvSpPr>
          <p:cNvPr id="2" name="Title 2">
            <a:extLst>
              <a:ext uri="{FF2B5EF4-FFF2-40B4-BE49-F238E27FC236}">
                <a16:creationId xmlns:a16="http://schemas.microsoft.com/office/drawing/2014/main" id="{C5A6F3FD-3873-3F19-A725-607F02C2ED6F}"/>
              </a:ext>
            </a:extLst>
          </p:cNvPr>
          <p:cNvSpPr txBox="1">
            <a:spLocks/>
          </p:cNvSpPr>
          <p:nvPr/>
        </p:nvSpPr>
        <p:spPr>
          <a:xfrm>
            <a:off x="596942" y="451057"/>
            <a:ext cx="8244486" cy="330724"/>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Intercompany Process – Maturity Assessment model</a:t>
            </a:r>
          </a:p>
        </p:txBody>
      </p:sp>
      <p:grpSp>
        <p:nvGrpSpPr>
          <p:cNvPr id="7" name="Group 6">
            <a:extLst>
              <a:ext uri="{FF2B5EF4-FFF2-40B4-BE49-F238E27FC236}">
                <a16:creationId xmlns:a16="http://schemas.microsoft.com/office/drawing/2014/main" id="{771B46C8-6649-3C12-41EB-92FE35E5E254}"/>
              </a:ext>
            </a:extLst>
          </p:cNvPr>
          <p:cNvGrpSpPr/>
          <p:nvPr/>
        </p:nvGrpSpPr>
        <p:grpSpPr>
          <a:xfrm>
            <a:off x="2505648" y="914382"/>
            <a:ext cx="712549" cy="187249"/>
            <a:chOff x="1728989" y="1177282"/>
            <a:chExt cx="712549" cy="187249"/>
          </a:xfrm>
        </p:grpSpPr>
        <p:sp>
          <p:nvSpPr>
            <p:cNvPr id="10" name="Oval 43">
              <a:extLst>
                <a:ext uri="{FF2B5EF4-FFF2-40B4-BE49-F238E27FC236}">
                  <a16:creationId xmlns:a16="http://schemas.microsoft.com/office/drawing/2014/main" id="{3A4D9F39-E1A7-CBB4-23A8-9B6E6444BDA2}"/>
                </a:ext>
              </a:extLst>
            </p:cNvPr>
            <p:cNvSpPr>
              <a:spLocks noChangeAspect="1" noChangeArrowheads="1"/>
            </p:cNvSpPr>
            <p:nvPr/>
          </p:nvSpPr>
          <p:spPr bwMode="auto">
            <a:xfrm>
              <a:off x="1728989" y="1177282"/>
              <a:ext cx="163909" cy="187249"/>
            </a:xfrm>
            <a:prstGeom prst="ellipse">
              <a:avLst/>
            </a:prstGeom>
            <a:solidFill>
              <a:srgbClr val="2E2E38">
                <a:lumMod val="85000"/>
              </a:srgbClr>
            </a:solidFill>
            <a:ln w="6350">
              <a:solidFill>
                <a:schemeClr val="tx1"/>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bg1"/>
                </a:solidFill>
                <a:effectLst/>
                <a:uLnTx/>
                <a:uFillTx/>
                <a:latin typeface="EY interstate"/>
              </a:endParaRPr>
            </a:p>
          </p:txBody>
        </p:sp>
        <p:sp>
          <p:nvSpPr>
            <p:cNvPr id="12" name="Rectangle 11">
              <a:extLst>
                <a:ext uri="{FF2B5EF4-FFF2-40B4-BE49-F238E27FC236}">
                  <a16:creationId xmlns:a16="http://schemas.microsoft.com/office/drawing/2014/main" id="{3CD4C724-4797-A1E4-0B11-9B1FD79A85FF}"/>
                </a:ext>
              </a:extLst>
            </p:cNvPr>
            <p:cNvSpPr/>
            <p:nvPr/>
          </p:nvSpPr>
          <p:spPr>
            <a:xfrm>
              <a:off x="1892898" y="1179466"/>
              <a:ext cx="548640" cy="182880"/>
            </a:xfrm>
            <a:prstGeom prst="rect">
              <a:avLst/>
            </a:prstGeom>
            <a:noFill/>
            <a:ln w="9525" cap="flat" cmpd="sng" algn="ctr">
              <a:noFill/>
              <a:prstDash val="solid"/>
            </a:ln>
            <a:effectLst/>
          </p:spPr>
          <p:txBody>
            <a:bodyPr tIns="45720" bIns="45720" rtlCol="0" anchor="ctr" anchorCtr="0"/>
            <a:lstStyle/>
            <a:p>
              <a:pPr marL="0" marR="0" lvl="0" indent="0" defTabSz="914400" eaLnBrk="1" fontAlgn="auto" latinLnBrk="0" hangingPunct="1">
                <a:lnSpc>
                  <a:spcPct val="100000"/>
                </a:lnSpc>
                <a:spcBef>
                  <a:spcPts val="0"/>
                </a:spcBef>
                <a:spcAft>
                  <a:spcPts val="400"/>
                </a:spcAft>
                <a:buClr>
                  <a:srgbClr val="FFD200"/>
                </a:buClr>
                <a:buSzPct val="70000"/>
                <a:buFontTx/>
                <a:buNone/>
                <a:tabLst/>
                <a:defRPr/>
              </a:pPr>
              <a:r>
                <a:rPr kumimoji="0" lang="en-US" sz="1050" b="1" i="0" u="none" strike="noStrike" kern="0" cap="none" spc="0" normalizeH="0" baseline="0" noProof="0">
                  <a:ln>
                    <a:noFill/>
                  </a:ln>
                  <a:solidFill>
                    <a:schemeClr val="bg1"/>
                  </a:solidFill>
                  <a:effectLst/>
                  <a:uLnTx/>
                  <a:uFillTx/>
                  <a:latin typeface="EY interstate"/>
                  <a:cs typeface="Arial" panose="020B0604020202020204" pitchFamily="34" charset="0"/>
                </a:rPr>
                <a:t>Basic</a:t>
              </a:r>
            </a:p>
          </p:txBody>
        </p:sp>
      </p:grpSp>
      <p:grpSp>
        <p:nvGrpSpPr>
          <p:cNvPr id="13" name="Group 12">
            <a:extLst>
              <a:ext uri="{FF2B5EF4-FFF2-40B4-BE49-F238E27FC236}">
                <a16:creationId xmlns:a16="http://schemas.microsoft.com/office/drawing/2014/main" id="{346DF148-B547-3BF3-2F35-F9AA14B408ED}"/>
              </a:ext>
            </a:extLst>
          </p:cNvPr>
          <p:cNvGrpSpPr/>
          <p:nvPr/>
        </p:nvGrpSpPr>
        <p:grpSpPr>
          <a:xfrm>
            <a:off x="5790227" y="905594"/>
            <a:ext cx="1096642" cy="213273"/>
            <a:chOff x="5365748" y="1181800"/>
            <a:chExt cx="1096642" cy="213273"/>
          </a:xfrm>
        </p:grpSpPr>
        <p:sp>
          <p:nvSpPr>
            <p:cNvPr id="15" name="Oval 46">
              <a:extLst>
                <a:ext uri="{FF2B5EF4-FFF2-40B4-BE49-F238E27FC236}">
                  <a16:creationId xmlns:a16="http://schemas.microsoft.com/office/drawing/2014/main" id="{00BAF103-ACAC-D01A-85D5-C55997CEBA34}"/>
                </a:ext>
              </a:extLst>
            </p:cNvPr>
            <p:cNvSpPr>
              <a:spLocks noChangeAspect="1" noChangeArrowheads="1"/>
            </p:cNvSpPr>
            <p:nvPr/>
          </p:nvSpPr>
          <p:spPr bwMode="auto">
            <a:xfrm>
              <a:off x="5365748" y="1181800"/>
              <a:ext cx="163910" cy="187249"/>
            </a:xfrm>
            <a:prstGeom prst="ellipse">
              <a:avLst/>
            </a:prstGeom>
            <a:solidFill>
              <a:srgbClr val="2E2E38">
                <a:lumMod val="85000"/>
              </a:srgbClr>
            </a:solidFill>
            <a:ln w="6350">
              <a:solidFill>
                <a:srgbClr val="FFFFFF"/>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bg1"/>
                </a:solidFill>
                <a:effectLst/>
                <a:uLnTx/>
                <a:uFillTx/>
                <a:latin typeface="EY interstate"/>
              </a:endParaRPr>
            </a:p>
          </p:txBody>
        </p:sp>
        <p:sp>
          <p:nvSpPr>
            <p:cNvPr id="17" name="Arc 47">
              <a:extLst>
                <a:ext uri="{FF2B5EF4-FFF2-40B4-BE49-F238E27FC236}">
                  <a16:creationId xmlns:a16="http://schemas.microsoft.com/office/drawing/2014/main" id="{C94AF878-095D-0CC2-3890-7C3289542AE5}"/>
                </a:ext>
              </a:extLst>
            </p:cNvPr>
            <p:cNvSpPr>
              <a:spLocks noChangeAspect="1"/>
            </p:cNvSpPr>
            <p:nvPr/>
          </p:nvSpPr>
          <p:spPr bwMode="auto">
            <a:xfrm>
              <a:off x="5447703" y="1181800"/>
              <a:ext cx="81955" cy="187249"/>
            </a:xfrm>
            <a:custGeom>
              <a:avLst/>
              <a:gdLst>
                <a:gd name="T0" fmla="*/ 0 w 21600"/>
                <a:gd name="T1" fmla="*/ 0 h 43200"/>
                <a:gd name="T2" fmla="*/ 0 w 21600"/>
                <a:gd name="T3" fmla="*/ 208 h 43200"/>
                <a:gd name="T4" fmla="*/ 0 w 21600"/>
                <a:gd name="T5" fmla="*/ 104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29"/>
                    <a:pt x="11929" y="43199"/>
                    <a:pt x="0" y="43200"/>
                  </a:cubicBezTo>
                </a:path>
                <a:path w="21600" h="43200" stroke="0" extrusionOk="0">
                  <a:moveTo>
                    <a:pt x="-1" y="0"/>
                  </a:moveTo>
                  <a:cubicBezTo>
                    <a:pt x="11929" y="0"/>
                    <a:pt x="21600" y="9670"/>
                    <a:pt x="21600" y="21600"/>
                  </a:cubicBezTo>
                  <a:cubicBezTo>
                    <a:pt x="21600" y="33529"/>
                    <a:pt x="11929" y="43199"/>
                    <a:pt x="0" y="43200"/>
                  </a:cubicBezTo>
                  <a:lnTo>
                    <a:pt x="0" y="21600"/>
                  </a:lnTo>
                  <a:close/>
                </a:path>
              </a:pathLst>
            </a:custGeom>
            <a:solidFill>
              <a:srgbClr val="FFC000"/>
            </a:solidFill>
            <a:ln w="9525">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bg1"/>
                </a:solidFill>
                <a:effectLst/>
                <a:uLnTx/>
                <a:uFillTx/>
                <a:latin typeface="EY interstate"/>
              </a:endParaRPr>
            </a:p>
          </p:txBody>
        </p:sp>
        <p:sp>
          <p:nvSpPr>
            <p:cNvPr id="19" name="Rectangle 18">
              <a:extLst>
                <a:ext uri="{FF2B5EF4-FFF2-40B4-BE49-F238E27FC236}">
                  <a16:creationId xmlns:a16="http://schemas.microsoft.com/office/drawing/2014/main" id="{5B21A498-CDD3-8A4B-8745-17EF8FFBCE67}"/>
                </a:ext>
              </a:extLst>
            </p:cNvPr>
            <p:cNvSpPr/>
            <p:nvPr/>
          </p:nvSpPr>
          <p:spPr>
            <a:xfrm>
              <a:off x="5529658" y="1183984"/>
              <a:ext cx="932732" cy="211089"/>
            </a:xfrm>
            <a:prstGeom prst="rect">
              <a:avLst/>
            </a:prstGeom>
            <a:noFill/>
            <a:ln w="9525" cap="flat" cmpd="sng" algn="ctr">
              <a:noFill/>
              <a:prstDash val="solid"/>
            </a:ln>
            <a:effectLst/>
          </p:spPr>
          <p:txBody>
            <a:bodyPr tIns="45720" bIns="45720" rtlCol="0" anchor="ctr" anchorCtr="0"/>
            <a:lstStyle/>
            <a:p>
              <a:pPr marL="0" marR="0" lvl="0" indent="0" defTabSz="914400" eaLnBrk="1" fontAlgn="auto" latinLnBrk="0" hangingPunct="1">
                <a:lnSpc>
                  <a:spcPct val="100000"/>
                </a:lnSpc>
                <a:spcBef>
                  <a:spcPts val="0"/>
                </a:spcBef>
                <a:spcAft>
                  <a:spcPts val="400"/>
                </a:spcAft>
                <a:buClr>
                  <a:srgbClr val="FFD200"/>
                </a:buClr>
                <a:buSzPct val="70000"/>
                <a:buFontTx/>
                <a:buNone/>
                <a:tabLst/>
                <a:defRPr/>
              </a:pPr>
              <a:r>
                <a:rPr kumimoji="0" lang="en-US" sz="1050" b="1" i="0" u="none" strike="noStrike" kern="0" cap="none" spc="0" normalizeH="0" baseline="0" noProof="0">
                  <a:ln>
                    <a:noFill/>
                  </a:ln>
                  <a:solidFill>
                    <a:schemeClr val="bg1"/>
                  </a:solidFill>
                  <a:effectLst/>
                  <a:uLnTx/>
                  <a:uFillTx/>
                  <a:latin typeface="EY interstate"/>
                  <a:cs typeface="Arial" panose="020B0604020202020204" pitchFamily="34" charset="0"/>
                </a:rPr>
                <a:t>Established</a:t>
              </a:r>
            </a:p>
          </p:txBody>
        </p:sp>
      </p:grpSp>
      <p:grpSp>
        <p:nvGrpSpPr>
          <p:cNvPr id="20" name="Group 19">
            <a:extLst>
              <a:ext uri="{FF2B5EF4-FFF2-40B4-BE49-F238E27FC236}">
                <a16:creationId xmlns:a16="http://schemas.microsoft.com/office/drawing/2014/main" id="{6345278A-9396-7BF4-5CA2-68C7B1180638}"/>
              </a:ext>
            </a:extLst>
          </p:cNvPr>
          <p:cNvGrpSpPr/>
          <p:nvPr/>
        </p:nvGrpSpPr>
        <p:grpSpPr>
          <a:xfrm>
            <a:off x="9540048" y="909939"/>
            <a:ext cx="1066180" cy="187249"/>
            <a:chOff x="9226967" y="1197503"/>
            <a:chExt cx="1066180" cy="187249"/>
          </a:xfrm>
        </p:grpSpPr>
        <p:sp>
          <p:nvSpPr>
            <p:cNvPr id="21" name="Oval 49">
              <a:extLst>
                <a:ext uri="{FF2B5EF4-FFF2-40B4-BE49-F238E27FC236}">
                  <a16:creationId xmlns:a16="http://schemas.microsoft.com/office/drawing/2014/main" id="{3A2BC595-DE3E-A5FC-B2AA-84B9F942A56C}"/>
                </a:ext>
              </a:extLst>
            </p:cNvPr>
            <p:cNvSpPr>
              <a:spLocks noChangeAspect="1" noChangeArrowheads="1"/>
            </p:cNvSpPr>
            <p:nvPr/>
          </p:nvSpPr>
          <p:spPr bwMode="auto">
            <a:xfrm>
              <a:off x="9226967" y="1197503"/>
              <a:ext cx="163905" cy="187249"/>
            </a:xfrm>
            <a:prstGeom prst="ellipse">
              <a:avLst/>
            </a:prstGeom>
            <a:solidFill>
              <a:srgbClr val="FFC000"/>
            </a:solidFill>
            <a:ln w="6350">
              <a:solidFill>
                <a:srgbClr val="FFC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bg1"/>
                </a:solidFill>
                <a:effectLst/>
                <a:uLnTx/>
                <a:uFillTx/>
                <a:latin typeface="EY interstate"/>
              </a:endParaRPr>
            </a:p>
          </p:txBody>
        </p:sp>
        <p:sp>
          <p:nvSpPr>
            <p:cNvPr id="22" name="Rectangle 21">
              <a:extLst>
                <a:ext uri="{FF2B5EF4-FFF2-40B4-BE49-F238E27FC236}">
                  <a16:creationId xmlns:a16="http://schemas.microsoft.com/office/drawing/2014/main" id="{CC116F37-34E7-2883-885C-5DA7842868AA}"/>
                </a:ext>
              </a:extLst>
            </p:cNvPr>
            <p:cNvSpPr/>
            <p:nvPr/>
          </p:nvSpPr>
          <p:spPr>
            <a:xfrm>
              <a:off x="9390872" y="1201946"/>
              <a:ext cx="902275" cy="178362"/>
            </a:xfrm>
            <a:prstGeom prst="rect">
              <a:avLst/>
            </a:prstGeom>
            <a:noFill/>
            <a:ln w="9525" cap="flat" cmpd="sng" algn="ctr">
              <a:noFill/>
              <a:prstDash val="solid"/>
            </a:ln>
            <a:effectLst/>
          </p:spPr>
          <p:txBody>
            <a:bodyPr tIns="45720" bIns="45720" rtlCol="0" anchor="ctr" anchorCtr="0"/>
            <a:lstStyle/>
            <a:p>
              <a:pPr marL="0" marR="0" lvl="0" indent="0" defTabSz="914400" eaLnBrk="1" fontAlgn="auto" latinLnBrk="0" hangingPunct="1">
                <a:lnSpc>
                  <a:spcPct val="100000"/>
                </a:lnSpc>
                <a:spcBef>
                  <a:spcPts val="0"/>
                </a:spcBef>
                <a:spcAft>
                  <a:spcPts val="400"/>
                </a:spcAft>
                <a:buClr>
                  <a:srgbClr val="FFD200"/>
                </a:buClr>
                <a:buSzPct val="70000"/>
                <a:buFontTx/>
                <a:buNone/>
                <a:tabLst/>
                <a:defRPr/>
              </a:pPr>
              <a:r>
                <a:rPr kumimoji="0" lang="en-US" sz="1050" b="1" i="0" u="none" strike="noStrike" kern="0" cap="none" spc="0" normalizeH="0" baseline="0" noProof="0">
                  <a:ln>
                    <a:noFill/>
                  </a:ln>
                  <a:solidFill>
                    <a:schemeClr val="bg1"/>
                  </a:solidFill>
                  <a:effectLst/>
                  <a:uLnTx/>
                  <a:uFillTx/>
                  <a:latin typeface="EY interstate"/>
                  <a:cs typeface="Arial" panose="020B0604020202020204" pitchFamily="34" charset="0"/>
                </a:rPr>
                <a:t>Leading</a:t>
              </a:r>
            </a:p>
          </p:txBody>
        </p:sp>
      </p:grpSp>
      <p:sp>
        <p:nvSpPr>
          <p:cNvPr id="23" name="Rectangle 22">
            <a:extLst>
              <a:ext uri="{FF2B5EF4-FFF2-40B4-BE49-F238E27FC236}">
                <a16:creationId xmlns:a16="http://schemas.microsoft.com/office/drawing/2014/main" id="{AB60B2B4-E994-9F56-6B81-475DB6BB418D}"/>
              </a:ext>
            </a:extLst>
          </p:cNvPr>
          <p:cNvSpPr/>
          <p:nvPr/>
        </p:nvSpPr>
        <p:spPr>
          <a:xfrm>
            <a:off x="1170283" y="1157173"/>
            <a:ext cx="3383280" cy="764769"/>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Policies, processes, and procedures documented but not consistently applied</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Policies maintained offline and not integrated with transaction system(s)</a:t>
            </a:r>
          </a:p>
          <a:p>
            <a:pPr marL="230188" marR="0" lvl="0" indent="-230188" defTabSz="914400" eaLnBrk="1" fontAlgn="auto" latinLnBrk="0" hangingPunct="1">
              <a:lnSpc>
                <a:spcPct val="100000"/>
              </a:lnSpc>
              <a:spcBef>
                <a:spcPts val="0"/>
              </a:spcBef>
              <a:spcAft>
                <a:spcPts val="400"/>
              </a:spcAft>
              <a:buClr>
                <a:srgbClr val="FFD200"/>
              </a:buClr>
              <a:buSzPct val="70000"/>
              <a:buFont typeface="Arial" pitchFamily="34" charset="0"/>
              <a:buChar char="►"/>
              <a:tabLst/>
              <a:defRPr/>
            </a:pPr>
            <a:endParaRPr kumimoji="0" lang="en-US" sz="1000" b="0" i="0" u="none" strike="noStrike" kern="0" cap="none" spc="0" normalizeH="0" baseline="0" noProof="0">
              <a:ln>
                <a:noFill/>
              </a:ln>
              <a:solidFill>
                <a:schemeClr val="bg1"/>
              </a:solidFill>
              <a:effectLst/>
              <a:uLnTx/>
              <a:uFillTx/>
              <a:latin typeface="EY interstate"/>
            </a:endParaRPr>
          </a:p>
        </p:txBody>
      </p:sp>
      <p:sp>
        <p:nvSpPr>
          <p:cNvPr id="24" name="Rectangle 23">
            <a:extLst>
              <a:ext uri="{FF2B5EF4-FFF2-40B4-BE49-F238E27FC236}">
                <a16:creationId xmlns:a16="http://schemas.microsoft.com/office/drawing/2014/main" id="{9C7D2863-69AF-66B3-A22E-2418422385FC}"/>
              </a:ext>
            </a:extLst>
          </p:cNvPr>
          <p:cNvSpPr/>
          <p:nvPr/>
        </p:nvSpPr>
        <p:spPr>
          <a:xfrm>
            <a:off x="4646909" y="1157173"/>
            <a:ext cx="3383280" cy="764769"/>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Policies established and effective at a local level, but inconsistently applied across the organization </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Global allocation methodology inconsistently applied</a:t>
            </a:r>
          </a:p>
        </p:txBody>
      </p:sp>
      <p:sp>
        <p:nvSpPr>
          <p:cNvPr id="25" name="Rectangle 24">
            <a:extLst>
              <a:ext uri="{FF2B5EF4-FFF2-40B4-BE49-F238E27FC236}">
                <a16:creationId xmlns:a16="http://schemas.microsoft.com/office/drawing/2014/main" id="{DCD642DD-A5D0-2D31-FC6B-1DB9DAC4FCC5}"/>
              </a:ext>
            </a:extLst>
          </p:cNvPr>
          <p:cNvSpPr/>
          <p:nvPr/>
        </p:nvSpPr>
        <p:spPr>
          <a:xfrm>
            <a:off x="8123534" y="1168532"/>
            <a:ext cx="3383280" cy="764769"/>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Standardized policies and procedures applied consistently across the organization</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Global allocation methodology applied consistently </a:t>
            </a:r>
          </a:p>
        </p:txBody>
      </p:sp>
      <p:sp>
        <p:nvSpPr>
          <p:cNvPr id="26" name="Rectangle 25">
            <a:extLst>
              <a:ext uri="{FF2B5EF4-FFF2-40B4-BE49-F238E27FC236}">
                <a16:creationId xmlns:a16="http://schemas.microsoft.com/office/drawing/2014/main" id="{6D29D9D4-C61C-70C1-B0AB-A86344180DD3}"/>
              </a:ext>
            </a:extLst>
          </p:cNvPr>
          <p:cNvSpPr/>
          <p:nvPr/>
        </p:nvSpPr>
        <p:spPr>
          <a:xfrm>
            <a:off x="1158571" y="1944705"/>
            <a:ext cx="3383280" cy="1087498"/>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Processing is de-centralized  </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Intercompany entries reside within each business and are supported by multiple operation areas</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All month-end processes are carried out at the local finance level</a:t>
            </a:r>
          </a:p>
        </p:txBody>
      </p:sp>
      <p:sp>
        <p:nvSpPr>
          <p:cNvPr id="27" name="Rectangle 26">
            <a:extLst>
              <a:ext uri="{FF2B5EF4-FFF2-40B4-BE49-F238E27FC236}">
                <a16:creationId xmlns:a16="http://schemas.microsoft.com/office/drawing/2014/main" id="{41D79A03-1351-30F4-338D-FFBCA2EC72CD}"/>
              </a:ext>
            </a:extLst>
          </p:cNvPr>
          <p:cNvSpPr/>
          <p:nvPr/>
        </p:nvSpPr>
        <p:spPr>
          <a:xfrm>
            <a:off x="4646909" y="1931703"/>
            <a:ext cx="3383278" cy="1087498"/>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Limited regionalization of processing</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Local finance teams still post a considerable volume of entries</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Centralized month-end processing in place for some intercompany transaction processing</a:t>
            </a:r>
          </a:p>
        </p:txBody>
      </p:sp>
      <p:sp>
        <p:nvSpPr>
          <p:cNvPr id="28" name="Rectangle 27">
            <a:extLst>
              <a:ext uri="{FF2B5EF4-FFF2-40B4-BE49-F238E27FC236}">
                <a16:creationId xmlns:a16="http://schemas.microsoft.com/office/drawing/2014/main" id="{02EBA351-0F0E-8457-7DBA-DE26341248B9}"/>
              </a:ext>
            </a:extLst>
          </p:cNvPr>
          <p:cNvSpPr/>
          <p:nvPr/>
        </p:nvSpPr>
        <p:spPr>
          <a:xfrm>
            <a:off x="8113475" y="1975746"/>
            <a:ext cx="3377565" cy="910754"/>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Majority of processing and allocations has been offshored or automated </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Core month-end transaction processing is performed in an offshore shared service setting</a:t>
            </a:r>
          </a:p>
        </p:txBody>
      </p:sp>
      <p:sp>
        <p:nvSpPr>
          <p:cNvPr id="29" name="Rectangle 28">
            <a:extLst>
              <a:ext uri="{FF2B5EF4-FFF2-40B4-BE49-F238E27FC236}">
                <a16:creationId xmlns:a16="http://schemas.microsoft.com/office/drawing/2014/main" id="{F11A084E-8EDE-3267-8913-E83D0BD467B3}"/>
              </a:ext>
            </a:extLst>
          </p:cNvPr>
          <p:cNvSpPr/>
          <p:nvPr/>
        </p:nvSpPr>
        <p:spPr>
          <a:xfrm>
            <a:off x="1184764" y="2974199"/>
            <a:ext cx="3383280" cy="1105151"/>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No common G/L platform or subsidiary ledgers, creating inconsistent data definitions and inconsistencies in intercompany accounting</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Multiple legacy systems require significant manual intervention to post to GL</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Significant reliance on L</a:t>
            </a:r>
            <a:r>
              <a:rPr lang="en-US" sz="1000" kern="0" err="1">
                <a:solidFill>
                  <a:schemeClr val="bg1"/>
                </a:solidFill>
                <a:latin typeface="EY interstate"/>
                <a:cs typeface="Arial" panose="020B0604020202020204" pitchFamily="34" charset="0"/>
              </a:rPr>
              <a:t>egacy</a:t>
            </a:r>
            <a:r>
              <a:rPr lang="en-US" sz="1000" kern="0">
                <a:solidFill>
                  <a:schemeClr val="bg1"/>
                </a:solidFill>
                <a:latin typeface="EY interstate"/>
                <a:cs typeface="Arial" panose="020B0604020202020204" pitchFamily="34" charset="0"/>
              </a:rPr>
              <a:t> System</a:t>
            </a: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 </a:t>
            </a:r>
            <a:r>
              <a:rPr kumimoji="0" lang="en-US" sz="1000" b="0" i="0" u="none" strike="noStrike" kern="0" cap="none" spc="0" normalizeH="0" baseline="0" noProof="0" err="1">
                <a:ln>
                  <a:noFill/>
                </a:ln>
                <a:solidFill>
                  <a:schemeClr val="bg1"/>
                </a:solidFill>
                <a:effectLst/>
                <a:uLnTx/>
                <a:uFillTx/>
                <a:latin typeface="EY interstate"/>
                <a:cs typeface="Arial" panose="020B0604020202020204" pitchFamily="34" charset="0"/>
              </a:rPr>
              <a:t>e.g</a:t>
            </a:r>
            <a:r>
              <a:rPr lang="en-US" sz="1000" kern="0">
                <a:solidFill>
                  <a:schemeClr val="bg1"/>
                </a:solidFill>
                <a:latin typeface="EY interstate"/>
                <a:cs typeface="Arial" panose="020B0604020202020204" pitchFamily="34" charset="0"/>
              </a:rPr>
              <a:t>,</a:t>
            </a: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Excel)</a:t>
            </a:r>
          </a:p>
        </p:txBody>
      </p:sp>
      <p:sp>
        <p:nvSpPr>
          <p:cNvPr id="30" name="Rectangle 29">
            <a:extLst>
              <a:ext uri="{FF2B5EF4-FFF2-40B4-BE49-F238E27FC236}">
                <a16:creationId xmlns:a16="http://schemas.microsoft.com/office/drawing/2014/main" id="{5441257D-0E90-DF40-AD2E-4CA80FEDB7F1}"/>
              </a:ext>
            </a:extLst>
          </p:cNvPr>
          <p:cNvSpPr/>
          <p:nvPr/>
        </p:nvSpPr>
        <p:spPr>
          <a:xfrm>
            <a:off x="4646910" y="2956119"/>
            <a:ext cx="3383277" cy="1119006"/>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Enterprise G/L interface for all business units; subsidiaries vary across business and region</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Sub-ledger data is electronically interfaced but requires top-side adjustments</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Lack of standard account and/or legal entity definitions</a:t>
            </a:r>
          </a:p>
        </p:txBody>
      </p:sp>
      <p:sp>
        <p:nvSpPr>
          <p:cNvPr id="31" name="Rectangle 30">
            <a:extLst>
              <a:ext uri="{FF2B5EF4-FFF2-40B4-BE49-F238E27FC236}">
                <a16:creationId xmlns:a16="http://schemas.microsoft.com/office/drawing/2014/main" id="{2384D5AC-152E-D37A-99FC-5D8FADBEEECC}"/>
              </a:ext>
            </a:extLst>
          </p:cNvPr>
          <p:cNvSpPr/>
          <p:nvPr/>
        </p:nvSpPr>
        <p:spPr>
          <a:xfrm>
            <a:off x="8105150" y="2892441"/>
            <a:ext cx="3429952" cy="1256632"/>
          </a:xfrm>
          <a:prstGeom prst="rect">
            <a:avLst/>
          </a:prstGeom>
          <a:noFill/>
          <a:ln w="9525" cap="flat" cmpd="sng" algn="ctr">
            <a:noFill/>
            <a:prstDash val="solid"/>
          </a:ln>
          <a:effectLst/>
        </p:spPr>
        <p:txBody>
          <a:bodyPr tIns="45720" bIns="45720" rtlCol="0" anchor="t" anchorCtr="0"/>
          <a:lstStyle/>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Enterprise G/L interface  for all business units; region specific subsidiaries sync with G/L and Data Warehouse</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Use of enterprise intercompany application</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Use of automated overhead allocation tables</a:t>
            </a:r>
          </a:p>
          <a:p>
            <a:pPr marL="230188" marR="0" lvl="0" indent="-230188" defTabSz="914400" eaLnBrk="1" fontAlgn="auto" latinLnBrk="0" hangingPunct="1">
              <a:lnSpc>
                <a:spcPct val="100000"/>
              </a:lnSpc>
              <a:spcBef>
                <a:spcPts val="0"/>
              </a:spcBef>
              <a:spcAft>
                <a:spcPts val="400"/>
              </a:spcAft>
              <a:buClr>
                <a:srgbClr val="FFE600"/>
              </a:buClr>
              <a:buSzPct val="70000"/>
              <a:buFont typeface="Arial" pitchFamily="34" charset="0"/>
              <a:buChar char="►"/>
              <a:tabLst/>
              <a:defRPr/>
            </a:pPr>
            <a:r>
              <a:rPr kumimoji="0" lang="en-US" sz="1000" b="0" i="0" u="none" strike="noStrike" kern="0" cap="none" spc="0" normalizeH="0" baseline="0" noProof="0">
                <a:ln>
                  <a:noFill/>
                </a:ln>
                <a:solidFill>
                  <a:schemeClr val="bg1"/>
                </a:solidFill>
                <a:effectLst/>
                <a:uLnTx/>
                <a:uFillTx/>
                <a:latin typeface="EY interstate"/>
                <a:cs typeface="Arial" panose="020B0604020202020204" pitchFamily="34" charset="0"/>
              </a:rPr>
              <a:t>Reconciliations supported by integrated standard solution</a:t>
            </a:r>
          </a:p>
        </p:txBody>
      </p:sp>
      <p:grpSp>
        <p:nvGrpSpPr>
          <p:cNvPr id="32" name="Group 31">
            <a:extLst>
              <a:ext uri="{FF2B5EF4-FFF2-40B4-BE49-F238E27FC236}">
                <a16:creationId xmlns:a16="http://schemas.microsoft.com/office/drawing/2014/main" id="{BF5B7AE2-A07E-BD96-D917-F46AD095628F}"/>
              </a:ext>
            </a:extLst>
          </p:cNvPr>
          <p:cNvGrpSpPr/>
          <p:nvPr/>
        </p:nvGrpSpPr>
        <p:grpSpPr>
          <a:xfrm>
            <a:off x="528298" y="1174261"/>
            <a:ext cx="566277" cy="719070"/>
            <a:chOff x="162245" y="1698691"/>
            <a:chExt cx="566277" cy="719070"/>
          </a:xfrm>
        </p:grpSpPr>
        <p:sp>
          <p:nvSpPr>
            <p:cNvPr id="33" name="Freeform 21">
              <a:extLst>
                <a:ext uri="{FF2B5EF4-FFF2-40B4-BE49-F238E27FC236}">
                  <a16:creationId xmlns:a16="http://schemas.microsoft.com/office/drawing/2014/main" id="{AED57FD4-1F50-E7E3-37FE-1F5F7E0DB5FC}"/>
                </a:ext>
              </a:extLst>
            </p:cNvPr>
            <p:cNvSpPr>
              <a:spLocks noChangeAspect="1" noEditPoints="1"/>
            </p:cNvSpPr>
            <p:nvPr/>
          </p:nvSpPr>
          <p:spPr bwMode="auto">
            <a:xfrm>
              <a:off x="196248" y="1698691"/>
              <a:ext cx="515907" cy="510175"/>
            </a:xfrm>
            <a:custGeom>
              <a:avLst/>
              <a:gdLst>
                <a:gd name="T0" fmla="*/ 1490 w 1967"/>
                <a:gd name="T1" fmla="*/ 610 h 1902"/>
                <a:gd name="T2" fmla="*/ 626 w 1967"/>
                <a:gd name="T3" fmla="*/ 450 h 1902"/>
                <a:gd name="T4" fmla="*/ 426 w 1967"/>
                <a:gd name="T5" fmla="*/ 702 h 1902"/>
                <a:gd name="T6" fmla="*/ 1595 w 1967"/>
                <a:gd name="T7" fmla="*/ 951 h 1902"/>
                <a:gd name="T8" fmla="*/ 1480 w 1967"/>
                <a:gd name="T9" fmla="*/ 800 h 1902"/>
                <a:gd name="T10" fmla="*/ 1239 w 1967"/>
                <a:gd name="T11" fmla="*/ 682 h 1902"/>
                <a:gd name="T12" fmla="*/ 1206 w 1967"/>
                <a:gd name="T13" fmla="*/ 612 h 1902"/>
                <a:gd name="T14" fmla="*/ 749 w 1967"/>
                <a:gd name="T15" fmla="*/ 957 h 1902"/>
                <a:gd name="T16" fmla="*/ 1184 w 1967"/>
                <a:gd name="T17" fmla="*/ 733 h 1902"/>
                <a:gd name="T18" fmla="*/ 1213 w 1967"/>
                <a:gd name="T19" fmla="*/ 1020 h 1902"/>
                <a:gd name="T20" fmla="*/ 754 w 1967"/>
                <a:gd name="T21" fmla="*/ 1026 h 1902"/>
                <a:gd name="T22" fmla="*/ 1156 w 1967"/>
                <a:gd name="T23" fmla="*/ 666 h 1902"/>
                <a:gd name="T24" fmla="*/ 891 w 1967"/>
                <a:gd name="T25" fmla="*/ 440 h 1902"/>
                <a:gd name="T26" fmla="*/ 644 w 1967"/>
                <a:gd name="T27" fmla="*/ 559 h 1902"/>
                <a:gd name="T28" fmla="*/ 644 w 1967"/>
                <a:gd name="T29" fmla="*/ 559 h 1902"/>
                <a:gd name="T30" fmla="*/ 750 w 1967"/>
                <a:gd name="T31" fmla="*/ 1245 h 1902"/>
                <a:gd name="T32" fmla="*/ 499 w 1967"/>
                <a:gd name="T33" fmla="*/ 1139 h 1902"/>
                <a:gd name="T34" fmla="*/ 916 w 1967"/>
                <a:gd name="T35" fmla="*/ 1466 h 1902"/>
                <a:gd name="T36" fmla="*/ 1065 w 1967"/>
                <a:gd name="T37" fmla="*/ 1349 h 1902"/>
                <a:gd name="T38" fmla="*/ 1053 w 1967"/>
                <a:gd name="T39" fmla="*/ 1456 h 1902"/>
                <a:gd name="T40" fmla="*/ 1192 w 1967"/>
                <a:gd name="T41" fmla="*/ 344 h 1902"/>
                <a:gd name="T42" fmla="*/ 1211 w 1967"/>
                <a:gd name="T43" fmla="*/ 134 h 1902"/>
                <a:gd name="T44" fmla="*/ 1453 w 1967"/>
                <a:gd name="T45" fmla="*/ 222 h 1902"/>
                <a:gd name="T46" fmla="*/ 1732 w 1967"/>
                <a:gd name="T47" fmla="*/ 521 h 1902"/>
                <a:gd name="T48" fmla="*/ 1800 w 1967"/>
                <a:gd name="T49" fmla="*/ 759 h 1902"/>
                <a:gd name="T50" fmla="*/ 1784 w 1967"/>
                <a:gd name="T51" fmla="*/ 861 h 1902"/>
                <a:gd name="T52" fmla="*/ 1757 w 1967"/>
                <a:gd name="T53" fmla="*/ 698 h 1902"/>
                <a:gd name="T54" fmla="*/ 1637 w 1967"/>
                <a:gd name="T55" fmla="*/ 467 h 1902"/>
                <a:gd name="T56" fmla="*/ 1337 w 1967"/>
                <a:gd name="T57" fmla="*/ 257 h 1902"/>
                <a:gd name="T58" fmla="*/ 1192 w 1967"/>
                <a:gd name="T59" fmla="*/ 226 h 1902"/>
                <a:gd name="T60" fmla="*/ 227 w 1967"/>
                <a:gd name="T61" fmla="*/ 741 h 1902"/>
                <a:gd name="T62" fmla="*/ 288 w 1967"/>
                <a:gd name="T63" fmla="*/ 525 h 1902"/>
                <a:gd name="T64" fmla="*/ 543 w 1967"/>
                <a:gd name="T65" fmla="*/ 250 h 1902"/>
                <a:gd name="T66" fmla="*/ 763 w 1967"/>
                <a:gd name="T67" fmla="*/ 168 h 1902"/>
                <a:gd name="T68" fmla="*/ 860 w 1967"/>
                <a:gd name="T69" fmla="*/ 137 h 1902"/>
                <a:gd name="T70" fmla="*/ 689 w 1967"/>
                <a:gd name="T71" fmla="*/ 152 h 1902"/>
                <a:gd name="T72" fmla="*/ 434 w 1967"/>
                <a:gd name="T73" fmla="*/ 262 h 1902"/>
                <a:gd name="T74" fmla="*/ 179 w 1967"/>
                <a:gd name="T75" fmla="*/ 575 h 1902"/>
                <a:gd name="T76" fmla="*/ 129 w 1967"/>
                <a:gd name="T77" fmla="*/ 750 h 1902"/>
                <a:gd name="T78" fmla="*/ 745 w 1967"/>
                <a:gd name="T79" fmla="*/ 1677 h 1902"/>
                <a:gd name="T80" fmla="*/ 600 w 1967"/>
                <a:gd name="T81" fmla="*/ 1646 h 1902"/>
                <a:gd name="T82" fmla="*/ 300 w 1967"/>
                <a:gd name="T83" fmla="*/ 1436 h 1902"/>
                <a:gd name="T84" fmla="*/ 179 w 1967"/>
                <a:gd name="T85" fmla="*/ 1205 h 1902"/>
                <a:gd name="T86" fmla="*/ 152 w 1967"/>
                <a:gd name="T87" fmla="*/ 1042 h 1902"/>
                <a:gd name="T88" fmla="*/ 136 w 1967"/>
                <a:gd name="T89" fmla="*/ 1144 h 1902"/>
                <a:gd name="T90" fmla="*/ 205 w 1967"/>
                <a:gd name="T91" fmla="*/ 1381 h 1902"/>
                <a:gd name="T92" fmla="*/ 484 w 1967"/>
                <a:gd name="T93" fmla="*/ 1681 h 1902"/>
                <a:gd name="T94" fmla="*/ 725 w 1967"/>
                <a:gd name="T95" fmla="*/ 1769 h 1902"/>
                <a:gd name="T96" fmla="*/ 745 w 1967"/>
                <a:gd name="T97" fmla="*/ 1558 h 1902"/>
                <a:gd name="T98" fmla="*/ 1741 w 1967"/>
                <a:gd name="T99" fmla="*/ 1169 h 1902"/>
                <a:gd name="T100" fmla="*/ 1710 w 1967"/>
                <a:gd name="T101" fmla="*/ 1314 h 1902"/>
                <a:gd name="T102" fmla="*/ 1500 w 1967"/>
                <a:gd name="T103" fmla="*/ 1614 h 1902"/>
                <a:gd name="T104" fmla="*/ 1269 w 1967"/>
                <a:gd name="T105" fmla="*/ 1735 h 1902"/>
                <a:gd name="T106" fmla="*/ 1106 w 1967"/>
                <a:gd name="T107" fmla="*/ 1762 h 1902"/>
                <a:gd name="T108" fmla="*/ 1208 w 1967"/>
                <a:gd name="T109" fmla="*/ 1778 h 1902"/>
                <a:gd name="T110" fmla="*/ 1446 w 1967"/>
                <a:gd name="T111" fmla="*/ 1709 h 1902"/>
                <a:gd name="T112" fmla="*/ 1745 w 1967"/>
                <a:gd name="T113" fmla="*/ 1430 h 1902"/>
                <a:gd name="T114" fmla="*/ 1833 w 1967"/>
                <a:gd name="T115" fmla="*/ 1189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7" h="1902">
                  <a:moveTo>
                    <a:pt x="1595" y="951"/>
                  </a:moveTo>
                  <a:cubicBezTo>
                    <a:pt x="1595" y="907"/>
                    <a:pt x="1590" y="863"/>
                    <a:pt x="1580" y="821"/>
                  </a:cubicBezTo>
                  <a:cubicBezTo>
                    <a:pt x="1570" y="774"/>
                    <a:pt x="1554" y="730"/>
                    <a:pt x="1534" y="687"/>
                  </a:cubicBezTo>
                  <a:cubicBezTo>
                    <a:pt x="1521" y="660"/>
                    <a:pt x="1507" y="634"/>
                    <a:pt x="1490" y="610"/>
                  </a:cubicBezTo>
                  <a:cubicBezTo>
                    <a:pt x="1474" y="585"/>
                    <a:pt x="1455" y="563"/>
                    <a:pt x="1435" y="541"/>
                  </a:cubicBezTo>
                  <a:cubicBezTo>
                    <a:pt x="1323" y="418"/>
                    <a:pt x="1162" y="340"/>
                    <a:pt x="983" y="340"/>
                  </a:cubicBezTo>
                  <a:cubicBezTo>
                    <a:pt x="854" y="340"/>
                    <a:pt x="734" y="381"/>
                    <a:pt x="635" y="450"/>
                  </a:cubicBezTo>
                  <a:cubicBezTo>
                    <a:pt x="626" y="450"/>
                    <a:pt x="626" y="450"/>
                    <a:pt x="626" y="450"/>
                  </a:cubicBezTo>
                  <a:cubicBezTo>
                    <a:pt x="626" y="452"/>
                    <a:pt x="626" y="454"/>
                    <a:pt x="627" y="456"/>
                  </a:cubicBezTo>
                  <a:cubicBezTo>
                    <a:pt x="572" y="495"/>
                    <a:pt x="524" y="543"/>
                    <a:pt x="485" y="599"/>
                  </a:cubicBezTo>
                  <a:cubicBezTo>
                    <a:pt x="479" y="607"/>
                    <a:pt x="473" y="616"/>
                    <a:pt x="467" y="626"/>
                  </a:cubicBezTo>
                  <a:cubicBezTo>
                    <a:pt x="451" y="650"/>
                    <a:pt x="437" y="675"/>
                    <a:pt x="426" y="702"/>
                  </a:cubicBezTo>
                  <a:cubicBezTo>
                    <a:pt x="402" y="754"/>
                    <a:pt x="386" y="811"/>
                    <a:pt x="378" y="870"/>
                  </a:cubicBezTo>
                  <a:cubicBezTo>
                    <a:pt x="374" y="897"/>
                    <a:pt x="372" y="924"/>
                    <a:pt x="372" y="951"/>
                  </a:cubicBezTo>
                  <a:cubicBezTo>
                    <a:pt x="372" y="1289"/>
                    <a:pt x="646" y="1563"/>
                    <a:pt x="983" y="1563"/>
                  </a:cubicBezTo>
                  <a:cubicBezTo>
                    <a:pt x="1320" y="1563"/>
                    <a:pt x="1595" y="1289"/>
                    <a:pt x="1595" y="951"/>
                  </a:cubicBezTo>
                  <a:close/>
                  <a:moveTo>
                    <a:pt x="1501" y="919"/>
                  </a:moveTo>
                  <a:cubicBezTo>
                    <a:pt x="1463" y="1059"/>
                    <a:pt x="1358" y="1175"/>
                    <a:pt x="1220" y="1238"/>
                  </a:cubicBezTo>
                  <a:cubicBezTo>
                    <a:pt x="1257" y="1161"/>
                    <a:pt x="1280" y="1076"/>
                    <a:pt x="1286" y="985"/>
                  </a:cubicBezTo>
                  <a:cubicBezTo>
                    <a:pt x="1365" y="938"/>
                    <a:pt x="1432" y="875"/>
                    <a:pt x="1480" y="800"/>
                  </a:cubicBezTo>
                  <a:cubicBezTo>
                    <a:pt x="1492" y="838"/>
                    <a:pt x="1499" y="878"/>
                    <a:pt x="1501" y="919"/>
                  </a:cubicBezTo>
                  <a:close/>
                  <a:moveTo>
                    <a:pt x="1451" y="727"/>
                  </a:moveTo>
                  <a:cubicBezTo>
                    <a:pt x="1414" y="801"/>
                    <a:pt x="1357" y="864"/>
                    <a:pt x="1286" y="912"/>
                  </a:cubicBezTo>
                  <a:cubicBezTo>
                    <a:pt x="1283" y="831"/>
                    <a:pt x="1267" y="754"/>
                    <a:pt x="1239" y="682"/>
                  </a:cubicBezTo>
                  <a:cubicBezTo>
                    <a:pt x="1272" y="645"/>
                    <a:pt x="1298" y="600"/>
                    <a:pt x="1313" y="550"/>
                  </a:cubicBezTo>
                  <a:cubicBezTo>
                    <a:pt x="1371" y="598"/>
                    <a:pt x="1418" y="658"/>
                    <a:pt x="1451" y="727"/>
                  </a:cubicBezTo>
                  <a:close/>
                  <a:moveTo>
                    <a:pt x="1252" y="508"/>
                  </a:moveTo>
                  <a:cubicBezTo>
                    <a:pt x="1244" y="546"/>
                    <a:pt x="1228" y="582"/>
                    <a:pt x="1206" y="612"/>
                  </a:cubicBezTo>
                  <a:cubicBezTo>
                    <a:pt x="1172" y="547"/>
                    <a:pt x="1127" y="489"/>
                    <a:pt x="1075" y="440"/>
                  </a:cubicBezTo>
                  <a:cubicBezTo>
                    <a:pt x="1139" y="452"/>
                    <a:pt x="1199" y="475"/>
                    <a:pt x="1252" y="508"/>
                  </a:cubicBezTo>
                  <a:close/>
                  <a:moveTo>
                    <a:pt x="977" y="1005"/>
                  </a:moveTo>
                  <a:cubicBezTo>
                    <a:pt x="895" y="1005"/>
                    <a:pt x="818" y="988"/>
                    <a:pt x="749" y="957"/>
                  </a:cubicBezTo>
                  <a:cubicBezTo>
                    <a:pt x="748" y="951"/>
                    <a:pt x="748" y="945"/>
                    <a:pt x="748" y="939"/>
                  </a:cubicBezTo>
                  <a:cubicBezTo>
                    <a:pt x="748" y="869"/>
                    <a:pt x="759" y="802"/>
                    <a:pt x="780" y="739"/>
                  </a:cubicBezTo>
                  <a:cubicBezTo>
                    <a:pt x="836" y="778"/>
                    <a:pt x="904" y="801"/>
                    <a:pt x="977" y="801"/>
                  </a:cubicBezTo>
                  <a:cubicBezTo>
                    <a:pt x="1054" y="801"/>
                    <a:pt x="1126" y="775"/>
                    <a:pt x="1184" y="733"/>
                  </a:cubicBezTo>
                  <a:cubicBezTo>
                    <a:pt x="1206" y="797"/>
                    <a:pt x="1218" y="866"/>
                    <a:pt x="1218" y="939"/>
                  </a:cubicBezTo>
                  <a:cubicBezTo>
                    <a:pt x="1218" y="943"/>
                    <a:pt x="1218" y="947"/>
                    <a:pt x="1218" y="951"/>
                  </a:cubicBezTo>
                  <a:cubicBezTo>
                    <a:pt x="1146" y="986"/>
                    <a:pt x="1064" y="1005"/>
                    <a:pt x="977" y="1005"/>
                  </a:cubicBezTo>
                  <a:close/>
                  <a:moveTo>
                    <a:pt x="1213" y="1020"/>
                  </a:moveTo>
                  <a:cubicBezTo>
                    <a:pt x="1201" y="1114"/>
                    <a:pt x="1169" y="1200"/>
                    <a:pt x="1122" y="1273"/>
                  </a:cubicBezTo>
                  <a:cubicBezTo>
                    <a:pt x="1076" y="1285"/>
                    <a:pt x="1027" y="1292"/>
                    <a:pt x="977" y="1292"/>
                  </a:cubicBezTo>
                  <a:cubicBezTo>
                    <a:pt x="932" y="1292"/>
                    <a:pt x="888" y="1286"/>
                    <a:pt x="846" y="1277"/>
                  </a:cubicBezTo>
                  <a:cubicBezTo>
                    <a:pt x="799" y="1204"/>
                    <a:pt x="767" y="1118"/>
                    <a:pt x="754" y="1026"/>
                  </a:cubicBezTo>
                  <a:cubicBezTo>
                    <a:pt x="823" y="1052"/>
                    <a:pt x="898" y="1067"/>
                    <a:pt x="977" y="1067"/>
                  </a:cubicBezTo>
                  <a:cubicBezTo>
                    <a:pt x="1061" y="1067"/>
                    <a:pt x="1141" y="1050"/>
                    <a:pt x="1213" y="1020"/>
                  </a:cubicBezTo>
                  <a:close/>
                  <a:moveTo>
                    <a:pt x="983" y="455"/>
                  </a:moveTo>
                  <a:cubicBezTo>
                    <a:pt x="1056" y="508"/>
                    <a:pt x="1115" y="581"/>
                    <a:pt x="1156" y="666"/>
                  </a:cubicBezTo>
                  <a:cubicBezTo>
                    <a:pt x="1108" y="707"/>
                    <a:pt x="1045" y="731"/>
                    <a:pt x="977" y="731"/>
                  </a:cubicBezTo>
                  <a:cubicBezTo>
                    <a:pt x="913" y="731"/>
                    <a:pt x="854" y="710"/>
                    <a:pt x="807" y="673"/>
                  </a:cubicBezTo>
                  <a:cubicBezTo>
                    <a:pt x="848" y="585"/>
                    <a:pt x="909" y="510"/>
                    <a:pt x="983" y="455"/>
                  </a:cubicBezTo>
                  <a:close/>
                  <a:moveTo>
                    <a:pt x="891" y="440"/>
                  </a:moveTo>
                  <a:cubicBezTo>
                    <a:pt x="837" y="491"/>
                    <a:pt x="790" y="553"/>
                    <a:pt x="755" y="622"/>
                  </a:cubicBezTo>
                  <a:cubicBezTo>
                    <a:pt x="731" y="590"/>
                    <a:pt x="713" y="554"/>
                    <a:pt x="703" y="515"/>
                  </a:cubicBezTo>
                  <a:cubicBezTo>
                    <a:pt x="760" y="478"/>
                    <a:pt x="823" y="453"/>
                    <a:pt x="891" y="440"/>
                  </a:cubicBezTo>
                  <a:close/>
                  <a:moveTo>
                    <a:pt x="644" y="559"/>
                  </a:moveTo>
                  <a:cubicBezTo>
                    <a:pt x="660" y="609"/>
                    <a:pt x="688" y="654"/>
                    <a:pt x="724" y="692"/>
                  </a:cubicBezTo>
                  <a:cubicBezTo>
                    <a:pt x="697" y="762"/>
                    <a:pt x="682" y="839"/>
                    <a:pt x="680" y="920"/>
                  </a:cubicBezTo>
                  <a:cubicBezTo>
                    <a:pt x="608" y="874"/>
                    <a:pt x="549" y="812"/>
                    <a:pt x="510" y="739"/>
                  </a:cubicBezTo>
                  <a:cubicBezTo>
                    <a:pt x="541" y="670"/>
                    <a:pt x="587" y="608"/>
                    <a:pt x="644" y="559"/>
                  </a:cubicBezTo>
                  <a:close/>
                  <a:moveTo>
                    <a:pt x="464" y="951"/>
                  </a:moveTo>
                  <a:cubicBezTo>
                    <a:pt x="464" y="904"/>
                    <a:pt x="471" y="857"/>
                    <a:pt x="483" y="813"/>
                  </a:cubicBezTo>
                  <a:cubicBezTo>
                    <a:pt x="533" y="886"/>
                    <a:pt x="601" y="948"/>
                    <a:pt x="681" y="992"/>
                  </a:cubicBezTo>
                  <a:cubicBezTo>
                    <a:pt x="688" y="1083"/>
                    <a:pt x="712" y="1169"/>
                    <a:pt x="750" y="1245"/>
                  </a:cubicBezTo>
                  <a:cubicBezTo>
                    <a:pt x="616" y="1189"/>
                    <a:pt x="511" y="1083"/>
                    <a:pt x="464" y="954"/>
                  </a:cubicBezTo>
                  <a:cubicBezTo>
                    <a:pt x="464" y="953"/>
                    <a:pt x="464" y="952"/>
                    <a:pt x="464" y="951"/>
                  </a:cubicBezTo>
                  <a:close/>
                  <a:moveTo>
                    <a:pt x="916" y="1466"/>
                  </a:moveTo>
                  <a:cubicBezTo>
                    <a:pt x="725" y="1441"/>
                    <a:pt x="567" y="1313"/>
                    <a:pt x="499" y="1139"/>
                  </a:cubicBezTo>
                  <a:cubicBezTo>
                    <a:pt x="575" y="1229"/>
                    <a:pt x="679" y="1296"/>
                    <a:pt x="799" y="1331"/>
                  </a:cubicBezTo>
                  <a:cubicBezTo>
                    <a:pt x="832" y="1378"/>
                    <a:pt x="870" y="1420"/>
                    <a:pt x="913" y="1456"/>
                  </a:cubicBezTo>
                  <a:cubicBezTo>
                    <a:pt x="917" y="1458"/>
                    <a:pt x="922" y="1459"/>
                    <a:pt x="927" y="1461"/>
                  </a:cubicBezTo>
                  <a:cubicBezTo>
                    <a:pt x="923" y="1463"/>
                    <a:pt x="920" y="1464"/>
                    <a:pt x="916" y="1466"/>
                  </a:cubicBezTo>
                  <a:close/>
                  <a:moveTo>
                    <a:pt x="983" y="1424"/>
                  </a:moveTo>
                  <a:cubicBezTo>
                    <a:pt x="954" y="1402"/>
                    <a:pt x="927" y="1378"/>
                    <a:pt x="903" y="1351"/>
                  </a:cubicBezTo>
                  <a:cubicBezTo>
                    <a:pt x="927" y="1354"/>
                    <a:pt x="952" y="1355"/>
                    <a:pt x="977" y="1355"/>
                  </a:cubicBezTo>
                  <a:cubicBezTo>
                    <a:pt x="1007" y="1355"/>
                    <a:pt x="1036" y="1353"/>
                    <a:pt x="1065" y="1349"/>
                  </a:cubicBezTo>
                  <a:cubicBezTo>
                    <a:pt x="1040" y="1377"/>
                    <a:pt x="1013" y="1402"/>
                    <a:pt x="983" y="1424"/>
                  </a:cubicBezTo>
                  <a:close/>
                  <a:moveTo>
                    <a:pt x="1050" y="1466"/>
                  </a:moveTo>
                  <a:cubicBezTo>
                    <a:pt x="1047" y="1464"/>
                    <a:pt x="1043" y="1463"/>
                    <a:pt x="1040" y="1461"/>
                  </a:cubicBezTo>
                  <a:cubicBezTo>
                    <a:pt x="1044" y="1459"/>
                    <a:pt x="1049" y="1458"/>
                    <a:pt x="1053" y="1456"/>
                  </a:cubicBezTo>
                  <a:cubicBezTo>
                    <a:pt x="1097" y="1419"/>
                    <a:pt x="1137" y="1375"/>
                    <a:pt x="1170" y="1326"/>
                  </a:cubicBezTo>
                  <a:cubicBezTo>
                    <a:pt x="1296" y="1287"/>
                    <a:pt x="1404" y="1211"/>
                    <a:pt x="1477" y="1112"/>
                  </a:cubicBezTo>
                  <a:cubicBezTo>
                    <a:pt x="1416" y="1299"/>
                    <a:pt x="1251" y="1440"/>
                    <a:pt x="1050" y="1466"/>
                  </a:cubicBezTo>
                  <a:close/>
                  <a:moveTo>
                    <a:pt x="1192" y="344"/>
                  </a:moveTo>
                  <a:cubicBezTo>
                    <a:pt x="968" y="172"/>
                    <a:pt x="968" y="172"/>
                    <a:pt x="968" y="172"/>
                  </a:cubicBezTo>
                  <a:cubicBezTo>
                    <a:pt x="1192" y="0"/>
                    <a:pt x="1192" y="0"/>
                    <a:pt x="1192" y="0"/>
                  </a:cubicBezTo>
                  <a:cubicBezTo>
                    <a:pt x="1192" y="130"/>
                    <a:pt x="1192" y="130"/>
                    <a:pt x="1192" y="130"/>
                  </a:cubicBezTo>
                  <a:cubicBezTo>
                    <a:pt x="1198" y="131"/>
                    <a:pt x="1204" y="132"/>
                    <a:pt x="1211" y="134"/>
                  </a:cubicBezTo>
                  <a:cubicBezTo>
                    <a:pt x="1234" y="137"/>
                    <a:pt x="1259" y="142"/>
                    <a:pt x="1284" y="150"/>
                  </a:cubicBezTo>
                  <a:cubicBezTo>
                    <a:pt x="1297" y="154"/>
                    <a:pt x="1311" y="158"/>
                    <a:pt x="1325" y="162"/>
                  </a:cubicBezTo>
                  <a:cubicBezTo>
                    <a:pt x="1338" y="168"/>
                    <a:pt x="1352" y="174"/>
                    <a:pt x="1366" y="179"/>
                  </a:cubicBezTo>
                  <a:cubicBezTo>
                    <a:pt x="1395" y="190"/>
                    <a:pt x="1423" y="207"/>
                    <a:pt x="1453" y="222"/>
                  </a:cubicBezTo>
                  <a:cubicBezTo>
                    <a:pt x="1480" y="241"/>
                    <a:pt x="1510" y="258"/>
                    <a:pt x="1537" y="281"/>
                  </a:cubicBezTo>
                  <a:cubicBezTo>
                    <a:pt x="1565" y="302"/>
                    <a:pt x="1589" y="328"/>
                    <a:pt x="1615" y="352"/>
                  </a:cubicBezTo>
                  <a:cubicBezTo>
                    <a:pt x="1637" y="380"/>
                    <a:pt x="1661" y="405"/>
                    <a:pt x="1680" y="435"/>
                  </a:cubicBezTo>
                  <a:cubicBezTo>
                    <a:pt x="1701" y="462"/>
                    <a:pt x="1715" y="493"/>
                    <a:pt x="1732" y="521"/>
                  </a:cubicBezTo>
                  <a:cubicBezTo>
                    <a:pt x="1744" y="552"/>
                    <a:pt x="1759" y="580"/>
                    <a:pt x="1767" y="609"/>
                  </a:cubicBezTo>
                  <a:cubicBezTo>
                    <a:pt x="1772" y="623"/>
                    <a:pt x="1776" y="637"/>
                    <a:pt x="1780" y="650"/>
                  </a:cubicBezTo>
                  <a:cubicBezTo>
                    <a:pt x="1784" y="664"/>
                    <a:pt x="1787" y="677"/>
                    <a:pt x="1789" y="689"/>
                  </a:cubicBezTo>
                  <a:cubicBezTo>
                    <a:pt x="1796" y="715"/>
                    <a:pt x="1798" y="738"/>
                    <a:pt x="1800" y="759"/>
                  </a:cubicBezTo>
                  <a:cubicBezTo>
                    <a:pt x="1801" y="770"/>
                    <a:pt x="1803" y="780"/>
                    <a:pt x="1804" y="788"/>
                  </a:cubicBezTo>
                  <a:cubicBezTo>
                    <a:pt x="1804" y="798"/>
                    <a:pt x="1804" y="806"/>
                    <a:pt x="1804" y="813"/>
                  </a:cubicBezTo>
                  <a:cubicBezTo>
                    <a:pt x="1804" y="843"/>
                    <a:pt x="1805" y="861"/>
                    <a:pt x="1805" y="861"/>
                  </a:cubicBezTo>
                  <a:cubicBezTo>
                    <a:pt x="1784" y="861"/>
                    <a:pt x="1784" y="861"/>
                    <a:pt x="1784" y="861"/>
                  </a:cubicBezTo>
                  <a:cubicBezTo>
                    <a:pt x="1784" y="861"/>
                    <a:pt x="1783" y="844"/>
                    <a:pt x="1780" y="815"/>
                  </a:cubicBezTo>
                  <a:cubicBezTo>
                    <a:pt x="1780" y="808"/>
                    <a:pt x="1779" y="800"/>
                    <a:pt x="1778" y="791"/>
                  </a:cubicBezTo>
                  <a:cubicBezTo>
                    <a:pt x="1777" y="783"/>
                    <a:pt x="1775" y="773"/>
                    <a:pt x="1773" y="763"/>
                  </a:cubicBezTo>
                  <a:cubicBezTo>
                    <a:pt x="1769" y="743"/>
                    <a:pt x="1765" y="721"/>
                    <a:pt x="1757" y="698"/>
                  </a:cubicBezTo>
                  <a:cubicBezTo>
                    <a:pt x="1754" y="686"/>
                    <a:pt x="1750" y="673"/>
                    <a:pt x="1746" y="661"/>
                  </a:cubicBezTo>
                  <a:cubicBezTo>
                    <a:pt x="1741" y="648"/>
                    <a:pt x="1736" y="636"/>
                    <a:pt x="1731" y="623"/>
                  </a:cubicBezTo>
                  <a:cubicBezTo>
                    <a:pt x="1721" y="596"/>
                    <a:pt x="1705" y="571"/>
                    <a:pt x="1691" y="543"/>
                  </a:cubicBezTo>
                  <a:cubicBezTo>
                    <a:pt x="1674" y="518"/>
                    <a:pt x="1658" y="491"/>
                    <a:pt x="1637" y="467"/>
                  </a:cubicBezTo>
                  <a:cubicBezTo>
                    <a:pt x="1618" y="441"/>
                    <a:pt x="1594" y="419"/>
                    <a:pt x="1571" y="396"/>
                  </a:cubicBezTo>
                  <a:cubicBezTo>
                    <a:pt x="1546" y="375"/>
                    <a:pt x="1523" y="353"/>
                    <a:pt x="1496" y="336"/>
                  </a:cubicBezTo>
                  <a:cubicBezTo>
                    <a:pt x="1471" y="317"/>
                    <a:pt x="1442" y="304"/>
                    <a:pt x="1416" y="289"/>
                  </a:cubicBezTo>
                  <a:cubicBezTo>
                    <a:pt x="1389" y="278"/>
                    <a:pt x="1363" y="264"/>
                    <a:pt x="1337" y="257"/>
                  </a:cubicBezTo>
                  <a:cubicBezTo>
                    <a:pt x="1324" y="253"/>
                    <a:pt x="1311" y="249"/>
                    <a:pt x="1299" y="245"/>
                  </a:cubicBezTo>
                  <a:cubicBezTo>
                    <a:pt x="1286" y="242"/>
                    <a:pt x="1274" y="239"/>
                    <a:pt x="1263" y="237"/>
                  </a:cubicBezTo>
                  <a:cubicBezTo>
                    <a:pt x="1239" y="231"/>
                    <a:pt x="1219" y="229"/>
                    <a:pt x="1200" y="227"/>
                  </a:cubicBezTo>
                  <a:cubicBezTo>
                    <a:pt x="1197" y="227"/>
                    <a:pt x="1195" y="227"/>
                    <a:pt x="1192" y="226"/>
                  </a:cubicBezTo>
                  <a:lnTo>
                    <a:pt x="1192" y="344"/>
                  </a:lnTo>
                  <a:close/>
                  <a:moveTo>
                    <a:pt x="344" y="750"/>
                  </a:moveTo>
                  <a:cubicBezTo>
                    <a:pt x="226" y="750"/>
                    <a:pt x="226" y="750"/>
                    <a:pt x="226" y="750"/>
                  </a:cubicBezTo>
                  <a:cubicBezTo>
                    <a:pt x="226" y="747"/>
                    <a:pt x="226" y="744"/>
                    <a:pt x="227" y="741"/>
                  </a:cubicBezTo>
                  <a:cubicBezTo>
                    <a:pt x="229" y="723"/>
                    <a:pt x="230" y="702"/>
                    <a:pt x="236" y="679"/>
                  </a:cubicBezTo>
                  <a:cubicBezTo>
                    <a:pt x="239" y="667"/>
                    <a:pt x="242" y="655"/>
                    <a:pt x="244" y="642"/>
                  </a:cubicBezTo>
                  <a:cubicBezTo>
                    <a:pt x="248" y="630"/>
                    <a:pt x="252" y="617"/>
                    <a:pt x="256" y="605"/>
                  </a:cubicBezTo>
                  <a:cubicBezTo>
                    <a:pt x="263" y="578"/>
                    <a:pt x="277" y="553"/>
                    <a:pt x="288" y="525"/>
                  </a:cubicBezTo>
                  <a:cubicBezTo>
                    <a:pt x="303" y="499"/>
                    <a:pt x="317" y="471"/>
                    <a:pt x="336" y="445"/>
                  </a:cubicBezTo>
                  <a:cubicBezTo>
                    <a:pt x="353" y="418"/>
                    <a:pt x="374" y="395"/>
                    <a:pt x="395" y="370"/>
                  </a:cubicBezTo>
                  <a:cubicBezTo>
                    <a:pt x="418" y="347"/>
                    <a:pt x="440" y="323"/>
                    <a:pt x="466" y="304"/>
                  </a:cubicBezTo>
                  <a:cubicBezTo>
                    <a:pt x="490" y="283"/>
                    <a:pt x="518" y="267"/>
                    <a:pt x="543" y="250"/>
                  </a:cubicBezTo>
                  <a:cubicBezTo>
                    <a:pt x="570" y="236"/>
                    <a:pt x="595" y="220"/>
                    <a:pt x="622" y="211"/>
                  </a:cubicBezTo>
                  <a:cubicBezTo>
                    <a:pt x="635" y="205"/>
                    <a:pt x="648" y="200"/>
                    <a:pt x="660" y="195"/>
                  </a:cubicBezTo>
                  <a:cubicBezTo>
                    <a:pt x="673" y="191"/>
                    <a:pt x="685" y="187"/>
                    <a:pt x="697" y="184"/>
                  </a:cubicBezTo>
                  <a:cubicBezTo>
                    <a:pt x="721" y="176"/>
                    <a:pt x="743" y="172"/>
                    <a:pt x="763" y="168"/>
                  </a:cubicBezTo>
                  <a:cubicBezTo>
                    <a:pt x="773" y="166"/>
                    <a:pt x="782" y="165"/>
                    <a:pt x="791" y="163"/>
                  </a:cubicBezTo>
                  <a:cubicBezTo>
                    <a:pt x="799" y="162"/>
                    <a:pt x="807" y="161"/>
                    <a:pt x="814" y="161"/>
                  </a:cubicBezTo>
                  <a:cubicBezTo>
                    <a:pt x="843" y="158"/>
                    <a:pt x="860" y="157"/>
                    <a:pt x="860" y="157"/>
                  </a:cubicBezTo>
                  <a:cubicBezTo>
                    <a:pt x="860" y="137"/>
                    <a:pt x="860" y="137"/>
                    <a:pt x="860" y="137"/>
                  </a:cubicBezTo>
                  <a:cubicBezTo>
                    <a:pt x="860" y="137"/>
                    <a:pt x="843" y="137"/>
                    <a:pt x="813" y="137"/>
                  </a:cubicBezTo>
                  <a:cubicBezTo>
                    <a:pt x="805" y="137"/>
                    <a:pt x="797" y="137"/>
                    <a:pt x="788" y="137"/>
                  </a:cubicBezTo>
                  <a:cubicBezTo>
                    <a:pt x="779" y="138"/>
                    <a:pt x="769" y="140"/>
                    <a:pt x="759" y="141"/>
                  </a:cubicBezTo>
                  <a:cubicBezTo>
                    <a:pt x="738" y="143"/>
                    <a:pt x="714" y="145"/>
                    <a:pt x="689" y="152"/>
                  </a:cubicBezTo>
                  <a:cubicBezTo>
                    <a:pt x="676" y="155"/>
                    <a:pt x="663" y="158"/>
                    <a:pt x="649" y="161"/>
                  </a:cubicBezTo>
                  <a:cubicBezTo>
                    <a:pt x="636" y="165"/>
                    <a:pt x="622" y="169"/>
                    <a:pt x="608" y="174"/>
                  </a:cubicBezTo>
                  <a:cubicBezTo>
                    <a:pt x="579" y="182"/>
                    <a:pt x="551" y="197"/>
                    <a:pt x="521" y="210"/>
                  </a:cubicBezTo>
                  <a:cubicBezTo>
                    <a:pt x="493" y="226"/>
                    <a:pt x="462" y="241"/>
                    <a:pt x="434" y="262"/>
                  </a:cubicBezTo>
                  <a:cubicBezTo>
                    <a:pt x="405" y="280"/>
                    <a:pt x="379" y="304"/>
                    <a:pt x="352" y="327"/>
                  </a:cubicBezTo>
                  <a:cubicBezTo>
                    <a:pt x="327" y="352"/>
                    <a:pt x="302" y="376"/>
                    <a:pt x="281" y="404"/>
                  </a:cubicBezTo>
                  <a:cubicBezTo>
                    <a:pt x="258" y="431"/>
                    <a:pt x="240" y="461"/>
                    <a:pt x="222" y="488"/>
                  </a:cubicBezTo>
                  <a:cubicBezTo>
                    <a:pt x="207" y="518"/>
                    <a:pt x="189" y="546"/>
                    <a:pt x="179" y="575"/>
                  </a:cubicBezTo>
                  <a:cubicBezTo>
                    <a:pt x="173" y="589"/>
                    <a:pt x="167" y="603"/>
                    <a:pt x="162" y="617"/>
                  </a:cubicBezTo>
                  <a:cubicBezTo>
                    <a:pt x="158" y="630"/>
                    <a:pt x="154" y="644"/>
                    <a:pt x="150" y="657"/>
                  </a:cubicBezTo>
                  <a:cubicBezTo>
                    <a:pt x="141" y="682"/>
                    <a:pt x="137" y="708"/>
                    <a:pt x="133" y="730"/>
                  </a:cubicBezTo>
                  <a:cubicBezTo>
                    <a:pt x="132" y="737"/>
                    <a:pt x="131" y="743"/>
                    <a:pt x="129" y="750"/>
                  </a:cubicBezTo>
                  <a:cubicBezTo>
                    <a:pt x="0" y="750"/>
                    <a:pt x="0" y="750"/>
                    <a:pt x="0" y="750"/>
                  </a:cubicBezTo>
                  <a:cubicBezTo>
                    <a:pt x="172" y="973"/>
                    <a:pt x="172" y="973"/>
                    <a:pt x="172" y="973"/>
                  </a:cubicBezTo>
                  <a:lnTo>
                    <a:pt x="344" y="750"/>
                  </a:lnTo>
                  <a:close/>
                  <a:moveTo>
                    <a:pt x="745" y="1677"/>
                  </a:moveTo>
                  <a:cubicBezTo>
                    <a:pt x="742" y="1676"/>
                    <a:pt x="739" y="1676"/>
                    <a:pt x="736" y="1675"/>
                  </a:cubicBezTo>
                  <a:cubicBezTo>
                    <a:pt x="718" y="1674"/>
                    <a:pt x="697" y="1672"/>
                    <a:pt x="674" y="1666"/>
                  </a:cubicBezTo>
                  <a:cubicBezTo>
                    <a:pt x="662" y="1663"/>
                    <a:pt x="650" y="1661"/>
                    <a:pt x="637" y="1658"/>
                  </a:cubicBezTo>
                  <a:cubicBezTo>
                    <a:pt x="625" y="1654"/>
                    <a:pt x="613" y="1650"/>
                    <a:pt x="600" y="1646"/>
                  </a:cubicBezTo>
                  <a:cubicBezTo>
                    <a:pt x="573" y="1639"/>
                    <a:pt x="548" y="1625"/>
                    <a:pt x="520" y="1614"/>
                  </a:cubicBezTo>
                  <a:cubicBezTo>
                    <a:pt x="494" y="1599"/>
                    <a:pt x="466" y="1586"/>
                    <a:pt x="440" y="1567"/>
                  </a:cubicBezTo>
                  <a:cubicBezTo>
                    <a:pt x="414" y="1550"/>
                    <a:pt x="390" y="1528"/>
                    <a:pt x="365" y="1507"/>
                  </a:cubicBezTo>
                  <a:cubicBezTo>
                    <a:pt x="342" y="1484"/>
                    <a:pt x="319" y="1462"/>
                    <a:pt x="300" y="1436"/>
                  </a:cubicBezTo>
                  <a:cubicBezTo>
                    <a:pt x="278" y="1412"/>
                    <a:pt x="262" y="1385"/>
                    <a:pt x="245" y="1359"/>
                  </a:cubicBezTo>
                  <a:cubicBezTo>
                    <a:pt x="232" y="1332"/>
                    <a:pt x="215" y="1307"/>
                    <a:pt x="206" y="1280"/>
                  </a:cubicBezTo>
                  <a:cubicBezTo>
                    <a:pt x="200" y="1267"/>
                    <a:pt x="195" y="1254"/>
                    <a:pt x="190" y="1242"/>
                  </a:cubicBezTo>
                  <a:cubicBezTo>
                    <a:pt x="186" y="1229"/>
                    <a:pt x="183" y="1217"/>
                    <a:pt x="179" y="1205"/>
                  </a:cubicBezTo>
                  <a:cubicBezTo>
                    <a:pt x="171" y="1182"/>
                    <a:pt x="167" y="1159"/>
                    <a:pt x="163" y="1140"/>
                  </a:cubicBezTo>
                  <a:cubicBezTo>
                    <a:pt x="161" y="1130"/>
                    <a:pt x="160" y="1120"/>
                    <a:pt x="158" y="1112"/>
                  </a:cubicBezTo>
                  <a:cubicBezTo>
                    <a:pt x="157" y="1103"/>
                    <a:pt x="157" y="1095"/>
                    <a:pt x="156" y="1088"/>
                  </a:cubicBezTo>
                  <a:cubicBezTo>
                    <a:pt x="153" y="1059"/>
                    <a:pt x="152" y="1042"/>
                    <a:pt x="152" y="1042"/>
                  </a:cubicBezTo>
                  <a:cubicBezTo>
                    <a:pt x="132" y="1042"/>
                    <a:pt x="132" y="1042"/>
                    <a:pt x="132" y="1042"/>
                  </a:cubicBezTo>
                  <a:cubicBezTo>
                    <a:pt x="132" y="1042"/>
                    <a:pt x="132" y="1059"/>
                    <a:pt x="132" y="1089"/>
                  </a:cubicBezTo>
                  <a:cubicBezTo>
                    <a:pt x="132" y="1097"/>
                    <a:pt x="133" y="1105"/>
                    <a:pt x="133" y="1114"/>
                  </a:cubicBezTo>
                  <a:cubicBezTo>
                    <a:pt x="134" y="1123"/>
                    <a:pt x="135" y="1133"/>
                    <a:pt x="136" y="1144"/>
                  </a:cubicBezTo>
                  <a:cubicBezTo>
                    <a:pt x="138" y="1164"/>
                    <a:pt x="141" y="1188"/>
                    <a:pt x="147" y="1213"/>
                  </a:cubicBezTo>
                  <a:cubicBezTo>
                    <a:pt x="150" y="1226"/>
                    <a:pt x="153" y="1239"/>
                    <a:pt x="156" y="1253"/>
                  </a:cubicBezTo>
                  <a:cubicBezTo>
                    <a:pt x="160" y="1266"/>
                    <a:pt x="165" y="1280"/>
                    <a:pt x="169" y="1294"/>
                  </a:cubicBezTo>
                  <a:cubicBezTo>
                    <a:pt x="177" y="1323"/>
                    <a:pt x="192" y="1351"/>
                    <a:pt x="205" y="1381"/>
                  </a:cubicBezTo>
                  <a:cubicBezTo>
                    <a:pt x="221" y="1410"/>
                    <a:pt x="236" y="1440"/>
                    <a:pt x="257" y="1468"/>
                  </a:cubicBezTo>
                  <a:cubicBezTo>
                    <a:pt x="275" y="1497"/>
                    <a:pt x="299" y="1523"/>
                    <a:pt x="322" y="1550"/>
                  </a:cubicBezTo>
                  <a:cubicBezTo>
                    <a:pt x="347" y="1575"/>
                    <a:pt x="371" y="1601"/>
                    <a:pt x="400" y="1622"/>
                  </a:cubicBezTo>
                  <a:cubicBezTo>
                    <a:pt x="426" y="1645"/>
                    <a:pt x="456" y="1662"/>
                    <a:pt x="484" y="1681"/>
                  </a:cubicBezTo>
                  <a:cubicBezTo>
                    <a:pt x="513" y="1696"/>
                    <a:pt x="541" y="1713"/>
                    <a:pt x="570" y="1723"/>
                  </a:cubicBezTo>
                  <a:cubicBezTo>
                    <a:pt x="584" y="1729"/>
                    <a:pt x="598" y="1735"/>
                    <a:pt x="612" y="1740"/>
                  </a:cubicBezTo>
                  <a:cubicBezTo>
                    <a:pt x="626" y="1744"/>
                    <a:pt x="639" y="1748"/>
                    <a:pt x="652" y="1752"/>
                  </a:cubicBezTo>
                  <a:cubicBezTo>
                    <a:pt x="677" y="1761"/>
                    <a:pt x="703" y="1765"/>
                    <a:pt x="725" y="1769"/>
                  </a:cubicBezTo>
                  <a:cubicBezTo>
                    <a:pt x="732" y="1771"/>
                    <a:pt x="738" y="1772"/>
                    <a:pt x="745" y="1773"/>
                  </a:cubicBezTo>
                  <a:cubicBezTo>
                    <a:pt x="745" y="1902"/>
                    <a:pt x="745" y="1902"/>
                    <a:pt x="745" y="1902"/>
                  </a:cubicBezTo>
                  <a:cubicBezTo>
                    <a:pt x="968" y="1730"/>
                    <a:pt x="968" y="1730"/>
                    <a:pt x="968" y="1730"/>
                  </a:cubicBezTo>
                  <a:cubicBezTo>
                    <a:pt x="745" y="1558"/>
                    <a:pt x="745" y="1558"/>
                    <a:pt x="745" y="1558"/>
                  </a:cubicBezTo>
                  <a:lnTo>
                    <a:pt x="745" y="1677"/>
                  </a:lnTo>
                  <a:close/>
                  <a:moveTo>
                    <a:pt x="1795" y="946"/>
                  </a:moveTo>
                  <a:cubicBezTo>
                    <a:pt x="1623" y="1169"/>
                    <a:pt x="1623" y="1169"/>
                    <a:pt x="1623" y="1169"/>
                  </a:cubicBezTo>
                  <a:cubicBezTo>
                    <a:pt x="1741" y="1169"/>
                    <a:pt x="1741" y="1169"/>
                    <a:pt x="1741" y="1169"/>
                  </a:cubicBezTo>
                  <a:cubicBezTo>
                    <a:pt x="1740" y="1172"/>
                    <a:pt x="1740" y="1175"/>
                    <a:pt x="1740" y="1178"/>
                  </a:cubicBezTo>
                  <a:cubicBezTo>
                    <a:pt x="1738" y="1196"/>
                    <a:pt x="1736" y="1217"/>
                    <a:pt x="1730" y="1240"/>
                  </a:cubicBezTo>
                  <a:cubicBezTo>
                    <a:pt x="1728" y="1252"/>
                    <a:pt x="1725" y="1264"/>
                    <a:pt x="1722" y="1276"/>
                  </a:cubicBezTo>
                  <a:cubicBezTo>
                    <a:pt x="1718" y="1289"/>
                    <a:pt x="1714" y="1301"/>
                    <a:pt x="1710" y="1314"/>
                  </a:cubicBezTo>
                  <a:cubicBezTo>
                    <a:pt x="1703" y="1341"/>
                    <a:pt x="1689" y="1366"/>
                    <a:pt x="1678" y="1394"/>
                  </a:cubicBezTo>
                  <a:cubicBezTo>
                    <a:pt x="1663" y="1420"/>
                    <a:pt x="1650" y="1448"/>
                    <a:pt x="1631" y="1473"/>
                  </a:cubicBezTo>
                  <a:cubicBezTo>
                    <a:pt x="1614" y="1500"/>
                    <a:pt x="1592" y="1524"/>
                    <a:pt x="1571" y="1549"/>
                  </a:cubicBezTo>
                  <a:cubicBezTo>
                    <a:pt x="1548" y="1571"/>
                    <a:pt x="1526" y="1595"/>
                    <a:pt x="1500" y="1614"/>
                  </a:cubicBezTo>
                  <a:cubicBezTo>
                    <a:pt x="1476" y="1636"/>
                    <a:pt x="1449" y="1651"/>
                    <a:pt x="1424" y="1669"/>
                  </a:cubicBezTo>
                  <a:cubicBezTo>
                    <a:pt x="1396" y="1682"/>
                    <a:pt x="1371" y="1699"/>
                    <a:pt x="1344" y="1708"/>
                  </a:cubicBezTo>
                  <a:cubicBezTo>
                    <a:pt x="1331" y="1713"/>
                    <a:pt x="1319" y="1719"/>
                    <a:pt x="1306" y="1724"/>
                  </a:cubicBezTo>
                  <a:cubicBezTo>
                    <a:pt x="1294" y="1728"/>
                    <a:pt x="1281" y="1731"/>
                    <a:pt x="1269" y="1735"/>
                  </a:cubicBezTo>
                  <a:cubicBezTo>
                    <a:pt x="1246" y="1743"/>
                    <a:pt x="1224" y="1747"/>
                    <a:pt x="1204" y="1751"/>
                  </a:cubicBezTo>
                  <a:cubicBezTo>
                    <a:pt x="1194" y="1752"/>
                    <a:pt x="1185" y="1754"/>
                    <a:pt x="1176" y="1756"/>
                  </a:cubicBezTo>
                  <a:cubicBezTo>
                    <a:pt x="1167" y="1757"/>
                    <a:pt x="1159" y="1757"/>
                    <a:pt x="1152" y="1758"/>
                  </a:cubicBezTo>
                  <a:cubicBezTo>
                    <a:pt x="1123" y="1761"/>
                    <a:pt x="1106" y="1762"/>
                    <a:pt x="1106" y="1762"/>
                  </a:cubicBezTo>
                  <a:cubicBezTo>
                    <a:pt x="1106" y="1782"/>
                    <a:pt x="1106" y="1782"/>
                    <a:pt x="1106" y="1782"/>
                  </a:cubicBezTo>
                  <a:cubicBezTo>
                    <a:pt x="1106" y="1782"/>
                    <a:pt x="1124" y="1782"/>
                    <a:pt x="1154" y="1782"/>
                  </a:cubicBezTo>
                  <a:cubicBezTo>
                    <a:pt x="1161" y="1782"/>
                    <a:pt x="1169" y="1781"/>
                    <a:pt x="1179" y="1781"/>
                  </a:cubicBezTo>
                  <a:cubicBezTo>
                    <a:pt x="1188" y="1780"/>
                    <a:pt x="1197" y="1779"/>
                    <a:pt x="1208" y="1778"/>
                  </a:cubicBezTo>
                  <a:cubicBezTo>
                    <a:pt x="1229" y="1776"/>
                    <a:pt x="1252" y="1773"/>
                    <a:pt x="1277" y="1767"/>
                  </a:cubicBezTo>
                  <a:cubicBezTo>
                    <a:pt x="1290" y="1764"/>
                    <a:pt x="1303" y="1761"/>
                    <a:pt x="1317" y="1758"/>
                  </a:cubicBezTo>
                  <a:cubicBezTo>
                    <a:pt x="1330" y="1754"/>
                    <a:pt x="1344" y="1749"/>
                    <a:pt x="1358" y="1745"/>
                  </a:cubicBezTo>
                  <a:cubicBezTo>
                    <a:pt x="1387" y="1737"/>
                    <a:pt x="1415" y="1722"/>
                    <a:pt x="1446" y="1709"/>
                  </a:cubicBezTo>
                  <a:cubicBezTo>
                    <a:pt x="1474" y="1693"/>
                    <a:pt x="1505" y="1678"/>
                    <a:pt x="1532" y="1657"/>
                  </a:cubicBezTo>
                  <a:cubicBezTo>
                    <a:pt x="1562" y="1639"/>
                    <a:pt x="1588" y="1615"/>
                    <a:pt x="1615" y="1592"/>
                  </a:cubicBezTo>
                  <a:cubicBezTo>
                    <a:pt x="1639" y="1567"/>
                    <a:pt x="1665" y="1543"/>
                    <a:pt x="1686" y="1514"/>
                  </a:cubicBezTo>
                  <a:cubicBezTo>
                    <a:pt x="1709" y="1488"/>
                    <a:pt x="1726" y="1458"/>
                    <a:pt x="1745" y="1430"/>
                  </a:cubicBezTo>
                  <a:cubicBezTo>
                    <a:pt x="1760" y="1401"/>
                    <a:pt x="1777" y="1373"/>
                    <a:pt x="1788" y="1344"/>
                  </a:cubicBezTo>
                  <a:cubicBezTo>
                    <a:pt x="1793" y="1329"/>
                    <a:pt x="1799" y="1316"/>
                    <a:pt x="1804" y="1302"/>
                  </a:cubicBezTo>
                  <a:cubicBezTo>
                    <a:pt x="1809" y="1288"/>
                    <a:pt x="1813" y="1275"/>
                    <a:pt x="1817" y="1262"/>
                  </a:cubicBezTo>
                  <a:cubicBezTo>
                    <a:pt x="1825" y="1236"/>
                    <a:pt x="1829" y="1211"/>
                    <a:pt x="1833" y="1189"/>
                  </a:cubicBezTo>
                  <a:cubicBezTo>
                    <a:pt x="1835" y="1182"/>
                    <a:pt x="1836" y="1175"/>
                    <a:pt x="1837" y="1169"/>
                  </a:cubicBezTo>
                  <a:cubicBezTo>
                    <a:pt x="1967" y="1169"/>
                    <a:pt x="1967" y="1169"/>
                    <a:pt x="1967" y="1169"/>
                  </a:cubicBezTo>
                  <a:lnTo>
                    <a:pt x="1795" y="946"/>
                  </a:lnTo>
                  <a:close/>
                </a:path>
              </a:pathLst>
            </a:custGeom>
            <a:solidFill>
              <a:srgbClr val="FFE600"/>
            </a:solidFill>
            <a:ln>
              <a:solidFill>
                <a:srgbClr val="FFE600"/>
              </a:solidFill>
            </a:ln>
          </p:spPr>
          <p:txBody>
            <a:bodyPr vert="horz" wrap="square" lIns="91440" tIns="45720" rIns="91440" bIns="45720" anchor="t"/>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bg1"/>
                </a:solidFill>
                <a:effectLst/>
                <a:uLnTx/>
                <a:uFillTx/>
                <a:latin typeface="EY interstate"/>
              </a:endParaRPr>
            </a:p>
          </p:txBody>
        </p:sp>
        <p:sp>
          <p:nvSpPr>
            <p:cNvPr id="34" name="Rectangle 33">
              <a:extLst>
                <a:ext uri="{FF2B5EF4-FFF2-40B4-BE49-F238E27FC236}">
                  <a16:creationId xmlns:a16="http://schemas.microsoft.com/office/drawing/2014/main" id="{9AB65558-1F59-B852-F604-7780B94F9DA7}"/>
                </a:ext>
              </a:extLst>
            </p:cNvPr>
            <p:cNvSpPr/>
            <p:nvPr/>
          </p:nvSpPr>
          <p:spPr>
            <a:xfrm>
              <a:off x="162245" y="2234881"/>
              <a:ext cx="566277" cy="182880"/>
            </a:xfrm>
            <a:prstGeom prst="rect">
              <a:avLst/>
            </a:prstGeom>
            <a:noFill/>
            <a:ln w="9525" cap="flat" cmpd="sng" algn="ctr">
              <a:solidFill>
                <a:srgbClr val="FFE600"/>
              </a:solidFill>
              <a:prstDash val="solid"/>
            </a:ln>
            <a:effectLst/>
          </p:spPr>
          <p:txBody>
            <a:bodyPr tIns="45720" bIns="45720" rtlCol="0" anchor="ctr" anchorCtr="0"/>
            <a:lstStyle/>
            <a:p>
              <a:pPr marL="0" marR="0" lvl="0" indent="0" algn="ctr" defTabSz="914400" eaLnBrk="1" fontAlgn="auto" latinLnBrk="0" hangingPunct="1">
                <a:lnSpc>
                  <a:spcPct val="100000"/>
                </a:lnSpc>
                <a:spcBef>
                  <a:spcPts val="0"/>
                </a:spcBef>
                <a:spcAft>
                  <a:spcPts val="400"/>
                </a:spcAft>
                <a:buClr>
                  <a:srgbClr val="FFD200"/>
                </a:buClr>
                <a:buSzPct val="70000"/>
                <a:buFontTx/>
                <a:buNone/>
                <a:tabLst/>
                <a:defRPr/>
              </a:pPr>
              <a:r>
                <a:rPr kumimoji="0" lang="en-US" sz="1000" b="1" i="0" u="none" strike="noStrike" kern="0" cap="none" spc="0" normalizeH="0" baseline="0" noProof="0">
                  <a:ln>
                    <a:noFill/>
                  </a:ln>
                  <a:solidFill>
                    <a:schemeClr val="bg1"/>
                  </a:solidFill>
                  <a:effectLst/>
                  <a:uLnTx/>
                  <a:uFillTx/>
                  <a:latin typeface="EY interstate"/>
                </a:rPr>
                <a:t>Policy</a:t>
              </a:r>
            </a:p>
          </p:txBody>
        </p:sp>
      </p:grpSp>
      <p:grpSp>
        <p:nvGrpSpPr>
          <p:cNvPr id="43" name="Group 42">
            <a:extLst>
              <a:ext uri="{FF2B5EF4-FFF2-40B4-BE49-F238E27FC236}">
                <a16:creationId xmlns:a16="http://schemas.microsoft.com/office/drawing/2014/main" id="{7E0D3A04-F00A-7689-06FA-953CBBB40513}"/>
              </a:ext>
            </a:extLst>
          </p:cNvPr>
          <p:cNvGrpSpPr/>
          <p:nvPr/>
        </p:nvGrpSpPr>
        <p:grpSpPr>
          <a:xfrm>
            <a:off x="543724" y="2071248"/>
            <a:ext cx="548640" cy="748296"/>
            <a:chOff x="150412" y="3240182"/>
            <a:chExt cx="548640" cy="748296"/>
          </a:xfrm>
          <a:solidFill>
            <a:srgbClr val="008080"/>
          </a:solidFill>
        </p:grpSpPr>
        <p:grpSp>
          <p:nvGrpSpPr>
            <p:cNvPr id="44" name="Group 58">
              <a:extLst>
                <a:ext uri="{FF2B5EF4-FFF2-40B4-BE49-F238E27FC236}">
                  <a16:creationId xmlns:a16="http://schemas.microsoft.com/office/drawing/2014/main" id="{568DC4CD-2E58-0B49-B4E0-3756C03AE154}"/>
                </a:ext>
              </a:extLst>
            </p:cNvPr>
            <p:cNvGrpSpPr>
              <a:grpSpLocks noChangeAspect="1"/>
            </p:cNvGrpSpPr>
            <p:nvPr/>
          </p:nvGrpSpPr>
          <p:grpSpPr bwMode="auto">
            <a:xfrm>
              <a:off x="203630" y="3240182"/>
              <a:ext cx="442206" cy="396594"/>
              <a:chOff x="1994534" y="4057927"/>
              <a:chExt cx="747439" cy="654868"/>
            </a:xfrm>
            <a:grpFill/>
          </p:grpSpPr>
          <p:sp>
            <p:nvSpPr>
              <p:cNvPr id="46" name="Freeform 59">
                <a:extLst>
                  <a:ext uri="{FF2B5EF4-FFF2-40B4-BE49-F238E27FC236}">
                    <a16:creationId xmlns:a16="http://schemas.microsoft.com/office/drawing/2014/main" id="{BB48E752-C0E9-1146-2FD4-089A4AC3C31E}"/>
                  </a:ext>
                </a:extLst>
              </p:cNvPr>
              <p:cNvSpPr>
                <a:spLocks noEditPoints="1"/>
              </p:cNvSpPr>
              <p:nvPr/>
            </p:nvSpPr>
            <p:spPr bwMode="auto">
              <a:xfrm>
                <a:off x="1994534" y="4057927"/>
                <a:ext cx="747439" cy="654868"/>
              </a:xfrm>
              <a:custGeom>
                <a:avLst/>
                <a:gdLst>
                  <a:gd name="T0" fmla="*/ 2147483647 w 436"/>
                  <a:gd name="T1" fmla="*/ 2147483647 h 382"/>
                  <a:gd name="T2" fmla="*/ 2147483647 w 436"/>
                  <a:gd name="T3" fmla="*/ 2147483647 h 382"/>
                  <a:gd name="T4" fmla="*/ 2147483647 w 436"/>
                  <a:gd name="T5" fmla="*/ 2147483647 h 382"/>
                  <a:gd name="T6" fmla="*/ 2147483647 w 436"/>
                  <a:gd name="T7" fmla="*/ 2147483647 h 382"/>
                  <a:gd name="T8" fmla="*/ 2147483647 w 436"/>
                  <a:gd name="T9" fmla="*/ 2147483647 h 382"/>
                  <a:gd name="T10" fmla="*/ 2147483647 w 436"/>
                  <a:gd name="T11" fmla="*/ 2147483647 h 382"/>
                  <a:gd name="T12" fmla="*/ 2147483647 w 436"/>
                  <a:gd name="T13" fmla="*/ 2147483647 h 382"/>
                  <a:gd name="T14" fmla="*/ 2147483647 w 436"/>
                  <a:gd name="T15" fmla="*/ 2147483647 h 382"/>
                  <a:gd name="T16" fmla="*/ 2147483647 w 436"/>
                  <a:gd name="T17" fmla="*/ 2147483647 h 382"/>
                  <a:gd name="T18" fmla="*/ 2147483647 w 436"/>
                  <a:gd name="T19" fmla="*/ 2147483647 h 382"/>
                  <a:gd name="T20" fmla="*/ 2147483647 w 436"/>
                  <a:gd name="T21" fmla="*/ 2147483647 h 382"/>
                  <a:gd name="T22" fmla="*/ 2147483647 w 436"/>
                  <a:gd name="T23" fmla="*/ 2147483647 h 382"/>
                  <a:gd name="T24" fmla="*/ 2147483647 w 436"/>
                  <a:gd name="T25" fmla="*/ 2147483647 h 382"/>
                  <a:gd name="T26" fmla="*/ 2147483647 w 436"/>
                  <a:gd name="T27" fmla="*/ 2147483647 h 382"/>
                  <a:gd name="T28" fmla="*/ 2147483647 w 436"/>
                  <a:gd name="T29" fmla="*/ 2147483647 h 382"/>
                  <a:gd name="T30" fmla="*/ 0 w 436"/>
                  <a:gd name="T31" fmla="*/ 2147483647 h 382"/>
                  <a:gd name="T32" fmla="*/ 2147483647 w 436"/>
                  <a:gd name="T33" fmla="*/ 2147483647 h 382"/>
                  <a:gd name="T34" fmla="*/ 2147483647 w 436"/>
                  <a:gd name="T35" fmla="*/ 0 h 382"/>
                  <a:gd name="T36" fmla="*/ 2147483647 w 436"/>
                  <a:gd name="T37" fmla="*/ 2147483647 h 382"/>
                  <a:gd name="T38" fmla="*/ 2147483647 w 436"/>
                  <a:gd name="T39" fmla="*/ 2147483647 h 382"/>
                  <a:gd name="T40" fmla="*/ 2147483647 w 436"/>
                  <a:gd name="T41" fmla="*/ 2147483647 h 382"/>
                  <a:gd name="T42" fmla="*/ 2147483647 w 436"/>
                  <a:gd name="T43" fmla="*/ 2147483647 h 382"/>
                  <a:gd name="T44" fmla="*/ 2147483647 w 436"/>
                  <a:gd name="T45" fmla="*/ 2147483647 h 382"/>
                  <a:gd name="T46" fmla="*/ 2147483647 w 436"/>
                  <a:gd name="T47" fmla="*/ 2147483647 h 382"/>
                  <a:gd name="T48" fmla="*/ 2147483647 w 436"/>
                  <a:gd name="T49" fmla="*/ 2147483647 h 382"/>
                  <a:gd name="T50" fmla="*/ 2147483647 w 436"/>
                  <a:gd name="T51" fmla="*/ 2147483647 h 382"/>
                  <a:gd name="T52" fmla="*/ 2147483647 w 436"/>
                  <a:gd name="T53" fmla="*/ 2147483647 h 382"/>
                  <a:gd name="T54" fmla="*/ 2147483647 w 436"/>
                  <a:gd name="T55" fmla="*/ 2147483647 h 382"/>
                  <a:gd name="T56" fmla="*/ 2147483647 w 436"/>
                  <a:gd name="T57" fmla="*/ 2147483647 h 382"/>
                  <a:gd name="T58" fmla="*/ 2147483647 w 436"/>
                  <a:gd name="T59" fmla="*/ 2147483647 h 382"/>
                  <a:gd name="T60" fmla="*/ 2147483647 w 436"/>
                  <a:gd name="T61" fmla="*/ 2147483647 h 382"/>
                  <a:gd name="T62" fmla="*/ 2147483647 w 436"/>
                  <a:gd name="T63" fmla="*/ 2147483647 h 382"/>
                  <a:gd name="T64" fmla="*/ 2147483647 w 436"/>
                  <a:gd name="T65" fmla="*/ 2147483647 h 382"/>
                  <a:gd name="T66" fmla="*/ 2147483647 w 436"/>
                  <a:gd name="T67" fmla="*/ 2147483647 h 382"/>
                  <a:gd name="T68" fmla="*/ 2147483647 w 436"/>
                  <a:gd name="T69" fmla="*/ 2147483647 h 382"/>
                  <a:gd name="T70" fmla="*/ 2147483647 w 436"/>
                  <a:gd name="T71" fmla="*/ 2147483647 h 382"/>
                  <a:gd name="T72" fmla="*/ 2147483647 w 436"/>
                  <a:gd name="T73" fmla="*/ 2147483647 h 3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36" h="382">
                    <a:moveTo>
                      <a:pt x="323" y="382"/>
                    </a:moveTo>
                    <a:lnTo>
                      <a:pt x="328" y="382"/>
                    </a:lnTo>
                    <a:lnTo>
                      <a:pt x="329" y="379"/>
                    </a:lnTo>
                    <a:lnTo>
                      <a:pt x="331" y="375"/>
                    </a:lnTo>
                    <a:lnTo>
                      <a:pt x="331" y="356"/>
                    </a:lnTo>
                    <a:lnTo>
                      <a:pt x="329" y="353"/>
                    </a:lnTo>
                    <a:lnTo>
                      <a:pt x="328" y="351"/>
                    </a:lnTo>
                    <a:lnTo>
                      <a:pt x="323" y="349"/>
                    </a:lnTo>
                    <a:lnTo>
                      <a:pt x="113" y="349"/>
                    </a:lnTo>
                    <a:lnTo>
                      <a:pt x="110" y="351"/>
                    </a:lnTo>
                    <a:lnTo>
                      <a:pt x="107" y="353"/>
                    </a:lnTo>
                    <a:lnTo>
                      <a:pt x="107" y="356"/>
                    </a:lnTo>
                    <a:lnTo>
                      <a:pt x="107" y="375"/>
                    </a:lnTo>
                    <a:lnTo>
                      <a:pt x="107" y="379"/>
                    </a:lnTo>
                    <a:lnTo>
                      <a:pt x="110" y="382"/>
                    </a:lnTo>
                    <a:lnTo>
                      <a:pt x="113" y="382"/>
                    </a:lnTo>
                    <a:lnTo>
                      <a:pt x="147" y="382"/>
                    </a:lnTo>
                    <a:lnTo>
                      <a:pt x="173" y="382"/>
                    </a:lnTo>
                    <a:lnTo>
                      <a:pt x="194" y="382"/>
                    </a:lnTo>
                    <a:lnTo>
                      <a:pt x="211" y="382"/>
                    </a:lnTo>
                    <a:lnTo>
                      <a:pt x="227" y="382"/>
                    </a:lnTo>
                    <a:lnTo>
                      <a:pt x="243" y="382"/>
                    </a:lnTo>
                    <a:lnTo>
                      <a:pt x="263" y="382"/>
                    </a:lnTo>
                    <a:lnTo>
                      <a:pt x="289" y="382"/>
                    </a:lnTo>
                    <a:lnTo>
                      <a:pt x="323" y="382"/>
                    </a:lnTo>
                    <a:close/>
                    <a:moveTo>
                      <a:pt x="396" y="342"/>
                    </a:moveTo>
                    <a:lnTo>
                      <a:pt x="42" y="342"/>
                    </a:lnTo>
                    <a:lnTo>
                      <a:pt x="26" y="339"/>
                    </a:lnTo>
                    <a:lnTo>
                      <a:pt x="13" y="330"/>
                    </a:lnTo>
                    <a:lnTo>
                      <a:pt x="3" y="317"/>
                    </a:lnTo>
                    <a:lnTo>
                      <a:pt x="0" y="301"/>
                    </a:lnTo>
                    <a:lnTo>
                      <a:pt x="0" y="40"/>
                    </a:lnTo>
                    <a:lnTo>
                      <a:pt x="3" y="24"/>
                    </a:lnTo>
                    <a:lnTo>
                      <a:pt x="13" y="11"/>
                    </a:lnTo>
                    <a:lnTo>
                      <a:pt x="26" y="3"/>
                    </a:lnTo>
                    <a:lnTo>
                      <a:pt x="42" y="0"/>
                    </a:lnTo>
                    <a:lnTo>
                      <a:pt x="396" y="0"/>
                    </a:lnTo>
                    <a:lnTo>
                      <a:pt x="412" y="3"/>
                    </a:lnTo>
                    <a:lnTo>
                      <a:pt x="425" y="11"/>
                    </a:lnTo>
                    <a:lnTo>
                      <a:pt x="433" y="24"/>
                    </a:lnTo>
                    <a:lnTo>
                      <a:pt x="436" y="40"/>
                    </a:lnTo>
                    <a:lnTo>
                      <a:pt x="436" y="301"/>
                    </a:lnTo>
                    <a:lnTo>
                      <a:pt x="433" y="317"/>
                    </a:lnTo>
                    <a:lnTo>
                      <a:pt x="425" y="330"/>
                    </a:lnTo>
                    <a:lnTo>
                      <a:pt x="412" y="339"/>
                    </a:lnTo>
                    <a:lnTo>
                      <a:pt x="396" y="342"/>
                    </a:lnTo>
                    <a:close/>
                    <a:moveTo>
                      <a:pt x="396" y="323"/>
                    </a:moveTo>
                    <a:lnTo>
                      <a:pt x="401" y="323"/>
                    </a:lnTo>
                    <a:lnTo>
                      <a:pt x="407" y="320"/>
                    </a:lnTo>
                    <a:lnTo>
                      <a:pt x="412" y="317"/>
                    </a:lnTo>
                    <a:lnTo>
                      <a:pt x="414" y="313"/>
                    </a:lnTo>
                    <a:lnTo>
                      <a:pt x="417" y="307"/>
                    </a:lnTo>
                    <a:lnTo>
                      <a:pt x="417" y="301"/>
                    </a:lnTo>
                    <a:lnTo>
                      <a:pt x="417" y="40"/>
                    </a:lnTo>
                    <a:lnTo>
                      <a:pt x="417" y="34"/>
                    </a:lnTo>
                    <a:lnTo>
                      <a:pt x="414" y="29"/>
                    </a:lnTo>
                    <a:lnTo>
                      <a:pt x="412" y="24"/>
                    </a:lnTo>
                    <a:lnTo>
                      <a:pt x="407" y="22"/>
                    </a:lnTo>
                    <a:lnTo>
                      <a:pt x="401" y="19"/>
                    </a:lnTo>
                    <a:lnTo>
                      <a:pt x="396" y="19"/>
                    </a:lnTo>
                    <a:lnTo>
                      <a:pt x="42" y="19"/>
                    </a:lnTo>
                    <a:lnTo>
                      <a:pt x="36" y="19"/>
                    </a:lnTo>
                    <a:lnTo>
                      <a:pt x="30" y="22"/>
                    </a:lnTo>
                    <a:lnTo>
                      <a:pt x="26" y="24"/>
                    </a:lnTo>
                    <a:lnTo>
                      <a:pt x="22" y="29"/>
                    </a:lnTo>
                    <a:lnTo>
                      <a:pt x="20" y="34"/>
                    </a:lnTo>
                    <a:lnTo>
                      <a:pt x="19" y="40"/>
                    </a:lnTo>
                    <a:lnTo>
                      <a:pt x="19" y="301"/>
                    </a:lnTo>
                    <a:lnTo>
                      <a:pt x="20" y="307"/>
                    </a:lnTo>
                    <a:lnTo>
                      <a:pt x="22" y="313"/>
                    </a:lnTo>
                    <a:lnTo>
                      <a:pt x="26" y="317"/>
                    </a:lnTo>
                    <a:lnTo>
                      <a:pt x="30" y="320"/>
                    </a:lnTo>
                    <a:lnTo>
                      <a:pt x="36" y="323"/>
                    </a:lnTo>
                    <a:lnTo>
                      <a:pt x="42" y="323"/>
                    </a:lnTo>
                    <a:lnTo>
                      <a:pt x="396" y="323"/>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000" b="0" i="0" u="none" strike="noStrike" kern="0" cap="none" spc="0" normalizeH="0" baseline="0" noProof="0">
                  <a:ln>
                    <a:noFill/>
                  </a:ln>
                  <a:solidFill>
                    <a:schemeClr val="bg1"/>
                  </a:solidFill>
                  <a:effectLst/>
                  <a:uLnTx/>
                  <a:uFillTx/>
                  <a:latin typeface="EY interstate"/>
                </a:endParaRPr>
              </a:p>
            </p:txBody>
          </p:sp>
          <p:sp>
            <p:nvSpPr>
              <p:cNvPr id="47" name="Freeform 60">
                <a:extLst>
                  <a:ext uri="{FF2B5EF4-FFF2-40B4-BE49-F238E27FC236}">
                    <a16:creationId xmlns:a16="http://schemas.microsoft.com/office/drawing/2014/main" id="{C2D1319B-17F6-CBCF-6DBE-51692E932DE6}"/>
                  </a:ext>
                </a:extLst>
              </p:cNvPr>
              <p:cNvSpPr>
                <a:spLocks/>
              </p:cNvSpPr>
              <p:nvPr/>
            </p:nvSpPr>
            <p:spPr bwMode="auto">
              <a:xfrm>
                <a:off x="2116250" y="4352784"/>
                <a:ext cx="183432" cy="120002"/>
              </a:xfrm>
              <a:custGeom>
                <a:avLst/>
                <a:gdLst>
                  <a:gd name="T0" fmla="*/ 2147483647 w 107"/>
                  <a:gd name="T1" fmla="*/ 2147483647 h 70"/>
                  <a:gd name="T2" fmla="*/ 2147483647 w 107"/>
                  <a:gd name="T3" fmla="*/ 0 h 70"/>
                  <a:gd name="T4" fmla="*/ 2147483647 w 107"/>
                  <a:gd name="T5" fmla="*/ 2147483647 h 70"/>
                  <a:gd name="T6" fmla="*/ 2147483647 w 107"/>
                  <a:gd name="T7" fmla="*/ 2147483647 h 70"/>
                  <a:gd name="T8" fmla="*/ 2147483647 w 107"/>
                  <a:gd name="T9" fmla="*/ 2147483647 h 70"/>
                  <a:gd name="T10" fmla="*/ 2147483647 w 107"/>
                  <a:gd name="T11" fmla="*/ 2147483647 h 70"/>
                  <a:gd name="T12" fmla="*/ 2147483647 w 107"/>
                  <a:gd name="T13" fmla="*/ 2147483647 h 70"/>
                  <a:gd name="T14" fmla="*/ 2147483647 w 107"/>
                  <a:gd name="T15" fmla="*/ 2147483647 h 70"/>
                  <a:gd name="T16" fmla="*/ 2147483647 w 107"/>
                  <a:gd name="T17" fmla="*/ 0 h 70"/>
                  <a:gd name="T18" fmla="*/ 2147483647 w 107"/>
                  <a:gd name="T19" fmla="*/ 2147483647 h 70"/>
                  <a:gd name="T20" fmla="*/ 2147483647 w 107"/>
                  <a:gd name="T21" fmla="*/ 2147483647 h 70"/>
                  <a:gd name="T22" fmla="*/ 2147483647 w 107"/>
                  <a:gd name="T23" fmla="*/ 2147483647 h 70"/>
                  <a:gd name="T24" fmla="*/ 2147483647 w 107"/>
                  <a:gd name="T25" fmla="*/ 2147483647 h 70"/>
                  <a:gd name="T26" fmla="*/ 2147483647 w 107"/>
                  <a:gd name="T27" fmla="*/ 2147483647 h 70"/>
                  <a:gd name="T28" fmla="*/ 2147483647 w 107"/>
                  <a:gd name="T29" fmla="*/ 2147483647 h 70"/>
                  <a:gd name="T30" fmla="*/ 2147483647 w 107"/>
                  <a:gd name="T31" fmla="*/ 2147483647 h 70"/>
                  <a:gd name="T32" fmla="*/ 2147483647 w 107"/>
                  <a:gd name="T33" fmla="*/ 2147483647 h 70"/>
                  <a:gd name="T34" fmla="*/ 0 w 107"/>
                  <a:gd name="T35" fmla="*/ 2147483647 h 70"/>
                  <a:gd name="T36" fmla="*/ 2147483647 w 107"/>
                  <a:gd name="T37" fmla="*/ 2147483647 h 70"/>
                  <a:gd name="T38" fmla="*/ 2147483647 w 107"/>
                  <a:gd name="T39" fmla="*/ 2147483647 h 70"/>
                  <a:gd name="T40" fmla="*/ 2147483647 w 107"/>
                  <a:gd name="T41" fmla="*/ 2147483647 h 70"/>
                  <a:gd name="T42" fmla="*/ 2147483647 w 107"/>
                  <a:gd name="T43" fmla="*/ 2147483647 h 70"/>
                  <a:gd name="T44" fmla="*/ 2147483647 w 107"/>
                  <a:gd name="T45" fmla="*/ 2147483647 h 70"/>
                  <a:gd name="T46" fmla="*/ 2147483647 w 107"/>
                  <a:gd name="T47" fmla="*/ 2147483647 h 70"/>
                  <a:gd name="T48" fmla="*/ 2147483647 w 107"/>
                  <a:gd name="T49" fmla="*/ 2147483647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7" h="70">
                    <a:moveTo>
                      <a:pt x="24" y="4"/>
                    </a:moveTo>
                    <a:lnTo>
                      <a:pt x="33" y="0"/>
                    </a:lnTo>
                    <a:lnTo>
                      <a:pt x="35" y="17"/>
                    </a:lnTo>
                    <a:lnTo>
                      <a:pt x="40" y="27"/>
                    </a:lnTo>
                    <a:lnTo>
                      <a:pt x="49" y="33"/>
                    </a:lnTo>
                    <a:lnTo>
                      <a:pt x="58" y="33"/>
                    </a:lnTo>
                    <a:lnTo>
                      <a:pt x="65" y="27"/>
                    </a:lnTo>
                    <a:lnTo>
                      <a:pt x="71" y="17"/>
                    </a:lnTo>
                    <a:lnTo>
                      <a:pt x="74" y="0"/>
                    </a:lnTo>
                    <a:lnTo>
                      <a:pt x="82" y="4"/>
                    </a:lnTo>
                    <a:lnTo>
                      <a:pt x="86" y="5"/>
                    </a:lnTo>
                    <a:lnTo>
                      <a:pt x="91" y="8"/>
                    </a:lnTo>
                    <a:lnTo>
                      <a:pt x="94" y="11"/>
                    </a:lnTo>
                    <a:lnTo>
                      <a:pt x="97" y="15"/>
                    </a:lnTo>
                    <a:lnTo>
                      <a:pt x="101" y="34"/>
                    </a:lnTo>
                    <a:lnTo>
                      <a:pt x="105" y="52"/>
                    </a:lnTo>
                    <a:lnTo>
                      <a:pt x="107" y="70"/>
                    </a:lnTo>
                    <a:lnTo>
                      <a:pt x="0" y="70"/>
                    </a:lnTo>
                    <a:lnTo>
                      <a:pt x="1" y="52"/>
                    </a:lnTo>
                    <a:lnTo>
                      <a:pt x="4" y="34"/>
                    </a:lnTo>
                    <a:lnTo>
                      <a:pt x="10" y="15"/>
                    </a:lnTo>
                    <a:lnTo>
                      <a:pt x="11" y="11"/>
                    </a:lnTo>
                    <a:lnTo>
                      <a:pt x="16" y="8"/>
                    </a:lnTo>
                    <a:lnTo>
                      <a:pt x="20" y="5"/>
                    </a:lnTo>
                    <a:lnTo>
                      <a:pt x="24" y="4"/>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000" b="0" i="0" u="none" strike="noStrike" kern="0" cap="none" spc="0" normalizeH="0" baseline="0" noProof="0">
                  <a:ln>
                    <a:noFill/>
                  </a:ln>
                  <a:solidFill>
                    <a:schemeClr val="bg1"/>
                  </a:solidFill>
                  <a:effectLst/>
                  <a:uLnTx/>
                  <a:uFillTx/>
                  <a:latin typeface="EY interstate"/>
                </a:endParaRPr>
              </a:p>
            </p:txBody>
          </p:sp>
          <p:sp>
            <p:nvSpPr>
              <p:cNvPr id="48" name="Freeform 61">
                <a:extLst>
                  <a:ext uri="{FF2B5EF4-FFF2-40B4-BE49-F238E27FC236}">
                    <a16:creationId xmlns:a16="http://schemas.microsoft.com/office/drawing/2014/main" id="{3F97D75C-685B-C6E9-FA13-27AB94885306}"/>
                  </a:ext>
                </a:extLst>
              </p:cNvPr>
              <p:cNvSpPr>
                <a:spLocks noEditPoints="1"/>
              </p:cNvSpPr>
              <p:nvPr/>
            </p:nvSpPr>
            <p:spPr bwMode="auto">
              <a:xfrm>
                <a:off x="2135107" y="4208791"/>
                <a:ext cx="144002" cy="135431"/>
              </a:xfrm>
              <a:custGeom>
                <a:avLst/>
                <a:gdLst>
                  <a:gd name="T0" fmla="*/ 2147483647 w 84"/>
                  <a:gd name="T1" fmla="*/ 2147483647 h 79"/>
                  <a:gd name="T2" fmla="*/ 2147483647 w 84"/>
                  <a:gd name="T3" fmla="*/ 2147483647 h 79"/>
                  <a:gd name="T4" fmla="*/ 2147483647 w 84"/>
                  <a:gd name="T5" fmla="*/ 2147483647 h 79"/>
                  <a:gd name="T6" fmla="*/ 2147483647 w 84"/>
                  <a:gd name="T7" fmla="*/ 2147483647 h 79"/>
                  <a:gd name="T8" fmla="*/ 2147483647 w 84"/>
                  <a:gd name="T9" fmla="*/ 2147483647 h 79"/>
                  <a:gd name="T10" fmla="*/ 2147483647 w 84"/>
                  <a:gd name="T11" fmla="*/ 2147483647 h 79"/>
                  <a:gd name="T12" fmla="*/ 2147483647 w 84"/>
                  <a:gd name="T13" fmla="*/ 2147483647 h 79"/>
                  <a:gd name="T14" fmla="*/ 2147483647 w 84"/>
                  <a:gd name="T15" fmla="*/ 2147483647 h 79"/>
                  <a:gd name="T16" fmla="*/ 2147483647 w 84"/>
                  <a:gd name="T17" fmla="*/ 2147483647 h 79"/>
                  <a:gd name="T18" fmla="*/ 2147483647 w 84"/>
                  <a:gd name="T19" fmla="*/ 2147483647 h 79"/>
                  <a:gd name="T20" fmla="*/ 2147483647 w 84"/>
                  <a:gd name="T21" fmla="*/ 2147483647 h 79"/>
                  <a:gd name="T22" fmla="*/ 2147483647 w 84"/>
                  <a:gd name="T23" fmla="*/ 2147483647 h 79"/>
                  <a:gd name="T24" fmla="*/ 2147483647 w 84"/>
                  <a:gd name="T25" fmla="*/ 2147483647 h 79"/>
                  <a:gd name="T26" fmla="*/ 2147483647 w 84"/>
                  <a:gd name="T27" fmla="*/ 2147483647 h 79"/>
                  <a:gd name="T28" fmla="*/ 2147483647 w 84"/>
                  <a:gd name="T29" fmla="*/ 2147483647 h 79"/>
                  <a:gd name="T30" fmla="*/ 2147483647 w 84"/>
                  <a:gd name="T31" fmla="*/ 2147483647 h 79"/>
                  <a:gd name="T32" fmla="*/ 2147483647 w 84"/>
                  <a:gd name="T33" fmla="*/ 2147483647 h 79"/>
                  <a:gd name="T34" fmla="*/ 2147483647 w 84"/>
                  <a:gd name="T35" fmla="*/ 2147483647 h 79"/>
                  <a:gd name="T36" fmla="*/ 2147483647 w 84"/>
                  <a:gd name="T37" fmla="*/ 2147483647 h 79"/>
                  <a:gd name="T38" fmla="*/ 2147483647 w 84"/>
                  <a:gd name="T39" fmla="*/ 2147483647 h 79"/>
                  <a:gd name="T40" fmla="*/ 2147483647 w 84"/>
                  <a:gd name="T41" fmla="*/ 2147483647 h 79"/>
                  <a:gd name="T42" fmla="*/ 2147483647 w 84"/>
                  <a:gd name="T43" fmla="*/ 2147483647 h 79"/>
                  <a:gd name="T44" fmla="*/ 2147483647 w 84"/>
                  <a:gd name="T45" fmla="*/ 2147483647 h 79"/>
                  <a:gd name="T46" fmla="*/ 2147483647 w 84"/>
                  <a:gd name="T47" fmla="*/ 2147483647 h 79"/>
                  <a:gd name="T48" fmla="*/ 2147483647 w 84"/>
                  <a:gd name="T49" fmla="*/ 2147483647 h 79"/>
                  <a:gd name="T50" fmla="*/ 2147483647 w 84"/>
                  <a:gd name="T51" fmla="*/ 2147483647 h 79"/>
                  <a:gd name="T52" fmla="*/ 2147483647 w 84"/>
                  <a:gd name="T53" fmla="*/ 2147483647 h 79"/>
                  <a:gd name="T54" fmla="*/ 2147483647 w 84"/>
                  <a:gd name="T55" fmla="*/ 2147483647 h 79"/>
                  <a:gd name="T56" fmla="*/ 2147483647 w 84"/>
                  <a:gd name="T57" fmla="*/ 2147483647 h 79"/>
                  <a:gd name="T58" fmla="*/ 2147483647 w 84"/>
                  <a:gd name="T59" fmla="*/ 2147483647 h 79"/>
                  <a:gd name="T60" fmla="*/ 2147483647 w 84"/>
                  <a:gd name="T61" fmla="*/ 2147483647 h 79"/>
                  <a:gd name="T62" fmla="*/ 2147483647 w 84"/>
                  <a:gd name="T63" fmla="*/ 2147483647 h 79"/>
                  <a:gd name="T64" fmla="*/ 2147483647 w 84"/>
                  <a:gd name="T65" fmla="*/ 2147483647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4" h="79">
                    <a:moveTo>
                      <a:pt x="67" y="33"/>
                    </a:moveTo>
                    <a:lnTo>
                      <a:pt x="64" y="37"/>
                    </a:lnTo>
                    <a:lnTo>
                      <a:pt x="63" y="42"/>
                    </a:lnTo>
                    <a:lnTo>
                      <a:pt x="50" y="42"/>
                    </a:lnTo>
                    <a:lnTo>
                      <a:pt x="37" y="42"/>
                    </a:lnTo>
                    <a:lnTo>
                      <a:pt x="37" y="36"/>
                    </a:lnTo>
                    <a:lnTo>
                      <a:pt x="37" y="32"/>
                    </a:lnTo>
                    <a:lnTo>
                      <a:pt x="37" y="27"/>
                    </a:lnTo>
                    <a:lnTo>
                      <a:pt x="34" y="33"/>
                    </a:lnTo>
                    <a:lnTo>
                      <a:pt x="31" y="37"/>
                    </a:lnTo>
                    <a:lnTo>
                      <a:pt x="26" y="40"/>
                    </a:lnTo>
                    <a:lnTo>
                      <a:pt x="22" y="42"/>
                    </a:lnTo>
                    <a:lnTo>
                      <a:pt x="24" y="39"/>
                    </a:lnTo>
                    <a:lnTo>
                      <a:pt x="24" y="35"/>
                    </a:lnTo>
                    <a:lnTo>
                      <a:pt x="24" y="32"/>
                    </a:lnTo>
                    <a:lnTo>
                      <a:pt x="21" y="35"/>
                    </a:lnTo>
                    <a:lnTo>
                      <a:pt x="19" y="37"/>
                    </a:lnTo>
                    <a:lnTo>
                      <a:pt x="18" y="40"/>
                    </a:lnTo>
                    <a:lnTo>
                      <a:pt x="16" y="42"/>
                    </a:lnTo>
                    <a:lnTo>
                      <a:pt x="19" y="49"/>
                    </a:lnTo>
                    <a:lnTo>
                      <a:pt x="22" y="56"/>
                    </a:lnTo>
                    <a:lnTo>
                      <a:pt x="25" y="62"/>
                    </a:lnTo>
                    <a:lnTo>
                      <a:pt x="29" y="68"/>
                    </a:lnTo>
                    <a:lnTo>
                      <a:pt x="34" y="71"/>
                    </a:lnTo>
                    <a:lnTo>
                      <a:pt x="38" y="73"/>
                    </a:lnTo>
                    <a:lnTo>
                      <a:pt x="42" y="75"/>
                    </a:lnTo>
                    <a:lnTo>
                      <a:pt x="47" y="73"/>
                    </a:lnTo>
                    <a:lnTo>
                      <a:pt x="51" y="71"/>
                    </a:lnTo>
                    <a:lnTo>
                      <a:pt x="55" y="68"/>
                    </a:lnTo>
                    <a:lnTo>
                      <a:pt x="58" y="62"/>
                    </a:lnTo>
                    <a:lnTo>
                      <a:pt x="63" y="56"/>
                    </a:lnTo>
                    <a:lnTo>
                      <a:pt x="65" y="50"/>
                    </a:lnTo>
                    <a:lnTo>
                      <a:pt x="67" y="43"/>
                    </a:lnTo>
                    <a:lnTo>
                      <a:pt x="67" y="39"/>
                    </a:lnTo>
                    <a:lnTo>
                      <a:pt x="67" y="36"/>
                    </a:lnTo>
                    <a:lnTo>
                      <a:pt x="67" y="33"/>
                    </a:lnTo>
                    <a:close/>
                    <a:moveTo>
                      <a:pt x="58" y="72"/>
                    </a:moveTo>
                    <a:lnTo>
                      <a:pt x="47" y="79"/>
                    </a:lnTo>
                    <a:lnTo>
                      <a:pt x="37" y="79"/>
                    </a:lnTo>
                    <a:lnTo>
                      <a:pt x="26" y="72"/>
                    </a:lnTo>
                    <a:lnTo>
                      <a:pt x="16" y="73"/>
                    </a:lnTo>
                    <a:lnTo>
                      <a:pt x="8" y="71"/>
                    </a:lnTo>
                    <a:lnTo>
                      <a:pt x="0" y="66"/>
                    </a:lnTo>
                    <a:lnTo>
                      <a:pt x="3" y="62"/>
                    </a:lnTo>
                    <a:lnTo>
                      <a:pt x="6" y="58"/>
                    </a:lnTo>
                    <a:lnTo>
                      <a:pt x="9" y="52"/>
                    </a:lnTo>
                    <a:lnTo>
                      <a:pt x="9" y="46"/>
                    </a:lnTo>
                    <a:lnTo>
                      <a:pt x="9" y="40"/>
                    </a:lnTo>
                    <a:lnTo>
                      <a:pt x="9" y="33"/>
                    </a:lnTo>
                    <a:lnTo>
                      <a:pt x="12" y="20"/>
                    </a:lnTo>
                    <a:lnTo>
                      <a:pt x="18" y="10"/>
                    </a:lnTo>
                    <a:lnTo>
                      <a:pt x="29" y="3"/>
                    </a:lnTo>
                    <a:lnTo>
                      <a:pt x="42" y="0"/>
                    </a:lnTo>
                    <a:lnTo>
                      <a:pt x="55" y="3"/>
                    </a:lnTo>
                    <a:lnTo>
                      <a:pt x="65" y="10"/>
                    </a:lnTo>
                    <a:lnTo>
                      <a:pt x="73" y="20"/>
                    </a:lnTo>
                    <a:lnTo>
                      <a:pt x="75" y="33"/>
                    </a:lnTo>
                    <a:lnTo>
                      <a:pt x="74" y="40"/>
                    </a:lnTo>
                    <a:lnTo>
                      <a:pt x="74" y="46"/>
                    </a:lnTo>
                    <a:lnTo>
                      <a:pt x="75" y="52"/>
                    </a:lnTo>
                    <a:lnTo>
                      <a:pt x="77" y="58"/>
                    </a:lnTo>
                    <a:lnTo>
                      <a:pt x="80" y="62"/>
                    </a:lnTo>
                    <a:lnTo>
                      <a:pt x="84" y="66"/>
                    </a:lnTo>
                    <a:lnTo>
                      <a:pt x="77" y="71"/>
                    </a:lnTo>
                    <a:lnTo>
                      <a:pt x="68" y="73"/>
                    </a:lnTo>
                    <a:lnTo>
                      <a:pt x="58" y="72"/>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000" b="0" i="0" u="none" strike="noStrike" kern="0" cap="none" spc="0" normalizeH="0" baseline="0" noProof="0">
                  <a:ln>
                    <a:noFill/>
                  </a:ln>
                  <a:solidFill>
                    <a:schemeClr val="bg1"/>
                  </a:solidFill>
                  <a:effectLst/>
                  <a:uLnTx/>
                  <a:uFillTx/>
                  <a:latin typeface="EY interstate"/>
                </a:endParaRPr>
              </a:p>
            </p:txBody>
          </p:sp>
          <p:sp>
            <p:nvSpPr>
              <p:cNvPr id="49" name="Rectangle 62">
                <a:extLst>
                  <a:ext uri="{FF2B5EF4-FFF2-40B4-BE49-F238E27FC236}">
                    <a16:creationId xmlns:a16="http://schemas.microsoft.com/office/drawing/2014/main" id="{EA70E42A-1418-6DDB-60F1-55EB156C2912}"/>
                  </a:ext>
                </a:extLst>
              </p:cNvPr>
              <p:cNvSpPr>
                <a:spLocks noChangeArrowheads="1"/>
              </p:cNvSpPr>
              <p:nvPr/>
            </p:nvSpPr>
            <p:spPr bwMode="auto">
              <a:xfrm>
                <a:off x="2340825" y="4411070"/>
                <a:ext cx="78858"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000" b="0" i="0" u="none" strike="noStrike" kern="0" cap="none" spc="0" normalizeH="0" baseline="0" noProof="0">
                  <a:ln>
                    <a:noFill/>
                  </a:ln>
                  <a:solidFill>
                    <a:schemeClr val="bg1"/>
                  </a:solidFill>
                  <a:effectLst/>
                  <a:uLnTx/>
                  <a:uFillTx/>
                  <a:latin typeface="EY interstate"/>
                </a:endParaRPr>
              </a:p>
            </p:txBody>
          </p:sp>
          <p:sp>
            <p:nvSpPr>
              <p:cNvPr id="50" name="Rectangle 63">
                <a:extLst>
                  <a:ext uri="{FF2B5EF4-FFF2-40B4-BE49-F238E27FC236}">
                    <a16:creationId xmlns:a16="http://schemas.microsoft.com/office/drawing/2014/main" id="{6D672C5F-1D35-0601-6609-BCC15924FC1C}"/>
                  </a:ext>
                </a:extLst>
              </p:cNvPr>
              <p:cNvSpPr>
                <a:spLocks noChangeArrowheads="1"/>
              </p:cNvSpPr>
              <p:nvPr/>
            </p:nvSpPr>
            <p:spPr bwMode="auto">
              <a:xfrm>
                <a:off x="2445397" y="4411070"/>
                <a:ext cx="80573"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000" b="0" i="0" u="none" strike="noStrike" kern="0" cap="none" spc="0" normalizeH="0" baseline="0" noProof="0">
                  <a:ln>
                    <a:noFill/>
                  </a:ln>
                  <a:solidFill>
                    <a:schemeClr val="bg1"/>
                  </a:solidFill>
                  <a:effectLst/>
                  <a:uLnTx/>
                  <a:uFillTx/>
                  <a:latin typeface="EY interstate"/>
                </a:endParaRPr>
              </a:p>
            </p:txBody>
          </p:sp>
          <p:sp>
            <p:nvSpPr>
              <p:cNvPr id="51" name="Rectangle 64">
                <a:extLst>
                  <a:ext uri="{FF2B5EF4-FFF2-40B4-BE49-F238E27FC236}">
                    <a16:creationId xmlns:a16="http://schemas.microsoft.com/office/drawing/2014/main" id="{C5067869-4F0D-B283-46E0-EEF5CFEED1F5}"/>
                  </a:ext>
                </a:extLst>
              </p:cNvPr>
              <p:cNvSpPr>
                <a:spLocks noChangeArrowheads="1"/>
              </p:cNvSpPr>
              <p:nvPr/>
            </p:nvSpPr>
            <p:spPr bwMode="auto">
              <a:xfrm>
                <a:off x="2445397" y="4327069"/>
                <a:ext cx="80573"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000" b="0" i="0" u="none" strike="noStrike" kern="0" cap="none" spc="0" normalizeH="0" baseline="0" noProof="0">
                  <a:ln>
                    <a:noFill/>
                  </a:ln>
                  <a:solidFill>
                    <a:schemeClr val="bg1"/>
                  </a:solidFill>
                  <a:effectLst/>
                  <a:uLnTx/>
                  <a:uFillTx/>
                  <a:latin typeface="EY interstate"/>
                </a:endParaRPr>
              </a:p>
            </p:txBody>
          </p:sp>
          <p:sp>
            <p:nvSpPr>
              <p:cNvPr id="52" name="Rectangle 65">
                <a:extLst>
                  <a:ext uri="{FF2B5EF4-FFF2-40B4-BE49-F238E27FC236}">
                    <a16:creationId xmlns:a16="http://schemas.microsoft.com/office/drawing/2014/main" id="{7D066BCF-D0A9-0522-2C28-AFD5151CAD07}"/>
                  </a:ext>
                </a:extLst>
              </p:cNvPr>
              <p:cNvSpPr>
                <a:spLocks noChangeArrowheads="1"/>
              </p:cNvSpPr>
              <p:nvPr/>
            </p:nvSpPr>
            <p:spPr bwMode="auto">
              <a:xfrm>
                <a:off x="2340825" y="4327069"/>
                <a:ext cx="78858"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000" b="0" i="0" u="none" strike="noStrike" kern="0" cap="none" spc="0" normalizeH="0" baseline="0" noProof="0">
                  <a:ln>
                    <a:noFill/>
                  </a:ln>
                  <a:solidFill>
                    <a:schemeClr val="bg1"/>
                  </a:solidFill>
                  <a:effectLst/>
                  <a:uLnTx/>
                  <a:uFillTx/>
                  <a:latin typeface="EY interstate"/>
                </a:endParaRPr>
              </a:p>
            </p:txBody>
          </p:sp>
          <p:sp>
            <p:nvSpPr>
              <p:cNvPr id="53" name="Freeform 66">
                <a:extLst>
                  <a:ext uri="{FF2B5EF4-FFF2-40B4-BE49-F238E27FC236}">
                    <a16:creationId xmlns:a16="http://schemas.microsoft.com/office/drawing/2014/main" id="{9B4FAA03-E1EB-BA9F-7696-F72498E24468}"/>
                  </a:ext>
                </a:extLst>
              </p:cNvPr>
              <p:cNvSpPr>
                <a:spLocks noEditPoints="1"/>
              </p:cNvSpPr>
              <p:nvPr/>
            </p:nvSpPr>
            <p:spPr bwMode="auto">
              <a:xfrm>
                <a:off x="2056249" y="4116209"/>
                <a:ext cx="625724" cy="468007"/>
              </a:xfrm>
              <a:custGeom>
                <a:avLst/>
                <a:gdLst>
                  <a:gd name="T0" fmla="*/ 2147483647 w 365"/>
                  <a:gd name="T1" fmla="*/ 2147483647 h 273"/>
                  <a:gd name="T2" fmla="*/ 2147483647 w 365"/>
                  <a:gd name="T3" fmla="*/ 2147483647 h 273"/>
                  <a:gd name="T4" fmla="*/ 2147483647 w 365"/>
                  <a:gd name="T5" fmla="*/ 2147483647 h 273"/>
                  <a:gd name="T6" fmla="*/ 2147483647 w 365"/>
                  <a:gd name="T7" fmla="*/ 2147483647 h 273"/>
                  <a:gd name="T8" fmla="*/ 2147483647 w 365"/>
                  <a:gd name="T9" fmla="*/ 2147483647 h 273"/>
                  <a:gd name="T10" fmla="*/ 2147483647 w 365"/>
                  <a:gd name="T11" fmla="*/ 2147483647 h 273"/>
                  <a:gd name="T12" fmla="*/ 2147483647 w 365"/>
                  <a:gd name="T13" fmla="*/ 2147483647 h 273"/>
                  <a:gd name="T14" fmla="*/ 2147483647 w 365"/>
                  <a:gd name="T15" fmla="*/ 2147483647 h 273"/>
                  <a:gd name="T16" fmla="*/ 2147483647 w 365"/>
                  <a:gd name="T17" fmla="*/ 2147483647 h 273"/>
                  <a:gd name="T18" fmla="*/ 2147483647 w 365"/>
                  <a:gd name="T19" fmla="*/ 2147483647 h 273"/>
                  <a:gd name="T20" fmla="*/ 2147483647 w 365"/>
                  <a:gd name="T21" fmla="*/ 2147483647 h 273"/>
                  <a:gd name="T22" fmla="*/ 2147483647 w 365"/>
                  <a:gd name="T23" fmla="*/ 2147483647 h 273"/>
                  <a:gd name="T24" fmla="*/ 2147483647 w 365"/>
                  <a:gd name="T25" fmla="*/ 2147483647 h 273"/>
                  <a:gd name="T26" fmla="*/ 2147483647 w 365"/>
                  <a:gd name="T27" fmla="*/ 2147483647 h 273"/>
                  <a:gd name="T28" fmla="*/ 2147483647 w 365"/>
                  <a:gd name="T29" fmla="*/ 2147483647 h 273"/>
                  <a:gd name="T30" fmla="*/ 2147483647 w 365"/>
                  <a:gd name="T31" fmla="*/ 2147483647 h 273"/>
                  <a:gd name="T32" fmla="*/ 2147483647 w 365"/>
                  <a:gd name="T33" fmla="*/ 2147483647 h 273"/>
                  <a:gd name="T34" fmla="*/ 2147483647 w 365"/>
                  <a:gd name="T35" fmla="*/ 2147483647 h 273"/>
                  <a:gd name="T36" fmla="*/ 2147483647 w 365"/>
                  <a:gd name="T37" fmla="*/ 2147483647 h 273"/>
                  <a:gd name="T38" fmla="*/ 2147483647 w 365"/>
                  <a:gd name="T39" fmla="*/ 2147483647 h 273"/>
                  <a:gd name="T40" fmla="*/ 2147483647 w 365"/>
                  <a:gd name="T41" fmla="*/ 2147483647 h 273"/>
                  <a:gd name="T42" fmla="*/ 0 w 365"/>
                  <a:gd name="T43" fmla="*/ 2147483647 h 273"/>
                  <a:gd name="T44" fmla="*/ 0 w 365"/>
                  <a:gd name="T45" fmla="*/ 2147483647 h 273"/>
                  <a:gd name="T46" fmla="*/ 2147483647 w 365"/>
                  <a:gd name="T47" fmla="*/ 2147483647 h 273"/>
                  <a:gd name="T48" fmla="*/ 2147483647 w 365"/>
                  <a:gd name="T49" fmla="*/ 0 h 273"/>
                  <a:gd name="T50" fmla="*/ 2147483647 w 365"/>
                  <a:gd name="T51" fmla="*/ 2147483647 h 273"/>
                  <a:gd name="T52" fmla="*/ 2147483647 w 365"/>
                  <a:gd name="T53" fmla="*/ 2147483647 h 273"/>
                  <a:gd name="T54" fmla="*/ 2147483647 w 365"/>
                  <a:gd name="T55" fmla="*/ 2147483647 h 273"/>
                  <a:gd name="T56" fmla="*/ 2147483647 w 365"/>
                  <a:gd name="T57" fmla="*/ 2147483647 h 273"/>
                  <a:gd name="T58" fmla="*/ 2147483647 w 365"/>
                  <a:gd name="T59" fmla="*/ 2147483647 h 273"/>
                  <a:gd name="T60" fmla="*/ 2147483647 w 365"/>
                  <a:gd name="T61" fmla="*/ 2147483647 h 273"/>
                  <a:gd name="T62" fmla="*/ 2147483647 w 365"/>
                  <a:gd name="T63" fmla="*/ 2147483647 h 273"/>
                  <a:gd name="T64" fmla="*/ 2147483647 w 365"/>
                  <a:gd name="T65" fmla="*/ 2147483647 h 273"/>
                  <a:gd name="T66" fmla="*/ 2147483647 w 365"/>
                  <a:gd name="T67" fmla="*/ 2147483647 h 273"/>
                  <a:gd name="T68" fmla="*/ 2147483647 w 365"/>
                  <a:gd name="T69" fmla="*/ 2147483647 h 273"/>
                  <a:gd name="T70" fmla="*/ 2147483647 w 365"/>
                  <a:gd name="T71" fmla="*/ 2147483647 h 273"/>
                  <a:gd name="T72" fmla="*/ 2147483647 w 365"/>
                  <a:gd name="T73" fmla="*/ 2147483647 h 273"/>
                  <a:gd name="T74" fmla="*/ 2147483647 w 365"/>
                  <a:gd name="T75" fmla="*/ 2147483647 h 273"/>
                  <a:gd name="T76" fmla="*/ 2147483647 w 365"/>
                  <a:gd name="T77" fmla="*/ 2147483647 h 273"/>
                  <a:gd name="T78" fmla="*/ 2147483647 w 365"/>
                  <a:gd name="T79" fmla="*/ 2147483647 h 273"/>
                  <a:gd name="T80" fmla="*/ 2147483647 w 365"/>
                  <a:gd name="T81" fmla="*/ 2147483647 h 273"/>
                  <a:gd name="T82" fmla="*/ 2147483647 w 365"/>
                  <a:gd name="T83" fmla="*/ 2147483647 h 273"/>
                  <a:gd name="T84" fmla="*/ 2147483647 w 365"/>
                  <a:gd name="T85" fmla="*/ 2147483647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65" h="273">
                    <a:moveTo>
                      <a:pt x="300" y="234"/>
                    </a:moveTo>
                    <a:lnTo>
                      <a:pt x="70" y="234"/>
                    </a:lnTo>
                    <a:lnTo>
                      <a:pt x="70" y="263"/>
                    </a:lnTo>
                    <a:lnTo>
                      <a:pt x="355" y="263"/>
                    </a:lnTo>
                    <a:lnTo>
                      <a:pt x="355" y="76"/>
                    </a:lnTo>
                    <a:lnTo>
                      <a:pt x="306" y="76"/>
                    </a:lnTo>
                    <a:lnTo>
                      <a:pt x="306" y="227"/>
                    </a:lnTo>
                    <a:lnTo>
                      <a:pt x="305" y="231"/>
                    </a:lnTo>
                    <a:lnTo>
                      <a:pt x="303" y="233"/>
                    </a:lnTo>
                    <a:lnTo>
                      <a:pt x="300" y="234"/>
                    </a:lnTo>
                    <a:close/>
                    <a:moveTo>
                      <a:pt x="339" y="64"/>
                    </a:moveTo>
                    <a:lnTo>
                      <a:pt x="337" y="63"/>
                    </a:lnTo>
                    <a:lnTo>
                      <a:pt x="335" y="61"/>
                    </a:lnTo>
                    <a:lnTo>
                      <a:pt x="335" y="58"/>
                    </a:lnTo>
                    <a:lnTo>
                      <a:pt x="335" y="55"/>
                    </a:lnTo>
                    <a:lnTo>
                      <a:pt x="337" y="54"/>
                    </a:lnTo>
                    <a:lnTo>
                      <a:pt x="339" y="54"/>
                    </a:lnTo>
                    <a:lnTo>
                      <a:pt x="352" y="54"/>
                    </a:lnTo>
                    <a:lnTo>
                      <a:pt x="355" y="54"/>
                    </a:lnTo>
                    <a:lnTo>
                      <a:pt x="357" y="55"/>
                    </a:lnTo>
                    <a:lnTo>
                      <a:pt x="357" y="58"/>
                    </a:lnTo>
                    <a:lnTo>
                      <a:pt x="357" y="61"/>
                    </a:lnTo>
                    <a:lnTo>
                      <a:pt x="355" y="63"/>
                    </a:lnTo>
                    <a:lnTo>
                      <a:pt x="352" y="64"/>
                    </a:lnTo>
                    <a:lnTo>
                      <a:pt x="339" y="64"/>
                    </a:lnTo>
                    <a:close/>
                    <a:moveTo>
                      <a:pt x="280" y="24"/>
                    </a:moveTo>
                    <a:lnTo>
                      <a:pt x="277" y="24"/>
                    </a:lnTo>
                    <a:lnTo>
                      <a:pt x="276" y="21"/>
                    </a:lnTo>
                    <a:lnTo>
                      <a:pt x="274" y="19"/>
                    </a:lnTo>
                    <a:lnTo>
                      <a:pt x="276" y="16"/>
                    </a:lnTo>
                    <a:lnTo>
                      <a:pt x="277" y="15"/>
                    </a:lnTo>
                    <a:lnTo>
                      <a:pt x="280" y="13"/>
                    </a:lnTo>
                    <a:lnTo>
                      <a:pt x="292" y="13"/>
                    </a:lnTo>
                    <a:lnTo>
                      <a:pt x="295" y="15"/>
                    </a:lnTo>
                    <a:lnTo>
                      <a:pt x="296" y="16"/>
                    </a:lnTo>
                    <a:lnTo>
                      <a:pt x="298" y="19"/>
                    </a:lnTo>
                    <a:lnTo>
                      <a:pt x="296" y="21"/>
                    </a:lnTo>
                    <a:lnTo>
                      <a:pt x="295" y="24"/>
                    </a:lnTo>
                    <a:lnTo>
                      <a:pt x="292" y="24"/>
                    </a:lnTo>
                    <a:lnTo>
                      <a:pt x="280" y="24"/>
                    </a:lnTo>
                    <a:close/>
                    <a:moveTo>
                      <a:pt x="59" y="234"/>
                    </a:moveTo>
                    <a:lnTo>
                      <a:pt x="6" y="234"/>
                    </a:lnTo>
                    <a:lnTo>
                      <a:pt x="3" y="233"/>
                    </a:lnTo>
                    <a:lnTo>
                      <a:pt x="0" y="231"/>
                    </a:lnTo>
                    <a:lnTo>
                      <a:pt x="0" y="227"/>
                    </a:lnTo>
                    <a:lnTo>
                      <a:pt x="0" y="6"/>
                    </a:lnTo>
                    <a:lnTo>
                      <a:pt x="0" y="3"/>
                    </a:lnTo>
                    <a:lnTo>
                      <a:pt x="3" y="2"/>
                    </a:lnTo>
                    <a:lnTo>
                      <a:pt x="6" y="0"/>
                    </a:lnTo>
                    <a:lnTo>
                      <a:pt x="300" y="0"/>
                    </a:lnTo>
                    <a:lnTo>
                      <a:pt x="303" y="2"/>
                    </a:lnTo>
                    <a:lnTo>
                      <a:pt x="305" y="3"/>
                    </a:lnTo>
                    <a:lnTo>
                      <a:pt x="306" y="6"/>
                    </a:lnTo>
                    <a:lnTo>
                      <a:pt x="306" y="39"/>
                    </a:lnTo>
                    <a:lnTo>
                      <a:pt x="360" y="39"/>
                    </a:lnTo>
                    <a:lnTo>
                      <a:pt x="363" y="41"/>
                    </a:lnTo>
                    <a:lnTo>
                      <a:pt x="364" y="44"/>
                    </a:lnTo>
                    <a:lnTo>
                      <a:pt x="365" y="47"/>
                    </a:lnTo>
                    <a:lnTo>
                      <a:pt x="365" y="267"/>
                    </a:lnTo>
                    <a:lnTo>
                      <a:pt x="364" y="270"/>
                    </a:lnTo>
                    <a:lnTo>
                      <a:pt x="363" y="272"/>
                    </a:lnTo>
                    <a:lnTo>
                      <a:pt x="360" y="273"/>
                    </a:lnTo>
                    <a:lnTo>
                      <a:pt x="65" y="273"/>
                    </a:lnTo>
                    <a:lnTo>
                      <a:pt x="62" y="272"/>
                    </a:lnTo>
                    <a:lnTo>
                      <a:pt x="59" y="270"/>
                    </a:lnTo>
                    <a:lnTo>
                      <a:pt x="59" y="267"/>
                    </a:lnTo>
                    <a:lnTo>
                      <a:pt x="59" y="234"/>
                    </a:lnTo>
                    <a:close/>
                    <a:moveTo>
                      <a:pt x="13" y="24"/>
                    </a:moveTo>
                    <a:lnTo>
                      <a:pt x="10" y="24"/>
                    </a:lnTo>
                    <a:lnTo>
                      <a:pt x="9" y="21"/>
                    </a:lnTo>
                    <a:lnTo>
                      <a:pt x="9" y="19"/>
                    </a:lnTo>
                    <a:lnTo>
                      <a:pt x="9" y="16"/>
                    </a:lnTo>
                    <a:lnTo>
                      <a:pt x="10" y="15"/>
                    </a:lnTo>
                    <a:lnTo>
                      <a:pt x="13" y="13"/>
                    </a:lnTo>
                    <a:lnTo>
                      <a:pt x="67" y="13"/>
                    </a:lnTo>
                    <a:lnTo>
                      <a:pt x="68" y="15"/>
                    </a:lnTo>
                    <a:lnTo>
                      <a:pt x="71" y="16"/>
                    </a:lnTo>
                    <a:lnTo>
                      <a:pt x="71" y="19"/>
                    </a:lnTo>
                    <a:lnTo>
                      <a:pt x="71" y="21"/>
                    </a:lnTo>
                    <a:lnTo>
                      <a:pt x="68" y="24"/>
                    </a:lnTo>
                    <a:lnTo>
                      <a:pt x="67" y="24"/>
                    </a:lnTo>
                    <a:lnTo>
                      <a:pt x="13" y="24"/>
                    </a:lnTo>
                    <a:close/>
                    <a:moveTo>
                      <a:pt x="296" y="37"/>
                    </a:moveTo>
                    <a:lnTo>
                      <a:pt x="9" y="37"/>
                    </a:lnTo>
                    <a:lnTo>
                      <a:pt x="9" y="224"/>
                    </a:lnTo>
                    <a:lnTo>
                      <a:pt x="296" y="224"/>
                    </a:lnTo>
                    <a:lnTo>
                      <a:pt x="296" y="37"/>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000" b="0" i="0" u="none" strike="noStrike" kern="0" cap="none" spc="0" normalizeH="0" baseline="0" noProof="0">
                  <a:ln>
                    <a:noFill/>
                  </a:ln>
                  <a:solidFill>
                    <a:schemeClr val="bg1"/>
                  </a:solidFill>
                  <a:effectLst/>
                  <a:uLnTx/>
                  <a:uFillTx/>
                  <a:latin typeface="EY interstate"/>
                </a:endParaRPr>
              </a:p>
            </p:txBody>
          </p:sp>
        </p:grpSp>
        <p:sp>
          <p:nvSpPr>
            <p:cNvPr id="45" name="Rectangle 44">
              <a:extLst>
                <a:ext uri="{FF2B5EF4-FFF2-40B4-BE49-F238E27FC236}">
                  <a16:creationId xmlns:a16="http://schemas.microsoft.com/office/drawing/2014/main" id="{B1D5A5B8-F1BE-58B8-A56C-05F41050716C}"/>
                </a:ext>
              </a:extLst>
            </p:cNvPr>
            <p:cNvSpPr/>
            <p:nvPr/>
          </p:nvSpPr>
          <p:spPr>
            <a:xfrm>
              <a:off x="150412" y="3686769"/>
              <a:ext cx="548640" cy="301709"/>
            </a:xfrm>
            <a:prstGeom prst="rect">
              <a:avLst/>
            </a:prstGeom>
            <a:noFill/>
            <a:ln w="9525" cap="flat" cmpd="sng" algn="ctr">
              <a:solidFill>
                <a:srgbClr val="FFE600"/>
              </a:solidFill>
              <a:prstDash val="solid"/>
            </a:ln>
            <a:effectLst/>
          </p:spPr>
          <p:txBody>
            <a:bodyPr lIns="18288" tIns="45720" rIns="18288" bIns="45720" rtlCol="0" anchor="ctr" anchorCtr="0"/>
            <a:lstStyle/>
            <a:p>
              <a:pPr marL="0" marR="0" lvl="0" indent="0" algn="ctr" defTabSz="914400" eaLnBrk="1" fontAlgn="auto" latinLnBrk="0" hangingPunct="1">
                <a:lnSpc>
                  <a:spcPct val="100000"/>
                </a:lnSpc>
                <a:spcBef>
                  <a:spcPts val="0"/>
                </a:spcBef>
                <a:spcAft>
                  <a:spcPts val="400"/>
                </a:spcAft>
                <a:buClr>
                  <a:srgbClr val="FFD200"/>
                </a:buClr>
                <a:buSzPct val="70000"/>
                <a:buFontTx/>
                <a:buNone/>
                <a:tabLst/>
                <a:defRPr/>
              </a:pPr>
              <a:r>
                <a:rPr kumimoji="0" lang="en-US" sz="1000" b="1" i="0" u="none" strike="noStrike" kern="0" cap="none" spc="0" normalizeH="0" baseline="0" noProof="0">
                  <a:ln>
                    <a:noFill/>
                  </a:ln>
                  <a:solidFill>
                    <a:schemeClr val="bg1"/>
                  </a:solidFill>
                  <a:effectLst/>
                  <a:uLnTx/>
                  <a:uFillTx/>
                  <a:latin typeface="EY interstate"/>
                </a:rPr>
                <a:t>Org/ People</a:t>
              </a:r>
            </a:p>
          </p:txBody>
        </p:sp>
      </p:grpSp>
      <p:grpSp>
        <p:nvGrpSpPr>
          <p:cNvPr id="54" name="Group 53">
            <a:extLst>
              <a:ext uri="{FF2B5EF4-FFF2-40B4-BE49-F238E27FC236}">
                <a16:creationId xmlns:a16="http://schemas.microsoft.com/office/drawing/2014/main" id="{CE2D16BA-AD92-6B40-7DA6-7B097CC45D1B}"/>
              </a:ext>
            </a:extLst>
          </p:cNvPr>
          <p:cNvGrpSpPr/>
          <p:nvPr/>
        </p:nvGrpSpPr>
        <p:grpSpPr>
          <a:xfrm>
            <a:off x="515033" y="3143475"/>
            <a:ext cx="548640" cy="975023"/>
            <a:chOff x="150413" y="3175881"/>
            <a:chExt cx="548640" cy="815257"/>
          </a:xfrm>
          <a:solidFill>
            <a:srgbClr val="008080"/>
          </a:solidFill>
        </p:grpSpPr>
        <p:sp>
          <p:nvSpPr>
            <p:cNvPr id="55" name="Freeform 30">
              <a:extLst>
                <a:ext uri="{FF2B5EF4-FFF2-40B4-BE49-F238E27FC236}">
                  <a16:creationId xmlns:a16="http://schemas.microsoft.com/office/drawing/2014/main" id="{650D7059-1A9F-708B-C873-F4772103633A}"/>
                </a:ext>
              </a:extLst>
            </p:cNvPr>
            <p:cNvSpPr>
              <a:spLocks noChangeAspect="1" noEditPoints="1"/>
            </p:cNvSpPr>
            <p:nvPr/>
          </p:nvSpPr>
          <p:spPr bwMode="auto">
            <a:xfrm>
              <a:off x="240481" y="3175881"/>
              <a:ext cx="368505" cy="439354"/>
            </a:xfrm>
            <a:custGeom>
              <a:avLst/>
              <a:gdLst>
                <a:gd name="T0" fmla="*/ 2147483647 w 350"/>
                <a:gd name="T1" fmla="*/ 2147483647 h 435"/>
                <a:gd name="T2" fmla="*/ 2147483647 w 350"/>
                <a:gd name="T3" fmla="*/ 2147483647 h 435"/>
                <a:gd name="T4" fmla="*/ 2147483647 w 350"/>
                <a:gd name="T5" fmla="*/ 2147483647 h 435"/>
                <a:gd name="T6" fmla="*/ 2147483647 w 350"/>
                <a:gd name="T7" fmla="*/ 2147483647 h 435"/>
                <a:gd name="T8" fmla="*/ 2147483647 w 350"/>
                <a:gd name="T9" fmla="*/ 2147483647 h 435"/>
                <a:gd name="T10" fmla="*/ 2147483647 w 350"/>
                <a:gd name="T11" fmla="*/ 2147483647 h 435"/>
                <a:gd name="T12" fmla="*/ 2147483647 w 350"/>
                <a:gd name="T13" fmla="*/ 2147483647 h 435"/>
                <a:gd name="T14" fmla="*/ 2147483647 w 350"/>
                <a:gd name="T15" fmla="*/ 2147483647 h 435"/>
                <a:gd name="T16" fmla="*/ 2147483647 w 350"/>
                <a:gd name="T17" fmla="*/ 2147483647 h 435"/>
                <a:gd name="T18" fmla="*/ 2147483647 w 350"/>
                <a:gd name="T19" fmla="*/ 2147483647 h 435"/>
                <a:gd name="T20" fmla="*/ 2147483647 w 350"/>
                <a:gd name="T21" fmla="*/ 2147483647 h 435"/>
                <a:gd name="T22" fmla="*/ 2147483647 w 350"/>
                <a:gd name="T23" fmla="*/ 2147483647 h 435"/>
                <a:gd name="T24" fmla="*/ 2147483647 w 350"/>
                <a:gd name="T25" fmla="*/ 2147483647 h 435"/>
                <a:gd name="T26" fmla="*/ 2147483647 w 350"/>
                <a:gd name="T27" fmla="*/ 2147483647 h 435"/>
                <a:gd name="T28" fmla="*/ 2147483647 w 350"/>
                <a:gd name="T29" fmla="*/ 2147483647 h 435"/>
                <a:gd name="T30" fmla="*/ 2147483647 w 350"/>
                <a:gd name="T31" fmla="*/ 2147483647 h 435"/>
                <a:gd name="T32" fmla="*/ 2147483647 w 350"/>
                <a:gd name="T33" fmla="*/ 2147483647 h 435"/>
                <a:gd name="T34" fmla="*/ 2147483647 w 350"/>
                <a:gd name="T35" fmla="*/ 2147483647 h 435"/>
                <a:gd name="T36" fmla="*/ 2147483647 w 350"/>
                <a:gd name="T37" fmla="*/ 2147483647 h 435"/>
                <a:gd name="T38" fmla="*/ 2147483647 w 350"/>
                <a:gd name="T39" fmla="*/ 2147483647 h 435"/>
                <a:gd name="T40" fmla="*/ 2147483647 w 350"/>
                <a:gd name="T41" fmla="*/ 2147483647 h 435"/>
                <a:gd name="T42" fmla="*/ 2147483647 w 350"/>
                <a:gd name="T43" fmla="*/ 2147483647 h 435"/>
                <a:gd name="T44" fmla="*/ 2147483647 w 350"/>
                <a:gd name="T45" fmla="*/ 2147483647 h 435"/>
                <a:gd name="T46" fmla="*/ 2147483647 w 350"/>
                <a:gd name="T47" fmla="*/ 2147483647 h 435"/>
                <a:gd name="T48" fmla="*/ 2147483647 w 350"/>
                <a:gd name="T49" fmla="*/ 2147483647 h 435"/>
                <a:gd name="T50" fmla="*/ 2147483647 w 350"/>
                <a:gd name="T51" fmla="*/ 2147483647 h 435"/>
                <a:gd name="T52" fmla="*/ 2147483647 w 350"/>
                <a:gd name="T53" fmla="*/ 2147483647 h 435"/>
                <a:gd name="T54" fmla="*/ 2147483647 w 350"/>
                <a:gd name="T55" fmla="*/ 2147483647 h 435"/>
                <a:gd name="T56" fmla="*/ 2147483647 w 350"/>
                <a:gd name="T57" fmla="*/ 2147483647 h 435"/>
                <a:gd name="T58" fmla="*/ 2147483647 w 350"/>
                <a:gd name="T59" fmla="*/ 2147483647 h 435"/>
                <a:gd name="T60" fmla="*/ 2147483647 w 350"/>
                <a:gd name="T61" fmla="*/ 2147483647 h 435"/>
                <a:gd name="T62" fmla="*/ 2147483647 w 350"/>
                <a:gd name="T63" fmla="*/ 2147483647 h 435"/>
                <a:gd name="T64" fmla="*/ 2147483647 w 350"/>
                <a:gd name="T65" fmla="*/ 2147483647 h 435"/>
                <a:gd name="T66" fmla="*/ 2147483647 w 350"/>
                <a:gd name="T67" fmla="*/ 2147483647 h 435"/>
                <a:gd name="T68" fmla="*/ 2147483647 w 350"/>
                <a:gd name="T69" fmla="*/ 2147483647 h 435"/>
                <a:gd name="T70" fmla="*/ 2147483647 w 350"/>
                <a:gd name="T71" fmla="*/ 2147483647 h 435"/>
                <a:gd name="T72" fmla="*/ 2147483647 w 350"/>
                <a:gd name="T73" fmla="*/ 2147483647 h 435"/>
                <a:gd name="T74" fmla="*/ 2147483647 w 350"/>
                <a:gd name="T75" fmla="*/ 2147483647 h 435"/>
                <a:gd name="T76" fmla="*/ 2147483647 w 350"/>
                <a:gd name="T77" fmla="*/ 2147483647 h 435"/>
                <a:gd name="T78" fmla="*/ 2147483647 w 350"/>
                <a:gd name="T79" fmla="*/ 2147483647 h 435"/>
                <a:gd name="T80" fmla="*/ 2147483647 w 350"/>
                <a:gd name="T81" fmla="*/ 2147483647 h 435"/>
                <a:gd name="T82" fmla="*/ 2147483647 w 350"/>
                <a:gd name="T83" fmla="*/ 2147483647 h 435"/>
                <a:gd name="T84" fmla="*/ 2147483647 w 350"/>
                <a:gd name="T85" fmla="*/ 2147483647 h 435"/>
                <a:gd name="T86" fmla="*/ 2147483647 w 350"/>
                <a:gd name="T87" fmla="*/ 2147483647 h 435"/>
                <a:gd name="T88" fmla="*/ 2147483647 w 350"/>
                <a:gd name="T89" fmla="*/ 2147483647 h 435"/>
                <a:gd name="T90" fmla="*/ 2147483647 w 350"/>
                <a:gd name="T91" fmla="*/ 2147483647 h 435"/>
                <a:gd name="T92" fmla="*/ 2147483647 w 350"/>
                <a:gd name="T93" fmla="*/ 2147483647 h 435"/>
                <a:gd name="T94" fmla="*/ 2147483647 w 350"/>
                <a:gd name="T95" fmla="*/ 2147483647 h 435"/>
                <a:gd name="T96" fmla="*/ 2147483647 w 350"/>
                <a:gd name="T97" fmla="*/ 2147483647 h 435"/>
                <a:gd name="T98" fmla="*/ 2147483647 w 350"/>
                <a:gd name="T99" fmla="*/ 2147483647 h 435"/>
                <a:gd name="T100" fmla="*/ 2147483647 w 350"/>
                <a:gd name="T101" fmla="*/ 2147483647 h 435"/>
                <a:gd name="T102" fmla="*/ 2147483647 w 350"/>
                <a:gd name="T103" fmla="*/ 2147483647 h 435"/>
                <a:gd name="T104" fmla="*/ 2147483647 w 350"/>
                <a:gd name="T105" fmla="*/ 2147483647 h 435"/>
                <a:gd name="T106" fmla="*/ 2147483647 w 350"/>
                <a:gd name="T107" fmla="*/ 2147483647 h 435"/>
                <a:gd name="T108" fmla="*/ 2147483647 w 350"/>
                <a:gd name="T109" fmla="*/ 2147483647 h 435"/>
                <a:gd name="T110" fmla="*/ 2147483647 w 350"/>
                <a:gd name="T111" fmla="*/ 2147483647 h 435"/>
                <a:gd name="T112" fmla="*/ 2147483647 w 350"/>
                <a:gd name="T113" fmla="*/ 2147483647 h 435"/>
                <a:gd name="T114" fmla="*/ 2147483647 w 350"/>
                <a:gd name="T115" fmla="*/ 2147483647 h 435"/>
                <a:gd name="T116" fmla="*/ 2147483647 w 350"/>
                <a:gd name="T117" fmla="*/ 2147483647 h 435"/>
                <a:gd name="T118" fmla="*/ 2147483647 w 350"/>
                <a:gd name="T119" fmla="*/ 2147483647 h 4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50" h="435">
                  <a:moveTo>
                    <a:pt x="241" y="186"/>
                  </a:moveTo>
                  <a:lnTo>
                    <a:pt x="243" y="186"/>
                  </a:lnTo>
                  <a:lnTo>
                    <a:pt x="246" y="189"/>
                  </a:lnTo>
                  <a:lnTo>
                    <a:pt x="246" y="191"/>
                  </a:lnTo>
                  <a:lnTo>
                    <a:pt x="246" y="194"/>
                  </a:lnTo>
                  <a:lnTo>
                    <a:pt x="243" y="197"/>
                  </a:lnTo>
                  <a:lnTo>
                    <a:pt x="241" y="197"/>
                  </a:lnTo>
                  <a:lnTo>
                    <a:pt x="83" y="197"/>
                  </a:lnTo>
                  <a:lnTo>
                    <a:pt x="80" y="197"/>
                  </a:lnTo>
                  <a:lnTo>
                    <a:pt x="79" y="194"/>
                  </a:lnTo>
                  <a:lnTo>
                    <a:pt x="78" y="191"/>
                  </a:lnTo>
                  <a:lnTo>
                    <a:pt x="79" y="189"/>
                  </a:lnTo>
                  <a:lnTo>
                    <a:pt x="80" y="186"/>
                  </a:lnTo>
                  <a:lnTo>
                    <a:pt x="83" y="186"/>
                  </a:lnTo>
                  <a:lnTo>
                    <a:pt x="241" y="186"/>
                  </a:lnTo>
                  <a:close/>
                  <a:moveTo>
                    <a:pt x="121" y="228"/>
                  </a:moveTo>
                  <a:lnTo>
                    <a:pt x="129" y="228"/>
                  </a:lnTo>
                  <a:lnTo>
                    <a:pt x="134" y="228"/>
                  </a:lnTo>
                  <a:lnTo>
                    <a:pt x="135" y="230"/>
                  </a:lnTo>
                  <a:lnTo>
                    <a:pt x="137" y="233"/>
                  </a:lnTo>
                  <a:lnTo>
                    <a:pt x="137" y="240"/>
                  </a:lnTo>
                  <a:lnTo>
                    <a:pt x="135" y="243"/>
                  </a:lnTo>
                  <a:lnTo>
                    <a:pt x="134" y="245"/>
                  </a:lnTo>
                  <a:lnTo>
                    <a:pt x="129" y="246"/>
                  </a:lnTo>
                  <a:lnTo>
                    <a:pt x="121" y="246"/>
                  </a:lnTo>
                  <a:lnTo>
                    <a:pt x="118" y="245"/>
                  </a:lnTo>
                  <a:lnTo>
                    <a:pt x="115" y="243"/>
                  </a:lnTo>
                  <a:lnTo>
                    <a:pt x="115" y="240"/>
                  </a:lnTo>
                  <a:lnTo>
                    <a:pt x="115" y="233"/>
                  </a:lnTo>
                  <a:lnTo>
                    <a:pt x="115" y="230"/>
                  </a:lnTo>
                  <a:lnTo>
                    <a:pt x="118" y="228"/>
                  </a:lnTo>
                  <a:lnTo>
                    <a:pt x="121" y="228"/>
                  </a:lnTo>
                  <a:close/>
                  <a:moveTo>
                    <a:pt x="194" y="228"/>
                  </a:moveTo>
                  <a:lnTo>
                    <a:pt x="205" y="228"/>
                  </a:lnTo>
                  <a:lnTo>
                    <a:pt x="207" y="228"/>
                  </a:lnTo>
                  <a:lnTo>
                    <a:pt x="209" y="230"/>
                  </a:lnTo>
                  <a:lnTo>
                    <a:pt x="210" y="233"/>
                  </a:lnTo>
                  <a:lnTo>
                    <a:pt x="210" y="240"/>
                  </a:lnTo>
                  <a:lnTo>
                    <a:pt x="209" y="243"/>
                  </a:lnTo>
                  <a:lnTo>
                    <a:pt x="207" y="245"/>
                  </a:lnTo>
                  <a:lnTo>
                    <a:pt x="205" y="246"/>
                  </a:lnTo>
                  <a:lnTo>
                    <a:pt x="194" y="246"/>
                  </a:lnTo>
                  <a:lnTo>
                    <a:pt x="192" y="245"/>
                  </a:lnTo>
                  <a:lnTo>
                    <a:pt x="190" y="243"/>
                  </a:lnTo>
                  <a:lnTo>
                    <a:pt x="189" y="240"/>
                  </a:lnTo>
                  <a:lnTo>
                    <a:pt x="189" y="233"/>
                  </a:lnTo>
                  <a:lnTo>
                    <a:pt x="190" y="230"/>
                  </a:lnTo>
                  <a:lnTo>
                    <a:pt x="192" y="228"/>
                  </a:lnTo>
                  <a:lnTo>
                    <a:pt x="194" y="228"/>
                  </a:lnTo>
                  <a:close/>
                  <a:moveTo>
                    <a:pt x="158" y="228"/>
                  </a:moveTo>
                  <a:lnTo>
                    <a:pt x="167" y="228"/>
                  </a:lnTo>
                  <a:lnTo>
                    <a:pt x="170" y="228"/>
                  </a:lnTo>
                  <a:lnTo>
                    <a:pt x="173" y="230"/>
                  </a:lnTo>
                  <a:lnTo>
                    <a:pt x="173" y="233"/>
                  </a:lnTo>
                  <a:lnTo>
                    <a:pt x="173" y="240"/>
                  </a:lnTo>
                  <a:lnTo>
                    <a:pt x="173" y="243"/>
                  </a:lnTo>
                  <a:lnTo>
                    <a:pt x="170" y="245"/>
                  </a:lnTo>
                  <a:lnTo>
                    <a:pt x="167" y="246"/>
                  </a:lnTo>
                  <a:lnTo>
                    <a:pt x="158" y="246"/>
                  </a:lnTo>
                  <a:lnTo>
                    <a:pt x="154" y="245"/>
                  </a:lnTo>
                  <a:lnTo>
                    <a:pt x="153" y="243"/>
                  </a:lnTo>
                  <a:lnTo>
                    <a:pt x="151" y="240"/>
                  </a:lnTo>
                  <a:lnTo>
                    <a:pt x="151" y="233"/>
                  </a:lnTo>
                  <a:lnTo>
                    <a:pt x="153" y="230"/>
                  </a:lnTo>
                  <a:lnTo>
                    <a:pt x="154" y="228"/>
                  </a:lnTo>
                  <a:lnTo>
                    <a:pt x="158" y="228"/>
                  </a:lnTo>
                  <a:close/>
                  <a:moveTo>
                    <a:pt x="83" y="228"/>
                  </a:moveTo>
                  <a:lnTo>
                    <a:pt x="93" y="228"/>
                  </a:lnTo>
                  <a:lnTo>
                    <a:pt x="96" y="228"/>
                  </a:lnTo>
                  <a:lnTo>
                    <a:pt x="98" y="230"/>
                  </a:lnTo>
                  <a:lnTo>
                    <a:pt x="99" y="233"/>
                  </a:lnTo>
                  <a:lnTo>
                    <a:pt x="99" y="240"/>
                  </a:lnTo>
                  <a:lnTo>
                    <a:pt x="98" y="243"/>
                  </a:lnTo>
                  <a:lnTo>
                    <a:pt x="96" y="245"/>
                  </a:lnTo>
                  <a:lnTo>
                    <a:pt x="93" y="246"/>
                  </a:lnTo>
                  <a:lnTo>
                    <a:pt x="83" y="246"/>
                  </a:lnTo>
                  <a:lnTo>
                    <a:pt x="80" y="245"/>
                  </a:lnTo>
                  <a:lnTo>
                    <a:pt x="79" y="243"/>
                  </a:lnTo>
                  <a:lnTo>
                    <a:pt x="78" y="240"/>
                  </a:lnTo>
                  <a:lnTo>
                    <a:pt x="78" y="233"/>
                  </a:lnTo>
                  <a:lnTo>
                    <a:pt x="79" y="230"/>
                  </a:lnTo>
                  <a:lnTo>
                    <a:pt x="80" y="228"/>
                  </a:lnTo>
                  <a:lnTo>
                    <a:pt x="83" y="228"/>
                  </a:lnTo>
                  <a:close/>
                  <a:moveTo>
                    <a:pt x="241" y="158"/>
                  </a:moveTo>
                  <a:lnTo>
                    <a:pt x="243" y="160"/>
                  </a:lnTo>
                  <a:lnTo>
                    <a:pt x="246" y="161"/>
                  </a:lnTo>
                  <a:lnTo>
                    <a:pt x="246" y="164"/>
                  </a:lnTo>
                  <a:lnTo>
                    <a:pt x="246" y="167"/>
                  </a:lnTo>
                  <a:lnTo>
                    <a:pt x="243" y="170"/>
                  </a:lnTo>
                  <a:lnTo>
                    <a:pt x="241" y="171"/>
                  </a:lnTo>
                  <a:lnTo>
                    <a:pt x="83" y="171"/>
                  </a:lnTo>
                  <a:lnTo>
                    <a:pt x="80" y="170"/>
                  </a:lnTo>
                  <a:lnTo>
                    <a:pt x="79" y="167"/>
                  </a:lnTo>
                  <a:lnTo>
                    <a:pt x="78" y="164"/>
                  </a:lnTo>
                  <a:lnTo>
                    <a:pt x="79" y="161"/>
                  </a:lnTo>
                  <a:lnTo>
                    <a:pt x="80" y="160"/>
                  </a:lnTo>
                  <a:lnTo>
                    <a:pt x="83" y="158"/>
                  </a:lnTo>
                  <a:lnTo>
                    <a:pt x="241" y="158"/>
                  </a:lnTo>
                  <a:close/>
                  <a:moveTo>
                    <a:pt x="241" y="131"/>
                  </a:moveTo>
                  <a:lnTo>
                    <a:pt x="243" y="132"/>
                  </a:lnTo>
                  <a:lnTo>
                    <a:pt x="246" y="134"/>
                  </a:lnTo>
                  <a:lnTo>
                    <a:pt x="246" y="137"/>
                  </a:lnTo>
                  <a:lnTo>
                    <a:pt x="246" y="141"/>
                  </a:lnTo>
                  <a:lnTo>
                    <a:pt x="243" y="142"/>
                  </a:lnTo>
                  <a:lnTo>
                    <a:pt x="241" y="144"/>
                  </a:lnTo>
                  <a:lnTo>
                    <a:pt x="83" y="144"/>
                  </a:lnTo>
                  <a:lnTo>
                    <a:pt x="80" y="142"/>
                  </a:lnTo>
                  <a:lnTo>
                    <a:pt x="79" y="141"/>
                  </a:lnTo>
                  <a:lnTo>
                    <a:pt x="78" y="137"/>
                  </a:lnTo>
                  <a:lnTo>
                    <a:pt x="79" y="134"/>
                  </a:lnTo>
                  <a:lnTo>
                    <a:pt x="80" y="132"/>
                  </a:lnTo>
                  <a:lnTo>
                    <a:pt x="83" y="131"/>
                  </a:lnTo>
                  <a:lnTo>
                    <a:pt x="241" y="131"/>
                  </a:lnTo>
                  <a:close/>
                  <a:moveTo>
                    <a:pt x="241" y="103"/>
                  </a:moveTo>
                  <a:lnTo>
                    <a:pt x="243" y="105"/>
                  </a:lnTo>
                  <a:lnTo>
                    <a:pt x="246" y="106"/>
                  </a:lnTo>
                  <a:lnTo>
                    <a:pt x="246" y="109"/>
                  </a:lnTo>
                  <a:lnTo>
                    <a:pt x="246" y="114"/>
                  </a:lnTo>
                  <a:lnTo>
                    <a:pt x="243" y="115"/>
                  </a:lnTo>
                  <a:lnTo>
                    <a:pt x="241" y="116"/>
                  </a:lnTo>
                  <a:lnTo>
                    <a:pt x="83" y="116"/>
                  </a:lnTo>
                  <a:lnTo>
                    <a:pt x="80" y="115"/>
                  </a:lnTo>
                  <a:lnTo>
                    <a:pt x="79" y="114"/>
                  </a:lnTo>
                  <a:lnTo>
                    <a:pt x="78" y="109"/>
                  </a:lnTo>
                  <a:lnTo>
                    <a:pt x="79" y="106"/>
                  </a:lnTo>
                  <a:lnTo>
                    <a:pt x="80" y="105"/>
                  </a:lnTo>
                  <a:lnTo>
                    <a:pt x="83" y="103"/>
                  </a:lnTo>
                  <a:lnTo>
                    <a:pt x="241" y="103"/>
                  </a:lnTo>
                  <a:close/>
                  <a:moveTo>
                    <a:pt x="231" y="415"/>
                  </a:moveTo>
                  <a:lnTo>
                    <a:pt x="27" y="415"/>
                  </a:lnTo>
                  <a:lnTo>
                    <a:pt x="13" y="411"/>
                  </a:lnTo>
                  <a:lnTo>
                    <a:pt x="2" y="402"/>
                  </a:lnTo>
                  <a:lnTo>
                    <a:pt x="0" y="388"/>
                  </a:lnTo>
                  <a:lnTo>
                    <a:pt x="0" y="27"/>
                  </a:lnTo>
                  <a:lnTo>
                    <a:pt x="2" y="14"/>
                  </a:lnTo>
                  <a:lnTo>
                    <a:pt x="13" y="4"/>
                  </a:lnTo>
                  <a:lnTo>
                    <a:pt x="27" y="0"/>
                  </a:lnTo>
                  <a:lnTo>
                    <a:pt x="298" y="0"/>
                  </a:lnTo>
                  <a:lnTo>
                    <a:pt x="311" y="4"/>
                  </a:lnTo>
                  <a:lnTo>
                    <a:pt x="321" y="14"/>
                  </a:lnTo>
                  <a:lnTo>
                    <a:pt x="324" y="27"/>
                  </a:lnTo>
                  <a:lnTo>
                    <a:pt x="324" y="292"/>
                  </a:lnTo>
                  <a:lnTo>
                    <a:pt x="319" y="291"/>
                  </a:lnTo>
                  <a:lnTo>
                    <a:pt x="310" y="291"/>
                  </a:lnTo>
                  <a:lnTo>
                    <a:pt x="303" y="292"/>
                  </a:lnTo>
                  <a:lnTo>
                    <a:pt x="303" y="47"/>
                  </a:lnTo>
                  <a:lnTo>
                    <a:pt x="303" y="44"/>
                  </a:lnTo>
                  <a:lnTo>
                    <a:pt x="300" y="43"/>
                  </a:lnTo>
                  <a:lnTo>
                    <a:pt x="298" y="41"/>
                  </a:lnTo>
                  <a:lnTo>
                    <a:pt x="27" y="41"/>
                  </a:lnTo>
                  <a:lnTo>
                    <a:pt x="24" y="43"/>
                  </a:lnTo>
                  <a:lnTo>
                    <a:pt x="21" y="44"/>
                  </a:lnTo>
                  <a:lnTo>
                    <a:pt x="21" y="47"/>
                  </a:lnTo>
                  <a:lnTo>
                    <a:pt x="21" y="363"/>
                  </a:lnTo>
                  <a:lnTo>
                    <a:pt x="21" y="366"/>
                  </a:lnTo>
                  <a:lnTo>
                    <a:pt x="24" y="367"/>
                  </a:lnTo>
                  <a:lnTo>
                    <a:pt x="27" y="369"/>
                  </a:lnTo>
                  <a:lnTo>
                    <a:pt x="180" y="369"/>
                  </a:lnTo>
                  <a:lnTo>
                    <a:pt x="181" y="373"/>
                  </a:lnTo>
                  <a:lnTo>
                    <a:pt x="184" y="376"/>
                  </a:lnTo>
                  <a:lnTo>
                    <a:pt x="187" y="379"/>
                  </a:lnTo>
                  <a:lnTo>
                    <a:pt x="192" y="382"/>
                  </a:lnTo>
                  <a:lnTo>
                    <a:pt x="212" y="396"/>
                  </a:lnTo>
                  <a:lnTo>
                    <a:pt x="229" y="414"/>
                  </a:lnTo>
                  <a:lnTo>
                    <a:pt x="231" y="415"/>
                  </a:lnTo>
                  <a:close/>
                  <a:moveTo>
                    <a:pt x="205" y="277"/>
                  </a:moveTo>
                  <a:lnTo>
                    <a:pt x="203" y="271"/>
                  </a:lnTo>
                  <a:lnTo>
                    <a:pt x="203" y="266"/>
                  </a:lnTo>
                  <a:lnTo>
                    <a:pt x="206" y="262"/>
                  </a:lnTo>
                  <a:lnTo>
                    <a:pt x="207" y="259"/>
                  </a:lnTo>
                  <a:lnTo>
                    <a:pt x="212" y="256"/>
                  </a:lnTo>
                  <a:lnTo>
                    <a:pt x="216" y="255"/>
                  </a:lnTo>
                  <a:lnTo>
                    <a:pt x="220" y="255"/>
                  </a:lnTo>
                  <a:lnTo>
                    <a:pt x="225" y="256"/>
                  </a:lnTo>
                  <a:lnTo>
                    <a:pt x="229" y="259"/>
                  </a:lnTo>
                  <a:lnTo>
                    <a:pt x="232" y="264"/>
                  </a:lnTo>
                  <a:lnTo>
                    <a:pt x="254" y="316"/>
                  </a:lnTo>
                  <a:lnTo>
                    <a:pt x="255" y="313"/>
                  </a:lnTo>
                  <a:lnTo>
                    <a:pt x="259" y="310"/>
                  </a:lnTo>
                  <a:lnTo>
                    <a:pt x="262" y="308"/>
                  </a:lnTo>
                  <a:lnTo>
                    <a:pt x="268" y="308"/>
                  </a:lnTo>
                  <a:lnTo>
                    <a:pt x="272" y="310"/>
                  </a:lnTo>
                  <a:lnTo>
                    <a:pt x="277" y="313"/>
                  </a:lnTo>
                  <a:lnTo>
                    <a:pt x="280" y="310"/>
                  </a:lnTo>
                  <a:lnTo>
                    <a:pt x="282" y="308"/>
                  </a:lnTo>
                  <a:lnTo>
                    <a:pt x="285" y="307"/>
                  </a:lnTo>
                  <a:lnTo>
                    <a:pt x="291" y="307"/>
                  </a:lnTo>
                  <a:lnTo>
                    <a:pt x="295" y="308"/>
                  </a:lnTo>
                  <a:lnTo>
                    <a:pt x="300" y="311"/>
                  </a:lnTo>
                  <a:lnTo>
                    <a:pt x="303" y="308"/>
                  </a:lnTo>
                  <a:lnTo>
                    <a:pt x="304" y="307"/>
                  </a:lnTo>
                  <a:lnTo>
                    <a:pt x="310" y="304"/>
                  </a:lnTo>
                  <a:lnTo>
                    <a:pt x="314" y="304"/>
                  </a:lnTo>
                  <a:lnTo>
                    <a:pt x="319" y="305"/>
                  </a:lnTo>
                  <a:lnTo>
                    <a:pt x="321" y="307"/>
                  </a:lnTo>
                  <a:lnTo>
                    <a:pt x="324" y="311"/>
                  </a:lnTo>
                  <a:lnTo>
                    <a:pt x="336" y="333"/>
                  </a:lnTo>
                  <a:lnTo>
                    <a:pt x="343" y="356"/>
                  </a:lnTo>
                  <a:lnTo>
                    <a:pt x="347" y="380"/>
                  </a:lnTo>
                  <a:lnTo>
                    <a:pt x="350" y="405"/>
                  </a:lnTo>
                  <a:lnTo>
                    <a:pt x="342" y="414"/>
                  </a:lnTo>
                  <a:lnTo>
                    <a:pt x="327" y="422"/>
                  </a:lnTo>
                  <a:lnTo>
                    <a:pt x="307" y="430"/>
                  </a:lnTo>
                  <a:lnTo>
                    <a:pt x="285" y="434"/>
                  </a:lnTo>
                  <a:lnTo>
                    <a:pt x="264" y="435"/>
                  </a:lnTo>
                  <a:lnTo>
                    <a:pt x="254" y="421"/>
                  </a:lnTo>
                  <a:lnTo>
                    <a:pt x="239" y="404"/>
                  </a:lnTo>
                  <a:lnTo>
                    <a:pt x="220" y="386"/>
                  </a:lnTo>
                  <a:lnTo>
                    <a:pt x="197" y="369"/>
                  </a:lnTo>
                  <a:lnTo>
                    <a:pt x="193" y="367"/>
                  </a:lnTo>
                  <a:lnTo>
                    <a:pt x="192" y="363"/>
                  </a:lnTo>
                  <a:lnTo>
                    <a:pt x="190" y="359"/>
                  </a:lnTo>
                  <a:lnTo>
                    <a:pt x="190" y="354"/>
                  </a:lnTo>
                  <a:lnTo>
                    <a:pt x="192" y="350"/>
                  </a:lnTo>
                  <a:lnTo>
                    <a:pt x="194" y="346"/>
                  </a:lnTo>
                  <a:lnTo>
                    <a:pt x="197" y="343"/>
                  </a:lnTo>
                  <a:lnTo>
                    <a:pt x="202" y="342"/>
                  </a:lnTo>
                  <a:lnTo>
                    <a:pt x="206" y="342"/>
                  </a:lnTo>
                  <a:lnTo>
                    <a:pt x="210" y="343"/>
                  </a:lnTo>
                  <a:lnTo>
                    <a:pt x="226" y="352"/>
                  </a:lnTo>
                  <a:lnTo>
                    <a:pt x="238" y="362"/>
                  </a:lnTo>
                  <a:lnTo>
                    <a:pt x="232" y="343"/>
                  </a:lnTo>
                  <a:lnTo>
                    <a:pt x="219" y="310"/>
                  </a:lnTo>
                  <a:lnTo>
                    <a:pt x="205" y="277"/>
                  </a:lnTo>
                  <a:close/>
                  <a:moveTo>
                    <a:pt x="160" y="383"/>
                  </a:moveTo>
                  <a:lnTo>
                    <a:pt x="164" y="385"/>
                  </a:lnTo>
                  <a:lnTo>
                    <a:pt x="166" y="386"/>
                  </a:lnTo>
                  <a:lnTo>
                    <a:pt x="168" y="389"/>
                  </a:lnTo>
                  <a:lnTo>
                    <a:pt x="168" y="392"/>
                  </a:lnTo>
                  <a:lnTo>
                    <a:pt x="168" y="395"/>
                  </a:lnTo>
                  <a:lnTo>
                    <a:pt x="166" y="398"/>
                  </a:lnTo>
                  <a:lnTo>
                    <a:pt x="164" y="399"/>
                  </a:lnTo>
                  <a:lnTo>
                    <a:pt x="160" y="401"/>
                  </a:lnTo>
                  <a:lnTo>
                    <a:pt x="157" y="399"/>
                  </a:lnTo>
                  <a:lnTo>
                    <a:pt x="154" y="398"/>
                  </a:lnTo>
                  <a:lnTo>
                    <a:pt x="153" y="395"/>
                  </a:lnTo>
                  <a:lnTo>
                    <a:pt x="151" y="392"/>
                  </a:lnTo>
                  <a:lnTo>
                    <a:pt x="153" y="389"/>
                  </a:lnTo>
                  <a:lnTo>
                    <a:pt x="154" y="386"/>
                  </a:lnTo>
                  <a:lnTo>
                    <a:pt x="157" y="385"/>
                  </a:lnTo>
                  <a:lnTo>
                    <a:pt x="160" y="383"/>
                  </a:lnTo>
                  <a:close/>
                </a:path>
              </a:pathLst>
            </a:custGeom>
            <a:solidFill>
              <a:srgbClr val="FFE600"/>
            </a:solidFill>
            <a:ln>
              <a:solidFill>
                <a:srgbClr val="FFE600"/>
              </a:solidFill>
            </a:ln>
          </p:spPr>
          <p:txBody>
            <a:bodyPr vert="horz" wrap="square" lIns="91440" tIns="45720" rIns="91440" bIns="45720" anchor="t"/>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000" b="0" i="0" u="none" strike="noStrike" kern="0" cap="none" spc="0" normalizeH="0" baseline="0" noProof="0">
                <a:ln>
                  <a:noFill/>
                </a:ln>
                <a:solidFill>
                  <a:schemeClr val="bg1"/>
                </a:solidFill>
                <a:effectLst/>
                <a:uLnTx/>
                <a:uFillTx/>
                <a:latin typeface="EY interstate"/>
              </a:endParaRPr>
            </a:p>
          </p:txBody>
        </p:sp>
        <p:sp>
          <p:nvSpPr>
            <p:cNvPr id="63" name="Rectangle 62">
              <a:extLst>
                <a:ext uri="{FF2B5EF4-FFF2-40B4-BE49-F238E27FC236}">
                  <a16:creationId xmlns:a16="http://schemas.microsoft.com/office/drawing/2014/main" id="{BE58F537-2498-8A17-EACB-06067D0CFE36}"/>
                </a:ext>
              </a:extLst>
            </p:cNvPr>
            <p:cNvSpPr/>
            <p:nvPr/>
          </p:nvSpPr>
          <p:spPr>
            <a:xfrm>
              <a:off x="150413" y="3688607"/>
              <a:ext cx="548640" cy="302531"/>
            </a:xfrm>
            <a:prstGeom prst="rect">
              <a:avLst/>
            </a:prstGeom>
            <a:noFill/>
            <a:ln w="9525" cap="flat" cmpd="sng" algn="ctr">
              <a:solidFill>
                <a:srgbClr val="FFE600"/>
              </a:solidFill>
              <a:prstDash val="solid"/>
            </a:ln>
            <a:effectLst/>
          </p:spPr>
          <p:txBody>
            <a:bodyPr lIns="18288" tIns="45720" rIns="18288" bIns="45720" rtlCol="0" anchor="ctr" anchorCtr="0"/>
            <a:lstStyle/>
            <a:p>
              <a:pPr marL="0" marR="0" lvl="0" indent="0" algn="ctr" defTabSz="914400" eaLnBrk="1" fontAlgn="auto" latinLnBrk="0" hangingPunct="1">
                <a:lnSpc>
                  <a:spcPct val="100000"/>
                </a:lnSpc>
                <a:spcBef>
                  <a:spcPts val="0"/>
                </a:spcBef>
                <a:spcAft>
                  <a:spcPts val="400"/>
                </a:spcAft>
                <a:buClr>
                  <a:srgbClr val="FFD200"/>
                </a:buClr>
                <a:buSzPct val="70000"/>
                <a:buFontTx/>
                <a:buNone/>
                <a:tabLst/>
                <a:defRPr/>
              </a:pPr>
              <a:r>
                <a:rPr kumimoji="0" lang="en-US" sz="1000" b="1" i="0" u="none" strike="noStrike" kern="0" cap="none" spc="0" normalizeH="0" baseline="0" noProof="0">
                  <a:ln>
                    <a:noFill/>
                  </a:ln>
                  <a:solidFill>
                    <a:schemeClr val="bg1"/>
                  </a:solidFill>
                  <a:effectLst/>
                  <a:uLnTx/>
                  <a:uFillTx/>
                  <a:latin typeface="EY interstate"/>
                </a:rPr>
                <a:t>Tech &amp; Data</a:t>
              </a:r>
            </a:p>
          </p:txBody>
        </p:sp>
      </p:grpSp>
      <p:cxnSp>
        <p:nvCxnSpPr>
          <p:cNvPr id="64" name="Straight Connector 63">
            <a:extLst>
              <a:ext uri="{FF2B5EF4-FFF2-40B4-BE49-F238E27FC236}">
                <a16:creationId xmlns:a16="http://schemas.microsoft.com/office/drawing/2014/main" id="{B3B2FB4A-0386-9F69-595B-2F0056E4F273}"/>
              </a:ext>
            </a:extLst>
          </p:cNvPr>
          <p:cNvCxnSpPr>
            <a:cxnSpLocks/>
          </p:cNvCxnSpPr>
          <p:nvPr/>
        </p:nvCxnSpPr>
        <p:spPr>
          <a:xfrm flipH="1">
            <a:off x="1094575" y="1149579"/>
            <a:ext cx="29036" cy="5335457"/>
          </a:xfrm>
          <a:prstGeom prst="line">
            <a:avLst/>
          </a:prstGeom>
          <a:noFill/>
          <a:ln w="9525" cap="flat" cmpd="sng" algn="ctr">
            <a:solidFill>
              <a:schemeClr val="bg1"/>
            </a:solidFill>
            <a:prstDash val="dash"/>
            <a:tailEnd type="none"/>
          </a:ln>
          <a:effectLst/>
        </p:spPr>
      </p:cxnSp>
      <p:cxnSp>
        <p:nvCxnSpPr>
          <p:cNvPr id="65" name="Straight Connector 64">
            <a:extLst>
              <a:ext uri="{FF2B5EF4-FFF2-40B4-BE49-F238E27FC236}">
                <a16:creationId xmlns:a16="http://schemas.microsoft.com/office/drawing/2014/main" id="{F4C24DE5-63D0-6D4A-8AC8-51324C7FC92D}"/>
              </a:ext>
            </a:extLst>
          </p:cNvPr>
          <p:cNvCxnSpPr/>
          <p:nvPr/>
        </p:nvCxnSpPr>
        <p:spPr>
          <a:xfrm>
            <a:off x="562302" y="1921907"/>
            <a:ext cx="10972800" cy="0"/>
          </a:xfrm>
          <a:prstGeom prst="line">
            <a:avLst/>
          </a:prstGeom>
          <a:noFill/>
          <a:ln w="9525" cap="flat" cmpd="sng" algn="ctr">
            <a:solidFill>
              <a:schemeClr val="bg1"/>
            </a:solidFill>
            <a:prstDash val="dash"/>
            <a:tailEnd type="none"/>
          </a:ln>
          <a:effectLst/>
        </p:spPr>
      </p:cxnSp>
      <p:cxnSp>
        <p:nvCxnSpPr>
          <p:cNvPr id="66" name="Straight Connector 65">
            <a:extLst>
              <a:ext uri="{FF2B5EF4-FFF2-40B4-BE49-F238E27FC236}">
                <a16:creationId xmlns:a16="http://schemas.microsoft.com/office/drawing/2014/main" id="{EF4457D1-8E28-4207-B161-FA17851F4120}"/>
              </a:ext>
            </a:extLst>
          </p:cNvPr>
          <p:cNvCxnSpPr/>
          <p:nvPr/>
        </p:nvCxnSpPr>
        <p:spPr>
          <a:xfrm>
            <a:off x="586787" y="2898926"/>
            <a:ext cx="10972800" cy="0"/>
          </a:xfrm>
          <a:prstGeom prst="line">
            <a:avLst/>
          </a:prstGeom>
          <a:noFill/>
          <a:ln w="9525" cap="flat" cmpd="sng" algn="ctr">
            <a:solidFill>
              <a:schemeClr val="bg1"/>
            </a:solidFill>
            <a:prstDash val="dash"/>
            <a:tailEnd type="none"/>
          </a:ln>
          <a:effectLst/>
        </p:spPr>
      </p:cxnSp>
      <p:cxnSp>
        <p:nvCxnSpPr>
          <p:cNvPr id="67" name="Straight Connector 66">
            <a:extLst>
              <a:ext uri="{FF2B5EF4-FFF2-40B4-BE49-F238E27FC236}">
                <a16:creationId xmlns:a16="http://schemas.microsoft.com/office/drawing/2014/main" id="{1E6AE0D5-9DA3-8EA4-FAC3-F06B2F44FBDE}"/>
              </a:ext>
            </a:extLst>
          </p:cNvPr>
          <p:cNvCxnSpPr/>
          <p:nvPr/>
        </p:nvCxnSpPr>
        <p:spPr>
          <a:xfrm>
            <a:off x="586787" y="4193024"/>
            <a:ext cx="10972800" cy="0"/>
          </a:xfrm>
          <a:prstGeom prst="line">
            <a:avLst/>
          </a:prstGeom>
          <a:noFill/>
          <a:ln w="9525" cap="flat" cmpd="sng" algn="ctr">
            <a:solidFill>
              <a:schemeClr val="bg1"/>
            </a:solidFill>
            <a:prstDash val="dash"/>
            <a:tailEnd type="none"/>
          </a:ln>
          <a:effectLst/>
        </p:spPr>
      </p:cxnSp>
      <p:cxnSp>
        <p:nvCxnSpPr>
          <p:cNvPr id="68" name="Straight Connector 67">
            <a:extLst>
              <a:ext uri="{FF2B5EF4-FFF2-40B4-BE49-F238E27FC236}">
                <a16:creationId xmlns:a16="http://schemas.microsoft.com/office/drawing/2014/main" id="{35AA79CF-D32A-8930-3ABF-FAC969AF8339}"/>
              </a:ext>
            </a:extLst>
          </p:cNvPr>
          <p:cNvCxnSpPr/>
          <p:nvPr/>
        </p:nvCxnSpPr>
        <p:spPr>
          <a:xfrm>
            <a:off x="545935" y="1135724"/>
            <a:ext cx="10972800" cy="0"/>
          </a:xfrm>
          <a:prstGeom prst="line">
            <a:avLst/>
          </a:prstGeom>
          <a:noFill/>
          <a:ln w="9525" cap="flat" cmpd="sng" algn="ctr">
            <a:solidFill>
              <a:schemeClr val="bg1"/>
            </a:solidFill>
            <a:prstDash val="dash"/>
            <a:tailEnd type="none"/>
          </a:ln>
          <a:effectLst/>
        </p:spPr>
      </p:cxnSp>
      <p:cxnSp>
        <p:nvCxnSpPr>
          <p:cNvPr id="69" name="Straight Connector 68">
            <a:extLst>
              <a:ext uri="{FF2B5EF4-FFF2-40B4-BE49-F238E27FC236}">
                <a16:creationId xmlns:a16="http://schemas.microsoft.com/office/drawing/2014/main" id="{0287E5CA-08CB-448B-250C-F50956E497B2}"/>
              </a:ext>
            </a:extLst>
          </p:cNvPr>
          <p:cNvCxnSpPr>
            <a:cxnSpLocks/>
          </p:cNvCxnSpPr>
          <p:nvPr/>
        </p:nvCxnSpPr>
        <p:spPr>
          <a:xfrm flipH="1">
            <a:off x="4581466" y="1149579"/>
            <a:ext cx="18770" cy="5335457"/>
          </a:xfrm>
          <a:prstGeom prst="line">
            <a:avLst/>
          </a:prstGeom>
          <a:noFill/>
          <a:ln w="9525" cap="flat" cmpd="sng" algn="ctr">
            <a:solidFill>
              <a:schemeClr val="bg1"/>
            </a:solidFill>
            <a:prstDash val="dash"/>
            <a:tailEnd type="none"/>
          </a:ln>
          <a:effectLst/>
        </p:spPr>
      </p:cxnSp>
      <p:cxnSp>
        <p:nvCxnSpPr>
          <p:cNvPr id="70" name="Straight Connector 69">
            <a:extLst>
              <a:ext uri="{FF2B5EF4-FFF2-40B4-BE49-F238E27FC236}">
                <a16:creationId xmlns:a16="http://schemas.microsoft.com/office/drawing/2014/main" id="{11F279EB-8FD8-3213-EF92-2AB579FCAD20}"/>
              </a:ext>
            </a:extLst>
          </p:cNvPr>
          <p:cNvCxnSpPr>
            <a:cxnSpLocks/>
          </p:cNvCxnSpPr>
          <p:nvPr/>
        </p:nvCxnSpPr>
        <p:spPr>
          <a:xfrm flipH="1">
            <a:off x="8061089" y="1149579"/>
            <a:ext cx="4446" cy="5335457"/>
          </a:xfrm>
          <a:prstGeom prst="line">
            <a:avLst/>
          </a:prstGeom>
          <a:noFill/>
          <a:ln w="9525" cap="flat" cmpd="sng" algn="ctr">
            <a:solidFill>
              <a:schemeClr val="bg1"/>
            </a:solidFill>
            <a:prstDash val="dash"/>
            <a:tailEnd type="none"/>
          </a:ln>
          <a:effectLst/>
        </p:spPr>
      </p:cxnSp>
      <p:sp>
        <p:nvSpPr>
          <p:cNvPr id="71" name="Rectangle 70">
            <a:extLst>
              <a:ext uri="{FF2B5EF4-FFF2-40B4-BE49-F238E27FC236}">
                <a16:creationId xmlns:a16="http://schemas.microsoft.com/office/drawing/2014/main" id="{8CE01E17-EC50-A9E9-2344-18F0CA5D93C0}"/>
              </a:ext>
            </a:extLst>
          </p:cNvPr>
          <p:cNvSpPr/>
          <p:nvPr/>
        </p:nvSpPr>
        <p:spPr>
          <a:xfrm>
            <a:off x="1196445" y="4249416"/>
            <a:ext cx="3383280" cy="1958528"/>
          </a:xfrm>
          <a:prstGeom prst="rect">
            <a:avLst/>
          </a:prstGeom>
          <a:noFill/>
          <a:ln w="9525" cap="flat" cmpd="sng" algn="ctr">
            <a:noFill/>
            <a:prstDash val="solid"/>
          </a:ln>
          <a:effectLst/>
        </p:spPr>
        <p:txBody>
          <a:bodyPr tIns="45720" bIns="45720" rtlCol="0" anchor="t" anchorCtr="0"/>
          <a:lstStyle/>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Manually and inconsistent</a:t>
            </a:r>
          </a:p>
          <a:p>
            <a:pPr marL="229870" indent="-229870">
              <a:spcAft>
                <a:spcPts val="400"/>
              </a:spcAft>
              <a:buClr>
                <a:srgbClr val="FFE600"/>
              </a:buClr>
              <a:buSzPct val="70000"/>
              <a:buFont typeface="Arial" panose="020B0604020202020204" pitchFamily="34" charset="0"/>
              <a:buChar char="►"/>
              <a:defRPr/>
            </a:pPr>
            <a:r>
              <a:rPr lang="en-US" sz="1000">
                <a:solidFill>
                  <a:schemeClr val="bg1"/>
                </a:solidFill>
                <a:latin typeface="EY interstate"/>
                <a:cs typeface="Arial" panose="020B0604020202020204" pitchFamily="34" charset="0"/>
              </a:rPr>
              <a:t>P</a:t>
            </a:r>
            <a:r>
              <a:rPr kumimoji="0" lang="en-US" sz="1000" b="0" i="0" u="none" strike="noStrike" kern="1200" cap="none" spc="0" normalizeH="0" baseline="0" noProof="0" err="1">
                <a:ln>
                  <a:noFill/>
                </a:ln>
                <a:solidFill>
                  <a:schemeClr val="bg1"/>
                </a:solidFill>
                <a:effectLst/>
                <a:uLnTx/>
                <a:uFillTx/>
                <a:latin typeface="EY interstate"/>
                <a:cs typeface="Arial" panose="020B0604020202020204" pitchFamily="34" charset="0"/>
              </a:rPr>
              <a:t>rone</a:t>
            </a: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 to errors due to manual intervention.</a:t>
            </a:r>
          </a:p>
          <a:p>
            <a:pPr marL="229870" indent="-229870">
              <a:spcAft>
                <a:spcPts val="400"/>
              </a:spcAft>
              <a:buClr>
                <a:srgbClr val="FFE600"/>
              </a:buClr>
              <a:buSzPct val="70000"/>
              <a:buFont typeface="Arial" panose="020B0604020202020204" pitchFamily="34" charset="0"/>
              <a:buChar char="►"/>
              <a:defRP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Performed on ad hoc, irregular base</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Most activity pushed to month-end</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Mapping of intercompany accounting performed at period-end</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Revaluation calculations are changed frequently and manually</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Allocations calculated off-line and posted manually</a:t>
            </a:r>
          </a:p>
          <a:p>
            <a:pPr marL="229870" indent="-229870">
              <a:spcAft>
                <a:spcPts val="400"/>
              </a:spcAft>
              <a:buClr>
                <a:srgbClr val="FFE600"/>
              </a:buClr>
              <a:buSzPct val="70000"/>
              <a:buFont typeface="Arial" panose="020B0604020202020204" pitchFamily="34" charset="0"/>
              <a:buChar char="►"/>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p:txBody>
      </p:sp>
      <p:sp>
        <p:nvSpPr>
          <p:cNvPr id="72" name="Rectangle 71">
            <a:extLst>
              <a:ext uri="{FF2B5EF4-FFF2-40B4-BE49-F238E27FC236}">
                <a16:creationId xmlns:a16="http://schemas.microsoft.com/office/drawing/2014/main" id="{F4F47F43-95DC-89F4-3B7C-244FEC8B2910}"/>
              </a:ext>
            </a:extLst>
          </p:cNvPr>
          <p:cNvSpPr/>
          <p:nvPr/>
        </p:nvSpPr>
        <p:spPr>
          <a:xfrm>
            <a:off x="4646908" y="4217046"/>
            <a:ext cx="3383280" cy="1990898"/>
          </a:xfrm>
          <a:prstGeom prst="rect">
            <a:avLst/>
          </a:prstGeom>
          <a:noFill/>
          <a:ln w="9525" cap="flat" cmpd="sng" algn="ctr">
            <a:noFill/>
            <a:prstDash val="solid"/>
          </a:ln>
          <a:effectLst/>
        </p:spPr>
        <p:txBody>
          <a:bodyPr tIns="45720" bIns="45720" rtlCol="0" anchor="t" anchorCtr="0"/>
          <a:lstStyle/>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Consistent, but ineffective across organization</a:t>
            </a:r>
          </a:p>
          <a:p>
            <a:pPr marL="229870" indent="-229870">
              <a:spcAft>
                <a:spcPts val="400"/>
              </a:spcAft>
              <a:buClr>
                <a:srgbClr val="FFE600"/>
              </a:buClr>
              <a:buSzPct val="70000"/>
              <a:buFont typeface="Arial" panose="020B0604020202020204" pitchFamily="34" charset="0"/>
              <a:buChar char="►"/>
              <a:defRPr/>
            </a:pP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Spreadsheet and/or manual uploads with some, inconsistent automation</a:t>
            </a:r>
          </a:p>
          <a:p>
            <a:pPr marL="229870" indent="-229870">
              <a:spcAft>
                <a:spcPts val="400"/>
              </a:spcAft>
              <a:buClr>
                <a:srgbClr val="FFE600"/>
              </a:buClr>
              <a:buSzPct val="70000"/>
              <a:buFont typeface="Arial" panose="020B0604020202020204" pitchFamily="34" charset="0"/>
              <a:buChar char="►"/>
              <a:defRP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Multiple repeats of intercompany clearing occur </a:t>
            </a: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throughout</a:t>
            </a: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 the period</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Significant activity performed during the close </a:t>
            </a:r>
            <a:endParaRPr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Processing activity is streamlined during the month</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Allocations calculated differently across business units and corporate</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Revaluations (G/L)  calculation automated offline</a:t>
            </a:r>
            <a:endPar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chemeClr val="tx1"/>
              </a:buClr>
              <a:buSzPct val="70000"/>
              <a:buFont typeface="Arial" panose="020B0604020202020204" pitchFamily="34" charset="0"/>
              <a:buChar char="►"/>
              <a:tabLst/>
              <a:defRPr/>
            </a:pPr>
            <a:endParaRPr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indent="-229870">
              <a:spcAft>
                <a:spcPts val="400"/>
              </a:spcAft>
              <a:buClr>
                <a:schemeClr val="tx1"/>
              </a:buClr>
              <a:buSzPct val="70000"/>
              <a:buFont typeface="Arial" panose="020B0604020202020204" pitchFamily="34" charset="0"/>
              <a:buChar char="►"/>
              <a:defRPr/>
            </a:pPr>
            <a:endPar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indent="-229870">
              <a:spcAft>
                <a:spcPts val="400"/>
              </a:spcAft>
              <a:buClr>
                <a:schemeClr val="tx1"/>
              </a:buClr>
              <a:buSzPct val="70000"/>
              <a:buFont typeface="Arial" panose="020B0604020202020204" pitchFamily="34" charset="0"/>
              <a:buChar char="►"/>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chemeClr val="tx1"/>
              </a:buClr>
              <a:buSzPct val="70000"/>
              <a:buFont typeface="Arial" panose="020B0604020202020204" pitchFamily="34" charset="0"/>
              <a:buChar char="►"/>
              <a:tabLst/>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p:txBody>
      </p:sp>
      <p:sp>
        <p:nvSpPr>
          <p:cNvPr id="73" name="Rectangle 72">
            <a:extLst>
              <a:ext uri="{FF2B5EF4-FFF2-40B4-BE49-F238E27FC236}">
                <a16:creationId xmlns:a16="http://schemas.microsoft.com/office/drawing/2014/main" id="{278DD542-54DF-01C0-499B-91580098EB8E}"/>
              </a:ext>
            </a:extLst>
          </p:cNvPr>
          <p:cNvSpPr/>
          <p:nvPr/>
        </p:nvSpPr>
        <p:spPr>
          <a:xfrm>
            <a:off x="8085574" y="4217046"/>
            <a:ext cx="3383280" cy="2372966"/>
          </a:xfrm>
          <a:prstGeom prst="rect">
            <a:avLst/>
          </a:prstGeom>
          <a:noFill/>
          <a:ln w="9525" cap="flat" cmpd="sng" algn="ctr">
            <a:noFill/>
            <a:prstDash val="solid"/>
          </a:ln>
          <a:effectLst/>
        </p:spPr>
        <p:txBody>
          <a:bodyPr tIns="45720" bIns="45720" rtlCol="0" anchor="t" anchorCtr="0"/>
          <a:lstStyle/>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Automated system across organization</a:t>
            </a:r>
          </a:p>
          <a:p>
            <a:pPr marL="229870" indent="-229870">
              <a:spcAft>
                <a:spcPts val="400"/>
              </a:spcAft>
              <a:buClr>
                <a:srgbClr val="FFE600"/>
              </a:buClr>
              <a:buSzPct val="70000"/>
              <a:buFont typeface="Arial" panose="020B0604020202020204" pitchFamily="34" charset="0"/>
              <a:buChar char="►"/>
              <a:defRPr/>
            </a:pP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Highly automated with minimal intervention and minimal spreadsheet use</a:t>
            </a:r>
          </a:p>
          <a:p>
            <a:pPr marL="229870" indent="-229870">
              <a:spcAft>
                <a:spcPts val="400"/>
              </a:spcAft>
              <a:buClr>
                <a:srgbClr val="FFE600"/>
              </a:buClr>
              <a:buSzPct val="70000"/>
              <a:buFont typeface="Arial" panose="020B0604020202020204" pitchFamily="34" charset="0"/>
              <a:buChar char="►"/>
              <a:defRP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Automated intercompany clearing </a:t>
            </a:r>
          </a:p>
          <a:p>
            <a:pPr marL="229870" indent="-229870">
              <a:spcAft>
                <a:spcPts val="400"/>
              </a:spcAft>
              <a:buClr>
                <a:srgbClr val="FFE600"/>
              </a:buClr>
              <a:buSzPct val="70000"/>
              <a:buFont typeface="Arial" panose="020B0604020202020204" pitchFamily="34" charset="0"/>
              <a:buChar cha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Automated postings simultaneously to receivables/payables side</a:t>
            </a:r>
          </a:p>
          <a:p>
            <a:pPr marL="229870" indent="-229870">
              <a:spcAft>
                <a:spcPts val="400"/>
              </a:spcAft>
              <a:buClr>
                <a:srgbClr val="FFE600"/>
              </a:buClr>
              <a:buSzPct val="70000"/>
              <a:buFont typeface="Arial" panose="020B0604020202020204" pitchFamily="34" charset="0"/>
              <a:buChar char="►"/>
            </a:pPr>
            <a:r>
              <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rPr>
              <a:t>Intercompany clearing performed intra-month</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Efficient transfer of intercompany documentation</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Revaluations (G/L) calculations and posting handled automatically via application functionality</a:t>
            </a:r>
          </a:p>
          <a:p>
            <a:pPr marL="229870" marR="0" lvl="0" indent="-229870" algn="l" defTabSz="914400" rtl="0" eaLnBrk="1" fontAlgn="auto" latinLnBrk="0" hangingPunct="1">
              <a:lnSpc>
                <a:spcPct val="100000"/>
              </a:lnSpc>
              <a:spcBef>
                <a:spcPts val="0"/>
              </a:spcBef>
              <a:spcAft>
                <a:spcPts val="400"/>
              </a:spcAft>
              <a:buClr>
                <a:srgbClr val="FFE600"/>
              </a:buClr>
              <a:buSzPct val="70000"/>
              <a:buFont typeface="Arial" panose="020B0604020202020204" pitchFamily="34" charset="0"/>
              <a:buChar char="►"/>
              <a:tabLst/>
              <a:defRPr/>
            </a:pPr>
            <a:r>
              <a:rPr lang="en-US" sz="1000" b="0" i="0" u="none" strike="noStrike" kern="1200" cap="none" spc="0" normalizeH="0" baseline="0">
                <a:ln>
                  <a:noFill/>
                </a:ln>
                <a:solidFill>
                  <a:schemeClr val="bg1"/>
                </a:solidFill>
                <a:effectLst/>
                <a:uLnTx/>
                <a:uFillTx/>
                <a:latin typeface="EY interstate"/>
                <a:cs typeface="Arial" panose="020B0604020202020204" pitchFamily="34" charset="0"/>
              </a:rPr>
              <a:t>All enterprise statutory allocations processed simultaneously via enterprise allocations tool </a:t>
            </a:r>
          </a:p>
          <a:p>
            <a:pPr marL="229870" indent="-229870">
              <a:spcAft>
                <a:spcPts val="400"/>
              </a:spcAft>
              <a:buClr>
                <a:srgbClr val="FFE600"/>
              </a:buClr>
              <a:buSzPct val="70000"/>
              <a:buFont typeface="Arial" panose="020B0604020202020204" pitchFamily="34" charset="0"/>
              <a:buChar char="►"/>
            </a:pPr>
            <a:endPar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indent="-229870">
              <a:spcAft>
                <a:spcPts val="400"/>
              </a:spcAft>
              <a:buClr>
                <a:schemeClr val="tx1"/>
              </a:buClr>
              <a:buSzPct val="70000"/>
              <a:buFont typeface="Arial" panose="020B0604020202020204" pitchFamily="34" charset="0"/>
              <a:buChar char="►"/>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chemeClr val="tx1"/>
              </a:buClr>
              <a:buSzPct val="70000"/>
              <a:buFont typeface="Arial" panose="020B0604020202020204" pitchFamily="34" charset="0"/>
              <a:buChar char="►"/>
              <a:tabLst/>
              <a:defRPr/>
            </a:pPr>
            <a:endParaRPr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indent="-229870">
              <a:spcAft>
                <a:spcPts val="400"/>
              </a:spcAft>
              <a:buClr>
                <a:schemeClr val="tx1"/>
              </a:buClr>
              <a:buSzPct val="70000"/>
              <a:buFont typeface="Arial" panose="020B0604020202020204" pitchFamily="34" charset="0"/>
              <a:buChar char="►"/>
              <a:defRPr/>
            </a:pPr>
            <a:endPar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chemeClr val="tx1"/>
              </a:buClr>
              <a:buSzPct val="70000"/>
              <a:buFont typeface="Arial" panose="020B0604020202020204" pitchFamily="34" charset="0"/>
              <a:buChar char="►"/>
              <a:tabLst/>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chemeClr val="tx1"/>
              </a:buClr>
              <a:buSzPct val="70000"/>
              <a:buFont typeface="Arial" panose="020B0604020202020204" pitchFamily="34" charset="0"/>
              <a:buChar char="►"/>
              <a:tabLst/>
              <a:defRPr/>
            </a:pPr>
            <a:endParaRPr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indent="-229870">
              <a:spcAft>
                <a:spcPts val="400"/>
              </a:spcAft>
              <a:buClr>
                <a:schemeClr val="tx1"/>
              </a:buClr>
              <a:buSzPct val="70000"/>
              <a:buFont typeface="Arial" panose="020B0604020202020204" pitchFamily="34" charset="0"/>
              <a:buChar char="►"/>
              <a:defRPr/>
            </a:pPr>
            <a:endParaRPr kumimoji="0" lang="en-US" sz="1000" b="0" i="0" u="none" strike="noStrike" kern="1200" cap="none" spc="0" normalizeH="0" baseline="0">
              <a:ln>
                <a:noFill/>
              </a:ln>
              <a:solidFill>
                <a:schemeClr val="bg1"/>
              </a:solidFill>
              <a:effectLst/>
              <a:uLnTx/>
              <a:uFillTx/>
              <a:latin typeface="EY interstate"/>
              <a:cs typeface="Arial" panose="020B0604020202020204" pitchFamily="34" charset="0"/>
            </a:endParaRPr>
          </a:p>
          <a:p>
            <a:pPr marL="229870" indent="-229870">
              <a:spcAft>
                <a:spcPts val="400"/>
              </a:spcAft>
              <a:buClr>
                <a:schemeClr val="tx1"/>
              </a:buClr>
              <a:buSzPct val="70000"/>
              <a:buFont typeface="Arial" panose="020B0604020202020204" pitchFamily="34" charset="0"/>
              <a:buChar char="►"/>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a:p>
            <a:pPr marL="229870" marR="0" lvl="0" indent="-229870" algn="l" defTabSz="914400" rtl="0" eaLnBrk="1" fontAlgn="auto" latinLnBrk="0" hangingPunct="1">
              <a:lnSpc>
                <a:spcPct val="100000"/>
              </a:lnSpc>
              <a:spcBef>
                <a:spcPts val="0"/>
              </a:spcBef>
              <a:spcAft>
                <a:spcPts val="400"/>
              </a:spcAft>
              <a:buClr>
                <a:schemeClr val="tx1"/>
              </a:buClr>
              <a:buSzPct val="70000"/>
              <a:buFont typeface="Arial" panose="020B0604020202020204" pitchFamily="34" charset="0"/>
              <a:buChar char="►"/>
              <a:tabLst/>
              <a:defRPr/>
            </a:pPr>
            <a:endPar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endParaRPr>
          </a:p>
        </p:txBody>
      </p:sp>
      <p:grpSp>
        <p:nvGrpSpPr>
          <p:cNvPr id="74" name="Group 73">
            <a:extLst>
              <a:ext uri="{FF2B5EF4-FFF2-40B4-BE49-F238E27FC236}">
                <a16:creationId xmlns:a16="http://schemas.microsoft.com/office/drawing/2014/main" id="{709064A3-6CF7-19E4-C45C-FD1DF42D1E00}"/>
              </a:ext>
            </a:extLst>
          </p:cNvPr>
          <p:cNvGrpSpPr/>
          <p:nvPr/>
        </p:nvGrpSpPr>
        <p:grpSpPr>
          <a:xfrm>
            <a:off x="543724" y="4640577"/>
            <a:ext cx="548640" cy="615431"/>
            <a:chOff x="158355" y="3240182"/>
            <a:chExt cx="548640" cy="615431"/>
          </a:xfrm>
          <a:solidFill>
            <a:srgbClr val="008080"/>
          </a:solidFill>
        </p:grpSpPr>
        <p:grpSp>
          <p:nvGrpSpPr>
            <p:cNvPr id="75" name="Group 74">
              <a:extLst>
                <a:ext uri="{FF2B5EF4-FFF2-40B4-BE49-F238E27FC236}">
                  <a16:creationId xmlns:a16="http://schemas.microsoft.com/office/drawing/2014/main" id="{F94EB6C4-246A-EFA9-6D2A-E9811D676706}"/>
                </a:ext>
              </a:extLst>
            </p:cNvPr>
            <p:cNvGrpSpPr>
              <a:grpSpLocks noChangeAspect="1"/>
            </p:cNvGrpSpPr>
            <p:nvPr/>
          </p:nvGrpSpPr>
          <p:grpSpPr bwMode="auto">
            <a:xfrm>
              <a:off x="203630" y="3240182"/>
              <a:ext cx="442206" cy="396594"/>
              <a:chOff x="1994534" y="4057927"/>
              <a:chExt cx="747439" cy="654868"/>
            </a:xfrm>
            <a:grpFill/>
          </p:grpSpPr>
          <p:sp>
            <p:nvSpPr>
              <p:cNvPr id="77" name="Freeform 59">
                <a:extLst>
                  <a:ext uri="{FF2B5EF4-FFF2-40B4-BE49-F238E27FC236}">
                    <a16:creationId xmlns:a16="http://schemas.microsoft.com/office/drawing/2014/main" id="{E0DD2ECF-82C4-7027-0257-1E9C30588FD2}"/>
                  </a:ext>
                </a:extLst>
              </p:cNvPr>
              <p:cNvSpPr>
                <a:spLocks noEditPoints="1"/>
              </p:cNvSpPr>
              <p:nvPr/>
            </p:nvSpPr>
            <p:spPr bwMode="auto">
              <a:xfrm>
                <a:off x="1994534" y="4057927"/>
                <a:ext cx="747439" cy="654868"/>
              </a:xfrm>
              <a:custGeom>
                <a:avLst/>
                <a:gdLst>
                  <a:gd name="T0" fmla="*/ 2147483647 w 436"/>
                  <a:gd name="T1" fmla="*/ 2147483647 h 382"/>
                  <a:gd name="T2" fmla="*/ 2147483647 w 436"/>
                  <a:gd name="T3" fmla="*/ 2147483647 h 382"/>
                  <a:gd name="T4" fmla="*/ 2147483647 w 436"/>
                  <a:gd name="T5" fmla="*/ 2147483647 h 382"/>
                  <a:gd name="T6" fmla="*/ 2147483647 w 436"/>
                  <a:gd name="T7" fmla="*/ 2147483647 h 382"/>
                  <a:gd name="T8" fmla="*/ 2147483647 w 436"/>
                  <a:gd name="T9" fmla="*/ 2147483647 h 382"/>
                  <a:gd name="T10" fmla="*/ 2147483647 w 436"/>
                  <a:gd name="T11" fmla="*/ 2147483647 h 382"/>
                  <a:gd name="T12" fmla="*/ 2147483647 w 436"/>
                  <a:gd name="T13" fmla="*/ 2147483647 h 382"/>
                  <a:gd name="T14" fmla="*/ 2147483647 w 436"/>
                  <a:gd name="T15" fmla="*/ 2147483647 h 382"/>
                  <a:gd name="T16" fmla="*/ 2147483647 w 436"/>
                  <a:gd name="T17" fmla="*/ 2147483647 h 382"/>
                  <a:gd name="T18" fmla="*/ 2147483647 w 436"/>
                  <a:gd name="T19" fmla="*/ 2147483647 h 382"/>
                  <a:gd name="T20" fmla="*/ 2147483647 w 436"/>
                  <a:gd name="T21" fmla="*/ 2147483647 h 382"/>
                  <a:gd name="T22" fmla="*/ 2147483647 w 436"/>
                  <a:gd name="T23" fmla="*/ 2147483647 h 382"/>
                  <a:gd name="T24" fmla="*/ 2147483647 w 436"/>
                  <a:gd name="T25" fmla="*/ 2147483647 h 382"/>
                  <a:gd name="T26" fmla="*/ 2147483647 w 436"/>
                  <a:gd name="T27" fmla="*/ 2147483647 h 382"/>
                  <a:gd name="T28" fmla="*/ 2147483647 w 436"/>
                  <a:gd name="T29" fmla="*/ 2147483647 h 382"/>
                  <a:gd name="T30" fmla="*/ 0 w 436"/>
                  <a:gd name="T31" fmla="*/ 2147483647 h 382"/>
                  <a:gd name="T32" fmla="*/ 2147483647 w 436"/>
                  <a:gd name="T33" fmla="*/ 2147483647 h 382"/>
                  <a:gd name="T34" fmla="*/ 2147483647 w 436"/>
                  <a:gd name="T35" fmla="*/ 0 h 382"/>
                  <a:gd name="T36" fmla="*/ 2147483647 w 436"/>
                  <a:gd name="T37" fmla="*/ 2147483647 h 382"/>
                  <a:gd name="T38" fmla="*/ 2147483647 w 436"/>
                  <a:gd name="T39" fmla="*/ 2147483647 h 382"/>
                  <a:gd name="T40" fmla="*/ 2147483647 w 436"/>
                  <a:gd name="T41" fmla="*/ 2147483647 h 382"/>
                  <a:gd name="T42" fmla="*/ 2147483647 w 436"/>
                  <a:gd name="T43" fmla="*/ 2147483647 h 382"/>
                  <a:gd name="T44" fmla="*/ 2147483647 w 436"/>
                  <a:gd name="T45" fmla="*/ 2147483647 h 382"/>
                  <a:gd name="T46" fmla="*/ 2147483647 w 436"/>
                  <a:gd name="T47" fmla="*/ 2147483647 h 382"/>
                  <a:gd name="T48" fmla="*/ 2147483647 w 436"/>
                  <a:gd name="T49" fmla="*/ 2147483647 h 382"/>
                  <a:gd name="T50" fmla="*/ 2147483647 w 436"/>
                  <a:gd name="T51" fmla="*/ 2147483647 h 382"/>
                  <a:gd name="T52" fmla="*/ 2147483647 w 436"/>
                  <a:gd name="T53" fmla="*/ 2147483647 h 382"/>
                  <a:gd name="T54" fmla="*/ 2147483647 w 436"/>
                  <a:gd name="T55" fmla="*/ 2147483647 h 382"/>
                  <a:gd name="T56" fmla="*/ 2147483647 w 436"/>
                  <a:gd name="T57" fmla="*/ 2147483647 h 382"/>
                  <a:gd name="T58" fmla="*/ 2147483647 w 436"/>
                  <a:gd name="T59" fmla="*/ 2147483647 h 382"/>
                  <a:gd name="T60" fmla="*/ 2147483647 w 436"/>
                  <a:gd name="T61" fmla="*/ 2147483647 h 382"/>
                  <a:gd name="T62" fmla="*/ 2147483647 w 436"/>
                  <a:gd name="T63" fmla="*/ 2147483647 h 382"/>
                  <a:gd name="T64" fmla="*/ 2147483647 w 436"/>
                  <a:gd name="T65" fmla="*/ 2147483647 h 382"/>
                  <a:gd name="T66" fmla="*/ 2147483647 w 436"/>
                  <a:gd name="T67" fmla="*/ 2147483647 h 382"/>
                  <a:gd name="T68" fmla="*/ 2147483647 w 436"/>
                  <a:gd name="T69" fmla="*/ 2147483647 h 382"/>
                  <a:gd name="T70" fmla="*/ 2147483647 w 436"/>
                  <a:gd name="T71" fmla="*/ 2147483647 h 382"/>
                  <a:gd name="T72" fmla="*/ 2147483647 w 436"/>
                  <a:gd name="T73" fmla="*/ 2147483647 h 3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36" h="382">
                    <a:moveTo>
                      <a:pt x="323" y="382"/>
                    </a:moveTo>
                    <a:lnTo>
                      <a:pt x="328" y="382"/>
                    </a:lnTo>
                    <a:lnTo>
                      <a:pt x="329" y="379"/>
                    </a:lnTo>
                    <a:lnTo>
                      <a:pt x="331" y="375"/>
                    </a:lnTo>
                    <a:lnTo>
                      <a:pt x="331" y="356"/>
                    </a:lnTo>
                    <a:lnTo>
                      <a:pt x="329" y="353"/>
                    </a:lnTo>
                    <a:lnTo>
                      <a:pt x="328" y="351"/>
                    </a:lnTo>
                    <a:lnTo>
                      <a:pt x="323" y="349"/>
                    </a:lnTo>
                    <a:lnTo>
                      <a:pt x="113" y="349"/>
                    </a:lnTo>
                    <a:lnTo>
                      <a:pt x="110" y="351"/>
                    </a:lnTo>
                    <a:lnTo>
                      <a:pt x="107" y="353"/>
                    </a:lnTo>
                    <a:lnTo>
                      <a:pt x="107" y="356"/>
                    </a:lnTo>
                    <a:lnTo>
                      <a:pt x="107" y="375"/>
                    </a:lnTo>
                    <a:lnTo>
                      <a:pt x="107" y="379"/>
                    </a:lnTo>
                    <a:lnTo>
                      <a:pt x="110" y="382"/>
                    </a:lnTo>
                    <a:lnTo>
                      <a:pt x="113" y="382"/>
                    </a:lnTo>
                    <a:lnTo>
                      <a:pt x="147" y="382"/>
                    </a:lnTo>
                    <a:lnTo>
                      <a:pt x="173" y="382"/>
                    </a:lnTo>
                    <a:lnTo>
                      <a:pt x="194" y="382"/>
                    </a:lnTo>
                    <a:lnTo>
                      <a:pt x="211" y="382"/>
                    </a:lnTo>
                    <a:lnTo>
                      <a:pt x="227" y="382"/>
                    </a:lnTo>
                    <a:lnTo>
                      <a:pt x="243" y="382"/>
                    </a:lnTo>
                    <a:lnTo>
                      <a:pt x="263" y="382"/>
                    </a:lnTo>
                    <a:lnTo>
                      <a:pt x="289" y="382"/>
                    </a:lnTo>
                    <a:lnTo>
                      <a:pt x="323" y="382"/>
                    </a:lnTo>
                    <a:close/>
                    <a:moveTo>
                      <a:pt x="396" y="342"/>
                    </a:moveTo>
                    <a:lnTo>
                      <a:pt x="42" y="342"/>
                    </a:lnTo>
                    <a:lnTo>
                      <a:pt x="26" y="339"/>
                    </a:lnTo>
                    <a:lnTo>
                      <a:pt x="13" y="330"/>
                    </a:lnTo>
                    <a:lnTo>
                      <a:pt x="3" y="317"/>
                    </a:lnTo>
                    <a:lnTo>
                      <a:pt x="0" y="301"/>
                    </a:lnTo>
                    <a:lnTo>
                      <a:pt x="0" y="40"/>
                    </a:lnTo>
                    <a:lnTo>
                      <a:pt x="3" y="24"/>
                    </a:lnTo>
                    <a:lnTo>
                      <a:pt x="13" y="11"/>
                    </a:lnTo>
                    <a:lnTo>
                      <a:pt x="26" y="3"/>
                    </a:lnTo>
                    <a:lnTo>
                      <a:pt x="42" y="0"/>
                    </a:lnTo>
                    <a:lnTo>
                      <a:pt x="396" y="0"/>
                    </a:lnTo>
                    <a:lnTo>
                      <a:pt x="412" y="3"/>
                    </a:lnTo>
                    <a:lnTo>
                      <a:pt x="425" y="11"/>
                    </a:lnTo>
                    <a:lnTo>
                      <a:pt x="433" y="24"/>
                    </a:lnTo>
                    <a:lnTo>
                      <a:pt x="436" y="40"/>
                    </a:lnTo>
                    <a:lnTo>
                      <a:pt x="436" y="301"/>
                    </a:lnTo>
                    <a:lnTo>
                      <a:pt x="433" y="317"/>
                    </a:lnTo>
                    <a:lnTo>
                      <a:pt x="425" y="330"/>
                    </a:lnTo>
                    <a:lnTo>
                      <a:pt x="412" y="339"/>
                    </a:lnTo>
                    <a:lnTo>
                      <a:pt x="396" y="342"/>
                    </a:lnTo>
                    <a:close/>
                    <a:moveTo>
                      <a:pt x="396" y="323"/>
                    </a:moveTo>
                    <a:lnTo>
                      <a:pt x="401" y="323"/>
                    </a:lnTo>
                    <a:lnTo>
                      <a:pt x="407" y="320"/>
                    </a:lnTo>
                    <a:lnTo>
                      <a:pt x="412" y="317"/>
                    </a:lnTo>
                    <a:lnTo>
                      <a:pt x="414" y="313"/>
                    </a:lnTo>
                    <a:lnTo>
                      <a:pt x="417" y="307"/>
                    </a:lnTo>
                    <a:lnTo>
                      <a:pt x="417" y="301"/>
                    </a:lnTo>
                    <a:lnTo>
                      <a:pt x="417" y="40"/>
                    </a:lnTo>
                    <a:lnTo>
                      <a:pt x="417" y="34"/>
                    </a:lnTo>
                    <a:lnTo>
                      <a:pt x="414" y="29"/>
                    </a:lnTo>
                    <a:lnTo>
                      <a:pt x="412" y="24"/>
                    </a:lnTo>
                    <a:lnTo>
                      <a:pt x="407" y="22"/>
                    </a:lnTo>
                    <a:lnTo>
                      <a:pt x="401" y="19"/>
                    </a:lnTo>
                    <a:lnTo>
                      <a:pt x="396" y="19"/>
                    </a:lnTo>
                    <a:lnTo>
                      <a:pt x="42" y="19"/>
                    </a:lnTo>
                    <a:lnTo>
                      <a:pt x="36" y="19"/>
                    </a:lnTo>
                    <a:lnTo>
                      <a:pt x="30" y="22"/>
                    </a:lnTo>
                    <a:lnTo>
                      <a:pt x="26" y="24"/>
                    </a:lnTo>
                    <a:lnTo>
                      <a:pt x="22" y="29"/>
                    </a:lnTo>
                    <a:lnTo>
                      <a:pt x="20" y="34"/>
                    </a:lnTo>
                    <a:lnTo>
                      <a:pt x="19" y="40"/>
                    </a:lnTo>
                    <a:lnTo>
                      <a:pt x="19" y="301"/>
                    </a:lnTo>
                    <a:lnTo>
                      <a:pt x="20" y="307"/>
                    </a:lnTo>
                    <a:lnTo>
                      <a:pt x="22" y="313"/>
                    </a:lnTo>
                    <a:lnTo>
                      <a:pt x="26" y="317"/>
                    </a:lnTo>
                    <a:lnTo>
                      <a:pt x="30" y="320"/>
                    </a:lnTo>
                    <a:lnTo>
                      <a:pt x="36" y="323"/>
                    </a:lnTo>
                    <a:lnTo>
                      <a:pt x="42" y="323"/>
                    </a:lnTo>
                    <a:lnTo>
                      <a:pt x="396" y="323"/>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600" b="0" i="0" u="none" strike="noStrike" kern="0" cap="none" spc="0" normalizeH="0" baseline="0" noProof="0">
                  <a:ln>
                    <a:noFill/>
                  </a:ln>
                  <a:solidFill>
                    <a:schemeClr val="bg1"/>
                  </a:solidFill>
                  <a:effectLst/>
                  <a:uLnTx/>
                  <a:uFillTx/>
                  <a:latin typeface="EY interstate"/>
                </a:endParaRPr>
              </a:p>
            </p:txBody>
          </p:sp>
          <p:sp>
            <p:nvSpPr>
              <p:cNvPr id="78" name="Freeform 60">
                <a:extLst>
                  <a:ext uri="{FF2B5EF4-FFF2-40B4-BE49-F238E27FC236}">
                    <a16:creationId xmlns:a16="http://schemas.microsoft.com/office/drawing/2014/main" id="{63CCCCD1-FB09-829B-D0EA-62EA22212D76}"/>
                  </a:ext>
                </a:extLst>
              </p:cNvPr>
              <p:cNvSpPr>
                <a:spLocks/>
              </p:cNvSpPr>
              <p:nvPr/>
            </p:nvSpPr>
            <p:spPr bwMode="auto">
              <a:xfrm>
                <a:off x="2121303" y="4352784"/>
                <a:ext cx="183433" cy="120002"/>
              </a:xfrm>
              <a:custGeom>
                <a:avLst/>
                <a:gdLst>
                  <a:gd name="T0" fmla="*/ 2147483647 w 107"/>
                  <a:gd name="T1" fmla="*/ 2147483647 h 70"/>
                  <a:gd name="T2" fmla="*/ 2147483647 w 107"/>
                  <a:gd name="T3" fmla="*/ 0 h 70"/>
                  <a:gd name="T4" fmla="*/ 2147483647 w 107"/>
                  <a:gd name="T5" fmla="*/ 2147483647 h 70"/>
                  <a:gd name="T6" fmla="*/ 2147483647 w 107"/>
                  <a:gd name="T7" fmla="*/ 2147483647 h 70"/>
                  <a:gd name="T8" fmla="*/ 2147483647 w 107"/>
                  <a:gd name="T9" fmla="*/ 2147483647 h 70"/>
                  <a:gd name="T10" fmla="*/ 2147483647 w 107"/>
                  <a:gd name="T11" fmla="*/ 2147483647 h 70"/>
                  <a:gd name="T12" fmla="*/ 2147483647 w 107"/>
                  <a:gd name="T13" fmla="*/ 2147483647 h 70"/>
                  <a:gd name="T14" fmla="*/ 2147483647 w 107"/>
                  <a:gd name="T15" fmla="*/ 2147483647 h 70"/>
                  <a:gd name="T16" fmla="*/ 2147483647 w 107"/>
                  <a:gd name="T17" fmla="*/ 0 h 70"/>
                  <a:gd name="T18" fmla="*/ 2147483647 w 107"/>
                  <a:gd name="T19" fmla="*/ 2147483647 h 70"/>
                  <a:gd name="T20" fmla="*/ 2147483647 w 107"/>
                  <a:gd name="T21" fmla="*/ 2147483647 h 70"/>
                  <a:gd name="T22" fmla="*/ 2147483647 w 107"/>
                  <a:gd name="T23" fmla="*/ 2147483647 h 70"/>
                  <a:gd name="T24" fmla="*/ 2147483647 w 107"/>
                  <a:gd name="T25" fmla="*/ 2147483647 h 70"/>
                  <a:gd name="T26" fmla="*/ 2147483647 w 107"/>
                  <a:gd name="T27" fmla="*/ 2147483647 h 70"/>
                  <a:gd name="T28" fmla="*/ 2147483647 w 107"/>
                  <a:gd name="T29" fmla="*/ 2147483647 h 70"/>
                  <a:gd name="T30" fmla="*/ 2147483647 w 107"/>
                  <a:gd name="T31" fmla="*/ 2147483647 h 70"/>
                  <a:gd name="T32" fmla="*/ 2147483647 w 107"/>
                  <a:gd name="T33" fmla="*/ 2147483647 h 70"/>
                  <a:gd name="T34" fmla="*/ 0 w 107"/>
                  <a:gd name="T35" fmla="*/ 2147483647 h 70"/>
                  <a:gd name="T36" fmla="*/ 2147483647 w 107"/>
                  <a:gd name="T37" fmla="*/ 2147483647 h 70"/>
                  <a:gd name="T38" fmla="*/ 2147483647 w 107"/>
                  <a:gd name="T39" fmla="*/ 2147483647 h 70"/>
                  <a:gd name="T40" fmla="*/ 2147483647 w 107"/>
                  <a:gd name="T41" fmla="*/ 2147483647 h 70"/>
                  <a:gd name="T42" fmla="*/ 2147483647 w 107"/>
                  <a:gd name="T43" fmla="*/ 2147483647 h 70"/>
                  <a:gd name="T44" fmla="*/ 2147483647 w 107"/>
                  <a:gd name="T45" fmla="*/ 2147483647 h 70"/>
                  <a:gd name="T46" fmla="*/ 2147483647 w 107"/>
                  <a:gd name="T47" fmla="*/ 2147483647 h 70"/>
                  <a:gd name="T48" fmla="*/ 2147483647 w 107"/>
                  <a:gd name="T49" fmla="*/ 2147483647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7" h="70">
                    <a:moveTo>
                      <a:pt x="24" y="4"/>
                    </a:moveTo>
                    <a:lnTo>
                      <a:pt x="33" y="0"/>
                    </a:lnTo>
                    <a:lnTo>
                      <a:pt x="35" y="17"/>
                    </a:lnTo>
                    <a:lnTo>
                      <a:pt x="40" y="27"/>
                    </a:lnTo>
                    <a:lnTo>
                      <a:pt x="49" y="33"/>
                    </a:lnTo>
                    <a:lnTo>
                      <a:pt x="58" y="33"/>
                    </a:lnTo>
                    <a:lnTo>
                      <a:pt x="65" y="27"/>
                    </a:lnTo>
                    <a:lnTo>
                      <a:pt x="71" y="17"/>
                    </a:lnTo>
                    <a:lnTo>
                      <a:pt x="74" y="0"/>
                    </a:lnTo>
                    <a:lnTo>
                      <a:pt x="82" y="4"/>
                    </a:lnTo>
                    <a:lnTo>
                      <a:pt x="86" y="5"/>
                    </a:lnTo>
                    <a:lnTo>
                      <a:pt x="91" y="8"/>
                    </a:lnTo>
                    <a:lnTo>
                      <a:pt x="94" y="11"/>
                    </a:lnTo>
                    <a:lnTo>
                      <a:pt x="97" y="15"/>
                    </a:lnTo>
                    <a:lnTo>
                      <a:pt x="101" y="34"/>
                    </a:lnTo>
                    <a:lnTo>
                      <a:pt x="105" y="52"/>
                    </a:lnTo>
                    <a:lnTo>
                      <a:pt x="107" y="70"/>
                    </a:lnTo>
                    <a:lnTo>
                      <a:pt x="0" y="70"/>
                    </a:lnTo>
                    <a:lnTo>
                      <a:pt x="1" y="52"/>
                    </a:lnTo>
                    <a:lnTo>
                      <a:pt x="4" y="34"/>
                    </a:lnTo>
                    <a:lnTo>
                      <a:pt x="10" y="15"/>
                    </a:lnTo>
                    <a:lnTo>
                      <a:pt x="11" y="11"/>
                    </a:lnTo>
                    <a:lnTo>
                      <a:pt x="16" y="8"/>
                    </a:lnTo>
                    <a:lnTo>
                      <a:pt x="20" y="5"/>
                    </a:lnTo>
                    <a:lnTo>
                      <a:pt x="24" y="4"/>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600" b="0" i="0" u="none" strike="noStrike" kern="0" cap="none" spc="0" normalizeH="0" baseline="0" noProof="0">
                  <a:ln>
                    <a:noFill/>
                  </a:ln>
                  <a:solidFill>
                    <a:schemeClr val="bg1"/>
                  </a:solidFill>
                  <a:effectLst/>
                  <a:uLnTx/>
                  <a:uFillTx/>
                  <a:latin typeface="EY interstate"/>
                </a:endParaRPr>
              </a:p>
            </p:txBody>
          </p:sp>
          <p:sp>
            <p:nvSpPr>
              <p:cNvPr id="79" name="Freeform 61">
                <a:extLst>
                  <a:ext uri="{FF2B5EF4-FFF2-40B4-BE49-F238E27FC236}">
                    <a16:creationId xmlns:a16="http://schemas.microsoft.com/office/drawing/2014/main" id="{55E15CA5-D7AF-84B1-E7C0-F878C159EE08}"/>
                  </a:ext>
                </a:extLst>
              </p:cNvPr>
              <p:cNvSpPr>
                <a:spLocks noEditPoints="1"/>
              </p:cNvSpPr>
              <p:nvPr/>
            </p:nvSpPr>
            <p:spPr bwMode="auto">
              <a:xfrm>
                <a:off x="2135107" y="4208792"/>
                <a:ext cx="144003" cy="135431"/>
              </a:xfrm>
              <a:custGeom>
                <a:avLst/>
                <a:gdLst>
                  <a:gd name="T0" fmla="*/ 2147483647 w 84"/>
                  <a:gd name="T1" fmla="*/ 2147483647 h 79"/>
                  <a:gd name="T2" fmla="*/ 2147483647 w 84"/>
                  <a:gd name="T3" fmla="*/ 2147483647 h 79"/>
                  <a:gd name="T4" fmla="*/ 2147483647 w 84"/>
                  <a:gd name="T5" fmla="*/ 2147483647 h 79"/>
                  <a:gd name="T6" fmla="*/ 2147483647 w 84"/>
                  <a:gd name="T7" fmla="*/ 2147483647 h 79"/>
                  <a:gd name="T8" fmla="*/ 2147483647 w 84"/>
                  <a:gd name="T9" fmla="*/ 2147483647 h 79"/>
                  <a:gd name="T10" fmla="*/ 2147483647 w 84"/>
                  <a:gd name="T11" fmla="*/ 2147483647 h 79"/>
                  <a:gd name="T12" fmla="*/ 2147483647 w 84"/>
                  <a:gd name="T13" fmla="*/ 2147483647 h 79"/>
                  <a:gd name="T14" fmla="*/ 2147483647 w 84"/>
                  <a:gd name="T15" fmla="*/ 2147483647 h 79"/>
                  <a:gd name="T16" fmla="*/ 2147483647 w 84"/>
                  <a:gd name="T17" fmla="*/ 2147483647 h 79"/>
                  <a:gd name="T18" fmla="*/ 2147483647 w 84"/>
                  <a:gd name="T19" fmla="*/ 2147483647 h 79"/>
                  <a:gd name="T20" fmla="*/ 2147483647 w 84"/>
                  <a:gd name="T21" fmla="*/ 2147483647 h 79"/>
                  <a:gd name="T22" fmla="*/ 2147483647 w 84"/>
                  <a:gd name="T23" fmla="*/ 2147483647 h 79"/>
                  <a:gd name="T24" fmla="*/ 2147483647 w 84"/>
                  <a:gd name="T25" fmla="*/ 2147483647 h 79"/>
                  <a:gd name="T26" fmla="*/ 2147483647 w 84"/>
                  <a:gd name="T27" fmla="*/ 2147483647 h 79"/>
                  <a:gd name="T28" fmla="*/ 2147483647 w 84"/>
                  <a:gd name="T29" fmla="*/ 2147483647 h 79"/>
                  <a:gd name="T30" fmla="*/ 2147483647 w 84"/>
                  <a:gd name="T31" fmla="*/ 2147483647 h 79"/>
                  <a:gd name="T32" fmla="*/ 2147483647 w 84"/>
                  <a:gd name="T33" fmla="*/ 2147483647 h 79"/>
                  <a:gd name="T34" fmla="*/ 2147483647 w 84"/>
                  <a:gd name="T35" fmla="*/ 2147483647 h 79"/>
                  <a:gd name="T36" fmla="*/ 2147483647 w 84"/>
                  <a:gd name="T37" fmla="*/ 2147483647 h 79"/>
                  <a:gd name="T38" fmla="*/ 2147483647 w 84"/>
                  <a:gd name="T39" fmla="*/ 2147483647 h 79"/>
                  <a:gd name="T40" fmla="*/ 2147483647 w 84"/>
                  <a:gd name="T41" fmla="*/ 2147483647 h 79"/>
                  <a:gd name="T42" fmla="*/ 2147483647 w 84"/>
                  <a:gd name="T43" fmla="*/ 2147483647 h 79"/>
                  <a:gd name="T44" fmla="*/ 2147483647 w 84"/>
                  <a:gd name="T45" fmla="*/ 2147483647 h 79"/>
                  <a:gd name="T46" fmla="*/ 2147483647 w 84"/>
                  <a:gd name="T47" fmla="*/ 2147483647 h 79"/>
                  <a:gd name="T48" fmla="*/ 2147483647 w 84"/>
                  <a:gd name="T49" fmla="*/ 2147483647 h 79"/>
                  <a:gd name="T50" fmla="*/ 2147483647 w 84"/>
                  <a:gd name="T51" fmla="*/ 2147483647 h 79"/>
                  <a:gd name="T52" fmla="*/ 2147483647 w 84"/>
                  <a:gd name="T53" fmla="*/ 2147483647 h 79"/>
                  <a:gd name="T54" fmla="*/ 2147483647 w 84"/>
                  <a:gd name="T55" fmla="*/ 2147483647 h 79"/>
                  <a:gd name="T56" fmla="*/ 2147483647 w 84"/>
                  <a:gd name="T57" fmla="*/ 2147483647 h 79"/>
                  <a:gd name="T58" fmla="*/ 2147483647 w 84"/>
                  <a:gd name="T59" fmla="*/ 2147483647 h 79"/>
                  <a:gd name="T60" fmla="*/ 2147483647 w 84"/>
                  <a:gd name="T61" fmla="*/ 2147483647 h 79"/>
                  <a:gd name="T62" fmla="*/ 2147483647 w 84"/>
                  <a:gd name="T63" fmla="*/ 2147483647 h 79"/>
                  <a:gd name="T64" fmla="*/ 2147483647 w 84"/>
                  <a:gd name="T65" fmla="*/ 2147483647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4" h="79">
                    <a:moveTo>
                      <a:pt x="67" y="33"/>
                    </a:moveTo>
                    <a:lnTo>
                      <a:pt x="64" y="37"/>
                    </a:lnTo>
                    <a:lnTo>
                      <a:pt x="63" y="42"/>
                    </a:lnTo>
                    <a:lnTo>
                      <a:pt x="50" y="42"/>
                    </a:lnTo>
                    <a:lnTo>
                      <a:pt x="37" y="42"/>
                    </a:lnTo>
                    <a:lnTo>
                      <a:pt x="37" y="36"/>
                    </a:lnTo>
                    <a:lnTo>
                      <a:pt x="37" y="32"/>
                    </a:lnTo>
                    <a:lnTo>
                      <a:pt x="37" y="27"/>
                    </a:lnTo>
                    <a:lnTo>
                      <a:pt x="34" y="33"/>
                    </a:lnTo>
                    <a:lnTo>
                      <a:pt x="31" y="37"/>
                    </a:lnTo>
                    <a:lnTo>
                      <a:pt x="26" y="40"/>
                    </a:lnTo>
                    <a:lnTo>
                      <a:pt x="22" y="42"/>
                    </a:lnTo>
                    <a:lnTo>
                      <a:pt x="24" y="39"/>
                    </a:lnTo>
                    <a:lnTo>
                      <a:pt x="24" y="35"/>
                    </a:lnTo>
                    <a:lnTo>
                      <a:pt x="24" y="32"/>
                    </a:lnTo>
                    <a:lnTo>
                      <a:pt x="21" y="35"/>
                    </a:lnTo>
                    <a:lnTo>
                      <a:pt x="19" y="37"/>
                    </a:lnTo>
                    <a:lnTo>
                      <a:pt x="18" y="40"/>
                    </a:lnTo>
                    <a:lnTo>
                      <a:pt x="16" y="42"/>
                    </a:lnTo>
                    <a:lnTo>
                      <a:pt x="19" y="49"/>
                    </a:lnTo>
                    <a:lnTo>
                      <a:pt x="22" y="56"/>
                    </a:lnTo>
                    <a:lnTo>
                      <a:pt x="25" y="62"/>
                    </a:lnTo>
                    <a:lnTo>
                      <a:pt x="29" y="68"/>
                    </a:lnTo>
                    <a:lnTo>
                      <a:pt x="34" y="71"/>
                    </a:lnTo>
                    <a:lnTo>
                      <a:pt x="38" y="73"/>
                    </a:lnTo>
                    <a:lnTo>
                      <a:pt x="42" y="75"/>
                    </a:lnTo>
                    <a:lnTo>
                      <a:pt x="47" y="73"/>
                    </a:lnTo>
                    <a:lnTo>
                      <a:pt x="51" y="71"/>
                    </a:lnTo>
                    <a:lnTo>
                      <a:pt x="55" y="68"/>
                    </a:lnTo>
                    <a:lnTo>
                      <a:pt x="58" y="62"/>
                    </a:lnTo>
                    <a:lnTo>
                      <a:pt x="63" y="56"/>
                    </a:lnTo>
                    <a:lnTo>
                      <a:pt x="65" y="50"/>
                    </a:lnTo>
                    <a:lnTo>
                      <a:pt x="67" y="43"/>
                    </a:lnTo>
                    <a:lnTo>
                      <a:pt x="67" y="39"/>
                    </a:lnTo>
                    <a:lnTo>
                      <a:pt x="67" y="36"/>
                    </a:lnTo>
                    <a:lnTo>
                      <a:pt x="67" y="33"/>
                    </a:lnTo>
                    <a:close/>
                    <a:moveTo>
                      <a:pt x="58" y="72"/>
                    </a:moveTo>
                    <a:lnTo>
                      <a:pt x="47" y="79"/>
                    </a:lnTo>
                    <a:lnTo>
                      <a:pt x="37" y="79"/>
                    </a:lnTo>
                    <a:lnTo>
                      <a:pt x="26" y="72"/>
                    </a:lnTo>
                    <a:lnTo>
                      <a:pt x="16" y="73"/>
                    </a:lnTo>
                    <a:lnTo>
                      <a:pt x="8" y="71"/>
                    </a:lnTo>
                    <a:lnTo>
                      <a:pt x="0" y="66"/>
                    </a:lnTo>
                    <a:lnTo>
                      <a:pt x="3" y="62"/>
                    </a:lnTo>
                    <a:lnTo>
                      <a:pt x="6" y="58"/>
                    </a:lnTo>
                    <a:lnTo>
                      <a:pt x="9" y="52"/>
                    </a:lnTo>
                    <a:lnTo>
                      <a:pt x="9" y="46"/>
                    </a:lnTo>
                    <a:lnTo>
                      <a:pt x="9" y="40"/>
                    </a:lnTo>
                    <a:lnTo>
                      <a:pt x="9" y="33"/>
                    </a:lnTo>
                    <a:lnTo>
                      <a:pt x="12" y="20"/>
                    </a:lnTo>
                    <a:lnTo>
                      <a:pt x="18" y="10"/>
                    </a:lnTo>
                    <a:lnTo>
                      <a:pt x="29" y="3"/>
                    </a:lnTo>
                    <a:lnTo>
                      <a:pt x="42" y="0"/>
                    </a:lnTo>
                    <a:lnTo>
                      <a:pt x="55" y="3"/>
                    </a:lnTo>
                    <a:lnTo>
                      <a:pt x="65" y="10"/>
                    </a:lnTo>
                    <a:lnTo>
                      <a:pt x="73" y="20"/>
                    </a:lnTo>
                    <a:lnTo>
                      <a:pt x="75" y="33"/>
                    </a:lnTo>
                    <a:lnTo>
                      <a:pt x="74" y="40"/>
                    </a:lnTo>
                    <a:lnTo>
                      <a:pt x="74" y="46"/>
                    </a:lnTo>
                    <a:lnTo>
                      <a:pt x="75" y="52"/>
                    </a:lnTo>
                    <a:lnTo>
                      <a:pt x="77" y="58"/>
                    </a:lnTo>
                    <a:lnTo>
                      <a:pt x="80" y="62"/>
                    </a:lnTo>
                    <a:lnTo>
                      <a:pt x="84" y="66"/>
                    </a:lnTo>
                    <a:lnTo>
                      <a:pt x="77" y="71"/>
                    </a:lnTo>
                    <a:lnTo>
                      <a:pt x="68" y="73"/>
                    </a:lnTo>
                    <a:lnTo>
                      <a:pt x="58" y="72"/>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600" b="0" i="0" u="none" strike="noStrike" kern="0" cap="none" spc="0" normalizeH="0" baseline="0" noProof="0">
                  <a:ln>
                    <a:noFill/>
                  </a:ln>
                  <a:solidFill>
                    <a:schemeClr val="bg1"/>
                  </a:solidFill>
                  <a:effectLst/>
                  <a:uLnTx/>
                  <a:uFillTx/>
                  <a:latin typeface="EY interstate"/>
                </a:endParaRPr>
              </a:p>
            </p:txBody>
          </p:sp>
          <p:sp>
            <p:nvSpPr>
              <p:cNvPr id="80" name="Rectangle 62">
                <a:extLst>
                  <a:ext uri="{FF2B5EF4-FFF2-40B4-BE49-F238E27FC236}">
                    <a16:creationId xmlns:a16="http://schemas.microsoft.com/office/drawing/2014/main" id="{54E93B18-E1A9-F7D8-6F2E-8F611D9EE493}"/>
                  </a:ext>
                </a:extLst>
              </p:cNvPr>
              <p:cNvSpPr>
                <a:spLocks noChangeArrowheads="1"/>
              </p:cNvSpPr>
              <p:nvPr/>
            </p:nvSpPr>
            <p:spPr bwMode="auto">
              <a:xfrm>
                <a:off x="2340825" y="4411070"/>
                <a:ext cx="78858"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600" b="0" i="0" u="none" strike="noStrike" kern="0" cap="none" spc="0" normalizeH="0" baseline="0" noProof="0">
                  <a:ln>
                    <a:noFill/>
                  </a:ln>
                  <a:solidFill>
                    <a:schemeClr val="bg1"/>
                  </a:solidFill>
                  <a:effectLst/>
                  <a:uLnTx/>
                  <a:uFillTx/>
                  <a:latin typeface="EY interstate"/>
                </a:endParaRPr>
              </a:p>
            </p:txBody>
          </p:sp>
          <p:sp>
            <p:nvSpPr>
              <p:cNvPr id="81" name="Rectangle 63">
                <a:extLst>
                  <a:ext uri="{FF2B5EF4-FFF2-40B4-BE49-F238E27FC236}">
                    <a16:creationId xmlns:a16="http://schemas.microsoft.com/office/drawing/2014/main" id="{47FBD8C0-91A9-DE5C-4501-22833A728B60}"/>
                  </a:ext>
                </a:extLst>
              </p:cNvPr>
              <p:cNvSpPr>
                <a:spLocks noChangeArrowheads="1"/>
              </p:cNvSpPr>
              <p:nvPr/>
            </p:nvSpPr>
            <p:spPr bwMode="auto">
              <a:xfrm>
                <a:off x="2445397" y="4411070"/>
                <a:ext cx="80573"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600" b="0" i="0" u="none" strike="noStrike" kern="0" cap="none" spc="0" normalizeH="0" baseline="0" noProof="0">
                  <a:ln>
                    <a:noFill/>
                  </a:ln>
                  <a:solidFill>
                    <a:schemeClr val="bg1"/>
                  </a:solidFill>
                  <a:effectLst/>
                  <a:uLnTx/>
                  <a:uFillTx/>
                  <a:latin typeface="EY interstate"/>
                </a:endParaRPr>
              </a:p>
            </p:txBody>
          </p:sp>
          <p:sp>
            <p:nvSpPr>
              <p:cNvPr id="82" name="Rectangle 64">
                <a:extLst>
                  <a:ext uri="{FF2B5EF4-FFF2-40B4-BE49-F238E27FC236}">
                    <a16:creationId xmlns:a16="http://schemas.microsoft.com/office/drawing/2014/main" id="{EF62FD36-EC96-81B5-7ECE-6858C9CE9902}"/>
                  </a:ext>
                </a:extLst>
              </p:cNvPr>
              <p:cNvSpPr>
                <a:spLocks noChangeArrowheads="1"/>
              </p:cNvSpPr>
              <p:nvPr/>
            </p:nvSpPr>
            <p:spPr bwMode="auto">
              <a:xfrm>
                <a:off x="2445397" y="4327069"/>
                <a:ext cx="80573"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600" b="0" i="0" u="none" strike="noStrike" kern="0" cap="none" spc="0" normalizeH="0" baseline="0" noProof="0">
                  <a:ln>
                    <a:noFill/>
                  </a:ln>
                  <a:solidFill>
                    <a:schemeClr val="bg1"/>
                  </a:solidFill>
                  <a:effectLst/>
                  <a:uLnTx/>
                  <a:uFillTx/>
                  <a:latin typeface="EY interstate"/>
                </a:endParaRPr>
              </a:p>
            </p:txBody>
          </p:sp>
          <p:sp>
            <p:nvSpPr>
              <p:cNvPr id="83" name="Rectangle 65">
                <a:extLst>
                  <a:ext uri="{FF2B5EF4-FFF2-40B4-BE49-F238E27FC236}">
                    <a16:creationId xmlns:a16="http://schemas.microsoft.com/office/drawing/2014/main" id="{B31F7260-936F-D1E2-28E1-F119C21EE926}"/>
                  </a:ext>
                </a:extLst>
              </p:cNvPr>
              <p:cNvSpPr>
                <a:spLocks noChangeArrowheads="1"/>
              </p:cNvSpPr>
              <p:nvPr/>
            </p:nvSpPr>
            <p:spPr bwMode="auto">
              <a:xfrm>
                <a:off x="2340826" y="4327069"/>
                <a:ext cx="78859" cy="61715"/>
              </a:xfrm>
              <a:prstGeom prst="rect">
                <a:avLst/>
              </a:prstGeom>
              <a:solidFill>
                <a:srgbClr val="FFE600"/>
              </a:solidFill>
              <a:ln w="0">
                <a:solidFill>
                  <a:srgbClr val="FFE600"/>
                </a:solidFill>
                <a:miter lim="800000"/>
                <a:headEnd/>
                <a:tailEnd/>
              </a:ln>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nb-NO" sz="1600" b="0" i="0" u="none" strike="noStrike" kern="0" cap="none" spc="0" normalizeH="0" baseline="0" noProof="0">
                  <a:ln>
                    <a:noFill/>
                  </a:ln>
                  <a:solidFill>
                    <a:schemeClr val="bg1"/>
                  </a:solidFill>
                  <a:effectLst/>
                  <a:uLnTx/>
                  <a:uFillTx/>
                  <a:latin typeface="EY interstate"/>
                </a:endParaRPr>
              </a:p>
            </p:txBody>
          </p:sp>
          <p:sp>
            <p:nvSpPr>
              <p:cNvPr id="84" name="Freeform 66">
                <a:extLst>
                  <a:ext uri="{FF2B5EF4-FFF2-40B4-BE49-F238E27FC236}">
                    <a16:creationId xmlns:a16="http://schemas.microsoft.com/office/drawing/2014/main" id="{378432C6-BF86-24F2-26CE-215E4F7D7894}"/>
                  </a:ext>
                </a:extLst>
              </p:cNvPr>
              <p:cNvSpPr>
                <a:spLocks noEditPoints="1"/>
              </p:cNvSpPr>
              <p:nvPr/>
            </p:nvSpPr>
            <p:spPr bwMode="auto">
              <a:xfrm>
                <a:off x="2055391" y="4110218"/>
                <a:ext cx="625724" cy="468007"/>
              </a:xfrm>
              <a:custGeom>
                <a:avLst/>
                <a:gdLst>
                  <a:gd name="T0" fmla="*/ 2147483647 w 365"/>
                  <a:gd name="T1" fmla="*/ 2147483647 h 273"/>
                  <a:gd name="T2" fmla="*/ 2147483647 w 365"/>
                  <a:gd name="T3" fmla="*/ 2147483647 h 273"/>
                  <a:gd name="T4" fmla="*/ 2147483647 w 365"/>
                  <a:gd name="T5" fmla="*/ 2147483647 h 273"/>
                  <a:gd name="T6" fmla="*/ 2147483647 w 365"/>
                  <a:gd name="T7" fmla="*/ 2147483647 h 273"/>
                  <a:gd name="T8" fmla="*/ 2147483647 w 365"/>
                  <a:gd name="T9" fmla="*/ 2147483647 h 273"/>
                  <a:gd name="T10" fmla="*/ 2147483647 w 365"/>
                  <a:gd name="T11" fmla="*/ 2147483647 h 273"/>
                  <a:gd name="T12" fmla="*/ 2147483647 w 365"/>
                  <a:gd name="T13" fmla="*/ 2147483647 h 273"/>
                  <a:gd name="T14" fmla="*/ 2147483647 w 365"/>
                  <a:gd name="T15" fmla="*/ 2147483647 h 273"/>
                  <a:gd name="T16" fmla="*/ 2147483647 w 365"/>
                  <a:gd name="T17" fmla="*/ 2147483647 h 273"/>
                  <a:gd name="T18" fmla="*/ 2147483647 w 365"/>
                  <a:gd name="T19" fmla="*/ 2147483647 h 273"/>
                  <a:gd name="T20" fmla="*/ 2147483647 w 365"/>
                  <a:gd name="T21" fmla="*/ 2147483647 h 273"/>
                  <a:gd name="T22" fmla="*/ 2147483647 w 365"/>
                  <a:gd name="T23" fmla="*/ 2147483647 h 273"/>
                  <a:gd name="T24" fmla="*/ 2147483647 w 365"/>
                  <a:gd name="T25" fmla="*/ 2147483647 h 273"/>
                  <a:gd name="T26" fmla="*/ 2147483647 w 365"/>
                  <a:gd name="T27" fmla="*/ 2147483647 h 273"/>
                  <a:gd name="T28" fmla="*/ 2147483647 w 365"/>
                  <a:gd name="T29" fmla="*/ 2147483647 h 273"/>
                  <a:gd name="T30" fmla="*/ 2147483647 w 365"/>
                  <a:gd name="T31" fmla="*/ 2147483647 h 273"/>
                  <a:gd name="T32" fmla="*/ 2147483647 w 365"/>
                  <a:gd name="T33" fmla="*/ 2147483647 h 273"/>
                  <a:gd name="T34" fmla="*/ 2147483647 w 365"/>
                  <a:gd name="T35" fmla="*/ 2147483647 h 273"/>
                  <a:gd name="T36" fmla="*/ 2147483647 w 365"/>
                  <a:gd name="T37" fmla="*/ 2147483647 h 273"/>
                  <a:gd name="T38" fmla="*/ 2147483647 w 365"/>
                  <a:gd name="T39" fmla="*/ 2147483647 h 273"/>
                  <a:gd name="T40" fmla="*/ 2147483647 w 365"/>
                  <a:gd name="T41" fmla="*/ 2147483647 h 273"/>
                  <a:gd name="T42" fmla="*/ 0 w 365"/>
                  <a:gd name="T43" fmla="*/ 2147483647 h 273"/>
                  <a:gd name="T44" fmla="*/ 0 w 365"/>
                  <a:gd name="T45" fmla="*/ 2147483647 h 273"/>
                  <a:gd name="T46" fmla="*/ 2147483647 w 365"/>
                  <a:gd name="T47" fmla="*/ 2147483647 h 273"/>
                  <a:gd name="T48" fmla="*/ 2147483647 w 365"/>
                  <a:gd name="T49" fmla="*/ 0 h 273"/>
                  <a:gd name="T50" fmla="*/ 2147483647 w 365"/>
                  <a:gd name="T51" fmla="*/ 2147483647 h 273"/>
                  <a:gd name="T52" fmla="*/ 2147483647 w 365"/>
                  <a:gd name="T53" fmla="*/ 2147483647 h 273"/>
                  <a:gd name="T54" fmla="*/ 2147483647 w 365"/>
                  <a:gd name="T55" fmla="*/ 2147483647 h 273"/>
                  <a:gd name="T56" fmla="*/ 2147483647 w 365"/>
                  <a:gd name="T57" fmla="*/ 2147483647 h 273"/>
                  <a:gd name="T58" fmla="*/ 2147483647 w 365"/>
                  <a:gd name="T59" fmla="*/ 2147483647 h 273"/>
                  <a:gd name="T60" fmla="*/ 2147483647 w 365"/>
                  <a:gd name="T61" fmla="*/ 2147483647 h 273"/>
                  <a:gd name="T62" fmla="*/ 2147483647 w 365"/>
                  <a:gd name="T63" fmla="*/ 2147483647 h 273"/>
                  <a:gd name="T64" fmla="*/ 2147483647 w 365"/>
                  <a:gd name="T65" fmla="*/ 2147483647 h 273"/>
                  <a:gd name="T66" fmla="*/ 2147483647 w 365"/>
                  <a:gd name="T67" fmla="*/ 2147483647 h 273"/>
                  <a:gd name="T68" fmla="*/ 2147483647 w 365"/>
                  <a:gd name="T69" fmla="*/ 2147483647 h 273"/>
                  <a:gd name="T70" fmla="*/ 2147483647 w 365"/>
                  <a:gd name="T71" fmla="*/ 2147483647 h 273"/>
                  <a:gd name="T72" fmla="*/ 2147483647 w 365"/>
                  <a:gd name="T73" fmla="*/ 2147483647 h 273"/>
                  <a:gd name="T74" fmla="*/ 2147483647 w 365"/>
                  <a:gd name="T75" fmla="*/ 2147483647 h 273"/>
                  <a:gd name="T76" fmla="*/ 2147483647 w 365"/>
                  <a:gd name="T77" fmla="*/ 2147483647 h 273"/>
                  <a:gd name="T78" fmla="*/ 2147483647 w 365"/>
                  <a:gd name="T79" fmla="*/ 2147483647 h 273"/>
                  <a:gd name="T80" fmla="*/ 2147483647 w 365"/>
                  <a:gd name="T81" fmla="*/ 2147483647 h 273"/>
                  <a:gd name="T82" fmla="*/ 2147483647 w 365"/>
                  <a:gd name="T83" fmla="*/ 2147483647 h 273"/>
                  <a:gd name="T84" fmla="*/ 2147483647 w 365"/>
                  <a:gd name="T85" fmla="*/ 2147483647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65" h="273">
                    <a:moveTo>
                      <a:pt x="300" y="234"/>
                    </a:moveTo>
                    <a:lnTo>
                      <a:pt x="70" y="234"/>
                    </a:lnTo>
                    <a:lnTo>
                      <a:pt x="70" y="263"/>
                    </a:lnTo>
                    <a:lnTo>
                      <a:pt x="355" y="263"/>
                    </a:lnTo>
                    <a:lnTo>
                      <a:pt x="355" y="76"/>
                    </a:lnTo>
                    <a:lnTo>
                      <a:pt x="306" y="76"/>
                    </a:lnTo>
                    <a:lnTo>
                      <a:pt x="306" y="227"/>
                    </a:lnTo>
                    <a:lnTo>
                      <a:pt x="305" y="231"/>
                    </a:lnTo>
                    <a:lnTo>
                      <a:pt x="303" y="233"/>
                    </a:lnTo>
                    <a:lnTo>
                      <a:pt x="300" y="234"/>
                    </a:lnTo>
                    <a:close/>
                    <a:moveTo>
                      <a:pt x="339" y="64"/>
                    </a:moveTo>
                    <a:lnTo>
                      <a:pt x="337" y="63"/>
                    </a:lnTo>
                    <a:lnTo>
                      <a:pt x="335" y="61"/>
                    </a:lnTo>
                    <a:lnTo>
                      <a:pt x="335" y="58"/>
                    </a:lnTo>
                    <a:lnTo>
                      <a:pt x="335" y="55"/>
                    </a:lnTo>
                    <a:lnTo>
                      <a:pt x="337" y="54"/>
                    </a:lnTo>
                    <a:lnTo>
                      <a:pt x="339" y="54"/>
                    </a:lnTo>
                    <a:lnTo>
                      <a:pt x="352" y="54"/>
                    </a:lnTo>
                    <a:lnTo>
                      <a:pt x="355" y="54"/>
                    </a:lnTo>
                    <a:lnTo>
                      <a:pt x="357" y="55"/>
                    </a:lnTo>
                    <a:lnTo>
                      <a:pt x="357" y="58"/>
                    </a:lnTo>
                    <a:lnTo>
                      <a:pt x="357" y="61"/>
                    </a:lnTo>
                    <a:lnTo>
                      <a:pt x="355" y="63"/>
                    </a:lnTo>
                    <a:lnTo>
                      <a:pt x="352" y="64"/>
                    </a:lnTo>
                    <a:lnTo>
                      <a:pt x="339" y="64"/>
                    </a:lnTo>
                    <a:close/>
                    <a:moveTo>
                      <a:pt x="280" y="24"/>
                    </a:moveTo>
                    <a:lnTo>
                      <a:pt x="277" y="24"/>
                    </a:lnTo>
                    <a:lnTo>
                      <a:pt x="276" y="21"/>
                    </a:lnTo>
                    <a:lnTo>
                      <a:pt x="274" y="19"/>
                    </a:lnTo>
                    <a:lnTo>
                      <a:pt x="276" y="16"/>
                    </a:lnTo>
                    <a:lnTo>
                      <a:pt x="277" y="15"/>
                    </a:lnTo>
                    <a:lnTo>
                      <a:pt x="280" y="13"/>
                    </a:lnTo>
                    <a:lnTo>
                      <a:pt x="292" y="13"/>
                    </a:lnTo>
                    <a:lnTo>
                      <a:pt x="295" y="15"/>
                    </a:lnTo>
                    <a:lnTo>
                      <a:pt x="296" y="16"/>
                    </a:lnTo>
                    <a:lnTo>
                      <a:pt x="298" y="19"/>
                    </a:lnTo>
                    <a:lnTo>
                      <a:pt x="296" y="21"/>
                    </a:lnTo>
                    <a:lnTo>
                      <a:pt x="295" y="24"/>
                    </a:lnTo>
                    <a:lnTo>
                      <a:pt x="292" y="24"/>
                    </a:lnTo>
                    <a:lnTo>
                      <a:pt x="280" y="24"/>
                    </a:lnTo>
                    <a:close/>
                    <a:moveTo>
                      <a:pt x="59" y="234"/>
                    </a:moveTo>
                    <a:lnTo>
                      <a:pt x="6" y="234"/>
                    </a:lnTo>
                    <a:lnTo>
                      <a:pt x="3" y="233"/>
                    </a:lnTo>
                    <a:lnTo>
                      <a:pt x="0" y="231"/>
                    </a:lnTo>
                    <a:lnTo>
                      <a:pt x="0" y="227"/>
                    </a:lnTo>
                    <a:lnTo>
                      <a:pt x="0" y="6"/>
                    </a:lnTo>
                    <a:lnTo>
                      <a:pt x="0" y="3"/>
                    </a:lnTo>
                    <a:lnTo>
                      <a:pt x="3" y="2"/>
                    </a:lnTo>
                    <a:lnTo>
                      <a:pt x="6" y="0"/>
                    </a:lnTo>
                    <a:lnTo>
                      <a:pt x="300" y="0"/>
                    </a:lnTo>
                    <a:lnTo>
                      <a:pt x="303" y="2"/>
                    </a:lnTo>
                    <a:lnTo>
                      <a:pt x="305" y="3"/>
                    </a:lnTo>
                    <a:lnTo>
                      <a:pt x="306" y="6"/>
                    </a:lnTo>
                    <a:lnTo>
                      <a:pt x="306" y="39"/>
                    </a:lnTo>
                    <a:lnTo>
                      <a:pt x="360" y="39"/>
                    </a:lnTo>
                    <a:lnTo>
                      <a:pt x="363" y="41"/>
                    </a:lnTo>
                    <a:lnTo>
                      <a:pt x="364" y="44"/>
                    </a:lnTo>
                    <a:lnTo>
                      <a:pt x="365" y="47"/>
                    </a:lnTo>
                    <a:lnTo>
                      <a:pt x="365" y="267"/>
                    </a:lnTo>
                    <a:lnTo>
                      <a:pt x="364" y="270"/>
                    </a:lnTo>
                    <a:lnTo>
                      <a:pt x="363" y="272"/>
                    </a:lnTo>
                    <a:lnTo>
                      <a:pt x="360" y="273"/>
                    </a:lnTo>
                    <a:lnTo>
                      <a:pt x="65" y="273"/>
                    </a:lnTo>
                    <a:lnTo>
                      <a:pt x="62" y="272"/>
                    </a:lnTo>
                    <a:lnTo>
                      <a:pt x="59" y="270"/>
                    </a:lnTo>
                    <a:lnTo>
                      <a:pt x="59" y="267"/>
                    </a:lnTo>
                    <a:lnTo>
                      <a:pt x="59" y="234"/>
                    </a:lnTo>
                    <a:close/>
                    <a:moveTo>
                      <a:pt x="13" y="24"/>
                    </a:moveTo>
                    <a:lnTo>
                      <a:pt x="10" y="24"/>
                    </a:lnTo>
                    <a:lnTo>
                      <a:pt x="9" y="21"/>
                    </a:lnTo>
                    <a:lnTo>
                      <a:pt x="9" y="19"/>
                    </a:lnTo>
                    <a:lnTo>
                      <a:pt x="9" y="16"/>
                    </a:lnTo>
                    <a:lnTo>
                      <a:pt x="10" y="15"/>
                    </a:lnTo>
                    <a:lnTo>
                      <a:pt x="13" y="13"/>
                    </a:lnTo>
                    <a:lnTo>
                      <a:pt x="67" y="13"/>
                    </a:lnTo>
                    <a:lnTo>
                      <a:pt x="68" y="15"/>
                    </a:lnTo>
                    <a:lnTo>
                      <a:pt x="71" y="16"/>
                    </a:lnTo>
                    <a:lnTo>
                      <a:pt x="71" y="19"/>
                    </a:lnTo>
                    <a:lnTo>
                      <a:pt x="71" y="21"/>
                    </a:lnTo>
                    <a:lnTo>
                      <a:pt x="68" y="24"/>
                    </a:lnTo>
                    <a:lnTo>
                      <a:pt x="67" y="24"/>
                    </a:lnTo>
                    <a:lnTo>
                      <a:pt x="13" y="24"/>
                    </a:lnTo>
                    <a:close/>
                    <a:moveTo>
                      <a:pt x="296" y="37"/>
                    </a:moveTo>
                    <a:lnTo>
                      <a:pt x="9" y="37"/>
                    </a:lnTo>
                    <a:lnTo>
                      <a:pt x="9" y="224"/>
                    </a:lnTo>
                    <a:lnTo>
                      <a:pt x="296" y="224"/>
                    </a:lnTo>
                    <a:lnTo>
                      <a:pt x="296" y="37"/>
                    </a:lnTo>
                    <a:close/>
                  </a:path>
                </a:pathLst>
              </a:custGeom>
              <a:solidFill>
                <a:srgbClr val="FFE600"/>
              </a:solidFill>
              <a:ln w="0">
                <a:solidFill>
                  <a:srgbClr val="FFE600"/>
                </a:solidFill>
                <a:prstDash val="solid"/>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nb-NO" sz="1600" b="0" i="0" u="none" strike="noStrike" kern="0" cap="none" spc="0" normalizeH="0" baseline="0" noProof="0">
                  <a:ln>
                    <a:noFill/>
                  </a:ln>
                  <a:solidFill>
                    <a:schemeClr val="bg1"/>
                  </a:solidFill>
                  <a:effectLst/>
                  <a:uLnTx/>
                  <a:uFillTx/>
                  <a:latin typeface="EY interstate"/>
                </a:endParaRPr>
              </a:p>
            </p:txBody>
          </p:sp>
        </p:grpSp>
        <p:sp>
          <p:nvSpPr>
            <p:cNvPr id="76" name="Rectangle 75">
              <a:extLst>
                <a:ext uri="{FF2B5EF4-FFF2-40B4-BE49-F238E27FC236}">
                  <a16:creationId xmlns:a16="http://schemas.microsoft.com/office/drawing/2014/main" id="{ED837D83-9F68-3974-F58F-E6D19E720B50}"/>
                </a:ext>
              </a:extLst>
            </p:cNvPr>
            <p:cNvSpPr/>
            <p:nvPr/>
          </p:nvSpPr>
          <p:spPr>
            <a:xfrm>
              <a:off x="158355" y="3672733"/>
              <a:ext cx="548640" cy="182880"/>
            </a:xfrm>
            <a:prstGeom prst="rect">
              <a:avLst/>
            </a:prstGeom>
            <a:noFill/>
            <a:ln w="9525" cap="flat" cmpd="sng" algn="ctr">
              <a:solidFill>
                <a:srgbClr val="FFE600"/>
              </a:solidFill>
              <a:prstDash val="solid"/>
            </a:ln>
            <a:effectLst/>
          </p:spPr>
          <p:txBody>
            <a:bodyPr lIns="18288" tIns="45720" rIns="18288" bIns="45720" rtlCol="0" anchor="ctr" anchorCtr="0"/>
            <a:lstStyle/>
            <a:p>
              <a:pPr marL="0" marR="0" lvl="0" indent="0" algn="ctr" defTabSz="914400" eaLnBrk="1" fontAlgn="auto" latinLnBrk="0" hangingPunct="1">
                <a:lnSpc>
                  <a:spcPct val="100000"/>
                </a:lnSpc>
                <a:spcBef>
                  <a:spcPts val="0"/>
                </a:spcBef>
                <a:spcAft>
                  <a:spcPts val="400"/>
                </a:spcAft>
                <a:buClr>
                  <a:srgbClr val="FFD200"/>
                </a:buClr>
                <a:buSzPct val="70000"/>
                <a:buFontTx/>
                <a:buNone/>
                <a:tabLst/>
                <a:defRPr/>
              </a:pPr>
              <a:r>
                <a:rPr kumimoji="0" lang="en-US" sz="1000" b="1" i="0" u="none" strike="noStrike" kern="0" cap="none" spc="0" normalizeH="0" baseline="0" noProof="0">
                  <a:ln>
                    <a:noFill/>
                  </a:ln>
                  <a:solidFill>
                    <a:schemeClr val="bg1"/>
                  </a:solidFill>
                  <a:effectLst/>
                  <a:uLnTx/>
                  <a:uFillTx/>
                  <a:latin typeface="EY interstate"/>
                </a:rPr>
                <a:t>Process</a:t>
              </a:r>
            </a:p>
          </p:txBody>
        </p:sp>
      </p:grpSp>
      <p:cxnSp>
        <p:nvCxnSpPr>
          <p:cNvPr id="85" name="Straight Connector 84">
            <a:extLst>
              <a:ext uri="{FF2B5EF4-FFF2-40B4-BE49-F238E27FC236}">
                <a16:creationId xmlns:a16="http://schemas.microsoft.com/office/drawing/2014/main" id="{FCDF8B62-A723-E98B-9241-E789BD02FFDC}"/>
              </a:ext>
            </a:extLst>
          </p:cNvPr>
          <p:cNvCxnSpPr/>
          <p:nvPr/>
        </p:nvCxnSpPr>
        <p:spPr>
          <a:xfrm>
            <a:off x="642202" y="6465179"/>
            <a:ext cx="10972800" cy="0"/>
          </a:xfrm>
          <a:prstGeom prst="line">
            <a:avLst/>
          </a:prstGeom>
          <a:noFill/>
          <a:ln w="9525" cap="flat" cmpd="sng" algn="ctr">
            <a:solidFill>
              <a:schemeClr val="bg1"/>
            </a:solidFill>
            <a:prstDash val="dash"/>
            <a:tailEnd type="none"/>
          </a:ln>
          <a:effectLst/>
        </p:spPr>
      </p:cxnSp>
    </p:spTree>
    <p:extLst>
      <p:ext uri="{BB962C8B-B14F-4D97-AF65-F5344CB8AC3E}">
        <p14:creationId xmlns:p14="http://schemas.microsoft.com/office/powerpoint/2010/main" val="228972149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F9A5FB-EC45-5AE5-C141-6577C82C5DF8}"/>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8B63F14-89CB-8FC7-7479-2DE547F24A4A}"/>
              </a:ext>
            </a:extLst>
          </p:cNvPr>
          <p:cNvSpPr txBox="1">
            <a:spLocks/>
          </p:cNvSpPr>
          <p:nvPr/>
        </p:nvSpPr>
        <p:spPr>
          <a:xfrm>
            <a:off x="614815" y="415563"/>
            <a:ext cx="8244486" cy="330724"/>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Intercompany Hub (ICH) Process flow </a:t>
            </a:r>
          </a:p>
        </p:txBody>
      </p:sp>
      <p:sp>
        <p:nvSpPr>
          <p:cNvPr id="4" name="TextBox 3">
            <a:extLst>
              <a:ext uri="{FF2B5EF4-FFF2-40B4-BE49-F238E27FC236}">
                <a16:creationId xmlns:a16="http://schemas.microsoft.com/office/drawing/2014/main" id="{2EBBC46F-788F-8882-B831-CA7956E52918}"/>
              </a:ext>
            </a:extLst>
          </p:cNvPr>
          <p:cNvSpPr txBox="1"/>
          <p:nvPr/>
        </p:nvSpPr>
        <p:spPr>
          <a:xfrm>
            <a:off x="169719" y="1008763"/>
            <a:ext cx="11734800" cy="584775"/>
          </a:xfrm>
          <a:prstGeom prst="rect">
            <a:avLst/>
          </a:prstGeom>
          <a:noFill/>
        </p:spPr>
        <p:txBody>
          <a:bodyPr wrap="square" rtlCol="0">
            <a:spAutoFit/>
          </a:bodyPr>
          <a:lstStyle/>
          <a:p>
            <a:pPr algn="just"/>
            <a:r>
              <a:rPr lang="en-IN" sz="1400">
                <a:solidFill>
                  <a:schemeClr val="bg1"/>
                </a:solidFill>
                <a:latin typeface="EY interstate"/>
                <a:cs typeface="Arial" panose="020B0604020202020204" pitchFamily="34" charset="0"/>
              </a:rPr>
              <a:t>The BlackLine Intercompany hub is a solution that can address your intercompany process needs. The solution has a structured workflow capability and a central repository to handle large volume of transactions to build efficiency and cost saving into your organization</a:t>
            </a:r>
            <a:r>
              <a:rPr lang="en-IN">
                <a:solidFill>
                  <a:schemeClr val="bg1"/>
                </a:solidFill>
                <a:latin typeface="EY interstate"/>
              </a:rPr>
              <a:t>.</a:t>
            </a:r>
          </a:p>
        </p:txBody>
      </p:sp>
      <p:sp>
        <p:nvSpPr>
          <p:cNvPr id="5" name="Pentagon 5">
            <a:extLst>
              <a:ext uri="{FF2B5EF4-FFF2-40B4-BE49-F238E27FC236}">
                <a16:creationId xmlns:a16="http://schemas.microsoft.com/office/drawing/2014/main" id="{D9CE2B3A-9A04-439F-E8BC-1A57B2995E17}"/>
              </a:ext>
            </a:extLst>
          </p:cNvPr>
          <p:cNvSpPr/>
          <p:nvPr/>
        </p:nvSpPr>
        <p:spPr>
          <a:xfrm>
            <a:off x="169719" y="1617319"/>
            <a:ext cx="2246800" cy="411415"/>
          </a:xfrm>
          <a:prstGeom prst="homePlate">
            <a:avLst/>
          </a:prstGeom>
          <a:solidFill>
            <a:schemeClr val="bg1">
              <a:lumMod val="85000"/>
            </a:schemeClr>
          </a:solidFill>
          <a:ln w="12700">
            <a:solidFill>
              <a:schemeClr val="bg2"/>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8544" tIns="35986" rIns="68544" bIns="35986" numCol="1" spcCol="1270" anchor="ctr" anchorCtr="0">
            <a:noAutofit/>
          </a:bodyPr>
          <a:lstStyle/>
          <a:p>
            <a:pPr algn="ctr" defTabSz="1199510">
              <a:lnSpc>
                <a:spcPct val="90000"/>
              </a:lnSpc>
              <a:spcBef>
                <a:spcPct val="0"/>
              </a:spcBef>
              <a:spcAft>
                <a:spcPct val="35000"/>
              </a:spcAft>
            </a:pPr>
            <a:r>
              <a:rPr lang="en-US" sz="1000" b="1">
                <a:solidFill>
                  <a:schemeClr val="tx1"/>
                </a:solidFill>
                <a:latin typeface="EY interstate"/>
                <a:cs typeface="Arial" panose="020B0604020202020204" pitchFamily="34" charset="0"/>
              </a:rPr>
              <a:t>Trading rules &amp; agreements</a:t>
            </a:r>
          </a:p>
        </p:txBody>
      </p:sp>
      <p:sp>
        <p:nvSpPr>
          <p:cNvPr id="6" name="Chevron 8">
            <a:extLst>
              <a:ext uri="{FF2B5EF4-FFF2-40B4-BE49-F238E27FC236}">
                <a16:creationId xmlns:a16="http://schemas.microsoft.com/office/drawing/2014/main" id="{AFB4AD97-9D13-BE17-CA5B-80F0367C300E}"/>
              </a:ext>
            </a:extLst>
          </p:cNvPr>
          <p:cNvSpPr/>
          <p:nvPr/>
        </p:nvSpPr>
        <p:spPr>
          <a:xfrm>
            <a:off x="2322640" y="1617319"/>
            <a:ext cx="2126219" cy="411415"/>
          </a:xfrm>
          <a:prstGeom prst="chevron">
            <a:avLst/>
          </a:prstGeom>
          <a:solidFill>
            <a:schemeClr val="bg1">
              <a:lumMod val="85000"/>
            </a:schemeClr>
          </a:solidFill>
          <a:ln w="12700">
            <a:solidFill>
              <a:schemeClr val="bg2"/>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8544" tIns="35986" rIns="68544" bIns="35986" numCol="1" spcCol="1270" anchor="ctr" anchorCtr="0">
            <a:noAutofit/>
          </a:bodyPr>
          <a:lstStyle/>
          <a:p>
            <a:pPr algn="ctr" defTabSz="1199510">
              <a:lnSpc>
                <a:spcPct val="90000"/>
              </a:lnSpc>
              <a:spcBef>
                <a:spcPct val="0"/>
              </a:spcBef>
              <a:spcAft>
                <a:spcPct val="35000"/>
              </a:spcAft>
            </a:pPr>
            <a:r>
              <a:rPr lang="en-US" sz="1000" b="1">
                <a:solidFill>
                  <a:schemeClr val="tx1"/>
                </a:solidFill>
                <a:latin typeface="EY interstate"/>
                <a:cs typeface="Arial" panose="020B0604020202020204" pitchFamily="34" charset="0"/>
              </a:rPr>
              <a:t>Transaction &amp; data management</a:t>
            </a:r>
          </a:p>
        </p:txBody>
      </p:sp>
      <p:sp>
        <p:nvSpPr>
          <p:cNvPr id="8" name="Chevron 9">
            <a:extLst>
              <a:ext uri="{FF2B5EF4-FFF2-40B4-BE49-F238E27FC236}">
                <a16:creationId xmlns:a16="http://schemas.microsoft.com/office/drawing/2014/main" id="{6BEA9B6F-A02F-0B4B-6812-4C6D6257F578}"/>
              </a:ext>
            </a:extLst>
          </p:cNvPr>
          <p:cNvSpPr/>
          <p:nvPr/>
        </p:nvSpPr>
        <p:spPr>
          <a:xfrm>
            <a:off x="4358321" y="1617319"/>
            <a:ext cx="1962835" cy="411415"/>
          </a:xfrm>
          <a:prstGeom prst="chevron">
            <a:avLst/>
          </a:prstGeom>
          <a:solidFill>
            <a:schemeClr val="bg1">
              <a:lumMod val="85000"/>
            </a:schemeClr>
          </a:solidFill>
          <a:ln w="12700">
            <a:solidFill>
              <a:schemeClr val="bg2"/>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8544" tIns="35986" rIns="68544" bIns="35986" numCol="1" spcCol="1270" anchor="ctr" anchorCtr="0">
            <a:noAutofit/>
          </a:bodyPr>
          <a:lstStyle/>
          <a:p>
            <a:pPr algn="ctr" defTabSz="1199510">
              <a:lnSpc>
                <a:spcPct val="90000"/>
              </a:lnSpc>
              <a:spcBef>
                <a:spcPct val="0"/>
              </a:spcBef>
              <a:spcAft>
                <a:spcPct val="35000"/>
              </a:spcAft>
            </a:pPr>
            <a:r>
              <a:rPr lang="en-US" sz="1000" b="1">
                <a:solidFill>
                  <a:schemeClr val="tx1"/>
                </a:solidFill>
                <a:latin typeface="EY interstate"/>
                <a:cs typeface="Arial" panose="020B0604020202020204" pitchFamily="34" charset="0"/>
              </a:rPr>
              <a:t>Invoice &amp; journals</a:t>
            </a:r>
          </a:p>
        </p:txBody>
      </p:sp>
      <p:sp>
        <p:nvSpPr>
          <p:cNvPr id="9" name="Chevron 10">
            <a:extLst>
              <a:ext uri="{FF2B5EF4-FFF2-40B4-BE49-F238E27FC236}">
                <a16:creationId xmlns:a16="http://schemas.microsoft.com/office/drawing/2014/main" id="{3FDD334A-A2F1-F8B6-6CF3-4F211668278B}"/>
              </a:ext>
            </a:extLst>
          </p:cNvPr>
          <p:cNvSpPr/>
          <p:nvPr/>
        </p:nvSpPr>
        <p:spPr>
          <a:xfrm>
            <a:off x="6230617" y="1616352"/>
            <a:ext cx="1846886" cy="411415"/>
          </a:xfrm>
          <a:prstGeom prst="chevron">
            <a:avLst/>
          </a:prstGeom>
          <a:solidFill>
            <a:schemeClr val="bg1">
              <a:lumMod val="85000"/>
            </a:schemeClr>
          </a:solidFill>
          <a:ln w="12700">
            <a:solidFill>
              <a:schemeClr val="bg2"/>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8544" tIns="35986" rIns="68544" bIns="35986" numCol="1" spcCol="1270" anchor="ctr" anchorCtr="0">
            <a:noAutofit/>
          </a:bodyPr>
          <a:lstStyle/>
          <a:p>
            <a:pPr algn="ctr" defTabSz="1199510">
              <a:lnSpc>
                <a:spcPct val="90000"/>
              </a:lnSpc>
              <a:spcBef>
                <a:spcPct val="0"/>
              </a:spcBef>
              <a:spcAft>
                <a:spcPct val="35000"/>
              </a:spcAft>
            </a:pPr>
            <a:r>
              <a:rPr lang="en-US" sz="1000" b="1">
                <a:solidFill>
                  <a:schemeClr val="tx1"/>
                </a:solidFill>
                <a:latin typeface="EY interstate"/>
                <a:cs typeface="Arial" panose="020B0604020202020204" pitchFamily="34" charset="0"/>
              </a:rPr>
              <a:t>Reconciliation &amp; matching</a:t>
            </a:r>
          </a:p>
        </p:txBody>
      </p:sp>
      <p:sp>
        <p:nvSpPr>
          <p:cNvPr id="11" name="Chevron 24">
            <a:extLst>
              <a:ext uri="{FF2B5EF4-FFF2-40B4-BE49-F238E27FC236}">
                <a16:creationId xmlns:a16="http://schemas.microsoft.com/office/drawing/2014/main" id="{A44E2972-4175-7533-5B87-6E3B1022A9CB}"/>
              </a:ext>
            </a:extLst>
          </p:cNvPr>
          <p:cNvSpPr/>
          <p:nvPr/>
        </p:nvSpPr>
        <p:spPr>
          <a:xfrm>
            <a:off x="7992648" y="1610699"/>
            <a:ext cx="1918730" cy="411415"/>
          </a:xfrm>
          <a:prstGeom prst="chevron">
            <a:avLst/>
          </a:prstGeom>
          <a:solidFill>
            <a:schemeClr val="bg1">
              <a:lumMod val="85000"/>
            </a:schemeClr>
          </a:solidFill>
          <a:ln w="12700">
            <a:solidFill>
              <a:schemeClr val="bg2"/>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8544" tIns="35986" rIns="68544" bIns="35986" numCol="1" spcCol="1270" anchor="ctr" anchorCtr="0">
            <a:noAutofit/>
          </a:bodyPr>
          <a:lstStyle/>
          <a:p>
            <a:pPr algn="ctr" defTabSz="1199510">
              <a:lnSpc>
                <a:spcPct val="90000"/>
              </a:lnSpc>
              <a:spcBef>
                <a:spcPct val="0"/>
              </a:spcBef>
              <a:spcAft>
                <a:spcPct val="35000"/>
              </a:spcAft>
            </a:pPr>
            <a:r>
              <a:rPr lang="en-US" sz="1000" b="1">
                <a:solidFill>
                  <a:schemeClr val="tx1"/>
                </a:solidFill>
                <a:latin typeface="EY interstate"/>
                <a:cs typeface="Arial" panose="020B0604020202020204" pitchFamily="34" charset="0"/>
              </a:rPr>
              <a:t>Netting &amp; settlement</a:t>
            </a:r>
          </a:p>
        </p:txBody>
      </p:sp>
      <p:sp>
        <p:nvSpPr>
          <p:cNvPr id="14" name="Chevron 11">
            <a:extLst>
              <a:ext uri="{FF2B5EF4-FFF2-40B4-BE49-F238E27FC236}">
                <a16:creationId xmlns:a16="http://schemas.microsoft.com/office/drawing/2014/main" id="{E1921E38-9146-09F0-B151-64C9F1C5F361}"/>
              </a:ext>
            </a:extLst>
          </p:cNvPr>
          <p:cNvSpPr/>
          <p:nvPr/>
        </p:nvSpPr>
        <p:spPr>
          <a:xfrm>
            <a:off x="9800083" y="1617975"/>
            <a:ext cx="2126219" cy="411415"/>
          </a:xfrm>
          <a:prstGeom prst="chevron">
            <a:avLst/>
          </a:prstGeom>
          <a:solidFill>
            <a:schemeClr val="bg1">
              <a:lumMod val="85000"/>
            </a:schemeClr>
          </a:solidFill>
          <a:ln w="12700">
            <a:solidFill>
              <a:schemeClr val="bg2"/>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8544" tIns="35986" rIns="68544" bIns="35986" numCol="1" spcCol="1270" anchor="ctr" anchorCtr="0">
            <a:noAutofit/>
          </a:bodyPr>
          <a:lstStyle/>
          <a:p>
            <a:pPr algn="ctr" defTabSz="1199510">
              <a:lnSpc>
                <a:spcPct val="90000"/>
              </a:lnSpc>
              <a:spcBef>
                <a:spcPct val="0"/>
              </a:spcBef>
              <a:spcAft>
                <a:spcPct val="35000"/>
              </a:spcAft>
            </a:pPr>
            <a:r>
              <a:rPr lang="en-US" sz="1000" b="1">
                <a:solidFill>
                  <a:schemeClr val="tx1"/>
                </a:solidFill>
                <a:latin typeface="EY interstate"/>
                <a:cs typeface="Arial" panose="020B0604020202020204" pitchFamily="34" charset="0"/>
              </a:rPr>
              <a:t>Reporting &amp; metrics</a:t>
            </a:r>
          </a:p>
        </p:txBody>
      </p:sp>
      <p:sp>
        <p:nvSpPr>
          <p:cNvPr id="16" name="Rectangle 15">
            <a:extLst>
              <a:ext uri="{FF2B5EF4-FFF2-40B4-BE49-F238E27FC236}">
                <a16:creationId xmlns:a16="http://schemas.microsoft.com/office/drawing/2014/main" id="{162B0F79-8B86-196E-CBF7-D71931574576}"/>
              </a:ext>
            </a:extLst>
          </p:cNvPr>
          <p:cNvSpPr/>
          <p:nvPr/>
        </p:nvSpPr>
        <p:spPr>
          <a:xfrm>
            <a:off x="4333939" y="2120170"/>
            <a:ext cx="1768556" cy="646331"/>
          </a:xfrm>
          <a:prstGeom prst="rect">
            <a:avLst/>
          </a:prstGeom>
          <a:noFill/>
          <a:ln w="12700">
            <a:solidFill>
              <a:srgbClr val="FFE600"/>
            </a:solidFill>
          </a:ln>
        </p:spPr>
        <p:txBody>
          <a:bodyPr wrap="square">
            <a:spAutoFit/>
          </a:bodyPr>
          <a:lstStyle/>
          <a:p>
            <a:r>
              <a:rPr lang="en-US" sz="900" b="1" kern="0">
                <a:solidFill>
                  <a:schemeClr val="bg1"/>
                </a:solidFill>
                <a:latin typeface="EY interstate"/>
                <a:cs typeface="Arial" panose="020B0604020202020204" pitchFamily="34" charset="0"/>
              </a:rPr>
              <a:t>Timely and accurate invoicing between entities and settling via netting and/or cash as well as dispute resolution</a:t>
            </a:r>
          </a:p>
        </p:txBody>
      </p:sp>
      <p:sp>
        <p:nvSpPr>
          <p:cNvPr id="18" name="Rectangle 17">
            <a:extLst>
              <a:ext uri="{FF2B5EF4-FFF2-40B4-BE49-F238E27FC236}">
                <a16:creationId xmlns:a16="http://schemas.microsoft.com/office/drawing/2014/main" id="{389F5C80-4D2D-9BF3-62D0-426FEFD580FA}"/>
              </a:ext>
            </a:extLst>
          </p:cNvPr>
          <p:cNvSpPr/>
          <p:nvPr/>
        </p:nvSpPr>
        <p:spPr>
          <a:xfrm>
            <a:off x="6238501" y="2104780"/>
            <a:ext cx="1647140" cy="830997"/>
          </a:xfrm>
          <a:prstGeom prst="rect">
            <a:avLst/>
          </a:prstGeom>
          <a:noFill/>
          <a:ln w="12700">
            <a:solidFill>
              <a:srgbClr val="FFE600"/>
            </a:solidFill>
          </a:ln>
        </p:spPr>
        <p:txBody>
          <a:bodyPr wrap="square">
            <a:spAutoFit/>
          </a:bodyPr>
          <a:lstStyle/>
          <a:p>
            <a:r>
              <a:rPr lang="en-US" sz="900" b="1" kern="0">
                <a:solidFill>
                  <a:schemeClr val="bg1"/>
                </a:solidFill>
                <a:latin typeface="EY interstate"/>
                <a:cs typeface="Arial" panose="020B0604020202020204" pitchFamily="34" charset="0"/>
              </a:rPr>
              <a:t>Balancing and matching Intercompany transactions feeding reconciliation processes.</a:t>
            </a:r>
          </a:p>
          <a:p>
            <a:endParaRPr lang="en-US" sz="600" b="1" kern="0">
              <a:solidFill>
                <a:schemeClr val="bg1"/>
              </a:solidFill>
              <a:latin typeface="EY interstate"/>
              <a:cs typeface="Arial" panose="020B0604020202020204" pitchFamily="34" charset="0"/>
            </a:endParaRPr>
          </a:p>
          <a:p>
            <a:endParaRPr lang="en-US" sz="600" b="1" kern="0">
              <a:solidFill>
                <a:schemeClr val="bg1"/>
              </a:solidFill>
              <a:latin typeface="EY interstate"/>
              <a:cs typeface="Arial" panose="020B0604020202020204" pitchFamily="34" charset="0"/>
            </a:endParaRPr>
          </a:p>
        </p:txBody>
      </p:sp>
      <p:sp>
        <p:nvSpPr>
          <p:cNvPr id="35" name="Rectangle 34">
            <a:extLst>
              <a:ext uri="{FF2B5EF4-FFF2-40B4-BE49-F238E27FC236}">
                <a16:creationId xmlns:a16="http://schemas.microsoft.com/office/drawing/2014/main" id="{29010C14-E1ED-F194-99FF-7925C67933CB}"/>
              </a:ext>
            </a:extLst>
          </p:cNvPr>
          <p:cNvSpPr/>
          <p:nvPr/>
        </p:nvSpPr>
        <p:spPr>
          <a:xfrm>
            <a:off x="9868596" y="2120170"/>
            <a:ext cx="1953805" cy="784830"/>
          </a:xfrm>
          <a:prstGeom prst="rect">
            <a:avLst/>
          </a:prstGeom>
          <a:noFill/>
          <a:ln w="12700">
            <a:solidFill>
              <a:srgbClr val="FFE600"/>
            </a:solidFill>
          </a:ln>
        </p:spPr>
        <p:txBody>
          <a:bodyPr wrap="square">
            <a:spAutoFit/>
          </a:bodyPr>
          <a:lstStyle/>
          <a:p>
            <a:r>
              <a:rPr lang="en-US" altLang="en-US" sz="900" b="1" kern="0">
                <a:solidFill>
                  <a:schemeClr val="bg1"/>
                </a:solidFill>
                <a:latin typeface="EY interstate"/>
                <a:cs typeface="Arial" panose="020B0604020202020204" pitchFamily="34" charset="0"/>
              </a:rPr>
              <a:t>Monitoring of key metrics to inform and adjust the integrated Intercompany process that can be aligned to goals and key performance indicators</a:t>
            </a:r>
            <a:endParaRPr lang="en-US" sz="900" b="1" kern="0">
              <a:solidFill>
                <a:schemeClr val="bg1"/>
              </a:solidFill>
              <a:latin typeface="EY interstate"/>
              <a:cs typeface="Arial" panose="020B0604020202020204" pitchFamily="34" charset="0"/>
            </a:endParaRPr>
          </a:p>
        </p:txBody>
      </p:sp>
      <p:sp>
        <p:nvSpPr>
          <p:cNvPr id="36" name="TextBox 35">
            <a:extLst>
              <a:ext uri="{FF2B5EF4-FFF2-40B4-BE49-F238E27FC236}">
                <a16:creationId xmlns:a16="http://schemas.microsoft.com/office/drawing/2014/main" id="{9D0CBA82-0889-1BAE-5EE6-D019A87CB113}"/>
              </a:ext>
            </a:extLst>
          </p:cNvPr>
          <p:cNvSpPr txBox="1"/>
          <p:nvPr/>
        </p:nvSpPr>
        <p:spPr>
          <a:xfrm>
            <a:off x="169719" y="3069928"/>
            <a:ext cx="1918745" cy="1254189"/>
          </a:xfrm>
          <a:prstGeom prst="rect">
            <a:avLst/>
          </a:prstGeom>
          <a:noFill/>
        </p:spPr>
        <p:txBody>
          <a:bodyPr wrap="square" lIns="34272" rIns="34272" rtlCol="0">
            <a:spAutoFit/>
          </a:bodyPr>
          <a:lstStyle/>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Define entity hierarchies &amp; trading relationships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Enforce policies and agreements (transfer pricing rules, etc.)</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Administer globally across platforms and regions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Handles currency &amp; exchange rates</a:t>
            </a:r>
          </a:p>
        </p:txBody>
      </p:sp>
      <p:sp>
        <p:nvSpPr>
          <p:cNvPr id="37" name="TextBox 36">
            <a:extLst>
              <a:ext uri="{FF2B5EF4-FFF2-40B4-BE49-F238E27FC236}">
                <a16:creationId xmlns:a16="http://schemas.microsoft.com/office/drawing/2014/main" id="{DBA472D5-710A-E739-66B1-21FE1991E102}"/>
              </a:ext>
            </a:extLst>
          </p:cNvPr>
          <p:cNvSpPr txBox="1"/>
          <p:nvPr/>
        </p:nvSpPr>
        <p:spPr>
          <a:xfrm>
            <a:off x="2077528" y="3071711"/>
            <a:ext cx="2055908" cy="1328569"/>
          </a:xfrm>
          <a:prstGeom prst="rect">
            <a:avLst/>
          </a:prstGeom>
          <a:noFill/>
        </p:spPr>
        <p:txBody>
          <a:bodyPr wrap="square" lIns="34272" rIns="34272" rtlCol="0">
            <a:spAutoFit/>
          </a:bodyPr>
          <a:lstStyle/>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Import, schedule or manually create transactions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Streamline workflow with integrated transfer pricing, dynamic business rules and bulk certification</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Attach supporting documentation, comments and hyperlinks for global visibility and audit support</a:t>
            </a:r>
          </a:p>
        </p:txBody>
      </p:sp>
      <p:sp>
        <p:nvSpPr>
          <p:cNvPr id="38" name="TextBox 37">
            <a:extLst>
              <a:ext uri="{FF2B5EF4-FFF2-40B4-BE49-F238E27FC236}">
                <a16:creationId xmlns:a16="http://schemas.microsoft.com/office/drawing/2014/main" id="{A4B03E5A-093B-0279-2C5F-3D3CCF6070E2}"/>
              </a:ext>
            </a:extLst>
          </p:cNvPr>
          <p:cNvSpPr txBox="1"/>
          <p:nvPr/>
        </p:nvSpPr>
        <p:spPr>
          <a:xfrm>
            <a:off x="4208238" y="3068961"/>
            <a:ext cx="2085463" cy="1467068"/>
          </a:xfrm>
          <a:prstGeom prst="rect">
            <a:avLst/>
          </a:prstGeom>
          <a:noFill/>
        </p:spPr>
        <p:txBody>
          <a:bodyPr wrap="square" lIns="34272" rIns="34272" rtlCol="0">
            <a:spAutoFit/>
          </a:bodyPr>
          <a:lstStyle/>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Automatically generate invoices in compliance with policies and jurisdictional requirements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Automatically create journals across ERP platforms for both sides of the transaction (trading entities)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Automated scheduling &amp; journals with bulk approval based on embedded validation rules</a:t>
            </a:r>
          </a:p>
        </p:txBody>
      </p:sp>
      <p:sp>
        <p:nvSpPr>
          <p:cNvPr id="39" name="TextBox 38">
            <a:extLst>
              <a:ext uri="{FF2B5EF4-FFF2-40B4-BE49-F238E27FC236}">
                <a16:creationId xmlns:a16="http://schemas.microsoft.com/office/drawing/2014/main" id="{5235C1B1-6BA6-389E-F232-2533FBABAA0A}"/>
              </a:ext>
            </a:extLst>
          </p:cNvPr>
          <p:cNvSpPr txBox="1"/>
          <p:nvPr/>
        </p:nvSpPr>
        <p:spPr>
          <a:xfrm>
            <a:off x="6230617" y="3061905"/>
            <a:ext cx="1918745" cy="1808187"/>
          </a:xfrm>
          <a:prstGeom prst="rect">
            <a:avLst/>
          </a:prstGeom>
          <a:noFill/>
        </p:spPr>
        <p:txBody>
          <a:bodyPr wrap="square" lIns="34272" rIns="34272" rtlCol="0">
            <a:spAutoFit/>
          </a:bodyPr>
          <a:lstStyle/>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Integrate seamlessly with the account reconciliation product to substantiate balances with verified transactions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Match transactions globally across ERP platforms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Manage imbalances with exception handling and automated adjustments within tolerable thresholds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Attach supporting documentation</a:t>
            </a:r>
          </a:p>
        </p:txBody>
      </p:sp>
      <p:sp>
        <p:nvSpPr>
          <p:cNvPr id="40" name="TextBox 39">
            <a:extLst>
              <a:ext uri="{FF2B5EF4-FFF2-40B4-BE49-F238E27FC236}">
                <a16:creationId xmlns:a16="http://schemas.microsoft.com/office/drawing/2014/main" id="{FCFC5531-F536-3A7C-27E2-B3E4D427E1A7}"/>
              </a:ext>
            </a:extLst>
          </p:cNvPr>
          <p:cNvSpPr txBox="1"/>
          <p:nvPr/>
        </p:nvSpPr>
        <p:spPr>
          <a:xfrm>
            <a:off x="7951236" y="3068961"/>
            <a:ext cx="1816130" cy="987450"/>
          </a:xfrm>
          <a:prstGeom prst="rect">
            <a:avLst/>
          </a:prstGeom>
          <a:noFill/>
        </p:spPr>
        <p:txBody>
          <a:bodyPr wrap="square" lIns="34272" rIns="34272" rtlCol="0">
            <a:spAutoFit/>
          </a:bodyPr>
          <a:lstStyle/>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Bilateral netting and settlement matrix for global visibility across legal entities and ERP platforms</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Dynamic filtering and drill-down capabilities to monitor and manage unsettled balances </a:t>
            </a:r>
          </a:p>
        </p:txBody>
      </p:sp>
      <p:sp>
        <p:nvSpPr>
          <p:cNvPr id="41" name="TextBox 40">
            <a:extLst>
              <a:ext uri="{FF2B5EF4-FFF2-40B4-BE49-F238E27FC236}">
                <a16:creationId xmlns:a16="http://schemas.microsoft.com/office/drawing/2014/main" id="{FCB09589-91EB-4617-CCFE-1DFEFCFEBCFB}"/>
              </a:ext>
            </a:extLst>
          </p:cNvPr>
          <p:cNvSpPr txBox="1"/>
          <p:nvPr/>
        </p:nvSpPr>
        <p:spPr>
          <a:xfrm>
            <a:off x="9868596" y="3074541"/>
            <a:ext cx="2136271" cy="1190069"/>
          </a:xfrm>
          <a:prstGeom prst="rect">
            <a:avLst/>
          </a:prstGeom>
          <a:noFill/>
        </p:spPr>
        <p:txBody>
          <a:bodyPr wrap="square" lIns="34272" rIns="34272" rtlCol="0">
            <a:spAutoFit/>
          </a:bodyPr>
          <a:lstStyle/>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Configurable dashboards </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Dynamic reporting with drill-down capabilities to the transaction-level – e.g., disclosures, Intercompany out of balance, aging, internal audit</a:t>
            </a:r>
          </a:p>
          <a:p>
            <a:pPr marL="128519" indent="-128519" defTabSz="456945">
              <a:spcAft>
                <a:spcPts val="450"/>
              </a:spcAft>
              <a:buClr>
                <a:srgbClr val="FFE600"/>
              </a:buClr>
              <a:buSzPct val="70000"/>
              <a:buFont typeface="Arial" panose="020B0604020202020204" pitchFamily="34" charset="0"/>
              <a:buChar char="►"/>
              <a:defRPr/>
            </a:pPr>
            <a:r>
              <a:rPr lang="en-US" sz="900">
                <a:solidFill>
                  <a:schemeClr val="bg1"/>
                </a:solidFill>
                <a:latin typeface="EY interstate"/>
                <a:ea typeface="Arial" charset="0"/>
                <a:cs typeface="Arial" panose="020B0604020202020204" pitchFamily="34" charset="0"/>
              </a:rPr>
              <a:t>Helps comply with external regulations and audit requirements</a:t>
            </a:r>
          </a:p>
        </p:txBody>
      </p:sp>
      <p:sp>
        <p:nvSpPr>
          <p:cNvPr id="42" name="Rectangle 41">
            <a:extLst>
              <a:ext uri="{FF2B5EF4-FFF2-40B4-BE49-F238E27FC236}">
                <a16:creationId xmlns:a16="http://schemas.microsoft.com/office/drawing/2014/main" id="{B0CB9577-6654-175E-C046-79C806C02389}"/>
              </a:ext>
            </a:extLst>
          </p:cNvPr>
          <p:cNvSpPr/>
          <p:nvPr/>
        </p:nvSpPr>
        <p:spPr>
          <a:xfrm>
            <a:off x="1706952" y="5423276"/>
            <a:ext cx="8782155" cy="805145"/>
          </a:xfrm>
          <a:prstGeom prst="rect">
            <a:avLst/>
          </a:prstGeom>
          <a:solidFill>
            <a:schemeClr val="bg2"/>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US" sz="1400" b="1">
                <a:solidFill>
                  <a:schemeClr val="tx1"/>
                </a:solidFill>
                <a:latin typeface="EY interstate"/>
                <a:cs typeface="Arial" panose="020B0604020202020204" pitchFamily="34" charset="0"/>
              </a:rPr>
              <a:t>Internal data sources (Excel, ERP, Sub-Ledger, Data Warehouse)</a:t>
            </a:r>
          </a:p>
        </p:txBody>
      </p:sp>
      <p:sp>
        <p:nvSpPr>
          <p:cNvPr id="56" name="Rectangle 55">
            <a:extLst>
              <a:ext uri="{FF2B5EF4-FFF2-40B4-BE49-F238E27FC236}">
                <a16:creationId xmlns:a16="http://schemas.microsoft.com/office/drawing/2014/main" id="{D39AA20E-33F0-3894-A421-2C2E52CFD2CF}"/>
              </a:ext>
            </a:extLst>
          </p:cNvPr>
          <p:cNvSpPr/>
          <p:nvPr/>
        </p:nvSpPr>
        <p:spPr>
          <a:xfrm>
            <a:off x="8020793" y="2120170"/>
            <a:ext cx="1712651" cy="800219"/>
          </a:xfrm>
          <a:prstGeom prst="rect">
            <a:avLst/>
          </a:prstGeom>
          <a:noFill/>
          <a:ln w="12700">
            <a:solidFill>
              <a:srgbClr val="FFE600"/>
            </a:solidFill>
          </a:ln>
        </p:spPr>
        <p:txBody>
          <a:bodyPr wrap="square">
            <a:spAutoFit/>
          </a:bodyPr>
          <a:lstStyle/>
          <a:p>
            <a:r>
              <a:rPr lang="en-US" sz="900" b="1" kern="0">
                <a:solidFill>
                  <a:schemeClr val="bg1"/>
                </a:solidFill>
                <a:latin typeface="EY interstate"/>
                <a:cs typeface="Arial" panose="020B0604020202020204" pitchFamily="34" charset="0"/>
              </a:rPr>
              <a:t>Net and settle</a:t>
            </a:r>
          </a:p>
          <a:p>
            <a:r>
              <a:rPr lang="en-US" sz="900" b="1" kern="0">
                <a:solidFill>
                  <a:schemeClr val="bg1"/>
                </a:solidFill>
                <a:latin typeface="EY interstate"/>
                <a:cs typeface="Arial" panose="020B0604020202020204" pitchFamily="34" charset="0"/>
              </a:rPr>
              <a:t>intercompany transactions between related parties.</a:t>
            </a:r>
          </a:p>
          <a:p>
            <a:endParaRPr lang="en-US" sz="1050" b="1" kern="0">
              <a:solidFill>
                <a:schemeClr val="bg1"/>
              </a:solidFill>
              <a:latin typeface="EY interstate"/>
            </a:endParaRPr>
          </a:p>
          <a:p>
            <a:endParaRPr lang="en-US" sz="900" b="1" kern="0">
              <a:solidFill>
                <a:schemeClr val="bg1"/>
              </a:solidFill>
              <a:latin typeface="EY interstate"/>
            </a:endParaRPr>
          </a:p>
        </p:txBody>
      </p:sp>
      <p:sp>
        <p:nvSpPr>
          <p:cNvPr id="57" name="Rectangle 56">
            <a:extLst>
              <a:ext uri="{FF2B5EF4-FFF2-40B4-BE49-F238E27FC236}">
                <a16:creationId xmlns:a16="http://schemas.microsoft.com/office/drawing/2014/main" id="{A805DB67-19F2-D902-1B43-6838B6A88831}"/>
              </a:ext>
            </a:extLst>
          </p:cNvPr>
          <p:cNvSpPr/>
          <p:nvPr/>
        </p:nvSpPr>
        <p:spPr>
          <a:xfrm>
            <a:off x="2287218" y="2120170"/>
            <a:ext cx="1925436" cy="646331"/>
          </a:xfrm>
          <a:prstGeom prst="rect">
            <a:avLst/>
          </a:prstGeom>
          <a:noFill/>
          <a:ln w="12700">
            <a:solidFill>
              <a:srgbClr val="FFE600"/>
            </a:solidFill>
          </a:ln>
        </p:spPr>
        <p:txBody>
          <a:bodyPr wrap="square">
            <a:spAutoFit/>
          </a:bodyPr>
          <a:lstStyle/>
          <a:p>
            <a:r>
              <a:rPr lang="en-US" sz="900" b="1" kern="0">
                <a:solidFill>
                  <a:schemeClr val="bg1"/>
                </a:solidFill>
                <a:latin typeface="EY interstate"/>
                <a:cs typeface="Arial" panose="020B0604020202020204" pitchFamily="34" charset="0"/>
              </a:rPr>
              <a:t>Initiation of I/C transactions based on types. Management of data source( automated  vs. manual)</a:t>
            </a:r>
          </a:p>
          <a:p>
            <a:endParaRPr lang="en-US" sz="900" b="1" kern="0">
              <a:solidFill>
                <a:schemeClr val="bg1"/>
              </a:solidFill>
              <a:latin typeface="EY interstate"/>
              <a:cs typeface="Arial" panose="020B0604020202020204" pitchFamily="34" charset="0"/>
            </a:endParaRPr>
          </a:p>
        </p:txBody>
      </p:sp>
      <p:sp>
        <p:nvSpPr>
          <p:cNvPr id="58" name="Rectangle 57">
            <a:extLst>
              <a:ext uri="{FF2B5EF4-FFF2-40B4-BE49-F238E27FC236}">
                <a16:creationId xmlns:a16="http://schemas.microsoft.com/office/drawing/2014/main" id="{A0BA03BE-973E-87CB-6C8C-559E7AC0765E}"/>
              </a:ext>
            </a:extLst>
          </p:cNvPr>
          <p:cNvSpPr/>
          <p:nvPr/>
        </p:nvSpPr>
        <p:spPr>
          <a:xfrm>
            <a:off x="183677" y="2112802"/>
            <a:ext cx="1982256" cy="646331"/>
          </a:xfrm>
          <a:prstGeom prst="rect">
            <a:avLst/>
          </a:prstGeom>
          <a:noFill/>
          <a:ln w="12700">
            <a:solidFill>
              <a:srgbClr val="FFE600"/>
            </a:solidFill>
          </a:ln>
        </p:spPr>
        <p:txBody>
          <a:bodyPr wrap="square">
            <a:spAutoFit/>
          </a:bodyPr>
          <a:lstStyle/>
          <a:p>
            <a:r>
              <a:rPr lang="en-US" sz="900" b="1" kern="0">
                <a:solidFill>
                  <a:schemeClr val="bg1"/>
                </a:solidFill>
                <a:latin typeface="EY interstate"/>
                <a:cs typeface="Arial" panose="020B0604020202020204" pitchFamily="34" charset="0"/>
              </a:rPr>
              <a:t>Legal agreement between countries and entities that establishes agreed upon price for goods/services.</a:t>
            </a:r>
          </a:p>
          <a:p>
            <a:endParaRPr lang="en-US" sz="900" b="1" kern="0">
              <a:solidFill>
                <a:schemeClr val="bg1"/>
              </a:solidFill>
              <a:latin typeface="EY interstate"/>
              <a:cs typeface="Arial" panose="020B0604020202020204" pitchFamily="34" charset="0"/>
            </a:endParaRPr>
          </a:p>
        </p:txBody>
      </p:sp>
      <p:sp>
        <p:nvSpPr>
          <p:cNvPr id="59" name="Isosceles Triangle 58">
            <a:extLst>
              <a:ext uri="{FF2B5EF4-FFF2-40B4-BE49-F238E27FC236}">
                <a16:creationId xmlns:a16="http://schemas.microsoft.com/office/drawing/2014/main" id="{4D5E0BA7-1AE2-71EB-61A3-97178FB6CA1A}"/>
              </a:ext>
            </a:extLst>
          </p:cNvPr>
          <p:cNvSpPr/>
          <p:nvPr/>
        </p:nvSpPr>
        <p:spPr>
          <a:xfrm>
            <a:off x="1854917" y="5229048"/>
            <a:ext cx="8782155" cy="363002"/>
          </a:xfrm>
          <a:prstGeom prst="triangle">
            <a:avLst>
              <a:gd name="adj" fmla="val 49987"/>
            </a:avLst>
          </a:prstGeom>
          <a:solidFill>
            <a:schemeClr val="bg2"/>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675">
              <a:solidFill>
                <a:schemeClr val="bg1"/>
              </a:solidFill>
              <a:latin typeface="EY interstate"/>
            </a:endParaRPr>
          </a:p>
        </p:txBody>
      </p:sp>
    </p:spTree>
    <p:extLst>
      <p:ext uri="{BB962C8B-B14F-4D97-AF65-F5344CB8AC3E}">
        <p14:creationId xmlns:p14="http://schemas.microsoft.com/office/powerpoint/2010/main" val="357811108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ADA027-F15F-1AB1-CF13-65551D4F1B3B}"/>
            </a:ext>
          </a:extLst>
        </p:cNvPr>
        <p:cNvGrpSpPr/>
        <p:nvPr/>
      </p:nvGrpSpPr>
      <p:grpSpPr>
        <a:xfrm>
          <a:off x="0" y="0"/>
          <a:ext cx="0" cy="0"/>
          <a:chOff x="0" y="0"/>
          <a:chExt cx="0" cy="0"/>
        </a:xfrm>
      </p:grpSpPr>
      <p:sp>
        <p:nvSpPr>
          <p:cNvPr id="2" name="Title 2">
            <a:extLst>
              <a:ext uri="{FF2B5EF4-FFF2-40B4-BE49-F238E27FC236}">
                <a16:creationId xmlns:a16="http://schemas.microsoft.com/office/drawing/2014/main" id="{1ECF30DE-15DE-F1B9-35CD-14F62FCDCF80}"/>
              </a:ext>
            </a:extLst>
          </p:cNvPr>
          <p:cNvSpPr txBox="1">
            <a:spLocks/>
          </p:cNvSpPr>
          <p:nvPr/>
        </p:nvSpPr>
        <p:spPr>
          <a:xfrm>
            <a:off x="622469" y="160559"/>
            <a:ext cx="8244486" cy="330724"/>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Key Drivers and Considerations during Intercompany Hub Implementation</a:t>
            </a:r>
          </a:p>
        </p:txBody>
      </p:sp>
      <p:sp>
        <p:nvSpPr>
          <p:cNvPr id="7" name="Rectangle 6">
            <a:extLst>
              <a:ext uri="{FF2B5EF4-FFF2-40B4-BE49-F238E27FC236}">
                <a16:creationId xmlns:a16="http://schemas.microsoft.com/office/drawing/2014/main" id="{72B169B2-5B28-F5FB-2AF9-38302C14BB58}"/>
              </a:ext>
            </a:extLst>
          </p:cNvPr>
          <p:cNvSpPr/>
          <p:nvPr/>
        </p:nvSpPr>
        <p:spPr>
          <a:xfrm>
            <a:off x="282843" y="1124646"/>
            <a:ext cx="11871644" cy="461665"/>
          </a:xfrm>
          <a:prstGeom prst="rect">
            <a:avLst/>
          </a:prstGeom>
          <a:noFill/>
        </p:spPr>
        <p:txBody>
          <a:bodyPr wrap="square">
            <a:spAutoFit/>
          </a:bodyPr>
          <a:lstStyle/>
          <a:p>
            <a:pPr lvl="0">
              <a:spcBef>
                <a:spcPct val="0"/>
              </a:spcBef>
              <a:buClr>
                <a:srgbClr val="FFD200"/>
              </a:buClr>
              <a:defRPr/>
            </a:pPr>
            <a:r>
              <a:rPr lang="en-US" sz="1200">
                <a:solidFill>
                  <a:schemeClr val="bg1"/>
                </a:solidFill>
                <a:latin typeface="EY interstate"/>
                <a:cs typeface="Arial" panose="020B0604020202020204" pitchFamily="34" charset="0"/>
              </a:rPr>
              <a:t>Global organizations can significantly benefit from the automation of their Intercompany accounting processes. Companies will see a reduction in risk exposure, a more efficient and time-saving close and increased financial reporting integrity</a:t>
            </a:r>
          </a:p>
        </p:txBody>
      </p:sp>
      <p:sp>
        <p:nvSpPr>
          <p:cNvPr id="10" name="Rectangle 9">
            <a:extLst>
              <a:ext uri="{FF2B5EF4-FFF2-40B4-BE49-F238E27FC236}">
                <a16:creationId xmlns:a16="http://schemas.microsoft.com/office/drawing/2014/main" id="{2A1F763D-E588-9455-AD59-7ADCD9DF922B}"/>
              </a:ext>
            </a:extLst>
          </p:cNvPr>
          <p:cNvSpPr/>
          <p:nvPr/>
        </p:nvSpPr>
        <p:spPr>
          <a:xfrm>
            <a:off x="1714098" y="3021907"/>
            <a:ext cx="4209971" cy="1509744"/>
          </a:xfrm>
          <a:prstGeom prst="rect">
            <a:avLst/>
          </a:prstGeom>
          <a:solidFill>
            <a:schemeClr val="bg2"/>
          </a:solidFill>
          <a:ln w="9525" cap="flat" cmpd="sng" algn="ctr">
            <a:noFill/>
            <a:prstDash val="solid"/>
          </a:ln>
          <a:effectLst/>
        </p:spPr>
        <p:txBody>
          <a:bodyPr tIns="45696" bIns="45696" rtlCol="0" anchor="t" anchorCtr="0"/>
          <a:lstStyle/>
          <a:p>
            <a:pPr defTabSz="913943">
              <a:spcAft>
                <a:spcPts val="400"/>
              </a:spcAft>
              <a:buClr>
                <a:schemeClr val="tx1"/>
              </a:buClr>
              <a:buSzPct val="70000"/>
              <a:defRPr/>
            </a:pPr>
            <a:r>
              <a:rPr lang="en-US" sz="1200" kern="0">
                <a:latin typeface="EY interstate"/>
                <a:cs typeface="Arial" panose="020B0604020202020204" pitchFamily="34" charset="0"/>
              </a:rPr>
              <a:t>Standardization of Intercompany accounting processes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Central system to manage all transactions, documentation and journal entries.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Auto-generated alerts and standardized trading agreements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Cross-entity and multi-stakeholder approval workflows</a:t>
            </a:r>
          </a:p>
        </p:txBody>
      </p:sp>
      <p:sp>
        <p:nvSpPr>
          <p:cNvPr id="12" name="Freeform 21">
            <a:extLst>
              <a:ext uri="{FF2B5EF4-FFF2-40B4-BE49-F238E27FC236}">
                <a16:creationId xmlns:a16="http://schemas.microsoft.com/office/drawing/2014/main" id="{A54AF065-283F-214D-B35B-0001250DD70B}"/>
              </a:ext>
            </a:extLst>
          </p:cNvPr>
          <p:cNvSpPr>
            <a:spLocks noChangeAspect="1" noEditPoints="1"/>
          </p:cNvSpPr>
          <p:nvPr/>
        </p:nvSpPr>
        <p:spPr bwMode="auto">
          <a:xfrm>
            <a:off x="694829" y="3305763"/>
            <a:ext cx="794515" cy="781926"/>
          </a:xfrm>
          <a:custGeom>
            <a:avLst/>
            <a:gdLst>
              <a:gd name="T0" fmla="*/ 1490 w 1967"/>
              <a:gd name="T1" fmla="*/ 610 h 1902"/>
              <a:gd name="T2" fmla="*/ 626 w 1967"/>
              <a:gd name="T3" fmla="*/ 450 h 1902"/>
              <a:gd name="T4" fmla="*/ 426 w 1967"/>
              <a:gd name="T5" fmla="*/ 702 h 1902"/>
              <a:gd name="T6" fmla="*/ 1595 w 1967"/>
              <a:gd name="T7" fmla="*/ 951 h 1902"/>
              <a:gd name="T8" fmla="*/ 1480 w 1967"/>
              <a:gd name="T9" fmla="*/ 800 h 1902"/>
              <a:gd name="T10" fmla="*/ 1239 w 1967"/>
              <a:gd name="T11" fmla="*/ 682 h 1902"/>
              <a:gd name="T12" fmla="*/ 1206 w 1967"/>
              <a:gd name="T13" fmla="*/ 612 h 1902"/>
              <a:gd name="T14" fmla="*/ 749 w 1967"/>
              <a:gd name="T15" fmla="*/ 957 h 1902"/>
              <a:gd name="T16" fmla="*/ 1184 w 1967"/>
              <a:gd name="T17" fmla="*/ 733 h 1902"/>
              <a:gd name="T18" fmla="*/ 1213 w 1967"/>
              <a:gd name="T19" fmla="*/ 1020 h 1902"/>
              <a:gd name="T20" fmla="*/ 754 w 1967"/>
              <a:gd name="T21" fmla="*/ 1026 h 1902"/>
              <a:gd name="T22" fmla="*/ 1156 w 1967"/>
              <a:gd name="T23" fmla="*/ 666 h 1902"/>
              <a:gd name="T24" fmla="*/ 891 w 1967"/>
              <a:gd name="T25" fmla="*/ 440 h 1902"/>
              <a:gd name="T26" fmla="*/ 644 w 1967"/>
              <a:gd name="T27" fmla="*/ 559 h 1902"/>
              <a:gd name="T28" fmla="*/ 644 w 1967"/>
              <a:gd name="T29" fmla="*/ 559 h 1902"/>
              <a:gd name="T30" fmla="*/ 750 w 1967"/>
              <a:gd name="T31" fmla="*/ 1245 h 1902"/>
              <a:gd name="T32" fmla="*/ 499 w 1967"/>
              <a:gd name="T33" fmla="*/ 1139 h 1902"/>
              <a:gd name="T34" fmla="*/ 916 w 1967"/>
              <a:gd name="T35" fmla="*/ 1466 h 1902"/>
              <a:gd name="T36" fmla="*/ 1065 w 1967"/>
              <a:gd name="T37" fmla="*/ 1349 h 1902"/>
              <a:gd name="T38" fmla="*/ 1053 w 1967"/>
              <a:gd name="T39" fmla="*/ 1456 h 1902"/>
              <a:gd name="T40" fmla="*/ 1192 w 1967"/>
              <a:gd name="T41" fmla="*/ 344 h 1902"/>
              <a:gd name="T42" fmla="*/ 1211 w 1967"/>
              <a:gd name="T43" fmla="*/ 134 h 1902"/>
              <a:gd name="T44" fmla="*/ 1453 w 1967"/>
              <a:gd name="T45" fmla="*/ 222 h 1902"/>
              <a:gd name="T46" fmla="*/ 1732 w 1967"/>
              <a:gd name="T47" fmla="*/ 521 h 1902"/>
              <a:gd name="T48" fmla="*/ 1800 w 1967"/>
              <a:gd name="T49" fmla="*/ 759 h 1902"/>
              <a:gd name="T50" fmla="*/ 1784 w 1967"/>
              <a:gd name="T51" fmla="*/ 861 h 1902"/>
              <a:gd name="T52" fmla="*/ 1757 w 1967"/>
              <a:gd name="T53" fmla="*/ 698 h 1902"/>
              <a:gd name="T54" fmla="*/ 1637 w 1967"/>
              <a:gd name="T55" fmla="*/ 467 h 1902"/>
              <a:gd name="T56" fmla="*/ 1337 w 1967"/>
              <a:gd name="T57" fmla="*/ 257 h 1902"/>
              <a:gd name="T58" fmla="*/ 1192 w 1967"/>
              <a:gd name="T59" fmla="*/ 226 h 1902"/>
              <a:gd name="T60" fmla="*/ 227 w 1967"/>
              <a:gd name="T61" fmla="*/ 741 h 1902"/>
              <a:gd name="T62" fmla="*/ 288 w 1967"/>
              <a:gd name="T63" fmla="*/ 525 h 1902"/>
              <a:gd name="T64" fmla="*/ 543 w 1967"/>
              <a:gd name="T65" fmla="*/ 250 h 1902"/>
              <a:gd name="T66" fmla="*/ 763 w 1967"/>
              <a:gd name="T67" fmla="*/ 168 h 1902"/>
              <a:gd name="T68" fmla="*/ 860 w 1967"/>
              <a:gd name="T69" fmla="*/ 137 h 1902"/>
              <a:gd name="T70" fmla="*/ 689 w 1967"/>
              <a:gd name="T71" fmla="*/ 152 h 1902"/>
              <a:gd name="T72" fmla="*/ 434 w 1967"/>
              <a:gd name="T73" fmla="*/ 262 h 1902"/>
              <a:gd name="T74" fmla="*/ 179 w 1967"/>
              <a:gd name="T75" fmla="*/ 575 h 1902"/>
              <a:gd name="T76" fmla="*/ 129 w 1967"/>
              <a:gd name="T77" fmla="*/ 750 h 1902"/>
              <a:gd name="T78" fmla="*/ 745 w 1967"/>
              <a:gd name="T79" fmla="*/ 1677 h 1902"/>
              <a:gd name="T80" fmla="*/ 600 w 1967"/>
              <a:gd name="T81" fmla="*/ 1646 h 1902"/>
              <a:gd name="T82" fmla="*/ 300 w 1967"/>
              <a:gd name="T83" fmla="*/ 1436 h 1902"/>
              <a:gd name="T84" fmla="*/ 179 w 1967"/>
              <a:gd name="T85" fmla="*/ 1205 h 1902"/>
              <a:gd name="T86" fmla="*/ 152 w 1967"/>
              <a:gd name="T87" fmla="*/ 1042 h 1902"/>
              <a:gd name="T88" fmla="*/ 136 w 1967"/>
              <a:gd name="T89" fmla="*/ 1144 h 1902"/>
              <a:gd name="T90" fmla="*/ 205 w 1967"/>
              <a:gd name="T91" fmla="*/ 1381 h 1902"/>
              <a:gd name="T92" fmla="*/ 484 w 1967"/>
              <a:gd name="T93" fmla="*/ 1681 h 1902"/>
              <a:gd name="T94" fmla="*/ 725 w 1967"/>
              <a:gd name="T95" fmla="*/ 1769 h 1902"/>
              <a:gd name="T96" fmla="*/ 745 w 1967"/>
              <a:gd name="T97" fmla="*/ 1558 h 1902"/>
              <a:gd name="T98" fmla="*/ 1741 w 1967"/>
              <a:gd name="T99" fmla="*/ 1169 h 1902"/>
              <a:gd name="T100" fmla="*/ 1710 w 1967"/>
              <a:gd name="T101" fmla="*/ 1314 h 1902"/>
              <a:gd name="T102" fmla="*/ 1500 w 1967"/>
              <a:gd name="T103" fmla="*/ 1614 h 1902"/>
              <a:gd name="T104" fmla="*/ 1269 w 1967"/>
              <a:gd name="T105" fmla="*/ 1735 h 1902"/>
              <a:gd name="T106" fmla="*/ 1106 w 1967"/>
              <a:gd name="T107" fmla="*/ 1762 h 1902"/>
              <a:gd name="T108" fmla="*/ 1208 w 1967"/>
              <a:gd name="T109" fmla="*/ 1778 h 1902"/>
              <a:gd name="T110" fmla="*/ 1446 w 1967"/>
              <a:gd name="T111" fmla="*/ 1709 h 1902"/>
              <a:gd name="T112" fmla="*/ 1745 w 1967"/>
              <a:gd name="T113" fmla="*/ 1430 h 1902"/>
              <a:gd name="T114" fmla="*/ 1833 w 1967"/>
              <a:gd name="T115" fmla="*/ 1189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7" h="1902">
                <a:moveTo>
                  <a:pt x="1595" y="951"/>
                </a:moveTo>
                <a:cubicBezTo>
                  <a:pt x="1595" y="907"/>
                  <a:pt x="1590" y="863"/>
                  <a:pt x="1580" y="821"/>
                </a:cubicBezTo>
                <a:cubicBezTo>
                  <a:pt x="1570" y="774"/>
                  <a:pt x="1554" y="730"/>
                  <a:pt x="1534" y="687"/>
                </a:cubicBezTo>
                <a:cubicBezTo>
                  <a:pt x="1521" y="660"/>
                  <a:pt x="1507" y="634"/>
                  <a:pt x="1490" y="610"/>
                </a:cubicBezTo>
                <a:cubicBezTo>
                  <a:pt x="1474" y="585"/>
                  <a:pt x="1455" y="563"/>
                  <a:pt x="1435" y="541"/>
                </a:cubicBezTo>
                <a:cubicBezTo>
                  <a:pt x="1323" y="418"/>
                  <a:pt x="1162" y="340"/>
                  <a:pt x="983" y="340"/>
                </a:cubicBezTo>
                <a:cubicBezTo>
                  <a:pt x="854" y="340"/>
                  <a:pt x="734" y="381"/>
                  <a:pt x="635" y="450"/>
                </a:cubicBezTo>
                <a:cubicBezTo>
                  <a:pt x="626" y="450"/>
                  <a:pt x="626" y="450"/>
                  <a:pt x="626" y="450"/>
                </a:cubicBezTo>
                <a:cubicBezTo>
                  <a:pt x="626" y="452"/>
                  <a:pt x="626" y="454"/>
                  <a:pt x="627" y="456"/>
                </a:cubicBezTo>
                <a:cubicBezTo>
                  <a:pt x="572" y="495"/>
                  <a:pt x="524" y="543"/>
                  <a:pt x="485" y="599"/>
                </a:cubicBezTo>
                <a:cubicBezTo>
                  <a:pt x="479" y="607"/>
                  <a:pt x="473" y="616"/>
                  <a:pt x="467" y="626"/>
                </a:cubicBezTo>
                <a:cubicBezTo>
                  <a:pt x="451" y="650"/>
                  <a:pt x="437" y="675"/>
                  <a:pt x="426" y="702"/>
                </a:cubicBezTo>
                <a:cubicBezTo>
                  <a:pt x="402" y="754"/>
                  <a:pt x="386" y="811"/>
                  <a:pt x="378" y="870"/>
                </a:cubicBezTo>
                <a:cubicBezTo>
                  <a:pt x="374" y="897"/>
                  <a:pt x="372" y="924"/>
                  <a:pt x="372" y="951"/>
                </a:cubicBezTo>
                <a:cubicBezTo>
                  <a:pt x="372" y="1289"/>
                  <a:pt x="646" y="1563"/>
                  <a:pt x="983" y="1563"/>
                </a:cubicBezTo>
                <a:cubicBezTo>
                  <a:pt x="1320" y="1563"/>
                  <a:pt x="1595" y="1289"/>
                  <a:pt x="1595" y="951"/>
                </a:cubicBezTo>
                <a:close/>
                <a:moveTo>
                  <a:pt x="1501" y="919"/>
                </a:moveTo>
                <a:cubicBezTo>
                  <a:pt x="1463" y="1059"/>
                  <a:pt x="1358" y="1175"/>
                  <a:pt x="1220" y="1238"/>
                </a:cubicBezTo>
                <a:cubicBezTo>
                  <a:pt x="1257" y="1161"/>
                  <a:pt x="1280" y="1076"/>
                  <a:pt x="1286" y="985"/>
                </a:cubicBezTo>
                <a:cubicBezTo>
                  <a:pt x="1365" y="938"/>
                  <a:pt x="1432" y="875"/>
                  <a:pt x="1480" y="800"/>
                </a:cubicBezTo>
                <a:cubicBezTo>
                  <a:pt x="1492" y="838"/>
                  <a:pt x="1499" y="878"/>
                  <a:pt x="1501" y="919"/>
                </a:cubicBezTo>
                <a:close/>
                <a:moveTo>
                  <a:pt x="1451" y="727"/>
                </a:moveTo>
                <a:cubicBezTo>
                  <a:pt x="1414" y="801"/>
                  <a:pt x="1357" y="864"/>
                  <a:pt x="1286" y="912"/>
                </a:cubicBezTo>
                <a:cubicBezTo>
                  <a:pt x="1283" y="831"/>
                  <a:pt x="1267" y="754"/>
                  <a:pt x="1239" y="682"/>
                </a:cubicBezTo>
                <a:cubicBezTo>
                  <a:pt x="1272" y="645"/>
                  <a:pt x="1298" y="600"/>
                  <a:pt x="1313" y="550"/>
                </a:cubicBezTo>
                <a:cubicBezTo>
                  <a:pt x="1371" y="598"/>
                  <a:pt x="1418" y="658"/>
                  <a:pt x="1451" y="727"/>
                </a:cubicBezTo>
                <a:close/>
                <a:moveTo>
                  <a:pt x="1252" y="508"/>
                </a:moveTo>
                <a:cubicBezTo>
                  <a:pt x="1244" y="546"/>
                  <a:pt x="1228" y="582"/>
                  <a:pt x="1206" y="612"/>
                </a:cubicBezTo>
                <a:cubicBezTo>
                  <a:pt x="1172" y="547"/>
                  <a:pt x="1127" y="489"/>
                  <a:pt x="1075" y="440"/>
                </a:cubicBezTo>
                <a:cubicBezTo>
                  <a:pt x="1139" y="452"/>
                  <a:pt x="1199" y="475"/>
                  <a:pt x="1252" y="508"/>
                </a:cubicBezTo>
                <a:close/>
                <a:moveTo>
                  <a:pt x="977" y="1005"/>
                </a:moveTo>
                <a:cubicBezTo>
                  <a:pt x="895" y="1005"/>
                  <a:pt x="818" y="988"/>
                  <a:pt x="749" y="957"/>
                </a:cubicBezTo>
                <a:cubicBezTo>
                  <a:pt x="748" y="951"/>
                  <a:pt x="748" y="945"/>
                  <a:pt x="748" y="939"/>
                </a:cubicBezTo>
                <a:cubicBezTo>
                  <a:pt x="748" y="869"/>
                  <a:pt x="759" y="802"/>
                  <a:pt x="780" y="739"/>
                </a:cubicBezTo>
                <a:cubicBezTo>
                  <a:pt x="836" y="778"/>
                  <a:pt x="904" y="801"/>
                  <a:pt x="977" y="801"/>
                </a:cubicBezTo>
                <a:cubicBezTo>
                  <a:pt x="1054" y="801"/>
                  <a:pt x="1126" y="775"/>
                  <a:pt x="1184" y="733"/>
                </a:cubicBezTo>
                <a:cubicBezTo>
                  <a:pt x="1206" y="797"/>
                  <a:pt x="1218" y="866"/>
                  <a:pt x="1218" y="939"/>
                </a:cubicBezTo>
                <a:cubicBezTo>
                  <a:pt x="1218" y="943"/>
                  <a:pt x="1218" y="947"/>
                  <a:pt x="1218" y="951"/>
                </a:cubicBezTo>
                <a:cubicBezTo>
                  <a:pt x="1146" y="986"/>
                  <a:pt x="1064" y="1005"/>
                  <a:pt x="977" y="1005"/>
                </a:cubicBezTo>
                <a:close/>
                <a:moveTo>
                  <a:pt x="1213" y="1020"/>
                </a:moveTo>
                <a:cubicBezTo>
                  <a:pt x="1201" y="1114"/>
                  <a:pt x="1169" y="1200"/>
                  <a:pt x="1122" y="1273"/>
                </a:cubicBezTo>
                <a:cubicBezTo>
                  <a:pt x="1076" y="1285"/>
                  <a:pt x="1027" y="1292"/>
                  <a:pt x="977" y="1292"/>
                </a:cubicBezTo>
                <a:cubicBezTo>
                  <a:pt x="932" y="1292"/>
                  <a:pt x="888" y="1286"/>
                  <a:pt x="846" y="1277"/>
                </a:cubicBezTo>
                <a:cubicBezTo>
                  <a:pt x="799" y="1204"/>
                  <a:pt x="767" y="1118"/>
                  <a:pt x="754" y="1026"/>
                </a:cubicBezTo>
                <a:cubicBezTo>
                  <a:pt x="823" y="1052"/>
                  <a:pt x="898" y="1067"/>
                  <a:pt x="977" y="1067"/>
                </a:cubicBezTo>
                <a:cubicBezTo>
                  <a:pt x="1061" y="1067"/>
                  <a:pt x="1141" y="1050"/>
                  <a:pt x="1213" y="1020"/>
                </a:cubicBezTo>
                <a:close/>
                <a:moveTo>
                  <a:pt x="983" y="455"/>
                </a:moveTo>
                <a:cubicBezTo>
                  <a:pt x="1056" y="508"/>
                  <a:pt x="1115" y="581"/>
                  <a:pt x="1156" y="666"/>
                </a:cubicBezTo>
                <a:cubicBezTo>
                  <a:pt x="1108" y="707"/>
                  <a:pt x="1045" y="731"/>
                  <a:pt x="977" y="731"/>
                </a:cubicBezTo>
                <a:cubicBezTo>
                  <a:pt x="913" y="731"/>
                  <a:pt x="854" y="710"/>
                  <a:pt x="807" y="673"/>
                </a:cubicBezTo>
                <a:cubicBezTo>
                  <a:pt x="848" y="585"/>
                  <a:pt x="909" y="510"/>
                  <a:pt x="983" y="455"/>
                </a:cubicBezTo>
                <a:close/>
                <a:moveTo>
                  <a:pt x="891" y="440"/>
                </a:moveTo>
                <a:cubicBezTo>
                  <a:pt x="837" y="491"/>
                  <a:pt x="790" y="553"/>
                  <a:pt x="755" y="622"/>
                </a:cubicBezTo>
                <a:cubicBezTo>
                  <a:pt x="731" y="590"/>
                  <a:pt x="713" y="554"/>
                  <a:pt x="703" y="515"/>
                </a:cubicBezTo>
                <a:cubicBezTo>
                  <a:pt x="760" y="478"/>
                  <a:pt x="823" y="453"/>
                  <a:pt x="891" y="440"/>
                </a:cubicBezTo>
                <a:close/>
                <a:moveTo>
                  <a:pt x="644" y="559"/>
                </a:moveTo>
                <a:cubicBezTo>
                  <a:pt x="660" y="609"/>
                  <a:pt x="688" y="654"/>
                  <a:pt x="724" y="692"/>
                </a:cubicBezTo>
                <a:cubicBezTo>
                  <a:pt x="697" y="762"/>
                  <a:pt x="682" y="839"/>
                  <a:pt x="680" y="920"/>
                </a:cubicBezTo>
                <a:cubicBezTo>
                  <a:pt x="608" y="874"/>
                  <a:pt x="549" y="812"/>
                  <a:pt x="510" y="739"/>
                </a:cubicBezTo>
                <a:cubicBezTo>
                  <a:pt x="541" y="670"/>
                  <a:pt x="587" y="608"/>
                  <a:pt x="644" y="559"/>
                </a:cubicBezTo>
                <a:close/>
                <a:moveTo>
                  <a:pt x="464" y="951"/>
                </a:moveTo>
                <a:cubicBezTo>
                  <a:pt x="464" y="904"/>
                  <a:pt x="471" y="857"/>
                  <a:pt x="483" y="813"/>
                </a:cubicBezTo>
                <a:cubicBezTo>
                  <a:pt x="533" y="886"/>
                  <a:pt x="601" y="948"/>
                  <a:pt x="681" y="992"/>
                </a:cubicBezTo>
                <a:cubicBezTo>
                  <a:pt x="688" y="1083"/>
                  <a:pt x="712" y="1169"/>
                  <a:pt x="750" y="1245"/>
                </a:cubicBezTo>
                <a:cubicBezTo>
                  <a:pt x="616" y="1189"/>
                  <a:pt x="511" y="1083"/>
                  <a:pt x="464" y="954"/>
                </a:cubicBezTo>
                <a:cubicBezTo>
                  <a:pt x="464" y="953"/>
                  <a:pt x="464" y="952"/>
                  <a:pt x="464" y="951"/>
                </a:cubicBezTo>
                <a:close/>
                <a:moveTo>
                  <a:pt x="916" y="1466"/>
                </a:moveTo>
                <a:cubicBezTo>
                  <a:pt x="725" y="1441"/>
                  <a:pt x="567" y="1313"/>
                  <a:pt x="499" y="1139"/>
                </a:cubicBezTo>
                <a:cubicBezTo>
                  <a:pt x="575" y="1229"/>
                  <a:pt x="679" y="1296"/>
                  <a:pt x="799" y="1331"/>
                </a:cubicBezTo>
                <a:cubicBezTo>
                  <a:pt x="832" y="1378"/>
                  <a:pt x="870" y="1420"/>
                  <a:pt x="913" y="1456"/>
                </a:cubicBezTo>
                <a:cubicBezTo>
                  <a:pt x="917" y="1458"/>
                  <a:pt x="922" y="1459"/>
                  <a:pt x="927" y="1461"/>
                </a:cubicBezTo>
                <a:cubicBezTo>
                  <a:pt x="923" y="1463"/>
                  <a:pt x="920" y="1464"/>
                  <a:pt x="916" y="1466"/>
                </a:cubicBezTo>
                <a:close/>
                <a:moveTo>
                  <a:pt x="983" y="1424"/>
                </a:moveTo>
                <a:cubicBezTo>
                  <a:pt x="954" y="1402"/>
                  <a:pt x="927" y="1378"/>
                  <a:pt x="903" y="1351"/>
                </a:cubicBezTo>
                <a:cubicBezTo>
                  <a:pt x="927" y="1354"/>
                  <a:pt x="952" y="1355"/>
                  <a:pt x="977" y="1355"/>
                </a:cubicBezTo>
                <a:cubicBezTo>
                  <a:pt x="1007" y="1355"/>
                  <a:pt x="1036" y="1353"/>
                  <a:pt x="1065" y="1349"/>
                </a:cubicBezTo>
                <a:cubicBezTo>
                  <a:pt x="1040" y="1377"/>
                  <a:pt x="1013" y="1402"/>
                  <a:pt x="983" y="1424"/>
                </a:cubicBezTo>
                <a:close/>
                <a:moveTo>
                  <a:pt x="1050" y="1466"/>
                </a:moveTo>
                <a:cubicBezTo>
                  <a:pt x="1047" y="1464"/>
                  <a:pt x="1043" y="1463"/>
                  <a:pt x="1040" y="1461"/>
                </a:cubicBezTo>
                <a:cubicBezTo>
                  <a:pt x="1044" y="1459"/>
                  <a:pt x="1049" y="1458"/>
                  <a:pt x="1053" y="1456"/>
                </a:cubicBezTo>
                <a:cubicBezTo>
                  <a:pt x="1097" y="1419"/>
                  <a:pt x="1137" y="1375"/>
                  <a:pt x="1170" y="1326"/>
                </a:cubicBezTo>
                <a:cubicBezTo>
                  <a:pt x="1296" y="1287"/>
                  <a:pt x="1404" y="1211"/>
                  <a:pt x="1477" y="1112"/>
                </a:cubicBezTo>
                <a:cubicBezTo>
                  <a:pt x="1416" y="1299"/>
                  <a:pt x="1251" y="1440"/>
                  <a:pt x="1050" y="1466"/>
                </a:cubicBezTo>
                <a:close/>
                <a:moveTo>
                  <a:pt x="1192" y="344"/>
                </a:moveTo>
                <a:cubicBezTo>
                  <a:pt x="968" y="172"/>
                  <a:pt x="968" y="172"/>
                  <a:pt x="968" y="172"/>
                </a:cubicBezTo>
                <a:cubicBezTo>
                  <a:pt x="1192" y="0"/>
                  <a:pt x="1192" y="0"/>
                  <a:pt x="1192" y="0"/>
                </a:cubicBezTo>
                <a:cubicBezTo>
                  <a:pt x="1192" y="130"/>
                  <a:pt x="1192" y="130"/>
                  <a:pt x="1192" y="130"/>
                </a:cubicBezTo>
                <a:cubicBezTo>
                  <a:pt x="1198" y="131"/>
                  <a:pt x="1204" y="132"/>
                  <a:pt x="1211" y="134"/>
                </a:cubicBezTo>
                <a:cubicBezTo>
                  <a:pt x="1234" y="137"/>
                  <a:pt x="1259" y="142"/>
                  <a:pt x="1284" y="150"/>
                </a:cubicBezTo>
                <a:cubicBezTo>
                  <a:pt x="1297" y="154"/>
                  <a:pt x="1311" y="158"/>
                  <a:pt x="1325" y="162"/>
                </a:cubicBezTo>
                <a:cubicBezTo>
                  <a:pt x="1338" y="168"/>
                  <a:pt x="1352" y="174"/>
                  <a:pt x="1366" y="179"/>
                </a:cubicBezTo>
                <a:cubicBezTo>
                  <a:pt x="1395" y="190"/>
                  <a:pt x="1423" y="207"/>
                  <a:pt x="1453" y="222"/>
                </a:cubicBezTo>
                <a:cubicBezTo>
                  <a:pt x="1480" y="241"/>
                  <a:pt x="1510" y="258"/>
                  <a:pt x="1537" y="281"/>
                </a:cubicBezTo>
                <a:cubicBezTo>
                  <a:pt x="1565" y="302"/>
                  <a:pt x="1589" y="328"/>
                  <a:pt x="1615" y="352"/>
                </a:cubicBezTo>
                <a:cubicBezTo>
                  <a:pt x="1637" y="380"/>
                  <a:pt x="1661" y="405"/>
                  <a:pt x="1680" y="435"/>
                </a:cubicBezTo>
                <a:cubicBezTo>
                  <a:pt x="1701" y="462"/>
                  <a:pt x="1715" y="493"/>
                  <a:pt x="1732" y="521"/>
                </a:cubicBezTo>
                <a:cubicBezTo>
                  <a:pt x="1744" y="552"/>
                  <a:pt x="1759" y="580"/>
                  <a:pt x="1767" y="609"/>
                </a:cubicBezTo>
                <a:cubicBezTo>
                  <a:pt x="1772" y="623"/>
                  <a:pt x="1776" y="637"/>
                  <a:pt x="1780" y="650"/>
                </a:cubicBezTo>
                <a:cubicBezTo>
                  <a:pt x="1784" y="664"/>
                  <a:pt x="1787" y="677"/>
                  <a:pt x="1789" y="689"/>
                </a:cubicBezTo>
                <a:cubicBezTo>
                  <a:pt x="1796" y="715"/>
                  <a:pt x="1798" y="738"/>
                  <a:pt x="1800" y="759"/>
                </a:cubicBezTo>
                <a:cubicBezTo>
                  <a:pt x="1801" y="770"/>
                  <a:pt x="1803" y="780"/>
                  <a:pt x="1804" y="788"/>
                </a:cubicBezTo>
                <a:cubicBezTo>
                  <a:pt x="1804" y="798"/>
                  <a:pt x="1804" y="806"/>
                  <a:pt x="1804" y="813"/>
                </a:cubicBezTo>
                <a:cubicBezTo>
                  <a:pt x="1804" y="843"/>
                  <a:pt x="1805" y="861"/>
                  <a:pt x="1805" y="861"/>
                </a:cubicBezTo>
                <a:cubicBezTo>
                  <a:pt x="1784" y="861"/>
                  <a:pt x="1784" y="861"/>
                  <a:pt x="1784" y="861"/>
                </a:cubicBezTo>
                <a:cubicBezTo>
                  <a:pt x="1784" y="861"/>
                  <a:pt x="1783" y="844"/>
                  <a:pt x="1780" y="815"/>
                </a:cubicBezTo>
                <a:cubicBezTo>
                  <a:pt x="1780" y="808"/>
                  <a:pt x="1779" y="800"/>
                  <a:pt x="1778" y="791"/>
                </a:cubicBezTo>
                <a:cubicBezTo>
                  <a:pt x="1777" y="783"/>
                  <a:pt x="1775" y="773"/>
                  <a:pt x="1773" y="763"/>
                </a:cubicBezTo>
                <a:cubicBezTo>
                  <a:pt x="1769" y="743"/>
                  <a:pt x="1765" y="721"/>
                  <a:pt x="1757" y="698"/>
                </a:cubicBezTo>
                <a:cubicBezTo>
                  <a:pt x="1754" y="686"/>
                  <a:pt x="1750" y="673"/>
                  <a:pt x="1746" y="661"/>
                </a:cubicBezTo>
                <a:cubicBezTo>
                  <a:pt x="1741" y="648"/>
                  <a:pt x="1736" y="636"/>
                  <a:pt x="1731" y="623"/>
                </a:cubicBezTo>
                <a:cubicBezTo>
                  <a:pt x="1721" y="596"/>
                  <a:pt x="1705" y="571"/>
                  <a:pt x="1691" y="543"/>
                </a:cubicBezTo>
                <a:cubicBezTo>
                  <a:pt x="1674" y="518"/>
                  <a:pt x="1658" y="491"/>
                  <a:pt x="1637" y="467"/>
                </a:cubicBezTo>
                <a:cubicBezTo>
                  <a:pt x="1618" y="441"/>
                  <a:pt x="1594" y="419"/>
                  <a:pt x="1571" y="396"/>
                </a:cubicBezTo>
                <a:cubicBezTo>
                  <a:pt x="1546" y="375"/>
                  <a:pt x="1523" y="353"/>
                  <a:pt x="1496" y="336"/>
                </a:cubicBezTo>
                <a:cubicBezTo>
                  <a:pt x="1471" y="317"/>
                  <a:pt x="1442" y="304"/>
                  <a:pt x="1416" y="289"/>
                </a:cubicBezTo>
                <a:cubicBezTo>
                  <a:pt x="1389" y="278"/>
                  <a:pt x="1363" y="264"/>
                  <a:pt x="1337" y="257"/>
                </a:cubicBezTo>
                <a:cubicBezTo>
                  <a:pt x="1324" y="253"/>
                  <a:pt x="1311" y="249"/>
                  <a:pt x="1299" y="245"/>
                </a:cubicBezTo>
                <a:cubicBezTo>
                  <a:pt x="1286" y="242"/>
                  <a:pt x="1274" y="239"/>
                  <a:pt x="1263" y="237"/>
                </a:cubicBezTo>
                <a:cubicBezTo>
                  <a:pt x="1239" y="231"/>
                  <a:pt x="1219" y="229"/>
                  <a:pt x="1200" y="227"/>
                </a:cubicBezTo>
                <a:cubicBezTo>
                  <a:pt x="1197" y="227"/>
                  <a:pt x="1195" y="227"/>
                  <a:pt x="1192" y="226"/>
                </a:cubicBezTo>
                <a:lnTo>
                  <a:pt x="1192" y="344"/>
                </a:lnTo>
                <a:close/>
                <a:moveTo>
                  <a:pt x="344" y="750"/>
                </a:moveTo>
                <a:cubicBezTo>
                  <a:pt x="226" y="750"/>
                  <a:pt x="226" y="750"/>
                  <a:pt x="226" y="750"/>
                </a:cubicBezTo>
                <a:cubicBezTo>
                  <a:pt x="226" y="747"/>
                  <a:pt x="226" y="744"/>
                  <a:pt x="227" y="741"/>
                </a:cubicBezTo>
                <a:cubicBezTo>
                  <a:pt x="229" y="723"/>
                  <a:pt x="230" y="702"/>
                  <a:pt x="236" y="679"/>
                </a:cubicBezTo>
                <a:cubicBezTo>
                  <a:pt x="239" y="667"/>
                  <a:pt x="242" y="655"/>
                  <a:pt x="244" y="642"/>
                </a:cubicBezTo>
                <a:cubicBezTo>
                  <a:pt x="248" y="630"/>
                  <a:pt x="252" y="617"/>
                  <a:pt x="256" y="605"/>
                </a:cubicBezTo>
                <a:cubicBezTo>
                  <a:pt x="263" y="578"/>
                  <a:pt x="277" y="553"/>
                  <a:pt x="288" y="525"/>
                </a:cubicBezTo>
                <a:cubicBezTo>
                  <a:pt x="303" y="499"/>
                  <a:pt x="317" y="471"/>
                  <a:pt x="336" y="445"/>
                </a:cubicBezTo>
                <a:cubicBezTo>
                  <a:pt x="353" y="418"/>
                  <a:pt x="374" y="395"/>
                  <a:pt x="395" y="370"/>
                </a:cubicBezTo>
                <a:cubicBezTo>
                  <a:pt x="418" y="347"/>
                  <a:pt x="440" y="323"/>
                  <a:pt x="466" y="304"/>
                </a:cubicBezTo>
                <a:cubicBezTo>
                  <a:pt x="490" y="283"/>
                  <a:pt x="518" y="267"/>
                  <a:pt x="543" y="250"/>
                </a:cubicBezTo>
                <a:cubicBezTo>
                  <a:pt x="570" y="236"/>
                  <a:pt x="595" y="220"/>
                  <a:pt x="622" y="211"/>
                </a:cubicBezTo>
                <a:cubicBezTo>
                  <a:pt x="635" y="205"/>
                  <a:pt x="648" y="200"/>
                  <a:pt x="660" y="195"/>
                </a:cubicBezTo>
                <a:cubicBezTo>
                  <a:pt x="673" y="191"/>
                  <a:pt x="685" y="187"/>
                  <a:pt x="697" y="184"/>
                </a:cubicBezTo>
                <a:cubicBezTo>
                  <a:pt x="721" y="176"/>
                  <a:pt x="743" y="172"/>
                  <a:pt x="763" y="168"/>
                </a:cubicBezTo>
                <a:cubicBezTo>
                  <a:pt x="773" y="166"/>
                  <a:pt x="782" y="165"/>
                  <a:pt x="791" y="163"/>
                </a:cubicBezTo>
                <a:cubicBezTo>
                  <a:pt x="799" y="162"/>
                  <a:pt x="807" y="161"/>
                  <a:pt x="814" y="161"/>
                </a:cubicBezTo>
                <a:cubicBezTo>
                  <a:pt x="843" y="158"/>
                  <a:pt x="860" y="157"/>
                  <a:pt x="860" y="157"/>
                </a:cubicBezTo>
                <a:cubicBezTo>
                  <a:pt x="860" y="137"/>
                  <a:pt x="860" y="137"/>
                  <a:pt x="860" y="137"/>
                </a:cubicBezTo>
                <a:cubicBezTo>
                  <a:pt x="860" y="137"/>
                  <a:pt x="843" y="137"/>
                  <a:pt x="813" y="137"/>
                </a:cubicBezTo>
                <a:cubicBezTo>
                  <a:pt x="805" y="137"/>
                  <a:pt x="797" y="137"/>
                  <a:pt x="788" y="137"/>
                </a:cubicBezTo>
                <a:cubicBezTo>
                  <a:pt x="779" y="138"/>
                  <a:pt x="769" y="140"/>
                  <a:pt x="759" y="141"/>
                </a:cubicBezTo>
                <a:cubicBezTo>
                  <a:pt x="738" y="143"/>
                  <a:pt x="714" y="145"/>
                  <a:pt x="689" y="152"/>
                </a:cubicBezTo>
                <a:cubicBezTo>
                  <a:pt x="676" y="155"/>
                  <a:pt x="663" y="158"/>
                  <a:pt x="649" y="161"/>
                </a:cubicBezTo>
                <a:cubicBezTo>
                  <a:pt x="636" y="165"/>
                  <a:pt x="622" y="169"/>
                  <a:pt x="608" y="174"/>
                </a:cubicBezTo>
                <a:cubicBezTo>
                  <a:pt x="579" y="182"/>
                  <a:pt x="551" y="197"/>
                  <a:pt x="521" y="210"/>
                </a:cubicBezTo>
                <a:cubicBezTo>
                  <a:pt x="493" y="226"/>
                  <a:pt x="462" y="241"/>
                  <a:pt x="434" y="262"/>
                </a:cubicBezTo>
                <a:cubicBezTo>
                  <a:pt x="405" y="280"/>
                  <a:pt x="379" y="304"/>
                  <a:pt x="352" y="327"/>
                </a:cubicBezTo>
                <a:cubicBezTo>
                  <a:pt x="327" y="352"/>
                  <a:pt x="302" y="376"/>
                  <a:pt x="281" y="404"/>
                </a:cubicBezTo>
                <a:cubicBezTo>
                  <a:pt x="258" y="431"/>
                  <a:pt x="240" y="461"/>
                  <a:pt x="222" y="488"/>
                </a:cubicBezTo>
                <a:cubicBezTo>
                  <a:pt x="207" y="518"/>
                  <a:pt x="189" y="546"/>
                  <a:pt x="179" y="575"/>
                </a:cubicBezTo>
                <a:cubicBezTo>
                  <a:pt x="173" y="589"/>
                  <a:pt x="167" y="603"/>
                  <a:pt x="162" y="617"/>
                </a:cubicBezTo>
                <a:cubicBezTo>
                  <a:pt x="158" y="630"/>
                  <a:pt x="154" y="644"/>
                  <a:pt x="150" y="657"/>
                </a:cubicBezTo>
                <a:cubicBezTo>
                  <a:pt x="141" y="682"/>
                  <a:pt x="137" y="708"/>
                  <a:pt x="133" y="730"/>
                </a:cubicBezTo>
                <a:cubicBezTo>
                  <a:pt x="132" y="737"/>
                  <a:pt x="131" y="743"/>
                  <a:pt x="129" y="750"/>
                </a:cubicBezTo>
                <a:cubicBezTo>
                  <a:pt x="0" y="750"/>
                  <a:pt x="0" y="750"/>
                  <a:pt x="0" y="750"/>
                </a:cubicBezTo>
                <a:cubicBezTo>
                  <a:pt x="172" y="973"/>
                  <a:pt x="172" y="973"/>
                  <a:pt x="172" y="973"/>
                </a:cubicBezTo>
                <a:lnTo>
                  <a:pt x="344" y="750"/>
                </a:lnTo>
                <a:close/>
                <a:moveTo>
                  <a:pt x="745" y="1677"/>
                </a:moveTo>
                <a:cubicBezTo>
                  <a:pt x="742" y="1676"/>
                  <a:pt x="739" y="1676"/>
                  <a:pt x="736" y="1675"/>
                </a:cubicBezTo>
                <a:cubicBezTo>
                  <a:pt x="718" y="1674"/>
                  <a:pt x="697" y="1672"/>
                  <a:pt x="674" y="1666"/>
                </a:cubicBezTo>
                <a:cubicBezTo>
                  <a:pt x="662" y="1663"/>
                  <a:pt x="650" y="1661"/>
                  <a:pt x="637" y="1658"/>
                </a:cubicBezTo>
                <a:cubicBezTo>
                  <a:pt x="625" y="1654"/>
                  <a:pt x="613" y="1650"/>
                  <a:pt x="600" y="1646"/>
                </a:cubicBezTo>
                <a:cubicBezTo>
                  <a:pt x="573" y="1639"/>
                  <a:pt x="548" y="1625"/>
                  <a:pt x="520" y="1614"/>
                </a:cubicBezTo>
                <a:cubicBezTo>
                  <a:pt x="494" y="1599"/>
                  <a:pt x="466" y="1586"/>
                  <a:pt x="440" y="1567"/>
                </a:cubicBezTo>
                <a:cubicBezTo>
                  <a:pt x="414" y="1550"/>
                  <a:pt x="390" y="1528"/>
                  <a:pt x="365" y="1507"/>
                </a:cubicBezTo>
                <a:cubicBezTo>
                  <a:pt x="342" y="1484"/>
                  <a:pt x="319" y="1462"/>
                  <a:pt x="300" y="1436"/>
                </a:cubicBezTo>
                <a:cubicBezTo>
                  <a:pt x="278" y="1412"/>
                  <a:pt x="262" y="1385"/>
                  <a:pt x="245" y="1359"/>
                </a:cubicBezTo>
                <a:cubicBezTo>
                  <a:pt x="232" y="1332"/>
                  <a:pt x="215" y="1307"/>
                  <a:pt x="206" y="1280"/>
                </a:cubicBezTo>
                <a:cubicBezTo>
                  <a:pt x="200" y="1267"/>
                  <a:pt x="195" y="1254"/>
                  <a:pt x="190" y="1242"/>
                </a:cubicBezTo>
                <a:cubicBezTo>
                  <a:pt x="186" y="1229"/>
                  <a:pt x="183" y="1217"/>
                  <a:pt x="179" y="1205"/>
                </a:cubicBezTo>
                <a:cubicBezTo>
                  <a:pt x="171" y="1182"/>
                  <a:pt x="167" y="1159"/>
                  <a:pt x="163" y="1140"/>
                </a:cubicBezTo>
                <a:cubicBezTo>
                  <a:pt x="161" y="1130"/>
                  <a:pt x="160" y="1120"/>
                  <a:pt x="158" y="1112"/>
                </a:cubicBezTo>
                <a:cubicBezTo>
                  <a:pt x="157" y="1103"/>
                  <a:pt x="157" y="1095"/>
                  <a:pt x="156" y="1088"/>
                </a:cubicBezTo>
                <a:cubicBezTo>
                  <a:pt x="153" y="1059"/>
                  <a:pt x="152" y="1042"/>
                  <a:pt x="152" y="1042"/>
                </a:cubicBezTo>
                <a:cubicBezTo>
                  <a:pt x="132" y="1042"/>
                  <a:pt x="132" y="1042"/>
                  <a:pt x="132" y="1042"/>
                </a:cubicBezTo>
                <a:cubicBezTo>
                  <a:pt x="132" y="1042"/>
                  <a:pt x="132" y="1059"/>
                  <a:pt x="132" y="1089"/>
                </a:cubicBezTo>
                <a:cubicBezTo>
                  <a:pt x="132" y="1097"/>
                  <a:pt x="133" y="1105"/>
                  <a:pt x="133" y="1114"/>
                </a:cubicBezTo>
                <a:cubicBezTo>
                  <a:pt x="134" y="1123"/>
                  <a:pt x="135" y="1133"/>
                  <a:pt x="136" y="1144"/>
                </a:cubicBezTo>
                <a:cubicBezTo>
                  <a:pt x="138" y="1164"/>
                  <a:pt x="141" y="1188"/>
                  <a:pt x="147" y="1213"/>
                </a:cubicBezTo>
                <a:cubicBezTo>
                  <a:pt x="150" y="1226"/>
                  <a:pt x="153" y="1239"/>
                  <a:pt x="156" y="1253"/>
                </a:cubicBezTo>
                <a:cubicBezTo>
                  <a:pt x="160" y="1266"/>
                  <a:pt x="165" y="1280"/>
                  <a:pt x="169" y="1294"/>
                </a:cubicBezTo>
                <a:cubicBezTo>
                  <a:pt x="177" y="1323"/>
                  <a:pt x="192" y="1351"/>
                  <a:pt x="205" y="1381"/>
                </a:cubicBezTo>
                <a:cubicBezTo>
                  <a:pt x="221" y="1410"/>
                  <a:pt x="236" y="1440"/>
                  <a:pt x="257" y="1468"/>
                </a:cubicBezTo>
                <a:cubicBezTo>
                  <a:pt x="275" y="1497"/>
                  <a:pt x="299" y="1523"/>
                  <a:pt x="322" y="1550"/>
                </a:cubicBezTo>
                <a:cubicBezTo>
                  <a:pt x="347" y="1575"/>
                  <a:pt x="371" y="1601"/>
                  <a:pt x="400" y="1622"/>
                </a:cubicBezTo>
                <a:cubicBezTo>
                  <a:pt x="426" y="1645"/>
                  <a:pt x="456" y="1662"/>
                  <a:pt x="484" y="1681"/>
                </a:cubicBezTo>
                <a:cubicBezTo>
                  <a:pt x="513" y="1696"/>
                  <a:pt x="541" y="1713"/>
                  <a:pt x="570" y="1723"/>
                </a:cubicBezTo>
                <a:cubicBezTo>
                  <a:pt x="584" y="1729"/>
                  <a:pt x="598" y="1735"/>
                  <a:pt x="612" y="1740"/>
                </a:cubicBezTo>
                <a:cubicBezTo>
                  <a:pt x="626" y="1744"/>
                  <a:pt x="639" y="1748"/>
                  <a:pt x="652" y="1752"/>
                </a:cubicBezTo>
                <a:cubicBezTo>
                  <a:pt x="677" y="1761"/>
                  <a:pt x="703" y="1765"/>
                  <a:pt x="725" y="1769"/>
                </a:cubicBezTo>
                <a:cubicBezTo>
                  <a:pt x="732" y="1771"/>
                  <a:pt x="738" y="1772"/>
                  <a:pt x="745" y="1773"/>
                </a:cubicBezTo>
                <a:cubicBezTo>
                  <a:pt x="745" y="1902"/>
                  <a:pt x="745" y="1902"/>
                  <a:pt x="745" y="1902"/>
                </a:cubicBezTo>
                <a:cubicBezTo>
                  <a:pt x="968" y="1730"/>
                  <a:pt x="968" y="1730"/>
                  <a:pt x="968" y="1730"/>
                </a:cubicBezTo>
                <a:cubicBezTo>
                  <a:pt x="745" y="1558"/>
                  <a:pt x="745" y="1558"/>
                  <a:pt x="745" y="1558"/>
                </a:cubicBezTo>
                <a:lnTo>
                  <a:pt x="745" y="1677"/>
                </a:lnTo>
                <a:close/>
                <a:moveTo>
                  <a:pt x="1795" y="946"/>
                </a:moveTo>
                <a:cubicBezTo>
                  <a:pt x="1623" y="1169"/>
                  <a:pt x="1623" y="1169"/>
                  <a:pt x="1623" y="1169"/>
                </a:cubicBezTo>
                <a:cubicBezTo>
                  <a:pt x="1741" y="1169"/>
                  <a:pt x="1741" y="1169"/>
                  <a:pt x="1741" y="1169"/>
                </a:cubicBezTo>
                <a:cubicBezTo>
                  <a:pt x="1740" y="1172"/>
                  <a:pt x="1740" y="1175"/>
                  <a:pt x="1740" y="1178"/>
                </a:cubicBezTo>
                <a:cubicBezTo>
                  <a:pt x="1738" y="1196"/>
                  <a:pt x="1736" y="1217"/>
                  <a:pt x="1730" y="1240"/>
                </a:cubicBezTo>
                <a:cubicBezTo>
                  <a:pt x="1728" y="1252"/>
                  <a:pt x="1725" y="1264"/>
                  <a:pt x="1722" y="1276"/>
                </a:cubicBezTo>
                <a:cubicBezTo>
                  <a:pt x="1718" y="1289"/>
                  <a:pt x="1714" y="1301"/>
                  <a:pt x="1710" y="1314"/>
                </a:cubicBezTo>
                <a:cubicBezTo>
                  <a:pt x="1703" y="1341"/>
                  <a:pt x="1689" y="1366"/>
                  <a:pt x="1678" y="1394"/>
                </a:cubicBezTo>
                <a:cubicBezTo>
                  <a:pt x="1663" y="1420"/>
                  <a:pt x="1650" y="1448"/>
                  <a:pt x="1631" y="1473"/>
                </a:cubicBezTo>
                <a:cubicBezTo>
                  <a:pt x="1614" y="1500"/>
                  <a:pt x="1592" y="1524"/>
                  <a:pt x="1571" y="1549"/>
                </a:cubicBezTo>
                <a:cubicBezTo>
                  <a:pt x="1548" y="1571"/>
                  <a:pt x="1526" y="1595"/>
                  <a:pt x="1500" y="1614"/>
                </a:cubicBezTo>
                <a:cubicBezTo>
                  <a:pt x="1476" y="1636"/>
                  <a:pt x="1449" y="1651"/>
                  <a:pt x="1424" y="1669"/>
                </a:cubicBezTo>
                <a:cubicBezTo>
                  <a:pt x="1396" y="1682"/>
                  <a:pt x="1371" y="1699"/>
                  <a:pt x="1344" y="1708"/>
                </a:cubicBezTo>
                <a:cubicBezTo>
                  <a:pt x="1331" y="1713"/>
                  <a:pt x="1319" y="1719"/>
                  <a:pt x="1306" y="1724"/>
                </a:cubicBezTo>
                <a:cubicBezTo>
                  <a:pt x="1294" y="1728"/>
                  <a:pt x="1281" y="1731"/>
                  <a:pt x="1269" y="1735"/>
                </a:cubicBezTo>
                <a:cubicBezTo>
                  <a:pt x="1246" y="1743"/>
                  <a:pt x="1224" y="1747"/>
                  <a:pt x="1204" y="1751"/>
                </a:cubicBezTo>
                <a:cubicBezTo>
                  <a:pt x="1194" y="1752"/>
                  <a:pt x="1185" y="1754"/>
                  <a:pt x="1176" y="1756"/>
                </a:cubicBezTo>
                <a:cubicBezTo>
                  <a:pt x="1167" y="1757"/>
                  <a:pt x="1159" y="1757"/>
                  <a:pt x="1152" y="1758"/>
                </a:cubicBezTo>
                <a:cubicBezTo>
                  <a:pt x="1123" y="1761"/>
                  <a:pt x="1106" y="1762"/>
                  <a:pt x="1106" y="1762"/>
                </a:cubicBezTo>
                <a:cubicBezTo>
                  <a:pt x="1106" y="1782"/>
                  <a:pt x="1106" y="1782"/>
                  <a:pt x="1106" y="1782"/>
                </a:cubicBezTo>
                <a:cubicBezTo>
                  <a:pt x="1106" y="1782"/>
                  <a:pt x="1124" y="1782"/>
                  <a:pt x="1154" y="1782"/>
                </a:cubicBezTo>
                <a:cubicBezTo>
                  <a:pt x="1161" y="1782"/>
                  <a:pt x="1169" y="1781"/>
                  <a:pt x="1179" y="1781"/>
                </a:cubicBezTo>
                <a:cubicBezTo>
                  <a:pt x="1188" y="1780"/>
                  <a:pt x="1197" y="1779"/>
                  <a:pt x="1208" y="1778"/>
                </a:cubicBezTo>
                <a:cubicBezTo>
                  <a:pt x="1229" y="1776"/>
                  <a:pt x="1252" y="1773"/>
                  <a:pt x="1277" y="1767"/>
                </a:cubicBezTo>
                <a:cubicBezTo>
                  <a:pt x="1290" y="1764"/>
                  <a:pt x="1303" y="1761"/>
                  <a:pt x="1317" y="1758"/>
                </a:cubicBezTo>
                <a:cubicBezTo>
                  <a:pt x="1330" y="1754"/>
                  <a:pt x="1344" y="1749"/>
                  <a:pt x="1358" y="1745"/>
                </a:cubicBezTo>
                <a:cubicBezTo>
                  <a:pt x="1387" y="1737"/>
                  <a:pt x="1415" y="1722"/>
                  <a:pt x="1446" y="1709"/>
                </a:cubicBezTo>
                <a:cubicBezTo>
                  <a:pt x="1474" y="1693"/>
                  <a:pt x="1505" y="1678"/>
                  <a:pt x="1532" y="1657"/>
                </a:cubicBezTo>
                <a:cubicBezTo>
                  <a:pt x="1562" y="1639"/>
                  <a:pt x="1588" y="1615"/>
                  <a:pt x="1615" y="1592"/>
                </a:cubicBezTo>
                <a:cubicBezTo>
                  <a:pt x="1639" y="1567"/>
                  <a:pt x="1665" y="1543"/>
                  <a:pt x="1686" y="1514"/>
                </a:cubicBezTo>
                <a:cubicBezTo>
                  <a:pt x="1709" y="1488"/>
                  <a:pt x="1726" y="1458"/>
                  <a:pt x="1745" y="1430"/>
                </a:cubicBezTo>
                <a:cubicBezTo>
                  <a:pt x="1760" y="1401"/>
                  <a:pt x="1777" y="1373"/>
                  <a:pt x="1788" y="1344"/>
                </a:cubicBezTo>
                <a:cubicBezTo>
                  <a:pt x="1793" y="1329"/>
                  <a:pt x="1799" y="1316"/>
                  <a:pt x="1804" y="1302"/>
                </a:cubicBezTo>
                <a:cubicBezTo>
                  <a:pt x="1809" y="1288"/>
                  <a:pt x="1813" y="1275"/>
                  <a:pt x="1817" y="1262"/>
                </a:cubicBezTo>
                <a:cubicBezTo>
                  <a:pt x="1825" y="1236"/>
                  <a:pt x="1829" y="1211"/>
                  <a:pt x="1833" y="1189"/>
                </a:cubicBezTo>
                <a:cubicBezTo>
                  <a:pt x="1835" y="1182"/>
                  <a:pt x="1836" y="1175"/>
                  <a:pt x="1837" y="1169"/>
                </a:cubicBezTo>
                <a:cubicBezTo>
                  <a:pt x="1967" y="1169"/>
                  <a:pt x="1967" y="1169"/>
                  <a:pt x="1967" y="1169"/>
                </a:cubicBezTo>
                <a:lnTo>
                  <a:pt x="1795" y="946"/>
                </a:lnTo>
                <a:close/>
              </a:path>
            </a:pathLst>
          </a:custGeom>
          <a:solidFill>
            <a:srgbClr val="FFE600"/>
          </a:solidFill>
          <a:ln>
            <a:noFill/>
          </a:ln>
        </p:spPr>
        <p:txBody>
          <a:bodyPr vert="horz" wrap="square" lIns="91392" tIns="45696" rIns="91392" bIns="45696" anchor="t"/>
          <a:lstStyle/>
          <a:p>
            <a:pPr eaLnBrk="0" fontAlgn="base" hangingPunct="0">
              <a:spcBef>
                <a:spcPct val="0"/>
              </a:spcBef>
              <a:spcAft>
                <a:spcPct val="0"/>
              </a:spcAft>
            </a:pPr>
            <a:endParaRPr lang="en-US" sz="1599">
              <a:solidFill>
                <a:srgbClr val="FFFFFF"/>
              </a:solidFill>
              <a:latin typeface="EY interstate"/>
            </a:endParaRPr>
          </a:p>
        </p:txBody>
      </p:sp>
      <p:sp>
        <p:nvSpPr>
          <p:cNvPr id="13" name="Rectangle 12">
            <a:extLst>
              <a:ext uri="{FF2B5EF4-FFF2-40B4-BE49-F238E27FC236}">
                <a16:creationId xmlns:a16="http://schemas.microsoft.com/office/drawing/2014/main" id="{AD2BEBFD-992D-3994-904F-5F99B6E597CF}"/>
              </a:ext>
            </a:extLst>
          </p:cNvPr>
          <p:cNvSpPr/>
          <p:nvPr/>
        </p:nvSpPr>
        <p:spPr>
          <a:xfrm>
            <a:off x="6287353" y="3032028"/>
            <a:ext cx="4535499" cy="1501207"/>
          </a:xfrm>
          <a:prstGeom prst="rect">
            <a:avLst/>
          </a:prstGeom>
          <a:solidFill>
            <a:schemeClr val="bg2"/>
          </a:solidFill>
          <a:ln w="9525" cap="flat" cmpd="sng" algn="ctr">
            <a:noFill/>
            <a:prstDash val="solid"/>
          </a:ln>
          <a:effectLst/>
        </p:spPr>
        <p:txBody>
          <a:bodyPr tIns="45696" bIns="45696" rtlCol="0" anchor="t" anchorCtr="0"/>
          <a:lstStyle/>
          <a:p>
            <a:pPr>
              <a:spcAft>
                <a:spcPts val="600"/>
              </a:spcAft>
              <a:defRPr/>
            </a:pPr>
            <a:r>
              <a:rPr lang="en-US" sz="1200" kern="0">
                <a:latin typeface="EY interstate"/>
                <a:cs typeface="Arial" panose="020B0604020202020204" pitchFamily="34" charset="0"/>
              </a:rPr>
              <a:t>Centralized Intercompany accounting across ERP systems</a:t>
            </a:r>
          </a:p>
          <a:p>
            <a:pPr marL="230073" indent="-230073" algn="just">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Integrated data repository and centralized document repository</a:t>
            </a:r>
          </a:p>
          <a:p>
            <a:pPr marL="230073" indent="-230073" algn="just">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Standardized data flows across multiple ERP systems</a:t>
            </a:r>
          </a:p>
          <a:p>
            <a:pPr marL="230073" indent="-230073" algn="just">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Familiar user experience with clear visibility of intercompany transactions</a:t>
            </a:r>
          </a:p>
        </p:txBody>
      </p:sp>
      <p:grpSp>
        <p:nvGrpSpPr>
          <p:cNvPr id="15" name="Group 58">
            <a:extLst>
              <a:ext uri="{FF2B5EF4-FFF2-40B4-BE49-F238E27FC236}">
                <a16:creationId xmlns:a16="http://schemas.microsoft.com/office/drawing/2014/main" id="{6AC99F35-C943-0919-8ED4-F1EC39FDFEB8}"/>
              </a:ext>
            </a:extLst>
          </p:cNvPr>
          <p:cNvGrpSpPr>
            <a:grpSpLocks noChangeAspect="1"/>
          </p:cNvGrpSpPr>
          <p:nvPr/>
        </p:nvGrpSpPr>
        <p:grpSpPr bwMode="auto">
          <a:xfrm>
            <a:off x="11070155" y="3475587"/>
            <a:ext cx="792775" cy="767869"/>
            <a:chOff x="1994534" y="4057927"/>
            <a:chExt cx="747439" cy="654868"/>
          </a:xfrm>
          <a:solidFill>
            <a:srgbClr val="FFE600"/>
          </a:solidFill>
        </p:grpSpPr>
        <p:sp>
          <p:nvSpPr>
            <p:cNvPr id="17" name="Freeform 59">
              <a:extLst>
                <a:ext uri="{FF2B5EF4-FFF2-40B4-BE49-F238E27FC236}">
                  <a16:creationId xmlns:a16="http://schemas.microsoft.com/office/drawing/2014/main" id="{B80950FD-2604-E095-84DB-A95047A0A13F}"/>
                </a:ext>
              </a:extLst>
            </p:cNvPr>
            <p:cNvSpPr>
              <a:spLocks noEditPoints="1"/>
            </p:cNvSpPr>
            <p:nvPr/>
          </p:nvSpPr>
          <p:spPr bwMode="auto">
            <a:xfrm>
              <a:off x="1994534" y="4057927"/>
              <a:ext cx="747439" cy="654868"/>
            </a:xfrm>
            <a:custGeom>
              <a:avLst/>
              <a:gdLst>
                <a:gd name="T0" fmla="*/ 2147483647 w 436"/>
                <a:gd name="T1" fmla="*/ 2147483647 h 382"/>
                <a:gd name="T2" fmla="*/ 2147483647 w 436"/>
                <a:gd name="T3" fmla="*/ 2147483647 h 382"/>
                <a:gd name="T4" fmla="*/ 2147483647 w 436"/>
                <a:gd name="T5" fmla="*/ 2147483647 h 382"/>
                <a:gd name="T6" fmla="*/ 2147483647 w 436"/>
                <a:gd name="T7" fmla="*/ 2147483647 h 382"/>
                <a:gd name="T8" fmla="*/ 2147483647 w 436"/>
                <a:gd name="T9" fmla="*/ 2147483647 h 382"/>
                <a:gd name="T10" fmla="*/ 2147483647 w 436"/>
                <a:gd name="T11" fmla="*/ 2147483647 h 382"/>
                <a:gd name="T12" fmla="*/ 2147483647 w 436"/>
                <a:gd name="T13" fmla="*/ 2147483647 h 382"/>
                <a:gd name="T14" fmla="*/ 2147483647 w 436"/>
                <a:gd name="T15" fmla="*/ 2147483647 h 382"/>
                <a:gd name="T16" fmla="*/ 2147483647 w 436"/>
                <a:gd name="T17" fmla="*/ 2147483647 h 382"/>
                <a:gd name="T18" fmla="*/ 2147483647 w 436"/>
                <a:gd name="T19" fmla="*/ 2147483647 h 382"/>
                <a:gd name="T20" fmla="*/ 2147483647 w 436"/>
                <a:gd name="T21" fmla="*/ 2147483647 h 382"/>
                <a:gd name="T22" fmla="*/ 2147483647 w 436"/>
                <a:gd name="T23" fmla="*/ 2147483647 h 382"/>
                <a:gd name="T24" fmla="*/ 2147483647 w 436"/>
                <a:gd name="T25" fmla="*/ 2147483647 h 382"/>
                <a:gd name="T26" fmla="*/ 2147483647 w 436"/>
                <a:gd name="T27" fmla="*/ 2147483647 h 382"/>
                <a:gd name="T28" fmla="*/ 2147483647 w 436"/>
                <a:gd name="T29" fmla="*/ 2147483647 h 382"/>
                <a:gd name="T30" fmla="*/ 0 w 436"/>
                <a:gd name="T31" fmla="*/ 2147483647 h 382"/>
                <a:gd name="T32" fmla="*/ 2147483647 w 436"/>
                <a:gd name="T33" fmla="*/ 2147483647 h 382"/>
                <a:gd name="T34" fmla="*/ 2147483647 w 436"/>
                <a:gd name="T35" fmla="*/ 0 h 382"/>
                <a:gd name="T36" fmla="*/ 2147483647 w 436"/>
                <a:gd name="T37" fmla="*/ 2147483647 h 382"/>
                <a:gd name="T38" fmla="*/ 2147483647 w 436"/>
                <a:gd name="T39" fmla="*/ 2147483647 h 382"/>
                <a:gd name="T40" fmla="*/ 2147483647 w 436"/>
                <a:gd name="T41" fmla="*/ 2147483647 h 382"/>
                <a:gd name="T42" fmla="*/ 2147483647 w 436"/>
                <a:gd name="T43" fmla="*/ 2147483647 h 382"/>
                <a:gd name="T44" fmla="*/ 2147483647 w 436"/>
                <a:gd name="T45" fmla="*/ 2147483647 h 382"/>
                <a:gd name="T46" fmla="*/ 2147483647 w 436"/>
                <a:gd name="T47" fmla="*/ 2147483647 h 382"/>
                <a:gd name="T48" fmla="*/ 2147483647 w 436"/>
                <a:gd name="T49" fmla="*/ 2147483647 h 382"/>
                <a:gd name="T50" fmla="*/ 2147483647 w 436"/>
                <a:gd name="T51" fmla="*/ 2147483647 h 382"/>
                <a:gd name="T52" fmla="*/ 2147483647 w 436"/>
                <a:gd name="T53" fmla="*/ 2147483647 h 382"/>
                <a:gd name="T54" fmla="*/ 2147483647 w 436"/>
                <a:gd name="T55" fmla="*/ 2147483647 h 382"/>
                <a:gd name="T56" fmla="*/ 2147483647 w 436"/>
                <a:gd name="T57" fmla="*/ 2147483647 h 382"/>
                <a:gd name="T58" fmla="*/ 2147483647 w 436"/>
                <a:gd name="T59" fmla="*/ 2147483647 h 382"/>
                <a:gd name="T60" fmla="*/ 2147483647 w 436"/>
                <a:gd name="T61" fmla="*/ 2147483647 h 382"/>
                <a:gd name="T62" fmla="*/ 2147483647 w 436"/>
                <a:gd name="T63" fmla="*/ 2147483647 h 382"/>
                <a:gd name="T64" fmla="*/ 2147483647 w 436"/>
                <a:gd name="T65" fmla="*/ 2147483647 h 382"/>
                <a:gd name="T66" fmla="*/ 2147483647 w 436"/>
                <a:gd name="T67" fmla="*/ 2147483647 h 382"/>
                <a:gd name="T68" fmla="*/ 2147483647 w 436"/>
                <a:gd name="T69" fmla="*/ 2147483647 h 382"/>
                <a:gd name="T70" fmla="*/ 2147483647 w 436"/>
                <a:gd name="T71" fmla="*/ 2147483647 h 382"/>
                <a:gd name="T72" fmla="*/ 2147483647 w 436"/>
                <a:gd name="T73" fmla="*/ 2147483647 h 3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36" h="382">
                  <a:moveTo>
                    <a:pt x="323" y="382"/>
                  </a:moveTo>
                  <a:lnTo>
                    <a:pt x="328" y="382"/>
                  </a:lnTo>
                  <a:lnTo>
                    <a:pt x="329" y="379"/>
                  </a:lnTo>
                  <a:lnTo>
                    <a:pt x="331" y="375"/>
                  </a:lnTo>
                  <a:lnTo>
                    <a:pt x="331" y="356"/>
                  </a:lnTo>
                  <a:lnTo>
                    <a:pt x="329" y="353"/>
                  </a:lnTo>
                  <a:lnTo>
                    <a:pt x="328" y="351"/>
                  </a:lnTo>
                  <a:lnTo>
                    <a:pt x="323" y="349"/>
                  </a:lnTo>
                  <a:lnTo>
                    <a:pt x="113" y="349"/>
                  </a:lnTo>
                  <a:lnTo>
                    <a:pt x="110" y="351"/>
                  </a:lnTo>
                  <a:lnTo>
                    <a:pt x="107" y="353"/>
                  </a:lnTo>
                  <a:lnTo>
                    <a:pt x="107" y="356"/>
                  </a:lnTo>
                  <a:lnTo>
                    <a:pt x="107" y="375"/>
                  </a:lnTo>
                  <a:lnTo>
                    <a:pt x="107" y="379"/>
                  </a:lnTo>
                  <a:lnTo>
                    <a:pt x="110" y="382"/>
                  </a:lnTo>
                  <a:lnTo>
                    <a:pt x="113" y="382"/>
                  </a:lnTo>
                  <a:lnTo>
                    <a:pt x="147" y="382"/>
                  </a:lnTo>
                  <a:lnTo>
                    <a:pt x="173" y="382"/>
                  </a:lnTo>
                  <a:lnTo>
                    <a:pt x="194" y="382"/>
                  </a:lnTo>
                  <a:lnTo>
                    <a:pt x="211" y="382"/>
                  </a:lnTo>
                  <a:lnTo>
                    <a:pt x="227" y="382"/>
                  </a:lnTo>
                  <a:lnTo>
                    <a:pt x="243" y="382"/>
                  </a:lnTo>
                  <a:lnTo>
                    <a:pt x="263" y="382"/>
                  </a:lnTo>
                  <a:lnTo>
                    <a:pt x="289" y="382"/>
                  </a:lnTo>
                  <a:lnTo>
                    <a:pt x="323" y="382"/>
                  </a:lnTo>
                  <a:close/>
                  <a:moveTo>
                    <a:pt x="396" y="342"/>
                  </a:moveTo>
                  <a:lnTo>
                    <a:pt x="42" y="342"/>
                  </a:lnTo>
                  <a:lnTo>
                    <a:pt x="26" y="339"/>
                  </a:lnTo>
                  <a:lnTo>
                    <a:pt x="13" y="330"/>
                  </a:lnTo>
                  <a:lnTo>
                    <a:pt x="3" y="317"/>
                  </a:lnTo>
                  <a:lnTo>
                    <a:pt x="0" y="301"/>
                  </a:lnTo>
                  <a:lnTo>
                    <a:pt x="0" y="40"/>
                  </a:lnTo>
                  <a:lnTo>
                    <a:pt x="3" y="24"/>
                  </a:lnTo>
                  <a:lnTo>
                    <a:pt x="13" y="11"/>
                  </a:lnTo>
                  <a:lnTo>
                    <a:pt x="26" y="3"/>
                  </a:lnTo>
                  <a:lnTo>
                    <a:pt x="42" y="0"/>
                  </a:lnTo>
                  <a:lnTo>
                    <a:pt x="396" y="0"/>
                  </a:lnTo>
                  <a:lnTo>
                    <a:pt x="412" y="3"/>
                  </a:lnTo>
                  <a:lnTo>
                    <a:pt x="425" y="11"/>
                  </a:lnTo>
                  <a:lnTo>
                    <a:pt x="433" y="24"/>
                  </a:lnTo>
                  <a:lnTo>
                    <a:pt x="436" y="40"/>
                  </a:lnTo>
                  <a:lnTo>
                    <a:pt x="436" y="301"/>
                  </a:lnTo>
                  <a:lnTo>
                    <a:pt x="433" y="317"/>
                  </a:lnTo>
                  <a:lnTo>
                    <a:pt x="425" y="330"/>
                  </a:lnTo>
                  <a:lnTo>
                    <a:pt x="412" y="339"/>
                  </a:lnTo>
                  <a:lnTo>
                    <a:pt x="396" y="342"/>
                  </a:lnTo>
                  <a:close/>
                  <a:moveTo>
                    <a:pt x="396" y="323"/>
                  </a:moveTo>
                  <a:lnTo>
                    <a:pt x="401" y="323"/>
                  </a:lnTo>
                  <a:lnTo>
                    <a:pt x="407" y="320"/>
                  </a:lnTo>
                  <a:lnTo>
                    <a:pt x="412" y="317"/>
                  </a:lnTo>
                  <a:lnTo>
                    <a:pt x="414" y="313"/>
                  </a:lnTo>
                  <a:lnTo>
                    <a:pt x="417" y="307"/>
                  </a:lnTo>
                  <a:lnTo>
                    <a:pt x="417" y="301"/>
                  </a:lnTo>
                  <a:lnTo>
                    <a:pt x="417" y="40"/>
                  </a:lnTo>
                  <a:lnTo>
                    <a:pt x="417" y="34"/>
                  </a:lnTo>
                  <a:lnTo>
                    <a:pt x="414" y="29"/>
                  </a:lnTo>
                  <a:lnTo>
                    <a:pt x="412" y="24"/>
                  </a:lnTo>
                  <a:lnTo>
                    <a:pt x="407" y="22"/>
                  </a:lnTo>
                  <a:lnTo>
                    <a:pt x="401" y="19"/>
                  </a:lnTo>
                  <a:lnTo>
                    <a:pt x="396" y="19"/>
                  </a:lnTo>
                  <a:lnTo>
                    <a:pt x="42" y="19"/>
                  </a:lnTo>
                  <a:lnTo>
                    <a:pt x="36" y="19"/>
                  </a:lnTo>
                  <a:lnTo>
                    <a:pt x="30" y="22"/>
                  </a:lnTo>
                  <a:lnTo>
                    <a:pt x="26" y="24"/>
                  </a:lnTo>
                  <a:lnTo>
                    <a:pt x="22" y="29"/>
                  </a:lnTo>
                  <a:lnTo>
                    <a:pt x="20" y="34"/>
                  </a:lnTo>
                  <a:lnTo>
                    <a:pt x="19" y="40"/>
                  </a:lnTo>
                  <a:lnTo>
                    <a:pt x="19" y="301"/>
                  </a:lnTo>
                  <a:lnTo>
                    <a:pt x="20" y="307"/>
                  </a:lnTo>
                  <a:lnTo>
                    <a:pt x="22" y="313"/>
                  </a:lnTo>
                  <a:lnTo>
                    <a:pt x="26" y="317"/>
                  </a:lnTo>
                  <a:lnTo>
                    <a:pt x="30" y="320"/>
                  </a:lnTo>
                  <a:lnTo>
                    <a:pt x="36" y="323"/>
                  </a:lnTo>
                  <a:lnTo>
                    <a:pt x="42" y="323"/>
                  </a:lnTo>
                  <a:lnTo>
                    <a:pt x="396" y="323"/>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3943" eaLnBrk="0" fontAlgn="base" hangingPunct="0">
                <a:spcBef>
                  <a:spcPct val="0"/>
                </a:spcBef>
                <a:spcAft>
                  <a:spcPct val="0"/>
                </a:spcAft>
                <a:defRPr/>
              </a:pPr>
              <a:endParaRPr lang="nb-NO" sz="1599" kern="0">
                <a:solidFill>
                  <a:srgbClr val="FFFFFF"/>
                </a:solidFill>
                <a:latin typeface="EY interstate"/>
              </a:endParaRPr>
            </a:p>
          </p:txBody>
        </p:sp>
        <p:sp>
          <p:nvSpPr>
            <p:cNvPr id="19" name="Freeform 60">
              <a:extLst>
                <a:ext uri="{FF2B5EF4-FFF2-40B4-BE49-F238E27FC236}">
                  <a16:creationId xmlns:a16="http://schemas.microsoft.com/office/drawing/2014/main" id="{54761C17-EE90-416B-EBB5-74EAFF7B7EB1}"/>
                </a:ext>
              </a:extLst>
            </p:cNvPr>
            <p:cNvSpPr>
              <a:spLocks/>
            </p:cNvSpPr>
            <p:nvPr/>
          </p:nvSpPr>
          <p:spPr bwMode="auto">
            <a:xfrm>
              <a:off x="2116250" y="4352783"/>
              <a:ext cx="183431" cy="120002"/>
            </a:xfrm>
            <a:custGeom>
              <a:avLst/>
              <a:gdLst>
                <a:gd name="T0" fmla="*/ 2147483647 w 107"/>
                <a:gd name="T1" fmla="*/ 2147483647 h 70"/>
                <a:gd name="T2" fmla="*/ 2147483647 w 107"/>
                <a:gd name="T3" fmla="*/ 0 h 70"/>
                <a:gd name="T4" fmla="*/ 2147483647 w 107"/>
                <a:gd name="T5" fmla="*/ 2147483647 h 70"/>
                <a:gd name="T6" fmla="*/ 2147483647 w 107"/>
                <a:gd name="T7" fmla="*/ 2147483647 h 70"/>
                <a:gd name="T8" fmla="*/ 2147483647 w 107"/>
                <a:gd name="T9" fmla="*/ 2147483647 h 70"/>
                <a:gd name="T10" fmla="*/ 2147483647 w 107"/>
                <a:gd name="T11" fmla="*/ 2147483647 h 70"/>
                <a:gd name="T12" fmla="*/ 2147483647 w 107"/>
                <a:gd name="T13" fmla="*/ 2147483647 h 70"/>
                <a:gd name="T14" fmla="*/ 2147483647 w 107"/>
                <a:gd name="T15" fmla="*/ 2147483647 h 70"/>
                <a:gd name="T16" fmla="*/ 2147483647 w 107"/>
                <a:gd name="T17" fmla="*/ 0 h 70"/>
                <a:gd name="T18" fmla="*/ 2147483647 w 107"/>
                <a:gd name="T19" fmla="*/ 2147483647 h 70"/>
                <a:gd name="T20" fmla="*/ 2147483647 w 107"/>
                <a:gd name="T21" fmla="*/ 2147483647 h 70"/>
                <a:gd name="T22" fmla="*/ 2147483647 w 107"/>
                <a:gd name="T23" fmla="*/ 2147483647 h 70"/>
                <a:gd name="T24" fmla="*/ 2147483647 w 107"/>
                <a:gd name="T25" fmla="*/ 2147483647 h 70"/>
                <a:gd name="T26" fmla="*/ 2147483647 w 107"/>
                <a:gd name="T27" fmla="*/ 2147483647 h 70"/>
                <a:gd name="T28" fmla="*/ 2147483647 w 107"/>
                <a:gd name="T29" fmla="*/ 2147483647 h 70"/>
                <a:gd name="T30" fmla="*/ 2147483647 w 107"/>
                <a:gd name="T31" fmla="*/ 2147483647 h 70"/>
                <a:gd name="T32" fmla="*/ 2147483647 w 107"/>
                <a:gd name="T33" fmla="*/ 2147483647 h 70"/>
                <a:gd name="T34" fmla="*/ 0 w 107"/>
                <a:gd name="T35" fmla="*/ 2147483647 h 70"/>
                <a:gd name="T36" fmla="*/ 2147483647 w 107"/>
                <a:gd name="T37" fmla="*/ 2147483647 h 70"/>
                <a:gd name="T38" fmla="*/ 2147483647 w 107"/>
                <a:gd name="T39" fmla="*/ 2147483647 h 70"/>
                <a:gd name="T40" fmla="*/ 2147483647 w 107"/>
                <a:gd name="T41" fmla="*/ 2147483647 h 70"/>
                <a:gd name="T42" fmla="*/ 2147483647 w 107"/>
                <a:gd name="T43" fmla="*/ 2147483647 h 70"/>
                <a:gd name="T44" fmla="*/ 2147483647 w 107"/>
                <a:gd name="T45" fmla="*/ 2147483647 h 70"/>
                <a:gd name="T46" fmla="*/ 2147483647 w 107"/>
                <a:gd name="T47" fmla="*/ 2147483647 h 70"/>
                <a:gd name="T48" fmla="*/ 2147483647 w 107"/>
                <a:gd name="T49" fmla="*/ 2147483647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7" h="70">
                  <a:moveTo>
                    <a:pt x="24" y="4"/>
                  </a:moveTo>
                  <a:lnTo>
                    <a:pt x="33" y="0"/>
                  </a:lnTo>
                  <a:lnTo>
                    <a:pt x="35" y="17"/>
                  </a:lnTo>
                  <a:lnTo>
                    <a:pt x="40" y="27"/>
                  </a:lnTo>
                  <a:lnTo>
                    <a:pt x="49" y="33"/>
                  </a:lnTo>
                  <a:lnTo>
                    <a:pt x="58" y="33"/>
                  </a:lnTo>
                  <a:lnTo>
                    <a:pt x="65" y="27"/>
                  </a:lnTo>
                  <a:lnTo>
                    <a:pt x="71" y="17"/>
                  </a:lnTo>
                  <a:lnTo>
                    <a:pt x="74" y="0"/>
                  </a:lnTo>
                  <a:lnTo>
                    <a:pt x="82" y="4"/>
                  </a:lnTo>
                  <a:lnTo>
                    <a:pt x="86" y="5"/>
                  </a:lnTo>
                  <a:lnTo>
                    <a:pt x="91" y="8"/>
                  </a:lnTo>
                  <a:lnTo>
                    <a:pt x="94" y="11"/>
                  </a:lnTo>
                  <a:lnTo>
                    <a:pt x="97" y="15"/>
                  </a:lnTo>
                  <a:lnTo>
                    <a:pt x="101" y="34"/>
                  </a:lnTo>
                  <a:lnTo>
                    <a:pt x="105" y="52"/>
                  </a:lnTo>
                  <a:lnTo>
                    <a:pt x="107" y="70"/>
                  </a:lnTo>
                  <a:lnTo>
                    <a:pt x="0" y="70"/>
                  </a:lnTo>
                  <a:lnTo>
                    <a:pt x="1" y="52"/>
                  </a:lnTo>
                  <a:lnTo>
                    <a:pt x="4" y="34"/>
                  </a:lnTo>
                  <a:lnTo>
                    <a:pt x="10" y="15"/>
                  </a:lnTo>
                  <a:lnTo>
                    <a:pt x="11" y="11"/>
                  </a:lnTo>
                  <a:lnTo>
                    <a:pt x="16" y="8"/>
                  </a:lnTo>
                  <a:lnTo>
                    <a:pt x="20" y="5"/>
                  </a:lnTo>
                  <a:lnTo>
                    <a:pt x="24" y="4"/>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3943" eaLnBrk="0" fontAlgn="base" hangingPunct="0">
                <a:spcBef>
                  <a:spcPct val="0"/>
                </a:spcBef>
                <a:spcAft>
                  <a:spcPct val="0"/>
                </a:spcAft>
                <a:defRPr/>
              </a:pPr>
              <a:endParaRPr lang="nb-NO" sz="1599" kern="0">
                <a:solidFill>
                  <a:srgbClr val="FFFFFF"/>
                </a:solidFill>
                <a:latin typeface="EY interstate"/>
              </a:endParaRPr>
            </a:p>
          </p:txBody>
        </p:sp>
        <p:sp>
          <p:nvSpPr>
            <p:cNvPr id="20" name="Freeform 61">
              <a:extLst>
                <a:ext uri="{FF2B5EF4-FFF2-40B4-BE49-F238E27FC236}">
                  <a16:creationId xmlns:a16="http://schemas.microsoft.com/office/drawing/2014/main" id="{61288CCE-6007-E843-CCAC-047ACFA7DE91}"/>
                </a:ext>
              </a:extLst>
            </p:cNvPr>
            <p:cNvSpPr>
              <a:spLocks noEditPoints="1"/>
            </p:cNvSpPr>
            <p:nvPr/>
          </p:nvSpPr>
          <p:spPr bwMode="auto">
            <a:xfrm>
              <a:off x="2135107" y="4208791"/>
              <a:ext cx="144002" cy="135431"/>
            </a:xfrm>
            <a:custGeom>
              <a:avLst/>
              <a:gdLst>
                <a:gd name="T0" fmla="*/ 2147483647 w 84"/>
                <a:gd name="T1" fmla="*/ 2147483647 h 79"/>
                <a:gd name="T2" fmla="*/ 2147483647 w 84"/>
                <a:gd name="T3" fmla="*/ 2147483647 h 79"/>
                <a:gd name="T4" fmla="*/ 2147483647 w 84"/>
                <a:gd name="T5" fmla="*/ 2147483647 h 79"/>
                <a:gd name="T6" fmla="*/ 2147483647 w 84"/>
                <a:gd name="T7" fmla="*/ 2147483647 h 79"/>
                <a:gd name="T8" fmla="*/ 2147483647 w 84"/>
                <a:gd name="T9" fmla="*/ 2147483647 h 79"/>
                <a:gd name="T10" fmla="*/ 2147483647 w 84"/>
                <a:gd name="T11" fmla="*/ 2147483647 h 79"/>
                <a:gd name="T12" fmla="*/ 2147483647 w 84"/>
                <a:gd name="T13" fmla="*/ 2147483647 h 79"/>
                <a:gd name="T14" fmla="*/ 2147483647 w 84"/>
                <a:gd name="T15" fmla="*/ 2147483647 h 79"/>
                <a:gd name="T16" fmla="*/ 2147483647 w 84"/>
                <a:gd name="T17" fmla="*/ 2147483647 h 79"/>
                <a:gd name="T18" fmla="*/ 2147483647 w 84"/>
                <a:gd name="T19" fmla="*/ 2147483647 h 79"/>
                <a:gd name="T20" fmla="*/ 2147483647 w 84"/>
                <a:gd name="T21" fmla="*/ 2147483647 h 79"/>
                <a:gd name="T22" fmla="*/ 2147483647 w 84"/>
                <a:gd name="T23" fmla="*/ 2147483647 h 79"/>
                <a:gd name="T24" fmla="*/ 2147483647 w 84"/>
                <a:gd name="T25" fmla="*/ 2147483647 h 79"/>
                <a:gd name="T26" fmla="*/ 2147483647 w 84"/>
                <a:gd name="T27" fmla="*/ 2147483647 h 79"/>
                <a:gd name="T28" fmla="*/ 2147483647 w 84"/>
                <a:gd name="T29" fmla="*/ 2147483647 h 79"/>
                <a:gd name="T30" fmla="*/ 2147483647 w 84"/>
                <a:gd name="T31" fmla="*/ 2147483647 h 79"/>
                <a:gd name="T32" fmla="*/ 2147483647 w 84"/>
                <a:gd name="T33" fmla="*/ 2147483647 h 79"/>
                <a:gd name="T34" fmla="*/ 2147483647 w 84"/>
                <a:gd name="T35" fmla="*/ 2147483647 h 79"/>
                <a:gd name="T36" fmla="*/ 2147483647 w 84"/>
                <a:gd name="T37" fmla="*/ 2147483647 h 79"/>
                <a:gd name="T38" fmla="*/ 2147483647 w 84"/>
                <a:gd name="T39" fmla="*/ 2147483647 h 79"/>
                <a:gd name="T40" fmla="*/ 2147483647 w 84"/>
                <a:gd name="T41" fmla="*/ 2147483647 h 79"/>
                <a:gd name="T42" fmla="*/ 2147483647 w 84"/>
                <a:gd name="T43" fmla="*/ 2147483647 h 79"/>
                <a:gd name="T44" fmla="*/ 2147483647 w 84"/>
                <a:gd name="T45" fmla="*/ 2147483647 h 79"/>
                <a:gd name="T46" fmla="*/ 2147483647 w 84"/>
                <a:gd name="T47" fmla="*/ 2147483647 h 79"/>
                <a:gd name="T48" fmla="*/ 2147483647 w 84"/>
                <a:gd name="T49" fmla="*/ 2147483647 h 79"/>
                <a:gd name="T50" fmla="*/ 2147483647 w 84"/>
                <a:gd name="T51" fmla="*/ 2147483647 h 79"/>
                <a:gd name="T52" fmla="*/ 2147483647 w 84"/>
                <a:gd name="T53" fmla="*/ 2147483647 h 79"/>
                <a:gd name="T54" fmla="*/ 2147483647 w 84"/>
                <a:gd name="T55" fmla="*/ 2147483647 h 79"/>
                <a:gd name="T56" fmla="*/ 2147483647 w 84"/>
                <a:gd name="T57" fmla="*/ 2147483647 h 79"/>
                <a:gd name="T58" fmla="*/ 2147483647 w 84"/>
                <a:gd name="T59" fmla="*/ 2147483647 h 79"/>
                <a:gd name="T60" fmla="*/ 2147483647 w 84"/>
                <a:gd name="T61" fmla="*/ 2147483647 h 79"/>
                <a:gd name="T62" fmla="*/ 2147483647 w 84"/>
                <a:gd name="T63" fmla="*/ 2147483647 h 79"/>
                <a:gd name="T64" fmla="*/ 2147483647 w 84"/>
                <a:gd name="T65" fmla="*/ 2147483647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4" h="79">
                  <a:moveTo>
                    <a:pt x="67" y="33"/>
                  </a:moveTo>
                  <a:lnTo>
                    <a:pt x="64" y="37"/>
                  </a:lnTo>
                  <a:lnTo>
                    <a:pt x="63" y="42"/>
                  </a:lnTo>
                  <a:lnTo>
                    <a:pt x="50" y="42"/>
                  </a:lnTo>
                  <a:lnTo>
                    <a:pt x="37" y="42"/>
                  </a:lnTo>
                  <a:lnTo>
                    <a:pt x="37" y="36"/>
                  </a:lnTo>
                  <a:lnTo>
                    <a:pt x="37" y="32"/>
                  </a:lnTo>
                  <a:lnTo>
                    <a:pt x="37" y="27"/>
                  </a:lnTo>
                  <a:lnTo>
                    <a:pt x="34" y="33"/>
                  </a:lnTo>
                  <a:lnTo>
                    <a:pt x="31" y="37"/>
                  </a:lnTo>
                  <a:lnTo>
                    <a:pt x="26" y="40"/>
                  </a:lnTo>
                  <a:lnTo>
                    <a:pt x="22" y="42"/>
                  </a:lnTo>
                  <a:lnTo>
                    <a:pt x="24" y="39"/>
                  </a:lnTo>
                  <a:lnTo>
                    <a:pt x="24" y="35"/>
                  </a:lnTo>
                  <a:lnTo>
                    <a:pt x="24" y="32"/>
                  </a:lnTo>
                  <a:lnTo>
                    <a:pt x="21" y="35"/>
                  </a:lnTo>
                  <a:lnTo>
                    <a:pt x="19" y="37"/>
                  </a:lnTo>
                  <a:lnTo>
                    <a:pt x="18" y="40"/>
                  </a:lnTo>
                  <a:lnTo>
                    <a:pt x="16" y="42"/>
                  </a:lnTo>
                  <a:lnTo>
                    <a:pt x="19" y="49"/>
                  </a:lnTo>
                  <a:lnTo>
                    <a:pt x="22" y="56"/>
                  </a:lnTo>
                  <a:lnTo>
                    <a:pt x="25" y="62"/>
                  </a:lnTo>
                  <a:lnTo>
                    <a:pt x="29" y="68"/>
                  </a:lnTo>
                  <a:lnTo>
                    <a:pt x="34" y="71"/>
                  </a:lnTo>
                  <a:lnTo>
                    <a:pt x="38" y="73"/>
                  </a:lnTo>
                  <a:lnTo>
                    <a:pt x="42" y="75"/>
                  </a:lnTo>
                  <a:lnTo>
                    <a:pt x="47" y="73"/>
                  </a:lnTo>
                  <a:lnTo>
                    <a:pt x="51" y="71"/>
                  </a:lnTo>
                  <a:lnTo>
                    <a:pt x="55" y="68"/>
                  </a:lnTo>
                  <a:lnTo>
                    <a:pt x="58" y="62"/>
                  </a:lnTo>
                  <a:lnTo>
                    <a:pt x="63" y="56"/>
                  </a:lnTo>
                  <a:lnTo>
                    <a:pt x="65" y="50"/>
                  </a:lnTo>
                  <a:lnTo>
                    <a:pt x="67" y="43"/>
                  </a:lnTo>
                  <a:lnTo>
                    <a:pt x="67" y="39"/>
                  </a:lnTo>
                  <a:lnTo>
                    <a:pt x="67" y="36"/>
                  </a:lnTo>
                  <a:lnTo>
                    <a:pt x="67" y="33"/>
                  </a:lnTo>
                  <a:close/>
                  <a:moveTo>
                    <a:pt x="58" y="72"/>
                  </a:moveTo>
                  <a:lnTo>
                    <a:pt x="47" y="79"/>
                  </a:lnTo>
                  <a:lnTo>
                    <a:pt x="37" y="79"/>
                  </a:lnTo>
                  <a:lnTo>
                    <a:pt x="26" y="72"/>
                  </a:lnTo>
                  <a:lnTo>
                    <a:pt x="16" y="73"/>
                  </a:lnTo>
                  <a:lnTo>
                    <a:pt x="8" y="71"/>
                  </a:lnTo>
                  <a:lnTo>
                    <a:pt x="0" y="66"/>
                  </a:lnTo>
                  <a:lnTo>
                    <a:pt x="3" y="62"/>
                  </a:lnTo>
                  <a:lnTo>
                    <a:pt x="6" y="58"/>
                  </a:lnTo>
                  <a:lnTo>
                    <a:pt x="9" y="52"/>
                  </a:lnTo>
                  <a:lnTo>
                    <a:pt x="9" y="46"/>
                  </a:lnTo>
                  <a:lnTo>
                    <a:pt x="9" y="40"/>
                  </a:lnTo>
                  <a:lnTo>
                    <a:pt x="9" y="33"/>
                  </a:lnTo>
                  <a:lnTo>
                    <a:pt x="12" y="20"/>
                  </a:lnTo>
                  <a:lnTo>
                    <a:pt x="18" y="10"/>
                  </a:lnTo>
                  <a:lnTo>
                    <a:pt x="29" y="3"/>
                  </a:lnTo>
                  <a:lnTo>
                    <a:pt x="42" y="0"/>
                  </a:lnTo>
                  <a:lnTo>
                    <a:pt x="55" y="3"/>
                  </a:lnTo>
                  <a:lnTo>
                    <a:pt x="65" y="10"/>
                  </a:lnTo>
                  <a:lnTo>
                    <a:pt x="73" y="20"/>
                  </a:lnTo>
                  <a:lnTo>
                    <a:pt x="75" y="33"/>
                  </a:lnTo>
                  <a:lnTo>
                    <a:pt x="74" y="40"/>
                  </a:lnTo>
                  <a:lnTo>
                    <a:pt x="74" y="46"/>
                  </a:lnTo>
                  <a:lnTo>
                    <a:pt x="75" y="52"/>
                  </a:lnTo>
                  <a:lnTo>
                    <a:pt x="77" y="58"/>
                  </a:lnTo>
                  <a:lnTo>
                    <a:pt x="80" y="62"/>
                  </a:lnTo>
                  <a:lnTo>
                    <a:pt x="84" y="66"/>
                  </a:lnTo>
                  <a:lnTo>
                    <a:pt x="77" y="71"/>
                  </a:lnTo>
                  <a:lnTo>
                    <a:pt x="68" y="73"/>
                  </a:lnTo>
                  <a:lnTo>
                    <a:pt x="58" y="7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3943" eaLnBrk="0" fontAlgn="base" hangingPunct="0">
                <a:spcBef>
                  <a:spcPct val="0"/>
                </a:spcBef>
                <a:spcAft>
                  <a:spcPct val="0"/>
                </a:spcAft>
                <a:defRPr/>
              </a:pPr>
              <a:endParaRPr lang="nb-NO" sz="1599" kern="0">
                <a:solidFill>
                  <a:srgbClr val="FFFFFF"/>
                </a:solidFill>
                <a:latin typeface="EY interstate"/>
              </a:endParaRPr>
            </a:p>
          </p:txBody>
        </p:sp>
        <p:sp>
          <p:nvSpPr>
            <p:cNvPr id="21" name="Rectangle 62">
              <a:extLst>
                <a:ext uri="{FF2B5EF4-FFF2-40B4-BE49-F238E27FC236}">
                  <a16:creationId xmlns:a16="http://schemas.microsoft.com/office/drawing/2014/main" id="{9E83BFDD-CA79-5E89-78C4-8A47BA16145F}"/>
                </a:ext>
              </a:extLst>
            </p:cNvPr>
            <p:cNvSpPr>
              <a:spLocks noChangeArrowheads="1"/>
            </p:cNvSpPr>
            <p:nvPr/>
          </p:nvSpPr>
          <p:spPr bwMode="auto">
            <a:xfrm>
              <a:off x="2340825" y="4411071"/>
              <a:ext cx="78858" cy="61715"/>
            </a:xfrm>
            <a:prstGeom prst="rect">
              <a:avLst/>
            </a:prstGeom>
            <a:grpFill/>
            <a:ln>
              <a:noFill/>
            </a:ln>
            <a:extLst>
              <a:ext uri="{91240B29-F687-4F45-9708-019B960494DF}">
                <a14:hiddenLine xmlns:a14="http://schemas.microsoft.com/office/drawing/2010/main" w="0">
                  <a:solidFill>
                    <a:srgbClr val="000000"/>
                  </a:solidFill>
                  <a:miter lim="800000"/>
                  <a:headEnd/>
                  <a:tailEnd/>
                </a14:hiddenLine>
              </a:ext>
            </a:extLst>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algn="ctr" defTabSz="913943" fontAlgn="base">
                <a:spcBef>
                  <a:spcPct val="0"/>
                </a:spcBef>
                <a:spcAft>
                  <a:spcPct val="0"/>
                </a:spcAft>
                <a:defRPr/>
              </a:pPr>
              <a:endParaRPr lang="en-US" altLang="nb-NO" sz="1599" kern="0">
                <a:solidFill>
                  <a:srgbClr val="FFFFFF"/>
                </a:solidFill>
                <a:latin typeface="EY interstate"/>
              </a:endParaRPr>
            </a:p>
          </p:txBody>
        </p:sp>
        <p:sp>
          <p:nvSpPr>
            <p:cNvPr id="22" name="Rectangle 63">
              <a:extLst>
                <a:ext uri="{FF2B5EF4-FFF2-40B4-BE49-F238E27FC236}">
                  <a16:creationId xmlns:a16="http://schemas.microsoft.com/office/drawing/2014/main" id="{73F4F23F-5E0D-4E2E-74CC-BAC11DAE5E2F}"/>
                </a:ext>
              </a:extLst>
            </p:cNvPr>
            <p:cNvSpPr>
              <a:spLocks noChangeArrowheads="1"/>
            </p:cNvSpPr>
            <p:nvPr/>
          </p:nvSpPr>
          <p:spPr bwMode="auto">
            <a:xfrm>
              <a:off x="2445397" y="4411070"/>
              <a:ext cx="80573" cy="61715"/>
            </a:xfrm>
            <a:prstGeom prst="rect">
              <a:avLst/>
            </a:prstGeom>
            <a:grpFill/>
            <a:ln>
              <a:noFill/>
            </a:ln>
            <a:extLst>
              <a:ext uri="{91240B29-F687-4F45-9708-019B960494DF}">
                <a14:hiddenLine xmlns:a14="http://schemas.microsoft.com/office/drawing/2010/main" w="0">
                  <a:solidFill>
                    <a:srgbClr val="000000"/>
                  </a:solidFill>
                  <a:miter lim="800000"/>
                  <a:headEnd/>
                  <a:tailEnd/>
                </a14:hiddenLine>
              </a:ext>
            </a:extLst>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algn="ctr" defTabSz="913943" fontAlgn="base">
                <a:spcBef>
                  <a:spcPct val="0"/>
                </a:spcBef>
                <a:spcAft>
                  <a:spcPct val="0"/>
                </a:spcAft>
                <a:defRPr/>
              </a:pPr>
              <a:endParaRPr lang="en-US" altLang="nb-NO" sz="1599" kern="0">
                <a:solidFill>
                  <a:srgbClr val="FFFFFF"/>
                </a:solidFill>
                <a:latin typeface="EY interstate"/>
              </a:endParaRPr>
            </a:p>
          </p:txBody>
        </p:sp>
        <p:sp>
          <p:nvSpPr>
            <p:cNvPr id="23" name="Rectangle 64">
              <a:extLst>
                <a:ext uri="{FF2B5EF4-FFF2-40B4-BE49-F238E27FC236}">
                  <a16:creationId xmlns:a16="http://schemas.microsoft.com/office/drawing/2014/main" id="{BFAED12F-5082-F4E6-B4EA-EDD9443A7C53}"/>
                </a:ext>
              </a:extLst>
            </p:cNvPr>
            <p:cNvSpPr>
              <a:spLocks noChangeArrowheads="1"/>
            </p:cNvSpPr>
            <p:nvPr/>
          </p:nvSpPr>
          <p:spPr bwMode="auto">
            <a:xfrm>
              <a:off x="2445397" y="4327069"/>
              <a:ext cx="80573" cy="61715"/>
            </a:xfrm>
            <a:prstGeom prst="rect">
              <a:avLst/>
            </a:prstGeom>
            <a:grpFill/>
            <a:ln>
              <a:noFill/>
            </a:ln>
            <a:extLst>
              <a:ext uri="{91240B29-F687-4F45-9708-019B960494DF}">
                <a14:hiddenLine xmlns:a14="http://schemas.microsoft.com/office/drawing/2010/main" w="0">
                  <a:solidFill>
                    <a:srgbClr val="000000"/>
                  </a:solidFill>
                  <a:miter lim="800000"/>
                  <a:headEnd/>
                  <a:tailEnd/>
                </a14:hiddenLine>
              </a:ext>
            </a:extLst>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algn="ctr" defTabSz="913943" fontAlgn="base">
                <a:spcBef>
                  <a:spcPct val="0"/>
                </a:spcBef>
                <a:spcAft>
                  <a:spcPct val="0"/>
                </a:spcAft>
                <a:defRPr/>
              </a:pPr>
              <a:endParaRPr lang="en-US" altLang="nb-NO" sz="1599" kern="0">
                <a:solidFill>
                  <a:srgbClr val="FFFFFF"/>
                </a:solidFill>
                <a:latin typeface="EY interstate"/>
              </a:endParaRPr>
            </a:p>
          </p:txBody>
        </p:sp>
        <p:sp>
          <p:nvSpPr>
            <p:cNvPr id="24" name="Rectangle 65">
              <a:extLst>
                <a:ext uri="{FF2B5EF4-FFF2-40B4-BE49-F238E27FC236}">
                  <a16:creationId xmlns:a16="http://schemas.microsoft.com/office/drawing/2014/main" id="{5EF9B0BE-ED95-90B9-9DF9-DCDADD3BAC50}"/>
                </a:ext>
              </a:extLst>
            </p:cNvPr>
            <p:cNvSpPr>
              <a:spLocks noChangeArrowheads="1"/>
            </p:cNvSpPr>
            <p:nvPr/>
          </p:nvSpPr>
          <p:spPr bwMode="auto">
            <a:xfrm>
              <a:off x="2340825" y="4327069"/>
              <a:ext cx="78858" cy="61715"/>
            </a:xfrm>
            <a:prstGeom prst="rect">
              <a:avLst/>
            </a:prstGeom>
            <a:grpFill/>
            <a:ln>
              <a:noFill/>
            </a:ln>
            <a:extLst>
              <a:ext uri="{91240B29-F687-4F45-9708-019B960494DF}">
                <a14:hiddenLine xmlns:a14="http://schemas.microsoft.com/office/drawing/2010/main" w="0">
                  <a:solidFill>
                    <a:srgbClr val="000000"/>
                  </a:solidFill>
                  <a:miter lim="800000"/>
                  <a:headEnd/>
                  <a:tailEnd/>
                </a14:hiddenLine>
              </a:ext>
            </a:extLst>
          </p:spPr>
          <p:txBody>
            <a:bodyPr/>
            <a:lstStyle>
              <a:lvl1pPr>
                <a:defRPr sz="1600">
                  <a:solidFill>
                    <a:schemeClr val="tx1"/>
                  </a:solidFill>
                  <a:latin typeface="Arial" charset="0"/>
                </a:defRPr>
              </a:lvl1pPr>
              <a:lvl2pPr marL="742950" indent="-285750">
                <a:defRPr sz="1600">
                  <a:solidFill>
                    <a:schemeClr val="tx1"/>
                  </a:solidFill>
                  <a:latin typeface="Arial" charset="0"/>
                </a:defRPr>
              </a:lvl2pPr>
              <a:lvl3pPr marL="1143000" indent="-228600">
                <a:defRPr sz="1600">
                  <a:solidFill>
                    <a:schemeClr val="tx1"/>
                  </a:solidFill>
                  <a:latin typeface="Arial" charset="0"/>
                </a:defRPr>
              </a:lvl3pPr>
              <a:lvl4pPr marL="1600200" indent="-228600">
                <a:defRPr sz="1600">
                  <a:solidFill>
                    <a:schemeClr val="tx1"/>
                  </a:solidFill>
                  <a:latin typeface="Arial" charset="0"/>
                </a:defRPr>
              </a:lvl4pPr>
              <a:lvl5pPr marL="2057400" indent="-228600">
                <a:defRPr sz="1600">
                  <a:solidFill>
                    <a:schemeClr val="tx1"/>
                  </a:solidFill>
                  <a:latin typeface="Arial" charset="0"/>
                </a:defRPr>
              </a:lvl5pPr>
              <a:lvl6pPr marL="2514600" indent="-228600" eaLnBrk="0" fontAlgn="base" hangingPunct="0">
                <a:spcBef>
                  <a:spcPct val="0"/>
                </a:spcBef>
                <a:spcAft>
                  <a:spcPct val="0"/>
                </a:spcAft>
                <a:defRPr sz="1600">
                  <a:solidFill>
                    <a:schemeClr val="tx1"/>
                  </a:solidFill>
                  <a:latin typeface="Arial" charset="0"/>
                </a:defRPr>
              </a:lvl6pPr>
              <a:lvl7pPr marL="2971800" indent="-228600" eaLnBrk="0" fontAlgn="base" hangingPunct="0">
                <a:spcBef>
                  <a:spcPct val="0"/>
                </a:spcBef>
                <a:spcAft>
                  <a:spcPct val="0"/>
                </a:spcAft>
                <a:defRPr sz="1600">
                  <a:solidFill>
                    <a:schemeClr val="tx1"/>
                  </a:solidFill>
                  <a:latin typeface="Arial" charset="0"/>
                </a:defRPr>
              </a:lvl7pPr>
              <a:lvl8pPr marL="3429000" indent="-228600" eaLnBrk="0" fontAlgn="base" hangingPunct="0">
                <a:spcBef>
                  <a:spcPct val="0"/>
                </a:spcBef>
                <a:spcAft>
                  <a:spcPct val="0"/>
                </a:spcAft>
                <a:defRPr sz="1600">
                  <a:solidFill>
                    <a:schemeClr val="tx1"/>
                  </a:solidFill>
                  <a:latin typeface="Arial" charset="0"/>
                </a:defRPr>
              </a:lvl8pPr>
              <a:lvl9pPr marL="3886200" indent="-228600" eaLnBrk="0" fontAlgn="base" hangingPunct="0">
                <a:spcBef>
                  <a:spcPct val="0"/>
                </a:spcBef>
                <a:spcAft>
                  <a:spcPct val="0"/>
                </a:spcAft>
                <a:defRPr sz="1600">
                  <a:solidFill>
                    <a:schemeClr val="tx1"/>
                  </a:solidFill>
                  <a:latin typeface="Arial" charset="0"/>
                </a:defRPr>
              </a:lvl9pPr>
            </a:lstStyle>
            <a:p>
              <a:pPr algn="ctr" defTabSz="913943" fontAlgn="base">
                <a:spcBef>
                  <a:spcPct val="0"/>
                </a:spcBef>
                <a:spcAft>
                  <a:spcPct val="0"/>
                </a:spcAft>
                <a:defRPr/>
              </a:pPr>
              <a:endParaRPr lang="en-US" altLang="nb-NO" sz="1599" kern="0">
                <a:solidFill>
                  <a:srgbClr val="FFFFFF"/>
                </a:solidFill>
                <a:latin typeface="EY interstate"/>
              </a:endParaRPr>
            </a:p>
          </p:txBody>
        </p:sp>
        <p:sp>
          <p:nvSpPr>
            <p:cNvPr id="25" name="Freeform 66">
              <a:extLst>
                <a:ext uri="{FF2B5EF4-FFF2-40B4-BE49-F238E27FC236}">
                  <a16:creationId xmlns:a16="http://schemas.microsoft.com/office/drawing/2014/main" id="{82355927-728F-3925-5D7E-D98410498E61}"/>
                </a:ext>
              </a:extLst>
            </p:cNvPr>
            <p:cNvSpPr>
              <a:spLocks noEditPoints="1"/>
            </p:cNvSpPr>
            <p:nvPr/>
          </p:nvSpPr>
          <p:spPr bwMode="auto">
            <a:xfrm>
              <a:off x="2056250" y="4116213"/>
              <a:ext cx="625723" cy="468009"/>
            </a:xfrm>
            <a:custGeom>
              <a:avLst/>
              <a:gdLst>
                <a:gd name="T0" fmla="*/ 2147483647 w 365"/>
                <a:gd name="T1" fmla="*/ 2147483647 h 273"/>
                <a:gd name="T2" fmla="*/ 2147483647 w 365"/>
                <a:gd name="T3" fmla="*/ 2147483647 h 273"/>
                <a:gd name="T4" fmla="*/ 2147483647 w 365"/>
                <a:gd name="T5" fmla="*/ 2147483647 h 273"/>
                <a:gd name="T6" fmla="*/ 2147483647 w 365"/>
                <a:gd name="T7" fmla="*/ 2147483647 h 273"/>
                <a:gd name="T8" fmla="*/ 2147483647 w 365"/>
                <a:gd name="T9" fmla="*/ 2147483647 h 273"/>
                <a:gd name="T10" fmla="*/ 2147483647 w 365"/>
                <a:gd name="T11" fmla="*/ 2147483647 h 273"/>
                <a:gd name="T12" fmla="*/ 2147483647 w 365"/>
                <a:gd name="T13" fmla="*/ 2147483647 h 273"/>
                <a:gd name="T14" fmla="*/ 2147483647 w 365"/>
                <a:gd name="T15" fmla="*/ 2147483647 h 273"/>
                <a:gd name="T16" fmla="*/ 2147483647 w 365"/>
                <a:gd name="T17" fmla="*/ 2147483647 h 273"/>
                <a:gd name="T18" fmla="*/ 2147483647 w 365"/>
                <a:gd name="T19" fmla="*/ 2147483647 h 273"/>
                <a:gd name="T20" fmla="*/ 2147483647 w 365"/>
                <a:gd name="T21" fmla="*/ 2147483647 h 273"/>
                <a:gd name="T22" fmla="*/ 2147483647 w 365"/>
                <a:gd name="T23" fmla="*/ 2147483647 h 273"/>
                <a:gd name="T24" fmla="*/ 2147483647 w 365"/>
                <a:gd name="T25" fmla="*/ 2147483647 h 273"/>
                <a:gd name="T26" fmla="*/ 2147483647 w 365"/>
                <a:gd name="T27" fmla="*/ 2147483647 h 273"/>
                <a:gd name="T28" fmla="*/ 2147483647 w 365"/>
                <a:gd name="T29" fmla="*/ 2147483647 h 273"/>
                <a:gd name="T30" fmla="*/ 2147483647 w 365"/>
                <a:gd name="T31" fmla="*/ 2147483647 h 273"/>
                <a:gd name="T32" fmla="*/ 2147483647 w 365"/>
                <a:gd name="T33" fmla="*/ 2147483647 h 273"/>
                <a:gd name="T34" fmla="*/ 2147483647 w 365"/>
                <a:gd name="T35" fmla="*/ 2147483647 h 273"/>
                <a:gd name="T36" fmla="*/ 2147483647 w 365"/>
                <a:gd name="T37" fmla="*/ 2147483647 h 273"/>
                <a:gd name="T38" fmla="*/ 2147483647 w 365"/>
                <a:gd name="T39" fmla="*/ 2147483647 h 273"/>
                <a:gd name="T40" fmla="*/ 2147483647 w 365"/>
                <a:gd name="T41" fmla="*/ 2147483647 h 273"/>
                <a:gd name="T42" fmla="*/ 0 w 365"/>
                <a:gd name="T43" fmla="*/ 2147483647 h 273"/>
                <a:gd name="T44" fmla="*/ 0 w 365"/>
                <a:gd name="T45" fmla="*/ 2147483647 h 273"/>
                <a:gd name="T46" fmla="*/ 2147483647 w 365"/>
                <a:gd name="T47" fmla="*/ 2147483647 h 273"/>
                <a:gd name="T48" fmla="*/ 2147483647 w 365"/>
                <a:gd name="T49" fmla="*/ 0 h 273"/>
                <a:gd name="T50" fmla="*/ 2147483647 w 365"/>
                <a:gd name="T51" fmla="*/ 2147483647 h 273"/>
                <a:gd name="T52" fmla="*/ 2147483647 w 365"/>
                <a:gd name="T53" fmla="*/ 2147483647 h 273"/>
                <a:gd name="T54" fmla="*/ 2147483647 w 365"/>
                <a:gd name="T55" fmla="*/ 2147483647 h 273"/>
                <a:gd name="T56" fmla="*/ 2147483647 w 365"/>
                <a:gd name="T57" fmla="*/ 2147483647 h 273"/>
                <a:gd name="T58" fmla="*/ 2147483647 w 365"/>
                <a:gd name="T59" fmla="*/ 2147483647 h 273"/>
                <a:gd name="T60" fmla="*/ 2147483647 w 365"/>
                <a:gd name="T61" fmla="*/ 2147483647 h 273"/>
                <a:gd name="T62" fmla="*/ 2147483647 w 365"/>
                <a:gd name="T63" fmla="*/ 2147483647 h 273"/>
                <a:gd name="T64" fmla="*/ 2147483647 w 365"/>
                <a:gd name="T65" fmla="*/ 2147483647 h 273"/>
                <a:gd name="T66" fmla="*/ 2147483647 w 365"/>
                <a:gd name="T67" fmla="*/ 2147483647 h 273"/>
                <a:gd name="T68" fmla="*/ 2147483647 w 365"/>
                <a:gd name="T69" fmla="*/ 2147483647 h 273"/>
                <a:gd name="T70" fmla="*/ 2147483647 w 365"/>
                <a:gd name="T71" fmla="*/ 2147483647 h 273"/>
                <a:gd name="T72" fmla="*/ 2147483647 w 365"/>
                <a:gd name="T73" fmla="*/ 2147483647 h 273"/>
                <a:gd name="T74" fmla="*/ 2147483647 w 365"/>
                <a:gd name="T75" fmla="*/ 2147483647 h 273"/>
                <a:gd name="T76" fmla="*/ 2147483647 w 365"/>
                <a:gd name="T77" fmla="*/ 2147483647 h 273"/>
                <a:gd name="T78" fmla="*/ 2147483647 w 365"/>
                <a:gd name="T79" fmla="*/ 2147483647 h 273"/>
                <a:gd name="T80" fmla="*/ 2147483647 w 365"/>
                <a:gd name="T81" fmla="*/ 2147483647 h 273"/>
                <a:gd name="T82" fmla="*/ 2147483647 w 365"/>
                <a:gd name="T83" fmla="*/ 2147483647 h 273"/>
                <a:gd name="T84" fmla="*/ 2147483647 w 365"/>
                <a:gd name="T85" fmla="*/ 2147483647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65" h="273">
                  <a:moveTo>
                    <a:pt x="300" y="234"/>
                  </a:moveTo>
                  <a:lnTo>
                    <a:pt x="70" y="234"/>
                  </a:lnTo>
                  <a:lnTo>
                    <a:pt x="70" y="263"/>
                  </a:lnTo>
                  <a:lnTo>
                    <a:pt x="355" y="263"/>
                  </a:lnTo>
                  <a:lnTo>
                    <a:pt x="355" y="76"/>
                  </a:lnTo>
                  <a:lnTo>
                    <a:pt x="306" y="76"/>
                  </a:lnTo>
                  <a:lnTo>
                    <a:pt x="306" y="227"/>
                  </a:lnTo>
                  <a:lnTo>
                    <a:pt x="305" y="231"/>
                  </a:lnTo>
                  <a:lnTo>
                    <a:pt x="303" y="233"/>
                  </a:lnTo>
                  <a:lnTo>
                    <a:pt x="300" y="234"/>
                  </a:lnTo>
                  <a:close/>
                  <a:moveTo>
                    <a:pt x="339" y="64"/>
                  </a:moveTo>
                  <a:lnTo>
                    <a:pt x="337" y="63"/>
                  </a:lnTo>
                  <a:lnTo>
                    <a:pt x="335" y="61"/>
                  </a:lnTo>
                  <a:lnTo>
                    <a:pt x="335" y="58"/>
                  </a:lnTo>
                  <a:lnTo>
                    <a:pt x="335" y="55"/>
                  </a:lnTo>
                  <a:lnTo>
                    <a:pt x="337" y="54"/>
                  </a:lnTo>
                  <a:lnTo>
                    <a:pt x="339" y="54"/>
                  </a:lnTo>
                  <a:lnTo>
                    <a:pt x="352" y="54"/>
                  </a:lnTo>
                  <a:lnTo>
                    <a:pt x="355" y="54"/>
                  </a:lnTo>
                  <a:lnTo>
                    <a:pt x="357" y="55"/>
                  </a:lnTo>
                  <a:lnTo>
                    <a:pt x="357" y="58"/>
                  </a:lnTo>
                  <a:lnTo>
                    <a:pt x="357" y="61"/>
                  </a:lnTo>
                  <a:lnTo>
                    <a:pt x="355" y="63"/>
                  </a:lnTo>
                  <a:lnTo>
                    <a:pt x="352" y="64"/>
                  </a:lnTo>
                  <a:lnTo>
                    <a:pt x="339" y="64"/>
                  </a:lnTo>
                  <a:close/>
                  <a:moveTo>
                    <a:pt x="280" y="24"/>
                  </a:moveTo>
                  <a:lnTo>
                    <a:pt x="277" y="24"/>
                  </a:lnTo>
                  <a:lnTo>
                    <a:pt x="276" y="21"/>
                  </a:lnTo>
                  <a:lnTo>
                    <a:pt x="274" y="19"/>
                  </a:lnTo>
                  <a:lnTo>
                    <a:pt x="276" y="16"/>
                  </a:lnTo>
                  <a:lnTo>
                    <a:pt x="277" y="15"/>
                  </a:lnTo>
                  <a:lnTo>
                    <a:pt x="280" y="13"/>
                  </a:lnTo>
                  <a:lnTo>
                    <a:pt x="292" y="13"/>
                  </a:lnTo>
                  <a:lnTo>
                    <a:pt x="295" y="15"/>
                  </a:lnTo>
                  <a:lnTo>
                    <a:pt x="296" y="16"/>
                  </a:lnTo>
                  <a:lnTo>
                    <a:pt x="298" y="19"/>
                  </a:lnTo>
                  <a:lnTo>
                    <a:pt x="296" y="21"/>
                  </a:lnTo>
                  <a:lnTo>
                    <a:pt x="295" y="24"/>
                  </a:lnTo>
                  <a:lnTo>
                    <a:pt x="292" y="24"/>
                  </a:lnTo>
                  <a:lnTo>
                    <a:pt x="280" y="24"/>
                  </a:lnTo>
                  <a:close/>
                  <a:moveTo>
                    <a:pt x="59" y="234"/>
                  </a:moveTo>
                  <a:lnTo>
                    <a:pt x="6" y="234"/>
                  </a:lnTo>
                  <a:lnTo>
                    <a:pt x="3" y="233"/>
                  </a:lnTo>
                  <a:lnTo>
                    <a:pt x="0" y="231"/>
                  </a:lnTo>
                  <a:lnTo>
                    <a:pt x="0" y="227"/>
                  </a:lnTo>
                  <a:lnTo>
                    <a:pt x="0" y="6"/>
                  </a:lnTo>
                  <a:lnTo>
                    <a:pt x="0" y="3"/>
                  </a:lnTo>
                  <a:lnTo>
                    <a:pt x="3" y="2"/>
                  </a:lnTo>
                  <a:lnTo>
                    <a:pt x="6" y="0"/>
                  </a:lnTo>
                  <a:lnTo>
                    <a:pt x="300" y="0"/>
                  </a:lnTo>
                  <a:lnTo>
                    <a:pt x="303" y="2"/>
                  </a:lnTo>
                  <a:lnTo>
                    <a:pt x="305" y="3"/>
                  </a:lnTo>
                  <a:lnTo>
                    <a:pt x="306" y="6"/>
                  </a:lnTo>
                  <a:lnTo>
                    <a:pt x="306" y="39"/>
                  </a:lnTo>
                  <a:lnTo>
                    <a:pt x="360" y="39"/>
                  </a:lnTo>
                  <a:lnTo>
                    <a:pt x="363" y="41"/>
                  </a:lnTo>
                  <a:lnTo>
                    <a:pt x="364" y="44"/>
                  </a:lnTo>
                  <a:lnTo>
                    <a:pt x="365" y="47"/>
                  </a:lnTo>
                  <a:lnTo>
                    <a:pt x="365" y="267"/>
                  </a:lnTo>
                  <a:lnTo>
                    <a:pt x="364" y="270"/>
                  </a:lnTo>
                  <a:lnTo>
                    <a:pt x="363" y="272"/>
                  </a:lnTo>
                  <a:lnTo>
                    <a:pt x="360" y="273"/>
                  </a:lnTo>
                  <a:lnTo>
                    <a:pt x="65" y="273"/>
                  </a:lnTo>
                  <a:lnTo>
                    <a:pt x="62" y="272"/>
                  </a:lnTo>
                  <a:lnTo>
                    <a:pt x="59" y="270"/>
                  </a:lnTo>
                  <a:lnTo>
                    <a:pt x="59" y="267"/>
                  </a:lnTo>
                  <a:lnTo>
                    <a:pt x="59" y="234"/>
                  </a:lnTo>
                  <a:close/>
                  <a:moveTo>
                    <a:pt x="13" y="24"/>
                  </a:moveTo>
                  <a:lnTo>
                    <a:pt x="10" y="24"/>
                  </a:lnTo>
                  <a:lnTo>
                    <a:pt x="9" y="21"/>
                  </a:lnTo>
                  <a:lnTo>
                    <a:pt x="9" y="19"/>
                  </a:lnTo>
                  <a:lnTo>
                    <a:pt x="9" y="16"/>
                  </a:lnTo>
                  <a:lnTo>
                    <a:pt x="10" y="15"/>
                  </a:lnTo>
                  <a:lnTo>
                    <a:pt x="13" y="13"/>
                  </a:lnTo>
                  <a:lnTo>
                    <a:pt x="67" y="13"/>
                  </a:lnTo>
                  <a:lnTo>
                    <a:pt x="68" y="15"/>
                  </a:lnTo>
                  <a:lnTo>
                    <a:pt x="71" y="16"/>
                  </a:lnTo>
                  <a:lnTo>
                    <a:pt x="71" y="19"/>
                  </a:lnTo>
                  <a:lnTo>
                    <a:pt x="71" y="21"/>
                  </a:lnTo>
                  <a:lnTo>
                    <a:pt x="68" y="24"/>
                  </a:lnTo>
                  <a:lnTo>
                    <a:pt x="67" y="24"/>
                  </a:lnTo>
                  <a:lnTo>
                    <a:pt x="13" y="24"/>
                  </a:lnTo>
                  <a:close/>
                  <a:moveTo>
                    <a:pt x="296" y="37"/>
                  </a:moveTo>
                  <a:lnTo>
                    <a:pt x="9" y="37"/>
                  </a:lnTo>
                  <a:lnTo>
                    <a:pt x="9" y="224"/>
                  </a:lnTo>
                  <a:lnTo>
                    <a:pt x="296" y="224"/>
                  </a:lnTo>
                  <a:lnTo>
                    <a:pt x="296" y="37"/>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3943" eaLnBrk="0" fontAlgn="base" hangingPunct="0">
                <a:spcBef>
                  <a:spcPct val="0"/>
                </a:spcBef>
                <a:spcAft>
                  <a:spcPct val="0"/>
                </a:spcAft>
                <a:defRPr/>
              </a:pPr>
              <a:endParaRPr lang="nb-NO" sz="1599" kern="0">
                <a:solidFill>
                  <a:srgbClr val="FFFFFF"/>
                </a:solidFill>
                <a:latin typeface="EY interstate"/>
              </a:endParaRPr>
            </a:p>
          </p:txBody>
        </p:sp>
      </p:grpSp>
      <p:sp>
        <p:nvSpPr>
          <p:cNvPr id="26" name="Rectangle 25">
            <a:extLst>
              <a:ext uri="{FF2B5EF4-FFF2-40B4-BE49-F238E27FC236}">
                <a16:creationId xmlns:a16="http://schemas.microsoft.com/office/drawing/2014/main" id="{D9F40A4C-81DD-0ABB-4DA2-ACCA70835525}"/>
              </a:ext>
            </a:extLst>
          </p:cNvPr>
          <p:cNvSpPr/>
          <p:nvPr/>
        </p:nvSpPr>
        <p:spPr>
          <a:xfrm>
            <a:off x="1714098" y="4756598"/>
            <a:ext cx="4209971" cy="1514469"/>
          </a:xfrm>
          <a:prstGeom prst="rect">
            <a:avLst/>
          </a:prstGeom>
          <a:solidFill>
            <a:schemeClr val="bg2"/>
          </a:solidFill>
          <a:ln w="9525" cap="flat" cmpd="sng" algn="ctr">
            <a:noFill/>
            <a:prstDash val="solid"/>
          </a:ln>
          <a:effectLst/>
        </p:spPr>
        <p:txBody>
          <a:bodyPr tIns="45696" bIns="45696" rtlCol="0" anchor="t" anchorCtr="0"/>
          <a:lstStyle/>
          <a:p>
            <a:pPr defTabSz="913943">
              <a:spcAft>
                <a:spcPts val="600"/>
              </a:spcAft>
              <a:defRPr/>
            </a:pPr>
            <a:r>
              <a:rPr lang="en-US" sz="1200" kern="0">
                <a:latin typeface="EY interstate"/>
                <a:cs typeface="Arial" panose="020B0604020202020204" pitchFamily="34" charset="0"/>
              </a:rPr>
              <a:t>Automated Intercompany reconciliations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Automated reconciliation and transactions matching from multiple ERP systems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Centrally stored transaction level detail</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Finance &amp; accounting resources have additional time to focus on value-added activities – e.g., analytics.</a:t>
            </a:r>
          </a:p>
        </p:txBody>
      </p:sp>
      <p:sp>
        <p:nvSpPr>
          <p:cNvPr id="27" name="Freeform 30">
            <a:extLst>
              <a:ext uri="{FF2B5EF4-FFF2-40B4-BE49-F238E27FC236}">
                <a16:creationId xmlns:a16="http://schemas.microsoft.com/office/drawing/2014/main" id="{72EBBC90-9439-2403-A6A2-59EB13B895C8}"/>
              </a:ext>
            </a:extLst>
          </p:cNvPr>
          <p:cNvSpPr>
            <a:spLocks noChangeAspect="1" noEditPoints="1"/>
          </p:cNvSpPr>
          <p:nvPr/>
        </p:nvSpPr>
        <p:spPr bwMode="auto">
          <a:xfrm>
            <a:off x="860532" y="5007527"/>
            <a:ext cx="628812" cy="781926"/>
          </a:xfrm>
          <a:custGeom>
            <a:avLst/>
            <a:gdLst>
              <a:gd name="T0" fmla="*/ 2147483647 w 350"/>
              <a:gd name="T1" fmla="*/ 2147483647 h 435"/>
              <a:gd name="T2" fmla="*/ 2147483647 w 350"/>
              <a:gd name="T3" fmla="*/ 2147483647 h 435"/>
              <a:gd name="T4" fmla="*/ 2147483647 w 350"/>
              <a:gd name="T5" fmla="*/ 2147483647 h 435"/>
              <a:gd name="T6" fmla="*/ 2147483647 w 350"/>
              <a:gd name="T7" fmla="*/ 2147483647 h 435"/>
              <a:gd name="T8" fmla="*/ 2147483647 w 350"/>
              <a:gd name="T9" fmla="*/ 2147483647 h 435"/>
              <a:gd name="T10" fmla="*/ 2147483647 w 350"/>
              <a:gd name="T11" fmla="*/ 2147483647 h 435"/>
              <a:gd name="T12" fmla="*/ 2147483647 w 350"/>
              <a:gd name="T13" fmla="*/ 2147483647 h 435"/>
              <a:gd name="T14" fmla="*/ 2147483647 w 350"/>
              <a:gd name="T15" fmla="*/ 2147483647 h 435"/>
              <a:gd name="T16" fmla="*/ 2147483647 w 350"/>
              <a:gd name="T17" fmla="*/ 2147483647 h 435"/>
              <a:gd name="T18" fmla="*/ 2147483647 w 350"/>
              <a:gd name="T19" fmla="*/ 2147483647 h 435"/>
              <a:gd name="T20" fmla="*/ 2147483647 w 350"/>
              <a:gd name="T21" fmla="*/ 2147483647 h 435"/>
              <a:gd name="T22" fmla="*/ 2147483647 w 350"/>
              <a:gd name="T23" fmla="*/ 2147483647 h 435"/>
              <a:gd name="T24" fmla="*/ 2147483647 w 350"/>
              <a:gd name="T25" fmla="*/ 2147483647 h 435"/>
              <a:gd name="T26" fmla="*/ 2147483647 w 350"/>
              <a:gd name="T27" fmla="*/ 2147483647 h 435"/>
              <a:gd name="T28" fmla="*/ 2147483647 w 350"/>
              <a:gd name="T29" fmla="*/ 2147483647 h 435"/>
              <a:gd name="T30" fmla="*/ 2147483647 w 350"/>
              <a:gd name="T31" fmla="*/ 2147483647 h 435"/>
              <a:gd name="T32" fmla="*/ 2147483647 w 350"/>
              <a:gd name="T33" fmla="*/ 2147483647 h 435"/>
              <a:gd name="T34" fmla="*/ 2147483647 w 350"/>
              <a:gd name="T35" fmla="*/ 2147483647 h 435"/>
              <a:gd name="T36" fmla="*/ 2147483647 w 350"/>
              <a:gd name="T37" fmla="*/ 2147483647 h 435"/>
              <a:gd name="T38" fmla="*/ 2147483647 w 350"/>
              <a:gd name="T39" fmla="*/ 2147483647 h 435"/>
              <a:gd name="T40" fmla="*/ 2147483647 w 350"/>
              <a:gd name="T41" fmla="*/ 2147483647 h 435"/>
              <a:gd name="T42" fmla="*/ 2147483647 w 350"/>
              <a:gd name="T43" fmla="*/ 2147483647 h 435"/>
              <a:gd name="T44" fmla="*/ 2147483647 w 350"/>
              <a:gd name="T45" fmla="*/ 2147483647 h 435"/>
              <a:gd name="T46" fmla="*/ 2147483647 w 350"/>
              <a:gd name="T47" fmla="*/ 2147483647 h 435"/>
              <a:gd name="T48" fmla="*/ 2147483647 w 350"/>
              <a:gd name="T49" fmla="*/ 2147483647 h 435"/>
              <a:gd name="T50" fmla="*/ 2147483647 w 350"/>
              <a:gd name="T51" fmla="*/ 2147483647 h 435"/>
              <a:gd name="T52" fmla="*/ 2147483647 w 350"/>
              <a:gd name="T53" fmla="*/ 2147483647 h 435"/>
              <a:gd name="T54" fmla="*/ 2147483647 w 350"/>
              <a:gd name="T55" fmla="*/ 2147483647 h 435"/>
              <a:gd name="T56" fmla="*/ 2147483647 w 350"/>
              <a:gd name="T57" fmla="*/ 2147483647 h 435"/>
              <a:gd name="T58" fmla="*/ 2147483647 w 350"/>
              <a:gd name="T59" fmla="*/ 2147483647 h 435"/>
              <a:gd name="T60" fmla="*/ 2147483647 w 350"/>
              <a:gd name="T61" fmla="*/ 2147483647 h 435"/>
              <a:gd name="T62" fmla="*/ 2147483647 w 350"/>
              <a:gd name="T63" fmla="*/ 2147483647 h 435"/>
              <a:gd name="T64" fmla="*/ 2147483647 w 350"/>
              <a:gd name="T65" fmla="*/ 2147483647 h 435"/>
              <a:gd name="T66" fmla="*/ 2147483647 w 350"/>
              <a:gd name="T67" fmla="*/ 2147483647 h 435"/>
              <a:gd name="T68" fmla="*/ 2147483647 w 350"/>
              <a:gd name="T69" fmla="*/ 2147483647 h 435"/>
              <a:gd name="T70" fmla="*/ 2147483647 w 350"/>
              <a:gd name="T71" fmla="*/ 2147483647 h 435"/>
              <a:gd name="T72" fmla="*/ 2147483647 w 350"/>
              <a:gd name="T73" fmla="*/ 2147483647 h 435"/>
              <a:gd name="T74" fmla="*/ 2147483647 w 350"/>
              <a:gd name="T75" fmla="*/ 2147483647 h 435"/>
              <a:gd name="T76" fmla="*/ 2147483647 w 350"/>
              <a:gd name="T77" fmla="*/ 2147483647 h 435"/>
              <a:gd name="T78" fmla="*/ 2147483647 w 350"/>
              <a:gd name="T79" fmla="*/ 2147483647 h 435"/>
              <a:gd name="T80" fmla="*/ 2147483647 w 350"/>
              <a:gd name="T81" fmla="*/ 2147483647 h 435"/>
              <a:gd name="T82" fmla="*/ 2147483647 w 350"/>
              <a:gd name="T83" fmla="*/ 2147483647 h 435"/>
              <a:gd name="T84" fmla="*/ 2147483647 w 350"/>
              <a:gd name="T85" fmla="*/ 2147483647 h 435"/>
              <a:gd name="T86" fmla="*/ 2147483647 w 350"/>
              <a:gd name="T87" fmla="*/ 2147483647 h 435"/>
              <a:gd name="T88" fmla="*/ 2147483647 w 350"/>
              <a:gd name="T89" fmla="*/ 2147483647 h 435"/>
              <a:gd name="T90" fmla="*/ 2147483647 w 350"/>
              <a:gd name="T91" fmla="*/ 2147483647 h 435"/>
              <a:gd name="T92" fmla="*/ 2147483647 w 350"/>
              <a:gd name="T93" fmla="*/ 2147483647 h 435"/>
              <a:gd name="T94" fmla="*/ 2147483647 w 350"/>
              <a:gd name="T95" fmla="*/ 2147483647 h 435"/>
              <a:gd name="T96" fmla="*/ 2147483647 w 350"/>
              <a:gd name="T97" fmla="*/ 2147483647 h 435"/>
              <a:gd name="T98" fmla="*/ 2147483647 w 350"/>
              <a:gd name="T99" fmla="*/ 2147483647 h 435"/>
              <a:gd name="T100" fmla="*/ 2147483647 w 350"/>
              <a:gd name="T101" fmla="*/ 2147483647 h 435"/>
              <a:gd name="T102" fmla="*/ 2147483647 w 350"/>
              <a:gd name="T103" fmla="*/ 2147483647 h 435"/>
              <a:gd name="T104" fmla="*/ 2147483647 w 350"/>
              <a:gd name="T105" fmla="*/ 2147483647 h 435"/>
              <a:gd name="T106" fmla="*/ 2147483647 w 350"/>
              <a:gd name="T107" fmla="*/ 2147483647 h 435"/>
              <a:gd name="T108" fmla="*/ 2147483647 w 350"/>
              <a:gd name="T109" fmla="*/ 2147483647 h 435"/>
              <a:gd name="T110" fmla="*/ 2147483647 w 350"/>
              <a:gd name="T111" fmla="*/ 2147483647 h 435"/>
              <a:gd name="T112" fmla="*/ 2147483647 w 350"/>
              <a:gd name="T113" fmla="*/ 2147483647 h 435"/>
              <a:gd name="T114" fmla="*/ 2147483647 w 350"/>
              <a:gd name="T115" fmla="*/ 2147483647 h 435"/>
              <a:gd name="T116" fmla="*/ 2147483647 w 350"/>
              <a:gd name="T117" fmla="*/ 2147483647 h 435"/>
              <a:gd name="T118" fmla="*/ 2147483647 w 350"/>
              <a:gd name="T119" fmla="*/ 2147483647 h 4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50" h="435">
                <a:moveTo>
                  <a:pt x="241" y="186"/>
                </a:moveTo>
                <a:lnTo>
                  <a:pt x="243" y="186"/>
                </a:lnTo>
                <a:lnTo>
                  <a:pt x="246" y="189"/>
                </a:lnTo>
                <a:lnTo>
                  <a:pt x="246" y="191"/>
                </a:lnTo>
                <a:lnTo>
                  <a:pt x="246" y="194"/>
                </a:lnTo>
                <a:lnTo>
                  <a:pt x="243" y="197"/>
                </a:lnTo>
                <a:lnTo>
                  <a:pt x="241" y="197"/>
                </a:lnTo>
                <a:lnTo>
                  <a:pt x="83" y="197"/>
                </a:lnTo>
                <a:lnTo>
                  <a:pt x="80" y="197"/>
                </a:lnTo>
                <a:lnTo>
                  <a:pt x="79" y="194"/>
                </a:lnTo>
                <a:lnTo>
                  <a:pt x="78" y="191"/>
                </a:lnTo>
                <a:lnTo>
                  <a:pt x="79" y="189"/>
                </a:lnTo>
                <a:lnTo>
                  <a:pt x="80" y="186"/>
                </a:lnTo>
                <a:lnTo>
                  <a:pt x="83" y="186"/>
                </a:lnTo>
                <a:lnTo>
                  <a:pt x="241" y="186"/>
                </a:lnTo>
                <a:close/>
                <a:moveTo>
                  <a:pt x="121" y="228"/>
                </a:moveTo>
                <a:lnTo>
                  <a:pt x="129" y="228"/>
                </a:lnTo>
                <a:lnTo>
                  <a:pt x="134" y="228"/>
                </a:lnTo>
                <a:lnTo>
                  <a:pt x="135" y="230"/>
                </a:lnTo>
                <a:lnTo>
                  <a:pt x="137" y="233"/>
                </a:lnTo>
                <a:lnTo>
                  <a:pt x="137" y="240"/>
                </a:lnTo>
                <a:lnTo>
                  <a:pt x="135" y="243"/>
                </a:lnTo>
                <a:lnTo>
                  <a:pt x="134" y="245"/>
                </a:lnTo>
                <a:lnTo>
                  <a:pt x="129" y="246"/>
                </a:lnTo>
                <a:lnTo>
                  <a:pt x="121" y="246"/>
                </a:lnTo>
                <a:lnTo>
                  <a:pt x="118" y="245"/>
                </a:lnTo>
                <a:lnTo>
                  <a:pt x="115" y="243"/>
                </a:lnTo>
                <a:lnTo>
                  <a:pt x="115" y="240"/>
                </a:lnTo>
                <a:lnTo>
                  <a:pt x="115" y="233"/>
                </a:lnTo>
                <a:lnTo>
                  <a:pt x="115" y="230"/>
                </a:lnTo>
                <a:lnTo>
                  <a:pt x="118" y="228"/>
                </a:lnTo>
                <a:lnTo>
                  <a:pt x="121" y="228"/>
                </a:lnTo>
                <a:close/>
                <a:moveTo>
                  <a:pt x="194" y="228"/>
                </a:moveTo>
                <a:lnTo>
                  <a:pt x="205" y="228"/>
                </a:lnTo>
                <a:lnTo>
                  <a:pt x="207" y="228"/>
                </a:lnTo>
                <a:lnTo>
                  <a:pt x="209" y="230"/>
                </a:lnTo>
                <a:lnTo>
                  <a:pt x="210" y="233"/>
                </a:lnTo>
                <a:lnTo>
                  <a:pt x="210" y="240"/>
                </a:lnTo>
                <a:lnTo>
                  <a:pt x="209" y="243"/>
                </a:lnTo>
                <a:lnTo>
                  <a:pt x="207" y="245"/>
                </a:lnTo>
                <a:lnTo>
                  <a:pt x="205" y="246"/>
                </a:lnTo>
                <a:lnTo>
                  <a:pt x="194" y="246"/>
                </a:lnTo>
                <a:lnTo>
                  <a:pt x="192" y="245"/>
                </a:lnTo>
                <a:lnTo>
                  <a:pt x="190" y="243"/>
                </a:lnTo>
                <a:lnTo>
                  <a:pt x="189" y="240"/>
                </a:lnTo>
                <a:lnTo>
                  <a:pt x="189" y="233"/>
                </a:lnTo>
                <a:lnTo>
                  <a:pt x="190" y="230"/>
                </a:lnTo>
                <a:lnTo>
                  <a:pt x="192" y="228"/>
                </a:lnTo>
                <a:lnTo>
                  <a:pt x="194" y="228"/>
                </a:lnTo>
                <a:close/>
                <a:moveTo>
                  <a:pt x="158" y="228"/>
                </a:moveTo>
                <a:lnTo>
                  <a:pt x="167" y="228"/>
                </a:lnTo>
                <a:lnTo>
                  <a:pt x="170" y="228"/>
                </a:lnTo>
                <a:lnTo>
                  <a:pt x="173" y="230"/>
                </a:lnTo>
                <a:lnTo>
                  <a:pt x="173" y="233"/>
                </a:lnTo>
                <a:lnTo>
                  <a:pt x="173" y="240"/>
                </a:lnTo>
                <a:lnTo>
                  <a:pt x="173" y="243"/>
                </a:lnTo>
                <a:lnTo>
                  <a:pt x="170" y="245"/>
                </a:lnTo>
                <a:lnTo>
                  <a:pt x="167" y="246"/>
                </a:lnTo>
                <a:lnTo>
                  <a:pt x="158" y="246"/>
                </a:lnTo>
                <a:lnTo>
                  <a:pt x="154" y="245"/>
                </a:lnTo>
                <a:lnTo>
                  <a:pt x="153" y="243"/>
                </a:lnTo>
                <a:lnTo>
                  <a:pt x="151" y="240"/>
                </a:lnTo>
                <a:lnTo>
                  <a:pt x="151" y="233"/>
                </a:lnTo>
                <a:lnTo>
                  <a:pt x="153" y="230"/>
                </a:lnTo>
                <a:lnTo>
                  <a:pt x="154" y="228"/>
                </a:lnTo>
                <a:lnTo>
                  <a:pt x="158" y="228"/>
                </a:lnTo>
                <a:close/>
                <a:moveTo>
                  <a:pt x="83" y="228"/>
                </a:moveTo>
                <a:lnTo>
                  <a:pt x="93" y="228"/>
                </a:lnTo>
                <a:lnTo>
                  <a:pt x="96" y="228"/>
                </a:lnTo>
                <a:lnTo>
                  <a:pt x="98" y="230"/>
                </a:lnTo>
                <a:lnTo>
                  <a:pt x="99" y="233"/>
                </a:lnTo>
                <a:lnTo>
                  <a:pt x="99" y="240"/>
                </a:lnTo>
                <a:lnTo>
                  <a:pt x="98" y="243"/>
                </a:lnTo>
                <a:lnTo>
                  <a:pt x="96" y="245"/>
                </a:lnTo>
                <a:lnTo>
                  <a:pt x="93" y="246"/>
                </a:lnTo>
                <a:lnTo>
                  <a:pt x="83" y="246"/>
                </a:lnTo>
                <a:lnTo>
                  <a:pt x="80" y="245"/>
                </a:lnTo>
                <a:lnTo>
                  <a:pt x="79" y="243"/>
                </a:lnTo>
                <a:lnTo>
                  <a:pt x="78" y="240"/>
                </a:lnTo>
                <a:lnTo>
                  <a:pt x="78" y="233"/>
                </a:lnTo>
                <a:lnTo>
                  <a:pt x="79" y="230"/>
                </a:lnTo>
                <a:lnTo>
                  <a:pt x="80" y="228"/>
                </a:lnTo>
                <a:lnTo>
                  <a:pt x="83" y="228"/>
                </a:lnTo>
                <a:close/>
                <a:moveTo>
                  <a:pt x="241" y="158"/>
                </a:moveTo>
                <a:lnTo>
                  <a:pt x="243" y="160"/>
                </a:lnTo>
                <a:lnTo>
                  <a:pt x="246" y="161"/>
                </a:lnTo>
                <a:lnTo>
                  <a:pt x="246" y="164"/>
                </a:lnTo>
                <a:lnTo>
                  <a:pt x="246" y="167"/>
                </a:lnTo>
                <a:lnTo>
                  <a:pt x="243" y="170"/>
                </a:lnTo>
                <a:lnTo>
                  <a:pt x="241" y="171"/>
                </a:lnTo>
                <a:lnTo>
                  <a:pt x="83" y="171"/>
                </a:lnTo>
                <a:lnTo>
                  <a:pt x="80" y="170"/>
                </a:lnTo>
                <a:lnTo>
                  <a:pt x="79" y="167"/>
                </a:lnTo>
                <a:lnTo>
                  <a:pt x="78" y="164"/>
                </a:lnTo>
                <a:lnTo>
                  <a:pt x="79" y="161"/>
                </a:lnTo>
                <a:lnTo>
                  <a:pt x="80" y="160"/>
                </a:lnTo>
                <a:lnTo>
                  <a:pt x="83" y="158"/>
                </a:lnTo>
                <a:lnTo>
                  <a:pt x="241" y="158"/>
                </a:lnTo>
                <a:close/>
                <a:moveTo>
                  <a:pt x="241" y="131"/>
                </a:moveTo>
                <a:lnTo>
                  <a:pt x="243" y="132"/>
                </a:lnTo>
                <a:lnTo>
                  <a:pt x="246" y="134"/>
                </a:lnTo>
                <a:lnTo>
                  <a:pt x="246" y="137"/>
                </a:lnTo>
                <a:lnTo>
                  <a:pt x="246" y="141"/>
                </a:lnTo>
                <a:lnTo>
                  <a:pt x="243" y="142"/>
                </a:lnTo>
                <a:lnTo>
                  <a:pt x="241" y="144"/>
                </a:lnTo>
                <a:lnTo>
                  <a:pt x="83" y="144"/>
                </a:lnTo>
                <a:lnTo>
                  <a:pt x="80" y="142"/>
                </a:lnTo>
                <a:lnTo>
                  <a:pt x="79" y="141"/>
                </a:lnTo>
                <a:lnTo>
                  <a:pt x="78" y="137"/>
                </a:lnTo>
                <a:lnTo>
                  <a:pt x="79" y="134"/>
                </a:lnTo>
                <a:lnTo>
                  <a:pt x="80" y="132"/>
                </a:lnTo>
                <a:lnTo>
                  <a:pt x="83" y="131"/>
                </a:lnTo>
                <a:lnTo>
                  <a:pt x="241" y="131"/>
                </a:lnTo>
                <a:close/>
                <a:moveTo>
                  <a:pt x="241" y="103"/>
                </a:moveTo>
                <a:lnTo>
                  <a:pt x="243" y="105"/>
                </a:lnTo>
                <a:lnTo>
                  <a:pt x="246" y="106"/>
                </a:lnTo>
                <a:lnTo>
                  <a:pt x="246" y="109"/>
                </a:lnTo>
                <a:lnTo>
                  <a:pt x="246" y="114"/>
                </a:lnTo>
                <a:lnTo>
                  <a:pt x="243" y="115"/>
                </a:lnTo>
                <a:lnTo>
                  <a:pt x="241" y="116"/>
                </a:lnTo>
                <a:lnTo>
                  <a:pt x="83" y="116"/>
                </a:lnTo>
                <a:lnTo>
                  <a:pt x="80" y="115"/>
                </a:lnTo>
                <a:lnTo>
                  <a:pt x="79" y="114"/>
                </a:lnTo>
                <a:lnTo>
                  <a:pt x="78" y="109"/>
                </a:lnTo>
                <a:lnTo>
                  <a:pt x="79" y="106"/>
                </a:lnTo>
                <a:lnTo>
                  <a:pt x="80" y="105"/>
                </a:lnTo>
                <a:lnTo>
                  <a:pt x="83" y="103"/>
                </a:lnTo>
                <a:lnTo>
                  <a:pt x="241" y="103"/>
                </a:lnTo>
                <a:close/>
                <a:moveTo>
                  <a:pt x="231" y="415"/>
                </a:moveTo>
                <a:lnTo>
                  <a:pt x="27" y="415"/>
                </a:lnTo>
                <a:lnTo>
                  <a:pt x="13" y="411"/>
                </a:lnTo>
                <a:lnTo>
                  <a:pt x="2" y="402"/>
                </a:lnTo>
                <a:lnTo>
                  <a:pt x="0" y="388"/>
                </a:lnTo>
                <a:lnTo>
                  <a:pt x="0" y="27"/>
                </a:lnTo>
                <a:lnTo>
                  <a:pt x="2" y="14"/>
                </a:lnTo>
                <a:lnTo>
                  <a:pt x="13" y="4"/>
                </a:lnTo>
                <a:lnTo>
                  <a:pt x="27" y="0"/>
                </a:lnTo>
                <a:lnTo>
                  <a:pt x="298" y="0"/>
                </a:lnTo>
                <a:lnTo>
                  <a:pt x="311" y="4"/>
                </a:lnTo>
                <a:lnTo>
                  <a:pt x="321" y="14"/>
                </a:lnTo>
                <a:lnTo>
                  <a:pt x="324" y="27"/>
                </a:lnTo>
                <a:lnTo>
                  <a:pt x="324" y="292"/>
                </a:lnTo>
                <a:lnTo>
                  <a:pt x="319" y="291"/>
                </a:lnTo>
                <a:lnTo>
                  <a:pt x="310" y="291"/>
                </a:lnTo>
                <a:lnTo>
                  <a:pt x="303" y="292"/>
                </a:lnTo>
                <a:lnTo>
                  <a:pt x="303" y="47"/>
                </a:lnTo>
                <a:lnTo>
                  <a:pt x="303" y="44"/>
                </a:lnTo>
                <a:lnTo>
                  <a:pt x="300" y="43"/>
                </a:lnTo>
                <a:lnTo>
                  <a:pt x="298" y="41"/>
                </a:lnTo>
                <a:lnTo>
                  <a:pt x="27" y="41"/>
                </a:lnTo>
                <a:lnTo>
                  <a:pt x="24" y="43"/>
                </a:lnTo>
                <a:lnTo>
                  <a:pt x="21" y="44"/>
                </a:lnTo>
                <a:lnTo>
                  <a:pt x="21" y="47"/>
                </a:lnTo>
                <a:lnTo>
                  <a:pt x="21" y="363"/>
                </a:lnTo>
                <a:lnTo>
                  <a:pt x="21" y="366"/>
                </a:lnTo>
                <a:lnTo>
                  <a:pt x="24" y="367"/>
                </a:lnTo>
                <a:lnTo>
                  <a:pt x="27" y="369"/>
                </a:lnTo>
                <a:lnTo>
                  <a:pt x="180" y="369"/>
                </a:lnTo>
                <a:lnTo>
                  <a:pt x="181" y="373"/>
                </a:lnTo>
                <a:lnTo>
                  <a:pt x="184" y="376"/>
                </a:lnTo>
                <a:lnTo>
                  <a:pt x="187" y="379"/>
                </a:lnTo>
                <a:lnTo>
                  <a:pt x="192" y="382"/>
                </a:lnTo>
                <a:lnTo>
                  <a:pt x="212" y="396"/>
                </a:lnTo>
                <a:lnTo>
                  <a:pt x="229" y="414"/>
                </a:lnTo>
                <a:lnTo>
                  <a:pt x="231" y="415"/>
                </a:lnTo>
                <a:close/>
                <a:moveTo>
                  <a:pt x="205" y="277"/>
                </a:moveTo>
                <a:lnTo>
                  <a:pt x="203" y="271"/>
                </a:lnTo>
                <a:lnTo>
                  <a:pt x="203" y="266"/>
                </a:lnTo>
                <a:lnTo>
                  <a:pt x="206" y="262"/>
                </a:lnTo>
                <a:lnTo>
                  <a:pt x="207" y="259"/>
                </a:lnTo>
                <a:lnTo>
                  <a:pt x="212" y="256"/>
                </a:lnTo>
                <a:lnTo>
                  <a:pt x="216" y="255"/>
                </a:lnTo>
                <a:lnTo>
                  <a:pt x="220" y="255"/>
                </a:lnTo>
                <a:lnTo>
                  <a:pt x="225" y="256"/>
                </a:lnTo>
                <a:lnTo>
                  <a:pt x="229" y="259"/>
                </a:lnTo>
                <a:lnTo>
                  <a:pt x="232" y="264"/>
                </a:lnTo>
                <a:lnTo>
                  <a:pt x="254" y="316"/>
                </a:lnTo>
                <a:lnTo>
                  <a:pt x="255" y="313"/>
                </a:lnTo>
                <a:lnTo>
                  <a:pt x="259" y="310"/>
                </a:lnTo>
                <a:lnTo>
                  <a:pt x="262" y="308"/>
                </a:lnTo>
                <a:lnTo>
                  <a:pt x="268" y="308"/>
                </a:lnTo>
                <a:lnTo>
                  <a:pt x="272" y="310"/>
                </a:lnTo>
                <a:lnTo>
                  <a:pt x="277" y="313"/>
                </a:lnTo>
                <a:lnTo>
                  <a:pt x="280" y="310"/>
                </a:lnTo>
                <a:lnTo>
                  <a:pt x="282" y="308"/>
                </a:lnTo>
                <a:lnTo>
                  <a:pt x="285" y="307"/>
                </a:lnTo>
                <a:lnTo>
                  <a:pt x="291" y="307"/>
                </a:lnTo>
                <a:lnTo>
                  <a:pt x="295" y="308"/>
                </a:lnTo>
                <a:lnTo>
                  <a:pt x="300" y="311"/>
                </a:lnTo>
                <a:lnTo>
                  <a:pt x="303" y="308"/>
                </a:lnTo>
                <a:lnTo>
                  <a:pt x="304" y="307"/>
                </a:lnTo>
                <a:lnTo>
                  <a:pt x="310" y="304"/>
                </a:lnTo>
                <a:lnTo>
                  <a:pt x="314" y="304"/>
                </a:lnTo>
                <a:lnTo>
                  <a:pt x="319" y="305"/>
                </a:lnTo>
                <a:lnTo>
                  <a:pt x="321" y="307"/>
                </a:lnTo>
                <a:lnTo>
                  <a:pt x="324" y="311"/>
                </a:lnTo>
                <a:lnTo>
                  <a:pt x="336" y="333"/>
                </a:lnTo>
                <a:lnTo>
                  <a:pt x="343" y="356"/>
                </a:lnTo>
                <a:lnTo>
                  <a:pt x="347" y="380"/>
                </a:lnTo>
                <a:lnTo>
                  <a:pt x="350" y="405"/>
                </a:lnTo>
                <a:lnTo>
                  <a:pt x="342" y="414"/>
                </a:lnTo>
                <a:lnTo>
                  <a:pt x="327" y="422"/>
                </a:lnTo>
                <a:lnTo>
                  <a:pt x="307" y="430"/>
                </a:lnTo>
                <a:lnTo>
                  <a:pt x="285" y="434"/>
                </a:lnTo>
                <a:lnTo>
                  <a:pt x="264" y="435"/>
                </a:lnTo>
                <a:lnTo>
                  <a:pt x="254" y="421"/>
                </a:lnTo>
                <a:lnTo>
                  <a:pt x="239" y="404"/>
                </a:lnTo>
                <a:lnTo>
                  <a:pt x="220" y="386"/>
                </a:lnTo>
                <a:lnTo>
                  <a:pt x="197" y="369"/>
                </a:lnTo>
                <a:lnTo>
                  <a:pt x="193" y="367"/>
                </a:lnTo>
                <a:lnTo>
                  <a:pt x="192" y="363"/>
                </a:lnTo>
                <a:lnTo>
                  <a:pt x="190" y="359"/>
                </a:lnTo>
                <a:lnTo>
                  <a:pt x="190" y="354"/>
                </a:lnTo>
                <a:lnTo>
                  <a:pt x="192" y="350"/>
                </a:lnTo>
                <a:lnTo>
                  <a:pt x="194" y="346"/>
                </a:lnTo>
                <a:lnTo>
                  <a:pt x="197" y="343"/>
                </a:lnTo>
                <a:lnTo>
                  <a:pt x="202" y="342"/>
                </a:lnTo>
                <a:lnTo>
                  <a:pt x="206" y="342"/>
                </a:lnTo>
                <a:lnTo>
                  <a:pt x="210" y="343"/>
                </a:lnTo>
                <a:lnTo>
                  <a:pt x="226" y="352"/>
                </a:lnTo>
                <a:lnTo>
                  <a:pt x="238" y="362"/>
                </a:lnTo>
                <a:lnTo>
                  <a:pt x="232" y="343"/>
                </a:lnTo>
                <a:lnTo>
                  <a:pt x="219" y="310"/>
                </a:lnTo>
                <a:lnTo>
                  <a:pt x="205" y="277"/>
                </a:lnTo>
                <a:close/>
                <a:moveTo>
                  <a:pt x="160" y="383"/>
                </a:moveTo>
                <a:lnTo>
                  <a:pt x="164" y="385"/>
                </a:lnTo>
                <a:lnTo>
                  <a:pt x="166" y="386"/>
                </a:lnTo>
                <a:lnTo>
                  <a:pt x="168" y="389"/>
                </a:lnTo>
                <a:lnTo>
                  <a:pt x="168" y="392"/>
                </a:lnTo>
                <a:lnTo>
                  <a:pt x="168" y="395"/>
                </a:lnTo>
                <a:lnTo>
                  <a:pt x="166" y="398"/>
                </a:lnTo>
                <a:lnTo>
                  <a:pt x="164" y="399"/>
                </a:lnTo>
                <a:lnTo>
                  <a:pt x="160" y="401"/>
                </a:lnTo>
                <a:lnTo>
                  <a:pt x="157" y="399"/>
                </a:lnTo>
                <a:lnTo>
                  <a:pt x="154" y="398"/>
                </a:lnTo>
                <a:lnTo>
                  <a:pt x="153" y="395"/>
                </a:lnTo>
                <a:lnTo>
                  <a:pt x="151" y="392"/>
                </a:lnTo>
                <a:lnTo>
                  <a:pt x="153" y="389"/>
                </a:lnTo>
                <a:lnTo>
                  <a:pt x="154" y="386"/>
                </a:lnTo>
                <a:lnTo>
                  <a:pt x="157" y="385"/>
                </a:lnTo>
                <a:lnTo>
                  <a:pt x="160" y="383"/>
                </a:lnTo>
                <a:close/>
              </a:path>
            </a:pathLst>
          </a:custGeom>
          <a:solidFill>
            <a:srgbClr val="FFE600"/>
          </a:solidFill>
          <a:ln>
            <a:noFill/>
          </a:ln>
        </p:spPr>
        <p:txBody>
          <a:bodyPr vert="horz" wrap="square" lIns="91392" tIns="45696" rIns="91392" bIns="45696" anchor="t"/>
          <a:lstStyle/>
          <a:p>
            <a:pPr eaLnBrk="0" fontAlgn="base" hangingPunct="0">
              <a:spcBef>
                <a:spcPct val="0"/>
              </a:spcBef>
              <a:spcAft>
                <a:spcPct val="0"/>
              </a:spcAft>
            </a:pPr>
            <a:endParaRPr lang="nb-NO" sz="1599">
              <a:solidFill>
                <a:srgbClr val="FFFFFF"/>
              </a:solidFill>
              <a:latin typeface="EY interstate"/>
            </a:endParaRPr>
          </a:p>
        </p:txBody>
      </p:sp>
      <p:sp>
        <p:nvSpPr>
          <p:cNvPr id="28" name="Rectangle 27">
            <a:extLst>
              <a:ext uri="{FF2B5EF4-FFF2-40B4-BE49-F238E27FC236}">
                <a16:creationId xmlns:a16="http://schemas.microsoft.com/office/drawing/2014/main" id="{ABC1C703-8678-F51B-1B8D-714ECFB46BB2}"/>
              </a:ext>
            </a:extLst>
          </p:cNvPr>
          <p:cNvSpPr/>
          <p:nvPr/>
        </p:nvSpPr>
        <p:spPr>
          <a:xfrm>
            <a:off x="6272068" y="4756598"/>
            <a:ext cx="4566071" cy="1514468"/>
          </a:xfrm>
          <a:prstGeom prst="rect">
            <a:avLst/>
          </a:prstGeom>
          <a:solidFill>
            <a:schemeClr val="bg2"/>
          </a:solidFill>
          <a:ln w="9525" cap="flat" cmpd="sng" algn="ctr">
            <a:noFill/>
            <a:prstDash val="solid"/>
          </a:ln>
          <a:effectLst/>
        </p:spPr>
        <p:txBody>
          <a:bodyPr tIns="45696" bIns="45696" rtlCol="0" anchor="t" anchorCtr="0"/>
          <a:lstStyle/>
          <a:p>
            <a:pPr defTabSz="913943">
              <a:spcAft>
                <a:spcPts val="400"/>
              </a:spcAft>
              <a:buClr>
                <a:schemeClr val="tx1"/>
              </a:buClr>
              <a:buSzPct val="70000"/>
              <a:defRPr/>
            </a:pPr>
            <a:r>
              <a:rPr lang="en-US" sz="1200" kern="0">
                <a:latin typeface="EY interstate"/>
                <a:cs typeface="Arial" panose="020B0604020202020204" pitchFamily="34" charset="0"/>
              </a:rPr>
              <a:t>Netting and settlement management</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Automated invoice and journal entry process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Automated importing of foreign exchange rates</a:t>
            </a:r>
          </a:p>
          <a:p>
            <a:pPr marL="230073" indent="-230073" algn="just" defTabSz="913943">
              <a:spcAft>
                <a:spcPts val="400"/>
              </a:spcAft>
              <a:buClr>
                <a:schemeClr val="tx1"/>
              </a:buClr>
              <a:buSzPct val="70000"/>
              <a:buFont typeface="Arial" pitchFamily="34" charset="0"/>
              <a:buChar char="►"/>
              <a:defRPr/>
            </a:pPr>
            <a:r>
              <a:rPr lang="en-US" sz="1200" kern="0">
                <a:latin typeface="EY interstate"/>
                <a:cs typeface="Arial" panose="020B0604020202020204" pitchFamily="34" charset="0"/>
              </a:rPr>
              <a:t>Reduced number of transactions required for settlement between entities</a:t>
            </a:r>
          </a:p>
        </p:txBody>
      </p:sp>
      <p:sp>
        <p:nvSpPr>
          <p:cNvPr id="29" name="Freeform 25">
            <a:extLst>
              <a:ext uri="{FF2B5EF4-FFF2-40B4-BE49-F238E27FC236}">
                <a16:creationId xmlns:a16="http://schemas.microsoft.com/office/drawing/2014/main" id="{C65366C0-C63D-746A-2D72-812EE5087199}"/>
              </a:ext>
            </a:extLst>
          </p:cNvPr>
          <p:cNvSpPr>
            <a:spLocks noChangeAspect="1" noEditPoints="1"/>
          </p:cNvSpPr>
          <p:nvPr/>
        </p:nvSpPr>
        <p:spPr bwMode="auto">
          <a:xfrm>
            <a:off x="11124703" y="4991203"/>
            <a:ext cx="813555" cy="835926"/>
          </a:xfrm>
          <a:custGeom>
            <a:avLst/>
            <a:gdLst>
              <a:gd name="T0" fmla="*/ 943 w 2495"/>
              <a:gd name="T1" fmla="*/ 660 h 2495"/>
              <a:gd name="T2" fmla="*/ 677 w 2495"/>
              <a:gd name="T3" fmla="*/ 934 h 2495"/>
              <a:gd name="T4" fmla="*/ 970 w 2495"/>
              <a:gd name="T5" fmla="*/ 705 h 2495"/>
              <a:gd name="T6" fmla="*/ 1443 w 2495"/>
              <a:gd name="T7" fmla="*/ 342 h 2495"/>
              <a:gd name="T8" fmla="*/ 821 w 2495"/>
              <a:gd name="T9" fmla="*/ 76 h 2495"/>
              <a:gd name="T10" fmla="*/ 376 w 2495"/>
              <a:gd name="T11" fmla="*/ 345 h 2495"/>
              <a:gd name="T12" fmla="*/ 79 w 2495"/>
              <a:gd name="T13" fmla="*/ 780 h 2495"/>
              <a:gd name="T14" fmla="*/ 172 w 2495"/>
              <a:gd name="T15" fmla="*/ 832 h 2495"/>
              <a:gd name="T16" fmla="*/ 426 w 2495"/>
              <a:gd name="T17" fmla="*/ 443 h 2495"/>
              <a:gd name="T18" fmla="*/ 813 w 2495"/>
              <a:gd name="T19" fmla="*/ 187 h 2495"/>
              <a:gd name="T20" fmla="*/ 106 w 2495"/>
              <a:gd name="T21" fmla="*/ 1306 h 2495"/>
              <a:gd name="T22" fmla="*/ 21 w 2495"/>
              <a:gd name="T23" fmla="*/ 1465 h 2495"/>
              <a:gd name="T24" fmla="*/ 216 w 2495"/>
              <a:gd name="T25" fmla="*/ 1955 h 2495"/>
              <a:gd name="T26" fmla="*/ 588 w 2495"/>
              <a:gd name="T27" fmla="*/ 2318 h 2495"/>
              <a:gd name="T28" fmla="*/ 1014 w 2495"/>
              <a:gd name="T29" fmla="*/ 2378 h 2495"/>
              <a:gd name="T30" fmla="*/ 585 w 2495"/>
              <a:gd name="T31" fmla="*/ 2189 h 2495"/>
              <a:gd name="T32" fmla="*/ 271 w 2495"/>
              <a:gd name="T33" fmla="*/ 1849 h 2495"/>
              <a:gd name="T34" fmla="*/ 114 w 2495"/>
              <a:gd name="T35" fmla="*/ 1404 h 2495"/>
              <a:gd name="T36" fmla="*/ 1445 w 2495"/>
              <a:gd name="T37" fmla="*/ 1884 h 2495"/>
              <a:gd name="T38" fmla="*/ 1754 w 2495"/>
              <a:gd name="T39" fmla="*/ 1658 h 2495"/>
              <a:gd name="T40" fmla="*/ 1616 w 2495"/>
              <a:gd name="T41" fmla="*/ 1727 h 2495"/>
              <a:gd name="T42" fmla="*/ 1270 w 2495"/>
              <a:gd name="T43" fmla="*/ 1870 h 2495"/>
              <a:gd name="T44" fmla="*/ 1519 w 2495"/>
              <a:gd name="T45" fmla="*/ 2463 h 2495"/>
              <a:gd name="T46" fmla="*/ 1998 w 2495"/>
              <a:gd name="T47" fmla="*/ 2249 h 2495"/>
              <a:gd name="T48" fmla="*/ 2345 w 2495"/>
              <a:gd name="T49" fmla="*/ 1861 h 2495"/>
              <a:gd name="T50" fmla="*/ 2367 w 2495"/>
              <a:gd name="T51" fmla="*/ 1527 h 2495"/>
              <a:gd name="T52" fmla="*/ 2161 w 2495"/>
              <a:gd name="T53" fmla="*/ 1947 h 2495"/>
              <a:gd name="T54" fmla="*/ 1809 w 2495"/>
              <a:gd name="T55" fmla="*/ 2247 h 2495"/>
              <a:gd name="T56" fmla="*/ 1355 w 2495"/>
              <a:gd name="T57" fmla="*/ 2386 h 2495"/>
              <a:gd name="T58" fmla="*/ 2493 w 2495"/>
              <a:gd name="T59" fmla="*/ 1194 h 2495"/>
              <a:gd name="T60" fmla="*/ 2358 w 2495"/>
              <a:gd name="T61" fmla="*/ 675 h 2495"/>
              <a:gd name="T62" fmla="*/ 2035 w 2495"/>
              <a:gd name="T63" fmla="*/ 268 h 2495"/>
              <a:gd name="T64" fmla="*/ 1557 w 2495"/>
              <a:gd name="T65" fmla="*/ 28 h 2495"/>
              <a:gd name="T66" fmla="*/ 1791 w 2495"/>
              <a:gd name="T67" fmla="*/ 231 h 2495"/>
              <a:gd name="T68" fmla="*/ 2144 w 2495"/>
              <a:gd name="T69" fmla="*/ 530 h 2495"/>
              <a:gd name="T70" fmla="*/ 2353 w 2495"/>
              <a:gd name="T71" fmla="*/ 948 h 2495"/>
              <a:gd name="T72" fmla="*/ 1600 w 2495"/>
              <a:gd name="T73" fmla="*/ 1201 h 2495"/>
              <a:gd name="T74" fmla="*/ 876 w 2495"/>
              <a:gd name="T75" fmla="*/ 902 h 2495"/>
              <a:gd name="T76" fmla="*/ 1382 w 2495"/>
              <a:gd name="T77" fmla="*/ 1278 h 2495"/>
              <a:gd name="T78" fmla="*/ 1382 w 2495"/>
              <a:gd name="T79" fmla="*/ 1427 h 2495"/>
              <a:gd name="T80" fmla="*/ 570 w 2495"/>
              <a:gd name="T81" fmla="*/ 1501 h 2495"/>
              <a:gd name="T82" fmla="*/ 1592 w 2495"/>
              <a:gd name="T83" fmla="*/ 1613 h 2495"/>
              <a:gd name="T84" fmla="*/ 1978 w 2495"/>
              <a:gd name="T85" fmla="*/ 1288 h 2495"/>
              <a:gd name="T86" fmla="*/ 631 w 2495"/>
              <a:gd name="T87" fmla="*/ 1089 h 2495"/>
              <a:gd name="T88" fmla="*/ 945 w 2495"/>
              <a:gd name="T89" fmla="*/ 1051 h 2495"/>
              <a:gd name="T90" fmla="*/ 970 w 2495"/>
              <a:gd name="T91" fmla="*/ 1119 h 2495"/>
              <a:gd name="T92" fmla="*/ 1167 w 2495"/>
              <a:gd name="T93" fmla="*/ 1150 h 2495"/>
              <a:gd name="T94" fmla="*/ 1233 w 2495"/>
              <a:gd name="T95" fmla="*/ 1111 h 2495"/>
              <a:gd name="T96" fmla="*/ 1012 w 2495"/>
              <a:gd name="T97" fmla="*/ 1107 h 2495"/>
              <a:gd name="T98" fmla="*/ 984 w 2495"/>
              <a:gd name="T99" fmla="*/ 1038 h 2495"/>
              <a:gd name="T100" fmla="*/ 1407 w 2495"/>
              <a:gd name="T101" fmla="*/ 1150 h 2495"/>
              <a:gd name="T102" fmla="*/ 1467 w 2495"/>
              <a:gd name="T103" fmla="*/ 931 h 2495"/>
              <a:gd name="T104" fmla="*/ 1509 w 2495"/>
              <a:gd name="T105" fmla="*/ 976 h 2495"/>
              <a:gd name="T106" fmla="*/ 1572 w 2495"/>
              <a:gd name="T107" fmla="*/ 1118 h 2495"/>
              <a:gd name="T108" fmla="*/ 1539 w 2495"/>
              <a:gd name="T109" fmla="*/ 969 h 2495"/>
              <a:gd name="T110" fmla="*/ 1454 w 2495"/>
              <a:gd name="T111" fmla="*/ 895 h 2495"/>
              <a:gd name="T112" fmla="*/ 1237 w 2495"/>
              <a:gd name="T113" fmla="*/ 884 h 2495"/>
              <a:gd name="T114" fmla="*/ 570 w 2495"/>
              <a:gd name="T115" fmla="*/ 1352 h 2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95" h="2495">
                <a:moveTo>
                  <a:pt x="1189" y="106"/>
                </a:moveTo>
                <a:lnTo>
                  <a:pt x="1321" y="339"/>
                </a:lnTo>
                <a:lnTo>
                  <a:pt x="1166" y="580"/>
                </a:lnTo>
                <a:lnTo>
                  <a:pt x="1166" y="580"/>
                </a:lnTo>
                <a:lnTo>
                  <a:pt x="1126" y="587"/>
                </a:lnTo>
                <a:lnTo>
                  <a:pt x="1088" y="598"/>
                </a:lnTo>
                <a:lnTo>
                  <a:pt x="1050" y="611"/>
                </a:lnTo>
                <a:lnTo>
                  <a:pt x="1014" y="625"/>
                </a:lnTo>
                <a:lnTo>
                  <a:pt x="979" y="641"/>
                </a:lnTo>
                <a:lnTo>
                  <a:pt x="943" y="660"/>
                </a:lnTo>
                <a:lnTo>
                  <a:pt x="910" y="680"/>
                </a:lnTo>
                <a:lnTo>
                  <a:pt x="879" y="702"/>
                </a:lnTo>
                <a:lnTo>
                  <a:pt x="848" y="726"/>
                </a:lnTo>
                <a:lnTo>
                  <a:pt x="819" y="751"/>
                </a:lnTo>
                <a:lnTo>
                  <a:pt x="792" y="778"/>
                </a:lnTo>
                <a:lnTo>
                  <a:pt x="765" y="806"/>
                </a:lnTo>
                <a:lnTo>
                  <a:pt x="741" y="836"/>
                </a:lnTo>
                <a:lnTo>
                  <a:pt x="718" y="868"/>
                </a:lnTo>
                <a:lnTo>
                  <a:pt x="697" y="900"/>
                </a:lnTo>
                <a:lnTo>
                  <a:pt x="677" y="934"/>
                </a:lnTo>
                <a:lnTo>
                  <a:pt x="753" y="908"/>
                </a:lnTo>
                <a:lnTo>
                  <a:pt x="753" y="908"/>
                </a:lnTo>
                <a:lnTo>
                  <a:pt x="775" y="878"/>
                </a:lnTo>
                <a:lnTo>
                  <a:pt x="798" y="848"/>
                </a:lnTo>
                <a:lnTo>
                  <a:pt x="824" y="821"/>
                </a:lnTo>
                <a:lnTo>
                  <a:pt x="850" y="794"/>
                </a:lnTo>
                <a:lnTo>
                  <a:pt x="877" y="769"/>
                </a:lnTo>
                <a:lnTo>
                  <a:pt x="907" y="746"/>
                </a:lnTo>
                <a:lnTo>
                  <a:pt x="938" y="725"/>
                </a:lnTo>
                <a:lnTo>
                  <a:pt x="970" y="705"/>
                </a:lnTo>
                <a:lnTo>
                  <a:pt x="1003" y="688"/>
                </a:lnTo>
                <a:lnTo>
                  <a:pt x="1038" y="671"/>
                </a:lnTo>
                <a:lnTo>
                  <a:pt x="1073" y="658"/>
                </a:lnTo>
                <a:lnTo>
                  <a:pt x="1109" y="646"/>
                </a:lnTo>
                <a:lnTo>
                  <a:pt x="1147" y="637"/>
                </a:lnTo>
                <a:lnTo>
                  <a:pt x="1185" y="629"/>
                </a:lnTo>
                <a:lnTo>
                  <a:pt x="1224" y="625"/>
                </a:lnTo>
                <a:lnTo>
                  <a:pt x="1263" y="623"/>
                </a:lnTo>
                <a:lnTo>
                  <a:pt x="1263" y="622"/>
                </a:lnTo>
                <a:lnTo>
                  <a:pt x="1443" y="342"/>
                </a:lnTo>
                <a:lnTo>
                  <a:pt x="1249" y="0"/>
                </a:lnTo>
                <a:lnTo>
                  <a:pt x="1249" y="0"/>
                </a:lnTo>
                <a:lnTo>
                  <a:pt x="1193" y="2"/>
                </a:lnTo>
                <a:lnTo>
                  <a:pt x="1138" y="7"/>
                </a:lnTo>
                <a:lnTo>
                  <a:pt x="1083" y="13"/>
                </a:lnTo>
                <a:lnTo>
                  <a:pt x="1029" y="21"/>
                </a:lnTo>
                <a:lnTo>
                  <a:pt x="976" y="32"/>
                </a:lnTo>
                <a:lnTo>
                  <a:pt x="924" y="44"/>
                </a:lnTo>
                <a:lnTo>
                  <a:pt x="872" y="59"/>
                </a:lnTo>
                <a:lnTo>
                  <a:pt x="821" y="76"/>
                </a:lnTo>
                <a:lnTo>
                  <a:pt x="772" y="95"/>
                </a:lnTo>
                <a:lnTo>
                  <a:pt x="724" y="116"/>
                </a:lnTo>
                <a:lnTo>
                  <a:pt x="675" y="138"/>
                </a:lnTo>
                <a:lnTo>
                  <a:pt x="629" y="162"/>
                </a:lnTo>
                <a:lnTo>
                  <a:pt x="584" y="188"/>
                </a:lnTo>
                <a:lnTo>
                  <a:pt x="540" y="216"/>
                </a:lnTo>
                <a:lnTo>
                  <a:pt x="497" y="245"/>
                </a:lnTo>
                <a:lnTo>
                  <a:pt x="455" y="277"/>
                </a:lnTo>
                <a:lnTo>
                  <a:pt x="415" y="310"/>
                </a:lnTo>
                <a:lnTo>
                  <a:pt x="376" y="345"/>
                </a:lnTo>
                <a:lnTo>
                  <a:pt x="339" y="382"/>
                </a:lnTo>
                <a:lnTo>
                  <a:pt x="302" y="420"/>
                </a:lnTo>
                <a:lnTo>
                  <a:pt x="268" y="460"/>
                </a:lnTo>
                <a:lnTo>
                  <a:pt x="236" y="501"/>
                </a:lnTo>
                <a:lnTo>
                  <a:pt x="206" y="543"/>
                </a:lnTo>
                <a:lnTo>
                  <a:pt x="176" y="589"/>
                </a:lnTo>
                <a:lnTo>
                  <a:pt x="150" y="634"/>
                </a:lnTo>
                <a:lnTo>
                  <a:pt x="124" y="681"/>
                </a:lnTo>
                <a:lnTo>
                  <a:pt x="100" y="729"/>
                </a:lnTo>
                <a:lnTo>
                  <a:pt x="79" y="780"/>
                </a:lnTo>
                <a:lnTo>
                  <a:pt x="59" y="831"/>
                </a:lnTo>
                <a:lnTo>
                  <a:pt x="42" y="883"/>
                </a:lnTo>
                <a:lnTo>
                  <a:pt x="27" y="937"/>
                </a:lnTo>
                <a:lnTo>
                  <a:pt x="14" y="992"/>
                </a:lnTo>
                <a:lnTo>
                  <a:pt x="117" y="1014"/>
                </a:lnTo>
                <a:lnTo>
                  <a:pt x="117" y="1014"/>
                </a:lnTo>
                <a:lnTo>
                  <a:pt x="128" y="967"/>
                </a:lnTo>
                <a:lnTo>
                  <a:pt x="140" y="921"/>
                </a:lnTo>
                <a:lnTo>
                  <a:pt x="155" y="876"/>
                </a:lnTo>
                <a:lnTo>
                  <a:pt x="172" y="832"/>
                </a:lnTo>
                <a:lnTo>
                  <a:pt x="189" y="788"/>
                </a:lnTo>
                <a:lnTo>
                  <a:pt x="209" y="746"/>
                </a:lnTo>
                <a:lnTo>
                  <a:pt x="231" y="704"/>
                </a:lnTo>
                <a:lnTo>
                  <a:pt x="254" y="663"/>
                </a:lnTo>
                <a:lnTo>
                  <a:pt x="279" y="624"/>
                </a:lnTo>
                <a:lnTo>
                  <a:pt x="306" y="585"/>
                </a:lnTo>
                <a:lnTo>
                  <a:pt x="333" y="548"/>
                </a:lnTo>
                <a:lnTo>
                  <a:pt x="363" y="512"/>
                </a:lnTo>
                <a:lnTo>
                  <a:pt x="394" y="476"/>
                </a:lnTo>
                <a:lnTo>
                  <a:pt x="426" y="443"/>
                </a:lnTo>
                <a:lnTo>
                  <a:pt x="460" y="410"/>
                </a:lnTo>
                <a:lnTo>
                  <a:pt x="494" y="380"/>
                </a:lnTo>
                <a:lnTo>
                  <a:pt x="530" y="350"/>
                </a:lnTo>
                <a:lnTo>
                  <a:pt x="567" y="322"/>
                </a:lnTo>
                <a:lnTo>
                  <a:pt x="606" y="296"/>
                </a:lnTo>
                <a:lnTo>
                  <a:pt x="645" y="271"/>
                </a:lnTo>
                <a:lnTo>
                  <a:pt x="685" y="248"/>
                </a:lnTo>
                <a:lnTo>
                  <a:pt x="727" y="226"/>
                </a:lnTo>
                <a:lnTo>
                  <a:pt x="770" y="205"/>
                </a:lnTo>
                <a:lnTo>
                  <a:pt x="813" y="187"/>
                </a:lnTo>
                <a:lnTo>
                  <a:pt x="858" y="169"/>
                </a:lnTo>
                <a:lnTo>
                  <a:pt x="903" y="155"/>
                </a:lnTo>
                <a:lnTo>
                  <a:pt x="949" y="142"/>
                </a:lnTo>
                <a:lnTo>
                  <a:pt x="995" y="131"/>
                </a:lnTo>
                <a:lnTo>
                  <a:pt x="1042" y="121"/>
                </a:lnTo>
                <a:lnTo>
                  <a:pt x="1091" y="114"/>
                </a:lnTo>
                <a:lnTo>
                  <a:pt x="1139" y="109"/>
                </a:lnTo>
                <a:lnTo>
                  <a:pt x="1189" y="106"/>
                </a:lnTo>
                <a:lnTo>
                  <a:pt x="1189" y="106"/>
                </a:lnTo>
                <a:close/>
                <a:moveTo>
                  <a:pt x="106" y="1306"/>
                </a:moveTo>
                <a:lnTo>
                  <a:pt x="339" y="1174"/>
                </a:lnTo>
                <a:lnTo>
                  <a:pt x="495" y="1274"/>
                </a:lnTo>
                <a:lnTo>
                  <a:pt x="495" y="1150"/>
                </a:lnTo>
                <a:lnTo>
                  <a:pt x="342" y="1052"/>
                </a:lnTo>
                <a:lnTo>
                  <a:pt x="0" y="1245"/>
                </a:lnTo>
                <a:lnTo>
                  <a:pt x="0" y="1245"/>
                </a:lnTo>
                <a:lnTo>
                  <a:pt x="2" y="1301"/>
                </a:lnTo>
                <a:lnTo>
                  <a:pt x="7" y="1356"/>
                </a:lnTo>
                <a:lnTo>
                  <a:pt x="13" y="1411"/>
                </a:lnTo>
                <a:lnTo>
                  <a:pt x="21" y="1465"/>
                </a:lnTo>
                <a:lnTo>
                  <a:pt x="32" y="1518"/>
                </a:lnTo>
                <a:lnTo>
                  <a:pt x="45" y="1571"/>
                </a:lnTo>
                <a:lnTo>
                  <a:pt x="59" y="1622"/>
                </a:lnTo>
                <a:lnTo>
                  <a:pt x="76" y="1673"/>
                </a:lnTo>
                <a:lnTo>
                  <a:pt x="95" y="1723"/>
                </a:lnTo>
                <a:lnTo>
                  <a:pt x="115" y="1771"/>
                </a:lnTo>
                <a:lnTo>
                  <a:pt x="137" y="1818"/>
                </a:lnTo>
                <a:lnTo>
                  <a:pt x="162" y="1866"/>
                </a:lnTo>
                <a:lnTo>
                  <a:pt x="188" y="1911"/>
                </a:lnTo>
                <a:lnTo>
                  <a:pt x="216" y="1955"/>
                </a:lnTo>
                <a:lnTo>
                  <a:pt x="245" y="1998"/>
                </a:lnTo>
                <a:lnTo>
                  <a:pt x="277" y="2040"/>
                </a:lnTo>
                <a:lnTo>
                  <a:pt x="310" y="2080"/>
                </a:lnTo>
                <a:lnTo>
                  <a:pt x="345" y="2119"/>
                </a:lnTo>
                <a:lnTo>
                  <a:pt x="382" y="2156"/>
                </a:lnTo>
                <a:lnTo>
                  <a:pt x="420" y="2191"/>
                </a:lnTo>
                <a:lnTo>
                  <a:pt x="460" y="2227"/>
                </a:lnTo>
                <a:lnTo>
                  <a:pt x="500" y="2258"/>
                </a:lnTo>
                <a:lnTo>
                  <a:pt x="543" y="2289"/>
                </a:lnTo>
                <a:lnTo>
                  <a:pt x="588" y="2318"/>
                </a:lnTo>
                <a:lnTo>
                  <a:pt x="633" y="2345"/>
                </a:lnTo>
                <a:lnTo>
                  <a:pt x="681" y="2371"/>
                </a:lnTo>
                <a:lnTo>
                  <a:pt x="729" y="2395"/>
                </a:lnTo>
                <a:lnTo>
                  <a:pt x="780" y="2416"/>
                </a:lnTo>
                <a:lnTo>
                  <a:pt x="830" y="2436"/>
                </a:lnTo>
                <a:lnTo>
                  <a:pt x="883" y="2452"/>
                </a:lnTo>
                <a:lnTo>
                  <a:pt x="937" y="2467"/>
                </a:lnTo>
                <a:lnTo>
                  <a:pt x="992" y="2481"/>
                </a:lnTo>
                <a:lnTo>
                  <a:pt x="1014" y="2378"/>
                </a:lnTo>
                <a:lnTo>
                  <a:pt x="1014" y="2378"/>
                </a:lnTo>
                <a:lnTo>
                  <a:pt x="967" y="2367"/>
                </a:lnTo>
                <a:lnTo>
                  <a:pt x="921" y="2355"/>
                </a:lnTo>
                <a:lnTo>
                  <a:pt x="875" y="2340"/>
                </a:lnTo>
                <a:lnTo>
                  <a:pt x="831" y="2323"/>
                </a:lnTo>
                <a:lnTo>
                  <a:pt x="787" y="2306"/>
                </a:lnTo>
                <a:lnTo>
                  <a:pt x="746" y="2285"/>
                </a:lnTo>
                <a:lnTo>
                  <a:pt x="704" y="2264"/>
                </a:lnTo>
                <a:lnTo>
                  <a:pt x="663" y="2241"/>
                </a:lnTo>
                <a:lnTo>
                  <a:pt x="623" y="2216"/>
                </a:lnTo>
                <a:lnTo>
                  <a:pt x="585" y="2189"/>
                </a:lnTo>
                <a:lnTo>
                  <a:pt x="548" y="2162"/>
                </a:lnTo>
                <a:lnTo>
                  <a:pt x="511" y="2132"/>
                </a:lnTo>
                <a:lnTo>
                  <a:pt x="476" y="2101"/>
                </a:lnTo>
                <a:lnTo>
                  <a:pt x="443" y="2069"/>
                </a:lnTo>
                <a:lnTo>
                  <a:pt x="411" y="2035"/>
                </a:lnTo>
                <a:lnTo>
                  <a:pt x="379" y="2001"/>
                </a:lnTo>
                <a:lnTo>
                  <a:pt x="351" y="1965"/>
                </a:lnTo>
                <a:lnTo>
                  <a:pt x="322" y="1927"/>
                </a:lnTo>
                <a:lnTo>
                  <a:pt x="296" y="1889"/>
                </a:lnTo>
                <a:lnTo>
                  <a:pt x="271" y="1849"/>
                </a:lnTo>
                <a:lnTo>
                  <a:pt x="247" y="1809"/>
                </a:lnTo>
                <a:lnTo>
                  <a:pt x="225" y="1768"/>
                </a:lnTo>
                <a:lnTo>
                  <a:pt x="206" y="1725"/>
                </a:lnTo>
                <a:lnTo>
                  <a:pt x="187" y="1682"/>
                </a:lnTo>
                <a:lnTo>
                  <a:pt x="170" y="1637"/>
                </a:lnTo>
                <a:lnTo>
                  <a:pt x="155" y="1592"/>
                </a:lnTo>
                <a:lnTo>
                  <a:pt x="142" y="1546"/>
                </a:lnTo>
                <a:lnTo>
                  <a:pt x="131" y="1499"/>
                </a:lnTo>
                <a:lnTo>
                  <a:pt x="122" y="1452"/>
                </a:lnTo>
                <a:lnTo>
                  <a:pt x="114" y="1404"/>
                </a:lnTo>
                <a:lnTo>
                  <a:pt x="109" y="1355"/>
                </a:lnTo>
                <a:lnTo>
                  <a:pt x="106" y="1306"/>
                </a:lnTo>
                <a:lnTo>
                  <a:pt x="106" y="1306"/>
                </a:lnTo>
                <a:close/>
                <a:moveTo>
                  <a:pt x="1306" y="2389"/>
                </a:moveTo>
                <a:lnTo>
                  <a:pt x="1174" y="2156"/>
                </a:lnTo>
                <a:lnTo>
                  <a:pt x="1329" y="1915"/>
                </a:lnTo>
                <a:lnTo>
                  <a:pt x="1329" y="1915"/>
                </a:lnTo>
                <a:lnTo>
                  <a:pt x="1369" y="1906"/>
                </a:lnTo>
                <a:lnTo>
                  <a:pt x="1407" y="1897"/>
                </a:lnTo>
                <a:lnTo>
                  <a:pt x="1445" y="1884"/>
                </a:lnTo>
                <a:lnTo>
                  <a:pt x="1481" y="1870"/>
                </a:lnTo>
                <a:lnTo>
                  <a:pt x="1516" y="1854"/>
                </a:lnTo>
                <a:lnTo>
                  <a:pt x="1552" y="1835"/>
                </a:lnTo>
                <a:lnTo>
                  <a:pt x="1585" y="1815"/>
                </a:lnTo>
                <a:lnTo>
                  <a:pt x="1616" y="1793"/>
                </a:lnTo>
                <a:lnTo>
                  <a:pt x="1647" y="1769"/>
                </a:lnTo>
                <a:lnTo>
                  <a:pt x="1676" y="1744"/>
                </a:lnTo>
                <a:lnTo>
                  <a:pt x="1703" y="1716"/>
                </a:lnTo>
                <a:lnTo>
                  <a:pt x="1730" y="1688"/>
                </a:lnTo>
                <a:lnTo>
                  <a:pt x="1754" y="1658"/>
                </a:lnTo>
                <a:lnTo>
                  <a:pt x="1777" y="1627"/>
                </a:lnTo>
                <a:lnTo>
                  <a:pt x="1798" y="1594"/>
                </a:lnTo>
                <a:lnTo>
                  <a:pt x="1818" y="1560"/>
                </a:lnTo>
                <a:lnTo>
                  <a:pt x="1740" y="1589"/>
                </a:lnTo>
                <a:lnTo>
                  <a:pt x="1740" y="1589"/>
                </a:lnTo>
                <a:lnTo>
                  <a:pt x="1719" y="1619"/>
                </a:lnTo>
                <a:lnTo>
                  <a:pt x="1696" y="1648"/>
                </a:lnTo>
                <a:lnTo>
                  <a:pt x="1670" y="1677"/>
                </a:lnTo>
                <a:lnTo>
                  <a:pt x="1644" y="1702"/>
                </a:lnTo>
                <a:lnTo>
                  <a:pt x="1616" y="1727"/>
                </a:lnTo>
                <a:lnTo>
                  <a:pt x="1587" y="1750"/>
                </a:lnTo>
                <a:lnTo>
                  <a:pt x="1556" y="1771"/>
                </a:lnTo>
                <a:lnTo>
                  <a:pt x="1524" y="1791"/>
                </a:lnTo>
                <a:lnTo>
                  <a:pt x="1491" y="1809"/>
                </a:lnTo>
                <a:lnTo>
                  <a:pt x="1457" y="1824"/>
                </a:lnTo>
                <a:lnTo>
                  <a:pt x="1421" y="1837"/>
                </a:lnTo>
                <a:lnTo>
                  <a:pt x="1384" y="1849"/>
                </a:lnTo>
                <a:lnTo>
                  <a:pt x="1347" y="1858"/>
                </a:lnTo>
                <a:lnTo>
                  <a:pt x="1310" y="1866"/>
                </a:lnTo>
                <a:lnTo>
                  <a:pt x="1270" y="1870"/>
                </a:lnTo>
                <a:lnTo>
                  <a:pt x="1232" y="1872"/>
                </a:lnTo>
                <a:lnTo>
                  <a:pt x="1232" y="1872"/>
                </a:lnTo>
                <a:lnTo>
                  <a:pt x="1052" y="2153"/>
                </a:lnTo>
                <a:lnTo>
                  <a:pt x="1246" y="2495"/>
                </a:lnTo>
                <a:lnTo>
                  <a:pt x="1246" y="2495"/>
                </a:lnTo>
                <a:lnTo>
                  <a:pt x="1302" y="2493"/>
                </a:lnTo>
                <a:lnTo>
                  <a:pt x="1357" y="2488"/>
                </a:lnTo>
                <a:lnTo>
                  <a:pt x="1412" y="2482"/>
                </a:lnTo>
                <a:lnTo>
                  <a:pt x="1465" y="2473"/>
                </a:lnTo>
                <a:lnTo>
                  <a:pt x="1519" y="2463"/>
                </a:lnTo>
                <a:lnTo>
                  <a:pt x="1570" y="2450"/>
                </a:lnTo>
                <a:lnTo>
                  <a:pt x="1622" y="2436"/>
                </a:lnTo>
                <a:lnTo>
                  <a:pt x="1672" y="2419"/>
                </a:lnTo>
                <a:lnTo>
                  <a:pt x="1723" y="2400"/>
                </a:lnTo>
                <a:lnTo>
                  <a:pt x="1771" y="2379"/>
                </a:lnTo>
                <a:lnTo>
                  <a:pt x="1819" y="2357"/>
                </a:lnTo>
                <a:lnTo>
                  <a:pt x="1866" y="2333"/>
                </a:lnTo>
                <a:lnTo>
                  <a:pt x="1911" y="2307"/>
                </a:lnTo>
                <a:lnTo>
                  <a:pt x="1955" y="2278"/>
                </a:lnTo>
                <a:lnTo>
                  <a:pt x="1998" y="2249"/>
                </a:lnTo>
                <a:lnTo>
                  <a:pt x="2040" y="2218"/>
                </a:lnTo>
                <a:lnTo>
                  <a:pt x="2080" y="2185"/>
                </a:lnTo>
                <a:lnTo>
                  <a:pt x="2119" y="2150"/>
                </a:lnTo>
                <a:lnTo>
                  <a:pt x="2156" y="2113"/>
                </a:lnTo>
                <a:lnTo>
                  <a:pt x="2192" y="2075"/>
                </a:lnTo>
                <a:lnTo>
                  <a:pt x="2226" y="2035"/>
                </a:lnTo>
                <a:lnTo>
                  <a:pt x="2259" y="1993"/>
                </a:lnTo>
                <a:lnTo>
                  <a:pt x="2289" y="1952"/>
                </a:lnTo>
                <a:lnTo>
                  <a:pt x="2318" y="1906"/>
                </a:lnTo>
                <a:lnTo>
                  <a:pt x="2345" y="1861"/>
                </a:lnTo>
                <a:lnTo>
                  <a:pt x="2371" y="1814"/>
                </a:lnTo>
                <a:lnTo>
                  <a:pt x="2394" y="1766"/>
                </a:lnTo>
                <a:lnTo>
                  <a:pt x="2416" y="1715"/>
                </a:lnTo>
                <a:lnTo>
                  <a:pt x="2436" y="1663"/>
                </a:lnTo>
                <a:lnTo>
                  <a:pt x="2452" y="1612"/>
                </a:lnTo>
                <a:lnTo>
                  <a:pt x="2468" y="1558"/>
                </a:lnTo>
                <a:lnTo>
                  <a:pt x="2481" y="1502"/>
                </a:lnTo>
                <a:lnTo>
                  <a:pt x="2378" y="1481"/>
                </a:lnTo>
                <a:lnTo>
                  <a:pt x="2378" y="1481"/>
                </a:lnTo>
                <a:lnTo>
                  <a:pt x="2367" y="1527"/>
                </a:lnTo>
                <a:lnTo>
                  <a:pt x="2355" y="1573"/>
                </a:lnTo>
                <a:lnTo>
                  <a:pt x="2340" y="1618"/>
                </a:lnTo>
                <a:lnTo>
                  <a:pt x="2323" y="1663"/>
                </a:lnTo>
                <a:lnTo>
                  <a:pt x="2306" y="1706"/>
                </a:lnTo>
                <a:lnTo>
                  <a:pt x="2285" y="1749"/>
                </a:lnTo>
                <a:lnTo>
                  <a:pt x="2264" y="1791"/>
                </a:lnTo>
                <a:lnTo>
                  <a:pt x="2240" y="1832"/>
                </a:lnTo>
                <a:lnTo>
                  <a:pt x="2216" y="1871"/>
                </a:lnTo>
                <a:lnTo>
                  <a:pt x="2189" y="1910"/>
                </a:lnTo>
                <a:lnTo>
                  <a:pt x="2161" y="1947"/>
                </a:lnTo>
                <a:lnTo>
                  <a:pt x="2132" y="1983"/>
                </a:lnTo>
                <a:lnTo>
                  <a:pt x="2101" y="2018"/>
                </a:lnTo>
                <a:lnTo>
                  <a:pt x="2069" y="2052"/>
                </a:lnTo>
                <a:lnTo>
                  <a:pt x="2035" y="2084"/>
                </a:lnTo>
                <a:lnTo>
                  <a:pt x="2000" y="2114"/>
                </a:lnTo>
                <a:lnTo>
                  <a:pt x="1965" y="2144"/>
                </a:lnTo>
                <a:lnTo>
                  <a:pt x="1928" y="2173"/>
                </a:lnTo>
                <a:lnTo>
                  <a:pt x="1889" y="2199"/>
                </a:lnTo>
                <a:lnTo>
                  <a:pt x="1850" y="2224"/>
                </a:lnTo>
                <a:lnTo>
                  <a:pt x="1809" y="2247"/>
                </a:lnTo>
                <a:lnTo>
                  <a:pt x="1768" y="2269"/>
                </a:lnTo>
                <a:lnTo>
                  <a:pt x="1725" y="2289"/>
                </a:lnTo>
                <a:lnTo>
                  <a:pt x="1681" y="2308"/>
                </a:lnTo>
                <a:lnTo>
                  <a:pt x="1637" y="2324"/>
                </a:lnTo>
                <a:lnTo>
                  <a:pt x="1592" y="2340"/>
                </a:lnTo>
                <a:lnTo>
                  <a:pt x="1546" y="2353"/>
                </a:lnTo>
                <a:lnTo>
                  <a:pt x="1500" y="2364"/>
                </a:lnTo>
                <a:lnTo>
                  <a:pt x="1453" y="2373"/>
                </a:lnTo>
                <a:lnTo>
                  <a:pt x="1404" y="2381"/>
                </a:lnTo>
                <a:lnTo>
                  <a:pt x="1355" y="2386"/>
                </a:lnTo>
                <a:lnTo>
                  <a:pt x="1306" y="2389"/>
                </a:lnTo>
                <a:lnTo>
                  <a:pt x="1306" y="2389"/>
                </a:lnTo>
                <a:close/>
                <a:moveTo>
                  <a:pt x="2389" y="1189"/>
                </a:moveTo>
                <a:lnTo>
                  <a:pt x="2156" y="1321"/>
                </a:lnTo>
                <a:lnTo>
                  <a:pt x="2028" y="1239"/>
                </a:lnTo>
                <a:lnTo>
                  <a:pt x="2027" y="1362"/>
                </a:lnTo>
                <a:lnTo>
                  <a:pt x="2153" y="1443"/>
                </a:lnTo>
                <a:lnTo>
                  <a:pt x="2495" y="1250"/>
                </a:lnTo>
                <a:lnTo>
                  <a:pt x="2495" y="1250"/>
                </a:lnTo>
                <a:lnTo>
                  <a:pt x="2493" y="1194"/>
                </a:lnTo>
                <a:lnTo>
                  <a:pt x="2488" y="1139"/>
                </a:lnTo>
                <a:lnTo>
                  <a:pt x="2482" y="1084"/>
                </a:lnTo>
                <a:lnTo>
                  <a:pt x="2473" y="1030"/>
                </a:lnTo>
                <a:lnTo>
                  <a:pt x="2463" y="977"/>
                </a:lnTo>
                <a:lnTo>
                  <a:pt x="2450" y="924"/>
                </a:lnTo>
                <a:lnTo>
                  <a:pt x="2436" y="872"/>
                </a:lnTo>
                <a:lnTo>
                  <a:pt x="2419" y="822"/>
                </a:lnTo>
                <a:lnTo>
                  <a:pt x="2400" y="772"/>
                </a:lnTo>
                <a:lnTo>
                  <a:pt x="2380" y="724"/>
                </a:lnTo>
                <a:lnTo>
                  <a:pt x="2358" y="675"/>
                </a:lnTo>
                <a:lnTo>
                  <a:pt x="2333" y="629"/>
                </a:lnTo>
                <a:lnTo>
                  <a:pt x="2307" y="584"/>
                </a:lnTo>
                <a:lnTo>
                  <a:pt x="2278" y="539"/>
                </a:lnTo>
                <a:lnTo>
                  <a:pt x="2249" y="496"/>
                </a:lnTo>
                <a:lnTo>
                  <a:pt x="2218" y="455"/>
                </a:lnTo>
                <a:lnTo>
                  <a:pt x="2185" y="415"/>
                </a:lnTo>
                <a:lnTo>
                  <a:pt x="2150" y="376"/>
                </a:lnTo>
                <a:lnTo>
                  <a:pt x="2113" y="339"/>
                </a:lnTo>
                <a:lnTo>
                  <a:pt x="2075" y="303"/>
                </a:lnTo>
                <a:lnTo>
                  <a:pt x="2035" y="268"/>
                </a:lnTo>
                <a:lnTo>
                  <a:pt x="1994" y="237"/>
                </a:lnTo>
                <a:lnTo>
                  <a:pt x="1951" y="206"/>
                </a:lnTo>
                <a:lnTo>
                  <a:pt x="1907" y="176"/>
                </a:lnTo>
                <a:lnTo>
                  <a:pt x="1862" y="150"/>
                </a:lnTo>
                <a:lnTo>
                  <a:pt x="1814" y="123"/>
                </a:lnTo>
                <a:lnTo>
                  <a:pt x="1765" y="100"/>
                </a:lnTo>
                <a:lnTo>
                  <a:pt x="1715" y="79"/>
                </a:lnTo>
                <a:lnTo>
                  <a:pt x="1664" y="59"/>
                </a:lnTo>
                <a:lnTo>
                  <a:pt x="1611" y="42"/>
                </a:lnTo>
                <a:lnTo>
                  <a:pt x="1557" y="28"/>
                </a:lnTo>
                <a:lnTo>
                  <a:pt x="1502" y="14"/>
                </a:lnTo>
                <a:lnTo>
                  <a:pt x="1481" y="116"/>
                </a:lnTo>
                <a:lnTo>
                  <a:pt x="1481" y="116"/>
                </a:lnTo>
                <a:lnTo>
                  <a:pt x="1527" y="127"/>
                </a:lnTo>
                <a:lnTo>
                  <a:pt x="1574" y="140"/>
                </a:lnTo>
                <a:lnTo>
                  <a:pt x="1619" y="154"/>
                </a:lnTo>
                <a:lnTo>
                  <a:pt x="1664" y="172"/>
                </a:lnTo>
                <a:lnTo>
                  <a:pt x="1707" y="189"/>
                </a:lnTo>
                <a:lnTo>
                  <a:pt x="1749" y="209"/>
                </a:lnTo>
                <a:lnTo>
                  <a:pt x="1791" y="231"/>
                </a:lnTo>
                <a:lnTo>
                  <a:pt x="1832" y="254"/>
                </a:lnTo>
                <a:lnTo>
                  <a:pt x="1872" y="279"/>
                </a:lnTo>
                <a:lnTo>
                  <a:pt x="1910" y="306"/>
                </a:lnTo>
                <a:lnTo>
                  <a:pt x="1947" y="333"/>
                </a:lnTo>
                <a:lnTo>
                  <a:pt x="1984" y="363"/>
                </a:lnTo>
                <a:lnTo>
                  <a:pt x="2018" y="394"/>
                </a:lnTo>
                <a:lnTo>
                  <a:pt x="2052" y="426"/>
                </a:lnTo>
                <a:lnTo>
                  <a:pt x="2084" y="460"/>
                </a:lnTo>
                <a:lnTo>
                  <a:pt x="2115" y="494"/>
                </a:lnTo>
                <a:lnTo>
                  <a:pt x="2144" y="530"/>
                </a:lnTo>
                <a:lnTo>
                  <a:pt x="2173" y="568"/>
                </a:lnTo>
                <a:lnTo>
                  <a:pt x="2199" y="606"/>
                </a:lnTo>
                <a:lnTo>
                  <a:pt x="2224" y="645"/>
                </a:lnTo>
                <a:lnTo>
                  <a:pt x="2248" y="685"/>
                </a:lnTo>
                <a:lnTo>
                  <a:pt x="2270" y="727"/>
                </a:lnTo>
                <a:lnTo>
                  <a:pt x="2289" y="770"/>
                </a:lnTo>
                <a:lnTo>
                  <a:pt x="2308" y="813"/>
                </a:lnTo>
                <a:lnTo>
                  <a:pt x="2325" y="858"/>
                </a:lnTo>
                <a:lnTo>
                  <a:pt x="2340" y="903"/>
                </a:lnTo>
                <a:lnTo>
                  <a:pt x="2353" y="948"/>
                </a:lnTo>
                <a:lnTo>
                  <a:pt x="2364" y="996"/>
                </a:lnTo>
                <a:lnTo>
                  <a:pt x="2373" y="1043"/>
                </a:lnTo>
                <a:lnTo>
                  <a:pt x="2381" y="1091"/>
                </a:lnTo>
                <a:lnTo>
                  <a:pt x="2386" y="1140"/>
                </a:lnTo>
                <a:lnTo>
                  <a:pt x="2389" y="1189"/>
                </a:lnTo>
                <a:lnTo>
                  <a:pt x="2389" y="1189"/>
                </a:lnTo>
                <a:close/>
                <a:moveTo>
                  <a:pt x="1978" y="1140"/>
                </a:moveTo>
                <a:lnTo>
                  <a:pt x="1978" y="1109"/>
                </a:lnTo>
                <a:lnTo>
                  <a:pt x="1600" y="1244"/>
                </a:lnTo>
                <a:lnTo>
                  <a:pt x="1600" y="1201"/>
                </a:lnTo>
                <a:lnTo>
                  <a:pt x="1952" y="1075"/>
                </a:lnTo>
                <a:lnTo>
                  <a:pt x="1952" y="1044"/>
                </a:lnTo>
                <a:lnTo>
                  <a:pt x="1601" y="1169"/>
                </a:lnTo>
                <a:lnTo>
                  <a:pt x="1602" y="1115"/>
                </a:lnTo>
                <a:lnTo>
                  <a:pt x="1973" y="982"/>
                </a:lnTo>
                <a:lnTo>
                  <a:pt x="1973" y="924"/>
                </a:lnTo>
                <a:lnTo>
                  <a:pt x="1563" y="714"/>
                </a:lnTo>
                <a:lnTo>
                  <a:pt x="1168" y="847"/>
                </a:lnTo>
                <a:lnTo>
                  <a:pt x="1116" y="820"/>
                </a:lnTo>
                <a:lnTo>
                  <a:pt x="876" y="902"/>
                </a:lnTo>
                <a:lnTo>
                  <a:pt x="876" y="902"/>
                </a:lnTo>
                <a:lnTo>
                  <a:pt x="876" y="945"/>
                </a:lnTo>
                <a:lnTo>
                  <a:pt x="550" y="1055"/>
                </a:lnTo>
                <a:lnTo>
                  <a:pt x="550" y="1111"/>
                </a:lnTo>
                <a:lnTo>
                  <a:pt x="978" y="1339"/>
                </a:lnTo>
                <a:lnTo>
                  <a:pt x="1382" y="1194"/>
                </a:lnTo>
                <a:lnTo>
                  <a:pt x="1382" y="1248"/>
                </a:lnTo>
                <a:lnTo>
                  <a:pt x="1017" y="1377"/>
                </a:lnTo>
                <a:lnTo>
                  <a:pt x="1017" y="1409"/>
                </a:lnTo>
                <a:lnTo>
                  <a:pt x="1382" y="1278"/>
                </a:lnTo>
                <a:lnTo>
                  <a:pt x="1382" y="1321"/>
                </a:lnTo>
                <a:lnTo>
                  <a:pt x="984" y="1463"/>
                </a:lnTo>
                <a:lnTo>
                  <a:pt x="544" y="1232"/>
                </a:lnTo>
                <a:lnTo>
                  <a:pt x="544" y="1265"/>
                </a:lnTo>
                <a:lnTo>
                  <a:pt x="982" y="1496"/>
                </a:lnTo>
                <a:lnTo>
                  <a:pt x="1382" y="1353"/>
                </a:lnTo>
                <a:lnTo>
                  <a:pt x="1382" y="1396"/>
                </a:lnTo>
                <a:lnTo>
                  <a:pt x="985" y="1537"/>
                </a:lnTo>
                <a:lnTo>
                  <a:pt x="985" y="1569"/>
                </a:lnTo>
                <a:lnTo>
                  <a:pt x="1382" y="1427"/>
                </a:lnTo>
                <a:lnTo>
                  <a:pt x="1382" y="1470"/>
                </a:lnTo>
                <a:lnTo>
                  <a:pt x="984" y="1612"/>
                </a:lnTo>
                <a:lnTo>
                  <a:pt x="544" y="1380"/>
                </a:lnTo>
                <a:lnTo>
                  <a:pt x="544" y="1414"/>
                </a:lnTo>
                <a:lnTo>
                  <a:pt x="982" y="1644"/>
                </a:lnTo>
                <a:lnTo>
                  <a:pt x="1382" y="1502"/>
                </a:lnTo>
                <a:lnTo>
                  <a:pt x="1382" y="1543"/>
                </a:lnTo>
                <a:lnTo>
                  <a:pt x="984" y="1685"/>
                </a:lnTo>
                <a:lnTo>
                  <a:pt x="570" y="1468"/>
                </a:lnTo>
                <a:lnTo>
                  <a:pt x="570" y="1501"/>
                </a:lnTo>
                <a:lnTo>
                  <a:pt x="982" y="1718"/>
                </a:lnTo>
                <a:lnTo>
                  <a:pt x="1382" y="1575"/>
                </a:lnTo>
                <a:lnTo>
                  <a:pt x="1382" y="1618"/>
                </a:lnTo>
                <a:lnTo>
                  <a:pt x="984" y="1760"/>
                </a:lnTo>
                <a:lnTo>
                  <a:pt x="544" y="1528"/>
                </a:lnTo>
                <a:lnTo>
                  <a:pt x="544" y="1562"/>
                </a:lnTo>
                <a:lnTo>
                  <a:pt x="982" y="1792"/>
                </a:lnTo>
                <a:lnTo>
                  <a:pt x="1382" y="1650"/>
                </a:lnTo>
                <a:lnTo>
                  <a:pt x="1382" y="1686"/>
                </a:lnTo>
                <a:lnTo>
                  <a:pt x="1592" y="1613"/>
                </a:lnTo>
                <a:lnTo>
                  <a:pt x="1593" y="1574"/>
                </a:lnTo>
                <a:lnTo>
                  <a:pt x="1978" y="1437"/>
                </a:lnTo>
                <a:lnTo>
                  <a:pt x="1978" y="1405"/>
                </a:lnTo>
                <a:lnTo>
                  <a:pt x="1593" y="1542"/>
                </a:lnTo>
                <a:lnTo>
                  <a:pt x="1594" y="1499"/>
                </a:lnTo>
                <a:lnTo>
                  <a:pt x="1953" y="1372"/>
                </a:lnTo>
                <a:lnTo>
                  <a:pt x="1953" y="1340"/>
                </a:lnTo>
                <a:lnTo>
                  <a:pt x="1596" y="1468"/>
                </a:lnTo>
                <a:lnTo>
                  <a:pt x="1596" y="1425"/>
                </a:lnTo>
                <a:lnTo>
                  <a:pt x="1978" y="1288"/>
                </a:lnTo>
                <a:lnTo>
                  <a:pt x="1978" y="1257"/>
                </a:lnTo>
                <a:lnTo>
                  <a:pt x="1597" y="1393"/>
                </a:lnTo>
                <a:lnTo>
                  <a:pt x="1598" y="1350"/>
                </a:lnTo>
                <a:lnTo>
                  <a:pt x="1952" y="1223"/>
                </a:lnTo>
                <a:lnTo>
                  <a:pt x="1952" y="1192"/>
                </a:lnTo>
                <a:lnTo>
                  <a:pt x="1598" y="1318"/>
                </a:lnTo>
                <a:lnTo>
                  <a:pt x="1599" y="1275"/>
                </a:lnTo>
                <a:lnTo>
                  <a:pt x="1978" y="1140"/>
                </a:lnTo>
                <a:close/>
                <a:moveTo>
                  <a:pt x="982" y="1276"/>
                </a:moveTo>
                <a:lnTo>
                  <a:pt x="631" y="1089"/>
                </a:lnTo>
                <a:lnTo>
                  <a:pt x="996" y="966"/>
                </a:lnTo>
                <a:lnTo>
                  <a:pt x="1015" y="976"/>
                </a:lnTo>
                <a:lnTo>
                  <a:pt x="1015" y="976"/>
                </a:lnTo>
                <a:lnTo>
                  <a:pt x="1001" y="986"/>
                </a:lnTo>
                <a:lnTo>
                  <a:pt x="986" y="996"/>
                </a:lnTo>
                <a:lnTo>
                  <a:pt x="974" y="1005"/>
                </a:lnTo>
                <a:lnTo>
                  <a:pt x="964" y="1016"/>
                </a:lnTo>
                <a:lnTo>
                  <a:pt x="956" y="1027"/>
                </a:lnTo>
                <a:lnTo>
                  <a:pt x="949" y="1038"/>
                </a:lnTo>
                <a:lnTo>
                  <a:pt x="945" y="1051"/>
                </a:lnTo>
                <a:lnTo>
                  <a:pt x="941" y="1063"/>
                </a:lnTo>
                <a:lnTo>
                  <a:pt x="941" y="1063"/>
                </a:lnTo>
                <a:lnTo>
                  <a:pt x="941" y="1071"/>
                </a:lnTo>
                <a:lnTo>
                  <a:pt x="942" y="1079"/>
                </a:lnTo>
                <a:lnTo>
                  <a:pt x="945" y="1087"/>
                </a:lnTo>
                <a:lnTo>
                  <a:pt x="947" y="1095"/>
                </a:lnTo>
                <a:lnTo>
                  <a:pt x="951" y="1101"/>
                </a:lnTo>
                <a:lnTo>
                  <a:pt x="957" y="1108"/>
                </a:lnTo>
                <a:lnTo>
                  <a:pt x="963" y="1113"/>
                </a:lnTo>
                <a:lnTo>
                  <a:pt x="970" y="1119"/>
                </a:lnTo>
                <a:lnTo>
                  <a:pt x="978" y="1123"/>
                </a:lnTo>
                <a:lnTo>
                  <a:pt x="985" y="1128"/>
                </a:lnTo>
                <a:lnTo>
                  <a:pt x="1004" y="1135"/>
                </a:lnTo>
                <a:lnTo>
                  <a:pt x="1024" y="1142"/>
                </a:lnTo>
                <a:lnTo>
                  <a:pt x="1046" y="1146"/>
                </a:lnTo>
                <a:lnTo>
                  <a:pt x="1046" y="1146"/>
                </a:lnTo>
                <a:lnTo>
                  <a:pt x="1073" y="1150"/>
                </a:lnTo>
                <a:lnTo>
                  <a:pt x="1103" y="1151"/>
                </a:lnTo>
                <a:lnTo>
                  <a:pt x="1134" y="1151"/>
                </a:lnTo>
                <a:lnTo>
                  <a:pt x="1167" y="1150"/>
                </a:lnTo>
                <a:lnTo>
                  <a:pt x="1200" y="1146"/>
                </a:lnTo>
                <a:lnTo>
                  <a:pt x="1234" y="1141"/>
                </a:lnTo>
                <a:lnTo>
                  <a:pt x="1268" y="1134"/>
                </a:lnTo>
                <a:lnTo>
                  <a:pt x="1301" y="1126"/>
                </a:lnTo>
                <a:lnTo>
                  <a:pt x="1340" y="1147"/>
                </a:lnTo>
                <a:lnTo>
                  <a:pt x="982" y="1276"/>
                </a:lnTo>
                <a:close/>
                <a:moveTo>
                  <a:pt x="1047" y="992"/>
                </a:moveTo>
                <a:lnTo>
                  <a:pt x="1261" y="1106"/>
                </a:lnTo>
                <a:lnTo>
                  <a:pt x="1261" y="1106"/>
                </a:lnTo>
                <a:lnTo>
                  <a:pt x="1233" y="1111"/>
                </a:lnTo>
                <a:lnTo>
                  <a:pt x="1204" y="1115"/>
                </a:lnTo>
                <a:lnTo>
                  <a:pt x="1177" y="1119"/>
                </a:lnTo>
                <a:lnTo>
                  <a:pt x="1149" y="1121"/>
                </a:lnTo>
                <a:lnTo>
                  <a:pt x="1123" y="1121"/>
                </a:lnTo>
                <a:lnTo>
                  <a:pt x="1097" y="1121"/>
                </a:lnTo>
                <a:lnTo>
                  <a:pt x="1073" y="1120"/>
                </a:lnTo>
                <a:lnTo>
                  <a:pt x="1050" y="1117"/>
                </a:lnTo>
                <a:lnTo>
                  <a:pt x="1050" y="1117"/>
                </a:lnTo>
                <a:lnTo>
                  <a:pt x="1029" y="1112"/>
                </a:lnTo>
                <a:lnTo>
                  <a:pt x="1012" y="1107"/>
                </a:lnTo>
                <a:lnTo>
                  <a:pt x="997" y="1101"/>
                </a:lnTo>
                <a:lnTo>
                  <a:pt x="986" y="1095"/>
                </a:lnTo>
                <a:lnTo>
                  <a:pt x="979" y="1088"/>
                </a:lnTo>
                <a:lnTo>
                  <a:pt x="974" y="1080"/>
                </a:lnTo>
                <a:lnTo>
                  <a:pt x="971" y="1073"/>
                </a:lnTo>
                <a:lnTo>
                  <a:pt x="971" y="1066"/>
                </a:lnTo>
                <a:lnTo>
                  <a:pt x="971" y="1066"/>
                </a:lnTo>
                <a:lnTo>
                  <a:pt x="973" y="1057"/>
                </a:lnTo>
                <a:lnTo>
                  <a:pt x="978" y="1048"/>
                </a:lnTo>
                <a:lnTo>
                  <a:pt x="984" y="1038"/>
                </a:lnTo>
                <a:lnTo>
                  <a:pt x="993" y="1030"/>
                </a:lnTo>
                <a:lnTo>
                  <a:pt x="1004" y="1020"/>
                </a:lnTo>
                <a:lnTo>
                  <a:pt x="1016" y="1011"/>
                </a:lnTo>
                <a:lnTo>
                  <a:pt x="1030" y="1001"/>
                </a:lnTo>
                <a:lnTo>
                  <a:pt x="1047" y="992"/>
                </a:lnTo>
                <a:lnTo>
                  <a:pt x="1047" y="992"/>
                </a:lnTo>
                <a:close/>
                <a:moveTo>
                  <a:pt x="951" y="908"/>
                </a:moveTo>
                <a:lnTo>
                  <a:pt x="1114" y="851"/>
                </a:lnTo>
                <a:lnTo>
                  <a:pt x="1560" y="1091"/>
                </a:lnTo>
                <a:lnTo>
                  <a:pt x="1407" y="1150"/>
                </a:lnTo>
                <a:lnTo>
                  <a:pt x="951" y="908"/>
                </a:lnTo>
                <a:close/>
                <a:moveTo>
                  <a:pt x="1302" y="920"/>
                </a:moveTo>
                <a:lnTo>
                  <a:pt x="1302" y="920"/>
                </a:lnTo>
                <a:lnTo>
                  <a:pt x="1344" y="916"/>
                </a:lnTo>
                <a:lnTo>
                  <a:pt x="1380" y="917"/>
                </a:lnTo>
                <a:lnTo>
                  <a:pt x="1414" y="920"/>
                </a:lnTo>
                <a:lnTo>
                  <a:pt x="1429" y="922"/>
                </a:lnTo>
                <a:lnTo>
                  <a:pt x="1443" y="924"/>
                </a:lnTo>
                <a:lnTo>
                  <a:pt x="1456" y="927"/>
                </a:lnTo>
                <a:lnTo>
                  <a:pt x="1467" y="931"/>
                </a:lnTo>
                <a:lnTo>
                  <a:pt x="1478" y="935"/>
                </a:lnTo>
                <a:lnTo>
                  <a:pt x="1487" y="939"/>
                </a:lnTo>
                <a:lnTo>
                  <a:pt x="1494" y="944"/>
                </a:lnTo>
                <a:lnTo>
                  <a:pt x="1500" y="948"/>
                </a:lnTo>
                <a:lnTo>
                  <a:pt x="1505" y="954"/>
                </a:lnTo>
                <a:lnTo>
                  <a:pt x="1509" y="959"/>
                </a:lnTo>
                <a:lnTo>
                  <a:pt x="1509" y="959"/>
                </a:lnTo>
                <a:lnTo>
                  <a:pt x="1510" y="965"/>
                </a:lnTo>
                <a:lnTo>
                  <a:pt x="1510" y="970"/>
                </a:lnTo>
                <a:lnTo>
                  <a:pt x="1509" y="976"/>
                </a:lnTo>
                <a:lnTo>
                  <a:pt x="1506" y="982"/>
                </a:lnTo>
                <a:lnTo>
                  <a:pt x="1502" y="990"/>
                </a:lnTo>
                <a:lnTo>
                  <a:pt x="1497" y="998"/>
                </a:lnTo>
                <a:lnTo>
                  <a:pt x="1489" y="1005"/>
                </a:lnTo>
                <a:lnTo>
                  <a:pt x="1480" y="1014"/>
                </a:lnTo>
                <a:lnTo>
                  <a:pt x="1302" y="920"/>
                </a:lnTo>
                <a:close/>
                <a:moveTo>
                  <a:pt x="1564" y="1591"/>
                </a:moveTo>
                <a:lnTo>
                  <a:pt x="1412" y="1645"/>
                </a:lnTo>
                <a:lnTo>
                  <a:pt x="1412" y="1179"/>
                </a:lnTo>
                <a:lnTo>
                  <a:pt x="1572" y="1118"/>
                </a:lnTo>
                <a:lnTo>
                  <a:pt x="1564" y="1591"/>
                </a:lnTo>
                <a:close/>
                <a:moveTo>
                  <a:pt x="1572" y="1065"/>
                </a:moveTo>
                <a:lnTo>
                  <a:pt x="1508" y="1030"/>
                </a:lnTo>
                <a:lnTo>
                  <a:pt x="1508" y="1030"/>
                </a:lnTo>
                <a:lnTo>
                  <a:pt x="1516" y="1020"/>
                </a:lnTo>
                <a:lnTo>
                  <a:pt x="1524" y="1010"/>
                </a:lnTo>
                <a:lnTo>
                  <a:pt x="1531" y="1000"/>
                </a:lnTo>
                <a:lnTo>
                  <a:pt x="1536" y="990"/>
                </a:lnTo>
                <a:lnTo>
                  <a:pt x="1538" y="979"/>
                </a:lnTo>
                <a:lnTo>
                  <a:pt x="1539" y="969"/>
                </a:lnTo>
                <a:lnTo>
                  <a:pt x="1538" y="958"/>
                </a:lnTo>
                <a:lnTo>
                  <a:pt x="1535" y="948"/>
                </a:lnTo>
                <a:lnTo>
                  <a:pt x="1535" y="948"/>
                </a:lnTo>
                <a:lnTo>
                  <a:pt x="1530" y="937"/>
                </a:lnTo>
                <a:lnTo>
                  <a:pt x="1522" y="927"/>
                </a:lnTo>
                <a:lnTo>
                  <a:pt x="1511" y="919"/>
                </a:lnTo>
                <a:lnTo>
                  <a:pt x="1500" y="912"/>
                </a:lnTo>
                <a:lnTo>
                  <a:pt x="1486" y="905"/>
                </a:lnTo>
                <a:lnTo>
                  <a:pt x="1470" y="900"/>
                </a:lnTo>
                <a:lnTo>
                  <a:pt x="1454" y="895"/>
                </a:lnTo>
                <a:lnTo>
                  <a:pt x="1435" y="892"/>
                </a:lnTo>
                <a:lnTo>
                  <a:pt x="1416" y="889"/>
                </a:lnTo>
                <a:lnTo>
                  <a:pt x="1395" y="888"/>
                </a:lnTo>
                <a:lnTo>
                  <a:pt x="1375" y="887"/>
                </a:lnTo>
                <a:lnTo>
                  <a:pt x="1351" y="887"/>
                </a:lnTo>
                <a:lnTo>
                  <a:pt x="1329" y="888"/>
                </a:lnTo>
                <a:lnTo>
                  <a:pt x="1306" y="890"/>
                </a:lnTo>
                <a:lnTo>
                  <a:pt x="1282" y="892"/>
                </a:lnTo>
                <a:lnTo>
                  <a:pt x="1258" y="895"/>
                </a:lnTo>
                <a:lnTo>
                  <a:pt x="1237" y="884"/>
                </a:lnTo>
                <a:lnTo>
                  <a:pt x="1557" y="777"/>
                </a:lnTo>
                <a:lnTo>
                  <a:pt x="1895" y="949"/>
                </a:lnTo>
                <a:lnTo>
                  <a:pt x="1572" y="1065"/>
                </a:lnTo>
                <a:close/>
                <a:moveTo>
                  <a:pt x="566" y="1168"/>
                </a:moveTo>
                <a:lnTo>
                  <a:pt x="566" y="1202"/>
                </a:lnTo>
                <a:lnTo>
                  <a:pt x="978" y="1419"/>
                </a:lnTo>
                <a:lnTo>
                  <a:pt x="978" y="1385"/>
                </a:lnTo>
                <a:lnTo>
                  <a:pt x="566" y="1168"/>
                </a:lnTo>
                <a:close/>
                <a:moveTo>
                  <a:pt x="570" y="1319"/>
                </a:moveTo>
                <a:lnTo>
                  <a:pt x="570" y="1352"/>
                </a:lnTo>
                <a:lnTo>
                  <a:pt x="946" y="1550"/>
                </a:lnTo>
                <a:lnTo>
                  <a:pt x="946" y="1517"/>
                </a:lnTo>
                <a:lnTo>
                  <a:pt x="570" y="1319"/>
                </a:lnTo>
                <a:close/>
              </a:path>
            </a:pathLst>
          </a:custGeom>
          <a:solidFill>
            <a:srgbClr val="FFE600"/>
          </a:solidFill>
          <a:ln>
            <a:noFill/>
          </a:ln>
        </p:spPr>
        <p:txBody>
          <a:bodyPr vert="horz" wrap="square" lIns="91392" tIns="45696" rIns="91392" bIns="45696" anchor="t"/>
          <a:lstStyle/>
          <a:p>
            <a:pPr eaLnBrk="0" fontAlgn="base" hangingPunct="0">
              <a:spcBef>
                <a:spcPct val="0"/>
              </a:spcBef>
              <a:spcAft>
                <a:spcPct val="0"/>
              </a:spcAft>
            </a:pPr>
            <a:endParaRPr lang="de-DE" sz="1599">
              <a:solidFill>
                <a:srgbClr val="FFFFFF"/>
              </a:solidFill>
              <a:latin typeface="EY interstate"/>
            </a:endParaRPr>
          </a:p>
        </p:txBody>
      </p:sp>
      <p:cxnSp>
        <p:nvCxnSpPr>
          <p:cNvPr id="30" name="Straight Connector 29">
            <a:extLst>
              <a:ext uri="{FF2B5EF4-FFF2-40B4-BE49-F238E27FC236}">
                <a16:creationId xmlns:a16="http://schemas.microsoft.com/office/drawing/2014/main" id="{ACBFAE4D-C09D-B08B-190D-3E0A7465E5BF}"/>
              </a:ext>
            </a:extLst>
          </p:cNvPr>
          <p:cNvCxnSpPr>
            <a:cxnSpLocks/>
          </p:cNvCxnSpPr>
          <p:nvPr/>
        </p:nvCxnSpPr>
        <p:spPr>
          <a:xfrm>
            <a:off x="6104205" y="3021907"/>
            <a:ext cx="6694" cy="3488602"/>
          </a:xfrm>
          <a:prstGeom prst="line">
            <a:avLst/>
          </a:prstGeom>
          <a:noFill/>
          <a:ln w="9525" cap="flat" cmpd="sng" algn="ctr">
            <a:solidFill>
              <a:schemeClr val="tx1"/>
            </a:solidFill>
            <a:prstDash val="dash"/>
            <a:tailEnd type="none"/>
          </a:ln>
          <a:effectLst/>
        </p:spPr>
      </p:cxnSp>
      <p:cxnSp>
        <p:nvCxnSpPr>
          <p:cNvPr id="31" name="Straight Connector 30">
            <a:extLst>
              <a:ext uri="{FF2B5EF4-FFF2-40B4-BE49-F238E27FC236}">
                <a16:creationId xmlns:a16="http://schemas.microsoft.com/office/drawing/2014/main" id="{E7CD2FE8-44E5-2186-61AB-A38509C5BF5E}"/>
              </a:ext>
            </a:extLst>
          </p:cNvPr>
          <p:cNvCxnSpPr>
            <a:cxnSpLocks/>
          </p:cNvCxnSpPr>
          <p:nvPr/>
        </p:nvCxnSpPr>
        <p:spPr>
          <a:xfrm>
            <a:off x="860532" y="4641184"/>
            <a:ext cx="11036994" cy="0"/>
          </a:xfrm>
          <a:prstGeom prst="line">
            <a:avLst/>
          </a:prstGeom>
          <a:noFill/>
          <a:ln w="9525" cap="flat" cmpd="sng" algn="ctr">
            <a:solidFill>
              <a:schemeClr val="tx1"/>
            </a:solidFill>
            <a:prstDash val="dash"/>
            <a:tailEnd type="none"/>
          </a:ln>
          <a:effectLst/>
        </p:spPr>
      </p:cxnSp>
      <p:sp>
        <p:nvSpPr>
          <p:cNvPr id="32" name="Rectangle 31">
            <a:extLst>
              <a:ext uri="{FF2B5EF4-FFF2-40B4-BE49-F238E27FC236}">
                <a16:creationId xmlns:a16="http://schemas.microsoft.com/office/drawing/2014/main" id="{EB38D2AD-3D37-C157-2A75-617B34B43091}"/>
              </a:ext>
            </a:extLst>
          </p:cNvPr>
          <p:cNvSpPr/>
          <p:nvPr/>
        </p:nvSpPr>
        <p:spPr>
          <a:xfrm>
            <a:off x="452720" y="1952752"/>
            <a:ext cx="11485539" cy="711860"/>
          </a:xfrm>
          <a:prstGeom prst="rect">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171450" indent="-171450">
              <a:spcAft>
                <a:spcPts val="600"/>
              </a:spcAft>
              <a:buSzPct val="70000"/>
              <a:buFont typeface="Arial" panose="020B0604020202020204" pitchFamily="34" charset="0"/>
              <a:buChar char="►"/>
            </a:pPr>
            <a:r>
              <a:rPr lang="en-US" sz="1200">
                <a:solidFill>
                  <a:schemeClr val="tx1"/>
                </a:solidFill>
                <a:latin typeface="EY interstate"/>
                <a:ea typeface="EYInterstate" charset="0"/>
                <a:cs typeface="Arial" panose="020B0604020202020204" pitchFamily="34" charset="0"/>
              </a:rPr>
              <a:t>The reconciliation and settlement of a company’s Intercompany trading balances is a challenge that grows significantly with the number of subsidiaries and systems.</a:t>
            </a:r>
          </a:p>
          <a:p>
            <a:pPr marL="171450" indent="-171450">
              <a:spcAft>
                <a:spcPts val="600"/>
              </a:spcAft>
              <a:buSzPct val="70000"/>
              <a:buFont typeface="Arial" panose="020B0604020202020204" pitchFamily="34" charset="0"/>
              <a:buChar char="►"/>
            </a:pPr>
            <a:r>
              <a:rPr lang="en-US" sz="1200">
                <a:solidFill>
                  <a:schemeClr val="tx1"/>
                </a:solidFill>
                <a:latin typeface="EY interstate"/>
                <a:ea typeface="EYInterstate" charset="0"/>
                <a:cs typeface="Arial" panose="020B0604020202020204" pitchFamily="34" charset="0"/>
              </a:rPr>
              <a:t>As volume grows, the use of spreadsheets, email or verbal approvals or other work arounds exposes organizations to significant financial, compliance and reputational risk.</a:t>
            </a:r>
          </a:p>
          <a:p>
            <a:pPr algn="ctr"/>
            <a:endParaRPr lang="en-US" sz="1200">
              <a:solidFill>
                <a:srgbClr val="000000"/>
              </a:solidFill>
              <a:latin typeface="EY interstate"/>
            </a:endParaRPr>
          </a:p>
        </p:txBody>
      </p:sp>
      <p:sp>
        <p:nvSpPr>
          <p:cNvPr id="33" name="TextBox 32">
            <a:extLst>
              <a:ext uri="{FF2B5EF4-FFF2-40B4-BE49-F238E27FC236}">
                <a16:creationId xmlns:a16="http://schemas.microsoft.com/office/drawing/2014/main" id="{8BD0129A-EDE7-D5AA-F7EC-FFE840748A17}"/>
              </a:ext>
            </a:extLst>
          </p:cNvPr>
          <p:cNvSpPr txBox="1"/>
          <p:nvPr/>
        </p:nvSpPr>
        <p:spPr>
          <a:xfrm>
            <a:off x="452720" y="1617587"/>
            <a:ext cx="11485539" cy="203063"/>
          </a:xfrm>
          <a:prstGeom prst="rect">
            <a:avLst/>
          </a:prstGeom>
          <a:noFill/>
          <a:ln>
            <a:solidFill>
              <a:srgbClr val="FFE600"/>
            </a:solidFill>
          </a:ln>
        </p:spPr>
        <p:txBody>
          <a:bodyPr wrap="square" lIns="0" tIns="0" rIns="0" bIns="0" rtlCol="0" anchor="ctr">
            <a:noAutofit/>
          </a:bodyPr>
          <a:lstStyle>
            <a:defPPr>
              <a:defRPr lang="en-US"/>
            </a:defPPr>
            <a:lvl1pPr lvl="0" algn="ctr" fontAlgn="base">
              <a:spcBef>
                <a:spcPct val="0"/>
              </a:spcBef>
              <a:spcAft>
                <a:spcPct val="0"/>
              </a:spcAft>
              <a:defRPr sz="1200" b="1" kern="0">
                <a:solidFill>
                  <a:schemeClr val="tx1">
                    <a:lumMod val="65000"/>
                    <a:lumOff val="35000"/>
                  </a:schemeClr>
                </a:solidFill>
              </a:defRPr>
            </a:lvl1pPr>
          </a:lstStyle>
          <a:p>
            <a:r>
              <a:rPr lang="en-US">
                <a:solidFill>
                  <a:schemeClr val="bg1"/>
                </a:solidFill>
                <a:latin typeface="EY interstate"/>
                <a:ea typeface="EYInterstate" charset="0"/>
                <a:cs typeface="Arial" panose="020B0604020202020204" pitchFamily="34" charset="0"/>
              </a:rPr>
              <a:t>Drivers &amp; Considerations</a:t>
            </a:r>
            <a:endParaRPr lang="en-IN">
              <a:solidFill>
                <a:schemeClr val="bg1"/>
              </a:solidFill>
              <a:latin typeface="EY interstate"/>
              <a:ea typeface="EYInterstate" charset="0"/>
              <a:cs typeface="Arial" panose="020B0604020202020204" pitchFamily="34" charset="0"/>
            </a:endParaRPr>
          </a:p>
        </p:txBody>
      </p:sp>
    </p:spTree>
    <p:extLst>
      <p:ext uri="{BB962C8B-B14F-4D97-AF65-F5344CB8AC3E}">
        <p14:creationId xmlns:p14="http://schemas.microsoft.com/office/powerpoint/2010/main" val="140452498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880028-8B70-66D3-034B-A0F71B09A04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16DB8AB-2F3D-7463-8943-DE5259E92CC9}"/>
              </a:ext>
            </a:extLst>
          </p:cNvPr>
          <p:cNvSpPr txBox="1">
            <a:spLocks/>
          </p:cNvSpPr>
          <p:nvPr/>
        </p:nvSpPr>
        <p:spPr>
          <a:xfrm>
            <a:off x="600097" y="434196"/>
            <a:ext cx="8244486" cy="330724"/>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Intercompany Balancing &amp; Resolve</a:t>
            </a:r>
          </a:p>
        </p:txBody>
      </p:sp>
      <p:sp>
        <p:nvSpPr>
          <p:cNvPr id="4" name="Rectangle: Rounded Corners 3">
            <a:extLst>
              <a:ext uri="{FF2B5EF4-FFF2-40B4-BE49-F238E27FC236}">
                <a16:creationId xmlns:a16="http://schemas.microsoft.com/office/drawing/2014/main" id="{B45F67C8-6000-D5DA-A416-C45644562E85}"/>
              </a:ext>
            </a:extLst>
          </p:cNvPr>
          <p:cNvSpPr/>
          <p:nvPr/>
        </p:nvSpPr>
        <p:spPr>
          <a:xfrm>
            <a:off x="187706" y="2100375"/>
            <a:ext cx="1336595" cy="874355"/>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lvl="0" algn="ctr" defTabSz="914400">
              <a:defRPr/>
            </a:pPr>
            <a:r>
              <a:rPr lang="en-US" sz="900">
                <a:solidFill>
                  <a:schemeClr val="bg1"/>
                </a:solidFill>
                <a:latin typeface="EY interstate"/>
                <a:cs typeface="Arial" panose="020B0604020202020204" pitchFamily="34" charset="0"/>
              </a:rPr>
              <a:t>Intercompany Account receivable Line Items queried from Invoice data tables in ERPs</a:t>
            </a:r>
          </a:p>
        </p:txBody>
      </p:sp>
      <p:sp>
        <p:nvSpPr>
          <p:cNvPr id="5" name="Rectangle: Rounded Corners 4">
            <a:extLst>
              <a:ext uri="{FF2B5EF4-FFF2-40B4-BE49-F238E27FC236}">
                <a16:creationId xmlns:a16="http://schemas.microsoft.com/office/drawing/2014/main" id="{CCBF314F-E3F5-C482-5A6D-61B13B1FD1F6}"/>
              </a:ext>
            </a:extLst>
          </p:cNvPr>
          <p:cNvSpPr/>
          <p:nvPr/>
        </p:nvSpPr>
        <p:spPr>
          <a:xfrm>
            <a:off x="187706" y="3169908"/>
            <a:ext cx="1336595" cy="874356"/>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lvl="0" algn="ctr" defTabSz="914400">
              <a:defRPr/>
            </a:pPr>
            <a:r>
              <a:rPr lang="en-US" sz="900">
                <a:solidFill>
                  <a:schemeClr val="bg1"/>
                </a:solidFill>
                <a:latin typeface="EY interstate"/>
                <a:cs typeface="Arial" panose="020B0604020202020204" pitchFamily="34" charset="0"/>
              </a:rPr>
              <a:t>Intercompany Accounts payables Line Items Queried from Purchase order data Sources In ERPs</a:t>
            </a:r>
          </a:p>
        </p:txBody>
      </p:sp>
      <p:sp>
        <p:nvSpPr>
          <p:cNvPr id="6" name="Rectangle: Rounded Corners 5">
            <a:extLst>
              <a:ext uri="{FF2B5EF4-FFF2-40B4-BE49-F238E27FC236}">
                <a16:creationId xmlns:a16="http://schemas.microsoft.com/office/drawing/2014/main" id="{BCA433E0-1EE2-A91D-02FF-B0A4035CF0F8}"/>
              </a:ext>
            </a:extLst>
          </p:cNvPr>
          <p:cNvSpPr/>
          <p:nvPr/>
        </p:nvSpPr>
        <p:spPr>
          <a:xfrm>
            <a:off x="187706" y="4145067"/>
            <a:ext cx="1336595" cy="974823"/>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Additional I</a:t>
            </a:r>
            <a:r>
              <a:rPr lang="en-US" sz="900" err="1">
                <a:solidFill>
                  <a:schemeClr val="bg1"/>
                </a:solidFill>
                <a:latin typeface="EY interstate"/>
                <a:cs typeface="Arial" panose="020B0604020202020204" pitchFamily="34" charset="0"/>
              </a:rPr>
              <a:t>ntercompany</a:t>
            </a: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 Trade Data (Chargebacks, Rebates) queried from ERP Data Sources1</a:t>
            </a:r>
          </a:p>
        </p:txBody>
      </p:sp>
      <p:cxnSp>
        <p:nvCxnSpPr>
          <p:cNvPr id="8" name="Connector: Elbow 7">
            <a:extLst>
              <a:ext uri="{FF2B5EF4-FFF2-40B4-BE49-F238E27FC236}">
                <a16:creationId xmlns:a16="http://schemas.microsoft.com/office/drawing/2014/main" id="{2F591ED8-B273-A59E-341D-BFB3DC9961EA}"/>
              </a:ext>
            </a:extLst>
          </p:cNvPr>
          <p:cNvCxnSpPr>
            <a:cxnSpLocks/>
            <a:endCxn id="14" idx="0"/>
          </p:cNvCxnSpPr>
          <p:nvPr/>
        </p:nvCxnSpPr>
        <p:spPr>
          <a:xfrm>
            <a:off x="1537820" y="2460844"/>
            <a:ext cx="1002591" cy="845098"/>
          </a:xfrm>
          <a:prstGeom prst="bentConnector2">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Elbow 87">
            <a:extLst>
              <a:ext uri="{FF2B5EF4-FFF2-40B4-BE49-F238E27FC236}">
                <a16:creationId xmlns:a16="http://schemas.microsoft.com/office/drawing/2014/main" id="{B6AC18B4-35D9-565E-7066-E0BD8B26510A}"/>
              </a:ext>
            </a:extLst>
          </p:cNvPr>
          <p:cNvCxnSpPr>
            <a:cxnSpLocks/>
          </p:cNvCxnSpPr>
          <p:nvPr/>
        </p:nvCxnSpPr>
        <p:spPr>
          <a:xfrm>
            <a:off x="1524301" y="3576983"/>
            <a:ext cx="348970"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1F2C29A0-8320-AF48-0588-183C5377A719}"/>
              </a:ext>
            </a:extLst>
          </p:cNvPr>
          <p:cNvCxnSpPr>
            <a:cxnSpLocks/>
            <a:endCxn id="14" idx="2"/>
          </p:cNvCxnSpPr>
          <p:nvPr/>
        </p:nvCxnSpPr>
        <p:spPr>
          <a:xfrm flipV="1">
            <a:off x="1534286" y="3918583"/>
            <a:ext cx="1006125" cy="905124"/>
          </a:xfrm>
          <a:prstGeom prst="bentConnector2">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a16:creationId xmlns:a16="http://schemas.microsoft.com/office/drawing/2014/main" id="{B8397B40-505D-921B-B31A-DA176D8D9917}"/>
              </a:ext>
            </a:extLst>
          </p:cNvPr>
          <p:cNvSpPr/>
          <p:nvPr/>
        </p:nvSpPr>
        <p:spPr>
          <a:xfrm>
            <a:off x="1959767" y="3305942"/>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Data Tables sent to Blackline Intercompany Hub via FTP Site</a:t>
            </a:r>
          </a:p>
        </p:txBody>
      </p:sp>
      <p:sp>
        <p:nvSpPr>
          <p:cNvPr id="16" name="Rectangle 15">
            <a:extLst>
              <a:ext uri="{FF2B5EF4-FFF2-40B4-BE49-F238E27FC236}">
                <a16:creationId xmlns:a16="http://schemas.microsoft.com/office/drawing/2014/main" id="{577D89CD-9973-D58C-6489-81EDB236DA8B}"/>
              </a:ext>
            </a:extLst>
          </p:cNvPr>
          <p:cNvSpPr/>
          <p:nvPr/>
        </p:nvSpPr>
        <p:spPr>
          <a:xfrm>
            <a:off x="187706" y="1075104"/>
            <a:ext cx="11775694" cy="480616"/>
          </a:xfrm>
          <a:prstGeom prst="rect">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i="0" u="none" strike="noStrike" kern="1200" cap="none" spc="0" normalizeH="0" baseline="0" noProof="0">
                <a:ln>
                  <a:noFill/>
                </a:ln>
                <a:solidFill>
                  <a:schemeClr val="tx1"/>
                </a:solidFill>
                <a:effectLst/>
                <a:uLnTx/>
                <a:uFillTx/>
                <a:latin typeface="EY interstate"/>
                <a:cs typeface="Arial" panose="020B0604020202020204" pitchFamily="34" charset="0"/>
              </a:rPr>
              <a:t>This is a brief and detailed presentation of how the Intercompany Account receivable and Account payable transactions are brought into </a:t>
            </a:r>
            <a:r>
              <a:rPr kumimoji="0" lang="en-US" sz="1100" i="0" u="none" strike="noStrike" kern="1200" cap="none" spc="0" normalizeH="0" baseline="0" noProof="0" err="1">
                <a:ln>
                  <a:noFill/>
                </a:ln>
                <a:solidFill>
                  <a:schemeClr val="tx1"/>
                </a:solidFill>
                <a:effectLst/>
                <a:uLnTx/>
                <a:uFillTx/>
                <a:latin typeface="EY interstate"/>
                <a:cs typeface="Arial" panose="020B0604020202020204" pitchFamily="34" charset="0"/>
              </a:rPr>
              <a:t>BlackLine</a:t>
            </a:r>
            <a:r>
              <a:rPr kumimoji="0" lang="en-US" sz="1100" i="0" u="none" strike="noStrike" kern="1200" cap="none" spc="0" normalizeH="0" baseline="0" noProof="0">
                <a:ln>
                  <a:noFill/>
                </a:ln>
                <a:solidFill>
                  <a:schemeClr val="tx1"/>
                </a:solidFill>
                <a:effectLst/>
                <a:uLnTx/>
                <a:uFillTx/>
                <a:latin typeface="EY interstate"/>
                <a:cs typeface="Arial" panose="020B0604020202020204" pitchFamily="34" charset="0"/>
              </a:rPr>
              <a:t> via File Transfer Protocol (FTP) connections, where further these transactions are matched based on the various pass rules. If the match is approved, the transactions are matched and are further processed for settlements</a:t>
            </a:r>
            <a:r>
              <a:rPr kumimoji="0" lang="en-US" sz="1200" i="0" u="none" strike="noStrike" kern="1200" cap="none" spc="0" normalizeH="0" baseline="0" noProof="0">
                <a:ln>
                  <a:noFill/>
                </a:ln>
                <a:solidFill>
                  <a:schemeClr val="tx1"/>
                </a:solidFill>
                <a:effectLst/>
                <a:uLnTx/>
                <a:uFillTx/>
                <a:latin typeface="EY interstate"/>
                <a:cs typeface="Arial" panose="020B0604020202020204" pitchFamily="34" charset="0"/>
              </a:rPr>
              <a:t>.  </a:t>
            </a:r>
          </a:p>
        </p:txBody>
      </p:sp>
      <p:cxnSp>
        <p:nvCxnSpPr>
          <p:cNvPr id="18" name="Connector: Elbow 87">
            <a:extLst>
              <a:ext uri="{FF2B5EF4-FFF2-40B4-BE49-F238E27FC236}">
                <a16:creationId xmlns:a16="http://schemas.microsoft.com/office/drawing/2014/main" id="{887B97A7-E9CA-B7A0-9BD8-C7E17E3D72EF}"/>
              </a:ext>
            </a:extLst>
          </p:cNvPr>
          <p:cNvCxnSpPr>
            <a:cxnSpLocks/>
          </p:cNvCxnSpPr>
          <p:nvPr/>
        </p:nvCxnSpPr>
        <p:spPr>
          <a:xfrm flipV="1">
            <a:off x="3034560" y="3406781"/>
            <a:ext cx="355044" cy="673"/>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4" name="Rectangle: Rounded Corners 33">
            <a:extLst>
              <a:ext uri="{FF2B5EF4-FFF2-40B4-BE49-F238E27FC236}">
                <a16:creationId xmlns:a16="http://schemas.microsoft.com/office/drawing/2014/main" id="{A5793000-759D-14B3-A113-75D090B3CA09}"/>
              </a:ext>
            </a:extLst>
          </p:cNvPr>
          <p:cNvSpPr/>
          <p:nvPr/>
        </p:nvSpPr>
        <p:spPr>
          <a:xfrm>
            <a:off x="3415167" y="2977688"/>
            <a:ext cx="1161288" cy="1088526"/>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Data Enrichment Process in BlackLine combines ERP Queries to creates 1 Match Set</a:t>
            </a:r>
          </a:p>
        </p:txBody>
      </p:sp>
      <p:cxnSp>
        <p:nvCxnSpPr>
          <p:cNvPr id="35" name="Connector: Elbow 87">
            <a:extLst>
              <a:ext uri="{FF2B5EF4-FFF2-40B4-BE49-F238E27FC236}">
                <a16:creationId xmlns:a16="http://schemas.microsoft.com/office/drawing/2014/main" id="{313D365E-9D60-619D-20B7-1D037A6AC2ED}"/>
              </a:ext>
            </a:extLst>
          </p:cNvPr>
          <p:cNvCxnSpPr>
            <a:cxnSpLocks/>
          </p:cNvCxnSpPr>
          <p:nvPr/>
        </p:nvCxnSpPr>
        <p:spPr>
          <a:xfrm flipV="1">
            <a:off x="4550892" y="3401068"/>
            <a:ext cx="342896" cy="4963"/>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6" name="Rectangle: Rounded Corners 35">
            <a:extLst>
              <a:ext uri="{FF2B5EF4-FFF2-40B4-BE49-F238E27FC236}">
                <a16:creationId xmlns:a16="http://schemas.microsoft.com/office/drawing/2014/main" id="{639C629E-900A-4073-8B8F-B9D97F69446A}"/>
              </a:ext>
            </a:extLst>
          </p:cNvPr>
          <p:cNvSpPr/>
          <p:nvPr/>
        </p:nvSpPr>
        <p:spPr>
          <a:xfrm>
            <a:off x="4892489" y="3150738"/>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Pre-defined </a:t>
            </a:r>
            <a:r>
              <a:rPr lang="en-US" sz="900">
                <a:solidFill>
                  <a:schemeClr val="bg1"/>
                </a:solidFill>
                <a:latin typeface="EY interstate"/>
                <a:cs typeface="Arial" panose="020B0604020202020204" pitchFamily="34" charset="0"/>
              </a:rPr>
              <a:t>Pass</a:t>
            </a: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 Rules applied to Match Set</a:t>
            </a:r>
          </a:p>
        </p:txBody>
      </p:sp>
      <p:cxnSp>
        <p:nvCxnSpPr>
          <p:cNvPr id="37" name="Connector: Elbow 87">
            <a:extLst>
              <a:ext uri="{FF2B5EF4-FFF2-40B4-BE49-F238E27FC236}">
                <a16:creationId xmlns:a16="http://schemas.microsoft.com/office/drawing/2014/main" id="{7D732C18-82C9-4FCE-1FF6-280DA71C4E06}"/>
              </a:ext>
            </a:extLst>
          </p:cNvPr>
          <p:cNvCxnSpPr>
            <a:cxnSpLocks/>
          </p:cNvCxnSpPr>
          <p:nvPr/>
        </p:nvCxnSpPr>
        <p:spPr>
          <a:xfrm>
            <a:off x="6055076" y="3401442"/>
            <a:ext cx="348970" cy="4214"/>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Rounded Corners 37">
            <a:extLst>
              <a:ext uri="{FF2B5EF4-FFF2-40B4-BE49-F238E27FC236}">
                <a16:creationId xmlns:a16="http://schemas.microsoft.com/office/drawing/2014/main" id="{3E589E56-E69C-087E-FF57-E43A0D77FAE7}"/>
              </a:ext>
            </a:extLst>
          </p:cNvPr>
          <p:cNvSpPr/>
          <p:nvPr/>
        </p:nvSpPr>
        <p:spPr>
          <a:xfrm>
            <a:off x="6403180" y="2086625"/>
            <a:ext cx="1161288" cy="600933"/>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solidFill>
                <a:effectLst/>
                <a:uLnTx/>
                <a:uFillTx/>
                <a:latin typeface="EY interstate"/>
                <a:cs typeface="Arial" panose="020B0604020202020204" pitchFamily="34" charset="0"/>
              </a:rPr>
              <a:t>Automated matches identified</a:t>
            </a:r>
          </a:p>
        </p:txBody>
      </p:sp>
      <p:sp>
        <p:nvSpPr>
          <p:cNvPr id="39" name="Rectangle: Rounded Corners 38">
            <a:extLst>
              <a:ext uri="{FF2B5EF4-FFF2-40B4-BE49-F238E27FC236}">
                <a16:creationId xmlns:a16="http://schemas.microsoft.com/office/drawing/2014/main" id="{D3D3DE7B-E092-81F1-B5F1-861F770BE8E9}"/>
              </a:ext>
            </a:extLst>
          </p:cNvPr>
          <p:cNvSpPr/>
          <p:nvPr/>
        </p:nvSpPr>
        <p:spPr>
          <a:xfrm>
            <a:off x="6402307" y="3139908"/>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Suggested matches Identified</a:t>
            </a:r>
          </a:p>
        </p:txBody>
      </p:sp>
      <p:sp>
        <p:nvSpPr>
          <p:cNvPr id="40" name="Rectangle: Rounded Corners 39">
            <a:extLst>
              <a:ext uri="{FF2B5EF4-FFF2-40B4-BE49-F238E27FC236}">
                <a16:creationId xmlns:a16="http://schemas.microsoft.com/office/drawing/2014/main" id="{7F8FC9E6-BC97-EC18-0749-A030F4426465}"/>
              </a:ext>
            </a:extLst>
          </p:cNvPr>
          <p:cNvSpPr/>
          <p:nvPr/>
        </p:nvSpPr>
        <p:spPr>
          <a:xfrm>
            <a:off x="6403180" y="4599984"/>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Unmatched transactions Identified</a:t>
            </a:r>
          </a:p>
        </p:txBody>
      </p:sp>
      <p:cxnSp>
        <p:nvCxnSpPr>
          <p:cNvPr id="41" name="Connector: Elbow 87">
            <a:extLst>
              <a:ext uri="{FF2B5EF4-FFF2-40B4-BE49-F238E27FC236}">
                <a16:creationId xmlns:a16="http://schemas.microsoft.com/office/drawing/2014/main" id="{030BD864-B7CC-08C6-0EE5-7FDF145A6BC0}"/>
              </a:ext>
            </a:extLst>
          </p:cNvPr>
          <p:cNvCxnSpPr>
            <a:cxnSpLocks/>
          </p:cNvCxnSpPr>
          <p:nvPr/>
        </p:nvCxnSpPr>
        <p:spPr>
          <a:xfrm>
            <a:off x="7565334" y="3405282"/>
            <a:ext cx="348970" cy="4346"/>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42" name="Rectangle: Rounded Corners 41">
            <a:extLst>
              <a:ext uri="{FF2B5EF4-FFF2-40B4-BE49-F238E27FC236}">
                <a16:creationId xmlns:a16="http://schemas.microsoft.com/office/drawing/2014/main" id="{4E125076-B267-7401-9506-705EA12E597D}"/>
              </a:ext>
            </a:extLst>
          </p:cNvPr>
          <p:cNvSpPr/>
          <p:nvPr/>
        </p:nvSpPr>
        <p:spPr>
          <a:xfrm>
            <a:off x="7914302" y="3101134"/>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Suggested matches reviewed by Accounting Team</a:t>
            </a:r>
          </a:p>
        </p:txBody>
      </p:sp>
      <p:sp>
        <p:nvSpPr>
          <p:cNvPr id="43" name="Rectangle: Rounded Corners 42">
            <a:extLst>
              <a:ext uri="{FF2B5EF4-FFF2-40B4-BE49-F238E27FC236}">
                <a16:creationId xmlns:a16="http://schemas.microsoft.com/office/drawing/2014/main" id="{897CAEA5-0335-D9AD-5126-AD9B6997F91B}"/>
              </a:ext>
            </a:extLst>
          </p:cNvPr>
          <p:cNvSpPr/>
          <p:nvPr/>
        </p:nvSpPr>
        <p:spPr>
          <a:xfrm>
            <a:off x="7900409" y="4591202"/>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Unmatched matches reviewed by Accounting Team</a:t>
            </a:r>
          </a:p>
        </p:txBody>
      </p:sp>
      <p:cxnSp>
        <p:nvCxnSpPr>
          <p:cNvPr id="44" name="Connector: Elbow 87">
            <a:extLst>
              <a:ext uri="{FF2B5EF4-FFF2-40B4-BE49-F238E27FC236}">
                <a16:creationId xmlns:a16="http://schemas.microsoft.com/office/drawing/2014/main" id="{9452A8B5-C718-5ABE-8203-DF88D148BD20}"/>
              </a:ext>
            </a:extLst>
          </p:cNvPr>
          <p:cNvCxnSpPr>
            <a:cxnSpLocks/>
          </p:cNvCxnSpPr>
          <p:nvPr/>
        </p:nvCxnSpPr>
        <p:spPr>
          <a:xfrm flipV="1">
            <a:off x="9075591" y="3401067"/>
            <a:ext cx="348970" cy="8561"/>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45" name="Diamond 44">
            <a:extLst>
              <a:ext uri="{FF2B5EF4-FFF2-40B4-BE49-F238E27FC236}">
                <a16:creationId xmlns:a16="http://schemas.microsoft.com/office/drawing/2014/main" id="{EF9B87ED-5282-5E4C-2039-279F56E04B6D}"/>
              </a:ext>
            </a:extLst>
          </p:cNvPr>
          <p:cNvSpPr/>
          <p:nvPr/>
        </p:nvSpPr>
        <p:spPr>
          <a:xfrm rot="5400000">
            <a:off x="9536019" y="2808040"/>
            <a:ext cx="938371" cy="1161288"/>
          </a:xfrm>
          <a:prstGeom prst="diamond">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Match Approved?</a:t>
            </a:r>
          </a:p>
        </p:txBody>
      </p:sp>
      <p:sp>
        <p:nvSpPr>
          <p:cNvPr id="46" name="TextBox 45">
            <a:extLst>
              <a:ext uri="{FF2B5EF4-FFF2-40B4-BE49-F238E27FC236}">
                <a16:creationId xmlns:a16="http://schemas.microsoft.com/office/drawing/2014/main" id="{4AC19244-A4AD-BC6E-539A-AE25FD6F2F65}"/>
              </a:ext>
            </a:extLst>
          </p:cNvPr>
          <p:cNvSpPr txBox="1"/>
          <p:nvPr/>
        </p:nvSpPr>
        <p:spPr>
          <a:xfrm>
            <a:off x="10961394" y="3003856"/>
            <a:ext cx="234062" cy="143768"/>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Yes</a:t>
            </a:r>
          </a:p>
        </p:txBody>
      </p:sp>
      <p:sp>
        <p:nvSpPr>
          <p:cNvPr id="47" name="Diamond 46">
            <a:extLst>
              <a:ext uri="{FF2B5EF4-FFF2-40B4-BE49-F238E27FC236}">
                <a16:creationId xmlns:a16="http://schemas.microsoft.com/office/drawing/2014/main" id="{6C8DED4A-D2B1-830D-CC20-5D00D498469E}"/>
              </a:ext>
            </a:extLst>
          </p:cNvPr>
          <p:cNvSpPr/>
          <p:nvPr/>
        </p:nvSpPr>
        <p:spPr>
          <a:xfrm rot="5400000">
            <a:off x="9557535" y="4206895"/>
            <a:ext cx="938371" cy="1174807"/>
          </a:xfrm>
          <a:prstGeom prst="diamond">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Match Identified?</a:t>
            </a:r>
          </a:p>
        </p:txBody>
      </p:sp>
      <p:sp>
        <p:nvSpPr>
          <p:cNvPr id="48" name="TextBox 47">
            <a:extLst>
              <a:ext uri="{FF2B5EF4-FFF2-40B4-BE49-F238E27FC236}">
                <a16:creationId xmlns:a16="http://schemas.microsoft.com/office/drawing/2014/main" id="{388640E3-3276-F60B-6F37-EDB7B23B3D42}"/>
              </a:ext>
            </a:extLst>
          </p:cNvPr>
          <p:cNvSpPr txBox="1"/>
          <p:nvPr/>
        </p:nvSpPr>
        <p:spPr>
          <a:xfrm>
            <a:off x="10521504" y="4560594"/>
            <a:ext cx="234062" cy="143768"/>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Yes</a:t>
            </a:r>
          </a:p>
        </p:txBody>
      </p:sp>
      <p:sp>
        <p:nvSpPr>
          <p:cNvPr id="49" name="TextBox 48">
            <a:extLst>
              <a:ext uri="{FF2B5EF4-FFF2-40B4-BE49-F238E27FC236}">
                <a16:creationId xmlns:a16="http://schemas.microsoft.com/office/drawing/2014/main" id="{E8E21298-D477-881E-F6D8-D36F81B28AF8}"/>
              </a:ext>
            </a:extLst>
          </p:cNvPr>
          <p:cNvSpPr txBox="1"/>
          <p:nvPr/>
        </p:nvSpPr>
        <p:spPr>
          <a:xfrm>
            <a:off x="8346608" y="4279503"/>
            <a:ext cx="234062" cy="143768"/>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No</a:t>
            </a:r>
          </a:p>
        </p:txBody>
      </p:sp>
      <p:sp>
        <p:nvSpPr>
          <p:cNvPr id="50" name="Rectangle: Rounded Corners 49">
            <a:extLst>
              <a:ext uri="{FF2B5EF4-FFF2-40B4-BE49-F238E27FC236}">
                <a16:creationId xmlns:a16="http://schemas.microsoft.com/office/drawing/2014/main" id="{F3376EA8-A61D-1B0A-28D8-AEAC8ABEE7E5}"/>
              </a:ext>
            </a:extLst>
          </p:cNvPr>
          <p:cNvSpPr/>
          <p:nvPr/>
        </p:nvSpPr>
        <p:spPr>
          <a:xfrm>
            <a:off x="10100947" y="2042190"/>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Automated I</a:t>
            </a:r>
            <a:r>
              <a:rPr lang="en-US" sz="900" err="1">
                <a:solidFill>
                  <a:schemeClr val="bg1"/>
                </a:solidFill>
                <a:latin typeface="EY interstate"/>
                <a:cs typeface="Arial" panose="020B0604020202020204" pitchFamily="34" charset="0"/>
              </a:rPr>
              <a:t>ntercompany</a:t>
            </a: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 transaction template created</a:t>
            </a:r>
          </a:p>
        </p:txBody>
      </p:sp>
      <p:cxnSp>
        <p:nvCxnSpPr>
          <p:cNvPr id="51" name="Connector: Elbow 50">
            <a:extLst>
              <a:ext uri="{FF2B5EF4-FFF2-40B4-BE49-F238E27FC236}">
                <a16:creationId xmlns:a16="http://schemas.microsoft.com/office/drawing/2014/main" id="{F6D61F83-33BF-11FA-3ACB-FF5C8CEF90EA}"/>
              </a:ext>
            </a:extLst>
          </p:cNvPr>
          <p:cNvCxnSpPr>
            <a:cxnSpLocks/>
          </p:cNvCxnSpPr>
          <p:nvPr/>
        </p:nvCxnSpPr>
        <p:spPr>
          <a:xfrm rot="5400000" flipH="1" flipV="1">
            <a:off x="5566169" y="2309309"/>
            <a:ext cx="747016" cy="929614"/>
          </a:xfrm>
          <a:prstGeom prst="bentConnector2">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Connector: Elbow 87">
            <a:extLst>
              <a:ext uri="{FF2B5EF4-FFF2-40B4-BE49-F238E27FC236}">
                <a16:creationId xmlns:a16="http://schemas.microsoft.com/office/drawing/2014/main" id="{1E648B58-8389-AF60-D401-AFF9773C1905}"/>
              </a:ext>
            </a:extLst>
          </p:cNvPr>
          <p:cNvCxnSpPr>
            <a:cxnSpLocks/>
          </p:cNvCxnSpPr>
          <p:nvPr/>
        </p:nvCxnSpPr>
        <p:spPr>
          <a:xfrm>
            <a:off x="7565334" y="2347730"/>
            <a:ext cx="2512339" cy="5854"/>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Connector: Elbow 52">
            <a:extLst>
              <a:ext uri="{FF2B5EF4-FFF2-40B4-BE49-F238E27FC236}">
                <a16:creationId xmlns:a16="http://schemas.microsoft.com/office/drawing/2014/main" id="{CC77758E-8909-C3E8-34F5-8A6339E8C924}"/>
              </a:ext>
            </a:extLst>
          </p:cNvPr>
          <p:cNvCxnSpPr>
            <a:cxnSpLocks/>
            <a:stCxn id="36" idx="2"/>
            <a:endCxn id="40" idx="1"/>
          </p:cNvCxnSpPr>
          <p:nvPr/>
        </p:nvCxnSpPr>
        <p:spPr>
          <a:xfrm rot="16200000" flipH="1">
            <a:off x="5366693" y="3869818"/>
            <a:ext cx="1142926" cy="930047"/>
          </a:xfrm>
          <a:prstGeom prst="bentConnector2">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4" name="Rectangle: Rounded Corners 53">
            <a:extLst>
              <a:ext uri="{FF2B5EF4-FFF2-40B4-BE49-F238E27FC236}">
                <a16:creationId xmlns:a16="http://schemas.microsoft.com/office/drawing/2014/main" id="{2E8BFEB4-3535-0521-AA64-91C8C0407F69}"/>
              </a:ext>
            </a:extLst>
          </p:cNvPr>
          <p:cNvSpPr/>
          <p:nvPr/>
        </p:nvSpPr>
        <p:spPr>
          <a:xfrm>
            <a:off x="9574277" y="5870770"/>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Unmatched Transaction Handling</a:t>
            </a:r>
          </a:p>
        </p:txBody>
      </p:sp>
      <p:sp>
        <p:nvSpPr>
          <p:cNvPr id="55" name="TextBox 54">
            <a:extLst>
              <a:ext uri="{FF2B5EF4-FFF2-40B4-BE49-F238E27FC236}">
                <a16:creationId xmlns:a16="http://schemas.microsoft.com/office/drawing/2014/main" id="{C60971F1-4CEE-BDED-5034-B2134B0CDF83}"/>
              </a:ext>
            </a:extLst>
          </p:cNvPr>
          <p:cNvSpPr txBox="1"/>
          <p:nvPr/>
        </p:nvSpPr>
        <p:spPr>
          <a:xfrm>
            <a:off x="10071325" y="5500273"/>
            <a:ext cx="238016" cy="138499"/>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EY interstate"/>
                <a:cs typeface="Arial" panose="020B0604020202020204" pitchFamily="34" charset="0"/>
              </a:rPr>
              <a:t>No</a:t>
            </a:r>
          </a:p>
        </p:txBody>
      </p:sp>
      <p:sp>
        <p:nvSpPr>
          <p:cNvPr id="56" name="Rectangle: Rounded Corners 55">
            <a:extLst>
              <a:ext uri="{FF2B5EF4-FFF2-40B4-BE49-F238E27FC236}">
                <a16:creationId xmlns:a16="http://schemas.microsoft.com/office/drawing/2014/main" id="{54CAF337-92EB-0C1A-669F-BBB86E5F15BC}"/>
              </a:ext>
            </a:extLst>
          </p:cNvPr>
          <p:cNvSpPr/>
          <p:nvPr/>
        </p:nvSpPr>
        <p:spPr>
          <a:xfrm>
            <a:off x="3212082" y="1631782"/>
            <a:ext cx="8579231" cy="4916298"/>
          </a:xfrm>
          <a:prstGeom prst="roundRect">
            <a:avLst/>
          </a:prstGeom>
          <a:noFill/>
          <a:ln>
            <a:solidFill>
              <a:schemeClr val="bg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EY interstate"/>
            </a:endParaRPr>
          </a:p>
        </p:txBody>
      </p:sp>
      <p:cxnSp>
        <p:nvCxnSpPr>
          <p:cNvPr id="57" name="Connector: Elbow 87">
            <a:extLst>
              <a:ext uri="{FF2B5EF4-FFF2-40B4-BE49-F238E27FC236}">
                <a16:creationId xmlns:a16="http://schemas.microsoft.com/office/drawing/2014/main" id="{66ECD8E5-1721-7DEC-AA48-B97031ED3681}"/>
              </a:ext>
            </a:extLst>
          </p:cNvPr>
          <p:cNvCxnSpPr>
            <a:cxnSpLocks/>
          </p:cNvCxnSpPr>
          <p:nvPr/>
        </p:nvCxnSpPr>
        <p:spPr>
          <a:xfrm>
            <a:off x="7564468" y="4741315"/>
            <a:ext cx="349834"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Connector: Elbow 87">
            <a:extLst>
              <a:ext uri="{FF2B5EF4-FFF2-40B4-BE49-F238E27FC236}">
                <a16:creationId xmlns:a16="http://schemas.microsoft.com/office/drawing/2014/main" id="{2DE28371-FE8A-D446-02C0-CB0AB425A234}"/>
              </a:ext>
            </a:extLst>
          </p:cNvPr>
          <p:cNvCxnSpPr>
            <a:cxnSpLocks/>
          </p:cNvCxnSpPr>
          <p:nvPr/>
        </p:nvCxnSpPr>
        <p:spPr>
          <a:xfrm>
            <a:off x="9075590" y="4782393"/>
            <a:ext cx="349834"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D10A7A1D-EB16-2A8C-D924-6EDAE16BC7E7}"/>
              </a:ext>
            </a:extLst>
          </p:cNvPr>
          <p:cNvCxnSpPr>
            <a:cxnSpLocks/>
            <a:stCxn id="45" idx="3"/>
            <a:endCxn id="40" idx="0"/>
          </p:cNvCxnSpPr>
          <p:nvPr/>
        </p:nvCxnSpPr>
        <p:spPr>
          <a:xfrm rot="5400000">
            <a:off x="8123458" y="2718237"/>
            <a:ext cx="742114" cy="3021381"/>
          </a:xfrm>
          <a:prstGeom prst="bentConnector3">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4FD1B88C-DA6A-ECDB-A4F4-E564282ED0A6}"/>
              </a:ext>
            </a:extLst>
          </p:cNvPr>
          <p:cNvCxnSpPr>
            <a:cxnSpLocks/>
            <a:stCxn id="47" idx="3"/>
          </p:cNvCxnSpPr>
          <p:nvPr/>
        </p:nvCxnSpPr>
        <p:spPr>
          <a:xfrm>
            <a:off x="10026720" y="5263484"/>
            <a:ext cx="0" cy="597373"/>
          </a:xfrm>
          <a:prstGeom prst="straightConnector1">
            <a:avLst/>
          </a:prstGeom>
          <a:ln>
            <a:solidFill>
              <a:schemeClr val="bg1"/>
            </a:solidFill>
            <a:tailEnd type="triangle"/>
          </a:ln>
        </p:spPr>
        <p:style>
          <a:lnRef idx="1">
            <a:schemeClr val="dk1"/>
          </a:lnRef>
          <a:fillRef idx="0">
            <a:schemeClr val="dk1"/>
          </a:fillRef>
          <a:effectRef idx="0">
            <a:schemeClr val="dk1"/>
          </a:effectRef>
          <a:fontRef idx="minor">
            <a:schemeClr val="tx1"/>
          </a:fontRef>
        </p:style>
      </p:cxnSp>
      <p:cxnSp>
        <p:nvCxnSpPr>
          <p:cNvPr id="61" name="Straight Arrow Connector 60">
            <a:extLst>
              <a:ext uri="{FF2B5EF4-FFF2-40B4-BE49-F238E27FC236}">
                <a16:creationId xmlns:a16="http://schemas.microsoft.com/office/drawing/2014/main" id="{10CF2C13-CD1B-54E1-9DF5-7AFE649B6F98}"/>
              </a:ext>
            </a:extLst>
          </p:cNvPr>
          <p:cNvCxnSpPr>
            <a:cxnSpLocks/>
          </p:cNvCxnSpPr>
          <p:nvPr/>
        </p:nvCxnSpPr>
        <p:spPr>
          <a:xfrm flipH="1" flipV="1">
            <a:off x="10816683" y="2654832"/>
            <a:ext cx="16978" cy="733852"/>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4925DF5E-D559-4BAD-A714-19108EAAD6C7}"/>
              </a:ext>
            </a:extLst>
          </p:cNvPr>
          <p:cNvCxnSpPr>
            <a:stCxn id="45" idx="0"/>
          </p:cNvCxnSpPr>
          <p:nvPr/>
        </p:nvCxnSpPr>
        <p:spPr>
          <a:xfrm flipV="1">
            <a:off x="10585849" y="3388684"/>
            <a:ext cx="264288" cy="1"/>
          </a:xfrm>
          <a:prstGeom prst="line">
            <a:avLst/>
          </a:prstGeom>
          <a:ln>
            <a:solidFill>
              <a:schemeClr val="bg1"/>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753107D0-C74F-00D2-F7C3-608DFAB588E1}"/>
              </a:ext>
            </a:extLst>
          </p:cNvPr>
          <p:cNvCxnSpPr>
            <a:cxnSpLocks/>
          </p:cNvCxnSpPr>
          <p:nvPr/>
        </p:nvCxnSpPr>
        <p:spPr>
          <a:xfrm>
            <a:off x="10846593" y="3407454"/>
            <a:ext cx="30786" cy="1374939"/>
          </a:xfrm>
          <a:prstGeom prst="line">
            <a:avLst/>
          </a:prstGeom>
          <a:ln>
            <a:solidFill>
              <a:schemeClr val="bg1"/>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86016EB5-05CC-EFF9-8BA8-2ABC59B242F0}"/>
              </a:ext>
            </a:extLst>
          </p:cNvPr>
          <p:cNvCxnSpPr>
            <a:stCxn id="47" idx="0"/>
          </p:cNvCxnSpPr>
          <p:nvPr/>
        </p:nvCxnSpPr>
        <p:spPr>
          <a:xfrm flipV="1">
            <a:off x="10614124" y="4794298"/>
            <a:ext cx="263255" cy="1"/>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1585891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CE2C32-E0D7-1E95-F186-424785B98346}"/>
            </a:ext>
          </a:extLst>
        </p:cNvPr>
        <p:cNvGrpSpPr/>
        <p:nvPr/>
      </p:nvGrpSpPr>
      <p:grpSpPr>
        <a:xfrm>
          <a:off x="0" y="0"/>
          <a:ext cx="0" cy="0"/>
          <a:chOff x="0" y="0"/>
          <a:chExt cx="0" cy="0"/>
        </a:xfrm>
      </p:grpSpPr>
      <p:sp>
        <p:nvSpPr>
          <p:cNvPr id="2" name="Title 2">
            <a:extLst>
              <a:ext uri="{FF2B5EF4-FFF2-40B4-BE49-F238E27FC236}">
                <a16:creationId xmlns:a16="http://schemas.microsoft.com/office/drawing/2014/main" id="{1920E07A-BA07-01D9-AF12-E012BBC03D64}"/>
              </a:ext>
            </a:extLst>
          </p:cNvPr>
          <p:cNvSpPr txBox="1">
            <a:spLocks/>
          </p:cNvSpPr>
          <p:nvPr/>
        </p:nvSpPr>
        <p:spPr>
          <a:xfrm>
            <a:off x="591679" y="441147"/>
            <a:ext cx="8244486" cy="330724"/>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stStyle>
          <a:p>
            <a:r>
              <a:rPr lang="en-IN"/>
              <a:t>Intercompany Balancing &amp; Resolve</a:t>
            </a:r>
          </a:p>
        </p:txBody>
      </p:sp>
      <p:sp>
        <p:nvSpPr>
          <p:cNvPr id="7" name="Rectangle: Rounded Corners 6">
            <a:extLst>
              <a:ext uri="{FF2B5EF4-FFF2-40B4-BE49-F238E27FC236}">
                <a16:creationId xmlns:a16="http://schemas.microsoft.com/office/drawing/2014/main" id="{AD470FC8-5356-5A19-38D4-07CD9F2453D7}"/>
              </a:ext>
            </a:extLst>
          </p:cNvPr>
          <p:cNvSpPr/>
          <p:nvPr/>
        </p:nvSpPr>
        <p:spPr>
          <a:xfrm>
            <a:off x="1491648" y="2040896"/>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Unmatched Transactions Identified</a:t>
            </a:r>
          </a:p>
        </p:txBody>
      </p:sp>
      <p:cxnSp>
        <p:nvCxnSpPr>
          <p:cNvPr id="10" name="Connector: Elbow 108">
            <a:extLst>
              <a:ext uri="{FF2B5EF4-FFF2-40B4-BE49-F238E27FC236}">
                <a16:creationId xmlns:a16="http://schemas.microsoft.com/office/drawing/2014/main" id="{B24E11A2-A3BC-4A9A-EDDF-F8A14DCA04B9}"/>
              </a:ext>
            </a:extLst>
          </p:cNvPr>
          <p:cNvCxnSpPr>
            <a:cxnSpLocks/>
          </p:cNvCxnSpPr>
          <p:nvPr/>
        </p:nvCxnSpPr>
        <p:spPr>
          <a:xfrm>
            <a:off x="2652936" y="2347217"/>
            <a:ext cx="500253"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8E6AD1B9-C986-8C10-8375-BCC4C94C221A}"/>
              </a:ext>
            </a:extLst>
          </p:cNvPr>
          <p:cNvSpPr/>
          <p:nvPr/>
        </p:nvSpPr>
        <p:spPr>
          <a:xfrm>
            <a:off x="3153189" y="2040896"/>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Accounting Team Researches utilizing Line-Item Detail</a:t>
            </a:r>
          </a:p>
        </p:txBody>
      </p:sp>
      <p:sp>
        <p:nvSpPr>
          <p:cNvPr id="13" name="Rectangle: Rounded Corners 12">
            <a:extLst>
              <a:ext uri="{FF2B5EF4-FFF2-40B4-BE49-F238E27FC236}">
                <a16:creationId xmlns:a16="http://schemas.microsoft.com/office/drawing/2014/main" id="{BCAC2D4D-DD60-EC4B-22FD-911403E96797}"/>
              </a:ext>
            </a:extLst>
          </p:cNvPr>
          <p:cNvSpPr/>
          <p:nvPr/>
        </p:nvSpPr>
        <p:spPr>
          <a:xfrm>
            <a:off x="4814730" y="2040896"/>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Reason Code Applied</a:t>
            </a:r>
          </a:p>
        </p:txBody>
      </p:sp>
      <p:cxnSp>
        <p:nvCxnSpPr>
          <p:cNvPr id="15" name="Connector: Elbow 108">
            <a:extLst>
              <a:ext uri="{FF2B5EF4-FFF2-40B4-BE49-F238E27FC236}">
                <a16:creationId xmlns:a16="http://schemas.microsoft.com/office/drawing/2014/main" id="{D04C41E3-86CA-5A20-FC71-CCFB38A050B4}"/>
              </a:ext>
            </a:extLst>
          </p:cNvPr>
          <p:cNvCxnSpPr>
            <a:cxnSpLocks/>
          </p:cNvCxnSpPr>
          <p:nvPr/>
        </p:nvCxnSpPr>
        <p:spPr>
          <a:xfrm>
            <a:off x="4314477" y="2347217"/>
            <a:ext cx="500253"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nector: Elbow 108">
            <a:extLst>
              <a:ext uri="{FF2B5EF4-FFF2-40B4-BE49-F238E27FC236}">
                <a16:creationId xmlns:a16="http://schemas.microsoft.com/office/drawing/2014/main" id="{3C6C25EF-1508-B1C4-5322-0B239FACC370}"/>
              </a:ext>
            </a:extLst>
          </p:cNvPr>
          <p:cNvCxnSpPr>
            <a:cxnSpLocks/>
          </p:cNvCxnSpPr>
          <p:nvPr/>
        </p:nvCxnSpPr>
        <p:spPr>
          <a:xfrm flipV="1">
            <a:off x="5976018" y="2347215"/>
            <a:ext cx="500253" cy="1"/>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9" name="Diamond 18">
            <a:extLst>
              <a:ext uri="{FF2B5EF4-FFF2-40B4-BE49-F238E27FC236}">
                <a16:creationId xmlns:a16="http://schemas.microsoft.com/office/drawing/2014/main" id="{F80D042D-59FC-9BE9-808A-EFFF4EE99A01}"/>
              </a:ext>
            </a:extLst>
          </p:cNvPr>
          <p:cNvSpPr/>
          <p:nvPr/>
        </p:nvSpPr>
        <p:spPr>
          <a:xfrm rot="5400000">
            <a:off x="6466553" y="1900133"/>
            <a:ext cx="913602" cy="894166"/>
          </a:xfrm>
          <a:prstGeom prst="diamond">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Timing Issue?</a:t>
            </a:r>
          </a:p>
        </p:txBody>
      </p:sp>
      <p:cxnSp>
        <p:nvCxnSpPr>
          <p:cNvPr id="20" name="Connector: Elbow 108">
            <a:extLst>
              <a:ext uri="{FF2B5EF4-FFF2-40B4-BE49-F238E27FC236}">
                <a16:creationId xmlns:a16="http://schemas.microsoft.com/office/drawing/2014/main" id="{6E34BDF3-0620-277E-0ECA-153C76A1A2DC}"/>
              </a:ext>
            </a:extLst>
          </p:cNvPr>
          <p:cNvCxnSpPr>
            <a:cxnSpLocks/>
          </p:cNvCxnSpPr>
          <p:nvPr/>
        </p:nvCxnSpPr>
        <p:spPr>
          <a:xfrm flipH="1">
            <a:off x="6921657" y="2804017"/>
            <a:ext cx="1697" cy="718723"/>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A99576D3-2F1A-993B-0437-F1D37A9697C4}"/>
              </a:ext>
            </a:extLst>
          </p:cNvPr>
          <p:cNvSpPr txBox="1"/>
          <p:nvPr/>
        </p:nvSpPr>
        <p:spPr>
          <a:xfrm>
            <a:off x="7013234" y="3029255"/>
            <a:ext cx="234062" cy="143768"/>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mj-lt"/>
                <a:ea typeface="+mn-ea"/>
                <a:cs typeface="+mn-cs"/>
              </a:rPr>
              <a:t>No</a:t>
            </a:r>
          </a:p>
        </p:txBody>
      </p:sp>
      <p:sp>
        <p:nvSpPr>
          <p:cNvPr id="22" name="Diamond 21">
            <a:extLst>
              <a:ext uri="{FF2B5EF4-FFF2-40B4-BE49-F238E27FC236}">
                <a16:creationId xmlns:a16="http://schemas.microsoft.com/office/drawing/2014/main" id="{24931F0D-ACC3-E834-891A-8A44705EE054}"/>
              </a:ext>
            </a:extLst>
          </p:cNvPr>
          <p:cNvSpPr/>
          <p:nvPr/>
        </p:nvSpPr>
        <p:spPr>
          <a:xfrm rot="5400000">
            <a:off x="6429576" y="3436002"/>
            <a:ext cx="987556" cy="1183620"/>
          </a:xfrm>
          <a:prstGeom prst="diamond">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Missing AP Document?</a:t>
            </a:r>
          </a:p>
        </p:txBody>
      </p:sp>
      <p:cxnSp>
        <p:nvCxnSpPr>
          <p:cNvPr id="23" name="Connector: Elbow 108">
            <a:extLst>
              <a:ext uri="{FF2B5EF4-FFF2-40B4-BE49-F238E27FC236}">
                <a16:creationId xmlns:a16="http://schemas.microsoft.com/office/drawing/2014/main" id="{BED167C8-FC2C-5AE3-3983-139D08E8E469}"/>
              </a:ext>
            </a:extLst>
          </p:cNvPr>
          <p:cNvCxnSpPr>
            <a:cxnSpLocks/>
          </p:cNvCxnSpPr>
          <p:nvPr/>
        </p:nvCxnSpPr>
        <p:spPr>
          <a:xfrm rot="16200000" flipH="1">
            <a:off x="7729735" y="3702225"/>
            <a:ext cx="1025043" cy="2641198"/>
          </a:xfrm>
          <a:prstGeom prst="bentConnector2">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DB8E3696-D0B6-05E8-8909-D26D9B4B4A81}"/>
              </a:ext>
            </a:extLst>
          </p:cNvPr>
          <p:cNvSpPr txBox="1"/>
          <p:nvPr/>
        </p:nvSpPr>
        <p:spPr>
          <a:xfrm>
            <a:off x="7013234" y="4924998"/>
            <a:ext cx="234062" cy="143768"/>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No</a:t>
            </a:r>
          </a:p>
        </p:txBody>
      </p:sp>
      <p:cxnSp>
        <p:nvCxnSpPr>
          <p:cNvPr id="25" name="Connector: Elbow 108">
            <a:extLst>
              <a:ext uri="{FF2B5EF4-FFF2-40B4-BE49-F238E27FC236}">
                <a16:creationId xmlns:a16="http://schemas.microsoft.com/office/drawing/2014/main" id="{DCE3966F-B5FB-E849-D630-C57DBB03B95D}"/>
              </a:ext>
            </a:extLst>
          </p:cNvPr>
          <p:cNvCxnSpPr>
            <a:cxnSpLocks/>
          </p:cNvCxnSpPr>
          <p:nvPr/>
        </p:nvCxnSpPr>
        <p:spPr>
          <a:xfrm>
            <a:off x="7370436" y="2324270"/>
            <a:ext cx="500253"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6" name="Rectangle: Rounded Corners 25">
            <a:extLst>
              <a:ext uri="{FF2B5EF4-FFF2-40B4-BE49-F238E27FC236}">
                <a16:creationId xmlns:a16="http://schemas.microsoft.com/office/drawing/2014/main" id="{87503363-93EE-E185-3AF8-B3F65094099C}"/>
              </a:ext>
            </a:extLst>
          </p:cNvPr>
          <p:cNvSpPr/>
          <p:nvPr/>
        </p:nvSpPr>
        <p:spPr>
          <a:xfrm>
            <a:off x="7870690" y="1965656"/>
            <a:ext cx="1161288" cy="763122"/>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Item left unmatched and matched off in subsequent period</a:t>
            </a:r>
          </a:p>
        </p:txBody>
      </p:sp>
      <p:cxnSp>
        <p:nvCxnSpPr>
          <p:cNvPr id="27" name="Connector: Elbow 108">
            <a:extLst>
              <a:ext uri="{FF2B5EF4-FFF2-40B4-BE49-F238E27FC236}">
                <a16:creationId xmlns:a16="http://schemas.microsoft.com/office/drawing/2014/main" id="{D2B98CAC-C455-EB1A-52C0-BC9C8951E39B}"/>
              </a:ext>
            </a:extLst>
          </p:cNvPr>
          <p:cNvCxnSpPr>
            <a:cxnSpLocks/>
          </p:cNvCxnSpPr>
          <p:nvPr/>
        </p:nvCxnSpPr>
        <p:spPr>
          <a:xfrm>
            <a:off x="9031978" y="2347215"/>
            <a:ext cx="500254" cy="1"/>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8" name="Rectangle: Rounded Corners 27">
            <a:extLst>
              <a:ext uri="{FF2B5EF4-FFF2-40B4-BE49-F238E27FC236}">
                <a16:creationId xmlns:a16="http://schemas.microsoft.com/office/drawing/2014/main" id="{EC0958FB-B0F0-7069-1A93-9765FB0972F4}"/>
              </a:ext>
            </a:extLst>
          </p:cNvPr>
          <p:cNvSpPr/>
          <p:nvPr/>
        </p:nvSpPr>
        <p:spPr>
          <a:xfrm>
            <a:off x="9532232" y="2040896"/>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Automated I</a:t>
            </a:r>
            <a:r>
              <a:rPr lang="en-US" sz="900" err="1">
                <a:solidFill>
                  <a:schemeClr val="bg1"/>
                </a:solidFill>
                <a:latin typeface="Arial" panose="020B0604020202020204" pitchFamily="34" charset="0"/>
                <a:cs typeface="Arial" panose="020B0604020202020204" pitchFamily="34" charset="0"/>
              </a:rPr>
              <a:t>ntercompany</a:t>
            </a: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 transaction template Created</a:t>
            </a:r>
          </a:p>
        </p:txBody>
      </p:sp>
      <p:cxnSp>
        <p:nvCxnSpPr>
          <p:cNvPr id="29" name="Connector: Elbow 108">
            <a:extLst>
              <a:ext uri="{FF2B5EF4-FFF2-40B4-BE49-F238E27FC236}">
                <a16:creationId xmlns:a16="http://schemas.microsoft.com/office/drawing/2014/main" id="{2A63A37E-5571-6B15-222A-684E8FD562F5}"/>
              </a:ext>
            </a:extLst>
          </p:cNvPr>
          <p:cNvCxnSpPr>
            <a:cxnSpLocks/>
            <a:stCxn id="22" idx="0"/>
          </p:cNvCxnSpPr>
          <p:nvPr/>
        </p:nvCxnSpPr>
        <p:spPr>
          <a:xfrm>
            <a:off x="7515164" y="4027812"/>
            <a:ext cx="2047691" cy="385403"/>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553C510A-488D-8A1F-942F-B7DC060732D0}"/>
              </a:ext>
            </a:extLst>
          </p:cNvPr>
          <p:cNvSpPr txBox="1"/>
          <p:nvPr/>
        </p:nvSpPr>
        <p:spPr>
          <a:xfrm>
            <a:off x="7566975" y="3845247"/>
            <a:ext cx="234062" cy="138499"/>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Yes</a:t>
            </a:r>
          </a:p>
        </p:txBody>
      </p:sp>
      <p:cxnSp>
        <p:nvCxnSpPr>
          <p:cNvPr id="31" name="Connector: Elbow 108">
            <a:extLst>
              <a:ext uri="{FF2B5EF4-FFF2-40B4-BE49-F238E27FC236}">
                <a16:creationId xmlns:a16="http://schemas.microsoft.com/office/drawing/2014/main" id="{E2FD5747-305D-689A-0CB2-942F225E2310}"/>
              </a:ext>
            </a:extLst>
          </p:cNvPr>
          <p:cNvCxnSpPr>
            <a:cxnSpLocks/>
            <a:stCxn id="22" idx="0"/>
          </p:cNvCxnSpPr>
          <p:nvPr/>
        </p:nvCxnSpPr>
        <p:spPr>
          <a:xfrm flipV="1">
            <a:off x="7515164" y="3608177"/>
            <a:ext cx="2047691" cy="419635"/>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2" name="Rectangle: Rounded Corners 31">
            <a:extLst>
              <a:ext uri="{FF2B5EF4-FFF2-40B4-BE49-F238E27FC236}">
                <a16:creationId xmlns:a16="http://schemas.microsoft.com/office/drawing/2014/main" id="{536CEA09-223F-517E-899D-97A3EF4C7CA6}"/>
              </a:ext>
            </a:extLst>
          </p:cNvPr>
          <p:cNvSpPr/>
          <p:nvPr/>
        </p:nvSpPr>
        <p:spPr>
          <a:xfrm>
            <a:off x="9562855" y="3301856"/>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AR Reconciling Item Created</a:t>
            </a:r>
          </a:p>
        </p:txBody>
      </p:sp>
      <p:sp>
        <p:nvSpPr>
          <p:cNvPr id="33" name="Rectangle: Rounded Corners 32">
            <a:extLst>
              <a:ext uri="{FF2B5EF4-FFF2-40B4-BE49-F238E27FC236}">
                <a16:creationId xmlns:a16="http://schemas.microsoft.com/office/drawing/2014/main" id="{1230363B-7E24-38A2-6216-50C5D2EEFBE7}"/>
              </a:ext>
            </a:extLst>
          </p:cNvPr>
          <p:cNvSpPr/>
          <p:nvPr/>
        </p:nvSpPr>
        <p:spPr>
          <a:xfrm>
            <a:off x="9562855" y="4106894"/>
            <a:ext cx="1161288" cy="612641"/>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Automated AP Accrual created</a:t>
            </a:r>
          </a:p>
        </p:txBody>
      </p:sp>
      <p:sp>
        <p:nvSpPr>
          <p:cNvPr id="65" name="Rectangle: Rounded Corners 64">
            <a:extLst>
              <a:ext uri="{FF2B5EF4-FFF2-40B4-BE49-F238E27FC236}">
                <a16:creationId xmlns:a16="http://schemas.microsoft.com/office/drawing/2014/main" id="{94D9A0BE-4B3D-182B-7591-9A8BF7B68917}"/>
              </a:ext>
            </a:extLst>
          </p:cNvPr>
          <p:cNvSpPr/>
          <p:nvPr/>
        </p:nvSpPr>
        <p:spPr>
          <a:xfrm>
            <a:off x="9562855" y="5161570"/>
            <a:ext cx="1161288" cy="747537"/>
          </a:xfrm>
          <a:prstGeom prst="roundRect">
            <a:avLst/>
          </a:prstGeom>
          <a:noFill/>
          <a:ln>
            <a:solidFill>
              <a:srgbClr val="FFE6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Alternative handling as deemed appropriate by Business</a:t>
            </a:r>
          </a:p>
        </p:txBody>
      </p:sp>
      <p:sp>
        <p:nvSpPr>
          <p:cNvPr id="66" name="Rectangle 65">
            <a:extLst>
              <a:ext uri="{FF2B5EF4-FFF2-40B4-BE49-F238E27FC236}">
                <a16:creationId xmlns:a16="http://schemas.microsoft.com/office/drawing/2014/main" id="{AE61E78C-DB9C-83D2-5169-15C7886B9B5C}"/>
              </a:ext>
            </a:extLst>
          </p:cNvPr>
          <p:cNvSpPr/>
          <p:nvPr/>
        </p:nvSpPr>
        <p:spPr>
          <a:xfrm>
            <a:off x="1785772" y="3522740"/>
            <a:ext cx="3203420" cy="1449199"/>
          </a:xfrm>
          <a:prstGeom prst="rect">
            <a:avLst/>
          </a:prstGeom>
          <a:noFill/>
          <a:ln>
            <a:solidFill>
              <a:srgbClr val="FFE600"/>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defTabSz="914400">
              <a:defRPr/>
            </a:pPr>
            <a:r>
              <a:rPr kumimoji="0" lang="en-US" sz="12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After the intercompany matching process is closed at period end and cut-off is established, the remaining unmatched transactions are matched off in subsequent periods due to timing issues, or are routed as reconciling </a:t>
            </a:r>
            <a:r>
              <a:rPr lang="en-US" sz="1200">
                <a:solidFill>
                  <a:schemeClr val="bg1"/>
                </a:solidFill>
                <a:latin typeface="Arial" panose="020B0604020202020204" pitchFamily="34" charset="0"/>
                <a:cs typeface="Arial" panose="020B0604020202020204" pitchFamily="34" charset="0"/>
              </a:rPr>
              <a:t>items to substantiate the applicable general ledger account </a:t>
            </a:r>
            <a:endParaRPr kumimoji="0" lang="en-US" sz="12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7" name="Rectangle: Rounded Corners 66">
            <a:extLst>
              <a:ext uri="{FF2B5EF4-FFF2-40B4-BE49-F238E27FC236}">
                <a16:creationId xmlns:a16="http://schemas.microsoft.com/office/drawing/2014/main" id="{0844B2A3-2BE3-5033-982F-8B8170E14406}"/>
              </a:ext>
            </a:extLst>
          </p:cNvPr>
          <p:cNvSpPr/>
          <p:nvPr/>
        </p:nvSpPr>
        <p:spPr>
          <a:xfrm>
            <a:off x="353935" y="1517260"/>
            <a:ext cx="11484129" cy="4756099"/>
          </a:xfrm>
          <a:prstGeom prst="roundRect">
            <a:avLst/>
          </a:prstGeom>
          <a:noFill/>
          <a:ln>
            <a:solidFill>
              <a:schemeClr val="bg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54545"/>
              </a:solidFill>
              <a:effectLst/>
              <a:uLnTx/>
              <a:uFillTx/>
              <a:latin typeface="+mj-lt"/>
              <a:ea typeface="+mn-ea"/>
              <a:cs typeface="+mn-cs"/>
            </a:endParaRPr>
          </a:p>
        </p:txBody>
      </p:sp>
      <p:sp>
        <p:nvSpPr>
          <p:cNvPr id="68" name="TextBox 67">
            <a:extLst>
              <a:ext uri="{FF2B5EF4-FFF2-40B4-BE49-F238E27FC236}">
                <a16:creationId xmlns:a16="http://schemas.microsoft.com/office/drawing/2014/main" id="{2E90886C-0EE8-9008-ABF2-E68418ABF1D8}"/>
              </a:ext>
            </a:extLst>
          </p:cNvPr>
          <p:cNvSpPr txBox="1"/>
          <p:nvPr/>
        </p:nvSpPr>
        <p:spPr>
          <a:xfrm>
            <a:off x="7503531" y="2360898"/>
            <a:ext cx="234062" cy="138499"/>
          </a:xfrm>
          <a:prstGeom prst="rect">
            <a:avLst/>
          </a:prstGeom>
          <a:noFill/>
          <a:ln>
            <a:solidFill>
              <a:srgbClr val="FFE600"/>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Ye</a:t>
            </a:r>
            <a:r>
              <a:rPr kumimoji="0" lang="en-US" sz="900" b="0" i="0" u="none" strike="noStrike" kern="1200" cap="none" spc="0" normalizeH="0" baseline="0" noProof="0">
                <a:ln>
                  <a:noFill/>
                </a:ln>
                <a:solidFill>
                  <a:schemeClr val="bg1"/>
                </a:solidFill>
                <a:effectLst/>
                <a:uLnTx/>
                <a:uFillTx/>
                <a:latin typeface="+mj-lt"/>
                <a:ea typeface="+mn-ea"/>
                <a:cs typeface="+mn-cs"/>
              </a:rPr>
              <a:t>s</a:t>
            </a:r>
          </a:p>
        </p:txBody>
      </p:sp>
    </p:spTree>
    <p:extLst>
      <p:ext uri="{BB962C8B-B14F-4D97-AF65-F5344CB8AC3E}">
        <p14:creationId xmlns:p14="http://schemas.microsoft.com/office/powerpoint/2010/main" val="258434221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1">
            <a:extLst>
              <a:ext uri="{FF2B5EF4-FFF2-40B4-BE49-F238E27FC236}">
                <a16:creationId xmlns:a16="http://schemas.microsoft.com/office/drawing/2014/main" id="{55C92949-87D3-EBDF-687F-ED462305A57D}"/>
              </a:ext>
            </a:extLst>
          </p:cNvPr>
          <p:cNvSpPr txBox="1">
            <a:spLocks/>
          </p:cNvSpPr>
          <p:nvPr/>
        </p:nvSpPr>
        <p:spPr>
          <a:xfrm>
            <a:off x="609602" y="439124"/>
            <a:ext cx="11225019" cy="87121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1" i="0" u="none" strike="noStrike" cap="none" spc="0" baseline="0">
                <a:solidFill>
                  <a:srgbClr val="FFE600"/>
                </a:solidFill>
                <a:uFillTx/>
                <a:latin typeface="EY interstate heading"/>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a:t>Intercompany Transaction flow types</a:t>
            </a:r>
          </a:p>
        </p:txBody>
      </p:sp>
      <p:graphicFrame>
        <p:nvGraphicFramePr>
          <p:cNvPr id="5" name="Diagram 4">
            <a:extLst>
              <a:ext uri="{FF2B5EF4-FFF2-40B4-BE49-F238E27FC236}">
                <a16:creationId xmlns:a16="http://schemas.microsoft.com/office/drawing/2014/main" id="{0F1FD70B-8C9C-4978-6A8F-BCA25B0A8BF6}"/>
              </a:ext>
            </a:extLst>
          </p:cNvPr>
          <p:cNvGraphicFramePr/>
          <p:nvPr>
            <p:extLst>
              <p:ext uri="{D42A27DB-BD31-4B8C-83A1-F6EECF244321}">
                <p14:modId xmlns:p14="http://schemas.microsoft.com/office/powerpoint/2010/main" val="76376173"/>
              </p:ext>
            </p:extLst>
          </p:nvPr>
        </p:nvGraphicFramePr>
        <p:xfrm>
          <a:off x="258064" y="1655064"/>
          <a:ext cx="3545840" cy="489106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6" name="Diagram 5">
            <a:extLst>
              <a:ext uri="{FF2B5EF4-FFF2-40B4-BE49-F238E27FC236}">
                <a16:creationId xmlns:a16="http://schemas.microsoft.com/office/drawing/2014/main" id="{5661F409-FFF1-9EC4-789A-903B33BEDA15}"/>
              </a:ext>
            </a:extLst>
          </p:cNvPr>
          <p:cNvGraphicFramePr/>
          <p:nvPr>
            <p:extLst>
              <p:ext uri="{D42A27DB-BD31-4B8C-83A1-F6EECF244321}">
                <p14:modId xmlns:p14="http://schemas.microsoft.com/office/powerpoint/2010/main" val="3610284752"/>
              </p:ext>
            </p:extLst>
          </p:nvPr>
        </p:nvGraphicFramePr>
        <p:xfrm>
          <a:off x="4333240" y="1655064"/>
          <a:ext cx="3545840" cy="489106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7" name="Diagram 6">
            <a:extLst>
              <a:ext uri="{FF2B5EF4-FFF2-40B4-BE49-F238E27FC236}">
                <a16:creationId xmlns:a16="http://schemas.microsoft.com/office/drawing/2014/main" id="{16F9FBFB-744F-91F3-6F6B-1FCECD0D8C88}"/>
              </a:ext>
            </a:extLst>
          </p:cNvPr>
          <p:cNvGraphicFramePr/>
          <p:nvPr>
            <p:extLst>
              <p:ext uri="{D42A27DB-BD31-4B8C-83A1-F6EECF244321}">
                <p14:modId xmlns:p14="http://schemas.microsoft.com/office/powerpoint/2010/main" val="1005445849"/>
              </p:ext>
            </p:extLst>
          </p:nvPr>
        </p:nvGraphicFramePr>
        <p:xfrm>
          <a:off x="8408416" y="1655064"/>
          <a:ext cx="3545840" cy="489106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pic>
        <p:nvPicPr>
          <p:cNvPr id="9" name="Graphic 8" descr="Transfer outline">
            <a:extLst>
              <a:ext uri="{FF2B5EF4-FFF2-40B4-BE49-F238E27FC236}">
                <a16:creationId xmlns:a16="http://schemas.microsoft.com/office/drawing/2014/main" id="{FCA5E895-1852-A65A-6567-D7EE2CF8FC18}"/>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719328" y="950976"/>
            <a:ext cx="606552" cy="606552"/>
          </a:xfrm>
          <a:prstGeom prst="rect">
            <a:avLst/>
          </a:prstGeom>
        </p:spPr>
      </p:pic>
      <p:sp>
        <p:nvSpPr>
          <p:cNvPr id="10" name="TextBox 9">
            <a:extLst>
              <a:ext uri="{FF2B5EF4-FFF2-40B4-BE49-F238E27FC236}">
                <a16:creationId xmlns:a16="http://schemas.microsoft.com/office/drawing/2014/main" id="{1DC37300-D98F-3D07-F4D7-E1C87635FD32}"/>
              </a:ext>
            </a:extLst>
          </p:cNvPr>
          <p:cNvSpPr txBox="1"/>
          <p:nvPr/>
        </p:nvSpPr>
        <p:spPr>
          <a:xfrm>
            <a:off x="1435606" y="1052298"/>
            <a:ext cx="2049728" cy="369332"/>
          </a:xfrm>
          <a:prstGeom prst="rect">
            <a:avLst/>
          </a:prstGeom>
          <a:noFill/>
        </p:spPr>
        <p:txBody>
          <a:bodyPr wrap="none" rtlCol="0">
            <a:spAutoFit/>
          </a:bodyPr>
          <a:lstStyle/>
          <a:p>
            <a:r>
              <a:rPr lang="en-IN">
                <a:solidFill>
                  <a:srgbClr val="FFFF00"/>
                </a:solidFill>
              </a:rPr>
              <a:t>Trade Transactions</a:t>
            </a:r>
          </a:p>
        </p:txBody>
      </p:sp>
      <p:pic>
        <p:nvPicPr>
          <p:cNvPr id="12" name="Graphic 11" descr="Dollar with solid fill">
            <a:extLst>
              <a:ext uri="{FF2B5EF4-FFF2-40B4-BE49-F238E27FC236}">
                <a16:creationId xmlns:a16="http://schemas.microsoft.com/office/drawing/2014/main" id="{4C0509C6-9BE8-3994-1D58-3AA786C46A66}"/>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4714889" y="984996"/>
            <a:ext cx="503936" cy="503936"/>
          </a:xfrm>
          <a:prstGeom prst="rect">
            <a:avLst/>
          </a:prstGeom>
        </p:spPr>
      </p:pic>
      <p:sp>
        <p:nvSpPr>
          <p:cNvPr id="13" name="TextBox 12">
            <a:extLst>
              <a:ext uri="{FF2B5EF4-FFF2-40B4-BE49-F238E27FC236}">
                <a16:creationId xmlns:a16="http://schemas.microsoft.com/office/drawing/2014/main" id="{3E8A85F1-E0CF-3FBF-885C-C19B65392B83}"/>
              </a:ext>
            </a:extLst>
          </p:cNvPr>
          <p:cNvSpPr txBox="1"/>
          <p:nvPr/>
        </p:nvSpPr>
        <p:spPr>
          <a:xfrm>
            <a:off x="5213872" y="1069586"/>
            <a:ext cx="2442785" cy="369332"/>
          </a:xfrm>
          <a:prstGeom prst="rect">
            <a:avLst/>
          </a:prstGeom>
          <a:noFill/>
        </p:spPr>
        <p:txBody>
          <a:bodyPr wrap="none" rtlCol="0">
            <a:spAutoFit/>
          </a:bodyPr>
          <a:lstStyle/>
          <a:p>
            <a:r>
              <a:rPr lang="en-IN">
                <a:solidFill>
                  <a:srgbClr val="FFFF00"/>
                </a:solidFill>
              </a:rPr>
              <a:t>Recharge Transactions</a:t>
            </a:r>
          </a:p>
        </p:txBody>
      </p:sp>
      <p:sp>
        <p:nvSpPr>
          <p:cNvPr id="14" name="TextBox 13">
            <a:extLst>
              <a:ext uri="{FF2B5EF4-FFF2-40B4-BE49-F238E27FC236}">
                <a16:creationId xmlns:a16="http://schemas.microsoft.com/office/drawing/2014/main" id="{7B36016D-BDDB-6061-E318-4778028AFDDD}"/>
              </a:ext>
            </a:extLst>
          </p:cNvPr>
          <p:cNvSpPr txBox="1"/>
          <p:nvPr/>
        </p:nvSpPr>
        <p:spPr>
          <a:xfrm>
            <a:off x="9629839" y="1069586"/>
            <a:ext cx="2049728" cy="369332"/>
          </a:xfrm>
          <a:prstGeom prst="rect">
            <a:avLst/>
          </a:prstGeom>
          <a:noFill/>
        </p:spPr>
        <p:txBody>
          <a:bodyPr wrap="none" rtlCol="0">
            <a:spAutoFit/>
          </a:bodyPr>
          <a:lstStyle/>
          <a:p>
            <a:r>
              <a:rPr lang="en-IN">
                <a:solidFill>
                  <a:srgbClr val="FFFF00"/>
                </a:solidFill>
              </a:rPr>
              <a:t>Trade Transactions</a:t>
            </a:r>
          </a:p>
        </p:txBody>
      </p:sp>
      <p:sp>
        <p:nvSpPr>
          <p:cNvPr id="15" name="Rectangle: Rounded Corners 14">
            <a:extLst>
              <a:ext uri="{FF2B5EF4-FFF2-40B4-BE49-F238E27FC236}">
                <a16:creationId xmlns:a16="http://schemas.microsoft.com/office/drawing/2014/main" id="{78C16892-4372-8A4B-081B-2B0436C0E61D}"/>
              </a:ext>
            </a:extLst>
          </p:cNvPr>
          <p:cNvSpPr/>
          <p:nvPr/>
        </p:nvSpPr>
        <p:spPr>
          <a:xfrm>
            <a:off x="629360" y="914382"/>
            <a:ext cx="2875732" cy="704088"/>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 name="Rectangle: Rounded Corners 15">
            <a:extLst>
              <a:ext uri="{FF2B5EF4-FFF2-40B4-BE49-F238E27FC236}">
                <a16:creationId xmlns:a16="http://schemas.microsoft.com/office/drawing/2014/main" id="{6BCFF268-E513-D012-6C6A-8CEC44B1E05D}"/>
              </a:ext>
            </a:extLst>
          </p:cNvPr>
          <p:cNvSpPr/>
          <p:nvPr/>
        </p:nvSpPr>
        <p:spPr>
          <a:xfrm>
            <a:off x="4780925" y="914382"/>
            <a:ext cx="2875732" cy="704088"/>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7" name="Rectangle: Rounded Corners 16">
            <a:extLst>
              <a:ext uri="{FF2B5EF4-FFF2-40B4-BE49-F238E27FC236}">
                <a16:creationId xmlns:a16="http://schemas.microsoft.com/office/drawing/2014/main" id="{522FD35D-9EE7-A7CF-AAEF-24C3CDF06BC9}"/>
              </a:ext>
            </a:extLst>
          </p:cNvPr>
          <p:cNvSpPr/>
          <p:nvPr/>
        </p:nvSpPr>
        <p:spPr>
          <a:xfrm>
            <a:off x="8803835" y="898862"/>
            <a:ext cx="2875732" cy="704088"/>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19" name="Graphic 18" descr="Pie chart outline">
            <a:extLst>
              <a:ext uri="{FF2B5EF4-FFF2-40B4-BE49-F238E27FC236}">
                <a16:creationId xmlns:a16="http://schemas.microsoft.com/office/drawing/2014/main" id="{EC28318F-9E4F-CB60-6ED1-912236C6378F}"/>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9024498" y="952187"/>
            <a:ext cx="605341" cy="605341"/>
          </a:xfrm>
          <a:prstGeom prst="rect">
            <a:avLst/>
          </a:prstGeom>
        </p:spPr>
      </p:pic>
      <p:cxnSp>
        <p:nvCxnSpPr>
          <p:cNvPr id="21" name="Straight Connector 20">
            <a:extLst>
              <a:ext uri="{FF2B5EF4-FFF2-40B4-BE49-F238E27FC236}">
                <a16:creationId xmlns:a16="http://schemas.microsoft.com/office/drawing/2014/main" id="{8191931F-085C-E18E-2B05-3ACD61C5C79D}"/>
              </a:ext>
            </a:extLst>
          </p:cNvPr>
          <p:cNvCxnSpPr/>
          <p:nvPr/>
        </p:nvCxnSpPr>
        <p:spPr>
          <a:xfrm>
            <a:off x="3886200" y="914382"/>
            <a:ext cx="0" cy="551385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85042736-8C43-C8DF-40D0-7E8DE55E5AF1}"/>
              </a:ext>
            </a:extLst>
          </p:cNvPr>
          <p:cNvCxnSpPr/>
          <p:nvPr/>
        </p:nvCxnSpPr>
        <p:spPr>
          <a:xfrm>
            <a:off x="7979664" y="914382"/>
            <a:ext cx="0" cy="5513850"/>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41302655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424B74-67C8-235E-9917-71D71D9B50F7}"/>
            </a:ext>
          </a:extLst>
        </p:cNvPr>
        <p:cNvGrpSpPr/>
        <p:nvPr/>
      </p:nvGrpSpPr>
      <p:grpSpPr>
        <a:xfrm>
          <a:off x="0" y="0"/>
          <a:ext cx="0" cy="0"/>
          <a:chOff x="0" y="0"/>
          <a:chExt cx="0" cy="0"/>
        </a:xfrm>
      </p:grpSpPr>
      <p:graphicFrame>
        <p:nvGraphicFramePr>
          <p:cNvPr id="48" name="Diagram 47">
            <a:extLst>
              <a:ext uri="{FF2B5EF4-FFF2-40B4-BE49-F238E27FC236}">
                <a16:creationId xmlns:a16="http://schemas.microsoft.com/office/drawing/2014/main" id="{F7BA60D8-FE51-8B7F-8C4F-410CE006CABC}"/>
              </a:ext>
            </a:extLst>
          </p:cNvPr>
          <p:cNvGraphicFramePr/>
          <p:nvPr/>
        </p:nvGraphicFramePr>
        <p:xfrm>
          <a:off x="1730227" y="5508583"/>
          <a:ext cx="8198528" cy="109622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9" name="Title 1">
            <a:extLst>
              <a:ext uri="{FF2B5EF4-FFF2-40B4-BE49-F238E27FC236}">
                <a16:creationId xmlns:a16="http://schemas.microsoft.com/office/drawing/2014/main" id="{2FA484D9-BBBC-85DE-EEC2-770F9664E035}"/>
              </a:ext>
            </a:extLst>
          </p:cNvPr>
          <p:cNvSpPr>
            <a:spLocks noGrp="1"/>
          </p:cNvSpPr>
          <p:nvPr>
            <p:ph type="title"/>
          </p:nvPr>
        </p:nvSpPr>
        <p:spPr>
          <a:xfrm>
            <a:off x="642822" y="461793"/>
            <a:ext cx="10972800" cy="590550"/>
          </a:xfrm>
          <a:noFill/>
          <a:ln>
            <a:noFill/>
          </a:ln>
        </p:spPr>
        <p:txBody>
          <a:bodyPr vert="horz" wrap="square" lIns="0" tIns="0" rIns="0" bIns="0" rtlCol="0" anchor="t" anchorCtr="0" compatLnSpc="1">
            <a:noAutofit/>
          </a:bodyPr>
          <a:lstStyle/>
          <a:p>
            <a:pPr defTabSz="913942">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Intercompany Journal Logic Builder</a:t>
            </a:r>
          </a:p>
        </p:txBody>
      </p:sp>
      <p:graphicFrame>
        <p:nvGraphicFramePr>
          <p:cNvPr id="52" name="Content Placeholder 7">
            <a:extLst>
              <a:ext uri="{FF2B5EF4-FFF2-40B4-BE49-F238E27FC236}">
                <a16:creationId xmlns:a16="http://schemas.microsoft.com/office/drawing/2014/main" id="{3364E2C6-EEFF-329B-9124-12C67E1253E0}"/>
              </a:ext>
            </a:extLst>
          </p:cNvPr>
          <p:cNvGraphicFramePr>
            <a:graphicFrameLocks/>
          </p:cNvGraphicFramePr>
          <p:nvPr>
            <p:extLst>
              <p:ext uri="{D42A27DB-BD31-4B8C-83A1-F6EECF244321}">
                <p14:modId xmlns:p14="http://schemas.microsoft.com/office/powerpoint/2010/main" val="3281537016"/>
              </p:ext>
            </p:extLst>
          </p:nvPr>
        </p:nvGraphicFramePr>
        <p:xfrm>
          <a:off x="3892137" y="1359996"/>
          <a:ext cx="4330465" cy="445517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53" name="TextBox 52">
            <a:extLst>
              <a:ext uri="{FF2B5EF4-FFF2-40B4-BE49-F238E27FC236}">
                <a16:creationId xmlns:a16="http://schemas.microsoft.com/office/drawing/2014/main" id="{418A96D9-E3E2-83EC-587A-2A0CA7C9BC29}"/>
              </a:ext>
            </a:extLst>
          </p:cNvPr>
          <p:cNvSpPr txBox="1"/>
          <p:nvPr/>
        </p:nvSpPr>
        <p:spPr>
          <a:xfrm>
            <a:off x="7228062" y="1020436"/>
            <a:ext cx="3156450" cy="953594"/>
          </a:xfrm>
          <a:prstGeom prst="rect">
            <a:avLst/>
          </a:prstGeom>
          <a:noFill/>
          <a:ln w="12700" cap="sq">
            <a:noFill/>
            <a:miter lim="800000"/>
          </a:ln>
        </p:spPr>
        <p:txBody>
          <a:bodyPr wrap="square">
            <a:spAutoFit/>
          </a:bodyPr>
          <a:lstStyle/>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What initiates the journal? (e.g., intercompany invoice, cost allocation, recharge, trade transaction)</a:t>
            </a:r>
            <a:endParaRPr kumimoji="0" lang="en-US" sz="1199" b="0" i="0" u="none" strike="noStrike" kern="1200" cap="none" spc="0" normalizeH="0" baseline="0" noProof="0">
              <a:ln>
                <a:noFill/>
              </a:ln>
              <a:solidFill>
                <a:schemeClr val="bg1"/>
              </a:solidFill>
              <a:effectLst/>
              <a:uLnTx/>
              <a:uFillTx/>
              <a:latin typeface="EYInterstate"/>
              <a:ea typeface="+mn-ea"/>
              <a:cs typeface="+mn-cs"/>
            </a:endParaRPr>
          </a:p>
        </p:txBody>
      </p:sp>
      <p:sp>
        <p:nvSpPr>
          <p:cNvPr id="54" name="TextBox 53">
            <a:extLst>
              <a:ext uri="{FF2B5EF4-FFF2-40B4-BE49-F238E27FC236}">
                <a16:creationId xmlns:a16="http://schemas.microsoft.com/office/drawing/2014/main" id="{04860205-5E37-B05C-7AE7-8E357CF07428}"/>
              </a:ext>
            </a:extLst>
          </p:cNvPr>
          <p:cNvSpPr txBox="1"/>
          <p:nvPr/>
        </p:nvSpPr>
        <p:spPr>
          <a:xfrm>
            <a:off x="8368462" y="2330928"/>
            <a:ext cx="3156450" cy="522964"/>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Trade, Recharge, or Allocation (as discussed earlier)</a:t>
            </a:r>
            <a:endParaRPr kumimoji="0" lang="en-US" sz="1199" b="0" i="0" u="none" strike="noStrike" kern="1200" cap="none" spc="0" normalizeH="0" baseline="0" noProof="0">
              <a:ln>
                <a:noFill/>
              </a:ln>
              <a:solidFill>
                <a:schemeClr val="bg1"/>
              </a:solidFill>
              <a:effectLst/>
              <a:uLnTx/>
              <a:uFillTx/>
              <a:latin typeface="EYInterstate"/>
              <a:ea typeface="+mn-ea"/>
              <a:cs typeface="+mn-cs"/>
            </a:endParaRPr>
          </a:p>
        </p:txBody>
      </p:sp>
      <p:sp>
        <p:nvSpPr>
          <p:cNvPr id="55" name="TextBox 54">
            <a:extLst>
              <a:ext uri="{FF2B5EF4-FFF2-40B4-BE49-F238E27FC236}">
                <a16:creationId xmlns:a16="http://schemas.microsoft.com/office/drawing/2014/main" id="{834170D0-ACBA-6C7A-B221-5A910060E4D4}"/>
              </a:ext>
            </a:extLst>
          </p:cNvPr>
          <p:cNvSpPr txBox="1"/>
          <p:nvPr/>
        </p:nvSpPr>
        <p:spPr>
          <a:xfrm>
            <a:off x="8348971" y="4292646"/>
            <a:ext cx="3156450" cy="953594"/>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Which entity is the </a:t>
            </a:r>
            <a:r>
              <a:rPr kumimoji="0" lang="en-IN" sz="1399" b="0" i="0" u="none" strike="noStrike" kern="1200" cap="none" spc="0" normalizeH="0" baseline="0" noProof="0">
                <a:ln>
                  <a:noFill/>
                </a:ln>
                <a:effectLst/>
                <a:uLnTx/>
                <a:uFillTx/>
                <a:latin typeface="EYInterstate"/>
                <a:ea typeface="+mn-ea"/>
                <a:cs typeface="+mn-cs"/>
              </a:rPr>
              <a:t>initiator</a:t>
            </a:r>
            <a:r>
              <a:rPr kumimoji="0" lang="en-IN" sz="1399" b="0" i="0" u="none" strike="noStrike" kern="1200" cap="none" spc="0" normalizeH="0" baseline="0" noProof="0">
                <a:ln>
                  <a:noFill/>
                </a:ln>
                <a:solidFill>
                  <a:schemeClr val="bg1"/>
                </a:solidFill>
                <a:effectLst/>
                <a:uLnTx/>
                <a:uFillTx/>
                <a:latin typeface="EYInterstate"/>
                <a:ea typeface="+mn-ea"/>
                <a:cs typeface="+mn-cs"/>
              </a:rPr>
              <a:t> (seller/allocator/recharger)?</a:t>
            </a:r>
          </a:p>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Which entity is the </a:t>
            </a:r>
            <a:r>
              <a:rPr kumimoji="0" lang="en-IN" sz="1399" b="0" i="0" u="none" strike="noStrike" kern="1200" cap="none" spc="0" normalizeH="0" baseline="0" noProof="0">
                <a:ln>
                  <a:noFill/>
                </a:ln>
                <a:effectLst/>
                <a:uLnTx/>
                <a:uFillTx/>
                <a:latin typeface="EYInterstate"/>
                <a:ea typeface="+mn-ea"/>
                <a:cs typeface="+mn-cs"/>
              </a:rPr>
              <a:t>counterparty</a:t>
            </a:r>
            <a:r>
              <a:rPr kumimoji="0" lang="en-IN" sz="1399" b="0" i="0" u="none" strike="noStrike" kern="1200" cap="none" spc="0" normalizeH="0" baseline="0" noProof="0">
                <a:ln>
                  <a:noFill/>
                </a:ln>
                <a:solidFill>
                  <a:schemeClr val="bg1"/>
                </a:solidFill>
                <a:effectLst/>
                <a:uLnTx/>
                <a:uFillTx/>
                <a:latin typeface="EYInterstate"/>
                <a:ea typeface="+mn-ea"/>
                <a:cs typeface="+mn-cs"/>
              </a:rPr>
              <a:t> (buyer/receiver)?</a:t>
            </a:r>
            <a:endParaRPr kumimoji="0" lang="en-US" sz="1199" b="0" i="0" u="none" strike="noStrike" kern="1200" cap="none" spc="0" normalizeH="0" baseline="0" noProof="0">
              <a:ln>
                <a:noFill/>
              </a:ln>
              <a:solidFill>
                <a:schemeClr val="bg1"/>
              </a:solidFill>
              <a:effectLst/>
              <a:uLnTx/>
              <a:uFillTx/>
              <a:latin typeface="EYInterstate"/>
              <a:ea typeface="+mn-ea"/>
              <a:cs typeface="+mn-cs"/>
            </a:endParaRPr>
          </a:p>
        </p:txBody>
      </p:sp>
      <p:sp>
        <p:nvSpPr>
          <p:cNvPr id="56" name="TextBox 55">
            <a:extLst>
              <a:ext uri="{FF2B5EF4-FFF2-40B4-BE49-F238E27FC236}">
                <a16:creationId xmlns:a16="http://schemas.microsoft.com/office/drawing/2014/main" id="{12C68DA4-6483-8853-4E6F-C6E69A7A40E8}"/>
              </a:ext>
            </a:extLst>
          </p:cNvPr>
          <p:cNvSpPr txBox="1"/>
          <p:nvPr/>
        </p:nvSpPr>
        <p:spPr>
          <a:xfrm>
            <a:off x="4727447" y="5858576"/>
            <a:ext cx="5833873" cy="953594"/>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Define which GL accounts to debit/credit for each entity.</a:t>
            </a:r>
            <a:br>
              <a:rPr kumimoji="0" lang="en-IN" sz="1399" b="0" i="0" u="none" strike="noStrike" kern="1200" cap="none" spc="0" normalizeH="0" baseline="0" noProof="0">
                <a:ln>
                  <a:noFill/>
                </a:ln>
                <a:solidFill>
                  <a:schemeClr val="bg1"/>
                </a:solidFill>
                <a:effectLst/>
                <a:uLnTx/>
                <a:uFillTx/>
                <a:latin typeface="EYInterstate"/>
                <a:ea typeface="+mn-ea"/>
                <a:cs typeface="+mn-cs"/>
              </a:rPr>
            </a:br>
            <a:r>
              <a:rPr kumimoji="0" lang="en-IN" sz="1399" b="0" i="0" u="none" strike="noStrike" kern="1200" cap="none" spc="0" normalizeH="0" baseline="0" noProof="0">
                <a:ln>
                  <a:noFill/>
                </a:ln>
                <a:solidFill>
                  <a:schemeClr val="bg1"/>
                </a:solidFill>
                <a:effectLst/>
                <a:uLnTx/>
                <a:uFillTx/>
                <a:latin typeface="EYInterstate"/>
                <a:ea typeface="+mn-ea"/>
                <a:cs typeface="+mn-cs"/>
              </a:rPr>
              <a:t>Example:</a:t>
            </a:r>
            <a:br>
              <a:rPr kumimoji="0" lang="en-IN" sz="1399" b="0" i="0" u="none" strike="noStrike" kern="1200" cap="none" spc="0" normalizeH="0" baseline="0" noProof="0">
                <a:ln>
                  <a:noFill/>
                </a:ln>
                <a:solidFill>
                  <a:schemeClr val="bg1"/>
                </a:solidFill>
                <a:effectLst/>
                <a:uLnTx/>
                <a:uFillTx/>
                <a:latin typeface="EYInterstate"/>
                <a:ea typeface="+mn-ea"/>
                <a:cs typeface="+mn-cs"/>
              </a:rPr>
            </a:br>
            <a:r>
              <a:rPr kumimoji="0" lang="en-IN" sz="1399" b="0" i="0" u="none" strike="noStrike" kern="1200" cap="none" spc="0" normalizeH="0" baseline="0" noProof="0">
                <a:ln>
                  <a:noFill/>
                </a:ln>
                <a:effectLst/>
                <a:uLnTx/>
                <a:uFillTx/>
                <a:latin typeface="EYInterstate"/>
                <a:ea typeface="+mn-ea"/>
                <a:cs typeface="+mn-cs"/>
              </a:rPr>
              <a:t>Seller:</a:t>
            </a:r>
            <a:r>
              <a:rPr kumimoji="0" lang="en-IN" sz="1399" b="0" i="0" u="none" strike="noStrike" kern="1200" cap="none" spc="0" normalizeH="0" baseline="0" noProof="0">
                <a:ln>
                  <a:noFill/>
                </a:ln>
                <a:solidFill>
                  <a:schemeClr val="bg1"/>
                </a:solidFill>
                <a:effectLst/>
                <a:uLnTx/>
                <a:uFillTx/>
                <a:latin typeface="EYInterstate"/>
                <a:ea typeface="+mn-ea"/>
                <a:cs typeface="+mn-cs"/>
              </a:rPr>
              <a:t> Debit Intercompany Receivable, Credit Revenue</a:t>
            </a:r>
            <a:br>
              <a:rPr kumimoji="0" lang="en-IN" sz="1399" b="0" i="0" u="none" strike="noStrike" kern="1200" cap="none" spc="0" normalizeH="0" baseline="0" noProof="0">
                <a:ln>
                  <a:noFill/>
                </a:ln>
                <a:solidFill>
                  <a:schemeClr val="bg1"/>
                </a:solidFill>
                <a:effectLst/>
                <a:uLnTx/>
                <a:uFillTx/>
                <a:latin typeface="EYInterstate"/>
                <a:ea typeface="+mn-ea"/>
                <a:cs typeface="+mn-cs"/>
              </a:rPr>
            </a:br>
            <a:r>
              <a:rPr kumimoji="0" lang="en-IN" sz="1399" b="0" i="0" u="none" strike="noStrike" kern="1200" cap="none" spc="0" normalizeH="0" baseline="0" noProof="0">
                <a:ln>
                  <a:noFill/>
                </a:ln>
                <a:effectLst/>
                <a:uLnTx/>
                <a:uFillTx/>
                <a:latin typeface="EYInterstate"/>
                <a:ea typeface="+mn-ea"/>
                <a:cs typeface="+mn-cs"/>
              </a:rPr>
              <a:t>Buyer:</a:t>
            </a:r>
            <a:r>
              <a:rPr kumimoji="0" lang="en-IN" sz="1399" b="0" i="0" u="none" strike="noStrike" kern="1200" cap="none" spc="0" normalizeH="0" baseline="0" noProof="0">
                <a:ln>
                  <a:noFill/>
                </a:ln>
                <a:solidFill>
                  <a:schemeClr val="bg1"/>
                </a:solidFill>
                <a:effectLst/>
                <a:uLnTx/>
                <a:uFillTx/>
                <a:latin typeface="EYInterstate"/>
                <a:ea typeface="+mn-ea"/>
                <a:cs typeface="+mn-cs"/>
              </a:rPr>
              <a:t> Debit Expense/Inventory, Credit Intercompany Payable</a:t>
            </a:r>
            <a:endParaRPr kumimoji="0" lang="en-US" sz="1199" b="0" i="0" u="none" strike="noStrike" kern="1200" cap="none" spc="0" normalizeH="0" baseline="0" noProof="0">
              <a:ln>
                <a:noFill/>
              </a:ln>
              <a:solidFill>
                <a:schemeClr val="bg1"/>
              </a:solidFill>
              <a:effectLst/>
              <a:uLnTx/>
              <a:uFillTx/>
              <a:latin typeface="EYInterstate"/>
              <a:ea typeface="+mn-ea"/>
              <a:cs typeface="+mn-cs"/>
            </a:endParaRPr>
          </a:p>
        </p:txBody>
      </p:sp>
      <p:sp>
        <p:nvSpPr>
          <p:cNvPr id="57" name="TextBox 56">
            <a:extLst>
              <a:ext uri="{FF2B5EF4-FFF2-40B4-BE49-F238E27FC236}">
                <a16:creationId xmlns:a16="http://schemas.microsoft.com/office/drawing/2014/main" id="{E06B6351-A13C-C7DF-77F8-33528EE714B0}"/>
              </a:ext>
            </a:extLst>
          </p:cNvPr>
          <p:cNvSpPr txBox="1"/>
          <p:nvPr/>
        </p:nvSpPr>
        <p:spPr>
          <a:xfrm>
            <a:off x="794772" y="4009310"/>
            <a:ext cx="3156450" cy="953594"/>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How is the transaction amount determined?</a:t>
            </a:r>
          </a:p>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399" b="0" i="0" u="none" strike="noStrike" kern="1200" cap="none" spc="0" normalizeH="0" baseline="0" noProof="0">
                <a:ln>
                  <a:noFill/>
                </a:ln>
                <a:solidFill>
                  <a:schemeClr val="bg1"/>
                </a:solidFill>
                <a:effectLst/>
                <a:uLnTx/>
                <a:uFillTx/>
                <a:latin typeface="EYInterstate"/>
                <a:ea typeface="+mn-ea"/>
                <a:cs typeface="+mn-cs"/>
              </a:rPr>
              <a:t>Is currency conversion required?</a:t>
            </a:r>
            <a:endParaRPr kumimoji="0" lang="en-US" sz="1199" b="0" i="0" u="none" strike="noStrike" kern="1200" cap="none" spc="0" normalizeH="0" baseline="0" noProof="0">
              <a:ln>
                <a:noFill/>
              </a:ln>
              <a:solidFill>
                <a:schemeClr val="bg1"/>
              </a:solidFill>
              <a:effectLst/>
              <a:uLnTx/>
              <a:uFillTx/>
              <a:latin typeface="EYInterstate"/>
              <a:ea typeface="+mn-ea"/>
              <a:cs typeface="+mn-cs"/>
            </a:endParaRPr>
          </a:p>
        </p:txBody>
      </p:sp>
      <p:sp>
        <p:nvSpPr>
          <p:cNvPr id="58" name="TextBox 57">
            <a:extLst>
              <a:ext uri="{FF2B5EF4-FFF2-40B4-BE49-F238E27FC236}">
                <a16:creationId xmlns:a16="http://schemas.microsoft.com/office/drawing/2014/main" id="{36C4873A-6267-057E-629E-84A679376F5B}"/>
              </a:ext>
            </a:extLst>
          </p:cNvPr>
          <p:cNvSpPr txBox="1"/>
          <p:nvPr/>
        </p:nvSpPr>
        <p:spPr>
          <a:xfrm>
            <a:off x="609318" y="1623410"/>
            <a:ext cx="3156450" cy="1384995"/>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US" sz="1200" b="0" i="0" u="none" strike="noStrike" kern="1200" cap="none" spc="0" normalizeH="0" baseline="0" noProof="0">
                <a:ln>
                  <a:noFill/>
                </a:ln>
                <a:solidFill>
                  <a:schemeClr val="bg1"/>
                </a:solidFill>
                <a:effectLst/>
                <a:uLnTx/>
                <a:uFillTx/>
                <a:latin typeface="EYInterstate"/>
                <a:ea typeface="+mn-ea"/>
                <a:cs typeface="+mn-cs"/>
              </a:rPr>
              <a:t>Attach invoice, allocation logic, or supporting documentation.</a:t>
            </a:r>
          </a:p>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200" b="0" i="0" u="none" strike="noStrike" kern="1200" cap="none" spc="0" normalizeH="0" baseline="0" noProof="0">
                <a:ln>
                  <a:noFill/>
                </a:ln>
                <a:solidFill>
                  <a:schemeClr val="bg1"/>
                </a:solidFill>
                <a:effectLst/>
                <a:uLnTx/>
                <a:uFillTx/>
                <a:latin typeface="EYInterstate"/>
                <a:ea typeface="+mn-ea"/>
                <a:cs typeface="+mn-cs"/>
              </a:rPr>
              <a:t>Automated checks (e.g., both sides match, correct accounts used)</a:t>
            </a:r>
          </a:p>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200" b="0" i="0" u="none" strike="noStrike" kern="1200" cap="none" spc="0" normalizeH="0" baseline="0" noProof="0">
                <a:ln>
                  <a:noFill/>
                </a:ln>
                <a:solidFill>
                  <a:schemeClr val="bg1"/>
                </a:solidFill>
                <a:effectLst/>
                <a:uLnTx/>
                <a:uFillTx/>
                <a:latin typeface="EYInterstate"/>
                <a:ea typeface="+mn-ea"/>
                <a:cs typeface="+mn-cs"/>
              </a:rPr>
              <a:t>Workflow for approval if needed</a:t>
            </a:r>
          </a:p>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200" b="0" i="0" u="none" strike="noStrike" kern="1200" cap="none" spc="0" normalizeH="0" baseline="0" noProof="0">
                <a:ln>
                  <a:noFill/>
                </a:ln>
                <a:solidFill>
                  <a:schemeClr val="bg1"/>
                </a:solidFill>
                <a:effectLst/>
                <a:uLnTx/>
                <a:uFillTx/>
                <a:latin typeface="EYInterstate"/>
                <a:ea typeface="+mn-ea"/>
                <a:cs typeface="+mn-cs"/>
              </a:rPr>
              <a:t>Post journals in both entities’ ledgers</a:t>
            </a:r>
          </a:p>
          <a:p>
            <a:pPr marL="285750" marR="0" lvl="0" indent="-2857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200" b="0" i="0" u="none" strike="noStrike" kern="1200" cap="none" spc="0" normalizeH="0" baseline="0" noProof="0">
                <a:ln>
                  <a:noFill/>
                </a:ln>
                <a:solidFill>
                  <a:schemeClr val="bg1"/>
                </a:solidFill>
                <a:effectLst/>
                <a:uLnTx/>
                <a:uFillTx/>
                <a:latin typeface="EYInterstate"/>
                <a:ea typeface="+mn-ea"/>
                <a:cs typeface="+mn-cs"/>
              </a:rPr>
              <a:t>Reconcile intercompany balances</a:t>
            </a:r>
            <a:endParaRPr kumimoji="0" lang="en-US" sz="1200" b="0" i="0" u="none" strike="noStrike" kern="1200" cap="none" spc="0" normalizeH="0" baseline="0" noProof="0">
              <a:ln>
                <a:noFill/>
              </a:ln>
              <a:solidFill>
                <a:schemeClr val="bg1"/>
              </a:solidFill>
              <a:effectLst/>
              <a:uLnTx/>
              <a:uFillTx/>
              <a:latin typeface="EYInterstate"/>
              <a:ea typeface="+mn-ea"/>
              <a:cs typeface="+mn-cs"/>
            </a:endParaRPr>
          </a:p>
        </p:txBody>
      </p:sp>
      <p:cxnSp>
        <p:nvCxnSpPr>
          <p:cNvPr id="59" name="Connector: Elbow 58">
            <a:extLst>
              <a:ext uri="{FF2B5EF4-FFF2-40B4-BE49-F238E27FC236}">
                <a16:creationId xmlns:a16="http://schemas.microsoft.com/office/drawing/2014/main" id="{CE725717-E958-4B8C-19D4-8D8D46AE70E6}"/>
              </a:ext>
            </a:extLst>
          </p:cNvPr>
          <p:cNvCxnSpPr>
            <a:cxnSpLocks/>
          </p:cNvCxnSpPr>
          <p:nvPr/>
        </p:nvCxnSpPr>
        <p:spPr>
          <a:xfrm>
            <a:off x="794772" y="1585895"/>
            <a:ext cx="3097365" cy="1267981"/>
          </a:xfrm>
          <a:prstGeom prst="bentConnector3">
            <a:avLst>
              <a:gd name="adj1" fmla="val 94117"/>
            </a:avLst>
          </a:prstGeom>
          <a:noFill/>
          <a:ln w="12700" cap="sq" cmpd="sng" algn="ctr">
            <a:solidFill>
              <a:srgbClr val="D2D2DA"/>
            </a:solidFill>
            <a:prstDash val="sysDot"/>
            <a:miter lim="800000"/>
            <a:tailEnd type="triangle"/>
          </a:ln>
          <a:effectLst/>
        </p:spPr>
      </p:cxnSp>
      <p:cxnSp>
        <p:nvCxnSpPr>
          <p:cNvPr id="60" name="Connector: Elbow 59">
            <a:extLst>
              <a:ext uri="{FF2B5EF4-FFF2-40B4-BE49-F238E27FC236}">
                <a16:creationId xmlns:a16="http://schemas.microsoft.com/office/drawing/2014/main" id="{7789F510-AFF9-BB12-1447-21CB270A8F12}"/>
              </a:ext>
            </a:extLst>
          </p:cNvPr>
          <p:cNvCxnSpPr>
            <a:cxnSpLocks/>
          </p:cNvCxnSpPr>
          <p:nvPr/>
        </p:nvCxnSpPr>
        <p:spPr>
          <a:xfrm>
            <a:off x="967019" y="3966609"/>
            <a:ext cx="3185778" cy="829831"/>
          </a:xfrm>
          <a:prstGeom prst="bentConnector3">
            <a:avLst>
              <a:gd name="adj1" fmla="val 92335"/>
            </a:avLst>
          </a:prstGeom>
          <a:noFill/>
          <a:ln w="12700" cap="sq" cmpd="sng" algn="ctr">
            <a:solidFill>
              <a:srgbClr val="D2D2DA"/>
            </a:solidFill>
            <a:prstDash val="sysDot"/>
            <a:miter lim="800000"/>
            <a:tailEnd type="triangle"/>
          </a:ln>
          <a:effectLst/>
        </p:spPr>
      </p:cxnSp>
      <p:cxnSp>
        <p:nvCxnSpPr>
          <p:cNvPr id="61" name="Connector: Elbow 60">
            <a:extLst>
              <a:ext uri="{FF2B5EF4-FFF2-40B4-BE49-F238E27FC236}">
                <a16:creationId xmlns:a16="http://schemas.microsoft.com/office/drawing/2014/main" id="{B08D26C1-42E5-B631-F5B8-E2F910AF309F}"/>
              </a:ext>
            </a:extLst>
          </p:cNvPr>
          <p:cNvCxnSpPr>
            <a:cxnSpLocks/>
          </p:cNvCxnSpPr>
          <p:nvPr/>
        </p:nvCxnSpPr>
        <p:spPr>
          <a:xfrm rot="10800000" flipV="1">
            <a:off x="8222603" y="2354725"/>
            <a:ext cx="3175743" cy="421255"/>
          </a:xfrm>
          <a:prstGeom prst="bentConnector3">
            <a:avLst>
              <a:gd name="adj1" fmla="val 96101"/>
            </a:avLst>
          </a:prstGeom>
          <a:noFill/>
          <a:ln w="12700" cap="sq" cmpd="sng" algn="ctr">
            <a:solidFill>
              <a:srgbClr val="D2D2DA"/>
            </a:solidFill>
            <a:prstDash val="sysDot"/>
            <a:miter lim="800000"/>
            <a:tailEnd type="triangle"/>
          </a:ln>
          <a:effectLst/>
        </p:spPr>
      </p:cxnSp>
      <p:cxnSp>
        <p:nvCxnSpPr>
          <p:cNvPr id="62" name="Connector: Elbow 61">
            <a:extLst>
              <a:ext uri="{FF2B5EF4-FFF2-40B4-BE49-F238E27FC236}">
                <a16:creationId xmlns:a16="http://schemas.microsoft.com/office/drawing/2014/main" id="{BE5FE2D4-9207-9F25-0D57-4BD1A247766C}"/>
              </a:ext>
            </a:extLst>
          </p:cNvPr>
          <p:cNvCxnSpPr>
            <a:cxnSpLocks/>
          </p:cNvCxnSpPr>
          <p:nvPr/>
        </p:nvCxnSpPr>
        <p:spPr>
          <a:xfrm rot="10800000" flipV="1">
            <a:off x="8144224" y="4249237"/>
            <a:ext cx="3175743" cy="421255"/>
          </a:xfrm>
          <a:prstGeom prst="bentConnector3">
            <a:avLst>
              <a:gd name="adj1" fmla="val 96101"/>
            </a:avLst>
          </a:prstGeom>
          <a:noFill/>
          <a:ln w="12700" cap="sq" cmpd="sng" algn="ctr">
            <a:solidFill>
              <a:srgbClr val="D2D2DA"/>
            </a:solidFill>
            <a:prstDash val="sysDot"/>
            <a:miter lim="800000"/>
            <a:tailEnd type="triangle"/>
          </a:ln>
          <a:effectLst/>
        </p:spPr>
      </p:cxnSp>
      <p:cxnSp>
        <p:nvCxnSpPr>
          <p:cNvPr id="63" name="Connector: Elbow 62">
            <a:extLst>
              <a:ext uri="{FF2B5EF4-FFF2-40B4-BE49-F238E27FC236}">
                <a16:creationId xmlns:a16="http://schemas.microsoft.com/office/drawing/2014/main" id="{FFFFD17D-C99C-529D-6770-B2271F0F3353}"/>
              </a:ext>
            </a:extLst>
          </p:cNvPr>
          <p:cNvCxnSpPr>
            <a:cxnSpLocks/>
          </p:cNvCxnSpPr>
          <p:nvPr/>
        </p:nvCxnSpPr>
        <p:spPr>
          <a:xfrm rot="10800000" flipV="1">
            <a:off x="6634884" y="955258"/>
            <a:ext cx="3749628" cy="766067"/>
          </a:xfrm>
          <a:prstGeom prst="bentConnector3">
            <a:avLst>
              <a:gd name="adj1" fmla="val 84549"/>
            </a:avLst>
          </a:prstGeom>
          <a:noFill/>
          <a:ln w="12700" cap="sq" cmpd="sng" algn="ctr">
            <a:solidFill>
              <a:srgbClr val="D2D2DA"/>
            </a:solidFill>
            <a:prstDash val="sysDot"/>
            <a:miter lim="800000"/>
            <a:tailEnd type="triangle"/>
          </a:ln>
          <a:effectLst/>
        </p:spPr>
      </p:cxnSp>
      <p:cxnSp>
        <p:nvCxnSpPr>
          <p:cNvPr id="64" name="Connector: Elbow 63">
            <a:extLst>
              <a:ext uri="{FF2B5EF4-FFF2-40B4-BE49-F238E27FC236}">
                <a16:creationId xmlns:a16="http://schemas.microsoft.com/office/drawing/2014/main" id="{C14100B7-ECC0-69F7-C6F0-1D737D9386BE}"/>
              </a:ext>
            </a:extLst>
          </p:cNvPr>
          <p:cNvCxnSpPr>
            <a:cxnSpLocks/>
          </p:cNvCxnSpPr>
          <p:nvPr/>
        </p:nvCxnSpPr>
        <p:spPr>
          <a:xfrm rot="10800000">
            <a:off x="5520236" y="5626245"/>
            <a:ext cx="2384068" cy="255039"/>
          </a:xfrm>
          <a:prstGeom prst="bentConnector3">
            <a:avLst>
              <a:gd name="adj1" fmla="val 131135"/>
            </a:avLst>
          </a:prstGeom>
          <a:noFill/>
          <a:ln w="12700" cap="sq" cmpd="sng" algn="ctr">
            <a:solidFill>
              <a:srgbClr val="D2D2DA"/>
            </a:solidFill>
            <a:prstDash val="sysDot"/>
            <a:miter lim="800000"/>
            <a:tailEnd type="triangle"/>
          </a:ln>
          <a:effectLst/>
        </p:spPr>
      </p:cxnSp>
      <p:pic>
        <p:nvPicPr>
          <p:cNvPr id="3" name="Graphic 2" descr="Open book with solid fill">
            <a:extLst>
              <a:ext uri="{FF2B5EF4-FFF2-40B4-BE49-F238E27FC236}">
                <a16:creationId xmlns:a16="http://schemas.microsoft.com/office/drawing/2014/main" id="{C013814A-A5B3-89E3-AAA6-20583ABFB5C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776446" y="2913775"/>
            <a:ext cx="551688" cy="551688"/>
          </a:xfrm>
          <a:prstGeom prst="rect">
            <a:avLst/>
          </a:prstGeom>
        </p:spPr>
      </p:pic>
    </p:spTree>
    <p:extLst>
      <p:ext uri="{BB962C8B-B14F-4D97-AF65-F5344CB8AC3E}">
        <p14:creationId xmlns:p14="http://schemas.microsoft.com/office/powerpoint/2010/main" val="341023549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135E0A-57BD-948B-AAD2-EBA1C4152162}"/>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B9C0FB26-ED82-6148-6E97-AFA35087343B}"/>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D9C9E2D8-9521-0397-77A2-FB5AB8B615F1}"/>
              </a:ext>
            </a:extLst>
          </p:cNvPr>
          <p:cNvSpPr txBox="1"/>
          <p:nvPr/>
        </p:nvSpPr>
        <p:spPr>
          <a:xfrm>
            <a:off x="929639" y="2181301"/>
            <a:ext cx="4503620" cy="769441"/>
          </a:xfrm>
          <a:prstGeom prst="rect">
            <a:avLst/>
          </a:prstGeom>
          <a:noFill/>
        </p:spPr>
        <p:txBody>
          <a:bodyPr wrap="square" rtlCol="0">
            <a:spAutoFit/>
          </a:bodyPr>
          <a:lstStyle/>
          <a:p>
            <a:r>
              <a:rPr lang="en-IN" sz="4400">
                <a:solidFill>
                  <a:srgbClr val="FFE600"/>
                </a:solidFill>
                <a:latin typeface="EYInterstate" panose="02000503020000020004" pitchFamily="2" charset="0"/>
              </a:rPr>
              <a:t>Order Creation</a:t>
            </a:r>
          </a:p>
        </p:txBody>
      </p:sp>
    </p:spTree>
    <p:extLst>
      <p:ext uri="{BB962C8B-B14F-4D97-AF65-F5344CB8AC3E}">
        <p14:creationId xmlns:p14="http://schemas.microsoft.com/office/powerpoint/2010/main" val="239403093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C62CF6-1345-F78A-2A4B-1328FA55E8D4}"/>
            </a:ext>
          </a:extLst>
        </p:cNvPr>
        <p:cNvGrpSpPr/>
        <p:nvPr/>
      </p:nvGrpSpPr>
      <p:grpSpPr>
        <a:xfrm>
          <a:off x="0" y="0"/>
          <a:ext cx="0" cy="0"/>
          <a:chOff x="0" y="0"/>
          <a:chExt cx="0" cy="0"/>
        </a:xfrm>
      </p:grpSpPr>
      <p:sp>
        <p:nvSpPr>
          <p:cNvPr id="4" name="Footer Placeholder 3">
            <a:extLst>
              <a:ext uri="{FF2B5EF4-FFF2-40B4-BE49-F238E27FC236}">
                <a16:creationId xmlns:a16="http://schemas.microsoft.com/office/drawing/2014/main" id="{53BCB74B-7D96-7385-6B40-E4EE2A28D644}"/>
              </a:ext>
            </a:extLst>
          </p:cNvPr>
          <p:cNvSpPr>
            <a:spLocks noGrp="1"/>
          </p:cNvSpPr>
          <p:nvPr>
            <p:ph type="ftr" sz="quarter" idx="4294967295"/>
          </p:nvPr>
        </p:nvSpPr>
        <p:spPr>
          <a:xfrm>
            <a:off x="192157" y="6417641"/>
            <a:ext cx="3084513" cy="180975"/>
          </a:xfrm>
          <a:prstGeom prst="rect">
            <a:avLst/>
          </a:prstGeom>
        </p:spPr>
        <p:txBody>
          <a:bodyPr/>
          <a:lstStyle/>
          <a:p>
            <a:r>
              <a:rPr lang="en-US" noProof="0"/>
              <a:t>Presentation title</a:t>
            </a:r>
          </a:p>
        </p:txBody>
      </p:sp>
      <p:sp>
        <p:nvSpPr>
          <p:cNvPr id="49" name="Title 1">
            <a:extLst>
              <a:ext uri="{FF2B5EF4-FFF2-40B4-BE49-F238E27FC236}">
                <a16:creationId xmlns:a16="http://schemas.microsoft.com/office/drawing/2014/main" id="{51E2A914-82BC-67EE-1004-1EF7FE9B8A85}"/>
              </a:ext>
            </a:extLst>
          </p:cNvPr>
          <p:cNvSpPr>
            <a:spLocks noGrp="1"/>
          </p:cNvSpPr>
          <p:nvPr>
            <p:ph type="title"/>
          </p:nvPr>
        </p:nvSpPr>
        <p:spPr>
          <a:xfrm>
            <a:off x="678534" y="396827"/>
            <a:ext cx="10972800" cy="444140"/>
          </a:xfrm>
          <a:noFill/>
          <a:ln>
            <a:noFill/>
          </a:ln>
        </p:spPr>
        <p:txBody>
          <a:bodyPr vert="horz" wrap="square" lIns="0" tIns="0" rIns="0" bIns="0" rtlCol="0" anchor="t" anchorCtr="0" compatLnSpc="1">
            <a:noAutofit/>
          </a:bodyPr>
          <a:lstStyle/>
          <a:p>
            <a:pPr defTabSz="913942">
              <a:lnSpc>
                <a:spcPct val="100000"/>
              </a:lnSpc>
              <a:spcBef>
                <a:spcPts val="500"/>
              </a:spcBef>
              <a:buClr>
                <a:srgbClr val="FFE600"/>
              </a:buClr>
              <a:buSzPct val="110000"/>
              <a:buFont typeface="EYInterstate Light" pitchFamily="2"/>
            </a:pPr>
            <a:r>
              <a:rPr lang="en-US" sz="2400" b="1">
                <a:solidFill>
                  <a:srgbClr val="FFE600"/>
                </a:solidFill>
                <a:latin typeface="EY interstate heading"/>
                <a:ea typeface="+mn-ea"/>
                <a:cs typeface="+mn-cs"/>
              </a:rPr>
              <a:t>Transfer Pricing &amp; Markup Calculator</a:t>
            </a:r>
          </a:p>
        </p:txBody>
      </p:sp>
      <p:sp>
        <p:nvSpPr>
          <p:cNvPr id="2" name="Rectangle 1">
            <a:extLst>
              <a:ext uri="{FF2B5EF4-FFF2-40B4-BE49-F238E27FC236}">
                <a16:creationId xmlns:a16="http://schemas.microsoft.com/office/drawing/2014/main" id="{1917DB57-8A49-7E04-57F4-5D30FB97AB83}"/>
              </a:ext>
            </a:extLst>
          </p:cNvPr>
          <p:cNvSpPr/>
          <p:nvPr/>
        </p:nvSpPr>
        <p:spPr>
          <a:xfrm flipV="1">
            <a:off x="6734856" y="1343749"/>
            <a:ext cx="4516741" cy="4923855"/>
          </a:xfrm>
          <a:prstGeom prst="rect">
            <a:avLst/>
          </a:prstGeom>
          <a:solidFill>
            <a:schemeClr val="bg1">
              <a:lumMod val="85000"/>
              <a:alpha val="25000"/>
            </a:schemeClr>
          </a:solidFill>
          <a:ln w="22225" cap="flat" cmpd="sng" algn="ctr">
            <a:solidFill>
              <a:schemeClr val="bg1">
                <a:lumMod val="85000"/>
              </a:schemeClr>
            </a:solidFill>
            <a:prstDash val="solid"/>
            <a:miter lim="800000"/>
          </a:ln>
          <a:effectLst/>
        </p:spPr>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099" b="0" i="0" u="none" strike="noStrike" kern="0" cap="none" spc="0" normalizeH="0" baseline="0" noProof="0">
              <a:ln>
                <a:noFill/>
              </a:ln>
              <a:solidFill>
                <a:srgbClr val="2E2E38"/>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312396F8-B0DE-0C6B-B9EB-479762F9B358}"/>
              </a:ext>
            </a:extLst>
          </p:cNvPr>
          <p:cNvSpPr/>
          <p:nvPr/>
        </p:nvSpPr>
        <p:spPr bwMode="auto">
          <a:xfrm>
            <a:off x="733226" y="947530"/>
            <a:ext cx="5225028" cy="5413512"/>
          </a:xfrm>
          <a:prstGeom prst="rect">
            <a:avLst/>
          </a:prstGeom>
          <a:noFill/>
          <a:ln w="222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1018665" rtl="0" eaLnBrk="1" fontAlgn="base" latinLnBrk="0" hangingPunct="1">
              <a:lnSpc>
                <a:spcPct val="100000"/>
              </a:lnSpc>
              <a:spcBef>
                <a:spcPct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EYInterstate Light"/>
                <a:ea typeface="+mn-ea"/>
                <a:cs typeface="+mn-cs"/>
              </a:rPr>
              <a:t>Markup Calculator</a:t>
            </a:r>
          </a:p>
        </p:txBody>
      </p:sp>
      <p:sp>
        <p:nvSpPr>
          <p:cNvPr id="7" name="TextBox 6">
            <a:extLst>
              <a:ext uri="{FF2B5EF4-FFF2-40B4-BE49-F238E27FC236}">
                <a16:creationId xmlns:a16="http://schemas.microsoft.com/office/drawing/2014/main" id="{FF08B789-31DD-FB07-65F4-B6252BACB2D9}"/>
              </a:ext>
            </a:extLst>
          </p:cNvPr>
          <p:cNvSpPr txBox="1"/>
          <p:nvPr/>
        </p:nvSpPr>
        <p:spPr>
          <a:xfrm rot="16200000">
            <a:off x="282250" y="2030847"/>
            <a:ext cx="1719104" cy="606752"/>
          </a:xfrm>
          <a:prstGeom prst="rect">
            <a:avLst/>
          </a:prstGeom>
          <a:solidFill>
            <a:schemeClr val="bg1"/>
          </a:solidFill>
        </p:spPr>
        <p:txBody>
          <a:bodyPr wrap="square" lIns="71963" tIns="71963" rIns="71963" bIns="71963" rtlCol="0" anchor="ctr">
            <a:noAutofit/>
          </a:bodyPr>
          <a:lstStyle/>
          <a:p>
            <a:pPr marL="0" marR="0" lvl="0" indent="0" algn="ctr" defTabSz="1018665" rtl="0" eaLnBrk="1" fontAlgn="base" latinLnBrk="0" hangingPunct="1">
              <a:lnSpc>
                <a:spcPts val="1199"/>
              </a:lnSpc>
              <a:spcBef>
                <a:spcPts val="0"/>
              </a:spcBef>
              <a:spcAft>
                <a:spcPts val="600"/>
              </a:spcAft>
              <a:buClr>
                <a:prstClr val="white"/>
              </a:buClr>
              <a:buSzPct val="70000"/>
              <a:buFontTx/>
              <a:buNone/>
              <a:tabLst/>
              <a:defRPr/>
            </a:pPr>
            <a:r>
              <a:rPr lang="en-US" sz="1000" b="1">
                <a:solidFill>
                  <a:srgbClr val="2E2E38"/>
                </a:solidFill>
                <a:latin typeface="EYInterstate"/>
              </a:rPr>
              <a:t>How does it work?</a:t>
            </a:r>
            <a:endParaRPr kumimoji="0" lang="en-US" sz="1000" b="1" i="0" u="none" strike="noStrike" kern="1200" cap="none" spc="0" normalizeH="0" baseline="0" noProof="0">
              <a:ln>
                <a:noFill/>
              </a:ln>
              <a:solidFill>
                <a:srgbClr val="2E2E38"/>
              </a:solidFill>
              <a:effectLst/>
              <a:uLnTx/>
              <a:uFillTx/>
              <a:latin typeface="EYInterstate"/>
              <a:ea typeface="+mn-ea"/>
              <a:cs typeface="+mn-cs"/>
            </a:endParaRPr>
          </a:p>
        </p:txBody>
      </p:sp>
      <p:grpSp>
        <p:nvGrpSpPr>
          <p:cNvPr id="8" name="Group 7">
            <a:extLst>
              <a:ext uri="{FF2B5EF4-FFF2-40B4-BE49-F238E27FC236}">
                <a16:creationId xmlns:a16="http://schemas.microsoft.com/office/drawing/2014/main" id="{E9677F14-AFC3-7111-9704-004BBD2FEC77}"/>
              </a:ext>
            </a:extLst>
          </p:cNvPr>
          <p:cNvGrpSpPr/>
          <p:nvPr/>
        </p:nvGrpSpPr>
        <p:grpSpPr>
          <a:xfrm>
            <a:off x="1578688" y="1474671"/>
            <a:ext cx="4192634" cy="1719104"/>
            <a:chOff x="5897696" y="3509785"/>
            <a:chExt cx="6181031" cy="341311"/>
          </a:xfrm>
        </p:grpSpPr>
        <p:sp>
          <p:nvSpPr>
            <p:cNvPr id="9" name="Rectangle 8">
              <a:extLst>
                <a:ext uri="{FF2B5EF4-FFF2-40B4-BE49-F238E27FC236}">
                  <a16:creationId xmlns:a16="http://schemas.microsoft.com/office/drawing/2014/main" id="{C92BDD5D-F0F8-F0EA-60DF-DDC9A7A8082D}"/>
                </a:ext>
              </a:extLst>
            </p:cNvPr>
            <p:cNvSpPr/>
            <p:nvPr/>
          </p:nvSpPr>
          <p:spPr>
            <a:xfrm flipV="1">
              <a:off x="5897696" y="3509785"/>
              <a:ext cx="6181031" cy="341311"/>
            </a:xfrm>
            <a:prstGeom prst="rect">
              <a:avLst/>
            </a:prstGeom>
            <a:solidFill>
              <a:srgbClr val="FFE600">
                <a:alpha val="25000"/>
              </a:srgbClr>
            </a:solidFill>
            <a:ln w="22225" cap="flat" cmpd="sng" algn="ctr">
              <a:solidFill>
                <a:srgbClr val="FFE600"/>
              </a:solidFill>
              <a:prstDash val="solid"/>
              <a:miter lim="800000"/>
            </a:ln>
            <a:effectLst/>
          </p:spPr>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099" b="0" i="0" u="none" strike="noStrike" kern="0" cap="none" spc="0" normalizeH="0" baseline="0" noProof="0">
                <a:ln>
                  <a:noFill/>
                </a:ln>
                <a:solidFill>
                  <a:srgbClr val="2E2E38"/>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E44879E2-120C-4950-0134-8245872536E2}"/>
                </a:ext>
              </a:extLst>
            </p:cNvPr>
            <p:cNvSpPr/>
            <p:nvPr/>
          </p:nvSpPr>
          <p:spPr>
            <a:xfrm>
              <a:off x="6027268" y="3549629"/>
              <a:ext cx="2525109" cy="275588"/>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1000" b="0" i="0" u="none" strike="noStrike" kern="1200" cap="none" spc="0" normalizeH="0" baseline="0" noProof="0">
                  <a:ln>
                    <a:noFill/>
                  </a:ln>
                  <a:solidFill>
                    <a:srgbClr val="FFE600"/>
                  </a:solidFill>
                  <a:effectLst/>
                  <a:uLnTx/>
                  <a:uFillTx/>
                  <a:latin typeface="EYInterstate"/>
                  <a:ea typeface="+mn-ea"/>
                  <a:cs typeface="+mn-cs"/>
                </a:rPr>
                <a:t>Input</a:t>
              </a: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endParaRPr kumimoji="0" lang="pl-PL" sz="1000" b="0" i="0" u="none" strike="noStrike" kern="1200" cap="none" spc="0" normalizeH="0" baseline="0" noProof="0">
                <a:ln>
                  <a:noFill/>
                </a:ln>
                <a:solidFill>
                  <a:srgbClr val="FFE600"/>
                </a:solidFill>
                <a:effectLst/>
                <a:uLnTx/>
                <a:uFillTx/>
                <a:latin typeface="EYInterstate"/>
                <a:ea typeface="+mn-ea"/>
                <a:cs typeface="+mn-cs"/>
              </a:endParaRPr>
            </a:p>
            <a:p>
              <a:pPr marL="171450" marR="0" lvl="0" indent="-1714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000" b="0" i="0" u="none" strike="noStrike" kern="1200" cap="none" spc="0" normalizeH="0" baseline="0" noProof="0">
                  <a:ln>
                    <a:noFill/>
                  </a:ln>
                  <a:solidFill>
                    <a:prstClr val="white"/>
                  </a:solidFill>
                  <a:effectLst/>
                  <a:uLnTx/>
                  <a:uFillTx/>
                  <a:latin typeface="EYInterstate"/>
                  <a:ea typeface="+mn-ea"/>
                  <a:cs typeface="+mn-cs"/>
                </a:rPr>
                <a:t>Total Cost (e.g., manufacturing or service cost)</a:t>
              </a:r>
            </a:p>
            <a:p>
              <a:pPr marL="171450" marR="0" lvl="0" indent="-171450" algn="l" defTabSz="913943" rtl="0" eaLnBrk="1" fontAlgn="auto" latinLnBrk="0" hangingPunct="1">
                <a:lnSpc>
                  <a:spcPct val="100000"/>
                </a:lnSpc>
                <a:spcBef>
                  <a:spcPts val="0"/>
                </a:spcBef>
                <a:spcAft>
                  <a:spcPts val="0"/>
                </a:spcAft>
                <a:buClrTx/>
                <a:buSzTx/>
                <a:buFont typeface="Wingdings" panose="05000000000000000000" pitchFamily="2" charset="2"/>
                <a:buChar char="Ø"/>
                <a:tabLst>
                  <a:tab pos="456971" algn="l"/>
                </a:tabLst>
                <a:defRPr/>
              </a:pPr>
              <a:r>
                <a:rPr kumimoji="0" lang="en-IN" sz="1000" b="0" i="0" u="none" strike="noStrike" kern="1200" cap="none" spc="0" normalizeH="0" baseline="0" noProof="0">
                  <a:ln>
                    <a:noFill/>
                  </a:ln>
                  <a:solidFill>
                    <a:prstClr val="white"/>
                  </a:solidFill>
                  <a:effectLst/>
                  <a:uLnTx/>
                  <a:uFillTx/>
                  <a:latin typeface="EYInterstate"/>
                  <a:ea typeface="+mn-ea"/>
                  <a:cs typeface="+mn-cs"/>
                </a:rPr>
                <a:t>Markup % (based on industry benchmarks or comparable transactions)</a:t>
              </a:r>
              <a:endParaRPr kumimoji="0" lang="en-US" sz="1000" b="0" i="0" u="none" strike="noStrike" kern="1200" cap="none" spc="0" normalizeH="0" baseline="0" noProof="0">
                <a:ln>
                  <a:noFill/>
                </a:ln>
                <a:solidFill>
                  <a:prstClr val="white"/>
                </a:solidFill>
                <a:effectLst/>
                <a:uLnTx/>
                <a:uFillTx/>
                <a:latin typeface="EYInterstate"/>
                <a:ea typeface="+mn-ea"/>
                <a:cs typeface="+mn-cs"/>
              </a:endParaRPr>
            </a:p>
          </p:txBody>
        </p:sp>
        <p:sp>
          <p:nvSpPr>
            <p:cNvPr id="11" name="Rectangle 10">
              <a:extLst>
                <a:ext uri="{FF2B5EF4-FFF2-40B4-BE49-F238E27FC236}">
                  <a16:creationId xmlns:a16="http://schemas.microsoft.com/office/drawing/2014/main" id="{B37BB0BA-FC44-ADE3-169B-9CE25008D643}"/>
                </a:ext>
              </a:extLst>
            </p:cNvPr>
            <p:cNvSpPr/>
            <p:nvPr/>
          </p:nvSpPr>
          <p:spPr>
            <a:xfrm>
              <a:off x="10230206" y="3576147"/>
              <a:ext cx="1404209" cy="220907"/>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1000" b="0" i="0" u="none" strike="noStrike" kern="1200" cap="none" spc="0" normalizeH="0" baseline="0" noProof="0">
                  <a:ln>
                    <a:noFill/>
                  </a:ln>
                  <a:solidFill>
                    <a:srgbClr val="FFE600"/>
                  </a:solidFill>
                  <a:effectLst/>
                  <a:uLnTx/>
                  <a:uFillTx/>
                  <a:latin typeface="EYInterstate"/>
                  <a:ea typeface="+mn-ea"/>
                  <a:cs typeface="+mn-cs"/>
                </a:rPr>
                <a:t>Output</a:t>
              </a: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endParaRPr kumimoji="0" lang="pl-PL" sz="1000" b="0" i="0" u="none" strike="noStrike" kern="1200" cap="none" spc="0" normalizeH="0" baseline="0" noProof="0">
                <a:ln>
                  <a:noFill/>
                </a:ln>
                <a:solidFill>
                  <a:srgbClr val="FFE600"/>
                </a:solidFill>
                <a:effectLst/>
                <a:uLnTx/>
                <a:uFillTx/>
                <a:latin typeface="EYInterstate"/>
                <a:ea typeface="+mn-ea"/>
                <a:cs typeface="+mn-cs"/>
              </a:endParaRPr>
            </a:p>
            <a:p>
              <a:pPr marR="0" lvl="0" algn="l" defTabSz="913943" rtl="0" eaLnBrk="1" fontAlgn="auto" latinLnBrk="0" hangingPunct="1">
                <a:lnSpc>
                  <a:spcPct val="100000"/>
                </a:lnSpc>
                <a:spcBef>
                  <a:spcPts val="0"/>
                </a:spcBef>
                <a:spcAft>
                  <a:spcPts val="0"/>
                </a:spcAft>
                <a:buClrTx/>
                <a:buSzTx/>
                <a:tabLst>
                  <a:tab pos="456971" algn="l"/>
                </a:tabLst>
                <a:defRPr/>
              </a:pPr>
              <a:r>
                <a:rPr kumimoji="0" lang="en-US" sz="1000" b="0" i="0" u="none" strike="noStrike" kern="1200" cap="none" spc="0" normalizeH="0" baseline="0" noProof="0">
                  <a:ln>
                    <a:noFill/>
                  </a:ln>
                  <a:solidFill>
                    <a:prstClr val="white"/>
                  </a:solidFill>
                  <a:effectLst/>
                  <a:uLnTx/>
                  <a:uFillTx/>
                  <a:latin typeface="EYInterstate"/>
                  <a:ea typeface="+mn-ea"/>
                  <a:cs typeface="+mn-cs"/>
                </a:rPr>
                <a:t>Arm’s-Length Transfer Price</a:t>
              </a:r>
              <a:endParaRPr kumimoji="0" lang="en-US" sz="1000" b="0" i="0" u="none" strike="noStrike" kern="1200" cap="none" spc="0" normalizeH="0" baseline="0" noProof="0">
                <a:ln>
                  <a:noFill/>
                </a:ln>
                <a:solidFill>
                  <a:prstClr val="white">
                    <a:lumMod val="50000"/>
                  </a:prstClr>
                </a:solidFill>
                <a:effectLst/>
                <a:uLnTx/>
                <a:uFillTx/>
                <a:latin typeface="EYInterstate"/>
                <a:ea typeface="+mn-ea"/>
                <a:cs typeface="+mn-cs"/>
              </a:endParaRPr>
            </a:p>
          </p:txBody>
        </p:sp>
      </p:grpSp>
      <p:sp>
        <p:nvSpPr>
          <p:cNvPr id="12" name="TextBox 11">
            <a:extLst>
              <a:ext uri="{FF2B5EF4-FFF2-40B4-BE49-F238E27FC236}">
                <a16:creationId xmlns:a16="http://schemas.microsoft.com/office/drawing/2014/main" id="{E148928D-2918-0AF6-50A4-8C027CEA4967}"/>
              </a:ext>
            </a:extLst>
          </p:cNvPr>
          <p:cNvSpPr txBox="1"/>
          <p:nvPr/>
        </p:nvSpPr>
        <p:spPr>
          <a:xfrm rot="16200000">
            <a:off x="-297386" y="4525039"/>
            <a:ext cx="2878378" cy="606752"/>
          </a:xfrm>
          <a:prstGeom prst="rect">
            <a:avLst/>
          </a:prstGeom>
          <a:solidFill>
            <a:schemeClr val="bg1"/>
          </a:solidFill>
        </p:spPr>
        <p:txBody>
          <a:bodyPr wrap="square" lIns="71963" tIns="71963" rIns="71963" bIns="71963" rtlCol="0" anchor="ctr">
            <a:noAutofit/>
          </a:bodyPr>
          <a:lstStyle/>
          <a:p>
            <a:pPr marL="0" marR="0" lvl="0" indent="0" algn="ctr" defTabSz="1018665" rtl="0" eaLnBrk="1" fontAlgn="base" latinLnBrk="0" hangingPunct="1">
              <a:lnSpc>
                <a:spcPts val="1199"/>
              </a:lnSpc>
              <a:spcBef>
                <a:spcPts val="0"/>
              </a:spcBef>
              <a:spcAft>
                <a:spcPts val="600"/>
              </a:spcAft>
              <a:buClr>
                <a:prstClr val="white"/>
              </a:buClr>
              <a:buSzPct val="70000"/>
              <a:buFontTx/>
              <a:buNone/>
              <a:tabLst/>
              <a:defRPr/>
            </a:pPr>
            <a:r>
              <a:rPr kumimoji="0" lang="en-US" sz="1000" b="1" i="0" u="none" strike="noStrike" kern="1200" cap="none" spc="0" normalizeH="0" baseline="0" noProof="0">
                <a:ln>
                  <a:noFill/>
                </a:ln>
                <a:solidFill>
                  <a:srgbClr val="2E2E38"/>
                </a:solidFill>
                <a:effectLst/>
                <a:uLnTx/>
                <a:uFillTx/>
                <a:latin typeface="EYInterstate"/>
                <a:ea typeface="+mn-ea"/>
                <a:cs typeface="+mn-cs"/>
              </a:rPr>
              <a:t>FAQs</a:t>
            </a:r>
            <a:endParaRPr kumimoji="0" lang="en-US" sz="1100" b="1" i="0" u="none" strike="noStrike" kern="1200" cap="none" spc="0" normalizeH="0" baseline="0" noProof="0">
              <a:ln>
                <a:noFill/>
              </a:ln>
              <a:solidFill>
                <a:srgbClr val="2E2E38"/>
              </a:solidFill>
              <a:effectLst/>
              <a:uLnTx/>
              <a:uFillTx/>
              <a:latin typeface="EYInterstate"/>
              <a:ea typeface="+mn-ea"/>
              <a:cs typeface="+mn-cs"/>
            </a:endParaRPr>
          </a:p>
        </p:txBody>
      </p:sp>
      <p:sp>
        <p:nvSpPr>
          <p:cNvPr id="13" name="Rectangle 12">
            <a:extLst>
              <a:ext uri="{FF2B5EF4-FFF2-40B4-BE49-F238E27FC236}">
                <a16:creationId xmlns:a16="http://schemas.microsoft.com/office/drawing/2014/main" id="{43374879-48B0-2D42-0466-45E25EFA291A}"/>
              </a:ext>
            </a:extLst>
          </p:cNvPr>
          <p:cNvSpPr/>
          <p:nvPr/>
        </p:nvSpPr>
        <p:spPr>
          <a:xfrm flipV="1">
            <a:off x="1594244" y="3375991"/>
            <a:ext cx="4192635" cy="2891612"/>
          </a:xfrm>
          <a:prstGeom prst="rect">
            <a:avLst/>
          </a:prstGeom>
          <a:solidFill>
            <a:srgbClr val="FFE600">
              <a:alpha val="25000"/>
            </a:srgbClr>
          </a:solidFill>
          <a:ln w="22225" cap="flat" cmpd="sng" algn="ctr">
            <a:solidFill>
              <a:srgbClr val="FFE600"/>
            </a:solidFill>
            <a:prstDash val="solid"/>
            <a:miter lim="800000"/>
          </a:ln>
          <a:effectLst/>
        </p:spPr>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099" b="0" i="0" u="none" strike="noStrike" kern="0" cap="none" spc="0" normalizeH="0" baseline="0" noProof="0">
              <a:ln>
                <a:noFill/>
              </a:ln>
              <a:solidFill>
                <a:srgbClr val="2E2E38"/>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BE6B204D-BC16-B8B3-90F5-D9F94730EA5A}"/>
              </a:ext>
            </a:extLst>
          </p:cNvPr>
          <p:cNvSpPr/>
          <p:nvPr/>
        </p:nvSpPr>
        <p:spPr>
          <a:xfrm>
            <a:off x="3056574" y="3805676"/>
            <a:ext cx="1440152" cy="2411839"/>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Why Use a Markup Calculator?</a:t>
            </a:r>
            <a:br>
              <a:rPr kumimoji="0" lang="en-IN" sz="800" b="0" i="0" u="none" strike="noStrike" kern="1200" cap="none" spc="0" normalizeH="0" baseline="0" noProof="0">
                <a:ln>
                  <a:noFill/>
                </a:ln>
                <a:solidFill>
                  <a:schemeClr val="bg1"/>
                </a:solidFill>
                <a:effectLst/>
                <a:uLnTx/>
                <a:uFillTx/>
                <a:latin typeface="EYInterstate"/>
                <a:ea typeface="+mn-ea"/>
                <a:cs typeface="+mn-cs"/>
              </a:rPr>
            </a:br>
            <a:br>
              <a:rPr kumimoji="0" lang="en-IN" sz="800" b="0" i="0" u="none" strike="noStrike" kern="1200" cap="none" spc="0" normalizeH="0" baseline="0" noProof="0">
                <a:ln>
                  <a:noFill/>
                </a:ln>
                <a:solidFill>
                  <a:schemeClr val="bg1"/>
                </a:solidFill>
                <a:effectLst/>
                <a:uLnTx/>
                <a:uFillTx/>
                <a:latin typeface="EYInterstate"/>
                <a:ea typeface="+mn-ea"/>
                <a:cs typeface="+mn-cs"/>
              </a:rPr>
            </a:br>
            <a:r>
              <a:rPr kumimoji="0" lang="en-IN" sz="800" b="0" i="0" u="none" strike="noStrike" kern="1200" cap="none" spc="0" normalizeH="0" baseline="0" noProof="0">
                <a:ln>
                  <a:noFill/>
                </a:ln>
                <a:solidFill>
                  <a:schemeClr val="bg1"/>
                </a:solidFill>
                <a:effectLst/>
                <a:uLnTx/>
                <a:uFillTx/>
                <a:latin typeface="EYInterstate"/>
                <a:ea typeface="+mn-ea"/>
                <a:cs typeface="+mn-cs"/>
              </a:rPr>
              <a:t>A Transfer Pricing Markup Calculator helps determine the correct markup to apply on intercompany transactions to ensure compliance with tax regulations and avoid </a:t>
            </a:r>
            <a:r>
              <a:rPr kumimoji="0" lang="en-IN" sz="800" b="0" i="0" u="none" strike="noStrike" kern="1200" cap="none" spc="0" normalizeH="0" baseline="0" noProof="0" err="1">
                <a:ln>
                  <a:noFill/>
                </a:ln>
                <a:solidFill>
                  <a:schemeClr val="bg1"/>
                </a:solidFill>
                <a:effectLst/>
                <a:uLnTx/>
                <a:uFillTx/>
                <a:latin typeface="EYInterstate"/>
                <a:ea typeface="+mn-ea"/>
                <a:cs typeface="+mn-cs"/>
              </a:rPr>
              <a:t>penalties.It</a:t>
            </a:r>
            <a:r>
              <a:rPr kumimoji="0" lang="en-IN" sz="800" b="0" i="0" u="none" strike="noStrike" kern="1200" cap="none" spc="0" normalizeH="0" baseline="0" noProof="0">
                <a:ln>
                  <a:noFill/>
                </a:ln>
                <a:solidFill>
                  <a:schemeClr val="bg1"/>
                </a:solidFill>
                <a:effectLst/>
                <a:uLnTx/>
                <a:uFillTx/>
                <a:latin typeface="EYInterstate"/>
                <a:ea typeface="+mn-ea"/>
                <a:cs typeface="+mn-cs"/>
              </a:rPr>
              <a:t> ensures that the selling entity earns a fair profit and the buying entity pays a fair price, based on global standards.</a:t>
            </a:r>
          </a:p>
        </p:txBody>
      </p:sp>
      <p:sp>
        <p:nvSpPr>
          <p:cNvPr id="15" name="Rectangle 14">
            <a:extLst>
              <a:ext uri="{FF2B5EF4-FFF2-40B4-BE49-F238E27FC236}">
                <a16:creationId xmlns:a16="http://schemas.microsoft.com/office/drawing/2014/main" id="{D49727FF-E4C1-529C-9BA4-FBA77FDF1724}"/>
              </a:ext>
            </a:extLst>
          </p:cNvPr>
          <p:cNvSpPr/>
          <p:nvPr/>
        </p:nvSpPr>
        <p:spPr>
          <a:xfrm>
            <a:off x="4605061" y="4147930"/>
            <a:ext cx="1073482" cy="2099574"/>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Why It Matters in R2R?</a:t>
            </a:r>
          </a:p>
          <a:p>
            <a:pPr marL="0" marR="0" lvl="0" indent="0" defTabSz="913943" rtl="0" eaLnBrk="1" fontAlgn="auto" latinLnBrk="0" hangingPunct="1">
              <a:lnSpc>
                <a:spcPct val="100000"/>
              </a:lnSpc>
              <a:spcBef>
                <a:spcPts val="0"/>
              </a:spcBef>
              <a:spcAft>
                <a:spcPts val="0"/>
              </a:spcAft>
              <a:buClrTx/>
              <a:buSzTx/>
              <a:buFontTx/>
              <a:buNone/>
              <a:tabLst>
                <a:tab pos="456971" algn="l"/>
              </a:tabLst>
              <a:defRPr/>
            </a:pPr>
            <a:endParaRPr kumimoji="0" lang="en-IN" sz="800" b="0" i="0" u="none" strike="noStrike" kern="1200" cap="none" spc="0" normalizeH="0" baseline="0" noProof="0">
              <a:ln>
                <a:noFill/>
              </a:ln>
              <a:solidFill>
                <a:schemeClr val="bg1"/>
              </a:solidFill>
              <a:effectLst/>
              <a:uLnTx/>
              <a:uFillTx/>
              <a:latin typeface="EYInterstate"/>
              <a:ea typeface="+mn-ea"/>
              <a:cs typeface="+mn-cs"/>
            </a:endParaRPr>
          </a:p>
          <a:p>
            <a:pPr marL="0" marR="0" lvl="0" indent="0"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bg1"/>
                </a:solidFill>
                <a:effectLst/>
                <a:uLnTx/>
                <a:uFillTx/>
                <a:latin typeface="EYInterstate"/>
                <a:ea typeface="+mn-ea"/>
                <a:cs typeface="+mn-cs"/>
              </a:rPr>
              <a:t>Ensures accurate intercompany accounting.</a:t>
            </a:r>
          </a:p>
          <a:p>
            <a:pPr marL="0" marR="0" lvl="0" indent="0"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bg1"/>
                </a:solidFill>
                <a:effectLst/>
                <a:uLnTx/>
                <a:uFillTx/>
                <a:latin typeface="EYInterstate"/>
                <a:ea typeface="+mn-ea"/>
                <a:cs typeface="+mn-cs"/>
              </a:rPr>
              <a:t>Supports tax compliance and avoids double taxation.</a:t>
            </a:r>
          </a:p>
          <a:p>
            <a:pPr marL="0" marR="0" lvl="0" indent="0"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bg1"/>
                </a:solidFill>
                <a:effectLst/>
                <a:uLnTx/>
                <a:uFillTx/>
                <a:latin typeface="EYInterstate"/>
                <a:ea typeface="+mn-ea"/>
                <a:cs typeface="+mn-cs"/>
              </a:rPr>
              <a:t>Facilitates audit readiness with documented rationale for pricing.</a:t>
            </a:r>
          </a:p>
        </p:txBody>
      </p:sp>
      <p:sp>
        <p:nvSpPr>
          <p:cNvPr id="16" name="Rectangle 15">
            <a:extLst>
              <a:ext uri="{FF2B5EF4-FFF2-40B4-BE49-F238E27FC236}">
                <a16:creationId xmlns:a16="http://schemas.microsoft.com/office/drawing/2014/main" id="{A3076EFD-4E92-50D8-9AB0-588A6E378293}"/>
              </a:ext>
            </a:extLst>
          </p:cNvPr>
          <p:cNvSpPr/>
          <p:nvPr/>
        </p:nvSpPr>
        <p:spPr>
          <a:xfrm>
            <a:off x="1675903" y="3478695"/>
            <a:ext cx="1263878" cy="2738820"/>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rgbClr val="FFE600"/>
                </a:solidFill>
                <a:effectLst/>
                <a:uLnTx/>
                <a:uFillTx/>
                <a:latin typeface="EYInterstate"/>
                <a:ea typeface="+mn-ea"/>
                <a:cs typeface="+mn-cs"/>
              </a:rPr>
              <a:t>What is Transfer pricing?</a:t>
            </a:r>
            <a:br>
              <a:rPr kumimoji="0" lang="en-IN" sz="800" b="0" i="0" u="none" strike="noStrike" kern="1200" cap="none" spc="0" normalizeH="0" baseline="0" noProof="0">
                <a:ln>
                  <a:noFill/>
                </a:ln>
                <a:solidFill>
                  <a:srgbClr val="FFE600"/>
                </a:solidFill>
                <a:effectLst/>
                <a:uLnTx/>
                <a:uFillTx/>
                <a:latin typeface="EYInterstate"/>
                <a:ea typeface="+mn-ea"/>
                <a:cs typeface="+mn-cs"/>
              </a:rPr>
            </a:br>
            <a:br>
              <a:rPr kumimoji="0" lang="en-IN" sz="800" b="0" i="0" u="none" strike="noStrike" kern="1200" cap="none" spc="0" normalizeH="0" baseline="0" noProof="0">
                <a:ln>
                  <a:noFill/>
                </a:ln>
                <a:solidFill>
                  <a:srgbClr val="FFE600"/>
                </a:solidFill>
                <a:effectLst/>
                <a:uLnTx/>
                <a:uFillTx/>
                <a:latin typeface="EYInterstate"/>
                <a:ea typeface="+mn-ea"/>
                <a:cs typeface="+mn-cs"/>
              </a:rPr>
            </a:br>
            <a:r>
              <a:rPr kumimoji="0" lang="en-IN" sz="800" b="0" i="0" u="none" strike="noStrike" kern="1200" cap="none" spc="0" normalizeH="0" baseline="0" noProof="0">
                <a:ln>
                  <a:noFill/>
                </a:ln>
                <a:solidFill>
                  <a:schemeClr val="bg1"/>
                </a:solidFill>
                <a:effectLst/>
                <a:uLnTx/>
                <a:uFillTx/>
                <a:latin typeface="EYInterstate"/>
                <a:ea typeface="+mn-ea"/>
                <a:cs typeface="+mn-cs"/>
              </a:rPr>
              <a:t>Transfer pricing refers to the price charged for goods, services, or intellectual property exchanged between related entities within a multinational group. </a:t>
            </a: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endParaRPr lang="en-IN" sz="800">
              <a:solidFill>
                <a:schemeClr val="bg1"/>
              </a:solidFill>
              <a:latin typeface="EYInterstate"/>
            </a:endParaRP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br>
              <a:rPr kumimoji="0" lang="en-IN" sz="800" b="0" i="0" u="none" strike="noStrike" kern="1200" cap="none" spc="0" normalizeH="0" baseline="0" noProof="0">
                <a:ln>
                  <a:noFill/>
                </a:ln>
                <a:solidFill>
                  <a:schemeClr val="bg1"/>
                </a:solidFill>
                <a:effectLst/>
                <a:uLnTx/>
                <a:uFillTx/>
                <a:latin typeface="EYInterstate"/>
                <a:ea typeface="+mn-ea"/>
                <a:cs typeface="+mn-cs"/>
              </a:rPr>
            </a:br>
            <a:r>
              <a:rPr kumimoji="0" lang="en-IN" sz="800" b="0" i="0" u="none" strike="noStrike" kern="1200" cap="none" spc="0" normalizeH="0" baseline="0" noProof="0">
                <a:ln>
                  <a:noFill/>
                </a:ln>
                <a:solidFill>
                  <a:schemeClr val="bg1"/>
                </a:solidFill>
                <a:effectLst/>
                <a:uLnTx/>
                <a:uFillTx/>
                <a:latin typeface="EYInterstate"/>
                <a:ea typeface="+mn-ea"/>
                <a:cs typeface="+mn-cs"/>
              </a:rPr>
              <a:t>These prices must reflect arm’s-length principles, meaning they should be similar to what unrelated parties would charge in the open market.</a:t>
            </a:r>
          </a:p>
        </p:txBody>
      </p:sp>
      <p:sp>
        <p:nvSpPr>
          <p:cNvPr id="17" name="Rectangle: Rounded Corners 16">
            <a:extLst>
              <a:ext uri="{FF2B5EF4-FFF2-40B4-BE49-F238E27FC236}">
                <a16:creationId xmlns:a16="http://schemas.microsoft.com/office/drawing/2014/main" id="{AFCDED5A-F01A-E908-7F3A-B9DE2049AF16}"/>
              </a:ext>
            </a:extLst>
          </p:cNvPr>
          <p:cNvSpPr/>
          <p:nvPr/>
        </p:nvSpPr>
        <p:spPr>
          <a:xfrm>
            <a:off x="6861360" y="1442249"/>
            <a:ext cx="1583351"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IN" sz="1000" b="1" i="0" u="none" strike="noStrike" kern="0" cap="none" spc="0" normalizeH="0" baseline="0" noProof="0">
                <a:ln>
                  <a:noFill/>
                </a:ln>
                <a:solidFill>
                  <a:srgbClr val="FFE600"/>
                </a:solidFill>
                <a:effectLst/>
                <a:uLnTx/>
                <a:uFillTx/>
                <a:latin typeface="EYInterstate Light"/>
                <a:ea typeface="+mn-ea"/>
                <a:cs typeface="+mn-cs"/>
              </a:rPr>
              <a:t>Comparable Uncontrolled Price (CUP)</a:t>
            </a:r>
            <a:endParaRPr kumimoji="0" lang="en-US" sz="1000" b="1" i="0" u="none" strike="noStrike" kern="0" cap="none" spc="0" normalizeH="0" baseline="0" noProof="0">
              <a:ln>
                <a:noFill/>
              </a:ln>
              <a:solidFill>
                <a:srgbClr val="FFE600"/>
              </a:solidFill>
              <a:effectLst/>
              <a:uLnTx/>
              <a:uFillTx/>
              <a:latin typeface="EYInterstate Light"/>
              <a:ea typeface="+mn-ea"/>
              <a:cs typeface="+mn-cs"/>
            </a:endParaRPr>
          </a:p>
        </p:txBody>
      </p:sp>
      <p:sp>
        <p:nvSpPr>
          <p:cNvPr id="18" name="Rectangle: Rounded Corners 17">
            <a:extLst>
              <a:ext uri="{FF2B5EF4-FFF2-40B4-BE49-F238E27FC236}">
                <a16:creationId xmlns:a16="http://schemas.microsoft.com/office/drawing/2014/main" id="{CEBE2442-F450-4A93-BDCB-86C4CC583C5E}"/>
              </a:ext>
            </a:extLst>
          </p:cNvPr>
          <p:cNvSpPr/>
          <p:nvPr/>
        </p:nvSpPr>
        <p:spPr>
          <a:xfrm>
            <a:off x="6861360" y="2412341"/>
            <a:ext cx="1577655"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000" b="1" i="0" u="none" strike="noStrike" kern="0" cap="none" spc="0" normalizeH="0" baseline="0" noProof="0">
                <a:ln>
                  <a:noFill/>
                </a:ln>
                <a:solidFill>
                  <a:srgbClr val="FFE600"/>
                </a:solidFill>
                <a:effectLst/>
                <a:uLnTx/>
                <a:uFillTx/>
                <a:latin typeface="EYInterstate Light"/>
                <a:ea typeface="+mn-ea"/>
                <a:cs typeface="+mn-cs"/>
              </a:rPr>
              <a:t>Resale Price Method</a:t>
            </a:r>
            <a:endParaRPr kumimoji="0" lang="en-US" sz="1000" b="1" i="0" u="none" strike="noStrike" kern="0" cap="none" spc="0" normalizeH="0" baseline="0" noProof="0">
              <a:ln>
                <a:noFill/>
              </a:ln>
              <a:solidFill>
                <a:srgbClr val="FFE600"/>
              </a:solidFill>
              <a:effectLst/>
              <a:uLnTx/>
              <a:uFillTx/>
              <a:latin typeface="EYInterstate Light"/>
              <a:ea typeface="+mn-ea"/>
              <a:cs typeface="+mn-cs"/>
            </a:endParaRPr>
          </a:p>
        </p:txBody>
      </p:sp>
      <p:sp>
        <p:nvSpPr>
          <p:cNvPr id="19" name="Rectangle: Rounded Corners 18">
            <a:extLst>
              <a:ext uri="{FF2B5EF4-FFF2-40B4-BE49-F238E27FC236}">
                <a16:creationId xmlns:a16="http://schemas.microsoft.com/office/drawing/2014/main" id="{2553194E-F2B6-D797-8CD4-ACA24DB0AD29}"/>
              </a:ext>
            </a:extLst>
          </p:cNvPr>
          <p:cNvSpPr/>
          <p:nvPr/>
        </p:nvSpPr>
        <p:spPr>
          <a:xfrm>
            <a:off x="6885131" y="3389226"/>
            <a:ext cx="1583351"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E600"/>
                </a:solidFill>
                <a:effectLst/>
                <a:uLnTx/>
                <a:uFillTx/>
                <a:latin typeface="EYInterstate Light"/>
                <a:ea typeface="+mn-ea"/>
                <a:cs typeface="+mn-cs"/>
              </a:rPr>
              <a:t>Cost Plus Method</a:t>
            </a:r>
          </a:p>
        </p:txBody>
      </p:sp>
      <p:sp>
        <p:nvSpPr>
          <p:cNvPr id="20" name="Rectangle: Rounded Corners 19">
            <a:extLst>
              <a:ext uri="{FF2B5EF4-FFF2-40B4-BE49-F238E27FC236}">
                <a16:creationId xmlns:a16="http://schemas.microsoft.com/office/drawing/2014/main" id="{4CDDEC81-99B0-EE1E-B4C0-D30A97D48460}"/>
              </a:ext>
            </a:extLst>
          </p:cNvPr>
          <p:cNvSpPr/>
          <p:nvPr/>
        </p:nvSpPr>
        <p:spPr>
          <a:xfrm>
            <a:off x="6885131" y="4377834"/>
            <a:ext cx="1583351"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E600"/>
                </a:solidFill>
                <a:effectLst/>
                <a:uLnTx/>
                <a:uFillTx/>
                <a:latin typeface="EYInterstate Light"/>
                <a:ea typeface="+mn-ea"/>
                <a:cs typeface="+mn-cs"/>
              </a:rPr>
              <a:t>Transactional Net Margin Method (TNMM)</a:t>
            </a:r>
          </a:p>
        </p:txBody>
      </p:sp>
      <p:sp>
        <p:nvSpPr>
          <p:cNvPr id="21" name="Rectangle: Rounded Corners 20">
            <a:extLst>
              <a:ext uri="{FF2B5EF4-FFF2-40B4-BE49-F238E27FC236}">
                <a16:creationId xmlns:a16="http://schemas.microsoft.com/office/drawing/2014/main" id="{AB1745A9-A21A-1026-4DC1-4CC14417B58D}"/>
              </a:ext>
            </a:extLst>
          </p:cNvPr>
          <p:cNvSpPr/>
          <p:nvPr/>
        </p:nvSpPr>
        <p:spPr>
          <a:xfrm>
            <a:off x="6885131" y="5372571"/>
            <a:ext cx="1583351"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E600"/>
                </a:solidFill>
                <a:effectLst/>
                <a:uLnTx/>
                <a:uFillTx/>
                <a:latin typeface="EYInterstate Light"/>
                <a:ea typeface="+mn-ea"/>
                <a:cs typeface="+mn-cs"/>
              </a:rPr>
              <a:t>Profit Split Method</a:t>
            </a:r>
          </a:p>
        </p:txBody>
      </p:sp>
      <p:sp>
        <p:nvSpPr>
          <p:cNvPr id="24" name="Rectangle 23">
            <a:extLst>
              <a:ext uri="{FF2B5EF4-FFF2-40B4-BE49-F238E27FC236}">
                <a16:creationId xmlns:a16="http://schemas.microsoft.com/office/drawing/2014/main" id="{60F978C7-890C-9760-B964-D53070DB8D47}"/>
              </a:ext>
            </a:extLst>
          </p:cNvPr>
          <p:cNvSpPr/>
          <p:nvPr/>
        </p:nvSpPr>
        <p:spPr bwMode="auto">
          <a:xfrm>
            <a:off x="6531851" y="947531"/>
            <a:ext cx="4918027" cy="5413512"/>
          </a:xfrm>
          <a:prstGeom prst="rect">
            <a:avLst/>
          </a:prstGeom>
          <a:noFill/>
          <a:ln w="222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1018665" rtl="0" eaLnBrk="1" fontAlgn="base" latinLnBrk="0" hangingPunct="1">
              <a:lnSpc>
                <a:spcPct val="100000"/>
              </a:lnSpc>
              <a:spcBef>
                <a:spcPct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EYInterstate Light"/>
                <a:ea typeface="+mn-ea"/>
                <a:cs typeface="+mn-cs"/>
              </a:rPr>
              <a:t>Common Transfer Pricing Methods</a:t>
            </a:r>
          </a:p>
        </p:txBody>
      </p:sp>
      <p:sp>
        <p:nvSpPr>
          <p:cNvPr id="25" name="Rectangle: Rounded Corners 24">
            <a:extLst>
              <a:ext uri="{FF2B5EF4-FFF2-40B4-BE49-F238E27FC236}">
                <a16:creationId xmlns:a16="http://schemas.microsoft.com/office/drawing/2014/main" id="{1F0ED725-63BD-1672-4797-3C7EC19FE7C6}"/>
              </a:ext>
            </a:extLst>
          </p:cNvPr>
          <p:cNvSpPr/>
          <p:nvPr/>
        </p:nvSpPr>
        <p:spPr>
          <a:xfrm>
            <a:off x="8571215" y="1450547"/>
            <a:ext cx="2610936"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1000" b="0" i="0" u="none" strike="noStrike" kern="1200" cap="none" spc="0" normalizeH="0" baseline="0" noProof="0">
                <a:ln>
                  <a:noFill/>
                </a:ln>
                <a:solidFill>
                  <a:prstClr val="white"/>
                </a:solidFill>
                <a:effectLst/>
                <a:uLnTx/>
                <a:uFillTx/>
                <a:latin typeface="EYInterstate"/>
                <a:ea typeface="+mn-ea"/>
                <a:cs typeface="+mn-cs"/>
              </a:rPr>
              <a:t>Compares the price of a controlled transaction to a similar transaction between independent entities. </a:t>
            </a:r>
            <a:endParaRPr kumimoji="0" lang="pl-PL" sz="1000" b="0" i="0" u="none" strike="noStrike" kern="1200" cap="none" spc="0" normalizeH="0" baseline="0" noProof="0">
              <a:ln>
                <a:noFill/>
              </a:ln>
              <a:solidFill>
                <a:prstClr val="white"/>
              </a:solidFill>
              <a:effectLst/>
              <a:uLnTx/>
              <a:uFillTx/>
              <a:latin typeface="EYInterstate"/>
              <a:ea typeface="+mn-ea"/>
              <a:cs typeface="+mn-cs"/>
            </a:endParaRPr>
          </a:p>
        </p:txBody>
      </p:sp>
      <p:sp>
        <p:nvSpPr>
          <p:cNvPr id="26" name="Rectangle: Rounded Corners 25">
            <a:extLst>
              <a:ext uri="{FF2B5EF4-FFF2-40B4-BE49-F238E27FC236}">
                <a16:creationId xmlns:a16="http://schemas.microsoft.com/office/drawing/2014/main" id="{AF4B1BA3-905E-DFDA-21C2-FBDA06B7FB6D}"/>
              </a:ext>
            </a:extLst>
          </p:cNvPr>
          <p:cNvSpPr/>
          <p:nvPr/>
        </p:nvSpPr>
        <p:spPr>
          <a:xfrm>
            <a:off x="8562561" y="2412341"/>
            <a:ext cx="2610936"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999" b="0" i="0" u="none" strike="noStrike" kern="1200" cap="none" spc="0" normalizeH="0" baseline="0" noProof="0">
                <a:ln>
                  <a:noFill/>
                </a:ln>
                <a:solidFill>
                  <a:prstClr val="white"/>
                </a:solidFill>
                <a:effectLst/>
                <a:uLnTx/>
                <a:uFillTx/>
                <a:latin typeface="EYInterstate"/>
                <a:ea typeface="+mn-ea"/>
                <a:cs typeface="+mn-cs"/>
              </a:rPr>
              <a:t>Starts with the resale price to a third party, then subtracts a gross margin. Ideal for distributors.</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27" name="Rectangle: Rounded Corners 26">
            <a:extLst>
              <a:ext uri="{FF2B5EF4-FFF2-40B4-BE49-F238E27FC236}">
                <a16:creationId xmlns:a16="http://schemas.microsoft.com/office/drawing/2014/main" id="{1EC7F8FA-4CD2-BA59-F967-30FB81C79B19}"/>
              </a:ext>
            </a:extLst>
          </p:cNvPr>
          <p:cNvSpPr/>
          <p:nvPr/>
        </p:nvSpPr>
        <p:spPr>
          <a:xfrm>
            <a:off x="8585275" y="3389226"/>
            <a:ext cx="2588222"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999" b="0" i="0" u="none" strike="noStrike" kern="1200" cap="none" spc="0" normalizeH="0" baseline="0" noProof="0">
                <a:ln>
                  <a:noFill/>
                </a:ln>
                <a:solidFill>
                  <a:prstClr val="white"/>
                </a:solidFill>
                <a:effectLst/>
                <a:uLnTx/>
                <a:uFillTx/>
                <a:latin typeface="EYInterstate"/>
                <a:ea typeface="+mn-ea"/>
                <a:cs typeface="+mn-cs"/>
              </a:rPr>
              <a:t>Adds a markup to the cost incurred by the supplier. Common in manufacturing and services.</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28" name="Rectangle: Rounded Corners 27">
            <a:extLst>
              <a:ext uri="{FF2B5EF4-FFF2-40B4-BE49-F238E27FC236}">
                <a16:creationId xmlns:a16="http://schemas.microsoft.com/office/drawing/2014/main" id="{800A0CDE-F273-7A2D-823B-CA41C24716AF}"/>
              </a:ext>
            </a:extLst>
          </p:cNvPr>
          <p:cNvSpPr/>
          <p:nvPr/>
        </p:nvSpPr>
        <p:spPr>
          <a:xfrm>
            <a:off x="8585275" y="4377834"/>
            <a:ext cx="2588221"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999" b="0" i="0" u="none" strike="noStrike" kern="1200" cap="none" spc="0" normalizeH="0" baseline="0" noProof="0">
                <a:ln>
                  <a:noFill/>
                </a:ln>
                <a:solidFill>
                  <a:prstClr val="white"/>
                </a:solidFill>
                <a:effectLst/>
                <a:uLnTx/>
                <a:uFillTx/>
                <a:latin typeface="EYInterstate"/>
                <a:ea typeface="+mn-ea"/>
                <a:cs typeface="+mn-cs"/>
              </a:rPr>
              <a:t>Compares net profit margins of controlled transactions to those of independent entities.</a:t>
            </a:r>
            <a:endParaRPr kumimoji="0" lang="en-US" sz="9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29" name="Rectangle: Rounded Corners 28">
            <a:extLst>
              <a:ext uri="{FF2B5EF4-FFF2-40B4-BE49-F238E27FC236}">
                <a16:creationId xmlns:a16="http://schemas.microsoft.com/office/drawing/2014/main" id="{73E7AD1F-B327-FE79-ACAA-2A01D3069DE6}"/>
              </a:ext>
            </a:extLst>
          </p:cNvPr>
          <p:cNvSpPr/>
          <p:nvPr/>
        </p:nvSpPr>
        <p:spPr>
          <a:xfrm>
            <a:off x="8598641" y="5372571"/>
            <a:ext cx="2574855" cy="509235"/>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999" b="0" i="0" u="none" strike="noStrike" kern="1200" cap="none" spc="0" normalizeH="0" baseline="0" noProof="0">
                <a:ln>
                  <a:noFill/>
                </a:ln>
                <a:solidFill>
                  <a:prstClr val="white"/>
                </a:solidFill>
                <a:effectLst/>
                <a:uLnTx/>
                <a:uFillTx/>
                <a:latin typeface="EYInterstate"/>
                <a:ea typeface="+mn-ea"/>
                <a:cs typeface="+mn-cs"/>
              </a:rPr>
              <a:t>Allocates combined profits based on each entity’s contribution. Used in highly integrated operations.</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3" name="Rectangle: Rounded Corners 2">
            <a:extLst>
              <a:ext uri="{FF2B5EF4-FFF2-40B4-BE49-F238E27FC236}">
                <a16:creationId xmlns:a16="http://schemas.microsoft.com/office/drawing/2014/main" id="{3956B0D0-5A10-E01F-7810-0EE4D8DE44D4}"/>
              </a:ext>
            </a:extLst>
          </p:cNvPr>
          <p:cNvSpPr/>
          <p:nvPr/>
        </p:nvSpPr>
        <p:spPr>
          <a:xfrm>
            <a:off x="6861360" y="1989852"/>
            <a:ext cx="4320791" cy="285621"/>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Application: </a:t>
            </a:r>
            <a:r>
              <a:rPr kumimoji="0" lang="en-IN" sz="800" b="0" i="0" u="none" strike="noStrike" kern="1200" cap="none" spc="0" normalizeH="0" baseline="0" noProof="0">
                <a:ln>
                  <a:noFill/>
                </a:ln>
                <a:solidFill>
                  <a:prstClr val="white"/>
                </a:solidFill>
                <a:effectLst/>
                <a:uLnTx/>
                <a:uFillTx/>
                <a:latin typeface="EYInterstate"/>
                <a:ea typeface="+mn-ea"/>
                <a:cs typeface="+mn-cs"/>
              </a:rPr>
              <a:t>When reliable market data is available for identical or similar transactions.</a:t>
            </a:r>
            <a:endParaRPr kumimoji="0" lang="pl-PL" sz="800" b="0" i="0" u="none" strike="noStrike" kern="1200" cap="none" spc="0" normalizeH="0" baseline="0" noProof="0">
              <a:ln>
                <a:noFill/>
              </a:ln>
              <a:solidFill>
                <a:prstClr val="white"/>
              </a:solidFill>
              <a:effectLst/>
              <a:uLnTx/>
              <a:uFillTx/>
              <a:latin typeface="EYInterstate"/>
              <a:ea typeface="+mn-ea"/>
              <a:cs typeface="+mn-cs"/>
            </a:endParaRPr>
          </a:p>
        </p:txBody>
      </p:sp>
      <p:sp>
        <p:nvSpPr>
          <p:cNvPr id="5" name="Rectangle: Rounded Corners 4">
            <a:extLst>
              <a:ext uri="{FF2B5EF4-FFF2-40B4-BE49-F238E27FC236}">
                <a16:creationId xmlns:a16="http://schemas.microsoft.com/office/drawing/2014/main" id="{FDF4F54E-8E40-8BF5-B155-06183CCDA45F}"/>
              </a:ext>
            </a:extLst>
          </p:cNvPr>
          <p:cNvSpPr/>
          <p:nvPr/>
        </p:nvSpPr>
        <p:spPr>
          <a:xfrm>
            <a:off x="6861360" y="2962005"/>
            <a:ext cx="4320791" cy="285621"/>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Application: </a:t>
            </a:r>
            <a:r>
              <a:rPr kumimoji="0" lang="en-IN" sz="800" b="0" i="0" u="none" strike="noStrike" kern="1200" cap="none" spc="0" normalizeH="0" baseline="0" noProof="0">
                <a:ln>
                  <a:noFill/>
                </a:ln>
                <a:solidFill>
                  <a:prstClr val="white"/>
                </a:solidFill>
                <a:effectLst/>
                <a:uLnTx/>
                <a:uFillTx/>
                <a:latin typeface="EYInterstate"/>
                <a:ea typeface="+mn-ea"/>
                <a:cs typeface="+mn-cs"/>
              </a:rPr>
              <a:t>Common in distribution businesses where resale prices are known.</a:t>
            </a:r>
            <a:endParaRPr kumimoji="0" lang="pl-PL" sz="800" b="0" i="0" u="none" strike="noStrike" kern="1200" cap="none" spc="0" normalizeH="0" baseline="0" noProof="0">
              <a:ln>
                <a:noFill/>
              </a:ln>
              <a:solidFill>
                <a:prstClr val="white"/>
              </a:solidFill>
              <a:effectLst/>
              <a:uLnTx/>
              <a:uFillTx/>
              <a:latin typeface="EYInterstate"/>
              <a:ea typeface="+mn-ea"/>
              <a:cs typeface="+mn-cs"/>
            </a:endParaRPr>
          </a:p>
        </p:txBody>
      </p:sp>
      <p:sp>
        <p:nvSpPr>
          <p:cNvPr id="35" name="Rectangle: Rounded Corners 34">
            <a:extLst>
              <a:ext uri="{FF2B5EF4-FFF2-40B4-BE49-F238E27FC236}">
                <a16:creationId xmlns:a16="http://schemas.microsoft.com/office/drawing/2014/main" id="{19B15DE8-3359-FD8E-836E-BD6075D091EC}"/>
              </a:ext>
            </a:extLst>
          </p:cNvPr>
          <p:cNvSpPr/>
          <p:nvPr/>
        </p:nvSpPr>
        <p:spPr>
          <a:xfrm>
            <a:off x="6885131" y="3933285"/>
            <a:ext cx="4288365" cy="285621"/>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Application: </a:t>
            </a:r>
            <a:r>
              <a:rPr kumimoji="0" lang="en-IN" sz="800" b="0" i="0" u="none" strike="noStrike" kern="1200" cap="none" spc="0" normalizeH="0" baseline="0" noProof="0">
                <a:ln>
                  <a:noFill/>
                </a:ln>
                <a:solidFill>
                  <a:prstClr val="white"/>
                </a:solidFill>
                <a:effectLst/>
                <a:uLnTx/>
                <a:uFillTx/>
                <a:latin typeface="EYInterstate"/>
                <a:ea typeface="+mn-ea"/>
                <a:cs typeface="+mn-cs"/>
              </a:rPr>
              <a:t>Ideal for service entities where cost structures are well documented.</a:t>
            </a:r>
            <a:endParaRPr kumimoji="0" lang="pl-PL" sz="800" b="0" i="0" u="none" strike="noStrike" kern="1200" cap="none" spc="0" normalizeH="0" baseline="0" noProof="0">
              <a:ln>
                <a:noFill/>
              </a:ln>
              <a:solidFill>
                <a:prstClr val="white"/>
              </a:solidFill>
              <a:effectLst/>
              <a:uLnTx/>
              <a:uFillTx/>
              <a:latin typeface="EYInterstate"/>
              <a:ea typeface="+mn-ea"/>
              <a:cs typeface="+mn-cs"/>
            </a:endParaRPr>
          </a:p>
        </p:txBody>
      </p:sp>
      <p:sp>
        <p:nvSpPr>
          <p:cNvPr id="36" name="Rectangle: Rounded Corners 35">
            <a:extLst>
              <a:ext uri="{FF2B5EF4-FFF2-40B4-BE49-F238E27FC236}">
                <a16:creationId xmlns:a16="http://schemas.microsoft.com/office/drawing/2014/main" id="{21DBEF4B-77E2-3FA1-87A6-49F6BD48693A}"/>
              </a:ext>
            </a:extLst>
          </p:cNvPr>
          <p:cNvSpPr/>
          <p:nvPr/>
        </p:nvSpPr>
        <p:spPr>
          <a:xfrm>
            <a:off x="6897067" y="4928022"/>
            <a:ext cx="4276429" cy="285621"/>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Application: </a:t>
            </a:r>
            <a:r>
              <a:rPr kumimoji="0" lang="en-IN" sz="800" b="0" i="0" u="none" strike="noStrike" kern="1200" cap="none" spc="0" normalizeH="0" baseline="0" noProof="0">
                <a:ln>
                  <a:noFill/>
                </a:ln>
                <a:solidFill>
                  <a:prstClr val="white"/>
                </a:solidFill>
                <a:effectLst/>
                <a:uLnTx/>
                <a:uFillTx/>
                <a:latin typeface="EYInterstate"/>
                <a:ea typeface="+mn-ea"/>
                <a:cs typeface="+mn-cs"/>
              </a:rPr>
              <a:t>Most widely used method when gross margins are hard to compare.</a:t>
            </a:r>
            <a:endParaRPr kumimoji="0" lang="pl-PL" sz="800" b="0" i="0" u="none" strike="noStrike" kern="1200" cap="none" spc="0" normalizeH="0" baseline="0" noProof="0">
              <a:ln>
                <a:noFill/>
              </a:ln>
              <a:solidFill>
                <a:prstClr val="white"/>
              </a:solidFill>
              <a:effectLst/>
              <a:uLnTx/>
              <a:uFillTx/>
              <a:latin typeface="EYInterstate"/>
              <a:ea typeface="+mn-ea"/>
              <a:cs typeface="+mn-cs"/>
            </a:endParaRPr>
          </a:p>
        </p:txBody>
      </p:sp>
      <p:sp>
        <p:nvSpPr>
          <p:cNvPr id="37" name="Rectangle: Rounded Corners 36">
            <a:extLst>
              <a:ext uri="{FF2B5EF4-FFF2-40B4-BE49-F238E27FC236}">
                <a16:creationId xmlns:a16="http://schemas.microsoft.com/office/drawing/2014/main" id="{74E553BE-1CD6-7799-A805-B766568D3956}"/>
              </a:ext>
            </a:extLst>
          </p:cNvPr>
          <p:cNvSpPr/>
          <p:nvPr/>
        </p:nvSpPr>
        <p:spPr>
          <a:xfrm>
            <a:off x="6885132" y="5931894"/>
            <a:ext cx="4276430" cy="285621"/>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IN" sz="800" b="0" i="0" u="none" strike="noStrike" kern="1200" cap="none" spc="0" normalizeH="0" baseline="0" noProof="0">
                <a:ln>
                  <a:noFill/>
                </a:ln>
                <a:solidFill>
                  <a:schemeClr val="tx2"/>
                </a:solidFill>
                <a:effectLst/>
                <a:uLnTx/>
                <a:uFillTx/>
                <a:latin typeface="EYInterstate"/>
                <a:ea typeface="+mn-ea"/>
                <a:cs typeface="+mn-cs"/>
              </a:rPr>
              <a:t>Application: </a:t>
            </a:r>
            <a:r>
              <a:rPr kumimoji="0" lang="en-IN" sz="800" b="0" i="0" u="none" strike="noStrike" kern="1200" cap="none" spc="0" normalizeH="0" baseline="0" noProof="0">
                <a:ln>
                  <a:noFill/>
                </a:ln>
                <a:solidFill>
                  <a:prstClr val="white"/>
                </a:solidFill>
                <a:effectLst/>
                <a:uLnTx/>
                <a:uFillTx/>
                <a:latin typeface="EYInterstate"/>
                <a:ea typeface="+mn-ea"/>
                <a:cs typeface="+mn-cs"/>
              </a:rPr>
              <a:t>Used in highly integrated operations like R&amp;D or IP development.</a:t>
            </a:r>
            <a:endParaRPr kumimoji="0" lang="pl-PL" sz="800" b="0" i="0" u="none" strike="noStrike" kern="1200" cap="none" spc="0" normalizeH="0" baseline="0" noProof="0">
              <a:ln>
                <a:noFill/>
              </a:ln>
              <a:solidFill>
                <a:prstClr val="white"/>
              </a:solidFill>
              <a:effectLst/>
              <a:uLnTx/>
              <a:uFillTx/>
              <a:latin typeface="EYInterstate"/>
              <a:ea typeface="+mn-ea"/>
              <a:cs typeface="+mn-cs"/>
            </a:endParaRPr>
          </a:p>
        </p:txBody>
      </p:sp>
      <p:sp>
        <p:nvSpPr>
          <p:cNvPr id="38" name="Arrow: Right 37">
            <a:extLst>
              <a:ext uri="{FF2B5EF4-FFF2-40B4-BE49-F238E27FC236}">
                <a16:creationId xmlns:a16="http://schemas.microsoft.com/office/drawing/2014/main" id="{91543BC4-2BFD-F7EF-523E-5C2004B65D9D}"/>
              </a:ext>
            </a:extLst>
          </p:cNvPr>
          <p:cNvSpPr/>
          <p:nvPr/>
        </p:nvSpPr>
        <p:spPr>
          <a:xfrm>
            <a:off x="3620462" y="2186929"/>
            <a:ext cx="646798" cy="370615"/>
          </a:xfrm>
          <a:prstGeom prst="rightArrow">
            <a:avLst/>
          </a:prstGeom>
          <a:solidFill>
            <a:schemeClr val="tx2"/>
          </a:solidFill>
          <a:ln w="952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IN" sz="1200">
              <a:solidFill>
                <a:schemeClr val="tx1"/>
              </a:solidFill>
            </a:endParaRPr>
          </a:p>
        </p:txBody>
      </p:sp>
    </p:spTree>
    <p:extLst>
      <p:ext uri="{BB962C8B-B14F-4D97-AF65-F5344CB8AC3E}">
        <p14:creationId xmlns:p14="http://schemas.microsoft.com/office/powerpoint/2010/main" val="376269217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E99D6-1CCF-CD9C-4521-FF0C2FE767A7}"/>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C2A1A8A2-ED10-3CD0-16C1-9BB21C926658}"/>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BC41A44E-9AC3-779D-EEA9-B1169BF05BE5}"/>
              </a:ext>
            </a:extLst>
          </p:cNvPr>
          <p:cNvSpPr txBox="1"/>
          <p:nvPr/>
        </p:nvSpPr>
        <p:spPr>
          <a:xfrm>
            <a:off x="929639" y="2181301"/>
            <a:ext cx="4503620" cy="1446550"/>
          </a:xfrm>
          <a:prstGeom prst="rect">
            <a:avLst/>
          </a:prstGeom>
          <a:noFill/>
        </p:spPr>
        <p:txBody>
          <a:bodyPr wrap="square" rtlCol="0">
            <a:spAutoFit/>
          </a:bodyPr>
          <a:lstStyle/>
          <a:p>
            <a:r>
              <a:rPr lang="en-IN" sz="4400">
                <a:solidFill>
                  <a:srgbClr val="FFE600"/>
                </a:solidFill>
                <a:latin typeface="EYInterstate" panose="02000503020000020004" pitchFamily="2" charset="0"/>
              </a:rPr>
              <a:t>Balance Sheet Reconciliation</a:t>
            </a:r>
          </a:p>
        </p:txBody>
      </p:sp>
    </p:spTree>
    <p:extLst>
      <p:ext uri="{BB962C8B-B14F-4D97-AF65-F5344CB8AC3E}">
        <p14:creationId xmlns:p14="http://schemas.microsoft.com/office/powerpoint/2010/main" val="253366064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97438BA4-F6DA-EFEA-48A0-C98F6497C460}"/>
              </a:ext>
            </a:extLst>
          </p:cNvPr>
          <p:cNvSpPr>
            <a:spLocks/>
          </p:cNvSpPr>
          <p:nvPr/>
        </p:nvSpPr>
        <p:spPr>
          <a:xfrm>
            <a:off x="428051" y="5754358"/>
            <a:ext cx="3661453" cy="874171"/>
          </a:xfrm>
          <a:prstGeom prst="rect">
            <a:avLst/>
          </a:prstGeom>
          <a:solidFill>
            <a:srgbClr val="FFE6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endParaRPr lang="en-US" sz="2000" b="1">
              <a:solidFill>
                <a:schemeClr val="tx1"/>
              </a:solidFill>
              <a:latin typeface="EY interstate regular"/>
            </a:endParaRPr>
          </a:p>
        </p:txBody>
      </p:sp>
      <p:sp>
        <p:nvSpPr>
          <p:cNvPr id="3" name="Content Placeholder 1">
            <a:extLst>
              <a:ext uri="{FF2B5EF4-FFF2-40B4-BE49-F238E27FC236}">
                <a16:creationId xmlns:a16="http://schemas.microsoft.com/office/drawing/2014/main" id="{2A4A8338-3FC7-3D2F-F223-7BC8D1FD79D6}"/>
              </a:ext>
            </a:extLst>
          </p:cNvPr>
          <p:cNvSpPr>
            <a:spLocks noGrp="1"/>
          </p:cNvSpPr>
          <p:nvPr/>
        </p:nvSpPr>
        <p:spPr>
          <a:xfrm>
            <a:off x="609596" y="1113784"/>
            <a:ext cx="10859071" cy="795018"/>
          </a:xfrm>
          <a:prstGeom prst="rect">
            <a:avLst/>
          </a:prstGeom>
          <a:noFill/>
          <a:ln>
            <a:noFill/>
          </a:ln>
        </p:spPr>
        <p:txBody>
          <a:bodyPr vert="horz" wrap="square" lIns="0" tIns="0" rIns="0" bIns="0" anchor="t" anchorCtr="0" compatLnSpc="1">
            <a:noAutofit/>
          </a:bodyPr>
          <a:lstStyle>
            <a:lvl1pPr marL="356442" marR="0" lvl="0" indent="-356442" algn="l" defTabSz="913942" rtl="0" fontAlgn="auto" hangingPunct="1">
              <a:lnSpc>
                <a:spcPct val="100000"/>
              </a:lnSpc>
              <a:spcBef>
                <a:spcPts val="500"/>
              </a:spcBef>
              <a:spcAft>
                <a:spcPts val="0"/>
              </a:spcAft>
              <a:buClr>
                <a:srgbClr val="FFE600"/>
              </a:buClr>
              <a:buSzPct val="110000"/>
              <a:buFont typeface="EYInterstate Light" pitchFamily="2"/>
              <a:buChar char="•"/>
              <a:tabLst/>
              <a:defRPr lang="en-US" sz="1999" b="0" i="0" u="none" strike="noStrike" kern="1200" cap="none" spc="0" baseline="0">
                <a:solidFill>
                  <a:srgbClr val="FFFFFF"/>
                </a:solidFill>
                <a:uFillTx/>
                <a:latin typeface="EYInterstate Light" pitchFamily="2"/>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800">
                <a:latin typeface="EYInterstate Regular"/>
              </a:rPr>
              <a:t>It is the process that makes sure financial records match external financial statements such as bank statements, invoices, or credit card bills. </a:t>
            </a:r>
          </a:p>
          <a:p>
            <a:pPr marL="356235" indent="-356235"/>
            <a:endParaRPr lang="en-US" sz="1800"/>
          </a:p>
        </p:txBody>
      </p:sp>
      <p:sp>
        <p:nvSpPr>
          <p:cNvPr id="7" name="Rectangle 2">
            <a:extLst>
              <a:ext uri="{FF2B5EF4-FFF2-40B4-BE49-F238E27FC236}">
                <a16:creationId xmlns:a16="http://schemas.microsoft.com/office/drawing/2014/main" id="{098C9EAF-7296-B6C4-893E-CB3409CC2891}"/>
              </a:ext>
            </a:extLst>
          </p:cNvPr>
          <p:cNvSpPr txBox="1">
            <a:spLocks noChangeArrowheads="1"/>
          </p:cNvSpPr>
          <p:nvPr/>
        </p:nvSpPr>
        <p:spPr>
          <a:xfrm>
            <a:off x="1040916" y="2616904"/>
            <a:ext cx="1398815" cy="421953"/>
          </a:xfrm>
          <a:prstGeom prst="rect">
            <a:avLst/>
          </a:prstGeom>
        </p:spPr>
        <p:txBody>
          <a:bodyPr/>
          <a:lstStyle/>
          <a:p>
            <a:pPr marL="0" marR="0" lvl="0" indent="0" algn="l" defTabSz="914400" rtl="0" eaLnBrk="1" fontAlgn="base" latinLnBrk="0" hangingPunct="1">
              <a:lnSpc>
                <a:spcPct val="90000"/>
              </a:lnSpc>
              <a:spcBef>
                <a:spcPts val="300"/>
              </a:spcBef>
              <a:spcAft>
                <a:spcPts val="300"/>
              </a:spcAft>
              <a:buClrTx/>
              <a:buSzTx/>
              <a:buFontTx/>
              <a:buNone/>
              <a:tabLst/>
              <a:defRPr/>
            </a:pPr>
            <a:r>
              <a:rPr kumimoji="0" lang="en-US" sz="1800" b="1" i="0" u="none" strike="noStrike" kern="1200" cap="none" spc="0" normalizeH="0" baseline="0" noProof="0">
                <a:ln>
                  <a:noFill/>
                </a:ln>
                <a:solidFill>
                  <a:srgbClr val="FFFF00"/>
                </a:solidFill>
                <a:effectLst/>
                <a:uLnTx/>
                <a:uFillTx/>
                <a:latin typeface="EY interstate regular"/>
              </a:rPr>
              <a:t>Timing</a:t>
            </a:r>
            <a:endParaRPr kumimoji="0" lang="en-US" sz="1800" b="0" i="0" u="none" strike="noStrike" kern="0" cap="none" spc="0" normalizeH="0" baseline="0" noProof="0">
              <a:ln>
                <a:noFill/>
              </a:ln>
              <a:solidFill>
                <a:srgbClr val="FFFF00"/>
              </a:solidFill>
              <a:effectLst/>
              <a:uLnTx/>
              <a:uFillTx/>
              <a:latin typeface="EY interstate regular"/>
            </a:endParaRPr>
          </a:p>
        </p:txBody>
      </p:sp>
      <p:sp>
        <p:nvSpPr>
          <p:cNvPr id="8" name="Oval 7">
            <a:extLst>
              <a:ext uri="{FF2B5EF4-FFF2-40B4-BE49-F238E27FC236}">
                <a16:creationId xmlns:a16="http://schemas.microsoft.com/office/drawing/2014/main" id="{CACA2301-895C-7B1B-EC78-FAFFB62611E9}"/>
              </a:ext>
            </a:extLst>
          </p:cNvPr>
          <p:cNvSpPr/>
          <p:nvPr/>
        </p:nvSpPr>
        <p:spPr bwMode="auto">
          <a:xfrm>
            <a:off x="492276" y="2553560"/>
            <a:ext cx="548640" cy="548640"/>
          </a:xfrm>
          <a:prstGeom prst="ellipse">
            <a:avLst/>
          </a:prstGeom>
          <a:solidFill>
            <a:srgbClr val="00B050"/>
          </a:solidFill>
          <a:ln w="9525" cap="flat" cmpd="sng" algn="ctr">
            <a:solidFill>
              <a:schemeClr val="tx1"/>
            </a:solidFill>
            <a:prstDash val="solid"/>
            <a:round/>
            <a:headEnd type="none" w="med" len="med"/>
            <a:tailEnd type="none" w="med" len="med"/>
          </a:ln>
          <a:effectLst/>
          <a:scene3d>
            <a:camera prst="orthographicFront"/>
            <a:lightRig rig="threePt" dir="t"/>
          </a:scene3d>
          <a:sp3d>
            <a:bevelT w="165100" prst="coolSlant"/>
          </a:sp3d>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EY interstate regular"/>
              </a:rPr>
              <a:t>When</a:t>
            </a:r>
          </a:p>
        </p:txBody>
      </p:sp>
      <p:sp>
        <p:nvSpPr>
          <p:cNvPr id="9" name="TextBox 8">
            <a:extLst>
              <a:ext uri="{FF2B5EF4-FFF2-40B4-BE49-F238E27FC236}">
                <a16:creationId xmlns:a16="http://schemas.microsoft.com/office/drawing/2014/main" id="{CD859A72-4541-9712-1838-3B71F4802247}"/>
              </a:ext>
            </a:extLst>
          </p:cNvPr>
          <p:cNvSpPr txBox="1"/>
          <p:nvPr/>
        </p:nvSpPr>
        <p:spPr>
          <a:xfrm>
            <a:off x="428051" y="3215471"/>
            <a:ext cx="2011680" cy="1646605"/>
          </a:xfrm>
          <a:prstGeom prst="rect">
            <a:avLst/>
          </a:prstGeom>
          <a:noFill/>
        </p:spPr>
        <p:txBody>
          <a:bodyPr wrap="square" rtlCol="0">
            <a:spAutoFit/>
          </a:bodyPr>
          <a:lstStyle/>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When did the item appear in the General Ledger?</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When will the adjustment no longer be included in that account?</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Does the items have a specific “Close Date” or an “activity trigger”?</a:t>
            </a:r>
          </a:p>
        </p:txBody>
      </p:sp>
      <p:sp>
        <p:nvSpPr>
          <p:cNvPr id="10" name="Rectangle 2">
            <a:extLst>
              <a:ext uri="{FF2B5EF4-FFF2-40B4-BE49-F238E27FC236}">
                <a16:creationId xmlns:a16="http://schemas.microsoft.com/office/drawing/2014/main" id="{495A2C59-6658-DD79-0F2D-FE24D98262B9}"/>
              </a:ext>
            </a:extLst>
          </p:cNvPr>
          <p:cNvSpPr txBox="1">
            <a:spLocks noChangeArrowheads="1"/>
          </p:cNvSpPr>
          <p:nvPr/>
        </p:nvSpPr>
        <p:spPr>
          <a:xfrm>
            <a:off x="3341202" y="2616904"/>
            <a:ext cx="1658281" cy="421953"/>
          </a:xfrm>
          <a:prstGeom prst="rect">
            <a:avLst/>
          </a:prstGeom>
        </p:spPr>
        <p:txBody>
          <a:bodyPr/>
          <a:lstStyle/>
          <a:p>
            <a:pPr marL="0" marR="0" lvl="0" indent="0" algn="l" defTabSz="914400" rtl="0" eaLnBrk="1" fontAlgn="base" latinLnBrk="0" hangingPunct="1">
              <a:lnSpc>
                <a:spcPct val="90000"/>
              </a:lnSpc>
              <a:spcBef>
                <a:spcPts val="300"/>
              </a:spcBef>
              <a:spcAft>
                <a:spcPts val="300"/>
              </a:spcAft>
              <a:buClrTx/>
              <a:buSzTx/>
              <a:buFontTx/>
              <a:buNone/>
              <a:tabLst/>
              <a:defRPr/>
            </a:pPr>
            <a:r>
              <a:rPr kumimoji="0" lang="en-US" sz="1800" b="1" i="0" u="none" strike="noStrike" kern="1200" cap="none" spc="0" normalizeH="0" baseline="0" noProof="0">
                <a:ln>
                  <a:noFill/>
                </a:ln>
                <a:solidFill>
                  <a:srgbClr val="FFFF00"/>
                </a:solidFill>
                <a:effectLst/>
                <a:uLnTx/>
                <a:uFillTx/>
                <a:latin typeface="EY interstate regular"/>
              </a:rPr>
              <a:t>Description</a:t>
            </a:r>
            <a:endParaRPr kumimoji="0" lang="en-US" sz="1800" b="0" i="0" u="none" strike="noStrike" kern="0" cap="none" spc="0" normalizeH="0" baseline="0" noProof="0">
              <a:ln>
                <a:noFill/>
              </a:ln>
              <a:solidFill>
                <a:srgbClr val="FFFF00"/>
              </a:solidFill>
              <a:effectLst/>
              <a:uLnTx/>
              <a:uFillTx/>
              <a:latin typeface="EY interstate regular"/>
            </a:endParaRPr>
          </a:p>
        </p:txBody>
      </p:sp>
      <p:sp>
        <p:nvSpPr>
          <p:cNvPr id="11" name="Oval 10">
            <a:extLst>
              <a:ext uri="{FF2B5EF4-FFF2-40B4-BE49-F238E27FC236}">
                <a16:creationId xmlns:a16="http://schemas.microsoft.com/office/drawing/2014/main" id="{4EFC59A6-6AF5-C72D-9926-E4E5DCE2BC7E}"/>
              </a:ext>
            </a:extLst>
          </p:cNvPr>
          <p:cNvSpPr/>
          <p:nvPr/>
        </p:nvSpPr>
        <p:spPr bwMode="auto">
          <a:xfrm>
            <a:off x="2835732" y="2553560"/>
            <a:ext cx="548640" cy="548640"/>
          </a:xfrm>
          <a:prstGeom prst="ellipse">
            <a:avLst/>
          </a:prstGeom>
          <a:solidFill>
            <a:schemeClr val="accent3"/>
          </a:solidFill>
          <a:ln w="9525" cap="flat" cmpd="sng" algn="ctr">
            <a:solidFill>
              <a:schemeClr val="tx1"/>
            </a:solidFill>
            <a:prstDash val="solid"/>
            <a:round/>
            <a:headEnd type="none" w="med" len="med"/>
            <a:tailEnd type="none" w="med" len="med"/>
          </a:ln>
          <a:effectLst/>
          <a:scene3d>
            <a:camera prst="orthographicFront"/>
            <a:lightRig rig="threePt" dir="t"/>
          </a:scene3d>
          <a:sp3d>
            <a:bevelT w="165100" prst="coolSlant"/>
          </a:sp3d>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EY interstate regular"/>
              </a:rPr>
              <a:t>What</a:t>
            </a:r>
          </a:p>
        </p:txBody>
      </p:sp>
      <p:sp>
        <p:nvSpPr>
          <p:cNvPr id="12" name="TextBox 11">
            <a:extLst>
              <a:ext uri="{FF2B5EF4-FFF2-40B4-BE49-F238E27FC236}">
                <a16:creationId xmlns:a16="http://schemas.microsoft.com/office/drawing/2014/main" id="{073E5E0C-99ED-E8E5-DAB2-6CE704BD9674}"/>
              </a:ext>
            </a:extLst>
          </p:cNvPr>
          <p:cNvSpPr txBox="1"/>
          <p:nvPr/>
        </p:nvSpPr>
        <p:spPr>
          <a:xfrm>
            <a:off x="2725481" y="3215471"/>
            <a:ext cx="2011680" cy="2377574"/>
          </a:xfrm>
          <a:prstGeom prst="rect">
            <a:avLst/>
          </a:prstGeom>
          <a:noFill/>
        </p:spPr>
        <p:txBody>
          <a:bodyPr wrap="square" rtlCol="0">
            <a:spAutoFit/>
          </a:bodyPr>
          <a:lstStyle/>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Account Description: Explanation of what the purpose of the account is and how the balance should be calculated and evaluated</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Reconciling Items: Explanation for each individual item. What is it?</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Proposed action plan for remediation</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endParaRPr kumimoji="0" lang="en-US" sz="1000" b="0" i="0" u="none" strike="noStrike" kern="1200" cap="none" spc="0" normalizeH="0" baseline="0" noProof="0">
              <a:ln>
                <a:noFill/>
              </a:ln>
              <a:solidFill>
                <a:schemeClr val="bg1"/>
              </a:solidFill>
              <a:effectLst/>
              <a:uLnTx/>
              <a:uFillTx/>
              <a:latin typeface="EY interstate regular"/>
            </a:endParaRPr>
          </a:p>
        </p:txBody>
      </p:sp>
      <p:sp>
        <p:nvSpPr>
          <p:cNvPr id="13" name="Rectangle 2">
            <a:extLst>
              <a:ext uri="{FF2B5EF4-FFF2-40B4-BE49-F238E27FC236}">
                <a16:creationId xmlns:a16="http://schemas.microsoft.com/office/drawing/2014/main" id="{C1EC36CD-1AFB-063C-A9CD-A0BED0B0433F}"/>
              </a:ext>
            </a:extLst>
          </p:cNvPr>
          <p:cNvSpPr txBox="1">
            <a:spLocks noChangeArrowheads="1"/>
          </p:cNvSpPr>
          <p:nvPr/>
        </p:nvSpPr>
        <p:spPr>
          <a:xfrm>
            <a:off x="5724066" y="2616904"/>
            <a:ext cx="1398815" cy="421953"/>
          </a:xfrm>
          <a:prstGeom prst="rect">
            <a:avLst/>
          </a:prstGeom>
        </p:spPr>
        <p:txBody>
          <a:bodyPr/>
          <a:lstStyle/>
          <a:p>
            <a:pPr marL="0" marR="0" lvl="0" indent="0" algn="l" defTabSz="914400" rtl="0" eaLnBrk="1" fontAlgn="base" latinLnBrk="0" hangingPunct="1">
              <a:lnSpc>
                <a:spcPct val="90000"/>
              </a:lnSpc>
              <a:spcBef>
                <a:spcPts val="300"/>
              </a:spcBef>
              <a:spcAft>
                <a:spcPts val="300"/>
              </a:spcAft>
              <a:buClrTx/>
              <a:buSzTx/>
              <a:buFontTx/>
              <a:buNone/>
              <a:tabLst/>
              <a:defRPr/>
            </a:pPr>
            <a:r>
              <a:rPr kumimoji="0" lang="en-US" sz="1800" b="1" i="0" u="none" strike="noStrike" kern="1200" cap="none" spc="0" normalizeH="0" baseline="0" noProof="0">
                <a:ln>
                  <a:noFill/>
                </a:ln>
                <a:solidFill>
                  <a:srgbClr val="FFFF00"/>
                </a:solidFill>
                <a:effectLst/>
                <a:uLnTx/>
                <a:uFillTx/>
                <a:latin typeface="EY interstate regular"/>
              </a:rPr>
              <a:t>Purpose</a:t>
            </a:r>
            <a:endParaRPr kumimoji="0" lang="en-US" sz="1800" b="0" i="0" u="none" strike="noStrike" kern="0" cap="none" spc="0" normalizeH="0" baseline="0" noProof="0">
              <a:ln>
                <a:noFill/>
              </a:ln>
              <a:solidFill>
                <a:srgbClr val="FFFF00"/>
              </a:solidFill>
              <a:effectLst/>
              <a:uLnTx/>
              <a:uFillTx/>
              <a:latin typeface="EY interstate regular"/>
            </a:endParaRPr>
          </a:p>
        </p:txBody>
      </p:sp>
      <p:sp>
        <p:nvSpPr>
          <p:cNvPr id="14" name="Oval 13">
            <a:extLst>
              <a:ext uri="{FF2B5EF4-FFF2-40B4-BE49-F238E27FC236}">
                <a16:creationId xmlns:a16="http://schemas.microsoft.com/office/drawing/2014/main" id="{50433B29-C94A-5C9C-E4DB-100493D4B140}"/>
              </a:ext>
            </a:extLst>
          </p:cNvPr>
          <p:cNvSpPr/>
          <p:nvPr/>
        </p:nvSpPr>
        <p:spPr bwMode="auto">
          <a:xfrm>
            <a:off x="5179188" y="2553560"/>
            <a:ext cx="548640" cy="548640"/>
          </a:xfrm>
          <a:prstGeom prst="ellipse">
            <a:avLst/>
          </a:prstGeom>
          <a:solidFill>
            <a:srgbClr val="FF0000"/>
          </a:solidFill>
          <a:ln w="9525" cap="flat" cmpd="sng" algn="ctr">
            <a:solidFill>
              <a:schemeClr val="tx1"/>
            </a:solidFill>
            <a:prstDash val="solid"/>
            <a:round/>
            <a:headEnd type="none" w="med" len="med"/>
            <a:tailEnd type="none" w="med" len="med"/>
          </a:ln>
          <a:effectLst/>
          <a:scene3d>
            <a:camera prst="orthographicFront"/>
            <a:lightRig rig="threePt" dir="t"/>
          </a:scene3d>
          <a:sp3d>
            <a:bevelT w="165100" prst="coolSlant"/>
          </a:sp3d>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EY interstate regular"/>
              </a:rPr>
              <a:t>Why</a:t>
            </a:r>
          </a:p>
        </p:txBody>
      </p:sp>
      <p:sp>
        <p:nvSpPr>
          <p:cNvPr id="15" name="TextBox 14">
            <a:extLst>
              <a:ext uri="{FF2B5EF4-FFF2-40B4-BE49-F238E27FC236}">
                <a16:creationId xmlns:a16="http://schemas.microsoft.com/office/drawing/2014/main" id="{C1DABD76-7753-56A5-918E-B3C9A2856C67}"/>
              </a:ext>
            </a:extLst>
          </p:cNvPr>
          <p:cNvSpPr txBox="1"/>
          <p:nvPr/>
        </p:nvSpPr>
        <p:spPr>
          <a:xfrm>
            <a:off x="5086568" y="3215471"/>
            <a:ext cx="2011680" cy="2569934"/>
          </a:xfrm>
          <a:prstGeom prst="rect">
            <a:avLst/>
          </a:prstGeom>
          <a:noFill/>
        </p:spPr>
        <p:txBody>
          <a:bodyPr wrap="square" rtlCol="0">
            <a:spAutoFit/>
          </a:bodyPr>
          <a:lstStyle/>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Reconciliation should comply with company policy, often this may be partly explained in the policy and procedure section of the reconciliation</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Reconciliation Criticality or Risk Rating </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Further explanation should be made when necessary for an individual item</a:t>
            </a:r>
          </a:p>
        </p:txBody>
      </p:sp>
      <p:sp>
        <p:nvSpPr>
          <p:cNvPr id="16" name="Rectangle 2">
            <a:extLst>
              <a:ext uri="{FF2B5EF4-FFF2-40B4-BE49-F238E27FC236}">
                <a16:creationId xmlns:a16="http://schemas.microsoft.com/office/drawing/2014/main" id="{99F007EF-6C42-5AFC-10E8-CF2C4917B4BB}"/>
              </a:ext>
            </a:extLst>
          </p:cNvPr>
          <p:cNvSpPr txBox="1">
            <a:spLocks noChangeArrowheads="1"/>
          </p:cNvSpPr>
          <p:nvPr/>
        </p:nvSpPr>
        <p:spPr>
          <a:xfrm>
            <a:off x="7772212" y="2616904"/>
            <a:ext cx="2071028" cy="421953"/>
          </a:xfrm>
          <a:prstGeom prst="rect">
            <a:avLst/>
          </a:prstGeom>
        </p:spPr>
        <p:txBody>
          <a:bodyPr/>
          <a:lstStyle/>
          <a:p>
            <a:pPr marL="0" marR="0" lvl="0" indent="0" algn="l" defTabSz="914400" rtl="0" eaLnBrk="1" fontAlgn="base" latinLnBrk="0" hangingPunct="1">
              <a:lnSpc>
                <a:spcPct val="90000"/>
              </a:lnSpc>
              <a:spcBef>
                <a:spcPts val="300"/>
              </a:spcBef>
              <a:spcAft>
                <a:spcPts val="300"/>
              </a:spcAft>
              <a:buClrTx/>
              <a:buSzTx/>
              <a:buFontTx/>
              <a:buNone/>
              <a:tabLst/>
              <a:defRPr/>
            </a:pPr>
            <a:r>
              <a:rPr kumimoji="0" lang="en-US" sz="1800" b="1" i="0" u="none" strike="noStrike" kern="1200" cap="none" spc="0" normalizeH="0" baseline="0" noProof="0">
                <a:ln>
                  <a:noFill/>
                </a:ln>
                <a:solidFill>
                  <a:srgbClr val="FFFF00"/>
                </a:solidFill>
                <a:effectLst/>
                <a:uLnTx/>
                <a:uFillTx/>
                <a:latin typeface="EY interstate regular"/>
              </a:rPr>
              <a:t>Responsibility</a:t>
            </a:r>
            <a:endParaRPr kumimoji="0" lang="en-US" sz="1800" b="0" i="0" u="none" strike="noStrike" kern="0" cap="none" spc="0" normalizeH="0" baseline="0" noProof="0">
              <a:ln>
                <a:noFill/>
              </a:ln>
              <a:solidFill>
                <a:srgbClr val="FFFF00"/>
              </a:solidFill>
              <a:effectLst/>
              <a:uLnTx/>
              <a:uFillTx/>
              <a:latin typeface="EY interstate regular"/>
            </a:endParaRPr>
          </a:p>
        </p:txBody>
      </p:sp>
      <p:sp>
        <p:nvSpPr>
          <p:cNvPr id="17" name="Oval 16">
            <a:extLst>
              <a:ext uri="{FF2B5EF4-FFF2-40B4-BE49-F238E27FC236}">
                <a16:creationId xmlns:a16="http://schemas.microsoft.com/office/drawing/2014/main" id="{EF0CC487-3335-B564-FEF6-F8FF0122D780}"/>
              </a:ext>
            </a:extLst>
          </p:cNvPr>
          <p:cNvSpPr/>
          <p:nvPr/>
        </p:nvSpPr>
        <p:spPr bwMode="auto">
          <a:xfrm>
            <a:off x="7283156" y="2553560"/>
            <a:ext cx="548640" cy="548640"/>
          </a:xfrm>
          <a:prstGeom prst="ellipse">
            <a:avLst/>
          </a:prstGeom>
          <a:solidFill>
            <a:srgbClr val="0070C0"/>
          </a:solidFill>
          <a:ln w="9525" cap="flat" cmpd="sng" algn="ctr">
            <a:solidFill>
              <a:schemeClr val="tx1"/>
            </a:solidFill>
            <a:prstDash val="solid"/>
            <a:round/>
            <a:headEnd type="none" w="med" len="med"/>
            <a:tailEnd type="none" w="med" len="med"/>
          </a:ln>
          <a:effectLst/>
          <a:scene3d>
            <a:camera prst="orthographicFront"/>
            <a:lightRig rig="threePt" dir="t"/>
          </a:scene3d>
          <a:sp3d>
            <a:bevelT w="165100" prst="coolSlant"/>
          </a:sp3d>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EY interstate regular"/>
              </a:rPr>
              <a:t>Who</a:t>
            </a:r>
          </a:p>
        </p:txBody>
      </p:sp>
      <p:sp>
        <p:nvSpPr>
          <p:cNvPr id="18" name="TextBox 17">
            <a:extLst>
              <a:ext uri="{FF2B5EF4-FFF2-40B4-BE49-F238E27FC236}">
                <a16:creationId xmlns:a16="http://schemas.microsoft.com/office/drawing/2014/main" id="{92FC1198-D784-E637-7707-563ADB35E429}"/>
              </a:ext>
            </a:extLst>
          </p:cNvPr>
          <p:cNvSpPr txBox="1"/>
          <p:nvPr/>
        </p:nvSpPr>
        <p:spPr>
          <a:xfrm>
            <a:off x="7189144" y="3165545"/>
            <a:ext cx="2404947" cy="2946961"/>
          </a:xfrm>
          <a:prstGeom prst="rect">
            <a:avLst/>
          </a:prstGeom>
          <a:noFill/>
        </p:spPr>
        <p:txBody>
          <a:bodyPr wrap="square" rtlCol="0">
            <a:spAutoFit/>
          </a:bodyPr>
          <a:lstStyle/>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Who else is involved in the account or the specific item and may be required to take action in the future?</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Operations</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Local Country Team</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Other Internal departments</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Who else has governance responsibilities “Needs to Know”:</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LE Controller</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Business Unit</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Other</a:t>
            </a:r>
          </a:p>
        </p:txBody>
      </p:sp>
      <p:sp>
        <p:nvSpPr>
          <p:cNvPr id="19" name="Rectangle 2">
            <a:extLst>
              <a:ext uri="{FF2B5EF4-FFF2-40B4-BE49-F238E27FC236}">
                <a16:creationId xmlns:a16="http://schemas.microsoft.com/office/drawing/2014/main" id="{55F707A5-6110-D774-63DE-36FA7D36DCF2}"/>
              </a:ext>
            </a:extLst>
          </p:cNvPr>
          <p:cNvSpPr txBox="1">
            <a:spLocks noChangeArrowheads="1"/>
          </p:cNvSpPr>
          <p:nvPr/>
        </p:nvSpPr>
        <p:spPr>
          <a:xfrm>
            <a:off x="10414740" y="2616904"/>
            <a:ext cx="1398815" cy="421953"/>
          </a:xfrm>
          <a:prstGeom prst="rect">
            <a:avLst/>
          </a:prstGeom>
        </p:spPr>
        <p:txBody>
          <a:bodyPr/>
          <a:lstStyle/>
          <a:p>
            <a:pPr marL="0" marR="0" lvl="0" indent="0" algn="l" defTabSz="914400" rtl="0" eaLnBrk="1" fontAlgn="base" latinLnBrk="0" hangingPunct="1">
              <a:lnSpc>
                <a:spcPct val="90000"/>
              </a:lnSpc>
              <a:spcBef>
                <a:spcPts val="300"/>
              </a:spcBef>
              <a:spcAft>
                <a:spcPts val="300"/>
              </a:spcAft>
              <a:buClrTx/>
              <a:buSzTx/>
              <a:buFontTx/>
              <a:buNone/>
              <a:tabLst/>
              <a:defRPr/>
            </a:pPr>
            <a:r>
              <a:rPr kumimoji="0" lang="en-US" sz="1800" b="1" i="0" u="none" strike="noStrike" kern="1200" cap="none" spc="0" normalizeH="0" baseline="0" noProof="0">
                <a:ln>
                  <a:noFill/>
                </a:ln>
                <a:solidFill>
                  <a:srgbClr val="FFFF00"/>
                </a:solidFill>
                <a:effectLst/>
                <a:uLnTx/>
                <a:uFillTx/>
                <a:latin typeface="EY interstate regular"/>
              </a:rPr>
              <a:t>Amounts</a:t>
            </a:r>
            <a:endParaRPr kumimoji="0" lang="en-US" sz="1800" b="0" i="0" u="none" strike="noStrike" kern="0" cap="none" spc="0" normalizeH="0" baseline="0" noProof="0">
              <a:ln>
                <a:noFill/>
              </a:ln>
              <a:solidFill>
                <a:srgbClr val="FFFF00"/>
              </a:solidFill>
              <a:effectLst/>
              <a:uLnTx/>
              <a:uFillTx/>
              <a:latin typeface="EY interstate regular"/>
            </a:endParaRPr>
          </a:p>
        </p:txBody>
      </p:sp>
      <p:sp>
        <p:nvSpPr>
          <p:cNvPr id="20" name="Oval 19">
            <a:extLst>
              <a:ext uri="{FF2B5EF4-FFF2-40B4-BE49-F238E27FC236}">
                <a16:creationId xmlns:a16="http://schemas.microsoft.com/office/drawing/2014/main" id="{1C97951A-4DFA-1DCE-4191-B473E7DCF556}"/>
              </a:ext>
            </a:extLst>
          </p:cNvPr>
          <p:cNvSpPr/>
          <p:nvPr/>
        </p:nvSpPr>
        <p:spPr bwMode="auto">
          <a:xfrm>
            <a:off x="9866100" y="2553560"/>
            <a:ext cx="548640" cy="548640"/>
          </a:xfrm>
          <a:prstGeom prst="ellipse">
            <a:avLst/>
          </a:prstGeom>
          <a:solidFill>
            <a:srgbClr val="7030A0"/>
          </a:solidFill>
          <a:ln w="9525" cap="flat" cmpd="sng" algn="ctr">
            <a:solidFill>
              <a:schemeClr val="tx1"/>
            </a:solidFill>
            <a:prstDash val="solid"/>
            <a:round/>
            <a:headEnd type="none" w="med" len="med"/>
            <a:tailEnd type="none" w="med" len="med"/>
          </a:ln>
          <a:effectLst/>
          <a:scene3d>
            <a:camera prst="orthographicFront"/>
            <a:lightRig rig="threePt" dir="t"/>
          </a:scene3d>
          <a:sp3d>
            <a:bevelT w="165100" prst="coolSlant"/>
          </a:sp3d>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EY interstate regular"/>
              </a:rPr>
              <a:t>How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EY interstate regular"/>
              </a:rPr>
              <a:t>Much</a:t>
            </a:r>
          </a:p>
        </p:txBody>
      </p:sp>
      <p:sp>
        <p:nvSpPr>
          <p:cNvPr id="22" name="TextBox 21">
            <a:extLst>
              <a:ext uri="{FF2B5EF4-FFF2-40B4-BE49-F238E27FC236}">
                <a16:creationId xmlns:a16="http://schemas.microsoft.com/office/drawing/2014/main" id="{35B9A8FD-66A6-744D-774E-6FB4A70E4589}"/>
              </a:ext>
            </a:extLst>
          </p:cNvPr>
          <p:cNvSpPr txBox="1"/>
          <p:nvPr/>
        </p:nvSpPr>
        <p:spPr>
          <a:xfrm>
            <a:off x="9766551" y="3217572"/>
            <a:ext cx="2137252" cy="2577629"/>
          </a:xfrm>
          <a:prstGeom prst="rect">
            <a:avLst/>
          </a:prstGeom>
          <a:noFill/>
        </p:spPr>
        <p:txBody>
          <a:bodyPr wrap="square" rtlCol="0">
            <a:spAutoFit/>
          </a:bodyPr>
          <a:lstStyle/>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Sub-ledger balance </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Additional calculations / support for certain accounts:</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Allowance</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Reserves</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Accruals</a:t>
            </a:r>
          </a:p>
          <a:p>
            <a:pPr marL="174625" marR="0" lvl="0"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Require adjustment due to reconciling items recorded in the General Ledger</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Timing</a:t>
            </a:r>
          </a:p>
          <a:p>
            <a:pPr marL="631825" marR="0" lvl="2" indent="-174625" algn="l" defTabSz="914400" rtl="0" eaLnBrk="1" fontAlgn="auto" latinLnBrk="0" hangingPunct="1">
              <a:lnSpc>
                <a:spcPct val="100000"/>
              </a:lnSpc>
              <a:spcBef>
                <a:spcPts val="0"/>
              </a:spcBef>
              <a:spcAft>
                <a:spcPts val="300"/>
              </a:spcAft>
              <a:buClrTx/>
              <a:buSzPct val="80000"/>
              <a:buFont typeface="Arial" panose="020B0604020202020204" pitchFamily="34" charset="0"/>
              <a:buChar char="►"/>
              <a:tabLst/>
              <a:defRPr/>
            </a:pPr>
            <a:r>
              <a:rPr lang="en-US" sz="1200">
                <a:solidFill>
                  <a:schemeClr val="bg1"/>
                </a:solidFill>
                <a:latin typeface="EY interstate regular"/>
              </a:rPr>
              <a:t>Errors</a:t>
            </a:r>
          </a:p>
        </p:txBody>
      </p:sp>
      <p:sp>
        <p:nvSpPr>
          <p:cNvPr id="23" name="Rectangle 22">
            <a:extLst>
              <a:ext uri="{FF2B5EF4-FFF2-40B4-BE49-F238E27FC236}">
                <a16:creationId xmlns:a16="http://schemas.microsoft.com/office/drawing/2014/main" id="{992FED74-375B-0281-B7F6-7AAD1CB7EF06}"/>
              </a:ext>
            </a:extLst>
          </p:cNvPr>
          <p:cNvSpPr>
            <a:spLocks/>
          </p:cNvSpPr>
          <p:nvPr/>
        </p:nvSpPr>
        <p:spPr>
          <a:xfrm>
            <a:off x="326327" y="1868101"/>
            <a:ext cx="11523804" cy="331977"/>
          </a:xfrm>
          <a:prstGeom prst="rect">
            <a:avLst/>
          </a:prstGeom>
          <a:solidFill>
            <a:srgbClr val="FFE6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en-US" b="1">
                <a:solidFill>
                  <a:schemeClr val="tx1"/>
                </a:solidFill>
                <a:latin typeface="EY interstate regular"/>
              </a:rPr>
              <a:t>Reconciliations should provide detail on</a:t>
            </a:r>
          </a:p>
        </p:txBody>
      </p:sp>
      <p:cxnSp>
        <p:nvCxnSpPr>
          <p:cNvPr id="5" name="Straight Connector 4">
            <a:extLst>
              <a:ext uri="{FF2B5EF4-FFF2-40B4-BE49-F238E27FC236}">
                <a16:creationId xmlns:a16="http://schemas.microsoft.com/office/drawing/2014/main" id="{F6C0A6E6-9926-E1AF-5B26-6AE3FB628757}"/>
              </a:ext>
            </a:extLst>
          </p:cNvPr>
          <p:cNvCxnSpPr>
            <a:cxnSpLocks/>
          </p:cNvCxnSpPr>
          <p:nvPr/>
        </p:nvCxnSpPr>
        <p:spPr>
          <a:xfrm>
            <a:off x="9594091" y="2553560"/>
            <a:ext cx="0" cy="3004948"/>
          </a:xfrm>
          <a:prstGeom prst="line">
            <a:avLst/>
          </a:prstGeom>
          <a:ln w="28575">
            <a:solidFill>
              <a:schemeClr val="bg1"/>
            </a:solidFill>
            <a:prstDash val="dash"/>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4CAFE531-4FCE-A613-88EB-EB2FA63CF1B7}"/>
              </a:ext>
            </a:extLst>
          </p:cNvPr>
          <p:cNvCxnSpPr>
            <a:cxnSpLocks/>
          </p:cNvCxnSpPr>
          <p:nvPr/>
        </p:nvCxnSpPr>
        <p:spPr>
          <a:xfrm>
            <a:off x="7122881" y="2553560"/>
            <a:ext cx="0" cy="3004948"/>
          </a:xfrm>
          <a:prstGeom prst="line">
            <a:avLst/>
          </a:prstGeom>
          <a:ln w="28575">
            <a:solidFill>
              <a:schemeClr val="bg1"/>
            </a:solidFill>
            <a:prstDash val="dash"/>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A325A546-0733-D93C-C5E7-31EEC56301CA}"/>
              </a:ext>
            </a:extLst>
          </p:cNvPr>
          <p:cNvCxnSpPr>
            <a:cxnSpLocks/>
          </p:cNvCxnSpPr>
          <p:nvPr/>
        </p:nvCxnSpPr>
        <p:spPr>
          <a:xfrm>
            <a:off x="4852923" y="2553560"/>
            <a:ext cx="0" cy="3004948"/>
          </a:xfrm>
          <a:prstGeom prst="line">
            <a:avLst/>
          </a:prstGeom>
          <a:ln w="28575">
            <a:solidFill>
              <a:schemeClr val="bg1"/>
            </a:solidFill>
            <a:prstDash val="dash"/>
          </a:ln>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AC888A86-6557-88F4-8A28-DD2239E8B05E}"/>
              </a:ext>
            </a:extLst>
          </p:cNvPr>
          <p:cNvCxnSpPr>
            <a:cxnSpLocks/>
          </p:cNvCxnSpPr>
          <p:nvPr/>
        </p:nvCxnSpPr>
        <p:spPr>
          <a:xfrm>
            <a:off x="2616379" y="2553560"/>
            <a:ext cx="0" cy="3004948"/>
          </a:xfrm>
          <a:prstGeom prst="line">
            <a:avLst/>
          </a:prstGeom>
          <a:ln w="28575">
            <a:solidFill>
              <a:schemeClr val="bg1"/>
            </a:solidFill>
            <a:prstDash val="dash"/>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E104EBFE-5CE5-1B2B-EE65-32F9A19DD4DE}"/>
              </a:ext>
            </a:extLst>
          </p:cNvPr>
          <p:cNvSpPr txBox="1"/>
          <p:nvPr/>
        </p:nvSpPr>
        <p:spPr>
          <a:xfrm>
            <a:off x="326327" y="5868277"/>
            <a:ext cx="3021381" cy="646331"/>
          </a:xfrm>
          <a:prstGeom prst="rect">
            <a:avLst/>
          </a:prstGeom>
          <a:noFill/>
        </p:spPr>
        <p:txBody>
          <a:bodyPr wrap="square" rtlCol="0">
            <a:spAutoFit/>
          </a:bodyPr>
          <a:lstStyle/>
          <a:p>
            <a:pPr algn="ctr"/>
            <a:r>
              <a:rPr lang="en-IN" b="1">
                <a:latin typeface="EYInterstate" panose="02000503020000020004" pitchFamily="2" charset="0"/>
              </a:rPr>
              <a:t>Account Reconciliation template and tracker</a:t>
            </a:r>
          </a:p>
        </p:txBody>
      </p:sp>
      <p:graphicFrame>
        <p:nvGraphicFramePr>
          <p:cNvPr id="27" name="Object 26">
            <a:extLst>
              <a:ext uri="{FF2B5EF4-FFF2-40B4-BE49-F238E27FC236}">
                <a16:creationId xmlns:a16="http://schemas.microsoft.com/office/drawing/2014/main" id="{66CD2FC0-9D8D-9C18-C9CE-B966305814D5}"/>
              </a:ext>
            </a:extLst>
          </p:cNvPr>
          <p:cNvGraphicFramePr>
            <a:graphicFrameLocks noChangeAspect="1"/>
          </p:cNvGraphicFramePr>
          <p:nvPr>
            <p:extLst>
              <p:ext uri="{D42A27DB-BD31-4B8C-83A1-F6EECF244321}">
                <p14:modId xmlns:p14="http://schemas.microsoft.com/office/powerpoint/2010/main" val="1893552176"/>
              </p:ext>
            </p:extLst>
          </p:nvPr>
        </p:nvGraphicFramePr>
        <p:xfrm>
          <a:off x="3115521" y="5848937"/>
          <a:ext cx="914400" cy="771525"/>
        </p:xfrm>
        <a:graphic>
          <a:graphicData uri="http://schemas.openxmlformats.org/presentationml/2006/ole">
            <mc:AlternateContent xmlns:mc="http://schemas.openxmlformats.org/markup-compatibility/2006">
              <mc:Choice xmlns:v="urn:schemas-microsoft-com:vml" Requires="v">
                <p:oleObj name="Worksheet" showAsIcon="1" r:id="rId3" imgW="914570" imgH="771459" progId="Excel.Sheet.12">
                  <p:embed/>
                </p:oleObj>
              </mc:Choice>
              <mc:Fallback>
                <p:oleObj name="Worksheet" showAsIcon="1" r:id="rId3" imgW="914570" imgH="771459" progId="Excel.Sheet.12">
                  <p:embed/>
                  <p:pic>
                    <p:nvPicPr>
                      <p:cNvPr id="27" name="Object 26">
                        <a:extLst>
                          <a:ext uri="{FF2B5EF4-FFF2-40B4-BE49-F238E27FC236}">
                            <a16:creationId xmlns:a16="http://schemas.microsoft.com/office/drawing/2014/main" id="{66CD2FC0-9D8D-9C18-C9CE-B966305814D5}"/>
                          </a:ext>
                        </a:extLst>
                      </p:cNvPr>
                      <p:cNvPicPr/>
                      <p:nvPr/>
                    </p:nvPicPr>
                    <p:blipFill>
                      <a:blip r:embed="rId4"/>
                      <a:stretch>
                        <a:fillRect/>
                      </a:stretch>
                    </p:blipFill>
                    <p:spPr>
                      <a:xfrm>
                        <a:off x="3115521" y="5848937"/>
                        <a:ext cx="914400" cy="771525"/>
                      </a:xfrm>
                      <a:prstGeom prst="rect">
                        <a:avLst/>
                      </a:prstGeom>
                    </p:spPr>
                  </p:pic>
                </p:oleObj>
              </mc:Fallback>
            </mc:AlternateContent>
          </a:graphicData>
        </a:graphic>
      </p:graphicFrame>
      <p:sp>
        <p:nvSpPr>
          <p:cNvPr id="30" name="Content Placeholder 1">
            <a:extLst>
              <a:ext uri="{FF2B5EF4-FFF2-40B4-BE49-F238E27FC236}">
                <a16:creationId xmlns:a16="http://schemas.microsoft.com/office/drawing/2014/main" id="{1522F36F-090F-6991-038B-A82FB6704CDB}"/>
              </a:ext>
            </a:extLst>
          </p:cNvPr>
          <p:cNvSpPr>
            <a:spLocks noGrp="1"/>
          </p:cNvSpPr>
          <p:nvPr>
            <p:ph idx="4294967295"/>
          </p:nvPr>
        </p:nvSpPr>
        <p:spPr>
          <a:xfrm>
            <a:off x="609596" y="441683"/>
            <a:ext cx="10029832" cy="833118"/>
          </a:xfrm>
          <a:noFill/>
          <a:ln>
            <a:noFill/>
          </a:ln>
        </p:spPr>
        <p:txBody>
          <a:bodyPr vert="horz" wrap="square" lIns="0" tIns="0" rIns="0" bIns="0" rtlCol="0" anchor="t" anchorCtr="0" compatLnSpc="1">
            <a:noAutofit/>
          </a:bodyPr>
          <a:lstStyle/>
          <a:p>
            <a:pPr>
              <a:buNone/>
            </a:pPr>
            <a:r>
              <a:rPr lang="en-US" sz="2400" b="1">
                <a:solidFill>
                  <a:srgbClr val="FFE600"/>
                </a:solidFill>
                <a:latin typeface="EY interstate heading"/>
                <a:ea typeface="+mn-ea"/>
                <a:cs typeface="+mn-cs"/>
              </a:rPr>
              <a:t>Account Reconciliation</a:t>
            </a:r>
          </a:p>
        </p:txBody>
      </p:sp>
    </p:spTree>
    <p:extLst>
      <p:ext uri="{BB962C8B-B14F-4D97-AF65-F5344CB8AC3E}">
        <p14:creationId xmlns:p14="http://schemas.microsoft.com/office/powerpoint/2010/main" val="1671715538"/>
      </p:ext>
    </p:extLst>
  </p:cSld>
  <p:clrMapOvr>
    <a:masterClrMapping/>
  </p:clrMapOvr>
  <p:extLst>
    <p:ext uri="{6950BFC3-D8DA-4A85-94F7-54DA5524770B}">
      <p188:commentRel xmlns:p188="http://schemas.microsoft.com/office/powerpoint/2018/8/main" r:id="rId2"/>
    </p:ext>
  </p:extLs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6FC242-55DE-051C-DEBD-D5F0E3D87E66}"/>
            </a:ext>
          </a:extLst>
        </p:cNvPr>
        <p:cNvGrpSpPr/>
        <p:nvPr/>
      </p:nvGrpSpPr>
      <p:grpSpPr>
        <a:xfrm>
          <a:off x="0" y="0"/>
          <a:ext cx="0" cy="0"/>
          <a:chOff x="0" y="0"/>
          <a:chExt cx="0" cy="0"/>
        </a:xfrm>
      </p:grpSpPr>
      <p:sp>
        <p:nvSpPr>
          <p:cNvPr id="41" name="TextBox 40">
            <a:extLst>
              <a:ext uri="{FF2B5EF4-FFF2-40B4-BE49-F238E27FC236}">
                <a16:creationId xmlns:a16="http://schemas.microsoft.com/office/drawing/2014/main" id="{FE61246E-CD2D-D14B-1E0D-87A88AC48191}"/>
              </a:ext>
            </a:extLst>
          </p:cNvPr>
          <p:cNvSpPr txBox="1">
            <a:spLocks/>
          </p:cNvSpPr>
          <p:nvPr/>
        </p:nvSpPr>
        <p:spPr>
          <a:xfrm>
            <a:off x="8038039" y="2841284"/>
            <a:ext cx="3370761" cy="3121782"/>
          </a:xfrm>
          <a:prstGeom prst="rect">
            <a:avLst/>
          </a:prstGeom>
          <a:noFill/>
          <a:ln w="28575">
            <a:solidFill>
              <a:srgbClr val="FFFF00"/>
            </a:solidFill>
          </a:ln>
        </p:spPr>
        <p:txBody>
          <a:bodyPr wrap="square" lIns="0" tIns="36576" rIns="0" bIns="0" rtlCol="0" anchor="t">
            <a:spAutoFit/>
          </a:bodyPr>
          <a:lstStyle>
            <a:defPPr>
              <a:defRPr lang="de-DE"/>
            </a:defPPr>
            <a:lvl1pPr marL="356616" indent="-356616">
              <a:spcAft>
                <a:spcPts val="600"/>
              </a:spcAft>
              <a:buClr>
                <a:schemeClr val="accent2"/>
              </a:buClr>
              <a:buSzPct val="70000"/>
              <a:buFont typeface="Arial" pitchFamily="34" charset="0"/>
              <a:buChar char="►"/>
              <a:defRPr sz="1400"/>
            </a:lvl1pPr>
          </a:lstStyle>
          <a:p>
            <a:pPr marL="179705" indent="-179705">
              <a:buClr>
                <a:schemeClr val="tx1"/>
              </a:buClr>
            </a:pPr>
            <a:endParaRPr lang="en-IN">
              <a:solidFill>
                <a:schemeClr val="bg1"/>
              </a:solidFill>
              <a:latin typeface="EY interstate"/>
            </a:endParaRPr>
          </a:p>
        </p:txBody>
      </p:sp>
      <p:sp>
        <p:nvSpPr>
          <p:cNvPr id="2" name="Rectangle 1">
            <a:extLst>
              <a:ext uri="{FF2B5EF4-FFF2-40B4-BE49-F238E27FC236}">
                <a16:creationId xmlns:a16="http://schemas.microsoft.com/office/drawing/2014/main" id="{0BECBB9C-4A7C-87A4-F0DC-33EDB65EBEE0}"/>
              </a:ext>
            </a:extLst>
          </p:cNvPr>
          <p:cNvSpPr>
            <a:spLocks/>
          </p:cNvSpPr>
          <p:nvPr/>
        </p:nvSpPr>
        <p:spPr>
          <a:xfrm>
            <a:off x="333979" y="1788427"/>
            <a:ext cx="3600000" cy="401910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err="1">
              <a:solidFill>
                <a:schemeClr val="tx1"/>
              </a:solidFill>
            </a:endParaRPr>
          </a:p>
        </p:txBody>
      </p:sp>
      <p:grpSp>
        <p:nvGrpSpPr>
          <p:cNvPr id="4" name="Group 3">
            <a:extLst>
              <a:ext uri="{FF2B5EF4-FFF2-40B4-BE49-F238E27FC236}">
                <a16:creationId xmlns:a16="http://schemas.microsoft.com/office/drawing/2014/main" id="{A0239750-04E0-BBE4-B8AD-664085DC6134}"/>
              </a:ext>
            </a:extLst>
          </p:cNvPr>
          <p:cNvGrpSpPr/>
          <p:nvPr/>
        </p:nvGrpSpPr>
        <p:grpSpPr>
          <a:xfrm>
            <a:off x="333978" y="1526096"/>
            <a:ext cx="3599993" cy="1048149"/>
            <a:chOff x="337784" y="1243745"/>
            <a:chExt cx="3234672" cy="512757"/>
          </a:xfrm>
        </p:grpSpPr>
        <p:sp>
          <p:nvSpPr>
            <p:cNvPr id="5" name="Isosceles Triangle 4">
              <a:extLst>
                <a:ext uri="{FF2B5EF4-FFF2-40B4-BE49-F238E27FC236}">
                  <a16:creationId xmlns:a16="http://schemas.microsoft.com/office/drawing/2014/main" id="{A51CFA0E-A5C3-2AFC-2637-7856A9DB67C8}"/>
                </a:ext>
              </a:extLst>
            </p:cNvPr>
            <p:cNvSpPr/>
            <p:nvPr/>
          </p:nvSpPr>
          <p:spPr>
            <a:xfrm>
              <a:off x="3418674" y="1243745"/>
              <a:ext cx="153782" cy="106812"/>
            </a:xfrm>
            <a:prstGeom prst="triangle">
              <a:avLst/>
            </a:prstGeom>
            <a:solidFill>
              <a:srgbClr val="C4C4CD"/>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6" name="Parallelogram 5">
              <a:extLst>
                <a:ext uri="{FF2B5EF4-FFF2-40B4-BE49-F238E27FC236}">
                  <a16:creationId xmlns:a16="http://schemas.microsoft.com/office/drawing/2014/main" id="{0F368807-D731-EF0E-23E9-4B30E6ADDC88}"/>
                </a:ext>
              </a:extLst>
            </p:cNvPr>
            <p:cNvSpPr/>
            <p:nvPr/>
          </p:nvSpPr>
          <p:spPr>
            <a:xfrm>
              <a:off x="1147124" y="1243745"/>
              <a:ext cx="2346960" cy="512757"/>
            </a:xfrm>
            <a:prstGeom prst="parallelogram">
              <a:avLst/>
            </a:prstGeom>
            <a:solidFill>
              <a:srgbClr val="FFC0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8" name="Parallelogram 7">
              <a:extLst>
                <a:ext uri="{FF2B5EF4-FFF2-40B4-BE49-F238E27FC236}">
                  <a16:creationId xmlns:a16="http://schemas.microsoft.com/office/drawing/2014/main" id="{75D66621-9AB7-53C8-DE5C-3E691048F683}"/>
                </a:ext>
              </a:extLst>
            </p:cNvPr>
            <p:cNvSpPr/>
            <p:nvPr/>
          </p:nvSpPr>
          <p:spPr>
            <a:xfrm>
              <a:off x="611943" y="1243745"/>
              <a:ext cx="2756419" cy="512757"/>
            </a:xfrm>
            <a:prstGeom prst="parallelogram">
              <a:avLst/>
            </a:prstGeom>
            <a:solidFill>
              <a:srgbClr val="74748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0" name="Rectangle: Top Corners One Rounded and One Snipped 9">
              <a:extLst>
                <a:ext uri="{FF2B5EF4-FFF2-40B4-BE49-F238E27FC236}">
                  <a16:creationId xmlns:a16="http://schemas.microsoft.com/office/drawing/2014/main" id="{623443D6-DCF6-6D11-7114-8ABF108CE5D3}"/>
                </a:ext>
              </a:extLst>
            </p:cNvPr>
            <p:cNvSpPr/>
            <p:nvPr/>
          </p:nvSpPr>
          <p:spPr>
            <a:xfrm>
              <a:off x="337784" y="1243745"/>
              <a:ext cx="667103" cy="512757"/>
            </a:xfrm>
            <a:prstGeom prst="snipRoundRect">
              <a:avLst>
                <a:gd name="adj1" fmla="val 36900"/>
                <a:gd name="adj2" fmla="val 0"/>
              </a:avLst>
            </a:prstGeom>
            <a:solidFill>
              <a:srgbClr val="74748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7" name="Rectangle 6">
            <a:extLst>
              <a:ext uri="{FF2B5EF4-FFF2-40B4-BE49-F238E27FC236}">
                <a16:creationId xmlns:a16="http://schemas.microsoft.com/office/drawing/2014/main" id="{28D32D42-2C38-EFDE-BC44-AE3BE93A57C7}"/>
              </a:ext>
            </a:extLst>
          </p:cNvPr>
          <p:cNvSpPr>
            <a:spLocks/>
          </p:cNvSpPr>
          <p:nvPr/>
        </p:nvSpPr>
        <p:spPr>
          <a:xfrm>
            <a:off x="8038566" y="1788428"/>
            <a:ext cx="3600000" cy="401910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err="1">
              <a:solidFill>
                <a:schemeClr val="tx1"/>
              </a:solidFill>
            </a:endParaRPr>
          </a:p>
        </p:txBody>
      </p:sp>
      <p:sp>
        <p:nvSpPr>
          <p:cNvPr id="9" name="Rectangle 8">
            <a:extLst>
              <a:ext uri="{FF2B5EF4-FFF2-40B4-BE49-F238E27FC236}">
                <a16:creationId xmlns:a16="http://schemas.microsoft.com/office/drawing/2014/main" id="{D1A28058-C9EA-6B0E-3074-8920C29ADF7F}"/>
              </a:ext>
            </a:extLst>
          </p:cNvPr>
          <p:cNvSpPr>
            <a:spLocks/>
          </p:cNvSpPr>
          <p:nvPr/>
        </p:nvSpPr>
        <p:spPr>
          <a:xfrm>
            <a:off x="4199093" y="1788427"/>
            <a:ext cx="3600000" cy="401910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err="1">
              <a:solidFill>
                <a:schemeClr val="tx1"/>
              </a:solidFill>
            </a:endParaRPr>
          </a:p>
        </p:txBody>
      </p:sp>
      <p:sp>
        <p:nvSpPr>
          <p:cNvPr id="15" name="TextBox 14">
            <a:extLst>
              <a:ext uri="{FF2B5EF4-FFF2-40B4-BE49-F238E27FC236}">
                <a16:creationId xmlns:a16="http://schemas.microsoft.com/office/drawing/2014/main" id="{E383352A-94C3-41F3-C8F5-25EF7E2AA6E6}"/>
              </a:ext>
            </a:extLst>
          </p:cNvPr>
          <p:cNvSpPr txBox="1">
            <a:spLocks/>
          </p:cNvSpPr>
          <p:nvPr/>
        </p:nvSpPr>
        <p:spPr>
          <a:xfrm>
            <a:off x="333978" y="2836576"/>
            <a:ext cx="3368738" cy="2576090"/>
          </a:xfrm>
          <a:prstGeom prst="rect">
            <a:avLst/>
          </a:prstGeom>
          <a:noFill/>
          <a:ln>
            <a:noFill/>
          </a:ln>
        </p:spPr>
        <p:txBody>
          <a:bodyPr wrap="square" lIns="0" tIns="36576" rIns="0" bIns="0" rtlCol="0" anchor="t">
            <a:spAutoFit/>
          </a:bodyPr>
          <a:lstStyle>
            <a:defPPr>
              <a:defRPr lang="de-DE"/>
            </a:defPPr>
            <a:lvl1pPr marL="356616" indent="-356616">
              <a:spcAft>
                <a:spcPts val="600"/>
              </a:spcAft>
              <a:buClr>
                <a:schemeClr val="accent2"/>
              </a:buClr>
              <a:buSzPct val="70000"/>
              <a:buFont typeface="Arial" pitchFamily="34" charset="0"/>
              <a:buChar char="►"/>
              <a:defRPr sz="1400"/>
            </a:lvl1pPr>
          </a:lstStyle>
          <a:p>
            <a:pPr marL="179705" indent="-179705">
              <a:buClr>
                <a:schemeClr val="tx1"/>
              </a:buClr>
            </a:pPr>
            <a:r>
              <a:rPr lang="en-IN">
                <a:solidFill>
                  <a:schemeClr val="bg1"/>
                </a:solidFill>
                <a:latin typeface="EY interstate"/>
              </a:rPr>
              <a:t>Provide a clear explanation of balance components and reconciling items</a:t>
            </a:r>
          </a:p>
          <a:p>
            <a:pPr marL="179705" indent="-179705">
              <a:buClr>
                <a:schemeClr val="tx1"/>
              </a:buClr>
            </a:pPr>
            <a:r>
              <a:rPr lang="en-IN">
                <a:solidFill>
                  <a:schemeClr val="bg1"/>
                </a:solidFill>
                <a:latin typeface="EY interstate"/>
              </a:rPr>
              <a:t>Define all item classes available in EPM tool</a:t>
            </a:r>
          </a:p>
          <a:p>
            <a:pPr marL="179705" indent="-179705">
              <a:buClr>
                <a:schemeClr val="tx1"/>
              </a:buClr>
            </a:pPr>
            <a:r>
              <a:rPr lang="en-IN">
                <a:solidFill>
                  <a:schemeClr val="bg1"/>
                </a:solidFill>
                <a:latin typeface="EY interstate"/>
              </a:rPr>
              <a:t>Include examples for each item class to guide correct classification</a:t>
            </a:r>
          </a:p>
          <a:p>
            <a:pPr marL="179705" indent="-179705">
              <a:buClr>
                <a:schemeClr val="tx1"/>
              </a:buClr>
            </a:pPr>
            <a:r>
              <a:rPr lang="en-IN">
                <a:solidFill>
                  <a:schemeClr val="bg1"/>
                </a:solidFill>
                <a:latin typeface="EY interstate"/>
              </a:rPr>
              <a:t>Establish guidelines for creating clear narrations/descriptions for open items</a:t>
            </a:r>
          </a:p>
          <a:p>
            <a:pPr marL="179705" indent="-179705">
              <a:buClr>
                <a:schemeClr val="tx1"/>
              </a:buClr>
            </a:pPr>
            <a:r>
              <a:rPr lang="en-IN">
                <a:solidFill>
                  <a:schemeClr val="bg1"/>
                </a:solidFill>
                <a:latin typeface="EY interstate"/>
              </a:rPr>
              <a:t>Specify the date criteria to be used for calculating aged items</a:t>
            </a:r>
            <a:endParaRPr lang="en-US">
              <a:solidFill>
                <a:schemeClr val="bg1"/>
              </a:solidFill>
              <a:latin typeface="EY interstate"/>
            </a:endParaRPr>
          </a:p>
          <a:p>
            <a:pPr marL="179705" indent="-179705">
              <a:buClr>
                <a:schemeClr val="tx1"/>
              </a:buClr>
            </a:pPr>
            <a:endParaRPr lang="de-CH">
              <a:solidFill>
                <a:srgbClr val="FFFF00"/>
              </a:solidFill>
              <a:latin typeface="EY interstate"/>
            </a:endParaRPr>
          </a:p>
        </p:txBody>
      </p:sp>
      <p:sp>
        <p:nvSpPr>
          <p:cNvPr id="16" name="TextBox 15">
            <a:extLst>
              <a:ext uri="{FF2B5EF4-FFF2-40B4-BE49-F238E27FC236}">
                <a16:creationId xmlns:a16="http://schemas.microsoft.com/office/drawing/2014/main" id="{D967690C-BE88-9F4D-E88F-2886394F73AE}"/>
              </a:ext>
            </a:extLst>
          </p:cNvPr>
          <p:cNvSpPr txBox="1">
            <a:spLocks/>
          </p:cNvSpPr>
          <p:nvPr/>
        </p:nvSpPr>
        <p:spPr>
          <a:xfrm>
            <a:off x="4144698" y="2841284"/>
            <a:ext cx="3311228" cy="1191095"/>
          </a:xfrm>
          <a:prstGeom prst="rect">
            <a:avLst/>
          </a:prstGeom>
          <a:noFill/>
          <a:ln>
            <a:noFill/>
          </a:ln>
        </p:spPr>
        <p:txBody>
          <a:bodyPr wrap="square" lIns="0" tIns="36576" rIns="0" bIns="0" rtlCol="0" anchor="t">
            <a:spAutoFit/>
          </a:bodyPr>
          <a:lstStyle>
            <a:defPPr>
              <a:defRPr lang="de-DE"/>
            </a:defPPr>
            <a:lvl1pPr marL="356616" indent="-356616">
              <a:spcAft>
                <a:spcPts val="600"/>
              </a:spcAft>
              <a:buClr>
                <a:schemeClr val="accent2"/>
              </a:buClr>
              <a:buSzPct val="70000"/>
              <a:buFont typeface="Arial" pitchFamily="34" charset="0"/>
              <a:buChar char="►"/>
              <a:defRPr sz="1400"/>
            </a:lvl1pPr>
          </a:lstStyle>
          <a:p>
            <a:pPr>
              <a:buClr>
                <a:schemeClr val="tx1"/>
              </a:buClr>
              <a:buFont typeface="Courier New"/>
              <a:buChar char="o"/>
            </a:pPr>
            <a:r>
              <a:rPr lang="en-IN">
                <a:solidFill>
                  <a:schemeClr val="bg1"/>
                </a:solidFill>
                <a:latin typeface="EY interstate"/>
              </a:rPr>
              <a:t>Clearly map template types to the nature of accounts (e.g., accruals, clearing, suspense)</a:t>
            </a:r>
            <a:endParaRPr lang="en-US"/>
          </a:p>
          <a:p>
            <a:pPr>
              <a:buClr>
                <a:schemeClr val="tx1"/>
              </a:buClr>
              <a:buFont typeface="Courier New"/>
              <a:buChar char="o"/>
            </a:pPr>
            <a:r>
              <a:rPr lang="en-IN">
                <a:solidFill>
                  <a:schemeClr val="bg1"/>
                </a:solidFill>
                <a:latin typeface="EY interstate"/>
              </a:rPr>
              <a:t>Ensure consistent usage across teams and entities</a:t>
            </a:r>
            <a:endParaRPr lang="en-US">
              <a:solidFill>
                <a:schemeClr val="bg1"/>
              </a:solidFill>
              <a:latin typeface="EY interstate"/>
            </a:endParaRPr>
          </a:p>
        </p:txBody>
      </p:sp>
      <p:sp>
        <p:nvSpPr>
          <p:cNvPr id="17" name="TextBox 16">
            <a:extLst>
              <a:ext uri="{FF2B5EF4-FFF2-40B4-BE49-F238E27FC236}">
                <a16:creationId xmlns:a16="http://schemas.microsoft.com/office/drawing/2014/main" id="{3BF2DBEB-081D-BD90-7005-A885E408A9CC}"/>
              </a:ext>
            </a:extLst>
          </p:cNvPr>
          <p:cNvSpPr txBox="1">
            <a:spLocks/>
          </p:cNvSpPr>
          <p:nvPr/>
        </p:nvSpPr>
        <p:spPr>
          <a:xfrm>
            <a:off x="8107796" y="2836576"/>
            <a:ext cx="3368738" cy="1991314"/>
          </a:xfrm>
          <a:prstGeom prst="rect">
            <a:avLst/>
          </a:prstGeom>
          <a:noFill/>
          <a:ln>
            <a:noFill/>
          </a:ln>
        </p:spPr>
        <p:txBody>
          <a:bodyPr wrap="square" lIns="0" tIns="36576" rIns="0" bIns="0" rtlCol="0" anchor="t">
            <a:spAutoFit/>
          </a:bodyPr>
          <a:lstStyle>
            <a:defPPr>
              <a:defRPr lang="de-DE"/>
            </a:defPPr>
            <a:lvl1pPr marL="180000" indent="-180000">
              <a:spcAft>
                <a:spcPts val="600"/>
              </a:spcAft>
              <a:buClr>
                <a:schemeClr val="tx1"/>
              </a:buClr>
              <a:buSzPct val="70000"/>
              <a:buFont typeface="Arial" pitchFamily="34" charset="0"/>
              <a:buChar char="►"/>
              <a:defRPr sz="1400"/>
            </a:lvl1pPr>
          </a:lstStyle>
          <a:p>
            <a:pPr marL="179705" indent="-179705"/>
            <a:r>
              <a:rPr lang="en-US">
                <a:solidFill>
                  <a:schemeClr val="bg1"/>
                </a:solidFill>
                <a:latin typeface="EY interstate"/>
              </a:rPr>
              <a:t>Define what constitutes adequate support (e.g., invoices, bank statements, journal entries)</a:t>
            </a:r>
          </a:p>
          <a:p>
            <a:pPr marL="179705" indent="-179705"/>
            <a:r>
              <a:rPr lang="en-US">
                <a:solidFill>
                  <a:schemeClr val="bg1"/>
                </a:solidFill>
                <a:latin typeface="EY interstate"/>
              </a:rPr>
              <a:t>List acceptable formats (e.g., PDF, Excel, system screenshots)</a:t>
            </a:r>
          </a:p>
          <a:p>
            <a:pPr marL="179705" indent="-179705"/>
            <a:r>
              <a:rPr lang="en-US">
                <a:solidFill>
                  <a:schemeClr val="bg1"/>
                </a:solidFill>
                <a:latin typeface="EY interstate"/>
              </a:rPr>
              <a:t>Include data confidentiality guidelines for handling sensitive information</a:t>
            </a:r>
          </a:p>
          <a:p>
            <a:pPr marL="179705" indent="-179705"/>
            <a:endParaRPr lang="en-US">
              <a:solidFill>
                <a:srgbClr val="FFFF00"/>
              </a:solidFill>
              <a:latin typeface="EY interstate"/>
            </a:endParaRPr>
          </a:p>
        </p:txBody>
      </p:sp>
      <p:sp>
        <p:nvSpPr>
          <p:cNvPr id="3" name="Content Placeholder 1">
            <a:extLst>
              <a:ext uri="{FF2B5EF4-FFF2-40B4-BE49-F238E27FC236}">
                <a16:creationId xmlns:a16="http://schemas.microsoft.com/office/drawing/2014/main" id="{59F048BB-653B-CA92-6AF7-9A454F596CEC}"/>
              </a:ext>
            </a:extLst>
          </p:cNvPr>
          <p:cNvSpPr>
            <a:spLocks noGrp="1"/>
          </p:cNvSpPr>
          <p:nvPr>
            <p:ph idx="4294967295"/>
          </p:nvPr>
        </p:nvSpPr>
        <p:spPr>
          <a:xfrm>
            <a:off x="293216" y="425841"/>
            <a:ext cx="10400889" cy="833118"/>
          </a:xfrm>
          <a:noFill/>
          <a:ln>
            <a:noFill/>
          </a:ln>
        </p:spPr>
        <p:txBody>
          <a:bodyPr vert="horz" wrap="square" lIns="0" tIns="0" rIns="0" bIns="0" rtlCol="0" anchor="t" anchorCtr="0" compatLnSpc="1">
            <a:noAutofit/>
          </a:bodyPr>
          <a:lstStyle/>
          <a:p>
            <a:pPr marL="356433" lvl="1" indent="0">
              <a:buNone/>
            </a:pPr>
            <a:r>
              <a:rPr lang="en-US" sz="2400" b="1">
                <a:solidFill>
                  <a:srgbClr val="FFE600"/>
                </a:solidFill>
                <a:latin typeface="EY interstate heading"/>
              </a:rPr>
              <a:t>Reconciliation Methodology</a:t>
            </a:r>
          </a:p>
        </p:txBody>
      </p:sp>
      <p:grpSp>
        <p:nvGrpSpPr>
          <p:cNvPr id="12" name="Group 11">
            <a:extLst>
              <a:ext uri="{FF2B5EF4-FFF2-40B4-BE49-F238E27FC236}">
                <a16:creationId xmlns:a16="http://schemas.microsoft.com/office/drawing/2014/main" id="{EC623009-8EB4-0872-3CF5-73B57936B46C}"/>
              </a:ext>
            </a:extLst>
          </p:cNvPr>
          <p:cNvGrpSpPr/>
          <p:nvPr/>
        </p:nvGrpSpPr>
        <p:grpSpPr>
          <a:xfrm>
            <a:off x="4155642" y="1523235"/>
            <a:ext cx="3612350" cy="1048149"/>
            <a:chOff x="326681" y="1243745"/>
            <a:chExt cx="3245775" cy="512757"/>
          </a:xfrm>
        </p:grpSpPr>
        <p:sp>
          <p:nvSpPr>
            <p:cNvPr id="26" name="Isosceles Triangle 25">
              <a:extLst>
                <a:ext uri="{FF2B5EF4-FFF2-40B4-BE49-F238E27FC236}">
                  <a16:creationId xmlns:a16="http://schemas.microsoft.com/office/drawing/2014/main" id="{5783F1B0-90B0-14C5-3F60-F139A8024A80}"/>
                </a:ext>
              </a:extLst>
            </p:cNvPr>
            <p:cNvSpPr/>
            <p:nvPr/>
          </p:nvSpPr>
          <p:spPr>
            <a:xfrm>
              <a:off x="3418674" y="1243745"/>
              <a:ext cx="153782" cy="106812"/>
            </a:xfrm>
            <a:prstGeom prst="triangle">
              <a:avLst/>
            </a:prstGeom>
            <a:solidFill>
              <a:srgbClr val="C4C4CD"/>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27" name="Parallelogram 26">
              <a:extLst>
                <a:ext uri="{FF2B5EF4-FFF2-40B4-BE49-F238E27FC236}">
                  <a16:creationId xmlns:a16="http://schemas.microsoft.com/office/drawing/2014/main" id="{3767B5D0-F5F5-4FA2-CE09-A0D736C731A1}"/>
                </a:ext>
              </a:extLst>
            </p:cNvPr>
            <p:cNvSpPr/>
            <p:nvPr/>
          </p:nvSpPr>
          <p:spPr>
            <a:xfrm>
              <a:off x="1147124" y="1243745"/>
              <a:ext cx="2346960" cy="512757"/>
            </a:xfrm>
            <a:prstGeom prst="parallelogram">
              <a:avLst/>
            </a:prstGeom>
            <a:solidFill>
              <a:srgbClr val="FFC0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28" name="Parallelogram 27">
              <a:extLst>
                <a:ext uri="{FF2B5EF4-FFF2-40B4-BE49-F238E27FC236}">
                  <a16:creationId xmlns:a16="http://schemas.microsoft.com/office/drawing/2014/main" id="{C5E32F67-D82E-D047-F2A4-F227D83222A7}"/>
                </a:ext>
              </a:extLst>
            </p:cNvPr>
            <p:cNvSpPr/>
            <p:nvPr/>
          </p:nvSpPr>
          <p:spPr>
            <a:xfrm>
              <a:off x="728208" y="1243745"/>
              <a:ext cx="2704746" cy="512757"/>
            </a:xfrm>
            <a:prstGeom prst="parallelogram">
              <a:avLst/>
            </a:prstGeom>
            <a:solidFill>
              <a:srgbClr val="74748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29" name="Rectangle: Top Corners One Rounded and One Snipped 28">
              <a:extLst>
                <a:ext uri="{FF2B5EF4-FFF2-40B4-BE49-F238E27FC236}">
                  <a16:creationId xmlns:a16="http://schemas.microsoft.com/office/drawing/2014/main" id="{3158B150-6524-C535-31BA-D7A5253051F4}"/>
                </a:ext>
              </a:extLst>
            </p:cNvPr>
            <p:cNvSpPr/>
            <p:nvPr/>
          </p:nvSpPr>
          <p:spPr>
            <a:xfrm>
              <a:off x="326681" y="1243745"/>
              <a:ext cx="667103" cy="512757"/>
            </a:xfrm>
            <a:prstGeom prst="snipRoundRect">
              <a:avLst>
                <a:gd name="adj1" fmla="val 36900"/>
                <a:gd name="adj2" fmla="val 0"/>
              </a:avLst>
            </a:prstGeom>
            <a:solidFill>
              <a:srgbClr val="74748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grpSp>
        <p:nvGrpSpPr>
          <p:cNvPr id="30" name="Group 29">
            <a:extLst>
              <a:ext uri="{FF2B5EF4-FFF2-40B4-BE49-F238E27FC236}">
                <a16:creationId xmlns:a16="http://schemas.microsoft.com/office/drawing/2014/main" id="{76760346-3A7E-CBE9-AECC-E2E99135EBBF}"/>
              </a:ext>
            </a:extLst>
          </p:cNvPr>
          <p:cNvGrpSpPr/>
          <p:nvPr/>
        </p:nvGrpSpPr>
        <p:grpSpPr>
          <a:xfrm>
            <a:off x="8036359" y="1523235"/>
            <a:ext cx="3599993" cy="1048149"/>
            <a:chOff x="337784" y="1243745"/>
            <a:chExt cx="3234672" cy="512757"/>
          </a:xfrm>
        </p:grpSpPr>
        <p:sp>
          <p:nvSpPr>
            <p:cNvPr id="31" name="Isosceles Triangle 30">
              <a:extLst>
                <a:ext uri="{FF2B5EF4-FFF2-40B4-BE49-F238E27FC236}">
                  <a16:creationId xmlns:a16="http://schemas.microsoft.com/office/drawing/2014/main" id="{7B517A89-D6C3-0A97-ADA1-447CD5C11BDC}"/>
                </a:ext>
              </a:extLst>
            </p:cNvPr>
            <p:cNvSpPr/>
            <p:nvPr/>
          </p:nvSpPr>
          <p:spPr>
            <a:xfrm>
              <a:off x="3418674" y="1243745"/>
              <a:ext cx="153782" cy="106812"/>
            </a:xfrm>
            <a:prstGeom prst="triangle">
              <a:avLst/>
            </a:prstGeom>
            <a:solidFill>
              <a:srgbClr val="C4C4CD"/>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32" name="Parallelogram 31">
              <a:extLst>
                <a:ext uri="{FF2B5EF4-FFF2-40B4-BE49-F238E27FC236}">
                  <a16:creationId xmlns:a16="http://schemas.microsoft.com/office/drawing/2014/main" id="{431AAF60-8045-A805-9C07-17D009034FC4}"/>
                </a:ext>
              </a:extLst>
            </p:cNvPr>
            <p:cNvSpPr/>
            <p:nvPr/>
          </p:nvSpPr>
          <p:spPr>
            <a:xfrm>
              <a:off x="1147124" y="1243745"/>
              <a:ext cx="2346960" cy="512757"/>
            </a:xfrm>
            <a:prstGeom prst="parallelogram">
              <a:avLst/>
            </a:prstGeom>
            <a:solidFill>
              <a:srgbClr val="FFC0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33" name="Parallelogram 32">
              <a:extLst>
                <a:ext uri="{FF2B5EF4-FFF2-40B4-BE49-F238E27FC236}">
                  <a16:creationId xmlns:a16="http://schemas.microsoft.com/office/drawing/2014/main" id="{D594AC49-51A7-EEDE-8EA1-503B5CFDC8AE}"/>
                </a:ext>
              </a:extLst>
            </p:cNvPr>
            <p:cNvSpPr/>
            <p:nvPr/>
          </p:nvSpPr>
          <p:spPr>
            <a:xfrm>
              <a:off x="728208" y="1243745"/>
              <a:ext cx="2704746" cy="512757"/>
            </a:xfrm>
            <a:prstGeom prst="parallelogram">
              <a:avLst/>
            </a:prstGeom>
            <a:solidFill>
              <a:srgbClr val="74748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34" name="Rectangle: Top Corners One Rounded and One Snipped 33">
              <a:extLst>
                <a:ext uri="{FF2B5EF4-FFF2-40B4-BE49-F238E27FC236}">
                  <a16:creationId xmlns:a16="http://schemas.microsoft.com/office/drawing/2014/main" id="{8109F363-92A0-7BFB-0C9A-0B2B2840D59F}"/>
                </a:ext>
              </a:extLst>
            </p:cNvPr>
            <p:cNvSpPr/>
            <p:nvPr/>
          </p:nvSpPr>
          <p:spPr>
            <a:xfrm>
              <a:off x="337784" y="1243745"/>
              <a:ext cx="667103" cy="512757"/>
            </a:xfrm>
            <a:prstGeom prst="snipRoundRect">
              <a:avLst>
                <a:gd name="adj1" fmla="val 36900"/>
                <a:gd name="adj2" fmla="val 0"/>
              </a:avLst>
            </a:prstGeom>
            <a:solidFill>
              <a:srgbClr val="74748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grpSp>
      <p:sp>
        <p:nvSpPr>
          <p:cNvPr id="36" name="Parallelogram 35">
            <a:extLst>
              <a:ext uri="{FF2B5EF4-FFF2-40B4-BE49-F238E27FC236}">
                <a16:creationId xmlns:a16="http://schemas.microsoft.com/office/drawing/2014/main" id="{69938326-8B39-9351-8E8A-5A4B8001410D}"/>
              </a:ext>
            </a:extLst>
          </p:cNvPr>
          <p:cNvSpPr/>
          <p:nvPr/>
        </p:nvSpPr>
        <p:spPr>
          <a:xfrm>
            <a:off x="415710" y="1558047"/>
            <a:ext cx="3183524" cy="1011107"/>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pic>
        <p:nvPicPr>
          <p:cNvPr id="25" name="Graphic 24" descr="Puzzle pieces with solid fill">
            <a:extLst>
              <a:ext uri="{FF2B5EF4-FFF2-40B4-BE49-F238E27FC236}">
                <a16:creationId xmlns:a16="http://schemas.microsoft.com/office/drawing/2014/main" id="{E6A7F9A3-B848-0FE3-3C35-70FED900987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24242" y="1702336"/>
            <a:ext cx="727785" cy="727785"/>
          </a:xfrm>
          <a:prstGeom prst="rect">
            <a:avLst/>
          </a:prstGeom>
        </p:spPr>
      </p:pic>
      <p:sp>
        <p:nvSpPr>
          <p:cNvPr id="11" name="TextBox 10">
            <a:extLst>
              <a:ext uri="{FF2B5EF4-FFF2-40B4-BE49-F238E27FC236}">
                <a16:creationId xmlns:a16="http://schemas.microsoft.com/office/drawing/2014/main" id="{CB502DA9-1353-37CF-9A6B-5CAEA03795B3}"/>
              </a:ext>
            </a:extLst>
          </p:cNvPr>
          <p:cNvSpPr txBox="1">
            <a:spLocks/>
          </p:cNvSpPr>
          <p:nvPr/>
        </p:nvSpPr>
        <p:spPr>
          <a:xfrm>
            <a:off x="1469375" y="1868619"/>
            <a:ext cx="2161953" cy="460062"/>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600" b="1">
                <a:solidFill>
                  <a:srgbClr val="FFFF00"/>
                </a:solidFill>
                <a:latin typeface="EY interstate"/>
              </a:rPr>
              <a:t>Balance &amp; Reconciling Items</a:t>
            </a:r>
          </a:p>
        </p:txBody>
      </p:sp>
      <p:sp>
        <p:nvSpPr>
          <p:cNvPr id="37" name="Parallelogram 36">
            <a:extLst>
              <a:ext uri="{FF2B5EF4-FFF2-40B4-BE49-F238E27FC236}">
                <a16:creationId xmlns:a16="http://schemas.microsoft.com/office/drawing/2014/main" id="{06A42B0B-0CA4-1741-C194-AE633E9034B3}"/>
              </a:ext>
            </a:extLst>
          </p:cNvPr>
          <p:cNvSpPr/>
          <p:nvPr/>
        </p:nvSpPr>
        <p:spPr>
          <a:xfrm>
            <a:off x="4241584" y="1552756"/>
            <a:ext cx="3268190" cy="1005815"/>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4" name="TextBox 13">
            <a:extLst>
              <a:ext uri="{FF2B5EF4-FFF2-40B4-BE49-F238E27FC236}">
                <a16:creationId xmlns:a16="http://schemas.microsoft.com/office/drawing/2014/main" id="{25F555A7-00E7-B8E8-24DB-8B70816E20C2}"/>
              </a:ext>
            </a:extLst>
          </p:cNvPr>
          <p:cNvSpPr txBox="1">
            <a:spLocks/>
          </p:cNvSpPr>
          <p:nvPr/>
        </p:nvSpPr>
        <p:spPr>
          <a:xfrm>
            <a:off x="5493661" y="1836197"/>
            <a:ext cx="1976987" cy="457305"/>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600" b="1">
                <a:solidFill>
                  <a:srgbClr val="FFFF00"/>
                </a:solidFill>
                <a:latin typeface="EY interstate"/>
              </a:rPr>
              <a:t>Reconciliation Templates</a:t>
            </a:r>
          </a:p>
        </p:txBody>
      </p:sp>
      <p:grpSp>
        <p:nvGrpSpPr>
          <p:cNvPr id="19" name="Group 18">
            <a:extLst>
              <a:ext uri="{FF2B5EF4-FFF2-40B4-BE49-F238E27FC236}">
                <a16:creationId xmlns:a16="http://schemas.microsoft.com/office/drawing/2014/main" id="{F2C57F63-186A-B55B-890A-D472DF7D85DA}"/>
              </a:ext>
            </a:extLst>
          </p:cNvPr>
          <p:cNvGrpSpPr/>
          <p:nvPr/>
        </p:nvGrpSpPr>
        <p:grpSpPr>
          <a:xfrm>
            <a:off x="4677478" y="1802331"/>
            <a:ext cx="711828" cy="592637"/>
            <a:chOff x="7474519" y="5878185"/>
            <a:chExt cx="1076419" cy="950209"/>
          </a:xfrm>
          <a:solidFill>
            <a:srgbClr val="FFFF00"/>
          </a:solidFill>
        </p:grpSpPr>
        <p:grpSp>
          <p:nvGrpSpPr>
            <p:cNvPr id="20" name="Group 19">
              <a:extLst>
                <a:ext uri="{FF2B5EF4-FFF2-40B4-BE49-F238E27FC236}">
                  <a16:creationId xmlns:a16="http://schemas.microsoft.com/office/drawing/2014/main" id="{A2D214EA-D561-3C57-C9E7-2B7D2C4A49C3}"/>
                </a:ext>
              </a:extLst>
            </p:cNvPr>
            <p:cNvGrpSpPr/>
            <p:nvPr/>
          </p:nvGrpSpPr>
          <p:grpSpPr>
            <a:xfrm>
              <a:off x="7974620" y="6181248"/>
              <a:ext cx="576318" cy="512186"/>
              <a:chOff x="9189982" y="5969752"/>
              <a:chExt cx="914400" cy="914400"/>
            </a:xfrm>
            <a:grpFill/>
          </p:grpSpPr>
          <p:pic>
            <p:nvPicPr>
              <p:cNvPr id="23" name="Graphic 22" descr="Checkmark with solid fill">
                <a:extLst>
                  <a:ext uri="{FF2B5EF4-FFF2-40B4-BE49-F238E27FC236}">
                    <a16:creationId xmlns:a16="http://schemas.microsoft.com/office/drawing/2014/main" id="{2836E3E6-4BA2-B01F-82CE-293D3D221DC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442372" y="6193415"/>
                <a:ext cx="285416" cy="285416"/>
              </a:xfrm>
              <a:prstGeom prst="rect">
                <a:avLst/>
              </a:prstGeom>
            </p:spPr>
          </p:pic>
          <p:pic>
            <p:nvPicPr>
              <p:cNvPr id="24" name="Graphic 23" descr="Magnifying glass with solid fill">
                <a:extLst>
                  <a:ext uri="{FF2B5EF4-FFF2-40B4-BE49-F238E27FC236}">
                    <a16:creationId xmlns:a16="http://schemas.microsoft.com/office/drawing/2014/main" id="{2710C861-1F7F-F3CE-9639-58B32D2B167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9189982" y="5969752"/>
                <a:ext cx="914400" cy="914400"/>
              </a:xfrm>
              <a:prstGeom prst="rect">
                <a:avLst/>
              </a:prstGeom>
            </p:spPr>
          </p:pic>
        </p:grpSp>
        <p:pic>
          <p:nvPicPr>
            <p:cNvPr id="21" name="Graphic 20" descr="List outline">
              <a:extLst>
                <a:ext uri="{FF2B5EF4-FFF2-40B4-BE49-F238E27FC236}">
                  <a16:creationId xmlns:a16="http://schemas.microsoft.com/office/drawing/2014/main" id="{2689A07D-4A04-472D-4E6A-6A3B88DE924E}"/>
                </a:ext>
              </a:extLst>
            </p:cNvPr>
            <p:cNvPicPr>
              <a:picLocks noChangeAspect="1"/>
            </p:cNvPicPr>
            <p:nvPr/>
          </p:nvPicPr>
          <p:blipFill>
            <a:blip r:embed="rId9">
              <a:extLst>
                <a:ext uri="{96DAC541-7B7A-43D3-8B79-37D633B846F1}">
                  <asvg:svgBlip xmlns:asvg="http://schemas.microsoft.com/office/drawing/2016/SVG/main" r:embed="rId10"/>
                </a:ext>
              </a:extLst>
            </a:blip>
            <a:srcRect r="-17719" b="-3916"/>
            <a:stretch>
              <a:fillRect/>
            </a:stretch>
          </p:blipFill>
          <p:spPr>
            <a:xfrm>
              <a:off x="7474519" y="5878185"/>
              <a:ext cx="1076419" cy="950209"/>
            </a:xfrm>
            <a:custGeom>
              <a:avLst/>
              <a:gdLst>
                <a:gd name="connsiteX0" fmla="*/ 0 w 1076419"/>
                <a:gd name="connsiteY0" fmla="*/ 914400 h 950209"/>
                <a:gd name="connsiteX1" fmla="*/ 414694 w 1076419"/>
                <a:gd name="connsiteY1" fmla="*/ 914400 h 950209"/>
                <a:gd name="connsiteX2" fmla="*/ 414694 w 1076419"/>
                <a:gd name="connsiteY2" fmla="*/ 950209 h 950209"/>
                <a:gd name="connsiteX3" fmla="*/ 0 w 1076419"/>
                <a:gd name="connsiteY3" fmla="*/ 950209 h 950209"/>
                <a:gd name="connsiteX4" fmla="*/ 914400 w 1076419"/>
                <a:gd name="connsiteY4" fmla="*/ 302530 h 950209"/>
                <a:gd name="connsiteX5" fmla="*/ 1076419 w 1076419"/>
                <a:gd name="connsiteY5" fmla="*/ 302530 h 950209"/>
                <a:gd name="connsiteX6" fmla="*/ 1076419 w 1076419"/>
                <a:gd name="connsiteY6" fmla="*/ 814716 h 950209"/>
                <a:gd name="connsiteX7" fmla="*/ 914400 w 1076419"/>
                <a:gd name="connsiteY7" fmla="*/ 814716 h 950209"/>
                <a:gd name="connsiteX8" fmla="*/ 0 w 1076419"/>
                <a:gd name="connsiteY8" fmla="*/ 0 h 950209"/>
                <a:gd name="connsiteX9" fmla="*/ 914400 w 1076419"/>
                <a:gd name="connsiteY9" fmla="*/ 0 h 950209"/>
                <a:gd name="connsiteX10" fmla="*/ 914400 w 1076419"/>
                <a:gd name="connsiteY10" fmla="*/ 302530 h 950209"/>
                <a:gd name="connsiteX11" fmla="*/ 500101 w 1076419"/>
                <a:gd name="connsiteY11" fmla="*/ 302530 h 950209"/>
                <a:gd name="connsiteX12" fmla="*/ 500101 w 1076419"/>
                <a:gd name="connsiteY12" fmla="*/ 814716 h 950209"/>
                <a:gd name="connsiteX13" fmla="*/ 914400 w 1076419"/>
                <a:gd name="connsiteY13" fmla="*/ 814716 h 950209"/>
                <a:gd name="connsiteX14" fmla="*/ 914400 w 1076419"/>
                <a:gd name="connsiteY14" fmla="*/ 914400 h 950209"/>
                <a:gd name="connsiteX15" fmla="*/ 414694 w 1076419"/>
                <a:gd name="connsiteY15" fmla="*/ 914400 h 950209"/>
                <a:gd name="connsiteX16" fmla="*/ 414694 w 1076419"/>
                <a:gd name="connsiteY16" fmla="*/ 535515 h 950209"/>
                <a:gd name="connsiteX17" fmla="*/ 0 w 1076419"/>
                <a:gd name="connsiteY17" fmla="*/ 535515 h 9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6419" h="950209">
                  <a:moveTo>
                    <a:pt x="0" y="914400"/>
                  </a:moveTo>
                  <a:lnTo>
                    <a:pt x="414694" y="914400"/>
                  </a:lnTo>
                  <a:lnTo>
                    <a:pt x="414694" y="950209"/>
                  </a:lnTo>
                  <a:lnTo>
                    <a:pt x="0" y="950209"/>
                  </a:lnTo>
                  <a:close/>
                  <a:moveTo>
                    <a:pt x="914400" y="302530"/>
                  </a:moveTo>
                  <a:lnTo>
                    <a:pt x="1076419" y="302530"/>
                  </a:lnTo>
                  <a:lnTo>
                    <a:pt x="1076419" y="814716"/>
                  </a:lnTo>
                  <a:lnTo>
                    <a:pt x="914400" y="814716"/>
                  </a:lnTo>
                  <a:close/>
                  <a:moveTo>
                    <a:pt x="0" y="0"/>
                  </a:moveTo>
                  <a:lnTo>
                    <a:pt x="914400" y="0"/>
                  </a:lnTo>
                  <a:lnTo>
                    <a:pt x="914400" y="302530"/>
                  </a:lnTo>
                  <a:lnTo>
                    <a:pt x="500101" y="302530"/>
                  </a:lnTo>
                  <a:lnTo>
                    <a:pt x="500101" y="814716"/>
                  </a:lnTo>
                  <a:lnTo>
                    <a:pt x="914400" y="814716"/>
                  </a:lnTo>
                  <a:lnTo>
                    <a:pt x="914400" y="914400"/>
                  </a:lnTo>
                  <a:lnTo>
                    <a:pt x="414694" y="914400"/>
                  </a:lnTo>
                  <a:lnTo>
                    <a:pt x="414694" y="535515"/>
                  </a:lnTo>
                  <a:lnTo>
                    <a:pt x="0" y="535515"/>
                  </a:lnTo>
                  <a:close/>
                </a:path>
              </a:pathLst>
            </a:custGeom>
          </p:spPr>
        </p:pic>
        <p:pic>
          <p:nvPicPr>
            <p:cNvPr id="22" name="Graphic 21" descr="Calculator outline">
              <a:extLst>
                <a:ext uri="{FF2B5EF4-FFF2-40B4-BE49-F238E27FC236}">
                  <a16:creationId xmlns:a16="http://schemas.microsoft.com/office/drawing/2014/main" id="{11D4DF59-9262-8EF9-7872-FA68BA30AFC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517223" y="6381624"/>
              <a:ext cx="414694" cy="414694"/>
            </a:xfrm>
            <a:prstGeom prst="rect">
              <a:avLst/>
            </a:prstGeom>
          </p:spPr>
        </p:pic>
      </p:grpSp>
      <p:sp>
        <p:nvSpPr>
          <p:cNvPr id="38" name="Parallelogram 37">
            <a:extLst>
              <a:ext uri="{FF2B5EF4-FFF2-40B4-BE49-F238E27FC236}">
                <a16:creationId xmlns:a16="http://schemas.microsoft.com/office/drawing/2014/main" id="{73BF64FA-A028-65BD-29B2-2CC6DBBBD4C4}"/>
              </a:ext>
            </a:extLst>
          </p:cNvPr>
          <p:cNvSpPr/>
          <p:nvPr/>
        </p:nvSpPr>
        <p:spPr>
          <a:xfrm>
            <a:off x="8088625" y="1552755"/>
            <a:ext cx="3268190" cy="1005815"/>
          </a:xfrm>
          <a:prstGeom prst="parallelogram">
            <a:avLst/>
          </a:prstGeom>
          <a:solidFill>
            <a:srgbClr val="7474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a:p>
        </p:txBody>
      </p:sp>
      <p:sp>
        <p:nvSpPr>
          <p:cNvPr id="13" name="TextBox 12">
            <a:extLst>
              <a:ext uri="{FF2B5EF4-FFF2-40B4-BE49-F238E27FC236}">
                <a16:creationId xmlns:a16="http://schemas.microsoft.com/office/drawing/2014/main" id="{36462332-63F6-223E-3215-9AFE06E7761E}"/>
              </a:ext>
            </a:extLst>
          </p:cNvPr>
          <p:cNvSpPr txBox="1">
            <a:spLocks/>
          </p:cNvSpPr>
          <p:nvPr/>
        </p:nvSpPr>
        <p:spPr>
          <a:xfrm>
            <a:off x="9387184" y="1844185"/>
            <a:ext cx="2161953" cy="460062"/>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600" b="1">
                <a:solidFill>
                  <a:srgbClr val="FFFF00"/>
                </a:solidFill>
                <a:latin typeface="EY interstate"/>
              </a:rPr>
              <a:t>Supporting Documentation</a:t>
            </a:r>
          </a:p>
        </p:txBody>
      </p:sp>
      <p:pic>
        <p:nvPicPr>
          <p:cNvPr id="18" name="Graphic 17" descr="Checklist with solid fill">
            <a:extLst>
              <a:ext uri="{FF2B5EF4-FFF2-40B4-BE49-F238E27FC236}">
                <a16:creationId xmlns:a16="http://schemas.microsoft.com/office/drawing/2014/main" id="{4ECA124E-A14A-210F-C819-306DE37B79D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8592049" y="1759865"/>
            <a:ext cx="703437" cy="703437"/>
          </a:xfrm>
          <a:prstGeom prst="rect">
            <a:avLst/>
          </a:prstGeom>
        </p:spPr>
      </p:pic>
      <p:sp>
        <p:nvSpPr>
          <p:cNvPr id="39" name="TextBox 38">
            <a:extLst>
              <a:ext uri="{FF2B5EF4-FFF2-40B4-BE49-F238E27FC236}">
                <a16:creationId xmlns:a16="http://schemas.microsoft.com/office/drawing/2014/main" id="{90C33FB6-3D29-6B90-6238-CA368B7DB154}"/>
              </a:ext>
            </a:extLst>
          </p:cNvPr>
          <p:cNvSpPr txBox="1">
            <a:spLocks/>
          </p:cNvSpPr>
          <p:nvPr/>
        </p:nvSpPr>
        <p:spPr>
          <a:xfrm>
            <a:off x="334697" y="2841285"/>
            <a:ext cx="3370761" cy="3121782"/>
          </a:xfrm>
          <a:prstGeom prst="rect">
            <a:avLst/>
          </a:prstGeom>
          <a:noFill/>
          <a:ln w="28575">
            <a:solidFill>
              <a:srgbClr val="FFFF00"/>
            </a:solidFill>
          </a:ln>
        </p:spPr>
        <p:txBody>
          <a:bodyPr wrap="square" lIns="0" tIns="36576" rIns="0" bIns="0" rtlCol="0" anchor="t">
            <a:spAutoFit/>
          </a:bodyPr>
          <a:lstStyle>
            <a:defPPr>
              <a:defRPr lang="de-DE"/>
            </a:defPPr>
            <a:lvl1pPr marL="356616" indent="-356616">
              <a:spcAft>
                <a:spcPts val="600"/>
              </a:spcAft>
              <a:buClr>
                <a:schemeClr val="accent2"/>
              </a:buClr>
              <a:buSzPct val="70000"/>
              <a:buFont typeface="Arial" pitchFamily="34" charset="0"/>
              <a:buChar char="►"/>
              <a:defRPr sz="1400"/>
            </a:lvl1pPr>
          </a:lstStyle>
          <a:p>
            <a:pPr marL="179705" indent="-179705">
              <a:buClr>
                <a:schemeClr val="tx1"/>
              </a:buClr>
            </a:pPr>
            <a:endParaRPr lang="en-IN">
              <a:solidFill>
                <a:schemeClr val="bg1"/>
              </a:solidFill>
              <a:latin typeface="EY interstate"/>
            </a:endParaRPr>
          </a:p>
        </p:txBody>
      </p:sp>
      <p:sp>
        <p:nvSpPr>
          <p:cNvPr id="40" name="TextBox 39">
            <a:extLst>
              <a:ext uri="{FF2B5EF4-FFF2-40B4-BE49-F238E27FC236}">
                <a16:creationId xmlns:a16="http://schemas.microsoft.com/office/drawing/2014/main" id="{B05DE30F-1906-577A-A05D-3F97D63FB504}"/>
              </a:ext>
            </a:extLst>
          </p:cNvPr>
          <p:cNvSpPr txBox="1">
            <a:spLocks/>
          </p:cNvSpPr>
          <p:nvPr/>
        </p:nvSpPr>
        <p:spPr>
          <a:xfrm>
            <a:off x="4175387" y="2849751"/>
            <a:ext cx="3370761" cy="3121782"/>
          </a:xfrm>
          <a:prstGeom prst="rect">
            <a:avLst/>
          </a:prstGeom>
          <a:noFill/>
          <a:ln w="28575">
            <a:solidFill>
              <a:srgbClr val="FFFF00"/>
            </a:solidFill>
          </a:ln>
        </p:spPr>
        <p:txBody>
          <a:bodyPr wrap="square" lIns="0" tIns="36576" rIns="0" bIns="0" rtlCol="0" anchor="t">
            <a:spAutoFit/>
          </a:bodyPr>
          <a:lstStyle>
            <a:defPPr>
              <a:defRPr lang="de-DE"/>
            </a:defPPr>
            <a:lvl1pPr marL="356616" indent="-356616">
              <a:spcAft>
                <a:spcPts val="600"/>
              </a:spcAft>
              <a:buClr>
                <a:schemeClr val="accent2"/>
              </a:buClr>
              <a:buSzPct val="70000"/>
              <a:buFont typeface="Arial" pitchFamily="34" charset="0"/>
              <a:buChar char="►"/>
              <a:defRPr sz="1400"/>
            </a:lvl1pPr>
          </a:lstStyle>
          <a:p>
            <a:pPr marL="179705" indent="-179705">
              <a:buClr>
                <a:schemeClr val="tx1"/>
              </a:buClr>
            </a:pPr>
            <a:endParaRPr lang="en-IN">
              <a:solidFill>
                <a:schemeClr val="bg1"/>
              </a:solidFill>
              <a:latin typeface="EY interstate"/>
            </a:endParaRPr>
          </a:p>
        </p:txBody>
      </p:sp>
    </p:spTree>
    <p:extLst>
      <p:ext uri="{BB962C8B-B14F-4D97-AF65-F5344CB8AC3E}">
        <p14:creationId xmlns:p14="http://schemas.microsoft.com/office/powerpoint/2010/main" val="45902720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6534E870-57D1-5A66-7DAB-DC118F3D5B9A}"/>
              </a:ext>
            </a:extLst>
          </p:cNvPr>
          <p:cNvSpPr>
            <a:spLocks noGrp="1"/>
          </p:cNvSpPr>
          <p:nvPr>
            <p:ph idx="4294967295"/>
          </p:nvPr>
        </p:nvSpPr>
        <p:spPr>
          <a:xfrm>
            <a:off x="305689" y="411480"/>
            <a:ext cx="10324595" cy="833118"/>
          </a:xfrm>
          <a:noFill/>
          <a:ln>
            <a:noFill/>
          </a:ln>
        </p:spPr>
        <p:txBody>
          <a:bodyPr vert="horz" wrap="square" lIns="0" tIns="0" rIns="0" bIns="0" rtlCol="0" anchor="t" anchorCtr="0" compatLnSpc="1">
            <a:noAutofit/>
          </a:bodyPr>
          <a:lstStyle/>
          <a:p>
            <a:pPr marL="356433" lvl="1" indent="0">
              <a:buNone/>
            </a:pPr>
            <a:r>
              <a:rPr lang="en-US" sz="2400" b="1">
                <a:solidFill>
                  <a:srgbClr val="FFE600"/>
                </a:solidFill>
                <a:latin typeface="EY interstate heading"/>
              </a:rPr>
              <a:t>Best Practices for reconciliation</a:t>
            </a:r>
          </a:p>
        </p:txBody>
      </p:sp>
      <p:sp>
        <p:nvSpPr>
          <p:cNvPr id="4" name="Text Placeholder 6">
            <a:extLst>
              <a:ext uri="{FF2B5EF4-FFF2-40B4-BE49-F238E27FC236}">
                <a16:creationId xmlns:a16="http://schemas.microsoft.com/office/drawing/2014/main" id="{428AF1E7-0E54-EE70-7286-C34B34ABA7FD}"/>
              </a:ext>
            </a:extLst>
          </p:cNvPr>
          <p:cNvSpPr txBox="1">
            <a:spLocks/>
          </p:cNvSpPr>
          <p:nvPr/>
        </p:nvSpPr>
        <p:spPr>
          <a:xfrm>
            <a:off x="530597" y="1060351"/>
            <a:ext cx="11438010" cy="518027"/>
          </a:xfrm>
          <a:prstGeom prst="rect">
            <a:avLst/>
          </a:prstGeom>
        </p:spPr>
        <p:txBody>
          <a:bodyPr vert="horz" lIns="91440" tIns="45720" rIns="91440" bIns="45720" rtlCol="0" anchor="t">
            <a:noAutofit/>
          </a:bodyPr>
          <a:lstStyle>
            <a:lvl1pPr marL="0" indent="0" algn="l" defTabSz="914400" rtl="0" eaLnBrk="1" latinLnBrk="0" hangingPunct="1">
              <a:lnSpc>
                <a:spcPct val="95000"/>
              </a:lnSpc>
              <a:spcBef>
                <a:spcPts val="0"/>
              </a:spcBef>
              <a:spcAft>
                <a:spcPts val="500"/>
              </a:spcAft>
              <a:buFont typeface="Arial" panose="020B0604020202020204" pitchFamily="34" charset="0"/>
              <a:buNone/>
              <a:defRPr sz="1700" b="1" kern="1200">
                <a:solidFill>
                  <a:schemeClr val="tx1"/>
                </a:solidFill>
                <a:latin typeface="+mn-lt"/>
                <a:ea typeface="+mn-ea"/>
                <a:cs typeface="+mn-cs"/>
              </a:defRPr>
            </a:lvl1pPr>
            <a:lvl2pPr marL="0" indent="0" algn="l" defTabSz="914400" rtl="0" eaLnBrk="1" latinLnBrk="0" hangingPunct="1">
              <a:lnSpc>
                <a:spcPct val="95000"/>
              </a:lnSpc>
              <a:spcBef>
                <a:spcPts val="0"/>
              </a:spcBef>
              <a:spcAft>
                <a:spcPts val="500"/>
              </a:spcAft>
              <a:buFont typeface="Arial" panose="020B0604020202020204" pitchFamily="34" charset="0"/>
              <a:buNone/>
              <a:defRPr sz="1700" b="0" kern="1200">
                <a:solidFill>
                  <a:schemeClr val="tx1"/>
                </a:solidFill>
                <a:latin typeface="+mn-lt"/>
                <a:ea typeface="+mn-ea"/>
                <a:cs typeface="+mn-cs"/>
              </a:defRPr>
            </a:lvl2pPr>
            <a:lvl3pPr marL="126000" indent="-126000" algn="l" defTabSz="914400" rtl="0" eaLnBrk="1" latinLnBrk="0" hangingPunct="1">
              <a:lnSpc>
                <a:spcPct val="95000"/>
              </a:lnSpc>
              <a:spcBef>
                <a:spcPts val="0"/>
              </a:spcBef>
              <a:spcAft>
                <a:spcPts val="500"/>
              </a:spcAft>
              <a:buFont typeface="Arial" panose="020B0604020202020204" pitchFamily="34" charset="0"/>
              <a:buChar char="•"/>
              <a:defRPr sz="1700" kern="1200">
                <a:solidFill>
                  <a:schemeClr val="tx1"/>
                </a:solidFill>
                <a:latin typeface="+mn-lt"/>
                <a:ea typeface="+mn-ea"/>
                <a:cs typeface="+mn-cs"/>
              </a:defRPr>
            </a:lvl3pPr>
            <a:lvl4pPr marL="252000" indent="-126000" algn="l" defTabSz="914400" rtl="0" eaLnBrk="1" latinLnBrk="0" hangingPunct="1">
              <a:lnSpc>
                <a:spcPct val="95000"/>
              </a:lnSpc>
              <a:spcBef>
                <a:spcPts val="0"/>
              </a:spcBef>
              <a:spcAft>
                <a:spcPts val="500"/>
              </a:spcAft>
              <a:buFont typeface="Energy" panose="020B0603020203020004" pitchFamily="34" charset="0"/>
              <a:buChar char="–"/>
              <a:defRPr sz="1300" kern="1200">
                <a:solidFill>
                  <a:schemeClr val="tx1"/>
                </a:solidFill>
                <a:latin typeface="+mn-lt"/>
                <a:ea typeface="+mn-ea"/>
                <a:cs typeface="+mn-cs"/>
              </a:defRPr>
            </a:lvl4pPr>
            <a:lvl5pPr marL="378000" indent="-126000" algn="l" defTabSz="914400" rtl="0" eaLnBrk="1" latinLnBrk="0" hangingPunct="1">
              <a:lnSpc>
                <a:spcPct val="95000"/>
              </a:lnSpc>
              <a:spcBef>
                <a:spcPts val="0"/>
              </a:spcBef>
              <a:spcAft>
                <a:spcPts val="500"/>
              </a:spcAft>
              <a:buFont typeface="Energy" panose="020B0603020203020004" pitchFamily="34" charset="0"/>
              <a:buChar char="–"/>
              <a:defRPr sz="1000" b="0" kern="1200">
                <a:solidFill>
                  <a:schemeClr val="tx1"/>
                </a:solidFill>
                <a:latin typeface="+mn-lt"/>
                <a:ea typeface="+mn-ea"/>
                <a:cs typeface="+mn-cs"/>
              </a:defRPr>
            </a:lvl5pPr>
            <a:lvl6pPr marL="0" indent="0" algn="l" defTabSz="914400" rtl="0" eaLnBrk="1" latinLnBrk="0" hangingPunct="1">
              <a:lnSpc>
                <a:spcPct val="95000"/>
              </a:lnSpc>
              <a:spcBef>
                <a:spcPts val="0"/>
              </a:spcBef>
              <a:spcAft>
                <a:spcPts val="500"/>
              </a:spcAft>
              <a:buFont typeface="Arial" panose="020B0604020202020204" pitchFamily="34" charset="0"/>
              <a:buNone/>
              <a:defRPr sz="1300" b="1" kern="1200">
                <a:solidFill>
                  <a:schemeClr val="tx1"/>
                </a:solidFill>
                <a:latin typeface="+mn-lt"/>
                <a:ea typeface="+mn-ea"/>
                <a:cs typeface="+mn-cs"/>
              </a:defRPr>
            </a:lvl6pPr>
            <a:lvl7pPr marL="0" indent="0" algn="l" defTabSz="914400" rtl="0" eaLnBrk="1" latinLnBrk="0" hangingPunct="1">
              <a:lnSpc>
                <a:spcPct val="95000"/>
              </a:lnSpc>
              <a:spcBef>
                <a:spcPts val="0"/>
              </a:spcBef>
              <a:spcAft>
                <a:spcPts val="500"/>
              </a:spcAft>
              <a:buFont typeface="Arial" panose="020B0604020202020204" pitchFamily="34" charset="0"/>
              <a:buNone/>
              <a:defRPr sz="1300" kern="1200">
                <a:solidFill>
                  <a:schemeClr val="tx1"/>
                </a:solidFill>
                <a:latin typeface="+mn-lt"/>
                <a:ea typeface="+mn-ea"/>
                <a:cs typeface="+mn-cs"/>
              </a:defRPr>
            </a:lvl7pPr>
            <a:lvl8pPr marL="126000" indent="-126000" algn="l" defTabSz="914400" rtl="0" eaLnBrk="1" latinLnBrk="0" hangingPunct="1">
              <a:lnSpc>
                <a:spcPct val="95000"/>
              </a:lnSpc>
              <a:spcBef>
                <a:spcPts val="0"/>
              </a:spcBef>
              <a:spcAft>
                <a:spcPts val="500"/>
              </a:spcAft>
              <a:buFont typeface="Arial" panose="020B0604020202020204" pitchFamily="34" charset="0"/>
              <a:buChar char="•"/>
              <a:defRPr sz="1300" b="0" i="0" kern="1200">
                <a:solidFill>
                  <a:schemeClr val="tx1"/>
                </a:solidFill>
                <a:latin typeface="+mn-lt"/>
                <a:ea typeface="+mn-ea"/>
                <a:cs typeface="+mn-cs"/>
              </a:defRPr>
            </a:lvl8pPr>
            <a:lvl9pPr marL="252000" indent="-126000" algn="l" defTabSz="914400" rtl="0" eaLnBrk="1" latinLnBrk="0" hangingPunct="1">
              <a:lnSpc>
                <a:spcPct val="95000"/>
              </a:lnSpc>
              <a:spcBef>
                <a:spcPts val="0"/>
              </a:spcBef>
              <a:spcAft>
                <a:spcPts val="500"/>
              </a:spcAft>
              <a:buFont typeface="Energy" panose="020B0603020203020004" pitchFamily="34" charset="0"/>
              <a:buChar char="–"/>
              <a:defRPr sz="1000" kern="1200">
                <a:solidFill>
                  <a:schemeClr val="tx1"/>
                </a:solidFill>
                <a:latin typeface="+mn-lt"/>
                <a:ea typeface="+mn-ea"/>
                <a:cs typeface="+mn-cs"/>
              </a:defRPr>
            </a:lvl9pPr>
          </a:lstStyle>
          <a:p>
            <a:pPr marL="57121">
              <a:lnSpc>
                <a:spcPct val="90000"/>
              </a:lnSpc>
            </a:pPr>
            <a:r>
              <a:rPr lang="en-IN" sz="1400" b="0">
                <a:solidFill>
                  <a:schemeClr val="bg1"/>
                </a:solidFill>
                <a:latin typeface="EY interstate"/>
              </a:rPr>
              <a:t>To ensure standardization, consistency, and audit readiness, the reconciliation process must follow some of the best practices which includes </a:t>
            </a:r>
          </a:p>
        </p:txBody>
      </p:sp>
      <p:graphicFrame>
        <p:nvGraphicFramePr>
          <p:cNvPr id="49" name="Diagram 48">
            <a:extLst>
              <a:ext uri="{FF2B5EF4-FFF2-40B4-BE49-F238E27FC236}">
                <a16:creationId xmlns:a16="http://schemas.microsoft.com/office/drawing/2014/main" id="{416C52F7-AFF0-CFAA-80F6-54120E79285C}"/>
              </a:ext>
            </a:extLst>
          </p:cNvPr>
          <p:cNvGraphicFramePr/>
          <p:nvPr>
            <p:extLst>
              <p:ext uri="{D42A27DB-BD31-4B8C-83A1-F6EECF244321}">
                <p14:modId xmlns:p14="http://schemas.microsoft.com/office/powerpoint/2010/main" val="3723409088"/>
              </p:ext>
            </p:extLst>
          </p:nvPr>
        </p:nvGraphicFramePr>
        <p:xfrm>
          <a:off x="-128017" y="1816365"/>
          <a:ext cx="6528816" cy="454456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1" name="AutoShape 2" descr="Data Reconciliation Information Processing Processvector Linear Stock ...">
            <a:extLst>
              <a:ext uri="{FF2B5EF4-FFF2-40B4-BE49-F238E27FC236}">
                <a16:creationId xmlns:a16="http://schemas.microsoft.com/office/drawing/2014/main" id="{9500E3DE-B9F4-6F55-C00E-042429330DA9}"/>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030" name="Picture 6">
            <a:extLst>
              <a:ext uri="{FF2B5EF4-FFF2-40B4-BE49-F238E27FC236}">
                <a16:creationId xmlns:a16="http://schemas.microsoft.com/office/drawing/2014/main" id="{3015CCD5-8ED1-6B13-48F3-7B58441F766B}"/>
              </a:ext>
            </a:extLst>
          </p:cNvPr>
          <p:cNvPicPr>
            <a:picLocks noChangeAspect="1" noChangeArrowheads="1"/>
          </p:cNvPicPr>
          <p:nvPr/>
        </p:nvPicPr>
        <p:blipFill>
          <a:blip r:embed="rId8">
            <a:clrChange>
              <a:clrFrom>
                <a:srgbClr val="FDFDFD"/>
              </a:clrFrom>
              <a:clrTo>
                <a:srgbClr val="FDFDFD">
                  <a:alpha val="0"/>
                </a:srgbClr>
              </a:clrTo>
            </a:clrChange>
            <a:extLst>
              <a:ext uri="{28A0092B-C50C-407E-A947-70E740481C1C}">
                <a14:useLocalDpi xmlns:a14="http://schemas.microsoft.com/office/drawing/2010/main" val="0"/>
              </a:ext>
            </a:extLst>
          </a:blip>
          <a:srcRect/>
          <a:stretch>
            <a:fillRect/>
          </a:stretch>
        </p:blipFill>
        <p:spPr bwMode="auto">
          <a:xfrm>
            <a:off x="2916272" y="3792329"/>
            <a:ext cx="592639" cy="592639"/>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52" descr="A screenshot of a computer&#10;&#10;AI-generated content may be incorrect.">
            <a:extLst>
              <a:ext uri="{FF2B5EF4-FFF2-40B4-BE49-F238E27FC236}">
                <a16:creationId xmlns:a16="http://schemas.microsoft.com/office/drawing/2014/main" id="{347B0EBF-4F40-4DAC-1573-A3FE20859DA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141054" y="1730778"/>
            <a:ext cx="3800281" cy="2240356"/>
          </a:xfrm>
          <a:prstGeom prst="rect">
            <a:avLst/>
          </a:prstGeom>
        </p:spPr>
      </p:pic>
      <p:cxnSp>
        <p:nvCxnSpPr>
          <p:cNvPr id="55" name="Straight Connector 54">
            <a:extLst>
              <a:ext uri="{FF2B5EF4-FFF2-40B4-BE49-F238E27FC236}">
                <a16:creationId xmlns:a16="http://schemas.microsoft.com/office/drawing/2014/main" id="{A774C31E-26B5-3C37-2307-ACC22C833122}"/>
              </a:ext>
            </a:extLst>
          </p:cNvPr>
          <p:cNvCxnSpPr/>
          <p:nvPr/>
        </p:nvCxnSpPr>
        <p:spPr>
          <a:xfrm>
            <a:off x="5879592" y="1730778"/>
            <a:ext cx="0" cy="4715742"/>
          </a:xfrm>
          <a:prstGeom prst="line">
            <a:avLst/>
          </a:prstGeom>
          <a:ln>
            <a:solidFill>
              <a:srgbClr val="FFFF00"/>
            </a:solidFill>
          </a:ln>
        </p:spPr>
        <p:style>
          <a:lnRef idx="3">
            <a:schemeClr val="accent2"/>
          </a:lnRef>
          <a:fillRef idx="0">
            <a:schemeClr val="accent2"/>
          </a:fillRef>
          <a:effectRef idx="2">
            <a:schemeClr val="accent2"/>
          </a:effectRef>
          <a:fontRef idx="minor">
            <a:schemeClr val="tx1"/>
          </a:fontRef>
        </p:style>
      </p:cxnSp>
      <p:sp>
        <p:nvSpPr>
          <p:cNvPr id="56" name="AutoShape 8">
            <a:extLst>
              <a:ext uri="{FF2B5EF4-FFF2-40B4-BE49-F238E27FC236}">
                <a16:creationId xmlns:a16="http://schemas.microsoft.com/office/drawing/2014/main" id="{2E491162-B224-8645-10C1-3F9710A1CF4E}"/>
              </a:ext>
            </a:extLst>
          </p:cNvPr>
          <p:cNvSpPr>
            <a:spLocks noChangeArrowheads="1"/>
          </p:cNvSpPr>
          <p:nvPr/>
        </p:nvSpPr>
        <p:spPr bwMode="auto">
          <a:xfrm rot="16200000">
            <a:off x="8773081" y="1844982"/>
            <a:ext cx="467171" cy="5083704"/>
          </a:xfrm>
          <a:prstGeom prst="homePlate">
            <a:avLst>
              <a:gd name="adj" fmla="val 25000"/>
            </a:avLst>
          </a:prstGeom>
          <a:solidFill>
            <a:srgbClr val="FFE600"/>
          </a:solidFill>
          <a:ln w="6350">
            <a:noFill/>
            <a:miter lim="800000"/>
            <a:headEnd/>
            <a:tailEnd/>
          </a:ln>
        </p:spPr>
        <p:txBody>
          <a:bodyPr vert="eaVert" wrap="none" lIns="45696" rIns="45696"/>
          <a:lstStyle/>
          <a:p>
            <a:pPr marL="0" marR="0" lvl="0" indent="0" algn="ctr" defTabSz="456971" rtl="0" eaLnBrk="1" fontAlgn="auto" latinLnBrk="0" hangingPunct="1">
              <a:lnSpc>
                <a:spcPct val="100000"/>
              </a:lnSpc>
              <a:spcBef>
                <a:spcPct val="0"/>
              </a:spcBef>
              <a:spcAft>
                <a:spcPts val="0"/>
              </a:spcAft>
              <a:buClrTx/>
              <a:buSzTx/>
              <a:buFontTx/>
              <a:buNone/>
              <a:tabLst/>
              <a:defRPr/>
            </a:pPr>
            <a:r>
              <a:rPr lang="en-US" sz="1600" b="1"/>
              <a:t>Requirements for control evidence</a:t>
            </a:r>
            <a:endParaRPr lang="en-AU" sz="1600" b="1"/>
          </a:p>
        </p:txBody>
      </p:sp>
      <p:sp>
        <p:nvSpPr>
          <p:cNvPr id="57" name="Freeform 5">
            <a:extLst>
              <a:ext uri="{FF2B5EF4-FFF2-40B4-BE49-F238E27FC236}">
                <a16:creationId xmlns:a16="http://schemas.microsoft.com/office/drawing/2014/main" id="{D3462E85-7EE8-4FED-98F3-A49D813D2664}"/>
              </a:ext>
            </a:extLst>
          </p:cNvPr>
          <p:cNvSpPr>
            <a:spLocks/>
          </p:cNvSpPr>
          <p:nvPr/>
        </p:nvSpPr>
        <p:spPr bwMode="auto">
          <a:xfrm>
            <a:off x="6464814" y="4754880"/>
            <a:ext cx="5152763" cy="1830708"/>
          </a:xfrm>
          <a:custGeom>
            <a:avLst/>
            <a:gdLst>
              <a:gd name="T0" fmla="*/ 0 w 2294"/>
              <a:gd name="T1" fmla="*/ 2147483647 h 1996"/>
              <a:gd name="T2" fmla="*/ 0 w 2294"/>
              <a:gd name="T3" fmla="*/ 0 h 1996"/>
              <a:gd name="T4" fmla="*/ 2147483647 w 2294"/>
              <a:gd name="T5" fmla="*/ 0 h 1996"/>
              <a:gd name="T6" fmla="*/ 2147483647 w 2294"/>
              <a:gd name="T7" fmla="*/ 2147483647 h 1996"/>
              <a:gd name="T8" fmla="*/ 2147483647 w 2294"/>
              <a:gd name="T9" fmla="*/ 2147483647 h 1996"/>
              <a:gd name="T10" fmla="*/ 0 w 2294"/>
              <a:gd name="T11" fmla="*/ 2147483647 h 1996"/>
              <a:gd name="T12" fmla="*/ 0 60000 65536"/>
              <a:gd name="T13" fmla="*/ 0 60000 65536"/>
              <a:gd name="T14" fmla="*/ 0 60000 65536"/>
              <a:gd name="T15" fmla="*/ 0 60000 65536"/>
              <a:gd name="T16" fmla="*/ 0 60000 65536"/>
              <a:gd name="T17" fmla="*/ 0 60000 65536"/>
              <a:gd name="T18" fmla="*/ 0 w 2294"/>
              <a:gd name="T19" fmla="*/ 0 h 1996"/>
              <a:gd name="T20" fmla="*/ 2294 w 2294"/>
              <a:gd name="T21" fmla="*/ 1996 h 1996"/>
            </a:gdLst>
            <a:ahLst/>
            <a:cxnLst>
              <a:cxn ang="T12">
                <a:pos x="T0" y="T1"/>
              </a:cxn>
              <a:cxn ang="T13">
                <a:pos x="T2" y="T3"/>
              </a:cxn>
              <a:cxn ang="T14">
                <a:pos x="T4" y="T5"/>
              </a:cxn>
              <a:cxn ang="T15">
                <a:pos x="T6" y="T7"/>
              </a:cxn>
              <a:cxn ang="T16">
                <a:pos x="T8" y="T9"/>
              </a:cxn>
              <a:cxn ang="T17">
                <a:pos x="T10" y="T11"/>
              </a:cxn>
            </a:cxnLst>
            <a:rect l="T18" t="T19" r="T20" b="T21"/>
            <a:pathLst>
              <a:path w="2294" h="1996">
                <a:moveTo>
                  <a:pt x="0" y="1995"/>
                </a:moveTo>
                <a:lnTo>
                  <a:pt x="0" y="0"/>
                </a:lnTo>
                <a:lnTo>
                  <a:pt x="2293" y="0"/>
                </a:lnTo>
                <a:lnTo>
                  <a:pt x="2293" y="1995"/>
                </a:lnTo>
                <a:lnTo>
                  <a:pt x="1151" y="1899"/>
                </a:lnTo>
                <a:lnTo>
                  <a:pt x="0" y="1995"/>
                </a:lnTo>
              </a:path>
            </a:pathLst>
          </a:custGeom>
          <a:noFill/>
        </p:spPr>
        <p:txBody>
          <a:bodyPr wrap="square" lIns="72000" tIns="72000" rIns="36000" bIns="36000" rtlCol="0">
            <a:noAutofit/>
          </a:bodyPr>
          <a:lstStyle/>
          <a:p>
            <a:pPr marL="227965" lvl="0" indent="-227965">
              <a:spcAft>
                <a:spcPts val="600"/>
              </a:spcAft>
              <a:buFont typeface="EYInterstate" panose="02000503020000020004" pitchFamily="2" charset="0"/>
              <a:buChar char="•"/>
              <a:defRPr/>
            </a:pPr>
            <a:r>
              <a:rPr lang="en-US" sz="1200">
                <a:solidFill>
                  <a:schemeClr val="bg1"/>
                </a:solidFill>
                <a:latin typeface="EY interstate"/>
              </a:rPr>
              <a:t>Control evidence should contain adequate supporting documentation to show all items were included </a:t>
            </a:r>
          </a:p>
          <a:p>
            <a:pPr marL="837550" lvl="1" indent="-227965">
              <a:spcAft>
                <a:spcPts val="600"/>
              </a:spcAft>
              <a:buFont typeface="EYInterstate" panose="02000503020000020004" pitchFamily="2" charset="0"/>
              <a:buChar char="•"/>
              <a:defRPr/>
            </a:pPr>
            <a:r>
              <a:rPr lang="en-US" sz="1200">
                <a:solidFill>
                  <a:schemeClr val="bg1"/>
                </a:solidFill>
                <a:latin typeface="EY interstate"/>
              </a:rPr>
              <a:t>Form of system reports, electronic email, meeting minutes, etc.</a:t>
            </a:r>
          </a:p>
          <a:p>
            <a:pPr marL="227965" lvl="0" indent="-227965">
              <a:spcAft>
                <a:spcPts val="600"/>
              </a:spcAft>
              <a:buFont typeface="EYInterstate" panose="02000503020000020004" pitchFamily="2" charset="0"/>
              <a:buChar char="•"/>
              <a:defRPr/>
            </a:pPr>
            <a:r>
              <a:rPr lang="en-US" sz="1200">
                <a:solidFill>
                  <a:schemeClr val="bg1"/>
                </a:solidFill>
                <a:latin typeface="EY interstate"/>
              </a:rPr>
              <a:t>Exceptions should be documented, explained, and tracked for appropriate and timely resolution</a:t>
            </a:r>
          </a:p>
          <a:p>
            <a:pPr marL="837550" lvl="1" indent="-227965">
              <a:spcAft>
                <a:spcPts val="600"/>
              </a:spcAft>
              <a:buFont typeface="EYInterstate" panose="02000503020000020004" pitchFamily="2" charset="0"/>
              <a:buChar char="•"/>
              <a:defRPr/>
            </a:pPr>
            <a:r>
              <a:rPr lang="en-US" sz="1200">
                <a:solidFill>
                  <a:schemeClr val="bg1"/>
                </a:solidFill>
                <a:latin typeface="EY interstate"/>
              </a:rPr>
              <a:t>Tracking including escalation as needed and documentation on procedures and information received </a:t>
            </a:r>
          </a:p>
          <a:p>
            <a:pPr marL="837550" lvl="1" indent="-227965">
              <a:spcAft>
                <a:spcPts val="600"/>
              </a:spcAft>
              <a:buFont typeface="EYInterstate" panose="02000503020000020004" pitchFamily="2" charset="0"/>
              <a:buChar char="•"/>
              <a:defRPr/>
            </a:pPr>
            <a:r>
              <a:rPr lang="en-US" sz="1200">
                <a:solidFill>
                  <a:schemeClr val="bg1"/>
                </a:solidFill>
                <a:latin typeface="EY interstate"/>
              </a:rPr>
              <a:t>Resolution should be completed timely and documented </a:t>
            </a:r>
          </a:p>
          <a:p>
            <a:pPr>
              <a:spcAft>
                <a:spcPts val="600"/>
              </a:spcAft>
              <a:buClr>
                <a:schemeClr val="tx1"/>
              </a:buClr>
              <a:buSzPct val="70000"/>
            </a:pPr>
            <a:endParaRPr lang="en-US" sz="1200">
              <a:solidFill>
                <a:schemeClr val="bg1"/>
              </a:solidFill>
              <a:latin typeface="EY interstate"/>
            </a:endParaRPr>
          </a:p>
        </p:txBody>
      </p:sp>
    </p:spTree>
    <p:extLst>
      <p:ext uri="{BB962C8B-B14F-4D97-AF65-F5344CB8AC3E}">
        <p14:creationId xmlns:p14="http://schemas.microsoft.com/office/powerpoint/2010/main" val="227805634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6495B632-BA29-794D-9C66-99F12F85F2DD}"/>
              </a:ext>
            </a:extLst>
          </p:cNvPr>
          <p:cNvGraphicFramePr>
            <a:graphicFrameLocks noGrp="1"/>
          </p:cNvGraphicFramePr>
          <p:nvPr>
            <p:extLst>
              <p:ext uri="{D42A27DB-BD31-4B8C-83A1-F6EECF244321}">
                <p14:modId xmlns:p14="http://schemas.microsoft.com/office/powerpoint/2010/main" val="743154972"/>
              </p:ext>
            </p:extLst>
          </p:nvPr>
        </p:nvGraphicFramePr>
        <p:xfrm>
          <a:off x="566615" y="957384"/>
          <a:ext cx="11058327" cy="5488514"/>
        </p:xfrm>
        <a:graphic>
          <a:graphicData uri="http://schemas.openxmlformats.org/drawingml/2006/table">
            <a:tbl>
              <a:tblPr bandRow="1">
                <a:tableStyleId>{5C22544A-7EE6-4342-B048-85BDC9FD1C3A}</a:tableStyleId>
              </a:tblPr>
              <a:tblGrid>
                <a:gridCol w="1228703">
                  <a:extLst>
                    <a:ext uri="{9D8B030D-6E8A-4147-A177-3AD203B41FA5}">
                      <a16:colId xmlns:a16="http://schemas.microsoft.com/office/drawing/2014/main" val="1747237045"/>
                    </a:ext>
                  </a:extLst>
                </a:gridCol>
                <a:gridCol w="1228703">
                  <a:extLst>
                    <a:ext uri="{9D8B030D-6E8A-4147-A177-3AD203B41FA5}">
                      <a16:colId xmlns:a16="http://schemas.microsoft.com/office/drawing/2014/main" val="4086860535"/>
                    </a:ext>
                  </a:extLst>
                </a:gridCol>
                <a:gridCol w="1228703">
                  <a:extLst>
                    <a:ext uri="{9D8B030D-6E8A-4147-A177-3AD203B41FA5}">
                      <a16:colId xmlns:a16="http://schemas.microsoft.com/office/drawing/2014/main" val="2070748766"/>
                    </a:ext>
                  </a:extLst>
                </a:gridCol>
                <a:gridCol w="1228703">
                  <a:extLst>
                    <a:ext uri="{9D8B030D-6E8A-4147-A177-3AD203B41FA5}">
                      <a16:colId xmlns:a16="http://schemas.microsoft.com/office/drawing/2014/main" val="3513674435"/>
                    </a:ext>
                  </a:extLst>
                </a:gridCol>
                <a:gridCol w="1228703">
                  <a:extLst>
                    <a:ext uri="{9D8B030D-6E8A-4147-A177-3AD203B41FA5}">
                      <a16:colId xmlns:a16="http://schemas.microsoft.com/office/drawing/2014/main" val="2730727080"/>
                    </a:ext>
                  </a:extLst>
                </a:gridCol>
                <a:gridCol w="1228703">
                  <a:extLst>
                    <a:ext uri="{9D8B030D-6E8A-4147-A177-3AD203B41FA5}">
                      <a16:colId xmlns:a16="http://schemas.microsoft.com/office/drawing/2014/main" val="1746584931"/>
                    </a:ext>
                  </a:extLst>
                </a:gridCol>
                <a:gridCol w="1228703">
                  <a:extLst>
                    <a:ext uri="{9D8B030D-6E8A-4147-A177-3AD203B41FA5}">
                      <a16:colId xmlns:a16="http://schemas.microsoft.com/office/drawing/2014/main" val="109776926"/>
                    </a:ext>
                  </a:extLst>
                </a:gridCol>
                <a:gridCol w="1228703">
                  <a:extLst>
                    <a:ext uri="{9D8B030D-6E8A-4147-A177-3AD203B41FA5}">
                      <a16:colId xmlns:a16="http://schemas.microsoft.com/office/drawing/2014/main" val="1224551510"/>
                    </a:ext>
                  </a:extLst>
                </a:gridCol>
                <a:gridCol w="1228703">
                  <a:extLst>
                    <a:ext uri="{9D8B030D-6E8A-4147-A177-3AD203B41FA5}">
                      <a16:colId xmlns:a16="http://schemas.microsoft.com/office/drawing/2014/main" val="2642570580"/>
                    </a:ext>
                  </a:extLst>
                </a:gridCol>
              </a:tblGrid>
              <a:tr h="713193">
                <a:tc>
                  <a:txBody>
                    <a:bodyPr/>
                    <a:lstStyle/>
                    <a:p>
                      <a:pPr fontAlgn="t">
                        <a:buNone/>
                      </a:pPr>
                      <a:endParaRPr lang="en-US">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ERP Integration</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Automation (%)</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Cycle Time Reduction</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Exception Reporting</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Scalability</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Performance</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Matching Logic</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algn="ctr" fontAlgn="base">
                        <a:lnSpc>
                          <a:spcPts val="1650"/>
                        </a:lnSpc>
                        <a:buNone/>
                      </a:pPr>
                      <a:r>
                        <a:rPr lang="en-IN" sz="1400" b="1">
                          <a:solidFill>
                            <a:srgbClr val="FFE600"/>
                          </a:solidFill>
                          <a:effectLst/>
                          <a:latin typeface="EY interstate regular"/>
                        </a:rPr>
                        <a:t>Flexibility</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635362811"/>
                  </a:ext>
                </a:extLst>
              </a:tr>
              <a:tr h="908972">
                <a:tc>
                  <a:txBody>
                    <a:bodyPr/>
                    <a:lstStyle/>
                    <a:p>
                      <a:pPr fontAlgn="base">
                        <a:lnSpc>
                          <a:spcPts val="1650"/>
                        </a:lnSpc>
                        <a:buNone/>
                      </a:pPr>
                      <a:r>
                        <a:rPr lang="en-IN" sz="1400" b="1">
                          <a:solidFill>
                            <a:srgbClr val="FFFFFF"/>
                          </a:solidFill>
                          <a:effectLst/>
                          <a:latin typeface="EY interstate regular"/>
                        </a:rPr>
                        <a:t>HighRadius</a:t>
                      </a:r>
                      <a:endParaRPr lang="en-IN" err="1">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SAP, Oracle, NetSuite</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90%</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Up to 40% faster</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AI-driven anomaly detection</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Highly scalable across global entities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High-speed processing with AI</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AI/ML-based intelligent matching</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Custom workflows and anomaly engine</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1632609415"/>
                  </a:ext>
                </a:extLst>
              </a:tr>
              <a:tr h="908972">
                <a:tc>
                  <a:txBody>
                    <a:bodyPr/>
                    <a:lstStyle/>
                    <a:p>
                      <a:pPr fontAlgn="base">
                        <a:lnSpc>
                          <a:spcPts val="1650"/>
                        </a:lnSpc>
                        <a:buNone/>
                      </a:pPr>
                      <a:r>
                        <a:rPr lang="en-IN" sz="1400" b="1">
                          <a:solidFill>
                            <a:srgbClr val="FFFFFF"/>
                          </a:solidFill>
                          <a:effectLst/>
                          <a:latin typeface="EY interstate regular"/>
                        </a:rPr>
                        <a:t>BlackLine</a:t>
                      </a:r>
                      <a:endParaRPr lang="en-IN" err="1">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SAP, Oracle, NetSuite</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85%</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30–40% faster</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Built-in audit trails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Enterprise-grade scalability</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Reliable under high transaction volumes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Rule-based and AI-enhanced</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Configurable templates and workflows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1797249145"/>
                  </a:ext>
                </a:extLst>
              </a:tr>
              <a:tr h="908972">
                <a:tc>
                  <a:txBody>
                    <a:bodyPr/>
                    <a:lstStyle/>
                    <a:p>
                      <a:pPr fontAlgn="base">
                        <a:lnSpc>
                          <a:spcPts val="1650"/>
                        </a:lnSpc>
                        <a:buNone/>
                      </a:pPr>
                      <a:r>
                        <a:rPr lang="en-IN" sz="1400" b="1">
                          <a:solidFill>
                            <a:srgbClr val="FFFFFF"/>
                          </a:solidFill>
                          <a:effectLst/>
                          <a:latin typeface="EY interstate regular"/>
                        </a:rPr>
                        <a:t>FloQast</a:t>
                      </a:r>
                      <a:endParaRPr lang="en-IN" err="1">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QuickBooks, NetSuite</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70%</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25–30% faster</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Audit-ready workflows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Scales well for mid-sized teams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Optimized for monthly close cycles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Auto-recognition of reconciled entries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Easy integration with cloud tools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1360281612"/>
                  </a:ext>
                </a:extLst>
              </a:tr>
              <a:tr h="908972">
                <a:tc>
                  <a:txBody>
                    <a:bodyPr/>
                    <a:lstStyle/>
                    <a:p>
                      <a:pPr fontAlgn="base">
                        <a:lnSpc>
                          <a:spcPts val="1650"/>
                        </a:lnSpc>
                        <a:buNone/>
                      </a:pPr>
                      <a:r>
                        <a:rPr lang="en-IN" sz="1400" b="1">
                          <a:solidFill>
                            <a:srgbClr val="FFFFFF"/>
                          </a:solidFill>
                          <a:effectLst/>
                          <a:latin typeface="EY interstate regular"/>
                        </a:rPr>
                        <a:t>Trintech Cadency</a:t>
                      </a:r>
                      <a:endParaRPr lang="en-IN" err="1">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Oracle, SAP, Dynamics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80%</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35–45% faster</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Risk-based exception handling</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Supports large multi-entity setups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Efficient for high-volume reconciliations</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Risk-based auto-matching</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Customizable approval and certification</a:t>
                      </a:r>
                      <a:endParaRPr lang="en-IN">
                        <a:effectLst/>
                        <a:latin typeface="EY interstate regular"/>
                      </a:endParaRPr>
                    </a:p>
                  </a:txBody>
                  <a:tcPr marL="76200" marR="50797" marT="50797" marB="44444">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1244848363"/>
                  </a:ext>
                </a:extLst>
              </a:tr>
              <a:tr h="908972">
                <a:tc>
                  <a:txBody>
                    <a:bodyPr/>
                    <a:lstStyle/>
                    <a:p>
                      <a:pPr fontAlgn="base">
                        <a:lnSpc>
                          <a:spcPts val="1650"/>
                        </a:lnSpc>
                        <a:buNone/>
                      </a:pPr>
                      <a:r>
                        <a:rPr lang="en-IN" sz="1400" b="1">
                          <a:solidFill>
                            <a:srgbClr val="FFFFFF"/>
                          </a:solidFill>
                          <a:effectLst/>
                          <a:latin typeface="EY interstate regular"/>
                        </a:rPr>
                        <a:t>OneStream</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Multi-ERP support</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85%</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30–40% faster</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Real-time dashboards</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Designed for multinational organizations</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Real-time performance analytics</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Drill-to-reconciliation logic</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tc>
                  <a:txBody>
                    <a:bodyPr/>
                    <a:lstStyle/>
                    <a:p>
                      <a:pPr fontAlgn="base">
                        <a:lnSpc>
                          <a:spcPts val="1650"/>
                        </a:lnSpc>
                        <a:buNone/>
                      </a:pPr>
                      <a:r>
                        <a:rPr lang="en-IN" sz="1400">
                          <a:solidFill>
                            <a:srgbClr val="FFFFFF"/>
                          </a:solidFill>
                          <a:effectLst/>
                          <a:latin typeface="EY interstate regular"/>
                        </a:rPr>
                        <a:t>Extensible platform with modular features</a:t>
                      </a:r>
                      <a:endParaRPr lang="en-IN">
                        <a:effectLst/>
                        <a:latin typeface="EY interstate regular"/>
                      </a:endParaRPr>
                    </a:p>
                  </a:txBody>
                  <a:tcPr marL="76200" marR="50797" marT="50797" marB="38100">
                    <a:lnL w="9525" cap="flat" cmpd="sng" algn="ctr">
                      <a:solidFill>
                        <a:srgbClr val="FFFFFF"/>
                      </a:solidFill>
                      <a:prstDash val="solid"/>
                      <a:round/>
                      <a:headEnd type="none" w="med" len="med"/>
                      <a:tailEnd type="none" w="med" len="med"/>
                    </a:lnL>
                    <a:lnR w="12700" cap="flat" cmpd="sng" algn="ctr">
                      <a:solidFill>
                        <a:srgbClr val="FFFF00"/>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1515300976"/>
                  </a:ext>
                </a:extLst>
              </a:tr>
            </a:tbl>
          </a:graphicData>
        </a:graphic>
      </p:graphicFrame>
      <p:sp>
        <p:nvSpPr>
          <p:cNvPr id="5" name="TextBox 1">
            <a:extLst>
              <a:ext uri="{FF2B5EF4-FFF2-40B4-BE49-F238E27FC236}">
                <a16:creationId xmlns:a16="http://schemas.microsoft.com/office/drawing/2014/main" id="{C60C07A7-9BBF-6291-5BDF-84BBB5C299B2}"/>
              </a:ext>
            </a:extLst>
          </p:cNvPr>
          <p:cNvSpPr txBox="1"/>
          <p:nvPr/>
        </p:nvSpPr>
        <p:spPr>
          <a:xfrm>
            <a:off x="623786" y="1049371"/>
            <a:ext cx="82296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1200">
                <a:solidFill>
                  <a:srgbClr val="FFFF00"/>
                </a:solidFill>
              </a:rPr>
              <a:t>Tools</a:t>
            </a:r>
          </a:p>
        </p:txBody>
      </p:sp>
      <p:sp>
        <p:nvSpPr>
          <p:cNvPr id="6" name="TextBox 2">
            <a:extLst>
              <a:ext uri="{FF2B5EF4-FFF2-40B4-BE49-F238E27FC236}">
                <a16:creationId xmlns:a16="http://schemas.microsoft.com/office/drawing/2014/main" id="{8D1037E9-AD8E-B088-E772-060E201C5F65}"/>
              </a:ext>
            </a:extLst>
          </p:cNvPr>
          <p:cNvSpPr txBox="1"/>
          <p:nvPr/>
        </p:nvSpPr>
        <p:spPr>
          <a:xfrm>
            <a:off x="1035266" y="1430371"/>
            <a:ext cx="822960" cy="246221"/>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1000">
                <a:solidFill>
                  <a:srgbClr val="FFE600"/>
                </a:solidFill>
              </a:rPr>
              <a:t>Parameters</a:t>
            </a:r>
          </a:p>
        </p:txBody>
      </p:sp>
      <p:cxnSp>
        <p:nvCxnSpPr>
          <p:cNvPr id="7" name="Straight Arrow Connector 6">
            <a:extLst>
              <a:ext uri="{FF2B5EF4-FFF2-40B4-BE49-F238E27FC236}">
                <a16:creationId xmlns:a16="http://schemas.microsoft.com/office/drawing/2014/main" id="{56590AD4-74C8-870D-AE93-1AC24DCA84B4}"/>
              </a:ext>
            </a:extLst>
          </p:cNvPr>
          <p:cNvCxnSpPr>
            <a:cxnSpLocks/>
          </p:cNvCxnSpPr>
          <p:nvPr/>
        </p:nvCxnSpPr>
        <p:spPr>
          <a:xfrm>
            <a:off x="1329098" y="1430371"/>
            <a:ext cx="417875" cy="0"/>
          </a:xfrm>
          <a:prstGeom prst="straightConnector1">
            <a:avLst/>
          </a:prstGeom>
          <a:ln w="2857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13623C60-D0B0-63A6-75D4-F4CEC1F5B298}"/>
              </a:ext>
            </a:extLst>
          </p:cNvPr>
          <p:cNvCxnSpPr>
            <a:cxnSpLocks/>
          </p:cNvCxnSpPr>
          <p:nvPr/>
        </p:nvCxnSpPr>
        <p:spPr>
          <a:xfrm>
            <a:off x="745171" y="1301435"/>
            <a:ext cx="0" cy="257871"/>
          </a:xfrm>
          <a:prstGeom prst="straightConnector1">
            <a:avLst/>
          </a:prstGeom>
          <a:ln w="28575">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8" name="Content Placeholder 1">
            <a:extLst>
              <a:ext uri="{FF2B5EF4-FFF2-40B4-BE49-F238E27FC236}">
                <a16:creationId xmlns:a16="http://schemas.microsoft.com/office/drawing/2014/main" id="{2A993BCE-F208-BDF3-842A-7CDBC4A9E1E9}"/>
              </a:ext>
            </a:extLst>
          </p:cNvPr>
          <p:cNvSpPr>
            <a:spLocks noGrp="1"/>
          </p:cNvSpPr>
          <p:nvPr>
            <p:ph type="body" idx="1"/>
          </p:nvPr>
        </p:nvSpPr>
        <p:spPr>
          <a:xfrm>
            <a:off x="566615" y="342285"/>
            <a:ext cx="10063356" cy="833118"/>
          </a:xfrm>
        </p:spPr>
        <p:txBody>
          <a:bodyPr/>
          <a:lstStyle/>
          <a:p>
            <a:pPr marL="0" indent="0">
              <a:buNone/>
            </a:pPr>
            <a:r>
              <a:rPr lang="en-US" sz="2400" b="1">
                <a:solidFill>
                  <a:srgbClr val="FFE600"/>
                </a:solidFill>
                <a:latin typeface="EY interstate heading"/>
              </a:rPr>
              <a:t>Account reconciliation tool comparison</a:t>
            </a:r>
          </a:p>
        </p:txBody>
      </p:sp>
    </p:spTree>
    <p:extLst>
      <p:ext uri="{BB962C8B-B14F-4D97-AF65-F5344CB8AC3E}">
        <p14:creationId xmlns:p14="http://schemas.microsoft.com/office/powerpoint/2010/main" val="59689133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1">
            <a:extLst>
              <a:ext uri="{FF2B5EF4-FFF2-40B4-BE49-F238E27FC236}">
                <a16:creationId xmlns:a16="http://schemas.microsoft.com/office/drawing/2014/main" id="{9CDF79A3-4F2A-DEFE-DF6D-C71915FC879C}"/>
              </a:ext>
            </a:extLst>
          </p:cNvPr>
          <p:cNvSpPr txBox="1">
            <a:spLocks/>
          </p:cNvSpPr>
          <p:nvPr/>
        </p:nvSpPr>
        <p:spPr>
          <a:xfrm>
            <a:off x="576072" y="347684"/>
            <a:ext cx="11258550" cy="871218"/>
          </a:xfrm>
          <a:prstGeom prst="rect">
            <a:avLst/>
          </a:prstGeom>
        </p:spPr>
        <p:txBody>
          <a:bodyPr/>
          <a:lstStyle>
            <a:lvl1pPr marR="0" lvl="0" indent="0" defTabSz="913942" fontAlgn="auto">
              <a:lnSpc>
                <a:spcPct val="100000"/>
              </a:lnSpc>
              <a:spcBef>
                <a:spcPts val="500"/>
              </a:spcBef>
              <a:spcAft>
                <a:spcPts val="0"/>
              </a:spcAft>
              <a:buClr>
                <a:srgbClr val="FFE600"/>
              </a:buClr>
              <a:buSzPct val="110000"/>
              <a:buFont typeface="EYInterstate Light" pitchFamily="2"/>
              <a:buNone/>
              <a:tabLst/>
              <a:defRPr lang="en-US" sz="2400" b="0" i="0" u="none" strike="noStrike" cap="none" spc="0" baseline="0">
                <a:solidFill>
                  <a:srgbClr val="FFE600"/>
                </a:solidFill>
                <a:uFillTx/>
                <a:latin typeface="EY interstate"/>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lang="en-US"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lang="en-US"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lang="en-US"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lang="en-US"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b="1">
                <a:latin typeface="EY interstate heading"/>
              </a:rPr>
              <a:t>Account reconciliation Template – How to use it</a:t>
            </a:r>
          </a:p>
        </p:txBody>
      </p:sp>
      <p:pic>
        <p:nvPicPr>
          <p:cNvPr id="26" name="Picture 25">
            <a:extLst>
              <a:ext uri="{FF2B5EF4-FFF2-40B4-BE49-F238E27FC236}">
                <a16:creationId xmlns:a16="http://schemas.microsoft.com/office/drawing/2014/main" id="{4E5E8EC3-58F5-3E17-383C-E2B141CA787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6072" y="2055656"/>
            <a:ext cx="10673257" cy="710404"/>
          </a:xfrm>
          <a:prstGeom prst="rect">
            <a:avLst/>
          </a:prstGeom>
        </p:spPr>
      </p:pic>
      <p:sp>
        <p:nvSpPr>
          <p:cNvPr id="28" name="TextBox 27">
            <a:extLst>
              <a:ext uri="{FF2B5EF4-FFF2-40B4-BE49-F238E27FC236}">
                <a16:creationId xmlns:a16="http://schemas.microsoft.com/office/drawing/2014/main" id="{4B6A5131-BCF9-FC14-B2DD-4F95E12AE70C}"/>
              </a:ext>
            </a:extLst>
          </p:cNvPr>
          <p:cNvSpPr txBox="1"/>
          <p:nvPr/>
        </p:nvSpPr>
        <p:spPr>
          <a:xfrm>
            <a:off x="835581" y="5726857"/>
            <a:ext cx="2608225" cy="584775"/>
          </a:xfrm>
          <a:prstGeom prst="rect">
            <a:avLst/>
          </a:prstGeom>
          <a:noFill/>
        </p:spPr>
        <p:txBody>
          <a:bodyPr wrap="square" rtlCol="0">
            <a:spAutoFit/>
          </a:bodyPr>
          <a:lstStyle/>
          <a:p>
            <a:pPr algn="ctr"/>
            <a:r>
              <a:rPr lang="en-IN" sz="1600" b="1">
                <a:solidFill>
                  <a:srgbClr val="FFFF00"/>
                </a:solidFill>
              </a:rPr>
              <a:t>Account Reconciliation template and tracker</a:t>
            </a:r>
          </a:p>
        </p:txBody>
      </p:sp>
      <p:sp>
        <p:nvSpPr>
          <p:cNvPr id="30" name="Speech Bubble: Oval 29">
            <a:extLst>
              <a:ext uri="{FF2B5EF4-FFF2-40B4-BE49-F238E27FC236}">
                <a16:creationId xmlns:a16="http://schemas.microsoft.com/office/drawing/2014/main" id="{F7F40D04-E96C-1554-B298-CDF98AC892F9}"/>
              </a:ext>
            </a:extLst>
          </p:cNvPr>
          <p:cNvSpPr/>
          <p:nvPr/>
        </p:nvSpPr>
        <p:spPr>
          <a:xfrm>
            <a:off x="1378777" y="4456285"/>
            <a:ext cx="1428649" cy="1101858"/>
          </a:xfrm>
          <a:prstGeom prst="wedgeEllipseCallout">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aphicFrame>
        <p:nvGraphicFramePr>
          <p:cNvPr id="20" name="Object 19">
            <a:extLst>
              <a:ext uri="{FF2B5EF4-FFF2-40B4-BE49-F238E27FC236}">
                <a16:creationId xmlns:a16="http://schemas.microsoft.com/office/drawing/2014/main" id="{BE258C9B-3951-AA66-514C-0B742E32B64B}"/>
              </a:ext>
            </a:extLst>
          </p:cNvPr>
          <p:cNvGraphicFramePr>
            <a:graphicFrameLocks noChangeAspect="1"/>
          </p:cNvGraphicFramePr>
          <p:nvPr>
            <p:extLst>
              <p:ext uri="{D42A27DB-BD31-4B8C-83A1-F6EECF244321}">
                <p14:modId xmlns:p14="http://schemas.microsoft.com/office/powerpoint/2010/main" val="2407313994"/>
              </p:ext>
            </p:extLst>
          </p:nvPr>
        </p:nvGraphicFramePr>
        <p:xfrm>
          <a:off x="1660525" y="4629150"/>
          <a:ext cx="863600" cy="755650"/>
        </p:xfrm>
        <a:graphic>
          <a:graphicData uri="http://schemas.openxmlformats.org/presentationml/2006/ole">
            <mc:AlternateContent xmlns:mc="http://schemas.openxmlformats.org/markup-compatibility/2006">
              <mc:Choice xmlns:v="urn:schemas-microsoft-com:vml" Requires="v">
                <p:oleObj name="Worksheet" showAsIcon="1" r:id="rId3" imgW="812880" imgH="716400" progId="Excel.Sheet.12">
                  <p:embed/>
                </p:oleObj>
              </mc:Choice>
              <mc:Fallback>
                <p:oleObj name="Worksheet" showAsIcon="1" r:id="rId3" imgW="812880" imgH="716400" progId="Excel.Sheet.12">
                  <p:embed/>
                  <p:pic>
                    <p:nvPicPr>
                      <p:cNvPr id="20" name="Object 19">
                        <a:extLst>
                          <a:ext uri="{FF2B5EF4-FFF2-40B4-BE49-F238E27FC236}">
                            <a16:creationId xmlns:a16="http://schemas.microsoft.com/office/drawing/2014/main" id="{BE258C9B-3951-AA66-514C-0B742E32B64B}"/>
                          </a:ext>
                        </a:extLst>
                      </p:cNvPr>
                      <p:cNvPicPr/>
                      <p:nvPr/>
                    </p:nvPicPr>
                    <p:blipFill>
                      <a:blip r:embed="rId4"/>
                      <a:stretch>
                        <a:fillRect/>
                      </a:stretch>
                    </p:blipFill>
                    <p:spPr>
                      <a:xfrm>
                        <a:off x="1660525" y="4629150"/>
                        <a:ext cx="863600" cy="755650"/>
                      </a:xfrm>
                      <a:prstGeom prst="rect">
                        <a:avLst/>
                      </a:prstGeom>
                      <a:noFill/>
                    </p:spPr>
                  </p:pic>
                </p:oleObj>
              </mc:Fallback>
            </mc:AlternateContent>
          </a:graphicData>
        </a:graphic>
      </p:graphicFrame>
      <p:sp>
        <p:nvSpPr>
          <p:cNvPr id="43" name="Rectangle: Rounded Corners 42">
            <a:extLst>
              <a:ext uri="{FF2B5EF4-FFF2-40B4-BE49-F238E27FC236}">
                <a16:creationId xmlns:a16="http://schemas.microsoft.com/office/drawing/2014/main" id="{8C6F9B9B-84E4-BE91-8055-36E68244BC50}"/>
              </a:ext>
            </a:extLst>
          </p:cNvPr>
          <p:cNvSpPr/>
          <p:nvPr/>
        </p:nvSpPr>
        <p:spPr>
          <a:xfrm>
            <a:off x="1186796" y="3122146"/>
            <a:ext cx="1373481" cy="363557"/>
          </a:xfrm>
          <a:prstGeom prst="round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Arrow: Down 43">
            <a:extLst>
              <a:ext uri="{FF2B5EF4-FFF2-40B4-BE49-F238E27FC236}">
                <a16:creationId xmlns:a16="http://schemas.microsoft.com/office/drawing/2014/main" id="{CF81A444-7F0E-B2F0-6C42-616E602F8594}"/>
              </a:ext>
            </a:extLst>
          </p:cNvPr>
          <p:cNvSpPr/>
          <p:nvPr/>
        </p:nvSpPr>
        <p:spPr>
          <a:xfrm rot="10800000">
            <a:off x="1730069" y="2766060"/>
            <a:ext cx="278458" cy="341077"/>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501B82AB-1D34-D88F-0D9A-D3B2FC86AC04}"/>
              </a:ext>
            </a:extLst>
          </p:cNvPr>
          <p:cNvSpPr txBox="1"/>
          <p:nvPr/>
        </p:nvSpPr>
        <p:spPr>
          <a:xfrm>
            <a:off x="1378777" y="3122146"/>
            <a:ext cx="1181500" cy="4001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000">
                <a:latin typeface="EYInterstate"/>
              </a:rPr>
              <a:t>Description of the line items</a:t>
            </a:r>
            <a:endParaRPr lang="en-US" sz="1200"/>
          </a:p>
        </p:txBody>
      </p:sp>
      <p:sp>
        <p:nvSpPr>
          <p:cNvPr id="49" name="Rectangle: Rounded Corners 48">
            <a:extLst>
              <a:ext uri="{FF2B5EF4-FFF2-40B4-BE49-F238E27FC236}">
                <a16:creationId xmlns:a16="http://schemas.microsoft.com/office/drawing/2014/main" id="{2C9D38EE-7E60-C2A9-721D-003BFD2F9D29}"/>
              </a:ext>
            </a:extLst>
          </p:cNvPr>
          <p:cNvSpPr/>
          <p:nvPr/>
        </p:nvSpPr>
        <p:spPr>
          <a:xfrm>
            <a:off x="4457300" y="3184445"/>
            <a:ext cx="1373481" cy="363557"/>
          </a:xfrm>
          <a:prstGeom prst="round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Arrow: Down 49">
            <a:extLst>
              <a:ext uri="{FF2B5EF4-FFF2-40B4-BE49-F238E27FC236}">
                <a16:creationId xmlns:a16="http://schemas.microsoft.com/office/drawing/2014/main" id="{D64FA237-A116-C585-2C4A-A2391D26C72D}"/>
              </a:ext>
            </a:extLst>
          </p:cNvPr>
          <p:cNvSpPr/>
          <p:nvPr/>
        </p:nvSpPr>
        <p:spPr>
          <a:xfrm rot="10800000">
            <a:off x="5004811" y="2781069"/>
            <a:ext cx="278458" cy="341077"/>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6C8BAEAC-985D-3DD3-3B00-A5DF0657DF60}"/>
              </a:ext>
            </a:extLst>
          </p:cNvPr>
          <p:cNvSpPr txBox="1"/>
          <p:nvPr/>
        </p:nvSpPr>
        <p:spPr>
          <a:xfrm>
            <a:off x="4594127" y="3158474"/>
            <a:ext cx="1438887" cy="41549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700">
                <a:latin typeface="EYInterstate"/>
              </a:rPr>
              <a:t>Variance in accounts extracted and recorded for the company A</a:t>
            </a:r>
          </a:p>
        </p:txBody>
      </p:sp>
      <p:sp>
        <p:nvSpPr>
          <p:cNvPr id="51" name="Rectangle: Rounded Corners 50">
            <a:extLst>
              <a:ext uri="{FF2B5EF4-FFF2-40B4-BE49-F238E27FC236}">
                <a16:creationId xmlns:a16="http://schemas.microsoft.com/office/drawing/2014/main" id="{65183842-6811-3265-24A6-1675B51F6146}"/>
              </a:ext>
            </a:extLst>
          </p:cNvPr>
          <p:cNvSpPr/>
          <p:nvPr/>
        </p:nvSpPr>
        <p:spPr>
          <a:xfrm>
            <a:off x="5716598" y="1336013"/>
            <a:ext cx="1373481" cy="363557"/>
          </a:xfrm>
          <a:prstGeom prst="round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Arrow: Down 51">
            <a:extLst>
              <a:ext uri="{FF2B5EF4-FFF2-40B4-BE49-F238E27FC236}">
                <a16:creationId xmlns:a16="http://schemas.microsoft.com/office/drawing/2014/main" id="{1DB69B50-82E7-BCE5-3ED7-A9E6E902CF0B}"/>
              </a:ext>
            </a:extLst>
          </p:cNvPr>
          <p:cNvSpPr/>
          <p:nvPr/>
        </p:nvSpPr>
        <p:spPr>
          <a:xfrm>
            <a:off x="6264108" y="1730158"/>
            <a:ext cx="278458" cy="341077"/>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a:extLst>
              <a:ext uri="{FF2B5EF4-FFF2-40B4-BE49-F238E27FC236}">
                <a16:creationId xmlns:a16="http://schemas.microsoft.com/office/drawing/2014/main" id="{1F50319E-046A-CCCF-0BDA-3F3B8B173734}"/>
              </a:ext>
            </a:extLst>
          </p:cNvPr>
          <p:cNvSpPr txBox="1"/>
          <p:nvPr/>
        </p:nvSpPr>
        <p:spPr>
          <a:xfrm>
            <a:off x="5823123" y="1307156"/>
            <a:ext cx="1438887" cy="41549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700">
                <a:latin typeface="EYInterstate"/>
              </a:rPr>
              <a:t>Variance in accounts extracted and recorded for the company B</a:t>
            </a:r>
          </a:p>
        </p:txBody>
      </p:sp>
      <p:sp>
        <p:nvSpPr>
          <p:cNvPr id="55" name="Rectangle: Rounded Corners 54">
            <a:extLst>
              <a:ext uri="{FF2B5EF4-FFF2-40B4-BE49-F238E27FC236}">
                <a16:creationId xmlns:a16="http://schemas.microsoft.com/office/drawing/2014/main" id="{74E847EC-64EF-200D-CBF1-DDA1AF45590F}"/>
              </a:ext>
            </a:extLst>
          </p:cNvPr>
          <p:cNvSpPr/>
          <p:nvPr/>
        </p:nvSpPr>
        <p:spPr>
          <a:xfrm>
            <a:off x="10122408" y="1230473"/>
            <a:ext cx="1373481" cy="363557"/>
          </a:xfrm>
          <a:prstGeom prst="round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Arrow: Down 55">
            <a:extLst>
              <a:ext uri="{FF2B5EF4-FFF2-40B4-BE49-F238E27FC236}">
                <a16:creationId xmlns:a16="http://schemas.microsoft.com/office/drawing/2014/main" id="{4185B10D-556E-233F-B456-78061E8921EA}"/>
              </a:ext>
            </a:extLst>
          </p:cNvPr>
          <p:cNvSpPr/>
          <p:nvPr/>
        </p:nvSpPr>
        <p:spPr>
          <a:xfrm>
            <a:off x="10669918" y="1624618"/>
            <a:ext cx="278458" cy="341077"/>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C1AD080C-A2BA-7AB4-84C6-5F91E82CA049}"/>
              </a:ext>
            </a:extLst>
          </p:cNvPr>
          <p:cNvSpPr txBox="1"/>
          <p:nvPr/>
        </p:nvSpPr>
        <p:spPr>
          <a:xfrm>
            <a:off x="10228932" y="1248919"/>
            <a:ext cx="1438887" cy="30777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700">
                <a:latin typeface="EYInterstate"/>
              </a:rPr>
              <a:t>Color coding helps tracking the status</a:t>
            </a:r>
          </a:p>
        </p:txBody>
      </p:sp>
      <p:cxnSp>
        <p:nvCxnSpPr>
          <p:cNvPr id="58" name="Straight Connector 57">
            <a:extLst>
              <a:ext uri="{FF2B5EF4-FFF2-40B4-BE49-F238E27FC236}">
                <a16:creationId xmlns:a16="http://schemas.microsoft.com/office/drawing/2014/main" id="{1E156539-8660-A93A-0480-583B41EF2FF9}"/>
              </a:ext>
            </a:extLst>
          </p:cNvPr>
          <p:cNvCxnSpPr>
            <a:cxnSpLocks/>
          </p:cNvCxnSpPr>
          <p:nvPr/>
        </p:nvCxnSpPr>
        <p:spPr>
          <a:xfrm>
            <a:off x="3694176" y="4069080"/>
            <a:ext cx="0" cy="2423160"/>
          </a:xfrm>
          <a:prstGeom prst="line">
            <a:avLst/>
          </a:prstGeom>
        </p:spPr>
        <p:style>
          <a:lnRef idx="3">
            <a:schemeClr val="accent2"/>
          </a:lnRef>
          <a:fillRef idx="0">
            <a:schemeClr val="accent2"/>
          </a:fillRef>
          <a:effectRef idx="2">
            <a:schemeClr val="accent2"/>
          </a:effectRef>
          <a:fontRef idx="minor">
            <a:schemeClr val="tx1"/>
          </a:fontRef>
        </p:style>
      </p:cxnSp>
      <p:pic>
        <p:nvPicPr>
          <p:cNvPr id="63" name="Picture 62" descr="A screenshot of a computer&#10;&#10;AI-generated content may be incorrect.">
            <a:extLst>
              <a:ext uri="{FF2B5EF4-FFF2-40B4-BE49-F238E27FC236}">
                <a16:creationId xmlns:a16="http://schemas.microsoft.com/office/drawing/2014/main" id="{120D6B52-212D-D062-A116-8CD9E691397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30556" y="4840094"/>
            <a:ext cx="7216559" cy="993778"/>
          </a:xfrm>
          <a:prstGeom prst="rect">
            <a:avLst/>
          </a:prstGeom>
        </p:spPr>
      </p:pic>
      <p:sp>
        <p:nvSpPr>
          <p:cNvPr id="65" name="TextBox 64">
            <a:extLst>
              <a:ext uri="{FF2B5EF4-FFF2-40B4-BE49-F238E27FC236}">
                <a16:creationId xmlns:a16="http://schemas.microsoft.com/office/drawing/2014/main" id="{50E81373-4EAF-B833-212E-B0FFC61186A6}"/>
              </a:ext>
            </a:extLst>
          </p:cNvPr>
          <p:cNvSpPr txBox="1"/>
          <p:nvPr/>
        </p:nvSpPr>
        <p:spPr>
          <a:xfrm>
            <a:off x="6405011" y="4250881"/>
            <a:ext cx="2669586" cy="369332"/>
          </a:xfrm>
          <a:prstGeom prst="rect">
            <a:avLst/>
          </a:prstGeom>
          <a:noFill/>
        </p:spPr>
        <p:txBody>
          <a:bodyPr wrap="square">
            <a:spAutoFit/>
          </a:bodyPr>
          <a:lstStyle/>
          <a:p>
            <a:pPr marL="0" indent="0" algn="ctr">
              <a:buNone/>
            </a:pPr>
            <a:r>
              <a:rPr lang="en-US" sz="1800" b="1">
                <a:solidFill>
                  <a:srgbClr val="FFFF00"/>
                </a:solidFill>
              </a:rPr>
              <a:t>Progress Tracker</a:t>
            </a:r>
          </a:p>
        </p:txBody>
      </p:sp>
    </p:spTree>
    <p:extLst>
      <p:ext uri="{BB962C8B-B14F-4D97-AF65-F5344CB8AC3E}">
        <p14:creationId xmlns:p14="http://schemas.microsoft.com/office/powerpoint/2010/main" val="224015317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2">
            <a:extLst>
              <a:ext uri="{FF2B5EF4-FFF2-40B4-BE49-F238E27FC236}">
                <a16:creationId xmlns:a16="http://schemas.microsoft.com/office/drawing/2014/main" id="{9B69E8D9-A6B4-B492-740C-D3C0FA4714A1}"/>
              </a:ext>
            </a:extLst>
          </p:cNvPr>
          <p:cNvGraphicFramePr>
            <a:graphicFrameLocks noGrp="1"/>
          </p:cNvGraphicFramePr>
          <p:nvPr>
            <p:ph idx="4294967295"/>
            <p:extLst>
              <p:ext uri="{D42A27DB-BD31-4B8C-83A1-F6EECF244321}">
                <p14:modId xmlns:p14="http://schemas.microsoft.com/office/powerpoint/2010/main" val="2243857369"/>
              </p:ext>
            </p:extLst>
          </p:nvPr>
        </p:nvGraphicFramePr>
        <p:xfrm>
          <a:off x="499871" y="1246523"/>
          <a:ext cx="6399731" cy="52240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4" name="Diagram 3">
            <a:extLst>
              <a:ext uri="{FF2B5EF4-FFF2-40B4-BE49-F238E27FC236}">
                <a16:creationId xmlns:a16="http://schemas.microsoft.com/office/drawing/2014/main" id="{529B6B90-D3E7-4F3A-1B8D-0BC8EDAE3CDA}"/>
              </a:ext>
            </a:extLst>
          </p:cNvPr>
          <p:cNvGraphicFramePr/>
          <p:nvPr>
            <p:extLst>
              <p:ext uri="{D42A27DB-BD31-4B8C-83A1-F6EECF244321}">
                <p14:modId xmlns:p14="http://schemas.microsoft.com/office/powerpoint/2010/main" val="1738190836"/>
              </p:ext>
            </p:extLst>
          </p:nvPr>
        </p:nvGraphicFramePr>
        <p:xfrm>
          <a:off x="7294239" y="4480560"/>
          <a:ext cx="4480436" cy="169988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5" name="Diagram 4">
            <a:extLst>
              <a:ext uri="{FF2B5EF4-FFF2-40B4-BE49-F238E27FC236}">
                <a16:creationId xmlns:a16="http://schemas.microsoft.com/office/drawing/2014/main" id="{40838F2D-4541-400D-D21E-3372A690D139}"/>
              </a:ext>
            </a:extLst>
          </p:cNvPr>
          <p:cNvGraphicFramePr/>
          <p:nvPr>
            <p:extLst>
              <p:ext uri="{D42A27DB-BD31-4B8C-83A1-F6EECF244321}">
                <p14:modId xmlns:p14="http://schemas.microsoft.com/office/powerpoint/2010/main" val="380883074"/>
              </p:ext>
            </p:extLst>
          </p:nvPr>
        </p:nvGraphicFramePr>
        <p:xfrm>
          <a:off x="105234" y="1246523"/>
          <a:ext cx="2884372" cy="2560318"/>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6" name="Diagram 5">
            <a:extLst>
              <a:ext uri="{FF2B5EF4-FFF2-40B4-BE49-F238E27FC236}">
                <a16:creationId xmlns:a16="http://schemas.microsoft.com/office/drawing/2014/main" id="{8456FB32-8D24-331A-28D5-6F93F1BC8E63}"/>
              </a:ext>
            </a:extLst>
          </p:cNvPr>
          <p:cNvGraphicFramePr/>
          <p:nvPr>
            <p:extLst>
              <p:ext uri="{D42A27DB-BD31-4B8C-83A1-F6EECF244321}">
                <p14:modId xmlns:p14="http://schemas.microsoft.com/office/powerpoint/2010/main" val="1819832415"/>
              </p:ext>
            </p:extLst>
          </p:nvPr>
        </p:nvGraphicFramePr>
        <p:xfrm>
          <a:off x="105233" y="3910265"/>
          <a:ext cx="2884372" cy="2560318"/>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2" name="TextBox 1">
            <a:extLst>
              <a:ext uri="{FF2B5EF4-FFF2-40B4-BE49-F238E27FC236}">
                <a16:creationId xmlns:a16="http://schemas.microsoft.com/office/drawing/2014/main" id="{3373EDC3-8835-707A-03AB-E8C0727815B3}"/>
              </a:ext>
            </a:extLst>
          </p:cNvPr>
          <p:cNvSpPr txBox="1"/>
          <p:nvPr/>
        </p:nvSpPr>
        <p:spPr>
          <a:xfrm>
            <a:off x="3531417" y="1161288"/>
            <a:ext cx="1356077" cy="338554"/>
          </a:xfrm>
          <a:prstGeom prst="rect">
            <a:avLst/>
          </a:prstGeom>
          <a:noFill/>
        </p:spPr>
        <p:txBody>
          <a:bodyPr wrap="none" rtlCol="0">
            <a:spAutoFit/>
          </a:bodyPr>
          <a:lstStyle/>
          <a:p>
            <a:r>
              <a:rPr lang="en-IN" sz="1600" b="1">
                <a:solidFill>
                  <a:srgbClr val="FFFF00"/>
                </a:solidFill>
                <a:latin typeface="EY interstate"/>
              </a:rPr>
              <a:t>Best Practices</a:t>
            </a:r>
          </a:p>
        </p:txBody>
      </p:sp>
      <p:sp>
        <p:nvSpPr>
          <p:cNvPr id="9" name="TextBox 8">
            <a:extLst>
              <a:ext uri="{FF2B5EF4-FFF2-40B4-BE49-F238E27FC236}">
                <a16:creationId xmlns:a16="http://schemas.microsoft.com/office/drawing/2014/main" id="{AB5D2C32-3EBC-735F-787D-ECBF21A8FB4D}"/>
              </a:ext>
            </a:extLst>
          </p:cNvPr>
          <p:cNvSpPr txBox="1"/>
          <p:nvPr/>
        </p:nvSpPr>
        <p:spPr>
          <a:xfrm>
            <a:off x="3531417" y="3869483"/>
            <a:ext cx="1356077" cy="338554"/>
          </a:xfrm>
          <a:prstGeom prst="rect">
            <a:avLst/>
          </a:prstGeom>
          <a:noFill/>
        </p:spPr>
        <p:txBody>
          <a:bodyPr wrap="none" rtlCol="0">
            <a:spAutoFit/>
          </a:bodyPr>
          <a:lstStyle/>
          <a:p>
            <a:r>
              <a:rPr lang="en-IN" sz="1600" b="1">
                <a:solidFill>
                  <a:srgbClr val="FFFF00"/>
                </a:solidFill>
                <a:latin typeface="EY interstate"/>
              </a:rPr>
              <a:t>Best Practices</a:t>
            </a:r>
          </a:p>
        </p:txBody>
      </p:sp>
      <p:sp>
        <p:nvSpPr>
          <p:cNvPr id="10" name="TextBox 9">
            <a:extLst>
              <a:ext uri="{FF2B5EF4-FFF2-40B4-BE49-F238E27FC236}">
                <a16:creationId xmlns:a16="http://schemas.microsoft.com/office/drawing/2014/main" id="{C2A13AF4-3501-EC24-028E-94B3C253C6ED}"/>
              </a:ext>
            </a:extLst>
          </p:cNvPr>
          <p:cNvSpPr txBox="1"/>
          <p:nvPr/>
        </p:nvSpPr>
        <p:spPr>
          <a:xfrm>
            <a:off x="1312638" y="3983169"/>
            <a:ext cx="827662" cy="338554"/>
          </a:xfrm>
          <a:prstGeom prst="rect">
            <a:avLst/>
          </a:prstGeom>
          <a:noFill/>
        </p:spPr>
        <p:txBody>
          <a:bodyPr wrap="none" rtlCol="0">
            <a:spAutoFit/>
          </a:bodyPr>
          <a:lstStyle/>
          <a:p>
            <a:r>
              <a:rPr lang="en-IN" sz="1600" b="1">
                <a:solidFill>
                  <a:srgbClr val="FFFF00"/>
                </a:solidFill>
                <a:latin typeface="EY interstate"/>
              </a:rPr>
              <a:t>Metrics</a:t>
            </a:r>
          </a:p>
        </p:txBody>
      </p:sp>
      <p:sp>
        <p:nvSpPr>
          <p:cNvPr id="12" name="TextBox 11">
            <a:extLst>
              <a:ext uri="{FF2B5EF4-FFF2-40B4-BE49-F238E27FC236}">
                <a16:creationId xmlns:a16="http://schemas.microsoft.com/office/drawing/2014/main" id="{B424074F-2C44-DC62-9921-ED0A5F1F4AFD}"/>
              </a:ext>
            </a:extLst>
          </p:cNvPr>
          <p:cNvSpPr txBox="1"/>
          <p:nvPr/>
        </p:nvSpPr>
        <p:spPr>
          <a:xfrm>
            <a:off x="1312638" y="1257453"/>
            <a:ext cx="827662" cy="338554"/>
          </a:xfrm>
          <a:prstGeom prst="rect">
            <a:avLst/>
          </a:prstGeom>
          <a:noFill/>
        </p:spPr>
        <p:txBody>
          <a:bodyPr wrap="none" rtlCol="0">
            <a:spAutoFit/>
          </a:bodyPr>
          <a:lstStyle/>
          <a:p>
            <a:r>
              <a:rPr lang="en-IN" sz="1600" b="1">
                <a:solidFill>
                  <a:srgbClr val="FFFF00"/>
                </a:solidFill>
                <a:latin typeface="EY interstate"/>
              </a:rPr>
              <a:t>Metrics</a:t>
            </a:r>
          </a:p>
        </p:txBody>
      </p:sp>
      <p:pic>
        <p:nvPicPr>
          <p:cNvPr id="25" name="Picture 24">
            <a:extLst>
              <a:ext uri="{FF2B5EF4-FFF2-40B4-BE49-F238E27FC236}">
                <a16:creationId xmlns:a16="http://schemas.microsoft.com/office/drawing/2014/main" id="{4D31694B-A640-A837-E478-FE4D63DA51B5}"/>
              </a:ext>
            </a:extLst>
          </p:cNvPr>
          <p:cNvPicPr>
            <a:picLocks noChangeAspect="1"/>
          </p:cNvPicPr>
          <p:nvPr/>
        </p:nvPicPr>
        <p:blipFill>
          <a:blip r:embed="rId23"/>
          <a:stretch>
            <a:fillRect/>
          </a:stretch>
        </p:blipFill>
        <p:spPr>
          <a:xfrm>
            <a:off x="7294239" y="1596007"/>
            <a:ext cx="4480436" cy="2756797"/>
          </a:xfrm>
          <a:prstGeom prst="rect">
            <a:avLst/>
          </a:prstGeom>
        </p:spPr>
      </p:pic>
      <p:cxnSp>
        <p:nvCxnSpPr>
          <p:cNvPr id="26" name="Straight Connector 25">
            <a:extLst>
              <a:ext uri="{FF2B5EF4-FFF2-40B4-BE49-F238E27FC236}">
                <a16:creationId xmlns:a16="http://schemas.microsoft.com/office/drawing/2014/main" id="{AC821003-0DD5-ED5A-ADAB-4B1DFAA23DEF}"/>
              </a:ext>
            </a:extLst>
          </p:cNvPr>
          <p:cNvCxnSpPr>
            <a:cxnSpLocks/>
          </p:cNvCxnSpPr>
          <p:nvPr/>
        </p:nvCxnSpPr>
        <p:spPr>
          <a:xfrm>
            <a:off x="6899602" y="914400"/>
            <a:ext cx="0" cy="5742432"/>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sp>
        <p:nvSpPr>
          <p:cNvPr id="29" name="TextBox 28">
            <a:extLst>
              <a:ext uri="{FF2B5EF4-FFF2-40B4-BE49-F238E27FC236}">
                <a16:creationId xmlns:a16="http://schemas.microsoft.com/office/drawing/2014/main" id="{D83A5B4F-9AF2-8F58-B9A6-6CE4009659D8}"/>
              </a:ext>
            </a:extLst>
          </p:cNvPr>
          <p:cNvSpPr txBox="1"/>
          <p:nvPr/>
        </p:nvSpPr>
        <p:spPr>
          <a:xfrm>
            <a:off x="8276108" y="1077246"/>
            <a:ext cx="2459456" cy="338554"/>
          </a:xfrm>
          <a:prstGeom prst="rect">
            <a:avLst/>
          </a:prstGeom>
          <a:noFill/>
        </p:spPr>
        <p:txBody>
          <a:bodyPr wrap="none" rtlCol="0">
            <a:spAutoFit/>
          </a:bodyPr>
          <a:lstStyle/>
          <a:p>
            <a:r>
              <a:rPr lang="en-IN" sz="1600" b="1">
                <a:solidFill>
                  <a:srgbClr val="FFFF00"/>
                </a:solidFill>
                <a:latin typeface="EY interstate"/>
              </a:rPr>
              <a:t>Aging Analytics Dashboard</a:t>
            </a:r>
          </a:p>
        </p:txBody>
      </p:sp>
      <p:sp>
        <p:nvSpPr>
          <p:cNvPr id="7" name="Content Placeholder 1">
            <a:extLst>
              <a:ext uri="{FF2B5EF4-FFF2-40B4-BE49-F238E27FC236}">
                <a16:creationId xmlns:a16="http://schemas.microsoft.com/office/drawing/2014/main" id="{55529425-63F4-757D-4906-E97CE0442ED9}"/>
              </a:ext>
            </a:extLst>
          </p:cNvPr>
          <p:cNvSpPr txBox="1">
            <a:spLocks/>
          </p:cNvSpPr>
          <p:nvPr/>
        </p:nvSpPr>
        <p:spPr>
          <a:xfrm>
            <a:off x="536447" y="364462"/>
            <a:ext cx="9458113" cy="475276"/>
          </a:xfrm>
          <a:prstGeom prst="rect">
            <a:avLst/>
          </a:prstGeom>
        </p:spPr>
        <p:txBody>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0" i="0" u="none" strike="noStrike" cap="none" spc="0" baseline="0">
                <a:solidFill>
                  <a:srgbClr val="FFE600"/>
                </a:solidFill>
                <a:uFillTx/>
                <a:latin typeface="EY interstate"/>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b="1">
                <a:latin typeface="EY interstate heading"/>
              </a:rPr>
              <a:t>Visibility best practices</a:t>
            </a:r>
            <a:endParaRPr lang="en-US" b="1">
              <a:latin typeface="EY interstate heading"/>
            </a:endParaRPr>
          </a:p>
        </p:txBody>
      </p:sp>
    </p:spTree>
    <p:extLst>
      <p:ext uri="{BB962C8B-B14F-4D97-AF65-F5344CB8AC3E}">
        <p14:creationId xmlns:p14="http://schemas.microsoft.com/office/powerpoint/2010/main" val="164368828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A black text on a white background&#10;&#10;AI-generated content may be incorrect.">
            <a:extLst>
              <a:ext uri="{FF2B5EF4-FFF2-40B4-BE49-F238E27FC236}">
                <a16:creationId xmlns:a16="http://schemas.microsoft.com/office/drawing/2014/main" id="{3C704144-1144-EE39-974D-188B6922936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37810" y="948175"/>
            <a:ext cx="1136295" cy="378764"/>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2" name="Content Placeholder 1">
            <a:extLst>
              <a:ext uri="{FF2B5EF4-FFF2-40B4-BE49-F238E27FC236}">
                <a16:creationId xmlns:a16="http://schemas.microsoft.com/office/drawing/2014/main" id="{4F235199-6952-AB91-F292-CAE8693CCDAE}"/>
              </a:ext>
            </a:extLst>
          </p:cNvPr>
          <p:cNvSpPr txBox="1">
            <a:spLocks/>
          </p:cNvSpPr>
          <p:nvPr/>
        </p:nvSpPr>
        <p:spPr>
          <a:xfrm>
            <a:off x="510372" y="339812"/>
            <a:ext cx="9458113" cy="475276"/>
          </a:xfrm>
          <a:prstGeom prst="rect">
            <a:avLst/>
          </a:prstGeom>
        </p:spPr>
        <p:txBody>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0" i="0" u="none" strike="noStrike" cap="none" spc="0" baseline="0">
                <a:solidFill>
                  <a:srgbClr val="FFE600"/>
                </a:solidFill>
                <a:uFillTx/>
                <a:latin typeface="EY interstate"/>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b="1">
                <a:latin typeface="EY interstate heading"/>
              </a:rPr>
              <a:t>Tool specific Account reconciliation Best Practices</a:t>
            </a:r>
          </a:p>
        </p:txBody>
      </p:sp>
      <p:graphicFrame>
        <p:nvGraphicFramePr>
          <p:cNvPr id="6" name="Diagram 5">
            <a:extLst>
              <a:ext uri="{FF2B5EF4-FFF2-40B4-BE49-F238E27FC236}">
                <a16:creationId xmlns:a16="http://schemas.microsoft.com/office/drawing/2014/main" id="{42C778F4-959E-C2CC-266B-AF007EFE1655}"/>
              </a:ext>
            </a:extLst>
          </p:cNvPr>
          <p:cNvGraphicFramePr/>
          <p:nvPr>
            <p:extLst>
              <p:ext uri="{D42A27DB-BD31-4B8C-83A1-F6EECF244321}">
                <p14:modId xmlns:p14="http://schemas.microsoft.com/office/powerpoint/2010/main" val="3130905153"/>
              </p:ext>
            </p:extLst>
          </p:nvPr>
        </p:nvGraphicFramePr>
        <p:xfrm>
          <a:off x="347472" y="1517746"/>
          <a:ext cx="3730750" cy="487391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cxnSp>
        <p:nvCxnSpPr>
          <p:cNvPr id="10" name="Straight Connector 9">
            <a:extLst>
              <a:ext uri="{FF2B5EF4-FFF2-40B4-BE49-F238E27FC236}">
                <a16:creationId xmlns:a16="http://schemas.microsoft.com/office/drawing/2014/main" id="{B7C9B9B9-1157-A702-6BC3-B0C54CC9383C}"/>
              </a:ext>
            </a:extLst>
          </p:cNvPr>
          <p:cNvCxnSpPr/>
          <p:nvPr/>
        </p:nvCxnSpPr>
        <p:spPr>
          <a:xfrm>
            <a:off x="3986784" y="914400"/>
            <a:ext cx="0" cy="5477256"/>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cxnSp>
        <p:nvCxnSpPr>
          <p:cNvPr id="3" name="Straight Connector 2">
            <a:extLst>
              <a:ext uri="{FF2B5EF4-FFF2-40B4-BE49-F238E27FC236}">
                <a16:creationId xmlns:a16="http://schemas.microsoft.com/office/drawing/2014/main" id="{8872DAAA-12EC-EB58-5A70-31CAED920494}"/>
              </a:ext>
            </a:extLst>
          </p:cNvPr>
          <p:cNvCxnSpPr>
            <a:cxnSpLocks/>
          </p:cNvCxnSpPr>
          <p:nvPr/>
        </p:nvCxnSpPr>
        <p:spPr>
          <a:xfrm>
            <a:off x="8092434" y="948176"/>
            <a:ext cx="0" cy="5449697"/>
          </a:xfrm>
          <a:prstGeom prst="line">
            <a:avLst/>
          </a:prstGeom>
          <a:ln>
            <a:solidFill>
              <a:srgbClr val="FFFF00"/>
            </a:solidFill>
          </a:ln>
        </p:spPr>
        <p:style>
          <a:lnRef idx="2">
            <a:schemeClr val="accent1"/>
          </a:lnRef>
          <a:fillRef idx="0">
            <a:schemeClr val="accent1"/>
          </a:fillRef>
          <a:effectRef idx="1">
            <a:schemeClr val="accent1"/>
          </a:effectRef>
          <a:fontRef idx="minor">
            <a:schemeClr val="tx1"/>
          </a:fontRef>
        </p:style>
      </p:cxnSp>
      <p:graphicFrame>
        <p:nvGraphicFramePr>
          <p:cNvPr id="8" name="Diagram 7">
            <a:extLst>
              <a:ext uri="{FF2B5EF4-FFF2-40B4-BE49-F238E27FC236}">
                <a16:creationId xmlns:a16="http://schemas.microsoft.com/office/drawing/2014/main" id="{9F69255F-EEFA-FDDB-6164-1D547216A7AF}"/>
              </a:ext>
            </a:extLst>
          </p:cNvPr>
          <p:cNvGraphicFramePr/>
          <p:nvPr>
            <p:extLst>
              <p:ext uri="{D42A27DB-BD31-4B8C-83A1-F6EECF244321}">
                <p14:modId xmlns:p14="http://schemas.microsoft.com/office/powerpoint/2010/main" val="1160903591"/>
              </p:ext>
            </p:extLst>
          </p:nvPr>
        </p:nvGraphicFramePr>
        <p:xfrm>
          <a:off x="4437884" y="1496610"/>
          <a:ext cx="3730750" cy="4873910"/>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pic>
        <p:nvPicPr>
          <p:cNvPr id="11" name="Picture 10">
            <a:extLst>
              <a:ext uri="{FF2B5EF4-FFF2-40B4-BE49-F238E27FC236}">
                <a16:creationId xmlns:a16="http://schemas.microsoft.com/office/drawing/2014/main" id="{3204DE32-9C09-B515-73CB-DFCFB57EDB08}"/>
              </a:ext>
            </a:extLst>
          </p:cNvPr>
          <p:cNvPicPr>
            <a:picLocks noChangeAspect="1"/>
          </p:cNvPicPr>
          <p:nvPr/>
        </p:nvPicPr>
        <p:blipFill>
          <a:blip r:embed="rId14"/>
          <a:stretch>
            <a:fillRect/>
          </a:stretch>
        </p:blipFill>
        <p:spPr>
          <a:xfrm>
            <a:off x="6303260" y="929554"/>
            <a:ext cx="425396" cy="416006"/>
          </a:xfrm>
          <a:prstGeom prst="rect">
            <a:avLst/>
          </a:prstGeom>
          <a:ln>
            <a:solidFill>
              <a:schemeClr val="tx1"/>
            </a:solidFill>
          </a:ln>
        </p:spPr>
      </p:pic>
      <p:graphicFrame>
        <p:nvGraphicFramePr>
          <p:cNvPr id="14" name="Diagram 13">
            <a:extLst>
              <a:ext uri="{FF2B5EF4-FFF2-40B4-BE49-F238E27FC236}">
                <a16:creationId xmlns:a16="http://schemas.microsoft.com/office/drawing/2014/main" id="{3CE0B583-50CC-D543-E9F8-D61E6A64EB66}"/>
              </a:ext>
            </a:extLst>
          </p:cNvPr>
          <p:cNvGraphicFramePr/>
          <p:nvPr>
            <p:extLst>
              <p:ext uri="{D42A27DB-BD31-4B8C-83A1-F6EECF244321}">
                <p14:modId xmlns:p14="http://schemas.microsoft.com/office/powerpoint/2010/main" val="1890753519"/>
              </p:ext>
            </p:extLst>
          </p:nvPr>
        </p:nvGraphicFramePr>
        <p:xfrm>
          <a:off x="7626097" y="1517746"/>
          <a:ext cx="4849368" cy="4762804"/>
        </p:xfrm>
        <a:graphic>
          <a:graphicData uri="http://schemas.openxmlformats.org/drawingml/2006/diagram">
            <dgm:relIds xmlns:dgm="http://schemas.openxmlformats.org/drawingml/2006/diagram" xmlns:r="http://schemas.openxmlformats.org/officeDocument/2006/relationships" r:dm="rId15" r:lo="rId16" r:qs="rId17" r:cs="rId18"/>
          </a:graphicData>
        </a:graphic>
      </p:graphicFrame>
      <p:sp>
        <p:nvSpPr>
          <p:cNvPr id="25" name="TextBox 24">
            <a:extLst>
              <a:ext uri="{FF2B5EF4-FFF2-40B4-BE49-F238E27FC236}">
                <a16:creationId xmlns:a16="http://schemas.microsoft.com/office/drawing/2014/main" id="{2AF4F085-3F12-83B8-472E-F8D1CE9EE9CD}"/>
              </a:ext>
            </a:extLst>
          </p:cNvPr>
          <p:cNvSpPr txBox="1"/>
          <p:nvPr/>
        </p:nvSpPr>
        <p:spPr>
          <a:xfrm>
            <a:off x="9113598" y="1037783"/>
            <a:ext cx="2281183" cy="307777"/>
          </a:xfrm>
          <a:prstGeom prst="rect">
            <a:avLst/>
          </a:prstGeom>
          <a:noFill/>
        </p:spPr>
        <p:txBody>
          <a:bodyPr wrap="square" rtlCol="0">
            <a:spAutoFit/>
          </a:bodyPr>
          <a:lstStyle/>
          <a:p>
            <a:r>
              <a:rPr lang="en-IN" sz="1400" b="1">
                <a:solidFill>
                  <a:schemeClr val="bg1"/>
                </a:solidFill>
                <a:latin typeface="EY interstate"/>
              </a:rPr>
              <a:t>Tool agnostic Best Practices</a:t>
            </a:r>
          </a:p>
        </p:txBody>
      </p:sp>
    </p:spTree>
    <p:extLst>
      <p:ext uri="{BB962C8B-B14F-4D97-AF65-F5344CB8AC3E}">
        <p14:creationId xmlns:p14="http://schemas.microsoft.com/office/powerpoint/2010/main" val="275510231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C8FC84-C4B9-2BAF-D13F-A548ABA6F85B}"/>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930D4832-0111-53B3-EB77-0F5FE4E8A589}"/>
              </a:ext>
            </a:extLst>
          </p:cNvPr>
          <p:cNvSpPr txBox="1"/>
          <p:nvPr/>
        </p:nvSpPr>
        <p:spPr>
          <a:xfrm>
            <a:off x="-974035" y="6509103"/>
            <a:ext cx="1499616" cy="184666"/>
          </a:xfrm>
          <a:prstGeom prst="rect">
            <a:avLst/>
          </a:prstGeom>
          <a:noFill/>
        </p:spPr>
        <p:txBody>
          <a:bodyPr wrap="square" rtlCol="0">
            <a:spAutoFit/>
          </a:bodyPr>
          <a:lstStyle/>
          <a:p>
            <a:r>
              <a:rPr lang="en-IN" sz="600">
                <a:solidFill>
                  <a:schemeClr val="bg1"/>
                </a:solidFill>
                <a:latin typeface="EY interstate"/>
              </a:rPr>
              <a:t>Source</a:t>
            </a:r>
            <a:r>
              <a:rPr lang="en-IN" sz="600">
                <a:latin typeface="EY interstate"/>
              </a:rPr>
              <a:t> - </a:t>
            </a:r>
            <a:r>
              <a:rPr lang="en-IN" sz="600">
                <a:solidFill>
                  <a:schemeClr val="bg1"/>
                </a:solidFill>
                <a:latin typeface="EY interstate"/>
              </a:rPr>
              <a:t>EYQ</a:t>
            </a:r>
          </a:p>
        </p:txBody>
      </p:sp>
      <p:sp>
        <p:nvSpPr>
          <p:cNvPr id="3" name="TextBox 2">
            <a:extLst>
              <a:ext uri="{FF2B5EF4-FFF2-40B4-BE49-F238E27FC236}">
                <a16:creationId xmlns:a16="http://schemas.microsoft.com/office/drawing/2014/main" id="{38970D1A-6616-90E9-4938-F7EB1B630882}"/>
              </a:ext>
            </a:extLst>
          </p:cNvPr>
          <p:cNvSpPr txBox="1"/>
          <p:nvPr/>
        </p:nvSpPr>
        <p:spPr>
          <a:xfrm>
            <a:off x="929639" y="2181301"/>
            <a:ext cx="4503620" cy="769441"/>
          </a:xfrm>
          <a:prstGeom prst="rect">
            <a:avLst/>
          </a:prstGeom>
          <a:noFill/>
        </p:spPr>
        <p:txBody>
          <a:bodyPr wrap="square" rtlCol="0">
            <a:spAutoFit/>
          </a:bodyPr>
          <a:lstStyle/>
          <a:p>
            <a:r>
              <a:rPr lang="en-IN" sz="4400">
                <a:solidFill>
                  <a:srgbClr val="FFE600"/>
                </a:solidFill>
                <a:latin typeface="EYInterstate" panose="02000503020000020004" pitchFamily="2" charset="0"/>
              </a:rPr>
              <a:t>Compliance</a:t>
            </a:r>
          </a:p>
        </p:txBody>
      </p:sp>
    </p:spTree>
    <p:extLst>
      <p:ext uri="{BB962C8B-B14F-4D97-AF65-F5344CB8AC3E}">
        <p14:creationId xmlns:p14="http://schemas.microsoft.com/office/powerpoint/2010/main" val="331494884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a:extLst>
              <a:ext uri="{FF2B5EF4-FFF2-40B4-BE49-F238E27FC236}">
                <a16:creationId xmlns:a16="http://schemas.microsoft.com/office/drawing/2014/main" id="{30A71486-734F-57AE-3874-0BB8F159210C}"/>
              </a:ext>
            </a:extLst>
          </p:cNvPr>
          <p:cNvGraphicFramePr/>
          <p:nvPr>
            <p:extLst>
              <p:ext uri="{D42A27DB-BD31-4B8C-83A1-F6EECF244321}">
                <p14:modId xmlns:p14="http://schemas.microsoft.com/office/powerpoint/2010/main" val="2734921336"/>
              </p:ext>
            </p:extLst>
          </p:nvPr>
        </p:nvGraphicFramePr>
        <p:xfrm>
          <a:off x="576072" y="969263"/>
          <a:ext cx="11258550" cy="24597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Content Placeholder 1">
            <a:extLst>
              <a:ext uri="{FF2B5EF4-FFF2-40B4-BE49-F238E27FC236}">
                <a16:creationId xmlns:a16="http://schemas.microsoft.com/office/drawing/2014/main" id="{07813617-53A5-E740-3B5B-33D933B4E4DE}"/>
              </a:ext>
            </a:extLst>
          </p:cNvPr>
          <p:cNvSpPr txBox="1">
            <a:spLocks/>
          </p:cNvSpPr>
          <p:nvPr/>
        </p:nvSpPr>
        <p:spPr>
          <a:xfrm>
            <a:off x="527304" y="414783"/>
            <a:ext cx="11258550" cy="871218"/>
          </a:xfrm>
          <a:prstGeom prst="rect">
            <a:avLst/>
          </a:prstGeom>
        </p:spPr>
        <p:txBody>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0" i="0" u="none" strike="noStrike" cap="none" spc="0" baseline="0">
                <a:solidFill>
                  <a:srgbClr val="FFE600"/>
                </a:solidFill>
                <a:uFillTx/>
                <a:latin typeface="EY interstate"/>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b="1">
                <a:latin typeface="EY interstate heading"/>
              </a:rPr>
              <a:t>Exception management workflow with rules-based clearing</a:t>
            </a:r>
          </a:p>
        </p:txBody>
      </p:sp>
      <p:cxnSp>
        <p:nvCxnSpPr>
          <p:cNvPr id="6" name="Straight Connector 5">
            <a:extLst>
              <a:ext uri="{FF2B5EF4-FFF2-40B4-BE49-F238E27FC236}">
                <a16:creationId xmlns:a16="http://schemas.microsoft.com/office/drawing/2014/main" id="{E6CB5380-199E-03B9-A849-23B6B952464E}"/>
              </a:ext>
            </a:extLst>
          </p:cNvPr>
          <p:cNvCxnSpPr>
            <a:cxnSpLocks/>
          </p:cNvCxnSpPr>
          <p:nvPr/>
        </p:nvCxnSpPr>
        <p:spPr>
          <a:xfrm>
            <a:off x="1737360" y="2069330"/>
            <a:ext cx="518160" cy="0"/>
          </a:xfrm>
          <a:prstGeom prst="line">
            <a:avLst/>
          </a:prstGeom>
          <a:ln w="19050" cap="flat" cmpd="sng" algn="ctr">
            <a:solidFill>
              <a:srgbClr val="FFFF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8" name="Straight Connector 17">
            <a:extLst>
              <a:ext uri="{FF2B5EF4-FFF2-40B4-BE49-F238E27FC236}">
                <a16:creationId xmlns:a16="http://schemas.microsoft.com/office/drawing/2014/main" id="{8969F964-E04E-03B4-28F1-CC6AC8E71BC3}"/>
              </a:ext>
            </a:extLst>
          </p:cNvPr>
          <p:cNvCxnSpPr>
            <a:cxnSpLocks/>
          </p:cNvCxnSpPr>
          <p:nvPr/>
        </p:nvCxnSpPr>
        <p:spPr>
          <a:xfrm>
            <a:off x="10082784" y="2069330"/>
            <a:ext cx="518160" cy="0"/>
          </a:xfrm>
          <a:prstGeom prst="line">
            <a:avLst/>
          </a:prstGeom>
          <a:ln w="19050" cap="flat" cmpd="sng" algn="ctr">
            <a:solidFill>
              <a:srgbClr val="FFFF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9" name="Straight Connector 18">
            <a:extLst>
              <a:ext uri="{FF2B5EF4-FFF2-40B4-BE49-F238E27FC236}">
                <a16:creationId xmlns:a16="http://schemas.microsoft.com/office/drawing/2014/main" id="{AA4DF2D6-77D2-28A8-46C9-B25A3509EB86}"/>
              </a:ext>
            </a:extLst>
          </p:cNvPr>
          <p:cNvCxnSpPr>
            <a:cxnSpLocks/>
          </p:cNvCxnSpPr>
          <p:nvPr/>
        </p:nvCxnSpPr>
        <p:spPr>
          <a:xfrm>
            <a:off x="8415528" y="2069330"/>
            <a:ext cx="518160" cy="0"/>
          </a:xfrm>
          <a:prstGeom prst="line">
            <a:avLst/>
          </a:prstGeom>
          <a:ln w="19050" cap="flat" cmpd="sng" algn="ctr">
            <a:solidFill>
              <a:srgbClr val="FFFF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20" name="Straight Connector 19">
            <a:extLst>
              <a:ext uri="{FF2B5EF4-FFF2-40B4-BE49-F238E27FC236}">
                <a16:creationId xmlns:a16="http://schemas.microsoft.com/office/drawing/2014/main" id="{CDED1BA3-17FA-6D51-BACF-9CDECACC04C9}"/>
              </a:ext>
            </a:extLst>
          </p:cNvPr>
          <p:cNvCxnSpPr>
            <a:cxnSpLocks/>
          </p:cNvCxnSpPr>
          <p:nvPr/>
        </p:nvCxnSpPr>
        <p:spPr>
          <a:xfrm>
            <a:off x="6748272" y="2069330"/>
            <a:ext cx="518160" cy="0"/>
          </a:xfrm>
          <a:prstGeom prst="line">
            <a:avLst/>
          </a:prstGeom>
          <a:ln w="19050" cap="flat" cmpd="sng" algn="ctr">
            <a:solidFill>
              <a:srgbClr val="FFFF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21" name="Straight Connector 20">
            <a:extLst>
              <a:ext uri="{FF2B5EF4-FFF2-40B4-BE49-F238E27FC236}">
                <a16:creationId xmlns:a16="http://schemas.microsoft.com/office/drawing/2014/main" id="{F9FEB3B7-A1DF-E40A-584D-627E0A425F02}"/>
              </a:ext>
            </a:extLst>
          </p:cNvPr>
          <p:cNvCxnSpPr>
            <a:cxnSpLocks/>
          </p:cNvCxnSpPr>
          <p:nvPr/>
        </p:nvCxnSpPr>
        <p:spPr>
          <a:xfrm>
            <a:off x="5044440" y="2069330"/>
            <a:ext cx="518160" cy="0"/>
          </a:xfrm>
          <a:prstGeom prst="line">
            <a:avLst/>
          </a:prstGeom>
          <a:ln w="19050" cap="flat" cmpd="sng" algn="ctr">
            <a:solidFill>
              <a:srgbClr val="FFFF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22" name="Straight Connector 21">
            <a:extLst>
              <a:ext uri="{FF2B5EF4-FFF2-40B4-BE49-F238E27FC236}">
                <a16:creationId xmlns:a16="http://schemas.microsoft.com/office/drawing/2014/main" id="{F7882F2C-1961-3CAF-FFE0-DC8A0B8E637D}"/>
              </a:ext>
            </a:extLst>
          </p:cNvPr>
          <p:cNvCxnSpPr>
            <a:cxnSpLocks/>
          </p:cNvCxnSpPr>
          <p:nvPr/>
        </p:nvCxnSpPr>
        <p:spPr>
          <a:xfrm>
            <a:off x="3413760" y="2069330"/>
            <a:ext cx="518160" cy="0"/>
          </a:xfrm>
          <a:prstGeom prst="line">
            <a:avLst/>
          </a:prstGeom>
          <a:ln w="19050" cap="flat" cmpd="sng" algn="ctr">
            <a:solidFill>
              <a:srgbClr val="FFFF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aphicFrame>
        <p:nvGraphicFramePr>
          <p:cNvPr id="30" name="Diagram 29">
            <a:extLst>
              <a:ext uri="{FF2B5EF4-FFF2-40B4-BE49-F238E27FC236}">
                <a16:creationId xmlns:a16="http://schemas.microsoft.com/office/drawing/2014/main" id="{8326DE31-FBD6-A32B-4B89-4F132425B861}"/>
              </a:ext>
            </a:extLst>
          </p:cNvPr>
          <p:cNvGraphicFramePr/>
          <p:nvPr>
            <p:extLst>
              <p:ext uri="{D42A27DB-BD31-4B8C-83A1-F6EECF244321}">
                <p14:modId xmlns:p14="http://schemas.microsoft.com/office/powerpoint/2010/main" val="3469399604"/>
              </p:ext>
            </p:extLst>
          </p:nvPr>
        </p:nvGraphicFramePr>
        <p:xfrm>
          <a:off x="357378" y="3703320"/>
          <a:ext cx="11428476" cy="267919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1" name="Right Brace 30">
            <a:extLst>
              <a:ext uri="{FF2B5EF4-FFF2-40B4-BE49-F238E27FC236}">
                <a16:creationId xmlns:a16="http://schemas.microsoft.com/office/drawing/2014/main" id="{44FA4FB1-D533-E9FB-8794-B7024F407D1F}"/>
              </a:ext>
            </a:extLst>
          </p:cNvPr>
          <p:cNvSpPr/>
          <p:nvPr/>
        </p:nvSpPr>
        <p:spPr>
          <a:xfrm rot="16200000">
            <a:off x="5940552" y="-2125980"/>
            <a:ext cx="310896" cy="11658600"/>
          </a:xfrm>
          <a:prstGeom prst="rightBrace">
            <a:avLst>
              <a:gd name="adj1" fmla="val 8333"/>
              <a:gd name="adj2" fmla="val 50157"/>
            </a:avLst>
          </a:prstGeom>
          <a:ln>
            <a:solidFill>
              <a:schemeClr val="bg1"/>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IN"/>
          </a:p>
        </p:txBody>
      </p:sp>
      <p:sp>
        <p:nvSpPr>
          <p:cNvPr id="41" name="Arrow: Down 40">
            <a:extLst>
              <a:ext uri="{FF2B5EF4-FFF2-40B4-BE49-F238E27FC236}">
                <a16:creationId xmlns:a16="http://schemas.microsoft.com/office/drawing/2014/main" id="{717694AC-49EE-7A17-C765-4FEF6D70ACC3}"/>
              </a:ext>
            </a:extLst>
          </p:cNvPr>
          <p:cNvSpPr/>
          <p:nvPr/>
        </p:nvSpPr>
        <p:spPr>
          <a:xfrm>
            <a:off x="4288536" y="3058667"/>
            <a:ext cx="420624" cy="489204"/>
          </a:xfrm>
          <a:prstGeom prst="downArrow">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bg1"/>
              </a:solidFill>
            </a:endParaRPr>
          </a:p>
        </p:txBody>
      </p:sp>
    </p:spTree>
    <p:extLst>
      <p:ext uri="{BB962C8B-B14F-4D97-AF65-F5344CB8AC3E}">
        <p14:creationId xmlns:p14="http://schemas.microsoft.com/office/powerpoint/2010/main" val="162082089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5C2D7D3F-F482-8D80-A2B0-C837A8B510CE}"/>
              </a:ext>
            </a:extLst>
          </p:cNvPr>
          <p:cNvSpPr>
            <a:spLocks noGrp="1"/>
          </p:cNvSpPr>
          <p:nvPr>
            <p:ph idx="4294967295"/>
          </p:nvPr>
        </p:nvSpPr>
        <p:spPr>
          <a:xfrm>
            <a:off x="536451" y="991611"/>
            <a:ext cx="10972800" cy="645165"/>
          </a:xfrm>
        </p:spPr>
        <p:txBody>
          <a:bodyPr/>
          <a:lstStyle/>
          <a:p>
            <a:r>
              <a:rPr lang="en-IN" sz="1600">
                <a:latin typeface="EYInterstate" panose="02000503020000020004" pitchFamily="2" charset="0"/>
              </a:rPr>
              <a:t>The Global Process Owner (GPO) Governance Playbook provides a structured framework for managing processes across an organization</a:t>
            </a:r>
          </a:p>
        </p:txBody>
      </p:sp>
      <p:sp>
        <p:nvSpPr>
          <p:cNvPr id="6" name="TextBox 5">
            <a:extLst>
              <a:ext uri="{FF2B5EF4-FFF2-40B4-BE49-F238E27FC236}">
                <a16:creationId xmlns:a16="http://schemas.microsoft.com/office/drawing/2014/main" id="{9CE1E107-CA8E-4633-3AA3-1C2B9BFBA2CF}"/>
              </a:ext>
            </a:extLst>
          </p:cNvPr>
          <p:cNvSpPr txBox="1"/>
          <p:nvPr/>
        </p:nvSpPr>
        <p:spPr>
          <a:xfrm>
            <a:off x="545595" y="422475"/>
            <a:ext cx="9851133" cy="406265"/>
          </a:xfrm>
          <a:prstGeom prst="rect">
            <a:avLst/>
          </a:prstGeom>
        </p:spPr>
        <p:txBody>
          <a:bodyPr/>
          <a:lstStyle>
            <a:defPPr>
              <a:defRPr lang="en-US"/>
            </a:defPPr>
            <a:lvl1pPr marR="0" lvl="0" indent="0" defTabSz="913942" fontAlgn="auto">
              <a:lnSpc>
                <a:spcPct val="85000"/>
              </a:lnSpc>
              <a:spcBef>
                <a:spcPts val="0"/>
              </a:spcBef>
              <a:spcAft>
                <a:spcPts val="0"/>
              </a:spcAft>
              <a:buNone/>
              <a:tabLst/>
              <a:defRPr sz="2399" b="0" i="0" u="none" strike="noStrike" cap="none" spc="0" baseline="0">
                <a:solidFill>
                  <a:srgbClr val="FFE600"/>
                </a:solidFill>
                <a:uFillTx/>
                <a:latin typeface="EY interstate"/>
                <a:cs typeface="Arial" pitchFamily="34"/>
              </a:defRPr>
            </a:lvl1pPr>
          </a:lstStyle>
          <a:p>
            <a:r>
              <a:rPr lang="en-IN" b="1">
                <a:latin typeface="EY interstate heading"/>
              </a:rPr>
              <a:t>GPO Governance Playbook</a:t>
            </a:r>
          </a:p>
        </p:txBody>
      </p:sp>
      <p:sp>
        <p:nvSpPr>
          <p:cNvPr id="11" name="TextBox 10">
            <a:extLst>
              <a:ext uri="{FF2B5EF4-FFF2-40B4-BE49-F238E27FC236}">
                <a16:creationId xmlns:a16="http://schemas.microsoft.com/office/drawing/2014/main" id="{E535A043-4135-F2A9-D7E8-60631E771B8A}"/>
              </a:ext>
            </a:extLst>
          </p:cNvPr>
          <p:cNvSpPr txBox="1"/>
          <p:nvPr/>
        </p:nvSpPr>
        <p:spPr>
          <a:xfrm>
            <a:off x="801626" y="1670706"/>
            <a:ext cx="3645246" cy="2554545"/>
          </a:xfrm>
          <a:prstGeom prst="rect">
            <a:avLst/>
          </a:prstGeom>
          <a:noFill/>
        </p:spPr>
        <p:txBody>
          <a:bodyPr wrap="square" rtlCol="0">
            <a:spAutoFit/>
          </a:bodyPr>
          <a:lstStyle/>
          <a:p>
            <a:r>
              <a:rPr lang="en-IN" sz="1600">
                <a:solidFill>
                  <a:schemeClr val="bg1"/>
                </a:solidFill>
                <a:latin typeface="EYInterstate" panose="02000503020000020004" pitchFamily="2" charset="0"/>
              </a:rPr>
              <a:t>The GPO has full authority and control over process design, implementation, and compliance across the organization. All decisions are made centrally, ensuring consistency and standardization.</a:t>
            </a:r>
          </a:p>
          <a:p>
            <a:endParaRPr lang="en-IN" sz="1600">
              <a:solidFill>
                <a:schemeClr val="bg1"/>
              </a:solidFill>
              <a:latin typeface="EYInterstate" panose="02000503020000020004" pitchFamily="2" charset="0"/>
            </a:endParaRPr>
          </a:p>
          <a:p>
            <a:endParaRPr lang="en-IN" sz="1600" b="1">
              <a:solidFill>
                <a:schemeClr val="bg1"/>
              </a:solidFill>
              <a:latin typeface="EYInterstate" panose="02000503020000020004" pitchFamily="2" charset="0"/>
            </a:endParaRPr>
          </a:p>
          <a:p>
            <a:pPr lvl="1"/>
            <a:endParaRPr lang="en-IN" sz="1600">
              <a:solidFill>
                <a:schemeClr val="bg1"/>
              </a:solidFill>
              <a:latin typeface="EYInterstate" panose="02000503020000020004" pitchFamily="2" charset="0"/>
            </a:endParaRPr>
          </a:p>
        </p:txBody>
      </p:sp>
      <p:sp>
        <p:nvSpPr>
          <p:cNvPr id="13" name="TextBox 12">
            <a:extLst>
              <a:ext uri="{FF2B5EF4-FFF2-40B4-BE49-F238E27FC236}">
                <a16:creationId xmlns:a16="http://schemas.microsoft.com/office/drawing/2014/main" id="{0362C110-865C-FF33-D994-049990D70F6E}"/>
              </a:ext>
            </a:extLst>
          </p:cNvPr>
          <p:cNvSpPr txBox="1"/>
          <p:nvPr/>
        </p:nvSpPr>
        <p:spPr>
          <a:xfrm rot="16200000">
            <a:off x="-576194" y="2310980"/>
            <a:ext cx="2045260" cy="606752"/>
          </a:xfrm>
          <a:prstGeom prst="rect">
            <a:avLst/>
          </a:prstGeom>
          <a:solidFill>
            <a:srgbClr val="FFE600"/>
          </a:solidFill>
        </p:spPr>
        <p:txBody>
          <a:bodyPr wrap="square" lIns="71963" tIns="71963" rIns="71963" bIns="71963" rtlCol="0" anchor="ctr">
            <a:noAutofit/>
          </a:bodyPr>
          <a:lstStyle/>
          <a:p>
            <a:pPr marL="0" marR="0" lvl="0" indent="0" algn="ctr" defTabSz="1018665" rtl="0" eaLnBrk="1" fontAlgn="base" latinLnBrk="0" hangingPunct="1">
              <a:lnSpc>
                <a:spcPts val="1199"/>
              </a:lnSpc>
              <a:spcBef>
                <a:spcPts val="0"/>
              </a:spcBef>
              <a:spcAft>
                <a:spcPts val="600"/>
              </a:spcAft>
              <a:buClr>
                <a:prstClr val="white"/>
              </a:buClr>
              <a:buSzPct val="70000"/>
              <a:buFontTx/>
              <a:buNone/>
              <a:tabLst/>
              <a:defRPr/>
            </a:pPr>
            <a:r>
              <a:rPr kumimoji="0" lang="en-US" sz="1599" b="1" i="0" u="none" strike="noStrike" kern="1200" cap="none" spc="0" normalizeH="0" baseline="0" noProof="0">
                <a:ln>
                  <a:noFill/>
                </a:ln>
                <a:solidFill>
                  <a:srgbClr val="2E2E38"/>
                </a:solidFill>
                <a:effectLst/>
                <a:uLnTx/>
                <a:uFillTx/>
                <a:latin typeface="EYInterstate"/>
                <a:ea typeface="+mn-ea"/>
                <a:cs typeface="+mn-cs"/>
              </a:rPr>
              <a:t>Centralized Model</a:t>
            </a:r>
          </a:p>
        </p:txBody>
      </p:sp>
      <p:sp>
        <p:nvSpPr>
          <p:cNvPr id="14" name="TextBox 13">
            <a:extLst>
              <a:ext uri="{FF2B5EF4-FFF2-40B4-BE49-F238E27FC236}">
                <a16:creationId xmlns:a16="http://schemas.microsoft.com/office/drawing/2014/main" id="{D5DD037E-7DB4-4541-0F0F-B11424009C71}"/>
              </a:ext>
            </a:extLst>
          </p:cNvPr>
          <p:cNvSpPr txBox="1"/>
          <p:nvPr/>
        </p:nvSpPr>
        <p:spPr>
          <a:xfrm rot="16200000">
            <a:off x="-576194" y="5014083"/>
            <a:ext cx="2045260" cy="606752"/>
          </a:xfrm>
          <a:prstGeom prst="rect">
            <a:avLst/>
          </a:prstGeom>
          <a:solidFill>
            <a:srgbClr val="FFE600"/>
          </a:solidFill>
        </p:spPr>
        <p:txBody>
          <a:bodyPr wrap="square" lIns="71963" tIns="71963" rIns="71963" bIns="71963" rtlCol="0" anchor="ctr">
            <a:noAutofit/>
          </a:bodyPr>
          <a:lstStyle/>
          <a:p>
            <a:pPr lvl="0" algn="ctr" defTabSz="1018665" fontAlgn="base">
              <a:lnSpc>
                <a:spcPts val="1199"/>
              </a:lnSpc>
              <a:spcAft>
                <a:spcPts val="600"/>
              </a:spcAft>
              <a:buClr>
                <a:prstClr val="white"/>
              </a:buClr>
              <a:buSzPct val="70000"/>
              <a:defRPr/>
            </a:pPr>
            <a:r>
              <a:rPr lang="en-IN" sz="1600" b="1"/>
              <a:t>Federated Model</a:t>
            </a:r>
            <a:endParaRPr kumimoji="0" lang="en-US" sz="1599" b="1" i="0" u="none" strike="noStrike" kern="1200" cap="none" spc="0" normalizeH="0" baseline="0" noProof="0">
              <a:ln>
                <a:noFill/>
              </a:ln>
              <a:solidFill>
                <a:srgbClr val="2E2E38"/>
              </a:solidFill>
              <a:effectLst/>
              <a:uLnTx/>
              <a:uFillTx/>
              <a:latin typeface="EYInterstate"/>
              <a:ea typeface="+mn-ea"/>
              <a:cs typeface="+mn-cs"/>
            </a:endParaRPr>
          </a:p>
        </p:txBody>
      </p:sp>
      <p:graphicFrame>
        <p:nvGraphicFramePr>
          <p:cNvPr id="15" name="Diagram 14">
            <a:extLst>
              <a:ext uri="{FF2B5EF4-FFF2-40B4-BE49-F238E27FC236}">
                <a16:creationId xmlns:a16="http://schemas.microsoft.com/office/drawing/2014/main" id="{F98C6C2F-73BD-3669-7186-6F071F6A9758}"/>
              </a:ext>
            </a:extLst>
          </p:cNvPr>
          <p:cNvGraphicFramePr/>
          <p:nvPr>
            <p:extLst>
              <p:ext uri="{D42A27DB-BD31-4B8C-83A1-F6EECF244321}">
                <p14:modId xmlns:p14="http://schemas.microsoft.com/office/powerpoint/2010/main" val="1385396880"/>
              </p:ext>
            </p:extLst>
          </p:nvPr>
        </p:nvGraphicFramePr>
        <p:xfrm>
          <a:off x="7442633" y="1170692"/>
          <a:ext cx="4282169" cy="266951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16" name="Diagram 15">
            <a:extLst>
              <a:ext uri="{FF2B5EF4-FFF2-40B4-BE49-F238E27FC236}">
                <a16:creationId xmlns:a16="http://schemas.microsoft.com/office/drawing/2014/main" id="{FDB42996-60E0-45D7-20C4-AEC0F39BA95F}"/>
              </a:ext>
            </a:extLst>
          </p:cNvPr>
          <p:cNvGraphicFramePr/>
          <p:nvPr>
            <p:extLst>
              <p:ext uri="{D42A27DB-BD31-4B8C-83A1-F6EECF244321}">
                <p14:modId xmlns:p14="http://schemas.microsoft.com/office/powerpoint/2010/main" val="622643389"/>
              </p:ext>
            </p:extLst>
          </p:nvPr>
        </p:nvGraphicFramePr>
        <p:xfrm>
          <a:off x="7442632" y="3728053"/>
          <a:ext cx="4282169" cy="2669511"/>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17" name="TextBox 16">
            <a:extLst>
              <a:ext uri="{FF2B5EF4-FFF2-40B4-BE49-F238E27FC236}">
                <a16:creationId xmlns:a16="http://schemas.microsoft.com/office/drawing/2014/main" id="{540DAC95-2F65-0C91-3E9A-33951F20A91B}"/>
              </a:ext>
            </a:extLst>
          </p:cNvPr>
          <p:cNvSpPr txBox="1"/>
          <p:nvPr/>
        </p:nvSpPr>
        <p:spPr>
          <a:xfrm>
            <a:off x="4600644" y="1670706"/>
            <a:ext cx="2797780" cy="1077218"/>
          </a:xfrm>
          <a:prstGeom prst="rect">
            <a:avLst/>
          </a:prstGeom>
          <a:noFill/>
        </p:spPr>
        <p:txBody>
          <a:bodyPr wrap="square" rtlCol="0">
            <a:spAutoFit/>
          </a:bodyPr>
          <a:lstStyle/>
          <a:p>
            <a:r>
              <a:rPr lang="en-IN" sz="1600" b="1" u="sng">
                <a:solidFill>
                  <a:schemeClr val="bg1"/>
                </a:solidFill>
                <a:latin typeface="EYInterstate" panose="02000503020000020004" pitchFamily="2" charset="0"/>
              </a:rPr>
              <a:t>Key Features</a:t>
            </a:r>
          </a:p>
          <a:p>
            <a:pPr marL="285750" indent="-285750">
              <a:buFont typeface="Wingdings" panose="05000000000000000000" pitchFamily="2" charset="2"/>
              <a:buChar char="Ø"/>
            </a:pPr>
            <a:r>
              <a:rPr lang="en-IN" sz="1600" b="1">
                <a:solidFill>
                  <a:schemeClr val="bg1"/>
                </a:solidFill>
                <a:latin typeface="EYInterstate" panose="02000503020000020004" pitchFamily="2" charset="0"/>
              </a:rPr>
              <a:t>Unified Decision-Making</a:t>
            </a:r>
            <a:endParaRPr lang="en-IN" sz="1600">
              <a:solidFill>
                <a:schemeClr val="bg1"/>
              </a:solidFill>
              <a:latin typeface="EYInterstate" panose="02000503020000020004" pitchFamily="2" charset="0"/>
            </a:endParaRPr>
          </a:p>
          <a:p>
            <a:pPr marL="285750" indent="-285750">
              <a:buFont typeface="Wingdings" panose="05000000000000000000" pitchFamily="2" charset="2"/>
              <a:buChar char="Ø"/>
            </a:pPr>
            <a:r>
              <a:rPr lang="en-IN" sz="1600" b="1">
                <a:solidFill>
                  <a:schemeClr val="bg1"/>
                </a:solidFill>
                <a:latin typeface="EYInterstate" panose="02000503020000020004" pitchFamily="2" charset="0"/>
              </a:rPr>
              <a:t>Standardization</a:t>
            </a:r>
            <a:endParaRPr lang="en-IN" sz="1600">
              <a:solidFill>
                <a:schemeClr val="bg1"/>
              </a:solidFill>
              <a:latin typeface="EYInterstate" panose="02000503020000020004" pitchFamily="2" charset="0"/>
            </a:endParaRPr>
          </a:p>
          <a:p>
            <a:pPr marL="285750" indent="-285750">
              <a:buFont typeface="Wingdings" panose="05000000000000000000" pitchFamily="2" charset="2"/>
              <a:buChar char="Ø"/>
            </a:pPr>
            <a:r>
              <a:rPr lang="en-IN" sz="1600" b="1">
                <a:solidFill>
                  <a:schemeClr val="bg1"/>
                </a:solidFill>
                <a:latin typeface="EYInterstate" panose="02000503020000020004" pitchFamily="2" charset="0"/>
              </a:rPr>
              <a:t>Centralized Oversight</a:t>
            </a:r>
            <a:endParaRPr lang="en-IN" sz="1600">
              <a:solidFill>
                <a:schemeClr val="bg1"/>
              </a:solidFill>
              <a:latin typeface="EYInterstate" panose="02000503020000020004" pitchFamily="2" charset="0"/>
            </a:endParaRPr>
          </a:p>
        </p:txBody>
      </p:sp>
      <p:sp>
        <p:nvSpPr>
          <p:cNvPr id="18" name="TextBox 17">
            <a:extLst>
              <a:ext uri="{FF2B5EF4-FFF2-40B4-BE49-F238E27FC236}">
                <a16:creationId xmlns:a16="http://schemas.microsoft.com/office/drawing/2014/main" id="{BD707BF3-D5B3-A883-C0B4-6429706D57A5}"/>
              </a:ext>
            </a:extLst>
          </p:cNvPr>
          <p:cNvSpPr txBox="1"/>
          <p:nvPr/>
        </p:nvSpPr>
        <p:spPr>
          <a:xfrm>
            <a:off x="938598" y="4294829"/>
            <a:ext cx="3229140" cy="2308324"/>
          </a:xfrm>
          <a:prstGeom prst="rect">
            <a:avLst/>
          </a:prstGeom>
          <a:noFill/>
        </p:spPr>
        <p:txBody>
          <a:bodyPr wrap="square" rtlCol="0">
            <a:spAutoFit/>
          </a:bodyPr>
          <a:lstStyle/>
          <a:p>
            <a:r>
              <a:rPr lang="en-IN" sz="1600">
                <a:solidFill>
                  <a:schemeClr val="bg1"/>
                </a:solidFill>
                <a:latin typeface="EYInterstate" panose="02000503020000020004" pitchFamily="2" charset="0"/>
              </a:rPr>
              <a:t>The GPO provides overarching guidelines and frameworks, while local process owners (LPOs) have the autonomy to adapt processes to their specific needs. Decision-making is distributed across the organization.</a:t>
            </a:r>
            <a:endParaRPr lang="en-IN" sz="1600" b="1">
              <a:solidFill>
                <a:schemeClr val="bg1"/>
              </a:solidFill>
              <a:latin typeface="EYInterstate" panose="02000503020000020004" pitchFamily="2" charset="0"/>
            </a:endParaRPr>
          </a:p>
          <a:p>
            <a:pPr lvl="1"/>
            <a:endParaRPr lang="en-IN" sz="1600">
              <a:solidFill>
                <a:schemeClr val="bg1"/>
              </a:solidFill>
              <a:latin typeface="EYInterstate" panose="02000503020000020004" pitchFamily="2" charset="0"/>
            </a:endParaRPr>
          </a:p>
        </p:txBody>
      </p:sp>
      <p:sp>
        <p:nvSpPr>
          <p:cNvPr id="19" name="TextBox 18">
            <a:extLst>
              <a:ext uri="{FF2B5EF4-FFF2-40B4-BE49-F238E27FC236}">
                <a16:creationId xmlns:a16="http://schemas.microsoft.com/office/drawing/2014/main" id="{84A8CC79-F18E-8C1C-4A49-41E73A05FFA0}"/>
              </a:ext>
            </a:extLst>
          </p:cNvPr>
          <p:cNvSpPr txBox="1"/>
          <p:nvPr/>
        </p:nvSpPr>
        <p:spPr>
          <a:xfrm>
            <a:off x="4600644" y="4328759"/>
            <a:ext cx="2797780" cy="1077218"/>
          </a:xfrm>
          <a:prstGeom prst="rect">
            <a:avLst/>
          </a:prstGeom>
          <a:noFill/>
        </p:spPr>
        <p:txBody>
          <a:bodyPr wrap="square" rtlCol="0">
            <a:spAutoFit/>
          </a:bodyPr>
          <a:lstStyle/>
          <a:p>
            <a:r>
              <a:rPr lang="en-IN" sz="1600" b="1" u="sng">
                <a:solidFill>
                  <a:schemeClr val="bg1"/>
                </a:solidFill>
                <a:latin typeface="EYInterstate" panose="02000503020000020004" pitchFamily="2" charset="0"/>
              </a:rPr>
              <a:t>Key Features</a:t>
            </a:r>
          </a:p>
          <a:p>
            <a:pPr marL="285750" indent="-285750">
              <a:buFont typeface="Wingdings" panose="05000000000000000000" pitchFamily="2" charset="2"/>
              <a:buChar char="Ø"/>
            </a:pPr>
            <a:r>
              <a:rPr lang="en-IN" sz="1600" b="1">
                <a:solidFill>
                  <a:schemeClr val="bg1"/>
                </a:solidFill>
                <a:latin typeface="EYInterstate" panose="02000503020000020004" pitchFamily="2" charset="0"/>
              </a:rPr>
              <a:t>Shared Authority</a:t>
            </a:r>
            <a:endParaRPr lang="en-IN" sz="1600">
              <a:solidFill>
                <a:schemeClr val="bg1"/>
              </a:solidFill>
              <a:latin typeface="EYInterstate" panose="02000503020000020004" pitchFamily="2" charset="0"/>
            </a:endParaRPr>
          </a:p>
          <a:p>
            <a:pPr marL="285750" indent="-285750">
              <a:buFont typeface="Wingdings" panose="05000000000000000000" pitchFamily="2" charset="2"/>
              <a:buChar char="Ø"/>
            </a:pPr>
            <a:r>
              <a:rPr lang="en-IN" sz="1600" b="1">
                <a:solidFill>
                  <a:schemeClr val="bg1"/>
                </a:solidFill>
                <a:latin typeface="EYInterstate" panose="02000503020000020004" pitchFamily="2" charset="0"/>
              </a:rPr>
              <a:t>Flexibility</a:t>
            </a:r>
          </a:p>
          <a:p>
            <a:pPr marL="285750" indent="-285750">
              <a:buFont typeface="Wingdings" panose="05000000000000000000" pitchFamily="2" charset="2"/>
              <a:buChar char="Ø"/>
            </a:pPr>
            <a:r>
              <a:rPr lang="en-IN" sz="1600">
                <a:solidFill>
                  <a:schemeClr val="bg1"/>
                </a:solidFill>
                <a:latin typeface="EYInterstate" panose="02000503020000020004" pitchFamily="2" charset="0"/>
              </a:rPr>
              <a:t>Collaborative Oversight</a:t>
            </a:r>
          </a:p>
        </p:txBody>
      </p:sp>
      <p:cxnSp>
        <p:nvCxnSpPr>
          <p:cNvPr id="21" name="Straight Connector 20">
            <a:extLst>
              <a:ext uri="{FF2B5EF4-FFF2-40B4-BE49-F238E27FC236}">
                <a16:creationId xmlns:a16="http://schemas.microsoft.com/office/drawing/2014/main" id="{D5B45F31-07B7-0EF9-CAAD-8A9498E51287}"/>
              </a:ext>
            </a:extLst>
          </p:cNvPr>
          <p:cNvCxnSpPr>
            <a:cxnSpLocks/>
          </p:cNvCxnSpPr>
          <p:nvPr/>
        </p:nvCxnSpPr>
        <p:spPr>
          <a:xfrm flipV="1">
            <a:off x="4292868" y="1670706"/>
            <a:ext cx="0" cy="1846686"/>
          </a:xfrm>
          <a:prstGeom prst="line">
            <a:avLst/>
          </a:prstGeom>
          <a:ln w="19050" cap="flat" cmpd="sng" algn="ctr">
            <a:solidFill>
              <a:srgbClr val="FFE6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23" name="Straight Connector 22">
            <a:extLst>
              <a:ext uri="{FF2B5EF4-FFF2-40B4-BE49-F238E27FC236}">
                <a16:creationId xmlns:a16="http://schemas.microsoft.com/office/drawing/2014/main" id="{2443711F-D3FC-EA65-FD2D-0A8A52AE4604}"/>
              </a:ext>
            </a:extLst>
          </p:cNvPr>
          <p:cNvCxnSpPr>
            <a:cxnSpLocks/>
          </p:cNvCxnSpPr>
          <p:nvPr/>
        </p:nvCxnSpPr>
        <p:spPr>
          <a:xfrm flipV="1">
            <a:off x="4292868" y="4371574"/>
            <a:ext cx="0" cy="2068805"/>
          </a:xfrm>
          <a:prstGeom prst="line">
            <a:avLst/>
          </a:prstGeom>
          <a:ln w="19050" cap="flat" cmpd="sng" algn="ctr">
            <a:solidFill>
              <a:srgbClr val="FFE6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56696796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1D2DAF-D7C7-D2AB-F722-E01CDD12BF19}"/>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F0A2BA1D-5960-96FE-2E59-7EE9287687D0}"/>
              </a:ext>
            </a:extLst>
          </p:cNvPr>
          <p:cNvSpPr>
            <a:spLocks noGrp="1"/>
          </p:cNvSpPr>
          <p:nvPr>
            <p:ph type="sldNum" sz="quarter" idx="12"/>
          </p:nvPr>
        </p:nvSpPr>
        <p:spPr/>
        <p:txBody>
          <a:bodyPr/>
          <a:lstStyle/>
          <a:p>
            <a:r>
              <a:rPr lang="en-US" noProof="0"/>
              <a:t>Page </a:t>
            </a:r>
            <a:fld id="{F1BC30E3-FFE5-4B91-AA19-87A149EBB9EE}" type="slidenum">
              <a:rPr lang="en-US" noProof="0" smtClean="0"/>
              <a:pPr/>
              <a:t>70</a:t>
            </a:fld>
            <a:endParaRPr lang="en-US" noProof="0"/>
          </a:p>
        </p:txBody>
      </p:sp>
      <p:sp>
        <p:nvSpPr>
          <p:cNvPr id="4" name="Footer Placeholder 3">
            <a:extLst>
              <a:ext uri="{FF2B5EF4-FFF2-40B4-BE49-F238E27FC236}">
                <a16:creationId xmlns:a16="http://schemas.microsoft.com/office/drawing/2014/main" id="{ACD2631C-AF91-E60C-74C2-767D9FC11A4F}"/>
              </a:ext>
            </a:extLst>
          </p:cNvPr>
          <p:cNvSpPr>
            <a:spLocks noGrp="1"/>
          </p:cNvSpPr>
          <p:nvPr>
            <p:ph type="ftr" sz="quarter" idx="4294967295"/>
          </p:nvPr>
        </p:nvSpPr>
        <p:spPr>
          <a:xfrm>
            <a:off x="0" y="6470650"/>
            <a:ext cx="3084513" cy="180975"/>
          </a:xfrm>
          <a:prstGeom prst="rect">
            <a:avLst/>
          </a:prstGeom>
        </p:spPr>
        <p:txBody>
          <a:bodyPr/>
          <a:lstStyle/>
          <a:p>
            <a:r>
              <a:rPr lang="en-US" noProof="0"/>
              <a:t>Presentation title</a:t>
            </a:r>
          </a:p>
        </p:txBody>
      </p:sp>
      <p:graphicFrame>
        <p:nvGraphicFramePr>
          <p:cNvPr id="48" name="Diagram 47">
            <a:extLst>
              <a:ext uri="{FF2B5EF4-FFF2-40B4-BE49-F238E27FC236}">
                <a16:creationId xmlns:a16="http://schemas.microsoft.com/office/drawing/2014/main" id="{D346141E-1CD2-A8DD-0DDC-7D91D8333D1F}"/>
              </a:ext>
            </a:extLst>
          </p:cNvPr>
          <p:cNvGraphicFramePr/>
          <p:nvPr/>
        </p:nvGraphicFramePr>
        <p:xfrm>
          <a:off x="1730227" y="5508583"/>
          <a:ext cx="8198528" cy="109622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9" name="Title 1">
            <a:extLst>
              <a:ext uri="{FF2B5EF4-FFF2-40B4-BE49-F238E27FC236}">
                <a16:creationId xmlns:a16="http://schemas.microsoft.com/office/drawing/2014/main" id="{19A47E52-B7F2-CB03-847F-0FF0002D391E}"/>
              </a:ext>
            </a:extLst>
          </p:cNvPr>
          <p:cNvSpPr>
            <a:spLocks noGrp="1"/>
          </p:cNvSpPr>
          <p:nvPr>
            <p:ph type="title"/>
          </p:nvPr>
        </p:nvSpPr>
        <p:spPr>
          <a:xfrm>
            <a:off x="609318" y="507813"/>
            <a:ext cx="10972800" cy="590550"/>
          </a:xfrm>
        </p:spPr>
        <p:txBody>
          <a:bodyPr/>
          <a:lstStyle/>
          <a:p>
            <a:pPr defTabSz="913942">
              <a:spcBef>
                <a:spcPts val="0"/>
              </a:spcBef>
            </a:pPr>
            <a:r>
              <a:rPr lang="en-US" b="1">
                <a:solidFill>
                  <a:srgbClr val="FFE600"/>
                </a:solidFill>
                <a:latin typeface="EY interstate heading"/>
                <a:ea typeface="+mn-ea"/>
                <a:cs typeface="Arial" pitchFamily="34"/>
              </a:rPr>
              <a:t>Record to Report : Target Operating Model (part1)</a:t>
            </a:r>
          </a:p>
        </p:txBody>
      </p:sp>
      <p:sp>
        <p:nvSpPr>
          <p:cNvPr id="51" name="Slide Number Placeholder 4">
            <a:extLst>
              <a:ext uri="{FF2B5EF4-FFF2-40B4-BE49-F238E27FC236}">
                <a16:creationId xmlns:a16="http://schemas.microsoft.com/office/drawing/2014/main" id="{5F8BC66B-706A-7BEE-C99E-E8A0DE6E34BA}"/>
              </a:ext>
            </a:extLst>
          </p:cNvPr>
          <p:cNvSpPr txBox="1">
            <a:spLocks/>
          </p:cNvSpPr>
          <p:nvPr/>
        </p:nvSpPr>
        <p:spPr>
          <a:xfrm>
            <a:off x="616900" y="6471244"/>
            <a:ext cx="662721" cy="180000"/>
          </a:xfrm>
          <a:prstGeom prst="rect">
            <a:avLst/>
          </a:prstGeom>
        </p:spPr>
        <p:txBody>
          <a:bodyPr vert="horz" lIns="0" tIns="0" rIns="0" bIns="0" rtlCol="0" anchor="ctr"/>
          <a:lstStyle>
            <a:defPPr>
              <a:defRPr lang="en-US"/>
            </a:defPPr>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solidFill>
                  <a:srgbClr val="797991"/>
                </a:solidFill>
              </a:rPr>
              <a:t>Page </a:t>
            </a:r>
            <a:fld id="{F1BC30E3-FFE5-4B91-AA19-87A149EBB9EE}" type="slidenum">
              <a:rPr lang="en-US" smtClean="0">
                <a:solidFill>
                  <a:srgbClr val="797991"/>
                </a:solidFill>
              </a:rPr>
              <a:pPr>
                <a:defRPr/>
              </a:pPr>
              <a:t>70</a:t>
            </a:fld>
            <a:endParaRPr lang="en-US">
              <a:solidFill>
                <a:srgbClr val="797991"/>
              </a:solidFill>
            </a:endParaRPr>
          </a:p>
        </p:txBody>
      </p:sp>
      <p:graphicFrame>
        <p:nvGraphicFramePr>
          <p:cNvPr id="52" name="Content Placeholder 7">
            <a:extLst>
              <a:ext uri="{FF2B5EF4-FFF2-40B4-BE49-F238E27FC236}">
                <a16:creationId xmlns:a16="http://schemas.microsoft.com/office/drawing/2014/main" id="{A39FD419-37C2-FDDB-0FA3-AA5CCC856C3C}"/>
              </a:ext>
            </a:extLst>
          </p:cNvPr>
          <p:cNvGraphicFramePr>
            <a:graphicFrameLocks/>
          </p:cNvGraphicFramePr>
          <p:nvPr>
            <p:extLst>
              <p:ext uri="{D42A27DB-BD31-4B8C-83A1-F6EECF244321}">
                <p14:modId xmlns:p14="http://schemas.microsoft.com/office/powerpoint/2010/main" val="3863713450"/>
              </p:ext>
            </p:extLst>
          </p:nvPr>
        </p:nvGraphicFramePr>
        <p:xfrm>
          <a:off x="3892137" y="1359996"/>
          <a:ext cx="4330465" cy="445517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53" name="TextBox 52">
            <a:extLst>
              <a:ext uri="{FF2B5EF4-FFF2-40B4-BE49-F238E27FC236}">
                <a16:creationId xmlns:a16="http://schemas.microsoft.com/office/drawing/2014/main" id="{9FD21FEF-28B3-7DB4-D211-CE2EDB6B8218}"/>
              </a:ext>
            </a:extLst>
          </p:cNvPr>
          <p:cNvSpPr txBox="1"/>
          <p:nvPr/>
        </p:nvSpPr>
        <p:spPr>
          <a:xfrm>
            <a:off x="7228062" y="1020436"/>
            <a:ext cx="3156450" cy="1045895"/>
          </a:xfrm>
          <a:prstGeom prst="rect">
            <a:avLst/>
          </a:prstGeom>
          <a:noFill/>
          <a:ln w="12700" cap="sq">
            <a:noFill/>
            <a:miter lim="800000"/>
          </a:ln>
        </p:spPr>
        <p:txBody>
          <a:bodyPr wrap="square">
            <a:sp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Organizational Structure: </a:t>
            </a:r>
            <a:r>
              <a:rPr kumimoji="0" lang="en-US" sz="1199" b="0" i="0" u="none" strike="noStrike" kern="1200" cap="none" spc="0" normalizeH="0" baseline="0" noProof="0">
                <a:ln>
                  <a:noFill/>
                </a:ln>
                <a:solidFill>
                  <a:prstClr val="white"/>
                </a:solidFill>
                <a:effectLst/>
                <a:uLnTx/>
                <a:uFillTx/>
                <a:latin typeface="EYInterstate"/>
                <a:ea typeface="+mn-ea"/>
                <a:cs typeface="+mn-cs"/>
              </a:rPr>
              <a:t>A clear definition of roles and responsibilities, process ownership, and reporting relationships to ensure accountability and efficiency.</a:t>
            </a:r>
          </a:p>
        </p:txBody>
      </p:sp>
      <p:sp>
        <p:nvSpPr>
          <p:cNvPr id="54" name="TextBox 53">
            <a:extLst>
              <a:ext uri="{FF2B5EF4-FFF2-40B4-BE49-F238E27FC236}">
                <a16:creationId xmlns:a16="http://schemas.microsoft.com/office/drawing/2014/main" id="{61C0B6F0-E2CB-6195-06D6-85E41F442B49}"/>
              </a:ext>
            </a:extLst>
          </p:cNvPr>
          <p:cNvSpPr txBox="1"/>
          <p:nvPr/>
        </p:nvSpPr>
        <p:spPr>
          <a:xfrm>
            <a:off x="8368462" y="2330928"/>
            <a:ext cx="3156450" cy="1045895"/>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Process Design: </a:t>
            </a:r>
            <a:r>
              <a:rPr kumimoji="0" lang="en-US" sz="1199" b="0" i="0" u="none" strike="noStrike" kern="1200" cap="none" spc="0" normalizeH="0" baseline="0" noProof="0">
                <a:ln>
                  <a:noFill/>
                </a:ln>
                <a:solidFill>
                  <a:prstClr val="white"/>
                </a:solidFill>
                <a:effectLst/>
                <a:uLnTx/>
                <a:uFillTx/>
                <a:latin typeface="EYInterstate"/>
                <a:ea typeface="+mn-ea"/>
                <a:cs typeface="+mn-cs"/>
              </a:rPr>
              <a:t>Standardized, streamlined and automated processes for R2R that minimize manual interventions and ensure compliance with accounting standards.</a:t>
            </a:r>
          </a:p>
        </p:txBody>
      </p:sp>
      <p:sp>
        <p:nvSpPr>
          <p:cNvPr id="55" name="TextBox 54">
            <a:extLst>
              <a:ext uri="{FF2B5EF4-FFF2-40B4-BE49-F238E27FC236}">
                <a16:creationId xmlns:a16="http://schemas.microsoft.com/office/drawing/2014/main" id="{0F0C877F-B216-A327-6EDE-0848C013549D}"/>
              </a:ext>
            </a:extLst>
          </p:cNvPr>
          <p:cNvSpPr txBox="1"/>
          <p:nvPr/>
        </p:nvSpPr>
        <p:spPr>
          <a:xfrm>
            <a:off x="8348971" y="4292646"/>
            <a:ext cx="3156450" cy="1230465"/>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Technology Infrastructure: </a:t>
            </a:r>
            <a:r>
              <a:rPr kumimoji="0" lang="en-US" sz="1199" b="0" i="0" u="none" strike="noStrike" kern="1200" cap="none" spc="0" normalizeH="0" baseline="0" noProof="0">
                <a:ln>
                  <a:noFill/>
                </a:ln>
                <a:solidFill>
                  <a:prstClr val="white"/>
                </a:solidFill>
                <a:effectLst/>
                <a:uLnTx/>
                <a:uFillTx/>
                <a:latin typeface="EYInterstate"/>
                <a:ea typeface="+mn-ea"/>
                <a:cs typeface="+mn-cs"/>
              </a:rPr>
              <a:t>Use of modern technologies, such as cloud computing and robotic process automation, to automate manual processes, improve data quality and processing speed, and reduce costs.</a:t>
            </a:r>
          </a:p>
        </p:txBody>
      </p:sp>
      <p:sp>
        <p:nvSpPr>
          <p:cNvPr id="56" name="TextBox 55">
            <a:extLst>
              <a:ext uri="{FF2B5EF4-FFF2-40B4-BE49-F238E27FC236}">
                <a16:creationId xmlns:a16="http://schemas.microsoft.com/office/drawing/2014/main" id="{E861D5BE-E561-429B-C179-75797DDD5282}"/>
              </a:ext>
            </a:extLst>
          </p:cNvPr>
          <p:cNvSpPr txBox="1"/>
          <p:nvPr/>
        </p:nvSpPr>
        <p:spPr>
          <a:xfrm>
            <a:off x="4872501" y="5858576"/>
            <a:ext cx="3156450" cy="861325"/>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Data Management: </a:t>
            </a:r>
            <a:r>
              <a:rPr kumimoji="0" lang="en-US" sz="1199" b="0" i="0" u="none" strike="noStrike" kern="1200" cap="none" spc="0" normalizeH="0" baseline="0" noProof="0">
                <a:ln>
                  <a:noFill/>
                </a:ln>
                <a:solidFill>
                  <a:prstClr val="white"/>
                </a:solidFill>
                <a:effectLst/>
                <a:uLnTx/>
                <a:uFillTx/>
                <a:latin typeface="EYInterstate"/>
                <a:ea typeface="+mn-ea"/>
                <a:cs typeface="+mn-cs"/>
              </a:rPr>
              <a:t>Adoption of an integrated data management strategy to ensure timely, accurate, and consistent data inputs from various sources.</a:t>
            </a:r>
          </a:p>
        </p:txBody>
      </p:sp>
      <p:sp>
        <p:nvSpPr>
          <p:cNvPr id="57" name="TextBox 56">
            <a:extLst>
              <a:ext uri="{FF2B5EF4-FFF2-40B4-BE49-F238E27FC236}">
                <a16:creationId xmlns:a16="http://schemas.microsoft.com/office/drawing/2014/main" id="{29FD3574-EB24-FE80-9C7F-97C7A500B6F9}"/>
              </a:ext>
            </a:extLst>
          </p:cNvPr>
          <p:cNvSpPr txBox="1"/>
          <p:nvPr/>
        </p:nvSpPr>
        <p:spPr>
          <a:xfrm>
            <a:off x="794772" y="4009310"/>
            <a:ext cx="3156450" cy="1045895"/>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Continuous Improvement: </a:t>
            </a:r>
            <a:r>
              <a:rPr kumimoji="0" lang="en-US" sz="1199" b="0" i="0" u="none" strike="noStrike" kern="1200" cap="none" spc="0" normalizeH="0" baseline="0" noProof="0">
                <a:ln>
                  <a:noFill/>
                </a:ln>
                <a:solidFill>
                  <a:prstClr val="white"/>
                </a:solidFill>
                <a:effectLst/>
                <a:uLnTx/>
                <a:uFillTx/>
                <a:latin typeface="EYInterstate"/>
                <a:ea typeface="+mn-ea"/>
                <a:cs typeface="+mn-cs"/>
              </a:rPr>
              <a:t>Regular review and refinement of R2R processes to drive continuous improvement and respond to changes in business needs and regulatory requirements.</a:t>
            </a:r>
          </a:p>
        </p:txBody>
      </p:sp>
      <p:sp>
        <p:nvSpPr>
          <p:cNvPr id="58" name="TextBox 57">
            <a:extLst>
              <a:ext uri="{FF2B5EF4-FFF2-40B4-BE49-F238E27FC236}">
                <a16:creationId xmlns:a16="http://schemas.microsoft.com/office/drawing/2014/main" id="{07EB3FBB-61EC-6AEE-2263-EFEB0BEEF266}"/>
              </a:ext>
            </a:extLst>
          </p:cNvPr>
          <p:cNvSpPr txBox="1"/>
          <p:nvPr/>
        </p:nvSpPr>
        <p:spPr>
          <a:xfrm>
            <a:off x="609318" y="1623410"/>
            <a:ext cx="3156450" cy="1230465"/>
          </a:xfrm>
          <a:prstGeom prst="rect">
            <a:avLst/>
          </a:prstGeom>
          <a:noFill/>
          <a:ln w="12700" cap="sq">
            <a:noFill/>
            <a:miter lim="800000"/>
          </a:ln>
        </p:spPr>
        <p:txBody>
          <a:bodyPr wrap="square">
            <a:spAutoFit/>
          </a:bodyPr>
          <a:lstStyle>
            <a:defPPr>
              <a:defRPr lang="en-US"/>
            </a:defPPr>
            <a:lvl1pPr lvl="0">
              <a:tabLst>
                <a:tab pos="457200" algn="l"/>
              </a:tabLst>
              <a:defRPr sz="1400">
                <a:solidFill>
                  <a:schemeClr val="tx2"/>
                </a:solidFill>
                <a:effectLst/>
                <a:latin typeface="+mj-lt"/>
              </a:defRPr>
            </a:lvl1p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Governance and Control: </a:t>
            </a:r>
            <a:r>
              <a:rPr kumimoji="0" lang="en-US" sz="1199" b="0" i="0" u="none" strike="noStrike" kern="1200" cap="none" spc="0" normalizeH="0" baseline="0" noProof="0">
                <a:ln>
                  <a:noFill/>
                </a:ln>
                <a:solidFill>
                  <a:prstClr val="white"/>
                </a:solidFill>
                <a:effectLst/>
                <a:uLnTx/>
                <a:uFillTx/>
                <a:latin typeface="EYInterstate"/>
                <a:ea typeface="+mn-ea"/>
                <a:cs typeface="+mn-cs"/>
              </a:rPr>
              <a:t>Establishment of robust internal controls and governance frameworks to ensure the integrity and reliability of financial information and compliance with regulatory requirements.</a:t>
            </a:r>
          </a:p>
        </p:txBody>
      </p:sp>
      <p:cxnSp>
        <p:nvCxnSpPr>
          <p:cNvPr id="59" name="Connector: Elbow 58">
            <a:extLst>
              <a:ext uri="{FF2B5EF4-FFF2-40B4-BE49-F238E27FC236}">
                <a16:creationId xmlns:a16="http://schemas.microsoft.com/office/drawing/2014/main" id="{892DE9FA-C007-A6C0-7D99-E8EA7D478FFD}"/>
              </a:ext>
            </a:extLst>
          </p:cNvPr>
          <p:cNvCxnSpPr>
            <a:cxnSpLocks/>
          </p:cNvCxnSpPr>
          <p:nvPr/>
        </p:nvCxnSpPr>
        <p:spPr>
          <a:xfrm>
            <a:off x="794772" y="1585895"/>
            <a:ext cx="3097365" cy="1267981"/>
          </a:xfrm>
          <a:prstGeom prst="bentConnector3">
            <a:avLst>
              <a:gd name="adj1" fmla="val 94117"/>
            </a:avLst>
          </a:prstGeom>
          <a:noFill/>
          <a:ln w="12700" cap="sq" cmpd="sng" algn="ctr">
            <a:solidFill>
              <a:srgbClr val="D2D2DA"/>
            </a:solidFill>
            <a:prstDash val="sysDot"/>
            <a:miter lim="800000"/>
            <a:tailEnd type="triangle"/>
          </a:ln>
          <a:effectLst/>
        </p:spPr>
      </p:cxnSp>
      <p:cxnSp>
        <p:nvCxnSpPr>
          <p:cNvPr id="60" name="Connector: Elbow 59">
            <a:extLst>
              <a:ext uri="{FF2B5EF4-FFF2-40B4-BE49-F238E27FC236}">
                <a16:creationId xmlns:a16="http://schemas.microsoft.com/office/drawing/2014/main" id="{6EDCFA82-A07E-8996-B043-76579FC08A5A}"/>
              </a:ext>
            </a:extLst>
          </p:cNvPr>
          <p:cNvCxnSpPr>
            <a:cxnSpLocks/>
          </p:cNvCxnSpPr>
          <p:nvPr/>
        </p:nvCxnSpPr>
        <p:spPr>
          <a:xfrm>
            <a:off x="967019" y="3966609"/>
            <a:ext cx="3185778" cy="829831"/>
          </a:xfrm>
          <a:prstGeom prst="bentConnector3">
            <a:avLst>
              <a:gd name="adj1" fmla="val 92335"/>
            </a:avLst>
          </a:prstGeom>
          <a:noFill/>
          <a:ln w="12700" cap="sq" cmpd="sng" algn="ctr">
            <a:solidFill>
              <a:srgbClr val="D2D2DA"/>
            </a:solidFill>
            <a:prstDash val="sysDot"/>
            <a:miter lim="800000"/>
            <a:tailEnd type="triangle"/>
          </a:ln>
          <a:effectLst/>
        </p:spPr>
      </p:cxnSp>
      <p:cxnSp>
        <p:nvCxnSpPr>
          <p:cNvPr id="61" name="Connector: Elbow 60">
            <a:extLst>
              <a:ext uri="{FF2B5EF4-FFF2-40B4-BE49-F238E27FC236}">
                <a16:creationId xmlns:a16="http://schemas.microsoft.com/office/drawing/2014/main" id="{52257438-24A6-312F-4F10-CBB15CB481F7}"/>
              </a:ext>
            </a:extLst>
          </p:cNvPr>
          <p:cNvCxnSpPr>
            <a:cxnSpLocks/>
          </p:cNvCxnSpPr>
          <p:nvPr/>
        </p:nvCxnSpPr>
        <p:spPr>
          <a:xfrm rot="10800000" flipV="1">
            <a:off x="8222603" y="2354725"/>
            <a:ext cx="3175743" cy="421255"/>
          </a:xfrm>
          <a:prstGeom prst="bentConnector3">
            <a:avLst>
              <a:gd name="adj1" fmla="val 96101"/>
            </a:avLst>
          </a:prstGeom>
          <a:noFill/>
          <a:ln w="12700" cap="sq" cmpd="sng" algn="ctr">
            <a:solidFill>
              <a:srgbClr val="D2D2DA"/>
            </a:solidFill>
            <a:prstDash val="sysDot"/>
            <a:miter lim="800000"/>
            <a:tailEnd type="triangle"/>
          </a:ln>
          <a:effectLst/>
        </p:spPr>
      </p:cxnSp>
      <p:cxnSp>
        <p:nvCxnSpPr>
          <p:cNvPr id="62" name="Connector: Elbow 61">
            <a:extLst>
              <a:ext uri="{FF2B5EF4-FFF2-40B4-BE49-F238E27FC236}">
                <a16:creationId xmlns:a16="http://schemas.microsoft.com/office/drawing/2014/main" id="{148442B0-A9D3-0944-A8B8-8F31803D2C35}"/>
              </a:ext>
            </a:extLst>
          </p:cNvPr>
          <p:cNvCxnSpPr>
            <a:cxnSpLocks/>
          </p:cNvCxnSpPr>
          <p:nvPr/>
        </p:nvCxnSpPr>
        <p:spPr>
          <a:xfrm rot="10800000" flipV="1">
            <a:off x="8144224" y="4249237"/>
            <a:ext cx="3175743" cy="421255"/>
          </a:xfrm>
          <a:prstGeom prst="bentConnector3">
            <a:avLst>
              <a:gd name="adj1" fmla="val 96101"/>
            </a:avLst>
          </a:prstGeom>
          <a:noFill/>
          <a:ln w="12700" cap="sq" cmpd="sng" algn="ctr">
            <a:solidFill>
              <a:srgbClr val="D2D2DA"/>
            </a:solidFill>
            <a:prstDash val="sysDot"/>
            <a:miter lim="800000"/>
            <a:tailEnd type="triangle"/>
          </a:ln>
          <a:effectLst/>
        </p:spPr>
      </p:cxnSp>
      <p:cxnSp>
        <p:nvCxnSpPr>
          <p:cNvPr id="63" name="Connector: Elbow 62">
            <a:extLst>
              <a:ext uri="{FF2B5EF4-FFF2-40B4-BE49-F238E27FC236}">
                <a16:creationId xmlns:a16="http://schemas.microsoft.com/office/drawing/2014/main" id="{D1AF6D1E-05DF-F28E-734D-9A8C3F977514}"/>
              </a:ext>
            </a:extLst>
          </p:cNvPr>
          <p:cNvCxnSpPr>
            <a:cxnSpLocks/>
          </p:cNvCxnSpPr>
          <p:nvPr/>
        </p:nvCxnSpPr>
        <p:spPr>
          <a:xfrm rot="10800000" flipV="1">
            <a:off x="6634884" y="955258"/>
            <a:ext cx="3749628" cy="766067"/>
          </a:xfrm>
          <a:prstGeom prst="bentConnector3">
            <a:avLst>
              <a:gd name="adj1" fmla="val 84549"/>
            </a:avLst>
          </a:prstGeom>
          <a:noFill/>
          <a:ln w="12700" cap="sq" cmpd="sng" algn="ctr">
            <a:solidFill>
              <a:srgbClr val="D2D2DA"/>
            </a:solidFill>
            <a:prstDash val="sysDot"/>
            <a:miter lim="800000"/>
            <a:tailEnd type="triangle"/>
          </a:ln>
          <a:effectLst/>
        </p:spPr>
      </p:cxnSp>
      <p:cxnSp>
        <p:nvCxnSpPr>
          <p:cNvPr id="64" name="Connector: Elbow 63">
            <a:extLst>
              <a:ext uri="{FF2B5EF4-FFF2-40B4-BE49-F238E27FC236}">
                <a16:creationId xmlns:a16="http://schemas.microsoft.com/office/drawing/2014/main" id="{5199A721-6E72-7A4D-E6CE-0D804E39F160}"/>
              </a:ext>
            </a:extLst>
          </p:cNvPr>
          <p:cNvCxnSpPr>
            <a:cxnSpLocks/>
          </p:cNvCxnSpPr>
          <p:nvPr/>
        </p:nvCxnSpPr>
        <p:spPr>
          <a:xfrm rot="10800000">
            <a:off x="5520236" y="5626245"/>
            <a:ext cx="2384068" cy="255039"/>
          </a:xfrm>
          <a:prstGeom prst="bentConnector3">
            <a:avLst>
              <a:gd name="adj1" fmla="val 131135"/>
            </a:avLst>
          </a:prstGeom>
          <a:noFill/>
          <a:ln w="12700" cap="sq" cmpd="sng" algn="ctr">
            <a:solidFill>
              <a:srgbClr val="D2D2DA"/>
            </a:solidFill>
            <a:prstDash val="sysDot"/>
            <a:miter lim="800000"/>
            <a:tailEnd type="triangle"/>
          </a:ln>
          <a:effectLst/>
        </p:spPr>
      </p:cxnSp>
    </p:spTree>
    <p:extLst>
      <p:ext uri="{BB962C8B-B14F-4D97-AF65-F5344CB8AC3E}">
        <p14:creationId xmlns:p14="http://schemas.microsoft.com/office/powerpoint/2010/main" val="114224263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10FDD9-126E-D464-0FF6-9621C7AADFB2}"/>
            </a:ext>
          </a:extLst>
        </p:cNvPr>
        <p:cNvGrpSpPr/>
        <p:nvPr/>
      </p:nvGrpSpPr>
      <p:grpSpPr>
        <a:xfrm>
          <a:off x="0" y="0"/>
          <a:ext cx="0" cy="0"/>
          <a:chOff x="0" y="0"/>
          <a:chExt cx="0" cy="0"/>
        </a:xfrm>
      </p:grpSpPr>
      <p:sp>
        <p:nvSpPr>
          <p:cNvPr id="4" name="Footer Placeholder 3">
            <a:extLst>
              <a:ext uri="{FF2B5EF4-FFF2-40B4-BE49-F238E27FC236}">
                <a16:creationId xmlns:a16="http://schemas.microsoft.com/office/drawing/2014/main" id="{A3AA4BFC-20C4-1D12-7440-BFAC34D66504}"/>
              </a:ext>
            </a:extLst>
          </p:cNvPr>
          <p:cNvSpPr>
            <a:spLocks noGrp="1"/>
          </p:cNvSpPr>
          <p:nvPr>
            <p:ph type="ftr" sz="quarter" idx="4294967295"/>
          </p:nvPr>
        </p:nvSpPr>
        <p:spPr>
          <a:xfrm>
            <a:off x="0" y="6470650"/>
            <a:ext cx="3084513" cy="180975"/>
          </a:xfrm>
          <a:prstGeom prst="rect">
            <a:avLst/>
          </a:prstGeom>
        </p:spPr>
        <p:txBody>
          <a:bodyPr/>
          <a:lstStyle/>
          <a:p>
            <a:r>
              <a:rPr lang="en-US" noProof="0"/>
              <a:t>Presentation title</a:t>
            </a:r>
          </a:p>
        </p:txBody>
      </p:sp>
      <p:sp>
        <p:nvSpPr>
          <p:cNvPr id="49" name="Title 1">
            <a:extLst>
              <a:ext uri="{FF2B5EF4-FFF2-40B4-BE49-F238E27FC236}">
                <a16:creationId xmlns:a16="http://schemas.microsoft.com/office/drawing/2014/main" id="{9E749DBC-0DD6-FF0A-A5C1-B8934E6AC17B}"/>
              </a:ext>
            </a:extLst>
          </p:cNvPr>
          <p:cNvSpPr>
            <a:spLocks noGrp="1"/>
          </p:cNvSpPr>
          <p:nvPr>
            <p:ph type="title"/>
          </p:nvPr>
        </p:nvSpPr>
        <p:spPr>
          <a:xfrm>
            <a:off x="618744" y="489256"/>
            <a:ext cx="10972800" cy="590550"/>
          </a:xfrm>
        </p:spPr>
        <p:txBody>
          <a:bodyPr vert="horz" lIns="0" tIns="0" rIns="0" bIns="0" rtlCol="0" anchor="t" anchorCtr="0">
            <a:noAutofit/>
          </a:bodyPr>
          <a:lstStyle/>
          <a:p>
            <a:pPr defTabSz="913942">
              <a:spcBef>
                <a:spcPts val="0"/>
              </a:spcBef>
            </a:pPr>
            <a:r>
              <a:rPr lang="en-US" b="1">
                <a:solidFill>
                  <a:srgbClr val="FFE600"/>
                </a:solidFill>
                <a:latin typeface="EY interstate heading"/>
                <a:ea typeface="+mn-ea"/>
                <a:cs typeface="Arial" pitchFamily="34"/>
              </a:rPr>
              <a:t>Record to Report : Target Operating Model (part 2)</a:t>
            </a:r>
          </a:p>
        </p:txBody>
      </p:sp>
      <p:sp>
        <p:nvSpPr>
          <p:cNvPr id="2" name="Rectangle 1">
            <a:extLst>
              <a:ext uri="{FF2B5EF4-FFF2-40B4-BE49-F238E27FC236}">
                <a16:creationId xmlns:a16="http://schemas.microsoft.com/office/drawing/2014/main" id="{A2AA3EFC-5B90-B53A-E229-4A63D67E79BA}"/>
              </a:ext>
            </a:extLst>
          </p:cNvPr>
          <p:cNvSpPr/>
          <p:nvPr/>
        </p:nvSpPr>
        <p:spPr>
          <a:xfrm flipV="1">
            <a:off x="6542699" y="1516041"/>
            <a:ext cx="4516741" cy="4685292"/>
          </a:xfrm>
          <a:prstGeom prst="rect">
            <a:avLst/>
          </a:prstGeom>
          <a:solidFill>
            <a:schemeClr val="bg1">
              <a:lumMod val="85000"/>
              <a:alpha val="25000"/>
            </a:schemeClr>
          </a:solidFill>
          <a:ln w="22225" cap="flat" cmpd="sng" algn="ctr">
            <a:solidFill>
              <a:schemeClr val="bg1">
                <a:lumMod val="85000"/>
              </a:schemeClr>
            </a:solidFill>
            <a:prstDash val="solid"/>
            <a:miter lim="800000"/>
          </a:ln>
          <a:effectLst/>
        </p:spPr>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099" b="0" i="0" u="none" strike="noStrike" kern="0" cap="none" spc="0" normalizeH="0" baseline="0" noProof="0">
              <a:ln>
                <a:noFill/>
              </a:ln>
              <a:solidFill>
                <a:srgbClr val="2E2E38"/>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2B4726B-5310-F83F-C173-BD333729FDD2}"/>
              </a:ext>
            </a:extLst>
          </p:cNvPr>
          <p:cNvSpPr/>
          <p:nvPr/>
        </p:nvSpPr>
        <p:spPr bwMode="auto">
          <a:xfrm>
            <a:off x="541068" y="1125943"/>
            <a:ext cx="5626903" cy="5194671"/>
          </a:xfrm>
          <a:prstGeom prst="rect">
            <a:avLst/>
          </a:prstGeom>
          <a:noFill/>
          <a:ln w="222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1018665" rtl="0" eaLnBrk="1" fontAlgn="base" latinLnBrk="0" hangingPunct="1">
              <a:lnSpc>
                <a:spcPct val="100000"/>
              </a:lnSpc>
              <a:spcBef>
                <a:spcPct val="0"/>
              </a:spcBef>
              <a:spcAft>
                <a:spcPts val="600"/>
              </a:spcAft>
              <a:buClrTx/>
              <a:buSzTx/>
              <a:buFontTx/>
              <a:buNone/>
              <a:tabLst/>
              <a:defRPr/>
            </a:pPr>
            <a:r>
              <a:rPr kumimoji="0" lang="en-US" sz="1799" b="0" i="0" u="none" strike="noStrike" kern="1200" cap="none" spc="0" normalizeH="0" baseline="0" noProof="0">
                <a:ln>
                  <a:noFill/>
                </a:ln>
                <a:solidFill>
                  <a:prstClr val="white"/>
                </a:solidFill>
                <a:effectLst/>
                <a:uLnTx/>
                <a:uFillTx/>
                <a:latin typeface="EYInterstate Light"/>
                <a:ea typeface="+mn-ea"/>
                <a:cs typeface="+mn-cs"/>
              </a:rPr>
              <a:t>Organization structure</a:t>
            </a:r>
          </a:p>
        </p:txBody>
      </p:sp>
      <p:sp>
        <p:nvSpPr>
          <p:cNvPr id="7" name="TextBox 6">
            <a:extLst>
              <a:ext uri="{FF2B5EF4-FFF2-40B4-BE49-F238E27FC236}">
                <a16:creationId xmlns:a16="http://schemas.microsoft.com/office/drawing/2014/main" id="{450262C1-D6F2-D0A6-51F2-4AA67C68D4A9}"/>
              </a:ext>
            </a:extLst>
          </p:cNvPr>
          <p:cNvSpPr txBox="1"/>
          <p:nvPr/>
        </p:nvSpPr>
        <p:spPr>
          <a:xfrm rot="16200000">
            <a:off x="-72985" y="2246934"/>
            <a:ext cx="2045260" cy="606752"/>
          </a:xfrm>
          <a:prstGeom prst="rect">
            <a:avLst/>
          </a:prstGeom>
          <a:solidFill>
            <a:schemeClr val="bg1"/>
          </a:solidFill>
        </p:spPr>
        <p:txBody>
          <a:bodyPr wrap="square" lIns="71963" tIns="71963" rIns="71963" bIns="71963" rtlCol="0" anchor="ctr">
            <a:noAutofit/>
          </a:bodyPr>
          <a:lstStyle/>
          <a:p>
            <a:pPr marL="0" marR="0" lvl="0" indent="0" algn="ctr" defTabSz="1018665" rtl="0" eaLnBrk="1" fontAlgn="base" latinLnBrk="0" hangingPunct="1">
              <a:lnSpc>
                <a:spcPts val="1199"/>
              </a:lnSpc>
              <a:spcBef>
                <a:spcPts val="0"/>
              </a:spcBef>
              <a:spcAft>
                <a:spcPts val="600"/>
              </a:spcAft>
              <a:buClr>
                <a:prstClr val="white"/>
              </a:buClr>
              <a:buSzPct val="70000"/>
              <a:buFontTx/>
              <a:buNone/>
              <a:tabLst/>
              <a:defRPr/>
            </a:pPr>
            <a:r>
              <a:rPr kumimoji="0" lang="en-US" sz="1599" b="1" i="0" u="none" strike="noStrike" kern="1200" cap="none" spc="0" normalizeH="0" baseline="0" noProof="0">
                <a:ln>
                  <a:noFill/>
                </a:ln>
                <a:solidFill>
                  <a:srgbClr val="2E2E38"/>
                </a:solidFill>
                <a:effectLst/>
                <a:uLnTx/>
                <a:uFillTx/>
                <a:latin typeface="EYInterstate"/>
                <a:ea typeface="+mn-ea"/>
                <a:cs typeface="+mn-cs"/>
              </a:rPr>
              <a:t>Roles</a:t>
            </a:r>
          </a:p>
        </p:txBody>
      </p:sp>
      <p:grpSp>
        <p:nvGrpSpPr>
          <p:cNvPr id="8" name="Group 7">
            <a:extLst>
              <a:ext uri="{FF2B5EF4-FFF2-40B4-BE49-F238E27FC236}">
                <a16:creationId xmlns:a16="http://schemas.microsoft.com/office/drawing/2014/main" id="{362E40B4-1F1C-E296-55EF-254B8B2E63B2}"/>
              </a:ext>
            </a:extLst>
          </p:cNvPr>
          <p:cNvGrpSpPr/>
          <p:nvPr/>
        </p:nvGrpSpPr>
        <p:grpSpPr>
          <a:xfrm>
            <a:off x="1386531" y="1527679"/>
            <a:ext cx="4637499" cy="2045259"/>
            <a:chOff x="5897696" y="3509785"/>
            <a:chExt cx="6181031" cy="341311"/>
          </a:xfrm>
        </p:grpSpPr>
        <p:sp>
          <p:nvSpPr>
            <p:cNvPr id="9" name="Rectangle 8">
              <a:extLst>
                <a:ext uri="{FF2B5EF4-FFF2-40B4-BE49-F238E27FC236}">
                  <a16:creationId xmlns:a16="http://schemas.microsoft.com/office/drawing/2014/main" id="{0112B4DD-57F6-922A-EF4D-7506091F139E}"/>
                </a:ext>
              </a:extLst>
            </p:cNvPr>
            <p:cNvSpPr/>
            <p:nvPr/>
          </p:nvSpPr>
          <p:spPr>
            <a:xfrm flipV="1">
              <a:off x="5897696" y="3509785"/>
              <a:ext cx="6181031" cy="341311"/>
            </a:xfrm>
            <a:prstGeom prst="rect">
              <a:avLst/>
            </a:prstGeom>
            <a:solidFill>
              <a:srgbClr val="FFE600">
                <a:alpha val="25000"/>
              </a:srgbClr>
            </a:solidFill>
            <a:ln w="22225" cap="flat" cmpd="sng" algn="ctr">
              <a:solidFill>
                <a:srgbClr val="FFE600"/>
              </a:solidFill>
              <a:prstDash val="solid"/>
              <a:miter lim="800000"/>
            </a:ln>
            <a:effectLst/>
          </p:spPr>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099" b="0" i="0" u="none" strike="noStrike" kern="0" cap="none" spc="0" normalizeH="0" baseline="0" noProof="0">
                <a:ln>
                  <a:noFill/>
                </a:ln>
                <a:solidFill>
                  <a:srgbClr val="2E2E38"/>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C4A277-D409-1189-1184-EEF226D02E0D}"/>
                </a:ext>
              </a:extLst>
            </p:cNvPr>
            <p:cNvSpPr/>
            <p:nvPr/>
          </p:nvSpPr>
          <p:spPr>
            <a:xfrm>
              <a:off x="6027268" y="3549629"/>
              <a:ext cx="2886869" cy="275588"/>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599" b="0" i="0" u="none" strike="noStrike" kern="1200" cap="none" spc="0" normalizeH="0" baseline="0" noProof="0">
                  <a:ln>
                    <a:noFill/>
                  </a:ln>
                  <a:solidFill>
                    <a:srgbClr val="FFE600"/>
                  </a:solidFill>
                  <a:effectLst/>
                  <a:uLnTx/>
                  <a:uFillTx/>
                  <a:latin typeface="EYInterstate"/>
                  <a:ea typeface="+mn-ea"/>
                  <a:cs typeface="+mn-cs"/>
                </a:rPr>
                <a:t>R2R Team Lead</a:t>
              </a:r>
              <a:endParaRPr kumimoji="0" lang="pl-PL" sz="1599" b="0" i="0" u="none" strike="noStrike" kern="1200" cap="none" spc="0" normalizeH="0" baseline="0" noProof="0">
                <a:ln>
                  <a:noFill/>
                </a:ln>
                <a:solidFill>
                  <a:srgbClr val="FFE600"/>
                </a:solidFill>
                <a:effectLst/>
                <a:uLnTx/>
                <a:uFillTx/>
                <a:latin typeface="EYInterstate"/>
                <a:ea typeface="+mn-ea"/>
                <a:cs typeface="+mn-cs"/>
              </a:endParaRP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A senior finance professional who oversees the entire R2R process, ensuring alignment with corporate goals and regulatory requirements.</a:t>
              </a:r>
            </a:p>
          </p:txBody>
        </p:sp>
        <p:sp>
          <p:nvSpPr>
            <p:cNvPr id="11" name="Rectangle 10">
              <a:extLst>
                <a:ext uri="{FF2B5EF4-FFF2-40B4-BE49-F238E27FC236}">
                  <a16:creationId xmlns:a16="http://schemas.microsoft.com/office/drawing/2014/main" id="{D48E5AC9-4E4A-0CE7-A9F7-A86D777BFDD6}"/>
                </a:ext>
              </a:extLst>
            </p:cNvPr>
            <p:cNvSpPr/>
            <p:nvPr/>
          </p:nvSpPr>
          <p:spPr>
            <a:xfrm>
              <a:off x="9008945" y="3549629"/>
              <a:ext cx="2957951" cy="275588"/>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599" b="0" i="0" u="none" strike="noStrike" kern="1200" cap="none" spc="0" normalizeH="0" baseline="0" noProof="0">
                  <a:ln>
                    <a:noFill/>
                  </a:ln>
                  <a:solidFill>
                    <a:srgbClr val="FFE600"/>
                  </a:solidFill>
                  <a:effectLst/>
                  <a:uLnTx/>
                  <a:uFillTx/>
                  <a:latin typeface="EYInterstate"/>
                  <a:ea typeface="+mn-ea"/>
                  <a:cs typeface="+mn-cs"/>
                </a:rPr>
                <a:t>R2R Specialists</a:t>
              </a:r>
              <a:endParaRPr kumimoji="0" lang="pl-PL" sz="1599" b="0" i="0" u="none" strike="noStrike" kern="1200" cap="none" spc="0" normalizeH="0" baseline="0" noProof="0">
                <a:ln>
                  <a:noFill/>
                </a:ln>
                <a:solidFill>
                  <a:srgbClr val="FFE600"/>
                </a:solidFill>
                <a:effectLst/>
                <a:uLnTx/>
                <a:uFillTx/>
                <a:latin typeface="EYInterstate"/>
                <a:ea typeface="+mn-ea"/>
                <a:cs typeface="+mn-cs"/>
              </a:endParaRP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Dedicated professionals who perform day-to-day R2R tasks, such as data entry, reconciliation, and financial reporting</a:t>
              </a:r>
              <a:r>
                <a:rPr kumimoji="0" lang="en-US" sz="999" b="0" i="0" u="none" strike="noStrike" kern="1200" cap="none" spc="0" normalizeH="0" baseline="0" noProof="0">
                  <a:ln>
                    <a:noFill/>
                  </a:ln>
                  <a:solidFill>
                    <a:prstClr val="white">
                      <a:lumMod val="50000"/>
                    </a:prstClr>
                  </a:solidFill>
                  <a:effectLst/>
                  <a:uLnTx/>
                  <a:uFillTx/>
                  <a:latin typeface="EYInterstate"/>
                  <a:ea typeface="+mn-ea"/>
                  <a:cs typeface="+mn-cs"/>
                </a:rPr>
                <a:t>.</a:t>
              </a:r>
            </a:p>
          </p:txBody>
        </p:sp>
      </p:grpSp>
      <p:sp>
        <p:nvSpPr>
          <p:cNvPr id="12" name="TextBox 11">
            <a:extLst>
              <a:ext uri="{FF2B5EF4-FFF2-40B4-BE49-F238E27FC236}">
                <a16:creationId xmlns:a16="http://schemas.microsoft.com/office/drawing/2014/main" id="{DBBE09B7-F47C-A89B-1CC4-20A71339C58B}"/>
              </a:ext>
            </a:extLst>
          </p:cNvPr>
          <p:cNvSpPr txBox="1"/>
          <p:nvPr/>
        </p:nvSpPr>
        <p:spPr>
          <a:xfrm rot="16200000">
            <a:off x="-285325" y="4662986"/>
            <a:ext cx="2469941" cy="606752"/>
          </a:xfrm>
          <a:prstGeom prst="rect">
            <a:avLst/>
          </a:prstGeom>
          <a:solidFill>
            <a:schemeClr val="bg1"/>
          </a:solidFill>
        </p:spPr>
        <p:txBody>
          <a:bodyPr wrap="square" lIns="71963" tIns="71963" rIns="71963" bIns="71963" rtlCol="0" anchor="ctr">
            <a:noAutofit/>
          </a:bodyPr>
          <a:lstStyle/>
          <a:p>
            <a:pPr marL="0" marR="0" lvl="0" indent="0" algn="ctr" defTabSz="1018665" rtl="0" eaLnBrk="1" fontAlgn="base" latinLnBrk="0" hangingPunct="1">
              <a:lnSpc>
                <a:spcPts val="1199"/>
              </a:lnSpc>
              <a:spcBef>
                <a:spcPts val="0"/>
              </a:spcBef>
              <a:spcAft>
                <a:spcPts val="600"/>
              </a:spcAft>
              <a:buClr>
                <a:prstClr val="white"/>
              </a:buClr>
              <a:buSzPct val="70000"/>
              <a:buFontTx/>
              <a:buNone/>
              <a:tabLst/>
              <a:defRPr/>
            </a:pPr>
            <a:r>
              <a:rPr kumimoji="0" lang="pl-PL" sz="1599" b="1" i="0" u="none" strike="noStrike" kern="1200" cap="none" spc="0" normalizeH="0" baseline="0" noProof="0">
                <a:ln>
                  <a:noFill/>
                </a:ln>
                <a:solidFill>
                  <a:srgbClr val="2E2E38"/>
                </a:solidFill>
                <a:effectLst/>
                <a:uLnTx/>
                <a:uFillTx/>
                <a:latin typeface="EYInterstate"/>
                <a:ea typeface="+mn-ea"/>
                <a:cs typeface="+mn-cs"/>
              </a:rPr>
              <a:t>Team</a:t>
            </a:r>
            <a:endParaRPr kumimoji="0" lang="en-US" sz="1599" b="1" i="0" u="none" strike="noStrike" kern="1200" cap="none" spc="0" normalizeH="0" baseline="0" noProof="0">
              <a:ln>
                <a:noFill/>
              </a:ln>
              <a:solidFill>
                <a:srgbClr val="2E2E38"/>
              </a:solidFill>
              <a:effectLst/>
              <a:uLnTx/>
              <a:uFillTx/>
              <a:latin typeface="EYInterstate"/>
              <a:ea typeface="+mn-ea"/>
              <a:cs typeface="+mn-cs"/>
            </a:endParaRPr>
          </a:p>
        </p:txBody>
      </p:sp>
      <p:sp>
        <p:nvSpPr>
          <p:cNvPr id="13" name="Rectangle 12">
            <a:extLst>
              <a:ext uri="{FF2B5EF4-FFF2-40B4-BE49-F238E27FC236}">
                <a16:creationId xmlns:a16="http://schemas.microsoft.com/office/drawing/2014/main" id="{C137F6D0-957B-F5B1-18CB-B394FF2CA084}"/>
              </a:ext>
            </a:extLst>
          </p:cNvPr>
          <p:cNvSpPr/>
          <p:nvPr/>
        </p:nvSpPr>
        <p:spPr>
          <a:xfrm flipV="1">
            <a:off x="1402087" y="3725257"/>
            <a:ext cx="4637499" cy="2476075"/>
          </a:xfrm>
          <a:prstGeom prst="rect">
            <a:avLst/>
          </a:prstGeom>
          <a:solidFill>
            <a:srgbClr val="FFE600">
              <a:alpha val="25000"/>
            </a:srgbClr>
          </a:solidFill>
          <a:ln w="22225" cap="flat" cmpd="sng" algn="ctr">
            <a:solidFill>
              <a:srgbClr val="FFE600"/>
            </a:solidFill>
            <a:prstDash val="solid"/>
            <a:miter lim="800000"/>
          </a:ln>
          <a:effectLst/>
        </p:spPr>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099" b="0" i="0" u="none" strike="noStrike" kern="0" cap="none" spc="0" normalizeH="0" baseline="0" noProof="0">
              <a:ln>
                <a:noFill/>
              </a:ln>
              <a:solidFill>
                <a:srgbClr val="2E2E38"/>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44645F8C-FDC9-F4B7-A5FC-C47172E09E87}"/>
              </a:ext>
            </a:extLst>
          </p:cNvPr>
          <p:cNvSpPr/>
          <p:nvPr/>
        </p:nvSpPr>
        <p:spPr>
          <a:xfrm>
            <a:off x="4512649" y="3995705"/>
            <a:ext cx="1440152" cy="2015286"/>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Reporting Team</a:t>
            </a:r>
            <a:r>
              <a:rPr kumimoji="0" lang="pl-PL" sz="1399" b="0" i="0" u="none" strike="noStrike" kern="1200" cap="none" spc="0" normalizeH="0" baseline="0" noProof="0">
                <a:ln>
                  <a:noFill/>
                </a:ln>
                <a:solidFill>
                  <a:srgbClr val="FFE600"/>
                </a:solidFill>
                <a:effectLst/>
                <a:uLnTx/>
                <a:uFillTx/>
                <a:latin typeface="EYInterstate"/>
                <a:ea typeface="+mn-ea"/>
                <a:cs typeface="+mn-cs"/>
              </a:rPr>
              <a:t> </a:t>
            </a: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preparing financial statements, management reports, and regulatory filings.</a:t>
            </a:r>
          </a:p>
        </p:txBody>
      </p:sp>
      <p:sp>
        <p:nvSpPr>
          <p:cNvPr id="15" name="Rectangle 14">
            <a:extLst>
              <a:ext uri="{FF2B5EF4-FFF2-40B4-BE49-F238E27FC236}">
                <a16:creationId xmlns:a16="http://schemas.microsoft.com/office/drawing/2014/main" id="{538673A5-2787-5EC9-804D-D379585981AA}"/>
              </a:ext>
            </a:extLst>
          </p:cNvPr>
          <p:cNvSpPr/>
          <p:nvPr/>
        </p:nvSpPr>
        <p:spPr>
          <a:xfrm>
            <a:off x="3005558" y="3995705"/>
            <a:ext cx="1440152" cy="2015286"/>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Intercompany Team</a:t>
            </a:r>
            <a:r>
              <a:rPr kumimoji="0" lang="en-US" sz="1399" b="0" i="0" u="none" strike="noStrike" kern="1200" cap="none" spc="0" normalizeH="0" baseline="0" noProof="0">
                <a:ln>
                  <a:noFill/>
                </a:ln>
                <a:solidFill>
                  <a:prstClr val="white"/>
                </a:solidFill>
                <a:effectLst/>
                <a:uLnTx/>
                <a:uFillTx/>
                <a:latin typeface="EYInterstate"/>
                <a:ea typeface="+mn-ea"/>
                <a:cs typeface="+mn-cs"/>
              </a:rPr>
              <a:t> </a:t>
            </a:r>
            <a:endParaRPr kumimoji="0" lang="pl-PL" sz="1399" b="0" i="0" u="none" strike="noStrike" kern="1200" cap="none" spc="0" normalizeH="0" baseline="0" noProof="0">
              <a:ln>
                <a:noFill/>
              </a:ln>
              <a:solidFill>
                <a:prstClr val="white"/>
              </a:solidFill>
              <a:effectLst/>
              <a:uLnTx/>
              <a:uFillTx/>
              <a:latin typeface="EYInterstate"/>
              <a:ea typeface="+mn-ea"/>
              <a:cs typeface="+mn-cs"/>
            </a:endParaRP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managing </a:t>
            </a:r>
            <a:r>
              <a:rPr kumimoji="0" lang="pl-PL" sz="999" b="0" i="0" u="none" strike="noStrike" kern="1200" cap="none" spc="0" normalizeH="0" baseline="0" noProof="0">
                <a:ln>
                  <a:noFill/>
                </a:ln>
                <a:solidFill>
                  <a:prstClr val="white"/>
                </a:solidFill>
                <a:effectLst/>
                <a:uLnTx/>
                <a:uFillTx/>
                <a:latin typeface="EYInterstate"/>
                <a:ea typeface="+mn-ea"/>
                <a:cs typeface="+mn-cs"/>
              </a:rPr>
              <a:t>I/C</a:t>
            </a:r>
            <a:r>
              <a:rPr kumimoji="0" lang="en-US" sz="999" b="0" i="0" u="none" strike="noStrike" kern="1200" cap="none" spc="0" normalizeH="0" baseline="0" noProof="0">
                <a:ln>
                  <a:noFill/>
                </a:ln>
                <a:solidFill>
                  <a:prstClr val="white"/>
                </a:solidFill>
                <a:effectLst/>
                <a:uLnTx/>
                <a:uFillTx/>
                <a:latin typeface="EYInterstate"/>
                <a:ea typeface="+mn-ea"/>
                <a:cs typeface="+mn-cs"/>
              </a:rPr>
              <a:t> transactions, reconciling intercompany accounts, and preparing intercompany billing and settlement.</a:t>
            </a:r>
          </a:p>
        </p:txBody>
      </p:sp>
      <p:sp>
        <p:nvSpPr>
          <p:cNvPr id="16" name="Rectangle 15">
            <a:extLst>
              <a:ext uri="{FF2B5EF4-FFF2-40B4-BE49-F238E27FC236}">
                <a16:creationId xmlns:a16="http://schemas.microsoft.com/office/drawing/2014/main" id="{AD6F73CE-F3E6-EE88-A66F-68B293B05FFB}"/>
              </a:ext>
            </a:extLst>
          </p:cNvPr>
          <p:cNvSpPr/>
          <p:nvPr/>
        </p:nvSpPr>
        <p:spPr>
          <a:xfrm>
            <a:off x="1483746" y="3998306"/>
            <a:ext cx="1440152" cy="2015286"/>
          </a:xfrm>
          <a:prstGeom prst="rect">
            <a:avLst/>
          </a:prstGeom>
          <a:solidFill>
            <a:schemeClr val="tx1"/>
          </a:solidFill>
          <a:ln w="12700" cap="flat" cmpd="sng" algn="ctr">
            <a:solidFill>
              <a:srgbClr val="FFE600"/>
            </a:solidFill>
            <a:prstDash val="solid"/>
            <a:miter lim="800000"/>
          </a:ln>
          <a:effectLst/>
        </p:spPr>
        <p:txBody>
          <a:bodyPr wrap="square" tIns="46776" bIns="46776" rtlCol="0" anchor="ctr">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1399" b="0" i="0" u="none" strike="noStrike" kern="1200" cap="none" spc="0" normalizeH="0" baseline="0" noProof="0">
                <a:ln>
                  <a:noFill/>
                </a:ln>
                <a:solidFill>
                  <a:srgbClr val="FFE600"/>
                </a:solidFill>
                <a:effectLst/>
                <a:uLnTx/>
                <a:uFillTx/>
                <a:latin typeface="EYInterstate"/>
                <a:ea typeface="+mn-ea"/>
                <a:cs typeface="+mn-cs"/>
              </a:rPr>
              <a:t>General Ledger Team </a:t>
            </a:r>
            <a:r>
              <a:rPr kumimoji="0" lang="pl-PL" sz="1399" b="0" i="0" u="none" strike="noStrike" kern="1200" cap="none" spc="0" normalizeH="0" baseline="0" noProof="0">
                <a:ln>
                  <a:noFill/>
                </a:ln>
                <a:solidFill>
                  <a:prstClr val="white"/>
                </a:solidFill>
                <a:effectLst/>
                <a:uLnTx/>
                <a:uFillTx/>
                <a:latin typeface="EYInterstate"/>
                <a:ea typeface="+mn-ea"/>
                <a:cs typeface="+mn-cs"/>
              </a:rPr>
              <a:t> </a:t>
            </a:r>
          </a:p>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maintaining the accuracy of the general ledger, reconciling accounts, and preparing financial reports.</a:t>
            </a:r>
          </a:p>
        </p:txBody>
      </p:sp>
      <p:sp>
        <p:nvSpPr>
          <p:cNvPr id="17" name="Rectangle: Rounded Corners 16">
            <a:extLst>
              <a:ext uri="{FF2B5EF4-FFF2-40B4-BE49-F238E27FC236}">
                <a16:creationId xmlns:a16="http://schemas.microsoft.com/office/drawing/2014/main" id="{63B51959-D67D-C177-D087-30AC12C1C52D}"/>
              </a:ext>
            </a:extLst>
          </p:cNvPr>
          <p:cNvSpPr/>
          <p:nvPr/>
        </p:nvSpPr>
        <p:spPr>
          <a:xfrm>
            <a:off x="6669203" y="1707153"/>
            <a:ext cx="1583351"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rgbClr val="FFE600"/>
                </a:solidFill>
                <a:effectLst/>
                <a:uLnTx/>
                <a:uFillTx/>
                <a:latin typeface="EYInterstate Light"/>
                <a:ea typeface="+mn-ea"/>
                <a:cs typeface="+mn-cs"/>
              </a:rPr>
              <a:t>Data collection</a:t>
            </a: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18" name="Rectangle: Rounded Corners 17">
            <a:extLst>
              <a:ext uri="{FF2B5EF4-FFF2-40B4-BE49-F238E27FC236}">
                <a16:creationId xmlns:a16="http://schemas.microsoft.com/office/drawing/2014/main" id="{1DFDCB6F-41EC-A54F-0B39-AE0ADA1BA2AE}"/>
              </a:ext>
            </a:extLst>
          </p:cNvPr>
          <p:cNvSpPr/>
          <p:nvPr/>
        </p:nvSpPr>
        <p:spPr>
          <a:xfrm>
            <a:off x="6677857" y="2450971"/>
            <a:ext cx="1577655"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pl-PL" sz="1399" b="1" i="0" u="none" strike="noStrike" kern="0" cap="none" spc="0" normalizeH="0" baseline="0" noProof="0">
                <a:ln>
                  <a:noFill/>
                </a:ln>
                <a:solidFill>
                  <a:srgbClr val="FFE600"/>
                </a:solidFill>
                <a:effectLst/>
                <a:uLnTx/>
                <a:uFillTx/>
                <a:latin typeface="EYInterstate Light"/>
                <a:ea typeface="+mn-ea"/>
                <a:cs typeface="+mn-cs"/>
              </a:rPr>
              <a:t>Data validation</a:t>
            </a: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19" name="Rectangle: Rounded Corners 18">
            <a:extLst>
              <a:ext uri="{FF2B5EF4-FFF2-40B4-BE49-F238E27FC236}">
                <a16:creationId xmlns:a16="http://schemas.microsoft.com/office/drawing/2014/main" id="{DAA6AD19-839A-486D-DA48-7C16502877ED}"/>
              </a:ext>
            </a:extLst>
          </p:cNvPr>
          <p:cNvSpPr/>
          <p:nvPr/>
        </p:nvSpPr>
        <p:spPr>
          <a:xfrm>
            <a:off x="6701628" y="3206700"/>
            <a:ext cx="1583351"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a:ln>
                  <a:noFill/>
                </a:ln>
                <a:solidFill>
                  <a:srgbClr val="FFE600"/>
                </a:solidFill>
                <a:effectLst/>
                <a:uLnTx/>
                <a:uFillTx/>
                <a:latin typeface="EYInterstate Light"/>
                <a:ea typeface="+mn-ea"/>
                <a:cs typeface="+mn-cs"/>
              </a:rPr>
              <a:t>Record of transactions</a:t>
            </a:r>
          </a:p>
        </p:txBody>
      </p:sp>
      <p:sp>
        <p:nvSpPr>
          <p:cNvPr id="20" name="Rectangle: Rounded Corners 19">
            <a:extLst>
              <a:ext uri="{FF2B5EF4-FFF2-40B4-BE49-F238E27FC236}">
                <a16:creationId xmlns:a16="http://schemas.microsoft.com/office/drawing/2014/main" id="{35A71E75-4B7F-5F75-2B8F-918CEBD9B208}"/>
              </a:ext>
            </a:extLst>
          </p:cNvPr>
          <p:cNvSpPr/>
          <p:nvPr/>
        </p:nvSpPr>
        <p:spPr>
          <a:xfrm>
            <a:off x="6735367" y="3978339"/>
            <a:ext cx="1583351"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a:ln>
                  <a:noFill/>
                </a:ln>
                <a:solidFill>
                  <a:srgbClr val="FFE600"/>
                </a:solidFill>
                <a:effectLst/>
                <a:uLnTx/>
                <a:uFillTx/>
                <a:latin typeface="EYInterstate Light"/>
                <a:ea typeface="+mn-ea"/>
                <a:cs typeface="+mn-cs"/>
              </a:rPr>
              <a:t>Sub-ledger reconciliation</a:t>
            </a:r>
          </a:p>
        </p:txBody>
      </p:sp>
      <p:sp>
        <p:nvSpPr>
          <p:cNvPr id="21" name="Rectangle: Rounded Corners 20">
            <a:extLst>
              <a:ext uri="{FF2B5EF4-FFF2-40B4-BE49-F238E27FC236}">
                <a16:creationId xmlns:a16="http://schemas.microsoft.com/office/drawing/2014/main" id="{D9DFAD36-0D62-11C2-90FB-1DE81C1C9B19}"/>
              </a:ext>
            </a:extLst>
          </p:cNvPr>
          <p:cNvSpPr/>
          <p:nvPr/>
        </p:nvSpPr>
        <p:spPr>
          <a:xfrm>
            <a:off x="6722003" y="4766644"/>
            <a:ext cx="1583351"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a:ln>
                  <a:noFill/>
                </a:ln>
                <a:solidFill>
                  <a:srgbClr val="FFE600"/>
                </a:solidFill>
                <a:effectLst/>
                <a:uLnTx/>
                <a:uFillTx/>
                <a:latin typeface="EYInterstate Light"/>
                <a:ea typeface="+mn-ea"/>
                <a:cs typeface="+mn-cs"/>
              </a:rPr>
              <a:t>Financial reporting</a:t>
            </a:r>
          </a:p>
        </p:txBody>
      </p:sp>
      <p:sp>
        <p:nvSpPr>
          <p:cNvPr id="22" name="Rectangle: Rounded Corners 21">
            <a:extLst>
              <a:ext uri="{FF2B5EF4-FFF2-40B4-BE49-F238E27FC236}">
                <a16:creationId xmlns:a16="http://schemas.microsoft.com/office/drawing/2014/main" id="{FEE430B5-A5AD-B2E6-5B7E-96B3E98F5395}"/>
              </a:ext>
            </a:extLst>
          </p:cNvPr>
          <p:cNvSpPr/>
          <p:nvPr/>
        </p:nvSpPr>
        <p:spPr>
          <a:xfrm>
            <a:off x="6732519" y="5565996"/>
            <a:ext cx="1583351"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a:ln>
                  <a:noFill/>
                </a:ln>
                <a:solidFill>
                  <a:srgbClr val="FFE600"/>
                </a:solidFill>
                <a:effectLst/>
                <a:uLnTx/>
                <a:uFillTx/>
                <a:latin typeface="EYInterstate Light"/>
                <a:ea typeface="+mn-ea"/>
                <a:cs typeface="+mn-cs"/>
              </a:rPr>
              <a:t>Statutory reporting</a:t>
            </a:r>
          </a:p>
        </p:txBody>
      </p:sp>
      <p:sp>
        <p:nvSpPr>
          <p:cNvPr id="23" name="Arrow: Pentagon 22">
            <a:extLst>
              <a:ext uri="{FF2B5EF4-FFF2-40B4-BE49-F238E27FC236}">
                <a16:creationId xmlns:a16="http://schemas.microsoft.com/office/drawing/2014/main" id="{1C0F30DD-7CFC-8133-0C37-9EC349A65C3A}"/>
              </a:ext>
            </a:extLst>
          </p:cNvPr>
          <p:cNvSpPr/>
          <p:nvPr/>
        </p:nvSpPr>
        <p:spPr>
          <a:xfrm rot="5400000">
            <a:off x="8789191" y="3300349"/>
            <a:ext cx="135039" cy="4239837"/>
          </a:xfrm>
          <a:prstGeom prst="homePlate">
            <a:avLst/>
          </a:prstGeom>
          <a:solidFill>
            <a:schemeClr val="tx1"/>
          </a:solidFill>
          <a:ln w="12700" cap="sq" cmpd="sng" algn="ctr">
            <a:solidFill>
              <a:schemeClr val="tx1"/>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24" name="Rectangle 23">
            <a:extLst>
              <a:ext uri="{FF2B5EF4-FFF2-40B4-BE49-F238E27FC236}">
                <a16:creationId xmlns:a16="http://schemas.microsoft.com/office/drawing/2014/main" id="{FD3FE614-0E91-4865-0177-235B4448B9DB}"/>
              </a:ext>
            </a:extLst>
          </p:cNvPr>
          <p:cNvSpPr/>
          <p:nvPr/>
        </p:nvSpPr>
        <p:spPr bwMode="auto">
          <a:xfrm>
            <a:off x="6425905" y="1142171"/>
            <a:ext cx="4750328" cy="5178444"/>
          </a:xfrm>
          <a:prstGeom prst="rect">
            <a:avLst/>
          </a:prstGeom>
          <a:noFill/>
          <a:ln w="222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1018665" rtl="0" eaLnBrk="1" fontAlgn="base" latinLnBrk="0" hangingPunct="1">
              <a:lnSpc>
                <a:spcPct val="100000"/>
              </a:lnSpc>
              <a:spcBef>
                <a:spcPct val="0"/>
              </a:spcBef>
              <a:spcAft>
                <a:spcPts val="600"/>
              </a:spcAft>
              <a:buClrTx/>
              <a:buSzTx/>
              <a:buFontTx/>
              <a:buNone/>
              <a:tabLst/>
              <a:defRPr/>
            </a:pPr>
            <a:r>
              <a:rPr kumimoji="0" lang="en-US" sz="1799" b="0" i="0" u="none" strike="noStrike" kern="1200" cap="none" spc="0" normalizeH="0" baseline="0" noProof="0">
                <a:ln>
                  <a:noFill/>
                </a:ln>
                <a:solidFill>
                  <a:prstClr val="white"/>
                </a:solidFill>
                <a:effectLst/>
                <a:uLnTx/>
                <a:uFillTx/>
                <a:latin typeface="EYInterstate Light"/>
                <a:ea typeface="+mn-ea"/>
                <a:cs typeface="+mn-cs"/>
              </a:rPr>
              <a:t>Process design</a:t>
            </a:r>
          </a:p>
        </p:txBody>
      </p:sp>
      <p:sp>
        <p:nvSpPr>
          <p:cNvPr id="25" name="Rectangle: Rounded Corners 24">
            <a:extLst>
              <a:ext uri="{FF2B5EF4-FFF2-40B4-BE49-F238E27FC236}">
                <a16:creationId xmlns:a16="http://schemas.microsoft.com/office/drawing/2014/main" id="{58EFD52E-DB5C-8607-FC62-CB36B53FC240}"/>
              </a:ext>
            </a:extLst>
          </p:cNvPr>
          <p:cNvSpPr/>
          <p:nvPr/>
        </p:nvSpPr>
        <p:spPr>
          <a:xfrm>
            <a:off x="8379059" y="1707153"/>
            <a:ext cx="2610936"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from various sources, such as ERP systems, banks, and other transaction system</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26" name="Rectangle: Rounded Corners 25">
            <a:extLst>
              <a:ext uri="{FF2B5EF4-FFF2-40B4-BE49-F238E27FC236}">
                <a16:creationId xmlns:a16="http://schemas.microsoft.com/office/drawing/2014/main" id="{55ACEA16-E823-CBEA-EB25-DF59EC52582C}"/>
              </a:ext>
            </a:extLst>
          </p:cNvPr>
          <p:cNvSpPr/>
          <p:nvPr/>
        </p:nvSpPr>
        <p:spPr>
          <a:xfrm>
            <a:off x="8379058" y="2450971"/>
            <a:ext cx="2610936"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for completeness, accuracy, and consistency.</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27" name="Rectangle: Rounded Corners 26">
            <a:extLst>
              <a:ext uri="{FF2B5EF4-FFF2-40B4-BE49-F238E27FC236}">
                <a16:creationId xmlns:a16="http://schemas.microsoft.com/office/drawing/2014/main" id="{3794D126-DFF5-0A3D-0DDC-EA1E705C8851}"/>
              </a:ext>
            </a:extLst>
          </p:cNvPr>
          <p:cNvSpPr/>
          <p:nvPr/>
        </p:nvSpPr>
        <p:spPr>
          <a:xfrm>
            <a:off x="8401772" y="3206700"/>
            <a:ext cx="2588222"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in the general ledger, including accruals, adjustments, and reclassifications.</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28" name="Rectangle: Rounded Corners 27">
            <a:extLst>
              <a:ext uri="{FF2B5EF4-FFF2-40B4-BE49-F238E27FC236}">
                <a16:creationId xmlns:a16="http://schemas.microsoft.com/office/drawing/2014/main" id="{D044CBA6-7489-6D7C-0DA2-5AE6D3A12364}"/>
              </a:ext>
            </a:extLst>
          </p:cNvPr>
          <p:cNvSpPr/>
          <p:nvPr/>
        </p:nvSpPr>
        <p:spPr>
          <a:xfrm>
            <a:off x="8435512" y="3978339"/>
            <a:ext cx="2554482"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999" b="0" i="0" u="none" strike="noStrike" kern="1200" cap="none" spc="0" normalizeH="0" baseline="0" noProof="0">
                <a:ln>
                  <a:noFill/>
                </a:ln>
                <a:solidFill>
                  <a:prstClr val="white"/>
                </a:solidFill>
                <a:effectLst/>
                <a:uLnTx/>
                <a:uFillTx/>
                <a:latin typeface="EYInterstate"/>
                <a:ea typeface="+mn-ea"/>
                <a:cs typeface="+mn-cs"/>
              </a:rPr>
              <a:t>such as accounts receivable, accounts payable, and inventory, to the general ledger</a:t>
            </a:r>
            <a:r>
              <a:rPr kumimoji="0" lang="pl-PL" sz="999" b="0" i="0" u="none" strike="noStrike" kern="1200" cap="none" spc="0" normalizeH="0" baseline="0" noProof="0">
                <a:ln>
                  <a:noFill/>
                </a:ln>
                <a:solidFill>
                  <a:prstClr val="white"/>
                </a:solidFill>
                <a:effectLst/>
                <a:uLnTx/>
                <a:uFillTx/>
                <a:latin typeface="EYInterstate"/>
                <a:ea typeface="+mn-ea"/>
                <a:cs typeface="+mn-cs"/>
              </a:rPr>
              <a:t>.</a:t>
            </a:r>
            <a:endParaRPr kumimoji="0" lang="en-US" sz="9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29" name="Rectangle: Rounded Corners 28">
            <a:extLst>
              <a:ext uri="{FF2B5EF4-FFF2-40B4-BE49-F238E27FC236}">
                <a16:creationId xmlns:a16="http://schemas.microsoft.com/office/drawing/2014/main" id="{D5CCCCF3-63C1-DE09-0E0C-C89F05292C15}"/>
              </a:ext>
            </a:extLst>
          </p:cNvPr>
          <p:cNvSpPr/>
          <p:nvPr/>
        </p:nvSpPr>
        <p:spPr>
          <a:xfrm>
            <a:off x="8435513" y="4766644"/>
            <a:ext cx="2541117"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tab pos="456971" algn="l"/>
              </a:tabLst>
              <a:defRPr/>
            </a:pPr>
            <a:r>
              <a:rPr kumimoji="0" lang="pl-PL" sz="999" b="0" i="0" u="none" strike="noStrike" kern="1200" cap="none" spc="0" normalizeH="0" baseline="0" noProof="0">
                <a:ln>
                  <a:noFill/>
                </a:ln>
                <a:solidFill>
                  <a:prstClr val="white"/>
                </a:solidFill>
                <a:effectLst/>
                <a:uLnTx/>
                <a:uFillTx/>
                <a:latin typeface="EYInterstate"/>
                <a:ea typeface="+mn-ea"/>
                <a:cs typeface="+mn-cs"/>
              </a:rPr>
              <a:t>p</a:t>
            </a:r>
            <a:r>
              <a:rPr kumimoji="0" lang="en-US" sz="999" b="0" i="0" u="none" strike="noStrike" kern="1200" cap="none" spc="0" normalizeH="0" baseline="0" noProof="0">
                <a:ln>
                  <a:noFill/>
                </a:ln>
                <a:solidFill>
                  <a:prstClr val="white"/>
                </a:solidFill>
                <a:effectLst/>
                <a:uLnTx/>
                <a:uFillTx/>
                <a:latin typeface="EYInterstate"/>
                <a:ea typeface="+mn-ea"/>
                <a:cs typeface="+mn-cs"/>
              </a:rPr>
              <a:t>reparation of financial statements</a:t>
            </a:r>
            <a:r>
              <a:rPr kumimoji="0" lang="pl-PL" sz="999" b="0" i="0" u="none" strike="noStrike" kern="1200" cap="none" spc="0" normalizeH="0" baseline="0" noProof="0">
                <a:ln>
                  <a:noFill/>
                </a:ln>
                <a:solidFill>
                  <a:prstClr val="white"/>
                </a:solidFill>
                <a:effectLst/>
                <a:uLnTx/>
                <a:uFillTx/>
                <a:latin typeface="EYInterstate"/>
                <a:ea typeface="+mn-ea"/>
                <a:cs typeface="+mn-cs"/>
              </a:rPr>
              <a:t> </a:t>
            </a:r>
            <a:r>
              <a:rPr kumimoji="0" lang="en-US" sz="999" b="0" i="0" u="none" strike="noStrike" kern="1200" cap="none" spc="0" normalizeH="0" baseline="0" noProof="0">
                <a:ln>
                  <a:noFill/>
                </a:ln>
                <a:solidFill>
                  <a:prstClr val="white"/>
                </a:solidFill>
                <a:effectLst/>
                <a:uLnTx/>
                <a:uFillTx/>
                <a:latin typeface="EYInterstate"/>
                <a:ea typeface="+mn-ea"/>
                <a:cs typeface="+mn-cs"/>
              </a:rPr>
              <a:t>in accordance with accounting standards.</a:t>
            </a:r>
            <a:endParaRPr kumimoji="0" lang="pl-PL" sz="999" b="0" i="0" u="none" strike="noStrike" kern="1200" cap="none" spc="0" normalizeH="0" baseline="0" noProof="0">
              <a:ln>
                <a:noFill/>
              </a:ln>
              <a:solidFill>
                <a:prstClr val="white"/>
              </a:solidFill>
              <a:effectLst/>
              <a:uLnTx/>
              <a:uFillTx/>
              <a:latin typeface="EYInterstate"/>
              <a:ea typeface="+mn-ea"/>
              <a:cs typeface="+mn-cs"/>
            </a:endParaRPr>
          </a:p>
        </p:txBody>
      </p:sp>
      <p:sp>
        <p:nvSpPr>
          <p:cNvPr id="30" name="Rectangle: Rounded Corners 29">
            <a:extLst>
              <a:ext uri="{FF2B5EF4-FFF2-40B4-BE49-F238E27FC236}">
                <a16:creationId xmlns:a16="http://schemas.microsoft.com/office/drawing/2014/main" id="{ECEE5578-1675-41AC-AA06-D2BA1A92C05B}"/>
              </a:ext>
            </a:extLst>
          </p:cNvPr>
          <p:cNvSpPr/>
          <p:nvPr/>
        </p:nvSpPr>
        <p:spPr>
          <a:xfrm>
            <a:off x="8435514" y="5565996"/>
            <a:ext cx="2541115" cy="496899"/>
          </a:xfrm>
          <a:prstGeom prst="roundRect">
            <a:avLst/>
          </a:prstGeom>
          <a:solidFill>
            <a:schemeClr val="tx1"/>
          </a:solidFill>
          <a:ln w="12700" cap="sq" cmpd="sng" algn="ctr">
            <a:solidFill>
              <a:schemeClr val="tx2"/>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pl-PL" sz="999" b="0" i="0" u="none" strike="noStrike" kern="1200" cap="none" spc="0" normalizeH="0" baseline="0" noProof="0">
                <a:ln>
                  <a:noFill/>
                </a:ln>
                <a:solidFill>
                  <a:prstClr val="white"/>
                </a:solidFill>
                <a:effectLst/>
                <a:uLnTx/>
                <a:uFillTx/>
                <a:latin typeface="EYInterstate"/>
                <a:ea typeface="+mn-ea"/>
                <a:cs typeface="+mn-cs"/>
              </a:rPr>
              <a:t>p</a:t>
            </a:r>
            <a:r>
              <a:rPr kumimoji="0" lang="en-US" sz="999" b="0" i="0" u="none" strike="noStrike" kern="1200" cap="none" spc="0" normalizeH="0" baseline="0" noProof="0">
                <a:ln>
                  <a:noFill/>
                </a:ln>
                <a:solidFill>
                  <a:prstClr val="white"/>
                </a:solidFill>
                <a:effectLst/>
                <a:uLnTx/>
                <a:uFillTx/>
                <a:latin typeface="EYInterstate"/>
                <a:ea typeface="+mn-ea"/>
                <a:cs typeface="+mn-cs"/>
              </a:rPr>
              <a:t>reparation of regulatory filings, such as tax returns and financial reports</a:t>
            </a:r>
            <a:r>
              <a:rPr kumimoji="0" lang="pl-PL" sz="999" b="0" i="0" u="none" strike="noStrike" kern="1200" cap="none" spc="0" normalizeH="0" baseline="0" noProof="0">
                <a:ln>
                  <a:noFill/>
                </a:ln>
                <a:solidFill>
                  <a:prstClr val="white"/>
                </a:solidFill>
                <a:effectLst/>
                <a:uLnTx/>
                <a:uFillTx/>
                <a:latin typeface="EYInterstate"/>
                <a:ea typeface="+mn-ea"/>
                <a:cs typeface="+mn-cs"/>
              </a:rPr>
              <a:t>.</a:t>
            </a:r>
            <a:endParaRPr kumimoji="0" lang="en-US" sz="9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31" name="Arrow: Pentagon 30">
            <a:extLst>
              <a:ext uri="{FF2B5EF4-FFF2-40B4-BE49-F238E27FC236}">
                <a16:creationId xmlns:a16="http://schemas.microsoft.com/office/drawing/2014/main" id="{AC38628A-8E22-A82F-9DB9-02E3328D2EEB}"/>
              </a:ext>
            </a:extLst>
          </p:cNvPr>
          <p:cNvSpPr/>
          <p:nvPr/>
        </p:nvSpPr>
        <p:spPr>
          <a:xfrm rot="5400000">
            <a:off x="8798539" y="2540778"/>
            <a:ext cx="135039" cy="4239837"/>
          </a:xfrm>
          <a:prstGeom prst="homePlate">
            <a:avLst/>
          </a:prstGeom>
          <a:solidFill>
            <a:schemeClr val="tx1"/>
          </a:solidFill>
          <a:ln w="12700" cap="sq" cmpd="sng" algn="ctr">
            <a:solidFill>
              <a:schemeClr val="tx1"/>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32" name="Arrow: Pentagon 31">
            <a:extLst>
              <a:ext uri="{FF2B5EF4-FFF2-40B4-BE49-F238E27FC236}">
                <a16:creationId xmlns:a16="http://schemas.microsoft.com/office/drawing/2014/main" id="{2CA93463-DC11-3F0C-E93E-3F3F54AC797B}"/>
              </a:ext>
            </a:extLst>
          </p:cNvPr>
          <p:cNvSpPr/>
          <p:nvPr/>
        </p:nvSpPr>
        <p:spPr>
          <a:xfrm rot="5400000">
            <a:off x="8798539" y="1758519"/>
            <a:ext cx="135039" cy="4239837"/>
          </a:xfrm>
          <a:prstGeom prst="homePlate">
            <a:avLst/>
          </a:prstGeom>
          <a:solidFill>
            <a:schemeClr val="tx1"/>
          </a:solidFill>
          <a:ln w="12700" cap="sq" cmpd="sng" algn="ctr">
            <a:solidFill>
              <a:schemeClr val="tx1"/>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33" name="Arrow: Pentagon 32">
            <a:extLst>
              <a:ext uri="{FF2B5EF4-FFF2-40B4-BE49-F238E27FC236}">
                <a16:creationId xmlns:a16="http://schemas.microsoft.com/office/drawing/2014/main" id="{7A09DAE9-7E7B-2A2D-8DB6-BE095C18373C}"/>
              </a:ext>
            </a:extLst>
          </p:cNvPr>
          <p:cNvSpPr/>
          <p:nvPr/>
        </p:nvSpPr>
        <p:spPr>
          <a:xfrm rot="5400000">
            <a:off x="8789193" y="959361"/>
            <a:ext cx="135039" cy="4239837"/>
          </a:xfrm>
          <a:prstGeom prst="homePlate">
            <a:avLst/>
          </a:prstGeom>
          <a:solidFill>
            <a:schemeClr val="tx1"/>
          </a:solidFill>
          <a:ln w="12700" cap="sq" cmpd="sng" algn="ctr">
            <a:solidFill>
              <a:schemeClr val="tx1"/>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
        <p:nvSpPr>
          <p:cNvPr id="34" name="Arrow: Pentagon 33">
            <a:extLst>
              <a:ext uri="{FF2B5EF4-FFF2-40B4-BE49-F238E27FC236}">
                <a16:creationId xmlns:a16="http://schemas.microsoft.com/office/drawing/2014/main" id="{A83A5F28-7BEF-2137-A0B3-D4751C957F35}"/>
              </a:ext>
            </a:extLst>
          </p:cNvPr>
          <p:cNvSpPr/>
          <p:nvPr/>
        </p:nvSpPr>
        <p:spPr>
          <a:xfrm rot="5400000">
            <a:off x="8754027" y="222957"/>
            <a:ext cx="135039" cy="4239837"/>
          </a:xfrm>
          <a:prstGeom prst="homePlate">
            <a:avLst/>
          </a:prstGeom>
          <a:solidFill>
            <a:schemeClr val="tx1"/>
          </a:solidFill>
          <a:ln w="12700" cap="sq" cmpd="sng" algn="ctr">
            <a:solidFill>
              <a:schemeClr val="tx1"/>
            </a:solid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399" b="1" i="0" u="none" strike="noStrike" kern="0" cap="none" spc="0" normalizeH="0" baseline="0" noProof="0">
              <a:ln>
                <a:noFill/>
              </a:ln>
              <a:solidFill>
                <a:srgbClr val="FFE600"/>
              </a:solidFill>
              <a:effectLst/>
              <a:uLnTx/>
              <a:uFillTx/>
              <a:latin typeface="EYInterstate Light"/>
              <a:ea typeface="+mn-ea"/>
              <a:cs typeface="+mn-cs"/>
            </a:endParaRPr>
          </a:p>
        </p:txBody>
      </p:sp>
    </p:spTree>
    <p:extLst>
      <p:ext uri="{BB962C8B-B14F-4D97-AF65-F5344CB8AC3E}">
        <p14:creationId xmlns:p14="http://schemas.microsoft.com/office/powerpoint/2010/main" val="418496063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CDD597-0F76-27BB-E684-89C5AB034C4D}"/>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7818E0E-9FE3-5DA6-16ED-CBA8723B8076}"/>
              </a:ext>
            </a:extLst>
          </p:cNvPr>
          <p:cNvSpPr>
            <a:spLocks noGrp="1"/>
          </p:cNvSpPr>
          <p:nvPr>
            <p:ph type="sldNum" sz="quarter" idx="12"/>
          </p:nvPr>
        </p:nvSpPr>
        <p:spPr/>
        <p:txBody>
          <a:bodyPr/>
          <a:lstStyle/>
          <a:p>
            <a:r>
              <a:rPr lang="en-US" noProof="0"/>
              <a:t>Page </a:t>
            </a:r>
            <a:fld id="{F1BC30E3-FFE5-4B91-AA19-87A149EBB9EE}" type="slidenum">
              <a:rPr lang="en-US" noProof="0" smtClean="0"/>
              <a:pPr/>
              <a:t>72</a:t>
            </a:fld>
            <a:endParaRPr lang="en-US" noProof="0"/>
          </a:p>
        </p:txBody>
      </p:sp>
      <p:sp>
        <p:nvSpPr>
          <p:cNvPr id="4" name="Footer Placeholder 3">
            <a:extLst>
              <a:ext uri="{FF2B5EF4-FFF2-40B4-BE49-F238E27FC236}">
                <a16:creationId xmlns:a16="http://schemas.microsoft.com/office/drawing/2014/main" id="{762E7495-0538-FAC0-7E8F-C3D63C964068}"/>
              </a:ext>
            </a:extLst>
          </p:cNvPr>
          <p:cNvSpPr>
            <a:spLocks noGrp="1"/>
          </p:cNvSpPr>
          <p:nvPr>
            <p:ph type="ftr" sz="quarter" idx="4294967295"/>
          </p:nvPr>
        </p:nvSpPr>
        <p:spPr>
          <a:xfrm>
            <a:off x="0" y="6470650"/>
            <a:ext cx="3084513" cy="180975"/>
          </a:xfrm>
          <a:prstGeom prst="rect">
            <a:avLst/>
          </a:prstGeom>
        </p:spPr>
        <p:txBody>
          <a:bodyPr/>
          <a:lstStyle/>
          <a:p>
            <a:r>
              <a:rPr lang="en-US" noProof="0"/>
              <a:t>Presentation title</a:t>
            </a:r>
          </a:p>
        </p:txBody>
      </p:sp>
      <p:graphicFrame>
        <p:nvGraphicFramePr>
          <p:cNvPr id="48" name="Diagram 47">
            <a:extLst>
              <a:ext uri="{FF2B5EF4-FFF2-40B4-BE49-F238E27FC236}">
                <a16:creationId xmlns:a16="http://schemas.microsoft.com/office/drawing/2014/main" id="{5046CFB3-D9D7-033D-16DA-5B35DBD35985}"/>
              </a:ext>
            </a:extLst>
          </p:cNvPr>
          <p:cNvGraphicFramePr/>
          <p:nvPr/>
        </p:nvGraphicFramePr>
        <p:xfrm>
          <a:off x="1730227" y="5508583"/>
          <a:ext cx="8198528" cy="109622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Freeform 143">
            <a:extLst>
              <a:ext uri="{FF2B5EF4-FFF2-40B4-BE49-F238E27FC236}">
                <a16:creationId xmlns:a16="http://schemas.microsoft.com/office/drawing/2014/main" id="{0E0FF5FA-447B-F8DC-B8D8-D68603735F5E}"/>
              </a:ext>
            </a:extLst>
          </p:cNvPr>
          <p:cNvSpPr>
            <a:spLocks/>
          </p:cNvSpPr>
          <p:nvPr/>
        </p:nvSpPr>
        <p:spPr bwMode="gray">
          <a:xfrm>
            <a:off x="6669328" y="3484115"/>
            <a:ext cx="2488724" cy="74939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35981" tIns="35981" rIns="35981" bIns="35981"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399" b="1" i="0" u="none" strike="noStrike" kern="1200" cap="none" spc="0" normalizeH="0" baseline="0" noProof="0">
              <a:ln>
                <a:noFill/>
              </a:ln>
              <a:solidFill>
                <a:srgbClr val="FFE600"/>
              </a:solidFill>
              <a:effectLst/>
              <a:uLnTx/>
              <a:uFillTx/>
              <a:latin typeface="Arial"/>
              <a:ea typeface="+mn-ea"/>
              <a:cs typeface="+mn-cs"/>
            </a:endParaRPr>
          </a:p>
        </p:txBody>
      </p:sp>
      <p:sp>
        <p:nvSpPr>
          <p:cNvPr id="11" name="Pfeil nach unten 33">
            <a:extLst>
              <a:ext uri="{FF2B5EF4-FFF2-40B4-BE49-F238E27FC236}">
                <a16:creationId xmlns:a16="http://schemas.microsoft.com/office/drawing/2014/main" id="{0E07C6FC-177C-4BD8-577F-71C83A16EF37}"/>
              </a:ext>
            </a:extLst>
          </p:cNvPr>
          <p:cNvSpPr>
            <a:spLocks/>
          </p:cNvSpPr>
          <p:nvPr/>
        </p:nvSpPr>
        <p:spPr bwMode="gray">
          <a:xfrm rot="16200000">
            <a:off x="5246395" y="2563440"/>
            <a:ext cx="2118856" cy="365734"/>
          </a:xfrm>
          <a:prstGeom prst="downArrow">
            <a:avLst>
              <a:gd name="adj1" fmla="val 50000"/>
              <a:gd name="adj2" fmla="val 127388"/>
            </a:avLst>
          </a:prstGeom>
          <a:solidFill>
            <a:schemeClr val="accent3">
              <a:lumMod val="20000"/>
              <a:lumOff val="80000"/>
            </a:schemeClr>
          </a:solidFill>
          <a:ln w="12700">
            <a:noFill/>
            <a:round/>
            <a:headEnd/>
            <a:tailEnd/>
          </a:ln>
        </p:spPr>
        <p:txBody>
          <a:bodyP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399" b="0" i="0" u="none" strike="noStrike" kern="1200" cap="none" spc="0" normalizeH="0" baseline="0" noProof="0">
              <a:ln>
                <a:noFill/>
              </a:ln>
              <a:solidFill>
                <a:prstClr val="white"/>
              </a:solidFill>
              <a:effectLst/>
              <a:uLnTx/>
              <a:uFillTx/>
              <a:latin typeface="EYInterstate"/>
              <a:ea typeface="+mn-ea"/>
              <a:cs typeface="+mn-cs"/>
            </a:endParaRPr>
          </a:p>
        </p:txBody>
      </p:sp>
      <p:grpSp>
        <p:nvGrpSpPr>
          <p:cNvPr id="12" name="Group 11">
            <a:extLst>
              <a:ext uri="{FF2B5EF4-FFF2-40B4-BE49-F238E27FC236}">
                <a16:creationId xmlns:a16="http://schemas.microsoft.com/office/drawing/2014/main" id="{141A3962-B66D-E9CA-5BAB-E60986A18446}"/>
              </a:ext>
            </a:extLst>
          </p:cNvPr>
          <p:cNvGrpSpPr/>
          <p:nvPr/>
        </p:nvGrpSpPr>
        <p:grpSpPr>
          <a:xfrm>
            <a:off x="642346" y="1772869"/>
            <a:ext cx="5383583" cy="539719"/>
            <a:chOff x="436563" y="1651524"/>
            <a:chExt cx="5386387" cy="540000"/>
          </a:xfrm>
        </p:grpSpPr>
        <p:sp>
          <p:nvSpPr>
            <p:cNvPr id="14" name="Oval 13">
              <a:extLst>
                <a:ext uri="{FF2B5EF4-FFF2-40B4-BE49-F238E27FC236}">
                  <a16:creationId xmlns:a16="http://schemas.microsoft.com/office/drawing/2014/main" id="{86A47EF0-CD39-F662-D522-D6255AE773CE}"/>
                </a:ext>
              </a:extLst>
            </p:cNvPr>
            <p:cNvSpPr>
              <a:spLocks/>
            </p:cNvSpPr>
            <p:nvPr/>
          </p:nvSpPr>
          <p:spPr>
            <a:xfrm>
              <a:off x="436563" y="1651524"/>
              <a:ext cx="540000" cy="540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R</a:t>
              </a:r>
            </a:p>
          </p:txBody>
        </p:sp>
        <p:sp>
          <p:nvSpPr>
            <p:cNvPr id="16" name="Rectangle 15">
              <a:extLst>
                <a:ext uri="{FF2B5EF4-FFF2-40B4-BE49-F238E27FC236}">
                  <a16:creationId xmlns:a16="http://schemas.microsoft.com/office/drawing/2014/main" id="{7EAC9D26-5C94-B825-802C-C632152EDF48}"/>
                </a:ext>
              </a:extLst>
            </p:cNvPr>
            <p:cNvSpPr/>
            <p:nvPr/>
          </p:nvSpPr>
          <p:spPr>
            <a:xfrm>
              <a:off x="1248093" y="1651524"/>
              <a:ext cx="4574857" cy="5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srgbClr val="FFE600"/>
                  </a:solidFill>
                  <a:effectLst/>
                  <a:uLnTx/>
                  <a:uFillTx/>
                  <a:latin typeface="EYInterstate"/>
                  <a:ea typeface="+mn-ea"/>
                  <a:cs typeface="Arial" panose="020B0604020202020204" pitchFamily="34" charset="0"/>
                </a:rPr>
                <a:t>Determine who will execute activity in the future (R= Responsible)</a:t>
              </a:r>
            </a:p>
          </p:txBody>
        </p:sp>
      </p:grpSp>
      <p:sp>
        <p:nvSpPr>
          <p:cNvPr id="17" name="Oval 16">
            <a:extLst>
              <a:ext uri="{FF2B5EF4-FFF2-40B4-BE49-F238E27FC236}">
                <a16:creationId xmlns:a16="http://schemas.microsoft.com/office/drawing/2014/main" id="{CF4BA852-F58B-CF9C-8751-942701D59A93}"/>
              </a:ext>
            </a:extLst>
          </p:cNvPr>
          <p:cNvSpPr>
            <a:spLocks/>
          </p:cNvSpPr>
          <p:nvPr/>
        </p:nvSpPr>
        <p:spPr>
          <a:xfrm>
            <a:off x="640950" y="2222408"/>
            <a:ext cx="539719" cy="5397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A</a:t>
            </a:r>
          </a:p>
        </p:txBody>
      </p:sp>
      <p:sp>
        <p:nvSpPr>
          <p:cNvPr id="18" name="Rectangle 17">
            <a:extLst>
              <a:ext uri="{FF2B5EF4-FFF2-40B4-BE49-F238E27FC236}">
                <a16:creationId xmlns:a16="http://schemas.microsoft.com/office/drawing/2014/main" id="{59EE8728-6DE2-6E7D-C37E-789EB5675A01}"/>
              </a:ext>
            </a:extLst>
          </p:cNvPr>
          <p:cNvSpPr/>
          <p:nvPr/>
        </p:nvSpPr>
        <p:spPr>
          <a:xfrm>
            <a:off x="1453453" y="2249681"/>
            <a:ext cx="4572476" cy="539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srgbClr val="FFE600"/>
                </a:solidFill>
                <a:effectLst/>
                <a:uLnTx/>
                <a:uFillTx/>
                <a:latin typeface="EYInterstate"/>
                <a:ea typeface="+mn-ea"/>
                <a:cs typeface="Arial" panose="020B0604020202020204" pitchFamily="34" charset="0"/>
              </a:rPr>
              <a:t>Determine who is accountable for correct execution of activity (A= Accountable)</a:t>
            </a:r>
          </a:p>
        </p:txBody>
      </p:sp>
      <p:sp>
        <p:nvSpPr>
          <p:cNvPr id="19" name="Oval 18">
            <a:extLst>
              <a:ext uri="{FF2B5EF4-FFF2-40B4-BE49-F238E27FC236}">
                <a16:creationId xmlns:a16="http://schemas.microsoft.com/office/drawing/2014/main" id="{1414C13B-1839-41D2-F886-A1838FAEEDEE}"/>
              </a:ext>
            </a:extLst>
          </p:cNvPr>
          <p:cNvSpPr>
            <a:spLocks/>
          </p:cNvSpPr>
          <p:nvPr/>
        </p:nvSpPr>
        <p:spPr>
          <a:xfrm>
            <a:off x="634478" y="2726297"/>
            <a:ext cx="539719" cy="5397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C</a:t>
            </a:r>
          </a:p>
        </p:txBody>
      </p:sp>
      <p:sp>
        <p:nvSpPr>
          <p:cNvPr id="20" name="Rectangle 19">
            <a:extLst>
              <a:ext uri="{FF2B5EF4-FFF2-40B4-BE49-F238E27FC236}">
                <a16:creationId xmlns:a16="http://schemas.microsoft.com/office/drawing/2014/main" id="{0F57EF7A-2C7F-ABD7-C96E-85CDAE15539A}"/>
              </a:ext>
            </a:extLst>
          </p:cNvPr>
          <p:cNvSpPr>
            <a:spLocks/>
          </p:cNvSpPr>
          <p:nvPr/>
        </p:nvSpPr>
        <p:spPr>
          <a:xfrm>
            <a:off x="1430946" y="2738108"/>
            <a:ext cx="4572476" cy="539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srgbClr val="FFE600"/>
                </a:solidFill>
                <a:effectLst/>
                <a:uLnTx/>
                <a:uFillTx/>
                <a:latin typeface="EYInterstate"/>
                <a:ea typeface="+mn-ea"/>
                <a:cs typeface="Arial" panose="020B0604020202020204" pitchFamily="34" charset="0"/>
              </a:rPr>
              <a:t>Determine who must be consulted, e.g. stakeholder or subject matter expert (C=Consulted)</a:t>
            </a:r>
          </a:p>
        </p:txBody>
      </p:sp>
      <p:grpSp>
        <p:nvGrpSpPr>
          <p:cNvPr id="21" name="Group 20">
            <a:extLst>
              <a:ext uri="{FF2B5EF4-FFF2-40B4-BE49-F238E27FC236}">
                <a16:creationId xmlns:a16="http://schemas.microsoft.com/office/drawing/2014/main" id="{B1F9A769-4A14-D9FA-5908-8EA84C55E8E5}"/>
              </a:ext>
            </a:extLst>
          </p:cNvPr>
          <p:cNvGrpSpPr/>
          <p:nvPr/>
        </p:nvGrpSpPr>
        <p:grpSpPr>
          <a:xfrm>
            <a:off x="622853" y="3266016"/>
            <a:ext cx="5383583" cy="545951"/>
            <a:chOff x="436563" y="3731444"/>
            <a:chExt cx="5386387" cy="546235"/>
          </a:xfrm>
        </p:grpSpPr>
        <p:sp>
          <p:nvSpPr>
            <p:cNvPr id="22" name="Oval 21">
              <a:extLst>
                <a:ext uri="{FF2B5EF4-FFF2-40B4-BE49-F238E27FC236}">
                  <a16:creationId xmlns:a16="http://schemas.microsoft.com/office/drawing/2014/main" id="{9C2B382A-E495-C48B-CB66-921E71A36398}"/>
                </a:ext>
              </a:extLst>
            </p:cNvPr>
            <p:cNvSpPr/>
            <p:nvPr/>
          </p:nvSpPr>
          <p:spPr>
            <a:xfrm>
              <a:off x="436563" y="3737679"/>
              <a:ext cx="540000" cy="540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I</a:t>
              </a:r>
            </a:p>
          </p:txBody>
        </p:sp>
        <p:sp>
          <p:nvSpPr>
            <p:cNvPr id="23" name="Rectangle 22">
              <a:extLst>
                <a:ext uri="{FF2B5EF4-FFF2-40B4-BE49-F238E27FC236}">
                  <a16:creationId xmlns:a16="http://schemas.microsoft.com/office/drawing/2014/main" id="{34E60628-CE18-7A57-3B0E-60A3E417226D}"/>
                </a:ext>
              </a:extLst>
            </p:cNvPr>
            <p:cNvSpPr>
              <a:spLocks/>
            </p:cNvSpPr>
            <p:nvPr/>
          </p:nvSpPr>
          <p:spPr>
            <a:xfrm>
              <a:off x="1248093" y="3731444"/>
              <a:ext cx="4574857" cy="5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srgbClr val="FFE600"/>
                  </a:solidFill>
                  <a:effectLst/>
                  <a:uLnTx/>
                  <a:uFillTx/>
                  <a:latin typeface="EYInterstate"/>
                  <a:ea typeface="+mn-ea"/>
                  <a:cs typeface="Arial" panose="020B0604020202020204" pitchFamily="34" charset="0"/>
                </a:rPr>
                <a:t>Determine who must be informed about activity (I=Informed)</a:t>
              </a:r>
            </a:p>
          </p:txBody>
        </p:sp>
      </p:grpSp>
      <p:sp>
        <p:nvSpPr>
          <p:cNvPr id="24" name="Speech Bubble: Rectangle 23">
            <a:extLst>
              <a:ext uri="{FF2B5EF4-FFF2-40B4-BE49-F238E27FC236}">
                <a16:creationId xmlns:a16="http://schemas.microsoft.com/office/drawing/2014/main" id="{8A3E27DB-7C9F-4719-DABE-DE99F0BEB2BA}"/>
              </a:ext>
            </a:extLst>
          </p:cNvPr>
          <p:cNvSpPr/>
          <p:nvPr/>
        </p:nvSpPr>
        <p:spPr>
          <a:xfrm>
            <a:off x="698212" y="4054180"/>
            <a:ext cx="2144966" cy="738549"/>
          </a:xfrm>
          <a:prstGeom prst="wedgeRectCallout">
            <a:avLst>
              <a:gd name="adj1" fmla="val -34812"/>
              <a:gd name="adj2" fmla="val 81110"/>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1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Working sessions exclusively focused on “R’s”</a:t>
            </a:r>
          </a:p>
        </p:txBody>
      </p:sp>
      <p:sp>
        <p:nvSpPr>
          <p:cNvPr id="26" name="Speech Bubble: Rectangle 25">
            <a:extLst>
              <a:ext uri="{FF2B5EF4-FFF2-40B4-BE49-F238E27FC236}">
                <a16:creationId xmlns:a16="http://schemas.microsoft.com/office/drawing/2014/main" id="{9FF5D377-0F07-4B57-524C-1637F4C7BC4B}"/>
              </a:ext>
            </a:extLst>
          </p:cNvPr>
          <p:cNvSpPr/>
          <p:nvPr/>
        </p:nvSpPr>
        <p:spPr>
          <a:xfrm>
            <a:off x="892712" y="5283065"/>
            <a:ext cx="2144966" cy="738549"/>
          </a:xfrm>
          <a:prstGeom prst="wedgeRectCallout">
            <a:avLst>
              <a:gd name="adj1" fmla="val -15929"/>
              <a:gd name="adj2" fmla="val -94665"/>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1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Multiple “R’s” are possible </a:t>
            </a:r>
          </a:p>
        </p:txBody>
      </p:sp>
      <p:sp>
        <p:nvSpPr>
          <p:cNvPr id="33" name="Speech Bubble: Rectangle 32">
            <a:extLst>
              <a:ext uri="{FF2B5EF4-FFF2-40B4-BE49-F238E27FC236}">
                <a16:creationId xmlns:a16="http://schemas.microsoft.com/office/drawing/2014/main" id="{2CFF5E76-59F9-B7C7-3A36-8BADBF73D3F9}"/>
              </a:ext>
            </a:extLst>
          </p:cNvPr>
          <p:cNvSpPr/>
          <p:nvPr/>
        </p:nvSpPr>
        <p:spPr>
          <a:xfrm>
            <a:off x="4450190" y="4071811"/>
            <a:ext cx="2144966" cy="738549"/>
          </a:xfrm>
          <a:prstGeom prst="wedgeRectCallout">
            <a:avLst>
              <a:gd name="adj1" fmla="val -23676"/>
              <a:gd name="adj2" fmla="val 79704"/>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1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Complemented with “C” and “I” on some processes</a:t>
            </a:r>
          </a:p>
        </p:txBody>
      </p:sp>
      <p:sp>
        <p:nvSpPr>
          <p:cNvPr id="34" name="Rectangle 33">
            <a:extLst>
              <a:ext uri="{FF2B5EF4-FFF2-40B4-BE49-F238E27FC236}">
                <a16:creationId xmlns:a16="http://schemas.microsoft.com/office/drawing/2014/main" id="{7C513F95-08DA-5036-9E90-97673A49047F}"/>
              </a:ext>
            </a:extLst>
          </p:cNvPr>
          <p:cNvSpPr>
            <a:spLocks/>
          </p:cNvSpPr>
          <p:nvPr/>
        </p:nvSpPr>
        <p:spPr>
          <a:xfrm>
            <a:off x="6488690" y="1805875"/>
            <a:ext cx="1598704" cy="20713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srgbClr val="FFE600"/>
                </a:solidFill>
                <a:effectLst/>
                <a:uLnTx/>
                <a:uFillTx/>
                <a:latin typeface="EYInterstate"/>
                <a:ea typeface="+mn-ea"/>
                <a:cs typeface="Arial" panose="020B0604020202020204" pitchFamily="34" charset="0"/>
              </a:rPr>
              <a:t>Result in an activity split between BPO and retained organization</a:t>
            </a:r>
          </a:p>
        </p:txBody>
      </p:sp>
      <p:sp>
        <p:nvSpPr>
          <p:cNvPr id="35" name="Pfeil nach unten 33">
            <a:extLst>
              <a:ext uri="{FF2B5EF4-FFF2-40B4-BE49-F238E27FC236}">
                <a16:creationId xmlns:a16="http://schemas.microsoft.com/office/drawing/2014/main" id="{27715DEE-8FFF-F50A-D31E-655611274C77}"/>
              </a:ext>
            </a:extLst>
          </p:cNvPr>
          <p:cNvSpPr>
            <a:spLocks/>
          </p:cNvSpPr>
          <p:nvPr/>
        </p:nvSpPr>
        <p:spPr bwMode="gray">
          <a:xfrm rot="16200000">
            <a:off x="7307772" y="2731142"/>
            <a:ext cx="1519833" cy="274431"/>
          </a:xfrm>
          <a:prstGeom prst="downArrow">
            <a:avLst>
              <a:gd name="adj1" fmla="val 50000"/>
              <a:gd name="adj2" fmla="val 127388"/>
            </a:avLst>
          </a:prstGeom>
          <a:solidFill>
            <a:schemeClr val="accent3">
              <a:lumMod val="20000"/>
              <a:lumOff val="80000"/>
            </a:schemeClr>
          </a:solidFill>
          <a:ln w="12700">
            <a:noFill/>
            <a:round/>
            <a:headEnd/>
            <a:tailEnd/>
          </a:ln>
        </p:spPr>
        <p:txBody>
          <a:bodyP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399" b="0" i="0" u="none" strike="noStrike" kern="1200" cap="none" spc="0" normalizeH="0" baseline="0" noProof="0">
              <a:ln>
                <a:noFill/>
              </a:ln>
              <a:solidFill>
                <a:prstClr val="white"/>
              </a:solidFill>
              <a:effectLst/>
              <a:uLnTx/>
              <a:uFillTx/>
              <a:latin typeface="EYInterstate"/>
              <a:ea typeface="+mn-ea"/>
              <a:cs typeface="+mn-cs"/>
            </a:endParaRPr>
          </a:p>
        </p:txBody>
      </p:sp>
      <p:sp>
        <p:nvSpPr>
          <p:cNvPr id="37" name="Rectangle 36">
            <a:extLst>
              <a:ext uri="{FF2B5EF4-FFF2-40B4-BE49-F238E27FC236}">
                <a16:creationId xmlns:a16="http://schemas.microsoft.com/office/drawing/2014/main" id="{332F8C04-9B9A-2078-3222-BE879C9A6142}"/>
              </a:ext>
            </a:extLst>
          </p:cNvPr>
          <p:cNvSpPr>
            <a:spLocks/>
          </p:cNvSpPr>
          <p:nvPr/>
        </p:nvSpPr>
        <p:spPr>
          <a:xfrm>
            <a:off x="8404613" y="2069036"/>
            <a:ext cx="1751495" cy="1559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1399" b="0" i="0" u="none" strike="noStrike" kern="1200" cap="none" spc="0" normalizeH="0" baseline="0" noProof="0">
                <a:ln>
                  <a:noFill/>
                </a:ln>
                <a:solidFill>
                  <a:srgbClr val="FFE600"/>
                </a:solidFill>
                <a:effectLst/>
                <a:uLnTx/>
                <a:uFillTx/>
                <a:latin typeface="EYInterstate"/>
                <a:ea typeface="+mn-ea"/>
                <a:cs typeface="Arial" panose="020B0604020202020204" pitchFamily="34" charset="0"/>
              </a:rPr>
              <a:t>Sign off from GPOs for current RACI (and handover of ownership)</a:t>
            </a:r>
          </a:p>
        </p:txBody>
      </p:sp>
      <p:sp>
        <p:nvSpPr>
          <p:cNvPr id="39" name="Speech Bubble: Rectangle 38">
            <a:extLst>
              <a:ext uri="{FF2B5EF4-FFF2-40B4-BE49-F238E27FC236}">
                <a16:creationId xmlns:a16="http://schemas.microsoft.com/office/drawing/2014/main" id="{D6505B89-008E-E286-6D0D-E617E63EDC36}"/>
              </a:ext>
            </a:extLst>
          </p:cNvPr>
          <p:cNvSpPr/>
          <p:nvPr/>
        </p:nvSpPr>
        <p:spPr>
          <a:xfrm>
            <a:off x="3610559" y="5240979"/>
            <a:ext cx="2144966" cy="738549"/>
          </a:xfrm>
          <a:prstGeom prst="wedgeRectCallout">
            <a:avLst>
              <a:gd name="adj1" fmla="val -64562"/>
              <a:gd name="adj2" fmla="val 25956"/>
            </a:avLst>
          </a:prstGeom>
          <a:noFill/>
          <a:ln>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199" b="0" i="0" u="none" strike="noStrike" kern="1200" cap="none" spc="0" normalizeH="0" baseline="0" noProof="0">
                <a:ln>
                  <a:noFill/>
                </a:ln>
                <a:solidFill>
                  <a:prstClr val="white"/>
                </a:solidFill>
                <a:effectLst/>
                <a:uLnTx/>
                <a:uFillTx/>
                <a:latin typeface="EYInterstate"/>
                <a:ea typeface="+mn-ea"/>
                <a:cs typeface="Arial" panose="020B0604020202020204" pitchFamily="34" charset="0"/>
              </a:rPr>
              <a:t>Added “A” for accountability; where no A is recorded, R=A applies</a:t>
            </a:r>
          </a:p>
        </p:txBody>
      </p:sp>
      <p:sp>
        <p:nvSpPr>
          <p:cNvPr id="46" name="Rectangle 45">
            <a:extLst>
              <a:ext uri="{FF2B5EF4-FFF2-40B4-BE49-F238E27FC236}">
                <a16:creationId xmlns:a16="http://schemas.microsoft.com/office/drawing/2014/main" id="{23DF26E6-4C3A-91E7-FCB1-A9A87EA9BEC8}"/>
              </a:ext>
            </a:extLst>
          </p:cNvPr>
          <p:cNvSpPr/>
          <p:nvPr/>
        </p:nvSpPr>
        <p:spPr bwMode="auto">
          <a:xfrm>
            <a:off x="541068" y="1413826"/>
            <a:ext cx="9945133" cy="2463355"/>
          </a:xfrm>
          <a:prstGeom prst="rect">
            <a:avLst/>
          </a:prstGeom>
          <a:noFill/>
          <a:ln w="222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1018665" rtl="0" eaLnBrk="1" fontAlgn="base" latinLnBrk="0" hangingPunct="1">
              <a:lnSpc>
                <a:spcPct val="100000"/>
              </a:lnSpc>
              <a:spcBef>
                <a:spcPct val="0"/>
              </a:spcBef>
              <a:spcAft>
                <a:spcPts val="600"/>
              </a:spcAft>
              <a:buClrTx/>
              <a:buSzTx/>
              <a:buFontTx/>
              <a:buNone/>
              <a:tabLst/>
              <a:defRPr/>
            </a:pPr>
            <a:r>
              <a:rPr kumimoji="0" lang="en-US" sz="1799" b="0" i="0" u="none" strike="noStrike" kern="1200" cap="none" spc="0" normalizeH="0" baseline="0" noProof="0">
                <a:ln>
                  <a:noFill/>
                </a:ln>
                <a:solidFill>
                  <a:prstClr val="white"/>
                </a:solidFill>
                <a:effectLst/>
                <a:uLnTx/>
                <a:uFillTx/>
                <a:latin typeface="EYInterstate" panose="02000503020000020004" pitchFamily="2" charset="0"/>
              </a:rPr>
              <a:t>RACI Methodology</a:t>
            </a:r>
          </a:p>
        </p:txBody>
      </p:sp>
      <p:sp>
        <p:nvSpPr>
          <p:cNvPr id="49" name="Title 1">
            <a:extLst>
              <a:ext uri="{FF2B5EF4-FFF2-40B4-BE49-F238E27FC236}">
                <a16:creationId xmlns:a16="http://schemas.microsoft.com/office/drawing/2014/main" id="{B7C5448B-1CCB-3C8D-7B58-5BE636C06E4B}"/>
              </a:ext>
            </a:extLst>
          </p:cNvPr>
          <p:cNvSpPr>
            <a:spLocks noGrp="1"/>
          </p:cNvSpPr>
          <p:nvPr>
            <p:ph type="title"/>
          </p:nvPr>
        </p:nvSpPr>
        <p:spPr>
          <a:xfrm>
            <a:off x="591312" y="476568"/>
            <a:ext cx="10972800" cy="590550"/>
          </a:xfrm>
        </p:spPr>
        <p:txBody>
          <a:bodyPr vert="horz" lIns="0" tIns="0" rIns="0" bIns="0" rtlCol="0" anchor="t" anchorCtr="0">
            <a:noAutofit/>
          </a:bodyPr>
          <a:lstStyle/>
          <a:p>
            <a:pPr defTabSz="913942">
              <a:spcBef>
                <a:spcPts val="0"/>
              </a:spcBef>
            </a:pPr>
            <a:r>
              <a:rPr lang="en-US" b="1">
                <a:solidFill>
                  <a:srgbClr val="FFE600"/>
                </a:solidFill>
                <a:latin typeface="EY interstate heading"/>
                <a:ea typeface="+mn-ea"/>
                <a:cs typeface="Arial" pitchFamily="34"/>
              </a:rPr>
              <a:t>Record to Report : RACI methodology (part</a:t>
            </a:r>
            <a:r>
              <a:rPr lang="pl-PL" b="1">
                <a:solidFill>
                  <a:srgbClr val="FFE600"/>
                </a:solidFill>
                <a:latin typeface="EY interstate heading"/>
                <a:ea typeface="+mn-ea"/>
                <a:cs typeface="Arial" pitchFamily="34"/>
              </a:rPr>
              <a:t>1</a:t>
            </a:r>
            <a:r>
              <a:rPr lang="en-US" b="1">
                <a:solidFill>
                  <a:srgbClr val="FFE600"/>
                </a:solidFill>
                <a:latin typeface="EY interstate heading"/>
                <a:ea typeface="+mn-ea"/>
                <a:cs typeface="Arial" pitchFamily="34"/>
              </a:rPr>
              <a:t>)</a:t>
            </a:r>
          </a:p>
        </p:txBody>
      </p:sp>
    </p:spTree>
    <p:extLst>
      <p:ext uri="{BB962C8B-B14F-4D97-AF65-F5344CB8AC3E}">
        <p14:creationId xmlns:p14="http://schemas.microsoft.com/office/powerpoint/2010/main" val="250857347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2EAB99-13BA-BA58-C968-879C76F29603}"/>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C15A7C1-5191-8BF2-BA2C-843B5D32BED6}"/>
              </a:ext>
            </a:extLst>
          </p:cNvPr>
          <p:cNvSpPr>
            <a:spLocks noGrp="1"/>
          </p:cNvSpPr>
          <p:nvPr>
            <p:ph type="sldNum" sz="quarter" idx="12"/>
          </p:nvPr>
        </p:nvSpPr>
        <p:spPr/>
        <p:txBody>
          <a:bodyPr/>
          <a:lstStyle/>
          <a:p>
            <a:r>
              <a:rPr lang="en-US" noProof="0"/>
              <a:t>Page </a:t>
            </a:r>
            <a:fld id="{F1BC30E3-FFE5-4B91-AA19-87A149EBB9EE}" type="slidenum">
              <a:rPr lang="en-US" noProof="0" smtClean="0"/>
              <a:pPr/>
              <a:t>73</a:t>
            </a:fld>
            <a:endParaRPr lang="en-US" noProof="0"/>
          </a:p>
        </p:txBody>
      </p:sp>
      <p:sp>
        <p:nvSpPr>
          <p:cNvPr id="4" name="Footer Placeholder 3">
            <a:extLst>
              <a:ext uri="{FF2B5EF4-FFF2-40B4-BE49-F238E27FC236}">
                <a16:creationId xmlns:a16="http://schemas.microsoft.com/office/drawing/2014/main" id="{57726792-A500-0B42-E21C-33FFF8C17EED}"/>
              </a:ext>
            </a:extLst>
          </p:cNvPr>
          <p:cNvSpPr>
            <a:spLocks noGrp="1"/>
          </p:cNvSpPr>
          <p:nvPr>
            <p:ph type="ftr" sz="quarter" idx="4294967295"/>
          </p:nvPr>
        </p:nvSpPr>
        <p:spPr>
          <a:xfrm>
            <a:off x="0" y="6470650"/>
            <a:ext cx="3084513" cy="180975"/>
          </a:xfrm>
          <a:prstGeom prst="rect">
            <a:avLst/>
          </a:prstGeom>
        </p:spPr>
        <p:txBody>
          <a:bodyPr/>
          <a:lstStyle/>
          <a:p>
            <a:r>
              <a:rPr lang="en-US" noProof="0"/>
              <a:t>Presentation title</a:t>
            </a:r>
          </a:p>
        </p:txBody>
      </p:sp>
      <p:sp>
        <p:nvSpPr>
          <p:cNvPr id="49" name="Title 1">
            <a:extLst>
              <a:ext uri="{FF2B5EF4-FFF2-40B4-BE49-F238E27FC236}">
                <a16:creationId xmlns:a16="http://schemas.microsoft.com/office/drawing/2014/main" id="{890B3945-636C-BDDE-EF72-91D43C54D158}"/>
              </a:ext>
            </a:extLst>
          </p:cNvPr>
          <p:cNvSpPr>
            <a:spLocks noGrp="1"/>
          </p:cNvSpPr>
          <p:nvPr>
            <p:ph type="title"/>
          </p:nvPr>
        </p:nvSpPr>
        <p:spPr>
          <a:xfrm>
            <a:off x="591312" y="485712"/>
            <a:ext cx="10972800" cy="590550"/>
          </a:xfrm>
        </p:spPr>
        <p:txBody>
          <a:bodyPr vert="horz" lIns="0" tIns="0" rIns="0" bIns="0" rtlCol="0" anchor="t" anchorCtr="0">
            <a:noAutofit/>
          </a:bodyPr>
          <a:lstStyle/>
          <a:p>
            <a:pPr defTabSz="913942">
              <a:spcBef>
                <a:spcPts val="0"/>
              </a:spcBef>
            </a:pPr>
            <a:r>
              <a:rPr lang="en-US" b="1">
                <a:solidFill>
                  <a:srgbClr val="FFE600"/>
                </a:solidFill>
                <a:latin typeface="EY interstate heading"/>
                <a:ea typeface="+mn-ea"/>
                <a:cs typeface="Arial" pitchFamily="34"/>
              </a:rPr>
              <a:t>Record to Report : RACI methodology (part</a:t>
            </a:r>
            <a:r>
              <a:rPr lang="en-IN" b="1">
                <a:solidFill>
                  <a:srgbClr val="FFE600"/>
                </a:solidFill>
                <a:latin typeface="EY interstate heading"/>
                <a:ea typeface="+mn-ea"/>
                <a:cs typeface="Arial" pitchFamily="34"/>
              </a:rPr>
              <a:t> 2</a:t>
            </a:r>
            <a:r>
              <a:rPr lang="en-US" b="1">
                <a:solidFill>
                  <a:srgbClr val="FFE600"/>
                </a:solidFill>
                <a:latin typeface="EY interstate heading"/>
                <a:ea typeface="+mn-ea"/>
                <a:cs typeface="Arial" pitchFamily="34"/>
              </a:rPr>
              <a:t>)</a:t>
            </a:r>
          </a:p>
        </p:txBody>
      </p:sp>
      <p:sp>
        <p:nvSpPr>
          <p:cNvPr id="78" name="Slide Number Placeholder 4">
            <a:extLst>
              <a:ext uri="{FF2B5EF4-FFF2-40B4-BE49-F238E27FC236}">
                <a16:creationId xmlns:a16="http://schemas.microsoft.com/office/drawing/2014/main" id="{D57BBE48-531C-C604-7A06-B1D4ECC77E67}"/>
              </a:ext>
            </a:extLst>
          </p:cNvPr>
          <p:cNvSpPr txBox="1">
            <a:spLocks/>
          </p:cNvSpPr>
          <p:nvPr/>
        </p:nvSpPr>
        <p:spPr>
          <a:xfrm>
            <a:off x="11312982" y="6415139"/>
            <a:ext cx="460135" cy="123047"/>
          </a:xfrm>
          <a:prstGeom prst="rect">
            <a:avLst/>
          </a:prstGeom>
        </p:spPr>
        <p:txBody>
          <a:bodyPr vert="horz" lIns="0" tIns="0" rIns="0" bIns="0" rtlCol="0" anchor="ctr"/>
          <a:lstStyle>
            <a:defPPr>
              <a:defRPr lang="en-US"/>
            </a:defPPr>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C61E105A-846E-1A4F-A101-59388EB304B3}" type="slidenum">
              <a:rPr lang="en-US" smtClean="0">
                <a:solidFill>
                  <a:prstClr val="white"/>
                </a:solidFill>
              </a:rPr>
              <a:pPr>
                <a:defRPr/>
              </a:pPr>
              <a:t>73</a:t>
            </a:fld>
            <a:endParaRPr lang="en-US">
              <a:solidFill>
                <a:prstClr val="white"/>
              </a:solidFill>
            </a:endParaRPr>
          </a:p>
        </p:txBody>
      </p:sp>
      <p:sp>
        <p:nvSpPr>
          <p:cNvPr id="79" name="Rectangle 78">
            <a:extLst>
              <a:ext uri="{FF2B5EF4-FFF2-40B4-BE49-F238E27FC236}">
                <a16:creationId xmlns:a16="http://schemas.microsoft.com/office/drawing/2014/main" id="{9E483A68-FCA5-A744-2FB4-5B8A3EDD99F0}"/>
              </a:ext>
            </a:extLst>
          </p:cNvPr>
          <p:cNvSpPr>
            <a:spLocks/>
          </p:cNvSpPr>
          <p:nvPr/>
        </p:nvSpPr>
        <p:spPr>
          <a:xfrm>
            <a:off x="443789" y="1650341"/>
            <a:ext cx="3589267" cy="4783820"/>
          </a:xfrm>
          <a:prstGeom prst="rect">
            <a:avLst/>
          </a:prstGeom>
          <a:no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prstClr val="white"/>
              </a:solidFill>
              <a:effectLst/>
              <a:uLnTx/>
              <a:uFillTx/>
              <a:latin typeface="EYInterstate" panose="02000503020000020004" pitchFamily="2" charset="0"/>
              <a:cs typeface="Arial" panose="020B0604020202020204" pitchFamily="34" charset="0"/>
            </a:endParaRPr>
          </a:p>
          <a:p>
            <a:pPr marL="285607" marR="0" lvl="0" indent="-285607"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Assign “R”, indicating the responsible person to do the job, to each activity</a:t>
            </a:r>
          </a:p>
          <a:p>
            <a:pPr marL="285607" marR="0" lvl="0" indent="-285607"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Illustrate the interfaces, stakeholder involvement and hand-overs between tasks</a:t>
            </a:r>
          </a:p>
          <a:p>
            <a:pPr marL="285607" marR="0" lvl="0" indent="-285607"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Consider stakeholders group such as the BPO provider, local finance organization and external parties</a:t>
            </a:r>
          </a:p>
          <a:p>
            <a:pPr marL="285607" marR="0" lvl="0" indent="-285607"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Calculate of the arithmetic split (distribution of “R”s)</a:t>
            </a:r>
          </a:p>
        </p:txBody>
      </p:sp>
      <p:sp>
        <p:nvSpPr>
          <p:cNvPr id="80" name="Rectangle 79">
            <a:extLst>
              <a:ext uri="{FF2B5EF4-FFF2-40B4-BE49-F238E27FC236}">
                <a16:creationId xmlns:a16="http://schemas.microsoft.com/office/drawing/2014/main" id="{EE571A48-3FCF-F615-B737-EC5C6C003803}"/>
              </a:ext>
            </a:extLst>
          </p:cNvPr>
          <p:cNvSpPr>
            <a:spLocks/>
          </p:cNvSpPr>
          <p:nvPr/>
        </p:nvSpPr>
        <p:spPr>
          <a:xfrm>
            <a:off x="4301919" y="1650341"/>
            <a:ext cx="3589267" cy="4783820"/>
          </a:xfrm>
          <a:prstGeom prst="rect">
            <a:avLst/>
          </a:prstGeom>
          <a:no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285607" marR="0" lvl="0" indent="-285607"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Aggregate the “R”s on process level 3 and 2 for gaining visibility on overarching processes</a:t>
            </a:r>
          </a:p>
          <a:p>
            <a:pPr marL="285607" marR="0" lvl="0" indent="-285607"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Develop the activity split by translating qualitative information into quantitative data </a:t>
            </a: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sym typeface="Wingdings" panose="05000000000000000000" pitchFamily="2" charset="2"/>
              </a:rPr>
              <a:t> each “R” is weighted 100%</a:t>
            </a:r>
            <a:endPar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endParaRPr>
          </a:p>
        </p:txBody>
      </p:sp>
      <p:sp>
        <p:nvSpPr>
          <p:cNvPr id="81" name="Rectangle 80">
            <a:extLst>
              <a:ext uri="{FF2B5EF4-FFF2-40B4-BE49-F238E27FC236}">
                <a16:creationId xmlns:a16="http://schemas.microsoft.com/office/drawing/2014/main" id="{AC87442E-DC14-A893-E253-35F5179522E6}"/>
              </a:ext>
            </a:extLst>
          </p:cNvPr>
          <p:cNvSpPr>
            <a:spLocks/>
          </p:cNvSpPr>
          <p:nvPr/>
        </p:nvSpPr>
        <p:spPr>
          <a:xfrm>
            <a:off x="8160050" y="1650341"/>
            <a:ext cx="3589267" cy="4783820"/>
          </a:xfrm>
          <a:prstGeom prst="rect">
            <a:avLst/>
          </a:prstGeom>
          <a:no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E600"/>
              </a:solidFill>
              <a:effectLst/>
              <a:uLnTx/>
              <a:uFillTx/>
              <a:latin typeface="Arial" panose="020B0604020202020204" pitchFamily="34" charset="0"/>
              <a:ea typeface="+mn-ea"/>
              <a:cs typeface="Arial" panose="020B0604020202020204" pitchFamily="34" charset="0"/>
            </a:endParaRPr>
          </a:p>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a:p>
            <a:pPr marL="171364" marR="0" lvl="0" indent="-171364"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Compare and validate the responsibilities/ activity split with Target Operating Model assumptions</a:t>
            </a:r>
          </a:p>
          <a:p>
            <a:pPr marL="171364" marR="0" lvl="0" indent="-171364" algn="l" defTabSz="913943"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199" b="0" i="0" u="none" strike="noStrike" kern="1200" cap="none" spc="0" normalizeH="0" baseline="0" noProof="0">
                <a:ln>
                  <a:noFill/>
                </a:ln>
                <a:solidFill>
                  <a:srgbClr val="FFE600"/>
                </a:solidFill>
                <a:effectLst/>
                <a:uLnTx/>
                <a:uFillTx/>
                <a:latin typeface="EYInterstate" panose="02000503020000020004" pitchFamily="2" charset="0"/>
                <a:cs typeface="Arial" panose="020B0604020202020204" pitchFamily="34" charset="0"/>
              </a:rPr>
              <a:t>Set up a regular review cycle to keep activity split updated based on future process adjustments </a:t>
            </a:r>
          </a:p>
        </p:txBody>
      </p:sp>
      <p:sp>
        <p:nvSpPr>
          <p:cNvPr id="82" name="Isosceles Triangle 81">
            <a:extLst>
              <a:ext uri="{FF2B5EF4-FFF2-40B4-BE49-F238E27FC236}">
                <a16:creationId xmlns:a16="http://schemas.microsoft.com/office/drawing/2014/main" id="{D5461EB4-77F0-CFF9-0882-5CBB0ACF6C01}"/>
              </a:ext>
            </a:extLst>
          </p:cNvPr>
          <p:cNvSpPr>
            <a:spLocks/>
          </p:cNvSpPr>
          <p:nvPr/>
        </p:nvSpPr>
        <p:spPr>
          <a:xfrm rot="5400000">
            <a:off x="3708725" y="2552919"/>
            <a:ext cx="917522" cy="103545"/>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a:ln>
                <a:noFill/>
              </a:ln>
              <a:solidFill>
                <a:prstClr val="white"/>
              </a:solidFill>
              <a:effectLst/>
              <a:uLnTx/>
              <a:uFillTx/>
              <a:latin typeface="EYInterstate"/>
              <a:ea typeface="+mn-ea"/>
              <a:cs typeface="+mn-cs"/>
            </a:endParaRPr>
          </a:p>
        </p:txBody>
      </p:sp>
      <p:sp>
        <p:nvSpPr>
          <p:cNvPr id="83" name="Isosceles Triangle 82">
            <a:extLst>
              <a:ext uri="{FF2B5EF4-FFF2-40B4-BE49-F238E27FC236}">
                <a16:creationId xmlns:a16="http://schemas.microsoft.com/office/drawing/2014/main" id="{3EDC8914-BAAE-6A7D-C332-D1418AF6F2A0}"/>
              </a:ext>
            </a:extLst>
          </p:cNvPr>
          <p:cNvSpPr>
            <a:spLocks/>
          </p:cNvSpPr>
          <p:nvPr/>
        </p:nvSpPr>
        <p:spPr>
          <a:xfrm rot="5400000">
            <a:off x="7566856" y="2552919"/>
            <a:ext cx="917522" cy="103545"/>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a:ln>
                <a:noFill/>
              </a:ln>
              <a:solidFill>
                <a:prstClr val="white"/>
              </a:solidFill>
              <a:effectLst/>
              <a:uLnTx/>
              <a:uFillTx/>
              <a:latin typeface="EYInterstate"/>
              <a:ea typeface="+mn-ea"/>
              <a:cs typeface="+mn-cs"/>
            </a:endParaRPr>
          </a:p>
        </p:txBody>
      </p:sp>
      <p:sp>
        <p:nvSpPr>
          <p:cNvPr id="84" name="Rectangle 83">
            <a:extLst>
              <a:ext uri="{FF2B5EF4-FFF2-40B4-BE49-F238E27FC236}">
                <a16:creationId xmlns:a16="http://schemas.microsoft.com/office/drawing/2014/main" id="{4C98881D-0876-C1AF-E888-0A72CD1CC87C}"/>
              </a:ext>
            </a:extLst>
          </p:cNvPr>
          <p:cNvSpPr>
            <a:spLocks/>
          </p:cNvSpPr>
          <p:nvPr/>
        </p:nvSpPr>
        <p:spPr>
          <a:xfrm>
            <a:off x="443789" y="1780381"/>
            <a:ext cx="3589267" cy="16486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5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85" name="TextBox 84">
            <a:extLst>
              <a:ext uri="{FF2B5EF4-FFF2-40B4-BE49-F238E27FC236}">
                <a16:creationId xmlns:a16="http://schemas.microsoft.com/office/drawing/2014/main" id="{8C541DAF-708E-D236-F2E6-F7D75092A4E2}"/>
              </a:ext>
            </a:extLst>
          </p:cNvPr>
          <p:cNvSpPr txBox="1">
            <a:spLocks/>
          </p:cNvSpPr>
          <p:nvPr/>
        </p:nvSpPr>
        <p:spPr>
          <a:xfrm>
            <a:off x="443789" y="1280644"/>
            <a:ext cx="3589267" cy="369695"/>
          </a:xfrm>
          <a:prstGeom prst="rect">
            <a:avLst/>
          </a:prstGeom>
          <a:solidFill>
            <a:schemeClr val="tx1"/>
          </a:solidFill>
          <a:ln>
            <a:solidFill>
              <a:schemeClr val="tx1">
                <a:lumMod val="60000"/>
                <a:lumOff val="40000"/>
              </a:schemeClr>
            </a:solidFill>
          </a:ln>
        </p:spPr>
        <p:txBody>
          <a:bodyPr wrap="square" lIns="35981" tIns="35981" rIns="35981" bIns="35981" numCol="1" rtlCol="0" anchor="ctr">
            <a:noAutofit/>
          </a:bodyPr>
          <a:lstStyle/>
          <a:p>
            <a:pPr marL="719640" marR="0" lvl="0" indent="0" defTabSz="913943" rtl="0" eaLnBrk="1" fontAlgn="auto" latinLnBrk="0" hangingPunct="1">
              <a:lnSpc>
                <a:spcPct val="100000"/>
              </a:lnSpc>
              <a:spcBef>
                <a:spcPts val="0"/>
              </a:spcBef>
              <a:spcAft>
                <a:spcPts val="200"/>
              </a:spcAft>
              <a:buClrTx/>
              <a:buSzTx/>
              <a:buFontTx/>
              <a:buNone/>
              <a:tabLst/>
              <a:defRPr/>
            </a:pPr>
            <a:r>
              <a:rPr kumimoji="0" lang="en-US" sz="1200" b="1" i="0" u="none" strike="noStrike" kern="1200" cap="none" spc="0" normalizeH="0" baseline="0" noProof="0">
                <a:ln>
                  <a:noFill/>
                </a:ln>
                <a:solidFill>
                  <a:prstClr val="white"/>
                </a:solidFill>
                <a:effectLst/>
                <a:uLnTx/>
                <a:uFillTx/>
                <a:latin typeface="EYInterstate"/>
                <a:ea typeface="+mn-ea"/>
                <a:cs typeface="+mn-cs"/>
              </a:rPr>
              <a:t>Determine RACI on process level 4</a:t>
            </a:r>
          </a:p>
        </p:txBody>
      </p:sp>
      <p:grpSp>
        <p:nvGrpSpPr>
          <p:cNvPr id="86" name="Group 85">
            <a:extLst>
              <a:ext uri="{FF2B5EF4-FFF2-40B4-BE49-F238E27FC236}">
                <a16:creationId xmlns:a16="http://schemas.microsoft.com/office/drawing/2014/main" id="{4FCC41D4-C27F-D163-E353-7972C88B048F}"/>
              </a:ext>
            </a:extLst>
          </p:cNvPr>
          <p:cNvGrpSpPr>
            <a:grpSpLocks/>
          </p:cNvGrpSpPr>
          <p:nvPr/>
        </p:nvGrpSpPr>
        <p:grpSpPr>
          <a:xfrm>
            <a:off x="527896" y="1189831"/>
            <a:ext cx="520312" cy="590550"/>
            <a:chOff x="528169" y="1149539"/>
            <a:chExt cx="630107" cy="630107"/>
          </a:xfrm>
        </p:grpSpPr>
        <p:sp>
          <p:nvSpPr>
            <p:cNvPr id="87" name="Oval 86">
              <a:extLst>
                <a:ext uri="{FF2B5EF4-FFF2-40B4-BE49-F238E27FC236}">
                  <a16:creationId xmlns:a16="http://schemas.microsoft.com/office/drawing/2014/main" id="{A2DE9693-CE66-345F-A654-4D76C61290DC}"/>
                </a:ext>
              </a:extLst>
            </p:cNvPr>
            <p:cNvSpPr>
              <a:spLocks/>
            </p:cNvSpPr>
            <p:nvPr/>
          </p:nvSpPr>
          <p:spPr>
            <a:xfrm>
              <a:off x="528169" y="1149539"/>
              <a:ext cx="630107" cy="630107"/>
            </a:xfrm>
            <a:prstGeom prst="ellipse">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88" name="Oval 87">
              <a:extLst>
                <a:ext uri="{FF2B5EF4-FFF2-40B4-BE49-F238E27FC236}">
                  <a16:creationId xmlns:a16="http://schemas.microsoft.com/office/drawing/2014/main" id="{B152BF01-D094-0431-85A7-61A7744C9E75}"/>
                </a:ext>
              </a:extLst>
            </p:cNvPr>
            <p:cNvSpPr>
              <a:spLocks/>
            </p:cNvSpPr>
            <p:nvPr/>
          </p:nvSpPr>
          <p:spPr>
            <a:xfrm>
              <a:off x="615684" y="1237054"/>
              <a:ext cx="455077" cy="455077"/>
            </a:xfrm>
            <a:prstGeom prst="ellipse">
              <a:avLst/>
            </a:prstGeom>
            <a:solidFill>
              <a:schemeClr val="bg1"/>
            </a:solidFill>
            <a:ln w="19050" cap="flat" cmpd="sng" algn="ctr">
              <a:solidFill>
                <a:schemeClr val="tx1"/>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799" b="1" i="0" u="none" strike="noStrike" kern="120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sym typeface="Arial" panose="020B0604020202020204" pitchFamily="34" charset="0"/>
                </a:rPr>
                <a:t>1</a:t>
              </a:r>
            </a:p>
          </p:txBody>
        </p:sp>
      </p:grpSp>
      <p:sp>
        <p:nvSpPr>
          <p:cNvPr id="89" name="TextBox 88">
            <a:extLst>
              <a:ext uri="{FF2B5EF4-FFF2-40B4-BE49-F238E27FC236}">
                <a16:creationId xmlns:a16="http://schemas.microsoft.com/office/drawing/2014/main" id="{2735A851-06F4-12D8-36C0-63C99E33702F}"/>
              </a:ext>
            </a:extLst>
          </p:cNvPr>
          <p:cNvSpPr txBox="1">
            <a:spLocks/>
          </p:cNvSpPr>
          <p:nvPr/>
        </p:nvSpPr>
        <p:spPr>
          <a:xfrm>
            <a:off x="4301919" y="1280644"/>
            <a:ext cx="3589267" cy="369695"/>
          </a:xfrm>
          <a:prstGeom prst="rect">
            <a:avLst/>
          </a:prstGeom>
          <a:solidFill>
            <a:schemeClr val="tx1"/>
          </a:solidFill>
          <a:ln>
            <a:solidFill>
              <a:schemeClr val="tx1">
                <a:lumMod val="60000"/>
                <a:lumOff val="40000"/>
              </a:schemeClr>
            </a:solidFill>
          </a:ln>
        </p:spPr>
        <p:txBody>
          <a:bodyPr wrap="square" lIns="35981" tIns="35981" rIns="35981" bIns="35981" numCol="1" rtlCol="0" anchor="ctr">
            <a:noAutofit/>
          </a:bodyPr>
          <a:lstStyle>
            <a:defPPr>
              <a:defRPr lang="en-US"/>
            </a:defPPr>
            <a:lvl1pPr marL="720000" algn="ctr">
              <a:spcAft>
                <a:spcPts val="200"/>
              </a:spcAft>
              <a:defRPr sz="1200" b="1">
                <a:solidFill>
                  <a:schemeClr val="bg1"/>
                </a:solidFill>
                <a:latin typeface="+mj-lt"/>
              </a:defRPr>
            </a:lvl1pPr>
          </a:lstStyle>
          <a:p>
            <a:pPr marL="719640" marR="0" lvl="0" indent="0" algn="ctr" defTabSz="913943" rtl="0" eaLnBrk="1" fontAlgn="auto" latinLnBrk="0" hangingPunct="1">
              <a:lnSpc>
                <a:spcPct val="100000"/>
              </a:lnSpc>
              <a:spcBef>
                <a:spcPts val="0"/>
              </a:spcBef>
              <a:spcAft>
                <a:spcPts val="200"/>
              </a:spcAft>
              <a:buClrTx/>
              <a:buSzTx/>
              <a:buFontTx/>
              <a:buNone/>
              <a:tabLst/>
              <a:defRPr/>
            </a:pPr>
            <a:r>
              <a:rPr kumimoji="0" lang="en-US" sz="1199" b="1" i="0" u="none" strike="noStrike" kern="1200" cap="none" spc="0" normalizeH="0" baseline="0" noProof="0">
                <a:ln>
                  <a:noFill/>
                </a:ln>
                <a:solidFill>
                  <a:prstClr val="white"/>
                </a:solidFill>
                <a:effectLst/>
                <a:uLnTx/>
                <a:uFillTx/>
                <a:latin typeface="EYInterstate"/>
                <a:ea typeface="+mn-ea"/>
                <a:cs typeface="+mn-cs"/>
              </a:rPr>
              <a:t>Develop process activity split</a:t>
            </a:r>
          </a:p>
        </p:txBody>
      </p:sp>
      <p:sp>
        <p:nvSpPr>
          <p:cNvPr id="90" name="TextBox 89">
            <a:extLst>
              <a:ext uri="{FF2B5EF4-FFF2-40B4-BE49-F238E27FC236}">
                <a16:creationId xmlns:a16="http://schemas.microsoft.com/office/drawing/2014/main" id="{91DD62D3-0AB2-CA17-6884-77FFAACDA742}"/>
              </a:ext>
            </a:extLst>
          </p:cNvPr>
          <p:cNvSpPr txBox="1">
            <a:spLocks/>
          </p:cNvSpPr>
          <p:nvPr/>
        </p:nvSpPr>
        <p:spPr>
          <a:xfrm>
            <a:off x="8160050" y="1280644"/>
            <a:ext cx="3589267" cy="369695"/>
          </a:xfrm>
          <a:prstGeom prst="rect">
            <a:avLst/>
          </a:prstGeom>
          <a:solidFill>
            <a:schemeClr val="tx1"/>
          </a:solidFill>
          <a:ln>
            <a:solidFill>
              <a:schemeClr val="tx1">
                <a:lumMod val="60000"/>
                <a:lumOff val="40000"/>
              </a:schemeClr>
            </a:solidFill>
          </a:ln>
        </p:spPr>
        <p:txBody>
          <a:bodyPr wrap="square" lIns="35981" tIns="35981" rIns="35981" bIns="35981" numCol="1" rtlCol="0" anchor="ctr">
            <a:noAutofit/>
          </a:bodyPr>
          <a:lstStyle>
            <a:defPPr>
              <a:defRPr lang="en-US"/>
            </a:defPPr>
            <a:lvl1pPr marL="720000" algn="ctr">
              <a:spcAft>
                <a:spcPts val="200"/>
              </a:spcAft>
              <a:defRPr sz="1200" b="1">
                <a:solidFill>
                  <a:schemeClr val="bg1"/>
                </a:solidFill>
                <a:latin typeface="+mj-lt"/>
              </a:defRPr>
            </a:lvl1pPr>
          </a:lstStyle>
          <a:p>
            <a:pPr marL="719640" marR="0" lvl="0" indent="0" algn="ctr" defTabSz="913943" rtl="0" eaLnBrk="1" fontAlgn="auto" latinLnBrk="0" hangingPunct="1">
              <a:lnSpc>
                <a:spcPct val="100000"/>
              </a:lnSpc>
              <a:spcBef>
                <a:spcPts val="0"/>
              </a:spcBef>
              <a:spcAft>
                <a:spcPts val="200"/>
              </a:spcAft>
              <a:buClrTx/>
              <a:buSzTx/>
              <a:buFontTx/>
              <a:buNone/>
              <a:tabLst/>
              <a:defRPr/>
            </a:pPr>
            <a:r>
              <a:rPr kumimoji="0" lang="en-US" sz="1199" b="1" i="0" u="none" strike="noStrike" kern="1200" cap="none" spc="0" normalizeH="0" baseline="0" noProof="0">
                <a:ln>
                  <a:noFill/>
                </a:ln>
                <a:solidFill>
                  <a:prstClr val="white"/>
                </a:solidFill>
                <a:effectLst/>
                <a:uLnTx/>
                <a:uFillTx/>
                <a:latin typeface="EYInterstate"/>
                <a:ea typeface="+mn-ea"/>
                <a:cs typeface="+mn-cs"/>
              </a:rPr>
              <a:t>Validate and update TOM</a:t>
            </a:r>
          </a:p>
        </p:txBody>
      </p:sp>
      <p:grpSp>
        <p:nvGrpSpPr>
          <p:cNvPr id="91" name="Group 90">
            <a:extLst>
              <a:ext uri="{FF2B5EF4-FFF2-40B4-BE49-F238E27FC236}">
                <a16:creationId xmlns:a16="http://schemas.microsoft.com/office/drawing/2014/main" id="{A6D9E0C5-0045-1F76-ED9E-5E5A1AFBB370}"/>
              </a:ext>
            </a:extLst>
          </p:cNvPr>
          <p:cNvGrpSpPr>
            <a:grpSpLocks/>
          </p:cNvGrpSpPr>
          <p:nvPr/>
        </p:nvGrpSpPr>
        <p:grpSpPr>
          <a:xfrm>
            <a:off x="4411386" y="1189831"/>
            <a:ext cx="629779" cy="590550"/>
            <a:chOff x="528169" y="1149539"/>
            <a:chExt cx="630107" cy="630107"/>
          </a:xfrm>
        </p:grpSpPr>
        <p:sp>
          <p:nvSpPr>
            <p:cNvPr id="92" name="Oval 91">
              <a:extLst>
                <a:ext uri="{FF2B5EF4-FFF2-40B4-BE49-F238E27FC236}">
                  <a16:creationId xmlns:a16="http://schemas.microsoft.com/office/drawing/2014/main" id="{6E493389-5F2C-1402-40BE-C8DAB01F6CFC}"/>
                </a:ext>
              </a:extLst>
            </p:cNvPr>
            <p:cNvSpPr>
              <a:spLocks/>
            </p:cNvSpPr>
            <p:nvPr/>
          </p:nvSpPr>
          <p:spPr>
            <a:xfrm>
              <a:off x="528169" y="1149539"/>
              <a:ext cx="630107" cy="630107"/>
            </a:xfrm>
            <a:prstGeom prst="ellipse">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93" name="Oval 92">
              <a:extLst>
                <a:ext uri="{FF2B5EF4-FFF2-40B4-BE49-F238E27FC236}">
                  <a16:creationId xmlns:a16="http://schemas.microsoft.com/office/drawing/2014/main" id="{10A7F03B-C5E4-7F05-1A95-2F44D92564E1}"/>
                </a:ext>
              </a:extLst>
            </p:cNvPr>
            <p:cNvSpPr>
              <a:spLocks/>
            </p:cNvSpPr>
            <p:nvPr/>
          </p:nvSpPr>
          <p:spPr>
            <a:xfrm>
              <a:off x="615684" y="1237054"/>
              <a:ext cx="455077" cy="455077"/>
            </a:xfrm>
            <a:prstGeom prst="ellipse">
              <a:avLst/>
            </a:prstGeom>
            <a:solidFill>
              <a:schemeClr val="bg1"/>
            </a:solidFill>
            <a:ln w="19050" cap="flat" cmpd="sng" algn="ctr">
              <a:solidFill>
                <a:schemeClr val="tx1"/>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799" b="1" i="0" u="none" strike="noStrike" kern="120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sym typeface="Arial" panose="020B0604020202020204" pitchFamily="34" charset="0"/>
                </a:rPr>
                <a:t>2</a:t>
              </a:r>
            </a:p>
          </p:txBody>
        </p:sp>
      </p:grpSp>
      <p:grpSp>
        <p:nvGrpSpPr>
          <p:cNvPr id="94" name="Group 93">
            <a:extLst>
              <a:ext uri="{FF2B5EF4-FFF2-40B4-BE49-F238E27FC236}">
                <a16:creationId xmlns:a16="http://schemas.microsoft.com/office/drawing/2014/main" id="{F417C72D-FA4C-9AAF-76DB-66F5783F80BA}"/>
              </a:ext>
            </a:extLst>
          </p:cNvPr>
          <p:cNvGrpSpPr>
            <a:grpSpLocks/>
          </p:cNvGrpSpPr>
          <p:nvPr/>
        </p:nvGrpSpPr>
        <p:grpSpPr>
          <a:xfrm>
            <a:off x="8294877" y="1189831"/>
            <a:ext cx="629779" cy="590550"/>
            <a:chOff x="528169" y="1149539"/>
            <a:chExt cx="630107" cy="630107"/>
          </a:xfrm>
        </p:grpSpPr>
        <p:sp>
          <p:nvSpPr>
            <p:cNvPr id="95" name="Oval 94">
              <a:extLst>
                <a:ext uri="{FF2B5EF4-FFF2-40B4-BE49-F238E27FC236}">
                  <a16:creationId xmlns:a16="http://schemas.microsoft.com/office/drawing/2014/main" id="{CEE23EB7-1EA9-3E63-B355-F38F66E505E8}"/>
                </a:ext>
              </a:extLst>
            </p:cNvPr>
            <p:cNvSpPr>
              <a:spLocks/>
            </p:cNvSpPr>
            <p:nvPr/>
          </p:nvSpPr>
          <p:spPr>
            <a:xfrm>
              <a:off x="528169" y="1149539"/>
              <a:ext cx="630107" cy="630107"/>
            </a:xfrm>
            <a:prstGeom prst="ellipse">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199" b="0" i="0" u="none" strike="noStrike" kern="120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96" name="Oval 95">
              <a:extLst>
                <a:ext uri="{FF2B5EF4-FFF2-40B4-BE49-F238E27FC236}">
                  <a16:creationId xmlns:a16="http://schemas.microsoft.com/office/drawing/2014/main" id="{13A8395F-676D-B5FA-9414-600045D2F215}"/>
                </a:ext>
              </a:extLst>
            </p:cNvPr>
            <p:cNvSpPr>
              <a:spLocks/>
            </p:cNvSpPr>
            <p:nvPr/>
          </p:nvSpPr>
          <p:spPr>
            <a:xfrm>
              <a:off x="615684" y="1237054"/>
              <a:ext cx="455077" cy="455077"/>
            </a:xfrm>
            <a:prstGeom prst="ellipse">
              <a:avLst/>
            </a:prstGeom>
            <a:solidFill>
              <a:schemeClr val="bg1"/>
            </a:solidFill>
            <a:ln w="19050" cap="flat" cmpd="sng" algn="ctr">
              <a:solidFill>
                <a:schemeClr val="tx1"/>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1799" b="1" i="0" u="none" strike="noStrike" kern="120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sym typeface="Arial" panose="020B0604020202020204" pitchFamily="34" charset="0"/>
                </a:rPr>
                <a:t>3</a:t>
              </a:r>
            </a:p>
          </p:txBody>
        </p:sp>
      </p:grpSp>
      <p:sp>
        <p:nvSpPr>
          <p:cNvPr id="97" name="Rectangle 96">
            <a:extLst>
              <a:ext uri="{FF2B5EF4-FFF2-40B4-BE49-F238E27FC236}">
                <a16:creationId xmlns:a16="http://schemas.microsoft.com/office/drawing/2014/main" id="{0F390A54-E2CF-E061-D293-B756639E8078}"/>
              </a:ext>
            </a:extLst>
          </p:cNvPr>
          <p:cNvSpPr>
            <a:spLocks/>
          </p:cNvSpPr>
          <p:nvPr/>
        </p:nvSpPr>
        <p:spPr>
          <a:xfrm>
            <a:off x="4301919" y="1780381"/>
            <a:ext cx="3589267" cy="16486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5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8" name="Rectangle 97">
            <a:extLst>
              <a:ext uri="{FF2B5EF4-FFF2-40B4-BE49-F238E27FC236}">
                <a16:creationId xmlns:a16="http://schemas.microsoft.com/office/drawing/2014/main" id="{289606C1-1EEA-C946-C17D-BA870EBA6EF0}"/>
              </a:ext>
            </a:extLst>
          </p:cNvPr>
          <p:cNvSpPr>
            <a:spLocks/>
          </p:cNvSpPr>
          <p:nvPr/>
        </p:nvSpPr>
        <p:spPr>
          <a:xfrm>
            <a:off x="8160050" y="1780381"/>
            <a:ext cx="3589267" cy="16486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1599"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pic>
        <p:nvPicPr>
          <p:cNvPr id="99" name="Picture 98">
            <a:extLst>
              <a:ext uri="{FF2B5EF4-FFF2-40B4-BE49-F238E27FC236}">
                <a16:creationId xmlns:a16="http://schemas.microsoft.com/office/drawing/2014/main" id="{CF9733D1-6DDD-4BBD-5165-891D424C6471}"/>
              </a:ext>
            </a:extLst>
          </p:cNvPr>
          <p:cNvPicPr>
            <a:picLocks noChangeAspect="1"/>
          </p:cNvPicPr>
          <p:nvPr/>
        </p:nvPicPr>
        <p:blipFill>
          <a:blip r:embed="rId2">
            <a:grayscl/>
          </a:blip>
          <a:stretch>
            <a:fillRect/>
          </a:stretch>
        </p:blipFill>
        <p:spPr>
          <a:xfrm>
            <a:off x="589803" y="1836925"/>
            <a:ext cx="3297238" cy="1535533"/>
          </a:xfrm>
          <a:prstGeom prst="rect">
            <a:avLst/>
          </a:prstGeom>
        </p:spPr>
      </p:pic>
      <p:pic>
        <p:nvPicPr>
          <p:cNvPr id="100" name="Picture 99">
            <a:extLst>
              <a:ext uri="{FF2B5EF4-FFF2-40B4-BE49-F238E27FC236}">
                <a16:creationId xmlns:a16="http://schemas.microsoft.com/office/drawing/2014/main" id="{A8680059-0CC5-243E-4A5A-A12C6CB6461C}"/>
              </a:ext>
            </a:extLst>
          </p:cNvPr>
          <p:cNvPicPr>
            <a:picLocks noChangeAspect="1"/>
          </p:cNvPicPr>
          <p:nvPr/>
        </p:nvPicPr>
        <p:blipFill>
          <a:blip r:embed="rId3">
            <a:grayscl/>
          </a:blip>
          <a:stretch>
            <a:fillRect/>
          </a:stretch>
        </p:blipFill>
        <p:spPr>
          <a:xfrm>
            <a:off x="4447935" y="1836925"/>
            <a:ext cx="3297238" cy="1535533"/>
          </a:xfrm>
          <a:prstGeom prst="rect">
            <a:avLst/>
          </a:prstGeom>
        </p:spPr>
      </p:pic>
      <p:pic>
        <p:nvPicPr>
          <p:cNvPr id="101" name="Picture 100">
            <a:extLst>
              <a:ext uri="{FF2B5EF4-FFF2-40B4-BE49-F238E27FC236}">
                <a16:creationId xmlns:a16="http://schemas.microsoft.com/office/drawing/2014/main" id="{AE81E993-8374-B141-A624-C2323CA30900}"/>
              </a:ext>
            </a:extLst>
          </p:cNvPr>
          <p:cNvPicPr>
            <a:picLocks noChangeAspect="1"/>
          </p:cNvPicPr>
          <p:nvPr/>
        </p:nvPicPr>
        <p:blipFill>
          <a:blip r:embed="rId4">
            <a:extLst>
              <a:ext uri="{BEBA8EAE-BF5A-486C-A8C5-ECC9F3942E4B}">
                <a14:imgProps xmlns:a14="http://schemas.microsoft.com/office/drawing/2010/main">
                  <a14:imgLayer r:embed="rId5">
                    <a14:imgEffect>
                      <a14:saturation sat="0"/>
                    </a14:imgEffect>
                  </a14:imgLayer>
                </a14:imgProps>
              </a:ext>
            </a:extLst>
          </a:blip>
          <a:stretch>
            <a:fillRect/>
          </a:stretch>
        </p:blipFill>
        <p:spPr>
          <a:xfrm>
            <a:off x="8294877" y="1836925"/>
            <a:ext cx="1967779" cy="918742"/>
          </a:xfrm>
          <a:prstGeom prst="rect">
            <a:avLst/>
          </a:prstGeom>
        </p:spPr>
      </p:pic>
      <p:pic>
        <p:nvPicPr>
          <p:cNvPr id="102" name="Picture 101">
            <a:extLst>
              <a:ext uri="{FF2B5EF4-FFF2-40B4-BE49-F238E27FC236}">
                <a16:creationId xmlns:a16="http://schemas.microsoft.com/office/drawing/2014/main" id="{5E07BD8E-69B2-D8BF-1906-2FCFCC417593}"/>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8995249" y="2145320"/>
            <a:ext cx="1967779" cy="918742"/>
          </a:xfrm>
          <a:prstGeom prst="rect">
            <a:avLst/>
          </a:prstGeom>
        </p:spPr>
      </p:pic>
      <p:pic>
        <p:nvPicPr>
          <p:cNvPr id="103" name="Picture 102">
            <a:extLst>
              <a:ext uri="{FF2B5EF4-FFF2-40B4-BE49-F238E27FC236}">
                <a16:creationId xmlns:a16="http://schemas.microsoft.com/office/drawing/2014/main" id="{BE2BAFB4-C9EF-FC11-AB78-BBC48FE675FC}"/>
              </a:ext>
            </a:extLst>
          </p:cNvPr>
          <p:cNvPicPr>
            <a:picLocks noChangeAspect="1"/>
          </p:cNvPicPr>
          <p:nvPr/>
        </p:nvPicPr>
        <p:blipFill>
          <a:blip r:embed="rId8">
            <a:grayscl/>
          </a:blip>
          <a:stretch>
            <a:fillRect/>
          </a:stretch>
        </p:blipFill>
        <p:spPr>
          <a:xfrm>
            <a:off x="9695622" y="2453716"/>
            <a:ext cx="1967779" cy="918742"/>
          </a:xfrm>
          <a:prstGeom prst="rect">
            <a:avLst/>
          </a:prstGeom>
        </p:spPr>
      </p:pic>
    </p:spTree>
    <p:extLst>
      <p:ext uri="{BB962C8B-B14F-4D97-AF65-F5344CB8AC3E}">
        <p14:creationId xmlns:p14="http://schemas.microsoft.com/office/powerpoint/2010/main" val="378421632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041F3D-003C-F7F2-933E-DFFCBDAC53E9}"/>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5B78C4F5-B218-C58D-5D2A-89FD66187EC8}"/>
              </a:ext>
            </a:extLst>
          </p:cNvPr>
          <p:cNvSpPr>
            <a:spLocks noGrp="1"/>
          </p:cNvSpPr>
          <p:nvPr>
            <p:ph type="sldNum" sz="quarter" idx="12"/>
          </p:nvPr>
        </p:nvSpPr>
        <p:spPr/>
        <p:txBody>
          <a:bodyPr/>
          <a:lstStyle/>
          <a:p>
            <a:r>
              <a:rPr lang="en-US" noProof="0"/>
              <a:t>Page </a:t>
            </a:r>
            <a:fld id="{F1BC30E3-FFE5-4B91-AA19-87A149EBB9EE}" type="slidenum">
              <a:rPr lang="en-US" noProof="0" smtClean="0"/>
              <a:pPr/>
              <a:t>74</a:t>
            </a:fld>
            <a:endParaRPr lang="en-US" noProof="0"/>
          </a:p>
        </p:txBody>
      </p:sp>
      <p:sp>
        <p:nvSpPr>
          <p:cNvPr id="4" name="Footer Placeholder 3">
            <a:extLst>
              <a:ext uri="{FF2B5EF4-FFF2-40B4-BE49-F238E27FC236}">
                <a16:creationId xmlns:a16="http://schemas.microsoft.com/office/drawing/2014/main" id="{D660284C-C19F-B32F-8211-6C4397AF69F4}"/>
              </a:ext>
            </a:extLst>
          </p:cNvPr>
          <p:cNvSpPr>
            <a:spLocks noGrp="1"/>
          </p:cNvSpPr>
          <p:nvPr>
            <p:ph type="ftr" sz="quarter" idx="4294967295"/>
          </p:nvPr>
        </p:nvSpPr>
        <p:spPr>
          <a:xfrm>
            <a:off x="0" y="6470650"/>
            <a:ext cx="3084513" cy="180975"/>
          </a:xfrm>
          <a:prstGeom prst="rect">
            <a:avLst/>
          </a:prstGeom>
        </p:spPr>
        <p:txBody>
          <a:bodyPr/>
          <a:lstStyle/>
          <a:p>
            <a:r>
              <a:rPr lang="en-US" noProof="0"/>
              <a:t>Presentation title</a:t>
            </a:r>
          </a:p>
        </p:txBody>
      </p:sp>
      <p:graphicFrame>
        <p:nvGraphicFramePr>
          <p:cNvPr id="48" name="Diagram 47">
            <a:extLst>
              <a:ext uri="{FF2B5EF4-FFF2-40B4-BE49-F238E27FC236}">
                <a16:creationId xmlns:a16="http://schemas.microsoft.com/office/drawing/2014/main" id="{CD159BD7-D3D6-7441-8379-5D4DD03D75D2}"/>
              </a:ext>
            </a:extLst>
          </p:cNvPr>
          <p:cNvGraphicFramePr/>
          <p:nvPr/>
        </p:nvGraphicFramePr>
        <p:xfrm>
          <a:off x="1730227" y="5508583"/>
          <a:ext cx="8198528" cy="109622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9" name="Title 1">
            <a:extLst>
              <a:ext uri="{FF2B5EF4-FFF2-40B4-BE49-F238E27FC236}">
                <a16:creationId xmlns:a16="http://schemas.microsoft.com/office/drawing/2014/main" id="{DC738AA9-C249-A158-2A98-56BE1E54DE6B}"/>
              </a:ext>
            </a:extLst>
          </p:cNvPr>
          <p:cNvSpPr>
            <a:spLocks noGrp="1"/>
          </p:cNvSpPr>
          <p:nvPr>
            <p:ph type="title"/>
          </p:nvPr>
        </p:nvSpPr>
        <p:spPr>
          <a:xfrm>
            <a:off x="602440" y="488489"/>
            <a:ext cx="10972800" cy="590550"/>
          </a:xfrm>
        </p:spPr>
        <p:txBody>
          <a:bodyPr vert="horz" lIns="0" tIns="0" rIns="0" bIns="0" rtlCol="0" anchor="t" anchorCtr="0">
            <a:noAutofit/>
          </a:bodyPr>
          <a:lstStyle/>
          <a:p>
            <a:pPr defTabSz="913942">
              <a:spcBef>
                <a:spcPts val="0"/>
              </a:spcBef>
            </a:pPr>
            <a:r>
              <a:rPr lang="en-US" b="1">
                <a:solidFill>
                  <a:srgbClr val="FFE600"/>
                </a:solidFill>
                <a:latin typeface="EY interstate heading"/>
                <a:ea typeface="+mn-ea"/>
                <a:cs typeface="Arial" pitchFamily="34"/>
              </a:rPr>
              <a:t>Record to Report : Governance model (part2)</a:t>
            </a:r>
          </a:p>
        </p:txBody>
      </p:sp>
      <p:grpSp>
        <p:nvGrpSpPr>
          <p:cNvPr id="149" name="Group 148">
            <a:extLst>
              <a:ext uri="{FF2B5EF4-FFF2-40B4-BE49-F238E27FC236}">
                <a16:creationId xmlns:a16="http://schemas.microsoft.com/office/drawing/2014/main" id="{6EE666C7-D7FE-43A9-BBDB-DDF3131588D1}"/>
              </a:ext>
            </a:extLst>
          </p:cNvPr>
          <p:cNvGrpSpPr/>
          <p:nvPr/>
        </p:nvGrpSpPr>
        <p:grpSpPr>
          <a:xfrm>
            <a:off x="460372" y="1235375"/>
            <a:ext cx="11204648" cy="4780378"/>
            <a:chOff x="622769" y="2219249"/>
            <a:chExt cx="11216322" cy="3951102"/>
          </a:xfrm>
        </p:grpSpPr>
        <p:sp>
          <p:nvSpPr>
            <p:cNvPr id="155" name="Rectangle: Rounded Corners 154">
              <a:extLst>
                <a:ext uri="{FF2B5EF4-FFF2-40B4-BE49-F238E27FC236}">
                  <a16:creationId xmlns:a16="http://schemas.microsoft.com/office/drawing/2014/main" id="{9F447A4D-4838-45D9-A728-6940607F15A0}"/>
                </a:ext>
              </a:extLst>
            </p:cNvPr>
            <p:cNvSpPr/>
            <p:nvPr/>
          </p:nvSpPr>
          <p:spPr>
            <a:xfrm>
              <a:off x="2972877" y="3123903"/>
              <a:ext cx="1654519" cy="934028"/>
            </a:xfrm>
            <a:prstGeom prst="roundRect">
              <a:avLst>
                <a:gd name="adj" fmla="val 6950"/>
              </a:avLst>
            </a:prstGeom>
            <a:solidFill>
              <a:srgbClr val="FFE600"/>
            </a:solidFill>
            <a:ln w="9525" cap="flat" cmpd="sng" algn="ctr">
              <a:solidFill>
                <a:srgbClr val="2E2E38"/>
              </a:solidFill>
              <a:prstDash val="solid"/>
            </a:ln>
            <a:effectLst/>
          </p:spPr>
          <p:txBody>
            <a:bodyPr anchor="t"/>
            <a:lstStyle/>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r>
                <a:rPr kumimoji="0" lang="en-US" sz="1198" b="1" i="0" u="none" strike="noStrike" kern="0" cap="none" spc="0" normalizeH="0" baseline="0" noProof="0">
                  <a:ln>
                    <a:noFill/>
                  </a:ln>
                  <a:solidFill>
                    <a:srgbClr val="2E2E38"/>
                  </a:solidFill>
                  <a:effectLst/>
                  <a:uLnTx/>
                  <a:uFillTx/>
                  <a:latin typeface="EYInterstate Light"/>
                  <a:ea typeface="+mn-ea"/>
                  <a:cs typeface="+mn-cs"/>
                </a:rPr>
                <a:t>Task Management</a:t>
              </a: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p:txBody>
        </p:sp>
        <p:sp>
          <p:nvSpPr>
            <p:cNvPr id="156" name="Rectangle: Rounded Corners 155">
              <a:extLst>
                <a:ext uri="{FF2B5EF4-FFF2-40B4-BE49-F238E27FC236}">
                  <a16:creationId xmlns:a16="http://schemas.microsoft.com/office/drawing/2014/main" id="{A069508E-705A-4382-9F65-E73D1A5877B9}"/>
                </a:ext>
              </a:extLst>
            </p:cNvPr>
            <p:cNvSpPr/>
            <p:nvPr/>
          </p:nvSpPr>
          <p:spPr>
            <a:xfrm>
              <a:off x="940220" y="2717183"/>
              <a:ext cx="1656326" cy="351144"/>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Tasks &amp; checklists </a:t>
              </a:r>
            </a:p>
          </p:txBody>
        </p:sp>
        <p:sp>
          <p:nvSpPr>
            <p:cNvPr id="157" name="Rectangle: Rounded Corners 156">
              <a:extLst>
                <a:ext uri="{FF2B5EF4-FFF2-40B4-BE49-F238E27FC236}">
                  <a16:creationId xmlns:a16="http://schemas.microsoft.com/office/drawing/2014/main" id="{DD548EEC-050F-4FD0-8B26-02556910D51C}"/>
                </a:ext>
              </a:extLst>
            </p:cNvPr>
            <p:cNvSpPr/>
            <p:nvPr/>
          </p:nvSpPr>
          <p:spPr>
            <a:xfrm>
              <a:off x="940220" y="3297460"/>
              <a:ext cx="1130057" cy="485781"/>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Completed financial close activities</a:t>
              </a:r>
            </a:p>
          </p:txBody>
        </p:sp>
        <p:cxnSp>
          <p:nvCxnSpPr>
            <p:cNvPr id="158" name="Straight Arrow Connector 157">
              <a:extLst>
                <a:ext uri="{FF2B5EF4-FFF2-40B4-BE49-F238E27FC236}">
                  <a16:creationId xmlns:a16="http://schemas.microsoft.com/office/drawing/2014/main" id="{94C1F631-C34C-4B13-91E4-F3965B9D0AAC}"/>
                </a:ext>
              </a:extLst>
            </p:cNvPr>
            <p:cNvCxnSpPr>
              <a:cxnSpLocks/>
              <a:stCxn id="161" idx="3"/>
              <a:endCxn id="157" idx="3"/>
            </p:cNvCxnSpPr>
            <p:nvPr/>
          </p:nvCxnSpPr>
          <p:spPr>
            <a:xfrm flipH="1" flipV="1">
              <a:off x="2070277" y="3540350"/>
              <a:ext cx="902601" cy="893"/>
            </a:xfrm>
            <a:prstGeom prst="straightConnector1">
              <a:avLst/>
            </a:prstGeom>
            <a:noFill/>
            <a:ln w="38100" cap="flat" cmpd="sng" algn="ctr">
              <a:solidFill>
                <a:srgbClr val="FFE600"/>
              </a:solidFill>
              <a:prstDash val="solid"/>
              <a:tailEnd type="triangle"/>
            </a:ln>
            <a:effectLst/>
          </p:spPr>
        </p:cxnSp>
        <p:sp>
          <p:nvSpPr>
            <p:cNvPr id="161" name="Rectangle: Rounded Corners 160">
              <a:extLst>
                <a:ext uri="{FF2B5EF4-FFF2-40B4-BE49-F238E27FC236}">
                  <a16:creationId xmlns:a16="http://schemas.microsoft.com/office/drawing/2014/main" id="{58783983-200F-47D2-8A7F-AF17340530C3}"/>
                </a:ext>
              </a:extLst>
            </p:cNvPr>
            <p:cNvSpPr/>
            <p:nvPr/>
          </p:nvSpPr>
          <p:spPr>
            <a:xfrm>
              <a:off x="2038946" y="3439607"/>
              <a:ext cx="933932" cy="203272"/>
            </a:xfrm>
            <a:prstGeom prst="roundRect">
              <a:avLst>
                <a:gd name="adj" fmla="val 6950"/>
              </a:avLst>
            </a:prstGeom>
            <a:noFill/>
            <a:ln w="9525" cap="flat" cmpd="sng" algn="ctr">
              <a:noFill/>
              <a:prstDash val="solid"/>
            </a:ln>
            <a:effectLst/>
          </p:spPr>
          <p:txBody>
            <a:bodyPr lIns="0" rIns="0" rtlCol="0" anchor="ctr">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999" b="0" i="0" u="none" strike="noStrike" kern="0" cap="none" spc="0" normalizeH="0" baseline="0" noProof="0">
                <a:ln>
                  <a:noFill/>
                </a:ln>
                <a:solidFill>
                  <a:prstClr val="white"/>
                </a:solidFill>
                <a:effectLst/>
                <a:uLnTx/>
                <a:uFillTx/>
                <a:latin typeface="EYInterstate Light"/>
                <a:ea typeface="+mn-ea"/>
                <a:cs typeface="Arial" panose="020B0604020202020204" pitchFamily="34" charset="0"/>
              </a:endParaRPr>
            </a:p>
          </p:txBody>
        </p:sp>
        <p:sp>
          <p:nvSpPr>
            <p:cNvPr id="163" name="Rectangle: Rounded Corners 162">
              <a:extLst>
                <a:ext uri="{FF2B5EF4-FFF2-40B4-BE49-F238E27FC236}">
                  <a16:creationId xmlns:a16="http://schemas.microsoft.com/office/drawing/2014/main" id="{54A01653-91A3-483A-8DFF-54EFBF7D4F03}"/>
                </a:ext>
              </a:extLst>
            </p:cNvPr>
            <p:cNvSpPr/>
            <p:nvPr/>
          </p:nvSpPr>
          <p:spPr>
            <a:xfrm>
              <a:off x="5435417" y="3071202"/>
              <a:ext cx="1654519" cy="1053038"/>
            </a:xfrm>
            <a:prstGeom prst="roundRect">
              <a:avLst>
                <a:gd name="adj" fmla="val 6950"/>
              </a:avLst>
            </a:prstGeom>
            <a:solidFill>
              <a:srgbClr val="FFE600"/>
            </a:solidFill>
            <a:ln w="9525" cap="flat" cmpd="sng" algn="ctr">
              <a:solidFill>
                <a:srgbClr val="2E2E38"/>
              </a:solidFill>
              <a:prstDash val="solid"/>
            </a:ln>
            <a:effectLst/>
          </p:spPr>
          <p:txBody>
            <a:bodyPr anchor="t"/>
            <a:lstStyle/>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r>
                <a:rPr kumimoji="0" lang="en-US" sz="1198" b="1" i="0" u="none" strike="noStrike" kern="0" cap="none" spc="0" normalizeH="0" baseline="0" noProof="0">
                  <a:ln>
                    <a:noFill/>
                  </a:ln>
                  <a:solidFill>
                    <a:srgbClr val="2E2E38"/>
                  </a:solidFill>
                  <a:effectLst/>
                  <a:uLnTx/>
                  <a:uFillTx/>
                  <a:latin typeface="EYInterstate Light"/>
                  <a:ea typeface="+mn-ea"/>
                  <a:cs typeface="+mn-cs"/>
                </a:rPr>
                <a:t>Accounts Reconciliation</a:t>
              </a: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p:txBody>
        </p:sp>
        <p:cxnSp>
          <p:nvCxnSpPr>
            <p:cNvPr id="176" name="Straight Arrow Connector 175">
              <a:extLst>
                <a:ext uri="{FF2B5EF4-FFF2-40B4-BE49-F238E27FC236}">
                  <a16:creationId xmlns:a16="http://schemas.microsoft.com/office/drawing/2014/main" id="{3A20A1C5-A540-480C-A921-12F93C342BEC}"/>
                </a:ext>
              </a:extLst>
            </p:cNvPr>
            <p:cNvCxnSpPr>
              <a:cxnSpLocks/>
              <a:stCxn id="163" idx="0"/>
              <a:endCxn id="180" idx="2"/>
            </p:cNvCxnSpPr>
            <p:nvPr/>
          </p:nvCxnSpPr>
          <p:spPr>
            <a:xfrm flipH="1" flipV="1">
              <a:off x="6257101" y="2556229"/>
              <a:ext cx="5576" cy="514973"/>
            </a:xfrm>
            <a:prstGeom prst="straightConnector1">
              <a:avLst/>
            </a:prstGeom>
            <a:noFill/>
            <a:ln w="38100" cap="flat" cmpd="sng" algn="ctr">
              <a:solidFill>
                <a:srgbClr val="FFE600"/>
              </a:solidFill>
              <a:prstDash val="solid"/>
              <a:tailEnd type="triangle"/>
            </a:ln>
            <a:effectLst/>
          </p:spPr>
        </p:cxnSp>
        <p:sp>
          <p:nvSpPr>
            <p:cNvPr id="180" name="Rectangle: Rounded Corners 179">
              <a:extLst>
                <a:ext uri="{FF2B5EF4-FFF2-40B4-BE49-F238E27FC236}">
                  <a16:creationId xmlns:a16="http://schemas.microsoft.com/office/drawing/2014/main" id="{4730E930-15A1-4985-BFFA-EE3CF7529E1C}"/>
                </a:ext>
              </a:extLst>
            </p:cNvPr>
            <p:cNvSpPr/>
            <p:nvPr/>
          </p:nvSpPr>
          <p:spPr>
            <a:xfrm>
              <a:off x="5635569" y="2219249"/>
              <a:ext cx="1243064" cy="336980"/>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Reconciled accounts</a:t>
              </a:r>
            </a:p>
          </p:txBody>
        </p:sp>
        <p:cxnSp>
          <p:nvCxnSpPr>
            <p:cNvPr id="181" name="Straight Arrow Connector 180">
              <a:extLst>
                <a:ext uri="{FF2B5EF4-FFF2-40B4-BE49-F238E27FC236}">
                  <a16:creationId xmlns:a16="http://schemas.microsoft.com/office/drawing/2014/main" id="{02B5B148-CC76-4560-81C6-823DBA1A7187}"/>
                </a:ext>
              </a:extLst>
            </p:cNvPr>
            <p:cNvCxnSpPr>
              <a:cxnSpLocks/>
              <a:stCxn id="155" idx="3"/>
              <a:endCxn id="163" idx="1"/>
            </p:cNvCxnSpPr>
            <p:nvPr/>
          </p:nvCxnSpPr>
          <p:spPr>
            <a:xfrm>
              <a:off x="4627396" y="3590917"/>
              <a:ext cx="808021" cy="6804"/>
            </a:xfrm>
            <a:prstGeom prst="straightConnector1">
              <a:avLst/>
            </a:prstGeom>
            <a:noFill/>
            <a:ln w="38100" cap="flat" cmpd="sng" algn="ctr">
              <a:solidFill>
                <a:srgbClr val="FFE600"/>
              </a:solidFill>
              <a:prstDash val="dash"/>
              <a:headEnd type="triangle" w="med" len="med"/>
              <a:tailEnd type="triangle" w="med" len="med"/>
            </a:ln>
            <a:effectLst/>
          </p:spPr>
        </p:cxnSp>
        <p:sp>
          <p:nvSpPr>
            <p:cNvPr id="187" name="Rectangle: Rounded Corners 186">
              <a:extLst>
                <a:ext uri="{FF2B5EF4-FFF2-40B4-BE49-F238E27FC236}">
                  <a16:creationId xmlns:a16="http://schemas.microsoft.com/office/drawing/2014/main" id="{7F67AD4C-80A4-4F35-85D3-FCD4346794F7}"/>
                </a:ext>
              </a:extLst>
            </p:cNvPr>
            <p:cNvSpPr/>
            <p:nvPr/>
          </p:nvSpPr>
          <p:spPr>
            <a:xfrm>
              <a:off x="7830047" y="4952905"/>
              <a:ext cx="1367371" cy="223599"/>
            </a:xfrm>
            <a:prstGeom prst="roundRect">
              <a:avLst>
                <a:gd name="adj" fmla="val 6950"/>
              </a:avLst>
            </a:prstGeom>
            <a:solidFill>
              <a:sysClr val="window" lastClr="FFFFFF">
                <a:lumMod val="75000"/>
              </a:sysClr>
            </a:solidFill>
            <a:ln w="9525" cap="flat" cmpd="sng" algn="ctr">
              <a:noFill/>
              <a:prstDash val="solid"/>
            </a:ln>
            <a:effectLst/>
          </p:spPr>
          <p:txBody>
            <a:bodyPr lIns="0" rIns="0" rtlCol="0" anchor="ctr">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99" b="1" i="0" u="none" strike="noStrike" kern="0" cap="none" spc="0" normalizeH="0" baseline="0" noProof="0">
                  <a:ln>
                    <a:noFill/>
                  </a:ln>
                  <a:solidFill>
                    <a:prstClr val="white"/>
                  </a:solidFill>
                  <a:effectLst/>
                  <a:uLnTx/>
                  <a:uFillTx/>
                  <a:latin typeface="EYInterstate Light"/>
                  <a:ea typeface="+mn-ea"/>
                  <a:cs typeface="Arial" panose="020B0604020202020204" pitchFamily="34" charset="0"/>
                </a:rPr>
                <a:t>Real time Account Monitoring</a:t>
              </a:r>
            </a:p>
          </p:txBody>
        </p:sp>
        <p:sp>
          <p:nvSpPr>
            <p:cNvPr id="188" name="Rectangle: Rounded Corners 187">
              <a:extLst>
                <a:ext uri="{FF2B5EF4-FFF2-40B4-BE49-F238E27FC236}">
                  <a16:creationId xmlns:a16="http://schemas.microsoft.com/office/drawing/2014/main" id="{4E5D5C5C-D2C1-4DDD-B174-12E86F5E9F61}"/>
                </a:ext>
              </a:extLst>
            </p:cNvPr>
            <p:cNvSpPr/>
            <p:nvPr/>
          </p:nvSpPr>
          <p:spPr>
            <a:xfrm>
              <a:off x="7830047" y="5234518"/>
              <a:ext cx="1367371" cy="223599"/>
            </a:xfrm>
            <a:prstGeom prst="roundRect">
              <a:avLst>
                <a:gd name="adj" fmla="val 6950"/>
              </a:avLst>
            </a:prstGeom>
            <a:solidFill>
              <a:sysClr val="window" lastClr="FFFFFF">
                <a:lumMod val="75000"/>
              </a:sysClr>
            </a:solidFill>
            <a:ln w="9525" cap="flat" cmpd="sng" algn="ctr">
              <a:noFill/>
              <a:prstDash val="solid"/>
            </a:ln>
            <a:effectLst/>
          </p:spPr>
          <p:txBody>
            <a:bodyPr wrap="none" lIns="0" rIns="0" rtlCol="0" anchor="ctr">
              <a:noAutofit/>
            </a:body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99" b="1" i="0" u="none" strike="noStrike" kern="0" cap="none" spc="0" normalizeH="0" baseline="0" noProof="0">
                  <a:ln>
                    <a:noFill/>
                  </a:ln>
                  <a:solidFill>
                    <a:prstClr val="white"/>
                  </a:solidFill>
                  <a:effectLst/>
                  <a:uLnTx/>
                  <a:uFillTx/>
                  <a:latin typeface="EYInterstate Light"/>
                  <a:ea typeface="+mn-ea"/>
                  <a:cs typeface="Arial" panose="020B0604020202020204" pitchFamily="34" charset="0"/>
                </a:rPr>
                <a:t>Automate period / </a:t>
              </a:r>
              <a:br>
                <a:rPr kumimoji="0" lang="en-US" sz="999" b="1" i="0" u="none" strike="noStrike" kern="0" cap="none" spc="0" normalizeH="0" baseline="0" noProof="0">
                  <a:ln>
                    <a:noFill/>
                  </a:ln>
                  <a:solidFill>
                    <a:prstClr val="white"/>
                  </a:solidFill>
                  <a:effectLst/>
                  <a:uLnTx/>
                  <a:uFillTx/>
                  <a:latin typeface="EYInterstate Light"/>
                  <a:ea typeface="+mn-ea"/>
                  <a:cs typeface="Arial" panose="020B0604020202020204" pitchFamily="34" charset="0"/>
                </a:rPr>
              </a:br>
              <a:r>
                <a:rPr kumimoji="0" lang="en-US" sz="999" b="1" i="0" u="none" strike="noStrike" kern="0" cap="none" spc="0" normalizeH="0" baseline="0" noProof="0">
                  <a:ln>
                    <a:noFill/>
                  </a:ln>
                  <a:solidFill>
                    <a:prstClr val="white"/>
                  </a:solidFill>
                  <a:effectLst/>
                  <a:uLnTx/>
                  <a:uFillTx/>
                  <a:latin typeface="EYInterstate Light"/>
                  <a:ea typeface="+mn-ea"/>
                  <a:cs typeface="Arial" panose="020B0604020202020204" pitchFamily="34" charset="0"/>
                </a:rPr>
                <a:t>flux comparison</a:t>
              </a:r>
            </a:p>
          </p:txBody>
        </p:sp>
        <p:sp>
          <p:nvSpPr>
            <p:cNvPr id="189" name="Rectangle: Rounded Corners 188">
              <a:extLst>
                <a:ext uri="{FF2B5EF4-FFF2-40B4-BE49-F238E27FC236}">
                  <a16:creationId xmlns:a16="http://schemas.microsoft.com/office/drawing/2014/main" id="{EE242CD5-9DD2-4BD3-9FA2-F33496E82FB6}"/>
                </a:ext>
              </a:extLst>
            </p:cNvPr>
            <p:cNvSpPr/>
            <p:nvPr/>
          </p:nvSpPr>
          <p:spPr>
            <a:xfrm>
              <a:off x="8425633" y="3400074"/>
              <a:ext cx="1243064" cy="360290"/>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Report creation </a:t>
              </a:r>
              <a:br>
                <a:rPr kumimoji="0" lang="en-US" sz="1048" b="0" i="0" u="none" strike="noStrike" kern="0" cap="none" spc="0" normalizeH="0" baseline="0" noProof="0">
                  <a:ln>
                    <a:noFill/>
                  </a:ln>
                  <a:solidFill>
                    <a:prstClr val="white"/>
                  </a:solidFill>
                  <a:effectLst/>
                  <a:uLnTx/>
                  <a:uFillTx/>
                  <a:latin typeface="EYInterstate Light"/>
                  <a:ea typeface="+mn-ea"/>
                  <a:cs typeface="+mn-cs"/>
                </a:rPr>
              </a:br>
              <a:r>
                <a:rPr kumimoji="0" lang="en-US" sz="1048" b="0" i="0" u="none" strike="noStrike" kern="0" cap="none" spc="0" normalizeH="0" baseline="0" noProof="0">
                  <a:ln>
                    <a:noFill/>
                  </a:ln>
                  <a:solidFill>
                    <a:prstClr val="white"/>
                  </a:solidFill>
                  <a:effectLst/>
                  <a:uLnTx/>
                  <a:uFillTx/>
                  <a:latin typeface="EYInterstate Light"/>
                  <a:ea typeface="+mn-ea"/>
                  <a:cs typeface="+mn-cs"/>
                </a:rPr>
                <a:t>&amp; notifications</a:t>
              </a:r>
            </a:p>
          </p:txBody>
        </p:sp>
        <p:cxnSp>
          <p:nvCxnSpPr>
            <p:cNvPr id="190" name="Straight Arrow Connector 189">
              <a:extLst>
                <a:ext uri="{FF2B5EF4-FFF2-40B4-BE49-F238E27FC236}">
                  <a16:creationId xmlns:a16="http://schemas.microsoft.com/office/drawing/2014/main" id="{E2B0FA3E-4086-4EB0-B5E7-CC028FFE9AD6}"/>
                </a:ext>
              </a:extLst>
            </p:cNvPr>
            <p:cNvCxnSpPr>
              <a:cxnSpLocks/>
              <a:endCxn id="189" idx="1"/>
            </p:cNvCxnSpPr>
            <p:nvPr/>
          </p:nvCxnSpPr>
          <p:spPr>
            <a:xfrm>
              <a:off x="7114814" y="3577891"/>
              <a:ext cx="1310819" cy="2328"/>
            </a:xfrm>
            <a:prstGeom prst="straightConnector1">
              <a:avLst/>
            </a:prstGeom>
            <a:noFill/>
            <a:ln w="38100" cap="flat" cmpd="sng" algn="ctr">
              <a:solidFill>
                <a:srgbClr val="FFE600"/>
              </a:solidFill>
              <a:prstDash val="solid"/>
              <a:tailEnd type="triangle"/>
            </a:ln>
            <a:effectLst/>
          </p:spPr>
        </p:cxnSp>
        <p:sp>
          <p:nvSpPr>
            <p:cNvPr id="191" name="Rectangle: Rounded Corners 190">
              <a:extLst>
                <a:ext uri="{FF2B5EF4-FFF2-40B4-BE49-F238E27FC236}">
                  <a16:creationId xmlns:a16="http://schemas.microsoft.com/office/drawing/2014/main" id="{2A5DEBBE-07E9-404F-ADE0-F3386F7AF8AC}"/>
                </a:ext>
              </a:extLst>
            </p:cNvPr>
            <p:cNvSpPr/>
            <p:nvPr/>
          </p:nvSpPr>
          <p:spPr>
            <a:xfrm>
              <a:off x="4240769" y="4236347"/>
              <a:ext cx="1394800" cy="290692"/>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Reconciliation items</a:t>
              </a:r>
              <a:br>
                <a:rPr kumimoji="0" lang="en-US" sz="1048" b="0" i="0" u="none" strike="noStrike" kern="0" cap="none" spc="0" normalizeH="0" baseline="0" noProof="0">
                  <a:ln>
                    <a:noFill/>
                  </a:ln>
                  <a:solidFill>
                    <a:prstClr val="white"/>
                  </a:solidFill>
                  <a:effectLst/>
                  <a:uLnTx/>
                  <a:uFillTx/>
                  <a:latin typeface="EYInterstate Light"/>
                  <a:ea typeface="+mn-ea"/>
                  <a:cs typeface="+mn-cs"/>
                </a:rPr>
              </a:br>
              <a:r>
                <a:rPr kumimoji="0" lang="en-US" sz="1048" b="0" i="0" u="none" strike="noStrike" kern="0" cap="none" spc="0" normalizeH="0" baseline="0" noProof="0">
                  <a:ln>
                    <a:noFill/>
                  </a:ln>
                  <a:solidFill>
                    <a:prstClr val="white"/>
                  </a:solidFill>
                  <a:effectLst/>
                  <a:uLnTx/>
                  <a:uFillTx/>
                  <a:latin typeface="EYInterstate Light"/>
                  <a:ea typeface="+mn-ea"/>
                  <a:cs typeface="+mn-cs"/>
                </a:rPr>
                <a:t>from other sources</a:t>
              </a:r>
            </a:p>
          </p:txBody>
        </p:sp>
        <p:cxnSp>
          <p:nvCxnSpPr>
            <p:cNvPr id="192" name="Connector: Elbow 191">
              <a:extLst>
                <a:ext uri="{FF2B5EF4-FFF2-40B4-BE49-F238E27FC236}">
                  <a16:creationId xmlns:a16="http://schemas.microsoft.com/office/drawing/2014/main" id="{8914C81F-D19B-4415-A36D-AF92661C3A1C}"/>
                </a:ext>
              </a:extLst>
            </p:cNvPr>
            <p:cNvCxnSpPr>
              <a:cxnSpLocks/>
              <a:stCxn id="191" idx="3"/>
            </p:cNvCxnSpPr>
            <p:nvPr/>
          </p:nvCxnSpPr>
          <p:spPr>
            <a:xfrm flipV="1">
              <a:off x="5635569" y="4109621"/>
              <a:ext cx="113882" cy="272072"/>
            </a:xfrm>
            <a:prstGeom prst="bentConnector2">
              <a:avLst/>
            </a:prstGeom>
            <a:noFill/>
            <a:ln w="38100" cap="flat" cmpd="sng" algn="ctr">
              <a:solidFill>
                <a:srgbClr val="FFE600"/>
              </a:solidFill>
              <a:prstDash val="solid"/>
              <a:tailEnd type="triangle"/>
            </a:ln>
            <a:effectLst/>
          </p:spPr>
        </p:cxnSp>
        <p:sp>
          <p:nvSpPr>
            <p:cNvPr id="193" name="Rectangle: Rounded Corners 192">
              <a:extLst>
                <a:ext uri="{FF2B5EF4-FFF2-40B4-BE49-F238E27FC236}">
                  <a16:creationId xmlns:a16="http://schemas.microsoft.com/office/drawing/2014/main" id="{D4BCB8C2-72F5-42B6-9669-DC361FE56B9F}"/>
                </a:ext>
              </a:extLst>
            </p:cNvPr>
            <p:cNvSpPr/>
            <p:nvPr/>
          </p:nvSpPr>
          <p:spPr>
            <a:xfrm>
              <a:off x="2907614" y="4876163"/>
              <a:ext cx="1654519" cy="1067354"/>
            </a:xfrm>
            <a:prstGeom prst="roundRect">
              <a:avLst>
                <a:gd name="adj" fmla="val 6950"/>
              </a:avLst>
            </a:prstGeom>
            <a:solidFill>
              <a:srgbClr val="FFE600"/>
            </a:solidFill>
            <a:ln w="9525" cap="flat" cmpd="sng" algn="ctr">
              <a:solidFill>
                <a:srgbClr val="2E2E38"/>
              </a:solidFill>
              <a:prstDash val="solid"/>
            </a:ln>
            <a:effectLst/>
          </p:spPr>
          <p:txBody>
            <a:bodyPr anchor="t"/>
            <a:lstStyle/>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r>
                <a:rPr kumimoji="0" lang="en-US" sz="1198" b="1" i="0" u="none" strike="noStrike" kern="0" cap="none" spc="0" normalizeH="0" baseline="0" noProof="0">
                  <a:ln>
                    <a:noFill/>
                  </a:ln>
                  <a:solidFill>
                    <a:srgbClr val="2E2E38"/>
                  </a:solidFill>
                  <a:effectLst/>
                  <a:uLnTx/>
                  <a:uFillTx/>
                  <a:latin typeface="EYInterstate Light"/>
                  <a:ea typeface="+mn-ea"/>
                  <a:cs typeface="+mn-cs"/>
                </a:rPr>
                <a:t>Transaction Matching</a:t>
              </a: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p:txBody>
        </p:sp>
        <p:sp>
          <p:nvSpPr>
            <p:cNvPr id="194" name="TextBox 193">
              <a:extLst>
                <a:ext uri="{FF2B5EF4-FFF2-40B4-BE49-F238E27FC236}">
                  <a16:creationId xmlns:a16="http://schemas.microsoft.com/office/drawing/2014/main" id="{7CDC3390-1370-4979-979B-3E8534CDD127}"/>
                </a:ext>
              </a:extLst>
            </p:cNvPr>
            <p:cNvSpPr txBox="1"/>
            <p:nvPr/>
          </p:nvSpPr>
          <p:spPr>
            <a:xfrm>
              <a:off x="622769" y="5120378"/>
              <a:ext cx="1463040" cy="158428"/>
            </a:xfrm>
            <a:prstGeom prst="roundRect">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40040" numCol="1" rtlCol="0" anchor="ctr" anchorCtr="0" compatLnSpc="1">
              <a:prstTxWarp prst="textNoShape">
                <a:avLst/>
              </a:prstTxWarp>
            </a:bodyPr>
            <a:lstStyle>
              <a:defPPr>
                <a:defRPr lang="en-US"/>
              </a:defPPr>
              <a:lvl1pPr algn="ctr">
                <a:defRPr sz="800">
                  <a:solidFill>
                    <a:srgbClr val="000000"/>
                  </a:solidFill>
                  <a:latin typeface="EYInterstate Light"/>
                </a:defRPr>
              </a:lvl1p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latin typeface="EYInterstate Light"/>
                  <a:ea typeface="+mn-ea"/>
                  <a:cs typeface="+mn-cs"/>
                </a:rPr>
                <a:t>Payment gateways</a:t>
              </a:r>
            </a:p>
          </p:txBody>
        </p:sp>
        <p:sp>
          <p:nvSpPr>
            <p:cNvPr id="196" name="TextBox 195">
              <a:extLst>
                <a:ext uri="{FF2B5EF4-FFF2-40B4-BE49-F238E27FC236}">
                  <a16:creationId xmlns:a16="http://schemas.microsoft.com/office/drawing/2014/main" id="{F79B843D-C259-4852-8952-14B386BCD4AE}"/>
                </a:ext>
              </a:extLst>
            </p:cNvPr>
            <p:cNvSpPr txBox="1"/>
            <p:nvPr/>
          </p:nvSpPr>
          <p:spPr>
            <a:xfrm>
              <a:off x="622769" y="5328051"/>
              <a:ext cx="1463040" cy="163577"/>
            </a:xfrm>
            <a:prstGeom prst="roundRect">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40040" numCol="1" rtlCol="0" anchor="ctr" anchorCtr="0" compatLnSpc="1">
              <a:prstTxWarp prst="textNoShape">
                <a:avLst/>
              </a:prstTxWarp>
            </a:bodyPr>
            <a:lstStyle>
              <a:defPPr>
                <a:defRPr lang="en-US"/>
              </a:defPPr>
              <a:lvl1pPr algn="ctr">
                <a:defRPr sz="800">
                  <a:solidFill>
                    <a:srgbClr val="000000"/>
                  </a:solidFill>
                  <a:latin typeface="EYInterstate Light"/>
                </a:defRPr>
              </a:lvl1p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latin typeface="EYInterstate Light"/>
                  <a:ea typeface="+mn-ea"/>
                  <a:cs typeface="+mn-cs"/>
                </a:rPr>
                <a:t>Bank statements</a:t>
              </a:r>
            </a:p>
          </p:txBody>
        </p:sp>
        <p:sp>
          <p:nvSpPr>
            <p:cNvPr id="197" name="TextBox 196">
              <a:extLst>
                <a:ext uri="{FF2B5EF4-FFF2-40B4-BE49-F238E27FC236}">
                  <a16:creationId xmlns:a16="http://schemas.microsoft.com/office/drawing/2014/main" id="{0CB3EFC8-C162-4864-BC15-6FEB2C174C5C}"/>
                </a:ext>
              </a:extLst>
            </p:cNvPr>
            <p:cNvSpPr txBox="1"/>
            <p:nvPr/>
          </p:nvSpPr>
          <p:spPr>
            <a:xfrm>
              <a:off x="622769" y="5531947"/>
              <a:ext cx="1463040" cy="289464"/>
            </a:xfrm>
            <a:prstGeom prst="roundRect">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40040" numCol="1" rtlCol="0" anchor="ctr" anchorCtr="0" compatLnSpc="1">
              <a:prstTxWarp prst="textNoShape">
                <a:avLst/>
              </a:prstTxWarp>
            </a:bodyPr>
            <a:lstStyle>
              <a:defPPr>
                <a:defRPr lang="en-US"/>
              </a:defPPr>
              <a:lvl1pPr algn="ctr">
                <a:defRPr sz="800">
                  <a:solidFill>
                    <a:srgbClr val="000000"/>
                  </a:solidFill>
                  <a:latin typeface="EYInterstate Light"/>
                </a:defRPr>
              </a:lvl1pPr>
            </a:lstStyle>
            <a:p>
              <a:pPr marL="0" marR="0" lvl="0" indent="0" algn="l" defTabSz="913943" rtl="0" eaLnBrk="1" fontAlgn="auto" latinLnBrk="0" hangingPunct="1">
                <a:lnSpc>
                  <a:spcPts val="999"/>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latin typeface="EYInterstate Light"/>
                  <a:ea typeface="+mn-ea"/>
                  <a:cs typeface="+mn-cs"/>
                </a:rPr>
                <a:t>Reports from internal &amp; external systems</a:t>
              </a:r>
            </a:p>
          </p:txBody>
        </p:sp>
        <p:sp>
          <p:nvSpPr>
            <p:cNvPr id="200" name="TextBox 199">
              <a:extLst>
                <a:ext uri="{FF2B5EF4-FFF2-40B4-BE49-F238E27FC236}">
                  <a16:creationId xmlns:a16="http://schemas.microsoft.com/office/drawing/2014/main" id="{68F91D3C-D40C-4244-BE71-D0425A011735}"/>
                </a:ext>
              </a:extLst>
            </p:cNvPr>
            <p:cNvSpPr txBox="1"/>
            <p:nvPr/>
          </p:nvSpPr>
          <p:spPr>
            <a:xfrm>
              <a:off x="622769" y="4912711"/>
              <a:ext cx="1463040" cy="158422"/>
            </a:xfrm>
            <a:prstGeom prst="roundRect">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40040" numCol="1" rtlCol="0" anchor="ctr" anchorCtr="0" compatLnSpc="1">
              <a:prstTxWarp prst="textNoShape">
                <a:avLst/>
              </a:prstTxWarp>
            </a:bodyPr>
            <a:lstStyle>
              <a:defPPr>
                <a:defRPr lang="en-US"/>
              </a:defPPr>
              <a:lvl1pPr algn="ctr">
                <a:defRPr sz="800">
                  <a:solidFill>
                    <a:srgbClr val="000000"/>
                  </a:solidFill>
                  <a:latin typeface="EYInterstate Light"/>
                </a:defRPr>
              </a:lvl1p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latin typeface="EYInterstate Light"/>
                  <a:ea typeface="+mn-ea"/>
                  <a:cs typeface="+mn-cs"/>
                </a:rPr>
                <a:t>ERP</a:t>
              </a:r>
            </a:p>
          </p:txBody>
        </p:sp>
        <p:cxnSp>
          <p:nvCxnSpPr>
            <p:cNvPr id="201" name="Straight Arrow Connector 200">
              <a:extLst>
                <a:ext uri="{FF2B5EF4-FFF2-40B4-BE49-F238E27FC236}">
                  <a16:creationId xmlns:a16="http://schemas.microsoft.com/office/drawing/2014/main" id="{CF09AFD8-98B6-49C6-B5ED-E0FE212CFB95}"/>
                </a:ext>
              </a:extLst>
            </p:cNvPr>
            <p:cNvCxnSpPr>
              <a:cxnSpLocks/>
              <a:stCxn id="196" idx="3"/>
              <a:endCxn id="193" idx="1"/>
            </p:cNvCxnSpPr>
            <p:nvPr/>
          </p:nvCxnSpPr>
          <p:spPr>
            <a:xfrm>
              <a:off x="2085809" y="5409840"/>
              <a:ext cx="821805" cy="0"/>
            </a:xfrm>
            <a:prstGeom prst="straightConnector1">
              <a:avLst/>
            </a:prstGeom>
            <a:noFill/>
            <a:ln w="38100" cap="flat" cmpd="sng" algn="ctr">
              <a:solidFill>
                <a:srgbClr val="FFE600"/>
              </a:solidFill>
              <a:prstDash val="solid"/>
              <a:tailEnd type="triangle"/>
            </a:ln>
            <a:effectLst/>
          </p:spPr>
        </p:cxnSp>
        <p:sp>
          <p:nvSpPr>
            <p:cNvPr id="202" name="Rectangle: Rounded Corners 201">
              <a:extLst>
                <a:ext uri="{FF2B5EF4-FFF2-40B4-BE49-F238E27FC236}">
                  <a16:creationId xmlns:a16="http://schemas.microsoft.com/office/drawing/2014/main" id="{19CD0E00-F9F4-414E-851E-7520A250C483}"/>
                </a:ext>
              </a:extLst>
            </p:cNvPr>
            <p:cNvSpPr/>
            <p:nvPr/>
          </p:nvSpPr>
          <p:spPr>
            <a:xfrm>
              <a:off x="4878429" y="5006488"/>
              <a:ext cx="1046101" cy="294440"/>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Auto-matched </a:t>
              </a:r>
            </a:p>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transactions</a:t>
              </a:r>
            </a:p>
          </p:txBody>
        </p:sp>
        <p:sp>
          <p:nvSpPr>
            <p:cNvPr id="203" name="Rectangle: Rounded Corners 202">
              <a:extLst>
                <a:ext uri="{FF2B5EF4-FFF2-40B4-BE49-F238E27FC236}">
                  <a16:creationId xmlns:a16="http://schemas.microsoft.com/office/drawing/2014/main" id="{53AC2A12-3942-4499-A74E-7D0E0E548D1F}"/>
                </a:ext>
              </a:extLst>
            </p:cNvPr>
            <p:cNvSpPr/>
            <p:nvPr/>
          </p:nvSpPr>
          <p:spPr>
            <a:xfrm>
              <a:off x="4878429" y="5429473"/>
              <a:ext cx="1046101" cy="294440"/>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Unmatched </a:t>
              </a:r>
            </a:p>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transactions</a:t>
              </a:r>
            </a:p>
          </p:txBody>
        </p:sp>
        <p:cxnSp>
          <p:nvCxnSpPr>
            <p:cNvPr id="204" name="Connector: Elbow 203">
              <a:extLst>
                <a:ext uri="{FF2B5EF4-FFF2-40B4-BE49-F238E27FC236}">
                  <a16:creationId xmlns:a16="http://schemas.microsoft.com/office/drawing/2014/main" id="{E60E08D1-1F68-47F6-9CFD-3BA9A21586A7}"/>
                </a:ext>
              </a:extLst>
            </p:cNvPr>
            <p:cNvCxnSpPr>
              <a:cxnSpLocks/>
              <a:stCxn id="193" idx="3"/>
              <a:endCxn id="202" idx="1"/>
            </p:cNvCxnSpPr>
            <p:nvPr/>
          </p:nvCxnSpPr>
          <p:spPr>
            <a:xfrm flipV="1">
              <a:off x="4562133" y="5153708"/>
              <a:ext cx="316296" cy="256132"/>
            </a:xfrm>
            <a:prstGeom prst="bentConnector3">
              <a:avLst>
                <a:gd name="adj1" fmla="val 50000"/>
              </a:avLst>
            </a:prstGeom>
            <a:noFill/>
            <a:ln w="38100" cap="flat" cmpd="sng" algn="ctr">
              <a:solidFill>
                <a:srgbClr val="FFE600"/>
              </a:solidFill>
              <a:prstDash val="solid"/>
              <a:tailEnd type="triangle"/>
            </a:ln>
            <a:effectLst/>
          </p:spPr>
        </p:cxnSp>
        <p:cxnSp>
          <p:nvCxnSpPr>
            <p:cNvPr id="206" name="Connector: Elbow 205">
              <a:extLst>
                <a:ext uri="{FF2B5EF4-FFF2-40B4-BE49-F238E27FC236}">
                  <a16:creationId xmlns:a16="http://schemas.microsoft.com/office/drawing/2014/main" id="{738B4483-51A6-4F40-91EB-FC8944BF40FD}"/>
                </a:ext>
              </a:extLst>
            </p:cNvPr>
            <p:cNvCxnSpPr>
              <a:cxnSpLocks/>
              <a:stCxn id="193" idx="3"/>
              <a:endCxn id="203" idx="1"/>
            </p:cNvCxnSpPr>
            <p:nvPr/>
          </p:nvCxnSpPr>
          <p:spPr>
            <a:xfrm>
              <a:off x="4562133" y="5409840"/>
              <a:ext cx="316296" cy="166853"/>
            </a:xfrm>
            <a:prstGeom prst="bentConnector3">
              <a:avLst>
                <a:gd name="adj1" fmla="val 50000"/>
              </a:avLst>
            </a:prstGeom>
            <a:noFill/>
            <a:ln w="38100" cap="flat" cmpd="sng" algn="ctr">
              <a:solidFill>
                <a:srgbClr val="FFE600"/>
              </a:solidFill>
              <a:prstDash val="solid"/>
              <a:tailEnd type="triangle"/>
            </a:ln>
            <a:effectLst/>
          </p:spPr>
        </p:cxnSp>
        <p:cxnSp>
          <p:nvCxnSpPr>
            <p:cNvPr id="207" name="Connector: Elbow 206">
              <a:extLst>
                <a:ext uri="{FF2B5EF4-FFF2-40B4-BE49-F238E27FC236}">
                  <a16:creationId xmlns:a16="http://schemas.microsoft.com/office/drawing/2014/main" id="{7057EADE-F31A-4C3D-9380-67A754A9BC0D}"/>
                </a:ext>
              </a:extLst>
            </p:cNvPr>
            <p:cNvCxnSpPr>
              <a:cxnSpLocks/>
              <a:stCxn id="202" idx="0"/>
            </p:cNvCxnSpPr>
            <p:nvPr/>
          </p:nvCxnSpPr>
          <p:spPr>
            <a:xfrm rot="16200000" flipV="1">
              <a:off x="3376947" y="2981955"/>
              <a:ext cx="115043" cy="3934025"/>
            </a:xfrm>
            <a:prstGeom prst="bentConnector3">
              <a:avLst>
                <a:gd name="adj1" fmla="val 311928"/>
              </a:avLst>
            </a:prstGeom>
            <a:noFill/>
            <a:ln w="38100" cap="flat" cmpd="sng" algn="ctr">
              <a:solidFill>
                <a:srgbClr val="FFE600"/>
              </a:solidFill>
              <a:prstDash val="solid"/>
              <a:tailEnd type="triangle"/>
            </a:ln>
            <a:effectLst/>
          </p:spPr>
        </p:cxnSp>
        <p:sp>
          <p:nvSpPr>
            <p:cNvPr id="209" name="Rectangle: Rounded Corners 208">
              <a:extLst>
                <a:ext uri="{FF2B5EF4-FFF2-40B4-BE49-F238E27FC236}">
                  <a16:creationId xmlns:a16="http://schemas.microsoft.com/office/drawing/2014/main" id="{EAAC50AE-58BE-4D5F-8E78-02CD61883CF7}"/>
                </a:ext>
              </a:extLst>
            </p:cNvPr>
            <p:cNvSpPr/>
            <p:nvPr/>
          </p:nvSpPr>
          <p:spPr>
            <a:xfrm>
              <a:off x="622769" y="5863135"/>
              <a:ext cx="1463040" cy="181681"/>
            </a:xfrm>
            <a:prstGeom prst="roundRect">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40040" numCol="1" rtlCol="0" anchor="ctr" anchorCtr="0" compatLnSpc="1">
              <a:prstTxWarp prst="textNoShape">
                <a:avLst/>
              </a:prstTxWarp>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latin typeface="EYInterstate Light"/>
                  <a:ea typeface="+mn-ea"/>
                  <a:cs typeface="+mn-cs"/>
                </a:rPr>
                <a:t>Other data sources</a:t>
              </a:r>
            </a:p>
          </p:txBody>
        </p:sp>
        <p:cxnSp>
          <p:nvCxnSpPr>
            <p:cNvPr id="210" name="Straight Connector 209">
              <a:extLst>
                <a:ext uri="{FF2B5EF4-FFF2-40B4-BE49-F238E27FC236}">
                  <a16:creationId xmlns:a16="http://schemas.microsoft.com/office/drawing/2014/main" id="{E80D49E4-453D-4B93-A9F5-0AC705CB93DB}"/>
                </a:ext>
              </a:extLst>
            </p:cNvPr>
            <p:cNvCxnSpPr>
              <a:cxnSpLocks/>
            </p:cNvCxnSpPr>
            <p:nvPr/>
          </p:nvCxnSpPr>
          <p:spPr>
            <a:xfrm>
              <a:off x="2083001" y="4744227"/>
              <a:ext cx="0" cy="1426124"/>
            </a:xfrm>
            <a:prstGeom prst="line">
              <a:avLst/>
            </a:prstGeom>
            <a:noFill/>
            <a:ln w="38100" cap="flat" cmpd="sng" algn="ctr">
              <a:solidFill>
                <a:srgbClr val="FFE600"/>
              </a:solidFill>
              <a:prstDash val="solid"/>
            </a:ln>
            <a:effectLst/>
          </p:spPr>
        </p:cxnSp>
        <p:cxnSp>
          <p:nvCxnSpPr>
            <p:cNvPr id="211" name="Connector: Elbow 210">
              <a:extLst>
                <a:ext uri="{FF2B5EF4-FFF2-40B4-BE49-F238E27FC236}">
                  <a16:creationId xmlns:a16="http://schemas.microsoft.com/office/drawing/2014/main" id="{84F25BF7-B8F5-4162-8B82-3803A2A15B35}"/>
                </a:ext>
              </a:extLst>
            </p:cNvPr>
            <p:cNvCxnSpPr>
              <a:cxnSpLocks/>
              <a:stCxn id="203" idx="3"/>
              <a:endCxn id="213" idx="2"/>
            </p:cNvCxnSpPr>
            <p:nvPr/>
          </p:nvCxnSpPr>
          <p:spPr>
            <a:xfrm flipV="1">
              <a:off x="5924530" y="4762228"/>
              <a:ext cx="596075" cy="814465"/>
            </a:xfrm>
            <a:prstGeom prst="bentConnector2">
              <a:avLst/>
            </a:prstGeom>
            <a:noFill/>
            <a:ln w="38100" cap="flat" cmpd="sng" algn="ctr">
              <a:solidFill>
                <a:srgbClr val="FFE600"/>
              </a:solidFill>
              <a:prstDash val="solid"/>
              <a:tailEnd type="triangle"/>
            </a:ln>
            <a:effectLst/>
          </p:spPr>
        </p:cxnSp>
        <p:cxnSp>
          <p:nvCxnSpPr>
            <p:cNvPr id="212" name="Straight Connector 211">
              <a:extLst>
                <a:ext uri="{FF2B5EF4-FFF2-40B4-BE49-F238E27FC236}">
                  <a16:creationId xmlns:a16="http://schemas.microsoft.com/office/drawing/2014/main" id="{A310EC6D-EC02-48E9-B0B1-6FEB0984D47F}"/>
                </a:ext>
              </a:extLst>
            </p:cNvPr>
            <p:cNvCxnSpPr>
              <a:cxnSpLocks/>
              <a:stCxn id="202" idx="3"/>
            </p:cNvCxnSpPr>
            <p:nvPr/>
          </p:nvCxnSpPr>
          <p:spPr>
            <a:xfrm>
              <a:off x="5924530" y="5153709"/>
              <a:ext cx="565001" cy="0"/>
            </a:xfrm>
            <a:prstGeom prst="line">
              <a:avLst/>
            </a:prstGeom>
            <a:noFill/>
            <a:ln w="38100" cap="flat" cmpd="sng" algn="ctr">
              <a:solidFill>
                <a:srgbClr val="FFE600"/>
              </a:solidFill>
              <a:prstDash val="solid"/>
            </a:ln>
            <a:effectLst/>
          </p:spPr>
        </p:cxnSp>
        <p:sp>
          <p:nvSpPr>
            <p:cNvPr id="213" name="Rectangle: Rounded Corners 212">
              <a:extLst>
                <a:ext uri="{FF2B5EF4-FFF2-40B4-BE49-F238E27FC236}">
                  <a16:creationId xmlns:a16="http://schemas.microsoft.com/office/drawing/2014/main" id="{F9DE03B7-DDEA-42D6-81CE-66862EEF18AB}"/>
                </a:ext>
              </a:extLst>
            </p:cNvPr>
            <p:cNvSpPr/>
            <p:nvPr/>
          </p:nvSpPr>
          <p:spPr>
            <a:xfrm>
              <a:off x="5896147" y="4451895"/>
              <a:ext cx="1248916" cy="310333"/>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Create reconciling Items</a:t>
              </a:r>
            </a:p>
          </p:txBody>
        </p:sp>
        <p:cxnSp>
          <p:nvCxnSpPr>
            <p:cNvPr id="214" name="Straight Arrow Connector 213">
              <a:extLst>
                <a:ext uri="{FF2B5EF4-FFF2-40B4-BE49-F238E27FC236}">
                  <a16:creationId xmlns:a16="http://schemas.microsoft.com/office/drawing/2014/main" id="{0205B1BF-8D3C-42FB-A442-8ED55E292BCE}"/>
                </a:ext>
              </a:extLst>
            </p:cNvPr>
            <p:cNvCxnSpPr>
              <a:cxnSpLocks/>
              <a:stCxn id="213" idx="0"/>
            </p:cNvCxnSpPr>
            <p:nvPr/>
          </p:nvCxnSpPr>
          <p:spPr>
            <a:xfrm flipH="1" flipV="1">
              <a:off x="6502117" y="4147665"/>
              <a:ext cx="18488" cy="304230"/>
            </a:xfrm>
            <a:prstGeom prst="straightConnector1">
              <a:avLst/>
            </a:prstGeom>
            <a:noFill/>
            <a:ln w="38100" cap="flat" cmpd="sng" algn="ctr">
              <a:solidFill>
                <a:srgbClr val="FFE600"/>
              </a:solidFill>
              <a:prstDash val="solid"/>
              <a:tailEnd type="triangle"/>
            </a:ln>
            <a:effectLst/>
          </p:spPr>
        </p:cxnSp>
        <p:cxnSp>
          <p:nvCxnSpPr>
            <p:cNvPr id="215" name="Straight Arrow Connector 214">
              <a:extLst>
                <a:ext uri="{FF2B5EF4-FFF2-40B4-BE49-F238E27FC236}">
                  <a16:creationId xmlns:a16="http://schemas.microsoft.com/office/drawing/2014/main" id="{9BBB0714-809B-4C25-9CA6-310602C17819}"/>
                </a:ext>
              </a:extLst>
            </p:cNvPr>
            <p:cNvCxnSpPr>
              <a:cxnSpLocks/>
            </p:cNvCxnSpPr>
            <p:nvPr/>
          </p:nvCxnSpPr>
          <p:spPr>
            <a:xfrm>
              <a:off x="6532949" y="5375567"/>
              <a:ext cx="1248916" cy="4388"/>
            </a:xfrm>
            <a:prstGeom prst="straightConnector1">
              <a:avLst/>
            </a:prstGeom>
            <a:noFill/>
            <a:ln w="38100" cap="flat" cmpd="sng" algn="ctr">
              <a:solidFill>
                <a:srgbClr val="FFE600"/>
              </a:solidFill>
              <a:prstDash val="solid"/>
              <a:tailEnd type="triangle"/>
            </a:ln>
            <a:effectLst/>
          </p:spPr>
        </p:cxnSp>
        <p:sp>
          <p:nvSpPr>
            <p:cNvPr id="216" name="Rectangle: Rounded Corners 215">
              <a:extLst>
                <a:ext uri="{FF2B5EF4-FFF2-40B4-BE49-F238E27FC236}">
                  <a16:creationId xmlns:a16="http://schemas.microsoft.com/office/drawing/2014/main" id="{9770E3E5-8D6D-4EE6-BB49-A082588D16BE}"/>
                </a:ext>
              </a:extLst>
            </p:cNvPr>
            <p:cNvSpPr/>
            <p:nvPr/>
          </p:nvSpPr>
          <p:spPr>
            <a:xfrm>
              <a:off x="10709034" y="5200956"/>
              <a:ext cx="1130057" cy="385624"/>
            </a:xfrm>
            <a:prstGeom prst="roundRect">
              <a:avLst>
                <a:gd name="adj" fmla="val 6950"/>
              </a:avLst>
            </a:prstGeom>
            <a:solidFill>
              <a:sysClr val="window" lastClr="FFFFFF">
                <a:lumMod val="50000"/>
              </a:sysClr>
            </a:solidFill>
            <a:ln w="15875">
              <a:solidFill>
                <a:sysClr val="window" lastClr="FFFFFF">
                  <a:lumMod val="50000"/>
                </a:sysClr>
              </a:solidFill>
              <a:prstDash val="solid"/>
              <a:round/>
              <a:headEnd/>
              <a:tailEnd/>
            </a:ln>
          </p:spPr>
          <p:txBody>
            <a:bodyPr vert="horz" wrap="square" lIns="80081" tIns="40040" rIns="80081" bIns="0" numCol="1" rtlCol="0" anchor="ctr" anchorCtr="0" compatLnSpc="1">
              <a:prstTxWarp prst="textNoShape">
                <a:avLst/>
              </a:prstTxWarp>
            </a:bodyPr>
            <a:lstStyle/>
            <a:p>
              <a:pPr marL="0" marR="0" lvl="0" indent="0" algn="ctr" defTabSz="913943" rtl="0" eaLnBrk="1" fontAlgn="auto" latinLnBrk="0" hangingPunct="1">
                <a:lnSpc>
                  <a:spcPts val="999"/>
                </a:lnSpc>
                <a:spcBef>
                  <a:spcPts val="0"/>
                </a:spcBef>
                <a:spcAft>
                  <a:spcPts val="0"/>
                </a:spcAft>
                <a:buClrTx/>
                <a:buSzTx/>
                <a:buFontTx/>
                <a:buNone/>
                <a:tabLst/>
                <a:defRPr/>
              </a:pPr>
              <a:r>
                <a:rPr kumimoji="0" lang="en-US" sz="1048" b="0" i="0" u="none" strike="noStrike" kern="0" cap="none" spc="0" normalizeH="0" baseline="0" noProof="0">
                  <a:ln>
                    <a:noFill/>
                  </a:ln>
                  <a:solidFill>
                    <a:prstClr val="white"/>
                  </a:solidFill>
                  <a:effectLst/>
                  <a:uLnTx/>
                  <a:uFillTx/>
                  <a:latin typeface="EYInterstate Light"/>
                  <a:ea typeface="+mn-ea"/>
                  <a:cs typeface="+mn-cs"/>
                </a:rPr>
                <a:t>Posted to GL or Subledgers</a:t>
              </a:r>
            </a:p>
          </p:txBody>
        </p:sp>
        <p:cxnSp>
          <p:nvCxnSpPr>
            <p:cNvPr id="217" name="Connector: Elbow 216">
              <a:extLst>
                <a:ext uri="{FF2B5EF4-FFF2-40B4-BE49-F238E27FC236}">
                  <a16:creationId xmlns:a16="http://schemas.microsoft.com/office/drawing/2014/main" id="{3B46CB93-5BC8-4B52-B28A-16F5B9589144}"/>
                </a:ext>
              </a:extLst>
            </p:cNvPr>
            <p:cNvCxnSpPr>
              <a:cxnSpLocks/>
              <a:stCxn id="216" idx="2"/>
              <a:endCxn id="223" idx="2"/>
            </p:cNvCxnSpPr>
            <p:nvPr/>
          </p:nvCxnSpPr>
          <p:spPr>
            <a:xfrm rot="5400000">
              <a:off x="9816021" y="4396188"/>
              <a:ext cx="267652" cy="2648434"/>
            </a:xfrm>
            <a:prstGeom prst="bentConnector3">
              <a:avLst>
                <a:gd name="adj1" fmla="val 191091"/>
              </a:avLst>
            </a:prstGeom>
            <a:noFill/>
            <a:ln w="38100" cap="flat" cmpd="sng" algn="ctr">
              <a:solidFill>
                <a:srgbClr val="FFE600"/>
              </a:solidFill>
              <a:prstDash val="solid"/>
              <a:tailEnd type="triangle"/>
            </a:ln>
            <a:effectLst/>
          </p:spPr>
        </p:cxnSp>
        <p:cxnSp>
          <p:nvCxnSpPr>
            <p:cNvPr id="218" name="Straight Arrow Connector 217">
              <a:extLst>
                <a:ext uri="{FF2B5EF4-FFF2-40B4-BE49-F238E27FC236}">
                  <a16:creationId xmlns:a16="http://schemas.microsoft.com/office/drawing/2014/main" id="{CFAD7AFB-FCA6-45C2-82E2-2792D302E3D5}"/>
                </a:ext>
              </a:extLst>
            </p:cNvPr>
            <p:cNvCxnSpPr>
              <a:cxnSpLocks/>
              <a:stCxn id="223" idx="3"/>
              <a:endCxn id="216" idx="1"/>
            </p:cNvCxnSpPr>
            <p:nvPr/>
          </p:nvCxnSpPr>
          <p:spPr>
            <a:xfrm>
              <a:off x="9452888" y="5387218"/>
              <a:ext cx="1256146" cy="6551"/>
            </a:xfrm>
            <a:prstGeom prst="straightConnector1">
              <a:avLst/>
            </a:prstGeom>
            <a:noFill/>
            <a:ln w="38100" cap="flat" cmpd="sng" algn="ctr">
              <a:solidFill>
                <a:srgbClr val="FFE600"/>
              </a:solidFill>
              <a:prstDash val="solid"/>
              <a:tailEnd type="triangle"/>
            </a:ln>
            <a:effectLst/>
          </p:spPr>
        </p:cxnSp>
        <p:sp>
          <p:nvSpPr>
            <p:cNvPr id="223" name="Rectangle: Rounded Corners 222">
              <a:extLst>
                <a:ext uri="{FF2B5EF4-FFF2-40B4-BE49-F238E27FC236}">
                  <a16:creationId xmlns:a16="http://schemas.microsoft.com/office/drawing/2014/main" id="{4F78D7ED-8369-412A-9669-99E688F591FD}"/>
                </a:ext>
              </a:extLst>
            </p:cNvPr>
            <p:cNvSpPr/>
            <p:nvPr/>
          </p:nvSpPr>
          <p:spPr>
            <a:xfrm>
              <a:off x="7798369" y="4920203"/>
              <a:ext cx="1654519" cy="934028"/>
            </a:xfrm>
            <a:prstGeom prst="roundRect">
              <a:avLst>
                <a:gd name="adj" fmla="val 6950"/>
              </a:avLst>
            </a:prstGeom>
            <a:solidFill>
              <a:srgbClr val="FFE600"/>
            </a:solidFill>
            <a:ln w="9525" cap="flat" cmpd="sng" algn="ctr">
              <a:solidFill>
                <a:srgbClr val="2E2E38"/>
              </a:solidFill>
              <a:prstDash val="solid"/>
            </a:ln>
            <a:effectLst/>
          </p:spPr>
          <p:txBody>
            <a:bodyPr anchor="t"/>
            <a:lstStyle/>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pl-PL"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r>
                <a:rPr kumimoji="0" lang="en-US" sz="1198" b="1" i="0" u="none" strike="noStrike" kern="0" cap="none" spc="0" normalizeH="0" baseline="0" noProof="0">
                  <a:ln>
                    <a:noFill/>
                  </a:ln>
                  <a:solidFill>
                    <a:srgbClr val="2E2E38"/>
                  </a:solidFill>
                  <a:effectLst/>
                  <a:uLnTx/>
                  <a:uFillTx/>
                  <a:latin typeface="EYInterstate Light"/>
                  <a:ea typeface="+mn-ea"/>
                  <a:cs typeface="+mn-cs"/>
                </a:rPr>
                <a:t>Journal Entry</a:t>
              </a: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a:p>
              <a:pPr marL="0" marR="0" lvl="0" indent="0" algn="ctr" defTabSz="913943" rtl="0" eaLnBrk="1" fontAlgn="auto" latinLnBrk="0" hangingPunct="1">
                <a:lnSpc>
                  <a:spcPts val="1198"/>
                </a:lnSpc>
                <a:spcBef>
                  <a:spcPts val="0"/>
                </a:spcBef>
                <a:spcAft>
                  <a:spcPts val="0"/>
                </a:spcAft>
                <a:buClrTx/>
                <a:buSzTx/>
                <a:buFontTx/>
                <a:buNone/>
                <a:tabLst/>
                <a:defRPr/>
              </a:pPr>
              <a:endParaRPr kumimoji="0" lang="en-US" sz="1198" b="1" i="0" u="none" strike="noStrike" kern="0" cap="none" spc="0" normalizeH="0" baseline="0" noProof="0">
                <a:ln>
                  <a:noFill/>
                </a:ln>
                <a:solidFill>
                  <a:srgbClr val="2E2E38"/>
                </a:solidFill>
                <a:effectLst/>
                <a:uLnTx/>
                <a:uFillTx/>
                <a:latin typeface="EYInterstate Light"/>
                <a:ea typeface="+mn-ea"/>
                <a:cs typeface="+mn-cs"/>
              </a:endParaRPr>
            </a:p>
          </p:txBody>
        </p:sp>
        <p:cxnSp>
          <p:nvCxnSpPr>
            <p:cNvPr id="231" name="Connector: Elbow 230">
              <a:extLst>
                <a:ext uri="{FF2B5EF4-FFF2-40B4-BE49-F238E27FC236}">
                  <a16:creationId xmlns:a16="http://schemas.microsoft.com/office/drawing/2014/main" id="{774F455D-DD2F-4C8D-892D-0147E30D300E}"/>
                </a:ext>
              </a:extLst>
            </p:cNvPr>
            <p:cNvCxnSpPr>
              <a:cxnSpLocks/>
              <a:stCxn id="156" idx="3"/>
              <a:endCxn id="155" idx="0"/>
            </p:cNvCxnSpPr>
            <p:nvPr/>
          </p:nvCxnSpPr>
          <p:spPr>
            <a:xfrm>
              <a:off x="2596546" y="2892756"/>
              <a:ext cx="1203591" cy="231149"/>
            </a:xfrm>
            <a:prstGeom prst="bentConnector2">
              <a:avLst/>
            </a:prstGeom>
            <a:noFill/>
            <a:ln w="38100" cap="flat" cmpd="sng" algn="ctr">
              <a:solidFill>
                <a:srgbClr val="FFE600"/>
              </a:solidFill>
              <a:prstDash val="solid"/>
              <a:tailEnd type="triangle"/>
            </a:ln>
            <a:effectLst/>
          </p:spPr>
        </p:cxnSp>
        <p:cxnSp>
          <p:nvCxnSpPr>
            <p:cNvPr id="233" name="Connector: Elbow 232">
              <a:extLst>
                <a:ext uri="{FF2B5EF4-FFF2-40B4-BE49-F238E27FC236}">
                  <a16:creationId xmlns:a16="http://schemas.microsoft.com/office/drawing/2014/main" id="{46E2F4C7-EEFB-4FA3-9FA5-B25655DC5895}"/>
                </a:ext>
              </a:extLst>
            </p:cNvPr>
            <p:cNvCxnSpPr>
              <a:cxnSpLocks/>
              <a:endCxn id="223" idx="0"/>
            </p:cNvCxnSpPr>
            <p:nvPr/>
          </p:nvCxnSpPr>
          <p:spPr>
            <a:xfrm rot="16200000" flipH="1">
              <a:off x="7485583" y="3780158"/>
              <a:ext cx="1051779" cy="1228311"/>
            </a:xfrm>
            <a:prstGeom prst="bentConnector3">
              <a:avLst>
                <a:gd name="adj1" fmla="val 50000"/>
              </a:avLst>
            </a:prstGeom>
            <a:noFill/>
            <a:ln w="38100" cap="flat" cmpd="sng" algn="ctr">
              <a:solidFill>
                <a:srgbClr val="FFE600"/>
              </a:solidFill>
              <a:prstDash val="solid"/>
              <a:tailEnd type="triangle"/>
            </a:ln>
            <a:effectLst/>
          </p:spPr>
        </p:cxnSp>
        <p:cxnSp>
          <p:nvCxnSpPr>
            <p:cNvPr id="237" name="Straight Connector 236">
              <a:extLst>
                <a:ext uri="{FF2B5EF4-FFF2-40B4-BE49-F238E27FC236}">
                  <a16:creationId xmlns:a16="http://schemas.microsoft.com/office/drawing/2014/main" id="{D490FACF-A5D9-4F26-B9D4-2B5649CA3F29}"/>
                </a:ext>
              </a:extLst>
            </p:cNvPr>
            <p:cNvCxnSpPr>
              <a:cxnSpLocks/>
            </p:cNvCxnSpPr>
            <p:nvPr/>
          </p:nvCxnSpPr>
          <p:spPr>
            <a:xfrm>
              <a:off x="7114814" y="3884085"/>
              <a:ext cx="282501" cy="0"/>
            </a:xfrm>
            <a:prstGeom prst="line">
              <a:avLst/>
            </a:prstGeom>
            <a:noFill/>
            <a:ln w="38100" cap="flat" cmpd="sng" algn="ctr">
              <a:solidFill>
                <a:srgbClr val="FFE600"/>
              </a:solidFill>
              <a:prstDash val="solid"/>
            </a:ln>
            <a:effectLst/>
          </p:spPr>
        </p:cxnSp>
      </p:grpSp>
    </p:spTree>
    <p:extLst>
      <p:ext uri="{BB962C8B-B14F-4D97-AF65-F5344CB8AC3E}">
        <p14:creationId xmlns:p14="http://schemas.microsoft.com/office/powerpoint/2010/main" val="82830291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1">
            <a:extLst>
              <a:ext uri="{FF2B5EF4-FFF2-40B4-BE49-F238E27FC236}">
                <a16:creationId xmlns:a16="http://schemas.microsoft.com/office/drawing/2014/main" id="{84B66EEC-6E3E-E7B2-6D0B-74F56A053611}"/>
              </a:ext>
            </a:extLst>
          </p:cNvPr>
          <p:cNvSpPr txBox="1">
            <a:spLocks/>
          </p:cNvSpPr>
          <p:nvPr/>
        </p:nvSpPr>
        <p:spPr>
          <a:xfrm>
            <a:off x="609602" y="420836"/>
            <a:ext cx="11225019" cy="87121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0" i="0" u="none" strike="noStrike" cap="none" spc="0" baseline="0">
                <a:solidFill>
                  <a:srgbClr val="FFE600"/>
                </a:solidFill>
                <a:uFillTx/>
                <a:latin typeface="EY interstate"/>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b="1">
                <a:latin typeface="EY interstate heading"/>
              </a:rPr>
              <a:t>Accelerator Generator- Custom Workflows</a:t>
            </a:r>
          </a:p>
        </p:txBody>
      </p:sp>
      <p:grpSp>
        <p:nvGrpSpPr>
          <p:cNvPr id="28" name="Group 27">
            <a:extLst>
              <a:ext uri="{FF2B5EF4-FFF2-40B4-BE49-F238E27FC236}">
                <a16:creationId xmlns:a16="http://schemas.microsoft.com/office/drawing/2014/main" id="{143D9FE5-117A-B008-CB90-B20366F578B2}"/>
              </a:ext>
            </a:extLst>
          </p:cNvPr>
          <p:cNvGrpSpPr/>
          <p:nvPr/>
        </p:nvGrpSpPr>
        <p:grpSpPr>
          <a:xfrm>
            <a:off x="692879" y="1045642"/>
            <a:ext cx="10672397" cy="1222871"/>
            <a:chOff x="692879" y="1045642"/>
            <a:chExt cx="11061268" cy="1151795"/>
          </a:xfrm>
        </p:grpSpPr>
        <p:sp>
          <p:nvSpPr>
            <p:cNvPr id="4" name="Freeform: Shape 3">
              <a:extLst>
                <a:ext uri="{FF2B5EF4-FFF2-40B4-BE49-F238E27FC236}">
                  <a16:creationId xmlns:a16="http://schemas.microsoft.com/office/drawing/2014/main" id="{8E91F68A-0A86-1620-242E-4BBA1B93E4E3}"/>
                </a:ext>
              </a:extLst>
            </p:cNvPr>
            <p:cNvSpPr/>
            <p:nvPr/>
          </p:nvSpPr>
          <p:spPr>
            <a:xfrm>
              <a:off x="692879" y="1045642"/>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3678" tIns="8890" rIns="575897" bIns="8890" numCol="1" spcCol="1270" anchor="ctr" anchorCtr="0">
              <a:noAutofit/>
            </a:bodyPr>
            <a:lstStyle/>
            <a:p>
              <a:pPr marL="0" lvl="0" indent="0" algn="ctr" defTabSz="622300">
                <a:lnSpc>
                  <a:spcPct val="90000"/>
                </a:lnSpc>
                <a:spcBef>
                  <a:spcPct val="0"/>
                </a:spcBef>
                <a:spcAft>
                  <a:spcPct val="35000"/>
                </a:spcAft>
                <a:buNone/>
              </a:pPr>
              <a:r>
                <a:rPr lang="en-IN" sz="1400" b="1" kern="1200">
                  <a:solidFill>
                    <a:schemeClr val="bg2"/>
                  </a:solidFill>
                  <a:latin typeface="EYInterstate" panose="02000503020000020004" pitchFamily="2" charset="0"/>
                </a:rPr>
                <a:t>Master Data &amp; Governance (MDG</a:t>
              </a:r>
              <a:endParaRPr lang="en-IN" sz="1400" b="1" kern="1200">
                <a:solidFill>
                  <a:srgbClr val="FFFF00"/>
                </a:solidFill>
                <a:latin typeface="EYInterstate" panose="02000503020000020004" pitchFamily="2" charset="0"/>
              </a:endParaRPr>
            </a:p>
          </p:txBody>
        </p:sp>
        <p:sp>
          <p:nvSpPr>
            <p:cNvPr id="6" name="Freeform: Shape 5">
              <a:extLst>
                <a:ext uri="{FF2B5EF4-FFF2-40B4-BE49-F238E27FC236}">
                  <a16:creationId xmlns:a16="http://schemas.microsoft.com/office/drawing/2014/main" id="{39525E02-C648-7CEA-4071-DAC3968478FE}"/>
                </a:ext>
              </a:extLst>
            </p:cNvPr>
            <p:cNvSpPr/>
            <p:nvPr/>
          </p:nvSpPr>
          <p:spPr>
            <a:xfrm>
              <a:off x="3198033"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Intake &amp; completeness check (R→A)</a:t>
              </a:r>
              <a:endParaRPr lang="en-IN" sz="1400" b="1" kern="1200">
                <a:solidFill>
                  <a:srgbClr val="FFFF00"/>
                </a:solidFill>
                <a:latin typeface="EY interstate"/>
              </a:endParaRPr>
            </a:p>
          </p:txBody>
        </p:sp>
        <p:sp>
          <p:nvSpPr>
            <p:cNvPr id="7" name="Freeform: Shape 6">
              <a:extLst>
                <a:ext uri="{FF2B5EF4-FFF2-40B4-BE49-F238E27FC236}">
                  <a16:creationId xmlns:a16="http://schemas.microsoft.com/office/drawing/2014/main" id="{B7D9FE58-0EBB-09DF-99D0-18974FAC3381}"/>
                </a:ext>
              </a:extLst>
            </p:cNvPr>
            <p:cNvSpPr/>
            <p:nvPr/>
          </p:nvSpPr>
          <p:spPr>
            <a:xfrm>
              <a:off x="5253413"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00075">
                <a:lnSpc>
                  <a:spcPct val="90000"/>
                </a:lnSpc>
                <a:spcBef>
                  <a:spcPct val="0"/>
                </a:spcBef>
                <a:spcAft>
                  <a:spcPct val="35000"/>
                </a:spcAft>
                <a:buNone/>
              </a:pPr>
              <a:r>
                <a:rPr lang="en-IN" sz="1350" kern="1200">
                  <a:solidFill>
                    <a:srgbClr val="FFE600"/>
                  </a:solidFill>
                  <a:latin typeface="EY interstate"/>
                </a:rPr>
                <a:t>Create/Change in MDM/ERP </a:t>
              </a:r>
              <a:endParaRPr lang="en-IN" sz="1350" b="1" kern="1200">
                <a:solidFill>
                  <a:srgbClr val="FFFF00"/>
                </a:solidFill>
                <a:latin typeface="EY interstate"/>
              </a:endParaRPr>
            </a:p>
          </p:txBody>
        </p:sp>
        <p:sp>
          <p:nvSpPr>
            <p:cNvPr id="8" name="Freeform: Shape 7">
              <a:extLst>
                <a:ext uri="{FF2B5EF4-FFF2-40B4-BE49-F238E27FC236}">
                  <a16:creationId xmlns:a16="http://schemas.microsoft.com/office/drawing/2014/main" id="{54984B18-E2DB-56F5-B2C2-05473DD9F763}"/>
                </a:ext>
              </a:extLst>
            </p:cNvPr>
            <p:cNvSpPr/>
            <p:nvPr/>
          </p:nvSpPr>
          <p:spPr>
            <a:xfrm>
              <a:off x="7308792"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Downstream sync &amp; smoke tests</a:t>
              </a:r>
              <a:endParaRPr lang="en-IN" sz="1400" b="1" kern="1200">
                <a:solidFill>
                  <a:srgbClr val="FFFF00"/>
                </a:solidFill>
                <a:latin typeface="EY interstate"/>
              </a:endParaRPr>
            </a:p>
          </p:txBody>
        </p:sp>
        <p:sp>
          <p:nvSpPr>
            <p:cNvPr id="9" name="Freeform: Shape 8">
              <a:extLst>
                <a:ext uri="{FF2B5EF4-FFF2-40B4-BE49-F238E27FC236}">
                  <a16:creationId xmlns:a16="http://schemas.microsoft.com/office/drawing/2014/main" id="{BBACEC0A-AB6B-D323-366A-36072EFA5ADD}"/>
                </a:ext>
              </a:extLst>
            </p:cNvPr>
            <p:cNvSpPr/>
            <p:nvPr/>
          </p:nvSpPr>
          <p:spPr>
            <a:xfrm>
              <a:off x="9364171"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Evidence &amp; monitoring</a:t>
              </a:r>
              <a:endParaRPr lang="en-IN" sz="1400" b="1" kern="1200">
                <a:solidFill>
                  <a:srgbClr val="FFFF00"/>
                </a:solidFill>
                <a:latin typeface="EY interstate"/>
              </a:endParaRPr>
            </a:p>
          </p:txBody>
        </p:sp>
      </p:grpSp>
      <p:grpSp>
        <p:nvGrpSpPr>
          <p:cNvPr id="15" name="Group 14">
            <a:extLst>
              <a:ext uri="{FF2B5EF4-FFF2-40B4-BE49-F238E27FC236}">
                <a16:creationId xmlns:a16="http://schemas.microsoft.com/office/drawing/2014/main" id="{86EA54A0-FA33-2CE2-9EB3-469DD91F9CFE}"/>
              </a:ext>
            </a:extLst>
          </p:cNvPr>
          <p:cNvGrpSpPr/>
          <p:nvPr/>
        </p:nvGrpSpPr>
        <p:grpSpPr>
          <a:xfrm>
            <a:off x="712221" y="2517559"/>
            <a:ext cx="10653771" cy="1222871"/>
            <a:chOff x="712221" y="4282351"/>
            <a:chExt cx="11041966" cy="1151795"/>
          </a:xfrm>
        </p:grpSpPr>
        <p:sp>
          <p:nvSpPr>
            <p:cNvPr id="10" name="Freeform: Shape 9">
              <a:extLst>
                <a:ext uri="{FF2B5EF4-FFF2-40B4-BE49-F238E27FC236}">
                  <a16:creationId xmlns:a16="http://schemas.microsoft.com/office/drawing/2014/main" id="{1695431C-1591-9E0E-B02E-ABBF33016D7E}"/>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pPr marL="0" lvl="0" indent="0" algn="ctr" defTabSz="800100">
                <a:lnSpc>
                  <a:spcPct val="90000"/>
                </a:lnSpc>
                <a:spcBef>
                  <a:spcPct val="0"/>
                </a:spcBef>
                <a:spcAft>
                  <a:spcPct val="35000"/>
                </a:spcAft>
                <a:buNone/>
              </a:pPr>
              <a:r>
                <a:rPr lang="en-IN" sz="1800" b="1" kern="1200">
                  <a:solidFill>
                    <a:schemeClr val="bg2"/>
                  </a:solidFill>
                  <a:latin typeface="EY interstate"/>
                </a:rPr>
                <a:t>Close Preparation</a:t>
              </a:r>
              <a:endParaRPr lang="en-IN" sz="1800" b="1" kern="1200">
                <a:solidFill>
                  <a:srgbClr val="FFFF00"/>
                </a:solidFill>
                <a:latin typeface="EY interstate"/>
              </a:endParaRPr>
            </a:p>
          </p:txBody>
        </p:sp>
        <p:sp>
          <p:nvSpPr>
            <p:cNvPr id="11" name="Freeform: Shape 10">
              <a:extLst>
                <a:ext uri="{FF2B5EF4-FFF2-40B4-BE49-F238E27FC236}">
                  <a16:creationId xmlns:a16="http://schemas.microsoft.com/office/drawing/2014/main" id="{EE1B3328-1717-5B32-35E5-B5B46036EDCA}"/>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Publish close calendar &amp; period status</a:t>
              </a:r>
              <a:endParaRPr lang="en-IN" sz="1400" b="1" kern="1200">
                <a:solidFill>
                  <a:srgbClr val="FFFF00"/>
                </a:solidFill>
                <a:latin typeface="EY interstate"/>
              </a:endParaRPr>
            </a:p>
          </p:txBody>
        </p:sp>
        <p:sp>
          <p:nvSpPr>
            <p:cNvPr id="12" name="Freeform: Shape 11">
              <a:extLst>
                <a:ext uri="{FF2B5EF4-FFF2-40B4-BE49-F238E27FC236}">
                  <a16:creationId xmlns:a16="http://schemas.microsoft.com/office/drawing/2014/main" id="{994857DB-3284-ACD3-6AFB-208462166423}"/>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Subledger readiness</a:t>
              </a:r>
              <a:endParaRPr lang="en-IN" sz="1400" b="1" kern="1200">
                <a:solidFill>
                  <a:srgbClr val="FFFF00"/>
                </a:solidFill>
                <a:latin typeface="EY interstate"/>
              </a:endParaRPr>
            </a:p>
          </p:txBody>
        </p:sp>
        <p:sp>
          <p:nvSpPr>
            <p:cNvPr id="13" name="Freeform: Shape 12">
              <a:extLst>
                <a:ext uri="{FF2B5EF4-FFF2-40B4-BE49-F238E27FC236}">
                  <a16:creationId xmlns:a16="http://schemas.microsoft.com/office/drawing/2014/main" id="{C82C38BC-DD6D-7492-AD47-39DCF4B8EFE4}"/>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IC pre‑recon &amp; accrual pipeline</a:t>
              </a:r>
              <a:endParaRPr lang="en-IN" sz="1400" b="1" kern="1200">
                <a:solidFill>
                  <a:srgbClr val="FFFF00"/>
                </a:solidFill>
                <a:latin typeface="EY interstate"/>
              </a:endParaRPr>
            </a:p>
          </p:txBody>
        </p:sp>
        <p:sp>
          <p:nvSpPr>
            <p:cNvPr id="14" name="Freeform: Shape 13">
              <a:extLst>
                <a:ext uri="{FF2B5EF4-FFF2-40B4-BE49-F238E27FC236}">
                  <a16:creationId xmlns:a16="http://schemas.microsoft.com/office/drawing/2014/main" id="{D65037CB-47F9-6726-B4D3-C2FDCCC7B610}"/>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Readiness approval</a:t>
              </a:r>
              <a:endParaRPr lang="en-IN" sz="1400" b="1" kern="1200">
                <a:solidFill>
                  <a:srgbClr val="FFFF00"/>
                </a:solidFill>
                <a:latin typeface="EY interstate"/>
              </a:endParaRPr>
            </a:p>
          </p:txBody>
        </p:sp>
      </p:grpSp>
      <p:grpSp>
        <p:nvGrpSpPr>
          <p:cNvPr id="16" name="Group 15">
            <a:extLst>
              <a:ext uri="{FF2B5EF4-FFF2-40B4-BE49-F238E27FC236}">
                <a16:creationId xmlns:a16="http://schemas.microsoft.com/office/drawing/2014/main" id="{EFA0A300-3534-D3BB-A79C-B348F5FE6B23}"/>
              </a:ext>
            </a:extLst>
          </p:cNvPr>
          <p:cNvGrpSpPr/>
          <p:nvPr/>
        </p:nvGrpSpPr>
        <p:grpSpPr>
          <a:xfrm>
            <a:off x="712221" y="3989476"/>
            <a:ext cx="10653771" cy="1222871"/>
            <a:chOff x="712221" y="4282351"/>
            <a:chExt cx="11041966" cy="1151795"/>
          </a:xfrm>
        </p:grpSpPr>
        <p:sp>
          <p:nvSpPr>
            <p:cNvPr id="17" name="Freeform: Shape 16">
              <a:extLst>
                <a:ext uri="{FF2B5EF4-FFF2-40B4-BE49-F238E27FC236}">
                  <a16:creationId xmlns:a16="http://schemas.microsoft.com/office/drawing/2014/main" id="{AA47CA5B-B2B6-9C4B-45D0-5190461AE0F1}"/>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r>
                <a:rPr lang="en-IN" b="1">
                  <a:solidFill>
                    <a:schemeClr val="bg2"/>
                  </a:solidFill>
                  <a:latin typeface="EY interstate"/>
                </a:rPr>
                <a:t>Fixed Asset Accounting</a:t>
              </a:r>
              <a:endParaRPr lang="en-IN">
                <a:solidFill>
                  <a:schemeClr val="bg2"/>
                </a:solidFill>
                <a:latin typeface="EY interstate"/>
              </a:endParaRPr>
            </a:p>
          </p:txBody>
        </p:sp>
        <p:sp>
          <p:nvSpPr>
            <p:cNvPr id="18" name="Freeform: Shape 17">
              <a:extLst>
                <a:ext uri="{FF2B5EF4-FFF2-40B4-BE49-F238E27FC236}">
                  <a16:creationId xmlns:a16="http://schemas.microsoft.com/office/drawing/2014/main" id="{23857F0E-C9D2-6EFC-AEF3-ECD6D58D62ED}"/>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Capitalization (R→A) → Lease updates</a:t>
              </a:r>
              <a:endParaRPr lang="en-IN" sz="1400" b="1" kern="1200">
                <a:solidFill>
                  <a:srgbClr val="FFFF00"/>
                </a:solidFill>
                <a:latin typeface="EY interstate"/>
              </a:endParaRPr>
            </a:p>
          </p:txBody>
        </p:sp>
        <p:sp>
          <p:nvSpPr>
            <p:cNvPr id="19" name="Freeform: Shape 18">
              <a:extLst>
                <a:ext uri="{FF2B5EF4-FFF2-40B4-BE49-F238E27FC236}">
                  <a16:creationId xmlns:a16="http://schemas.microsoft.com/office/drawing/2014/main" id="{4C6B91A7-6A48-7DD3-8793-B4EDFB0ABB7D}"/>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Depreciation simulate </a:t>
              </a:r>
              <a:endParaRPr lang="en-IN" sz="1400" b="1" kern="1200">
                <a:solidFill>
                  <a:srgbClr val="FFFF00"/>
                </a:solidFill>
                <a:latin typeface="EY interstate"/>
              </a:endParaRPr>
            </a:p>
          </p:txBody>
        </p:sp>
        <p:sp>
          <p:nvSpPr>
            <p:cNvPr id="20" name="Freeform: Shape 19">
              <a:extLst>
                <a:ext uri="{FF2B5EF4-FFF2-40B4-BE49-F238E27FC236}">
                  <a16:creationId xmlns:a16="http://schemas.microsoft.com/office/drawing/2014/main" id="{6653BAF4-55A5-3904-B0F1-5588B5F3882E}"/>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Disposals/</a:t>
              </a:r>
            </a:p>
            <a:p>
              <a:pPr lvl="0" algn="ctr" defTabSz="622300">
                <a:lnSpc>
                  <a:spcPct val="90000"/>
                </a:lnSpc>
                <a:spcBef>
                  <a:spcPct val="0"/>
                </a:spcBef>
                <a:spcAft>
                  <a:spcPct val="35000"/>
                </a:spcAft>
              </a:pPr>
              <a:r>
                <a:rPr lang="en-IN" sz="1400">
                  <a:solidFill>
                    <a:srgbClr val="FFE600"/>
                  </a:solidFill>
                  <a:latin typeface="EY interstate"/>
                </a:rPr>
                <a:t>retirements</a:t>
              </a:r>
              <a:endParaRPr lang="en-IN" sz="1400" b="1" kern="1200">
                <a:solidFill>
                  <a:srgbClr val="FFFF00"/>
                </a:solidFill>
                <a:latin typeface="EY interstate"/>
              </a:endParaRPr>
            </a:p>
          </p:txBody>
        </p:sp>
        <p:sp>
          <p:nvSpPr>
            <p:cNvPr id="21" name="Freeform: Shape 20">
              <a:extLst>
                <a:ext uri="{FF2B5EF4-FFF2-40B4-BE49-F238E27FC236}">
                  <a16:creationId xmlns:a16="http://schemas.microsoft.com/office/drawing/2014/main" id="{C4C64174-3AA6-AC39-7FD5-9E6B9D1FF05A}"/>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ARO changes → Reconciliation</a:t>
              </a:r>
              <a:endParaRPr lang="en-IN" sz="1400" b="1" kern="1200">
                <a:solidFill>
                  <a:srgbClr val="FFFF00"/>
                </a:solidFill>
                <a:latin typeface="EY interstate"/>
              </a:endParaRPr>
            </a:p>
          </p:txBody>
        </p:sp>
      </p:grpSp>
      <p:grpSp>
        <p:nvGrpSpPr>
          <p:cNvPr id="22" name="Group 21">
            <a:extLst>
              <a:ext uri="{FF2B5EF4-FFF2-40B4-BE49-F238E27FC236}">
                <a16:creationId xmlns:a16="http://schemas.microsoft.com/office/drawing/2014/main" id="{94F856B8-CA91-D298-B8F4-59F8F45D8CE7}"/>
              </a:ext>
            </a:extLst>
          </p:cNvPr>
          <p:cNvGrpSpPr/>
          <p:nvPr/>
        </p:nvGrpSpPr>
        <p:grpSpPr>
          <a:xfrm>
            <a:off x="712221" y="5461393"/>
            <a:ext cx="10653771" cy="1222871"/>
            <a:chOff x="712221" y="4282351"/>
            <a:chExt cx="11041966" cy="1151795"/>
          </a:xfrm>
        </p:grpSpPr>
        <p:sp>
          <p:nvSpPr>
            <p:cNvPr id="23" name="Freeform: Shape 22">
              <a:extLst>
                <a:ext uri="{FF2B5EF4-FFF2-40B4-BE49-F238E27FC236}">
                  <a16:creationId xmlns:a16="http://schemas.microsoft.com/office/drawing/2014/main" id="{35F6DEE9-8361-14F4-0D24-ADEC777523E9}"/>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r>
                <a:rPr lang="en-IN" b="1">
                  <a:solidFill>
                    <a:schemeClr val="bg2"/>
                  </a:solidFill>
                  <a:latin typeface="EY interstate"/>
                </a:rPr>
                <a:t>General Accounting</a:t>
              </a:r>
              <a:endParaRPr lang="en-IN">
                <a:solidFill>
                  <a:schemeClr val="bg2"/>
                </a:solidFill>
                <a:latin typeface="EY interstate"/>
              </a:endParaRPr>
            </a:p>
          </p:txBody>
        </p:sp>
        <p:sp>
          <p:nvSpPr>
            <p:cNvPr id="24" name="Freeform: Shape 23">
              <a:extLst>
                <a:ext uri="{FF2B5EF4-FFF2-40B4-BE49-F238E27FC236}">
                  <a16:creationId xmlns:a16="http://schemas.microsoft.com/office/drawing/2014/main" id="{AA1C338C-85DA-BFFC-A7A3-229B5FB87C5B}"/>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Publish close calendar &amp; period status</a:t>
              </a:r>
              <a:endParaRPr lang="en-IN" sz="1400" b="1" kern="1200">
                <a:solidFill>
                  <a:srgbClr val="FFFF00"/>
                </a:solidFill>
                <a:latin typeface="EY interstate"/>
              </a:endParaRPr>
            </a:p>
          </p:txBody>
        </p:sp>
        <p:sp>
          <p:nvSpPr>
            <p:cNvPr id="25" name="Freeform: Shape 24">
              <a:extLst>
                <a:ext uri="{FF2B5EF4-FFF2-40B4-BE49-F238E27FC236}">
                  <a16:creationId xmlns:a16="http://schemas.microsoft.com/office/drawing/2014/main" id="{11524D68-D9B8-0D86-ED76-687EF47DC78D}"/>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Subledger readiness</a:t>
              </a:r>
              <a:endParaRPr lang="en-IN" sz="1400" b="1" kern="1200">
                <a:solidFill>
                  <a:srgbClr val="FFFF00"/>
                </a:solidFill>
                <a:latin typeface="EY interstate"/>
              </a:endParaRPr>
            </a:p>
          </p:txBody>
        </p:sp>
        <p:sp>
          <p:nvSpPr>
            <p:cNvPr id="26" name="Freeform: Shape 25">
              <a:extLst>
                <a:ext uri="{FF2B5EF4-FFF2-40B4-BE49-F238E27FC236}">
                  <a16:creationId xmlns:a16="http://schemas.microsoft.com/office/drawing/2014/main" id="{B171BEA4-9884-9511-D559-90655C322099}"/>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IC pre‑recon &amp; accrual pipeline</a:t>
              </a:r>
              <a:endParaRPr lang="en-IN" sz="1400" b="1" kern="1200">
                <a:solidFill>
                  <a:srgbClr val="FFFF00"/>
                </a:solidFill>
                <a:latin typeface="EY interstate"/>
              </a:endParaRPr>
            </a:p>
          </p:txBody>
        </p:sp>
        <p:sp>
          <p:nvSpPr>
            <p:cNvPr id="27" name="Freeform: Shape 26">
              <a:extLst>
                <a:ext uri="{FF2B5EF4-FFF2-40B4-BE49-F238E27FC236}">
                  <a16:creationId xmlns:a16="http://schemas.microsoft.com/office/drawing/2014/main" id="{4EBEB31D-9DCE-0C3A-20FA-BE962F6F8205}"/>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marL="0" lvl="0" indent="0" algn="ctr" defTabSz="622300">
                <a:lnSpc>
                  <a:spcPct val="90000"/>
                </a:lnSpc>
                <a:spcBef>
                  <a:spcPct val="0"/>
                </a:spcBef>
                <a:spcAft>
                  <a:spcPct val="35000"/>
                </a:spcAft>
                <a:buNone/>
              </a:pPr>
              <a:r>
                <a:rPr lang="en-IN" sz="1400" kern="1200">
                  <a:solidFill>
                    <a:srgbClr val="FFE600"/>
                  </a:solidFill>
                  <a:latin typeface="EY interstate"/>
                </a:rPr>
                <a:t>Readiness approval</a:t>
              </a:r>
              <a:endParaRPr lang="en-IN" sz="1400" b="1" kern="1200">
                <a:solidFill>
                  <a:srgbClr val="FFFF00"/>
                </a:solidFill>
                <a:latin typeface="EY interstate"/>
              </a:endParaRPr>
            </a:p>
          </p:txBody>
        </p:sp>
      </p:grpSp>
      <p:sp>
        <p:nvSpPr>
          <p:cNvPr id="33" name="TextBox 32">
            <a:extLst>
              <a:ext uri="{FF2B5EF4-FFF2-40B4-BE49-F238E27FC236}">
                <a16:creationId xmlns:a16="http://schemas.microsoft.com/office/drawing/2014/main" id="{F21AF7FD-9C49-182F-8076-600636DAB581}"/>
              </a:ext>
            </a:extLst>
          </p:cNvPr>
          <p:cNvSpPr txBox="1"/>
          <p:nvPr/>
        </p:nvSpPr>
        <p:spPr>
          <a:xfrm>
            <a:off x="284124" y="6684264"/>
            <a:ext cx="10135402" cy="153888"/>
          </a:xfrm>
          <a:prstGeom prst="rect">
            <a:avLst/>
          </a:prstGeom>
          <a:noFill/>
        </p:spPr>
        <p:txBody>
          <a:bodyPr wrap="square" rtlCol="0">
            <a:spAutoFit/>
          </a:bodyPr>
          <a:lstStyle/>
          <a:p>
            <a:r>
              <a:rPr lang="en-IN" sz="400">
                <a:solidFill>
                  <a:schemeClr val="bg1"/>
                </a:solidFill>
                <a:latin typeface="EY interstate"/>
              </a:rPr>
              <a:t>** MDG – Master Data &amp; Governance , MDM – Master Data Management , ERP – Enterprise Resource Planning , R→A – Review to Approve (workflow status) ,FS – Financial Statements , TB – Trial Balance , JE – Journal Entry , IC – Intercompany</a:t>
            </a:r>
          </a:p>
        </p:txBody>
      </p:sp>
    </p:spTree>
    <p:extLst>
      <p:ext uri="{BB962C8B-B14F-4D97-AF65-F5344CB8AC3E}">
        <p14:creationId xmlns:p14="http://schemas.microsoft.com/office/powerpoint/2010/main" val="271981741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3B1622-BCFF-6E1D-0C69-25CCE08D5D73}"/>
            </a:ext>
          </a:extLst>
        </p:cNvPr>
        <p:cNvGrpSpPr/>
        <p:nvPr/>
      </p:nvGrpSpPr>
      <p:grpSpPr>
        <a:xfrm>
          <a:off x="0" y="0"/>
          <a:ext cx="0" cy="0"/>
          <a:chOff x="0" y="0"/>
          <a:chExt cx="0" cy="0"/>
        </a:xfrm>
      </p:grpSpPr>
      <p:sp>
        <p:nvSpPr>
          <p:cNvPr id="3" name="Content Placeholder 1">
            <a:extLst>
              <a:ext uri="{FF2B5EF4-FFF2-40B4-BE49-F238E27FC236}">
                <a16:creationId xmlns:a16="http://schemas.microsoft.com/office/drawing/2014/main" id="{12B1EC63-06BE-5EBC-0887-AE2229C1EFC5}"/>
              </a:ext>
            </a:extLst>
          </p:cNvPr>
          <p:cNvSpPr txBox="1">
            <a:spLocks/>
          </p:cNvSpPr>
          <p:nvPr/>
        </p:nvSpPr>
        <p:spPr>
          <a:xfrm>
            <a:off x="609602" y="420836"/>
            <a:ext cx="11225019" cy="87121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0" i="0" u="none" strike="noStrike" cap="none" spc="0" baseline="0">
                <a:solidFill>
                  <a:srgbClr val="FFE600"/>
                </a:solidFill>
                <a:uFillTx/>
                <a:latin typeface="EY interstate"/>
              </a:defRPr>
            </a:lvl1pPr>
            <a:lvl2pPr marL="712875" marR="0" lvl="1" indent="-356442" defTabSz="913942" fontAlgn="auto">
              <a:lnSpc>
                <a:spcPct val="100000"/>
              </a:lnSpc>
              <a:spcBef>
                <a:spcPts val="400"/>
              </a:spcBef>
              <a:spcAft>
                <a:spcPts val="0"/>
              </a:spcAft>
              <a:buClr>
                <a:srgbClr val="FFE600"/>
              </a:buClr>
              <a:buSzPct val="110000"/>
              <a:buFont typeface="EYInterstate Light" pitchFamily="2"/>
              <a:buChar char="•"/>
              <a:tabLst/>
              <a:defRPr sz="1799" b="0" i="0" u="none" strike="noStrike" cap="none" spc="0" baseline="0">
                <a:solidFill>
                  <a:srgbClr val="FFFFFF"/>
                </a:solidFill>
                <a:uFillTx/>
                <a:latin typeface="EYInterstate Light" pitchFamily="2"/>
              </a:defRPr>
            </a:lvl2pPr>
            <a:lvl3pPr marL="1069308" marR="0" lvl="2" indent="-356442" defTabSz="913942" fontAlgn="auto">
              <a:lnSpc>
                <a:spcPct val="100000"/>
              </a:lnSpc>
              <a:spcBef>
                <a:spcPts val="400"/>
              </a:spcBef>
              <a:spcAft>
                <a:spcPts val="0"/>
              </a:spcAft>
              <a:buClr>
                <a:srgbClr val="FFE600"/>
              </a:buClr>
              <a:buSzPct val="110000"/>
              <a:buFont typeface="EYInterstate Light" pitchFamily="2"/>
              <a:buChar char="•"/>
              <a:tabLst/>
              <a:defRPr sz="1599" b="0" i="0" u="none" strike="noStrike" cap="none" spc="0" baseline="0">
                <a:solidFill>
                  <a:srgbClr val="FFFFFF"/>
                </a:solidFill>
                <a:uFillTx/>
                <a:latin typeface="EYInterstate Light" pitchFamily="2"/>
              </a:defRPr>
            </a:lvl3pPr>
            <a:lvl4pPr marL="1425750" marR="0" lvl="3" indent="-356442" defTabSz="913942" fontAlgn="auto">
              <a:lnSpc>
                <a:spcPct val="100000"/>
              </a:lnSpc>
              <a:spcBef>
                <a:spcPts val="300"/>
              </a:spcBef>
              <a:spcAft>
                <a:spcPts val="0"/>
              </a:spcAft>
              <a:buClr>
                <a:srgbClr val="FFE600"/>
              </a:buClr>
              <a:buSzPct val="110000"/>
              <a:buFont typeface="EYInterstate Light" pitchFamily="2"/>
              <a:buChar char="•"/>
              <a:tabLst/>
              <a:defRPr sz="1399" b="0" i="0" u="none" strike="noStrike" cap="none" spc="0" baseline="0">
                <a:solidFill>
                  <a:srgbClr val="FFFFFF"/>
                </a:solidFill>
                <a:uFillTx/>
                <a:latin typeface="EYInterstate Light" pitchFamily="2"/>
              </a:defRPr>
            </a:lvl4pPr>
            <a:lvl5pPr marL="1782183" marR="0" lvl="4" indent="-356442" defTabSz="913942" fontAlgn="auto">
              <a:lnSpc>
                <a:spcPct val="100000"/>
              </a:lnSpc>
              <a:spcBef>
                <a:spcPts val="300"/>
              </a:spcBef>
              <a:spcAft>
                <a:spcPts val="0"/>
              </a:spcAft>
              <a:buClr>
                <a:srgbClr val="FFE600"/>
              </a:buClr>
              <a:buSzPct val="110000"/>
              <a:buFont typeface="EYInterstate Light" pitchFamily="2"/>
              <a:buChar char="•"/>
              <a:tabLst/>
              <a:defRPr sz="1199" b="0" i="0" u="none" strike="noStrike" cap="none" spc="0" baseline="0">
                <a:solidFill>
                  <a:srgbClr val="FFFFFF"/>
                </a:solidFill>
                <a:uFillTx/>
                <a:latin typeface="EYInterstate Light" pitchFamily="2"/>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IN" b="1">
                <a:latin typeface="EY interstate heading"/>
              </a:rPr>
              <a:t>Accelerator Generator- Custom Workflows</a:t>
            </a:r>
          </a:p>
        </p:txBody>
      </p:sp>
      <p:grpSp>
        <p:nvGrpSpPr>
          <p:cNvPr id="28" name="Group 27">
            <a:extLst>
              <a:ext uri="{FF2B5EF4-FFF2-40B4-BE49-F238E27FC236}">
                <a16:creationId xmlns:a16="http://schemas.microsoft.com/office/drawing/2014/main" id="{CD35CED9-42D3-3A5F-5603-960A8BE2077C}"/>
              </a:ext>
            </a:extLst>
          </p:cNvPr>
          <p:cNvGrpSpPr/>
          <p:nvPr/>
        </p:nvGrpSpPr>
        <p:grpSpPr>
          <a:xfrm>
            <a:off x="692879" y="1045642"/>
            <a:ext cx="10395338" cy="1023075"/>
            <a:chOff x="692879" y="1045642"/>
            <a:chExt cx="11061268" cy="1151795"/>
          </a:xfrm>
        </p:grpSpPr>
        <p:sp>
          <p:nvSpPr>
            <p:cNvPr id="4" name="Freeform: Shape 3">
              <a:extLst>
                <a:ext uri="{FF2B5EF4-FFF2-40B4-BE49-F238E27FC236}">
                  <a16:creationId xmlns:a16="http://schemas.microsoft.com/office/drawing/2014/main" id="{1CBE1B2D-8521-05A1-005D-027E65215289}"/>
                </a:ext>
              </a:extLst>
            </p:cNvPr>
            <p:cNvSpPr/>
            <p:nvPr/>
          </p:nvSpPr>
          <p:spPr>
            <a:xfrm>
              <a:off x="692879" y="1045642"/>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3678" tIns="8890" rIns="575897" bIns="8890" numCol="1" spcCol="1270" anchor="ctr" anchorCtr="0">
              <a:noAutofit/>
            </a:bodyPr>
            <a:lstStyle/>
            <a:p>
              <a:r>
                <a:rPr lang="en-IN" sz="1400" b="1">
                  <a:solidFill>
                    <a:schemeClr val="bg2"/>
                  </a:solidFill>
                  <a:latin typeface="EY interstate"/>
                </a:rPr>
                <a:t>Intercompany Accounting</a:t>
              </a:r>
              <a:endParaRPr lang="en-IN" sz="1400">
                <a:solidFill>
                  <a:schemeClr val="bg2"/>
                </a:solidFill>
                <a:latin typeface="EY interstate"/>
              </a:endParaRPr>
            </a:p>
          </p:txBody>
        </p:sp>
        <p:sp>
          <p:nvSpPr>
            <p:cNvPr id="6" name="Freeform: Shape 5">
              <a:extLst>
                <a:ext uri="{FF2B5EF4-FFF2-40B4-BE49-F238E27FC236}">
                  <a16:creationId xmlns:a16="http://schemas.microsoft.com/office/drawing/2014/main" id="{09825AE6-D257-5F00-6DF7-53B88FDEBB0E}"/>
                </a:ext>
              </a:extLst>
            </p:cNvPr>
            <p:cNvSpPr/>
            <p:nvPr/>
          </p:nvSpPr>
          <p:spPr>
            <a:xfrm>
              <a:off x="3198033"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IC capture &amp; propose</a:t>
              </a:r>
              <a:endParaRPr lang="en-IN" sz="1400" b="1" kern="1200">
                <a:solidFill>
                  <a:srgbClr val="FFFF00"/>
                </a:solidFill>
                <a:latin typeface="EY interstate"/>
              </a:endParaRPr>
            </a:p>
          </p:txBody>
        </p:sp>
        <p:sp>
          <p:nvSpPr>
            <p:cNvPr id="7" name="Freeform: Shape 6">
              <a:extLst>
                <a:ext uri="{FF2B5EF4-FFF2-40B4-BE49-F238E27FC236}">
                  <a16:creationId xmlns:a16="http://schemas.microsoft.com/office/drawing/2014/main" id="{4747FEF0-69FC-4B42-F40A-F780AE5266D6}"/>
                </a:ext>
              </a:extLst>
            </p:cNvPr>
            <p:cNvSpPr/>
            <p:nvPr/>
          </p:nvSpPr>
          <p:spPr>
            <a:xfrm>
              <a:off x="5253413"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00075">
                <a:lnSpc>
                  <a:spcPct val="90000"/>
                </a:lnSpc>
                <a:spcBef>
                  <a:spcPct val="0"/>
                </a:spcBef>
                <a:spcAft>
                  <a:spcPct val="35000"/>
                </a:spcAft>
              </a:pPr>
              <a:r>
                <a:rPr lang="en-IN" sz="1400">
                  <a:solidFill>
                    <a:srgbClr val="FFE600"/>
                  </a:solidFill>
                  <a:latin typeface="EY interstate"/>
                </a:rPr>
                <a:t>Counterparty confirm (R→A) → Dispute management</a:t>
              </a:r>
              <a:endParaRPr lang="en-IN" sz="1350" b="1" kern="1200">
                <a:solidFill>
                  <a:srgbClr val="FFFF00"/>
                </a:solidFill>
                <a:latin typeface="EY interstate"/>
              </a:endParaRPr>
            </a:p>
          </p:txBody>
        </p:sp>
        <p:sp>
          <p:nvSpPr>
            <p:cNvPr id="8" name="Freeform: Shape 7">
              <a:extLst>
                <a:ext uri="{FF2B5EF4-FFF2-40B4-BE49-F238E27FC236}">
                  <a16:creationId xmlns:a16="http://schemas.microsoft.com/office/drawing/2014/main" id="{0B81507F-F422-4C83-D355-815F1CB718B9}"/>
                </a:ext>
              </a:extLst>
            </p:cNvPr>
            <p:cNvSpPr/>
            <p:nvPr/>
          </p:nvSpPr>
          <p:spPr>
            <a:xfrm>
              <a:off x="7308792"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Netting/settlement &amp; posting</a:t>
              </a:r>
              <a:endParaRPr lang="en-IN" sz="1400" b="1" kern="1200">
                <a:solidFill>
                  <a:srgbClr val="FFFF00"/>
                </a:solidFill>
                <a:latin typeface="EY interstate"/>
              </a:endParaRPr>
            </a:p>
          </p:txBody>
        </p:sp>
        <p:sp>
          <p:nvSpPr>
            <p:cNvPr id="9" name="Freeform: Shape 8">
              <a:extLst>
                <a:ext uri="{FF2B5EF4-FFF2-40B4-BE49-F238E27FC236}">
                  <a16:creationId xmlns:a16="http://schemas.microsoft.com/office/drawing/2014/main" id="{02701F5C-3AE0-2CAA-D461-0D64D3C85635}"/>
                </a:ext>
              </a:extLst>
            </p:cNvPr>
            <p:cNvSpPr/>
            <p:nvPr/>
          </p:nvSpPr>
          <p:spPr>
            <a:xfrm>
              <a:off x="9364171" y="1143543"/>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IC reconciliation</a:t>
              </a:r>
              <a:endParaRPr lang="en-IN" sz="1400" b="1" kern="1200">
                <a:solidFill>
                  <a:srgbClr val="FFFF00"/>
                </a:solidFill>
                <a:latin typeface="EY interstate"/>
              </a:endParaRPr>
            </a:p>
          </p:txBody>
        </p:sp>
      </p:grpSp>
      <p:grpSp>
        <p:nvGrpSpPr>
          <p:cNvPr id="15" name="Group 14">
            <a:extLst>
              <a:ext uri="{FF2B5EF4-FFF2-40B4-BE49-F238E27FC236}">
                <a16:creationId xmlns:a16="http://schemas.microsoft.com/office/drawing/2014/main" id="{E1A34BB4-0C89-DD56-8165-D0FD2E89C53D}"/>
              </a:ext>
            </a:extLst>
          </p:cNvPr>
          <p:cNvGrpSpPr/>
          <p:nvPr/>
        </p:nvGrpSpPr>
        <p:grpSpPr>
          <a:xfrm>
            <a:off x="692879" y="2173226"/>
            <a:ext cx="10377198" cy="1023075"/>
            <a:chOff x="712221" y="4282351"/>
            <a:chExt cx="11041966" cy="1151795"/>
          </a:xfrm>
        </p:grpSpPr>
        <p:sp>
          <p:nvSpPr>
            <p:cNvPr id="10" name="Freeform: Shape 9">
              <a:extLst>
                <a:ext uri="{FF2B5EF4-FFF2-40B4-BE49-F238E27FC236}">
                  <a16:creationId xmlns:a16="http://schemas.microsoft.com/office/drawing/2014/main" id="{4C0F4BB9-FA19-5303-50F0-C420A41B2444}"/>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pPr lvl="0" algn="ctr" defTabSz="800100">
                <a:lnSpc>
                  <a:spcPct val="90000"/>
                </a:lnSpc>
                <a:spcBef>
                  <a:spcPct val="0"/>
                </a:spcBef>
                <a:spcAft>
                  <a:spcPct val="35000"/>
                </a:spcAft>
              </a:pPr>
              <a:r>
                <a:rPr lang="en-IN" b="1">
                  <a:solidFill>
                    <a:schemeClr val="bg2"/>
                  </a:solidFill>
                  <a:latin typeface="EY interstate"/>
                </a:rPr>
                <a:t>Order Creation (O2C entry control)</a:t>
              </a:r>
              <a:endParaRPr lang="en-IN" sz="1800" b="1" kern="1200">
                <a:solidFill>
                  <a:srgbClr val="FFFF00"/>
                </a:solidFill>
                <a:latin typeface="EY interstate"/>
              </a:endParaRPr>
            </a:p>
          </p:txBody>
        </p:sp>
        <p:sp>
          <p:nvSpPr>
            <p:cNvPr id="11" name="Freeform: Shape 10">
              <a:extLst>
                <a:ext uri="{FF2B5EF4-FFF2-40B4-BE49-F238E27FC236}">
                  <a16:creationId xmlns:a16="http://schemas.microsoft.com/office/drawing/2014/main" id="{CB15693C-066B-4EAD-666D-6D338B54BA5D}"/>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Order entry &amp; validation</a:t>
              </a:r>
              <a:endParaRPr lang="en-IN" sz="1400" b="1" kern="1200">
                <a:solidFill>
                  <a:srgbClr val="FFFF00"/>
                </a:solidFill>
                <a:latin typeface="EY interstate"/>
              </a:endParaRPr>
            </a:p>
          </p:txBody>
        </p:sp>
        <p:sp>
          <p:nvSpPr>
            <p:cNvPr id="12" name="Freeform: Shape 11">
              <a:extLst>
                <a:ext uri="{FF2B5EF4-FFF2-40B4-BE49-F238E27FC236}">
                  <a16:creationId xmlns:a16="http://schemas.microsoft.com/office/drawing/2014/main" id="{8E23AC93-5170-55DE-458C-ACD92EBF9D9E}"/>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Credit check (R→A) → Tax determination</a:t>
              </a:r>
              <a:endParaRPr lang="en-IN" sz="1400" b="1" kern="1200">
                <a:solidFill>
                  <a:srgbClr val="FFFF00"/>
                </a:solidFill>
                <a:latin typeface="EY interstate"/>
              </a:endParaRPr>
            </a:p>
          </p:txBody>
        </p:sp>
        <p:sp>
          <p:nvSpPr>
            <p:cNvPr id="13" name="Freeform: Shape 12">
              <a:extLst>
                <a:ext uri="{FF2B5EF4-FFF2-40B4-BE49-F238E27FC236}">
                  <a16:creationId xmlns:a16="http://schemas.microsoft.com/office/drawing/2014/main" id="{93FE60FB-12EE-8C38-09A1-3AE564A06BAB}"/>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Tax determination → Non‑standard terms</a:t>
              </a:r>
              <a:endParaRPr lang="en-IN" sz="1400" b="1" kern="1200">
                <a:solidFill>
                  <a:srgbClr val="FFFF00"/>
                </a:solidFill>
                <a:latin typeface="EY interstate"/>
              </a:endParaRPr>
            </a:p>
          </p:txBody>
        </p:sp>
        <p:sp>
          <p:nvSpPr>
            <p:cNvPr id="14" name="Freeform: Shape 13">
              <a:extLst>
                <a:ext uri="{FF2B5EF4-FFF2-40B4-BE49-F238E27FC236}">
                  <a16:creationId xmlns:a16="http://schemas.microsoft.com/office/drawing/2014/main" id="{B8476627-3406-3094-F362-E1A9C62577EE}"/>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Release to fulfilment &amp; AR link</a:t>
              </a:r>
              <a:endParaRPr lang="en-IN" sz="1400" b="1" kern="1200">
                <a:solidFill>
                  <a:srgbClr val="FFFF00"/>
                </a:solidFill>
                <a:latin typeface="EY interstate"/>
              </a:endParaRPr>
            </a:p>
          </p:txBody>
        </p:sp>
      </p:grpSp>
      <p:grpSp>
        <p:nvGrpSpPr>
          <p:cNvPr id="16" name="Group 15">
            <a:extLst>
              <a:ext uri="{FF2B5EF4-FFF2-40B4-BE49-F238E27FC236}">
                <a16:creationId xmlns:a16="http://schemas.microsoft.com/office/drawing/2014/main" id="{062931B2-C426-8C1A-0F19-DAEB0781236E}"/>
              </a:ext>
            </a:extLst>
          </p:cNvPr>
          <p:cNvGrpSpPr/>
          <p:nvPr/>
        </p:nvGrpSpPr>
        <p:grpSpPr>
          <a:xfrm>
            <a:off x="718957" y="3303866"/>
            <a:ext cx="10377198" cy="1023075"/>
            <a:chOff x="712221" y="4282351"/>
            <a:chExt cx="11041966" cy="1151795"/>
          </a:xfrm>
        </p:grpSpPr>
        <p:sp>
          <p:nvSpPr>
            <p:cNvPr id="17" name="Freeform: Shape 16">
              <a:extLst>
                <a:ext uri="{FF2B5EF4-FFF2-40B4-BE49-F238E27FC236}">
                  <a16:creationId xmlns:a16="http://schemas.microsoft.com/office/drawing/2014/main" id="{A9E10BF1-512A-4395-C663-71A865F5A8DD}"/>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r>
                <a:rPr lang="en-IN" b="1">
                  <a:solidFill>
                    <a:schemeClr val="bg2"/>
                  </a:solidFill>
                  <a:latin typeface="EY interstate"/>
                </a:rPr>
                <a:t>Balance Sheet Reconciliation</a:t>
              </a:r>
              <a:endParaRPr lang="en-IN">
                <a:solidFill>
                  <a:schemeClr val="bg2"/>
                </a:solidFill>
                <a:latin typeface="EY interstate"/>
              </a:endParaRPr>
            </a:p>
          </p:txBody>
        </p:sp>
        <p:sp>
          <p:nvSpPr>
            <p:cNvPr id="18" name="Freeform: Shape 17">
              <a:extLst>
                <a:ext uri="{FF2B5EF4-FFF2-40B4-BE49-F238E27FC236}">
                  <a16:creationId xmlns:a16="http://schemas.microsoft.com/office/drawing/2014/main" id="{90D62AEC-F23A-C42D-C872-6351803814D4}"/>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Assign accounts &amp; thresholds</a:t>
              </a:r>
              <a:endParaRPr lang="en-IN" sz="1400" b="1" kern="1200">
                <a:solidFill>
                  <a:srgbClr val="FFFF00"/>
                </a:solidFill>
                <a:latin typeface="EY interstate"/>
              </a:endParaRPr>
            </a:p>
          </p:txBody>
        </p:sp>
        <p:sp>
          <p:nvSpPr>
            <p:cNvPr id="19" name="Freeform: Shape 18">
              <a:extLst>
                <a:ext uri="{FF2B5EF4-FFF2-40B4-BE49-F238E27FC236}">
                  <a16:creationId xmlns:a16="http://schemas.microsoft.com/office/drawing/2014/main" id="{F1A16657-D9C9-96FD-82E6-48AA13BA01EA}"/>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Prepare recon (R→A)</a:t>
              </a:r>
              <a:endParaRPr lang="en-IN" sz="1400" b="1" kern="1200">
                <a:solidFill>
                  <a:srgbClr val="FFFF00"/>
                </a:solidFill>
                <a:latin typeface="EY interstate"/>
              </a:endParaRPr>
            </a:p>
          </p:txBody>
        </p:sp>
        <p:sp>
          <p:nvSpPr>
            <p:cNvPr id="20" name="Freeform: Shape 19">
              <a:extLst>
                <a:ext uri="{FF2B5EF4-FFF2-40B4-BE49-F238E27FC236}">
                  <a16:creationId xmlns:a16="http://schemas.microsoft.com/office/drawing/2014/main" id="{82B8A9C5-C538-05BD-76C8-6B895902CCEF}"/>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Exception handling</a:t>
              </a:r>
              <a:endParaRPr lang="en-IN" sz="1400" b="1" kern="1200">
                <a:solidFill>
                  <a:srgbClr val="FFFF00"/>
                </a:solidFill>
                <a:latin typeface="EY interstate"/>
              </a:endParaRPr>
            </a:p>
          </p:txBody>
        </p:sp>
        <p:sp>
          <p:nvSpPr>
            <p:cNvPr id="21" name="Freeform: Shape 20">
              <a:extLst>
                <a:ext uri="{FF2B5EF4-FFF2-40B4-BE49-F238E27FC236}">
                  <a16:creationId xmlns:a16="http://schemas.microsoft.com/office/drawing/2014/main" id="{A596ED25-6223-3C1D-2F21-12BA87E4383B}"/>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Certification &amp; monitoring. Additions/CIP review</a:t>
              </a:r>
              <a:endParaRPr lang="en-IN" sz="1400" b="1" kern="1200">
                <a:solidFill>
                  <a:srgbClr val="FFFF00"/>
                </a:solidFill>
                <a:latin typeface="EY interstate"/>
              </a:endParaRPr>
            </a:p>
          </p:txBody>
        </p:sp>
      </p:grpSp>
      <p:grpSp>
        <p:nvGrpSpPr>
          <p:cNvPr id="22" name="Group 21">
            <a:extLst>
              <a:ext uri="{FF2B5EF4-FFF2-40B4-BE49-F238E27FC236}">
                <a16:creationId xmlns:a16="http://schemas.microsoft.com/office/drawing/2014/main" id="{E181CE42-98D2-3797-0513-9A096EA62447}"/>
              </a:ext>
            </a:extLst>
          </p:cNvPr>
          <p:cNvGrpSpPr/>
          <p:nvPr/>
        </p:nvGrpSpPr>
        <p:grpSpPr>
          <a:xfrm>
            <a:off x="692879" y="4442687"/>
            <a:ext cx="10377198" cy="1023075"/>
            <a:chOff x="712221" y="4282351"/>
            <a:chExt cx="11041966" cy="1151795"/>
          </a:xfrm>
        </p:grpSpPr>
        <p:sp>
          <p:nvSpPr>
            <p:cNvPr id="23" name="Freeform: Shape 22">
              <a:extLst>
                <a:ext uri="{FF2B5EF4-FFF2-40B4-BE49-F238E27FC236}">
                  <a16:creationId xmlns:a16="http://schemas.microsoft.com/office/drawing/2014/main" id="{AD3C8AC0-12E8-FEE5-52BB-2697C83CCF5D}"/>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r>
                <a:rPr lang="en-IN" b="1">
                  <a:solidFill>
                    <a:schemeClr val="bg2"/>
                  </a:solidFill>
                  <a:latin typeface="EY interstate"/>
                </a:rPr>
                <a:t>Consolidation &amp; Reporting</a:t>
              </a:r>
              <a:endParaRPr lang="en-IN">
                <a:solidFill>
                  <a:schemeClr val="bg2"/>
                </a:solidFill>
                <a:latin typeface="EY interstate"/>
              </a:endParaRPr>
            </a:p>
          </p:txBody>
        </p:sp>
        <p:sp>
          <p:nvSpPr>
            <p:cNvPr id="24" name="Freeform: Shape 23">
              <a:extLst>
                <a:ext uri="{FF2B5EF4-FFF2-40B4-BE49-F238E27FC236}">
                  <a16:creationId xmlns:a16="http://schemas.microsoft.com/office/drawing/2014/main" id="{1BA3C36E-C376-91EF-D372-7C190959F0BE}"/>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Load &amp; validate entity TB</a:t>
              </a:r>
              <a:endParaRPr lang="en-IN" sz="1400" b="1" kern="1200">
                <a:solidFill>
                  <a:srgbClr val="FFFF00"/>
                </a:solidFill>
                <a:latin typeface="EY interstate"/>
              </a:endParaRPr>
            </a:p>
          </p:txBody>
        </p:sp>
        <p:sp>
          <p:nvSpPr>
            <p:cNvPr id="25" name="Freeform: Shape 24">
              <a:extLst>
                <a:ext uri="{FF2B5EF4-FFF2-40B4-BE49-F238E27FC236}">
                  <a16:creationId xmlns:a16="http://schemas.microsoft.com/office/drawing/2014/main" id="{69653B94-65E3-4B02-4180-A9080CB6585F}"/>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300">
                  <a:solidFill>
                    <a:srgbClr val="FFE600"/>
                  </a:solidFill>
                  <a:latin typeface="EY interstate"/>
                </a:rPr>
                <a:t>Currency translation → IC eliminations &amp; group adjustments</a:t>
              </a:r>
              <a:endParaRPr lang="en-IN" sz="1300" b="1" kern="1200">
                <a:solidFill>
                  <a:srgbClr val="FFFF00"/>
                </a:solidFill>
                <a:latin typeface="EY interstate"/>
              </a:endParaRPr>
            </a:p>
          </p:txBody>
        </p:sp>
        <p:sp>
          <p:nvSpPr>
            <p:cNvPr id="26" name="Freeform: Shape 25">
              <a:extLst>
                <a:ext uri="{FF2B5EF4-FFF2-40B4-BE49-F238E27FC236}">
                  <a16:creationId xmlns:a16="http://schemas.microsoft.com/office/drawing/2014/main" id="{C86F1081-6DAD-1AE2-0DF8-FBF06E82C3E9}"/>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Consolidated FS &amp; flux</a:t>
              </a:r>
              <a:endParaRPr lang="en-IN" sz="1400" b="1" kern="1200">
                <a:solidFill>
                  <a:srgbClr val="FFFF00"/>
                </a:solidFill>
                <a:latin typeface="EY interstate"/>
              </a:endParaRPr>
            </a:p>
          </p:txBody>
        </p:sp>
        <p:sp>
          <p:nvSpPr>
            <p:cNvPr id="27" name="Freeform: Shape 26">
              <a:extLst>
                <a:ext uri="{FF2B5EF4-FFF2-40B4-BE49-F238E27FC236}">
                  <a16:creationId xmlns:a16="http://schemas.microsoft.com/office/drawing/2014/main" id="{62D3FAC9-C24A-C79C-F202-14A791C357F7}"/>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Management/</a:t>
              </a:r>
            </a:p>
            <a:p>
              <a:pPr lvl="0" algn="ctr" defTabSz="622300">
                <a:lnSpc>
                  <a:spcPct val="90000"/>
                </a:lnSpc>
                <a:spcBef>
                  <a:spcPct val="0"/>
                </a:spcBef>
                <a:spcAft>
                  <a:spcPct val="35000"/>
                </a:spcAft>
              </a:pPr>
              <a:r>
                <a:rPr lang="en-IN" sz="1400">
                  <a:solidFill>
                    <a:srgbClr val="FFE600"/>
                  </a:solidFill>
                  <a:latin typeface="EY interstate"/>
                </a:rPr>
                <a:t>statutory release</a:t>
              </a:r>
              <a:endParaRPr lang="en-IN" sz="1400" b="1" kern="1200">
                <a:solidFill>
                  <a:srgbClr val="FFFF00"/>
                </a:solidFill>
                <a:latin typeface="EY interstate"/>
              </a:endParaRPr>
            </a:p>
          </p:txBody>
        </p:sp>
      </p:grpSp>
      <p:grpSp>
        <p:nvGrpSpPr>
          <p:cNvPr id="2" name="Group 1">
            <a:extLst>
              <a:ext uri="{FF2B5EF4-FFF2-40B4-BE49-F238E27FC236}">
                <a16:creationId xmlns:a16="http://schemas.microsoft.com/office/drawing/2014/main" id="{4C649072-20BF-1EFA-16D9-3036FEAF149E}"/>
              </a:ext>
            </a:extLst>
          </p:cNvPr>
          <p:cNvGrpSpPr/>
          <p:nvPr/>
        </p:nvGrpSpPr>
        <p:grpSpPr>
          <a:xfrm>
            <a:off x="692879" y="5581508"/>
            <a:ext cx="10377198" cy="1023075"/>
            <a:chOff x="712221" y="4282351"/>
            <a:chExt cx="11041966" cy="1151795"/>
          </a:xfrm>
        </p:grpSpPr>
        <p:sp>
          <p:nvSpPr>
            <p:cNvPr id="5" name="Freeform: Shape 4">
              <a:extLst>
                <a:ext uri="{FF2B5EF4-FFF2-40B4-BE49-F238E27FC236}">
                  <a16:creationId xmlns:a16="http://schemas.microsoft.com/office/drawing/2014/main" id="{7EC843C4-DE2B-A0F1-7D68-F88385C9A35B}"/>
                </a:ext>
              </a:extLst>
            </p:cNvPr>
            <p:cNvSpPr/>
            <p:nvPr/>
          </p:nvSpPr>
          <p:spPr>
            <a:xfrm>
              <a:off x="712221" y="4282351"/>
              <a:ext cx="2879489" cy="1151795"/>
            </a:xfrm>
            <a:custGeom>
              <a:avLst/>
              <a:gdLst>
                <a:gd name="connsiteX0" fmla="*/ 0 w 2879489"/>
                <a:gd name="connsiteY0" fmla="*/ 0 h 1151795"/>
                <a:gd name="connsiteX1" fmla="*/ 2303592 w 2879489"/>
                <a:gd name="connsiteY1" fmla="*/ 0 h 1151795"/>
                <a:gd name="connsiteX2" fmla="*/ 2879489 w 2879489"/>
                <a:gd name="connsiteY2" fmla="*/ 575898 h 1151795"/>
                <a:gd name="connsiteX3" fmla="*/ 2303592 w 2879489"/>
                <a:gd name="connsiteY3" fmla="*/ 1151795 h 1151795"/>
                <a:gd name="connsiteX4" fmla="*/ 0 w 2879489"/>
                <a:gd name="connsiteY4" fmla="*/ 1151795 h 1151795"/>
                <a:gd name="connsiteX5" fmla="*/ 575898 w 2879489"/>
                <a:gd name="connsiteY5" fmla="*/ 575898 h 1151795"/>
                <a:gd name="connsiteX6" fmla="*/ 0 w 2879489"/>
                <a:gd name="connsiteY6" fmla="*/ 0 h 115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9489" h="1151795">
                  <a:moveTo>
                    <a:pt x="0" y="0"/>
                  </a:moveTo>
                  <a:lnTo>
                    <a:pt x="2303592" y="0"/>
                  </a:lnTo>
                  <a:lnTo>
                    <a:pt x="2879489" y="575898"/>
                  </a:lnTo>
                  <a:lnTo>
                    <a:pt x="2303592" y="1151795"/>
                  </a:lnTo>
                  <a:lnTo>
                    <a:pt x="0" y="1151795"/>
                  </a:lnTo>
                  <a:lnTo>
                    <a:pt x="575898" y="575898"/>
                  </a:lnTo>
                  <a:lnTo>
                    <a:pt x="0" y="0"/>
                  </a:lnTo>
                  <a:close/>
                </a:path>
              </a:pathLst>
            </a:custGeom>
            <a:noFill/>
            <a:ln>
              <a:solidFill>
                <a:srgbClr val="FFFF00"/>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98758" tIns="11430" rIns="575897" bIns="11430" numCol="1" spcCol="1270" anchor="ctr" anchorCtr="0">
              <a:noAutofit/>
            </a:bodyPr>
            <a:lstStyle/>
            <a:p>
              <a:r>
                <a:rPr lang="en-IN" sz="1600" b="1">
                  <a:solidFill>
                    <a:schemeClr val="bg2"/>
                  </a:solidFill>
                  <a:latin typeface="EY interstate"/>
                </a:rPr>
                <a:t>Compliance (SOX/ICFR &amp; Close Controls</a:t>
              </a:r>
              <a:r>
                <a:rPr lang="en-IN" b="1">
                  <a:solidFill>
                    <a:schemeClr val="bg2"/>
                  </a:solidFill>
                  <a:latin typeface="EY interstate"/>
                </a:rPr>
                <a:t>)</a:t>
              </a:r>
              <a:endParaRPr lang="en-IN">
                <a:solidFill>
                  <a:schemeClr val="bg2"/>
                </a:solidFill>
                <a:latin typeface="EY interstate"/>
              </a:endParaRPr>
            </a:p>
          </p:txBody>
        </p:sp>
        <p:sp>
          <p:nvSpPr>
            <p:cNvPr id="29" name="Freeform: Shape 28">
              <a:extLst>
                <a:ext uri="{FF2B5EF4-FFF2-40B4-BE49-F238E27FC236}">
                  <a16:creationId xmlns:a16="http://schemas.microsoft.com/office/drawing/2014/main" id="{88510FDE-9BF7-DC76-84D9-3BB4EFE75F09}"/>
                </a:ext>
              </a:extLst>
            </p:cNvPr>
            <p:cNvSpPr/>
            <p:nvPr/>
          </p:nvSpPr>
          <p:spPr>
            <a:xfrm>
              <a:off x="3245312" y="437111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Plan &amp; scope controls</a:t>
              </a:r>
              <a:endParaRPr lang="en-IN" sz="1400" b="1" kern="1200">
                <a:solidFill>
                  <a:srgbClr val="FFFF00"/>
                </a:solidFill>
                <a:latin typeface="EY interstate"/>
              </a:endParaRPr>
            </a:p>
          </p:txBody>
        </p:sp>
        <p:sp>
          <p:nvSpPr>
            <p:cNvPr id="30" name="Freeform: Shape 29">
              <a:extLst>
                <a:ext uri="{FF2B5EF4-FFF2-40B4-BE49-F238E27FC236}">
                  <a16:creationId xmlns:a16="http://schemas.microsoft.com/office/drawing/2014/main" id="{1B7B41E4-B6B2-5CD3-8299-183DBBED6D8C}"/>
                </a:ext>
              </a:extLst>
            </p:cNvPr>
            <p:cNvSpPr/>
            <p:nvPr/>
          </p:nvSpPr>
          <p:spPr>
            <a:xfrm>
              <a:off x="5300694" y="4362857"/>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Operate controls &amp; collect evidence</a:t>
              </a:r>
              <a:endParaRPr lang="en-IN" sz="1400" b="1" kern="1200">
                <a:solidFill>
                  <a:srgbClr val="FFFF00"/>
                </a:solidFill>
                <a:latin typeface="EY interstate"/>
              </a:endParaRPr>
            </a:p>
          </p:txBody>
        </p:sp>
        <p:sp>
          <p:nvSpPr>
            <p:cNvPr id="31" name="Freeform: Shape 30">
              <a:extLst>
                <a:ext uri="{FF2B5EF4-FFF2-40B4-BE49-F238E27FC236}">
                  <a16:creationId xmlns:a16="http://schemas.microsoft.com/office/drawing/2014/main" id="{6A59ED07-214C-923E-41A1-A6D78D9755CB}"/>
                </a:ext>
              </a:extLst>
            </p:cNvPr>
            <p:cNvSpPr/>
            <p:nvPr/>
          </p:nvSpPr>
          <p:spPr>
            <a:xfrm>
              <a:off x="7357539"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Certifications → GITC reviews</a:t>
              </a:r>
              <a:endParaRPr lang="en-IN" sz="1400" b="1" kern="1200">
                <a:solidFill>
                  <a:srgbClr val="FFFF00"/>
                </a:solidFill>
                <a:latin typeface="EY interstate"/>
              </a:endParaRPr>
            </a:p>
          </p:txBody>
        </p:sp>
        <p:sp>
          <p:nvSpPr>
            <p:cNvPr id="32" name="Freeform: Shape 31">
              <a:extLst>
                <a:ext uri="{FF2B5EF4-FFF2-40B4-BE49-F238E27FC236}">
                  <a16:creationId xmlns:a16="http://schemas.microsoft.com/office/drawing/2014/main" id="{818A0356-DBD9-A300-888C-79C6CBBB829F}"/>
                </a:ext>
              </a:extLst>
            </p:cNvPr>
            <p:cNvSpPr/>
            <p:nvPr/>
          </p:nvSpPr>
          <p:spPr>
            <a:xfrm>
              <a:off x="9364211" y="4366194"/>
              <a:ext cx="2389976" cy="955990"/>
            </a:xfrm>
            <a:custGeom>
              <a:avLst/>
              <a:gdLst>
                <a:gd name="connsiteX0" fmla="*/ 0 w 2389976"/>
                <a:gd name="connsiteY0" fmla="*/ 0 h 955990"/>
                <a:gd name="connsiteX1" fmla="*/ 1911981 w 2389976"/>
                <a:gd name="connsiteY1" fmla="*/ 0 h 955990"/>
                <a:gd name="connsiteX2" fmla="*/ 2389976 w 2389976"/>
                <a:gd name="connsiteY2" fmla="*/ 477995 h 955990"/>
                <a:gd name="connsiteX3" fmla="*/ 1911981 w 2389976"/>
                <a:gd name="connsiteY3" fmla="*/ 955990 h 955990"/>
                <a:gd name="connsiteX4" fmla="*/ 0 w 2389976"/>
                <a:gd name="connsiteY4" fmla="*/ 955990 h 955990"/>
                <a:gd name="connsiteX5" fmla="*/ 477995 w 2389976"/>
                <a:gd name="connsiteY5" fmla="*/ 477995 h 955990"/>
                <a:gd name="connsiteX6" fmla="*/ 0 w 2389976"/>
                <a:gd name="connsiteY6" fmla="*/ 0 h 95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9976" h="955990">
                  <a:moveTo>
                    <a:pt x="0" y="0"/>
                  </a:moveTo>
                  <a:lnTo>
                    <a:pt x="1911981" y="0"/>
                  </a:lnTo>
                  <a:lnTo>
                    <a:pt x="2389976" y="477995"/>
                  </a:lnTo>
                  <a:lnTo>
                    <a:pt x="1911981" y="955990"/>
                  </a:lnTo>
                  <a:lnTo>
                    <a:pt x="0" y="955990"/>
                  </a:lnTo>
                  <a:lnTo>
                    <a:pt x="477995" y="477995"/>
                  </a:lnTo>
                  <a:lnTo>
                    <a:pt x="0" y="0"/>
                  </a:lnTo>
                  <a:close/>
                </a:path>
              </a:pathLst>
            </a:custGeom>
            <a:no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95775" tIns="8890" rIns="477995" bIns="8890" numCol="1" spcCol="1270" anchor="ctr" anchorCtr="0">
              <a:noAutofit/>
            </a:bodyPr>
            <a:lstStyle/>
            <a:p>
              <a:pPr lvl="0" algn="ctr" defTabSz="622300">
                <a:lnSpc>
                  <a:spcPct val="90000"/>
                </a:lnSpc>
                <a:spcBef>
                  <a:spcPct val="0"/>
                </a:spcBef>
                <a:spcAft>
                  <a:spcPct val="35000"/>
                </a:spcAft>
              </a:pPr>
              <a:r>
                <a:rPr lang="en-IN" sz="1400">
                  <a:solidFill>
                    <a:srgbClr val="FFE600"/>
                  </a:solidFill>
                  <a:latin typeface="EY interstate"/>
                </a:rPr>
                <a:t>IA testing &amp; management responses.</a:t>
              </a:r>
              <a:endParaRPr lang="en-IN" sz="1400" b="1" kern="1200">
                <a:solidFill>
                  <a:srgbClr val="FFFF00"/>
                </a:solidFill>
                <a:latin typeface="EY interstate"/>
              </a:endParaRPr>
            </a:p>
          </p:txBody>
        </p:sp>
      </p:grpSp>
      <p:sp>
        <p:nvSpPr>
          <p:cNvPr id="34" name="TextBox 33">
            <a:extLst>
              <a:ext uri="{FF2B5EF4-FFF2-40B4-BE49-F238E27FC236}">
                <a16:creationId xmlns:a16="http://schemas.microsoft.com/office/drawing/2014/main" id="{29A9FE70-9921-DF12-0F31-FD5989A1ACF9}"/>
              </a:ext>
            </a:extLst>
          </p:cNvPr>
          <p:cNvSpPr txBox="1"/>
          <p:nvPr/>
        </p:nvSpPr>
        <p:spPr>
          <a:xfrm>
            <a:off x="0" y="6612607"/>
            <a:ext cx="10135402" cy="153888"/>
          </a:xfrm>
          <a:prstGeom prst="rect">
            <a:avLst/>
          </a:prstGeom>
          <a:noFill/>
        </p:spPr>
        <p:txBody>
          <a:bodyPr wrap="square" rtlCol="0">
            <a:spAutoFit/>
          </a:bodyPr>
          <a:lstStyle/>
          <a:p>
            <a:r>
              <a:rPr lang="en-IN" sz="400">
                <a:solidFill>
                  <a:schemeClr val="bg1"/>
                </a:solidFill>
                <a:latin typeface="EY interstate"/>
              </a:rPr>
              <a:t>** AR – Accounts Receivable , O2C – Order to Cash , CIP – Construction in Progress , FX – Foreign Exchange , ARO – Asset Retirement Obligation, SOX – Sarbanes-Oxley Act , ICFR – Internal Controls over Financial Reporting , GITC – General IT Controls , IA – Internal Audit</a:t>
            </a:r>
          </a:p>
        </p:txBody>
      </p:sp>
    </p:spTree>
    <p:extLst>
      <p:ext uri="{BB962C8B-B14F-4D97-AF65-F5344CB8AC3E}">
        <p14:creationId xmlns:p14="http://schemas.microsoft.com/office/powerpoint/2010/main" val="335139845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B08BCE-2C4D-64D2-FC56-099340285AAA}"/>
            </a:ext>
          </a:extLst>
        </p:cNvPr>
        <p:cNvGrpSpPr/>
        <p:nvPr/>
      </p:nvGrpSpPr>
      <p:grpSpPr>
        <a:xfrm>
          <a:off x="0" y="0"/>
          <a:ext cx="0" cy="0"/>
          <a:chOff x="0" y="0"/>
          <a:chExt cx="0" cy="0"/>
        </a:xfrm>
      </p:grpSpPr>
      <p:sp>
        <p:nvSpPr>
          <p:cNvPr id="3" name="Content Placeholder 1">
            <a:extLst>
              <a:ext uri="{FF2B5EF4-FFF2-40B4-BE49-F238E27FC236}">
                <a16:creationId xmlns:a16="http://schemas.microsoft.com/office/drawing/2014/main" id="{0B591F56-966C-9C94-EC7B-4B0505AC7AEA}"/>
              </a:ext>
            </a:extLst>
          </p:cNvPr>
          <p:cNvSpPr txBox="1">
            <a:spLocks/>
          </p:cNvSpPr>
          <p:nvPr/>
        </p:nvSpPr>
        <p:spPr>
          <a:xfrm>
            <a:off x="600151" y="391733"/>
            <a:ext cx="11225019" cy="871218"/>
          </a:xfrm>
          <a:prstGeom prst="rect">
            <a:avLst/>
          </a:prstGeom>
          <a:noFill/>
          <a:ln>
            <a:noFill/>
          </a:ln>
        </p:spPr>
        <p:txBody>
          <a:bodyPr vert="horz" wrap="square" lIns="0" tIns="0" rIns="0" bIns="0" rtlCol="0" anchor="t" anchorCtr="0" compatLnSpc="1">
            <a:noAutofit/>
          </a:bodyPr>
          <a:lstStyle>
            <a:defPPr>
              <a:defRPr lang="en-US"/>
            </a:defPPr>
            <a:lvl1pPr marR="0" lvl="0" indent="0" defTabSz="913942" fontAlgn="auto">
              <a:lnSpc>
                <a:spcPct val="100000"/>
              </a:lnSpc>
              <a:spcBef>
                <a:spcPts val="500"/>
              </a:spcBef>
              <a:spcAft>
                <a:spcPts val="0"/>
              </a:spcAft>
              <a:buClr>
                <a:srgbClr val="FFE600"/>
              </a:buClr>
              <a:buSzPct val="110000"/>
              <a:buFont typeface="EYInterstate Light" pitchFamily="2"/>
              <a:buNone/>
              <a:tabLst/>
              <a:defRPr sz="2400" b="0" i="0" u="none" strike="noStrike" cap="none" spc="0" baseline="0">
                <a:solidFill>
                  <a:srgbClr val="FFE600"/>
                </a:solidFill>
                <a:uFillTx/>
                <a:latin typeface="EY interstate"/>
              </a:defRPr>
            </a:lvl1pPr>
            <a:lvl2pPr marL="712875" marR="0" lvl="1"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799" b="0" i="0" u="none" strike="noStrike" kern="1200" cap="none" spc="0" baseline="0">
                <a:solidFill>
                  <a:srgbClr val="FFFFFF"/>
                </a:solidFill>
                <a:uFillTx/>
                <a:latin typeface="EYInterstate Light" pitchFamily="2"/>
              </a:defRPr>
            </a:lvl2pPr>
            <a:lvl3pPr marL="1069308" marR="0" lvl="2" indent="-356442" algn="l" defTabSz="913942" rtl="0" fontAlgn="auto" hangingPunct="1">
              <a:lnSpc>
                <a:spcPct val="100000"/>
              </a:lnSpc>
              <a:spcBef>
                <a:spcPts val="400"/>
              </a:spcBef>
              <a:spcAft>
                <a:spcPts val="0"/>
              </a:spcAft>
              <a:buClr>
                <a:srgbClr val="FFE600"/>
              </a:buClr>
              <a:buSzPct val="110000"/>
              <a:buFont typeface="EYInterstate Light" pitchFamily="2"/>
              <a:buChar char="•"/>
              <a:tabLst/>
              <a:defRPr lang="en-US" sz="1599" b="0" i="0" u="none" strike="noStrike" kern="1200" cap="none" spc="0" baseline="0">
                <a:solidFill>
                  <a:srgbClr val="FFFFFF"/>
                </a:solidFill>
                <a:uFillTx/>
                <a:latin typeface="EYInterstate Light" pitchFamily="2"/>
              </a:defRPr>
            </a:lvl3pPr>
            <a:lvl4pPr marL="1425750" marR="0" lvl="3"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399" b="0" i="0" u="none" strike="noStrike" kern="1200" cap="none" spc="0" baseline="0">
                <a:solidFill>
                  <a:srgbClr val="FFFFFF"/>
                </a:solidFill>
                <a:uFillTx/>
                <a:latin typeface="EYInterstate Light" pitchFamily="2"/>
              </a:defRPr>
            </a:lvl4pPr>
            <a:lvl5pPr marL="1782183" marR="0" lvl="4" indent="-356442" algn="l" defTabSz="913942" rtl="0" fontAlgn="auto" hangingPunct="1">
              <a:lnSpc>
                <a:spcPct val="100000"/>
              </a:lnSpc>
              <a:spcBef>
                <a:spcPts val="300"/>
              </a:spcBef>
              <a:spcAft>
                <a:spcPts val="0"/>
              </a:spcAft>
              <a:buClr>
                <a:srgbClr val="FFE600"/>
              </a:buClr>
              <a:buSzPct val="110000"/>
              <a:buFont typeface="EYInterstate Light" pitchFamily="2"/>
              <a:buChar char="•"/>
              <a:tabLst/>
              <a:defRPr lang="en-US" sz="1199" b="0" i="0" u="none" strike="noStrike" kern="1200" cap="none" spc="0" baseline="0">
                <a:solidFill>
                  <a:srgbClr val="FFFFFF"/>
                </a:solidFill>
                <a:uFillTx/>
                <a:latin typeface="EYInterstate Light" pitchFamily="2"/>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IN" b="1">
                <a:latin typeface="EY interstate heading"/>
              </a:rPr>
              <a:t>Transformation Playbook: Blackline Use Cases</a:t>
            </a:r>
          </a:p>
        </p:txBody>
      </p:sp>
      <p:grpSp>
        <p:nvGrpSpPr>
          <p:cNvPr id="4" name="Group 3">
            <a:extLst>
              <a:ext uri="{FF2B5EF4-FFF2-40B4-BE49-F238E27FC236}">
                <a16:creationId xmlns:a16="http://schemas.microsoft.com/office/drawing/2014/main" id="{5C02EABE-6B3F-957D-F341-B90CFB1CBCEE}"/>
              </a:ext>
            </a:extLst>
          </p:cNvPr>
          <p:cNvGrpSpPr/>
          <p:nvPr/>
        </p:nvGrpSpPr>
        <p:grpSpPr>
          <a:xfrm>
            <a:off x="609283" y="1053066"/>
            <a:ext cx="10068905" cy="5374905"/>
            <a:chOff x="609918" y="1042311"/>
            <a:chExt cx="11361655" cy="5380507"/>
          </a:xfrm>
        </p:grpSpPr>
        <p:cxnSp>
          <p:nvCxnSpPr>
            <p:cNvPr id="6" name="Elbow Connector 155">
              <a:extLst>
                <a:ext uri="{FF2B5EF4-FFF2-40B4-BE49-F238E27FC236}">
                  <a16:creationId xmlns:a16="http://schemas.microsoft.com/office/drawing/2014/main" id="{8EEB18C0-9CB9-D894-FD25-5E7A6D65FF27}"/>
                </a:ext>
              </a:extLst>
            </p:cNvPr>
            <p:cNvCxnSpPr/>
            <p:nvPr/>
          </p:nvCxnSpPr>
          <p:spPr>
            <a:xfrm flipV="1">
              <a:off x="5701911" y="3229963"/>
              <a:ext cx="169096" cy="447075"/>
            </a:xfrm>
            <a:prstGeom prst="bentConnector2">
              <a:avLst/>
            </a:prstGeom>
            <a:noFill/>
            <a:ln w="19050" cap="flat" cmpd="sng" algn="ctr">
              <a:solidFill>
                <a:srgbClr val="808080"/>
              </a:solidFill>
              <a:prstDash val="solid"/>
              <a:tailEnd type="triangle"/>
            </a:ln>
            <a:effectLst/>
          </p:spPr>
        </p:cxnSp>
        <p:sp>
          <p:nvSpPr>
            <p:cNvPr id="7" name="Trapezoid 6">
              <a:extLst>
                <a:ext uri="{FF2B5EF4-FFF2-40B4-BE49-F238E27FC236}">
                  <a16:creationId xmlns:a16="http://schemas.microsoft.com/office/drawing/2014/main" id="{FF7C6114-EB23-179B-37EF-CBDD59DD5865}"/>
                </a:ext>
              </a:extLst>
            </p:cNvPr>
            <p:cNvSpPr/>
            <p:nvPr/>
          </p:nvSpPr>
          <p:spPr>
            <a:xfrm rot="16200000" flipH="1">
              <a:off x="10086782" y="1724318"/>
              <a:ext cx="1562109" cy="1499785"/>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defRPr/>
              </a:pPr>
              <a:endParaRPr lang="en-IN" sz="1198" kern="0">
                <a:solidFill>
                  <a:srgbClr val="646464"/>
                </a:solidFill>
                <a:latin typeface="EY interstate"/>
              </a:endParaRPr>
            </a:p>
          </p:txBody>
        </p:sp>
        <p:cxnSp>
          <p:nvCxnSpPr>
            <p:cNvPr id="8" name="Elbow Connector 152">
              <a:extLst>
                <a:ext uri="{FF2B5EF4-FFF2-40B4-BE49-F238E27FC236}">
                  <a16:creationId xmlns:a16="http://schemas.microsoft.com/office/drawing/2014/main" id="{6DA5DDB7-E920-822F-B368-2692E64A0C74}"/>
                </a:ext>
              </a:extLst>
            </p:cNvPr>
            <p:cNvCxnSpPr>
              <a:endCxn id="23" idx="1"/>
            </p:cNvCxnSpPr>
            <p:nvPr/>
          </p:nvCxnSpPr>
          <p:spPr>
            <a:xfrm rot="16200000" flipH="1">
              <a:off x="4014982" y="3096244"/>
              <a:ext cx="251075" cy="219343"/>
            </a:xfrm>
            <a:prstGeom prst="bentConnector2">
              <a:avLst/>
            </a:prstGeom>
            <a:noFill/>
            <a:ln w="19050" cap="flat" cmpd="sng" algn="ctr">
              <a:solidFill>
                <a:srgbClr val="808080"/>
              </a:solidFill>
              <a:prstDash val="solid"/>
              <a:tailEnd type="triangle"/>
            </a:ln>
            <a:effectLst/>
          </p:spPr>
        </p:cxnSp>
        <p:sp>
          <p:nvSpPr>
            <p:cNvPr id="9" name="Trapezoid 8">
              <a:extLst>
                <a:ext uri="{FF2B5EF4-FFF2-40B4-BE49-F238E27FC236}">
                  <a16:creationId xmlns:a16="http://schemas.microsoft.com/office/drawing/2014/main" id="{08DE7CC5-4EC6-E631-73F9-332417526162}"/>
                </a:ext>
              </a:extLst>
            </p:cNvPr>
            <p:cNvSpPr/>
            <p:nvPr/>
          </p:nvSpPr>
          <p:spPr>
            <a:xfrm rot="16200000" flipH="1">
              <a:off x="1072883" y="1743165"/>
              <a:ext cx="1611150" cy="1565425"/>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defRPr/>
              </a:pPr>
              <a:endParaRPr lang="en-IN" sz="1198" kern="0">
                <a:latin typeface="EY interstate"/>
              </a:endParaRPr>
            </a:p>
          </p:txBody>
        </p:sp>
        <p:sp>
          <p:nvSpPr>
            <p:cNvPr id="10" name="Trapezoid 9">
              <a:extLst>
                <a:ext uri="{FF2B5EF4-FFF2-40B4-BE49-F238E27FC236}">
                  <a16:creationId xmlns:a16="http://schemas.microsoft.com/office/drawing/2014/main" id="{B7025301-C812-59B3-DCB7-406892D7DE2E}"/>
                </a:ext>
              </a:extLst>
            </p:cNvPr>
            <p:cNvSpPr/>
            <p:nvPr/>
          </p:nvSpPr>
          <p:spPr>
            <a:xfrm rot="16200000" flipH="1">
              <a:off x="2865217" y="1718644"/>
              <a:ext cx="1562109" cy="1565425"/>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endParaRPr lang="en-IN" sz="1198" kern="0">
                <a:latin typeface="EY interstate"/>
              </a:endParaRPr>
            </a:p>
          </p:txBody>
        </p:sp>
        <p:sp>
          <p:nvSpPr>
            <p:cNvPr id="11" name="Trapezoid 10">
              <a:extLst>
                <a:ext uri="{FF2B5EF4-FFF2-40B4-BE49-F238E27FC236}">
                  <a16:creationId xmlns:a16="http://schemas.microsoft.com/office/drawing/2014/main" id="{1F9E25AF-2C76-478E-813C-FCCE88946B5F}"/>
                </a:ext>
              </a:extLst>
            </p:cNvPr>
            <p:cNvSpPr/>
            <p:nvPr/>
          </p:nvSpPr>
          <p:spPr>
            <a:xfrm rot="16200000" flipH="1">
              <a:off x="4695560" y="1718645"/>
              <a:ext cx="1562109" cy="1565425"/>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defRPr/>
              </a:pPr>
              <a:endParaRPr lang="en-IN" sz="1198" kern="0">
                <a:latin typeface="EY interstate"/>
              </a:endParaRPr>
            </a:p>
          </p:txBody>
        </p:sp>
        <p:sp>
          <p:nvSpPr>
            <p:cNvPr id="12" name="Trapezoid 11">
              <a:extLst>
                <a:ext uri="{FF2B5EF4-FFF2-40B4-BE49-F238E27FC236}">
                  <a16:creationId xmlns:a16="http://schemas.microsoft.com/office/drawing/2014/main" id="{03AFC01A-A38D-93B2-45CF-A0A489A37A91}"/>
                </a:ext>
              </a:extLst>
            </p:cNvPr>
            <p:cNvSpPr/>
            <p:nvPr/>
          </p:nvSpPr>
          <p:spPr>
            <a:xfrm rot="16200000" flipH="1">
              <a:off x="6525901" y="1718646"/>
              <a:ext cx="1562109" cy="1565425"/>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defRPr/>
              </a:pPr>
              <a:endParaRPr lang="en-IN" sz="1198" kern="0">
                <a:solidFill>
                  <a:srgbClr val="646464"/>
                </a:solidFill>
                <a:latin typeface="EY interstate"/>
              </a:endParaRPr>
            </a:p>
          </p:txBody>
        </p:sp>
        <p:sp>
          <p:nvSpPr>
            <p:cNvPr id="13" name="Rectangle 12">
              <a:extLst>
                <a:ext uri="{FF2B5EF4-FFF2-40B4-BE49-F238E27FC236}">
                  <a16:creationId xmlns:a16="http://schemas.microsoft.com/office/drawing/2014/main" id="{C8FD84D6-D936-81F8-019F-6305EDA112BC}"/>
                </a:ext>
              </a:extLst>
            </p:cNvPr>
            <p:cNvSpPr/>
            <p:nvPr/>
          </p:nvSpPr>
          <p:spPr>
            <a:xfrm>
              <a:off x="1045854" y="1951155"/>
              <a:ext cx="1570653" cy="1274195"/>
            </a:xfrm>
            <a:prstGeom prst="rect">
              <a:avLst/>
            </a:prstGeom>
          </p:spPr>
          <p:txBody>
            <a:bodyPr wrap="square" lIns="73076" tIns="36538" rIns="73076" bIns="36538">
              <a:spAutoFit/>
            </a:bodyPr>
            <a:lstStyle/>
            <a:p>
              <a:pPr algn="ctr" defTabSz="685114" eaLnBrk="0" fontAlgn="base" hangingPunct="0">
                <a:spcBef>
                  <a:spcPct val="0"/>
                </a:spcBef>
                <a:spcAft>
                  <a:spcPct val="0"/>
                </a:spcAft>
                <a:defRPr/>
              </a:pPr>
              <a:r>
                <a:rPr lang="en-US" sz="1118" b="1" kern="0">
                  <a:latin typeface="EY interstate"/>
                </a:rPr>
                <a:t>Transaction Matching</a:t>
              </a:r>
            </a:p>
            <a:p>
              <a:pPr algn="ctr" defTabSz="685114" eaLnBrk="0" fontAlgn="base" hangingPunct="0">
                <a:spcBef>
                  <a:spcPct val="0"/>
                </a:spcBef>
                <a:spcAft>
                  <a:spcPct val="0"/>
                </a:spcAft>
                <a:defRPr/>
              </a:pPr>
              <a:r>
                <a:rPr lang="en-US" sz="800" b="1" i="1" kern="0">
                  <a:latin typeface="EY interstate"/>
                </a:rPr>
                <a:t>Data Warehouse</a:t>
              </a:r>
              <a:br>
                <a:rPr lang="en-US" sz="800" b="1" i="1" kern="0">
                  <a:latin typeface="EY interstate"/>
                </a:rPr>
              </a:br>
              <a:endParaRPr lang="en-US" sz="800" b="1" i="1" kern="0">
                <a:latin typeface="EY interstate"/>
              </a:endParaRPr>
            </a:p>
            <a:p>
              <a:pPr algn="ctr" defTabSz="685114" eaLnBrk="0" fontAlgn="base" hangingPunct="0">
                <a:spcBef>
                  <a:spcPct val="0"/>
                </a:spcBef>
                <a:spcAft>
                  <a:spcPct val="0"/>
                </a:spcAft>
                <a:defRPr/>
              </a:pPr>
              <a:r>
                <a:rPr lang="en-US" sz="800" b="1" kern="0">
                  <a:latin typeface="EY interstate"/>
                </a:rPr>
                <a:t>(PoS Systems, GL Detail, Bank trans., Payroll processor, HR Detail, 3</a:t>
              </a:r>
              <a:r>
                <a:rPr lang="en-US" sz="800" b="1" kern="0" baseline="30000">
                  <a:latin typeface="EY interstate"/>
                </a:rPr>
                <a:t>rd</a:t>
              </a:r>
              <a:r>
                <a:rPr lang="en-US" sz="800" b="1" kern="0">
                  <a:latin typeface="EY interstate"/>
                </a:rPr>
                <a:t> party info)</a:t>
              </a:r>
            </a:p>
            <a:p>
              <a:pPr defTabSz="913486">
                <a:lnSpc>
                  <a:spcPct val="95000"/>
                </a:lnSpc>
                <a:spcAft>
                  <a:spcPts val="800"/>
                </a:spcAft>
                <a:buClr>
                  <a:srgbClr val="969696"/>
                </a:buClr>
                <a:defRPr/>
              </a:pPr>
              <a:endParaRPr lang="en-US" sz="800" b="1" kern="0">
                <a:solidFill>
                  <a:schemeClr val="bg2"/>
                </a:solidFill>
                <a:latin typeface="EY interstate"/>
                <a:cs typeface="Arial" charset="0"/>
              </a:endParaRPr>
            </a:p>
          </p:txBody>
        </p:sp>
        <p:sp>
          <p:nvSpPr>
            <p:cNvPr id="16" name="Rectangle 15">
              <a:extLst>
                <a:ext uri="{FF2B5EF4-FFF2-40B4-BE49-F238E27FC236}">
                  <a16:creationId xmlns:a16="http://schemas.microsoft.com/office/drawing/2014/main" id="{5131FEA8-46CD-5411-A290-E1502CB9DFE2}"/>
                </a:ext>
              </a:extLst>
            </p:cNvPr>
            <p:cNvSpPr/>
            <p:nvPr/>
          </p:nvSpPr>
          <p:spPr>
            <a:xfrm>
              <a:off x="2919704" y="1939463"/>
              <a:ext cx="1527147" cy="1056953"/>
            </a:xfrm>
            <a:prstGeom prst="rect">
              <a:avLst/>
            </a:prstGeom>
          </p:spPr>
          <p:txBody>
            <a:bodyPr wrap="square" lIns="73076" tIns="36538" rIns="73076" bIns="36538">
              <a:spAutoFit/>
            </a:bodyPr>
            <a:lstStyle/>
            <a:p>
              <a:pPr algn="ctr" defTabSz="913486">
                <a:lnSpc>
                  <a:spcPct val="95000"/>
                </a:lnSpc>
                <a:spcAft>
                  <a:spcPts val="800"/>
                </a:spcAft>
                <a:buClr>
                  <a:srgbClr val="969696"/>
                </a:buClr>
                <a:defRPr/>
              </a:pPr>
              <a:r>
                <a:rPr lang="en-US" sz="1118" b="1" kern="0">
                  <a:latin typeface="EY interstate"/>
                </a:rPr>
                <a:t>Account </a:t>
              </a:r>
              <a:r>
                <a:rPr lang="en-US" sz="1098" b="1" kern="0">
                  <a:latin typeface="EY interstate"/>
                </a:rPr>
                <a:t>Reconciliations</a:t>
              </a:r>
              <a:br>
                <a:rPr lang="en-US" sz="1118" b="1" kern="0">
                  <a:latin typeface="EY interstate"/>
                </a:rPr>
              </a:br>
              <a:r>
                <a:rPr lang="en-US" sz="800" b="1" i="1" kern="0">
                  <a:latin typeface="EY interstate"/>
                </a:rPr>
                <a:t>Account substantiation</a:t>
              </a:r>
              <a:br>
                <a:rPr lang="en-US" sz="1118" b="1" kern="0">
                  <a:latin typeface="EY interstate"/>
                </a:rPr>
              </a:br>
              <a:r>
                <a:rPr lang="en-US" sz="640" b="1" kern="0">
                  <a:latin typeface="EY interstate"/>
                </a:rPr>
                <a:t>(</a:t>
              </a:r>
              <a:r>
                <a:rPr lang="en-US" sz="750" b="1" kern="0">
                  <a:latin typeface="EY interstate"/>
                </a:rPr>
                <a:t>GLB/S Balances, Sub-ledgers, Bank Statements, Schedules, Open / Unmatched Items)</a:t>
              </a:r>
            </a:p>
            <a:p>
              <a:pPr algn="ctr" defTabSz="913486">
                <a:lnSpc>
                  <a:spcPct val="95000"/>
                </a:lnSpc>
                <a:spcAft>
                  <a:spcPts val="800"/>
                </a:spcAft>
                <a:buClr>
                  <a:srgbClr val="969696"/>
                </a:buClr>
                <a:defRPr/>
              </a:pPr>
              <a:endParaRPr lang="en-US" sz="750" b="1" kern="0">
                <a:latin typeface="EY interstate"/>
              </a:endParaRPr>
            </a:p>
          </p:txBody>
        </p:sp>
        <p:sp>
          <p:nvSpPr>
            <p:cNvPr id="17" name="Rectangle 16">
              <a:extLst>
                <a:ext uri="{FF2B5EF4-FFF2-40B4-BE49-F238E27FC236}">
                  <a16:creationId xmlns:a16="http://schemas.microsoft.com/office/drawing/2014/main" id="{E9B152C2-9609-B607-5EC9-FDE911C39535}"/>
                </a:ext>
              </a:extLst>
            </p:cNvPr>
            <p:cNvSpPr/>
            <p:nvPr/>
          </p:nvSpPr>
          <p:spPr>
            <a:xfrm>
              <a:off x="4693902" y="2108808"/>
              <a:ext cx="1453134" cy="793679"/>
            </a:xfrm>
            <a:prstGeom prst="rect">
              <a:avLst/>
            </a:prstGeom>
          </p:spPr>
          <p:txBody>
            <a:bodyPr wrap="square" lIns="73076" tIns="36538" rIns="73076" bIns="36538">
              <a:spAutoFit/>
            </a:bodyPr>
            <a:lstStyle/>
            <a:p>
              <a:pPr algn="ctr" defTabSz="913486">
                <a:lnSpc>
                  <a:spcPct val="95000"/>
                </a:lnSpc>
                <a:spcAft>
                  <a:spcPts val="800"/>
                </a:spcAft>
                <a:buClr>
                  <a:srgbClr val="969696"/>
                </a:buClr>
                <a:defRPr/>
              </a:pPr>
              <a:r>
                <a:rPr lang="en-US" sz="1118" b="1" kern="0">
                  <a:latin typeface="EY interstate"/>
                </a:rPr>
                <a:t>Journal Entry</a:t>
              </a:r>
              <a:endParaRPr lang="en-US" sz="800" b="1" i="1" kern="0">
                <a:latin typeface="EY interstate"/>
              </a:endParaRPr>
            </a:p>
            <a:p>
              <a:pPr algn="ctr" defTabSz="913486">
                <a:lnSpc>
                  <a:spcPct val="95000"/>
                </a:lnSpc>
                <a:spcAft>
                  <a:spcPts val="800"/>
                </a:spcAft>
                <a:buClr>
                  <a:srgbClr val="969696"/>
                </a:buClr>
                <a:defRPr/>
              </a:pPr>
              <a:r>
                <a:rPr lang="en-US" sz="800" b="1" i="1" kern="0">
                  <a:latin typeface="EY interstate"/>
                </a:rPr>
                <a:t>Manual JE Entry</a:t>
              </a:r>
              <a:br>
                <a:rPr lang="en-US" sz="800" b="1" i="1" kern="0">
                  <a:latin typeface="EY interstate"/>
                </a:rPr>
              </a:br>
              <a:r>
                <a:rPr lang="en-US" sz="800" b="1" i="1" kern="0">
                  <a:latin typeface="EY interstate"/>
                </a:rPr>
                <a:t>and Approval</a:t>
              </a:r>
            </a:p>
            <a:p>
              <a:pPr algn="ctr" defTabSz="913486">
                <a:lnSpc>
                  <a:spcPct val="95000"/>
                </a:lnSpc>
                <a:spcAft>
                  <a:spcPts val="800"/>
                </a:spcAft>
                <a:buClr>
                  <a:srgbClr val="969696"/>
                </a:buClr>
                <a:defRPr/>
              </a:pPr>
              <a:endParaRPr lang="en-US" sz="800" b="1" kern="0">
                <a:latin typeface="EY interstate"/>
              </a:endParaRPr>
            </a:p>
          </p:txBody>
        </p:sp>
        <p:sp>
          <p:nvSpPr>
            <p:cNvPr id="18" name="Rectangle 17">
              <a:extLst>
                <a:ext uri="{FF2B5EF4-FFF2-40B4-BE49-F238E27FC236}">
                  <a16:creationId xmlns:a16="http://schemas.microsoft.com/office/drawing/2014/main" id="{4E1E3B69-8054-08E2-D414-B8E2988DB165}"/>
                </a:ext>
              </a:extLst>
            </p:cNvPr>
            <p:cNvSpPr/>
            <p:nvPr/>
          </p:nvSpPr>
          <p:spPr>
            <a:xfrm>
              <a:off x="6524244" y="2047847"/>
              <a:ext cx="1453134" cy="574072"/>
            </a:xfrm>
            <a:prstGeom prst="rect">
              <a:avLst/>
            </a:prstGeom>
          </p:spPr>
          <p:txBody>
            <a:bodyPr wrap="square" lIns="73076" tIns="36538" rIns="73076" bIns="36538">
              <a:spAutoFit/>
            </a:bodyPr>
            <a:lstStyle/>
            <a:p>
              <a:pPr algn="ctr" defTabSz="913486">
                <a:lnSpc>
                  <a:spcPct val="95000"/>
                </a:lnSpc>
                <a:spcAft>
                  <a:spcPts val="800"/>
                </a:spcAft>
                <a:buClr>
                  <a:srgbClr val="969696"/>
                </a:buClr>
                <a:defRPr/>
              </a:pPr>
              <a:r>
                <a:rPr lang="en-US" sz="1118" b="1" kern="0">
                  <a:latin typeface="EY interstate"/>
                </a:rPr>
                <a:t>Variance Analysis</a:t>
              </a:r>
            </a:p>
            <a:p>
              <a:pPr algn="ctr" defTabSz="913486">
                <a:lnSpc>
                  <a:spcPct val="95000"/>
                </a:lnSpc>
                <a:spcAft>
                  <a:spcPts val="800"/>
                </a:spcAft>
                <a:buClr>
                  <a:srgbClr val="969696"/>
                </a:buClr>
                <a:defRPr/>
              </a:pPr>
              <a:r>
                <a:rPr lang="en-US" sz="800" b="1" kern="0">
                  <a:latin typeface="EY interstate"/>
                </a:rPr>
                <a:t>(I/S &amp; B/S Period over Period, Budget to Actual)</a:t>
              </a:r>
            </a:p>
          </p:txBody>
        </p:sp>
        <p:grpSp>
          <p:nvGrpSpPr>
            <p:cNvPr id="20" name="Group 19">
              <a:extLst>
                <a:ext uri="{FF2B5EF4-FFF2-40B4-BE49-F238E27FC236}">
                  <a16:creationId xmlns:a16="http://schemas.microsoft.com/office/drawing/2014/main" id="{A6AD31CB-7631-A42D-5E3D-DF6522E54E72}"/>
                </a:ext>
              </a:extLst>
            </p:cNvPr>
            <p:cNvGrpSpPr/>
            <p:nvPr/>
          </p:nvGrpSpPr>
          <p:grpSpPr>
            <a:xfrm>
              <a:off x="8201384" y="1720303"/>
              <a:ext cx="3551420" cy="1562109"/>
              <a:chOff x="5855448" y="2705234"/>
              <a:chExt cx="2753978" cy="1597486"/>
            </a:xfrm>
          </p:grpSpPr>
          <p:sp>
            <p:nvSpPr>
              <p:cNvPr id="90" name="Trapezoid 89">
                <a:extLst>
                  <a:ext uri="{FF2B5EF4-FFF2-40B4-BE49-F238E27FC236}">
                    <a16:creationId xmlns:a16="http://schemas.microsoft.com/office/drawing/2014/main" id="{B0F65D3F-6CE4-3856-7ABD-6088ABA58BBD}"/>
                  </a:ext>
                </a:extLst>
              </p:cNvPr>
              <p:cNvSpPr/>
              <p:nvPr/>
            </p:nvSpPr>
            <p:spPr>
              <a:xfrm rot="16200000" flipH="1">
                <a:off x="5768616" y="2897016"/>
                <a:ext cx="1597486" cy="1213922"/>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defRPr/>
                </a:pPr>
                <a:endParaRPr lang="en-IN" sz="1198" kern="0">
                  <a:solidFill>
                    <a:srgbClr val="646464"/>
                  </a:solidFill>
                  <a:latin typeface="EY interstate"/>
                </a:endParaRPr>
              </a:p>
            </p:txBody>
          </p:sp>
          <p:sp>
            <p:nvSpPr>
              <p:cNvPr id="91" name="Rectangle 90">
                <a:extLst>
                  <a:ext uri="{FF2B5EF4-FFF2-40B4-BE49-F238E27FC236}">
                    <a16:creationId xmlns:a16="http://schemas.microsoft.com/office/drawing/2014/main" id="{80A1071A-4852-9613-E0EB-AF9EB7352B6D}"/>
                  </a:ext>
                </a:extLst>
              </p:cNvPr>
              <p:cNvSpPr/>
              <p:nvPr/>
            </p:nvSpPr>
            <p:spPr>
              <a:xfrm>
                <a:off x="5855448" y="2995738"/>
                <a:ext cx="1408558" cy="860231"/>
              </a:xfrm>
              <a:prstGeom prst="rect">
                <a:avLst/>
              </a:prstGeom>
              <a:noFill/>
            </p:spPr>
            <p:txBody>
              <a:bodyPr wrap="square">
                <a:spAutoFit/>
              </a:bodyPr>
              <a:lstStyle/>
              <a:p>
                <a:pPr algn="ctr" defTabSz="913486">
                  <a:lnSpc>
                    <a:spcPct val="95000"/>
                  </a:lnSpc>
                  <a:spcAft>
                    <a:spcPts val="800"/>
                  </a:spcAft>
                  <a:buClr>
                    <a:srgbClr val="969696"/>
                  </a:buClr>
                  <a:defRPr/>
                </a:pPr>
                <a:r>
                  <a:rPr lang="en-US" sz="1118" b="1" kern="0">
                    <a:latin typeface="EY interstate"/>
                  </a:rPr>
                  <a:t>Task Management</a:t>
                </a:r>
                <a:br>
                  <a:rPr lang="en-US" sz="1398" b="1" kern="0">
                    <a:latin typeface="EY interstate"/>
                  </a:rPr>
                </a:br>
                <a:r>
                  <a:rPr lang="en-US" sz="800" b="1" i="1" kern="0">
                    <a:latin typeface="EY interstate"/>
                  </a:rPr>
                  <a:t>Month-End Checklist</a:t>
                </a:r>
                <a:br>
                  <a:rPr lang="en-US" sz="800" b="1" i="1" kern="0">
                    <a:latin typeface="EY interstate"/>
                  </a:rPr>
                </a:br>
                <a:br>
                  <a:rPr lang="en-US" sz="800" b="1" i="1" kern="0">
                    <a:latin typeface="EY interstate"/>
                  </a:rPr>
                </a:br>
                <a:r>
                  <a:rPr lang="en-US" sz="800" b="1" kern="0">
                    <a:latin typeface="EY interstate"/>
                  </a:rPr>
                  <a:t>(Close Calendars, Critical Path, Administrative Tasks, Audit PBC Lists)</a:t>
                </a:r>
              </a:p>
            </p:txBody>
          </p:sp>
          <p:sp>
            <p:nvSpPr>
              <p:cNvPr id="92" name="Rectangle 91">
                <a:extLst>
                  <a:ext uri="{FF2B5EF4-FFF2-40B4-BE49-F238E27FC236}">
                    <a16:creationId xmlns:a16="http://schemas.microsoft.com/office/drawing/2014/main" id="{D83621F4-956F-6166-4019-27DB9F28CE46}"/>
                  </a:ext>
                </a:extLst>
              </p:cNvPr>
              <p:cNvSpPr/>
              <p:nvPr/>
            </p:nvSpPr>
            <p:spPr>
              <a:xfrm>
                <a:off x="7235005" y="2986215"/>
                <a:ext cx="1374421" cy="1126330"/>
              </a:xfrm>
              <a:prstGeom prst="rect">
                <a:avLst/>
              </a:prstGeom>
              <a:noFill/>
            </p:spPr>
            <p:txBody>
              <a:bodyPr wrap="square">
                <a:spAutoFit/>
              </a:bodyPr>
              <a:lstStyle/>
              <a:p>
                <a:pPr algn="ctr" defTabSz="913486">
                  <a:lnSpc>
                    <a:spcPct val="95000"/>
                  </a:lnSpc>
                  <a:spcAft>
                    <a:spcPts val="600"/>
                  </a:spcAft>
                  <a:buClr>
                    <a:srgbClr val="969696"/>
                  </a:buClr>
                  <a:defRPr/>
                </a:pPr>
                <a:r>
                  <a:rPr lang="en-US" sz="1118" b="1" kern="0">
                    <a:latin typeface="EY interstate"/>
                  </a:rPr>
                  <a:t>Consolidation </a:t>
                </a:r>
              </a:p>
              <a:p>
                <a:pPr algn="ctr" defTabSz="913486">
                  <a:lnSpc>
                    <a:spcPct val="95000"/>
                  </a:lnSpc>
                  <a:spcAft>
                    <a:spcPts val="600"/>
                  </a:spcAft>
                  <a:buClr>
                    <a:srgbClr val="969696"/>
                  </a:buClr>
                  <a:defRPr/>
                </a:pPr>
                <a:r>
                  <a:rPr lang="en-US" sz="1118" b="1" kern="0">
                    <a:latin typeface="EY interstate"/>
                  </a:rPr>
                  <a:t>Integrity Manager</a:t>
                </a:r>
              </a:p>
              <a:p>
                <a:pPr algn="ctr" defTabSz="913486">
                  <a:lnSpc>
                    <a:spcPct val="95000"/>
                  </a:lnSpc>
                  <a:spcAft>
                    <a:spcPts val="600"/>
                  </a:spcAft>
                  <a:buClr>
                    <a:srgbClr val="969696"/>
                  </a:buClr>
                  <a:defRPr/>
                </a:pPr>
                <a:r>
                  <a:rPr lang="en-US" sz="1118" b="1" kern="0">
                    <a:latin typeface="EY interstate"/>
                  </a:rPr>
                  <a:t>(CIM)</a:t>
                </a:r>
              </a:p>
              <a:p>
                <a:pPr marL="182698" lvl="1" indent="-182698" defTabSz="913486">
                  <a:buClr>
                    <a:srgbClr val="FFD200"/>
                  </a:buClr>
                  <a:buSzPct val="70000"/>
                  <a:buFont typeface="Wingdings" panose="05000000000000000000" pitchFamily="2" charset="2"/>
                  <a:buChar char="§"/>
                  <a:defRPr/>
                </a:pPr>
                <a:endParaRPr lang="en-US" sz="800" b="1" kern="0">
                  <a:latin typeface="EY interstate"/>
                </a:endParaRPr>
              </a:p>
              <a:p>
                <a:pPr algn="ctr" defTabSz="913486">
                  <a:lnSpc>
                    <a:spcPct val="95000"/>
                  </a:lnSpc>
                  <a:spcAft>
                    <a:spcPts val="800"/>
                  </a:spcAft>
                  <a:buClr>
                    <a:srgbClr val="969696"/>
                  </a:buClr>
                  <a:defRPr/>
                </a:pPr>
                <a:endParaRPr lang="en-US" sz="1118" b="1" kern="0">
                  <a:latin typeface="EY interstate"/>
                </a:endParaRPr>
              </a:p>
            </p:txBody>
          </p:sp>
        </p:grpSp>
        <p:sp>
          <p:nvSpPr>
            <p:cNvPr id="21" name="TextBox 20">
              <a:extLst>
                <a:ext uri="{FF2B5EF4-FFF2-40B4-BE49-F238E27FC236}">
                  <a16:creationId xmlns:a16="http://schemas.microsoft.com/office/drawing/2014/main" id="{1D963B5D-8997-DBFF-399F-42CFE63B7441}"/>
                </a:ext>
              </a:extLst>
            </p:cNvPr>
            <p:cNvSpPr txBox="1"/>
            <p:nvPr/>
          </p:nvSpPr>
          <p:spPr>
            <a:xfrm>
              <a:off x="1375403" y="3341007"/>
              <a:ext cx="1262719" cy="338554"/>
            </a:xfrm>
            <a:prstGeom prst="rect">
              <a:avLst/>
            </a:prstGeom>
            <a:noFill/>
            <a:ln>
              <a:noFill/>
            </a:ln>
          </p:spPr>
          <p:txBody>
            <a:bodyPr wrap="square" rtlCol="0">
              <a:spAutoFit/>
            </a:bodyPr>
            <a:lstStyle/>
            <a:p>
              <a:pPr algn="ctr" defTabSz="685114" eaLnBrk="0" fontAlgn="base" hangingPunct="0">
                <a:spcBef>
                  <a:spcPct val="0"/>
                </a:spcBef>
                <a:spcAft>
                  <a:spcPct val="0"/>
                </a:spcAft>
                <a:defRPr/>
              </a:pPr>
              <a:r>
                <a:rPr lang="en-US" sz="800" kern="0">
                  <a:solidFill>
                    <a:schemeClr val="bg1"/>
                  </a:solidFill>
                  <a:latin typeface="EY interstate"/>
                </a:rPr>
                <a:t>Create &amp; automate reconciling items</a:t>
              </a:r>
            </a:p>
          </p:txBody>
        </p:sp>
        <p:cxnSp>
          <p:nvCxnSpPr>
            <p:cNvPr id="22" name="Elbow Connector 149">
              <a:extLst>
                <a:ext uri="{FF2B5EF4-FFF2-40B4-BE49-F238E27FC236}">
                  <a16:creationId xmlns:a16="http://schemas.microsoft.com/office/drawing/2014/main" id="{3409DB48-5971-51A9-5062-C0C86E0776BD}"/>
                </a:ext>
              </a:extLst>
            </p:cNvPr>
            <p:cNvCxnSpPr>
              <a:stCxn id="21" idx="3"/>
              <a:endCxn id="10" idx="3"/>
            </p:cNvCxnSpPr>
            <p:nvPr/>
          </p:nvCxnSpPr>
          <p:spPr>
            <a:xfrm flipV="1">
              <a:off x="2638122" y="3108818"/>
              <a:ext cx="1008150" cy="401466"/>
            </a:xfrm>
            <a:prstGeom prst="bentConnector2">
              <a:avLst/>
            </a:prstGeom>
            <a:noFill/>
            <a:ln w="19050" cap="flat" cmpd="sng" algn="ctr">
              <a:solidFill>
                <a:srgbClr val="808080"/>
              </a:solidFill>
              <a:prstDash val="solid"/>
              <a:tailEnd type="triangle"/>
            </a:ln>
            <a:effectLst/>
          </p:spPr>
        </p:cxnSp>
        <p:sp>
          <p:nvSpPr>
            <p:cNvPr id="23" name="TextBox 22">
              <a:extLst>
                <a:ext uri="{FF2B5EF4-FFF2-40B4-BE49-F238E27FC236}">
                  <a16:creationId xmlns:a16="http://schemas.microsoft.com/office/drawing/2014/main" id="{B36DB109-0712-7906-D577-9E92B0248E66}"/>
                </a:ext>
              </a:extLst>
            </p:cNvPr>
            <p:cNvSpPr txBox="1"/>
            <p:nvPr/>
          </p:nvSpPr>
          <p:spPr>
            <a:xfrm>
              <a:off x="4250191" y="3162177"/>
              <a:ext cx="1268309" cy="338554"/>
            </a:xfrm>
            <a:prstGeom prst="rect">
              <a:avLst/>
            </a:prstGeom>
            <a:noFill/>
            <a:ln>
              <a:noFill/>
            </a:ln>
          </p:spPr>
          <p:txBody>
            <a:bodyPr wrap="square" rtlCol="0">
              <a:spAutoFit/>
            </a:bodyPr>
            <a:lstStyle/>
            <a:p>
              <a:pPr algn="ctr" defTabSz="685114" eaLnBrk="0" fontAlgn="base" hangingPunct="0">
                <a:spcBef>
                  <a:spcPct val="0"/>
                </a:spcBef>
                <a:spcAft>
                  <a:spcPct val="0"/>
                </a:spcAft>
                <a:defRPr/>
              </a:pPr>
              <a:r>
                <a:rPr lang="en-US" sz="800" kern="0">
                  <a:solidFill>
                    <a:schemeClr val="bg1"/>
                  </a:solidFill>
                  <a:latin typeface="EY interstate"/>
                </a:rPr>
                <a:t>Create JE from</a:t>
              </a:r>
            </a:p>
            <a:p>
              <a:pPr algn="ctr" defTabSz="685114" eaLnBrk="0" fontAlgn="base" hangingPunct="0">
                <a:spcBef>
                  <a:spcPct val="0"/>
                </a:spcBef>
                <a:spcAft>
                  <a:spcPct val="0"/>
                </a:spcAft>
                <a:defRPr/>
              </a:pPr>
              <a:r>
                <a:rPr lang="en-US" sz="800" kern="0">
                  <a:solidFill>
                    <a:schemeClr val="bg1"/>
                  </a:solidFill>
                  <a:latin typeface="EY interstate"/>
                </a:rPr>
                <a:t> reconciling item</a:t>
              </a:r>
            </a:p>
          </p:txBody>
        </p:sp>
        <p:cxnSp>
          <p:nvCxnSpPr>
            <p:cNvPr id="24" name="Elbow Connector 151">
              <a:extLst>
                <a:ext uri="{FF2B5EF4-FFF2-40B4-BE49-F238E27FC236}">
                  <a16:creationId xmlns:a16="http://schemas.microsoft.com/office/drawing/2014/main" id="{F62EBBF7-EA8D-E52F-BBDA-DE1B4F527C1F}"/>
                </a:ext>
              </a:extLst>
            </p:cNvPr>
            <p:cNvCxnSpPr/>
            <p:nvPr/>
          </p:nvCxnSpPr>
          <p:spPr>
            <a:xfrm flipV="1">
              <a:off x="5367056" y="3170491"/>
              <a:ext cx="255984" cy="225660"/>
            </a:xfrm>
            <a:prstGeom prst="bentConnector2">
              <a:avLst/>
            </a:prstGeom>
            <a:noFill/>
            <a:ln w="19050" cap="flat" cmpd="sng" algn="ctr">
              <a:solidFill>
                <a:srgbClr val="808080"/>
              </a:solidFill>
              <a:prstDash val="solid"/>
              <a:tailEnd type="triangle"/>
            </a:ln>
            <a:effectLst/>
          </p:spPr>
        </p:cxnSp>
        <p:sp>
          <p:nvSpPr>
            <p:cNvPr id="25" name="TextBox 24">
              <a:extLst>
                <a:ext uri="{FF2B5EF4-FFF2-40B4-BE49-F238E27FC236}">
                  <a16:creationId xmlns:a16="http://schemas.microsoft.com/office/drawing/2014/main" id="{3B3F6467-C7CC-0819-6DBD-DCCEE772DA52}"/>
                </a:ext>
              </a:extLst>
            </p:cNvPr>
            <p:cNvSpPr txBox="1"/>
            <p:nvPr/>
          </p:nvSpPr>
          <p:spPr>
            <a:xfrm>
              <a:off x="2741433" y="3573471"/>
              <a:ext cx="2825402" cy="338554"/>
            </a:xfrm>
            <a:prstGeom prst="rect">
              <a:avLst/>
            </a:prstGeom>
            <a:noFill/>
            <a:ln>
              <a:noFill/>
            </a:ln>
          </p:spPr>
          <p:txBody>
            <a:bodyPr wrap="square" rtlCol="0">
              <a:spAutoFit/>
            </a:bodyPr>
            <a:lstStyle/>
            <a:p>
              <a:pPr algn="ctr" defTabSz="685114" eaLnBrk="0" fontAlgn="base" hangingPunct="0">
                <a:spcBef>
                  <a:spcPct val="0"/>
                </a:spcBef>
                <a:spcAft>
                  <a:spcPct val="0"/>
                </a:spcAft>
                <a:defRPr/>
              </a:pPr>
              <a:r>
                <a:rPr lang="en-US" sz="800" kern="0">
                  <a:solidFill>
                    <a:schemeClr val="bg1"/>
                  </a:solidFill>
                  <a:latin typeface="EY interstate"/>
                </a:rPr>
                <a:t>Automatically create journal entry from Matching &amp; perform calculations</a:t>
              </a:r>
            </a:p>
          </p:txBody>
        </p:sp>
        <p:sp>
          <p:nvSpPr>
            <p:cNvPr id="26" name="Oval 25">
              <a:extLst>
                <a:ext uri="{FF2B5EF4-FFF2-40B4-BE49-F238E27FC236}">
                  <a16:creationId xmlns:a16="http://schemas.microsoft.com/office/drawing/2014/main" id="{B712B472-FD1C-C465-AF65-FD989E855FD0}"/>
                </a:ext>
              </a:extLst>
            </p:cNvPr>
            <p:cNvSpPr/>
            <p:nvPr/>
          </p:nvSpPr>
          <p:spPr>
            <a:xfrm>
              <a:off x="2265068" y="1746442"/>
              <a:ext cx="353752" cy="268245"/>
            </a:xfrm>
            <a:prstGeom prst="ellipse">
              <a:avLst/>
            </a:prstGeom>
            <a:solidFill>
              <a:srgbClr val="646464">
                <a:lumMod val="40000"/>
                <a:lumOff val="60000"/>
              </a:srgbClr>
            </a:solidFill>
            <a:ln w="9525" cap="flat" cmpd="sng" algn="ctr">
              <a:solidFill>
                <a:srgbClr val="808080"/>
              </a:solidFill>
              <a:prstDash val="solid"/>
            </a:ln>
            <a:effectLst/>
          </p:spPr>
          <p:txBody>
            <a:bodyPr lIns="0" rIns="0" rtlCol="0" anchor="ctr" anchorCtr="0"/>
            <a:lstStyle/>
            <a:p>
              <a:pPr algn="ctr" defTabSz="913486">
                <a:defRPr/>
              </a:pPr>
              <a:r>
                <a:rPr lang="en-US" sz="999" b="1" kern="0">
                  <a:solidFill>
                    <a:schemeClr val="bg2"/>
                  </a:solidFill>
                  <a:latin typeface="EY interstate"/>
                </a:rPr>
                <a:t>GL</a:t>
              </a:r>
              <a:endParaRPr lang="en-US" sz="1598" b="1" kern="0">
                <a:solidFill>
                  <a:schemeClr val="bg2"/>
                </a:solidFill>
                <a:latin typeface="EY interstate"/>
              </a:endParaRPr>
            </a:p>
          </p:txBody>
        </p:sp>
        <p:sp>
          <p:nvSpPr>
            <p:cNvPr id="27" name="Oval 26">
              <a:extLst>
                <a:ext uri="{FF2B5EF4-FFF2-40B4-BE49-F238E27FC236}">
                  <a16:creationId xmlns:a16="http://schemas.microsoft.com/office/drawing/2014/main" id="{C74936EE-5436-2003-4D4C-EBD923908590}"/>
                </a:ext>
              </a:extLst>
            </p:cNvPr>
            <p:cNvSpPr/>
            <p:nvPr/>
          </p:nvSpPr>
          <p:spPr>
            <a:xfrm>
              <a:off x="4050509" y="1812811"/>
              <a:ext cx="353752" cy="268245"/>
            </a:xfrm>
            <a:prstGeom prst="ellipse">
              <a:avLst/>
            </a:prstGeom>
            <a:solidFill>
              <a:srgbClr val="646464">
                <a:lumMod val="40000"/>
                <a:lumOff val="60000"/>
              </a:srgbClr>
            </a:solidFill>
            <a:ln w="9525" cap="flat" cmpd="sng" algn="ctr">
              <a:solidFill>
                <a:srgbClr val="808080"/>
              </a:solidFill>
              <a:prstDash val="solid"/>
            </a:ln>
            <a:effectLst/>
          </p:spPr>
          <p:txBody>
            <a:bodyPr lIns="0" rIns="0" rtlCol="0" anchor="ctr" anchorCtr="0"/>
            <a:lstStyle/>
            <a:p>
              <a:pPr algn="ctr" defTabSz="913486">
                <a:defRPr/>
              </a:pPr>
              <a:r>
                <a:rPr lang="en-US" sz="999" b="1" kern="0">
                  <a:solidFill>
                    <a:schemeClr val="bg2"/>
                  </a:solidFill>
                  <a:latin typeface="EY interstate"/>
                </a:rPr>
                <a:t>GL</a:t>
              </a:r>
              <a:endParaRPr lang="en-US" sz="1598" b="1" kern="0">
                <a:solidFill>
                  <a:schemeClr val="bg2"/>
                </a:solidFill>
                <a:latin typeface="EY interstate"/>
              </a:endParaRPr>
            </a:p>
          </p:txBody>
        </p:sp>
        <p:sp>
          <p:nvSpPr>
            <p:cNvPr id="28" name="Oval 27">
              <a:extLst>
                <a:ext uri="{FF2B5EF4-FFF2-40B4-BE49-F238E27FC236}">
                  <a16:creationId xmlns:a16="http://schemas.microsoft.com/office/drawing/2014/main" id="{D44DF9F6-598E-9BEB-14D8-BE78203F2C29}"/>
                </a:ext>
              </a:extLst>
            </p:cNvPr>
            <p:cNvSpPr/>
            <p:nvPr/>
          </p:nvSpPr>
          <p:spPr>
            <a:xfrm>
              <a:off x="5893262" y="1810114"/>
              <a:ext cx="353752" cy="268245"/>
            </a:xfrm>
            <a:prstGeom prst="ellipse">
              <a:avLst/>
            </a:prstGeom>
            <a:solidFill>
              <a:srgbClr val="646464">
                <a:lumMod val="40000"/>
                <a:lumOff val="60000"/>
              </a:srgbClr>
            </a:solidFill>
            <a:ln w="9525" cap="flat" cmpd="sng" algn="ctr">
              <a:solidFill>
                <a:srgbClr val="808080"/>
              </a:solidFill>
              <a:prstDash val="solid"/>
            </a:ln>
            <a:effectLst/>
          </p:spPr>
          <p:txBody>
            <a:bodyPr lIns="0" rIns="0" rtlCol="0" anchor="ctr" anchorCtr="0"/>
            <a:lstStyle/>
            <a:p>
              <a:pPr algn="ctr" defTabSz="913486">
                <a:defRPr/>
              </a:pPr>
              <a:r>
                <a:rPr lang="en-US" sz="999" b="1" kern="0">
                  <a:solidFill>
                    <a:schemeClr val="bg2"/>
                  </a:solidFill>
                  <a:latin typeface="EY interstate"/>
                </a:rPr>
                <a:t>GL</a:t>
              </a:r>
              <a:endParaRPr lang="en-US" sz="1598" b="1" kern="0">
                <a:solidFill>
                  <a:schemeClr val="bg2"/>
                </a:solidFill>
                <a:latin typeface="EY interstate"/>
              </a:endParaRPr>
            </a:p>
          </p:txBody>
        </p:sp>
        <p:sp>
          <p:nvSpPr>
            <p:cNvPr id="29" name="Oval 28">
              <a:extLst>
                <a:ext uri="{FF2B5EF4-FFF2-40B4-BE49-F238E27FC236}">
                  <a16:creationId xmlns:a16="http://schemas.microsoft.com/office/drawing/2014/main" id="{DB91A5F3-7EA8-31A2-E21A-3C19223F5805}"/>
                </a:ext>
              </a:extLst>
            </p:cNvPr>
            <p:cNvSpPr/>
            <p:nvPr/>
          </p:nvSpPr>
          <p:spPr>
            <a:xfrm>
              <a:off x="7719284" y="1812811"/>
              <a:ext cx="353752" cy="268245"/>
            </a:xfrm>
            <a:prstGeom prst="ellipse">
              <a:avLst/>
            </a:prstGeom>
            <a:solidFill>
              <a:srgbClr val="646464">
                <a:lumMod val="40000"/>
                <a:lumOff val="60000"/>
              </a:srgbClr>
            </a:solidFill>
            <a:ln w="9525" cap="flat" cmpd="sng" algn="ctr">
              <a:solidFill>
                <a:srgbClr val="808080"/>
              </a:solidFill>
              <a:prstDash val="solid"/>
            </a:ln>
            <a:effectLst/>
          </p:spPr>
          <p:txBody>
            <a:bodyPr lIns="0" rIns="0" rtlCol="0" anchor="ctr" anchorCtr="0"/>
            <a:lstStyle/>
            <a:p>
              <a:pPr algn="ctr" defTabSz="913486">
                <a:defRPr/>
              </a:pPr>
              <a:r>
                <a:rPr lang="en-US" sz="999" b="1" kern="0">
                  <a:solidFill>
                    <a:schemeClr val="bg2"/>
                  </a:solidFill>
                  <a:latin typeface="EY interstate"/>
                </a:rPr>
                <a:t>GL</a:t>
              </a:r>
              <a:endParaRPr lang="en-US" sz="1598" b="1" kern="0">
                <a:solidFill>
                  <a:schemeClr val="bg2"/>
                </a:solidFill>
                <a:latin typeface="EY interstate"/>
              </a:endParaRPr>
            </a:p>
          </p:txBody>
        </p:sp>
        <p:sp>
          <p:nvSpPr>
            <p:cNvPr id="30" name="TextBox 29">
              <a:extLst>
                <a:ext uri="{FF2B5EF4-FFF2-40B4-BE49-F238E27FC236}">
                  <a16:creationId xmlns:a16="http://schemas.microsoft.com/office/drawing/2014/main" id="{5C1DB2BC-28C4-8215-A869-E09D9C3B0F20}"/>
                </a:ext>
              </a:extLst>
            </p:cNvPr>
            <p:cNvSpPr txBox="1"/>
            <p:nvPr/>
          </p:nvSpPr>
          <p:spPr>
            <a:xfrm>
              <a:off x="7329911" y="1045875"/>
              <a:ext cx="2195196" cy="369332"/>
            </a:xfrm>
            <a:prstGeom prst="rect">
              <a:avLst/>
            </a:prstGeom>
            <a:noFill/>
            <a:ln>
              <a:noFill/>
            </a:ln>
          </p:spPr>
          <p:txBody>
            <a:bodyPr wrap="square" rtlCol="0">
              <a:spAutoFit/>
            </a:bodyPr>
            <a:lstStyle/>
            <a:p>
              <a:pPr algn="ctr" defTabSz="685114" eaLnBrk="0" fontAlgn="base" hangingPunct="0">
                <a:spcBef>
                  <a:spcPct val="0"/>
                </a:spcBef>
                <a:spcAft>
                  <a:spcPct val="0"/>
                </a:spcAft>
                <a:defRPr/>
              </a:pPr>
              <a:r>
                <a:rPr lang="en-US" sz="900" kern="0">
                  <a:solidFill>
                    <a:schemeClr val="bg1"/>
                  </a:solidFill>
                  <a:latin typeface="EY interstate"/>
                </a:rPr>
                <a:t>Dependency Integration b/w Close Tasks, Rec’s &amp; JE’s</a:t>
              </a:r>
            </a:p>
          </p:txBody>
        </p:sp>
        <p:sp>
          <p:nvSpPr>
            <p:cNvPr id="31" name="TextBox 30">
              <a:extLst>
                <a:ext uri="{FF2B5EF4-FFF2-40B4-BE49-F238E27FC236}">
                  <a16:creationId xmlns:a16="http://schemas.microsoft.com/office/drawing/2014/main" id="{DB86BD32-6B9D-D94A-7AE4-70F061673EBB}"/>
                </a:ext>
              </a:extLst>
            </p:cNvPr>
            <p:cNvSpPr txBox="1"/>
            <p:nvPr/>
          </p:nvSpPr>
          <p:spPr>
            <a:xfrm>
              <a:off x="4276971" y="1042311"/>
              <a:ext cx="2392469" cy="369332"/>
            </a:xfrm>
            <a:prstGeom prst="rect">
              <a:avLst/>
            </a:prstGeom>
            <a:noFill/>
            <a:ln>
              <a:noFill/>
            </a:ln>
          </p:spPr>
          <p:txBody>
            <a:bodyPr wrap="square" rtlCol="0">
              <a:spAutoFit/>
            </a:bodyPr>
            <a:lstStyle/>
            <a:p>
              <a:pPr algn="ctr" defTabSz="685114" eaLnBrk="0" fontAlgn="base" hangingPunct="0">
                <a:spcBef>
                  <a:spcPct val="0"/>
                </a:spcBef>
                <a:spcAft>
                  <a:spcPct val="0"/>
                </a:spcAft>
                <a:defRPr/>
              </a:pPr>
              <a:r>
                <a:rPr lang="en-US" sz="900" kern="0">
                  <a:solidFill>
                    <a:schemeClr val="bg1"/>
                  </a:solidFill>
                  <a:latin typeface="EY interstate"/>
                </a:rPr>
                <a:t>Link between Recs &amp; Variance + Single Source GL Data</a:t>
              </a:r>
            </a:p>
          </p:txBody>
        </p:sp>
        <p:sp>
          <p:nvSpPr>
            <p:cNvPr id="39" name="Rectangle 38">
              <a:extLst>
                <a:ext uri="{FF2B5EF4-FFF2-40B4-BE49-F238E27FC236}">
                  <a16:creationId xmlns:a16="http://schemas.microsoft.com/office/drawing/2014/main" id="{BD9968E7-6495-1802-1B1F-33FF19882B0D}"/>
                </a:ext>
              </a:extLst>
            </p:cNvPr>
            <p:cNvSpPr/>
            <p:nvPr/>
          </p:nvSpPr>
          <p:spPr>
            <a:xfrm rot="16200000">
              <a:off x="304504" y="4442229"/>
              <a:ext cx="989501" cy="378671"/>
            </a:xfrm>
            <a:prstGeom prst="rect">
              <a:avLst/>
            </a:prstGeom>
            <a:solidFill>
              <a:srgbClr val="999999"/>
            </a:solidFill>
            <a:ln w="9525" algn="ctr">
              <a:noFill/>
              <a:miter lim="800000"/>
              <a:headEnd/>
              <a:tailEnd/>
            </a:ln>
            <a:effectLst/>
          </p:spPr>
          <p:txBody>
            <a:bodyPr lIns="0" tIns="22836" rIns="0" bIns="22836" anchor="ctr"/>
            <a:lstStyle/>
            <a:p>
              <a:pPr algn="ctr" defTabSz="913486" eaLnBrk="0" fontAlgn="base" hangingPunct="0">
                <a:lnSpc>
                  <a:spcPct val="90000"/>
                </a:lnSpc>
                <a:spcBef>
                  <a:spcPct val="0"/>
                </a:spcBef>
                <a:spcAft>
                  <a:spcPct val="0"/>
                </a:spcAft>
                <a:defRPr/>
              </a:pPr>
              <a:r>
                <a:rPr lang="en-US" sz="999" b="1" kern="0">
                  <a:solidFill>
                    <a:srgbClr val="FFFFFF"/>
                  </a:solidFill>
                  <a:latin typeface="EY interstate"/>
                  <a:cs typeface="Arial" panose="020B0604020202020204" pitchFamily="34" charset="0"/>
                </a:rPr>
                <a:t>Process </a:t>
              </a:r>
            </a:p>
            <a:p>
              <a:pPr algn="ctr" defTabSz="913486" eaLnBrk="0" fontAlgn="base" hangingPunct="0">
                <a:lnSpc>
                  <a:spcPct val="90000"/>
                </a:lnSpc>
                <a:spcBef>
                  <a:spcPct val="0"/>
                </a:spcBef>
                <a:spcAft>
                  <a:spcPct val="0"/>
                </a:spcAft>
                <a:defRPr/>
              </a:pPr>
              <a:r>
                <a:rPr lang="en-US" sz="999" b="1" kern="0">
                  <a:solidFill>
                    <a:srgbClr val="FFFFFF"/>
                  </a:solidFill>
                  <a:latin typeface="EY interstate"/>
                  <a:cs typeface="Arial" panose="020B0604020202020204" pitchFamily="34" charset="0"/>
                </a:rPr>
                <a:t>Automation</a:t>
              </a:r>
            </a:p>
          </p:txBody>
        </p:sp>
        <p:sp>
          <p:nvSpPr>
            <p:cNvPr id="42" name="Rectangle 41">
              <a:extLst>
                <a:ext uri="{FF2B5EF4-FFF2-40B4-BE49-F238E27FC236}">
                  <a16:creationId xmlns:a16="http://schemas.microsoft.com/office/drawing/2014/main" id="{90F05D2A-6B03-E6B6-6F58-E145C5259EE5}"/>
                </a:ext>
              </a:extLst>
            </p:cNvPr>
            <p:cNvSpPr/>
            <p:nvPr/>
          </p:nvSpPr>
          <p:spPr>
            <a:xfrm rot="16200000">
              <a:off x="-497291" y="2341154"/>
              <a:ext cx="2593090" cy="378671"/>
            </a:xfrm>
            <a:prstGeom prst="rect">
              <a:avLst/>
            </a:prstGeom>
            <a:solidFill>
              <a:srgbClr val="999999"/>
            </a:solidFill>
            <a:ln w="9525" algn="ctr">
              <a:noFill/>
              <a:miter lim="800000"/>
              <a:headEnd/>
              <a:tailEnd/>
            </a:ln>
            <a:effectLst/>
          </p:spPr>
          <p:txBody>
            <a:bodyPr lIns="0" tIns="22836" rIns="0" bIns="22836" anchor="ctr"/>
            <a:lstStyle/>
            <a:p>
              <a:pPr algn="ctr" defTabSz="913486" eaLnBrk="0" fontAlgn="base" hangingPunct="0">
                <a:lnSpc>
                  <a:spcPct val="90000"/>
                </a:lnSpc>
                <a:spcBef>
                  <a:spcPct val="0"/>
                </a:spcBef>
                <a:spcAft>
                  <a:spcPct val="0"/>
                </a:spcAft>
                <a:defRPr/>
              </a:pPr>
              <a:r>
                <a:rPr lang="en-US" sz="999" b="1" kern="0">
                  <a:solidFill>
                    <a:srgbClr val="FFFFFF"/>
                  </a:solidFill>
                  <a:latin typeface="EY interstate"/>
                  <a:cs typeface="Arial" panose="020B0604020202020204" pitchFamily="34" charset="0"/>
                </a:rPr>
                <a:t>Solution Suite </a:t>
              </a:r>
            </a:p>
            <a:p>
              <a:pPr algn="ctr" defTabSz="913486" eaLnBrk="0" fontAlgn="base" hangingPunct="0">
                <a:lnSpc>
                  <a:spcPct val="90000"/>
                </a:lnSpc>
                <a:spcBef>
                  <a:spcPct val="0"/>
                </a:spcBef>
                <a:spcAft>
                  <a:spcPct val="0"/>
                </a:spcAft>
                <a:defRPr/>
              </a:pPr>
              <a:r>
                <a:rPr lang="en-US" sz="999" b="1" kern="0">
                  <a:solidFill>
                    <a:srgbClr val="FFFFFF"/>
                  </a:solidFill>
                  <a:latin typeface="EY interstate"/>
                  <a:cs typeface="Arial" panose="020B0604020202020204" pitchFamily="34" charset="0"/>
                </a:rPr>
                <a:t>Capabilities</a:t>
              </a:r>
            </a:p>
          </p:txBody>
        </p:sp>
        <p:sp>
          <p:nvSpPr>
            <p:cNvPr id="61" name="Rectangle 60">
              <a:extLst>
                <a:ext uri="{FF2B5EF4-FFF2-40B4-BE49-F238E27FC236}">
                  <a16:creationId xmlns:a16="http://schemas.microsoft.com/office/drawing/2014/main" id="{3B6DBEDB-4685-BD1B-077F-75EFD259D282}"/>
                </a:ext>
              </a:extLst>
            </p:cNvPr>
            <p:cNvSpPr/>
            <p:nvPr/>
          </p:nvSpPr>
          <p:spPr>
            <a:xfrm>
              <a:off x="1031365" y="1245069"/>
              <a:ext cx="10586358" cy="2590908"/>
            </a:xfrm>
            <a:prstGeom prst="rect">
              <a:avLst/>
            </a:prstGeom>
            <a:noFill/>
            <a:ln w="12700" cap="flat" cmpd="sng" algn="ctr">
              <a:noFill/>
              <a:prstDash val="solid"/>
            </a:ln>
            <a:effectLst/>
          </p:spPr>
          <p:txBody>
            <a:bodyPr rtlCol="0" anchor="t" anchorCtr="0"/>
            <a:lstStyle/>
            <a:p>
              <a:pPr defTabSz="913486">
                <a:buClr>
                  <a:srgbClr val="FFD200"/>
                </a:buClr>
                <a:buSzPct val="70000"/>
                <a:defRPr/>
              </a:pPr>
              <a:endParaRPr lang="en-US" sz="999" kern="0">
                <a:solidFill>
                  <a:srgbClr val="646464"/>
                </a:solidFill>
                <a:latin typeface="EY interstate"/>
              </a:endParaRPr>
            </a:p>
          </p:txBody>
        </p:sp>
        <p:sp>
          <p:nvSpPr>
            <p:cNvPr id="64" name="Isosceles Triangle 63">
              <a:extLst>
                <a:ext uri="{FF2B5EF4-FFF2-40B4-BE49-F238E27FC236}">
                  <a16:creationId xmlns:a16="http://schemas.microsoft.com/office/drawing/2014/main" id="{716366CB-C87E-A3DA-7C28-F246A6145901}"/>
                </a:ext>
              </a:extLst>
            </p:cNvPr>
            <p:cNvSpPr/>
            <p:nvPr/>
          </p:nvSpPr>
          <p:spPr>
            <a:xfrm flipV="1">
              <a:off x="1218461" y="3943056"/>
              <a:ext cx="1319995" cy="123721"/>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rgbClr val="000000"/>
                </a:solidFill>
                <a:latin typeface="EY interstate"/>
              </a:endParaRPr>
            </a:p>
          </p:txBody>
        </p:sp>
        <p:sp>
          <p:nvSpPr>
            <p:cNvPr id="65" name="Isosceles Triangle 64">
              <a:extLst>
                <a:ext uri="{FF2B5EF4-FFF2-40B4-BE49-F238E27FC236}">
                  <a16:creationId xmlns:a16="http://schemas.microsoft.com/office/drawing/2014/main" id="{A34B343F-E05E-A2BC-3C32-16BBD87A1E7B}"/>
                </a:ext>
              </a:extLst>
            </p:cNvPr>
            <p:cNvSpPr/>
            <p:nvPr/>
          </p:nvSpPr>
          <p:spPr>
            <a:xfrm flipV="1">
              <a:off x="3050211" y="3943056"/>
              <a:ext cx="1319995" cy="123721"/>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chemeClr val="bg1"/>
                </a:solidFill>
                <a:latin typeface="EY interstate"/>
              </a:endParaRPr>
            </a:p>
          </p:txBody>
        </p:sp>
        <p:sp>
          <p:nvSpPr>
            <p:cNvPr id="66" name="Isosceles Triangle 65">
              <a:extLst>
                <a:ext uri="{FF2B5EF4-FFF2-40B4-BE49-F238E27FC236}">
                  <a16:creationId xmlns:a16="http://schemas.microsoft.com/office/drawing/2014/main" id="{FA0A037B-0FD9-ACFB-FD74-F56A9AC53504}"/>
                </a:ext>
              </a:extLst>
            </p:cNvPr>
            <p:cNvSpPr/>
            <p:nvPr/>
          </p:nvSpPr>
          <p:spPr>
            <a:xfrm flipV="1">
              <a:off x="4927541" y="3943056"/>
              <a:ext cx="1319995" cy="123721"/>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chemeClr val="bg1"/>
                </a:solidFill>
                <a:latin typeface="EY interstate"/>
              </a:endParaRPr>
            </a:p>
          </p:txBody>
        </p:sp>
        <p:sp>
          <p:nvSpPr>
            <p:cNvPr id="67" name="Isosceles Triangle 66">
              <a:extLst>
                <a:ext uri="{FF2B5EF4-FFF2-40B4-BE49-F238E27FC236}">
                  <a16:creationId xmlns:a16="http://schemas.microsoft.com/office/drawing/2014/main" id="{6114DD4C-C3A6-B42B-BA50-91C9BCC1B803}"/>
                </a:ext>
              </a:extLst>
            </p:cNvPr>
            <p:cNvSpPr/>
            <p:nvPr/>
          </p:nvSpPr>
          <p:spPr>
            <a:xfrm flipV="1">
              <a:off x="6682690" y="3943056"/>
              <a:ext cx="1319995" cy="123721"/>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chemeClr val="bg1"/>
                </a:solidFill>
                <a:latin typeface="EY interstate"/>
              </a:endParaRPr>
            </a:p>
          </p:txBody>
        </p:sp>
        <p:sp>
          <p:nvSpPr>
            <p:cNvPr id="68" name="Isosceles Triangle 67">
              <a:extLst>
                <a:ext uri="{FF2B5EF4-FFF2-40B4-BE49-F238E27FC236}">
                  <a16:creationId xmlns:a16="http://schemas.microsoft.com/office/drawing/2014/main" id="{55DC1FAB-8577-1007-71B6-1688A04369DB}"/>
                </a:ext>
              </a:extLst>
            </p:cNvPr>
            <p:cNvSpPr/>
            <p:nvPr/>
          </p:nvSpPr>
          <p:spPr>
            <a:xfrm flipV="1">
              <a:off x="8432890" y="3943056"/>
              <a:ext cx="1319995" cy="123721"/>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chemeClr val="bg1"/>
                </a:solidFill>
                <a:latin typeface="EY interstate"/>
              </a:endParaRPr>
            </a:p>
          </p:txBody>
        </p:sp>
        <p:sp>
          <p:nvSpPr>
            <p:cNvPr id="69" name="Isosceles Triangle 68">
              <a:extLst>
                <a:ext uri="{FF2B5EF4-FFF2-40B4-BE49-F238E27FC236}">
                  <a16:creationId xmlns:a16="http://schemas.microsoft.com/office/drawing/2014/main" id="{75329B64-6808-B6A6-DBB2-6B48915B2A4A}"/>
                </a:ext>
              </a:extLst>
            </p:cNvPr>
            <p:cNvSpPr/>
            <p:nvPr/>
          </p:nvSpPr>
          <p:spPr>
            <a:xfrm flipV="1">
              <a:off x="10159835" y="3949925"/>
              <a:ext cx="1319995" cy="123721"/>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chemeClr val="bg1"/>
                </a:solidFill>
                <a:latin typeface="EY interstate"/>
              </a:endParaRPr>
            </a:p>
          </p:txBody>
        </p:sp>
        <p:sp>
          <p:nvSpPr>
            <p:cNvPr id="70" name="TextBox 69">
              <a:extLst>
                <a:ext uri="{FF2B5EF4-FFF2-40B4-BE49-F238E27FC236}">
                  <a16:creationId xmlns:a16="http://schemas.microsoft.com/office/drawing/2014/main" id="{669BADE8-706D-5C4D-DFB6-681757CEC9D1}"/>
                </a:ext>
              </a:extLst>
            </p:cNvPr>
            <p:cNvSpPr txBox="1"/>
            <p:nvPr/>
          </p:nvSpPr>
          <p:spPr>
            <a:xfrm>
              <a:off x="1084470" y="4144149"/>
              <a:ext cx="1724939" cy="886705"/>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Rules Based Transaction Matching</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High volume, high frequency reconciliation</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Multiple data sources and matching criteria</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Exception Handling &amp; Workflow</a:t>
              </a:r>
            </a:p>
          </p:txBody>
        </p:sp>
        <p:sp>
          <p:nvSpPr>
            <p:cNvPr id="71" name="TextBox 70">
              <a:extLst>
                <a:ext uri="{FF2B5EF4-FFF2-40B4-BE49-F238E27FC236}">
                  <a16:creationId xmlns:a16="http://schemas.microsoft.com/office/drawing/2014/main" id="{D11A4458-CB96-0FB0-502B-3EF2D0C32B5B}"/>
                </a:ext>
              </a:extLst>
            </p:cNvPr>
            <p:cNvSpPr txBox="1"/>
            <p:nvPr/>
          </p:nvSpPr>
          <p:spPr>
            <a:xfrm>
              <a:off x="8121775" y="4144149"/>
              <a:ext cx="1896027" cy="1275734"/>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Standardized task templates &amp; dependencies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Role Based Workflow</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Integrated workflow for deadlines, status, approvals, accountability and tracking</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Critical path &amp; bottleneck</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Automation of SAP activities via SMART Close</a:t>
              </a: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p:txBody>
        </p:sp>
        <p:sp>
          <p:nvSpPr>
            <p:cNvPr id="72" name="TextBox 71">
              <a:extLst>
                <a:ext uri="{FF2B5EF4-FFF2-40B4-BE49-F238E27FC236}">
                  <a16:creationId xmlns:a16="http://schemas.microsoft.com/office/drawing/2014/main" id="{0A877DAB-8630-1259-47A1-AEB836B970F2}"/>
                </a:ext>
              </a:extLst>
            </p:cNvPr>
            <p:cNvSpPr txBox="1"/>
            <p:nvPr/>
          </p:nvSpPr>
          <p:spPr>
            <a:xfrm>
              <a:off x="2898613" y="4144149"/>
              <a:ext cx="1834815" cy="923330"/>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Automated workflow &amp; Segregation of Duties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Auto-certification opportunities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Integration of data sources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Centralized repository for supporting documentation</a:t>
              </a: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p:txBody>
        </p:sp>
        <p:sp>
          <p:nvSpPr>
            <p:cNvPr id="73" name="TextBox 72">
              <a:extLst>
                <a:ext uri="{FF2B5EF4-FFF2-40B4-BE49-F238E27FC236}">
                  <a16:creationId xmlns:a16="http://schemas.microsoft.com/office/drawing/2014/main" id="{689D50F6-801C-BEB4-C896-CACAB6A88EB1}"/>
                </a:ext>
              </a:extLst>
            </p:cNvPr>
            <p:cNvSpPr txBox="1"/>
            <p:nvPr/>
          </p:nvSpPr>
          <p:spPr>
            <a:xfrm>
              <a:off x="10247421" y="4144150"/>
              <a:ext cx="1604001" cy="496466"/>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Automated SAP integration</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Reconciliation of consolidated balances back to underlying GL reconciliations / balances</a:t>
              </a:r>
            </a:p>
          </p:txBody>
        </p:sp>
        <p:sp>
          <p:nvSpPr>
            <p:cNvPr id="74" name="TextBox 73">
              <a:extLst>
                <a:ext uri="{FF2B5EF4-FFF2-40B4-BE49-F238E27FC236}">
                  <a16:creationId xmlns:a16="http://schemas.microsoft.com/office/drawing/2014/main" id="{E19DEAA9-AE74-0945-01BF-FD5B64FD49E7}"/>
                </a:ext>
              </a:extLst>
            </p:cNvPr>
            <p:cNvSpPr txBox="1"/>
            <p:nvPr/>
          </p:nvSpPr>
          <p:spPr>
            <a:xfrm>
              <a:off x="4750216" y="4144149"/>
              <a:ext cx="1627275" cy="821339"/>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Manual Creation</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Workflow after sub-system creation</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Recurring &amp; automated</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Predefined Journal templates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Journal Workflow</a:t>
              </a:r>
            </a:p>
          </p:txBody>
        </p:sp>
        <p:sp>
          <p:nvSpPr>
            <p:cNvPr id="75" name="TextBox 74">
              <a:extLst>
                <a:ext uri="{FF2B5EF4-FFF2-40B4-BE49-F238E27FC236}">
                  <a16:creationId xmlns:a16="http://schemas.microsoft.com/office/drawing/2014/main" id="{E234B678-0807-571A-EDD1-9834AD7AB3F5}"/>
                </a:ext>
              </a:extLst>
            </p:cNvPr>
            <p:cNvSpPr txBox="1"/>
            <p:nvPr/>
          </p:nvSpPr>
          <p:spPr>
            <a:xfrm>
              <a:off x="6516569" y="4144149"/>
              <a:ext cx="1605205" cy="780214"/>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Rules based variance definitions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Flexible Grouping</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Automated data feed</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Alignment to underlying reconciliations</a:t>
              </a:r>
            </a:p>
          </p:txBody>
        </p:sp>
        <p:sp>
          <p:nvSpPr>
            <p:cNvPr id="76" name="Rectangle 75">
              <a:extLst>
                <a:ext uri="{FF2B5EF4-FFF2-40B4-BE49-F238E27FC236}">
                  <a16:creationId xmlns:a16="http://schemas.microsoft.com/office/drawing/2014/main" id="{7EA11A87-82F2-3259-0963-BEB233D35B17}"/>
                </a:ext>
              </a:extLst>
            </p:cNvPr>
            <p:cNvSpPr/>
            <p:nvPr/>
          </p:nvSpPr>
          <p:spPr>
            <a:xfrm rot="16200000">
              <a:off x="301229" y="5669729"/>
              <a:ext cx="1003243" cy="371479"/>
            </a:xfrm>
            <a:prstGeom prst="rect">
              <a:avLst/>
            </a:prstGeom>
            <a:solidFill>
              <a:srgbClr val="999999"/>
            </a:solidFill>
            <a:ln w="9525" algn="ctr">
              <a:noFill/>
              <a:miter lim="800000"/>
              <a:headEnd/>
              <a:tailEnd/>
            </a:ln>
            <a:effectLst/>
          </p:spPr>
          <p:txBody>
            <a:bodyPr lIns="0" tIns="22836" rIns="0" bIns="22836" anchor="ctr"/>
            <a:lstStyle/>
            <a:p>
              <a:pPr algn="ctr" defTabSz="913486" eaLnBrk="0" fontAlgn="base" hangingPunct="0">
                <a:lnSpc>
                  <a:spcPct val="90000"/>
                </a:lnSpc>
                <a:spcBef>
                  <a:spcPct val="0"/>
                </a:spcBef>
                <a:spcAft>
                  <a:spcPct val="0"/>
                </a:spcAft>
                <a:defRPr/>
              </a:pPr>
              <a:r>
                <a:rPr lang="en-US" sz="999" b="1" kern="0">
                  <a:solidFill>
                    <a:srgbClr val="FFFFFF"/>
                  </a:solidFill>
                  <a:latin typeface="EY interstate"/>
                  <a:cs typeface="Arial" panose="020B0604020202020204" pitchFamily="34" charset="0"/>
                </a:rPr>
                <a:t>Typical </a:t>
              </a:r>
            </a:p>
            <a:p>
              <a:pPr algn="ctr" defTabSz="913486" eaLnBrk="0" fontAlgn="base" hangingPunct="0">
                <a:lnSpc>
                  <a:spcPct val="90000"/>
                </a:lnSpc>
                <a:spcBef>
                  <a:spcPct val="0"/>
                </a:spcBef>
                <a:spcAft>
                  <a:spcPct val="0"/>
                </a:spcAft>
                <a:defRPr/>
              </a:pPr>
              <a:r>
                <a:rPr lang="en-US" sz="999" b="1" kern="0">
                  <a:solidFill>
                    <a:srgbClr val="FFFFFF"/>
                  </a:solidFill>
                  <a:latin typeface="EY interstate"/>
                  <a:cs typeface="Arial" panose="020B0604020202020204" pitchFamily="34" charset="0"/>
                </a:rPr>
                <a:t>Use-Cases</a:t>
              </a:r>
            </a:p>
          </p:txBody>
        </p:sp>
        <p:sp>
          <p:nvSpPr>
            <p:cNvPr id="77" name="TextBox 76">
              <a:extLst>
                <a:ext uri="{FF2B5EF4-FFF2-40B4-BE49-F238E27FC236}">
                  <a16:creationId xmlns:a16="http://schemas.microsoft.com/office/drawing/2014/main" id="{2EAC5B01-7CBA-7E6E-3297-0A2F149B4EFB}"/>
                </a:ext>
              </a:extLst>
            </p:cNvPr>
            <p:cNvSpPr txBox="1"/>
            <p:nvPr/>
          </p:nvSpPr>
          <p:spPr>
            <a:xfrm>
              <a:off x="1104631" y="5324581"/>
              <a:ext cx="1724938" cy="1000776"/>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Cash</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Clearing</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Intercompany</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GR / IR</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Inventory</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Credit Card</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Customer data</a:t>
              </a:r>
            </a:p>
          </p:txBody>
        </p:sp>
        <p:sp>
          <p:nvSpPr>
            <p:cNvPr id="78" name="TextBox 77">
              <a:extLst>
                <a:ext uri="{FF2B5EF4-FFF2-40B4-BE49-F238E27FC236}">
                  <a16:creationId xmlns:a16="http://schemas.microsoft.com/office/drawing/2014/main" id="{0203E5D0-4CE1-DE95-1DAE-F0F27A4A1D08}"/>
                </a:ext>
              </a:extLst>
            </p:cNvPr>
            <p:cNvSpPr txBox="1"/>
            <p:nvPr/>
          </p:nvSpPr>
          <p:spPr>
            <a:xfrm>
              <a:off x="2863558" y="5349423"/>
              <a:ext cx="1724939" cy="534958"/>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Account balance substantiation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Monthly / Quarterly Balance Sheet Certification / Attestation</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Risk Methodology enablement</a:t>
              </a:r>
            </a:p>
          </p:txBody>
        </p:sp>
        <p:sp>
          <p:nvSpPr>
            <p:cNvPr id="79" name="TextBox 78">
              <a:extLst>
                <a:ext uri="{FF2B5EF4-FFF2-40B4-BE49-F238E27FC236}">
                  <a16:creationId xmlns:a16="http://schemas.microsoft.com/office/drawing/2014/main" id="{7F72EF85-FC64-4B25-22A4-FF1F34855241}"/>
                </a:ext>
              </a:extLst>
            </p:cNvPr>
            <p:cNvSpPr txBox="1"/>
            <p:nvPr/>
          </p:nvSpPr>
          <p:spPr>
            <a:xfrm>
              <a:off x="4734281" y="5349422"/>
              <a:ext cx="1724938" cy="1000776"/>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Write-offs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Bank Fees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AR Clearing</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Credit Card Fees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Allocations &amp; Accruals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Automating Manual JE’s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Recurring Journals</a:t>
              </a:r>
            </a:p>
          </p:txBody>
        </p:sp>
        <p:sp>
          <p:nvSpPr>
            <p:cNvPr id="80" name="TextBox 79">
              <a:extLst>
                <a:ext uri="{FF2B5EF4-FFF2-40B4-BE49-F238E27FC236}">
                  <a16:creationId xmlns:a16="http://schemas.microsoft.com/office/drawing/2014/main" id="{4843BAFB-82DF-8EE8-0858-E00FC125DFFE}"/>
                </a:ext>
              </a:extLst>
            </p:cNvPr>
            <p:cNvSpPr txBox="1"/>
            <p:nvPr/>
          </p:nvSpPr>
          <p:spPr>
            <a:xfrm>
              <a:off x="6524243" y="5349423"/>
              <a:ext cx="1452599" cy="427809"/>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Period over period Flux</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Activity or Balance based</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Budget to Actual</a:t>
              </a:r>
            </a:p>
          </p:txBody>
        </p:sp>
        <p:sp>
          <p:nvSpPr>
            <p:cNvPr id="81" name="TextBox 80">
              <a:extLst>
                <a:ext uri="{FF2B5EF4-FFF2-40B4-BE49-F238E27FC236}">
                  <a16:creationId xmlns:a16="http://schemas.microsoft.com/office/drawing/2014/main" id="{816D25FA-6274-D775-F583-4A60F026F8C2}"/>
                </a:ext>
              </a:extLst>
            </p:cNvPr>
            <p:cNvSpPr txBox="1"/>
            <p:nvPr/>
          </p:nvSpPr>
          <p:spPr>
            <a:xfrm>
              <a:off x="8115167" y="5353590"/>
              <a:ext cx="1902633" cy="1069228"/>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Close Monitoring</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PBC Lists</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Ad-hoc activity management / requests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Multiple close calendars (divisional, GAAP, IFRS, Local, Corporate)</a:t>
              </a: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p:txBody>
        </p:sp>
        <p:sp>
          <p:nvSpPr>
            <p:cNvPr id="82" name="TextBox 81">
              <a:extLst>
                <a:ext uri="{FF2B5EF4-FFF2-40B4-BE49-F238E27FC236}">
                  <a16:creationId xmlns:a16="http://schemas.microsoft.com/office/drawing/2014/main" id="{D0D440ED-FEAD-1CF8-5E4C-0A16CD83803D}"/>
                </a:ext>
              </a:extLst>
            </p:cNvPr>
            <p:cNvSpPr txBox="1"/>
            <p:nvPr/>
          </p:nvSpPr>
          <p:spPr>
            <a:xfrm>
              <a:off x="10246635" y="5366835"/>
              <a:ext cx="1724938" cy="780214"/>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Balance to Balance tie out</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Reporting to GL reconciliation (Consolidation, Regulatory, Management, Financial)</a:t>
              </a: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p:txBody>
        </p:sp>
        <p:cxnSp>
          <p:nvCxnSpPr>
            <p:cNvPr id="83" name="Elbow Connector 12">
              <a:extLst>
                <a:ext uri="{FF2B5EF4-FFF2-40B4-BE49-F238E27FC236}">
                  <a16:creationId xmlns:a16="http://schemas.microsoft.com/office/drawing/2014/main" id="{54F8496F-3BE9-965C-3EBD-78C069E10CAB}"/>
                </a:ext>
              </a:extLst>
            </p:cNvPr>
            <p:cNvCxnSpPr>
              <a:stCxn id="90" idx="1"/>
              <a:endCxn id="30" idx="2"/>
            </p:cNvCxnSpPr>
            <p:nvPr/>
          </p:nvCxnSpPr>
          <p:spPr>
            <a:xfrm rot="16200000" flipV="1">
              <a:off x="8534127" y="1308590"/>
              <a:ext cx="478691" cy="691925"/>
            </a:xfrm>
            <a:prstGeom prst="bentConnector3">
              <a:avLst/>
            </a:prstGeom>
            <a:ln w="19050">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4" name="Elbow Connector 14">
              <a:extLst>
                <a:ext uri="{FF2B5EF4-FFF2-40B4-BE49-F238E27FC236}">
                  <a16:creationId xmlns:a16="http://schemas.microsoft.com/office/drawing/2014/main" id="{3F6875CD-981B-C4DE-4C82-1A7B92318B4B}"/>
                </a:ext>
              </a:extLst>
            </p:cNvPr>
            <p:cNvCxnSpPr>
              <a:stCxn id="12" idx="1"/>
              <a:endCxn id="31" idx="3"/>
            </p:cNvCxnSpPr>
            <p:nvPr/>
          </p:nvCxnSpPr>
          <p:spPr>
            <a:xfrm rot="16200000" flipV="1">
              <a:off x="6654738" y="1241681"/>
              <a:ext cx="666922" cy="637516"/>
            </a:xfrm>
            <a:prstGeom prst="bentConnector2">
              <a:avLst/>
            </a:prstGeom>
            <a:ln w="19050">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a:extLst>
                <a:ext uri="{FF2B5EF4-FFF2-40B4-BE49-F238E27FC236}">
                  <a16:creationId xmlns:a16="http://schemas.microsoft.com/office/drawing/2014/main" id="{E06BEAE7-0A19-5F90-8C80-0D019EDAA157}"/>
                </a:ext>
              </a:extLst>
            </p:cNvPr>
            <p:cNvCxnSpPr>
              <a:stCxn id="31" idx="2"/>
              <a:endCxn id="11" idx="1"/>
            </p:cNvCxnSpPr>
            <p:nvPr/>
          </p:nvCxnSpPr>
          <p:spPr>
            <a:xfrm>
              <a:off x="5473206" y="1411643"/>
              <a:ext cx="3409" cy="482255"/>
            </a:xfrm>
            <a:prstGeom prst="straightConnector1">
              <a:avLst/>
            </a:prstGeom>
            <a:ln w="19050">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6" name="Elbow Connector 20">
              <a:extLst>
                <a:ext uri="{FF2B5EF4-FFF2-40B4-BE49-F238E27FC236}">
                  <a16:creationId xmlns:a16="http://schemas.microsoft.com/office/drawing/2014/main" id="{7E567B0F-BAB6-863A-6B38-9D6E97F00888}"/>
                </a:ext>
              </a:extLst>
            </p:cNvPr>
            <p:cNvCxnSpPr>
              <a:stCxn id="31" idx="1"/>
              <a:endCxn id="10" idx="1"/>
            </p:cNvCxnSpPr>
            <p:nvPr/>
          </p:nvCxnSpPr>
          <p:spPr>
            <a:xfrm rot="10800000" flipV="1">
              <a:off x="3646273" y="1226976"/>
              <a:ext cx="630699" cy="688589"/>
            </a:xfrm>
            <a:prstGeom prst="bentConnector2">
              <a:avLst/>
            </a:prstGeom>
            <a:ln w="19050">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E6C6763-7621-FF28-D4C0-9F02FBF751A6}"/>
                </a:ext>
              </a:extLst>
            </p:cNvPr>
            <p:cNvCxnSpPr/>
            <p:nvPr/>
          </p:nvCxnSpPr>
          <p:spPr>
            <a:xfrm flipH="1" flipV="1">
              <a:off x="3646274" y="1411643"/>
              <a:ext cx="4073010" cy="11844"/>
            </a:xfrm>
            <a:prstGeom prst="line">
              <a:avLst/>
            </a:prstGeom>
            <a:ln w="19050">
              <a:solidFill>
                <a:schemeClr val="bg2">
                  <a:lumMod val="50000"/>
                  <a:lumOff val="50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88" name="Elbow Connector 28">
              <a:extLst>
                <a:ext uri="{FF2B5EF4-FFF2-40B4-BE49-F238E27FC236}">
                  <a16:creationId xmlns:a16="http://schemas.microsoft.com/office/drawing/2014/main" id="{196F15B9-A465-5B5E-A97B-584E3C3BB341}"/>
                </a:ext>
              </a:extLst>
            </p:cNvPr>
            <p:cNvCxnSpPr>
              <a:cxnSpLocks/>
              <a:endCxn id="25" idx="1"/>
            </p:cNvCxnSpPr>
            <p:nvPr/>
          </p:nvCxnSpPr>
          <p:spPr>
            <a:xfrm>
              <a:off x="1204389" y="2980068"/>
              <a:ext cx="1537044" cy="762680"/>
            </a:xfrm>
            <a:prstGeom prst="bentConnector3">
              <a:avLst>
                <a:gd name="adj1" fmla="val -498"/>
              </a:avLst>
            </a:prstGeom>
            <a:ln w="19050">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9" name="Elbow Connector 70">
              <a:extLst>
                <a:ext uri="{FF2B5EF4-FFF2-40B4-BE49-F238E27FC236}">
                  <a16:creationId xmlns:a16="http://schemas.microsoft.com/office/drawing/2014/main" id="{0A5AABC8-26BF-F9CE-2168-5421CB8E2860}"/>
                </a:ext>
              </a:extLst>
            </p:cNvPr>
            <p:cNvCxnSpPr>
              <a:cxnSpLocks/>
            </p:cNvCxnSpPr>
            <p:nvPr/>
          </p:nvCxnSpPr>
          <p:spPr>
            <a:xfrm rot="16200000" flipH="1">
              <a:off x="1175127" y="3208996"/>
              <a:ext cx="429906" cy="156942"/>
            </a:xfrm>
            <a:prstGeom prst="bentConnector2">
              <a:avLst/>
            </a:prstGeom>
            <a:ln w="19050">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93" name="Slide Number Placeholder 2">
            <a:extLst>
              <a:ext uri="{FF2B5EF4-FFF2-40B4-BE49-F238E27FC236}">
                <a16:creationId xmlns:a16="http://schemas.microsoft.com/office/drawing/2014/main" id="{2EDD837D-7A85-DB73-DC58-338FA6C67A94}"/>
              </a:ext>
            </a:extLst>
          </p:cNvPr>
          <p:cNvSpPr txBox="1">
            <a:spLocks/>
          </p:cNvSpPr>
          <p:nvPr/>
        </p:nvSpPr>
        <p:spPr>
          <a:xfrm>
            <a:off x="9306925" y="7033615"/>
            <a:ext cx="2742496" cy="92023"/>
          </a:xfrm>
          <a:prstGeom prst="rect">
            <a:avLst/>
          </a:prstGeom>
        </p:spPr>
        <p:txBody>
          <a:bodyPr vert="horz" lIns="0" tIns="0" rIns="0" bIns="0" rtlCol="0" anchor="ctr">
            <a:spAutoFit/>
          </a:bodyPr>
          <a:lstStyle>
            <a:defPPr>
              <a:defRPr lang="en-US"/>
            </a:defPPr>
            <a:lvl1pPr marL="0" algn="r" defTabSz="914400" rtl="0" eaLnBrk="1" latinLnBrk="0" hangingPunct="1">
              <a:defRPr lang="en-GB" sz="599" kern="1200" smtClean="0">
                <a:solidFill>
                  <a:schemeClr val="bg2"/>
                </a:solidFill>
                <a:latin typeface="EYInterstate Ligh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13486">
              <a:buClr>
                <a:srgbClr val="FFE600"/>
              </a:buClr>
              <a:defRPr/>
            </a:pPr>
            <a:fld id="{5752EBD2-6208-4011-B357-97514A87C501}" type="slidenum">
              <a:rPr lang="en-US">
                <a:solidFill>
                  <a:srgbClr val="646464"/>
                </a:solidFill>
                <a:latin typeface="EY interstate"/>
              </a:rPr>
              <a:pPr defTabSz="913486">
                <a:buClr>
                  <a:srgbClr val="FFE600"/>
                </a:buClr>
                <a:defRPr/>
              </a:pPr>
              <a:t>77</a:t>
            </a:fld>
            <a:endParaRPr lang="en-US">
              <a:solidFill>
                <a:srgbClr val="646464"/>
              </a:solidFill>
              <a:latin typeface="EY interstate"/>
            </a:endParaRPr>
          </a:p>
        </p:txBody>
      </p:sp>
      <p:sp>
        <p:nvSpPr>
          <p:cNvPr id="94" name="Trapezoid 93">
            <a:extLst>
              <a:ext uri="{FF2B5EF4-FFF2-40B4-BE49-F238E27FC236}">
                <a16:creationId xmlns:a16="http://schemas.microsoft.com/office/drawing/2014/main" id="{464F5B16-6CEE-4DAF-C219-8AB5C6AB74EF}"/>
              </a:ext>
            </a:extLst>
          </p:cNvPr>
          <p:cNvSpPr/>
          <p:nvPr/>
        </p:nvSpPr>
        <p:spPr>
          <a:xfrm rot="16200000" flipH="1">
            <a:off x="10439393" y="1795107"/>
            <a:ext cx="1560483" cy="1329135"/>
          </a:xfrm>
          <a:prstGeom prst="trapezoid">
            <a:avLst/>
          </a:prstGeom>
          <a:solidFill>
            <a:srgbClr val="FFE600"/>
          </a:solidFill>
          <a:ln w="7620" cap="flat" cmpd="sng" algn="ctr">
            <a:solidFill>
              <a:schemeClr val="tx2"/>
            </a:solidFill>
            <a:prstDash val="solid"/>
          </a:ln>
          <a:effectLst>
            <a:outerShdw blurRad="40000" dist="23000" dir="5400000" rotWithShape="0">
              <a:srgbClr val="000000">
                <a:alpha val="35000"/>
              </a:srgbClr>
            </a:outerShdw>
          </a:effectLst>
        </p:spPr>
        <p:txBody>
          <a:bodyPr lIns="73076" tIns="36538" rIns="73076" bIns="36538" rtlCol="0" anchor="t" anchorCtr="0"/>
          <a:lstStyle/>
          <a:p>
            <a:pPr algn="ctr" defTabSz="913486">
              <a:defRPr/>
            </a:pPr>
            <a:endParaRPr lang="en-IN" sz="1198" kern="0">
              <a:solidFill>
                <a:srgbClr val="646464"/>
              </a:solidFill>
              <a:latin typeface="EY interstate"/>
            </a:endParaRPr>
          </a:p>
        </p:txBody>
      </p:sp>
      <p:sp>
        <p:nvSpPr>
          <p:cNvPr id="95" name="Rectangle 94">
            <a:extLst>
              <a:ext uri="{FF2B5EF4-FFF2-40B4-BE49-F238E27FC236}">
                <a16:creationId xmlns:a16="http://schemas.microsoft.com/office/drawing/2014/main" id="{5E60ED75-F8E6-1873-37B8-B9B6BD05CBB3}"/>
              </a:ext>
            </a:extLst>
          </p:cNvPr>
          <p:cNvSpPr/>
          <p:nvPr/>
        </p:nvSpPr>
        <p:spPr>
          <a:xfrm>
            <a:off x="10433939" y="2026912"/>
            <a:ext cx="1570729" cy="963619"/>
          </a:xfrm>
          <a:prstGeom prst="rect">
            <a:avLst/>
          </a:prstGeom>
          <a:noFill/>
        </p:spPr>
        <p:txBody>
          <a:bodyPr wrap="square">
            <a:spAutoFit/>
          </a:bodyPr>
          <a:lstStyle/>
          <a:p>
            <a:pPr algn="ctr" defTabSz="913486">
              <a:lnSpc>
                <a:spcPct val="95000"/>
              </a:lnSpc>
              <a:spcAft>
                <a:spcPts val="600"/>
              </a:spcAft>
              <a:buClr>
                <a:srgbClr val="969696"/>
              </a:buClr>
              <a:defRPr/>
            </a:pPr>
            <a:r>
              <a:rPr lang="en-US" sz="1118" b="1" kern="0">
                <a:latin typeface="EY interstate"/>
              </a:rPr>
              <a:t>Intercompany Hub (ICH)</a:t>
            </a:r>
          </a:p>
          <a:p>
            <a:pPr algn="ctr" defTabSz="913486">
              <a:lnSpc>
                <a:spcPct val="95000"/>
              </a:lnSpc>
              <a:spcAft>
                <a:spcPts val="600"/>
              </a:spcAft>
              <a:buClr>
                <a:srgbClr val="969696"/>
              </a:buClr>
              <a:defRPr/>
            </a:pPr>
            <a:r>
              <a:rPr lang="en-US" sz="800" b="1" kern="0">
                <a:latin typeface="EY interstate"/>
              </a:rPr>
              <a:t>(Intercompany transaction creation, invoicing, posting, reconciliation, and netting &amp; settlement)</a:t>
            </a:r>
          </a:p>
        </p:txBody>
      </p:sp>
      <p:sp>
        <p:nvSpPr>
          <p:cNvPr id="96" name="Isosceles Triangle 95">
            <a:extLst>
              <a:ext uri="{FF2B5EF4-FFF2-40B4-BE49-F238E27FC236}">
                <a16:creationId xmlns:a16="http://schemas.microsoft.com/office/drawing/2014/main" id="{0DA1FB19-1AD8-E8F9-B9CF-248B0D94652B}"/>
              </a:ext>
            </a:extLst>
          </p:cNvPr>
          <p:cNvSpPr/>
          <p:nvPr/>
        </p:nvSpPr>
        <p:spPr>
          <a:xfrm flipV="1">
            <a:off x="10750761" y="3949383"/>
            <a:ext cx="1169802" cy="123593"/>
          </a:xfrm>
          <a:prstGeom prst="triangle">
            <a:avLst/>
          </a:prstGeom>
          <a:solidFill>
            <a:srgbClr val="E6E6E6"/>
          </a:solidFill>
          <a:ln w="9525" cap="flat" cmpd="sng" algn="ctr">
            <a:noFill/>
            <a:prstDash val="solid"/>
          </a:ln>
          <a:effectLst>
            <a:outerShdw blurRad="50800" dist="38100" dir="5400000" sx="79000" sy="79000" algn="t" rotWithShape="0">
              <a:prstClr val="black">
                <a:alpha val="40000"/>
              </a:prstClr>
            </a:outerShdw>
          </a:effectLst>
        </p:spPr>
        <p:txBody>
          <a:bodyPr rtlCol="0" anchor="t" anchorCtr="0"/>
          <a:lstStyle/>
          <a:p>
            <a:pPr algn="ctr" defTabSz="913486">
              <a:defRPr/>
            </a:pPr>
            <a:endParaRPr lang="en-US" sz="1198" kern="0">
              <a:solidFill>
                <a:schemeClr val="bg1"/>
              </a:solidFill>
              <a:latin typeface="EY interstate"/>
            </a:endParaRPr>
          </a:p>
        </p:txBody>
      </p:sp>
      <p:cxnSp>
        <p:nvCxnSpPr>
          <p:cNvPr id="97" name="Connector: Elbow 96">
            <a:extLst>
              <a:ext uri="{FF2B5EF4-FFF2-40B4-BE49-F238E27FC236}">
                <a16:creationId xmlns:a16="http://schemas.microsoft.com/office/drawing/2014/main" id="{5EA15F8D-0505-4DB0-4A42-2F199320534C}"/>
              </a:ext>
            </a:extLst>
          </p:cNvPr>
          <p:cNvCxnSpPr>
            <a:cxnSpLocks/>
            <a:stCxn id="94" idx="1"/>
          </p:cNvCxnSpPr>
          <p:nvPr/>
        </p:nvCxnSpPr>
        <p:spPr>
          <a:xfrm rot="16200000" flipH="1" flipV="1">
            <a:off x="6397915" y="-2860755"/>
            <a:ext cx="115391" cy="9528049"/>
          </a:xfrm>
          <a:prstGeom prst="bentConnector3">
            <a:avLst>
              <a:gd name="adj1" fmla="val -241742"/>
            </a:avLst>
          </a:prstGeom>
          <a:ln w="9525">
            <a:solidFill>
              <a:schemeClr val="bg2">
                <a:lumMod val="50000"/>
                <a:lumOff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8" name="Connector: Elbow 97">
            <a:extLst>
              <a:ext uri="{FF2B5EF4-FFF2-40B4-BE49-F238E27FC236}">
                <a16:creationId xmlns:a16="http://schemas.microsoft.com/office/drawing/2014/main" id="{AF94B4ED-2D85-5B41-C281-2F299BD6F630}"/>
              </a:ext>
            </a:extLst>
          </p:cNvPr>
          <p:cNvCxnSpPr>
            <a:cxnSpLocks/>
          </p:cNvCxnSpPr>
          <p:nvPr/>
        </p:nvCxnSpPr>
        <p:spPr>
          <a:xfrm rot="16200000" flipH="1" flipV="1">
            <a:off x="5806228" y="172632"/>
            <a:ext cx="847141" cy="2615132"/>
          </a:xfrm>
          <a:prstGeom prst="bentConnector3">
            <a:avLst>
              <a:gd name="adj1" fmla="val -3539"/>
            </a:avLst>
          </a:prstGeom>
          <a:ln w="9525">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8D7BE78A-993C-9110-255E-75CF9A9CBEA9}"/>
              </a:ext>
            </a:extLst>
          </p:cNvPr>
          <p:cNvSpPr txBox="1"/>
          <p:nvPr/>
        </p:nvSpPr>
        <p:spPr>
          <a:xfrm>
            <a:off x="10786164" y="5354062"/>
            <a:ext cx="1218503" cy="856266"/>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Due to / Due from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Payables / receivables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Affiliate transactions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Trade &amp; non-trade  </a:t>
            </a: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p:txBody>
      </p:sp>
      <p:sp>
        <p:nvSpPr>
          <p:cNvPr id="100" name="TextBox 99">
            <a:extLst>
              <a:ext uri="{FF2B5EF4-FFF2-40B4-BE49-F238E27FC236}">
                <a16:creationId xmlns:a16="http://schemas.microsoft.com/office/drawing/2014/main" id="{EA56DF3A-60C7-50D1-33E2-9A62461AF3A5}"/>
              </a:ext>
            </a:extLst>
          </p:cNvPr>
          <p:cNvSpPr txBox="1"/>
          <p:nvPr/>
        </p:nvSpPr>
        <p:spPr>
          <a:xfrm>
            <a:off x="10775185" y="4140140"/>
            <a:ext cx="1421493" cy="1103768"/>
          </a:xfrm>
          <a:prstGeom prst="rect">
            <a:avLst/>
          </a:prstGeom>
          <a:noFill/>
        </p:spPr>
        <p:txBody>
          <a:bodyPr wrap="square" lIns="0" tIns="36538" rIns="0" bIns="0" rtlCol="0">
            <a:spAutoFit/>
          </a:bodyPr>
          <a:lstStyle/>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Role based workflow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Import or create Intercompany transactions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Invoice approval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Journal creation &amp; posting </a:t>
            </a:r>
          </a:p>
          <a:p>
            <a:pPr marL="115772" indent="-115772" defTabSz="913486">
              <a:lnSpc>
                <a:spcPct val="85000"/>
              </a:lnSpc>
              <a:spcAft>
                <a:spcPts val="300"/>
              </a:spcAft>
              <a:buClr>
                <a:srgbClr val="FFE600"/>
              </a:buClr>
              <a:buSzPct val="70000"/>
              <a:buFont typeface="Arial" pitchFamily="34" charset="0"/>
              <a:buChar char="►"/>
              <a:defRPr/>
            </a:pPr>
            <a:r>
              <a:rPr lang="en-US" sz="800" kern="0">
                <a:solidFill>
                  <a:schemeClr val="bg1"/>
                </a:solidFill>
                <a:latin typeface="EY interstate"/>
              </a:rPr>
              <a:t>Netting &amp; settlement </a:t>
            </a: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a:p>
            <a:pPr marL="115772" indent="-115772" defTabSz="913486">
              <a:lnSpc>
                <a:spcPct val="85000"/>
              </a:lnSpc>
              <a:spcAft>
                <a:spcPts val="300"/>
              </a:spcAft>
              <a:buClr>
                <a:srgbClr val="FFE600"/>
              </a:buClr>
              <a:buSzPct val="70000"/>
              <a:buFont typeface="Arial" pitchFamily="34" charset="0"/>
              <a:buChar char="►"/>
              <a:defRPr/>
            </a:pPr>
            <a:endParaRPr lang="en-US" sz="800" kern="0">
              <a:solidFill>
                <a:schemeClr val="bg1"/>
              </a:solidFill>
              <a:latin typeface="EY interstate"/>
            </a:endParaRPr>
          </a:p>
        </p:txBody>
      </p:sp>
      <p:cxnSp>
        <p:nvCxnSpPr>
          <p:cNvPr id="101" name="Straight Connector 100">
            <a:extLst>
              <a:ext uri="{FF2B5EF4-FFF2-40B4-BE49-F238E27FC236}">
                <a16:creationId xmlns:a16="http://schemas.microsoft.com/office/drawing/2014/main" id="{CC152701-FC7C-2E4C-F2FE-71B08683BCF9}"/>
              </a:ext>
            </a:extLst>
          </p:cNvPr>
          <p:cNvCxnSpPr>
            <a:cxnSpLocks/>
          </p:cNvCxnSpPr>
          <p:nvPr/>
        </p:nvCxnSpPr>
        <p:spPr>
          <a:xfrm>
            <a:off x="266990" y="5322609"/>
            <a:ext cx="11782432" cy="0"/>
          </a:xfrm>
          <a:prstGeom prst="line">
            <a:avLst/>
          </a:prstGeom>
          <a:ln w="9525">
            <a:solidFill>
              <a:schemeClr val="bg1">
                <a:lumMod val="75000"/>
              </a:schemeClr>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522A0E6C-507F-A5EB-76A6-C3242410BEFD}"/>
              </a:ext>
            </a:extLst>
          </p:cNvPr>
          <p:cNvCxnSpPr>
            <a:cxnSpLocks/>
          </p:cNvCxnSpPr>
          <p:nvPr/>
        </p:nvCxnSpPr>
        <p:spPr>
          <a:xfrm rot="10800000">
            <a:off x="8510073" y="1241103"/>
            <a:ext cx="1874856" cy="968"/>
          </a:xfrm>
          <a:prstGeom prst="bentConnector3">
            <a:avLst>
              <a:gd name="adj1" fmla="val 50000"/>
            </a:avLst>
          </a:prstGeom>
          <a:ln w="9525">
            <a:solidFill>
              <a:schemeClr val="bg2">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1587239"/>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JHY91MmGRT6mr0KwTOtMyA"/>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fZHblLprIJdJaWGKh5_3xw"/>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W5fs8RPhQxecPYVHRzD3JA"/>
</p:tagLst>
</file>

<file path=ppt/theme/theme1.xml><?xml version="1.0" encoding="utf-8"?>
<a:theme xmlns:a="http://schemas.openxmlformats.org/drawingml/2006/main" name="EY dark background">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1_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3.xml><?xml version="1.0" encoding="utf-8"?>
<a:theme xmlns:a="http://schemas.openxmlformats.org/drawingml/2006/main" name="1_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4.xml><?xml version="1.0" encoding="utf-8"?>
<a:theme xmlns:a="http://schemas.openxmlformats.org/drawingml/2006/main" name="5_EY dark print">
  <a:themeElements>
    <a:clrScheme name="Custom 4">
      <a:dk1>
        <a:srgbClr val="FFFFFF"/>
      </a:dk1>
      <a:lt1>
        <a:srgbClr val="FFFFFF"/>
      </a:lt1>
      <a:dk2>
        <a:srgbClr val="333333"/>
      </a:dk2>
      <a:lt2>
        <a:srgbClr val="FFE600"/>
      </a:lt2>
      <a:accent1>
        <a:srgbClr val="808080"/>
      </a:accent1>
      <a:accent2>
        <a:srgbClr val="FFE600"/>
      </a:accent2>
      <a:accent3>
        <a:srgbClr val="999999"/>
      </a:accent3>
      <a:accent4>
        <a:srgbClr val="F0F0F0"/>
      </a:accent4>
      <a:accent5>
        <a:srgbClr val="00A3AE"/>
      </a:accent5>
      <a:accent6>
        <a:srgbClr val="C0C0C0"/>
      </a:accent6>
      <a:hlink>
        <a:srgbClr val="336699"/>
      </a:hlink>
      <a:folHlink>
        <a:srgbClr val="91278F"/>
      </a:folHlink>
    </a:clrScheme>
    <a:fontScheme name="Custom 2">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custClrLst>
    <a:custClr name="EY Special Use Red">
      <a:srgbClr val="F04C3E"/>
    </a:custClr>
    <a:custClr name="EY Special Use Blue 50%">
      <a:srgbClr val="7FD1D6"/>
    </a:custClr>
    <a:custClr name="EY Special Use Purple">
      <a:srgbClr val="91278F"/>
    </a:custClr>
    <a:custClr name="EY Special Use Purple 50%">
      <a:srgbClr val="C893C7"/>
    </a:custClr>
    <a:custClr name="EY Special Use Green">
      <a:srgbClr val="2C973E"/>
    </a:custClr>
    <a:custClr name="EY Special Use Green 50%">
      <a:srgbClr val="95CB89"/>
    </a:custClr>
    <a:custClr name="EY Yellow 50%">
      <a:srgbClr val="FFF27F"/>
    </a:custClr>
    <a:custClr name="EY Special Use Lilac">
      <a:srgbClr val="AC98DB"/>
    </a:custClr>
    <a:custClr name="EY Special Use Lilac 50%">
      <a:srgbClr val="D8D2E0"/>
    </a:custClr>
    <a:custClr name="EY Link Blue">
      <a:srgbClr val="336699"/>
    </a:custClr>
  </a:custClrLst>
  <a:extLst>
    <a:ext uri="{05A4C25C-085E-4340-85A3-A5531E510DB2}">
      <thm15:themeFamily xmlns:thm15="http://schemas.microsoft.com/office/thememl/2012/main" name="EY widescreen presentation 2016.pptx" id="{B9D0E71C-826C-41A8-A183-B6A4EA670798}" vid="{4C31189B-8B11-4F4C-AA41-859D695178D0}"/>
    </a:ext>
  </a:extLst>
</a:theme>
</file>

<file path=ppt/theme/theme5.xml><?xml version="1.0" encoding="utf-8"?>
<a:theme xmlns:a="http://schemas.openxmlformats.org/drawingml/2006/main" name="1_EY dark projection">
  <a:themeElements>
    <a:clrScheme name="Custom 4">
      <a:dk1>
        <a:srgbClr val="FFFFFF"/>
      </a:dk1>
      <a:lt1>
        <a:srgbClr val="FFFFFF"/>
      </a:lt1>
      <a:dk2>
        <a:srgbClr val="333333"/>
      </a:dk2>
      <a:lt2>
        <a:srgbClr val="FFD200"/>
      </a:lt2>
      <a:accent1>
        <a:srgbClr val="808080"/>
      </a:accent1>
      <a:accent2>
        <a:srgbClr val="FFD200"/>
      </a:accent2>
      <a:accent3>
        <a:srgbClr val="999999"/>
      </a:accent3>
      <a:accent4>
        <a:srgbClr val="F0F0F0"/>
      </a:accent4>
      <a:accent5>
        <a:srgbClr val="00A3AE"/>
      </a:accent5>
      <a:accent6>
        <a:srgbClr val="C0C0C0"/>
      </a:accent6>
      <a:hlink>
        <a:srgbClr val="336699"/>
      </a:hlink>
      <a:folHlink>
        <a:srgbClr val="91278F"/>
      </a:folHlink>
    </a:clrScheme>
    <a:fontScheme name="EY_Hando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custClrLst>
    <a:custClr name="EY Special Use Red">
      <a:srgbClr val="F04C3E"/>
    </a:custClr>
    <a:custClr name="EY Special Use Blue 50%">
      <a:srgbClr val="7FD1D6"/>
    </a:custClr>
    <a:custClr name="EY Special Use Purple">
      <a:srgbClr val="91278F"/>
    </a:custClr>
    <a:custClr name="EY Special Use Purple 50%">
      <a:srgbClr val="C893C7"/>
    </a:custClr>
    <a:custClr name="EY Special Use Green">
      <a:srgbClr val="2C973E"/>
    </a:custClr>
    <a:custClr name="EY Special Use Green 50%">
      <a:srgbClr val="95CB89"/>
    </a:custClr>
    <a:custClr name="EY Yellow 50%">
      <a:srgbClr val="FFF27F"/>
    </a:custClr>
    <a:custClr name="EY Special Use Lilac">
      <a:srgbClr val="AC98DB"/>
    </a:custClr>
    <a:custClr name="EY Special Use Lilac 50%">
      <a:srgbClr val="D8D2E0"/>
    </a:custClr>
    <a:custClr name="EY Link Blue">
      <a:srgbClr val="336699"/>
    </a:custClr>
  </a:custClrLst>
</a:theme>
</file>

<file path=ppt/theme/theme6.xml><?xml version="1.0" encoding="utf-8"?>
<a:theme xmlns:a="http://schemas.openxmlformats.org/drawingml/2006/main" name="11_EY dark background">
  <a:themeElements>
    <a:clrScheme name="Benutzerdefiniert 8">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FFE600"/>
      </a:hlink>
      <a:folHlink>
        <a:srgbClr val="FFE600"/>
      </a:folHlink>
    </a:clrScheme>
    <a:fontScheme name="GSA_Pursuits">
      <a:majorFont>
        <a:latin typeface="EYInterstate"/>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D2D2DA"/>
        </a:solidFill>
        <a:ln w="12700" cap="sq" cmpd="sng" algn="ctr">
          <a:noFill/>
          <a:prstDash val="solid"/>
          <a:miter lim="800000"/>
          <a:tailEnd type="none"/>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eaLnBrk="1" fontAlgn="auto" latinLnBrk="0" hangingPunct="1">
          <a:lnSpc>
            <a:spcPct val="100000"/>
          </a:lnSpc>
          <a:spcBef>
            <a:spcPts val="0"/>
          </a:spcBef>
          <a:spcAft>
            <a:spcPts val="0"/>
          </a:spcAft>
          <a:buClrTx/>
          <a:buSzTx/>
          <a:buFontTx/>
          <a:buNone/>
          <a:tabLst/>
          <a:defRPr kumimoji="0" sz="1800" b="0" i="0" u="none" strike="noStrike" kern="0" cap="none" spc="0" normalizeH="0" baseline="0" noProof="0" smtClean="0">
            <a:ln>
              <a:noFill/>
            </a:ln>
            <a:solidFill>
              <a:srgbClr val="2E2E38"/>
            </a:solidFill>
            <a:effectLst/>
            <a:uLnTx/>
            <a:uFillTx/>
          </a:defRPr>
        </a:defPPr>
      </a:lstStyle>
    </a:spDef>
    <a:lnDef>
      <a:spPr>
        <a:noFill/>
        <a:ln w="12700" cap="sq" cmpd="sng" algn="ctr">
          <a:solidFill>
            <a:srgbClr val="D2D2DA"/>
          </a:solidFill>
          <a:prstDash val="solid"/>
          <a:miter lim="800000"/>
          <a:tailEnd type="none"/>
        </a:ln>
        <a:effectLst/>
      </a:spPr>
      <a:bodyPr/>
      <a:lstStyle/>
    </a:lnDef>
    <a:txDef>
      <a:spPr>
        <a:noFill/>
        <a:ln w="12700" cap="sq">
          <a:noFill/>
          <a:miter lim="800000"/>
        </a:ln>
      </a:spPr>
      <a:bodyPr wrap="square" lIns="0" tIns="0" rIns="0" bIns="0" rtlCol="0">
        <a:noAutofit/>
      </a:bodyPr>
      <a:lstStyle>
        <a:defPPr marL="219075" marR="0" indent="-219075" algn="l" defTabSz="685434" eaLnBrk="1" fontAlgn="auto" latinLnBrk="0" hangingPunct="1">
          <a:lnSpc>
            <a:spcPct val="100000"/>
          </a:lnSpc>
          <a:spcBef>
            <a:spcPct val="20000"/>
          </a:spcBef>
          <a:spcAft>
            <a:spcPts val="0"/>
          </a:spcAft>
          <a:buClr>
            <a:srgbClr val="FFE600"/>
          </a:buClr>
          <a:buSzPct val="80000"/>
          <a:buFont typeface="Arial" pitchFamily="34" charset="0"/>
          <a:buChar char="►"/>
          <a:tabLst/>
          <a:defRPr kumimoji="0" sz="1400" b="0" i="0" u="none" strike="noStrike" kern="0" cap="none" spc="0" normalizeH="0" baseline="0" noProof="0" dirty="0" err="1" smtClean="0">
            <a:ln>
              <a:noFill/>
            </a:ln>
            <a:solidFill>
              <a:schemeClr val="bg1"/>
            </a:solidFill>
            <a:effectLst/>
            <a:uLnTx/>
            <a:uFillTx/>
          </a:defRPr>
        </a:defPPr>
      </a:lstStyle>
    </a:txDef>
  </a:objectDefaults>
  <a:extraClrSchemeLst/>
  <a:extLst>
    <a:ext uri="{05A4C25C-085E-4340-85A3-A5531E510DB2}">
      <thm15:themeFamily xmlns:thm15="http://schemas.microsoft.com/office/thememl/2012/main" name="EY_DE_presentation_16x9_2021.pptx" id="{2F30AB03-D9E4-4298-83EB-CDF23CE9933F}" vid="{EA111BFA-FCF4-45EC-B0B3-1951D67CDB4D}"/>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majorFont>
      <a:minorFont>
        <a:latin typeface="Calibri"/>
        <a:ea typeface=""/>
        <a:cs typeface=""/>
      </a:minorFont>
    </a:fontScheme>
    <a:fmtScheme name="Office">
      <a:fillStyleLst>
        <a:solidFill>
          <a:schemeClr val="phClr"/>
        </a:solidFill>
        <a:gradFill>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noFill/>
        <a:pattFill/>
        <a:grpFill/>
      </a:fillStyleLst>
      <a:lnStyleLst>
        <a:ln w="9525" cap="flat" cmpd="sng" algn="ctr">
          <a:solidFill>
            <a:schemeClr val="phClr">
              <a:shade val="95000"/>
              <a:satMod val="105000"/>
            </a:schemeClr>
          </a:solidFill>
          <a:prstDash val="solid"/>
        </a:ln>
        <a:ln w="9525" cap="flat" cmpd="sng" algn="ctr">
          <a:solidFill>
            <a:schemeClr val="phClr">
              <a:shade val="95000"/>
              <a:satMod val="105000"/>
            </a:schemeClr>
          </a:solidFill>
          <a:prstDash val="solid"/>
        </a:ln>
        <a:ln w="9525" cap="flat" cmpd="sng" algn="ctr">
          <a:solidFill>
            <a:schemeClr val="phClr">
              <a:shade val="95000"/>
              <a:satMod val="105000"/>
            </a:scheme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0000" dir="5400000" rotWithShape="0">
              <a:srgbClr val="000000">
                <a:alpha val="38000"/>
              </a:srgbClr>
            </a:outerShdw>
          </a:effectLst>
        </a:effectStyle>
        <a:effectStyle>
          <a:effectLst>
            <a:outerShdw blurRad="40000" dist="20000" dir="5400000" rotWithShape="0">
              <a:srgbClr val="000000">
                <a:alpha val="38000"/>
              </a:srgbClr>
            </a:outerShdw>
          </a:effectLst>
        </a:effectStyle>
      </a:effectStyleLst>
      <a:bgFillStyleLst>
        <a:solidFill>
          <a:schemeClr val="phClr"/>
        </a:solidFill>
        <a:gradFill>
          <a:gsLst>
            <a:gs pos="0">
              <a:schemeClr val="phClr">
                <a:tint val="50000"/>
                <a:satMod val="300000"/>
              </a:schemeClr>
            </a:gs>
            <a:gs pos="0">
              <a:schemeClr val="phClr">
                <a:tint val="50000"/>
                <a:satMod val="300000"/>
              </a:schemeClr>
            </a:gs>
            <a:gs pos="0">
              <a:schemeClr val="phClr">
                <a:tint val="50000"/>
                <a:satMod val="300000"/>
              </a:schemeClr>
            </a:gs>
          </a:gsLst>
          <a:lin ang="16200000" scaled="1"/>
        </a:gradFill>
        <a:gradFill>
          <a:gsLst>
            <a:gs pos="0">
              <a:schemeClr val="phClr">
                <a:tint val="50000"/>
                <a:satMod val="300000"/>
              </a:schemeClr>
            </a:gs>
            <a:gs pos="0">
              <a:schemeClr val="phClr">
                <a:tint val="50000"/>
                <a:satMod val="300000"/>
              </a:schemeClr>
            </a:gs>
          </a:gsLst>
          <a:lin ang="16200000" scaled="1"/>
        </a:gradFill>
      </a:bgFillStyleLst>
    </a:fmtScheme>
  </a:themeElements>
  <a:objectDefaults/>
  <a:extraClrSchemeLst/>
</a:theme>
</file>

<file path=ppt/theme/theme8.xml><?xml version="1.0" encoding="utf-8"?>
<a:theme xmlns:a="http://schemas.openxmlformats.org/drawingml/2006/main" name="4_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AF87FB8A11048E4EBD62242F9892B7D2" ma:contentTypeVersion="3" ma:contentTypeDescription="Create a new document." ma:contentTypeScope="" ma:versionID="394d1f17ab50b167fd1c9bdf83a70e96">
  <xsd:schema xmlns:xsd="http://www.w3.org/2001/XMLSchema" xmlns:xs="http://www.w3.org/2001/XMLSchema" xmlns:p="http://schemas.microsoft.com/office/2006/metadata/properties" xmlns:ns2="1f68a0f6-12ba-43bc-af29-28e621509147" targetNamespace="http://schemas.microsoft.com/office/2006/metadata/properties" ma:root="true" ma:fieldsID="e30850b013ddcf4a47f8c418a9d2d3ec" ns2:_="">
    <xsd:import namespace="1f68a0f6-12ba-43bc-af29-28e621509147"/>
    <xsd:element name="properties">
      <xsd:complexType>
        <xsd:sequence>
          <xsd:element name="documentManagement">
            <xsd:complexType>
              <xsd:all>
                <xsd:element ref="ns2:MediaServiceMetadata" minOccurs="0"/>
                <xsd:element ref="ns2:MediaServiceFastMetadata"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f68a0f6-12ba-43bc-af29-28e62150914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DcR_SlideID>6b662e0c-b659-4d73-aa82-3e3e9dc75e58</DcR_SlideID>
</file>

<file path=customXml/itemProps1.xml><?xml version="1.0" encoding="utf-8"?>
<ds:datastoreItem xmlns:ds="http://schemas.openxmlformats.org/officeDocument/2006/customXml" ds:itemID="{A7331881-90F5-4338-8752-3B84613E5B40}">
  <ds:schemaRefs>
    <ds:schemaRef ds:uri="http://schemas.microsoft.com/sharepoint/v3/contenttype/forms"/>
  </ds:schemaRefs>
</ds:datastoreItem>
</file>

<file path=customXml/itemProps2.xml><?xml version="1.0" encoding="utf-8"?>
<ds:datastoreItem xmlns:ds="http://schemas.openxmlformats.org/officeDocument/2006/customXml" ds:itemID="{EA58C873-178E-4C4A-9749-652D8AF84917}">
  <ds:schemaRefs>
    <ds:schemaRef ds:uri="http://schemas.microsoft.com/office/2006/documentManagement/types"/>
    <ds:schemaRef ds:uri="http://purl.org/dc/elements/1.1/"/>
    <ds:schemaRef ds:uri="http://purl.org/dc/terms/"/>
    <ds:schemaRef ds:uri="http://purl.org/dc/dcmitype/"/>
    <ds:schemaRef ds:uri="http://schemas.openxmlformats.org/package/2006/metadata/core-properties"/>
    <ds:schemaRef ds:uri="http://schemas.microsoft.com/office/2006/metadata/properties"/>
    <ds:schemaRef ds:uri="http://schemas.microsoft.com/office/infopath/2007/PartnerControls"/>
    <ds:schemaRef ds:uri="7f700aec-11ef-4fa4-bef3-188e1f955f2e"/>
    <ds:schemaRef ds:uri="http://www.w3.org/XML/1998/namespace"/>
  </ds:schemaRefs>
</ds:datastoreItem>
</file>

<file path=customXml/itemProps3.xml><?xml version="1.0" encoding="utf-8"?>
<ds:datastoreItem xmlns:ds="http://schemas.openxmlformats.org/officeDocument/2006/customXml" ds:itemID="{F2D2EA72-EAAC-4F43-894C-9039E7E76DB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1f68a0f6-12ba-43bc-af29-28e62150914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4.xml><?xml version="1.0" encoding="utf-8"?>
<ds:datastoreItem xmlns:ds="http://schemas.openxmlformats.org/officeDocument/2006/customXml" ds:itemID="{04BF0A17-4BCE-4882-A043-8FF90E127275}">
  <ds:schemaRefs/>
</ds:datastoreItem>
</file>

<file path=docProps/app.xml><?xml version="1.0" encoding="utf-8"?>
<Properties xmlns="http://schemas.openxmlformats.org/officeDocument/2006/extended-properties" xmlns:vt="http://schemas.openxmlformats.org/officeDocument/2006/docPropsVTypes">
  <TotalTime>0</TotalTime>
  <Words>16671</Words>
  <Application>Microsoft Office PowerPoint</Application>
  <PresentationFormat>Widescreen</PresentationFormat>
  <Paragraphs>2349</Paragraphs>
  <Slides>77</Slides>
  <Notes>41</Notes>
  <HiddenSlides>0</HiddenSlides>
  <MMClips>0</MMClips>
  <ScaleCrop>false</ScaleCrop>
  <HeadingPairs>
    <vt:vector size="4" baseType="variant">
      <vt:variant>
        <vt:lpstr>Theme</vt:lpstr>
      </vt:variant>
      <vt:variant>
        <vt:i4>8</vt:i4>
      </vt:variant>
      <vt:variant>
        <vt:lpstr>Slide Titles</vt:lpstr>
      </vt:variant>
      <vt:variant>
        <vt:i4>77</vt:i4>
      </vt:variant>
    </vt:vector>
  </HeadingPairs>
  <TitlesOfParts>
    <vt:vector size="85" baseType="lpstr">
      <vt:lpstr>EY dark background</vt:lpstr>
      <vt:lpstr>1_EY dark background</vt:lpstr>
      <vt:lpstr>1_EY dark background</vt:lpstr>
      <vt:lpstr>5_EY dark print</vt:lpstr>
      <vt:lpstr>1_EY dark projection</vt:lpstr>
      <vt:lpstr>11_EY dark background</vt:lpstr>
      <vt:lpstr>Office Theme</vt:lpstr>
      <vt:lpstr>4_EY dark background</vt:lpstr>
      <vt:lpstr>PowerPoint Presentation</vt:lpstr>
      <vt:lpstr>Tower 2 </vt:lpstr>
      <vt:lpstr>PowerPoint Presentation</vt:lpstr>
      <vt:lpstr> Monthly close calendarized checklist and validations</vt:lpstr>
      <vt:lpstr>PowerPoint Presentation</vt:lpstr>
      <vt:lpstr>Close Calendar Operating System — Best Practices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Journal Entry Approval Matrix &amp; Template</vt:lpstr>
      <vt:lpstr>Journal Entry Approval Matrix &amp; Template</vt:lpstr>
      <vt:lpstr>Journal Entry Automation – Tool Maturity Matrix</vt:lpstr>
      <vt:lpstr>Journal Entry Automation – Benchmarking</vt:lpstr>
      <vt:lpstr>PowerPoint Presentation</vt:lpstr>
      <vt:lpstr>PowerPoint Presentation</vt:lpstr>
      <vt:lpstr>PowerPoint Presentation</vt:lpstr>
      <vt:lpstr>Chart of Accounts(CoA)</vt:lpstr>
      <vt:lpstr>PowerPoint Presentation</vt:lpstr>
      <vt:lpstr>Chart of Accounts(CoA)</vt:lpstr>
      <vt:lpstr>PowerPoint Presentation</vt:lpstr>
      <vt:lpstr>Chart of Accounts(CoA)</vt:lpstr>
      <vt:lpstr>PowerPoint Presentation</vt:lpstr>
      <vt:lpstr>Policy Lifecycle – Example Governance Policy for CoA Design and Maintenance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Intercompany matching logic</vt:lpstr>
      <vt:lpstr>Intercompany threshold configurations and escalation flows</vt:lpstr>
      <vt:lpstr>Intercompany Entity pair matrix for high volume reconciliations</vt:lpstr>
      <vt:lpstr>Life Cycle of Intercompany Transaction During a Typical Business Period</vt:lpstr>
      <vt:lpstr>Intercompany Process Flow</vt:lpstr>
      <vt:lpstr>Intercompany Balancing Data Flow</vt:lpstr>
      <vt:lpstr>ICH Balancing Automated Intercompany Transactions (AIT)</vt:lpstr>
      <vt:lpstr>ICH Balancing Transactions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Intercompany Journal Logic Builder</vt:lpstr>
      <vt:lpstr>PowerPoint Presentation</vt:lpstr>
      <vt:lpstr>Transfer Pricing &amp; Markup Calculator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Record to Report : Target Operating Model (part1)</vt:lpstr>
      <vt:lpstr>Record to Report : Target Operating Model (part 2)</vt:lpstr>
      <vt:lpstr>Record to Report : RACI methodology (part1)</vt:lpstr>
      <vt:lpstr>Record to Report : RACI methodology (part 2)</vt:lpstr>
      <vt:lpstr>Record to Report : Governance model (part2)</vt:lpstr>
      <vt:lpstr>PowerPoint Presentation</vt:lpstr>
      <vt:lpstr>PowerPoint Presentation</vt:lpstr>
      <vt:lpstr>PowerPoint Presentation</vt:lpstr>
    </vt:vector>
  </TitlesOfParts>
  <Company>EY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Yogesh Krishna Jadhav</dc:creator>
  <cp:lastModifiedBy>Aaditya Dhanraj Dubey</cp:lastModifiedBy>
  <cp:revision>6</cp:revision>
  <dcterms:created xsi:type="dcterms:W3CDTF">2025-09-04T10:25:15Z</dcterms:created>
  <dcterms:modified xsi:type="dcterms:W3CDTF">2025-11-27T19:33:35Z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0x010100AF87FB8A11048E4EBD62242F9892B7D2</vt:lpwstr>
  </property>
</Properties>
</file>