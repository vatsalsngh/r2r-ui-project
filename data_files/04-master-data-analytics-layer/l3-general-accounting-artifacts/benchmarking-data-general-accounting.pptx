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881839132" r:id="rId2"/>
    <p:sldId id="1881839133" r:id="rId3"/>
    <p:sldId id="1881839134" r:id="rId4"/>
    <p:sldId id="188183913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D9AD3-7F82-4FDE-9180-C9D527951F8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9B997-5242-4416-9A15-A95F04FC2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0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C153-4602-5D59-3089-8C417218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91C43-4D47-B6AB-1AB5-DEE3728FF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26755-E189-7CA0-A571-79D3ADCF2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CBFA2-38C0-F5E2-8612-9BCBC4F56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613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71D8-4BDB-B192-02DF-62C9C571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5695B-AE51-6862-E9AD-BCC2A4C26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99279-0C7F-5FE3-88B8-4C2BF89AE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930DA-83FA-42DC-2FAB-20548FF28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6941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E0CB-6FFE-F6BB-DB86-BA838BC3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EF838-2C5E-7A16-5337-6694B8DB1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A2452-F98F-F3B6-4F05-9123DDF43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10D15-18B5-8D6F-4907-D3F5A2FCA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9779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AEFC-EAE4-4BC5-8F66-1A19B05F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E9E53-F10D-113E-5EBA-BD79CE10A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223AA-C8E7-1FC7-690C-53328B61E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0A054-D334-69F6-4DD8-41B4C4033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8867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3F57-3B9D-EBE0-8C7F-41D07C539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06449-F8C3-E954-F0BD-9D7357BA1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7039-9EE9-D36B-6BB7-E6A34C95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97EDA-A11B-AC35-8B67-A79F026E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4E3D1-B5C9-F2E8-BFB4-A28CFC75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8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1497-85EC-257B-5AD2-27BD8336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1704F-CD16-926C-E01F-210517087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3FB9E-5B0B-FD07-BA11-F1BEC9DC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6E93E-7AA5-8B1E-7003-A04A9B89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CC664-8389-E1D2-9F73-D5CC04C0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4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E47E-8B4A-31D9-884F-1FBB93F7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8824D-E6CF-8604-2BF4-CC4D13761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F2189-9350-4B51-6C3C-7635EA0E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DFBA7-70B2-984F-4E05-8DDADC77F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82AC-2D7E-FA43-A1F1-018F074E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11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59A1-FB04-FAFC-6453-B577DD71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6339E-41A8-60EC-2091-64D307DF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A389C-9266-F5DE-3CE2-4EAE7648F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9311A-814D-B60F-2E0F-3C11376C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11DF7-00E2-8A79-FC31-2B8DF23E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D6989-A9EC-B380-6765-D213C4B1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30A6-A3A3-1424-E499-62DBD2FF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F7EAF-5636-686C-ECA2-DC66E1FF4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7F441-FAC7-7FAD-8489-F66216B58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CF6CF-4D62-475D-899A-F7FC84312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4643F0-8105-8A45-6208-A0E93DC06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08BB9-A0FA-7451-2F86-8B18886E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E0521-E6A4-EFDE-106C-028EBDA3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BD7808-D806-E5BC-8781-D11E15C4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8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FCC5-720C-AEA0-30C2-8A81D27E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807DF-AFF4-35EB-331B-D2BD9B46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4DE13-048F-A176-BC2A-0ADDFD34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93928-DDC3-771D-953A-2AE9EFFC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0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A757D-B91A-7071-D4C5-9AC05FD0A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DAC49-AD82-C391-3F5B-5218EE9B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DD1A2-758E-5AFD-4758-FBED1F2D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9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EE75-EE1F-14EA-8CD1-7CE55785D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3E45-61E8-661B-8AAD-73640B29C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95FFA-3870-D56D-D0BF-1D9F2645A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E3D5-C5AF-FD0D-BFA8-A768D74B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5B2E5-D01A-A3F8-1270-B3F528F4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3F79A-1CBE-A183-9EB4-1D8AB45D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5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44B4-BE25-102D-B576-F1A73FD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636322-9A3A-F65C-99E3-77FCE2D82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56888-AFFC-1AD2-C0AD-2A754505A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8C303-6B6C-49F4-0AA0-6E24D8B1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72E52-36A2-D3F6-5580-FA8EF75C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7553A-1198-0247-5F28-650AE2F4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6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3B45-7A0F-DDE8-C42D-1F59B39A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20928-F04F-8F6E-AE20-2259F480A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83DCA-7C2B-7336-0818-CA4BAC5DC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B2037-D884-2E1B-0E6E-E7EF6043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13274-392D-5F6B-35B1-2CAE5975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4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3F06C-BC32-06B0-F4BB-29AEA9915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24A01-7757-8045-0C01-FFD08988C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7157-FD8F-B79A-4B32-CF685F67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89B2B-89C0-26A2-D059-015B7B8C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5FC9C-8151-06E1-A12A-9599CAD9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97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D9E433B3-F2D7-EE0E-B292-997EB25B05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EECBC22F-ABFB-48B6-CDC6-4309042A5544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BB4C61E-397F-F826-D32A-B638714F9D5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E97927A-B711-1BD1-7DB6-31EEB9331E23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D626F4-6013-3429-50AE-E567EFCF0F27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09D62-8CBB-4C26-25AB-05059EB86BE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6EE34A0-C73B-43AA-B981-8A70FF27C404}" type="datetime3">
              <a:rPr lang="en-US" smtClean="0"/>
              <a:t>4 September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017EB-39DF-917C-4EA3-49EFC051410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B8B36-78CB-32A2-25CF-5967EFA24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595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A1030-80BB-20BD-934D-43DA5C8F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E6DA7-9A5C-92CA-FB65-38455DF02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72504-FC3F-FF27-7169-099F809AB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2564C-311B-4790-8C9E-82C60963193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AE79-E6F4-850D-4240-4CECD753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722BF-4B0C-2128-6D5F-386206B97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A06B3-3B3A-4F02-8EAB-82CC8E354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105CC-0280-EDFE-F245-958456AD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39F8BD-448F-7D30-015C-63F2474E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Benchmarking Data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D18ED0E1-391B-23E1-F731-1C87AC1F5580}"/>
              </a:ext>
            </a:extLst>
          </p:cNvPr>
          <p:cNvSpPr txBox="1">
            <a:spLocks/>
          </p:cNvSpPr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Fixed Asset Accounting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5170C6-DE30-AD9C-BE6C-57C51F901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903757"/>
              </p:ext>
            </p:extLst>
          </p:nvPr>
        </p:nvGraphicFramePr>
        <p:xfrm>
          <a:off x="333375" y="1655276"/>
          <a:ext cx="11426400" cy="48854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07246">
                  <a:extLst>
                    <a:ext uri="{9D8B030D-6E8A-4147-A177-3AD203B41FA5}">
                      <a16:colId xmlns:a16="http://schemas.microsoft.com/office/drawing/2014/main" val="1691849254"/>
                    </a:ext>
                  </a:extLst>
                </a:gridCol>
                <a:gridCol w="3112404">
                  <a:extLst>
                    <a:ext uri="{9D8B030D-6E8A-4147-A177-3AD203B41FA5}">
                      <a16:colId xmlns:a16="http://schemas.microsoft.com/office/drawing/2014/main" val="2262245873"/>
                    </a:ext>
                  </a:extLst>
                </a:gridCol>
                <a:gridCol w="2595644">
                  <a:extLst>
                    <a:ext uri="{9D8B030D-6E8A-4147-A177-3AD203B41FA5}">
                      <a16:colId xmlns:a16="http://schemas.microsoft.com/office/drawing/2014/main" val="4179973504"/>
                    </a:ext>
                  </a:extLst>
                </a:gridCol>
                <a:gridCol w="4011106">
                  <a:extLst>
                    <a:ext uri="{9D8B030D-6E8A-4147-A177-3AD203B41FA5}">
                      <a16:colId xmlns:a16="http://schemas.microsoft.com/office/drawing/2014/main" val="3165248585"/>
                    </a:ext>
                  </a:extLst>
                </a:gridCol>
              </a:tblGrid>
              <a:tr h="32630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Metric Name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Definition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Formula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Leading Practices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47890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Master Data Completeness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Percentage of fixed assets with all required master data fields populated.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Complete master data assets / Total assets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Use standardized asset templates with mandatory fields and validation rules; integrate with upstream systems to auto-populate master data.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670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Capitalization Timeliness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Average number of days between asset placed-in-service date and capitalization date.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Sum of (Capitalization Date - In-Service Date) / Number of capitalized assets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Automate capitalization via PO/Project interfaces; implement T+0 or T+1 capitalization policies with exception tracking.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6933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Automation Rate for Capitalization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Percentage of new assets capitalized automatically through system interfaces.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Auto-capitalized assets / Total new assets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Enable rule-based auto-capitalization using asset class and cost object logic; monitor exceptions and manual overrides.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464376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CIP Aging &gt;180 Days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Percentage of Construction-in-Progress (CIP) balance aged over 180 days.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CIP balance &gt;180 days / Total CIP balance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Implement CIP aging dashboards with escalation workflows; enforce periodic review and reclassification policies.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69516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Depreciation Run Success Rate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Percentage of monthly depreciation runs completed successfully on first attempt.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Successful depreciation runs / Total depreciation runs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Automate pre-checks for calendar, period locks, and simulation; schedule depreciation with alerts for failures.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835118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GL vs FA Reconciliation Timeliness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Number of business days from period close to completion of GL vs FA reconciliation.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Days from close to reconciliation completion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Automate reconciliation using sub-ledger feeds; use dashboards to track status and aging of unreconciled items.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28182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Manual Asset Transfers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Percentage of asset transfers processed manually.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Manual transfers / Total asset transfers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Enable workflow-based asset transfer requests; automate transfers using predefined rules and validations.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12256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Physical Verification Coverage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Percentage of assets physically verified within the defined cycle.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Assets verified / Total assets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Use risk-based verification cycles with barcode/RFID scanning; track exceptions and update asset registry.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646629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Retirement Processing Time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Average number of days to process asset retirement from request to posting.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Sum of (Retirement Posting Date - Request Date) / Number of retirements</a:t>
                      </a:r>
                      <a:endParaRPr lang="en-US" sz="105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Automate retirement workflow with approval routing; integrate with disposal tracking systems.</a:t>
                      </a:r>
                      <a:endParaRPr lang="en-US" sz="105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89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49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7B365-377A-2466-965F-9D677A40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309BC83-AD62-2556-6912-0CA18A2EB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244F7F-2E34-4238-A982-7483D9620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C0E433-1C39-EF54-AD4B-948C66730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FCC3A2-D05A-AA61-196C-14DCE3758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78D421E-151B-0EE5-EE9E-F04035EF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Benchmarking Data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21D4BCF0-CBDF-C91F-3E3D-B2A91EB940CF}"/>
              </a:ext>
            </a:extLst>
          </p:cNvPr>
          <p:cNvSpPr txBox="1">
            <a:spLocks/>
          </p:cNvSpPr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Intercompany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Accounting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41FB86-CA25-5C79-84A9-0B1FEA266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662618"/>
              </p:ext>
            </p:extLst>
          </p:nvPr>
        </p:nvGraphicFramePr>
        <p:xfrm>
          <a:off x="333375" y="1669881"/>
          <a:ext cx="11426400" cy="481189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07246">
                  <a:extLst>
                    <a:ext uri="{9D8B030D-6E8A-4147-A177-3AD203B41FA5}">
                      <a16:colId xmlns:a16="http://schemas.microsoft.com/office/drawing/2014/main" val="1691849254"/>
                    </a:ext>
                  </a:extLst>
                </a:gridCol>
                <a:gridCol w="3112404">
                  <a:extLst>
                    <a:ext uri="{9D8B030D-6E8A-4147-A177-3AD203B41FA5}">
                      <a16:colId xmlns:a16="http://schemas.microsoft.com/office/drawing/2014/main" val="2262245873"/>
                    </a:ext>
                  </a:extLst>
                </a:gridCol>
                <a:gridCol w="2595644">
                  <a:extLst>
                    <a:ext uri="{9D8B030D-6E8A-4147-A177-3AD203B41FA5}">
                      <a16:colId xmlns:a16="http://schemas.microsoft.com/office/drawing/2014/main" val="4179973504"/>
                    </a:ext>
                  </a:extLst>
                </a:gridCol>
                <a:gridCol w="4011106">
                  <a:extLst>
                    <a:ext uri="{9D8B030D-6E8A-4147-A177-3AD203B41FA5}">
                      <a16:colId xmlns:a16="http://schemas.microsoft.com/office/drawing/2014/main" val="3165248585"/>
                    </a:ext>
                  </a:extLst>
                </a:gridCol>
              </a:tblGrid>
              <a:tr h="32630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Metric Name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Definition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Formula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Leading Practices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47890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Auto‑Match Rate (Transactions)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Percentage of intercompany transactions matched automatically by the tool.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Auto‑matched IC transactions / Total IC transactions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Enforce trading‑partner tagging; configure multi‑rule matching (amount, FX‑normalized, tolerance, text tokens).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670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Out‑of‑Balance % (Balances)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Magnitude of unmatched IC differences as a percentage of total IC volume.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Sum(|Counterparty balance − Reporting entity balance|) / Total IC volume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Harmonize cut‑offs &amp; FX; run pre‑close IC clearing windows and broadcast variance dashboards.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6933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Confirmation Timeliness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Average business days from period close to bilateral IC confirmation sign‑off.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Sum(Confirmation date − Close date) / # Confirmations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Automate confirmations with SLA‑based workflows, reminders, and escalations.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464376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Dispute Resolution Cycle 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Average business days to resolve IC disputes from raise to closure.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Sum(Resolution date − Dispute date) / # Disputes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Standardize dispute codes; route via workflow with ownership, SLA, and root‑cause capture.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69516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Netting Utilization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Portion of settlements processed via netting rather than bilateral cash.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IC settled via netting / Total IC settlements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Adopt monthly netting runs; integrate with treasury; set thresholds for mandatory netting.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835118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Trading‑Partner Tagging Completeness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Share of IC journal lines tagged with trading partner/counterparty.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IC lines with trading‑partner dimension / Total IC lines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Make trading‑partner a required field at source; block posting without tag.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28182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Automated Confirmation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Percentage of IC confirmations executed automatically by the system.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System‑generated confirmations / Total confirmations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Enable API/file interfaces; use scheduled jobs and exception‑only manual reviews.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12256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FX Rate Compliance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Share of IC postings using the corporate standard FX rate set.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IC postings using standard rates / Total IC postings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Distribute group rates centrally; validate during posting; flag variances &gt; tolerance.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646629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Cut‑Off Compliance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Proportion of IC activity recorded within defined cut‑off windows.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IC postings within cut‑off / Total IC postings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Publish close calendar; lock periods; monitor late postings and auto‑notify owners.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89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98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557E8-4450-E4B3-D6AA-3747D2E5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B33546-9D1F-D348-2D94-A58EAFF37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702811-034C-EB33-3A7D-E51499F8B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7C0E2-1902-3A32-3366-5CB8F00FD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CBE727-4F65-5A02-1754-FEBA12FDE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13D205-5CB8-8541-CA5A-36032649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Benchmarking Data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F85ACE60-F5AB-CE6A-C38A-3A5597C5B4C1}"/>
              </a:ext>
            </a:extLst>
          </p:cNvPr>
          <p:cNvSpPr txBox="1">
            <a:spLocks/>
          </p:cNvSpPr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Journal Entry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DE341D-61C3-4682-EE46-E20B6E2AA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43162"/>
              </p:ext>
            </p:extLst>
          </p:nvPr>
        </p:nvGraphicFramePr>
        <p:xfrm>
          <a:off x="333375" y="1655276"/>
          <a:ext cx="11426400" cy="481189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07246">
                  <a:extLst>
                    <a:ext uri="{9D8B030D-6E8A-4147-A177-3AD203B41FA5}">
                      <a16:colId xmlns:a16="http://schemas.microsoft.com/office/drawing/2014/main" val="1691849254"/>
                    </a:ext>
                  </a:extLst>
                </a:gridCol>
                <a:gridCol w="3112404">
                  <a:extLst>
                    <a:ext uri="{9D8B030D-6E8A-4147-A177-3AD203B41FA5}">
                      <a16:colId xmlns:a16="http://schemas.microsoft.com/office/drawing/2014/main" val="2262245873"/>
                    </a:ext>
                  </a:extLst>
                </a:gridCol>
                <a:gridCol w="2595644">
                  <a:extLst>
                    <a:ext uri="{9D8B030D-6E8A-4147-A177-3AD203B41FA5}">
                      <a16:colId xmlns:a16="http://schemas.microsoft.com/office/drawing/2014/main" val="4179973504"/>
                    </a:ext>
                  </a:extLst>
                </a:gridCol>
                <a:gridCol w="4011106">
                  <a:extLst>
                    <a:ext uri="{9D8B030D-6E8A-4147-A177-3AD203B41FA5}">
                      <a16:colId xmlns:a16="http://schemas.microsoft.com/office/drawing/2014/main" val="3165248585"/>
                    </a:ext>
                  </a:extLst>
                </a:gridCol>
              </a:tblGrid>
              <a:tr h="32630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Metric Name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Definition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Formula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Leading Practices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47890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Manual JE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Share of JE lines created manually versus automated or templated.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Manual JE lines / Total JE lines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Deploy templates and recurring schedules; integrate sub‑ledger feeds to reduce manual touch.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670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Automated Recurring JE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Portion of eligible recurring/auto‑reversing entries processed automatically.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Automated recurring JEs / Eligible recurring JEs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Catalog recurring entries; schedule with controls and exception reporting.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6933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JE Approval Cycle 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Average elapsed time from submission to final approval.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Sum(Approval time − Submission time) / # JEs approved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Risk‑based routing by amount/account; use SLA reminders and mobile approvals.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464376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Template Usage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Percentage of JEs posted from approved templates.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Template‑based JEs / Total JEs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Standardize templates with validations (CoA, cost objects, period, tax); restrict free‑form JEs.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69516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Post‑Close Adjustments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Share of JE lines posted after period close.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Post‑close JE lines / Total JE lines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Tighten cut‑offs; pre‑close accrual routines; require CFO controller approval for late JEs.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835118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JE Rejection/Rework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Percentage of submitted JEs that are rejected or require resubmission.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Rejected or reworked JEs / Submitted JEs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Pre‑post validations (duplicates, balance, policy); provide preparer guidance and checklists.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28182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Attachment Compliance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Proportion of JEs with required supporting documentation attached.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JEs with required attachments / Total JEs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Make attachments mandatory by risk; embed document type rules; audit periodically.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12256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High‑Risk JE Review Coverage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Percentage of high‑risk JEs (e.g., large, manual, top‑side) reviewed per policy.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High‑risk JEs reviewed / Total high‑risk JEs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Define risk criteria; route to senior approvers; maintain review evidence in system.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646629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Duplicate JE Incidence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Rate of duplicate postings that pass into the ledger.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Duplicate JEs posted / Total JEs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Enable duplicate detection using amount/date/reference tokens; block or warn at post.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89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00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9FAE8-5981-E03D-0130-7DE9E1A2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1DAAF29-762B-76AE-3F7A-813BD5A77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6EA07F-74D3-A5C8-2ACD-455A112D4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68CD7D-B4AB-A468-8A25-5E2DBA227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6B60B4-FF41-4F40-9D37-8B8C235B8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C69953-4F0E-2E4E-BDDC-940CF95A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Benchmarking Data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8190D141-EDFA-26BE-6061-64BA57E67645}"/>
              </a:ext>
            </a:extLst>
          </p:cNvPr>
          <p:cNvSpPr txBox="1">
            <a:spLocks/>
          </p:cNvSpPr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Balance Sheet Reconciliation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EFF4DD-53A3-E6A2-646F-514D543A2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406609"/>
              </p:ext>
            </p:extLst>
          </p:nvPr>
        </p:nvGraphicFramePr>
        <p:xfrm>
          <a:off x="333375" y="1655276"/>
          <a:ext cx="11426400" cy="481189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07246">
                  <a:extLst>
                    <a:ext uri="{9D8B030D-6E8A-4147-A177-3AD203B41FA5}">
                      <a16:colId xmlns:a16="http://schemas.microsoft.com/office/drawing/2014/main" val="1691849254"/>
                    </a:ext>
                  </a:extLst>
                </a:gridCol>
                <a:gridCol w="3112404">
                  <a:extLst>
                    <a:ext uri="{9D8B030D-6E8A-4147-A177-3AD203B41FA5}">
                      <a16:colId xmlns:a16="http://schemas.microsoft.com/office/drawing/2014/main" val="2262245873"/>
                    </a:ext>
                  </a:extLst>
                </a:gridCol>
                <a:gridCol w="2595644">
                  <a:extLst>
                    <a:ext uri="{9D8B030D-6E8A-4147-A177-3AD203B41FA5}">
                      <a16:colId xmlns:a16="http://schemas.microsoft.com/office/drawing/2014/main" val="4179973504"/>
                    </a:ext>
                  </a:extLst>
                </a:gridCol>
                <a:gridCol w="4011106">
                  <a:extLst>
                    <a:ext uri="{9D8B030D-6E8A-4147-A177-3AD203B41FA5}">
                      <a16:colId xmlns:a16="http://schemas.microsoft.com/office/drawing/2014/main" val="3165248585"/>
                    </a:ext>
                  </a:extLst>
                </a:gridCol>
              </a:tblGrid>
              <a:tr h="32630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Metric Name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Definition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Formula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Leading Practices</a:t>
                      </a: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27033" marT="10813" marB="810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47890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On‑Time Preparation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Share of reconciliations prepared by the due date.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Recons prepared on time / Total reconciliations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Publish calendars; auto‑notify preparers; track status dashboards.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670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On‑Time Approval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Share of reconciliations approved by the due date.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Recons approved on time / Total reconciliations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Escalation workflows for overdue approvals; capacity balance across approvers.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6933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Auto‑Certification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Portion of accounts certified automatically based on pre‑defined rules and thresholds.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Auto‑certified accounts / Total accounts in scope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Define materiality thresholds; auto‑certify zero/low‑risk accounts; exception‑only review.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464376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Open Items Aging &gt;30 Days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Percentage of open reconciliation items aged over 30 days.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Open items &gt;30 days / Total open items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Owner and due‑date fields mandatory; SLA‑based alerts; link adjusting JE workflow.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695164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First‑Pass Approval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Share of reconciliations approved without rework.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Recons approved first‑pass / Total recons submitted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Standardize templates; provide checklists; coach preparers on common errors.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835118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Documentation Completeness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Proportion of reconciliations with complete supporting evidence.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Recons with complete support / Total recons tested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Embed required documents list in template; periodic quality reviews with scoring.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28182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Materiality Threshold Coverage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Share of in‑scope accounts with documented thresholds/tolerances.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Accounts with thresholds / Total in‑scope accounts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Publish threshold policy; review annually; align with audit recommendations.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122563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Exceptions with RCA &amp; Action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Share of exceptions with documented root cause analysis and action owner.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Exceptions with RCA &amp; owner / Total exceptions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Require RCA fields; track action completion; report repeat exceptions.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646629"/>
                  </a:ext>
                </a:extLst>
              </a:tr>
              <a:tr h="498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Accounts per Preparer (Risk‑Adjusted)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Average number of accounts handled per FTE, weighted by risk tier.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(Low‑risk*1 + Medium*2 + High*3) account equivalents / # Preparers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Balance workload by risk; automate low‑risk; specialize complex accounts.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89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14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87FB8A11048E4EBD62242F9892B7D2" ma:contentTypeVersion="3" ma:contentTypeDescription="Create a new document." ma:contentTypeScope="" ma:versionID="14bd9206d7aca87c4735fb05e9eb4c2d">
  <xsd:schema xmlns:xsd="http://www.w3.org/2001/XMLSchema" xmlns:xs="http://www.w3.org/2001/XMLSchema" xmlns:p="http://schemas.microsoft.com/office/2006/metadata/properties" xmlns:ns2="1f68a0f6-12ba-43bc-af29-28e621509147" targetNamespace="http://schemas.microsoft.com/office/2006/metadata/properties" ma:root="true" ma:fieldsID="8ca268bb0273509ed280e0e6347c46c6" ns2:_="">
    <xsd:import namespace="1f68a0f6-12ba-43bc-af29-28e6215091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8a0f6-12ba-43bc-af29-28e6215091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FE34C7-05EF-4587-8AC2-5A268FC71A88}"/>
</file>

<file path=customXml/itemProps2.xml><?xml version="1.0" encoding="utf-8"?>
<ds:datastoreItem xmlns:ds="http://schemas.openxmlformats.org/officeDocument/2006/customXml" ds:itemID="{503C998F-2C62-46C4-8BDE-DE8446C3560A}"/>
</file>

<file path=customXml/itemProps3.xml><?xml version="1.0" encoding="utf-8"?>
<ds:datastoreItem xmlns:ds="http://schemas.openxmlformats.org/officeDocument/2006/customXml" ds:itemID="{8C2C988D-CE4C-4D48-809F-81618B1A9445}"/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1494</Words>
  <Application>Microsoft Office PowerPoint</Application>
  <PresentationFormat>Widescreen</PresentationFormat>
  <Paragraphs>172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Benchmarking Data </vt:lpstr>
      <vt:lpstr>Benchmarking Data </vt:lpstr>
      <vt:lpstr>Benchmarking Data </vt:lpstr>
      <vt:lpstr>Benchmarking Data 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 Chowdhury</dc:creator>
  <cp:lastModifiedBy>Subha Chowdhury</cp:lastModifiedBy>
  <cp:revision>1</cp:revision>
  <dcterms:created xsi:type="dcterms:W3CDTF">2025-09-04T12:04:07Z</dcterms:created>
  <dcterms:modified xsi:type="dcterms:W3CDTF">2025-09-04T13:51:48Z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0x010100AF87FB8A11048E4EBD62242F9892B7D2</vt:lpwstr>
  </property>
</Properties>
</file>